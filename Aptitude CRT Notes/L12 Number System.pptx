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6" r:id="rId2"/>
  </p:sldMasterIdLst>
  <p:notesMasterIdLst>
    <p:notesMasterId r:id="rId61"/>
  </p:notesMasterIdLst>
  <p:sldIdLst>
    <p:sldId id="267" r:id="rId3"/>
    <p:sldId id="376" r:id="rId4"/>
    <p:sldId id="371" r:id="rId5"/>
    <p:sldId id="372" r:id="rId6"/>
    <p:sldId id="373" r:id="rId7"/>
    <p:sldId id="374" r:id="rId8"/>
    <p:sldId id="375" r:id="rId9"/>
    <p:sldId id="272" r:id="rId10"/>
    <p:sldId id="339" r:id="rId11"/>
    <p:sldId id="340" r:id="rId12"/>
    <p:sldId id="335" r:id="rId13"/>
    <p:sldId id="341" r:id="rId14"/>
    <p:sldId id="353" r:id="rId15"/>
    <p:sldId id="306" r:id="rId16"/>
    <p:sldId id="26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47" r:id="rId26"/>
    <p:sldId id="363" r:id="rId27"/>
    <p:sldId id="364" r:id="rId28"/>
    <p:sldId id="344" r:id="rId29"/>
    <p:sldId id="346" r:id="rId30"/>
    <p:sldId id="315" r:id="rId31"/>
    <p:sldId id="316" r:id="rId32"/>
    <p:sldId id="317" r:id="rId33"/>
    <p:sldId id="318" r:id="rId34"/>
    <p:sldId id="319" r:id="rId35"/>
    <p:sldId id="321" r:id="rId36"/>
    <p:sldId id="322" r:id="rId37"/>
    <p:sldId id="352" r:id="rId38"/>
    <p:sldId id="324" r:id="rId39"/>
    <p:sldId id="325" r:id="rId40"/>
    <p:sldId id="326" r:id="rId41"/>
    <p:sldId id="327" r:id="rId42"/>
    <p:sldId id="328" r:id="rId43"/>
    <p:sldId id="351" r:id="rId44"/>
    <p:sldId id="330" r:id="rId45"/>
    <p:sldId id="332" r:id="rId46"/>
    <p:sldId id="333" r:id="rId47"/>
    <p:sldId id="348" r:id="rId48"/>
    <p:sldId id="349" r:id="rId49"/>
    <p:sldId id="350" r:id="rId50"/>
    <p:sldId id="361" r:id="rId51"/>
    <p:sldId id="362" r:id="rId52"/>
    <p:sldId id="354" r:id="rId53"/>
    <p:sldId id="355" r:id="rId54"/>
    <p:sldId id="356" r:id="rId55"/>
    <p:sldId id="357" r:id="rId56"/>
    <p:sldId id="358" r:id="rId57"/>
    <p:sldId id="359" r:id="rId58"/>
    <p:sldId id="360" r:id="rId59"/>
    <p:sldId id="304" r:id="rId6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3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D7663-6794-40E7-83DF-6FA4F790FF98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F218E-6EB0-4981-ADB4-05E399C2A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/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8421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5979"/>
            <a:ext cx="8229601" cy="857250"/>
          </a:xfrm>
          <a:prstGeom prst="rect">
            <a:avLst/>
          </a:prstGeom>
        </p:spPr>
        <p:txBody>
          <a:bodyPr lIns="91461" tIns="45731" rIns="91461" bIns="4573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1200151"/>
            <a:ext cx="8229601" cy="3394473"/>
          </a:xfrm>
          <a:prstGeom prst="rect">
            <a:avLst/>
          </a:prstGeom>
        </p:spPr>
        <p:txBody>
          <a:bodyPr lIns="91461" tIns="45731" rIns="91461" bIns="4573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589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  <a:prstGeom prst="rect">
            <a:avLst/>
          </a:prstGeom>
        </p:spPr>
        <p:txBody>
          <a:bodyPr lIns="91461" tIns="45731" rIns="91461" bIns="45731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7"/>
            <a:ext cx="7772401" cy="1125139"/>
          </a:xfrm>
          <a:prstGeom prst="rect">
            <a:avLst/>
          </a:prstGeom>
        </p:spPr>
        <p:txBody>
          <a:bodyPr lIns="91461" tIns="45731" rIns="91461" bIns="4573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30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6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91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92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5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8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112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84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21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5979"/>
            <a:ext cx="8229601" cy="857250"/>
          </a:xfrm>
          <a:prstGeom prst="rect">
            <a:avLst/>
          </a:prstGeom>
        </p:spPr>
        <p:txBody>
          <a:bodyPr lIns="91461" tIns="45731" rIns="91461" bIns="4573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  <a:prstGeom prst="rect">
            <a:avLst/>
          </a:prstGeom>
        </p:spPr>
        <p:txBody>
          <a:bodyPr lIns="91461" tIns="45731" rIns="91461" bIns="4573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  <a:prstGeom prst="rect">
            <a:avLst/>
          </a:prstGeom>
        </p:spPr>
        <p:txBody>
          <a:bodyPr lIns="91461" tIns="45731" rIns="91461" bIns="4573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910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5979"/>
            <a:ext cx="8229601" cy="857250"/>
          </a:xfrm>
          <a:prstGeom prst="rect">
            <a:avLst/>
          </a:prstGeom>
        </p:spPr>
        <p:txBody>
          <a:bodyPr lIns="91461" tIns="45731" rIns="91461" bIns="4573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3"/>
          </a:xfrm>
          <a:prstGeom prst="rect">
            <a:avLst/>
          </a:prstGeom>
        </p:spPr>
        <p:txBody>
          <a:bodyPr lIns="91461" tIns="45731" rIns="91461" bIns="45731" anchor="b"/>
          <a:lstStyle>
            <a:lvl1pPr marL="0" indent="0">
              <a:buNone/>
              <a:defRPr sz="2400" b="1"/>
            </a:lvl1pPr>
            <a:lvl2pPr marL="457304" indent="0">
              <a:buNone/>
              <a:defRPr sz="2000" b="1"/>
            </a:lvl2pPr>
            <a:lvl3pPr marL="914608" indent="0">
              <a:buNone/>
              <a:defRPr sz="1900" b="1"/>
            </a:lvl3pPr>
            <a:lvl4pPr marL="1371912" indent="0">
              <a:buNone/>
              <a:defRPr sz="1600" b="1"/>
            </a:lvl4pPr>
            <a:lvl5pPr marL="1829216" indent="0">
              <a:buNone/>
              <a:defRPr sz="1600" b="1"/>
            </a:lvl5pPr>
            <a:lvl6pPr marL="2286520" indent="0">
              <a:buNone/>
              <a:defRPr sz="1600" b="1"/>
            </a:lvl6pPr>
            <a:lvl7pPr marL="2743824" indent="0">
              <a:buNone/>
              <a:defRPr sz="1600" b="1"/>
            </a:lvl7pPr>
            <a:lvl8pPr marL="3201128" indent="0">
              <a:buNone/>
              <a:defRPr sz="1600" b="1"/>
            </a:lvl8pPr>
            <a:lvl9pPr marL="3658432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  <a:prstGeom prst="rect">
            <a:avLst/>
          </a:prstGeom>
        </p:spPr>
        <p:txBody>
          <a:bodyPr lIns="91461" tIns="45731" rIns="91461" bIns="45731"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3"/>
          </a:xfrm>
          <a:prstGeom prst="rect">
            <a:avLst/>
          </a:prstGeom>
        </p:spPr>
        <p:txBody>
          <a:bodyPr lIns="91461" tIns="45731" rIns="91461" bIns="45731" anchor="b"/>
          <a:lstStyle>
            <a:lvl1pPr marL="0" indent="0">
              <a:buNone/>
              <a:defRPr sz="2400" b="1"/>
            </a:lvl1pPr>
            <a:lvl2pPr marL="457304" indent="0">
              <a:buNone/>
              <a:defRPr sz="2000" b="1"/>
            </a:lvl2pPr>
            <a:lvl3pPr marL="914608" indent="0">
              <a:buNone/>
              <a:defRPr sz="1900" b="1"/>
            </a:lvl3pPr>
            <a:lvl4pPr marL="1371912" indent="0">
              <a:buNone/>
              <a:defRPr sz="1600" b="1"/>
            </a:lvl4pPr>
            <a:lvl5pPr marL="1829216" indent="0">
              <a:buNone/>
              <a:defRPr sz="1600" b="1"/>
            </a:lvl5pPr>
            <a:lvl6pPr marL="2286520" indent="0">
              <a:buNone/>
              <a:defRPr sz="1600" b="1"/>
            </a:lvl6pPr>
            <a:lvl7pPr marL="2743824" indent="0">
              <a:buNone/>
              <a:defRPr sz="1600" b="1"/>
            </a:lvl7pPr>
            <a:lvl8pPr marL="3201128" indent="0">
              <a:buNone/>
              <a:defRPr sz="1600" b="1"/>
            </a:lvl8pPr>
            <a:lvl9pPr marL="3658432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  <a:prstGeom prst="rect">
            <a:avLst/>
          </a:prstGeom>
        </p:spPr>
        <p:txBody>
          <a:bodyPr lIns="91461" tIns="45731" rIns="91461" bIns="45731"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572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5979"/>
            <a:ext cx="8229601" cy="857250"/>
          </a:xfrm>
          <a:prstGeom prst="rect">
            <a:avLst/>
          </a:prstGeom>
        </p:spPr>
        <p:txBody>
          <a:bodyPr lIns="91461" tIns="45731" rIns="91461" bIns="4573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415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647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9"/>
            <a:ext cx="3008313" cy="871538"/>
          </a:xfrm>
          <a:prstGeom prst="rect">
            <a:avLst/>
          </a:prstGeom>
        </p:spPr>
        <p:txBody>
          <a:bodyPr lIns="91461" tIns="45731" rIns="91461" bIns="4573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 lIns="91461" tIns="45731" rIns="91461" bIns="4573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  <a:prstGeom prst="rect">
            <a:avLst/>
          </a:prstGeom>
        </p:spPr>
        <p:txBody>
          <a:bodyPr lIns="91461" tIns="45731" rIns="91461" bIns="45731"/>
          <a:lstStyle>
            <a:lvl1pPr marL="0" indent="0">
              <a:buNone/>
              <a:defRPr sz="1400"/>
            </a:lvl1pPr>
            <a:lvl2pPr marL="457304" indent="0">
              <a:buNone/>
              <a:defRPr sz="1200"/>
            </a:lvl2pPr>
            <a:lvl3pPr marL="914608" indent="0">
              <a:buNone/>
              <a:defRPr sz="1000"/>
            </a:lvl3pPr>
            <a:lvl4pPr marL="1371912" indent="0">
              <a:buNone/>
              <a:defRPr sz="900"/>
            </a:lvl4pPr>
            <a:lvl5pPr marL="1829216" indent="0">
              <a:buNone/>
              <a:defRPr sz="900"/>
            </a:lvl5pPr>
            <a:lvl6pPr marL="2286520" indent="0">
              <a:buNone/>
              <a:defRPr sz="900"/>
            </a:lvl6pPr>
            <a:lvl7pPr marL="2743824" indent="0">
              <a:buNone/>
              <a:defRPr sz="900"/>
            </a:lvl7pPr>
            <a:lvl8pPr marL="3201128" indent="0">
              <a:buNone/>
              <a:defRPr sz="900"/>
            </a:lvl8pPr>
            <a:lvl9pPr marL="3658432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813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3600449"/>
            <a:ext cx="5486400" cy="425054"/>
          </a:xfrm>
          <a:prstGeom prst="rect">
            <a:avLst/>
          </a:prstGeom>
        </p:spPr>
        <p:txBody>
          <a:bodyPr lIns="91461" tIns="45731" rIns="91461" bIns="4573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459582"/>
            <a:ext cx="5486400" cy="3086100"/>
          </a:xfrm>
          <a:prstGeom prst="rect">
            <a:avLst/>
          </a:prstGeom>
        </p:spPr>
        <p:txBody>
          <a:bodyPr lIns="91461" tIns="45731" rIns="91461" bIns="45731"/>
          <a:lstStyle>
            <a:lvl1pPr marL="0" indent="0">
              <a:buNone/>
              <a:defRPr sz="3200"/>
            </a:lvl1pPr>
            <a:lvl2pPr marL="457304" indent="0">
              <a:buNone/>
              <a:defRPr sz="2800"/>
            </a:lvl2pPr>
            <a:lvl3pPr marL="914608" indent="0">
              <a:buNone/>
              <a:defRPr sz="2400"/>
            </a:lvl3pPr>
            <a:lvl4pPr marL="1371912" indent="0">
              <a:buNone/>
              <a:defRPr sz="2000"/>
            </a:lvl4pPr>
            <a:lvl5pPr marL="1829216" indent="0">
              <a:buNone/>
              <a:defRPr sz="2000"/>
            </a:lvl5pPr>
            <a:lvl6pPr marL="2286520" indent="0">
              <a:buNone/>
              <a:defRPr sz="2000"/>
            </a:lvl6pPr>
            <a:lvl7pPr marL="2743824" indent="0">
              <a:buNone/>
              <a:defRPr sz="2000"/>
            </a:lvl7pPr>
            <a:lvl8pPr marL="3201128" indent="0">
              <a:buNone/>
              <a:defRPr sz="2000"/>
            </a:lvl8pPr>
            <a:lvl9pPr marL="36584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4025504"/>
            <a:ext cx="5486400" cy="603647"/>
          </a:xfrm>
          <a:prstGeom prst="rect">
            <a:avLst/>
          </a:prstGeom>
        </p:spPr>
        <p:txBody>
          <a:bodyPr lIns="91461" tIns="45731" rIns="91461" bIns="45731"/>
          <a:lstStyle>
            <a:lvl1pPr marL="0" indent="0">
              <a:buNone/>
              <a:defRPr sz="1400"/>
            </a:lvl1pPr>
            <a:lvl2pPr marL="457304" indent="0">
              <a:buNone/>
              <a:defRPr sz="1200"/>
            </a:lvl2pPr>
            <a:lvl3pPr marL="914608" indent="0">
              <a:buNone/>
              <a:defRPr sz="1000"/>
            </a:lvl3pPr>
            <a:lvl4pPr marL="1371912" indent="0">
              <a:buNone/>
              <a:defRPr sz="900"/>
            </a:lvl4pPr>
            <a:lvl5pPr marL="1829216" indent="0">
              <a:buNone/>
              <a:defRPr sz="900"/>
            </a:lvl5pPr>
            <a:lvl6pPr marL="2286520" indent="0">
              <a:buNone/>
              <a:defRPr sz="900"/>
            </a:lvl6pPr>
            <a:lvl7pPr marL="2743824" indent="0">
              <a:buNone/>
              <a:defRPr sz="900"/>
            </a:lvl7pPr>
            <a:lvl8pPr marL="3201128" indent="0">
              <a:buNone/>
              <a:defRPr sz="900"/>
            </a:lvl8pPr>
            <a:lvl9pPr marL="3658432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7179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5979"/>
            <a:ext cx="8229601" cy="857250"/>
          </a:xfrm>
          <a:prstGeom prst="rect">
            <a:avLst/>
          </a:prstGeom>
        </p:spPr>
        <p:txBody>
          <a:bodyPr lIns="91461" tIns="45731" rIns="91461" bIns="4573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200151"/>
            <a:ext cx="8229601" cy="3394473"/>
          </a:xfrm>
          <a:prstGeom prst="rect">
            <a:avLst/>
          </a:prstGeom>
        </p:spPr>
        <p:txBody>
          <a:bodyPr vert="eaVert" lIns="91461" tIns="45731" rIns="91461" bIns="4573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4819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54783"/>
            <a:ext cx="2057400" cy="3290888"/>
          </a:xfrm>
          <a:prstGeom prst="rect">
            <a:avLst/>
          </a:prstGeom>
        </p:spPr>
        <p:txBody>
          <a:bodyPr vert="eaVert" lIns="91461" tIns="45731" rIns="91461" bIns="4573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  <a:prstGeom prst="rect">
            <a:avLst/>
          </a:prstGeom>
        </p:spPr>
        <p:txBody>
          <a:bodyPr vert="eaVert" lIns="91461" tIns="45731" rIns="91461" bIns="4573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2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B728BD35-CDD3-4EC7-A2ED-0AACC36DAFC2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4" y="4767264"/>
            <a:ext cx="2895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3" y="4767264"/>
            <a:ext cx="2133599" cy="273844"/>
          </a:xfrm>
          <a:prstGeom prst="rect">
            <a:avLst/>
          </a:prstGeom>
        </p:spPr>
        <p:txBody>
          <a:bodyPr lIns="91461" tIns="45731" rIns="91461" bIns="45731"/>
          <a:lstStyle/>
          <a:p>
            <a:pPr defTabSz="914608"/>
            <a:fld id="{F7CBA441-A20B-4B8D-A8AC-7B6B01840EF9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363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defTabSz="914608"/>
            <a:fld id="{36EFABD4-0B50-451C-99F2-68EC3DEE9473}" type="datetimeFigureOut">
              <a:rPr lang="en-US" sz="1900" smtClean="0">
                <a:solidFill>
                  <a:prstClr val="black"/>
                </a:solidFill>
              </a:rPr>
              <a:pPr defTabSz="914608"/>
              <a:t>7/11/2025</a:t>
            </a:fld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 defTabSz="914608"/>
            <a:endParaRPr lang="en-US" sz="19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 defTabSz="914608"/>
            <a:fld id="{C6FC323C-69C0-4E1A-8EB2-2DC71BBC522B}" type="slidenum">
              <a:rPr lang="en-US" sz="1900" smtClean="0">
                <a:solidFill>
                  <a:prstClr val="black"/>
                </a:solidFill>
              </a:rPr>
              <a:pPr defTabSz="914608"/>
              <a:t>‹#›</a:t>
            </a:fld>
            <a:endParaRPr lang="en-US" sz="1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017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3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iming>
    <p:tnLst>
      <p:par>
        <p:cTn id="1" dur="indefinite" restart="never" nodeType="tmRoot"/>
      </p:par>
    </p:tnLst>
  </p:timing>
  <p:txStyles>
    <p:titleStyle>
      <a:lvl1pPr algn="ctr" defTabSz="91460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78" indent="-342978" algn="l" defTabSz="91460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3118" indent="-285815" algn="l" defTabSz="91460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60" indent="-228652" algn="l" defTabSz="91460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64" indent="-228652" algn="l" defTabSz="91460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68" indent="-228652" algn="l" defTabSz="91460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71" indent="-228652" algn="l" defTabSz="91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76" indent="-228652" algn="l" defTabSz="91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779" indent="-228652" algn="l" defTabSz="91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7084" indent="-228652" algn="l" defTabSz="91460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304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608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912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216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520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24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128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432" algn="l" defTabSz="91460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1428750"/>
            <a:ext cx="515397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SYSTEM</a:t>
            </a:r>
            <a:endParaRPr lang="en-US" sz="4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53000" y="2807494"/>
            <a:ext cx="327038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By:-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Naveen Kumar Jain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(Aptitude Trainer)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d drive\MJ WORK\Pooja mam (physics)\CBSE (X)\Light - Reflection and Refraction\900_Rizwana-Khan_Blue Blurred Gradient Background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 b="20000"/>
          <a:stretch/>
        </p:blipFill>
        <p:spPr bwMode="auto">
          <a:xfrm>
            <a:off x="0" y="0"/>
            <a:ext cx="9144000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86000" y="115032"/>
            <a:ext cx="281940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n w="1905"/>
                <a:solidFill>
                  <a:srgbClr val="1F497D">
                    <a:lumMod val="50000"/>
                  </a:srgb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Trick for  calculating Square root </a:t>
            </a:r>
            <a:r>
              <a:rPr lang="en-US" sz="2000" b="1" dirty="0">
                <a:ln w="1905"/>
                <a:solidFill>
                  <a:srgbClr val="1F497D">
                    <a:lumMod val="50000"/>
                  </a:srgb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b="1" dirty="0" smtClean="0">
                <a:ln w="1905"/>
                <a:solidFill>
                  <a:srgbClr val="1F497D">
                    <a:lumMod val="50000"/>
                  </a:srgb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f Non-perfect Square Number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10277" y="1276350"/>
                <a:ext cx="4314323" cy="1773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𝑵</m:t>
                          </m:r>
                        </m:e>
                      </m:rad>
                      <m:r>
                        <a:rPr lang="en-US" b="1" i="1" smtClean="0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𝒂</m:t>
                          </m:r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𝒃</m:t>
                          </m:r>
                        </m:e>
                      </m:rad>
                      <m:r>
                        <a:rPr lang="en-US" b="1" i="1" smtClean="0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𝒄</m:t>
                      </m:r>
                      <m:r>
                        <a:rPr lang="en-US" b="1" i="1" smtClean="0">
                          <a:solidFill>
                            <a:prstClr val="white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prstClr val="white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𝒄</m:t>
                          </m:r>
                        </m:den>
                      </m:f>
                    </m:oMath>
                  </m:oMathPara>
                </a14:m>
                <a:endParaRPr lang="en-US" b="1" dirty="0" smtClean="0">
                  <a:solidFill>
                    <a:prstClr val="white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b="1" dirty="0" smtClean="0">
                    <a:solidFill>
                      <a:prstClr val="white"/>
                    </a:solidFill>
                    <a:latin typeface="Times New Roman" pitchFamily="18" charset="0"/>
                    <a:cs typeface="Times New Roman" pitchFamily="18" charset="0"/>
                  </a:rPr>
                  <a:t>Where a is nearest perfect square number</a:t>
                </a:r>
              </a:p>
              <a:p>
                <a:r>
                  <a:rPr lang="en-US" b="1" dirty="0" smtClean="0">
                    <a:solidFill>
                      <a:prstClr val="white"/>
                    </a:solidFill>
                    <a:latin typeface="Times New Roman" pitchFamily="18" charset="0"/>
                    <a:cs typeface="Times New Roman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prstClr val="white"/>
                        </a:solidFill>
                        <a:latin typeface="Cambria Math"/>
                        <a:cs typeface="Times New Roman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prstClr val="white"/>
                        </a:solidFill>
                        <a:latin typeface="Cambria Math"/>
                        <a:cs typeface="Times New Roman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𝒂</m:t>
                        </m:r>
                      </m:e>
                    </m:rad>
                  </m:oMath>
                </a14:m>
                <a:endParaRPr lang="en-US" b="1" dirty="0" smtClean="0">
                  <a:solidFill>
                    <a:prstClr val="white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b="1" dirty="0">
                  <a:solidFill>
                    <a:prstClr val="white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b="1" dirty="0" smtClean="0">
                    <a:solidFill>
                      <a:prstClr val="white"/>
                    </a:solidFill>
                    <a:latin typeface="Times New Roman" pitchFamily="18" charset="0"/>
                    <a:cs typeface="Times New Roman" pitchFamily="18" charset="0"/>
                  </a:rPr>
                  <a:t>E.g.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𝟒𝟎</m:t>
                        </m:r>
                      </m:e>
                    </m:rad>
                    <m:r>
                      <a:rPr lang="en-US" b="1" i="1" smtClean="0">
                        <a:solidFill>
                          <a:prstClr val="white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𝟑𝟔</m:t>
                        </m:r>
                        <m: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prstClr val="white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𝟒</m:t>
                        </m:r>
                      </m:e>
                    </m:rad>
                  </m:oMath>
                </a14:m>
                <a:endParaRPr lang="en-US" b="1" dirty="0">
                  <a:solidFill>
                    <a:prstClr val="white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277" y="1276350"/>
                <a:ext cx="4314323" cy="1773178"/>
              </a:xfrm>
              <a:prstGeom prst="rect">
                <a:avLst/>
              </a:prstGeom>
              <a:blipFill rotWithShape="1">
                <a:blip r:embed="rId4"/>
                <a:stretch>
                  <a:fillRect l="-1271" r="-1695" b="-3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28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2209800" y="262742"/>
                <a:ext cx="3765468" cy="45950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:r>
                  <a:rPr lang="en-US" sz="1600" b="1" u="sng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FINDING SQUARE OF 4 DIGIT NUMBER IN SIMPLE WAY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00FF0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sz="1800" b="1" dirty="0">
                    <a:solidFill>
                      <a:srgbClr val="00FF0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1800" b="1" dirty="0" smtClean="0">
                    <a:solidFill>
                      <a:srgbClr val="00FF00"/>
                    </a:solidFill>
                    <a:latin typeface="Times New Roman" pitchFamily="18" charset="0"/>
                    <a:cs typeface="Times New Roman" pitchFamily="18" charset="0"/>
                  </a:rPr>
                  <a:t>Find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00FF00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1" i="1" dirty="0" smtClean="0">
                                <a:solidFill>
                                  <a:srgbClr val="00FF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dirty="0" smtClean="0">
                                <a:solidFill>
                                  <a:srgbClr val="00FF00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𝟐𝟓𝟏𝟕</m:t>
                            </m:r>
                          </m:e>
                        </m:d>
                      </m:e>
                      <m:sup>
                        <m:r>
                          <a:rPr lang="en-US" sz="1800" b="1" i="1" dirty="0" smtClean="0">
                            <a:solidFill>
                              <a:srgbClr val="00FF00"/>
                            </a:solidFill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 smtClean="0">
                    <a:solidFill>
                      <a:srgbClr val="00FF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B5B3B"/>
                    </a:solidFill>
                    <a:latin typeface="Times New Roman" pitchFamily="18" charset="0"/>
                    <a:ea typeface="Cambria Math"/>
                    <a:cs typeface="Times New Roman" pitchFamily="18" charset="0"/>
                  </a:rPr>
                  <a:t>Steps for 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1" i="1" smtClean="0">
                                <a:solidFill>
                                  <a:srgbClr val="FB5B3B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solidFill>
                                  <a:srgbClr val="FB5B3B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𝒂𝒃</m:t>
                            </m:r>
                          </m:e>
                        </m:d>
                      </m:e>
                      <m:sup>
                        <m: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 smtClean="0">
                    <a:solidFill>
                      <a:srgbClr val="FB5B3B"/>
                    </a:solidFill>
                    <a:latin typeface="Times New Roman" pitchFamily="18" charset="0"/>
                    <a:ea typeface="Cambria Math"/>
                    <a:cs typeface="Times New Roman" pitchFamily="18" charset="0"/>
                  </a:rPr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B5B3B"/>
                    </a:solidFill>
                    <a:latin typeface="Times New Roman" pitchFamily="18" charset="0"/>
                    <a:ea typeface="Cambria Math"/>
                    <a:cs typeface="Times New Roman" pitchFamily="18" charset="0"/>
                  </a:rPr>
                  <a:t>Step 1:-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800" b="1" dirty="0" smtClean="0">
                  <a:solidFill>
                    <a:srgbClr val="FB5B3B"/>
                  </a:solidFill>
                  <a:latin typeface="Times New Roman" pitchFamily="18" charset="0"/>
                  <a:ea typeface="Cambria Math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B5B3B"/>
                    </a:solidFill>
                    <a:latin typeface="Times New Roman" pitchFamily="18" charset="0"/>
                    <a:ea typeface="Cambria Math"/>
                    <a:cs typeface="Times New Roman" pitchFamily="18" charset="0"/>
                  </a:rPr>
                  <a:t>Step 2 :-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FB5B3B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𝟐</m:t>
                    </m:r>
                    <m:r>
                      <a:rPr lang="en-US" sz="1800" b="1" i="1" smtClean="0">
                        <a:solidFill>
                          <a:srgbClr val="FB5B3B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𝒂𝒃</m:t>
                    </m:r>
                  </m:oMath>
                </a14:m>
                <a:endParaRPr lang="en-US" sz="1800" b="1" dirty="0" smtClean="0">
                  <a:solidFill>
                    <a:srgbClr val="FB5B3B"/>
                  </a:solidFill>
                  <a:latin typeface="Times New Roman" pitchFamily="18" charset="0"/>
                  <a:ea typeface="Cambria Math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B5B3B"/>
                    </a:solidFill>
                    <a:latin typeface="Times New Roman" pitchFamily="18" charset="0"/>
                    <a:ea typeface="Cambria Math"/>
                    <a:cs typeface="Times New Roman" pitchFamily="18" charset="0"/>
                  </a:rPr>
                  <a:t>Step 3:-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rgbClr val="FB5B3B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800" b="1" dirty="0" smtClean="0">
                  <a:solidFill>
                    <a:srgbClr val="EE86EE"/>
                  </a:solidFill>
                  <a:latin typeface="Times New Roman" pitchFamily="18" charset="0"/>
                  <a:ea typeface="Cambria Math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sz="1800" b="1" dirty="0">
                  <a:solidFill>
                    <a:srgbClr val="EE86EE"/>
                  </a:solidFill>
                  <a:latin typeface="Times New Roman" pitchFamily="18" charset="0"/>
                  <a:ea typeface="Cambria Math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sz="1800" b="1" dirty="0" smtClean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62742"/>
                <a:ext cx="3765468" cy="4595008"/>
              </a:xfrm>
              <a:prstGeom prst="rect">
                <a:avLst/>
              </a:prstGeom>
              <a:blipFill rotWithShape="1">
                <a:blip r:embed="rId2"/>
                <a:stretch>
                  <a:fillRect l="-1459" t="-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04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2209800" y="262742"/>
                <a:ext cx="3765468" cy="42902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FINDING NUMBER OF ZEROS AT THE END</a:t>
                </a:r>
              </a:p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FFC000"/>
                    </a:solidFill>
                    <a:latin typeface="Times New Roman" pitchFamily="18" charset="0"/>
                    <a:cs typeface="Times New Roman" pitchFamily="18" charset="0"/>
                  </a:rPr>
                  <a:t>(CONTINOUS SERIES)</a:t>
                </a:r>
                <a:endParaRPr lang="en-US" sz="1800" b="1" dirty="0" smtClean="0">
                  <a:solidFill>
                    <a:srgbClr val="00B0F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Q. Find number of zeros at the end of the product of 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cs typeface="Times New Roman" pitchFamily="18" charset="0"/>
                      </a:rPr>
                      <m:t>𝟏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𝟐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𝟑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×………….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𝟐𝟎𝟕</m:t>
                    </m:r>
                  </m:oMath>
                </a14:m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62742"/>
                <a:ext cx="3765468" cy="4290208"/>
              </a:xfrm>
              <a:prstGeom prst="rect">
                <a:avLst/>
              </a:prstGeom>
              <a:blipFill rotWithShape="1">
                <a:blip r:embed="rId2"/>
                <a:stretch>
                  <a:fillRect l="-1459" t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79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2286000" y="262742"/>
                <a:ext cx="3689268" cy="42902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FINDING NUMBER OF ZEROS AT THE END</a:t>
                </a:r>
              </a:p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FFC000"/>
                    </a:solidFill>
                    <a:latin typeface="Times New Roman" pitchFamily="18" charset="0"/>
                    <a:cs typeface="Times New Roman" pitchFamily="18" charset="0"/>
                  </a:rPr>
                  <a:t>(SERIES IS MULTIPLE OF SOME NUMBER Except 5 &amp;10)</a:t>
                </a:r>
                <a:endParaRPr lang="en-US" sz="1800" b="1" dirty="0" smtClean="0">
                  <a:solidFill>
                    <a:srgbClr val="FFC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Q. Find number of zeros at the end of the product of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800" b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𝟐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𝟒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𝟔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𝟖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×………….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𝟐𝟎𝟎</m:t>
                    </m:r>
                  </m:oMath>
                </a14:m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62742"/>
                <a:ext cx="3689268" cy="4290208"/>
              </a:xfrm>
              <a:prstGeom prst="rect">
                <a:avLst/>
              </a:prstGeom>
              <a:blipFill rotWithShape="1">
                <a:blip r:embed="rId2"/>
                <a:stretch>
                  <a:fillRect l="-1322" t="-710" r="-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36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2133600" y="262742"/>
                <a:ext cx="3841668" cy="43664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FINDING NUMBER OF ZEROS AT THE END</a:t>
                </a:r>
              </a:p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FFC000"/>
                    </a:solidFill>
                    <a:latin typeface="Times New Roman" pitchFamily="18" charset="0"/>
                    <a:cs typeface="Times New Roman" pitchFamily="18" charset="0"/>
                  </a:rPr>
                  <a:t>(SERIES IS MULTIPLE OF NUMBER 10)</a:t>
                </a:r>
                <a:endParaRPr lang="en-US" sz="1800" b="1" dirty="0" smtClean="0">
                  <a:solidFill>
                    <a:srgbClr val="FFC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Q. Find number of zeros at the end of the product of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800" b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𝟏𝟎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𝟐𝟎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𝟑𝟎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………….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𝟏𝟎𝟎𝟎</m:t>
                    </m:r>
                  </m:oMath>
                </a14:m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262742"/>
                <a:ext cx="3841668" cy="4366408"/>
              </a:xfrm>
              <a:prstGeom prst="rect">
                <a:avLst/>
              </a:prstGeom>
              <a:blipFill rotWithShape="1">
                <a:blip r:embed="rId2"/>
                <a:stretch>
                  <a:fillRect l="-1270" t="-698" r="-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81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2209800" y="262742"/>
                <a:ext cx="3765468" cy="43664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00B0F0"/>
                    </a:solidFill>
                    <a:latin typeface="Times New Roman" pitchFamily="18" charset="0"/>
                    <a:cs typeface="Times New Roman" pitchFamily="18" charset="0"/>
                  </a:rPr>
                  <a:t>FINDING NUMBER OF ZEROS AT THE END</a:t>
                </a:r>
              </a:p>
              <a:p>
                <a:pPr marL="0" indent="0" algn="ctr">
                  <a:buFont typeface="Arial" pitchFamily="34" charset="0"/>
                  <a:buNone/>
                </a:pPr>
                <a:r>
                  <a:rPr lang="en-US" sz="1800" b="1" u="sng" dirty="0" smtClean="0">
                    <a:solidFill>
                      <a:srgbClr val="FFC000"/>
                    </a:solidFill>
                    <a:latin typeface="Times New Roman" pitchFamily="18" charset="0"/>
                    <a:cs typeface="Times New Roman" pitchFamily="18" charset="0"/>
                  </a:rPr>
                  <a:t>(SERIES IS MULTIPLE OF NUMBER 5)</a:t>
                </a:r>
                <a:endParaRPr lang="en-US" sz="1800" b="1" dirty="0" smtClean="0">
                  <a:solidFill>
                    <a:srgbClr val="FFC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Q. Find number of zeros at the end of the product of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a:rPr lang="en-US" sz="1800" b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𝟓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𝟏𝟎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×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𝟏𝟓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………….</m:t>
                    </m:r>
                    <m:r>
                      <a:rPr lang="en-US" sz="1800" b="1" i="1" smtClean="0">
                        <a:solidFill>
                          <a:srgbClr val="FFFF0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𝟓𝟎𝟎</m:t>
                    </m:r>
                  </m:oMath>
                </a14:m>
                <a:r>
                  <a:rPr lang="en-US" sz="1800" b="1" dirty="0" smtClean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62742"/>
                <a:ext cx="3765468" cy="4366408"/>
              </a:xfrm>
              <a:prstGeom prst="rect">
                <a:avLst/>
              </a:prstGeom>
              <a:blipFill rotWithShape="1">
                <a:blip r:embed="rId2"/>
                <a:stretch>
                  <a:fillRect l="-1459" t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22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895350"/>
            <a:ext cx="2643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System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352550"/>
            <a:ext cx="2845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 of numbers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74152" y="1756886"/>
            <a:ext cx="1959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3028950"/>
            <a:ext cx="1717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LCM &amp; HCF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61187" y="2149554"/>
            <a:ext cx="2165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 of factors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38200" y="2595086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Cyclicity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33350"/>
            <a:ext cx="4989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Classification of Numbers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514350"/>
            <a:ext cx="8839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Natural Numbers :- 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Numbers 1, 2, 3, 4, 5……and so on are called as natural numbers. Natural numbers can also be categorized as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Positive Integers.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 = {1, 2, 3, 4, 5….}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1544419"/>
            <a:ext cx="899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Whole Numbers :-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Numbers 0, 1, 2, 3, 4, 5…..and so on are called as whole numbers.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 = {0, 1, 2, 3, 4, 5….}</a:t>
            </a:r>
            <a:endParaRPr lang="en-US" sz="20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2266950"/>
            <a:ext cx="830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Integers – Positive, Negative &amp; 0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number with no fractional part is called an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Integer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3028950"/>
            <a:ext cx="8915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Positive Integer :-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Positive numbers with no fractional part are called positive integers.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Example: 1, 2, 3, 4 etc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3943350"/>
            <a:ext cx="8839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Negative Integer:-N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egative numbers with no fractional part are called negative integers.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Example: -1, -2, -3, -4 etc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66750"/>
            <a:ext cx="8458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Rational Numbers :- 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which can be represented in the p/q form where q should not be equal to zero.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Example: all integers, all fractions etc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708487"/>
            <a:ext cx="822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Irrational Numbers:- 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when represented in decimal form, has no repeating as well as terminating part, after the decimal.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Example: √2, √3 etc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2735818"/>
            <a:ext cx="7010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Real Numbers:-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Set of rational and irrational numbers.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3181350"/>
            <a:ext cx="8534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Imaginary Numbers :-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Numbers which cannot be represented on number line or A number that when squared gives a negative number.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√-1 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omplex Number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Numbers which can be put in the form </a:t>
            </a:r>
            <a:r>
              <a:rPr lang="en-US" sz="2000" i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bi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where </a:t>
            </a:r>
            <a:r>
              <a:rPr lang="en-US" sz="2000" i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and </a:t>
            </a:r>
            <a:r>
              <a:rPr lang="en-US" sz="2000" i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are real numbers and </a:t>
            </a:r>
            <a:r>
              <a:rPr lang="en-US" sz="2000" i="1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is called the imaginary unit, where </a:t>
            </a:r>
            <a:r>
              <a:rPr lang="en-US" sz="2000" i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−1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0" y="133350"/>
            <a:ext cx="4989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Classification of Numbers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742950"/>
            <a:ext cx="6553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EVEN 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(2n) Numbers which are perfectly divisible by 2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Example: 2, 4, 6, 8, 10 etc.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581150"/>
            <a:ext cx="7543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ODD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(2n+1) Numbers which are not perfectly divisible by 2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Example: 1, 3, 5, 7, 9 etc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762000" y="2724150"/>
            <a:ext cx="6400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Odd ± Odd = Even; 	Even ± Even = Even;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Even ± Odd = Odd; 	Odd × Odd = Odd;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Even × Even = Even; 	Even × Odd = Even.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Odd to the power (any number) = Odd;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Even to any power (any number) = Even 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0" y="133350"/>
            <a:ext cx="4989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Classification of Numbers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333750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Composite Numbers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Natural numbers which are divisible by more than 2 numbers.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0550"/>
            <a:ext cx="7239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PRIME Numbers </a:t>
            </a:r>
            <a:b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which are divisible only by 1 and by itself </a:t>
            </a:r>
            <a:b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Numbers which have only two distinct factors.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Example: 2, 3, 5, 7, 11, 13 etc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762000" y="4095750"/>
            <a:ext cx="49128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 is neither prime nor composite number.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457200" y="2343150"/>
            <a:ext cx="7696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CO-PRIME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Two numbers are said to be co-prime in nature if their common factor is 1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Example: 4 &amp; 9, 13 &amp; 15, 7 &amp; 11 etc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0" y="133350"/>
            <a:ext cx="4989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Classification of Numbers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1962150"/>
            <a:ext cx="3969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 is the only even prime number.</a:t>
            </a:r>
            <a:endParaRPr lang="en-US" sz="2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10" y="544275"/>
            <a:ext cx="3467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TWIN PRIME Numbers 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1524000" y="133350"/>
            <a:ext cx="4989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6350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Classification of Numbers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944385"/>
            <a:ext cx="5074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Two prime numbers whose difference is 2. 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0100" y="1296840"/>
            <a:ext cx="69723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7030A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E.g.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(3, 5), (5, 7), (11, 13), (17, 19), (29, 31),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41, 43), 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59, 61), (71, 73), (101, 103), (107, 109), (137, 139)</a:t>
            </a:r>
            <a:endParaRPr lang="en-US" sz="2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73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438400" y="20955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0" y="89535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2-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95400" y="819150"/>
            <a:ext cx="4038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Numbers ending with digit 0,2,4,6,8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2600" y="895350"/>
            <a:ext cx="2667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2457	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(ii) 4257356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180975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95400" y="1847850"/>
            <a:ext cx="34036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Last 2 digits are divided by 4.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5486400" y="1809750"/>
            <a:ext cx="29546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0050" indent="-400050">
              <a:buAutoNum type="romanLcParenBoth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2457892		</a:t>
            </a:r>
          </a:p>
          <a:p>
            <a:pPr marL="400050" indent="-400050">
              <a:buAutoNum type="romanLcParenBoth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243562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70000" y="2457450"/>
            <a:ext cx="34036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Last 3 digits are divided by 8.</a:t>
            </a:r>
            <a:endParaRPr lang="en-US" sz="2000" dirty="0"/>
          </a:p>
        </p:txBody>
      </p:sp>
      <p:sp>
        <p:nvSpPr>
          <p:cNvPr id="20" name="Rectangle 19"/>
          <p:cNvSpPr/>
          <p:nvPr/>
        </p:nvSpPr>
        <p:spPr>
          <a:xfrm>
            <a:off x="762000" y="241935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8-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48300" y="2613224"/>
            <a:ext cx="203132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0050" indent="-400050">
              <a:buAutoNum type="romanLcParenBoth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1245768	</a:t>
            </a:r>
          </a:p>
          <a:p>
            <a:pPr marL="400050" indent="-400050">
              <a:buAutoNum type="romanLcParenBoth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234574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95400" y="3143250"/>
            <a:ext cx="3531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Last 4 digits are divided by 16.</a:t>
            </a:r>
            <a:endParaRPr lang="en-US" sz="2000" dirty="0"/>
          </a:p>
        </p:txBody>
      </p:sp>
      <p:sp>
        <p:nvSpPr>
          <p:cNvPr id="23" name="Rectangle 22"/>
          <p:cNvSpPr/>
          <p:nvPr/>
        </p:nvSpPr>
        <p:spPr>
          <a:xfrm>
            <a:off x="685800" y="31051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16-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37147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32-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68671" y="3733740"/>
            <a:ext cx="35319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Last 5 digits are divided by 16.</a:t>
            </a:r>
            <a:endParaRPr lang="en-US" sz="2000" dirty="0"/>
          </a:p>
        </p:txBody>
      </p:sp>
      <p:sp>
        <p:nvSpPr>
          <p:cNvPr id="26" name="Multiply 25"/>
          <p:cNvSpPr/>
          <p:nvPr/>
        </p:nvSpPr>
        <p:spPr>
          <a:xfrm>
            <a:off x="6553200" y="819150"/>
            <a:ext cx="381000" cy="533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818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123950"/>
            <a:ext cx="609600" cy="381000"/>
          </a:xfrm>
          <a:prstGeom prst="rect">
            <a:avLst/>
          </a:prstGeom>
          <a:noFill/>
        </p:spPr>
      </p:pic>
      <p:sp>
        <p:nvSpPr>
          <p:cNvPr id="27" name="Multiply 26"/>
          <p:cNvSpPr/>
          <p:nvPr/>
        </p:nvSpPr>
        <p:spPr>
          <a:xfrm>
            <a:off x="6705600" y="2038350"/>
            <a:ext cx="381000" cy="533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733550"/>
            <a:ext cx="609600" cy="381000"/>
          </a:xfrm>
          <a:prstGeom prst="rect">
            <a:avLst/>
          </a:prstGeom>
          <a:noFill/>
        </p:spPr>
      </p:pic>
      <p:sp>
        <p:nvSpPr>
          <p:cNvPr id="29" name="Multiply 28"/>
          <p:cNvSpPr/>
          <p:nvPr/>
        </p:nvSpPr>
        <p:spPr>
          <a:xfrm>
            <a:off x="6781800" y="2876550"/>
            <a:ext cx="381000" cy="533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2647950"/>
            <a:ext cx="609600" cy="381000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361315" y="1065431"/>
            <a:ext cx="3271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Last digit is divide by 2</a:t>
            </a:r>
            <a:endParaRPr lang="en-US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 animBg="1"/>
      <p:bldP spid="27" grpId="0" animBg="1"/>
      <p:bldP spid="29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62000" y="89535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2000" y="158115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9-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19200" y="933450"/>
            <a:ext cx="3948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Sum of digits must be divided by 3</a:t>
            </a:r>
            <a:endParaRPr lang="en-US" sz="2000" dirty="0"/>
          </a:p>
        </p:txBody>
      </p:sp>
      <p:sp>
        <p:nvSpPr>
          <p:cNvPr id="27" name="Rectangle 26"/>
          <p:cNvSpPr/>
          <p:nvPr/>
        </p:nvSpPr>
        <p:spPr>
          <a:xfrm>
            <a:off x="1206500" y="1619250"/>
            <a:ext cx="3948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Sum of digits must be divided by 9</a:t>
            </a:r>
            <a:endParaRPr lang="en-US" sz="2000" dirty="0"/>
          </a:p>
        </p:txBody>
      </p:sp>
      <p:sp>
        <p:nvSpPr>
          <p:cNvPr id="28" name="Rectangle 27"/>
          <p:cNvSpPr/>
          <p:nvPr/>
        </p:nvSpPr>
        <p:spPr>
          <a:xfrm>
            <a:off x="5486400" y="971550"/>
            <a:ext cx="25699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242578972 by 3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10200" y="1504950"/>
            <a:ext cx="29626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(ii) 45652578939 by 9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5800" y="2190750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Note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Rather than adding the digits cut those number whose addition is divisible of 3 or 9. If all digits cuts then number is divisible else not.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200" y="295275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" y="36385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10-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358900" y="2978150"/>
            <a:ext cx="48930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Last digit (one’s place digit) must be 5 or 0.</a:t>
            </a:r>
            <a:endParaRPr lang="en-US" sz="2000" dirty="0"/>
          </a:p>
        </p:txBody>
      </p:sp>
      <p:sp>
        <p:nvSpPr>
          <p:cNvPr id="36" name="Rectangle 35"/>
          <p:cNvSpPr/>
          <p:nvPr/>
        </p:nvSpPr>
        <p:spPr>
          <a:xfrm>
            <a:off x="1447800" y="3663950"/>
            <a:ext cx="4399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Last digit (one’s place digit) must be 0.</a:t>
            </a:r>
            <a:endParaRPr lang="en-US" sz="2000" dirty="0"/>
          </a:p>
        </p:txBody>
      </p:sp>
      <p:sp>
        <p:nvSpPr>
          <p:cNvPr id="37" name="Rectangle 36"/>
          <p:cNvSpPr/>
          <p:nvPr/>
        </p:nvSpPr>
        <p:spPr>
          <a:xfrm>
            <a:off x="6172200" y="3257550"/>
            <a:ext cx="251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buAutoNum type="romanLcParenBoth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2457895695</a:t>
            </a:r>
          </a:p>
          <a:p>
            <a:pPr marL="400050" indent="-400050">
              <a:buAutoNum type="romanLcParenBoth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22546756925470</a:t>
            </a:r>
          </a:p>
        </p:txBody>
      </p:sp>
      <p:sp>
        <p:nvSpPr>
          <p:cNvPr id="17" name="Multiply 16"/>
          <p:cNvSpPr/>
          <p:nvPr/>
        </p:nvSpPr>
        <p:spPr>
          <a:xfrm>
            <a:off x="8001000" y="2952750"/>
            <a:ext cx="381000" cy="533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486150"/>
            <a:ext cx="609600" cy="381000"/>
          </a:xfrm>
          <a:prstGeom prst="rect">
            <a:avLst/>
          </a:prstGeom>
          <a:noFill/>
        </p:spPr>
      </p:pic>
      <p:pic>
        <p:nvPicPr>
          <p:cNvPr id="20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105150"/>
            <a:ext cx="609600" cy="381000"/>
          </a:xfrm>
          <a:prstGeom prst="rect">
            <a:avLst/>
          </a:prstGeom>
          <a:noFill/>
        </p:spPr>
      </p:pic>
      <p:pic>
        <p:nvPicPr>
          <p:cNvPr id="21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600" y="3409950"/>
            <a:ext cx="609600" cy="381000"/>
          </a:xfrm>
          <a:prstGeom prst="rect">
            <a:avLst/>
          </a:prstGeom>
          <a:noFill/>
        </p:spPr>
      </p:pic>
      <p:sp>
        <p:nvSpPr>
          <p:cNvPr id="22" name="Rectangle 21"/>
          <p:cNvSpPr/>
          <p:nvPr/>
        </p:nvSpPr>
        <p:spPr>
          <a:xfrm>
            <a:off x="2438400" y="20955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rot="5400000">
            <a:off x="6743700" y="1162050"/>
            <a:ext cx="3048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0800000" flipV="1">
            <a:off x="5943600" y="1047751"/>
            <a:ext cx="3048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10800000" flipV="1">
            <a:off x="7010400" y="1047750"/>
            <a:ext cx="3048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10800000" flipV="1">
            <a:off x="6400800" y="1047750"/>
            <a:ext cx="3048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0" name="Multiply 39"/>
          <p:cNvSpPr/>
          <p:nvPr/>
        </p:nvSpPr>
        <p:spPr>
          <a:xfrm>
            <a:off x="8001000" y="742950"/>
            <a:ext cx="381000" cy="533400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rot="5400000">
            <a:off x="7391400" y="1590705"/>
            <a:ext cx="304800" cy="152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048500" y="1657350"/>
            <a:ext cx="304800" cy="152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10800000" flipV="1">
            <a:off x="5915356" y="1657350"/>
            <a:ext cx="317500" cy="152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6870700" y="1504950"/>
            <a:ext cx="596900" cy="314384"/>
            <a:chOff x="6794500" y="1581150"/>
            <a:chExt cx="596900" cy="314384"/>
          </a:xfrm>
        </p:grpSpPr>
        <p:cxnSp>
          <p:nvCxnSpPr>
            <p:cNvPr id="48" name="Straight Connector 47"/>
            <p:cNvCxnSpPr/>
            <p:nvPr/>
          </p:nvCxnSpPr>
          <p:spPr>
            <a:xfrm flipH="1">
              <a:off x="6794500" y="1622485"/>
              <a:ext cx="279400" cy="27304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7162800" y="1657350"/>
              <a:ext cx="304800" cy="1524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1" name="Straight Connector 50"/>
          <p:cNvCxnSpPr/>
          <p:nvPr/>
        </p:nvCxnSpPr>
        <p:spPr>
          <a:xfrm flipH="1" flipV="1">
            <a:off x="6248400" y="1657350"/>
            <a:ext cx="533400" cy="22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3" name="Picture 2" descr="300+ Free Check Mark &amp; Checklist Images - Pixaba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800" y="1276350"/>
            <a:ext cx="609600" cy="381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6" grpId="0"/>
      <p:bldP spid="27" grpId="0"/>
      <p:bldP spid="28" grpId="0"/>
      <p:bldP spid="29" grpId="0"/>
      <p:bldP spid="30" grpId="0"/>
      <p:bldP spid="31" grpId="0" animBg="1"/>
      <p:bldP spid="34" grpId="0" animBg="1"/>
      <p:bldP spid="35" grpId="0"/>
      <p:bldP spid="36" grpId="0"/>
      <p:bldP spid="37" grpId="0"/>
      <p:bldP spid="17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09600" y="9715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" y="16573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15-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9600" y="22669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18-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9600" y="34861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72-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19200" y="1047750"/>
            <a:ext cx="4843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 which is divisible by 2 and 3 both.</a:t>
            </a:r>
            <a:endParaRPr lang="en-US" sz="2000" dirty="0"/>
          </a:p>
        </p:txBody>
      </p:sp>
      <p:sp>
        <p:nvSpPr>
          <p:cNvPr id="20" name="Rectangle 19"/>
          <p:cNvSpPr/>
          <p:nvPr/>
        </p:nvSpPr>
        <p:spPr>
          <a:xfrm>
            <a:off x="1219200" y="1733550"/>
            <a:ext cx="4843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 which is divisible by 3 and 5 both.</a:t>
            </a:r>
            <a:endParaRPr lang="en-US" sz="2000" dirty="0"/>
          </a:p>
        </p:txBody>
      </p:sp>
      <p:sp>
        <p:nvSpPr>
          <p:cNvPr id="21" name="Rectangle 20"/>
          <p:cNvSpPr/>
          <p:nvPr/>
        </p:nvSpPr>
        <p:spPr>
          <a:xfrm>
            <a:off x="1219200" y="2317750"/>
            <a:ext cx="4843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 which is divisible by 2 and 9 both.</a:t>
            </a:r>
            <a:endParaRPr lang="en-US" sz="2000" dirty="0"/>
          </a:p>
        </p:txBody>
      </p:sp>
      <p:sp>
        <p:nvSpPr>
          <p:cNvPr id="22" name="Rectangle 21"/>
          <p:cNvSpPr/>
          <p:nvPr/>
        </p:nvSpPr>
        <p:spPr>
          <a:xfrm>
            <a:off x="1219200" y="2913618"/>
            <a:ext cx="4843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 which is divisible by 3 and 8 both.</a:t>
            </a:r>
            <a:endParaRPr lang="en-US" sz="2000" dirty="0"/>
          </a:p>
        </p:txBody>
      </p:sp>
      <p:sp>
        <p:nvSpPr>
          <p:cNvPr id="23" name="Rectangle 22"/>
          <p:cNvSpPr/>
          <p:nvPr/>
        </p:nvSpPr>
        <p:spPr>
          <a:xfrm>
            <a:off x="609600" y="28765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24-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06500" y="3549650"/>
            <a:ext cx="48431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Number which is divisible by 8 and 9 both.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2438400" y="20955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31" grpId="0" animBg="1"/>
      <p:bldP spid="34" grpId="0" animBg="1"/>
      <p:bldP spid="17" grpId="0"/>
      <p:bldP spid="20" grpId="0"/>
      <p:bldP spid="21" grpId="0"/>
      <p:bldP spid="22" grpId="0"/>
      <p:bldP spid="23" grpId="0" animBg="1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09600" y="89535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18160" y="2728616"/>
            <a:ext cx="685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If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(Sum of digits at even place)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−(Sum of digits at odd place) 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			= zero (0) or divisible by 11.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61" y="2728616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11-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71600" y="1657350"/>
            <a:ext cx="2819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Repeat this process.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1047750"/>
            <a:ext cx="42087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Take the last digit of the number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58900" y="1352550"/>
            <a:ext cx="6413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Double it and subtract it from the remaining digits.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3661" y="819150"/>
            <a:ext cx="26919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Following are the steps</a:t>
            </a:r>
            <a:endParaRPr lang="en-US" sz="2000" dirty="0"/>
          </a:p>
        </p:txBody>
      </p:sp>
      <p:sp>
        <p:nvSpPr>
          <p:cNvPr id="27" name="Rectangle 26"/>
          <p:cNvSpPr/>
          <p:nvPr/>
        </p:nvSpPr>
        <p:spPr>
          <a:xfrm>
            <a:off x="7315200" y="895350"/>
            <a:ext cx="1321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 35714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06097" y="3436502"/>
            <a:ext cx="2156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 2 3 6 5 4 8 9 5 7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2438400" y="20955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19646" y="119568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sz="2400" dirty="0"/>
          </a:p>
        </p:txBody>
      </p:sp>
      <p:cxnSp>
        <p:nvCxnSpPr>
          <p:cNvPr id="16" name="Straight Connector 15"/>
          <p:cNvCxnSpPr/>
          <p:nvPr/>
        </p:nvCxnSpPr>
        <p:spPr>
          <a:xfrm flipH="1" flipV="1">
            <a:off x="7543800" y="1581149"/>
            <a:ext cx="109259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7981" y="158115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3563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50369" y="188371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sz="2400" dirty="0"/>
          </a:p>
        </p:txBody>
      </p:sp>
      <p:cxnSp>
        <p:nvCxnSpPr>
          <p:cNvPr id="21" name="Straight Connector 20"/>
          <p:cNvCxnSpPr/>
          <p:nvPr/>
        </p:nvCxnSpPr>
        <p:spPr>
          <a:xfrm flipH="1" flipV="1">
            <a:off x="7511792" y="2266950"/>
            <a:ext cx="109259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96200" y="2266951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350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14021" y="2735818"/>
            <a:ext cx="3094117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Sum of digits at even place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2486009" y="3471948"/>
            <a:ext cx="1776448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3 +5  +8   +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 </a:t>
            </a:r>
            <a:endParaRPr lang="en-US" sz="2000" dirty="0"/>
          </a:p>
        </p:txBody>
      </p:sp>
      <p:sp>
        <p:nvSpPr>
          <p:cNvPr id="30" name="Rectangle 29"/>
          <p:cNvSpPr/>
          <p:nvPr/>
        </p:nvSpPr>
        <p:spPr>
          <a:xfrm>
            <a:off x="3657600" y="409351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407016" y="3437714"/>
            <a:ext cx="2050561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2+6 +4  +9  + 7 </a:t>
            </a:r>
            <a:endParaRPr lang="en-US" sz="2000" dirty="0"/>
          </a:p>
        </p:txBody>
      </p:sp>
      <p:sp>
        <p:nvSpPr>
          <p:cNvPr id="32" name="Rectangle 31"/>
          <p:cNvSpPr/>
          <p:nvPr/>
        </p:nvSpPr>
        <p:spPr>
          <a:xfrm>
            <a:off x="4052528" y="4104326"/>
            <a:ext cx="5950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-28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65650" y="4111017"/>
            <a:ext cx="615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=-7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06213" y="4469531"/>
            <a:ext cx="4008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So, given number is not divisible by 11.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21304" y="2736850"/>
            <a:ext cx="3243196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(Sum of digits at odd place) </a:t>
            </a:r>
            <a:endParaRPr lang="en-US" sz="2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/>
      <p:bldP spid="23" grpId="0" animBg="1"/>
      <p:bldP spid="15" grpId="0"/>
      <p:bldP spid="19" grpId="0"/>
      <p:bldP spid="25" grpId="0"/>
      <p:bldP spid="26" grpId="0"/>
      <p:bldP spid="27" grpId="0"/>
      <p:bldP spid="28" grpId="0"/>
      <p:bldP spid="14" grpId="0"/>
      <p:bldP spid="18" grpId="0"/>
      <p:bldP spid="20" grpId="0"/>
      <p:bldP spid="24" grpId="0"/>
      <p:bldP spid="7" grpId="0" animBg="1"/>
      <p:bldP spid="8" grpId="0" animBg="1"/>
      <p:bldP spid="30" grpId="0"/>
      <p:bldP spid="31" grpId="0" animBg="1"/>
      <p:bldP spid="32" grpId="0"/>
      <p:bldP spid="33" grpId="0"/>
      <p:bldP spid="34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57200" y="590550"/>
            <a:ext cx="82296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AutoNum type="alphaUcPeriod" startAt="17"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smallest digit by which * is to be replaced so that 357*2 is divisible by 3?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A. 0	B. 4		C. 1		D.7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2835354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Q.	The digit by which * is to be replaced so that 46*217 is divisible by 9?</a:t>
            </a:r>
          </a:p>
          <a:p>
            <a:pPr marL="914400" lvl="1" indent="-51435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A.2		B. 7		C. 9		D.3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3550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357*2</a:t>
            </a:r>
            <a:endParaRPr lang="en-US" sz="2400" dirty="0"/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1409700" y="1885950"/>
            <a:ext cx="2286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 flipV="1">
            <a:off x="1600200" y="1809750"/>
            <a:ext cx="317500" cy="152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95600" y="1733550"/>
            <a:ext cx="9957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*+2=3</a:t>
            </a:r>
            <a:endParaRPr lang="en-US" sz="2400" dirty="0"/>
          </a:p>
        </p:txBody>
      </p:sp>
      <p:sp>
        <p:nvSpPr>
          <p:cNvPr id="16" name="Right Arrow 15"/>
          <p:cNvSpPr/>
          <p:nvPr/>
        </p:nvSpPr>
        <p:spPr>
          <a:xfrm>
            <a:off x="2438400" y="180975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2438400" y="2114550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895600" y="2038350"/>
            <a:ext cx="667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*=1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4495800" y="1733550"/>
            <a:ext cx="3886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Note:- * can be 4, and 7 also but minimum value is 1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1562100" y="3913485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46*217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3195215" y="3938885"/>
            <a:ext cx="1806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*+4+6+1=18</a:t>
            </a:r>
            <a:endParaRPr lang="en-US" sz="2400" dirty="0"/>
          </a:p>
        </p:txBody>
      </p:sp>
      <p:sp>
        <p:nvSpPr>
          <p:cNvPr id="22" name="Right Arrow 21"/>
          <p:cNvSpPr/>
          <p:nvPr/>
        </p:nvSpPr>
        <p:spPr>
          <a:xfrm>
            <a:off x="2738015" y="4015085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2738015" y="4319885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195215" y="4243685"/>
            <a:ext cx="667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*=7</a:t>
            </a:r>
            <a:endParaRPr lang="en-US" sz="24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2133600" y="4019550"/>
            <a:ext cx="368300" cy="241300"/>
            <a:chOff x="2133600" y="4324350"/>
            <a:chExt cx="368300" cy="241300"/>
          </a:xfrm>
        </p:grpSpPr>
        <p:cxnSp>
          <p:nvCxnSpPr>
            <p:cNvPr id="25" name="Straight Connector 24"/>
            <p:cNvCxnSpPr/>
            <p:nvPr/>
          </p:nvCxnSpPr>
          <p:spPr>
            <a:xfrm rot="5400000">
              <a:off x="2057400" y="4400550"/>
              <a:ext cx="228600" cy="76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2349500" y="4413250"/>
              <a:ext cx="228600" cy="76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0" name="Rectangle 29"/>
          <p:cNvSpPr/>
          <p:nvPr/>
        </p:nvSpPr>
        <p:spPr>
          <a:xfrm>
            <a:off x="1219200" y="2343150"/>
            <a:ext cx="2597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C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5562600" y="3943350"/>
            <a:ext cx="2579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B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2438400" y="5715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6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/>
      <p:bldP spid="22" grpId="0" animBg="1"/>
      <p:bldP spid="23" grpId="0" animBg="1"/>
      <p:bldP spid="24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800" y="590550"/>
            <a:ext cx="8534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AutoNum type="alphaUcPeriod" startAt="17"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2176a34b is divisible by 72, find out the value of a &amp; b.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A. a=9,b=4		B. a=0, b=1	C. a=9, b=1	D. a=1, b=4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64218"/>
            <a:ext cx="6650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Number which is divisible by72 must be divisible by  8 and 9 both.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1657350"/>
            <a:ext cx="7340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First applying the divisibility test of 8, last 3 digits must be divisible by 8.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600200" y="2419350"/>
            <a:ext cx="7409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34b </a:t>
            </a:r>
            <a:endParaRPr lang="en-US" sz="24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1409700" y="2419350"/>
            <a:ext cx="1346200" cy="685800"/>
            <a:chOff x="1447800" y="2647950"/>
            <a:chExt cx="1346200" cy="685800"/>
          </a:xfrm>
        </p:grpSpPr>
        <p:sp>
          <p:nvSpPr>
            <p:cNvPr id="26" name="Arc 25"/>
            <p:cNvSpPr/>
            <p:nvPr/>
          </p:nvSpPr>
          <p:spPr>
            <a:xfrm>
              <a:off x="1447800" y="2647950"/>
              <a:ext cx="152400" cy="685800"/>
            </a:xfrm>
            <a:prstGeom prst="arc">
              <a:avLst>
                <a:gd name="adj1" fmla="val 16200000"/>
                <a:gd name="adj2" fmla="val 6078596"/>
              </a:avLst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574800" y="2647950"/>
              <a:ext cx="1219200" cy="158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/>
          <p:cNvSpPr/>
          <p:nvPr/>
        </p:nvSpPr>
        <p:spPr>
          <a:xfrm>
            <a:off x="1219200" y="24447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8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1600200" y="19875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400" dirty="0"/>
          </a:p>
        </p:txBody>
      </p:sp>
      <p:sp>
        <p:nvSpPr>
          <p:cNvPr id="32" name="Rectangle 31"/>
          <p:cNvSpPr/>
          <p:nvPr/>
        </p:nvSpPr>
        <p:spPr>
          <a:xfrm>
            <a:off x="1603057" y="26815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32</a:t>
            </a:r>
            <a:endParaRPr lang="en-US" sz="2400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600200" y="3067050"/>
            <a:ext cx="838200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744494" y="3087985"/>
            <a:ext cx="312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dirty="0"/>
          </a:p>
        </p:txBody>
      </p:sp>
      <p:sp>
        <p:nvSpPr>
          <p:cNvPr id="48" name="Rectangle 47"/>
          <p:cNvSpPr/>
          <p:nvPr/>
        </p:nvSpPr>
        <p:spPr>
          <a:xfrm>
            <a:off x="1896894" y="3100685"/>
            <a:ext cx="312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326004" y="4094897"/>
            <a:ext cx="2951391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 must be 4 to be divisible by 8, so b=4 </a:t>
            </a:r>
            <a:endParaRPr lang="en-US" sz="2400" dirty="0"/>
          </a:p>
        </p:txBody>
      </p:sp>
      <p:sp>
        <p:nvSpPr>
          <p:cNvPr id="50" name="Rectangle 49"/>
          <p:cNvSpPr/>
          <p:nvPr/>
        </p:nvSpPr>
        <p:spPr>
          <a:xfrm>
            <a:off x="1752600" y="340995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24</a:t>
            </a:r>
            <a:endParaRPr lang="en-US" sz="2400" dirty="0"/>
          </a:p>
        </p:txBody>
      </p:sp>
      <p:sp>
        <p:nvSpPr>
          <p:cNvPr id="51" name="Rectangle 50"/>
          <p:cNvSpPr/>
          <p:nvPr/>
        </p:nvSpPr>
        <p:spPr>
          <a:xfrm>
            <a:off x="1752600" y="19875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400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1752600" y="3790950"/>
            <a:ext cx="838200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905000" y="378648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dirty="0"/>
          </a:p>
        </p:txBody>
      </p:sp>
      <p:sp>
        <p:nvSpPr>
          <p:cNvPr id="54" name="Rectangle 53"/>
          <p:cNvSpPr/>
          <p:nvPr/>
        </p:nvSpPr>
        <p:spPr>
          <a:xfrm>
            <a:off x="3505200" y="2190750"/>
            <a:ext cx="48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Now, applying the divisibility test of 9, we have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4114800" y="280035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2176a344</a:t>
            </a:r>
            <a:endParaRPr lang="en-US" sz="2400" dirty="0"/>
          </a:p>
        </p:txBody>
      </p:sp>
      <p:grpSp>
        <p:nvGrpSpPr>
          <p:cNvPr id="61" name="Group 60"/>
          <p:cNvGrpSpPr/>
          <p:nvPr/>
        </p:nvGrpSpPr>
        <p:grpSpPr>
          <a:xfrm>
            <a:off x="4178300" y="2876552"/>
            <a:ext cx="457200" cy="304798"/>
            <a:chOff x="4178300" y="3257552"/>
            <a:chExt cx="457200" cy="304798"/>
          </a:xfrm>
        </p:grpSpPr>
        <p:cxnSp>
          <p:nvCxnSpPr>
            <p:cNvPr id="56" name="Straight Connector 55"/>
            <p:cNvCxnSpPr/>
            <p:nvPr/>
          </p:nvCxnSpPr>
          <p:spPr>
            <a:xfrm rot="5400000">
              <a:off x="4102101" y="3333751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4406902" y="3333752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4635500" y="2889250"/>
            <a:ext cx="457200" cy="304798"/>
            <a:chOff x="4178300" y="3257552"/>
            <a:chExt cx="457200" cy="304798"/>
          </a:xfrm>
        </p:grpSpPr>
        <p:cxnSp>
          <p:nvCxnSpPr>
            <p:cNvPr id="63" name="Straight Connector 62"/>
            <p:cNvCxnSpPr/>
            <p:nvPr/>
          </p:nvCxnSpPr>
          <p:spPr>
            <a:xfrm rot="5400000">
              <a:off x="4102101" y="3333751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406902" y="3333752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4343400" y="2876550"/>
            <a:ext cx="1054100" cy="330198"/>
            <a:chOff x="4343400" y="3257550"/>
            <a:chExt cx="1054100" cy="330198"/>
          </a:xfrm>
        </p:grpSpPr>
        <p:grpSp>
          <p:nvGrpSpPr>
            <p:cNvPr id="65" name="Group 64"/>
            <p:cNvGrpSpPr/>
            <p:nvPr/>
          </p:nvGrpSpPr>
          <p:grpSpPr>
            <a:xfrm>
              <a:off x="5105400" y="3257550"/>
              <a:ext cx="292100" cy="330198"/>
              <a:chOff x="4178300" y="3257552"/>
              <a:chExt cx="292100" cy="330198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 rot="5400000">
                <a:off x="4102101" y="3333751"/>
                <a:ext cx="304797" cy="15239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rot="5400000">
                <a:off x="4241802" y="3359152"/>
                <a:ext cx="304797" cy="15239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cxnSp>
          <p:nvCxnSpPr>
            <p:cNvPr id="68" name="Straight Connector 67"/>
            <p:cNvCxnSpPr/>
            <p:nvPr/>
          </p:nvCxnSpPr>
          <p:spPr>
            <a:xfrm rot="5400000">
              <a:off x="4267201" y="3333749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0" name="Rectangle 69"/>
          <p:cNvSpPr/>
          <p:nvPr/>
        </p:nvSpPr>
        <p:spPr>
          <a:xfrm>
            <a:off x="3403600" y="3206748"/>
            <a:ext cx="4876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can be 0 or 9 to be divisible by 9, so from option a=9</a:t>
            </a:r>
            <a:endParaRPr lang="en-US" sz="2400" dirty="0"/>
          </a:p>
        </p:txBody>
      </p:sp>
      <p:cxnSp>
        <p:nvCxnSpPr>
          <p:cNvPr id="71" name="Straight Connector 70"/>
          <p:cNvCxnSpPr/>
          <p:nvPr/>
        </p:nvCxnSpPr>
        <p:spPr>
          <a:xfrm rot="5400000" flipH="1" flipV="1">
            <a:off x="2362200" y="3105150"/>
            <a:ext cx="1828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4240475" y="4094897"/>
            <a:ext cx="25801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A</a:t>
            </a:r>
            <a:endParaRPr lang="en-US" sz="2400" dirty="0"/>
          </a:p>
        </p:txBody>
      </p:sp>
      <p:sp>
        <p:nvSpPr>
          <p:cNvPr id="38" name="Rectangle 37"/>
          <p:cNvSpPr/>
          <p:nvPr/>
        </p:nvSpPr>
        <p:spPr>
          <a:xfrm>
            <a:off x="2438400" y="6733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8" grpId="0"/>
      <p:bldP spid="30" grpId="0"/>
      <p:bldP spid="31" grpId="0"/>
      <p:bldP spid="32" grpId="0"/>
      <p:bldP spid="47" grpId="0"/>
      <p:bldP spid="48" grpId="0"/>
      <p:bldP spid="49" grpId="0" animBg="1"/>
      <p:bldP spid="50" grpId="0"/>
      <p:bldP spid="51" grpId="0"/>
      <p:bldP spid="53" grpId="0"/>
      <p:bldP spid="54" grpId="0"/>
      <p:bldP spid="55" grpId="0"/>
      <p:bldP spid="70" grpId="0"/>
      <p:bldP spid="7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" y="590550"/>
            <a:ext cx="8534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lphaUcPeriod" startAt="17"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value of |A-B| if 32A4873B is divisible by 72.</a:t>
            </a:r>
          </a:p>
          <a:p>
            <a:pPr marL="514350" indent="-514350">
              <a:buNone/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A.	3		B.6		C.9		D. 7 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092" y="1428750"/>
            <a:ext cx="6650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Number which is divisible by72 must be divisible by  8 and 9 both.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0" y="1733550"/>
            <a:ext cx="7340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First applying the divisibility test of 8, last 3 digits must be divisible by 8.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2419350"/>
            <a:ext cx="7745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73B 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1295400" y="2343150"/>
            <a:ext cx="1346200" cy="685800"/>
            <a:chOff x="1447800" y="2647950"/>
            <a:chExt cx="1346200" cy="685800"/>
          </a:xfrm>
        </p:grpSpPr>
        <p:sp>
          <p:nvSpPr>
            <p:cNvPr id="12" name="Arc 11"/>
            <p:cNvSpPr/>
            <p:nvPr/>
          </p:nvSpPr>
          <p:spPr>
            <a:xfrm>
              <a:off x="1447800" y="2647950"/>
              <a:ext cx="152400" cy="685800"/>
            </a:xfrm>
            <a:prstGeom prst="arc">
              <a:avLst>
                <a:gd name="adj1" fmla="val 16200000"/>
                <a:gd name="adj2" fmla="val 6078596"/>
              </a:avLst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574800" y="2647950"/>
              <a:ext cx="1219200" cy="158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1143000" y="23431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8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1524000" y="19875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1526857" y="26815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72</a:t>
            </a:r>
            <a:endParaRPr lang="en-US" sz="24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524000" y="3067050"/>
            <a:ext cx="838200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668294" y="3087985"/>
            <a:ext cx="312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1820694" y="3100685"/>
            <a:ext cx="3129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321676" y="4095750"/>
            <a:ext cx="3048001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 must be 6 to be divisible by 8, so B=6 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1676400" y="340995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1676400" y="19875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1676400" y="3790950"/>
            <a:ext cx="838200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28800" y="378648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3429000" y="2190750"/>
            <a:ext cx="48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Now, applying the divisibility test of 9, we have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3594100" y="2558197"/>
            <a:ext cx="1484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32A48736</a:t>
            </a:r>
            <a:endParaRPr lang="en-US" sz="24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4648200" y="2607619"/>
            <a:ext cx="304799" cy="304798"/>
            <a:chOff x="4178300" y="3257552"/>
            <a:chExt cx="304799" cy="304798"/>
          </a:xfrm>
        </p:grpSpPr>
        <p:cxnSp>
          <p:nvCxnSpPr>
            <p:cNvPr id="31" name="Straight Connector 30"/>
            <p:cNvCxnSpPr/>
            <p:nvPr/>
          </p:nvCxnSpPr>
          <p:spPr>
            <a:xfrm rot="5400000">
              <a:off x="4102101" y="3333751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254501" y="3333752"/>
              <a:ext cx="304797" cy="1523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3683002" y="2650182"/>
            <a:ext cx="965198" cy="264468"/>
            <a:chOff x="4419600" y="3292383"/>
            <a:chExt cx="965198" cy="264468"/>
          </a:xfrm>
        </p:grpSpPr>
        <p:cxnSp>
          <p:nvCxnSpPr>
            <p:cNvPr id="36" name="Straight Connector 35"/>
            <p:cNvCxnSpPr/>
            <p:nvPr/>
          </p:nvCxnSpPr>
          <p:spPr>
            <a:xfrm flipH="1">
              <a:off x="5143499" y="3292383"/>
              <a:ext cx="241299" cy="2644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4419600" y="3292383"/>
              <a:ext cx="114300" cy="19376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8" name="Rectangle 37"/>
          <p:cNvSpPr/>
          <p:nvPr/>
        </p:nvSpPr>
        <p:spPr>
          <a:xfrm>
            <a:off x="3429000" y="3086100"/>
            <a:ext cx="487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must be 3 to be divisible by 9. </a:t>
            </a:r>
            <a:endParaRPr lang="en-US" sz="2400" dirty="0"/>
          </a:p>
        </p:txBody>
      </p:sp>
      <p:cxnSp>
        <p:nvCxnSpPr>
          <p:cNvPr id="39" name="Straight Connector 38"/>
          <p:cNvCxnSpPr/>
          <p:nvPr/>
        </p:nvCxnSpPr>
        <p:spPr>
          <a:xfrm rot="5400000" flipH="1" flipV="1">
            <a:off x="2286000" y="3105150"/>
            <a:ext cx="18288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248400" y="4019550"/>
            <a:ext cx="25801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A</a:t>
            </a:r>
            <a:endParaRPr lang="en-US" sz="2400" dirty="0"/>
          </a:p>
        </p:txBody>
      </p:sp>
      <p:sp>
        <p:nvSpPr>
          <p:cNvPr id="45" name="Rectangle 44"/>
          <p:cNvSpPr/>
          <p:nvPr/>
        </p:nvSpPr>
        <p:spPr>
          <a:xfrm>
            <a:off x="3581400" y="3557885"/>
            <a:ext cx="487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Now |A-B|=|3-6|=3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2438400" y="-19050"/>
            <a:ext cx="36481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Divisibility Test 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8" grpId="0"/>
      <p:bldP spid="14" grpId="0"/>
      <p:bldP spid="15" grpId="0"/>
      <p:bldP spid="16" grpId="0"/>
      <p:bldP spid="18" grpId="0"/>
      <p:bldP spid="19" grpId="0"/>
      <p:bldP spid="20" grpId="0" animBg="1"/>
      <p:bldP spid="21" grpId="0"/>
      <p:bldP spid="22" grpId="0"/>
      <p:bldP spid="24" grpId="0"/>
      <p:bldP spid="25" grpId="0"/>
      <p:bldP spid="26" grpId="0"/>
      <p:bldP spid="38" grpId="0"/>
      <p:bldP spid="40" grpId="0" animBg="1"/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617937"/>
              </p:ext>
            </p:extLst>
          </p:nvPr>
        </p:nvGraphicFramePr>
        <p:xfrm>
          <a:off x="0" y="666750"/>
          <a:ext cx="9144000" cy="7086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43000"/>
                <a:gridCol w="889000"/>
                <a:gridCol w="1016000"/>
                <a:gridCol w="1016000"/>
                <a:gridCol w="1016000"/>
                <a:gridCol w="1016000"/>
                <a:gridCol w="1016000"/>
                <a:gridCol w="355600"/>
                <a:gridCol w="1676400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Number (x)</a:t>
                      </a:r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000" i="1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000" i="1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0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000" i="1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0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000" i="1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000" i="1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20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2000" i="1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2000" i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Cyclicity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304800" y="14287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295400" y="14668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Cloud 118"/>
          <p:cNvSpPr/>
          <p:nvPr/>
        </p:nvSpPr>
        <p:spPr>
          <a:xfrm>
            <a:off x="1143000" y="647700"/>
            <a:ext cx="12192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286000" y="14668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21" name="Cloud 120"/>
          <p:cNvSpPr/>
          <p:nvPr/>
        </p:nvSpPr>
        <p:spPr>
          <a:xfrm>
            <a:off x="1981200" y="647700"/>
            <a:ext cx="13716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=2x2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Cloud 121"/>
          <p:cNvSpPr/>
          <p:nvPr/>
        </p:nvSpPr>
        <p:spPr>
          <a:xfrm>
            <a:off x="2819400" y="6477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=2x2x2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3186545" y="14443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4" name="Cloud 123"/>
          <p:cNvSpPr/>
          <p:nvPr/>
        </p:nvSpPr>
        <p:spPr>
          <a:xfrm>
            <a:off x="3702627" y="673677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4083627" y="14668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Cloud 125"/>
          <p:cNvSpPr/>
          <p:nvPr/>
        </p:nvSpPr>
        <p:spPr>
          <a:xfrm>
            <a:off x="4953000" y="6477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4953000" y="14668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Cloud 127"/>
          <p:cNvSpPr/>
          <p:nvPr/>
        </p:nvSpPr>
        <p:spPr>
          <a:xfrm>
            <a:off x="5943600" y="6477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6172200" y="14512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0" name="Sun 129"/>
          <p:cNvSpPr/>
          <p:nvPr/>
        </p:nvSpPr>
        <p:spPr>
          <a:xfrm>
            <a:off x="7772400" y="13525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31" name="Cloud Callout 130"/>
          <p:cNvSpPr/>
          <p:nvPr/>
        </p:nvSpPr>
        <p:spPr>
          <a:xfrm>
            <a:off x="723900" y="152400"/>
            <a:ext cx="4229100" cy="1524000"/>
          </a:xfrm>
          <a:prstGeom prst="cloudCallout">
            <a:avLst>
              <a:gd name="adj1" fmla="val -39506"/>
              <a:gd name="adj2" fmla="val 5090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After How many powers, unit digit is repeating.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304800" y="19621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95400" y="20002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86000" y="20002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2" name="Cloud 141"/>
          <p:cNvSpPr/>
          <p:nvPr/>
        </p:nvSpPr>
        <p:spPr>
          <a:xfrm>
            <a:off x="1981200" y="1181100"/>
            <a:ext cx="13716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" name="Cloud 142"/>
          <p:cNvSpPr/>
          <p:nvPr/>
        </p:nvSpPr>
        <p:spPr>
          <a:xfrm>
            <a:off x="2819400" y="11811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3186545" y="19777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27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Cloud 144"/>
          <p:cNvSpPr/>
          <p:nvPr/>
        </p:nvSpPr>
        <p:spPr>
          <a:xfrm>
            <a:off x="3702627" y="1207077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4083627" y="20002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81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7" name="Cloud 146"/>
          <p:cNvSpPr/>
          <p:nvPr/>
        </p:nvSpPr>
        <p:spPr>
          <a:xfrm>
            <a:off x="4953000" y="11811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4953000" y="20002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243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Cloud 148"/>
          <p:cNvSpPr/>
          <p:nvPr/>
        </p:nvSpPr>
        <p:spPr>
          <a:xfrm>
            <a:off x="5943600" y="11811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6172200" y="19846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729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1" name="Sun 150"/>
          <p:cNvSpPr/>
          <p:nvPr/>
        </p:nvSpPr>
        <p:spPr>
          <a:xfrm>
            <a:off x="7772400" y="18859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52" name="Cloud Callout 151"/>
          <p:cNvSpPr/>
          <p:nvPr/>
        </p:nvSpPr>
        <p:spPr>
          <a:xfrm>
            <a:off x="574963" y="559377"/>
            <a:ext cx="4229100" cy="1524000"/>
          </a:xfrm>
          <a:prstGeom prst="cloudCallout">
            <a:avLst>
              <a:gd name="adj1" fmla="val -39506"/>
              <a:gd name="adj2" fmla="val 5090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this case, unit digit is repeating after 4 power so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Cloud 152"/>
          <p:cNvSpPr/>
          <p:nvPr/>
        </p:nvSpPr>
        <p:spPr>
          <a:xfrm>
            <a:off x="1028700" y="1257300"/>
            <a:ext cx="12192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304800" y="24574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295400" y="24955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2286000" y="24955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Cloud 156"/>
          <p:cNvSpPr/>
          <p:nvPr/>
        </p:nvSpPr>
        <p:spPr>
          <a:xfrm>
            <a:off x="1981200" y="1676400"/>
            <a:ext cx="13716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Cloud 157"/>
          <p:cNvSpPr/>
          <p:nvPr/>
        </p:nvSpPr>
        <p:spPr>
          <a:xfrm>
            <a:off x="2819400" y="16764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3186545" y="24730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Cloud 159"/>
          <p:cNvSpPr/>
          <p:nvPr/>
        </p:nvSpPr>
        <p:spPr>
          <a:xfrm>
            <a:off x="3702627" y="1702377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4083627" y="24955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256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Cloud 161"/>
          <p:cNvSpPr/>
          <p:nvPr/>
        </p:nvSpPr>
        <p:spPr>
          <a:xfrm>
            <a:off x="4953000" y="16764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4953000" y="24955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1024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Cloud 163"/>
          <p:cNvSpPr/>
          <p:nvPr/>
        </p:nvSpPr>
        <p:spPr>
          <a:xfrm>
            <a:off x="5943600" y="1676400"/>
            <a:ext cx="14478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6172200" y="24799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4096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Sun 165"/>
          <p:cNvSpPr/>
          <p:nvPr/>
        </p:nvSpPr>
        <p:spPr>
          <a:xfrm>
            <a:off x="7772400" y="23812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7" name="Cloud 166"/>
          <p:cNvSpPr/>
          <p:nvPr/>
        </p:nvSpPr>
        <p:spPr>
          <a:xfrm>
            <a:off x="1028700" y="1752600"/>
            <a:ext cx="1219200" cy="762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304800" y="29146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295400" y="29527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286000" y="29527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25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3186545" y="29302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125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4083627" y="29527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625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4953000" y="29527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3125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6172200" y="29371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15625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Sun 174"/>
          <p:cNvSpPr/>
          <p:nvPr/>
        </p:nvSpPr>
        <p:spPr>
          <a:xfrm>
            <a:off x="7772400" y="28384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84" name="Oval 183"/>
          <p:cNvSpPr/>
          <p:nvPr/>
        </p:nvSpPr>
        <p:spPr>
          <a:xfrm>
            <a:off x="304800" y="33718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1295400" y="34099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2286000" y="34099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3186545" y="33874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216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4083627" y="34099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1296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4953000" y="34099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7776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6172200" y="33943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46656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1" name="Sun 190"/>
          <p:cNvSpPr/>
          <p:nvPr/>
        </p:nvSpPr>
        <p:spPr>
          <a:xfrm>
            <a:off x="7772400" y="32956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92" name="Oval 191"/>
          <p:cNvSpPr/>
          <p:nvPr/>
        </p:nvSpPr>
        <p:spPr>
          <a:xfrm>
            <a:off x="304800" y="37909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1295400" y="38290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2286000" y="38290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3186545" y="38065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343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4083627" y="38290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2401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4953000" y="38290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16807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6172200" y="38134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117649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9" name="Sun 198"/>
          <p:cNvSpPr/>
          <p:nvPr/>
        </p:nvSpPr>
        <p:spPr>
          <a:xfrm>
            <a:off x="7772400" y="37147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304800" y="42100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295400" y="42481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2286000" y="42481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3186545" y="42256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512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4083627" y="42481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4096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4953000" y="42481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32768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6172200" y="42325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262144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7" name="Sun 206"/>
          <p:cNvSpPr/>
          <p:nvPr/>
        </p:nvSpPr>
        <p:spPr>
          <a:xfrm>
            <a:off x="7772400" y="41338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304800" y="4629150"/>
            <a:ext cx="3810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1295400" y="46672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2286000" y="46672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81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3186545" y="4644736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729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4083627" y="4667250"/>
            <a:ext cx="6858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6561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4953000" y="4667250"/>
            <a:ext cx="990599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59049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6172200" y="4651663"/>
            <a:ext cx="990600" cy="3429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531441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" name="Sun 214"/>
          <p:cNvSpPr/>
          <p:nvPr/>
        </p:nvSpPr>
        <p:spPr>
          <a:xfrm>
            <a:off x="7772400" y="4552950"/>
            <a:ext cx="457200" cy="495300"/>
          </a:xfrm>
          <a:prstGeom prst="su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4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000"/>
                            </p:stCondLst>
                            <p:childTnLst>
                              <p:par>
                                <p:cTn id="2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000"/>
                            </p:stCondLst>
                            <p:childTnLst>
                              <p:par>
                                <p:cTn id="2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"/>
                            </p:stCondLst>
                            <p:childTnLst>
                              <p:par>
                                <p:cTn id="2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0"/>
                            </p:stCondLst>
                            <p:childTnLst>
                              <p:par>
                                <p:cTn id="2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6000"/>
                            </p:stCondLst>
                            <p:childTnLst>
                              <p:par>
                                <p:cTn id="2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000"/>
                            </p:stCondLst>
                            <p:childTnLst>
                              <p:par>
                                <p:cTn id="2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000"/>
                            </p:stCondLst>
                            <p:childTnLst>
                              <p:par>
                                <p:cTn id="2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3000"/>
                            </p:stCondLst>
                            <p:childTnLst>
                              <p:par>
                                <p:cTn id="2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000"/>
                            </p:stCondLst>
                            <p:childTnLst>
                              <p:par>
                                <p:cTn id="2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000"/>
                            </p:stCondLst>
                            <p:childTnLst>
                              <p:par>
                                <p:cTn id="29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6000"/>
                            </p:stCondLst>
                            <p:childTnLst>
                              <p:par>
                                <p:cTn id="30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00"/>
                            </p:stCondLst>
                            <p:childTnLst>
                              <p:par>
                                <p:cTn id="3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000"/>
                            </p:stCondLst>
                            <p:childTnLst>
                              <p:par>
                                <p:cTn id="3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6000"/>
                            </p:stCondLst>
                            <p:childTnLst>
                              <p:par>
                                <p:cTn id="3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1000"/>
                            </p:stCondLst>
                            <p:childTnLst>
                              <p:par>
                                <p:cTn id="3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2000"/>
                            </p:stCondLst>
                            <p:childTnLst>
                              <p:par>
                                <p:cTn id="3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4000"/>
                            </p:stCondLst>
                            <p:childTnLst>
                              <p:par>
                                <p:cTn id="3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9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5000"/>
                            </p:stCondLst>
                            <p:childTnLst>
                              <p:par>
                                <p:cTn id="39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6000"/>
                            </p:stCondLst>
                            <p:childTnLst>
                              <p:par>
                                <p:cTn id="3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1000"/>
                            </p:stCondLst>
                            <p:childTnLst>
                              <p:par>
                                <p:cTn id="4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9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5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3000"/>
                            </p:stCondLst>
                            <p:childTnLst>
                              <p:par>
                                <p:cTn id="4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2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4000"/>
                            </p:stCondLst>
                            <p:childTnLst>
                              <p:par>
                                <p:cTn id="4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3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9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0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361950"/>
            <a:ext cx="716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u="sng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To find out the unit digit for a given pattern/question (A</a:t>
            </a:r>
            <a:r>
              <a:rPr lang="en-US" sz="2200" b="1" u="sng" baseline="300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b="1" u="sng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800040"/>
            <a:ext cx="6629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1:-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Find out the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of the number 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of 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276350"/>
            <a:ext cx="769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2:-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Divide the power (B) by the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and find the remainder </a:t>
            </a:r>
          </a:p>
          <a:p>
            <a:pPr lvl="0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(suppose x is the remainder).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038350"/>
            <a:ext cx="7086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 3:-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Unit digit of A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is the unit digit for A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1750"/>
            <a:ext cx="7924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Note:- **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case the remainder comes out to be 0, the unit digit will be the last digit of the number obtained for the maximum 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Example: for 2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 the unit digit will be 6.</a:t>
            </a:r>
          </a:p>
        </p:txBody>
      </p:sp>
    </p:spTree>
    <p:extLst>
      <p:ext uri="{BB962C8B-B14F-4D97-AF65-F5344CB8AC3E}">
        <p14:creationId xmlns:p14="http://schemas.microsoft.com/office/powerpoint/2010/main" val="402158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ud Callout 4"/>
          <p:cNvSpPr/>
          <p:nvPr/>
        </p:nvSpPr>
        <p:spPr>
          <a:xfrm>
            <a:off x="2400300" y="792018"/>
            <a:ext cx="3581400" cy="990600"/>
          </a:xfrm>
          <a:prstGeom prst="cloudCallout">
            <a:avLst>
              <a:gd name="adj1" fmla="val 74912"/>
              <a:gd name="adj2" fmla="val -7045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Think of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of unit digit (2).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2400300" y="677718"/>
            <a:ext cx="3581400" cy="1219200"/>
          </a:xfrm>
          <a:prstGeom prst="cloudCallout">
            <a:avLst>
              <a:gd name="adj1" fmla="val 74912"/>
              <a:gd name="adj2" fmla="val -7045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Here unit digit is 2, whose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cyclicity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is 4.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2209800" y="792018"/>
            <a:ext cx="3581400" cy="1219200"/>
          </a:xfrm>
          <a:prstGeom prst="cloudCallout">
            <a:avLst>
              <a:gd name="adj1" fmla="val 74912"/>
              <a:gd name="adj2" fmla="val -7045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Divide the power 99 by 4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838200" y="1123950"/>
            <a:ext cx="1437409" cy="685800"/>
            <a:chOff x="1000991" y="2114550"/>
            <a:chExt cx="1437409" cy="6858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143000" y="2138795"/>
              <a:ext cx="1295400" cy="3117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00991" y="2114550"/>
              <a:ext cx="152400" cy="68580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/>
          <p:nvPr/>
        </p:nvCxnSpPr>
        <p:spPr>
          <a:xfrm>
            <a:off x="914400" y="1962150"/>
            <a:ext cx="129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14400" y="2754015"/>
            <a:ext cx="129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Cloud Callout 19"/>
          <p:cNvSpPr/>
          <p:nvPr/>
        </p:nvSpPr>
        <p:spPr>
          <a:xfrm>
            <a:off x="2275609" y="1049982"/>
            <a:ext cx="3581400" cy="1219200"/>
          </a:xfrm>
          <a:prstGeom prst="cloudCallout">
            <a:avLst>
              <a:gd name="adj1" fmla="val 74912"/>
              <a:gd name="adj2" fmla="val -7045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Remainder is 3 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30666" y="1896918"/>
            <a:ext cx="2057400" cy="1143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 unit digit is 2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=8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66800" y="361950"/>
            <a:ext cx="39212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out the unit digit of 2</a:t>
            </a:r>
            <a:r>
              <a:rPr lang="en-US" sz="24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99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7900" y="12337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99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3400" y="12382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429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65200" y="15176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600" y="20383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20383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0757" y="230505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3000" y="27241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5400" y="74106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4977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0" grpId="0" animBg="1"/>
      <p:bldP spid="21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61950"/>
            <a:ext cx="784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digit in the unit place of the number 7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295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158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is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		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		C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		D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4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38200" y="1964035"/>
            <a:ext cx="1437409" cy="685800"/>
            <a:chOff x="1000991" y="2114550"/>
            <a:chExt cx="1437409" cy="6858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143000" y="2138795"/>
              <a:ext cx="1295400" cy="3117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1000991" y="2114550"/>
              <a:ext cx="152400" cy="68580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9" name="Straight Connector 8"/>
          <p:cNvCxnSpPr/>
          <p:nvPr/>
        </p:nvCxnSpPr>
        <p:spPr>
          <a:xfrm>
            <a:off x="914400" y="2802235"/>
            <a:ext cx="129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14400" y="3594100"/>
            <a:ext cx="129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77900" y="207387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295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3400" y="20783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15830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7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5200" y="235773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9246" y="28829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65078" y="28829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07757" y="314513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12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70743" y="35642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5400" y="15811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677" y="1352550"/>
            <a:ext cx="943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7</a:t>
            </a:r>
            <a:r>
              <a:rPr lang="en-US" b="1" baseline="30000" dirty="0" smtClean="0">
                <a:latin typeface="Times New Roman" pitchFamily="18" charset="0"/>
                <a:cs typeface="Times New Roman" pitchFamily="18" charset="0"/>
              </a:rPr>
              <a:t>295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646205" y="3873500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7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=3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356100" y="1964035"/>
            <a:ext cx="1437409" cy="685800"/>
            <a:chOff x="1000991" y="2114550"/>
            <a:chExt cx="1437409" cy="685800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1143000" y="2138795"/>
              <a:ext cx="1295400" cy="3117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1000991" y="2114550"/>
              <a:ext cx="152400" cy="68580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/>
          <p:cNvCxnSpPr/>
          <p:nvPr/>
        </p:nvCxnSpPr>
        <p:spPr>
          <a:xfrm>
            <a:off x="4432300" y="2802235"/>
            <a:ext cx="129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32300" y="3594100"/>
            <a:ext cx="1295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495800" y="207387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158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051300" y="20783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0900" y="15830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83100" y="235773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27146" y="28829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782978" y="288290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5657" y="314513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36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788643" y="356423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13300" y="15811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20577" y="1352550"/>
            <a:ext cx="943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3</a:t>
            </a:r>
            <a:r>
              <a:rPr lang="en-US" b="1" baseline="30000" dirty="0" smtClean="0">
                <a:latin typeface="Times New Roman" pitchFamily="18" charset="0"/>
                <a:cs typeface="Times New Roman" pitchFamily="18" charset="0"/>
              </a:rPr>
              <a:t>158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4318000" y="3950201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3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=9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82552" y="1964035"/>
            <a:ext cx="1922495" cy="608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Now 3×9-=27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07952" y="2767560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19368"/>
            <a:ext cx="25801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342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40" grpId="0" animBg="1"/>
      <p:bldP spid="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61950"/>
            <a:ext cx="784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digit in the unit place of the number 7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295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+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158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is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		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		C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		D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1352550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7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=3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1800" y="2365086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3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=9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38200" y="3341793"/>
            <a:ext cx="1922495" cy="608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Now 3+9-=12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581400" y="1352550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1500" y="2511827"/>
            <a:ext cx="257955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349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361950"/>
            <a:ext cx="784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digit in the unit place of the number 7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295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158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is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		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		C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		D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 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1352550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7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=3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1800" y="2365086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3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=9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38200" y="3341793"/>
            <a:ext cx="1922495" cy="608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Now 3-9-=4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581400" y="1352550"/>
            <a:ext cx="1922495" cy="7551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 unit digit is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1500" y="2511827"/>
            <a:ext cx="2597186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</a:t>
            </a:r>
            <a:r>
              <a:rPr lang="en-US" sz="24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920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00200" y="285750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742950"/>
            <a:ext cx="8686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 find out the number of possible factors for a number N, follow the below steps: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123950"/>
            <a:ext cx="8305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Factorize the number N in the simplest form, so that the number can be written in the form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		</a:t>
            </a:r>
            <a:r>
              <a:rPr lang="en-US" sz="2000" b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</a:t>
            </a:r>
            <a:r>
              <a:rPr lang="en-US" sz="2000" b="1" baseline="300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x </a:t>
            </a:r>
            <a:r>
              <a:rPr lang="en-US" sz="2000" b="1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q</a:t>
            </a:r>
            <a:r>
              <a:rPr lang="en-US" sz="2000" b="1" baseline="300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y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x </a:t>
            </a:r>
            <a:r>
              <a:rPr lang="en-US" sz="2000" b="1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</a:t>
            </a:r>
            <a:r>
              <a:rPr lang="en-US" sz="2000" b="1" baseline="300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z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….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2190750"/>
            <a:ext cx="6781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Then,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Number of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Factors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(x+1)(y+1)(z+1)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952750"/>
            <a:ext cx="7467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Number of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Even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Factors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x(y+1)(z+1)  [*x is power of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409950"/>
            <a:ext cx="5181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Number of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Odd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Factors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(y+1)(z+1)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943350"/>
            <a:ext cx="33201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sum of the factors will be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" y="4324350"/>
            <a:ext cx="88392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(1 + p</a:t>
            </a:r>
            <a:r>
              <a:rPr lang="en-US" sz="2000" baseline="30000" dirty="0" smtClean="0"/>
              <a:t>1</a:t>
            </a:r>
            <a:r>
              <a:rPr lang="en-US" sz="2000" dirty="0" smtClean="0"/>
              <a:t> + p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  + …+ </a:t>
            </a:r>
            <a:r>
              <a:rPr lang="en-US" sz="2000" dirty="0" err="1" smtClean="0"/>
              <a:t>p</a:t>
            </a:r>
            <a:r>
              <a:rPr lang="en-US" sz="2000" baseline="30000" dirty="0" err="1" smtClean="0"/>
              <a:t>x</a:t>
            </a:r>
            <a:r>
              <a:rPr lang="en-US" sz="2000" dirty="0" smtClean="0"/>
              <a:t>) (1 + q</a:t>
            </a:r>
            <a:r>
              <a:rPr lang="en-US" sz="2000" baseline="30000" dirty="0" smtClean="0"/>
              <a:t>1</a:t>
            </a:r>
            <a:r>
              <a:rPr lang="en-US" sz="2000" dirty="0" smtClean="0"/>
              <a:t> + q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 + …+ </a:t>
            </a:r>
            <a:r>
              <a:rPr lang="en-US" sz="2000" dirty="0" err="1" smtClean="0"/>
              <a:t>q</a:t>
            </a:r>
            <a:r>
              <a:rPr lang="en-US" sz="2000" baseline="30000" dirty="0" err="1" smtClean="0"/>
              <a:t>y</a:t>
            </a:r>
            <a:r>
              <a:rPr lang="en-US" sz="2000" dirty="0" smtClean="0"/>
              <a:t>) (1 + r</a:t>
            </a:r>
            <a:r>
              <a:rPr lang="en-US" sz="2000" baseline="30000" dirty="0" smtClean="0"/>
              <a:t>1</a:t>
            </a:r>
            <a:r>
              <a:rPr lang="en-US" sz="2000" dirty="0" smtClean="0"/>
              <a:t> + r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  + …+ </a:t>
            </a:r>
            <a:r>
              <a:rPr lang="en-US" sz="2000" dirty="0" err="1" smtClean="0"/>
              <a:t>r</a:t>
            </a:r>
            <a:r>
              <a:rPr lang="en-US" sz="2000" baseline="30000" dirty="0" err="1" smtClean="0"/>
              <a:t>z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60400"/>
            <a:ext cx="4800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out the number of factors for 356.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504950"/>
            <a:ext cx="6019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Solution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Factorizing 356 will give, 2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x 89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2266950"/>
            <a:ext cx="441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x=2 and y =1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 = (2+1)(1+1) =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952750"/>
            <a:ext cx="53761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Number of Even Factors = 2(1+1) =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99" y="3486150"/>
            <a:ext cx="50954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Number of Odd Factors = (1+1) = 2</a:t>
            </a:r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5105400" y="2114550"/>
            <a:ext cx="19812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10800000">
            <a:off x="5638800" y="1581150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172200" y="112395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57446" y="11239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158115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178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7446" y="15811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44" name="Straight Connector 43"/>
          <p:cNvCxnSpPr/>
          <p:nvPr/>
        </p:nvCxnSpPr>
        <p:spPr>
          <a:xfrm rot="10800000">
            <a:off x="5638800" y="2036762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248400" y="20084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38800" y="200848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89</a:t>
            </a:r>
          </a:p>
        </p:txBody>
      </p:sp>
      <p:cxnSp>
        <p:nvCxnSpPr>
          <p:cNvPr id="47" name="Straight Connector 46"/>
          <p:cNvCxnSpPr/>
          <p:nvPr/>
        </p:nvCxnSpPr>
        <p:spPr>
          <a:xfrm rot="10800000">
            <a:off x="5638800" y="2465685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248400" y="246568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40243" y="198735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39" grpId="0"/>
      <p:bldP spid="41" grpId="0"/>
      <p:bldP spid="42" grpId="0"/>
      <p:bldP spid="43" grpId="0"/>
      <p:bldP spid="45" grpId="0"/>
      <p:bldP spid="46" grpId="0"/>
      <p:bldP spid="4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9600" y="438150"/>
            <a:ext cx="640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factors of 1080 are perfect squares?</a:t>
            </a:r>
          </a:p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A.4		B.6		C.8		D.5</a:t>
            </a:r>
            <a:endParaRPr lang="en-US" sz="2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rot="16200000" flipH="1">
            <a:off x="4915297" y="3219847"/>
            <a:ext cx="3352800" cy="7540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rot="10800000">
            <a:off x="6096000" y="2037556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29400" y="158035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4646" y="1580356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037556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4646" y="2037556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12" name="Straight Connector 11"/>
          <p:cNvCxnSpPr/>
          <p:nvPr/>
        </p:nvCxnSpPr>
        <p:spPr>
          <a:xfrm rot="10800000">
            <a:off x="6096000" y="2493168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05600" y="2464891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4646" y="2464891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15" name="Straight Connector 14"/>
          <p:cNvCxnSpPr/>
          <p:nvPr/>
        </p:nvCxnSpPr>
        <p:spPr>
          <a:xfrm rot="10800000">
            <a:off x="6096000" y="2857500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705600" y="280035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135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>
            <a:off x="6172200" y="3252756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14646" y="280035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600" y="325755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5440" y="3218597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cxnSp>
        <p:nvCxnSpPr>
          <p:cNvPr id="22" name="Straight Connector 21"/>
          <p:cNvCxnSpPr/>
          <p:nvPr/>
        </p:nvCxnSpPr>
        <p:spPr>
          <a:xfrm rot="10800000">
            <a:off x="6172200" y="3678674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705599" y="3688963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8140" y="36786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cxnSp>
        <p:nvCxnSpPr>
          <p:cNvPr id="25" name="Straight Connector 24"/>
          <p:cNvCxnSpPr/>
          <p:nvPr/>
        </p:nvCxnSpPr>
        <p:spPr>
          <a:xfrm rot="10800000">
            <a:off x="6172200" y="4095750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743700" y="4115733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8401" y="411045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cxnSp>
        <p:nvCxnSpPr>
          <p:cNvPr id="28" name="Straight Connector 27"/>
          <p:cNvCxnSpPr/>
          <p:nvPr/>
        </p:nvCxnSpPr>
        <p:spPr>
          <a:xfrm rot="10800000">
            <a:off x="6172201" y="4494272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705600" y="454848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1504950"/>
            <a:ext cx="1981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Solution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Factorizing 1080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62200" y="1809750"/>
            <a:ext cx="45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16200" y="1714440"/>
            <a:ext cx="228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17800" y="1809750"/>
            <a:ext cx="45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×3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1733550"/>
            <a:ext cx="228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8800" y="1809750"/>
            <a:ext cx="457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×5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2400" y="4095750"/>
            <a:ext cx="5943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 total number of perfect square factors are 2×2×1=4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33400" y="2114550"/>
            <a:ext cx="434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perfect square , the power of each prime number should be even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3400" y="2800350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prime number 2 possibilities are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3962400" y="2647950"/>
            <a:ext cx="381000" cy="552510"/>
            <a:chOff x="3962400" y="2647950"/>
            <a:chExt cx="381000" cy="552510"/>
          </a:xfrm>
        </p:grpSpPr>
        <p:sp>
          <p:nvSpPr>
            <p:cNvPr id="51" name="Rectangle 50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 </a:t>
              </a:r>
              <a:endParaRPr lang="en-US" sz="2000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419600" y="2647950"/>
            <a:ext cx="381000" cy="552510"/>
            <a:chOff x="3962400" y="2647950"/>
            <a:chExt cx="381000" cy="552510"/>
          </a:xfrm>
        </p:grpSpPr>
        <p:sp>
          <p:nvSpPr>
            <p:cNvPr id="55" name="Rectangle 54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 </a:t>
              </a:r>
              <a:endParaRPr lang="en-US" sz="20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57" name="Rectangle 56"/>
          <p:cNvSpPr/>
          <p:nvPr/>
        </p:nvSpPr>
        <p:spPr>
          <a:xfrm>
            <a:off x="533400" y="3162240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prime number 3 possibilities are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3962400" y="3009840"/>
            <a:ext cx="381000" cy="552510"/>
            <a:chOff x="3962400" y="2647950"/>
            <a:chExt cx="381000" cy="552510"/>
          </a:xfrm>
        </p:grpSpPr>
        <p:sp>
          <p:nvSpPr>
            <p:cNvPr id="59" name="Rectangle 58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 </a:t>
              </a:r>
              <a:endParaRPr lang="en-US" sz="2000" dirty="0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419600" y="3009840"/>
            <a:ext cx="381000" cy="552510"/>
            <a:chOff x="3962400" y="2647950"/>
            <a:chExt cx="381000" cy="552510"/>
          </a:xfrm>
        </p:grpSpPr>
        <p:sp>
          <p:nvSpPr>
            <p:cNvPr id="62" name="Rectangle 61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 </a:t>
              </a:r>
              <a:endParaRPr lang="en-US" sz="20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533400" y="3543240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prime number 5 possibilities are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4038600" y="3390840"/>
            <a:ext cx="381000" cy="552510"/>
            <a:chOff x="3962400" y="2647950"/>
            <a:chExt cx="381000" cy="552510"/>
          </a:xfrm>
        </p:grpSpPr>
        <p:sp>
          <p:nvSpPr>
            <p:cNvPr id="66" name="Rectangle 65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5 </a:t>
              </a:r>
              <a:endParaRPr lang="en-US" sz="20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4876800" y="2768540"/>
            <a:ext cx="45717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=2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876800" y="3181350"/>
            <a:ext cx="45717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=2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876800" y="3619440"/>
            <a:ext cx="45717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=1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226678" y="128885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55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4" grpId="0"/>
      <p:bldP spid="16" grpId="0"/>
      <p:bldP spid="18" grpId="0"/>
      <p:bldP spid="19" grpId="0"/>
      <p:bldP spid="21" grpId="0"/>
      <p:bldP spid="23" grpId="0"/>
      <p:bldP spid="24" grpId="0"/>
      <p:bldP spid="26" grpId="0"/>
      <p:bldP spid="27" grpId="0"/>
      <p:bldP spid="30" grpId="0"/>
      <p:bldP spid="32" grpId="0"/>
      <p:bldP spid="33" grpId="0"/>
      <p:bldP spid="34" grpId="0"/>
      <p:bldP spid="35" grpId="0"/>
      <p:bldP spid="36" grpId="0"/>
      <p:bldP spid="37" grpId="0"/>
      <p:bldP spid="48" grpId="0"/>
      <p:bldP spid="49" grpId="0"/>
      <p:bldP spid="50" grpId="0"/>
      <p:bldP spid="57" grpId="0"/>
      <p:bldP spid="64" grpId="0"/>
      <p:bldP spid="71" grpId="0" animBg="1"/>
      <p:bldP spid="73" grpId="0" animBg="1"/>
      <p:bldP spid="7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69900" y="661779"/>
            <a:ext cx="632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factors of 2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are perfect squares?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A.42		B. 26		C. 24		D. 52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1504950"/>
            <a:ext cx="1981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Solution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2400" y="3790950"/>
            <a:ext cx="5943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 total number of perfect square factors are 3×4×2=24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33400" y="1885950"/>
            <a:ext cx="434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perfect square , the power of each prime number should be even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33400" y="2495550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prime number 2 possibilities are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962400" y="2343150"/>
            <a:ext cx="381000" cy="552510"/>
            <a:chOff x="3962400" y="2647950"/>
            <a:chExt cx="381000" cy="552510"/>
          </a:xfrm>
        </p:grpSpPr>
        <p:sp>
          <p:nvSpPr>
            <p:cNvPr id="38" name="Rectangle 37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 </a:t>
              </a:r>
              <a:endParaRPr lang="en-US" sz="20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19600" y="2343150"/>
            <a:ext cx="381000" cy="552510"/>
            <a:chOff x="3962400" y="2647950"/>
            <a:chExt cx="381000" cy="552510"/>
          </a:xfrm>
        </p:grpSpPr>
        <p:sp>
          <p:nvSpPr>
            <p:cNvPr id="41" name="Rectangle 40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 </a:t>
              </a:r>
              <a:endParaRPr lang="en-US" sz="20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533400" y="2857440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prime number 3 possibilities are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3962400" y="2705040"/>
            <a:ext cx="381000" cy="552510"/>
            <a:chOff x="3962400" y="2647950"/>
            <a:chExt cx="381000" cy="552510"/>
          </a:xfrm>
        </p:grpSpPr>
        <p:sp>
          <p:nvSpPr>
            <p:cNvPr id="45" name="Rectangle 44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 </a:t>
              </a:r>
              <a:endParaRPr lang="en-US" sz="20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267200" y="2705040"/>
            <a:ext cx="381000" cy="552510"/>
            <a:chOff x="3962400" y="2647950"/>
            <a:chExt cx="381000" cy="552510"/>
          </a:xfrm>
        </p:grpSpPr>
        <p:sp>
          <p:nvSpPr>
            <p:cNvPr id="48" name="Rectangle 47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 </a:t>
              </a:r>
              <a:endParaRPr lang="en-US" sz="20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533400" y="3238440"/>
            <a:ext cx="365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prime number 5 possibilities are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4038600" y="3086040"/>
            <a:ext cx="381000" cy="552510"/>
            <a:chOff x="3962400" y="2647950"/>
            <a:chExt cx="381000" cy="552510"/>
          </a:xfrm>
        </p:grpSpPr>
        <p:sp>
          <p:nvSpPr>
            <p:cNvPr id="52" name="Rectangle 51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5 </a:t>
              </a:r>
              <a:endParaRPr lang="en-US" sz="20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54" name="Rectangle 53"/>
          <p:cNvSpPr/>
          <p:nvPr/>
        </p:nvSpPr>
        <p:spPr>
          <a:xfrm>
            <a:off x="5334024" y="2463740"/>
            <a:ext cx="45717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=3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334000" y="2876550"/>
            <a:ext cx="45717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=4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334024" y="3314640"/>
            <a:ext cx="45717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=2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4724400" y="2343150"/>
            <a:ext cx="381000" cy="552510"/>
            <a:chOff x="3962400" y="2647950"/>
            <a:chExt cx="381000" cy="552510"/>
          </a:xfrm>
        </p:grpSpPr>
        <p:sp>
          <p:nvSpPr>
            <p:cNvPr id="58" name="Rectangle 57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 </a:t>
              </a:r>
              <a:endParaRPr lang="en-US" sz="2000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4572000" y="2705040"/>
            <a:ext cx="381000" cy="552510"/>
            <a:chOff x="3962400" y="2647950"/>
            <a:chExt cx="381000" cy="552510"/>
          </a:xfrm>
        </p:grpSpPr>
        <p:sp>
          <p:nvSpPr>
            <p:cNvPr id="61" name="Rectangle 60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 </a:t>
              </a:r>
              <a:endParaRPr lang="en-US" sz="20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4876800" y="2724150"/>
            <a:ext cx="381000" cy="552510"/>
            <a:chOff x="3962400" y="2647950"/>
            <a:chExt cx="381000" cy="552510"/>
          </a:xfrm>
        </p:grpSpPr>
        <p:sp>
          <p:nvSpPr>
            <p:cNvPr id="64" name="Rectangle 63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 </a:t>
              </a:r>
              <a:endParaRPr lang="en-US" sz="200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419600" y="3105150"/>
            <a:ext cx="381000" cy="552510"/>
            <a:chOff x="3962400" y="2647950"/>
            <a:chExt cx="381000" cy="552510"/>
          </a:xfrm>
        </p:grpSpPr>
        <p:sp>
          <p:nvSpPr>
            <p:cNvPr id="67" name="Rectangle 66"/>
            <p:cNvSpPr/>
            <p:nvPr/>
          </p:nvSpPr>
          <p:spPr>
            <a:xfrm>
              <a:off x="3962400" y="2800350"/>
              <a:ext cx="3770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5 </a:t>
              </a:r>
              <a:endParaRPr lang="en-US" sz="20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114800" y="2647950"/>
              <a:ext cx="228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69" name="Rectangle 68"/>
          <p:cNvSpPr/>
          <p:nvPr/>
        </p:nvSpPr>
        <p:spPr>
          <a:xfrm>
            <a:off x="1940243" y="198735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45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/>
      <p:bldP spid="35" grpId="0"/>
      <p:bldP spid="36" grpId="0"/>
      <p:bldP spid="43" grpId="0"/>
      <p:bldP spid="50" grpId="0"/>
      <p:bldP spid="54" grpId="0" animBg="1"/>
      <p:bldP spid="55" grpId="0" animBg="1"/>
      <p:bldP spid="5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590550"/>
            <a:ext cx="81534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Number N = 2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7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10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 how many factors of N are even numbers?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252		B. 1200		C. 1050		D. 1183</a:t>
            </a:r>
          </a:p>
          <a:p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2476440"/>
            <a:ext cx="693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Number of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Even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Factors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x(y+1)(z+1)  [*x is power of 2]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0" y="2857440"/>
            <a:ext cx="228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13(12+1)(6+1) 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1400" y="323844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13(13)(7) 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1400" y="361944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1183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889" y="1428750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7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10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87889" y="1733550"/>
            <a:ext cx="3198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7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(2*5)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87889" y="2038350"/>
            <a:ext cx="2403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* 7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2226678" y="128885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3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3400" y="670004"/>
            <a:ext cx="822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factors of 2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7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are odd numbers? Find Sum of Factor also.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1333440"/>
            <a:ext cx="693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Number of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Odd Factors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(y+1)(z+1)  [*x is power of 2]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714440"/>
            <a:ext cx="228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(3+1)(4+1) 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09544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(4)(</a:t>
            </a:r>
            <a:r>
              <a:rPr lang="en-US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 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47644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20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6678" y="128885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0700" y="2921000"/>
            <a:ext cx="22987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Sum of all factors =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0078" y="296551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(1+2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+2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+2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+2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88878" y="296551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(1+5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+5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+5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96551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(1+7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+7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+7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+7</a:t>
            </a:r>
            <a:r>
              <a:rPr lang="en-US" sz="2000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0" y="331464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=(1+2+4+8+16)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5756" y="331464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(1+5+25+125)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2878" y="3314640"/>
            <a:ext cx="23453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(1+7+49+343+2401)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69564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=(31)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695640"/>
            <a:ext cx="20405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(156)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9122" y="3695640"/>
            <a:ext cx="23453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(2801)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095750"/>
            <a:ext cx="23453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=13,545,636</a:t>
            </a:r>
          </a:p>
        </p:txBody>
      </p:sp>
    </p:spTree>
    <p:extLst>
      <p:ext uri="{BB962C8B-B14F-4D97-AF65-F5344CB8AC3E}">
        <p14:creationId xmlns:p14="http://schemas.microsoft.com/office/powerpoint/2010/main" val="7878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2461" y="361950"/>
            <a:ext cx="7162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factors of the number 2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* 10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are multiples of 120?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540		B. 594		C. 660		D. 668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150" y="1276350"/>
            <a:ext cx="23952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10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3150" y="1581150"/>
            <a:ext cx="26933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(2*5)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3150" y="1885950"/>
            <a:ext cx="19463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94" y="2114550"/>
            <a:ext cx="29899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Now 120 can be written as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377454" y="1200944"/>
            <a:ext cx="75406" cy="210426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>
            <a:off x="6919460" y="1579562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52860" y="1200150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38106" y="12001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860" y="15811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38106" y="15620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16" name="Straight Connector 15"/>
          <p:cNvCxnSpPr/>
          <p:nvPr/>
        </p:nvCxnSpPr>
        <p:spPr>
          <a:xfrm rot="10800000">
            <a:off x="6919460" y="1960562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529060" y="194304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8106" y="194304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10800000">
            <a:off x="6919460" y="2266950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529060" y="2266950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cxnSp>
        <p:nvCxnSpPr>
          <p:cNvPr id="21" name="Straight Connector 20"/>
          <p:cNvCxnSpPr/>
          <p:nvPr/>
        </p:nvCxnSpPr>
        <p:spPr>
          <a:xfrm rot="10800000">
            <a:off x="6995660" y="2646362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38106" y="22669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9060" y="26479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71860" y="26479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rot="10800000">
            <a:off x="6995660" y="2952750"/>
            <a:ext cx="1295400" cy="158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541761" y="295275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8861" y="2114550"/>
            <a:ext cx="18902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120 = 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 * 5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42461" y="2495550"/>
            <a:ext cx="6477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get the number of factors of given number, which are multiple of 120, we divide the given number by 120, we get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17092" y="3181350"/>
            <a:ext cx="19463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81000" y="3535858"/>
            <a:ext cx="18902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120 = 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 * 5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H="1" flipV="1">
            <a:off x="459863" y="3545830"/>
            <a:ext cx="447796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1090161" y="3548559"/>
            <a:ext cx="16930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888876" y="3333750"/>
            <a:ext cx="1696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3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* 5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8154" y="3924240"/>
            <a:ext cx="54107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Number of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Factors</a:t>
            </a: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(x+1)(y+1)(z+1)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74859" y="3943350"/>
            <a:ext cx="25626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(10+1)(5+1)(8+1)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74859" y="432435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11(6)(9)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74859" y="4705350"/>
            <a:ext cx="167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594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861" y="4552950"/>
            <a:ext cx="257955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B</a:t>
            </a:r>
            <a:endParaRPr lang="en-US" sz="2400" dirty="0"/>
          </a:p>
        </p:txBody>
      </p:sp>
      <p:sp>
        <p:nvSpPr>
          <p:cNvPr id="48" name="Rectangle 47"/>
          <p:cNvSpPr/>
          <p:nvPr/>
        </p:nvSpPr>
        <p:spPr>
          <a:xfrm>
            <a:off x="2226678" y="2640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15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2" grpId="0"/>
      <p:bldP spid="13" grpId="0"/>
      <p:bldP spid="14" grpId="0"/>
      <p:bldP spid="15" grpId="0"/>
      <p:bldP spid="17" grpId="0"/>
      <p:bldP spid="18" grpId="0"/>
      <p:bldP spid="20" grpId="0"/>
      <p:bldP spid="22" grpId="0"/>
      <p:bldP spid="23" grpId="0"/>
      <p:bldP spid="24" grpId="0"/>
      <p:bldP spid="32" grpId="0"/>
      <p:bldP spid="33" grpId="0"/>
      <p:bldP spid="34" grpId="0"/>
      <p:bldP spid="35" grpId="0"/>
      <p:bldP spid="36" grpId="0"/>
      <p:bldP spid="40" grpId="0"/>
      <p:bldP spid="41" grpId="0"/>
      <p:bldP spid="42" grpId="0"/>
      <p:bldP spid="43" grpId="0"/>
      <p:bldP spid="44" grpId="0"/>
      <p:bldP spid="4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600" y="365502"/>
            <a:ext cx="73152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a three digit number ‘</a:t>
            </a:r>
            <a:r>
              <a:rPr lang="en-US" sz="19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’ has 3 factors, how many factors does the 6-digit number ‘</a:t>
            </a:r>
            <a:r>
              <a:rPr lang="en-US" sz="19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abcabc</a:t>
            </a:r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’ have?</a:t>
            </a:r>
          </a:p>
          <a:p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16 factors			B. 24 factors</a:t>
            </a:r>
          </a:p>
          <a:p>
            <a:r>
              <a:rPr lang="en-US" sz="1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C. 16 or 24 factors		D. 20 factors</a:t>
            </a:r>
            <a:endParaRPr lang="en-US" sz="19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470244"/>
            <a:ext cx="3810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When ‘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’ is multiplies by 1001, we get ‘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abcabc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’.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2178130"/>
            <a:ext cx="480060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Now, it is given that ‘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’ has three factors,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530585"/>
            <a:ext cx="480060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So, ‘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’ should be square of prime number.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loud Callout 8"/>
          <p:cNvSpPr/>
          <p:nvPr/>
        </p:nvSpPr>
        <p:spPr>
          <a:xfrm>
            <a:off x="2743200" y="1151290"/>
            <a:ext cx="6096000" cy="1219200"/>
          </a:xfrm>
          <a:prstGeom prst="cloudCallout">
            <a:avLst>
              <a:gd name="adj1" fmla="val 74912"/>
              <a:gd name="adj2" fmla="val -7045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if a number has 3 factors, its prime factorization has to be p</a:t>
            </a:r>
            <a:r>
              <a:rPr lang="en-US" sz="1900" b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7568" y="2930695"/>
            <a:ext cx="305654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Now, ‘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abcabc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’ = ‘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’ * 1001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44881" y="3300027"/>
            <a:ext cx="205113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* 7 * 11 *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693" y="3669499"/>
            <a:ext cx="3407087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Case 1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: When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= 121 or 169,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334" y="4024985"/>
            <a:ext cx="367453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abcabc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’ is of the form 7 * 11 *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9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800" y="4054220"/>
            <a:ext cx="1720488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Or 7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sz="19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*13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7569" y="4445291"/>
            <a:ext cx="4854032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 = (1+1)(1+1)(3+1)=16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5334000" y="2495377"/>
            <a:ext cx="0" cy="26334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92388" y="2173230"/>
            <a:ext cx="350520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Case 2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: When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is square of some other prime number.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0" y="2888640"/>
            <a:ext cx="3724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abcabc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 is of the form 7 * 11 *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13* p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530488" y="3308687"/>
            <a:ext cx="2927712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4533840"/>
            <a:ext cx="219322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C</a:t>
            </a:r>
            <a:endParaRPr lang="en-US" sz="2000" dirty="0"/>
          </a:p>
        </p:txBody>
      </p:sp>
      <p:sp>
        <p:nvSpPr>
          <p:cNvPr id="20" name="Rectangle 19"/>
          <p:cNvSpPr/>
          <p:nvPr/>
        </p:nvSpPr>
        <p:spPr>
          <a:xfrm>
            <a:off x="5505088" y="3695640"/>
            <a:ext cx="2927712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(1+1)(1+1) (</a:t>
            </a:r>
            <a:r>
              <a:rPr lang="en-US" sz="20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1+1) </a:t>
            </a: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(2+1)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11800" y="4054049"/>
            <a:ext cx="2927712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=24 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6678" y="2640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05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 animBg="1"/>
      <p:bldP spid="2" grpId="0"/>
      <p:bldP spid="3" grpId="0"/>
      <p:bldP spid="10" grpId="0"/>
      <p:bldP spid="11" grpId="0"/>
      <p:bldP spid="12" grpId="0"/>
      <p:bldP spid="13" grpId="0" animBg="1"/>
      <p:bldP spid="15" grpId="0"/>
      <p:bldP spid="16" grpId="0"/>
      <p:bldP spid="17" grpId="0" animBg="1"/>
      <p:bldP spid="18" grpId="0" animBg="1"/>
      <p:bldP spid="20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651191"/>
            <a:ext cx="7848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 a three digit number ‘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’ has 2 factors (where a, b, c are digits), how many factors does the 6-digit number ‘</a:t>
            </a:r>
            <a:r>
              <a:rPr lang="en-US" sz="2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abcabc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’ have?</a:t>
            </a:r>
          </a:p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A.16		B.24		C.18		D.30</a:t>
            </a:r>
            <a:endParaRPr lang="en-US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500" y="1692770"/>
            <a:ext cx="3002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Given ‘</a:t>
            </a:r>
            <a:r>
              <a:rPr lang="en-US" dirty="0" err="1" smtClean="0"/>
              <a:t>abc</a:t>
            </a:r>
            <a:r>
              <a:rPr lang="en-US" dirty="0"/>
              <a:t>' has 2 factors.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3900" y="2089387"/>
            <a:ext cx="769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means '</a:t>
            </a:r>
            <a:r>
              <a:rPr lang="en-US" dirty="0" err="1"/>
              <a:t>abc</a:t>
            </a:r>
            <a:r>
              <a:rPr lang="en-US" dirty="0"/>
              <a:t>' is a prime </a:t>
            </a:r>
            <a:r>
              <a:rPr lang="en-US" dirty="0" smtClean="0"/>
              <a:t>number.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914900" y="1943040"/>
            <a:ext cx="335280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(Only </a:t>
            </a:r>
            <a:r>
              <a:rPr lang="en-US" dirty="0"/>
              <a:t>a prime number can have exactly 2 factors).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900" y="2589371"/>
            <a:ext cx="3307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Now, '</a:t>
            </a:r>
            <a:r>
              <a:rPr lang="en-US" dirty="0" err="1"/>
              <a:t>abcabc</a:t>
            </a:r>
            <a:r>
              <a:rPr lang="en-US" dirty="0"/>
              <a:t>' = 'abc'×1001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5198" y="2857440"/>
            <a:ext cx="26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= '</a:t>
            </a:r>
            <a:r>
              <a:rPr lang="en-US" dirty="0" err="1"/>
              <a:t>abc</a:t>
            </a:r>
            <a:r>
              <a:rPr lang="en-US" dirty="0"/>
              <a:t>' × 7 × 11 × 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1100" y="3226772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No. of factors </a:t>
            </a:r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009900" y="3241536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(1+1) (1+1) (1+1) (1+1)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6211" y="358392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= 16 factors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8123" y="4152840"/>
            <a:ext cx="217905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Answer: Option </a:t>
            </a:r>
            <a:r>
              <a:rPr lang="en-US" sz="20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2226678" y="205085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OF FACTORS</a:t>
            </a:r>
            <a:endParaRPr lang="en-US" sz="2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0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8" grpId="0"/>
      <p:bldP spid="9" grpId="0"/>
      <p:bldP spid="10" grpId="0"/>
      <p:bldP spid="11" grpId="0"/>
      <p:bldP spid="12" grpId="0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62000" y="2645272"/>
            <a:ext cx="708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Then, multiply a, b &amp; c (a x b x c) and divide the result by P, so as to get the remainder.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76600" y="895350"/>
            <a:ext cx="12768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x B x C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3657600" y="1200150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762000" y="1600260"/>
            <a:ext cx="7391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get the remainder, instead of first multiplying A, B &amp; C and then dividing the result by P, divide A by P (A/P), B by P (B/P) and C by P (C/P) so as to get a, b &amp; c remainders.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4700" y="3328116"/>
            <a:ext cx="7835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number N divided by P, its remainder is in between 0 to P-1 .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3695640"/>
            <a:ext cx="7835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Remainder -1 means Actual Remainder P-1.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4700" y="4019550"/>
            <a:ext cx="7835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Remainder -2 means Actual Remainder P-2.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4700" y="4260850"/>
            <a:ext cx="7835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Remainder -3 means Actual Remainder P-3.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7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1000" y="1011019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out the remainder for </a:t>
            </a:r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21 x 22 x 23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			9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" y="1620619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Solution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Divide 21, 22 &amp; 23 by 9 separately and find out the remainder.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3, 4 &amp; 5 are the remainders.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61121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</a:t>
            </a:r>
            <a:r>
              <a:rPr lang="en-US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 x 4 x 5</a:t>
            </a:r>
            <a:br>
              <a:rPr lang="en-US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" y="3220819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60 /9 and thus the remainder for the above question is equal to the remainder for 60/9 which is equal to 6.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245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949464"/>
            <a:ext cx="830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remainder when 1201 x 1203 x 1205 x 1207 is divided by 6. 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559064"/>
            <a:ext cx="7696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Solution: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Dividing each number separately by 6, we get 1, 3, 5, and 1 as the remainders.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702064"/>
            <a:ext cx="739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Multiplying, (1, 3, 5, and 1) we get 15 and when 15 is divided by 6, we get 3 as the remainder.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792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893117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 get the remainder in this case,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86200" y="754618"/>
            <a:ext cx="45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</a:t>
            </a:r>
            <a:r>
              <a:rPr lang="en-US" b="1" u="sng" baseline="30000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x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1516618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"/>
            </a:pP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Try to modify/alter the numerator according to the denominator.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400" y="1897618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"/>
            </a:pPr>
            <a:r>
              <a:rPr lang="en-US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Try to get 1 somehow/somewhere in the numerator.</a:t>
            </a:r>
            <a:endParaRPr lang="en-US" b="1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784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62000" y="87624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out the remainder for</a:t>
            </a:r>
            <a:endParaRPr lang="en-US" sz="20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0" y="800040"/>
            <a:ext cx="60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b="1" u="sng" baseline="30000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199</a:t>
            </a:r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7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1219200" y="1638240"/>
            <a:ext cx="60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199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7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2057400" y="1638240"/>
            <a:ext cx="1828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66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x 2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 </a:t>
            </a:r>
          </a:p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7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1981200" y="2247840"/>
            <a:ext cx="1828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(8)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66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x 2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 </a:t>
            </a:r>
          </a:p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7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1905000" y="2781240"/>
            <a:ext cx="1828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(7+1)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66</a:t>
            </a:r>
            <a:r>
              <a:rPr lang="en-US" sz="2000" b="1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x 2</a:t>
            </a:r>
            <a:r>
              <a:rPr lang="en-US" sz="2000" b="1" u="sng" baseline="30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 </a:t>
            </a:r>
          </a:p>
          <a:p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7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1143000" y="3619440"/>
            <a:ext cx="4876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7 in the numerator can be ignored.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076640"/>
            <a:ext cx="7391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Thus, the equation becomes 2/7 and the remainder will be 2.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413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47800" y="1104840"/>
            <a:ext cx="670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remainder when 8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80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divided by 17? 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76400" y="1638240"/>
            <a:ext cx="100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8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80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/17 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0" y="19430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80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 17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0" y="2324040"/>
            <a:ext cx="1212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240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/17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0" y="2705040"/>
            <a:ext cx="14029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(2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60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/17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4000" y="3162240"/>
            <a:ext cx="1446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(16)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60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/17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3543240"/>
            <a:ext cx="1659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(17-1)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60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/17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0" y="3924240"/>
            <a:ext cx="14029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(-1)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60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/17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0" y="4381440"/>
            <a:ext cx="587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1 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72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47800" y="1104840"/>
            <a:ext cx="670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remainder when 35</a:t>
            </a:r>
            <a:r>
              <a:rPr lang="en-US" sz="2000" b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12653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divided by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76400" y="1638240"/>
            <a:ext cx="1257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35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12653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/9 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0" y="1943040"/>
            <a:ext cx="1850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(36-1)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12653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0" y="2324040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(9x4-1)</a:t>
            </a:r>
            <a:r>
              <a:rPr lang="en-US" sz="2000" b="1" baseline="30000" dirty="0" smtClean="0">
                <a:latin typeface="Times New Roman" pitchFamily="18" charset="0"/>
                <a:cs typeface="Times New Roman" pitchFamily="18" charset="0"/>
              </a:rPr>
              <a:t>12653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736970"/>
            <a:ext cx="17029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Remainder is 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57400" y="285750"/>
            <a:ext cx="4045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Remainder Theorems </a:t>
            </a:r>
            <a:endParaRPr lang="en-US" sz="2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55077" y="2736970"/>
            <a:ext cx="671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 -1 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04177" y="3289480"/>
            <a:ext cx="67337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Since, remainder cannot be negative so actual remainder is 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92751" y="3673925"/>
            <a:ext cx="5261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9-1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92751" y="4011015"/>
            <a:ext cx="458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=8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41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9" grpId="0"/>
      <p:bldP spid="10" grpId="0"/>
      <p:bldP spid="15" grpId="0"/>
      <p:bldP spid="17" grpId="0"/>
      <p:bldP spid="18" grpId="0"/>
      <p:bldP spid="19" grpId="0"/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09550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</a:t>
            </a:r>
            <a:endParaRPr lang="en-US" sz="36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4775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HCF – Highest Common Factor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the maximum divisor which divides all the given numbers exactly.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355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LCM – Least Common Multiple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least number which is divisible by all the given divisors.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66800" y="2724150"/>
            <a:ext cx="5638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Product of Two Numbers = Their HCF x Their LCM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419350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For any two numbers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742950"/>
            <a:ext cx="708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greatest number, which will divide 260, 281 and 303, leaving 7, 5 and 4 as remainders respectively.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440418"/>
            <a:ext cx="548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 have to find the HCF of (260-7, 281-5, 303-4)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5113" y="1839952"/>
            <a:ext cx="22653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HCF(253, 276, 299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5286" y="2573635"/>
            <a:ext cx="78105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greatest number by which if we divide 740, 838 and 985, then in each case the remainder is the same.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5286" y="3294906"/>
            <a:ext cx="64389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Given number is HCF (838 - 740, 985 – 838, 985 - 740)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4099017" y="3689122"/>
            <a:ext cx="649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49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6700262" y="1267360"/>
            <a:ext cx="15039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276-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253=23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4851612" y="1867525"/>
            <a:ext cx="7136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23 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3371858" y="175281"/>
            <a:ext cx="2571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698501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HCF of two numbers is 27 and their LCM is 1512. If one of them is 189 then the other number is?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6800" y="1352550"/>
            <a:ext cx="5638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Product of Two Numbers = Their HCF x Their LCM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1721882"/>
            <a:ext cx="5638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189× x=27x 1512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200" y="2069942"/>
            <a:ext cx="5638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x=27x 1512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1524000" y="2419350"/>
            <a:ext cx="914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703042" y="2426732"/>
            <a:ext cx="569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189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3416300" y="2346088"/>
            <a:ext cx="124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x=216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2876550"/>
            <a:ext cx="838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 are three drums with 1653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2261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and 2527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of petrol. The greatest size of the vessel with which we can measure petrol in any of these drums is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A.31			B.27		C. 19		D.41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200" y="4122361"/>
            <a:ext cx="716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find this, we need to take HCF of the three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4125060"/>
            <a:ext cx="124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1858" y="175281"/>
            <a:ext cx="2571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1" grpId="0"/>
      <p:bldP spid="8" grpId="0"/>
      <p:bldP spid="9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71858" y="175281"/>
            <a:ext cx="2571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89535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Six bells commence tolling together and toll at intervals of 2, 4, 6, 8, 10 and 12 seconds respectively. In 30 minutes, how many times do they toll together?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663005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LCM of the given numbers will give us the multiple value, which is when the bells will toll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1258" y="2309336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LCM(2,4,6,8,10,12)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24200" y="2294572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=120 second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1500" y="2296278"/>
            <a:ext cx="1746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=2 minute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0258" y="2768084"/>
            <a:ext cx="4070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Required number of times in 30 minutes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3642" y="276808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=30/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4255" y="3105150"/>
            <a:ext cx="1103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=15 times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4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71858" y="175281"/>
            <a:ext cx="257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</a:t>
            </a:r>
            <a:endParaRPr lang="en-US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741006"/>
            <a:ext cx="7391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 number are in the ratio of 3 : 4 : 5 and their L.C.M. is 2400. Find the HCF? 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352550"/>
            <a:ext cx="31454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Let the number be 3x, 4x, 5x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1721882"/>
            <a:ext cx="36952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Thus, the HCF of 3x, 4x &amp; 5x is x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91214"/>
            <a:ext cx="655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the LCM should be 60x, but we know the LCM is 2400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2410830" y="2460546"/>
            <a:ext cx="22781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Thus, 	60x = 2400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3167" y="2756932"/>
            <a:ext cx="7777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x =40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4321633" y="2762250"/>
            <a:ext cx="1986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which is the HCF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229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71858" y="175281"/>
            <a:ext cx="2571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895350"/>
            <a:ext cx="7772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teacher when distributed certain number of chocolates to 4 children, 5 children, 7 children, he always left with 1 chocolate. Find the least number of chocolates the teacher brought to the class.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913404"/>
            <a:ext cx="7848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Since, every time in the distribution, the teacher was left with 1 chocolate, 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914400" y="2282736"/>
            <a:ext cx="49519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thus, we will calculate the LCM of 4, 5, and 7.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2767" y="2613800"/>
            <a:ext cx="7777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140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086040"/>
            <a:ext cx="34067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Thus, the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chocolates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4688872" y="3117850"/>
            <a:ext cx="1178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140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+ 1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4708623" y="3442792"/>
            <a:ext cx="7777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141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552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09550"/>
            <a:ext cx="6019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Number System: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Addition/Subtraction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848 + 321 + 437 + 1848 + 132 =?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A. 3586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 3576 C. 3676 D. 3519 E. None of these 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412 – 31 + 87 + 312 – 147 =? 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A. 613 B. 633 C. 713 D. 733 E. 833 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179.82 + 134.68 + 118.04 =? + 56.42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A. 106.76 B. 116.46 C. 126.36 D. 136.56 E. None of these 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10400" y="590550"/>
            <a:ext cx="1204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 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 3586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162800" y="1660793"/>
            <a:ext cx="1088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633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7315200" y="2495550"/>
            <a:ext cx="627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19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09550"/>
            <a:ext cx="6019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Multiplication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4. 43 x 77 =?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3181	B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3261	C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3311	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3321	E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3331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107 x 108 =?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10366	B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17256	C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12566	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13736	E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11556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98 x 96 =?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8148	B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9408	C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8918	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8658	E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9448</a:t>
            </a:r>
          </a:p>
          <a:p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107 x 94 =?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10048	 B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10058	 C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10068		D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. 11078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E. 11088</a:t>
            </a:r>
          </a:p>
        </p:txBody>
      </p:sp>
      <p:sp>
        <p:nvSpPr>
          <p:cNvPr id="3" name="Rectangle 2"/>
          <p:cNvSpPr/>
          <p:nvPr/>
        </p:nvSpPr>
        <p:spPr>
          <a:xfrm>
            <a:off x="7010400" y="590550"/>
            <a:ext cx="1204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3311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162800" y="1660793"/>
            <a:ext cx="1261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5. D.11556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7086600" y="249555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B.9408 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086600" y="3269218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B. 10058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87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361950"/>
            <a:ext cx="8153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How many divisors does 7200 have?</a:t>
            </a:r>
          </a:p>
          <a:p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20 B. 4 C. 54 D.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1962150"/>
            <a:ext cx="830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What is the greatest factor of 693 apart from the number itself?</a:t>
            </a:r>
          </a:p>
          <a:p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97 B. 99 C. 121 D. 231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3502988"/>
            <a:ext cx="8763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Which of the following numbers is divisible by at least three different prime numbers?</a:t>
            </a:r>
          </a:p>
          <a:p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88 B. 111 C. 172 D. 726</a:t>
            </a:r>
          </a:p>
        </p:txBody>
      </p:sp>
    </p:spTree>
    <p:extLst>
      <p:ext uri="{BB962C8B-B14F-4D97-AF65-F5344CB8AC3E}">
        <p14:creationId xmlns:p14="http://schemas.microsoft.com/office/powerpoint/2010/main" val="64516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080" y="2266950"/>
            <a:ext cx="7792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The total number of factors of 36 is: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4 B. 9 C. 6 D. None of these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20955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The total numbers of divisors of 10500 expect 1 and itself is: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48 B. 50 C. 46 D. 56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3562350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10. How can the 486 Cricket Bat be shared in an evenly similar manner between the students present in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classroom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12 B. 11 C. 13 D. 14</a:t>
            </a:r>
          </a:p>
        </p:txBody>
      </p:sp>
    </p:spTree>
    <p:extLst>
      <p:ext uri="{BB962C8B-B14F-4D97-AF65-F5344CB8AC3E}">
        <p14:creationId xmlns:p14="http://schemas.microsoft.com/office/powerpoint/2010/main" val="241889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175281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HCF &amp; LCM of fraction</a:t>
            </a:r>
            <a:endParaRPr lang="en-US" sz="2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1915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LCM of fractions is equal to the LCM of Numerators ÷HCF of Denominators. 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2280" y="1465481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HCF of fractions is equal to the HCF of Numerators ÷ LCM of Denominators.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41524"/>
            <a:ext cx="54387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" y="3714750"/>
            <a:ext cx="52197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69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6195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least perfect square, which is divisible by 3, 4, 5, 6 &amp; 8.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2500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1200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C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3600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D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900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657350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greatest number which can divide 1354, 1866 and 2762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leaving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same remainder 10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case.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64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124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C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156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D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260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3105150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 the greatest 5-digit number, which when divided by 8, 12, 15 and 20 leaves 5, 9, 12 &amp; 17 as remainders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respectively.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55,577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B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77,757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C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99,957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D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99,997</a:t>
            </a:r>
          </a:p>
        </p:txBody>
      </p:sp>
    </p:spTree>
    <p:extLst>
      <p:ext uri="{BB962C8B-B14F-4D97-AF65-F5344CB8AC3E}">
        <p14:creationId xmlns:p14="http://schemas.microsoft.com/office/powerpoint/2010/main" val="123358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09550"/>
            <a:ext cx="838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Number when divided by 10 leaves a remainder 9, when divided by 9 leaves a remainder of 8, when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divided by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 leaves a remainder of 7………… when divided by 2 leaves a remainder of 1. Determine the number.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31 B. 1029 C. 2519 D. 1679 E. 189</a:t>
            </a:r>
          </a:p>
        </p:txBody>
      </p:sp>
    </p:spTree>
    <p:extLst>
      <p:ext uri="{BB962C8B-B14F-4D97-AF65-F5344CB8AC3E}">
        <p14:creationId xmlns:p14="http://schemas.microsoft.com/office/powerpoint/2010/main" val="88644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61950"/>
            <a:ext cx="8686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boy running up a staircase finds what he goes up two steps at a time there is one step over, when he goes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up three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 a time there are two over and when he goes up four at a time, there are three over. Find the number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stairs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which is somewhere between 40 and 50.</a:t>
            </a:r>
          </a:p>
          <a:p>
            <a:r>
              <a:rPr lang="it-IT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47 B. 45 C. 42 D. 49 E. None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69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221"/>
            <a:ext cx="853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baskets contain 195 and 250 bananas respectively, which are distributed in equal number among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children. Find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largest number of bananas that can be given, so that 3 bananas are left over from the first basket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from the second.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4 B. 18 C. 8 D. 6</a:t>
            </a:r>
          </a:p>
        </p:txBody>
      </p:sp>
    </p:spTree>
    <p:extLst>
      <p:ext uri="{BB962C8B-B14F-4D97-AF65-F5344CB8AC3E}">
        <p14:creationId xmlns:p14="http://schemas.microsoft.com/office/powerpoint/2010/main" val="40873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1873" y="1276350"/>
            <a:ext cx="680026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8800" b="1" cap="all" spc="0" dirty="0" smtClean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</a:rPr>
              <a:t>THANK YOU</a:t>
            </a:r>
            <a:endParaRPr lang="en-US" sz="8800" b="1" cap="all" spc="0" dirty="0">
              <a:ln w="0"/>
              <a:solidFill>
                <a:srgbClr val="00206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064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1383</TotalTime>
  <Words>4000</Words>
  <Application>Microsoft Office PowerPoint</Application>
  <PresentationFormat>On-screen Show (16:9)</PresentationFormat>
  <Paragraphs>704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0" baseType="lpstr">
      <vt:lpstr>Concourse</vt:lpstr>
      <vt:lpstr>9_Office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Lokesh</dc:creator>
  <cp:lastModifiedBy>naveen</cp:lastModifiedBy>
  <cp:revision>324</cp:revision>
  <dcterms:created xsi:type="dcterms:W3CDTF">2006-08-16T00:00:00Z</dcterms:created>
  <dcterms:modified xsi:type="dcterms:W3CDTF">2025-07-11T13:36:15Z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0A18FFB72AF74BFE9AEE2AD93839B004</vt:lpwstr>
  </property>
  <property fmtid="{D5CDD505-2E9C-101B-9397-08002B2CF9AE}" pid="3" name="KSOProductBuildVer">
    <vt:lpwstr>1033-11.2.0.11537</vt:lpwstr>
  </property>
</Properties>
</file>