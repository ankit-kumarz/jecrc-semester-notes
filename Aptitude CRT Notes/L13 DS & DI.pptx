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365" r:id="rId2"/>
    <p:sldId id="366" r:id="rId3"/>
    <p:sldId id="367" r:id="rId4"/>
    <p:sldId id="368"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55" r:id="rId22"/>
    <p:sldId id="323" r:id="rId23"/>
    <p:sldId id="324" r:id="rId24"/>
    <p:sldId id="335" r:id="rId25"/>
    <p:sldId id="336" r:id="rId26"/>
    <p:sldId id="337" r:id="rId27"/>
    <p:sldId id="338" r:id="rId28"/>
    <p:sldId id="325" r:id="rId29"/>
    <p:sldId id="339" r:id="rId30"/>
    <p:sldId id="340" r:id="rId31"/>
    <p:sldId id="341" r:id="rId32"/>
    <p:sldId id="356" r:id="rId33"/>
    <p:sldId id="312" r:id="rId34"/>
    <p:sldId id="342" r:id="rId35"/>
    <p:sldId id="343" r:id="rId36"/>
    <p:sldId id="344" r:id="rId37"/>
    <p:sldId id="328" r:id="rId38"/>
    <p:sldId id="345" r:id="rId39"/>
    <p:sldId id="346" r:id="rId40"/>
    <p:sldId id="359" r:id="rId41"/>
    <p:sldId id="360" r:id="rId42"/>
    <p:sldId id="347" r:id="rId43"/>
    <p:sldId id="348" r:id="rId44"/>
    <p:sldId id="349" r:id="rId45"/>
    <p:sldId id="350" r:id="rId46"/>
    <p:sldId id="361" r:id="rId47"/>
    <p:sldId id="362" r:id="rId48"/>
    <p:sldId id="363" r:id="rId4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236" y="-33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4D7663-6794-40E7-83DF-6FA4F790FF98}" type="datetimeFigureOut">
              <a:rPr lang="en-US" smtClean="0"/>
              <a:t>7/5/2025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DF218E-6EB0-4981-ADB4-05E399C2A764}" type="slidenum">
              <a:rPr lang="en-US" smtClean="0"/>
              <a:t>‹#›</a:t>
            </a:fld>
            <a:endParaRPr lang="en-US"/>
          </a:p>
        </p:txBody>
      </p:sp>
    </p:spTree>
    <p:extLst>
      <p:ext uri="{BB962C8B-B14F-4D97-AF65-F5344CB8AC3E}">
        <p14:creationId xmlns:p14="http://schemas.microsoft.com/office/powerpoint/2010/main" val="57347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685800" y="2708705"/>
            <a:ext cx="7772400" cy="899778"/>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grpSp>
        <p:nvGrpSpPr>
          <p:cNvPr id="2" name="Group 1"/>
          <p:cNvGrpSpPr/>
          <p:nvPr/>
        </p:nvGrpSpPr>
        <p:grpSpPr>
          <a:xfrm>
            <a:off x="-3765" y="3714750"/>
            <a:ext cx="9147765" cy="1434066"/>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t>7/5/2025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t>7/5/2025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t>7/5/2025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4805958"/>
            <a:ext cx="1920240" cy="274320"/>
          </a:xfrm>
        </p:spPr>
        <p:txBody>
          <a:bodyPr/>
          <a:lstStyle/>
          <a:p>
            <a:fld id="{1D8BD707-D9CF-40AE-B4C6-C98DA3205C09}"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4082552"/>
            <a:ext cx="7162800" cy="486174"/>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t>7/5/2025</a:t>
            </a:fld>
            <a:endParaRPr lang="en-US"/>
          </a:p>
        </p:txBody>
      </p:sp>
      <p:sp>
        <p:nvSpPr>
          <p:cNvPr id="6" name="Footer Placeholder 5"/>
          <p:cNvSpPr>
            <a:spLocks noGrp="1"/>
          </p:cNvSpPr>
          <p:nvPr>
            <p:ph type="ftr" sz="quarter" idx="11"/>
          </p:nvPr>
        </p:nvSpPr>
        <p:spPr>
          <a:xfrm>
            <a:off x="4380073" y="4805958"/>
            <a:ext cx="2350681" cy="273844"/>
          </a:xfrm>
        </p:spPr>
        <p:txBody>
          <a:bodyPr/>
          <a:lstStyle>
            <a:lvl1pPr>
              <a:defRPr>
                <a:solidFill>
                  <a:schemeClr val="tx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t>‹#›</a:t>
            </a:fld>
            <a:endParaRPr lang="en-US"/>
          </a:p>
        </p:txBody>
      </p:sp>
      <p:sp>
        <p:nvSpPr>
          <p:cNvPr id="2" name="Titl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smtClean="0"/>
              <a:t>Click to edit Master title style</a:t>
            </a:r>
            <a:endParaRPr kumimoji="0" lang="en-US"/>
          </a:p>
        </p:txBody>
      </p:sp>
      <p:sp>
        <p:nvSpPr>
          <p:cNvPr id="8" name="Freeform 7"/>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10997"/>
            <a:ext cx="8229600" cy="328955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05980"/>
            <a:ext cx="1777470" cy="419457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1"/>
            <a:ext cx="6324600" cy="419457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6042" y="4343440"/>
            <a:ext cx="3402314" cy="810651"/>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lstStyle>
          <a:p>
            <a:fld id="{1D8BD707-D9CF-40AE-B4C6-C98DA3205C09}" type="datetimeFigureOut">
              <a:rPr lang="en-US" smtClean="0"/>
              <a:t>7/5/2025</a:t>
            </a:fld>
            <a:endParaRPr lang="en-US"/>
          </a:p>
        </p:txBody>
      </p:sp>
      <p:sp>
        <p:nvSpPr>
          <p:cNvPr id="22" name="Footer Placeholder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18" name="Slide Number Placeholder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1181784"/>
            <a:ext cx="4668907" cy="646331"/>
          </a:xfrm>
          <a:prstGeom prst="rect">
            <a:avLst/>
          </a:prstGeom>
        </p:spPr>
        <p:txBody>
          <a:bodyPr wrap="none">
            <a:spAutoFit/>
          </a:bodyPr>
          <a:lstStyle/>
          <a:p>
            <a:pPr lvl="0" algn="ctr" fontAlgn="base">
              <a:spcBef>
                <a:spcPct val="0"/>
              </a:spcBef>
              <a:spcAft>
                <a:spcPct val="0"/>
              </a:spcAft>
            </a:pPr>
            <a:r>
              <a:rPr lang="en-US" sz="3600" b="1" dirty="0" smtClean="0">
                <a:latin typeface="Times New Roman" panose="02020603050405020304" pitchFamily="18" charset="0"/>
                <a:ea typeface="Times New Roman" panose="02020603050405020304" pitchFamily="18" charset="0"/>
                <a:cs typeface="Times New Roman" panose="02020603050405020304" pitchFamily="18" charset="0"/>
              </a:rPr>
              <a:t>DATA SUFFICIENCY</a:t>
            </a:r>
            <a:endParaRPr lang="en-US" sz="36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953000" y="2807494"/>
            <a:ext cx="3270382" cy="1384995"/>
          </a:xfrm>
          <a:prstGeom prst="rect">
            <a:avLst/>
          </a:prstGeom>
        </p:spPr>
        <p:txBody>
          <a:bodyPr wrap="none">
            <a:spAutoFit/>
          </a:bodyPr>
          <a:lstStyle/>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395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33600" y="285750"/>
            <a:ext cx="265008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INTRODUCTION</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9" name="Rectangle 8"/>
          <p:cNvSpPr/>
          <p:nvPr/>
        </p:nvSpPr>
        <p:spPr>
          <a:xfrm>
            <a:off x="381000" y="774343"/>
            <a:ext cx="8229600" cy="707886"/>
          </a:xfrm>
          <a:prstGeom prst="rect">
            <a:avLst/>
          </a:prstGeom>
        </p:spPr>
        <p:txBody>
          <a:bodyPr wrap="square">
            <a:spAutoFit/>
          </a:bodyPr>
          <a:lstStyle/>
          <a:p>
            <a:pPr marL="342900" indent="-342900">
              <a:buFont typeface="Wingdings" pitchFamily="2" charset="2"/>
              <a:buChar char="q"/>
            </a:pPr>
            <a:r>
              <a:rPr lang="en-US" sz="2000" b="1" dirty="0">
                <a:latin typeface="Times New Roman" pitchFamily="18" charset="0"/>
                <a:cs typeface="Times New Roman" pitchFamily="18" charset="0"/>
              </a:rPr>
              <a:t>Data Sufficiency is to check and test the given set of information, whether it is enough to answer a question or not.</a:t>
            </a:r>
          </a:p>
        </p:txBody>
      </p:sp>
      <p:sp>
        <p:nvSpPr>
          <p:cNvPr id="2" name="Rectangle 1"/>
          <p:cNvSpPr/>
          <p:nvPr/>
        </p:nvSpPr>
        <p:spPr>
          <a:xfrm>
            <a:off x="533400" y="1482229"/>
            <a:ext cx="8077200" cy="707886"/>
          </a:xfrm>
          <a:prstGeom prst="rect">
            <a:avLst/>
          </a:prstGeom>
        </p:spPr>
        <p:txBody>
          <a:bodyPr wrap="square">
            <a:spAutoFit/>
          </a:bodyPr>
          <a:lstStyle/>
          <a:p>
            <a:pPr marL="342900" indent="-342900">
              <a:buFont typeface="Wingdings" pitchFamily="2" charset="2"/>
              <a:buChar char="q"/>
            </a:pPr>
            <a:r>
              <a:rPr lang="en-US" sz="2000" b="1" dirty="0">
                <a:latin typeface="Times New Roman" pitchFamily="18" charset="0"/>
                <a:cs typeface="Times New Roman" pitchFamily="18" charset="0"/>
              </a:rPr>
              <a:t>Data Sufficiency-type questions are designed to test the candidate's ability to relate given information to reach a conclusion.</a:t>
            </a:r>
          </a:p>
        </p:txBody>
      </p:sp>
      <p:sp>
        <p:nvSpPr>
          <p:cNvPr id="8" name="Rectangle 7"/>
          <p:cNvSpPr/>
          <p:nvPr/>
        </p:nvSpPr>
        <p:spPr>
          <a:xfrm>
            <a:off x="533400" y="2190115"/>
            <a:ext cx="8280400" cy="400110"/>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Moreover, the data sufficiency has wider attributes to test the candidate.</a:t>
            </a:r>
          </a:p>
        </p:txBody>
      </p:sp>
      <p:sp>
        <p:nvSpPr>
          <p:cNvPr id="10" name="Rectangle 9"/>
          <p:cNvSpPr/>
          <p:nvPr/>
        </p:nvSpPr>
        <p:spPr>
          <a:xfrm>
            <a:off x="558800" y="2571750"/>
            <a:ext cx="8255000" cy="707886"/>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On one hand, it may have problems from any of the topics of reasoning </a:t>
            </a:r>
            <a:r>
              <a:rPr lang="en-US" sz="2000" b="1" dirty="0" smtClean="0">
                <a:latin typeface="Times New Roman" pitchFamily="18" charset="0"/>
                <a:cs typeface="Times New Roman" pitchFamily="18" charset="0"/>
              </a:rPr>
              <a:t>or Quantitative aptitude</a:t>
            </a:r>
            <a:endParaRPr lang="en-US" sz="2000" b="1" dirty="0">
              <a:latin typeface="Times New Roman" pitchFamily="18" charset="0"/>
              <a:cs typeface="Times New Roman" pitchFamily="18" charset="0"/>
            </a:endParaRPr>
          </a:p>
        </p:txBody>
      </p:sp>
      <p:sp>
        <p:nvSpPr>
          <p:cNvPr id="11" name="Rectangle 10"/>
          <p:cNvSpPr/>
          <p:nvPr/>
        </p:nvSpPr>
        <p:spPr>
          <a:xfrm>
            <a:off x="558800" y="3204697"/>
            <a:ext cx="7213600" cy="400110"/>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on the other hand, it can test a candidate’s analytical skills. </a:t>
            </a:r>
          </a:p>
        </p:txBody>
      </p:sp>
    </p:spTree>
    <p:extLst>
      <p:ext uri="{BB962C8B-B14F-4D97-AF65-F5344CB8AC3E}">
        <p14:creationId xmlns:p14="http://schemas.microsoft.com/office/powerpoint/2010/main" val="402639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8" grpId="0"/>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7700" y="209550"/>
            <a:ext cx="6134100"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How to Solve </a:t>
            </a: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Data Sufficiency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5" name="Rectangle 24"/>
          <p:cNvSpPr/>
          <p:nvPr/>
        </p:nvSpPr>
        <p:spPr>
          <a:xfrm>
            <a:off x="152400" y="590550"/>
            <a:ext cx="7518400" cy="400110"/>
          </a:xfrm>
          <a:prstGeom prst="rect">
            <a:avLst/>
          </a:prstGeom>
        </p:spPr>
        <p:txBody>
          <a:bodyPr wrap="square">
            <a:spAutoFit/>
          </a:bodyPr>
          <a:lstStyle/>
          <a:p>
            <a:r>
              <a:rPr lang="en-US" sz="2000" b="1" dirty="0">
                <a:latin typeface="Times New Roman" pitchFamily="18" charset="0"/>
                <a:cs typeface="Times New Roman" pitchFamily="18" charset="0"/>
              </a:rPr>
              <a:t>The step by step process for </a:t>
            </a:r>
            <a:r>
              <a:rPr lang="en-US" sz="2000" b="1" dirty="0" smtClean="0">
                <a:latin typeface="Times New Roman" pitchFamily="18" charset="0"/>
                <a:cs typeface="Times New Roman" pitchFamily="18" charset="0"/>
              </a:rPr>
              <a:t>solving Data sufficiency includes</a:t>
            </a:r>
            <a:r>
              <a:rPr lang="en-US" sz="2000" b="1" dirty="0">
                <a:latin typeface="Times New Roman" pitchFamily="18" charset="0"/>
                <a:cs typeface="Times New Roman" pitchFamily="18" charset="0"/>
              </a:rPr>
              <a:t>:</a:t>
            </a:r>
          </a:p>
        </p:txBody>
      </p:sp>
      <p:sp>
        <p:nvSpPr>
          <p:cNvPr id="26" name="Rectangle 25"/>
          <p:cNvSpPr/>
          <p:nvPr/>
        </p:nvSpPr>
        <p:spPr>
          <a:xfrm>
            <a:off x="228600" y="895350"/>
            <a:ext cx="8229600" cy="1015663"/>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In Data Sufficiency, candidates only need to check whether the data provided is sufficient or not to find the answer. Therefore, do not waste time in finding the final answer. </a:t>
            </a:r>
          </a:p>
        </p:txBody>
      </p:sp>
      <p:sp>
        <p:nvSpPr>
          <p:cNvPr id="27" name="Rectangle 26"/>
          <p:cNvSpPr/>
          <p:nvPr/>
        </p:nvSpPr>
        <p:spPr>
          <a:xfrm>
            <a:off x="228600" y="1809750"/>
            <a:ext cx="8585200" cy="1015663"/>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Data Sufficiency problems appear to be difficult at first because of the complicated directions, but once you get familiar with these directions, you will find these problems easy to solve. Never assume anything by yourself. </a:t>
            </a:r>
          </a:p>
        </p:txBody>
      </p:sp>
      <p:sp>
        <p:nvSpPr>
          <p:cNvPr id="29" name="Rectangle 28"/>
          <p:cNvSpPr/>
          <p:nvPr/>
        </p:nvSpPr>
        <p:spPr>
          <a:xfrm>
            <a:off x="177800" y="2800350"/>
            <a:ext cx="8509000" cy="1631216"/>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Always read the question carefully and identify the specific information required to answer the question. Read the statements carefully and understand them and then finally analyze the statements and try to eliminate some answer choices. This will help you increase your chances of gaining points by guessing the answer. </a:t>
            </a:r>
          </a:p>
        </p:txBody>
      </p:sp>
    </p:spTree>
    <p:extLst>
      <p:ext uri="{BB962C8B-B14F-4D97-AF65-F5344CB8AC3E}">
        <p14:creationId xmlns:p14="http://schemas.microsoft.com/office/powerpoint/2010/main" val="76948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0" y="182581"/>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6" name="Rectangle 5"/>
          <p:cNvSpPr/>
          <p:nvPr/>
        </p:nvSpPr>
        <p:spPr>
          <a:xfrm>
            <a:off x="228600" y="644246"/>
            <a:ext cx="8382000" cy="2585323"/>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Question: </a:t>
            </a:r>
            <a:r>
              <a:rPr lang="en-US" b="1" dirty="0" smtClean="0">
                <a:solidFill>
                  <a:srgbClr val="FF0000"/>
                </a:solidFill>
                <a:latin typeface="Times New Roman" pitchFamily="18" charset="0"/>
                <a:cs typeface="Times New Roman" pitchFamily="18" charset="0"/>
              </a:rPr>
              <a:t>	In </a:t>
            </a:r>
            <a:r>
              <a:rPr lang="en-US" b="1" dirty="0">
                <a:solidFill>
                  <a:srgbClr val="FF0000"/>
                </a:solidFill>
                <a:latin typeface="Times New Roman" pitchFamily="18" charset="0"/>
                <a:cs typeface="Times New Roman" pitchFamily="18" charset="0"/>
              </a:rPr>
              <a:t>which year was Rahul born ?</a:t>
            </a:r>
          </a:p>
          <a:p>
            <a:pPr fontAlgn="t"/>
            <a:r>
              <a:rPr lang="en-US" b="1" dirty="0" smtClean="0">
                <a:solidFill>
                  <a:srgbClr val="FF0000"/>
                </a:solidFill>
                <a:latin typeface="Times New Roman" pitchFamily="18" charset="0"/>
                <a:cs typeface="Times New Roman" pitchFamily="18" charset="0"/>
              </a:rPr>
              <a:t>Statements:	</a:t>
            </a:r>
          </a:p>
          <a:p>
            <a:pPr marL="400050" indent="-400050" fontAlgn="t">
              <a:buFont typeface="+mj-lt"/>
              <a:buAutoNum type="romanUcPeriod"/>
            </a:pPr>
            <a:r>
              <a:rPr lang="en-US" b="1" dirty="0" smtClean="0">
                <a:solidFill>
                  <a:srgbClr val="FF0000"/>
                </a:solidFill>
                <a:latin typeface="Times New Roman" pitchFamily="18" charset="0"/>
                <a:cs typeface="Times New Roman" pitchFamily="18" charset="0"/>
              </a:rPr>
              <a:t>Rahul </a:t>
            </a:r>
            <a:r>
              <a:rPr lang="en-US" b="1" dirty="0">
                <a:solidFill>
                  <a:srgbClr val="FF0000"/>
                </a:solidFill>
                <a:latin typeface="Times New Roman" pitchFamily="18" charset="0"/>
                <a:cs typeface="Times New Roman" pitchFamily="18" charset="0"/>
              </a:rPr>
              <a:t>at present is 25 years younger to his mother.</a:t>
            </a:r>
          </a:p>
          <a:p>
            <a:pPr marL="400050" indent="-400050" fontAlgn="t">
              <a:buFont typeface="+mj-lt"/>
              <a:buAutoNum type="romanUcPeriod"/>
            </a:pPr>
            <a:r>
              <a:rPr lang="en-US" b="1" dirty="0" smtClean="0">
                <a:solidFill>
                  <a:srgbClr val="FF0000"/>
                </a:solidFill>
                <a:latin typeface="Times New Roman" pitchFamily="18" charset="0"/>
                <a:cs typeface="Times New Roman" pitchFamily="18" charset="0"/>
              </a:rPr>
              <a:t>Rahul's </a:t>
            </a:r>
            <a:r>
              <a:rPr lang="en-US" b="1" dirty="0">
                <a:solidFill>
                  <a:srgbClr val="FF0000"/>
                </a:solidFill>
                <a:latin typeface="Times New Roman" pitchFamily="18" charset="0"/>
                <a:cs typeface="Times New Roman" pitchFamily="18" charset="0"/>
              </a:rPr>
              <a:t>brother, who was born in 1964, is 35 years younger to </a:t>
            </a:r>
            <a:r>
              <a:rPr lang="en-US" b="1" dirty="0" smtClean="0">
                <a:solidFill>
                  <a:srgbClr val="FF0000"/>
                </a:solidFill>
                <a:latin typeface="Times New Roman" pitchFamily="18" charset="0"/>
                <a:cs typeface="Times New Roman" pitchFamily="18" charset="0"/>
              </a:rPr>
              <a:t>his </a:t>
            </a:r>
            <a:r>
              <a:rPr lang="en-US" b="1" dirty="0">
                <a:solidFill>
                  <a:srgbClr val="FF0000"/>
                </a:solidFill>
                <a:latin typeface="Times New Roman" pitchFamily="18" charset="0"/>
                <a:cs typeface="Times New Roman" pitchFamily="18" charset="0"/>
              </a:rPr>
              <a:t>mother.</a:t>
            </a:r>
          </a:p>
          <a:p>
            <a:r>
              <a:rPr lang="en-US" b="1" dirty="0" smtClean="0">
                <a:solidFill>
                  <a:srgbClr val="FF0000"/>
                </a:solidFill>
                <a:latin typeface="Times New Roman" pitchFamily="18" charset="0"/>
                <a:cs typeface="Times New Roman" pitchFamily="18" charset="0"/>
              </a:rPr>
              <a:t>A.	I </a:t>
            </a:r>
            <a:r>
              <a:rPr lang="en-US" b="1" dirty="0">
                <a:solidFill>
                  <a:srgbClr val="FF0000"/>
                </a:solidFill>
                <a:latin typeface="Times New Roman" pitchFamily="18" charset="0"/>
                <a:cs typeface="Times New Roman" pitchFamily="18" charset="0"/>
              </a:rPr>
              <a:t>alone is sufficient while II alone is not sufficient</a:t>
            </a:r>
          </a:p>
          <a:p>
            <a:r>
              <a:rPr lang="en-US" b="1" dirty="0" smtClean="0">
                <a:solidFill>
                  <a:srgbClr val="FF0000"/>
                </a:solidFill>
                <a:latin typeface="Times New Roman" pitchFamily="18" charset="0"/>
                <a:cs typeface="Times New Roman" pitchFamily="18" charset="0"/>
              </a:rPr>
              <a:t>B.	II </a:t>
            </a:r>
            <a:r>
              <a:rPr lang="en-US" b="1" dirty="0">
                <a:solidFill>
                  <a:srgbClr val="FF0000"/>
                </a:solidFill>
                <a:latin typeface="Times New Roman" pitchFamily="18" charset="0"/>
                <a:cs typeface="Times New Roman" pitchFamily="18" charset="0"/>
              </a:rPr>
              <a:t>alone is sufficient while I alone is not sufficient</a:t>
            </a:r>
          </a:p>
          <a:p>
            <a:r>
              <a:rPr lang="en-US" b="1" dirty="0" smtClean="0">
                <a:solidFill>
                  <a:srgbClr val="FF0000"/>
                </a:solidFill>
                <a:latin typeface="Times New Roman" pitchFamily="18" charset="0"/>
                <a:cs typeface="Times New Roman" pitchFamily="18" charset="0"/>
              </a:rPr>
              <a:t>C.	Either </a:t>
            </a:r>
            <a:r>
              <a:rPr lang="en-US" b="1" dirty="0">
                <a:solidFill>
                  <a:srgbClr val="FF0000"/>
                </a:solidFill>
                <a:latin typeface="Times New Roman" pitchFamily="18" charset="0"/>
                <a:cs typeface="Times New Roman" pitchFamily="18" charset="0"/>
              </a:rPr>
              <a:t>I or II is sufficient</a:t>
            </a:r>
          </a:p>
          <a:p>
            <a:r>
              <a:rPr lang="en-US" b="1" dirty="0" smtClean="0">
                <a:solidFill>
                  <a:srgbClr val="FF0000"/>
                </a:solidFill>
                <a:latin typeface="Times New Roman" pitchFamily="18" charset="0"/>
                <a:cs typeface="Times New Roman" pitchFamily="18" charset="0"/>
              </a:rPr>
              <a:t>D.	Neither </a:t>
            </a:r>
            <a:r>
              <a:rPr lang="en-US" b="1" dirty="0">
                <a:solidFill>
                  <a:srgbClr val="FF0000"/>
                </a:solidFill>
                <a:latin typeface="Times New Roman" pitchFamily="18" charset="0"/>
                <a:cs typeface="Times New Roman" pitchFamily="18" charset="0"/>
              </a:rPr>
              <a:t>I nor II is sufficient</a:t>
            </a:r>
          </a:p>
          <a:p>
            <a:r>
              <a:rPr lang="en-US" b="1" dirty="0" smtClean="0">
                <a:solidFill>
                  <a:srgbClr val="FF0000"/>
                </a:solidFill>
                <a:latin typeface="Times New Roman" pitchFamily="18" charset="0"/>
                <a:cs typeface="Times New Roman" pitchFamily="18" charset="0"/>
              </a:rPr>
              <a:t>E.	Both </a:t>
            </a:r>
            <a:r>
              <a:rPr lang="en-US" b="1" dirty="0">
                <a:solidFill>
                  <a:srgbClr val="FF0000"/>
                </a:solidFill>
                <a:latin typeface="Times New Roman" pitchFamily="18" charset="0"/>
                <a:cs typeface="Times New Roman" pitchFamily="18" charset="0"/>
              </a:rPr>
              <a:t>I and II are sufficient</a:t>
            </a:r>
          </a:p>
        </p:txBody>
      </p:sp>
      <p:sp>
        <p:nvSpPr>
          <p:cNvPr id="7" name="Rectangle 6"/>
          <p:cNvSpPr/>
          <p:nvPr/>
        </p:nvSpPr>
        <p:spPr>
          <a:xfrm>
            <a:off x="609600" y="3229569"/>
            <a:ext cx="7175500" cy="646331"/>
          </a:xfrm>
          <a:prstGeom prst="rect">
            <a:avLst/>
          </a:prstGeom>
        </p:spPr>
        <p:txBody>
          <a:bodyPr wrap="square">
            <a:spAutoFit/>
          </a:bodyPr>
          <a:lstStyle/>
          <a:p>
            <a:r>
              <a:rPr lang="en-US" b="1" dirty="0">
                <a:latin typeface="Times New Roman" pitchFamily="18" charset="0"/>
                <a:cs typeface="Times New Roman" pitchFamily="18" charset="0"/>
              </a:rPr>
              <a:t>From both I and II, we find that Rahul is (35 - 25) = 10 years older than his brother, who was born in 1964. So, Rahul was born in 1954.</a:t>
            </a:r>
          </a:p>
        </p:txBody>
      </p:sp>
      <p:sp>
        <p:nvSpPr>
          <p:cNvPr id="24" name="Rectangle 23"/>
          <p:cNvSpPr/>
          <p:nvPr/>
        </p:nvSpPr>
        <p:spPr>
          <a:xfrm>
            <a:off x="2895600" y="3933898"/>
            <a:ext cx="1066800" cy="369332"/>
          </a:xfrm>
          <a:prstGeom prst="rect">
            <a:avLst/>
          </a:prstGeom>
        </p:spPr>
        <p:txBody>
          <a:bodyPr wrap="square">
            <a:spAutoFit/>
          </a:bodyPr>
          <a:lstStyle/>
          <a:p>
            <a:r>
              <a:rPr lang="en-US" b="1" dirty="0" smtClean="0">
                <a:latin typeface="Times New Roman" pitchFamily="18" charset="0"/>
                <a:cs typeface="Times New Roman" pitchFamily="18" charset="0"/>
              </a:rPr>
              <a:t>Ans E </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45310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0" y="182581"/>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6" name="Rectangle 5"/>
          <p:cNvSpPr/>
          <p:nvPr/>
        </p:nvSpPr>
        <p:spPr>
          <a:xfrm>
            <a:off x="228600" y="471428"/>
            <a:ext cx="8915400" cy="2862322"/>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Question: </a:t>
            </a:r>
            <a:r>
              <a:rPr lang="en-US" b="1" dirty="0" smtClean="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What will be the total weight of 10 poles, each of the same weight </a:t>
            </a:r>
            <a:r>
              <a:rPr lang="en-US" b="1" dirty="0" smtClean="0">
                <a:solidFill>
                  <a:srgbClr val="FF0000"/>
                </a:solidFill>
                <a:latin typeface="Times New Roman" pitchFamily="18" charset="0"/>
                <a:cs typeface="Times New Roman" pitchFamily="18" charset="0"/>
              </a:rPr>
              <a:t>?</a:t>
            </a:r>
          </a:p>
          <a:p>
            <a:pPr fontAlgn="t"/>
            <a:r>
              <a:rPr lang="en-US" b="1" dirty="0" smtClean="0">
                <a:solidFill>
                  <a:srgbClr val="FF0000"/>
                </a:solidFill>
                <a:latin typeface="Times New Roman" pitchFamily="18" charset="0"/>
                <a:cs typeface="Times New Roman" pitchFamily="18" charset="0"/>
              </a:rPr>
              <a:t>Statements:	</a:t>
            </a:r>
          </a:p>
          <a:p>
            <a:pPr marL="400050" indent="-400050" fontAlgn="t">
              <a:buFont typeface="+mj-lt"/>
              <a:buAutoNum type="romanUcPeriod"/>
            </a:pPr>
            <a:r>
              <a:rPr lang="en-US" b="1" dirty="0">
                <a:solidFill>
                  <a:srgbClr val="FF0000"/>
                </a:solidFill>
                <a:latin typeface="Times New Roman" pitchFamily="18" charset="0"/>
                <a:cs typeface="Times New Roman" pitchFamily="18" charset="0"/>
              </a:rPr>
              <a:t>One-fourth of the weight of each pole is 5 kg.</a:t>
            </a:r>
          </a:p>
          <a:p>
            <a:pPr marL="400050" indent="-400050" fontAlgn="t">
              <a:buFont typeface="+mj-lt"/>
              <a:buAutoNum type="romanUcPeriod"/>
            </a:pPr>
            <a:r>
              <a:rPr lang="en-US" b="1" dirty="0">
                <a:solidFill>
                  <a:srgbClr val="FF0000"/>
                </a:solidFill>
                <a:latin typeface="Times New Roman" pitchFamily="18" charset="0"/>
                <a:cs typeface="Times New Roman" pitchFamily="18" charset="0"/>
              </a:rPr>
              <a:t>The total weight of three poles is 20 kilograms more than the total weight of two poles.</a:t>
            </a:r>
          </a:p>
          <a:p>
            <a:r>
              <a:rPr lang="en-US" b="1" dirty="0" smtClean="0">
                <a:solidFill>
                  <a:srgbClr val="FF0000"/>
                </a:solidFill>
                <a:latin typeface="Times New Roman" pitchFamily="18" charset="0"/>
                <a:cs typeface="Times New Roman" pitchFamily="18" charset="0"/>
              </a:rPr>
              <a:t>A.	I </a:t>
            </a:r>
            <a:r>
              <a:rPr lang="en-US" b="1" dirty="0">
                <a:solidFill>
                  <a:srgbClr val="FF0000"/>
                </a:solidFill>
                <a:latin typeface="Times New Roman" pitchFamily="18" charset="0"/>
                <a:cs typeface="Times New Roman" pitchFamily="18" charset="0"/>
              </a:rPr>
              <a:t>alone is sufficient while II alone is not sufficient</a:t>
            </a:r>
          </a:p>
          <a:p>
            <a:r>
              <a:rPr lang="en-US" b="1" dirty="0" smtClean="0">
                <a:solidFill>
                  <a:srgbClr val="FF0000"/>
                </a:solidFill>
                <a:latin typeface="Times New Roman" pitchFamily="18" charset="0"/>
                <a:cs typeface="Times New Roman" pitchFamily="18" charset="0"/>
              </a:rPr>
              <a:t>B.	II </a:t>
            </a:r>
            <a:r>
              <a:rPr lang="en-US" b="1" dirty="0">
                <a:solidFill>
                  <a:srgbClr val="FF0000"/>
                </a:solidFill>
                <a:latin typeface="Times New Roman" pitchFamily="18" charset="0"/>
                <a:cs typeface="Times New Roman" pitchFamily="18" charset="0"/>
              </a:rPr>
              <a:t>alone is sufficient while I alone is not sufficient</a:t>
            </a:r>
          </a:p>
          <a:p>
            <a:r>
              <a:rPr lang="en-US" b="1" dirty="0" smtClean="0">
                <a:solidFill>
                  <a:srgbClr val="FF0000"/>
                </a:solidFill>
                <a:latin typeface="Times New Roman" pitchFamily="18" charset="0"/>
                <a:cs typeface="Times New Roman" pitchFamily="18" charset="0"/>
              </a:rPr>
              <a:t>C.	Either </a:t>
            </a:r>
            <a:r>
              <a:rPr lang="en-US" b="1" dirty="0">
                <a:solidFill>
                  <a:srgbClr val="FF0000"/>
                </a:solidFill>
                <a:latin typeface="Times New Roman" pitchFamily="18" charset="0"/>
                <a:cs typeface="Times New Roman" pitchFamily="18" charset="0"/>
              </a:rPr>
              <a:t>I or II is sufficient</a:t>
            </a:r>
          </a:p>
          <a:p>
            <a:r>
              <a:rPr lang="en-US" b="1" dirty="0" smtClean="0">
                <a:solidFill>
                  <a:srgbClr val="FF0000"/>
                </a:solidFill>
                <a:latin typeface="Times New Roman" pitchFamily="18" charset="0"/>
                <a:cs typeface="Times New Roman" pitchFamily="18" charset="0"/>
              </a:rPr>
              <a:t>D.	Neither </a:t>
            </a:r>
            <a:r>
              <a:rPr lang="en-US" b="1" dirty="0">
                <a:solidFill>
                  <a:srgbClr val="FF0000"/>
                </a:solidFill>
                <a:latin typeface="Times New Roman" pitchFamily="18" charset="0"/>
                <a:cs typeface="Times New Roman" pitchFamily="18" charset="0"/>
              </a:rPr>
              <a:t>I nor II is sufficient</a:t>
            </a:r>
          </a:p>
          <a:p>
            <a:r>
              <a:rPr lang="en-US" b="1" dirty="0" smtClean="0">
                <a:solidFill>
                  <a:srgbClr val="FF0000"/>
                </a:solidFill>
                <a:latin typeface="Times New Roman" pitchFamily="18" charset="0"/>
                <a:cs typeface="Times New Roman" pitchFamily="18" charset="0"/>
              </a:rPr>
              <a:t>E.	Both </a:t>
            </a:r>
            <a:r>
              <a:rPr lang="en-US" b="1" dirty="0">
                <a:solidFill>
                  <a:srgbClr val="FF0000"/>
                </a:solidFill>
                <a:latin typeface="Times New Roman" pitchFamily="18" charset="0"/>
                <a:cs typeface="Times New Roman" pitchFamily="18" charset="0"/>
              </a:rPr>
              <a:t>I and II are sufficient</a:t>
            </a:r>
          </a:p>
        </p:txBody>
      </p:sp>
      <p:sp>
        <p:nvSpPr>
          <p:cNvPr id="7" name="Rectangle 6"/>
          <p:cNvSpPr/>
          <p:nvPr/>
        </p:nvSpPr>
        <p:spPr>
          <a:xfrm>
            <a:off x="228600" y="3143250"/>
            <a:ext cx="7556500" cy="369332"/>
          </a:xfrm>
          <a:prstGeom prst="rect">
            <a:avLst/>
          </a:prstGeom>
        </p:spPr>
        <p:txBody>
          <a:bodyPr wrap="square">
            <a:spAutoFit/>
          </a:bodyPr>
          <a:lstStyle/>
          <a:p>
            <a:r>
              <a:rPr lang="en-US" b="1" dirty="0">
                <a:latin typeface="Times New Roman" pitchFamily="18" charset="0"/>
                <a:cs typeface="Times New Roman" pitchFamily="18" charset="0"/>
              </a:rPr>
              <a:t>From I, we conclude that weight of each pole = (4x5) kg = 20 kg</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24" name="Rectangle 23"/>
          <p:cNvSpPr/>
          <p:nvPr/>
        </p:nvSpPr>
        <p:spPr>
          <a:xfrm>
            <a:off x="6985000" y="4292084"/>
            <a:ext cx="1066800" cy="369332"/>
          </a:xfrm>
          <a:prstGeom prst="rect">
            <a:avLst/>
          </a:prstGeom>
        </p:spPr>
        <p:txBody>
          <a:bodyPr wrap="squar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2" name="Rectangle 1"/>
          <p:cNvSpPr/>
          <p:nvPr/>
        </p:nvSpPr>
        <p:spPr>
          <a:xfrm>
            <a:off x="1905000" y="3421618"/>
            <a:ext cx="7289800" cy="369332"/>
          </a:xfrm>
          <a:prstGeom prst="rect">
            <a:avLst/>
          </a:prstGeom>
        </p:spPr>
        <p:txBody>
          <a:bodyPr wrap="square">
            <a:spAutoFit/>
          </a:bodyPr>
          <a:lstStyle/>
          <a:p>
            <a:r>
              <a:rPr lang="en-US" b="1" dirty="0">
                <a:latin typeface="Times New Roman" pitchFamily="18" charset="0"/>
                <a:cs typeface="Times New Roman" pitchFamily="18" charset="0"/>
              </a:rPr>
              <a:t>So, total weight of 10 poles = (20 x 10) kg = 200 kg</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3" name="Rectangle 2"/>
          <p:cNvSpPr/>
          <p:nvPr/>
        </p:nvSpPr>
        <p:spPr>
          <a:xfrm>
            <a:off x="228600" y="3726418"/>
            <a:ext cx="3124200" cy="369332"/>
          </a:xfrm>
          <a:prstGeom prst="rect">
            <a:avLst/>
          </a:prstGeom>
        </p:spPr>
        <p:txBody>
          <a:bodyPr wrap="square">
            <a:spAutoFit/>
          </a:bodyPr>
          <a:lstStyle/>
          <a:p>
            <a:r>
              <a:rPr lang="en-US" b="1" dirty="0">
                <a:latin typeface="Times New Roman" pitchFamily="18" charset="0"/>
                <a:cs typeface="Times New Roman" pitchFamily="18" charset="0"/>
              </a:rPr>
              <a:t>From II, we conclude that</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8" name="Rectangle 7"/>
          <p:cNvSpPr/>
          <p:nvPr/>
        </p:nvSpPr>
        <p:spPr>
          <a:xfrm>
            <a:off x="2895600" y="3754219"/>
            <a:ext cx="6248400" cy="646331"/>
          </a:xfrm>
          <a:prstGeom prst="rect">
            <a:avLst/>
          </a:prstGeom>
        </p:spPr>
        <p:txBody>
          <a:bodyPr wrap="square">
            <a:spAutoFit/>
          </a:bodyPr>
          <a:lstStyle/>
          <a:p>
            <a:r>
              <a:rPr lang="en-US" b="1" dirty="0">
                <a:latin typeface="Times New Roman" pitchFamily="18" charset="0"/>
                <a:cs typeface="Times New Roman" pitchFamily="18" charset="0"/>
              </a:rPr>
              <a:t>Weight of each pole = (weight of 3 poles) - (weight of 2 poles) = 20 kg</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9" name="Rectangle 8"/>
          <p:cNvSpPr/>
          <p:nvPr/>
        </p:nvSpPr>
        <p:spPr>
          <a:xfrm>
            <a:off x="685800" y="4324350"/>
            <a:ext cx="6324600" cy="369332"/>
          </a:xfrm>
          <a:prstGeom prst="rect">
            <a:avLst/>
          </a:prstGeom>
        </p:spPr>
        <p:txBody>
          <a:bodyPr wrap="square">
            <a:spAutoFit/>
          </a:bodyPr>
          <a:lstStyle/>
          <a:p>
            <a:r>
              <a:rPr lang="en-US" b="1" dirty="0">
                <a:latin typeface="Times New Roman" pitchFamily="18" charset="0"/>
                <a:cs typeface="Times New Roman" pitchFamily="18" charset="0"/>
              </a:rPr>
              <a:t>So, total weight of 10 </a:t>
            </a:r>
            <a:r>
              <a:rPr lang="en-US" b="1" dirty="0" smtClean="0">
                <a:latin typeface="Times New Roman" pitchFamily="18" charset="0"/>
                <a:cs typeface="Times New Roman" pitchFamily="18" charset="0"/>
              </a:rPr>
              <a:t>poles </a:t>
            </a:r>
            <a:r>
              <a:rPr lang="en-US" b="1" dirty="0">
                <a:latin typeface="Times New Roman" pitchFamily="18" charset="0"/>
                <a:cs typeface="Times New Roman" pitchFamily="18" charset="0"/>
              </a:rPr>
              <a:t>= (20 x 10) kg = 200 kg.</a:t>
            </a:r>
          </a:p>
        </p:txBody>
      </p:sp>
    </p:spTree>
    <p:extLst>
      <p:ext uri="{BB962C8B-B14F-4D97-AF65-F5344CB8AC3E}">
        <p14:creationId xmlns:p14="http://schemas.microsoft.com/office/powerpoint/2010/main" val="2583606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P spid="2" grpId="0"/>
      <p:bldP spid="3"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0" y="182581"/>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6" name="Rectangle 5"/>
          <p:cNvSpPr/>
          <p:nvPr/>
        </p:nvSpPr>
        <p:spPr>
          <a:xfrm>
            <a:off x="228600" y="514350"/>
            <a:ext cx="8915400" cy="2862322"/>
          </a:xfrm>
          <a:prstGeom prst="rect">
            <a:avLst/>
          </a:prstGeom>
        </p:spPr>
        <p:txBody>
          <a:bodyPr wrap="square">
            <a:spAutoFit/>
          </a:bodyPr>
          <a:lstStyle/>
          <a:p>
            <a:pPr fontAlgn="auto"/>
            <a:r>
              <a:rPr lang="en-US" b="1" dirty="0">
                <a:solidFill>
                  <a:srgbClr val="FF0000"/>
                </a:solidFill>
                <a:latin typeface="Times New Roman" pitchFamily="18" charset="0"/>
                <a:cs typeface="Times New Roman" pitchFamily="18" charset="0"/>
              </a:rPr>
              <a:t>There are four plateaus on a mountain </a:t>
            </a:r>
            <a:r>
              <a:rPr lang="en-US" b="1" dirty="0" smtClean="0">
                <a:solidFill>
                  <a:srgbClr val="FF0000"/>
                </a:solidFill>
                <a:latin typeface="Times New Roman" pitchFamily="18" charset="0"/>
                <a:cs typeface="Times New Roman" pitchFamily="18" charset="0"/>
              </a:rPr>
              <a:t>labeled </a:t>
            </a:r>
            <a:r>
              <a:rPr lang="en-US" b="1" dirty="0">
                <a:solidFill>
                  <a:srgbClr val="FF0000"/>
                </a:solidFill>
                <a:latin typeface="Times New Roman" pitchFamily="18" charset="0"/>
                <a:cs typeface="Times New Roman" pitchFamily="18" charset="0"/>
              </a:rPr>
              <a:t>M, N, O and P. M is 2200 meters above the ground. N is </a:t>
            </a:r>
            <a:r>
              <a:rPr lang="en-US" b="1">
                <a:solidFill>
                  <a:srgbClr val="FF0000"/>
                </a:solidFill>
                <a:latin typeface="Times New Roman" pitchFamily="18" charset="0"/>
                <a:cs typeface="Times New Roman" pitchFamily="18" charset="0"/>
              </a:rPr>
              <a:t>600 </a:t>
            </a:r>
            <a:r>
              <a:rPr lang="en-US" b="1" smtClean="0">
                <a:solidFill>
                  <a:srgbClr val="FF0000"/>
                </a:solidFill>
                <a:latin typeface="Times New Roman" pitchFamily="18" charset="0"/>
                <a:cs typeface="Times New Roman" pitchFamily="18" charset="0"/>
              </a:rPr>
              <a:t>meters </a:t>
            </a:r>
            <a:r>
              <a:rPr lang="en-US" b="1" dirty="0">
                <a:solidFill>
                  <a:srgbClr val="FF0000"/>
                </a:solidFill>
                <a:latin typeface="Times New Roman" pitchFamily="18" charset="0"/>
                <a:cs typeface="Times New Roman" pitchFamily="18" charset="0"/>
              </a:rPr>
              <a:t>higher than M. P is 1000 </a:t>
            </a:r>
            <a:r>
              <a:rPr lang="en-US" b="1" dirty="0" smtClean="0">
                <a:solidFill>
                  <a:srgbClr val="FF0000"/>
                </a:solidFill>
                <a:latin typeface="Times New Roman" pitchFamily="18" charset="0"/>
                <a:cs typeface="Times New Roman" pitchFamily="18" charset="0"/>
              </a:rPr>
              <a:t>meters </a:t>
            </a:r>
            <a:r>
              <a:rPr lang="en-US" b="1" dirty="0">
                <a:solidFill>
                  <a:srgbClr val="FF0000"/>
                </a:solidFill>
                <a:latin typeface="Times New Roman" pitchFamily="18" charset="0"/>
                <a:cs typeface="Times New Roman" pitchFamily="18" charset="0"/>
              </a:rPr>
              <a:t>higher than O. Is N higher than O?</a:t>
            </a:r>
          </a:p>
          <a:p>
            <a:pPr fontAlgn="auto"/>
            <a:r>
              <a:rPr lang="en-US" b="1" dirty="0" smtClean="0">
                <a:solidFill>
                  <a:srgbClr val="FF0000"/>
                </a:solidFill>
                <a:latin typeface="Times New Roman" pitchFamily="18" charset="0"/>
                <a:cs typeface="Times New Roman" pitchFamily="18" charset="0"/>
              </a:rPr>
              <a:t>Statements </a:t>
            </a:r>
          </a:p>
          <a:p>
            <a:pPr fontAlgn="auto"/>
            <a:r>
              <a:rPr lang="en-US" b="1" dirty="0" smtClean="0">
                <a:solidFill>
                  <a:srgbClr val="FF0000"/>
                </a:solidFill>
                <a:latin typeface="Times New Roman" pitchFamily="18" charset="0"/>
                <a:cs typeface="Times New Roman" pitchFamily="18" charset="0"/>
              </a:rPr>
              <a:t>I </a:t>
            </a:r>
            <a:r>
              <a:rPr lang="en-US" b="1" dirty="0">
                <a:solidFill>
                  <a:srgbClr val="FF0000"/>
                </a:solidFill>
                <a:latin typeface="Times New Roman" pitchFamily="18" charset="0"/>
                <a:cs typeface="Times New Roman" pitchFamily="18" charset="0"/>
              </a:rPr>
              <a:t>P is 2600 m above the ground</a:t>
            </a:r>
          </a:p>
          <a:p>
            <a:pPr fontAlgn="auto"/>
            <a:r>
              <a:rPr lang="en-US" b="1" dirty="0">
                <a:solidFill>
                  <a:srgbClr val="FF0000"/>
                </a:solidFill>
                <a:latin typeface="Times New Roman" pitchFamily="18" charset="0"/>
                <a:cs typeface="Times New Roman" pitchFamily="18" charset="0"/>
              </a:rPr>
              <a:t>II P is 400 higher than M</a:t>
            </a:r>
          </a:p>
          <a:p>
            <a:r>
              <a:rPr lang="en-US" b="1" dirty="0">
                <a:solidFill>
                  <a:srgbClr val="FF0000"/>
                </a:solidFill>
                <a:latin typeface="Times New Roman" pitchFamily="18" charset="0"/>
                <a:cs typeface="Times New Roman" pitchFamily="18" charset="0"/>
              </a:rPr>
              <a:t>A</a:t>
            </a:r>
            <a:r>
              <a:rPr lang="en-US" b="1" dirty="0" smtClean="0">
                <a:solidFill>
                  <a:srgbClr val="FF0000"/>
                </a:solidFill>
                <a:latin typeface="Times New Roman" pitchFamily="18" charset="0"/>
                <a:cs typeface="Times New Roman" pitchFamily="18" charset="0"/>
              </a:rPr>
              <a:t>.	Either </a:t>
            </a:r>
            <a:r>
              <a:rPr lang="en-US" b="1" dirty="0">
                <a:solidFill>
                  <a:srgbClr val="FF0000"/>
                </a:solidFill>
                <a:latin typeface="Times New Roman" pitchFamily="18" charset="0"/>
                <a:cs typeface="Times New Roman" pitchFamily="18" charset="0"/>
              </a:rPr>
              <a:t>I or II is sufficient</a:t>
            </a:r>
          </a:p>
          <a:p>
            <a:r>
              <a:rPr lang="en-US" b="1" dirty="0">
                <a:solidFill>
                  <a:srgbClr val="FF0000"/>
                </a:solidFill>
                <a:latin typeface="Times New Roman" pitchFamily="18" charset="0"/>
                <a:cs typeface="Times New Roman" pitchFamily="18" charset="0"/>
              </a:rPr>
              <a:t>B</a:t>
            </a:r>
            <a:r>
              <a:rPr lang="en-US" b="1" dirty="0" smtClean="0">
                <a:solidFill>
                  <a:srgbClr val="FF0000"/>
                </a:solidFill>
                <a:latin typeface="Times New Roman" pitchFamily="18" charset="0"/>
                <a:cs typeface="Times New Roman" pitchFamily="18" charset="0"/>
              </a:rPr>
              <a:t>.	Neither </a:t>
            </a:r>
            <a:r>
              <a:rPr lang="en-US" b="1" dirty="0">
                <a:solidFill>
                  <a:srgbClr val="FF0000"/>
                </a:solidFill>
                <a:latin typeface="Times New Roman" pitchFamily="18" charset="0"/>
                <a:cs typeface="Times New Roman" pitchFamily="18" charset="0"/>
              </a:rPr>
              <a:t>I nor II is sufficient</a:t>
            </a:r>
          </a:p>
          <a:p>
            <a:r>
              <a:rPr lang="en-US" b="1" dirty="0" smtClean="0">
                <a:solidFill>
                  <a:srgbClr val="FF0000"/>
                </a:solidFill>
                <a:latin typeface="Times New Roman" pitchFamily="18" charset="0"/>
                <a:cs typeface="Times New Roman" pitchFamily="18" charset="0"/>
              </a:rPr>
              <a:t>C.	Both </a:t>
            </a:r>
            <a:r>
              <a:rPr lang="en-US" b="1" dirty="0">
                <a:solidFill>
                  <a:srgbClr val="FF0000"/>
                </a:solidFill>
                <a:latin typeface="Times New Roman" pitchFamily="18" charset="0"/>
                <a:cs typeface="Times New Roman" pitchFamily="18" charset="0"/>
              </a:rPr>
              <a:t>I and II are </a:t>
            </a:r>
            <a:r>
              <a:rPr lang="en-US" b="1" dirty="0" smtClean="0">
                <a:solidFill>
                  <a:srgbClr val="FF0000"/>
                </a:solidFill>
                <a:latin typeface="Times New Roman" pitchFamily="18" charset="0"/>
                <a:cs typeface="Times New Roman" pitchFamily="18" charset="0"/>
              </a:rPr>
              <a:t>sufficient</a:t>
            </a:r>
          </a:p>
          <a:p>
            <a:r>
              <a:rPr lang="en-US" b="1" dirty="0" smtClean="0">
                <a:solidFill>
                  <a:srgbClr val="FF0000"/>
                </a:solidFill>
                <a:latin typeface="Times New Roman" pitchFamily="18" charset="0"/>
                <a:cs typeface="Times New Roman" pitchFamily="18" charset="0"/>
              </a:rPr>
              <a:t>D.</a:t>
            </a:r>
            <a:r>
              <a:rPr lang="en-US" b="1" dirty="0">
                <a:solidFill>
                  <a:srgbClr val="FF0000"/>
                </a:solidFill>
                <a:latin typeface="Times New Roman" pitchFamily="18" charset="0"/>
                <a:cs typeface="Times New Roman" pitchFamily="18" charset="0"/>
              </a:rPr>
              <a:t>	I alone is sufficient while II alone is not </a:t>
            </a:r>
            <a:r>
              <a:rPr lang="en-US" b="1" dirty="0" smtClean="0">
                <a:solidFill>
                  <a:srgbClr val="FF0000"/>
                </a:solidFill>
                <a:latin typeface="Times New Roman" pitchFamily="18" charset="0"/>
                <a:cs typeface="Times New Roman" pitchFamily="18" charset="0"/>
              </a:rPr>
              <a:t>sufficient</a:t>
            </a:r>
            <a:endParaRPr lang="en-US" b="1" dirty="0">
              <a:solidFill>
                <a:srgbClr val="FF0000"/>
              </a:solidFill>
              <a:latin typeface="Times New Roman" pitchFamily="18" charset="0"/>
              <a:cs typeface="Times New Roman" pitchFamily="18" charset="0"/>
            </a:endParaRPr>
          </a:p>
        </p:txBody>
      </p:sp>
      <p:sp>
        <p:nvSpPr>
          <p:cNvPr id="10" name="Rectangle 9"/>
          <p:cNvSpPr/>
          <p:nvPr/>
        </p:nvSpPr>
        <p:spPr>
          <a:xfrm>
            <a:off x="381000" y="3229569"/>
            <a:ext cx="8077200" cy="646331"/>
          </a:xfrm>
          <a:prstGeom prst="rect">
            <a:avLst/>
          </a:prstGeom>
        </p:spPr>
        <p:txBody>
          <a:bodyPr wrap="square">
            <a:spAutoFit/>
          </a:bodyPr>
          <a:lstStyle/>
          <a:p>
            <a:r>
              <a:rPr lang="en-US" b="1" dirty="0" smtClean="0">
                <a:latin typeface="Times New Roman" pitchFamily="18" charset="0"/>
                <a:cs typeface="Times New Roman" pitchFamily="18" charset="0"/>
              </a:rPr>
              <a:t>Statement I: From the given information we have N higher than O by 2800 - 1600 i.e. 1200 m. Therefore, statement I alone is sufficient.</a:t>
            </a:r>
            <a:endParaRPr lang="en-US" b="1" dirty="0">
              <a:latin typeface="Times New Roman" pitchFamily="18" charset="0"/>
              <a:cs typeface="Times New Roman" pitchFamily="18" charset="0"/>
            </a:endParaRPr>
          </a:p>
        </p:txBody>
      </p:sp>
      <p:sp>
        <p:nvSpPr>
          <p:cNvPr id="11" name="Rectangle 10"/>
          <p:cNvSpPr/>
          <p:nvPr/>
        </p:nvSpPr>
        <p:spPr>
          <a:xfrm>
            <a:off x="406400" y="3867486"/>
            <a:ext cx="7759700" cy="646331"/>
          </a:xfrm>
          <a:prstGeom prst="rect">
            <a:avLst/>
          </a:prstGeom>
        </p:spPr>
        <p:txBody>
          <a:bodyPr wrap="square">
            <a:spAutoFit/>
          </a:bodyPr>
          <a:lstStyle/>
          <a:p>
            <a:r>
              <a:rPr lang="en-US" b="1" dirty="0">
                <a:latin typeface="Times New Roman" pitchFamily="18" charset="0"/>
                <a:cs typeface="Times New Roman" pitchFamily="18" charset="0"/>
              </a:rPr>
              <a:t>Statement II: From the given information N is higher than O by 1200 m. Therefore, statement II alone is sufficient. </a:t>
            </a:r>
          </a:p>
        </p:txBody>
      </p:sp>
      <p:sp>
        <p:nvSpPr>
          <p:cNvPr id="12" name="Rectangle 11"/>
          <p:cNvSpPr/>
          <p:nvPr/>
        </p:nvSpPr>
        <p:spPr>
          <a:xfrm>
            <a:off x="2601310" y="4513817"/>
            <a:ext cx="2097690" cy="369332"/>
          </a:xfrm>
          <a:prstGeom prst="rect">
            <a:avLst/>
          </a:prstGeom>
        </p:spPr>
        <p:txBody>
          <a:bodyPr wrap="none">
            <a:spAutoFit/>
          </a:bodyPr>
          <a:lstStyle/>
          <a:p>
            <a:r>
              <a:rPr lang="en-US" b="1" dirty="0">
                <a:latin typeface="Times New Roman" pitchFamily="18" charset="0"/>
                <a:cs typeface="Times New Roman" pitchFamily="18" charset="0"/>
              </a:rPr>
              <a:t>Hence answer is (a)</a:t>
            </a:r>
          </a:p>
        </p:txBody>
      </p:sp>
    </p:spTree>
    <p:extLst>
      <p:ext uri="{BB962C8B-B14F-4D97-AF65-F5344CB8AC3E}">
        <p14:creationId xmlns:p14="http://schemas.microsoft.com/office/powerpoint/2010/main" val="327193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152400" y="455921"/>
            <a:ext cx="8839200" cy="2862322"/>
          </a:xfrm>
          <a:prstGeom prst="rect">
            <a:avLst/>
          </a:prstGeom>
        </p:spPr>
        <p:txBody>
          <a:bodyPr wrap="square">
            <a:spAutoFit/>
          </a:bodyPr>
          <a:lstStyle/>
          <a:p>
            <a:pPr fontAlgn="t"/>
            <a:r>
              <a:rPr lang="en-US" sz="2000" b="1" dirty="0">
                <a:solidFill>
                  <a:srgbClr val="FF0000"/>
                </a:solidFill>
                <a:latin typeface="Times New Roman" pitchFamily="18" charset="0"/>
                <a:cs typeface="Times New Roman" pitchFamily="18" charset="0"/>
              </a:rPr>
              <a:t>Question: How much was the total sale of the company ?</a:t>
            </a:r>
          </a:p>
          <a:p>
            <a:pPr fontAlgn="t"/>
            <a:r>
              <a:rPr lang="en-US" sz="2000" b="1" dirty="0">
                <a:solidFill>
                  <a:srgbClr val="FF0000"/>
                </a:solidFill>
                <a:latin typeface="Times New Roman" pitchFamily="18" charset="0"/>
                <a:cs typeface="Times New Roman" pitchFamily="18" charset="0"/>
              </a:rPr>
              <a:t>Statements:</a:t>
            </a:r>
          </a:p>
          <a:p>
            <a:pPr marL="400050" indent="-400050" fontAlgn="t">
              <a:buFont typeface="+mj-lt"/>
              <a:buAutoNum type="romanUcPeriod"/>
            </a:pPr>
            <a:r>
              <a:rPr lang="en-US" sz="2000" b="1" dirty="0">
                <a:solidFill>
                  <a:srgbClr val="FF0000"/>
                </a:solidFill>
                <a:latin typeface="Times New Roman" pitchFamily="18" charset="0"/>
                <a:cs typeface="Times New Roman" pitchFamily="18" charset="0"/>
              </a:rPr>
              <a:t>The company sold 8000 units of product A each costing </a:t>
            </a:r>
            <a:r>
              <a:rPr lang="en-US" sz="2000" b="1" dirty="0" err="1">
                <a:solidFill>
                  <a:srgbClr val="FF0000"/>
                </a:solidFill>
                <a:latin typeface="Times New Roman" pitchFamily="18" charset="0"/>
                <a:cs typeface="Times New Roman" pitchFamily="18" charset="0"/>
              </a:rPr>
              <a:t>Rs</a:t>
            </a:r>
            <a:r>
              <a:rPr lang="en-US" sz="2000" b="1" dirty="0">
                <a:solidFill>
                  <a:srgbClr val="FF0000"/>
                </a:solidFill>
                <a:latin typeface="Times New Roman" pitchFamily="18" charset="0"/>
                <a:cs typeface="Times New Roman" pitchFamily="18" charset="0"/>
              </a:rPr>
              <a:t>. 25.</a:t>
            </a:r>
          </a:p>
          <a:p>
            <a:pPr marL="400050" indent="-400050" fontAlgn="t">
              <a:buFont typeface="+mj-lt"/>
              <a:buAutoNum type="romanUcPeriod"/>
            </a:pPr>
            <a:r>
              <a:rPr lang="en-US" sz="2000" b="1" dirty="0">
                <a:solidFill>
                  <a:srgbClr val="FF0000"/>
                </a:solidFill>
                <a:latin typeface="Times New Roman" pitchFamily="18" charset="0"/>
                <a:cs typeface="Times New Roman" pitchFamily="18" charset="0"/>
              </a:rPr>
              <a:t>This company has no other product line.</a:t>
            </a:r>
          </a:p>
          <a:p>
            <a:r>
              <a:rPr lang="en-US" sz="2000" b="1" dirty="0" smtClean="0">
                <a:solidFill>
                  <a:srgbClr val="FF0000"/>
                </a:solidFill>
                <a:latin typeface="Times New Roman" pitchFamily="18" charset="0"/>
                <a:cs typeface="Times New Roman" pitchFamily="18" charset="0"/>
              </a:rPr>
              <a:t>A. I </a:t>
            </a:r>
            <a:r>
              <a:rPr lang="en-US" sz="2000" b="1" dirty="0">
                <a:solidFill>
                  <a:srgbClr val="FF0000"/>
                </a:solidFill>
                <a:latin typeface="Times New Roman" pitchFamily="18" charset="0"/>
                <a:cs typeface="Times New Roman" pitchFamily="18" charset="0"/>
              </a:rPr>
              <a:t>alone is sufficient while II alone is not sufficient</a:t>
            </a:r>
          </a:p>
          <a:p>
            <a:r>
              <a:rPr lang="en-US" sz="2000" b="1" dirty="0" smtClean="0">
                <a:solidFill>
                  <a:srgbClr val="FF0000"/>
                </a:solidFill>
                <a:latin typeface="Times New Roman" pitchFamily="18" charset="0"/>
                <a:cs typeface="Times New Roman" pitchFamily="18" charset="0"/>
              </a:rPr>
              <a:t>B. II </a:t>
            </a:r>
            <a:r>
              <a:rPr lang="en-US" sz="2000" b="1" dirty="0">
                <a:solidFill>
                  <a:srgbClr val="FF0000"/>
                </a:solidFill>
                <a:latin typeface="Times New Roman" pitchFamily="18" charset="0"/>
                <a:cs typeface="Times New Roman" pitchFamily="18" charset="0"/>
              </a:rPr>
              <a:t>alone is sufficient while I alone is not sufficient</a:t>
            </a:r>
          </a:p>
          <a:p>
            <a:r>
              <a:rPr lang="en-US" sz="2000" b="1" dirty="0" smtClean="0">
                <a:solidFill>
                  <a:srgbClr val="FF0000"/>
                </a:solidFill>
                <a:latin typeface="Times New Roman" pitchFamily="18" charset="0"/>
                <a:cs typeface="Times New Roman" pitchFamily="18" charset="0"/>
              </a:rPr>
              <a:t>C. Either </a:t>
            </a:r>
            <a:r>
              <a:rPr lang="en-US" sz="2000" b="1" dirty="0">
                <a:solidFill>
                  <a:srgbClr val="FF0000"/>
                </a:solidFill>
                <a:latin typeface="Times New Roman" pitchFamily="18" charset="0"/>
                <a:cs typeface="Times New Roman" pitchFamily="18" charset="0"/>
              </a:rPr>
              <a:t>I or II is sufficient</a:t>
            </a:r>
          </a:p>
          <a:p>
            <a:r>
              <a:rPr lang="en-US" sz="2000" b="1" dirty="0" smtClean="0">
                <a:solidFill>
                  <a:srgbClr val="FF0000"/>
                </a:solidFill>
                <a:latin typeface="Times New Roman" pitchFamily="18" charset="0"/>
                <a:cs typeface="Times New Roman" pitchFamily="18" charset="0"/>
              </a:rPr>
              <a:t>D. Neither </a:t>
            </a:r>
            <a:r>
              <a:rPr lang="en-US" sz="2000" b="1" dirty="0">
                <a:solidFill>
                  <a:srgbClr val="FF0000"/>
                </a:solidFill>
                <a:latin typeface="Times New Roman" pitchFamily="18" charset="0"/>
                <a:cs typeface="Times New Roman" pitchFamily="18" charset="0"/>
              </a:rPr>
              <a:t>I nor II is sufficient</a:t>
            </a:r>
          </a:p>
          <a:p>
            <a:r>
              <a:rPr lang="en-US" sz="2000" b="1" dirty="0" smtClean="0">
                <a:solidFill>
                  <a:srgbClr val="FF0000"/>
                </a:solidFill>
                <a:latin typeface="Times New Roman" pitchFamily="18" charset="0"/>
                <a:cs typeface="Times New Roman" pitchFamily="18" charset="0"/>
              </a:rPr>
              <a:t>E. Both </a:t>
            </a:r>
            <a:r>
              <a:rPr lang="en-US" sz="2000" b="1" dirty="0">
                <a:solidFill>
                  <a:srgbClr val="FF0000"/>
                </a:solidFill>
                <a:latin typeface="Times New Roman" pitchFamily="18" charset="0"/>
                <a:cs typeface="Times New Roman" pitchFamily="18" charset="0"/>
              </a:rPr>
              <a:t>I and II are sufficient</a:t>
            </a:r>
          </a:p>
        </p:txBody>
      </p:sp>
      <p:sp>
        <p:nvSpPr>
          <p:cNvPr id="3" name="Rectangle 2"/>
          <p:cNvSpPr/>
          <p:nvPr/>
        </p:nvSpPr>
        <p:spPr>
          <a:xfrm>
            <a:off x="304800" y="3118188"/>
            <a:ext cx="7924800" cy="400110"/>
          </a:xfrm>
          <a:prstGeom prst="rect">
            <a:avLst/>
          </a:prstGeom>
        </p:spPr>
        <p:txBody>
          <a:bodyPr wrap="square">
            <a:spAutoFit/>
          </a:bodyPr>
          <a:lstStyle/>
          <a:p>
            <a:r>
              <a:rPr lang="en-US" sz="2000" b="1" dirty="0">
                <a:latin typeface="Times New Roman" pitchFamily="18" charset="0"/>
                <a:cs typeface="Times New Roman" pitchFamily="18" charset="0"/>
              </a:rPr>
              <a:t>From I, total sale of product A = </a:t>
            </a:r>
            <a:r>
              <a:rPr lang="en-US" sz="2000" b="1" dirty="0" err="1">
                <a:latin typeface="Times New Roman" pitchFamily="18" charset="0"/>
                <a:cs typeface="Times New Roman" pitchFamily="18" charset="0"/>
              </a:rPr>
              <a:t>Rs</a:t>
            </a:r>
            <a:r>
              <a:rPr lang="en-US" sz="2000" b="1" dirty="0">
                <a:latin typeface="Times New Roman" pitchFamily="18" charset="0"/>
                <a:cs typeface="Times New Roman" pitchFamily="18" charset="0"/>
              </a:rPr>
              <a:t>. (8000 x 25) = </a:t>
            </a:r>
            <a:r>
              <a:rPr lang="en-US" sz="2000" b="1" dirty="0" err="1">
                <a:latin typeface="Times New Roman" pitchFamily="18" charset="0"/>
                <a:cs typeface="Times New Roman" pitchFamily="18" charset="0"/>
              </a:rPr>
              <a:t>Rs</a:t>
            </a:r>
            <a:r>
              <a:rPr lang="en-US" sz="2000" b="1" dirty="0">
                <a:latin typeface="Times New Roman" pitchFamily="18" charset="0"/>
                <a:cs typeface="Times New Roman" pitchFamily="18" charset="0"/>
              </a:rPr>
              <a:t>. 200000</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7" name="Rectangle 6"/>
          <p:cNvSpPr/>
          <p:nvPr/>
        </p:nvSpPr>
        <p:spPr>
          <a:xfrm>
            <a:off x="304800" y="3491806"/>
            <a:ext cx="8229600" cy="400110"/>
          </a:xfrm>
          <a:prstGeom prst="rect">
            <a:avLst/>
          </a:prstGeom>
        </p:spPr>
        <p:txBody>
          <a:bodyPr wrap="square">
            <a:spAutoFit/>
          </a:bodyPr>
          <a:lstStyle/>
          <a:p>
            <a:r>
              <a:rPr lang="en-US" sz="2000" b="1" dirty="0">
                <a:latin typeface="Times New Roman" pitchFamily="18" charset="0"/>
                <a:cs typeface="Times New Roman" pitchFamily="18" charset="0"/>
              </a:rPr>
              <a:t>From II, we know that the company deals only in product A</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8" name="Rectangle 7"/>
          <p:cNvSpPr/>
          <p:nvPr/>
        </p:nvSpPr>
        <p:spPr>
          <a:xfrm>
            <a:off x="304800" y="3861138"/>
            <a:ext cx="7696200" cy="707886"/>
          </a:xfrm>
          <a:prstGeom prst="rect">
            <a:avLst/>
          </a:prstGeom>
        </p:spPr>
        <p:txBody>
          <a:bodyPr wrap="square">
            <a:spAutoFit/>
          </a:bodyPr>
          <a:lstStyle/>
          <a:p>
            <a:r>
              <a:rPr lang="en-US" sz="2000" b="1" dirty="0">
                <a:latin typeface="Times New Roman" pitchFamily="18" charset="0"/>
                <a:cs typeface="Times New Roman" pitchFamily="18" charset="0"/>
              </a:rPr>
              <a:t>This implies that sale of product A is the total sale of the company, which is </a:t>
            </a:r>
            <a:r>
              <a:rPr lang="en-US" sz="2000" b="1" dirty="0" err="1">
                <a:latin typeface="Times New Roman" pitchFamily="18" charset="0"/>
                <a:cs typeface="Times New Roman" pitchFamily="18" charset="0"/>
              </a:rPr>
              <a:t>Rs</a:t>
            </a:r>
            <a:r>
              <a:rPr lang="en-US" sz="2000" b="1" dirty="0">
                <a:latin typeface="Times New Roman" pitchFamily="18" charset="0"/>
                <a:cs typeface="Times New Roman" pitchFamily="18" charset="0"/>
              </a:rPr>
              <a:t>. 200000.</a:t>
            </a:r>
          </a:p>
        </p:txBody>
      </p:sp>
      <p:sp>
        <p:nvSpPr>
          <p:cNvPr id="13" name="Rectangle 12"/>
          <p:cNvSpPr/>
          <p:nvPr/>
        </p:nvSpPr>
        <p:spPr>
          <a:xfrm>
            <a:off x="304800" y="4544538"/>
            <a:ext cx="5791200" cy="400110"/>
          </a:xfrm>
          <a:prstGeom prst="rect">
            <a:avLst/>
          </a:prstGeom>
        </p:spPr>
        <p:txBody>
          <a:bodyPr wrap="square">
            <a:spAutoFit/>
          </a:bodyPr>
          <a:lstStyle/>
          <a:p>
            <a:r>
              <a:rPr lang="en-US" sz="2000" b="1" dirty="0" smtClean="0">
                <a:latin typeface="Times New Roman" pitchFamily="18" charset="0"/>
                <a:cs typeface="Times New Roman" pitchFamily="18" charset="0"/>
              </a:rPr>
              <a:t>Hence both are sufficient to answer the questions.</a:t>
            </a:r>
            <a:endParaRPr lang="en-US" sz="2000" b="1" dirty="0">
              <a:latin typeface="Times New Roman" pitchFamily="18" charset="0"/>
              <a:cs typeface="Times New Roman" pitchFamily="18" charset="0"/>
            </a:endParaRPr>
          </a:p>
        </p:txBody>
      </p:sp>
      <p:sp>
        <p:nvSpPr>
          <p:cNvPr id="14" name="Rectangle 13"/>
          <p:cNvSpPr/>
          <p:nvPr/>
        </p:nvSpPr>
        <p:spPr>
          <a:xfrm>
            <a:off x="6388100" y="4359872"/>
            <a:ext cx="1130300" cy="400110"/>
          </a:xfrm>
          <a:prstGeom prst="rect">
            <a:avLst/>
          </a:prstGeom>
        </p:spPr>
        <p:txBody>
          <a:bodyPr wrap="square">
            <a:spAutoFit/>
          </a:bodyPr>
          <a:lstStyle/>
          <a:p>
            <a:r>
              <a:rPr lang="en-US" sz="2000" b="1" dirty="0" smtClean="0">
                <a:latin typeface="Times New Roman" pitchFamily="18" charset="0"/>
                <a:cs typeface="Times New Roman" pitchFamily="18" charset="0"/>
              </a:rPr>
              <a:t>Ans E</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2009170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6" name="Rectangle 5"/>
          <p:cNvSpPr/>
          <p:nvPr/>
        </p:nvSpPr>
        <p:spPr>
          <a:xfrm>
            <a:off x="152400" y="438150"/>
            <a:ext cx="8661400" cy="2585323"/>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Identify which statement is sufficient to answer the given question.</a:t>
            </a:r>
          </a:p>
          <a:p>
            <a:r>
              <a:rPr lang="en-US" b="1" dirty="0">
                <a:solidFill>
                  <a:srgbClr val="FF0000"/>
                </a:solidFill>
                <a:latin typeface="Times New Roman" pitchFamily="18" charset="0"/>
                <a:cs typeface="Times New Roman" pitchFamily="18" charset="0"/>
              </a:rPr>
              <a:t>Is P - 5 even? </a:t>
            </a:r>
            <a:r>
              <a:rPr lang="en-US" b="1" dirty="0" smtClean="0">
                <a:solidFill>
                  <a:srgbClr val="FF0000"/>
                </a:solidFill>
                <a:latin typeface="Times New Roman" pitchFamily="18" charset="0"/>
                <a:cs typeface="Times New Roman" pitchFamily="18" charset="0"/>
              </a:rPr>
              <a:t> P </a:t>
            </a:r>
            <a:r>
              <a:rPr lang="en-US" b="1" dirty="0">
                <a:solidFill>
                  <a:srgbClr val="FF0000"/>
                </a:solidFill>
                <a:latin typeface="Times New Roman" pitchFamily="18" charset="0"/>
                <a:cs typeface="Times New Roman" pitchFamily="18" charset="0"/>
              </a:rPr>
              <a:t>is real number.</a:t>
            </a:r>
          </a:p>
          <a:p>
            <a:r>
              <a:rPr lang="en-US" b="1" dirty="0">
                <a:solidFill>
                  <a:srgbClr val="FF0000"/>
                </a:solidFill>
                <a:latin typeface="Times New Roman" pitchFamily="18" charset="0"/>
                <a:cs typeface="Times New Roman" pitchFamily="18" charset="0"/>
              </a:rPr>
              <a:t>i. P - 15 is an integer.</a:t>
            </a:r>
          </a:p>
          <a:p>
            <a:r>
              <a:rPr lang="en-US" b="1" dirty="0">
                <a:solidFill>
                  <a:srgbClr val="FF0000"/>
                </a:solidFill>
                <a:latin typeface="Times New Roman" pitchFamily="18" charset="0"/>
                <a:cs typeface="Times New Roman" pitchFamily="18" charset="0"/>
              </a:rPr>
              <a:t>ii. P - 10 is an odd integer.</a:t>
            </a:r>
          </a:p>
          <a:p>
            <a:r>
              <a:rPr lang="en-US" b="1" dirty="0" smtClean="0">
                <a:solidFill>
                  <a:srgbClr val="FF0000"/>
                </a:solidFill>
                <a:latin typeface="Times New Roman" pitchFamily="18" charset="0"/>
                <a:cs typeface="Times New Roman" pitchFamily="18" charset="0"/>
              </a:rPr>
              <a:t>A. 	If </a:t>
            </a:r>
            <a:r>
              <a:rPr lang="en-US" b="1" dirty="0">
                <a:solidFill>
                  <a:srgbClr val="FF0000"/>
                </a:solidFill>
                <a:latin typeface="Times New Roman" pitchFamily="18" charset="0"/>
                <a:cs typeface="Times New Roman" pitchFamily="18" charset="0"/>
              </a:rPr>
              <a:t>statement i alone is sufficient but statement ii alone is not sufficient.</a:t>
            </a:r>
          </a:p>
          <a:p>
            <a:r>
              <a:rPr lang="en-US" b="1" dirty="0" smtClean="0">
                <a:solidFill>
                  <a:srgbClr val="FF0000"/>
                </a:solidFill>
                <a:latin typeface="Times New Roman" pitchFamily="18" charset="0"/>
                <a:cs typeface="Times New Roman" pitchFamily="18" charset="0"/>
              </a:rPr>
              <a:t>B. 	If </a:t>
            </a:r>
            <a:r>
              <a:rPr lang="en-US" b="1" dirty="0">
                <a:solidFill>
                  <a:srgbClr val="FF0000"/>
                </a:solidFill>
                <a:latin typeface="Times New Roman" pitchFamily="18" charset="0"/>
                <a:cs typeface="Times New Roman" pitchFamily="18" charset="0"/>
              </a:rPr>
              <a:t>statement ii alone is sufficient but statement i alone is not sufficient.</a:t>
            </a:r>
          </a:p>
          <a:p>
            <a:r>
              <a:rPr lang="en-US" b="1" dirty="0" smtClean="0">
                <a:solidFill>
                  <a:srgbClr val="FF0000"/>
                </a:solidFill>
                <a:latin typeface="Times New Roman" pitchFamily="18" charset="0"/>
                <a:cs typeface="Times New Roman" pitchFamily="18" charset="0"/>
              </a:rPr>
              <a:t>C.	If </a:t>
            </a:r>
            <a:r>
              <a:rPr lang="en-US" b="1" dirty="0">
                <a:solidFill>
                  <a:srgbClr val="FF0000"/>
                </a:solidFill>
                <a:latin typeface="Times New Roman" pitchFamily="18" charset="0"/>
                <a:cs typeface="Times New Roman" pitchFamily="18" charset="0"/>
              </a:rPr>
              <a:t>both statements i and ii together are sufficient but neither of statements </a:t>
            </a:r>
            <a:r>
              <a:rPr lang="en-US" b="1" dirty="0" smtClean="0">
                <a:solidFill>
                  <a:srgbClr val="FF0000"/>
                </a:solidFill>
                <a:latin typeface="Times New Roman" pitchFamily="18" charset="0"/>
                <a:cs typeface="Times New Roman" pitchFamily="18" charset="0"/>
              </a:rPr>
              <a:t>	alone </a:t>
            </a:r>
            <a:r>
              <a:rPr lang="en-US" b="1" dirty="0">
                <a:solidFill>
                  <a:srgbClr val="FF0000"/>
                </a:solidFill>
                <a:latin typeface="Times New Roman" pitchFamily="18" charset="0"/>
                <a:cs typeface="Times New Roman" pitchFamily="18" charset="0"/>
              </a:rPr>
              <a:t>is sufficient.</a:t>
            </a:r>
          </a:p>
          <a:p>
            <a:r>
              <a:rPr lang="en-US" b="1" dirty="0" smtClean="0">
                <a:solidFill>
                  <a:srgbClr val="FF0000"/>
                </a:solidFill>
                <a:latin typeface="Times New Roman" pitchFamily="18" charset="0"/>
                <a:cs typeface="Times New Roman" pitchFamily="18" charset="0"/>
              </a:rPr>
              <a:t>D.	If </a:t>
            </a:r>
            <a:r>
              <a:rPr lang="en-US" b="1" dirty="0">
                <a:solidFill>
                  <a:srgbClr val="FF0000"/>
                </a:solidFill>
                <a:latin typeface="Times New Roman" pitchFamily="18" charset="0"/>
                <a:cs typeface="Times New Roman" pitchFamily="18" charset="0"/>
              </a:rPr>
              <a:t>each statement alone is sufficient.</a:t>
            </a:r>
          </a:p>
        </p:txBody>
      </p:sp>
      <p:sp>
        <p:nvSpPr>
          <p:cNvPr id="9" name="Rectangle 8"/>
          <p:cNvSpPr/>
          <p:nvPr/>
        </p:nvSpPr>
        <p:spPr>
          <a:xfrm>
            <a:off x="381000" y="3049746"/>
            <a:ext cx="5676900" cy="646331"/>
          </a:xfrm>
          <a:prstGeom prst="rect">
            <a:avLst/>
          </a:prstGeom>
        </p:spPr>
        <p:txBody>
          <a:bodyPr wrap="square">
            <a:spAutoFit/>
          </a:bodyPr>
          <a:lstStyle/>
          <a:p>
            <a:r>
              <a:rPr lang="en-US" b="1" dirty="0">
                <a:latin typeface="Times New Roman" pitchFamily="18" charset="0"/>
                <a:cs typeface="Times New Roman" pitchFamily="18" charset="0"/>
              </a:rPr>
              <a:t>Statement I: Since P - 15 is an integer, P is an integer. Therefore statement I alone is not sufficient</a:t>
            </a:r>
            <a:r>
              <a:rPr lang="en-US" b="1" dirty="0" smtClean="0">
                <a:latin typeface="Times New Roman" pitchFamily="18" charset="0"/>
                <a:cs typeface="Times New Roman" pitchFamily="18" charset="0"/>
              </a:rPr>
              <a:t>.</a:t>
            </a:r>
            <a:r>
              <a:rPr lang="en-US" b="1" dirty="0">
                <a:latin typeface="Times New Roman" pitchFamily="18" charset="0"/>
                <a:cs typeface="Times New Roman" pitchFamily="18" charset="0"/>
              </a:rPr>
              <a:t> </a:t>
            </a:r>
          </a:p>
        </p:txBody>
      </p:sp>
      <p:sp>
        <p:nvSpPr>
          <p:cNvPr id="10" name="Rectangle 9"/>
          <p:cNvSpPr/>
          <p:nvPr/>
        </p:nvSpPr>
        <p:spPr>
          <a:xfrm>
            <a:off x="165100" y="3669804"/>
            <a:ext cx="6858000" cy="646331"/>
          </a:xfrm>
          <a:prstGeom prst="rect">
            <a:avLst/>
          </a:prstGeom>
        </p:spPr>
        <p:txBody>
          <a:bodyPr wrap="square">
            <a:spAutoFit/>
          </a:bodyPr>
          <a:lstStyle/>
          <a:p>
            <a:r>
              <a:rPr lang="en-US" b="1" dirty="0">
                <a:latin typeface="Times New Roman" pitchFamily="18" charset="0"/>
                <a:cs typeface="Times New Roman" pitchFamily="18" charset="0"/>
              </a:rPr>
              <a:t>Statement II: P - 10 is an odd integer. Therefore P is an odd integer. So P - 5 is an even number. </a:t>
            </a:r>
          </a:p>
        </p:txBody>
      </p:sp>
      <p:sp>
        <p:nvSpPr>
          <p:cNvPr id="11" name="Rectangle 10"/>
          <p:cNvSpPr/>
          <p:nvPr/>
        </p:nvSpPr>
        <p:spPr>
          <a:xfrm>
            <a:off x="1873250" y="4309785"/>
            <a:ext cx="4474850" cy="369332"/>
          </a:xfrm>
          <a:prstGeom prst="rect">
            <a:avLst/>
          </a:prstGeom>
        </p:spPr>
        <p:txBody>
          <a:bodyPr wrap="square">
            <a:spAutoFit/>
          </a:bodyPr>
          <a:lstStyle/>
          <a:p>
            <a:r>
              <a:rPr lang="en-US" b="1" dirty="0">
                <a:latin typeface="Times New Roman" pitchFamily="18" charset="0"/>
                <a:cs typeface="Times New Roman" pitchFamily="18" charset="0"/>
              </a:rPr>
              <a:t>Therefore statement II alone is sufficient.</a:t>
            </a:r>
          </a:p>
        </p:txBody>
      </p:sp>
      <p:sp>
        <p:nvSpPr>
          <p:cNvPr id="15" name="Rectangle 14"/>
          <p:cNvSpPr/>
          <p:nvPr/>
        </p:nvSpPr>
        <p:spPr>
          <a:xfrm>
            <a:off x="7023100" y="4309785"/>
            <a:ext cx="1143000" cy="369332"/>
          </a:xfrm>
          <a:prstGeom prst="rect">
            <a:avLst/>
          </a:prstGeom>
        </p:spPr>
        <p:txBody>
          <a:bodyPr wrap="square">
            <a:spAutoFit/>
          </a:bodyPr>
          <a:lstStyle/>
          <a:p>
            <a:r>
              <a:rPr lang="en-US" b="1" dirty="0" smtClean="0">
                <a:latin typeface="Times New Roman" pitchFamily="18" charset="0"/>
                <a:cs typeface="Times New Roman" pitchFamily="18" charset="0"/>
              </a:rPr>
              <a:t>Ans B</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52282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304800" y="556905"/>
            <a:ext cx="8509000" cy="2308324"/>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What is the total cost of tiles needed for a room 9 feet by 12 feet?</a:t>
            </a:r>
          </a:p>
          <a:p>
            <a:r>
              <a:rPr lang="en-US" b="1" dirty="0">
                <a:solidFill>
                  <a:srgbClr val="FF0000"/>
                </a:solidFill>
                <a:latin typeface="Times New Roman" pitchFamily="18" charset="0"/>
                <a:cs typeface="Times New Roman" pitchFamily="18" charset="0"/>
              </a:rPr>
              <a:t> I Tiles are 6" square each.</a:t>
            </a:r>
          </a:p>
          <a:p>
            <a:r>
              <a:rPr lang="en-US" b="1" dirty="0">
                <a:solidFill>
                  <a:srgbClr val="FF0000"/>
                </a:solidFill>
                <a:latin typeface="Times New Roman" pitchFamily="18" charset="0"/>
                <a:cs typeface="Times New Roman" pitchFamily="18" charset="0"/>
              </a:rPr>
              <a:t> II Tiles cost Rs.10 per Sq. ft.</a:t>
            </a:r>
          </a:p>
          <a:p>
            <a:r>
              <a:rPr lang="en-US" b="1" dirty="0" smtClean="0">
                <a:solidFill>
                  <a:srgbClr val="FF0000"/>
                </a:solidFill>
                <a:latin typeface="Times New Roman" pitchFamily="18" charset="0"/>
                <a:cs typeface="Times New Roman" pitchFamily="18" charset="0"/>
              </a:rPr>
              <a:t>A. 	If </a:t>
            </a:r>
            <a:r>
              <a:rPr lang="en-US" b="1" dirty="0">
                <a:solidFill>
                  <a:srgbClr val="FF0000"/>
                </a:solidFill>
                <a:latin typeface="Times New Roman" pitchFamily="18" charset="0"/>
                <a:cs typeface="Times New Roman" pitchFamily="18" charset="0"/>
              </a:rPr>
              <a:t>statement i alone is sufficient but statement ii alone is not sufficient.</a:t>
            </a:r>
          </a:p>
          <a:p>
            <a:r>
              <a:rPr lang="en-US" b="1" dirty="0" smtClean="0">
                <a:solidFill>
                  <a:srgbClr val="FF0000"/>
                </a:solidFill>
                <a:latin typeface="Times New Roman" pitchFamily="18" charset="0"/>
                <a:cs typeface="Times New Roman" pitchFamily="18" charset="0"/>
              </a:rPr>
              <a:t>B. 	If </a:t>
            </a:r>
            <a:r>
              <a:rPr lang="en-US" b="1" dirty="0">
                <a:solidFill>
                  <a:srgbClr val="FF0000"/>
                </a:solidFill>
                <a:latin typeface="Times New Roman" pitchFamily="18" charset="0"/>
                <a:cs typeface="Times New Roman" pitchFamily="18" charset="0"/>
              </a:rPr>
              <a:t>statement ii alone is sufficient but statement i alone is not sufficient.</a:t>
            </a:r>
          </a:p>
          <a:p>
            <a:r>
              <a:rPr lang="en-US" b="1" dirty="0" smtClean="0">
                <a:solidFill>
                  <a:srgbClr val="FF0000"/>
                </a:solidFill>
                <a:latin typeface="Times New Roman" pitchFamily="18" charset="0"/>
                <a:cs typeface="Times New Roman" pitchFamily="18" charset="0"/>
              </a:rPr>
              <a:t>C.	 If </a:t>
            </a:r>
            <a:r>
              <a:rPr lang="en-US" b="1" dirty="0">
                <a:solidFill>
                  <a:srgbClr val="FF0000"/>
                </a:solidFill>
                <a:latin typeface="Times New Roman" pitchFamily="18" charset="0"/>
                <a:cs typeface="Times New Roman" pitchFamily="18" charset="0"/>
              </a:rPr>
              <a:t>both statements i and ii together are sufficient but neither of statements </a:t>
            </a:r>
            <a:r>
              <a:rPr lang="en-US" b="1" dirty="0" smtClean="0">
                <a:solidFill>
                  <a:srgbClr val="FF0000"/>
                </a:solidFill>
                <a:latin typeface="Times New Roman" pitchFamily="18" charset="0"/>
                <a:cs typeface="Times New Roman" pitchFamily="18" charset="0"/>
              </a:rPr>
              <a:t>	alone </a:t>
            </a:r>
            <a:r>
              <a:rPr lang="en-US" b="1" dirty="0">
                <a:solidFill>
                  <a:srgbClr val="FF0000"/>
                </a:solidFill>
                <a:latin typeface="Times New Roman" pitchFamily="18" charset="0"/>
                <a:cs typeface="Times New Roman" pitchFamily="18" charset="0"/>
              </a:rPr>
              <a:t>is sufficient.</a:t>
            </a:r>
          </a:p>
          <a:p>
            <a:r>
              <a:rPr lang="en-US" b="1" dirty="0" smtClean="0">
                <a:solidFill>
                  <a:srgbClr val="FF0000"/>
                </a:solidFill>
                <a:latin typeface="Times New Roman" pitchFamily="18" charset="0"/>
                <a:cs typeface="Times New Roman" pitchFamily="18" charset="0"/>
              </a:rPr>
              <a:t>D. 	If </a:t>
            </a:r>
            <a:r>
              <a:rPr lang="en-US" b="1" dirty="0">
                <a:solidFill>
                  <a:srgbClr val="FF0000"/>
                </a:solidFill>
                <a:latin typeface="Times New Roman" pitchFamily="18" charset="0"/>
                <a:cs typeface="Times New Roman" pitchFamily="18" charset="0"/>
              </a:rPr>
              <a:t>each statement alone is sufficient.</a:t>
            </a:r>
          </a:p>
        </p:txBody>
      </p:sp>
      <p:sp>
        <p:nvSpPr>
          <p:cNvPr id="3" name="Rectangle 2"/>
          <p:cNvSpPr/>
          <p:nvPr/>
        </p:nvSpPr>
        <p:spPr>
          <a:xfrm>
            <a:off x="558800" y="2947085"/>
            <a:ext cx="7899400" cy="369332"/>
          </a:xfrm>
          <a:prstGeom prst="rect">
            <a:avLst/>
          </a:prstGeom>
        </p:spPr>
        <p:txBody>
          <a:bodyPr wrap="square">
            <a:spAutoFit/>
          </a:bodyPr>
          <a:lstStyle/>
          <a:p>
            <a:r>
              <a:rPr lang="en-US" b="1" dirty="0">
                <a:latin typeface="Times New Roman" pitchFamily="18" charset="0"/>
                <a:cs typeface="Times New Roman" pitchFamily="18" charset="0"/>
              </a:rPr>
              <a:t>Statement I alone is not sufficient as we don’t know the cost of one tile.</a:t>
            </a:r>
          </a:p>
        </p:txBody>
      </p:sp>
      <p:sp>
        <p:nvSpPr>
          <p:cNvPr id="7" name="Rectangle 6"/>
          <p:cNvSpPr/>
          <p:nvPr/>
        </p:nvSpPr>
        <p:spPr>
          <a:xfrm>
            <a:off x="584200" y="3409950"/>
            <a:ext cx="6045200" cy="369332"/>
          </a:xfrm>
          <a:prstGeom prst="rect">
            <a:avLst/>
          </a:prstGeom>
        </p:spPr>
        <p:txBody>
          <a:bodyPr wrap="square">
            <a:spAutoFit/>
          </a:bodyPr>
          <a:lstStyle/>
          <a:p>
            <a:r>
              <a:rPr lang="en-US" b="1" dirty="0">
                <a:latin typeface="Times New Roman" pitchFamily="18" charset="0"/>
                <a:cs typeface="Times New Roman" pitchFamily="18" charset="0"/>
              </a:rPr>
              <a:t>Statement II: Total cost = 9 x 12 x 10 =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1080. </a:t>
            </a:r>
          </a:p>
        </p:txBody>
      </p:sp>
      <p:sp>
        <p:nvSpPr>
          <p:cNvPr id="8" name="Rectangle 7"/>
          <p:cNvSpPr/>
          <p:nvPr/>
        </p:nvSpPr>
        <p:spPr>
          <a:xfrm>
            <a:off x="660400" y="3792667"/>
            <a:ext cx="4572000" cy="646331"/>
          </a:xfrm>
          <a:prstGeom prst="rect">
            <a:avLst/>
          </a:prstGeom>
        </p:spPr>
        <p:txBody>
          <a:bodyPr>
            <a:spAutoFit/>
          </a:bodyPr>
          <a:lstStyle/>
          <a:p>
            <a:r>
              <a:rPr lang="en-US" b="1" dirty="0">
                <a:latin typeface="Times New Roman" pitchFamily="18" charset="0"/>
                <a:cs typeface="Times New Roman" pitchFamily="18" charset="0"/>
              </a:rPr>
              <a:t>Therefore, statement II alone is sufficient. Hence answer is (b).</a:t>
            </a:r>
          </a:p>
        </p:txBody>
      </p:sp>
    </p:spTree>
    <p:extLst>
      <p:ext uri="{BB962C8B-B14F-4D97-AF65-F5344CB8AC3E}">
        <p14:creationId xmlns:p14="http://schemas.microsoft.com/office/powerpoint/2010/main" val="55184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86591"/>
            <a:ext cx="8534400" cy="2585323"/>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Question: What is the code for 'sky' in the code language ?</a:t>
            </a:r>
          </a:p>
          <a:p>
            <a:pPr fontAlgn="t"/>
            <a:r>
              <a:rPr lang="en-US" b="1" dirty="0">
                <a:solidFill>
                  <a:srgbClr val="FF0000"/>
                </a:solidFill>
                <a:latin typeface="Times New Roman" pitchFamily="18" charset="0"/>
                <a:cs typeface="Times New Roman" pitchFamily="18" charset="0"/>
              </a:rPr>
              <a:t>Statements:</a:t>
            </a:r>
          </a:p>
          <a:p>
            <a:pPr marL="400050" indent="-400050" fontAlgn="t">
              <a:buFont typeface="+mj-lt"/>
              <a:buAutoNum type="romanUcPeriod"/>
            </a:pPr>
            <a:r>
              <a:rPr lang="en-US" b="1" dirty="0">
                <a:solidFill>
                  <a:srgbClr val="FF0000"/>
                </a:solidFill>
                <a:latin typeface="Times New Roman" pitchFamily="18" charset="0"/>
                <a:cs typeface="Times New Roman" pitchFamily="18" charset="0"/>
              </a:rPr>
              <a:t>In the code language, 'sky is clear' is written as 'de </a:t>
            </a:r>
            <a:r>
              <a:rPr lang="en-US" b="1" dirty="0" err="1">
                <a:solidFill>
                  <a:srgbClr val="FF0000"/>
                </a:solidFill>
                <a:latin typeface="Times New Roman" pitchFamily="18" charset="0"/>
                <a:cs typeface="Times New Roman" pitchFamily="18" charset="0"/>
              </a:rPr>
              <a:t>ra</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fa</a:t>
            </a:r>
            <a:r>
              <a:rPr lang="en-US" b="1" dirty="0">
                <a:solidFill>
                  <a:srgbClr val="FF0000"/>
                </a:solidFill>
                <a:latin typeface="Times New Roman" pitchFamily="18" charset="0"/>
                <a:cs typeface="Times New Roman" pitchFamily="18" charset="0"/>
              </a:rPr>
              <a:t>'.</a:t>
            </a:r>
          </a:p>
          <a:p>
            <a:pPr marL="400050" indent="-400050" fontAlgn="t">
              <a:buFont typeface="+mj-lt"/>
              <a:buAutoNum type="romanUcPeriod"/>
            </a:pPr>
            <a:r>
              <a:rPr lang="en-US" b="1" dirty="0">
                <a:solidFill>
                  <a:srgbClr val="FF0000"/>
                </a:solidFill>
                <a:latin typeface="Times New Roman" pitchFamily="18" charset="0"/>
                <a:cs typeface="Times New Roman" pitchFamily="18" charset="0"/>
              </a:rPr>
              <a:t>In the same code language, 'make it clear' is written as 'de </a:t>
            </a:r>
            <a:r>
              <a:rPr lang="en-US" b="1" dirty="0" err="1">
                <a:solidFill>
                  <a:srgbClr val="FF0000"/>
                </a:solidFill>
                <a:latin typeface="Times New Roman" pitchFamily="18" charset="0"/>
                <a:cs typeface="Times New Roman" pitchFamily="18" charset="0"/>
              </a:rPr>
              <a:t>ga</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jo</a:t>
            </a:r>
            <a:r>
              <a:rPr lang="en-US" b="1" dirty="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A. 	I </a:t>
            </a:r>
            <a:r>
              <a:rPr lang="en-US" b="1" dirty="0">
                <a:solidFill>
                  <a:srgbClr val="FF0000"/>
                </a:solidFill>
                <a:latin typeface="Times New Roman" pitchFamily="18" charset="0"/>
                <a:cs typeface="Times New Roman" pitchFamily="18" charset="0"/>
              </a:rPr>
              <a:t>alone is sufficient while II alone is not sufficient</a:t>
            </a:r>
          </a:p>
          <a:p>
            <a:r>
              <a:rPr lang="en-US" b="1" dirty="0" smtClean="0">
                <a:solidFill>
                  <a:srgbClr val="FF0000"/>
                </a:solidFill>
                <a:latin typeface="Times New Roman" pitchFamily="18" charset="0"/>
                <a:cs typeface="Times New Roman" pitchFamily="18" charset="0"/>
              </a:rPr>
              <a:t>B. 	II </a:t>
            </a:r>
            <a:r>
              <a:rPr lang="en-US" b="1" dirty="0">
                <a:solidFill>
                  <a:srgbClr val="FF0000"/>
                </a:solidFill>
                <a:latin typeface="Times New Roman" pitchFamily="18" charset="0"/>
                <a:cs typeface="Times New Roman" pitchFamily="18" charset="0"/>
              </a:rPr>
              <a:t>alone is sufficient while I alone is not sufficient</a:t>
            </a:r>
          </a:p>
          <a:p>
            <a:r>
              <a:rPr lang="en-US" b="1" dirty="0" smtClean="0">
                <a:solidFill>
                  <a:srgbClr val="FF0000"/>
                </a:solidFill>
                <a:latin typeface="Times New Roman" pitchFamily="18" charset="0"/>
                <a:cs typeface="Times New Roman" pitchFamily="18" charset="0"/>
              </a:rPr>
              <a:t>C.	 Either </a:t>
            </a:r>
            <a:r>
              <a:rPr lang="en-US" b="1" dirty="0">
                <a:solidFill>
                  <a:srgbClr val="FF0000"/>
                </a:solidFill>
                <a:latin typeface="Times New Roman" pitchFamily="18" charset="0"/>
                <a:cs typeface="Times New Roman" pitchFamily="18" charset="0"/>
              </a:rPr>
              <a:t>I or II is sufficient</a:t>
            </a:r>
          </a:p>
          <a:p>
            <a:r>
              <a:rPr lang="en-US" b="1" dirty="0" smtClean="0">
                <a:solidFill>
                  <a:srgbClr val="FF0000"/>
                </a:solidFill>
                <a:latin typeface="Times New Roman" pitchFamily="18" charset="0"/>
                <a:cs typeface="Times New Roman" pitchFamily="18" charset="0"/>
              </a:rPr>
              <a:t>D. 	Neither </a:t>
            </a:r>
            <a:r>
              <a:rPr lang="en-US" b="1" dirty="0">
                <a:solidFill>
                  <a:srgbClr val="FF0000"/>
                </a:solidFill>
                <a:latin typeface="Times New Roman" pitchFamily="18" charset="0"/>
                <a:cs typeface="Times New Roman" pitchFamily="18" charset="0"/>
              </a:rPr>
              <a:t>I nor II is sufficient</a:t>
            </a:r>
          </a:p>
          <a:p>
            <a:r>
              <a:rPr lang="en-US" b="1" dirty="0" smtClean="0">
                <a:solidFill>
                  <a:srgbClr val="FF0000"/>
                </a:solidFill>
                <a:latin typeface="Times New Roman" pitchFamily="18" charset="0"/>
                <a:cs typeface="Times New Roman" pitchFamily="18" charset="0"/>
              </a:rPr>
              <a:t>E. 	Both </a:t>
            </a:r>
            <a:r>
              <a:rPr lang="en-US" b="1" dirty="0">
                <a:solidFill>
                  <a:srgbClr val="FF0000"/>
                </a:solidFill>
                <a:latin typeface="Times New Roman" pitchFamily="18" charset="0"/>
                <a:cs typeface="Times New Roman" pitchFamily="18" charset="0"/>
              </a:rPr>
              <a:t>I and II are sufficient</a:t>
            </a:r>
          </a:p>
        </p:txBody>
      </p:sp>
      <p:sp>
        <p:nvSpPr>
          <p:cNvPr id="3" name="Rectangle 2"/>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5" name="Rectangle 4"/>
          <p:cNvSpPr/>
          <p:nvPr/>
        </p:nvSpPr>
        <p:spPr>
          <a:xfrm>
            <a:off x="685800" y="3206929"/>
            <a:ext cx="7480300" cy="646331"/>
          </a:xfrm>
          <a:prstGeom prst="rect">
            <a:avLst/>
          </a:prstGeom>
        </p:spPr>
        <p:txBody>
          <a:bodyPr wrap="square">
            <a:spAutoFit/>
          </a:bodyPr>
          <a:lstStyle/>
          <a:p>
            <a:r>
              <a:rPr lang="en-US" b="1" dirty="0">
                <a:latin typeface="Times New Roman" pitchFamily="18" charset="0"/>
                <a:cs typeface="Times New Roman" pitchFamily="18" charset="0"/>
              </a:rPr>
              <a:t>The only word common to I and II is 'clear' and as such, only the code for 'clear' can be ascertained from the given information.</a:t>
            </a:r>
          </a:p>
        </p:txBody>
      </p:sp>
      <p:sp>
        <p:nvSpPr>
          <p:cNvPr id="6" name="Rectangle 5"/>
          <p:cNvSpPr/>
          <p:nvPr/>
        </p:nvSpPr>
        <p:spPr>
          <a:xfrm>
            <a:off x="838200" y="3858420"/>
            <a:ext cx="5334000" cy="369332"/>
          </a:xfrm>
          <a:prstGeom prst="rect">
            <a:avLst/>
          </a:prstGeom>
        </p:spPr>
        <p:txBody>
          <a:bodyPr wrap="square">
            <a:spAutoFit/>
          </a:bodyPr>
          <a:lstStyle/>
          <a:p>
            <a:r>
              <a:rPr lang="en-US" b="1" dirty="0" smtClean="0">
                <a:latin typeface="Times New Roman" pitchFamily="18" charset="0"/>
                <a:cs typeface="Times New Roman" pitchFamily="18" charset="0"/>
              </a:rPr>
              <a:t>Ans D </a:t>
            </a:r>
            <a:r>
              <a:rPr lang="en-US" b="1" dirty="0">
                <a:latin typeface="Times New Roman" pitchFamily="18" charset="0"/>
                <a:cs typeface="Times New Roman" pitchFamily="18" charset="0"/>
              </a:rPr>
              <a:t>Neither I nor II is </a:t>
            </a:r>
            <a:r>
              <a:rPr lang="en-US" b="1" dirty="0" smtClean="0">
                <a:latin typeface="Times New Roman" pitchFamily="18" charset="0"/>
                <a:cs typeface="Times New Roman" pitchFamily="18" charset="0"/>
              </a:rPr>
              <a:t>sufficient</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69417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152400" y="518815"/>
            <a:ext cx="8661400" cy="2308324"/>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Is z less than w? z and w real numbers.</a:t>
            </a:r>
          </a:p>
          <a:p>
            <a:r>
              <a:rPr lang="en-US" b="1" dirty="0">
                <a:solidFill>
                  <a:srgbClr val="FF0000"/>
                </a:solidFill>
                <a:latin typeface="Times New Roman" pitchFamily="18" charset="0"/>
                <a:cs typeface="Times New Roman" pitchFamily="18" charset="0"/>
              </a:rPr>
              <a:t> I z</a:t>
            </a:r>
            <a:r>
              <a:rPr lang="en-US" b="1" baseline="30000" dirty="0">
                <a:solidFill>
                  <a:srgbClr val="FF0000"/>
                </a:solidFill>
                <a:latin typeface="Times New Roman" pitchFamily="18" charset="0"/>
                <a:cs typeface="Times New Roman" pitchFamily="18" charset="0"/>
              </a:rPr>
              <a:t>2 </a:t>
            </a:r>
            <a:r>
              <a:rPr lang="en-US" b="1" dirty="0">
                <a:solidFill>
                  <a:srgbClr val="FF0000"/>
                </a:solidFill>
                <a:latin typeface="Times New Roman" pitchFamily="18" charset="0"/>
                <a:cs typeface="Times New Roman" pitchFamily="18" charset="0"/>
              </a:rPr>
              <a:t>= 25</a:t>
            </a:r>
          </a:p>
          <a:p>
            <a:r>
              <a:rPr lang="en-US" b="1" dirty="0">
                <a:solidFill>
                  <a:srgbClr val="FF0000"/>
                </a:solidFill>
                <a:latin typeface="Times New Roman" pitchFamily="18" charset="0"/>
                <a:cs typeface="Times New Roman" pitchFamily="18" charset="0"/>
              </a:rPr>
              <a:t> II w = 9</a:t>
            </a:r>
          </a:p>
          <a:p>
            <a:r>
              <a:rPr lang="en-US" b="1" dirty="0" smtClean="0">
                <a:solidFill>
                  <a:srgbClr val="FF0000"/>
                </a:solidFill>
                <a:latin typeface="Times New Roman" pitchFamily="18" charset="0"/>
                <a:cs typeface="Times New Roman" pitchFamily="18" charset="0"/>
              </a:rPr>
              <a:t>A.	If </a:t>
            </a:r>
            <a:r>
              <a:rPr lang="en-US" b="1" dirty="0">
                <a:solidFill>
                  <a:srgbClr val="FF0000"/>
                </a:solidFill>
                <a:latin typeface="Times New Roman" pitchFamily="18" charset="0"/>
                <a:cs typeface="Times New Roman" pitchFamily="18" charset="0"/>
              </a:rPr>
              <a:t>statement i alone is sufficient but statement ii alone is not sufficient.</a:t>
            </a:r>
          </a:p>
          <a:p>
            <a:r>
              <a:rPr lang="en-US" b="1" dirty="0" smtClean="0">
                <a:solidFill>
                  <a:srgbClr val="FF0000"/>
                </a:solidFill>
                <a:latin typeface="Times New Roman" pitchFamily="18" charset="0"/>
                <a:cs typeface="Times New Roman" pitchFamily="18" charset="0"/>
              </a:rPr>
              <a:t>B. 	If </a:t>
            </a:r>
            <a:r>
              <a:rPr lang="en-US" b="1" dirty="0">
                <a:solidFill>
                  <a:srgbClr val="FF0000"/>
                </a:solidFill>
                <a:latin typeface="Times New Roman" pitchFamily="18" charset="0"/>
                <a:cs typeface="Times New Roman" pitchFamily="18" charset="0"/>
              </a:rPr>
              <a:t>statement ii alone is sufficient but statement i alone is not sufficient.</a:t>
            </a:r>
          </a:p>
          <a:p>
            <a:r>
              <a:rPr lang="en-US" b="1" dirty="0" smtClean="0">
                <a:solidFill>
                  <a:srgbClr val="FF0000"/>
                </a:solidFill>
                <a:latin typeface="Times New Roman" pitchFamily="18" charset="0"/>
                <a:cs typeface="Times New Roman" pitchFamily="18" charset="0"/>
              </a:rPr>
              <a:t>C. 	If </a:t>
            </a:r>
            <a:r>
              <a:rPr lang="en-US" b="1" dirty="0">
                <a:solidFill>
                  <a:srgbClr val="FF0000"/>
                </a:solidFill>
                <a:latin typeface="Times New Roman" pitchFamily="18" charset="0"/>
                <a:cs typeface="Times New Roman" pitchFamily="18" charset="0"/>
              </a:rPr>
              <a:t>both statements i and ii together are sufficient but neither of statements </a:t>
            </a:r>
            <a:r>
              <a:rPr lang="en-US" b="1" dirty="0" smtClean="0">
                <a:solidFill>
                  <a:srgbClr val="FF0000"/>
                </a:solidFill>
                <a:latin typeface="Times New Roman" pitchFamily="18" charset="0"/>
                <a:cs typeface="Times New Roman" pitchFamily="18" charset="0"/>
              </a:rPr>
              <a:t>	alone </a:t>
            </a:r>
            <a:r>
              <a:rPr lang="en-US" b="1" dirty="0">
                <a:solidFill>
                  <a:srgbClr val="FF0000"/>
                </a:solidFill>
                <a:latin typeface="Times New Roman" pitchFamily="18" charset="0"/>
                <a:cs typeface="Times New Roman" pitchFamily="18" charset="0"/>
              </a:rPr>
              <a:t>is sufficient.</a:t>
            </a:r>
          </a:p>
          <a:p>
            <a:r>
              <a:rPr lang="en-US" b="1" dirty="0" smtClean="0">
                <a:solidFill>
                  <a:srgbClr val="FF0000"/>
                </a:solidFill>
                <a:latin typeface="Times New Roman" pitchFamily="18" charset="0"/>
                <a:cs typeface="Times New Roman" pitchFamily="18" charset="0"/>
              </a:rPr>
              <a:t>D. 	If </a:t>
            </a:r>
            <a:r>
              <a:rPr lang="en-US" b="1" dirty="0">
                <a:solidFill>
                  <a:srgbClr val="FF0000"/>
                </a:solidFill>
                <a:latin typeface="Times New Roman" pitchFamily="18" charset="0"/>
                <a:cs typeface="Times New Roman" pitchFamily="18" charset="0"/>
              </a:rPr>
              <a:t>each statement alone is sufficient.</a:t>
            </a:r>
          </a:p>
        </p:txBody>
      </p:sp>
      <p:sp>
        <p:nvSpPr>
          <p:cNvPr id="3" name="Rectangle 2"/>
          <p:cNvSpPr/>
          <p:nvPr/>
        </p:nvSpPr>
        <p:spPr>
          <a:xfrm>
            <a:off x="457200" y="2862154"/>
            <a:ext cx="8001000" cy="646331"/>
          </a:xfrm>
          <a:prstGeom prst="rect">
            <a:avLst/>
          </a:prstGeom>
        </p:spPr>
        <p:txBody>
          <a:bodyPr wrap="square">
            <a:spAutoFit/>
          </a:bodyPr>
          <a:lstStyle/>
          <a:p>
            <a:r>
              <a:rPr lang="en-US" b="1" dirty="0">
                <a:latin typeface="Times New Roman" pitchFamily="18" charset="0"/>
                <a:cs typeface="Times New Roman" pitchFamily="18" charset="0"/>
              </a:rPr>
              <a:t>Statement I: We have, z = +5. Therefore the statement I alone is not sufficient as we don’t know the value of w. </a:t>
            </a:r>
          </a:p>
        </p:txBody>
      </p:sp>
      <p:sp>
        <p:nvSpPr>
          <p:cNvPr id="6" name="Rectangle 5"/>
          <p:cNvSpPr/>
          <p:nvPr/>
        </p:nvSpPr>
        <p:spPr>
          <a:xfrm>
            <a:off x="685800" y="3521870"/>
            <a:ext cx="7391400" cy="369332"/>
          </a:xfrm>
          <a:prstGeom prst="rect">
            <a:avLst/>
          </a:prstGeom>
        </p:spPr>
        <p:txBody>
          <a:bodyPr wrap="square">
            <a:spAutoFit/>
          </a:bodyPr>
          <a:lstStyle/>
          <a:p>
            <a:r>
              <a:rPr lang="en-US" b="1" dirty="0">
                <a:latin typeface="Times New Roman" pitchFamily="18" charset="0"/>
                <a:cs typeface="Times New Roman" pitchFamily="18" charset="0"/>
              </a:rPr>
              <a:t>Both statement together give w &gt; z. Hence answer is c</a:t>
            </a:r>
          </a:p>
        </p:txBody>
      </p:sp>
    </p:spTree>
    <p:extLst>
      <p:ext uri="{BB962C8B-B14F-4D97-AF65-F5344CB8AC3E}">
        <p14:creationId xmlns:p14="http://schemas.microsoft.com/office/powerpoint/2010/main" val="32379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304800" y="531505"/>
            <a:ext cx="8509000" cy="2308324"/>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When was </a:t>
            </a:r>
            <a:r>
              <a:rPr lang="en-US" b="1" dirty="0" err="1">
                <a:solidFill>
                  <a:srgbClr val="FF0000"/>
                </a:solidFill>
                <a:latin typeface="Times New Roman" pitchFamily="18" charset="0"/>
                <a:cs typeface="Times New Roman" pitchFamily="18" charset="0"/>
              </a:rPr>
              <a:t>Raju</a:t>
            </a:r>
            <a:r>
              <a:rPr lang="en-US" b="1" dirty="0">
                <a:solidFill>
                  <a:srgbClr val="FF0000"/>
                </a:solidFill>
                <a:latin typeface="Times New Roman" pitchFamily="18" charset="0"/>
                <a:cs typeface="Times New Roman" pitchFamily="18" charset="0"/>
              </a:rPr>
              <a:t> born?</a:t>
            </a:r>
          </a:p>
          <a:p>
            <a:r>
              <a:rPr lang="en-US" b="1" dirty="0">
                <a:solidFill>
                  <a:srgbClr val="FF0000"/>
                </a:solidFill>
                <a:latin typeface="Times New Roman" pitchFamily="18" charset="0"/>
                <a:cs typeface="Times New Roman" pitchFamily="18" charset="0"/>
              </a:rPr>
              <a:t>I. </a:t>
            </a:r>
            <a:r>
              <a:rPr lang="en-US" b="1" dirty="0" err="1">
                <a:solidFill>
                  <a:srgbClr val="FF0000"/>
                </a:solidFill>
                <a:latin typeface="Times New Roman" pitchFamily="18" charset="0"/>
                <a:cs typeface="Times New Roman" pitchFamily="18" charset="0"/>
              </a:rPr>
              <a:t>Raju</a:t>
            </a:r>
            <a:r>
              <a:rPr lang="en-US" b="1" dirty="0">
                <a:solidFill>
                  <a:srgbClr val="FF0000"/>
                </a:solidFill>
                <a:latin typeface="Times New Roman" pitchFamily="18" charset="0"/>
                <a:cs typeface="Times New Roman" pitchFamily="18" charset="0"/>
              </a:rPr>
              <a:t> was born on the same day that of Mr. Gandhi was </a:t>
            </a:r>
          </a:p>
          <a:p>
            <a:r>
              <a:rPr lang="en-US" b="1" dirty="0">
                <a:solidFill>
                  <a:srgbClr val="FF0000"/>
                </a:solidFill>
                <a:latin typeface="Times New Roman" pitchFamily="18" charset="0"/>
                <a:cs typeface="Times New Roman" pitchFamily="18" charset="0"/>
              </a:rPr>
              <a:t>II. Mr. Gandhi was born in October.</a:t>
            </a:r>
          </a:p>
          <a:p>
            <a:r>
              <a:rPr lang="en-US" b="1" dirty="0" smtClean="0">
                <a:solidFill>
                  <a:srgbClr val="FF0000"/>
                </a:solidFill>
                <a:latin typeface="Times New Roman" pitchFamily="18" charset="0"/>
                <a:cs typeface="Times New Roman" pitchFamily="18" charset="0"/>
              </a:rPr>
              <a:t>A. 	If </a:t>
            </a:r>
            <a:r>
              <a:rPr lang="en-US" b="1" dirty="0">
                <a:solidFill>
                  <a:srgbClr val="FF0000"/>
                </a:solidFill>
                <a:latin typeface="Times New Roman" pitchFamily="18" charset="0"/>
                <a:cs typeface="Times New Roman" pitchFamily="18" charset="0"/>
              </a:rPr>
              <a:t>statement i alone is sufficient but statement ii alone is not sufficient.</a:t>
            </a:r>
          </a:p>
          <a:p>
            <a:r>
              <a:rPr lang="en-US" b="1" dirty="0" smtClean="0">
                <a:solidFill>
                  <a:srgbClr val="FF0000"/>
                </a:solidFill>
                <a:latin typeface="Times New Roman" pitchFamily="18" charset="0"/>
                <a:cs typeface="Times New Roman" pitchFamily="18" charset="0"/>
              </a:rPr>
              <a:t>B. 	If </a:t>
            </a:r>
            <a:r>
              <a:rPr lang="en-US" b="1" dirty="0">
                <a:solidFill>
                  <a:srgbClr val="FF0000"/>
                </a:solidFill>
                <a:latin typeface="Times New Roman" pitchFamily="18" charset="0"/>
                <a:cs typeface="Times New Roman" pitchFamily="18" charset="0"/>
              </a:rPr>
              <a:t>statement ii alone is sufficient but statement i alone is not sufficient.</a:t>
            </a:r>
          </a:p>
          <a:p>
            <a:r>
              <a:rPr lang="en-US" b="1" dirty="0" smtClean="0">
                <a:solidFill>
                  <a:srgbClr val="FF0000"/>
                </a:solidFill>
                <a:latin typeface="Times New Roman" pitchFamily="18" charset="0"/>
                <a:cs typeface="Times New Roman" pitchFamily="18" charset="0"/>
              </a:rPr>
              <a:t>C. 	If </a:t>
            </a:r>
            <a:r>
              <a:rPr lang="en-US" b="1" dirty="0">
                <a:solidFill>
                  <a:srgbClr val="FF0000"/>
                </a:solidFill>
                <a:latin typeface="Times New Roman" pitchFamily="18" charset="0"/>
                <a:cs typeface="Times New Roman" pitchFamily="18" charset="0"/>
              </a:rPr>
              <a:t>both statements i and ii together are sufficient but neither of statements </a:t>
            </a:r>
            <a:r>
              <a:rPr lang="en-US" b="1" dirty="0" smtClean="0">
                <a:solidFill>
                  <a:srgbClr val="FF0000"/>
                </a:solidFill>
                <a:latin typeface="Times New Roman" pitchFamily="18" charset="0"/>
                <a:cs typeface="Times New Roman" pitchFamily="18" charset="0"/>
              </a:rPr>
              <a:t>	alone </a:t>
            </a:r>
            <a:r>
              <a:rPr lang="en-US" b="1" dirty="0">
                <a:solidFill>
                  <a:srgbClr val="FF0000"/>
                </a:solidFill>
                <a:latin typeface="Times New Roman" pitchFamily="18" charset="0"/>
                <a:cs typeface="Times New Roman" pitchFamily="18" charset="0"/>
              </a:rPr>
              <a:t>is sufficient.</a:t>
            </a:r>
          </a:p>
          <a:p>
            <a:r>
              <a:rPr lang="en-US" b="1" dirty="0" smtClean="0">
                <a:solidFill>
                  <a:srgbClr val="FF0000"/>
                </a:solidFill>
                <a:latin typeface="Times New Roman" pitchFamily="18" charset="0"/>
                <a:cs typeface="Times New Roman" pitchFamily="18" charset="0"/>
              </a:rPr>
              <a:t>D. 	If </a:t>
            </a:r>
            <a:r>
              <a:rPr lang="en-US" b="1" dirty="0">
                <a:solidFill>
                  <a:srgbClr val="FF0000"/>
                </a:solidFill>
                <a:latin typeface="Times New Roman" pitchFamily="18" charset="0"/>
                <a:cs typeface="Times New Roman" pitchFamily="18" charset="0"/>
              </a:rPr>
              <a:t>both statements i and ii together are </a:t>
            </a:r>
            <a:r>
              <a:rPr lang="en-US" b="1" dirty="0" smtClean="0">
                <a:solidFill>
                  <a:srgbClr val="FF0000"/>
                </a:solidFill>
                <a:latin typeface="Times New Roman" pitchFamily="18" charset="0"/>
                <a:cs typeface="Times New Roman" pitchFamily="18" charset="0"/>
              </a:rPr>
              <a:t>not sufficient to answer the question.</a:t>
            </a:r>
            <a:endParaRPr lang="en-US" b="1" dirty="0">
              <a:solidFill>
                <a:srgbClr val="FF0000"/>
              </a:solidFill>
              <a:latin typeface="Times New Roman" pitchFamily="18" charset="0"/>
              <a:cs typeface="Times New Roman" pitchFamily="18" charset="0"/>
            </a:endParaRPr>
          </a:p>
        </p:txBody>
      </p:sp>
      <p:sp>
        <p:nvSpPr>
          <p:cNvPr id="6" name="Rectangle 5"/>
          <p:cNvSpPr/>
          <p:nvPr/>
        </p:nvSpPr>
        <p:spPr>
          <a:xfrm>
            <a:off x="723900" y="2839145"/>
            <a:ext cx="4572000" cy="646331"/>
          </a:xfrm>
          <a:prstGeom prst="rect">
            <a:avLst/>
          </a:prstGeom>
        </p:spPr>
        <p:txBody>
          <a:bodyPr>
            <a:spAutoFit/>
          </a:bodyPr>
          <a:lstStyle/>
          <a:p>
            <a:r>
              <a:rPr lang="en-US" b="1" dirty="0" smtClean="0">
                <a:latin typeface="Times New Roman" pitchFamily="18" charset="0"/>
                <a:cs typeface="Times New Roman" pitchFamily="18" charset="0"/>
              </a:rPr>
              <a:t>We </a:t>
            </a:r>
            <a:r>
              <a:rPr lang="en-US" b="1" dirty="0">
                <a:latin typeface="Times New Roman" pitchFamily="18" charset="0"/>
                <a:cs typeface="Times New Roman" pitchFamily="18" charset="0"/>
              </a:rPr>
              <a:t>SHOULD NOT assume that Mr. Gandhi mentioned here is the Father of the Nation. </a:t>
            </a:r>
            <a:endParaRPr lang="en-US" b="1" dirty="0"/>
          </a:p>
        </p:txBody>
      </p:sp>
      <p:sp>
        <p:nvSpPr>
          <p:cNvPr id="7" name="Rectangle 6"/>
          <p:cNvSpPr/>
          <p:nvPr/>
        </p:nvSpPr>
        <p:spPr>
          <a:xfrm>
            <a:off x="723900" y="3485476"/>
            <a:ext cx="4572000" cy="646331"/>
          </a:xfrm>
          <a:prstGeom prst="rect">
            <a:avLst/>
          </a:prstGeom>
        </p:spPr>
        <p:txBody>
          <a:bodyPr>
            <a:spAutoFit/>
          </a:bodyPr>
          <a:lstStyle/>
          <a:p>
            <a:r>
              <a:rPr lang="en-US" b="1" dirty="0">
                <a:latin typeface="Times New Roman" pitchFamily="18" charset="0"/>
                <a:cs typeface="Times New Roman" pitchFamily="18" charset="0"/>
              </a:rPr>
              <a:t>Specific information is required to come to any such conclusion. </a:t>
            </a:r>
            <a:endParaRPr lang="en-US" b="1" dirty="0"/>
          </a:p>
        </p:txBody>
      </p:sp>
      <p:sp>
        <p:nvSpPr>
          <p:cNvPr id="8" name="Rectangle 7"/>
          <p:cNvSpPr/>
          <p:nvPr/>
        </p:nvSpPr>
        <p:spPr>
          <a:xfrm>
            <a:off x="838200" y="4131807"/>
            <a:ext cx="4572000" cy="646331"/>
          </a:xfrm>
          <a:prstGeom prst="rect">
            <a:avLst/>
          </a:prstGeom>
        </p:spPr>
        <p:txBody>
          <a:bodyPr>
            <a:spAutoFit/>
          </a:bodyPr>
          <a:lstStyle/>
          <a:p>
            <a:r>
              <a:rPr lang="en-US" b="1" dirty="0" smtClean="0">
                <a:latin typeface="Times New Roman" pitchFamily="18" charset="0"/>
                <a:cs typeface="Times New Roman" pitchFamily="18" charset="0"/>
              </a:rPr>
              <a:t>Hence</a:t>
            </a:r>
            <a:r>
              <a:rPr lang="en-US" b="1" dirty="0">
                <a:latin typeface="Times New Roman" pitchFamily="18" charset="0"/>
                <a:cs typeface="Times New Roman" pitchFamily="18" charset="0"/>
              </a:rPr>
              <a:t>, even after combining both the statements, we cannot answer this question.</a:t>
            </a:r>
          </a:p>
        </p:txBody>
      </p:sp>
    </p:spTree>
    <p:extLst>
      <p:ext uri="{BB962C8B-B14F-4D97-AF65-F5344CB8AC3E}">
        <p14:creationId xmlns:p14="http://schemas.microsoft.com/office/powerpoint/2010/main" val="223248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90800" y="57150"/>
            <a:ext cx="37572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PRACTICE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228600" y="514350"/>
            <a:ext cx="8458200" cy="2585323"/>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Answer which of the statement is sufficient to answer the given question.</a:t>
            </a:r>
          </a:p>
          <a:p>
            <a:r>
              <a:rPr lang="en-US" b="1" dirty="0">
                <a:solidFill>
                  <a:srgbClr val="FF0000"/>
                </a:solidFill>
                <a:latin typeface="Times New Roman" pitchFamily="18" charset="0"/>
                <a:cs typeface="Times New Roman" pitchFamily="18" charset="0"/>
              </a:rPr>
              <a:t>In the rectangle ABCD, what is the length?</a:t>
            </a:r>
          </a:p>
          <a:p>
            <a:r>
              <a:rPr lang="en-US" b="1" dirty="0">
                <a:solidFill>
                  <a:srgbClr val="FF0000"/>
                </a:solidFill>
                <a:latin typeface="Times New Roman" pitchFamily="18" charset="0"/>
                <a:cs typeface="Times New Roman" pitchFamily="18" charset="0"/>
              </a:rPr>
              <a:t>I Area of rectangle is 55 </a:t>
            </a:r>
            <a:r>
              <a:rPr lang="en-US" b="1" dirty="0" err="1">
                <a:solidFill>
                  <a:srgbClr val="FF0000"/>
                </a:solidFill>
                <a:latin typeface="Times New Roman" pitchFamily="18" charset="0"/>
                <a:cs typeface="Times New Roman" pitchFamily="18" charset="0"/>
              </a:rPr>
              <a:t>Sq.units</a:t>
            </a:r>
            <a:r>
              <a:rPr lang="en-US" b="1" dirty="0">
                <a:solidFill>
                  <a:srgbClr val="FF0000"/>
                </a:solidFill>
                <a:latin typeface="Times New Roman" pitchFamily="18" charset="0"/>
                <a:cs typeface="Times New Roman" pitchFamily="18" charset="0"/>
              </a:rPr>
              <a:t>.</a:t>
            </a:r>
          </a:p>
          <a:p>
            <a:r>
              <a:rPr lang="en-US" b="1" dirty="0">
                <a:solidFill>
                  <a:srgbClr val="FF0000"/>
                </a:solidFill>
                <a:latin typeface="Times New Roman" pitchFamily="18" charset="0"/>
                <a:cs typeface="Times New Roman" pitchFamily="18" charset="0"/>
              </a:rPr>
              <a:t>II AC = 30 units.</a:t>
            </a:r>
          </a:p>
          <a:p>
            <a:r>
              <a:rPr lang="en-US" b="1" dirty="0" smtClean="0">
                <a:solidFill>
                  <a:srgbClr val="FF0000"/>
                </a:solidFill>
                <a:latin typeface="Times New Roman" pitchFamily="18" charset="0"/>
                <a:cs typeface="Times New Roman" pitchFamily="18" charset="0"/>
              </a:rPr>
              <a:t>A. 	If </a:t>
            </a:r>
            <a:r>
              <a:rPr lang="en-US" b="1" dirty="0">
                <a:solidFill>
                  <a:srgbClr val="FF0000"/>
                </a:solidFill>
                <a:latin typeface="Times New Roman" pitchFamily="18" charset="0"/>
                <a:cs typeface="Times New Roman" pitchFamily="18" charset="0"/>
              </a:rPr>
              <a:t>statement I alone is sufficient but statement ii alone is not sufficient.</a:t>
            </a:r>
          </a:p>
          <a:p>
            <a:r>
              <a:rPr lang="en-US" b="1" dirty="0" smtClean="0">
                <a:solidFill>
                  <a:srgbClr val="FF0000"/>
                </a:solidFill>
                <a:latin typeface="Times New Roman" pitchFamily="18" charset="0"/>
                <a:cs typeface="Times New Roman" pitchFamily="18" charset="0"/>
              </a:rPr>
              <a:t>B. 	If </a:t>
            </a:r>
            <a:r>
              <a:rPr lang="en-US" b="1" dirty="0">
                <a:solidFill>
                  <a:srgbClr val="FF0000"/>
                </a:solidFill>
                <a:latin typeface="Times New Roman" pitchFamily="18" charset="0"/>
                <a:cs typeface="Times New Roman" pitchFamily="18" charset="0"/>
              </a:rPr>
              <a:t>statement II alone is sufficient but statement i alone is not sufficient.</a:t>
            </a:r>
          </a:p>
          <a:p>
            <a:r>
              <a:rPr lang="en-US" b="1" dirty="0" smtClean="0">
                <a:solidFill>
                  <a:srgbClr val="FF0000"/>
                </a:solidFill>
                <a:latin typeface="Times New Roman" pitchFamily="18" charset="0"/>
                <a:cs typeface="Times New Roman" pitchFamily="18" charset="0"/>
              </a:rPr>
              <a:t>C. 	If </a:t>
            </a:r>
            <a:r>
              <a:rPr lang="en-US" b="1" dirty="0">
                <a:solidFill>
                  <a:srgbClr val="FF0000"/>
                </a:solidFill>
                <a:latin typeface="Times New Roman" pitchFamily="18" charset="0"/>
                <a:cs typeface="Times New Roman" pitchFamily="18" charset="0"/>
              </a:rPr>
              <a:t>both statements I and II together are sufficient but neither of statements </a:t>
            </a:r>
            <a:r>
              <a:rPr lang="en-US" b="1" dirty="0" smtClean="0">
                <a:solidFill>
                  <a:srgbClr val="FF0000"/>
                </a:solidFill>
                <a:latin typeface="Times New Roman" pitchFamily="18" charset="0"/>
                <a:cs typeface="Times New Roman" pitchFamily="18" charset="0"/>
              </a:rPr>
              <a:t>	alone </a:t>
            </a:r>
            <a:r>
              <a:rPr lang="en-US" b="1" dirty="0">
                <a:solidFill>
                  <a:srgbClr val="FF0000"/>
                </a:solidFill>
                <a:latin typeface="Times New Roman" pitchFamily="18" charset="0"/>
                <a:cs typeface="Times New Roman" pitchFamily="18" charset="0"/>
              </a:rPr>
              <a:t>is sufficient.</a:t>
            </a:r>
          </a:p>
          <a:p>
            <a:r>
              <a:rPr lang="en-US" b="1" dirty="0" smtClean="0">
                <a:solidFill>
                  <a:srgbClr val="FF0000"/>
                </a:solidFill>
                <a:latin typeface="Times New Roman" pitchFamily="18" charset="0"/>
                <a:cs typeface="Times New Roman" pitchFamily="18" charset="0"/>
              </a:rPr>
              <a:t>D</a:t>
            </a:r>
            <a:r>
              <a:rPr lang="en-US" b="1" smtClean="0">
                <a:solidFill>
                  <a:srgbClr val="FF0000"/>
                </a:solidFill>
                <a:latin typeface="Times New Roman" pitchFamily="18" charset="0"/>
                <a:cs typeface="Times New Roman" pitchFamily="18" charset="0"/>
              </a:rPr>
              <a:t>. 	If </a:t>
            </a:r>
            <a:r>
              <a:rPr lang="en-US" b="1" dirty="0">
                <a:solidFill>
                  <a:srgbClr val="FF0000"/>
                </a:solidFill>
                <a:latin typeface="Times New Roman" pitchFamily="18" charset="0"/>
                <a:cs typeface="Times New Roman" pitchFamily="18" charset="0"/>
              </a:rPr>
              <a:t>each statement alone is sufficient</a:t>
            </a:r>
            <a:r>
              <a:rPr lang="en-US" b="1" dirty="0" smtClean="0">
                <a:solidFill>
                  <a:srgbClr val="FF0000"/>
                </a:solidFill>
                <a:latin typeface="Times New Roman" pitchFamily="18" charset="0"/>
                <a:cs typeface="Times New Roman" pitchFamily="18" charset="0"/>
              </a:rPr>
              <a:t>.</a:t>
            </a:r>
            <a:endParaRPr lang="en-US" b="1" dirty="0">
              <a:solidFill>
                <a:srgbClr val="FF0000"/>
              </a:solidFill>
              <a:latin typeface="Times New Roman" pitchFamily="18" charset="0"/>
              <a:cs typeface="Times New Roman" pitchFamily="18" charset="0"/>
            </a:endParaRPr>
          </a:p>
        </p:txBody>
      </p:sp>
      <p:sp>
        <p:nvSpPr>
          <p:cNvPr id="3" name="Rectangle 2"/>
          <p:cNvSpPr/>
          <p:nvPr/>
        </p:nvSpPr>
        <p:spPr>
          <a:xfrm>
            <a:off x="457200" y="2913966"/>
            <a:ext cx="6553200" cy="369332"/>
          </a:xfrm>
          <a:prstGeom prst="rect">
            <a:avLst/>
          </a:prstGeom>
        </p:spPr>
        <p:txBody>
          <a:bodyPr wrap="square">
            <a:spAutoFit/>
          </a:bodyPr>
          <a:lstStyle/>
          <a:p>
            <a:r>
              <a:rPr lang="en-US" b="1" dirty="0">
                <a:latin typeface="Times New Roman" pitchFamily="18" charset="0"/>
                <a:cs typeface="Times New Roman" pitchFamily="18" charset="0"/>
              </a:rPr>
              <a:t>Let l and b are the length and breath of the rectangle. </a:t>
            </a:r>
          </a:p>
        </p:txBody>
      </p:sp>
      <p:sp>
        <p:nvSpPr>
          <p:cNvPr id="6" name="Rectangle 5"/>
          <p:cNvSpPr/>
          <p:nvPr/>
        </p:nvSpPr>
        <p:spPr>
          <a:xfrm>
            <a:off x="5232400" y="3714750"/>
            <a:ext cx="3911600" cy="1200329"/>
          </a:xfrm>
          <a:prstGeom prst="rect">
            <a:avLst/>
          </a:prstGeom>
        </p:spPr>
        <p:txBody>
          <a:bodyPr wrap="square">
            <a:spAutoFit/>
          </a:bodyPr>
          <a:lstStyle/>
          <a:p>
            <a:r>
              <a:rPr lang="en-US" b="1" dirty="0">
                <a:latin typeface="Times New Roman" pitchFamily="18" charset="0"/>
                <a:cs typeface="Times New Roman" pitchFamily="18" charset="0"/>
              </a:rPr>
              <a:t> </a:t>
            </a:r>
            <a:r>
              <a:rPr lang="en-US" b="1" dirty="0" smtClean="0">
                <a:latin typeface="Times New Roman" pitchFamily="18" charset="0"/>
                <a:cs typeface="Times New Roman" pitchFamily="18" charset="0"/>
              </a:rPr>
              <a:t>Hence </a:t>
            </a:r>
            <a:r>
              <a:rPr lang="en-US" b="1" dirty="0">
                <a:latin typeface="Times New Roman" pitchFamily="18" charset="0"/>
                <a:cs typeface="Times New Roman" pitchFamily="18" charset="0"/>
              </a:rPr>
              <a:t>answer is If both statements i and ii together are sufficient but neither of statements alone is sufficient.          </a:t>
            </a:r>
          </a:p>
        </p:txBody>
      </p:sp>
      <p:sp>
        <p:nvSpPr>
          <p:cNvPr id="7" name="Rectangle 6"/>
          <p:cNvSpPr/>
          <p:nvPr/>
        </p:nvSpPr>
        <p:spPr>
          <a:xfrm>
            <a:off x="457200" y="3181350"/>
            <a:ext cx="8280400" cy="646331"/>
          </a:xfrm>
          <a:prstGeom prst="rect">
            <a:avLst/>
          </a:prstGeom>
        </p:spPr>
        <p:txBody>
          <a:bodyPr wrap="square">
            <a:spAutoFit/>
          </a:bodyPr>
          <a:lstStyle/>
          <a:p>
            <a:r>
              <a:rPr lang="en-US" b="1" dirty="0">
                <a:latin typeface="Times New Roman" pitchFamily="18" charset="0"/>
                <a:cs typeface="Times New Roman" pitchFamily="18" charset="0"/>
              </a:rPr>
              <a:t>Then statement I gives </a:t>
            </a:r>
            <a:r>
              <a:rPr lang="en-US" b="1" dirty="0" err="1">
                <a:latin typeface="Times New Roman" pitchFamily="18" charset="0"/>
                <a:cs typeface="Times New Roman" pitchFamily="18" charset="0"/>
              </a:rPr>
              <a:t>lb</a:t>
            </a:r>
            <a:r>
              <a:rPr lang="en-US" b="1" dirty="0">
                <a:latin typeface="Times New Roman" pitchFamily="18" charset="0"/>
                <a:cs typeface="Times New Roman" pitchFamily="18" charset="0"/>
              </a:rPr>
              <a:t> = 55. Now statement I alone is not sufficient as we don’t know the breath of the rectangle.</a:t>
            </a:r>
          </a:p>
        </p:txBody>
      </p:sp>
      <p:sp>
        <p:nvSpPr>
          <p:cNvPr id="8" name="Rectangle 7"/>
          <p:cNvSpPr/>
          <p:nvPr/>
        </p:nvSpPr>
        <p:spPr>
          <a:xfrm>
            <a:off x="457200" y="3827681"/>
            <a:ext cx="4572000" cy="646331"/>
          </a:xfrm>
          <a:prstGeom prst="rect">
            <a:avLst/>
          </a:prstGeom>
        </p:spPr>
        <p:txBody>
          <a:bodyPr wrap="square">
            <a:spAutoFit/>
          </a:bodyPr>
          <a:lstStyle/>
          <a:p>
            <a:r>
              <a:rPr lang="en-US" b="1" dirty="0">
                <a:latin typeface="Times New Roman" pitchFamily="18" charset="0"/>
                <a:cs typeface="Times New Roman" pitchFamily="18" charset="0"/>
              </a:rPr>
              <a:t>Statement II gives l2 + b2=900, So statement II alone is not sufficient. </a:t>
            </a:r>
          </a:p>
        </p:txBody>
      </p:sp>
      <p:sp>
        <p:nvSpPr>
          <p:cNvPr id="9" name="Rectangle 8"/>
          <p:cNvSpPr/>
          <p:nvPr/>
        </p:nvSpPr>
        <p:spPr>
          <a:xfrm>
            <a:off x="469900" y="4474012"/>
            <a:ext cx="4572000" cy="646331"/>
          </a:xfrm>
          <a:prstGeom prst="rect">
            <a:avLst/>
          </a:prstGeom>
        </p:spPr>
        <p:txBody>
          <a:bodyPr>
            <a:spAutoFit/>
          </a:bodyPr>
          <a:lstStyle/>
          <a:p>
            <a:r>
              <a:rPr lang="en-US" b="1" dirty="0">
                <a:latin typeface="Times New Roman" pitchFamily="18" charset="0"/>
                <a:cs typeface="Times New Roman" pitchFamily="18" charset="0"/>
              </a:rPr>
              <a:t>Both the statements together can give the value of length of the rectangle. </a:t>
            </a:r>
          </a:p>
        </p:txBody>
      </p:sp>
    </p:spTree>
    <p:extLst>
      <p:ext uri="{BB962C8B-B14F-4D97-AF65-F5344CB8AC3E}">
        <p14:creationId xmlns:p14="http://schemas.microsoft.com/office/powerpoint/2010/main" val="281618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9232"/>
            <a:ext cx="9144000" cy="2862322"/>
          </a:xfrm>
          <a:prstGeom prst="rect">
            <a:avLst/>
          </a:prstGeom>
        </p:spPr>
        <p:txBody>
          <a:bodyPr wrap="square">
            <a:spAutoFit/>
          </a:bodyPr>
          <a:lstStyle/>
          <a:p>
            <a:r>
              <a:rPr lang="en-US" b="1" dirty="0">
                <a:latin typeface="Times New Roman" pitchFamily="18" charset="0"/>
                <a:cs typeface="Times New Roman" pitchFamily="18" charset="0"/>
              </a:rPr>
              <a:t>Directions: Each of the questions below consists of a question and two statements numbered I and II </a:t>
            </a:r>
            <a:r>
              <a:rPr lang="en-US" b="1" dirty="0" smtClean="0">
                <a:latin typeface="Times New Roman" pitchFamily="18" charset="0"/>
                <a:cs typeface="Times New Roman" pitchFamily="18" charset="0"/>
              </a:rPr>
              <a:t>given below </a:t>
            </a:r>
            <a:r>
              <a:rPr lang="en-US" b="1" dirty="0">
                <a:latin typeface="Times New Roman" pitchFamily="18" charset="0"/>
                <a:cs typeface="Times New Roman" pitchFamily="18" charset="0"/>
              </a:rPr>
              <a:t>it. You have to decide whether the data provided in the statements are sufficient to answer </a:t>
            </a:r>
            <a:r>
              <a:rPr lang="en-US" b="1" dirty="0" smtClean="0">
                <a:latin typeface="Times New Roman" pitchFamily="18" charset="0"/>
                <a:cs typeface="Times New Roman" pitchFamily="18" charset="0"/>
              </a:rPr>
              <a:t>the question</a:t>
            </a:r>
            <a:r>
              <a:rPr lang="en-US" b="1" dirty="0">
                <a:latin typeface="Times New Roman" pitchFamily="18" charset="0"/>
                <a:cs typeface="Times New Roman" pitchFamily="18" charset="0"/>
              </a:rPr>
              <a:t>. Read both the statements and give answer:</a:t>
            </a:r>
          </a:p>
          <a:p>
            <a:r>
              <a:rPr lang="en-US" dirty="0">
                <a:latin typeface="Times New Roman" pitchFamily="18" charset="0"/>
                <a:cs typeface="Times New Roman" pitchFamily="18" charset="0"/>
              </a:rPr>
              <a:t>A. the data in statement I alone is sufficient to answer the question, while the data in statement II alone is </a:t>
            </a:r>
            <a:r>
              <a:rPr lang="en-US" dirty="0" smtClean="0">
                <a:latin typeface="Times New Roman" pitchFamily="18" charset="0"/>
                <a:cs typeface="Times New Roman" pitchFamily="18" charset="0"/>
              </a:rPr>
              <a:t>not sufficient </a:t>
            </a:r>
            <a:r>
              <a:rPr lang="en-US" dirty="0">
                <a:latin typeface="Times New Roman" pitchFamily="18" charset="0"/>
                <a:cs typeface="Times New Roman" pitchFamily="18" charset="0"/>
              </a:rPr>
              <a:t>to answer the question.</a:t>
            </a:r>
          </a:p>
          <a:p>
            <a:r>
              <a:rPr lang="en-US" dirty="0">
                <a:latin typeface="Times New Roman" pitchFamily="18" charset="0"/>
                <a:cs typeface="Times New Roman" pitchFamily="18" charset="0"/>
              </a:rPr>
              <a:t>B. the data in statements II alone is sufficient to answer the question, while the data in statement I alone is </a:t>
            </a:r>
            <a:r>
              <a:rPr lang="en-US" dirty="0" smtClean="0">
                <a:latin typeface="Times New Roman" pitchFamily="18" charset="0"/>
                <a:cs typeface="Times New Roman" pitchFamily="18" charset="0"/>
              </a:rPr>
              <a:t>not sufficient </a:t>
            </a:r>
            <a:r>
              <a:rPr lang="en-US" dirty="0">
                <a:latin typeface="Times New Roman" pitchFamily="18" charset="0"/>
                <a:cs typeface="Times New Roman" pitchFamily="18" charset="0"/>
              </a:rPr>
              <a:t>to answer the question.</a:t>
            </a:r>
          </a:p>
          <a:p>
            <a:r>
              <a:rPr lang="en-US" dirty="0">
                <a:latin typeface="Times New Roman" pitchFamily="18" charset="0"/>
                <a:cs typeface="Times New Roman" pitchFamily="18" charset="0"/>
              </a:rPr>
              <a:t>C. Either Statement I or Statement II alone is sufficient to answer the question.</a:t>
            </a:r>
          </a:p>
          <a:p>
            <a:r>
              <a:rPr lang="en-US" dirty="0">
                <a:latin typeface="Times New Roman" pitchFamily="18" charset="0"/>
                <a:cs typeface="Times New Roman" pitchFamily="18" charset="0"/>
              </a:rPr>
              <a:t>D. Neither statement I nor statement II is sufficient to answer the questions.</a:t>
            </a:r>
          </a:p>
          <a:p>
            <a:r>
              <a:rPr lang="en-US" dirty="0">
                <a:latin typeface="Times New Roman" pitchFamily="18" charset="0"/>
                <a:cs typeface="Times New Roman" pitchFamily="18" charset="0"/>
              </a:rPr>
              <a:t>E. The data in both the statements I and II together is necessary to answer the question.</a:t>
            </a:r>
            <a:endParaRPr lang="en-IN" dirty="0">
              <a:latin typeface="Times New Roman" pitchFamily="18" charset="0"/>
              <a:cs typeface="Times New Roman" pitchFamily="18" charset="0"/>
            </a:endParaRPr>
          </a:p>
        </p:txBody>
      </p:sp>
      <p:sp>
        <p:nvSpPr>
          <p:cNvPr id="3" name="Rectangle 2"/>
          <p:cNvSpPr/>
          <p:nvPr/>
        </p:nvSpPr>
        <p:spPr>
          <a:xfrm>
            <a:off x="152400" y="2911554"/>
            <a:ext cx="8610600" cy="1200329"/>
          </a:xfrm>
          <a:prstGeom prst="rect">
            <a:avLst/>
          </a:prstGeom>
        </p:spPr>
        <p:txBody>
          <a:bodyPr wrap="square">
            <a:spAutoFit/>
          </a:bodyPr>
          <a:lstStyle/>
          <a:p>
            <a:r>
              <a:rPr lang="en-US" b="1" dirty="0">
                <a:latin typeface="Times New Roman" pitchFamily="18" charset="0"/>
                <a:cs typeface="Times New Roman" pitchFamily="18" charset="0"/>
              </a:rPr>
              <a:t>1. Two friends A and B together can complete a piece of work in 10 days. In how many days A alone </a:t>
            </a:r>
            <a:r>
              <a:rPr lang="en-US" b="1" dirty="0" smtClean="0">
                <a:latin typeface="Times New Roman" pitchFamily="18" charset="0"/>
                <a:cs typeface="Times New Roman" pitchFamily="18" charset="0"/>
              </a:rPr>
              <a:t>complete </a:t>
            </a:r>
            <a:r>
              <a:rPr lang="en-IN" b="1" dirty="0" smtClean="0">
                <a:latin typeface="Times New Roman" pitchFamily="18" charset="0"/>
                <a:cs typeface="Times New Roman" pitchFamily="18" charset="0"/>
              </a:rPr>
              <a:t>the </a:t>
            </a:r>
            <a:r>
              <a:rPr lang="en-IN" b="1" dirty="0">
                <a:latin typeface="Times New Roman" pitchFamily="18" charset="0"/>
                <a:cs typeface="Times New Roman" pitchFamily="18" charset="0"/>
              </a:rPr>
              <a:t>piece of work?</a:t>
            </a:r>
          </a:p>
          <a:p>
            <a:r>
              <a:rPr lang="en-US" b="1" dirty="0">
                <a:latin typeface="Times New Roman" pitchFamily="18" charset="0"/>
                <a:cs typeface="Times New Roman" pitchFamily="18" charset="0"/>
              </a:rPr>
              <a:t>Statement I: B alone can complete half of the work in 12.5 days.</a:t>
            </a:r>
          </a:p>
          <a:p>
            <a:r>
              <a:rPr lang="en-US" b="1" dirty="0">
                <a:latin typeface="Times New Roman" pitchFamily="18" charset="0"/>
                <a:cs typeface="Times New Roman" pitchFamily="18" charset="0"/>
              </a:rPr>
              <a:t>Statement II: The efficiency of A is 50% more than that of B.</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936071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285750"/>
            <a:ext cx="8991600" cy="1200329"/>
          </a:xfrm>
          <a:prstGeom prst="rect">
            <a:avLst/>
          </a:prstGeom>
        </p:spPr>
        <p:txBody>
          <a:bodyPr wrap="square">
            <a:spAutoFit/>
          </a:bodyPr>
          <a:lstStyle/>
          <a:p>
            <a:r>
              <a:rPr lang="en-US" b="1" dirty="0">
                <a:latin typeface="Times New Roman" pitchFamily="18" charset="0"/>
                <a:cs typeface="Times New Roman" pitchFamily="18" charset="0"/>
              </a:rPr>
              <a:t>2. When length of a rectangle was increased by 20% and breadth remains constant then area was increased </a:t>
            </a:r>
            <a:r>
              <a:rPr lang="en-US" b="1" dirty="0" smtClean="0">
                <a:latin typeface="Times New Roman" pitchFamily="18" charset="0"/>
                <a:cs typeface="Times New Roman" pitchFamily="18" charset="0"/>
              </a:rPr>
              <a:t>by 100 </a:t>
            </a:r>
            <a:r>
              <a:rPr lang="en-US" b="1" dirty="0">
                <a:latin typeface="Times New Roman" pitchFamily="18" charset="0"/>
                <a:cs typeface="Times New Roman" pitchFamily="18" charset="0"/>
              </a:rPr>
              <a:t>sq. cm. What is the perimeter of the rectangle?</a:t>
            </a:r>
          </a:p>
          <a:p>
            <a:r>
              <a:rPr lang="en-US" b="1" dirty="0">
                <a:latin typeface="Times New Roman" pitchFamily="18" charset="0"/>
                <a:cs typeface="Times New Roman" pitchFamily="18" charset="0"/>
              </a:rPr>
              <a:t>Statement I: After increasing the length, the rectangle becomes a square.</a:t>
            </a:r>
          </a:p>
          <a:p>
            <a:r>
              <a:rPr lang="en-US" b="1" dirty="0">
                <a:latin typeface="Times New Roman" pitchFamily="18" charset="0"/>
                <a:cs typeface="Times New Roman" pitchFamily="18" charset="0"/>
              </a:rPr>
              <a:t>Statement II: After increasing the length, all the angles of the rectangle become 90 degree.</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1321802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 y="209550"/>
            <a:ext cx="8839200" cy="1477328"/>
          </a:xfrm>
          <a:prstGeom prst="rect">
            <a:avLst/>
          </a:prstGeom>
        </p:spPr>
        <p:txBody>
          <a:bodyPr wrap="square">
            <a:spAutoFit/>
          </a:bodyPr>
          <a:lstStyle/>
          <a:p>
            <a:r>
              <a:rPr lang="en-US" b="1" dirty="0">
                <a:latin typeface="Times New Roman" pitchFamily="18" charset="0"/>
                <a:cs typeface="Times New Roman" pitchFamily="18" charset="0"/>
              </a:rPr>
              <a:t>3. One day I left my home at 7 : 00 AM and assumed that if I run at uniform speed then I will reach my </a:t>
            </a:r>
            <a:r>
              <a:rPr lang="en-US" b="1" dirty="0" smtClean="0">
                <a:latin typeface="Times New Roman" pitchFamily="18" charset="0"/>
                <a:cs typeface="Times New Roman" pitchFamily="18" charset="0"/>
              </a:rPr>
              <a:t>school at </a:t>
            </a:r>
            <a:r>
              <a:rPr lang="en-US" b="1" dirty="0">
                <a:latin typeface="Times New Roman" pitchFamily="18" charset="0"/>
                <a:cs typeface="Times New Roman" pitchFamily="18" charset="0"/>
              </a:rPr>
              <a:t>12 : 00 AM. If my brother left the school for home at 8 : 00 AM with his uniform speed, then at what </a:t>
            </a:r>
            <a:r>
              <a:rPr lang="en-US" b="1" dirty="0" smtClean="0">
                <a:latin typeface="Times New Roman" pitchFamily="18" charset="0"/>
                <a:cs typeface="Times New Roman" pitchFamily="18" charset="0"/>
              </a:rPr>
              <a:t>time </a:t>
            </a:r>
            <a:r>
              <a:rPr lang="en-IN" b="1" dirty="0" smtClean="0">
                <a:latin typeface="Times New Roman" pitchFamily="18" charset="0"/>
                <a:cs typeface="Times New Roman" pitchFamily="18" charset="0"/>
              </a:rPr>
              <a:t>would </a:t>
            </a:r>
            <a:r>
              <a:rPr lang="en-IN" b="1" dirty="0">
                <a:latin typeface="Times New Roman" pitchFamily="18" charset="0"/>
                <a:cs typeface="Times New Roman" pitchFamily="18" charset="0"/>
              </a:rPr>
              <a:t>he meet me?</a:t>
            </a:r>
          </a:p>
          <a:p>
            <a:r>
              <a:rPr lang="en-US" b="1" dirty="0">
                <a:latin typeface="Times New Roman" pitchFamily="18" charset="0"/>
                <a:cs typeface="Times New Roman" pitchFamily="18" charset="0"/>
              </a:rPr>
              <a:t>Statement I: The uniform speed of my brother is 14 km per hour.</a:t>
            </a:r>
          </a:p>
          <a:p>
            <a:r>
              <a:rPr lang="en-US" b="1" dirty="0">
                <a:latin typeface="Times New Roman" pitchFamily="18" charset="0"/>
                <a:cs typeface="Times New Roman" pitchFamily="18" charset="0"/>
              </a:rPr>
              <a:t>Statement II: He can reach home at 11:30 AM.</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1507884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263426"/>
            <a:ext cx="8153400" cy="1200329"/>
          </a:xfrm>
          <a:prstGeom prst="rect">
            <a:avLst/>
          </a:prstGeom>
        </p:spPr>
        <p:txBody>
          <a:bodyPr wrap="square">
            <a:spAutoFit/>
          </a:bodyPr>
          <a:lstStyle/>
          <a:p>
            <a:r>
              <a:rPr lang="en-US" b="1" dirty="0">
                <a:latin typeface="Times New Roman" pitchFamily="18" charset="0"/>
                <a:cs typeface="Times New Roman" pitchFamily="18" charset="0"/>
              </a:rPr>
              <a:t>5 years ago, Ram was 5 times as old as me. At present, what is the age of Ram?</a:t>
            </a:r>
          </a:p>
          <a:p>
            <a:r>
              <a:rPr lang="en-US" b="1" dirty="0">
                <a:latin typeface="Times New Roman" pitchFamily="18" charset="0"/>
                <a:cs typeface="Times New Roman" pitchFamily="18" charset="0"/>
              </a:rPr>
              <a:t>Statement I: 2 years ago, Ram got married and at present, the average age of Ram and his wife is 52 years.</a:t>
            </a:r>
          </a:p>
          <a:p>
            <a:r>
              <a:rPr lang="en-US" b="1" dirty="0">
                <a:latin typeface="Times New Roman" pitchFamily="18" charset="0"/>
                <a:cs typeface="Times New Roman" pitchFamily="18" charset="0"/>
              </a:rPr>
              <a:t>Statement II: 5 years hence, Ram will be 2 times as old as his wife.</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589924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209550"/>
            <a:ext cx="8610600" cy="923330"/>
          </a:xfrm>
          <a:prstGeom prst="rect">
            <a:avLst/>
          </a:prstGeom>
        </p:spPr>
        <p:txBody>
          <a:bodyPr wrap="square">
            <a:spAutoFit/>
          </a:bodyPr>
          <a:lstStyle/>
          <a:p>
            <a:r>
              <a:rPr lang="en-US" dirty="0">
                <a:latin typeface="Times New Roman" pitchFamily="18" charset="0"/>
                <a:cs typeface="Times New Roman" pitchFamily="18" charset="0"/>
              </a:rPr>
              <a:t>Is x an even number?</a:t>
            </a:r>
          </a:p>
          <a:p>
            <a:r>
              <a:rPr lang="en-US" b="1" dirty="0">
                <a:latin typeface="Times New Roman" pitchFamily="18" charset="0"/>
                <a:cs typeface="Times New Roman" pitchFamily="18" charset="0"/>
              </a:rPr>
              <a:t>Statement I: </a:t>
            </a:r>
            <a:r>
              <a:rPr lang="en-US" dirty="0">
                <a:latin typeface="Times New Roman" pitchFamily="18" charset="0"/>
                <a:cs typeface="Times New Roman" pitchFamily="18" charset="0"/>
              </a:rPr>
              <a:t>8x + 5y is an even number.</a:t>
            </a:r>
          </a:p>
          <a:p>
            <a:r>
              <a:rPr lang="en-US" b="1" dirty="0">
                <a:latin typeface="Times New Roman" pitchFamily="18" charset="0"/>
                <a:cs typeface="Times New Roman" pitchFamily="18" charset="0"/>
              </a:rPr>
              <a:t>Statement II: </a:t>
            </a:r>
            <a:r>
              <a:rPr lang="en-US" dirty="0">
                <a:latin typeface="Times New Roman" pitchFamily="18" charset="0"/>
                <a:cs typeface="Times New Roman" pitchFamily="18" charset="0"/>
              </a:rPr>
              <a:t>3x + 6y is an even number</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201585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265871"/>
            <a:ext cx="8305800" cy="1200329"/>
          </a:xfrm>
          <a:prstGeom prst="rect">
            <a:avLst/>
          </a:prstGeom>
        </p:spPr>
        <p:txBody>
          <a:bodyPr wrap="square">
            <a:spAutoFit/>
          </a:bodyPr>
          <a:lstStyle/>
          <a:p>
            <a:r>
              <a:rPr lang="en-US" dirty="0">
                <a:latin typeface="Times New Roman" pitchFamily="18" charset="0"/>
                <a:cs typeface="Times New Roman" pitchFamily="18" charset="0"/>
              </a:rPr>
              <a:t>A boy riding a bicycle at a uniform speed, complete a round of a square park in 30 seconds. What is the </a:t>
            </a:r>
            <a:r>
              <a:rPr lang="en-US" dirty="0" smtClean="0">
                <a:latin typeface="Times New Roman" pitchFamily="18" charset="0"/>
                <a:cs typeface="Times New Roman" pitchFamily="18" charset="0"/>
              </a:rPr>
              <a:t>area </a:t>
            </a:r>
            <a:r>
              <a:rPr lang="en-IN" dirty="0" smtClean="0">
                <a:latin typeface="Times New Roman" pitchFamily="18" charset="0"/>
                <a:cs typeface="Times New Roman" pitchFamily="18" charset="0"/>
              </a:rPr>
              <a:t>of </a:t>
            </a:r>
            <a:r>
              <a:rPr lang="en-IN" dirty="0">
                <a:latin typeface="Times New Roman" pitchFamily="18" charset="0"/>
                <a:cs typeface="Times New Roman" pitchFamily="18" charset="0"/>
              </a:rPr>
              <a:t>the park?</a:t>
            </a:r>
          </a:p>
          <a:p>
            <a:r>
              <a:rPr lang="en-US" b="1" dirty="0">
                <a:latin typeface="Times New Roman" pitchFamily="18" charset="0"/>
                <a:cs typeface="Times New Roman" pitchFamily="18" charset="0"/>
              </a:rPr>
              <a:t>Statement I: </a:t>
            </a:r>
            <a:r>
              <a:rPr lang="en-US" dirty="0">
                <a:latin typeface="Times New Roman" pitchFamily="18" charset="0"/>
                <a:cs typeface="Times New Roman" pitchFamily="18" charset="0"/>
              </a:rPr>
              <a:t>The uniform speed of the boy is 20 meters per second</a:t>
            </a:r>
          </a:p>
          <a:p>
            <a:r>
              <a:rPr lang="en-US" b="1" dirty="0">
                <a:latin typeface="Times New Roman" pitchFamily="18" charset="0"/>
                <a:cs typeface="Times New Roman" pitchFamily="18" charset="0"/>
              </a:rPr>
              <a:t>Statement II: </a:t>
            </a:r>
            <a:r>
              <a:rPr lang="en-US" dirty="0">
                <a:latin typeface="Times New Roman" pitchFamily="18" charset="0"/>
                <a:cs typeface="Times New Roman" pitchFamily="18" charset="0"/>
              </a:rPr>
              <a:t>One side of the park is 150 meters.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243846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133350"/>
            <a:ext cx="8610600" cy="1200329"/>
          </a:xfrm>
          <a:prstGeom prst="rect">
            <a:avLst/>
          </a:prstGeom>
        </p:spPr>
        <p:txBody>
          <a:bodyPr wrap="square">
            <a:spAutoFit/>
          </a:bodyPr>
          <a:lstStyle/>
          <a:p>
            <a:r>
              <a:rPr lang="en-US" b="1" dirty="0">
                <a:latin typeface="Times New Roman" pitchFamily="18" charset="0"/>
                <a:cs typeface="Times New Roman" pitchFamily="18" charset="0"/>
              </a:rPr>
              <a:t>7. The length of the train how much percentage less than that of the platform of length x meters?</a:t>
            </a:r>
          </a:p>
          <a:p>
            <a:r>
              <a:rPr lang="en-US" b="1" dirty="0">
                <a:latin typeface="Times New Roman" pitchFamily="18" charset="0"/>
                <a:cs typeface="Times New Roman" pitchFamily="18" charset="0"/>
              </a:rPr>
              <a:t>Statement I: The train cross the x meters long platform in 30 seconds.</a:t>
            </a:r>
          </a:p>
          <a:p>
            <a:r>
              <a:rPr lang="en-US" b="1" dirty="0">
                <a:latin typeface="Times New Roman" pitchFamily="18" charset="0"/>
                <a:cs typeface="Times New Roman" pitchFamily="18" charset="0"/>
              </a:rPr>
              <a:t>Statement II: The train crosses a signal pole in 15 seconds</a:t>
            </a:r>
            <a:endParaRPr lang="en-IN" b="1" dirty="0">
              <a:latin typeface="Times New Roman" pitchFamily="18" charset="0"/>
              <a:cs typeface="Times New Roman" pitchFamily="18" charset="0"/>
            </a:endParaRPr>
          </a:p>
        </p:txBody>
      </p:sp>
    </p:spTree>
    <p:extLst>
      <p:ext uri="{BB962C8B-B14F-4D97-AF65-F5344CB8AC3E}">
        <p14:creationId xmlns:p14="http://schemas.microsoft.com/office/powerpoint/2010/main" val="3914356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1" y="757840"/>
            <a:ext cx="4867615" cy="954107"/>
          </a:xfrm>
          <a:prstGeom prst="rect">
            <a:avLst/>
          </a:prstGeom>
        </p:spPr>
        <p:txBody>
          <a:bodyPr wrap="none">
            <a:spAutoFit/>
          </a:bodyPr>
          <a:lstStyle/>
          <a:p>
            <a:pPr lvl="0" algn="ctr"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QUANTITATIVE APTITUDE</a:t>
            </a:r>
          </a:p>
          <a:p>
            <a:pPr lvl="0" algn="ctr"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DATA INTERPRETATION</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953000" y="2807494"/>
            <a:ext cx="3270382" cy="1384995"/>
          </a:xfrm>
          <a:prstGeom prst="rect">
            <a:avLst/>
          </a:prstGeom>
        </p:spPr>
        <p:txBody>
          <a:bodyPr wrap="none">
            <a:spAutoFit/>
          </a:bodyPr>
          <a:lstStyle/>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768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33600" y="285750"/>
            <a:ext cx="2650084" cy="461665"/>
          </a:xfrm>
          <a:prstGeom prst="rect">
            <a:avLst/>
          </a:prstGeom>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lvl="0" fontAlgn="base">
              <a:spcBef>
                <a:spcPct val="0"/>
              </a:spcBef>
              <a:spcAft>
                <a:spcPct val="0"/>
              </a:spcAft>
            </a:pP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rPr>
              <a:t>INTRODUCTION</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ea typeface="Times New Roman" pitchFamily="18" charset="0"/>
              <a:cs typeface="Times New Roman" pitchFamily="18" charset="0"/>
            </a:endParaRPr>
          </a:p>
        </p:txBody>
      </p:sp>
      <p:sp>
        <p:nvSpPr>
          <p:cNvPr id="7" name="Rectangle 6"/>
          <p:cNvSpPr/>
          <p:nvPr/>
        </p:nvSpPr>
        <p:spPr>
          <a:xfrm>
            <a:off x="381000" y="1544419"/>
            <a:ext cx="8229600" cy="707886"/>
          </a:xfrm>
          <a:prstGeom prst="rect">
            <a:avLst/>
          </a:prstGeom>
        </p:spPr>
        <p:txBody>
          <a:bodyPr wrap="square">
            <a:spAutoFit/>
          </a:bodyPr>
          <a:lstStyle/>
          <a:p>
            <a:r>
              <a:rPr lang="en-US" sz="2000" dirty="0">
                <a:latin typeface="Times New Roman" pitchFamily="18" charset="0"/>
                <a:cs typeface="Times New Roman" pitchFamily="18" charset="0"/>
              </a:rPr>
              <a:t>Data Interpretation questions are based on the information given in the tables and </a:t>
            </a:r>
            <a:r>
              <a:rPr lang="en-US" sz="2000" dirty="0" smtClean="0">
                <a:latin typeface="Times New Roman" pitchFamily="18" charset="0"/>
                <a:cs typeface="Times New Roman" pitchFamily="18" charset="0"/>
              </a:rPr>
              <a:t>graphs, charts.</a:t>
            </a:r>
            <a:endParaRPr lang="en-US" sz="2000" dirty="0">
              <a:latin typeface="Times New Roman" pitchFamily="18" charset="0"/>
              <a:cs typeface="Times New Roman" pitchFamily="18" charset="0"/>
            </a:endParaRPr>
          </a:p>
        </p:txBody>
      </p:sp>
      <p:sp>
        <p:nvSpPr>
          <p:cNvPr id="9" name="Rectangle 8"/>
          <p:cNvSpPr/>
          <p:nvPr/>
        </p:nvSpPr>
        <p:spPr>
          <a:xfrm>
            <a:off x="381000" y="774343"/>
            <a:ext cx="8229600" cy="707886"/>
          </a:xfrm>
          <a:prstGeom prst="rect">
            <a:avLst/>
          </a:prstGeom>
        </p:spPr>
        <p:txBody>
          <a:bodyPr wrap="square">
            <a:spAutoFit/>
          </a:bodyPr>
          <a:lstStyle/>
          <a:p>
            <a:r>
              <a:rPr lang="en-US" sz="2000" dirty="0">
                <a:latin typeface="Times New Roman" pitchFamily="18" charset="0"/>
                <a:cs typeface="Times New Roman" pitchFamily="18" charset="0"/>
              </a:rPr>
              <a:t>Data interpretation is the process of reviewing data and drawing meaningful conclusions using a variety of analytical approaches.</a:t>
            </a:r>
          </a:p>
        </p:txBody>
      </p:sp>
    </p:spTree>
    <p:extLst>
      <p:ext uri="{BB962C8B-B14F-4D97-AF65-F5344CB8AC3E}">
        <p14:creationId xmlns:p14="http://schemas.microsoft.com/office/powerpoint/2010/main" val="41274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7700" y="209550"/>
            <a:ext cx="6134100"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How to Solve </a:t>
            </a:r>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5" name="Rectangle 24"/>
          <p:cNvSpPr/>
          <p:nvPr/>
        </p:nvSpPr>
        <p:spPr>
          <a:xfrm>
            <a:off x="647700" y="671215"/>
            <a:ext cx="6438900" cy="400110"/>
          </a:xfrm>
          <a:prstGeom prst="rect">
            <a:avLst/>
          </a:prstGeom>
        </p:spPr>
        <p:txBody>
          <a:bodyPr wrap="square">
            <a:spAutoFit/>
          </a:bodyPr>
          <a:lstStyle/>
          <a:p>
            <a:r>
              <a:rPr lang="en-US" sz="2000" dirty="0">
                <a:latin typeface="Times New Roman" pitchFamily="18" charset="0"/>
                <a:cs typeface="Times New Roman" pitchFamily="18" charset="0"/>
              </a:rPr>
              <a:t>The step by step process for Interpreting Data includes:</a:t>
            </a:r>
          </a:p>
        </p:txBody>
      </p:sp>
      <p:sp>
        <p:nvSpPr>
          <p:cNvPr id="26" name="Rectangle 25"/>
          <p:cNvSpPr/>
          <p:nvPr/>
        </p:nvSpPr>
        <p:spPr>
          <a:xfrm>
            <a:off x="990600" y="1040547"/>
            <a:ext cx="7620000" cy="1015663"/>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Collect The Information You’ll Need To Interpret Data </a:t>
            </a:r>
            <a:r>
              <a:rPr lang="en-US" sz="2000" dirty="0">
                <a:latin typeface="Times New Roman" pitchFamily="18" charset="0"/>
                <a:cs typeface="Times New Roman" pitchFamily="18" charset="0"/>
              </a:rPr>
              <a:t>– collect all the information you will need to interpret the data. Put all this information into easy to read tables, graphs, charts etc.</a:t>
            </a:r>
          </a:p>
        </p:txBody>
      </p:sp>
      <p:sp>
        <p:nvSpPr>
          <p:cNvPr id="27" name="Rectangle 26"/>
          <p:cNvSpPr/>
          <p:nvPr/>
        </p:nvSpPr>
        <p:spPr>
          <a:xfrm>
            <a:off x="1066800" y="1963877"/>
            <a:ext cx="7543800" cy="1015663"/>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Develop findings </a:t>
            </a:r>
            <a:r>
              <a:rPr lang="en-US" sz="2000" b="1" dirty="0" smtClean="0">
                <a:latin typeface="Times New Roman" pitchFamily="18" charset="0"/>
                <a:cs typeface="Times New Roman" pitchFamily="18" charset="0"/>
              </a:rPr>
              <a:t>of Your </a:t>
            </a:r>
            <a:r>
              <a:rPr lang="en-US" sz="2000" b="1" dirty="0">
                <a:latin typeface="Times New Roman" pitchFamily="18" charset="0"/>
                <a:cs typeface="Times New Roman" pitchFamily="18" charset="0"/>
              </a:rPr>
              <a:t>Data –</a:t>
            </a:r>
            <a:r>
              <a:rPr lang="en-US" sz="2000" dirty="0">
                <a:latin typeface="Times New Roman" pitchFamily="18" charset="0"/>
                <a:cs typeface="Times New Roman" pitchFamily="18" charset="0"/>
              </a:rPr>
              <a:t> develop observations about your data, </a:t>
            </a:r>
            <a:r>
              <a:rPr lang="en-US" sz="2000" dirty="0" smtClean="0">
                <a:latin typeface="Times New Roman" pitchFamily="18" charset="0"/>
                <a:cs typeface="Times New Roman" pitchFamily="18" charset="0"/>
              </a:rPr>
              <a:t>summarize </a:t>
            </a:r>
            <a:r>
              <a:rPr lang="en-US" sz="2000" dirty="0">
                <a:latin typeface="Times New Roman" pitchFamily="18" charset="0"/>
                <a:cs typeface="Times New Roman" pitchFamily="18" charset="0"/>
              </a:rPr>
              <a:t>the important points, and find the conclusion because that will help you form a more accurate Interpretation.</a:t>
            </a:r>
          </a:p>
        </p:txBody>
      </p:sp>
      <p:sp>
        <p:nvSpPr>
          <p:cNvPr id="28" name="Rectangle 27"/>
          <p:cNvSpPr/>
          <p:nvPr/>
        </p:nvSpPr>
        <p:spPr>
          <a:xfrm>
            <a:off x="1066800" y="2884122"/>
            <a:ext cx="7747000" cy="707886"/>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Development </a:t>
            </a:r>
            <a:r>
              <a:rPr lang="en-US" sz="2000" b="1" dirty="0" smtClean="0">
                <a:latin typeface="Times New Roman" pitchFamily="18" charset="0"/>
                <a:cs typeface="Times New Roman" pitchFamily="18" charset="0"/>
              </a:rPr>
              <a:t>of </a:t>
            </a:r>
            <a:r>
              <a:rPr lang="en-US" sz="2000" b="1" dirty="0">
                <a:latin typeface="Times New Roman" pitchFamily="18" charset="0"/>
                <a:cs typeface="Times New Roman" pitchFamily="18" charset="0"/>
              </a:rPr>
              <a:t>t</a:t>
            </a:r>
            <a:r>
              <a:rPr lang="en-US" sz="2000" b="1" dirty="0" smtClean="0">
                <a:latin typeface="Times New Roman" pitchFamily="18" charset="0"/>
                <a:cs typeface="Times New Roman" pitchFamily="18" charset="0"/>
              </a:rPr>
              <a:t>he </a:t>
            </a:r>
            <a:r>
              <a:rPr lang="en-US" sz="2000" b="1" dirty="0">
                <a:latin typeface="Times New Roman" pitchFamily="18" charset="0"/>
                <a:cs typeface="Times New Roman" pitchFamily="18" charset="0"/>
              </a:rPr>
              <a:t>Conclusion – </a:t>
            </a:r>
            <a:r>
              <a:rPr lang="en-US" sz="2000" dirty="0">
                <a:latin typeface="Times New Roman" pitchFamily="18" charset="0"/>
                <a:cs typeface="Times New Roman" pitchFamily="18" charset="0"/>
              </a:rPr>
              <a:t>the conclusion is remarked as an explanation of your data. The conclusion should relate to your data.</a:t>
            </a:r>
          </a:p>
        </p:txBody>
      </p:sp>
      <p:sp>
        <p:nvSpPr>
          <p:cNvPr id="29" name="Rectangle 28"/>
          <p:cNvSpPr/>
          <p:nvPr/>
        </p:nvSpPr>
        <p:spPr>
          <a:xfrm>
            <a:off x="1066800" y="3562350"/>
            <a:ext cx="7467600" cy="1015663"/>
          </a:xfrm>
          <a:prstGeom prst="rect">
            <a:avLst/>
          </a:prstGeom>
        </p:spPr>
        <p:txBody>
          <a:bodyPr wrap="square">
            <a:spAutoFit/>
          </a:bodyPr>
          <a:lstStyle/>
          <a:p>
            <a:pPr marL="285750" indent="-285750">
              <a:buFont typeface="Wingdings" pitchFamily="2" charset="2"/>
              <a:buChar char="q"/>
            </a:pPr>
            <a:r>
              <a:rPr lang="en-US" sz="2000" b="1" dirty="0">
                <a:latin typeface="Times New Roman" pitchFamily="18" charset="0"/>
                <a:cs typeface="Times New Roman" pitchFamily="18" charset="0"/>
              </a:rPr>
              <a:t>Develop The Recommendations </a:t>
            </a:r>
            <a:r>
              <a:rPr lang="en-US" sz="2000" b="1" dirty="0" smtClean="0">
                <a:latin typeface="Times New Roman" pitchFamily="18" charset="0"/>
                <a:cs typeface="Times New Roman" pitchFamily="18" charset="0"/>
              </a:rPr>
              <a:t>of  Your </a:t>
            </a:r>
            <a:r>
              <a:rPr lang="en-US" sz="2000" b="1" dirty="0">
                <a:latin typeface="Times New Roman" pitchFamily="18" charset="0"/>
                <a:cs typeface="Times New Roman" pitchFamily="18" charset="0"/>
              </a:rPr>
              <a:t>Data – </a:t>
            </a:r>
            <a:r>
              <a:rPr lang="en-US" sz="2000" dirty="0">
                <a:latin typeface="Times New Roman" pitchFamily="18" charset="0"/>
                <a:cs typeface="Times New Roman" pitchFamily="18" charset="0"/>
              </a:rPr>
              <a:t> the recommendation of your data should be based on your conclusion and findings.</a:t>
            </a:r>
          </a:p>
        </p:txBody>
      </p:sp>
    </p:spTree>
    <p:extLst>
      <p:ext uri="{BB962C8B-B14F-4D97-AF65-F5344CB8AC3E}">
        <p14:creationId xmlns:p14="http://schemas.microsoft.com/office/powerpoint/2010/main" val="401455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81620"/>
            <a:ext cx="8153400" cy="369332"/>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Study the following table and answer the questions</a:t>
            </a:r>
            <a:r>
              <a:rPr lang="en-US" b="1" dirty="0" smtClean="0">
                <a:solidFill>
                  <a:srgbClr val="FF0000"/>
                </a:solidFill>
                <a:latin typeface="Times New Roman" pitchFamily="18" charset="0"/>
                <a:cs typeface="Times New Roman" pitchFamily="18" charset="0"/>
              </a:rPr>
              <a:t>.</a:t>
            </a:r>
            <a:endParaRPr lang="en-US" b="1" dirty="0">
              <a:solidFill>
                <a:srgbClr val="FF0000"/>
              </a:solidFill>
              <a:latin typeface="Times New Roman" pitchFamily="18" charset="0"/>
              <a:cs typeface="Times New Roman" pitchFamily="18" charset="0"/>
            </a:endParaRPr>
          </a:p>
        </p:txBody>
      </p:sp>
      <p:pic>
        <p:nvPicPr>
          <p:cNvPr id="1026" name="Picture 2"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3177"/>
            <a:ext cx="5172797" cy="284837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2400" y="892264"/>
            <a:ext cx="8661400"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Total number of candidates qualified from all the states together in 1997 is approximately what percentage of the total number of candidates qualified from all the states together in 1998</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A.72 %	B. 77% C. 80% D. 83 %</a:t>
            </a:r>
            <a:endParaRPr lang="en-US" b="1" dirty="0">
              <a:solidFill>
                <a:srgbClr val="FF0000"/>
              </a:solidFill>
              <a:latin typeface="Times New Roman" pitchFamily="18" charset="0"/>
              <a:cs typeface="Times New Roman" pitchFamily="18" charset="0"/>
            </a:endParaRPr>
          </a:p>
        </p:txBody>
      </p:sp>
      <p:sp>
        <p:nvSpPr>
          <p:cNvPr id="8" name="Rectangle 7"/>
          <p:cNvSpPr/>
          <p:nvPr/>
        </p:nvSpPr>
        <p:spPr>
          <a:xfrm>
            <a:off x="5486400" y="1748511"/>
            <a:ext cx="2234586" cy="369332"/>
          </a:xfrm>
          <a:prstGeom prst="rect">
            <a:avLst/>
          </a:prstGeom>
        </p:spPr>
        <p:txBody>
          <a:bodyPr wrap="none">
            <a:spAutoFit/>
          </a:bodyPr>
          <a:lstStyle/>
          <a:p>
            <a:r>
              <a:rPr lang="en-US" b="1" dirty="0">
                <a:latin typeface="Times New Roman" pitchFamily="18" charset="0"/>
                <a:cs typeface="Times New Roman" pitchFamily="18" charset="0"/>
              </a:rPr>
              <a:t>Required percentage</a:t>
            </a:r>
          </a:p>
        </p:txBody>
      </p:sp>
      <p:sp>
        <p:nvSpPr>
          <p:cNvPr id="9" name="Rectangle 8"/>
          <p:cNvSpPr/>
          <p:nvPr/>
        </p:nvSpPr>
        <p:spPr>
          <a:xfrm>
            <a:off x="4896387" y="2201902"/>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10" name="Rectangle 9"/>
          <p:cNvSpPr/>
          <p:nvPr/>
        </p:nvSpPr>
        <p:spPr>
          <a:xfrm>
            <a:off x="5105400" y="2038350"/>
            <a:ext cx="2973891" cy="369332"/>
          </a:xfrm>
          <a:prstGeom prst="rect">
            <a:avLst/>
          </a:prstGeom>
        </p:spPr>
        <p:txBody>
          <a:bodyPr wrap="none">
            <a:spAutoFit/>
          </a:bodyPr>
          <a:lstStyle/>
          <a:p>
            <a:r>
              <a:rPr lang="en-US" b="1" dirty="0">
                <a:latin typeface="Times New Roman" pitchFamily="18" charset="0"/>
                <a:cs typeface="Times New Roman" pitchFamily="18" charset="0"/>
              </a:rPr>
              <a:t>(720 + 840 + 780 + 950 + 870</a:t>
            </a:r>
          </a:p>
        </p:txBody>
      </p:sp>
      <p:sp>
        <p:nvSpPr>
          <p:cNvPr id="11" name="Rectangle 10"/>
          <p:cNvSpPr/>
          <p:nvPr/>
        </p:nvSpPr>
        <p:spPr>
          <a:xfrm>
            <a:off x="5105400" y="2387084"/>
            <a:ext cx="3243196" cy="369332"/>
          </a:xfrm>
          <a:prstGeom prst="rect">
            <a:avLst/>
          </a:prstGeom>
        </p:spPr>
        <p:txBody>
          <a:bodyPr wrap="none">
            <a:spAutoFit/>
          </a:bodyPr>
          <a:lstStyle/>
          <a:p>
            <a:r>
              <a:rPr lang="en-US" b="1" dirty="0">
                <a:latin typeface="Times New Roman" pitchFamily="18" charset="0"/>
                <a:cs typeface="Times New Roman" pitchFamily="18" charset="0"/>
              </a:rPr>
              <a:t>980 + 1050 + 1020 + 1240 + 940</a:t>
            </a:r>
          </a:p>
        </p:txBody>
      </p:sp>
      <p:sp>
        <p:nvSpPr>
          <p:cNvPr id="12" name="Rectangle 11"/>
          <p:cNvSpPr/>
          <p:nvPr/>
        </p:nvSpPr>
        <p:spPr>
          <a:xfrm>
            <a:off x="8176821" y="2117843"/>
            <a:ext cx="992579" cy="369332"/>
          </a:xfrm>
          <a:prstGeom prst="rect">
            <a:avLst/>
          </a:prstGeom>
        </p:spPr>
        <p:txBody>
          <a:bodyPr wrap="none">
            <a:spAutoFit/>
          </a:bodyPr>
          <a:lstStyle/>
          <a:p>
            <a:r>
              <a:rPr lang="en-US" b="1" dirty="0">
                <a:latin typeface="Times New Roman" pitchFamily="18" charset="0"/>
                <a:cs typeface="Times New Roman" pitchFamily="18" charset="0"/>
              </a:rPr>
              <a:t>x 100 %</a:t>
            </a:r>
          </a:p>
        </p:txBody>
      </p:sp>
      <p:sp>
        <p:nvSpPr>
          <p:cNvPr id="13" name="Rectangle 12"/>
          <p:cNvSpPr/>
          <p:nvPr/>
        </p:nvSpPr>
        <p:spPr>
          <a:xfrm>
            <a:off x="5486400" y="2876550"/>
            <a:ext cx="646331" cy="369332"/>
          </a:xfrm>
          <a:prstGeom prst="rect">
            <a:avLst/>
          </a:prstGeom>
        </p:spPr>
        <p:txBody>
          <a:bodyPr wrap="none">
            <a:spAutoFit/>
          </a:bodyPr>
          <a:lstStyle/>
          <a:p>
            <a:r>
              <a:rPr lang="en-US" b="1" dirty="0">
                <a:latin typeface="Times New Roman" pitchFamily="18" charset="0"/>
                <a:cs typeface="Times New Roman" pitchFamily="18" charset="0"/>
              </a:rPr>
              <a:t>4160</a:t>
            </a:r>
            <a:endParaRPr lang="en-US" dirty="0"/>
          </a:p>
        </p:txBody>
      </p:sp>
      <p:sp>
        <p:nvSpPr>
          <p:cNvPr id="15" name="Rectangle 14"/>
          <p:cNvSpPr/>
          <p:nvPr/>
        </p:nvSpPr>
        <p:spPr>
          <a:xfrm>
            <a:off x="5048787" y="2988031"/>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cxnSp>
        <p:nvCxnSpPr>
          <p:cNvPr id="16" name="Straight Connector 15"/>
          <p:cNvCxnSpPr>
            <a:stCxn id="9" idx="3"/>
          </p:cNvCxnSpPr>
          <p:nvPr/>
        </p:nvCxnSpPr>
        <p:spPr>
          <a:xfrm>
            <a:off x="5210897" y="2386568"/>
            <a:ext cx="286839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a:off x="5480202" y="3209765"/>
            <a:ext cx="652529" cy="0"/>
          </a:xfrm>
          <a:prstGeom prst="line">
            <a:avLst/>
          </a:prstGeom>
          <a:ln w="38100"/>
        </p:spPr>
        <p:style>
          <a:lnRef idx="1">
            <a:schemeClr val="dk1"/>
          </a:lnRef>
          <a:fillRef idx="0">
            <a:schemeClr val="dk1"/>
          </a:fillRef>
          <a:effectRef idx="0">
            <a:schemeClr val="dk1"/>
          </a:effectRef>
          <a:fontRef idx="minor">
            <a:schemeClr val="tx1"/>
          </a:fontRef>
        </p:style>
      </p:cxnSp>
      <p:sp>
        <p:nvSpPr>
          <p:cNvPr id="20" name="Rectangle 19"/>
          <p:cNvSpPr/>
          <p:nvPr/>
        </p:nvSpPr>
        <p:spPr>
          <a:xfrm>
            <a:off x="5480202" y="3181350"/>
            <a:ext cx="646331" cy="369332"/>
          </a:xfrm>
          <a:prstGeom prst="rect">
            <a:avLst/>
          </a:prstGeom>
        </p:spPr>
        <p:txBody>
          <a:bodyPr wrap="none">
            <a:spAutoFit/>
          </a:bodyPr>
          <a:lstStyle/>
          <a:p>
            <a:r>
              <a:rPr lang="en-US" b="1" dirty="0">
                <a:latin typeface="Times New Roman" pitchFamily="18" charset="0"/>
                <a:cs typeface="Times New Roman" pitchFamily="18" charset="0"/>
              </a:rPr>
              <a:t>5230</a:t>
            </a:r>
            <a:endParaRPr lang="en-US" dirty="0"/>
          </a:p>
        </p:txBody>
      </p:sp>
      <p:sp>
        <p:nvSpPr>
          <p:cNvPr id="22" name="Rectangle 21"/>
          <p:cNvSpPr/>
          <p:nvPr/>
        </p:nvSpPr>
        <p:spPr>
          <a:xfrm>
            <a:off x="6057900" y="3016250"/>
            <a:ext cx="992579" cy="369332"/>
          </a:xfrm>
          <a:prstGeom prst="rect">
            <a:avLst/>
          </a:prstGeom>
        </p:spPr>
        <p:txBody>
          <a:bodyPr wrap="none">
            <a:spAutoFit/>
          </a:bodyPr>
          <a:lstStyle/>
          <a:p>
            <a:r>
              <a:rPr lang="en-US" b="1" dirty="0">
                <a:latin typeface="Times New Roman" pitchFamily="18" charset="0"/>
                <a:cs typeface="Times New Roman" pitchFamily="18" charset="0"/>
              </a:rPr>
              <a:t>x 100 %</a:t>
            </a:r>
          </a:p>
        </p:txBody>
      </p:sp>
      <p:sp>
        <p:nvSpPr>
          <p:cNvPr id="21" name="Rectangle 20"/>
          <p:cNvSpPr/>
          <p:nvPr/>
        </p:nvSpPr>
        <p:spPr>
          <a:xfrm>
            <a:off x="5143500" y="3497818"/>
            <a:ext cx="1181734" cy="369332"/>
          </a:xfrm>
          <a:prstGeom prst="rect">
            <a:avLst/>
          </a:prstGeom>
        </p:spPr>
        <p:txBody>
          <a:bodyPr wrap="none">
            <a:spAutoFit/>
          </a:bodyPr>
          <a:lstStyle/>
          <a:p>
            <a:r>
              <a:rPr lang="en-US" b="1" dirty="0">
                <a:latin typeface="Times New Roman" pitchFamily="18" charset="0"/>
                <a:cs typeface="Times New Roman" pitchFamily="18" charset="0"/>
              </a:rPr>
              <a:t>= 79.54% </a:t>
            </a:r>
            <a:endParaRPr lang="en-US" dirty="0"/>
          </a:p>
        </p:txBody>
      </p:sp>
      <p:sp>
        <p:nvSpPr>
          <p:cNvPr id="23" name="Rectangle 22"/>
          <p:cNvSpPr/>
          <p:nvPr/>
        </p:nvSpPr>
        <p:spPr>
          <a:xfrm>
            <a:off x="5180642" y="3904218"/>
            <a:ext cx="955711" cy="369332"/>
          </a:xfrm>
          <a:prstGeom prst="rect">
            <a:avLst/>
          </a:prstGeom>
        </p:spPr>
        <p:txBody>
          <a:bodyPr wrap="none">
            <a:spAutoFit/>
          </a:bodyPr>
          <a:lstStyle/>
          <a:p>
            <a:r>
              <a:rPr lang="en-US" b="1" dirty="0">
                <a:latin typeface="Times New Roman" pitchFamily="18" charset="0"/>
                <a:cs typeface="Times New Roman" pitchFamily="18" charset="0"/>
              </a:rPr>
              <a:t>~= 80</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25" name="Rectangle 24"/>
          <p:cNvSpPr/>
          <p:nvPr/>
        </p:nvSpPr>
        <p:spPr>
          <a:xfrm>
            <a:off x="7210389" y="3848100"/>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24" name="Rectangle 23"/>
          <p:cNvSpPr/>
          <p:nvPr/>
        </p:nvSpPr>
        <p:spPr>
          <a:xfrm>
            <a:off x="2057400" y="128885"/>
            <a:ext cx="47035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TABULAR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18336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wipe(left)">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left)">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left)">
                                      <p:cBhvr>
                                        <p:cTn id="8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P spid="11" grpId="0"/>
      <p:bldP spid="12" grpId="0"/>
      <p:bldP spid="13" grpId="0"/>
      <p:bldP spid="15" grpId="0"/>
      <p:bldP spid="20" grpId="0"/>
      <p:bldP spid="22" grpId="0"/>
      <p:bldP spid="21" grpId="0"/>
      <p:bldP spid="23" grpId="0"/>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81620"/>
            <a:ext cx="8153400" cy="369332"/>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Study the following table and answer the questions</a:t>
            </a:r>
            <a:r>
              <a:rPr lang="en-US" b="1" dirty="0" smtClean="0">
                <a:solidFill>
                  <a:srgbClr val="FF0000"/>
                </a:solidFill>
                <a:latin typeface="Times New Roman" pitchFamily="18" charset="0"/>
                <a:cs typeface="Times New Roman" pitchFamily="18" charset="0"/>
              </a:rPr>
              <a:t>.</a:t>
            </a:r>
            <a:endParaRPr lang="en-US" b="1" dirty="0">
              <a:solidFill>
                <a:srgbClr val="FF0000"/>
              </a:solidFill>
              <a:latin typeface="Times New Roman" pitchFamily="18" charset="0"/>
              <a:cs typeface="Times New Roman" pitchFamily="18" charset="0"/>
            </a:endParaRPr>
          </a:p>
        </p:txBody>
      </p:sp>
      <p:pic>
        <p:nvPicPr>
          <p:cNvPr id="1026" name="Picture 2"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3177"/>
            <a:ext cx="5172797" cy="284837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2400" y="892264"/>
            <a:ext cx="8661400" cy="646331"/>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What is the average candidates who appeared from State Q during the given years?</a:t>
            </a:r>
          </a:p>
          <a:p>
            <a:r>
              <a:rPr lang="en-US" b="1" dirty="0" smtClean="0">
                <a:solidFill>
                  <a:srgbClr val="FF0000"/>
                </a:solidFill>
                <a:latin typeface="Times New Roman" pitchFamily="18" charset="0"/>
                <a:cs typeface="Times New Roman" pitchFamily="18" charset="0"/>
              </a:rPr>
              <a:t>A. 8700		B. 8760		C. 8990		D. 8920</a:t>
            </a:r>
            <a:endParaRPr lang="en-US" b="1" dirty="0">
              <a:solidFill>
                <a:srgbClr val="FF0000"/>
              </a:solidFill>
              <a:latin typeface="Times New Roman" pitchFamily="18" charset="0"/>
              <a:cs typeface="Times New Roman" pitchFamily="18" charset="0"/>
            </a:endParaRPr>
          </a:p>
        </p:txBody>
      </p:sp>
      <p:sp>
        <p:nvSpPr>
          <p:cNvPr id="7" name="Rectangle 6"/>
          <p:cNvSpPr/>
          <p:nvPr/>
        </p:nvSpPr>
        <p:spPr>
          <a:xfrm>
            <a:off x="5125893" y="1581150"/>
            <a:ext cx="1806905" cy="369332"/>
          </a:xfrm>
          <a:prstGeom prst="rect">
            <a:avLst/>
          </a:prstGeom>
        </p:spPr>
        <p:txBody>
          <a:bodyPr wrap="none">
            <a:spAutoFit/>
          </a:bodyPr>
          <a:lstStyle/>
          <a:p>
            <a:r>
              <a:rPr lang="en-US" dirty="0">
                <a:latin typeface="Times New Roman" pitchFamily="18" charset="0"/>
                <a:cs typeface="Times New Roman" pitchFamily="18" charset="0"/>
              </a:rPr>
              <a:t>Required average</a:t>
            </a:r>
          </a:p>
        </p:txBody>
      </p:sp>
      <p:sp>
        <p:nvSpPr>
          <p:cNvPr id="24" name="Rectangle 23"/>
          <p:cNvSpPr/>
          <p:nvPr/>
        </p:nvSpPr>
        <p:spPr>
          <a:xfrm>
            <a:off x="4896387" y="2201902"/>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26" name="Rectangle 25"/>
          <p:cNvSpPr/>
          <p:nvPr/>
        </p:nvSpPr>
        <p:spPr>
          <a:xfrm>
            <a:off x="5105400" y="2038350"/>
            <a:ext cx="3474028" cy="369332"/>
          </a:xfrm>
          <a:prstGeom prst="rect">
            <a:avLst/>
          </a:prstGeom>
        </p:spPr>
        <p:txBody>
          <a:bodyPr wrap="none">
            <a:spAutoFit/>
          </a:bodyPr>
          <a:lstStyle/>
          <a:p>
            <a:r>
              <a:rPr lang="en-US" dirty="0">
                <a:latin typeface="Times New Roman" pitchFamily="18" charset="0"/>
                <a:cs typeface="Times New Roman" pitchFamily="18" charset="0"/>
              </a:rPr>
              <a:t>8100 + 9500 + 8700 + 9700 + 8950</a:t>
            </a:r>
            <a:endParaRPr lang="en-US" b="1" dirty="0">
              <a:latin typeface="Times New Roman" pitchFamily="18" charset="0"/>
              <a:cs typeface="Times New Roman" pitchFamily="18" charset="0"/>
            </a:endParaRPr>
          </a:p>
        </p:txBody>
      </p:sp>
      <p:cxnSp>
        <p:nvCxnSpPr>
          <p:cNvPr id="27" name="Straight Connector 26"/>
          <p:cNvCxnSpPr>
            <a:stCxn id="24" idx="3"/>
          </p:cNvCxnSpPr>
          <p:nvPr/>
        </p:nvCxnSpPr>
        <p:spPr>
          <a:xfrm>
            <a:off x="5210897" y="2386568"/>
            <a:ext cx="3247303" cy="0"/>
          </a:xfrm>
          <a:prstGeom prst="line">
            <a:avLst/>
          </a:prstGeom>
          <a:ln w="38100"/>
        </p:spPr>
        <p:style>
          <a:lnRef idx="1">
            <a:schemeClr val="dk1"/>
          </a:lnRef>
          <a:fillRef idx="0">
            <a:schemeClr val="dk1"/>
          </a:fillRef>
          <a:effectRef idx="0">
            <a:schemeClr val="dk1"/>
          </a:effectRef>
          <a:fontRef idx="minor">
            <a:schemeClr val="tx1"/>
          </a:fontRef>
        </p:style>
      </p:cxnSp>
      <p:sp>
        <p:nvSpPr>
          <p:cNvPr id="28" name="Rectangle 27"/>
          <p:cNvSpPr/>
          <p:nvPr/>
        </p:nvSpPr>
        <p:spPr>
          <a:xfrm>
            <a:off x="6420286" y="2407682"/>
            <a:ext cx="300082" cy="369332"/>
          </a:xfrm>
          <a:prstGeom prst="rect">
            <a:avLst/>
          </a:prstGeom>
        </p:spPr>
        <p:txBody>
          <a:bodyPr wrap="none">
            <a:spAutoFit/>
          </a:bodyPr>
          <a:lstStyle/>
          <a:p>
            <a:r>
              <a:rPr lang="en-US" dirty="0" smtClean="0">
                <a:latin typeface="Times New Roman" pitchFamily="18" charset="0"/>
                <a:cs typeface="Times New Roman" pitchFamily="18" charset="0"/>
              </a:rPr>
              <a:t>5</a:t>
            </a:r>
            <a:endParaRPr lang="en-US" b="1" dirty="0">
              <a:latin typeface="Times New Roman" pitchFamily="18" charset="0"/>
              <a:cs typeface="Times New Roman" pitchFamily="18" charset="0"/>
            </a:endParaRPr>
          </a:p>
        </p:txBody>
      </p:sp>
      <p:sp>
        <p:nvSpPr>
          <p:cNvPr id="29" name="Rectangle 28"/>
          <p:cNvSpPr/>
          <p:nvPr/>
        </p:nvSpPr>
        <p:spPr>
          <a:xfrm>
            <a:off x="5053642" y="2800111"/>
            <a:ext cx="776175" cy="369332"/>
          </a:xfrm>
          <a:prstGeom prst="rect">
            <a:avLst/>
          </a:prstGeom>
        </p:spPr>
        <p:txBody>
          <a:bodyPr wrap="none">
            <a:spAutoFit/>
          </a:bodyPr>
          <a:lstStyle/>
          <a:p>
            <a:r>
              <a:rPr lang="en-US" dirty="0" smtClean="0">
                <a:latin typeface="Times New Roman" pitchFamily="18" charset="0"/>
                <a:cs typeface="Times New Roman" pitchFamily="18" charset="0"/>
              </a:rPr>
              <a:t>=8990</a:t>
            </a:r>
            <a:endParaRPr lang="en-US" b="1" dirty="0">
              <a:latin typeface="Times New Roman" pitchFamily="18" charset="0"/>
              <a:cs typeface="Times New Roman" pitchFamily="18" charset="0"/>
            </a:endParaRPr>
          </a:p>
        </p:txBody>
      </p:sp>
      <p:sp>
        <p:nvSpPr>
          <p:cNvPr id="30" name="Rectangle 29"/>
          <p:cNvSpPr/>
          <p:nvPr/>
        </p:nvSpPr>
        <p:spPr>
          <a:xfrm>
            <a:off x="5105400" y="3192301"/>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14" name="Rectangle 13"/>
          <p:cNvSpPr/>
          <p:nvPr/>
        </p:nvSpPr>
        <p:spPr>
          <a:xfrm>
            <a:off x="2057400" y="128885"/>
            <a:ext cx="47035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TABULAR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405068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P spid="26" grpId="0"/>
      <p:bldP spid="28" grpId="0"/>
      <p:bldP spid="29" grpId="0"/>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81620"/>
            <a:ext cx="8153400" cy="369332"/>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Study the following table and answer the questions</a:t>
            </a:r>
            <a:r>
              <a:rPr lang="en-US" b="1" dirty="0" smtClean="0">
                <a:solidFill>
                  <a:srgbClr val="FF0000"/>
                </a:solidFill>
                <a:latin typeface="Times New Roman" pitchFamily="18" charset="0"/>
                <a:cs typeface="Times New Roman" pitchFamily="18" charset="0"/>
              </a:rPr>
              <a:t>.</a:t>
            </a:r>
            <a:endParaRPr lang="en-US" b="1" dirty="0">
              <a:solidFill>
                <a:srgbClr val="FF0000"/>
              </a:solidFill>
              <a:latin typeface="Times New Roman" pitchFamily="18" charset="0"/>
              <a:cs typeface="Times New Roman" pitchFamily="18" charset="0"/>
            </a:endParaRPr>
          </a:p>
        </p:txBody>
      </p:sp>
      <p:pic>
        <p:nvPicPr>
          <p:cNvPr id="1026" name="Picture 2"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3177"/>
            <a:ext cx="5172797" cy="284837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2400" y="892264"/>
            <a:ext cx="8661400" cy="923330"/>
          </a:xfrm>
          <a:prstGeom prst="rect">
            <a:avLst/>
          </a:prstGeom>
        </p:spPr>
        <p:txBody>
          <a:bodyPr wrap="square">
            <a:spAutoFit/>
          </a:bodyPr>
          <a:lstStyle/>
          <a:p>
            <a:pPr fontAlgn="t"/>
            <a:r>
              <a:rPr lang="en-US" b="1" dirty="0" smtClean="0">
                <a:solidFill>
                  <a:srgbClr val="FF0000"/>
                </a:solidFill>
                <a:latin typeface="Times New Roman" pitchFamily="18" charset="0"/>
                <a:cs typeface="Times New Roman" pitchFamily="18" charset="0"/>
              </a:rPr>
              <a:t>In </a:t>
            </a:r>
            <a:r>
              <a:rPr lang="en-US" b="1" dirty="0">
                <a:solidFill>
                  <a:srgbClr val="FF0000"/>
                </a:solidFill>
                <a:latin typeface="Times New Roman" pitchFamily="18" charset="0"/>
                <a:cs typeface="Times New Roman" pitchFamily="18" charset="0"/>
              </a:rPr>
              <a:t>which of the given years the number of candidates appeared from State P has maximum percentage of qualified candidates</a:t>
            </a:r>
            <a:r>
              <a:rPr lang="en-US" b="1" dirty="0" smtClean="0">
                <a:solidFill>
                  <a:srgbClr val="FF0000"/>
                </a:solidFill>
                <a:latin typeface="Times New Roman" pitchFamily="18" charset="0"/>
                <a:cs typeface="Times New Roman" pitchFamily="18" charset="0"/>
              </a:rPr>
              <a:t>?</a:t>
            </a:r>
          </a:p>
          <a:p>
            <a:pPr fontAlgn="t"/>
            <a:r>
              <a:rPr lang="en-US" b="1" dirty="0" smtClean="0">
                <a:solidFill>
                  <a:srgbClr val="FF0000"/>
                </a:solidFill>
                <a:latin typeface="Times New Roman" pitchFamily="18" charset="0"/>
                <a:cs typeface="Times New Roman" pitchFamily="18" charset="0"/>
              </a:rPr>
              <a:t>A. 1997		B. 1998		C. 1999		D. 2000</a:t>
            </a:r>
            <a:endParaRPr lang="en-US" b="1" dirty="0">
              <a:solidFill>
                <a:srgbClr val="FF0000"/>
              </a:solidFill>
              <a:latin typeface="Times New Roman" pitchFamily="18" charset="0"/>
              <a:cs typeface="Times New Roman" pitchFamily="18" charset="0"/>
            </a:endParaRPr>
          </a:p>
        </p:txBody>
      </p:sp>
      <p:sp>
        <p:nvSpPr>
          <p:cNvPr id="7" name="Rectangle 6"/>
          <p:cNvSpPr/>
          <p:nvPr/>
        </p:nvSpPr>
        <p:spPr>
          <a:xfrm>
            <a:off x="5173503" y="1653738"/>
            <a:ext cx="3894297" cy="923330"/>
          </a:xfrm>
          <a:prstGeom prst="rect">
            <a:avLst/>
          </a:prstGeom>
        </p:spPr>
        <p:txBody>
          <a:bodyPr wrap="square">
            <a:spAutoFit/>
          </a:bodyPr>
          <a:lstStyle/>
          <a:p>
            <a:r>
              <a:rPr lang="en-US" dirty="0" smtClean="0">
                <a:latin typeface="Times New Roman" pitchFamily="18" charset="0"/>
                <a:cs typeface="Times New Roman" pitchFamily="18" charset="0"/>
              </a:rPr>
              <a:t>The percentages </a:t>
            </a:r>
            <a:r>
              <a:rPr lang="en-US" dirty="0">
                <a:latin typeface="Times New Roman" pitchFamily="18" charset="0"/>
                <a:cs typeface="Times New Roman" pitchFamily="18" charset="0"/>
              </a:rPr>
              <a:t>of candidates qualified to candidates appeared from State P during different years </a:t>
            </a:r>
            <a:r>
              <a:rPr lang="en-US" dirty="0" smtClean="0">
                <a:latin typeface="Times New Roman" pitchFamily="18" charset="0"/>
                <a:cs typeface="Times New Roman" pitchFamily="18" charset="0"/>
              </a:rPr>
              <a:t>are</a:t>
            </a:r>
            <a:endParaRPr lang="en-US" dirty="0">
              <a:latin typeface="Times New Roman" pitchFamily="18" charset="0"/>
              <a:cs typeface="Times New Roman" pitchFamily="18" charset="0"/>
            </a:endParaRPr>
          </a:p>
        </p:txBody>
      </p:sp>
      <p:sp>
        <p:nvSpPr>
          <p:cNvPr id="24" name="Rectangle 23"/>
          <p:cNvSpPr/>
          <p:nvPr/>
        </p:nvSpPr>
        <p:spPr>
          <a:xfrm>
            <a:off x="6039530" y="2779752"/>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26" name="Rectangle 25"/>
          <p:cNvSpPr/>
          <p:nvPr/>
        </p:nvSpPr>
        <p:spPr>
          <a:xfrm>
            <a:off x="6278546" y="2577068"/>
            <a:ext cx="530915" cy="369332"/>
          </a:xfrm>
          <a:prstGeom prst="rect">
            <a:avLst/>
          </a:prstGeom>
        </p:spPr>
        <p:txBody>
          <a:bodyPr wrap="none">
            <a:spAutoFit/>
          </a:bodyPr>
          <a:lstStyle/>
          <a:p>
            <a:r>
              <a:rPr lang="en-US" dirty="0" smtClean="0">
                <a:latin typeface="Times New Roman" pitchFamily="18" charset="0"/>
                <a:cs typeface="Times New Roman" pitchFamily="18" charset="0"/>
              </a:rPr>
              <a:t>780</a:t>
            </a:r>
            <a:endParaRPr lang="en-US" b="1" dirty="0">
              <a:latin typeface="Times New Roman" pitchFamily="18" charset="0"/>
              <a:cs typeface="Times New Roman" pitchFamily="18" charset="0"/>
            </a:endParaRPr>
          </a:p>
        </p:txBody>
      </p:sp>
      <p:cxnSp>
        <p:nvCxnSpPr>
          <p:cNvPr id="27" name="Straight Connector 26"/>
          <p:cNvCxnSpPr>
            <a:stCxn id="24" idx="3"/>
          </p:cNvCxnSpPr>
          <p:nvPr/>
        </p:nvCxnSpPr>
        <p:spPr>
          <a:xfrm>
            <a:off x="6354040" y="2964418"/>
            <a:ext cx="425418" cy="0"/>
          </a:xfrm>
          <a:prstGeom prst="line">
            <a:avLst/>
          </a:prstGeom>
          <a:ln w="38100"/>
        </p:spPr>
        <p:style>
          <a:lnRef idx="1">
            <a:schemeClr val="dk1"/>
          </a:lnRef>
          <a:fillRef idx="0">
            <a:schemeClr val="dk1"/>
          </a:fillRef>
          <a:effectRef idx="0">
            <a:schemeClr val="dk1"/>
          </a:effectRef>
          <a:fontRef idx="minor">
            <a:schemeClr val="tx1"/>
          </a:fontRef>
        </p:style>
      </p:cxnSp>
      <p:sp>
        <p:nvSpPr>
          <p:cNvPr id="28" name="Rectangle 27"/>
          <p:cNvSpPr/>
          <p:nvPr/>
        </p:nvSpPr>
        <p:spPr>
          <a:xfrm>
            <a:off x="6275169" y="2914650"/>
            <a:ext cx="646331" cy="369332"/>
          </a:xfrm>
          <a:prstGeom prst="rect">
            <a:avLst/>
          </a:prstGeom>
        </p:spPr>
        <p:txBody>
          <a:bodyPr wrap="none">
            <a:spAutoFit/>
          </a:bodyPr>
          <a:lstStyle/>
          <a:p>
            <a:r>
              <a:rPr lang="en-US" dirty="0" smtClean="0">
                <a:latin typeface="Times New Roman" pitchFamily="18" charset="0"/>
                <a:cs typeface="Times New Roman" pitchFamily="18" charset="0"/>
              </a:rPr>
              <a:t>6400</a:t>
            </a:r>
            <a:endParaRPr lang="en-US" b="1" dirty="0">
              <a:latin typeface="Times New Roman" pitchFamily="18" charset="0"/>
              <a:cs typeface="Times New Roman" pitchFamily="18" charset="0"/>
            </a:endParaRPr>
          </a:p>
        </p:txBody>
      </p:sp>
      <p:sp>
        <p:nvSpPr>
          <p:cNvPr id="29" name="Rectangle 28"/>
          <p:cNvSpPr/>
          <p:nvPr/>
        </p:nvSpPr>
        <p:spPr>
          <a:xfrm>
            <a:off x="6840473" y="2780268"/>
            <a:ext cx="910827" cy="369332"/>
          </a:xfrm>
          <a:prstGeom prst="rect">
            <a:avLst/>
          </a:prstGeom>
        </p:spPr>
        <p:txBody>
          <a:bodyPr wrap="none">
            <a:spAutoFit/>
          </a:bodyPr>
          <a:lstStyle/>
          <a:p>
            <a:r>
              <a:rPr lang="en-US" dirty="0" smtClean="0">
                <a:latin typeface="Times New Roman" pitchFamily="18" charset="0"/>
                <a:cs typeface="Times New Roman" pitchFamily="18" charset="0"/>
              </a:rPr>
              <a:t>×100 %</a:t>
            </a:r>
            <a:endParaRPr lang="en-US" dirty="0">
              <a:latin typeface="Times New Roman" pitchFamily="18" charset="0"/>
              <a:cs typeface="Times New Roman" pitchFamily="18" charset="0"/>
            </a:endParaRPr>
          </a:p>
        </p:txBody>
      </p:sp>
      <p:sp>
        <p:nvSpPr>
          <p:cNvPr id="18" name="Rectangle 17"/>
          <p:cNvSpPr/>
          <p:nvPr/>
        </p:nvSpPr>
        <p:spPr>
          <a:xfrm>
            <a:off x="7751300" y="2780268"/>
            <a:ext cx="1124026" cy="369332"/>
          </a:xfrm>
          <a:prstGeom prst="rect">
            <a:avLst/>
          </a:prstGeom>
        </p:spPr>
        <p:txBody>
          <a:bodyPr wrap="none">
            <a:spAutoFit/>
          </a:bodyPr>
          <a:lstStyle/>
          <a:p>
            <a:r>
              <a:rPr lang="en-US" b="1" dirty="0" smtClean="0">
                <a:latin typeface="Times New Roman" pitchFamily="18" charset="0"/>
                <a:cs typeface="Times New Roman" pitchFamily="18" charset="0"/>
              </a:rPr>
              <a:t>=12.19 %</a:t>
            </a:r>
            <a:endParaRPr lang="en-US" b="1" dirty="0">
              <a:latin typeface="Times New Roman" pitchFamily="18" charset="0"/>
              <a:cs typeface="Times New Roman" pitchFamily="18" charset="0"/>
            </a:endParaRPr>
          </a:p>
        </p:txBody>
      </p:sp>
      <p:sp>
        <p:nvSpPr>
          <p:cNvPr id="19" name="Rectangle 18"/>
          <p:cNvSpPr/>
          <p:nvPr/>
        </p:nvSpPr>
        <p:spPr>
          <a:xfrm>
            <a:off x="4955186" y="2772131"/>
            <a:ext cx="1058944" cy="369332"/>
          </a:xfrm>
          <a:prstGeom prst="rect">
            <a:avLst/>
          </a:prstGeom>
        </p:spPr>
        <p:txBody>
          <a:bodyPr wrap="none">
            <a:spAutoFit/>
          </a:bodyPr>
          <a:lstStyle/>
          <a:p>
            <a:r>
              <a:rPr lang="en-US" b="1" dirty="0" smtClean="0">
                <a:latin typeface="Times New Roman" pitchFamily="18" charset="0"/>
                <a:cs typeface="Times New Roman" pitchFamily="18" charset="0"/>
              </a:rPr>
              <a:t>For 1997</a:t>
            </a:r>
            <a:endParaRPr lang="en-US" b="1" dirty="0">
              <a:latin typeface="Times New Roman" pitchFamily="18" charset="0"/>
              <a:cs typeface="Times New Roman" pitchFamily="18" charset="0"/>
            </a:endParaRPr>
          </a:p>
        </p:txBody>
      </p:sp>
      <p:sp>
        <p:nvSpPr>
          <p:cNvPr id="31" name="Rectangle 30"/>
          <p:cNvSpPr/>
          <p:nvPr/>
        </p:nvSpPr>
        <p:spPr>
          <a:xfrm>
            <a:off x="6113544" y="3384034"/>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32" name="Rectangle 31"/>
          <p:cNvSpPr/>
          <p:nvPr/>
        </p:nvSpPr>
        <p:spPr>
          <a:xfrm>
            <a:off x="6299200" y="3244850"/>
            <a:ext cx="646331" cy="369332"/>
          </a:xfrm>
          <a:prstGeom prst="rect">
            <a:avLst/>
          </a:prstGeom>
        </p:spPr>
        <p:txBody>
          <a:bodyPr wrap="none">
            <a:spAutoFit/>
          </a:bodyPr>
          <a:lstStyle/>
          <a:p>
            <a:r>
              <a:rPr lang="en-US" dirty="0" smtClean="0">
                <a:latin typeface="Times New Roman" pitchFamily="18" charset="0"/>
                <a:cs typeface="Times New Roman" pitchFamily="18" charset="0"/>
              </a:rPr>
              <a:t>1020</a:t>
            </a:r>
            <a:endParaRPr lang="en-US" b="1" dirty="0">
              <a:latin typeface="Times New Roman" pitchFamily="18" charset="0"/>
              <a:cs typeface="Times New Roman" pitchFamily="18" charset="0"/>
            </a:endParaRPr>
          </a:p>
        </p:txBody>
      </p:sp>
      <p:cxnSp>
        <p:nvCxnSpPr>
          <p:cNvPr id="33" name="Straight Connector 32"/>
          <p:cNvCxnSpPr>
            <a:stCxn id="31" idx="3"/>
          </p:cNvCxnSpPr>
          <p:nvPr/>
        </p:nvCxnSpPr>
        <p:spPr>
          <a:xfrm>
            <a:off x="6428054" y="3568700"/>
            <a:ext cx="425418" cy="0"/>
          </a:xfrm>
          <a:prstGeom prst="line">
            <a:avLst/>
          </a:prstGeom>
          <a:ln w="38100"/>
        </p:spPr>
        <p:style>
          <a:lnRef idx="1">
            <a:schemeClr val="dk1"/>
          </a:lnRef>
          <a:fillRef idx="0">
            <a:schemeClr val="dk1"/>
          </a:fillRef>
          <a:effectRef idx="0">
            <a:schemeClr val="dk1"/>
          </a:effectRef>
          <a:fontRef idx="minor">
            <a:schemeClr val="tx1"/>
          </a:fontRef>
        </p:style>
      </p:cxnSp>
      <p:sp>
        <p:nvSpPr>
          <p:cNvPr id="34" name="Rectangle 33"/>
          <p:cNvSpPr/>
          <p:nvPr/>
        </p:nvSpPr>
        <p:spPr>
          <a:xfrm>
            <a:off x="6302948" y="3536950"/>
            <a:ext cx="646331" cy="369332"/>
          </a:xfrm>
          <a:prstGeom prst="rect">
            <a:avLst/>
          </a:prstGeom>
        </p:spPr>
        <p:txBody>
          <a:bodyPr wrap="none">
            <a:spAutoFit/>
          </a:bodyPr>
          <a:lstStyle/>
          <a:p>
            <a:r>
              <a:rPr lang="en-US" dirty="0" smtClean="0">
                <a:latin typeface="Times New Roman" pitchFamily="18" charset="0"/>
                <a:cs typeface="Times New Roman" pitchFamily="18" charset="0"/>
              </a:rPr>
              <a:t>8800</a:t>
            </a:r>
            <a:endParaRPr lang="en-US" b="1" dirty="0">
              <a:latin typeface="Times New Roman" pitchFamily="18" charset="0"/>
              <a:cs typeface="Times New Roman" pitchFamily="18" charset="0"/>
            </a:endParaRPr>
          </a:p>
        </p:txBody>
      </p:sp>
      <p:sp>
        <p:nvSpPr>
          <p:cNvPr id="35" name="Rectangle 34"/>
          <p:cNvSpPr/>
          <p:nvPr/>
        </p:nvSpPr>
        <p:spPr>
          <a:xfrm>
            <a:off x="6914487" y="3384550"/>
            <a:ext cx="910827" cy="369332"/>
          </a:xfrm>
          <a:prstGeom prst="rect">
            <a:avLst/>
          </a:prstGeom>
        </p:spPr>
        <p:txBody>
          <a:bodyPr wrap="none">
            <a:spAutoFit/>
          </a:bodyPr>
          <a:lstStyle/>
          <a:p>
            <a:r>
              <a:rPr lang="en-US" dirty="0" smtClean="0">
                <a:latin typeface="Times New Roman" pitchFamily="18" charset="0"/>
                <a:cs typeface="Times New Roman" pitchFamily="18" charset="0"/>
              </a:rPr>
              <a:t>×100 %</a:t>
            </a:r>
            <a:endParaRPr lang="en-US" dirty="0">
              <a:latin typeface="Times New Roman" pitchFamily="18" charset="0"/>
              <a:cs typeface="Times New Roman" pitchFamily="18" charset="0"/>
            </a:endParaRPr>
          </a:p>
        </p:txBody>
      </p:sp>
      <p:sp>
        <p:nvSpPr>
          <p:cNvPr id="36" name="Rectangle 35"/>
          <p:cNvSpPr/>
          <p:nvPr/>
        </p:nvSpPr>
        <p:spPr>
          <a:xfrm>
            <a:off x="7766034" y="3376413"/>
            <a:ext cx="1111266" cy="369332"/>
          </a:xfrm>
          <a:prstGeom prst="rect">
            <a:avLst/>
          </a:prstGeom>
        </p:spPr>
        <p:txBody>
          <a:bodyPr wrap="none">
            <a:spAutoFit/>
          </a:bodyPr>
          <a:lstStyle/>
          <a:p>
            <a:r>
              <a:rPr lang="en-US" b="1" dirty="0" smtClean="0">
                <a:latin typeface="Times New Roman" pitchFamily="18" charset="0"/>
                <a:cs typeface="Times New Roman" pitchFamily="18" charset="0"/>
              </a:rPr>
              <a:t>=11.59 %</a:t>
            </a:r>
            <a:endParaRPr lang="en-US" b="1" dirty="0">
              <a:latin typeface="Times New Roman" pitchFamily="18" charset="0"/>
              <a:cs typeface="Times New Roman" pitchFamily="18" charset="0"/>
            </a:endParaRPr>
          </a:p>
        </p:txBody>
      </p:sp>
      <p:sp>
        <p:nvSpPr>
          <p:cNvPr id="37" name="Rectangle 36"/>
          <p:cNvSpPr/>
          <p:nvPr/>
        </p:nvSpPr>
        <p:spPr>
          <a:xfrm>
            <a:off x="5029200" y="3376413"/>
            <a:ext cx="1058944" cy="369332"/>
          </a:xfrm>
          <a:prstGeom prst="rect">
            <a:avLst/>
          </a:prstGeom>
        </p:spPr>
        <p:txBody>
          <a:bodyPr wrap="none">
            <a:spAutoFit/>
          </a:bodyPr>
          <a:lstStyle/>
          <a:p>
            <a:r>
              <a:rPr lang="en-US" b="1" dirty="0" smtClean="0">
                <a:latin typeface="Times New Roman" pitchFamily="18" charset="0"/>
                <a:cs typeface="Times New Roman" pitchFamily="18" charset="0"/>
              </a:rPr>
              <a:t>For 1998</a:t>
            </a:r>
            <a:endParaRPr lang="en-US" b="1" dirty="0">
              <a:latin typeface="Times New Roman" pitchFamily="18" charset="0"/>
              <a:cs typeface="Times New Roman" pitchFamily="18" charset="0"/>
            </a:endParaRPr>
          </a:p>
        </p:txBody>
      </p:sp>
      <p:sp>
        <p:nvSpPr>
          <p:cNvPr id="38" name="Rectangle 37"/>
          <p:cNvSpPr/>
          <p:nvPr/>
        </p:nvSpPr>
        <p:spPr>
          <a:xfrm>
            <a:off x="6113544" y="3922752"/>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39" name="Rectangle 38"/>
          <p:cNvSpPr/>
          <p:nvPr/>
        </p:nvSpPr>
        <p:spPr>
          <a:xfrm>
            <a:off x="6324600" y="3802618"/>
            <a:ext cx="530915" cy="369332"/>
          </a:xfrm>
          <a:prstGeom prst="rect">
            <a:avLst/>
          </a:prstGeom>
        </p:spPr>
        <p:txBody>
          <a:bodyPr wrap="none">
            <a:spAutoFit/>
          </a:bodyPr>
          <a:lstStyle/>
          <a:p>
            <a:r>
              <a:rPr lang="en-US" dirty="0" smtClean="0">
                <a:latin typeface="Times New Roman" pitchFamily="18" charset="0"/>
                <a:cs typeface="Times New Roman" pitchFamily="18" charset="0"/>
              </a:rPr>
              <a:t>880</a:t>
            </a:r>
            <a:endParaRPr lang="en-US" b="1" dirty="0">
              <a:latin typeface="Times New Roman" pitchFamily="18" charset="0"/>
              <a:cs typeface="Times New Roman" pitchFamily="18" charset="0"/>
            </a:endParaRPr>
          </a:p>
        </p:txBody>
      </p:sp>
      <p:cxnSp>
        <p:nvCxnSpPr>
          <p:cNvPr id="40" name="Straight Connector 39"/>
          <p:cNvCxnSpPr>
            <a:stCxn id="38" idx="3"/>
          </p:cNvCxnSpPr>
          <p:nvPr/>
        </p:nvCxnSpPr>
        <p:spPr>
          <a:xfrm>
            <a:off x="6428054" y="4107418"/>
            <a:ext cx="425418" cy="0"/>
          </a:xfrm>
          <a:prstGeom prst="line">
            <a:avLst/>
          </a:prstGeom>
          <a:ln w="38100"/>
        </p:spPr>
        <p:style>
          <a:lnRef idx="1">
            <a:schemeClr val="dk1"/>
          </a:lnRef>
          <a:fillRef idx="0">
            <a:schemeClr val="dk1"/>
          </a:fillRef>
          <a:effectRef idx="0">
            <a:schemeClr val="dk1"/>
          </a:effectRef>
          <a:fontRef idx="minor">
            <a:schemeClr val="tx1"/>
          </a:fontRef>
        </p:style>
      </p:cxnSp>
      <p:sp>
        <p:nvSpPr>
          <p:cNvPr id="41" name="Rectangle 40"/>
          <p:cNvSpPr/>
          <p:nvPr/>
        </p:nvSpPr>
        <p:spPr>
          <a:xfrm>
            <a:off x="6277548" y="4069318"/>
            <a:ext cx="646331" cy="369332"/>
          </a:xfrm>
          <a:prstGeom prst="rect">
            <a:avLst/>
          </a:prstGeom>
        </p:spPr>
        <p:txBody>
          <a:bodyPr wrap="none">
            <a:spAutoFit/>
          </a:bodyPr>
          <a:lstStyle/>
          <a:p>
            <a:r>
              <a:rPr lang="en-US" dirty="0" smtClean="0">
                <a:latin typeface="Times New Roman" pitchFamily="18" charset="0"/>
                <a:cs typeface="Times New Roman" pitchFamily="18" charset="0"/>
              </a:rPr>
              <a:t>7800</a:t>
            </a:r>
            <a:endParaRPr lang="en-US" b="1" dirty="0">
              <a:latin typeface="Times New Roman" pitchFamily="18" charset="0"/>
              <a:cs typeface="Times New Roman" pitchFamily="18" charset="0"/>
            </a:endParaRPr>
          </a:p>
        </p:txBody>
      </p:sp>
      <p:sp>
        <p:nvSpPr>
          <p:cNvPr id="42" name="Rectangle 41"/>
          <p:cNvSpPr/>
          <p:nvPr/>
        </p:nvSpPr>
        <p:spPr>
          <a:xfrm>
            <a:off x="6914487" y="3923268"/>
            <a:ext cx="910827" cy="369332"/>
          </a:xfrm>
          <a:prstGeom prst="rect">
            <a:avLst/>
          </a:prstGeom>
        </p:spPr>
        <p:txBody>
          <a:bodyPr wrap="none">
            <a:spAutoFit/>
          </a:bodyPr>
          <a:lstStyle/>
          <a:p>
            <a:r>
              <a:rPr lang="en-US" dirty="0" smtClean="0">
                <a:latin typeface="Times New Roman" pitchFamily="18" charset="0"/>
                <a:cs typeface="Times New Roman" pitchFamily="18" charset="0"/>
              </a:rPr>
              <a:t>×100 %</a:t>
            </a:r>
            <a:endParaRPr lang="en-US" dirty="0">
              <a:latin typeface="Times New Roman" pitchFamily="18" charset="0"/>
              <a:cs typeface="Times New Roman" pitchFamily="18" charset="0"/>
            </a:endParaRPr>
          </a:p>
        </p:txBody>
      </p:sp>
      <p:sp>
        <p:nvSpPr>
          <p:cNvPr id="43" name="Rectangle 42"/>
          <p:cNvSpPr/>
          <p:nvPr/>
        </p:nvSpPr>
        <p:spPr>
          <a:xfrm>
            <a:off x="7766034" y="3923268"/>
            <a:ext cx="1111266" cy="369332"/>
          </a:xfrm>
          <a:prstGeom prst="rect">
            <a:avLst/>
          </a:prstGeom>
        </p:spPr>
        <p:txBody>
          <a:bodyPr wrap="none">
            <a:spAutoFit/>
          </a:bodyPr>
          <a:lstStyle/>
          <a:p>
            <a:r>
              <a:rPr lang="en-US" b="1" dirty="0" smtClean="0">
                <a:latin typeface="Times New Roman" pitchFamily="18" charset="0"/>
                <a:cs typeface="Times New Roman" pitchFamily="18" charset="0"/>
              </a:rPr>
              <a:t>=11.41 %</a:t>
            </a:r>
            <a:endParaRPr lang="en-US" b="1" dirty="0">
              <a:latin typeface="Times New Roman" pitchFamily="18" charset="0"/>
              <a:cs typeface="Times New Roman" pitchFamily="18" charset="0"/>
            </a:endParaRPr>
          </a:p>
        </p:txBody>
      </p:sp>
      <p:sp>
        <p:nvSpPr>
          <p:cNvPr id="44" name="Rectangle 43"/>
          <p:cNvSpPr/>
          <p:nvPr/>
        </p:nvSpPr>
        <p:spPr>
          <a:xfrm>
            <a:off x="5029200" y="3915131"/>
            <a:ext cx="1058944" cy="369332"/>
          </a:xfrm>
          <a:prstGeom prst="rect">
            <a:avLst/>
          </a:prstGeom>
        </p:spPr>
        <p:txBody>
          <a:bodyPr wrap="none">
            <a:spAutoFit/>
          </a:bodyPr>
          <a:lstStyle/>
          <a:p>
            <a:r>
              <a:rPr lang="en-US" b="1" dirty="0" smtClean="0">
                <a:latin typeface="Times New Roman" pitchFamily="18" charset="0"/>
                <a:cs typeface="Times New Roman" pitchFamily="18" charset="0"/>
              </a:rPr>
              <a:t>For 1999</a:t>
            </a:r>
            <a:endParaRPr lang="en-US" b="1" dirty="0">
              <a:latin typeface="Times New Roman" pitchFamily="18" charset="0"/>
              <a:cs typeface="Times New Roman" pitchFamily="18" charset="0"/>
            </a:endParaRPr>
          </a:p>
        </p:txBody>
      </p:sp>
      <p:sp>
        <p:nvSpPr>
          <p:cNvPr id="45" name="Rectangle 44"/>
          <p:cNvSpPr/>
          <p:nvPr/>
        </p:nvSpPr>
        <p:spPr>
          <a:xfrm>
            <a:off x="6113544" y="4532352"/>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46" name="Rectangle 45"/>
          <p:cNvSpPr/>
          <p:nvPr/>
        </p:nvSpPr>
        <p:spPr>
          <a:xfrm>
            <a:off x="6299200" y="4380468"/>
            <a:ext cx="646331" cy="369332"/>
          </a:xfrm>
          <a:prstGeom prst="rect">
            <a:avLst/>
          </a:prstGeom>
        </p:spPr>
        <p:txBody>
          <a:bodyPr wrap="none">
            <a:spAutoFit/>
          </a:bodyPr>
          <a:lstStyle/>
          <a:p>
            <a:r>
              <a:rPr lang="en-US" dirty="0" smtClean="0">
                <a:latin typeface="Times New Roman" pitchFamily="18" charset="0"/>
                <a:cs typeface="Times New Roman" pitchFamily="18" charset="0"/>
              </a:rPr>
              <a:t>1010</a:t>
            </a:r>
            <a:endParaRPr lang="en-US" b="1" dirty="0">
              <a:latin typeface="Times New Roman" pitchFamily="18" charset="0"/>
              <a:cs typeface="Times New Roman" pitchFamily="18" charset="0"/>
            </a:endParaRPr>
          </a:p>
        </p:txBody>
      </p:sp>
      <p:cxnSp>
        <p:nvCxnSpPr>
          <p:cNvPr id="47" name="Straight Connector 46"/>
          <p:cNvCxnSpPr>
            <a:stCxn id="45" idx="3"/>
          </p:cNvCxnSpPr>
          <p:nvPr/>
        </p:nvCxnSpPr>
        <p:spPr>
          <a:xfrm>
            <a:off x="6428054" y="4717018"/>
            <a:ext cx="425418" cy="0"/>
          </a:xfrm>
          <a:prstGeom prst="line">
            <a:avLst/>
          </a:prstGeom>
          <a:ln w="38100"/>
        </p:spPr>
        <p:style>
          <a:lnRef idx="1">
            <a:schemeClr val="dk1"/>
          </a:lnRef>
          <a:fillRef idx="0">
            <a:schemeClr val="dk1"/>
          </a:fillRef>
          <a:effectRef idx="0">
            <a:schemeClr val="dk1"/>
          </a:effectRef>
          <a:fontRef idx="minor">
            <a:schemeClr val="tx1"/>
          </a:fontRef>
        </p:style>
      </p:cxnSp>
      <p:sp>
        <p:nvSpPr>
          <p:cNvPr id="48" name="Rectangle 47"/>
          <p:cNvSpPr/>
          <p:nvPr/>
        </p:nvSpPr>
        <p:spPr>
          <a:xfrm>
            <a:off x="6325969" y="4678918"/>
            <a:ext cx="646331" cy="369332"/>
          </a:xfrm>
          <a:prstGeom prst="rect">
            <a:avLst/>
          </a:prstGeom>
        </p:spPr>
        <p:txBody>
          <a:bodyPr wrap="none">
            <a:spAutoFit/>
          </a:bodyPr>
          <a:lstStyle/>
          <a:p>
            <a:r>
              <a:rPr lang="en-US" dirty="0" smtClean="0">
                <a:latin typeface="Times New Roman" pitchFamily="18" charset="0"/>
                <a:cs typeface="Times New Roman" pitchFamily="18" charset="0"/>
              </a:rPr>
              <a:t>8750</a:t>
            </a:r>
            <a:endParaRPr lang="en-US" b="1" dirty="0">
              <a:latin typeface="Times New Roman" pitchFamily="18" charset="0"/>
              <a:cs typeface="Times New Roman" pitchFamily="18" charset="0"/>
            </a:endParaRPr>
          </a:p>
        </p:txBody>
      </p:sp>
      <p:sp>
        <p:nvSpPr>
          <p:cNvPr id="49" name="Rectangle 48"/>
          <p:cNvSpPr/>
          <p:nvPr/>
        </p:nvSpPr>
        <p:spPr>
          <a:xfrm>
            <a:off x="6914487" y="4532868"/>
            <a:ext cx="910827" cy="369332"/>
          </a:xfrm>
          <a:prstGeom prst="rect">
            <a:avLst/>
          </a:prstGeom>
        </p:spPr>
        <p:txBody>
          <a:bodyPr wrap="none">
            <a:spAutoFit/>
          </a:bodyPr>
          <a:lstStyle/>
          <a:p>
            <a:r>
              <a:rPr lang="en-US" dirty="0" smtClean="0">
                <a:latin typeface="Times New Roman" pitchFamily="18" charset="0"/>
                <a:cs typeface="Times New Roman" pitchFamily="18" charset="0"/>
              </a:rPr>
              <a:t>×100 %</a:t>
            </a:r>
            <a:endParaRPr lang="en-US" dirty="0">
              <a:latin typeface="Times New Roman" pitchFamily="18" charset="0"/>
              <a:cs typeface="Times New Roman" pitchFamily="18" charset="0"/>
            </a:endParaRPr>
          </a:p>
        </p:txBody>
      </p:sp>
      <p:sp>
        <p:nvSpPr>
          <p:cNvPr id="50" name="Rectangle 49"/>
          <p:cNvSpPr/>
          <p:nvPr/>
        </p:nvSpPr>
        <p:spPr>
          <a:xfrm>
            <a:off x="7825314" y="4564102"/>
            <a:ext cx="1124026" cy="369332"/>
          </a:xfrm>
          <a:prstGeom prst="rect">
            <a:avLst/>
          </a:prstGeom>
        </p:spPr>
        <p:txBody>
          <a:bodyPr wrap="none">
            <a:spAutoFit/>
          </a:bodyPr>
          <a:lstStyle/>
          <a:p>
            <a:r>
              <a:rPr lang="en-US" b="1" dirty="0" smtClean="0">
                <a:latin typeface="Times New Roman" pitchFamily="18" charset="0"/>
                <a:cs typeface="Times New Roman" pitchFamily="18" charset="0"/>
              </a:rPr>
              <a:t>=12.82 %</a:t>
            </a:r>
            <a:endParaRPr lang="en-US" b="1" dirty="0">
              <a:latin typeface="Times New Roman" pitchFamily="18" charset="0"/>
              <a:cs typeface="Times New Roman" pitchFamily="18" charset="0"/>
            </a:endParaRPr>
          </a:p>
        </p:txBody>
      </p:sp>
      <p:sp>
        <p:nvSpPr>
          <p:cNvPr id="51" name="Rectangle 50"/>
          <p:cNvSpPr/>
          <p:nvPr/>
        </p:nvSpPr>
        <p:spPr>
          <a:xfrm>
            <a:off x="5029200" y="4524731"/>
            <a:ext cx="1058944" cy="369332"/>
          </a:xfrm>
          <a:prstGeom prst="rect">
            <a:avLst/>
          </a:prstGeom>
        </p:spPr>
        <p:txBody>
          <a:bodyPr wrap="none">
            <a:spAutoFit/>
          </a:bodyPr>
          <a:lstStyle/>
          <a:p>
            <a:r>
              <a:rPr lang="en-US" b="1" dirty="0" smtClean="0">
                <a:latin typeface="Times New Roman" pitchFamily="18" charset="0"/>
                <a:cs typeface="Times New Roman" pitchFamily="18" charset="0"/>
              </a:rPr>
              <a:t>For 2000</a:t>
            </a:r>
            <a:endParaRPr lang="en-US" b="1" dirty="0">
              <a:latin typeface="Times New Roman" pitchFamily="18" charset="0"/>
              <a:cs typeface="Times New Roman" pitchFamily="18" charset="0"/>
            </a:endParaRPr>
          </a:p>
        </p:txBody>
      </p:sp>
      <p:sp>
        <p:nvSpPr>
          <p:cNvPr id="52" name="Rectangle 51"/>
          <p:cNvSpPr/>
          <p:nvPr/>
        </p:nvSpPr>
        <p:spPr>
          <a:xfrm>
            <a:off x="7046162" y="1284406"/>
            <a:ext cx="870751" cy="369332"/>
          </a:xfrm>
          <a:prstGeom prst="rect">
            <a:avLst/>
          </a:prstGeom>
        </p:spPr>
        <p:txBody>
          <a:bodyPr wrap="none">
            <a:spAutoFit/>
          </a:bodyPr>
          <a:lstStyle/>
          <a:p>
            <a:r>
              <a:rPr lang="en-US" b="1" dirty="0" smtClean="0">
                <a:latin typeface="Times New Roman" pitchFamily="18" charset="0"/>
                <a:cs typeface="Times New Roman" pitchFamily="18" charset="0"/>
              </a:rPr>
              <a:t>ANS D</a:t>
            </a:r>
            <a:endParaRPr lang="en-US" b="1" dirty="0">
              <a:latin typeface="Times New Roman" pitchFamily="18" charset="0"/>
              <a:cs typeface="Times New Roman" pitchFamily="18" charset="0"/>
            </a:endParaRPr>
          </a:p>
        </p:txBody>
      </p:sp>
      <p:sp>
        <p:nvSpPr>
          <p:cNvPr id="53" name="Rectangle 52"/>
          <p:cNvSpPr/>
          <p:nvPr/>
        </p:nvSpPr>
        <p:spPr>
          <a:xfrm>
            <a:off x="2057400" y="128885"/>
            <a:ext cx="47035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TABULAR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21342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left)">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wipe(left)">
                                      <p:cBhvr>
                                        <p:cTn id="62" dur="500"/>
                                        <p:tgtEl>
                                          <p:spTgt spid="3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left)">
                                      <p:cBhvr>
                                        <p:cTn id="67" dur="5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wipe(left)">
                                      <p:cBhvr>
                                        <p:cTn id="72" dur="5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wipe(left)">
                                      <p:cBhvr>
                                        <p:cTn id="77" dur="500"/>
                                        <p:tgtEl>
                                          <p:spTgt spid="3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wipe(left)">
                                      <p:cBhvr>
                                        <p:cTn id="82" dur="500"/>
                                        <p:tgtEl>
                                          <p:spTgt spid="4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wipe(left)">
                                      <p:cBhvr>
                                        <p:cTn id="87" dur="500"/>
                                        <p:tgtEl>
                                          <p:spTgt spid="3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wipe(left)">
                                      <p:cBhvr>
                                        <p:cTn id="92" dur="500"/>
                                        <p:tgtEl>
                                          <p:spTgt spid="3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wipe(left)">
                                      <p:cBhvr>
                                        <p:cTn id="97" dur="500"/>
                                        <p:tgtEl>
                                          <p:spTgt spid="4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wipe(left)">
                                      <p:cBhvr>
                                        <p:cTn id="102" dur="500"/>
                                        <p:tgtEl>
                                          <p:spTgt spid="4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42"/>
                                        </p:tgtEl>
                                        <p:attrNameLst>
                                          <p:attrName>style.visibility</p:attrName>
                                        </p:attrNameLst>
                                      </p:cBhvr>
                                      <p:to>
                                        <p:strVal val="visible"/>
                                      </p:to>
                                    </p:set>
                                    <p:animEffect transition="in" filter="wipe(left)">
                                      <p:cBhvr>
                                        <p:cTn id="107" dur="500"/>
                                        <p:tgtEl>
                                          <p:spTgt spid="4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wipe(left)">
                                      <p:cBhvr>
                                        <p:cTn id="112" dur="500"/>
                                        <p:tgtEl>
                                          <p:spTgt spid="4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wipe(left)">
                                      <p:cBhvr>
                                        <p:cTn id="117" dur="500"/>
                                        <p:tgtEl>
                                          <p:spTgt spid="5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2" dur="500"/>
                                        <p:tgtEl>
                                          <p:spTgt spid="4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wipe(left)">
                                      <p:cBhvr>
                                        <p:cTn id="127" dur="500"/>
                                        <p:tgtEl>
                                          <p:spTgt spid="4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wipe(left)">
                                      <p:cBhvr>
                                        <p:cTn id="132" dur="500"/>
                                        <p:tgtEl>
                                          <p:spTgt spid="47"/>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wipe(left)">
                                      <p:cBhvr>
                                        <p:cTn id="137" dur="500"/>
                                        <p:tgtEl>
                                          <p:spTgt spid="48"/>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wipe(left)">
                                      <p:cBhvr>
                                        <p:cTn id="142" dur="500"/>
                                        <p:tgtEl>
                                          <p:spTgt spid="49"/>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wipe(left)">
                                      <p:cBhvr>
                                        <p:cTn id="147" dur="500"/>
                                        <p:tgtEl>
                                          <p:spTgt spid="50"/>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52"/>
                                        </p:tgtEl>
                                        <p:attrNameLst>
                                          <p:attrName>style.visibility</p:attrName>
                                        </p:attrNameLst>
                                      </p:cBhvr>
                                      <p:to>
                                        <p:strVal val="visible"/>
                                      </p:to>
                                    </p:set>
                                    <p:animEffect transition="in" filter="wipe(left)">
                                      <p:cBhvr>
                                        <p:cTn id="15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P spid="26" grpId="0"/>
      <p:bldP spid="28" grpId="0"/>
      <p:bldP spid="29" grpId="0"/>
      <p:bldP spid="18" grpId="0"/>
      <p:bldP spid="19" grpId="0"/>
      <p:bldP spid="31" grpId="0"/>
      <p:bldP spid="32" grpId="0"/>
      <p:bldP spid="34" grpId="0"/>
      <p:bldP spid="35" grpId="0"/>
      <p:bldP spid="36" grpId="0"/>
      <p:bldP spid="37" grpId="0"/>
      <p:bldP spid="38" grpId="0"/>
      <p:bldP spid="39" grpId="0"/>
      <p:bldP spid="41" grpId="0"/>
      <p:bldP spid="42" grpId="0"/>
      <p:bldP spid="43" grpId="0"/>
      <p:bldP spid="44" grpId="0"/>
      <p:bldP spid="45" grpId="0"/>
      <p:bldP spid="46" grpId="0"/>
      <p:bldP spid="48" grpId="0"/>
      <p:bldP spid="49" grpId="0"/>
      <p:bldP spid="50" grpId="0"/>
      <p:bldP spid="51" grpId="0"/>
      <p:bldP spid="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81620"/>
            <a:ext cx="8153400" cy="369332"/>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Study the following table and answer the questions</a:t>
            </a:r>
            <a:r>
              <a:rPr lang="en-US" b="1" dirty="0" smtClean="0">
                <a:solidFill>
                  <a:srgbClr val="FF0000"/>
                </a:solidFill>
                <a:latin typeface="Times New Roman" pitchFamily="18" charset="0"/>
                <a:cs typeface="Times New Roman" pitchFamily="18" charset="0"/>
              </a:rPr>
              <a:t>.</a:t>
            </a:r>
            <a:endParaRPr lang="en-US" b="1" dirty="0">
              <a:solidFill>
                <a:srgbClr val="FF0000"/>
              </a:solidFill>
              <a:latin typeface="Times New Roman" pitchFamily="18" charset="0"/>
              <a:cs typeface="Times New Roman" pitchFamily="18" charset="0"/>
            </a:endParaRPr>
          </a:p>
        </p:txBody>
      </p:sp>
      <p:pic>
        <p:nvPicPr>
          <p:cNvPr id="1026" name="Picture 2"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3177"/>
            <a:ext cx="5172797" cy="284837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2400" y="892264"/>
            <a:ext cx="86614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What is the percentage of candidates qualified from State N for all the years together, over the candidates appeared from State N during all the years together</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A.12.36 %	B. 12.16% 	C. 11.47% 	D. 11.15 %</a:t>
            </a:r>
            <a:endParaRPr lang="en-US" b="1" dirty="0">
              <a:solidFill>
                <a:srgbClr val="FF0000"/>
              </a:solidFill>
              <a:latin typeface="Times New Roman" pitchFamily="18" charset="0"/>
              <a:cs typeface="Times New Roman" pitchFamily="18" charset="0"/>
            </a:endParaRPr>
          </a:p>
        </p:txBody>
      </p:sp>
      <p:sp>
        <p:nvSpPr>
          <p:cNvPr id="8" name="Rectangle 7"/>
          <p:cNvSpPr/>
          <p:nvPr/>
        </p:nvSpPr>
        <p:spPr>
          <a:xfrm>
            <a:off x="5486400" y="1748511"/>
            <a:ext cx="2234586" cy="369332"/>
          </a:xfrm>
          <a:prstGeom prst="rect">
            <a:avLst/>
          </a:prstGeom>
        </p:spPr>
        <p:txBody>
          <a:bodyPr wrap="none">
            <a:spAutoFit/>
          </a:bodyPr>
          <a:lstStyle/>
          <a:p>
            <a:r>
              <a:rPr lang="en-US" b="1" dirty="0">
                <a:latin typeface="Times New Roman" pitchFamily="18" charset="0"/>
                <a:cs typeface="Times New Roman" pitchFamily="18" charset="0"/>
              </a:rPr>
              <a:t>Required percentage</a:t>
            </a:r>
          </a:p>
        </p:txBody>
      </p:sp>
      <p:sp>
        <p:nvSpPr>
          <p:cNvPr id="9" name="Rectangle 8"/>
          <p:cNvSpPr/>
          <p:nvPr/>
        </p:nvSpPr>
        <p:spPr>
          <a:xfrm>
            <a:off x="4896387" y="2201902"/>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sp>
        <p:nvSpPr>
          <p:cNvPr id="10" name="Rectangle 9"/>
          <p:cNvSpPr/>
          <p:nvPr/>
        </p:nvSpPr>
        <p:spPr>
          <a:xfrm>
            <a:off x="5105400" y="2038350"/>
            <a:ext cx="3127779" cy="369332"/>
          </a:xfrm>
          <a:prstGeom prst="rect">
            <a:avLst/>
          </a:prstGeom>
        </p:spPr>
        <p:txBody>
          <a:bodyPr wrap="none">
            <a:spAutoFit/>
          </a:bodyPr>
          <a:lstStyle/>
          <a:p>
            <a:r>
              <a:rPr lang="en-US" b="1" dirty="0">
                <a:latin typeface="Times New Roman" pitchFamily="18" charset="0"/>
                <a:cs typeface="Times New Roman" pitchFamily="18" charset="0"/>
              </a:rPr>
              <a:t>840 + 1050 + 920 + 980 + 1020</a:t>
            </a:r>
          </a:p>
        </p:txBody>
      </p:sp>
      <p:sp>
        <p:nvSpPr>
          <p:cNvPr id="11" name="Rectangle 10"/>
          <p:cNvSpPr/>
          <p:nvPr/>
        </p:nvSpPr>
        <p:spPr>
          <a:xfrm>
            <a:off x="5105400" y="2387084"/>
            <a:ext cx="3474028" cy="369332"/>
          </a:xfrm>
          <a:prstGeom prst="rect">
            <a:avLst/>
          </a:prstGeom>
        </p:spPr>
        <p:txBody>
          <a:bodyPr wrap="none">
            <a:spAutoFit/>
          </a:bodyPr>
          <a:lstStyle/>
          <a:p>
            <a:r>
              <a:rPr lang="en-US" b="1" dirty="0">
                <a:latin typeface="Times New Roman" pitchFamily="18" charset="0"/>
                <a:cs typeface="Times New Roman" pitchFamily="18" charset="0"/>
              </a:rPr>
              <a:t>7500 + 9200 + 8450 + 9200 + 8800</a:t>
            </a:r>
          </a:p>
        </p:txBody>
      </p:sp>
      <p:sp>
        <p:nvSpPr>
          <p:cNvPr id="12" name="Rectangle 11"/>
          <p:cNvSpPr/>
          <p:nvPr/>
        </p:nvSpPr>
        <p:spPr>
          <a:xfrm>
            <a:off x="8176821" y="2117843"/>
            <a:ext cx="992579" cy="369332"/>
          </a:xfrm>
          <a:prstGeom prst="rect">
            <a:avLst/>
          </a:prstGeom>
        </p:spPr>
        <p:txBody>
          <a:bodyPr wrap="none">
            <a:spAutoFit/>
          </a:bodyPr>
          <a:lstStyle/>
          <a:p>
            <a:r>
              <a:rPr lang="en-US" b="1" dirty="0">
                <a:latin typeface="Times New Roman" pitchFamily="18" charset="0"/>
                <a:cs typeface="Times New Roman" pitchFamily="18" charset="0"/>
              </a:rPr>
              <a:t>x 100 %</a:t>
            </a:r>
          </a:p>
        </p:txBody>
      </p:sp>
      <p:sp>
        <p:nvSpPr>
          <p:cNvPr id="13" name="Rectangle 12"/>
          <p:cNvSpPr/>
          <p:nvPr/>
        </p:nvSpPr>
        <p:spPr>
          <a:xfrm>
            <a:off x="5486400" y="2876550"/>
            <a:ext cx="646331" cy="369332"/>
          </a:xfrm>
          <a:prstGeom prst="rect">
            <a:avLst/>
          </a:prstGeom>
        </p:spPr>
        <p:txBody>
          <a:bodyPr wrap="none">
            <a:spAutoFit/>
          </a:bodyPr>
          <a:lstStyle/>
          <a:p>
            <a:r>
              <a:rPr lang="en-US" b="1" dirty="0">
                <a:latin typeface="Times New Roman" pitchFamily="18" charset="0"/>
                <a:cs typeface="Times New Roman" pitchFamily="18" charset="0"/>
              </a:rPr>
              <a:t>4810</a:t>
            </a:r>
          </a:p>
        </p:txBody>
      </p:sp>
      <p:sp>
        <p:nvSpPr>
          <p:cNvPr id="15" name="Rectangle 14"/>
          <p:cNvSpPr/>
          <p:nvPr/>
        </p:nvSpPr>
        <p:spPr>
          <a:xfrm>
            <a:off x="5048787" y="2988031"/>
            <a:ext cx="314510" cy="369332"/>
          </a:xfrm>
          <a:prstGeom prst="rect">
            <a:avLst/>
          </a:prstGeom>
        </p:spPr>
        <p:txBody>
          <a:bodyPr wrap="none">
            <a:spAutoFit/>
          </a:bodyPr>
          <a:lstStyle/>
          <a:p>
            <a:r>
              <a:rPr lang="en-US" b="1" dirty="0">
                <a:latin typeface="Times New Roman" pitchFamily="18" charset="0"/>
                <a:cs typeface="Times New Roman" pitchFamily="18" charset="0"/>
              </a:rPr>
              <a:t>=</a:t>
            </a:r>
          </a:p>
        </p:txBody>
      </p:sp>
      <p:cxnSp>
        <p:nvCxnSpPr>
          <p:cNvPr id="16" name="Straight Connector 15"/>
          <p:cNvCxnSpPr>
            <a:stCxn id="9" idx="3"/>
          </p:cNvCxnSpPr>
          <p:nvPr/>
        </p:nvCxnSpPr>
        <p:spPr>
          <a:xfrm>
            <a:off x="5210897" y="2386568"/>
            <a:ext cx="286839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a:off x="5480202" y="3209765"/>
            <a:ext cx="652529" cy="0"/>
          </a:xfrm>
          <a:prstGeom prst="line">
            <a:avLst/>
          </a:prstGeom>
          <a:ln w="38100"/>
        </p:spPr>
        <p:style>
          <a:lnRef idx="1">
            <a:schemeClr val="dk1"/>
          </a:lnRef>
          <a:fillRef idx="0">
            <a:schemeClr val="dk1"/>
          </a:fillRef>
          <a:effectRef idx="0">
            <a:schemeClr val="dk1"/>
          </a:effectRef>
          <a:fontRef idx="minor">
            <a:schemeClr val="tx1"/>
          </a:fontRef>
        </p:style>
      </p:cxnSp>
      <p:sp>
        <p:nvSpPr>
          <p:cNvPr id="20" name="Rectangle 19"/>
          <p:cNvSpPr/>
          <p:nvPr/>
        </p:nvSpPr>
        <p:spPr>
          <a:xfrm>
            <a:off x="5480202" y="3181350"/>
            <a:ext cx="761747" cy="369332"/>
          </a:xfrm>
          <a:prstGeom prst="rect">
            <a:avLst/>
          </a:prstGeom>
        </p:spPr>
        <p:txBody>
          <a:bodyPr wrap="none">
            <a:spAutoFit/>
          </a:bodyPr>
          <a:lstStyle/>
          <a:p>
            <a:r>
              <a:rPr lang="en-US" b="1" dirty="0" smtClean="0">
                <a:latin typeface="Times New Roman" pitchFamily="18" charset="0"/>
                <a:cs typeface="Times New Roman" pitchFamily="18" charset="0"/>
              </a:rPr>
              <a:t>43150</a:t>
            </a:r>
            <a:endParaRPr lang="en-US" b="1" dirty="0">
              <a:latin typeface="Times New Roman" pitchFamily="18" charset="0"/>
              <a:cs typeface="Times New Roman" pitchFamily="18" charset="0"/>
            </a:endParaRPr>
          </a:p>
        </p:txBody>
      </p:sp>
      <p:sp>
        <p:nvSpPr>
          <p:cNvPr id="22" name="Rectangle 21"/>
          <p:cNvSpPr/>
          <p:nvPr/>
        </p:nvSpPr>
        <p:spPr>
          <a:xfrm>
            <a:off x="6057900" y="3016250"/>
            <a:ext cx="992579" cy="369332"/>
          </a:xfrm>
          <a:prstGeom prst="rect">
            <a:avLst/>
          </a:prstGeom>
        </p:spPr>
        <p:txBody>
          <a:bodyPr wrap="none">
            <a:spAutoFit/>
          </a:bodyPr>
          <a:lstStyle/>
          <a:p>
            <a:r>
              <a:rPr lang="en-US" b="1" dirty="0">
                <a:latin typeface="Times New Roman" pitchFamily="18" charset="0"/>
                <a:cs typeface="Times New Roman" pitchFamily="18" charset="0"/>
              </a:rPr>
              <a:t>x 100 %</a:t>
            </a:r>
          </a:p>
        </p:txBody>
      </p:sp>
      <p:sp>
        <p:nvSpPr>
          <p:cNvPr id="21" name="Rectangle 20"/>
          <p:cNvSpPr/>
          <p:nvPr/>
        </p:nvSpPr>
        <p:spPr>
          <a:xfrm>
            <a:off x="5143500" y="3497818"/>
            <a:ext cx="1168974"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smtClean="0">
                <a:latin typeface="Times New Roman" pitchFamily="18" charset="0"/>
                <a:cs typeface="Times New Roman" pitchFamily="18" charset="0"/>
              </a:rPr>
              <a:t>11.15% </a:t>
            </a:r>
            <a:endParaRPr lang="en-US" b="1" dirty="0">
              <a:latin typeface="Times New Roman" pitchFamily="18" charset="0"/>
              <a:cs typeface="Times New Roman" pitchFamily="18" charset="0"/>
            </a:endParaRPr>
          </a:p>
        </p:txBody>
      </p:sp>
      <p:sp>
        <p:nvSpPr>
          <p:cNvPr id="25" name="Rectangle 24"/>
          <p:cNvSpPr/>
          <p:nvPr/>
        </p:nvSpPr>
        <p:spPr>
          <a:xfrm>
            <a:off x="7210389" y="3848100"/>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D</a:t>
            </a:r>
            <a:endParaRPr lang="en-US" b="1" dirty="0">
              <a:latin typeface="Times New Roman" pitchFamily="18" charset="0"/>
              <a:cs typeface="Times New Roman" pitchFamily="18" charset="0"/>
            </a:endParaRPr>
          </a:p>
        </p:txBody>
      </p:sp>
      <p:sp>
        <p:nvSpPr>
          <p:cNvPr id="23" name="Rectangle 22"/>
          <p:cNvSpPr/>
          <p:nvPr/>
        </p:nvSpPr>
        <p:spPr>
          <a:xfrm>
            <a:off x="2057400" y="128885"/>
            <a:ext cx="47035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TABULAR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95723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5" grpId="0"/>
      <p:bldP spid="20" grpId="0"/>
      <p:bldP spid="22" grpId="0"/>
      <p:bldP spid="21" grpId="0"/>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0" y="128885"/>
            <a:ext cx="2286000"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BAR GARPH</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11" name="Rectangle 10"/>
          <p:cNvSpPr/>
          <p:nvPr/>
        </p:nvSpPr>
        <p:spPr>
          <a:xfrm>
            <a:off x="228600" y="514350"/>
            <a:ext cx="1981200" cy="400110"/>
          </a:xfrm>
          <a:prstGeom prst="rect">
            <a:avLst/>
          </a:prstGeom>
        </p:spPr>
        <p:txBody>
          <a:bodyPr wrap="square">
            <a:spAutoFit/>
          </a:bodyPr>
          <a:lstStyle/>
          <a:p>
            <a:r>
              <a:rPr lang="en-US" sz="2000" b="1" dirty="0" smtClean="0">
                <a:latin typeface="Times New Roman" pitchFamily="18" charset="0"/>
                <a:cs typeface="Times New Roman" pitchFamily="18" charset="0"/>
              </a:rPr>
              <a:t>Bar </a:t>
            </a:r>
            <a:r>
              <a:rPr lang="en-US" sz="2000" b="1" dirty="0">
                <a:latin typeface="Times New Roman" pitchFamily="18" charset="0"/>
                <a:cs typeface="Times New Roman" pitchFamily="18" charset="0"/>
              </a:rPr>
              <a:t>Graphs – </a:t>
            </a:r>
          </a:p>
        </p:txBody>
      </p:sp>
      <p:sp>
        <p:nvSpPr>
          <p:cNvPr id="12" name="Rectangle 11"/>
          <p:cNvSpPr/>
          <p:nvPr/>
        </p:nvSpPr>
        <p:spPr>
          <a:xfrm>
            <a:off x="76200" y="819150"/>
            <a:ext cx="9144000" cy="1200329"/>
          </a:xfrm>
          <a:prstGeom prst="rect">
            <a:avLst/>
          </a:prstGeom>
        </p:spPr>
        <p:txBody>
          <a:bodyPr wrap="square">
            <a:spAutoFit/>
          </a:bodyPr>
          <a:lstStyle/>
          <a:p>
            <a:r>
              <a:rPr lang="en-US" dirty="0" smtClean="0">
                <a:latin typeface="Times New Roman" pitchFamily="18" charset="0"/>
                <a:cs typeface="Times New Roman" pitchFamily="18" charset="0"/>
              </a:rPr>
              <a:t>By </a:t>
            </a:r>
            <a:r>
              <a:rPr lang="en-US" dirty="0">
                <a:latin typeface="Times New Roman" pitchFamily="18" charset="0"/>
                <a:cs typeface="Times New Roman" pitchFamily="18" charset="0"/>
              </a:rPr>
              <a:t>using bar graphs we can interpret the relationship between the variables in the form of rectangular bars. These rectangular bars could be drawn either horizontally or vertically. The different categories of data are represented by bars and the length of each bar represents its value. Some types of bar graphs include grouped graphs, segmented graphs, stacked graphs etc.</a:t>
            </a:r>
          </a:p>
        </p:txBody>
      </p:sp>
      <p:pic>
        <p:nvPicPr>
          <p:cNvPr id="9" name="Picture 2" descr="https://www.indiabix.com/_files/images/data-interpretation/bar-charts/15-1-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14550"/>
            <a:ext cx="4038600" cy="2184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824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03429"/>
            <a:ext cx="8724900"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bar graph given below shows the percentage distribution of the total production of a car manufacturing company into various models over two years.</a:t>
            </a:r>
          </a:p>
        </p:txBody>
      </p:sp>
      <p:pic>
        <p:nvPicPr>
          <p:cNvPr id="5122" name="Picture 2" descr="https://www.indiabix.com/_files/images/data-interpretation/bar-charts/15-1-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4486275" cy="3333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33800" y="1200150"/>
            <a:ext cx="5257800"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What was the difference in the number of Q type cars produced in 2000 and that produced in 2001</a:t>
            </a:r>
            <a:r>
              <a:rPr lang="en-US"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A. 35,500		B. 27,000</a:t>
            </a:r>
            <a:endParaRPr lang="en-US" b="1" dirty="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C. 22,500		D.17,500</a:t>
            </a:r>
            <a:endParaRPr lang="en-US" b="1" dirty="0">
              <a:solidFill>
                <a:srgbClr val="FF0000"/>
              </a:solidFill>
              <a:latin typeface="Times New Roman" pitchFamily="18" charset="0"/>
              <a:cs typeface="Times New Roman" pitchFamily="18" charset="0"/>
            </a:endParaRPr>
          </a:p>
        </p:txBody>
      </p:sp>
      <p:sp>
        <p:nvSpPr>
          <p:cNvPr id="5" name="Rectangle 4"/>
          <p:cNvSpPr/>
          <p:nvPr/>
        </p:nvSpPr>
        <p:spPr>
          <a:xfrm>
            <a:off x="4089400" y="2400479"/>
            <a:ext cx="4902200" cy="369332"/>
          </a:xfrm>
          <a:prstGeom prst="rect">
            <a:avLst/>
          </a:prstGeom>
        </p:spPr>
        <p:txBody>
          <a:bodyPr wrap="square">
            <a:spAutoFit/>
          </a:bodyPr>
          <a:lstStyle/>
          <a:p>
            <a:r>
              <a:rPr lang="en-US" b="1" dirty="0">
                <a:latin typeface="Times New Roman" pitchFamily="18" charset="0"/>
                <a:cs typeface="Times New Roman" pitchFamily="18" charset="0"/>
              </a:rPr>
              <a:t>Total number of Q type cars produced in 2001</a:t>
            </a:r>
          </a:p>
        </p:txBody>
      </p:sp>
      <p:sp>
        <p:nvSpPr>
          <p:cNvPr id="6" name="Rectangle 5"/>
          <p:cNvSpPr/>
          <p:nvPr/>
        </p:nvSpPr>
        <p:spPr>
          <a:xfrm>
            <a:off x="4364012" y="2769811"/>
            <a:ext cx="2470548" cy="369332"/>
          </a:xfrm>
          <a:prstGeom prst="rect">
            <a:avLst/>
          </a:prstGeom>
        </p:spPr>
        <p:txBody>
          <a:bodyPr wrap="none">
            <a:spAutoFit/>
          </a:bodyPr>
          <a:lstStyle/>
          <a:p>
            <a:r>
              <a:rPr lang="en-US" b="1" dirty="0">
                <a:latin typeface="Times New Roman" pitchFamily="18" charset="0"/>
                <a:cs typeface="Times New Roman" pitchFamily="18" charset="0"/>
              </a:rPr>
              <a:t>=(60 - 40)% of 4,40,000</a:t>
            </a:r>
          </a:p>
        </p:txBody>
      </p:sp>
      <p:sp>
        <p:nvSpPr>
          <p:cNvPr id="7" name="Rectangle 6"/>
          <p:cNvSpPr/>
          <p:nvPr/>
        </p:nvSpPr>
        <p:spPr>
          <a:xfrm>
            <a:off x="6883400" y="2769811"/>
            <a:ext cx="1007007" cy="369332"/>
          </a:xfrm>
          <a:prstGeom prst="rect">
            <a:avLst/>
          </a:prstGeom>
        </p:spPr>
        <p:txBody>
          <a:bodyPr wrap="none">
            <a:spAutoFit/>
          </a:bodyPr>
          <a:lstStyle/>
          <a:p>
            <a:r>
              <a:rPr lang="en-US" b="1" dirty="0">
                <a:latin typeface="Times New Roman" pitchFamily="18" charset="0"/>
                <a:cs typeface="Times New Roman" pitchFamily="18" charset="0"/>
              </a:rPr>
              <a:t>= 88,000</a:t>
            </a:r>
          </a:p>
        </p:txBody>
      </p:sp>
      <p:sp>
        <p:nvSpPr>
          <p:cNvPr id="8" name="Rectangle 7"/>
          <p:cNvSpPr/>
          <p:nvPr/>
        </p:nvSpPr>
        <p:spPr>
          <a:xfrm>
            <a:off x="3886200" y="3122674"/>
            <a:ext cx="5105400" cy="369332"/>
          </a:xfrm>
          <a:prstGeom prst="rect">
            <a:avLst/>
          </a:prstGeom>
        </p:spPr>
        <p:txBody>
          <a:bodyPr wrap="square">
            <a:spAutoFit/>
          </a:bodyPr>
          <a:lstStyle/>
          <a:p>
            <a:r>
              <a:rPr lang="en-US" b="1" dirty="0">
                <a:latin typeface="Times New Roman" pitchFamily="18" charset="0"/>
                <a:cs typeface="Times New Roman" pitchFamily="18" charset="0"/>
              </a:rPr>
              <a:t>Total number of Q type cars produced in </a:t>
            </a:r>
            <a:r>
              <a:rPr lang="en-US" b="1" dirty="0" smtClean="0">
                <a:latin typeface="Times New Roman" pitchFamily="18" charset="0"/>
                <a:cs typeface="Times New Roman" pitchFamily="18" charset="0"/>
              </a:rPr>
              <a:t>2000</a:t>
            </a:r>
            <a:endParaRPr lang="en-US" b="1" dirty="0">
              <a:latin typeface="Times New Roman" pitchFamily="18" charset="0"/>
              <a:cs typeface="Times New Roman" pitchFamily="18" charset="0"/>
            </a:endParaRPr>
          </a:p>
        </p:txBody>
      </p:sp>
      <p:sp>
        <p:nvSpPr>
          <p:cNvPr id="9" name="Rectangle 8"/>
          <p:cNvSpPr/>
          <p:nvPr/>
        </p:nvSpPr>
        <p:spPr>
          <a:xfrm>
            <a:off x="4102100" y="3492006"/>
            <a:ext cx="2528256" cy="369332"/>
          </a:xfrm>
          <a:prstGeom prst="rect">
            <a:avLst/>
          </a:prstGeom>
        </p:spPr>
        <p:txBody>
          <a:bodyPr wrap="none">
            <a:spAutoFit/>
          </a:bodyPr>
          <a:lstStyle/>
          <a:p>
            <a:r>
              <a:rPr lang="en-US" b="1" dirty="0">
                <a:latin typeface="Times New Roman" pitchFamily="18" charset="0"/>
                <a:cs typeface="Times New Roman" pitchFamily="18" charset="0"/>
              </a:rPr>
              <a:t> =(45 - 30)% of 3,50,000</a:t>
            </a:r>
          </a:p>
        </p:txBody>
      </p:sp>
      <p:sp>
        <p:nvSpPr>
          <p:cNvPr id="10" name="Rectangle 9"/>
          <p:cNvSpPr/>
          <p:nvPr/>
        </p:nvSpPr>
        <p:spPr>
          <a:xfrm>
            <a:off x="6684863" y="3492006"/>
            <a:ext cx="1064715" cy="369332"/>
          </a:xfrm>
          <a:prstGeom prst="rect">
            <a:avLst/>
          </a:prstGeom>
        </p:spPr>
        <p:txBody>
          <a:bodyPr wrap="none">
            <a:spAutoFit/>
          </a:bodyPr>
          <a:lstStyle/>
          <a:p>
            <a:r>
              <a:rPr lang="en-US" b="1" dirty="0">
                <a:latin typeface="Times New Roman" pitchFamily="18" charset="0"/>
                <a:cs typeface="Times New Roman" pitchFamily="18" charset="0"/>
              </a:rPr>
              <a:t> = 52,500</a:t>
            </a:r>
          </a:p>
        </p:txBody>
      </p:sp>
      <p:sp>
        <p:nvSpPr>
          <p:cNvPr id="14" name="Rectangle 13"/>
          <p:cNvSpPr/>
          <p:nvPr/>
        </p:nvSpPr>
        <p:spPr>
          <a:xfrm>
            <a:off x="4104928" y="3861338"/>
            <a:ext cx="2333972" cy="369332"/>
          </a:xfrm>
          <a:prstGeom prst="rect">
            <a:avLst/>
          </a:prstGeom>
        </p:spPr>
        <p:txBody>
          <a:bodyPr wrap="none">
            <a:spAutoFit/>
          </a:bodyPr>
          <a:lstStyle/>
          <a:p>
            <a:r>
              <a:rPr lang="en-US" b="1" dirty="0">
                <a:latin typeface="Times New Roman" pitchFamily="18" charset="0"/>
                <a:cs typeface="Times New Roman" pitchFamily="18" charset="0"/>
              </a:rPr>
              <a:t>Required difference =</a:t>
            </a:r>
          </a:p>
        </p:txBody>
      </p:sp>
      <p:sp>
        <p:nvSpPr>
          <p:cNvPr id="15" name="Rectangle 14"/>
          <p:cNvSpPr/>
          <p:nvPr/>
        </p:nvSpPr>
        <p:spPr>
          <a:xfrm>
            <a:off x="6451626" y="3861338"/>
            <a:ext cx="1531188" cy="369332"/>
          </a:xfrm>
          <a:prstGeom prst="rect">
            <a:avLst/>
          </a:prstGeom>
        </p:spPr>
        <p:txBody>
          <a:bodyPr wrap="none">
            <a:spAutoFit/>
          </a:bodyPr>
          <a:lstStyle/>
          <a:p>
            <a:r>
              <a:rPr lang="en-US" b="1" dirty="0">
                <a:latin typeface="Times New Roman" pitchFamily="18" charset="0"/>
                <a:cs typeface="Times New Roman" pitchFamily="18" charset="0"/>
              </a:rPr>
              <a:t>88000 - 52500</a:t>
            </a:r>
          </a:p>
        </p:txBody>
      </p:sp>
      <p:sp>
        <p:nvSpPr>
          <p:cNvPr id="16" name="Rectangle 15"/>
          <p:cNvSpPr/>
          <p:nvPr/>
        </p:nvSpPr>
        <p:spPr>
          <a:xfrm>
            <a:off x="6126852" y="4184134"/>
            <a:ext cx="1007007" cy="369332"/>
          </a:xfrm>
          <a:prstGeom prst="rect">
            <a:avLst/>
          </a:prstGeom>
        </p:spPr>
        <p:txBody>
          <a:bodyPr wrap="none">
            <a:spAutoFit/>
          </a:bodyPr>
          <a:lstStyle/>
          <a:p>
            <a:r>
              <a:rPr lang="en-US" b="1" dirty="0">
                <a:latin typeface="Times New Roman" pitchFamily="18" charset="0"/>
                <a:cs typeface="Times New Roman" pitchFamily="18" charset="0"/>
              </a:rPr>
              <a:t>= 35,500</a:t>
            </a:r>
          </a:p>
        </p:txBody>
      </p:sp>
      <p:sp>
        <p:nvSpPr>
          <p:cNvPr id="18" name="Rectangle 17"/>
          <p:cNvSpPr/>
          <p:nvPr/>
        </p:nvSpPr>
        <p:spPr>
          <a:xfrm>
            <a:off x="6126852" y="4552950"/>
            <a:ext cx="781048" cy="369332"/>
          </a:xfrm>
          <a:prstGeom prst="rect">
            <a:avLst/>
          </a:prstGeom>
        </p:spPr>
        <p:txBody>
          <a:bodyPr wrap="none">
            <a:spAutoFit/>
          </a:bodyPr>
          <a:lstStyle/>
          <a:p>
            <a:r>
              <a:rPr lang="en-US" b="1" dirty="0" smtClean="0">
                <a:latin typeface="Times New Roman" pitchFamily="18" charset="0"/>
                <a:cs typeface="Times New Roman" pitchFamily="18" charset="0"/>
              </a:rPr>
              <a:t>Ans A</a:t>
            </a:r>
            <a:endParaRPr lang="en-US" b="1" dirty="0">
              <a:latin typeface="Times New Roman" pitchFamily="18" charset="0"/>
              <a:cs typeface="Times New Roman" pitchFamily="18" charset="0"/>
            </a:endParaRPr>
          </a:p>
        </p:txBody>
      </p:sp>
      <p:sp>
        <p:nvSpPr>
          <p:cNvPr id="19" name="Rectangle 18"/>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BAR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40126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4" grpId="0"/>
      <p:bldP spid="15" grpId="0"/>
      <p:bldP spid="16"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03429"/>
            <a:ext cx="8724900"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bar graph given below shows the percentage distribution of the total production of a car manufacturing company into various models over two years.</a:t>
            </a:r>
          </a:p>
        </p:txBody>
      </p:sp>
      <p:pic>
        <p:nvPicPr>
          <p:cNvPr id="5122" name="Picture 2" descr="https://www.indiabix.com/_files/images/data-interpretation/bar-charts/15-1-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4486275" cy="3333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33800" y="1200150"/>
            <a:ext cx="5257800" cy="1477328"/>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If the percentage production of P type cars in 2001 was the same as that in 2000, then the number of P type cars produced in 2001 would have been?</a:t>
            </a:r>
          </a:p>
          <a:p>
            <a:r>
              <a:rPr lang="en-US" b="1" dirty="0" smtClean="0">
                <a:solidFill>
                  <a:srgbClr val="FF0000"/>
                </a:solidFill>
                <a:latin typeface="Times New Roman" pitchFamily="18" charset="0"/>
                <a:cs typeface="Times New Roman" pitchFamily="18" charset="0"/>
              </a:rPr>
              <a:t>A. 1,40,000		B. 1,32,000</a:t>
            </a:r>
            <a:endParaRPr lang="en-US" b="1" dirty="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C. 1,17,000		D. 1,05,000</a:t>
            </a:r>
            <a:endParaRPr lang="en-US" b="1" dirty="0">
              <a:solidFill>
                <a:srgbClr val="FF0000"/>
              </a:solidFill>
              <a:latin typeface="Times New Roman" pitchFamily="18" charset="0"/>
              <a:cs typeface="Times New Roman" pitchFamily="18" charset="0"/>
            </a:endParaRPr>
          </a:p>
        </p:txBody>
      </p:sp>
      <p:sp>
        <p:nvSpPr>
          <p:cNvPr id="12" name="Rectangle 11"/>
          <p:cNvSpPr/>
          <p:nvPr/>
        </p:nvSpPr>
        <p:spPr>
          <a:xfrm>
            <a:off x="3886200" y="2571750"/>
            <a:ext cx="5143500" cy="369332"/>
          </a:xfrm>
          <a:prstGeom prst="rect">
            <a:avLst/>
          </a:prstGeom>
        </p:spPr>
        <p:txBody>
          <a:bodyPr wrap="square">
            <a:spAutoFit/>
          </a:bodyPr>
          <a:lstStyle/>
          <a:p>
            <a:r>
              <a:rPr lang="en-US" b="1" dirty="0">
                <a:latin typeface="Times New Roman" pitchFamily="18" charset="0"/>
                <a:cs typeface="Times New Roman" pitchFamily="18" charset="0"/>
              </a:rPr>
              <a:t>If the percentage production of P type cars in 2001</a:t>
            </a:r>
          </a:p>
        </p:txBody>
      </p:sp>
      <p:sp>
        <p:nvSpPr>
          <p:cNvPr id="17" name="Rectangle 16"/>
          <p:cNvSpPr/>
          <p:nvPr/>
        </p:nvSpPr>
        <p:spPr>
          <a:xfrm>
            <a:off x="4305300" y="2839819"/>
            <a:ext cx="4724400" cy="369332"/>
          </a:xfrm>
          <a:prstGeom prst="rect">
            <a:avLst/>
          </a:prstGeom>
        </p:spPr>
        <p:txBody>
          <a:bodyPr wrap="square">
            <a:spAutoFit/>
          </a:bodyPr>
          <a:lstStyle/>
          <a:p>
            <a:r>
              <a:rPr lang="en-US" b="1" dirty="0">
                <a:latin typeface="Times New Roman" pitchFamily="18" charset="0"/>
                <a:cs typeface="Times New Roman" pitchFamily="18" charset="0"/>
              </a:rPr>
              <a:t>= Percentage production of P type cars in 2000</a:t>
            </a:r>
          </a:p>
        </p:txBody>
      </p:sp>
      <p:sp>
        <p:nvSpPr>
          <p:cNvPr id="19" name="Rectangle 18"/>
          <p:cNvSpPr/>
          <p:nvPr/>
        </p:nvSpPr>
        <p:spPr>
          <a:xfrm>
            <a:off x="7600729" y="3211731"/>
            <a:ext cx="893193" cy="369332"/>
          </a:xfrm>
          <a:prstGeom prst="rect">
            <a:avLst/>
          </a:prstGeom>
        </p:spPr>
        <p:txBody>
          <a:bodyPr wrap="none">
            <a:spAutoFit/>
          </a:bodyPr>
          <a:lstStyle/>
          <a:p>
            <a:r>
              <a:rPr lang="en-US" b="1" dirty="0">
                <a:latin typeface="Times New Roman" pitchFamily="18" charset="0"/>
                <a:cs typeface="Times New Roman" pitchFamily="18" charset="0"/>
              </a:rPr>
              <a:t>= 30%.</a:t>
            </a:r>
          </a:p>
        </p:txBody>
      </p:sp>
      <p:sp>
        <p:nvSpPr>
          <p:cNvPr id="20" name="Rectangle 19"/>
          <p:cNvSpPr/>
          <p:nvPr/>
        </p:nvSpPr>
        <p:spPr>
          <a:xfrm>
            <a:off x="4038600" y="3538508"/>
            <a:ext cx="4622800" cy="369332"/>
          </a:xfrm>
          <a:prstGeom prst="rect">
            <a:avLst/>
          </a:prstGeom>
        </p:spPr>
        <p:txBody>
          <a:bodyPr wrap="square">
            <a:spAutoFit/>
          </a:bodyPr>
          <a:lstStyle/>
          <a:p>
            <a:r>
              <a:rPr lang="en-US" b="1" dirty="0">
                <a:latin typeface="Times New Roman" pitchFamily="18" charset="0"/>
                <a:cs typeface="Times New Roman" pitchFamily="18" charset="0"/>
              </a:rPr>
              <a:t>then, number of P type cars produced in 2001</a:t>
            </a:r>
          </a:p>
        </p:txBody>
      </p:sp>
      <p:sp>
        <p:nvSpPr>
          <p:cNvPr id="21" name="Rectangle 20"/>
          <p:cNvSpPr/>
          <p:nvPr/>
        </p:nvSpPr>
        <p:spPr>
          <a:xfrm>
            <a:off x="6974079" y="3892412"/>
            <a:ext cx="2008883" cy="369332"/>
          </a:xfrm>
          <a:prstGeom prst="rect">
            <a:avLst/>
          </a:prstGeom>
        </p:spPr>
        <p:txBody>
          <a:bodyPr wrap="none">
            <a:spAutoFit/>
          </a:bodyPr>
          <a:lstStyle/>
          <a:p>
            <a:r>
              <a:rPr lang="en-US" b="1" dirty="0">
                <a:latin typeface="Times New Roman" pitchFamily="18" charset="0"/>
                <a:cs typeface="Times New Roman" pitchFamily="18" charset="0"/>
              </a:rPr>
              <a:t> = 30% of 4,40,000</a:t>
            </a:r>
          </a:p>
        </p:txBody>
      </p:sp>
      <p:sp>
        <p:nvSpPr>
          <p:cNvPr id="22" name="Rectangle 21"/>
          <p:cNvSpPr/>
          <p:nvPr/>
        </p:nvSpPr>
        <p:spPr>
          <a:xfrm>
            <a:off x="7010400" y="4188520"/>
            <a:ext cx="1180131" cy="369332"/>
          </a:xfrm>
          <a:prstGeom prst="rect">
            <a:avLst/>
          </a:prstGeom>
        </p:spPr>
        <p:txBody>
          <a:bodyPr wrap="none">
            <a:spAutoFit/>
          </a:bodyPr>
          <a:lstStyle/>
          <a:p>
            <a:r>
              <a:rPr lang="en-US" b="1" dirty="0">
                <a:latin typeface="Times New Roman" pitchFamily="18" charset="0"/>
                <a:cs typeface="Times New Roman" pitchFamily="18" charset="0"/>
              </a:rPr>
              <a:t>= 1,32,000</a:t>
            </a:r>
          </a:p>
        </p:txBody>
      </p:sp>
      <p:sp>
        <p:nvSpPr>
          <p:cNvPr id="24" name="Rectangle 23"/>
          <p:cNvSpPr/>
          <p:nvPr/>
        </p:nvSpPr>
        <p:spPr>
          <a:xfrm>
            <a:off x="7197538" y="4552950"/>
            <a:ext cx="780983" cy="369332"/>
          </a:xfrm>
          <a:prstGeom prst="rect">
            <a:avLst/>
          </a:prstGeom>
        </p:spPr>
        <p:txBody>
          <a:bodyPr wrap="none">
            <a:spAutoFit/>
          </a:bodyPr>
          <a:lstStyle/>
          <a:p>
            <a:r>
              <a:rPr lang="en-US" b="1" dirty="0" smtClean="0">
                <a:latin typeface="Times New Roman" pitchFamily="18" charset="0"/>
                <a:cs typeface="Times New Roman" pitchFamily="18" charset="0"/>
              </a:rPr>
              <a:t>Ans B</a:t>
            </a:r>
            <a:endParaRPr lang="en-US" b="1" dirty="0">
              <a:latin typeface="Times New Roman" pitchFamily="18" charset="0"/>
              <a:cs typeface="Times New Roman" pitchFamily="18" charset="0"/>
            </a:endParaRPr>
          </a:p>
        </p:txBody>
      </p:sp>
      <p:sp>
        <p:nvSpPr>
          <p:cNvPr id="15" name="Rectangle 14"/>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BAR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12585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7" grpId="0"/>
      <p:bldP spid="19" grpId="0"/>
      <p:bldP spid="20" grpId="0"/>
      <p:bldP spid="21" grpId="0"/>
      <p:bldP spid="22" grpId="0"/>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03429"/>
            <a:ext cx="8724900"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bar graph given below shows the percentage distribution of the total production of a car manufacturing company into various models over two years.</a:t>
            </a:r>
          </a:p>
        </p:txBody>
      </p:sp>
      <p:pic>
        <p:nvPicPr>
          <p:cNvPr id="5122" name="Picture 2" descr="https://www.indiabix.com/_files/images/data-interpretation/bar-charts/15-1-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4486275" cy="3333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33800" y="1200150"/>
            <a:ext cx="5257800" cy="1200329"/>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If 85% of the S type cars produced in each year were sold by the company, how many S type cars remain unsold?</a:t>
            </a:r>
          </a:p>
          <a:p>
            <a:r>
              <a:rPr lang="en-US" b="1" dirty="0" smtClean="0">
                <a:solidFill>
                  <a:srgbClr val="FF0000"/>
                </a:solidFill>
                <a:latin typeface="Times New Roman" pitchFamily="18" charset="0"/>
                <a:cs typeface="Times New Roman" pitchFamily="18" charset="0"/>
              </a:rPr>
              <a:t>A. 7650	B. 9350	C. 11,850		D. 12,250</a:t>
            </a:r>
            <a:endParaRPr lang="en-US" b="1" dirty="0">
              <a:solidFill>
                <a:srgbClr val="FF0000"/>
              </a:solidFill>
              <a:latin typeface="Times New Roman" pitchFamily="18" charset="0"/>
              <a:cs typeface="Times New Roman" pitchFamily="18" charset="0"/>
            </a:endParaRPr>
          </a:p>
        </p:txBody>
      </p:sp>
      <p:sp>
        <p:nvSpPr>
          <p:cNvPr id="5" name="Rectangle 4"/>
          <p:cNvSpPr/>
          <p:nvPr/>
        </p:nvSpPr>
        <p:spPr>
          <a:xfrm>
            <a:off x="4457700" y="2400478"/>
            <a:ext cx="4572000" cy="646331"/>
          </a:xfrm>
          <a:prstGeom prst="rect">
            <a:avLst/>
          </a:prstGeom>
        </p:spPr>
        <p:txBody>
          <a:bodyPr>
            <a:spAutoFit/>
          </a:bodyPr>
          <a:lstStyle/>
          <a:p>
            <a:r>
              <a:rPr lang="en-US" b="1" dirty="0">
                <a:latin typeface="Times New Roman" pitchFamily="18" charset="0"/>
                <a:cs typeface="Times New Roman" pitchFamily="18" charset="0"/>
              </a:rPr>
              <a:t>Number of S type cars which remained unsold in 2000</a:t>
            </a:r>
          </a:p>
        </p:txBody>
      </p:sp>
      <p:sp>
        <p:nvSpPr>
          <p:cNvPr id="6" name="Rectangle 5"/>
          <p:cNvSpPr/>
          <p:nvPr/>
        </p:nvSpPr>
        <p:spPr>
          <a:xfrm>
            <a:off x="6334307" y="2677993"/>
            <a:ext cx="1893467" cy="369332"/>
          </a:xfrm>
          <a:prstGeom prst="rect">
            <a:avLst/>
          </a:prstGeom>
        </p:spPr>
        <p:txBody>
          <a:bodyPr wrap="none">
            <a:spAutoFit/>
          </a:bodyPr>
          <a:lstStyle/>
          <a:p>
            <a:r>
              <a:rPr lang="en-US" b="1" dirty="0">
                <a:latin typeface="Times New Roman" pitchFamily="18" charset="0"/>
                <a:cs typeface="Times New Roman" pitchFamily="18" charset="0"/>
              </a:rPr>
              <a:t>= 15% of </a:t>
            </a:r>
            <a:r>
              <a:rPr lang="en-US" b="1" dirty="0" smtClean="0">
                <a:latin typeface="Times New Roman" pitchFamily="18" charset="0"/>
                <a:cs typeface="Times New Roman" pitchFamily="18" charset="0"/>
              </a:rPr>
              <a:t>350,000</a:t>
            </a:r>
            <a:endParaRPr lang="en-US" b="1" dirty="0">
              <a:latin typeface="Times New Roman" pitchFamily="18" charset="0"/>
              <a:cs typeface="Times New Roman" pitchFamily="18" charset="0"/>
            </a:endParaRPr>
          </a:p>
        </p:txBody>
      </p:sp>
      <p:sp>
        <p:nvSpPr>
          <p:cNvPr id="7" name="Rectangle 6"/>
          <p:cNvSpPr/>
          <p:nvPr/>
        </p:nvSpPr>
        <p:spPr>
          <a:xfrm>
            <a:off x="4089400" y="3047325"/>
            <a:ext cx="4572000" cy="646331"/>
          </a:xfrm>
          <a:prstGeom prst="rect">
            <a:avLst/>
          </a:prstGeom>
        </p:spPr>
        <p:txBody>
          <a:bodyPr>
            <a:spAutoFit/>
          </a:bodyPr>
          <a:lstStyle/>
          <a:p>
            <a:r>
              <a:rPr lang="en-US" b="1" dirty="0">
                <a:latin typeface="Times New Roman" pitchFamily="18" charset="0"/>
                <a:cs typeface="Times New Roman" pitchFamily="18" charset="0"/>
              </a:rPr>
              <a:t> number of S type cars which remained unsold in 2001 </a:t>
            </a:r>
          </a:p>
        </p:txBody>
      </p:sp>
      <p:sp>
        <p:nvSpPr>
          <p:cNvPr id="8" name="Rectangle 7"/>
          <p:cNvSpPr/>
          <p:nvPr/>
        </p:nvSpPr>
        <p:spPr>
          <a:xfrm>
            <a:off x="6321076" y="3324324"/>
            <a:ext cx="1951175" cy="369332"/>
          </a:xfrm>
          <a:prstGeom prst="rect">
            <a:avLst/>
          </a:prstGeom>
        </p:spPr>
        <p:txBody>
          <a:bodyPr wrap="none">
            <a:spAutoFit/>
          </a:bodyPr>
          <a:lstStyle/>
          <a:p>
            <a:r>
              <a:rPr lang="en-US" b="1" dirty="0">
                <a:latin typeface="Times New Roman" pitchFamily="18" charset="0"/>
                <a:cs typeface="Times New Roman" pitchFamily="18" charset="0"/>
              </a:rPr>
              <a:t>= 15% of </a:t>
            </a:r>
            <a:r>
              <a:rPr lang="en-US" b="1" dirty="0" smtClean="0">
                <a:latin typeface="Times New Roman" pitchFamily="18" charset="0"/>
                <a:cs typeface="Times New Roman" pitchFamily="18" charset="0"/>
              </a:rPr>
              <a:t>440,000</a:t>
            </a:r>
            <a:r>
              <a:rPr lang="en-US" b="1" dirty="0">
                <a:latin typeface="Times New Roman" pitchFamily="18" charset="0"/>
                <a:cs typeface="Times New Roman" pitchFamily="18" charset="0"/>
              </a:rPr>
              <a:t>.</a:t>
            </a:r>
          </a:p>
        </p:txBody>
      </p:sp>
      <p:sp>
        <p:nvSpPr>
          <p:cNvPr id="9" name="Rectangle 8"/>
          <p:cNvSpPr/>
          <p:nvPr/>
        </p:nvSpPr>
        <p:spPr>
          <a:xfrm>
            <a:off x="4048307" y="3693656"/>
            <a:ext cx="4572000" cy="646331"/>
          </a:xfrm>
          <a:prstGeom prst="rect">
            <a:avLst/>
          </a:prstGeom>
        </p:spPr>
        <p:txBody>
          <a:bodyPr>
            <a:spAutoFit/>
          </a:bodyPr>
          <a:lstStyle/>
          <a:p>
            <a:r>
              <a:rPr lang="en-US" b="1" dirty="0">
                <a:latin typeface="Times New Roman" pitchFamily="18" charset="0"/>
                <a:cs typeface="Times New Roman" pitchFamily="18" charset="0"/>
              </a:rPr>
              <a:t>Total number of S type cars which remained unsold</a:t>
            </a:r>
          </a:p>
        </p:txBody>
      </p:sp>
      <p:sp>
        <p:nvSpPr>
          <p:cNvPr id="10" name="Rectangle 9"/>
          <p:cNvSpPr/>
          <p:nvPr/>
        </p:nvSpPr>
        <p:spPr>
          <a:xfrm>
            <a:off x="6019800" y="3945771"/>
            <a:ext cx="3102131" cy="369332"/>
          </a:xfrm>
          <a:prstGeom prst="rect">
            <a:avLst/>
          </a:prstGeom>
        </p:spPr>
        <p:txBody>
          <a:bodyPr wrap="none">
            <a:spAutoFit/>
          </a:bodyPr>
          <a:lstStyle/>
          <a:p>
            <a:r>
              <a:rPr lang="en-US" b="1" dirty="0">
                <a:latin typeface="Times New Roman" pitchFamily="18" charset="0"/>
                <a:cs typeface="Times New Roman" pitchFamily="18" charset="0"/>
              </a:rPr>
              <a:t> = 15% of (</a:t>
            </a:r>
            <a:r>
              <a:rPr lang="en-US" b="1" dirty="0" smtClean="0">
                <a:latin typeface="Times New Roman" pitchFamily="18" charset="0"/>
                <a:cs typeface="Times New Roman" pitchFamily="18" charset="0"/>
              </a:rPr>
              <a:t>350,000 </a:t>
            </a:r>
            <a:r>
              <a:rPr lang="en-US" b="1" dirty="0">
                <a:latin typeface="Times New Roman" pitchFamily="18" charset="0"/>
                <a:cs typeface="Times New Roman" pitchFamily="18" charset="0"/>
              </a:rPr>
              <a:t>+ </a:t>
            </a:r>
            <a:r>
              <a:rPr lang="en-US" b="1" dirty="0" smtClean="0">
                <a:latin typeface="Times New Roman" pitchFamily="18" charset="0"/>
                <a:cs typeface="Times New Roman" pitchFamily="18" charset="0"/>
              </a:rPr>
              <a:t>440,000</a:t>
            </a:r>
            <a:r>
              <a:rPr lang="en-US" b="1" dirty="0">
                <a:latin typeface="Times New Roman" pitchFamily="18" charset="0"/>
                <a:cs typeface="Times New Roman" pitchFamily="18" charset="0"/>
              </a:rPr>
              <a:t>)</a:t>
            </a:r>
          </a:p>
        </p:txBody>
      </p:sp>
      <p:sp>
        <p:nvSpPr>
          <p:cNvPr id="11" name="Rectangle 10"/>
          <p:cNvSpPr/>
          <p:nvPr/>
        </p:nvSpPr>
        <p:spPr>
          <a:xfrm>
            <a:off x="6019800" y="4308246"/>
            <a:ext cx="1893467" cy="369332"/>
          </a:xfrm>
          <a:prstGeom prst="rect">
            <a:avLst/>
          </a:prstGeom>
        </p:spPr>
        <p:txBody>
          <a:bodyPr wrap="none">
            <a:spAutoFit/>
          </a:bodyPr>
          <a:lstStyle/>
          <a:p>
            <a:r>
              <a:rPr lang="en-US" b="1" dirty="0">
                <a:latin typeface="Times New Roman" pitchFamily="18" charset="0"/>
                <a:cs typeface="Times New Roman" pitchFamily="18" charset="0"/>
              </a:rPr>
              <a:t>= 15% of </a:t>
            </a:r>
            <a:r>
              <a:rPr lang="en-US" b="1" dirty="0" smtClean="0">
                <a:latin typeface="Times New Roman" pitchFamily="18" charset="0"/>
                <a:cs typeface="Times New Roman" pitchFamily="18" charset="0"/>
              </a:rPr>
              <a:t>790,000</a:t>
            </a:r>
            <a:endParaRPr lang="en-US" b="1" dirty="0">
              <a:latin typeface="Times New Roman" pitchFamily="18" charset="0"/>
              <a:cs typeface="Times New Roman" pitchFamily="18" charset="0"/>
            </a:endParaRPr>
          </a:p>
        </p:txBody>
      </p:sp>
      <p:sp>
        <p:nvSpPr>
          <p:cNvPr id="14" name="Rectangle 13"/>
          <p:cNvSpPr/>
          <p:nvPr/>
        </p:nvSpPr>
        <p:spPr>
          <a:xfrm>
            <a:off x="6084705" y="4670721"/>
            <a:ext cx="1056123" cy="369332"/>
          </a:xfrm>
          <a:prstGeom prst="rect">
            <a:avLst/>
          </a:prstGeom>
        </p:spPr>
        <p:txBody>
          <a:bodyPr wrap="none">
            <a:spAutoFit/>
          </a:bodyPr>
          <a:lstStyle/>
          <a:p>
            <a:r>
              <a:rPr lang="en-US" b="1" dirty="0">
                <a:latin typeface="Times New Roman" pitchFamily="18" charset="0"/>
                <a:cs typeface="Times New Roman" pitchFamily="18" charset="0"/>
              </a:rPr>
              <a:t>= 11,850.</a:t>
            </a:r>
          </a:p>
        </p:txBody>
      </p:sp>
      <p:sp>
        <p:nvSpPr>
          <p:cNvPr id="23" name="Rectangle 22"/>
          <p:cNvSpPr/>
          <p:nvPr/>
        </p:nvSpPr>
        <p:spPr>
          <a:xfrm>
            <a:off x="7555095" y="4734221"/>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16" name="Rectangle 15"/>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BAR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97632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14"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03429"/>
            <a:ext cx="8724900"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bar graph given below shows the percentage distribution of the total production of a car manufacturing company into various models over two years.</a:t>
            </a:r>
          </a:p>
        </p:txBody>
      </p:sp>
      <p:pic>
        <p:nvPicPr>
          <p:cNvPr id="5122" name="Picture 2" descr="https://www.indiabix.com/_files/images/data-interpretation/bar-charts/15-1-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4486275" cy="333375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BAR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4457700" y="1352550"/>
            <a:ext cx="4572000" cy="1200329"/>
          </a:xfrm>
          <a:prstGeom prst="rect">
            <a:avLst/>
          </a:prstGeom>
        </p:spPr>
        <p:txBody>
          <a:bodyPr>
            <a:spAutoFit/>
          </a:bodyPr>
          <a:lstStyle/>
          <a:p>
            <a:pPr fontAlgn="t"/>
            <a:r>
              <a:rPr lang="en-US" b="1" dirty="0">
                <a:solidFill>
                  <a:srgbClr val="FF0000"/>
                </a:solidFill>
                <a:latin typeface="Times New Roman" pitchFamily="18" charset="0"/>
                <a:cs typeface="Times New Roman" pitchFamily="18" charset="0"/>
              </a:rPr>
              <a:t>For which model the percentage rise/fall in production from 2000 to 2001 was minimum?</a:t>
            </a:r>
          </a:p>
          <a:p>
            <a:r>
              <a:rPr lang="en-US" b="1" dirty="0" smtClean="0">
                <a:solidFill>
                  <a:srgbClr val="FF0000"/>
                </a:solidFill>
                <a:latin typeface="Times New Roman" pitchFamily="18" charset="0"/>
                <a:cs typeface="Times New Roman" pitchFamily="18" charset="0"/>
              </a:rPr>
              <a:t>A. Q	B. R	C. S	D. T</a:t>
            </a:r>
            <a:endParaRPr lang="en-US" b="1" dirty="0">
              <a:solidFill>
                <a:srgbClr val="FF0000"/>
              </a:solidFill>
              <a:latin typeface="Times New Roman" pitchFamily="18" charset="0"/>
              <a:cs typeface="Times New Roman" pitchFamily="18" charset="0"/>
            </a:endParaRPr>
          </a:p>
        </p:txBody>
      </p:sp>
      <p:sp>
        <p:nvSpPr>
          <p:cNvPr id="12" name="Rectangle 11"/>
          <p:cNvSpPr/>
          <p:nvPr/>
        </p:nvSpPr>
        <p:spPr>
          <a:xfrm>
            <a:off x="4495800" y="2495550"/>
            <a:ext cx="4381500" cy="923330"/>
          </a:xfrm>
          <a:prstGeom prst="rect">
            <a:avLst/>
          </a:prstGeom>
        </p:spPr>
        <p:txBody>
          <a:bodyPr wrap="square">
            <a:spAutoFit/>
          </a:bodyPr>
          <a:lstStyle/>
          <a:p>
            <a:r>
              <a:rPr lang="en-US" b="1" dirty="0">
                <a:latin typeface="Times New Roman" pitchFamily="18" charset="0"/>
                <a:cs typeface="Times New Roman" pitchFamily="18" charset="0"/>
              </a:rPr>
              <a:t>The percentage change (rise/fall) in production from 2000 to 2001 for various models is:</a:t>
            </a:r>
          </a:p>
        </p:txBody>
      </p:sp>
      <p:sp>
        <p:nvSpPr>
          <p:cNvPr id="15" name="Rectangle 14"/>
          <p:cNvSpPr/>
          <p:nvPr/>
        </p:nvSpPr>
        <p:spPr>
          <a:xfrm>
            <a:off x="4571999" y="3418880"/>
            <a:ext cx="776816" cy="369332"/>
          </a:xfrm>
          <a:prstGeom prst="rect">
            <a:avLst/>
          </a:prstGeom>
        </p:spPr>
        <p:txBody>
          <a:bodyPr wrap="none">
            <a:spAutoFit/>
          </a:bodyPr>
          <a:lstStyle/>
          <a:p>
            <a:r>
              <a:rPr lang="en-US" b="1" dirty="0">
                <a:latin typeface="Times New Roman" pitchFamily="18" charset="0"/>
                <a:cs typeface="Times New Roman" pitchFamily="18" charset="0"/>
              </a:rPr>
              <a:t>For Q</a:t>
            </a:r>
          </a:p>
        </p:txBody>
      </p:sp>
      <p:sp>
        <p:nvSpPr>
          <p:cNvPr id="17" name="Rectangle 16"/>
          <p:cNvSpPr/>
          <p:nvPr/>
        </p:nvSpPr>
        <p:spPr>
          <a:xfrm>
            <a:off x="6775859" y="3418880"/>
            <a:ext cx="1467068" cy="369332"/>
          </a:xfrm>
          <a:prstGeom prst="rect">
            <a:avLst/>
          </a:prstGeom>
        </p:spPr>
        <p:txBody>
          <a:bodyPr wrap="none">
            <a:spAutoFit/>
          </a:bodyPr>
          <a:lstStyle/>
          <a:p>
            <a:r>
              <a:rPr lang="en-US" b="1" dirty="0">
                <a:latin typeface="Times New Roman" pitchFamily="18" charset="0"/>
                <a:cs typeface="Times New Roman" pitchFamily="18" charset="0"/>
              </a:rPr>
              <a:t> 67.62%, rise</a:t>
            </a:r>
          </a:p>
        </p:txBody>
      </p:sp>
      <p:sp>
        <p:nvSpPr>
          <p:cNvPr id="18" name="Rectangle 17"/>
          <p:cNvSpPr/>
          <p:nvPr/>
        </p:nvSpPr>
        <p:spPr>
          <a:xfrm>
            <a:off x="4571999" y="3788212"/>
            <a:ext cx="821700" cy="369332"/>
          </a:xfrm>
          <a:prstGeom prst="rect">
            <a:avLst/>
          </a:prstGeom>
        </p:spPr>
        <p:txBody>
          <a:bodyPr wrap="none">
            <a:spAutoFit/>
          </a:bodyPr>
          <a:lstStyle/>
          <a:p>
            <a:r>
              <a:rPr lang="en-US" b="1" dirty="0">
                <a:latin typeface="Times New Roman" pitchFamily="18" charset="0"/>
                <a:cs typeface="Times New Roman" pitchFamily="18" charset="0"/>
              </a:rPr>
              <a:t>For R </a:t>
            </a:r>
          </a:p>
        </p:txBody>
      </p:sp>
      <p:sp>
        <p:nvSpPr>
          <p:cNvPr id="20" name="Rectangle 19"/>
          <p:cNvSpPr/>
          <p:nvPr/>
        </p:nvSpPr>
        <p:spPr>
          <a:xfrm>
            <a:off x="6769100" y="3788212"/>
            <a:ext cx="1255472" cy="369332"/>
          </a:xfrm>
          <a:prstGeom prst="rect">
            <a:avLst/>
          </a:prstGeom>
        </p:spPr>
        <p:txBody>
          <a:bodyPr wrap="none">
            <a:spAutoFit/>
          </a:bodyPr>
          <a:lstStyle/>
          <a:p>
            <a:r>
              <a:rPr lang="en-US" b="1" dirty="0">
                <a:latin typeface="Times New Roman" pitchFamily="18" charset="0"/>
                <a:cs typeface="Times New Roman" pitchFamily="18" charset="0"/>
              </a:rPr>
              <a:t>5.71%, fall</a:t>
            </a:r>
          </a:p>
        </p:txBody>
      </p:sp>
      <p:sp>
        <p:nvSpPr>
          <p:cNvPr id="21" name="Rectangle 20"/>
          <p:cNvSpPr/>
          <p:nvPr/>
        </p:nvSpPr>
        <p:spPr>
          <a:xfrm>
            <a:off x="4626501" y="4157544"/>
            <a:ext cx="725520" cy="369332"/>
          </a:xfrm>
          <a:prstGeom prst="rect">
            <a:avLst/>
          </a:prstGeom>
        </p:spPr>
        <p:txBody>
          <a:bodyPr wrap="none">
            <a:spAutoFit/>
          </a:bodyPr>
          <a:lstStyle/>
          <a:p>
            <a:r>
              <a:rPr lang="en-US" b="1" dirty="0">
                <a:latin typeface="Times New Roman" pitchFamily="18" charset="0"/>
                <a:cs typeface="Times New Roman" pitchFamily="18" charset="0"/>
              </a:rPr>
              <a:t>For S</a:t>
            </a:r>
          </a:p>
        </p:txBody>
      </p:sp>
      <p:sp>
        <p:nvSpPr>
          <p:cNvPr id="22" name="Rectangle 21"/>
          <p:cNvSpPr/>
          <p:nvPr/>
        </p:nvSpPr>
        <p:spPr>
          <a:xfrm>
            <a:off x="6781800" y="4107418"/>
            <a:ext cx="1467068" cy="369332"/>
          </a:xfrm>
          <a:prstGeom prst="rect">
            <a:avLst/>
          </a:prstGeom>
        </p:spPr>
        <p:txBody>
          <a:bodyPr wrap="none">
            <a:spAutoFit/>
          </a:bodyPr>
          <a:lstStyle/>
          <a:p>
            <a:r>
              <a:rPr lang="en-US" b="1" dirty="0">
                <a:latin typeface="Times New Roman" pitchFamily="18" charset="0"/>
                <a:cs typeface="Times New Roman" pitchFamily="18" charset="0"/>
              </a:rPr>
              <a:t>25.71%, rise.</a:t>
            </a:r>
          </a:p>
        </p:txBody>
      </p:sp>
      <p:sp>
        <p:nvSpPr>
          <p:cNvPr id="25" name="Rectangle 24"/>
          <p:cNvSpPr/>
          <p:nvPr/>
        </p:nvSpPr>
        <p:spPr>
          <a:xfrm>
            <a:off x="4599249" y="4494610"/>
            <a:ext cx="746999" cy="369332"/>
          </a:xfrm>
          <a:prstGeom prst="rect">
            <a:avLst/>
          </a:prstGeom>
        </p:spPr>
        <p:txBody>
          <a:bodyPr wrap="none">
            <a:spAutoFit/>
          </a:bodyPr>
          <a:lstStyle/>
          <a:p>
            <a:r>
              <a:rPr lang="en-US" b="1" dirty="0">
                <a:latin typeface="Times New Roman" pitchFamily="18" charset="0"/>
                <a:cs typeface="Times New Roman" pitchFamily="18" charset="0"/>
              </a:rPr>
              <a:t>For </a:t>
            </a:r>
            <a:r>
              <a:rPr lang="en-US" b="1" dirty="0" smtClean="0">
                <a:latin typeface="Times New Roman" pitchFamily="18" charset="0"/>
                <a:cs typeface="Times New Roman" pitchFamily="18" charset="0"/>
              </a:rPr>
              <a:t>T</a:t>
            </a:r>
            <a:endParaRPr lang="en-US" b="1" dirty="0">
              <a:latin typeface="Times New Roman" pitchFamily="18" charset="0"/>
              <a:cs typeface="Times New Roman" pitchFamily="18" charset="0"/>
            </a:endParaRPr>
          </a:p>
        </p:txBody>
      </p:sp>
      <p:sp>
        <p:nvSpPr>
          <p:cNvPr id="24" name="Rectangle 23"/>
          <p:cNvSpPr/>
          <p:nvPr/>
        </p:nvSpPr>
        <p:spPr>
          <a:xfrm>
            <a:off x="6805514" y="4476750"/>
            <a:ext cx="1428596" cy="369332"/>
          </a:xfrm>
          <a:prstGeom prst="rect">
            <a:avLst/>
          </a:prstGeom>
        </p:spPr>
        <p:txBody>
          <a:bodyPr wrap="none">
            <a:spAutoFit/>
          </a:bodyPr>
          <a:lstStyle/>
          <a:p>
            <a:r>
              <a:rPr lang="en-US" b="1" dirty="0">
                <a:latin typeface="Times New Roman" pitchFamily="18" charset="0"/>
                <a:cs typeface="Times New Roman" pitchFamily="18" charset="0"/>
              </a:rPr>
              <a:t> 16.19%, fall</a:t>
            </a:r>
          </a:p>
        </p:txBody>
      </p:sp>
    </p:spTree>
    <p:extLst>
      <p:ext uri="{BB962C8B-B14F-4D97-AF65-F5344CB8AC3E}">
        <p14:creationId xmlns:p14="http://schemas.microsoft.com/office/powerpoint/2010/main" val="149319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P spid="15" grpId="0"/>
      <p:bldP spid="17" grpId="0"/>
      <p:bldP spid="18" grpId="0"/>
      <p:bldP spid="20" grpId="0"/>
      <p:bldP spid="21" grpId="0"/>
      <p:bldP spid="22" grpId="0"/>
      <p:bldP spid="25"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6425" y="125431"/>
            <a:ext cx="2157099"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PIE CHART</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11" name="Rectangle 10"/>
          <p:cNvSpPr/>
          <p:nvPr/>
        </p:nvSpPr>
        <p:spPr>
          <a:xfrm>
            <a:off x="319401" y="742950"/>
            <a:ext cx="1752600" cy="369332"/>
          </a:xfrm>
          <a:prstGeom prst="rect">
            <a:avLst/>
          </a:prstGeom>
        </p:spPr>
        <p:txBody>
          <a:bodyPr wrap="square">
            <a:spAutoFit/>
          </a:bodyPr>
          <a:lstStyle/>
          <a:p>
            <a:r>
              <a:rPr lang="en-US" b="1" dirty="0"/>
              <a:t>Pie Chart </a:t>
            </a:r>
            <a:r>
              <a:rPr lang="en-US" b="1" dirty="0" smtClean="0"/>
              <a:t>–</a:t>
            </a:r>
            <a:endParaRPr lang="en-US" b="1" dirty="0"/>
          </a:p>
        </p:txBody>
      </p:sp>
      <p:sp>
        <p:nvSpPr>
          <p:cNvPr id="16" name="Rectangle 15"/>
          <p:cNvSpPr/>
          <p:nvPr/>
        </p:nvSpPr>
        <p:spPr>
          <a:xfrm>
            <a:off x="457200" y="1112282"/>
            <a:ext cx="8001000" cy="1200329"/>
          </a:xfrm>
          <a:prstGeom prst="rect">
            <a:avLst/>
          </a:prstGeom>
        </p:spPr>
        <p:txBody>
          <a:bodyPr wrap="square">
            <a:spAutoFit/>
          </a:bodyPr>
          <a:lstStyle/>
          <a:p>
            <a:r>
              <a:rPr lang="en-US" dirty="0" smtClean="0"/>
              <a:t>The </a:t>
            </a:r>
            <a:r>
              <a:rPr lang="en-US" dirty="0"/>
              <a:t>circular graph used to represent the percentage of a variable is called a pie chart. The pie charts represent numbers as proportions or percentages. Some types of pie charts are simple pie charts, doughnut pie charts, and 3D pie charts.</a:t>
            </a:r>
          </a:p>
        </p:txBody>
      </p:sp>
      <p:pic>
        <p:nvPicPr>
          <p:cNvPr id="7170" name="Picture 2" descr="https://www.indiabix.com/_files/images/data-interpretation/pie-charts/15-2-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8325" y="2495550"/>
            <a:ext cx="2914650" cy="2105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43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0"/>
                                        </p:tgtEl>
                                        <p:attrNameLst>
                                          <p:attrName>style.visibility</p:attrName>
                                        </p:attrNameLst>
                                      </p:cBhvr>
                                      <p:to>
                                        <p:strVal val="visible"/>
                                      </p:to>
                                    </p:set>
                                    <p:animEffect transition="in" filter="wipe(left)">
                                      <p:cBhvr>
                                        <p:cTn id="1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90550"/>
            <a:ext cx="8509000"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pie-chart shows the sources of funds to be collected by the National Highways Authority of India (NHAI) for its Phase II projects. Study the pie-chart and answers the question that follow.</a:t>
            </a:r>
          </a:p>
          <a:p>
            <a:r>
              <a:rPr lang="en-US" b="1" dirty="0">
                <a:solidFill>
                  <a:srgbClr val="FF0000"/>
                </a:solidFill>
                <a:latin typeface="Times New Roman" pitchFamily="18" charset="0"/>
                <a:cs typeface="Times New Roman" pitchFamily="18" charset="0"/>
              </a:rPr>
              <a:t>Sources of funds to be arranged by NHAI for Phase II projects (in </a:t>
            </a:r>
            <a:r>
              <a:rPr lang="en-US" b="1" dirty="0" err="1">
                <a:solidFill>
                  <a:srgbClr val="FF0000"/>
                </a:solidFill>
                <a:latin typeface="Times New Roman" pitchFamily="18" charset="0"/>
                <a:cs typeface="Times New Roman" pitchFamily="18" charset="0"/>
              </a:rPr>
              <a:t>crores</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a:t>
            </a:r>
          </a:p>
        </p:txBody>
      </p:sp>
      <p:pic>
        <p:nvPicPr>
          <p:cNvPr id="11266" name="Picture 2" descr="https://www.indiabix.com/_files/images/data-interpretation/pie-charts/15-2-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 y="1822629"/>
            <a:ext cx="2914650" cy="21050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952750" y="1708150"/>
            <a:ext cx="5962650" cy="923330"/>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Near about 20% of the funds are to be arranged through:</a:t>
            </a:r>
          </a:p>
          <a:p>
            <a:r>
              <a:rPr lang="en-US" b="1" dirty="0" smtClean="0">
                <a:solidFill>
                  <a:srgbClr val="FF0000"/>
                </a:solidFill>
                <a:latin typeface="Times New Roman" pitchFamily="18" charset="0"/>
                <a:cs typeface="Times New Roman" pitchFamily="18" charset="0"/>
              </a:rPr>
              <a:t>A. SPVS		B. External </a:t>
            </a:r>
            <a:r>
              <a:rPr lang="en-US" b="1" dirty="0">
                <a:solidFill>
                  <a:srgbClr val="FF0000"/>
                </a:solidFill>
                <a:latin typeface="Times New Roman" pitchFamily="18" charset="0"/>
                <a:cs typeface="Times New Roman" pitchFamily="18" charset="0"/>
              </a:rPr>
              <a:t>Assistance</a:t>
            </a:r>
          </a:p>
          <a:p>
            <a:r>
              <a:rPr lang="en-US" b="1" dirty="0" smtClean="0">
                <a:solidFill>
                  <a:srgbClr val="FF0000"/>
                </a:solidFill>
                <a:latin typeface="Times New Roman" pitchFamily="18" charset="0"/>
                <a:cs typeface="Times New Roman" pitchFamily="18" charset="0"/>
              </a:rPr>
              <a:t>C. Annuity	D. Market </a:t>
            </a:r>
            <a:r>
              <a:rPr lang="en-US" b="1" dirty="0">
                <a:solidFill>
                  <a:srgbClr val="FF0000"/>
                </a:solidFill>
                <a:latin typeface="Times New Roman" pitchFamily="18" charset="0"/>
                <a:cs typeface="Times New Roman" pitchFamily="18" charset="0"/>
              </a:rPr>
              <a:t>Borrowing</a:t>
            </a:r>
          </a:p>
        </p:txBody>
      </p:sp>
      <p:sp>
        <p:nvSpPr>
          <p:cNvPr id="7" name="Rectangle 6"/>
          <p:cNvSpPr/>
          <p:nvPr/>
        </p:nvSpPr>
        <p:spPr>
          <a:xfrm>
            <a:off x="3181350" y="2690476"/>
            <a:ext cx="3884397" cy="369332"/>
          </a:xfrm>
          <a:prstGeom prst="rect">
            <a:avLst/>
          </a:prstGeom>
        </p:spPr>
        <p:txBody>
          <a:bodyPr wrap="none">
            <a:spAutoFit/>
          </a:bodyPr>
          <a:lstStyle/>
          <a:p>
            <a:r>
              <a:rPr lang="en-US" b="1" dirty="0">
                <a:latin typeface="Times New Roman" pitchFamily="18" charset="0"/>
                <a:cs typeface="Times New Roman" pitchFamily="18" charset="0"/>
              </a:rPr>
              <a:t>20% of the total funds to be arranged</a:t>
            </a:r>
          </a:p>
        </p:txBody>
      </p:sp>
      <p:sp>
        <p:nvSpPr>
          <p:cNvPr id="8" name="Rectangle 7"/>
          <p:cNvSpPr/>
          <p:nvPr/>
        </p:nvSpPr>
        <p:spPr>
          <a:xfrm>
            <a:off x="4419600" y="3059808"/>
            <a:ext cx="2911053"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(20% of 57600) </a:t>
            </a:r>
            <a:r>
              <a:rPr lang="en-US" b="1" dirty="0" err="1">
                <a:latin typeface="Times New Roman" pitchFamily="18" charset="0"/>
                <a:cs typeface="Times New Roman" pitchFamily="18" charset="0"/>
              </a:rPr>
              <a:t>crores</a:t>
            </a:r>
            <a:endParaRPr lang="en-US" b="1" dirty="0">
              <a:latin typeface="Times New Roman" pitchFamily="18" charset="0"/>
              <a:cs typeface="Times New Roman" pitchFamily="18" charset="0"/>
            </a:endParaRPr>
          </a:p>
        </p:txBody>
      </p:sp>
      <p:sp>
        <p:nvSpPr>
          <p:cNvPr id="9" name="Rectangle 8"/>
          <p:cNvSpPr/>
          <p:nvPr/>
        </p:nvSpPr>
        <p:spPr>
          <a:xfrm>
            <a:off x="4419600" y="3429140"/>
            <a:ext cx="1974964"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11520 </a:t>
            </a:r>
            <a:r>
              <a:rPr lang="en-US" b="1" dirty="0" err="1">
                <a:latin typeface="Times New Roman" pitchFamily="18" charset="0"/>
                <a:cs typeface="Times New Roman" pitchFamily="18" charset="0"/>
              </a:rPr>
              <a:t>crores</a:t>
            </a:r>
            <a:endParaRPr lang="en-US" b="1" dirty="0">
              <a:latin typeface="Times New Roman" pitchFamily="18" charset="0"/>
              <a:cs typeface="Times New Roman" pitchFamily="18" charset="0"/>
            </a:endParaRPr>
          </a:p>
        </p:txBody>
      </p:sp>
      <p:sp>
        <p:nvSpPr>
          <p:cNvPr id="12" name="Rectangle 6"/>
          <p:cNvSpPr>
            <a:spLocks noChangeArrowheads="1"/>
          </p:cNvSpPr>
          <p:nvPr/>
        </p:nvSpPr>
        <p:spPr bwMode="auto">
          <a:xfrm>
            <a:off x="4460787" y="3830738"/>
            <a:ext cx="29268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Rs.11486 </a:t>
            </a:r>
            <a:r>
              <a:rPr kumimoji="0" lang="en-US" b="1" i="0" u="none" strike="noStrike" cap="none" normalizeH="0" baseline="0" dirty="0" err="1" smtClean="0">
                <a:ln>
                  <a:noFill/>
                </a:ln>
                <a:solidFill>
                  <a:schemeClr val="tx1"/>
                </a:solidFill>
                <a:effectLst/>
                <a:latin typeface="Times New Roman" pitchFamily="18" charset="0"/>
                <a:cs typeface="Times New Roman" pitchFamily="18" charset="0"/>
              </a:rPr>
              <a:t>crores</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b="1" i="0" u="none" strike="noStrike" cap="none" normalizeH="0" baseline="0" dirty="0" err="1" smtClean="0">
                <a:ln>
                  <a:noFill/>
                </a:ln>
                <a:solidFill>
                  <a:schemeClr val="tx1"/>
                </a:solidFill>
                <a:effectLst/>
                <a:latin typeface="Times New Roman" pitchFamily="18" charset="0"/>
                <a:cs typeface="Times New Roman" pitchFamily="18" charset="0"/>
              </a:rPr>
              <a:t>Approx</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13" name="Rectangle 12"/>
          <p:cNvSpPr/>
          <p:nvPr/>
        </p:nvSpPr>
        <p:spPr>
          <a:xfrm>
            <a:off x="3581400" y="4200070"/>
            <a:ext cx="4572000" cy="646331"/>
          </a:xfrm>
          <a:prstGeom prst="rect">
            <a:avLst/>
          </a:prstGeom>
        </p:spPr>
        <p:txBody>
          <a:bodyPr>
            <a:spAutoFit/>
          </a:bodyPr>
          <a:lstStyle/>
          <a:p>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11486 </a:t>
            </a:r>
            <a:r>
              <a:rPr lang="en-US" b="1" dirty="0" err="1">
                <a:latin typeface="Times New Roman" pitchFamily="18" charset="0"/>
                <a:cs typeface="Times New Roman" pitchFamily="18" charset="0"/>
              </a:rPr>
              <a:t>crores</a:t>
            </a:r>
            <a:r>
              <a:rPr lang="en-US" b="1" dirty="0">
                <a:latin typeface="Times New Roman" pitchFamily="18" charset="0"/>
                <a:cs typeface="Times New Roman" pitchFamily="18" charset="0"/>
              </a:rPr>
              <a:t> is the amount of funds to be arranged through External Assistance.</a:t>
            </a:r>
          </a:p>
        </p:txBody>
      </p:sp>
      <p:sp>
        <p:nvSpPr>
          <p:cNvPr id="14" name="Rectangle 13"/>
          <p:cNvSpPr/>
          <p:nvPr/>
        </p:nvSpPr>
        <p:spPr>
          <a:xfrm>
            <a:off x="1600200" y="128885"/>
            <a:ext cx="51607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PIE CHART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45489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2"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90550"/>
            <a:ext cx="8509000"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pie-chart shows the sources of funds to be collected by the National Highways Authority of India (NHAI) for its Phase II projects. Study the pie-chart and answers the question that follow.</a:t>
            </a:r>
          </a:p>
          <a:p>
            <a:r>
              <a:rPr lang="en-US" b="1" dirty="0">
                <a:solidFill>
                  <a:srgbClr val="FF0000"/>
                </a:solidFill>
                <a:latin typeface="Times New Roman" pitchFamily="18" charset="0"/>
                <a:cs typeface="Times New Roman" pitchFamily="18" charset="0"/>
              </a:rPr>
              <a:t>Sources of funds to be arranged by NHAI for Phase II projects (in </a:t>
            </a:r>
            <a:r>
              <a:rPr lang="en-US" b="1" dirty="0" err="1">
                <a:solidFill>
                  <a:srgbClr val="FF0000"/>
                </a:solidFill>
                <a:latin typeface="Times New Roman" pitchFamily="18" charset="0"/>
                <a:cs typeface="Times New Roman" pitchFamily="18" charset="0"/>
              </a:rPr>
              <a:t>crores</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a:t>
            </a:r>
          </a:p>
        </p:txBody>
      </p:sp>
      <p:pic>
        <p:nvPicPr>
          <p:cNvPr id="11266" name="Picture 2" descr="https://www.indiabix.com/_files/images/data-interpretation/pie-charts/15-2-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 y="1822629"/>
            <a:ext cx="2914650" cy="21050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952750" y="1708150"/>
            <a:ext cx="5962650" cy="1477328"/>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If NHAI could receive a total of </a:t>
            </a:r>
            <a:r>
              <a:rPr lang="en-US" b="1" dirty="0" err="1">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 9695 </a:t>
            </a:r>
            <a:r>
              <a:rPr lang="en-US" b="1" dirty="0" err="1">
                <a:solidFill>
                  <a:srgbClr val="FF0000"/>
                </a:solidFill>
                <a:latin typeface="Times New Roman" pitchFamily="18" charset="0"/>
                <a:cs typeface="Times New Roman" pitchFamily="18" charset="0"/>
              </a:rPr>
              <a:t>crores</a:t>
            </a:r>
            <a:r>
              <a:rPr lang="en-US" b="1" dirty="0">
                <a:solidFill>
                  <a:srgbClr val="FF0000"/>
                </a:solidFill>
                <a:latin typeface="Times New Roman" pitchFamily="18" charset="0"/>
                <a:cs typeface="Times New Roman" pitchFamily="18" charset="0"/>
              </a:rPr>
              <a:t> as External Assistance, by what percent (approximately) should it increase the Market Borrowing to arrange for the shortage of funds</a:t>
            </a:r>
            <a:r>
              <a:rPr lang="en-US" b="1" dirty="0" smtClean="0">
                <a:solidFill>
                  <a:srgbClr val="FF0000"/>
                </a:solidFill>
                <a:latin typeface="Times New Roman" pitchFamily="18" charset="0"/>
                <a:cs typeface="Times New Roman" pitchFamily="18" charset="0"/>
              </a:rPr>
              <a:t>?</a:t>
            </a:r>
          </a:p>
          <a:p>
            <a:pPr fontAlgn="t"/>
            <a:r>
              <a:rPr lang="en-US" b="1" dirty="0">
                <a:solidFill>
                  <a:srgbClr val="FF0000"/>
                </a:solidFill>
                <a:latin typeface="Times New Roman" pitchFamily="18" charset="0"/>
                <a:cs typeface="Times New Roman" pitchFamily="18" charset="0"/>
              </a:rPr>
              <a:t>A</a:t>
            </a:r>
            <a:r>
              <a:rPr lang="en-US" b="1" dirty="0" smtClean="0">
                <a:solidFill>
                  <a:srgbClr val="FF0000"/>
                </a:solidFill>
                <a:latin typeface="Times New Roman" pitchFamily="18" charset="0"/>
                <a:cs typeface="Times New Roman" pitchFamily="18" charset="0"/>
              </a:rPr>
              <a:t>. 4.5%	B.7.5%		C.6%	D. 8</a:t>
            </a:r>
            <a:r>
              <a:rPr lang="en-US" b="1" dirty="0">
                <a:solidFill>
                  <a:srgbClr val="FF0000"/>
                </a:solidFill>
                <a:latin typeface="Times New Roman" pitchFamily="18" charset="0"/>
                <a:cs typeface="Times New Roman" pitchFamily="18" charset="0"/>
              </a:rPr>
              <a:t>%</a:t>
            </a:r>
          </a:p>
        </p:txBody>
      </p:sp>
      <p:sp>
        <p:nvSpPr>
          <p:cNvPr id="5" name="Rectangle 4"/>
          <p:cNvSpPr/>
          <p:nvPr/>
        </p:nvSpPr>
        <p:spPr>
          <a:xfrm>
            <a:off x="2952750" y="3105150"/>
            <a:ext cx="4572000" cy="646331"/>
          </a:xfrm>
          <a:prstGeom prst="rect">
            <a:avLst/>
          </a:prstGeom>
        </p:spPr>
        <p:txBody>
          <a:bodyPr>
            <a:spAutoFit/>
          </a:bodyPr>
          <a:lstStyle/>
          <a:p>
            <a:r>
              <a:rPr lang="en-US" b="1" dirty="0">
                <a:latin typeface="Times New Roman" pitchFamily="18" charset="0"/>
                <a:cs typeface="Times New Roman" pitchFamily="18" charset="0"/>
              </a:rPr>
              <a:t>Shortage of funds arranged</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through External Assistance</a:t>
            </a:r>
          </a:p>
        </p:txBody>
      </p:sp>
      <p:sp>
        <p:nvSpPr>
          <p:cNvPr id="6" name="Rectangle 5"/>
          <p:cNvSpPr/>
          <p:nvPr/>
        </p:nvSpPr>
        <p:spPr>
          <a:xfrm>
            <a:off x="6253710" y="3243649"/>
            <a:ext cx="2782878"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(11486 - 9695) </a:t>
            </a:r>
            <a:r>
              <a:rPr lang="en-US" b="1" dirty="0" err="1">
                <a:latin typeface="Times New Roman" pitchFamily="18" charset="0"/>
                <a:cs typeface="Times New Roman" pitchFamily="18" charset="0"/>
              </a:rPr>
              <a:t>crores</a:t>
            </a:r>
            <a:endParaRPr lang="en-US" b="1" dirty="0">
              <a:latin typeface="Times New Roman" pitchFamily="18" charset="0"/>
              <a:cs typeface="Times New Roman" pitchFamily="18" charset="0"/>
            </a:endParaRPr>
          </a:p>
        </p:txBody>
      </p:sp>
      <p:sp>
        <p:nvSpPr>
          <p:cNvPr id="10" name="Rectangle 9"/>
          <p:cNvSpPr/>
          <p:nvPr/>
        </p:nvSpPr>
        <p:spPr>
          <a:xfrm>
            <a:off x="6253710" y="3612981"/>
            <a:ext cx="1930016"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1791 </a:t>
            </a:r>
            <a:r>
              <a:rPr lang="en-US" b="1" dirty="0" err="1">
                <a:latin typeface="Times New Roman" pitchFamily="18" charset="0"/>
                <a:cs typeface="Times New Roman" pitchFamily="18" charset="0"/>
              </a:rPr>
              <a:t>crores</a:t>
            </a:r>
            <a:r>
              <a:rPr lang="en-US" b="1" dirty="0">
                <a:latin typeface="Times New Roman" pitchFamily="18" charset="0"/>
                <a:cs typeface="Times New Roman" pitchFamily="18" charset="0"/>
              </a:rPr>
              <a:t>.</a:t>
            </a:r>
          </a:p>
        </p:txBody>
      </p:sp>
      <p:sp>
        <p:nvSpPr>
          <p:cNvPr id="14" name="Rectangle 13"/>
          <p:cNvSpPr/>
          <p:nvPr/>
        </p:nvSpPr>
        <p:spPr>
          <a:xfrm>
            <a:off x="2952750" y="3902771"/>
            <a:ext cx="4149854" cy="369332"/>
          </a:xfrm>
          <a:prstGeom prst="rect">
            <a:avLst/>
          </a:prstGeom>
        </p:spPr>
        <p:txBody>
          <a:bodyPr wrap="none">
            <a:spAutoFit/>
          </a:bodyPr>
          <a:lstStyle/>
          <a:p>
            <a:r>
              <a:rPr lang="en-US" b="1" dirty="0">
                <a:latin typeface="Times New Roman" pitchFamily="18" charset="0"/>
                <a:cs typeface="Times New Roman" pitchFamily="18" charset="0"/>
              </a:rPr>
              <a:t>Increase required in Market Borrowing </a:t>
            </a:r>
          </a:p>
        </p:txBody>
      </p:sp>
      <p:sp>
        <p:nvSpPr>
          <p:cNvPr id="18" name="Rectangle 17"/>
          <p:cNvSpPr/>
          <p:nvPr/>
        </p:nvSpPr>
        <p:spPr>
          <a:xfrm>
            <a:off x="6364601" y="4094650"/>
            <a:ext cx="1930016"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1791 </a:t>
            </a:r>
            <a:r>
              <a:rPr lang="en-US" b="1" dirty="0" err="1">
                <a:latin typeface="Times New Roman" pitchFamily="18" charset="0"/>
                <a:cs typeface="Times New Roman" pitchFamily="18" charset="0"/>
              </a:rPr>
              <a:t>crores</a:t>
            </a:r>
            <a:r>
              <a:rPr lang="en-US" b="1" dirty="0">
                <a:latin typeface="Times New Roman" pitchFamily="18" charset="0"/>
                <a:cs typeface="Times New Roman" pitchFamily="18" charset="0"/>
              </a:rPr>
              <a:t>.</a:t>
            </a:r>
          </a:p>
        </p:txBody>
      </p:sp>
      <p:sp>
        <p:nvSpPr>
          <p:cNvPr id="15" name="Rectangle 14"/>
          <p:cNvSpPr/>
          <p:nvPr/>
        </p:nvSpPr>
        <p:spPr>
          <a:xfrm>
            <a:off x="1153734" y="4362898"/>
            <a:ext cx="2503866" cy="646331"/>
          </a:xfrm>
          <a:prstGeom prst="rect">
            <a:avLst/>
          </a:prstGeom>
        </p:spPr>
        <p:txBody>
          <a:bodyPr wrap="square">
            <a:spAutoFit/>
          </a:bodyPr>
          <a:lstStyle/>
          <a:p>
            <a:r>
              <a:rPr lang="en-US" b="1" dirty="0">
                <a:latin typeface="Times New Roman" pitchFamily="18" charset="0"/>
                <a:cs typeface="Times New Roman" pitchFamily="18" charset="0"/>
              </a:rPr>
              <a:t>Percentage increase required =</a:t>
            </a:r>
          </a:p>
        </p:txBody>
      </p:sp>
      <p:sp>
        <p:nvSpPr>
          <p:cNvPr id="16" name="Rectangle 15"/>
          <p:cNvSpPr/>
          <p:nvPr/>
        </p:nvSpPr>
        <p:spPr>
          <a:xfrm>
            <a:off x="3396071" y="4463982"/>
            <a:ext cx="314510" cy="369332"/>
          </a:xfrm>
          <a:prstGeom prst="rect">
            <a:avLst/>
          </a:prstGeom>
        </p:spPr>
        <p:txBody>
          <a:bodyPr wrap="none">
            <a:spAutoFit/>
          </a:bodyPr>
          <a:lstStyle/>
          <a:p>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21" name="Rectangle 20"/>
          <p:cNvSpPr/>
          <p:nvPr/>
        </p:nvSpPr>
        <p:spPr>
          <a:xfrm>
            <a:off x="3695700" y="4248150"/>
            <a:ext cx="646331" cy="369332"/>
          </a:xfrm>
          <a:prstGeom prst="rect">
            <a:avLst/>
          </a:prstGeom>
        </p:spPr>
        <p:txBody>
          <a:bodyPr wrap="none">
            <a:spAutoFit/>
          </a:bodyPr>
          <a:lstStyle/>
          <a:p>
            <a:r>
              <a:rPr lang="en-US" b="1" dirty="0">
                <a:latin typeface="Times New Roman" pitchFamily="18" charset="0"/>
                <a:cs typeface="Times New Roman" pitchFamily="18" charset="0"/>
              </a:rPr>
              <a:t>1791</a:t>
            </a:r>
          </a:p>
        </p:txBody>
      </p:sp>
      <p:cxnSp>
        <p:nvCxnSpPr>
          <p:cNvPr id="20" name="Straight Connector 19"/>
          <p:cNvCxnSpPr/>
          <p:nvPr/>
        </p:nvCxnSpPr>
        <p:spPr>
          <a:xfrm flipH="1">
            <a:off x="3763480" y="4552950"/>
            <a:ext cx="518559" cy="0"/>
          </a:xfrm>
          <a:prstGeom prst="line">
            <a:avLst/>
          </a:prstGeom>
          <a:ln/>
        </p:spPr>
        <p:style>
          <a:lnRef idx="1">
            <a:schemeClr val="dk1"/>
          </a:lnRef>
          <a:fillRef idx="0">
            <a:schemeClr val="dk1"/>
          </a:fillRef>
          <a:effectRef idx="0">
            <a:schemeClr val="dk1"/>
          </a:effectRef>
          <a:fontRef idx="minor">
            <a:schemeClr val="tx1"/>
          </a:fontRef>
        </p:style>
      </p:cxnSp>
      <p:sp>
        <p:nvSpPr>
          <p:cNvPr id="23" name="Rectangle 22"/>
          <p:cNvSpPr/>
          <p:nvPr/>
        </p:nvSpPr>
        <p:spPr>
          <a:xfrm>
            <a:off x="3670667" y="4615013"/>
            <a:ext cx="761747" cy="369332"/>
          </a:xfrm>
          <a:prstGeom prst="rect">
            <a:avLst/>
          </a:prstGeom>
        </p:spPr>
        <p:txBody>
          <a:bodyPr wrap="none">
            <a:spAutoFit/>
          </a:bodyPr>
          <a:lstStyle/>
          <a:p>
            <a:r>
              <a:rPr lang="en-US" b="1" dirty="0">
                <a:latin typeface="Times New Roman" pitchFamily="18" charset="0"/>
                <a:cs typeface="Times New Roman" pitchFamily="18" charset="0"/>
              </a:rPr>
              <a:t>29952</a:t>
            </a:r>
          </a:p>
        </p:txBody>
      </p:sp>
      <p:sp>
        <p:nvSpPr>
          <p:cNvPr id="26" name="Rectangle 25"/>
          <p:cNvSpPr/>
          <p:nvPr/>
        </p:nvSpPr>
        <p:spPr>
          <a:xfrm>
            <a:off x="4451159" y="4368284"/>
            <a:ext cx="928459" cy="369332"/>
          </a:xfrm>
          <a:prstGeom prst="rect">
            <a:avLst/>
          </a:prstGeom>
        </p:spPr>
        <p:txBody>
          <a:bodyPr wrap="none">
            <a:spAutoFit/>
          </a:bodyPr>
          <a:lstStyle/>
          <a:p>
            <a:r>
              <a:rPr lang="en-US" b="1" dirty="0" smtClean="0">
                <a:latin typeface="Times New Roman" pitchFamily="18" charset="0"/>
                <a:cs typeface="Times New Roman" pitchFamily="18" charset="0"/>
              </a:rPr>
              <a:t>X100%</a:t>
            </a:r>
            <a:endParaRPr lang="en-US" b="1" dirty="0">
              <a:latin typeface="Times New Roman" pitchFamily="18" charset="0"/>
              <a:cs typeface="Times New Roman" pitchFamily="18" charset="0"/>
            </a:endParaRPr>
          </a:p>
        </p:txBody>
      </p:sp>
      <p:sp>
        <p:nvSpPr>
          <p:cNvPr id="24" name="Rectangle 23"/>
          <p:cNvSpPr/>
          <p:nvPr/>
        </p:nvSpPr>
        <p:spPr>
          <a:xfrm>
            <a:off x="5380878" y="4432816"/>
            <a:ext cx="1008609" cy="369332"/>
          </a:xfrm>
          <a:prstGeom prst="rect">
            <a:avLst/>
          </a:prstGeom>
        </p:spPr>
        <p:txBody>
          <a:bodyPr wrap="none">
            <a:spAutoFit/>
          </a:bodyPr>
          <a:lstStyle/>
          <a:p>
            <a:r>
              <a:rPr lang="en-US" b="1" dirty="0">
                <a:latin typeface="Times New Roman" pitchFamily="18" charset="0"/>
                <a:cs typeface="Times New Roman" pitchFamily="18" charset="0"/>
              </a:rPr>
              <a:t>= 5.98%</a:t>
            </a:r>
          </a:p>
        </p:txBody>
      </p:sp>
      <p:sp>
        <p:nvSpPr>
          <p:cNvPr id="28" name="Rectangle 27"/>
          <p:cNvSpPr/>
          <p:nvPr/>
        </p:nvSpPr>
        <p:spPr>
          <a:xfrm>
            <a:off x="7162800" y="4501397"/>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22" name="Rectangle 21"/>
          <p:cNvSpPr/>
          <p:nvPr/>
        </p:nvSpPr>
        <p:spPr>
          <a:xfrm>
            <a:off x="1600200" y="128885"/>
            <a:ext cx="51607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PIE CHART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64311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left)">
                                      <p:cBhvr>
                                        <p:cTn id="7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10" grpId="0"/>
      <p:bldP spid="14" grpId="0"/>
      <p:bldP spid="18" grpId="0"/>
      <p:bldP spid="15" grpId="0"/>
      <p:bldP spid="16" grpId="0"/>
      <p:bldP spid="21" grpId="0"/>
      <p:bldP spid="23" grpId="0"/>
      <p:bldP spid="26" grpId="0"/>
      <p:bldP spid="24" grpId="0"/>
      <p:bldP spid="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90550"/>
            <a:ext cx="8509000" cy="1200329"/>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pie-chart shows the sources of funds to be collected by the National Highways Authority of India (NHAI) for its Phase II projects. Study the pie-chart and answers the question that follow.</a:t>
            </a:r>
          </a:p>
          <a:p>
            <a:r>
              <a:rPr lang="en-US" b="1" dirty="0">
                <a:solidFill>
                  <a:srgbClr val="FF0000"/>
                </a:solidFill>
                <a:latin typeface="Times New Roman" pitchFamily="18" charset="0"/>
                <a:cs typeface="Times New Roman" pitchFamily="18" charset="0"/>
              </a:rPr>
              <a:t>Sources of funds to be arranged by NHAI for Phase II projects (in </a:t>
            </a:r>
            <a:r>
              <a:rPr lang="en-US" b="1" dirty="0" err="1">
                <a:solidFill>
                  <a:srgbClr val="FF0000"/>
                </a:solidFill>
                <a:latin typeface="Times New Roman" pitchFamily="18" charset="0"/>
                <a:cs typeface="Times New Roman" pitchFamily="18" charset="0"/>
              </a:rPr>
              <a:t>crores</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a:t>
            </a:r>
          </a:p>
        </p:txBody>
      </p:sp>
      <p:pic>
        <p:nvPicPr>
          <p:cNvPr id="11266" name="Picture 2" descr="https://www.indiabix.com/_files/images/data-interpretation/pie-charts/15-2-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 y="1822629"/>
            <a:ext cx="2914650" cy="21050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952750" y="1708150"/>
            <a:ext cx="5962650" cy="2031325"/>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If the toll is to be collected through an outsourced agency by allowing a maximum 10% commission, how much amount should be permitted to be collected by the outsourced agency, so that the project is supported with </a:t>
            </a:r>
            <a:r>
              <a:rPr lang="en-US" b="1" dirty="0" err="1">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 4910 </a:t>
            </a:r>
            <a:r>
              <a:rPr lang="en-US" b="1" dirty="0" err="1">
                <a:solidFill>
                  <a:srgbClr val="FF0000"/>
                </a:solidFill>
                <a:latin typeface="Times New Roman" pitchFamily="18" charset="0"/>
                <a:cs typeface="Times New Roman" pitchFamily="18" charset="0"/>
              </a:rPr>
              <a:t>crores</a:t>
            </a:r>
            <a:r>
              <a:rPr lang="en-US" b="1" dirty="0" smtClean="0">
                <a:solidFill>
                  <a:srgbClr val="FF0000"/>
                </a:solidFill>
                <a:latin typeface="Times New Roman" pitchFamily="18" charset="0"/>
                <a:cs typeface="Times New Roman" pitchFamily="18" charset="0"/>
              </a:rPr>
              <a:t>?</a:t>
            </a:r>
          </a:p>
          <a:p>
            <a:pPr fontAlgn="t"/>
            <a:r>
              <a:rPr lang="en-US" b="1" dirty="0" smtClean="0">
                <a:solidFill>
                  <a:srgbClr val="FF0000"/>
                </a:solidFill>
                <a:latin typeface="Times New Roman" pitchFamily="18" charset="0"/>
                <a:cs typeface="Times New Roman" pitchFamily="18" charset="0"/>
              </a:rPr>
              <a:t>A. </a:t>
            </a:r>
            <a:r>
              <a:rPr lang="en-US" b="1" dirty="0" err="1" smtClean="0">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 6213 </a:t>
            </a:r>
            <a:r>
              <a:rPr lang="en-US" b="1" dirty="0" err="1" smtClean="0">
                <a:solidFill>
                  <a:srgbClr val="FF0000"/>
                </a:solidFill>
                <a:latin typeface="Times New Roman" pitchFamily="18" charset="0"/>
                <a:cs typeface="Times New Roman" pitchFamily="18" charset="0"/>
              </a:rPr>
              <a:t>crores</a:t>
            </a:r>
            <a:r>
              <a:rPr lang="en-US" b="1" dirty="0" smtClean="0">
                <a:solidFill>
                  <a:srgbClr val="FF0000"/>
                </a:solidFill>
                <a:latin typeface="Times New Roman" pitchFamily="18" charset="0"/>
                <a:cs typeface="Times New Roman" pitchFamily="18" charset="0"/>
              </a:rPr>
              <a:t>		B.Rs</a:t>
            </a:r>
            <a:r>
              <a:rPr lang="en-US" b="1" dirty="0">
                <a:solidFill>
                  <a:srgbClr val="FF0000"/>
                </a:solidFill>
                <a:latin typeface="Times New Roman" pitchFamily="18" charset="0"/>
                <a:cs typeface="Times New Roman" pitchFamily="18" charset="0"/>
              </a:rPr>
              <a:t>. 5827 </a:t>
            </a:r>
            <a:r>
              <a:rPr lang="en-US" b="1" dirty="0" err="1">
                <a:solidFill>
                  <a:srgbClr val="FF0000"/>
                </a:solidFill>
                <a:latin typeface="Times New Roman" pitchFamily="18" charset="0"/>
                <a:cs typeface="Times New Roman" pitchFamily="18" charset="0"/>
              </a:rPr>
              <a:t>crores</a:t>
            </a:r>
            <a:endParaRPr lang="en-US" b="1" dirty="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C. </a:t>
            </a:r>
            <a:r>
              <a:rPr lang="en-US" b="1" dirty="0" err="1" smtClean="0">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 5401 </a:t>
            </a:r>
            <a:r>
              <a:rPr lang="en-US" b="1" dirty="0" err="1" smtClean="0">
                <a:solidFill>
                  <a:srgbClr val="FF0000"/>
                </a:solidFill>
                <a:latin typeface="Times New Roman" pitchFamily="18" charset="0"/>
                <a:cs typeface="Times New Roman" pitchFamily="18" charset="0"/>
              </a:rPr>
              <a:t>crores</a:t>
            </a:r>
            <a:r>
              <a:rPr lang="en-US" b="1" dirty="0" smtClean="0">
                <a:solidFill>
                  <a:srgbClr val="FF0000"/>
                </a:solidFill>
                <a:latin typeface="Times New Roman" pitchFamily="18" charset="0"/>
                <a:cs typeface="Times New Roman" pitchFamily="18" charset="0"/>
              </a:rPr>
              <a:t>		D. </a:t>
            </a:r>
            <a:r>
              <a:rPr lang="en-US" b="1" dirty="0" err="1" smtClean="0">
                <a:solidFill>
                  <a:srgbClr val="FF0000"/>
                </a:solidFill>
                <a:latin typeface="Times New Roman" pitchFamily="18" charset="0"/>
                <a:cs typeface="Times New Roman" pitchFamily="18" charset="0"/>
              </a:rPr>
              <a:t>Rs</a:t>
            </a:r>
            <a:r>
              <a:rPr lang="en-US" b="1" dirty="0">
                <a:solidFill>
                  <a:srgbClr val="FF0000"/>
                </a:solidFill>
                <a:latin typeface="Times New Roman" pitchFamily="18" charset="0"/>
                <a:cs typeface="Times New Roman" pitchFamily="18" charset="0"/>
              </a:rPr>
              <a:t>. 5316 </a:t>
            </a:r>
            <a:r>
              <a:rPr lang="en-US" b="1" dirty="0" err="1">
                <a:solidFill>
                  <a:srgbClr val="FF0000"/>
                </a:solidFill>
                <a:latin typeface="Times New Roman" pitchFamily="18" charset="0"/>
                <a:cs typeface="Times New Roman" pitchFamily="18" charset="0"/>
              </a:rPr>
              <a:t>crores</a:t>
            </a:r>
            <a:endParaRPr lang="en-US" b="1" dirty="0">
              <a:solidFill>
                <a:srgbClr val="FF0000"/>
              </a:solidFill>
              <a:latin typeface="Times New Roman" pitchFamily="18" charset="0"/>
              <a:cs typeface="Times New Roman" pitchFamily="18" charset="0"/>
            </a:endParaRPr>
          </a:p>
        </p:txBody>
      </p:sp>
      <p:sp>
        <p:nvSpPr>
          <p:cNvPr id="9" name="Rectangle 8"/>
          <p:cNvSpPr/>
          <p:nvPr/>
        </p:nvSpPr>
        <p:spPr>
          <a:xfrm>
            <a:off x="2072589" y="3877290"/>
            <a:ext cx="2024913" cy="369332"/>
          </a:xfrm>
          <a:prstGeom prst="rect">
            <a:avLst/>
          </a:prstGeom>
        </p:spPr>
        <p:txBody>
          <a:bodyPr wrap="none">
            <a:spAutoFit/>
          </a:bodyPr>
          <a:lstStyle/>
          <a:p>
            <a:r>
              <a:rPr lang="en-US" b="1" dirty="0">
                <a:latin typeface="Times New Roman" pitchFamily="18" charset="0"/>
                <a:cs typeface="Times New Roman" pitchFamily="18" charset="0"/>
              </a:rPr>
              <a:t>Amount permitted</a:t>
            </a:r>
          </a:p>
        </p:txBody>
      </p:sp>
      <p:sp>
        <p:nvSpPr>
          <p:cNvPr id="11" name="Rectangle 10"/>
          <p:cNvSpPr/>
          <p:nvPr/>
        </p:nvSpPr>
        <p:spPr>
          <a:xfrm>
            <a:off x="4368800" y="3739475"/>
            <a:ext cx="4572000" cy="646331"/>
          </a:xfrm>
          <a:prstGeom prst="rect">
            <a:avLst/>
          </a:prstGeom>
        </p:spPr>
        <p:txBody>
          <a:bodyPr>
            <a:spAutoFit/>
          </a:bodyPr>
          <a:lstStyle/>
          <a:p>
            <a:r>
              <a:rPr lang="en-US" b="1" dirty="0">
                <a:latin typeface="Times New Roman" pitchFamily="18" charset="0"/>
                <a:cs typeface="Times New Roman" pitchFamily="18" charset="0"/>
              </a:rPr>
              <a:t>= (Funds required from Toll for projects of Phase II) +</a:t>
            </a:r>
          </a:p>
        </p:txBody>
      </p:sp>
      <p:sp>
        <p:nvSpPr>
          <p:cNvPr id="12" name="Rectangle 11"/>
          <p:cNvSpPr/>
          <p:nvPr/>
        </p:nvSpPr>
        <p:spPr>
          <a:xfrm>
            <a:off x="6934032" y="4061956"/>
            <a:ext cx="2217274" cy="369332"/>
          </a:xfrm>
          <a:prstGeom prst="rect">
            <a:avLst/>
          </a:prstGeom>
        </p:spPr>
        <p:txBody>
          <a:bodyPr wrap="none">
            <a:spAutoFit/>
          </a:bodyPr>
          <a:lstStyle/>
          <a:p>
            <a:r>
              <a:rPr lang="en-US" b="1" dirty="0">
                <a:latin typeface="Times New Roman" pitchFamily="18" charset="0"/>
                <a:cs typeface="Times New Roman" pitchFamily="18" charset="0"/>
              </a:rPr>
              <a:t>(10% of these funds)</a:t>
            </a:r>
          </a:p>
        </p:txBody>
      </p:sp>
      <p:sp>
        <p:nvSpPr>
          <p:cNvPr id="13" name="Rectangle 12"/>
          <p:cNvSpPr/>
          <p:nvPr/>
        </p:nvSpPr>
        <p:spPr>
          <a:xfrm>
            <a:off x="4290111" y="4259818"/>
            <a:ext cx="1930016"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4910 </a:t>
            </a:r>
            <a:r>
              <a:rPr lang="en-US" b="1" dirty="0" err="1">
                <a:latin typeface="Times New Roman" pitchFamily="18" charset="0"/>
                <a:cs typeface="Times New Roman" pitchFamily="18" charset="0"/>
              </a:rPr>
              <a:t>crores</a:t>
            </a:r>
            <a:r>
              <a:rPr lang="en-US" b="1" dirty="0">
                <a:latin typeface="Times New Roman" pitchFamily="18" charset="0"/>
                <a:cs typeface="Times New Roman" pitchFamily="18" charset="0"/>
              </a:rPr>
              <a:t> </a:t>
            </a:r>
          </a:p>
        </p:txBody>
      </p:sp>
      <p:sp>
        <p:nvSpPr>
          <p:cNvPr id="19" name="Rectangle 18"/>
          <p:cNvSpPr/>
          <p:nvPr/>
        </p:nvSpPr>
        <p:spPr>
          <a:xfrm>
            <a:off x="6364601" y="4271506"/>
            <a:ext cx="2795637"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(10% of 4910) </a:t>
            </a:r>
            <a:r>
              <a:rPr lang="en-US" b="1" dirty="0" err="1">
                <a:latin typeface="Times New Roman" pitchFamily="18" charset="0"/>
                <a:cs typeface="Times New Roman" pitchFamily="18" charset="0"/>
              </a:rPr>
              <a:t>crores</a:t>
            </a:r>
            <a:endParaRPr lang="en-US" b="1" dirty="0">
              <a:latin typeface="Times New Roman" pitchFamily="18" charset="0"/>
              <a:cs typeface="Times New Roman" pitchFamily="18" charset="0"/>
            </a:endParaRPr>
          </a:p>
        </p:txBody>
      </p:sp>
      <p:sp>
        <p:nvSpPr>
          <p:cNvPr id="22" name="Rectangle 21"/>
          <p:cNvSpPr/>
          <p:nvPr/>
        </p:nvSpPr>
        <p:spPr>
          <a:xfrm>
            <a:off x="4270033" y="4552950"/>
            <a:ext cx="2619307"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(4910 + 491) </a:t>
            </a:r>
            <a:r>
              <a:rPr lang="en-US" b="1" dirty="0" err="1">
                <a:latin typeface="Times New Roman" pitchFamily="18" charset="0"/>
                <a:cs typeface="Times New Roman" pitchFamily="18" charset="0"/>
              </a:rPr>
              <a:t>crores</a:t>
            </a:r>
            <a:endParaRPr lang="en-US" b="1" dirty="0">
              <a:latin typeface="Times New Roman" pitchFamily="18" charset="0"/>
              <a:cs typeface="Times New Roman" pitchFamily="18" charset="0"/>
            </a:endParaRPr>
          </a:p>
        </p:txBody>
      </p:sp>
      <p:sp>
        <p:nvSpPr>
          <p:cNvPr id="29" name="Rectangle 28"/>
          <p:cNvSpPr/>
          <p:nvPr/>
        </p:nvSpPr>
        <p:spPr>
          <a:xfrm>
            <a:off x="4252011" y="4774168"/>
            <a:ext cx="1872307" cy="369332"/>
          </a:xfrm>
          <a:prstGeom prst="rect">
            <a:avLst/>
          </a:prstGeom>
        </p:spPr>
        <p:txBody>
          <a:bodyPr wrap="none">
            <a:spAutoFit/>
          </a:bodyPr>
          <a:lstStyle/>
          <a:p>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Rs</a:t>
            </a:r>
            <a:r>
              <a:rPr lang="en-US" b="1" dirty="0">
                <a:latin typeface="Times New Roman" pitchFamily="18" charset="0"/>
                <a:cs typeface="Times New Roman" pitchFamily="18" charset="0"/>
              </a:rPr>
              <a:t>. </a:t>
            </a:r>
            <a:r>
              <a:rPr lang="en-US" b="1" dirty="0" smtClean="0">
                <a:latin typeface="Times New Roman" pitchFamily="18" charset="0"/>
                <a:cs typeface="Times New Roman" pitchFamily="18" charset="0"/>
              </a:rPr>
              <a:t>5401 </a:t>
            </a:r>
            <a:r>
              <a:rPr lang="en-US" b="1" dirty="0" err="1">
                <a:latin typeface="Times New Roman" pitchFamily="18" charset="0"/>
                <a:cs typeface="Times New Roman" pitchFamily="18" charset="0"/>
              </a:rPr>
              <a:t>crores</a:t>
            </a:r>
            <a:endParaRPr lang="en-US" b="1" dirty="0">
              <a:latin typeface="Times New Roman" pitchFamily="18" charset="0"/>
              <a:cs typeface="Times New Roman" pitchFamily="18" charset="0"/>
            </a:endParaRPr>
          </a:p>
        </p:txBody>
      </p:sp>
      <p:sp>
        <p:nvSpPr>
          <p:cNvPr id="30" name="Rectangle 29"/>
          <p:cNvSpPr/>
          <p:nvPr/>
        </p:nvSpPr>
        <p:spPr>
          <a:xfrm>
            <a:off x="7404100" y="4737616"/>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15" name="Rectangle 14"/>
          <p:cNvSpPr/>
          <p:nvPr/>
        </p:nvSpPr>
        <p:spPr>
          <a:xfrm>
            <a:off x="1600200" y="128885"/>
            <a:ext cx="51607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PIE CHART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404121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1" grpId="0"/>
      <p:bldP spid="12" grpId="0"/>
      <p:bldP spid="13" grpId="0"/>
      <p:bldP spid="19" grpId="0"/>
      <p:bldP spid="22" grpId="0"/>
      <p:bldP spid="29" grpId="0"/>
      <p:bldP spid="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41699" y="196036"/>
            <a:ext cx="2425701"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2" name="Rectangle 1"/>
          <p:cNvSpPr/>
          <p:nvPr/>
        </p:nvSpPr>
        <p:spPr>
          <a:xfrm>
            <a:off x="365184" y="1112282"/>
            <a:ext cx="8245415" cy="1200329"/>
          </a:xfrm>
          <a:prstGeom prst="rect">
            <a:avLst/>
          </a:prstGeom>
        </p:spPr>
        <p:txBody>
          <a:bodyPr wrap="square">
            <a:spAutoFit/>
          </a:bodyPr>
          <a:lstStyle/>
          <a:p>
            <a:r>
              <a:rPr lang="en-US" b="1" dirty="0" smtClean="0">
                <a:latin typeface="Times New Roman" pitchFamily="18" charset="0"/>
                <a:cs typeface="Times New Roman" pitchFamily="18" charset="0"/>
              </a:rPr>
              <a:t>the </a:t>
            </a:r>
            <a:r>
              <a:rPr lang="en-US" b="1" dirty="0">
                <a:latin typeface="Times New Roman" pitchFamily="18" charset="0"/>
                <a:cs typeface="Times New Roman" pitchFamily="18" charset="0"/>
              </a:rPr>
              <a:t>charts or graphs that show information in a series of points are included in the line graphs. Line charts are very good to </a:t>
            </a:r>
            <a:r>
              <a:rPr lang="en-US" b="1" dirty="0" err="1">
                <a:latin typeface="Times New Roman" pitchFamily="18" charset="0"/>
                <a:cs typeface="Times New Roman" pitchFamily="18" charset="0"/>
              </a:rPr>
              <a:t>visualise</a:t>
            </a:r>
            <a:r>
              <a:rPr lang="en-US" b="1" dirty="0">
                <a:latin typeface="Times New Roman" pitchFamily="18" charset="0"/>
                <a:cs typeface="Times New Roman" pitchFamily="18" charset="0"/>
              </a:rPr>
              <a:t> continuous data or sequence of values. Some of the types of line graphs are simple line graphs, stacked line graphs etc.</a:t>
            </a:r>
          </a:p>
        </p:txBody>
      </p:sp>
      <p:sp>
        <p:nvSpPr>
          <p:cNvPr id="5" name="Rectangle 4"/>
          <p:cNvSpPr/>
          <p:nvPr/>
        </p:nvSpPr>
        <p:spPr>
          <a:xfrm>
            <a:off x="228600" y="742950"/>
            <a:ext cx="1576072" cy="369332"/>
          </a:xfrm>
          <a:prstGeom prst="rect">
            <a:avLst/>
          </a:prstGeom>
        </p:spPr>
        <p:txBody>
          <a:bodyPr wrap="none">
            <a:spAutoFit/>
          </a:bodyPr>
          <a:lstStyle/>
          <a:p>
            <a:r>
              <a:rPr lang="en-US" b="1" dirty="0">
                <a:latin typeface="Times New Roman" pitchFamily="18" charset="0"/>
                <a:cs typeface="Times New Roman" pitchFamily="18" charset="0"/>
              </a:rPr>
              <a:t>Line Graph – </a:t>
            </a:r>
          </a:p>
        </p:txBody>
      </p:sp>
      <p:pic>
        <p:nvPicPr>
          <p:cNvPr id="14338" name="Picture 2" descr="https://www.indiabix.com/_files/images/data-interpretation/line-charts/15-3-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876" y="2347913"/>
            <a:ext cx="4657725"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89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38"/>
                                        </p:tgtEl>
                                        <p:attrNameLst>
                                          <p:attrName>style.visibility</p:attrName>
                                        </p:attrNameLst>
                                      </p:cBhvr>
                                      <p:to>
                                        <p:strVal val="visible"/>
                                      </p:to>
                                    </p:set>
                                    <p:animEffect transition="in" filter="wipe(left)">
                                      <p:cBhvr>
                                        <p:cTn id="1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673932"/>
            <a:ext cx="87630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Study the following line graph and answer the questions based on it.</a:t>
            </a:r>
          </a:p>
          <a:p>
            <a:r>
              <a:rPr lang="en-US" b="1" dirty="0">
                <a:solidFill>
                  <a:srgbClr val="FF0000"/>
                </a:solidFill>
                <a:latin typeface="Times New Roman" pitchFamily="18" charset="0"/>
                <a:cs typeface="Times New Roman" pitchFamily="18" charset="0"/>
              </a:rPr>
              <a:t>Number of Vehicles Manufactured by Two companies </a:t>
            </a:r>
            <a:r>
              <a:rPr lang="en-US" b="1" dirty="0" smtClean="0">
                <a:solidFill>
                  <a:srgbClr val="FF0000"/>
                </a:solidFill>
                <a:latin typeface="Times New Roman" pitchFamily="18" charset="0"/>
                <a:cs typeface="Times New Roman" pitchFamily="18" charset="0"/>
              </a:rPr>
              <a:t>over </a:t>
            </a:r>
            <a:r>
              <a:rPr lang="en-US" b="1" dirty="0">
                <a:solidFill>
                  <a:srgbClr val="FF0000"/>
                </a:solidFill>
                <a:latin typeface="Times New Roman" pitchFamily="18" charset="0"/>
                <a:cs typeface="Times New Roman" pitchFamily="18" charset="0"/>
              </a:rPr>
              <a:t>the Years (Number in Thousands)</a:t>
            </a:r>
          </a:p>
        </p:txBody>
      </p:sp>
      <p:pic>
        <p:nvPicPr>
          <p:cNvPr id="15362" name="Picture 2" descr="https://www.indiabix.com/_files/images/data-interpretation/line-charts/15-3-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24125"/>
            <a:ext cx="4657725" cy="26193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1508462"/>
            <a:ext cx="8382000" cy="923330"/>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What is the difference between the number of vehicles manufactured by Company Y in 2000 and 2001 ?</a:t>
            </a:r>
          </a:p>
          <a:p>
            <a:r>
              <a:rPr lang="en-US" b="1" dirty="0" smtClean="0">
                <a:solidFill>
                  <a:srgbClr val="FF0000"/>
                </a:solidFill>
                <a:latin typeface="Times New Roman" pitchFamily="18" charset="0"/>
                <a:cs typeface="Times New Roman" pitchFamily="18" charset="0"/>
              </a:rPr>
              <a:t>A. 50000	B.42000	C. 33000	D. 21000</a:t>
            </a:r>
            <a:endParaRPr lang="en-US" b="1" dirty="0">
              <a:solidFill>
                <a:srgbClr val="FF0000"/>
              </a:solidFill>
              <a:latin typeface="Times New Roman" pitchFamily="18" charset="0"/>
              <a:cs typeface="Times New Roman" pitchFamily="18" charset="0"/>
            </a:endParaRPr>
          </a:p>
        </p:txBody>
      </p:sp>
      <p:sp>
        <p:nvSpPr>
          <p:cNvPr id="7" name="Rectangle 6"/>
          <p:cNvSpPr/>
          <p:nvPr/>
        </p:nvSpPr>
        <p:spPr>
          <a:xfrm>
            <a:off x="5105400" y="2572435"/>
            <a:ext cx="4572000" cy="369332"/>
          </a:xfrm>
          <a:prstGeom prst="rect">
            <a:avLst/>
          </a:prstGeom>
        </p:spPr>
        <p:txBody>
          <a:bodyPr>
            <a:spAutoFit/>
          </a:bodyPr>
          <a:lstStyle/>
          <a:p>
            <a:r>
              <a:rPr lang="en-US" b="1" dirty="0">
                <a:latin typeface="Times New Roman" pitchFamily="18" charset="0"/>
                <a:cs typeface="Times New Roman" pitchFamily="18" charset="0"/>
              </a:rPr>
              <a:t>Required </a:t>
            </a:r>
            <a:r>
              <a:rPr lang="en-US" b="1" dirty="0" smtClean="0">
                <a:latin typeface="Times New Roman" pitchFamily="18" charset="0"/>
                <a:cs typeface="Times New Roman" pitchFamily="18" charset="0"/>
              </a:rPr>
              <a:t>difference</a:t>
            </a:r>
            <a:endParaRPr lang="en-US" b="1" dirty="0">
              <a:latin typeface="Times New Roman" pitchFamily="18" charset="0"/>
              <a:cs typeface="Times New Roman" pitchFamily="18" charset="0"/>
            </a:endParaRPr>
          </a:p>
        </p:txBody>
      </p:sp>
      <p:sp>
        <p:nvSpPr>
          <p:cNvPr id="8" name="Rectangle 7"/>
          <p:cNvSpPr/>
          <p:nvPr/>
        </p:nvSpPr>
        <p:spPr>
          <a:xfrm>
            <a:off x="5032244" y="2941767"/>
            <a:ext cx="2103461" cy="369332"/>
          </a:xfrm>
          <a:prstGeom prst="rect">
            <a:avLst/>
          </a:prstGeom>
        </p:spPr>
        <p:txBody>
          <a:bodyPr wrap="none">
            <a:spAutoFit/>
          </a:bodyPr>
          <a:lstStyle/>
          <a:p>
            <a:r>
              <a:rPr lang="en-US" b="1" dirty="0">
                <a:latin typeface="Times New Roman" pitchFamily="18" charset="0"/>
                <a:cs typeface="Times New Roman" pitchFamily="18" charset="0"/>
              </a:rPr>
              <a:t>= (128000 - 107000</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9" name="Rectangle 8"/>
          <p:cNvSpPr/>
          <p:nvPr/>
        </p:nvSpPr>
        <p:spPr>
          <a:xfrm>
            <a:off x="5120350" y="3311099"/>
            <a:ext cx="1007007" cy="369332"/>
          </a:xfrm>
          <a:prstGeom prst="rect">
            <a:avLst/>
          </a:prstGeom>
        </p:spPr>
        <p:txBody>
          <a:bodyPr wrap="none">
            <a:spAutoFit/>
          </a:bodyPr>
          <a:lstStyle/>
          <a:p>
            <a:r>
              <a:rPr lang="en-US" b="1" dirty="0">
                <a:latin typeface="Times New Roman" pitchFamily="18" charset="0"/>
                <a:cs typeface="Times New Roman" pitchFamily="18" charset="0"/>
              </a:rPr>
              <a:t>= 21000.</a:t>
            </a:r>
          </a:p>
        </p:txBody>
      </p:sp>
      <p:sp>
        <p:nvSpPr>
          <p:cNvPr id="13" name="Rectangle 12"/>
          <p:cNvSpPr/>
          <p:nvPr/>
        </p:nvSpPr>
        <p:spPr>
          <a:xfrm>
            <a:off x="5272750" y="3646577"/>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D</a:t>
            </a:r>
            <a:endParaRPr lang="en-US" b="1" dirty="0">
              <a:latin typeface="Times New Roman" pitchFamily="18" charset="0"/>
              <a:cs typeface="Times New Roman" pitchFamily="18" charset="0"/>
            </a:endParaRPr>
          </a:p>
        </p:txBody>
      </p:sp>
      <p:sp>
        <p:nvSpPr>
          <p:cNvPr id="11" name="Rectangle 10"/>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396347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673932"/>
            <a:ext cx="87630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Study the following line graph and answer the questions based on it.</a:t>
            </a:r>
          </a:p>
          <a:p>
            <a:r>
              <a:rPr lang="en-US" b="1" dirty="0">
                <a:solidFill>
                  <a:srgbClr val="FF0000"/>
                </a:solidFill>
                <a:latin typeface="Times New Roman" pitchFamily="18" charset="0"/>
                <a:cs typeface="Times New Roman" pitchFamily="18" charset="0"/>
              </a:rPr>
              <a:t>Number of Vehicles Manufactured by Two companies </a:t>
            </a:r>
            <a:r>
              <a:rPr lang="en-US" b="1" dirty="0" smtClean="0">
                <a:solidFill>
                  <a:srgbClr val="FF0000"/>
                </a:solidFill>
                <a:latin typeface="Times New Roman" pitchFamily="18" charset="0"/>
                <a:cs typeface="Times New Roman" pitchFamily="18" charset="0"/>
              </a:rPr>
              <a:t>over </a:t>
            </a:r>
            <a:r>
              <a:rPr lang="en-US" b="1" dirty="0">
                <a:solidFill>
                  <a:srgbClr val="FF0000"/>
                </a:solidFill>
                <a:latin typeface="Times New Roman" pitchFamily="18" charset="0"/>
                <a:cs typeface="Times New Roman" pitchFamily="18" charset="0"/>
              </a:rPr>
              <a:t>the Years (Number in Thousands)</a:t>
            </a:r>
          </a:p>
        </p:txBody>
      </p:sp>
      <p:pic>
        <p:nvPicPr>
          <p:cNvPr id="15362" name="Picture 2" descr="https://www.indiabix.com/_files/images/data-interpretation/line-charts/15-3-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51" y="2524125"/>
            <a:ext cx="4657725" cy="26193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1508462"/>
            <a:ext cx="8382000" cy="923330"/>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What is the difference between the total productions of the two Companies in the given years ?</a:t>
            </a:r>
          </a:p>
          <a:p>
            <a:r>
              <a:rPr lang="en-US" b="1" dirty="0" smtClean="0">
                <a:solidFill>
                  <a:srgbClr val="FF0000"/>
                </a:solidFill>
                <a:latin typeface="Times New Roman" pitchFamily="18" charset="0"/>
                <a:cs typeface="Times New Roman" pitchFamily="18" charset="0"/>
              </a:rPr>
              <a:t>A. 19000		B. 22000		C. 26000		D. 28000</a:t>
            </a:r>
            <a:endParaRPr lang="en-US" b="1" dirty="0">
              <a:solidFill>
                <a:srgbClr val="FF0000"/>
              </a:solidFill>
              <a:latin typeface="Times New Roman" pitchFamily="18" charset="0"/>
              <a:cs typeface="Times New Roman" pitchFamily="18" charset="0"/>
            </a:endParaRPr>
          </a:p>
        </p:txBody>
      </p:sp>
      <p:sp>
        <p:nvSpPr>
          <p:cNvPr id="2" name="Rectangle 1"/>
          <p:cNvSpPr/>
          <p:nvPr/>
        </p:nvSpPr>
        <p:spPr>
          <a:xfrm>
            <a:off x="4495800" y="2230219"/>
            <a:ext cx="4572000" cy="646331"/>
          </a:xfrm>
          <a:prstGeom prst="rect">
            <a:avLst/>
          </a:prstGeom>
        </p:spPr>
        <p:txBody>
          <a:bodyPr>
            <a:spAutoFit/>
          </a:bodyPr>
          <a:lstStyle/>
          <a:p>
            <a:r>
              <a:rPr lang="en-US" b="1" dirty="0">
                <a:latin typeface="Times New Roman" pitchFamily="18" charset="0"/>
                <a:cs typeface="Times New Roman" pitchFamily="18" charset="0"/>
              </a:rPr>
              <a:t>Total production of Company X from 1997 to 2002</a:t>
            </a:r>
          </a:p>
        </p:txBody>
      </p:sp>
      <p:sp>
        <p:nvSpPr>
          <p:cNvPr id="5" name="Rectangle 4"/>
          <p:cNvSpPr/>
          <p:nvPr/>
        </p:nvSpPr>
        <p:spPr>
          <a:xfrm>
            <a:off x="5232400" y="2553384"/>
            <a:ext cx="3683000" cy="646331"/>
          </a:xfrm>
          <a:prstGeom prst="rect">
            <a:avLst/>
          </a:prstGeom>
        </p:spPr>
        <p:txBody>
          <a:bodyPr wrap="square">
            <a:spAutoFit/>
          </a:bodyPr>
          <a:lstStyle/>
          <a:p>
            <a:r>
              <a:rPr lang="en-US" b="1" dirty="0">
                <a:latin typeface="Times New Roman" pitchFamily="18" charset="0"/>
                <a:cs typeface="Times New Roman" pitchFamily="18" charset="0"/>
              </a:rPr>
              <a:t>= 119000 + 99000 + 141000 + 78000 + 120000 + 159000</a:t>
            </a:r>
          </a:p>
        </p:txBody>
      </p:sp>
      <p:sp>
        <p:nvSpPr>
          <p:cNvPr id="10" name="Rectangle 9"/>
          <p:cNvSpPr/>
          <p:nvPr/>
        </p:nvSpPr>
        <p:spPr>
          <a:xfrm>
            <a:off x="5290687" y="3165396"/>
            <a:ext cx="1122423" cy="369332"/>
          </a:xfrm>
          <a:prstGeom prst="rect">
            <a:avLst/>
          </a:prstGeom>
        </p:spPr>
        <p:txBody>
          <a:bodyPr wrap="none">
            <a:spAutoFit/>
          </a:bodyPr>
          <a:lstStyle/>
          <a:p>
            <a:r>
              <a:rPr lang="en-US" b="1" dirty="0">
                <a:latin typeface="Times New Roman" pitchFamily="18" charset="0"/>
                <a:cs typeface="Times New Roman" pitchFamily="18" charset="0"/>
              </a:rPr>
              <a:t>= 716000.</a:t>
            </a:r>
          </a:p>
        </p:txBody>
      </p:sp>
      <p:sp>
        <p:nvSpPr>
          <p:cNvPr id="11" name="Rectangle 10"/>
          <p:cNvSpPr/>
          <p:nvPr/>
        </p:nvSpPr>
        <p:spPr>
          <a:xfrm>
            <a:off x="4432300" y="3350062"/>
            <a:ext cx="4572000" cy="646331"/>
          </a:xfrm>
          <a:prstGeom prst="rect">
            <a:avLst/>
          </a:prstGeom>
        </p:spPr>
        <p:txBody>
          <a:bodyPr>
            <a:spAutoFit/>
          </a:bodyPr>
          <a:lstStyle/>
          <a:p>
            <a:r>
              <a:rPr lang="en-US" b="1" dirty="0">
                <a:latin typeface="Times New Roman" pitchFamily="18" charset="0"/>
                <a:cs typeface="Times New Roman" pitchFamily="18" charset="0"/>
              </a:rPr>
              <a:t>and total production of Company Y from 1997 to 2002</a:t>
            </a:r>
          </a:p>
        </p:txBody>
      </p:sp>
      <p:sp>
        <p:nvSpPr>
          <p:cNvPr id="12" name="Rectangle 11"/>
          <p:cNvSpPr/>
          <p:nvPr/>
        </p:nvSpPr>
        <p:spPr>
          <a:xfrm>
            <a:off x="5851898" y="3673227"/>
            <a:ext cx="3063502" cy="646331"/>
          </a:xfrm>
          <a:prstGeom prst="rect">
            <a:avLst/>
          </a:prstGeom>
        </p:spPr>
        <p:txBody>
          <a:bodyPr wrap="square">
            <a:spAutoFit/>
          </a:bodyPr>
          <a:lstStyle/>
          <a:p>
            <a:r>
              <a:rPr lang="en-US" b="1" dirty="0">
                <a:latin typeface="Times New Roman" pitchFamily="18" charset="0"/>
                <a:cs typeface="Times New Roman" pitchFamily="18" charset="0"/>
              </a:rPr>
              <a:t>= 139000 + 120000 + 100000 + 128000 + 107000 + 148000</a:t>
            </a:r>
          </a:p>
        </p:txBody>
      </p:sp>
      <p:sp>
        <p:nvSpPr>
          <p:cNvPr id="14" name="Rectangle 13"/>
          <p:cNvSpPr/>
          <p:nvPr/>
        </p:nvSpPr>
        <p:spPr>
          <a:xfrm>
            <a:off x="5788008" y="4343926"/>
            <a:ext cx="1064715" cy="369332"/>
          </a:xfrm>
          <a:prstGeom prst="rect">
            <a:avLst/>
          </a:prstGeom>
        </p:spPr>
        <p:txBody>
          <a:bodyPr wrap="none">
            <a:spAutoFit/>
          </a:bodyPr>
          <a:lstStyle/>
          <a:p>
            <a:r>
              <a:rPr lang="en-US" b="1" dirty="0">
                <a:latin typeface="Times New Roman" pitchFamily="18" charset="0"/>
                <a:cs typeface="Times New Roman" pitchFamily="18" charset="0"/>
              </a:rPr>
              <a:t>= 742000</a:t>
            </a:r>
          </a:p>
        </p:txBody>
      </p:sp>
      <p:sp>
        <p:nvSpPr>
          <p:cNvPr id="15" name="Rectangle 14"/>
          <p:cNvSpPr/>
          <p:nvPr/>
        </p:nvSpPr>
        <p:spPr>
          <a:xfrm>
            <a:off x="4772498" y="4540776"/>
            <a:ext cx="1395575" cy="369332"/>
          </a:xfrm>
          <a:prstGeom prst="rect">
            <a:avLst/>
          </a:prstGeom>
        </p:spPr>
        <p:txBody>
          <a:bodyPr wrap="none">
            <a:spAutoFit/>
          </a:bodyPr>
          <a:lstStyle/>
          <a:p>
            <a:r>
              <a:rPr lang="en-US" b="1" dirty="0">
                <a:latin typeface="Times New Roman" pitchFamily="18" charset="0"/>
                <a:cs typeface="Times New Roman" pitchFamily="18" charset="0"/>
              </a:rPr>
              <a:t>Difference =</a:t>
            </a:r>
          </a:p>
        </p:txBody>
      </p:sp>
      <p:sp>
        <p:nvSpPr>
          <p:cNvPr id="16" name="Rectangle 15"/>
          <p:cNvSpPr/>
          <p:nvPr/>
        </p:nvSpPr>
        <p:spPr>
          <a:xfrm>
            <a:off x="6082243" y="4549200"/>
            <a:ext cx="1915909" cy="369332"/>
          </a:xfrm>
          <a:prstGeom prst="rect">
            <a:avLst/>
          </a:prstGeom>
        </p:spPr>
        <p:txBody>
          <a:bodyPr wrap="none">
            <a:spAutoFit/>
          </a:bodyPr>
          <a:lstStyle/>
          <a:p>
            <a:r>
              <a:rPr lang="en-US" b="1" dirty="0">
                <a:latin typeface="Times New Roman" pitchFamily="18" charset="0"/>
                <a:cs typeface="Times New Roman" pitchFamily="18" charset="0"/>
              </a:rPr>
              <a:t>(742000 - 716000)</a:t>
            </a:r>
          </a:p>
        </p:txBody>
      </p:sp>
      <p:sp>
        <p:nvSpPr>
          <p:cNvPr id="18" name="Rectangle 17"/>
          <p:cNvSpPr/>
          <p:nvPr/>
        </p:nvSpPr>
        <p:spPr>
          <a:xfrm>
            <a:off x="6133043" y="4774168"/>
            <a:ext cx="949299" cy="369332"/>
          </a:xfrm>
          <a:prstGeom prst="rect">
            <a:avLst/>
          </a:prstGeom>
        </p:spPr>
        <p:txBody>
          <a:bodyPr wrap="none">
            <a:spAutoFit/>
          </a:bodyPr>
          <a:lstStyle/>
          <a:p>
            <a:r>
              <a:rPr lang="en-US" b="1" dirty="0">
                <a:latin typeface="Times New Roman" pitchFamily="18" charset="0"/>
                <a:cs typeface="Times New Roman" pitchFamily="18" charset="0"/>
              </a:rPr>
              <a:t>= 26000</a:t>
            </a:r>
          </a:p>
        </p:txBody>
      </p:sp>
      <p:sp>
        <p:nvSpPr>
          <p:cNvPr id="20" name="Rectangle 19"/>
          <p:cNvSpPr/>
          <p:nvPr/>
        </p:nvSpPr>
        <p:spPr>
          <a:xfrm>
            <a:off x="8121593" y="4713258"/>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C</a:t>
            </a:r>
            <a:endParaRPr lang="en-US" b="1" dirty="0">
              <a:latin typeface="Times New Roman" pitchFamily="18" charset="0"/>
              <a:cs typeface="Times New Roman" pitchFamily="18" charset="0"/>
            </a:endParaRPr>
          </a:p>
        </p:txBody>
      </p:sp>
      <p:sp>
        <p:nvSpPr>
          <p:cNvPr id="19" name="Rectangle 18"/>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417915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5" grpId="0"/>
      <p:bldP spid="10" grpId="0"/>
      <p:bldP spid="11" grpId="0"/>
      <p:bldP spid="12" grpId="0"/>
      <p:bldP spid="14" grpId="0"/>
      <p:bldP spid="15" grpId="0"/>
      <p:bldP spid="16" grpId="0"/>
      <p:bldP spid="18" grpId="0"/>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4" name="Rectangle 3"/>
          <p:cNvSpPr/>
          <p:nvPr/>
        </p:nvSpPr>
        <p:spPr>
          <a:xfrm>
            <a:off x="304800" y="590550"/>
            <a:ext cx="85090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line graph gives the ratio of the amounts of imports by a company to the amount of exports from that company over the period from 1995 to 2001.</a:t>
            </a:r>
          </a:p>
          <a:p>
            <a:r>
              <a:rPr lang="en-US" b="1" dirty="0">
                <a:solidFill>
                  <a:srgbClr val="FF0000"/>
                </a:solidFill>
                <a:latin typeface="Times New Roman" pitchFamily="18" charset="0"/>
                <a:cs typeface="Times New Roman" pitchFamily="18" charset="0"/>
              </a:rPr>
              <a:t>Ratio of Value of Imports to Exports by a Company Over the Years.</a:t>
            </a:r>
          </a:p>
        </p:txBody>
      </p:sp>
      <p:pic>
        <p:nvPicPr>
          <p:cNvPr id="3074" name="Picture 2" descr="https://www.indiabix.com/_files/images/data-interpretation/line-charts/15-3-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33525"/>
            <a:ext cx="4457700" cy="30194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419600" y="1454825"/>
            <a:ext cx="4572000" cy="1200329"/>
          </a:xfrm>
          <a:prstGeom prst="rect">
            <a:avLst/>
          </a:prstGeom>
        </p:spPr>
        <p:txBody>
          <a:bodyPr>
            <a:spAutoFit/>
          </a:bodyPr>
          <a:lstStyle/>
          <a:p>
            <a:pPr fontAlgn="t"/>
            <a:r>
              <a:rPr lang="en-US" b="1" dirty="0">
                <a:solidFill>
                  <a:srgbClr val="FF0000"/>
                </a:solidFill>
                <a:latin typeface="Times New Roman" pitchFamily="18" charset="0"/>
                <a:cs typeface="Times New Roman" pitchFamily="18" charset="0"/>
              </a:rPr>
              <a:t>The imports were minimum proportionate to the exports of the company in the year ?</a:t>
            </a:r>
          </a:p>
          <a:p>
            <a:r>
              <a:rPr lang="en-US" b="1" dirty="0" smtClean="0">
                <a:solidFill>
                  <a:srgbClr val="FF0000"/>
                </a:solidFill>
                <a:latin typeface="Times New Roman" pitchFamily="18" charset="0"/>
                <a:cs typeface="Times New Roman" pitchFamily="18" charset="0"/>
              </a:rPr>
              <a:t>A. 1995</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	 B. 1996</a:t>
            </a:r>
            <a:endParaRPr lang="en-US" b="1" dirty="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C. 1997		D. 2000</a:t>
            </a:r>
            <a:endParaRPr lang="en-US" b="1" dirty="0">
              <a:solidFill>
                <a:srgbClr val="FF0000"/>
              </a:solidFill>
              <a:latin typeface="Times New Roman" pitchFamily="18" charset="0"/>
              <a:cs typeface="Times New Roman" pitchFamily="18" charset="0"/>
            </a:endParaRPr>
          </a:p>
        </p:txBody>
      </p:sp>
      <p:sp>
        <p:nvSpPr>
          <p:cNvPr id="6" name="Rectangle 5"/>
          <p:cNvSpPr/>
          <p:nvPr/>
        </p:nvSpPr>
        <p:spPr>
          <a:xfrm>
            <a:off x="4584700" y="2664769"/>
            <a:ext cx="4572000" cy="1200329"/>
          </a:xfrm>
          <a:prstGeom prst="rect">
            <a:avLst/>
          </a:prstGeom>
        </p:spPr>
        <p:txBody>
          <a:bodyPr>
            <a:spAutoFit/>
          </a:bodyPr>
          <a:lstStyle/>
          <a:p>
            <a:r>
              <a:rPr lang="en-US" b="1" dirty="0">
                <a:latin typeface="Times New Roman" pitchFamily="18" charset="0"/>
                <a:cs typeface="Times New Roman" pitchFamily="18" charset="0"/>
              </a:rPr>
              <a:t>The imports are minimum proportionate to the exports implies that the ratio of the value of imports to exports has the minimum value.</a:t>
            </a:r>
          </a:p>
        </p:txBody>
      </p:sp>
      <p:sp>
        <p:nvSpPr>
          <p:cNvPr id="7" name="Rectangle 6"/>
          <p:cNvSpPr/>
          <p:nvPr/>
        </p:nvSpPr>
        <p:spPr>
          <a:xfrm>
            <a:off x="4597400" y="3865098"/>
            <a:ext cx="4394200" cy="923330"/>
          </a:xfrm>
          <a:prstGeom prst="rect">
            <a:avLst/>
          </a:prstGeom>
        </p:spPr>
        <p:txBody>
          <a:bodyPr wrap="square">
            <a:spAutoFit/>
          </a:bodyPr>
          <a:lstStyle/>
          <a:p>
            <a:r>
              <a:rPr lang="en-US" b="1" dirty="0">
                <a:latin typeface="Times New Roman" pitchFamily="18" charset="0"/>
                <a:cs typeface="Times New Roman" pitchFamily="18" charset="0"/>
              </a:rPr>
              <a:t>Now, this ratio has a minimum value 0.35 in 1997, i.e., the imports are minimum proportionate to the exports in 1997.</a:t>
            </a:r>
          </a:p>
        </p:txBody>
      </p:sp>
    </p:spTree>
    <p:extLst>
      <p:ext uri="{BB962C8B-B14F-4D97-AF65-F5344CB8AC3E}">
        <p14:creationId xmlns:p14="http://schemas.microsoft.com/office/powerpoint/2010/main" val="2700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4" name="Rectangle 3"/>
          <p:cNvSpPr/>
          <p:nvPr/>
        </p:nvSpPr>
        <p:spPr>
          <a:xfrm>
            <a:off x="304800" y="590550"/>
            <a:ext cx="85090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line graph gives the ratio of the amounts of imports by a company to the amount of exports from that company over the period from 1995 to 2001.</a:t>
            </a:r>
          </a:p>
          <a:p>
            <a:r>
              <a:rPr lang="en-US" b="1" dirty="0">
                <a:solidFill>
                  <a:srgbClr val="FF0000"/>
                </a:solidFill>
                <a:latin typeface="Times New Roman" pitchFamily="18" charset="0"/>
                <a:cs typeface="Times New Roman" pitchFamily="18" charset="0"/>
              </a:rPr>
              <a:t>Ratio of Value of Imports to Exports by a Company Over the Years.</a:t>
            </a:r>
          </a:p>
        </p:txBody>
      </p:sp>
      <p:pic>
        <p:nvPicPr>
          <p:cNvPr id="3074" name="Picture 2" descr="https://www.indiabix.com/_files/images/data-interpretation/line-charts/15-3-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33525"/>
            <a:ext cx="4457700" cy="30194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419600" y="1454825"/>
            <a:ext cx="4572000" cy="1200329"/>
          </a:xfrm>
          <a:prstGeom prst="rect">
            <a:avLst/>
          </a:prstGeom>
        </p:spPr>
        <p:txBody>
          <a:bodyPr>
            <a:spAutoFit/>
          </a:bodyPr>
          <a:lstStyle/>
          <a:p>
            <a:pPr fontAlgn="t"/>
            <a:r>
              <a:rPr lang="en-US" b="1" dirty="0">
                <a:solidFill>
                  <a:srgbClr val="FF0000"/>
                </a:solidFill>
                <a:latin typeface="Times New Roman" pitchFamily="18" charset="0"/>
                <a:cs typeface="Times New Roman" pitchFamily="18" charset="0"/>
              </a:rPr>
              <a:t>What was the percentage increase in imports from 1997 to 1998 ?</a:t>
            </a:r>
          </a:p>
          <a:p>
            <a:r>
              <a:rPr lang="en-US" b="1" dirty="0" smtClean="0">
                <a:solidFill>
                  <a:srgbClr val="FF0000"/>
                </a:solidFill>
                <a:latin typeface="Times New Roman" pitchFamily="18" charset="0"/>
                <a:cs typeface="Times New Roman" pitchFamily="18" charset="0"/>
              </a:rPr>
              <a:t>A. 72	B. 56	C. 28</a:t>
            </a:r>
            <a:endParaRPr lang="en-US" b="1" dirty="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D. Data </a:t>
            </a:r>
            <a:r>
              <a:rPr lang="en-US" b="1" dirty="0">
                <a:solidFill>
                  <a:srgbClr val="FF0000"/>
                </a:solidFill>
                <a:latin typeface="Times New Roman" pitchFamily="18" charset="0"/>
                <a:cs typeface="Times New Roman" pitchFamily="18" charset="0"/>
              </a:rPr>
              <a:t>inadequate</a:t>
            </a:r>
          </a:p>
        </p:txBody>
      </p:sp>
      <p:sp>
        <p:nvSpPr>
          <p:cNvPr id="6" name="Rectangle 5"/>
          <p:cNvSpPr/>
          <p:nvPr/>
        </p:nvSpPr>
        <p:spPr>
          <a:xfrm>
            <a:off x="4584700" y="2495550"/>
            <a:ext cx="4572000" cy="646331"/>
          </a:xfrm>
          <a:prstGeom prst="rect">
            <a:avLst/>
          </a:prstGeom>
        </p:spPr>
        <p:txBody>
          <a:bodyPr>
            <a:spAutoFit/>
          </a:bodyPr>
          <a:lstStyle/>
          <a:p>
            <a:r>
              <a:rPr lang="en-US" b="1" dirty="0">
                <a:latin typeface="Times New Roman" pitchFamily="18" charset="0"/>
                <a:cs typeface="Times New Roman" pitchFamily="18" charset="0"/>
              </a:rPr>
              <a:t>The graph gives only the ratio of imports to exports for different years. </a:t>
            </a:r>
          </a:p>
        </p:txBody>
      </p:sp>
      <p:sp>
        <p:nvSpPr>
          <p:cNvPr id="7" name="Rectangle 6"/>
          <p:cNvSpPr/>
          <p:nvPr/>
        </p:nvSpPr>
        <p:spPr>
          <a:xfrm>
            <a:off x="4597400" y="3105150"/>
            <a:ext cx="4394200" cy="1200329"/>
          </a:xfrm>
          <a:prstGeom prst="rect">
            <a:avLst/>
          </a:prstGeom>
        </p:spPr>
        <p:txBody>
          <a:bodyPr wrap="square">
            <a:spAutoFit/>
          </a:bodyPr>
          <a:lstStyle/>
          <a:p>
            <a:r>
              <a:rPr lang="en-US" b="1" dirty="0">
                <a:latin typeface="Times New Roman" pitchFamily="18" charset="0"/>
                <a:cs typeface="Times New Roman" pitchFamily="18" charset="0"/>
              </a:rPr>
              <a:t>To find the percentage increase in imports from 1997 to 1998, we require more details such as the value of imports or exports during these </a:t>
            </a:r>
            <a:r>
              <a:rPr lang="en-US" b="1" dirty="0" smtClean="0">
                <a:latin typeface="Times New Roman" pitchFamily="18" charset="0"/>
                <a:cs typeface="Times New Roman" pitchFamily="18" charset="0"/>
              </a:rPr>
              <a:t>years.</a:t>
            </a:r>
            <a:endParaRPr lang="en-US" b="1" dirty="0">
              <a:latin typeface="Times New Roman" pitchFamily="18" charset="0"/>
              <a:cs typeface="Times New Roman" pitchFamily="18" charset="0"/>
            </a:endParaRPr>
          </a:p>
        </p:txBody>
      </p:sp>
      <p:sp>
        <p:nvSpPr>
          <p:cNvPr id="8" name="Rectangle 7"/>
          <p:cNvSpPr/>
          <p:nvPr/>
        </p:nvSpPr>
        <p:spPr>
          <a:xfrm>
            <a:off x="4648200" y="4248150"/>
            <a:ext cx="4572000" cy="646331"/>
          </a:xfrm>
          <a:prstGeom prst="rect">
            <a:avLst/>
          </a:prstGeom>
        </p:spPr>
        <p:txBody>
          <a:bodyPr>
            <a:spAutoFit/>
          </a:bodyPr>
          <a:lstStyle/>
          <a:p>
            <a:r>
              <a:rPr lang="en-US" b="1" dirty="0">
                <a:latin typeface="Times New Roman" pitchFamily="18" charset="0"/>
                <a:cs typeface="Times New Roman" pitchFamily="18" charset="0"/>
              </a:rPr>
              <a:t>Hence, the data is inadequate to answer this question.</a:t>
            </a:r>
          </a:p>
        </p:txBody>
      </p:sp>
    </p:spTree>
    <p:extLst>
      <p:ext uri="{BB962C8B-B14F-4D97-AF65-F5344CB8AC3E}">
        <p14:creationId xmlns:p14="http://schemas.microsoft.com/office/powerpoint/2010/main" val="416853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95701" y="182581"/>
            <a:ext cx="5168900"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TYPES OF DI QUESTIONS: TABLE</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11" name="Rectangle 10"/>
          <p:cNvSpPr/>
          <p:nvPr/>
        </p:nvSpPr>
        <p:spPr>
          <a:xfrm>
            <a:off x="304800" y="590550"/>
            <a:ext cx="8509000" cy="707886"/>
          </a:xfrm>
          <a:prstGeom prst="rect">
            <a:avLst/>
          </a:prstGeom>
        </p:spPr>
        <p:txBody>
          <a:bodyPr wrap="square">
            <a:spAutoFit/>
          </a:bodyPr>
          <a:lstStyle/>
          <a:p>
            <a:r>
              <a:rPr lang="en-US" sz="2000" dirty="0">
                <a:latin typeface="Times New Roman" pitchFamily="18" charset="0"/>
                <a:cs typeface="Times New Roman" pitchFamily="18" charset="0"/>
              </a:rPr>
              <a:t>S</a:t>
            </a:r>
            <a:r>
              <a:rPr lang="en-US" sz="2000" dirty="0" smtClean="0">
                <a:latin typeface="Times New Roman" pitchFamily="18" charset="0"/>
                <a:cs typeface="Times New Roman" pitchFamily="18" charset="0"/>
              </a:rPr>
              <a:t>tatistical </a:t>
            </a:r>
            <a:r>
              <a:rPr lang="en-US" sz="2000" dirty="0">
                <a:latin typeface="Times New Roman" pitchFamily="18" charset="0"/>
                <a:cs typeface="Times New Roman" pitchFamily="18" charset="0"/>
              </a:rPr>
              <a:t>data are represented by tables. The data are placed in rows and columns. Types of tables include simple tables and complex tables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8" name="Rectangle 7"/>
          <p:cNvSpPr/>
          <p:nvPr/>
        </p:nvSpPr>
        <p:spPr>
          <a:xfrm>
            <a:off x="381000" y="1200150"/>
            <a:ext cx="7688724" cy="400110"/>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Study the following table and answer the question(s) based on </a:t>
            </a:r>
            <a:r>
              <a:rPr lang="en-US" sz="2000" b="1" dirty="0" smtClean="0">
                <a:solidFill>
                  <a:srgbClr val="FF0000"/>
                </a:solidFill>
                <a:latin typeface="Times New Roman" pitchFamily="18" charset="0"/>
                <a:cs typeface="Times New Roman" pitchFamily="18" charset="0"/>
              </a:rPr>
              <a:t>it.</a:t>
            </a:r>
            <a:endParaRPr lang="en-US" sz="2000" b="1" dirty="0">
              <a:solidFill>
                <a:srgbClr val="FF0000"/>
              </a:solidFill>
              <a:latin typeface="Times New Roman" pitchFamily="18" charset="0"/>
              <a:cs typeface="Times New Roman" pitchFamily="18" charset="0"/>
            </a:endParaRPr>
          </a:p>
        </p:txBody>
      </p:sp>
      <p:pic>
        <p:nvPicPr>
          <p:cNvPr id="1033" name="Picture 9"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4950"/>
            <a:ext cx="5105400" cy="304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4876800" y="1504950"/>
            <a:ext cx="4114800" cy="1569660"/>
          </a:xfrm>
          <a:prstGeom prst="rect">
            <a:avLst/>
          </a:prstGeom>
        </p:spPr>
        <p:txBody>
          <a:bodyPr wrap="square">
            <a:spAutoFit/>
          </a:bodyPr>
          <a:lstStyle/>
          <a:p>
            <a:pPr marL="457200" indent="-457200">
              <a:buAutoNum type="alphaUcPeriod" startAt="17"/>
            </a:pPr>
            <a:r>
              <a:rPr lang="en-US" sz="2000" b="1" dirty="0" smtClean="0">
                <a:solidFill>
                  <a:srgbClr val="FF0000"/>
                </a:solidFill>
                <a:latin typeface="Times New Roman" pitchFamily="18" charset="0"/>
                <a:cs typeface="Times New Roman" pitchFamily="18" charset="0"/>
              </a:rPr>
              <a:t>The </a:t>
            </a:r>
            <a:r>
              <a:rPr lang="en-US" sz="2000" b="1" dirty="0">
                <a:solidFill>
                  <a:srgbClr val="FF0000"/>
                </a:solidFill>
                <a:latin typeface="Times New Roman" pitchFamily="18" charset="0"/>
                <a:cs typeface="Times New Roman" pitchFamily="18" charset="0"/>
              </a:rPr>
              <a:t>total expenditure of the company over these items during the year 2000 is</a:t>
            </a:r>
            <a:r>
              <a:rPr lang="en-US" sz="2000" b="1" dirty="0" smtClean="0">
                <a:solidFill>
                  <a:srgbClr val="FF0000"/>
                </a:solidFill>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A. </a:t>
            </a:r>
            <a:r>
              <a:rPr lang="en-US" dirty="0" err="1" smtClean="0">
                <a:solidFill>
                  <a:srgbClr val="FF0000"/>
                </a:solidFill>
                <a:latin typeface="Times New Roman" pitchFamily="18" charset="0"/>
                <a:cs typeface="Times New Roman" pitchFamily="18" charset="0"/>
              </a:rPr>
              <a:t>Rs</a:t>
            </a:r>
            <a:r>
              <a:rPr lang="en-US" dirty="0">
                <a:solidFill>
                  <a:srgbClr val="FF0000"/>
                </a:solidFill>
                <a:latin typeface="Times New Roman" pitchFamily="18" charset="0"/>
                <a:cs typeface="Times New Roman" pitchFamily="18" charset="0"/>
              </a:rPr>
              <a:t>. 544.44 </a:t>
            </a:r>
            <a:r>
              <a:rPr lang="en-US" dirty="0" smtClean="0">
                <a:solidFill>
                  <a:srgbClr val="FF0000"/>
                </a:solidFill>
                <a:latin typeface="Times New Roman" pitchFamily="18" charset="0"/>
                <a:cs typeface="Times New Roman" pitchFamily="18" charset="0"/>
              </a:rPr>
              <a:t>lakhs	    </a:t>
            </a:r>
            <a:r>
              <a:rPr lang="en-US" b="1" dirty="0" smtClean="0">
                <a:solidFill>
                  <a:srgbClr val="FF0000"/>
                </a:solidFill>
                <a:latin typeface="Times New Roman" pitchFamily="18" charset="0"/>
                <a:cs typeface="Times New Roman" pitchFamily="18" charset="0"/>
              </a:rPr>
              <a:t>B. </a:t>
            </a:r>
            <a:r>
              <a:rPr lang="en-US" dirty="0" err="1">
                <a:solidFill>
                  <a:srgbClr val="FF0000"/>
                </a:solidFill>
                <a:latin typeface="Times New Roman" pitchFamily="18" charset="0"/>
                <a:cs typeface="Times New Roman" pitchFamily="18" charset="0"/>
              </a:rPr>
              <a:t>Rs</a:t>
            </a:r>
            <a:r>
              <a:rPr lang="en-US" dirty="0">
                <a:solidFill>
                  <a:srgbClr val="FF0000"/>
                </a:solidFill>
                <a:latin typeface="Times New Roman" pitchFamily="18" charset="0"/>
                <a:cs typeface="Times New Roman" pitchFamily="18" charset="0"/>
              </a:rPr>
              <a:t>. 501.11 </a:t>
            </a:r>
            <a:r>
              <a:rPr lang="en-US" dirty="0" smtClean="0">
                <a:solidFill>
                  <a:srgbClr val="FF0000"/>
                </a:solidFill>
                <a:latin typeface="Times New Roman" pitchFamily="18" charset="0"/>
                <a:cs typeface="Times New Roman" pitchFamily="18" charset="0"/>
              </a:rPr>
              <a:t>lakhs</a:t>
            </a:r>
          </a:p>
          <a:p>
            <a:r>
              <a:rPr lang="en-US" b="1" dirty="0" smtClean="0">
                <a:solidFill>
                  <a:srgbClr val="FF0000"/>
                </a:solidFill>
                <a:latin typeface="Times New Roman" pitchFamily="18" charset="0"/>
                <a:cs typeface="Times New Roman" pitchFamily="18" charset="0"/>
              </a:rPr>
              <a:t>C. </a:t>
            </a:r>
            <a:r>
              <a:rPr lang="en-US" dirty="0" err="1">
                <a:solidFill>
                  <a:srgbClr val="FF0000"/>
                </a:solidFill>
                <a:latin typeface="Times New Roman" pitchFamily="18" charset="0"/>
                <a:cs typeface="Times New Roman" pitchFamily="18" charset="0"/>
              </a:rPr>
              <a:t>Rs</a:t>
            </a:r>
            <a:r>
              <a:rPr lang="en-US" dirty="0">
                <a:solidFill>
                  <a:srgbClr val="FF0000"/>
                </a:solidFill>
                <a:latin typeface="Times New Roman" pitchFamily="18" charset="0"/>
                <a:cs typeface="Times New Roman" pitchFamily="18" charset="0"/>
              </a:rPr>
              <a:t>. 446.46 </a:t>
            </a:r>
            <a:r>
              <a:rPr lang="en-US" dirty="0" smtClean="0">
                <a:solidFill>
                  <a:srgbClr val="FF0000"/>
                </a:solidFill>
                <a:latin typeface="Times New Roman" pitchFamily="18" charset="0"/>
                <a:cs typeface="Times New Roman" pitchFamily="18" charset="0"/>
              </a:rPr>
              <a:t>lakhs    </a:t>
            </a:r>
            <a:r>
              <a:rPr lang="en-US" b="1" dirty="0" smtClean="0">
                <a:solidFill>
                  <a:srgbClr val="FF0000"/>
                </a:solidFill>
                <a:latin typeface="Times New Roman" pitchFamily="18" charset="0"/>
                <a:cs typeface="Times New Roman" pitchFamily="18" charset="0"/>
              </a:rPr>
              <a:t>D. </a:t>
            </a:r>
            <a:r>
              <a:rPr lang="en-US" dirty="0" err="1">
                <a:solidFill>
                  <a:srgbClr val="FF0000"/>
                </a:solidFill>
                <a:latin typeface="Times New Roman" pitchFamily="18" charset="0"/>
                <a:cs typeface="Times New Roman" pitchFamily="18" charset="0"/>
              </a:rPr>
              <a:t>Rs</a:t>
            </a:r>
            <a:r>
              <a:rPr lang="en-US" dirty="0">
                <a:solidFill>
                  <a:srgbClr val="FF0000"/>
                </a:solidFill>
                <a:latin typeface="Times New Roman" pitchFamily="18" charset="0"/>
                <a:cs typeface="Times New Roman" pitchFamily="18" charset="0"/>
              </a:rPr>
              <a:t>. 478.87 lakhs</a:t>
            </a:r>
            <a:endParaRPr lang="en-US" b="1" dirty="0">
              <a:solidFill>
                <a:srgbClr val="FF0000"/>
              </a:solidFill>
              <a:latin typeface="Times New Roman" pitchFamily="18" charset="0"/>
              <a:cs typeface="Times New Roman" pitchFamily="18" charset="0"/>
            </a:endParaRPr>
          </a:p>
        </p:txBody>
      </p:sp>
      <p:sp>
        <p:nvSpPr>
          <p:cNvPr id="14" name="Rectangle 13"/>
          <p:cNvSpPr/>
          <p:nvPr/>
        </p:nvSpPr>
        <p:spPr>
          <a:xfrm>
            <a:off x="4953000" y="4294902"/>
            <a:ext cx="2209800" cy="400110"/>
          </a:xfrm>
          <a:prstGeom prst="rect">
            <a:avLst/>
          </a:prstGeom>
        </p:spPr>
        <p:txBody>
          <a:bodyPr wrap="square">
            <a:spAutoFit/>
          </a:bodyPr>
          <a:lstStyle/>
          <a:p>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Rs</a:t>
            </a:r>
            <a:r>
              <a:rPr lang="en-US" sz="2000" dirty="0">
                <a:latin typeface="Times New Roman" pitchFamily="18" charset="0"/>
                <a:cs typeface="Times New Roman" pitchFamily="18" charset="0"/>
              </a:rPr>
              <a:t>. 544.44 lakhs.</a:t>
            </a:r>
          </a:p>
        </p:txBody>
      </p:sp>
      <p:sp>
        <p:nvSpPr>
          <p:cNvPr id="15" name="Rectangle 14"/>
          <p:cNvSpPr/>
          <p:nvPr/>
        </p:nvSpPr>
        <p:spPr>
          <a:xfrm>
            <a:off x="4953000" y="3059966"/>
            <a:ext cx="3683000" cy="707886"/>
          </a:xfrm>
          <a:prstGeom prst="rect">
            <a:avLst/>
          </a:prstGeom>
        </p:spPr>
        <p:txBody>
          <a:bodyPr wrap="square">
            <a:spAutoFit/>
          </a:bodyPr>
          <a:lstStyle/>
          <a:p>
            <a:r>
              <a:rPr lang="en-US" sz="2000" dirty="0">
                <a:latin typeface="Times New Roman" pitchFamily="18" charset="0"/>
                <a:cs typeface="Times New Roman" pitchFamily="18" charset="0"/>
              </a:rPr>
              <a:t>Total expenditure of the Company during 2000</a:t>
            </a:r>
          </a:p>
        </p:txBody>
      </p:sp>
      <p:sp>
        <p:nvSpPr>
          <p:cNvPr id="16" name="Rectangle 15"/>
          <p:cNvSpPr/>
          <p:nvPr/>
        </p:nvSpPr>
        <p:spPr>
          <a:xfrm>
            <a:off x="4953000" y="3593366"/>
            <a:ext cx="3651010" cy="707886"/>
          </a:xfrm>
          <a:prstGeom prst="rect">
            <a:avLst/>
          </a:prstGeom>
        </p:spPr>
        <p:txBody>
          <a:bodyPr wrap="square">
            <a:spAutoFit/>
          </a:bodyPr>
          <a:lstStyle/>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Rs</a:t>
            </a:r>
            <a:r>
              <a:rPr lang="en-US" sz="2000" dirty="0">
                <a:latin typeface="Times New Roman" pitchFamily="18" charset="0"/>
                <a:cs typeface="Times New Roman" pitchFamily="18" charset="0"/>
              </a:rPr>
              <a:t>. (324 + 101 + 3.84 + 41.6 + 74) </a:t>
            </a:r>
            <a:r>
              <a:rPr lang="en-US" sz="2000" dirty="0" smtClean="0">
                <a:latin typeface="Times New Roman" pitchFamily="18" charset="0"/>
                <a:cs typeface="Times New Roman" pitchFamily="18" charset="0"/>
              </a:rPr>
              <a:t>lakhs</a:t>
            </a:r>
            <a:endParaRPr lang="en-US" sz="2000" dirty="0">
              <a:latin typeface="Times New Roman" pitchFamily="18" charset="0"/>
              <a:cs typeface="Times New Roman" pitchFamily="18" charset="0"/>
            </a:endParaRPr>
          </a:p>
        </p:txBody>
      </p:sp>
      <p:sp>
        <p:nvSpPr>
          <p:cNvPr id="19" name="Rectangle 18"/>
          <p:cNvSpPr/>
          <p:nvPr/>
        </p:nvSpPr>
        <p:spPr>
          <a:xfrm>
            <a:off x="7391400" y="4259838"/>
            <a:ext cx="1212610" cy="400110"/>
          </a:xfrm>
          <a:prstGeom prst="rect">
            <a:avLst/>
          </a:prstGeom>
        </p:spPr>
        <p:txBody>
          <a:bodyPr wrap="square">
            <a:spAutoFit/>
          </a:bodyPr>
          <a:lstStyle/>
          <a:p>
            <a:r>
              <a:rPr lang="en-US" sz="2000" b="1" dirty="0" smtClean="0">
                <a:latin typeface="Times New Roman" pitchFamily="18" charset="0"/>
                <a:cs typeface="Times New Roman" pitchFamily="18" charset="0"/>
              </a:rPr>
              <a:t>Option A</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295074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3"/>
                                        </p:tgtEl>
                                        <p:attrNameLst>
                                          <p:attrName>style.visibility</p:attrName>
                                        </p:attrNameLst>
                                      </p:cBhvr>
                                      <p:to>
                                        <p:strVal val="visible"/>
                                      </p:to>
                                    </p:set>
                                    <p:animEffect transition="in" filter="wipe(left)">
                                      <p:cBhvr>
                                        <p:cTn id="17" dur="500"/>
                                        <p:tgtEl>
                                          <p:spTgt spid="10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p:bldP spid="13" grpId="0"/>
      <p:bldP spid="14" grpId="0"/>
      <p:bldP spid="15" grpId="0"/>
      <p:bldP spid="16" grpId="0"/>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95701" y="182581"/>
            <a:ext cx="5168900"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TYPES OF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pic>
        <p:nvPicPr>
          <p:cNvPr id="1033" name="Picture 9"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17701"/>
            <a:ext cx="5105400" cy="304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6200" y="666750"/>
            <a:ext cx="8839200" cy="1323439"/>
          </a:xfrm>
          <a:prstGeom prst="rect">
            <a:avLst/>
          </a:prstGeom>
        </p:spPr>
        <p:txBody>
          <a:bodyPr wrap="square">
            <a:spAutoFit/>
          </a:bodyPr>
          <a:lstStyle/>
          <a:p>
            <a:pPr marL="457200" indent="-457200">
              <a:buAutoNum type="alphaUcPeriod" startAt="17"/>
            </a:pPr>
            <a:r>
              <a:rPr lang="en-US" sz="2000" b="1" dirty="0">
                <a:solidFill>
                  <a:srgbClr val="FF0000"/>
                </a:solidFill>
                <a:latin typeface="Times New Roman" pitchFamily="18" charset="0"/>
                <a:cs typeface="Times New Roman" pitchFamily="18" charset="0"/>
              </a:rPr>
              <a:t>What is the average amount of interest per year which the company had to pay during this period?</a:t>
            </a:r>
            <a:r>
              <a:rPr lang="en-US" sz="1900" b="1" dirty="0" smtClean="0">
                <a:solidFill>
                  <a:srgbClr val="FF0000"/>
                </a:solidFill>
                <a:latin typeface="Times New Roman" pitchFamily="18" charset="0"/>
                <a:cs typeface="Times New Roman" pitchFamily="18" charset="0"/>
              </a:rPr>
              <a:t>	</a:t>
            </a:r>
          </a:p>
          <a:p>
            <a:pPr lvl="1"/>
            <a:r>
              <a:rPr lang="en-US" sz="2000" b="1" dirty="0" smtClean="0">
                <a:solidFill>
                  <a:srgbClr val="FF0000"/>
                </a:solidFill>
                <a:latin typeface="Times New Roman" pitchFamily="18" charset="0"/>
                <a:cs typeface="Times New Roman" pitchFamily="18" charset="0"/>
              </a:rPr>
              <a:t>A. </a:t>
            </a:r>
            <a:r>
              <a:rPr lang="en-US" sz="2000" b="1" dirty="0" err="1" smtClean="0">
                <a:solidFill>
                  <a:srgbClr val="FF0000"/>
                </a:solidFill>
                <a:latin typeface="Times New Roman" pitchFamily="18" charset="0"/>
                <a:cs typeface="Times New Roman" pitchFamily="18" charset="0"/>
              </a:rPr>
              <a:t>Rs</a:t>
            </a:r>
            <a:r>
              <a:rPr lang="en-US" sz="2000" b="1" dirty="0">
                <a:solidFill>
                  <a:srgbClr val="FF0000"/>
                </a:solidFill>
                <a:latin typeface="Times New Roman" pitchFamily="18" charset="0"/>
                <a:cs typeface="Times New Roman" pitchFamily="18" charset="0"/>
              </a:rPr>
              <a:t>. 32.43 lakhs</a:t>
            </a:r>
            <a:r>
              <a:rPr lang="en-US" sz="1900" b="1" dirty="0" smtClean="0">
                <a:solidFill>
                  <a:srgbClr val="FF0000"/>
                </a:solidFill>
                <a:latin typeface="Times New Roman" pitchFamily="18" charset="0"/>
                <a:cs typeface="Times New Roman" pitchFamily="18" charset="0"/>
              </a:rPr>
              <a:t>		B. </a:t>
            </a:r>
            <a:r>
              <a:rPr lang="en-US" sz="2000" b="1" dirty="0" err="1">
                <a:solidFill>
                  <a:srgbClr val="FF0000"/>
                </a:solidFill>
                <a:latin typeface="Times New Roman" pitchFamily="18" charset="0"/>
                <a:cs typeface="Times New Roman" pitchFamily="18" charset="0"/>
              </a:rPr>
              <a:t>Rs</a:t>
            </a:r>
            <a:r>
              <a:rPr lang="en-US" sz="2000" b="1" dirty="0">
                <a:solidFill>
                  <a:srgbClr val="FF0000"/>
                </a:solidFill>
                <a:latin typeface="Times New Roman" pitchFamily="18" charset="0"/>
                <a:cs typeface="Times New Roman" pitchFamily="18" charset="0"/>
              </a:rPr>
              <a:t>. 33.72 lakhs</a:t>
            </a:r>
            <a:r>
              <a:rPr lang="en-US" sz="1900" b="1" dirty="0" smtClean="0">
                <a:solidFill>
                  <a:srgbClr val="FF0000"/>
                </a:solidFill>
                <a:latin typeface="Times New Roman" pitchFamily="18" charset="0"/>
                <a:cs typeface="Times New Roman" pitchFamily="18" charset="0"/>
              </a:rPr>
              <a:t>		</a:t>
            </a:r>
          </a:p>
          <a:p>
            <a:pPr lvl="1"/>
            <a:r>
              <a:rPr lang="en-US" sz="1900" b="1" dirty="0" smtClean="0">
                <a:solidFill>
                  <a:srgbClr val="FF0000"/>
                </a:solidFill>
                <a:latin typeface="Times New Roman" pitchFamily="18" charset="0"/>
                <a:cs typeface="Times New Roman" pitchFamily="18" charset="0"/>
              </a:rPr>
              <a:t>C. </a:t>
            </a:r>
            <a:r>
              <a:rPr lang="en-US" sz="2000" b="1" dirty="0" err="1">
                <a:solidFill>
                  <a:srgbClr val="FF0000"/>
                </a:solidFill>
                <a:latin typeface="Times New Roman" pitchFamily="18" charset="0"/>
                <a:cs typeface="Times New Roman" pitchFamily="18" charset="0"/>
              </a:rPr>
              <a:t>Rs</a:t>
            </a:r>
            <a:r>
              <a:rPr lang="en-US" sz="2000" b="1" dirty="0">
                <a:solidFill>
                  <a:srgbClr val="FF0000"/>
                </a:solidFill>
                <a:latin typeface="Times New Roman" pitchFamily="18" charset="0"/>
                <a:cs typeface="Times New Roman" pitchFamily="18" charset="0"/>
              </a:rPr>
              <a:t>. 34.18 lakhs</a:t>
            </a:r>
            <a:r>
              <a:rPr lang="en-US" sz="1900" b="1" dirty="0" smtClean="0">
                <a:solidFill>
                  <a:srgbClr val="FF0000"/>
                </a:solidFill>
                <a:latin typeface="Times New Roman" pitchFamily="18" charset="0"/>
                <a:cs typeface="Times New Roman" pitchFamily="18" charset="0"/>
              </a:rPr>
              <a:t>		D. </a:t>
            </a:r>
            <a:r>
              <a:rPr lang="en-US" sz="2000" b="1" dirty="0" err="1">
                <a:solidFill>
                  <a:srgbClr val="FF0000"/>
                </a:solidFill>
                <a:latin typeface="Times New Roman" pitchFamily="18" charset="0"/>
                <a:cs typeface="Times New Roman" pitchFamily="18" charset="0"/>
              </a:rPr>
              <a:t>Rs</a:t>
            </a:r>
            <a:r>
              <a:rPr lang="en-US" sz="2000" b="1" dirty="0">
                <a:solidFill>
                  <a:srgbClr val="FF0000"/>
                </a:solidFill>
                <a:latin typeface="Times New Roman" pitchFamily="18" charset="0"/>
                <a:cs typeface="Times New Roman" pitchFamily="18" charset="0"/>
              </a:rPr>
              <a:t>. 36.66 lakhs</a:t>
            </a:r>
            <a:endParaRPr lang="en-US" sz="1900" b="1" dirty="0">
              <a:solidFill>
                <a:srgbClr val="FF0000"/>
              </a:solidFill>
              <a:latin typeface="Times New Roman" pitchFamily="18" charset="0"/>
              <a:cs typeface="Times New Roman" pitchFamily="18" charset="0"/>
            </a:endParaRPr>
          </a:p>
        </p:txBody>
      </p:sp>
      <p:sp>
        <p:nvSpPr>
          <p:cNvPr id="2" name="Rectangle 1"/>
          <p:cNvSpPr/>
          <p:nvPr/>
        </p:nvSpPr>
        <p:spPr>
          <a:xfrm>
            <a:off x="5105400" y="1962150"/>
            <a:ext cx="3810000" cy="646331"/>
          </a:xfrm>
          <a:prstGeom prst="rect">
            <a:avLst/>
          </a:prstGeom>
        </p:spPr>
        <p:txBody>
          <a:bodyPr wrap="square">
            <a:spAutoFit/>
          </a:bodyPr>
          <a:lstStyle/>
          <a:p>
            <a:r>
              <a:rPr lang="en-US" dirty="0">
                <a:latin typeface="Times New Roman" pitchFamily="18" charset="0"/>
                <a:cs typeface="Times New Roman" pitchFamily="18" charset="0"/>
              </a:rPr>
              <a:t>Average amount of interest paid by the Company during the given period</a:t>
            </a:r>
          </a:p>
        </p:txBody>
      </p:sp>
      <p:sp>
        <p:nvSpPr>
          <p:cNvPr id="3" name="Rectangle 2"/>
          <p:cNvSpPr/>
          <p:nvPr/>
        </p:nvSpPr>
        <p:spPr>
          <a:xfrm>
            <a:off x="4953000" y="2571750"/>
            <a:ext cx="4114800" cy="369332"/>
          </a:xfrm>
          <a:prstGeom prst="rect">
            <a:avLst/>
          </a:prstGeom>
        </p:spPr>
        <p:txBody>
          <a:bodyPr wrap="square">
            <a:spAutoFit/>
          </a:bodyPr>
          <a:lstStyle/>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Rs</a:t>
            </a:r>
            <a:r>
              <a:rPr lang="en-US" dirty="0">
                <a:latin typeface="Times New Roman" pitchFamily="18" charset="0"/>
                <a:cs typeface="Times New Roman" pitchFamily="18" charset="0"/>
              </a:rPr>
              <a:t>. [ 23.4 + 32.5 + 41.6 + 36.4 + 49.4 </a:t>
            </a:r>
            <a:r>
              <a:rPr lang="en-US" dirty="0" smtClean="0">
                <a:latin typeface="Times New Roman" pitchFamily="18" charset="0"/>
                <a:cs typeface="Times New Roman" pitchFamily="18" charset="0"/>
              </a:rPr>
              <a:t>]L</a:t>
            </a:r>
            <a:endParaRPr lang="en-US" dirty="0">
              <a:latin typeface="Times New Roman" pitchFamily="18" charset="0"/>
              <a:cs typeface="Times New Roman" pitchFamily="18" charset="0"/>
            </a:endParaRPr>
          </a:p>
        </p:txBody>
      </p:sp>
      <p:cxnSp>
        <p:nvCxnSpPr>
          <p:cNvPr id="19" name="Straight Connector 18"/>
          <p:cNvCxnSpPr/>
          <p:nvPr/>
        </p:nvCxnSpPr>
        <p:spPr>
          <a:xfrm>
            <a:off x="5257800" y="2941082"/>
            <a:ext cx="36576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359543" y="2941093"/>
            <a:ext cx="300082" cy="369332"/>
          </a:xfrm>
          <a:prstGeom prst="rect">
            <a:avLst/>
          </a:prstGeom>
        </p:spPr>
        <p:txBody>
          <a:bodyPr wrap="none">
            <a:spAutoFit/>
          </a:bodyPr>
          <a:lstStyle/>
          <a:p>
            <a:r>
              <a:rPr lang="en-US" dirty="0">
                <a:latin typeface="Times New Roman" pitchFamily="18" charset="0"/>
                <a:cs typeface="Times New Roman" pitchFamily="18" charset="0"/>
              </a:rPr>
              <a:t>5</a:t>
            </a:r>
          </a:p>
        </p:txBody>
      </p:sp>
      <p:sp>
        <p:nvSpPr>
          <p:cNvPr id="10" name="Rectangle 9"/>
          <p:cNvSpPr/>
          <p:nvPr/>
        </p:nvSpPr>
        <p:spPr>
          <a:xfrm>
            <a:off x="5146875" y="3257550"/>
            <a:ext cx="2244525" cy="369332"/>
          </a:xfrm>
          <a:prstGeom prst="rect">
            <a:avLst/>
          </a:prstGeom>
        </p:spPr>
        <p:txBody>
          <a:bodyPr wrap="none">
            <a:spAutoFit/>
          </a:bodyPr>
          <a:lstStyle/>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Rs</a:t>
            </a:r>
            <a:r>
              <a:rPr lang="en-US" dirty="0">
                <a:latin typeface="Times New Roman" pitchFamily="18" charset="0"/>
                <a:cs typeface="Times New Roman" pitchFamily="18" charset="0"/>
              </a:rPr>
              <a:t>. [ 183.3 ]/5 lakhs</a:t>
            </a:r>
          </a:p>
        </p:txBody>
      </p:sp>
      <p:sp>
        <p:nvSpPr>
          <p:cNvPr id="11" name="Rectangle 10"/>
          <p:cNvSpPr/>
          <p:nvPr/>
        </p:nvSpPr>
        <p:spPr>
          <a:xfrm>
            <a:off x="5159575" y="3665498"/>
            <a:ext cx="1853392" cy="369332"/>
          </a:xfrm>
          <a:prstGeom prst="rect">
            <a:avLst/>
          </a:prstGeom>
        </p:spPr>
        <p:txBody>
          <a:bodyPr wrap="none">
            <a:spAutoFit/>
          </a:bodyPr>
          <a:lstStyle/>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Rs</a:t>
            </a:r>
            <a:r>
              <a:rPr lang="en-US" dirty="0">
                <a:latin typeface="Times New Roman" pitchFamily="18" charset="0"/>
                <a:cs typeface="Times New Roman" pitchFamily="18" charset="0"/>
              </a:rPr>
              <a:t>. 36.66 lakhs.</a:t>
            </a:r>
          </a:p>
        </p:txBody>
      </p:sp>
      <p:sp>
        <p:nvSpPr>
          <p:cNvPr id="21" name="Rectangle 20"/>
          <p:cNvSpPr/>
          <p:nvPr/>
        </p:nvSpPr>
        <p:spPr>
          <a:xfrm>
            <a:off x="5146875" y="3999321"/>
            <a:ext cx="1101584" cy="369332"/>
          </a:xfrm>
          <a:prstGeom prst="rect">
            <a:avLst/>
          </a:prstGeom>
        </p:spPr>
        <p:txBody>
          <a:bodyPr wrap="none">
            <a:spAutoFit/>
          </a:bodyPr>
          <a:lstStyle/>
          <a:p>
            <a:r>
              <a:rPr lang="en-US" b="1" dirty="0" smtClean="0">
                <a:latin typeface="Times New Roman" pitchFamily="18" charset="0"/>
                <a:cs typeface="Times New Roman" pitchFamily="18" charset="0"/>
              </a:rPr>
              <a:t>Option D</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72226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10" grpId="0"/>
      <p:bldP spid="11" grpId="0"/>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3" name="Picture 9"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17701"/>
            <a:ext cx="5105400" cy="304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6200" y="666750"/>
            <a:ext cx="8839200" cy="1323439"/>
          </a:xfrm>
          <a:prstGeom prst="rect">
            <a:avLst/>
          </a:prstGeom>
        </p:spPr>
        <p:txBody>
          <a:bodyPr wrap="square">
            <a:spAutoFit/>
          </a:bodyPr>
          <a:lstStyle/>
          <a:p>
            <a:pPr marL="457200" indent="-457200">
              <a:buAutoNum type="alphaUcPeriod" startAt="17"/>
            </a:pPr>
            <a:r>
              <a:rPr lang="en-US" sz="2000" b="1" dirty="0">
                <a:solidFill>
                  <a:srgbClr val="FF0000"/>
                </a:solidFill>
                <a:latin typeface="Times New Roman" pitchFamily="18" charset="0"/>
                <a:cs typeface="Times New Roman" pitchFamily="18" charset="0"/>
              </a:rPr>
              <a:t>The total amount of bonus paid by the company during the given period is approximately what percent of the total amount of salary paid during this period?</a:t>
            </a:r>
            <a:r>
              <a:rPr lang="en-US" sz="1900" b="1" dirty="0" smtClean="0">
                <a:solidFill>
                  <a:srgbClr val="FF0000"/>
                </a:solidFill>
                <a:latin typeface="Times New Roman" pitchFamily="18" charset="0"/>
                <a:cs typeface="Times New Roman" pitchFamily="18" charset="0"/>
              </a:rPr>
              <a:t>	</a:t>
            </a:r>
          </a:p>
          <a:p>
            <a:pPr lvl="1"/>
            <a:r>
              <a:rPr lang="en-US" sz="2000" b="1" dirty="0" smtClean="0">
                <a:solidFill>
                  <a:srgbClr val="FF0000"/>
                </a:solidFill>
                <a:latin typeface="Times New Roman" pitchFamily="18" charset="0"/>
                <a:cs typeface="Times New Roman" pitchFamily="18" charset="0"/>
              </a:rPr>
              <a:t>A. 0.001%</a:t>
            </a:r>
            <a:r>
              <a:rPr lang="en-US" sz="1900" b="1" dirty="0" smtClean="0">
                <a:solidFill>
                  <a:srgbClr val="FF0000"/>
                </a:solidFill>
                <a:latin typeface="Times New Roman" pitchFamily="18" charset="0"/>
                <a:cs typeface="Times New Roman" pitchFamily="18" charset="0"/>
              </a:rPr>
              <a:t>	B. </a:t>
            </a:r>
            <a:r>
              <a:rPr lang="en-US" sz="2000" b="1" dirty="0" smtClean="0">
                <a:solidFill>
                  <a:srgbClr val="FF0000"/>
                </a:solidFill>
                <a:latin typeface="Times New Roman" pitchFamily="18" charset="0"/>
                <a:cs typeface="Times New Roman" pitchFamily="18" charset="0"/>
              </a:rPr>
              <a:t>0.05%</a:t>
            </a:r>
            <a:r>
              <a:rPr lang="en-US" sz="1900" b="1" dirty="0" smtClean="0">
                <a:solidFill>
                  <a:srgbClr val="FF0000"/>
                </a:solidFill>
                <a:latin typeface="Times New Roman" pitchFamily="18" charset="0"/>
                <a:cs typeface="Times New Roman" pitchFamily="18" charset="0"/>
              </a:rPr>
              <a:t>		C. </a:t>
            </a:r>
            <a:r>
              <a:rPr lang="en-US" sz="2000" b="1" dirty="0" smtClean="0">
                <a:solidFill>
                  <a:srgbClr val="FF0000"/>
                </a:solidFill>
                <a:latin typeface="Times New Roman" pitchFamily="18" charset="0"/>
                <a:cs typeface="Times New Roman" pitchFamily="18" charset="0"/>
              </a:rPr>
              <a:t>0.01%</a:t>
            </a:r>
            <a:r>
              <a:rPr lang="en-US" sz="1900" b="1" dirty="0" smtClean="0">
                <a:solidFill>
                  <a:srgbClr val="FF0000"/>
                </a:solidFill>
                <a:latin typeface="Times New Roman" pitchFamily="18" charset="0"/>
                <a:cs typeface="Times New Roman" pitchFamily="18" charset="0"/>
              </a:rPr>
              <a:t>		D. </a:t>
            </a:r>
            <a:r>
              <a:rPr lang="en-US" sz="2000" b="1" dirty="0" smtClean="0">
                <a:solidFill>
                  <a:srgbClr val="FF0000"/>
                </a:solidFill>
                <a:latin typeface="Times New Roman" pitchFamily="18" charset="0"/>
                <a:cs typeface="Times New Roman" pitchFamily="18" charset="0"/>
              </a:rPr>
              <a:t>1%</a:t>
            </a:r>
            <a:endParaRPr lang="en-US" sz="1900" b="1" dirty="0">
              <a:solidFill>
                <a:srgbClr val="FF0000"/>
              </a:solidFill>
              <a:latin typeface="Times New Roman" pitchFamily="18" charset="0"/>
              <a:cs typeface="Times New Roman" pitchFamily="18" charset="0"/>
            </a:endParaRPr>
          </a:p>
        </p:txBody>
      </p:sp>
      <p:sp>
        <p:nvSpPr>
          <p:cNvPr id="3" name="Rectangle 2"/>
          <p:cNvSpPr/>
          <p:nvPr/>
        </p:nvSpPr>
        <p:spPr>
          <a:xfrm>
            <a:off x="5029200" y="2419350"/>
            <a:ext cx="3581400" cy="369332"/>
          </a:xfrm>
          <a:prstGeom prst="rect">
            <a:avLst/>
          </a:prstGeom>
        </p:spPr>
        <p:txBody>
          <a:bodyPr wrap="square">
            <a:spAutoFit/>
          </a:bodyPr>
          <a:lstStyle/>
          <a:p>
            <a:r>
              <a:rPr lang="en-US" dirty="0">
                <a:latin typeface="Times New Roman" pitchFamily="18" charset="0"/>
                <a:cs typeface="Times New Roman" pitchFamily="18" charset="0"/>
              </a:rPr>
              <a:t>(3.00 + 2.52 + 3.84 + 3.68 + 3.96</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cxnSp>
        <p:nvCxnSpPr>
          <p:cNvPr id="19" name="Straight Connector 18"/>
          <p:cNvCxnSpPr/>
          <p:nvPr/>
        </p:nvCxnSpPr>
        <p:spPr>
          <a:xfrm>
            <a:off x="5105400" y="2784734"/>
            <a:ext cx="3292992" cy="1561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5029200" y="3257035"/>
            <a:ext cx="2803470" cy="369332"/>
          </a:xfrm>
          <a:prstGeom prst="rect">
            <a:avLst/>
          </a:prstGeom>
        </p:spPr>
        <p:txBody>
          <a:bodyPr wrap="square">
            <a:spAutoFit/>
          </a:bodyPr>
          <a:lstStyle/>
          <a:p>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[ 17/1710 ] x </a:t>
            </a:r>
            <a:r>
              <a:rPr lang="en-US" dirty="0" smtClean="0">
                <a:latin typeface="Times New Roman" pitchFamily="18" charset="0"/>
                <a:cs typeface="Times New Roman" pitchFamily="18" charset="0"/>
              </a:rPr>
              <a:t>100</a:t>
            </a:r>
            <a:endParaRPr lang="en-US" dirty="0">
              <a:latin typeface="Times New Roman" pitchFamily="18" charset="0"/>
              <a:cs typeface="Times New Roman" pitchFamily="18" charset="0"/>
            </a:endParaRPr>
          </a:p>
        </p:txBody>
      </p:sp>
      <p:sp>
        <p:nvSpPr>
          <p:cNvPr id="6" name="Rectangle 5"/>
          <p:cNvSpPr/>
          <p:nvPr/>
        </p:nvSpPr>
        <p:spPr>
          <a:xfrm>
            <a:off x="5403967" y="2077302"/>
            <a:ext cx="2089033" cy="369332"/>
          </a:xfrm>
          <a:prstGeom prst="rect">
            <a:avLst/>
          </a:prstGeom>
        </p:spPr>
        <p:txBody>
          <a:bodyPr wrap="none">
            <a:spAutoFit/>
          </a:bodyPr>
          <a:lstStyle/>
          <a:p>
            <a:r>
              <a:rPr lang="en-US" dirty="0">
                <a:latin typeface="Times New Roman" pitchFamily="18" charset="0"/>
                <a:cs typeface="Times New Roman" pitchFamily="18" charset="0"/>
              </a:rPr>
              <a:t>Required percentage</a:t>
            </a:r>
          </a:p>
        </p:txBody>
      </p:sp>
      <p:sp>
        <p:nvSpPr>
          <p:cNvPr id="8" name="Rectangle 7"/>
          <p:cNvSpPr/>
          <p:nvPr/>
        </p:nvSpPr>
        <p:spPr>
          <a:xfrm>
            <a:off x="5044857" y="2800350"/>
            <a:ext cx="3108543" cy="369332"/>
          </a:xfrm>
          <a:prstGeom prst="rect">
            <a:avLst/>
          </a:prstGeom>
        </p:spPr>
        <p:txBody>
          <a:bodyPr wrap="none">
            <a:spAutoFit/>
          </a:bodyPr>
          <a:lstStyle/>
          <a:p>
            <a:r>
              <a:rPr lang="en-US" dirty="0">
                <a:latin typeface="Times New Roman" pitchFamily="18" charset="0"/>
                <a:cs typeface="Times New Roman" pitchFamily="18" charset="0"/>
              </a:rPr>
              <a:t>(288 + 342 + 324 + 336 + 420) </a:t>
            </a:r>
          </a:p>
        </p:txBody>
      </p:sp>
      <p:sp>
        <p:nvSpPr>
          <p:cNvPr id="9" name="Rectangle 8"/>
          <p:cNvSpPr/>
          <p:nvPr/>
        </p:nvSpPr>
        <p:spPr>
          <a:xfrm>
            <a:off x="8238838" y="2604016"/>
            <a:ext cx="954107" cy="369332"/>
          </a:xfrm>
          <a:prstGeom prst="rect">
            <a:avLst/>
          </a:prstGeom>
        </p:spPr>
        <p:txBody>
          <a:bodyPr wrap="none">
            <a:spAutoFit/>
          </a:bodyPr>
          <a:lstStyle/>
          <a:p>
            <a:r>
              <a:rPr lang="en-US" dirty="0">
                <a:latin typeface="Times New Roman" pitchFamily="18" charset="0"/>
                <a:cs typeface="Times New Roman" pitchFamily="18" charset="0"/>
              </a:rPr>
              <a:t>x 100 %</a:t>
            </a:r>
          </a:p>
        </p:txBody>
      </p:sp>
      <p:sp>
        <p:nvSpPr>
          <p:cNvPr id="12" name="Rectangle 11"/>
          <p:cNvSpPr/>
          <p:nvPr/>
        </p:nvSpPr>
        <p:spPr>
          <a:xfrm>
            <a:off x="5062240" y="3637352"/>
            <a:ext cx="737702" cy="369332"/>
          </a:xfrm>
          <a:prstGeom prst="rect">
            <a:avLst/>
          </a:prstGeom>
        </p:spPr>
        <p:txBody>
          <a:bodyPr wrap="none">
            <a:spAutoFit/>
          </a:bodyPr>
          <a:lstStyle/>
          <a:p>
            <a:r>
              <a:rPr lang="en-US" dirty="0">
                <a:latin typeface="Times New Roman" pitchFamily="18" charset="0"/>
                <a:cs typeface="Times New Roman" pitchFamily="18" charset="0"/>
              </a:rPr>
              <a:t>= 1% </a:t>
            </a:r>
          </a:p>
        </p:txBody>
      </p:sp>
      <p:sp>
        <p:nvSpPr>
          <p:cNvPr id="20" name="Rectangle 19"/>
          <p:cNvSpPr/>
          <p:nvPr/>
        </p:nvSpPr>
        <p:spPr>
          <a:xfrm>
            <a:off x="7679930" y="3745836"/>
            <a:ext cx="793807" cy="369332"/>
          </a:xfrm>
          <a:prstGeom prst="rect">
            <a:avLst/>
          </a:prstGeom>
        </p:spPr>
        <p:txBody>
          <a:bodyPr wrap="none">
            <a:spAutoFit/>
          </a:bodyPr>
          <a:lstStyle/>
          <a:p>
            <a:r>
              <a:rPr lang="en-US" b="1" dirty="0" smtClean="0">
                <a:latin typeface="Times New Roman" pitchFamily="18" charset="0"/>
                <a:cs typeface="Times New Roman" pitchFamily="18" charset="0"/>
              </a:rPr>
              <a:t>Ans D</a:t>
            </a:r>
            <a:endParaRPr lang="en-US" b="1" dirty="0">
              <a:latin typeface="Times New Roman" pitchFamily="18" charset="0"/>
              <a:cs typeface="Times New Roman" pitchFamily="18" charset="0"/>
            </a:endParaRPr>
          </a:p>
        </p:txBody>
      </p:sp>
      <p:sp>
        <p:nvSpPr>
          <p:cNvPr id="14" name="Rectangle 13"/>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12485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8" grpId="0"/>
      <p:bldP spid="9" grpId="0"/>
      <p:bldP spid="12" grpId="0"/>
      <p:bldP spid="2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81000" y="590550"/>
            <a:ext cx="7688724" cy="400110"/>
          </a:xfrm>
          <a:prstGeom prst="rect">
            <a:avLst/>
          </a:prstGeom>
        </p:spPr>
        <p:txBody>
          <a:bodyPr wrap="square">
            <a:spAutoFit/>
          </a:bodyPr>
          <a:lstStyle/>
          <a:p>
            <a:r>
              <a:rPr lang="en-US" sz="2000" b="1" dirty="0">
                <a:solidFill>
                  <a:srgbClr val="FF0000"/>
                </a:solidFill>
                <a:latin typeface="Times New Roman" pitchFamily="18" charset="0"/>
                <a:cs typeface="Times New Roman" pitchFamily="18" charset="0"/>
              </a:rPr>
              <a:t>Study the following table and answer the question(s) based on </a:t>
            </a:r>
            <a:r>
              <a:rPr lang="en-US" sz="2000" b="1" dirty="0" smtClean="0">
                <a:solidFill>
                  <a:srgbClr val="FF0000"/>
                </a:solidFill>
                <a:latin typeface="Times New Roman" pitchFamily="18" charset="0"/>
                <a:cs typeface="Times New Roman" pitchFamily="18" charset="0"/>
              </a:rPr>
              <a:t>it.</a:t>
            </a:r>
            <a:endParaRPr lang="en-US" sz="2000" b="1" dirty="0">
              <a:solidFill>
                <a:srgbClr val="FF0000"/>
              </a:solidFill>
              <a:latin typeface="Times New Roman" pitchFamily="18" charset="0"/>
              <a:cs typeface="Times New Roman" pitchFamily="18" charset="0"/>
            </a:endParaRPr>
          </a:p>
        </p:txBody>
      </p:sp>
      <p:pic>
        <p:nvPicPr>
          <p:cNvPr id="1033" name="Picture 9" descr="E:\60427_1565089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17701"/>
            <a:ext cx="5105400" cy="304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368300" y="849690"/>
            <a:ext cx="8432800" cy="1292662"/>
          </a:xfrm>
          <a:prstGeom prst="rect">
            <a:avLst/>
          </a:prstGeom>
        </p:spPr>
        <p:txBody>
          <a:bodyPr wrap="square">
            <a:spAutoFit/>
          </a:bodyPr>
          <a:lstStyle/>
          <a:p>
            <a:pPr marL="457200" indent="-457200">
              <a:buAutoNum type="alphaUcPeriod" startAt="17"/>
            </a:pPr>
            <a:r>
              <a:rPr lang="en-US" sz="1900" b="1" dirty="0">
                <a:solidFill>
                  <a:srgbClr val="FF0000"/>
                </a:solidFill>
                <a:latin typeface="Times New Roman" pitchFamily="18" charset="0"/>
                <a:cs typeface="Times New Roman" pitchFamily="18" charset="0"/>
              </a:rPr>
              <a:t>The ratio between the total expenditure on Taxes for all the years and the total expenditure on Fuel and Transport for all the years respectively is </a:t>
            </a:r>
            <a:r>
              <a:rPr lang="en-US" sz="1900" b="1" dirty="0" smtClean="0">
                <a:solidFill>
                  <a:srgbClr val="FF0000"/>
                </a:solidFill>
                <a:latin typeface="Times New Roman" pitchFamily="18" charset="0"/>
                <a:cs typeface="Times New Roman" pitchFamily="18" charset="0"/>
              </a:rPr>
              <a:t>approximately?	</a:t>
            </a:r>
          </a:p>
          <a:p>
            <a:pPr lvl="1"/>
            <a:r>
              <a:rPr lang="en-US" sz="1900" b="1" dirty="0" smtClean="0">
                <a:solidFill>
                  <a:srgbClr val="FF0000"/>
                </a:solidFill>
                <a:latin typeface="Times New Roman" pitchFamily="18" charset="0"/>
                <a:cs typeface="Times New Roman" pitchFamily="18" charset="0"/>
              </a:rPr>
              <a:t>A. </a:t>
            </a:r>
            <a:r>
              <a:rPr lang="en-US" sz="1900" dirty="0" smtClean="0">
                <a:solidFill>
                  <a:srgbClr val="FF0000"/>
                </a:solidFill>
                <a:latin typeface="Times New Roman" pitchFamily="18" charset="0"/>
                <a:cs typeface="Times New Roman" pitchFamily="18" charset="0"/>
              </a:rPr>
              <a:t>4:7	</a:t>
            </a:r>
            <a:r>
              <a:rPr lang="en-US" sz="1900" b="1" dirty="0" smtClean="0">
                <a:solidFill>
                  <a:srgbClr val="FF0000"/>
                </a:solidFill>
                <a:latin typeface="Times New Roman" pitchFamily="18" charset="0"/>
                <a:cs typeface="Times New Roman" pitchFamily="18" charset="0"/>
              </a:rPr>
              <a:t>B. </a:t>
            </a:r>
            <a:r>
              <a:rPr lang="en-US" sz="1900" dirty="0" smtClean="0">
                <a:solidFill>
                  <a:srgbClr val="FF0000"/>
                </a:solidFill>
                <a:latin typeface="Times New Roman" pitchFamily="18" charset="0"/>
                <a:cs typeface="Times New Roman" pitchFamily="18" charset="0"/>
              </a:rPr>
              <a:t>10:13		C. 15:18		D. 5:8</a:t>
            </a:r>
            <a:endParaRPr lang="en-US" sz="1900" b="1" dirty="0">
              <a:solidFill>
                <a:srgbClr val="FF0000"/>
              </a:solidFill>
              <a:latin typeface="Times New Roman" pitchFamily="18" charset="0"/>
              <a:cs typeface="Times New Roman" pitchFamily="18" charset="0"/>
            </a:endParaRPr>
          </a:p>
        </p:txBody>
      </p:sp>
      <p:sp>
        <p:nvSpPr>
          <p:cNvPr id="5" name="Rectangle 4"/>
          <p:cNvSpPr/>
          <p:nvPr/>
        </p:nvSpPr>
        <p:spPr>
          <a:xfrm>
            <a:off x="5105400" y="2142352"/>
            <a:ext cx="1511952" cy="369332"/>
          </a:xfrm>
          <a:prstGeom prst="rect">
            <a:avLst/>
          </a:prstGeom>
        </p:spPr>
        <p:txBody>
          <a:bodyPr wrap="none">
            <a:spAutoFit/>
          </a:bodyPr>
          <a:lstStyle/>
          <a:p>
            <a:r>
              <a:rPr lang="en-US" dirty="0">
                <a:latin typeface="Times New Roman" pitchFamily="18" charset="0"/>
                <a:cs typeface="Times New Roman" pitchFamily="18" charset="0"/>
              </a:rPr>
              <a:t>Required ratio</a:t>
            </a:r>
          </a:p>
        </p:txBody>
      </p:sp>
      <p:sp>
        <p:nvSpPr>
          <p:cNvPr id="6" name="Rectangle 5"/>
          <p:cNvSpPr/>
          <p:nvPr/>
        </p:nvSpPr>
        <p:spPr>
          <a:xfrm>
            <a:off x="4974064" y="2387084"/>
            <a:ext cx="2911374" cy="369332"/>
          </a:xfrm>
          <a:prstGeom prst="rect">
            <a:avLst/>
          </a:prstGeom>
        </p:spPr>
        <p:txBody>
          <a:bodyPr wrap="none">
            <a:spAutoFit/>
          </a:bodyPr>
          <a:lstStyle/>
          <a:p>
            <a:r>
              <a:rPr lang="en-US" dirty="0">
                <a:latin typeface="Times New Roman" pitchFamily="18" charset="0"/>
                <a:cs typeface="Times New Roman" pitchFamily="18" charset="0"/>
              </a:rPr>
              <a:t>= [ (83 + 108 + 74 + 88 + 98</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cxnSp>
        <p:nvCxnSpPr>
          <p:cNvPr id="9" name="Straight Connector 8"/>
          <p:cNvCxnSpPr/>
          <p:nvPr/>
        </p:nvCxnSpPr>
        <p:spPr>
          <a:xfrm>
            <a:off x="5334000" y="2724150"/>
            <a:ext cx="31242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254192" y="2756416"/>
            <a:ext cx="2926827" cy="369332"/>
          </a:xfrm>
          <a:prstGeom prst="rect">
            <a:avLst/>
          </a:prstGeom>
        </p:spPr>
        <p:txBody>
          <a:bodyPr wrap="none">
            <a:spAutoFit/>
          </a:bodyPr>
          <a:lstStyle/>
          <a:p>
            <a:r>
              <a:rPr lang="en-US" dirty="0" smtClean="0">
                <a:latin typeface="Times New Roman" pitchFamily="18" charset="0"/>
                <a:cs typeface="Times New Roman" pitchFamily="18" charset="0"/>
              </a:rPr>
              <a:t>(98 </a:t>
            </a:r>
            <a:r>
              <a:rPr lang="en-US" dirty="0">
                <a:latin typeface="Times New Roman" pitchFamily="18" charset="0"/>
                <a:cs typeface="Times New Roman" pitchFamily="18" charset="0"/>
              </a:rPr>
              <a:t>+ 112 + 101 + 133 + 142)</a:t>
            </a:r>
          </a:p>
        </p:txBody>
      </p:sp>
      <p:sp>
        <p:nvSpPr>
          <p:cNvPr id="20" name="Rectangle 19"/>
          <p:cNvSpPr/>
          <p:nvPr/>
        </p:nvSpPr>
        <p:spPr>
          <a:xfrm>
            <a:off x="5029200" y="3116818"/>
            <a:ext cx="1340432" cy="369332"/>
          </a:xfrm>
          <a:prstGeom prst="rect">
            <a:avLst/>
          </a:prstGeom>
        </p:spPr>
        <p:txBody>
          <a:bodyPr wrap="none">
            <a:spAutoFit/>
          </a:bodyPr>
          <a:lstStyle/>
          <a:p>
            <a:r>
              <a:rPr lang="en-US" dirty="0">
                <a:latin typeface="Times New Roman" pitchFamily="18" charset="0"/>
                <a:cs typeface="Times New Roman" pitchFamily="18" charset="0"/>
              </a:rPr>
              <a:t>= [ 451/586]</a:t>
            </a:r>
          </a:p>
        </p:txBody>
      </p:sp>
      <p:sp>
        <p:nvSpPr>
          <p:cNvPr id="22" name="Rectangle 21"/>
          <p:cNvSpPr/>
          <p:nvPr/>
        </p:nvSpPr>
        <p:spPr>
          <a:xfrm>
            <a:off x="5105400" y="3441701"/>
            <a:ext cx="898003" cy="369332"/>
          </a:xfrm>
          <a:prstGeom prst="rect">
            <a:avLst/>
          </a:prstGeom>
        </p:spPr>
        <p:txBody>
          <a:bodyPr wrap="none">
            <a:spAutoFit/>
          </a:bodyPr>
          <a:lstStyle/>
          <a:p>
            <a:r>
              <a:rPr lang="en-US" dirty="0">
                <a:latin typeface="Times New Roman" pitchFamily="18" charset="0"/>
                <a:cs typeface="Times New Roman" pitchFamily="18" charset="0"/>
              </a:rPr>
              <a:t>= 10/13</a:t>
            </a:r>
          </a:p>
        </p:txBody>
      </p:sp>
      <p:sp>
        <p:nvSpPr>
          <p:cNvPr id="24" name="Rectangle 23"/>
          <p:cNvSpPr/>
          <p:nvPr/>
        </p:nvSpPr>
        <p:spPr>
          <a:xfrm>
            <a:off x="5218133" y="3767100"/>
            <a:ext cx="809837" cy="369332"/>
          </a:xfrm>
          <a:prstGeom prst="rect">
            <a:avLst/>
          </a:prstGeom>
        </p:spPr>
        <p:txBody>
          <a:bodyPr wrap="none">
            <a:spAutoFit/>
          </a:bodyPr>
          <a:lstStyle/>
          <a:p>
            <a:r>
              <a:rPr lang="en-US" b="1" dirty="0" smtClean="0">
                <a:latin typeface="Times New Roman" pitchFamily="18" charset="0"/>
                <a:cs typeface="Times New Roman" pitchFamily="18" charset="0"/>
              </a:rPr>
              <a:t>Ans B</a:t>
            </a:r>
            <a:endParaRPr lang="en-US" b="1" dirty="0">
              <a:latin typeface="Times New Roman" pitchFamily="18" charset="0"/>
              <a:cs typeface="Times New Roman" pitchFamily="18" charset="0"/>
            </a:endParaRPr>
          </a:p>
        </p:txBody>
      </p:sp>
      <p:sp>
        <p:nvSpPr>
          <p:cNvPr id="14" name="Rectangle 13"/>
          <p:cNvSpPr/>
          <p:nvPr/>
        </p:nvSpPr>
        <p:spPr>
          <a:xfrm>
            <a:off x="1524000" y="128885"/>
            <a:ext cx="52369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LINE GRAPH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61258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8" grpId="0"/>
      <p:bldP spid="20" grpId="0"/>
      <p:bldP spid="22" grpId="0"/>
      <p:bldP spid="2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600200" y="128885"/>
            <a:ext cx="51607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PIE CHART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6" name="Rectangle 5"/>
          <p:cNvSpPr/>
          <p:nvPr/>
        </p:nvSpPr>
        <p:spPr>
          <a:xfrm>
            <a:off x="228600" y="540425"/>
            <a:ext cx="86868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pie-charts show the distribution of students of graduate and post-graduate levels in seven different institutes in a town.</a:t>
            </a:r>
          </a:p>
          <a:p>
            <a:r>
              <a:rPr lang="en-US" b="1" dirty="0">
                <a:solidFill>
                  <a:srgbClr val="FF0000"/>
                </a:solidFill>
                <a:latin typeface="Times New Roman" pitchFamily="18" charset="0"/>
                <a:cs typeface="Times New Roman" pitchFamily="18" charset="0"/>
              </a:rPr>
              <a:t>Distribution of students at graduate and post-graduate levels in seven institutes:</a:t>
            </a:r>
          </a:p>
        </p:txBody>
      </p:sp>
      <p:pic>
        <p:nvPicPr>
          <p:cNvPr id="2054" name="Picture 6" descr="https://www.indiabix.com/_files/images/data-interpretation/pie-charts/15-2-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828675"/>
            <a:ext cx="3028950" cy="43338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962400" y="1463755"/>
            <a:ext cx="4572000" cy="1200329"/>
          </a:xfrm>
          <a:prstGeom prst="rect">
            <a:avLst/>
          </a:prstGeom>
        </p:spPr>
        <p:txBody>
          <a:bodyPr>
            <a:spAutoFit/>
          </a:bodyPr>
          <a:lstStyle/>
          <a:p>
            <a:pPr fontAlgn="t"/>
            <a:r>
              <a:rPr lang="en-US" b="1" dirty="0">
                <a:solidFill>
                  <a:srgbClr val="FF0000"/>
                </a:solidFill>
                <a:latin typeface="Times New Roman" pitchFamily="18" charset="0"/>
                <a:cs typeface="Times New Roman" pitchFamily="18" charset="0"/>
              </a:rPr>
              <a:t>What is the total number of graduate and post-graduate level students is institute R?</a:t>
            </a:r>
          </a:p>
          <a:p>
            <a:r>
              <a:rPr lang="en-US" b="1" dirty="0" smtClean="0">
                <a:solidFill>
                  <a:srgbClr val="FF0000"/>
                </a:solidFill>
                <a:latin typeface="Times New Roman" pitchFamily="18" charset="0"/>
                <a:cs typeface="Times New Roman" pitchFamily="18" charset="0"/>
              </a:rPr>
              <a:t>A. 8320		B. 7916</a:t>
            </a:r>
            <a:endParaRPr lang="en-US" b="1" dirty="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C. 9116		D. 8099</a:t>
            </a:r>
            <a:endParaRPr lang="en-US" b="1" dirty="0">
              <a:solidFill>
                <a:srgbClr val="FF0000"/>
              </a:solidFill>
              <a:latin typeface="Times New Roman" pitchFamily="18" charset="0"/>
              <a:cs typeface="Times New Roman" pitchFamily="18" charset="0"/>
            </a:endParaRPr>
          </a:p>
        </p:txBody>
      </p:sp>
      <p:sp>
        <p:nvSpPr>
          <p:cNvPr id="10" name="Rectangle 9"/>
          <p:cNvSpPr/>
          <p:nvPr/>
        </p:nvSpPr>
        <p:spPr>
          <a:xfrm>
            <a:off x="3509048" y="2756416"/>
            <a:ext cx="1943802" cy="369332"/>
          </a:xfrm>
          <a:prstGeom prst="rect">
            <a:avLst/>
          </a:prstGeom>
        </p:spPr>
        <p:txBody>
          <a:bodyPr wrap="none">
            <a:spAutoFit/>
          </a:bodyPr>
          <a:lstStyle/>
          <a:p>
            <a:r>
              <a:rPr lang="en-US" b="1" dirty="0">
                <a:latin typeface="Times New Roman" pitchFamily="18" charset="0"/>
                <a:cs typeface="Times New Roman" pitchFamily="18" charset="0"/>
              </a:rPr>
              <a:t>Required number</a:t>
            </a:r>
          </a:p>
        </p:txBody>
      </p:sp>
      <p:sp>
        <p:nvSpPr>
          <p:cNvPr id="16" name="Rectangle 15"/>
          <p:cNvSpPr/>
          <p:nvPr/>
        </p:nvSpPr>
        <p:spPr>
          <a:xfrm>
            <a:off x="5486400" y="2756416"/>
            <a:ext cx="2491266" cy="646331"/>
          </a:xfrm>
          <a:prstGeom prst="rect">
            <a:avLst/>
          </a:prstGeom>
        </p:spPr>
        <p:txBody>
          <a:bodyPr wrap="square">
            <a:spAutoFit/>
          </a:bodyPr>
          <a:lstStyle/>
          <a:p>
            <a:r>
              <a:rPr lang="en-US" b="1" dirty="0">
                <a:latin typeface="Times New Roman" pitchFamily="18" charset="0"/>
                <a:cs typeface="Times New Roman" pitchFamily="18" charset="0"/>
              </a:rPr>
              <a:t>= (17% of 27300) + (14% of 24700)</a:t>
            </a:r>
          </a:p>
        </p:txBody>
      </p:sp>
      <p:sp>
        <p:nvSpPr>
          <p:cNvPr id="18" name="Rectangle 17"/>
          <p:cNvSpPr/>
          <p:nvPr/>
        </p:nvSpPr>
        <p:spPr>
          <a:xfrm>
            <a:off x="5105400" y="3402747"/>
            <a:ext cx="1540806" cy="369332"/>
          </a:xfrm>
          <a:prstGeom prst="rect">
            <a:avLst/>
          </a:prstGeom>
        </p:spPr>
        <p:txBody>
          <a:bodyPr wrap="none">
            <a:spAutoFit/>
          </a:bodyPr>
          <a:lstStyle/>
          <a:p>
            <a:r>
              <a:rPr lang="en-US" b="1" dirty="0">
                <a:latin typeface="Times New Roman" pitchFamily="18" charset="0"/>
                <a:cs typeface="Times New Roman" pitchFamily="18" charset="0"/>
              </a:rPr>
              <a:t>= 4641 + 3458</a:t>
            </a:r>
          </a:p>
        </p:txBody>
      </p:sp>
      <p:sp>
        <p:nvSpPr>
          <p:cNvPr id="20" name="Rectangle 19"/>
          <p:cNvSpPr/>
          <p:nvPr/>
        </p:nvSpPr>
        <p:spPr>
          <a:xfrm>
            <a:off x="5105400" y="3772079"/>
            <a:ext cx="833883" cy="369332"/>
          </a:xfrm>
          <a:prstGeom prst="rect">
            <a:avLst/>
          </a:prstGeom>
        </p:spPr>
        <p:txBody>
          <a:bodyPr wrap="none">
            <a:spAutoFit/>
          </a:bodyPr>
          <a:lstStyle/>
          <a:p>
            <a:r>
              <a:rPr lang="en-US" b="1" dirty="0">
                <a:latin typeface="Times New Roman" pitchFamily="18" charset="0"/>
                <a:cs typeface="Times New Roman" pitchFamily="18" charset="0"/>
              </a:rPr>
              <a:t>= 8099</a:t>
            </a:r>
          </a:p>
        </p:txBody>
      </p:sp>
    </p:spTree>
    <p:extLst>
      <p:ext uri="{BB962C8B-B14F-4D97-AF65-F5344CB8AC3E}">
        <p14:creationId xmlns:p14="http://schemas.microsoft.com/office/powerpoint/2010/main" val="27472520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600200" y="128885"/>
            <a:ext cx="5160706" cy="461665"/>
          </a:xfrm>
          <a:prstGeom prst="rect">
            <a:avLst/>
          </a:prstGeom>
        </p:spPr>
        <p:txBody>
          <a:bodyPr wrap="square">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2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rPr>
              <a:t>PIE CHART BASED DI Questions</a:t>
            </a:r>
            <a:endParaRPr lang="en-US" sz="2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Times New Roman" pitchFamily="18" charset="0"/>
              <a:cs typeface="Times New Roman" pitchFamily="18" charset="0"/>
            </a:endParaRPr>
          </a:p>
        </p:txBody>
      </p:sp>
      <p:sp>
        <p:nvSpPr>
          <p:cNvPr id="6" name="Rectangle 5"/>
          <p:cNvSpPr/>
          <p:nvPr/>
        </p:nvSpPr>
        <p:spPr>
          <a:xfrm>
            <a:off x="228600" y="540425"/>
            <a:ext cx="86868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The following pie-charts show the distribution of students of graduate and post-graduate levels in seven different institutes in a town.</a:t>
            </a:r>
          </a:p>
          <a:p>
            <a:r>
              <a:rPr lang="en-US" b="1" dirty="0">
                <a:solidFill>
                  <a:srgbClr val="FF0000"/>
                </a:solidFill>
                <a:latin typeface="Times New Roman" pitchFamily="18" charset="0"/>
                <a:cs typeface="Times New Roman" pitchFamily="18" charset="0"/>
              </a:rPr>
              <a:t>Distribution of students at graduate and post-graduate levels in seven institutes:</a:t>
            </a:r>
          </a:p>
        </p:txBody>
      </p:sp>
      <p:pic>
        <p:nvPicPr>
          <p:cNvPr id="2054" name="Picture 6" descr="https://www.indiabix.com/_files/images/data-interpretation/pie-charts/15-2-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828675"/>
            <a:ext cx="3028950" cy="43338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352800" y="1463755"/>
            <a:ext cx="5181600" cy="1477328"/>
          </a:xfrm>
          <a:prstGeom prst="rect">
            <a:avLst/>
          </a:prstGeom>
        </p:spPr>
        <p:txBody>
          <a:bodyPr wrap="square">
            <a:spAutoFit/>
          </a:bodyPr>
          <a:lstStyle/>
          <a:p>
            <a:pPr fontAlgn="t"/>
            <a:r>
              <a:rPr lang="en-US" b="1" dirty="0">
                <a:solidFill>
                  <a:srgbClr val="FF0000"/>
                </a:solidFill>
                <a:latin typeface="Times New Roman" pitchFamily="18" charset="0"/>
                <a:cs typeface="Times New Roman" pitchFamily="18" charset="0"/>
              </a:rPr>
              <a:t>What is the ratio between the number of students studying at post-graduate and graduate levels respectively from institute S?</a:t>
            </a:r>
          </a:p>
          <a:p>
            <a:r>
              <a:rPr lang="en-US" b="1" dirty="0" smtClean="0">
                <a:solidFill>
                  <a:srgbClr val="FF0000"/>
                </a:solidFill>
                <a:latin typeface="Times New Roman" pitchFamily="18" charset="0"/>
                <a:cs typeface="Times New Roman" pitchFamily="18" charset="0"/>
              </a:rPr>
              <a:t>A. 14 </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19	B. 19 </a:t>
            </a:r>
            <a:r>
              <a:rPr lang="en-US" b="1" dirty="0">
                <a:solidFill>
                  <a:srgbClr val="FF0000"/>
                </a:solidFill>
                <a:latin typeface="Times New Roman" pitchFamily="18" charset="0"/>
                <a:cs typeface="Times New Roman" pitchFamily="18" charset="0"/>
              </a:rPr>
              <a:t>: 21</a:t>
            </a:r>
          </a:p>
          <a:p>
            <a:r>
              <a:rPr lang="en-US" b="1" dirty="0" smtClean="0">
                <a:solidFill>
                  <a:srgbClr val="FF0000"/>
                </a:solidFill>
                <a:latin typeface="Times New Roman" pitchFamily="18" charset="0"/>
                <a:cs typeface="Times New Roman" pitchFamily="18" charset="0"/>
              </a:rPr>
              <a:t>C. 17 </a:t>
            </a:r>
            <a:r>
              <a:rPr lang="en-US" b="1" dirty="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21	D.19 </a:t>
            </a:r>
            <a:r>
              <a:rPr lang="en-US" b="1" dirty="0">
                <a:solidFill>
                  <a:srgbClr val="FF0000"/>
                </a:solidFill>
                <a:latin typeface="Times New Roman" pitchFamily="18" charset="0"/>
                <a:cs typeface="Times New Roman" pitchFamily="18" charset="0"/>
              </a:rPr>
              <a:t>: 14</a:t>
            </a:r>
          </a:p>
        </p:txBody>
      </p:sp>
      <p:sp>
        <p:nvSpPr>
          <p:cNvPr id="2" name="Rectangle 1"/>
          <p:cNvSpPr/>
          <p:nvPr/>
        </p:nvSpPr>
        <p:spPr>
          <a:xfrm>
            <a:off x="3556336" y="3333750"/>
            <a:ext cx="2031325" cy="369332"/>
          </a:xfrm>
          <a:prstGeom prst="rect">
            <a:avLst/>
          </a:prstGeom>
        </p:spPr>
        <p:txBody>
          <a:bodyPr wrap="none">
            <a:spAutoFit/>
          </a:bodyPr>
          <a:lstStyle/>
          <a:p>
            <a:r>
              <a:rPr lang="en-US" dirty="0"/>
              <a:t>Required ratio =</a:t>
            </a:r>
          </a:p>
        </p:txBody>
      </p:sp>
      <p:sp>
        <p:nvSpPr>
          <p:cNvPr id="3" name="Rectangle 2"/>
          <p:cNvSpPr/>
          <p:nvPr/>
        </p:nvSpPr>
        <p:spPr>
          <a:xfrm>
            <a:off x="5587661" y="3124200"/>
            <a:ext cx="1733167" cy="369332"/>
          </a:xfrm>
          <a:prstGeom prst="rect">
            <a:avLst/>
          </a:prstGeom>
        </p:spPr>
        <p:txBody>
          <a:bodyPr wrap="none">
            <a:spAutoFit/>
          </a:bodyPr>
          <a:lstStyle/>
          <a:p>
            <a:r>
              <a:rPr lang="en-US" dirty="0"/>
              <a:t>21% of 24700</a:t>
            </a:r>
          </a:p>
        </p:txBody>
      </p:sp>
      <p:cxnSp>
        <p:nvCxnSpPr>
          <p:cNvPr id="5" name="Straight Connector 4"/>
          <p:cNvCxnSpPr/>
          <p:nvPr/>
        </p:nvCxnSpPr>
        <p:spPr>
          <a:xfrm>
            <a:off x="5715000" y="3493532"/>
            <a:ext cx="1605828" cy="0"/>
          </a:xfrm>
          <a:prstGeom prst="line">
            <a:avLst/>
          </a:prstGeom>
          <a:ln/>
        </p:spPr>
        <p:style>
          <a:lnRef idx="1">
            <a:schemeClr val="dk1"/>
          </a:lnRef>
          <a:fillRef idx="0">
            <a:schemeClr val="dk1"/>
          </a:fillRef>
          <a:effectRef idx="0">
            <a:schemeClr val="dk1"/>
          </a:effectRef>
          <a:fontRef idx="minor">
            <a:schemeClr val="tx1"/>
          </a:fontRef>
        </p:style>
      </p:cxnSp>
      <p:sp>
        <p:nvSpPr>
          <p:cNvPr id="8" name="Rectangle 7"/>
          <p:cNvSpPr/>
          <p:nvPr/>
        </p:nvSpPr>
        <p:spPr>
          <a:xfrm>
            <a:off x="5463983" y="3532148"/>
            <a:ext cx="1733167" cy="369332"/>
          </a:xfrm>
          <a:prstGeom prst="rect">
            <a:avLst/>
          </a:prstGeom>
        </p:spPr>
        <p:txBody>
          <a:bodyPr wrap="none">
            <a:spAutoFit/>
          </a:bodyPr>
          <a:lstStyle/>
          <a:p>
            <a:r>
              <a:rPr lang="en-US" dirty="0"/>
              <a:t>14% of 27300</a:t>
            </a:r>
          </a:p>
        </p:txBody>
      </p:sp>
      <p:sp>
        <p:nvSpPr>
          <p:cNvPr id="22" name="Rectangle 21"/>
          <p:cNvSpPr/>
          <p:nvPr/>
        </p:nvSpPr>
        <p:spPr>
          <a:xfrm>
            <a:off x="5103710" y="4061420"/>
            <a:ext cx="441146" cy="369332"/>
          </a:xfrm>
          <a:prstGeom prst="rect">
            <a:avLst/>
          </a:prstGeom>
        </p:spPr>
        <p:txBody>
          <a:bodyPr wrap="none">
            <a:spAutoFit/>
          </a:bodyPr>
          <a:lstStyle/>
          <a:p>
            <a:r>
              <a:rPr lang="en-US" dirty="0" smtClean="0"/>
              <a:t> </a:t>
            </a:r>
            <a:r>
              <a:rPr lang="en-US" dirty="0"/>
              <a:t>=</a:t>
            </a:r>
          </a:p>
        </p:txBody>
      </p:sp>
      <p:sp>
        <p:nvSpPr>
          <p:cNvPr id="23" name="Rectangle 22"/>
          <p:cNvSpPr/>
          <p:nvPr/>
        </p:nvSpPr>
        <p:spPr>
          <a:xfrm>
            <a:off x="5744680" y="3905250"/>
            <a:ext cx="1494320" cy="369332"/>
          </a:xfrm>
          <a:prstGeom prst="rect">
            <a:avLst/>
          </a:prstGeom>
        </p:spPr>
        <p:txBody>
          <a:bodyPr wrap="none">
            <a:spAutoFit/>
          </a:bodyPr>
          <a:lstStyle/>
          <a:p>
            <a:r>
              <a:rPr lang="en-US" dirty="0" smtClean="0"/>
              <a:t>21</a:t>
            </a:r>
            <a:r>
              <a:rPr lang="en-US" dirty="0"/>
              <a:t> x</a:t>
            </a:r>
            <a:r>
              <a:rPr lang="en-US" dirty="0" smtClean="0"/>
              <a:t> </a:t>
            </a:r>
            <a:r>
              <a:rPr lang="en-US" dirty="0"/>
              <a:t>24700</a:t>
            </a:r>
          </a:p>
        </p:txBody>
      </p:sp>
      <p:cxnSp>
        <p:nvCxnSpPr>
          <p:cNvPr id="24" name="Straight Connector 23"/>
          <p:cNvCxnSpPr/>
          <p:nvPr/>
        </p:nvCxnSpPr>
        <p:spPr>
          <a:xfrm>
            <a:off x="5816264" y="4221202"/>
            <a:ext cx="1605828" cy="0"/>
          </a:xfrm>
          <a:prstGeom prst="line">
            <a:avLst/>
          </a:prstGeom>
          <a:ln/>
        </p:spPr>
        <p:style>
          <a:lnRef idx="1">
            <a:schemeClr val="dk1"/>
          </a:lnRef>
          <a:fillRef idx="0">
            <a:schemeClr val="dk1"/>
          </a:fillRef>
          <a:effectRef idx="0">
            <a:schemeClr val="dk1"/>
          </a:effectRef>
          <a:fontRef idx="minor">
            <a:schemeClr val="tx1"/>
          </a:fontRef>
        </p:style>
      </p:cxnSp>
      <p:sp>
        <p:nvSpPr>
          <p:cNvPr id="25" name="Rectangle 24"/>
          <p:cNvSpPr/>
          <p:nvPr/>
        </p:nvSpPr>
        <p:spPr>
          <a:xfrm>
            <a:off x="5767514" y="4259818"/>
            <a:ext cx="1494320" cy="369332"/>
          </a:xfrm>
          <a:prstGeom prst="rect">
            <a:avLst/>
          </a:prstGeom>
        </p:spPr>
        <p:txBody>
          <a:bodyPr wrap="none">
            <a:spAutoFit/>
          </a:bodyPr>
          <a:lstStyle/>
          <a:p>
            <a:r>
              <a:rPr lang="en-US" dirty="0" smtClean="0"/>
              <a:t>14</a:t>
            </a:r>
            <a:r>
              <a:rPr lang="en-US" dirty="0"/>
              <a:t> </a:t>
            </a:r>
            <a:r>
              <a:rPr lang="en-US" dirty="0" smtClean="0"/>
              <a:t>x 27300</a:t>
            </a:r>
            <a:endParaRPr lang="en-US" dirty="0"/>
          </a:p>
        </p:txBody>
      </p:sp>
      <p:sp>
        <p:nvSpPr>
          <p:cNvPr id="26" name="Rectangle 25"/>
          <p:cNvSpPr/>
          <p:nvPr/>
        </p:nvSpPr>
        <p:spPr>
          <a:xfrm>
            <a:off x="7391400" y="4061420"/>
            <a:ext cx="441146" cy="369332"/>
          </a:xfrm>
          <a:prstGeom prst="rect">
            <a:avLst/>
          </a:prstGeom>
        </p:spPr>
        <p:txBody>
          <a:bodyPr wrap="none">
            <a:spAutoFit/>
          </a:bodyPr>
          <a:lstStyle/>
          <a:p>
            <a:r>
              <a:rPr lang="en-US" dirty="0" smtClean="0"/>
              <a:t> </a:t>
            </a:r>
            <a:r>
              <a:rPr lang="en-US" dirty="0"/>
              <a:t>=</a:t>
            </a:r>
          </a:p>
        </p:txBody>
      </p:sp>
      <p:sp>
        <p:nvSpPr>
          <p:cNvPr id="27" name="Rectangle 26"/>
          <p:cNvSpPr/>
          <p:nvPr/>
        </p:nvSpPr>
        <p:spPr>
          <a:xfrm>
            <a:off x="7976615" y="3851870"/>
            <a:ext cx="476412" cy="369332"/>
          </a:xfrm>
          <a:prstGeom prst="rect">
            <a:avLst/>
          </a:prstGeom>
        </p:spPr>
        <p:txBody>
          <a:bodyPr wrap="none">
            <a:spAutoFit/>
          </a:bodyPr>
          <a:lstStyle/>
          <a:p>
            <a:r>
              <a:rPr lang="en-US" dirty="0" smtClean="0"/>
              <a:t>19</a:t>
            </a:r>
            <a:endParaRPr lang="en-US" dirty="0"/>
          </a:p>
        </p:txBody>
      </p:sp>
      <p:cxnSp>
        <p:nvCxnSpPr>
          <p:cNvPr id="28" name="Straight Connector 27"/>
          <p:cNvCxnSpPr/>
          <p:nvPr/>
        </p:nvCxnSpPr>
        <p:spPr>
          <a:xfrm>
            <a:off x="8103954" y="4221202"/>
            <a:ext cx="349073" cy="0"/>
          </a:xfrm>
          <a:prstGeom prst="line">
            <a:avLst/>
          </a:prstGeom>
          <a:ln/>
        </p:spPr>
        <p:style>
          <a:lnRef idx="1">
            <a:schemeClr val="dk1"/>
          </a:lnRef>
          <a:fillRef idx="0">
            <a:schemeClr val="dk1"/>
          </a:fillRef>
          <a:effectRef idx="0">
            <a:schemeClr val="dk1"/>
          </a:effectRef>
          <a:fontRef idx="minor">
            <a:schemeClr val="tx1"/>
          </a:fontRef>
        </p:style>
      </p:cxnSp>
      <p:sp>
        <p:nvSpPr>
          <p:cNvPr id="29" name="Rectangle 28"/>
          <p:cNvSpPr/>
          <p:nvPr/>
        </p:nvSpPr>
        <p:spPr>
          <a:xfrm>
            <a:off x="7961836" y="4221202"/>
            <a:ext cx="476412" cy="369332"/>
          </a:xfrm>
          <a:prstGeom prst="rect">
            <a:avLst/>
          </a:prstGeom>
        </p:spPr>
        <p:txBody>
          <a:bodyPr wrap="none">
            <a:spAutoFit/>
          </a:bodyPr>
          <a:lstStyle/>
          <a:p>
            <a:r>
              <a:rPr lang="en-US" dirty="0" smtClean="0"/>
              <a:t>14</a:t>
            </a:r>
            <a:endParaRPr lang="en-US" dirty="0"/>
          </a:p>
        </p:txBody>
      </p:sp>
    </p:spTree>
    <p:extLst>
      <p:ext uri="{BB962C8B-B14F-4D97-AF65-F5344CB8AC3E}">
        <p14:creationId xmlns:p14="http://schemas.microsoft.com/office/powerpoint/2010/main" val="1528598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left)">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22" grpId="0"/>
      <p:bldP spid="23" grpId="0"/>
      <p:bldP spid="25" grpId="0"/>
      <p:bldP spid="26" grpId="0"/>
      <p:bldP spid="27" grpId="0"/>
      <p:bldP spid="2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1873" y="1276350"/>
            <a:ext cx="6800260" cy="144655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8800" b="1" cap="all" spc="0" dirty="0" smtClean="0">
                <a:ln w="0"/>
                <a:solidFill>
                  <a:srgbClr val="002060"/>
                </a:solidFill>
                <a:effectLst>
                  <a:reflection blurRad="12700" stA="50000" endPos="50000" dist="5000" dir="5400000" sy="-100000" rotWithShape="0"/>
                </a:effectLst>
              </a:rPr>
              <a:t>THANK YOU</a:t>
            </a:r>
            <a:endParaRPr lang="en-US" sz="8800" b="1" cap="all" spc="0" dirty="0">
              <a:ln w="0"/>
              <a:solidFill>
                <a:srgbClr val="002060"/>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815556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1321</TotalTime>
  <Words>3877</Words>
  <Application>Microsoft Office PowerPoint</Application>
  <PresentationFormat>On-screen Show (16:9)</PresentationFormat>
  <Paragraphs>464</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Concourse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Lokesh</dc:creator>
  <cp:lastModifiedBy>naveen</cp:lastModifiedBy>
  <cp:revision>289</cp:revision>
  <dcterms:created xsi:type="dcterms:W3CDTF">2006-08-16T00:00:00Z</dcterms:created>
  <dcterms:modified xsi:type="dcterms:W3CDTF">2025-07-05T10:59:49Z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0A18FFB72AF74BFE9AEE2AD93839B004</vt:lpwstr>
  </property>
  <property fmtid="{D5CDD505-2E9C-101B-9397-08002B2CF9AE}" pid="3" name="KSOProductBuildVer">
    <vt:lpwstr>1033-11.2.0.11537</vt:lpwstr>
  </property>
</Properties>
</file>