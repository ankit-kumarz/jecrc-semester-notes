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499" r:id="rId2"/>
    <p:sldId id="339" r:id="rId3"/>
    <p:sldId id="422" r:id="rId4"/>
    <p:sldId id="442" r:id="rId5"/>
    <p:sldId id="469" r:id="rId6"/>
    <p:sldId id="470" r:id="rId7"/>
    <p:sldId id="513" r:id="rId8"/>
    <p:sldId id="444" r:id="rId9"/>
    <p:sldId id="471" r:id="rId10"/>
    <p:sldId id="514" r:id="rId11"/>
    <p:sldId id="472" r:id="rId12"/>
    <p:sldId id="473" r:id="rId13"/>
    <p:sldId id="474" r:id="rId14"/>
    <p:sldId id="475" r:id="rId15"/>
    <p:sldId id="476" r:id="rId16"/>
    <p:sldId id="477" r:id="rId17"/>
    <p:sldId id="478" r:id="rId18"/>
    <p:sldId id="532" r:id="rId19"/>
    <p:sldId id="533" r:id="rId20"/>
    <p:sldId id="479" r:id="rId21"/>
    <p:sldId id="480" r:id="rId22"/>
    <p:sldId id="481" r:id="rId23"/>
    <p:sldId id="495" r:id="rId24"/>
    <p:sldId id="515" r:id="rId25"/>
    <p:sldId id="522" r:id="rId26"/>
    <p:sldId id="523" r:id="rId27"/>
    <p:sldId id="516" r:id="rId28"/>
    <p:sldId id="517" r:id="rId29"/>
    <p:sldId id="518" r:id="rId30"/>
    <p:sldId id="519" r:id="rId31"/>
    <p:sldId id="520" r:id="rId32"/>
    <p:sldId id="521" r:id="rId33"/>
    <p:sldId id="524" r:id="rId34"/>
    <p:sldId id="525" r:id="rId35"/>
    <p:sldId id="526" r:id="rId36"/>
    <p:sldId id="527" r:id="rId37"/>
    <p:sldId id="528" r:id="rId38"/>
    <p:sldId id="529" r:id="rId39"/>
    <p:sldId id="530" r:id="rId40"/>
    <p:sldId id="482" r:id="rId41"/>
    <p:sldId id="483" r:id="rId42"/>
    <p:sldId id="485" r:id="rId43"/>
    <p:sldId id="486" r:id="rId44"/>
    <p:sldId id="487" r:id="rId45"/>
    <p:sldId id="488" r:id="rId46"/>
    <p:sldId id="489" r:id="rId47"/>
    <p:sldId id="490" r:id="rId48"/>
    <p:sldId id="492" r:id="rId49"/>
    <p:sldId id="493" r:id="rId50"/>
    <p:sldId id="494" r:id="rId51"/>
    <p:sldId id="496" r:id="rId52"/>
    <p:sldId id="497" r:id="rId53"/>
    <p:sldId id="304" r:id="rId5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4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D7663-6794-40E7-83DF-6FA4F790FF98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F218E-6EB0-4981-ADB4-05E399C2A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7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/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/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/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7176" y="825500"/>
            <a:ext cx="336502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Permutation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&amp;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Combination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568818" y="3409950"/>
            <a:ext cx="3270382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By:-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Naveen Kumar Jain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(Aptitude Trainer)</a:t>
            </a: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06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1793" y="128885"/>
            <a:ext cx="4255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635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FACTORIAL OF A NUMBER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95400" y="888245"/>
            <a:ext cx="609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latin typeface="Times New Roman" pitchFamily="18" charset="0"/>
                <a:cs typeface="Times New Roman" pitchFamily="18" charset="0"/>
              </a:rPr>
              <a:t>n! </a:t>
            </a:r>
            <a:endParaRPr lang="pt-BR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0392" y="545008"/>
            <a:ext cx="2964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smtClean="0">
                <a:latin typeface="Times New Roman" pitchFamily="18" charset="0"/>
                <a:cs typeface="Times New Roman" pitchFamily="18" charset="0"/>
              </a:rPr>
              <a:t>Let </a:t>
            </a:r>
            <a:r>
              <a:rPr lang="pt-B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dirty="0" smtClean="0">
                <a:latin typeface="Times New Roman" pitchFamily="18" charset="0"/>
                <a:cs typeface="Times New Roman" pitchFamily="18" charset="0"/>
              </a:rPr>
              <a:t> be a positive integer.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30600" y="583445"/>
            <a:ext cx="50673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Then, factorial </a:t>
            </a:r>
            <a:r>
              <a:rPr lang="pt-BR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, denoted </a:t>
            </a:r>
            <a:r>
              <a:rPr lang="pt-BR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! is defined as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52600" y="971550"/>
            <a:ext cx="3434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latin typeface="Times New Roman" pitchFamily="18" charset="0"/>
                <a:cs typeface="Times New Roman" pitchFamily="18" charset="0"/>
              </a:rPr>
              <a:t>=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2057400" y="933450"/>
            <a:ext cx="3850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 smtClean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2311400" y="945118"/>
            <a:ext cx="1309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 smtClean="0">
                <a:latin typeface="Times New Roman" pitchFamily="18" charset="0"/>
                <a:cs typeface="Times New Roman" pitchFamily="18" charset="0"/>
              </a:rPr>
              <a:t>×(</a:t>
            </a:r>
            <a:r>
              <a:rPr lang="pt-BR" sz="2800" b="1" dirty="0">
                <a:latin typeface="Times New Roman" pitchFamily="18" charset="0"/>
                <a:cs typeface="Times New Roman" pitchFamily="18" charset="0"/>
              </a:rPr>
              <a:t>n - 1</a:t>
            </a:r>
            <a:r>
              <a:rPr lang="pt-BR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/>
          </a:p>
        </p:txBody>
      </p:sp>
      <p:sp>
        <p:nvSpPr>
          <p:cNvPr id="18" name="Rectangle 17"/>
          <p:cNvSpPr/>
          <p:nvPr/>
        </p:nvSpPr>
        <p:spPr>
          <a:xfrm>
            <a:off x="3429000" y="972283"/>
            <a:ext cx="1309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pt-BR" sz="28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2800" b="1" dirty="0">
                <a:latin typeface="Times New Roman" pitchFamily="18" charset="0"/>
                <a:cs typeface="Times New Roman" pitchFamily="18" charset="0"/>
              </a:rPr>
              <a:t>n - 2</a:t>
            </a:r>
            <a:r>
              <a:rPr lang="pt-BR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/>
          </a:p>
        </p:txBody>
      </p:sp>
      <p:sp>
        <p:nvSpPr>
          <p:cNvPr id="19" name="Rectangle 18"/>
          <p:cNvSpPr/>
          <p:nvPr/>
        </p:nvSpPr>
        <p:spPr>
          <a:xfrm>
            <a:off x="4419600" y="983555"/>
            <a:ext cx="17876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>
                <a:latin typeface="Times New Roman" pitchFamily="18" charset="0"/>
                <a:cs typeface="Times New Roman" pitchFamily="18" charset="0"/>
              </a:rPr>
              <a:t> ... ×</a:t>
            </a:r>
            <a:r>
              <a:rPr lang="pt-BR" sz="2800" b="1" dirty="0" smtClean="0">
                <a:latin typeface="Times New Roman" pitchFamily="18" charset="0"/>
                <a:cs typeface="Times New Roman" pitchFamily="18" charset="0"/>
              </a:rPr>
              <a:t>3×2</a:t>
            </a:r>
            <a:r>
              <a:rPr lang="pt-BR" sz="2800" b="1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pt-BR" sz="28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800" dirty="0"/>
          </a:p>
        </p:txBody>
      </p:sp>
      <p:sp>
        <p:nvSpPr>
          <p:cNvPr id="20" name="Rectangle 19"/>
          <p:cNvSpPr/>
          <p:nvPr/>
        </p:nvSpPr>
        <p:spPr>
          <a:xfrm>
            <a:off x="847842" y="1276350"/>
            <a:ext cx="518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1!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91999" y="1289050"/>
            <a:ext cx="590226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=1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8200" y="1732518"/>
            <a:ext cx="518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!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339564" y="1745218"/>
            <a:ext cx="918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=2</a:t>
            </a:r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1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91999" y="1746250"/>
            <a:ext cx="590226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=2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8200" y="2190750"/>
            <a:ext cx="518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!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339564" y="2203450"/>
            <a:ext cx="1247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=3×2×1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520853" y="2190750"/>
            <a:ext cx="513282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=6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8200" y="2646918"/>
            <a:ext cx="518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4!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39564" y="2659618"/>
            <a:ext cx="1576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=4×3×2×1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505200" y="2646918"/>
            <a:ext cx="66717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=24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42112" y="3180318"/>
            <a:ext cx="518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!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343476" y="3193018"/>
            <a:ext cx="19046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=5×4×3×2×1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505200" y="3180318"/>
            <a:ext cx="821059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=120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8200" y="3713718"/>
            <a:ext cx="518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!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339564" y="3726418"/>
            <a:ext cx="22333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=6×5×4×3×2×1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520853" y="3713718"/>
            <a:ext cx="821059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=720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4400" y="4247118"/>
            <a:ext cx="518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!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415764" y="4259818"/>
            <a:ext cx="220445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200" b="1" dirty="0" smtClean="0">
                <a:latin typeface="Times New Roman" pitchFamily="18" charset="0"/>
                <a:cs typeface="Times New Roman" pitchFamily="18" charset="0"/>
              </a:rPr>
              <a:t>=7×6×54×3×2×1 </a:t>
            </a:r>
            <a:endParaRPr lang="pt-BR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517900" y="4247118"/>
            <a:ext cx="974947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=5040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146438" y="1303515"/>
            <a:ext cx="692818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=0! </a:t>
            </a:r>
            <a:endParaRPr lang="pt-B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876800" y="2038350"/>
            <a:ext cx="93807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Note:-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51682" y="2383999"/>
            <a:ext cx="377134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 smtClean="0">
                <a:latin typeface="Times New Roman" pitchFamily="18" charset="0"/>
                <a:cs typeface="Times New Roman" pitchFamily="18" charset="0"/>
              </a:rPr>
              <a:t>Factorial of number is defined only for </a:t>
            </a:r>
            <a:r>
              <a:rPr lang="pt-BR" sz="2200" b="1" dirty="0" smtClean="0">
                <a:latin typeface="Times New Roman" pitchFamily="18" charset="0"/>
                <a:cs typeface="Times New Roman" pitchFamily="18" charset="0"/>
              </a:rPr>
              <a:t>Non negative integres.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/>
      <p:bldP spid="11" grpId="0"/>
      <p:bldP spid="16" grpId="0"/>
      <p:bldP spid="17" grpId="0"/>
      <p:bldP spid="18" grpId="0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24826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PERMUTATION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656690"/>
            <a:ext cx="845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different arrangements of a given number of things by taking some or all at a time, are called permutations.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89100" y="656174"/>
            <a:ext cx="1707519" cy="40011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arrangements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304800" y="1333440"/>
            <a:ext cx="3905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permutation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order matters.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733550"/>
            <a:ext cx="8153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Number of all permutations of 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things, taken 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at a time, is given by: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2086005"/>
            <a:ext cx="2971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(Formula of permutation)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40128" y="2432050"/>
            <a:ext cx="577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baseline="30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pt-BR" sz="2400" b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44928" y="2432050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20685" y="2228850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207500" y="2662883"/>
            <a:ext cx="680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75858" y="2584450"/>
            <a:ext cx="1040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t"/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- 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64128" y="2432050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30828" y="2402185"/>
            <a:ext cx="35509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- 1)(</a:t>
            </a:r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- 2) ... (</a:t>
            </a:r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- </a:t>
            </a:r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+ 1)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724150"/>
            <a:ext cx="15163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69848" y="3093482"/>
            <a:ext cx="60144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998272" y="3093482"/>
                <a:ext cx="154099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/>
                          <a:cs typeface="Times New Roman" pitchFamily="18" charset="0"/>
                        </a:rPr>
                        <m:t>= (7 </m:t>
                      </m:r>
                      <m:r>
                        <a:rPr lang="en-US" sz="2200" i="1" dirty="0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×</m:t>
                      </m:r>
                      <m:r>
                        <a:rPr lang="en-US" sz="2200" i="1" dirty="0" smtClean="0">
                          <a:latin typeface="Cambria Math"/>
                          <a:cs typeface="Times New Roman" pitchFamily="18" charset="0"/>
                        </a:rPr>
                        <m:t>6)</m:t>
                      </m:r>
                    </m:oMath>
                  </m:oMathPara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72" y="3093482"/>
                <a:ext cx="1540999" cy="430887"/>
              </a:xfrm>
              <a:prstGeom prst="rect">
                <a:avLst/>
              </a:prstGeom>
              <a:blipFill rotWithShape="1">
                <a:blip r:embed="rId3"/>
                <a:stretch>
                  <a:fillRect t="-8451" r="-7115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3363641" y="3108689"/>
            <a:ext cx="6960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42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4872" y="3392785"/>
            <a:ext cx="68903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007790" y="3392785"/>
                <a:ext cx="2522422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/>
                          <a:cs typeface="Times New Roman" pitchFamily="18" charset="0"/>
                        </a:rPr>
                        <m:t>= (11 </m:t>
                      </m:r>
                      <m:r>
                        <a:rPr lang="en-US" sz="2200" i="1" dirty="0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×</m:t>
                      </m:r>
                      <m:r>
                        <a:rPr lang="en-US" sz="2200" i="1" dirty="0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a:rPr lang="en-US" sz="2200" i="1" dirty="0" smtClean="0">
                          <a:latin typeface="Cambria Math"/>
                          <a:cs typeface="Times New Roman" pitchFamily="18" charset="0"/>
                        </a:rPr>
                        <m:t>10</m:t>
                      </m:r>
                      <m:r>
                        <a:rPr lang="en-US" sz="2200" i="1" dirty="0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a:rPr lang="en-US" sz="2200" i="1" dirty="0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×</m:t>
                      </m:r>
                      <m:r>
                        <a:rPr lang="en-US" sz="2200" i="1" dirty="0">
                          <a:latin typeface="Cambria Math"/>
                          <a:cs typeface="Times New Roman" pitchFamily="18" charset="0"/>
                        </a:rPr>
                        <m:t> 9</m:t>
                      </m:r>
                      <m:r>
                        <a:rPr lang="en-US" sz="2200" i="1" dirty="0" smtClean="0">
                          <a:latin typeface="Cambria Math"/>
                          <a:cs typeface="Times New Roman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90" y="3392785"/>
                <a:ext cx="2522422" cy="430887"/>
              </a:xfrm>
              <a:prstGeom prst="rect">
                <a:avLst/>
              </a:prstGeom>
              <a:blipFill rotWithShape="1">
                <a:blip r:embed="rId4"/>
                <a:stretch>
                  <a:fillRect t="-8571" r="-4348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3352800" y="3425682"/>
            <a:ext cx="83708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990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26053" y="3760628"/>
            <a:ext cx="60144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094107" y="3749491"/>
                <a:ext cx="2314608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/>
                        <a:cs typeface="Times New Roman" pitchFamily="18" charset="0"/>
                      </a:rPr>
                      <m:t>8</m:t>
                    </m:r>
                    <m:r>
                      <a:rPr lang="en-US" sz="2200" i="1" dirty="0" smtClean="0"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2200" b="0" i="1" dirty="0" smtClean="0">
                        <a:latin typeface="Cambria Math"/>
                        <a:ea typeface="Cambria Math"/>
                        <a:cs typeface="Times New Roman" pitchFamily="18" charset="0"/>
                      </a:rPr>
                      <m:t>7</m:t>
                    </m:r>
                    <m:r>
                      <a:rPr lang="en-US" sz="2200" i="1" dirty="0" smtClean="0"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2200" b="0" i="1" dirty="0" smtClean="0">
                        <a:latin typeface="Cambria Math"/>
                        <a:cs typeface="Times New Roman" pitchFamily="18" charset="0"/>
                      </a:rPr>
                      <m:t>6</m:t>
                    </m:r>
                    <m:r>
                      <a:rPr lang="en-US" sz="2200" i="1" dirty="0">
                        <a:latin typeface="Cambria Math"/>
                        <a:cs typeface="Times New Roman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2200" b="0" i="1" dirty="0" smtClean="0">
                        <a:latin typeface="Cambria Math"/>
                        <a:cs typeface="Times New Roman" pitchFamily="18" charset="0"/>
                      </a:rPr>
                      <m:t>5</m:t>
                    </m:r>
                    <m:r>
                      <a:rPr lang="en-US" sz="2200" i="1" dirty="0" smtClean="0">
                        <a:latin typeface="Cambria Math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07" y="3749491"/>
                <a:ext cx="2314608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3158" t="-8451" r="-578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3352800" y="3748481"/>
            <a:ext cx="97815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1680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89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27" grpId="0"/>
      <p:bldP spid="14" grpId="0"/>
      <p:bldP spid="15" grpId="0"/>
      <p:bldP spid="17" grpId="0"/>
      <p:bldP spid="21" grpId="0"/>
      <p:bldP spid="28" grpId="0"/>
      <p:bldP spid="29" grpId="0"/>
      <p:bldP spid="31" grpId="0"/>
      <p:bldP spid="32" grpId="0"/>
      <p:bldP spid="33" grpId="0"/>
      <p:bldP spid="37" grpId="0"/>
      <p:bldP spid="39" grpId="0"/>
      <p:bldP spid="40" grpId="0"/>
      <p:bldP spid="41" grpId="0"/>
      <p:bldP spid="23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1210" y="128885"/>
            <a:ext cx="33423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Important Result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666750"/>
            <a:ext cx="822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Permutation </a:t>
            </a:r>
            <a:r>
              <a:rPr lang="en-US" sz="2000" b="1" dirty="0"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of n different objects. The number of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permutations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n objects taken all at a time, denoted by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symbol </a:t>
            </a:r>
            <a:r>
              <a:rPr lang="en-US" sz="20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is given by n!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971800" y="1342886"/>
            <a:ext cx="762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OR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1657350"/>
            <a:ext cx="7086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umber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of all permutations of 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 things, taken all at a time = 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!.</a:t>
            </a:r>
          </a:p>
        </p:txBody>
      </p:sp>
      <p:sp>
        <p:nvSpPr>
          <p:cNvPr id="3" name="Rectangle 2"/>
          <p:cNvSpPr/>
          <p:nvPr/>
        </p:nvSpPr>
        <p:spPr>
          <a:xfrm>
            <a:off x="279400" y="2038350"/>
            <a:ext cx="838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Example:- 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Using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 the letters of the word "NOKIA", how many words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 formed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71600" y="2756416"/>
            <a:ext cx="4419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Here,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total number of alphabets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sz="2000" b="1" dirty="0"/>
          </a:p>
        </p:txBody>
      </p:sp>
      <p:sp>
        <p:nvSpPr>
          <p:cNvPr id="13" name="Rectangle 12"/>
          <p:cNvSpPr/>
          <p:nvPr/>
        </p:nvSpPr>
        <p:spPr>
          <a:xfrm>
            <a:off x="254000" y="2756416"/>
            <a:ext cx="13292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Solution:- </a:t>
            </a:r>
            <a:endParaRPr lang="en-US" sz="2000" dirty="0"/>
          </a:p>
        </p:txBody>
      </p:sp>
      <p:sp>
        <p:nvSpPr>
          <p:cNvPr id="30" name="Rectangle 29"/>
          <p:cNvSpPr/>
          <p:nvPr/>
        </p:nvSpPr>
        <p:spPr>
          <a:xfrm>
            <a:off x="1458300" y="3108871"/>
            <a:ext cx="4180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number of all possible words are </a:t>
            </a:r>
            <a:endParaRPr lang="en-US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5774334" y="310515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5!</a:t>
            </a:r>
            <a:endParaRPr lang="en-US" sz="2000" b="1" dirty="0"/>
          </a:p>
        </p:txBody>
      </p:sp>
      <p:sp>
        <p:nvSpPr>
          <p:cNvPr id="31" name="Rectangle 30"/>
          <p:cNvSpPr/>
          <p:nvPr/>
        </p:nvSpPr>
        <p:spPr>
          <a:xfrm>
            <a:off x="6019800" y="3105150"/>
            <a:ext cx="7152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=120</a:t>
            </a:r>
            <a:endParaRPr lang="en-US" sz="2000" b="1" dirty="0"/>
          </a:p>
        </p:txBody>
      </p:sp>
      <p:sp>
        <p:nvSpPr>
          <p:cNvPr id="32" name="Rectangle 31"/>
          <p:cNvSpPr/>
          <p:nvPr/>
        </p:nvSpPr>
        <p:spPr>
          <a:xfrm>
            <a:off x="254000" y="3333750"/>
            <a:ext cx="8737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:-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Using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 the letters of the word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“UPGRAD",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many words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 formed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346200" y="4051816"/>
            <a:ext cx="4419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Here,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total number of alphabets are 6</a:t>
            </a:r>
            <a:endParaRPr lang="en-US" sz="2000" b="1" dirty="0"/>
          </a:p>
        </p:txBody>
      </p:sp>
      <p:sp>
        <p:nvSpPr>
          <p:cNvPr id="34" name="Rectangle 33"/>
          <p:cNvSpPr/>
          <p:nvPr/>
        </p:nvSpPr>
        <p:spPr>
          <a:xfrm>
            <a:off x="228600" y="4051816"/>
            <a:ext cx="13292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Solution:- </a:t>
            </a:r>
            <a:endParaRPr lang="en-US" sz="2000" dirty="0"/>
          </a:p>
        </p:txBody>
      </p:sp>
      <p:sp>
        <p:nvSpPr>
          <p:cNvPr id="35" name="Rectangle 34"/>
          <p:cNvSpPr/>
          <p:nvPr/>
        </p:nvSpPr>
        <p:spPr>
          <a:xfrm>
            <a:off x="1432900" y="4404271"/>
            <a:ext cx="4180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number of all possible words are </a:t>
            </a:r>
            <a:endParaRPr lang="en-US" sz="2000" b="1" dirty="0"/>
          </a:p>
        </p:txBody>
      </p:sp>
      <p:sp>
        <p:nvSpPr>
          <p:cNvPr id="36" name="Rectangle 35"/>
          <p:cNvSpPr/>
          <p:nvPr/>
        </p:nvSpPr>
        <p:spPr>
          <a:xfrm>
            <a:off x="5486400" y="4411702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37" name="Rectangle 36"/>
          <p:cNvSpPr/>
          <p:nvPr/>
        </p:nvSpPr>
        <p:spPr>
          <a:xfrm>
            <a:off x="5786482" y="4400550"/>
            <a:ext cx="7152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=720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0401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3" grpId="0"/>
      <p:bldP spid="29" grpId="0"/>
      <p:bldP spid="13" grpId="0"/>
      <p:bldP spid="30" grpId="0"/>
      <p:bldP spid="14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1210" y="128885"/>
            <a:ext cx="33423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Important Result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666750"/>
            <a:ext cx="822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Number of permutations of n things out of which p are alike of one type, q are alike of second type and r are alike of third type and rest all are different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166557" y="1373485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3053372" y="1807518"/>
            <a:ext cx="8473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819400" y="1729085"/>
            <a:ext cx="518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t"/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!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36900" y="1748135"/>
            <a:ext cx="518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t"/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!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416300" y="1771650"/>
            <a:ext cx="4844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t"/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!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80109" y="1787664"/>
            <a:ext cx="86844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number of permutations of the letters of the word ALLAHABAD.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371600" y="2343150"/>
            <a:ext cx="35368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9 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41048" y="2343150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52400" y="2355790"/>
            <a:ext cx="13292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Solution:- </a:t>
            </a:r>
            <a:endParaRPr lang="en-US" sz="2000" dirty="0"/>
          </a:p>
        </p:txBody>
      </p:sp>
      <p:cxnSp>
        <p:nvCxnSpPr>
          <p:cNvPr id="7" name="Straight Arrow Connector 6"/>
          <p:cNvCxnSpPr>
            <a:stCxn id="38" idx="3"/>
          </p:cNvCxnSpPr>
          <p:nvPr/>
        </p:nvCxnSpPr>
        <p:spPr>
          <a:xfrm>
            <a:off x="5170867" y="2543205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629970" y="2357242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24600" y="2343150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</a:t>
            </a:r>
          </a:p>
        </p:txBody>
      </p:sp>
      <p:cxnSp>
        <p:nvCxnSpPr>
          <p:cNvPr id="44" name="Straight Arrow Connector 43"/>
          <p:cNvCxnSpPr>
            <a:stCxn id="43" idx="3"/>
          </p:cNvCxnSpPr>
          <p:nvPr/>
        </p:nvCxnSpPr>
        <p:spPr>
          <a:xfrm>
            <a:off x="6754419" y="2543205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213522" y="2357242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51958" y="2678499"/>
            <a:ext cx="4180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number of all possible words are </a:t>
            </a:r>
            <a:endParaRPr lang="en-US" sz="2000" b="1" dirty="0"/>
          </a:p>
        </p:txBody>
      </p:sp>
      <p:sp>
        <p:nvSpPr>
          <p:cNvPr id="47" name="Rectangle 46"/>
          <p:cNvSpPr/>
          <p:nvPr/>
        </p:nvSpPr>
        <p:spPr>
          <a:xfrm>
            <a:off x="4605458" y="268593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9!</a:t>
            </a:r>
            <a:endParaRPr lang="en-US" sz="2000" b="1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4462596" y="3078609"/>
            <a:ext cx="8473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4533525" y="308604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51" name="Rectangle 50"/>
          <p:cNvSpPr/>
          <p:nvPr/>
        </p:nvSpPr>
        <p:spPr>
          <a:xfrm>
            <a:off x="4811941" y="3081118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2!</a:t>
            </a:r>
            <a:endParaRPr lang="en-US" sz="2000" b="1" dirty="0"/>
          </a:p>
        </p:txBody>
      </p:sp>
      <p:sp>
        <p:nvSpPr>
          <p:cNvPr id="52" name="Rectangle 51"/>
          <p:cNvSpPr/>
          <p:nvPr/>
        </p:nvSpPr>
        <p:spPr>
          <a:xfrm>
            <a:off x="5620988" y="2725518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9×8×7×6×5 ×4!</a:t>
            </a:r>
            <a:endParaRPr lang="en-US" sz="2000" b="1" dirty="0"/>
          </a:p>
        </p:txBody>
      </p:sp>
      <p:cxnSp>
        <p:nvCxnSpPr>
          <p:cNvPr id="53" name="Straight Connector 52"/>
          <p:cNvCxnSpPr/>
          <p:nvPr/>
        </p:nvCxnSpPr>
        <p:spPr>
          <a:xfrm>
            <a:off x="5700941" y="3049428"/>
            <a:ext cx="17334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167659" y="305435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55" name="Rectangle 54"/>
          <p:cNvSpPr/>
          <p:nvPr/>
        </p:nvSpPr>
        <p:spPr>
          <a:xfrm>
            <a:off x="6446075" y="3049428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2!</a:t>
            </a:r>
            <a:endParaRPr lang="en-US" sz="2000" b="1" dirty="0"/>
          </a:p>
        </p:txBody>
      </p:sp>
      <p:sp>
        <p:nvSpPr>
          <p:cNvPr id="56" name="Rectangle 55"/>
          <p:cNvSpPr/>
          <p:nvPr/>
        </p:nvSpPr>
        <p:spPr>
          <a:xfrm>
            <a:off x="7377341" y="2852518"/>
            <a:ext cx="843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=7560</a:t>
            </a:r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5396141" y="2883296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</a:t>
            </a:r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152400" y="3159264"/>
            <a:ext cx="86844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word can be made with the letters of the word INITIATIVE.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71600" y="3790950"/>
            <a:ext cx="36892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893448" y="3790950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4800" y="3803590"/>
            <a:ext cx="13292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Solution:- </a:t>
            </a:r>
            <a:endParaRPr lang="en-US" sz="2000" dirty="0"/>
          </a:p>
        </p:txBody>
      </p:sp>
      <p:cxnSp>
        <p:nvCxnSpPr>
          <p:cNvPr id="61" name="Straight Arrow Connector 60"/>
          <p:cNvCxnSpPr>
            <a:stCxn id="59" idx="3"/>
          </p:cNvCxnSpPr>
          <p:nvPr/>
        </p:nvCxnSpPr>
        <p:spPr>
          <a:xfrm>
            <a:off x="5323267" y="3991005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782370" y="3805042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77000" y="3790950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4" name="Straight Arrow Connector 63"/>
          <p:cNvCxnSpPr>
            <a:stCxn id="63" idx="3"/>
          </p:cNvCxnSpPr>
          <p:nvPr/>
        </p:nvCxnSpPr>
        <p:spPr>
          <a:xfrm>
            <a:off x="6906819" y="3991005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7365922" y="3805042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04358" y="4126299"/>
            <a:ext cx="4180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number of all possible words are </a:t>
            </a:r>
            <a:endParaRPr lang="en-US" sz="2000" b="1" dirty="0"/>
          </a:p>
        </p:txBody>
      </p:sp>
      <p:sp>
        <p:nvSpPr>
          <p:cNvPr id="67" name="Rectangle 66"/>
          <p:cNvSpPr/>
          <p:nvPr/>
        </p:nvSpPr>
        <p:spPr>
          <a:xfrm>
            <a:off x="4757858" y="4133730"/>
            <a:ext cx="5261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10!</a:t>
            </a:r>
            <a:endParaRPr lang="en-US" sz="2000" b="1" dirty="0"/>
          </a:p>
        </p:txBody>
      </p:sp>
      <p:cxnSp>
        <p:nvCxnSpPr>
          <p:cNvPr id="68" name="Straight Connector 67"/>
          <p:cNvCxnSpPr/>
          <p:nvPr/>
        </p:nvCxnSpPr>
        <p:spPr>
          <a:xfrm>
            <a:off x="4614996" y="4526409"/>
            <a:ext cx="8473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4685925" y="453384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70" name="Rectangle 69"/>
          <p:cNvSpPr/>
          <p:nvPr/>
        </p:nvSpPr>
        <p:spPr>
          <a:xfrm>
            <a:off x="4964341" y="4528918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2!</a:t>
            </a:r>
            <a:endParaRPr lang="en-US" sz="2000" b="1" dirty="0"/>
          </a:p>
        </p:txBody>
      </p:sp>
      <p:sp>
        <p:nvSpPr>
          <p:cNvPr id="71" name="Rectangle 70"/>
          <p:cNvSpPr/>
          <p:nvPr/>
        </p:nvSpPr>
        <p:spPr>
          <a:xfrm>
            <a:off x="5773388" y="4173318"/>
            <a:ext cx="22349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10×9×8×7×6×5 ×4!</a:t>
            </a:r>
            <a:endParaRPr lang="en-US" sz="2000" b="1" dirty="0"/>
          </a:p>
        </p:txBody>
      </p:sp>
      <p:cxnSp>
        <p:nvCxnSpPr>
          <p:cNvPr id="72" name="Straight Connector 71"/>
          <p:cNvCxnSpPr/>
          <p:nvPr/>
        </p:nvCxnSpPr>
        <p:spPr>
          <a:xfrm>
            <a:off x="5853341" y="4497228"/>
            <a:ext cx="1988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6320059" y="450215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74" name="Rectangle 73"/>
          <p:cNvSpPr/>
          <p:nvPr/>
        </p:nvSpPr>
        <p:spPr>
          <a:xfrm>
            <a:off x="6598475" y="4497228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2!</a:t>
            </a:r>
            <a:endParaRPr lang="en-US" sz="2000" b="1" dirty="0"/>
          </a:p>
        </p:txBody>
      </p:sp>
      <p:sp>
        <p:nvSpPr>
          <p:cNvPr id="75" name="Rectangle 74"/>
          <p:cNvSpPr/>
          <p:nvPr/>
        </p:nvSpPr>
        <p:spPr>
          <a:xfrm>
            <a:off x="7910741" y="4300318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=75600</a:t>
            </a:r>
            <a:endParaRPr lang="en-US" sz="2000" b="1" dirty="0"/>
          </a:p>
        </p:txBody>
      </p:sp>
      <p:sp>
        <p:nvSpPr>
          <p:cNvPr id="76" name="Rectangle 75"/>
          <p:cNvSpPr/>
          <p:nvPr/>
        </p:nvSpPr>
        <p:spPr>
          <a:xfrm>
            <a:off x="5548541" y="4331096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75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9" grpId="0"/>
      <p:bldP spid="21" grpId="0"/>
      <p:bldP spid="22" grpId="0"/>
      <p:bldP spid="23" grpId="0"/>
      <p:bldP spid="27" grpId="0"/>
      <p:bldP spid="28" grpId="0"/>
      <p:bldP spid="38" grpId="0"/>
      <p:bldP spid="40" grpId="0"/>
      <p:bldP spid="42" grpId="0"/>
      <p:bldP spid="43" grpId="0"/>
      <p:bldP spid="45" grpId="0"/>
      <p:bldP spid="46" grpId="0"/>
      <p:bldP spid="47" grpId="0"/>
      <p:bldP spid="50" grpId="0"/>
      <p:bldP spid="51" grpId="0"/>
      <p:bldP spid="52" grpId="0"/>
      <p:bldP spid="54" grpId="0"/>
      <p:bldP spid="55" grpId="0"/>
      <p:bldP spid="56" grpId="0"/>
      <p:bldP spid="11" grpId="0"/>
      <p:bldP spid="57" grpId="0"/>
      <p:bldP spid="58" grpId="0"/>
      <p:bldP spid="59" grpId="0"/>
      <p:bldP spid="60" grpId="0"/>
      <p:bldP spid="62" grpId="0"/>
      <p:bldP spid="63" grpId="0"/>
      <p:bldP spid="65" grpId="0"/>
      <p:bldP spid="66" grpId="0"/>
      <p:bldP spid="67" grpId="0"/>
      <p:bldP spid="69" grpId="0"/>
      <p:bldP spid="70" grpId="0"/>
      <p:bldP spid="71" grpId="0"/>
      <p:bldP spid="73" grpId="0"/>
      <p:bldP spid="74" grpId="0"/>
      <p:bldP spid="75" grpId="0"/>
      <p:bldP spid="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1210" y="57150"/>
            <a:ext cx="33423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Important Result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438150"/>
            <a:ext cx="8077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Number of permutations of n different things taken r at a time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 when repetition is allowed = n x n x n x n x n ….r times </a:t>
            </a:r>
            <a:r>
              <a:rPr lang="pt-B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2994817" y="1112619"/>
            <a:ext cx="6014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 n </a:t>
            </a:r>
            <a:endParaRPr lang="en-US" sz="2000" b="1" dirty="0"/>
          </a:p>
        </p:txBody>
      </p:sp>
      <p:sp>
        <p:nvSpPr>
          <p:cNvPr id="32" name="Rectangle 31"/>
          <p:cNvSpPr/>
          <p:nvPr/>
        </p:nvSpPr>
        <p:spPr>
          <a:xfrm>
            <a:off x="3299617" y="1047750"/>
            <a:ext cx="3579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304800" y="1123950"/>
            <a:ext cx="868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Example:-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many 3 digit number can be formed by 1, 3 and 5 if repetition is allowed?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81200" y="1809750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550317" y="1809750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139064" y="1809750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Elbow Connector 14"/>
          <p:cNvCxnSpPr/>
          <p:nvPr/>
        </p:nvCxnSpPr>
        <p:spPr>
          <a:xfrm flipV="1">
            <a:off x="1295400" y="1962150"/>
            <a:ext cx="838200" cy="457200"/>
          </a:xfrm>
          <a:prstGeom prst="bentConnector3">
            <a:avLst>
              <a:gd name="adj1" fmla="val -7576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52400" y="2343150"/>
            <a:ext cx="198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place can be filled by 3 digits.</a:t>
            </a:r>
            <a:endParaRPr lang="en-US" sz="2000" dirty="0"/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2778917" y="2241888"/>
            <a:ext cx="0" cy="64633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975996" y="2778264"/>
            <a:ext cx="23674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place can also be filled by 3 digits.</a:t>
            </a:r>
            <a:endParaRPr lang="en-US" sz="2000" dirty="0"/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3364089" y="2213225"/>
            <a:ext cx="0" cy="64633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673600" y="1929884"/>
            <a:ext cx="37435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total number of digits formed</a:t>
            </a:r>
            <a:endParaRPr lang="en-US" sz="2000" b="1" dirty="0"/>
          </a:p>
        </p:txBody>
      </p:sp>
      <p:sp>
        <p:nvSpPr>
          <p:cNvPr id="31" name="Rectangle 30"/>
          <p:cNvSpPr/>
          <p:nvPr/>
        </p:nvSpPr>
        <p:spPr>
          <a:xfrm>
            <a:off x="5410200" y="2234684"/>
            <a:ext cx="457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=3</a:t>
            </a:r>
            <a:endParaRPr lang="en-US" sz="2000" b="1" dirty="0"/>
          </a:p>
        </p:txBody>
      </p:sp>
      <p:sp>
        <p:nvSpPr>
          <p:cNvPr id="59" name="Rectangle 58"/>
          <p:cNvSpPr/>
          <p:nvPr/>
        </p:nvSpPr>
        <p:spPr>
          <a:xfrm>
            <a:off x="5803900" y="2236054"/>
            <a:ext cx="457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60" name="Rectangle 59"/>
          <p:cNvSpPr/>
          <p:nvPr/>
        </p:nvSpPr>
        <p:spPr>
          <a:xfrm>
            <a:off x="6245589" y="2241888"/>
            <a:ext cx="457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61" name="Rectangle 60"/>
          <p:cNvSpPr/>
          <p:nvPr/>
        </p:nvSpPr>
        <p:spPr>
          <a:xfrm>
            <a:off x="5397500" y="2548405"/>
            <a:ext cx="5854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=27</a:t>
            </a:r>
            <a:endParaRPr lang="en-US" sz="2000" b="1" dirty="0"/>
          </a:p>
        </p:txBody>
      </p:sp>
      <p:sp>
        <p:nvSpPr>
          <p:cNvPr id="65" name="Rectangle 64"/>
          <p:cNvSpPr/>
          <p:nvPr/>
        </p:nvSpPr>
        <p:spPr>
          <a:xfrm>
            <a:off x="304800" y="3080087"/>
            <a:ext cx="81885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Example:-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many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digit number can be formed by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0,2 , 3, 5 and 7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repetition is allowed?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905000" y="3867150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2474117" y="3867150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3062864" y="3867150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/>
          <p:cNvCxnSpPr/>
          <p:nvPr/>
        </p:nvCxnSpPr>
        <p:spPr>
          <a:xfrm flipV="1">
            <a:off x="2702717" y="4299288"/>
            <a:ext cx="0" cy="64633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2819400" y="4607064"/>
            <a:ext cx="236740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place can be filled by 5 digits.</a:t>
            </a:r>
            <a:endParaRPr lang="en-US" sz="2000" dirty="0"/>
          </a:p>
        </p:txBody>
      </p:sp>
      <p:cxnSp>
        <p:nvCxnSpPr>
          <p:cNvPr id="73" name="Straight Arrow Connector 72"/>
          <p:cNvCxnSpPr/>
          <p:nvPr/>
        </p:nvCxnSpPr>
        <p:spPr>
          <a:xfrm flipV="1">
            <a:off x="3287889" y="4270625"/>
            <a:ext cx="0" cy="64633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4597400" y="3987284"/>
            <a:ext cx="37435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total number of digits formed</a:t>
            </a:r>
            <a:endParaRPr lang="en-US" sz="2000" b="1" dirty="0"/>
          </a:p>
        </p:txBody>
      </p:sp>
      <p:sp>
        <p:nvSpPr>
          <p:cNvPr id="75" name="Rectangle 74"/>
          <p:cNvSpPr/>
          <p:nvPr/>
        </p:nvSpPr>
        <p:spPr>
          <a:xfrm>
            <a:off x="5334000" y="4292084"/>
            <a:ext cx="458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=4</a:t>
            </a:r>
            <a:endParaRPr lang="en-US" sz="2000" b="1" dirty="0"/>
          </a:p>
        </p:txBody>
      </p:sp>
      <p:sp>
        <p:nvSpPr>
          <p:cNvPr id="76" name="Rectangle 75"/>
          <p:cNvSpPr/>
          <p:nvPr/>
        </p:nvSpPr>
        <p:spPr>
          <a:xfrm>
            <a:off x="5727700" y="4293454"/>
            <a:ext cx="458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sz="2000" b="1" dirty="0"/>
          </a:p>
        </p:txBody>
      </p:sp>
      <p:sp>
        <p:nvSpPr>
          <p:cNvPr id="77" name="Rectangle 76"/>
          <p:cNvSpPr/>
          <p:nvPr/>
        </p:nvSpPr>
        <p:spPr>
          <a:xfrm>
            <a:off x="6169389" y="4299288"/>
            <a:ext cx="458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sz="2000" b="1" dirty="0"/>
          </a:p>
        </p:txBody>
      </p:sp>
      <p:sp>
        <p:nvSpPr>
          <p:cNvPr id="78" name="Rectangle 77"/>
          <p:cNvSpPr/>
          <p:nvPr/>
        </p:nvSpPr>
        <p:spPr>
          <a:xfrm>
            <a:off x="5321300" y="4605805"/>
            <a:ext cx="7152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=500</a:t>
            </a:r>
            <a:endParaRPr lang="en-US" sz="2000" b="1" dirty="0"/>
          </a:p>
        </p:txBody>
      </p:sp>
      <p:sp>
        <p:nvSpPr>
          <p:cNvPr id="79" name="Rectangle 78"/>
          <p:cNvSpPr/>
          <p:nvPr/>
        </p:nvSpPr>
        <p:spPr>
          <a:xfrm>
            <a:off x="3643708" y="3882539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/>
          <p:cNvCxnSpPr/>
          <p:nvPr/>
        </p:nvCxnSpPr>
        <p:spPr>
          <a:xfrm flipV="1">
            <a:off x="3886200" y="4248150"/>
            <a:ext cx="0" cy="64633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6551179" y="4305240"/>
            <a:ext cx="458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×5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0814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2" grpId="0"/>
      <p:bldP spid="5" grpId="0"/>
      <p:bldP spid="6" grpId="0" animBg="1"/>
      <p:bldP spid="35" grpId="0" animBg="1"/>
      <p:bldP spid="36" grpId="0" animBg="1"/>
      <p:bldP spid="18" grpId="0"/>
      <p:bldP spid="57" grpId="0"/>
      <p:bldP spid="30" grpId="0"/>
      <p:bldP spid="31" grpId="0"/>
      <p:bldP spid="59" grpId="0"/>
      <p:bldP spid="60" grpId="0"/>
      <p:bldP spid="61" grpId="0"/>
      <p:bldP spid="65" grpId="0"/>
      <p:bldP spid="66" grpId="0" animBg="1"/>
      <p:bldP spid="67" grpId="0" animBg="1"/>
      <p:bldP spid="68" grpId="0" animBg="1"/>
      <p:bldP spid="72" grpId="0" animBg="1"/>
      <p:bldP spid="74" grpId="0"/>
      <p:bldP spid="75" grpId="0"/>
      <p:bldP spid="76" grpId="0"/>
      <p:bldP spid="77" grpId="0"/>
      <p:bldP spid="78" grpId="0"/>
      <p:bldP spid="79" grpId="0" animBg="1"/>
      <p:bldP spid="8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09550"/>
            <a:ext cx="8763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How many 3 - letter words with or without meaning, can be formed out of the letters of the word, 'LOGARITHMS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', if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repetition of letters is not allowed?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720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B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420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C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5040 </a:t>
            </a:r>
            <a:r>
              <a:rPr lang="en-IN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D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120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7800" y="1352550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016917" y="1352550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605664" y="1352550"/>
            <a:ext cx="457200" cy="6096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Elbow Connector 5"/>
          <p:cNvCxnSpPr/>
          <p:nvPr/>
        </p:nvCxnSpPr>
        <p:spPr>
          <a:xfrm flipV="1">
            <a:off x="1066800" y="1787664"/>
            <a:ext cx="838200" cy="457200"/>
          </a:xfrm>
          <a:prstGeom prst="bentConnector3">
            <a:avLst>
              <a:gd name="adj1" fmla="val -7576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1335" y="2168664"/>
            <a:ext cx="2681865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place can be filled by 10 alphabets.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5334000" y="1400719"/>
            <a:ext cx="587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=10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5727700" y="1402089"/>
            <a:ext cx="458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</a:t>
            </a:r>
            <a:endParaRPr lang="en-US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6169389" y="1407923"/>
            <a:ext cx="458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5321300" y="1714440"/>
            <a:ext cx="7152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=720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1472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438150"/>
            <a:ext cx="3436197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Non Repeated </a:t>
            </a:r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Alphabets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892602"/>
            <a:ext cx="83439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Q. 	Using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 the letters of the word "THURSDAY",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many 	different words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 be formed?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8		B. 8!		C. 7!		D. 7		E. 6!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809750"/>
            <a:ext cx="8483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buFont typeface="+mj-lt"/>
            </a:pPr>
            <a:r>
              <a:rPr lang="en-US" sz="2000" b="1" dirty="0"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Ans B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25745" y="1809750"/>
            <a:ext cx="35368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8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06103" y="2145099"/>
            <a:ext cx="4180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number of all possible words are </a:t>
            </a:r>
            <a:endParaRPr lang="en-US" sz="2000" b="1" dirty="0"/>
          </a:p>
        </p:txBody>
      </p:sp>
      <p:sp>
        <p:nvSpPr>
          <p:cNvPr id="19" name="Rectangle 18"/>
          <p:cNvSpPr/>
          <p:nvPr/>
        </p:nvSpPr>
        <p:spPr>
          <a:xfrm>
            <a:off x="5181600" y="217164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8!</a:t>
            </a:r>
            <a:endParaRPr lang="en-US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304800" y="2495550"/>
            <a:ext cx="81589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 	Using all the letters of the word "NOKIA", how many words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formed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which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begin with N and end with A?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3		B. 6		C. 24		D. 120		E. 12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3333750"/>
            <a:ext cx="8483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buFont typeface="+mj-lt"/>
            </a:pPr>
            <a:r>
              <a:rPr lang="en-US" sz="2000" b="1" dirty="0"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Ans B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527925" y="3333750"/>
            <a:ext cx="35368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5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66025" y="3653135"/>
            <a:ext cx="5215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But , word must start with N and end with A so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209800" y="4053245"/>
            <a:ext cx="457200" cy="6006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819400" y="4053245"/>
            <a:ext cx="457200" cy="6006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429000" y="4019550"/>
            <a:ext cx="457200" cy="6006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038600" y="4019550"/>
            <a:ext cx="457200" cy="6006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648200" y="4019550"/>
            <a:ext cx="457200" cy="6006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97100" y="4095750"/>
            <a:ext cx="583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 </a:t>
            </a:r>
            <a:endParaRPr lang="en-US" sz="3200" dirty="0"/>
          </a:p>
        </p:txBody>
      </p:sp>
      <p:sp>
        <p:nvSpPr>
          <p:cNvPr id="31" name="Rectangle 30"/>
          <p:cNvSpPr/>
          <p:nvPr/>
        </p:nvSpPr>
        <p:spPr>
          <a:xfrm>
            <a:off x="4635500" y="4032250"/>
            <a:ext cx="5611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3200" dirty="0"/>
          </a:p>
        </p:txBody>
      </p:sp>
      <p:sp>
        <p:nvSpPr>
          <p:cNvPr id="32" name="Rectangle 31"/>
          <p:cNvSpPr/>
          <p:nvPr/>
        </p:nvSpPr>
        <p:spPr>
          <a:xfrm>
            <a:off x="5440076" y="4080590"/>
            <a:ext cx="30236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Remaining three letters can be arranged by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10400" y="4400550"/>
            <a:ext cx="4411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400" b="1" dirty="0"/>
          </a:p>
        </p:txBody>
      </p:sp>
      <p:sp>
        <p:nvSpPr>
          <p:cNvPr id="34" name="Rectangle 33"/>
          <p:cNvSpPr/>
          <p:nvPr/>
        </p:nvSpPr>
        <p:spPr>
          <a:xfrm>
            <a:off x="7450734" y="4400550"/>
            <a:ext cx="5132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=6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2777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7" grpId="0"/>
      <p:bldP spid="18" grpId="0"/>
      <p:bldP spid="19" grpId="0"/>
      <p:bldP spid="7" grpId="0"/>
      <p:bldP spid="20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10" grpId="0"/>
      <p:bldP spid="31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438150"/>
            <a:ext cx="2811026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Repeated Alphabets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892602"/>
            <a:ext cx="83439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	The number of permutations of the letters of the word 	'MESMERISE' is_.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9!/(2!)</a:t>
            </a:r>
            <a:r>
              <a:rPr 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3!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9!/(2!)</a:t>
            </a:r>
            <a:r>
              <a:rPr 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3!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9!/(2!)</a:t>
            </a:r>
            <a:r>
              <a:rPr 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(3!)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D. 5!/(2!)</a:t>
            </a:r>
            <a:r>
              <a:rPr 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3!	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809750"/>
            <a:ext cx="848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buFont typeface="+mj-lt"/>
            </a:pPr>
            <a:r>
              <a:rPr lang="en-US" sz="2000" b="1" dirty="0"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Ans </a:t>
            </a:r>
            <a:r>
              <a:rPr lang="en-US" sz="2000" b="1" dirty="0" smtClean="0"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25745" y="1809750"/>
            <a:ext cx="35368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9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86600" y="1809750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516419" y="1976302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975522" y="1823842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9459" y="2038350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cxnSp>
        <p:nvCxnSpPr>
          <p:cNvPr id="13" name="Straight Arrow Connector 12"/>
          <p:cNvCxnSpPr>
            <a:stCxn id="12" idx="3"/>
          </p:cNvCxnSpPr>
          <p:nvPr/>
        </p:nvCxnSpPr>
        <p:spPr>
          <a:xfrm>
            <a:off x="7569278" y="2238405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028381" y="2052442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66817" y="2145099"/>
            <a:ext cx="4180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number of all possible words are </a:t>
            </a:r>
            <a:endParaRPr lang="en-US" sz="2000" b="1" dirty="0"/>
          </a:p>
        </p:txBody>
      </p:sp>
      <p:sp>
        <p:nvSpPr>
          <p:cNvPr id="16" name="Rectangle 15"/>
          <p:cNvSpPr/>
          <p:nvPr/>
        </p:nvSpPr>
        <p:spPr>
          <a:xfrm>
            <a:off x="5420317" y="215253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9!</a:t>
            </a:r>
            <a:endParaRPr lang="en-US" sz="2000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5277455" y="2545209"/>
            <a:ext cx="8473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334000" y="2500472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20" name="Rectangle 19"/>
          <p:cNvSpPr/>
          <p:nvPr/>
        </p:nvSpPr>
        <p:spPr>
          <a:xfrm>
            <a:off x="5612416" y="249555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21" name="Rectangle 20"/>
          <p:cNvSpPr/>
          <p:nvPr/>
        </p:nvSpPr>
        <p:spPr>
          <a:xfrm>
            <a:off x="7139459" y="2309948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cxnSp>
        <p:nvCxnSpPr>
          <p:cNvPr id="22" name="Straight Arrow Connector 21"/>
          <p:cNvCxnSpPr>
            <a:stCxn id="21" idx="3"/>
          </p:cNvCxnSpPr>
          <p:nvPr/>
        </p:nvCxnSpPr>
        <p:spPr>
          <a:xfrm>
            <a:off x="7569278" y="2510003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028381" y="2324040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67400" y="247644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25" name="Rectangle 24"/>
          <p:cNvSpPr/>
          <p:nvPr/>
        </p:nvSpPr>
        <p:spPr>
          <a:xfrm>
            <a:off x="342899" y="2800350"/>
            <a:ext cx="83439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	The number of permutations of the letters of the word 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'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MISSISSIPPI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'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is_.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11!/(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!)</a:t>
            </a:r>
            <a:r>
              <a:rPr 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2!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11!/(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!)</a:t>
            </a:r>
            <a:r>
              <a:rPr 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4!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11!/(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2!)</a:t>
            </a:r>
            <a:r>
              <a:rPr 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(4!)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D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4!/(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!)</a:t>
            </a:r>
            <a:r>
              <a:rPr 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2!	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66699" y="3717498"/>
            <a:ext cx="848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buFont typeface="+mj-lt"/>
            </a:pPr>
            <a:r>
              <a:rPr lang="en-US" sz="2000" b="1" dirty="0"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Ans </a:t>
            </a:r>
            <a:r>
              <a:rPr lang="en-US" sz="2000" b="1" dirty="0" smtClean="0"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828800" y="3717498"/>
            <a:ext cx="3695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11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048499" y="3717498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7478318" y="3884050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937421" y="3731590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1358" y="3946098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cxnSp>
        <p:nvCxnSpPr>
          <p:cNvPr id="32" name="Straight Arrow Connector 31"/>
          <p:cNvCxnSpPr>
            <a:stCxn id="31" idx="3"/>
          </p:cNvCxnSpPr>
          <p:nvPr/>
        </p:nvCxnSpPr>
        <p:spPr>
          <a:xfrm>
            <a:off x="7531177" y="4146153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990280" y="3960190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328716" y="4052847"/>
            <a:ext cx="4180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number of all possible words are </a:t>
            </a:r>
            <a:endParaRPr lang="en-US" sz="2000" b="1" dirty="0"/>
          </a:p>
        </p:txBody>
      </p:sp>
      <p:sp>
        <p:nvSpPr>
          <p:cNvPr id="35" name="Rectangle 34"/>
          <p:cNvSpPr/>
          <p:nvPr/>
        </p:nvSpPr>
        <p:spPr>
          <a:xfrm>
            <a:off x="5382216" y="4060278"/>
            <a:ext cx="511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11!</a:t>
            </a:r>
            <a:endParaRPr lang="en-US" sz="2000" b="1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5239354" y="4400550"/>
            <a:ext cx="8473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295899" y="435604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38" name="Rectangle 37"/>
          <p:cNvSpPr/>
          <p:nvPr/>
        </p:nvSpPr>
        <p:spPr>
          <a:xfrm>
            <a:off x="5574315" y="4377898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4!</a:t>
            </a:r>
            <a:endParaRPr lang="en-US" sz="2000" b="1" dirty="0"/>
          </a:p>
        </p:txBody>
      </p:sp>
      <p:sp>
        <p:nvSpPr>
          <p:cNvPr id="39" name="Rectangle 38"/>
          <p:cNvSpPr/>
          <p:nvPr/>
        </p:nvSpPr>
        <p:spPr>
          <a:xfrm>
            <a:off x="7101358" y="4217696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>
            <a:off x="7531177" y="4417751"/>
            <a:ext cx="4688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990280" y="4231788"/>
            <a:ext cx="429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816599" y="4371488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3527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7" grpId="0"/>
      <p:bldP spid="9" grpId="0"/>
      <p:bldP spid="11" grpId="0"/>
      <p:bldP spid="12" grpId="0"/>
      <p:bldP spid="14" grpId="0"/>
      <p:bldP spid="15" grpId="0"/>
      <p:bldP spid="16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3" grpId="0"/>
      <p:bldP spid="34" grpId="0"/>
      <p:bldP spid="35" grpId="0"/>
      <p:bldP spid="37" grpId="0"/>
      <p:bldP spid="38" grpId="0"/>
      <p:bldP spid="39" grpId="0"/>
      <p:bldP spid="41" grpId="0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09550"/>
            <a:ext cx="845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In how many different ways can the letters of word ‘POPULAR’ be arranged?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1650 B. 1780 C. 6800 D.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2520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0" y="977840"/>
            <a:ext cx="5562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7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alphabets, of which 2 are repeated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28716" y="1313189"/>
            <a:ext cx="4180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number of all possible words are 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5382216" y="132062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239354" y="1660892"/>
            <a:ext cx="8473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310283" y="1720496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263750" y="2227355"/>
                <a:ext cx="1145570" cy="6748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/>
                          <a:cs typeface="Times New Roman" panose="02020603050405020304" pitchFamily="18" charset="0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lang="en-US" sz="2000" b="1" i="1" dirty="0" smtClean="0">
                              <a:latin typeface="Cambria Math"/>
                              <a:cs typeface="Times New Roman" panose="02020603050405020304" pitchFamily="18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sz="2000" b="1" i="1" dirty="0" smtClean="0">
                              <a:latin typeface="Cambria Math"/>
                              <a:cs typeface="Times New Roman" panose="02020603050405020304" pitchFamily="18" charset="0"/>
                              <a:sym typeface="+mn-ea"/>
                            </a:rPr>
                            <m:t>𝟓𝟎𝟒𝟎</m:t>
                          </m:r>
                        </m:num>
                        <m:den>
                          <m:r>
                            <a:rPr lang="en-US" sz="2000" b="1" i="1" dirty="0" smtClean="0">
                              <a:latin typeface="Cambria Math"/>
                              <a:cs typeface="Times New Roman" panose="02020603050405020304" pitchFamily="18" charset="0"/>
                              <a:sym typeface="+mn-ea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750" y="2227355"/>
                <a:ext cx="1145570" cy="674800"/>
              </a:xfrm>
              <a:prstGeom prst="rect">
                <a:avLst/>
              </a:prstGeom>
              <a:blipFill rotWithShape="1">
                <a:blip r:embed="rId2"/>
                <a:stretch>
                  <a:fillRect r="-9043" b="-2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350603" y="2893436"/>
                <a:ext cx="114557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/>
                          <a:cs typeface="Times New Roman" panose="02020603050405020304" pitchFamily="18" charset="0"/>
                          <a:sym typeface="+mn-ea"/>
                        </a:rPr>
                        <m:t>=</m:t>
                      </m:r>
                      <m:r>
                        <a:rPr lang="en-US" sz="2000" b="1" i="1" dirty="0" smtClean="0">
                          <a:latin typeface="Cambria Math"/>
                          <a:cs typeface="Times New Roman" panose="02020603050405020304" pitchFamily="18" charset="0"/>
                          <a:sym typeface="+mn-ea"/>
                        </a:rPr>
                        <m:t>𝟐𝟓𝟐𝟎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603" y="2893436"/>
                <a:ext cx="1145570" cy="400110"/>
              </a:xfrm>
              <a:prstGeom prst="rect">
                <a:avLst/>
              </a:prstGeom>
              <a:blipFill rotWithShape="1">
                <a:blip r:embed="rId3"/>
                <a:stretch>
                  <a:fillRect t="-6154" r="-8511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41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09" y="438150"/>
            <a:ext cx="2382191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Always Together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4799" y="768350"/>
            <a:ext cx="1425198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a) Vowels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1230015"/>
            <a:ext cx="883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	Number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words that can be made with the letters of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word ‘JAIPUR“ 	keeping all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vowels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876346"/>
            <a:ext cx="3695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0" y="1885950"/>
            <a:ext cx="2828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 of these 3 are vowels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8200" y="2286060"/>
            <a:ext cx="23262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consonants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91400" y="1901585"/>
            <a:ext cx="1143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A,U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59733" y="2258842"/>
            <a:ext cx="8904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J, P, R,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3000" y="3105150"/>
            <a:ext cx="838200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U, A,I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933" y="3684716"/>
            <a:ext cx="1763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Consider 1 unit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11066" y="3098196"/>
            <a:ext cx="28405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</a:t>
            </a:r>
          </a:p>
        </p:txBody>
      </p:sp>
      <p:sp>
        <p:nvSpPr>
          <p:cNvPr id="6" name="Rectangle 5"/>
          <p:cNvSpPr/>
          <p:nvPr/>
        </p:nvSpPr>
        <p:spPr>
          <a:xfrm>
            <a:off x="2615612" y="3105150"/>
            <a:ext cx="32733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11798" y="3105150"/>
            <a:ext cx="35618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cxnSp>
        <p:nvCxnSpPr>
          <p:cNvPr id="18" name="Elbow Connector 17"/>
          <p:cNvCxnSpPr/>
          <p:nvPr/>
        </p:nvCxnSpPr>
        <p:spPr>
          <a:xfrm flipV="1">
            <a:off x="152400" y="3246395"/>
            <a:ext cx="1143000" cy="46835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122967" y="2354818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>
            <a:endCxn id="14" idx="0"/>
          </p:cNvCxnSpPr>
          <p:nvPr/>
        </p:nvCxnSpPr>
        <p:spPr>
          <a:xfrm flipH="1">
            <a:off x="2253092" y="2658952"/>
            <a:ext cx="21642" cy="4392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700843" y="2353783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870538" y="2685264"/>
            <a:ext cx="0" cy="4392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319132" y="234315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480138" y="2685264"/>
            <a:ext cx="0" cy="4392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419601" y="3094411"/>
            <a:ext cx="266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So, Number of words are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07691" y="3087796"/>
            <a:ext cx="543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=4!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007691" y="3838605"/>
            <a:ext cx="1774751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For arranging the 1 unit internally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442765" y="3100895"/>
            <a:ext cx="543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!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982762" y="3046339"/>
            <a:ext cx="7152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=144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7772400" y="3392329"/>
            <a:ext cx="0" cy="49244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65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5" grpId="0"/>
      <p:bldP spid="10" grpId="0"/>
      <p:bldP spid="11" grpId="0"/>
      <p:bldP spid="12" grpId="0" animBg="1"/>
      <p:bldP spid="13" grpId="0"/>
      <p:bldP spid="14" grpId="0" animBg="1"/>
      <p:bldP spid="6" grpId="0" animBg="1"/>
      <p:bldP spid="16" grpId="0" animBg="1"/>
      <p:bldP spid="23" grpId="0"/>
      <p:bldP spid="27" grpId="0"/>
      <p:bldP spid="29" grpId="0"/>
      <p:bldP spid="34" grpId="0"/>
      <p:bldP spid="35" grpId="0"/>
      <p:bldP spid="38" grpId="0" animBg="1"/>
      <p:bldP spid="39" grpId="0"/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09" y="438150"/>
            <a:ext cx="2382191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Always Together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4799" y="768350"/>
            <a:ext cx="2060179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b</a:t>
            </a:r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) Consonants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1230015"/>
            <a:ext cx="883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	Number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words that can be made with the letters of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word “QUESTION” 	keeping all the consonants together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876346"/>
            <a:ext cx="3695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8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0" y="1885950"/>
            <a:ext cx="2828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 of these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are vowels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8200" y="2286060"/>
            <a:ext cx="23262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4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consonants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91400" y="1901585"/>
            <a:ext cx="144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U,E,I,O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59733" y="2258842"/>
            <a:ext cx="12173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19200" y="3105150"/>
            <a:ext cx="1261558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Q, S, T, 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7388" y="3638550"/>
            <a:ext cx="1763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Consider 1 unit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67000" y="3105150"/>
            <a:ext cx="37061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00707" y="3102974"/>
            <a:ext cx="34176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cxnSp>
        <p:nvCxnSpPr>
          <p:cNvPr id="18" name="Elbow Connector 17"/>
          <p:cNvCxnSpPr/>
          <p:nvPr/>
        </p:nvCxnSpPr>
        <p:spPr>
          <a:xfrm flipV="1">
            <a:off x="838200" y="3334171"/>
            <a:ext cx="381000" cy="304379"/>
          </a:xfrm>
          <a:prstGeom prst="bentConnector3">
            <a:avLst>
              <a:gd name="adj1" fmla="val -16977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700843" y="2353783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870538" y="2685264"/>
            <a:ext cx="0" cy="4392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196651" y="231647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357657" y="2658587"/>
            <a:ext cx="0" cy="4392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419601" y="3094411"/>
            <a:ext cx="266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So, Number of words are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07691" y="3087796"/>
            <a:ext cx="543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=5!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007691" y="3838605"/>
            <a:ext cx="1774751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For arranging the 1 unit internally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442765" y="3100895"/>
            <a:ext cx="543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×4!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935433" y="3088871"/>
            <a:ext cx="843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=2880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7772400" y="3392329"/>
            <a:ext cx="0" cy="49244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515572" y="3104250"/>
            <a:ext cx="26962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516" y="231774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772522" y="2659863"/>
            <a:ext cx="0" cy="4392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930440" y="3129651"/>
            <a:ext cx="37061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6384" y="234315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187390" y="2685264"/>
            <a:ext cx="0" cy="4392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8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5" grpId="0"/>
      <p:bldP spid="10" grpId="0"/>
      <p:bldP spid="11" grpId="0"/>
      <p:bldP spid="12" grpId="0" animBg="1"/>
      <p:bldP spid="13" grpId="0"/>
      <p:bldP spid="16" grpId="0" animBg="1"/>
      <p:bldP spid="17" grpId="0" animBg="1"/>
      <p:bldP spid="27" grpId="0"/>
      <p:bldP spid="29" grpId="0"/>
      <p:bldP spid="34" grpId="0"/>
      <p:bldP spid="35" grpId="0"/>
      <p:bldP spid="38" grpId="0" animBg="1"/>
      <p:bldP spid="39" grpId="0"/>
      <p:bldP spid="40" grpId="0"/>
      <p:bldP spid="26" grpId="0" animBg="1"/>
      <p:bldP spid="31" grpId="0"/>
      <p:bldP spid="33" grpId="0" animBg="1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09" y="438150"/>
            <a:ext cx="2203488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Never Together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4799" y="768350"/>
            <a:ext cx="1425198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a) Vowels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1230015"/>
            <a:ext cx="883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	Number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words that can be made with the letters of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word “INSTITUTE” 	when all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vowels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 together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876346"/>
            <a:ext cx="3695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9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0" y="1885950"/>
            <a:ext cx="152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 of these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05600" y="2011132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90533" y="1653875"/>
            <a:ext cx="38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61018" y="20192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0999" y="3177729"/>
            <a:ext cx="1005553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I,I,U,E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87039" y="3184155"/>
            <a:ext cx="798961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T,T,T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38400" y="3188362"/>
            <a:ext cx="37061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89840" y="3028950"/>
            <a:ext cx="2829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Now, Number of words In which vowel are together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7171532" y="1866840"/>
            <a:ext cx="52139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750663" y="1687474"/>
            <a:ext cx="38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131554" y="2219295"/>
            <a:ext cx="52139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62000" y="2583418"/>
            <a:ext cx="31760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So, Total number of words are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184251" y="234315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9!</a:t>
            </a:r>
            <a:endParaRPr lang="en-US" sz="2000" b="1" dirty="0"/>
          </a:p>
        </p:txBody>
      </p:sp>
      <p:cxnSp>
        <p:nvCxnSpPr>
          <p:cNvPr id="47" name="Straight Connector 46"/>
          <p:cNvCxnSpPr/>
          <p:nvPr/>
        </p:nvCxnSpPr>
        <p:spPr>
          <a:xfrm>
            <a:off x="4041389" y="2735829"/>
            <a:ext cx="8473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137117" y="2726306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49" name="Rectangle 48"/>
          <p:cNvSpPr/>
          <p:nvPr/>
        </p:nvSpPr>
        <p:spPr>
          <a:xfrm>
            <a:off x="4392101" y="2726306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50" name="Rectangle 49"/>
          <p:cNvSpPr/>
          <p:nvPr/>
        </p:nvSpPr>
        <p:spPr>
          <a:xfrm>
            <a:off x="4976370" y="2526251"/>
            <a:ext cx="3305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307346" y="2385682"/>
            <a:ext cx="12458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9×8×5040</a:t>
            </a:r>
            <a:endParaRPr lang="en-US" sz="2000" b="1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5257800" y="2714563"/>
            <a:ext cx="1295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508980" y="2705040"/>
            <a:ext cx="587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6×2</a:t>
            </a:r>
            <a:endParaRPr lang="en-US" sz="2000" b="1" dirty="0"/>
          </a:p>
        </p:txBody>
      </p:sp>
      <p:sp>
        <p:nvSpPr>
          <p:cNvPr id="55" name="Rectangle 54"/>
          <p:cNvSpPr/>
          <p:nvPr/>
        </p:nvSpPr>
        <p:spPr>
          <a:xfrm>
            <a:off x="6553200" y="2548715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=30240</a:t>
            </a:r>
            <a:endParaRPr lang="en-US" sz="2000" b="1" dirty="0"/>
          </a:p>
        </p:txBody>
      </p:sp>
      <p:sp>
        <p:nvSpPr>
          <p:cNvPr id="57" name="Rectangle 56"/>
          <p:cNvSpPr/>
          <p:nvPr/>
        </p:nvSpPr>
        <p:spPr>
          <a:xfrm>
            <a:off x="2878372" y="3188362"/>
            <a:ext cx="32733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982807" y="3046291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5933261" y="3359019"/>
            <a:ext cx="848539" cy="161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84896" y="3028950"/>
            <a:ext cx="543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×4!</a:t>
            </a:r>
            <a:endParaRPr lang="en-US" sz="2000" b="1" dirty="0"/>
          </a:p>
        </p:txBody>
      </p:sp>
      <p:sp>
        <p:nvSpPr>
          <p:cNvPr id="61" name="Rectangle 60"/>
          <p:cNvSpPr/>
          <p:nvPr/>
        </p:nvSpPr>
        <p:spPr>
          <a:xfrm>
            <a:off x="6026374" y="3406728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62" name="Rectangle 61"/>
          <p:cNvSpPr/>
          <p:nvPr/>
        </p:nvSpPr>
        <p:spPr>
          <a:xfrm>
            <a:off x="6238061" y="3384759"/>
            <a:ext cx="543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×2!</a:t>
            </a:r>
            <a:endParaRPr lang="en-US" sz="2000" b="1" dirty="0"/>
          </a:p>
        </p:txBody>
      </p:sp>
      <p:sp>
        <p:nvSpPr>
          <p:cNvPr id="63" name="Rectangle 62"/>
          <p:cNvSpPr/>
          <p:nvPr/>
        </p:nvSpPr>
        <p:spPr>
          <a:xfrm>
            <a:off x="6700299" y="3177729"/>
            <a:ext cx="843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=1440</a:t>
            </a:r>
            <a:endParaRPr lang="en-US" sz="2000" b="1" dirty="0"/>
          </a:p>
        </p:txBody>
      </p:sp>
      <p:sp>
        <p:nvSpPr>
          <p:cNvPr id="64" name="Rectangle 63"/>
          <p:cNvSpPr/>
          <p:nvPr/>
        </p:nvSpPr>
        <p:spPr>
          <a:xfrm>
            <a:off x="1017398" y="3919711"/>
            <a:ext cx="30088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So, Number of words In which vowel are not together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004629" y="4042821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=30240</a:t>
            </a:r>
            <a:endParaRPr lang="en-US" sz="2000" b="1" dirty="0"/>
          </a:p>
        </p:txBody>
      </p:sp>
      <p:sp>
        <p:nvSpPr>
          <p:cNvPr id="66" name="Rectangle 65"/>
          <p:cNvSpPr/>
          <p:nvPr/>
        </p:nvSpPr>
        <p:spPr>
          <a:xfrm>
            <a:off x="4813681" y="4032188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-1440</a:t>
            </a:r>
            <a:endParaRPr lang="en-US" sz="2000" b="1" dirty="0"/>
          </a:p>
        </p:txBody>
      </p:sp>
      <p:sp>
        <p:nvSpPr>
          <p:cNvPr id="67" name="Rectangle 66"/>
          <p:cNvSpPr/>
          <p:nvPr/>
        </p:nvSpPr>
        <p:spPr>
          <a:xfrm>
            <a:off x="5455474" y="4026230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=28800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885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5" grpId="0"/>
      <p:bldP spid="10" grpId="0"/>
      <p:bldP spid="11" grpId="0"/>
      <p:bldP spid="12" grpId="0" animBg="1"/>
      <p:bldP spid="14" grpId="0" animBg="1"/>
      <p:bldP spid="6" grpId="0" animBg="1"/>
      <p:bldP spid="34" grpId="0"/>
      <p:bldP spid="36" grpId="0"/>
      <p:bldP spid="42" grpId="0"/>
      <p:bldP spid="46" grpId="0"/>
      <p:bldP spid="48" grpId="0"/>
      <p:bldP spid="49" grpId="0"/>
      <p:bldP spid="50" grpId="0"/>
      <p:bldP spid="51" grpId="0"/>
      <p:bldP spid="53" grpId="0"/>
      <p:bldP spid="55" grpId="0"/>
      <p:bldP spid="57" grpId="0" animBg="1"/>
      <p:bldP spid="58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09" y="438150"/>
            <a:ext cx="2203488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Never Together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4799" y="768350"/>
            <a:ext cx="2077813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b</a:t>
            </a:r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) Consonants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1230015"/>
            <a:ext cx="899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	Number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words that can be made with the letters of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word “NOVEMBER” 	when all the consonants are not together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876346"/>
            <a:ext cx="3695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8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0" y="1885950"/>
            <a:ext cx="152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 of these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74070" y="1885950"/>
            <a:ext cx="38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032" y="3197105"/>
            <a:ext cx="1589568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N, V, M, B, 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596780" y="3083059"/>
            <a:ext cx="31446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Now, Number of words In which consonant are together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6355069" y="2098915"/>
            <a:ext cx="52139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934200" y="1919549"/>
            <a:ext cx="38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62000" y="2583418"/>
            <a:ext cx="31760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So, Total number of words are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184251" y="234315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cxnSp>
        <p:nvCxnSpPr>
          <p:cNvPr id="47" name="Straight Connector 46"/>
          <p:cNvCxnSpPr/>
          <p:nvPr/>
        </p:nvCxnSpPr>
        <p:spPr>
          <a:xfrm>
            <a:off x="4041389" y="2735829"/>
            <a:ext cx="8473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392101" y="2726306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50" name="Rectangle 49"/>
          <p:cNvSpPr/>
          <p:nvPr/>
        </p:nvSpPr>
        <p:spPr>
          <a:xfrm>
            <a:off x="4976370" y="2526251"/>
            <a:ext cx="3305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307346" y="2385682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8×5040</a:t>
            </a:r>
            <a:endParaRPr lang="en-US" sz="2000" b="1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5257800" y="2714563"/>
            <a:ext cx="1295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508980" y="27050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sz="2000" b="1" dirty="0"/>
          </a:p>
        </p:txBody>
      </p:sp>
      <p:sp>
        <p:nvSpPr>
          <p:cNvPr id="55" name="Rectangle 54"/>
          <p:cNvSpPr/>
          <p:nvPr/>
        </p:nvSpPr>
        <p:spPr>
          <a:xfrm>
            <a:off x="6553200" y="2548715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=20160</a:t>
            </a:r>
            <a:endParaRPr lang="en-US" sz="2000" b="1" dirty="0"/>
          </a:p>
        </p:txBody>
      </p:sp>
      <p:sp>
        <p:nvSpPr>
          <p:cNvPr id="57" name="Rectangle 56"/>
          <p:cNvSpPr/>
          <p:nvPr/>
        </p:nvSpPr>
        <p:spPr>
          <a:xfrm>
            <a:off x="2324630" y="3200515"/>
            <a:ext cx="37061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44807" y="3008436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6695261" y="3333750"/>
            <a:ext cx="702666" cy="35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946896" y="2991095"/>
            <a:ext cx="543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62" name="Rectangle 61"/>
          <p:cNvSpPr/>
          <p:nvPr/>
        </p:nvSpPr>
        <p:spPr>
          <a:xfrm>
            <a:off x="6897726" y="3346904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2!</a:t>
            </a:r>
            <a:endParaRPr lang="en-US" sz="2000" b="1" dirty="0"/>
          </a:p>
        </p:txBody>
      </p:sp>
      <p:sp>
        <p:nvSpPr>
          <p:cNvPr id="63" name="Rectangle 62"/>
          <p:cNvSpPr/>
          <p:nvPr/>
        </p:nvSpPr>
        <p:spPr>
          <a:xfrm>
            <a:off x="7462299" y="3139874"/>
            <a:ext cx="843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=1440</a:t>
            </a:r>
            <a:endParaRPr lang="en-US" sz="2000" b="1" dirty="0"/>
          </a:p>
        </p:txBody>
      </p:sp>
      <p:sp>
        <p:nvSpPr>
          <p:cNvPr id="64" name="Rectangle 63"/>
          <p:cNvSpPr/>
          <p:nvPr/>
        </p:nvSpPr>
        <p:spPr>
          <a:xfrm>
            <a:off x="762000" y="3919711"/>
            <a:ext cx="32642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So, Number of words In which consonants are not together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004629" y="4042821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=20160</a:t>
            </a:r>
            <a:endParaRPr lang="en-US" sz="2000" b="1" dirty="0"/>
          </a:p>
        </p:txBody>
      </p:sp>
      <p:sp>
        <p:nvSpPr>
          <p:cNvPr id="66" name="Rectangle 65"/>
          <p:cNvSpPr/>
          <p:nvPr/>
        </p:nvSpPr>
        <p:spPr>
          <a:xfrm>
            <a:off x="4813681" y="4032188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-1440</a:t>
            </a:r>
            <a:endParaRPr lang="en-US" sz="2000" b="1" dirty="0"/>
          </a:p>
        </p:txBody>
      </p:sp>
      <p:sp>
        <p:nvSpPr>
          <p:cNvPr id="67" name="Rectangle 66"/>
          <p:cNvSpPr/>
          <p:nvPr/>
        </p:nvSpPr>
        <p:spPr>
          <a:xfrm>
            <a:off x="5455474" y="4026230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=18720</a:t>
            </a:r>
            <a:endParaRPr lang="en-US" sz="2000" b="1" dirty="0"/>
          </a:p>
        </p:txBody>
      </p:sp>
      <p:sp>
        <p:nvSpPr>
          <p:cNvPr id="40" name="Rectangle 39"/>
          <p:cNvSpPr/>
          <p:nvPr/>
        </p:nvSpPr>
        <p:spPr>
          <a:xfrm>
            <a:off x="2788108" y="3206673"/>
            <a:ext cx="34176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0592" y="3208491"/>
            <a:ext cx="34176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30322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 animBg="1"/>
      <p:bldP spid="34" grpId="0"/>
      <p:bldP spid="36" grpId="0"/>
      <p:bldP spid="42" grpId="0"/>
      <p:bldP spid="46" grpId="0"/>
      <p:bldP spid="49" grpId="0"/>
      <p:bldP spid="50" grpId="0"/>
      <p:bldP spid="51" grpId="0"/>
      <p:bldP spid="53" grpId="0"/>
      <p:bldP spid="55" grpId="0"/>
      <p:bldP spid="57" grpId="0" animBg="1"/>
      <p:bldP spid="58" grpId="0"/>
      <p:bldP spid="60" grpId="0"/>
      <p:bldP spid="62" grpId="0"/>
      <p:bldP spid="63" grpId="0"/>
      <p:bldP spid="64" grpId="0"/>
      <p:bldP spid="65" grpId="0"/>
      <p:bldP spid="66" grpId="0"/>
      <p:bldP spid="67" grpId="0"/>
      <p:bldP spid="40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09" y="438150"/>
            <a:ext cx="3108543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ODD &amp; EVEN Places 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08" y="899815"/>
            <a:ext cx="85543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	The number of arrangements that can be made with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letters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word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MEADOWS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that the vowels occupy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even places?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A. 720	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B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144	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120		D. 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36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371599" y="1723744"/>
            <a:ext cx="3695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Here, there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objects (letters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371600" y="2133660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732414" y="2135816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092148" y="2139741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2439480" y="2135816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2799214" y="2125183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169581" y="2125183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505200" y="2135816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856807" y="264795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 flipV="1">
            <a:off x="2552491" y="2647950"/>
            <a:ext cx="14037" cy="8516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V="1">
            <a:off x="3293974" y="2581053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Left Brace 17"/>
          <p:cNvSpPr/>
          <p:nvPr/>
        </p:nvSpPr>
        <p:spPr>
          <a:xfrm rot="16200000">
            <a:off x="2307090" y="2869346"/>
            <a:ext cx="484127" cy="1454894"/>
          </a:xfrm>
          <a:prstGeom prst="leftBrace">
            <a:avLst>
              <a:gd name="adj1" fmla="val 85202"/>
              <a:gd name="adj2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1985824" y="3838857"/>
            <a:ext cx="14471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Even Place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067298" y="2123854"/>
            <a:ext cx="346710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are three vowels, so arranging these vowels first and then the remaining consonants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4602" y="2166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81" name="Rectangle 80"/>
          <p:cNvSpPr/>
          <p:nvPr/>
        </p:nvSpPr>
        <p:spPr>
          <a:xfrm>
            <a:off x="2416487" y="215596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84" name="Rectangle 83"/>
          <p:cNvSpPr/>
          <p:nvPr/>
        </p:nvSpPr>
        <p:spPr>
          <a:xfrm>
            <a:off x="3154808" y="2164438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85" name="Rectangle 84"/>
          <p:cNvSpPr/>
          <p:nvPr/>
        </p:nvSpPr>
        <p:spPr>
          <a:xfrm>
            <a:off x="1345952" y="219075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/>
          </a:p>
        </p:txBody>
      </p:sp>
      <p:sp>
        <p:nvSpPr>
          <p:cNvPr id="86" name="Rectangle 85"/>
          <p:cNvSpPr/>
          <p:nvPr/>
        </p:nvSpPr>
        <p:spPr>
          <a:xfrm>
            <a:off x="2066500" y="215596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2801187" y="216659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88" name="Rectangle 87"/>
          <p:cNvSpPr/>
          <p:nvPr/>
        </p:nvSpPr>
        <p:spPr>
          <a:xfrm>
            <a:off x="3505200" y="213974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2241699" y="2166594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×</a:t>
            </a:r>
            <a:endParaRPr lang="en-US" dirty="0"/>
          </a:p>
        </p:txBody>
      </p:sp>
      <p:sp>
        <p:nvSpPr>
          <p:cNvPr id="90" name="Rectangle 89"/>
          <p:cNvSpPr/>
          <p:nvPr/>
        </p:nvSpPr>
        <p:spPr>
          <a:xfrm>
            <a:off x="2971800" y="2181152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×</a:t>
            </a:r>
            <a:endParaRPr lang="en-US" dirty="0"/>
          </a:p>
        </p:txBody>
      </p:sp>
      <p:sp>
        <p:nvSpPr>
          <p:cNvPr id="91" name="Rectangle 90"/>
          <p:cNvSpPr/>
          <p:nvPr/>
        </p:nvSpPr>
        <p:spPr>
          <a:xfrm>
            <a:off x="1542637" y="2155961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×</a:t>
            </a:r>
            <a:endParaRPr lang="en-US" dirty="0"/>
          </a:p>
        </p:txBody>
      </p:sp>
      <p:sp>
        <p:nvSpPr>
          <p:cNvPr id="92" name="Rectangle 91"/>
          <p:cNvSpPr/>
          <p:nvPr/>
        </p:nvSpPr>
        <p:spPr>
          <a:xfrm>
            <a:off x="1895290" y="2177227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×</a:t>
            </a:r>
            <a:endParaRPr lang="en-US" dirty="0"/>
          </a:p>
        </p:txBody>
      </p:sp>
      <p:sp>
        <p:nvSpPr>
          <p:cNvPr id="93" name="Rectangle 92"/>
          <p:cNvSpPr/>
          <p:nvPr/>
        </p:nvSpPr>
        <p:spPr>
          <a:xfrm>
            <a:off x="2623274" y="2166594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×</a:t>
            </a:r>
            <a:endParaRPr lang="en-US" dirty="0"/>
          </a:p>
        </p:txBody>
      </p:sp>
      <p:sp>
        <p:nvSpPr>
          <p:cNvPr id="94" name="Rectangle 93"/>
          <p:cNvSpPr/>
          <p:nvPr/>
        </p:nvSpPr>
        <p:spPr>
          <a:xfrm>
            <a:off x="3318783" y="2143790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×</a:t>
            </a:r>
            <a:endParaRPr lang="en-US" dirty="0"/>
          </a:p>
        </p:txBody>
      </p:sp>
      <p:sp>
        <p:nvSpPr>
          <p:cNvPr id="95" name="Rectangle 94"/>
          <p:cNvSpPr/>
          <p:nvPr/>
        </p:nvSpPr>
        <p:spPr>
          <a:xfrm>
            <a:off x="3952690" y="2187860"/>
            <a:ext cx="660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=144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058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68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18" grpId="0" animBg="1"/>
      <p:bldP spid="79" grpId="0"/>
      <p:bldP spid="80" grpId="0"/>
      <p:bldP spid="20" grpId="0"/>
      <p:bldP spid="81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09" y="438150"/>
            <a:ext cx="2598019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Numbers Problem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08" y="899815"/>
            <a:ext cx="85543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many four digit even numbers can be formed using the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digits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{2, 3, 5, 1, 7, 9}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A.100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B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360	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120	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D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240	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E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60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81000" y="1581150"/>
            <a:ext cx="6248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are 6 digit out of which only one digits {2} is even.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371600" y="2133660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732414" y="2135816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101701" y="2135816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62515" y="2137972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733800" y="1885950"/>
            <a:ext cx="403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even number can be placed at unit place, so number of ways are 1.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62200" y="2571750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×1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3733800" y="2571750"/>
            <a:ext cx="403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Now remaining digits can be placed at each place at once.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281030" y="2593836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641844" y="2571750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×4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2032589" y="2583203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×3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2667000" y="2571978"/>
            <a:ext cx="545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=60</a:t>
            </a:r>
            <a:endParaRPr lang="en-US" b="1" dirty="0"/>
          </a:p>
        </p:txBody>
      </p:sp>
      <p:sp>
        <p:nvSpPr>
          <p:cNvPr id="45" name="Rectangle 44"/>
          <p:cNvSpPr/>
          <p:nvPr/>
        </p:nvSpPr>
        <p:spPr>
          <a:xfrm>
            <a:off x="3817003" y="3279636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Ans E . 60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216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34" grpId="0" animBg="1"/>
      <p:bldP spid="35" grpId="0" animBg="1"/>
      <p:bldP spid="36" grpId="0" animBg="1"/>
      <p:bldP spid="37" grpId="0" animBg="1"/>
      <p:bldP spid="38" grpId="0"/>
      <p:bldP spid="3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09" y="361950"/>
            <a:ext cx="2598019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Numbers Problem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08" y="742950"/>
            <a:ext cx="8554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3-digit numbers can be formed from the digits 2, 3, 5, 6, 7 and 9, which are divisible by 5 and none of the digits is repeated?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A.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B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C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15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D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3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1000" y="1581150"/>
            <a:ext cx="754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are 6 digit out of which only one digits {5} is divisible by 5.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32414" y="2135816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01701" y="2135816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62515" y="2137972"/>
            <a:ext cx="2487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33800" y="1885950"/>
            <a:ext cx="403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number 5 can be placed at unit place, so number of ways are 1.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62200" y="2571750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×1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3733800" y="2571750"/>
            <a:ext cx="403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Now remaining digits can be placed at each place at once.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41844" y="257175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2032589" y="2583203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×4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667000" y="2571978"/>
            <a:ext cx="546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=20</a:t>
            </a:r>
            <a:endParaRPr lang="en-US" b="1" dirty="0"/>
          </a:p>
        </p:txBody>
      </p:sp>
      <p:sp>
        <p:nvSpPr>
          <p:cNvPr id="31" name="Rectangle 30"/>
          <p:cNvSpPr/>
          <p:nvPr/>
        </p:nvSpPr>
        <p:spPr>
          <a:xfrm>
            <a:off x="3817003" y="3279636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Ans D . 20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6082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 animBg="1"/>
      <p:bldP spid="22" grpId="0" animBg="1"/>
      <p:bldP spid="23" grpId="0" animBg="1"/>
      <p:bldP spid="24" grpId="0"/>
      <p:bldP spid="25" grpId="0"/>
      <p:bldP spid="26" grpId="0"/>
      <p:bldP spid="28" grpId="0"/>
      <p:bldP spid="29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-23515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809" y="209550"/>
            <a:ext cx="4553491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Ranking According to Dictionary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590550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1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2992" y="605991"/>
            <a:ext cx="6228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Give Ranking to each alphabet according to dictionary.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" y="2114550"/>
            <a:ext cx="85543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 the letters of the word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“NIRMA"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are arranged as in a dictionary, then the rank of the given word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 fontAlgn="t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81		B.82		C. 83		D. 84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07576" y="3276660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endParaRPr lang="en-US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1988576" y="3276660"/>
            <a:ext cx="2840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2293376" y="3276660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2674376" y="3276660"/>
            <a:ext cx="4267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</a:t>
            </a:r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2999924" y="3276660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/>
          </a:p>
        </p:txBody>
      </p:sp>
      <p:sp>
        <p:nvSpPr>
          <p:cNvPr id="12" name="Rectangle 11"/>
          <p:cNvSpPr/>
          <p:nvPr/>
        </p:nvSpPr>
        <p:spPr>
          <a:xfrm>
            <a:off x="3103289" y="30860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sz="2000" b="1" dirty="0"/>
          </a:p>
        </p:txBody>
      </p:sp>
      <p:sp>
        <p:nvSpPr>
          <p:cNvPr id="13" name="Rectangle 12"/>
          <p:cNvSpPr/>
          <p:nvPr/>
        </p:nvSpPr>
        <p:spPr>
          <a:xfrm>
            <a:off x="1959722" y="306084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2743200" y="306433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15" name="Rectangle 14"/>
          <p:cNvSpPr/>
          <p:nvPr/>
        </p:nvSpPr>
        <p:spPr>
          <a:xfrm>
            <a:off x="1665284" y="306084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sz="2000" b="1" dirty="0"/>
          </a:p>
        </p:txBody>
      </p:sp>
      <p:sp>
        <p:nvSpPr>
          <p:cNvPr id="16" name="Rectangle 15"/>
          <p:cNvSpPr/>
          <p:nvPr/>
        </p:nvSpPr>
        <p:spPr>
          <a:xfrm>
            <a:off x="2293376" y="30687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sz="2000" b="1" dirty="0"/>
          </a:p>
        </p:txBody>
      </p:sp>
      <p:sp>
        <p:nvSpPr>
          <p:cNvPr id="17" name="Rectangle 16"/>
          <p:cNvSpPr/>
          <p:nvPr/>
        </p:nvSpPr>
        <p:spPr>
          <a:xfrm>
            <a:off x="230372" y="830818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2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43000" y="829723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Check , How many numbers are smaller than the obtained rank oh RHS.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637184" y="347671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20" name="Rectangle 19"/>
          <p:cNvSpPr/>
          <p:nvPr/>
        </p:nvSpPr>
        <p:spPr>
          <a:xfrm>
            <a:off x="1972882" y="347671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sz="2000" b="1" dirty="0"/>
          </a:p>
        </p:txBody>
      </p:sp>
      <p:sp>
        <p:nvSpPr>
          <p:cNvPr id="21" name="Rectangle 20"/>
          <p:cNvSpPr/>
          <p:nvPr/>
        </p:nvSpPr>
        <p:spPr>
          <a:xfrm>
            <a:off x="2327214" y="3501584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sz="2000" b="1" dirty="0"/>
          </a:p>
        </p:txBody>
      </p:sp>
      <p:sp>
        <p:nvSpPr>
          <p:cNvPr id="22" name="Rectangle 21"/>
          <p:cNvSpPr/>
          <p:nvPr/>
        </p:nvSpPr>
        <p:spPr>
          <a:xfrm>
            <a:off x="2763619" y="350526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sz="2000" b="1" dirty="0"/>
          </a:p>
        </p:txBody>
      </p:sp>
      <p:sp>
        <p:nvSpPr>
          <p:cNvPr id="23" name="Rectangle 22"/>
          <p:cNvSpPr/>
          <p:nvPr/>
        </p:nvSpPr>
        <p:spPr>
          <a:xfrm>
            <a:off x="3057632" y="350709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sz="2000" b="1" dirty="0"/>
          </a:p>
        </p:txBody>
      </p:sp>
      <p:sp>
        <p:nvSpPr>
          <p:cNvPr id="24" name="Rectangle 23"/>
          <p:cNvSpPr/>
          <p:nvPr/>
        </p:nvSpPr>
        <p:spPr>
          <a:xfrm>
            <a:off x="228600" y="1059418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11101" y="1079649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Assign 0! at right most place and increase by 1 towards left.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958016" y="3792211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0!</a:t>
            </a:r>
            <a:endParaRPr lang="en-US" sz="2000" b="1" dirty="0"/>
          </a:p>
        </p:txBody>
      </p:sp>
      <p:sp>
        <p:nvSpPr>
          <p:cNvPr id="27" name="Rectangle 26"/>
          <p:cNvSpPr/>
          <p:nvPr/>
        </p:nvSpPr>
        <p:spPr>
          <a:xfrm>
            <a:off x="2637392" y="3787025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28" name="Rectangle 27"/>
          <p:cNvSpPr/>
          <p:nvPr/>
        </p:nvSpPr>
        <p:spPr>
          <a:xfrm>
            <a:off x="2214030" y="3795622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29" name="Rectangle 28"/>
          <p:cNvSpPr/>
          <p:nvPr/>
        </p:nvSpPr>
        <p:spPr>
          <a:xfrm>
            <a:off x="1822593" y="3761723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3!</a:t>
            </a:r>
            <a:endParaRPr lang="en-US" sz="2000" b="1" dirty="0"/>
          </a:p>
        </p:txBody>
      </p:sp>
      <p:sp>
        <p:nvSpPr>
          <p:cNvPr id="30" name="Rectangle 29"/>
          <p:cNvSpPr/>
          <p:nvPr/>
        </p:nvSpPr>
        <p:spPr>
          <a:xfrm>
            <a:off x="1524000" y="3761723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31" name="Rectangle 30"/>
          <p:cNvSpPr/>
          <p:nvPr/>
        </p:nvSpPr>
        <p:spPr>
          <a:xfrm>
            <a:off x="289997" y="1288018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4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263501" y="1305148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Multiply and add the Step 2 number and step 3 number.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56592" y="3124020"/>
            <a:ext cx="671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3×4!</a:t>
            </a:r>
            <a:endParaRPr lang="en-US" sz="2000" b="1" dirty="0"/>
          </a:p>
        </p:txBody>
      </p:sp>
      <p:sp>
        <p:nvSpPr>
          <p:cNvPr id="34" name="Rectangle 33"/>
          <p:cNvSpPr/>
          <p:nvPr/>
        </p:nvSpPr>
        <p:spPr>
          <a:xfrm>
            <a:off x="4390520" y="3130341"/>
            <a:ext cx="881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+ 1×3!</a:t>
            </a:r>
            <a:endParaRPr lang="en-US" sz="2000" b="1" dirty="0"/>
          </a:p>
        </p:txBody>
      </p:sp>
      <p:sp>
        <p:nvSpPr>
          <p:cNvPr id="35" name="Rectangle 34"/>
          <p:cNvSpPr/>
          <p:nvPr/>
        </p:nvSpPr>
        <p:spPr>
          <a:xfrm>
            <a:off x="5108219" y="3119708"/>
            <a:ext cx="881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+ 2×2!</a:t>
            </a:r>
            <a:endParaRPr lang="en-US" sz="2000" b="1" dirty="0"/>
          </a:p>
        </p:txBody>
      </p:sp>
      <p:sp>
        <p:nvSpPr>
          <p:cNvPr id="36" name="Rectangle 35"/>
          <p:cNvSpPr/>
          <p:nvPr/>
        </p:nvSpPr>
        <p:spPr>
          <a:xfrm>
            <a:off x="5990192" y="3124020"/>
            <a:ext cx="881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+ 1×1!</a:t>
            </a:r>
            <a:endParaRPr lang="en-US" sz="2000" b="1" dirty="0"/>
          </a:p>
        </p:txBody>
      </p:sp>
      <p:sp>
        <p:nvSpPr>
          <p:cNvPr id="37" name="Rectangle 36"/>
          <p:cNvSpPr/>
          <p:nvPr/>
        </p:nvSpPr>
        <p:spPr>
          <a:xfrm>
            <a:off x="6872165" y="3130341"/>
            <a:ext cx="881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+ 0×0!</a:t>
            </a:r>
            <a:endParaRPr lang="en-US" sz="2000" b="1" dirty="0"/>
          </a:p>
        </p:txBody>
      </p:sp>
      <p:sp>
        <p:nvSpPr>
          <p:cNvPr id="38" name="Rectangle 37"/>
          <p:cNvSpPr/>
          <p:nvPr/>
        </p:nvSpPr>
        <p:spPr>
          <a:xfrm>
            <a:off x="284809" y="1513294"/>
            <a:ext cx="94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5:-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66392" y="1554568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Add 1 at the obtained result, which is the rank of the given word.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586332" y="3137049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+ 1</a:t>
            </a:r>
            <a:endParaRPr lang="en-US" sz="2000" b="1" dirty="0"/>
          </a:p>
        </p:txBody>
      </p:sp>
      <p:sp>
        <p:nvSpPr>
          <p:cNvPr id="41" name="Rectangle 40"/>
          <p:cNvSpPr/>
          <p:nvPr/>
        </p:nvSpPr>
        <p:spPr>
          <a:xfrm>
            <a:off x="3856592" y="3477170"/>
            <a:ext cx="587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=72</a:t>
            </a:r>
            <a:endParaRPr lang="en-US" sz="2000" b="1" dirty="0"/>
          </a:p>
        </p:txBody>
      </p:sp>
      <p:sp>
        <p:nvSpPr>
          <p:cNvPr id="42" name="Rectangle 41"/>
          <p:cNvSpPr/>
          <p:nvPr/>
        </p:nvSpPr>
        <p:spPr>
          <a:xfrm>
            <a:off x="4390519" y="3459319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+ 6</a:t>
            </a:r>
            <a:endParaRPr lang="en-US" sz="2000" b="1" dirty="0"/>
          </a:p>
        </p:txBody>
      </p:sp>
      <p:sp>
        <p:nvSpPr>
          <p:cNvPr id="43" name="Rectangle 42"/>
          <p:cNvSpPr/>
          <p:nvPr/>
        </p:nvSpPr>
        <p:spPr>
          <a:xfrm>
            <a:off x="4887787" y="3459319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+ 4</a:t>
            </a:r>
            <a:endParaRPr lang="en-US" sz="2000" b="1" dirty="0"/>
          </a:p>
        </p:txBody>
      </p:sp>
      <p:sp>
        <p:nvSpPr>
          <p:cNvPr id="44" name="Rectangle 43"/>
          <p:cNvSpPr/>
          <p:nvPr/>
        </p:nvSpPr>
        <p:spPr>
          <a:xfrm>
            <a:off x="5410687" y="3486525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+ 1</a:t>
            </a:r>
            <a:endParaRPr lang="en-US" sz="2000" b="1" dirty="0"/>
          </a:p>
        </p:txBody>
      </p:sp>
      <p:sp>
        <p:nvSpPr>
          <p:cNvPr id="45" name="Rectangle 44"/>
          <p:cNvSpPr/>
          <p:nvPr/>
        </p:nvSpPr>
        <p:spPr>
          <a:xfrm>
            <a:off x="5867400" y="3507791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+ 0</a:t>
            </a:r>
            <a:endParaRPr lang="en-US" sz="2000" b="1" dirty="0"/>
          </a:p>
        </p:txBody>
      </p:sp>
      <p:sp>
        <p:nvSpPr>
          <p:cNvPr id="46" name="Rectangle 45"/>
          <p:cNvSpPr/>
          <p:nvPr/>
        </p:nvSpPr>
        <p:spPr>
          <a:xfrm>
            <a:off x="6335100" y="3486150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+ 1</a:t>
            </a:r>
            <a:endParaRPr lang="en-US" sz="2000" b="1" dirty="0"/>
          </a:p>
        </p:txBody>
      </p:sp>
      <p:sp>
        <p:nvSpPr>
          <p:cNvPr id="47" name="Rectangle 46"/>
          <p:cNvSpPr/>
          <p:nvPr/>
        </p:nvSpPr>
        <p:spPr>
          <a:xfrm>
            <a:off x="3810000" y="3790950"/>
            <a:ext cx="587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=84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2701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-23515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809" y="209550"/>
            <a:ext cx="7461979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Ranking According to Dictionary (Repeated Alphabets)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590550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1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2992" y="605991"/>
            <a:ext cx="6228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Give Ranking to each alphabet according to dictionary.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" y="2114550"/>
            <a:ext cx="85543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 the letters of the word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“NAVEEN"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are arranged as in a dictionary, then the rank of the given word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 fontAlgn="t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23		B. 24		C. 48		D. 22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3486" y="3319763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endParaRPr lang="en-US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1458186" y="3307736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2111475" y="3295007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endParaRPr lang="en-US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2674376" y="3276660"/>
            <a:ext cx="356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2999924" y="3276660"/>
            <a:ext cx="356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endParaRPr lang="en-US" sz="2000" b="1" dirty="0"/>
          </a:p>
        </p:txBody>
      </p:sp>
      <p:sp>
        <p:nvSpPr>
          <p:cNvPr id="12" name="Rectangle 11"/>
          <p:cNvSpPr/>
          <p:nvPr/>
        </p:nvSpPr>
        <p:spPr>
          <a:xfrm>
            <a:off x="3298266" y="3293895"/>
            <a:ext cx="370614" cy="484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endParaRPr lang="en-US" sz="2000" b="1" dirty="0"/>
          </a:p>
        </p:txBody>
      </p:sp>
      <p:sp>
        <p:nvSpPr>
          <p:cNvPr id="13" name="Rectangle 12"/>
          <p:cNvSpPr/>
          <p:nvPr/>
        </p:nvSpPr>
        <p:spPr>
          <a:xfrm>
            <a:off x="1515894" y="299269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2654697" y="30098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sz="2000" b="1" dirty="0"/>
          </a:p>
        </p:txBody>
      </p:sp>
      <p:sp>
        <p:nvSpPr>
          <p:cNvPr id="15" name="Rectangle 14"/>
          <p:cNvSpPr/>
          <p:nvPr/>
        </p:nvSpPr>
        <p:spPr>
          <a:xfrm>
            <a:off x="3035258" y="30098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sz="2000" b="1" dirty="0"/>
          </a:p>
        </p:txBody>
      </p:sp>
      <p:sp>
        <p:nvSpPr>
          <p:cNvPr id="16" name="Rectangle 15"/>
          <p:cNvSpPr/>
          <p:nvPr/>
        </p:nvSpPr>
        <p:spPr>
          <a:xfrm>
            <a:off x="853486" y="30046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17" name="Rectangle 16"/>
          <p:cNvSpPr/>
          <p:nvPr/>
        </p:nvSpPr>
        <p:spPr>
          <a:xfrm>
            <a:off x="230372" y="830818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2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43000" y="829723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Check , How many numbers are smaller than the obtained rank oh RHS.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7427" y="359436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20" name="Rectangle 19"/>
          <p:cNvSpPr/>
          <p:nvPr/>
        </p:nvSpPr>
        <p:spPr>
          <a:xfrm>
            <a:off x="1487040" y="357690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sz="2000" b="1" dirty="0"/>
          </a:p>
        </p:txBody>
      </p:sp>
      <p:sp>
        <p:nvSpPr>
          <p:cNvPr id="21" name="Rectangle 20"/>
          <p:cNvSpPr/>
          <p:nvPr/>
        </p:nvSpPr>
        <p:spPr>
          <a:xfrm>
            <a:off x="2165777" y="351481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22" name="Rectangle 21"/>
          <p:cNvSpPr/>
          <p:nvPr/>
        </p:nvSpPr>
        <p:spPr>
          <a:xfrm>
            <a:off x="2677633" y="352652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sz="2000" b="1" dirty="0"/>
          </a:p>
        </p:txBody>
      </p:sp>
      <p:sp>
        <p:nvSpPr>
          <p:cNvPr id="23" name="Rectangle 22"/>
          <p:cNvSpPr/>
          <p:nvPr/>
        </p:nvSpPr>
        <p:spPr>
          <a:xfrm>
            <a:off x="3039894" y="352868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sz="2000" b="1" dirty="0"/>
          </a:p>
        </p:txBody>
      </p:sp>
      <p:sp>
        <p:nvSpPr>
          <p:cNvPr id="24" name="Rectangle 23"/>
          <p:cNvSpPr/>
          <p:nvPr/>
        </p:nvSpPr>
        <p:spPr>
          <a:xfrm>
            <a:off x="228600" y="1059418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11101" y="1079649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Assign 0! at right most place and increase by 1 towards left.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348164" y="354766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sz="2000" b="1" dirty="0"/>
          </a:p>
        </p:txBody>
      </p:sp>
      <p:sp>
        <p:nvSpPr>
          <p:cNvPr id="27" name="Rectangle 26"/>
          <p:cNvSpPr/>
          <p:nvPr/>
        </p:nvSpPr>
        <p:spPr>
          <a:xfrm>
            <a:off x="3031134" y="3850823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28" name="Rectangle 27"/>
          <p:cNvSpPr/>
          <p:nvPr/>
        </p:nvSpPr>
        <p:spPr>
          <a:xfrm>
            <a:off x="2683972" y="3867150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29" name="Rectangle 28"/>
          <p:cNvSpPr/>
          <p:nvPr/>
        </p:nvSpPr>
        <p:spPr>
          <a:xfrm>
            <a:off x="2142858" y="3878492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3!</a:t>
            </a:r>
            <a:endParaRPr lang="en-US" sz="2000" b="1" dirty="0"/>
          </a:p>
        </p:txBody>
      </p:sp>
      <p:sp>
        <p:nvSpPr>
          <p:cNvPr id="30" name="Rectangle 29"/>
          <p:cNvSpPr/>
          <p:nvPr/>
        </p:nvSpPr>
        <p:spPr>
          <a:xfrm>
            <a:off x="1458186" y="3902974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sz="2000" b="1" dirty="0"/>
          </a:p>
        </p:txBody>
      </p:sp>
      <p:sp>
        <p:nvSpPr>
          <p:cNvPr id="31" name="Rectangle 30"/>
          <p:cNvSpPr/>
          <p:nvPr/>
        </p:nvSpPr>
        <p:spPr>
          <a:xfrm>
            <a:off x="289997" y="1288018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4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200333" y="1526805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Multiply and add the Step 2 number and step 3 number.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56592" y="3124020"/>
            <a:ext cx="671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3×5!</a:t>
            </a:r>
            <a:endParaRPr lang="en-US" sz="2000" b="1" dirty="0"/>
          </a:p>
        </p:txBody>
      </p:sp>
      <p:sp>
        <p:nvSpPr>
          <p:cNvPr id="34" name="Rectangle 33"/>
          <p:cNvSpPr/>
          <p:nvPr/>
        </p:nvSpPr>
        <p:spPr>
          <a:xfrm>
            <a:off x="4390520" y="3130341"/>
            <a:ext cx="881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+ 0×4!</a:t>
            </a:r>
            <a:endParaRPr lang="en-US" sz="2000" b="1" dirty="0"/>
          </a:p>
        </p:txBody>
      </p:sp>
      <p:sp>
        <p:nvSpPr>
          <p:cNvPr id="35" name="Rectangle 34"/>
          <p:cNvSpPr/>
          <p:nvPr/>
        </p:nvSpPr>
        <p:spPr>
          <a:xfrm>
            <a:off x="5108219" y="3119708"/>
            <a:ext cx="881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+ 3×3!</a:t>
            </a:r>
            <a:endParaRPr lang="en-US" sz="2000" b="1" dirty="0"/>
          </a:p>
        </p:txBody>
      </p:sp>
      <p:sp>
        <p:nvSpPr>
          <p:cNvPr id="36" name="Rectangle 35"/>
          <p:cNvSpPr/>
          <p:nvPr/>
        </p:nvSpPr>
        <p:spPr>
          <a:xfrm>
            <a:off x="5990192" y="3124020"/>
            <a:ext cx="881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+ 0×2!</a:t>
            </a:r>
            <a:endParaRPr lang="en-US" sz="2000" b="1" dirty="0"/>
          </a:p>
        </p:txBody>
      </p:sp>
      <p:sp>
        <p:nvSpPr>
          <p:cNvPr id="37" name="Rectangle 36"/>
          <p:cNvSpPr/>
          <p:nvPr/>
        </p:nvSpPr>
        <p:spPr>
          <a:xfrm>
            <a:off x="6872165" y="3130341"/>
            <a:ext cx="881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+ 0×1!</a:t>
            </a:r>
            <a:endParaRPr lang="en-US" sz="2000" b="1" dirty="0"/>
          </a:p>
        </p:txBody>
      </p:sp>
      <p:sp>
        <p:nvSpPr>
          <p:cNvPr id="38" name="Rectangle 37"/>
          <p:cNvSpPr/>
          <p:nvPr/>
        </p:nvSpPr>
        <p:spPr>
          <a:xfrm>
            <a:off x="284809" y="1513294"/>
            <a:ext cx="94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5:-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66392" y="1270224"/>
            <a:ext cx="7977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Divide by number of alphabets are repeating on RHS including that alphabet.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458200" y="3160084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+ 1</a:t>
            </a:r>
            <a:endParaRPr lang="en-US" sz="2000" b="1" dirty="0"/>
          </a:p>
        </p:txBody>
      </p:sp>
      <p:sp>
        <p:nvSpPr>
          <p:cNvPr id="41" name="Rectangle 40"/>
          <p:cNvSpPr/>
          <p:nvPr/>
        </p:nvSpPr>
        <p:spPr>
          <a:xfrm>
            <a:off x="4085192" y="3762860"/>
            <a:ext cx="587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=90</a:t>
            </a:r>
            <a:endParaRPr lang="en-US" sz="2000" b="1" dirty="0"/>
          </a:p>
        </p:txBody>
      </p:sp>
      <p:sp>
        <p:nvSpPr>
          <p:cNvPr id="42" name="Rectangle 41"/>
          <p:cNvSpPr/>
          <p:nvPr/>
        </p:nvSpPr>
        <p:spPr>
          <a:xfrm>
            <a:off x="4619119" y="3745009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+ 0</a:t>
            </a:r>
            <a:endParaRPr lang="en-US" sz="2000" b="1" dirty="0"/>
          </a:p>
        </p:txBody>
      </p:sp>
      <p:sp>
        <p:nvSpPr>
          <p:cNvPr id="43" name="Rectangle 42"/>
          <p:cNvSpPr/>
          <p:nvPr/>
        </p:nvSpPr>
        <p:spPr>
          <a:xfrm>
            <a:off x="5116387" y="3745009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+ 9</a:t>
            </a:r>
            <a:endParaRPr lang="en-US" sz="2000" b="1" dirty="0"/>
          </a:p>
        </p:txBody>
      </p:sp>
      <p:sp>
        <p:nvSpPr>
          <p:cNvPr id="44" name="Rectangle 43"/>
          <p:cNvSpPr/>
          <p:nvPr/>
        </p:nvSpPr>
        <p:spPr>
          <a:xfrm>
            <a:off x="5639287" y="3772215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+ 0</a:t>
            </a:r>
            <a:endParaRPr lang="en-US" sz="2000" b="1" dirty="0"/>
          </a:p>
        </p:txBody>
      </p:sp>
      <p:sp>
        <p:nvSpPr>
          <p:cNvPr id="45" name="Rectangle 44"/>
          <p:cNvSpPr/>
          <p:nvPr/>
        </p:nvSpPr>
        <p:spPr>
          <a:xfrm>
            <a:off x="6096000" y="3793481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+ 0</a:t>
            </a:r>
            <a:endParaRPr lang="en-US" sz="2000" b="1" dirty="0"/>
          </a:p>
        </p:txBody>
      </p:sp>
      <p:sp>
        <p:nvSpPr>
          <p:cNvPr id="46" name="Rectangle 45"/>
          <p:cNvSpPr/>
          <p:nvPr/>
        </p:nvSpPr>
        <p:spPr>
          <a:xfrm>
            <a:off x="6563700" y="3771840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+ 1</a:t>
            </a:r>
            <a:endParaRPr lang="en-US" sz="2000" b="1" dirty="0"/>
          </a:p>
        </p:txBody>
      </p:sp>
      <p:sp>
        <p:nvSpPr>
          <p:cNvPr id="47" name="Rectangle 46"/>
          <p:cNvSpPr/>
          <p:nvPr/>
        </p:nvSpPr>
        <p:spPr>
          <a:xfrm>
            <a:off x="4038600" y="4076640"/>
            <a:ext cx="7152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=100</a:t>
            </a:r>
            <a:endParaRPr lang="en-US" sz="2000" b="1" dirty="0"/>
          </a:p>
        </p:txBody>
      </p:sp>
      <p:sp>
        <p:nvSpPr>
          <p:cNvPr id="48" name="Rectangle 47"/>
          <p:cNvSpPr/>
          <p:nvPr/>
        </p:nvSpPr>
        <p:spPr>
          <a:xfrm>
            <a:off x="3344694" y="30098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49" name="Rectangle 48"/>
          <p:cNvSpPr/>
          <p:nvPr/>
        </p:nvSpPr>
        <p:spPr>
          <a:xfrm>
            <a:off x="2110798" y="301200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sz="2000" b="1" dirty="0"/>
          </a:p>
        </p:txBody>
      </p:sp>
      <p:sp>
        <p:nvSpPr>
          <p:cNvPr id="50" name="Rectangle 49"/>
          <p:cNvSpPr/>
          <p:nvPr/>
        </p:nvSpPr>
        <p:spPr>
          <a:xfrm>
            <a:off x="3327120" y="3880361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0!</a:t>
            </a:r>
            <a:endParaRPr lang="en-US" sz="2000" b="1" dirty="0"/>
          </a:p>
        </p:txBody>
      </p:sp>
      <p:sp>
        <p:nvSpPr>
          <p:cNvPr id="51" name="Rectangle 50"/>
          <p:cNvSpPr/>
          <p:nvPr/>
        </p:nvSpPr>
        <p:spPr>
          <a:xfrm>
            <a:off x="887427" y="3878492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5!</a:t>
            </a:r>
            <a:endParaRPr lang="en-US" sz="2000" b="1" dirty="0"/>
          </a:p>
        </p:txBody>
      </p:sp>
      <p:sp>
        <p:nvSpPr>
          <p:cNvPr id="52" name="Rectangle 51"/>
          <p:cNvSpPr/>
          <p:nvPr/>
        </p:nvSpPr>
        <p:spPr>
          <a:xfrm>
            <a:off x="611710" y="4278602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2!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2! </a:t>
            </a:r>
            <a:endParaRPr lang="en-US" sz="2000" b="1" dirty="0"/>
          </a:p>
        </p:txBody>
      </p:sp>
      <p:cxnSp>
        <p:nvCxnSpPr>
          <p:cNvPr id="54" name="Straight Connector 53"/>
          <p:cNvCxnSpPr/>
          <p:nvPr/>
        </p:nvCxnSpPr>
        <p:spPr>
          <a:xfrm>
            <a:off x="897741" y="4238093"/>
            <a:ext cx="426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1476861" y="4238093"/>
            <a:ext cx="426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441595" y="4230947"/>
            <a:ext cx="4619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 </a:t>
            </a:r>
            <a:endParaRPr lang="en-US" sz="2000" b="1" dirty="0"/>
          </a:p>
        </p:txBody>
      </p:sp>
      <p:sp>
        <p:nvSpPr>
          <p:cNvPr id="59" name="Rectangle 58"/>
          <p:cNvSpPr/>
          <p:nvPr/>
        </p:nvSpPr>
        <p:spPr>
          <a:xfrm>
            <a:off x="2192711" y="4215634"/>
            <a:ext cx="4619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 </a:t>
            </a:r>
            <a:endParaRPr lang="en-US" sz="2000" b="1" dirty="0"/>
          </a:p>
        </p:txBody>
      </p:sp>
      <p:cxnSp>
        <p:nvCxnSpPr>
          <p:cNvPr id="60" name="Straight Connector 59"/>
          <p:cNvCxnSpPr/>
          <p:nvPr/>
        </p:nvCxnSpPr>
        <p:spPr>
          <a:xfrm>
            <a:off x="2128431" y="4238093"/>
            <a:ext cx="426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3992880" y="3409950"/>
            <a:ext cx="426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810000" y="3390840"/>
            <a:ext cx="8210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!×2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 </a:t>
            </a:r>
            <a:endParaRPr lang="en-US" sz="2000" b="1" dirty="0"/>
          </a:p>
        </p:txBody>
      </p:sp>
      <p:sp>
        <p:nvSpPr>
          <p:cNvPr id="64" name="Rectangle 63"/>
          <p:cNvSpPr/>
          <p:nvPr/>
        </p:nvSpPr>
        <p:spPr>
          <a:xfrm>
            <a:off x="4712480" y="3409950"/>
            <a:ext cx="4619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 </a:t>
            </a:r>
            <a:endParaRPr lang="en-US" sz="2000" b="1" dirty="0"/>
          </a:p>
        </p:txBody>
      </p:sp>
      <p:cxnSp>
        <p:nvCxnSpPr>
          <p:cNvPr id="65" name="Straight Connector 64"/>
          <p:cNvCxnSpPr/>
          <p:nvPr/>
        </p:nvCxnSpPr>
        <p:spPr>
          <a:xfrm>
            <a:off x="4648200" y="3432409"/>
            <a:ext cx="426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474480" y="3409950"/>
            <a:ext cx="4619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 </a:t>
            </a:r>
            <a:endParaRPr lang="en-US" sz="2000" b="1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410200" y="3432409"/>
            <a:ext cx="426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7696728" y="3155975"/>
            <a:ext cx="881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+ 0×0!</a:t>
            </a:r>
            <a:endParaRPr lang="en-US" sz="2000" b="1" dirty="0"/>
          </a:p>
        </p:txBody>
      </p:sp>
      <p:sp>
        <p:nvSpPr>
          <p:cNvPr id="69" name="Rectangle 68"/>
          <p:cNvSpPr/>
          <p:nvPr/>
        </p:nvSpPr>
        <p:spPr>
          <a:xfrm>
            <a:off x="7129950" y="3817591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+ 1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8206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8" grpId="0"/>
      <p:bldP spid="59" grpId="0"/>
      <p:bldP spid="62" grpId="0"/>
      <p:bldP spid="64" grpId="0"/>
      <p:bldP spid="66" grpId="0"/>
      <p:bldP spid="68" grpId="0"/>
      <p:bldP spid="6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-23515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09" y="209550"/>
            <a:ext cx="4553491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Ranking According to Dictionary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08" y="514350"/>
            <a:ext cx="85543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 the letters of the word "MIRROR" are arranged as in a dictionary, then the rank of the given word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 fontAlgn="t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23		B. 24		C. 48		D. 22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8600" y="1276350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1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62992" y="1291791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Find the total words made by the given word.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62992" y="1567755"/>
            <a:ext cx="510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Number of words made by the words “MIRROR”  </a:t>
            </a:r>
            <a:endParaRPr lang="en-US" b="1" dirty="0"/>
          </a:p>
        </p:txBody>
      </p:sp>
      <p:sp>
        <p:nvSpPr>
          <p:cNvPr id="27" name="Rectangle 26"/>
          <p:cNvSpPr/>
          <p:nvPr/>
        </p:nvSpPr>
        <p:spPr>
          <a:xfrm>
            <a:off x="6301366" y="1327487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b="1" dirty="0"/>
          </a:p>
        </p:txBody>
      </p:sp>
      <p:sp>
        <p:nvSpPr>
          <p:cNvPr id="32" name="Rectangle 31"/>
          <p:cNvSpPr/>
          <p:nvPr/>
        </p:nvSpPr>
        <p:spPr>
          <a:xfrm>
            <a:off x="6295827" y="1676588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3!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6328436" y="1664186"/>
            <a:ext cx="3209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708726" y="1469254"/>
            <a:ext cx="662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=120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228600" y="1857114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2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62992" y="1872555"/>
            <a:ext cx="609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Arrange the letters alphabetically and give the ranking to the words made by each letter.</a:t>
            </a:r>
            <a:endParaRPr lang="en-US" b="1" dirty="0">
              <a:solidFill>
                <a:srgbClr val="7030A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78117"/>
              </p:ext>
            </p:extLst>
          </p:nvPr>
        </p:nvGraphicFramePr>
        <p:xfrm>
          <a:off x="97466" y="2494455"/>
          <a:ext cx="287076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497"/>
                <a:gridCol w="1217684"/>
                <a:gridCol w="1141579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28600" y="2896815"/>
            <a:ext cx="2840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sz="2000" b="1" dirty="0"/>
          </a:p>
        </p:txBody>
      </p:sp>
      <p:sp>
        <p:nvSpPr>
          <p:cNvPr id="19" name="Rectangle 18"/>
          <p:cNvSpPr/>
          <p:nvPr/>
        </p:nvSpPr>
        <p:spPr>
          <a:xfrm>
            <a:off x="152400" y="3249270"/>
            <a:ext cx="4267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</a:t>
            </a:r>
            <a:endParaRPr lang="en-US" sz="2000" b="1" dirty="0"/>
          </a:p>
        </p:txBody>
      </p:sp>
      <p:sp>
        <p:nvSpPr>
          <p:cNvPr id="21" name="Rectangle 20"/>
          <p:cNvSpPr/>
          <p:nvPr/>
        </p:nvSpPr>
        <p:spPr>
          <a:xfrm>
            <a:off x="152400" y="3595058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</a:t>
            </a:r>
            <a:endParaRPr lang="en-US" sz="2000" b="1" dirty="0"/>
          </a:p>
        </p:txBody>
      </p:sp>
      <p:sp>
        <p:nvSpPr>
          <p:cNvPr id="22" name="Rectangle 21"/>
          <p:cNvSpPr/>
          <p:nvPr/>
        </p:nvSpPr>
        <p:spPr>
          <a:xfrm>
            <a:off x="152400" y="3935759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23" name="Rectangle 22"/>
          <p:cNvSpPr/>
          <p:nvPr/>
        </p:nvSpPr>
        <p:spPr>
          <a:xfrm>
            <a:off x="152400" y="4276920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24" name="Rectangle 23"/>
          <p:cNvSpPr/>
          <p:nvPr/>
        </p:nvSpPr>
        <p:spPr>
          <a:xfrm>
            <a:off x="165224" y="4729572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579120" y="2385682"/>
            <a:ext cx="124968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Number of words </a:t>
            </a:r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935148" y="287655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endParaRPr lang="en-US" sz="2000" b="1" dirty="0"/>
          </a:p>
        </p:txBody>
      </p:sp>
      <p:sp>
        <p:nvSpPr>
          <p:cNvPr id="28" name="Rectangle 27"/>
          <p:cNvSpPr/>
          <p:nvPr/>
        </p:nvSpPr>
        <p:spPr>
          <a:xfrm>
            <a:off x="914400" y="322374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endParaRPr lang="en-US" sz="2000" b="1" dirty="0"/>
          </a:p>
        </p:txBody>
      </p:sp>
      <p:sp>
        <p:nvSpPr>
          <p:cNvPr id="29" name="Rectangle 28"/>
          <p:cNvSpPr/>
          <p:nvPr/>
        </p:nvSpPr>
        <p:spPr>
          <a:xfrm>
            <a:off x="935148" y="3595058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endParaRPr lang="en-US" sz="2000" b="1" dirty="0"/>
          </a:p>
        </p:txBody>
      </p:sp>
      <p:sp>
        <p:nvSpPr>
          <p:cNvPr id="30" name="Rectangle 29"/>
          <p:cNvSpPr/>
          <p:nvPr/>
        </p:nvSpPr>
        <p:spPr>
          <a:xfrm>
            <a:off x="942419" y="393587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endParaRPr lang="en-US" sz="2000" b="1" dirty="0"/>
          </a:p>
        </p:txBody>
      </p:sp>
      <p:sp>
        <p:nvSpPr>
          <p:cNvPr id="31" name="Rectangle 30"/>
          <p:cNvSpPr/>
          <p:nvPr/>
        </p:nvSpPr>
        <p:spPr>
          <a:xfrm>
            <a:off x="914400" y="43361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endParaRPr lang="en-US" sz="2000" b="1" dirty="0"/>
          </a:p>
        </p:txBody>
      </p:sp>
      <p:sp>
        <p:nvSpPr>
          <p:cNvPr id="33" name="Rectangle 32"/>
          <p:cNvSpPr/>
          <p:nvPr/>
        </p:nvSpPr>
        <p:spPr>
          <a:xfrm>
            <a:off x="935148" y="467715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endParaRPr lang="en-US" sz="2000" b="1" dirty="0"/>
          </a:p>
        </p:txBody>
      </p:sp>
      <p:sp>
        <p:nvSpPr>
          <p:cNvPr id="34" name="Rectangle 33"/>
          <p:cNvSpPr/>
          <p:nvPr/>
        </p:nvSpPr>
        <p:spPr>
          <a:xfrm>
            <a:off x="1828800" y="2495550"/>
            <a:ext cx="110835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Rank</a:t>
            </a:r>
            <a:endParaRPr lang="en-US" sz="2000" dirty="0"/>
          </a:p>
        </p:txBody>
      </p:sp>
      <p:sp>
        <p:nvSpPr>
          <p:cNvPr id="35" name="Rectangle 34"/>
          <p:cNvSpPr/>
          <p:nvPr/>
        </p:nvSpPr>
        <p:spPr>
          <a:xfrm>
            <a:off x="2209800" y="2829015"/>
            <a:ext cx="6543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1-20</a:t>
            </a:r>
            <a:endParaRPr lang="en-US" sz="2000" b="1" dirty="0"/>
          </a:p>
        </p:txBody>
      </p:sp>
      <p:sp>
        <p:nvSpPr>
          <p:cNvPr id="36" name="Rectangle 35"/>
          <p:cNvSpPr/>
          <p:nvPr/>
        </p:nvSpPr>
        <p:spPr>
          <a:xfrm>
            <a:off x="2057400" y="3223749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21-40</a:t>
            </a:r>
            <a:endParaRPr lang="en-US" sz="2000" b="1" dirty="0"/>
          </a:p>
        </p:txBody>
      </p:sp>
      <p:sp>
        <p:nvSpPr>
          <p:cNvPr id="37" name="Rectangle 36"/>
          <p:cNvSpPr/>
          <p:nvPr/>
        </p:nvSpPr>
        <p:spPr>
          <a:xfrm>
            <a:off x="2057400" y="3619440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41-60</a:t>
            </a:r>
            <a:endParaRPr lang="en-US" sz="2000" b="1" dirty="0"/>
          </a:p>
        </p:txBody>
      </p:sp>
      <p:sp>
        <p:nvSpPr>
          <p:cNvPr id="38" name="Rectangle 37"/>
          <p:cNvSpPr/>
          <p:nvPr/>
        </p:nvSpPr>
        <p:spPr>
          <a:xfrm>
            <a:off x="2057400" y="4248150"/>
            <a:ext cx="9108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61-120</a:t>
            </a:r>
            <a:endParaRPr lang="en-US" sz="2000" b="1" dirty="0"/>
          </a:p>
        </p:txBody>
      </p:sp>
      <p:sp>
        <p:nvSpPr>
          <p:cNvPr id="40" name="Rectangle 39"/>
          <p:cNvSpPr/>
          <p:nvPr/>
        </p:nvSpPr>
        <p:spPr>
          <a:xfrm>
            <a:off x="152400" y="3233671"/>
            <a:ext cx="2800037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	20	21-40</a:t>
            </a:r>
            <a:endParaRPr lang="en-US" sz="2000" b="1" dirty="0"/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15157"/>
              </p:ext>
            </p:extLst>
          </p:nvPr>
        </p:nvGraphicFramePr>
        <p:xfrm>
          <a:off x="3377640" y="2495550"/>
          <a:ext cx="287076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497"/>
                <a:gridCol w="1217684"/>
                <a:gridCol w="1141579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3508774" y="2897910"/>
            <a:ext cx="2840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sz="2000" b="1" dirty="0"/>
          </a:p>
        </p:txBody>
      </p:sp>
      <p:sp>
        <p:nvSpPr>
          <p:cNvPr id="44" name="Rectangle 43"/>
          <p:cNvSpPr/>
          <p:nvPr/>
        </p:nvSpPr>
        <p:spPr>
          <a:xfrm>
            <a:off x="3432574" y="3215153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</a:t>
            </a:r>
            <a:endParaRPr lang="en-US" sz="2000" b="1" dirty="0"/>
          </a:p>
        </p:txBody>
      </p:sp>
      <p:sp>
        <p:nvSpPr>
          <p:cNvPr id="45" name="Rectangle 44"/>
          <p:cNvSpPr/>
          <p:nvPr/>
        </p:nvSpPr>
        <p:spPr>
          <a:xfrm>
            <a:off x="3432574" y="3555854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46" name="Rectangle 45"/>
          <p:cNvSpPr/>
          <p:nvPr/>
        </p:nvSpPr>
        <p:spPr>
          <a:xfrm>
            <a:off x="3432574" y="3897015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47" name="Rectangle 46"/>
          <p:cNvSpPr/>
          <p:nvPr/>
        </p:nvSpPr>
        <p:spPr>
          <a:xfrm>
            <a:off x="3445398" y="4349667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48" name="Rectangle 47"/>
          <p:cNvSpPr/>
          <p:nvPr/>
        </p:nvSpPr>
        <p:spPr>
          <a:xfrm>
            <a:off x="3816012" y="2343150"/>
            <a:ext cx="125474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Number of words </a:t>
            </a:r>
            <a:endParaRPr lang="en-US" sz="1600" dirty="0"/>
          </a:p>
        </p:txBody>
      </p:sp>
      <p:sp>
        <p:nvSpPr>
          <p:cNvPr id="49" name="Rectangle 48"/>
          <p:cNvSpPr/>
          <p:nvPr/>
        </p:nvSpPr>
        <p:spPr>
          <a:xfrm>
            <a:off x="5070753" y="2466260"/>
            <a:ext cx="1197639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Rank</a:t>
            </a:r>
            <a:endParaRPr lang="en-US" sz="2000" dirty="0"/>
          </a:p>
        </p:txBody>
      </p:sp>
      <p:sp>
        <p:nvSpPr>
          <p:cNvPr id="50" name="Rectangle 49"/>
          <p:cNvSpPr/>
          <p:nvPr/>
        </p:nvSpPr>
        <p:spPr>
          <a:xfrm>
            <a:off x="4111557" y="28804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sz="2000" b="1" dirty="0"/>
          </a:p>
        </p:txBody>
      </p:sp>
      <p:sp>
        <p:nvSpPr>
          <p:cNvPr id="51" name="Rectangle 50"/>
          <p:cNvSpPr/>
          <p:nvPr/>
        </p:nvSpPr>
        <p:spPr>
          <a:xfrm>
            <a:off x="4106694" y="319494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sz="2000" b="1" dirty="0"/>
          </a:p>
        </p:txBody>
      </p:sp>
      <p:sp>
        <p:nvSpPr>
          <p:cNvPr id="52" name="Rectangle 51"/>
          <p:cNvSpPr/>
          <p:nvPr/>
        </p:nvSpPr>
        <p:spPr>
          <a:xfrm>
            <a:off x="4114800" y="36194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sz="2000" b="1" dirty="0"/>
          </a:p>
        </p:txBody>
      </p:sp>
      <p:sp>
        <p:nvSpPr>
          <p:cNvPr id="53" name="Rectangle 52"/>
          <p:cNvSpPr/>
          <p:nvPr/>
        </p:nvSpPr>
        <p:spPr>
          <a:xfrm>
            <a:off x="4114800" y="40004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sz="2000" b="1" dirty="0"/>
          </a:p>
        </p:txBody>
      </p:sp>
      <p:sp>
        <p:nvSpPr>
          <p:cNvPr id="54" name="Rectangle 53"/>
          <p:cNvSpPr/>
          <p:nvPr/>
        </p:nvSpPr>
        <p:spPr>
          <a:xfrm>
            <a:off x="4114800" y="43243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sz="2000" b="1" dirty="0"/>
          </a:p>
        </p:txBody>
      </p:sp>
      <p:sp>
        <p:nvSpPr>
          <p:cNvPr id="55" name="Rectangle 54"/>
          <p:cNvSpPr/>
          <p:nvPr/>
        </p:nvSpPr>
        <p:spPr>
          <a:xfrm>
            <a:off x="5268686" y="2880475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21-24</a:t>
            </a:r>
            <a:endParaRPr lang="en-US" sz="2000" b="1" dirty="0"/>
          </a:p>
        </p:txBody>
      </p:sp>
      <p:sp>
        <p:nvSpPr>
          <p:cNvPr id="56" name="Rectangle 55"/>
          <p:cNvSpPr/>
          <p:nvPr/>
        </p:nvSpPr>
        <p:spPr>
          <a:xfrm>
            <a:off x="5268686" y="3194948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25-28</a:t>
            </a:r>
            <a:endParaRPr lang="en-US" sz="2000" b="1" dirty="0"/>
          </a:p>
        </p:txBody>
      </p:sp>
      <p:sp>
        <p:nvSpPr>
          <p:cNvPr id="57" name="Rectangle 56"/>
          <p:cNvSpPr/>
          <p:nvPr/>
        </p:nvSpPr>
        <p:spPr>
          <a:xfrm>
            <a:off x="5289951" y="3935759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29-40</a:t>
            </a:r>
            <a:endParaRPr lang="en-US" sz="2000" b="1" dirty="0"/>
          </a:p>
        </p:txBody>
      </p:sp>
      <p:graphicFrame>
        <p:nvGraphicFramePr>
          <p:cNvPr id="58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143052"/>
              </p:ext>
            </p:extLst>
          </p:nvPr>
        </p:nvGraphicFramePr>
        <p:xfrm>
          <a:off x="6324600" y="2495550"/>
          <a:ext cx="287076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497"/>
                <a:gridCol w="1217684"/>
                <a:gridCol w="1141579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9" name="Rectangle 58"/>
          <p:cNvSpPr/>
          <p:nvPr/>
        </p:nvSpPr>
        <p:spPr>
          <a:xfrm>
            <a:off x="6379534" y="2865926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</a:t>
            </a:r>
            <a:endParaRPr lang="en-US" sz="2000" b="1" dirty="0"/>
          </a:p>
        </p:txBody>
      </p:sp>
      <p:sp>
        <p:nvSpPr>
          <p:cNvPr id="60" name="Rectangle 59"/>
          <p:cNvSpPr/>
          <p:nvPr/>
        </p:nvSpPr>
        <p:spPr>
          <a:xfrm>
            <a:off x="6379534" y="3206627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61" name="Rectangle 60"/>
          <p:cNvSpPr/>
          <p:nvPr/>
        </p:nvSpPr>
        <p:spPr>
          <a:xfrm>
            <a:off x="6379534" y="3547788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62" name="Rectangle 61"/>
          <p:cNvSpPr/>
          <p:nvPr/>
        </p:nvSpPr>
        <p:spPr>
          <a:xfrm>
            <a:off x="6392358" y="4000440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endParaRPr lang="en-US" sz="2000" b="1" dirty="0"/>
          </a:p>
        </p:txBody>
      </p:sp>
      <p:sp>
        <p:nvSpPr>
          <p:cNvPr id="63" name="Rectangle 62"/>
          <p:cNvSpPr/>
          <p:nvPr/>
        </p:nvSpPr>
        <p:spPr>
          <a:xfrm>
            <a:off x="6784238" y="2343150"/>
            <a:ext cx="125474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Number of words </a:t>
            </a:r>
            <a:endParaRPr lang="en-US" sz="1600" dirty="0"/>
          </a:p>
        </p:txBody>
      </p:sp>
      <p:sp>
        <p:nvSpPr>
          <p:cNvPr id="64" name="Rectangle 63"/>
          <p:cNvSpPr/>
          <p:nvPr/>
        </p:nvSpPr>
        <p:spPr>
          <a:xfrm>
            <a:off x="8077200" y="2466260"/>
            <a:ext cx="110835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Rank</a:t>
            </a:r>
            <a:endParaRPr lang="en-US" sz="2000" dirty="0"/>
          </a:p>
        </p:txBody>
      </p:sp>
      <p:sp>
        <p:nvSpPr>
          <p:cNvPr id="66" name="Rectangle 65"/>
          <p:cNvSpPr/>
          <p:nvPr/>
        </p:nvSpPr>
        <p:spPr>
          <a:xfrm>
            <a:off x="7053654" y="287103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sz="2000" b="1" dirty="0"/>
          </a:p>
        </p:txBody>
      </p:sp>
      <p:sp>
        <p:nvSpPr>
          <p:cNvPr id="67" name="Rectangle 66"/>
          <p:cNvSpPr/>
          <p:nvPr/>
        </p:nvSpPr>
        <p:spPr>
          <a:xfrm>
            <a:off x="7061760" y="329553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sz="2000" b="1" dirty="0"/>
          </a:p>
        </p:txBody>
      </p:sp>
      <p:sp>
        <p:nvSpPr>
          <p:cNvPr id="68" name="Rectangle 67"/>
          <p:cNvSpPr/>
          <p:nvPr/>
        </p:nvSpPr>
        <p:spPr>
          <a:xfrm>
            <a:off x="7061760" y="367653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sz="2000" b="1" dirty="0"/>
          </a:p>
        </p:txBody>
      </p:sp>
      <p:sp>
        <p:nvSpPr>
          <p:cNvPr id="69" name="Rectangle 68"/>
          <p:cNvSpPr/>
          <p:nvPr/>
        </p:nvSpPr>
        <p:spPr>
          <a:xfrm>
            <a:off x="7061760" y="40004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sz="2000" b="1" dirty="0"/>
          </a:p>
        </p:txBody>
      </p:sp>
      <p:sp>
        <p:nvSpPr>
          <p:cNvPr id="71" name="Rectangle 70"/>
          <p:cNvSpPr/>
          <p:nvPr/>
        </p:nvSpPr>
        <p:spPr>
          <a:xfrm>
            <a:off x="8215645" y="2865926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21</a:t>
            </a:r>
            <a:endParaRPr lang="en-US" sz="2000" b="1" dirty="0"/>
          </a:p>
        </p:txBody>
      </p:sp>
      <p:sp>
        <p:nvSpPr>
          <p:cNvPr id="72" name="Rectangle 71"/>
          <p:cNvSpPr/>
          <p:nvPr/>
        </p:nvSpPr>
        <p:spPr>
          <a:xfrm>
            <a:off x="8209612" y="3606737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22-24</a:t>
            </a:r>
            <a:endParaRPr lang="en-US" sz="2000" b="1" dirty="0"/>
          </a:p>
        </p:txBody>
      </p:sp>
      <p:sp>
        <p:nvSpPr>
          <p:cNvPr id="73" name="Rectangle 72"/>
          <p:cNvSpPr/>
          <p:nvPr/>
        </p:nvSpPr>
        <p:spPr>
          <a:xfrm>
            <a:off x="3372163" y="2876550"/>
            <a:ext cx="2800037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4	21-24</a:t>
            </a:r>
            <a:endParaRPr lang="en-US" sz="2000" b="1" dirty="0"/>
          </a:p>
        </p:txBody>
      </p:sp>
      <p:sp>
        <p:nvSpPr>
          <p:cNvPr id="74" name="Rectangle 73"/>
          <p:cNvSpPr/>
          <p:nvPr/>
        </p:nvSpPr>
        <p:spPr>
          <a:xfrm>
            <a:off x="6343963" y="3219450"/>
            <a:ext cx="2800037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	3	22-24</a:t>
            </a:r>
            <a:endParaRPr lang="en-US" sz="2000" b="1" dirty="0"/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2968227" y="3266036"/>
            <a:ext cx="52139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6151461" y="3249270"/>
            <a:ext cx="52139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6248400" y="424815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22</a:t>
            </a:r>
            <a:endParaRPr lang="en-US" sz="2000" b="1" dirty="0"/>
          </a:p>
        </p:txBody>
      </p:sp>
      <p:sp>
        <p:nvSpPr>
          <p:cNvPr id="78" name="Rectangle 77"/>
          <p:cNvSpPr/>
          <p:nvPr/>
        </p:nvSpPr>
        <p:spPr>
          <a:xfrm>
            <a:off x="6612315" y="4248150"/>
            <a:ext cx="12827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MIRORR</a:t>
            </a:r>
            <a:endParaRPr lang="en-US" sz="2000" b="1" dirty="0"/>
          </a:p>
        </p:txBody>
      </p:sp>
      <p:sp>
        <p:nvSpPr>
          <p:cNvPr id="79" name="Rectangle 78"/>
          <p:cNvSpPr/>
          <p:nvPr/>
        </p:nvSpPr>
        <p:spPr>
          <a:xfrm>
            <a:off x="6269666" y="445764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23</a:t>
            </a:r>
            <a:endParaRPr lang="en-US" sz="2000" b="1" dirty="0"/>
          </a:p>
        </p:txBody>
      </p:sp>
      <p:sp>
        <p:nvSpPr>
          <p:cNvPr id="80" name="Rectangle 79"/>
          <p:cNvSpPr/>
          <p:nvPr/>
        </p:nvSpPr>
        <p:spPr>
          <a:xfrm>
            <a:off x="6633581" y="4457640"/>
            <a:ext cx="12827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MIRROR</a:t>
            </a:r>
            <a:endParaRPr lang="en-US" sz="2000" b="1" dirty="0"/>
          </a:p>
        </p:txBody>
      </p:sp>
      <p:sp>
        <p:nvSpPr>
          <p:cNvPr id="81" name="Rectangle 80"/>
          <p:cNvSpPr/>
          <p:nvPr/>
        </p:nvSpPr>
        <p:spPr>
          <a:xfrm>
            <a:off x="6267529" y="468624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24</a:t>
            </a:r>
            <a:endParaRPr lang="en-US" sz="2000" b="1" dirty="0"/>
          </a:p>
        </p:txBody>
      </p:sp>
      <p:sp>
        <p:nvSpPr>
          <p:cNvPr id="82" name="Rectangle 81"/>
          <p:cNvSpPr/>
          <p:nvPr/>
        </p:nvSpPr>
        <p:spPr>
          <a:xfrm>
            <a:off x="6631444" y="4686240"/>
            <a:ext cx="12827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MIRRRO</a:t>
            </a:r>
            <a:endParaRPr lang="en-US" sz="2000" b="1" dirty="0"/>
          </a:p>
        </p:txBody>
      </p:sp>
      <p:sp>
        <p:nvSpPr>
          <p:cNvPr id="83" name="Rectangle 82"/>
          <p:cNvSpPr/>
          <p:nvPr/>
        </p:nvSpPr>
        <p:spPr>
          <a:xfrm>
            <a:off x="6295827" y="4448205"/>
            <a:ext cx="1603324" cy="4001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23 MIRROR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4623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18" grpId="0"/>
      <p:bldP spid="20" grpId="0"/>
      <p:bldP spid="27" grpId="0"/>
      <p:bldP spid="32" grpId="0"/>
      <p:bldP spid="13" grpId="0"/>
      <p:bldP spid="14" grpId="0"/>
      <p:bldP spid="15" grpId="0"/>
      <p:bldP spid="16" grpId="0"/>
      <p:bldP spid="19" grpId="0"/>
      <p:bldP spid="21" grpId="0"/>
      <p:bldP spid="22" grpId="0"/>
      <p:bldP spid="23" grpId="0"/>
      <p:bldP spid="24" grpId="0"/>
      <p:bldP spid="6" grpId="0" animBg="1"/>
      <p:bldP spid="26" grpId="0"/>
      <p:bldP spid="28" grpId="0"/>
      <p:bldP spid="29" grpId="0"/>
      <p:bldP spid="30" grpId="0"/>
      <p:bldP spid="31" grpId="0"/>
      <p:bldP spid="33" grpId="0"/>
      <p:bldP spid="34" grpId="0" animBg="1"/>
      <p:bldP spid="35" grpId="0"/>
      <p:bldP spid="36" grpId="0"/>
      <p:bldP spid="37" grpId="0"/>
      <p:bldP spid="38" grpId="0"/>
      <p:bldP spid="40" grpId="0" animBg="1"/>
      <p:bldP spid="43" grpId="0"/>
      <p:bldP spid="44" grpId="0"/>
      <p:bldP spid="45" grpId="0"/>
      <p:bldP spid="46" grpId="0"/>
      <p:bldP spid="47" grpId="0"/>
      <p:bldP spid="48" grpId="0" animBg="1"/>
      <p:bldP spid="49" grpId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9" grpId="0"/>
      <p:bldP spid="60" grpId="0"/>
      <p:bldP spid="61" grpId="0"/>
      <p:bldP spid="62" grpId="0"/>
      <p:bldP spid="63" grpId="0" animBg="1"/>
      <p:bldP spid="64" grpId="0" animBg="1"/>
      <p:bldP spid="66" grpId="0"/>
      <p:bldP spid="67" grpId="0"/>
      <p:bldP spid="68" grpId="0"/>
      <p:bldP spid="69" grpId="0"/>
      <p:bldP spid="71" grpId="0"/>
      <p:bldP spid="72" grpId="0"/>
      <p:bldP spid="73" grpId="0" animBg="1"/>
      <p:bldP spid="74" grpId="0" animBg="1"/>
      <p:bldP spid="77" grpId="0"/>
      <p:bldP spid="78" grpId="0"/>
      <p:bldP spid="79" grpId="0"/>
      <p:bldP spid="80" grpId="0"/>
      <p:bldP spid="81" grpId="0"/>
      <p:bldP spid="82" grpId="0"/>
      <p:bldP spid="8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2491" y="57150"/>
            <a:ext cx="3619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Types OF QUESTIONS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09" y="361950"/>
            <a:ext cx="4591834" cy="4616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+mn-ea"/>
              </a:rPr>
              <a:t>Finding Word According to Rank</a:t>
            </a:r>
            <a:endParaRPr 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08" y="742950"/>
            <a:ext cx="8554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 all permutations of the letters of the word "AGAIN" are arranged as in dictionary, then fiftieth word is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A.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NAAGI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+mn-ea"/>
              </a:rPr>
              <a:t>NAGAI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NAIAG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D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NAAIG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1600045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1 :-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2992" y="1615486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Find the total words made by the given word.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62992" y="1891450"/>
            <a:ext cx="510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Number of words made by the words “AGAIN”  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6301366" y="1651182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6295827" y="2000283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328436" y="1987881"/>
            <a:ext cx="3209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708726" y="1792949"/>
            <a:ext cx="546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=60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1162992" y="2196250"/>
            <a:ext cx="609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Arrange the letters alphabetically and give the ranking to the words made by each letter.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7589" y="2226446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 2 :-</a:t>
            </a:r>
            <a:endParaRPr lang="en-US" b="1" dirty="0">
              <a:solidFill>
                <a:srgbClr val="7030A0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551904"/>
              </p:ext>
            </p:extLst>
          </p:nvPr>
        </p:nvGraphicFramePr>
        <p:xfrm>
          <a:off x="97466" y="2494455"/>
          <a:ext cx="287076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497"/>
                <a:gridCol w="1217684"/>
                <a:gridCol w="1141579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152400" y="2896815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/>
          </a:p>
        </p:txBody>
      </p:sp>
      <p:sp>
        <p:nvSpPr>
          <p:cNvPr id="18" name="Rectangle 17"/>
          <p:cNvSpPr/>
          <p:nvPr/>
        </p:nvSpPr>
        <p:spPr>
          <a:xfrm>
            <a:off x="152400" y="3249270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/>
          </a:p>
        </p:txBody>
      </p:sp>
      <p:sp>
        <p:nvSpPr>
          <p:cNvPr id="19" name="Rectangle 18"/>
          <p:cNvSpPr/>
          <p:nvPr/>
        </p:nvSpPr>
        <p:spPr>
          <a:xfrm>
            <a:off x="152400" y="3595058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</a:t>
            </a:r>
            <a:endParaRPr lang="en-US" sz="2000" b="1" dirty="0"/>
          </a:p>
        </p:txBody>
      </p:sp>
      <p:sp>
        <p:nvSpPr>
          <p:cNvPr id="20" name="Rectangle 19"/>
          <p:cNvSpPr/>
          <p:nvPr/>
        </p:nvSpPr>
        <p:spPr>
          <a:xfrm>
            <a:off x="152400" y="3935759"/>
            <a:ext cx="2840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sz="2000" b="1" dirty="0"/>
          </a:p>
        </p:txBody>
      </p:sp>
      <p:sp>
        <p:nvSpPr>
          <p:cNvPr id="21" name="Rectangle 20"/>
          <p:cNvSpPr/>
          <p:nvPr/>
        </p:nvSpPr>
        <p:spPr>
          <a:xfrm>
            <a:off x="152400" y="4336109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endParaRPr lang="en-US" sz="2000" b="1" dirty="0"/>
          </a:p>
        </p:txBody>
      </p:sp>
      <p:sp>
        <p:nvSpPr>
          <p:cNvPr id="23" name="Rectangle 22"/>
          <p:cNvSpPr/>
          <p:nvPr/>
        </p:nvSpPr>
        <p:spPr>
          <a:xfrm>
            <a:off x="579120" y="2385682"/>
            <a:ext cx="124968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Number of words </a:t>
            </a:r>
            <a:endParaRPr lang="en-US" sz="1600" dirty="0"/>
          </a:p>
        </p:txBody>
      </p:sp>
      <p:sp>
        <p:nvSpPr>
          <p:cNvPr id="24" name="Rectangle 23"/>
          <p:cNvSpPr/>
          <p:nvPr/>
        </p:nvSpPr>
        <p:spPr>
          <a:xfrm>
            <a:off x="935148" y="287655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endParaRPr lang="en-US" sz="2000" b="1" dirty="0"/>
          </a:p>
        </p:txBody>
      </p:sp>
      <p:sp>
        <p:nvSpPr>
          <p:cNvPr id="25" name="Rectangle 24"/>
          <p:cNvSpPr/>
          <p:nvPr/>
        </p:nvSpPr>
        <p:spPr>
          <a:xfrm>
            <a:off x="914400" y="322374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endParaRPr lang="en-US" sz="2000" b="1" dirty="0"/>
          </a:p>
        </p:txBody>
      </p:sp>
      <p:sp>
        <p:nvSpPr>
          <p:cNvPr id="26" name="Rectangle 25"/>
          <p:cNvSpPr/>
          <p:nvPr/>
        </p:nvSpPr>
        <p:spPr>
          <a:xfrm>
            <a:off x="935148" y="3595058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endParaRPr lang="en-US" sz="2000" b="1" dirty="0"/>
          </a:p>
        </p:txBody>
      </p:sp>
      <p:sp>
        <p:nvSpPr>
          <p:cNvPr id="27" name="Rectangle 26"/>
          <p:cNvSpPr/>
          <p:nvPr/>
        </p:nvSpPr>
        <p:spPr>
          <a:xfrm>
            <a:off x="942419" y="393587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endParaRPr lang="en-US" sz="2000" b="1" dirty="0"/>
          </a:p>
        </p:txBody>
      </p:sp>
      <p:sp>
        <p:nvSpPr>
          <p:cNvPr id="28" name="Rectangle 27"/>
          <p:cNvSpPr/>
          <p:nvPr/>
        </p:nvSpPr>
        <p:spPr>
          <a:xfrm>
            <a:off x="914400" y="43361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endParaRPr lang="en-US" sz="2000" b="1" dirty="0"/>
          </a:p>
        </p:txBody>
      </p:sp>
      <p:sp>
        <p:nvSpPr>
          <p:cNvPr id="30" name="Rectangle 29"/>
          <p:cNvSpPr/>
          <p:nvPr/>
        </p:nvSpPr>
        <p:spPr>
          <a:xfrm>
            <a:off x="1828800" y="2495550"/>
            <a:ext cx="110835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Rank</a:t>
            </a:r>
            <a:endParaRPr lang="en-US" sz="2000" dirty="0"/>
          </a:p>
        </p:txBody>
      </p:sp>
      <p:sp>
        <p:nvSpPr>
          <p:cNvPr id="32" name="Rectangle 31"/>
          <p:cNvSpPr/>
          <p:nvPr/>
        </p:nvSpPr>
        <p:spPr>
          <a:xfrm>
            <a:off x="2057400" y="3066093"/>
            <a:ext cx="6543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1-24</a:t>
            </a:r>
            <a:endParaRPr lang="en-US" sz="2000" b="1" dirty="0"/>
          </a:p>
        </p:txBody>
      </p:sp>
      <p:sp>
        <p:nvSpPr>
          <p:cNvPr id="33" name="Rectangle 32"/>
          <p:cNvSpPr/>
          <p:nvPr/>
        </p:nvSpPr>
        <p:spPr>
          <a:xfrm>
            <a:off x="2057400" y="3619440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25-36</a:t>
            </a:r>
            <a:endParaRPr lang="en-US" sz="2000" b="1" dirty="0"/>
          </a:p>
        </p:txBody>
      </p:sp>
      <p:sp>
        <p:nvSpPr>
          <p:cNvPr id="34" name="Rectangle 33"/>
          <p:cNvSpPr/>
          <p:nvPr/>
        </p:nvSpPr>
        <p:spPr>
          <a:xfrm>
            <a:off x="1993279" y="3969729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37-48</a:t>
            </a:r>
            <a:endParaRPr lang="en-US" sz="2000" b="1" dirty="0"/>
          </a:p>
        </p:txBody>
      </p:sp>
      <p:sp>
        <p:nvSpPr>
          <p:cNvPr id="36" name="Rectangle 35"/>
          <p:cNvSpPr/>
          <p:nvPr/>
        </p:nvSpPr>
        <p:spPr>
          <a:xfrm>
            <a:off x="1981200" y="4356249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49-60</a:t>
            </a:r>
            <a:endParaRPr lang="en-US" sz="2000" b="1" dirty="0"/>
          </a:p>
        </p:txBody>
      </p:sp>
      <p:sp>
        <p:nvSpPr>
          <p:cNvPr id="38" name="Rectangle 37"/>
          <p:cNvSpPr/>
          <p:nvPr/>
        </p:nvSpPr>
        <p:spPr>
          <a:xfrm>
            <a:off x="137115" y="4369839"/>
            <a:ext cx="2800037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12	49-60</a:t>
            </a:r>
            <a:endParaRPr lang="en-US" sz="2000" b="1" dirty="0"/>
          </a:p>
        </p:txBody>
      </p:sp>
      <p:sp>
        <p:nvSpPr>
          <p:cNvPr id="39" name="Rectangle 38"/>
          <p:cNvSpPr/>
          <p:nvPr/>
        </p:nvSpPr>
        <p:spPr>
          <a:xfrm>
            <a:off x="6971619" y="4488269"/>
            <a:ext cx="370614" cy="4001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endParaRPr lang="en-US" sz="2000" b="1" dirty="0"/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926507"/>
              </p:ext>
            </p:extLst>
          </p:nvPr>
        </p:nvGraphicFramePr>
        <p:xfrm>
          <a:off x="3377640" y="2495550"/>
          <a:ext cx="279456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497"/>
                <a:gridCol w="1217684"/>
                <a:gridCol w="1065379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3816012" y="2343150"/>
            <a:ext cx="125474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Number of words </a:t>
            </a:r>
            <a:endParaRPr lang="en-US" sz="1600" dirty="0"/>
          </a:p>
        </p:txBody>
      </p:sp>
      <p:sp>
        <p:nvSpPr>
          <p:cNvPr id="42" name="Rectangle 41"/>
          <p:cNvSpPr/>
          <p:nvPr/>
        </p:nvSpPr>
        <p:spPr>
          <a:xfrm>
            <a:off x="5070753" y="2466260"/>
            <a:ext cx="1197639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Rank</a:t>
            </a:r>
            <a:endParaRPr lang="en-US" sz="20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2968227" y="3266036"/>
            <a:ext cx="52139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429000" y="2897578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/>
          </a:p>
        </p:txBody>
      </p:sp>
      <p:sp>
        <p:nvSpPr>
          <p:cNvPr id="45" name="Rectangle 44"/>
          <p:cNvSpPr/>
          <p:nvPr/>
        </p:nvSpPr>
        <p:spPr>
          <a:xfrm>
            <a:off x="3429000" y="3250033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/>
          </a:p>
        </p:txBody>
      </p:sp>
      <p:sp>
        <p:nvSpPr>
          <p:cNvPr id="46" name="Rectangle 45"/>
          <p:cNvSpPr/>
          <p:nvPr/>
        </p:nvSpPr>
        <p:spPr>
          <a:xfrm>
            <a:off x="3429000" y="3595821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</a:t>
            </a:r>
            <a:endParaRPr lang="en-US" sz="2000" b="1" dirty="0"/>
          </a:p>
        </p:txBody>
      </p:sp>
      <p:sp>
        <p:nvSpPr>
          <p:cNvPr id="47" name="Rectangle 46"/>
          <p:cNvSpPr/>
          <p:nvPr/>
        </p:nvSpPr>
        <p:spPr>
          <a:xfrm>
            <a:off x="3429000" y="3936522"/>
            <a:ext cx="2840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sz="2000" b="1" dirty="0"/>
          </a:p>
        </p:txBody>
      </p:sp>
      <p:sp>
        <p:nvSpPr>
          <p:cNvPr id="48" name="Rectangle 47"/>
          <p:cNvSpPr/>
          <p:nvPr/>
        </p:nvSpPr>
        <p:spPr>
          <a:xfrm>
            <a:off x="4211748" y="287731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49" name="Rectangle 48"/>
          <p:cNvSpPr/>
          <p:nvPr/>
        </p:nvSpPr>
        <p:spPr>
          <a:xfrm>
            <a:off x="4212266" y="322451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50" name="Rectangle 49"/>
          <p:cNvSpPr/>
          <p:nvPr/>
        </p:nvSpPr>
        <p:spPr>
          <a:xfrm>
            <a:off x="4211748" y="359582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51" name="Rectangle 50"/>
          <p:cNvSpPr/>
          <p:nvPr/>
        </p:nvSpPr>
        <p:spPr>
          <a:xfrm>
            <a:off x="4219019" y="393664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sz="2000" b="1" dirty="0"/>
          </a:p>
        </p:txBody>
      </p:sp>
      <p:sp>
        <p:nvSpPr>
          <p:cNvPr id="52" name="Rectangle 51"/>
          <p:cNvSpPr/>
          <p:nvPr/>
        </p:nvSpPr>
        <p:spPr>
          <a:xfrm>
            <a:off x="5278278" y="3024457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49-54</a:t>
            </a:r>
            <a:endParaRPr lang="en-US" sz="2000" b="1" dirty="0"/>
          </a:p>
        </p:txBody>
      </p:sp>
      <p:sp>
        <p:nvSpPr>
          <p:cNvPr id="53" name="Rectangle 52"/>
          <p:cNvSpPr/>
          <p:nvPr/>
        </p:nvSpPr>
        <p:spPr>
          <a:xfrm>
            <a:off x="5290683" y="3569619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55-57</a:t>
            </a:r>
            <a:endParaRPr lang="en-US" sz="2000" b="1" dirty="0"/>
          </a:p>
        </p:txBody>
      </p:sp>
      <p:sp>
        <p:nvSpPr>
          <p:cNvPr id="54" name="Rectangle 53"/>
          <p:cNvSpPr/>
          <p:nvPr/>
        </p:nvSpPr>
        <p:spPr>
          <a:xfrm>
            <a:off x="5269417" y="4000440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58-60</a:t>
            </a:r>
            <a:endParaRPr lang="en-US" sz="2000" b="1" dirty="0"/>
          </a:p>
        </p:txBody>
      </p:sp>
      <p:sp>
        <p:nvSpPr>
          <p:cNvPr id="55" name="Rectangle 54"/>
          <p:cNvSpPr/>
          <p:nvPr/>
        </p:nvSpPr>
        <p:spPr>
          <a:xfrm>
            <a:off x="3429000" y="3028950"/>
            <a:ext cx="2800037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	6	49-54</a:t>
            </a:r>
            <a:endParaRPr lang="en-US" sz="2000" b="1" dirty="0"/>
          </a:p>
        </p:txBody>
      </p:sp>
      <p:sp>
        <p:nvSpPr>
          <p:cNvPr id="56" name="Rectangle 55"/>
          <p:cNvSpPr/>
          <p:nvPr/>
        </p:nvSpPr>
        <p:spPr>
          <a:xfrm>
            <a:off x="7404708" y="4494723"/>
            <a:ext cx="370614" cy="4001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/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440204"/>
              </p:ext>
            </p:extLst>
          </p:nvPr>
        </p:nvGraphicFramePr>
        <p:xfrm>
          <a:off x="6405648" y="2495550"/>
          <a:ext cx="279456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497"/>
                <a:gridCol w="1217684"/>
                <a:gridCol w="1065379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Rectangle 57"/>
          <p:cNvSpPr/>
          <p:nvPr/>
        </p:nvSpPr>
        <p:spPr>
          <a:xfrm>
            <a:off x="6844020" y="2343150"/>
            <a:ext cx="125474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Number of words </a:t>
            </a:r>
            <a:endParaRPr lang="en-US" sz="1600" dirty="0"/>
          </a:p>
        </p:txBody>
      </p:sp>
      <p:sp>
        <p:nvSpPr>
          <p:cNvPr id="59" name="Rectangle 58"/>
          <p:cNvSpPr/>
          <p:nvPr/>
        </p:nvSpPr>
        <p:spPr>
          <a:xfrm>
            <a:off x="8098761" y="2466260"/>
            <a:ext cx="1197639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Rank</a:t>
            </a:r>
            <a:endParaRPr lang="en-US" sz="2000" dirty="0"/>
          </a:p>
        </p:txBody>
      </p:sp>
      <p:sp>
        <p:nvSpPr>
          <p:cNvPr id="60" name="Rectangle 59"/>
          <p:cNvSpPr/>
          <p:nvPr/>
        </p:nvSpPr>
        <p:spPr>
          <a:xfrm>
            <a:off x="6464821" y="3241417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</a:t>
            </a:r>
            <a:endParaRPr lang="en-US" sz="2000" b="1" dirty="0"/>
          </a:p>
        </p:txBody>
      </p:sp>
      <p:sp>
        <p:nvSpPr>
          <p:cNvPr id="61" name="Rectangle 60"/>
          <p:cNvSpPr/>
          <p:nvPr/>
        </p:nvSpPr>
        <p:spPr>
          <a:xfrm>
            <a:off x="6507366" y="3578037"/>
            <a:ext cx="2840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sz="2000" b="1" dirty="0"/>
          </a:p>
        </p:txBody>
      </p:sp>
      <p:sp>
        <p:nvSpPr>
          <p:cNvPr id="62" name="Rectangle 61"/>
          <p:cNvSpPr/>
          <p:nvPr/>
        </p:nvSpPr>
        <p:spPr>
          <a:xfrm>
            <a:off x="7239756" y="287731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sz="2000" b="1" dirty="0"/>
          </a:p>
        </p:txBody>
      </p:sp>
      <p:sp>
        <p:nvSpPr>
          <p:cNvPr id="63" name="Rectangle 62"/>
          <p:cNvSpPr/>
          <p:nvPr/>
        </p:nvSpPr>
        <p:spPr>
          <a:xfrm>
            <a:off x="7239756" y="323025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sz="2000" b="1" dirty="0"/>
          </a:p>
        </p:txBody>
      </p:sp>
      <p:sp>
        <p:nvSpPr>
          <p:cNvPr id="64" name="Rectangle 63"/>
          <p:cNvSpPr/>
          <p:nvPr/>
        </p:nvSpPr>
        <p:spPr>
          <a:xfrm>
            <a:off x="7258992" y="36194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sz="2000" b="1" dirty="0"/>
          </a:p>
        </p:txBody>
      </p:sp>
      <p:sp>
        <p:nvSpPr>
          <p:cNvPr id="65" name="Rectangle 64"/>
          <p:cNvSpPr/>
          <p:nvPr/>
        </p:nvSpPr>
        <p:spPr>
          <a:xfrm>
            <a:off x="6471233" y="2883061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/>
          </a:p>
        </p:txBody>
      </p:sp>
      <p:sp>
        <p:nvSpPr>
          <p:cNvPr id="66" name="Rectangle 65"/>
          <p:cNvSpPr/>
          <p:nvPr/>
        </p:nvSpPr>
        <p:spPr>
          <a:xfrm>
            <a:off x="8134891" y="2860416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49-50</a:t>
            </a:r>
            <a:endParaRPr lang="en-US" sz="2000" b="1" dirty="0"/>
          </a:p>
        </p:txBody>
      </p:sp>
      <p:sp>
        <p:nvSpPr>
          <p:cNvPr id="67" name="Rectangle 66"/>
          <p:cNvSpPr/>
          <p:nvPr/>
        </p:nvSpPr>
        <p:spPr>
          <a:xfrm>
            <a:off x="8159699" y="3194823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51-52</a:t>
            </a:r>
            <a:endParaRPr lang="en-US" sz="2000" b="1" dirty="0"/>
          </a:p>
        </p:txBody>
      </p:sp>
      <p:sp>
        <p:nvSpPr>
          <p:cNvPr id="68" name="Rectangle 67"/>
          <p:cNvSpPr/>
          <p:nvPr/>
        </p:nvSpPr>
        <p:spPr>
          <a:xfrm>
            <a:off x="8174666" y="3619440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53-54</a:t>
            </a:r>
            <a:endParaRPr lang="en-US" sz="2000" b="1" dirty="0"/>
          </a:p>
        </p:txBody>
      </p:sp>
      <p:sp>
        <p:nvSpPr>
          <p:cNvPr id="69" name="Rectangle 68"/>
          <p:cNvSpPr/>
          <p:nvPr/>
        </p:nvSpPr>
        <p:spPr>
          <a:xfrm>
            <a:off x="6364670" y="2877997"/>
            <a:ext cx="2800037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	2	49-50</a:t>
            </a:r>
            <a:endParaRPr lang="en-US" sz="2000" b="1" dirty="0"/>
          </a:p>
        </p:txBody>
      </p:sp>
      <p:sp>
        <p:nvSpPr>
          <p:cNvPr id="70" name="Rectangle 69"/>
          <p:cNvSpPr/>
          <p:nvPr/>
        </p:nvSpPr>
        <p:spPr>
          <a:xfrm>
            <a:off x="7804052" y="4488269"/>
            <a:ext cx="370614" cy="4001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endParaRPr lang="en-US" sz="2000" b="1" dirty="0"/>
          </a:p>
        </p:txBody>
      </p:sp>
      <p:sp>
        <p:nvSpPr>
          <p:cNvPr id="71" name="Rectangle 70"/>
          <p:cNvSpPr/>
          <p:nvPr/>
        </p:nvSpPr>
        <p:spPr>
          <a:xfrm>
            <a:off x="3614307" y="451446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49</a:t>
            </a:r>
            <a:endParaRPr lang="en-US" sz="2000" b="1" dirty="0"/>
          </a:p>
        </p:txBody>
      </p:sp>
      <p:sp>
        <p:nvSpPr>
          <p:cNvPr id="72" name="Rectangle 71"/>
          <p:cNvSpPr/>
          <p:nvPr/>
        </p:nvSpPr>
        <p:spPr>
          <a:xfrm>
            <a:off x="3928732" y="4520168"/>
            <a:ext cx="10406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NAAGI</a:t>
            </a:r>
            <a:endParaRPr lang="en-US" sz="2000" b="1" dirty="0"/>
          </a:p>
        </p:txBody>
      </p:sp>
      <p:sp>
        <p:nvSpPr>
          <p:cNvPr id="73" name="Rectangle 72"/>
          <p:cNvSpPr/>
          <p:nvPr/>
        </p:nvSpPr>
        <p:spPr>
          <a:xfrm>
            <a:off x="8205978" y="4487383"/>
            <a:ext cx="284052" cy="4001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sz="2000" b="1" dirty="0"/>
          </a:p>
        </p:txBody>
      </p:sp>
      <p:sp>
        <p:nvSpPr>
          <p:cNvPr id="74" name="Rectangle 73"/>
          <p:cNvSpPr/>
          <p:nvPr/>
        </p:nvSpPr>
        <p:spPr>
          <a:xfrm>
            <a:off x="8534400" y="4487383"/>
            <a:ext cx="383438" cy="4001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</a:t>
            </a:r>
            <a:endParaRPr lang="en-US" sz="2000" b="1" dirty="0"/>
          </a:p>
        </p:txBody>
      </p:sp>
      <p:sp>
        <p:nvSpPr>
          <p:cNvPr id="75" name="Rectangle 74"/>
          <p:cNvSpPr/>
          <p:nvPr/>
        </p:nvSpPr>
        <p:spPr>
          <a:xfrm>
            <a:off x="6421924" y="4088159"/>
            <a:ext cx="1202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Option 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9951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3" grpId="0" animBg="1"/>
      <p:bldP spid="24" grpId="0"/>
      <p:bldP spid="25" grpId="0"/>
      <p:bldP spid="26" grpId="0"/>
      <p:bldP spid="27" grpId="0"/>
      <p:bldP spid="28" grpId="0"/>
      <p:bldP spid="30" grpId="0" animBg="1"/>
      <p:bldP spid="32" grpId="0"/>
      <p:bldP spid="33" grpId="0"/>
      <p:bldP spid="34" grpId="0"/>
      <p:bldP spid="36" grpId="0"/>
      <p:bldP spid="38" grpId="0" animBg="1"/>
      <p:bldP spid="39" grpId="0" animBg="1"/>
      <p:bldP spid="41" grpId="0" animBg="1"/>
      <p:bldP spid="42" grpId="0" animBg="1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 animBg="1"/>
      <p:bldP spid="56" grpId="0" animBg="1"/>
      <p:bldP spid="58" grpId="0" animBg="1"/>
      <p:bldP spid="59" grpId="0" animBg="1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 animBg="1"/>
      <p:bldP spid="70" grpId="0" animBg="1"/>
      <p:bldP spid="71" grpId="0"/>
      <p:bldP spid="72" grpId="0"/>
      <p:bldP spid="73" grpId="0" animBg="1"/>
      <p:bldP spid="74" grpId="0" animBg="1"/>
      <p:bldP spid="7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2471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COMBINATION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656690"/>
            <a:ext cx="845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of the different groups or selections which can be formed by taking some or all of a number of objects is called a combination.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333440"/>
            <a:ext cx="4931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Combination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order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does not matters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733550"/>
            <a:ext cx="6934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selection of r things from the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things,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given by: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2086005"/>
            <a:ext cx="2971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(Formula of combination)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40128" y="2432050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baseline="30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400" b="1" baseline="-25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44928" y="2432050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20685" y="2228850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207500" y="2662883"/>
            <a:ext cx="13209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498373" y="2611586"/>
            <a:ext cx="1040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t"/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- 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8410" y="2432050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2190750"/>
            <a:ext cx="35509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- 1)(</a:t>
            </a:r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- 2) ... (</a:t>
            </a:r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- </a:t>
            </a:r>
            <a:r>
              <a:rPr lang="pt-BR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+ 1)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724150"/>
            <a:ext cx="15163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69848" y="3093482"/>
            <a:ext cx="6319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69534" y="2939593"/>
            <a:ext cx="93807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7 x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6)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192406" y="3180867"/>
            <a:ext cx="6960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21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71374" y="4039113"/>
            <a:ext cx="71949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0600" y="3893463"/>
            <a:ext cx="16329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(11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x 9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600163" y="4120149"/>
            <a:ext cx="83708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165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3981950" y="2647950"/>
            <a:ext cx="33790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235875" y="2611584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/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!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1376722" y="3390873"/>
            <a:ext cx="7187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201752" y="3399368"/>
            <a:ext cx="93807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2)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339103" y="2620516"/>
            <a:ext cx="22797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1) (2) </a:t>
            </a:r>
            <a:r>
              <a:rPr lang="pt-BR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(3) ... (</a:t>
            </a:r>
            <a:r>
              <a:rPr lang="pt-BR" sz="24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pt-BR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006844" y="3177341"/>
            <a:ext cx="41389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200" y="4048418"/>
            <a:ext cx="41389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1169534" y="4324350"/>
            <a:ext cx="1370884" cy="26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269423" y="4333059"/>
            <a:ext cx="136127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x 2 x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0" y="3562350"/>
            <a:ext cx="2819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000" b="1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0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b="1" dirty="0">
                <a:latin typeface="Times New Roman" pitchFamily="18" charset="0"/>
                <a:cs typeface="Times New Roman" pitchFamily="18" charset="0"/>
              </a:rPr>
              <a:t> = 1 and </a:t>
            </a:r>
            <a:r>
              <a:rPr lang="pt-BR" sz="2000" b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0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pt-BR" sz="2000" b="1" dirty="0">
                <a:latin typeface="Times New Roman" pitchFamily="18" charset="0"/>
                <a:cs typeface="Times New Roman" pitchFamily="18" charset="0"/>
              </a:rPr>
              <a:t> = 1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pt-BR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93053" y="3349902"/>
            <a:ext cx="782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>
                <a:latin typeface="Times New Roman" pitchFamily="18" charset="0"/>
                <a:cs typeface="Times New Roman" pitchFamily="18" charset="0"/>
              </a:rPr>
              <a:t>Note: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4354" y="3858673"/>
            <a:ext cx="18679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000" b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000" b="1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pt-BR" sz="2000" b="1" dirty="0">
                <a:latin typeface="Times New Roman" pitchFamily="18" charset="0"/>
                <a:cs typeface="Times New Roman" pitchFamily="18" charset="0"/>
              </a:rPr>
              <a:t> = </a:t>
            </a:r>
            <a:r>
              <a:rPr lang="pt-BR" sz="2000" b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000" b="1" baseline="-25000" dirty="0">
                <a:latin typeface="Times New Roman" pitchFamily="18" charset="0"/>
                <a:cs typeface="Times New Roman" pitchFamily="18" charset="0"/>
              </a:rPr>
              <a:t>(n - r)</a:t>
            </a:r>
            <a:endParaRPr lang="pt-BR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029200" y="4171950"/>
            <a:ext cx="24851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pt-BR" sz="2000" b="1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000" b="1" baseline="-25000" dirty="0" smtClean="0">
                <a:latin typeface="Times New Roman" pitchFamily="18" charset="0"/>
                <a:cs typeface="Times New Roman" pitchFamily="18" charset="0"/>
              </a:rPr>
              <a:t>r-1</a:t>
            </a:r>
            <a:r>
              <a:rPr lang="pt-BR" sz="20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pt-BR" sz="2000" b="1" baseline="30000" dirty="0" smtClean="0">
                <a:latin typeface="Times New Roman" pitchFamily="18" charset="0"/>
                <a:cs typeface="Times New Roman" pitchFamily="18" charset="0"/>
              </a:rPr>
              <a:t> n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000" b="1" baseline="-25000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pt-BR" sz="20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pt-BR" sz="2000" b="1" baseline="30000" dirty="0" smtClean="0">
                <a:latin typeface="Times New Roman" pitchFamily="18" charset="0"/>
                <a:cs typeface="Times New Roman" pitchFamily="18" charset="0"/>
              </a:rPr>
              <a:t>n+1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000" b="1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endParaRPr lang="pt-BR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26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27" grpId="0"/>
      <p:bldP spid="14" grpId="0"/>
      <p:bldP spid="15" grpId="0"/>
      <p:bldP spid="17" grpId="0"/>
      <p:bldP spid="21" grpId="0"/>
      <p:bldP spid="28" grpId="0"/>
      <p:bldP spid="29" grpId="0"/>
      <p:bldP spid="31" grpId="0"/>
      <p:bldP spid="32" grpId="0"/>
      <p:bldP spid="33" grpId="0"/>
      <p:bldP spid="37" grpId="0"/>
      <p:bldP spid="39" grpId="0"/>
      <p:bldP spid="40" grpId="0"/>
      <p:bldP spid="41" grpId="0"/>
      <p:bldP spid="30" grpId="0"/>
      <p:bldP spid="35" grpId="0"/>
      <p:bldP spid="36" grpId="0"/>
      <p:bldP spid="38" grpId="0"/>
      <p:bldP spid="42" grpId="0"/>
      <p:bldP spid="44" grpId="0"/>
      <p:bldP spid="13" grpId="0"/>
      <p:bldP spid="16" grpId="0"/>
      <p:bldP spid="18" grpId="0"/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1980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Formulae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819150"/>
            <a:ext cx="7315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number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lines made by n non co-linear points =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81000" y="1814359"/>
            <a:ext cx="5867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number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triangles made by n non co-linear points 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given by the formula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2485459"/>
            <a:ext cx="5410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number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diagonals in a polygon of side 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81000" y="1168028"/>
            <a:ext cx="5943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number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lines made by n points out of which m points are co linear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24600" y="1306527"/>
            <a:ext cx="15456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 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+1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8274" y="1897618"/>
            <a:ext cx="7344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 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57800" y="2495550"/>
            <a:ext cx="10759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- n</a:t>
            </a:r>
          </a:p>
        </p:txBody>
      </p:sp>
    </p:spTree>
    <p:extLst>
      <p:ext uri="{BB962C8B-B14F-4D97-AF65-F5344CB8AC3E}">
        <p14:creationId xmlns:p14="http://schemas.microsoft.com/office/powerpoint/2010/main" val="258011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5" grpId="0"/>
      <p:bldP spid="46" grpId="0"/>
      <p:bldP spid="47" grpId="0"/>
      <p:bldP spid="5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" y="285750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PERMUTATION &amp; COMBINATION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16 persons shake hands with one another in a party. How many shake hands took place?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124 B. 120 C. 165 D.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150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0495" y="1569330"/>
            <a:ext cx="57824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Number of hand shake that can be made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521798" y="1569330"/>
            <a:ext cx="760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30000" dirty="0" smtClean="0"/>
              <a:t>16</a:t>
            </a: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 </a:t>
            </a:r>
            <a:r>
              <a:rPr lang="en-US" dirty="0"/>
              <a:t> 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0705" y="1962150"/>
            <a:ext cx="11762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16 × 15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300705" y="2331483"/>
            <a:ext cx="1176295" cy="1166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300705" y="2343150"/>
            <a:ext cx="1626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1×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37796" y="2162914"/>
            <a:ext cx="3828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933650" y="2712482"/>
            <a:ext cx="11762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=120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87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" y="285750"/>
            <a:ext cx="868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	How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many 3 - letter words with or without meaning, can be formed out of the letters of the word, 'LOGARITHMS', if repetition of letters is not allowed? 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720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B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420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C. 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5040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D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120 </a:t>
            </a:r>
          </a:p>
        </p:txBody>
      </p:sp>
    </p:spTree>
    <p:extLst>
      <p:ext uri="{BB962C8B-B14F-4D97-AF65-F5344CB8AC3E}">
        <p14:creationId xmlns:p14="http://schemas.microsoft.com/office/powerpoint/2010/main" val="362476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" y="285750"/>
            <a:ext cx="868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	In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different ways can the letters of word ‘POPULAR’ be arranged? 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1650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B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1780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C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6800		 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D. 5220 </a:t>
            </a:r>
          </a:p>
        </p:txBody>
      </p:sp>
    </p:spTree>
    <p:extLst>
      <p:ext uri="{BB962C8B-B14F-4D97-AF65-F5344CB8AC3E}">
        <p14:creationId xmlns:p14="http://schemas.microsoft.com/office/powerpoint/2010/main" val="394796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33350"/>
            <a:ext cx="8763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A team of 7 children is to be selected out of 7 girls and 5 boys such that it contains at least 5 girls. In how many different ways can the selection be made?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105 B. 246 C. 100 D. 128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9793"/>
            <a:ext cx="8322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 1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261787" y="1059793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 Girls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905000" y="1059793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&amp; 2 boys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61786" y="1399955"/>
                <a:ext cx="623761" cy="3742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IN" b="1" i="1" smtClean="0">
                                  <a:latin typeface="Cambria Math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𝟕</m:t>
                              </m:r>
                            </m:sup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𝑪</m:t>
                              </m:r>
                            </m:e>
                          </m:sPre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786" y="1399955"/>
                <a:ext cx="623761" cy="374270"/>
              </a:xfrm>
              <a:prstGeom prst="rect">
                <a:avLst/>
              </a:prstGeom>
              <a:blipFill rotWithShape="1">
                <a:blip r:embed="rId2"/>
                <a:stretch>
                  <a:fillRect t="-4918" r="-13725" b="-278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972633" y="1399955"/>
                <a:ext cx="840165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Pre>
                            <m:sPrePr>
                              <m:ctrlPr>
                                <a:rPr lang="en-IN" b="1" i="1" smtClean="0">
                                  <a:latin typeface="Cambria Math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𝟓</m:t>
                              </m:r>
                            </m:sup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𝑪</m:t>
                              </m:r>
                            </m:e>
                          </m:sPre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633" y="1399955"/>
                <a:ext cx="840165" cy="379656"/>
              </a:xfrm>
              <a:prstGeom prst="rect">
                <a:avLst/>
              </a:prstGeom>
              <a:blipFill rotWithShape="1">
                <a:blip r:embed="rId3"/>
                <a:stretch>
                  <a:fillRect t="-3226" r="-11679" b="-274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375600" y="1811975"/>
                <a:ext cx="801822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/>
                            </a:rPr>
                            <m:t>𝟕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num>
                        <m:den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600" y="1811975"/>
                <a:ext cx="801822" cy="610936"/>
              </a:xfrm>
              <a:prstGeom prst="rect">
                <a:avLst/>
              </a:prstGeom>
              <a:blipFill rotWithShape="1">
                <a:blip r:embed="rId4"/>
                <a:stretch>
                  <a:fillRect r="-11450" b="-3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953573" y="1811975"/>
                <a:ext cx="1018227" cy="616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US" b="1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𝟓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</m:t>
                          </m:r>
                        </m:num>
                        <m:den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573" y="1811975"/>
                <a:ext cx="1018227" cy="616515"/>
              </a:xfrm>
              <a:prstGeom prst="rect">
                <a:avLst/>
              </a:prstGeom>
              <a:blipFill rotWithShape="1">
                <a:blip r:embed="rId5"/>
                <a:stretch>
                  <a:fillRect r="-8333" b="-29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484636" y="2582099"/>
                <a:ext cx="5341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𝟐𝟏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36" y="2582099"/>
                <a:ext cx="534121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667" r="-17241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125654" y="2549833"/>
                <a:ext cx="7505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b="1" i="1" smtClean="0">
                          <a:latin typeface="Cambria Math"/>
                        </a:rPr>
                        <m:t>𝟏𝟎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654" y="2549833"/>
                <a:ext cx="750526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6557" r="-12195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426896" y="3071565"/>
                <a:ext cx="9092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𝟐𝟏𝟎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896" y="3071565"/>
                <a:ext cx="909223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6667" r="-10738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99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85750"/>
            <a:ext cx="868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 In how many different ways can the letters of word RABBIT be arranged?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360 B. 240 C. 300 D. 275</a:t>
            </a:r>
          </a:p>
        </p:txBody>
      </p:sp>
    </p:spTree>
    <p:extLst>
      <p:ext uri="{BB962C8B-B14F-4D97-AF65-F5344CB8AC3E}">
        <p14:creationId xmlns:p14="http://schemas.microsoft.com/office/powerpoint/2010/main" val="322679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33350"/>
            <a:ext cx="876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In a language, there are six different words. A sentence can be formed by at least 2 words. If order of words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changed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 a sentence, we get a different sentence. How many different sentences can be formed in this language?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1870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B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1970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C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1950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D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2190</a:t>
            </a:r>
          </a:p>
        </p:txBody>
      </p:sp>
    </p:spTree>
    <p:extLst>
      <p:ext uri="{BB962C8B-B14F-4D97-AF65-F5344CB8AC3E}">
        <p14:creationId xmlns:p14="http://schemas.microsoft.com/office/powerpoint/2010/main" val="306167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09550"/>
            <a:ext cx="883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8. There are 2 shirts, 3 jeans, 3 socks and 2 skirts. In how many ways a shopkeeper can arrange these things so that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 the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socks come together and all the skirts come together?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2520 B. 5040 C. 4690 D. 3260</a:t>
            </a:r>
          </a:p>
        </p:txBody>
      </p:sp>
    </p:spTree>
    <p:extLst>
      <p:ext uri="{BB962C8B-B14F-4D97-AF65-F5344CB8AC3E}">
        <p14:creationId xmlns:p14="http://schemas.microsoft.com/office/powerpoint/2010/main" val="365916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09550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9. In how many different ways can the letters of the word WINDOW be arranged in such a way that the vowels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never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come 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together?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350 B. 250 C. 720 D. 300</a:t>
            </a:r>
          </a:p>
        </p:txBody>
      </p:sp>
    </p:spTree>
    <p:extLst>
      <p:ext uri="{BB962C8B-B14F-4D97-AF65-F5344CB8AC3E}">
        <p14:creationId xmlns:p14="http://schemas.microsoft.com/office/powerpoint/2010/main" val="2950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85750"/>
            <a:ext cx="853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10. The number of ways in which 8 different books can be arranged on a shelf so that 3 particular books shall not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together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11!-3! B. 361000 C. 8!x3!-5! D. 36000</a:t>
            </a:r>
          </a:p>
        </p:txBody>
      </p:sp>
    </p:spTree>
    <p:extLst>
      <p:ext uri="{BB962C8B-B14F-4D97-AF65-F5344CB8AC3E}">
        <p14:creationId xmlns:p14="http://schemas.microsoft.com/office/powerpoint/2010/main" val="278013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38150"/>
            <a:ext cx="883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	How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many ways in which five persons can sit in a row if two of the persons insist sitting next to each other? 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120 B. 48 C. 4 D. 12 </a:t>
            </a:r>
          </a:p>
        </p:txBody>
      </p:sp>
    </p:spTree>
    <p:extLst>
      <p:ext uri="{BB962C8B-B14F-4D97-AF65-F5344CB8AC3E}">
        <p14:creationId xmlns:p14="http://schemas.microsoft.com/office/powerpoint/2010/main" val="3283346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036" y="209550"/>
            <a:ext cx="883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	Find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number of ways in which 5 boys and 5 girls can be seated in a row if the boys and girls are to have alternate seats: </a:t>
            </a:r>
          </a:p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10! B. 5! 5! C. 5x5 D. 2.5!.5! </a:t>
            </a:r>
          </a:p>
        </p:txBody>
      </p:sp>
    </p:spTree>
    <p:extLst>
      <p:ext uri="{BB962C8B-B14F-4D97-AF65-F5344CB8AC3E}">
        <p14:creationId xmlns:p14="http://schemas.microsoft.com/office/powerpoint/2010/main" val="15234929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036" y="209550"/>
            <a:ext cx="883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	Find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number of distinct permutations that can be formed from all of the letters of the word ‘ELEVEN’ </a:t>
            </a:r>
          </a:p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6!/3! B. 6/3 C. 3!/6! D. 3/6 </a:t>
            </a:r>
          </a:p>
        </p:txBody>
      </p:sp>
    </p:spTree>
    <p:extLst>
      <p:ext uri="{BB962C8B-B14F-4D97-AF65-F5344CB8AC3E}">
        <p14:creationId xmlns:p14="http://schemas.microsoft.com/office/powerpoint/2010/main" val="2779664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036" y="209550"/>
            <a:ext cx="883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14 	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 contains 9 boys and 3 girls. In how many ways can the teacher choose a committee of 4? </a:t>
            </a:r>
          </a:p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12C4 B. 9C4 C. 3 D. 6 </a:t>
            </a:r>
          </a:p>
        </p:txBody>
      </p:sp>
    </p:spTree>
    <p:extLst>
      <p:ext uri="{BB962C8B-B14F-4D97-AF65-F5344CB8AC3E}">
        <p14:creationId xmlns:p14="http://schemas.microsoft.com/office/powerpoint/2010/main" val="36333050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63426"/>
            <a:ext cx="8305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	A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women has 11 close friends. In how many ways can she invite 5 of them to dinner. 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11/5 B. 11C5 C. 11x5 D. 115 </a:t>
            </a:r>
          </a:p>
        </p:txBody>
      </p:sp>
    </p:spTree>
    <p:extLst>
      <p:ext uri="{BB962C8B-B14F-4D97-AF65-F5344CB8AC3E}">
        <p14:creationId xmlns:p14="http://schemas.microsoft.com/office/powerpoint/2010/main" val="5358690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63426"/>
            <a:ext cx="853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16.	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library contains 10 thrillers and 18 science-fiction books. In how many ways a borrower select 2 of each? </a:t>
            </a:r>
          </a:p>
          <a:p>
            <a:r>
              <a:rPr lang="nn-NO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10C2 B. 10P2 x 18P2 C. 10C2 x 18P2 D. 10P2 x 18C2 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221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285750"/>
            <a:ext cx="8610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Question 17-20 based on : In how many ways 6 boys and 4 girls can be arranged?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17	Such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that all girls are together.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6! x 4! B. 6! / 4! C. 7! x 4! D. 7! / 6! </a:t>
            </a:r>
          </a:p>
          <a:p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18	All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boys are together. </a:t>
            </a:r>
          </a:p>
          <a:p>
            <a:pPr marL="342900" indent="-342900">
              <a:buAutoNum type="alphaUcPeriod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! x 5! B. 5! x 6! C. 7! x 4! D. 5! x 4! </a:t>
            </a: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19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boys are together and All girls are together. </a:t>
            </a:r>
          </a:p>
          <a:p>
            <a:pPr marL="342900" indent="-342900">
              <a:buAutoNum type="alphaUcPeriod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! x 4!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	B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2! x 6! x 4!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	C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(6! x 4!) / 2!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		D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None of these 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lphaUcPeriod"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20	No girls together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A. 7C4 6! 4!	B. 7!6! 4!		C. 6! 4! /7!	D. 6! 4! / 7C4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7643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3230" y="604005"/>
            <a:ext cx="89245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From a group of 7 men and 6 women, five persons are to be selected to form a committee so that at least 3 men are there on the committee. In how many ways can it be done?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564		B. 645		C. 735		D. 756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7759" y="1549143"/>
            <a:ext cx="29732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Following are the possible cases for selecting the team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4040041" y="1440418"/>
            <a:ext cx="9129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 I</a:t>
            </a:r>
            <a:endParaRPr lang="en-US" b="1" dirty="0"/>
          </a:p>
        </p:txBody>
      </p:sp>
      <p:sp>
        <p:nvSpPr>
          <p:cNvPr id="46" name="Rectangle 45"/>
          <p:cNvSpPr/>
          <p:nvPr/>
        </p:nvSpPr>
        <p:spPr>
          <a:xfrm>
            <a:off x="3887641" y="1826142"/>
            <a:ext cx="13274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 M &amp; 2 W</a:t>
            </a:r>
            <a:endParaRPr lang="en-US" b="1" dirty="0"/>
          </a:p>
        </p:txBody>
      </p:sp>
      <p:sp>
        <p:nvSpPr>
          <p:cNvPr id="47" name="Rectangle 46"/>
          <p:cNvSpPr/>
          <p:nvPr/>
        </p:nvSpPr>
        <p:spPr>
          <a:xfrm>
            <a:off x="5105400" y="1581150"/>
            <a:ext cx="3865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5487841" y="1407484"/>
            <a:ext cx="9129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 II</a:t>
            </a:r>
            <a:endParaRPr lang="en-US" b="1" dirty="0"/>
          </a:p>
        </p:txBody>
      </p:sp>
      <p:sp>
        <p:nvSpPr>
          <p:cNvPr id="49" name="Rectangle 48"/>
          <p:cNvSpPr/>
          <p:nvPr/>
        </p:nvSpPr>
        <p:spPr>
          <a:xfrm>
            <a:off x="5334000" y="1789519"/>
            <a:ext cx="13274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M &amp; 1 W</a:t>
            </a:r>
            <a:endParaRPr lang="en-US" b="1" dirty="0"/>
          </a:p>
        </p:txBody>
      </p:sp>
      <p:sp>
        <p:nvSpPr>
          <p:cNvPr id="50" name="Rectangle 49"/>
          <p:cNvSpPr/>
          <p:nvPr/>
        </p:nvSpPr>
        <p:spPr>
          <a:xfrm>
            <a:off x="6616437" y="1581150"/>
            <a:ext cx="3865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7070407" y="1342669"/>
            <a:ext cx="1235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 III</a:t>
            </a:r>
            <a:endParaRPr lang="en-US" b="1" dirty="0"/>
          </a:p>
        </p:txBody>
      </p:sp>
      <p:sp>
        <p:nvSpPr>
          <p:cNvPr id="52" name="Rectangle 51"/>
          <p:cNvSpPr/>
          <p:nvPr/>
        </p:nvSpPr>
        <p:spPr>
          <a:xfrm>
            <a:off x="6934200" y="1765449"/>
            <a:ext cx="13274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M &amp; 0 W</a:t>
            </a:r>
            <a:endParaRPr lang="en-US" b="1" dirty="0"/>
          </a:p>
        </p:txBody>
      </p:sp>
      <p:sp>
        <p:nvSpPr>
          <p:cNvPr id="54" name="Rectangle 53"/>
          <p:cNvSpPr/>
          <p:nvPr/>
        </p:nvSpPr>
        <p:spPr>
          <a:xfrm>
            <a:off x="152400" y="2222498"/>
            <a:ext cx="1391467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Note:-</a:t>
            </a:r>
          </a:p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&amp; means ×</a:t>
            </a:r>
          </a:p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 means +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563895" y="2314831"/>
            <a:ext cx="26271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Total number of ways are </a:t>
            </a:r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4038600" y="2314831"/>
            <a:ext cx="6319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25818" y="2286571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02096" y="2317349"/>
            <a:ext cx="6319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54303" y="2286571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387896" y="2266950"/>
            <a:ext cx="6319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91200" y="2230586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19800" y="2266950"/>
            <a:ext cx="6319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9703" y="2266950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629400" y="2288798"/>
            <a:ext cx="6319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16618" y="2262485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92896" y="2262485"/>
            <a:ext cx="6319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11238" y="2988419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9028" y="2792003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×6×5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>
            <a:off x="4164778" y="3186973"/>
            <a:ext cx="8532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4069028" y="3137049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×2×3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5029200" y="2800350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6×5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3" name="Straight Connector 72"/>
          <p:cNvCxnSpPr/>
          <p:nvPr/>
        </p:nvCxnSpPr>
        <p:spPr>
          <a:xfrm flipV="1">
            <a:off x="5277350" y="3186972"/>
            <a:ext cx="513850" cy="83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029200" y="3145396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×2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4953000" y="2956140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91200" y="2964487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6019800" y="2747292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×6×5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6115550" y="3142262"/>
            <a:ext cx="8532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019800" y="3092338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×2×3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7086600" y="2745718"/>
            <a:ext cx="5050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7228122" y="3150609"/>
            <a:ext cx="2569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6979972" y="3100685"/>
            <a:ext cx="6117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903772" y="2911429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67600" y="2897816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7574568" y="2756049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×6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7827334" y="3151019"/>
            <a:ext cx="5268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7574568" y="3101095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×2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8502666" y="2912281"/>
            <a:ext cx="3152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8274241" y="2906573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757010" y="3634085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81252" y="3607061"/>
            <a:ext cx="489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4724400" y="3607061"/>
            <a:ext cx="489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517406" y="3609685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94767" y="3634085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5356491" y="3626148"/>
            <a:ext cx="489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823099" y="3615515"/>
            <a:ext cx="489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92645" y="3628772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93806" y="3634085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6368748" y="3634085"/>
            <a:ext cx="489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21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892963" y="3634085"/>
            <a:ext cx="489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6713266" y="3615036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757010" y="4091285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306752" y="4101509"/>
            <a:ext cx="711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525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4953000" y="4091285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5181600" y="4091285"/>
            <a:ext cx="711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210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5827848" y="4081061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6096000" y="4091285"/>
            <a:ext cx="711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21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4281454" y="4552950"/>
            <a:ext cx="711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756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3733800" y="4579974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454160" y="4540068"/>
            <a:ext cx="14911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Option D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69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 animBg="1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71" grpId="0"/>
      <p:bldP spid="72" grpId="0"/>
      <p:bldP spid="74" grpId="0"/>
      <p:bldP spid="75" grpId="0"/>
      <p:bldP spid="76" grpId="0"/>
      <p:bldP spid="77" grpId="0"/>
      <p:bldP spid="79" grpId="0"/>
      <p:bldP spid="80" grpId="0"/>
      <p:bldP spid="82" grpId="0"/>
      <p:bldP spid="83" grpId="0"/>
      <p:bldP spid="84" grpId="0"/>
      <p:bldP spid="93" grpId="0"/>
      <p:bldP spid="95" grpId="0"/>
      <p:bldP spid="96" grpId="0"/>
      <p:bldP spid="99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4" grpId="0"/>
      <p:bldP spid="115" grpId="0"/>
      <p:bldP spid="116" grpId="0"/>
      <p:bldP spid="117" grpId="0"/>
      <p:bldP spid="118" grpId="0"/>
      <p:bldP spid="119" grpId="0"/>
      <p:bldP spid="121" grpId="0"/>
      <p:bldP spid="122" grpId="0"/>
      <p:bldP spid="1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3230" y="604005"/>
            <a:ext cx="89245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 of 7 consonants and 4 vowels, how many words of 3 consonants and 2 vowels can be formed?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210		B. 1050		C.  25200		D. 21400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7759" y="1549143"/>
            <a:ext cx="38002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Following is the number of ways for selecting 3 consonants and 2 vowels</a:t>
            </a:r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5127962" y="1618807"/>
            <a:ext cx="6319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15180" y="1590547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91458" y="1621325"/>
            <a:ext cx="6319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00600" y="2158566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58390" y="1962150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×6×5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Connector 68"/>
          <p:cNvCxnSpPr/>
          <p:nvPr/>
        </p:nvCxnSpPr>
        <p:spPr>
          <a:xfrm>
            <a:off x="5254140" y="2357120"/>
            <a:ext cx="8532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158390" y="2307196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×2×3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118562" y="1970497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4×3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3" name="Straight Connector 72"/>
          <p:cNvCxnSpPr/>
          <p:nvPr/>
        </p:nvCxnSpPr>
        <p:spPr>
          <a:xfrm flipV="1">
            <a:off x="6366712" y="2357119"/>
            <a:ext cx="513850" cy="83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6118562" y="2315543"/>
            <a:ext cx="103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×2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042362" y="2126287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46372" y="2709461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70614" y="2682437"/>
            <a:ext cx="489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35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5813762" y="2682437"/>
            <a:ext cx="489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5606768" y="2685061"/>
            <a:ext cx="359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846372" y="3028950"/>
            <a:ext cx="357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396114" y="3039174"/>
            <a:ext cx="711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210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5373077" y="4084995"/>
            <a:ext cx="14911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Option C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076208" y="3488260"/>
            <a:ext cx="37243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5 alphabets can be arranged in </a:t>
            </a:r>
            <a:endParaRPr lang="en-US" dirty="0"/>
          </a:p>
        </p:txBody>
      </p:sp>
      <p:sp>
        <p:nvSpPr>
          <p:cNvPr id="85" name="Rectangle 84"/>
          <p:cNvSpPr/>
          <p:nvPr/>
        </p:nvSpPr>
        <p:spPr>
          <a:xfrm>
            <a:off x="4562830" y="3503888"/>
            <a:ext cx="924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5! ways </a:t>
            </a:r>
            <a:endParaRPr lang="en-US" dirty="0"/>
          </a:p>
        </p:txBody>
      </p:sp>
      <p:sp>
        <p:nvSpPr>
          <p:cNvPr id="86" name="Rectangle 85"/>
          <p:cNvSpPr/>
          <p:nvPr/>
        </p:nvSpPr>
        <p:spPr>
          <a:xfrm>
            <a:off x="5422649" y="3503888"/>
            <a:ext cx="924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=120</a:t>
            </a:r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1102488" y="3917268"/>
            <a:ext cx="37243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total number of ways are </a:t>
            </a:r>
            <a:endParaRPr lang="en-US" dirty="0"/>
          </a:p>
        </p:txBody>
      </p:sp>
      <p:sp>
        <p:nvSpPr>
          <p:cNvPr id="88" name="Rectangle 87"/>
          <p:cNvSpPr/>
          <p:nvPr/>
        </p:nvSpPr>
        <p:spPr>
          <a:xfrm>
            <a:off x="3810000" y="3955018"/>
            <a:ext cx="1403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=120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×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210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853947" y="4177328"/>
            <a:ext cx="1403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=25200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03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6" grpId="0"/>
      <p:bldP spid="57" grpId="0"/>
      <p:bldP spid="58" grpId="0"/>
      <p:bldP spid="67" grpId="0"/>
      <p:bldP spid="68" grpId="0"/>
      <p:bldP spid="71" grpId="0"/>
      <p:bldP spid="72" grpId="0"/>
      <p:bldP spid="74" grpId="0"/>
      <p:bldP spid="75" grpId="0"/>
      <p:bldP spid="101" grpId="0"/>
      <p:bldP spid="102" grpId="0"/>
      <p:bldP spid="103" grpId="0"/>
      <p:bldP spid="104" grpId="0"/>
      <p:bldP spid="114" grpId="0"/>
      <p:bldP spid="115" grpId="0"/>
      <p:bldP spid="123" grpId="0"/>
      <p:bldP spid="70" grpId="0"/>
      <p:bldP spid="85" grpId="0"/>
      <p:bldP spid="86" grpId="0"/>
      <p:bldP spid="87" grpId="0"/>
      <p:bldP spid="88" grpId="0"/>
      <p:bldP spid="8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3230" y="604005"/>
            <a:ext cx="89245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telegraph has 5 arms and each arm is capable of 4 distinct positions, including the position of rest. Find the total number of signals that can be made.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1023		B. 1024		C.  624		D. 625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0495" y="3105150"/>
            <a:ext cx="30147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Therefore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total no.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signals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729046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According to question ,There are 4 positions for 5 arms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2038350"/>
            <a:ext cx="2890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Therefore, total combination 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0342" y="2065006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4)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59680" y="2387084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= 1024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319" y="2780541"/>
            <a:ext cx="65742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including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position of rest 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we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have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subtract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 from total.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88743" y="3116818"/>
            <a:ext cx="1021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=1024−1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8743" y="3445467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1023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33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  <p:bldP spid="10" grpId="0"/>
      <p:bldP spid="11" grpId="0"/>
      <p:bldP spid="5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0" y="574123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parallelograms will be formed if 7 parallel horizontal lines intersect 6 parallel vertical lines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A.42		B.294		C. 315		D. None of these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6316" y="1581150"/>
            <a:ext cx="81480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Parallelograms are formed when any two pairs of parallel lines (where each pair is not parallel to the other pair) intersect.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2152617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Hence, the given problem can be considered as selecting pairs of lines from the given 2 sets of parallel lines.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495" y="2769911"/>
            <a:ext cx="6291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Therefore, the total number of parallelograms formed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141826"/>
            <a:ext cx="1276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 = 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x 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52800" y="3511158"/>
            <a:ext cx="718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= 315</a:t>
            </a:r>
          </a:p>
        </p:txBody>
      </p:sp>
    </p:spTree>
    <p:extLst>
      <p:ext uri="{BB962C8B-B14F-4D97-AF65-F5344CB8AC3E}">
        <p14:creationId xmlns:p14="http://schemas.microsoft.com/office/powerpoint/2010/main" val="69240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660902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There are seven pairs of black shoes and five pairs of white shoes. They are all put into a box and shoes are drawn one at a time. To ensure that at least one pair of black shoes are taken out, what is the number of shoes required to be drawn out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A.7		B.12		C.13		D.18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8851" y="1861231"/>
            <a:ext cx="3039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Number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white shoes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5 x 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862485"/>
            <a:ext cx="603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4800" y="2126218"/>
            <a:ext cx="30267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Number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black shoes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x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126218"/>
            <a:ext cx="603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9358" y="2477311"/>
            <a:ext cx="3566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Consider the worst case scenarios: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9719" y="2857494"/>
            <a:ext cx="37450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All the white shoes were drawn before any of the black shoes were drawn.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3896" y="3421618"/>
            <a:ext cx="3475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white shoes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draws =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3714750"/>
            <a:ext cx="49197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Now we are left with all the black shoes.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" y="4019550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All the left sides were drawn.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00" y="4259818"/>
            <a:ext cx="2161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Number of draws =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4400" y="1876253"/>
            <a:ext cx="411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Now whatever remains are all the right side of the black shoes. So any one draw from this stack will give us a pair.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3180659"/>
            <a:ext cx="2161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Number of draws =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3573840"/>
            <a:ext cx="34659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Total number of draws needed = 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08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9" grpId="0"/>
      <p:bldP spid="20" grpId="0"/>
      <p:bldP spid="6" grpId="0"/>
      <p:bldP spid="7" grpId="0"/>
      <p:bldP spid="9" grpId="0"/>
      <p:bldP spid="10" grpId="0"/>
      <p:bldP spid="11" grpId="0"/>
      <p:bldP spid="12" grpId="0"/>
      <p:bldP spid="21" grpId="0"/>
      <p:bldP spid="22" grpId="0"/>
      <p:bldP spid="2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604005"/>
            <a:ext cx="8458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There are three rooms in a motel: one single, one double and one for four persons. How many ways are there to house seven persons in these rooms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	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7! / 1! 2! 3! 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B.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7! 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C. 7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 /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		D.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 /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657350"/>
            <a:ext cx="354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Choose 1 person for the single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0923" y="1706630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5809" y="202954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&amp; from the remaining choose 2 for the double room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06630"/>
            <a:ext cx="704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 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000" y="267587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&amp; from the remaining choose 4 people for the four person room,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686147"/>
            <a:ext cx="704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 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05725" y="2352707"/>
            <a:ext cx="1436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= 7! / 1! 2! 3!</a:t>
            </a:r>
          </a:p>
        </p:txBody>
      </p:sp>
    </p:spTree>
    <p:extLst>
      <p:ext uri="{BB962C8B-B14F-4D97-AF65-F5344CB8AC3E}">
        <p14:creationId xmlns:p14="http://schemas.microsoft.com/office/powerpoint/2010/main" val="96237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1000" y="742950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number of circles that can be drawn out of 10 points of which 7 are collinear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130		B.85		C. 45		D.72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0494" y="1514206"/>
            <a:ext cx="62151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drawing a circle we need 3 non collinear points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99354" y="186711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This can be done in:</a:t>
            </a:r>
          </a:p>
          <a:p>
            <a:r>
              <a:rPr lang="en-US" baseline="30000" dirty="0"/>
              <a:t>3</a:t>
            </a:r>
            <a:r>
              <a:rPr lang="en-US" dirty="0"/>
              <a:t>C</a:t>
            </a:r>
            <a:r>
              <a:rPr lang="en-US" baseline="-25000" dirty="0"/>
              <a:t>3 </a:t>
            </a:r>
            <a:r>
              <a:rPr lang="en-US" dirty="0"/>
              <a:t>+ </a:t>
            </a:r>
            <a:r>
              <a:rPr lang="en-US" baseline="30000" dirty="0"/>
              <a:t>3</a:t>
            </a:r>
            <a:r>
              <a:rPr lang="en-US" dirty="0"/>
              <a:t>C</a:t>
            </a:r>
            <a:r>
              <a:rPr lang="en-US" baseline="-25000" dirty="0"/>
              <a:t>2 </a:t>
            </a:r>
            <a:r>
              <a:rPr lang="en-US" dirty="0"/>
              <a:t>x </a:t>
            </a:r>
            <a:r>
              <a:rPr lang="en-US" baseline="30000" dirty="0"/>
              <a:t>7</a:t>
            </a:r>
            <a:r>
              <a:rPr lang="en-US" dirty="0"/>
              <a:t>C</a:t>
            </a:r>
            <a:r>
              <a:rPr lang="en-US" baseline="-25000" dirty="0"/>
              <a:t>1 </a:t>
            </a:r>
            <a:r>
              <a:rPr lang="en-US" dirty="0"/>
              <a:t>+ </a:t>
            </a:r>
            <a:r>
              <a:rPr lang="en-US" baseline="30000" dirty="0"/>
              <a:t>3</a:t>
            </a:r>
            <a:r>
              <a:rPr lang="en-US" dirty="0"/>
              <a:t>C</a:t>
            </a:r>
            <a:r>
              <a:rPr lang="en-US" baseline="-25000" dirty="0"/>
              <a:t>1 </a:t>
            </a:r>
            <a:r>
              <a:rPr lang="en-US" dirty="0"/>
              <a:t>x </a:t>
            </a:r>
            <a:r>
              <a:rPr lang="en-US" baseline="30000" dirty="0"/>
              <a:t>7</a:t>
            </a: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354" y="2513442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= 1 + 21 + </a:t>
            </a:r>
            <a:r>
              <a:rPr lang="en-US" dirty="0" smtClean="0"/>
              <a:t>63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99354" y="2882774"/>
            <a:ext cx="732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= 85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2407" y="2513442"/>
            <a:ext cx="5100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OR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5499313" y="1883538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30000" dirty="0" smtClean="0"/>
              <a:t>10</a:t>
            </a:r>
            <a:r>
              <a:rPr lang="en-US" dirty="0" smtClean="0"/>
              <a:t>C</a:t>
            </a:r>
            <a:r>
              <a:rPr lang="en-US" baseline="-25000" dirty="0"/>
              <a:t>3 </a:t>
            </a:r>
            <a:r>
              <a:rPr lang="en-US" dirty="0" smtClean="0"/>
              <a:t>-</a:t>
            </a:r>
            <a:r>
              <a:rPr lang="en-US" dirty="0"/>
              <a:t> </a:t>
            </a:r>
            <a:r>
              <a:rPr lang="en-US" baseline="30000" dirty="0" smtClean="0"/>
              <a:t>7</a:t>
            </a:r>
            <a:r>
              <a:rPr lang="en-US" dirty="0" smtClean="0"/>
              <a:t>C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5255650" y="2214086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= </a:t>
            </a:r>
            <a:r>
              <a:rPr lang="en-US" dirty="0" smtClean="0"/>
              <a:t>120 -35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5255650" y="2583418"/>
            <a:ext cx="732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= 85</a:t>
            </a:r>
          </a:p>
        </p:txBody>
      </p:sp>
    </p:spTree>
    <p:extLst>
      <p:ext uri="{BB962C8B-B14F-4D97-AF65-F5344CB8AC3E}">
        <p14:creationId xmlns:p14="http://schemas.microsoft.com/office/powerpoint/2010/main" val="173829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1000" y="742950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value of n if </a:t>
            </a:r>
            <a:r>
              <a:rPr lang="en-US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2n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3:</a:t>
            </a:r>
            <a:r>
              <a:rPr lang="en-US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=11:1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B. 18		C.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D.11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0495" y="156933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Given </a:t>
            </a:r>
            <a:endParaRPr lang="en-US" dirty="0"/>
          </a:p>
          <a:p>
            <a:r>
              <a:rPr lang="en-US" baseline="30000" dirty="0"/>
              <a:t>2n</a:t>
            </a:r>
            <a:r>
              <a:rPr lang="en-US" dirty="0"/>
              <a:t>C</a:t>
            </a:r>
            <a:r>
              <a:rPr lang="en-US" baseline="-25000" dirty="0"/>
              <a:t>3:</a:t>
            </a:r>
            <a:r>
              <a:rPr lang="en-US" baseline="30000" dirty="0"/>
              <a:t> n</a:t>
            </a:r>
            <a:r>
              <a:rPr lang="en-US" dirty="0"/>
              <a:t>C</a:t>
            </a:r>
            <a:r>
              <a:rPr lang="en-US" baseline="-25000" dirty="0"/>
              <a:t>3</a:t>
            </a:r>
            <a:r>
              <a:rPr lang="en-US" dirty="0"/>
              <a:t> =</a:t>
            </a:r>
            <a:r>
              <a:rPr lang="en-US" dirty="0" smtClean="0"/>
              <a:t>11:1</a:t>
            </a:r>
            <a:r>
              <a:rPr lang="en-US" dirty="0"/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328776"/>
            <a:ext cx="2166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2n(2n-1)(2n-2)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2211791" y="2478443"/>
            <a:ext cx="367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28600" y="2675092"/>
            <a:ext cx="2166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n(n-1)(n-2)</a:t>
            </a:r>
            <a:endParaRPr lang="en-US" dirty="0"/>
          </a:p>
        </p:txBody>
      </p:sp>
      <p:cxnSp>
        <p:nvCxnSpPr>
          <p:cNvPr id="23" name="Straight Connector 22"/>
          <p:cNvCxnSpPr>
            <a:endCxn id="21" idx="1"/>
          </p:cNvCxnSpPr>
          <p:nvPr/>
        </p:nvCxnSpPr>
        <p:spPr>
          <a:xfrm flipV="1">
            <a:off x="378977" y="2663109"/>
            <a:ext cx="1832814" cy="30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521524" y="2293777"/>
            <a:ext cx="47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11</a:t>
            </a:r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2579199" y="2662802"/>
            <a:ext cx="418737" cy="3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550361" y="2709429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354629" y="3257550"/>
            <a:ext cx="2166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4n(2n-1)(n-1)</a:t>
            </a:r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354629" y="3626575"/>
            <a:ext cx="1832814" cy="30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4629" y="3790950"/>
            <a:ext cx="1626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n(n-1)(n-2)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133600" y="3495432"/>
            <a:ext cx="367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2443333" y="3310766"/>
            <a:ext cx="47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11</a:t>
            </a:r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501008" y="3679791"/>
            <a:ext cx="418737" cy="3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472170" y="3726418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638084" y="3333750"/>
            <a:ext cx="104684" cy="14753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57200" y="3867150"/>
            <a:ext cx="104684" cy="14753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438076" y="3333750"/>
            <a:ext cx="543125" cy="2354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61884" y="3823193"/>
            <a:ext cx="543125" cy="2354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897225" y="1846329"/>
            <a:ext cx="752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8n-4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5562600" y="1846329"/>
            <a:ext cx="367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5930008" y="1811064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11n-22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6082408" y="2328776"/>
            <a:ext cx="1040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11n-8n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5649354" y="2347730"/>
            <a:ext cx="367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4800600" y="2354818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2</a:t>
            </a:r>
            <a:r>
              <a:rPr lang="en-US" dirty="0"/>
              <a:t>2</a:t>
            </a:r>
            <a:r>
              <a:rPr lang="en-US" dirty="0" smtClean="0"/>
              <a:t>-4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5071619" y="3072884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5372231" y="3064291"/>
            <a:ext cx="367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5638800" y="3116818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4511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1" grpId="0"/>
      <p:bldP spid="22" grpId="0"/>
      <p:bldP spid="24" grpId="0"/>
      <p:bldP spid="26" grpId="0"/>
      <p:bldP spid="27" grpId="0"/>
      <p:bldP spid="29" grpId="0"/>
      <p:bldP spid="30" grpId="0"/>
      <p:bldP spid="31" grpId="0"/>
      <p:bldP spid="33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1000" y="742950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chords can be drawn through 21 points on a circle.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420		B. 22		C. 210		D. 21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90495" y="1569330"/>
            <a:ext cx="57824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Number of chords that can be made will be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521798" y="1569330"/>
            <a:ext cx="760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30000" dirty="0" smtClean="0"/>
              <a:t>21</a:t>
            </a: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 </a:t>
            </a:r>
            <a:r>
              <a:rPr lang="en-US" dirty="0"/>
              <a:t>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0705" y="1962150"/>
            <a:ext cx="11762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21 × 20</a:t>
            </a:r>
            <a:endParaRPr lang="en-US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5300705" y="2331483"/>
            <a:ext cx="1176295" cy="1166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300705" y="2343150"/>
            <a:ext cx="1626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1×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37796" y="2162914"/>
            <a:ext cx="3828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4933650" y="2712482"/>
            <a:ext cx="11762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=210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01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3" grpId="0"/>
      <p:bldP spid="48" grpId="0"/>
      <p:bldP spid="50" grpId="0"/>
      <p:bldP spid="51" grpId="0"/>
      <p:bldP spid="5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1000" y="742950"/>
            <a:ext cx="8305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number of straight lines that can be drawn out of 12 points of which 8 are collinear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37		B. 38		C. 39		D. 40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90495" y="1569330"/>
            <a:ext cx="57824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Number of lines that can be made will be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521798" y="1569330"/>
            <a:ext cx="760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30000" dirty="0" smtClean="0"/>
              <a:t>12</a:t>
            </a: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 </a:t>
            </a:r>
            <a:r>
              <a:rPr lang="en-US" dirty="0"/>
              <a:t>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0705" y="1962150"/>
            <a:ext cx="11762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12× 11</a:t>
            </a:r>
            <a:endParaRPr lang="en-US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5300705" y="2331483"/>
            <a:ext cx="1176295" cy="1166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300705" y="2343150"/>
            <a:ext cx="1626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1×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37796" y="2162914"/>
            <a:ext cx="3828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4933650" y="2712482"/>
            <a:ext cx="14252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=66-28+1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178107" y="1518305"/>
            <a:ext cx="662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30000" dirty="0"/>
              <a:t>8</a:t>
            </a: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 </a:t>
            </a:r>
            <a:r>
              <a:rPr lang="en-US" dirty="0"/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6071" y="1569330"/>
            <a:ext cx="3828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317" y="1999655"/>
            <a:ext cx="11762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8</a:t>
            </a:r>
            <a:r>
              <a:rPr lang="en-US" dirty="0" smtClean="0"/>
              <a:t>× 7</a:t>
            </a:r>
            <a:endParaRPr lang="en-US" dirty="0"/>
          </a:p>
        </p:txBody>
      </p:sp>
      <p:cxnSp>
        <p:nvCxnSpPr>
          <p:cNvPr id="16" name="Straight Connector 15"/>
          <p:cNvCxnSpPr>
            <a:endCxn id="17" idx="0"/>
          </p:cNvCxnSpPr>
          <p:nvPr/>
        </p:nvCxnSpPr>
        <p:spPr>
          <a:xfrm>
            <a:off x="6858000" y="2343151"/>
            <a:ext cx="813286" cy="1166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58000" y="2354818"/>
            <a:ext cx="1626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1×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4470" y="2146817"/>
            <a:ext cx="3828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7376" y="3040832"/>
            <a:ext cx="11762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=39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596096" y="1569330"/>
            <a:ext cx="478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 smtClean="0"/>
              <a:t>+1</a:t>
            </a:r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7671286" y="2162914"/>
            <a:ext cx="478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 smtClean="0"/>
              <a:t>+1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560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3" grpId="0"/>
      <p:bldP spid="48" grpId="0"/>
      <p:bldP spid="50" grpId="0"/>
      <p:bldP spid="51" grpId="0"/>
      <p:bldP spid="5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604005"/>
            <a:ext cx="8458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Nine chairs are numbered 1 to 9. Three women and four men wish to occupy one chair each. First the women chose the chairs from amongst the chair marked 1 to 5; and then the men select the chairs from amongst the remaining. The number of possible arrangements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is.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</a:t>
            </a:r>
            <a:r>
              <a:rPr lang="en-US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× </a:t>
            </a:r>
            <a:r>
              <a:rPr lang="en-US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B. </a:t>
            </a:r>
            <a:r>
              <a:rPr lang="en-US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× </a:t>
            </a:r>
            <a:r>
              <a:rPr lang="en-US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	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C.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× </a:t>
            </a:r>
            <a:r>
              <a:rPr lang="en-US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	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D.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None of these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50018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Women can select 3 chairs from chairs numbered 1 to 5 in 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43150"/>
            <a:ext cx="731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emaining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6 chairs can be selected by 4 men in 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ways. </a:t>
            </a:r>
          </a:p>
        </p:txBody>
      </p:sp>
      <p:sp>
        <p:nvSpPr>
          <p:cNvPr id="7" name="Rectangle 6"/>
          <p:cNvSpPr/>
          <p:nvPr/>
        </p:nvSpPr>
        <p:spPr>
          <a:xfrm>
            <a:off x="577702" y="2712482"/>
            <a:ext cx="64628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Hence the required number of ways = 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× 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04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0494" y="742950"/>
            <a:ext cx="81201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polygon has 44 diagonals. What is the number of its sides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A.5		B. 7		C. 9		D. 11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5302" y="1504950"/>
            <a:ext cx="49542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Let the number of sides of the polygon be n.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568" y="1905060"/>
            <a:ext cx="41116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number of diagonals is given by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8200" y="1905060"/>
            <a:ext cx="13965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- n = 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190750"/>
            <a:ext cx="1091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×(n−1)​﻿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4648200" y="2535498"/>
            <a:ext cx="10123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749314" y="2535497"/>
            <a:ext cx="8132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1×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0986" y="2952750"/>
            <a:ext cx="17171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2 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- 3n - 88 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1999" y="3257550"/>
            <a:ext cx="20426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(n - 11)(n + 8) = 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71801" y="3638550"/>
            <a:ext cx="5867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the number of sides cannot be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negative,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= 11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89878" y="2350831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imes New Roman" pitchFamily="18" charset="0"/>
                <a:cs typeface="Times New Roman" pitchFamily="18" charset="0"/>
              </a:rPr>
              <a:t>- n = 44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33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4" grpId="0"/>
      <p:bldP spid="19" grpId="0"/>
      <p:bldP spid="20" grpId="0"/>
      <p:bldP spid="21" grpId="0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495" y="142340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PRACTICE QUESTION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0494" y="742950"/>
            <a:ext cx="789150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number of circles that can be drawn out of 10 points of which 7 are collinear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A.85		B.130		C. 45		D.72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0494" y="1690405"/>
            <a:ext cx="63675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drawing a circle we need 3 non collinear points.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009703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can be done in: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571" y="2339365"/>
            <a:ext cx="7710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3 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3000" y="2315718"/>
            <a:ext cx="13548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 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 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61435" y="2320115"/>
            <a:ext cx="13115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 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 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1506" y="2690292"/>
            <a:ext cx="15792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1 + 21 + 63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8720" y="3059624"/>
            <a:ext cx="649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85</a:t>
            </a:r>
          </a:p>
        </p:txBody>
      </p:sp>
    </p:spTree>
    <p:extLst>
      <p:ext uri="{BB962C8B-B14F-4D97-AF65-F5344CB8AC3E}">
        <p14:creationId xmlns:p14="http://schemas.microsoft.com/office/powerpoint/2010/main" val="275829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6" grpId="0"/>
      <p:bldP spid="17" grpId="0"/>
      <p:bldP spid="18" grpId="0"/>
      <p:bldP spid="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1873" y="1276350"/>
            <a:ext cx="680026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8800" b="1" cap="all" spc="0" dirty="0" smtClean="0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</a:rPr>
              <a:t>THANK YOU</a:t>
            </a:r>
            <a:endParaRPr lang="en-US" sz="8800" b="1" cap="all" spc="0" dirty="0">
              <a:ln w="0"/>
              <a:solidFill>
                <a:srgbClr val="00206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064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4605</TotalTime>
  <Words>3568</Words>
  <Application>Microsoft Office PowerPoint</Application>
  <PresentationFormat>On-screen Show (16:9)</PresentationFormat>
  <Paragraphs>929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Lokesh</dc:creator>
  <cp:lastModifiedBy>naveen</cp:lastModifiedBy>
  <cp:revision>775</cp:revision>
  <dcterms:created xsi:type="dcterms:W3CDTF">2006-08-16T00:00:00Z</dcterms:created>
  <dcterms:modified xsi:type="dcterms:W3CDTF">2025-07-15T00:57:22Z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0A18FFB72AF74BFE9AEE2AD93839B004</vt:lpwstr>
  </property>
  <property fmtid="{D5CDD505-2E9C-101B-9397-08002B2CF9AE}" pid="3" name="KSOProductBuildVer">
    <vt:lpwstr>1033-11.2.0.11537</vt:lpwstr>
  </property>
</Properties>
</file>