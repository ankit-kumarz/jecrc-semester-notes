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2" r:id="rId2"/>
  </p:sldMasterIdLst>
  <p:notesMasterIdLst>
    <p:notesMasterId r:id="rId68"/>
  </p:notesMasterIdLst>
  <p:sldIdLst>
    <p:sldId id="267" r:id="rId3"/>
    <p:sldId id="516" r:id="rId4"/>
    <p:sldId id="517" r:id="rId5"/>
    <p:sldId id="518" r:id="rId6"/>
    <p:sldId id="519" r:id="rId7"/>
    <p:sldId id="520" r:id="rId8"/>
    <p:sldId id="521" r:id="rId9"/>
    <p:sldId id="522" r:id="rId10"/>
    <p:sldId id="523" r:id="rId11"/>
    <p:sldId id="524" r:id="rId12"/>
    <p:sldId id="525" r:id="rId13"/>
    <p:sldId id="528" r:id="rId14"/>
    <p:sldId id="535" r:id="rId15"/>
    <p:sldId id="534" r:id="rId16"/>
    <p:sldId id="508" r:id="rId17"/>
    <p:sldId id="543" r:id="rId18"/>
    <p:sldId id="556" r:id="rId19"/>
    <p:sldId id="557" r:id="rId20"/>
    <p:sldId id="558" r:id="rId21"/>
    <p:sldId id="559" r:id="rId22"/>
    <p:sldId id="560" r:id="rId23"/>
    <p:sldId id="561" r:id="rId24"/>
    <p:sldId id="562" r:id="rId25"/>
    <p:sldId id="563" r:id="rId26"/>
    <p:sldId id="564" r:id="rId27"/>
    <p:sldId id="565" r:id="rId28"/>
    <p:sldId id="566" r:id="rId29"/>
    <p:sldId id="567" r:id="rId30"/>
    <p:sldId id="568" r:id="rId31"/>
    <p:sldId id="569" r:id="rId32"/>
    <p:sldId id="570" r:id="rId33"/>
    <p:sldId id="571" r:id="rId34"/>
    <p:sldId id="572" r:id="rId35"/>
    <p:sldId id="573" r:id="rId36"/>
    <p:sldId id="574" r:id="rId37"/>
    <p:sldId id="575" r:id="rId38"/>
    <p:sldId id="576" r:id="rId39"/>
    <p:sldId id="544" r:id="rId40"/>
    <p:sldId id="545" r:id="rId41"/>
    <p:sldId id="509" r:id="rId42"/>
    <p:sldId id="511" r:id="rId43"/>
    <p:sldId id="513" r:id="rId44"/>
    <p:sldId id="536" r:id="rId45"/>
    <p:sldId id="537" r:id="rId46"/>
    <p:sldId id="538" r:id="rId47"/>
    <p:sldId id="539" r:id="rId48"/>
    <p:sldId id="540" r:id="rId49"/>
    <p:sldId id="541" r:id="rId50"/>
    <p:sldId id="542" r:id="rId51"/>
    <p:sldId id="577" r:id="rId52"/>
    <p:sldId id="578" r:id="rId53"/>
    <p:sldId id="579" r:id="rId54"/>
    <p:sldId id="580" r:id="rId55"/>
    <p:sldId id="581" r:id="rId56"/>
    <p:sldId id="582" r:id="rId57"/>
    <p:sldId id="583" r:id="rId58"/>
    <p:sldId id="584" r:id="rId59"/>
    <p:sldId id="585" r:id="rId60"/>
    <p:sldId id="586" r:id="rId61"/>
    <p:sldId id="587" r:id="rId62"/>
    <p:sldId id="588" r:id="rId63"/>
    <p:sldId id="589" r:id="rId64"/>
    <p:sldId id="590" r:id="rId65"/>
    <p:sldId id="591" r:id="rId66"/>
    <p:sldId id="304"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816" y="-9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4D7663-6794-40E7-83DF-6FA4F790FF98}" type="datetimeFigureOut">
              <a:rPr lang="en-US" smtClean="0"/>
              <a:pPr/>
              <a:t>7/15/2025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F218E-6EB0-4981-ADB4-05E399C2A764}" type="slidenum">
              <a:rPr lang="en-US" smtClean="0"/>
              <a:pPr/>
              <a:t>‹#›</a:t>
            </a:fld>
            <a:endParaRPr lang="en-US"/>
          </a:p>
        </p:txBody>
      </p:sp>
    </p:spTree>
    <p:extLst>
      <p:ext uri="{BB962C8B-B14F-4D97-AF65-F5344CB8AC3E}">
        <p14:creationId xmlns:p14="http://schemas.microsoft.com/office/powerpoint/2010/main" val="57347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DA6647-7CE1-40E8-B790-00A458F1253F}" type="slidenum">
              <a:rPr 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1316269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DA6647-7CE1-40E8-B790-00A458F1253F}"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966638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DA6647-7CE1-40E8-B790-00A458F1253F}"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319209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t>
            </a:r>
            <a:endParaRPr lang="en-US" dirty="0"/>
          </a:p>
        </p:txBody>
      </p:sp>
      <p:sp>
        <p:nvSpPr>
          <p:cNvPr id="4" name="Slide Number Placeholder 3"/>
          <p:cNvSpPr>
            <a:spLocks noGrp="1"/>
          </p:cNvSpPr>
          <p:nvPr>
            <p:ph type="sldNum" sz="quarter" idx="10"/>
          </p:nvPr>
        </p:nvSpPr>
        <p:spPr/>
        <p:txBody>
          <a:bodyPr/>
          <a:lstStyle/>
          <a:p>
            <a:fld id="{B0DA6647-7CE1-40E8-B790-00A458F1253F}"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4102910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3714750"/>
            <a:ext cx="9147765" cy="1434066"/>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7/15/2025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4805958"/>
            <a:ext cx="1920240" cy="274320"/>
          </a:xfrm>
        </p:spPr>
        <p:txBody>
          <a:bodyPr/>
          <a:lstStyle>
            <a:extLst/>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7/15/2025</a:t>
            </a:fld>
            <a:endParaRPr lang="en-US"/>
          </a:p>
        </p:txBody>
      </p:sp>
      <p:sp>
        <p:nvSpPr>
          <p:cNvPr id="6" name="Footer Placeholder 5"/>
          <p:cNvSpPr>
            <a:spLocks noGrp="1"/>
          </p:cNvSpPr>
          <p:nvPr>
            <p:ph type="ftr" sz="quarter" idx="11"/>
          </p:nvPr>
        </p:nvSpPr>
        <p:spPr>
          <a:xfrm>
            <a:off x="4380073" y="4805958"/>
            <a:ext cx="2350681" cy="273844"/>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10997"/>
            <a:ext cx="8229600" cy="3289553"/>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1"/>
            <a:ext cx="6324600" cy="419457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99585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88843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605338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26648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179426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59642831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9" name="Slide Number Placeholder 8"/>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623472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7393316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17895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493236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835724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819605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905D588A-3F0F-4162-9105-DC47008608AE}" type="datetimeFigureOut">
              <a:rPr lang="en-US" smtClean="0">
                <a:solidFill>
                  <a:prstClr val="black"/>
                </a:solidFill>
              </a:rPr>
              <a:pPr/>
              <a:t>7/15/2025</a:t>
            </a:fld>
            <a:endParaRPr lang="en-US">
              <a:solidFill>
                <a:prstClr val="black"/>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CFD73017-607B-47F0-A9BA-889FEF78BE5D}"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7968023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348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98429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535411"/>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7686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983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5271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8" name="Date Placeholder 7"/>
          <p:cNvSpPr>
            <a:spLocks noGrp="1"/>
          </p:cNvSpPr>
          <p:nvPr>
            <p:ph type="dt" sz="half" idx="10"/>
          </p:nvPr>
        </p:nvSpPr>
        <p:spPr>
          <a:xfrm>
            <a:off x="5562600" y="4881753"/>
            <a:ext cx="3002280" cy="205740"/>
          </a:xfrm>
          <a:prstGeom prst="rect">
            <a:avLst/>
          </a:prstGeom>
        </p:spPr>
        <p:txBody>
          <a:bodyPr vert="horz" rtlCol="0"/>
          <a:lstStyle>
            <a:extLst/>
          </a:lstStyle>
          <a:p>
            <a:fld id="{9D7A37A6-62F7-482E-936C-AA9C9B0EA86A}" type="datetimeFigureOut">
              <a:rPr lang="en-US" smtClean="0">
                <a:solidFill>
                  <a:prstClr val="white"/>
                </a:solidFill>
              </a:rPr>
              <a:pPr/>
              <a:t>7/15/2025</a:t>
            </a:fld>
            <a:endParaRPr lang="en-US">
              <a:solidFill>
                <a:prstClr val="white"/>
              </a:solidFill>
            </a:endParaRPr>
          </a:p>
        </p:txBody>
      </p:sp>
      <p:sp>
        <p:nvSpPr>
          <p:cNvPr id="9" name="Slide Number Placeholder 8"/>
          <p:cNvSpPr>
            <a:spLocks noGrp="1"/>
          </p:cNvSpPr>
          <p:nvPr>
            <p:ph type="sldNum" sz="quarter" idx="11"/>
          </p:nvPr>
        </p:nvSpPr>
        <p:spPr>
          <a:xfrm>
            <a:off x="8638952" y="4881753"/>
            <a:ext cx="464288" cy="205740"/>
          </a:xfrm>
          <a:prstGeom prst="rect">
            <a:avLst/>
          </a:prstGeom>
        </p:spPr>
        <p:txBody>
          <a:bodyPr vert="horz" rtlCol="0"/>
          <a:lstStyle>
            <a:lvl1pPr>
              <a:defRPr>
                <a:solidFill>
                  <a:schemeClr val="tx2">
                    <a:shade val="90000"/>
                  </a:schemeClr>
                </a:solidFill>
              </a:defRPr>
            </a:lvl1pPr>
            <a:extLst/>
          </a:lstStyle>
          <a:p>
            <a:fld id="{4187F777-4F1F-48D7-A45F-BBA6BCE64393}" type="slidenum">
              <a:rPr lang="en-US" smtClean="0">
                <a:solidFill>
                  <a:srgbClr val="EAEBDE">
                    <a:shade val="90000"/>
                  </a:srgbClr>
                </a:solidFill>
              </a:rPr>
              <a:pPr/>
              <a:t>‹#›</a:t>
            </a:fld>
            <a:endParaRPr lang="en-US">
              <a:solidFill>
                <a:srgbClr val="EAEBDE">
                  <a:shade val="90000"/>
                </a:srgbClr>
              </a:solidFill>
            </a:endParaRPr>
          </a:p>
        </p:txBody>
      </p:sp>
      <p:sp>
        <p:nvSpPr>
          <p:cNvPr id="10" name="Footer Placeholder 9"/>
          <p:cNvSpPr>
            <a:spLocks noGrp="1"/>
          </p:cNvSpPr>
          <p:nvPr>
            <p:ph type="ftr" sz="quarter" idx="12"/>
          </p:nvPr>
        </p:nvSpPr>
        <p:spPr>
          <a:xfrm>
            <a:off x="1600200" y="4881753"/>
            <a:ext cx="3907464" cy="205740"/>
          </a:xfrm>
          <a:prstGeom prst="rect">
            <a:avLst/>
          </a:prstGeom>
        </p:spPr>
        <p:txBody>
          <a:bodyPr vert="horz" rtlCol="0"/>
          <a:lstStyle>
            <a:extLst/>
          </a:lstStyle>
          <a:p>
            <a:endParaRPr lang="en-US">
              <a:solidFill>
                <a:prstClr val="white"/>
              </a:solidFill>
            </a:endParaRPr>
          </a:p>
        </p:txBody>
      </p:sp>
    </p:spTree>
    <p:extLst>
      <p:ext uri="{BB962C8B-B14F-4D97-AF65-F5344CB8AC3E}">
        <p14:creationId xmlns:p14="http://schemas.microsoft.com/office/powerpoint/2010/main" val="53076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p>
            <a:pPr lvl="0"/>
            <a:endParaRPr lang="en-US" dirty="0"/>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AE174FD0-1C92-4D35-985B-E4C83D6A35C1}" type="datetimeFigureOut">
              <a:rPr lang="en-US" smtClean="0">
                <a:solidFill>
                  <a:prstClr val="black"/>
                </a:solidFill>
              </a:rPr>
              <a:pPr/>
              <a:t>7/15/2025</a:t>
            </a:fld>
            <a:endParaRPr lang="en-US">
              <a:solidFill>
                <a:prstClr val="black"/>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solidFill>
                <a:prstClr val="black"/>
              </a:solidFill>
            </a:endParaRPr>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989731BF-078E-4AD3-B3ED-C32D2D769311}"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11123638"/>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51170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theme" Target="../theme/theme2.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4343440"/>
            <a:ext cx="3402314" cy="810651"/>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7/15/2025</a:t>
            </a:fld>
            <a:endParaRPr lang="en-US"/>
          </a:p>
        </p:txBody>
      </p:sp>
      <p:sp>
        <p:nvSpPr>
          <p:cNvPr id="22" name="Footer Placeholder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94" r:id="rId12"/>
    <p:sldLayoutId id="2147483695" r:id="rId13"/>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4518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3" r:id="rId20"/>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2.xml"/><Relationship Id="rId5" Type="http://schemas.openxmlformats.org/officeDocument/2006/relationships/image" Target="../media/image3.jpe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3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4.gif"/><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0.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12.jpeg"/><Relationship Id="rId5" Type="http://schemas.openxmlformats.org/officeDocument/2006/relationships/image" Target="../media/image4.gif"/><Relationship Id="rId10" Type="http://schemas.openxmlformats.org/officeDocument/2006/relationships/image" Target="../media/image16.jpeg"/><Relationship Id="rId4" Type="http://schemas.openxmlformats.org/officeDocument/2006/relationships/image" Target="../media/image11.jpeg"/><Relationship Id="rId9"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0.xml"/><Relationship Id="rId5" Type="http://schemas.openxmlformats.org/officeDocument/2006/relationships/image" Target="../media/image20.gif"/><Relationship Id="rId4" Type="http://schemas.openxmlformats.org/officeDocument/2006/relationships/image" Target="../media/image1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g"/><Relationship Id="rId7"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1" Type="http://schemas.openxmlformats.org/officeDocument/2006/relationships/slideLayout" Target="../slideLayouts/slideLayout3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7.png"/><Relationship Id="rId3" Type="http://schemas.openxmlformats.org/officeDocument/2006/relationships/image" Target="../media/image380.png"/><Relationship Id="rId7" Type="http://schemas.openxmlformats.org/officeDocument/2006/relationships/image" Target="../media/image410.png"/><Relationship Id="rId12" Type="http://schemas.openxmlformats.org/officeDocument/2006/relationships/image" Target="../media/image46.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00.png"/><Relationship Id="rId11" Type="http://schemas.openxmlformats.org/officeDocument/2006/relationships/image" Target="../media/image45.png"/><Relationship Id="rId10" Type="http://schemas.openxmlformats.org/officeDocument/2006/relationships/image" Target="../media/image44.png"/><Relationship Id="rId4" Type="http://schemas.openxmlformats.org/officeDocument/2006/relationships/image" Target="../media/image390.png"/><Relationship Id="rId9"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7"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8" Type="http://schemas.openxmlformats.org/officeDocument/2006/relationships/image" Target="../media/image59.png"/><Relationship Id="rId7"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4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49.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7.png"/><Relationship Id="rId3" Type="http://schemas.openxmlformats.org/officeDocument/2006/relationships/image" Target="../media/image380.png"/><Relationship Id="rId7" Type="http://schemas.openxmlformats.org/officeDocument/2006/relationships/image" Target="../media/image410.png"/><Relationship Id="rId12" Type="http://schemas.openxmlformats.org/officeDocument/2006/relationships/image" Target="../media/image46.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00.png"/><Relationship Id="rId11" Type="http://schemas.openxmlformats.org/officeDocument/2006/relationships/image" Target="../media/image45.png"/><Relationship Id="rId10" Type="http://schemas.openxmlformats.org/officeDocument/2006/relationships/image" Target="../media/image44.png"/><Relationship Id="rId4" Type="http://schemas.openxmlformats.org/officeDocument/2006/relationships/image" Target="../media/image390.png"/><Relationship Id="rId9"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9802" y="1428751"/>
            <a:ext cx="4136069" cy="769441"/>
          </a:xfrm>
          <a:prstGeom prst="rect">
            <a:avLst/>
          </a:prstGeom>
        </p:spPr>
        <p:txBody>
          <a:bodyPr wrap="none">
            <a:spAutoFit/>
          </a:bodyPr>
          <a:lstStyle/>
          <a:p>
            <a:pPr lvl="0" algn="ctr" fontAlgn="base">
              <a:spcBef>
                <a:spcPct val="0"/>
              </a:spcBef>
              <a:spcAft>
                <a:spcPct val="0"/>
              </a:spcAft>
            </a:pPr>
            <a:r>
              <a:rPr lang="en-US" sz="4400" b="1" dirty="0" smtClean="0">
                <a:latin typeface="Times New Roman" pitchFamily="18" charset="0"/>
                <a:cs typeface="Times New Roman" pitchFamily="18" charset="0"/>
              </a:rPr>
              <a:t>PROBABILITY</a:t>
            </a:r>
          </a:p>
        </p:txBody>
      </p:sp>
      <p:sp>
        <p:nvSpPr>
          <p:cNvPr id="3" name="Rectangle 2"/>
          <p:cNvSpPr/>
          <p:nvPr/>
        </p:nvSpPr>
        <p:spPr>
          <a:xfrm>
            <a:off x="5568818" y="3409951"/>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67544" y="565052"/>
            <a:ext cx="7702236" cy="574978"/>
            <a:chOff x="467544" y="565052"/>
            <a:chExt cx="7702236" cy="574978"/>
          </a:xfrm>
        </p:grpSpPr>
        <p:sp>
          <p:nvSpPr>
            <p:cNvPr id="65" name="TextBox 64"/>
            <p:cNvSpPr txBox="1"/>
            <p:nvPr/>
          </p:nvSpPr>
          <p:spPr>
            <a:xfrm>
              <a:off x="501140" y="565052"/>
              <a:ext cx="7668640" cy="574978"/>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stStyle>
            <a:p>
              <a:pPr algn="l"/>
              <a:endParaRPr lang="en-IN" sz="1600" dirty="0">
                <a:latin typeface="Bookman Old Style" pitchFamily="18" charset="0"/>
              </a:endParaRPr>
            </a:p>
          </p:txBody>
        </p:sp>
        <p:sp>
          <p:nvSpPr>
            <p:cNvPr id="3" name="TextBox 2"/>
            <p:cNvSpPr txBox="1"/>
            <p:nvPr/>
          </p:nvSpPr>
          <p:spPr>
            <a:xfrm>
              <a:off x="467544" y="589404"/>
              <a:ext cx="2520242" cy="382211"/>
            </a:xfrm>
            <a:prstGeom prst="rect">
              <a:avLst/>
            </a:prstGeom>
            <a:noFill/>
          </p:spPr>
          <p:txBody>
            <a:bodyPr wrap="none" rtlCol="0">
              <a:spAutoFit/>
            </a:bodyPr>
            <a:lstStyle/>
            <a:p>
              <a:r>
                <a:rPr lang="en-US" sz="1600" b="1" dirty="0">
                  <a:solidFill>
                    <a:prstClr val="black"/>
                  </a:solidFill>
                  <a:latin typeface="Bookman Old Style" pitchFamily="18" charset="0"/>
                </a:rPr>
                <a:t>Random Experiment </a:t>
              </a:r>
              <a:r>
                <a:rPr lang="en-US" sz="1600" dirty="0">
                  <a:solidFill>
                    <a:prstClr val="black"/>
                  </a:solidFill>
                  <a:latin typeface="Bookman Old Style" pitchFamily="18" charset="0"/>
                </a:rPr>
                <a:t>:</a:t>
              </a:r>
              <a:endParaRPr lang="en-IN" sz="1600" dirty="0">
                <a:solidFill>
                  <a:prstClr val="black"/>
                </a:solidFill>
                <a:latin typeface="Bookman Old Style" pitchFamily="18" charset="0"/>
              </a:endParaRPr>
            </a:p>
            <a:p>
              <a:endParaRPr lang="en-US" dirty="0">
                <a:solidFill>
                  <a:prstClr val="black"/>
                </a:solidFill>
              </a:endParaRPr>
            </a:p>
          </p:txBody>
        </p:sp>
      </p:grpSp>
      <p:sp>
        <p:nvSpPr>
          <p:cNvPr id="52" name="TextBox 51"/>
          <p:cNvSpPr txBox="1"/>
          <p:nvPr/>
        </p:nvSpPr>
        <p:spPr>
          <a:xfrm>
            <a:off x="521352" y="3267724"/>
            <a:ext cx="925689" cy="338554"/>
          </a:xfrm>
          <a:prstGeom prst="rect">
            <a:avLst/>
          </a:prstGeom>
          <a:noFill/>
        </p:spPr>
        <p:txBody>
          <a:bodyPr wrap="square" rtlCol="0">
            <a:spAutoFit/>
          </a:bodyPr>
          <a:lstStyle/>
          <a:p>
            <a:pPr>
              <a:defRPr/>
            </a:pPr>
            <a:r>
              <a:rPr lang="en-US" sz="1600" b="1" kern="0" dirty="0" smtClean="0">
                <a:solidFill>
                  <a:sysClr val="windowText" lastClr="000000"/>
                </a:solidFill>
                <a:latin typeface="Bookman Old Style" pitchFamily="18" charset="0"/>
              </a:rPr>
              <a:t>Hence,</a:t>
            </a:r>
            <a:endParaRPr lang="en-IN" sz="1600" b="1" kern="0" dirty="0">
              <a:solidFill>
                <a:sysClr val="windowText" lastClr="000000"/>
              </a:solidFill>
              <a:latin typeface="Bookman Old Style" pitchFamily="18" charset="0"/>
            </a:endParaRPr>
          </a:p>
        </p:txBody>
      </p:sp>
      <p:sp>
        <p:nvSpPr>
          <p:cNvPr id="50" name="Round Single Corner Rectangle 49"/>
          <p:cNvSpPr/>
          <p:nvPr/>
        </p:nvSpPr>
        <p:spPr>
          <a:xfrm>
            <a:off x="523676" y="3602735"/>
            <a:ext cx="1674353" cy="320492"/>
          </a:xfrm>
          <a:prstGeom prst="round1Rect">
            <a:avLst/>
          </a:prstGeom>
          <a:solidFill>
            <a:srgbClr val="66FFFF"/>
          </a:solidFill>
          <a:ln w="38100">
            <a:solidFill>
              <a:schemeClr val="tx1"/>
            </a:solidFill>
          </a:ln>
          <a:effectLst>
            <a:softEdge rad="12700"/>
          </a:effectLst>
          <a:scene3d>
            <a:camera prst="orthographicFront">
              <a:rot lat="0" lon="0" rev="0"/>
            </a:camera>
            <a:lightRig rig="threePt" dir="t">
              <a:rot lat="0" lon="0" rev="1200000"/>
            </a:lightRig>
          </a:scene3d>
          <a:sp3d/>
        </p:spPr>
        <p:txBody>
          <a:bodyPr rtlCol="0" anchor="ctr"/>
          <a:lstStyle/>
          <a:p>
            <a:pPr algn="ctr"/>
            <a:endParaRPr lang="en-US" kern="0">
              <a:solidFill>
                <a:sysClr val="window" lastClr="FFFFFF"/>
              </a:solidFill>
            </a:endParaRPr>
          </a:p>
        </p:txBody>
      </p:sp>
      <p:sp>
        <p:nvSpPr>
          <p:cNvPr id="36" name="TextBox 35"/>
          <p:cNvSpPr txBox="1"/>
          <p:nvPr/>
        </p:nvSpPr>
        <p:spPr>
          <a:xfrm>
            <a:off x="3161886" y="1498196"/>
            <a:ext cx="1986178" cy="338554"/>
          </a:xfrm>
          <a:prstGeom prst="rect">
            <a:avLst/>
          </a:prstGeom>
          <a:noFill/>
        </p:spPr>
        <p:txBody>
          <a:bodyPr wrap="square" rtlCol="0">
            <a:spAutoFit/>
          </a:bodyPr>
          <a:lstStyle/>
          <a:p>
            <a:pPr>
              <a:defRPr/>
            </a:pPr>
            <a:r>
              <a:rPr lang="en-US" sz="1600" b="1" kern="0" dirty="0" smtClean="0">
                <a:solidFill>
                  <a:srgbClr val="C00000"/>
                </a:solidFill>
                <a:latin typeface="Bookman Old Style" pitchFamily="18" charset="0"/>
              </a:rPr>
              <a:t> Possible Results</a:t>
            </a:r>
            <a:endParaRPr lang="en-IN" sz="1600" b="1" kern="0" dirty="0">
              <a:solidFill>
                <a:srgbClr val="C00000"/>
              </a:solidFill>
              <a:latin typeface="Bookman Old Style" pitchFamily="18" charset="0"/>
            </a:endParaRPr>
          </a:p>
        </p:txBody>
      </p:sp>
      <p:sp>
        <p:nvSpPr>
          <p:cNvPr id="2" name="Round Single Corner Rectangle 1"/>
          <p:cNvSpPr/>
          <p:nvPr/>
        </p:nvSpPr>
        <p:spPr>
          <a:xfrm>
            <a:off x="945909" y="1497784"/>
            <a:ext cx="1368084" cy="320492"/>
          </a:xfrm>
          <a:prstGeom prst="round1Rect">
            <a:avLst/>
          </a:prstGeom>
          <a:solidFill>
            <a:srgbClr val="66FFFF"/>
          </a:solidFill>
          <a:ln w="38100">
            <a:solidFill>
              <a:schemeClr val="tx1"/>
            </a:solidFill>
          </a:ln>
          <a:effectLst>
            <a:softEdge rad="12700"/>
          </a:effectLst>
          <a:scene3d>
            <a:camera prst="orthographicFront">
              <a:rot lat="0" lon="0" rev="0"/>
            </a:camera>
            <a:lightRig rig="threePt" dir="t">
              <a:rot lat="0" lon="0" rev="1200000"/>
            </a:lightRig>
          </a:scene3d>
          <a:sp3d/>
        </p:spPr>
        <p:txBody>
          <a:bodyPr rtlCol="0" anchor="ctr"/>
          <a:lstStyle/>
          <a:p>
            <a:pPr algn="ctr"/>
            <a:endParaRPr lang="en-US" kern="0">
              <a:solidFill>
                <a:sysClr val="window" lastClr="FFFFFF"/>
              </a:solidFill>
            </a:endParaRPr>
          </a:p>
        </p:txBody>
      </p:sp>
      <p:sp>
        <p:nvSpPr>
          <p:cNvPr id="30" name="TextBox 29"/>
          <p:cNvSpPr txBox="1"/>
          <p:nvPr/>
        </p:nvSpPr>
        <p:spPr>
          <a:xfrm>
            <a:off x="519481" y="1140029"/>
            <a:ext cx="2918719" cy="338554"/>
          </a:xfrm>
          <a:prstGeom prst="rect">
            <a:avLst/>
          </a:prstGeom>
          <a:noFill/>
        </p:spPr>
        <p:txBody>
          <a:bodyPr wrap="square" rtlCol="0">
            <a:spAutoFit/>
          </a:bodyPr>
          <a:lstStyle/>
          <a:p>
            <a:pPr>
              <a:defRPr/>
            </a:pPr>
            <a:r>
              <a:rPr lang="en-US" sz="1600" b="1" kern="0" dirty="0" smtClean="0">
                <a:solidFill>
                  <a:srgbClr val="C00000"/>
                </a:solidFill>
                <a:latin typeface="Bookman Old Style" pitchFamily="18" charset="0"/>
              </a:rPr>
              <a:t>For </a:t>
            </a:r>
            <a:r>
              <a:rPr lang="en-US" sz="1600" b="1" kern="0" dirty="0" err="1" smtClean="0">
                <a:solidFill>
                  <a:srgbClr val="C00000"/>
                </a:solidFill>
                <a:latin typeface="Bookman Old Style" pitchFamily="18" charset="0"/>
              </a:rPr>
              <a:t>eg</a:t>
            </a:r>
            <a:r>
              <a:rPr lang="en-US" sz="1600" b="1" kern="0" dirty="0" smtClean="0">
                <a:solidFill>
                  <a:srgbClr val="C00000"/>
                </a:solidFill>
                <a:latin typeface="Bookman Old Style" pitchFamily="18" charset="0"/>
              </a:rPr>
              <a:t> : 	 </a:t>
            </a:r>
            <a:r>
              <a:rPr lang="en-US" sz="1600" b="1" kern="0" dirty="0" smtClean="0">
                <a:solidFill>
                  <a:prstClr val="black"/>
                </a:solidFill>
                <a:latin typeface="Bookman Old Style" pitchFamily="18" charset="0"/>
              </a:rPr>
              <a:t>Rolling of a Die</a:t>
            </a:r>
            <a:endParaRPr lang="en-IN" sz="1600" b="1" kern="0" dirty="0">
              <a:solidFill>
                <a:prstClr val="black"/>
              </a:solidFill>
              <a:latin typeface="Bookman Old Style" pitchFamily="18" charset="0"/>
            </a:endParaRPr>
          </a:p>
        </p:txBody>
      </p:sp>
      <p:sp>
        <p:nvSpPr>
          <p:cNvPr id="28" name="TextBox 27"/>
          <p:cNvSpPr txBox="1"/>
          <p:nvPr/>
        </p:nvSpPr>
        <p:spPr>
          <a:xfrm>
            <a:off x="519481" y="1863718"/>
            <a:ext cx="4034282" cy="369332"/>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stStyle>
          <a:p>
            <a:r>
              <a:rPr lang="en-US" sz="1600" b="1" dirty="0">
                <a:latin typeface="Bookman Old Style" pitchFamily="18" charset="0"/>
              </a:rPr>
              <a:t>The result of a random experiment.</a:t>
            </a:r>
            <a:endParaRPr lang="en-IN" sz="1600" b="1" dirty="0">
              <a:latin typeface="Bookman Old Style" pitchFamily="18" charset="0"/>
            </a:endParaRPr>
          </a:p>
        </p:txBody>
      </p:sp>
      <p:cxnSp>
        <p:nvCxnSpPr>
          <p:cNvPr id="35" name="Straight Arrow Connector 34"/>
          <p:cNvCxnSpPr/>
          <p:nvPr/>
        </p:nvCxnSpPr>
        <p:spPr>
          <a:xfrm>
            <a:off x="2397643" y="1665486"/>
            <a:ext cx="787155" cy="1588"/>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39" name="TextBox 38"/>
          <p:cNvSpPr txBox="1"/>
          <p:nvPr/>
        </p:nvSpPr>
        <p:spPr>
          <a:xfrm>
            <a:off x="5147792" y="1830976"/>
            <a:ext cx="1280160" cy="404039"/>
          </a:xfrm>
          <a:prstGeom prst="snip2DiagRect">
            <a:avLst/>
          </a:prstGeom>
          <a:solidFill>
            <a:srgbClr val="00206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600" b="1" i="0" u="none" strike="noStrike" kern="0" cap="none" spc="0" normalizeH="0" baseline="0">
                <a:ln>
                  <a:noFill/>
                </a:ln>
                <a:solidFill>
                  <a:schemeClr val="bg1"/>
                </a:solidFill>
                <a:effectLst/>
                <a:uLnTx/>
                <a:uFillTx/>
                <a:latin typeface="Bookman Old Style" pitchFamily="18" charset="0"/>
              </a:defRPr>
            </a:lvl1pPr>
          </a:lstStyle>
          <a:p>
            <a:r>
              <a:rPr lang="en-US" dirty="0">
                <a:solidFill>
                  <a:prstClr val="white"/>
                </a:solidFill>
              </a:rPr>
              <a:t> Outcome</a:t>
            </a:r>
            <a:endParaRPr lang="en-IN" dirty="0">
              <a:solidFill>
                <a:prstClr val="white"/>
              </a:solidFill>
            </a:endParaRPr>
          </a:p>
        </p:txBody>
      </p:sp>
      <p:sp>
        <p:nvSpPr>
          <p:cNvPr id="40" name="TextBox 39"/>
          <p:cNvSpPr txBox="1"/>
          <p:nvPr/>
        </p:nvSpPr>
        <p:spPr>
          <a:xfrm>
            <a:off x="519481" y="2290763"/>
            <a:ext cx="4055438" cy="338554"/>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1" i="0" u="none" strike="noStrike" kern="0" cap="none" spc="0" normalizeH="0" baseline="0">
                <a:ln>
                  <a:noFill/>
                </a:ln>
                <a:solidFill>
                  <a:prstClr val="black"/>
                </a:solidFill>
                <a:effectLst/>
                <a:uLnTx/>
                <a:uFillTx/>
                <a:latin typeface="Bookman Old Style" pitchFamily="18"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Number of all possible outcomes = 6 </a:t>
            </a:r>
            <a:endParaRPr lang="en-IN" dirty="0"/>
          </a:p>
        </p:txBody>
      </p:sp>
      <p:cxnSp>
        <p:nvCxnSpPr>
          <p:cNvPr id="26" name="Straight Arrow Connector 25"/>
          <p:cNvCxnSpPr/>
          <p:nvPr/>
        </p:nvCxnSpPr>
        <p:spPr>
          <a:xfrm>
            <a:off x="4562475" y="2032193"/>
            <a:ext cx="565946" cy="1604"/>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27" name="TextBox 26"/>
          <p:cNvSpPr txBox="1"/>
          <p:nvPr/>
        </p:nvSpPr>
        <p:spPr>
          <a:xfrm>
            <a:off x="519481" y="2687030"/>
            <a:ext cx="4055438" cy="584775"/>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1" i="0" u="none" strike="noStrike" kern="0" cap="none" spc="0" normalizeH="0" baseline="0">
                <a:ln>
                  <a:noFill/>
                </a:ln>
                <a:solidFill>
                  <a:prstClr val="black"/>
                </a:solidFill>
                <a:effectLst/>
                <a:uLnTx/>
                <a:uFillTx/>
                <a:latin typeface="Bookman Old Style" pitchFamily="18"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Here, we assume that each outcome is likely to occur equally as other. </a:t>
            </a:r>
            <a:endParaRPr lang="en-IN" dirty="0"/>
          </a:p>
        </p:txBody>
      </p:sp>
      <p:sp>
        <p:nvSpPr>
          <p:cNvPr id="54" name="Rectangle 53"/>
          <p:cNvSpPr/>
          <p:nvPr/>
        </p:nvSpPr>
        <p:spPr>
          <a:xfrm>
            <a:off x="519042" y="3592910"/>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1,</a:t>
            </a:r>
            <a:endParaRPr lang="en-IN" sz="1600" kern="0" dirty="0">
              <a:solidFill>
                <a:sysClr val="windowText" lastClr="000000"/>
              </a:solidFill>
              <a:latin typeface="Bookman Old Style" pitchFamily="18" charset="0"/>
            </a:endParaRPr>
          </a:p>
        </p:txBody>
      </p:sp>
      <p:sp>
        <p:nvSpPr>
          <p:cNvPr id="55" name="Rectangle 54"/>
          <p:cNvSpPr/>
          <p:nvPr/>
        </p:nvSpPr>
        <p:spPr>
          <a:xfrm>
            <a:off x="784332" y="3592910"/>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2,</a:t>
            </a:r>
            <a:endParaRPr lang="en-IN" sz="1600" kern="0" dirty="0">
              <a:solidFill>
                <a:sysClr val="windowText" lastClr="000000"/>
              </a:solidFill>
              <a:latin typeface="Bookman Old Style" pitchFamily="18" charset="0"/>
            </a:endParaRPr>
          </a:p>
        </p:txBody>
      </p:sp>
      <p:sp>
        <p:nvSpPr>
          <p:cNvPr id="56" name="Rectangle 55"/>
          <p:cNvSpPr/>
          <p:nvPr/>
        </p:nvSpPr>
        <p:spPr>
          <a:xfrm>
            <a:off x="1049622" y="3592910"/>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3,</a:t>
            </a:r>
            <a:endParaRPr lang="en-IN" sz="1600" kern="0" dirty="0">
              <a:solidFill>
                <a:sysClr val="windowText" lastClr="000000"/>
              </a:solidFill>
              <a:latin typeface="Bookman Old Style" pitchFamily="18" charset="0"/>
            </a:endParaRPr>
          </a:p>
        </p:txBody>
      </p:sp>
      <p:sp>
        <p:nvSpPr>
          <p:cNvPr id="57" name="Rectangle 56"/>
          <p:cNvSpPr/>
          <p:nvPr/>
        </p:nvSpPr>
        <p:spPr>
          <a:xfrm>
            <a:off x="1303623" y="3592910"/>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4,</a:t>
            </a:r>
            <a:endParaRPr lang="en-IN" sz="1600" kern="0" dirty="0">
              <a:solidFill>
                <a:sysClr val="windowText" lastClr="000000"/>
              </a:solidFill>
              <a:latin typeface="Bookman Old Style" pitchFamily="18" charset="0"/>
            </a:endParaRPr>
          </a:p>
        </p:txBody>
      </p:sp>
      <p:sp>
        <p:nvSpPr>
          <p:cNvPr id="58" name="Rectangle 57"/>
          <p:cNvSpPr/>
          <p:nvPr/>
        </p:nvSpPr>
        <p:spPr>
          <a:xfrm>
            <a:off x="1602780" y="3592910"/>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5,</a:t>
            </a:r>
            <a:endParaRPr lang="en-IN" sz="1600" kern="0" dirty="0">
              <a:solidFill>
                <a:sysClr val="windowText" lastClr="000000"/>
              </a:solidFill>
              <a:latin typeface="Bookman Old Style" pitchFamily="18" charset="0"/>
            </a:endParaRPr>
          </a:p>
        </p:txBody>
      </p:sp>
      <p:sp>
        <p:nvSpPr>
          <p:cNvPr id="59" name="Rectangle 58"/>
          <p:cNvSpPr/>
          <p:nvPr/>
        </p:nvSpPr>
        <p:spPr>
          <a:xfrm>
            <a:off x="1879359" y="3592910"/>
            <a:ext cx="320922"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6</a:t>
            </a:r>
            <a:endParaRPr lang="en-IN" sz="1600" kern="0" dirty="0">
              <a:solidFill>
                <a:sysClr val="windowText" lastClr="000000"/>
              </a:solidFill>
              <a:latin typeface="Bookman Old Style" pitchFamily="18" charset="0"/>
            </a:endParaRPr>
          </a:p>
        </p:txBody>
      </p:sp>
      <p:cxnSp>
        <p:nvCxnSpPr>
          <p:cNvPr id="60" name="Straight Arrow Connector 59"/>
          <p:cNvCxnSpPr/>
          <p:nvPr/>
        </p:nvCxnSpPr>
        <p:spPr>
          <a:xfrm>
            <a:off x="2224107" y="3761393"/>
            <a:ext cx="753274" cy="1588"/>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61" name="TextBox 60"/>
          <p:cNvSpPr txBox="1"/>
          <p:nvPr/>
        </p:nvSpPr>
        <p:spPr>
          <a:xfrm>
            <a:off x="2987824" y="3592910"/>
            <a:ext cx="2975071" cy="338554"/>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600" b="1" i="0" u="none" strike="noStrike" kern="0" cap="none" spc="0" normalizeH="0" baseline="0">
                <a:ln>
                  <a:noFill/>
                </a:ln>
                <a:solidFill>
                  <a:srgbClr val="C00000"/>
                </a:solidFill>
                <a:effectLst/>
                <a:uLnTx/>
                <a:uFillTx/>
                <a:latin typeface="Bookman Old Style" pitchFamily="18" charset="0"/>
              </a:defRPr>
            </a:lvl1pPr>
          </a:lstStyle>
          <a:p>
            <a:r>
              <a:rPr lang="en-US" dirty="0"/>
              <a:t>Equally Likely </a:t>
            </a:r>
            <a:r>
              <a:rPr lang="en-US" dirty="0" smtClean="0"/>
              <a:t>Outcomes</a:t>
            </a:r>
            <a:endParaRPr lang="en-IN" dirty="0"/>
          </a:p>
        </p:txBody>
      </p:sp>
      <p:pic>
        <p:nvPicPr>
          <p:cNvPr id="37" name="Picture 36"/>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p:blipFill>
        <p:spPr>
          <a:xfrm>
            <a:off x="5530561" y="1315231"/>
            <a:ext cx="717839" cy="571732"/>
          </a:xfrm>
          <a:prstGeom prst="snipRoundRect">
            <a:avLst>
              <a:gd name="adj1" fmla="val 50000"/>
              <a:gd name="adj2" fmla="val 33403"/>
            </a:avLst>
          </a:prstGeom>
        </p:spPr>
      </p:pic>
      <p:pic>
        <p:nvPicPr>
          <p:cNvPr id="38" name="Picture 37"/>
          <p:cNvPicPr>
            <a:picLocks noChangeAspect="1"/>
          </p:cNvPicPr>
          <p:nvPr/>
        </p:nvPicPr>
        <p:blipFill rotWithShape="1">
          <a:blip r:embed="rId5" cstate="print">
            <a:extLst>
              <a:ext uri="{28A0092B-C50C-407E-A947-70E740481C1C}">
                <a14:useLocalDpi xmlns:a14="http://schemas.microsoft.com/office/drawing/2010/main" val="0"/>
              </a:ext>
            </a:extLst>
          </a:blip>
          <a:srcRect t="81373"/>
          <a:stretch/>
        </p:blipFill>
        <p:spPr>
          <a:xfrm>
            <a:off x="5419725" y="1399365"/>
            <a:ext cx="2352675" cy="361950"/>
          </a:xfrm>
          <a:prstGeom prst="rect">
            <a:avLst/>
          </a:prstGeom>
        </p:spPr>
      </p:pic>
      <p:pic>
        <p:nvPicPr>
          <p:cNvPr id="42" name="Picture 41"/>
          <p:cNvPicPr>
            <a:picLocks noChangeAspect="1"/>
          </p:cNvPicPr>
          <p:nvPr/>
        </p:nvPicPr>
        <p:blipFill rotWithShape="1">
          <a:blip r:embed="rId5" cstate="print">
            <a:extLst>
              <a:ext uri="{28A0092B-C50C-407E-A947-70E740481C1C}">
                <a14:useLocalDpi xmlns:a14="http://schemas.microsoft.com/office/drawing/2010/main" val="0"/>
              </a:ext>
            </a:extLst>
          </a:blip>
          <a:srcRect t="81373" r="84699"/>
          <a:stretch/>
        </p:blipFill>
        <p:spPr>
          <a:xfrm>
            <a:off x="5419725" y="1407928"/>
            <a:ext cx="359973" cy="361950"/>
          </a:xfrm>
          <a:prstGeom prst="rect">
            <a:avLst/>
          </a:prstGeom>
        </p:spPr>
      </p:pic>
      <p:pic>
        <p:nvPicPr>
          <p:cNvPr id="43" name="Picture 42"/>
          <p:cNvPicPr>
            <a:picLocks noChangeAspect="1"/>
          </p:cNvPicPr>
          <p:nvPr/>
        </p:nvPicPr>
        <p:blipFill rotWithShape="1">
          <a:blip r:embed="rId5" cstate="print">
            <a:extLst>
              <a:ext uri="{28A0092B-C50C-407E-A947-70E740481C1C}">
                <a14:useLocalDpi xmlns:a14="http://schemas.microsoft.com/office/drawing/2010/main" val="0"/>
              </a:ext>
            </a:extLst>
          </a:blip>
          <a:srcRect l="17140" t="81373" r="67467"/>
          <a:stretch/>
        </p:blipFill>
        <p:spPr>
          <a:xfrm>
            <a:off x="5822987" y="1397714"/>
            <a:ext cx="362151" cy="361950"/>
          </a:xfrm>
          <a:prstGeom prst="rect">
            <a:avLst/>
          </a:prstGeom>
        </p:spPr>
      </p:pic>
      <p:pic>
        <p:nvPicPr>
          <p:cNvPr id="44" name="Picture 43"/>
          <p:cNvPicPr>
            <a:picLocks noChangeAspect="1"/>
          </p:cNvPicPr>
          <p:nvPr/>
        </p:nvPicPr>
        <p:blipFill rotWithShape="1">
          <a:blip r:embed="rId5" cstate="print">
            <a:extLst>
              <a:ext uri="{28A0092B-C50C-407E-A947-70E740481C1C}">
                <a14:useLocalDpi xmlns:a14="http://schemas.microsoft.com/office/drawing/2010/main" val="0"/>
              </a:ext>
            </a:extLst>
          </a:blip>
          <a:srcRect l="33267" t="81373" r="50306"/>
          <a:stretch/>
        </p:blipFill>
        <p:spPr>
          <a:xfrm>
            <a:off x="6209149" y="1402929"/>
            <a:ext cx="386481" cy="361950"/>
          </a:xfrm>
          <a:prstGeom prst="rect">
            <a:avLst/>
          </a:prstGeom>
        </p:spPr>
      </p:pic>
      <p:pic>
        <p:nvPicPr>
          <p:cNvPr id="45" name="Picture 44"/>
          <p:cNvPicPr>
            <a:picLocks noChangeAspect="1"/>
          </p:cNvPicPr>
          <p:nvPr/>
        </p:nvPicPr>
        <p:blipFill rotWithShape="1">
          <a:blip r:embed="rId5" cstate="print">
            <a:extLst>
              <a:ext uri="{28A0092B-C50C-407E-A947-70E740481C1C}">
                <a14:useLocalDpi xmlns:a14="http://schemas.microsoft.com/office/drawing/2010/main" val="0"/>
              </a:ext>
            </a:extLst>
          </a:blip>
          <a:srcRect l="50000" t="81373" r="33721"/>
          <a:stretch/>
        </p:blipFill>
        <p:spPr>
          <a:xfrm>
            <a:off x="6603092" y="1404862"/>
            <a:ext cx="382999" cy="361950"/>
          </a:xfrm>
          <a:prstGeom prst="rect">
            <a:avLst/>
          </a:prstGeom>
        </p:spPr>
      </p:pic>
      <p:pic>
        <p:nvPicPr>
          <p:cNvPr id="46" name="Picture 45"/>
          <p:cNvPicPr>
            <a:picLocks noChangeAspect="1"/>
          </p:cNvPicPr>
          <p:nvPr/>
        </p:nvPicPr>
        <p:blipFill rotWithShape="1">
          <a:blip r:embed="rId5" cstate="print">
            <a:extLst>
              <a:ext uri="{28A0092B-C50C-407E-A947-70E740481C1C}">
                <a14:useLocalDpi xmlns:a14="http://schemas.microsoft.com/office/drawing/2010/main" val="0"/>
              </a:ext>
            </a:extLst>
          </a:blip>
          <a:srcRect l="66779" t="81373" r="16611"/>
          <a:stretch/>
        </p:blipFill>
        <p:spPr>
          <a:xfrm>
            <a:off x="6987493" y="1399365"/>
            <a:ext cx="390790" cy="361950"/>
          </a:xfrm>
          <a:prstGeom prst="rect">
            <a:avLst/>
          </a:prstGeom>
        </p:spPr>
      </p:pic>
      <p:pic>
        <p:nvPicPr>
          <p:cNvPr id="47" name="Picture 46"/>
          <p:cNvPicPr>
            <a:picLocks noChangeAspect="1"/>
          </p:cNvPicPr>
          <p:nvPr/>
        </p:nvPicPr>
        <p:blipFill rotWithShape="1">
          <a:blip r:embed="rId5" cstate="print">
            <a:extLst>
              <a:ext uri="{28A0092B-C50C-407E-A947-70E740481C1C}">
                <a14:useLocalDpi xmlns:a14="http://schemas.microsoft.com/office/drawing/2010/main" val="0"/>
              </a:ext>
            </a:extLst>
          </a:blip>
          <a:srcRect l="84123" t="81373"/>
          <a:stretch/>
        </p:blipFill>
        <p:spPr>
          <a:xfrm>
            <a:off x="7404473" y="1393058"/>
            <a:ext cx="373537" cy="361950"/>
          </a:xfrm>
          <a:prstGeom prst="rect">
            <a:avLst/>
          </a:prstGeom>
        </p:spPr>
      </p:pic>
      <p:sp>
        <p:nvSpPr>
          <p:cNvPr id="66" name="Rectangle 65"/>
          <p:cNvSpPr/>
          <p:nvPr/>
        </p:nvSpPr>
        <p:spPr>
          <a:xfrm>
            <a:off x="942954" y="1492048"/>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1,</a:t>
            </a:r>
            <a:endParaRPr lang="en-IN" sz="1600" kern="0" dirty="0">
              <a:solidFill>
                <a:sysClr val="windowText" lastClr="000000"/>
              </a:solidFill>
              <a:latin typeface="Bookman Old Style" pitchFamily="18" charset="0"/>
            </a:endParaRPr>
          </a:p>
        </p:txBody>
      </p:sp>
      <p:sp>
        <p:nvSpPr>
          <p:cNvPr id="69" name="Rectangle 68"/>
          <p:cNvSpPr/>
          <p:nvPr/>
        </p:nvSpPr>
        <p:spPr>
          <a:xfrm>
            <a:off x="1162708" y="1492048"/>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2,</a:t>
            </a:r>
            <a:endParaRPr lang="en-IN" sz="1600" kern="0" dirty="0">
              <a:solidFill>
                <a:sysClr val="windowText" lastClr="000000"/>
              </a:solidFill>
              <a:latin typeface="Bookman Old Style" pitchFamily="18" charset="0"/>
            </a:endParaRPr>
          </a:p>
        </p:txBody>
      </p:sp>
      <p:sp>
        <p:nvSpPr>
          <p:cNvPr id="70" name="Rectangle 69"/>
          <p:cNvSpPr/>
          <p:nvPr/>
        </p:nvSpPr>
        <p:spPr>
          <a:xfrm>
            <a:off x="1382462" y="1492048"/>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3,</a:t>
            </a:r>
            <a:endParaRPr lang="en-IN" sz="1600" kern="0" dirty="0">
              <a:solidFill>
                <a:sysClr val="windowText" lastClr="000000"/>
              </a:solidFill>
              <a:latin typeface="Bookman Old Style" pitchFamily="18" charset="0"/>
            </a:endParaRPr>
          </a:p>
        </p:txBody>
      </p:sp>
      <p:sp>
        <p:nvSpPr>
          <p:cNvPr id="71" name="Rectangle 70"/>
          <p:cNvSpPr/>
          <p:nvPr/>
        </p:nvSpPr>
        <p:spPr>
          <a:xfrm>
            <a:off x="1602216" y="1492048"/>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4,</a:t>
            </a:r>
            <a:endParaRPr lang="en-IN" sz="1600" kern="0" dirty="0">
              <a:solidFill>
                <a:sysClr val="windowText" lastClr="000000"/>
              </a:solidFill>
              <a:latin typeface="Bookman Old Style" pitchFamily="18" charset="0"/>
            </a:endParaRPr>
          </a:p>
        </p:txBody>
      </p:sp>
      <p:sp>
        <p:nvSpPr>
          <p:cNvPr id="72" name="Rectangle 71"/>
          <p:cNvSpPr/>
          <p:nvPr/>
        </p:nvSpPr>
        <p:spPr>
          <a:xfrm>
            <a:off x="1821970" y="1492048"/>
            <a:ext cx="391454"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5,</a:t>
            </a:r>
            <a:endParaRPr lang="en-IN" sz="1600" kern="0" dirty="0">
              <a:solidFill>
                <a:sysClr val="windowText" lastClr="000000"/>
              </a:solidFill>
              <a:latin typeface="Bookman Old Style" pitchFamily="18" charset="0"/>
            </a:endParaRPr>
          </a:p>
        </p:txBody>
      </p:sp>
      <p:sp>
        <p:nvSpPr>
          <p:cNvPr id="73" name="Rectangle 72"/>
          <p:cNvSpPr/>
          <p:nvPr/>
        </p:nvSpPr>
        <p:spPr>
          <a:xfrm>
            <a:off x="2041726" y="1492048"/>
            <a:ext cx="320922" cy="338554"/>
          </a:xfrm>
          <a:prstGeom prst="rect">
            <a:avLst/>
          </a:prstGeom>
        </p:spPr>
        <p:txBody>
          <a:bodyPr wrap="none">
            <a:spAutoFit/>
          </a:bodyPr>
          <a:lstStyle/>
          <a:p>
            <a:pPr>
              <a:defRPr/>
            </a:pPr>
            <a:r>
              <a:rPr lang="en-US" sz="1600" b="1" kern="0" dirty="0" smtClean="0">
                <a:solidFill>
                  <a:sysClr val="windowText" lastClr="000000"/>
                </a:solidFill>
                <a:latin typeface="Bookman Old Style" pitchFamily="18" charset="0"/>
              </a:rPr>
              <a:t>6</a:t>
            </a:r>
            <a:endParaRPr lang="en-IN" sz="1600" kern="0" dirty="0">
              <a:solidFill>
                <a:sysClr val="windowText" lastClr="000000"/>
              </a:solidFill>
              <a:latin typeface="Bookman Old Style" pitchFamily="18" charset="0"/>
            </a:endParaRPr>
          </a:p>
        </p:txBody>
      </p:sp>
      <p:sp>
        <p:nvSpPr>
          <p:cNvPr id="48" name="Round Diagonal Corner Rectangle 47"/>
          <p:cNvSpPr/>
          <p:nvPr/>
        </p:nvSpPr>
        <p:spPr>
          <a:xfrm>
            <a:off x="5796136" y="1257259"/>
            <a:ext cx="2608234" cy="774934"/>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What is a random experiment ?</a:t>
            </a:r>
          </a:p>
        </p:txBody>
      </p:sp>
      <p:sp>
        <p:nvSpPr>
          <p:cNvPr id="49" name="Round Diagonal Corner Rectangle 48"/>
          <p:cNvSpPr/>
          <p:nvPr/>
        </p:nvSpPr>
        <p:spPr>
          <a:xfrm>
            <a:off x="6552218" y="1501650"/>
            <a:ext cx="1615765" cy="733230"/>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What is an outcome ?</a:t>
            </a:r>
          </a:p>
        </p:txBody>
      </p:sp>
      <p:sp>
        <p:nvSpPr>
          <p:cNvPr id="51" name="TextBox 50"/>
          <p:cNvSpPr txBox="1"/>
          <p:nvPr/>
        </p:nvSpPr>
        <p:spPr>
          <a:xfrm>
            <a:off x="515737" y="595282"/>
            <a:ext cx="7668640" cy="574978"/>
          </a:xfrm>
          <a:prstGeom prst="rect">
            <a:avLst/>
          </a:prstGeom>
          <a:noFill/>
          <a:ln w="19050">
            <a:no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stStyle>
          <a:p>
            <a:pPr algn="l"/>
            <a:r>
              <a:rPr lang="en-US" sz="1600" kern="1200" dirty="0" smtClean="0">
                <a:latin typeface="Bookman Old Style" pitchFamily="18" charset="0"/>
              </a:rPr>
              <a:t>                                   It </a:t>
            </a:r>
            <a:r>
              <a:rPr lang="en-US" sz="1600" kern="1200" dirty="0">
                <a:latin typeface="Bookman Old Style" pitchFamily="18" charset="0"/>
              </a:rPr>
              <a:t>is an experiment in which all the possible </a:t>
            </a:r>
          </a:p>
          <a:p>
            <a:pPr algn="l"/>
            <a:r>
              <a:rPr lang="en-US" sz="1600" kern="1200" dirty="0">
                <a:latin typeface="Bookman Old Style" pitchFamily="18" charset="0"/>
              </a:rPr>
              <a:t>results are known in advance but they cannot be predicted with certainty.</a:t>
            </a:r>
            <a:endParaRPr lang="en-IN" sz="1600" kern="1200" dirty="0">
              <a:latin typeface="Bookman Old Style" pitchFamily="18" charset="0"/>
            </a:endParaRPr>
          </a:p>
        </p:txBody>
      </p:sp>
    </p:spTree>
    <p:extLst>
      <p:ext uri="{BB962C8B-B14F-4D97-AF65-F5344CB8AC3E}">
        <p14:creationId xmlns:p14="http://schemas.microsoft.com/office/powerpoint/2010/main" val="137962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left)">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
                                            <p:txEl>
                                              <p:pRg st="0" end="0"/>
                                            </p:txEl>
                                          </p:spTgt>
                                        </p:tgtEl>
                                        <p:attrNameLst>
                                          <p:attrName>style.visibility</p:attrName>
                                        </p:attrNameLst>
                                      </p:cBhvr>
                                      <p:to>
                                        <p:strVal val="visible"/>
                                      </p:to>
                                    </p:set>
                                    <p:animEffect transition="in" filter="wipe(left)">
                                      <p:cBhvr>
                                        <p:cTn id="17" dur="500"/>
                                        <p:tgtEl>
                                          <p:spTgt spid="5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
                                            <p:txEl>
                                              <p:pRg st="1" end="1"/>
                                            </p:txEl>
                                          </p:spTgt>
                                        </p:tgtEl>
                                        <p:attrNameLst>
                                          <p:attrName>style.visibility</p:attrName>
                                        </p:attrNameLst>
                                      </p:cBhvr>
                                      <p:to>
                                        <p:strVal val="visible"/>
                                      </p:to>
                                    </p:set>
                                    <p:animEffect transition="in" filter="wipe(left)">
                                      <p:cBhvr>
                                        <p:cTn id="22" dur="500"/>
                                        <p:tgtEl>
                                          <p:spTgt spid="5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48"/>
                                        </p:tgtEl>
                                        <p:attrNameLst>
                                          <p:attrName>style.visibility</p:attrName>
                                        </p:attrNameLst>
                                      </p:cBhvr>
                                      <p:to>
                                        <p:strVal val="hidden"/>
                                      </p:to>
                                    </p:set>
                                  </p:childTnLst>
                                </p:cTn>
                              </p:par>
                            </p:childTnLst>
                          </p:cTn>
                        </p:par>
                        <p:par>
                          <p:cTn id="32" fill="hold">
                            <p:stCondLst>
                              <p:cond delay="0"/>
                            </p:stCondLst>
                            <p:childTnLst>
                              <p:par>
                                <p:cTn id="33" presetID="22" presetClass="entr" presetSubtype="8"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20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Effect transition="in" filter="fade">
                                      <p:cBhvr>
                                        <p:cTn id="42" dur="500"/>
                                        <p:tgtEl>
                                          <p:spTgt spid="37"/>
                                        </p:tgtEl>
                                      </p:cBhvr>
                                    </p:animEffect>
                                  </p:childTnLst>
                                </p:cTn>
                              </p:par>
                              <p:par>
                                <p:cTn id="43" presetID="26"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down)">
                                      <p:cBhvr>
                                        <p:cTn id="45" dur="580">
                                          <p:stCondLst>
                                            <p:cond delay="0"/>
                                          </p:stCondLst>
                                        </p:cTn>
                                        <p:tgtEl>
                                          <p:spTgt spid="37"/>
                                        </p:tgtEl>
                                      </p:cBhvr>
                                    </p:animEffect>
                                    <p:anim calcmode="lin" valueType="num">
                                      <p:cBhvr>
                                        <p:cTn id="46"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51" dur="26">
                                          <p:stCondLst>
                                            <p:cond delay="650"/>
                                          </p:stCondLst>
                                        </p:cTn>
                                        <p:tgtEl>
                                          <p:spTgt spid="37"/>
                                        </p:tgtEl>
                                      </p:cBhvr>
                                      <p:to x="100000" y="60000"/>
                                    </p:animScale>
                                    <p:animScale>
                                      <p:cBhvr>
                                        <p:cTn id="52" dur="166" decel="50000">
                                          <p:stCondLst>
                                            <p:cond delay="676"/>
                                          </p:stCondLst>
                                        </p:cTn>
                                        <p:tgtEl>
                                          <p:spTgt spid="37"/>
                                        </p:tgtEl>
                                      </p:cBhvr>
                                      <p:to x="100000" y="100000"/>
                                    </p:animScale>
                                    <p:animScale>
                                      <p:cBhvr>
                                        <p:cTn id="53" dur="26">
                                          <p:stCondLst>
                                            <p:cond delay="1312"/>
                                          </p:stCondLst>
                                        </p:cTn>
                                        <p:tgtEl>
                                          <p:spTgt spid="37"/>
                                        </p:tgtEl>
                                      </p:cBhvr>
                                      <p:to x="100000" y="80000"/>
                                    </p:animScale>
                                    <p:animScale>
                                      <p:cBhvr>
                                        <p:cTn id="54" dur="166" decel="50000">
                                          <p:stCondLst>
                                            <p:cond delay="1338"/>
                                          </p:stCondLst>
                                        </p:cTn>
                                        <p:tgtEl>
                                          <p:spTgt spid="37"/>
                                        </p:tgtEl>
                                      </p:cBhvr>
                                      <p:to x="100000" y="100000"/>
                                    </p:animScale>
                                    <p:animScale>
                                      <p:cBhvr>
                                        <p:cTn id="55" dur="26">
                                          <p:stCondLst>
                                            <p:cond delay="1642"/>
                                          </p:stCondLst>
                                        </p:cTn>
                                        <p:tgtEl>
                                          <p:spTgt spid="37"/>
                                        </p:tgtEl>
                                      </p:cBhvr>
                                      <p:to x="100000" y="90000"/>
                                    </p:animScale>
                                    <p:animScale>
                                      <p:cBhvr>
                                        <p:cTn id="56" dur="166" decel="50000">
                                          <p:stCondLst>
                                            <p:cond delay="1668"/>
                                          </p:stCondLst>
                                        </p:cTn>
                                        <p:tgtEl>
                                          <p:spTgt spid="37"/>
                                        </p:tgtEl>
                                      </p:cBhvr>
                                      <p:to x="100000" y="100000"/>
                                    </p:animScale>
                                    <p:animScale>
                                      <p:cBhvr>
                                        <p:cTn id="57" dur="26">
                                          <p:stCondLst>
                                            <p:cond delay="1808"/>
                                          </p:stCondLst>
                                        </p:cTn>
                                        <p:tgtEl>
                                          <p:spTgt spid="37"/>
                                        </p:tgtEl>
                                      </p:cBhvr>
                                      <p:to x="100000" y="95000"/>
                                    </p:animScale>
                                    <p:animScale>
                                      <p:cBhvr>
                                        <p:cTn id="58" dur="166" decel="50000">
                                          <p:stCondLst>
                                            <p:cond delay="1834"/>
                                          </p:stCondLst>
                                        </p:cTn>
                                        <p:tgtEl>
                                          <p:spTgt spid="37"/>
                                        </p:tgtEl>
                                      </p:cBhvr>
                                      <p:to x="100000" y="100000"/>
                                    </p:animScale>
                                  </p:childTnLst>
                                </p:cTn>
                              </p:par>
                              <p:par>
                                <p:cTn id="59" presetID="8" presetClass="emph" presetSubtype="0" fill="hold" nodeType="withEffect">
                                  <p:stCondLst>
                                    <p:cond delay="0"/>
                                  </p:stCondLst>
                                  <p:childTnLst>
                                    <p:animRot by="21600000">
                                      <p:cBhvr>
                                        <p:cTn id="60" dur="2000" fill="hold"/>
                                        <p:tgtEl>
                                          <p:spTgt spid="37"/>
                                        </p:tgtEl>
                                        <p:attrNameLst>
                                          <p:attrName>r</p:attrName>
                                        </p:attrNameLst>
                                      </p:cBhvr>
                                    </p:animRo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7"/>
                                        </p:tgtEl>
                                        <p:attrNameLst>
                                          <p:attrName>style.visibility</p:attrName>
                                        </p:attrNameLst>
                                      </p:cBhvr>
                                      <p:to>
                                        <p:strVal val="hidden"/>
                                      </p:to>
                                    </p:set>
                                  </p:childTnLst>
                                </p:cTn>
                              </p:par>
                              <p:par>
                                <p:cTn id="65" presetID="22" presetClass="entr" presetSubtype="8"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10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38"/>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wipe(left)">
                                      <p:cBhvr>
                                        <p:cTn id="76" dur="1000"/>
                                        <p:tgtEl>
                                          <p:spTgt spid="42"/>
                                        </p:tgtEl>
                                      </p:cBhvr>
                                    </p:animEffect>
                                  </p:childTnLst>
                                </p:cTn>
                              </p:par>
                            </p:childTnLst>
                          </p:cTn>
                        </p:par>
                        <p:par>
                          <p:cTn id="77" fill="hold">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wipe(left)">
                                      <p:cBhvr>
                                        <p:cTn id="80" dur="500"/>
                                        <p:tgtEl>
                                          <p:spTgt spid="2"/>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wipe(left)">
                                      <p:cBhvr>
                                        <p:cTn id="84" dur="500"/>
                                        <p:tgtEl>
                                          <p:spTgt spid="66"/>
                                        </p:tgtEl>
                                      </p:cBhvr>
                                    </p:animEffect>
                                  </p:childTnLst>
                                </p:cTn>
                              </p:par>
                            </p:childTnLst>
                          </p:cTn>
                        </p:par>
                        <p:par>
                          <p:cTn id="85" fill="hold">
                            <p:stCondLst>
                              <p:cond delay="2000"/>
                            </p:stCondLst>
                            <p:childTnLst>
                              <p:par>
                                <p:cTn id="86" presetID="1" presetClass="exit" presetSubtype="0" fill="hold" nodeType="afterEffect">
                                  <p:stCondLst>
                                    <p:cond delay="0"/>
                                  </p:stCondLst>
                                  <p:childTnLst>
                                    <p:set>
                                      <p:cBhvr>
                                        <p:cTn id="87" dur="1" fill="hold">
                                          <p:stCondLst>
                                            <p:cond delay="0"/>
                                          </p:stCondLst>
                                        </p:cTn>
                                        <p:tgtEl>
                                          <p:spTgt spid="42"/>
                                        </p:tgtEl>
                                        <p:attrNameLst>
                                          <p:attrName>style.visibility</p:attrName>
                                        </p:attrNameLst>
                                      </p:cBhvr>
                                      <p:to>
                                        <p:strVal val="hidden"/>
                                      </p:to>
                                    </p:set>
                                  </p:childTnLst>
                                </p:cTn>
                              </p:par>
                            </p:childTnLst>
                          </p:cTn>
                        </p:par>
                        <p:par>
                          <p:cTn id="88" fill="hold">
                            <p:stCondLst>
                              <p:cond delay="2000"/>
                            </p:stCondLst>
                            <p:childTnLst>
                              <p:par>
                                <p:cTn id="89" presetID="22" presetClass="entr" presetSubtype="8" fill="hold" nodeType="afterEffect">
                                  <p:stCondLst>
                                    <p:cond delay="0"/>
                                  </p:stCondLst>
                                  <p:childTnLst>
                                    <p:set>
                                      <p:cBhvr>
                                        <p:cTn id="90" dur="1" fill="hold">
                                          <p:stCondLst>
                                            <p:cond delay="0"/>
                                          </p:stCondLst>
                                        </p:cTn>
                                        <p:tgtEl>
                                          <p:spTgt spid="43"/>
                                        </p:tgtEl>
                                        <p:attrNameLst>
                                          <p:attrName>style.visibility</p:attrName>
                                        </p:attrNameLst>
                                      </p:cBhvr>
                                      <p:to>
                                        <p:strVal val="visible"/>
                                      </p:to>
                                    </p:set>
                                    <p:animEffect transition="in" filter="wipe(left)">
                                      <p:cBhvr>
                                        <p:cTn id="91" dur="1000"/>
                                        <p:tgtEl>
                                          <p:spTgt spid="43"/>
                                        </p:tgtEl>
                                      </p:cBhvr>
                                    </p:animEffect>
                                  </p:childTnLst>
                                </p:cTn>
                              </p:par>
                            </p:childTnLst>
                          </p:cTn>
                        </p:par>
                        <p:par>
                          <p:cTn id="92" fill="hold">
                            <p:stCondLst>
                              <p:cond delay="3000"/>
                            </p:stCondLst>
                            <p:childTnLst>
                              <p:par>
                                <p:cTn id="93" presetID="22" presetClass="entr" presetSubtype="8" fill="hold" grpId="0" nodeType="afterEffect">
                                  <p:stCondLst>
                                    <p:cond delay="0"/>
                                  </p:stCondLst>
                                  <p:childTnLst>
                                    <p:set>
                                      <p:cBhvr>
                                        <p:cTn id="94" dur="1" fill="hold">
                                          <p:stCondLst>
                                            <p:cond delay="0"/>
                                          </p:stCondLst>
                                        </p:cTn>
                                        <p:tgtEl>
                                          <p:spTgt spid="69"/>
                                        </p:tgtEl>
                                        <p:attrNameLst>
                                          <p:attrName>style.visibility</p:attrName>
                                        </p:attrNameLst>
                                      </p:cBhvr>
                                      <p:to>
                                        <p:strVal val="visible"/>
                                      </p:to>
                                    </p:set>
                                    <p:animEffect transition="in" filter="wipe(left)">
                                      <p:cBhvr>
                                        <p:cTn id="95" dur="500"/>
                                        <p:tgtEl>
                                          <p:spTgt spid="69"/>
                                        </p:tgtEl>
                                      </p:cBhvr>
                                    </p:animEffect>
                                  </p:childTnLst>
                                </p:cTn>
                              </p:par>
                            </p:childTnLst>
                          </p:cTn>
                        </p:par>
                        <p:par>
                          <p:cTn id="96" fill="hold">
                            <p:stCondLst>
                              <p:cond delay="3500"/>
                            </p:stCondLst>
                            <p:childTnLst>
                              <p:par>
                                <p:cTn id="97" presetID="1" presetClass="exit" presetSubtype="0" fill="hold" nodeType="afterEffect">
                                  <p:stCondLst>
                                    <p:cond delay="0"/>
                                  </p:stCondLst>
                                  <p:childTnLst>
                                    <p:set>
                                      <p:cBhvr>
                                        <p:cTn id="98" dur="1" fill="hold">
                                          <p:stCondLst>
                                            <p:cond delay="0"/>
                                          </p:stCondLst>
                                        </p:cTn>
                                        <p:tgtEl>
                                          <p:spTgt spid="43"/>
                                        </p:tgtEl>
                                        <p:attrNameLst>
                                          <p:attrName>style.visibility</p:attrName>
                                        </p:attrNameLst>
                                      </p:cBhvr>
                                      <p:to>
                                        <p:strVal val="hidden"/>
                                      </p:to>
                                    </p:set>
                                  </p:childTnLst>
                                </p:cTn>
                              </p:par>
                            </p:childTnLst>
                          </p:cTn>
                        </p:par>
                        <p:par>
                          <p:cTn id="99" fill="hold">
                            <p:stCondLst>
                              <p:cond delay="3500"/>
                            </p:stCondLst>
                            <p:childTnLst>
                              <p:par>
                                <p:cTn id="100" presetID="22" presetClass="entr" presetSubtype="8" fill="hold" nodeType="after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wipe(left)">
                                      <p:cBhvr>
                                        <p:cTn id="102" dur="1000"/>
                                        <p:tgtEl>
                                          <p:spTgt spid="44"/>
                                        </p:tgtEl>
                                      </p:cBhvr>
                                    </p:animEffect>
                                  </p:childTnLst>
                                </p:cTn>
                              </p:par>
                            </p:childTnLst>
                          </p:cTn>
                        </p:par>
                        <p:par>
                          <p:cTn id="103" fill="hold">
                            <p:stCondLst>
                              <p:cond delay="4500"/>
                            </p:stCondLst>
                            <p:childTnLst>
                              <p:par>
                                <p:cTn id="104" presetID="22" presetClass="entr" presetSubtype="8" fill="hold" grpId="0" nodeType="afterEffect">
                                  <p:stCondLst>
                                    <p:cond delay="0"/>
                                  </p:stCondLst>
                                  <p:childTnLst>
                                    <p:set>
                                      <p:cBhvr>
                                        <p:cTn id="105" dur="1" fill="hold">
                                          <p:stCondLst>
                                            <p:cond delay="0"/>
                                          </p:stCondLst>
                                        </p:cTn>
                                        <p:tgtEl>
                                          <p:spTgt spid="70"/>
                                        </p:tgtEl>
                                        <p:attrNameLst>
                                          <p:attrName>style.visibility</p:attrName>
                                        </p:attrNameLst>
                                      </p:cBhvr>
                                      <p:to>
                                        <p:strVal val="visible"/>
                                      </p:to>
                                    </p:set>
                                    <p:animEffect transition="in" filter="wipe(left)">
                                      <p:cBhvr>
                                        <p:cTn id="106" dur="500"/>
                                        <p:tgtEl>
                                          <p:spTgt spid="70"/>
                                        </p:tgtEl>
                                      </p:cBhvr>
                                    </p:animEffect>
                                  </p:childTnLst>
                                </p:cTn>
                              </p:par>
                            </p:childTnLst>
                          </p:cTn>
                        </p:par>
                        <p:par>
                          <p:cTn id="107" fill="hold">
                            <p:stCondLst>
                              <p:cond delay="5000"/>
                            </p:stCondLst>
                            <p:childTnLst>
                              <p:par>
                                <p:cTn id="108" presetID="1" presetClass="exit" presetSubtype="0" fill="hold" nodeType="afterEffect">
                                  <p:stCondLst>
                                    <p:cond delay="0"/>
                                  </p:stCondLst>
                                  <p:childTnLst>
                                    <p:set>
                                      <p:cBhvr>
                                        <p:cTn id="109" dur="1" fill="hold">
                                          <p:stCondLst>
                                            <p:cond delay="0"/>
                                          </p:stCondLst>
                                        </p:cTn>
                                        <p:tgtEl>
                                          <p:spTgt spid="44"/>
                                        </p:tgtEl>
                                        <p:attrNameLst>
                                          <p:attrName>style.visibility</p:attrName>
                                        </p:attrNameLst>
                                      </p:cBhvr>
                                      <p:to>
                                        <p:strVal val="hidden"/>
                                      </p:to>
                                    </p:set>
                                  </p:childTnLst>
                                </p:cTn>
                              </p:par>
                            </p:childTnLst>
                          </p:cTn>
                        </p:par>
                        <p:par>
                          <p:cTn id="110" fill="hold">
                            <p:stCondLst>
                              <p:cond delay="5000"/>
                            </p:stCondLst>
                            <p:childTnLst>
                              <p:par>
                                <p:cTn id="111" presetID="22" presetClass="entr" presetSubtype="8" fill="hold" nodeType="after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wipe(left)">
                                      <p:cBhvr>
                                        <p:cTn id="113" dur="1000"/>
                                        <p:tgtEl>
                                          <p:spTgt spid="45"/>
                                        </p:tgtEl>
                                      </p:cBhvr>
                                    </p:animEffect>
                                  </p:childTnLst>
                                </p:cTn>
                              </p:par>
                            </p:childTnLst>
                          </p:cTn>
                        </p:par>
                        <p:par>
                          <p:cTn id="114" fill="hold">
                            <p:stCondLst>
                              <p:cond delay="6000"/>
                            </p:stCondLst>
                            <p:childTnLst>
                              <p:par>
                                <p:cTn id="115" presetID="22" presetClass="entr" presetSubtype="8" fill="hold" grpId="0" nodeType="afterEffect">
                                  <p:stCondLst>
                                    <p:cond delay="0"/>
                                  </p:stCondLst>
                                  <p:childTnLst>
                                    <p:set>
                                      <p:cBhvr>
                                        <p:cTn id="116" dur="1" fill="hold">
                                          <p:stCondLst>
                                            <p:cond delay="0"/>
                                          </p:stCondLst>
                                        </p:cTn>
                                        <p:tgtEl>
                                          <p:spTgt spid="71"/>
                                        </p:tgtEl>
                                        <p:attrNameLst>
                                          <p:attrName>style.visibility</p:attrName>
                                        </p:attrNameLst>
                                      </p:cBhvr>
                                      <p:to>
                                        <p:strVal val="visible"/>
                                      </p:to>
                                    </p:set>
                                    <p:animEffect transition="in" filter="wipe(left)">
                                      <p:cBhvr>
                                        <p:cTn id="117" dur="500"/>
                                        <p:tgtEl>
                                          <p:spTgt spid="71"/>
                                        </p:tgtEl>
                                      </p:cBhvr>
                                    </p:animEffect>
                                  </p:childTnLst>
                                </p:cTn>
                              </p:par>
                            </p:childTnLst>
                          </p:cTn>
                        </p:par>
                        <p:par>
                          <p:cTn id="118" fill="hold">
                            <p:stCondLst>
                              <p:cond delay="6500"/>
                            </p:stCondLst>
                            <p:childTnLst>
                              <p:par>
                                <p:cTn id="119" presetID="1" presetClass="exit" presetSubtype="0" fill="hold" nodeType="afterEffect">
                                  <p:stCondLst>
                                    <p:cond delay="0"/>
                                  </p:stCondLst>
                                  <p:childTnLst>
                                    <p:set>
                                      <p:cBhvr>
                                        <p:cTn id="120" dur="1" fill="hold">
                                          <p:stCondLst>
                                            <p:cond delay="0"/>
                                          </p:stCondLst>
                                        </p:cTn>
                                        <p:tgtEl>
                                          <p:spTgt spid="45"/>
                                        </p:tgtEl>
                                        <p:attrNameLst>
                                          <p:attrName>style.visibility</p:attrName>
                                        </p:attrNameLst>
                                      </p:cBhvr>
                                      <p:to>
                                        <p:strVal val="hidden"/>
                                      </p:to>
                                    </p:set>
                                  </p:childTnLst>
                                </p:cTn>
                              </p:par>
                            </p:childTnLst>
                          </p:cTn>
                        </p:par>
                        <p:par>
                          <p:cTn id="121" fill="hold">
                            <p:stCondLst>
                              <p:cond delay="6500"/>
                            </p:stCondLst>
                            <p:childTnLst>
                              <p:par>
                                <p:cTn id="122" presetID="22" presetClass="entr" presetSubtype="8" fill="hold" nodeType="after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wipe(left)">
                                      <p:cBhvr>
                                        <p:cTn id="124" dur="1000"/>
                                        <p:tgtEl>
                                          <p:spTgt spid="46"/>
                                        </p:tgtEl>
                                      </p:cBhvr>
                                    </p:animEffect>
                                  </p:childTnLst>
                                </p:cTn>
                              </p:par>
                            </p:childTnLst>
                          </p:cTn>
                        </p:par>
                        <p:par>
                          <p:cTn id="125" fill="hold">
                            <p:stCondLst>
                              <p:cond delay="7500"/>
                            </p:stCondLst>
                            <p:childTnLst>
                              <p:par>
                                <p:cTn id="126" presetID="22" presetClass="entr" presetSubtype="8" fill="hold" grpId="0" nodeType="afterEffect">
                                  <p:stCondLst>
                                    <p:cond delay="0"/>
                                  </p:stCondLst>
                                  <p:childTnLst>
                                    <p:set>
                                      <p:cBhvr>
                                        <p:cTn id="127" dur="1" fill="hold">
                                          <p:stCondLst>
                                            <p:cond delay="0"/>
                                          </p:stCondLst>
                                        </p:cTn>
                                        <p:tgtEl>
                                          <p:spTgt spid="72"/>
                                        </p:tgtEl>
                                        <p:attrNameLst>
                                          <p:attrName>style.visibility</p:attrName>
                                        </p:attrNameLst>
                                      </p:cBhvr>
                                      <p:to>
                                        <p:strVal val="visible"/>
                                      </p:to>
                                    </p:set>
                                    <p:animEffect transition="in" filter="wipe(left)">
                                      <p:cBhvr>
                                        <p:cTn id="128" dur="500"/>
                                        <p:tgtEl>
                                          <p:spTgt spid="72"/>
                                        </p:tgtEl>
                                      </p:cBhvr>
                                    </p:animEffect>
                                  </p:childTnLst>
                                </p:cTn>
                              </p:par>
                            </p:childTnLst>
                          </p:cTn>
                        </p:par>
                        <p:par>
                          <p:cTn id="129" fill="hold">
                            <p:stCondLst>
                              <p:cond delay="8000"/>
                            </p:stCondLst>
                            <p:childTnLst>
                              <p:par>
                                <p:cTn id="130" presetID="1" presetClass="exit" presetSubtype="0" fill="hold" nodeType="afterEffect">
                                  <p:stCondLst>
                                    <p:cond delay="0"/>
                                  </p:stCondLst>
                                  <p:childTnLst>
                                    <p:set>
                                      <p:cBhvr>
                                        <p:cTn id="131" dur="1" fill="hold">
                                          <p:stCondLst>
                                            <p:cond delay="0"/>
                                          </p:stCondLst>
                                        </p:cTn>
                                        <p:tgtEl>
                                          <p:spTgt spid="46"/>
                                        </p:tgtEl>
                                        <p:attrNameLst>
                                          <p:attrName>style.visibility</p:attrName>
                                        </p:attrNameLst>
                                      </p:cBhvr>
                                      <p:to>
                                        <p:strVal val="hidden"/>
                                      </p:to>
                                    </p:set>
                                  </p:childTnLst>
                                </p:cTn>
                              </p:par>
                            </p:childTnLst>
                          </p:cTn>
                        </p:par>
                        <p:par>
                          <p:cTn id="132" fill="hold">
                            <p:stCondLst>
                              <p:cond delay="8000"/>
                            </p:stCondLst>
                            <p:childTnLst>
                              <p:par>
                                <p:cTn id="133" presetID="22" presetClass="entr" presetSubtype="8" fill="hold" nodeType="after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wipe(left)">
                                      <p:cBhvr>
                                        <p:cTn id="135" dur="1000"/>
                                        <p:tgtEl>
                                          <p:spTgt spid="47"/>
                                        </p:tgtEl>
                                      </p:cBhvr>
                                    </p:animEffect>
                                  </p:childTnLst>
                                </p:cTn>
                              </p:par>
                            </p:childTnLst>
                          </p:cTn>
                        </p:par>
                        <p:par>
                          <p:cTn id="136" fill="hold">
                            <p:stCondLst>
                              <p:cond delay="9000"/>
                            </p:stCondLst>
                            <p:childTnLst>
                              <p:par>
                                <p:cTn id="137" presetID="22" presetClass="entr" presetSubtype="8" fill="hold" grpId="0" nodeType="afterEffect">
                                  <p:stCondLst>
                                    <p:cond delay="0"/>
                                  </p:stCondLst>
                                  <p:childTnLst>
                                    <p:set>
                                      <p:cBhvr>
                                        <p:cTn id="138" dur="1" fill="hold">
                                          <p:stCondLst>
                                            <p:cond delay="0"/>
                                          </p:stCondLst>
                                        </p:cTn>
                                        <p:tgtEl>
                                          <p:spTgt spid="73"/>
                                        </p:tgtEl>
                                        <p:attrNameLst>
                                          <p:attrName>style.visibility</p:attrName>
                                        </p:attrNameLst>
                                      </p:cBhvr>
                                      <p:to>
                                        <p:strVal val="visible"/>
                                      </p:to>
                                    </p:set>
                                    <p:animEffect transition="in" filter="wipe(left)">
                                      <p:cBhvr>
                                        <p:cTn id="139" dur="500"/>
                                        <p:tgtEl>
                                          <p:spTgt spid="73"/>
                                        </p:tgtEl>
                                      </p:cBhvr>
                                    </p:animEffect>
                                  </p:childTnLst>
                                </p:cTn>
                              </p:par>
                              <p:par>
                                <p:cTn id="140" presetID="1" presetClass="exit" presetSubtype="0" fill="hold" nodeType="withEffect">
                                  <p:stCondLst>
                                    <p:cond delay="0"/>
                                  </p:stCondLst>
                                  <p:childTnLst>
                                    <p:set>
                                      <p:cBhvr>
                                        <p:cTn id="141" dur="1" fill="hold">
                                          <p:stCondLst>
                                            <p:cond delay="0"/>
                                          </p:stCondLst>
                                        </p:cTn>
                                        <p:tgtEl>
                                          <p:spTgt spid="47"/>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35"/>
                                        </p:tgtEl>
                                        <p:attrNameLst>
                                          <p:attrName>style.visibility</p:attrName>
                                        </p:attrNameLst>
                                      </p:cBhvr>
                                      <p:to>
                                        <p:strVal val="visible"/>
                                      </p:to>
                                    </p:set>
                                    <p:animEffect transition="in" filter="wipe(left)">
                                      <p:cBhvr>
                                        <p:cTn id="146" dur="500"/>
                                        <p:tgtEl>
                                          <p:spTgt spid="35"/>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36"/>
                                        </p:tgtEl>
                                        <p:attrNameLst>
                                          <p:attrName>style.visibility</p:attrName>
                                        </p:attrNameLst>
                                      </p:cBhvr>
                                      <p:to>
                                        <p:strVal val="visible"/>
                                      </p:to>
                                    </p:set>
                                    <p:animEffect transition="in" filter="wipe(left)">
                                      <p:cBhvr>
                                        <p:cTn id="151" dur="500"/>
                                        <p:tgtEl>
                                          <p:spTgt spid="36"/>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39"/>
                                        </p:tgtEl>
                                        <p:attrNameLst>
                                          <p:attrName>style.visibility</p:attrName>
                                        </p:attrNameLst>
                                      </p:cBhvr>
                                      <p:to>
                                        <p:strVal val="visible"/>
                                      </p:to>
                                    </p:set>
                                    <p:animEffect transition="in" filter="wipe(left)">
                                      <p:cBhvr>
                                        <p:cTn id="156" dur="5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49"/>
                                        </p:tgtEl>
                                        <p:attrNameLst>
                                          <p:attrName>style.visibility</p:attrName>
                                        </p:attrNameLst>
                                      </p:cBhvr>
                                      <p:to>
                                        <p:strVal val="visible"/>
                                      </p:to>
                                    </p:set>
                                    <p:animEffect transition="in" filter="wipe(left)">
                                      <p:cBhvr>
                                        <p:cTn id="161" dur="500"/>
                                        <p:tgtEl>
                                          <p:spTgt spid="49"/>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1" nodeType="clickEffect">
                                  <p:stCondLst>
                                    <p:cond delay="0"/>
                                  </p:stCondLst>
                                  <p:childTnLst>
                                    <p:set>
                                      <p:cBhvr>
                                        <p:cTn id="165" dur="1" fill="hold">
                                          <p:stCondLst>
                                            <p:cond delay="0"/>
                                          </p:stCondLst>
                                        </p:cTn>
                                        <p:tgtEl>
                                          <p:spTgt spid="49"/>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28"/>
                                        </p:tgtEl>
                                        <p:attrNameLst>
                                          <p:attrName>style.visibility</p:attrName>
                                        </p:attrNameLst>
                                      </p:cBhvr>
                                      <p:to>
                                        <p:strVal val="visible"/>
                                      </p:to>
                                    </p:set>
                                    <p:animEffect transition="in" filter="wipe(left)">
                                      <p:cBhvr>
                                        <p:cTn id="170" dur="500"/>
                                        <p:tgtEl>
                                          <p:spTgt spid="28"/>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26"/>
                                        </p:tgtEl>
                                        <p:attrNameLst>
                                          <p:attrName>style.visibility</p:attrName>
                                        </p:attrNameLst>
                                      </p:cBhvr>
                                      <p:to>
                                        <p:strVal val="visible"/>
                                      </p:to>
                                    </p:set>
                                    <p:animEffect transition="in" filter="wipe(left)">
                                      <p:cBhvr>
                                        <p:cTn id="175" dur="500"/>
                                        <p:tgtEl>
                                          <p:spTgt spid="26"/>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grpId="0" nodeType="clickEffect">
                                  <p:stCondLst>
                                    <p:cond delay="0"/>
                                  </p:stCondLst>
                                  <p:childTnLst>
                                    <p:set>
                                      <p:cBhvr>
                                        <p:cTn id="179" dur="1" fill="hold">
                                          <p:stCondLst>
                                            <p:cond delay="0"/>
                                          </p:stCondLst>
                                        </p:cTn>
                                        <p:tgtEl>
                                          <p:spTgt spid="40"/>
                                        </p:tgtEl>
                                        <p:attrNameLst>
                                          <p:attrName>style.visibility</p:attrName>
                                        </p:attrNameLst>
                                      </p:cBhvr>
                                      <p:to>
                                        <p:strVal val="visible"/>
                                      </p:to>
                                    </p:set>
                                    <p:animEffect transition="in" filter="wipe(left)">
                                      <p:cBhvr>
                                        <p:cTn id="180" dur="500"/>
                                        <p:tgtEl>
                                          <p:spTgt spid="40"/>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grpId="0" nodeType="clickEffect">
                                  <p:stCondLst>
                                    <p:cond delay="0"/>
                                  </p:stCondLst>
                                  <p:childTnLst>
                                    <p:set>
                                      <p:cBhvr>
                                        <p:cTn id="184" dur="1" fill="hold">
                                          <p:stCondLst>
                                            <p:cond delay="0"/>
                                          </p:stCondLst>
                                        </p:cTn>
                                        <p:tgtEl>
                                          <p:spTgt spid="27"/>
                                        </p:tgtEl>
                                        <p:attrNameLst>
                                          <p:attrName>style.visibility</p:attrName>
                                        </p:attrNameLst>
                                      </p:cBhvr>
                                      <p:to>
                                        <p:strVal val="visible"/>
                                      </p:to>
                                    </p:set>
                                    <p:animEffect transition="in" filter="wipe(left)">
                                      <p:cBhvr>
                                        <p:cTn id="185" dur="500"/>
                                        <p:tgtEl>
                                          <p:spTgt spid="27"/>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wipe(left)">
                                      <p:cBhvr>
                                        <p:cTn id="190" dur="500"/>
                                        <p:tgtEl>
                                          <p:spTgt spid="52"/>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54"/>
                                        </p:tgtEl>
                                        <p:attrNameLst>
                                          <p:attrName>style.visibility</p:attrName>
                                        </p:attrNameLst>
                                      </p:cBhvr>
                                      <p:to>
                                        <p:strVal val="visible"/>
                                      </p:to>
                                    </p:set>
                                    <p:animEffect transition="in" filter="wipe(left)">
                                      <p:cBhvr>
                                        <p:cTn id="195" dur="500"/>
                                        <p:tgtEl>
                                          <p:spTgt spid="54"/>
                                        </p:tgtEl>
                                      </p:cBhvr>
                                    </p:animEffect>
                                  </p:childTnLst>
                                </p:cTn>
                              </p:par>
                            </p:childTnLst>
                          </p:cTn>
                        </p:par>
                        <p:par>
                          <p:cTn id="196" fill="hold">
                            <p:stCondLst>
                              <p:cond delay="500"/>
                            </p:stCondLst>
                            <p:childTnLst>
                              <p:par>
                                <p:cTn id="197" presetID="22" presetClass="entr" presetSubtype="8" fill="hold" grpId="0" nodeType="afterEffect">
                                  <p:stCondLst>
                                    <p:cond delay="0"/>
                                  </p:stCondLst>
                                  <p:childTnLst>
                                    <p:set>
                                      <p:cBhvr>
                                        <p:cTn id="198" dur="1" fill="hold">
                                          <p:stCondLst>
                                            <p:cond delay="0"/>
                                          </p:stCondLst>
                                        </p:cTn>
                                        <p:tgtEl>
                                          <p:spTgt spid="50"/>
                                        </p:tgtEl>
                                        <p:attrNameLst>
                                          <p:attrName>style.visibility</p:attrName>
                                        </p:attrNameLst>
                                      </p:cBhvr>
                                      <p:to>
                                        <p:strVal val="visible"/>
                                      </p:to>
                                    </p:set>
                                    <p:animEffect transition="in" filter="wipe(left)">
                                      <p:cBhvr>
                                        <p:cTn id="199" dur="500"/>
                                        <p:tgtEl>
                                          <p:spTgt spid="50"/>
                                        </p:tgtEl>
                                      </p:cBhvr>
                                    </p:animEffect>
                                  </p:childTnLst>
                                </p:cTn>
                              </p:par>
                            </p:childTnLst>
                          </p:cTn>
                        </p:par>
                        <p:par>
                          <p:cTn id="200" fill="hold">
                            <p:stCondLst>
                              <p:cond delay="1000"/>
                            </p:stCondLst>
                            <p:childTnLst>
                              <p:par>
                                <p:cTn id="201" presetID="22" presetClass="entr" presetSubtype="8" fill="hold" grpId="0" nodeType="afterEffect">
                                  <p:stCondLst>
                                    <p:cond delay="0"/>
                                  </p:stCondLst>
                                  <p:childTnLst>
                                    <p:set>
                                      <p:cBhvr>
                                        <p:cTn id="202" dur="1" fill="hold">
                                          <p:stCondLst>
                                            <p:cond delay="0"/>
                                          </p:stCondLst>
                                        </p:cTn>
                                        <p:tgtEl>
                                          <p:spTgt spid="55"/>
                                        </p:tgtEl>
                                        <p:attrNameLst>
                                          <p:attrName>style.visibility</p:attrName>
                                        </p:attrNameLst>
                                      </p:cBhvr>
                                      <p:to>
                                        <p:strVal val="visible"/>
                                      </p:to>
                                    </p:set>
                                    <p:animEffect transition="in" filter="wipe(left)">
                                      <p:cBhvr>
                                        <p:cTn id="203" dur="500"/>
                                        <p:tgtEl>
                                          <p:spTgt spid="55"/>
                                        </p:tgtEl>
                                      </p:cBhvr>
                                    </p:animEffect>
                                  </p:childTnLst>
                                </p:cTn>
                              </p:par>
                            </p:childTnLst>
                          </p:cTn>
                        </p:par>
                        <p:par>
                          <p:cTn id="204" fill="hold">
                            <p:stCondLst>
                              <p:cond delay="1500"/>
                            </p:stCondLst>
                            <p:childTnLst>
                              <p:par>
                                <p:cTn id="205" presetID="22" presetClass="entr" presetSubtype="8" fill="hold" grpId="0" nodeType="afterEffect">
                                  <p:stCondLst>
                                    <p:cond delay="0"/>
                                  </p:stCondLst>
                                  <p:childTnLst>
                                    <p:set>
                                      <p:cBhvr>
                                        <p:cTn id="206" dur="1" fill="hold">
                                          <p:stCondLst>
                                            <p:cond delay="0"/>
                                          </p:stCondLst>
                                        </p:cTn>
                                        <p:tgtEl>
                                          <p:spTgt spid="56"/>
                                        </p:tgtEl>
                                        <p:attrNameLst>
                                          <p:attrName>style.visibility</p:attrName>
                                        </p:attrNameLst>
                                      </p:cBhvr>
                                      <p:to>
                                        <p:strVal val="visible"/>
                                      </p:to>
                                    </p:set>
                                    <p:animEffect transition="in" filter="wipe(left)">
                                      <p:cBhvr>
                                        <p:cTn id="207" dur="500"/>
                                        <p:tgtEl>
                                          <p:spTgt spid="56"/>
                                        </p:tgtEl>
                                      </p:cBhvr>
                                    </p:animEffect>
                                  </p:childTnLst>
                                </p:cTn>
                              </p:par>
                            </p:childTnLst>
                          </p:cTn>
                        </p:par>
                        <p:par>
                          <p:cTn id="208" fill="hold">
                            <p:stCondLst>
                              <p:cond delay="2000"/>
                            </p:stCondLst>
                            <p:childTnLst>
                              <p:par>
                                <p:cTn id="209" presetID="22" presetClass="entr" presetSubtype="8" fill="hold" grpId="0" nodeType="afterEffect">
                                  <p:stCondLst>
                                    <p:cond delay="0"/>
                                  </p:stCondLst>
                                  <p:childTnLst>
                                    <p:set>
                                      <p:cBhvr>
                                        <p:cTn id="210" dur="1" fill="hold">
                                          <p:stCondLst>
                                            <p:cond delay="0"/>
                                          </p:stCondLst>
                                        </p:cTn>
                                        <p:tgtEl>
                                          <p:spTgt spid="57"/>
                                        </p:tgtEl>
                                        <p:attrNameLst>
                                          <p:attrName>style.visibility</p:attrName>
                                        </p:attrNameLst>
                                      </p:cBhvr>
                                      <p:to>
                                        <p:strVal val="visible"/>
                                      </p:to>
                                    </p:set>
                                    <p:animEffect transition="in" filter="wipe(left)">
                                      <p:cBhvr>
                                        <p:cTn id="211" dur="500"/>
                                        <p:tgtEl>
                                          <p:spTgt spid="57"/>
                                        </p:tgtEl>
                                      </p:cBhvr>
                                    </p:animEffect>
                                  </p:childTnLst>
                                </p:cTn>
                              </p:par>
                            </p:childTnLst>
                          </p:cTn>
                        </p:par>
                        <p:par>
                          <p:cTn id="212" fill="hold">
                            <p:stCondLst>
                              <p:cond delay="2500"/>
                            </p:stCondLst>
                            <p:childTnLst>
                              <p:par>
                                <p:cTn id="213" presetID="22" presetClass="entr" presetSubtype="8" fill="hold" grpId="0" nodeType="afterEffect">
                                  <p:stCondLst>
                                    <p:cond delay="0"/>
                                  </p:stCondLst>
                                  <p:childTnLst>
                                    <p:set>
                                      <p:cBhvr>
                                        <p:cTn id="214" dur="1" fill="hold">
                                          <p:stCondLst>
                                            <p:cond delay="0"/>
                                          </p:stCondLst>
                                        </p:cTn>
                                        <p:tgtEl>
                                          <p:spTgt spid="58"/>
                                        </p:tgtEl>
                                        <p:attrNameLst>
                                          <p:attrName>style.visibility</p:attrName>
                                        </p:attrNameLst>
                                      </p:cBhvr>
                                      <p:to>
                                        <p:strVal val="visible"/>
                                      </p:to>
                                    </p:set>
                                    <p:animEffect transition="in" filter="wipe(left)">
                                      <p:cBhvr>
                                        <p:cTn id="215" dur="500"/>
                                        <p:tgtEl>
                                          <p:spTgt spid="58"/>
                                        </p:tgtEl>
                                      </p:cBhvr>
                                    </p:animEffect>
                                  </p:childTnLst>
                                </p:cTn>
                              </p:par>
                            </p:childTnLst>
                          </p:cTn>
                        </p:par>
                        <p:par>
                          <p:cTn id="216" fill="hold">
                            <p:stCondLst>
                              <p:cond delay="3000"/>
                            </p:stCondLst>
                            <p:childTnLst>
                              <p:par>
                                <p:cTn id="217" presetID="22" presetClass="entr" presetSubtype="8" fill="hold" grpId="0" nodeType="afterEffect">
                                  <p:stCondLst>
                                    <p:cond delay="0"/>
                                  </p:stCondLst>
                                  <p:childTnLst>
                                    <p:set>
                                      <p:cBhvr>
                                        <p:cTn id="218" dur="1" fill="hold">
                                          <p:stCondLst>
                                            <p:cond delay="0"/>
                                          </p:stCondLst>
                                        </p:cTn>
                                        <p:tgtEl>
                                          <p:spTgt spid="59"/>
                                        </p:tgtEl>
                                        <p:attrNameLst>
                                          <p:attrName>style.visibility</p:attrName>
                                        </p:attrNameLst>
                                      </p:cBhvr>
                                      <p:to>
                                        <p:strVal val="visible"/>
                                      </p:to>
                                    </p:set>
                                    <p:animEffect transition="in" filter="wipe(left)">
                                      <p:cBhvr>
                                        <p:cTn id="219" dur="500"/>
                                        <p:tgtEl>
                                          <p:spTgt spid="59"/>
                                        </p:tgtEl>
                                      </p:cBhvr>
                                    </p:animEffect>
                                  </p:childTnLst>
                                </p:cTn>
                              </p:par>
                            </p:childTnLst>
                          </p:cTn>
                        </p:par>
                      </p:childTnLst>
                    </p:cTn>
                  </p:par>
                  <p:par>
                    <p:cTn id="220" fill="hold">
                      <p:stCondLst>
                        <p:cond delay="indefinite"/>
                      </p:stCondLst>
                      <p:childTnLst>
                        <p:par>
                          <p:cTn id="221" fill="hold">
                            <p:stCondLst>
                              <p:cond delay="0"/>
                            </p:stCondLst>
                            <p:childTnLst>
                              <p:par>
                                <p:cTn id="222" presetID="22" presetClass="entr" presetSubtype="8" fill="hold" nodeType="clickEffect">
                                  <p:stCondLst>
                                    <p:cond delay="0"/>
                                  </p:stCondLst>
                                  <p:childTnLst>
                                    <p:set>
                                      <p:cBhvr>
                                        <p:cTn id="223" dur="1" fill="hold">
                                          <p:stCondLst>
                                            <p:cond delay="0"/>
                                          </p:stCondLst>
                                        </p:cTn>
                                        <p:tgtEl>
                                          <p:spTgt spid="60"/>
                                        </p:tgtEl>
                                        <p:attrNameLst>
                                          <p:attrName>style.visibility</p:attrName>
                                        </p:attrNameLst>
                                      </p:cBhvr>
                                      <p:to>
                                        <p:strVal val="visible"/>
                                      </p:to>
                                    </p:set>
                                    <p:animEffect transition="in" filter="wipe(left)">
                                      <p:cBhvr>
                                        <p:cTn id="224" dur="500"/>
                                        <p:tgtEl>
                                          <p:spTgt spid="60"/>
                                        </p:tgtEl>
                                      </p:cBhvr>
                                    </p:animEffect>
                                  </p:childTnLst>
                                </p:cTn>
                              </p:par>
                            </p:childTnLst>
                          </p:cTn>
                        </p:par>
                      </p:childTnLst>
                    </p:cTn>
                  </p:par>
                  <p:par>
                    <p:cTn id="225" fill="hold">
                      <p:stCondLst>
                        <p:cond delay="indefinite"/>
                      </p:stCondLst>
                      <p:childTnLst>
                        <p:par>
                          <p:cTn id="226" fill="hold">
                            <p:stCondLst>
                              <p:cond delay="0"/>
                            </p:stCondLst>
                            <p:childTnLst>
                              <p:par>
                                <p:cTn id="227" presetID="22" presetClass="entr" presetSubtype="8" fill="hold" grpId="0" nodeType="clickEffect">
                                  <p:stCondLst>
                                    <p:cond delay="0"/>
                                  </p:stCondLst>
                                  <p:childTnLst>
                                    <p:set>
                                      <p:cBhvr>
                                        <p:cTn id="228" dur="1" fill="hold">
                                          <p:stCondLst>
                                            <p:cond delay="0"/>
                                          </p:stCondLst>
                                        </p:cTn>
                                        <p:tgtEl>
                                          <p:spTgt spid="61"/>
                                        </p:tgtEl>
                                        <p:attrNameLst>
                                          <p:attrName>style.visibility</p:attrName>
                                        </p:attrNameLst>
                                      </p:cBhvr>
                                      <p:to>
                                        <p:strVal val="visible"/>
                                      </p:to>
                                    </p:set>
                                    <p:animEffect transition="in" filter="wipe(left)">
                                      <p:cBhvr>
                                        <p:cTn id="229"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0" grpId="0" animBg="1"/>
      <p:bldP spid="36" grpId="0"/>
      <p:bldP spid="2" grpId="0" animBg="1"/>
      <p:bldP spid="30" grpId="0"/>
      <p:bldP spid="28" grpId="0" animBg="1"/>
      <p:bldP spid="39" grpId="0" animBg="1"/>
      <p:bldP spid="40" grpId="0" animBg="1"/>
      <p:bldP spid="27" grpId="0" animBg="1"/>
      <p:bldP spid="54" grpId="0"/>
      <p:bldP spid="55" grpId="0"/>
      <p:bldP spid="56" grpId="0"/>
      <p:bldP spid="57" grpId="0"/>
      <p:bldP spid="58" grpId="0"/>
      <p:bldP spid="59" grpId="0"/>
      <p:bldP spid="61" grpId="0"/>
      <p:bldP spid="66" grpId="0"/>
      <p:bldP spid="69" grpId="0"/>
      <p:bldP spid="70" grpId="0"/>
      <p:bldP spid="71" grpId="0"/>
      <p:bldP spid="72" grpId="0"/>
      <p:bldP spid="73" grpId="0"/>
      <p:bldP spid="48" grpId="0" animBg="1"/>
      <p:bldP spid="48" grpId="1" animBg="1"/>
      <p:bldP spid="49" grpId="0" animBg="1"/>
      <p:bldP spid="49" grpId="1" animBg="1"/>
      <p:bldP spid="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9672" y="1675148"/>
            <a:ext cx="1260140" cy="2200349"/>
          </a:xfrm>
          <a:prstGeom prst="rect">
            <a:avLst/>
          </a:prstGeom>
        </p:spPr>
      </p:pic>
      <p:sp>
        <p:nvSpPr>
          <p:cNvPr id="2" name="Rectangle 1"/>
          <p:cNvSpPr/>
          <p:nvPr/>
        </p:nvSpPr>
        <p:spPr>
          <a:xfrm>
            <a:off x="858609" y="588824"/>
            <a:ext cx="7661649" cy="1754326"/>
          </a:xfrm>
          <a:prstGeom prst="rect">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wrap="none" lIns="91440" tIns="45720" rIns="91440" bIns="45720">
            <a:spAutoFit/>
          </a:bodyPr>
          <a:lstStyle/>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All Possible Outcome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o</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f </a:t>
            </a:r>
          </a:p>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Tossing Coin Experiment</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5896" y="1707653"/>
            <a:ext cx="1260140" cy="2200349"/>
          </a:xfrm>
          <a:prstGeom prst="rect">
            <a:avLst/>
          </a:prstGeom>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0092" y="1739553"/>
            <a:ext cx="1260140" cy="2200349"/>
          </a:xfrm>
          <a:prstGeom prst="rect">
            <a:avLst/>
          </a:prstGeom>
        </p:spPr>
      </p:pic>
    </p:spTree>
    <p:extLst>
      <p:ext uri="{BB962C8B-B14F-4D97-AF65-F5344CB8AC3E}">
        <p14:creationId xmlns:p14="http://schemas.microsoft.com/office/powerpoint/2010/main" val="271049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coin-flip.jpg"/>
          <p:cNvPicPr>
            <a:picLocks noChangeAspect="1"/>
          </p:cNvPicPr>
          <p:nvPr/>
        </p:nvPicPr>
        <p:blipFill>
          <a:blip r:embed="rId2" cstate="print"/>
          <a:stretch>
            <a:fillRect/>
          </a:stretch>
        </p:blipFill>
        <p:spPr>
          <a:xfrm>
            <a:off x="5182741" y="1850123"/>
            <a:ext cx="1600183" cy="2881867"/>
          </a:xfrm>
          <a:prstGeom prst="rect">
            <a:avLst/>
          </a:prstGeom>
        </p:spPr>
      </p:pic>
      <p:sp>
        <p:nvSpPr>
          <p:cNvPr id="14" name="TextBox 13"/>
          <p:cNvSpPr txBox="1"/>
          <p:nvPr/>
        </p:nvSpPr>
        <p:spPr>
          <a:xfrm>
            <a:off x="285720" y="650698"/>
            <a:ext cx="2071702" cy="338554"/>
          </a:xfrm>
          <a:prstGeom prst="rect">
            <a:avLst/>
          </a:prstGeom>
          <a:noFill/>
        </p:spPr>
        <p:txBody>
          <a:bodyPr wrap="square" rtlCol="0">
            <a:spAutoFit/>
          </a:bodyPr>
          <a:lstStyle/>
          <a:p>
            <a:pPr>
              <a:defRPr/>
            </a:pPr>
            <a:r>
              <a:rPr lang="en-US" sz="1600" b="1" kern="0" dirty="0" smtClean="0">
                <a:solidFill>
                  <a:sysClr val="windowText" lastClr="000000"/>
                </a:solidFill>
                <a:latin typeface="Bookman Old Style" pitchFamily="18" charset="0"/>
              </a:rPr>
              <a:t>		         </a:t>
            </a:r>
            <a:endParaRPr lang="en-IN" sz="1600" b="1" kern="0" dirty="0">
              <a:solidFill>
                <a:sysClr val="windowText" lastClr="000000"/>
              </a:solidFill>
              <a:latin typeface="Bookman Old Style" pitchFamily="18" charset="0"/>
            </a:endParaRPr>
          </a:p>
        </p:txBody>
      </p:sp>
      <p:sp>
        <p:nvSpPr>
          <p:cNvPr id="15" name="TextBox 14"/>
          <p:cNvSpPr txBox="1"/>
          <p:nvPr/>
        </p:nvSpPr>
        <p:spPr>
          <a:xfrm>
            <a:off x="533399" y="555526"/>
            <a:ext cx="2307333" cy="369332"/>
          </a:xfrm>
          <a:prstGeom prst="rect">
            <a:avLst/>
          </a:prstGeom>
          <a:solidFill>
            <a:srgbClr val="66FFFF"/>
          </a:solidFill>
          <a:ln w="28575">
            <a:solidFill>
              <a:schemeClr val="tx1"/>
            </a:solidFill>
          </a:ln>
          <a:effectLst>
            <a:softEdge rad="12700"/>
          </a:effectLst>
          <a:scene3d>
            <a:camera prst="orthographicFront">
              <a:rot lat="0" lon="0" rev="0"/>
            </a:camera>
            <a:lightRig rig="threePt" dir="t">
              <a:rot lat="0" lon="0" rev="1200000"/>
            </a:lightRig>
          </a:scene3d>
          <a:sp3d>
            <a:bevelT/>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sysClr val="window" lastClr="FFFFFF"/>
                </a:solidFill>
                <a:effectLst/>
                <a:uLnTx/>
                <a:uFillTx/>
                <a:latin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dirty="0">
                <a:solidFill>
                  <a:prstClr val="black"/>
                </a:solidFill>
                <a:latin typeface="Bookman Old Style" pitchFamily="18" charset="0"/>
              </a:rPr>
              <a:t>A Coin is Tossed</a:t>
            </a:r>
            <a:endParaRPr lang="en-IN" b="1" dirty="0">
              <a:solidFill>
                <a:prstClr val="black"/>
              </a:solidFill>
              <a:latin typeface="Bookman Old Style" pitchFamily="18" charset="0"/>
            </a:endParaRPr>
          </a:p>
        </p:txBody>
      </p:sp>
      <p:pic>
        <p:nvPicPr>
          <p:cNvPr id="16" name="Picture 15" descr="001978 India 1 RupeeA.jpg"/>
          <p:cNvPicPr>
            <a:picLocks noChangeAspect="1"/>
          </p:cNvPicPr>
          <p:nvPr/>
        </p:nvPicPr>
        <p:blipFill>
          <a:blip r:embed="rId3" cstate="print"/>
          <a:stretch>
            <a:fillRect/>
          </a:stretch>
        </p:blipFill>
        <p:spPr>
          <a:xfrm>
            <a:off x="533400" y="989252"/>
            <a:ext cx="1323807" cy="1343465"/>
          </a:xfrm>
          <a:prstGeom prst="ellipse">
            <a:avLst/>
          </a:prstGeom>
          <a:ln>
            <a:noFill/>
          </a:ln>
          <a:effectLst>
            <a:softEdge rad="112500"/>
          </a:effectLst>
        </p:spPr>
      </p:pic>
      <p:pic>
        <p:nvPicPr>
          <p:cNvPr id="17" name="Picture 16" descr="001978 India 1 RupeeB.jpg"/>
          <p:cNvPicPr>
            <a:picLocks noChangeAspect="1"/>
          </p:cNvPicPr>
          <p:nvPr/>
        </p:nvPicPr>
        <p:blipFill>
          <a:blip r:embed="rId4" cstate="print"/>
          <a:stretch>
            <a:fillRect/>
          </a:stretch>
        </p:blipFill>
        <p:spPr>
          <a:xfrm>
            <a:off x="2183576" y="985853"/>
            <a:ext cx="1276386" cy="1341775"/>
          </a:xfrm>
          <a:prstGeom prst="ellipse">
            <a:avLst/>
          </a:prstGeom>
          <a:ln>
            <a:noFill/>
          </a:ln>
          <a:effectLst>
            <a:softEdge rad="112500"/>
          </a:effectLst>
        </p:spPr>
      </p:pic>
      <p:sp>
        <p:nvSpPr>
          <p:cNvPr id="20" name="TextBox 19"/>
          <p:cNvSpPr txBox="1"/>
          <p:nvPr/>
        </p:nvSpPr>
        <p:spPr>
          <a:xfrm>
            <a:off x="873832" y="2332717"/>
            <a:ext cx="642942" cy="338554"/>
          </a:xfrm>
          <a:prstGeom prst="rect">
            <a:avLst/>
          </a:prstGeom>
          <a:noFill/>
        </p:spPr>
        <p:txBody>
          <a:bodyPr wrap="square" rtlCol="0">
            <a:spAutoFit/>
          </a:bodyPr>
          <a:lstStyle/>
          <a:p>
            <a:r>
              <a:rPr lang="en-US" sz="1600" b="1" dirty="0" smtClean="0">
                <a:solidFill>
                  <a:prstClr val="black"/>
                </a:solidFill>
                <a:latin typeface="Bookman Old Style" pitchFamily="18" charset="0"/>
                <a:cs typeface="AngsanaUPC" pitchFamily="18" charset="-34"/>
              </a:rPr>
              <a:t>H</a:t>
            </a:r>
            <a:endParaRPr lang="en-IN" sz="1600" b="1" dirty="0">
              <a:solidFill>
                <a:prstClr val="black"/>
              </a:solidFill>
              <a:latin typeface="Bookman Old Style" pitchFamily="18" charset="0"/>
              <a:cs typeface="AngsanaUPC" pitchFamily="18" charset="-34"/>
            </a:endParaRPr>
          </a:p>
        </p:txBody>
      </p:sp>
      <p:sp>
        <p:nvSpPr>
          <p:cNvPr id="21" name="TextBox 20"/>
          <p:cNvSpPr txBox="1"/>
          <p:nvPr/>
        </p:nvSpPr>
        <p:spPr>
          <a:xfrm>
            <a:off x="2656367" y="2355471"/>
            <a:ext cx="642942" cy="338554"/>
          </a:xfrm>
          <a:prstGeom prst="rect">
            <a:avLst/>
          </a:prstGeom>
          <a:noFill/>
        </p:spPr>
        <p:txBody>
          <a:bodyPr wrap="square" rtlCol="0">
            <a:spAutoFit/>
          </a:bodyPr>
          <a:lstStyle/>
          <a:p>
            <a:r>
              <a:rPr lang="en-US" sz="1600" b="1" dirty="0" smtClean="0">
                <a:solidFill>
                  <a:prstClr val="black"/>
                </a:solidFill>
                <a:latin typeface="Bookman Old Style" pitchFamily="18" charset="0"/>
                <a:cs typeface="AngsanaUPC" pitchFamily="18" charset="-34"/>
              </a:rPr>
              <a:t>T</a:t>
            </a:r>
            <a:endParaRPr lang="en-IN" sz="1600" b="1" dirty="0">
              <a:solidFill>
                <a:prstClr val="black"/>
              </a:solidFill>
              <a:latin typeface="Bookman Old Style" pitchFamily="18" charset="0"/>
              <a:cs typeface="AngsanaUPC" pitchFamily="18" charset="-34"/>
            </a:endParaRPr>
          </a:p>
        </p:txBody>
      </p:sp>
      <p:sp>
        <p:nvSpPr>
          <p:cNvPr id="19" name="TextBox 18"/>
          <p:cNvSpPr txBox="1"/>
          <p:nvPr/>
        </p:nvSpPr>
        <p:spPr>
          <a:xfrm>
            <a:off x="533400" y="2917726"/>
            <a:ext cx="4614664" cy="646331"/>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dirty="0">
                <a:latin typeface="Bookman Old Style" pitchFamily="18" charset="0"/>
              </a:rPr>
              <a:t>All possible outcomes are H, T</a:t>
            </a:r>
          </a:p>
          <a:p>
            <a:r>
              <a:rPr lang="en-US" b="1" dirty="0">
                <a:latin typeface="Bookman Old Style" pitchFamily="18" charset="0"/>
              </a:rPr>
              <a:t>Number of all possible outcomes = 2</a:t>
            </a:r>
            <a:endParaRPr lang="en-IN" b="1" dirty="0">
              <a:latin typeface="Bookman Old Style" pitchFamily="18" charset="0"/>
            </a:endParaRPr>
          </a:p>
        </p:txBody>
      </p:sp>
    </p:spTree>
    <p:extLst>
      <p:ext uri="{BB962C8B-B14F-4D97-AF65-F5344CB8AC3E}">
        <p14:creationId xmlns:p14="http://schemas.microsoft.com/office/powerpoint/2010/main" val="96273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10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10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up)">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p:bldP spid="21" grpId="0"/>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3" descr="001978 India 1 RupeeA.jpg"/>
          <p:cNvPicPr>
            <a:picLocks noChangeAspect="1"/>
          </p:cNvPicPr>
          <p:nvPr/>
        </p:nvPicPr>
        <p:blipFill>
          <a:blip r:embed="rId3" cstate="print"/>
          <a:stretch>
            <a:fillRect/>
          </a:stretch>
        </p:blipFill>
        <p:spPr>
          <a:xfrm>
            <a:off x="606178" y="646671"/>
            <a:ext cx="1097280" cy="1113576"/>
          </a:xfrm>
          <a:prstGeom prst="ellipse">
            <a:avLst/>
          </a:prstGeom>
          <a:ln>
            <a:noFill/>
          </a:ln>
          <a:effectLst>
            <a:softEdge rad="112500"/>
          </a:effectLst>
        </p:spPr>
      </p:pic>
      <p:sp>
        <p:nvSpPr>
          <p:cNvPr id="75" name="Rounded Rectangular Callout 26"/>
          <p:cNvSpPr/>
          <p:nvPr/>
        </p:nvSpPr>
        <p:spPr>
          <a:xfrm>
            <a:off x="615748" y="1503703"/>
            <a:ext cx="1981200" cy="548640"/>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39956">
                <a:moveTo>
                  <a:pt x="0" y="241054"/>
                </a:moveTo>
                <a:cubicBezTo>
                  <a:pt x="0" y="208037"/>
                  <a:pt x="26765" y="181272"/>
                  <a:pt x="59782" y="181272"/>
                </a:cubicBezTo>
                <a:lnTo>
                  <a:pt x="330200" y="181272"/>
                </a:lnTo>
                <a:lnTo>
                  <a:pt x="535320" y="0"/>
                </a:lnTo>
                <a:lnTo>
                  <a:pt x="602217" y="192073"/>
                </a:lnTo>
                <a:lnTo>
                  <a:pt x="1921418" y="181272"/>
                </a:lnTo>
                <a:cubicBezTo>
                  <a:pt x="1954435" y="181272"/>
                  <a:pt x="1981200" y="208037"/>
                  <a:pt x="1981200" y="241054"/>
                </a:cubicBezTo>
                <a:lnTo>
                  <a:pt x="1981200" y="241053"/>
                </a:lnTo>
                <a:lnTo>
                  <a:pt x="1981200" y="241053"/>
                </a:lnTo>
                <a:lnTo>
                  <a:pt x="1981200" y="330724"/>
                </a:lnTo>
                <a:lnTo>
                  <a:pt x="1981200" y="480174"/>
                </a:lnTo>
                <a:cubicBezTo>
                  <a:pt x="1981200" y="513191"/>
                  <a:pt x="1954435" y="539956"/>
                  <a:pt x="1921418" y="539956"/>
                </a:cubicBezTo>
                <a:lnTo>
                  <a:pt x="825500" y="539956"/>
                </a:lnTo>
                <a:lnTo>
                  <a:pt x="330200" y="539956"/>
                </a:lnTo>
                <a:lnTo>
                  <a:pt x="330200" y="539956"/>
                </a:lnTo>
                <a:lnTo>
                  <a:pt x="59782" y="539956"/>
                </a:lnTo>
                <a:cubicBezTo>
                  <a:pt x="26765" y="539956"/>
                  <a:pt x="0" y="513191"/>
                  <a:pt x="0" y="480174"/>
                </a:cubicBezTo>
                <a:lnTo>
                  <a:pt x="0" y="330724"/>
                </a:lnTo>
                <a:lnTo>
                  <a:pt x="0" y="241053"/>
                </a:lnTo>
                <a:lnTo>
                  <a:pt x="0" y="241053"/>
                </a:lnTo>
                <a:lnTo>
                  <a:pt x="0" y="241054"/>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77" name="TextBox 76"/>
          <p:cNvSpPr txBox="1"/>
          <p:nvPr/>
        </p:nvSpPr>
        <p:spPr>
          <a:xfrm>
            <a:off x="2991426" y="733775"/>
            <a:ext cx="2377440" cy="771346"/>
          </a:xfrm>
          <a:prstGeom prst="snip2Diag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sz="1600" b="1" dirty="0">
                <a:latin typeface="Bookman Old Style" pitchFamily="18" charset="0"/>
              </a:rPr>
              <a:t>2 Coins are Tossed</a:t>
            </a:r>
          </a:p>
          <a:p>
            <a:r>
              <a:rPr lang="en-US" sz="1600" b="1" dirty="0" smtClean="0">
                <a:latin typeface="Bookman Old Style" pitchFamily="18" charset="0"/>
              </a:rPr>
              <a:t>Together</a:t>
            </a:r>
            <a:endParaRPr lang="en-IN" sz="1600" b="1" dirty="0">
              <a:latin typeface="Bookman Old Style" pitchFamily="18" charset="0"/>
            </a:endParaRPr>
          </a:p>
        </p:txBody>
      </p:sp>
      <p:pic>
        <p:nvPicPr>
          <p:cNvPr id="78" name="Picture 77" descr="001978 India 1 RupeeB.jpg"/>
          <p:cNvPicPr>
            <a:picLocks noChangeAspect="1"/>
          </p:cNvPicPr>
          <p:nvPr/>
        </p:nvPicPr>
        <p:blipFill>
          <a:blip r:embed="rId4" cstate="print"/>
          <a:stretch>
            <a:fillRect/>
          </a:stretch>
        </p:blipFill>
        <p:spPr>
          <a:xfrm>
            <a:off x="5459175" y="642647"/>
            <a:ext cx="1097280" cy="1153496"/>
          </a:xfrm>
          <a:prstGeom prst="ellipse">
            <a:avLst/>
          </a:prstGeom>
          <a:ln>
            <a:noFill/>
          </a:ln>
          <a:effectLst>
            <a:softEdge rad="112500"/>
          </a:effectLst>
        </p:spPr>
      </p:pic>
      <p:pic>
        <p:nvPicPr>
          <p:cNvPr id="79" name="Picture 78" descr="001978 India 1 RupeeA.jpg"/>
          <p:cNvPicPr>
            <a:picLocks noChangeAspect="1"/>
          </p:cNvPicPr>
          <p:nvPr/>
        </p:nvPicPr>
        <p:blipFill>
          <a:blip r:embed="rId3" cstate="print"/>
          <a:stretch>
            <a:fillRect/>
          </a:stretch>
        </p:blipFill>
        <p:spPr>
          <a:xfrm>
            <a:off x="6564075" y="636309"/>
            <a:ext cx="1097280" cy="1113576"/>
          </a:xfrm>
          <a:prstGeom prst="ellipse">
            <a:avLst/>
          </a:prstGeom>
          <a:ln>
            <a:noFill/>
          </a:ln>
          <a:effectLst>
            <a:softEdge rad="112500"/>
          </a:effectLst>
        </p:spPr>
      </p:pic>
      <p:pic>
        <p:nvPicPr>
          <p:cNvPr id="80" name="Picture 79" descr="001978 India 1 RupeeB.jpg"/>
          <p:cNvPicPr>
            <a:picLocks noChangeAspect="1"/>
          </p:cNvPicPr>
          <p:nvPr/>
        </p:nvPicPr>
        <p:blipFill>
          <a:blip r:embed="rId4" cstate="print"/>
          <a:stretch>
            <a:fillRect/>
          </a:stretch>
        </p:blipFill>
        <p:spPr>
          <a:xfrm>
            <a:off x="5497275" y="1785647"/>
            <a:ext cx="1097280" cy="1153496"/>
          </a:xfrm>
          <a:prstGeom prst="ellipse">
            <a:avLst/>
          </a:prstGeom>
          <a:ln>
            <a:noFill/>
          </a:ln>
          <a:effectLst>
            <a:softEdge rad="112500"/>
          </a:effectLst>
        </p:spPr>
      </p:pic>
      <p:pic>
        <p:nvPicPr>
          <p:cNvPr id="81" name="Picture 80" descr="001978 India 1 RupeeB.jpg"/>
          <p:cNvPicPr>
            <a:picLocks noChangeAspect="1"/>
          </p:cNvPicPr>
          <p:nvPr/>
        </p:nvPicPr>
        <p:blipFill>
          <a:blip r:embed="rId4" cstate="print"/>
          <a:stretch>
            <a:fillRect/>
          </a:stretch>
        </p:blipFill>
        <p:spPr>
          <a:xfrm>
            <a:off x="6614875" y="1760247"/>
            <a:ext cx="1097280" cy="1153496"/>
          </a:xfrm>
          <a:prstGeom prst="ellipse">
            <a:avLst/>
          </a:prstGeom>
          <a:ln>
            <a:noFill/>
          </a:ln>
          <a:effectLst>
            <a:softEdge rad="112500"/>
          </a:effectLst>
        </p:spPr>
      </p:pic>
      <p:sp>
        <p:nvSpPr>
          <p:cNvPr id="82" name="TextBox 81"/>
          <p:cNvSpPr txBox="1"/>
          <p:nvPr/>
        </p:nvSpPr>
        <p:spPr>
          <a:xfrm>
            <a:off x="2699792" y="2889025"/>
            <a:ext cx="2133339" cy="369332"/>
          </a:xfrm>
          <a:prstGeom prst="rect">
            <a:avLst/>
          </a:prstGeom>
          <a:solidFill>
            <a:srgbClr val="66FFFF"/>
          </a:solidFill>
          <a:ln w="28575">
            <a:solidFill>
              <a:schemeClr val="tx1"/>
            </a:solidFill>
          </a:ln>
          <a:effectLst>
            <a:softEdge rad="12700"/>
          </a:effectLst>
          <a:scene3d>
            <a:camera prst="orthographicFront">
              <a:rot lat="0" lon="0" rev="0"/>
            </a:camera>
            <a:lightRig rig="threePt" dir="t">
              <a:rot lat="0" lon="0" rev="1200000"/>
            </a:lightRig>
          </a:scene3d>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sysClr val="window" lastClr="FFFFFF"/>
                </a:solidFill>
                <a:effectLst/>
                <a:uLnTx/>
                <a:uFillTx/>
                <a:latin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b="1" dirty="0">
                <a:solidFill>
                  <a:prstClr val="black"/>
                </a:solidFill>
                <a:latin typeface="Bookman Old Style" pitchFamily="18" charset="0"/>
              </a:rPr>
              <a:t> HH, HT, TH, TT</a:t>
            </a:r>
            <a:endParaRPr lang="en-IN" b="1" dirty="0">
              <a:solidFill>
                <a:prstClr val="black"/>
              </a:solidFill>
              <a:latin typeface="Bookman Old Style" pitchFamily="18" charset="0"/>
            </a:endParaRPr>
          </a:p>
        </p:txBody>
      </p:sp>
      <p:sp>
        <p:nvSpPr>
          <p:cNvPr id="83" name="TextBox 82"/>
          <p:cNvSpPr txBox="1"/>
          <p:nvPr/>
        </p:nvSpPr>
        <p:spPr>
          <a:xfrm>
            <a:off x="2699792" y="3260077"/>
            <a:ext cx="4666107" cy="369332"/>
          </a:xfrm>
          <a:prstGeom prst="rect">
            <a:avLst/>
          </a:prstGeom>
          <a:solidFill>
            <a:srgbClr val="7030A0"/>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anchor="ctr">
            <a:spAutoFit/>
          </a:bodyPr>
          <a:lstStyle>
            <a:defPPr>
              <a:defRPr lang="en-US"/>
            </a:defPPr>
            <a:lvl1pPr marL="347663" marR="0" lvl="0" indent="-347663" algn="just" fontAlgn="auto">
              <a:lnSpc>
                <a:spcPct val="100000"/>
              </a:lnSpc>
              <a:spcBef>
                <a:spcPts val="0"/>
              </a:spcBef>
              <a:spcAft>
                <a:spcPts val="0"/>
              </a:spcAft>
              <a:buClrTx/>
              <a:buSzTx/>
              <a:buFontTx/>
              <a:buNone/>
              <a:tabLst/>
              <a:defRPr kumimoji="0" b="1" i="1" u="none" strike="noStrike" kern="0" cap="none" spc="0" normalizeH="0" baseline="0">
                <a:ln>
                  <a:noFill/>
                </a:ln>
                <a:solidFill>
                  <a:prstClr val="white"/>
                </a:solidFill>
                <a:effectLst>
                  <a:outerShdw blurRad="50800" dist="38100" dir="16200000" rotWithShape="0">
                    <a:prstClr val="black">
                      <a:alpha val="40000"/>
                    </a:prstClr>
                  </a:outerShdw>
                </a:effectLst>
                <a:uLnTx/>
                <a:uFillTx/>
                <a:latin typeface="Calibri"/>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i="0" dirty="0">
                <a:effectLst/>
                <a:latin typeface="Bookman Old Style" pitchFamily="18" charset="0"/>
              </a:rPr>
              <a:t>Number of all possible outcomes = 4</a:t>
            </a:r>
            <a:endParaRPr lang="en-IN" i="0" dirty="0">
              <a:effectLst/>
              <a:latin typeface="Bookman Old Style" pitchFamily="18" charset="0"/>
            </a:endParaRPr>
          </a:p>
        </p:txBody>
      </p:sp>
      <p:sp>
        <p:nvSpPr>
          <p:cNvPr id="84" name="TextBox 83"/>
          <p:cNvSpPr txBox="1"/>
          <p:nvPr/>
        </p:nvSpPr>
        <p:spPr>
          <a:xfrm>
            <a:off x="2854266" y="2312557"/>
            <a:ext cx="2651760" cy="404039"/>
          </a:xfrm>
          <a:prstGeom prst="snip2Diag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1" i="0" u="none" strike="noStrike" kern="0" cap="none" spc="0" normalizeH="0" baseline="0">
                <a:ln>
                  <a:noFill/>
                </a:ln>
                <a:solidFill>
                  <a:prstClr val="black"/>
                </a:solidFill>
                <a:effectLst/>
                <a:uLnTx/>
                <a:uFillTx/>
                <a:latin typeface="Bookman Old Style"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1 Coin is tossed twice</a:t>
            </a:r>
            <a:endParaRPr lang="en-IN" dirty="0"/>
          </a:p>
        </p:txBody>
      </p:sp>
      <p:pic>
        <p:nvPicPr>
          <p:cNvPr id="85" name="Picture 8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1330" y="3176091"/>
            <a:ext cx="762000" cy="1524000"/>
          </a:xfrm>
          <a:prstGeom prst="rect">
            <a:avLst/>
          </a:prstGeom>
        </p:spPr>
      </p:pic>
      <p:pic>
        <p:nvPicPr>
          <p:cNvPr id="86" name="Picture 8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44455" y="3207990"/>
            <a:ext cx="762000" cy="1524000"/>
          </a:xfrm>
          <a:prstGeom prst="rect">
            <a:avLst/>
          </a:prstGeom>
        </p:spPr>
      </p:pic>
      <p:pic>
        <p:nvPicPr>
          <p:cNvPr id="87" name="Picture 86" descr="001978 India 1 RupeeA.jpg"/>
          <p:cNvPicPr>
            <a:picLocks noChangeAspect="1"/>
          </p:cNvPicPr>
          <p:nvPr/>
        </p:nvPicPr>
        <p:blipFill>
          <a:blip r:embed="rId3" cstate="print"/>
          <a:stretch>
            <a:fillRect/>
          </a:stretch>
        </p:blipFill>
        <p:spPr>
          <a:xfrm>
            <a:off x="1713634" y="646671"/>
            <a:ext cx="1097280" cy="1113576"/>
          </a:xfrm>
          <a:prstGeom prst="ellipse">
            <a:avLst/>
          </a:prstGeom>
          <a:ln>
            <a:noFill/>
          </a:ln>
          <a:effectLst>
            <a:softEdge rad="112500"/>
          </a:effectLst>
        </p:spPr>
      </p:pic>
      <p:pic>
        <p:nvPicPr>
          <p:cNvPr id="89" name="Picture 88" descr="001978 India 1 RupeeB.jpg"/>
          <p:cNvPicPr>
            <a:picLocks noChangeAspect="1"/>
          </p:cNvPicPr>
          <p:nvPr/>
        </p:nvPicPr>
        <p:blipFill>
          <a:blip r:embed="rId4" cstate="print"/>
          <a:stretch>
            <a:fillRect/>
          </a:stretch>
        </p:blipFill>
        <p:spPr>
          <a:xfrm>
            <a:off x="1738540" y="1749614"/>
            <a:ext cx="1097280" cy="1153496"/>
          </a:xfrm>
          <a:prstGeom prst="ellipse">
            <a:avLst/>
          </a:prstGeom>
          <a:ln>
            <a:noFill/>
          </a:ln>
          <a:effectLst>
            <a:softEdge rad="112500"/>
          </a:effectLst>
        </p:spPr>
      </p:pic>
      <p:sp>
        <p:nvSpPr>
          <p:cNvPr id="90" name="TextBox 89"/>
          <p:cNvSpPr txBox="1"/>
          <p:nvPr/>
        </p:nvSpPr>
        <p:spPr>
          <a:xfrm>
            <a:off x="623691" y="1687783"/>
            <a:ext cx="1960859" cy="369332"/>
          </a:xfrm>
          <a:prstGeom prst="rect">
            <a:avLst/>
          </a:prstGeom>
          <a:noFill/>
        </p:spPr>
        <p:txBody>
          <a:bodyPr wrap="square" rtlCol="0">
            <a:spAutoFit/>
          </a:bodyPr>
          <a:lstStyle/>
          <a:p>
            <a:pPr>
              <a:defRPr/>
            </a:pPr>
            <a:r>
              <a:rPr lang="en-US" b="1" kern="0" dirty="0">
                <a:solidFill>
                  <a:prstClr val="white"/>
                </a:solidFill>
              </a:rPr>
              <a:t>Result on first </a:t>
            </a:r>
            <a:r>
              <a:rPr lang="en-US" b="1" kern="0" dirty="0" smtClean="0">
                <a:solidFill>
                  <a:prstClr val="white"/>
                </a:solidFill>
              </a:rPr>
              <a:t>coin</a:t>
            </a:r>
            <a:endParaRPr lang="en-US" b="1" kern="0" dirty="0">
              <a:solidFill>
                <a:prstClr val="white"/>
              </a:solidFill>
            </a:endParaRPr>
          </a:p>
        </p:txBody>
      </p:sp>
      <p:sp>
        <p:nvSpPr>
          <p:cNvPr id="91" name="Rounded Rectangular Callout 26"/>
          <p:cNvSpPr/>
          <p:nvPr/>
        </p:nvSpPr>
        <p:spPr>
          <a:xfrm>
            <a:off x="584913" y="1499953"/>
            <a:ext cx="2212635" cy="601803"/>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1678025 w 1981200"/>
              <a:gd name="connsiteY4" fmla="*/ 181609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93376 h 592278"/>
              <a:gd name="connsiteX1" fmla="*/ 59782 w 1981200"/>
              <a:gd name="connsiteY1" fmla="*/ 233594 h 592278"/>
              <a:gd name="connsiteX2" fmla="*/ 1301284 w 1981200"/>
              <a:gd name="connsiteY2" fmla="*/ 264987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 name="connsiteX0" fmla="*/ 0 w 1981200"/>
              <a:gd name="connsiteY0" fmla="*/ 293376 h 592278"/>
              <a:gd name="connsiteX1" fmla="*/ 59782 w 1981200"/>
              <a:gd name="connsiteY1" fmla="*/ 233594 h 592278"/>
              <a:gd name="connsiteX2" fmla="*/ 1406008 w 1981200"/>
              <a:gd name="connsiteY2" fmla="*/ 233594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92278">
                <a:moveTo>
                  <a:pt x="0" y="293376"/>
                </a:moveTo>
                <a:cubicBezTo>
                  <a:pt x="0" y="260359"/>
                  <a:pt x="26765" y="233594"/>
                  <a:pt x="59782" y="233594"/>
                </a:cubicBezTo>
                <a:lnTo>
                  <a:pt x="1406008" y="233594"/>
                </a:lnTo>
                <a:lnTo>
                  <a:pt x="1430240" y="0"/>
                </a:lnTo>
                <a:lnTo>
                  <a:pt x="1678025" y="233931"/>
                </a:lnTo>
                <a:lnTo>
                  <a:pt x="1921418" y="233594"/>
                </a:lnTo>
                <a:cubicBezTo>
                  <a:pt x="1954435" y="233594"/>
                  <a:pt x="1981200" y="260359"/>
                  <a:pt x="1981200" y="293376"/>
                </a:cubicBezTo>
                <a:lnTo>
                  <a:pt x="1981200" y="293375"/>
                </a:lnTo>
                <a:lnTo>
                  <a:pt x="1981200" y="293375"/>
                </a:lnTo>
                <a:lnTo>
                  <a:pt x="1981200" y="383046"/>
                </a:lnTo>
                <a:lnTo>
                  <a:pt x="1981200" y="532496"/>
                </a:lnTo>
                <a:cubicBezTo>
                  <a:pt x="1981200" y="565513"/>
                  <a:pt x="1954435" y="592278"/>
                  <a:pt x="1921418" y="592278"/>
                </a:cubicBezTo>
                <a:lnTo>
                  <a:pt x="825500" y="592278"/>
                </a:lnTo>
                <a:lnTo>
                  <a:pt x="330200" y="592278"/>
                </a:lnTo>
                <a:lnTo>
                  <a:pt x="330200" y="592278"/>
                </a:lnTo>
                <a:lnTo>
                  <a:pt x="59782" y="592278"/>
                </a:lnTo>
                <a:cubicBezTo>
                  <a:pt x="26765" y="592278"/>
                  <a:pt x="0" y="565513"/>
                  <a:pt x="0" y="532496"/>
                </a:cubicBezTo>
                <a:lnTo>
                  <a:pt x="0" y="383046"/>
                </a:lnTo>
                <a:lnTo>
                  <a:pt x="0" y="293375"/>
                </a:lnTo>
                <a:lnTo>
                  <a:pt x="0" y="293375"/>
                </a:lnTo>
                <a:lnTo>
                  <a:pt x="0" y="29337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92" name="TextBox 91"/>
          <p:cNvSpPr txBox="1"/>
          <p:nvPr/>
        </p:nvSpPr>
        <p:spPr>
          <a:xfrm>
            <a:off x="592857" y="1737197"/>
            <a:ext cx="2524732" cy="369332"/>
          </a:xfrm>
          <a:prstGeom prst="rect">
            <a:avLst/>
          </a:prstGeom>
          <a:noFill/>
        </p:spPr>
        <p:txBody>
          <a:bodyPr wrap="square" rtlCol="0">
            <a:spAutoFit/>
          </a:bodyPr>
          <a:lstStyle/>
          <a:p>
            <a:pPr>
              <a:defRPr/>
            </a:pPr>
            <a:r>
              <a:rPr lang="en-US" b="1" kern="0" dirty="0">
                <a:solidFill>
                  <a:prstClr val="white"/>
                </a:solidFill>
              </a:rPr>
              <a:t>Result on </a:t>
            </a:r>
            <a:r>
              <a:rPr lang="en-US" b="1" kern="0" dirty="0" smtClean="0">
                <a:solidFill>
                  <a:prstClr val="white"/>
                </a:solidFill>
              </a:rPr>
              <a:t>second coin</a:t>
            </a:r>
            <a:endParaRPr lang="en-US" b="1" kern="0" dirty="0">
              <a:solidFill>
                <a:prstClr val="white"/>
              </a:solidFill>
            </a:endParaRPr>
          </a:p>
        </p:txBody>
      </p:sp>
      <p:sp>
        <p:nvSpPr>
          <p:cNvPr id="95" name="Rounded Rectangular Callout 26"/>
          <p:cNvSpPr/>
          <p:nvPr/>
        </p:nvSpPr>
        <p:spPr>
          <a:xfrm>
            <a:off x="623331" y="2729868"/>
            <a:ext cx="2212635" cy="601803"/>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1678025 w 1981200"/>
              <a:gd name="connsiteY4" fmla="*/ 181609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93376 h 592278"/>
              <a:gd name="connsiteX1" fmla="*/ 59782 w 1981200"/>
              <a:gd name="connsiteY1" fmla="*/ 233594 h 592278"/>
              <a:gd name="connsiteX2" fmla="*/ 1301284 w 1981200"/>
              <a:gd name="connsiteY2" fmla="*/ 264987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 name="connsiteX0" fmla="*/ 0 w 1981200"/>
              <a:gd name="connsiteY0" fmla="*/ 293376 h 592278"/>
              <a:gd name="connsiteX1" fmla="*/ 59782 w 1981200"/>
              <a:gd name="connsiteY1" fmla="*/ 233594 h 592278"/>
              <a:gd name="connsiteX2" fmla="*/ 1406008 w 1981200"/>
              <a:gd name="connsiteY2" fmla="*/ 233594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92278">
                <a:moveTo>
                  <a:pt x="0" y="293376"/>
                </a:moveTo>
                <a:cubicBezTo>
                  <a:pt x="0" y="260359"/>
                  <a:pt x="26765" y="233594"/>
                  <a:pt x="59782" y="233594"/>
                </a:cubicBezTo>
                <a:lnTo>
                  <a:pt x="1406008" y="233594"/>
                </a:lnTo>
                <a:lnTo>
                  <a:pt x="1430240" y="0"/>
                </a:lnTo>
                <a:lnTo>
                  <a:pt x="1678025" y="233931"/>
                </a:lnTo>
                <a:lnTo>
                  <a:pt x="1921418" y="233594"/>
                </a:lnTo>
                <a:cubicBezTo>
                  <a:pt x="1954435" y="233594"/>
                  <a:pt x="1981200" y="260359"/>
                  <a:pt x="1981200" y="293376"/>
                </a:cubicBezTo>
                <a:lnTo>
                  <a:pt x="1981200" y="293375"/>
                </a:lnTo>
                <a:lnTo>
                  <a:pt x="1981200" y="293375"/>
                </a:lnTo>
                <a:lnTo>
                  <a:pt x="1981200" y="383046"/>
                </a:lnTo>
                <a:lnTo>
                  <a:pt x="1981200" y="532496"/>
                </a:lnTo>
                <a:cubicBezTo>
                  <a:pt x="1981200" y="565513"/>
                  <a:pt x="1954435" y="592278"/>
                  <a:pt x="1921418" y="592278"/>
                </a:cubicBezTo>
                <a:lnTo>
                  <a:pt x="825500" y="592278"/>
                </a:lnTo>
                <a:lnTo>
                  <a:pt x="330200" y="592278"/>
                </a:lnTo>
                <a:lnTo>
                  <a:pt x="330200" y="592278"/>
                </a:lnTo>
                <a:lnTo>
                  <a:pt x="59782" y="592278"/>
                </a:lnTo>
                <a:cubicBezTo>
                  <a:pt x="26765" y="592278"/>
                  <a:pt x="0" y="565513"/>
                  <a:pt x="0" y="532496"/>
                </a:cubicBezTo>
                <a:lnTo>
                  <a:pt x="0" y="383046"/>
                </a:lnTo>
                <a:lnTo>
                  <a:pt x="0" y="293375"/>
                </a:lnTo>
                <a:lnTo>
                  <a:pt x="0" y="293375"/>
                </a:lnTo>
                <a:lnTo>
                  <a:pt x="0" y="29337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96" name="TextBox 95"/>
          <p:cNvSpPr txBox="1"/>
          <p:nvPr/>
        </p:nvSpPr>
        <p:spPr>
          <a:xfrm>
            <a:off x="631275" y="2962339"/>
            <a:ext cx="2524732" cy="369332"/>
          </a:xfrm>
          <a:prstGeom prst="rect">
            <a:avLst/>
          </a:prstGeom>
          <a:noFill/>
        </p:spPr>
        <p:txBody>
          <a:bodyPr wrap="square" rtlCol="0">
            <a:spAutoFit/>
          </a:bodyPr>
          <a:lstStyle/>
          <a:p>
            <a:pPr>
              <a:defRPr/>
            </a:pPr>
            <a:r>
              <a:rPr lang="en-US" b="1" kern="0" dirty="0">
                <a:solidFill>
                  <a:prstClr val="white"/>
                </a:solidFill>
              </a:rPr>
              <a:t>Result on </a:t>
            </a:r>
            <a:r>
              <a:rPr lang="en-US" b="1" kern="0" dirty="0" smtClean="0">
                <a:solidFill>
                  <a:prstClr val="white"/>
                </a:solidFill>
              </a:rPr>
              <a:t>second coin</a:t>
            </a:r>
            <a:endParaRPr lang="en-US" b="1" kern="0" dirty="0">
              <a:solidFill>
                <a:prstClr val="white"/>
              </a:solidFill>
            </a:endParaRPr>
          </a:p>
        </p:txBody>
      </p:sp>
      <p:sp>
        <p:nvSpPr>
          <p:cNvPr id="97" name="Rounded Rectangular Callout 26"/>
          <p:cNvSpPr/>
          <p:nvPr/>
        </p:nvSpPr>
        <p:spPr>
          <a:xfrm>
            <a:off x="5494468" y="1526753"/>
            <a:ext cx="1981200" cy="548640"/>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39956">
                <a:moveTo>
                  <a:pt x="0" y="241054"/>
                </a:moveTo>
                <a:cubicBezTo>
                  <a:pt x="0" y="208037"/>
                  <a:pt x="26765" y="181272"/>
                  <a:pt x="59782" y="181272"/>
                </a:cubicBezTo>
                <a:lnTo>
                  <a:pt x="330200" y="181272"/>
                </a:lnTo>
                <a:lnTo>
                  <a:pt x="535320" y="0"/>
                </a:lnTo>
                <a:lnTo>
                  <a:pt x="602217" y="192073"/>
                </a:lnTo>
                <a:lnTo>
                  <a:pt x="1921418" y="181272"/>
                </a:lnTo>
                <a:cubicBezTo>
                  <a:pt x="1954435" y="181272"/>
                  <a:pt x="1981200" y="208037"/>
                  <a:pt x="1981200" y="241054"/>
                </a:cubicBezTo>
                <a:lnTo>
                  <a:pt x="1981200" y="241053"/>
                </a:lnTo>
                <a:lnTo>
                  <a:pt x="1981200" y="241053"/>
                </a:lnTo>
                <a:lnTo>
                  <a:pt x="1981200" y="330724"/>
                </a:lnTo>
                <a:lnTo>
                  <a:pt x="1981200" y="480174"/>
                </a:lnTo>
                <a:cubicBezTo>
                  <a:pt x="1981200" y="513191"/>
                  <a:pt x="1954435" y="539956"/>
                  <a:pt x="1921418" y="539956"/>
                </a:cubicBezTo>
                <a:lnTo>
                  <a:pt x="825500" y="539956"/>
                </a:lnTo>
                <a:lnTo>
                  <a:pt x="330200" y="539956"/>
                </a:lnTo>
                <a:lnTo>
                  <a:pt x="330200" y="539956"/>
                </a:lnTo>
                <a:lnTo>
                  <a:pt x="59782" y="539956"/>
                </a:lnTo>
                <a:cubicBezTo>
                  <a:pt x="26765" y="539956"/>
                  <a:pt x="0" y="513191"/>
                  <a:pt x="0" y="480174"/>
                </a:cubicBezTo>
                <a:lnTo>
                  <a:pt x="0" y="330724"/>
                </a:lnTo>
                <a:lnTo>
                  <a:pt x="0" y="241053"/>
                </a:lnTo>
                <a:lnTo>
                  <a:pt x="0" y="241053"/>
                </a:lnTo>
                <a:lnTo>
                  <a:pt x="0" y="241054"/>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98" name="TextBox 97"/>
          <p:cNvSpPr txBox="1"/>
          <p:nvPr/>
        </p:nvSpPr>
        <p:spPr>
          <a:xfrm>
            <a:off x="5502411" y="1710833"/>
            <a:ext cx="1960859" cy="369332"/>
          </a:xfrm>
          <a:prstGeom prst="rect">
            <a:avLst/>
          </a:prstGeom>
          <a:noFill/>
        </p:spPr>
        <p:txBody>
          <a:bodyPr wrap="square" rtlCol="0">
            <a:spAutoFit/>
          </a:bodyPr>
          <a:lstStyle/>
          <a:p>
            <a:pPr>
              <a:defRPr/>
            </a:pPr>
            <a:r>
              <a:rPr lang="en-US" b="1" kern="0" dirty="0">
                <a:solidFill>
                  <a:prstClr val="white"/>
                </a:solidFill>
              </a:rPr>
              <a:t>Result on first </a:t>
            </a:r>
            <a:r>
              <a:rPr lang="en-US" b="1" kern="0" dirty="0" smtClean="0">
                <a:solidFill>
                  <a:prstClr val="white"/>
                </a:solidFill>
              </a:rPr>
              <a:t>coin</a:t>
            </a:r>
            <a:endParaRPr lang="en-US" b="1" kern="0" dirty="0">
              <a:solidFill>
                <a:prstClr val="white"/>
              </a:solidFill>
            </a:endParaRPr>
          </a:p>
        </p:txBody>
      </p:sp>
      <p:sp>
        <p:nvSpPr>
          <p:cNvPr id="99" name="Rounded Rectangular Callout 26"/>
          <p:cNvSpPr/>
          <p:nvPr/>
        </p:nvSpPr>
        <p:spPr>
          <a:xfrm>
            <a:off x="5463633" y="1523003"/>
            <a:ext cx="2212635" cy="601803"/>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1678025 w 1981200"/>
              <a:gd name="connsiteY4" fmla="*/ 181609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93376 h 592278"/>
              <a:gd name="connsiteX1" fmla="*/ 59782 w 1981200"/>
              <a:gd name="connsiteY1" fmla="*/ 233594 h 592278"/>
              <a:gd name="connsiteX2" fmla="*/ 1301284 w 1981200"/>
              <a:gd name="connsiteY2" fmla="*/ 264987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 name="connsiteX0" fmla="*/ 0 w 1981200"/>
              <a:gd name="connsiteY0" fmla="*/ 293376 h 592278"/>
              <a:gd name="connsiteX1" fmla="*/ 59782 w 1981200"/>
              <a:gd name="connsiteY1" fmla="*/ 233594 h 592278"/>
              <a:gd name="connsiteX2" fmla="*/ 1406008 w 1981200"/>
              <a:gd name="connsiteY2" fmla="*/ 233594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92278">
                <a:moveTo>
                  <a:pt x="0" y="293376"/>
                </a:moveTo>
                <a:cubicBezTo>
                  <a:pt x="0" y="260359"/>
                  <a:pt x="26765" y="233594"/>
                  <a:pt x="59782" y="233594"/>
                </a:cubicBezTo>
                <a:lnTo>
                  <a:pt x="1406008" y="233594"/>
                </a:lnTo>
                <a:lnTo>
                  <a:pt x="1430240" y="0"/>
                </a:lnTo>
                <a:lnTo>
                  <a:pt x="1678025" y="233931"/>
                </a:lnTo>
                <a:lnTo>
                  <a:pt x="1921418" y="233594"/>
                </a:lnTo>
                <a:cubicBezTo>
                  <a:pt x="1954435" y="233594"/>
                  <a:pt x="1981200" y="260359"/>
                  <a:pt x="1981200" y="293376"/>
                </a:cubicBezTo>
                <a:lnTo>
                  <a:pt x="1981200" y="293375"/>
                </a:lnTo>
                <a:lnTo>
                  <a:pt x="1981200" y="293375"/>
                </a:lnTo>
                <a:lnTo>
                  <a:pt x="1981200" y="383046"/>
                </a:lnTo>
                <a:lnTo>
                  <a:pt x="1981200" y="532496"/>
                </a:lnTo>
                <a:cubicBezTo>
                  <a:pt x="1981200" y="565513"/>
                  <a:pt x="1954435" y="592278"/>
                  <a:pt x="1921418" y="592278"/>
                </a:cubicBezTo>
                <a:lnTo>
                  <a:pt x="825500" y="592278"/>
                </a:lnTo>
                <a:lnTo>
                  <a:pt x="330200" y="592278"/>
                </a:lnTo>
                <a:lnTo>
                  <a:pt x="330200" y="592278"/>
                </a:lnTo>
                <a:lnTo>
                  <a:pt x="59782" y="592278"/>
                </a:lnTo>
                <a:cubicBezTo>
                  <a:pt x="26765" y="592278"/>
                  <a:pt x="0" y="565513"/>
                  <a:pt x="0" y="532496"/>
                </a:cubicBezTo>
                <a:lnTo>
                  <a:pt x="0" y="383046"/>
                </a:lnTo>
                <a:lnTo>
                  <a:pt x="0" y="293375"/>
                </a:lnTo>
                <a:lnTo>
                  <a:pt x="0" y="293375"/>
                </a:lnTo>
                <a:lnTo>
                  <a:pt x="0" y="29337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100" name="TextBox 99"/>
          <p:cNvSpPr txBox="1"/>
          <p:nvPr/>
        </p:nvSpPr>
        <p:spPr>
          <a:xfrm>
            <a:off x="5471577" y="1760247"/>
            <a:ext cx="2524732" cy="369332"/>
          </a:xfrm>
          <a:prstGeom prst="rect">
            <a:avLst/>
          </a:prstGeom>
          <a:noFill/>
        </p:spPr>
        <p:txBody>
          <a:bodyPr wrap="square" rtlCol="0">
            <a:spAutoFit/>
          </a:bodyPr>
          <a:lstStyle/>
          <a:p>
            <a:pPr>
              <a:defRPr/>
            </a:pPr>
            <a:r>
              <a:rPr lang="en-US" b="1" kern="0" dirty="0">
                <a:solidFill>
                  <a:prstClr val="white"/>
                </a:solidFill>
              </a:rPr>
              <a:t>Result on </a:t>
            </a:r>
            <a:r>
              <a:rPr lang="en-US" b="1" kern="0" dirty="0" smtClean="0">
                <a:solidFill>
                  <a:prstClr val="white"/>
                </a:solidFill>
              </a:rPr>
              <a:t>second coin</a:t>
            </a:r>
            <a:endParaRPr lang="en-US" b="1" kern="0" dirty="0">
              <a:solidFill>
                <a:prstClr val="white"/>
              </a:solidFill>
            </a:endParaRPr>
          </a:p>
        </p:txBody>
      </p:sp>
      <p:sp>
        <p:nvSpPr>
          <p:cNvPr id="101" name="Rounded Rectangular Callout 26"/>
          <p:cNvSpPr/>
          <p:nvPr/>
        </p:nvSpPr>
        <p:spPr>
          <a:xfrm>
            <a:off x="5526543" y="2662024"/>
            <a:ext cx="1981200" cy="548640"/>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39956">
                <a:moveTo>
                  <a:pt x="0" y="241054"/>
                </a:moveTo>
                <a:cubicBezTo>
                  <a:pt x="0" y="208037"/>
                  <a:pt x="26765" y="181272"/>
                  <a:pt x="59782" y="181272"/>
                </a:cubicBezTo>
                <a:lnTo>
                  <a:pt x="330200" y="181272"/>
                </a:lnTo>
                <a:lnTo>
                  <a:pt x="535320" y="0"/>
                </a:lnTo>
                <a:lnTo>
                  <a:pt x="602217" y="192073"/>
                </a:lnTo>
                <a:lnTo>
                  <a:pt x="1921418" y="181272"/>
                </a:lnTo>
                <a:cubicBezTo>
                  <a:pt x="1954435" y="181272"/>
                  <a:pt x="1981200" y="208037"/>
                  <a:pt x="1981200" y="241054"/>
                </a:cubicBezTo>
                <a:lnTo>
                  <a:pt x="1981200" y="241053"/>
                </a:lnTo>
                <a:lnTo>
                  <a:pt x="1981200" y="241053"/>
                </a:lnTo>
                <a:lnTo>
                  <a:pt x="1981200" y="330724"/>
                </a:lnTo>
                <a:lnTo>
                  <a:pt x="1981200" y="480174"/>
                </a:lnTo>
                <a:cubicBezTo>
                  <a:pt x="1981200" y="513191"/>
                  <a:pt x="1954435" y="539956"/>
                  <a:pt x="1921418" y="539956"/>
                </a:cubicBezTo>
                <a:lnTo>
                  <a:pt x="825500" y="539956"/>
                </a:lnTo>
                <a:lnTo>
                  <a:pt x="330200" y="539956"/>
                </a:lnTo>
                <a:lnTo>
                  <a:pt x="330200" y="539956"/>
                </a:lnTo>
                <a:lnTo>
                  <a:pt x="59782" y="539956"/>
                </a:lnTo>
                <a:cubicBezTo>
                  <a:pt x="26765" y="539956"/>
                  <a:pt x="0" y="513191"/>
                  <a:pt x="0" y="480174"/>
                </a:cubicBezTo>
                <a:lnTo>
                  <a:pt x="0" y="330724"/>
                </a:lnTo>
                <a:lnTo>
                  <a:pt x="0" y="241053"/>
                </a:lnTo>
                <a:lnTo>
                  <a:pt x="0" y="241053"/>
                </a:lnTo>
                <a:lnTo>
                  <a:pt x="0" y="241054"/>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102" name="TextBox 101"/>
          <p:cNvSpPr txBox="1"/>
          <p:nvPr/>
        </p:nvSpPr>
        <p:spPr>
          <a:xfrm>
            <a:off x="5534486" y="2846104"/>
            <a:ext cx="1960859" cy="369332"/>
          </a:xfrm>
          <a:prstGeom prst="rect">
            <a:avLst/>
          </a:prstGeom>
          <a:noFill/>
        </p:spPr>
        <p:txBody>
          <a:bodyPr wrap="square" rtlCol="0">
            <a:spAutoFit/>
          </a:bodyPr>
          <a:lstStyle/>
          <a:p>
            <a:pPr>
              <a:defRPr/>
            </a:pPr>
            <a:r>
              <a:rPr lang="en-US" b="1" kern="0" dirty="0">
                <a:solidFill>
                  <a:prstClr val="white"/>
                </a:solidFill>
              </a:rPr>
              <a:t>Result on first </a:t>
            </a:r>
            <a:r>
              <a:rPr lang="en-US" b="1" kern="0" dirty="0" smtClean="0">
                <a:solidFill>
                  <a:prstClr val="white"/>
                </a:solidFill>
              </a:rPr>
              <a:t>coin</a:t>
            </a:r>
            <a:endParaRPr lang="en-US" b="1" kern="0" dirty="0">
              <a:solidFill>
                <a:prstClr val="white"/>
              </a:solidFill>
            </a:endParaRPr>
          </a:p>
        </p:txBody>
      </p:sp>
      <p:sp>
        <p:nvSpPr>
          <p:cNvPr id="103" name="Rounded Rectangular Callout 26"/>
          <p:cNvSpPr/>
          <p:nvPr/>
        </p:nvSpPr>
        <p:spPr>
          <a:xfrm>
            <a:off x="5495708" y="2658274"/>
            <a:ext cx="2212635" cy="601803"/>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1301284 w 1981200"/>
              <a:gd name="connsiteY2" fmla="*/ 212665 h 539956"/>
              <a:gd name="connsiteX3" fmla="*/ 535320 w 1981200"/>
              <a:gd name="connsiteY3" fmla="*/ 0 h 539956"/>
              <a:gd name="connsiteX4" fmla="*/ 1678025 w 1981200"/>
              <a:gd name="connsiteY4" fmla="*/ 181609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93376 h 592278"/>
              <a:gd name="connsiteX1" fmla="*/ 59782 w 1981200"/>
              <a:gd name="connsiteY1" fmla="*/ 233594 h 592278"/>
              <a:gd name="connsiteX2" fmla="*/ 1301284 w 1981200"/>
              <a:gd name="connsiteY2" fmla="*/ 264987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 name="connsiteX0" fmla="*/ 0 w 1981200"/>
              <a:gd name="connsiteY0" fmla="*/ 293376 h 592278"/>
              <a:gd name="connsiteX1" fmla="*/ 59782 w 1981200"/>
              <a:gd name="connsiteY1" fmla="*/ 233594 h 592278"/>
              <a:gd name="connsiteX2" fmla="*/ 1406008 w 1981200"/>
              <a:gd name="connsiteY2" fmla="*/ 233594 h 592278"/>
              <a:gd name="connsiteX3" fmla="*/ 1430240 w 1981200"/>
              <a:gd name="connsiteY3" fmla="*/ 0 h 592278"/>
              <a:gd name="connsiteX4" fmla="*/ 1678025 w 1981200"/>
              <a:gd name="connsiteY4" fmla="*/ 233931 h 592278"/>
              <a:gd name="connsiteX5" fmla="*/ 1921418 w 1981200"/>
              <a:gd name="connsiteY5" fmla="*/ 233594 h 592278"/>
              <a:gd name="connsiteX6" fmla="*/ 1981200 w 1981200"/>
              <a:gd name="connsiteY6" fmla="*/ 293376 h 592278"/>
              <a:gd name="connsiteX7" fmla="*/ 1981200 w 1981200"/>
              <a:gd name="connsiteY7" fmla="*/ 293375 h 592278"/>
              <a:gd name="connsiteX8" fmla="*/ 1981200 w 1981200"/>
              <a:gd name="connsiteY8" fmla="*/ 293375 h 592278"/>
              <a:gd name="connsiteX9" fmla="*/ 1981200 w 1981200"/>
              <a:gd name="connsiteY9" fmla="*/ 383046 h 592278"/>
              <a:gd name="connsiteX10" fmla="*/ 1981200 w 1981200"/>
              <a:gd name="connsiteY10" fmla="*/ 532496 h 592278"/>
              <a:gd name="connsiteX11" fmla="*/ 1921418 w 1981200"/>
              <a:gd name="connsiteY11" fmla="*/ 592278 h 592278"/>
              <a:gd name="connsiteX12" fmla="*/ 825500 w 1981200"/>
              <a:gd name="connsiteY12" fmla="*/ 592278 h 592278"/>
              <a:gd name="connsiteX13" fmla="*/ 330200 w 1981200"/>
              <a:gd name="connsiteY13" fmla="*/ 592278 h 592278"/>
              <a:gd name="connsiteX14" fmla="*/ 330200 w 1981200"/>
              <a:gd name="connsiteY14" fmla="*/ 592278 h 592278"/>
              <a:gd name="connsiteX15" fmla="*/ 59782 w 1981200"/>
              <a:gd name="connsiteY15" fmla="*/ 592278 h 592278"/>
              <a:gd name="connsiteX16" fmla="*/ 0 w 1981200"/>
              <a:gd name="connsiteY16" fmla="*/ 532496 h 592278"/>
              <a:gd name="connsiteX17" fmla="*/ 0 w 1981200"/>
              <a:gd name="connsiteY17" fmla="*/ 383046 h 592278"/>
              <a:gd name="connsiteX18" fmla="*/ 0 w 1981200"/>
              <a:gd name="connsiteY18" fmla="*/ 293375 h 592278"/>
              <a:gd name="connsiteX19" fmla="*/ 0 w 1981200"/>
              <a:gd name="connsiteY19" fmla="*/ 293375 h 592278"/>
              <a:gd name="connsiteX20" fmla="*/ 0 w 1981200"/>
              <a:gd name="connsiteY20" fmla="*/ 293376 h 59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92278">
                <a:moveTo>
                  <a:pt x="0" y="293376"/>
                </a:moveTo>
                <a:cubicBezTo>
                  <a:pt x="0" y="260359"/>
                  <a:pt x="26765" y="233594"/>
                  <a:pt x="59782" y="233594"/>
                </a:cubicBezTo>
                <a:lnTo>
                  <a:pt x="1406008" y="233594"/>
                </a:lnTo>
                <a:lnTo>
                  <a:pt x="1430240" y="0"/>
                </a:lnTo>
                <a:lnTo>
                  <a:pt x="1678025" y="233931"/>
                </a:lnTo>
                <a:lnTo>
                  <a:pt x="1921418" y="233594"/>
                </a:lnTo>
                <a:cubicBezTo>
                  <a:pt x="1954435" y="233594"/>
                  <a:pt x="1981200" y="260359"/>
                  <a:pt x="1981200" y="293376"/>
                </a:cubicBezTo>
                <a:lnTo>
                  <a:pt x="1981200" y="293375"/>
                </a:lnTo>
                <a:lnTo>
                  <a:pt x="1981200" y="293375"/>
                </a:lnTo>
                <a:lnTo>
                  <a:pt x="1981200" y="383046"/>
                </a:lnTo>
                <a:lnTo>
                  <a:pt x="1981200" y="532496"/>
                </a:lnTo>
                <a:cubicBezTo>
                  <a:pt x="1981200" y="565513"/>
                  <a:pt x="1954435" y="592278"/>
                  <a:pt x="1921418" y="592278"/>
                </a:cubicBezTo>
                <a:lnTo>
                  <a:pt x="825500" y="592278"/>
                </a:lnTo>
                <a:lnTo>
                  <a:pt x="330200" y="592278"/>
                </a:lnTo>
                <a:lnTo>
                  <a:pt x="330200" y="592278"/>
                </a:lnTo>
                <a:lnTo>
                  <a:pt x="59782" y="592278"/>
                </a:lnTo>
                <a:cubicBezTo>
                  <a:pt x="26765" y="592278"/>
                  <a:pt x="0" y="565513"/>
                  <a:pt x="0" y="532496"/>
                </a:cubicBezTo>
                <a:lnTo>
                  <a:pt x="0" y="383046"/>
                </a:lnTo>
                <a:lnTo>
                  <a:pt x="0" y="293375"/>
                </a:lnTo>
                <a:lnTo>
                  <a:pt x="0" y="293375"/>
                </a:lnTo>
                <a:lnTo>
                  <a:pt x="0" y="29337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104" name="TextBox 103"/>
          <p:cNvSpPr txBox="1"/>
          <p:nvPr/>
        </p:nvSpPr>
        <p:spPr>
          <a:xfrm>
            <a:off x="5503652" y="2895518"/>
            <a:ext cx="2524732" cy="369332"/>
          </a:xfrm>
          <a:prstGeom prst="rect">
            <a:avLst/>
          </a:prstGeom>
          <a:noFill/>
        </p:spPr>
        <p:txBody>
          <a:bodyPr wrap="square" rtlCol="0">
            <a:spAutoFit/>
          </a:bodyPr>
          <a:lstStyle/>
          <a:p>
            <a:pPr>
              <a:defRPr/>
            </a:pPr>
            <a:r>
              <a:rPr lang="en-US" b="1" kern="0" dirty="0">
                <a:solidFill>
                  <a:prstClr val="white"/>
                </a:solidFill>
              </a:rPr>
              <a:t>Result on </a:t>
            </a:r>
            <a:r>
              <a:rPr lang="en-US" b="1" kern="0" dirty="0" smtClean="0">
                <a:solidFill>
                  <a:prstClr val="white"/>
                </a:solidFill>
              </a:rPr>
              <a:t>second coin</a:t>
            </a:r>
            <a:endParaRPr lang="en-US" b="1" kern="0" dirty="0">
              <a:solidFill>
                <a:prstClr val="white"/>
              </a:solidFill>
            </a:endParaRPr>
          </a:p>
        </p:txBody>
      </p:sp>
      <p:sp>
        <p:nvSpPr>
          <p:cNvPr id="106" name="Left-Right Arrow Callout 105"/>
          <p:cNvSpPr/>
          <p:nvPr/>
        </p:nvSpPr>
        <p:spPr>
          <a:xfrm rot="5400000">
            <a:off x="3721655" y="713942"/>
            <a:ext cx="932615" cy="2314150"/>
          </a:xfrm>
          <a:prstGeom prst="leftRightArrowCallout">
            <a:avLst>
              <a:gd name="adj1" fmla="val 37823"/>
              <a:gd name="adj2" fmla="val 37435"/>
              <a:gd name="adj3" fmla="val 10914"/>
              <a:gd name="adj4" fmla="val 65609"/>
            </a:avLst>
          </a:prstGeom>
          <a:solidFill>
            <a:srgbClr val="002060"/>
          </a:solidFill>
          <a:ln>
            <a:noFill/>
          </a:ln>
          <a:effectLst/>
          <a:scene3d>
            <a:camera prst="orthographicFront">
              <a:rot lat="0" lon="0" rev="0"/>
            </a:camera>
            <a:lightRig rig="threePt" dir="t">
              <a:rot lat="0" lon="0" rev="1200000"/>
            </a:lightRig>
          </a:scene3d>
          <a:sp3d>
            <a:bevelT/>
          </a:sp3d>
        </p:spPr>
        <p:txBody>
          <a:bodyPr rtlCol="0" anchor="ctr"/>
          <a:lstStyle/>
          <a:p>
            <a:pPr algn="ctr"/>
            <a:endParaRPr lang="en-US" kern="0">
              <a:solidFill>
                <a:sysClr val="window" lastClr="FFFFFF"/>
              </a:solidFill>
            </a:endParaRPr>
          </a:p>
        </p:txBody>
      </p:sp>
      <p:sp>
        <p:nvSpPr>
          <p:cNvPr id="107" name="TextBox 106"/>
          <p:cNvSpPr txBox="1"/>
          <p:nvPr/>
        </p:nvSpPr>
        <p:spPr>
          <a:xfrm>
            <a:off x="2919542" y="1598006"/>
            <a:ext cx="2521209" cy="523220"/>
          </a:xfrm>
          <a:prstGeom prst="rect">
            <a:avLst/>
          </a:prstGeom>
          <a:noFill/>
        </p:spPr>
        <p:txBody>
          <a:bodyPr wrap="square" rtlCol="0">
            <a:spAutoFit/>
          </a:bodyPr>
          <a:lstStyle/>
          <a:p>
            <a:pPr algn="ctr">
              <a:defRPr/>
            </a:pPr>
            <a:r>
              <a:rPr lang="en-US" sz="1400" b="1" kern="0" dirty="0" smtClean="0">
                <a:solidFill>
                  <a:prstClr val="white"/>
                </a:solidFill>
                <a:latin typeface="Bookman Old Style" pitchFamily="18" charset="0"/>
              </a:rPr>
              <a:t>Result of both experiments are same</a:t>
            </a:r>
            <a:endParaRPr lang="en-US" sz="1400" b="1" kern="0" dirty="0">
              <a:solidFill>
                <a:prstClr val="white"/>
              </a:solidFill>
              <a:latin typeface="Bookman Old Style" pitchFamily="18" charset="0"/>
            </a:endParaRPr>
          </a:p>
        </p:txBody>
      </p:sp>
      <p:pic>
        <p:nvPicPr>
          <p:cNvPr id="88" name="Picture 87" descr="001978 India 1 RupeeA.jpg"/>
          <p:cNvPicPr>
            <a:picLocks noChangeAspect="1"/>
          </p:cNvPicPr>
          <p:nvPr/>
        </p:nvPicPr>
        <p:blipFill>
          <a:blip r:embed="rId3" cstate="print"/>
          <a:stretch>
            <a:fillRect/>
          </a:stretch>
        </p:blipFill>
        <p:spPr>
          <a:xfrm>
            <a:off x="617520" y="1739252"/>
            <a:ext cx="1097280" cy="1113576"/>
          </a:xfrm>
          <a:prstGeom prst="ellipse">
            <a:avLst/>
          </a:prstGeom>
          <a:ln>
            <a:noFill/>
          </a:ln>
          <a:effectLst>
            <a:softEdge rad="112500"/>
          </a:effectLst>
        </p:spPr>
      </p:pic>
      <p:sp>
        <p:nvSpPr>
          <p:cNvPr id="93" name="Rounded Rectangular Callout 26"/>
          <p:cNvSpPr/>
          <p:nvPr/>
        </p:nvSpPr>
        <p:spPr>
          <a:xfrm>
            <a:off x="654166" y="2669616"/>
            <a:ext cx="1981200" cy="548640"/>
          </a:xfrm>
          <a:custGeom>
            <a:avLst/>
            <a:gdLst>
              <a:gd name="connsiteX0" fmla="*/ 0 w 1981200"/>
              <a:gd name="connsiteY0" fmla="*/ 59782 h 358684"/>
              <a:gd name="connsiteX1" fmla="*/ 59782 w 1981200"/>
              <a:gd name="connsiteY1" fmla="*/ 0 h 358684"/>
              <a:gd name="connsiteX2" fmla="*/ 330200 w 1981200"/>
              <a:gd name="connsiteY2" fmla="*/ 0 h 358684"/>
              <a:gd name="connsiteX3" fmla="*/ 535320 w 1981200"/>
              <a:gd name="connsiteY3" fmla="*/ -181272 h 358684"/>
              <a:gd name="connsiteX4" fmla="*/ 825500 w 1981200"/>
              <a:gd name="connsiteY4" fmla="*/ 0 h 358684"/>
              <a:gd name="connsiteX5" fmla="*/ 1921418 w 1981200"/>
              <a:gd name="connsiteY5" fmla="*/ 0 h 358684"/>
              <a:gd name="connsiteX6" fmla="*/ 1981200 w 1981200"/>
              <a:gd name="connsiteY6" fmla="*/ 59782 h 358684"/>
              <a:gd name="connsiteX7" fmla="*/ 1981200 w 1981200"/>
              <a:gd name="connsiteY7" fmla="*/ 59781 h 358684"/>
              <a:gd name="connsiteX8" fmla="*/ 1981200 w 1981200"/>
              <a:gd name="connsiteY8" fmla="*/ 59781 h 358684"/>
              <a:gd name="connsiteX9" fmla="*/ 1981200 w 1981200"/>
              <a:gd name="connsiteY9" fmla="*/ 149452 h 358684"/>
              <a:gd name="connsiteX10" fmla="*/ 1981200 w 1981200"/>
              <a:gd name="connsiteY10" fmla="*/ 298902 h 358684"/>
              <a:gd name="connsiteX11" fmla="*/ 1921418 w 1981200"/>
              <a:gd name="connsiteY11" fmla="*/ 358684 h 358684"/>
              <a:gd name="connsiteX12" fmla="*/ 825500 w 1981200"/>
              <a:gd name="connsiteY12" fmla="*/ 358684 h 358684"/>
              <a:gd name="connsiteX13" fmla="*/ 330200 w 1981200"/>
              <a:gd name="connsiteY13" fmla="*/ 358684 h 358684"/>
              <a:gd name="connsiteX14" fmla="*/ 330200 w 1981200"/>
              <a:gd name="connsiteY14" fmla="*/ 358684 h 358684"/>
              <a:gd name="connsiteX15" fmla="*/ 59782 w 1981200"/>
              <a:gd name="connsiteY15" fmla="*/ 358684 h 358684"/>
              <a:gd name="connsiteX16" fmla="*/ 0 w 1981200"/>
              <a:gd name="connsiteY16" fmla="*/ 298902 h 358684"/>
              <a:gd name="connsiteX17" fmla="*/ 0 w 1981200"/>
              <a:gd name="connsiteY17" fmla="*/ 149452 h 358684"/>
              <a:gd name="connsiteX18" fmla="*/ 0 w 1981200"/>
              <a:gd name="connsiteY18" fmla="*/ 59781 h 358684"/>
              <a:gd name="connsiteX19" fmla="*/ 0 w 1981200"/>
              <a:gd name="connsiteY19" fmla="*/ 59781 h 358684"/>
              <a:gd name="connsiteX20" fmla="*/ 0 w 1981200"/>
              <a:gd name="connsiteY20" fmla="*/ 59782 h 358684"/>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12849 w 1981200"/>
              <a:gd name="connsiteY4" fmla="*/ 202537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 name="connsiteX0" fmla="*/ 0 w 1981200"/>
              <a:gd name="connsiteY0" fmla="*/ 241054 h 539956"/>
              <a:gd name="connsiteX1" fmla="*/ 59782 w 1981200"/>
              <a:gd name="connsiteY1" fmla="*/ 181272 h 539956"/>
              <a:gd name="connsiteX2" fmla="*/ 330200 w 1981200"/>
              <a:gd name="connsiteY2" fmla="*/ 181272 h 539956"/>
              <a:gd name="connsiteX3" fmla="*/ 535320 w 1981200"/>
              <a:gd name="connsiteY3" fmla="*/ 0 h 539956"/>
              <a:gd name="connsiteX4" fmla="*/ 602217 w 1981200"/>
              <a:gd name="connsiteY4" fmla="*/ 192073 h 539956"/>
              <a:gd name="connsiteX5" fmla="*/ 1921418 w 1981200"/>
              <a:gd name="connsiteY5" fmla="*/ 181272 h 539956"/>
              <a:gd name="connsiteX6" fmla="*/ 1981200 w 1981200"/>
              <a:gd name="connsiteY6" fmla="*/ 241054 h 539956"/>
              <a:gd name="connsiteX7" fmla="*/ 1981200 w 1981200"/>
              <a:gd name="connsiteY7" fmla="*/ 241053 h 539956"/>
              <a:gd name="connsiteX8" fmla="*/ 1981200 w 1981200"/>
              <a:gd name="connsiteY8" fmla="*/ 241053 h 539956"/>
              <a:gd name="connsiteX9" fmla="*/ 1981200 w 1981200"/>
              <a:gd name="connsiteY9" fmla="*/ 330724 h 539956"/>
              <a:gd name="connsiteX10" fmla="*/ 1981200 w 1981200"/>
              <a:gd name="connsiteY10" fmla="*/ 480174 h 539956"/>
              <a:gd name="connsiteX11" fmla="*/ 1921418 w 1981200"/>
              <a:gd name="connsiteY11" fmla="*/ 539956 h 539956"/>
              <a:gd name="connsiteX12" fmla="*/ 825500 w 1981200"/>
              <a:gd name="connsiteY12" fmla="*/ 539956 h 539956"/>
              <a:gd name="connsiteX13" fmla="*/ 330200 w 1981200"/>
              <a:gd name="connsiteY13" fmla="*/ 539956 h 539956"/>
              <a:gd name="connsiteX14" fmla="*/ 330200 w 1981200"/>
              <a:gd name="connsiteY14" fmla="*/ 539956 h 539956"/>
              <a:gd name="connsiteX15" fmla="*/ 59782 w 1981200"/>
              <a:gd name="connsiteY15" fmla="*/ 539956 h 539956"/>
              <a:gd name="connsiteX16" fmla="*/ 0 w 1981200"/>
              <a:gd name="connsiteY16" fmla="*/ 480174 h 539956"/>
              <a:gd name="connsiteX17" fmla="*/ 0 w 1981200"/>
              <a:gd name="connsiteY17" fmla="*/ 330724 h 539956"/>
              <a:gd name="connsiteX18" fmla="*/ 0 w 1981200"/>
              <a:gd name="connsiteY18" fmla="*/ 241053 h 539956"/>
              <a:gd name="connsiteX19" fmla="*/ 0 w 1981200"/>
              <a:gd name="connsiteY19" fmla="*/ 241053 h 539956"/>
              <a:gd name="connsiteX20" fmla="*/ 0 w 1981200"/>
              <a:gd name="connsiteY20" fmla="*/ 241054 h 53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1200" h="539956">
                <a:moveTo>
                  <a:pt x="0" y="241054"/>
                </a:moveTo>
                <a:cubicBezTo>
                  <a:pt x="0" y="208037"/>
                  <a:pt x="26765" y="181272"/>
                  <a:pt x="59782" y="181272"/>
                </a:cubicBezTo>
                <a:lnTo>
                  <a:pt x="330200" y="181272"/>
                </a:lnTo>
                <a:lnTo>
                  <a:pt x="535320" y="0"/>
                </a:lnTo>
                <a:lnTo>
                  <a:pt x="602217" y="192073"/>
                </a:lnTo>
                <a:lnTo>
                  <a:pt x="1921418" y="181272"/>
                </a:lnTo>
                <a:cubicBezTo>
                  <a:pt x="1954435" y="181272"/>
                  <a:pt x="1981200" y="208037"/>
                  <a:pt x="1981200" y="241054"/>
                </a:cubicBezTo>
                <a:lnTo>
                  <a:pt x="1981200" y="241053"/>
                </a:lnTo>
                <a:lnTo>
                  <a:pt x="1981200" y="241053"/>
                </a:lnTo>
                <a:lnTo>
                  <a:pt x="1981200" y="330724"/>
                </a:lnTo>
                <a:lnTo>
                  <a:pt x="1981200" y="480174"/>
                </a:lnTo>
                <a:cubicBezTo>
                  <a:pt x="1981200" y="513191"/>
                  <a:pt x="1954435" y="539956"/>
                  <a:pt x="1921418" y="539956"/>
                </a:cubicBezTo>
                <a:lnTo>
                  <a:pt x="825500" y="539956"/>
                </a:lnTo>
                <a:lnTo>
                  <a:pt x="330200" y="539956"/>
                </a:lnTo>
                <a:lnTo>
                  <a:pt x="330200" y="539956"/>
                </a:lnTo>
                <a:lnTo>
                  <a:pt x="59782" y="539956"/>
                </a:lnTo>
                <a:cubicBezTo>
                  <a:pt x="26765" y="539956"/>
                  <a:pt x="0" y="513191"/>
                  <a:pt x="0" y="480174"/>
                </a:cubicBezTo>
                <a:lnTo>
                  <a:pt x="0" y="330724"/>
                </a:lnTo>
                <a:lnTo>
                  <a:pt x="0" y="241053"/>
                </a:lnTo>
                <a:lnTo>
                  <a:pt x="0" y="241053"/>
                </a:lnTo>
                <a:lnTo>
                  <a:pt x="0" y="241054"/>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a:solidFill>
                <a:prstClr val="white"/>
              </a:solidFill>
              <a:latin typeface="Bookman Old Style" panose="02050604050505020204" pitchFamily="18" charset="0"/>
            </a:endParaRPr>
          </a:p>
        </p:txBody>
      </p:sp>
      <p:sp>
        <p:nvSpPr>
          <p:cNvPr id="94" name="TextBox 93"/>
          <p:cNvSpPr txBox="1"/>
          <p:nvPr/>
        </p:nvSpPr>
        <p:spPr>
          <a:xfrm>
            <a:off x="662109" y="2853696"/>
            <a:ext cx="1960859" cy="369332"/>
          </a:xfrm>
          <a:prstGeom prst="rect">
            <a:avLst/>
          </a:prstGeom>
          <a:noFill/>
        </p:spPr>
        <p:txBody>
          <a:bodyPr wrap="square" rtlCol="0">
            <a:spAutoFit/>
          </a:bodyPr>
          <a:lstStyle/>
          <a:p>
            <a:pPr>
              <a:defRPr/>
            </a:pPr>
            <a:r>
              <a:rPr lang="en-US" b="1" kern="0" dirty="0">
                <a:solidFill>
                  <a:prstClr val="white"/>
                </a:solidFill>
              </a:rPr>
              <a:t>Result on first </a:t>
            </a:r>
            <a:r>
              <a:rPr lang="en-US" b="1" kern="0" dirty="0" smtClean="0">
                <a:solidFill>
                  <a:prstClr val="white"/>
                </a:solidFill>
              </a:rPr>
              <a:t>coin</a:t>
            </a:r>
            <a:endParaRPr lang="en-US" b="1" kern="0" dirty="0">
              <a:solidFill>
                <a:prstClr val="white"/>
              </a:solidFill>
            </a:endParaRPr>
          </a:p>
        </p:txBody>
      </p:sp>
    </p:spTree>
    <p:extLst>
      <p:ext uri="{BB962C8B-B14F-4D97-AF65-F5344CB8AC3E}">
        <p14:creationId xmlns:p14="http://schemas.microsoft.com/office/powerpoint/2010/main" val="158845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10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up)">
                                      <p:cBhvr>
                                        <p:cTn id="18" dur="500"/>
                                        <p:tgtEl>
                                          <p:spTgt spid="7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0"/>
                                        </p:tgtEl>
                                        <p:attrNameLst>
                                          <p:attrName>style.visibility</p:attrName>
                                        </p:attrNameLst>
                                      </p:cBhvr>
                                      <p:to>
                                        <p:strVal val="visible"/>
                                      </p:to>
                                    </p:set>
                                    <p:animEffect transition="in" filter="wipe(down)">
                                      <p:cBhvr>
                                        <p:cTn id="21" dur="500"/>
                                        <p:tgtEl>
                                          <p:spTgt spid="9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wipe(left)">
                                      <p:cBhvr>
                                        <p:cTn id="26" dur="500"/>
                                        <p:tgtEl>
                                          <p:spTgt spid="7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7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9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1"/>
                                        </p:tgtEl>
                                        <p:attrNameLst>
                                          <p:attrName>style.visibility</p:attrName>
                                        </p:attrNameLst>
                                      </p:cBhvr>
                                      <p:to>
                                        <p:strVal val="visible"/>
                                      </p:to>
                                    </p:set>
                                    <p:animEffect transition="in" filter="wipe(up)">
                                      <p:cBhvr>
                                        <p:cTn id="37" dur="500"/>
                                        <p:tgtEl>
                                          <p:spTgt spid="91"/>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Effect transition="in" filter="wipe(down)">
                                      <p:cBhvr>
                                        <p:cTn id="40" dur="250"/>
                                        <p:tgtEl>
                                          <p:spTgt spid="9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wipe(left)">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91"/>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9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93"/>
                                        </p:tgtEl>
                                        <p:attrNameLst>
                                          <p:attrName>style.visibility</p:attrName>
                                        </p:attrNameLst>
                                      </p:cBhvr>
                                      <p:to>
                                        <p:strVal val="visible"/>
                                      </p:to>
                                    </p:set>
                                    <p:animEffect transition="in" filter="wipe(down)">
                                      <p:cBhvr>
                                        <p:cTn id="56" dur="500"/>
                                        <p:tgtEl>
                                          <p:spTgt spid="93"/>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94"/>
                                        </p:tgtEl>
                                        <p:attrNameLst>
                                          <p:attrName>style.visibility</p:attrName>
                                        </p:attrNameLst>
                                      </p:cBhvr>
                                      <p:to>
                                        <p:strVal val="visible"/>
                                      </p:to>
                                    </p:set>
                                    <p:animEffect transition="in" filter="wipe(down)">
                                      <p:cBhvr>
                                        <p:cTn id="59" dur="500"/>
                                        <p:tgtEl>
                                          <p:spTgt spid="9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88"/>
                                        </p:tgtEl>
                                        <p:attrNameLst>
                                          <p:attrName>style.visibility</p:attrName>
                                        </p:attrNameLst>
                                      </p:cBhvr>
                                      <p:to>
                                        <p:strVal val="visible"/>
                                      </p:to>
                                    </p:set>
                                    <p:animEffect transition="in" filter="wipe(left)">
                                      <p:cBhvr>
                                        <p:cTn id="64" dur="500"/>
                                        <p:tgtEl>
                                          <p:spTgt spid="8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grpId="1" nodeType="clickEffect">
                                  <p:stCondLst>
                                    <p:cond delay="0"/>
                                  </p:stCondLst>
                                  <p:childTnLst>
                                    <p:animEffect transition="out" filter="fade">
                                      <p:cBhvr>
                                        <p:cTn id="68" dur="500"/>
                                        <p:tgtEl>
                                          <p:spTgt spid="93"/>
                                        </p:tgtEl>
                                      </p:cBhvr>
                                    </p:animEffect>
                                    <p:set>
                                      <p:cBhvr>
                                        <p:cTn id="69" dur="1" fill="hold">
                                          <p:stCondLst>
                                            <p:cond delay="499"/>
                                          </p:stCondLst>
                                        </p:cTn>
                                        <p:tgtEl>
                                          <p:spTgt spid="93"/>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94"/>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95"/>
                                        </p:tgtEl>
                                        <p:attrNameLst>
                                          <p:attrName>style.visibility</p:attrName>
                                        </p:attrNameLst>
                                      </p:cBhvr>
                                      <p:to>
                                        <p:strVal val="visible"/>
                                      </p:to>
                                    </p:set>
                                    <p:animEffect transition="in" filter="wipe(up)">
                                      <p:cBhvr>
                                        <p:cTn id="76" dur="500"/>
                                        <p:tgtEl>
                                          <p:spTgt spid="95"/>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96"/>
                                        </p:tgtEl>
                                        <p:attrNameLst>
                                          <p:attrName>style.visibility</p:attrName>
                                        </p:attrNameLst>
                                      </p:cBhvr>
                                      <p:to>
                                        <p:strVal val="visible"/>
                                      </p:to>
                                    </p:set>
                                    <p:animEffect transition="in" filter="wipe(down)">
                                      <p:cBhvr>
                                        <p:cTn id="79" dur="500"/>
                                        <p:tgtEl>
                                          <p:spTgt spid="9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89"/>
                                        </p:tgtEl>
                                        <p:attrNameLst>
                                          <p:attrName>style.visibility</p:attrName>
                                        </p:attrNameLst>
                                      </p:cBhvr>
                                      <p:to>
                                        <p:strVal val="visible"/>
                                      </p:to>
                                    </p:set>
                                    <p:animEffect transition="in" filter="wipe(left)">
                                      <p:cBhvr>
                                        <p:cTn id="84" dur="500"/>
                                        <p:tgtEl>
                                          <p:spTgt spid="89"/>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95"/>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9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97"/>
                                        </p:tgtEl>
                                        <p:attrNameLst>
                                          <p:attrName>style.visibility</p:attrName>
                                        </p:attrNameLst>
                                      </p:cBhvr>
                                      <p:to>
                                        <p:strVal val="visible"/>
                                      </p:to>
                                    </p:set>
                                    <p:animEffect transition="in" filter="wipe(up)">
                                      <p:cBhvr>
                                        <p:cTn id="95" dur="500"/>
                                        <p:tgtEl>
                                          <p:spTgt spid="97"/>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98"/>
                                        </p:tgtEl>
                                        <p:attrNameLst>
                                          <p:attrName>style.visibility</p:attrName>
                                        </p:attrNameLst>
                                      </p:cBhvr>
                                      <p:to>
                                        <p:strVal val="visible"/>
                                      </p:to>
                                    </p:set>
                                    <p:animEffect transition="in" filter="wipe(down)">
                                      <p:cBhvr>
                                        <p:cTn id="98" dur="500"/>
                                        <p:tgtEl>
                                          <p:spTgt spid="9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78"/>
                                        </p:tgtEl>
                                        <p:attrNameLst>
                                          <p:attrName>style.visibility</p:attrName>
                                        </p:attrNameLst>
                                      </p:cBhvr>
                                      <p:to>
                                        <p:strVal val="visible"/>
                                      </p:to>
                                    </p:set>
                                    <p:animEffect transition="in" filter="wipe(left)">
                                      <p:cBhvr>
                                        <p:cTn id="103" dur="500"/>
                                        <p:tgtEl>
                                          <p:spTgt spid="78"/>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97"/>
                                        </p:tgtEl>
                                        <p:attrNameLst>
                                          <p:attrName>style.visibility</p:attrName>
                                        </p:attrNameLst>
                                      </p:cBhvr>
                                      <p:to>
                                        <p:strVal val="hidden"/>
                                      </p:to>
                                    </p:set>
                                  </p:childTnLst>
                                </p:cTn>
                              </p:par>
                              <p:par>
                                <p:cTn id="108" presetID="1" presetClass="exit" presetSubtype="0" fill="hold" grpId="1" nodeType="withEffect">
                                  <p:stCondLst>
                                    <p:cond delay="0"/>
                                  </p:stCondLst>
                                  <p:childTnLst>
                                    <p:set>
                                      <p:cBhvr>
                                        <p:cTn id="109" dur="1" fill="hold">
                                          <p:stCondLst>
                                            <p:cond delay="0"/>
                                          </p:stCondLst>
                                        </p:cTn>
                                        <p:tgtEl>
                                          <p:spTgt spid="98"/>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99"/>
                                        </p:tgtEl>
                                        <p:attrNameLst>
                                          <p:attrName>style.visibility</p:attrName>
                                        </p:attrNameLst>
                                      </p:cBhvr>
                                      <p:to>
                                        <p:strVal val="visible"/>
                                      </p:to>
                                    </p:set>
                                    <p:animEffect transition="in" filter="wipe(up)">
                                      <p:cBhvr>
                                        <p:cTn id="114" dur="500"/>
                                        <p:tgtEl>
                                          <p:spTgt spid="99"/>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100"/>
                                        </p:tgtEl>
                                        <p:attrNameLst>
                                          <p:attrName>style.visibility</p:attrName>
                                        </p:attrNameLst>
                                      </p:cBhvr>
                                      <p:to>
                                        <p:strVal val="visible"/>
                                      </p:to>
                                    </p:set>
                                    <p:animEffect transition="in" filter="wipe(down)">
                                      <p:cBhvr>
                                        <p:cTn id="117" dur="500"/>
                                        <p:tgtEl>
                                          <p:spTgt spid="10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79"/>
                                        </p:tgtEl>
                                        <p:attrNameLst>
                                          <p:attrName>style.visibility</p:attrName>
                                        </p:attrNameLst>
                                      </p:cBhvr>
                                      <p:to>
                                        <p:strVal val="visible"/>
                                      </p:to>
                                    </p:set>
                                    <p:animEffect transition="in" filter="wipe(left)">
                                      <p:cBhvr>
                                        <p:cTn id="122" dur="500"/>
                                        <p:tgtEl>
                                          <p:spTgt spid="79"/>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99"/>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10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101"/>
                                        </p:tgtEl>
                                        <p:attrNameLst>
                                          <p:attrName>style.visibility</p:attrName>
                                        </p:attrNameLst>
                                      </p:cBhvr>
                                      <p:to>
                                        <p:strVal val="visible"/>
                                      </p:to>
                                    </p:set>
                                    <p:animEffect transition="in" filter="wipe(up)">
                                      <p:cBhvr>
                                        <p:cTn id="133" dur="500"/>
                                        <p:tgtEl>
                                          <p:spTgt spid="101"/>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102"/>
                                        </p:tgtEl>
                                        <p:attrNameLst>
                                          <p:attrName>style.visibility</p:attrName>
                                        </p:attrNameLst>
                                      </p:cBhvr>
                                      <p:to>
                                        <p:strVal val="visible"/>
                                      </p:to>
                                    </p:set>
                                    <p:animEffect transition="in" filter="wipe(down)">
                                      <p:cBhvr>
                                        <p:cTn id="136" dur="500"/>
                                        <p:tgtEl>
                                          <p:spTgt spid="102"/>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80"/>
                                        </p:tgtEl>
                                        <p:attrNameLst>
                                          <p:attrName>style.visibility</p:attrName>
                                        </p:attrNameLst>
                                      </p:cBhvr>
                                      <p:to>
                                        <p:strVal val="visible"/>
                                      </p:to>
                                    </p:set>
                                    <p:animEffect transition="in" filter="wipe(left)">
                                      <p:cBhvr>
                                        <p:cTn id="141" dur="500"/>
                                        <p:tgtEl>
                                          <p:spTgt spid="80"/>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1" nodeType="clickEffect">
                                  <p:stCondLst>
                                    <p:cond delay="0"/>
                                  </p:stCondLst>
                                  <p:childTnLst>
                                    <p:set>
                                      <p:cBhvr>
                                        <p:cTn id="145" dur="1" fill="hold">
                                          <p:stCondLst>
                                            <p:cond delay="0"/>
                                          </p:stCondLst>
                                        </p:cTn>
                                        <p:tgtEl>
                                          <p:spTgt spid="101"/>
                                        </p:tgtEl>
                                        <p:attrNameLst>
                                          <p:attrName>style.visibility</p:attrName>
                                        </p:attrNameLst>
                                      </p:cBhvr>
                                      <p:to>
                                        <p:strVal val="hidden"/>
                                      </p:to>
                                    </p:set>
                                  </p:childTnLst>
                                </p:cTn>
                              </p:par>
                              <p:par>
                                <p:cTn id="146" presetID="1" presetClass="exit" presetSubtype="0" fill="hold" grpId="1" nodeType="withEffect">
                                  <p:stCondLst>
                                    <p:cond delay="0"/>
                                  </p:stCondLst>
                                  <p:childTnLst>
                                    <p:set>
                                      <p:cBhvr>
                                        <p:cTn id="147" dur="1" fill="hold">
                                          <p:stCondLst>
                                            <p:cond delay="0"/>
                                          </p:stCondLst>
                                        </p:cTn>
                                        <p:tgtEl>
                                          <p:spTgt spid="102"/>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03"/>
                                        </p:tgtEl>
                                        <p:attrNameLst>
                                          <p:attrName>style.visibility</p:attrName>
                                        </p:attrNameLst>
                                      </p:cBhvr>
                                      <p:to>
                                        <p:strVal val="visible"/>
                                      </p:to>
                                    </p:set>
                                    <p:animEffect transition="in" filter="wipe(up)">
                                      <p:cBhvr>
                                        <p:cTn id="152" dur="500"/>
                                        <p:tgtEl>
                                          <p:spTgt spid="103"/>
                                        </p:tgtEl>
                                      </p:cBhvr>
                                    </p:animEffect>
                                  </p:childTnLst>
                                </p:cTn>
                              </p:par>
                              <p:par>
                                <p:cTn id="153" presetID="22" presetClass="entr" presetSubtype="4" fill="hold" grpId="0" nodeType="withEffect">
                                  <p:stCondLst>
                                    <p:cond delay="0"/>
                                  </p:stCondLst>
                                  <p:childTnLst>
                                    <p:set>
                                      <p:cBhvr>
                                        <p:cTn id="154" dur="1" fill="hold">
                                          <p:stCondLst>
                                            <p:cond delay="0"/>
                                          </p:stCondLst>
                                        </p:cTn>
                                        <p:tgtEl>
                                          <p:spTgt spid="104"/>
                                        </p:tgtEl>
                                        <p:attrNameLst>
                                          <p:attrName>style.visibility</p:attrName>
                                        </p:attrNameLst>
                                      </p:cBhvr>
                                      <p:to>
                                        <p:strVal val="visible"/>
                                      </p:to>
                                    </p:set>
                                    <p:animEffect transition="in" filter="wipe(down)">
                                      <p:cBhvr>
                                        <p:cTn id="155" dur="500"/>
                                        <p:tgtEl>
                                          <p:spTgt spid="104"/>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nodeType="clickEffect">
                                  <p:stCondLst>
                                    <p:cond delay="0"/>
                                  </p:stCondLst>
                                  <p:childTnLst>
                                    <p:set>
                                      <p:cBhvr>
                                        <p:cTn id="159" dur="1" fill="hold">
                                          <p:stCondLst>
                                            <p:cond delay="0"/>
                                          </p:stCondLst>
                                        </p:cTn>
                                        <p:tgtEl>
                                          <p:spTgt spid="81"/>
                                        </p:tgtEl>
                                        <p:attrNameLst>
                                          <p:attrName>style.visibility</p:attrName>
                                        </p:attrNameLst>
                                      </p:cBhvr>
                                      <p:to>
                                        <p:strVal val="visible"/>
                                      </p:to>
                                    </p:set>
                                    <p:animEffect transition="in" filter="wipe(left)">
                                      <p:cBhvr>
                                        <p:cTn id="160" dur="500"/>
                                        <p:tgtEl>
                                          <p:spTgt spid="81"/>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xit" presetSubtype="0" fill="hold" grpId="1" nodeType="clickEffect">
                                  <p:stCondLst>
                                    <p:cond delay="0"/>
                                  </p:stCondLst>
                                  <p:childTnLst>
                                    <p:set>
                                      <p:cBhvr>
                                        <p:cTn id="164" dur="1" fill="hold">
                                          <p:stCondLst>
                                            <p:cond delay="0"/>
                                          </p:stCondLst>
                                        </p:cTn>
                                        <p:tgtEl>
                                          <p:spTgt spid="103"/>
                                        </p:tgtEl>
                                        <p:attrNameLst>
                                          <p:attrName>style.visibility</p:attrName>
                                        </p:attrNameLst>
                                      </p:cBhvr>
                                      <p:to>
                                        <p:strVal val="hidden"/>
                                      </p:to>
                                    </p:set>
                                  </p:childTnLst>
                                </p:cTn>
                              </p:par>
                              <p:par>
                                <p:cTn id="165" presetID="1" presetClass="exit" presetSubtype="0" fill="hold" grpId="1" nodeType="withEffect">
                                  <p:stCondLst>
                                    <p:cond delay="0"/>
                                  </p:stCondLst>
                                  <p:childTnLst>
                                    <p:set>
                                      <p:cBhvr>
                                        <p:cTn id="166" dur="1" fill="hold">
                                          <p:stCondLst>
                                            <p:cond delay="0"/>
                                          </p:stCondLst>
                                        </p:cTn>
                                        <p:tgtEl>
                                          <p:spTgt spid="104"/>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82"/>
                                        </p:tgtEl>
                                        <p:attrNameLst>
                                          <p:attrName>style.visibility</p:attrName>
                                        </p:attrNameLst>
                                      </p:cBhvr>
                                      <p:to>
                                        <p:strVal val="visible"/>
                                      </p:to>
                                    </p:set>
                                    <p:animEffect transition="in" filter="wipe(left)">
                                      <p:cBhvr>
                                        <p:cTn id="171" dur="1000"/>
                                        <p:tgtEl>
                                          <p:spTgt spid="82"/>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83"/>
                                        </p:tgtEl>
                                        <p:attrNameLst>
                                          <p:attrName>style.visibility</p:attrName>
                                        </p:attrNameLst>
                                      </p:cBhvr>
                                      <p:to>
                                        <p:strVal val="visible"/>
                                      </p:to>
                                    </p:set>
                                    <p:animEffect transition="in" filter="wipe(left)">
                                      <p:cBhvr>
                                        <p:cTn id="176" dur="1000"/>
                                        <p:tgtEl>
                                          <p:spTgt spid="83"/>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wipe(left)">
                                      <p:cBhvr>
                                        <p:cTn id="181" dur="1000"/>
                                        <p:tgtEl>
                                          <p:spTgt spid="84"/>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106"/>
                                        </p:tgtEl>
                                        <p:attrNameLst>
                                          <p:attrName>style.visibility</p:attrName>
                                        </p:attrNameLst>
                                      </p:cBhvr>
                                      <p:to>
                                        <p:strVal val="visible"/>
                                      </p:to>
                                    </p:set>
                                    <p:animEffect transition="in" filter="wipe(left)">
                                      <p:cBhvr>
                                        <p:cTn id="186" dur="500"/>
                                        <p:tgtEl>
                                          <p:spTgt spid="106"/>
                                        </p:tgtEl>
                                      </p:cBhvr>
                                    </p:animEffect>
                                  </p:childTnLst>
                                </p:cTn>
                              </p:par>
                              <p:par>
                                <p:cTn id="187" presetID="22" presetClass="entr" presetSubtype="8" fill="hold" grpId="0" nodeType="withEffect">
                                  <p:stCondLst>
                                    <p:cond delay="0"/>
                                  </p:stCondLst>
                                  <p:childTnLst>
                                    <p:set>
                                      <p:cBhvr>
                                        <p:cTn id="188" dur="1" fill="hold">
                                          <p:stCondLst>
                                            <p:cond delay="0"/>
                                          </p:stCondLst>
                                        </p:cTn>
                                        <p:tgtEl>
                                          <p:spTgt spid="107"/>
                                        </p:tgtEl>
                                        <p:attrNameLst>
                                          <p:attrName>style.visibility</p:attrName>
                                        </p:attrNameLst>
                                      </p:cBhvr>
                                      <p:to>
                                        <p:strVal val="visible"/>
                                      </p:to>
                                    </p:set>
                                    <p:animEffect transition="in" filter="wipe(left)">
                                      <p:cBhvr>
                                        <p:cTn id="189"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5" grpId="1" animBg="1"/>
      <p:bldP spid="77" grpId="0" animBg="1"/>
      <p:bldP spid="82" grpId="0" animBg="1"/>
      <p:bldP spid="83" grpId="0" animBg="1"/>
      <p:bldP spid="84" grpId="0" animBg="1"/>
      <p:bldP spid="90" grpId="0"/>
      <p:bldP spid="90" grpId="1"/>
      <p:bldP spid="91" grpId="0" animBg="1"/>
      <p:bldP spid="91" grpId="1" animBg="1"/>
      <p:bldP spid="92" grpId="0"/>
      <p:bldP spid="92" grpId="1"/>
      <p:bldP spid="95" grpId="0" animBg="1"/>
      <p:bldP spid="95" grpId="1" animBg="1"/>
      <p:bldP spid="96" grpId="0"/>
      <p:bldP spid="96" grpId="1"/>
      <p:bldP spid="97" grpId="0" animBg="1"/>
      <p:bldP spid="97" grpId="1" animBg="1"/>
      <p:bldP spid="98" grpId="0"/>
      <p:bldP spid="98" grpId="1"/>
      <p:bldP spid="99" grpId="0" animBg="1"/>
      <p:bldP spid="99" grpId="1" animBg="1"/>
      <p:bldP spid="100" grpId="0"/>
      <p:bldP spid="100" grpId="1"/>
      <p:bldP spid="101" grpId="0" animBg="1"/>
      <p:bldP spid="101" grpId="1" animBg="1"/>
      <p:bldP spid="102" grpId="0"/>
      <p:bldP spid="102" grpId="1"/>
      <p:bldP spid="103" grpId="0" animBg="1"/>
      <p:bldP spid="103" grpId="1" animBg="1"/>
      <p:bldP spid="104" grpId="0"/>
      <p:bldP spid="104" grpId="1"/>
      <p:bldP spid="106" grpId="0" animBg="1"/>
      <p:bldP spid="107" grpId="0"/>
      <p:bldP spid="93" grpId="0" animBg="1"/>
      <p:bldP spid="93" grpId="1" animBg="1"/>
      <p:bldP spid="94" grpId="0"/>
      <p:bldP spid="9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65"/>
          <p:cNvSpPr txBox="1"/>
          <p:nvPr/>
        </p:nvSpPr>
        <p:spPr>
          <a:xfrm>
            <a:off x="970550" y="4058445"/>
            <a:ext cx="2685233" cy="713248"/>
          </a:xfrm>
          <a:prstGeom prst="rect">
            <a:avLst/>
          </a:prstGeom>
          <a:solidFill>
            <a:srgbClr val="66FFFF"/>
          </a:solidFill>
          <a:ln w="38100">
            <a:solidFill>
              <a:schemeClr val="tx1"/>
            </a:solidFill>
          </a:ln>
          <a:effectLst>
            <a:softEdge rad="12700"/>
          </a:effectLst>
          <a:scene3d>
            <a:camera prst="orthographicFront">
              <a:rot lat="0" lon="0" rev="0"/>
            </a:camera>
            <a:lightRig rig="threePt" dir="t">
              <a:rot lat="0" lon="0" rev="1200000"/>
            </a:lightRig>
          </a:scene3d>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sysClr val="window" lastClr="FFFFFF"/>
                </a:solidFill>
                <a:effectLst/>
                <a:uLnTx/>
                <a:uFillTx/>
                <a:latin typeface="Calibri"/>
              </a:defRPr>
            </a:lvl1pPr>
          </a:lstStyle>
          <a:p>
            <a:endParaRPr lang="en-IN" dirty="0"/>
          </a:p>
        </p:txBody>
      </p:sp>
      <p:sp>
        <p:nvSpPr>
          <p:cNvPr id="5" name="Round Diagonal Corner Rectangle 4"/>
          <p:cNvSpPr/>
          <p:nvPr/>
        </p:nvSpPr>
        <p:spPr>
          <a:xfrm>
            <a:off x="6156604" y="868393"/>
            <a:ext cx="1828800" cy="646986"/>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Start with HHH</a:t>
            </a:r>
          </a:p>
        </p:txBody>
      </p:sp>
      <p:sp>
        <p:nvSpPr>
          <p:cNvPr id="78" name="Round Diagonal Corner Rectangle 77"/>
          <p:cNvSpPr/>
          <p:nvPr/>
        </p:nvSpPr>
        <p:spPr>
          <a:xfrm>
            <a:off x="5970806" y="876713"/>
            <a:ext cx="2573331" cy="37457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Introduce T </a:t>
            </a:r>
            <a:r>
              <a:rPr lang="en-IN" sz="1600" b="1" kern="0" dirty="0" err="1">
                <a:solidFill>
                  <a:prstClr val="white"/>
                </a:solidFill>
                <a:latin typeface="Bookman Old Style" panose="02050604050505020204" pitchFamily="18" charset="0"/>
              </a:rPr>
              <a:t>inthe</a:t>
            </a:r>
            <a:r>
              <a:rPr lang="en-IN" sz="1600" b="1" kern="0" dirty="0">
                <a:solidFill>
                  <a:prstClr val="white"/>
                </a:solidFill>
                <a:latin typeface="Bookman Old Style" panose="02050604050505020204" pitchFamily="18" charset="0"/>
              </a:rPr>
              <a:t> end</a:t>
            </a:r>
          </a:p>
        </p:txBody>
      </p:sp>
      <p:sp>
        <p:nvSpPr>
          <p:cNvPr id="85" name="Round Diagonal Corner Rectangle 84"/>
          <p:cNvSpPr/>
          <p:nvPr/>
        </p:nvSpPr>
        <p:spPr>
          <a:xfrm>
            <a:off x="6088735" y="876713"/>
            <a:ext cx="2078573" cy="646986"/>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Shift the position of T</a:t>
            </a:r>
          </a:p>
        </p:txBody>
      </p:sp>
      <p:graphicFrame>
        <p:nvGraphicFramePr>
          <p:cNvPr id="128" name="Table 127"/>
          <p:cNvGraphicFramePr>
            <a:graphicFrameLocks noGrp="1"/>
          </p:cNvGraphicFramePr>
          <p:nvPr>
            <p:extLst>
              <p:ext uri="{D42A27DB-BD31-4B8C-83A1-F6EECF244321}">
                <p14:modId xmlns:p14="http://schemas.microsoft.com/office/powerpoint/2010/main" val="1220455778"/>
              </p:ext>
            </p:extLst>
          </p:nvPr>
        </p:nvGraphicFramePr>
        <p:xfrm>
          <a:off x="3084742" y="774367"/>
          <a:ext cx="2479176" cy="3268866"/>
        </p:xfrm>
        <a:graphic>
          <a:graphicData uri="http://schemas.openxmlformats.org/drawingml/2006/table">
            <a:tbl>
              <a:tblPr firstRow="1" bandRow="1">
                <a:tableStyleId>{7DF18680-E054-41AD-8BC1-D1AEF772440D}</a:tableStyleId>
              </a:tblPr>
              <a:tblGrid>
                <a:gridCol w="829407"/>
                <a:gridCol w="850938"/>
                <a:gridCol w="798831"/>
              </a:tblGrid>
              <a:tr h="436530">
                <a:tc>
                  <a:txBody>
                    <a:bodyPr/>
                    <a:lstStyle/>
                    <a:p>
                      <a:endParaRPr lang="en-US" dirty="0"/>
                    </a:p>
                  </a:txBody>
                  <a:tcPr/>
                </a:tc>
                <a:tc>
                  <a:txBody>
                    <a:bodyPr/>
                    <a:lstStyle/>
                    <a:p>
                      <a:endParaRPr lang="en-US" dirty="0"/>
                    </a:p>
                  </a:txBody>
                  <a:tcPr/>
                </a:tc>
                <a:tc>
                  <a:txBody>
                    <a:bodyPr/>
                    <a:lstStyle/>
                    <a:p>
                      <a:endParaRPr lang="en-US" dirty="0"/>
                    </a:p>
                  </a:txBody>
                  <a:tcPr/>
                </a:tc>
              </a:tr>
              <a:tr h="708084">
                <a:tc>
                  <a:txBody>
                    <a:bodyPr/>
                    <a:lstStyle/>
                    <a:p>
                      <a:endParaRPr lang="en-US" dirty="0"/>
                    </a:p>
                  </a:txBody>
                  <a:tcPr/>
                </a:tc>
                <a:tc>
                  <a:txBody>
                    <a:bodyPr/>
                    <a:lstStyle/>
                    <a:p>
                      <a:endParaRPr lang="en-US"/>
                    </a:p>
                  </a:txBody>
                  <a:tcPr/>
                </a:tc>
                <a:tc>
                  <a:txBody>
                    <a:bodyPr/>
                    <a:lstStyle/>
                    <a:p>
                      <a:endParaRPr lang="en-US"/>
                    </a:p>
                  </a:txBody>
                  <a:tcPr/>
                </a:tc>
              </a:tr>
              <a:tr h="708084">
                <a:tc>
                  <a:txBody>
                    <a:bodyPr/>
                    <a:lstStyle/>
                    <a:p>
                      <a:endParaRPr lang="en-US"/>
                    </a:p>
                  </a:txBody>
                  <a:tcPr/>
                </a:tc>
                <a:tc>
                  <a:txBody>
                    <a:bodyPr/>
                    <a:lstStyle/>
                    <a:p>
                      <a:endParaRPr lang="en-US"/>
                    </a:p>
                  </a:txBody>
                  <a:tcPr/>
                </a:tc>
                <a:tc>
                  <a:txBody>
                    <a:bodyPr/>
                    <a:lstStyle/>
                    <a:p>
                      <a:endParaRPr lang="en-US"/>
                    </a:p>
                  </a:txBody>
                  <a:tcPr/>
                </a:tc>
              </a:tr>
              <a:tr h="708084">
                <a:tc>
                  <a:txBody>
                    <a:bodyPr/>
                    <a:lstStyle/>
                    <a:p>
                      <a:endParaRPr lang="en-US"/>
                    </a:p>
                  </a:txBody>
                  <a:tcPr/>
                </a:tc>
                <a:tc>
                  <a:txBody>
                    <a:bodyPr/>
                    <a:lstStyle/>
                    <a:p>
                      <a:endParaRPr lang="en-US"/>
                    </a:p>
                  </a:txBody>
                  <a:tcPr/>
                </a:tc>
                <a:tc>
                  <a:txBody>
                    <a:bodyPr/>
                    <a:lstStyle/>
                    <a:p>
                      <a:endParaRPr lang="en-US"/>
                    </a:p>
                  </a:txBody>
                  <a:tcPr/>
                </a:tc>
              </a:tr>
              <a:tr h="708084">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129" name="TextBox 128"/>
          <p:cNvSpPr txBox="1"/>
          <p:nvPr/>
        </p:nvSpPr>
        <p:spPr>
          <a:xfrm>
            <a:off x="3039614" y="747343"/>
            <a:ext cx="931665" cy="492443"/>
          </a:xfrm>
          <a:prstGeom prst="rect">
            <a:avLst/>
          </a:prstGeom>
          <a:noFill/>
        </p:spPr>
        <p:txBody>
          <a:bodyPr wrap="none" rtlCol="0">
            <a:spAutoFit/>
          </a:bodyPr>
          <a:lstStyle/>
          <a:p>
            <a:r>
              <a:rPr lang="en-US" sz="1300" b="1" dirty="0" smtClean="0">
                <a:solidFill>
                  <a:prstClr val="black"/>
                </a:solidFill>
                <a:latin typeface="Bookman Old Style" pitchFamily="18" charset="0"/>
              </a:rPr>
              <a:t>1</a:t>
            </a:r>
            <a:r>
              <a:rPr lang="en-US" sz="1300" b="1" baseline="30000" dirty="0" smtClean="0">
                <a:solidFill>
                  <a:prstClr val="black"/>
                </a:solidFill>
                <a:latin typeface="Bookman Old Style" pitchFamily="18" charset="0"/>
              </a:rPr>
              <a:t>st</a:t>
            </a:r>
            <a:r>
              <a:rPr lang="en-US" sz="1300" b="1" dirty="0" smtClean="0">
                <a:solidFill>
                  <a:prstClr val="black"/>
                </a:solidFill>
                <a:latin typeface="Bookman Old Style" pitchFamily="18" charset="0"/>
              </a:rPr>
              <a:t> coin/</a:t>
            </a:r>
          </a:p>
          <a:p>
            <a:r>
              <a:rPr lang="en-US" sz="1300" b="1" dirty="0" smtClean="0">
                <a:solidFill>
                  <a:prstClr val="black"/>
                </a:solidFill>
                <a:latin typeface="Bookman Old Style" pitchFamily="18" charset="0"/>
              </a:rPr>
              <a:t>1</a:t>
            </a:r>
            <a:r>
              <a:rPr lang="en-US" sz="1300" b="1" baseline="30000" dirty="0" smtClean="0">
                <a:solidFill>
                  <a:prstClr val="black"/>
                </a:solidFill>
                <a:latin typeface="Bookman Old Style" pitchFamily="18" charset="0"/>
              </a:rPr>
              <a:t>st</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sp>
        <p:nvSpPr>
          <p:cNvPr id="130" name="TextBox 129"/>
          <p:cNvSpPr txBox="1"/>
          <p:nvPr/>
        </p:nvSpPr>
        <p:spPr>
          <a:xfrm>
            <a:off x="3857160" y="747343"/>
            <a:ext cx="968535" cy="492443"/>
          </a:xfrm>
          <a:prstGeom prst="rect">
            <a:avLst/>
          </a:prstGeom>
          <a:noFill/>
        </p:spPr>
        <p:txBody>
          <a:bodyPr wrap="none" rtlCol="0">
            <a:spAutoFit/>
          </a:bodyPr>
          <a:lstStyle/>
          <a:p>
            <a:r>
              <a:rPr lang="en-US" sz="1300" b="1" dirty="0" smtClean="0">
                <a:solidFill>
                  <a:prstClr val="black"/>
                </a:solidFill>
                <a:latin typeface="Bookman Old Style" pitchFamily="18" charset="0"/>
              </a:rPr>
              <a:t>2</a:t>
            </a:r>
            <a:r>
              <a:rPr lang="en-US" sz="1300" b="1" baseline="30000" dirty="0" smtClean="0">
                <a:solidFill>
                  <a:prstClr val="black"/>
                </a:solidFill>
                <a:latin typeface="Bookman Old Style" pitchFamily="18" charset="0"/>
              </a:rPr>
              <a:t>nd</a:t>
            </a:r>
            <a:r>
              <a:rPr lang="en-US" sz="1300" b="1" dirty="0" smtClean="0">
                <a:solidFill>
                  <a:prstClr val="black"/>
                </a:solidFill>
                <a:latin typeface="Bookman Old Style" pitchFamily="18" charset="0"/>
              </a:rPr>
              <a:t> coin/</a:t>
            </a:r>
          </a:p>
          <a:p>
            <a:r>
              <a:rPr lang="en-US" sz="1300" b="1" dirty="0" smtClean="0">
                <a:solidFill>
                  <a:prstClr val="black"/>
                </a:solidFill>
                <a:latin typeface="Bookman Old Style" pitchFamily="18" charset="0"/>
              </a:rPr>
              <a:t>2</a:t>
            </a:r>
            <a:r>
              <a:rPr lang="en-US" sz="1300" b="1" baseline="30000" dirty="0" smtClean="0">
                <a:solidFill>
                  <a:prstClr val="black"/>
                </a:solidFill>
                <a:latin typeface="Bookman Old Style" pitchFamily="18" charset="0"/>
              </a:rPr>
              <a:t>nd</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sp>
        <p:nvSpPr>
          <p:cNvPr id="131" name="TextBox 130"/>
          <p:cNvSpPr txBox="1"/>
          <p:nvPr/>
        </p:nvSpPr>
        <p:spPr>
          <a:xfrm>
            <a:off x="4719932" y="745328"/>
            <a:ext cx="944489" cy="492443"/>
          </a:xfrm>
          <a:prstGeom prst="rect">
            <a:avLst/>
          </a:prstGeom>
          <a:noFill/>
        </p:spPr>
        <p:txBody>
          <a:bodyPr wrap="none" rtlCol="0">
            <a:spAutoFit/>
          </a:bodyPr>
          <a:lstStyle/>
          <a:p>
            <a:r>
              <a:rPr lang="en-US" sz="1300" b="1" dirty="0" smtClean="0">
                <a:solidFill>
                  <a:prstClr val="black"/>
                </a:solidFill>
                <a:latin typeface="Bookman Old Style" pitchFamily="18" charset="0"/>
              </a:rPr>
              <a:t>3</a:t>
            </a:r>
            <a:r>
              <a:rPr lang="en-US" sz="1300" b="1" baseline="30000" dirty="0" smtClean="0">
                <a:solidFill>
                  <a:prstClr val="black"/>
                </a:solidFill>
                <a:latin typeface="Bookman Old Style" pitchFamily="18" charset="0"/>
              </a:rPr>
              <a:t>rd</a:t>
            </a:r>
            <a:r>
              <a:rPr lang="en-US" sz="1300" b="1" dirty="0" smtClean="0">
                <a:solidFill>
                  <a:prstClr val="black"/>
                </a:solidFill>
                <a:latin typeface="Bookman Old Style" pitchFamily="18" charset="0"/>
              </a:rPr>
              <a:t> coin/</a:t>
            </a:r>
          </a:p>
          <a:p>
            <a:r>
              <a:rPr lang="en-US" sz="1300" b="1" dirty="0">
                <a:solidFill>
                  <a:prstClr val="black"/>
                </a:solidFill>
                <a:latin typeface="Bookman Old Style" pitchFamily="18" charset="0"/>
              </a:rPr>
              <a:t>3</a:t>
            </a:r>
            <a:r>
              <a:rPr lang="en-US" sz="1300" b="1" baseline="30000" dirty="0">
                <a:solidFill>
                  <a:prstClr val="black"/>
                </a:solidFill>
                <a:latin typeface="Bookman Old Style" pitchFamily="18" charset="0"/>
              </a:rPr>
              <a:t>rd</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pic>
        <p:nvPicPr>
          <p:cNvPr id="132" name="Picture 131" descr="001978 India 1 RupeeB.jpg"/>
          <p:cNvPicPr>
            <a:picLocks noChangeAspect="1"/>
          </p:cNvPicPr>
          <p:nvPr/>
        </p:nvPicPr>
        <p:blipFill>
          <a:blip r:embed="rId3" cstate="print"/>
          <a:stretch>
            <a:fillRect/>
          </a:stretch>
        </p:blipFill>
        <p:spPr>
          <a:xfrm>
            <a:off x="3060332" y="1154304"/>
            <a:ext cx="787619" cy="827970"/>
          </a:xfrm>
          <a:prstGeom prst="ellipse">
            <a:avLst/>
          </a:prstGeom>
          <a:ln>
            <a:noFill/>
          </a:ln>
          <a:effectLst>
            <a:softEdge rad="112500"/>
          </a:effectLst>
        </p:spPr>
      </p:pic>
      <p:pic>
        <p:nvPicPr>
          <p:cNvPr id="133" name="Picture 132" descr="001978 India 1 RupeeB.jpg"/>
          <p:cNvPicPr>
            <a:picLocks noChangeAspect="1"/>
          </p:cNvPicPr>
          <p:nvPr/>
        </p:nvPicPr>
        <p:blipFill>
          <a:blip r:embed="rId3" cstate="print"/>
          <a:stretch>
            <a:fillRect/>
          </a:stretch>
        </p:blipFill>
        <p:spPr>
          <a:xfrm>
            <a:off x="3898532" y="1154304"/>
            <a:ext cx="787619" cy="827970"/>
          </a:xfrm>
          <a:prstGeom prst="ellipse">
            <a:avLst/>
          </a:prstGeom>
          <a:ln>
            <a:noFill/>
          </a:ln>
          <a:effectLst>
            <a:softEdge rad="112500"/>
          </a:effectLst>
        </p:spPr>
      </p:pic>
      <p:pic>
        <p:nvPicPr>
          <p:cNvPr id="134" name="Picture 133" descr="001978 India 1 RupeeA.jpg"/>
          <p:cNvPicPr>
            <a:picLocks noChangeAspect="1"/>
          </p:cNvPicPr>
          <p:nvPr/>
        </p:nvPicPr>
        <p:blipFill>
          <a:blip r:embed="rId4" cstate="print"/>
          <a:stretch>
            <a:fillRect/>
          </a:stretch>
        </p:blipFill>
        <p:spPr>
          <a:xfrm>
            <a:off x="4747365" y="1884729"/>
            <a:ext cx="787619" cy="799314"/>
          </a:xfrm>
          <a:prstGeom prst="ellipse">
            <a:avLst/>
          </a:prstGeom>
          <a:ln>
            <a:noFill/>
          </a:ln>
          <a:effectLst>
            <a:softEdge rad="112500"/>
          </a:effectLst>
        </p:spPr>
      </p:pic>
      <p:pic>
        <p:nvPicPr>
          <p:cNvPr id="135" name="Picture 134" descr="001978 India 1 RupeeB.jpg"/>
          <p:cNvPicPr>
            <a:picLocks noChangeAspect="1"/>
          </p:cNvPicPr>
          <p:nvPr/>
        </p:nvPicPr>
        <p:blipFill>
          <a:blip r:embed="rId3" cstate="print"/>
          <a:stretch>
            <a:fillRect/>
          </a:stretch>
        </p:blipFill>
        <p:spPr>
          <a:xfrm>
            <a:off x="4747365" y="1154304"/>
            <a:ext cx="787619" cy="827970"/>
          </a:xfrm>
          <a:prstGeom prst="ellipse">
            <a:avLst/>
          </a:prstGeom>
          <a:ln>
            <a:noFill/>
          </a:ln>
          <a:effectLst>
            <a:softEdge rad="112500"/>
          </a:effectLst>
        </p:spPr>
      </p:pic>
      <p:pic>
        <p:nvPicPr>
          <p:cNvPr id="136" name="Picture 135" descr="001978 India 1 RupeeB.jpg"/>
          <p:cNvPicPr>
            <a:picLocks noChangeAspect="1"/>
          </p:cNvPicPr>
          <p:nvPr/>
        </p:nvPicPr>
        <p:blipFill>
          <a:blip r:embed="rId3" cstate="print"/>
          <a:stretch>
            <a:fillRect/>
          </a:stretch>
        </p:blipFill>
        <p:spPr>
          <a:xfrm>
            <a:off x="3070965" y="1870401"/>
            <a:ext cx="787619" cy="827970"/>
          </a:xfrm>
          <a:prstGeom prst="ellipse">
            <a:avLst/>
          </a:prstGeom>
          <a:ln>
            <a:noFill/>
          </a:ln>
          <a:effectLst>
            <a:softEdge rad="112500"/>
          </a:effectLst>
        </p:spPr>
      </p:pic>
      <p:pic>
        <p:nvPicPr>
          <p:cNvPr id="137" name="Picture 136" descr="001978 India 1 RupeeB.jpg"/>
          <p:cNvPicPr>
            <a:picLocks noChangeAspect="1"/>
          </p:cNvPicPr>
          <p:nvPr/>
        </p:nvPicPr>
        <p:blipFill>
          <a:blip r:embed="rId3" cstate="print"/>
          <a:stretch>
            <a:fillRect/>
          </a:stretch>
        </p:blipFill>
        <p:spPr>
          <a:xfrm>
            <a:off x="3909165" y="1870401"/>
            <a:ext cx="787619" cy="827970"/>
          </a:xfrm>
          <a:prstGeom prst="ellipse">
            <a:avLst/>
          </a:prstGeom>
          <a:ln>
            <a:noFill/>
          </a:ln>
          <a:effectLst>
            <a:softEdge rad="112500"/>
          </a:effectLst>
        </p:spPr>
      </p:pic>
      <p:pic>
        <p:nvPicPr>
          <p:cNvPr id="138" name="Picture 137" descr="001978 India 1 RupeeB.jpg"/>
          <p:cNvPicPr>
            <a:picLocks noChangeAspect="1"/>
          </p:cNvPicPr>
          <p:nvPr/>
        </p:nvPicPr>
        <p:blipFill>
          <a:blip r:embed="rId3" cstate="print"/>
          <a:stretch>
            <a:fillRect/>
          </a:stretch>
        </p:blipFill>
        <p:spPr>
          <a:xfrm>
            <a:off x="3075660" y="2563514"/>
            <a:ext cx="787619" cy="827970"/>
          </a:xfrm>
          <a:prstGeom prst="ellipse">
            <a:avLst/>
          </a:prstGeom>
          <a:ln>
            <a:noFill/>
          </a:ln>
          <a:effectLst>
            <a:softEdge rad="112500"/>
          </a:effectLst>
        </p:spPr>
      </p:pic>
      <p:pic>
        <p:nvPicPr>
          <p:cNvPr id="139" name="Picture 138" descr="001978 India 1 RupeeA.jpg"/>
          <p:cNvPicPr>
            <a:picLocks noChangeAspect="1"/>
          </p:cNvPicPr>
          <p:nvPr/>
        </p:nvPicPr>
        <p:blipFill>
          <a:blip r:embed="rId4" cstate="print"/>
          <a:stretch>
            <a:fillRect/>
          </a:stretch>
        </p:blipFill>
        <p:spPr>
          <a:xfrm>
            <a:off x="3913860" y="2577842"/>
            <a:ext cx="787619" cy="799314"/>
          </a:xfrm>
          <a:prstGeom prst="ellipse">
            <a:avLst/>
          </a:prstGeom>
          <a:ln>
            <a:noFill/>
          </a:ln>
          <a:effectLst>
            <a:softEdge rad="112500"/>
          </a:effectLst>
        </p:spPr>
      </p:pic>
      <p:pic>
        <p:nvPicPr>
          <p:cNvPr id="140" name="Picture 139" descr="001978 India 1 RupeeB.jpg"/>
          <p:cNvPicPr>
            <a:picLocks noChangeAspect="1"/>
          </p:cNvPicPr>
          <p:nvPr/>
        </p:nvPicPr>
        <p:blipFill>
          <a:blip r:embed="rId3" cstate="print"/>
          <a:stretch>
            <a:fillRect/>
          </a:stretch>
        </p:blipFill>
        <p:spPr>
          <a:xfrm>
            <a:off x="4752060" y="2563514"/>
            <a:ext cx="787619" cy="827970"/>
          </a:xfrm>
          <a:prstGeom prst="ellipse">
            <a:avLst/>
          </a:prstGeom>
          <a:ln>
            <a:noFill/>
          </a:ln>
          <a:effectLst>
            <a:softEdge rad="112500"/>
          </a:effectLst>
        </p:spPr>
      </p:pic>
      <p:pic>
        <p:nvPicPr>
          <p:cNvPr id="141" name="Picture 140" descr="001978 India 1 RupeeA.jpg"/>
          <p:cNvPicPr>
            <a:picLocks noChangeAspect="1"/>
          </p:cNvPicPr>
          <p:nvPr/>
        </p:nvPicPr>
        <p:blipFill>
          <a:blip r:embed="rId4" cstate="print"/>
          <a:stretch>
            <a:fillRect/>
          </a:stretch>
        </p:blipFill>
        <p:spPr>
          <a:xfrm>
            <a:off x="3081598" y="3310098"/>
            <a:ext cx="787619" cy="799314"/>
          </a:xfrm>
          <a:prstGeom prst="ellipse">
            <a:avLst/>
          </a:prstGeom>
          <a:ln>
            <a:noFill/>
          </a:ln>
          <a:effectLst>
            <a:softEdge rad="112500"/>
          </a:effectLst>
        </p:spPr>
      </p:pic>
      <p:pic>
        <p:nvPicPr>
          <p:cNvPr id="142" name="Picture 141" descr="001978 India 1 RupeeB.jpg"/>
          <p:cNvPicPr>
            <a:picLocks noChangeAspect="1"/>
          </p:cNvPicPr>
          <p:nvPr/>
        </p:nvPicPr>
        <p:blipFill>
          <a:blip r:embed="rId3" cstate="print"/>
          <a:stretch>
            <a:fillRect/>
          </a:stretch>
        </p:blipFill>
        <p:spPr>
          <a:xfrm>
            <a:off x="3919798" y="3263871"/>
            <a:ext cx="787619" cy="827970"/>
          </a:xfrm>
          <a:prstGeom prst="ellipse">
            <a:avLst/>
          </a:prstGeom>
          <a:ln>
            <a:noFill/>
          </a:ln>
          <a:effectLst>
            <a:softEdge rad="112500"/>
          </a:effectLst>
        </p:spPr>
      </p:pic>
      <p:pic>
        <p:nvPicPr>
          <p:cNvPr id="143" name="Picture 142" descr="001978 India 1 RupeeB.jpg"/>
          <p:cNvPicPr>
            <a:picLocks noChangeAspect="1"/>
          </p:cNvPicPr>
          <p:nvPr/>
        </p:nvPicPr>
        <p:blipFill>
          <a:blip r:embed="rId3" cstate="print"/>
          <a:stretch>
            <a:fillRect/>
          </a:stretch>
        </p:blipFill>
        <p:spPr>
          <a:xfrm>
            <a:off x="4757998" y="3263871"/>
            <a:ext cx="787619" cy="827970"/>
          </a:xfrm>
          <a:prstGeom prst="ellipse">
            <a:avLst/>
          </a:prstGeom>
          <a:ln>
            <a:noFill/>
          </a:ln>
          <a:effectLst>
            <a:softEdge rad="112500"/>
          </a:effectLst>
        </p:spPr>
      </p:pic>
      <p:sp>
        <p:nvSpPr>
          <p:cNvPr id="7" name="TextBox 6"/>
          <p:cNvSpPr txBox="1"/>
          <p:nvPr/>
        </p:nvSpPr>
        <p:spPr>
          <a:xfrm>
            <a:off x="541406" y="425439"/>
            <a:ext cx="5805778" cy="400110"/>
          </a:xfrm>
          <a:prstGeom prst="rect">
            <a:avLst/>
          </a:prstGeom>
          <a:noFill/>
        </p:spPr>
        <p:txBody>
          <a:bodyPr wrap="square" rtlCol="0">
            <a:spAutoFit/>
          </a:bodyPr>
          <a:lstStyle/>
          <a:p>
            <a:r>
              <a:rPr lang="en-US" sz="2000" b="1" dirty="0" smtClean="0">
                <a:solidFill>
                  <a:prstClr val="black"/>
                </a:solidFill>
              </a:rPr>
              <a:t>3 Coins are Tossed Together / 1 Coin is tossed thrice</a:t>
            </a:r>
            <a:endParaRPr lang="en-IN" sz="2000" b="1" dirty="0">
              <a:solidFill>
                <a:prstClr val="black"/>
              </a:solidFill>
            </a:endParaRPr>
          </a:p>
        </p:txBody>
      </p:sp>
      <p:sp>
        <p:nvSpPr>
          <p:cNvPr id="16" name="TextBox 15"/>
          <p:cNvSpPr txBox="1"/>
          <p:nvPr/>
        </p:nvSpPr>
        <p:spPr>
          <a:xfrm>
            <a:off x="1005564" y="4027157"/>
            <a:ext cx="3305180" cy="430887"/>
          </a:xfrm>
          <a:prstGeom prst="rect">
            <a:avLst/>
          </a:prstGeom>
          <a:noFill/>
        </p:spPr>
        <p:txBody>
          <a:bodyPr wrap="square" rtlCol="0">
            <a:spAutoFit/>
          </a:bodyPr>
          <a:lstStyle/>
          <a:p>
            <a:r>
              <a:rPr lang="en-US" sz="2200" b="1" dirty="0" smtClean="0">
                <a:solidFill>
                  <a:prstClr val="black"/>
                </a:solidFill>
              </a:rPr>
              <a:t>HH   , HT   , TH   , TT   , </a:t>
            </a:r>
            <a:endParaRPr lang="en-IN" sz="2200" b="1" dirty="0">
              <a:solidFill>
                <a:prstClr val="black"/>
              </a:solidFill>
            </a:endParaRPr>
          </a:p>
        </p:txBody>
      </p:sp>
      <p:sp>
        <p:nvSpPr>
          <p:cNvPr id="24" name="TextBox 23"/>
          <p:cNvSpPr txBox="1"/>
          <p:nvPr/>
        </p:nvSpPr>
        <p:spPr>
          <a:xfrm>
            <a:off x="815962" y="4377380"/>
            <a:ext cx="2852043" cy="430887"/>
          </a:xfrm>
          <a:prstGeom prst="rect">
            <a:avLst/>
          </a:prstGeom>
          <a:noFill/>
        </p:spPr>
        <p:txBody>
          <a:bodyPr wrap="square" rtlCol="0">
            <a:spAutoFit/>
          </a:bodyPr>
          <a:lstStyle/>
          <a:p>
            <a:r>
              <a:rPr lang="en-US" sz="2200" b="1" dirty="0" smtClean="0">
                <a:solidFill>
                  <a:prstClr val="black"/>
                </a:solidFill>
              </a:rPr>
              <a:t>   HH   , HT   , TH   , TT</a:t>
            </a:r>
            <a:endParaRPr lang="en-IN" sz="2200" b="1" dirty="0">
              <a:solidFill>
                <a:prstClr val="black"/>
              </a:solidFill>
            </a:endParaRPr>
          </a:p>
        </p:txBody>
      </p:sp>
      <p:sp>
        <p:nvSpPr>
          <p:cNvPr id="37" name="TextBox 36"/>
          <p:cNvSpPr txBox="1"/>
          <p:nvPr/>
        </p:nvSpPr>
        <p:spPr>
          <a:xfrm>
            <a:off x="1332241" y="4027219"/>
            <a:ext cx="428628" cy="430887"/>
          </a:xfrm>
          <a:prstGeom prst="rect">
            <a:avLst/>
          </a:prstGeom>
          <a:noFill/>
        </p:spPr>
        <p:txBody>
          <a:bodyPr wrap="square" rtlCol="0">
            <a:spAutoFit/>
          </a:bodyPr>
          <a:lstStyle/>
          <a:p>
            <a:r>
              <a:rPr lang="en-US" sz="2200" b="1" dirty="0" smtClean="0">
                <a:solidFill>
                  <a:srgbClr val="FF0000"/>
                </a:solidFill>
              </a:rPr>
              <a:t>H</a:t>
            </a:r>
            <a:endParaRPr lang="en-IN" sz="2200" dirty="0">
              <a:solidFill>
                <a:srgbClr val="FF0000"/>
              </a:solidFill>
            </a:endParaRPr>
          </a:p>
        </p:txBody>
      </p:sp>
      <p:sp>
        <p:nvSpPr>
          <p:cNvPr id="38" name="TextBox 37"/>
          <p:cNvSpPr txBox="1"/>
          <p:nvPr/>
        </p:nvSpPr>
        <p:spPr>
          <a:xfrm>
            <a:off x="1975846" y="4027887"/>
            <a:ext cx="428628" cy="430887"/>
          </a:xfrm>
          <a:prstGeom prst="rect">
            <a:avLst/>
          </a:prstGeom>
          <a:noFill/>
        </p:spPr>
        <p:txBody>
          <a:bodyPr wrap="square" rtlCol="0">
            <a:spAutoFit/>
          </a:bodyPr>
          <a:lstStyle/>
          <a:p>
            <a:r>
              <a:rPr lang="en-US" sz="2200" b="1" dirty="0" smtClean="0">
                <a:solidFill>
                  <a:srgbClr val="FF0000"/>
                </a:solidFill>
              </a:rPr>
              <a:t>H</a:t>
            </a:r>
            <a:endParaRPr lang="en-IN" sz="2200" dirty="0">
              <a:solidFill>
                <a:srgbClr val="FF0000"/>
              </a:solidFill>
            </a:endParaRPr>
          </a:p>
        </p:txBody>
      </p:sp>
      <p:sp>
        <p:nvSpPr>
          <p:cNvPr id="39" name="TextBox 38"/>
          <p:cNvSpPr txBox="1"/>
          <p:nvPr/>
        </p:nvSpPr>
        <p:spPr>
          <a:xfrm>
            <a:off x="2606561" y="4027887"/>
            <a:ext cx="428628" cy="430887"/>
          </a:xfrm>
          <a:prstGeom prst="rect">
            <a:avLst/>
          </a:prstGeom>
          <a:noFill/>
        </p:spPr>
        <p:txBody>
          <a:bodyPr wrap="square" rtlCol="0">
            <a:spAutoFit/>
          </a:bodyPr>
          <a:lstStyle/>
          <a:p>
            <a:r>
              <a:rPr lang="en-US" sz="2200" b="1" dirty="0" smtClean="0">
                <a:solidFill>
                  <a:srgbClr val="FF0000"/>
                </a:solidFill>
              </a:rPr>
              <a:t>H</a:t>
            </a:r>
            <a:endParaRPr lang="en-IN" sz="2200" dirty="0">
              <a:solidFill>
                <a:srgbClr val="FF0000"/>
              </a:solidFill>
            </a:endParaRPr>
          </a:p>
        </p:txBody>
      </p:sp>
      <p:sp>
        <p:nvSpPr>
          <p:cNvPr id="40" name="TextBox 39"/>
          <p:cNvSpPr txBox="1"/>
          <p:nvPr/>
        </p:nvSpPr>
        <p:spPr>
          <a:xfrm>
            <a:off x="3239377" y="4027887"/>
            <a:ext cx="428628" cy="430887"/>
          </a:xfrm>
          <a:prstGeom prst="rect">
            <a:avLst/>
          </a:prstGeom>
          <a:noFill/>
        </p:spPr>
        <p:txBody>
          <a:bodyPr wrap="square" rtlCol="0">
            <a:spAutoFit/>
          </a:bodyPr>
          <a:lstStyle/>
          <a:p>
            <a:r>
              <a:rPr lang="en-US" sz="2200" b="1" dirty="0" smtClean="0">
                <a:solidFill>
                  <a:srgbClr val="FF0000"/>
                </a:solidFill>
              </a:rPr>
              <a:t>H</a:t>
            </a:r>
            <a:endParaRPr lang="en-IN" sz="2200" dirty="0">
              <a:solidFill>
                <a:srgbClr val="FF0000"/>
              </a:solidFill>
            </a:endParaRPr>
          </a:p>
        </p:txBody>
      </p:sp>
      <p:sp>
        <p:nvSpPr>
          <p:cNvPr id="41" name="TextBox 40"/>
          <p:cNvSpPr txBox="1"/>
          <p:nvPr/>
        </p:nvSpPr>
        <p:spPr>
          <a:xfrm>
            <a:off x="1356024" y="4377380"/>
            <a:ext cx="428628" cy="430887"/>
          </a:xfrm>
          <a:prstGeom prst="rect">
            <a:avLst/>
          </a:prstGeom>
          <a:noFill/>
        </p:spPr>
        <p:txBody>
          <a:bodyPr wrap="square" rtlCol="0">
            <a:spAutoFit/>
          </a:bodyPr>
          <a:lstStyle/>
          <a:p>
            <a:r>
              <a:rPr lang="en-US" sz="2200" b="1" dirty="0" smtClean="0">
                <a:solidFill>
                  <a:srgbClr val="FF0000"/>
                </a:solidFill>
              </a:rPr>
              <a:t>T</a:t>
            </a:r>
            <a:endParaRPr lang="en-IN" sz="2200" dirty="0">
              <a:solidFill>
                <a:srgbClr val="FF0000"/>
              </a:solidFill>
            </a:endParaRPr>
          </a:p>
        </p:txBody>
      </p:sp>
      <p:sp>
        <p:nvSpPr>
          <p:cNvPr id="42" name="TextBox 41"/>
          <p:cNvSpPr txBox="1"/>
          <p:nvPr/>
        </p:nvSpPr>
        <p:spPr>
          <a:xfrm>
            <a:off x="2011410" y="4376470"/>
            <a:ext cx="428628" cy="430887"/>
          </a:xfrm>
          <a:prstGeom prst="rect">
            <a:avLst/>
          </a:prstGeom>
          <a:noFill/>
        </p:spPr>
        <p:txBody>
          <a:bodyPr wrap="square" rtlCol="0">
            <a:spAutoFit/>
          </a:bodyPr>
          <a:lstStyle/>
          <a:p>
            <a:r>
              <a:rPr lang="en-US" sz="2200" b="1" dirty="0" smtClean="0">
                <a:solidFill>
                  <a:srgbClr val="FF0000"/>
                </a:solidFill>
              </a:rPr>
              <a:t>T</a:t>
            </a:r>
            <a:endParaRPr lang="en-IN" sz="2200" dirty="0">
              <a:solidFill>
                <a:srgbClr val="FF0000"/>
              </a:solidFill>
            </a:endParaRPr>
          </a:p>
        </p:txBody>
      </p:sp>
      <p:sp>
        <p:nvSpPr>
          <p:cNvPr id="43" name="TextBox 42"/>
          <p:cNvSpPr txBox="1"/>
          <p:nvPr/>
        </p:nvSpPr>
        <p:spPr>
          <a:xfrm>
            <a:off x="2634751" y="4376470"/>
            <a:ext cx="428628" cy="430887"/>
          </a:xfrm>
          <a:prstGeom prst="rect">
            <a:avLst/>
          </a:prstGeom>
          <a:noFill/>
        </p:spPr>
        <p:txBody>
          <a:bodyPr wrap="square" rtlCol="0">
            <a:spAutoFit/>
          </a:bodyPr>
          <a:lstStyle/>
          <a:p>
            <a:r>
              <a:rPr lang="en-US" sz="2200" b="1" dirty="0" smtClean="0">
                <a:solidFill>
                  <a:srgbClr val="FF0000"/>
                </a:solidFill>
              </a:rPr>
              <a:t>T</a:t>
            </a:r>
            <a:endParaRPr lang="en-IN" sz="2200" dirty="0">
              <a:solidFill>
                <a:srgbClr val="FF0000"/>
              </a:solidFill>
            </a:endParaRPr>
          </a:p>
        </p:txBody>
      </p:sp>
      <p:sp>
        <p:nvSpPr>
          <p:cNvPr id="44" name="TextBox 43"/>
          <p:cNvSpPr txBox="1"/>
          <p:nvPr/>
        </p:nvSpPr>
        <p:spPr>
          <a:xfrm>
            <a:off x="3253503" y="4377380"/>
            <a:ext cx="428628" cy="430887"/>
          </a:xfrm>
          <a:prstGeom prst="rect">
            <a:avLst/>
          </a:prstGeom>
          <a:noFill/>
        </p:spPr>
        <p:txBody>
          <a:bodyPr wrap="square" rtlCol="0">
            <a:spAutoFit/>
          </a:bodyPr>
          <a:lstStyle/>
          <a:p>
            <a:r>
              <a:rPr lang="en-US" sz="2200" b="1" dirty="0" smtClean="0">
                <a:solidFill>
                  <a:srgbClr val="FF0000"/>
                </a:solidFill>
              </a:rPr>
              <a:t>T</a:t>
            </a:r>
            <a:endParaRPr lang="en-IN" sz="2200" dirty="0">
              <a:solidFill>
                <a:srgbClr val="FF0000"/>
              </a:solidFill>
            </a:endParaRPr>
          </a:p>
        </p:txBody>
      </p:sp>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7735" y="972576"/>
            <a:ext cx="762000" cy="1524000"/>
          </a:xfrm>
          <a:prstGeom prst="rect">
            <a:avLst/>
          </a:prstGeom>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45935" y="978665"/>
            <a:ext cx="762000" cy="1524000"/>
          </a:xfrm>
          <a:prstGeom prst="rect">
            <a:avLst/>
          </a:prstGeom>
        </p:spPr>
      </p:pic>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2365" y="966902"/>
            <a:ext cx="762000" cy="152400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499512577"/>
              </p:ext>
            </p:extLst>
          </p:nvPr>
        </p:nvGraphicFramePr>
        <p:xfrm>
          <a:off x="552039" y="770233"/>
          <a:ext cx="2479176" cy="3268866"/>
        </p:xfrm>
        <a:graphic>
          <a:graphicData uri="http://schemas.openxmlformats.org/drawingml/2006/table">
            <a:tbl>
              <a:tblPr firstRow="1" bandRow="1">
                <a:tableStyleId>{7DF18680-E054-41AD-8BC1-D1AEF772440D}</a:tableStyleId>
              </a:tblPr>
              <a:tblGrid>
                <a:gridCol w="829407"/>
                <a:gridCol w="850938"/>
                <a:gridCol w="798831"/>
              </a:tblGrid>
              <a:tr h="436530">
                <a:tc>
                  <a:txBody>
                    <a:bodyPr/>
                    <a:lstStyle/>
                    <a:p>
                      <a:endParaRPr lang="en-US" dirty="0"/>
                    </a:p>
                  </a:txBody>
                  <a:tcPr/>
                </a:tc>
                <a:tc>
                  <a:txBody>
                    <a:bodyPr/>
                    <a:lstStyle/>
                    <a:p>
                      <a:endParaRPr lang="en-US" dirty="0"/>
                    </a:p>
                  </a:txBody>
                  <a:tcPr/>
                </a:tc>
                <a:tc>
                  <a:txBody>
                    <a:bodyPr/>
                    <a:lstStyle/>
                    <a:p>
                      <a:endParaRPr lang="en-US" dirty="0"/>
                    </a:p>
                  </a:txBody>
                  <a:tcPr/>
                </a:tc>
              </a:tr>
              <a:tr h="708084">
                <a:tc>
                  <a:txBody>
                    <a:bodyPr/>
                    <a:lstStyle/>
                    <a:p>
                      <a:endParaRPr lang="en-US"/>
                    </a:p>
                  </a:txBody>
                  <a:tcPr/>
                </a:tc>
                <a:tc>
                  <a:txBody>
                    <a:bodyPr/>
                    <a:lstStyle/>
                    <a:p>
                      <a:endParaRPr lang="en-US"/>
                    </a:p>
                  </a:txBody>
                  <a:tcPr/>
                </a:tc>
                <a:tc>
                  <a:txBody>
                    <a:bodyPr/>
                    <a:lstStyle/>
                    <a:p>
                      <a:endParaRPr lang="en-US" dirty="0"/>
                    </a:p>
                  </a:txBody>
                  <a:tcPr/>
                </a:tc>
              </a:tr>
              <a:tr h="708084">
                <a:tc>
                  <a:txBody>
                    <a:bodyPr/>
                    <a:lstStyle/>
                    <a:p>
                      <a:endParaRPr lang="en-US" dirty="0"/>
                    </a:p>
                  </a:txBody>
                  <a:tcPr/>
                </a:tc>
                <a:tc>
                  <a:txBody>
                    <a:bodyPr/>
                    <a:lstStyle/>
                    <a:p>
                      <a:endParaRPr lang="en-US"/>
                    </a:p>
                  </a:txBody>
                  <a:tcPr/>
                </a:tc>
                <a:tc>
                  <a:txBody>
                    <a:bodyPr/>
                    <a:lstStyle/>
                    <a:p>
                      <a:endParaRPr lang="en-US" dirty="0"/>
                    </a:p>
                  </a:txBody>
                  <a:tcPr/>
                </a:tc>
              </a:tr>
              <a:tr h="708084">
                <a:tc>
                  <a:txBody>
                    <a:bodyPr/>
                    <a:lstStyle/>
                    <a:p>
                      <a:endParaRPr lang="en-US"/>
                    </a:p>
                  </a:txBody>
                  <a:tcPr/>
                </a:tc>
                <a:tc>
                  <a:txBody>
                    <a:bodyPr/>
                    <a:lstStyle/>
                    <a:p>
                      <a:endParaRPr lang="en-US"/>
                    </a:p>
                  </a:txBody>
                  <a:tcPr/>
                </a:tc>
                <a:tc>
                  <a:txBody>
                    <a:bodyPr/>
                    <a:lstStyle/>
                    <a:p>
                      <a:endParaRPr lang="en-US"/>
                    </a:p>
                  </a:txBody>
                  <a:tcPr/>
                </a:tc>
              </a:tr>
              <a:tr h="708084">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3" name="TextBox 2"/>
          <p:cNvSpPr txBox="1"/>
          <p:nvPr/>
        </p:nvSpPr>
        <p:spPr>
          <a:xfrm>
            <a:off x="499728" y="744049"/>
            <a:ext cx="931665" cy="492443"/>
          </a:xfrm>
          <a:prstGeom prst="rect">
            <a:avLst/>
          </a:prstGeom>
          <a:noFill/>
        </p:spPr>
        <p:txBody>
          <a:bodyPr wrap="none" rtlCol="0">
            <a:spAutoFit/>
          </a:bodyPr>
          <a:lstStyle/>
          <a:p>
            <a:r>
              <a:rPr lang="en-US" sz="1300" b="1" dirty="0" smtClean="0">
                <a:solidFill>
                  <a:prstClr val="black"/>
                </a:solidFill>
                <a:latin typeface="Bookman Old Style" pitchFamily="18" charset="0"/>
              </a:rPr>
              <a:t>1</a:t>
            </a:r>
            <a:r>
              <a:rPr lang="en-US" sz="1300" b="1" baseline="30000" dirty="0" smtClean="0">
                <a:solidFill>
                  <a:prstClr val="black"/>
                </a:solidFill>
                <a:latin typeface="Bookman Old Style" pitchFamily="18" charset="0"/>
              </a:rPr>
              <a:t>st</a:t>
            </a:r>
            <a:r>
              <a:rPr lang="en-US" sz="1300" b="1" dirty="0" smtClean="0">
                <a:solidFill>
                  <a:prstClr val="black"/>
                </a:solidFill>
                <a:latin typeface="Bookman Old Style" pitchFamily="18" charset="0"/>
              </a:rPr>
              <a:t> coin/</a:t>
            </a:r>
          </a:p>
          <a:p>
            <a:r>
              <a:rPr lang="en-US" sz="1300" b="1" dirty="0" smtClean="0">
                <a:solidFill>
                  <a:prstClr val="black"/>
                </a:solidFill>
                <a:latin typeface="Bookman Old Style" pitchFamily="18" charset="0"/>
              </a:rPr>
              <a:t>1</a:t>
            </a:r>
            <a:r>
              <a:rPr lang="en-US" sz="1300" b="1" baseline="30000" dirty="0" smtClean="0">
                <a:solidFill>
                  <a:prstClr val="black"/>
                </a:solidFill>
                <a:latin typeface="Bookman Old Style" pitchFamily="18" charset="0"/>
              </a:rPr>
              <a:t>st</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sp>
        <p:nvSpPr>
          <p:cNvPr id="48" name="TextBox 47"/>
          <p:cNvSpPr txBox="1"/>
          <p:nvPr/>
        </p:nvSpPr>
        <p:spPr>
          <a:xfrm>
            <a:off x="1317274" y="744049"/>
            <a:ext cx="968535" cy="492443"/>
          </a:xfrm>
          <a:prstGeom prst="rect">
            <a:avLst/>
          </a:prstGeom>
          <a:noFill/>
        </p:spPr>
        <p:txBody>
          <a:bodyPr wrap="none" rtlCol="0">
            <a:spAutoFit/>
          </a:bodyPr>
          <a:lstStyle/>
          <a:p>
            <a:r>
              <a:rPr lang="en-US" sz="1300" b="1" dirty="0" smtClean="0">
                <a:solidFill>
                  <a:prstClr val="black"/>
                </a:solidFill>
                <a:latin typeface="Bookman Old Style" pitchFamily="18" charset="0"/>
              </a:rPr>
              <a:t>2</a:t>
            </a:r>
            <a:r>
              <a:rPr lang="en-US" sz="1300" b="1" baseline="30000" dirty="0" smtClean="0">
                <a:solidFill>
                  <a:prstClr val="black"/>
                </a:solidFill>
                <a:latin typeface="Bookman Old Style" pitchFamily="18" charset="0"/>
              </a:rPr>
              <a:t>nd</a:t>
            </a:r>
            <a:r>
              <a:rPr lang="en-US" sz="1300" b="1" dirty="0" smtClean="0">
                <a:solidFill>
                  <a:prstClr val="black"/>
                </a:solidFill>
                <a:latin typeface="Bookman Old Style" pitchFamily="18" charset="0"/>
              </a:rPr>
              <a:t> coin/</a:t>
            </a:r>
          </a:p>
          <a:p>
            <a:r>
              <a:rPr lang="en-US" sz="1300" b="1" dirty="0" smtClean="0">
                <a:solidFill>
                  <a:prstClr val="black"/>
                </a:solidFill>
                <a:latin typeface="Bookman Old Style" pitchFamily="18" charset="0"/>
              </a:rPr>
              <a:t>2</a:t>
            </a:r>
            <a:r>
              <a:rPr lang="en-US" sz="1300" b="1" baseline="30000" dirty="0" smtClean="0">
                <a:solidFill>
                  <a:prstClr val="black"/>
                </a:solidFill>
                <a:latin typeface="Bookman Old Style" pitchFamily="18" charset="0"/>
              </a:rPr>
              <a:t>nd</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sp>
        <p:nvSpPr>
          <p:cNvPr id="49" name="TextBox 48"/>
          <p:cNvSpPr txBox="1"/>
          <p:nvPr/>
        </p:nvSpPr>
        <p:spPr>
          <a:xfrm>
            <a:off x="2165578" y="741798"/>
            <a:ext cx="944489" cy="492443"/>
          </a:xfrm>
          <a:prstGeom prst="rect">
            <a:avLst/>
          </a:prstGeom>
          <a:noFill/>
        </p:spPr>
        <p:txBody>
          <a:bodyPr wrap="none" rtlCol="0">
            <a:spAutoFit/>
          </a:bodyPr>
          <a:lstStyle/>
          <a:p>
            <a:r>
              <a:rPr lang="en-US" sz="1300" b="1" dirty="0" smtClean="0">
                <a:solidFill>
                  <a:prstClr val="black"/>
                </a:solidFill>
                <a:latin typeface="Bookman Old Style" pitchFamily="18" charset="0"/>
              </a:rPr>
              <a:t>3</a:t>
            </a:r>
            <a:r>
              <a:rPr lang="en-US" sz="1300" b="1" baseline="30000" dirty="0" smtClean="0">
                <a:solidFill>
                  <a:prstClr val="black"/>
                </a:solidFill>
                <a:latin typeface="Bookman Old Style" pitchFamily="18" charset="0"/>
              </a:rPr>
              <a:t>rd</a:t>
            </a:r>
            <a:r>
              <a:rPr lang="en-US" sz="1300" b="1" dirty="0" smtClean="0">
                <a:solidFill>
                  <a:prstClr val="black"/>
                </a:solidFill>
                <a:latin typeface="Bookman Old Style" pitchFamily="18" charset="0"/>
              </a:rPr>
              <a:t> coin/</a:t>
            </a:r>
          </a:p>
          <a:p>
            <a:r>
              <a:rPr lang="en-US" sz="1300" b="1" dirty="0">
                <a:solidFill>
                  <a:prstClr val="black"/>
                </a:solidFill>
                <a:latin typeface="Bookman Old Style" pitchFamily="18" charset="0"/>
              </a:rPr>
              <a:t>3</a:t>
            </a:r>
            <a:r>
              <a:rPr lang="en-US" sz="1300" b="1" baseline="30000" dirty="0">
                <a:solidFill>
                  <a:prstClr val="black"/>
                </a:solidFill>
                <a:latin typeface="Bookman Old Style" pitchFamily="18" charset="0"/>
              </a:rPr>
              <a:t>rd</a:t>
            </a:r>
            <a:r>
              <a:rPr lang="en-US" sz="1300" b="1" dirty="0" smtClean="0">
                <a:solidFill>
                  <a:prstClr val="black"/>
                </a:solidFill>
                <a:latin typeface="Bookman Old Style" pitchFamily="18" charset="0"/>
              </a:rPr>
              <a:t> time</a:t>
            </a:r>
            <a:endParaRPr lang="en-US" sz="1300" b="1" dirty="0">
              <a:solidFill>
                <a:prstClr val="black"/>
              </a:solidFill>
              <a:latin typeface="Bookman Old Style" pitchFamily="18" charset="0"/>
            </a:endParaRPr>
          </a:p>
        </p:txBody>
      </p:sp>
      <p:pic>
        <p:nvPicPr>
          <p:cNvPr id="50" name="Picture 49" descr="001978 India 1 RupeeA.jpg"/>
          <p:cNvPicPr>
            <a:picLocks noChangeAspect="1"/>
          </p:cNvPicPr>
          <p:nvPr/>
        </p:nvPicPr>
        <p:blipFill>
          <a:blip r:embed="rId6" cstate="print"/>
          <a:stretch>
            <a:fillRect/>
          </a:stretch>
        </p:blipFill>
        <p:spPr>
          <a:xfrm>
            <a:off x="560049" y="1148807"/>
            <a:ext cx="827795" cy="840087"/>
          </a:xfrm>
          <a:prstGeom prst="ellipse">
            <a:avLst/>
          </a:prstGeom>
          <a:ln>
            <a:noFill/>
          </a:ln>
          <a:effectLst>
            <a:softEdge rad="112500"/>
          </a:effectLst>
        </p:spPr>
      </p:pic>
      <p:pic>
        <p:nvPicPr>
          <p:cNvPr id="51" name="Picture 50" descr="001978 India 1 RupeeA.jpg"/>
          <p:cNvPicPr>
            <a:picLocks noChangeAspect="1"/>
          </p:cNvPicPr>
          <p:nvPr/>
        </p:nvPicPr>
        <p:blipFill>
          <a:blip r:embed="rId6" cstate="print"/>
          <a:stretch>
            <a:fillRect/>
          </a:stretch>
        </p:blipFill>
        <p:spPr>
          <a:xfrm>
            <a:off x="1347260" y="1148807"/>
            <a:ext cx="827795" cy="840087"/>
          </a:xfrm>
          <a:prstGeom prst="ellipse">
            <a:avLst/>
          </a:prstGeom>
          <a:ln>
            <a:noFill/>
          </a:ln>
          <a:effectLst>
            <a:softEdge rad="112500"/>
          </a:effectLst>
        </p:spPr>
      </p:pic>
      <p:pic>
        <p:nvPicPr>
          <p:cNvPr id="52" name="Picture 51" descr="001978 India 1 RupeeA.jpg"/>
          <p:cNvPicPr>
            <a:picLocks noChangeAspect="1"/>
          </p:cNvPicPr>
          <p:nvPr/>
        </p:nvPicPr>
        <p:blipFill>
          <a:blip r:embed="rId6" cstate="print"/>
          <a:stretch>
            <a:fillRect/>
          </a:stretch>
        </p:blipFill>
        <p:spPr>
          <a:xfrm>
            <a:off x="2174827" y="1148807"/>
            <a:ext cx="827795" cy="840087"/>
          </a:xfrm>
          <a:prstGeom prst="ellipse">
            <a:avLst/>
          </a:prstGeom>
          <a:ln>
            <a:noFill/>
          </a:ln>
          <a:effectLst>
            <a:softEdge rad="112500"/>
          </a:effectLst>
        </p:spPr>
      </p:pic>
      <p:pic>
        <p:nvPicPr>
          <p:cNvPr id="53" name="Picture 52" descr="001978 India 1 RupeeB.jpg"/>
          <p:cNvPicPr>
            <a:picLocks noChangeAspect="1"/>
          </p:cNvPicPr>
          <p:nvPr/>
        </p:nvPicPr>
        <p:blipFill>
          <a:blip r:embed="rId7" cstate="print"/>
          <a:stretch>
            <a:fillRect/>
          </a:stretch>
        </p:blipFill>
        <p:spPr>
          <a:xfrm>
            <a:off x="2191764" y="1854670"/>
            <a:ext cx="811484" cy="853058"/>
          </a:xfrm>
          <a:prstGeom prst="ellipse">
            <a:avLst/>
          </a:prstGeom>
          <a:ln>
            <a:noFill/>
          </a:ln>
          <a:effectLst>
            <a:softEdge rad="112500"/>
          </a:effectLst>
        </p:spPr>
      </p:pic>
      <p:pic>
        <p:nvPicPr>
          <p:cNvPr id="54" name="Picture 53" descr="001978 India 1 RupeeA.jpg"/>
          <p:cNvPicPr>
            <a:picLocks noChangeAspect="1"/>
          </p:cNvPicPr>
          <p:nvPr/>
        </p:nvPicPr>
        <p:blipFill>
          <a:blip r:embed="rId8" cstate="print"/>
          <a:stretch>
            <a:fillRect/>
          </a:stretch>
        </p:blipFill>
        <p:spPr>
          <a:xfrm>
            <a:off x="566353" y="1880065"/>
            <a:ext cx="811484" cy="823534"/>
          </a:xfrm>
          <a:prstGeom prst="ellipse">
            <a:avLst/>
          </a:prstGeom>
          <a:ln>
            <a:noFill/>
          </a:ln>
          <a:effectLst>
            <a:softEdge rad="112500"/>
          </a:effectLst>
        </p:spPr>
      </p:pic>
      <p:pic>
        <p:nvPicPr>
          <p:cNvPr id="55" name="Picture 54" descr="001978 India 1 RupeeA.jpg"/>
          <p:cNvPicPr>
            <a:picLocks noChangeAspect="1"/>
          </p:cNvPicPr>
          <p:nvPr/>
        </p:nvPicPr>
        <p:blipFill>
          <a:blip r:embed="rId8" cstate="print"/>
          <a:stretch>
            <a:fillRect/>
          </a:stretch>
        </p:blipFill>
        <p:spPr>
          <a:xfrm>
            <a:off x="1353564" y="1880065"/>
            <a:ext cx="811484" cy="823534"/>
          </a:xfrm>
          <a:prstGeom prst="ellipse">
            <a:avLst/>
          </a:prstGeom>
          <a:ln>
            <a:noFill/>
          </a:ln>
          <a:effectLst>
            <a:softEdge rad="112500"/>
          </a:effectLst>
        </p:spPr>
      </p:pic>
      <p:pic>
        <p:nvPicPr>
          <p:cNvPr id="56" name="Picture 55" descr="001978 India 1 RupeeB.jpg"/>
          <p:cNvPicPr>
            <a:picLocks noChangeAspect="1"/>
          </p:cNvPicPr>
          <p:nvPr/>
        </p:nvPicPr>
        <p:blipFill>
          <a:blip r:embed="rId7" cstate="print"/>
          <a:stretch>
            <a:fillRect/>
          </a:stretch>
        </p:blipFill>
        <p:spPr>
          <a:xfrm>
            <a:off x="1346551" y="2550779"/>
            <a:ext cx="811484" cy="853058"/>
          </a:xfrm>
          <a:prstGeom prst="ellipse">
            <a:avLst/>
          </a:prstGeom>
          <a:ln>
            <a:noFill/>
          </a:ln>
          <a:effectLst>
            <a:softEdge rad="112500"/>
          </a:effectLst>
        </p:spPr>
      </p:pic>
      <p:pic>
        <p:nvPicPr>
          <p:cNvPr id="57" name="Picture 56" descr="001978 India 1 RupeeA.jpg"/>
          <p:cNvPicPr>
            <a:picLocks noChangeAspect="1"/>
          </p:cNvPicPr>
          <p:nvPr/>
        </p:nvPicPr>
        <p:blipFill>
          <a:blip r:embed="rId8" cstate="print"/>
          <a:stretch>
            <a:fillRect/>
          </a:stretch>
        </p:blipFill>
        <p:spPr>
          <a:xfrm>
            <a:off x="569973" y="2565541"/>
            <a:ext cx="811484" cy="823534"/>
          </a:xfrm>
          <a:prstGeom prst="ellipse">
            <a:avLst/>
          </a:prstGeom>
          <a:ln>
            <a:noFill/>
          </a:ln>
          <a:effectLst>
            <a:softEdge rad="112500"/>
          </a:effectLst>
        </p:spPr>
      </p:pic>
      <p:pic>
        <p:nvPicPr>
          <p:cNvPr id="58" name="Picture 57" descr="001978 India 1 RupeeA.jpg"/>
          <p:cNvPicPr>
            <a:picLocks noChangeAspect="1"/>
          </p:cNvPicPr>
          <p:nvPr/>
        </p:nvPicPr>
        <p:blipFill>
          <a:blip r:embed="rId8" cstate="print"/>
          <a:stretch>
            <a:fillRect/>
          </a:stretch>
        </p:blipFill>
        <p:spPr>
          <a:xfrm>
            <a:off x="2184751" y="2565541"/>
            <a:ext cx="811484" cy="823534"/>
          </a:xfrm>
          <a:prstGeom prst="ellipse">
            <a:avLst/>
          </a:prstGeom>
          <a:ln>
            <a:noFill/>
          </a:ln>
          <a:effectLst>
            <a:softEdge rad="112500"/>
          </a:effectLst>
        </p:spPr>
      </p:pic>
      <p:pic>
        <p:nvPicPr>
          <p:cNvPr id="59" name="Picture 58" descr="001978 India 1 RupeeB.jpg"/>
          <p:cNvPicPr>
            <a:picLocks noChangeAspect="1"/>
          </p:cNvPicPr>
          <p:nvPr/>
        </p:nvPicPr>
        <p:blipFill>
          <a:blip r:embed="rId9" cstate="print"/>
          <a:stretch>
            <a:fillRect/>
          </a:stretch>
        </p:blipFill>
        <p:spPr>
          <a:xfrm>
            <a:off x="563543" y="3255897"/>
            <a:ext cx="836073" cy="878907"/>
          </a:xfrm>
          <a:prstGeom prst="ellipse">
            <a:avLst/>
          </a:prstGeom>
          <a:ln>
            <a:noFill/>
          </a:ln>
          <a:effectLst>
            <a:softEdge rad="112500"/>
          </a:effectLst>
        </p:spPr>
      </p:pic>
      <p:pic>
        <p:nvPicPr>
          <p:cNvPr id="60" name="Picture 59" descr="001978 India 1 RupeeA.jpg"/>
          <p:cNvPicPr>
            <a:picLocks noChangeAspect="1"/>
          </p:cNvPicPr>
          <p:nvPr/>
        </p:nvPicPr>
        <p:blipFill>
          <a:blip r:embed="rId10" cstate="print"/>
          <a:stretch>
            <a:fillRect/>
          </a:stretch>
        </p:blipFill>
        <p:spPr>
          <a:xfrm>
            <a:off x="1340121" y="3271106"/>
            <a:ext cx="836073" cy="848488"/>
          </a:xfrm>
          <a:prstGeom prst="ellipse">
            <a:avLst/>
          </a:prstGeom>
          <a:ln>
            <a:noFill/>
          </a:ln>
          <a:effectLst>
            <a:softEdge rad="112500"/>
          </a:effectLst>
        </p:spPr>
      </p:pic>
      <p:pic>
        <p:nvPicPr>
          <p:cNvPr id="61" name="Picture 60" descr="001978 India 1 RupeeA.jpg"/>
          <p:cNvPicPr>
            <a:picLocks noChangeAspect="1"/>
          </p:cNvPicPr>
          <p:nvPr/>
        </p:nvPicPr>
        <p:blipFill>
          <a:blip r:embed="rId10" cstate="print"/>
          <a:stretch>
            <a:fillRect/>
          </a:stretch>
        </p:blipFill>
        <p:spPr>
          <a:xfrm>
            <a:off x="2178321" y="3271106"/>
            <a:ext cx="836073" cy="848488"/>
          </a:xfrm>
          <a:prstGeom prst="ellipse">
            <a:avLst/>
          </a:prstGeom>
          <a:ln>
            <a:noFill/>
          </a:ln>
          <a:effectLst>
            <a:softEdge rad="112500"/>
          </a:effectLst>
        </p:spPr>
      </p:pic>
      <p:sp>
        <p:nvSpPr>
          <p:cNvPr id="4" name="Rounded Rectangular Callout 3"/>
          <p:cNvSpPr/>
          <p:nvPr/>
        </p:nvSpPr>
        <p:spPr>
          <a:xfrm>
            <a:off x="580692" y="381412"/>
            <a:ext cx="1004974" cy="296314"/>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80" name="TextBox 79"/>
          <p:cNvSpPr txBox="1"/>
          <p:nvPr/>
        </p:nvSpPr>
        <p:spPr>
          <a:xfrm>
            <a:off x="528513" y="362362"/>
            <a:ext cx="1181100" cy="307777"/>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400" b="1" i="0" u="none" strike="noStrike" kern="0" cap="none" spc="0" normalizeH="0" baseline="0">
                <a:ln>
                  <a:noFill/>
                </a:ln>
                <a:solidFill>
                  <a:prstClr val="white"/>
                </a:solidFill>
                <a:effectLst/>
                <a:uLnTx/>
                <a:uFillTx/>
                <a:latin typeface="Bookman Old Style" panose="02050604050505020204" pitchFamily="18" charset="0"/>
              </a:defRPr>
            </a:lvl1pPr>
          </a:lstStyle>
          <a:p>
            <a:r>
              <a:rPr lang="en-US" dirty="0"/>
              <a:t>Result on</a:t>
            </a:r>
          </a:p>
        </p:txBody>
      </p:sp>
      <p:sp>
        <p:nvSpPr>
          <p:cNvPr id="81" name="Rounded Rectangular Callout 80"/>
          <p:cNvSpPr/>
          <p:nvPr/>
        </p:nvSpPr>
        <p:spPr>
          <a:xfrm>
            <a:off x="1461787" y="387022"/>
            <a:ext cx="1015024" cy="299277"/>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82" name="TextBox 81"/>
          <p:cNvSpPr txBox="1"/>
          <p:nvPr/>
        </p:nvSpPr>
        <p:spPr>
          <a:xfrm>
            <a:off x="1425266" y="377073"/>
            <a:ext cx="1181100" cy="307777"/>
          </a:xfrm>
          <a:prstGeom prst="rect">
            <a:avLst/>
          </a:prstGeom>
          <a:noFill/>
        </p:spPr>
        <p:txBody>
          <a:bodyPr wrap="square" rtlCol="0">
            <a:spAutoFit/>
          </a:bodyPr>
          <a:lstStyle/>
          <a:p>
            <a:r>
              <a:rPr lang="en-US" sz="1400" b="1" dirty="0">
                <a:solidFill>
                  <a:prstClr val="white"/>
                </a:solidFill>
                <a:latin typeface="Bookman Old Style" pitchFamily="18" charset="0"/>
              </a:rPr>
              <a:t>Result </a:t>
            </a:r>
            <a:r>
              <a:rPr lang="en-US" sz="1400" b="1" dirty="0" smtClean="0">
                <a:solidFill>
                  <a:prstClr val="white"/>
                </a:solidFill>
                <a:latin typeface="Bookman Old Style" pitchFamily="18" charset="0"/>
              </a:rPr>
              <a:t>on</a:t>
            </a:r>
            <a:endParaRPr lang="en-US" sz="1400" b="1" dirty="0">
              <a:solidFill>
                <a:prstClr val="white"/>
              </a:solidFill>
              <a:latin typeface="Bookman Old Style" pitchFamily="18" charset="0"/>
            </a:endParaRPr>
          </a:p>
        </p:txBody>
      </p:sp>
      <p:sp>
        <p:nvSpPr>
          <p:cNvPr id="83" name="Rounded Rectangular Callout 82"/>
          <p:cNvSpPr/>
          <p:nvPr/>
        </p:nvSpPr>
        <p:spPr>
          <a:xfrm>
            <a:off x="2282688" y="380722"/>
            <a:ext cx="1004974" cy="299277"/>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84" name="TextBox 83"/>
          <p:cNvSpPr txBox="1"/>
          <p:nvPr/>
        </p:nvSpPr>
        <p:spPr>
          <a:xfrm>
            <a:off x="2241142" y="378393"/>
            <a:ext cx="1181100" cy="307777"/>
          </a:xfrm>
          <a:prstGeom prst="rect">
            <a:avLst/>
          </a:prstGeom>
          <a:noFill/>
        </p:spPr>
        <p:txBody>
          <a:bodyPr wrap="square" rtlCol="0">
            <a:spAutoFit/>
          </a:bodyPr>
          <a:lstStyle/>
          <a:p>
            <a:r>
              <a:rPr lang="en-US" sz="1400" b="1" dirty="0">
                <a:solidFill>
                  <a:prstClr val="white"/>
                </a:solidFill>
                <a:latin typeface="Bookman Old Style" pitchFamily="18" charset="0"/>
              </a:rPr>
              <a:t>Result </a:t>
            </a:r>
            <a:r>
              <a:rPr lang="en-US" sz="1400" b="1" dirty="0" smtClean="0">
                <a:solidFill>
                  <a:prstClr val="white"/>
                </a:solidFill>
                <a:latin typeface="Bookman Old Style" pitchFamily="18" charset="0"/>
              </a:rPr>
              <a:t>on</a:t>
            </a:r>
            <a:endParaRPr lang="en-US" sz="1400" b="1" dirty="0">
              <a:solidFill>
                <a:prstClr val="white"/>
              </a:solidFill>
              <a:latin typeface="Bookman Old Style" pitchFamily="18" charset="0"/>
            </a:endParaRPr>
          </a:p>
        </p:txBody>
      </p:sp>
      <p:sp>
        <p:nvSpPr>
          <p:cNvPr id="92" name="Rounded Rectangular Callout 91"/>
          <p:cNvSpPr/>
          <p:nvPr/>
        </p:nvSpPr>
        <p:spPr>
          <a:xfrm>
            <a:off x="953044" y="2268333"/>
            <a:ext cx="4365811" cy="1758824"/>
          </a:xfrm>
          <a:custGeom>
            <a:avLst/>
            <a:gdLst>
              <a:gd name="connsiteX0" fmla="*/ 0 w 4191000"/>
              <a:gd name="connsiteY0" fmla="*/ 221974 h 1331817"/>
              <a:gd name="connsiteX1" fmla="*/ 221974 w 4191000"/>
              <a:gd name="connsiteY1" fmla="*/ 0 h 1331817"/>
              <a:gd name="connsiteX2" fmla="*/ 698500 w 4191000"/>
              <a:gd name="connsiteY2" fmla="*/ 0 h 1331817"/>
              <a:gd name="connsiteX3" fmla="*/ 698500 w 4191000"/>
              <a:gd name="connsiteY3" fmla="*/ 0 h 1331817"/>
              <a:gd name="connsiteX4" fmla="*/ 1746250 w 4191000"/>
              <a:gd name="connsiteY4" fmla="*/ 0 h 1331817"/>
              <a:gd name="connsiteX5" fmla="*/ 3969026 w 4191000"/>
              <a:gd name="connsiteY5" fmla="*/ 0 h 1331817"/>
              <a:gd name="connsiteX6" fmla="*/ 4191000 w 4191000"/>
              <a:gd name="connsiteY6" fmla="*/ 221974 h 1331817"/>
              <a:gd name="connsiteX7" fmla="*/ 4191000 w 4191000"/>
              <a:gd name="connsiteY7" fmla="*/ 776893 h 1331817"/>
              <a:gd name="connsiteX8" fmla="*/ 4191000 w 4191000"/>
              <a:gd name="connsiteY8" fmla="*/ 776893 h 1331817"/>
              <a:gd name="connsiteX9" fmla="*/ 4191000 w 4191000"/>
              <a:gd name="connsiteY9" fmla="*/ 1109848 h 1331817"/>
              <a:gd name="connsiteX10" fmla="*/ 4191000 w 4191000"/>
              <a:gd name="connsiteY10" fmla="*/ 1109843 h 1331817"/>
              <a:gd name="connsiteX11" fmla="*/ 3969026 w 4191000"/>
              <a:gd name="connsiteY11" fmla="*/ 1331817 h 1331817"/>
              <a:gd name="connsiteX12" fmla="*/ 1746250 w 4191000"/>
              <a:gd name="connsiteY12" fmla="*/ 1331817 h 1331817"/>
              <a:gd name="connsiteX13" fmla="*/ 1258473 w 4191000"/>
              <a:gd name="connsiteY13" fmla="*/ 1758824 h 1331817"/>
              <a:gd name="connsiteX14" fmla="*/ 698500 w 4191000"/>
              <a:gd name="connsiteY14" fmla="*/ 1331817 h 1331817"/>
              <a:gd name="connsiteX15" fmla="*/ 221974 w 4191000"/>
              <a:gd name="connsiteY15" fmla="*/ 1331817 h 1331817"/>
              <a:gd name="connsiteX16" fmla="*/ 0 w 4191000"/>
              <a:gd name="connsiteY16" fmla="*/ 1109843 h 1331817"/>
              <a:gd name="connsiteX17" fmla="*/ 0 w 4191000"/>
              <a:gd name="connsiteY17" fmla="*/ 1109848 h 1331817"/>
              <a:gd name="connsiteX18" fmla="*/ 0 w 4191000"/>
              <a:gd name="connsiteY18" fmla="*/ 776893 h 1331817"/>
              <a:gd name="connsiteX19" fmla="*/ 0 w 4191000"/>
              <a:gd name="connsiteY19" fmla="*/ 776893 h 1331817"/>
              <a:gd name="connsiteX20" fmla="*/ 0 w 4191000"/>
              <a:gd name="connsiteY20" fmla="*/ 221974 h 1331817"/>
              <a:gd name="connsiteX0" fmla="*/ 0 w 4191000"/>
              <a:gd name="connsiteY0" fmla="*/ 221974 h 1758824"/>
              <a:gd name="connsiteX1" fmla="*/ 221974 w 4191000"/>
              <a:gd name="connsiteY1" fmla="*/ 0 h 1758824"/>
              <a:gd name="connsiteX2" fmla="*/ 698500 w 4191000"/>
              <a:gd name="connsiteY2" fmla="*/ 0 h 1758824"/>
              <a:gd name="connsiteX3" fmla="*/ 698500 w 4191000"/>
              <a:gd name="connsiteY3" fmla="*/ 0 h 1758824"/>
              <a:gd name="connsiteX4" fmla="*/ 1746250 w 4191000"/>
              <a:gd name="connsiteY4" fmla="*/ 0 h 1758824"/>
              <a:gd name="connsiteX5" fmla="*/ 3969026 w 4191000"/>
              <a:gd name="connsiteY5" fmla="*/ 0 h 1758824"/>
              <a:gd name="connsiteX6" fmla="*/ 4191000 w 4191000"/>
              <a:gd name="connsiteY6" fmla="*/ 221974 h 1758824"/>
              <a:gd name="connsiteX7" fmla="*/ 4191000 w 4191000"/>
              <a:gd name="connsiteY7" fmla="*/ 776893 h 1758824"/>
              <a:gd name="connsiteX8" fmla="*/ 4191000 w 4191000"/>
              <a:gd name="connsiteY8" fmla="*/ 776893 h 1758824"/>
              <a:gd name="connsiteX9" fmla="*/ 4191000 w 4191000"/>
              <a:gd name="connsiteY9" fmla="*/ 1109848 h 1758824"/>
              <a:gd name="connsiteX10" fmla="*/ 4191000 w 4191000"/>
              <a:gd name="connsiteY10" fmla="*/ 1109843 h 1758824"/>
              <a:gd name="connsiteX11" fmla="*/ 3969026 w 4191000"/>
              <a:gd name="connsiteY11" fmla="*/ 1331817 h 1758824"/>
              <a:gd name="connsiteX12" fmla="*/ 1746250 w 4191000"/>
              <a:gd name="connsiteY12" fmla="*/ 1331817 h 1758824"/>
              <a:gd name="connsiteX13" fmla="*/ 1258473 w 4191000"/>
              <a:gd name="connsiteY13" fmla="*/ 1758824 h 1758824"/>
              <a:gd name="connsiteX14" fmla="*/ 996212 w 4191000"/>
              <a:gd name="connsiteY14" fmla="*/ 1342449 h 1758824"/>
              <a:gd name="connsiteX15" fmla="*/ 221974 w 4191000"/>
              <a:gd name="connsiteY15" fmla="*/ 1331817 h 1758824"/>
              <a:gd name="connsiteX16" fmla="*/ 0 w 4191000"/>
              <a:gd name="connsiteY16" fmla="*/ 1109843 h 1758824"/>
              <a:gd name="connsiteX17" fmla="*/ 0 w 4191000"/>
              <a:gd name="connsiteY17" fmla="*/ 1109848 h 1758824"/>
              <a:gd name="connsiteX18" fmla="*/ 0 w 4191000"/>
              <a:gd name="connsiteY18" fmla="*/ 776893 h 1758824"/>
              <a:gd name="connsiteX19" fmla="*/ 0 w 4191000"/>
              <a:gd name="connsiteY19" fmla="*/ 776893 h 1758824"/>
              <a:gd name="connsiteX20" fmla="*/ 0 w 4191000"/>
              <a:gd name="connsiteY20" fmla="*/ 221974 h 1758824"/>
              <a:gd name="connsiteX0" fmla="*/ 0 w 4191000"/>
              <a:gd name="connsiteY0" fmla="*/ 221974 h 1758824"/>
              <a:gd name="connsiteX1" fmla="*/ 221974 w 4191000"/>
              <a:gd name="connsiteY1" fmla="*/ 0 h 1758824"/>
              <a:gd name="connsiteX2" fmla="*/ 698500 w 4191000"/>
              <a:gd name="connsiteY2" fmla="*/ 0 h 1758824"/>
              <a:gd name="connsiteX3" fmla="*/ 698500 w 4191000"/>
              <a:gd name="connsiteY3" fmla="*/ 0 h 1758824"/>
              <a:gd name="connsiteX4" fmla="*/ 1746250 w 4191000"/>
              <a:gd name="connsiteY4" fmla="*/ 0 h 1758824"/>
              <a:gd name="connsiteX5" fmla="*/ 3969026 w 4191000"/>
              <a:gd name="connsiteY5" fmla="*/ 0 h 1758824"/>
              <a:gd name="connsiteX6" fmla="*/ 4191000 w 4191000"/>
              <a:gd name="connsiteY6" fmla="*/ 221974 h 1758824"/>
              <a:gd name="connsiteX7" fmla="*/ 4191000 w 4191000"/>
              <a:gd name="connsiteY7" fmla="*/ 776893 h 1758824"/>
              <a:gd name="connsiteX8" fmla="*/ 4191000 w 4191000"/>
              <a:gd name="connsiteY8" fmla="*/ 776893 h 1758824"/>
              <a:gd name="connsiteX9" fmla="*/ 4191000 w 4191000"/>
              <a:gd name="connsiteY9" fmla="*/ 1109848 h 1758824"/>
              <a:gd name="connsiteX10" fmla="*/ 4191000 w 4191000"/>
              <a:gd name="connsiteY10" fmla="*/ 1109843 h 1758824"/>
              <a:gd name="connsiteX11" fmla="*/ 3969026 w 4191000"/>
              <a:gd name="connsiteY11" fmla="*/ 1331817 h 1758824"/>
              <a:gd name="connsiteX12" fmla="*/ 1448539 w 4191000"/>
              <a:gd name="connsiteY12" fmla="*/ 1342450 h 1758824"/>
              <a:gd name="connsiteX13" fmla="*/ 1258473 w 4191000"/>
              <a:gd name="connsiteY13" fmla="*/ 1758824 h 1758824"/>
              <a:gd name="connsiteX14" fmla="*/ 996212 w 4191000"/>
              <a:gd name="connsiteY14" fmla="*/ 1342449 h 1758824"/>
              <a:gd name="connsiteX15" fmla="*/ 221974 w 4191000"/>
              <a:gd name="connsiteY15" fmla="*/ 1331817 h 1758824"/>
              <a:gd name="connsiteX16" fmla="*/ 0 w 4191000"/>
              <a:gd name="connsiteY16" fmla="*/ 1109843 h 1758824"/>
              <a:gd name="connsiteX17" fmla="*/ 0 w 4191000"/>
              <a:gd name="connsiteY17" fmla="*/ 1109848 h 1758824"/>
              <a:gd name="connsiteX18" fmla="*/ 0 w 4191000"/>
              <a:gd name="connsiteY18" fmla="*/ 776893 h 1758824"/>
              <a:gd name="connsiteX19" fmla="*/ 0 w 4191000"/>
              <a:gd name="connsiteY19" fmla="*/ 776893 h 1758824"/>
              <a:gd name="connsiteX20" fmla="*/ 0 w 4191000"/>
              <a:gd name="connsiteY20" fmla="*/ 221974 h 1758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91000" h="1758824">
                <a:moveTo>
                  <a:pt x="0" y="221974"/>
                </a:moveTo>
                <a:cubicBezTo>
                  <a:pt x="0" y="99381"/>
                  <a:pt x="99381" y="0"/>
                  <a:pt x="221974" y="0"/>
                </a:cubicBezTo>
                <a:lnTo>
                  <a:pt x="698500" y="0"/>
                </a:lnTo>
                <a:lnTo>
                  <a:pt x="698500" y="0"/>
                </a:lnTo>
                <a:lnTo>
                  <a:pt x="1746250" y="0"/>
                </a:lnTo>
                <a:lnTo>
                  <a:pt x="3969026" y="0"/>
                </a:lnTo>
                <a:cubicBezTo>
                  <a:pt x="4091619" y="0"/>
                  <a:pt x="4191000" y="99381"/>
                  <a:pt x="4191000" y="221974"/>
                </a:cubicBezTo>
                <a:lnTo>
                  <a:pt x="4191000" y="776893"/>
                </a:lnTo>
                <a:lnTo>
                  <a:pt x="4191000" y="776893"/>
                </a:lnTo>
                <a:lnTo>
                  <a:pt x="4191000" y="1109848"/>
                </a:lnTo>
                <a:lnTo>
                  <a:pt x="4191000" y="1109843"/>
                </a:lnTo>
                <a:cubicBezTo>
                  <a:pt x="4191000" y="1232436"/>
                  <a:pt x="4091619" y="1331817"/>
                  <a:pt x="3969026" y="1331817"/>
                </a:cubicBezTo>
                <a:lnTo>
                  <a:pt x="1448539" y="1342450"/>
                </a:lnTo>
                <a:lnTo>
                  <a:pt x="1258473" y="1758824"/>
                </a:lnTo>
                <a:lnTo>
                  <a:pt x="996212" y="1342449"/>
                </a:lnTo>
                <a:cubicBezTo>
                  <a:pt x="837370" y="1342449"/>
                  <a:pt x="380816" y="1331817"/>
                  <a:pt x="221974" y="1331817"/>
                </a:cubicBezTo>
                <a:cubicBezTo>
                  <a:pt x="99381" y="1331817"/>
                  <a:pt x="0" y="1232436"/>
                  <a:pt x="0" y="1109843"/>
                </a:cubicBezTo>
                <a:lnTo>
                  <a:pt x="0" y="1109848"/>
                </a:lnTo>
                <a:lnTo>
                  <a:pt x="0" y="776893"/>
                </a:lnTo>
                <a:lnTo>
                  <a:pt x="0" y="776893"/>
                </a:lnTo>
                <a:lnTo>
                  <a:pt x="0" y="221974"/>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88" name="TextBox 87"/>
          <p:cNvSpPr txBox="1"/>
          <p:nvPr/>
        </p:nvSpPr>
        <p:spPr>
          <a:xfrm>
            <a:off x="973366" y="2640361"/>
            <a:ext cx="4720657" cy="369332"/>
          </a:xfrm>
          <a:prstGeom prst="rect">
            <a:avLst/>
          </a:prstGeom>
          <a:noFill/>
        </p:spPr>
        <p:txBody>
          <a:bodyPr wrap="square" rtlCol="0">
            <a:spAutoFit/>
          </a:bodyPr>
          <a:lstStyle/>
          <a:p>
            <a:r>
              <a:rPr lang="en-US" b="1" dirty="0" smtClean="0">
                <a:solidFill>
                  <a:prstClr val="white"/>
                </a:solidFill>
              </a:rPr>
              <a:t>* Write possible outcomes of 2 coins 2 times</a:t>
            </a:r>
            <a:endParaRPr lang="en-US" b="1" dirty="0">
              <a:solidFill>
                <a:prstClr val="white"/>
              </a:solidFill>
            </a:endParaRPr>
          </a:p>
        </p:txBody>
      </p:sp>
      <p:sp>
        <p:nvSpPr>
          <p:cNvPr id="89" name="TextBox 88"/>
          <p:cNvSpPr txBox="1"/>
          <p:nvPr/>
        </p:nvSpPr>
        <p:spPr>
          <a:xfrm>
            <a:off x="964508" y="2904109"/>
            <a:ext cx="4181978" cy="369332"/>
          </a:xfrm>
          <a:prstGeom prst="rect">
            <a:avLst/>
          </a:prstGeom>
          <a:noFill/>
        </p:spPr>
        <p:txBody>
          <a:bodyPr wrap="square" rtlCol="0">
            <a:spAutoFit/>
          </a:bodyPr>
          <a:lstStyle/>
          <a:p>
            <a:r>
              <a:rPr lang="en-US" b="1" dirty="0" smtClean="0">
                <a:solidFill>
                  <a:prstClr val="white"/>
                </a:solidFill>
              </a:rPr>
              <a:t>* In first time put H as result of 3</a:t>
            </a:r>
            <a:r>
              <a:rPr lang="en-US" b="1" baseline="30000" dirty="0" smtClean="0">
                <a:solidFill>
                  <a:prstClr val="white"/>
                </a:solidFill>
              </a:rPr>
              <a:t>rd</a:t>
            </a:r>
            <a:r>
              <a:rPr lang="en-US" b="1" dirty="0" smtClean="0">
                <a:solidFill>
                  <a:prstClr val="white"/>
                </a:solidFill>
              </a:rPr>
              <a:t> coin </a:t>
            </a:r>
            <a:endParaRPr lang="en-US" b="1" dirty="0">
              <a:solidFill>
                <a:prstClr val="white"/>
              </a:solidFill>
            </a:endParaRPr>
          </a:p>
        </p:txBody>
      </p:sp>
      <p:sp>
        <p:nvSpPr>
          <p:cNvPr id="90" name="TextBox 89"/>
          <p:cNvSpPr txBox="1"/>
          <p:nvPr/>
        </p:nvSpPr>
        <p:spPr>
          <a:xfrm>
            <a:off x="966280" y="3191354"/>
            <a:ext cx="4201472" cy="369332"/>
          </a:xfrm>
          <a:prstGeom prst="rect">
            <a:avLst/>
          </a:prstGeom>
          <a:noFill/>
        </p:spPr>
        <p:txBody>
          <a:bodyPr wrap="square" rtlCol="0">
            <a:spAutoFit/>
          </a:bodyPr>
          <a:lstStyle/>
          <a:p>
            <a:r>
              <a:rPr lang="en-US" b="1" dirty="0" smtClean="0">
                <a:solidFill>
                  <a:prstClr val="white"/>
                </a:solidFill>
              </a:rPr>
              <a:t>* In second time put T as result of 3</a:t>
            </a:r>
            <a:r>
              <a:rPr lang="en-US" b="1" baseline="30000" dirty="0" smtClean="0">
                <a:solidFill>
                  <a:prstClr val="white"/>
                </a:solidFill>
              </a:rPr>
              <a:t>rd</a:t>
            </a:r>
            <a:r>
              <a:rPr lang="en-US" b="1" dirty="0" smtClean="0">
                <a:solidFill>
                  <a:prstClr val="white"/>
                </a:solidFill>
              </a:rPr>
              <a:t> coin </a:t>
            </a:r>
            <a:endParaRPr lang="en-US" b="1" dirty="0">
              <a:solidFill>
                <a:prstClr val="white"/>
              </a:solidFill>
            </a:endParaRPr>
          </a:p>
        </p:txBody>
      </p:sp>
      <p:sp>
        <p:nvSpPr>
          <p:cNvPr id="87" name="TextBox 86"/>
          <p:cNvSpPr txBox="1"/>
          <p:nvPr/>
        </p:nvSpPr>
        <p:spPr>
          <a:xfrm>
            <a:off x="1148809" y="2332450"/>
            <a:ext cx="4545215" cy="369332"/>
          </a:xfrm>
          <a:prstGeom prst="rect">
            <a:avLst/>
          </a:prstGeom>
          <a:noFill/>
        </p:spPr>
        <p:txBody>
          <a:bodyPr wrap="square" rtlCol="0">
            <a:spAutoFit/>
          </a:bodyPr>
          <a:lstStyle/>
          <a:p>
            <a:r>
              <a:rPr lang="en-US" b="1" u="sng" dirty="0" smtClean="0">
                <a:solidFill>
                  <a:prstClr val="white"/>
                </a:solidFill>
              </a:rPr>
              <a:t>RULE TO WRITE POSSIBLE OUTCOMES </a:t>
            </a:r>
            <a:endParaRPr lang="en-US" b="1" u="sng" dirty="0">
              <a:solidFill>
                <a:prstClr val="white"/>
              </a:solidFill>
            </a:endParaRPr>
          </a:p>
        </p:txBody>
      </p:sp>
      <p:sp>
        <p:nvSpPr>
          <p:cNvPr id="86" name="Round Diagonal Corner Rectangle 85"/>
          <p:cNvSpPr/>
          <p:nvPr/>
        </p:nvSpPr>
        <p:spPr>
          <a:xfrm>
            <a:off x="3081598" y="1252138"/>
            <a:ext cx="2453386" cy="1391620"/>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Similarly if we start with TTT and shift the position of H we will get 4 more outcomes</a:t>
            </a:r>
          </a:p>
        </p:txBody>
      </p:sp>
      <p:sp>
        <p:nvSpPr>
          <p:cNvPr id="91" name="Round Diagonal Corner Rectangle 90" hidden="1"/>
          <p:cNvSpPr/>
          <p:nvPr/>
        </p:nvSpPr>
        <p:spPr>
          <a:xfrm>
            <a:off x="5702852" y="868393"/>
            <a:ext cx="2736304" cy="646986"/>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So in all we have 8 outcomes</a:t>
            </a:r>
          </a:p>
        </p:txBody>
      </p:sp>
      <p:sp>
        <p:nvSpPr>
          <p:cNvPr id="94" name="Round Diagonal Corner Rectangle 93" hidden="1"/>
          <p:cNvSpPr/>
          <p:nvPr/>
        </p:nvSpPr>
        <p:spPr>
          <a:xfrm>
            <a:off x="5695977" y="868393"/>
            <a:ext cx="2766580" cy="646986"/>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IN" sz="1600" b="1" kern="0" dirty="0">
                <a:solidFill>
                  <a:prstClr val="white"/>
                </a:solidFill>
                <a:latin typeface="Bookman Old Style" panose="02050604050505020204" pitchFamily="18" charset="0"/>
              </a:rPr>
              <a:t>Shift the position of T</a:t>
            </a:r>
          </a:p>
          <a:p>
            <a:pPr algn="ctr"/>
            <a:r>
              <a:rPr lang="en-IN" sz="1600" b="1" kern="0" dirty="0">
                <a:solidFill>
                  <a:prstClr val="white"/>
                </a:solidFill>
                <a:latin typeface="Bookman Old Style" panose="02050604050505020204" pitchFamily="18" charset="0"/>
              </a:rPr>
              <a:t>One more time</a:t>
            </a:r>
          </a:p>
        </p:txBody>
      </p:sp>
      <p:sp>
        <p:nvSpPr>
          <p:cNvPr id="17" name="TextBox 16"/>
          <p:cNvSpPr txBox="1"/>
          <p:nvPr/>
        </p:nvSpPr>
        <p:spPr>
          <a:xfrm>
            <a:off x="1049791" y="1763282"/>
            <a:ext cx="4102016" cy="369332"/>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prstClr val="black"/>
                </a:solidFill>
                <a:effectLst/>
                <a:uLnTx/>
                <a:uFillTx/>
                <a:latin typeface="Calibri"/>
              </a:defRPr>
            </a:lvl1pPr>
          </a:lstStyle>
          <a:p>
            <a:r>
              <a:rPr lang="en-US" sz="1600" b="1" dirty="0">
                <a:latin typeface="Bookman Old Style" pitchFamily="18" charset="0"/>
              </a:rPr>
              <a:t>Number of all possible outcomes = 8</a:t>
            </a:r>
            <a:endParaRPr lang="en-IN" sz="1600" b="1" dirty="0">
              <a:latin typeface="Bookman Old Style" pitchFamily="18" charset="0"/>
            </a:endParaRPr>
          </a:p>
        </p:txBody>
      </p:sp>
    </p:spTree>
    <p:extLst>
      <p:ext uri="{BB962C8B-B14F-4D97-AF65-F5344CB8AC3E}">
        <p14:creationId xmlns:p14="http://schemas.microsoft.com/office/powerpoint/2010/main" val="269929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left)">
                                      <p:cBhvr>
                                        <p:cTn id="12" dur="500"/>
                                        <p:tgtEl>
                                          <p:spTgt spid="45"/>
                                        </p:tgtEl>
                                      </p:cBhvr>
                                    </p:animEffect>
                                  </p:childTnLst>
                                </p:cTn>
                              </p:par>
                              <p:par>
                                <p:cTn id="13" presetID="22" presetClass="entr" presetSubtype="8"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500"/>
                                        <p:tgtEl>
                                          <p:spTgt spid="46"/>
                                        </p:tgtEl>
                                      </p:cBhvr>
                                    </p:animEffect>
                                  </p:childTnLst>
                                </p:cTn>
                              </p:par>
                              <p:par>
                                <p:cTn id="16" presetID="22" presetClass="entr" presetSubtype="8" fill="hold"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wipe(left)">
                                      <p:cBhvr>
                                        <p:cTn id="18" dur="500"/>
                                        <p:tgtEl>
                                          <p:spTgt spid="4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wipe(left)">
                                      <p:cBhvr>
                                        <p:cTn id="31" dur="500"/>
                                        <p:tgtEl>
                                          <p:spTgt spid="8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8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wipe(down)">
                                      <p:cBhvr>
                                        <p:cTn id="47" dur="500"/>
                                        <p:tgtEl>
                                          <p:spTgt spid="8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wipe(down)">
                                      <p:cBhvr>
                                        <p:cTn id="50" dur="500"/>
                                        <p:tgtEl>
                                          <p:spTgt spid="8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left)">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81"/>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8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ipe(down)">
                                      <p:cBhvr>
                                        <p:cTn id="66" dur="500"/>
                                        <p:tgtEl>
                                          <p:spTgt spid="83"/>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84"/>
                                        </p:tgtEl>
                                        <p:attrNameLst>
                                          <p:attrName>style.visibility</p:attrName>
                                        </p:attrNameLst>
                                      </p:cBhvr>
                                      <p:to>
                                        <p:strVal val="visible"/>
                                      </p:to>
                                    </p:set>
                                    <p:animEffect transition="in" filter="wipe(down)">
                                      <p:cBhvr>
                                        <p:cTn id="69" dur="500"/>
                                        <p:tgtEl>
                                          <p:spTgt spid="8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left)">
                                      <p:cBhvr>
                                        <p:cTn id="74" dur="500"/>
                                        <p:tgtEl>
                                          <p:spTgt spid="49"/>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83"/>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84"/>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wipe(right)">
                                      <p:cBhvr>
                                        <p:cTn id="85" dur="500"/>
                                        <p:tgtEl>
                                          <p:spTgt spid="5"/>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5"/>
                                        </p:tgtEl>
                                        <p:attrNameLst>
                                          <p:attrName>style.visibility</p:attrName>
                                        </p:attrNameLst>
                                      </p:cBhvr>
                                      <p:to>
                                        <p:strVal val="hidden"/>
                                      </p:to>
                                    </p:set>
                                  </p:childTnLst>
                                </p:cTn>
                              </p:par>
                            </p:childTnLst>
                          </p:cTn>
                        </p:par>
                        <p:par>
                          <p:cTn id="90" fill="hold">
                            <p:stCondLst>
                              <p:cond delay="0"/>
                            </p:stCondLst>
                            <p:childTnLst>
                              <p:par>
                                <p:cTn id="91" presetID="22" presetClass="entr" presetSubtype="8" fill="hold" nodeType="after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wipe(left)">
                                      <p:cBhvr>
                                        <p:cTn id="93" dur="500"/>
                                        <p:tgtEl>
                                          <p:spTgt spid="50"/>
                                        </p:tgtEl>
                                      </p:cBhvr>
                                    </p:animEffec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wipe(left)">
                                      <p:cBhvr>
                                        <p:cTn id="97" dur="500"/>
                                        <p:tgtEl>
                                          <p:spTgt spid="51"/>
                                        </p:tgtEl>
                                      </p:cBhvr>
                                    </p:animEffect>
                                  </p:childTnLst>
                                </p:cTn>
                              </p:par>
                            </p:childTnLst>
                          </p:cTn>
                        </p:par>
                        <p:par>
                          <p:cTn id="98" fill="hold">
                            <p:stCondLst>
                              <p:cond delay="1000"/>
                            </p:stCondLst>
                            <p:childTnLst>
                              <p:par>
                                <p:cTn id="99" presetID="22" presetClass="entr" presetSubtype="8" fill="hold" nodeType="after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wipe(left)">
                                      <p:cBhvr>
                                        <p:cTn id="101" dur="500"/>
                                        <p:tgtEl>
                                          <p:spTgt spid="5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2" fill="hold" grpId="0" nodeType="clickEffect">
                                  <p:stCondLst>
                                    <p:cond delay="0"/>
                                  </p:stCondLst>
                                  <p:childTnLst>
                                    <p:set>
                                      <p:cBhvr>
                                        <p:cTn id="105" dur="1" fill="hold">
                                          <p:stCondLst>
                                            <p:cond delay="0"/>
                                          </p:stCondLst>
                                        </p:cTn>
                                        <p:tgtEl>
                                          <p:spTgt spid="78"/>
                                        </p:tgtEl>
                                        <p:attrNameLst>
                                          <p:attrName>style.visibility</p:attrName>
                                        </p:attrNameLst>
                                      </p:cBhvr>
                                      <p:to>
                                        <p:strVal val="visible"/>
                                      </p:to>
                                    </p:set>
                                    <p:animEffect transition="in" filter="wipe(right)">
                                      <p:cBhvr>
                                        <p:cTn id="106" dur="500"/>
                                        <p:tgtEl>
                                          <p:spTgt spid="7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78"/>
                                        </p:tgtEl>
                                        <p:attrNameLst>
                                          <p:attrName>style.visibility</p:attrName>
                                        </p:attrNameLst>
                                      </p:cBhvr>
                                      <p:to>
                                        <p:strVal val="hidden"/>
                                      </p:to>
                                    </p:set>
                                  </p:childTnLst>
                                </p:cTn>
                              </p:par>
                            </p:childTnLst>
                          </p:cTn>
                        </p:par>
                        <p:par>
                          <p:cTn id="111" fill="hold">
                            <p:stCondLst>
                              <p:cond delay="0"/>
                            </p:stCondLst>
                            <p:childTnLst>
                              <p:par>
                                <p:cTn id="112" presetID="22" presetClass="entr" presetSubtype="8" fill="hold" nodeType="afterEffect">
                                  <p:stCondLst>
                                    <p:cond delay="0"/>
                                  </p:stCondLst>
                                  <p:childTnLst>
                                    <p:set>
                                      <p:cBhvr>
                                        <p:cTn id="113" dur="1" fill="hold">
                                          <p:stCondLst>
                                            <p:cond delay="0"/>
                                          </p:stCondLst>
                                        </p:cTn>
                                        <p:tgtEl>
                                          <p:spTgt spid="54"/>
                                        </p:tgtEl>
                                        <p:attrNameLst>
                                          <p:attrName>style.visibility</p:attrName>
                                        </p:attrNameLst>
                                      </p:cBhvr>
                                      <p:to>
                                        <p:strVal val="visible"/>
                                      </p:to>
                                    </p:set>
                                    <p:animEffect transition="in" filter="wipe(left)">
                                      <p:cBhvr>
                                        <p:cTn id="114" dur="500"/>
                                        <p:tgtEl>
                                          <p:spTgt spid="54"/>
                                        </p:tgtEl>
                                      </p:cBhvr>
                                    </p:animEffect>
                                  </p:childTnLst>
                                </p:cTn>
                              </p:par>
                            </p:childTnLst>
                          </p:cTn>
                        </p:par>
                        <p:par>
                          <p:cTn id="115" fill="hold">
                            <p:stCondLst>
                              <p:cond delay="500"/>
                            </p:stCondLst>
                            <p:childTnLst>
                              <p:par>
                                <p:cTn id="116" presetID="22" presetClass="entr" presetSubtype="8" fill="hold" nodeType="afterEffect">
                                  <p:stCondLst>
                                    <p:cond delay="0"/>
                                  </p:stCondLst>
                                  <p:childTnLst>
                                    <p:set>
                                      <p:cBhvr>
                                        <p:cTn id="117" dur="1" fill="hold">
                                          <p:stCondLst>
                                            <p:cond delay="0"/>
                                          </p:stCondLst>
                                        </p:cTn>
                                        <p:tgtEl>
                                          <p:spTgt spid="55"/>
                                        </p:tgtEl>
                                        <p:attrNameLst>
                                          <p:attrName>style.visibility</p:attrName>
                                        </p:attrNameLst>
                                      </p:cBhvr>
                                      <p:to>
                                        <p:strVal val="visible"/>
                                      </p:to>
                                    </p:set>
                                    <p:animEffect transition="in" filter="wipe(left)">
                                      <p:cBhvr>
                                        <p:cTn id="118" dur="500"/>
                                        <p:tgtEl>
                                          <p:spTgt spid="55"/>
                                        </p:tgtEl>
                                      </p:cBhvr>
                                    </p:animEffect>
                                  </p:childTnLst>
                                </p:cTn>
                              </p:par>
                            </p:childTnLst>
                          </p:cTn>
                        </p:par>
                        <p:par>
                          <p:cTn id="119" fill="hold">
                            <p:stCondLst>
                              <p:cond delay="1000"/>
                            </p:stCondLst>
                            <p:childTnLst>
                              <p:par>
                                <p:cTn id="120" presetID="22" presetClass="entr" presetSubtype="8" fill="hold" nodeType="after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wipe(left)">
                                      <p:cBhvr>
                                        <p:cTn id="122" dur="500"/>
                                        <p:tgtEl>
                                          <p:spTgt spid="53"/>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57"/>
                                        </p:tgtEl>
                                        <p:attrNameLst>
                                          <p:attrName>style.visibility</p:attrName>
                                        </p:attrNameLst>
                                      </p:cBhvr>
                                      <p:to>
                                        <p:strVal val="visible"/>
                                      </p:to>
                                    </p:set>
                                    <p:animEffect transition="in" filter="wipe(left)">
                                      <p:cBhvr>
                                        <p:cTn id="127" dur="500"/>
                                        <p:tgtEl>
                                          <p:spTgt spid="57"/>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2" fill="hold" grpId="0" nodeType="clickEffect">
                                  <p:stCondLst>
                                    <p:cond delay="0"/>
                                  </p:stCondLst>
                                  <p:childTnLst>
                                    <p:set>
                                      <p:cBhvr>
                                        <p:cTn id="131" dur="1" fill="hold">
                                          <p:stCondLst>
                                            <p:cond delay="0"/>
                                          </p:stCondLst>
                                        </p:cTn>
                                        <p:tgtEl>
                                          <p:spTgt spid="85"/>
                                        </p:tgtEl>
                                        <p:attrNameLst>
                                          <p:attrName>style.visibility</p:attrName>
                                        </p:attrNameLst>
                                      </p:cBhvr>
                                      <p:to>
                                        <p:strVal val="visible"/>
                                      </p:to>
                                    </p:set>
                                    <p:animEffect transition="in" filter="wipe(right)">
                                      <p:cBhvr>
                                        <p:cTn id="132" dur="500"/>
                                        <p:tgtEl>
                                          <p:spTgt spid="85"/>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1" nodeType="clickEffect">
                                  <p:stCondLst>
                                    <p:cond delay="0"/>
                                  </p:stCondLst>
                                  <p:childTnLst>
                                    <p:set>
                                      <p:cBhvr>
                                        <p:cTn id="136" dur="1" fill="hold">
                                          <p:stCondLst>
                                            <p:cond delay="0"/>
                                          </p:stCondLst>
                                        </p:cTn>
                                        <p:tgtEl>
                                          <p:spTgt spid="85"/>
                                        </p:tgtEl>
                                        <p:attrNameLst>
                                          <p:attrName>style.visibility</p:attrName>
                                        </p:attrNameLst>
                                      </p:cBhvr>
                                      <p:to>
                                        <p:strVal val="hidden"/>
                                      </p:to>
                                    </p:set>
                                  </p:childTnLst>
                                </p:cTn>
                              </p:par>
                            </p:childTnLst>
                          </p:cTn>
                        </p:par>
                        <p:par>
                          <p:cTn id="137" fill="hold">
                            <p:stCondLst>
                              <p:cond delay="0"/>
                            </p:stCondLst>
                            <p:childTnLst>
                              <p:par>
                                <p:cTn id="138" presetID="22" presetClass="entr" presetSubtype="8" fill="hold" nodeType="afterEffect">
                                  <p:stCondLst>
                                    <p:cond delay="0"/>
                                  </p:stCondLst>
                                  <p:childTnLst>
                                    <p:set>
                                      <p:cBhvr>
                                        <p:cTn id="139" dur="1" fill="hold">
                                          <p:stCondLst>
                                            <p:cond delay="0"/>
                                          </p:stCondLst>
                                        </p:cTn>
                                        <p:tgtEl>
                                          <p:spTgt spid="56"/>
                                        </p:tgtEl>
                                        <p:attrNameLst>
                                          <p:attrName>style.visibility</p:attrName>
                                        </p:attrNameLst>
                                      </p:cBhvr>
                                      <p:to>
                                        <p:strVal val="visible"/>
                                      </p:to>
                                    </p:set>
                                    <p:animEffect transition="in" filter="wipe(left)">
                                      <p:cBhvr>
                                        <p:cTn id="140" dur="500"/>
                                        <p:tgtEl>
                                          <p:spTgt spid="56"/>
                                        </p:tgtEl>
                                      </p:cBhvr>
                                    </p:animEffect>
                                  </p:childTnLst>
                                </p:cTn>
                              </p:par>
                            </p:childTnLst>
                          </p:cTn>
                        </p:par>
                        <p:par>
                          <p:cTn id="141" fill="hold">
                            <p:stCondLst>
                              <p:cond delay="500"/>
                            </p:stCondLst>
                            <p:childTnLst>
                              <p:par>
                                <p:cTn id="142" presetID="22" presetClass="entr" presetSubtype="8" fill="hold" nodeType="after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wipe(left)">
                                      <p:cBhvr>
                                        <p:cTn id="144" dur="500"/>
                                        <p:tgtEl>
                                          <p:spTgt spid="58"/>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2" fill="hold" grpId="0" nodeType="clickEffect">
                                  <p:stCondLst>
                                    <p:cond delay="0"/>
                                  </p:stCondLst>
                                  <p:childTnLst>
                                    <p:set>
                                      <p:cBhvr>
                                        <p:cTn id="148" dur="1" fill="hold">
                                          <p:stCondLst>
                                            <p:cond delay="0"/>
                                          </p:stCondLst>
                                        </p:cTn>
                                        <p:tgtEl>
                                          <p:spTgt spid="94"/>
                                        </p:tgtEl>
                                        <p:attrNameLst>
                                          <p:attrName>style.visibility</p:attrName>
                                        </p:attrNameLst>
                                      </p:cBhvr>
                                      <p:to>
                                        <p:strVal val="visible"/>
                                      </p:to>
                                    </p:set>
                                    <p:animEffect transition="in" filter="wipe(right)">
                                      <p:cBhvr>
                                        <p:cTn id="149" dur="500"/>
                                        <p:tgtEl>
                                          <p:spTgt spid="94"/>
                                        </p:tgtEl>
                                      </p:cBhvr>
                                    </p:animEffec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1" nodeType="clickEffect">
                                  <p:stCondLst>
                                    <p:cond delay="0"/>
                                  </p:stCondLst>
                                  <p:childTnLst>
                                    <p:set>
                                      <p:cBhvr>
                                        <p:cTn id="153" dur="1" fill="hold">
                                          <p:stCondLst>
                                            <p:cond delay="0"/>
                                          </p:stCondLst>
                                        </p:cTn>
                                        <p:tgtEl>
                                          <p:spTgt spid="94"/>
                                        </p:tgtEl>
                                        <p:attrNameLst>
                                          <p:attrName>style.visibility</p:attrName>
                                        </p:attrNameLst>
                                      </p:cBhvr>
                                      <p:to>
                                        <p:strVal val="hidden"/>
                                      </p:to>
                                    </p:set>
                                  </p:childTnLst>
                                </p:cTn>
                              </p:par>
                            </p:childTnLst>
                          </p:cTn>
                        </p:par>
                        <p:par>
                          <p:cTn id="154" fill="hold">
                            <p:stCondLst>
                              <p:cond delay="0"/>
                            </p:stCondLst>
                            <p:childTnLst>
                              <p:par>
                                <p:cTn id="155" presetID="22" presetClass="entr" presetSubtype="8" fill="hold" nodeType="after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wipe(left)">
                                      <p:cBhvr>
                                        <p:cTn id="157" dur="500"/>
                                        <p:tgtEl>
                                          <p:spTgt spid="59"/>
                                        </p:tgtEl>
                                      </p:cBhvr>
                                    </p:animEffect>
                                  </p:childTnLst>
                                </p:cTn>
                              </p:par>
                              <p:par>
                                <p:cTn id="158" presetID="22" presetClass="entr" presetSubtype="8" fill="hold"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wipe(left)">
                                      <p:cBhvr>
                                        <p:cTn id="160" dur="500"/>
                                        <p:tgtEl>
                                          <p:spTgt spid="60"/>
                                        </p:tgtEl>
                                      </p:cBhvr>
                                    </p:animEffect>
                                  </p:childTnLst>
                                </p:cTn>
                              </p:par>
                              <p:par>
                                <p:cTn id="161" presetID="22" presetClass="entr" presetSubtype="8"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wipe(left)">
                                      <p:cBhvr>
                                        <p:cTn id="163" dur="500"/>
                                        <p:tgtEl>
                                          <p:spTgt spid="61"/>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2" fill="hold" grpId="0" nodeType="clickEffect">
                                  <p:stCondLst>
                                    <p:cond delay="0"/>
                                  </p:stCondLst>
                                  <p:childTnLst>
                                    <p:set>
                                      <p:cBhvr>
                                        <p:cTn id="167" dur="1" fill="hold">
                                          <p:stCondLst>
                                            <p:cond delay="0"/>
                                          </p:stCondLst>
                                        </p:cTn>
                                        <p:tgtEl>
                                          <p:spTgt spid="86"/>
                                        </p:tgtEl>
                                        <p:attrNameLst>
                                          <p:attrName>style.visibility</p:attrName>
                                        </p:attrNameLst>
                                      </p:cBhvr>
                                      <p:to>
                                        <p:strVal val="visible"/>
                                      </p:to>
                                    </p:set>
                                    <p:animEffect transition="in" filter="wipe(right)">
                                      <p:cBhvr>
                                        <p:cTn id="168" dur="500"/>
                                        <p:tgtEl>
                                          <p:spTgt spid="86"/>
                                        </p:tgtEl>
                                      </p:cBhvr>
                                    </p:animEffect>
                                  </p:childTnLst>
                                </p:cTn>
                              </p:par>
                            </p:childTnLst>
                          </p:cTn>
                        </p:par>
                      </p:childTnLst>
                    </p:cTn>
                  </p:par>
                  <p:par>
                    <p:cTn id="169" fill="hold">
                      <p:stCondLst>
                        <p:cond delay="indefinite"/>
                      </p:stCondLst>
                      <p:childTnLst>
                        <p:par>
                          <p:cTn id="170" fill="hold">
                            <p:stCondLst>
                              <p:cond delay="0"/>
                            </p:stCondLst>
                            <p:childTnLst>
                              <p:par>
                                <p:cTn id="171" presetID="1" presetClass="exit" presetSubtype="0" fill="hold" grpId="1" nodeType="clickEffect">
                                  <p:stCondLst>
                                    <p:cond delay="0"/>
                                  </p:stCondLst>
                                  <p:childTnLst>
                                    <p:set>
                                      <p:cBhvr>
                                        <p:cTn id="172" dur="1" fill="hold">
                                          <p:stCondLst>
                                            <p:cond delay="0"/>
                                          </p:stCondLst>
                                        </p:cTn>
                                        <p:tgtEl>
                                          <p:spTgt spid="86"/>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nodeType="clickEffect">
                                  <p:stCondLst>
                                    <p:cond delay="0"/>
                                  </p:stCondLst>
                                  <p:childTnLst>
                                    <p:set>
                                      <p:cBhvr>
                                        <p:cTn id="176" dur="1" fill="hold">
                                          <p:stCondLst>
                                            <p:cond delay="0"/>
                                          </p:stCondLst>
                                        </p:cTn>
                                        <p:tgtEl>
                                          <p:spTgt spid="128"/>
                                        </p:tgtEl>
                                        <p:attrNameLst>
                                          <p:attrName>style.visibility</p:attrName>
                                        </p:attrNameLst>
                                      </p:cBhvr>
                                      <p:to>
                                        <p:strVal val="visible"/>
                                      </p:to>
                                    </p:set>
                                    <p:animEffect transition="in" filter="wipe(left)">
                                      <p:cBhvr>
                                        <p:cTn id="177" dur="500"/>
                                        <p:tgtEl>
                                          <p:spTgt spid="128"/>
                                        </p:tgtEl>
                                      </p:cBhvr>
                                    </p:animEffect>
                                  </p:childTnLst>
                                </p:cTn>
                              </p:par>
                              <p:par>
                                <p:cTn id="178" presetID="22" presetClass="entr" presetSubtype="8" fill="hold" grpId="0" nodeType="withEffect">
                                  <p:stCondLst>
                                    <p:cond delay="0"/>
                                  </p:stCondLst>
                                  <p:childTnLst>
                                    <p:set>
                                      <p:cBhvr>
                                        <p:cTn id="179" dur="1" fill="hold">
                                          <p:stCondLst>
                                            <p:cond delay="0"/>
                                          </p:stCondLst>
                                        </p:cTn>
                                        <p:tgtEl>
                                          <p:spTgt spid="129"/>
                                        </p:tgtEl>
                                        <p:attrNameLst>
                                          <p:attrName>style.visibility</p:attrName>
                                        </p:attrNameLst>
                                      </p:cBhvr>
                                      <p:to>
                                        <p:strVal val="visible"/>
                                      </p:to>
                                    </p:set>
                                    <p:animEffect transition="in" filter="wipe(left)">
                                      <p:cBhvr>
                                        <p:cTn id="180" dur="500"/>
                                        <p:tgtEl>
                                          <p:spTgt spid="129"/>
                                        </p:tgtEl>
                                      </p:cBhvr>
                                    </p:animEffect>
                                  </p:childTnLst>
                                </p:cTn>
                              </p:par>
                              <p:par>
                                <p:cTn id="181" presetID="22" presetClass="entr" presetSubtype="8" fill="hold" grpId="0" nodeType="withEffect">
                                  <p:stCondLst>
                                    <p:cond delay="0"/>
                                  </p:stCondLst>
                                  <p:childTnLst>
                                    <p:set>
                                      <p:cBhvr>
                                        <p:cTn id="182" dur="1" fill="hold">
                                          <p:stCondLst>
                                            <p:cond delay="0"/>
                                          </p:stCondLst>
                                        </p:cTn>
                                        <p:tgtEl>
                                          <p:spTgt spid="130"/>
                                        </p:tgtEl>
                                        <p:attrNameLst>
                                          <p:attrName>style.visibility</p:attrName>
                                        </p:attrNameLst>
                                      </p:cBhvr>
                                      <p:to>
                                        <p:strVal val="visible"/>
                                      </p:to>
                                    </p:set>
                                    <p:animEffect transition="in" filter="wipe(left)">
                                      <p:cBhvr>
                                        <p:cTn id="183" dur="500"/>
                                        <p:tgtEl>
                                          <p:spTgt spid="130"/>
                                        </p:tgtEl>
                                      </p:cBhvr>
                                    </p:animEffect>
                                  </p:childTnLst>
                                </p:cTn>
                              </p:par>
                              <p:par>
                                <p:cTn id="184" presetID="22" presetClass="entr" presetSubtype="8" fill="hold" grpId="0" nodeType="withEffect">
                                  <p:stCondLst>
                                    <p:cond delay="0"/>
                                  </p:stCondLst>
                                  <p:childTnLst>
                                    <p:set>
                                      <p:cBhvr>
                                        <p:cTn id="185" dur="1" fill="hold">
                                          <p:stCondLst>
                                            <p:cond delay="0"/>
                                          </p:stCondLst>
                                        </p:cTn>
                                        <p:tgtEl>
                                          <p:spTgt spid="131"/>
                                        </p:tgtEl>
                                        <p:attrNameLst>
                                          <p:attrName>style.visibility</p:attrName>
                                        </p:attrNameLst>
                                      </p:cBhvr>
                                      <p:to>
                                        <p:strVal val="visible"/>
                                      </p:to>
                                    </p:set>
                                    <p:animEffect transition="in" filter="wipe(left)">
                                      <p:cBhvr>
                                        <p:cTn id="186" dur="500"/>
                                        <p:tgtEl>
                                          <p:spTgt spid="131"/>
                                        </p:tgtEl>
                                      </p:cBhvr>
                                    </p:animEffect>
                                  </p:childTnLst>
                                </p:cTn>
                              </p:par>
                              <p:par>
                                <p:cTn id="187" presetID="22" presetClass="entr" presetSubtype="8" fill="hold" nodeType="withEffect">
                                  <p:stCondLst>
                                    <p:cond delay="0"/>
                                  </p:stCondLst>
                                  <p:childTnLst>
                                    <p:set>
                                      <p:cBhvr>
                                        <p:cTn id="188" dur="1" fill="hold">
                                          <p:stCondLst>
                                            <p:cond delay="0"/>
                                          </p:stCondLst>
                                        </p:cTn>
                                        <p:tgtEl>
                                          <p:spTgt spid="132"/>
                                        </p:tgtEl>
                                        <p:attrNameLst>
                                          <p:attrName>style.visibility</p:attrName>
                                        </p:attrNameLst>
                                      </p:cBhvr>
                                      <p:to>
                                        <p:strVal val="visible"/>
                                      </p:to>
                                    </p:set>
                                    <p:animEffect transition="in" filter="wipe(left)">
                                      <p:cBhvr>
                                        <p:cTn id="189" dur="500"/>
                                        <p:tgtEl>
                                          <p:spTgt spid="132"/>
                                        </p:tgtEl>
                                      </p:cBhvr>
                                    </p:animEffect>
                                  </p:childTnLst>
                                </p:cTn>
                              </p:par>
                              <p:par>
                                <p:cTn id="190" presetID="22" presetClass="entr" presetSubtype="8" fill="hold" nodeType="withEffect">
                                  <p:stCondLst>
                                    <p:cond delay="0"/>
                                  </p:stCondLst>
                                  <p:childTnLst>
                                    <p:set>
                                      <p:cBhvr>
                                        <p:cTn id="191" dur="1" fill="hold">
                                          <p:stCondLst>
                                            <p:cond delay="0"/>
                                          </p:stCondLst>
                                        </p:cTn>
                                        <p:tgtEl>
                                          <p:spTgt spid="133"/>
                                        </p:tgtEl>
                                        <p:attrNameLst>
                                          <p:attrName>style.visibility</p:attrName>
                                        </p:attrNameLst>
                                      </p:cBhvr>
                                      <p:to>
                                        <p:strVal val="visible"/>
                                      </p:to>
                                    </p:set>
                                    <p:animEffect transition="in" filter="wipe(left)">
                                      <p:cBhvr>
                                        <p:cTn id="192" dur="500"/>
                                        <p:tgtEl>
                                          <p:spTgt spid="133"/>
                                        </p:tgtEl>
                                      </p:cBhvr>
                                    </p:animEffect>
                                  </p:childTnLst>
                                </p:cTn>
                              </p:par>
                              <p:par>
                                <p:cTn id="193" presetID="22" presetClass="entr" presetSubtype="8" fill="hold" nodeType="withEffect">
                                  <p:stCondLst>
                                    <p:cond delay="0"/>
                                  </p:stCondLst>
                                  <p:childTnLst>
                                    <p:set>
                                      <p:cBhvr>
                                        <p:cTn id="194" dur="1" fill="hold">
                                          <p:stCondLst>
                                            <p:cond delay="0"/>
                                          </p:stCondLst>
                                        </p:cTn>
                                        <p:tgtEl>
                                          <p:spTgt spid="135"/>
                                        </p:tgtEl>
                                        <p:attrNameLst>
                                          <p:attrName>style.visibility</p:attrName>
                                        </p:attrNameLst>
                                      </p:cBhvr>
                                      <p:to>
                                        <p:strVal val="visible"/>
                                      </p:to>
                                    </p:set>
                                    <p:animEffect transition="in" filter="wipe(left)">
                                      <p:cBhvr>
                                        <p:cTn id="195" dur="500"/>
                                        <p:tgtEl>
                                          <p:spTgt spid="135"/>
                                        </p:tgtEl>
                                      </p:cBhvr>
                                    </p:animEffect>
                                  </p:childTnLst>
                                </p:cTn>
                              </p:par>
                              <p:par>
                                <p:cTn id="196" presetID="22" presetClass="entr" presetSubtype="8" fill="hold" nodeType="withEffect">
                                  <p:stCondLst>
                                    <p:cond delay="0"/>
                                  </p:stCondLst>
                                  <p:childTnLst>
                                    <p:set>
                                      <p:cBhvr>
                                        <p:cTn id="197" dur="1" fill="hold">
                                          <p:stCondLst>
                                            <p:cond delay="0"/>
                                          </p:stCondLst>
                                        </p:cTn>
                                        <p:tgtEl>
                                          <p:spTgt spid="136"/>
                                        </p:tgtEl>
                                        <p:attrNameLst>
                                          <p:attrName>style.visibility</p:attrName>
                                        </p:attrNameLst>
                                      </p:cBhvr>
                                      <p:to>
                                        <p:strVal val="visible"/>
                                      </p:to>
                                    </p:set>
                                    <p:animEffect transition="in" filter="wipe(left)">
                                      <p:cBhvr>
                                        <p:cTn id="198" dur="500"/>
                                        <p:tgtEl>
                                          <p:spTgt spid="136"/>
                                        </p:tgtEl>
                                      </p:cBhvr>
                                    </p:animEffect>
                                  </p:childTnLst>
                                </p:cTn>
                              </p:par>
                              <p:par>
                                <p:cTn id="199" presetID="22" presetClass="entr" presetSubtype="8" fill="hold" nodeType="withEffect">
                                  <p:stCondLst>
                                    <p:cond delay="0"/>
                                  </p:stCondLst>
                                  <p:childTnLst>
                                    <p:set>
                                      <p:cBhvr>
                                        <p:cTn id="200" dur="1" fill="hold">
                                          <p:stCondLst>
                                            <p:cond delay="0"/>
                                          </p:stCondLst>
                                        </p:cTn>
                                        <p:tgtEl>
                                          <p:spTgt spid="137"/>
                                        </p:tgtEl>
                                        <p:attrNameLst>
                                          <p:attrName>style.visibility</p:attrName>
                                        </p:attrNameLst>
                                      </p:cBhvr>
                                      <p:to>
                                        <p:strVal val="visible"/>
                                      </p:to>
                                    </p:set>
                                    <p:animEffect transition="in" filter="wipe(left)">
                                      <p:cBhvr>
                                        <p:cTn id="201" dur="500"/>
                                        <p:tgtEl>
                                          <p:spTgt spid="137"/>
                                        </p:tgtEl>
                                      </p:cBhvr>
                                    </p:animEffect>
                                  </p:childTnLst>
                                </p:cTn>
                              </p:par>
                              <p:par>
                                <p:cTn id="202" presetID="22" presetClass="entr" presetSubtype="8" fill="hold" nodeType="withEffect">
                                  <p:stCondLst>
                                    <p:cond delay="0"/>
                                  </p:stCondLst>
                                  <p:childTnLst>
                                    <p:set>
                                      <p:cBhvr>
                                        <p:cTn id="203" dur="1" fill="hold">
                                          <p:stCondLst>
                                            <p:cond delay="0"/>
                                          </p:stCondLst>
                                        </p:cTn>
                                        <p:tgtEl>
                                          <p:spTgt spid="134"/>
                                        </p:tgtEl>
                                        <p:attrNameLst>
                                          <p:attrName>style.visibility</p:attrName>
                                        </p:attrNameLst>
                                      </p:cBhvr>
                                      <p:to>
                                        <p:strVal val="visible"/>
                                      </p:to>
                                    </p:set>
                                    <p:animEffect transition="in" filter="wipe(left)">
                                      <p:cBhvr>
                                        <p:cTn id="204" dur="500"/>
                                        <p:tgtEl>
                                          <p:spTgt spid="134"/>
                                        </p:tgtEl>
                                      </p:cBhvr>
                                    </p:animEffect>
                                  </p:childTnLst>
                                </p:cTn>
                              </p:par>
                              <p:par>
                                <p:cTn id="205" presetID="22" presetClass="entr" presetSubtype="8" fill="hold" nodeType="withEffect">
                                  <p:stCondLst>
                                    <p:cond delay="0"/>
                                  </p:stCondLst>
                                  <p:childTnLst>
                                    <p:set>
                                      <p:cBhvr>
                                        <p:cTn id="206" dur="1" fill="hold">
                                          <p:stCondLst>
                                            <p:cond delay="0"/>
                                          </p:stCondLst>
                                        </p:cTn>
                                        <p:tgtEl>
                                          <p:spTgt spid="138"/>
                                        </p:tgtEl>
                                        <p:attrNameLst>
                                          <p:attrName>style.visibility</p:attrName>
                                        </p:attrNameLst>
                                      </p:cBhvr>
                                      <p:to>
                                        <p:strVal val="visible"/>
                                      </p:to>
                                    </p:set>
                                    <p:animEffect transition="in" filter="wipe(left)">
                                      <p:cBhvr>
                                        <p:cTn id="207" dur="500"/>
                                        <p:tgtEl>
                                          <p:spTgt spid="138"/>
                                        </p:tgtEl>
                                      </p:cBhvr>
                                    </p:animEffect>
                                  </p:childTnLst>
                                </p:cTn>
                              </p:par>
                              <p:par>
                                <p:cTn id="208" presetID="22" presetClass="entr" presetSubtype="8" fill="hold" nodeType="withEffect">
                                  <p:stCondLst>
                                    <p:cond delay="0"/>
                                  </p:stCondLst>
                                  <p:childTnLst>
                                    <p:set>
                                      <p:cBhvr>
                                        <p:cTn id="209" dur="1" fill="hold">
                                          <p:stCondLst>
                                            <p:cond delay="0"/>
                                          </p:stCondLst>
                                        </p:cTn>
                                        <p:tgtEl>
                                          <p:spTgt spid="139"/>
                                        </p:tgtEl>
                                        <p:attrNameLst>
                                          <p:attrName>style.visibility</p:attrName>
                                        </p:attrNameLst>
                                      </p:cBhvr>
                                      <p:to>
                                        <p:strVal val="visible"/>
                                      </p:to>
                                    </p:set>
                                    <p:animEffect transition="in" filter="wipe(left)">
                                      <p:cBhvr>
                                        <p:cTn id="210" dur="500"/>
                                        <p:tgtEl>
                                          <p:spTgt spid="139"/>
                                        </p:tgtEl>
                                      </p:cBhvr>
                                    </p:animEffect>
                                  </p:childTnLst>
                                </p:cTn>
                              </p:par>
                              <p:par>
                                <p:cTn id="211" presetID="22" presetClass="entr" presetSubtype="8" fill="hold" nodeType="withEffect">
                                  <p:stCondLst>
                                    <p:cond delay="0"/>
                                  </p:stCondLst>
                                  <p:childTnLst>
                                    <p:set>
                                      <p:cBhvr>
                                        <p:cTn id="212" dur="1" fill="hold">
                                          <p:stCondLst>
                                            <p:cond delay="0"/>
                                          </p:stCondLst>
                                        </p:cTn>
                                        <p:tgtEl>
                                          <p:spTgt spid="140"/>
                                        </p:tgtEl>
                                        <p:attrNameLst>
                                          <p:attrName>style.visibility</p:attrName>
                                        </p:attrNameLst>
                                      </p:cBhvr>
                                      <p:to>
                                        <p:strVal val="visible"/>
                                      </p:to>
                                    </p:set>
                                    <p:animEffect transition="in" filter="wipe(left)">
                                      <p:cBhvr>
                                        <p:cTn id="213" dur="500"/>
                                        <p:tgtEl>
                                          <p:spTgt spid="140"/>
                                        </p:tgtEl>
                                      </p:cBhvr>
                                    </p:animEffect>
                                  </p:childTnLst>
                                </p:cTn>
                              </p:par>
                              <p:par>
                                <p:cTn id="214" presetID="22" presetClass="entr" presetSubtype="8" fill="hold" nodeType="withEffect">
                                  <p:stCondLst>
                                    <p:cond delay="0"/>
                                  </p:stCondLst>
                                  <p:childTnLst>
                                    <p:set>
                                      <p:cBhvr>
                                        <p:cTn id="215" dur="1" fill="hold">
                                          <p:stCondLst>
                                            <p:cond delay="0"/>
                                          </p:stCondLst>
                                        </p:cTn>
                                        <p:tgtEl>
                                          <p:spTgt spid="141"/>
                                        </p:tgtEl>
                                        <p:attrNameLst>
                                          <p:attrName>style.visibility</p:attrName>
                                        </p:attrNameLst>
                                      </p:cBhvr>
                                      <p:to>
                                        <p:strVal val="visible"/>
                                      </p:to>
                                    </p:set>
                                    <p:animEffect transition="in" filter="wipe(left)">
                                      <p:cBhvr>
                                        <p:cTn id="216" dur="500"/>
                                        <p:tgtEl>
                                          <p:spTgt spid="141"/>
                                        </p:tgtEl>
                                      </p:cBhvr>
                                    </p:animEffect>
                                  </p:childTnLst>
                                </p:cTn>
                              </p:par>
                              <p:par>
                                <p:cTn id="217" presetID="22" presetClass="entr" presetSubtype="8" fill="hold" nodeType="withEffect">
                                  <p:stCondLst>
                                    <p:cond delay="0"/>
                                  </p:stCondLst>
                                  <p:childTnLst>
                                    <p:set>
                                      <p:cBhvr>
                                        <p:cTn id="218" dur="1" fill="hold">
                                          <p:stCondLst>
                                            <p:cond delay="0"/>
                                          </p:stCondLst>
                                        </p:cTn>
                                        <p:tgtEl>
                                          <p:spTgt spid="142"/>
                                        </p:tgtEl>
                                        <p:attrNameLst>
                                          <p:attrName>style.visibility</p:attrName>
                                        </p:attrNameLst>
                                      </p:cBhvr>
                                      <p:to>
                                        <p:strVal val="visible"/>
                                      </p:to>
                                    </p:set>
                                    <p:animEffect transition="in" filter="wipe(left)">
                                      <p:cBhvr>
                                        <p:cTn id="219" dur="500"/>
                                        <p:tgtEl>
                                          <p:spTgt spid="142"/>
                                        </p:tgtEl>
                                      </p:cBhvr>
                                    </p:animEffect>
                                  </p:childTnLst>
                                </p:cTn>
                              </p:par>
                              <p:par>
                                <p:cTn id="220" presetID="22" presetClass="entr" presetSubtype="8" fill="hold" nodeType="withEffect">
                                  <p:stCondLst>
                                    <p:cond delay="0"/>
                                  </p:stCondLst>
                                  <p:childTnLst>
                                    <p:set>
                                      <p:cBhvr>
                                        <p:cTn id="221" dur="1" fill="hold">
                                          <p:stCondLst>
                                            <p:cond delay="0"/>
                                          </p:stCondLst>
                                        </p:cTn>
                                        <p:tgtEl>
                                          <p:spTgt spid="143"/>
                                        </p:tgtEl>
                                        <p:attrNameLst>
                                          <p:attrName>style.visibility</p:attrName>
                                        </p:attrNameLst>
                                      </p:cBhvr>
                                      <p:to>
                                        <p:strVal val="visible"/>
                                      </p:to>
                                    </p:set>
                                    <p:animEffect transition="in" filter="wipe(left)">
                                      <p:cBhvr>
                                        <p:cTn id="222" dur="500"/>
                                        <p:tgtEl>
                                          <p:spTgt spid="143"/>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grpId="0" nodeType="clickEffect">
                                  <p:stCondLst>
                                    <p:cond delay="0"/>
                                  </p:stCondLst>
                                  <p:childTnLst>
                                    <p:set>
                                      <p:cBhvr>
                                        <p:cTn id="226" dur="1" fill="hold">
                                          <p:stCondLst>
                                            <p:cond delay="0"/>
                                          </p:stCondLst>
                                        </p:cTn>
                                        <p:tgtEl>
                                          <p:spTgt spid="91"/>
                                        </p:tgtEl>
                                        <p:attrNameLst>
                                          <p:attrName>style.visibility</p:attrName>
                                        </p:attrNameLst>
                                      </p:cBhvr>
                                      <p:to>
                                        <p:strVal val="visible"/>
                                      </p:to>
                                    </p:set>
                                    <p:animEffect transition="in" filter="wipe(left)">
                                      <p:cBhvr>
                                        <p:cTn id="227" dur="500"/>
                                        <p:tgtEl>
                                          <p:spTgt spid="91"/>
                                        </p:tgtEl>
                                      </p:cBhvr>
                                    </p:animEffect>
                                  </p:childTnLst>
                                </p:cTn>
                              </p:par>
                            </p:childTnLst>
                          </p:cTn>
                        </p:par>
                      </p:childTnLst>
                    </p:cTn>
                  </p:par>
                  <p:par>
                    <p:cTn id="228" fill="hold">
                      <p:stCondLst>
                        <p:cond delay="indefinite"/>
                      </p:stCondLst>
                      <p:childTnLst>
                        <p:par>
                          <p:cTn id="229" fill="hold">
                            <p:stCondLst>
                              <p:cond delay="0"/>
                            </p:stCondLst>
                            <p:childTnLst>
                              <p:par>
                                <p:cTn id="230" presetID="1" presetClass="exit" presetSubtype="0" fill="hold" grpId="1" nodeType="clickEffect">
                                  <p:stCondLst>
                                    <p:cond delay="0"/>
                                  </p:stCondLst>
                                  <p:childTnLst>
                                    <p:set>
                                      <p:cBhvr>
                                        <p:cTn id="231" dur="1" fill="hold">
                                          <p:stCondLst>
                                            <p:cond delay="0"/>
                                          </p:stCondLst>
                                        </p:cTn>
                                        <p:tgtEl>
                                          <p:spTgt spid="91"/>
                                        </p:tgtEl>
                                        <p:attrNameLst>
                                          <p:attrName>style.visibility</p:attrName>
                                        </p:attrNameLst>
                                      </p:cBhvr>
                                      <p:to>
                                        <p:strVal val="hidden"/>
                                      </p:to>
                                    </p:set>
                                  </p:childTnLst>
                                </p:cTn>
                              </p:par>
                            </p:childTnLst>
                          </p:cTn>
                        </p:par>
                      </p:childTnLst>
                    </p:cTn>
                  </p:par>
                  <p:par>
                    <p:cTn id="232" fill="hold">
                      <p:stCondLst>
                        <p:cond delay="indefinite"/>
                      </p:stCondLst>
                      <p:childTnLst>
                        <p:par>
                          <p:cTn id="233" fill="hold">
                            <p:stCondLst>
                              <p:cond delay="0"/>
                            </p:stCondLst>
                            <p:childTnLst>
                              <p:par>
                                <p:cTn id="234" presetID="22" presetClass="entr" presetSubtype="8" fill="hold" grpId="0" nodeType="clickEffect">
                                  <p:stCondLst>
                                    <p:cond delay="0"/>
                                  </p:stCondLst>
                                  <p:childTnLst>
                                    <p:set>
                                      <p:cBhvr>
                                        <p:cTn id="235" dur="1" fill="hold">
                                          <p:stCondLst>
                                            <p:cond delay="0"/>
                                          </p:stCondLst>
                                        </p:cTn>
                                        <p:tgtEl>
                                          <p:spTgt spid="92"/>
                                        </p:tgtEl>
                                        <p:attrNameLst>
                                          <p:attrName>style.visibility</p:attrName>
                                        </p:attrNameLst>
                                      </p:cBhvr>
                                      <p:to>
                                        <p:strVal val="visible"/>
                                      </p:to>
                                    </p:set>
                                    <p:animEffect transition="in" filter="wipe(left)">
                                      <p:cBhvr>
                                        <p:cTn id="236" dur="500"/>
                                        <p:tgtEl>
                                          <p:spTgt spid="92"/>
                                        </p:tgtEl>
                                      </p:cBhvr>
                                    </p:animEffect>
                                  </p:childTnLst>
                                </p:cTn>
                              </p:par>
                              <p:par>
                                <p:cTn id="237" presetID="22" presetClass="entr" presetSubtype="8" fill="hold" grpId="0" nodeType="withEffect">
                                  <p:stCondLst>
                                    <p:cond delay="0"/>
                                  </p:stCondLst>
                                  <p:childTnLst>
                                    <p:set>
                                      <p:cBhvr>
                                        <p:cTn id="238" dur="1" fill="hold">
                                          <p:stCondLst>
                                            <p:cond delay="0"/>
                                          </p:stCondLst>
                                        </p:cTn>
                                        <p:tgtEl>
                                          <p:spTgt spid="87"/>
                                        </p:tgtEl>
                                        <p:attrNameLst>
                                          <p:attrName>style.visibility</p:attrName>
                                        </p:attrNameLst>
                                      </p:cBhvr>
                                      <p:to>
                                        <p:strVal val="visible"/>
                                      </p:to>
                                    </p:set>
                                    <p:animEffect transition="in" filter="wipe(left)">
                                      <p:cBhvr>
                                        <p:cTn id="239" dur="500"/>
                                        <p:tgtEl>
                                          <p:spTgt spid="87"/>
                                        </p:tgtEl>
                                      </p:cBhvr>
                                    </p:animEffect>
                                  </p:childTnLst>
                                </p:cTn>
                              </p:par>
                            </p:childTnLst>
                          </p:cTn>
                        </p:par>
                      </p:childTnLst>
                    </p:cTn>
                  </p:par>
                  <p:par>
                    <p:cTn id="240" fill="hold">
                      <p:stCondLst>
                        <p:cond delay="indefinite"/>
                      </p:stCondLst>
                      <p:childTnLst>
                        <p:par>
                          <p:cTn id="241" fill="hold">
                            <p:stCondLst>
                              <p:cond delay="0"/>
                            </p:stCondLst>
                            <p:childTnLst>
                              <p:par>
                                <p:cTn id="242" presetID="22" presetClass="entr" presetSubtype="8" fill="hold" grpId="0" nodeType="clickEffect">
                                  <p:stCondLst>
                                    <p:cond delay="0"/>
                                  </p:stCondLst>
                                  <p:childTnLst>
                                    <p:set>
                                      <p:cBhvr>
                                        <p:cTn id="243" dur="1" fill="hold">
                                          <p:stCondLst>
                                            <p:cond delay="0"/>
                                          </p:stCondLst>
                                        </p:cTn>
                                        <p:tgtEl>
                                          <p:spTgt spid="88"/>
                                        </p:tgtEl>
                                        <p:attrNameLst>
                                          <p:attrName>style.visibility</p:attrName>
                                        </p:attrNameLst>
                                      </p:cBhvr>
                                      <p:to>
                                        <p:strVal val="visible"/>
                                      </p:to>
                                    </p:set>
                                    <p:animEffect transition="in" filter="wipe(left)">
                                      <p:cBhvr>
                                        <p:cTn id="244" dur="500"/>
                                        <p:tgtEl>
                                          <p:spTgt spid="88"/>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8" fill="hold" grpId="0" nodeType="clickEffect">
                                  <p:stCondLst>
                                    <p:cond delay="0"/>
                                  </p:stCondLst>
                                  <p:childTnLst>
                                    <p:set>
                                      <p:cBhvr>
                                        <p:cTn id="248" dur="1" fill="hold">
                                          <p:stCondLst>
                                            <p:cond delay="0"/>
                                          </p:stCondLst>
                                        </p:cTn>
                                        <p:tgtEl>
                                          <p:spTgt spid="66"/>
                                        </p:tgtEl>
                                        <p:attrNameLst>
                                          <p:attrName>style.visibility</p:attrName>
                                        </p:attrNameLst>
                                      </p:cBhvr>
                                      <p:to>
                                        <p:strVal val="visible"/>
                                      </p:to>
                                    </p:set>
                                    <p:animEffect transition="in" filter="wipe(left)">
                                      <p:cBhvr>
                                        <p:cTn id="249" dur="500"/>
                                        <p:tgtEl>
                                          <p:spTgt spid="66"/>
                                        </p:tgtEl>
                                      </p:cBhvr>
                                    </p:animEffect>
                                  </p:childTnLst>
                                </p:cTn>
                              </p:par>
                              <p:par>
                                <p:cTn id="250" presetID="22" presetClass="entr" presetSubtype="8" fill="hold" grpId="0" nodeType="withEffect">
                                  <p:stCondLst>
                                    <p:cond delay="0"/>
                                  </p:stCondLst>
                                  <p:childTnLst>
                                    <p:set>
                                      <p:cBhvr>
                                        <p:cTn id="251" dur="1" fill="hold">
                                          <p:stCondLst>
                                            <p:cond delay="0"/>
                                          </p:stCondLst>
                                        </p:cTn>
                                        <p:tgtEl>
                                          <p:spTgt spid="16"/>
                                        </p:tgtEl>
                                        <p:attrNameLst>
                                          <p:attrName>style.visibility</p:attrName>
                                        </p:attrNameLst>
                                      </p:cBhvr>
                                      <p:to>
                                        <p:strVal val="visible"/>
                                      </p:to>
                                    </p:set>
                                    <p:animEffect transition="in" filter="wipe(left)">
                                      <p:cBhvr>
                                        <p:cTn id="252" dur="500"/>
                                        <p:tgtEl>
                                          <p:spTgt spid="16"/>
                                        </p:tgtEl>
                                      </p:cBhvr>
                                    </p:animEffect>
                                  </p:childTnLst>
                                </p:cTn>
                              </p:par>
                            </p:childTnLst>
                          </p:cTn>
                        </p:par>
                      </p:childTnLst>
                    </p:cTn>
                  </p:par>
                  <p:par>
                    <p:cTn id="253" fill="hold">
                      <p:stCondLst>
                        <p:cond delay="indefinite"/>
                      </p:stCondLst>
                      <p:childTnLst>
                        <p:par>
                          <p:cTn id="254" fill="hold">
                            <p:stCondLst>
                              <p:cond delay="0"/>
                            </p:stCondLst>
                            <p:childTnLst>
                              <p:par>
                                <p:cTn id="255" presetID="22" presetClass="entr" presetSubtype="8" fill="hold" grpId="0" nodeType="clickEffect">
                                  <p:stCondLst>
                                    <p:cond delay="0"/>
                                  </p:stCondLst>
                                  <p:childTnLst>
                                    <p:set>
                                      <p:cBhvr>
                                        <p:cTn id="256" dur="1" fill="hold">
                                          <p:stCondLst>
                                            <p:cond delay="0"/>
                                          </p:stCondLst>
                                        </p:cTn>
                                        <p:tgtEl>
                                          <p:spTgt spid="24"/>
                                        </p:tgtEl>
                                        <p:attrNameLst>
                                          <p:attrName>style.visibility</p:attrName>
                                        </p:attrNameLst>
                                      </p:cBhvr>
                                      <p:to>
                                        <p:strVal val="visible"/>
                                      </p:to>
                                    </p:set>
                                    <p:animEffect transition="in" filter="wipe(left)">
                                      <p:cBhvr>
                                        <p:cTn id="257" dur="500"/>
                                        <p:tgtEl>
                                          <p:spTgt spid="24"/>
                                        </p:tgtEl>
                                      </p:cBhvr>
                                    </p:animEffect>
                                  </p:childTnLst>
                                </p:cTn>
                              </p:par>
                            </p:childTnLst>
                          </p:cTn>
                        </p:par>
                      </p:childTnLst>
                    </p:cTn>
                  </p:par>
                  <p:par>
                    <p:cTn id="258" fill="hold">
                      <p:stCondLst>
                        <p:cond delay="indefinite"/>
                      </p:stCondLst>
                      <p:childTnLst>
                        <p:par>
                          <p:cTn id="259" fill="hold">
                            <p:stCondLst>
                              <p:cond delay="0"/>
                            </p:stCondLst>
                            <p:childTnLst>
                              <p:par>
                                <p:cTn id="260" presetID="22" presetClass="entr" presetSubtype="8" fill="hold" grpId="0" nodeType="clickEffect">
                                  <p:stCondLst>
                                    <p:cond delay="0"/>
                                  </p:stCondLst>
                                  <p:childTnLst>
                                    <p:set>
                                      <p:cBhvr>
                                        <p:cTn id="261" dur="1" fill="hold">
                                          <p:stCondLst>
                                            <p:cond delay="0"/>
                                          </p:stCondLst>
                                        </p:cTn>
                                        <p:tgtEl>
                                          <p:spTgt spid="89"/>
                                        </p:tgtEl>
                                        <p:attrNameLst>
                                          <p:attrName>style.visibility</p:attrName>
                                        </p:attrNameLst>
                                      </p:cBhvr>
                                      <p:to>
                                        <p:strVal val="visible"/>
                                      </p:to>
                                    </p:set>
                                    <p:animEffect transition="in" filter="wipe(left)">
                                      <p:cBhvr>
                                        <p:cTn id="262" dur="500"/>
                                        <p:tgtEl>
                                          <p:spTgt spid="89"/>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ntr" presetSubtype="8" fill="hold" grpId="0" nodeType="clickEffect">
                                  <p:stCondLst>
                                    <p:cond delay="0"/>
                                  </p:stCondLst>
                                  <p:childTnLst>
                                    <p:set>
                                      <p:cBhvr>
                                        <p:cTn id="266" dur="1" fill="hold">
                                          <p:stCondLst>
                                            <p:cond delay="0"/>
                                          </p:stCondLst>
                                        </p:cTn>
                                        <p:tgtEl>
                                          <p:spTgt spid="37"/>
                                        </p:tgtEl>
                                        <p:attrNameLst>
                                          <p:attrName>style.visibility</p:attrName>
                                        </p:attrNameLst>
                                      </p:cBhvr>
                                      <p:to>
                                        <p:strVal val="visible"/>
                                      </p:to>
                                    </p:set>
                                    <p:animEffect transition="in" filter="wipe(left)">
                                      <p:cBhvr>
                                        <p:cTn id="267" dur="500"/>
                                        <p:tgtEl>
                                          <p:spTgt spid="37"/>
                                        </p:tgtEl>
                                      </p:cBhvr>
                                    </p:animEffect>
                                  </p:childTnLst>
                                </p:cTn>
                              </p:par>
                            </p:childTnLst>
                          </p:cTn>
                        </p:par>
                      </p:childTnLst>
                    </p:cTn>
                  </p:par>
                  <p:par>
                    <p:cTn id="268" fill="hold">
                      <p:stCondLst>
                        <p:cond delay="indefinite"/>
                      </p:stCondLst>
                      <p:childTnLst>
                        <p:par>
                          <p:cTn id="269" fill="hold">
                            <p:stCondLst>
                              <p:cond delay="0"/>
                            </p:stCondLst>
                            <p:childTnLst>
                              <p:par>
                                <p:cTn id="270" presetID="22" presetClass="entr" presetSubtype="8" fill="hold" grpId="0" nodeType="clickEffect">
                                  <p:stCondLst>
                                    <p:cond delay="0"/>
                                  </p:stCondLst>
                                  <p:childTnLst>
                                    <p:set>
                                      <p:cBhvr>
                                        <p:cTn id="271" dur="1" fill="hold">
                                          <p:stCondLst>
                                            <p:cond delay="0"/>
                                          </p:stCondLst>
                                        </p:cTn>
                                        <p:tgtEl>
                                          <p:spTgt spid="38"/>
                                        </p:tgtEl>
                                        <p:attrNameLst>
                                          <p:attrName>style.visibility</p:attrName>
                                        </p:attrNameLst>
                                      </p:cBhvr>
                                      <p:to>
                                        <p:strVal val="visible"/>
                                      </p:to>
                                    </p:set>
                                    <p:animEffect transition="in" filter="wipe(left)">
                                      <p:cBhvr>
                                        <p:cTn id="272" dur="500"/>
                                        <p:tgtEl>
                                          <p:spTgt spid="38"/>
                                        </p:tgtEl>
                                      </p:cBhvr>
                                    </p:animEffect>
                                  </p:childTnLst>
                                </p:cTn>
                              </p:par>
                            </p:childTnLst>
                          </p:cTn>
                        </p:par>
                      </p:childTnLst>
                    </p:cTn>
                  </p:par>
                  <p:par>
                    <p:cTn id="273" fill="hold">
                      <p:stCondLst>
                        <p:cond delay="indefinite"/>
                      </p:stCondLst>
                      <p:childTnLst>
                        <p:par>
                          <p:cTn id="274" fill="hold">
                            <p:stCondLst>
                              <p:cond delay="0"/>
                            </p:stCondLst>
                            <p:childTnLst>
                              <p:par>
                                <p:cTn id="275" presetID="22" presetClass="entr" presetSubtype="8" fill="hold" grpId="0" nodeType="clickEffect">
                                  <p:stCondLst>
                                    <p:cond delay="0"/>
                                  </p:stCondLst>
                                  <p:childTnLst>
                                    <p:set>
                                      <p:cBhvr>
                                        <p:cTn id="276" dur="1" fill="hold">
                                          <p:stCondLst>
                                            <p:cond delay="0"/>
                                          </p:stCondLst>
                                        </p:cTn>
                                        <p:tgtEl>
                                          <p:spTgt spid="39"/>
                                        </p:tgtEl>
                                        <p:attrNameLst>
                                          <p:attrName>style.visibility</p:attrName>
                                        </p:attrNameLst>
                                      </p:cBhvr>
                                      <p:to>
                                        <p:strVal val="visible"/>
                                      </p:to>
                                    </p:set>
                                    <p:animEffect transition="in" filter="wipe(left)">
                                      <p:cBhvr>
                                        <p:cTn id="277" dur="500"/>
                                        <p:tgtEl>
                                          <p:spTgt spid="39"/>
                                        </p:tgtEl>
                                      </p:cBhvr>
                                    </p:animEffect>
                                  </p:childTnLst>
                                </p:cTn>
                              </p:par>
                            </p:childTnLst>
                          </p:cTn>
                        </p:par>
                      </p:childTnLst>
                    </p:cTn>
                  </p:par>
                  <p:par>
                    <p:cTn id="278" fill="hold">
                      <p:stCondLst>
                        <p:cond delay="indefinite"/>
                      </p:stCondLst>
                      <p:childTnLst>
                        <p:par>
                          <p:cTn id="279" fill="hold">
                            <p:stCondLst>
                              <p:cond delay="0"/>
                            </p:stCondLst>
                            <p:childTnLst>
                              <p:par>
                                <p:cTn id="280" presetID="22" presetClass="entr" presetSubtype="8" fill="hold" grpId="0" nodeType="clickEffect">
                                  <p:stCondLst>
                                    <p:cond delay="0"/>
                                  </p:stCondLst>
                                  <p:childTnLst>
                                    <p:set>
                                      <p:cBhvr>
                                        <p:cTn id="281" dur="1" fill="hold">
                                          <p:stCondLst>
                                            <p:cond delay="0"/>
                                          </p:stCondLst>
                                        </p:cTn>
                                        <p:tgtEl>
                                          <p:spTgt spid="40"/>
                                        </p:tgtEl>
                                        <p:attrNameLst>
                                          <p:attrName>style.visibility</p:attrName>
                                        </p:attrNameLst>
                                      </p:cBhvr>
                                      <p:to>
                                        <p:strVal val="visible"/>
                                      </p:to>
                                    </p:set>
                                    <p:animEffect transition="in" filter="wipe(left)">
                                      <p:cBhvr>
                                        <p:cTn id="282" dur="500"/>
                                        <p:tgtEl>
                                          <p:spTgt spid="40"/>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8" fill="hold" grpId="0" nodeType="clickEffect">
                                  <p:stCondLst>
                                    <p:cond delay="0"/>
                                  </p:stCondLst>
                                  <p:childTnLst>
                                    <p:set>
                                      <p:cBhvr>
                                        <p:cTn id="286" dur="1" fill="hold">
                                          <p:stCondLst>
                                            <p:cond delay="0"/>
                                          </p:stCondLst>
                                        </p:cTn>
                                        <p:tgtEl>
                                          <p:spTgt spid="90"/>
                                        </p:tgtEl>
                                        <p:attrNameLst>
                                          <p:attrName>style.visibility</p:attrName>
                                        </p:attrNameLst>
                                      </p:cBhvr>
                                      <p:to>
                                        <p:strVal val="visible"/>
                                      </p:to>
                                    </p:set>
                                    <p:animEffect transition="in" filter="wipe(left)">
                                      <p:cBhvr>
                                        <p:cTn id="287" dur="500"/>
                                        <p:tgtEl>
                                          <p:spTgt spid="90"/>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8" fill="hold" grpId="0" nodeType="clickEffect">
                                  <p:stCondLst>
                                    <p:cond delay="0"/>
                                  </p:stCondLst>
                                  <p:childTnLst>
                                    <p:set>
                                      <p:cBhvr>
                                        <p:cTn id="291" dur="1" fill="hold">
                                          <p:stCondLst>
                                            <p:cond delay="0"/>
                                          </p:stCondLst>
                                        </p:cTn>
                                        <p:tgtEl>
                                          <p:spTgt spid="41"/>
                                        </p:tgtEl>
                                        <p:attrNameLst>
                                          <p:attrName>style.visibility</p:attrName>
                                        </p:attrNameLst>
                                      </p:cBhvr>
                                      <p:to>
                                        <p:strVal val="visible"/>
                                      </p:to>
                                    </p:set>
                                    <p:animEffect transition="in" filter="wipe(left)">
                                      <p:cBhvr>
                                        <p:cTn id="292" dur="500"/>
                                        <p:tgtEl>
                                          <p:spTgt spid="41"/>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8" fill="hold" grpId="0" nodeType="clickEffect">
                                  <p:stCondLst>
                                    <p:cond delay="0"/>
                                  </p:stCondLst>
                                  <p:childTnLst>
                                    <p:set>
                                      <p:cBhvr>
                                        <p:cTn id="296" dur="1" fill="hold">
                                          <p:stCondLst>
                                            <p:cond delay="0"/>
                                          </p:stCondLst>
                                        </p:cTn>
                                        <p:tgtEl>
                                          <p:spTgt spid="42"/>
                                        </p:tgtEl>
                                        <p:attrNameLst>
                                          <p:attrName>style.visibility</p:attrName>
                                        </p:attrNameLst>
                                      </p:cBhvr>
                                      <p:to>
                                        <p:strVal val="visible"/>
                                      </p:to>
                                    </p:set>
                                    <p:animEffect transition="in" filter="wipe(left)">
                                      <p:cBhvr>
                                        <p:cTn id="297" dur="500"/>
                                        <p:tgtEl>
                                          <p:spTgt spid="42"/>
                                        </p:tgtEl>
                                      </p:cBhvr>
                                    </p:animEffect>
                                  </p:childTnLst>
                                </p:cTn>
                              </p:par>
                            </p:childTnLst>
                          </p:cTn>
                        </p:par>
                      </p:childTnLst>
                    </p:cTn>
                  </p:par>
                  <p:par>
                    <p:cTn id="298" fill="hold">
                      <p:stCondLst>
                        <p:cond delay="indefinite"/>
                      </p:stCondLst>
                      <p:childTnLst>
                        <p:par>
                          <p:cTn id="299" fill="hold">
                            <p:stCondLst>
                              <p:cond delay="0"/>
                            </p:stCondLst>
                            <p:childTnLst>
                              <p:par>
                                <p:cTn id="300" presetID="22" presetClass="entr" presetSubtype="8" fill="hold" grpId="0" nodeType="clickEffect">
                                  <p:stCondLst>
                                    <p:cond delay="0"/>
                                  </p:stCondLst>
                                  <p:childTnLst>
                                    <p:set>
                                      <p:cBhvr>
                                        <p:cTn id="301" dur="1" fill="hold">
                                          <p:stCondLst>
                                            <p:cond delay="0"/>
                                          </p:stCondLst>
                                        </p:cTn>
                                        <p:tgtEl>
                                          <p:spTgt spid="43"/>
                                        </p:tgtEl>
                                        <p:attrNameLst>
                                          <p:attrName>style.visibility</p:attrName>
                                        </p:attrNameLst>
                                      </p:cBhvr>
                                      <p:to>
                                        <p:strVal val="visible"/>
                                      </p:to>
                                    </p:set>
                                    <p:animEffect transition="in" filter="wipe(left)">
                                      <p:cBhvr>
                                        <p:cTn id="302" dur="500"/>
                                        <p:tgtEl>
                                          <p:spTgt spid="43"/>
                                        </p:tgtEl>
                                      </p:cBhvr>
                                    </p:animEffect>
                                  </p:childTnLst>
                                </p:cTn>
                              </p:par>
                            </p:childTnLst>
                          </p:cTn>
                        </p:par>
                      </p:childTnLst>
                    </p:cTn>
                  </p:par>
                  <p:par>
                    <p:cTn id="303" fill="hold">
                      <p:stCondLst>
                        <p:cond delay="indefinite"/>
                      </p:stCondLst>
                      <p:childTnLst>
                        <p:par>
                          <p:cTn id="304" fill="hold">
                            <p:stCondLst>
                              <p:cond delay="0"/>
                            </p:stCondLst>
                            <p:childTnLst>
                              <p:par>
                                <p:cTn id="305" presetID="22" presetClass="entr" presetSubtype="8" fill="hold" grpId="0" nodeType="clickEffect">
                                  <p:stCondLst>
                                    <p:cond delay="0"/>
                                  </p:stCondLst>
                                  <p:childTnLst>
                                    <p:set>
                                      <p:cBhvr>
                                        <p:cTn id="306" dur="1" fill="hold">
                                          <p:stCondLst>
                                            <p:cond delay="0"/>
                                          </p:stCondLst>
                                        </p:cTn>
                                        <p:tgtEl>
                                          <p:spTgt spid="44"/>
                                        </p:tgtEl>
                                        <p:attrNameLst>
                                          <p:attrName>style.visibility</p:attrName>
                                        </p:attrNameLst>
                                      </p:cBhvr>
                                      <p:to>
                                        <p:strVal val="visible"/>
                                      </p:to>
                                    </p:set>
                                    <p:animEffect transition="in" filter="wipe(left)">
                                      <p:cBhvr>
                                        <p:cTn id="307" dur="500"/>
                                        <p:tgtEl>
                                          <p:spTgt spid="44"/>
                                        </p:tgtEl>
                                      </p:cBhvr>
                                    </p:animEffect>
                                  </p:childTnLst>
                                </p:cTn>
                              </p:par>
                            </p:childTnLst>
                          </p:cTn>
                        </p:par>
                      </p:childTnLst>
                    </p:cTn>
                  </p:par>
                  <p:par>
                    <p:cTn id="308" fill="hold">
                      <p:stCondLst>
                        <p:cond delay="indefinite"/>
                      </p:stCondLst>
                      <p:childTnLst>
                        <p:par>
                          <p:cTn id="309" fill="hold">
                            <p:stCondLst>
                              <p:cond delay="0"/>
                            </p:stCondLst>
                            <p:childTnLst>
                              <p:par>
                                <p:cTn id="310" presetID="1" presetClass="exit" presetSubtype="0" fill="hold" grpId="1" nodeType="clickEffect">
                                  <p:stCondLst>
                                    <p:cond delay="0"/>
                                  </p:stCondLst>
                                  <p:childTnLst>
                                    <p:set>
                                      <p:cBhvr>
                                        <p:cTn id="311" dur="1" fill="hold">
                                          <p:stCondLst>
                                            <p:cond delay="0"/>
                                          </p:stCondLst>
                                        </p:cTn>
                                        <p:tgtEl>
                                          <p:spTgt spid="92"/>
                                        </p:tgtEl>
                                        <p:attrNameLst>
                                          <p:attrName>style.visibility</p:attrName>
                                        </p:attrNameLst>
                                      </p:cBhvr>
                                      <p:to>
                                        <p:strVal val="hidden"/>
                                      </p:to>
                                    </p:set>
                                  </p:childTnLst>
                                </p:cTn>
                              </p:par>
                              <p:par>
                                <p:cTn id="312" presetID="1" presetClass="exit" presetSubtype="0" fill="hold" grpId="1" nodeType="withEffect">
                                  <p:stCondLst>
                                    <p:cond delay="0"/>
                                  </p:stCondLst>
                                  <p:childTnLst>
                                    <p:set>
                                      <p:cBhvr>
                                        <p:cTn id="313" dur="1" fill="hold">
                                          <p:stCondLst>
                                            <p:cond delay="0"/>
                                          </p:stCondLst>
                                        </p:cTn>
                                        <p:tgtEl>
                                          <p:spTgt spid="90"/>
                                        </p:tgtEl>
                                        <p:attrNameLst>
                                          <p:attrName>style.visibility</p:attrName>
                                        </p:attrNameLst>
                                      </p:cBhvr>
                                      <p:to>
                                        <p:strVal val="hidden"/>
                                      </p:to>
                                    </p:set>
                                  </p:childTnLst>
                                </p:cTn>
                              </p:par>
                              <p:par>
                                <p:cTn id="314" presetID="1" presetClass="exit" presetSubtype="0" fill="hold" grpId="1" nodeType="withEffect">
                                  <p:stCondLst>
                                    <p:cond delay="0"/>
                                  </p:stCondLst>
                                  <p:childTnLst>
                                    <p:set>
                                      <p:cBhvr>
                                        <p:cTn id="315" dur="1" fill="hold">
                                          <p:stCondLst>
                                            <p:cond delay="0"/>
                                          </p:stCondLst>
                                        </p:cTn>
                                        <p:tgtEl>
                                          <p:spTgt spid="88"/>
                                        </p:tgtEl>
                                        <p:attrNameLst>
                                          <p:attrName>style.visibility</p:attrName>
                                        </p:attrNameLst>
                                      </p:cBhvr>
                                      <p:to>
                                        <p:strVal val="hidden"/>
                                      </p:to>
                                    </p:set>
                                  </p:childTnLst>
                                </p:cTn>
                              </p:par>
                              <p:par>
                                <p:cTn id="316" presetID="1" presetClass="exit" presetSubtype="0" fill="hold" grpId="1" nodeType="withEffect">
                                  <p:stCondLst>
                                    <p:cond delay="0"/>
                                  </p:stCondLst>
                                  <p:childTnLst>
                                    <p:set>
                                      <p:cBhvr>
                                        <p:cTn id="317" dur="1" fill="hold">
                                          <p:stCondLst>
                                            <p:cond delay="0"/>
                                          </p:stCondLst>
                                        </p:cTn>
                                        <p:tgtEl>
                                          <p:spTgt spid="87"/>
                                        </p:tgtEl>
                                        <p:attrNameLst>
                                          <p:attrName>style.visibility</p:attrName>
                                        </p:attrNameLst>
                                      </p:cBhvr>
                                      <p:to>
                                        <p:strVal val="hidden"/>
                                      </p:to>
                                    </p:set>
                                  </p:childTnLst>
                                </p:cTn>
                              </p:par>
                              <p:par>
                                <p:cTn id="318" presetID="1" presetClass="exit" presetSubtype="0" fill="hold" grpId="1" nodeType="withEffect">
                                  <p:stCondLst>
                                    <p:cond delay="0"/>
                                  </p:stCondLst>
                                  <p:childTnLst>
                                    <p:set>
                                      <p:cBhvr>
                                        <p:cTn id="319" dur="1" fill="hold">
                                          <p:stCondLst>
                                            <p:cond delay="0"/>
                                          </p:stCondLst>
                                        </p:cTn>
                                        <p:tgtEl>
                                          <p:spTgt spid="89"/>
                                        </p:tgtEl>
                                        <p:attrNameLst>
                                          <p:attrName>style.visibility</p:attrName>
                                        </p:attrNameLst>
                                      </p:cBhvr>
                                      <p:to>
                                        <p:strVal val="hidden"/>
                                      </p:to>
                                    </p:set>
                                  </p:childTnLst>
                                </p:cTn>
                              </p:par>
                            </p:childTnLst>
                          </p:cTn>
                        </p:par>
                      </p:childTnLst>
                    </p:cTn>
                  </p:par>
                  <p:par>
                    <p:cTn id="320" fill="hold">
                      <p:stCondLst>
                        <p:cond delay="indefinite"/>
                      </p:stCondLst>
                      <p:childTnLst>
                        <p:par>
                          <p:cTn id="321" fill="hold">
                            <p:stCondLst>
                              <p:cond delay="0"/>
                            </p:stCondLst>
                            <p:childTnLst>
                              <p:par>
                                <p:cTn id="322" presetID="22" presetClass="entr" presetSubtype="8" fill="hold" grpId="0" nodeType="clickEffect">
                                  <p:stCondLst>
                                    <p:cond delay="0"/>
                                  </p:stCondLst>
                                  <p:childTnLst>
                                    <p:set>
                                      <p:cBhvr>
                                        <p:cTn id="323" dur="1" fill="hold">
                                          <p:stCondLst>
                                            <p:cond delay="0"/>
                                          </p:stCondLst>
                                        </p:cTn>
                                        <p:tgtEl>
                                          <p:spTgt spid="17"/>
                                        </p:tgtEl>
                                        <p:attrNameLst>
                                          <p:attrName>style.visibility</p:attrName>
                                        </p:attrNameLst>
                                      </p:cBhvr>
                                      <p:to>
                                        <p:strVal val="visible"/>
                                      </p:to>
                                    </p:set>
                                    <p:animEffect transition="in" filter="wipe(left)">
                                      <p:cBhvr>
                                        <p:cTn id="3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5" grpId="0" animBg="1"/>
      <p:bldP spid="5" grpId="1" animBg="1"/>
      <p:bldP spid="78" grpId="0" animBg="1"/>
      <p:bldP spid="78" grpId="1" animBg="1"/>
      <p:bldP spid="85" grpId="0" animBg="1"/>
      <p:bldP spid="85" grpId="1" animBg="1"/>
      <p:bldP spid="129" grpId="0"/>
      <p:bldP spid="130" grpId="0"/>
      <p:bldP spid="131" grpId="0"/>
      <p:bldP spid="7" grpId="0"/>
      <p:bldP spid="16" grpId="0"/>
      <p:bldP spid="24" grpId="0"/>
      <p:bldP spid="37" grpId="0"/>
      <p:bldP spid="38" grpId="0"/>
      <p:bldP spid="39" grpId="0"/>
      <p:bldP spid="40" grpId="0"/>
      <p:bldP spid="41" grpId="0"/>
      <p:bldP spid="42" grpId="0"/>
      <p:bldP spid="43" grpId="0"/>
      <p:bldP spid="44" grpId="0"/>
      <p:bldP spid="3" grpId="0"/>
      <p:bldP spid="48" grpId="0"/>
      <p:bldP spid="49" grpId="0"/>
      <p:bldP spid="4" grpId="0" animBg="1"/>
      <p:bldP spid="4" grpId="1" animBg="1"/>
      <p:bldP spid="80" grpId="0"/>
      <p:bldP spid="80" grpId="1"/>
      <p:bldP spid="81" grpId="0" animBg="1"/>
      <p:bldP spid="81" grpId="1" animBg="1"/>
      <p:bldP spid="82" grpId="0"/>
      <p:bldP spid="82" grpId="1"/>
      <p:bldP spid="83" grpId="0" animBg="1"/>
      <p:bldP spid="83" grpId="1" animBg="1"/>
      <p:bldP spid="84" grpId="0"/>
      <p:bldP spid="84" grpId="1"/>
      <p:bldP spid="92" grpId="0" animBg="1"/>
      <p:bldP spid="92" grpId="1" animBg="1"/>
      <p:bldP spid="88" grpId="0"/>
      <p:bldP spid="88" grpId="1"/>
      <p:bldP spid="89" grpId="0"/>
      <p:bldP spid="89" grpId="1"/>
      <p:bldP spid="90" grpId="0"/>
      <p:bldP spid="90" grpId="1"/>
      <p:bldP spid="87" grpId="0"/>
      <p:bldP spid="87" grpId="1"/>
      <p:bldP spid="86" grpId="0" animBg="1"/>
      <p:bldP spid="86" grpId="1" animBg="1"/>
      <p:bldP spid="91" grpId="0" animBg="1"/>
      <p:bldP spid="91" grpId="1" animBg="1"/>
      <p:bldP spid="94" grpId="0" animBg="1"/>
      <p:bldP spid="94" grpId="1"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7673" y="588824"/>
            <a:ext cx="7943521" cy="1754326"/>
          </a:xfrm>
          <a:prstGeom prst="rect">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wrap="none" lIns="91440" tIns="45720" rIns="91440" bIns="45720">
            <a:spAutoFit/>
          </a:bodyPr>
          <a:lstStyle/>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All Possible Outcome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o</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f </a:t>
            </a:r>
          </a:p>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Throwing Die Experiment</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2614953"/>
            <a:ext cx="2181451" cy="1803819"/>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3728" y="2674234"/>
            <a:ext cx="2181451" cy="1803819"/>
          </a:xfrm>
          <a:prstGeom prst="rect">
            <a:avLst/>
          </a:prstGeom>
        </p:spPr>
      </p:pic>
    </p:spTree>
    <p:extLst>
      <p:ext uri="{BB962C8B-B14F-4D97-AF65-F5344CB8AC3E}">
        <p14:creationId xmlns:p14="http://schemas.microsoft.com/office/powerpoint/2010/main" val="16896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3304" y="3085674"/>
            <a:ext cx="731520" cy="369332"/>
          </a:xfrm>
          <a:prstGeom prst="rect">
            <a:avLst/>
          </a:prstGeom>
          <a:noFill/>
        </p:spPr>
        <p:txBody>
          <a:bodyPr wrap="square" rtlCol="0">
            <a:spAutoFit/>
          </a:bodyPr>
          <a:lstStyle/>
          <a:p>
            <a:r>
              <a:rPr lang="en-US" b="1" dirty="0" smtClean="0">
                <a:solidFill>
                  <a:prstClr val="black"/>
                </a:solidFill>
              </a:rPr>
              <a:t>(1,1), </a:t>
            </a:r>
            <a:endParaRPr lang="en-IN" b="1" dirty="0">
              <a:solidFill>
                <a:prstClr val="black"/>
              </a:solidFill>
            </a:endParaRPr>
          </a:p>
        </p:txBody>
      </p:sp>
      <p:sp>
        <p:nvSpPr>
          <p:cNvPr id="5" name="TextBox 4"/>
          <p:cNvSpPr txBox="1"/>
          <p:nvPr/>
        </p:nvSpPr>
        <p:spPr>
          <a:xfrm>
            <a:off x="626042" y="3365073"/>
            <a:ext cx="3810000" cy="369332"/>
          </a:xfrm>
          <a:prstGeom prst="rect">
            <a:avLst/>
          </a:prstGeom>
          <a:noFill/>
        </p:spPr>
        <p:txBody>
          <a:bodyPr wrap="square" rtlCol="0">
            <a:spAutoFit/>
          </a:bodyPr>
          <a:lstStyle/>
          <a:p>
            <a:r>
              <a:rPr lang="en-US" b="1" dirty="0" smtClean="0">
                <a:solidFill>
                  <a:prstClr val="black"/>
                </a:solidFill>
              </a:rPr>
              <a:t>(2,1), (2,2), (2,3), (2,4), (2,5), (2,6),</a:t>
            </a:r>
            <a:endParaRPr lang="en-IN" b="1" dirty="0">
              <a:solidFill>
                <a:prstClr val="black"/>
              </a:solidFill>
            </a:endParaRPr>
          </a:p>
        </p:txBody>
      </p:sp>
      <p:sp>
        <p:nvSpPr>
          <p:cNvPr id="6" name="TextBox 5"/>
          <p:cNvSpPr txBox="1"/>
          <p:nvPr/>
        </p:nvSpPr>
        <p:spPr>
          <a:xfrm>
            <a:off x="613792" y="3660801"/>
            <a:ext cx="3886200" cy="369332"/>
          </a:xfrm>
          <a:prstGeom prst="rect">
            <a:avLst/>
          </a:prstGeom>
          <a:noFill/>
        </p:spPr>
        <p:txBody>
          <a:bodyPr wrap="square" rtlCol="0">
            <a:spAutoFit/>
          </a:bodyPr>
          <a:lstStyle/>
          <a:p>
            <a:r>
              <a:rPr lang="en-US" b="1" dirty="0" smtClean="0">
                <a:solidFill>
                  <a:prstClr val="black"/>
                </a:solidFill>
              </a:rPr>
              <a:t>(3,1), (3,2), (3,3), (3,4), (3,5), (3,6),</a:t>
            </a:r>
            <a:endParaRPr lang="en-IN" b="1" dirty="0">
              <a:solidFill>
                <a:prstClr val="black"/>
              </a:solidFill>
            </a:endParaRPr>
          </a:p>
        </p:txBody>
      </p:sp>
      <p:sp>
        <p:nvSpPr>
          <p:cNvPr id="7" name="TextBox 6"/>
          <p:cNvSpPr txBox="1"/>
          <p:nvPr/>
        </p:nvSpPr>
        <p:spPr>
          <a:xfrm>
            <a:off x="616972" y="3972793"/>
            <a:ext cx="3810000" cy="369332"/>
          </a:xfrm>
          <a:prstGeom prst="rect">
            <a:avLst/>
          </a:prstGeom>
          <a:noFill/>
        </p:spPr>
        <p:txBody>
          <a:bodyPr wrap="square" rtlCol="0">
            <a:spAutoFit/>
          </a:bodyPr>
          <a:lstStyle/>
          <a:p>
            <a:r>
              <a:rPr lang="en-US" b="1" dirty="0" smtClean="0">
                <a:solidFill>
                  <a:prstClr val="black"/>
                </a:solidFill>
              </a:rPr>
              <a:t>(4,1), (4,2), (4,3), (4,4), (4,5), (4,6),</a:t>
            </a:r>
            <a:endParaRPr lang="en-IN" b="1" dirty="0">
              <a:solidFill>
                <a:prstClr val="black"/>
              </a:solidFill>
            </a:endParaRPr>
          </a:p>
        </p:txBody>
      </p:sp>
      <p:sp>
        <p:nvSpPr>
          <p:cNvPr id="8" name="TextBox 7"/>
          <p:cNvSpPr txBox="1"/>
          <p:nvPr/>
        </p:nvSpPr>
        <p:spPr>
          <a:xfrm>
            <a:off x="620602" y="4256631"/>
            <a:ext cx="3549190" cy="369332"/>
          </a:xfrm>
          <a:prstGeom prst="rect">
            <a:avLst/>
          </a:prstGeom>
          <a:noFill/>
        </p:spPr>
        <p:txBody>
          <a:bodyPr wrap="square" rtlCol="0">
            <a:spAutoFit/>
          </a:bodyPr>
          <a:lstStyle/>
          <a:p>
            <a:r>
              <a:rPr lang="en-US" b="1" dirty="0" smtClean="0">
                <a:solidFill>
                  <a:prstClr val="black"/>
                </a:solidFill>
              </a:rPr>
              <a:t>(5,1), (5,2), (5,3), (5,4), (5,5), (5,6),</a:t>
            </a:r>
            <a:endParaRPr lang="en-IN" b="1" dirty="0">
              <a:solidFill>
                <a:prstClr val="black"/>
              </a:solidFill>
            </a:endParaRPr>
          </a:p>
        </p:txBody>
      </p:sp>
      <p:sp>
        <p:nvSpPr>
          <p:cNvPr id="9" name="TextBox 8"/>
          <p:cNvSpPr txBox="1"/>
          <p:nvPr/>
        </p:nvSpPr>
        <p:spPr>
          <a:xfrm>
            <a:off x="629672" y="4555549"/>
            <a:ext cx="3768720" cy="369332"/>
          </a:xfrm>
          <a:prstGeom prst="rect">
            <a:avLst/>
          </a:prstGeom>
          <a:noFill/>
        </p:spPr>
        <p:txBody>
          <a:bodyPr wrap="square" rtlCol="0">
            <a:spAutoFit/>
          </a:bodyPr>
          <a:lstStyle/>
          <a:p>
            <a:r>
              <a:rPr lang="en-US" b="1" dirty="0" smtClean="0">
                <a:solidFill>
                  <a:prstClr val="black"/>
                </a:solidFill>
              </a:rPr>
              <a:t>(6,1), (6,2), (6,3), (6,4), (6,5), (6,6)</a:t>
            </a:r>
            <a:endParaRPr lang="en-IN" b="1" dirty="0">
              <a:solidFill>
                <a:prstClr val="black"/>
              </a:solidFill>
            </a:endParaRPr>
          </a:p>
        </p:txBody>
      </p:sp>
      <p:sp>
        <p:nvSpPr>
          <p:cNvPr id="10" name="TextBox 9"/>
          <p:cNvSpPr txBox="1"/>
          <p:nvPr/>
        </p:nvSpPr>
        <p:spPr>
          <a:xfrm>
            <a:off x="1202544" y="3085673"/>
            <a:ext cx="857256" cy="369332"/>
          </a:xfrm>
          <a:prstGeom prst="rect">
            <a:avLst/>
          </a:prstGeom>
          <a:noFill/>
        </p:spPr>
        <p:txBody>
          <a:bodyPr wrap="square" rtlCol="0">
            <a:spAutoFit/>
          </a:bodyPr>
          <a:lstStyle/>
          <a:p>
            <a:r>
              <a:rPr lang="en-US" b="1" dirty="0" smtClean="0">
                <a:solidFill>
                  <a:prstClr val="black"/>
                </a:solidFill>
              </a:rPr>
              <a:t>(1,2), </a:t>
            </a:r>
            <a:endParaRPr lang="en-IN" b="1" dirty="0">
              <a:solidFill>
                <a:prstClr val="black"/>
              </a:solidFill>
            </a:endParaRPr>
          </a:p>
        </p:txBody>
      </p:sp>
      <p:sp>
        <p:nvSpPr>
          <p:cNvPr id="11" name="TextBox 10"/>
          <p:cNvSpPr txBox="1"/>
          <p:nvPr/>
        </p:nvSpPr>
        <p:spPr>
          <a:xfrm>
            <a:off x="1752718" y="3085673"/>
            <a:ext cx="838200" cy="369332"/>
          </a:xfrm>
          <a:prstGeom prst="rect">
            <a:avLst/>
          </a:prstGeom>
          <a:noFill/>
        </p:spPr>
        <p:txBody>
          <a:bodyPr wrap="square" rtlCol="0">
            <a:spAutoFit/>
          </a:bodyPr>
          <a:lstStyle/>
          <a:p>
            <a:r>
              <a:rPr lang="en-US" b="1" dirty="0" smtClean="0">
                <a:solidFill>
                  <a:prstClr val="black"/>
                </a:solidFill>
              </a:rPr>
              <a:t>(1,3), </a:t>
            </a:r>
            <a:endParaRPr lang="en-IN" b="1" dirty="0">
              <a:solidFill>
                <a:prstClr val="black"/>
              </a:solidFill>
            </a:endParaRPr>
          </a:p>
        </p:txBody>
      </p:sp>
      <p:sp>
        <p:nvSpPr>
          <p:cNvPr id="12" name="TextBox 11"/>
          <p:cNvSpPr txBox="1"/>
          <p:nvPr/>
        </p:nvSpPr>
        <p:spPr>
          <a:xfrm>
            <a:off x="2278864" y="3082904"/>
            <a:ext cx="743856" cy="369332"/>
          </a:xfrm>
          <a:prstGeom prst="rect">
            <a:avLst/>
          </a:prstGeom>
          <a:noFill/>
        </p:spPr>
        <p:txBody>
          <a:bodyPr wrap="square" rtlCol="0">
            <a:spAutoFit/>
          </a:bodyPr>
          <a:lstStyle/>
          <a:p>
            <a:r>
              <a:rPr lang="en-US" b="1" dirty="0" smtClean="0">
                <a:solidFill>
                  <a:prstClr val="black"/>
                </a:solidFill>
              </a:rPr>
              <a:t>(1,4), </a:t>
            </a:r>
            <a:endParaRPr lang="en-IN" b="1" dirty="0">
              <a:solidFill>
                <a:prstClr val="black"/>
              </a:solidFill>
            </a:endParaRPr>
          </a:p>
        </p:txBody>
      </p:sp>
      <p:sp>
        <p:nvSpPr>
          <p:cNvPr id="13" name="TextBox 12"/>
          <p:cNvSpPr txBox="1"/>
          <p:nvPr/>
        </p:nvSpPr>
        <p:spPr>
          <a:xfrm>
            <a:off x="2830408" y="3085673"/>
            <a:ext cx="743856" cy="369332"/>
          </a:xfrm>
          <a:prstGeom prst="rect">
            <a:avLst/>
          </a:prstGeom>
          <a:noFill/>
        </p:spPr>
        <p:txBody>
          <a:bodyPr wrap="square" rtlCol="0">
            <a:spAutoFit/>
          </a:bodyPr>
          <a:lstStyle/>
          <a:p>
            <a:r>
              <a:rPr lang="en-US" b="1" dirty="0" smtClean="0">
                <a:solidFill>
                  <a:prstClr val="black"/>
                </a:solidFill>
              </a:rPr>
              <a:t>(1,5), </a:t>
            </a:r>
            <a:endParaRPr lang="en-IN" b="1" dirty="0">
              <a:solidFill>
                <a:prstClr val="black"/>
              </a:solidFill>
            </a:endParaRPr>
          </a:p>
        </p:txBody>
      </p:sp>
      <p:sp>
        <p:nvSpPr>
          <p:cNvPr id="14" name="TextBox 13"/>
          <p:cNvSpPr txBox="1"/>
          <p:nvPr/>
        </p:nvSpPr>
        <p:spPr>
          <a:xfrm>
            <a:off x="3367438" y="3085673"/>
            <a:ext cx="857256" cy="369332"/>
          </a:xfrm>
          <a:prstGeom prst="rect">
            <a:avLst/>
          </a:prstGeom>
          <a:noFill/>
        </p:spPr>
        <p:txBody>
          <a:bodyPr wrap="square" rtlCol="0">
            <a:spAutoFit/>
          </a:bodyPr>
          <a:lstStyle/>
          <a:p>
            <a:r>
              <a:rPr lang="en-US" b="1" dirty="0" smtClean="0">
                <a:solidFill>
                  <a:prstClr val="black"/>
                </a:solidFill>
              </a:rPr>
              <a:t>(1,6), </a:t>
            </a:r>
            <a:endParaRPr lang="en-IN" b="1" dirty="0">
              <a:solidFill>
                <a:prstClr val="black"/>
              </a:solidFill>
            </a:endParaRPr>
          </a:p>
        </p:txBody>
      </p:sp>
      <p:sp>
        <p:nvSpPr>
          <p:cNvPr id="17" name="TextBox 16"/>
          <p:cNvSpPr txBox="1"/>
          <p:nvPr/>
        </p:nvSpPr>
        <p:spPr>
          <a:xfrm>
            <a:off x="4182989" y="4377462"/>
            <a:ext cx="4246361" cy="338554"/>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1" i="0" u="none" strike="noStrike" kern="0" cap="none" spc="0" normalizeH="0" baseline="0">
                <a:ln>
                  <a:noFill/>
                </a:ln>
                <a:solidFill>
                  <a:prstClr val="black"/>
                </a:solidFill>
                <a:effectLst/>
                <a:uLnTx/>
                <a:uFillTx/>
                <a:latin typeface="Bookman Old Style"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Number of all possible outcomes = 36 </a:t>
            </a:r>
            <a:endParaRPr lang="en-IN" dirty="0"/>
          </a:p>
        </p:txBody>
      </p:sp>
      <p:pic>
        <p:nvPicPr>
          <p:cNvPr id="18" name="Picture 17" descr="images2.jpg"/>
          <p:cNvPicPr>
            <a:picLocks noChangeAspect="1"/>
          </p:cNvPicPr>
          <p:nvPr/>
        </p:nvPicPr>
        <p:blipFill>
          <a:blip r:embed="rId2" cstate="print"/>
          <a:stretch>
            <a:fillRect/>
          </a:stretch>
        </p:blipFill>
        <p:spPr>
          <a:xfrm>
            <a:off x="799580" y="1087832"/>
            <a:ext cx="1904823" cy="1434967"/>
          </a:xfrm>
          <a:prstGeom prst="rect">
            <a:avLst/>
          </a:prstGeom>
        </p:spPr>
      </p:pic>
      <p:pic>
        <p:nvPicPr>
          <p:cNvPr id="19" name="Picture 18" descr="dice_wp_1440x900.jpg"/>
          <p:cNvPicPr>
            <a:picLocks noChangeAspect="1"/>
          </p:cNvPicPr>
          <p:nvPr/>
        </p:nvPicPr>
        <p:blipFill>
          <a:blip r:embed="rId3" cstate="print"/>
          <a:stretch>
            <a:fillRect/>
          </a:stretch>
        </p:blipFill>
        <p:spPr>
          <a:xfrm>
            <a:off x="2938560" y="1088542"/>
            <a:ext cx="2100505" cy="1439551"/>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68466" y="658841"/>
            <a:ext cx="2181451" cy="1803819"/>
          </a:xfrm>
          <a:prstGeom prst="rect">
            <a:avLst/>
          </a:prstGeom>
        </p:spPr>
      </p:pic>
      <p:sp>
        <p:nvSpPr>
          <p:cNvPr id="26" name="Round Diagonal Corner Rectangle 25"/>
          <p:cNvSpPr/>
          <p:nvPr/>
        </p:nvSpPr>
        <p:spPr>
          <a:xfrm>
            <a:off x="704734" y="2384498"/>
            <a:ext cx="3075178" cy="1124804"/>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27" name="TextBox 26"/>
          <p:cNvSpPr txBox="1"/>
          <p:nvPr/>
        </p:nvSpPr>
        <p:spPr>
          <a:xfrm>
            <a:off x="971600" y="2336767"/>
            <a:ext cx="2613576" cy="1118240"/>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Consider the </a:t>
            </a:r>
            <a:r>
              <a:rPr lang="en-US" dirty="0" err="1" smtClean="0"/>
              <a:t>colour</a:t>
            </a:r>
            <a:r>
              <a:rPr lang="en-US" dirty="0" smtClean="0"/>
              <a:t> </a:t>
            </a:r>
            <a:endParaRPr lang="en-US" dirty="0"/>
          </a:p>
          <a:p>
            <a:r>
              <a:rPr lang="en-US" dirty="0"/>
              <a:t>of 1st die a</a:t>
            </a:r>
            <a:r>
              <a:rPr lang="en-US" dirty="0" smtClean="0"/>
              <a:t>s </a:t>
            </a:r>
            <a:r>
              <a:rPr lang="en-US" dirty="0"/>
              <a:t>red &amp; of 2nd die </a:t>
            </a:r>
            <a:r>
              <a:rPr lang="en-US" dirty="0" smtClean="0"/>
              <a:t>as </a:t>
            </a:r>
            <a:r>
              <a:rPr lang="en-US" dirty="0"/>
              <a:t>white</a:t>
            </a:r>
          </a:p>
        </p:txBody>
      </p:sp>
      <p:pic>
        <p:nvPicPr>
          <p:cNvPr id="45" name="Picture 44"/>
          <p:cNvPicPr>
            <a:picLocks noChangeAspect="1"/>
          </p:cNvPicPr>
          <p:nvPr/>
        </p:nvPicPr>
        <p:blipFill rotWithShape="1">
          <a:blip r:embed="rId5" cstate="print">
            <a:extLst>
              <a:ext uri="{28A0092B-C50C-407E-A947-70E740481C1C}">
                <a14:useLocalDpi xmlns:a14="http://schemas.microsoft.com/office/drawing/2010/main" val="0"/>
              </a:ext>
            </a:extLst>
          </a:blip>
          <a:srcRect t="-24" r="83459" b="82389"/>
          <a:stretch/>
        </p:blipFill>
        <p:spPr>
          <a:xfrm>
            <a:off x="707655" y="1061671"/>
            <a:ext cx="698086" cy="380082"/>
          </a:xfrm>
          <a:prstGeom prst="rect">
            <a:avLst/>
          </a:prstGeom>
        </p:spPr>
      </p:pic>
      <p:pic>
        <p:nvPicPr>
          <p:cNvPr id="46" name="Picture 45"/>
          <p:cNvPicPr>
            <a:picLocks noChangeAspect="1"/>
          </p:cNvPicPr>
          <p:nvPr/>
        </p:nvPicPr>
        <p:blipFill rotWithShape="1">
          <a:blip r:embed="rId5" cstate="print">
            <a:extLst>
              <a:ext uri="{28A0092B-C50C-407E-A947-70E740481C1C}">
                <a14:useLocalDpi xmlns:a14="http://schemas.microsoft.com/office/drawing/2010/main" val="0"/>
              </a:ext>
            </a:extLst>
          </a:blip>
          <a:srcRect l="66829" t="-1" r="16282" b="82481"/>
          <a:stretch/>
        </p:blipFill>
        <p:spPr>
          <a:xfrm>
            <a:off x="3526858" y="1061621"/>
            <a:ext cx="712794" cy="380132"/>
          </a:xfrm>
          <a:prstGeom prst="rect">
            <a:avLst/>
          </a:prstGeom>
        </p:spPr>
      </p:pic>
      <p:pic>
        <p:nvPicPr>
          <p:cNvPr id="55" name="Picture 54"/>
          <p:cNvPicPr>
            <a:picLocks noChangeAspect="1"/>
          </p:cNvPicPr>
          <p:nvPr/>
        </p:nvPicPr>
        <p:blipFill rotWithShape="1">
          <a:blip r:embed="rId5" cstate="print">
            <a:extLst>
              <a:ext uri="{28A0092B-C50C-407E-A947-70E740481C1C}">
                <a14:useLocalDpi xmlns:a14="http://schemas.microsoft.com/office/drawing/2010/main" val="0"/>
              </a:ext>
            </a:extLst>
          </a:blip>
          <a:srcRect l="16186" t="54" r="66293" b="82437"/>
          <a:stretch/>
        </p:blipFill>
        <p:spPr>
          <a:xfrm>
            <a:off x="1393010" y="1063185"/>
            <a:ext cx="739498" cy="378568"/>
          </a:xfrm>
          <a:prstGeom prst="rect">
            <a:avLst/>
          </a:prstGeom>
        </p:spPr>
      </p:pic>
      <p:pic>
        <p:nvPicPr>
          <p:cNvPr id="56" name="Picture 55"/>
          <p:cNvPicPr>
            <a:picLocks noChangeAspect="1"/>
          </p:cNvPicPr>
          <p:nvPr/>
        </p:nvPicPr>
        <p:blipFill rotWithShape="1">
          <a:blip r:embed="rId5" cstate="print">
            <a:extLst>
              <a:ext uri="{28A0092B-C50C-407E-A947-70E740481C1C}">
                <a14:useLocalDpi xmlns:a14="http://schemas.microsoft.com/office/drawing/2010/main" val="0"/>
              </a:ext>
            </a:extLst>
          </a:blip>
          <a:srcRect l="33044" t="-265" r="49638" b="82578"/>
          <a:stretch/>
        </p:blipFill>
        <p:spPr>
          <a:xfrm>
            <a:off x="2099467" y="1056101"/>
            <a:ext cx="730928" cy="382385"/>
          </a:xfrm>
          <a:prstGeom prst="rect">
            <a:avLst/>
          </a:prstGeom>
        </p:spPr>
      </p:pic>
      <p:pic>
        <p:nvPicPr>
          <p:cNvPr id="57" name="Picture 56"/>
          <p:cNvPicPr>
            <a:picLocks noChangeAspect="1"/>
          </p:cNvPicPr>
          <p:nvPr/>
        </p:nvPicPr>
        <p:blipFill rotWithShape="1">
          <a:blip r:embed="rId5" cstate="print">
            <a:extLst>
              <a:ext uri="{28A0092B-C50C-407E-A947-70E740481C1C}">
                <a14:useLocalDpi xmlns:a14="http://schemas.microsoft.com/office/drawing/2010/main" val="0"/>
              </a:ext>
            </a:extLst>
          </a:blip>
          <a:srcRect l="50000" t="-209" r="32934" b="82461"/>
          <a:stretch/>
        </p:blipFill>
        <p:spPr>
          <a:xfrm>
            <a:off x="2817017" y="1055854"/>
            <a:ext cx="720213" cy="385899"/>
          </a:xfrm>
          <a:prstGeom prst="rect">
            <a:avLst/>
          </a:prstGeom>
        </p:spPr>
      </p:pic>
      <p:pic>
        <p:nvPicPr>
          <p:cNvPr id="58" name="Picture 57"/>
          <p:cNvPicPr>
            <a:picLocks noChangeAspect="1"/>
          </p:cNvPicPr>
          <p:nvPr/>
        </p:nvPicPr>
        <p:blipFill rotWithShape="1">
          <a:blip r:embed="rId5" cstate="print">
            <a:extLst>
              <a:ext uri="{28A0092B-C50C-407E-A947-70E740481C1C}">
                <a14:useLocalDpi xmlns:a14="http://schemas.microsoft.com/office/drawing/2010/main" val="0"/>
              </a:ext>
            </a:extLst>
          </a:blip>
          <a:srcRect l="83487" t="-29" b="82586"/>
          <a:stretch/>
        </p:blipFill>
        <p:spPr>
          <a:xfrm>
            <a:off x="4225277" y="1055854"/>
            <a:ext cx="685905" cy="385899"/>
          </a:xfrm>
          <a:prstGeom prst="rect">
            <a:avLst/>
          </a:prstGeom>
        </p:spPr>
      </p:pic>
      <p:pic>
        <p:nvPicPr>
          <p:cNvPr id="59" name="Picture 58"/>
          <p:cNvPicPr>
            <a:picLocks noChangeAspect="1"/>
          </p:cNvPicPr>
          <p:nvPr/>
        </p:nvPicPr>
        <p:blipFill rotWithShape="1">
          <a:blip r:embed="rId5" cstate="print">
            <a:extLst>
              <a:ext uri="{28A0092B-C50C-407E-A947-70E740481C1C}">
                <a14:useLocalDpi xmlns:a14="http://schemas.microsoft.com/office/drawing/2010/main" val="0"/>
              </a:ext>
            </a:extLst>
          </a:blip>
          <a:srcRect t="16942" b="66709"/>
          <a:stretch/>
        </p:blipFill>
        <p:spPr>
          <a:xfrm>
            <a:off x="698643" y="1436512"/>
            <a:ext cx="4220502" cy="340969"/>
          </a:xfrm>
          <a:prstGeom prst="rect">
            <a:avLst/>
          </a:prstGeom>
        </p:spPr>
      </p:pic>
      <p:pic>
        <p:nvPicPr>
          <p:cNvPr id="60" name="Picture 59"/>
          <p:cNvPicPr>
            <a:picLocks noChangeAspect="1"/>
          </p:cNvPicPr>
          <p:nvPr/>
        </p:nvPicPr>
        <p:blipFill rotWithShape="1">
          <a:blip r:embed="rId5" cstate="print">
            <a:extLst>
              <a:ext uri="{28A0092B-C50C-407E-A947-70E740481C1C}">
                <a14:useLocalDpi xmlns:a14="http://schemas.microsoft.com/office/drawing/2010/main" val="0"/>
              </a:ext>
            </a:extLst>
          </a:blip>
          <a:srcRect t="33174" b="49690"/>
          <a:stretch/>
        </p:blipFill>
        <p:spPr>
          <a:xfrm>
            <a:off x="698424" y="1775672"/>
            <a:ext cx="4220502" cy="371208"/>
          </a:xfrm>
          <a:prstGeom prst="rect">
            <a:avLst/>
          </a:prstGeom>
        </p:spPr>
      </p:pic>
      <p:pic>
        <p:nvPicPr>
          <p:cNvPr id="61" name="Picture 60"/>
          <p:cNvPicPr>
            <a:picLocks noChangeAspect="1"/>
          </p:cNvPicPr>
          <p:nvPr/>
        </p:nvPicPr>
        <p:blipFill rotWithShape="1">
          <a:blip r:embed="rId5" cstate="print">
            <a:extLst>
              <a:ext uri="{28A0092B-C50C-407E-A947-70E740481C1C}">
                <a14:useLocalDpi xmlns:a14="http://schemas.microsoft.com/office/drawing/2010/main" val="0"/>
              </a:ext>
            </a:extLst>
          </a:blip>
          <a:srcRect t="49849" b="33287"/>
          <a:stretch/>
        </p:blipFill>
        <p:spPr>
          <a:xfrm>
            <a:off x="697226" y="2142517"/>
            <a:ext cx="4220502" cy="351693"/>
          </a:xfrm>
          <a:prstGeom prst="rect">
            <a:avLst/>
          </a:prstGeom>
        </p:spPr>
      </p:pic>
      <p:pic>
        <p:nvPicPr>
          <p:cNvPr id="62" name="Picture 61"/>
          <p:cNvPicPr>
            <a:picLocks noChangeAspect="1"/>
          </p:cNvPicPr>
          <p:nvPr/>
        </p:nvPicPr>
        <p:blipFill rotWithShape="1">
          <a:blip r:embed="rId5" cstate="print">
            <a:extLst>
              <a:ext uri="{28A0092B-C50C-407E-A947-70E740481C1C}">
                <a14:useLocalDpi xmlns:a14="http://schemas.microsoft.com/office/drawing/2010/main" val="0"/>
              </a:ext>
            </a:extLst>
          </a:blip>
          <a:srcRect t="82772" b="1537"/>
          <a:stretch/>
        </p:blipFill>
        <p:spPr>
          <a:xfrm>
            <a:off x="699198" y="2831716"/>
            <a:ext cx="4220502" cy="327217"/>
          </a:xfrm>
          <a:prstGeom prst="rect">
            <a:avLst/>
          </a:prstGeom>
        </p:spPr>
      </p:pic>
      <p:pic>
        <p:nvPicPr>
          <p:cNvPr id="63" name="Picture 62"/>
          <p:cNvPicPr>
            <a:picLocks noChangeAspect="1"/>
          </p:cNvPicPr>
          <p:nvPr/>
        </p:nvPicPr>
        <p:blipFill rotWithShape="1">
          <a:blip r:embed="rId5" cstate="print">
            <a:extLst>
              <a:ext uri="{28A0092B-C50C-407E-A947-70E740481C1C}">
                <a14:useLocalDpi xmlns:a14="http://schemas.microsoft.com/office/drawing/2010/main" val="0"/>
              </a:ext>
            </a:extLst>
          </a:blip>
          <a:srcRect l="-207" t="65856" r="207" b="16434"/>
          <a:stretch/>
        </p:blipFill>
        <p:spPr>
          <a:xfrm>
            <a:off x="690998" y="2482884"/>
            <a:ext cx="4220502" cy="369332"/>
          </a:xfrm>
          <a:prstGeom prst="rect">
            <a:avLst/>
          </a:prstGeom>
        </p:spPr>
      </p:pic>
      <p:sp>
        <p:nvSpPr>
          <p:cNvPr id="64" name="Round Diagonal Corner Rectangle 63"/>
          <p:cNvSpPr/>
          <p:nvPr/>
        </p:nvSpPr>
        <p:spPr>
          <a:xfrm>
            <a:off x="5323934" y="2258604"/>
            <a:ext cx="3352522" cy="135665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US" sz="1600" b="1" kern="0" dirty="0">
                <a:solidFill>
                  <a:prstClr val="white"/>
                </a:solidFill>
                <a:latin typeface="Bookman Old Style" panose="02050604050505020204" pitchFamily="18" charset="0"/>
              </a:rPr>
              <a:t>In this experiment the possible outcomes has to be written as seen here, that is 6 outcomes in every row </a:t>
            </a:r>
          </a:p>
        </p:txBody>
      </p:sp>
      <p:sp>
        <p:nvSpPr>
          <p:cNvPr id="3" name="TextBox 2"/>
          <p:cNvSpPr txBox="1"/>
          <p:nvPr/>
        </p:nvSpPr>
        <p:spPr>
          <a:xfrm>
            <a:off x="633529" y="227424"/>
            <a:ext cx="5953156" cy="400110"/>
          </a:xfrm>
          <a:prstGeom prst="rect">
            <a:avLst/>
          </a:prstGeom>
          <a:noFill/>
        </p:spPr>
        <p:txBody>
          <a:bodyPr wrap="square" rtlCol="0">
            <a:spAutoFit/>
          </a:bodyPr>
          <a:lstStyle/>
          <a:p>
            <a:r>
              <a:rPr lang="en-US" sz="2000" b="1" dirty="0" smtClean="0">
                <a:solidFill>
                  <a:prstClr val="black"/>
                </a:solidFill>
              </a:rPr>
              <a:t>When Two Dice are Thrown together</a:t>
            </a:r>
            <a:endParaRPr lang="en-IN" sz="2000" b="1" dirty="0">
              <a:solidFill>
                <a:prstClr val="black"/>
              </a:solidFill>
            </a:endParaRPr>
          </a:p>
        </p:txBody>
      </p:sp>
      <p:sp>
        <p:nvSpPr>
          <p:cNvPr id="43" name="Rounded Rectangular Callout 42"/>
          <p:cNvSpPr/>
          <p:nvPr/>
        </p:nvSpPr>
        <p:spPr>
          <a:xfrm>
            <a:off x="915450" y="542993"/>
            <a:ext cx="2327393" cy="730669"/>
          </a:xfrm>
          <a:custGeom>
            <a:avLst/>
            <a:gdLst>
              <a:gd name="connsiteX0" fmla="*/ 0 w 2327393"/>
              <a:gd name="connsiteY0" fmla="*/ 67946 h 407669"/>
              <a:gd name="connsiteX1" fmla="*/ 67946 w 2327393"/>
              <a:gd name="connsiteY1" fmla="*/ 0 h 407669"/>
              <a:gd name="connsiteX2" fmla="*/ 387899 w 2327393"/>
              <a:gd name="connsiteY2" fmla="*/ 0 h 407669"/>
              <a:gd name="connsiteX3" fmla="*/ 387899 w 2327393"/>
              <a:gd name="connsiteY3" fmla="*/ 0 h 407669"/>
              <a:gd name="connsiteX4" fmla="*/ 969747 w 2327393"/>
              <a:gd name="connsiteY4" fmla="*/ 0 h 407669"/>
              <a:gd name="connsiteX5" fmla="*/ 2259447 w 2327393"/>
              <a:gd name="connsiteY5" fmla="*/ 0 h 407669"/>
              <a:gd name="connsiteX6" fmla="*/ 2327393 w 2327393"/>
              <a:gd name="connsiteY6" fmla="*/ 67946 h 407669"/>
              <a:gd name="connsiteX7" fmla="*/ 2327393 w 2327393"/>
              <a:gd name="connsiteY7" fmla="*/ 237807 h 407669"/>
              <a:gd name="connsiteX8" fmla="*/ 2327393 w 2327393"/>
              <a:gd name="connsiteY8" fmla="*/ 237807 h 407669"/>
              <a:gd name="connsiteX9" fmla="*/ 2327393 w 2327393"/>
              <a:gd name="connsiteY9" fmla="*/ 339724 h 407669"/>
              <a:gd name="connsiteX10" fmla="*/ 2327393 w 2327393"/>
              <a:gd name="connsiteY10" fmla="*/ 339723 h 407669"/>
              <a:gd name="connsiteX11" fmla="*/ 2259447 w 2327393"/>
              <a:gd name="connsiteY11" fmla="*/ 407669 h 407669"/>
              <a:gd name="connsiteX12" fmla="*/ 969747 w 2327393"/>
              <a:gd name="connsiteY12" fmla="*/ 407669 h 407669"/>
              <a:gd name="connsiteX13" fmla="*/ 655627 w 2327393"/>
              <a:gd name="connsiteY13" fmla="*/ 605446 h 407669"/>
              <a:gd name="connsiteX14" fmla="*/ 387899 w 2327393"/>
              <a:gd name="connsiteY14" fmla="*/ 407669 h 407669"/>
              <a:gd name="connsiteX15" fmla="*/ 67946 w 2327393"/>
              <a:gd name="connsiteY15" fmla="*/ 407669 h 407669"/>
              <a:gd name="connsiteX16" fmla="*/ 0 w 2327393"/>
              <a:gd name="connsiteY16" fmla="*/ 339723 h 407669"/>
              <a:gd name="connsiteX17" fmla="*/ 0 w 2327393"/>
              <a:gd name="connsiteY17" fmla="*/ 339724 h 407669"/>
              <a:gd name="connsiteX18" fmla="*/ 0 w 2327393"/>
              <a:gd name="connsiteY18" fmla="*/ 237807 h 407669"/>
              <a:gd name="connsiteX19" fmla="*/ 0 w 2327393"/>
              <a:gd name="connsiteY19" fmla="*/ 237807 h 407669"/>
              <a:gd name="connsiteX20" fmla="*/ 0 w 2327393"/>
              <a:gd name="connsiteY20" fmla="*/ 67946 h 407669"/>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703933 w 2327393"/>
              <a:gd name="connsiteY12" fmla="*/ 418302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699795 w 2327393"/>
              <a:gd name="connsiteY12" fmla="*/ 406255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709181"/>
              <a:gd name="connsiteX1" fmla="*/ 67946 w 2327393"/>
              <a:gd name="connsiteY1" fmla="*/ 0 h 709181"/>
              <a:gd name="connsiteX2" fmla="*/ 387899 w 2327393"/>
              <a:gd name="connsiteY2" fmla="*/ 0 h 709181"/>
              <a:gd name="connsiteX3" fmla="*/ 387899 w 2327393"/>
              <a:gd name="connsiteY3" fmla="*/ 0 h 709181"/>
              <a:gd name="connsiteX4" fmla="*/ 969747 w 2327393"/>
              <a:gd name="connsiteY4" fmla="*/ 0 h 709181"/>
              <a:gd name="connsiteX5" fmla="*/ 2259447 w 2327393"/>
              <a:gd name="connsiteY5" fmla="*/ 0 h 709181"/>
              <a:gd name="connsiteX6" fmla="*/ 2327393 w 2327393"/>
              <a:gd name="connsiteY6" fmla="*/ 67946 h 709181"/>
              <a:gd name="connsiteX7" fmla="*/ 2327393 w 2327393"/>
              <a:gd name="connsiteY7" fmla="*/ 237807 h 709181"/>
              <a:gd name="connsiteX8" fmla="*/ 2327393 w 2327393"/>
              <a:gd name="connsiteY8" fmla="*/ 237807 h 709181"/>
              <a:gd name="connsiteX9" fmla="*/ 2327393 w 2327393"/>
              <a:gd name="connsiteY9" fmla="*/ 339724 h 709181"/>
              <a:gd name="connsiteX10" fmla="*/ 2327393 w 2327393"/>
              <a:gd name="connsiteY10" fmla="*/ 339723 h 709181"/>
              <a:gd name="connsiteX11" fmla="*/ 2259447 w 2327393"/>
              <a:gd name="connsiteY11" fmla="*/ 407669 h 709181"/>
              <a:gd name="connsiteX12" fmla="*/ 699795 w 2327393"/>
              <a:gd name="connsiteY12" fmla="*/ 406255 h 709181"/>
              <a:gd name="connsiteX13" fmla="*/ 228115 w 2327393"/>
              <a:gd name="connsiteY13" fmla="*/ 709181 h 709181"/>
              <a:gd name="connsiteX14" fmla="*/ 387899 w 2327393"/>
              <a:gd name="connsiteY14" fmla="*/ 407669 h 709181"/>
              <a:gd name="connsiteX15" fmla="*/ 67946 w 2327393"/>
              <a:gd name="connsiteY15" fmla="*/ 407669 h 709181"/>
              <a:gd name="connsiteX16" fmla="*/ 0 w 2327393"/>
              <a:gd name="connsiteY16" fmla="*/ 339723 h 709181"/>
              <a:gd name="connsiteX17" fmla="*/ 0 w 2327393"/>
              <a:gd name="connsiteY17" fmla="*/ 339724 h 709181"/>
              <a:gd name="connsiteX18" fmla="*/ 0 w 2327393"/>
              <a:gd name="connsiteY18" fmla="*/ 237807 h 709181"/>
              <a:gd name="connsiteX19" fmla="*/ 0 w 2327393"/>
              <a:gd name="connsiteY19" fmla="*/ 237807 h 709181"/>
              <a:gd name="connsiteX20" fmla="*/ 0 w 2327393"/>
              <a:gd name="connsiteY20" fmla="*/ 67946 h 7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93" h="709181">
                <a:moveTo>
                  <a:pt x="0" y="67946"/>
                </a:moveTo>
                <a:cubicBezTo>
                  <a:pt x="0" y="30420"/>
                  <a:pt x="30420" y="0"/>
                  <a:pt x="67946" y="0"/>
                </a:cubicBezTo>
                <a:lnTo>
                  <a:pt x="387899" y="0"/>
                </a:lnTo>
                <a:lnTo>
                  <a:pt x="387899" y="0"/>
                </a:lnTo>
                <a:lnTo>
                  <a:pt x="969747" y="0"/>
                </a:lnTo>
                <a:lnTo>
                  <a:pt x="2259447" y="0"/>
                </a:lnTo>
                <a:cubicBezTo>
                  <a:pt x="2296973" y="0"/>
                  <a:pt x="2327393" y="30420"/>
                  <a:pt x="2327393" y="67946"/>
                </a:cubicBezTo>
                <a:lnTo>
                  <a:pt x="2327393" y="237807"/>
                </a:lnTo>
                <a:lnTo>
                  <a:pt x="2327393" y="237807"/>
                </a:lnTo>
                <a:lnTo>
                  <a:pt x="2327393" y="339724"/>
                </a:lnTo>
                <a:lnTo>
                  <a:pt x="2327393" y="339723"/>
                </a:lnTo>
                <a:cubicBezTo>
                  <a:pt x="2327393" y="377249"/>
                  <a:pt x="2296973" y="407669"/>
                  <a:pt x="2259447" y="407669"/>
                </a:cubicBezTo>
                <a:lnTo>
                  <a:pt x="699795" y="406255"/>
                </a:lnTo>
                <a:lnTo>
                  <a:pt x="228115" y="709181"/>
                </a:lnTo>
                <a:lnTo>
                  <a:pt x="387899" y="407669"/>
                </a:lnTo>
                <a:lnTo>
                  <a:pt x="67946" y="407669"/>
                </a:lnTo>
                <a:cubicBezTo>
                  <a:pt x="30420" y="407669"/>
                  <a:pt x="0" y="377249"/>
                  <a:pt x="0" y="339723"/>
                </a:cubicBezTo>
                <a:lnTo>
                  <a:pt x="0" y="339724"/>
                </a:lnTo>
                <a:lnTo>
                  <a:pt x="0" y="237807"/>
                </a:lnTo>
                <a:lnTo>
                  <a:pt x="0" y="237807"/>
                </a:lnTo>
                <a:lnTo>
                  <a:pt x="0" y="6794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47" name="Rounded Rectangular Callout 42"/>
          <p:cNvSpPr/>
          <p:nvPr/>
        </p:nvSpPr>
        <p:spPr>
          <a:xfrm>
            <a:off x="731170" y="554255"/>
            <a:ext cx="2327393" cy="730669"/>
          </a:xfrm>
          <a:custGeom>
            <a:avLst/>
            <a:gdLst>
              <a:gd name="connsiteX0" fmla="*/ 0 w 2327393"/>
              <a:gd name="connsiteY0" fmla="*/ 67946 h 407669"/>
              <a:gd name="connsiteX1" fmla="*/ 67946 w 2327393"/>
              <a:gd name="connsiteY1" fmla="*/ 0 h 407669"/>
              <a:gd name="connsiteX2" fmla="*/ 387899 w 2327393"/>
              <a:gd name="connsiteY2" fmla="*/ 0 h 407669"/>
              <a:gd name="connsiteX3" fmla="*/ 387899 w 2327393"/>
              <a:gd name="connsiteY3" fmla="*/ 0 h 407669"/>
              <a:gd name="connsiteX4" fmla="*/ 969747 w 2327393"/>
              <a:gd name="connsiteY4" fmla="*/ 0 h 407669"/>
              <a:gd name="connsiteX5" fmla="*/ 2259447 w 2327393"/>
              <a:gd name="connsiteY5" fmla="*/ 0 h 407669"/>
              <a:gd name="connsiteX6" fmla="*/ 2327393 w 2327393"/>
              <a:gd name="connsiteY6" fmla="*/ 67946 h 407669"/>
              <a:gd name="connsiteX7" fmla="*/ 2327393 w 2327393"/>
              <a:gd name="connsiteY7" fmla="*/ 237807 h 407669"/>
              <a:gd name="connsiteX8" fmla="*/ 2327393 w 2327393"/>
              <a:gd name="connsiteY8" fmla="*/ 237807 h 407669"/>
              <a:gd name="connsiteX9" fmla="*/ 2327393 w 2327393"/>
              <a:gd name="connsiteY9" fmla="*/ 339724 h 407669"/>
              <a:gd name="connsiteX10" fmla="*/ 2327393 w 2327393"/>
              <a:gd name="connsiteY10" fmla="*/ 339723 h 407669"/>
              <a:gd name="connsiteX11" fmla="*/ 2259447 w 2327393"/>
              <a:gd name="connsiteY11" fmla="*/ 407669 h 407669"/>
              <a:gd name="connsiteX12" fmla="*/ 969747 w 2327393"/>
              <a:gd name="connsiteY12" fmla="*/ 407669 h 407669"/>
              <a:gd name="connsiteX13" fmla="*/ 655627 w 2327393"/>
              <a:gd name="connsiteY13" fmla="*/ 605446 h 407669"/>
              <a:gd name="connsiteX14" fmla="*/ 387899 w 2327393"/>
              <a:gd name="connsiteY14" fmla="*/ 407669 h 407669"/>
              <a:gd name="connsiteX15" fmla="*/ 67946 w 2327393"/>
              <a:gd name="connsiteY15" fmla="*/ 407669 h 407669"/>
              <a:gd name="connsiteX16" fmla="*/ 0 w 2327393"/>
              <a:gd name="connsiteY16" fmla="*/ 339723 h 407669"/>
              <a:gd name="connsiteX17" fmla="*/ 0 w 2327393"/>
              <a:gd name="connsiteY17" fmla="*/ 339724 h 407669"/>
              <a:gd name="connsiteX18" fmla="*/ 0 w 2327393"/>
              <a:gd name="connsiteY18" fmla="*/ 237807 h 407669"/>
              <a:gd name="connsiteX19" fmla="*/ 0 w 2327393"/>
              <a:gd name="connsiteY19" fmla="*/ 237807 h 407669"/>
              <a:gd name="connsiteX20" fmla="*/ 0 w 2327393"/>
              <a:gd name="connsiteY20" fmla="*/ 67946 h 407669"/>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703933 w 2327393"/>
              <a:gd name="connsiteY12" fmla="*/ 418302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699795 w 2327393"/>
              <a:gd name="connsiteY12" fmla="*/ 406255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709181"/>
              <a:gd name="connsiteX1" fmla="*/ 67946 w 2327393"/>
              <a:gd name="connsiteY1" fmla="*/ 0 h 709181"/>
              <a:gd name="connsiteX2" fmla="*/ 387899 w 2327393"/>
              <a:gd name="connsiteY2" fmla="*/ 0 h 709181"/>
              <a:gd name="connsiteX3" fmla="*/ 387899 w 2327393"/>
              <a:gd name="connsiteY3" fmla="*/ 0 h 709181"/>
              <a:gd name="connsiteX4" fmla="*/ 969747 w 2327393"/>
              <a:gd name="connsiteY4" fmla="*/ 0 h 709181"/>
              <a:gd name="connsiteX5" fmla="*/ 2259447 w 2327393"/>
              <a:gd name="connsiteY5" fmla="*/ 0 h 709181"/>
              <a:gd name="connsiteX6" fmla="*/ 2327393 w 2327393"/>
              <a:gd name="connsiteY6" fmla="*/ 67946 h 709181"/>
              <a:gd name="connsiteX7" fmla="*/ 2327393 w 2327393"/>
              <a:gd name="connsiteY7" fmla="*/ 237807 h 709181"/>
              <a:gd name="connsiteX8" fmla="*/ 2327393 w 2327393"/>
              <a:gd name="connsiteY8" fmla="*/ 237807 h 709181"/>
              <a:gd name="connsiteX9" fmla="*/ 2327393 w 2327393"/>
              <a:gd name="connsiteY9" fmla="*/ 339724 h 709181"/>
              <a:gd name="connsiteX10" fmla="*/ 2327393 w 2327393"/>
              <a:gd name="connsiteY10" fmla="*/ 339723 h 709181"/>
              <a:gd name="connsiteX11" fmla="*/ 2259447 w 2327393"/>
              <a:gd name="connsiteY11" fmla="*/ 407669 h 709181"/>
              <a:gd name="connsiteX12" fmla="*/ 699795 w 2327393"/>
              <a:gd name="connsiteY12" fmla="*/ 406255 h 709181"/>
              <a:gd name="connsiteX13" fmla="*/ 228115 w 2327393"/>
              <a:gd name="connsiteY13" fmla="*/ 709181 h 709181"/>
              <a:gd name="connsiteX14" fmla="*/ 387899 w 2327393"/>
              <a:gd name="connsiteY14" fmla="*/ 407669 h 709181"/>
              <a:gd name="connsiteX15" fmla="*/ 67946 w 2327393"/>
              <a:gd name="connsiteY15" fmla="*/ 407669 h 709181"/>
              <a:gd name="connsiteX16" fmla="*/ 0 w 2327393"/>
              <a:gd name="connsiteY16" fmla="*/ 339723 h 709181"/>
              <a:gd name="connsiteX17" fmla="*/ 0 w 2327393"/>
              <a:gd name="connsiteY17" fmla="*/ 339724 h 709181"/>
              <a:gd name="connsiteX18" fmla="*/ 0 w 2327393"/>
              <a:gd name="connsiteY18" fmla="*/ 237807 h 709181"/>
              <a:gd name="connsiteX19" fmla="*/ 0 w 2327393"/>
              <a:gd name="connsiteY19" fmla="*/ 237807 h 709181"/>
              <a:gd name="connsiteX20" fmla="*/ 0 w 2327393"/>
              <a:gd name="connsiteY20" fmla="*/ 67946 h 7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93" h="709181">
                <a:moveTo>
                  <a:pt x="0" y="67946"/>
                </a:moveTo>
                <a:cubicBezTo>
                  <a:pt x="0" y="30420"/>
                  <a:pt x="30420" y="0"/>
                  <a:pt x="67946" y="0"/>
                </a:cubicBezTo>
                <a:lnTo>
                  <a:pt x="387899" y="0"/>
                </a:lnTo>
                <a:lnTo>
                  <a:pt x="387899" y="0"/>
                </a:lnTo>
                <a:lnTo>
                  <a:pt x="969747" y="0"/>
                </a:lnTo>
                <a:lnTo>
                  <a:pt x="2259447" y="0"/>
                </a:lnTo>
                <a:cubicBezTo>
                  <a:pt x="2296973" y="0"/>
                  <a:pt x="2327393" y="30420"/>
                  <a:pt x="2327393" y="67946"/>
                </a:cubicBezTo>
                <a:lnTo>
                  <a:pt x="2327393" y="237807"/>
                </a:lnTo>
                <a:lnTo>
                  <a:pt x="2327393" y="237807"/>
                </a:lnTo>
                <a:lnTo>
                  <a:pt x="2327393" y="339724"/>
                </a:lnTo>
                <a:lnTo>
                  <a:pt x="2327393" y="339723"/>
                </a:lnTo>
                <a:cubicBezTo>
                  <a:pt x="2327393" y="377249"/>
                  <a:pt x="2296973" y="407669"/>
                  <a:pt x="2259447" y="407669"/>
                </a:cubicBezTo>
                <a:lnTo>
                  <a:pt x="699795" y="406255"/>
                </a:lnTo>
                <a:lnTo>
                  <a:pt x="228115" y="709181"/>
                </a:lnTo>
                <a:lnTo>
                  <a:pt x="387899" y="407669"/>
                </a:lnTo>
                <a:lnTo>
                  <a:pt x="67946" y="407669"/>
                </a:lnTo>
                <a:cubicBezTo>
                  <a:pt x="30420" y="407669"/>
                  <a:pt x="0" y="377249"/>
                  <a:pt x="0" y="339723"/>
                </a:cubicBezTo>
                <a:lnTo>
                  <a:pt x="0" y="339724"/>
                </a:lnTo>
                <a:lnTo>
                  <a:pt x="0" y="237807"/>
                </a:lnTo>
                <a:lnTo>
                  <a:pt x="0" y="237807"/>
                </a:lnTo>
                <a:lnTo>
                  <a:pt x="0" y="6794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49" name="Rounded Rectangular Callout 42"/>
          <p:cNvSpPr/>
          <p:nvPr/>
        </p:nvSpPr>
        <p:spPr>
          <a:xfrm>
            <a:off x="1713414" y="605596"/>
            <a:ext cx="2327393" cy="730669"/>
          </a:xfrm>
          <a:custGeom>
            <a:avLst/>
            <a:gdLst>
              <a:gd name="connsiteX0" fmla="*/ 0 w 2327393"/>
              <a:gd name="connsiteY0" fmla="*/ 67946 h 407669"/>
              <a:gd name="connsiteX1" fmla="*/ 67946 w 2327393"/>
              <a:gd name="connsiteY1" fmla="*/ 0 h 407669"/>
              <a:gd name="connsiteX2" fmla="*/ 387899 w 2327393"/>
              <a:gd name="connsiteY2" fmla="*/ 0 h 407669"/>
              <a:gd name="connsiteX3" fmla="*/ 387899 w 2327393"/>
              <a:gd name="connsiteY3" fmla="*/ 0 h 407669"/>
              <a:gd name="connsiteX4" fmla="*/ 969747 w 2327393"/>
              <a:gd name="connsiteY4" fmla="*/ 0 h 407669"/>
              <a:gd name="connsiteX5" fmla="*/ 2259447 w 2327393"/>
              <a:gd name="connsiteY5" fmla="*/ 0 h 407669"/>
              <a:gd name="connsiteX6" fmla="*/ 2327393 w 2327393"/>
              <a:gd name="connsiteY6" fmla="*/ 67946 h 407669"/>
              <a:gd name="connsiteX7" fmla="*/ 2327393 w 2327393"/>
              <a:gd name="connsiteY7" fmla="*/ 237807 h 407669"/>
              <a:gd name="connsiteX8" fmla="*/ 2327393 w 2327393"/>
              <a:gd name="connsiteY8" fmla="*/ 237807 h 407669"/>
              <a:gd name="connsiteX9" fmla="*/ 2327393 w 2327393"/>
              <a:gd name="connsiteY9" fmla="*/ 339724 h 407669"/>
              <a:gd name="connsiteX10" fmla="*/ 2327393 w 2327393"/>
              <a:gd name="connsiteY10" fmla="*/ 339723 h 407669"/>
              <a:gd name="connsiteX11" fmla="*/ 2259447 w 2327393"/>
              <a:gd name="connsiteY11" fmla="*/ 407669 h 407669"/>
              <a:gd name="connsiteX12" fmla="*/ 969747 w 2327393"/>
              <a:gd name="connsiteY12" fmla="*/ 407669 h 407669"/>
              <a:gd name="connsiteX13" fmla="*/ 655627 w 2327393"/>
              <a:gd name="connsiteY13" fmla="*/ 605446 h 407669"/>
              <a:gd name="connsiteX14" fmla="*/ 387899 w 2327393"/>
              <a:gd name="connsiteY14" fmla="*/ 407669 h 407669"/>
              <a:gd name="connsiteX15" fmla="*/ 67946 w 2327393"/>
              <a:gd name="connsiteY15" fmla="*/ 407669 h 407669"/>
              <a:gd name="connsiteX16" fmla="*/ 0 w 2327393"/>
              <a:gd name="connsiteY16" fmla="*/ 339723 h 407669"/>
              <a:gd name="connsiteX17" fmla="*/ 0 w 2327393"/>
              <a:gd name="connsiteY17" fmla="*/ 339724 h 407669"/>
              <a:gd name="connsiteX18" fmla="*/ 0 w 2327393"/>
              <a:gd name="connsiteY18" fmla="*/ 237807 h 407669"/>
              <a:gd name="connsiteX19" fmla="*/ 0 w 2327393"/>
              <a:gd name="connsiteY19" fmla="*/ 237807 h 407669"/>
              <a:gd name="connsiteX20" fmla="*/ 0 w 2327393"/>
              <a:gd name="connsiteY20" fmla="*/ 67946 h 407669"/>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703933 w 2327393"/>
              <a:gd name="connsiteY12" fmla="*/ 418302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699795 w 2327393"/>
              <a:gd name="connsiteY12" fmla="*/ 406255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709181"/>
              <a:gd name="connsiteX1" fmla="*/ 67946 w 2327393"/>
              <a:gd name="connsiteY1" fmla="*/ 0 h 709181"/>
              <a:gd name="connsiteX2" fmla="*/ 387899 w 2327393"/>
              <a:gd name="connsiteY2" fmla="*/ 0 h 709181"/>
              <a:gd name="connsiteX3" fmla="*/ 387899 w 2327393"/>
              <a:gd name="connsiteY3" fmla="*/ 0 h 709181"/>
              <a:gd name="connsiteX4" fmla="*/ 969747 w 2327393"/>
              <a:gd name="connsiteY4" fmla="*/ 0 h 709181"/>
              <a:gd name="connsiteX5" fmla="*/ 2259447 w 2327393"/>
              <a:gd name="connsiteY5" fmla="*/ 0 h 709181"/>
              <a:gd name="connsiteX6" fmla="*/ 2327393 w 2327393"/>
              <a:gd name="connsiteY6" fmla="*/ 67946 h 709181"/>
              <a:gd name="connsiteX7" fmla="*/ 2327393 w 2327393"/>
              <a:gd name="connsiteY7" fmla="*/ 237807 h 709181"/>
              <a:gd name="connsiteX8" fmla="*/ 2327393 w 2327393"/>
              <a:gd name="connsiteY8" fmla="*/ 237807 h 709181"/>
              <a:gd name="connsiteX9" fmla="*/ 2327393 w 2327393"/>
              <a:gd name="connsiteY9" fmla="*/ 339724 h 709181"/>
              <a:gd name="connsiteX10" fmla="*/ 2327393 w 2327393"/>
              <a:gd name="connsiteY10" fmla="*/ 339723 h 709181"/>
              <a:gd name="connsiteX11" fmla="*/ 2259447 w 2327393"/>
              <a:gd name="connsiteY11" fmla="*/ 407669 h 709181"/>
              <a:gd name="connsiteX12" fmla="*/ 699795 w 2327393"/>
              <a:gd name="connsiteY12" fmla="*/ 406255 h 709181"/>
              <a:gd name="connsiteX13" fmla="*/ 228115 w 2327393"/>
              <a:gd name="connsiteY13" fmla="*/ 709181 h 709181"/>
              <a:gd name="connsiteX14" fmla="*/ 387899 w 2327393"/>
              <a:gd name="connsiteY14" fmla="*/ 407669 h 709181"/>
              <a:gd name="connsiteX15" fmla="*/ 67946 w 2327393"/>
              <a:gd name="connsiteY15" fmla="*/ 407669 h 709181"/>
              <a:gd name="connsiteX16" fmla="*/ 0 w 2327393"/>
              <a:gd name="connsiteY16" fmla="*/ 339723 h 709181"/>
              <a:gd name="connsiteX17" fmla="*/ 0 w 2327393"/>
              <a:gd name="connsiteY17" fmla="*/ 339724 h 709181"/>
              <a:gd name="connsiteX18" fmla="*/ 0 w 2327393"/>
              <a:gd name="connsiteY18" fmla="*/ 237807 h 709181"/>
              <a:gd name="connsiteX19" fmla="*/ 0 w 2327393"/>
              <a:gd name="connsiteY19" fmla="*/ 237807 h 709181"/>
              <a:gd name="connsiteX20" fmla="*/ 0 w 2327393"/>
              <a:gd name="connsiteY20" fmla="*/ 67946 h 7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93" h="709181">
                <a:moveTo>
                  <a:pt x="0" y="67946"/>
                </a:moveTo>
                <a:cubicBezTo>
                  <a:pt x="0" y="30420"/>
                  <a:pt x="30420" y="0"/>
                  <a:pt x="67946" y="0"/>
                </a:cubicBezTo>
                <a:lnTo>
                  <a:pt x="387899" y="0"/>
                </a:lnTo>
                <a:lnTo>
                  <a:pt x="387899" y="0"/>
                </a:lnTo>
                <a:lnTo>
                  <a:pt x="969747" y="0"/>
                </a:lnTo>
                <a:lnTo>
                  <a:pt x="2259447" y="0"/>
                </a:lnTo>
                <a:cubicBezTo>
                  <a:pt x="2296973" y="0"/>
                  <a:pt x="2327393" y="30420"/>
                  <a:pt x="2327393" y="67946"/>
                </a:cubicBezTo>
                <a:lnTo>
                  <a:pt x="2327393" y="237807"/>
                </a:lnTo>
                <a:lnTo>
                  <a:pt x="2327393" y="237807"/>
                </a:lnTo>
                <a:lnTo>
                  <a:pt x="2327393" y="339724"/>
                </a:lnTo>
                <a:lnTo>
                  <a:pt x="2327393" y="339723"/>
                </a:lnTo>
                <a:cubicBezTo>
                  <a:pt x="2327393" y="377249"/>
                  <a:pt x="2296973" y="407669"/>
                  <a:pt x="2259447" y="407669"/>
                </a:cubicBezTo>
                <a:lnTo>
                  <a:pt x="699795" y="406255"/>
                </a:lnTo>
                <a:lnTo>
                  <a:pt x="228115" y="709181"/>
                </a:lnTo>
                <a:lnTo>
                  <a:pt x="387899" y="407669"/>
                </a:lnTo>
                <a:lnTo>
                  <a:pt x="67946" y="407669"/>
                </a:lnTo>
                <a:cubicBezTo>
                  <a:pt x="30420" y="407669"/>
                  <a:pt x="0" y="377249"/>
                  <a:pt x="0" y="339723"/>
                </a:cubicBezTo>
                <a:lnTo>
                  <a:pt x="0" y="339724"/>
                </a:lnTo>
                <a:lnTo>
                  <a:pt x="0" y="237807"/>
                </a:lnTo>
                <a:lnTo>
                  <a:pt x="0" y="237807"/>
                </a:lnTo>
                <a:lnTo>
                  <a:pt x="0" y="6794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53" name="Rounded Rectangular Callout 42"/>
          <p:cNvSpPr/>
          <p:nvPr/>
        </p:nvSpPr>
        <p:spPr>
          <a:xfrm>
            <a:off x="1368720" y="590460"/>
            <a:ext cx="2327393" cy="730669"/>
          </a:xfrm>
          <a:custGeom>
            <a:avLst/>
            <a:gdLst>
              <a:gd name="connsiteX0" fmla="*/ 0 w 2327393"/>
              <a:gd name="connsiteY0" fmla="*/ 67946 h 407669"/>
              <a:gd name="connsiteX1" fmla="*/ 67946 w 2327393"/>
              <a:gd name="connsiteY1" fmla="*/ 0 h 407669"/>
              <a:gd name="connsiteX2" fmla="*/ 387899 w 2327393"/>
              <a:gd name="connsiteY2" fmla="*/ 0 h 407669"/>
              <a:gd name="connsiteX3" fmla="*/ 387899 w 2327393"/>
              <a:gd name="connsiteY3" fmla="*/ 0 h 407669"/>
              <a:gd name="connsiteX4" fmla="*/ 969747 w 2327393"/>
              <a:gd name="connsiteY4" fmla="*/ 0 h 407669"/>
              <a:gd name="connsiteX5" fmla="*/ 2259447 w 2327393"/>
              <a:gd name="connsiteY5" fmla="*/ 0 h 407669"/>
              <a:gd name="connsiteX6" fmla="*/ 2327393 w 2327393"/>
              <a:gd name="connsiteY6" fmla="*/ 67946 h 407669"/>
              <a:gd name="connsiteX7" fmla="*/ 2327393 w 2327393"/>
              <a:gd name="connsiteY7" fmla="*/ 237807 h 407669"/>
              <a:gd name="connsiteX8" fmla="*/ 2327393 w 2327393"/>
              <a:gd name="connsiteY8" fmla="*/ 237807 h 407669"/>
              <a:gd name="connsiteX9" fmla="*/ 2327393 w 2327393"/>
              <a:gd name="connsiteY9" fmla="*/ 339724 h 407669"/>
              <a:gd name="connsiteX10" fmla="*/ 2327393 w 2327393"/>
              <a:gd name="connsiteY10" fmla="*/ 339723 h 407669"/>
              <a:gd name="connsiteX11" fmla="*/ 2259447 w 2327393"/>
              <a:gd name="connsiteY11" fmla="*/ 407669 h 407669"/>
              <a:gd name="connsiteX12" fmla="*/ 969747 w 2327393"/>
              <a:gd name="connsiteY12" fmla="*/ 407669 h 407669"/>
              <a:gd name="connsiteX13" fmla="*/ 655627 w 2327393"/>
              <a:gd name="connsiteY13" fmla="*/ 605446 h 407669"/>
              <a:gd name="connsiteX14" fmla="*/ 387899 w 2327393"/>
              <a:gd name="connsiteY14" fmla="*/ 407669 h 407669"/>
              <a:gd name="connsiteX15" fmla="*/ 67946 w 2327393"/>
              <a:gd name="connsiteY15" fmla="*/ 407669 h 407669"/>
              <a:gd name="connsiteX16" fmla="*/ 0 w 2327393"/>
              <a:gd name="connsiteY16" fmla="*/ 339723 h 407669"/>
              <a:gd name="connsiteX17" fmla="*/ 0 w 2327393"/>
              <a:gd name="connsiteY17" fmla="*/ 339724 h 407669"/>
              <a:gd name="connsiteX18" fmla="*/ 0 w 2327393"/>
              <a:gd name="connsiteY18" fmla="*/ 237807 h 407669"/>
              <a:gd name="connsiteX19" fmla="*/ 0 w 2327393"/>
              <a:gd name="connsiteY19" fmla="*/ 237807 h 407669"/>
              <a:gd name="connsiteX20" fmla="*/ 0 w 2327393"/>
              <a:gd name="connsiteY20" fmla="*/ 67946 h 407669"/>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703933 w 2327393"/>
              <a:gd name="connsiteY12" fmla="*/ 418302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699795 w 2327393"/>
              <a:gd name="connsiteY12" fmla="*/ 406255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709181"/>
              <a:gd name="connsiteX1" fmla="*/ 67946 w 2327393"/>
              <a:gd name="connsiteY1" fmla="*/ 0 h 709181"/>
              <a:gd name="connsiteX2" fmla="*/ 387899 w 2327393"/>
              <a:gd name="connsiteY2" fmla="*/ 0 h 709181"/>
              <a:gd name="connsiteX3" fmla="*/ 387899 w 2327393"/>
              <a:gd name="connsiteY3" fmla="*/ 0 h 709181"/>
              <a:gd name="connsiteX4" fmla="*/ 969747 w 2327393"/>
              <a:gd name="connsiteY4" fmla="*/ 0 h 709181"/>
              <a:gd name="connsiteX5" fmla="*/ 2259447 w 2327393"/>
              <a:gd name="connsiteY5" fmla="*/ 0 h 709181"/>
              <a:gd name="connsiteX6" fmla="*/ 2327393 w 2327393"/>
              <a:gd name="connsiteY6" fmla="*/ 67946 h 709181"/>
              <a:gd name="connsiteX7" fmla="*/ 2327393 w 2327393"/>
              <a:gd name="connsiteY7" fmla="*/ 237807 h 709181"/>
              <a:gd name="connsiteX8" fmla="*/ 2327393 w 2327393"/>
              <a:gd name="connsiteY8" fmla="*/ 237807 h 709181"/>
              <a:gd name="connsiteX9" fmla="*/ 2327393 w 2327393"/>
              <a:gd name="connsiteY9" fmla="*/ 339724 h 709181"/>
              <a:gd name="connsiteX10" fmla="*/ 2327393 w 2327393"/>
              <a:gd name="connsiteY10" fmla="*/ 339723 h 709181"/>
              <a:gd name="connsiteX11" fmla="*/ 2259447 w 2327393"/>
              <a:gd name="connsiteY11" fmla="*/ 407669 h 709181"/>
              <a:gd name="connsiteX12" fmla="*/ 699795 w 2327393"/>
              <a:gd name="connsiteY12" fmla="*/ 406255 h 709181"/>
              <a:gd name="connsiteX13" fmla="*/ 228115 w 2327393"/>
              <a:gd name="connsiteY13" fmla="*/ 709181 h 709181"/>
              <a:gd name="connsiteX14" fmla="*/ 387899 w 2327393"/>
              <a:gd name="connsiteY14" fmla="*/ 407669 h 709181"/>
              <a:gd name="connsiteX15" fmla="*/ 67946 w 2327393"/>
              <a:gd name="connsiteY15" fmla="*/ 407669 h 709181"/>
              <a:gd name="connsiteX16" fmla="*/ 0 w 2327393"/>
              <a:gd name="connsiteY16" fmla="*/ 339723 h 709181"/>
              <a:gd name="connsiteX17" fmla="*/ 0 w 2327393"/>
              <a:gd name="connsiteY17" fmla="*/ 339724 h 709181"/>
              <a:gd name="connsiteX18" fmla="*/ 0 w 2327393"/>
              <a:gd name="connsiteY18" fmla="*/ 237807 h 709181"/>
              <a:gd name="connsiteX19" fmla="*/ 0 w 2327393"/>
              <a:gd name="connsiteY19" fmla="*/ 237807 h 709181"/>
              <a:gd name="connsiteX20" fmla="*/ 0 w 2327393"/>
              <a:gd name="connsiteY20" fmla="*/ 67946 h 7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93" h="709181">
                <a:moveTo>
                  <a:pt x="0" y="67946"/>
                </a:moveTo>
                <a:cubicBezTo>
                  <a:pt x="0" y="30420"/>
                  <a:pt x="30420" y="0"/>
                  <a:pt x="67946" y="0"/>
                </a:cubicBezTo>
                <a:lnTo>
                  <a:pt x="387899" y="0"/>
                </a:lnTo>
                <a:lnTo>
                  <a:pt x="387899" y="0"/>
                </a:lnTo>
                <a:lnTo>
                  <a:pt x="969747" y="0"/>
                </a:lnTo>
                <a:lnTo>
                  <a:pt x="2259447" y="0"/>
                </a:lnTo>
                <a:cubicBezTo>
                  <a:pt x="2296973" y="0"/>
                  <a:pt x="2327393" y="30420"/>
                  <a:pt x="2327393" y="67946"/>
                </a:cubicBezTo>
                <a:lnTo>
                  <a:pt x="2327393" y="237807"/>
                </a:lnTo>
                <a:lnTo>
                  <a:pt x="2327393" y="237807"/>
                </a:lnTo>
                <a:lnTo>
                  <a:pt x="2327393" y="339724"/>
                </a:lnTo>
                <a:lnTo>
                  <a:pt x="2327393" y="339723"/>
                </a:lnTo>
                <a:cubicBezTo>
                  <a:pt x="2327393" y="377249"/>
                  <a:pt x="2296973" y="407669"/>
                  <a:pt x="2259447" y="407669"/>
                </a:cubicBezTo>
                <a:lnTo>
                  <a:pt x="699795" y="406255"/>
                </a:lnTo>
                <a:lnTo>
                  <a:pt x="228115" y="709181"/>
                </a:lnTo>
                <a:lnTo>
                  <a:pt x="387899" y="407669"/>
                </a:lnTo>
                <a:lnTo>
                  <a:pt x="67946" y="407669"/>
                </a:lnTo>
                <a:cubicBezTo>
                  <a:pt x="30420" y="407669"/>
                  <a:pt x="0" y="377249"/>
                  <a:pt x="0" y="339723"/>
                </a:cubicBezTo>
                <a:lnTo>
                  <a:pt x="0" y="339724"/>
                </a:lnTo>
                <a:lnTo>
                  <a:pt x="0" y="237807"/>
                </a:lnTo>
                <a:lnTo>
                  <a:pt x="0" y="237807"/>
                </a:lnTo>
                <a:lnTo>
                  <a:pt x="0" y="6794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51" name="Rounded Rectangular Callout 42"/>
          <p:cNvSpPr/>
          <p:nvPr/>
        </p:nvSpPr>
        <p:spPr>
          <a:xfrm>
            <a:off x="536137" y="566645"/>
            <a:ext cx="2327393" cy="730669"/>
          </a:xfrm>
          <a:custGeom>
            <a:avLst/>
            <a:gdLst>
              <a:gd name="connsiteX0" fmla="*/ 0 w 2327393"/>
              <a:gd name="connsiteY0" fmla="*/ 67946 h 407669"/>
              <a:gd name="connsiteX1" fmla="*/ 67946 w 2327393"/>
              <a:gd name="connsiteY1" fmla="*/ 0 h 407669"/>
              <a:gd name="connsiteX2" fmla="*/ 387899 w 2327393"/>
              <a:gd name="connsiteY2" fmla="*/ 0 h 407669"/>
              <a:gd name="connsiteX3" fmla="*/ 387899 w 2327393"/>
              <a:gd name="connsiteY3" fmla="*/ 0 h 407669"/>
              <a:gd name="connsiteX4" fmla="*/ 969747 w 2327393"/>
              <a:gd name="connsiteY4" fmla="*/ 0 h 407669"/>
              <a:gd name="connsiteX5" fmla="*/ 2259447 w 2327393"/>
              <a:gd name="connsiteY5" fmla="*/ 0 h 407669"/>
              <a:gd name="connsiteX6" fmla="*/ 2327393 w 2327393"/>
              <a:gd name="connsiteY6" fmla="*/ 67946 h 407669"/>
              <a:gd name="connsiteX7" fmla="*/ 2327393 w 2327393"/>
              <a:gd name="connsiteY7" fmla="*/ 237807 h 407669"/>
              <a:gd name="connsiteX8" fmla="*/ 2327393 w 2327393"/>
              <a:gd name="connsiteY8" fmla="*/ 237807 h 407669"/>
              <a:gd name="connsiteX9" fmla="*/ 2327393 w 2327393"/>
              <a:gd name="connsiteY9" fmla="*/ 339724 h 407669"/>
              <a:gd name="connsiteX10" fmla="*/ 2327393 w 2327393"/>
              <a:gd name="connsiteY10" fmla="*/ 339723 h 407669"/>
              <a:gd name="connsiteX11" fmla="*/ 2259447 w 2327393"/>
              <a:gd name="connsiteY11" fmla="*/ 407669 h 407669"/>
              <a:gd name="connsiteX12" fmla="*/ 969747 w 2327393"/>
              <a:gd name="connsiteY12" fmla="*/ 407669 h 407669"/>
              <a:gd name="connsiteX13" fmla="*/ 655627 w 2327393"/>
              <a:gd name="connsiteY13" fmla="*/ 605446 h 407669"/>
              <a:gd name="connsiteX14" fmla="*/ 387899 w 2327393"/>
              <a:gd name="connsiteY14" fmla="*/ 407669 h 407669"/>
              <a:gd name="connsiteX15" fmla="*/ 67946 w 2327393"/>
              <a:gd name="connsiteY15" fmla="*/ 407669 h 407669"/>
              <a:gd name="connsiteX16" fmla="*/ 0 w 2327393"/>
              <a:gd name="connsiteY16" fmla="*/ 339723 h 407669"/>
              <a:gd name="connsiteX17" fmla="*/ 0 w 2327393"/>
              <a:gd name="connsiteY17" fmla="*/ 339724 h 407669"/>
              <a:gd name="connsiteX18" fmla="*/ 0 w 2327393"/>
              <a:gd name="connsiteY18" fmla="*/ 237807 h 407669"/>
              <a:gd name="connsiteX19" fmla="*/ 0 w 2327393"/>
              <a:gd name="connsiteY19" fmla="*/ 237807 h 407669"/>
              <a:gd name="connsiteX20" fmla="*/ 0 w 2327393"/>
              <a:gd name="connsiteY20" fmla="*/ 67946 h 407669"/>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703933 w 2327393"/>
              <a:gd name="connsiteY12" fmla="*/ 418302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605446"/>
              <a:gd name="connsiteX1" fmla="*/ 67946 w 2327393"/>
              <a:gd name="connsiteY1" fmla="*/ 0 h 605446"/>
              <a:gd name="connsiteX2" fmla="*/ 387899 w 2327393"/>
              <a:gd name="connsiteY2" fmla="*/ 0 h 605446"/>
              <a:gd name="connsiteX3" fmla="*/ 387899 w 2327393"/>
              <a:gd name="connsiteY3" fmla="*/ 0 h 605446"/>
              <a:gd name="connsiteX4" fmla="*/ 969747 w 2327393"/>
              <a:gd name="connsiteY4" fmla="*/ 0 h 605446"/>
              <a:gd name="connsiteX5" fmla="*/ 2259447 w 2327393"/>
              <a:gd name="connsiteY5" fmla="*/ 0 h 605446"/>
              <a:gd name="connsiteX6" fmla="*/ 2327393 w 2327393"/>
              <a:gd name="connsiteY6" fmla="*/ 67946 h 605446"/>
              <a:gd name="connsiteX7" fmla="*/ 2327393 w 2327393"/>
              <a:gd name="connsiteY7" fmla="*/ 237807 h 605446"/>
              <a:gd name="connsiteX8" fmla="*/ 2327393 w 2327393"/>
              <a:gd name="connsiteY8" fmla="*/ 237807 h 605446"/>
              <a:gd name="connsiteX9" fmla="*/ 2327393 w 2327393"/>
              <a:gd name="connsiteY9" fmla="*/ 339724 h 605446"/>
              <a:gd name="connsiteX10" fmla="*/ 2327393 w 2327393"/>
              <a:gd name="connsiteY10" fmla="*/ 339723 h 605446"/>
              <a:gd name="connsiteX11" fmla="*/ 2259447 w 2327393"/>
              <a:gd name="connsiteY11" fmla="*/ 407669 h 605446"/>
              <a:gd name="connsiteX12" fmla="*/ 699795 w 2327393"/>
              <a:gd name="connsiteY12" fmla="*/ 406255 h 605446"/>
              <a:gd name="connsiteX13" fmla="*/ 655627 w 2327393"/>
              <a:gd name="connsiteY13" fmla="*/ 605446 h 605446"/>
              <a:gd name="connsiteX14" fmla="*/ 387899 w 2327393"/>
              <a:gd name="connsiteY14" fmla="*/ 407669 h 605446"/>
              <a:gd name="connsiteX15" fmla="*/ 67946 w 2327393"/>
              <a:gd name="connsiteY15" fmla="*/ 407669 h 605446"/>
              <a:gd name="connsiteX16" fmla="*/ 0 w 2327393"/>
              <a:gd name="connsiteY16" fmla="*/ 339723 h 605446"/>
              <a:gd name="connsiteX17" fmla="*/ 0 w 2327393"/>
              <a:gd name="connsiteY17" fmla="*/ 339724 h 605446"/>
              <a:gd name="connsiteX18" fmla="*/ 0 w 2327393"/>
              <a:gd name="connsiteY18" fmla="*/ 237807 h 605446"/>
              <a:gd name="connsiteX19" fmla="*/ 0 w 2327393"/>
              <a:gd name="connsiteY19" fmla="*/ 237807 h 605446"/>
              <a:gd name="connsiteX20" fmla="*/ 0 w 2327393"/>
              <a:gd name="connsiteY20" fmla="*/ 67946 h 605446"/>
              <a:gd name="connsiteX0" fmla="*/ 0 w 2327393"/>
              <a:gd name="connsiteY0" fmla="*/ 67946 h 709181"/>
              <a:gd name="connsiteX1" fmla="*/ 67946 w 2327393"/>
              <a:gd name="connsiteY1" fmla="*/ 0 h 709181"/>
              <a:gd name="connsiteX2" fmla="*/ 387899 w 2327393"/>
              <a:gd name="connsiteY2" fmla="*/ 0 h 709181"/>
              <a:gd name="connsiteX3" fmla="*/ 387899 w 2327393"/>
              <a:gd name="connsiteY3" fmla="*/ 0 h 709181"/>
              <a:gd name="connsiteX4" fmla="*/ 969747 w 2327393"/>
              <a:gd name="connsiteY4" fmla="*/ 0 h 709181"/>
              <a:gd name="connsiteX5" fmla="*/ 2259447 w 2327393"/>
              <a:gd name="connsiteY5" fmla="*/ 0 h 709181"/>
              <a:gd name="connsiteX6" fmla="*/ 2327393 w 2327393"/>
              <a:gd name="connsiteY6" fmla="*/ 67946 h 709181"/>
              <a:gd name="connsiteX7" fmla="*/ 2327393 w 2327393"/>
              <a:gd name="connsiteY7" fmla="*/ 237807 h 709181"/>
              <a:gd name="connsiteX8" fmla="*/ 2327393 w 2327393"/>
              <a:gd name="connsiteY8" fmla="*/ 237807 h 709181"/>
              <a:gd name="connsiteX9" fmla="*/ 2327393 w 2327393"/>
              <a:gd name="connsiteY9" fmla="*/ 339724 h 709181"/>
              <a:gd name="connsiteX10" fmla="*/ 2327393 w 2327393"/>
              <a:gd name="connsiteY10" fmla="*/ 339723 h 709181"/>
              <a:gd name="connsiteX11" fmla="*/ 2259447 w 2327393"/>
              <a:gd name="connsiteY11" fmla="*/ 407669 h 709181"/>
              <a:gd name="connsiteX12" fmla="*/ 699795 w 2327393"/>
              <a:gd name="connsiteY12" fmla="*/ 406255 h 709181"/>
              <a:gd name="connsiteX13" fmla="*/ 228115 w 2327393"/>
              <a:gd name="connsiteY13" fmla="*/ 709181 h 709181"/>
              <a:gd name="connsiteX14" fmla="*/ 387899 w 2327393"/>
              <a:gd name="connsiteY14" fmla="*/ 407669 h 709181"/>
              <a:gd name="connsiteX15" fmla="*/ 67946 w 2327393"/>
              <a:gd name="connsiteY15" fmla="*/ 407669 h 709181"/>
              <a:gd name="connsiteX16" fmla="*/ 0 w 2327393"/>
              <a:gd name="connsiteY16" fmla="*/ 339723 h 709181"/>
              <a:gd name="connsiteX17" fmla="*/ 0 w 2327393"/>
              <a:gd name="connsiteY17" fmla="*/ 339724 h 709181"/>
              <a:gd name="connsiteX18" fmla="*/ 0 w 2327393"/>
              <a:gd name="connsiteY18" fmla="*/ 237807 h 709181"/>
              <a:gd name="connsiteX19" fmla="*/ 0 w 2327393"/>
              <a:gd name="connsiteY19" fmla="*/ 237807 h 709181"/>
              <a:gd name="connsiteX20" fmla="*/ 0 w 2327393"/>
              <a:gd name="connsiteY20" fmla="*/ 67946 h 7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27393" h="709181">
                <a:moveTo>
                  <a:pt x="0" y="67946"/>
                </a:moveTo>
                <a:cubicBezTo>
                  <a:pt x="0" y="30420"/>
                  <a:pt x="30420" y="0"/>
                  <a:pt x="67946" y="0"/>
                </a:cubicBezTo>
                <a:lnTo>
                  <a:pt x="387899" y="0"/>
                </a:lnTo>
                <a:lnTo>
                  <a:pt x="387899" y="0"/>
                </a:lnTo>
                <a:lnTo>
                  <a:pt x="969747" y="0"/>
                </a:lnTo>
                <a:lnTo>
                  <a:pt x="2259447" y="0"/>
                </a:lnTo>
                <a:cubicBezTo>
                  <a:pt x="2296973" y="0"/>
                  <a:pt x="2327393" y="30420"/>
                  <a:pt x="2327393" y="67946"/>
                </a:cubicBezTo>
                <a:lnTo>
                  <a:pt x="2327393" y="237807"/>
                </a:lnTo>
                <a:lnTo>
                  <a:pt x="2327393" y="237807"/>
                </a:lnTo>
                <a:lnTo>
                  <a:pt x="2327393" y="339724"/>
                </a:lnTo>
                <a:lnTo>
                  <a:pt x="2327393" y="339723"/>
                </a:lnTo>
                <a:cubicBezTo>
                  <a:pt x="2327393" y="377249"/>
                  <a:pt x="2296973" y="407669"/>
                  <a:pt x="2259447" y="407669"/>
                </a:cubicBezTo>
                <a:lnTo>
                  <a:pt x="699795" y="406255"/>
                </a:lnTo>
                <a:lnTo>
                  <a:pt x="228115" y="709181"/>
                </a:lnTo>
                <a:lnTo>
                  <a:pt x="387899" y="407669"/>
                </a:lnTo>
                <a:lnTo>
                  <a:pt x="67946" y="407669"/>
                </a:lnTo>
                <a:cubicBezTo>
                  <a:pt x="30420" y="407669"/>
                  <a:pt x="0" y="377249"/>
                  <a:pt x="0" y="339723"/>
                </a:cubicBezTo>
                <a:lnTo>
                  <a:pt x="0" y="339724"/>
                </a:lnTo>
                <a:lnTo>
                  <a:pt x="0" y="237807"/>
                </a:lnTo>
                <a:lnTo>
                  <a:pt x="0" y="237807"/>
                </a:lnTo>
                <a:lnTo>
                  <a:pt x="0" y="67946"/>
                </a:lnTo>
                <a:close/>
              </a:path>
            </a:pathLst>
          </a:cu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28" name="Rounded Rectangular Callout 27"/>
          <p:cNvSpPr/>
          <p:nvPr/>
        </p:nvSpPr>
        <p:spPr>
          <a:xfrm>
            <a:off x="793792" y="672414"/>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30" name="TextBox 29"/>
          <p:cNvSpPr txBox="1"/>
          <p:nvPr/>
        </p:nvSpPr>
        <p:spPr>
          <a:xfrm>
            <a:off x="758985" y="610934"/>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1</a:t>
            </a:r>
            <a:endParaRPr lang="en-US" sz="1400" b="1" dirty="0">
              <a:solidFill>
                <a:srgbClr val="FFFF00"/>
              </a:solidFill>
            </a:endParaRPr>
          </a:p>
        </p:txBody>
      </p:sp>
      <p:sp>
        <p:nvSpPr>
          <p:cNvPr id="31" name="Rounded Rectangular Callout 30"/>
          <p:cNvSpPr/>
          <p:nvPr/>
        </p:nvSpPr>
        <p:spPr>
          <a:xfrm>
            <a:off x="1506946" y="668709"/>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32" name="TextBox 31"/>
          <p:cNvSpPr txBox="1"/>
          <p:nvPr/>
        </p:nvSpPr>
        <p:spPr>
          <a:xfrm>
            <a:off x="1472139" y="607229"/>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2</a:t>
            </a:r>
            <a:endParaRPr lang="en-US" sz="1400" b="1" dirty="0">
              <a:solidFill>
                <a:srgbClr val="FFFF00"/>
              </a:solidFill>
            </a:endParaRPr>
          </a:p>
        </p:txBody>
      </p:sp>
      <p:sp>
        <p:nvSpPr>
          <p:cNvPr id="33" name="Rounded Rectangular Callout 32"/>
          <p:cNvSpPr/>
          <p:nvPr/>
        </p:nvSpPr>
        <p:spPr>
          <a:xfrm>
            <a:off x="2215642" y="667803"/>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34" name="TextBox 33"/>
          <p:cNvSpPr txBox="1"/>
          <p:nvPr/>
        </p:nvSpPr>
        <p:spPr>
          <a:xfrm>
            <a:off x="2180835" y="616956"/>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3</a:t>
            </a:r>
            <a:endParaRPr lang="en-US" sz="1400" b="1" dirty="0">
              <a:solidFill>
                <a:srgbClr val="FFFF00"/>
              </a:solidFill>
            </a:endParaRPr>
          </a:p>
        </p:txBody>
      </p:sp>
      <p:sp>
        <p:nvSpPr>
          <p:cNvPr id="35" name="Rounded Rectangular Callout 34"/>
          <p:cNvSpPr/>
          <p:nvPr/>
        </p:nvSpPr>
        <p:spPr>
          <a:xfrm>
            <a:off x="2930251" y="671098"/>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36" name="TextBox 35"/>
          <p:cNvSpPr txBox="1"/>
          <p:nvPr/>
        </p:nvSpPr>
        <p:spPr>
          <a:xfrm>
            <a:off x="2895444" y="620251"/>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4</a:t>
            </a:r>
            <a:endParaRPr lang="en-US" sz="1400" b="1" dirty="0">
              <a:solidFill>
                <a:srgbClr val="FFFF00"/>
              </a:solidFill>
            </a:endParaRPr>
          </a:p>
        </p:txBody>
      </p:sp>
      <p:sp>
        <p:nvSpPr>
          <p:cNvPr id="37" name="Rounded Rectangular Callout 36"/>
          <p:cNvSpPr/>
          <p:nvPr/>
        </p:nvSpPr>
        <p:spPr>
          <a:xfrm>
            <a:off x="3634281" y="670198"/>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38" name="TextBox 37"/>
          <p:cNvSpPr txBox="1"/>
          <p:nvPr/>
        </p:nvSpPr>
        <p:spPr>
          <a:xfrm>
            <a:off x="3599474" y="619351"/>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5</a:t>
            </a:r>
            <a:endParaRPr lang="en-US" sz="1400" b="1" dirty="0">
              <a:solidFill>
                <a:srgbClr val="FFFF00"/>
              </a:solidFill>
            </a:endParaRPr>
          </a:p>
        </p:txBody>
      </p:sp>
      <p:sp>
        <p:nvSpPr>
          <p:cNvPr id="39" name="Rounded Rectangular Callout 38"/>
          <p:cNvSpPr/>
          <p:nvPr/>
        </p:nvSpPr>
        <p:spPr>
          <a:xfrm>
            <a:off x="4346900" y="666798"/>
            <a:ext cx="1120114" cy="407669"/>
          </a:xfrm>
          <a:prstGeom prst="wedgeRoundRectCallout">
            <a:avLst>
              <a:gd name="adj1" fmla="val -21830"/>
              <a:gd name="adj2" fmla="val 98514"/>
              <a:gd name="adj3" fmla="val 16667"/>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400" b="1" kern="0">
              <a:solidFill>
                <a:prstClr val="white"/>
              </a:solidFill>
              <a:latin typeface="Bookman Old Style" panose="02050604050505020204" pitchFamily="18" charset="0"/>
            </a:endParaRPr>
          </a:p>
        </p:txBody>
      </p:sp>
      <p:sp>
        <p:nvSpPr>
          <p:cNvPr id="40" name="TextBox 39"/>
          <p:cNvSpPr txBox="1"/>
          <p:nvPr/>
        </p:nvSpPr>
        <p:spPr>
          <a:xfrm>
            <a:off x="4312093" y="615951"/>
            <a:ext cx="1274795" cy="523220"/>
          </a:xfrm>
          <a:prstGeom prst="rect">
            <a:avLst/>
          </a:prstGeom>
          <a:noFill/>
        </p:spPr>
        <p:txBody>
          <a:bodyPr wrap="square" rtlCol="0">
            <a:spAutoFit/>
          </a:bodyPr>
          <a:lstStyle/>
          <a:p>
            <a:r>
              <a:rPr lang="en-US" sz="1400" b="1" dirty="0" smtClean="0">
                <a:solidFill>
                  <a:srgbClr val="FFFF00"/>
                </a:solidFill>
              </a:rPr>
              <a:t>on 1</a:t>
            </a:r>
            <a:r>
              <a:rPr lang="en-US" sz="1400" b="1" baseline="30000" dirty="0" smtClean="0">
                <a:solidFill>
                  <a:srgbClr val="FFFF00"/>
                </a:solidFill>
              </a:rPr>
              <a:t>st</a:t>
            </a:r>
            <a:r>
              <a:rPr lang="en-US" sz="1400" b="1" dirty="0" smtClean="0">
                <a:solidFill>
                  <a:srgbClr val="FFFF00"/>
                </a:solidFill>
              </a:rPr>
              <a:t> die 1 &amp; on 2</a:t>
            </a:r>
            <a:r>
              <a:rPr lang="en-US" sz="1400" b="1" baseline="30000" dirty="0" smtClean="0">
                <a:solidFill>
                  <a:srgbClr val="FFFF00"/>
                </a:solidFill>
              </a:rPr>
              <a:t>nd</a:t>
            </a:r>
            <a:r>
              <a:rPr lang="en-US" sz="1400" b="1" dirty="0" smtClean="0">
                <a:solidFill>
                  <a:srgbClr val="FFFF00"/>
                </a:solidFill>
              </a:rPr>
              <a:t> die 6</a:t>
            </a:r>
            <a:endParaRPr lang="en-US" sz="1400" b="1" dirty="0">
              <a:solidFill>
                <a:srgbClr val="FFFF00"/>
              </a:solidFill>
            </a:endParaRPr>
          </a:p>
        </p:txBody>
      </p:sp>
      <p:sp>
        <p:nvSpPr>
          <p:cNvPr id="44" name="TextBox 43"/>
          <p:cNvSpPr txBox="1"/>
          <p:nvPr/>
        </p:nvSpPr>
        <p:spPr>
          <a:xfrm>
            <a:off x="894606" y="499400"/>
            <a:ext cx="2362199" cy="523220"/>
          </a:xfrm>
          <a:prstGeom prst="rect">
            <a:avLst/>
          </a:prstGeom>
          <a:noFill/>
        </p:spPr>
        <p:txBody>
          <a:bodyPr wrap="square" rtlCol="0">
            <a:spAutoFit/>
          </a:bodyPr>
          <a:lstStyle/>
          <a:p>
            <a:r>
              <a:rPr lang="en-US" sz="1400" b="1" dirty="0" smtClean="0">
                <a:solidFill>
                  <a:srgbClr val="FFFF00"/>
                </a:solidFill>
              </a:rPr>
              <a:t>Similarly on 1</a:t>
            </a:r>
            <a:r>
              <a:rPr lang="en-US" sz="1400" b="1" baseline="30000" dirty="0" smtClean="0">
                <a:solidFill>
                  <a:srgbClr val="FFFF00"/>
                </a:solidFill>
              </a:rPr>
              <a:t>st</a:t>
            </a:r>
            <a:r>
              <a:rPr lang="en-US" sz="1400" b="1" dirty="0" smtClean="0">
                <a:solidFill>
                  <a:srgbClr val="FFFF00"/>
                </a:solidFill>
              </a:rPr>
              <a:t> die 2 &amp; on 2</a:t>
            </a:r>
            <a:r>
              <a:rPr lang="en-US" sz="1400" b="1" baseline="30000" dirty="0" smtClean="0">
                <a:solidFill>
                  <a:srgbClr val="FFFF00"/>
                </a:solidFill>
              </a:rPr>
              <a:t>nd</a:t>
            </a:r>
            <a:r>
              <a:rPr lang="en-US" sz="1400" b="1" dirty="0" smtClean="0">
                <a:solidFill>
                  <a:srgbClr val="FFFF00"/>
                </a:solidFill>
              </a:rPr>
              <a:t> die it may be 1/2/3/4/5/6</a:t>
            </a:r>
            <a:endParaRPr lang="en-US" sz="1400" b="1" dirty="0">
              <a:solidFill>
                <a:srgbClr val="FFFF00"/>
              </a:solidFill>
            </a:endParaRPr>
          </a:p>
        </p:txBody>
      </p:sp>
      <p:sp>
        <p:nvSpPr>
          <p:cNvPr id="48" name="TextBox 47"/>
          <p:cNvSpPr txBox="1"/>
          <p:nvPr/>
        </p:nvSpPr>
        <p:spPr>
          <a:xfrm>
            <a:off x="733828" y="502257"/>
            <a:ext cx="2362199" cy="523220"/>
          </a:xfrm>
          <a:prstGeom prst="rect">
            <a:avLst/>
          </a:prstGeom>
          <a:noFill/>
        </p:spPr>
        <p:txBody>
          <a:bodyPr wrap="square" rtlCol="0">
            <a:spAutoFit/>
          </a:bodyPr>
          <a:lstStyle/>
          <a:p>
            <a:r>
              <a:rPr lang="en-US" sz="1400" b="1" dirty="0" smtClean="0">
                <a:solidFill>
                  <a:srgbClr val="FFFF00"/>
                </a:solidFill>
              </a:rPr>
              <a:t>Similarly on 1</a:t>
            </a:r>
            <a:r>
              <a:rPr lang="en-US" sz="1400" b="1" baseline="30000" dirty="0" smtClean="0">
                <a:solidFill>
                  <a:srgbClr val="FFFF00"/>
                </a:solidFill>
              </a:rPr>
              <a:t>st</a:t>
            </a:r>
            <a:r>
              <a:rPr lang="en-US" sz="1400" b="1" dirty="0" smtClean="0">
                <a:solidFill>
                  <a:srgbClr val="FFFF00"/>
                </a:solidFill>
              </a:rPr>
              <a:t> die 3 &amp; on 2</a:t>
            </a:r>
            <a:r>
              <a:rPr lang="en-US" sz="1400" b="1" baseline="30000" dirty="0" smtClean="0">
                <a:solidFill>
                  <a:srgbClr val="FFFF00"/>
                </a:solidFill>
              </a:rPr>
              <a:t>nd</a:t>
            </a:r>
            <a:r>
              <a:rPr lang="en-US" sz="1400" b="1" dirty="0" smtClean="0">
                <a:solidFill>
                  <a:srgbClr val="FFFF00"/>
                </a:solidFill>
              </a:rPr>
              <a:t> die it may be 1/2/3/4/5/6</a:t>
            </a:r>
            <a:endParaRPr lang="en-US" sz="1400" b="1" dirty="0">
              <a:solidFill>
                <a:srgbClr val="FFFF00"/>
              </a:solidFill>
            </a:endParaRPr>
          </a:p>
        </p:txBody>
      </p:sp>
      <p:sp>
        <p:nvSpPr>
          <p:cNvPr id="50" name="TextBox 49"/>
          <p:cNvSpPr txBox="1"/>
          <p:nvPr/>
        </p:nvSpPr>
        <p:spPr>
          <a:xfrm>
            <a:off x="1720419" y="551972"/>
            <a:ext cx="2362199" cy="523220"/>
          </a:xfrm>
          <a:prstGeom prst="rect">
            <a:avLst/>
          </a:prstGeom>
          <a:noFill/>
        </p:spPr>
        <p:txBody>
          <a:bodyPr wrap="square" rtlCol="0">
            <a:spAutoFit/>
          </a:bodyPr>
          <a:lstStyle/>
          <a:p>
            <a:r>
              <a:rPr lang="en-US" sz="1400" b="1" dirty="0" smtClean="0">
                <a:solidFill>
                  <a:srgbClr val="FFFF00"/>
                </a:solidFill>
              </a:rPr>
              <a:t>Similarly on 1</a:t>
            </a:r>
            <a:r>
              <a:rPr lang="en-US" sz="1400" b="1" baseline="30000" dirty="0" smtClean="0">
                <a:solidFill>
                  <a:srgbClr val="FFFF00"/>
                </a:solidFill>
              </a:rPr>
              <a:t>st</a:t>
            </a:r>
            <a:r>
              <a:rPr lang="en-US" sz="1400" b="1" dirty="0" smtClean="0">
                <a:solidFill>
                  <a:srgbClr val="FFFF00"/>
                </a:solidFill>
              </a:rPr>
              <a:t> die 4 &amp; on 2</a:t>
            </a:r>
            <a:r>
              <a:rPr lang="en-US" sz="1400" b="1" baseline="30000" dirty="0" smtClean="0">
                <a:solidFill>
                  <a:srgbClr val="FFFF00"/>
                </a:solidFill>
              </a:rPr>
              <a:t>nd</a:t>
            </a:r>
            <a:r>
              <a:rPr lang="en-US" sz="1400" b="1" dirty="0" smtClean="0">
                <a:solidFill>
                  <a:srgbClr val="FFFF00"/>
                </a:solidFill>
              </a:rPr>
              <a:t> die it may be 1/2/3/4/5/6</a:t>
            </a:r>
            <a:endParaRPr lang="en-US" sz="1400" b="1" dirty="0">
              <a:solidFill>
                <a:srgbClr val="FFFF00"/>
              </a:solidFill>
            </a:endParaRPr>
          </a:p>
        </p:txBody>
      </p:sp>
      <p:sp>
        <p:nvSpPr>
          <p:cNvPr id="54" name="TextBox 53"/>
          <p:cNvSpPr txBox="1"/>
          <p:nvPr/>
        </p:nvSpPr>
        <p:spPr>
          <a:xfrm>
            <a:off x="1394123" y="536165"/>
            <a:ext cx="2362199" cy="523220"/>
          </a:xfrm>
          <a:prstGeom prst="rect">
            <a:avLst/>
          </a:prstGeom>
          <a:noFill/>
        </p:spPr>
        <p:txBody>
          <a:bodyPr wrap="square" rtlCol="0">
            <a:spAutoFit/>
          </a:bodyPr>
          <a:lstStyle/>
          <a:p>
            <a:r>
              <a:rPr lang="en-US" sz="1400" b="1" dirty="0" smtClean="0">
                <a:solidFill>
                  <a:srgbClr val="FFFF00"/>
                </a:solidFill>
              </a:rPr>
              <a:t>Similarly on 1</a:t>
            </a:r>
            <a:r>
              <a:rPr lang="en-US" sz="1400" b="1" baseline="30000" dirty="0" smtClean="0">
                <a:solidFill>
                  <a:srgbClr val="FFFF00"/>
                </a:solidFill>
              </a:rPr>
              <a:t>st</a:t>
            </a:r>
            <a:r>
              <a:rPr lang="en-US" sz="1400" b="1" dirty="0" smtClean="0">
                <a:solidFill>
                  <a:srgbClr val="FFFF00"/>
                </a:solidFill>
              </a:rPr>
              <a:t> die 6 &amp; on 2</a:t>
            </a:r>
            <a:r>
              <a:rPr lang="en-US" sz="1400" b="1" baseline="30000" dirty="0" smtClean="0">
                <a:solidFill>
                  <a:srgbClr val="FFFF00"/>
                </a:solidFill>
              </a:rPr>
              <a:t>nd</a:t>
            </a:r>
            <a:r>
              <a:rPr lang="en-US" sz="1400" b="1" dirty="0" smtClean="0">
                <a:solidFill>
                  <a:srgbClr val="FFFF00"/>
                </a:solidFill>
              </a:rPr>
              <a:t> die it may be 1/2/3/4/5/6</a:t>
            </a:r>
            <a:endParaRPr lang="en-US" sz="1400" b="1" dirty="0">
              <a:solidFill>
                <a:srgbClr val="FFFF00"/>
              </a:solidFill>
            </a:endParaRPr>
          </a:p>
        </p:txBody>
      </p:sp>
      <p:sp>
        <p:nvSpPr>
          <p:cNvPr id="52" name="TextBox 51"/>
          <p:cNvSpPr txBox="1"/>
          <p:nvPr/>
        </p:nvSpPr>
        <p:spPr>
          <a:xfrm>
            <a:off x="514411" y="502257"/>
            <a:ext cx="2362199" cy="523220"/>
          </a:xfrm>
          <a:prstGeom prst="rect">
            <a:avLst/>
          </a:prstGeom>
          <a:noFill/>
        </p:spPr>
        <p:txBody>
          <a:bodyPr wrap="square" rtlCol="0">
            <a:spAutoFit/>
          </a:bodyPr>
          <a:lstStyle/>
          <a:p>
            <a:r>
              <a:rPr lang="en-US" sz="1400" b="1" dirty="0" smtClean="0">
                <a:solidFill>
                  <a:srgbClr val="FFFF00"/>
                </a:solidFill>
              </a:rPr>
              <a:t>Similarly on 1</a:t>
            </a:r>
            <a:r>
              <a:rPr lang="en-US" sz="1400" b="1" baseline="30000" dirty="0" smtClean="0">
                <a:solidFill>
                  <a:srgbClr val="FFFF00"/>
                </a:solidFill>
              </a:rPr>
              <a:t>st</a:t>
            </a:r>
            <a:r>
              <a:rPr lang="en-US" sz="1400" b="1" dirty="0" smtClean="0">
                <a:solidFill>
                  <a:srgbClr val="FFFF00"/>
                </a:solidFill>
              </a:rPr>
              <a:t> die 5 &amp; on 2</a:t>
            </a:r>
            <a:r>
              <a:rPr lang="en-US" sz="1400" b="1" baseline="30000" dirty="0" smtClean="0">
                <a:solidFill>
                  <a:srgbClr val="FFFF00"/>
                </a:solidFill>
              </a:rPr>
              <a:t>nd</a:t>
            </a:r>
            <a:r>
              <a:rPr lang="en-US" sz="1400" b="1" dirty="0" smtClean="0">
                <a:solidFill>
                  <a:srgbClr val="FFFF00"/>
                </a:solidFill>
              </a:rPr>
              <a:t> die it may be 1/2/3/4/5/6</a:t>
            </a:r>
            <a:endParaRPr lang="en-US" sz="1400" b="1" dirty="0">
              <a:solidFill>
                <a:srgbClr val="FFFF00"/>
              </a:solidFill>
            </a:endParaRPr>
          </a:p>
        </p:txBody>
      </p:sp>
    </p:spTree>
    <p:extLst>
      <p:ext uri="{BB962C8B-B14F-4D97-AF65-F5344CB8AC3E}">
        <p14:creationId xmlns:p14="http://schemas.microsoft.com/office/powerpoint/2010/main" val="317877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19"/>
                                        </p:tgtEl>
                                      </p:cBhvr>
                                    </p:animEffect>
                                    <p:set>
                                      <p:cBhvr>
                                        <p:cTn id="30" dur="1" fill="hold">
                                          <p:stCondLst>
                                            <p:cond delay="499"/>
                                          </p:stCondLst>
                                        </p:cTn>
                                        <p:tgtEl>
                                          <p:spTgt spid="19"/>
                                        </p:tgtEl>
                                        <p:attrNameLst>
                                          <p:attrName>style.visibility</p:attrName>
                                        </p:attrNameLst>
                                      </p:cBhvr>
                                      <p:to>
                                        <p:strVal val="hidden"/>
                                      </p:to>
                                    </p:se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27"/>
                                        </p:tgtEl>
                                      </p:cBhvr>
                                    </p:animEffect>
                                    <p:set>
                                      <p:cBhvr>
                                        <p:cTn id="42" dur="1" fill="hold">
                                          <p:stCondLst>
                                            <p:cond delay="499"/>
                                          </p:stCondLst>
                                        </p:cTn>
                                        <p:tgtEl>
                                          <p:spTgt spid="27"/>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26"/>
                                        </p:tgtEl>
                                      </p:cBhvr>
                                    </p:animEffect>
                                    <p:set>
                                      <p:cBhvr>
                                        <p:cTn id="45" dur="1" fill="hold">
                                          <p:stCondLst>
                                            <p:cond delay="499"/>
                                          </p:stCondLst>
                                        </p:cTn>
                                        <p:tgtEl>
                                          <p:spTgt spid="26"/>
                                        </p:tgtEl>
                                        <p:attrNameLst>
                                          <p:attrName>style.visibility</p:attrName>
                                        </p:attrNameLst>
                                      </p:cBhvr>
                                      <p:to>
                                        <p:strVal val="hidden"/>
                                      </p:to>
                                    </p:set>
                                  </p:childTnLst>
                                </p:cTn>
                              </p:par>
                            </p:childTnLst>
                          </p:cTn>
                        </p:par>
                        <p:par>
                          <p:cTn id="46" fill="hold">
                            <p:stCondLst>
                              <p:cond delay="500"/>
                            </p:stCondLst>
                            <p:childTnLst>
                              <p:par>
                                <p:cTn id="47" presetID="22" presetClass="entr" presetSubtype="4"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down)">
                                      <p:cBhvr>
                                        <p:cTn id="49" dur="500"/>
                                        <p:tgtEl>
                                          <p:spTgt spid="28"/>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50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28"/>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0"/>
                                        </p:tgtEl>
                                        <p:attrNameLst>
                                          <p:attrName>style.visibility</p:attrName>
                                        </p:attrNameLst>
                                      </p:cBhvr>
                                      <p:to>
                                        <p:strVal val="hidden"/>
                                      </p:to>
                                    </p:set>
                                  </p:childTnLst>
                                </p:cTn>
                              </p:par>
                            </p:childTnLst>
                          </p:cTn>
                        </p:par>
                        <p:par>
                          <p:cTn id="69" fill="hold">
                            <p:stCondLst>
                              <p:cond delay="0"/>
                            </p:stCondLst>
                            <p:childTnLst>
                              <p:par>
                                <p:cTn id="70" presetID="22" presetClass="entr" presetSubtype="4" fill="hold" grpId="0"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down)">
                                      <p:cBhvr>
                                        <p:cTn id="72" dur="500"/>
                                        <p:tgtEl>
                                          <p:spTgt spid="31"/>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down)">
                                      <p:cBhvr>
                                        <p:cTn id="75" dur="500"/>
                                        <p:tgtEl>
                                          <p:spTgt spid="3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wipe(left)">
                                      <p:cBhvr>
                                        <p:cTn id="80" dur="500"/>
                                        <p:tgtEl>
                                          <p:spTgt spid="5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wipe(left)">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3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32"/>
                                        </p:tgtEl>
                                        <p:attrNameLst>
                                          <p:attrName>style.visibility</p:attrName>
                                        </p:attrNameLst>
                                      </p:cBhvr>
                                      <p:to>
                                        <p:strVal val="hidden"/>
                                      </p:to>
                                    </p:set>
                                  </p:childTnLst>
                                </p:cTn>
                              </p:par>
                            </p:childTnLst>
                          </p:cTn>
                        </p:par>
                        <p:par>
                          <p:cTn id="92" fill="hold">
                            <p:stCondLst>
                              <p:cond delay="0"/>
                            </p:stCondLst>
                            <p:childTnLst>
                              <p:par>
                                <p:cTn id="93" presetID="22" presetClass="entr" presetSubtype="4" fill="hold" grpId="0" nodeType="after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down)">
                                      <p:cBhvr>
                                        <p:cTn id="95" dur="500"/>
                                        <p:tgtEl>
                                          <p:spTgt spid="33"/>
                                        </p:tgtEl>
                                      </p:cBhvr>
                                    </p:animEffect>
                                  </p:childTnLst>
                                </p:cTn>
                              </p:par>
                              <p:par>
                                <p:cTn id="96" presetID="22" presetClass="entr" presetSubtype="4"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wipe(down)">
                                      <p:cBhvr>
                                        <p:cTn id="98" dur="5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56"/>
                                        </p:tgtEl>
                                        <p:attrNameLst>
                                          <p:attrName>style.visibility</p:attrName>
                                        </p:attrNameLst>
                                      </p:cBhvr>
                                      <p:to>
                                        <p:strVal val="visible"/>
                                      </p:to>
                                    </p:set>
                                    <p:animEffect transition="in" filter="wipe(left)">
                                      <p:cBhvr>
                                        <p:cTn id="103" dur="500"/>
                                        <p:tgtEl>
                                          <p:spTgt spid="5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wipe(left)">
                                      <p:cBhvr>
                                        <p:cTn id="108" dur="500"/>
                                        <p:tgtEl>
                                          <p:spTgt spid="11"/>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33"/>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34"/>
                                        </p:tgtEl>
                                        <p:attrNameLst>
                                          <p:attrName>style.visibility</p:attrName>
                                        </p:attrNameLst>
                                      </p:cBhvr>
                                      <p:to>
                                        <p:strVal val="hidden"/>
                                      </p:to>
                                    </p:set>
                                  </p:childTnLst>
                                </p:cTn>
                              </p:par>
                            </p:childTnLst>
                          </p:cTn>
                        </p:par>
                        <p:par>
                          <p:cTn id="115" fill="hold">
                            <p:stCondLst>
                              <p:cond delay="0"/>
                            </p:stCondLst>
                            <p:childTnLst>
                              <p:par>
                                <p:cTn id="116" presetID="22" presetClass="entr" presetSubtype="4" fill="hold" grpId="0" nodeType="after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wipe(down)">
                                      <p:cBhvr>
                                        <p:cTn id="118" dur="500"/>
                                        <p:tgtEl>
                                          <p:spTgt spid="35"/>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wipe(down)">
                                      <p:cBhvr>
                                        <p:cTn id="121" dur="500"/>
                                        <p:tgtEl>
                                          <p:spTgt spid="36"/>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57"/>
                                        </p:tgtEl>
                                        <p:attrNameLst>
                                          <p:attrName>style.visibility</p:attrName>
                                        </p:attrNameLst>
                                      </p:cBhvr>
                                      <p:to>
                                        <p:strVal val="visible"/>
                                      </p:to>
                                    </p:set>
                                    <p:animEffect transition="in" filter="wipe(left)">
                                      <p:cBhvr>
                                        <p:cTn id="126" dur="500"/>
                                        <p:tgtEl>
                                          <p:spTgt spid="5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2"/>
                                        </p:tgtEl>
                                        <p:attrNameLst>
                                          <p:attrName>style.visibility</p:attrName>
                                        </p:attrNameLst>
                                      </p:cBhvr>
                                      <p:to>
                                        <p:strVal val="visible"/>
                                      </p:to>
                                    </p:set>
                                    <p:animEffect transition="in" filter="wipe(left)">
                                      <p:cBhvr>
                                        <p:cTn id="131" dur="500"/>
                                        <p:tgtEl>
                                          <p:spTgt spid="12"/>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35"/>
                                        </p:tgtEl>
                                        <p:attrNameLst>
                                          <p:attrName>style.visibility</p:attrName>
                                        </p:attrNameLst>
                                      </p:cBhvr>
                                      <p:to>
                                        <p:strVal val="hidden"/>
                                      </p:to>
                                    </p:set>
                                  </p:childTnLst>
                                </p:cTn>
                              </p:par>
                              <p:par>
                                <p:cTn id="136" presetID="1" presetClass="exit" presetSubtype="0" fill="hold" grpId="1" nodeType="withEffect">
                                  <p:stCondLst>
                                    <p:cond delay="0"/>
                                  </p:stCondLst>
                                  <p:childTnLst>
                                    <p:set>
                                      <p:cBhvr>
                                        <p:cTn id="137" dur="1" fill="hold">
                                          <p:stCondLst>
                                            <p:cond delay="0"/>
                                          </p:stCondLst>
                                        </p:cTn>
                                        <p:tgtEl>
                                          <p:spTgt spid="36"/>
                                        </p:tgtEl>
                                        <p:attrNameLst>
                                          <p:attrName>style.visibility</p:attrName>
                                        </p:attrNameLst>
                                      </p:cBhvr>
                                      <p:to>
                                        <p:strVal val="hidden"/>
                                      </p:to>
                                    </p:set>
                                  </p:childTnLst>
                                </p:cTn>
                              </p:par>
                            </p:childTnLst>
                          </p:cTn>
                        </p:par>
                        <p:par>
                          <p:cTn id="138" fill="hold">
                            <p:stCondLst>
                              <p:cond delay="0"/>
                            </p:stCondLst>
                            <p:childTnLst>
                              <p:par>
                                <p:cTn id="139" presetID="22" presetClass="entr" presetSubtype="4" fill="hold" grpId="0" nodeType="afterEffect">
                                  <p:stCondLst>
                                    <p:cond delay="0"/>
                                  </p:stCondLst>
                                  <p:childTnLst>
                                    <p:set>
                                      <p:cBhvr>
                                        <p:cTn id="140" dur="1" fill="hold">
                                          <p:stCondLst>
                                            <p:cond delay="0"/>
                                          </p:stCondLst>
                                        </p:cTn>
                                        <p:tgtEl>
                                          <p:spTgt spid="37"/>
                                        </p:tgtEl>
                                        <p:attrNameLst>
                                          <p:attrName>style.visibility</p:attrName>
                                        </p:attrNameLst>
                                      </p:cBhvr>
                                      <p:to>
                                        <p:strVal val="visible"/>
                                      </p:to>
                                    </p:set>
                                    <p:animEffect transition="in" filter="wipe(down)">
                                      <p:cBhvr>
                                        <p:cTn id="141" dur="500"/>
                                        <p:tgtEl>
                                          <p:spTgt spid="37"/>
                                        </p:tgtEl>
                                      </p:cBhvr>
                                    </p:animEffect>
                                  </p:childTnLst>
                                </p:cTn>
                              </p:par>
                              <p:par>
                                <p:cTn id="142" presetID="22" presetClass="entr" presetSubtype="4" fill="hold" grpId="0" nodeType="withEffect">
                                  <p:stCondLst>
                                    <p:cond delay="0"/>
                                  </p:stCondLst>
                                  <p:childTnLst>
                                    <p:set>
                                      <p:cBhvr>
                                        <p:cTn id="143" dur="1" fill="hold">
                                          <p:stCondLst>
                                            <p:cond delay="0"/>
                                          </p:stCondLst>
                                        </p:cTn>
                                        <p:tgtEl>
                                          <p:spTgt spid="38"/>
                                        </p:tgtEl>
                                        <p:attrNameLst>
                                          <p:attrName>style.visibility</p:attrName>
                                        </p:attrNameLst>
                                      </p:cBhvr>
                                      <p:to>
                                        <p:strVal val="visible"/>
                                      </p:to>
                                    </p:set>
                                    <p:animEffect transition="in" filter="wipe(down)">
                                      <p:cBhvr>
                                        <p:cTn id="144" dur="500"/>
                                        <p:tgtEl>
                                          <p:spTgt spid="38"/>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46"/>
                                        </p:tgtEl>
                                        <p:attrNameLst>
                                          <p:attrName>style.visibility</p:attrName>
                                        </p:attrNameLst>
                                      </p:cBhvr>
                                      <p:to>
                                        <p:strVal val="visible"/>
                                      </p:to>
                                    </p:set>
                                    <p:animEffect transition="in" filter="wipe(left)">
                                      <p:cBhvr>
                                        <p:cTn id="149" dur="500"/>
                                        <p:tgtEl>
                                          <p:spTgt spid="46"/>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3"/>
                                        </p:tgtEl>
                                        <p:attrNameLst>
                                          <p:attrName>style.visibility</p:attrName>
                                        </p:attrNameLst>
                                      </p:cBhvr>
                                      <p:to>
                                        <p:strVal val="visible"/>
                                      </p:to>
                                    </p:set>
                                    <p:animEffect transition="in" filter="wipe(left)">
                                      <p:cBhvr>
                                        <p:cTn id="154" dur="500"/>
                                        <p:tgtEl>
                                          <p:spTgt spid="13"/>
                                        </p:tgtEl>
                                      </p:cBhvr>
                                    </p:animEffect>
                                  </p:childTnLst>
                                </p:cTn>
                              </p:par>
                            </p:childTnLst>
                          </p:cTn>
                        </p:par>
                      </p:childTnLst>
                    </p:cTn>
                  </p:par>
                  <p:par>
                    <p:cTn id="155" fill="hold">
                      <p:stCondLst>
                        <p:cond delay="indefinite"/>
                      </p:stCondLst>
                      <p:childTnLst>
                        <p:par>
                          <p:cTn id="156" fill="hold">
                            <p:stCondLst>
                              <p:cond delay="0"/>
                            </p:stCondLst>
                            <p:childTnLst>
                              <p:par>
                                <p:cTn id="157" presetID="1" presetClass="exit" presetSubtype="0" fill="hold" grpId="1" nodeType="clickEffect">
                                  <p:stCondLst>
                                    <p:cond delay="0"/>
                                  </p:stCondLst>
                                  <p:childTnLst>
                                    <p:set>
                                      <p:cBhvr>
                                        <p:cTn id="158" dur="1" fill="hold">
                                          <p:stCondLst>
                                            <p:cond delay="0"/>
                                          </p:stCondLst>
                                        </p:cTn>
                                        <p:tgtEl>
                                          <p:spTgt spid="37"/>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38"/>
                                        </p:tgtEl>
                                        <p:attrNameLst>
                                          <p:attrName>style.visibility</p:attrName>
                                        </p:attrNameLst>
                                      </p:cBhvr>
                                      <p:to>
                                        <p:strVal val="hidden"/>
                                      </p:to>
                                    </p:set>
                                  </p:childTnLst>
                                </p:cTn>
                              </p:par>
                            </p:childTnLst>
                          </p:cTn>
                        </p:par>
                        <p:par>
                          <p:cTn id="161" fill="hold">
                            <p:stCondLst>
                              <p:cond delay="0"/>
                            </p:stCondLst>
                            <p:childTnLst>
                              <p:par>
                                <p:cTn id="162" presetID="22" presetClass="entr" presetSubtype="4" fill="hold" grpId="0" nodeType="after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wipe(down)">
                                      <p:cBhvr>
                                        <p:cTn id="164" dur="500"/>
                                        <p:tgtEl>
                                          <p:spTgt spid="39"/>
                                        </p:tgtEl>
                                      </p:cBhvr>
                                    </p:animEffect>
                                  </p:childTnLst>
                                </p:cTn>
                              </p:par>
                              <p:par>
                                <p:cTn id="165" presetID="22" presetClass="entr" presetSubtype="4" fill="hold" grpId="0" nodeType="withEffect">
                                  <p:stCondLst>
                                    <p:cond delay="0"/>
                                  </p:stCondLst>
                                  <p:childTnLst>
                                    <p:set>
                                      <p:cBhvr>
                                        <p:cTn id="166" dur="1" fill="hold">
                                          <p:stCondLst>
                                            <p:cond delay="0"/>
                                          </p:stCondLst>
                                        </p:cTn>
                                        <p:tgtEl>
                                          <p:spTgt spid="40"/>
                                        </p:tgtEl>
                                        <p:attrNameLst>
                                          <p:attrName>style.visibility</p:attrName>
                                        </p:attrNameLst>
                                      </p:cBhvr>
                                      <p:to>
                                        <p:strVal val="visible"/>
                                      </p:to>
                                    </p:set>
                                    <p:animEffect transition="in" filter="wipe(down)">
                                      <p:cBhvr>
                                        <p:cTn id="167" dur="500"/>
                                        <p:tgtEl>
                                          <p:spTgt spid="40"/>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nodeType="click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wipe(left)">
                                      <p:cBhvr>
                                        <p:cTn id="172" dur="500"/>
                                        <p:tgtEl>
                                          <p:spTgt spid="58"/>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14"/>
                                        </p:tgtEl>
                                        <p:attrNameLst>
                                          <p:attrName>style.visibility</p:attrName>
                                        </p:attrNameLst>
                                      </p:cBhvr>
                                      <p:to>
                                        <p:strVal val="visible"/>
                                      </p:to>
                                    </p:set>
                                    <p:animEffect transition="in" filter="wipe(left)">
                                      <p:cBhvr>
                                        <p:cTn id="177" dur="500"/>
                                        <p:tgtEl>
                                          <p:spTgt spid="14"/>
                                        </p:tgtEl>
                                      </p:cBhvr>
                                    </p:animEffect>
                                  </p:childTnLst>
                                </p:cTn>
                              </p:par>
                            </p:childTnLst>
                          </p:cTn>
                        </p:par>
                      </p:childTnLst>
                    </p:cTn>
                  </p:par>
                  <p:par>
                    <p:cTn id="178" fill="hold">
                      <p:stCondLst>
                        <p:cond delay="indefinite"/>
                      </p:stCondLst>
                      <p:childTnLst>
                        <p:par>
                          <p:cTn id="179" fill="hold">
                            <p:stCondLst>
                              <p:cond delay="0"/>
                            </p:stCondLst>
                            <p:childTnLst>
                              <p:par>
                                <p:cTn id="180" presetID="1" presetClass="exit" presetSubtype="0" fill="hold" grpId="1" nodeType="clickEffect">
                                  <p:stCondLst>
                                    <p:cond delay="0"/>
                                  </p:stCondLst>
                                  <p:childTnLst>
                                    <p:set>
                                      <p:cBhvr>
                                        <p:cTn id="181" dur="1" fill="hold">
                                          <p:stCondLst>
                                            <p:cond delay="0"/>
                                          </p:stCondLst>
                                        </p:cTn>
                                        <p:tgtEl>
                                          <p:spTgt spid="39"/>
                                        </p:tgtEl>
                                        <p:attrNameLst>
                                          <p:attrName>style.visibility</p:attrName>
                                        </p:attrNameLst>
                                      </p:cBhvr>
                                      <p:to>
                                        <p:strVal val="hidden"/>
                                      </p:to>
                                    </p:set>
                                  </p:childTnLst>
                                </p:cTn>
                              </p:par>
                              <p:par>
                                <p:cTn id="182" presetID="1" presetClass="exit" presetSubtype="0" fill="hold" grpId="1" nodeType="withEffect">
                                  <p:stCondLst>
                                    <p:cond delay="0"/>
                                  </p:stCondLst>
                                  <p:childTnLst>
                                    <p:set>
                                      <p:cBhvr>
                                        <p:cTn id="183" dur="1" fill="hold">
                                          <p:stCondLst>
                                            <p:cond delay="0"/>
                                          </p:stCondLst>
                                        </p:cTn>
                                        <p:tgtEl>
                                          <p:spTgt spid="40"/>
                                        </p:tgtEl>
                                        <p:attrNameLst>
                                          <p:attrName>style.visibility</p:attrName>
                                        </p:attrNameLst>
                                      </p:cBhvr>
                                      <p:to>
                                        <p:strVal val="hidden"/>
                                      </p:to>
                                    </p:set>
                                  </p:childTnLst>
                                </p:cTn>
                              </p:par>
                            </p:childTnLst>
                          </p:cTn>
                        </p:par>
                        <p:par>
                          <p:cTn id="184" fill="hold">
                            <p:stCondLst>
                              <p:cond delay="0"/>
                            </p:stCondLst>
                            <p:childTnLst>
                              <p:par>
                                <p:cTn id="185" presetID="22" presetClass="entr" presetSubtype="4" fill="hold" grpId="0" nodeType="after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wipe(down)">
                                      <p:cBhvr>
                                        <p:cTn id="187" dur="500"/>
                                        <p:tgtEl>
                                          <p:spTgt spid="43"/>
                                        </p:tgtEl>
                                      </p:cBhvr>
                                    </p:animEffect>
                                  </p:childTnLst>
                                </p:cTn>
                              </p:par>
                              <p:par>
                                <p:cTn id="188" presetID="22" presetClass="entr" presetSubtype="4" fill="hold" grpId="0" nodeType="withEffect">
                                  <p:stCondLst>
                                    <p:cond delay="0"/>
                                  </p:stCondLst>
                                  <p:childTnLst>
                                    <p:set>
                                      <p:cBhvr>
                                        <p:cTn id="189" dur="1" fill="hold">
                                          <p:stCondLst>
                                            <p:cond delay="0"/>
                                          </p:stCondLst>
                                        </p:cTn>
                                        <p:tgtEl>
                                          <p:spTgt spid="44"/>
                                        </p:tgtEl>
                                        <p:attrNameLst>
                                          <p:attrName>style.visibility</p:attrName>
                                        </p:attrNameLst>
                                      </p:cBhvr>
                                      <p:to>
                                        <p:strVal val="visible"/>
                                      </p:to>
                                    </p:set>
                                    <p:animEffect transition="in" filter="wipe(down)">
                                      <p:cBhvr>
                                        <p:cTn id="190" dur="500"/>
                                        <p:tgtEl>
                                          <p:spTgt spid="44"/>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8" fill="hold" nodeType="clickEffect">
                                  <p:stCondLst>
                                    <p:cond delay="0"/>
                                  </p:stCondLst>
                                  <p:childTnLst>
                                    <p:set>
                                      <p:cBhvr>
                                        <p:cTn id="194" dur="1" fill="hold">
                                          <p:stCondLst>
                                            <p:cond delay="0"/>
                                          </p:stCondLst>
                                        </p:cTn>
                                        <p:tgtEl>
                                          <p:spTgt spid="59"/>
                                        </p:tgtEl>
                                        <p:attrNameLst>
                                          <p:attrName>style.visibility</p:attrName>
                                        </p:attrNameLst>
                                      </p:cBhvr>
                                      <p:to>
                                        <p:strVal val="visible"/>
                                      </p:to>
                                    </p:set>
                                    <p:animEffect transition="in" filter="wipe(left)">
                                      <p:cBhvr>
                                        <p:cTn id="195" dur="500"/>
                                        <p:tgtEl>
                                          <p:spTgt spid="59"/>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5"/>
                                        </p:tgtEl>
                                        <p:attrNameLst>
                                          <p:attrName>style.visibility</p:attrName>
                                        </p:attrNameLst>
                                      </p:cBhvr>
                                      <p:to>
                                        <p:strVal val="visible"/>
                                      </p:to>
                                    </p:set>
                                    <p:animEffect transition="in" filter="wipe(left)">
                                      <p:cBhvr>
                                        <p:cTn id="200" dur="500"/>
                                        <p:tgtEl>
                                          <p:spTgt spid="5"/>
                                        </p:tgtEl>
                                      </p:cBhvr>
                                    </p:animEffect>
                                  </p:childTnLst>
                                </p:cTn>
                              </p:par>
                            </p:childTnLst>
                          </p:cTn>
                        </p:par>
                      </p:childTnLst>
                    </p:cTn>
                  </p:par>
                  <p:par>
                    <p:cTn id="201" fill="hold">
                      <p:stCondLst>
                        <p:cond delay="indefinite"/>
                      </p:stCondLst>
                      <p:childTnLst>
                        <p:par>
                          <p:cTn id="202" fill="hold">
                            <p:stCondLst>
                              <p:cond delay="0"/>
                            </p:stCondLst>
                            <p:childTnLst>
                              <p:par>
                                <p:cTn id="203" presetID="1" presetClass="exit" presetSubtype="0" fill="hold" grpId="1" nodeType="clickEffect">
                                  <p:stCondLst>
                                    <p:cond delay="0"/>
                                  </p:stCondLst>
                                  <p:childTnLst>
                                    <p:set>
                                      <p:cBhvr>
                                        <p:cTn id="204" dur="1" fill="hold">
                                          <p:stCondLst>
                                            <p:cond delay="0"/>
                                          </p:stCondLst>
                                        </p:cTn>
                                        <p:tgtEl>
                                          <p:spTgt spid="43"/>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6" dur="1" fill="hold">
                                          <p:stCondLst>
                                            <p:cond delay="0"/>
                                          </p:stCondLst>
                                        </p:cTn>
                                        <p:tgtEl>
                                          <p:spTgt spid="44"/>
                                        </p:tgtEl>
                                        <p:attrNameLst>
                                          <p:attrName>style.visibility</p:attrName>
                                        </p:attrNameLst>
                                      </p:cBhvr>
                                      <p:to>
                                        <p:strVal val="hidden"/>
                                      </p:to>
                                    </p:set>
                                  </p:childTnLst>
                                </p:cTn>
                              </p:par>
                            </p:childTnLst>
                          </p:cTn>
                        </p:par>
                        <p:par>
                          <p:cTn id="207" fill="hold">
                            <p:stCondLst>
                              <p:cond delay="0"/>
                            </p:stCondLst>
                            <p:childTnLst>
                              <p:par>
                                <p:cTn id="208" presetID="22" presetClass="entr" presetSubtype="4" fill="hold" grpId="0" nodeType="afterEffect">
                                  <p:stCondLst>
                                    <p:cond delay="0"/>
                                  </p:stCondLst>
                                  <p:childTnLst>
                                    <p:set>
                                      <p:cBhvr>
                                        <p:cTn id="209" dur="1" fill="hold">
                                          <p:stCondLst>
                                            <p:cond delay="0"/>
                                          </p:stCondLst>
                                        </p:cTn>
                                        <p:tgtEl>
                                          <p:spTgt spid="47"/>
                                        </p:tgtEl>
                                        <p:attrNameLst>
                                          <p:attrName>style.visibility</p:attrName>
                                        </p:attrNameLst>
                                      </p:cBhvr>
                                      <p:to>
                                        <p:strVal val="visible"/>
                                      </p:to>
                                    </p:set>
                                    <p:animEffect transition="in" filter="wipe(down)">
                                      <p:cBhvr>
                                        <p:cTn id="210" dur="500"/>
                                        <p:tgtEl>
                                          <p:spTgt spid="47"/>
                                        </p:tgtEl>
                                      </p:cBhvr>
                                    </p:animEffect>
                                  </p:childTnLst>
                                </p:cTn>
                              </p:par>
                              <p:par>
                                <p:cTn id="211" presetID="22" presetClass="entr" presetSubtype="4" fill="hold" grpId="0" nodeType="withEffect">
                                  <p:stCondLst>
                                    <p:cond delay="0"/>
                                  </p:stCondLst>
                                  <p:childTnLst>
                                    <p:set>
                                      <p:cBhvr>
                                        <p:cTn id="212" dur="1" fill="hold">
                                          <p:stCondLst>
                                            <p:cond delay="0"/>
                                          </p:stCondLst>
                                        </p:cTn>
                                        <p:tgtEl>
                                          <p:spTgt spid="48"/>
                                        </p:tgtEl>
                                        <p:attrNameLst>
                                          <p:attrName>style.visibility</p:attrName>
                                        </p:attrNameLst>
                                      </p:cBhvr>
                                      <p:to>
                                        <p:strVal val="visible"/>
                                      </p:to>
                                    </p:set>
                                    <p:animEffect transition="in" filter="wipe(down)">
                                      <p:cBhvr>
                                        <p:cTn id="213" dur="500"/>
                                        <p:tgtEl>
                                          <p:spTgt spid="48"/>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nodeType="clickEffect">
                                  <p:stCondLst>
                                    <p:cond delay="0"/>
                                  </p:stCondLst>
                                  <p:childTnLst>
                                    <p:set>
                                      <p:cBhvr>
                                        <p:cTn id="217" dur="1" fill="hold">
                                          <p:stCondLst>
                                            <p:cond delay="0"/>
                                          </p:stCondLst>
                                        </p:cTn>
                                        <p:tgtEl>
                                          <p:spTgt spid="60"/>
                                        </p:tgtEl>
                                        <p:attrNameLst>
                                          <p:attrName>style.visibility</p:attrName>
                                        </p:attrNameLst>
                                      </p:cBhvr>
                                      <p:to>
                                        <p:strVal val="visible"/>
                                      </p:to>
                                    </p:set>
                                    <p:animEffect transition="in" filter="wipe(left)">
                                      <p:cBhvr>
                                        <p:cTn id="218" dur="500"/>
                                        <p:tgtEl>
                                          <p:spTgt spid="60"/>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grpId="0" nodeType="clickEffect">
                                  <p:stCondLst>
                                    <p:cond delay="0"/>
                                  </p:stCondLst>
                                  <p:childTnLst>
                                    <p:set>
                                      <p:cBhvr>
                                        <p:cTn id="222" dur="1" fill="hold">
                                          <p:stCondLst>
                                            <p:cond delay="0"/>
                                          </p:stCondLst>
                                        </p:cTn>
                                        <p:tgtEl>
                                          <p:spTgt spid="6"/>
                                        </p:tgtEl>
                                        <p:attrNameLst>
                                          <p:attrName>style.visibility</p:attrName>
                                        </p:attrNameLst>
                                      </p:cBhvr>
                                      <p:to>
                                        <p:strVal val="visible"/>
                                      </p:to>
                                    </p:set>
                                    <p:animEffect transition="in" filter="wipe(left)">
                                      <p:cBhvr>
                                        <p:cTn id="223" dur="500"/>
                                        <p:tgtEl>
                                          <p:spTgt spid="6"/>
                                        </p:tgtEl>
                                      </p:cBhvr>
                                    </p:animEffect>
                                  </p:childTnLst>
                                </p:cTn>
                              </p:par>
                            </p:childTnLst>
                          </p:cTn>
                        </p:par>
                      </p:childTnLst>
                    </p:cTn>
                  </p:par>
                  <p:par>
                    <p:cTn id="224" fill="hold">
                      <p:stCondLst>
                        <p:cond delay="indefinite"/>
                      </p:stCondLst>
                      <p:childTnLst>
                        <p:par>
                          <p:cTn id="225" fill="hold">
                            <p:stCondLst>
                              <p:cond delay="0"/>
                            </p:stCondLst>
                            <p:childTnLst>
                              <p:par>
                                <p:cTn id="226" presetID="1" presetClass="exit" presetSubtype="0" fill="hold" grpId="1" nodeType="clickEffect">
                                  <p:stCondLst>
                                    <p:cond delay="0"/>
                                  </p:stCondLst>
                                  <p:childTnLst>
                                    <p:set>
                                      <p:cBhvr>
                                        <p:cTn id="227" dur="1" fill="hold">
                                          <p:stCondLst>
                                            <p:cond delay="0"/>
                                          </p:stCondLst>
                                        </p:cTn>
                                        <p:tgtEl>
                                          <p:spTgt spid="47"/>
                                        </p:tgtEl>
                                        <p:attrNameLst>
                                          <p:attrName>style.visibility</p:attrName>
                                        </p:attrNameLst>
                                      </p:cBhvr>
                                      <p:to>
                                        <p:strVal val="hidden"/>
                                      </p:to>
                                    </p:set>
                                  </p:childTnLst>
                                </p:cTn>
                              </p:par>
                              <p:par>
                                <p:cTn id="228" presetID="1" presetClass="exit" presetSubtype="0" fill="hold" grpId="1" nodeType="withEffect">
                                  <p:stCondLst>
                                    <p:cond delay="0"/>
                                  </p:stCondLst>
                                  <p:childTnLst>
                                    <p:set>
                                      <p:cBhvr>
                                        <p:cTn id="229" dur="1" fill="hold">
                                          <p:stCondLst>
                                            <p:cond delay="0"/>
                                          </p:stCondLst>
                                        </p:cTn>
                                        <p:tgtEl>
                                          <p:spTgt spid="48"/>
                                        </p:tgtEl>
                                        <p:attrNameLst>
                                          <p:attrName>style.visibility</p:attrName>
                                        </p:attrNameLst>
                                      </p:cBhvr>
                                      <p:to>
                                        <p:strVal val="hidden"/>
                                      </p:to>
                                    </p:set>
                                  </p:childTnLst>
                                </p:cTn>
                              </p:par>
                            </p:childTnLst>
                          </p:cTn>
                        </p:par>
                        <p:par>
                          <p:cTn id="230" fill="hold">
                            <p:stCondLst>
                              <p:cond delay="0"/>
                            </p:stCondLst>
                            <p:childTnLst>
                              <p:par>
                                <p:cTn id="231" presetID="22" presetClass="entr" presetSubtype="4" fill="hold" grpId="0" nodeType="afterEffect">
                                  <p:stCondLst>
                                    <p:cond delay="0"/>
                                  </p:stCondLst>
                                  <p:childTnLst>
                                    <p:set>
                                      <p:cBhvr>
                                        <p:cTn id="232" dur="1" fill="hold">
                                          <p:stCondLst>
                                            <p:cond delay="0"/>
                                          </p:stCondLst>
                                        </p:cTn>
                                        <p:tgtEl>
                                          <p:spTgt spid="49"/>
                                        </p:tgtEl>
                                        <p:attrNameLst>
                                          <p:attrName>style.visibility</p:attrName>
                                        </p:attrNameLst>
                                      </p:cBhvr>
                                      <p:to>
                                        <p:strVal val="visible"/>
                                      </p:to>
                                    </p:set>
                                    <p:animEffect transition="in" filter="wipe(down)">
                                      <p:cBhvr>
                                        <p:cTn id="233" dur="500"/>
                                        <p:tgtEl>
                                          <p:spTgt spid="49"/>
                                        </p:tgtEl>
                                      </p:cBhvr>
                                    </p:animEffect>
                                  </p:childTnLst>
                                </p:cTn>
                              </p:par>
                              <p:par>
                                <p:cTn id="234" presetID="22" presetClass="entr" presetSubtype="4" fill="hold" grpId="0" nodeType="withEffect">
                                  <p:stCondLst>
                                    <p:cond delay="0"/>
                                  </p:stCondLst>
                                  <p:childTnLst>
                                    <p:set>
                                      <p:cBhvr>
                                        <p:cTn id="235" dur="1" fill="hold">
                                          <p:stCondLst>
                                            <p:cond delay="0"/>
                                          </p:stCondLst>
                                        </p:cTn>
                                        <p:tgtEl>
                                          <p:spTgt spid="50"/>
                                        </p:tgtEl>
                                        <p:attrNameLst>
                                          <p:attrName>style.visibility</p:attrName>
                                        </p:attrNameLst>
                                      </p:cBhvr>
                                      <p:to>
                                        <p:strVal val="visible"/>
                                      </p:to>
                                    </p:set>
                                    <p:animEffect transition="in" filter="wipe(down)">
                                      <p:cBhvr>
                                        <p:cTn id="236" dur="500"/>
                                        <p:tgtEl>
                                          <p:spTgt spid="50"/>
                                        </p:tgtEl>
                                      </p:cBhvr>
                                    </p:animEffect>
                                  </p:childTnLst>
                                </p:cTn>
                              </p:par>
                            </p:childTnLst>
                          </p:cTn>
                        </p:par>
                      </p:childTnLst>
                    </p:cTn>
                  </p:par>
                  <p:par>
                    <p:cTn id="237" fill="hold">
                      <p:stCondLst>
                        <p:cond delay="indefinite"/>
                      </p:stCondLst>
                      <p:childTnLst>
                        <p:par>
                          <p:cTn id="238" fill="hold">
                            <p:stCondLst>
                              <p:cond delay="0"/>
                            </p:stCondLst>
                            <p:childTnLst>
                              <p:par>
                                <p:cTn id="239" presetID="22" presetClass="entr" presetSubtype="8" fill="hold" nodeType="clickEffect">
                                  <p:stCondLst>
                                    <p:cond delay="0"/>
                                  </p:stCondLst>
                                  <p:childTnLst>
                                    <p:set>
                                      <p:cBhvr>
                                        <p:cTn id="240" dur="1" fill="hold">
                                          <p:stCondLst>
                                            <p:cond delay="0"/>
                                          </p:stCondLst>
                                        </p:cTn>
                                        <p:tgtEl>
                                          <p:spTgt spid="61"/>
                                        </p:tgtEl>
                                        <p:attrNameLst>
                                          <p:attrName>style.visibility</p:attrName>
                                        </p:attrNameLst>
                                      </p:cBhvr>
                                      <p:to>
                                        <p:strVal val="visible"/>
                                      </p:to>
                                    </p:set>
                                    <p:animEffect transition="in" filter="wipe(left)">
                                      <p:cBhvr>
                                        <p:cTn id="241" dur="500"/>
                                        <p:tgtEl>
                                          <p:spTgt spid="61"/>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ntr" presetSubtype="8" fill="hold" grpId="0" nodeType="clickEffect">
                                  <p:stCondLst>
                                    <p:cond delay="0"/>
                                  </p:stCondLst>
                                  <p:childTnLst>
                                    <p:set>
                                      <p:cBhvr>
                                        <p:cTn id="245" dur="1" fill="hold">
                                          <p:stCondLst>
                                            <p:cond delay="0"/>
                                          </p:stCondLst>
                                        </p:cTn>
                                        <p:tgtEl>
                                          <p:spTgt spid="7"/>
                                        </p:tgtEl>
                                        <p:attrNameLst>
                                          <p:attrName>style.visibility</p:attrName>
                                        </p:attrNameLst>
                                      </p:cBhvr>
                                      <p:to>
                                        <p:strVal val="visible"/>
                                      </p:to>
                                    </p:set>
                                    <p:animEffect transition="in" filter="wipe(left)">
                                      <p:cBhvr>
                                        <p:cTn id="246" dur="500"/>
                                        <p:tgtEl>
                                          <p:spTgt spid="7"/>
                                        </p:tgtEl>
                                      </p:cBhvr>
                                    </p:animEffect>
                                  </p:childTnLst>
                                </p:cTn>
                              </p:par>
                            </p:childTnLst>
                          </p:cTn>
                        </p:par>
                      </p:childTnLst>
                    </p:cTn>
                  </p:par>
                  <p:par>
                    <p:cTn id="247" fill="hold">
                      <p:stCondLst>
                        <p:cond delay="indefinite"/>
                      </p:stCondLst>
                      <p:childTnLst>
                        <p:par>
                          <p:cTn id="248" fill="hold">
                            <p:stCondLst>
                              <p:cond delay="0"/>
                            </p:stCondLst>
                            <p:childTnLst>
                              <p:par>
                                <p:cTn id="249" presetID="1" presetClass="exit" presetSubtype="0" fill="hold" grpId="1" nodeType="clickEffect">
                                  <p:stCondLst>
                                    <p:cond delay="0"/>
                                  </p:stCondLst>
                                  <p:childTnLst>
                                    <p:set>
                                      <p:cBhvr>
                                        <p:cTn id="250" dur="1" fill="hold">
                                          <p:stCondLst>
                                            <p:cond delay="0"/>
                                          </p:stCondLst>
                                        </p:cTn>
                                        <p:tgtEl>
                                          <p:spTgt spid="49"/>
                                        </p:tgtEl>
                                        <p:attrNameLst>
                                          <p:attrName>style.visibility</p:attrName>
                                        </p:attrNameLst>
                                      </p:cBhvr>
                                      <p:to>
                                        <p:strVal val="hidden"/>
                                      </p:to>
                                    </p:set>
                                  </p:childTnLst>
                                </p:cTn>
                              </p:par>
                              <p:par>
                                <p:cTn id="251" presetID="1" presetClass="exit" presetSubtype="0" fill="hold" grpId="1" nodeType="withEffect">
                                  <p:stCondLst>
                                    <p:cond delay="0"/>
                                  </p:stCondLst>
                                  <p:childTnLst>
                                    <p:set>
                                      <p:cBhvr>
                                        <p:cTn id="252" dur="1" fill="hold">
                                          <p:stCondLst>
                                            <p:cond delay="0"/>
                                          </p:stCondLst>
                                        </p:cTn>
                                        <p:tgtEl>
                                          <p:spTgt spid="50"/>
                                        </p:tgtEl>
                                        <p:attrNameLst>
                                          <p:attrName>style.visibility</p:attrName>
                                        </p:attrNameLst>
                                      </p:cBhvr>
                                      <p:to>
                                        <p:strVal val="hidden"/>
                                      </p:to>
                                    </p:set>
                                  </p:childTnLst>
                                </p:cTn>
                              </p:par>
                            </p:childTnLst>
                          </p:cTn>
                        </p:par>
                        <p:par>
                          <p:cTn id="253" fill="hold">
                            <p:stCondLst>
                              <p:cond delay="0"/>
                            </p:stCondLst>
                            <p:childTnLst>
                              <p:par>
                                <p:cTn id="254" presetID="22" presetClass="entr" presetSubtype="4" fill="hold" grpId="0" nodeType="afterEffect">
                                  <p:stCondLst>
                                    <p:cond delay="0"/>
                                  </p:stCondLst>
                                  <p:childTnLst>
                                    <p:set>
                                      <p:cBhvr>
                                        <p:cTn id="255" dur="1" fill="hold">
                                          <p:stCondLst>
                                            <p:cond delay="0"/>
                                          </p:stCondLst>
                                        </p:cTn>
                                        <p:tgtEl>
                                          <p:spTgt spid="51"/>
                                        </p:tgtEl>
                                        <p:attrNameLst>
                                          <p:attrName>style.visibility</p:attrName>
                                        </p:attrNameLst>
                                      </p:cBhvr>
                                      <p:to>
                                        <p:strVal val="visible"/>
                                      </p:to>
                                    </p:set>
                                    <p:animEffect transition="in" filter="wipe(down)">
                                      <p:cBhvr>
                                        <p:cTn id="256" dur="500"/>
                                        <p:tgtEl>
                                          <p:spTgt spid="51"/>
                                        </p:tgtEl>
                                      </p:cBhvr>
                                    </p:animEffect>
                                  </p:childTnLst>
                                </p:cTn>
                              </p:par>
                              <p:par>
                                <p:cTn id="257" presetID="22" presetClass="entr" presetSubtype="4" fill="hold" grpId="0" nodeType="withEffect">
                                  <p:stCondLst>
                                    <p:cond delay="0"/>
                                  </p:stCondLst>
                                  <p:childTnLst>
                                    <p:set>
                                      <p:cBhvr>
                                        <p:cTn id="258" dur="1" fill="hold">
                                          <p:stCondLst>
                                            <p:cond delay="0"/>
                                          </p:stCondLst>
                                        </p:cTn>
                                        <p:tgtEl>
                                          <p:spTgt spid="52"/>
                                        </p:tgtEl>
                                        <p:attrNameLst>
                                          <p:attrName>style.visibility</p:attrName>
                                        </p:attrNameLst>
                                      </p:cBhvr>
                                      <p:to>
                                        <p:strVal val="visible"/>
                                      </p:to>
                                    </p:set>
                                    <p:animEffect transition="in" filter="wipe(down)">
                                      <p:cBhvr>
                                        <p:cTn id="259" dur="500"/>
                                        <p:tgtEl>
                                          <p:spTgt spid="52"/>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8" fill="hold" nodeType="clickEffect">
                                  <p:stCondLst>
                                    <p:cond delay="0"/>
                                  </p:stCondLst>
                                  <p:childTnLst>
                                    <p:set>
                                      <p:cBhvr>
                                        <p:cTn id="263" dur="1" fill="hold">
                                          <p:stCondLst>
                                            <p:cond delay="0"/>
                                          </p:stCondLst>
                                        </p:cTn>
                                        <p:tgtEl>
                                          <p:spTgt spid="63"/>
                                        </p:tgtEl>
                                        <p:attrNameLst>
                                          <p:attrName>style.visibility</p:attrName>
                                        </p:attrNameLst>
                                      </p:cBhvr>
                                      <p:to>
                                        <p:strVal val="visible"/>
                                      </p:to>
                                    </p:set>
                                    <p:animEffect transition="in" filter="wipe(left)">
                                      <p:cBhvr>
                                        <p:cTn id="264" dur="500"/>
                                        <p:tgtEl>
                                          <p:spTgt spid="63"/>
                                        </p:tgtEl>
                                      </p:cBhvr>
                                    </p:animEffect>
                                  </p:childTnLst>
                                </p:cTn>
                              </p:par>
                            </p:childTnLst>
                          </p:cTn>
                        </p:par>
                      </p:childTnLst>
                    </p:cTn>
                  </p:par>
                  <p:par>
                    <p:cTn id="265" fill="hold">
                      <p:stCondLst>
                        <p:cond delay="indefinite"/>
                      </p:stCondLst>
                      <p:childTnLst>
                        <p:par>
                          <p:cTn id="266" fill="hold">
                            <p:stCondLst>
                              <p:cond delay="0"/>
                            </p:stCondLst>
                            <p:childTnLst>
                              <p:par>
                                <p:cTn id="267" presetID="22" presetClass="entr" presetSubtype="8" fill="hold" grpId="0" nodeType="clickEffect">
                                  <p:stCondLst>
                                    <p:cond delay="0"/>
                                  </p:stCondLst>
                                  <p:childTnLst>
                                    <p:set>
                                      <p:cBhvr>
                                        <p:cTn id="268" dur="1" fill="hold">
                                          <p:stCondLst>
                                            <p:cond delay="0"/>
                                          </p:stCondLst>
                                        </p:cTn>
                                        <p:tgtEl>
                                          <p:spTgt spid="8"/>
                                        </p:tgtEl>
                                        <p:attrNameLst>
                                          <p:attrName>style.visibility</p:attrName>
                                        </p:attrNameLst>
                                      </p:cBhvr>
                                      <p:to>
                                        <p:strVal val="visible"/>
                                      </p:to>
                                    </p:set>
                                    <p:animEffect transition="in" filter="wipe(left)">
                                      <p:cBhvr>
                                        <p:cTn id="269" dur="500"/>
                                        <p:tgtEl>
                                          <p:spTgt spid="8"/>
                                        </p:tgtEl>
                                      </p:cBhvr>
                                    </p:animEffect>
                                  </p:childTnLst>
                                </p:cTn>
                              </p:par>
                            </p:childTnLst>
                          </p:cTn>
                        </p:par>
                      </p:childTnLst>
                    </p:cTn>
                  </p:par>
                  <p:par>
                    <p:cTn id="270" fill="hold">
                      <p:stCondLst>
                        <p:cond delay="indefinite"/>
                      </p:stCondLst>
                      <p:childTnLst>
                        <p:par>
                          <p:cTn id="271" fill="hold">
                            <p:stCondLst>
                              <p:cond delay="0"/>
                            </p:stCondLst>
                            <p:childTnLst>
                              <p:par>
                                <p:cTn id="272" presetID="1" presetClass="exit" presetSubtype="0" fill="hold" grpId="1" nodeType="clickEffect">
                                  <p:stCondLst>
                                    <p:cond delay="0"/>
                                  </p:stCondLst>
                                  <p:childTnLst>
                                    <p:set>
                                      <p:cBhvr>
                                        <p:cTn id="273" dur="1" fill="hold">
                                          <p:stCondLst>
                                            <p:cond delay="0"/>
                                          </p:stCondLst>
                                        </p:cTn>
                                        <p:tgtEl>
                                          <p:spTgt spid="51"/>
                                        </p:tgtEl>
                                        <p:attrNameLst>
                                          <p:attrName>style.visibility</p:attrName>
                                        </p:attrNameLst>
                                      </p:cBhvr>
                                      <p:to>
                                        <p:strVal val="hidden"/>
                                      </p:to>
                                    </p:set>
                                  </p:childTnLst>
                                </p:cTn>
                              </p:par>
                              <p:par>
                                <p:cTn id="274" presetID="1" presetClass="exit" presetSubtype="0" fill="hold" grpId="1" nodeType="withEffect">
                                  <p:stCondLst>
                                    <p:cond delay="0"/>
                                  </p:stCondLst>
                                  <p:childTnLst>
                                    <p:set>
                                      <p:cBhvr>
                                        <p:cTn id="275" dur="1" fill="hold">
                                          <p:stCondLst>
                                            <p:cond delay="0"/>
                                          </p:stCondLst>
                                        </p:cTn>
                                        <p:tgtEl>
                                          <p:spTgt spid="52"/>
                                        </p:tgtEl>
                                        <p:attrNameLst>
                                          <p:attrName>style.visibility</p:attrName>
                                        </p:attrNameLst>
                                      </p:cBhvr>
                                      <p:to>
                                        <p:strVal val="hidden"/>
                                      </p:to>
                                    </p:set>
                                  </p:childTnLst>
                                </p:cTn>
                              </p:par>
                            </p:childTnLst>
                          </p:cTn>
                        </p:par>
                        <p:par>
                          <p:cTn id="276" fill="hold">
                            <p:stCondLst>
                              <p:cond delay="0"/>
                            </p:stCondLst>
                            <p:childTnLst>
                              <p:par>
                                <p:cTn id="277" presetID="22" presetClass="entr" presetSubtype="4" fill="hold" grpId="0" nodeType="afterEffect">
                                  <p:stCondLst>
                                    <p:cond delay="0"/>
                                  </p:stCondLst>
                                  <p:childTnLst>
                                    <p:set>
                                      <p:cBhvr>
                                        <p:cTn id="278" dur="1" fill="hold">
                                          <p:stCondLst>
                                            <p:cond delay="0"/>
                                          </p:stCondLst>
                                        </p:cTn>
                                        <p:tgtEl>
                                          <p:spTgt spid="53"/>
                                        </p:tgtEl>
                                        <p:attrNameLst>
                                          <p:attrName>style.visibility</p:attrName>
                                        </p:attrNameLst>
                                      </p:cBhvr>
                                      <p:to>
                                        <p:strVal val="visible"/>
                                      </p:to>
                                    </p:set>
                                    <p:animEffect transition="in" filter="wipe(down)">
                                      <p:cBhvr>
                                        <p:cTn id="279" dur="500"/>
                                        <p:tgtEl>
                                          <p:spTgt spid="53"/>
                                        </p:tgtEl>
                                      </p:cBhvr>
                                    </p:animEffect>
                                  </p:childTnLst>
                                </p:cTn>
                              </p:par>
                              <p:par>
                                <p:cTn id="280" presetID="22" presetClass="entr" presetSubtype="4" fill="hold" grpId="0" nodeType="withEffect">
                                  <p:stCondLst>
                                    <p:cond delay="0"/>
                                  </p:stCondLst>
                                  <p:childTnLst>
                                    <p:set>
                                      <p:cBhvr>
                                        <p:cTn id="281" dur="1" fill="hold">
                                          <p:stCondLst>
                                            <p:cond delay="0"/>
                                          </p:stCondLst>
                                        </p:cTn>
                                        <p:tgtEl>
                                          <p:spTgt spid="54"/>
                                        </p:tgtEl>
                                        <p:attrNameLst>
                                          <p:attrName>style.visibility</p:attrName>
                                        </p:attrNameLst>
                                      </p:cBhvr>
                                      <p:to>
                                        <p:strVal val="visible"/>
                                      </p:to>
                                    </p:set>
                                    <p:animEffect transition="in" filter="wipe(down)">
                                      <p:cBhvr>
                                        <p:cTn id="282" dur="500"/>
                                        <p:tgtEl>
                                          <p:spTgt spid="54"/>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8" fill="hold" nodeType="clickEffect">
                                  <p:stCondLst>
                                    <p:cond delay="0"/>
                                  </p:stCondLst>
                                  <p:childTnLst>
                                    <p:set>
                                      <p:cBhvr>
                                        <p:cTn id="286" dur="1" fill="hold">
                                          <p:stCondLst>
                                            <p:cond delay="0"/>
                                          </p:stCondLst>
                                        </p:cTn>
                                        <p:tgtEl>
                                          <p:spTgt spid="62"/>
                                        </p:tgtEl>
                                        <p:attrNameLst>
                                          <p:attrName>style.visibility</p:attrName>
                                        </p:attrNameLst>
                                      </p:cBhvr>
                                      <p:to>
                                        <p:strVal val="visible"/>
                                      </p:to>
                                    </p:set>
                                    <p:animEffect transition="in" filter="wipe(left)">
                                      <p:cBhvr>
                                        <p:cTn id="287" dur="500"/>
                                        <p:tgtEl>
                                          <p:spTgt spid="62"/>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8" fill="hold" grpId="0" nodeType="clickEffect">
                                  <p:stCondLst>
                                    <p:cond delay="0"/>
                                  </p:stCondLst>
                                  <p:childTnLst>
                                    <p:set>
                                      <p:cBhvr>
                                        <p:cTn id="291" dur="1" fill="hold">
                                          <p:stCondLst>
                                            <p:cond delay="0"/>
                                          </p:stCondLst>
                                        </p:cTn>
                                        <p:tgtEl>
                                          <p:spTgt spid="9"/>
                                        </p:tgtEl>
                                        <p:attrNameLst>
                                          <p:attrName>style.visibility</p:attrName>
                                        </p:attrNameLst>
                                      </p:cBhvr>
                                      <p:to>
                                        <p:strVal val="visible"/>
                                      </p:to>
                                    </p:set>
                                    <p:animEffect transition="in" filter="wipe(left)">
                                      <p:cBhvr>
                                        <p:cTn id="292" dur="500"/>
                                        <p:tgtEl>
                                          <p:spTgt spid="9"/>
                                        </p:tgtEl>
                                      </p:cBhvr>
                                    </p:animEffect>
                                  </p:childTnLst>
                                </p:cTn>
                              </p:par>
                            </p:childTnLst>
                          </p:cTn>
                        </p:par>
                      </p:childTnLst>
                    </p:cTn>
                  </p:par>
                  <p:par>
                    <p:cTn id="293" fill="hold">
                      <p:stCondLst>
                        <p:cond delay="indefinite"/>
                      </p:stCondLst>
                      <p:childTnLst>
                        <p:par>
                          <p:cTn id="294" fill="hold">
                            <p:stCondLst>
                              <p:cond delay="0"/>
                            </p:stCondLst>
                            <p:childTnLst>
                              <p:par>
                                <p:cTn id="295" presetID="1" presetClass="exit" presetSubtype="0" fill="hold" grpId="1" nodeType="clickEffect">
                                  <p:stCondLst>
                                    <p:cond delay="0"/>
                                  </p:stCondLst>
                                  <p:childTnLst>
                                    <p:set>
                                      <p:cBhvr>
                                        <p:cTn id="296" dur="1" fill="hold">
                                          <p:stCondLst>
                                            <p:cond delay="0"/>
                                          </p:stCondLst>
                                        </p:cTn>
                                        <p:tgtEl>
                                          <p:spTgt spid="53"/>
                                        </p:tgtEl>
                                        <p:attrNameLst>
                                          <p:attrName>style.visibility</p:attrName>
                                        </p:attrNameLst>
                                      </p:cBhvr>
                                      <p:to>
                                        <p:strVal val="hidden"/>
                                      </p:to>
                                    </p:set>
                                  </p:childTnLst>
                                </p:cTn>
                              </p:par>
                              <p:par>
                                <p:cTn id="297" presetID="1" presetClass="exit" presetSubtype="0" fill="hold" grpId="1" nodeType="withEffect">
                                  <p:stCondLst>
                                    <p:cond delay="0"/>
                                  </p:stCondLst>
                                  <p:childTnLst>
                                    <p:set>
                                      <p:cBhvr>
                                        <p:cTn id="298" dur="1" fill="hold">
                                          <p:stCondLst>
                                            <p:cond delay="0"/>
                                          </p:stCondLst>
                                        </p:cTn>
                                        <p:tgtEl>
                                          <p:spTgt spid="54"/>
                                        </p:tgtEl>
                                        <p:attrNameLst>
                                          <p:attrName>style.visibility</p:attrName>
                                        </p:attrNameLst>
                                      </p:cBhvr>
                                      <p:to>
                                        <p:strVal val="hidden"/>
                                      </p:to>
                                    </p:set>
                                  </p:childTnLst>
                                </p:cTn>
                              </p:par>
                            </p:childTnLst>
                          </p:cTn>
                        </p:par>
                        <p:par>
                          <p:cTn id="299" fill="hold">
                            <p:stCondLst>
                              <p:cond delay="0"/>
                            </p:stCondLst>
                            <p:childTnLst>
                              <p:par>
                                <p:cTn id="300" presetID="22" presetClass="entr" presetSubtype="8" fill="hold" grpId="0" nodeType="afterEffect">
                                  <p:stCondLst>
                                    <p:cond delay="0"/>
                                  </p:stCondLst>
                                  <p:childTnLst>
                                    <p:set>
                                      <p:cBhvr>
                                        <p:cTn id="301" dur="1" fill="hold">
                                          <p:stCondLst>
                                            <p:cond delay="0"/>
                                          </p:stCondLst>
                                        </p:cTn>
                                        <p:tgtEl>
                                          <p:spTgt spid="17"/>
                                        </p:tgtEl>
                                        <p:attrNameLst>
                                          <p:attrName>style.visibility</p:attrName>
                                        </p:attrNameLst>
                                      </p:cBhvr>
                                      <p:to>
                                        <p:strVal val="visible"/>
                                      </p:to>
                                    </p:set>
                                    <p:animEffect transition="in" filter="wipe(left)">
                                      <p:cBhvr>
                                        <p:cTn id="302" dur="500"/>
                                        <p:tgtEl>
                                          <p:spTgt spid="17"/>
                                        </p:tgtEl>
                                      </p:cBhvr>
                                    </p:animEffect>
                                  </p:childTnLst>
                                </p:cTn>
                              </p:par>
                            </p:childTnLst>
                          </p:cTn>
                        </p:par>
                      </p:childTnLst>
                    </p:cTn>
                  </p:par>
                  <p:par>
                    <p:cTn id="303" fill="hold">
                      <p:stCondLst>
                        <p:cond delay="indefinite"/>
                      </p:stCondLst>
                      <p:childTnLst>
                        <p:par>
                          <p:cTn id="304" fill="hold">
                            <p:stCondLst>
                              <p:cond delay="0"/>
                            </p:stCondLst>
                            <p:childTnLst>
                              <p:par>
                                <p:cTn id="305" presetID="22" presetClass="entr" presetSubtype="8" fill="hold" grpId="0" nodeType="clickEffect">
                                  <p:stCondLst>
                                    <p:cond delay="0"/>
                                  </p:stCondLst>
                                  <p:childTnLst>
                                    <p:set>
                                      <p:cBhvr>
                                        <p:cTn id="306" dur="1" fill="hold">
                                          <p:stCondLst>
                                            <p:cond delay="0"/>
                                          </p:stCondLst>
                                        </p:cTn>
                                        <p:tgtEl>
                                          <p:spTgt spid="64"/>
                                        </p:tgtEl>
                                        <p:attrNameLst>
                                          <p:attrName>style.visibility</p:attrName>
                                        </p:attrNameLst>
                                      </p:cBhvr>
                                      <p:to>
                                        <p:strVal val="visible"/>
                                      </p:to>
                                    </p:set>
                                    <p:animEffect transition="in" filter="wipe(left)">
                                      <p:cBhvr>
                                        <p:cTn id="30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7" grpId="0" animBg="1"/>
      <p:bldP spid="26" grpId="0" animBg="1"/>
      <p:bldP spid="26" grpId="1" animBg="1"/>
      <p:bldP spid="27" grpId="0"/>
      <p:bldP spid="27" grpId="1"/>
      <p:bldP spid="64" grpId="0" animBg="1"/>
      <p:bldP spid="3" grpId="0"/>
      <p:bldP spid="43" grpId="0" animBg="1"/>
      <p:bldP spid="43" grpId="1" animBg="1"/>
      <p:bldP spid="47" grpId="0" animBg="1"/>
      <p:bldP spid="47" grpId="1" animBg="1"/>
      <p:bldP spid="49" grpId="0" animBg="1"/>
      <p:bldP spid="49" grpId="1" animBg="1"/>
      <p:bldP spid="53" grpId="0" animBg="1"/>
      <p:bldP spid="53" grpId="1" animBg="1"/>
      <p:bldP spid="51" grpId="0" animBg="1"/>
      <p:bldP spid="51" grpId="1" animBg="1"/>
      <p:bldP spid="28" grpId="0" animBg="1"/>
      <p:bldP spid="28" grpId="1" animBg="1"/>
      <p:bldP spid="30" grpId="0"/>
      <p:bldP spid="30" grpId="1"/>
      <p:bldP spid="31" grpId="0" animBg="1"/>
      <p:bldP spid="31" grpId="1" animBg="1"/>
      <p:bldP spid="32" grpId="0"/>
      <p:bldP spid="32" grpId="1"/>
      <p:bldP spid="33" grpId="0" animBg="1"/>
      <p:bldP spid="33" grpId="1" animBg="1"/>
      <p:bldP spid="34" grpId="0"/>
      <p:bldP spid="34" grpId="1"/>
      <p:bldP spid="35" grpId="0" animBg="1"/>
      <p:bldP spid="35" grpId="1" animBg="1"/>
      <p:bldP spid="36" grpId="0"/>
      <p:bldP spid="36" grpId="1"/>
      <p:bldP spid="37" grpId="0" animBg="1"/>
      <p:bldP spid="37" grpId="1" animBg="1"/>
      <p:bldP spid="38" grpId="0"/>
      <p:bldP spid="38" grpId="1"/>
      <p:bldP spid="39" grpId="0" animBg="1"/>
      <p:bldP spid="39" grpId="1" animBg="1"/>
      <p:bldP spid="40" grpId="0"/>
      <p:bldP spid="40" grpId="1"/>
      <p:bldP spid="44" grpId="0"/>
      <p:bldP spid="44" grpId="1"/>
      <p:bldP spid="48" grpId="0"/>
      <p:bldP spid="48" grpId="1"/>
      <p:bldP spid="50" grpId="0"/>
      <p:bldP spid="50" grpId="1"/>
      <p:bldP spid="54" grpId="0"/>
      <p:bldP spid="54" grpId="1"/>
      <p:bldP spid="52" grpId="0"/>
      <p:bldP spid="5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24"/>
          <p:cNvSpPr/>
          <p:nvPr/>
        </p:nvSpPr>
        <p:spPr>
          <a:xfrm flipH="1" flipV="1">
            <a:off x="5642175" y="2320766"/>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Rounded Rectangle 25"/>
          <p:cNvSpPr/>
          <p:nvPr/>
        </p:nvSpPr>
        <p:spPr>
          <a:xfrm flipH="1" flipV="1">
            <a:off x="6120040" y="2320766"/>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1" name="Rounded Rectangle 20"/>
          <p:cNvSpPr/>
          <p:nvPr/>
        </p:nvSpPr>
        <p:spPr>
          <a:xfrm flipH="1" flipV="1">
            <a:off x="5483876" y="3225046"/>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0" name="Rounded Rectangle 19"/>
          <p:cNvSpPr/>
          <p:nvPr/>
        </p:nvSpPr>
        <p:spPr>
          <a:xfrm flipH="1" flipV="1">
            <a:off x="5004048" y="3225046"/>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3" name="Rounded Rectangle 12"/>
          <p:cNvSpPr/>
          <p:nvPr/>
        </p:nvSpPr>
        <p:spPr>
          <a:xfrm flipH="1" flipV="1">
            <a:off x="5154571" y="2320766"/>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ounded Rectangle 8"/>
          <p:cNvSpPr/>
          <p:nvPr/>
        </p:nvSpPr>
        <p:spPr>
          <a:xfrm flipH="1" flipV="1">
            <a:off x="5639794" y="2001705"/>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Rounded Rectangle 2"/>
          <p:cNvSpPr/>
          <p:nvPr/>
        </p:nvSpPr>
        <p:spPr>
          <a:xfrm flipH="1" flipV="1">
            <a:off x="5157588" y="2004953"/>
            <a:ext cx="254541" cy="328216"/>
          </a:xfrm>
          <a:prstGeom prst="roundRect">
            <a:avLst/>
          </a:prstGeom>
          <a:solidFill>
            <a:srgbClr val="FF99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 name="Rectangle 3"/>
          <p:cNvSpPr/>
          <p:nvPr/>
        </p:nvSpPr>
        <p:spPr>
          <a:xfrm>
            <a:off x="533400" y="285750"/>
            <a:ext cx="6990928" cy="830997"/>
          </a:xfrm>
          <a:prstGeom prst="rect">
            <a:avLst/>
          </a:prstGeom>
          <a:solidFill>
            <a:srgbClr val="7030A0"/>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anchor="ctr">
            <a:spAutoFit/>
          </a:bodyPr>
          <a:lstStyle/>
          <a:p>
            <a:pPr marL="347663" indent="-347663" algn="just"/>
            <a:r>
              <a:rPr lang="en-US" sz="2400" b="1" kern="0" dirty="0">
                <a:solidFill>
                  <a:prstClr val="white"/>
                </a:solidFill>
                <a:effectLst>
                  <a:outerShdw blurRad="50800" dist="38100" dir="16200000" rotWithShape="0">
                    <a:prstClr val="black">
                      <a:alpha val="40000"/>
                    </a:prstClr>
                  </a:outerShdw>
                </a:effectLst>
                <a:latin typeface="Bookman Old Style" pitchFamily="18" charset="0"/>
              </a:rPr>
              <a:t>For Coin and dice to know total no. of</a:t>
            </a:r>
          </a:p>
          <a:p>
            <a:pPr marL="347663" indent="-347663" algn="just"/>
            <a:r>
              <a:rPr lang="en-US" sz="2400" b="1" kern="0" dirty="0">
                <a:solidFill>
                  <a:prstClr val="white"/>
                </a:solidFill>
                <a:effectLst>
                  <a:outerShdw blurRad="50800" dist="38100" dir="16200000" rotWithShape="0">
                    <a:prstClr val="black">
                      <a:alpha val="40000"/>
                    </a:prstClr>
                  </a:outerShdw>
                </a:effectLst>
                <a:latin typeface="Bookman Old Style" pitchFamily="18" charset="0"/>
              </a:rPr>
              <a:t>outcomes we can remember as follows :</a:t>
            </a:r>
          </a:p>
        </p:txBody>
      </p:sp>
      <p:sp>
        <p:nvSpPr>
          <p:cNvPr id="5" name="Rectangle 4"/>
          <p:cNvSpPr/>
          <p:nvPr/>
        </p:nvSpPr>
        <p:spPr>
          <a:xfrm>
            <a:off x="495300" y="1653570"/>
            <a:ext cx="6452964" cy="2246769"/>
          </a:xfrm>
          <a:prstGeom prst="rect">
            <a:avLst/>
          </a:prstGeom>
        </p:spPr>
        <p:txBody>
          <a:bodyPr wrap="square">
            <a:spAutoFit/>
          </a:bodyPr>
          <a:lstStyle/>
          <a:p>
            <a:r>
              <a:rPr lang="en-US" sz="2000" b="1" dirty="0" smtClean="0">
                <a:solidFill>
                  <a:prstClr val="black"/>
                </a:solidFill>
                <a:latin typeface="Bookman Old Style" pitchFamily="18" charset="0"/>
              </a:rPr>
              <a:t>Total no. of outcomes in 1 coin = 2</a:t>
            </a:r>
          </a:p>
          <a:p>
            <a:r>
              <a:rPr lang="en-US" sz="2000" b="1" dirty="0" smtClean="0">
                <a:solidFill>
                  <a:prstClr val="black"/>
                </a:solidFill>
                <a:latin typeface="Bookman Old Style" pitchFamily="18" charset="0"/>
              </a:rPr>
              <a:t>Total no. of outcomes in 2 coins = 2 × 2 = 4</a:t>
            </a:r>
          </a:p>
          <a:p>
            <a:r>
              <a:rPr lang="en-US" sz="2000" b="1" dirty="0" smtClean="0">
                <a:solidFill>
                  <a:prstClr val="black"/>
                </a:solidFill>
                <a:latin typeface="Bookman Old Style" pitchFamily="18" charset="0"/>
              </a:rPr>
              <a:t>Total no. of outcomes in 3 coins = 2 × 2 × 2 = 8</a:t>
            </a:r>
          </a:p>
          <a:p>
            <a:r>
              <a:rPr lang="en-US" sz="2000" b="1" dirty="0">
                <a:solidFill>
                  <a:prstClr val="black"/>
                </a:solidFill>
                <a:latin typeface="Bookman Old Style" pitchFamily="18" charset="0"/>
              </a:rPr>
              <a:t>Total no. of outcomes in </a:t>
            </a:r>
            <a:r>
              <a:rPr lang="en-US" sz="2000" b="1" dirty="0" smtClean="0">
                <a:solidFill>
                  <a:prstClr val="black"/>
                </a:solidFill>
                <a:latin typeface="Bookman Old Style" pitchFamily="18" charset="0"/>
              </a:rPr>
              <a:t>n </a:t>
            </a:r>
            <a:r>
              <a:rPr lang="en-US" sz="2000" b="1" dirty="0">
                <a:solidFill>
                  <a:prstClr val="black"/>
                </a:solidFill>
                <a:latin typeface="Bookman Old Style" pitchFamily="18" charset="0"/>
              </a:rPr>
              <a:t>coin = </a:t>
            </a:r>
            <a:r>
              <a:rPr lang="en-US" sz="2000" b="1" dirty="0" smtClean="0">
                <a:solidFill>
                  <a:prstClr val="black"/>
                </a:solidFill>
                <a:latin typeface="Bookman Old Style" pitchFamily="18" charset="0"/>
              </a:rPr>
              <a:t>2</a:t>
            </a:r>
          </a:p>
          <a:p>
            <a:r>
              <a:rPr lang="en-US" sz="2000" b="1" dirty="0" smtClean="0">
                <a:solidFill>
                  <a:prstClr val="black"/>
                </a:solidFill>
                <a:latin typeface="Bookman Old Style" pitchFamily="18" charset="0"/>
              </a:rPr>
              <a:t>Total no. of outcomes in 1 die = 6</a:t>
            </a:r>
          </a:p>
          <a:p>
            <a:r>
              <a:rPr lang="en-US" sz="2000" b="1" dirty="0" smtClean="0">
                <a:solidFill>
                  <a:prstClr val="black"/>
                </a:solidFill>
                <a:latin typeface="Bookman Old Style" pitchFamily="18" charset="0"/>
              </a:rPr>
              <a:t>Total no. of outcomes in 2 dice = 6 × 6 = 36</a:t>
            </a:r>
          </a:p>
          <a:p>
            <a:r>
              <a:rPr lang="en-US" sz="2000" b="1" dirty="0">
                <a:solidFill>
                  <a:prstClr val="black"/>
                </a:solidFill>
                <a:latin typeface="Bookman Old Style" pitchFamily="18" charset="0"/>
              </a:rPr>
              <a:t>Total no. of outcomes in n </a:t>
            </a:r>
            <a:r>
              <a:rPr lang="en-US" sz="2000" b="1" dirty="0" smtClean="0">
                <a:solidFill>
                  <a:prstClr val="black"/>
                </a:solidFill>
                <a:latin typeface="Bookman Old Style" pitchFamily="18" charset="0"/>
              </a:rPr>
              <a:t>dice=6</a:t>
            </a:r>
          </a:p>
        </p:txBody>
      </p:sp>
      <p:grpSp>
        <p:nvGrpSpPr>
          <p:cNvPr id="2" name="Group 1"/>
          <p:cNvGrpSpPr/>
          <p:nvPr/>
        </p:nvGrpSpPr>
        <p:grpSpPr>
          <a:xfrm>
            <a:off x="6698407" y="1569724"/>
            <a:ext cx="1785107" cy="730991"/>
            <a:chOff x="4532400" y="2159517"/>
            <a:chExt cx="1785107" cy="730991"/>
          </a:xfrm>
        </p:grpSpPr>
        <p:sp>
          <p:nvSpPr>
            <p:cNvPr id="7" name="Round Diagonal Corner Rectangle 6"/>
            <p:cNvSpPr/>
            <p:nvPr/>
          </p:nvSpPr>
          <p:spPr>
            <a:xfrm>
              <a:off x="4572145" y="2159517"/>
              <a:ext cx="1705616" cy="73099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8" name="TextBox 7"/>
            <p:cNvSpPr txBox="1"/>
            <p:nvPr/>
          </p:nvSpPr>
          <p:spPr>
            <a:xfrm>
              <a:off x="4532400" y="2201847"/>
              <a:ext cx="1785107" cy="646331"/>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stStyle>
            <a:p>
              <a:r>
                <a:rPr lang="en-US" dirty="0"/>
                <a:t>Outcome of 1st coin</a:t>
              </a:r>
            </a:p>
          </p:txBody>
        </p:sp>
      </p:grpSp>
      <p:grpSp>
        <p:nvGrpSpPr>
          <p:cNvPr id="22" name="Group 21"/>
          <p:cNvGrpSpPr/>
          <p:nvPr/>
        </p:nvGrpSpPr>
        <p:grpSpPr>
          <a:xfrm>
            <a:off x="6698407" y="1569724"/>
            <a:ext cx="1785107" cy="730991"/>
            <a:chOff x="4532400" y="2159517"/>
            <a:chExt cx="1785107" cy="730991"/>
          </a:xfrm>
        </p:grpSpPr>
        <p:sp>
          <p:nvSpPr>
            <p:cNvPr id="23" name="Round Diagonal Corner Rectangle 22"/>
            <p:cNvSpPr/>
            <p:nvPr/>
          </p:nvSpPr>
          <p:spPr>
            <a:xfrm>
              <a:off x="4572145" y="2159517"/>
              <a:ext cx="1705616" cy="73099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24" name="TextBox 23"/>
            <p:cNvSpPr txBox="1"/>
            <p:nvPr/>
          </p:nvSpPr>
          <p:spPr>
            <a:xfrm>
              <a:off x="4532400" y="2201847"/>
              <a:ext cx="1785107" cy="646331"/>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stStyle>
            <a:p>
              <a:r>
                <a:rPr lang="en-US" dirty="0"/>
                <a:t>Outcome of 2nd die</a:t>
              </a:r>
            </a:p>
          </p:txBody>
        </p:sp>
      </p:grpSp>
      <p:grpSp>
        <p:nvGrpSpPr>
          <p:cNvPr id="27" name="Group 26"/>
          <p:cNvGrpSpPr/>
          <p:nvPr/>
        </p:nvGrpSpPr>
        <p:grpSpPr>
          <a:xfrm>
            <a:off x="6698407" y="1569724"/>
            <a:ext cx="1785107" cy="730991"/>
            <a:chOff x="4532400" y="2159517"/>
            <a:chExt cx="1785107" cy="730991"/>
          </a:xfrm>
        </p:grpSpPr>
        <p:sp>
          <p:nvSpPr>
            <p:cNvPr id="28" name="Round Diagonal Corner Rectangle 27"/>
            <p:cNvSpPr/>
            <p:nvPr/>
          </p:nvSpPr>
          <p:spPr>
            <a:xfrm>
              <a:off x="4572145" y="2159517"/>
              <a:ext cx="1705616" cy="73099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29" name="TextBox 28"/>
            <p:cNvSpPr txBox="1"/>
            <p:nvPr/>
          </p:nvSpPr>
          <p:spPr>
            <a:xfrm>
              <a:off x="4532400" y="2201847"/>
              <a:ext cx="1785107" cy="646331"/>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stStyle>
            <a:p>
              <a:r>
                <a:rPr lang="en-US" dirty="0"/>
                <a:t>Outcome of 2nd coin</a:t>
              </a:r>
            </a:p>
          </p:txBody>
        </p:sp>
      </p:grpSp>
      <p:grpSp>
        <p:nvGrpSpPr>
          <p:cNvPr id="30" name="Group 29"/>
          <p:cNvGrpSpPr/>
          <p:nvPr/>
        </p:nvGrpSpPr>
        <p:grpSpPr>
          <a:xfrm>
            <a:off x="6698407" y="1569724"/>
            <a:ext cx="1785107" cy="730991"/>
            <a:chOff x="4532400" y="2166242"/>
            <a:chExt cx="1785107" cy="730991"/>
          </a:xfrm>
        </p:grpSpPr>
        <p:sp>
          <p:nvSpPr>
            <p:cNvPr id="31" name="Round Diagonal Corner Rectangle 30"/>
            <p:cNvSpPr/>
            <p:nvPr/>
          </p:nvSpPr>
          <p:spPr>
            <a:xfrm>
              <a:off x="4572145" y="2166242"/>
              <a:ext cx="1705616" cy="73099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32" name="TextBox 31"/>
            <p:cNvSpPr txBox="1"/>
            <p:nvPr/>
          </p:nvSpPr>
          <p:spPr>
            <a:xfrm>
              <a:off x="4532400" y="2201847"/>
              <a:ext cx="1785107" cy="646331"/>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Outcome of 3rd coin</a:t>
              </a:r>
            </a:p>
          </p:txBody>
        </p:sp>
      </p:grpSp>
      <p:grpSp>
        <p:nvGrpSpPr>
          <p:cNvPr id="33" name="Group 32"/>
          <p:cNvGrpSpPr/>
          <p:nvPr/>
        </p:nvGrpSpPr>
        <p:grpSpPr>
          <a:xfrm>
            <a:off x="6698407" y="1569724"/>
            <a:ext cx="1785107" cy="730991"/>
            <a:chOff x="4532400" y="2159517"/>
            <a:chExt cx="1785107" cy="730991"/>
          </a:xfrm>
        </p:grpSpPr>
        <p:sp>
          <p:nvSpPr>
            <p:cNvPr id="34" name="Round Same Side Corner Rectangle 33"/>
            <p:cNvSpPr/>
            <p:nvPr/>
          </p:nvSpPr>
          <p:spPr>
            <a:xfrm>
              <a:off x="4572145" y="2159517"/>
              <a:ext cx="1705616" cy="730991"/>
            </a:xfrm>
            <a:prstGeom prst="round2Same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35" name="TextBox 34"/>
            <p:cNvSpPr txBox="1"/>
            <p:nvPr/>
          </p:nvSpPr>
          <p:spPr>
            <a:xfrm>
              <a:off x="4532400" y="2201847"/>
              <a:ext cx="1785107" cy="646331"/>
            </a:xfrm>
            <a:prstGeom prst="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Outcome of 1st coin</a:t>
              </a:r>
            </a:p>
          </p:txBody>
        </p:sp>
      </p:grpSp>
      <p:grpSp>
        <p:nvGrpSpPr>
          <p:cNvPr id="36" name="Group 35"/>
          <p:cNvGrpSpPr/>
          <p:nvPr/>
        </p:nvGrpSpPr>
        <p:grpSpPr>
          <a:xfrm>
            <a:off x="6698407" y="1569724"/>
            <a:ext cx="1785107" cy="730991"/>
            <a:chOff x="4532400" y="2159517"/>
            <a:chExt cx="1785107" cy="730991"/>
          </a:xfrm>
        </p:grpSpPr>
        <p:sp>
          <p:nvSpPr>
            <p:cNvPr id="37" name="Rectangle 36"/>
            <p:cNvSpPr/>
            <p:nvPr/>
          </p:nvSpPr>
          <p:spPr>
            <a:xfrm>
              <a:off x="4572145" y="2159517"/>
              <a:ext cx="1705616" cy="73099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endParaRPr lang="en-US" sz="1600" b="1" kern="0" dirty="0">
                <a:solidFill>
                  <a:prstClr val="white"/>
                </a:solidFill>
                <a:latin typeface="Bookman Old Style" panose="02050604050505020204" pitchFamily="18" charset="0"/>
              </a:endParaRPr>
            </a:p>
          </p:txBody>
        </p:sp>
        <p:sp>
          <p:nvSpPr>
            <p:cNvPr id="38" name="TextBox 37"/>
            <p:cNvSpPr txBox="1"/>
            <p:nvPr/>
          </p:nvSpPr>
          <p:spPr>
            <a:xfrm>
              <a:off x="4532400" y="2201847"/>
              <a:ext cx="1785107" cy="646331"/>
            </a:xfrm>
            <a:prstGeom prst="round2DiagRect">
              <a:avLst/>
            </a:prstGeom>
            <a:no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Outcome of 2nd coin</a:t>
              </a:r>
            </a:p>
          </p:txBody>
        </p:sp>
      </p:grpSp>
      <p:sp>
        <p:nvSpPr>
          <p:cNvPr id="41" name="TextBox 40"/>
          <p:cNvSpPr txBox="1"/>
          <p:nvPr/>
        </p:nvSpPr>
        <p:spPr>
          <a:xfrm>
            <a:off x="6698407" y="1612054"/>
            <a:ext cx="1785107" cy="646331"/>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en-US"/>
            </a:defPPr>
            <a:lvl1pPr algn="ctr">
              <a:defRPr sz="1600" b="1" kern="0">
                <a:solidFill>
                  <a:prstClr val="white"/>
                </a:solidFill>
                <a:latin typeface="Bookman Old Style" panose="02050604050505020204" pitchFamily="18" charset="0"/>
              </a:defRPr>
            </a:lvl1pPr>
          </a:lstStyle>
          <a:p>
            <a:r>
              <a:rPr lang="en-US" dirty="0"/>
              <a:t>Outcome of 1st die</a:t>
            </a:r>
          </a:p>
        </p:txBody>
      </p:sp>
      <p:sp>
        <p:nvSpPr>
          <p:cNvPr id="6" name="Rectangle 5"/>
          <p:cNvSpPr/>
          <p:nvPr/>
        </p:nvSpPr>
        <p:spPr>
          <a:xfrm>
            <a:off x="5207071" y="2464316"/>
            <a:ext cx="341760" cy="369332"/>
          </a:xfrm>
          <a:prstGeom prst="rect">
            <a:avLst/>
          </a:prstGeom>
        </p:spPr>
        <p:txBody>
          <a:bodyPr wrap="none">
            <a:spAutoFit/>
          </a:bodyPr>
          <a:lstStyle/>
          <a:p>
            <a:r>
              <a:rPr lang="en-US" b="1" dirty="0" smtClean="0">
                <a:solidFill>
                  <a:prstClr val="black"/>
                </a:solidFill>
                <a:latin typeface="Bookman Old Style" pitchFamily="18" charset="0"/>
              </a:rPr>
              <a:t>n</a:t>
            </a:r>
            <a:endParaRPr lang="en-US" b="1" dirty="0">
              <a:solidFill>
                <a:prstClr val="black"/>
              </a:solidFill>
              <a:latin typeface="Bookman Old Style" pitchFamily="18" charset="0"/>
            </a:endParaRPr>
          </a:p>
        </p:txBody>
      </p:sp>
      <p:sp>
        <p:nvSpPr>
          <p:cNvPr id="40" name="Rectangle 39"/>
          <p:cNvSpPr/>
          <p:nvPr/>
        </p:nvSpPr>
        <p:spPr>
          <a:xfrm>
            <a:off x="4953000" y="3409950"/>
            <a:ext cx="341760" cy="369332"/>
          </a:xfrm>
          <a:prstGeom prst="rect">
            <a:avLst/>
          </a:prstGeom>
        </p:spPr>
        <p:txBody>
          <a:bodyPr wrap="none">
            <a:spAutoFit/>
          </a:bodyPr>
          <a:lstStyle/>
          <a:p>
            <a:r>
              <a:rPr lang="en-US" b="1" dirty="0" smtClean="0">
                <a:solidFill>
                  <a:prstClr val="black"/>
                </a:solidFill>
                <a:latin typeface="Bookman Old Style" pitchFamily="18" charset="0"/>
              </a:rPr>
              <a:t>n</a:t>
            </a:r>
            <a:endParaRPr lang="en-US" b="1" dirty="0">
              <a:solidFill>
                <a:prstClr val="black"/>
              </a:solidFill>
              <a:latin typeface="Bookman Old Style" pitchFamily="18" charset="0"/>
            </a:endParaRPr>
          </a:p>
        </p:txBody>
      </p:sp>
    </p:spTree>
    <p:extLst>
      <p:ext uri="{BB962C8B-B14F-4D97-AF65-F5344CB8AC3E}">
        <p14:creationId xmlns:p14="http://schemas.microsoft.com/office/powerpoint/2010/main" val="395275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1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10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2"/>
                                        </p:tgtEl>
                                      </p:cBhvr>
                                    </p:animEffect>
                                    <p:set>
                                      <p:cBhvr>
                                        <p:cTn id="29" dur="1" fill="hold">
                                          <p:stCondLst>
                                            <p:cond delay="499"/>
                                          </p:stCondLst>
                                        </p:cTn>
                                        <p:tgtEl>
                                          <p:spTgt spid="2"/>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3"/>
                                        </p:tgtEl>
                                      </p:cBhvr>
                                    </p:animEffect>
                                    <p:set>
                                      <p:cBhvr>
                                        <p:cTn id="32" dur="1" fill="hold">
                                          <p:stCondLst>
                                            <p:cond delay="499"/>
                                          </p:stCondLst>
                                        </p:cTn>
                                        <p:tgtEl>
                                          <p:spTgt spid="3"/>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nodeType="clickEffect">
                                  <p:stCondLst>
                                    <p:cond delay="0"/>
                                  </p:stCondLst>
                                  <p:childTnLst>
                                    <p:animEffect transition="out" filter="fade">
                                      <p:cBhvr>
                                        <p:cTn id="42" dur="500"/>
                                        <p:tgtEl>
                                          <p:spTgt spid="27"/>
                                        </p:tgtEl>
                                      </p:cBhvr>
                                    </p:animEffect>
                                    <p:set>
                                      <p:cBhvr>
                                        <p:cTn id="43" dur="1" fill="hold">
                                          <p:stCondLst>
                                            <p:cond delay="499"/>
                                          </p:stCondLst>
                                        </p:cTn>
                                        <p:tgtEl>
                                          <p:spTgt spid="27"/>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par>
                                <p:cTn id="47" presetID="22" presetClass="entr" presetSubtype="8" fill="hold" nodeType="with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animEffect transition="in" filter="wipe(left)">
                                      <p:cBhvr>
                                        <p:cTn id="49" dur="1000"/>
                                        <p:tgtEl>
                                          <p:spTgt spid="5">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left)">
                                      <p:cBhvr>
                                        <p:cTn id="54" dur="500"/>
                                        <p:tgtEl>
                                          <p:spTgt spid="33"/>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33"/>
                                        </p:tgtEl>
                                      </p:cBhvr>
                                    </p:animEffect>
                                    <p:set>
                                      <p:cBhvr>
                                        <p:cTn id="61" dur="1" fill="hold">
                                          <p:stCondLst>
                                            <p:cond delay="499"/>
                                          </p:stCondLst>
                                        </p:cTn>
                                        <p:tgtEl>
                                          <p:spTgt spid="33"/>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13"/>
                                        </p:tgtEl>
                                      </p:cBhvr>
                                    </p:animEffect>
                                    <p:set>
                                      <p:cBhvr>
                                        <p:cTn id="64" dur="1" fill="hold">
                                          <p:stCondLst>
                                            <p:cond delay="499"/>
                                          </p:stCondLst>
                                        </p:cTn>
                                        <p:tgtEl>
                                          <p:spTgt spid="13"/>
                                        </p:tgtEl>
                                        <p:attrNameLst>
                                          <p:attrName>style.visibility</p:attrName>
                                        </p:attrNameLst>
                                      </p:cBhvr>
                                      <p:to>
                                        <p:strVal val="hidden"/>
                                      </p:to>
                                    </p:set>
                                  </p:childTnLst>
                                </p:cTn>
                              </p:par>
                              <p:par>
                                <p:cTn id="65" presetID="22" presetClass="entr" presetSubtype="8"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500"/>
                                        <p:tgtEl>
                                          <p:spTgt spid="36"/>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500"/>
                                        <p:tgtEl>
                                          <p:spTgt spid="36"/>
                                        </p:tgtEl>
                                      </p:cBhvr>
                                    </p:animEffect>
                                    <p:set>
                                      <p:cBhvr>
                                        <p:cTn id="74" dur="1" fill="hold">
                                          <p:stCondLst>
                                            <p:cond delay="499"/>
                                          </p:stCondLst>
                                        </p:cTn>
                                        <p:tgtEl>
                                          <p:spTgt spid="36"/>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500"/>
                                        <p:tgtEl>
                                          <p:spTgt spid="25"/>
                                        </p:tgtEl>
                                      </p:cBhvr>
                                    </p:animEffect>
                                    <p:set>
                                      <p:cBhvr>
                                        <p:cTn id="77" dur="1" fill="hold">
                                          <p:stCondLst>
                                            <p:cond delay="499"/>
                                          </p:stCondLst>
                                        </p:cTn>
                                        <p:tgtEl>
                                          <p:spTgt spid="25"/>
                                        </p:tgtEl>
                                        <p:attrNameLst>
                                          <p:attrName>style.visibility</p:attrName>
                                        </p:attrNameLst>
                                      </p:cBhvr>
                                      <p:to>
                                        <p:strVal val="hidden"/>
                                      </p:to>
                                    </p:set>
                                  </p:childTnLst>
                                </p:cTn>
                              </p:par>
                              <p:par>
                                <p:cTn id="78" presetID="22" presetClass="entr" presetSubtype="8"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par>
                                <p:cTn id="81" presetID="1"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5">
                                            <p:txEl>
                                              <p:pRg st="3" end="3"/>
                                            </p:txEl>
                                          </p:spTgt>
                                        </p:tgtEl>
                                        <p:attrNameLst>
                                          <p:attrName>style.visibility</p:attrName>
                                        </p:attrNameLst>
                                      </p:cBhvr>
                                      <p:to>
                                        <p:strVal val="visible"/>
                                      </p:to>
                                    </p:set>
                                    <p:animEffect transition="in" filter="wipe(left)">
                                      <p:cBhvr>
                                        <p:cTn id="87" dur="1000"/>
                                        <p:tgtEl>
                                          <p:spTgt spid="5">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wipe(down)">
                                      <p:cBhvr>
                                        <p:cTn id="92" dur="500"/>
                                        <p:tgtEl>
                                          <p:spTgt spid="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500"/>
                                        <p:tgtEl>
                                          <p:spTgt spid="30"/>
                                        </p:tgtEl>
                                      </p:cBhvr>
                                    </p:animEffect>
                                    <p:set>
                                      <p:cBhvr>
                                        <p:cTn id="97" dur="1" fill="hold">
                                          <p:stCondLst>
                                            <p:cond delay="499"/>
                                          </p:stCondLst>
                                        </p:cTn>
                                        <p:tgtEl>
                                          <p:spTgt spid="30"/>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26"/>
                                        </p:tgtEl>
                                      </p:cBhvr>
                                    </p:animEffect>
                                    <p:set>
                                      <p:cBhvr>
                                        <p:cTn id="100" dur="1" fill="hold">
                                          <p:stCondLst>
                                            <p:cond delay="499"/>
                                          </p:stCondLst>
                                        </p:cTn>
                                        <p:tgtEl>
                                          <p:spTgt spid="26"/>
                                        </p:tgtEl>
                                        <p:attrNameLst>
                                          <p:attrName>style.visibility</p:attrName>
                                        </p:attrNameLst>
                                      </p:cBhvr>
                                      <p:to>
                                        <p:strVal val="hidden"/>
                                      </p:to>
                                    </p:set>
                                  </p:childTnLst>
                                </p:cTn>
                              </p:par>
                              <p:par>
                                <p:cTn id="101" presetID="22" presetClass="entr" presetSubtype="8" fill="hold" nodeType="withEffect">
                                  <p:stCondLst>
                                    <p:cond delay="0"/>
                                  </p:stCondLst>
                                  <p:childTnLst>
                                    <p:set>
                                      <p:cBhvr>
                                        <p:cTn id="102" dur="1" fill="hold">
                                          <p:stCondLst>
                                            <p:cond delay="0"/>
                                          </p:stCondLst>
                                        </p:cTn>
                                        <p:tgtEl>
                                          <p:spTgt spid="5">
                                            <p:txEl>
                                              <p:pRg st="4" end="4"/>
                                            </p:txEl>
                                          </p:spTgt>
                                        </p:tgtEl>
                                        <p:attrNameLst>
                                          <p:attrName>style.visibility</p:attrName>
                                        </p:attrNameLst>
                                      </p:cBhvr>
                                      <p:to>
                                        <p:strVal val="visible"/>
                                      </p:to>
                                    </p:set>
                                    <p:animEffect transition="in" filter="wipe(left)">
                                      <p:cBhvr>
                                        <p:cTn id="103" dur="1000"/>
                                        <p:tgtEl>
                                          <p:spTgt spid="5">
                                            <p:txEl>
                                              <p:pRg st="4" end="4"/>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5">
                                            <p:txEl>
                                              <p:pRg st="5" end="5"/>
                                            </p:txEl>
                                          </p:spTgt>
                                        </p:tgtEl>
                                        <p:attrNameLst>
                                          <p:attrName>style.visibility</p:attrName>
                                        </p:attrNameLst>
                                      </p:cBhvr>
                                      <p:to>
                                        <p:strVal val="visible"/>
                                      </p:to>
                                    </p:set>
                                    <p:animEffect transition="in" filter="wipe(left)">
                                      <p:cBhvr>
                                        <p:cTn id="108" dur="1000"/>
                                        <p:tgtEl>
                                          <p:spTgt spid="5">
                                            <p:txEl>
                                              <p:pRg st="5" end="5"/>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wipe(left)">
                                      <p:cBhvr>
                                        <p:cTn id="117" dur="500"/>
                                        <p:tgtEl>
                                          <p:spTgt spid="41"/>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xit" presetSubtype="0" fill="hold" grpId="1" nodeType="clickEffect">
                                  <p:stCondLst>
                                    <p:cond delay="0"/>
                                  </p:stCondLst>
                                  <p:childTnLst>
                                    <p:animEffect transition="out" filter="fade">
                                      <p:cBhvr>
                                        <p:cTn id="121" dur="500"/>
                                        <p:tgtEl>
                                          <p:spTgt spid="41"/>
                                        </p:tgtEl>
                                      </p:cBhvr>
                                    </p:animEffect>
                                    <p:set>
                                      <p:cBhvr>
                                        <p:cTn id="122" dur="1" fill="hold">
                                          <p:stCondLst>
                                            <p:cond delay="499"/>
                                          </p:stCondLst>
                                        </p:cTn>
                                        <p:tgtEl>
                                          <p:spTgt spid="41"/>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20"/>
                                        </p:tgtEl>
                                      </p:cBhvr>
                                    </p:animEffect>
                                    <p:set>
                                      <p:cBhvr>
                                        <p:cTn id="125" dur="1" fill="hold">
                                          <p:stCondLst>
                                            <p:cond delay="499"/>
                                          </p:stCondLst>
                                        </p:cTn>
                                        <p:tgtEl>
                                          <p:spTgt spid="20"/>
                                        </p:tgtEl>
                                        <p:attrNameLst>
                                          <p:attrName>style.visibility</p:attrName>
                                        </p:attrNameLst>
                                      </p:cBhvr>
                                      <p:to>
                                        <p:strVal val="hidden"/>
                                      </p:to>
                                    </p:set>
                                  </p:childTnLst>
                                </p:cTn>
                              </p:par>
                              <p:par>
                                <p:cTn id="126" presetID="1" presetClass="entr" presetSubtype="0" fill="hold" grpId="0" nodeType="withEffect">
                                  <p:stCondLst>
                                    <p:cond delay="0"/>
                                  </p:stCondLst>
                                  <p:childTnLst>
                                    <p:set>
                                      <p:cBhvr>
                                        <p:cTn id="127" dur="1" fill="hold">
                                          <p:stCondLst>
                                            <p:cond delay="0"/>
                                          </p:stCondLst>
                                        </p:cTn>
                                        <p:tgtEl>
                                          <p:spTgt spid="21"/>
                                        </p:tgtEl>
                                        <p:attrNameLst>
                                          <p:attrName>style.visibility</p:attrName>
                                        </p:attrNameLst>
                                      </p:cBhvr>
                                      <p:to>
                                        <p:strVal val="visible"/>
                                      </p:to>
                                    </p:set>
                                  </p:childTnLst>
                                </p:cTn>
                              </p:par>
                              <p:par>
                                <p:cTn id="128" presetID="22" presetClass="entr" presetSubtype="8" fill="hold" nodeType="withEffect">
                                  <p:stCondLst>
                                    <p:cond delay="0"/>
                                  </p:stCondLst>
                                  <p:childTnLst>
                                    <p:set>
                                      <p:cBhvr>
                                        <p:cTn id="129" dur="1" fill="hold">
                                          <p:stCondLst>
                                            <p:cond delay="0"/>
                                          </p:stCondLst>
                                        </p:cTn>
                                        <p:tgtEl>
                                          <p:spTgt spid="22"/>
                                        </p:tgtEl>
                                        <p:attrNameLst>
                                          <p:attrName>style.visibility</p:attrName>
                                        </p:attrNameLst>
                                      </p:cBhvr>
                                      <p:to>
                                        <p:strVal val="visible"/>
                                      </p:to>
                                    </p:set>
                                    <p:animEffect transition="in" filter="wipe(left)">
                                      <p:cBhvr>
                                        <p:cTn id="130" dur="500"/>
                                        <p:tgtEl>
                                          <p:spTgt spid="22"/>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5">
                                            <p:txEl>
                                              <p:pRg st="6" end="6"/>
                                            </p:txEl>
                                          </p:spTgt>
                                        </p:tgtEl>
                                        <p:attrNameLst>
                                          <p:attrName>style.visibility</p:attrName>
                                        </p:attrNameLst>
                                      </p:cBhvr>
                                      <p:to>
                                        <p:strVal val="visible"/>
                                      </p:to>
                                    </p:set>
                                    <p:animEffect transition="in" filter="wipe(left)">
                                      <p:cBhvr>
                                        <p:cTn id="135" dur="1000"/>
                                        <p:tgtEl>
                                          <p:spTgt spid="5">
                                            <p:txEl>
                                              <p:pRg st="6" end="6"/>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40"/>
                                        </p:tgtEl>
                                        <p:attrNameLst>
                                          <p:attrName>style.visibility</p:attrName>
                                        </p:attrNameLst>
                                      </p:cBhvr>
                                      <p:to>
                                        <p:strVal val="visible"/>
                                      </p:to>
                                    </p:set>
                                    <p:animEffect transition="in" filter="wipe(down)">
                                      <p:cBhvr>
                                        <p:cTn id="14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1" grpId="0" animBg="1"/>
      <p:bldP spid="20" grpId="0" animBg="1"/>
      <p:bldP spid="20" grpId="1" animBg="1"/>
      <p:bldP spid="13" grpId="0" animBg="1"/>
      <p:bldP spid="13" grpId="1" animBg="1"/>
      <p:bldP spid="9" grpId="0" animBg="1"/>
      <p:bldP spid="9" grpId="1" animBg="1"/>
      <p:bldP spid="3" grpId="0" animBg="1"/>
      <p:bldP spid="3" grpId="1" animBg="1"/>
      <p:bldP spid="4" grpId="0" animBg="1"/>
      <p:bldP spid="41" grpId="0" animBg="1"/>
      <p:bldP spid="41" grpId="1" animBg="1"/>
      <p:bldP spid="6"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8744" y="514350"/>
            <a:ext cx="7821373" cy="923330"/>
          </a:xfrm>
          <a:prstGeom prst="rect">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wrap="none" lIns="91440" tIns="45720" rIns="91440" bIns="45720">
            <a:spAutoFit/>
          </a:bodyPr>
          <a:lstStyle/>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Outcome </a:t>
            </a: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o</a:t>
            </a: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rPr>
              <a:t>f Playing cards</a:t>
            </a:r>
            <a:endPar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itchFamily="18" charset="0"/>
              <a:cs typeface="Times New Roman" pitchFamily="18" charset="0"/>
            </a:endParaRPr>
          </a:p>
        </p:txBody>
      </p:sp>
      <p:pic>
        <p:nvPicPr>
          <p:cNvPr id="15362" name="Picture 2" descr="1000+ Playing Cards Pictures | Download Free Images on Unspl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419622"/>
            <a:ext cx="5976664"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3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par>
                          <p:cTn id="11" fill="hold">
                            <p:stCondLst>
                              <p:cond delay="1000"/>
                            </p:stCondLst>
                            <p:childTnLst>
                              <p:par>
                                <p:cTn id="12" presetID="6" presetClass="entr" presetSubtype="16" fill="hold" nodeType="afterEffect">
                                  <p:stCondLst>
                                    <p:cond delay="0"/>
                                  </p:stCondLst>
                                  <p:childTnLst>
                                    <p:set>
                                      <p:cBhvr>
                                        <p:cTn id="13" dur="1" fill="hold">
                                          <p:stCondLst>
                                            <p:cond delay="0"/>
                                          </p:stCondLst>
                                        </p:cTn>
                                        <p:tgtEl>
                                          <p:spTgt spid="15362"/>
                                        </p:tgtEl>
                                        <p:attrNameLst>
                                          <p:attrName>style.visibility</p:attrName>
                                        </p:attrNameLst>
                                      </p:cBhvr>
                                      <p:to>
                                        <p:strVal val="visible"/>
                                      </p:to>
                                    </p:set>
                                    <p:animEffect transition="in" filter="circle(in)">
                                      <p:cBhvr>
                                        <p:cTn id="14" dur="20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ound Diagonal Corner Rectangle 60"/>
          <p:cNvSpPr/>
          <p:nvPr/>
        </p:nvSpPr>
        <p:spPr>
          <a:xfrm>
            <a:off x="3419872" y="195486"/>
            <a:ext cx="2880320" cy="577544"/>
          </a:xfrm>
          <a:prstGeom prst="round2DiagRect">
            <a:avLst/>
          </a:prstGeom>
          <a:solidFill>
            <a:srgbClr val="800000"/>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r>
              <a:rPr lang="en-US" sz="2800" b="1" kern="0" dirty="0" smtClean="0">
                <a:solidFill>
                  <a:prstClr val="white"/>
                </a:solidFill>
                <a:latin typeface="Bookman Old Style" panose="02050604050505020204" pitchFamily="18" charset="0"/>
              </a:rPr>
              <a:t>Playing Cards</a:t>
            </a:r>
            <a:endParaRPr lang="en-US" sz="2800" b="1" kern="0" dirty="0">
              <a:solidFill>
                <a:prstClr val="white"/>
              </a:solidFill>
              <a:latin typeface="Bookman Old Style" panose="02050604050505020204" pitchFamily="18" charset="0"/>
            </a:endParaRPr>
          </a:p>
        </p:txBody>
      </p:sp>
      <p:pic>
        <p:nvPicPr>
          <p:cNvPr id="79" name="Picture 7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37" y="1224637"/>
            <a:ext cx="5118721" cy="2451735"/>
          </a:xfrm>
          <a:prstGeom prst="rect">
            <a:avLst/>
          </a:prstGeom>
        </p:spPr>
      </p:pic>
      <p:grpSp>
        <p:nvGrpSpPr>
          <p:cNvPr id="54" name="Group 53"/>
          <p:cNvGrpSpPr/>
          <p:nvPr/>
        </p:nvGrpSpPr>
        <p:grpSpPr>
          <a:xfrm>
            <a:off x="6444209" y="1893933"/>
            <a:ext cx="2371719" cy="2480459"/>
            <a:chOff x="4159395" y="2301091"/>
            <a:chExt cx="2371719" cy="2480459"/>
          </a:xfrm>
        </p:grpSpPr>
        <p:sp>
          <p:nvSpPr>
            <p:cNvPr id="55" name="Rounded Rectangular Callout 54"/>
            <p:cNvSpPr/>
            <p:nvPr/>
          </p:nvSpPr>
          <p:spPr>
            <a:xfrm>
              <a:off x="4159395" y="2301091"/>
              <a:ext cx="2371719" cy="2480459"/>
            </a:xfrm>
            <a:prstGeom prst="wedgeRoundRectCallout">
              <a:avLst>
                <a:gd name="adj1" fmla="val -49185"/>
                <a:gd name="adj2" fmla="val 55090"/>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56" name="Group 55"/>
            <p:cNvGrpSpPr/>
            <p:nvPr/>
          </p:nvGrpSpPr>
          <p:grpSpPr>
            <a:xfrm>
              <a:off x="4339413" y="2446741"/>
              <a:ext cx="2011682" cy="2189159"/>
              <a:chOff x="4340858" y="2457450"/>
              <a:chExt cx="2011682" cy="2189159"/>
            </a:xfrm>
          </p:grpSpPr>
          <p:pic>
            <p:nvPicPr>
              <p:cNvPr id="57" name="Picture 56" descr="windows-playing-cards.png"/>
              <p:cNvPicPr>
                <a:picLocks noChangeAspect="1"/>
              </p:cNvPicPr>
              <p:nvPr/>
            </p:nvPicPr>
            <p:blipFill rotWithShape="1">
              <a:blip r:embed="rId4" cstate="print"/>
              <a:srcRect l="76851" t="74909"/>
              <a:stretch/>
            </p:blipFill>
            <p:spPr>
              <a:xfrm>
                <a:off x="4340858" y="4087414"/>
                <a:ext cx="2011682" cy="559195"/>
              </a:xfrm>
              <a:prstGeom prst="rect">
                <a:avLst/>
              </a:prstGeom>
            </p:spPr>
          </p:pic>
          <p:pic>
            <p:nvPicPr>
              <p:cNvPr id="58" name="Picture 57" descr="windows-playing-cards.png"/>
              <p:cNvPicPr>
                <a:picLocks noChangeAspect="1"/>
              </p:cNvPicPr>
              <p:nvPr/>
            </p:nvPicPr>
            <p:blipFill rotWithShape="1">
              <a:blip r:embed="rId4" cstate="print"/>
              <a:srcRect l="76803" r="48" b="74909"/>
              <a:stretch/>
            </p:blipFill>
            <p:spPr>
              <a:xfrm>
                <a:off x="4340858" y="2457450"/>
                <a:ext cx="2011682" cy="542925"/>
              </a:xfrm>
              <a:prstGeom prst="rect">
                <a:avLst/>
              </a:prstGeom>
            </p:spPr>
          </p:pic>
          <p:pic>
            <p:nvPicPr>
              <p:cNvPr id="59" name="Picture 58" descr="windows-playing-cards.png"/>
              <p:cNvPicPr>
                <a:picLocks noChangeAspect="1"/>
              </p:cNvPicPr>
              <p:nvPr/>
            </p:nvPicPr>
            <p:blipFill rotWithShape="1">
              <a:blip r:embed="rId4" cstate="print"/>
              <a:srcRect l="76733" t="24909" r="118" b="50000"/>
              <a:stretch/>
            </p:blipFill>
            <p:spPr>
              <a:xfrm>
                <a:off x="4340858" y="3000375"/>
                <a:ext cx="2011682" cy="541729"/>
              </a:xfrm>
              <a:prstGeom prst="rect">
                <a:avLst/>
              </a:prstGeom>
            </p:spPr>
          </p:pic>
          <p:pic>
            <p:nvPicPr>
              <p:cNvPr id="60" name="Picture 59" descr="windows-playing-cards.png"/>
              <p:cNvPicPr>
                <a:picLocks noChangeAspect="1"/>
              </p:cNvPicPr>
              <p:nvPr/>
            </p:nvPicPr>
            <p:blipFill rotWithShape="1">
              <a:blip r:embed="rId4" cstate="print"/>
              <a:srcRect l="76645" t="50075" r="206" b="24834"/>
              <a:stretch/>
            </p:blipFill>
            <p:spPr>
              <a:xfrm>
                <a:off x="4340858" y="3548063"/>
                <a:ext cx="2011682" cy="546491"/>
              </a:xfrm>
              <a:prstGeom prst="rect">
                <a:avLst/>
              </a:prstGeom>
            </p:spPr>
          </p:pic>
        </p:grpSp>
      </p:grpSp>
      <p:sp>
        <p:nvSpPr>
          <p:cNvPr id="68" name="TextBox 67"/>
          <p:cNvSpPr txBox="1"/>
          <p:nvPr/>
        </p:nvSpPr>
        <p:spPr>
          <a:xfrm>
            <a:off x="621037" y="843558"/>
            <a:ext cx="5823171" cy="338554"/>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defRPr/>
            </a:pPr>
            <a:r>
              <a:rPr lang="en-US" sz="1600" b="1" kern="0" dirty="0" smtClean="0">
                <a:solidFill>
                  <a:prstClr val="white"/>
                </a:solidFill>
                <a:latin typeface="Bookman Old Style" pitchFamily="18" charset="0"/>
              </a:rPr>
              <a:t>1. There are total 52 cards.</a:t>
            </a:r>
            <a:endParaRPr lang="en-IN" sz="1600" kern="0" dirty="0">
              <a:solidFill>
                <a:prstClr val="white"/>
              </a:solidFill>
              <a:latin typeface="Bookman Old Style" pitchFamily="18" charset="0"/>
            </a:endParaRPr>
          </a:p>
        </p:txBody>
      </p:sp>
      <p:sp>
        <p:nvSpPr>
          <p:cNvPr id="69" name="TextBox 68"/>
          <p:cNvSpPr txBox="1"/>
          <p:nvPr/>
        </p:nvSpPr>
        <p:spPr>
          <a:xfrm>
            <a:off x="621036" y="1334512"/>
            <a:ext cx="5823172" cy="338554"/>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defRPr/>
            </a:pPr>
            <a:r>
              <a:rPr lang="en-US" sz="1600" b="1" kern="0" dirty="0" smtClean="0">
                <a:solidFill>
                  <a:prstClr val="white"/>
                </a:solidFill>
                <a:latin typeface="Bookman Old Style" pitchFamily="18" charset="0"/>
              </a:rPr>
              <a:t>2. It comprises of 13 cards each of the four suits.</a:t>
            </a:r>
            <a:endParaRPr lang="en-IN" sz="1600" kern="0" dirty="0">
              <a:solidFill>
                <a:prstClr val="white"/>
              </a:solidFill>
              <a:latin typeface="Bookman Old Style" pitchFamily="18" charset="0"/>
            </a:endParaRPr>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4227" y="773030"/>
            <a:ext cx="5524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6693" y="715880"/>
            <a:ext cx="6667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0947" y="1405985"/>
            <a:ext cx="5905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4854" y="1382358"/>
            <a:ext cx="7620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TextBox 70"/>
          <p:cNvSpPr txBox="1"/>
          <p:nvPr/>
        </p:nvSpPr>
        <p:spPr>
          <a:xfrm>
            <a:off x="621037" y="1893933"/>
            <a:ext cx="5823172" cy="338554"/>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defRPr/>
            </a:pPr>
            <a:r>
              <a:rPr lang="en-US" sz="1600" b="1" kern="0" dirty="0">
                <a:solidFill>
                  <a:prstClr val="white"/>
                </a:solidFill>
                <a:latin typeface="Bookman Old Style" pitchFamily="18" charset="0"/>
              </a:rPr>
              <a:t>3</a:t>
            </a:r>
            <a:r>
              <a:rPr lang="en-US" sz="1600" b="1" kern="0" dirty="0" smtClean="0">
                <a:solidFill>
                  <a:prstClr val="white"/>
                </a:solidFill>
                <a:latin typeface="Bookman Old Style" pitchFamily="18" charset="0"/>
              </a:rPr>
              <a:t>. There are total 26 black cards and 26 red cards.</a:t>
            </a:r>
            <a:endParaRPr lang="en-IN" sz="1600" kern="0" dirty="0">
              <a:solidFill>
                <a:prstClr val="white"/>
              </a:solidFill>
              <a:latin typeface="Bookman Old Style" pitchFamily="18" charset="0"/>
            </a:endParaRPr>
          </a:p>
        </p:txBody>
      </p:sp>
      <p:sp>
        <p:nvSpPr>
          <p:cNvPr id="72" name="TextBox 71"/>
          <p:cNvSpPr txBox="1"/>
          <p:nvPr/>
        </p:nvSpPr>
        <p:spPr>
          <a:xfrm>
            <a:off x="594622" y="2377212"/>
            <a:ext cx="5823172" cy="584775"/>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defRPr/>
            </a:pPr>
            <a:r>
              <a:rPr lang="en-US" sz="1600" b="1" kern="0" dirty="0" smtClean="0">
                <a:solidFill>
                  <a:prstClr val="white"/>
                </a:solidFill>
                <a:latin typeface="Bookman Old Style" pitchFamily="18" charset="0"/>
              </a:rPr>
              <a:t>4. Each suit includes 3 face cards: King , Queen and   </a:t>
            </a:r>
          </a:p>
          <a:p>
            <a:pPr>
              <a:defRPr/>
            </a:pPr>
            <a:r>
              <a:rPr lang="en-US" sz="1600" b="1" kern="0" dirty="0">
                <a:solidFill>
                  <a:prstClr val="white"/>
                </a:solidFill>
                <a:latin typeface="Bookman Old Style" pitchFamily="18" charset="0"/>
              </a:rPr>
              <a:t> </a:t>
            </a:r>
            <a:r>
              <a:rPr lang="en-US" sz="1600" b="1" kern="0" dirty="0" smtClean="0">
                <a:solidFill>
                  <a:prstClr val="white"/>
                </a:solidFill>
                <a:latin typeface="Bookman Old Style" pitchFamily="18" charset="0"/>
              </a:rPr>
              <a:t>   Jack, a total of 12 face cards.</a:t>
            </a:r>
            <a:endParaRPr lang="en-IN" sz="1600" kern="0" dirty="0">
              <a:solidFill>
                <a:prstClr val="white"/>
              </a:solidFill>
              <a:latin typeface="Bookman Old Style" pitchFamily="18" charset="0"/>
            </a:endParaRPr>
          </a:p>
        </p:txBody>
      </p:sp>
    </p:spTree>
    <p:extLst>
      <p:ext uri="{BB962C8B-B14F-4D97-AF65-F5344CB8AC3E}">
        <p14:creationId xmlns:p14="http://schemas.microsoft.com/office/powerpoint/2010/main" val="2082327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left)">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left)">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79"/>
                                        </p:tgtEl>
                                      </p:cBhvr>
                                    </p:animEffect>
                                    <p:set>
                                      <p:cBhvr>
                                        <p:cTn id="17" dur="1" fill="hold">
                                          <p:stCondLst>
                                            <p:cond delay="499"/>
                                          </p:stCondLst>
                                        </p:cTn>
                                        <p:tgtEl>
                                          <p:spTgt spid="7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left)">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21506"/>
                                        </p:tgtEl>
                                        <p:attrNameLst>
                                          <p:attrName>style.visibility</p:attrName>
                                        </p:attrNameLst>
                                      </p:cBhvr>
                                      <p:to>
                                        <p:strVal val="visible"/>
                                      </p:to>
                                    </p:set>
                                    <p:animEffect transition="in" filter="circle(in)">
                                      <p:cBhvr>
                                        <p:cTn id="27" dur="2000"/>
                                        <p:tgtEl>
                                          <p:spTgt spid="21506"/>
                                        </p:tgtEl>
                                      </p:cBhvr>
                                    </p:animEffect>
                                  </p:childTnLst>
                                </p:cTn>
                              </p:par>
                            </p:childTnLst>
                          </p:cTn>
                        </p:par>
                        <p:par>
                          <p:cTn id="28" fill="hold">
                            <p:stCondLst>
                              <p:cond delay="2000"/>
                            </p:stCondLst>
                            <p:childTnLst>
                              <p:par>
                                <p:cTn id="29" presetID="6" presetClass="entr" presetSubtype="16" fill="hold" nodeType="afterEffect">
                                  <p:stCondLst>
                                    <p:cond delay="0"/>
                                  </p:stCondLst>
                                  <p:childTnLst>
                                    <p:set>
                                      <p:cBhvr>
                                        <p:cTn id="30" dur="1" fill="hold">
                                          <p:stCondLst>
                                            <p:cond delay="0"/>
                                          </p:stCondLst>
                                        </p:cTn>
                                        <p:tgtEl>
                                          <p:spTgt spid="21507"/>
                                        </p:tgtEl>
                                        <p:attrNameLst>
                                          <p:attrName>style.visibility</p:attrName>
                                        </p:attrNameLst>
                                      </p:cBhvr>
                                      <p:to>
                                        <p:strVal val="visible"/>
                                      </p:to>
                                    </p:set>
                                    <p:animEffect transition="in" filter="circle(in)">
                                      <p:cBhvr>
                                        <p:cTn id="31" dur="2000"/>
                                        <p:tgtEl>
                                          <p:spTgt spid="21507"/>
                                        </p:tgtEl>
                                      </p:cBhvr>
                                    </p:animEffect>
                                  </p:childTnLst>
                                </p:cTn>
                              </p:par>
                            </p:childTnLst>
                          </p:cTn>
                        </p:par>
                        <p:par>
                          <p:cTn id="32" fill="hold">
                            <p:stCondLst>
                              <p:cond delay="4000"/>
                            </p:stCondLst>
                            <p:childTnLst>
                              <p:par>
                                <p:cTn id="33" presetID="6" presetClass="entr" presetSubtype="16" fill="hold" nodeType="afterEffect">
                                  <p:stCondLst>
                                    <p:cond delay="0"/>
                                  </p:stCondLst>
                                  <p:childTnLst>
                                    <p:set>
                                      <p:cBhvr>
                                        <p:cTn id="34" dur="1" fill="hold">
                                          <p:stCondLst>
                                            <p:cond delay="0"/>
                                          </p:stCondLst>
                                        </p:cTn>
                                        <p:tgtEl>
                                          <p:spTgt spid="21508"/>
                                        </p:tgtEl>
                                        <p:attrNameLst>
                                          <p:attrName>style.visibility</p:attrName>
                                        </p:attrNameLst>
                                      </p:cBhvr>
                                      <p:to>
                                        <p:strVal val="visible"/>
                                      </p:to>
                                    </p:set>
                                    <p:animEffect transition="in" filter="circle(in)">
                                      <p:cBhvr>
                                        <p:cTn id="35" dur="2000"/>
                                        <p:tgtEl>
                                          <p:spTgt spid="21508"/>
                                        </p:tgtEl>
                                      </p:cBhvr>
                                    </p:animEffect>
                                  </p:childTnLst>
                                </p:cTn>
                              </p:par>
                            </p:childTnLst>
                          </p:cTn>
                        </p:par>
                        <p:par>
                          <p:cTn id="36" fill="hold">
                            <p:stCondLst>
                              <p:cond delay="6000"/>
                            </p:stCondLst>
                            <p:childTnLst>
                              <p:par>
                                <p:cTn id="37" presetID="6" presetClass="entr" presetSubtype="16" fill="hold" nodeType="afterEffect">
                                  <p:stCondLst>
                                    <p:cond delay="0"/>
                                  </p:stCondLst>
                                  <p:childTnLst>
                                    <p:set>
                                      <p:cBhvr>
                                        <p:cTn id="38" dur="1" fill="hold">
                                          <p:stCondLst>
                                            <p:cond delay="0"/>
                                          </p:stCondLst>
                                        </p:cTn>
                                        <p:tgtEl>
                                          <p:spTgt spid="21509"/>
                                        </p:tgtEl>
                                        <p:attrNameLst>
                                          <p:attrName>style.visibility</p:attrName>
                                        </p:attrNameLst>
                                      </p:cBhvr>
                                      <p:to>
                                        <p:strVal val="visible"/>
                                      </p:to>
                                    </p:set>
                                    <p:animEffect transition="in" filter="circle(in)">
                                      <p:cBhvr>
                                        <p:cTn id="39" dur="2000"/>
                                        <p:tgtEl>
                                          <p:spTgt spid="2150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wipe(left)">
                                      <p:cBhvr>
                                        <p:cTn id="44" dur="500"/>
                                        <p:tgtEl>
                                          <p:spTgt spid="7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wipe(left)">
                                      <p:cBhvr>
                                        <p:cTn id="49" dur="500"/>
                                        <p:tgtEl>
                                          <p:spTgt spid="7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wipe(left)">
                                      <p:cBhvr>
                                        <p:cTn id="54" dur="500"/>
                                        <p:tgtEl>
                                          <p:spTgt spid="5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500"/>
                                        <p:tgtEl>
                                          <p:spTgt spid="54"/>
                                        </p:tgtEl>
                                      </p:cBhvr>
                                    </p:animEffect>
                                    <p:set>
                                      <p:cBhvr>
                                        <p:cTn id="59" dur="1" fill="hold">
                                          <p:stCondLst>
                                            <p:cond delay="499"/>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1" grpId="0" animBg="1"/>
      <p:bldP spid="7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25"/>
          <p:cNvSpPr/>
          <p:nvPr/>
        </p:nvSpPr>
        <p:spPr>
          <a:xfrm flipH="1" flipV="1">
            <a:off x="878163" y="1863997"/>
            <a:ext cx="191241" cy="246594"/>
          </a:xfrm>
          <a:prstGeom prst="roundRect">
            <a:avLst/>
          </a:prstGeom>
          <a:solidFill>
            <a:srgbClr val="FFC0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Rounded Rectangle 24"/>
          <p:cNvSpPr/>
          <p:nvPr/>
        </p:nvSpPr>
        <p:spPr>
          <a:xfrm flipH="1" flipV="1">
            <a:off x="1041227" y="1855964"/>
            <a:ext cx="89215" cy="271253"/>
          </a:xfrm>
          <a:prstGeom prst="roundRect">
            <a:avLst/>
          </a:prstGeom>
          <a:solidFill>
            <a:srgbClr val="FFC0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4" name="Rounded Rectangle 23"/>
          <p:cNvSpPr/>
          <p:nvPr/>
        </p:nvSpPr>
        <p:spPr>
          <a:xfrm flipH="1" flipV="1">
            <a:off x="813732" y="1855964"/>
            <a:ext cx="89215" cy="271253"/>
          </a:xfrm>
          <a:prstGeom prst="roundRect">
            <a:avLst/>
          </a:prstGeom>
          <a:solidFill>
            <a:srgbClr val="FFC0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Rounded Rectangle 22"/>
          <p:cNvSpPr/>
          <p:nvPr/>
        </p:nvSpPr>
        <p:spPr>
          <a:xfrm flipH="1" flipV="1">
            <a:off x="643210" y="1833148"/>
            <a:ext cx="191241" cy="271253"/>
          </a:xfrm>
          <a:prstGeom prst="roundRect">
            <a:avLst/>
          </a:prstGeom>
          <a:solidFill>
            <a:srgbClr val="FFC000"/>
          </a:solidFill>
          <a:ln>
            <a:noFill/>
          </a:ln>
          <a:effectLst/>
          <a:scene3d>
            <a:camera prst="orthographicFront">
              <a:rot lat="0" lon="0" rev="0"/>
            </a:camera>
            <a:lightRig rig="glow" dir="t">
              <a:rot lat="0" lon="0" rev="4800000"/>
            </a:lightRig>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p:nvSpPr>
        <p:spPr>
          <a:xfrm>
            <a:off x="879279" y="637354"/>
            <a:ext cx="7342908" cy="791695"/>
          </a:xfrm>
          <a:prstGeom prst="rect">
            <a:avLst/>
          </a:prstGeom>
          <a:solidFill>
            <a:srgbClr val="7030A0"/>
          </a:solidFill>
          <a:ln>
            <a:noFill/>
          </a:ln>
          <a:effectLst/>
          <a:scene3d>
            <a:camera prst="orthographicFront">
              <a:rot lat="0" lon="0" rev="0"/>
            </a:camera>
            <a:lightRig rig="threePt" dir="t">
              <a:rot lat="0" lon="0" rev="1200000"/>
            </a:lightRig>
          </a:scene3d>
          <a:sp3d>
            <a:bevelT/>
          </a:sp3d>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b="0" i="0" u="none" strike="noStrike" kern="0" cap="none" spc="0" normalizeH="0" baseline="0">
                <a:ln>
                  <a:noFill/>
                </a:ln>
                <a:solidFill>
                  <a:sysClr val="window" lastClr="FFFFFF"/>
                </a:solidFill>
                <a:effectLst/>
                <a:uLnTx/>
                <a:uFillTx/>
                <a:latin typeface="Calibri"/>
              </a:defRPr>
            </a:lvl1pPr>
          </a:lstStyle>
          <a:p>
            <a:r>
              <a:rPr lang="en-US" sz="3600" b="1" dirty="0">
                <a:solidFill>
                  <a:prstClr val="white"/>
                </a:solidFill>
                <a:latin typeface="Bookman Old Style" pitchFamily="18" charset="0"/>
              </a:rPr>
              <a:t>PROBABILITY OF AN EVENT </a:t>
            </a:r>
            <a:endParaRPr lang="en-IN" sz="3600" b="1" dirty="0">
              <a:solidFill>
                <a:prstClr val="white"/>
              </a:solidFill>
              <a:latin typeface="Bookman Old Style" pitchFamily="18" charset="0"/>
            </a:endParaRPr>
          </a:p>
        </p:txBody>
      </p:sp>
      <p:sp>
        <p:nvSpPr>
          <p:cNvPr id="2" name="TextBox 1"/>
          <p:cNvSpPr txBox="1"/>
          <p:nvPr/>
        </p:nvSpPr>
        <p:spPr>
          <a:xfrm>
            <a:off x="581239" y="1785693"/>
            <a:ext cx="843501" cy="369332"/>
          </a:xfrm>
          <a:prstGeom prst="rect">
            <a:avLst/>
          </a:prstGeom>
          <a:noFill/>
        </p:spPr>
        <p:txBody>
          <a:bodyPr wrap="none" rtlCol="0">
            <a:spAutoFit/>
          </a:bodyPr>
          <a:lstStyle/>
          <a:p>
            <a:r>
              <a:rPr lang="en-US" dirty="0" smtClean="0">
                <a:solidFill>
                  <a:prstClr val="black"/>
                </a:solidFill>
                <a:latin typeface="Bookman Old Style" pitchFamily="18" charset="0"/>
              </a:rPr>
              <a:t>P(E) =</a:t>
            </a:r>
            <a:endParaRPr lang="en-US" dirty="0">
              <a:solidFill>
                <a:prstClr val="black"/>
              </a:solidFill>
              <a:latin typeface="Bookman Old Style" pitchFamily="18" charset="0"/>
            </a:endParaRPr>
          </a:p>
        </p:txBody>
      </p:sp>
      <p:sp>
        <p:nvSpPr>
          <p:cNvPr id="6" name="TextBox 5"/>
          <p:cNvSpPr txBox="1"/>
          <p:nvPr/>
        </p:nvSpPr>
        <p:spPr>
          <a:xfrm>
            <a:off x="2180847" y="1601027"/>
            <a:ext cx="4315605" cy="369332"/>
          </a:xfrm>
          <a:prstGeom prst="rect">
            <a:avLst/>
          </a:prstGeom>
          <a:noFill/>
        </p:spPr>
        <p:txBody>
          <a:bodyPr wrap="none" rtlCol="0">
            <a:spAutoFit/>
          </a:bodyPr>
          <a:lstStyle/>
          <a:p>
            <a:r>
              <a:rPr lang="en-US" dirty="0" smtClean="0">
                <a:solidFill>
                  <a:prstClr val="black"/>
                </a:solidFill>
                <a:latin typeface="Bookman Old Style" pitchFamily="18" charset="0"/>
              </a:rPr>
              <a:t>Number of outcomes </a:t>
            </a:r>
            <a:r>
              <a:rPr lang="en-US" dirty="0" err="1" smtClean="0">
                <a:solidFill>
                  <a:prstClr val="black"/>
                </a:solidFill>
                <a:latin typeface="Bookman Old Style" pitchFamily="18" charset="0"/>
              </a:rPr>
              <a:t>favourable</a:t>
            </a:r>
            <a:r>
              <a:rPr lang="en-US" dirty="0" smtClean="0">
                <a:solidFill>
                  <a:prstClr val="black"/>
                </a:solidFill>
                <a:latin typeface="Bookman Old Style" pitchFamily="18" charset="0"/>
              </a:rPr>
              <a:t> to E</a:t>
            </a:r>
            <a:endParaRPr lang="en-US" dirty="0">
              <a:solidFill>
                <a:prstClr val="black"/>
              </a:solidFill>
              <a:latin typeface="Bookman Old Style" pitchFamily="18" charset="0"/>
            </a:endParaRPr>
          </a:p>
        </p:txBody>
      </p:sp>
      <p:sp>
        <p:nvSpPr>
          <p:cNvPr id="7" name="TextBox 6"/>
          <p:cNvSpPr txBox="1"/>
          <p:nvPr/>
        </p:nvSpPr>
        <p:spPr>
          <a:xfrm>
            <a:off x="1385757" y="1954485"/>
            <a:ext cx="5905784" cy="369332"/>
          </a:xfrm>
          <a:prstGeom prst="rect">
            <a:avLst/>
          </a:prstGeom>
          <a:noFill/>
        </p:spPr>
        <p:txBody>
          <a:bodyPr wrap="none" rtlCol="0">
            <a:spAutoFit/>
          </a:bodyPr>
          <a:lstStyle/>
          <a:p>
            <a:r>
              <a:rPr lang="en-US" dirty="0" smtClean="0">
                <a:solidFill>
                  <a:prstClr val="black"/>
                </a:solidFill>
                <a:latin typeface="Bookman Old Style" pitchFamily="18" charset="0"/>
              </a:rPr>
              <a:t>Number of all possible outcomes of the experiment</a:t>
            </a:r>
            <a:endParaRPr lang="en-US" dirty="0">
              <a:solidFill>
                <a:prstClr val="black"/>
              </a:solidFill>
              <a:latin typeface="Bookman Old Style" pitchFamily="18" charset="0"/>
            </a:endParaRPr>
          </a:p>
        </p:txBody>
      </p:sp>
      <p:cxnSp>
        <p:nvCxnSpPr>
          <p:cNvPr id="4" name="Straight Connector 3"/>
          <p:cNvCxnSpPr/>
          <p:nvPr/>
        </p:nvCxnSpPr>
        <p:spPr>
          <a:xfrm>
            <a:off x="1513131" y="1975751"/>
            <a:ext cx="56510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1058606" y="2632847"/>
            <a:ext cx="1785107" cy="730991"/>
            <a:chOff x="4532400" y="2159517"/>
            <a:chExt cx="1785107" cy="730991"/>
          </a:xfrm>
        </p:grpSpPr>
        <p:sp>
          <p:nvSpPr>
            <p:cNvPr id="10" name="Rectangle 9"/>
            <p:cNvSpPr/>
            <p:nvPr/>
          </p:nvSpPr>
          <p:spPr>
            <a:xfrm>
              <a:off x="4572145" y="2159517"/>
              <a:ext cx="1705616" cy="730991"/>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p>
              <a:pPr algn="ctr"/>
              <a:endParaRPr lang="en-US" sz="1600" kern="0" dirty="0">
                <a:solidFill>
                  <a:prstClr val="black"/>
                </a:solidFill>
                <a:latin typeface="Bookman Old Style" pitchFamily="18" charset="0"/>
              </a:endParaRPr>
            </a:p>
          </p:txBody>
        </p:sp>
        <p:sp>
          <p:nvSpPr>
            <p:cNvPr id="11" name="TextBox 10"/>
            <p:cNvSpPr txBox="1"/>
            <p:nvPr/>
          </p:nvSpPr>
          <p:spPr>
            <a:xfrm>
              <a:off x="4532400" y="2201847"/>
              <a:ext cx="1785107" cy="646331"/>
            </a:xfrm>
            <a:prstGeom prst="rect">
              <a:avLst/>
            </a:prstGeom>
            <a:noFill/>
          </p:spPr>
          <p:txBody>
            <a:bodyPr wrap="square" rtlCol="0">
              <a:spAutoFit/>
            </a:bodyPr>
            <a:lstStyle/>
            <a:p>
              <a:pPr algn="ctr"/>
              <a:r>
                <a:rPr lang="en-US" b="1" dirty="0" smtClean="0">
                  <a:solidFill>
                    <a:prstClr val="black"/>
                  </a:solidFill>
                  <a:latin typeface="Bookman Old Style" pitchFamily="18" charset="0"/>
                </a:rPr>
                <a:t>P stands for probability</a:t>
              </a:r>
              <a:endParaRPr lang="en-US" b="1" dirty="0">
                <a:solidFill>
                  <a:prstClr val="black"/>
                </a:solidFill>
                <a:latin typeface="Bookman Old Style" pitchFamily="18" charset="0"/>
              </a:endParaRPr>
            </a:p>
          </p:txBody>
        </p:sp>
      </p:grpSp>
      <p:grpSp>
        <p:nvGrpSpPr>
          <p:cNvPr id="14" name="Group 13"/>
          <p:cNvGrpSpPr/>
          <p:nvPr/>
        </p:nvGrpSpPr>
        <p:grpSpPr>
          <a:xfrm>
            <a:off x="1047436" y="2632847"/>
            <a:ext cx="1785107" cy="730991"/>
            <a:chOff x="4532400" y="2159517"/>
            <a:chExt cx="1785107" cy="730991"/>
          </a:xfrm>
        </p:grpSpPr>
        <p:sp>
          <p:nvSpPr>
            <p:cNvPr id="15" name="Rectangle 14"/>
            <p:cNvSpPr/>
            <p:nvPr/>
          </p:nvSpPr>
          <p:spPr>
            <a:xfrm>
              <a:off x="4572145" y="2159517"/>
              <a:ext cx="1705616" cy="730991"/>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p>
              <a:pPr algn="ctr"/>
              <a:endParaRPr lang="en-US" sz="1600" kern="0" dirty="0">
                <a:solidFill>
                  <a:prstClr val="black"/>
                </a:solidFill>
                <a:latin typeface="Bookman Old Style" pitchFamily="18" charset="0"/>
              </a:endParaRPr>
            </a:p>
          </p:txBody>
        </p:sp>
        <p:sp>
          <p:nvSpPr>
            <p:cNvPr id="16" name="TextBox 15"/>
            <p:cNvSpPr txBox="1"/>
            <p:nvPr/>
          </p:nvSpPr>
          <p:spPr>
            <a:xfrm>
              <a:off x="4532400" y="2201847"/>
              <a:ext cx="1785107" cy="646331"/>
            </a:xfrm>
            <a:prstGeom prst="rect">
              <a:avLst/>
            </a:prstGeom>
            <a:noFill/>
          </p:spPr>
          <p:txBody>
            <a:bodyPr wrap="square" rtlCol="0">
              <a:spAutoFit/>
            </a:bodyPr>
            <a:lstStyle/>
            <a:p>
              <a:pPr algn="ctr"/>
              <a:r>
                <a:rPr lang="en-US" b="1" dirty="0" smtClean="0">
                  <a:solidFill>
                    <a:prstClr val="black"/>
                  </a:solidFill>
                  <a:latin typeface="Bookman Old Style" pitchFamily="18" charset="0"/>
                </a:rPr>
                <a:t>Bracket stands for of</a:t>
              </a:r>
              <a:endParaRPr lang="en-US" b="1" dirty="0">
                <a:solidFill>
                  <a:prstClr val="black"/>
                </a:solidFill>
                <a:latin typeface="Bookman Old Style" pitchFamily="18" charset="0"/>
              </a:endParaRPr>
            </a:p>
          </p:txBody>
        </p:sp>
      </p:grpSp>
      <p:grpSp>
        <p:nvGrpSpPr>
          <p:cNvPr id="20" name="Group 19"/>
          <p:cNvGrpSpPr/>
          <p:nvPr/>
        </p:nvGrpSpPr>
        <p:grpSpPr>
          <a:xfrm>
            <a:off x="894881" y="2628617"/>
            <a:ext cx="2756093" cy="730991"/>
            <a:chOff x="4539766" y="2159517"/>
            <a:chExt cx="2756093" cy="730991"/>
          </a:xfrm>
        </p:grpSpPr>
        <p:sp>
          <p:nvSpPr>
            <p:cNvPr id="21" name="Rectangle 20"/>
            <p:cNvSpPr/>
            <p:nvPr/>
          </p:nvSpPr>
          <p:spPr>
            <a:xfrm>
              <a:off x="4572145" y="2159517"/>
              <a:ext cx="2723714" cy="730991"/>
            </a:xfrm>
            <a:prstGeom prst="rect">
              <a:avLst/>
            </a:prstGeom>
            <a:solidFill>
              <a:srgbClr val="99FF99"/>
            </a:solidFill>
            <a:ln w="19050">
              <a:solidFill>
                <a:sysClr val="windowText" lastClr="000000"/>
              </a:solidFill>
            </a:ln>
            <a:effectLst/>
            <a:scene3d>
              <a:camera prst="orthographicFront">
                <a:rot lat="0" lon="0" rev="0"/>
              </a:camera>
              <a:lightRig rig="contrasting" dir="t">
                <a:rot lat="0" lon="0" rev="1500000"/>
              </a:lightRig>
            </a:scene3d>
            <a:sp3d prstMaterial="metal">
              <a:bevelT w="88900" h="88900"/>
            </a:sp3d>
          </p:spPr>
          <p:txBody>
            <a:bodyPr rtlCol="0" anchor="ctr"/>
            <a:lstStyle/>
            <a:p>
              <a:pPr algn="ctr"/>
              <a:endParaRPr lang="en-US" sz="1600" kern="0" dirty="0">
                <a:solidFill>
                  <a:prstClr val="black"/>
                </a:solidFill>
                <a:latin typeface="Bookman Old Style" pitchFamily="18" charset="0"/>
              </a:endParaRPr>
            </a:p>
          </p:txBody>
        </p:sp>
        <p:sp>
          <p:nvSpPr>
            <p:cNvPr id="22" name="TextBox 21"/>
            <p:cNvSpPr txBox="1"/>
            <p:nvPr/>
          </p:nvSpPr>
          <p:spPr>
            <a:xfrm>
              <a:off x="4539766" y="2201847"/>
              <a:ext cx="2756093" cy="646331"/>
            </a:xfrm>
            <a:prstGeom prst="rect">
              <a:avLst/>
            </a:prstGeom>
            <a:noFill/>
          </p:spPr>
          <p:txBody>
            <a:bodyPr wrap="square" rtlCol="0">
              <a:spAutoFit/>
            </a:bodyPr>
            <a:lstStyle/>
            <a:p>
              <a:pPr algn="ctr"/>
              <a:r>
                <a:rPr lang="en-US" b="1" dirty="0" smtClean="0">
                  <a:solidFill>
                    <a:prstClr val="black"/>
                  </a:solidFill>
                  <a:latin typeface="Bookman Old Style" pitchFamily="18" charset="0"/>
                </a:rPr>
                <a:t>An event is denoted by capital letter.</a:t>
              </a:r>
              <a:endParaRPr lang="en-US" b="1" dirty="0">
                <a:solidFill>
                  <a:prstClr val="black"/>
                </a:solidFill>
                <a:latin typeface="Bookman Old Style" pitchFamily="18" charset="0"/>
              </a:endParaRPr>
            </a:p>
          </p:txBody>
        </p:sp>
      </p:grpSp>
      <mc:AlternateContent xmlns:mc="http://schemas.openxmlformats.org/markup-compatibility/2006" xmlns:a14="http://schemas.microsoft.com/office/drawing/2010/main">
        <mc:Choice Requires="a14">
          <p:sp>
            <p:nvSpPr>
              <p:cNvPr id="3" name="Rectangle 2"/>
              <p:cNvSpPr/>
              <p:nvPr/>
            </p:nvSpPr>
            <p:spPr>
              <a:xfrm>
                <a:off x="899920" y="3638550"/>
                <a:ext cx="2261453" cy="400815"/>
              </a:xfrm>
              <a:prstGeom prst="rect">
                <a:avLst/>
              </a:prstGeom>
            </p:spPr>
            <p:txBody>
              <a:bodyPr wrap="none">
                <a:spAutoFit/>
              </a:bodyPr>
              <a:lstStyle/>
              <a:p>
                <a:r>
                  <a:rPr lang="en-US" sz="2000" dirty="0" smtClean="0">
                    <a:latin typeface="Times New Roman" pitchFamily="18" charset="0"/>
                    <a:cs typeface="Times New Roman" pitchFamily="18" charset="0"/>
                  </a:rPr>
                  <a:t>If </a:t>
                </a:r>
                <a14:m>
                  <m:oMath xmlns:m="http://schemas.openxmlformats.org/officeDocument/2006/math">
                    <m:acc>
                      <m:accPr>
                        <m:chr m:val="̅"/>
                        <m:ctrlPr>
                          <a:rPr lang="en-US" sz="2000" i="1" dirty="0" smtClean="0">
                            <a:latin typeface="Cambria Math"/>
                          </a:rPr>
                        </m:ctrlPr>
                      </m:accPr>
                      <m:e>
                        <m:r>
                          <a:rPr lang="en-US" sz="2000" b="0" i="1" dirty="0" smtClean="0">
                            <a:latin typeface="Cambria Math"/>
                          </a:rPr>
                          <m:t>𝐴</m:t>
                        </m:r>
                      </m:e>
                    </m:acc>
                  </m:oMath>
                </a14:m>
                <a:r>
                  <a:rPr lang="en-US" sz="2000" dirty="0">
                    <a:latin typeface="Times New Roman" pitchFamily="18" charset="0"/>
                    <a:cs typeface="Times New Roman" pitchFamily="18" charset="0"/>
                  </a:rPr>
                  <a:t> denotes (not-A)</a:t>
                </a:r>
              </a:p>
            </p:txBody>
          </p:sp>
        </mc:Choice>
        <mc:Fallback xmlns="">
          <p:sp>
            <p:nvSpPr>
              <p:cNvPr id="3" name="Rectangle 2"/>
              <p:cNvSpPr>
                <a:spLocks noRot="1" noChangeAspect="1" noMove="1" noResize="1" noEditPoints="1" noAdjustHandles="1" noChangeArrowheads="1" noChangeShapeType="1" noTextEdit="1"/>
              </p:cNvSpPr>
              <p:nvPr/>
            </p:nvSpPr>
            <p:spPr>
              <a:xfrm>
                <a:off x="899920" y="3638550"/>
                <a:ext cx="2261453" cy="400815"/>
              </a:xfrm>
              <a:prstGeom prst="rect">
                <a:avLst/>
              </a:prstGeom>
              <a:blipFill rotWithShape="1">
                <a:blip r:embed="rId3"/>
                <a:stretch>
                  <a:fillRect l="-2965" t="-7576" r="-5121"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276600" y="3638550"/>
                <a:ext cx="2832763" cy="400815"/>
              </a:xfrm>
              <a:prstGeom prst="rect">
                <a:avLst/>
              </a:prstGeom>
            </p:spPr>
            <p:txBody>
              <a:bodyPr wrap="none">
                <a:spAutoFit/>
              </a:bodyPr>
              <a:lstStyle/>
              <a:p>
                <a:r>
                  <a:rPr lang="en-US" sz="2000" dirty="0" smtClean="0">
                    <a:latin typeface="Times New Roman" pitchFamily="18" charset="0"/>
                    <a:cs typeface="Times New Roman" pitchFamily="18" charset="0"/>
                  </a:rPr>
                  <a:t>then </a:t>
                </a:r>
                <a14:m>
                  <m:oMath xmlns:m="http://schemas.openxmlformats.org/officeDocument/2006/math">
                    <m:r>
                      <a:rPr lang="en-US" sz="2000" i="1" dirty="0" smtClean="0">
                        <a:latin typeface="Cambria Math"/>
                        <a:cs typeface="Times New Roman" pitchFamily="18" charset="0"/>
                      </a:rPr>
                      <m:t>𝑃</m:t>
                    </m:r>
                    <m:r>
                      <a:rPr lang="en-US" sz="2000" i="1" dirty="0" smtClean="0">
                        <a:latin typeface="Cambria Math"/>
                        <a:cs typeface="Times New Roman" pitchFamily="18" charset="0"/>
                      </a:rPr>
                      <m:t>(</m:t>
                    </m:r>
                    <m:acc>
                      <m:accPr>
                        <m:chr m:val="̅"/>
                        <m:ctrlPr>
                          <a:rPr lang="en-US" sz="2000" i="1" dirty="0" smtClean="0">
                            <a:latin typeface="Cambria Math"/>
                            <a:cs typeface="Times New Roman" pitchFamily="18" charset="0"/>
                          </a:rPr>
                        </m:ctrlPr>
                      </m:accPr>
                      <m:e>
                        <m:r>
                          <a:rPr lang="en-US" sz="2000" b="0" i="1" dirty="0" smtClean="0">
                            <a:latin typeface="Cambria Math"/>
                            <a:cs typeface="Times New Roman" pitchFamily="18" charset="0"/>
                          </a:rPr>
                          <m:t>𝐴</m:t>
                        </m:r>
                      </m:e>
                    </m:acc>
                    <m:r>
                      <a:rPr lang="en-US" sz="2000" i="1" dirty="0" smtClean="0">
                        <a:latin typeface="Cambria Math"/>
                        <a:cs typeface="Times New Roman" pitchFamily="18" charset="0"/>
                      </a:rPr>
                      <m:t>) = 1 − </m:t>
                    </m:r>
                    <m:r>
                      <a:rPr lang="en-US" sz="2000" i="1" dirty="0" smtClean="0">
                        <a:latin typeface="Cambria Math"/>
                        <a:cs typeface="Times New Roman" pitchFamily="18" charset="0"/>
                      </a:rPr>
                      <m:t>𝑃</m:t>
                    </m:r>
                    <m:r>
                      <a:rPr lang="en-US" sz="2000" i="1" dirty="0" smtClean="0">
                        <a:latin typeface="Cambria Math"/>
                        <a:cs typeface="Times New Roman" pitchFamily="18" charset="0"/>
                      </a:rPr>
                      <m:t>(</m:t>
                    </m:r>
                    <m:r>
                      <a:rPr lang="en-US" sz="2000" i="1" dirty="0" smtClean="0">
                        <a:latin typeface="Cambria Math"/>
                        <a:cs typeface="Times New Roman" pitchFamily="18" charset="0"/>
                      </a:rPr>
                      <m:t>𝐴</m:t>
                    </m:r>
                    <m:r>
                      <a:rPr lang="en-US" sz="2000" i="1" dirty="0" smtClean="0">
                        <a:latin typeface="Cambria Math"/>
                        <a:cs typeface="Times New Roman" pitchFamily="18" charset="0"/>
                      </a:rPr>
                      <m:t>).</m:t>
                    </m:r>
                  </m:oMath>
                </a14:m>
                <a:endParaRPr lang="en-US" sz="2000" dirty="0">
                  <a:latin typeface="Times New Roman" pitchFamily="18" charset="0"/>
                  <a:cs typeface="Times New Roman"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276600" y="3638550"/>
                <a:ext cx="2832763" cy="400815"/>
              </a:xfrm>
              <a:prstGeom prst="rect">
                <a:avLst/>
              </a:prstGeom>
              <a:blipFill rotWithShape="1">
                <a:blip r:embed="rId4"/>
                <a:stretch>
                  <a:fillRect l="-2371" t="-7576" r="-3664" b="-25758"/>
                </a:stretch>
              </a:blipFill>
            </p:spPr>
            <p:txBody>
              <a:bodyPr/>
              <a:lstStyle/>
              <a:p>
                <a:r>
                  <a:rPr lang="en-US">
                    <a:noFill/>
                  </a:rPr>
                  <a:t> </a:t>
                </a:r>
              </a:p>
            </p:txBody>
          </p:sp>
        </mc:Fallback>
      </mc:AlternateContent>
    </p:spTree>
    <p:extLst>
      <p:ext uri="{BB962C8B-B14F-4D97-AF65-F5344CB8AC3E}">
        <p14:creationId xmlns:p14="http://schemas.microsoft.com/office/powerpoint/2010/main" val="287170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23"/>
                                        </p:tgtEl>
                                      </p:cBhvr>
                                    </p:animEffect>
                                    <p:set>
                                      <p:cBhvr>
                                        <p:cTn id="39" dur="1" fill="hold">
                                          <p:stCondLst>
                                            <p:cond delay="499"/>
                                          </p:stCondLst>
                                        </p:cTn>
                                        <p:tgtEl>
                                          <p:spTgt spid="23"/>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500"/>
                                        <p:tgtEl>
                                          <p:spTgt spid="24"/>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24"/>
                                        </p:tgtEl>
                                      </p:cBhvr>
                                    </p:animEffect>
                                    <p:set>
                                      <p:cBhvr>
                                        <p:cTn id="57" dur="1" fill="hold">
                                          <p:stCondLst>
                                            <p:cond delay="499"/>
                                          </p:stCondLst>
                                        </p:cTn>
                                        <p:tgtEl>
                                          <p:spTgt spid="24"/>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25"/>
                                        </p:tgtEl>
                                      </p:cBhvr>
                                    </p:animEffect>
                                    <p:set>
                                      <p:cBhvr>
                                        <p:cTn id="60" dur="1" fill="hold">
                                          <p:stCondLst>
                                            <p:cond delay="499"/>
                                          </p:stCondLst>
                                        </p:cTn>
                                        <p:tgtEl>
                                          <p:spTgt spid="25"/>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14"/>
                                        </p:tgtEl>
                                      </p:cBhvr>
                                    </p:animEffect>
                                    <p:set>
                                      <p:cBhvr>
                                        <p:cTn id="63" dur="1" fill="hold">
                                          <p:stCondLst>
                                            <p:cond delay="499"/>
                                          </p:stCondLst>
                                        </p:cTn>
                                        <p:tgtEl>
                                          <p:spTgt spid="14"/>
                                        </p:tgtEl>
                                        <p:attrNameLst>
                                          <p:attrName>style.visibility</p:attrName>
                                        </p:attrNameLst>
                                      </p:cBhvr>
                                      <p:to>
                                        <p:strVal val="hidden"/>
                                      </p:to>
                                    </p:se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left)">
                                      <p:cBhvr>
                                        <p:cTn id="70" dur="50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wipe(left)">
                                      <p:cBhvr>
                                        <p:cTn id="75" dur="500"/>
                                        <p:tgtEl>
                                          <p:spTgt spid="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wipe(left)">
                                      <p:cBhvr>
                                        <p:cTn id="8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5" grpId="0" animBg="1"/>
      <p:bldP spid="25" grpId="1" animBg="1"/>
      <p:bldP spid="24" grpId="0" animBg="1"/>
      <p:bldP spid="24" grpId="1" animBg="1"/>
      <p:bldP spid="23" grpId="0" animBg="1"/>
      <p:bldP spid="23" grpId="1" animBg="1"/>
      <p:bldP spid="12" grpId="0" animBg="1"/>
      <p:bldP spid="2" grpId="0"/>
      <p:bldP spid="6" grpId="0"/>
      <p:bldP spid="7" grpId="0"/>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889026" y="2183366"/>
            <a:ext cx="6059238" cy="469233"/>
          </a:xfrm>
          <a:prstGeom prst="roundRect">
            <a:avLst/>
          </a:prstGeom>
          <a:solidFill>
            <a:srgbClr val="99FF99"/>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sp>
        <p:nvSpPr>
          <p:cNvPr id="19" name="Rounded Rectangle 18"/>
          <p:cNvSpPr/>
          <p:nvPr/>
        </p:nvSpPr>
        <p:spPr>
          <a:xfrm>
            <a:off x="889026" y="2842407"/>
            <a:ext cx="5915222" cy="657034"/>
          </a:xfrm>
          <a:prstGeom prst="roundRect">
            <a:avLst/>
          </a:prstGeom>
          <a:solidFill>
            <a:srgbClr val="99FF99"/>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sp>
        <p:nvSpPr>
          <p:cNvPr id="17" name="Rounded Rectangle 16"/>
          <p:cNvSpPr/>
          <p:nvPr/>
        </p:nvSpPr>
        <p:spPr>
          <a:xfrm>
            <a:off x="889026" y="1592905"/>
            <a:ext cx="4763094" cy="469233"/>
          </a:xfrm>
          <a:prstGeom prst="roundRect">
            <a:avLst/>
          </a:prstGeom>
          <a:solidFill>
            <a:srgbClr val="99FF99"/>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sp>
        <p:nvSpPr>
          <p:cNvPr id="16" name="Rounded Rectangle 15"/>
          <p:cNvSpPr/>
          <p:nvPr/>
        </p:nvSpPr>
        <p:spPr>
          <a:xfrm>
            <a:off x="889026" y="956724"/>
            <a:ext cx="4763094" cy="469233"/>
          </a:xfrm>
          <a:prstGeom prst="roundRect">
            <a:avLst/>
          </a:prstGeom>
          <a:solidFill>
            <a:srgbClr val="99FF99"/>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grpSp>
        <p:nvGrpSpPr>
          <p:cNvPr id="15" name="Group 14"/>
          <p:cNvGrpSpPr/>
          <p:nvPr/>
        </p:nvGrpSpPr>
        <p:grpSpPr>
          <a:xfrm>
            <a:off x="539552" y="388053"/>
            <a:ext cx="1361801" cy="3186253"/>
            <a:chOff x="251520" y="321601"/>
            <a:chExt cx="1361801" cy="3186253"/>
          </a:xfrm>
        </p:grpSpPr>
        <p:sp>
          <p:nvSpPr>
            <p:cNvPr id="9" name="Rectangle 8"/>
            <p:cNvSpPr/>
            <p:nvPr/>
          </p:nvSpPr>
          <p:spPr>
            <a:xfrm>
              <a:off x="251520" y="433214"/>
              <a:ext cx="914400" cy="123564"/>
            </a:xfrm>
            <a:prstGeom prst="rect">
              <a:avLst/>
            </a:prstGeom>
            <a:solidFill>
              <a:schemeClr val="tx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ounded Rectangle 7"/>
            <p:cNvSpPr/>
            <p:nvPr/>
          </p:nvSpPr>
          <p:spPr>
            <a:xfrm>
              <a:off x="602828" y="321601"/>
              <a:ext cx="1010493" cy="352541"/>
            </a:xfrm>
            <a:prstGeom prst="roundRect">
              <a:avLst/>
            </a:prstGeom>
            <a:solidFill>
              <a:srgbClr val="800000"/>
            </a:solidFill>
            <a:ln w="28575">
              <a:solidFill>
                <a:schemeClr val="tx1"/>
              </a:solidFill>
            </a:ln>
            <a:effectLst>
              <a:softEdge rad="12700"/>
            </a:effectLst>
            <a:scene3d>
              <a:camera prst="orthographicFront">
                <a:rot lat="0" lon="0" rev="0"/>
              </a:camera>
              <a:lightRig rig="threePt" dir="t">
                <a:rot lat="0" lon="0" rev="1200000"/>
              </a:lightRig>
            </a:scene3d>
            <a:sp3d>
              <a:bevelT/>
            </a:sp3d>
          </p:spPr>
          <p:txBody>
            <a:bodyPr rtlCol="0" anchor="ctr"/>
            <a:lstStyle/>
            <a:p>
              <a:pPr algn="ctr"/>
              <a:endParaRPr lang="en-US" sz="1600" b="1" kern="0">
                <a:solidFill>
                  <a:prstClr val="black"/>
                </a:solidFill>
                <a:latin typeface="Bookman Old Style" pitchFamily="18" charset="0"/>
              </a:endParaRPr>
            </a:p>
          </p:txBody>
        </p:sp>
        <p:sp>
          <p:nvSpPr>
            <p:cNvPr id="10" name="Rectangle 9"/>
            <p:cNvSpPr/>
            <p:nvPr/>
          </p:nvSpPr>
          <p:spPr>
            <a:xfrm rot="16200000">
              <a:off x="-1224017" y="1908752"/>
              <a:ext cx="3074640" cy="123564"/>
            </a:xfrm>
            <a:prstGeom prst="rect">
              <a:avLst/>
            </a:prstGeom>
            <a:solidFill>
              <a:schemeClr val="tx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 name="Rectangle 3"/>
          <p:cNvSpPr/>
          <p:nvPr/>
        </p:nvSpPr>
        <p:spPr>
          <a:xfrm>
            <a:off x="868040" y="352202"/>
            <a:ext cx="6630888" cy="3170099"/>
          </a:xfrm>
          <a:prstGeom prst="rect">
            <a:avLst/>
          </a:prstGeom>
        </p:spPr>
        <p:txBody>
          <a:bodyPr wrap="square">
            <a:spAutoFit/>
          </a:bodyPr>
          <a:lstStyle/>
          <a:p>
            <a:r>
              <a:rPr lang="en-US" sz="2000" b="1" dirty="0" smtClean="0">
                <a:solidFill>
                  <a:prstClr val="white"/>
                </a:solidFill>
                <a:latin typeface="Bookman Old Style" pitchFamily="18" charset="0"/>
              </a:rPr>
              <a:t>NOTE :</a:t>
            </a:r>
          </a:p>
          <a:p>
            <a:endParaRPr lang="en-US" sz="2000" b="1" dirty="0" smtClean="0">
              <a:solidFill>
                <a:prstClr val="black"/>
              </a:solidFill>
              <a:latin typeface="Bookman Old Style" pitchFamily="18" charset="0"/>
            </a:endParaRPr>
          </a:p>
          <a:p>
            <a:r>
              <a:rPr lang="en-US" sz="2000" b="1" dirty="0" smtClean="0">
                <a:solidFill>
                  <a:prstClr val="black"/>
                </a:solidFill>
                <a:latin typeface="Bookman Old Style" pitchFamily="18" charset="0"/>
              </a:rPr>
              <a:t>Probability of impossible event = 0</a:t>
            </a:r>
          </a:p>
          <a:p>
            <a:endParaRPr lang="en-US" sz="2000" b="1" dirty="0" smtClean="0">
              <a:solidFill>
                <a:prstClr val="black"/>
              </a:solidFill>
              <a:latin typeface="Bookman Old Style" pitchFamily="18" charset="0"/>
            </a:endParaRPr>
          </a:p>
          <a:p>
            <a:r>
              <a:rPr lang="en-US" sz="2000" b="1" dirty="0" smtClean="0">
                <a:solidFill>
                  <a:prstClr val="black"/>
                </a:solidFill>
                <a:latin typeface="Bookman Old Style" pitchFamily="18" charset="0"/>
              </a:rPr>
              <a:t>Probability of certain event = 1</a:t>
            </a:r>
          </a:p>
          <a:p>
            <a:endParaRPr lang="en-US" sz="2000" b="1" dirty="0" smtClean="0">
              <a:solidFill>
                <a:prstClr val="black"/>
              </a:solidFill>
              <a:latin typeface="Bookman Old Style" pitchFamily="18" charset="0"/>
            </a:endParaRPr>
          </a:p>
          <a:p>
            <a:r>
              <a:rPr lang="en-US" sz="2000" b="1" dirty="0" smtClean="0">
                <a:solidFill>
                  <a:prstClr val="black"/>
                </a:solidFill>
                <a:latin typeface="Bookman Old Style" pitchFamily="18" charset="0"/>
              </a:rPr>
              <a:t>Probability of any event lies between 0 and 1</a:t>
            </a:r>
          </a:p>
          <a:p>
            <a:endParaRPr lang="en-US" sz="2000" b="1" dirty="0" smtClean="0">
              <a:solidFill>
                <a:prstClr val="black"/>
              </a:solidFill>
              <a:latin typeface="Bookman Old Style" pitchFamily="18" charset="0"/>
            </a:endParaRPr>
          </a:p>
          <a:p>
            <a:r>
              <a:rPr lang="en-US" sz="2000" b="1" dirty="0" smtClean="0">
                <a:solidFill>
                  <a:prstClr val="black"/>
                </a:solidFill>
                <a:latin typeface="Bookman Old Style" pitchFamily="18" charset="0"/>
              </a:rPr>
              <a:t>Probability of any event cannot be negative</a:t>
            </a:r>
          </a:p>
          <a:p>
            <a:r>
              <a:rPr lang="en-US" sz="2000" b="1" dirty="0" smtClean="0">
                <a:solidFill>
                  <a:prstClr val="black"/>
                </a:solidFill>
                <a:latin typeface="Bookman Old Style" pitchFamily="18" charset="0"/>
              </a:rPr>
              <a:t>or it cannot be greater than 1</a:t>
            </a:r>
            <a:endParaRPr lang="en-US" sz="2000" b="1" dirty="0">
              <a:solidFill>
                <a:prstClr val="black"/>
              </a:solidFill>
              <a:latin typeface="Bookman Old Style" pitchFamily="18" charset="0"/>
            </a:endParaRPr>
          </a:p>
        </p:txBody>
      </p:sp>
      <p:sp>
        <p:nvSpPr>
          <p:cNvPr id="11" name="Isosceles Triangle 10"/>
          <p:cNvSpPr/>
          <p:nvPr/>
        </p:nvSpPr>
        <p:spPr>
          <a:xfrm rot="5400000">
            <a:off x="703183" y="1088187"/>
            <a:ext cx="190777" cy="180909"/>
          </a:xfrm>
          <a:prstGeom prst="triangle">
            <a:avLst/>
          </a:prstGeom>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prstClr val="black"/>
              </a:solidFill>
            </a:endParaRPr>
          </a:p>
        </p:txBody>
      </p:sp>
      <p:sp>
        <p:nvSpPr>
          <p:cNvPr id="12" name="Isosceles Triangle 11"/>
          <p:cNvSpPr/>
          <p:nvPr/>
        </p:nvSpPr>
        <p:spPr>
          <a:xfrm rot="5400000">
            <a:off x="703183" y="1728217"/>
            <a:ext cx="190777" cy="180909"/>
          </a:xfrm>
          <a:prstGeom prst="triangle">
            <a:avLst/>
          </a:prstGeom>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sp>
        <p:nvSpPr>
          <p:cNvPr id="13" name="Isosceles Triangle 12"/>
          <p:cNvSpPr/>
          <p:nvPr/>
        </p:nvSpPr>
        <p:spPr>
          <a:xfrm rot="5400000">
            <a:off x="703183" y="2283096"/>
            <a:ext cx="190777" cy="180909"/>
          </a:xfrm>
          <a:prstGeom prst="triangle">
            <a:avLst/>
          </a:prstGeom>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600" b="1" kern="0">
              <a:solidFill>
                <a:prstClr val="black"/>
              </a:solidFill>
              <a:latin typeface="Bookman Old Style" pitchFamily="18" charset="0"/>
            </a:endParaRPr>
          </a:p>
        </p:txBody>
      </p:sp>
      <p:sp>
        <p:nvSpPr>
          <p:cNvPr id="14" name="Isosceles Triangle 13"/>
          <p:cNvSpPr/>
          <p:nvPr/>
        </p:nvSpPr>
        <p:spPr>
          <a:xfrm rot="5400000">
            <a:off x="703183" y="2931168"/>
            <a:ext cx="190777" cy="180909"/>
          </a:xfrm>
          <a:prstGeom prst="triangle">
            <a:avLst/>
          </a:prstGeom>
          <a:solidFill>
            <a:srgbClr val="FF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prstClr val="black"/>
              </a:solidFill>
            </a:endParaRPr>
          </a:p>
        </p:txBody>
      </p:sp>
    </p:spTree>
    <p:extLst>
      <p:ext uri="{BB962C8B-B14F-4D97-AF65-F5344CB8AC3E}">
        <p14:creationId xmlns:p14="http://schemas.microsoft.com/office/powerpoint/2010/main" val="370953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22" presetClass="entr" presetSubtype="8"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left)">
                                      <p:cBhvr>
                                        <p:cTn id="22" dur="10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par>
                                <p:cTn id="32" presetID="22" presetClass="entr" presetSubtype="8" fill="hold" nodeType="withEffect">
                                  <p:stCondLst>
                                    <p:cond delay="0"/>
                                  </p:stCondLst>
                                  <p:childTnLst>
                                    <p:set>
                                      <p:cBhvr>
                                        <p:cTn id="33" dur="1" fill="hold">
                                          <p:stCondLst>
                                            <p:cond delay="0"/>
                                          </p:stCondLst>
                                        </p:cTn>
                                        <p:tgtEl>
                                          <p:spTgt spid="4">
                                            <p:txEl>
                                              <p:pRg st="4" end="4"/>
                                            </p:txEl>
                                          </p:spTgt>
                                        </p:tgtEl>
                                        <p:attrNameLst>
                                          <p:attrName>style.visibility</p:attrName>
                                        </p:attrNameLst>
                                      </p:cBhvr>
                                      <p:to>
                                        <p:strVal val="visible"/>
                                      </p:to>
                                    </p:set>
                                    <p:animEffect transition="in" filter="wipe(left)">
                                      <p:cBhvr>
                                        <p:cTn id="34" dur="1000"/>
                                        <p:tgtEl>
                                          <p:spTgt spid="4">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par>
                                <p:cTn id="44" presetID="22" presetClass="entr" presetSubtype="8" fill="hold" nodeType="with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animEffect transition="in" filter="wipe(left)">
                                      <p:cBhvr>
                                        <p:cTn id="46" dur="1000"/>
                                        <p:tgtEl>
                                          <p:spTgt spid="4">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par>
                                <p:cTn id="56" presetID="22" presetClass="entr" presetSubtype="8" fill="hold" nodeType="withEffect">
                                  <p:stCondLst>
                                    <p:cond delay="0"/>
                                  </p:stCondLst>
                                  <p:childTnLst>
                                    <p:set>
                                      <p:cBhvr>
                                        <p:cTn id="57" dur="1" fill="hold">
                                          <p:stCondLst>
                                            <p:cond delay="0"/>
                                          </p:stCondLst>
                                        </p:cTn>
                                        <p:tgtEl>
                                          <p:spTgt spid="4">
                                            <p:txEl>
                                              <p:pRg st="8" end="8"/>
                                            </p:txEl>
                                          </p:spTgt>
                                        </p:tgtEl>
                                        <p:attrNameLst>
                                          <p:attrName>style.visibility</p:attrName>
                                        </p:attrNameLst>
                                      </p:cBhvr>
                                      <p:to>
                                        <p:strVal val="visible"/>
                                      </p:to>
                                    </p:set>
                                    <p:animEffect transition="in" filter="wipe(left)">
                                      <p:cBhvr>
                                        <p:cTn id="58" dur="1000"/>
                                        <p:tgtEl>
                                          <p:spTgt spid="4">
                                            <p:txEl>
                                              <p:pRg st="8" end="8"/>
                                            </p:txEl>
                                          </p:spTgt>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Effect transition="in" filter="wipe(left)">
                                      <p:cBhvr>
                                        <p:cTn id="62" dur="10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7" grpId="0" animBg="1"/>
      <p:bldP spid="16" grpId="0" animBg="1"/>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1412" y="627534"/>
            <a:ext cx="6479659" cy="369332"/>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US" dirty="0" smtClean="0">
                <a:solidFill>
                  <a:prstClr val="white"/>
                </a:solidFill>
                <a:latin typeface="Bookman Old Style" pitchFamily="18" charset="0"/>
              </a:rPr>
              <a:t>In all the questions of Probability, there are three steps:</a:t>
            </a:r>
            <a:endParaRPr lang="en-IN" dirty="0">
              <a:solidFill>
                <a:prstClr val="white"/>
              </a:solidFill>
              <a:latin typeface="Bookman Old Style" pitchFamily="18" charset="0"/>
            </a:endParaRPr>
          </a:p>
        </p:txBody>
      </p:sp>
      <p:sp>
        <p:nvSpPr>
          <p:cNvPr id="3" name="TextBox 2"/>
          <p:cNvSpPr txBox="1"/>
          <p:nvPr/>
        </p:nvSpPr>
        <p:spPr>
          <a:xfrm>
            <a:off x="141412" y="1122298"/>
            <a:ext cx="1051891" cy="369332"/>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pPr algn="ctr"/>
            <a:r>
              <a:rPr lang="en-US" dirty="0" smtClean="0">
                <a:solidFill>
                  <a:prstClr val="white"/>
                </a:solidFill>
                <a:latin typeface="Bookman Old Style" pitchFamily="18" charset="0"/>
              </a:rPr>
              <a:t>Step 1: </a:t>
            </a:r>
            <a:endParaRPr lang="en-IN" dirty="0">
              <a:solidFill>
                <a:prstClr val="white"/>
              </a:solidFill>
              <a:latin typeface="Bookman Old Style" pitchFamily="18" charset="0"/>
            </a:endParaRPr>
          </a:p>
        </p:txBody>
      </p:sp>
      <p:sp>
        <p:nvSpPr>
          <p:cNvPr id="4" name="TextBox 3"/>
          <p:cNvSpPr txBox="1"/>
          <p:nvPr/>
        </p:nvSpPr>
        <p:spPr>
          <a:xfrm>
            <a:off x="1144191" y="1103248"/>
            <a:ext cx="3175869" cy="369332"/>
          </a:xfrm>
          <a:prstGeom prst="rect">
            <a:avLst/>
          </a:prstGeom>
          <a:noFill/>
        </p:spPr>
        <p:txBody>
          <a:bodyPr wrap="none" rtlCol="0">
            <a:spAutoFit/>
          </a:bodyPr>
          <a:lstStyle/>
          <a:p>
            <a:r>
              <a:rPr lang="en-US" dirty="0" smtClean="0">
                <a:solidFill>
                  <a:prstClr val="white"/>
                </a:solidFill>
                <a:latin typeface="Bookman Old Style" pitchFamily="18" charset="0"/>
              </a:rPr>
              <a:t>Find total number of trials</a:t>
            </a:r>
            <a:endParaRPr lang="en-IN" dirty="0">
              <a:solidFill>
                <a:prstClr val="white"/>
              </a:solidFill>
              <a:latin typeface="Bookman Old Style" pitchFamily="18" charset="0"/>
            </a:endParaRPr>
          </a:p>
        </p:txBody>
      </p:sp>
      <p:sp>
        <p:nvSpPr>
          <p:cNvPr id="5" name="TextBox 4"/>
          <p:cNvSpPr txBox="1"/>
          <p:nvPr/>
        </p:nvSpPr>
        <p:spPr>
          <a:xfrm>
            <a:off x="141412" y="1573396"/>
            <a:ext cx="1051891" cy="369332"/>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pPr algn="ctr"/>
            <a:r>
              <a:rPr lang="en-US" dirty="0" smtClean="0">
                <a:solidFill>
                  <a:prstClr val="white"/>
                </a:solidFill>
                <a:latin typeface="Bookman Old Style" pitchFamily="18" charset="0"/>
              </a:rPr>
              <a:t>Step 2: </a:t>
            </a:r>
            <a:endParaRPr lang="en-IN" dirty="0">
              <a:solidFill>
                <a:prstClr val="white"/>
              </a:solidFill>
              <a:latin typeface="Bookman Old Style" pitchFamily="18" charset="0"/>
            </a:endParaRPr>
          </a:p>
        </p:txBody>
      </p:sp>
      <p:sp>
        <p:nvSpPr>
          <p:cNvPr id="6" name="TextBox 5"/>
          <p:cNvSpPr txBox="1"/>
          <p:nvPr/>
        </p:nvSpPr>
        <p:spPr>
          <a:xfrm>
            <a:off x="1144191" y="1554346"/>
            <a:ext cx="6186309" cy="369332"/>
          </a:xfrm>
          <a:prstGeom prst="rect">
            <a:avLst/>
          </a:prstGeom>
          <a:noFill/>
        </p:spPr>
        <p:txBody>
          <a:bodyPr wrap="none" rtlCol="0">
            <a:spAutoFit/>
          </a:bodyPr>
          <a:lstStyle/>
          <a:p>
            <a:r>
              <a:rPr lang="en-US" dirty="0" smtClean="0">
                <a:solidFill>
                  <a:prstClr val="white"/>
                </a:solidFill>
                <a:latin typeface="Bookman Old Style" pitchFamily="18" charset="0"/>
              </a:rPr>
              <a:t>Find the number of elements favorable  for the event </a:t>
            </a:r>
            <a:endParaRPr lang="en-IN" dirty="0">
              <a:solidFill>
                <a:prstClr val="white"/>
              </a:solidFill>
              <a:latin typeface="Bookman Old Style" pitchFamily="18" charset="0"/>
            </a:endParaRPr>
          </a:p>
        </p:txBody>
      </p:sp>
      <p:sp>
        <p:nvSpPr>
          <p:cNvPr id="7" name="TextBox 6"/>
          <p:cNvSpPr txBox="1"/>
          <p:nvPr/>
        </p:nvSpPr>
        <p:spPr>
          <a:xfrm>
            <a:off x="141412" y="2164742"/>
            <a:ext cx="1051891" cy="369332"/>
          </a:xfrm>
          <a:prstGeom prst="rect">
            <a:avLst/>
          </a:prstGeom>
        </p:spPr>
        <p:style>
          <a:lnRef idx="0">
            <a:schemeClr val="accent1"/>
          </a:lnRef>
          <a:fillRef idx="3">
            <a:schemeClr val="accent1"/>
          </a:fillRef>
          <a:effectRef idx="3">
            <a:schemeClr val="accent1"/>
          </a:effectRef>
          <a:fontRef idx="minor">
            <a:schemeClr val="lt1"/>
          </a:fontRef>
        </p:style>
        <p:txBody>
          <a:bodyPr wrap="none" rtlCol="0">
            <a:spAutoFit/>
          </a:bodyPr>
          <a:lstStyle/>
          <a:p>
            <a:pPr algn="ctr"/>
            <a:r>
              <a:rPr lang="en-US" dirty="0" smtClean="0">
                <a:solidFill>
                  <a:prstClr val="white"/>
                </a:solidFill>
                <a:latin typeface="Bookman Old Style" pitchFamily="18" charset="0"/>
              </a:rPr>
              <a:t>Step 3: </a:t>
            </a:r>
            <a:endParaRPr lang="en-IN" dirty="0">
              <a:solidFill>
                <a:prstClr val="white"/>
              </a:solidFill>
              <a:latin typeface="Bookman Old Style" pitchFamily="18" charset="0"/>
            </a:endParaRPr>
          </a:p>
        </p:txBody>
      </p:sp>
      <p:sp>
        <p:nvSpPr>
          <p:cNvPr id="8" name="TextBox 7"/>
          <p:cNvSpPr txBox="1"/>
          <p:nvPr/>
        </p:nvSpPr>
        <p:spPr>
          <a:xfrm>
            <a:off x="1144191" y="2164742"/>
            <a:ext cx="2836033" cy="369332"/>
          </a:xfrm>
          <a:prstGeom prst="rect">
            <a:avLst/>
          </a:prstGeom>
          <a:noFill/>
        </p:spPr>
        <p:txBody>
          <a:bodyPr wrap="none" rtlCol="0">
            <a:spAutoFit/>
          </a:bodyPr>
          <a:lstStyle/>
          <a:p>
            <a:r>
              <a:rPr lang="en-US" dirty="0" smtClean="0">
                <a:solidFill>
                  <a:prstClr val="white"/>
                </a:solidFill>
                <a:latin typeface="Bookman Old Style" pitchFamily="18" charset="0"/>
              </a:rPr>
              <a:t>Probability of any event</a:t>
            </a:r>
            <a:endParaRPr lang="en-IN" dirty="0">
              <a:solidFill>
                <a:prstClr val="white"/>
              </a:solidFill>
              <a:latin typeface="Bookman Old Style" pitchFamily="18" charset="0"/>
            </a:endParaRPr>
          </a:p>
        </p:txBody>
      </p:sp>
      <p:sp>
        <p:nvSpPr>
          <p:cNvPr id="9" name="Rectangle 8"/>
          <p:cNvSpPr/>
          <p:nvPr/>
        </p:nvSpPr>
        <p:spPr>
          <a:xfrm>
            <a:off x="3855784" y="2180131"/>
            <a:ext cx="312743" cy="338554"/>
          </a:xfrm>
          <a:prstGeom prst="rect">
            <a:avLst/>
          </a:prstGeom>
        </p:spPr>
        <p:txBody>
          <a:bodyPr wrap="square">
            <a:spAutoFit/>
          </a:bodyPr>
          <a:lstStyle/>
          <a:p>
            <a:r>
              <a:rPr lang="en-IN" sz="1600" dirty="0" smtClean="0">
                <a:solidFill>
                  <a:prstClr val="white"/>
                </a:solidFill>
                <a:latin typeface="Bookman Old Style" pitchFamily="18" charset="0"/>
              </a:rPr>
              <a:t>=</a:t>
            </a:r>
            <a:endParaRPr lang="en-US" sz="1600" b="1" i="1" dirty="0" smtClean="0">
              <a:solidFill>
                <a:prstClr val="white"/>
              </a:solidFill>
              <a:latin typeface="Bookman Old Style" pitchFamily="18" charset="0"/>
              <a:ea typeface="Cambria Math" pitchFamily="18" charset="0"/>
            </a:endParaRPr>
          </a:p>
        </p:txBody>
      </p:sp>
      <p:sp>
        <p:nvSpPr>
          <p:cNvPr id="10" name="Rectangle 9"/>
          <p:cNvSpPr/>
          <p:nvPr/>
        </p:nvSpPr>
        <p:spPr>
          <a:xfrm>
            <a:off x="4067944" y="1986394"/>
            <a:ext cx="6120680" cy="369332"/>
          </a:xfrm>
          <a:prstGeom prst="rect">
            <a:avLst/>
          </a:prstGeom>
        </p:spPr>
        <p:txBody>
          <a:bodyPr wrap="square">
            <a:spAutoFit/>
          </a:bodyPr>
          <a:lstStyle/>
          <a:p>
            <a:r>
              <a:rPr lang="en-US" dirty="0">
                <a:solidFill>
                  <a:prstClr val="white"/>
                </a:solidFill>
                <a:latin typeface="Bookman Old Style" pitchFamily="18" charset="0"/>
              </a:rPr>
              <a:t>number of elements favorable  for the event </a:t>
            </a:r>
            <a:endParaRPr lang="en-IN" dirty="0">
              <a:solidFill>
                <a:prstClr val="white"/>
              </a:solidFill>
              <a:latin typeface="Bookman Old Style" pitchFamily="18" charset="0"/>
            </a:endParaRPr>
          </a:p>
        </p:txBody>
      </p:sp>
      <p:cxnSp>
        <p:nvCxnSpPr>
          <p:cNvPr id="11" name="Straight Connector 10"/>
          <p:cNvCxnSpPr/>
          <p:nvPr/>
        </p:nvCxnSpPr>
        <p:spPr>
          <a:xfrm>
            <a:off x="4173860" y="2349408"/>
            <a:ext cx="4966617"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2" name="Rectangle 11"/>
          <p:cNvSpPr/>
          <p:nvPr/>
        </p:nvSpPr>
        <p:spPr>
          <a:xfrm>
            <a:off x="5400092" y="2346434"/>
            <a:ext cx="3456384" cy="369332"/>
          </a:xfrm>
          <a:prstGeom prst="rect">
            <a:avLst/>
          </a:prstGeom>
        </p:spPr>
        <p:txBody>
          <a:bodyPr wrap="square">
            <a:spAutoFit/>
          </a:bodyPr>
          <a:lstStyle/>
          <a:p>
            <a:r>
              <a:rPr lang="en-IN" dirty="0">
                <a:solidFill>
                  <a:prstClr val="white"/>
                </a:solidFill>
                <a:latin typeface="Bookman Old Style" pitchFamily="18" charset="0"/>
              </a:rPr>
              <a:t>Total number of </a:t>
            </a:r>
            <a:r>
              <a:rPr lang="en-IN" dirty="0" smtClean="0">
                <a:solidFill>
                  <a:prstClr val="white"/>
                </a:solidFill>
                <a:latin typeface="Bookman Old Style" pitchFamily="18" charset="0"/>
              </a:rPr>
              <a:t>trails</a:t>
            </a:r>
            <a:endParaRPr lang="en-US" b="1" i="1" dirty="0" smtClean="0">
              <a:solidFill>
                <a:prstClr val="white"/>
              </a:solidFill>
              <a:latin typeface="Bookman Old Style" pitchFamily="18" charset="0"/>
              <a:ea typeface="Cambria Math" pitchFamily="18" charset="0"/>
            </a:endParaRPr>
          </a:p>
        </p:txBody>
      </p:sp>
    </p:spTree>
    <p:extLst>
      <p:ext uri="{BB962C8B-B14F-4D97-AF65-F5344CB8AC3E}">
        <p14:creationId xmlns:p14="http://schemas.microsoft.com/office/powerpoint/2010/main" val="274649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p:bldP spid="10"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697043"/>
            <a:ext cx="8610600" cy="646331"/>
          </a:xfrm>
          <a:prstGeom prst="rect">
            <a:avLst/>
          </a:prstGeom>
        </p:spPr>
        <p:txBody>
          <a:bodyPr wrap="square">
            <a:spAutoFit/>
          </a:bodyPr>
          <a:lstStyle/>
          <a:p>
            <a:pPr algn="just"/>
            <a:r>
              <a:rPr lang="en-US" b="1" dirty="0">
                <a:latin typeface="Times New Roman" pitchFamily="18" charset="0"/>
                <a:cs typeface="Times New Roman" pitchFamily="18" charset="0"/>
              </a:rPr>
              <a:t>1. AND - Whenever we use AND as the natural conjunction joining </a:t>
            </a:r>
            <a:r>
              <a:rPr lang="en-US" dirty="0">
                <a:latin typeface="Times New Roman" pitchFamily="18" charset="0"/>
                <a:cs typeface="Times New Roman" pitchFamily="18" charset="0"/>
              </a:rPr>
              <a:t>two separate parts of even definitions, we replace the AND by the multiplication sign.</a:t>
            </a:r>
          </a:p>
        </p:txBody>
      </p:sp>
      <p:sp>
        <p:nvSpPr>
          <p:cNvPr id="4" name="Rectangle 3"/>
          <p:cNvSpPr/>
          <p:nvPr/>
        </p:nvSpPr>
        <p:spPr>
          <a:xfrm>
            <a:off x="304800" y="1343374"/>
            <a:ext cx="8382000" cy="646331"/>
          </a:xfrm>
          <a:prstGeom prst="rect">
            <a:avLst/>
          </a:prstGeom>
        </p:spPr>
        <p:txBody>
          <a:bodyPr wrap="square">
            <a:spAutoFit/>
          </a:bodyPr>
          <a:lstStyle/>
          <a:p>
            <a:pPr algn="just"/>
            <a:r>
              <a:rPr lang="en-US" b="1" dirty="0">
                <a:latin typeface="Times New Roman" pitchFamily="18" charset="0"/>
                <a:cs typeface="Times New Roman" pitchFamily="18" charset="0"/>
              </a:rPr>
              <a:t>E.g.: If probability of passing in an exam is 1/2 for A and </a:t>
            </a:r>
            <a:r>
              <a:rPr lang="en-US" dirty="0">
                <a:latin typeface="Times New Roman" pitchFamily="18" charset="0"/>
                <a:cs typeface="Times New Roman" pitchFamily="18" charset="0"/>
              </a:rPr>
              <a:t>probability of passing the same is 1/3 for B then probability of passing of A and B both is P(A) x P(B)</a:t>
            </a:r>
          </a:p>
        </p:txBody>
      </p:sp>
      <p:sp>
        <p:nvSpPr>
          <p:cNvPr id="5" name="Rectangle 4"/>
          <p:cNvSpPr/>
          <p:nvPr/>
        </p:nvSpPr>
        <p:spPr>
          <a:xfrm>
            <a:off x="6019800" y="1989705"/>
            <a:ext cx="1887055" cy="369332"/>
          </a:xfrm>
          <a:prstGeom prst="rect">
            <a:avLst/>
          </a:prstGeom>
        </p:spPr>
        <p:txBody>
          <a:bodyPr wrap="none">
            <a:spAutoFit/>
          </a:bodyPr>
          <a:lstStyle/>
          <a:p>
            <a:pPr algn="just"/>
            <a:r>
              <a:rPr lang="en-US" b="1" dirty="0">
                <a:latin typeface="Times New Roman" pitchFamily="18" charset="0"/>
                <a:cs typeface="Times New Roman" pitchFamily="18" charset="0"/>
              </a:rPr>
              <a:t>i.e. 1/2 x 1/3 = 1/6</a:t>
            </a:r>
          </a:p>
        </p:txBody>
      </p:sp>
      <p:sp>
        <p:nvSpPr>
          <p:cNvPr id="6" name="Rectangle 5"/>
          <p:cNvSpPr/>
          <p:nvPr/>
        </p:nvSpPr>
        <p:spPr>
          <a:xfrm>
            <a:off x="327836" y="2359037"/>
            <a:ext cx="8511363" cy="646331"/>
          </a:xfrm>
          <a:prstGeom prst="rect">
            <a:avLst/>
          </a:prstGeom>
        </p:spPr>
        <p:txBody>
          <a:bodyPr wrap="square">
            <a:spAutoFit/>
          </a:bodyPr>
          <a:lstStyle/>
          <a:p>
            <a:pPr algn="just"/>
            <a:r>
              <a:rPr lang="en-US" b="1" dirty="0">
                <a:latin typeface="Times New Roman" pitchFamily="18" charset="0"/>
                <a:cs typeface="Times New Roman" pitchFamily="18" charset="0"/>
              </a:rPr>
              <a:t>2. OR – Whenever we use OR as the natural conjunction joining</a:t>
            </a:r>
            <a:r>
              <a:rPr lang="en-US" dirty="0">
                <a:latin typeface="Times New Roman" pitchFamily="18" charset="0"/>
                <a:cs typeface="Times New Roman" pitchFamily="18" charset="0"/>
              </a:rPr>
              <a:t> two separate parts of the event definition, we replace the OR by the addition sign.</a:t>
            </a:r>
          </a:p>
        </p:txBody>
      </p:sp>
      <p:sp>
        <p:nvSpPr>
          <p:cNvPr id="7" name="Rectangle 6"/>
          <p:cNvSpPr/>
          <p:nvPr/>
        </p:nvSpPr>
        <p:spPr>
          <a:xfrm>
            <a:off x="327836" y="3005368"/>
            <a:ext cx="8511364" cy="646331"/>
          </a:xfrm>
          <a:prstGeom prst="rect">
            <a:avLst/>
          </a:prstGeom>
        </p:spPr>
        <p:txBody>
          <a:bodyPr wrap="square">
            <a:spAutoFit/>
          </a:bodyPr>
          <a:lstStyle/>
          <a:p>
            <a:pPr algn="just"/>
            <a:r>
              <a:rPr lang="en-US" b="1" dirty="0">
                <a:latin typeface="Times New Roman" pitchFamily="18" charset="0"/>
                <a:cs typeface="Times New Roman" pitchFamily="18" charset="0"/>
              </a:rPr>
              <a:t>E.g.: If we have the probability of A winning a race as 2/3 </a:t>
            </a:r>
            <a:r>
              <a:rPr lang="en-US" b="1" dirty="0" smtClean="0">
                <a:latin typeface="Times New Roman" pitchFamily="18" charset="0"/>
                <a:cs typeface="Times New Roman" pitchFamily="18" charset="0"/>
              </a:rPr>
              <a:t>and </a:t>
            </a:r>
            <a:r>
              <a:rPr lang="en-US" dirty="0" smtClean="0">
                <a:latin typeface="Times New Roman" pitchFamily="18" charset="0"/>
                <a:cs typeface="Times New Roman" pitchFamily="18" charset="0"/>
              </a:rPr>
              <a:t>that </a:t>
            </a:r>
            <a:r>
              <a:rPr lang="en-US" dirty="0">
                <a:latin typeface="Times New Roman" pitchFamily="18" charset="0"/>
                <a:cs typeface="Times New Roman" pitchFamily="18" charset="0"/>
              </a:rPr>
              <a:t>of B as 1/6 then probability that either A or B wins a race </a:t>
            </a:r>
            <a:r>
              <a:rPr lang="en-US" dirty="0" smtClean="0">
                <a:latin typeface="Times New Roman" pitchFamily="18" charset="0"/>
                <a:cs typeface="Times New Roman" pitchFamily="18" charset="0"/>
              </a:rPr>
              <a:t>is given </a:t>
            </a:r>
            <a:r>
              <a:rPr lang="en-US" dirty="0">
                <a:latin typeface="Times New Roman" pitchFamily="18" charset="0"/>
                <a:cs typeface="Times New Roman" pitchFamily="18" charset="0"/>
              </a:rPr>
              <a:t>by P(A) + P(B).</a:t>
            </a:r>
          </a:p>
        </p:txBody>
      </p:sp>
      <p:sp>
        <p:nvSpPr>
          <p:cNvPr id="8" name="Rectangle 7"/>
          <p:cNvSpPr/>
          <p:nvPr/>
        </p:nvSpPr>
        <p:spPr>
          <a:xfrm>
            <a:off x="5181600" y="3574018"/>
            <a:ext cx="1903085" cy="369332"/>
          </a:xfrm>
          <a:prstGeom prst="rect">
            <a:avLst/>
          </a:prstGeom>
        </p:spPr>
        <p:txBody>
          <a:bodyPr wrap="none">
            <a:spAutoFit/>
          </a:bodyPr>
          <a:lstStyle/>
          <a:p>
            <a:pPr algn="just"/>
            <a:r>
              <a:rPr lang="en-US" b="1" dirty="0">
                <a:latin typeface="Times New Roman" pitchFamily="18" charset="0"/>
                <a:cs typeface="Times New Roman" pitchFamily="18" charset="0"/>
              </a:rPr>
              <a:t>i.e. 2/3 + 1/6 = 5/6</a:t>
            </a:r>
          </a:p>
        </p:txBody>
      </p:sp>
      <p:sp>
        <p:nvSpPr>
          <p:cNvPr id="9" name="Rectangle 8"/>
          <p:cNvSpPr/>
          <p:nvPr/>
        </p:nvSpPr>
        <p:spPr>
          <a:xfrm>
            <a:off x="545265" y="4095750"/>
            <a:ext cx="3918637" cy="369332"/>
          </a:xfrm>
          <a:prstGeom prst="rect">
            <a:avLst/>
          </a:prstGeom>
        </p:spPr>
        <p:txBody>
          <a:bodyPr wrap="none">
            <a:spAutoFit/>
          </a:bodyPr>
          <a:lstStyle/>
          <a:p>
            <a:r>
              <a:rPr lang="en-US" b="1" dirty="0">
                <a:latin typeface="Times New Roman" pitchFamily="18" charset="0"/>
                <a:cs typeface="Times New Roman" pitchFamily="18" charset="0"/>
              </a:rPr>
              <a:t>3. ATLEAST</a:t>
            </a:r>
            <a:r>
              <a:rPr lang="en-US" dirty="0">
                <a:latin typeface="Times New Roman" pitchFamily="18" charset="0"/>
                <a:cs typeface="Times New Roman" pitchFamily="18" charset="0"/>
              </a:rPr>
              <a:t> is minimum to maximum.</a:t>
            </a:r>
          </a:p>
        </p:txBody>
      </p:sp>
      <p:sp>
        <p:nvSpPr>
          <p:cNvPr id="10" name="Rectangle 9"/>
          <p:cNvSpPr/>
          <p:nvPr/>
        </p:nvSpPr>
        <p:spPr>
          <a:xfrm>
            <a:off x="545265" y="4465082"/>
            <a:ext cx="3841693" cy="369332"/>
          </a:xfrm>
          <a:prstGeom prst="rect">
            <a:avLst/>
          </a:prstGeom>
        </p:spPr>
        <p:txBody>
          <a:bodyPr wrap="none">
            <a:spAutoFit/>
          </a:bodyPr>
          <a:lstStyle/>
          <a:p>
            <a:r>
              <a:rPr lang="en-US" b="1" dirty="0">
                <a:latin typeface="Times New Roman" pitchFamily="18" charset="0"/>
                <a:cs typeface="Times New Roman" pitchFamily="18" charset="0"/>
              </a:rPr>
              <a:t>4. ATMOST</a:t>
            </a:r>
            <a:r>
              <a:rPr lang="en-US" dirty="0">
                <a:latin typeface="Times New Roman" pitchFamily="18" charset="0"/>
                <a:cs typeface="Times New Roman" pitchFamily="18" charset="0"/>
              </a:rPr>
              <a:t> is maximum to minimum.</a:t>
            </a:r>
          </a:p>
        </p:txBody>
      </p:sp>
      <p:sp>
        <p:nvSpPr>
          <p:cNvPr id="11" name="Rectangle 10"/>
          <p:cNvSpPr/>
          <p:nvPr/>
        </p:nvSpPr>
        <p:spPr>
          <a:xfrm>
            <a:off x="4876800" y="4095750"/>
            <a:ext cx="3589444" cy="369332"/>
          </a:xfrm>
          <a:prstGeom prst="rect">
            <a:avLst/>
          </a:prstGeom>
        </p:spPr>
        <p:txBody>
          <a:bodyPr wrap="none">
            <a:spAutoFit/>
          </a:bodyPr>
          <a:lstStyle/>
          <a:p>
            <a:r>
              <a:rPr lang="en-US" b="1" dirty="0">
                <a:latin typeface="Times New Roman" pitchFamily="18" charset="0"/>
                <a:cs typeface="Times New Roman" pitchFamily="18" charset="0"/>
              </a:rPr>
              <a:t>5. Selection/Picking</a:t>
            </a:r>
            <a:r>
              <a:rPr lang="en-US" dirty="0">
                <a:latin typeface="Times New Roman" pitchFamily="18" charset="0"/>
                <a:cs typeface="Times New Roman" pitchFamily="18" charset="0"/>
              </a:rPr>
              <a:t> is combination.</a:t>
            </a:r>
          </a:p>
        </p:txBody>
      </p:sp>
      <p:sp>
        <p:nvSpPr>
          <p:cNvPr id="12" name="Rectangle 11"/>
          <p:cNvSpPr/>
          <p:nvPr/>
        </p:nvSpPr>
        <p:spPr>
          <a:xfrm>
            <a:off x="2776495" y="142341"/>
            <a:ext cx="3706464"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SOME MORE CONCEPT</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Tree>
    <p:extLst>
      <p:ext uri="{BB962C8B-B14F-4D97-AF65-F5344CB8AC3E}">
        <p14:creationId xmlns:p14="http://schemas.microsoft.com/office/powerpoint/2010/main" val="406480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381000" y="438150"/>
                <a:ext cx="8534400" cy="1733873"/>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Tickets numbered 1 to 20 are mixed up and then a ticket is drawn at random. What is the probability that the ticket drawn has a number which is a multiple of 3 or 5?</a:t>
                </a:r>
              </a:p>
              <a:p>
                <a:r>
                  <a:rPr lang="en-US" sz="2400" b="1" dirty="0" smtClean="0">
                    <a:solidFill>
                      <a:srgbClr val="FF0000"/>
                    </a:solidFill>
                    <a:latin typeface="Times New Roman" pitchFamily="18" charset="0"/>
                    <a:cs typeface="Times New Roman" pitchFamily="18" charset="0"/>
                  </a:rPr>
                  <a:t>A. </a:t>
                </a:r>
                <a14:m>
                  <m:oMath xmlns:m="http://schemas.openxmlformats.org/officeDocument/2006/math">
                    <m:f>
                      <m:fPr>
                        <m:ctrlPr>
                          <a:rPr lang="en-US" sz="2400" b="1" i="1" smtClean="0">
                            <a:solidFill>
                              <a:srgbClr val="FF0000"/>
                            </a:solidFill>
                            <a:latin typeface="Cambria Math"/>
                            <a:cs typeface="Times New Roman" pitchFamily="18" charset="0"/>
                          </a:rPr>
                        </m:ctrlPr>
                      </m:fPr>
                      <m:num>
                        <m:r>
                          <a:rPr lang="en-US" sz="2400" b="1" i="1" smtClean="0">
                            <a:solidFill>
                              <a:srgbClr val="FF0000"/>
                            </a:solidFill>
                            <a:latin typeface="Cambria Math"/>
                            <a:cs typeface="Times New Roman" pitchFamily="18" charset="0"/>
                          </a:rPr>
                          <m:t>𝟏</m:t>
                        </m:r>
                      </m:num>
                      <m:den>
                        <m:r>
                          <a:rPr lang="en-US" sz="2400" b="1" i="1" smtClean="0">
                            <a:solidFill>
                              <a:srgbClr val="FF0000"/>
                            </a:solidFill>
                            <a:latin typeface="Cambria Math"/>
                            <a:cs typeface="Times New Roman" pitchFamily="18" charset="0"/>
                          </a:rPr>
                          <m:t>𝟐</m:t>
                        </m:r>
                      </m:den>
                    </m:f>
                  </m:oMath>
                </a14:m>
                <a:r>
                  <a:rPr lang="en-US" sz="2400" b="1" dirty="0" smtClean="0">
                    <a:solidFill>
                      <a:srgbClr val="FF0000"/>
                    </a:solidFill>
                    <a:latin typeface="Times New Roman" pitchFamily="18" charset="0"/>
                    <a:cs typeface="Times New Roman" pitchFamily="18" charset="0"/>
                  </a:rPr>
                  <a:t>	B. </a:t>
                </a:r>
                <a14:m>
                  <m:oMath xmlns:m="http://schemas.openxmlformats.org/officeDocument/2006/math">
                    <m:f>
                      <m:fPr>
                        <m:ctrlPr>
                          <a:rPr lang="en-US" sz="2400" b="1" i="1" smtClean="0">
                            <a:solidFill>
                              <a:srgbClr val="FF0000"/>
                            </a:solidFill>
                            <a:latin typeface="Cambria Math"/>
                            <a:cs typeface="Times New Roman" pitchFamily="18" charset="0"/>
                          </a:rPr>
                        </m:ctrlPr>
                      </m:fPr>
                      <m:num>
                        <m:r>
                          <a:rPr lang="en-US" sz="2400" b="1" i="1" smtClean="0">
                            <a:solidFill>
                              <a:srgbClr val="FF0000"/>
                            </a:solidFill>
                            <a:latin typeface="Cambria Math"/>
                            <a:cs typeface="Times New Roman" pitchFamily="18" charset="0"/>
                          </a:rPr>
                          <m:t>𝟐</m:t>
                        </m:r>
                      </m:num>
                      <m:den>
                        <m:r>
                          <a:rPr lang="en-US" sz="2400" b="1" i="1" smtClean="0">
                            <a:solidFill>
                              <a:srgbClr val="FF0000"/>
                            </a:solidFill>
                            <a:latin typeface="Cambria Math"/>
                            <a:cs typeface="Times New Roman" pitchFamily="18" charset="0"/>
                          </a:rPr>
                          <m:t>𝟓</m:t>
                        </m:r>
                      </m:den>
                    </m:f>
                  </m:oMath>
                </a14:m>
                <a:r>
                  <a:rPr lang="en-US" sz="2400"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sz="2400" b="1" i="1" smtClean="0">
                            <a:solidFill>
                              <a:srgbClr val="FF0000"/>
                            </a:solidFill>
                            <a:latin typeface="Cambria Math"/>
                            <a:cs typeface="Times New Roman" pitchFamily="18" charset="0"/>
                          </a:rPr>
                        </m:ctrlPr>
                      </m:fPr>
                      <m:num>
                        <m:r>
                          <a:rPr lang="en-US" sz="2400" b="1" i="1" smtClean="0">
                            <a:solidFill>
                              <a:srgbClr val="FF0000"/>
                            </a:solidFill>
                            <a:latin typeface="Cambria Math"/>
                            <a:cs typeface="Times New Roman" pitchFamily="18" charset="0"/>
                          </a:rPr>
                          <m:t>𝟖</m:t>
                        </m:r>
                      </m:num>
                      <m:den>
                        <m:r>
                          <a:rPr lang="en-US" sz="2400" b="1" i="1" smtClean="0">
                            <a:solidFill>
                              <a:srgbClr val="FF0000"/>
                            </a:solidFill>
                            <a:latin typeface="Cambria Math"/>
                            <a:cs typeface="Times New Roman" pitchFamily="18" charset="0"/>
                          </a:rPr>
                          <m:t>𝟏𝟓</m:t>
                        </m:r>
                      </m:den>
                    </m:f>
                  </m:oMath>
                </a14:m>
                <a:r>
                  <a:rPr lang="en-US" sz="24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400" b="1" i="1" smtClean="0">
                            <a:solidFill>
                              <a:srgbClr val="FF0000"/>
                            </a:solidFill>
                            <a:latin typeface="Cambria Math"/>
                            <a:cs typeface="Times New Roman" pitchFamily="18" charset="0"/>
                          </a:rPr>
                        </m:ctrlPr>
                      </m:fPr>
                      <m:num>
                        <m:r>
                          <a:rPr lang="en-US" sz="2400" b="1" i="1" smtClean="0">
                            <a:solidFill>
                              <a:srgbClr val="FF0000"/>
                            </a:solidFill>
                            <a:latin typeface="Cambria Math"/>
                            <a:cs typeface="Times New Roman" pitchFamily="18" charset="0"/>
                          </a:rPr>
                          <m:t>𝟗</m:t>
                        </m:r>
                      </m:num>
                      <m:den>
                        <m:r>
                          <a:rPr lang="en-US" sz="2400" b="1" i="1" smtClean="0">
                            <a:solidFill>
                              <a:srgbClr val="FF0000"/>
                            </a:solidFill>
                            <a:latin typeface="Cambria Math"/>
                            <a:cs typeface="Times New Roman" pitchFamily="18" charset="0"/>
                          </a:rPr>
                          <m:t>𝟐𝟎</m:t>
                        </m:r>
                      </m:den>
                    </m:f>
                  </m:oMath>
                </a14:m>
                <a:endParaRPr lang="en-US" sz="24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81000" y="438150"/>
                <a:ext cx="8534400" cy="1733873"/>
              </a:xfrm>
              <a:prstGeom prst="rect">
                <a:avLst/>
              </a:prstGeom>
              <a:blipFill rotWithShape="1">
                <a:blip r:embed="rId2"/>
                <a:stretch>
                  <a:fillRect l="-1143" t="-2817" r="-929" b="-2465"/>
                </a:stretch>
              </a:blipFill>
            </p:spPr>
            <p:txBody>
              <a:bodyPr/>
              <a:lstStyle/>
              <a:p>
                <a:r>
                  <a:rPr lang="en-US">
                    <a:noFill/>
                  </a:rPr>
                  <a:t> </a:t>
                </a:r>
              </a:p>
            </p:txBody>
          </p:sp>
        </mc:Fallback>
      </mc:AlternateContent>
      <p:sp>
        <p:nvSpPr>
          <p:cNvPr id="8" name="Rectangle 7"/>
          <p:cNvSpPr/>
          <p:nvPr/>
        </p:nvSpPr>
        <p:spPr>
          <a:xfrm>
            <a:off x="762000" y="2216138"/>
            <a:ext cx="4572000" cy="430887"/>
          </a:xfrm>
          <a:prstGeom prst="rect">
            <a:avLst/>
          </a:prstGeom>
        </p:spPr>
        <p:txBody>
          <a:bodyPr>
            <a:spAutoFit/>
          </a:bodyPr>
          <a:lstStyle/>
          <a:p>
            <a:r>
              <a:rPr lang="en-US" sz="2200" dirty="0">
                <a:latin typeface="Times New Roman" pitchFamily="18" charset="0"/>
                <a:cs typeface="Times New Roman" pitchFamily="18" charset="0"/>
              </a:rPr>
              <a:t>Here, S = {1, 2, 3, 4, ...., 19, 20}.</a:t>
            </a:r>
          </a:p>
        </p:txBody>
      </p:sp>
      <p:sp>
        <p:nvSpPr>
          <p:cNvPr id="11" name="Rectangle 10"/>
          <p:cNvSpPr/>
          <p:nvPr/>
        </p:nvSpPr>
        <p:spPr>
          <a:xfrm>
            <a:off x="762000" y="2609730"/>
            <a:ext cx="5418471" cy="430887"/>
          </a:xfrm>
          <a:prstGeom prst="rect">
            <a:avLst/>
          </a:prstGeom>
        </p:spPr>
        <p:txBody>
          <a:bodyPr wrap="none">
            <a:spAutoFit/>
          </a:bodyPr>
          <a:lstStyle/>
          <a:p>
            <a:r>
              <a:rPr lang="en-US" sz="2200" dirty="0">
                <a:latin typeface="Times New Roman" pitchFamily="18" charset="0"/>
                <a:cs typeface="Times New Roman" pitchFamily="18" charset="0"/>
              </a:rPr>
              <a:t>Let E = event of getting a multiple of 3 or 5 = </a:t>
            </a:r>
          </a:p>
        </p:txBody>
      </p:sp>
      <p:sp>
        <p:nvSpPr>
          <p:cNvPr id="22" name="Rectangle 21"/>
          <p:cNvSpPr/>
          <p:nvPr/>
        </p:nvSpPr>
        <p:spPr>
          <a:xfrm>
            <a:off x="4437347" y="3009840"/>
            <a:ext cx="3698448" cy="430887"/>
          </a:xfrm>
          <a:prstGeom prst="rect">
            <a:avLst/>
          </a:prstGeom>
        </p:spPr>
        <p:txBody>
          <a:bodyPr wrap="none">
            <a:spAutoFit/>
          </a:bodyPr>
          <a:lstStyle/>
          <a:p>
            <a:r>
              <a:rPr lang="en-US" sz="2200" dirty="0">
                <a:latin typeface="Times New Roman" pitchFamily="18" charset="0"/>
                <a:cs typeface="Times New Roman" pitchFamily="18" charset="0"/>
              </a:rPr>
              <a:t>{3, 6 , 9, 12, 15, 18, 5, 10, 20}.</a:t>
            </a:r>
          </a:p>
        </p:txBody>
      </p:sp>
      <p:sp>
        <p:nvSpPr>
          <p:cNvPr id="23" name="Rectangle 22"/>
          <p:cNvSpPr/>
          <p:nvPr/>
        </p:nvSpPr>
        <p:spPr>
          <a:xfrm>
            <a:off x="1004292" y="3778546"/>
            <a:ext cx="2731521" cy="400110"/>
          </a:xfrm>
          <a:prstGeom prst="rect">
            <a:avLst/>
          </a:prstGeom>
        </p:spPr>
        <p:txBody>
          <a:bodyPr wrap="square">
            <a:spAutoFit/>
          </a:bodyPr>
          <a:lstStyle/>
          <a:p>
            <a:r>
              <a:rPr lang="en-US" sz="2000" dirty="0">
                <a:latin typeface="Times New Roman" pitchFamily="18" charset="0"/>
                <a:cs typeface="Times New Roman" pitchFamily="18" charset="0"/>
              </a:rPr>
              <a:t>Required </a:t>
            </a:r>
            <a:r>
              <a:rPr lang="en-US" sz="2000" dirty="0" smtClean="0">
                <a:latin typeface="Times New Roman" pitchFamily="18" charset="0"/>
                <a:cs typeface="Times New Roman" pitchFamily="18" charset="0"/>
              </a:rPr>
              <a:t>probability</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Rectangle 23"/>
              <p:cNvSpPr/>
              <p:nvPr/>
            </p:nvSpPr>
            <p:spPr>
              <a:xfrm>
                <a:off x="3124200" y="3643317"/>
                <a:ext cx="1046120" cy="7331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𝑛</m:t>
                          </m:r>
                          <m:r>
                            <a:rPr lang="en-US" sz="2000" b="0" i="1" smtClean="0">
                              <a:latin typeface="Cambria Math"/>
                              <a:cs typeface="Times New Roman" pitchFamily="18" charset="0"/>
                            </a:rPr>
                            <m:t>(</m:t>
                          </m:r>
                          <m:r>
                            <a:rPr lang="en-US" sz="2000" b="0" i="1" smtClean="0">
                              <a:latin typeface="Cambria Math"/>
                              <a:cs typeface="Times New Roman" pitchFamily="18" charset="0"/>
                            </a:rPr>
                            <m:t>𝐸</m:t>
                          </m:r>
                          <m:r>
                            <a:rPr lang="en-US" sz="2000" b="0" i="1" smtClean="0">
                              <a:latin typeface="Cambria Math"/>
                              <a:cs typeface="Times New Roman" pitchFamily="18" charset="0"/>
                            </a:rPr>
                            <m:t>)</m:t>
                          </m:r>
                        </m:num>
                        <m:den>
                          <m:r>
                            <a:rPr lang="en-US" sz="2000" b="0" i="1" smtClean="0">
                              <a:latin typeface="Cambria Math"/>
                              <a:cs typeface="Times New Roman" pitchFamily="18" charset="0"/>
                            </a:rPr>
                            <m:t>𝑛</m:t>
                          </m:r>
                          <m:r>
                            <a:rPr lang="en-US" sz="2000" b="0" i="1" smtClean="0">
                              <a:latin typeface="Cambria Math"/>
                              <a:cs typeface="Times New Roman" pitchFamily="18" charset="0"/>
                            </a:rPr>
                            <m:t>(</m:t>
                          </m:r>
                          <m:r>
                            <a:rPr lang="en-US" sz="2000" b="0" i="1" smtClean="0">
                              <a:latin typeface="Cambria Math"/>
                              <a:cs typeface="Times New Roman" pitchFamily="18" charset="0"/>
                            </a:rPr>
                            <m:t>𝑆</m:t>
                          </m:r>
                          <m:r>
                            <a:rPr lang="en-US" sz="2000" b="0" i="1" smtClean="0">
                              <a:latin typeface="Cambria Math"/>
                              <a:cs typeface="Times New Roman" pitchFamily="18" charset="0"/>
                            </a:rPr>
                            <m:t>)</m:t>
                          </m:r>
                        </m:den>
                      </m:f>
                    </m:oMath>
                  </m:oMathPara>
                </a14:m>
                <a:endParaRPr lang="en-US" sz="2000" dirty="0">
                  <a:latin typeface="Times New Roman" pitchFamily="18" charset="0"/>
                  <a:cs typeface="Times New Roman"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3124200" y="3643317"/>
                <a:ext cx="1046120" cy="733149"/>
              </a:xfrm>
              <a:prstGeom prst="rect">
                <a:avLst/>
              </a:prstGeom>
              <a:blipFill rotWithShape="1">
                <a:blip r:embed="rId3"/>
                <a:stretch>
                  <a:fillRect r="-9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4922276" y="2216138"/>
                <a:ext cx="137492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𝑆</m:t>
                          </m:r>
                        </m:e>
                      </m:d>
                      <m:r>
                        <a:rPr lang="en-US" sz="2000" b="0" i="1" smtClean="0">
                          <a:latin typeface="Cambria Math"/>
                          <a:cs typeface="Times New Roman" pitchFamily="18" charset="0"/>
                        </a:rPr>
                        <m:t>=20</m:t>
                      </m:r>
                    </m:oMath>
                  </m:oMathPara>
                </a14:m>
                <a:endParaRPr lang="en-US" sz="2000" dirty="0">
                  <a:latin typeface="Times New Roman" pitchFamily="18" charset="0"/>
                  <a:cs typeface="Times New Roman"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4922276" y="2216138"/>
                <a:ext cx="1374928" cy="400110"/>
              </a:xfrm>
              <a:prstGeom prst="rect">
                <a:avLst/>
              </a:prstGeom>
              <a:blipFill rotWithShape="1">
                <a:blip r:embed="rId5"/>
                <a:stretch>
                  <a:fillRect t="-7692" r="-6637"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4911643" y="3388098"/>
                <a:ext cx="126130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𝐸</m:t>
                          </m:r>
                        </m:e>
                      </m:d>
                      <m:r>
                        <a:rPr lang="en-US" sz="2000" b="0" i="1" smtClean="0">
                          <a:latin typeface="Cambria Math"/>
                          <a:cs typeface="Times New Roman" pitchFamily="18" charset="0"/>
                        </a:rPr>
                        <m:t>=9</m:t>
                      </m:r>
                    </m:oMath>
                  </m:oMathPara>
                </a14:m>
                <a:endParaRPr lang="en-US" sz="2000" dirty="0">
                  <a:latin typeface="Times New Roman" pitchFamily="18" charset="0"/>
                  <a:cs typeface="Times New Roman" pitchFamily="18" charset="0"/>
                </a:endParaRPr>
              </a:p>
            </p:txBody>
          </p:sp>
        </mc:Choice>
        <mc:Fallback xmlns="">
          <p:sp>
            <p:nvSpPr>
              <p:cNvPr id="28" name="Rectangle 27"/>
              <p:cNvSpPr>
                <a:spLocks noRot="1" noChangeAspect="1" noMove="1" noResize="1" noEditPoints="1" noAdjustHandles="1" noChangeArrowheads="1" noChangeShapeType="1" noTextEdit="1"/>
              </p:cNvSpPr>
              <p:nvPr/>
            </p:nvSpPr>
            <p:spPr>
              <a:xfrm>
                <a:off x="4911643" y="3388098"/>
                <a:ext cx="1261307" cy="400110"/>
              </a:xfrm>
              <a:prstGeom prst="rect">
                <a:avLst/>
              </a:prstGeom>
              <a:blipFill rotWithShape="1">
                <a:blip r:embed="rId6"/>
                <a:stretch>
                  <a:fillRect t="-7692" r="-6763"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3258879" y="4303863"/>
                <a:ext cx="797718" cy="670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9</m:t>
                          </m:r>
                        </m:num>
                        <m:den>
                          <m:r>
                            <a:rPr lang="en-US" sz="2000" b="0" i="1" smtClean="0">
                              <a:latin typeface="Cambria Math"/>
                              <a:cs typeface="Times New Roman" pitchFamily="18" charset="0"/>
                            </a:rPr>
                            <m:t>20</m:t>
                          </m:r>
                        </m:den>
                      </m:f>
                    </m:oMath>
                  </m:oMathPara>
                </a14:m>
                <a:endParaRPr lang="en-US" sz="2000" dirty="0">
                  <a:latin typeface="Times New Roman" pitchFamily="18" charset="0"/>
                  <a:cs typeface="Times New Roman"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258879" y="4303863"/>
                <a:ext cx="797718" cy="670568"/>
              </a:xfrm>
              <a:prstGeom prst="rect">
                <a:avLst/>
              </a:prstGeom>
              <a:blipFill rotWithShape="1">
                <a:blip r:embed="rId7"/>
                <a:stretch>
                  <a:fillRect r="-12308"/>
                </a:stretch>
              </a:blipFill>
            </p:spPr>
            <p:txBody>
              <a:bodyPr/>
              <a:lstStyle/>
              <a:p>
                <a:r>
                  <a:rPr lang="en-US">
                    <a:noFill/>
                  </a:rPr>
                  <a:t> </a:t>
                </a:r>
              </a:p>
            </p:txBody>
          </p:sp>
        </mc:Fallback>
      </mc:AlternateContent>
    </p:spTree>
    <p:extLst>
      <p:ext uri="{BB962C8B-B14F-4D97-AF65-F5344CB8AC3E}">
        <p14:creationId xmlns:p14="http://schemas.microsoft.com/office/powerpoint/2010/main" val="103284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22" grpId="0"/>
      <p:bldP spid="23" grpId="0"/>
      <p:bldP spid="24" grpId="0"/>
      <p:bldP spid="27" grpId="0"/>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209550"/>
            <a:ext cx="8686800" cy="1477328"/>
          </a:xfrm>
          <a:prstGeom prst="rect">
            <a:avLst/>
          </a:prstGeom>
        </p:spPr>
        <p:txBody>
          <a:bodyPr wrap="square">
            <a:spAutoFit/>
          </a:bodyPr>
          <a:lstStyle/>
          <a:p>
            <a:r>
              <a:rPr lang="en-IN" b="1" dirty="0">
                <a:solidFill>
                  <a:srgbClr val="FF0000"/>
                </a:solidFill>
                <a:latin typeface="Times New Roman" pitchFamily="18" charset="0"/>
                <a:cs typeface="Times New Roman" pitchFamily="18" charset="0"/>
              </a:rPr>
              <a:t>PROBABILITY</a:t>
            </a:r>
          </a:p>
          <a:p>
            <a:r>
              <a:rPr lang="en-US" b="1" dirty="0">
                <a:solidFill>
                  <a:srgbClr val="FF0000"/>
                </a:solidFill>
                <a:latin typeface="Times New Roman" pitchFamily="18" charset="0"/>
                <a:cs typeface="Times New Roman" pitchFamily="18" charset="0"/>
              </a:rPr>
              <a:t>1. A box contains 21 balls numbered 1 to 21. A ball is drawn and then another ball is drawn without replacement. </a:t>
            </a:r>
            <a:r>
              <a:rPr lang="en-US" b="1" dirty="0" smtClean="0">
                <a:solidFill>
                  <a:srgbClr val="FF0000"/>
                </a:solidFill>
                <a:latin typeface="Times New Roman" pitchFamily="18" charset="0"/>
                <a:cs typeface="Times New Roman" pitchFamily="18" charset="0"/>
              </a:rPr>
              <a:t>What is </a:t>
            </a:r>
            <a:r>
              <a:rPr lang="en-US" b="1" dirty="0">
                <a:solidFill>
                  <a:srgbClr val="FF0000"/>
                </a:solidFill>
                <a:latin typeface="Times New Roman" pitchFamily="18" charset="0"/>
                <a:cs typeface="Times New Roman" pitchFamily="18" charset="0"/>
              </a:rPr>
              <a:t>the probability that both balls are even numbered?</a:t>
            </a:r>
          </a:p>
          <a:p>
            <a:r>
              <a:rPr lang="en-IN" b="1" dirty="0">
                <a:solidFill>
                  <a:srgbClr val="FF0000"/>
                </a:solidFill>
                <a:latin typeface="Times New Roman" pitchFamily="18" charset="0"/>
                <a:cs typeface="Times New Roman" pitchFamily="18" charset="0"/>
              </a:rPr>
              <a:t>A. 2/7 B. 8/21 C. 3/14 D. </a:t>
            </a:r>
            <a:r>
              <a:rPr lang="en-IN" b="1" dirty="0" smtClean="0">
                <a:solidFill>
                  <a:srgbClr val="FF0000"/>
                </a:solidFill>
                <a:latin typeface="Times New Roman" pitchFamily="18" charset="0"/>
                <a:cs typeface="Times New Roman" pitchFamily="18" charset="0"/>
              </a:rPr>
              <a:t>5/21</a:t>
            </a:r>
            <a:endParaRPr lang="en-IN" b="1" dirty="0">
              <a:solidFill>
                <a:srgbClr val="FF0000"/>
              </a:solidFill>
              <a:latin typeface="Times New Roman" pitchFamily="18" charset="0"/>
              <a:cs typeface="Times New Roman" pitchFamily="18" charset="0"/>
            </a:endParaRPr>
          </a:p>
        </p:txBody>
      </p:sp>
      <p:sp>
        <p:nvSpPr>
          <p:cNvPr id="3" name="Rectangle 2"/>
          <p:cNvSpPr/>
          <p:nvPr/>
        </p:nvSpPr>
        <p:spPr>
          <a:xfrm>
            <a:off x="2463800" y="2082952"/>
            <a:ext cx="325730" cy="369332"/>
          </a:xfrm>
          <a:prstGeom prst="rect">
            <a:avLst/>
          </a:prstGeom>
        </p:spPr>
        <p:txBody>
          <a:bodyPr wrap="none">
            <a:spAutoFit/>
          </a:bodyPr>
          <a:lstStyle/>
          <a:p>
            <a:r>
              <a:rPr lang="en-IN" b="1" dirty="0" smtClean="0">
                <a:latin typeface="Times New Roman" pitchFamily="18" charset="0"/>
                <a:cs typeface="Times New Roman" pitchFamily="18" charset="0"/>
              </a:rPr>
              <a:t>P</a:t>
            </a:r>
            <a:endParaRPr lang="en-IN" dirty="0"/>
          </a:p>
        </p:txBody>
      </p:sp>
      <mc:AlternateContent xmlns:mc="http://schemas.openxmlformats.org/markup-compatibility/2006" xmlns:a14="http://schemas.microsoft.com/office/drawing/2010/main">
        <mc:Choice Requires="a14">
          <p:sp>
            <p:nvSpPr>
              <p:cNvPr id="4" name="Rectangle 3"/>
              <p:cNvSpPr/>
              <p:nvPr/>
            </p:nvSpPr>
            <p:spPr>
              <a:xfrm>
                <a:off x="3338008" y="1966496"/>
                <a:ext cx="801823"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ea typeface="Cambria Math"/>
                          <a:cs typeface="Times New Roman" pitchFamily="18" charset="0"/>
                        </a:rPr>
                        <m:t>×</m:t>
                      </m:r>
                      <m:r>
                        <a:rPr lang="en-IN" b="1" i="1" dirty="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𝟗</m:t>
                          </m:r>
                        </m:num>
                        <m:den>
                          <m:r>
                            <a:rPr lang="en-IN" b="1" i="1" dirty="0">
                              <a:latin typeface="Cambria Math"/>
                              <a:cs typeface="Times New Roman" pitchFamily="18" charset="0"/>
                            </a:rPr>
                            <m:t>𝟐</m:t>
                          </m:r>
                          <m:r>
                            <a:rPr lang="en-US" b="1" i="1" dirty="0" smtClean="0">
                              <a:latin typeface="Cambria Math"/>
                              <a:cs typeface="Times New Roman" pitchFamily="18" charset="0"/>
                            </a:rPr>
                            <m:t>𝟎</m:t>
                          </m:r>
                        </m:den>
                      </m:f>
                    </m:oMath>
                  </m:oMathPara>
                </a14:m>
                <a:endParaRPr lang="en-IN" dirty="0"/>
              </a:p>
            </p:txBody>
          </p:sp>
        </mc:Choice>
        <mc:Fallback xmlns="">
          <p:sp>
            <p:nvSpPr>
              <p:cNvPr id="4" name="Rectangle 3"/>
              <p:cNvSpPr>
                <a:spLocks noRot="1" noChangeAspect="1" noMove="1" noResize="1" noEditPoints="1" noAdjustHandles="1" noChangeArrowheads="1" noChangeShapeType="1" noTextEdit="1"/>
              </p:cNvSpPr>
              <p:nvPr/>
            </p:nvSpPr>
            <p:spPr>
              <a:xfrm>
                <a:off x="3338008" y="1966496"/>
                <a:ext cx="801823" cy="612732"/>
              </a:xfrm>
              <a:prstGeom prst="rect">
                <a:avLst/>
              </a:prstGeom>
              <a:blipFill rotWithShape="1">
                <a:blip r:embed="rId2"/>
                <a:stretch>
                  <a:fillRect r="-10687" b="-3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753665" y="1962150"/>
                <a:ext cx="82266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a:latin typeface="Cambria Math"/>
                          <a:cs typeface="Times New Roman" pitchFamily="18" charset="0"/>
                        </a:rPr>
                        <m:t>= </m:t>
                      </m:r>
                      <m:f>
                        <m:fPr>
                          <m:ctrlPr>
                            <a:rPr lang="en-IN" b="1" i="1" dirty="0">
                              <a:latin typeface="Cambria Math"/>
                              <a:cs typeface="Times New Roman" pitchFamily="18" charset="0"/>
                            </a:rPr>
                          </m:ctrlPr>
                        </m:fPr>
                        <m:num>
                          <m:r>
                            <a:rPr lang="en-IN" b="1" i="1" dirty="0">
                              <a:latin typeface="Cambria Math"/>
                              <a:cs typeface="Times New Roman" pitchFamily="18" charset="0"/>
                            </a:rPr>
                            <m:t>𝟏𝟎</m:t>
                          </m:r>
                        </m:num>
                        <m:den>
                          <m:r>
                            <a:rPr lang="en-IN" b="1" i="1" dirty="0">
                              <a:latin typeface="Cambria Math"/>
                              <a:cs typeface="Times New Roman" pitchFamily="18" charset="0"/>
                            </a:rPr>
                            <m:t>𝟐𝟏</m:t>
                          </m:r>
                        </m:den>
                      </m:f>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2753665" y="1962150"/>
                <a:ext cx="822661" cy="610936"/>
              </a:xfrm>
              <a:prstGeom prst="rect">
                <a:avLst/>
              </a:prstGeom>
              <a:blipFill rotWithShape="1">
                <a:blip r:embed="rId3"/>
                <a:stretch>
                  <a:fillRect r="-10370" b="-3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796458" y="2586914"/>
                <a:ext cx="82266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𝟑</m:t>
                          </m:r>
                        </m:num>
                        <m:den>
                          <m:r>
                            <a:rPr lang="en-US" b="1" i="1" dirty="0" smtClean="0">
                              <a:latin typeface="Cambria Math"/>
                              <a:cs typeface="Times New Roman" pitchFamily="18" charset="0"/>
                            </a:rPr>
                            <m:t>𝟏𝟒</m:t>
                          </m:r>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2796458" y="2586914"/>
                <a:ext cx="822661" cy="610936"/>
              </a:xfrm>
              <a:prstGeom prst="rect">
                <a:avLst/>
              </a:prstGeom>
              <a:blipFill rotWithShape="1">
                <a:blip r:embed="rId4"/>
                <a:stretch>
                  <a:fillRect r="-10370" b="-1980"/>
                </a:stretch>
              </a:blipFill>
            </p:spPr>
            <p:txBody>
              <a:bodyPr/>
              <a:lstStyle/>
              <a:p>
                <a:r>
                  <a:rPr lang="en-IN">
                    <a:noFill/>
                  </a:rPr>
                  <a:t> </a:t>
                </a:r>
              </a:p>
            </p:txBody>
          </p:sp>
        </mc:Fallback>
      </mc:AlternateContent>
    </p:spTree>
    <p:extLst>
      <p:ext uri="{BB962C8B-B14F-4D97-AF65-F5344CB8AC3E}">
        <p14:creationId xmlns:p14="http://schemas.microsoft.com/office/powerpoint/2010/main" val="63955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33350"/>
            <a:ext cx="88392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2. There are 3 green, 4 orange and 5 white </a:t>
            </a:r>
            <a:r>
              <a:rPr lang="en-US" b="1" dirty="0" smtClean="0">
                <a:solidFill>
                  <a:srgbClr val="FF0000"/>
                </a:solidFill>
                <a:latin typeface="Times New Roman" pitchFamily="18" charset="0"/>
                <a:cs typeface="Times New Roman" pitchFamily="18" charset="0"/>
              </a:rPr>
              <a:t>color </a:t>
            </a:r>
            <a:r>
              <a:rPr lang="en-US" b="1" dirty="0">
                <a:solidFill>
                  <a:srgbClr val="FF0000"/>
                </a:solidFill>
                <a:latin typeface="Times New Roman" pitchFamily="18" charset="0"/>
                <a:cs typeface="Times New Roman" pitchFamily="18" charset="0"/>
              </a:rPr>
              <a:t>bulbs in a bag. If a bulb is picked at random, what is the </a:t>
            </a:r>
            <a:r>
              <a:rPr lang="en-US" b="1" dirty="0" smtClean="0">
                <a:solidFill>
                  <a:srgbClr val="FF0000"/>
                </a:solidFill>
                <a:latin typeface="Times New Roman" pitchFamily="18" charset="0"/>
                <a:cs typeface="Times New Roman" pitchFamily="18" charset="0"/>
              </a:rPr>
              <a:t>probability of </a:t>
            </a:r>
            <a:r>
              <a:rPr lang="en-US" b="1" dirty="0">
                <a:solidFill>
                  <a:srgbClr val="FF0000"/>
                </a:solidFill>
                <a:latin typeface="Times New Roman" pitchFamily="18" charset="0"/>
                <a:cs typeface="Times New Roman" pitchFamily="18" charset="0"/>
              </a:rPr>
              <a:t>having either a green or a white bulb?</a:t>
            </a:r>
          </a:p>
          <a:p>
            <a:r>
              <a:rPr lang="en-IN" b="1" dirty="0">
                <a:solidFill>
                  <a:srgbClr val="FF0000"/>
                </a:solidFill>
                <a:latin typeface="Times New Roman" pitchFamily="18" charset="0"/>
                <a:cs typeface="Times New Roman" pitchFamily="18" charset="0"/>
              </a:rPr>
              <a:t>A. 3/4 B.2/3 C.4/3 D.2/5</a:t>
            </a:r>
          </a:p>
        </p:txBody>
      </p:sp>
      <p:sp>
        <p:nvSpPr>
          <p:cNvPr id="3" name="Rectangle 2"/>
          <p:cNvSpPr/>
          <p:nvPr/>
        </p:nvSpPr>
        <p:spPr>
          <a:xfrm>
            <a:off x="2463800" y="1320952"/>
            <a:ext cx="325730" cy="369332"/>
          </a:xfrm>
          <a:prstGeom prst="rect">
            <a:avLst/>
          </a:prstGeom>
        </p:spPr>
        <p:txBody>
          <a:bodyPr wrap="none">
            <a:spAutoFit/>
          </a:bodyPr>
          <a:lstStyle/>
          <a:p>
            <a:r>
              <a:rPr lang="en-IN" b="1" dirty="0" smtClean="0">
                <a:latin typeface="Times New Roman" pitchFamily="18" charset="0"/>
                <a:cs typeface="Times New Roman" pitchFamily="18" charset="0"/>
              </a:rPr>
              <a:t>P</a:t>
            </a:r>
            <a:endParaRPr lang="en-IN" dirty="0"/>
          </a:p>
        </p:txBody>
      </p:sp>
      <mc:AlternateContent xmlns:mc="http://schemas.openxmlformats.org/markup-compatibility/2006" xmlns:a14="http://schemas.microsoft.com/office/drawing/2010/main">
        <mc:Choice Requires="a14">
          <p:sp>
            <p:nvSpPr>
              <p:cNvPr id="4" name="Rectangle 3"/>
              <p:cNvSpPr/>
              <p:nvPr/>
            </p:nvSpPr>
            <p:spPr>
              <a:xfrm>
                <a:off x="4343400" y="1212182"/>
                <a:ext cx="797013" cy="616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ea typeface="Cambria Math"/>
                          <a:cs typeface="Times New Roman" pitchFamily="18" charset="0"/>
                        </a:rPr>
                        <m:t>+</m:t>
                      </m:r>
                      <m:r>
                        <a:rPr lang="en-IN" b="1" i="1" dirty="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𝟓</m:t>
                          </m:r>
                        </m:num>
                        <m:den>
                          <m:r>
                            <a:rPr lang="en-US" b="1" i="1" dirty="0" smtClean="0">
                              <a:latin typeface="Cambria Math"/>
                              <a:cs typeface="Times New Roman" pitchFamily="18" charset="0"/>
                            </a:rPr>
                            <m:t>𝟏𝟐</m:t>
                          </m:r>
                        </m:den>
                      </m:f>
                    </m:oMath>
                  </m:oMathPara>
                </a14:m>
                <a:endParaRPr lang="en-IN" dirty="0"/>
              </a:p>
            </p:txBody>
          </p:sp>
        </mc:Choice>
        <mc:Fallback xmlns="">
          <p:sp>
            <p:nvSpPr>
              <p:cNvPr id="4" name="Rectangle 3"/>
              <p:cNvSpPr>
                <a:spLocks noRot="1" noChangeAspect="1" noMove="1" noResize="1" noEditPoints="1" noAdjustHandles="1" noChangeArrowheads="1" noChangeShapeType="1" noTextEdit="1"/>
              </p:cNvSpPr>
              <p:nvPr/>
            </p:nvSpPr>
            <p:spPr>
              <a:xfrm>
                <a:off x="4343400" y="1212182"/>
                <a:ext cx="797013" cy="616515"/>
              </a:xfrm>
              <a:prstGeom prst="rect">
                <a:avLst/>
              </a:prstGeom>
              <a:blipFill rotWithShape="1">
                <a:blip r:embed="rId2"/>
                <a:stretch>
                  <a:fillRect r="-11538" b="-297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753665" y="1200150"/>
                <a:ext cx="1511952" cy="6412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𝟑</m:t>
                          </m:r>
                        </m:num>
                        <m:den>
                          <m:r>
                            <a:rPr lang="en-US" b="1" i="1" dirty="0" smtClean="0">
                              <a:latin typeface="Cambria Math"/>
                              <a:cs typeface="Times New Roman" pitchFamily="18" charset="0"/>
                            </a:rPr>
                            <m:t>𝟑</m:t>
                          </m:r>
                          <m:r>
                            <a:rPr lang="en-US" b="1" i="1" dirty="0" smtClean="0">
                              <a:latin typeface="Cambria Math"/>
                              <a:cs typeface="Times New Roman" pitchFamily="18" charset="0"/>
                            </a:rPr>
                            <m:t>+</m:t>
                          </m:r>
                          <m:r>
                            <a:rPr lang="en-US" b="1" i="1" dirty="0" smtClean="0">
                              <a:latin typeface="Cambria Math"/>
                              <a:cs typeface="Times New Roman" pitchFamily="18" charset="0"/>
                            </a:rPr>
                            <m:t>𝟒</m:t>
                          </m:r>
                          <m:r>
                            <a:rPr lang="en-US" b="1" i="1" dirty="0" smtClean="0">
                              <a:latin typeface="Cambria Math"/>
                              <a:cs typeface="Times New Roman" pitchFamily="18" charset="0"/>
                            </a:rPr>
                            <m:t>+</m:t>
                          </m:r>
                          <m:r>
                            <a:rPr lang="en-US" b="1" i="1" dirty="0" smtClean="0">
                              <a:latin typeface="Cambria Math"/>
                              <a:cs typeface="Times New Roman" pitchFamily="18" charset="0"/>
                            </a:rPr>
                            <m:t>𝟓</m:t>
                          </m:r>
                        </m:den>
                      </m:f>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2753665" y="1200150"/>
                <a:ext cx="1511952" cy="641201"/>
              </a:xfrm>
              <a:prstGeom prst="rect">
                <a:avLst/>
              </a:prstGeom>
              <a:blipFill rotWithShape="1">
                <a:blip r:embed="rId3"/>
                <a:stretch>
                  <a:fillRect r="-52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796458" y="1824914"/>
                <a:ext cx="82266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𝟖</m:t>
                          </m:r>
                        </m:num>
                        <m:den>
                          <m:r>
                            <a:rPr lang="en-US" b="1" i="1" dirty="0" smtClean="0">
                              <a:latin typeface="Cambria Math"/>
                              <a:cs typeface="Times New Roman" pitchFamily="18" charset="0"/>
                            </a:rPr>
                            <m:t>𝟏𝟐</m:t>
                          </m:r>
                        </m:den>
                      </m:f>
                    </m:oMath>
                  </m:oMathPara>
                </a14:m>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2796458" y="1824914"/>
                <a:ext cx="822661" cy="610936"/>
              </a:xfrm>
              <a:prstGeom prst="rect">
                <a:avLst/>
              </a:prstGeom>
              <a:blipFill rotWithShape="1">
                <a:blip r:embed="rId4"/>
                <a:stretch>
                  <a:fillRect r="-10370" b="-19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762132" y="2441767"/>
                <a:ext cx="684803"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dirty="0" smtClean="0">
                          <a:latin typeface="Cambria Math"/>
                          <a:cs typeface="Times New Roman" pitchFamily="18" charset="0"/>
                        </a:rPr>
                        <m:t>= </m:t>
                      </m:r>
                      <m:f>
                        <m:fPr>
                          <m:ctrlPr>
                            <a:rPr lang="en-IN" b="1" i="1" dirty="0">
                              <a:latin typeface="Cambria Math"/>
                              <a:cs typeface="Times New Roman" pitchFamily="18" charset="0"/>
                            </a:rPr>
                          </m:ctrlPr>
                        </m:fPr>
                        <m:num>
                          <m:r>
                            <a:rPr lang="en-US" b="1" i="1" dirty="0" smtClean="0">
                              <a:latin typeface="Cambria Math"/>
                              <a:cs typeface="Times New Roman" pitchFamily="18" charset="0"/>
                            </a:rPr>
                            <m:t>𝟐</m:t>
                          </m:r>
                        </m:num>
                        <m:den>
                          <m:r>
                            <a:rPr lang="en-US" b="1" i="1" dirty="0" smtClean="0">
                              <a:latin typeface="Cambria Math"/>
                              <a:cs typeface="Times New Roman" pitchFamily="18" charset="0"/>
                            </a:rPr>
                            <m:t>𝟑</m:t>
                          </m:r>
                        </m:den>
                      </m:f>
                    </m:oMath>
                  </m:oMathPara>
                </a14:m>
                <a:endParaRPr lang="en-IN" dirty="0"/>
              </a:p>
            </p:txBody>
          </p:sp>
        </mc:Choice>
        <mc:Fallback xmlns="">
          <p:sp>
            <p:nvSpPr>
              <p:cNvPr id="7" name="Rectangle 6"/>
              <p:cNvSpPr>
                <a:spLocks noRot="1" noChangeAspect="1" noMove="1" noResize="1" noEditPoints="1" noAdjustHandles="1" noChangeArrowheads="1" noChangeShapeType="1" noTextEdit="1"/>
              </p:cNvSpPr>
              <p:nvPr/>
            </p:nvSpPr>
            <p:spPr>
              <a:xfrm>
                <a:off x="2762132" y="2441767"/>
                <a:ext cx="684803" cy="612732"/>
              </a:xfrm>
              <a:prstGeom prst="rect">
                <a:avLst/>
              </a:prstGeom>
              <a:blipFill rotWithShape="1">
                <a:blip r:embed="rId5"/>
                <a:stretch>
                  <a:fillRect r="-13393" b="-3000"/>
                </a:stretch>
              </a:blipFill>
            </p:spPr>
            <p:txBody>
              <a:bodyPr/>
              <a:lstStyle/>
              <a:p>
                <a:r>
                  <a:rPr lang="en-IN">
                    <a:noFill/>
                  </a:rPr>
                  <a:t> </a:t>
                </a:r>
              </a:p>
            </p:txBody>
          </p:sp>
        </mc:Fallback>
      </mc:AlternateContent>
    </p:spTree>
    <p:extLst>
      <p:ext uri="{BB962C8B-B14F-4D97-AF65-F5344CB8AC3E}">
        <p14:creationId xmlns:p14="http://schemas.microsoft.com/office/powerpoint/2010/main" val="384678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33350"/>
            <a:ext cx="8686800" cy="1477328"/>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3. A box contains slips with numbers from 1 to 50 written on them. A slip is drawn and replaced. Then another slip is drawn and after replacing another slip is drawn. What is the probability that an even number appears on the first draw, an odd number on the second draw and a number divisible by 3 on the third draw</a:t>
            </a:r>
            <a:r>
              <a:rPr lang="en-US" b="1" dirty="0" smtClean="0">
                <a:solidFill>
                  <a:srgbClr val="FF0000"/>
                </a:solidFill>
                <a:latin typeface="Times New Roman" pitchFamily="18" charset="0"/>
                <a:cs typeface="Times New Roman" pitchFamily="18" charset="0"/>
              </a:rPr>
              <a:t>.</a:t>
            </a:r>
          </a:p>
          <a:p>
            <a:r>
              <a:rPr lang="en-IN" b="1" dirty="0">
                <a:solidFill>
                  <a:srgbClr val="FF0000"/>
                </a:solidFill>
                <a:latin typeface="Times New Roman" pitchFamily="18" charset="0"/>
                <a:cs typeface="Times New Roman" pitchFamily="18" charset="0"/>
              </a:rPr>
              <a:t>A.1/25 </a:t>
            </a:r>
            <a:r>
              <a:rPr lang="en-IN" b="1" dirty="0" smtClean="0">
                <a:solidFill>
                  <a:srgbClr val="FF0000"/>
                </a:solidFill>
                <a:latin typeface="Times New Roman" pitchFamily="18" charset="0"/>
                <a:cs typeface="Times New Roman" pitchFamily="18" charset="0"/>
              </a:rPr>
              <a:t>		B.2/25 		C.8/25 		D.2/25</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193864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85750"/>
            <a:ext cx="67056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4. When 4 fair coins are tossed together what is the probability of getting at least 3 heads?</a:t>
            </a:r>
          </a:p>
          <a:p>
            <a:r>
              <a:rPr lang="en-IN" b="1" dirty="0">
                <a:solidFill>
                  <a:srgbClr val="FF0000"/>
                </a:solidFill>
                <a:latin typeface="Times New Roman" pitchFamily="18" charset="0"/>
                <a:cs typeface="Times New Roman" pitchFamily="18" charset="0"/>
              </a:rPr>
              <a:t>A. 1/4 B. 3/4 C. 5/16 D. </a:t>
            </a:r>
            <a:r>
              <a:rPr lang="en-IN" b="1" dirty="0" smtClean="0">
                <a:solidFill>
                  <a:srgbClr val="FF0000"/>
                </a:solidFill>
                <a:latin typeface="Times New Roman" pitchFamily="18" charset="0"/>
                <a:cs typeface="Times New Roman" pitchFamily="18" charset="0"/>
              </a:rPr>
              <a:t>3/8</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2546426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33350"/>
            <a:ext cx="86868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5. A committee of 3 members is to be made out of 6 men and 5 women. What is the probability that the committee </a:t>
            </a:r>
            <a:r>
              <a:rPr lang="en-US" b="1" dirty="0" smtClean="0">
                <a:solidFill>
                  <a:srgbClr val="FF0000"/>
                </a:solidFill>
                <a:latin typeface="Times New Roman" pitchFamily="18" charset="0"/>
                <a:cs typeface="Times New Roman" pitchFamily="18" charset="0"/>
              </a:rPr>
              <a:t>has </a:t>
            </a:r>
            <a:r>
              <a:rPr lang="en-IN" b="1" dirty="0" smtClean="0">
                <a:solidFill>
                  <a:srgbClr val="FF0000"/>
                </a:solidFill>
                <a:latin typeface="Times New Roman" pitchFamily="18" charset="0"/>
                <a:cs typeface="Times New Roman" pitchFamily="18" charset="0"/>
              </a:rPr>
              <a:t>at </a:t>
            </a:r>
            <a:r>
              <a:rPr lang="en-IN" b="1" dirty="0">
                <a:solidFill>
                  <a:srgbClr val="FF0000"/>
                </a:solidFill>
                <a:latin typeface="Times New Roman" pitchFamily="18" charset="0"/>
                <a:cs typeface="Times New Roman" pitchFamily="18" charset="0"/>
              </a:rPr>
              <a:t>least two women?</a:t>
            </a:r>
          </a:p>
          <a:p>
            <a:r>
              <a:rPr lang="en-IN" b="1" dirty="0">
                <a:solidFill>
                  <a:srgbClr val="FF0000"/>
                </a:solidFill>
                <a:latin typeface="Times New Roman" pitchFamily="18" charset="0"/>
                <a:cs typeface="Times New Roman" pitchFamily="18" charset="0"/>
              </a:rPr>
              <a:t>A. 10/33 B. 14/33 C. 14/15 D. 13/25</a:t>
            </a:r>
          </a:p>
        </p:txBody>
      </p:sp>
    </p:spTree>
    <p:extLst>
      <p:ext uri="{BB962C8B-B14F-4D97-AF65-F5344CB8AC3E}">
        <p14:creationId xmlns:p14="http://schemas.microsoft.com/office/powerpoint/2010/main" val="4982790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09550"/>
            <a:ext cx="87630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6. There are 15 boys and 10 girls in a class. If three students are selected at random, what is the probability that 1 </a:t>
            </a:r>
            <a:r>
              <a:rPr lang="en-US" b="1" dirty="0" smtClean="0">
                <a:solidFill>
                  <a:srgbClr val="FF0000"/>
                </a:solidFill>
                <a:latin typeface="Times New Roman" pitchFamily="18" charset="0"/>
                <a:cs typeface="Times New Roman" pitchFamily="18" charset="0"/>
              </a:rPr>
              <a:t>girl and </a:t>
            </a:r>
            <a:r>
              <a:rPr lang="en-US" b="1" dirty="0">
                <a:solidFill>
                  <a:srgbClr val="FF0000"/>
                </a:solidFill>
                <a:latin typeface="Times New Roman" pitchFamily="18" charset="0"/>
                <a:cs typeface="Times New Roman" pitchFamily="18" charset="0"/>
              </a:rPr>
              <a:t>2 boys are selected?</a:t>
            </a:r>
          </a:p>
          <a:p>
            <a:r>
              <a:rPr lang="en-IN" b="1" dirty="0">
                <a:solidFill>
                  <a:srgbClr val="FF0000"/>
                </a:solidFill>
                <a:latin typeface="Times New Roman" pitchFamily="18" charset="0"/>
                <a:cs typeface="Times New Roman" pitchFamily="18" charset="0"/>
              </a:rPr>
              <a:t>A. 1/40 B.1/2 C.21/46 D.7/41</a:t>
            </a:r>
          </a:p>
        </p:txBody>
      </p:sp>
    </p:spTree>
    <p:extLst>
      <p:ext uri="{BB962C8B-B14F-4D97-AF65-F5344CB8AC3E}">
        <p14:creationId xmlns:p14="http://schemas.microsoft.com/office/powerpoint/2010/main" val="1559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09550"/>
            <a:ext cx="8763000" cy="646331"/>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7. Three dice are thrown together. Find the probability of getting a total of at least 6?</a:t>
            </a:r>
          </a:p>
          <a:p>
            <a:r>
              <a:rPr lang="en-IN" b="1" dirty="0">
                <a:solidFill>
                  <a:srgbClr val="FF0000"/>
                </a:solidFill>
                <a:latin typeface="Times New Roman" pitchFamily="18" charset="0"/>
                <a:cs typeface="Times New Roman" pitchFamily="18" charset="0"/>
              </a:rPr>
              <a:t>A.13/216 B.103/208 C.103/108 D.36/103</a:t>
            </a:r>
          </a:p>
        </p:txBody>
      </p:sp>
    </p:spTree>
    <p:extLst>
      <p:ext uri="{BB962C8B-B14F-4D97-AF65-F5344CB8AC3E}">
        <p14:creationId xmlns:p14="http://schemas.microsoft.com/office/powerpoint/2010/main" val="282109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09550"/>
            <a:ext cx="88392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8. A bag contains 6 pink and 5 yellow balls. One ball is drawn randomly. What is the probability that the ball drawn </a:t>
            </a:r>
            <a:r>
              <a:rPr lang="en-US" b="1" dirty="0" smtClean="0">
                <a:solidFill>
                  <a:srgbClr val="FF0000"/>
                </a:solidFill>
                <a:latin typeface="Times New Roman" pitchFamily="18" charset="0"/>
                <a:cs typeface="Times New Roman" pitchFamily="18" charset="0"/>
              </a:rPr>
              <a:t>is </a:t>
            </a:r>
            <a:r>
              <a:rPr lang="en-IN" b="1" dirty="0" smtClean="0">
                <a:solidFill>
                  <a:srgbClr val="FF0000"/>
                </a:solidFill>
                <a:latin typeface="Times New Roman" pitchFamily="18" charset="0"/>
                <a:cs typeface="Times New Roman" pitchFamily="18" charset="0"/>
              </a:rPr>
              <a:t>Pink</a:t>
            </a:r>
            <a:r>
              <a:rPr lang="en-IN" b="1" dirty="0">
                <a:solidFill>
                  <a:srgbClr val="FF0000"/>
                </a:solidFill>
                <a:latin typeface="Times New Roman" pitchFamily="18" charset="0"/>
                <a:cs typeface="Times New Roman" pitchFamily="18" charset="0"/>
              </a:rPr>
              <a:t>?</a:t>
            </a:r>
          </a:p>
          <a:p>
            <a:r>
              <a:rPr lang="en-IN" b="1" dirty="0">
                <a:solidFill>
                  <a:srgbClr val="FF0000"/>
                </a:solidFill>
                <a:latin typeface="Times New Roman" pitchFamily="18" charset="0"/>
                <a:cs typeface="Times New Roman" pitchFamily="18" charset="0"/>
              </a:rPr>
              <a:t>A. 5/11 B. 1/2 C. 3/11 D. 6/11</a:t>
            </a:r>
          </a:p>
        </p:txBody>
      </p:sp>
    </p:spTree>
    <p:extLst>
      <p:ext uri="{BB962C8B-B14F-4D97-AF65-F5344CB8AC3E}">
        <p14:creationId xmlns:p14="http://schemas.microsoft.com/office/powerpoint/2010/main" val="2674750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09550"/>
            <a:ext cx="88392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9. In a box there are 10 apples and 2/5th of the apples are rotten. If three apples are taken out from the box, what will be the probability that at least one apple is rotten.</a:t>
            </a:r>
          </a:p>
          <a:p>
            <a:r>
              <a:rPr lang="en-IN" b="1" dirty="0">
                <a:solidFill>
                  <a:srgbClr val="FF0000"/>
                </a:solidFill>
                <a:latin typeface="Times New Roman" pitchFamily="18" charset="0"/>
                <a:cs typeface="Times New Roman" pitchFamily="18" charset="0"/>
              </a:rPr>
              <a:t>A. 3/4 B. 5/6 C. 9/10 D. 8/13</a:t>
            </a:r>
          </a:p>
        </p:txBody>
      </p:sp>
    </p:spTree>
    <p:extLst>
      <p:ext uri="{BB962C8B-B14F-4D97-AF65-F5344CB8AC3E}">
        <p14:creationId xmlns:p14="http://schemas.microsoft.com/office/powerpoint/2010/main" val="915853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33350"/>
            <a:ext cx="8686800" cy="923330"/>
          </a:xfrm>
          <a:prstGeom prst="rect">
            <a:avLst/>
          </a:prstGeom>
        </p:spPr>
        <p:txBody>
          <a:bodyPr wrap="square">
            <a:spAutoFit/>
          </a:bodyPr>
          <a:lstStyle/>
          <a:p>
            <a:r>
              <a:rPr lang="en-US" b="1" dirty="0">
                <a:solidFill>
                  <a:srgbClr val="FF0000"/>
                </a:solidFill>
                <a:latin typeface="Times New Roman" pitchFamily="18" charset="0"/>
                <a:cs typeface="Times New Roman" pitchFamily="18" charset="0"/>
              </a:rPr>
              <a:t>10. A bag contains 5 yellow and 2 green and 3 red </a:t>
            </a:r>
            <a:r>
              <a:rPr lang="en-US" b="1" dirty="0" err="1">
                <a:solidFill>
                  <a:srgbClr val="FF0000"/>
                </a:solidFill>
                <a:latin typeface="Times New Roman" pitchFamily="18" charset="0"/>
                <a:cs typeface="Times New Roman" pitchFamily="18" charset="0"/>
              </a:rPr>
              <a:t>colour</a:t>
            </a:r>
            <a:r>
              <a:rPr lang="en-US" b="1" dirty="0">
                <a:solidFill>
                  <a:srgbClr val="FF0000"/>
                </a:solidFill>
                <a:latin typeface="Times New Roman" pitchFamily="18" charset="0"/>
                <a:cs typeface="Times New Roman" pitchFamily="18" charset="0"/>
              </a:rPr>
              <a:t> dice. If one dice from the bag are chosen at random, what </a:t>
            </a:r>
            <a:r>
              <a:rPr lang="en-US" b="1" dirty="0" smtClean="0">
                <a:solidFill>
                  <a:srgbClr val="FF0000"/>
                </a:solidFill>
                <a:latin typeface="Times New Roman" pitchFamily="18" charset="0"/>
                <a:cs typeface="Times New Roman" pitchFamily="18" charset="0"/>
              </a:rPr>
              <a:t>is the </a:t>
            </a:r>
            <a:r>
              <a:rPr lang="en-US" b="1" dirty="0">
                <a:solidFill>
                  <a:srgbClr val="FF0000"/>
                </a:solidFill>
                <a:latin typeface="Times New Roman" pitchFamily="18" charset="0"/>
                <a:cs typeface="Times New Roman" pitchFamily="18" charset="0"/>
              </a:rPr>
              <a:t>probability that dice is either yellow or red </a:t>
            </a:r>
            <a:r>
              <a:rPr lang="en-US" b="1" dirty="0" err="1">
                <a:solidFill>
                  <a:srgbClr val="FF0000"/>
                </a:solidFill>
                <a:latin typeface="Times New Roman" pitchFamily="18" charset="0"/>
                <a:cs typeface="Times New Roman" pitchFamily="18" charset="0"/>
              </a:rPr>
              <a:t>colour</a:t>
            </a:r>
            <a:r>
              <a:rPr lang="en-US" b="1" dirty="0">
                <a:solidFill>
                  <a:srgbClr val="FF0000"/>
                </a:solidFill>
                <a:latin typeface="Times New Roman" pitchFamily="18" charset="0"/>
                <a:cs typeface="Times New Roman" pitchFamily="18" charset="0"/>
              </a:rPr>
              <a:t>?</a:t>
            </a:r>
          </a:p>
          <a:p>
            <a:r>
              <a:rPr lang="en-IN" b="1" dirty="0">
                <a:solidFill>
                  <a:srgbClr val="FF0000"/>
                </a:solidFill>
                <a:latin typeface="Times New Roman" pitchFamily="18" charset="0"/>
                <a:cs typeface="Times New Roman" pitchFamily="18" charset="0"/>
              </a:rPr>
              <a:t>A. 3/4 </a:t>
            </a:r>
            <a:r>
              <a:rPr lang="en-IN" b="1" dirty="0" smtClean="0">
                <a:solidFill>
                  <a:srgbClr val="FF0000"/>
                </a:solidFill>
                <a:latin typeface="Times New Roman" pitchFamily="18" charset="0"/>
                <a:cs typeface="Times New Roman" pitchFamily="18" charset="0"/>
              </a:rPr>
              <a:t>	B</a:t>
            </a:r>
            <a:r>
              <a:rPr lang="en-IN" b="1" dirty="0">
                <a:solidFill>
                  <a:srgbClr val="FF0000"/>
                </a:solidFill>
                <a:latin typeface="Times New Roman" pitchFamily="18" charset="0"/>
                <a:cs typeface="Times New Roman" pitchFamily="18" charset="0"/>
              </a:rPr>
              <a:t>. 4/5 </a:t>
            </a:r>
            <a:r>
              <a:rPr lang="en-IN" b="1" dirty="0" smtClean="0">
                <a:solidFill>
                  <a:srgbClr val="FF0000"/>
                </a:solidFill>
                <a:latin typeface="Times New Roman" pitchFamily="18" charset="0"/>
                <a:cs typeface="Times New Roman" pitchFamily="18" charset="0"/>
              </a:rPr>
              <a:t>		C</a:t>
            </a:r>
            <a:r>
              <a:rPr lang="en-IN" b="1" dirty="0">
                <a:solidFill>
                  <a:srgbClr val="FF0000"/>
                </a:solidFill>
                <a:latin typeface="Times New Roman" pitchFamily="18" charset="0"/>
                <a:cs typeface="Times New Roman" pitchFamily="18" charset="0"/>
              </a:rPr>
              <a:t>. 3/10 </a:t>
            </a:r>
            <a:r>
              <a:rPr lang="en-IN" b="1" dirty="0" smtClean="0">
                <a:solidFill>
                  <a:srgbClr val="FF0000"/>
                </a:solidFill>
                <a:latin typeface="Times New Roman" pitchFamily="18" charset="0"/>
                <a:cs typeface="Times New Roman" pitchFamily="18" charset="0"/>
              </a:rPr>
              <a:t>			D</a:t>
            </a:r>
            <a:r>
              <a:rPr lang="en-IN" b="1" dirty="0">
                <a:solidFill>
                  <a:srgbClr val="FF0000"/>
                </a:solidFill>
                <a:latin typeface="Times New Roman" pitchFamily="18" charset="0"/>
                <a:cs typeface="Times New Roman" pitchFamily="18" charset="0"/>
              </a:rPr>
              <a:t>. 7/10</a:t>
            </a:r>
          </a:p>
        </p:txBody>
      </p:sp>
    </p:spTree>
    <p:extLst>
      <p:ext uri="{BB962C8B-B14F-4D97-AF65-F5344CB8AC3E}">
        <p14:creationId xmlns:p14="http://schemas.microsoft.com/office/powerpoint/2010/main" val="1793334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11	A </a:t>
            </a:r>
            <a:r>
              <a:rPr lang="en-US" b="1" dirty="0">
                <a:solidFill>
                  <a:srgbClr val="FF0000"/>
                </a:solidFill>
                <a:latin typeface="Times New Roman" pitchFamily="18" charset="0"/>
                <a:cs typeface="Times New Roman" pitchFamily="18" charset="0"/>
              </a:rPr>
              <a:t>bag contains 5 red and 6 black marbles. Two are drawn without replacement. What is the probability that both are red? </a:t>
            </a:r>
          </a:p>
          <a:p>
            <a:r>
              <a:rPr lang="en-IN" b="1" dirty="0">
                <a:solidFill>
                  <a:srgbClr val="FF0000"/>
                </a:solidFill>
                <a:latin typeface="Times New Roman" pitchFamily="18" charset="0"/>
                <a:cs typeface="Times New Roman" pitchFamily="18" charset="0"/>
              </a:rPr>
              <a:t>A. 2/11 B. 5/11 C. 6/11 D. 1/11 </a:t>
            </a:r>
          </a:p>
        </p:txBody>
      </p:sp>
    </p:spTree>
    <p:extLst>
      <p:ext uri="{BB962C8B-B14F-4D97-AF65-F5344CB8AC3E}">
        <p14:creationId xmlns:p14="http://schemas.microsoft.com/office/powerpoint/2010/main" val="4089671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12	A </a:t>
            </a:r>
            <a:r>
              <a:rPr lang="en-US" b="1" dirty="0">
                <a:solidFill>
                  <a:srgbClr val="FF0000"/>
                </a:solidFill>
                <a:latin typeface="Times New Roman" pitchFamily="18" charset="0"/>
                <a:cs typeface="Times New Roman" pitchFamily="18" charset="0"/>
              </a:rPr>
              <a:t>bag contains 5 blue and 6 green balls. Two are drawn without replacement. Find the probability that they are the same color. </a:t>
            </a:r>
          </a:p>
          <a:p>
            <a:r>
              <a:rPr lang="en-IN" b="1" dirty="0" smtClean="0">
                <a:solidFill>
                  <a:srgbClr val="FF0000"/>
                </a:solidFill>
                <a:latin typeface="Times New Roman" pitchFamily="18" charset="0"/>
                <a:cs typeface="Times New Roman" pitchFamily="18" charset="0"/>
              </a:rPr>
              <a:t>A</a:t>
            </a:r>
            <a:r>
              <a:rPr lang="en-IN" b="1" dirty="0">
                <a:solidFill>
                  <a:srgbClr val="FF0000"/>
                </a:solidFill>
                <a:latin typeface="Times New Roman" pitchFamily="18" charset="0"/>
                <a:cs typeface="Times New Roman" pitchFamily="18" charset="0"/>
              </a:rPr>
              <a:t>. 60/36 B. 16/36 C. 9/36 D. 12/36 </a:t>
            </a:r>
          </a:p>
        </p:txBody>
      </p:sp>
    </p:spTree>
    <p:extLst>
      <p:ext uri="{BB962C8B-B14F-4D97-AF65-F5344CB8AC3E}">
        <p14:creationId xmlns:p14="http://schemas.microsoft.com/office/powerpoint/2010/main" val="392822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13	Two fair dice are rolled. The score is the larger of the number showing. Find the probability that the score is 1? </a:t>
            </a:r>
          </a:p>
          <a:p>
            <a:r>
              <a:rPr lang="en-IN" b="1" dirty="0" smtClean="0">
                <a:solidFill>
                  <a:srgbClr val="FF0000"/>
                </a:solidFill>
                <a:latin typeface="Times New Roman" pitchFamily="18" charset="0"/>
                <a:cs typeface="Times New Roman" pitchFamily="18" charset="0"/>
              </a:rPr>
              <a:t>A. 0 B. 1/36 C. 1/3 D. 1/6 </a:t>
            </a:r>
          </a:p>
        </p:txBody>
      </p:sp>
    </p:spTree>
    <p:extLst>
      <p:ext uri="{BB962C8B-B14F-4D97-AF65-F5344CB8AC3E}">
        <p14:creationId xmlns:p14="http://schemas.microsoft.com/office/powerpoint/2010/main" val="3301026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646331"/>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14	Two fair dice are thrown. Find the probability that the sum is 7 </a:t>
            </a:r>
          </a:p>
          <a:p>
            <a:r>
              <a:rPr lang="en-IN" b="1" dirty="0" smtClean="0">
                <a:solidFill>
                  <a:srgbClr val="FF0000"/>
                </a:solidFill>
                <a:latin typeface="Times New Roman" pitchFamily="18" charset="0"/>
                <a:cs typeface="Times New Roman" pitchFamily="18" charset="0"/>
              </a:rPr>
              <a:t>A. 1/6 B. 7/36 C. 1/18 D. 2/3 </a:t>
            </a:r>
          </a:p>
        </p:txBody>
      </p:sp>
    </p:spTree>
    <p:extLst>
      <p:ext uri="{BB962C8B-B14F-4D97-AF65-F5344CB8AC3E}">
        <p14:creationId xmlns:p14="http://schemas.microsoft.com/office/powerpoint/2010/main" val="2952546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15	Two children A and B each pick a random single digit from 1 to 9. Find the probability that they pick the same </a:t>
            </a:r>
            <a:r>
              <a:rPr lang="en-IN" b="1" dirty="0">
                <a:solidFill>
                  <a:srgbClr val="FF0000"/>
                </a:solidFill>
                <a:latin typeface="Times New Roman" pitchFamily="18" charset="0"/>
                <a:cs typeface="Times New Roman" pitchFamily="18" charset="0"/>
              </a:rPr>
              <a:t>number. </a:t>
            </a:r>
          </a:p>
          <a:p>
            <a:r>
              <a:rPr lang="en-IN" b="1" dirty="0">
                <a:solidFill>
                  <a:srgbClr val="FF0000"/>
                </a:solidFill>
                <a:latin typeface="Times New Roman" pitchFamily="18" charset="0"/>
                <a:cs typeface="Times New Roman" pitchFamily="18" charset="0"/>
              </a:rPr>
              <a:t>A. 1/9 B. 1/81 C. 8/9 D. 5/36 </a:t>
            </a:r>
            <a:endParaRPr lang="en-US"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014206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IN" b="1" dirty="0" smtClean="0">
                <a:solidFill>
                  <a:srgbClr val="FF0000"/>
                </a:solidFill>
                <a:latin typeface="Times New Roman" pitchFamily="18" charset="0"/>
                <a:cs typeface="Times New Roman" pitchFamily="18" charset="0"/>
              </a:rPr>
              <a:t>16	</a:t>
            </a:r>
            <a:r>
              <a:rPr lang="en-US" b="1" dirty="0" smtClean="0">
                <a:solidFill>
                  <a:srgbClr val="FF0000"/>
                </a:solidFill>
                <a:latin typeface="Times New Roman" pitchFamily="18" charset="0"/>
                <a:cs typeface="Times New Roman" pitchFamily="18" charset="0"/>
              </a:rPr>
              <a:t>Ram </a:t>
            </a:r>
            <a:r>
              <a:rPr lang="en-US" b="1" dirty="0">
                <a:solidFill>
                  <a:srgbClr val="FF0000"/>
                </a:solidFill>
                <a:latin typeface="Times New Roman" pitchFamily="18" charset="0"/>
                <a:cs typeface="Times New Roman" pitchFamily="18" charset="0"/>
              </a:rPr>
              <a:t>draws one card at random from a pack of 52 cards. What is the probability that the card drawn is a face card (jack, queen and king only)? </a:t>
            </a:r>
          </a:p>
          <a:p>
            <a:r>
              <a:rPr lang="en-IN" b="1" dirty="0">
                <a:solidFill>
                  <a:srgbClr val="FF0000"/>
                </a:solidFill>
                <a:latin typeface="Times New Roman" pitchFamily="18" charset="0"/>
                <a:cs typeface="Times New Roman" pitchFamily="18" charset="0"/>
              </a:rPr>
              <a:t>A. 3/13 B. 3/15 C. 3/17 D. 3/19 </a:t>
            </a:r>
          </a:p>
        </p:txBody>
      </p:sp>
    </p:spTree>
    <p:extLst>
      <p:ext uri="{BB962C8B-B14F-4D97-AF65-F5344CB8AC3E}">
        <p14:creationId xmlns:p14="http://schemas.microsoft.com/office/powerpoint/2010/main" val="734383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IN" b="1" dirty="0" smtClean="0">
                <a:solidFill>
                  <a:srgbClr val="FF0000"/>
                </a:solidFill>
                <a:latin typeface="Times New Roman" pitchFamily="18" charset="0"/>
                <a:cs typeface="Times New Roman" pitchFamily="18" charset="0"/>
              </a:rPr>
              <a:t>17	</a:t>
            </a:r>
            <a:r>
              <a:rPr lang="en-US" b="1" dirty="0" smtClean="0">
                <a:solidFill>
                  <a:srgbClr val="FF0000"/>
                </a:solidFill>
                <a:latin typeface="Times New Roman" pitchFamily="18" charset="0"/>
                <a:cs typeface="Times New Roman" pitchFamily="18" charset="0"/>
              </a:rPr>
              <a:t>In </a:t>
            </a:r>
            <a:r>
              <a:rPr lang="en-US" b="1" dirty="0">
                <a:solidFill>
                  <a:srgbClr val="FF0000"/>
                </a:solidFill>
                <a:latin typeface="Times New Roman" pitchFamily="18" charset="0"/>
                <a:cs typeface="Times New Roman" pitchFamily="18" charset="0"/>
              </a:rPr>
              <a:t>a bag, there are 8 red, 7 yellow and 6 green balls. If one ball is picked up at random, what is the probability that it is neither red nor green? </a:t>
            </a:r>
          </a:p>
          <a:p>
            <a:r>
              <a:rPr lang="en-IN" b="1" dirty="0" smtClean="0">
                <a:solidFill>
                  <a:srgbClr val="FF0000"/>
                </a:solidFill>
                <a:latin typeface="Times New Roman" pitchFamily="18" charset="0"/>
                <a:cs typeface="Times New Roman" pitchFamily="18" charset="0"/>
              </a:rPr>
              <a:t>A</a:t>
            </a:r>
            <a:r>
              <a:rPr lang="en-IN" b="1" dirty="0">
                <a:solidFill>
                  <a:srgbClr val="FF0000"/>
                </a:solidFill>
                <a:latin typeface="Times New Roman" pitchFamily="18" charset="0"/>
                <a:cs typeface="Times New Roman" pitchFamily="18" charset="0"/>
              </a:rPr>
              <a:t>. 1/4 B. 1/3 C. 1/5 D. 1/2 </a:t>
            </a:r>
          </a:p>
        </p:txBody>
      </p:sp>
    </p:spTree>
    <p:extLst>
      <p:ext uri="{BB962C8B-B14F-4D97-AF65-F5344CB8AC3E}">
        <p14:creationId xmlns:p14="http://schemas.microsoft.com/office/powerpoint/2010/main" val="3992590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IN" b="1" dirty="0" smtClean="0">
                <a:solidFill>
                  <a:srgbClr val="FF0000"/>
                </a:solidFill>
                <a:latin typeface="Times New Roman" pitchFamily="18" charset="0"/>
                <a:cs typeface="Times New Roman" pitchFamily="18" charset="0"/>
              </a:rPr>
              <a:t>18	</a:t>
            </a:r>
            <a:r>
              <a:rPr lang="en-US" b="1" dirty="0" smtClean="0">
                <a:solidFill>
                  <a:srgbClr val="FF0000"/>
                </a:solidFill>
                <a:latin typeface="Times New Roman" pitchFamily="18" charset="0"/>
                <a:cs typeface="Times New Roman" pitchFamily="18" charset="0"/>
              </a:rPr>
              <a:t>In </a:t>
            </a:r>
            <a:r>
              <a:rPr lang="en-US" b="1" dirty="0">
                <a:solidFill>
                  <a:srgbClr val="FF0000"/>
                </a:solidFill>
                <a:latin typeface="Times New Roman" pitchFamily="18" charset="0"/>
                <a:cs typeface="Times New Roman" pitchFamily="18" charset="0"/>
              </a:rPr>
              <a:t>a group of students, there are 15 boys and 10 girls. If three students are selected at random, what is the probability that 1 girl and 2 boys are selected? </a:t>
            </a:r>
          </a:p>
          <a:p>
            <a:r>
              <a:rPr lang="en-IN" b="1" dirty="0" smtClean="0">
                <a:solidFill>
                  <a:srgbClr val="FF0000"/>
                </a:solidFill>
                <a:latin typeface="Times New Roman" pitchFamily="18" charset="0"/>
                <a:cs typeface="Times New Roman" pitchFamily="18" charset="0"/>
              </a:rPr>
              <a:t>A</a:t>
            </a:r>
            <a:r>
              <a:rPr lang="en-IN" b="1" dirty="0">
                <a:solidFill>
                  <a:srgbClr val="FF0000"/>
                </a:solidFill>
                <a:latin typeface="Times New Roman" pitchFamily="18" charset="0"/>
                <a:cs typeface="Times New Roman" pitchFamily="18" charset="0"/>
              </a:rPr>
              <a:t>. 21/46 B. 21/36 C. 21/56 D. 21/26 </a:t>
            </a:r>
          </a:p>
        </p:txBody>
      </p:sp>
    </p:spTree>
    <p:extLst>
      <p:ext uri="{BB962C8B-B14F-4D97-AF65-F5344CB8AC3E}">
        <p14:creationId xmlns:p14="http://schemas.microsoft.com/office/powerpoint/2010/main" val="1687186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19	A </a:t>
            </a:r>
            <a:r>
              <a:rPr lang="en-US" b="1" dirty="0">
                <a:solidFill>
                  <a:srgbClr val="FF0000"/>
                </a:solidFill>
                <a:latin typeface="Times New Roman" pitchFamily="18" charset="0"/>
                <a:cs typeface="Times New Roman" pitchFamily="18" charset="0"/>
              </a:rPr>
              <a:t>man draws two cards at random from a pack of 52 cards. What is the probability that one is a spade and the other is a heart? </a:t>
            </a:r>
          </a:p>
          <a:p>
            <a:r>
              <a:rPr lang="en-IN" b="1" dirty="0" smtClean="0">
                <a:solidFill>
                  <a:srgbClr val="FF0000"/>
                </a:solidFill>
                <a:latin typeface="Times New Roman" pitchFamily="18" charset="0"/>
                <a:cs typeface="Times New Roman" pitchFamily="18" charset="0"/>
              </a:rPr>
              <a:t>A</a:t>
            </a:r>
            <a:r>
              <a:rPr lang="en-IN" b="1" dirty="0">
                <a:solidFill>
                  <a:srgbClr val="FF0000"/>
                </a:solidFill>
                <a:latin typeface="Times New Roman" pitchFamily="18" charset="0"/>
                <a:cs typeface="Times New Roman" pitchFamily="18" charset="0"/>
              </a:rPr>
              <a:t>. 13/105 B. 13/102 C. 13/110 D. 13/108 </a:t>
            </a:r>
          </a:p>
        </p:txBody>
      </p:sp>
    </p:spTree>
    <p:extLst>
      <p:ext uri="{BB962C8B-B14F-4D97-AF65-F5344CB8AC3E}">
        <p14:creationId xmlns:p14="http://schemas.microsoft.com/office/powerpoint/2010/main" val="3366991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21" y="133350"/>
            <a:ext cx="8915400" cy="923330"/>
          </a:xfrm>
          <a:prstGeom prst="rect">
            <a:avLst/>
          </a:prstGeom>
        </p:spPr>
        <p:txBody>
          <a:bodyPr wrap="square">
            <a:spAutoFit/>
          </a:bodyPr>
          <a:lstStyle/>
          <a:p>
            <a:r>
              <a:rPr lang="en-IN" b="1" dirty="0" smtClean="0">
                <a:solidFill>
                  <a:srgbClr val="FF0000"/>
                </a:solidFill>
                <a:latin typeface="Times New Roman" pitchFamily="18" charset="0"/>
                <a:cs typeface="Times New Roman" pitchFamily="18" charset="0"/>
              </a:rPr>
              <a:t>20	</a:t>
            </a:r>
            <a:r>
              <a:rPr lang="en-US" b="1" dirty="0" smtClean="0">
                <a:solidFill>
                  <a:srgbClr val="FF0000"/>
                </a:solidFill>
                <a:latin typeface="Times New Roman" pitchFamily="18" charset="0"/>
                <a:cs typeface="Times New Roman" pitchFamily="18" charset="0"/>
              </a:rPr>
              <a:t>A </a:t>
            </a:r>
            <a:r>
              <a:rPr lang="en-US" b="1" dirty="0">
                <a:solidFill>
                  <a:srgbClr val="FF0000"/>
                </a:solidFill>
                <a:latin typeface="Times New Roman" pitchFamily="18" charset="0"/>
                <a:cs typeface="Times New Roman" pitchFamily="18" charset="0"/>
              </a:rPr>
              <a:t>card is drawn from a pack of 52 cards. What is the probability of getting a king of heart or a queen of club? </a:t>
            </a:r>
          </a:p>
          <a:p>
            <a:r>
              <a:rPr lang="en-IN" b="1" dirty="0" smtClean="0">
                <a:solidFill>
                  <a:srgbClr val="FF0000"/>
                </a:solidFill>
                <a:latin typeface="Times New Roman" pitchFamily="18" charset="0"/>
                <a:cs typeface="Times New Roman" pitchFamily="18" charset="0"/>
              </a:rPr>
              <a:t>A</a:t>
            </a:r>
            <a:r>
              <a:rPr lang="en-IN" b="1" dirty="0">
                <a:solidFill>
                  <a:srgbClr val="FF0000"/>
                </a:solidFill>
                <a:latin typeface="Times New Roman" pitchFamily="18" charset="0"/>
                <a:cs typeface="Times New Roman" pitchFamily="18" charset="0"/>
              </a:rPr>
              <a:t>. 1/22 B. 1/24 C. 1/26 D. 1/28 </a:t>
            </a:r>
            <a:endParaRPr lang="en-US"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019813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942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381000" y="438150"/>
                <a:ext cx="8534400" cy="1155829"/>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A bag contains 2 red, 3 green and 2 blue balls. Two balls are drawn at random. What is the probability that none of the balls drawn is blue?</a:t>
                </a:r>
              </a:p>
              <a:p>
                <a:r>
                  <a:rPr lang="en-US" sz="2000" b="1" dirty="0" smtClean="0">
                    <a:solidFill>
                      <a:srgbClr val="FF0000"/>
                    </a:solidFill>
                    <a:latin typeface="Times New Roman" pitchFamily="18" charset="0"/>
                    <a:cs typeface="Times New Roman" pitchFamily="18" charset="0"/>
                  </a:rPr>
                  <a:t>A.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𝟏𝟎</m:t>
                        </m:r>
                      </m:num>
                      <m:den>
                        <m:r>
                          <a:rPr lang="en-US" sz="2000" b="1" i="1" smtClean="0">
                            <a:solidFill>
                              <a:srgbClr val="FF0000"/>
                            </a:solidFill>
                            <a:latin typeface="Cambria Math"/>
                            <a:cs typeface="Times New Roman" pitchFamily="18" charset="0"/>
                          </a:rPr>
                          <m:t>𝟐𝟏</m:t>
                        </m:r>
                      </m:den>
                    </m:f>
                  </m:oMath>
                </a14:m>
                <a:r>
                  <a:rPr lang="en-US" sz="2000" b="1" dirty="0" smtClean="0">
                    <a:solidFill>
                      <a:srgbClr val="FF0000"/>
                    </a:solidFill>
                    <a:latin typeface="Times New Roman" pitchFamily="18" charset="0"/>
                    <a:cs typeface="Times New Roman" pitchFamily="18" charset="0"/>
                  </a:rPr>
                  <a:t>	`	B.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𝟏𝟏</m:t>
                        </m:r>
                      </m:num>
                      <m:den>
                        <m:r>
                          <a:rPr lang="en-US" sz="2000" b="1" i="1" smtClean="0">
                            <a:solidFill>
                              <a:srgbClr val="FF0000"/>
                            </a:solidFill>
                            <a:latin typeface="Cambria Math"/>
                            <a:cs typeface="Times New Roman" pitchFamily="18" charset="0"/>
                          </a:rPr>
                          <m:t>𝟐𝟏</m:t>
                        </m:r>
                      </m:den>
                    </m:f>
                  </m:oMath>
                </a14:m>
                <a:r>
                  <a:rPr lang="en-US" sz="2000"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𝟐</m:t>
                        </m:r>
                      </m:num>
                      <m:den>
                        <m:r>
                          <a:rPr lang="en-US" sz="2000" b="1" i="1" smtClean="0">
                            <a:solidFill>
                              <a:srgbClr val="FF0000"/>
                            </a:solidFill>
                            <a:latin typeface="Cambria Math"/>
                            <a:cs typeface="Times New Roman" pitchFamily="18" charset="0"/>
                          </a:rPr>
                          <m:t>𝟕</m:t>
                        </m:r>
                      </m:den>
                    </m:f>
                  </m:oMath>
                </a14:m>
                <a:r>
                  <a:rPr lang="en-US" sz="20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𝟓</m:t>
                        </m:r>
                      </m:num>
                      <m:den>
                        <m:r>
                          <a:rPr lang="en-US" sz="2000" b="1" i="1" smtClean="0">
                            <a:solidFill>
                              <a:srgbClr val="FF0000"/>
                            </a:solidFill>
                            <a:latin typeface="Cambria Math"/>
                            <a:cs typeface="Times New Roman" pitchFamily="18" charset="0"/>
                          </a:rPr>
                          <m:t>𝟕</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81000" y="438150"/>
                <a:ext cx="8534400" cy="1155829"/>
              </a:xfrm>
              <a:prstGeom prst="rect">
                <a:avLst/>
              </a:prstGeom>
              <a:blipFill rotWithShape="1">
                <a:blip r:embed="rId2"/>
                <a:stretch>
                  <a:fillRect l="-786" t="-2646" b="-3175"/>
                </a:stretch>
              </a:blipFill>
            </p:spPr>
            <p:txBody>
              <a:bodyPr/>
              <a:lstStyle/>
              <a:p>
                <a:r>
                  <a:rPr lang="en-US">
                    <a:noFill/>
                  </a:rPr>
                  <a:t> </a:t>
                </a:r>
              </a:p>
            </p:txBody>
          </p:sp>
        </mc:Fallback>
      </mc:AlternateContent>
      <p:sp>
        <p:nvSpPr>
          <p:cNvPr id="8" name="Rectangle 7"/>
          <p:cNvSpPr/>
          <p:nvPr/>
        </p:nvSpPr>
        <p:spPr>
          <a:xfrm>
            <a:off x="335509" y="1428750"/>
            <a:ext cx="4572000" cy="400110"/>
          </a:xfrm>
          <a:prstGeom prst="rect">
            <a:avLst/>
          </a:prstGeom>
        </p:spPr>
        <p:txBody>
          <a:bodyPr>
            <a:spAutoFit/>
          </a:bodyPr>
          <a:lstStyle/>
          <a:p>
            <a:r>
              <a:rPr lang="en-US" sz="2000" dirty="0">
                <a:latin typeface="Times New Roman" pitchFamily="18" charset="0"/>
                <a:cs typeface="Times New Roman" pitchFamily="18" charset="0"/>
              </a:rPr>
              <a:t>Here, Total number of balls</a:t>
            </a:r>
          </a:p>
        </p:txBody>
      </p:sp>
      <p:sp>
        <p:nvSpPr>
          <p:cNvPr id="11" name="Rectangle 10"/>
          <p:cNvSpPr/>
          <p:nvPr/>
        </p:nvSpPr>
        <p:spPr>
          <a:xfrm>
            <a:off x="335509" y="1822342"/>
            <a:ext cx="5585183" cy="400110"/>
          </a:xfrm>
          <a:prstGeom prst="rect">
            <a:avLst/>
          </a:prstGeom>
        </p:spPr>
        <p:txBody>
          <a:bodyPr wrap="none">
            <a:spAutoFit/>
          </a:bodyPr>
          <a:lstStyle/>
          <a:p>
            <a:r>
              <a:rPr lang="en-US" sz="2000" dirty="0">
                <a:latin typeface="Times New Roman" pitchFamily="18" charset="0"/>
                <a:cs typeface="Times New Roman" pitchFamily="18" charset="0"/>
              </a:rPr>
              <a:t>Let </a:t>
            </a:r>
            <a:r>
              <a:rPr lang="en-US" sz="2000" dirty="0" smtClean="0">
                <a:latin typeface="Times New Roman" pitchFamily="18" charset="0"/>
                <a:cs typeface="Times New Roman" pitchFamily="18" charset="0"/>
              </a:rPr>
              <a:t>n(S) </a:t>
            </a:r>
            <a:r>
              <a:rPr lang="en-US" sz="2000" dirty="0">
                <a:latin typeface="Times New Roman" pitchFamily="18" charset="0"/>
                <a:cs typeface="Times New Roman" pitchFamily="18" charset="0"/>
              </a:rPr>
              <a:t>Number of ways of drawing 2 balls out of 7</a:t>
            </a:r>
          </a:p>
        </p:txBody>
      </p:sp>
      <mc:AlternateContent xmlns:mc="http://schemas.openxmlformats.org/markup-compatibility/2006" xmlns:a14="http://schemas.microsoft.com/office/drawing/2010/main">
        <mc:Choice Requires="a14">
          <p:sp>
            <p:nvSpPr>
              <p:cNvPr id="22" name="Rectangle 21"/>
              <p:cNvSpPr/>
              <p:nvPr/>
            </p:nvSpPr>
            <p:spPr>
              <a:xfrm>
                <a:off x="5858217" y="1822342"/>
                <a:ext cx="146617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𝑆</m:t>
                          </m:r>
                        </m:e>
                      </m:d>
                      <m:r>
                        <a:rPr lang="en-US" sz="2000" b="0" i="1" smtClean="0">
                          <a:latin typeface="Cambria Math"/>
                          <a:cs typeface="Times New Roman" pitchFamily="18" charset="0"/>
                        </a:rPr>
                        <m:t>=</m:t>
                      </m:r>
                      <m:sSub>
                        <m:sSubPr>
                          <m:ctrlPr>
                            <a:rPr lang="en-US" sz="2000" b="0" i="1" smtClean="0">
                              <a:latin typeface="Cambria Math"/>
                              <a:cs typeface="Times New Roman" pitchFamily="18" charset="0"/>
                            </a:rPr>
                          </m:ctrlPr>
                        </m:sSubPr>
                        <m:e>
                          <m:sPre>
                            <m:sPrePr>
                              <m:ctrlPr>
                                <a:rPr lang="en-US" sz="2000" b="0" i="1" smtClean="0">
                                  <a:latin typeface="Cambria Math"/>
                                  <a:cs typeface="Times New Roman" pitchFamily="18" charset="0"/>
                                </a:rPr>
                              </m:ctrlPr>
                            </m:sPrePr>
                            <m:sub/>
                            <m:sup>
                              <m:r>
                                <a:rPr lang="en-US" sz="2000" b="0" i="1" smtClean="0">
                                  <a:latin typeface="Cambria Math"/>
                                </a:rPr>
                                <m:t>7</m:t>
                              </m:r>
                            </m:sup>
                            <m:e>
                              <m:r>
                                <a:rPr lang="en-US" sz="2000" b="0" i="1" smtClean="0">
                                  <a:latin typeface="Cambria Math"/>
                                </a:rPr>
                                <m:t>𝐶</m:t>
                              </m:r>
                            </m:e>
                          </m:sPre>
                        </m:e>
                        <m:sub>
                          <m:r>
                            <a:rPr lang="en-US" sz="2000" b="0" i="1" smtClean="0">
                              <a:latin typeface="Cambria Math"/>
                              <a:cs typeface="Times New Roman" pitchFamily="18" charset="0"/>
                            </a:rPr>
                            <m:t>2</m:t>
                          </m:r>
                        </m:sub>
                      </m:sSub>
                    </m:oMath>
                  </m:oMathPara>
                </a14:m>
                <a:endParaRPr lang="en-US" sz="2000" dirty="0">
                  <a:latin typeface="Times New Roman" pitchFamily="18" charset="0"/>
                  <a:cs typeface="Times New Roman"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5858217" y="1822342"/>
                <a:ext cx="1466171" cy="400110"/>
              </a:xfrm>
              <a:prstGeom prst="rect">
                <a:avLst/>
              </a:prstGeom>
              <a:blipFill rotWithShape="1">
                <a:blip r:embed="rId3"/>
                <a:stretch>
                  <a:fillRect t="-7576" r="-5809" b="-25758"/>
                </a:stretch>
              </a:blipFill>
            </p:spPr>
            <p:txBody>
              <a:bodyPr/>
              <a:lstStyle/>
              <a:p>
                <a:r>
                  <a:rPr lang="en-US">
                    <a:noFill/>
                  </a:rPr>
                  <a:t> </a:t>
                </a:r>
              </a:p>
            </p:txBody>
          </p:sp>
        </mc:Fallback>
      </mc:AlternateContent>
      <p:sp>
        <p:nvSpPr>
          <p:cNvPr id="23" name="Rectangle 22"/>
          <p:cNvSpPr/>
          <p:nvPr/>
        </p:nvSpPr>
        <p:spPr>
          <a:xfrm>
            <a:off x="1811231" y="4107430"/>
            <a:ext cx="2731521" cy="400110"/>
          </a:xfrm>
          <a:prstGeom prst="rect">
            <a:avLst/>
          </a:prstGeom>
        </p:spPr>
        <p:txBody>
          <a:bodyPr wrap="square">
            <a:spAutoFit/>
          </a:bodyPr>
          <a:lstStyle/>
          <a:p>
            <a:r>
              <a:rPr lang="en-US" sz="2000" b="1" dirty="0">
                <a:latin typeface="Times New Roman" pitchFamily="18" charset="0"/>
                <a:cs typeface="Times New Roman" pitchFamily="18" charset="0"/>
              </a:rPr>
              <a:t>Required </a:t>
            </a:r>
            <a:r>
              <a:rPr lang="en-US" sz="2000" b="1" dirty="0" smtClean="0">
                <a:latin typeface="Times New Roman" pitchFamily="18" charset="0"/>
                <a:cs typeface="Times New Roman" pitchFamily="18" charset="0"/>
              </a:rPr>
              <a:t>probability</a:t>
            </a:r>
            <a:endParaRPr lang="en-US" sz="20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Rectangle 23"/>
              <p:cNvSpPr/>
              <p:nvPr/>
            </p:nvSpPr>
            <p:spPr>
              <a:xfrm>
                <a:off x="4083539" y="3972201"/>
                <a:ext cx="1059008" cy="7331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a:cs typeface="Times New Roman" pitchFamily="18" charset="0"/>
                        </a:rPr>
                        <m:t>=</m:t>
                      </m:r>
                      <m:f>
                        <m:fPr>
                          <m:ctrlPr>
                            <a:rPr lang="en-US" sz="2000" b="1" i="1" smtClean="0">
                              <a:latin typeface="Cambria Math"/>
                              <a:cs typeface="Times New Roman" pitchFamily="18" charset="0"/>
                            </a:rPr>
                          </m:ctrlPr>
                        </m:fPr>
                        <m:num>
                          <m:r>
                            <a:rPr lang="en-US" sz="2000" b="1" i="1" smtClean="0">
                              <a:latin typeface="Cambria Math"/>
                              <a:cs typeface="Times New Roman" pitchFamily="18" charset="0"/>
                            </a:rPr>
                            <m:t>𝒏</m:t>
                          </m:r>
                          <m:r>
                            <a:rPr lang="en-US" sz="2000" b="1" i="1" smtClean="0">
                              <a:latin typeface="Cambria Math"/>
                              <a:cs typeface="Times New Roman" pitchFamily="18" charset="0"/>
                            </a:rPr>
                            <m:t>(</m:t>
                          </m:r>
                          <m:r>
                            <a:rPr lang="en-US" sz="2000" b="1" i="1" smtClean="0">
                              <a:latin typeface="Cambria Math"/>
                              <a:cs typeface="Times New Roman" pitchFamily="18" charset="0"/>
                            </a:rPr>
                            <m:t>𝑬</m:t>
                          </m:r>
                          <m:r>
                            <a:rPr lang="en-US" sz="2000" b="1" i="1" smtClean="0">
                              <a:latin typeface="Cambria Math"/>
                              <a:cs typeface="Times New Roman" pitchFamily="18" charset="0"/>
                            </a:rPr>
                            <m:t>)</m:t>
                          </m:r>
                        </m:num>
                        <m:den>
                          <m:r>
                            <a:rPr lang="en-US" sz="2000" b="1" i="1" smtClean="0">
                              <a:latin typeface="Cambria Math"/>
                              <a:cs typeface="Times New Roman" pitchFamily="18" charset="0"/>
                            </a:rPr>
                            <m:t>𝒏</m:t>
                          </m:r>
                          <m:r>
                            <a:rPr lang="en-US" sz="2000" b="1" i="1" smtClean="0">
                              <a:latin typeface="Cambria Math"/>
                              <a:cs typeface="Times New Roman" pitchFamily="18" charset="0"/>
                            </a:rPr>
                            <m:t>(</m:t>
                          </m:r>
                          <m:r>
                            <a:rPr lang="en-US" sz="2000" b="1" i="1" smtClean="0">
                              <a:latin typeface="Cambria Math"/>
                              <a:cs typeface="Times New Roman" pitchFamily="18" charset="0"/>
                            </a:rPr>
                            <m:t>𝑺</m:t>
                          </m:r>
                          <m:r>
                            <a:rPr lang="en-US" sz="2000" b="1" i="1" smtClean="0">
                              <a:latin typeface="Cambria Math"/>
                              <a:cs typeface="Times New Roman" pitchFamily="18" charset="0"/>
                            </a:rPr>
                            <m:t>)</m:t>
                          </m:r>
                        </m:den>
                      </m:f>
                    </m:oMath>
                  </m:oMathPara>
                </a14:m>
                <a:endParaRPr lang="en-US" sz="2000" b="1" dirty="0">
                  <a:latin typeface="Times New Roman" pitchFamily="18" charset="0"/>
                  <a:cs typeface="Times New Roman"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4083539" y="3972201"/>
                <a:ext cx="1059008" cy="733149"/>
              </a:xfrm>
              <a:prstGeom prst="rect">
                <a:avLst/>
              </a:prstGeom>
              <a:blipFill rotWithShape="1">
                <a:blip r:embed="rId4"/>
                <a:stretch>
                  <a:fillRect r="-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3630106" y="1468846"/>
                <a:ext cx="207249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=2</m:t>
                      </m:r>
                      <m:r>
                        <a:rPr lang="en-US" sz="2000" b="0" i="1" smtClean="0">
                          <a:latin typeface="Cambria Math"/>
                          <a:cs typeface="Times New Roman" pitchFamily="18" charset="0"/>
                        </a:rPr>
                        <m:t>𝑅</m:t>
                      </m:r>
                      <m:r>
                        <a:rPr lang="en-US" sz="2000" b="0" i="1" smtClean="0">
                          <a:latin typeface="Cambria Math"/>
                          <a:cs typeface="Times New Roman" pitchFamily="18" charset="0"/>
                        </a:rPr>
                        <m:t>+3</m:t>
                      </m:r>
                      <m:r>
                        <a:rPr lang="en-US" sz="2000" b="0" i="1" smtClean="0">
                          <a:latin typeface="Cambria Math"/>
                          <a:cs typeface="Times New Roman" pitchFamily="18" charset="0"/>
                        </a:rPr>
                        <m:t>𝐺</m:t>
                      </m:r>
                      <m:r>
                        <a:rPr lang="en-US" sz="2000" b="0" i="1" smtClean="0">
                          <a:latin typeface="Cambria Math"/>
                          <a:cs typeface="Times New Roman" pitchFamily="18" charset="0"/>
                        </a:rPr>
                        <m:t>+2</m:t>
                      </m:r>
                      <m:r>
                        <a:rPr lang="en-US" sz="2000" b="0" i="1" smtClean="0">
                          <a:latin typeface="Cambria Math"/>
                          <a:cs typeface="Times New Roman" pitchFamily="18" charset="0"/>
                        </a:rPr>
                        <m:t>𝐵</m:t>
                      </m:r>
                    </m:oMath>
                  </m:oMathPara>
                </a14:m>
                <a:endParaRPr lang="en-US" sz="2000" dirty="0">
                  <a:latin typeface="Times New Roman" pitchFamily="18" charset="0"/>
                  <a:cs typeface="Times New Roman"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3630106" y="1468846"/>
                <a:ext cx="2072490" cy="400110"/>
              </a:xfrm>
              <a:prstGeom prst="rect">
                <a:avLst/>
              </a:prstGeom>
              <a:blipFill rotWithShape="1">
                <a:blip r:embed="rId6"/>
                <a:stretch>
                  <a:fillRect t="-7576" r="-4412"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047239" y="4005379"/>
                <a:ext cx="820161"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a:cs typeface="Times New Roman" pitchFamily="18" charset="0"/>
                        </a:rPr>
                        <m:t>=</m:t>
                      </m:r>
                      <m:f>
                        <m:fPr>
                          <m:ctrlPr>
                            <a:rPr lang="en-US" sz="2000" b="1" i="1" smtClean="0">
                              <a:latin typeface="Cambria Math"/>
                              <a:cs typeface="Times New Roman" pitchFamily="18" charset="0"/>
                            </a:rPr>
                          </m:ctrlPr>
                        </m:fPr>
                        <m:num>
                          <m:r>
                            <a:rPr lang="en-US" sz="2000" b="1" i="1" smtClean="0">
                              <a:latin typeface="Cambria Math"/>
                              <a:cs typeface="Times New Roman" pitchFamily="18" charset="0"/>
                            </a:rPr>
                            <m:t>𝟏𝟎</m:t>
                          </m:r>
                        </m:num>
                        <m:den>
                          <m:r>
                            <a:rPr lang="en-US" sz="2000" b="1" i="1" smtClean="0">
                              <a:latin typeface="Cambria Math"/>
                              <a:cs typeface="Times New Roman" pitchFamily="18" charset="0"/>
                            </a:rPr>
                            <m:t>𝟐𝟏</m:t>
                          </m:r>
                        </m:den>
                      </m:f>
                    </m:oMath>
                  </m:oMathPara>
                </a14:m>
                <a:endParaRPr lang="en-US" sz="2000" b="1" dirty="0">
                  <a:latin typeface="Times New Roman" pitchFamily="18" charset="0"/>
                  <a:cs typeface="Times New Roman"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5047239" y="4005379"/>
                <a:ext cx="820161" cy="668516"/>
              </a:xfrm>
              <a:prstGeom prst="rect">
                <a:avLst/>
              </a:prstGeom>
              <a:blipFill rotWithShape="1">
                <a:blip r:embed="rId7"/>
                <a:stretch>
                  <a:fillRect r="-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5700824" y="1458213"/>
                <a:ext cx="130952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=7 </m:t>
                      </m:r>
                      <m:r>
                        <a:rPr lang="en-US" sz="2000" b="0" i="1" smtClean="0">
                          <a:latin typeface="Cambria Math"/>
                          <a:cs typeface="Times New Roman" pitchFamily="18" charset="0"/>
                        </a:rPr>
                        <m:t>𝐵𝑎𝑙𝑙𝑠</m:t>
                      </m:r>
                    </m:oMath>
                  </m:oMathPara>
                </a14:m>
                <a:endParaRPr lang="en-US" sz="2000" dirty="0">
                  <a:latin typeface="Times New Roman" pitchFamily="18" charset="0"/>
                  <a:cs typeface="Times New Roman" pitchFamily="18" charset="0"/>
                </a:endParaRPr>
              </a:p>
            </p:txBody>
          </p:sp>
        </mc:Choice>
        <mc:Fallback xmlns="">
          <p:sp>
            <p:nvSpPr>
              <p:cNvPr id="30" name="Rectangle 29"/>
              <p:cNvSpPr>
                <a:spLocks noRot="1" noChangeAspect="1" noMove="1" noResize="1" noEditPoints="1" noAdjustHandles="1" noChangeArrowheads="1" noChangeShapeType="1" noTextEdit="1"/>
              </p:cNvSpPr>
              <p:nvPr/>
            </p:nvSpPr>
            <p:spPr>
              <a:xfrm>
                <a:off x="5700824" y="1458213"/>
                <a:ext cx="1309526" cy="400110"/>
              </a:xfrm>
              <a:prstGeom prst="rect">
                <a:avLst/>
              </a:prstGeom>
              <a:blipFill rotWithShape="1">
                <a:blip r:embed="rId8"/>
                <a:stretch>
                  <a:fillRect t="-7576" r="-6977"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5357256" y="2199218"/>
                <a:ext cx="1671676"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𝑆</m:t>
                          </m:r>
                        </m:e>
                      </m:d>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7</m:t>
                          </m:r>
                          <m:r>
                            <a:rPr lang="en-US" sz="2000" b="0" i="1" smtClean="0">
                              <a:latin typeface="Cambria Math"/>
                              <a:ea typeface="Cambria Math"/>
                              <a:cs typeface="Times New Roman" pitchFamily="18" charset="0"/>
                            </a:rPr>
                            <m:t>×6</m:t>
                          </m:r>
                        </m:num>
                        <m:den>
                          <m:r>
                            <a:rPr lang="en-US" sz="2000" b="0" i="1" smtClean="0">
                              <a:latin typeface="Cambria Math"/>
                              <a:cs typeface="Times New Roman" pitchFamily="18" charset="0"/>
                            </a:rPr>
                            <m:t>1</m:t>
                          </m:r>
                          <m:r>
                            <a:rPr lang="en-US" sz="2000" b="0" i="1" smtClean="0">
                              <a:latin typeface="Cambria Math"/>
                              <a:ea typeface="Cambria Math"/>
                              <a:cs typeface="Times New Roman" pitchFamily="18" charset="0"/>
                            </a:rPr>
                            <m:t>×</m:t>
                          </m:r>
                          <m:r>
                            <a:rPr lang="en-US" sz="2000" b="0" i="1" smtClean="0">
                              <a:latin typeface="Cambria Math"/>
                              <a:cs typeface="Times New Roman" pitchFamily="18" charset="0"/>
                            </a:rPr>
                            <m:t>2</m:t>
                          </m:r>
                        </m:den>
                      </m:f>
                    </m:oMath>
                  </m:oMathPara>
                </a14:m>
                <a:endParaRPr lang="en-US" sz="2000" dirty="0">
                  <a:latin typeface="Times New Roman" pitchFamily="18" charset="0"/>
                  <a:cs typeface="Times New Roman" pitchFamily="18" charset="0"/>
                </a:endParaRPr>
              </a:p>
            </p:txBody>
          </p:sp>
        </mc:Choice>
        <mc:Fallback xmlns="">
          <p:sp>
            <p:nvSpPr>
              <p:cNvPr id="31" name="Rectangle 30"/>
              <p:cNvSpPr>
                <a:spLocks noRot="1" noChangeAspect="1" noMove="1" noResize="1" noEditPoints="1" noAdjustHandles="1" noChangeArrowheads="1" noChangeShapeType="1" noTextEdit="1"/>
              </p:cNvSpPr>
              <p:nvPr/>
            </p:nvSpPr>
            <p:spPr>
              <a:xfrm>
                <a:off x="5357256" y="2199218"/>
                <a:ext cx="1671676" cy="668516"/>
              </a:xfrm>
              <a:prstGeom prst="rect">
                <a:avLst/>
              </a:prstGeom>
              <a:blipFill rotWithShape="1">
                <a:blip r:embed="rId9"/>
                <a:stretch>
                  <a:fillRect r="-51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6974908" y="2333421"/>
                <a:ext cx="79771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=21</m:t>
                      </m:r>
                    </m:oMath>
                  </m:oMathPara>
                </a14:m>
                <a:endParaRPr lang="en-US" sz="2000" dirty="0">
                  <a:latin typeface="Times New Roman" pitchFamily="18" charset="0"/>
                  <a:cs typeface="Times New Roman" pitchFamily="18" charset="0"/>
                </a:endParaRPr>
              </a:p>
            </p:txBody>
          </p:sp>
        </mc:Choice>
        <mc:Fallback xmlns="">
          <p:sp>
            <p:nvSpPr>
              <p:cNvPr id="32" name="Rectangle 31"/>
              <p:cNvSpPr>
                <a:spLocks noRot="1" noChangeAspect="1" noMove="1" noResize="1" noEditPoints="1" noAdjustHandles="1" noChangeArrowheads="1" noChangeShapeType="1" noTextEdit="1"/>
              </p:cNvSpPr>
              <p:nvPr/>
            </p:nvSpPr>
            <p:spPr>
              <a:xfrm>
                <a:off x="6974908" y="2333421"/>
                <a:ext cx="797718" cy="400110"/>
              </a:xfrm>
              <a:prstGeom prst="rect">
                <a:avLst/>
              </a:prstGeom>
              <a:blipFill rotWithShape="1">
                <a:blip r:embed="rId10"/>
                <a:stretch>
                  <a:fillRect t="-7692" r="-12214" b="-27692"/>
                </a:stretch>
              </a:blipFill>
            </p:spPr>
            <p:txBody>
              <a:bodyPr/>
              <a:lstStyle/>
              <a:p>
                <a:r>
                  <a:rPr lang="en-US">
                    <a:noFill/>
                  </a:rPr>
                  <a:t> </a:t>
                </a:r>
              </a:p>
            </p:txBody>
          </p:sp>
        </mc:Fallback>
      </mc:AlternateContent>
      <p:sp>
        <p:nvSpPr>
          <p:cNvPr id="19" name="Rectangle 18"/>
          <p:cNvSpPr/>
          <p:nvPr/>
        </p:nvSpPr>
        <p:spPr>
          <a:xfrm>
            <a:off x="120580" y="2880163"/>
            <a:ext cx="6096001" cy="400110"/>
          </a:xfrm>
          <a:prstGeom prst="rect">
            <a:avLst/>
          </a:prstGeom>
        </p:spPr>
        <p:txBody>
          <a:bodyPr wrap="square">
            <a:spAutoFit/>
          </a:bodyPr>
          <a:lstStyle/>
          <a:p>
            <a:r>
              <a:rPr lang="en-US" sz="2000" dirty="0">
                <a:latin typeface="Times New Roman" pitchFamily="18" charset="0"/>
                <a:cs typeface="Times New Roman" pitchFamily="18" charset="0"/>
              </a:rPr>
              <a:t>Let E = Event of drawing 2 balls, none of which is blue.</a:t>
            </a:r>
          </a:p>
        </p:txBody>
      </p:sp>
      <mc:AlternateContent xmlns:mc="http://schemas.openxmlformats.org/markup-compatibility/2006" xmlns:a14="http://schemas.microsoft.com/office/drawing/2010/main">
        <mc:Choice Requires="a14">
          <p:sp>
            <p:nvSpPr>
              <p:cNvPr id="33" name="Rectangle 32"/>
              <p:cNvSpPr/>
              <p:nvPr/>
            </p:nvSpPr>
            <p:spPr>
              <a:xfrm>
                <a:off x="5813310" y="2870782"/>
                <a:ext cx="1495217" cy="4036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𝐸</m:t>
                          </m:r>
                        </m:e>
                      </m:d>
                      <m:r>
                        <a:rPr lang="en-US" sz="2000" b="0" i="1" smtClean="0">
                          <a:latin typeface="Cambria Math"/>
                          <a:cs typeface="Times New Roman" pitchFamily="18" charset="0"/>
                        </a:rPr>
                        <m:t>=</m:t>
                      </m:r>
                      <m:sSub>
                        <m:sSubPr>
                          <m:ctrlPr>
                            <a:rPr lang="en-US" sz="2000" b="0" i="1" smtClean="0">
                              <a:latin typeface="Cambria Math"/>
                              <a:cs typeface="Times New Roman" pitchFamily="18" charset="0"/>
                            </a:rPr>
                          </m:ctrlPr>
                        </m:sSubPr>
                        <m:e>
                          <m:sPre>
                            <m:sPrePr>
                              <m:ctrlPr>
                                <a:rPr lang="en-US" sz="2000" b="0" i="1" smtClean="0">
                                  <a:latin typeface="Cambria Math"/>
                                  <a:cs typeface="Times New Roman" pitchFamily="18" charset="0"/>
                                </a:rPr>
                              </m:ctrlPr>
                            </m:sPrePr>
                            <m:sub/>
                            <m:sup>
                              <m:r>
                                <a:rPr lang="en-US" sz="2000" b="0" i="1" smtClean="0">
                                  <a:latin typeface="Cambria Math"/>
                                </a:rPr>
                                <m:t>5</m:t>
                              </m:r>
                            </m:sup>
                            <m:e>
                              <m:r>
                                <a:rPr lang="en-US" sz="2000" b="0" i="1" smtClean="0">
                                  <a:latin typeface="Cambria Math"/>
                                </a:rPr>
                                <m:t>𝐶</m:t>
                              </m:r>
                            </m:e>
                          </m:sPre>
                        </m:e>
                        <m:sub>
                          <m:r>
                            <a:rPr lang="en-US" sz="2000" b="0" i="1" smtClean="0">
                              <a:latin typeface="Cambria Math"/>
                              <a:cs typeface="Times New Roman" pitchFamily="18" charset="0"/>
                            </a:rPr>
                            <m:t>2</m:t>
                          </m:r>
                        </m:sub>
                      </m:sSub>
                    </m:oMath>
                  </m:oMathPara>
                </a14:m>
                <a:endParaRPr lang="en-US" sz="2000" dirty="0">
                  <a:latin typeface="Times New Roman" pitchFamily="18" charset="0"/>
                  <a:cs typeface="Times New Roman" pitchFamily="18" charset="0"/>
                </a:endParaRPr>
              </a:p>
            </p:txBody>
          </p:sp>
        </mc:Choice>
        <mc:Fallback xmlns="">
          <p:sp>
            <p:nvSpPr>
              <p:cNvPr id="33" name="Rectangle 32"/>
              <p:cNvSpPr>
                <a:spLocks noRot="1" noChangeAspect="1" noMove="1" noResize="1" noEditPoints="1" noAdjustHandles="1" noChangeArrowheads="1" noChangeShapeType="1" noTextEdit="1"/>
              </p:cNvSpPr>
              <p:nvPr/>
            </p:nvSpPr>
            <p:spPr>
              <a:xfrm>
                <a:off x="5813310" y="2870782"/>
                <a:ext cx="1495217" cy="403637"/>
              </a:xfrm>
              <a:prstGeom prst="rect">
                <a:avLst/>
              </a:prstGeom>
              <a:blipFill rotWithShape="1">
                <a:blip r:embed="rId11"/>
                <a:stretch>
                  <a:fillRect t="-6061" r="-5714"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5942727" y="3192350"/>
                <a:ext cx="1766061" cy="6748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𝐸</m:t>
                          </m:r>
                        </m:e>
                      </m:d>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5</m:t>
                          </m:r>
                          <m:r>
                            <a:rPr lang="en-US" sz="2000" b="0" i="1" smtClean="0">
                              <a:latin typeface="Cambria Math"/>
                              <a:ea typeface="Cambria Math"/>
                              <a:cs typeface="Times New Roman" pitchFamily="18" charset="0"/>
                            </a:rPr>
                            <m:t>×4</m:t>
                          </m:r>
                        </m:num>
                        <m:den>
                          <m:r>
                            <a:rPr lang="en-US" sz="2000" b="0" i="1" smtClean="0">
                              <a:latin typeface="Cambria Math"/>
                              <a:cs typeface="Times New Roman" pitchFamily="18" charset="0"/>
                            </a:rPr>
                            <m:t>1</m:t>
                          </m:r>
                          <m:r>
                            <a:rPr lang="en-US" sz="2000" b="0" i="1" smtClean="0">
                              <a:latin typeface="Cambria Math"/>
                              <a:ea typeface="Cambria Math"/>
                              <a:cs typeface="Times New Roman" pitchFamily="18" charset="0"/>
                            </a:rPr>
                            <m:t>×</m:t>
                          </m:r>
                          <m:r>
                            <a:rPr lang="en-US" sz="2000" b="0" i="1" smtClean="0">
                              <a:latin typeface="Cambria Math"/>
                              <a:cs typeface="Times New Roman" pitchFamily="18" charset="0"/>
                            </a:rPr>
                            <m:t>2</m:t>
                          </m:r>
                        </m:den>
                      </m:f>
                    </m:oMath>
                  </m:oMathPara>
                </a14:m>
                <a:endParaRPr lang="en-US" sz="2000" dirty="0">
                  <a:latin typeface="Times New Roman" pitchFamily="18" charset="0"/>
                  <a:cs typeface="Times New Roman"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5942727" y="3192350"/>
                <a:ext cx="1766061" cy="674800"/>
              </a:xfrm>
              <a:prstGeom prst="rect">
                <a:avLst/>
              </a:prstGeom>
              <a:blipFill rotWithShape="1">
                <a:blip r:embed="rId12"/>
                <a:stretch>
                  <a:fillRect r="-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7508081" y="3385072"/>
                <a:ext cx="79771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=10</m:t>
                      </m:r>
                    </m:oMath>
                  </m:oMathPara>
                </a14:m>
                <a:endParaRPr lang="en-US" sz="2000" dirty="0">
                  <a:latin typeface="Times New Roman" pitchFamily="18" charset="0"/>
                  <a:cs typeface="Times New Roman" pitchFamily="18" charset="0"/>
                </a:endParaRPr>
              </a:p>
            </p:txBody>
          </p:sp>
        </mc:Choice>
        <mc:Fallback xmlns="">
          <p:sp>
            <p:nvSpPr>
              <p:cNvPr id="35" name="Rectangle 34"/>
              <p:cNvSpPr>
                <a:spLocks noRot="1" noChangeAspect="1" noMove="1" noResize="1" noEditPoints="1" noAdjustHandles="1" noChangeArrowheads="1" noChangeShapeType="1" noTextEdit="1"/>
              </p:cNvSpPr>
              <p:nvPr/>
            </p:nvSpPr>
            <p:spPr>
              <a:xfrm>
                <a:off x="7508081" y="3385072"/>
                <a:ext cx="797719" cy="400110"/>
              </a:xfrm>
              <a:prstGeom prst="rect">
                <a:avLst/>
              </a:prstGeom>
              <a:blipFill rotWithShape="1">
                <a:blip r:embed="rId13"/>
                <a:stretch>
                  <a:fillRect t="-7576" r="-11450" b="-25758"/>
                </a:stretch>
              </a:blipFill>
            </p:spPr>
            <p:txBody>
              <a:bodyPr/>
              <a:lstStyle/>
              <a:p>
                <a:r>
                  <a:rPr lang="en-US">
                    <a:noFill/>
                  </a:rPr>
                  <a:t> </a:t>
                </a:r>
              </a:p>
            </p:txBody>
          </p:sp>
        </mc:Fallback>
      </mc:AlternateContent>
    </p:spTree>
    <p:extLst>
      <p:ext uri="{BB962C8B-B14F-4D97-AF65-F5344CB8AC3E}">
        <p14:creationId xmlns:p14="http://schemas.microsoft.com/office/powerpoint/2010/main" val="224439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22" grpId="0"/>
      <p:bldP spid="23" grpId="0"/>
      <p:bldP spid="24" grpId="0"/>
      <p:bldP spid="27" grpId="0"/>
      <p:bldP spid="29" grpId="0"/>
      <p:bldP spid="30" grpId="0"/>
      <p:bldP spid="31" grpId="0"/>
      <p:bldP spid="32" grpId="0"/>
      <p:bldP spid="19" grpId="0"/>
      <p:bldP spid="33" grpId="0"/>
      <p:bldP spid="34" grpId="0"/>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81000" y="590550"/>
                <a:ext cx="8305800" cy="1046440"/>
              </a:xfrm>
              <a:prstGeom prst="rect">
                <a:avLst/>
              </a:prstGeom>
            </p:spPr>
            <p:txBody>
              <a:bodyPr wrap="square">
                <a:spAutoFit/>
              </a:bodyPr>
              <a:lstStyle/>
              <a:p>
                <a:pPr fontAlgn="t"/>
                <a:r>
                  <a:rPr lang="en-US" b="1" dirty="0" smtClean="0">
                    <a:solidFill>
                      <a:srgbClr val="FF0000"/>
                    </a:solidFill>
                    <a:latin typeface="Times New Roman" pitchFamily="18" charset="0"/>
                    <a:cs typeface="Times New Roman" pitchFamily="18" charset="0"/>
                  </a:rPr>
                  <a:t>An </a:t>
                </a:r>
                <a:r>
                  <a:rPr lang="en-US" b="1" dirty="0">
                    <a:solidFill>
                      <a:srgbClr val="FF0000"/>
                    </a:solidFill>
                    <a:latin typeface="Times New Roman" pitchFamily="18" charset="0"/>
                    <a:cs typeface="Times New Roman" pitchFamily="18" charset="0"/>
                  </a:rPr>
                  <a:t>urn contains 6 red, 5 blue and 2 green marbles. If 2 marbles are </a:t>
                </a:r>
                <a:r>
                  <a:rPr lang="en-US" b="1" dirty="0" smtClean="0">
                    <a:solidFill>
                      <a:srgbClr val="FF0000"/>
                    </a:solidFill>
                    <a:latin typeface="Times New Roman" pitchFamily="18" charset="0"/>
                    <a:cs typeface="Times New Roman" pitchFamily="18" charset="0"/>
                  </a:rPr>
                  <a:t>picked </a:t>
                </a:r>
                <a:r>
                  <a:rPr lang="en-US" b="1" dirty="0">
                    <a:solidFill>
                      <a:srgbClr val="FF0000"/>
                    </a:solidFill>
                    <a:latin typeface="Times New Roman" pitchFamily="18" charset="0"/>
                    <a:cs typeface="Times New Roman" pitchFamily="18" charset="0"/>
                  </a:rPr>
                  <a:t>at random, what is the probability that both are red?</a:t>
                </a:r>
              </a:p>
              <a:p>
                <a:pPr fontAlgn="t"/>
                <a:r>
                  <a:rPr lang="en-US" b="1" dirty="0" smtClean="0">
                    <a:solidFill>
                      <a:srgbClr val="FF0000"/>
                    </a:solidFill>
                    <a:latin typeface="Times New Roman" pitchFamily="18" charset="0"/>
                    <a:cs typeface="Times New Roman" pitchFamily="18" charset="0"/>
                  </a:rPr>
                  <a:t>A.</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𝟔</m:t>
                        </m:r>
                      </m:num>
                      <m:den>
                        <m:r>
                          <a:rPr lang="en-US" b="1" i="1" dirty="0" smtClean="0">
                            <a:solidFill>
                              <a:srgbClr val="FF0000"/>
                            </a:solidFill>
                            <a:latin typeface="Cambria Math"/>
                            <a:cs typeface="Times New Roman" pitchFamily="18" charset="0"/>
                          </a:rPr>
                          <m:t>𝟏𝟑</m:t>
                        </m:r>
                      </m:den>
                    </m:f>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𝟓</m:t>
                        </m:r>
                      </m:num>
                      <m:den>
                        <m:r>
                          <a:rPr lang="en-US" b="1" i="1" dirty="0" smtClean="0">
                            <a:solidFill>
                              <a:srgbClr val="FF0000"/>
                            </a:solidFill>
                            <a:latin typeface="Cambria Math"/>
                            <a:cs typeface="Times New Roman" pitchFamily="18" charset="0"/>
                          </a:rPr>
                          <m:t>𝟐𝟔</m:t>
                        </m:r>
                      </m:den>
                    </m:f>
                  </m:oMath>
                </a14:m>
                <a:r>
                  <a:rPr lang="en-US" b="1" dirty="0" smtClean="0">
                    <a:solidFill>
                      <a:srgbClr val="FF0000"/>
                    </a:solidFill>
                    <a:latin typeface="Times New Roman" pitchFamily="18" charset="0"/>
                    <a:cs typeface="Times New Roman" pitchFamily="18" charset="0"/>
                  </a:rPr>
                  <a:t> 		C.</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𝟓</m:t>
                        </m:r>
                      </m:num>
                      <m:den>
                        <m:r>
                          <a:rPr lang="en-US" b="1" i="1" dirty="0" smtClean="0">
                            <a:solidFill>
                              <a:srgbClr val="FF0000"/>
                            </a:solidFill>
                            <a:latin typeface="Cambria Math"/>
                            <a:cs typeface="Times New Roman" pitchFamily="18" charset="0"/>
                          </a:rPr>
                          <m:t>𝟏𝟑</m:t>
                        </m:r>
                      </m:den>
                    </m:f>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𝟕</m:t>
                        </m:r>
                      </m:num>
                      <m:den>
                        <m:r>
                          <a:rPr lang="en-US" b="1" i="1" dirty="0" smtClean="0">
                            <a:solidFill>
                              <a:srgbClr val="FF0000"/>
                            </a:solidFill>
                            <a:latin typeface="Cambria Math"/>
                            <a:cs typeface="Times New Roman" pitchFamily="18" charset="0"/>
                          </a:rPr>
                          <m:t>𝟐𝟔</m:t>
                        </m:r>
                      </m:den>
                    </m:f>
                  </m:oMath>
                </a14:m>
                <a:endParaRPr lang="en-US" b="1" dirty="0">
                  <a:solidFill>
                    <a:srgbClr val="FF0000"/>
                  </a:solidFill>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81000" y="590550"/>
                <a:ext cx="8305800" cy="1046440"/>
              </a:xfrm>
              <a:prstGeom prst="rect">
                <a:avLst/>
              </a:prstGeom>
              <a:blipFill rotWithShape="1">
                <a:blip r:embed="rId2"/>
                <a:stretch>
                  <a:fillRect l="-661" t="-2326" b="-581"/>
                </a:stretch>
              </a:blipFill>
            </p:spPr>
            <p:txBody>
              <a:bodyPr/>
              <a:lstStyle/>
              <a:p>
                <a:r>
                  <a:rPr lang="en-US">
                    <a:noFill/>
                  </a:rPr>
                  <a:t> </a:t>
                </a:r>
              </a:p>
            </p:txBody>
          </p:sp>
        </mc:Fallback>
      </mc:AlternateContent>
      <p:sp>
        <p:nvSpPr>
          <p:cNvPr id="3" name="Rectangle 2"/>
          <p:cNvSpPr/>
          <p:nvPr/>
        </p:nvSpPr>
        <p:spPr>
          <a:xfrm>
            <a:off x="7766140" y="1432001"/>
            <a:ext cx="780983" cy="369332"/>
          </a:xfrm>
          <a:prstGeom prst="rect">
            <a:avLst/>
          </a:prstGeom>
        </p:spPr>
        <p:txBody>
          <a:bodyPr wrap="none">
            <a:spAutoFit/>
          </a:bodyPr>
          <a:lstStyle/>
          <a:p>
            <a:pPr fontAlgn="t"/>
            <a:r>
              <a:rPr lang="en-US" b="1" dirty="0">
                <a:latin typeface="Times New Roman" pitchFamily="18" charset="0"/>
                <a:cs typeface="Times New Roman" pitchFamily="18" charset="0"/>
              </a:rPr>
              <a:t>Ans </a:t>
            </a:r>
            <a:r>
              <a:rPr lang="en-US" b="1" dirty="0" smtClean="0">
                <a:latin typeface="Times New Roman" pitchFamily="18" charset="0"/>
                <a:cs typeface="Times New Roman" pitchFamily="18" charset="0"/>
              </a:rPr>
              <a:t>B</a:t>
            </a:r>
            <a:endParaRPr lang="en-US" b="1" dirty="0">
              <a:latin typeface="Times New Roman" pitchFamily="18" charset="0"/>
              <a:cs typeface="Times New Roman" pitchFamily="18" charset="0"/>
            </a:endParaRPr>
          </a:p>
        </p:txBody>
      </p:sp>
      <p:sp>
        <p:nvSpPr>
          <p:cNvPr id="4" name="Rectangle 3"/>
          <p:cNvSpPr/>
          <p:nvPr/>
        </p:nvSpPr>
        <p:spPr>
          <a:xfrm>
            <a:off x="2776495" y="128885"/>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6" name="Rectangle 5"/>
          <p:cNvSpPr/>
          <p:nvPr/>
        </p:nvSpPr>
        <p:spPr>
          <a:xfrm>
            <a:off x="1161983" y="1504950"/>
            <a:ext cx="1762342" cy="369332"/>
          </a:xfrm>
          <a:prstGeom prst="rect">
            <a:avLst/>
          </a:prstGeom>
        </p:spPr>
        <p:txBody>
          <a:bodyPr wrap="none">
            <a:spAutoFit/>
          </a:bodyPr>
          <a:lstStyle/>
          <a:p>
            <a:pPr fontAlgn="t"/>
            <a:r>
              <a:rPr lang="en-US" b="1" dirty="0" smtClean="0">
                <a:latin typeface="Times New Roman" pitchFamily="18" charset="0"/>
                <a:cs typeface="Times New Roman" pitchFamily="18" charset="0"/>
              </a:rPr>
              <a:t>There </a:t>
            </a:r>
            <a:r>
              <a:rPr lang="en-US" b="1" dirty="0">
                <a:latin typeface="Times New Roman" pitchFamily="18" charset="0"/>
                <a:cs typeface="Times New Roman" pitchFamily="18" charset="0"/>
              </a:rPr>
              <a:t>are 6 red </a:t>
            </a:r>
          </a:p>
        </p:txBody>
      </p:sp>
      <p:sp>
        <p:nvSpPr>
          <p:cNvPr id="7" name="Rectangle 6"/>
          <p:cNvSpPr/>
          <p:nvPr/>
        </p:nvSpPr>
        <p:spPr>
          <a:xfrm>
            <a:off x="2663735" y="1513367"/>
            <a:ext cx="896399" cy="369332"/>
          </a:xfrm>
          <a:prstGeom prst="rect">
            <a:avLst/>
          </a:prstGeom>
        </p:spPr>
        <p:txBody>
          <a:bodyPr wrap="none">
            <a:spAutoFit/>
          </a:bodyPr>
          <a:lstStyle/>
          <a:p>
            <a:r>
              <a:rPr lang="en-US" b="1" dirty="0" smtClean="0">
                <a:latin typeface="Times New Roman" pitchFamily="18" charset="0"/>
                <a:cs typeface="Times New Roman" pitchFamily="18" charset="0"/>
              </a:rPr>
              <a:t>, 5 blue</a:t>
            </a:r>
            <a:endParaRPr lang="en-US" dirty="0"/>
          </a:p>
        </p:txBody>
      </p:sp>
      <p:sp>
        <p:nvSpPr>
          <p:cNvPr id="8" name="Rectangle 7"/>
          <p:cNvSpPr/>
          <p:nvPr/>
        </p:nvSpPr>
        <p:spPr>
          <a:xfrm>
            <a:off x="3370801" y="1513367"/>
            <a:ext cx="1930978" cy="369332"/>
          </a:xfrm>
          <a:prstGeom prst="rect">
            <a:avLst/>
          </a:prstGeom>
        </p:spPr>
        <p:txBody>
          <a:bodyPr wrap="none">
            <a:spAutoFit/>
          </a:bodyPr>
          <a:lstStyle/>
          <a:p>
            <a:r>
              <a:rPr lang="en-US" b="1" dirty="0" smtClean="0">
                <a:latin typeface="Times New Roman" pitchFamily="18" charset="0"/>
                <a:cs typeface="Times New Roman" pitchFamily="18" charset="0"/>
              </a:rPr>
              <a:t>, 2 green marbles.</a:t>
            </a:r>
            <a:endParaRPr lang="en-US" dirty="0"/>
          </a:p>
        </p:txBody>
      </p:sp>
      <p:sp>
        <p:nvSpPr>
          <p:cNvPr id="9" name="Rectangle 8"/>
          <p:cNvSpPr/>
          <p:nvPr/>
        </p:nvSpPr>
        <p:spPr>
          <a:xfrm>
            <a:off x="1143000" y="1818167"/>
            <a:ext cx="2797882" cy="369332"/>
          </a:xfrm>
          <a:prstGeom prst="rect">
            <a:avLst/>
          </a:prstGeom>
        </p:spPr>
        <p:txBody>
          <a:bodyPr wrap="none">
            <a:spAutoFit/>
          </a:bodyPr>
          <a:lstStyle/>
          <a:p>
            <a:r>
              <a:rPr lang="en-US" b="1" dirty="0" smtClean="0">
                <a:latin typeface="Times New Roman" pitchFamily="18" charset="0"/>
                <a:cs typeface="Times New Roman" pitchFamily="18" charset="0"/>
              </a:rPr>
              <a:t>Total Number of marbles=</a:t>
            </a:r>
            <a:endParaRPr lang="en-US" dirty="0"/>
          </a:p>
        </p:txBody>
      </p:sp>
      <p:sp>
        <p:nvSpPr>
          <p:cNvPr id="10" name="Rectangle 9"/>
          <p:cNvSpPr/>
          <p:nvPr/>
        </p:nvSpPr>
        <p:spPr>
          <a:xfrm>
            <a:off x="3733800" y="1818167"/>
            <a:ext cx="793807" cy="369332"/>
          </a:xfrm>
          <a:prstGeom prst="rect">
            <a:avLst/>
          </a:prstGeom>
        </p:spPr>
        <p:txBody>
          <a:bodyPr wrap="none">
            <a:spAutoFit/>
          </a:bodyPr>
          <a:lstStyle/>
          <a:p>
            <a:r>
              <a:rPr lang="en-US" b="1" dirty="0" smtClean="0">
                <a:latin typeface="Times New Roman" pitchFamily="18" charset="0"/>
                <a:cs typeface="Times New Roman" pitchFamily="18" charset="0"/>
              </a:rPr>
              <a:t>6+5+2</a:t>
            </a:r>
            <a:endParaRPr lang="en-US" dirty="0"/>
          </a:p>
        </p:txBody>
      </p:sp>
      <p:sp>
        <p:nvSpPr>
          <p:cNvPr id="11" name="Rectangle 10"/>
          <p:cNvSpPr/>
          <p:nvPr/>
        </p:nvSpPr>
        <p:spPr>
          <a:xfrm>
            <a:off x="3611859" y="2002833"/>
            <a:ext cx="546945" cy="369332"/>
          </a:xfrm>
          <a:prstGeom prst="rect">
            <a:avLst/>
          </a:prstGeom>
        </p:spPr>
        <p:txBody>
          <a:bodyPr wrap="none">
            <a:spAutoFit/>
          </a:bodyPr>
          <a:lstStyle/>
          <a:p>
            <a:r>
              <a:rPr lang="en-US" b="1" dirty="0" smtClean="0">
                <a:latin typeface="Times New Roman" pitchFamily="18" charset="0"/>
                <a:cs typeface="Times New Roman" pitchFamily="18" charset="0"/>
              </a:rPr>
              <a:t>=13</a:t>
            </a:r>
            <a:endParaRPr lang="en-US" dirty="0"/>
          </a:p>
        </p:txBody>
      </p:sp>
      <p:sp>
        <p:nvSpPr>
          <p:cNvPr id="12" name="Rectangle 11"/>
          <p:cNvSpPr/>
          <p:nvPr/>
        </p:nvSpPr>
        <p:spPr>
          <a:xfrm>
            <a:off x="990600" y="2275367"/>
            <a:ext cx="4957767" cy="369332"/>
          </a:xfrm>
          <a:prstGeom prst="rect">
            <a:avLst/>
          </a:prstGeom>
        </p:spPr>
        <p:txBody>
          <a:bodyPr wrap="none">
            <a:spAutoFit/>
          </a:bodyPr>
          <a:lstStyle/>
          <a:p>
            <a:r>
              <a:rPr lang="en-US" b="1" dirty="0" smtClean="0">
                <a:latin typeface="Times New Roman" pitchFamily="18" charset="0"/>
                <a:cs typeface="Times New Roman" pitchFamily="18" charset="0"/>
              </a:rPr>
              <a:t>Total Number of outcomes for picking 2 marbles</a:t>
            </a:r>
            <a:endParaRPr lang="en-US" dirty="0"/>
          </a:p>
        </p:txBody>
      </p:sp>
      <p:sp>
        <p:nvSpPr>
          <p:cNvPr id="13" name="Rectangle 12"/>
          <p:cNvSpPr/>
          <p:nvPr/>
        </p:nvSpPr>
        <p:spPr>
          <a:xfrm>
            <a:off x="5948367" y="2257422"/>
            <a:ext cx="739305" cy="369332"/>
          </a:xfrm>
          <a:prstGeom prst="rect">
            <a:avLst/>
          </a:prstGeom>
        </p:spPr>
        <p:txBody>
          <a:bodyPr wrap="none">
            <a:spAutoFit/>
          </a:bodyPr>
          <a:lstStyle/>
          <a:p>
            <a:r>
              <a:rPr lang="en-US" b="1" dirty="0" smtClean="0">
                <a:latin typeface="Times New Roman" pitchFamily="18" charset="0"/>
                <a:cs typeface="Times New Roman" pitchFamily="18" charset="0"/>
              </a:rPr>
              <a:t>=</a:t>
            </a:r>
            <a:r>
              <a:rPr lang="en-US" baseline="30000" dirty="0">
                <a:latin typeface="Times New Roman" pitchFamily="18" charset="0"/>
                <a:cs typeface="Times New Roman" pitchFamily="18" charset="0"/>
              </a:rPr>
              <a:t> </a:t>
            </a:r>
            <a:r>
              <a:rPr lang="en-US" baseline="30000" dirty="0" smtClean="0">
                <a:latin typeface="Times New Roman" pitchFamily="18" charset="0"/>
                <a:cs typeface="Times New Roman" pitchFamily="18" charset="0"/>
              </a:rPr>
              <a:t>13</a:t>
            </a:r>
            <a:r>
              <a:rPr lang="en-US" dirty="0" smtClean="0">
                <a:latin typeface="Times New Roman" pitchFamily="18" charset="0"/>
                <a:cs typeface="Times New Roman" pitchFamily="18" charset="0"/>
              </a:rPr>
              <a:t>C</a:t>
            </a:r>
            <a:r>
              <a:rPr lang="en-US" baseline="-25000" dirty="0" smtClean="0">
                <a:latin typeface="Times New Roman" pitchFamily="18" charset="0"/>
                <a:cs typeface="Times New Roman" pitchFamily="18" charset="0"/>
              </a:rPr>
              <a:t>2</a:t>
            </a:r>
            <a:endParaRPr lang="en-US" dirty="0"/>
          </a:p>
        </p:txBody>
      </p:sp>
      <p:sp>
        <p:nvSpPr>
          <p:cNvPr id="14" name="Rectangle 13"/>
          <p:cNvSpPr/>
          <p:nvPr/>
        </p:nvSpPr>
        <p:spPr>
          <a:xfrm>
            <a:off x="6271214" y="2513891"/>
            <a:ext cx="815386" cy="384721"/>
          </a:xfrm>
          <a:prstGeom prst="rect">
            <a:avLst/>
          </a:prstGeom>
        </p:spPr>
        <p:txBody>
          <a:bodyPr wrap="square">
            <a:spAutoFit/>
          </a:bodyPr>
          <a:lstStyle/>
          <a:p>
            <a:r>
              <a:rPr lang="en-US" sz="1900" dirty="0" smtClean="0">
                <a:latin typeface="Times New Roman" pitchFamily="18" charset="0"/>
                <a:cs typeface="Times New Roman" pitchFamily="18" charset="0"/>
              </a:rPr>
              <a:t>13×12</a:t>
            </a:r>
            <a:endParaRPr lang="en-US" sz="1900" dirty="0">
              <a:latin typeface="Times New Roman" pitchFamily="18" charset="0"/>
              <a:cs typeface="Times New Roman" pitchFamily="18" charset="0"/>
            </a:endParaRPr>
          </a:p>
        </p:txBody>
      </p:sp>
      <p:cxnSp>
        <p:nvCxnSpPr>
          <p:cNvPr id="15" name="Straight Connector 14"/>
          <p:cNvCxnSpPr/>
          <p:nvPr/>
        </p:nvCxnSpPr>
        <p:spPr>
          <a:xfrm flipV="1">
            <a:off x="6326148" y="2881615"/>
            <a:ext cx="760452" cy="5098"/>
          </a:xfrm>
          <a:prstGeom prst="line">
            <a:avLst/>
          </a:prstGeom>
          <a:ln w="38100"/>
        </p:spPr>
        <p:style>
          <a:lnRef idx="1">
            <a:schemeClr val="dk1"/>
          </a:lnRef>
          <a:fillRef idx="0">
            <a:schemeClr val="dk1"/>
          </a:fillRef>
          <a:effectRef idx="0">
            <a:schemeClr val="dk1"/>
          </a:effectRef>
          <a:fontRef idx="minor">
            <a:schemeClr val="tx1"/>
          </a:fontRef>
        </p:style>
      </p:cxnSp>
      <p:sp>
        <p:nvSpPr>
          <p:cNvPr id="19" name="Rectangle 18"/>
          <p:cNvSpPr/>
          <p:nvPr/>
        </p:nvSpPr>
        <p:spPr>
          <a:xfrm>
            <a:off x="5970016" y="2656367"/>
            <a:ext cx="354584" cy="369332"/>
          </a:xfrm>
          <a:prstGeom prst="rect">
            <a:avLst/>
          </a:prstGeom>
        </p:spPr>
        <p:txBody>
          <a:bodyPr wrap="none">
            <a:spAutoFit/>
          </a:bodyPr>
          <a:lstStyle/>
          <a:p>
            <a:r>
              <a:rPr lang="en-US" b="1" dirty="0">
                <a:latin typeface="Times New Roman" pitchFamily="18" charset="0"/>
                <a:cs typeface="Times New Roman" pitchFamily="18" charset="0"/>
              </a:rPr>
              <a:t>=</a:t>
            </a:r>
            <a:r>
              <a:rPr lang="en-US" baseline="30000" dirty="0">
                <a:latin typeface="Times New Roman" pitchFamily="18" charset="0"/>
                <a:cs typeface="Times New Roman" pitchFamily="18" charset="0"/>
              </a:rPr>
              <a:t> </a:t>
            </a:r>
            <a:endParaRPr lang="en-US" dirty="0"/>
          </a:p>
        </p:txBody>
      </p:sp>
      <p:sp>
        <p:nvSpPr>
          <p:cNvPr id="20" name="Rectangle 19"/>
          <p:cNvSpPr/>
          <p:nvPr/>
        </p:nvSpPr>
        <p:spPr>
          <a:xfrm>
            <a:off x="6336781" y="2808767"/>
            <a:ext cx="815386" cy="384721"/>
          </a:xfrm>
          <a:prstGeom prst="rect">
            <a:avLst/>
          </a:prstGeom>
        </p:spPr>
        <p:txBody>
          <a:bodyPr wrap="square">
            <a:spAutoFit/>
          </a:bodyPr>
          <a:lstStyle/>
          <a:p>
            <a:r>
              <a:rPr lang="en-US" sz="1900" dirty="0" smtClean="0">
                <a:latin typeface="Times New Roman" pitchFamily="18" charset="0"/>
                <a:cs typeface="Times New Roman" pitchFamily="18" charset="0"/>
              </a:rPr>
              <a:t>1×2</a:t>
            </a:r>
            <a:endParaRPr lang="en-US" sz="1900" dirty="0">
              <a:latin typeface="Times New Roman" pitchFamily="18" charset="0"/>
              <a:cs typeface="Times New Roman" pitchFamily="18" charset="0"/>
            </a:endParaRPr>
          </a:p>
        </p:txBody>
      </p:sp>
      <p:sp>
        <p:nvSpPr>
          <p:cNvPr id="22" name="Rectangle 21"/>
          <p:cNvSpPr/>
          <p:nvPr/>
        </p:nvSpPr>
        <p:spPr>
          <a:xfrm>
            <a:off x="7152167" y="2713946"/>
            <a:ext cx="316112" cy="369332"/>
          </a:xfrm>
          <a:prstGeom prst="rect">
            <a:avLst/>
          </a:prstGeom>
        </p:spPr>
        <p:txBody>
          <a:bodyPr wrap="none">
            <a:spAutoFit/>
          </a:bodyPr>
          <a:lstStyle/>
          <a:p>
            <a:r>
              <a:rPr lang="en-US" b="1" dirty="0" smtClean="0">
                <a:latin typeface="Times New Roman" pitchFamily="18" charset="0"/>
                <a:cs typeface="Times New Roman" pitchFamily="18" charset="0"/>
              </a:rPr>
              <a:t>=</a:t>
            </a:r>
            <a:endParaRPr lang="en-US" dirty="0"/>
          </a:p>
        </p:txBody>
      </p:sp>
      <p:sp>
        <p:nvSpPr>
          <p:cNvPr id="23" name="Rectangle 22"/>
          <p:cNvSpPr/>
          <p:nvPr/>
        </p:nvSpPr>
        <p:spPr>
          <a:xfrm>
            <a:off x="7315200" y="2691070"/>
            <a:ext cx="415498" cy="369332"/>
          </a:xfrm>
          <a:prstGeom prst="rect">
            <a:avLst/>
          </a:prstGeom>
        </p:spPr>
        <p:txBody>
          <a:bodyPr wrap="none">
            <a:spAutoFit/>
          </a:bodyPr>
          <a:lstStyle/>
          <a:p>
            <a:r>
              <a:rPr lang="en-US" b="1" dirty="0" smtClean="0">
                <a:latin typeface="Times New Roman" pitchFamily="18" charset="0"/>
                <a:cs typeface="Times New Roman" pitchFamily="18" charset="0"/>
              </a:rPr>
              <a:t>78</a:t>
            </a:r>
            <a:endParaRPr lang="en-US" dirty="0"/>
          </a:p>
        </p:txBody>
      </p:sp>
      <p:sp>
        <p:nvSpPr>
          <p:cNvPr id="24" name="Rectangle 23"/>
          <p:cNvSpPr/>
          <p:nvPr/>
        </p:nvSpPr>
        <p:spPr>
          <a:xfrm>
            <a:off x="2362200" y="2961167"/>
            <a:ext cx="3810000" cy="646331"/>
          </a:xfrm>
          <a:prstGeom prst="rect">
            <a:avLst/>
          </a:prstGeom>
        </p:spPr>
        <p:txBody>
          <a:bodyPr wrap="square">
            <a:spAutoFit/>
          </a:bodyPr>
          <a:lstStyle/>
          <a:p>
            <a:r>
              <a:rPr lang="en-US" b="1" dirty="0" smtClean="0">
                <a:latin typeface="Times New Roman" pitchFamily="18" charset="0"/>
                <a:cs typeface="Times New Roman" pitchFamily="18" charset="0"/>
              </a:rPr>
              <a:t>Favorable Number of outcomes for picking 2 red marbles</a:t>
            </a:r>
            <a:endParaRPr lang="en-US" dirty="0"/>
          </a:p>
        </p:txBody>
      </p:sp>
      <p:sp>
        <p:nvSpPr>
          <p:cNvPr id="25" name="Rectangle 24"/>
          <p:cNvSpPr/>
          <p:nvPr/>
        </p:nvSpPr>
        <p:spPr>
          <a:xfrm>
            <a:off x="5948367" y="3113567"/>
            <a:ext cx="662361" cy="369332"/>
          </a:xfrm>
          <a:prstGeom prst="rect">
            <a:avLst/>
          </a:prstGeom>
        </p:spPr>
        <p:txBody>
          <a:bodyPr wrap="none">
            <a:spAutoFit/>
          </a:bodyPr>
          <a:lstStyle/>
          <a:p>
            <a:r>
              <a:rPr lang="en-US" b="1" dirty="0" smtClean="0">
                <a:latin typeface="Times New Roman" pitchFamily="18" charset="0"/>
                <a:cs typeface="Times New Roman" pitchFamily="18" charset="0"/>
              </a:rPr>
              <a:t>=</a:t>
            </a:r>
            <a:r>
              <a:rPr lang="en-US" baseline="30000" dirty="0">
                <a:latin typeface="Times New Roman" pitchFamily="18" charset="0"/>
                <a:cs typeface="Times New Roman" pitchFamily="18" charset="0"/>
              </a:rPr>
              <a:t> 6</a:t>
            </a:r>
            <a:r>
              <a:rPr lang="en-US" dirty="0" smtClean="0">
                <a:latin typeface="Times New Roman" pitchFamily="18" charset="0"/>
                <a:cs typeface="Times New Roman" pitchFamily="18" charset="0"/>
              </a:rPr>
              <a:t>C</a:t>
            </a:r>
            <a:r>
              <a:rPr lang="en-US" baseline="-25000" dirty="0" smtClean="0">
                <a:latin typeface="Times New Roman" pitchFamily="18" charset="0"/>
                <a:cs typeface="Times New Roman" pitchFamily="18" charset="0"/>
              </a:rPr>
              <a:t>2</a:t>
            </a:r>
            <a:endParaRPr lang="en-US" dirty="0"/>
          </a:p>
        </p:txBody>
      </p:sp>
      <p:sp>
        <p:nvSpPr>
          <p:cNvPr id="26" name="Rectangle 25"/>
          <p:cNvSpPr/>
          <p:nvPr/>
        </p:nvSpPr>
        <p:spPr>
          <a:xfrm>
            <a:off x="6271214" y="3370036"/>
            <a:ext cx="815386" cy="384721"/>
          </a:xfrm>
          <a:prstGeom prst="rect">
            <a:avLst/>
          </a:prstGeom>
        </p:spPr>
        <p:txBody>
          <a:bodyPr wrap="square">
            <a:spAutoFit/>
          </a:bodyPr>
          <a:lstStyle/>
          <a:p>
            <a:r>
              <a:rPr lang="en-US" sz="1900" dirty="0" smtClean="0">
                <a:latin typeface="Times New Roman" pitchFamily="18" charset="0"/>
                <a:cs typeface="Times New Roman" pitchFamily="18" charset="0"/>
              </a:rPr>
              <a:t>6×5</a:t>
            </a:r>
            <a:endParaRPr lang="en-US" sz="1900" dirty="0">
              <a:latin typeface="Times New Roman" pitchFamily="18" charset="0"/>
              <a:cs typeface="Times New Roman" pitchFamily="18" charset="0"/>
            </a:endParaRPr>
          </a:p>
        </p:txBody>
      </p:sp>
      <p:cxnSp>
        <p:nvCxnSpPr>
          <p:cNvPr id="27" name="Straight Connector 26"/>
          <p:cNvCxnSpPr/>
          <p:nvPr/>
        </p:nvCxnSpPr>
        <p:spPr>
          <a:xfrm flipV="1">
            <a:off x="6326148" y="3737760"/>
            <a:ext cx="760452" cy="5098"/>
          </a:xfrm>
          <a:prstGeom prst="line">
            <a:avLst/>
          </a:prstGeom>
          <a:ln w="38100"/>
        </p:spPr>
        <p:style>
          <a:lnRef idx="1">
            <a:schemeClr val="dk1"/>
          </a:lnRef>
          <a:fillRef idx="0">
            <a:schemeClr val="dk1"/>
          </a:fillRef>
          <a:effectRef idx="0">
            <a:schemeClr val="dk1"/>
          </a:effectRef>
          <a:fontRef idx="minor">
            <a:schemeClr val="tx1"/>
          </a:fontRef>
        </p:style>
      </p:cxnSp>
      <p:sp>
        <p:nvSpPr>
          <p:cNvPr id="28" name="Rectangle 27"/>
          <p:cNvSpPr/>
          <p:nvPr/>
        </p:nvSpPr>
        <p:spPr>
          <a:xfrm>
            <a:off x="5970016" y="3512512"/>
            <a:ext cx="354584" cy="369332"/>
          </a:xfrm>
          <a:prstGeom prst="rect">
            <a:avLst/>
          </a:prstGeom>
        </p:spPr>
        <p:txBody>
          <a:bodyPr wrap="none">
            <a:spAutoFit/>
          </a:bodyPr>
          <a:lstStyle/>
          <a:p>
            <a:r>
              <a:rPr lang="en-US" b="1" dirty="0">
                <a:latin typeface="Times New Roman" pitchFamily="18" charset="0"/>
                <a:cs typeface="Times New Roman" pitchFamily="18" charset="0"/>
              </a:rPr>
              <a:t>=</a:t>
            </a:r>
            <a:r>
              <a:rPr lang="en-US" baseline="30000" dirty="0">
                <a:latin typeface="Times New Roman" pitchFamily="18" charset="0"/>
                <a:cs typeface="Times New Roman" pitchFamily="18" charset="0"/>
              </a:rPr>
              <a:t> </a:t>
            </a:r>
            <a:endParaRPr lang="en-US" dirty="0"/>
          </a:p>
        </p:txBody>
      </p:sp>
      <p:sp>
        <p:nvSpPr>
          <p:cNvPr id="29" name="Rectangle 28"/>
          <p:cNvSpPr/>
          <p:nvPr/>
        </p:nvSpPr>
        <p:spPr>
          <a:xfrm>
            <a:off x="7152167" y="3570091"/>
            <a:ext cx="316112" cy="369332"/>
          </a:xfrm>
          <a:prstGeom prst="rect">
            <a:avLst/>
          </a:prstGeom>
        </p:spPr>
        <p:txBody>
          <a:bodyPr wrap="none">
            <a:spAutoFit/>
          </a:bodyPr>
          <a:lstStyle/>
          <a:p>
            <a:r>
              <a:rPr lang="en-US" b="1" dirty="0" smtClean="0">
                <a:latin typeface="Times New Roman" pitchFamily="18" charset="0"/>
                <a:cs typeface="Times New Roman" pitchFamily="18" charset="0"/>
              </a:rPr>
              <a:t>=</a:t>
            </a:r>
            <a:endParaRPr lang="en-US" dirty="0"/>
          </a:p>
        </p:txBody>
      </p:sp>
      <p:sp>
        <p:nvSpPr>
          <p:cNvPr id="30" name="Rectangle 29"/>
          <p:cNvSpPr/>
          <p:nvPr/>
        </p:nvSpPr>
        <p:spPr>
          <a:xfrm>
            <a:off x="7315200" y="3547215"/>
            <a:ext cx="415498" cy="369332"/>
          </a:xfrm>
          <a:prstGeom prst="rect">
            <a:avLst/>
          </a:prstGeom>
        </p:spPr>
        <p:txBody>
          <a:bodyPr wrap="none">
            <a:spAutoFit/>
          </a:bodyPr>
          <a:lstStyle/>
          <a:p>
            <a:r>
              <a:rPr lang="en-US" b="1" dirty="0" smtClean="0">
                <a:latin typeface="Times New Roman" pitchFamily="18" charset="0"/>
                <a:cs typeface="Times New Roman" pitchFamily="18" charset="0"/>
              </a:rPr>
              <a:t>15</a:t>
            </a:r>
            <a:endParaRPr lang="en-US" dirty="0"/>
          </a:p>
        </p:txBody>
      </p:sp>
      <p:sp>
        <p:nvSpPr>
          <p:cNvPr id="31" name="Rectangle 30"/>
          <p:cNvSpPr/>
          <p:nvPr/>
        </p:nvSpPr>
        <p:spPr>
          <a:xfrm>
            <a:off x="6287163" y="3754757"/>
            <a:ext cx="815386" cy="384721"/>
          </a:xfrm>
          <a:prstGeom prst="rect">
            <a:avLst/>
          </a:prstGeom>
        </p:spPr>
        <p:txBody>
          <a:bodyPr wrap="square">
            <a:spAutoFit/>
          </a:bodyPr>
          <a:lstStyle/>
          <a:p>
            <a:r>
              <a:rPr lang="en-US" sz="1900" dirty="0" smtClean="0">
                <a:latin typeface="Times New Roman" pitchFamily="18" charset="0"/>
                <a:cs typeface="Times New Roman" pitchFamily="18" charset="0"/>
              </a:rPr>
              <a:t>1×2</a:t>
            </a:r>
            <a:endParaRPr lang="en-US" sz="1900" dirty="0">
              <a:latin typeface="Times New Roman" pitchFamily="18" charset="0"/>
              <a:cs typeface="Times New Roman" pitchFamily="18" charset="0"/>
            </a:endParaRPr>
          </a:p>
        </p:txBody>
      </p:sp>
      <p:sp>
        <p:nvSpPr>
          <p:cNvPr id="32" name="Rectangle 31"/>
          <p:cNvSpPr/>
          <p:nvPr/>
        </p:nvSpPr>
        <p:spPr>
          <a:xfrm>
            <a:off x="2589946" y="4136066"/>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P</a:t>
            </a:r>
            <a:endParaRPr lang="en-US" dirty="0">
              <a:latin typeface="Times New Roman" pitchFamily="18" charset="0"/>
              <a:cs typeface="Times New Roman" pitchFamily="18" charset="0"/>
            </a:endParaRPr>
          </a:p>
        </p:txBody>
      </p:sp>
      <p:sp>
        <p:nvSpPr>
          <p:cNvPr id="33" name="Rectangle 32"/>
          <p:cNvSpPr/>
          <p:nvPr/>
        </p:nvSpPr>
        <p:spPr>
          <a:xfrm>
            <a:off x="2813266" y="4147734"/>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34" name="Rectangle 33"/>
          <p:cNvSpPr/>
          <p:nvPr/>
        </p:nvSpPr>
        <p:spPr>
          <a:xfrm>
            <a:off x="3124209" y="3948046"/>
            <a:ext cx="619080" cy="384721"/>
          </a:xfrm>
          <a:prstGeom prst="rect">
            <a:avLst/>
          </a:prstGeom>
        </p:spPr>
        <p:txBody>
          <a:bodyPr wrap="none">
            <a:spAutoFit/>
          </a:bodyPr>
          <a:lstStyle/>
          <a:p>
            <a:r>
              <a:rPr lang="en-US" sz="1900" dirty="0" smtClean="0">
                <a:latin typeface="Times New Roman" pitchFamily="18" charset="0"/>
                <a:cs typeface="Times New Roman" pitchFamily="18" charset="0"/>
              </a:rPr>
              <a:t>n(E)</a:t>
            </a:r>
            <a:endParaRPr lang="en-US" sz="1900" dirty="0">
              <a:latin typeface="Times New Roman" pitchFamily="18" charset="0"/>
              <a:cs typeface="Times New Roman" pitchFamily="18" charset="0"/>
            </a:endParaRPr>
          </a:p>
        </p:txBody>
      </p:sp>
      <p:cxnSp>
        <p:nvCxnSpPr>
          <p:cNvPr id="35" name="Straight Connector 34"/>
          <p:cNvCxnSpPr/>
          <p:nvPr/>
        </p:nvCxnSpPr>
        <p:spPr>
          <a:xfrm>
            <a:off x="3102934" y="4332767"/>
            <a:ext cx="707075" cy="0"/>
          </a:xfrm>
          <a:prstGeom prst="line">
            <a:avLst/>
          </a:prstGeom>
          <a:ln w="28575"/>
        </p:spPr>
        <p:style>
          <a:lnRef idx="1">
            <a:schemeClr val="dk1"/>
          </a:lnRef>
          <a:fillRef idx="0">
            <a:schemeClr val="dk1"/>
          </a:fillRef>
          <a:effectRef idx="0">
            <a:schemeClr val="dk1"/>
          </a:effectRef>
          <a:fontRef idx="minor">
            <a:schemeClr val="tx1"/>
          </a:fontRef>
        </p:style>
      </p:cxnSp>
      <p:sp>
        <p:nvSpPr>
          <p:cNvPr id="36" name="Rectangle 35"/>
          <p:cNvSpPr/>
          <p:nvPr/>
        </p:nvSpPr>
        <p:spPr>
          <a:xfrm>
            <a:off x="3124209" y="4329046"/>
            <a:ext cx="606256" cy="384721"/>
          </a:xfrm>
          <a:prstGeom prst="rect">
            <a:avLst/>
          </a:prstGeom>
        </p:spPr>
        <p:txBody>
          <a:bodyPr wrap="none">
            <a:spAutoFit/>
          </a:bodyPr>
          <a:lstStyle/>
          <a:p>
            <a:r>
              <a:rPr lang="en-US" sz="1900" dirty="0" smtClean="0">
                <a:latin typeface="Times New Roman" pitchFamily="18" charset="0"/>
                <a:cs typeface="Times New Roman" pitchFamily="18" charset="0"/>
              </a:rPr>
              <a:t>n(S)</a:t>
            </a:r>
            <a:endParaRPr lang="en-US" sz="1900" dirty="0">
              <a:latin typeface="Times New Roman" pitchFamily="18" charset="0"/>
              <a:cs typeface="Times New Roman" pitchFamily="18" charset="0"/>
            </a:endParaRPr>
          </a:p>
        </p:txBody>
      </p:sp>
      <p:sp>
        <p:nvSpPr>
          <p:cNvPr id="37" name="Rectangle 36"/>
          <p:cNvSpPr/>
          <p:nvPr/>
        </p:nvSpPr>
        <p:spPr>
          <a:xfrm>
            <a:off x="4114800" y="3961691"/>
            <a:ext cx="428322" cy="384721"/>
          </a:xfrm>
          <a:prstGeom prst="rect">
            <a:avLst/>
          </a:prstGeom>
        </p:spPr>
        <p:txBody>
          <a:bodyPr wrap="none">
            <a:spAutoFit/>
          </a:bodyPr>
          <a:lstStyle/>
          <a:p>
            <a:r>
              <a:rPr lang="en-US" sz="1900" dirty="0" smtClean="0">
                <a:latin typeface="Times New Roman" pitchFamily="18" charset="0"/>
                <a:cs typeface="Times New Roman" pitchFamily="18" charset="0"/>
              </a:rPr>
              <a:t>15</a:t>
            </a:r>
            <a:endParaRPr lang="en-US" sz="1900" dirty="0">
              <a:latin typeface="Times New Roman" pitchFamily="18" charset="0"/>
              <a:cs typeface="Times New Roman" pitchFamily="18" charset="0"/>
            </a:endParaRPr>
          </a:p>
        </p:txBody>
      </p:sp>
      <p:cxnSp>
        <p:nvCxnSpPr>
          <p:cNvPr id="38" name="Straight Connector 37"/>
          <p:cNvCxnSpPr/>
          <p:nvPr/>
        </p:nvCxnSpPr>
        <p:spPr>
          <a:xfrm flipV="1">
            <a:off x="4169734" y="4332400"/>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39" name="Rectangle 38"/>
          <p:cNvSpPr/>
          <p:nvPr/>
        </p:nvSpPr>
        <p:spPr>
          <a:xfrm>
            <a:off x="3797607" y="4146699"/>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40" name="Rectangle 39"/>
          <p:cNvSpPr/>
          <p:nvPr/>
        </p:nvSpPr>
        <p:spPr>
          <a:xfrm>
            <a:off x="4105578" y="4302717"/>
            <a:ext cx="428322" cy="384721"/>
          </a:xfrm>
          <a:prstGeom prst="rect">
            <a:avLst/>
          </a:prstGeom>
        </p:spPr>
        <p:txBody>
          <a:bodyPr wrap="none">
            <a:spAutoFit/>
          </a:bodyPr>
          <a:lstStyle/>
          <a:p>
            <a:r>
              <a:rPr lang="en-US" sz="1900" dirty="0" smtClean="0">
                <a:latin typeface="Times New Roman" pitchFamily="18" charset="0"/>
                <a:cs typeface="Times New Roman" pitchFamily="18" charset="0"/>
              </a:rPr>
              <a:t>78</a:t>
            </a:r>
            <a:endParaRPr lang="en-US" sz="1900" dirty="0">
              <a:latin typeface="Times New Roman" pitchFamily="18" charset="0"/>
              <a:cs typeface="Times New Roman" pitchFamily="18" charset="0"/>
            </a:endParaRPr>
          </a:p>
        </p:txBody>
      </p:sp>
      <p:sp>
        <p:nvSpPr>
          <p:cNvPr id="41" name="Rectangle 40"/>
          <p:cNvSpPr/>
          <p:nvPr/>
        </p:nvSpPr>
        <p:spPr>
          <a:xfrm>
            <a:off x="4771984" y="3947117"/>
            <a:ext cx="306494" cy="384721"/>
          </a:xfrm>
          <a:prstGeom prst="rect">
            <a:avLst/>
          </a:prstGeom>
        </p:spPr>
        <p:txBody>
          <a:bodyPr wrap="none">
            <a:spAutoFit/>
          </a:bodyPr>
          <a:lstStyle/>
          <a:p>
            <a:r>
              <a:rPr lang="en-US" sz="1900" dirty="0" smtClean="0">
                <a:latin typeface="Times New Roman" pitchFamily="18" charset="0"/>
                <a:cs typeface="Times New Roman" pitchFamily="18" charset="0"/>
              </a:rPr>
              <a:t>5</a:t>
            </a:r>
            <a:endParaRPr lang="en-US" sz="1900" dirty="0">
              <a:latin typeface="Times New Roman" pitchFamily="18" charset="0"/>
              <a:cs typeface="Times New Roman" pitchFamily="18" charset="0"/>
            </a:endParaRPr>
          </a:p>
        </p:txBody>
      </p:sp>
      <p:cxnSp>
        <p:nvCxnSpPr>
          <p:cNvPr id="42" name="Straight Connector 41"/>
          <p:cNvCxnSpPr/>
          <p:nvPr/>
        </p:nvCxnSpPr>
        <p:spPr>
          <a:xfrm flipV="1">
            <a:off x="4779334" y="4295807"/>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43" name="Rectangle 42"/>
          <p:cNvSpPr/>
          <p:nvPr/>
        </p:nvSpPr>
        <p:spPr>
          <a:xfrm>
            <a:off x="4711070" y="4295807"/>
            <a:ext cx="428322" cy="384721"/>
          </a:xfrm>
          <a:prstGeom prst="rect">
            <a:avLst/>
          </a:prstGeom>
        </p:spPr>
        <p:txBody>
          <a:bodyPr wrap="none">
            <a:spAutoFit/>
          </a:bodyPr>
          <a:lstStyle/>
          <a:p>
            <a:r>
              <a:rPr lang="en-US" sz="1900" dirty="0" smtClean="0">
                <a:latin typeface="Times New Roman" pitchFamily="18" charset="0"/>
                <a:cs typeface="Times New Roman" pitchFamily="18" charset="0"/>
              </a:rPr>
              <a:t>26</a:t>
            </a:r>
            <a:endParaRPr lang="en-US" sz="1900" dirty="0">
              <a:latin typeface="Times New Roman" pitchFamily="18" charset="0"/>
              <a:cs typeface="Times New Roman" pitchFamily="18" charset="0"/>
            </a:endParaRPr>
          </a:p>
        </p:txBody>
      </p:sp>
      <p:sp>
        <p:nvSpPr>
          <p:cNvPr id="44" name="Rectangle 43"/>
          <p:cNvSpPr/>
          <p:nvPr/>
        </p:nvSpPr>
        <p:spPr>
          <a:xfrm>
            <a:off x="4484295" y="4139478"/>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Tree>
    <p:extLst>
      <p:ext uri="{BB962C8B-B14F-4D97-AF65-F5344CB8AC3E}">
        <p14:creationId xmlns:p14="http://schemas.microsoft.com/office/powerpoint/2010/main" val="359062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left)">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wipe(left)">
                                      <p:cBhvr>
                                        <p:cTn id="77" dur="500"/>
                                        <p:tgtEl>
                                          <p:spTgt spid="2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wipe(left)">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wipe(left)">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wipe(left)">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left)">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wipe(left)">
                                      <p:cBhvr>
                                        <p:cTn id="107" dur="500"/>
                                        <p:tgtEl>
                                          <p:spTgt spid="28"/>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wipe(left)">
                                      <p:cBhvr>
                                        <p:cTn id="112" dur="500"/>
                                        <p:tgtEl>
                                          <p:spTgt spid="2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wipe(left)">
                                      <p:cBhvr>
                                        <p:cTn id="117" dur="500"/>
                                        <p:tgtEl>
                                          <p:spTgt spid="3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wipe(left)">
                                      <p:cBhvr>
                                        <p:cTn id="122" dur="500"/>
                                        <p:tgtEl>
                                          <p:spTgt spid="31"/>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wipe(left)">
                                      <p:cBhvr>
                                        <p:cTn id="127" dur="500"/>
                                        <p:tgtEl>
                                          <p:spTgt spid="3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wipe(left)">
                                      <p:cBhvr>
                                        <p:cTn id="132" dur="5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wipe(left)">
                                      <p:cBhvr>
                                        <p:cTn id="137" dur="500"/>
                                        <p:tgtEl>
                                          <p:spTgt spid="34"/>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wipe(left)">
                                      <p:cBhvr>
                                        <p:cTn id="142" dur="500"/>
                                        <p:tgtEl>
                                          <p:spTgt spid="35"/>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wipe(left)">
                                      <p:cBhvr>
                                        <p:cTn id="147" dur="500"/>
                                        <p:tgtEl>
                                          <p:spTgt spid="36"/>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37"/>
                                        </p:tgtEl>
                                        <p:attrNameLst>
                                          <p:attrName>style.visibility</p:attrName>
                                        </p:attrNameLst>
                                      </p:cBhvr>
                                      <p:to>
                                        <p:strVal val="visible"/>
                                      </p:to>
                                    </p:set>
                                    <p:animEffect transition="in" filter="wipe(left)">
                                      <p:cBhvr>
                                        <p:cTn id="152" dur="500"/>
                                        <p:tgtEl>
                                          <p:spTgt spid="37"/>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38"/>
                                        </p:tgtEl>
                                        <p:attrNameLst>
                                          <p:attrName>style.visibility</p:attrName>
                                        </p:attrNameLst>
                                      </p:cBhvr>
                                      <p:to>
                                        <p:strVal val="visible"/>
                                      </p:to>
                                    </p:set>
                                    <p:animEffect transition="in" filter="wipe(left)">
                                      <p:cBhvr>
                                        <p:cTn id="157" dur="500"/>
                                        <p:tgtEl>
                                          <p:spTgt spid="38"/>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9"/>
                                        </p:tgtEl>
                                        <p:attrNameLst>
                                          <p:attrName>style.visibility</p:attrName>
                                        </p:attrNameLst>
                                      </p:cBhvr>
                                      <p:to>
                                        <p:strVal val="visible"/>
                                      </p:to>
                                    </p:set>
                                    <p:animEffect transition="in" filter="wipe(left)">
                                      <p:cBhvr>
                                        <p:cTn id="162" dur="500"/>
                                        <p:tgtEl>
                                          <p:spTgt spid="39"/>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40"/>
                                        </p:tgtEl>
                                        <p:attrNameLst>
                                          <p:attrName>style.visibility</p:attrName>
                                        </p:attrNameLst>
                                      </p:cBhvr>
                                      <p:to>
                                        <p:strVal val="visible"/>
                                      </p:to>
                                    </p:set>
                                    <p:animEffect transition="in" filter="wipe(left)">
                                      <p:cBhvr>
                                        <p:cTn id="167" dur="500"/>
                                        <p:tgtEl>
                                          <p:spTgt spid="40"/>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41"/>
                                        </p:tgtEl>
                                        <p:attrNameLst>
                                          <p:attrName>style.visibility</p:attrName>
                                        </p:attrNameLst>
                                      </p:cBhvr>
                                      <p:to>
                                        <p:strVal val="visible"/>
                                      </p:to>
                                    </p:set>
                                    <p:animEffect transition="in" filter="wipe(left)">
                                      <p:cBhvr>
                                        <p:cTn id="172" dur="500"/>
                                        <p:tgtEl>
                                          <p:spTgt spid="41"/>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nodeType="clickEffect">
                                  <p:stCondLst>
                                    <p:cond delay="0"/>
                                  </p:stCondLst>
                                  <p:childTnLst>
                                    <p:set>
                                      <p:cBhvr>
                                        <p:cTn id="176" dur="1" fill="hold">
                                          <p:stCondLst>
                                            <p:cond delay="0"/>
                                          </p:stCondLst>
                                        </p:cTn>
                                        <p:tgtEl>
                                          <p:spTgt spid="42"/>
                                        </p:tgtEl>
                                        <p:attrNameLst>
                                          <p:attrName>style.visibility</p:attrName>
                                        </p:attrNameLst>
                                      </p:cBhvr>
                                      <p:to>
                                        <p:strVal val="visible"/>
                                      </p:to>
                                    </p:set>
                                    <p:animEffect transition="in" filter="wipe(left)">
                                      <p:cBhvr>
                                        <p:cTn id="177" dur="500"/>
                                        <p:tgtEl>
                                          <p:spTgt spid="42"/>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43"/>
                                        </p:tgtEl>
                                        <p:attrNameLst>
                                          <p:attrName>style.visibility</p:attrName>
                                        </p:attrNameLst>
                                      </p:cBhvr>
                                      <p:to>
                                        <p:strVal val="visible"/>
                                      </p:to>
                                    </p:set>
                                    <p:animEffect transition="in" filter="wipe(left)">
                                      <p:cBhvr>
                                        <p:cTn id="182" dur="500"/>
                                        <p:tgtEl>
                                          <p:spTgt spid="43"/>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44"/>
                                        </p:tgtEl>
                                        <p:attrNameLst>
                                          <p:attrName>style.visibility</p:attrName>
                                        </p:attrNameLst>
                                      </p:cBhvr>
                                      <p:to>
                                        <p:strVal val="visible"/>
                                      </p:to>
                                    </p:set>
                                    <p:animEffect transition="in" filter="wipe(left)">
                                      <p:cBhvr>
                                        <p:cTn id="18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8" grpId="0"/>
      <p:bldP spid="9" grpId="0"/>
      <p:bldP spid="10" grpId="0"/>
      <p:bldP spid="11" grpId="0"/>
      <p:bldP spid="12" grpId="0"/>
      <p:bldP spid="13" grpId="0"/>
      <p:bldP spid="14" grpId="0"/>
      <p:bldP spid="19" grpId="0"/>
      <p:bldP spid="20" grpId="0"/>
      <p:bldP spid="22" grpId="0"/>
      <p:bldP spid="23" grpId="0"/>
      <p:bldP spid="24" grpId="0"/>
      <p:bldP spid="25" grpId="0"/>
      <p:bldP spid="26" grpId="0"/>
      <p:bldP spid="28" grpId="0"/>
      <p:bldP spid="29" grpId="0"/>
      <p:bldP spid="30" grpId="0"/>
      <p:bldP spid="31" grpId="0"/>
      <p:bldP spid="32" grpId="0"/>
      <p:bldP spid="33" grpId="0"/>
      <p:bldP spid="34" grpId="0"/>
      <p:bldP spid="36" grpId="0"/>
      <p:bldP spid="37" grpId="0"/>
      <p:bldP spid="39" grpId="0"/>
      <p:bldP spid="40" grpId="0"/>
      <p:bldP spid="41" grpId="0"/>
      <p:bldP spid="43" grpId="0"/>
      <p:bldP spid="4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81000" y="590550"/>
                <a:ext cx="8305800" cy="1049390"/>
              </a:xfrm>
              <a:prstGeom prst="rect">
                <a:avLst/>
              </a:prstGeom>
            </p:spPr>
            <p:txBody>
              <a:bodyPr wrap="square">
                <a:spAutoFit/>
              </a:bodyPr>
              <a:lstStyle/>
              <a:p>
                <a:pPr fontAlgn="t"/>
                <a:r>
                  <a:rPr lang="en-US" b="1" dirty="0" smtClean="0">
                    <a:solidFill>
                      <a:srgbClr val="FF0000"/>
                    </a:solidFill>
                    <a:latin typeface="Times New Roman" pitchFamily="18" charset="0"/>
                    <a:cs typeface="Times New Roman" pitchFamily="18" charset="0"/>
                  </a:rPr>
                  <a:t>A </a:t>
                </a:r>
                <a:r>
                  <a:rPr lang="en-US" b="1" dirty="0">
                    <a:solidFill>
                      <a:srgbClr val="FF0000"/>
                    </a:solidFill>
                    <a:latin typeface="Times New Roman" pitchFamily="18" charset="0"/>
                    <a:cs typeface="Times New Roman" pitchFamily="18" charset="0"/>
                  </a:rPr>
                  <a:t>number X is chosen at random from the numbers -3, -2, -1, 0, 1, 2, 3. </a:t>
                </a:r>
                <a:r>
                  <a:rPr lang="en-US" b="1" dirty="0" smtClean="0">
                    <a:solidFill>
                      <a:srgbClr val="FF0000"/>
                    </a:solidFill>
                    <a:latin typeface="Times New Roman" pitchFamily="18" charset="0"/>
                    <a:cs typeface="Times New Roman" pitchFamily="18" charset="0"/>
                  </a:rPr>
                  <a:t>	What </a:t>
                </a:r>
                <a:r>
                  <a:rPr lang="en-US" b="1" dirty="0">
                    <a:solidFill>
                      <a:srgbClr val="FF0000"/>
                    </a:solidFill>
                    <a:latin typeface="Times New Roman" pitchFamily="18" charset="0"/>
                    <a:cs typeface="Times New Roman" pitchFamily="18" charset="0"/>
                  </a:rPr>
                  <a:t>is the probability that |X|&lt;2</a:t>
                </a:r>
              </a:p>
              <a:p>
                <a:pPr fontAlgn="t"/>
                <a:r>
                  <a:rPr lang="en-US" b="1" dirty="0" smtClean="0">
                    <a:solidFill>
                      <a:srgbClr val="FF0000"/>
                    </a:solidFill>
                    <a:latin typeface="Times New Roman" pitchFamily="18" charset="0"/>
                    <a:cs typeface="Times New Roman" pitchFamily="18" charset="0"/>
                  </a:rPr>
                  <a:t>	A.</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𝟓</m:t>
                        </m:r>
                      </m:num>
                      <m:den>
                        <m:r>
                          <a:rPr lang="en-US" b="1" i="1" dirty="0" smtClean="0">
                            <a:solidFill>
                              <a:srgbClr val="FF0000"/>
                            </a:solidFill>
                            <a:latin typeface="Cambria Math"/>
                            <a:cs typeface="Times New Roman" pitchFamily="18" charset="0"/>
                          </a:rPr>
                          <m:t>𝟕</m:t>
                        </m:r>
                      </m:den>
                    </m:f>
                    <m:r>
                      <a:rPr lang="en-US" b="1" i="1" dirty="0" smtClean="0">
                        <a:solidFill>
                          <a:srgbClr val="FF0000"/>
                        </a:solidFill>
                        <a:latin typeface="Cambria Math"/>
                        <a:cs typeface="Times New Roman" pitchFamily="18" charset="0"/>
                      </a:rPr>
                      <m:t> </m:t>
                    </m:r>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𝟑</m:t>
                        </m:r>
                      </m:num>
                      <m:den>
                        <m:r>
                          <a:rPr lang="en-US" b="1" i="1" dirty="0" smtClean="0">
                            <a:solidFill>
                              <a:srgbClr val="FF0000"/>
                            </a:solidFill>
                            <a:latin typeface="Cambria Math"/>
                            <a:cs typeface="Times New Roman" pitchFamily="18" charset="0"/>
                          </a:rPr>
                          <m:t>𝟕</m:t>
                        </m:r>
                      </m:den>
                    </m:f>
                  </m:oMath>
                </a14:m>
                <a:r>
                  <a:rPr lang="en-US" b="1" dirty="0" smtClean="0">
                    <a:solidFill>
                      <a:srgbClr val="FF0000"/>
                    </a:solidFill>
                    <a:latin typeface="Times New Roman" pitchFamily="18" charset="0"/>
                    <a:cs typeface="Times New Roman" pitchFamily="18" charset="0"/>
                  </a:rPr>
                  <a:t> 		C.</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𝟑</m:t>
                        </m:r>
                      </m:num>
                      <m:den>
                        <m:r>
                          <a:rPr lang="en-US" b="1" i="1" dirty="0" smtClean="0">
                            <a:solidFill>
                              <a:srgbClr val="FF0000"/>
                            </a:solidFill>
                            <a:latin typeface="Cambria Math"/>
                            <a:cs typeface="Times New Roman" pitchFamily="18" charset="0"/>
                          </a:rPr>
                          <m:t>𝟓</m:t>
                        </m:r>
                      </m:den>
                    </m:f>
                    <m:r>
                      <a:rPr lang="en-US" b="1" i="1" dirty="0" smtClean="0">
                        <a:solidFill>
                          <a:srgbClr val="FF0000"/>
                        </a:solidFill>
                        <a:latin typeface="Cambria Math"/>
                        <a:cs typeface="Times New Roman" pitchFamily="18" charset="0"/>
                      </a:rPr>
                      <m:t> </m:t>
                    </m:r>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𝟑</m:t>
                        </m:r>
                      </m:den>
                    </m:f>
                  </m:oMath>
                </a14:m>
                <a:endParaRPr lang="en-US" b="1" dirty="0">
                  <a:solidFill>
                    <a:srgbClr val="FF0000"/>
                  </a:solidFill>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81000" y="590550"/>
                <a:ext cx="8305800" cy="1049390"/>
              </a:xfrm>
              <a:prstGeom prst="rect">
                <a:avLst/>
              </a:prstGeom>
              <a:blipFill rotWithShape="1">
                <a:blip r:embed="rId2"/>
                <a:stretch>
                  <a:fillRect l="-661" t="-2326" r="-661" b="-581"/>
                </a:stretch>
              </a:blipFill>
            </p:spPr>
            <p:txBody>
              <a:bodyPr/>
              <a:lstStyle/>
              <a:p>
                <a:r>
                  <a:rPr lang="en-US">
                    <a:noFill/>
                  </a:rPr>
                  <a:t> </a:t>
                </a:r>
              </a:p>
            </p:txBody>
          </p:sp>
        </mc:Fallback>
      </mc:AlternateContent>
      <p:sp>
        <p:nvSpPr>
          <p:cNvPr id="3" name="Rectangle 2"/>
          <p:cNvSpPr/>
          <p:nvPr/>
        </p:nvSpPr>
        <p:spPr>
          <a:xfrm>
            <a:off x="7772400" y="1428750"/>
            <a:ext cx="780983" cy="369332"/>
          </a:xfrm>
          <a:prstGeom prst="rect">
            <a:avLst/>
          </a:prstGeom>
        </p:spPr>
        <p:txBody>
          <a:bodyPr wrap="none">
            <a:spAutoFit/>
          </a:bodyPr>
          <a:lstStyle/>
          <a:p>
            <a:pPr fontAlgn="t"/>
            <a:r>
              <a:rPr lang="en-US" b="1" dirty="0">
                <a:latin typeface="Times New Roman" pitchFamily="18" charset="0"/>
                <a:cs typeface="Times New Roman" pitchFamily="18" charset="0"/>
              </a:rPr>
              <a:t>Ans B</a:t>
            </a:r>
          </a:p>
        </p:txBody>
      </p:sp>
      <p:sp>
        <p:nvSpPr>
          <p:cNvPr id="4" name="Rectangle 3"/>
          <p:cNvSpPr/>
          <p:nvPr/>
        </p:nvSpPr>
        <p:spPr>
          <a:xfrm>
            <a:off x="2776495" y="142341"/>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6" name="Rectangle 5"/>
          <p:cNvSpPr/>
          <p:nvPr/>
        </p:nvSpPr>
        <p:spPr>
          <a:xfrm>
            <a:off x="1114647" y="1659933"/>
            <a:ext cx="2732479" cy="369332"/>
          </a:xfrm>
          <a:prstGeom prst="rect">
            <a:avLst/>
          </a:prstGeom>
        </p:spPr>
        <p:txBody>
          <a:bodyPr wrap="none">
            <a:spAutoFit/>
          </a:bodyPr>
          <a:lstStyle/>
          <a:p>
            <a:pPr fontAlgn="t"/>
            <a:r>
              <a:rPr lang="en-US" dirty="0" smtClean="0">
                <a:latin typeface="Times New Roman" pitchFamily="18" charset="0"/>
                <a:cs typeface="Times New Roman" pitchFamily="18" charset="0"/>
              </a:rPr>
              <a:t>All possible outcomes are </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3688140" y="1657350"/>
                <a:ext cx="2204450" cy="369332"/>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{−3,−2,−1,0,1,2,3}</m:t>
                      </m:r>
                    </m:oMath>
                  </m:oMathPara>
                </a14:m>
                <a:endParaRPr lang="en-US" dirty="0">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688140" y="1657350"/>
                <a:ext cx="2204450" cy="369332"/>
              </a:xfrm>
              <a:prstGeom prst="rect">
                <a:avLst/>
              </a:prstGeom>
              <a:blipFill rotWithShape="1">
                <a:blip r:embed="rId4"/>
                <a:stretch>
                  <a:fillRect t="-6667" r="-3315" b="-28333"/>
                </a:stretch>
              </a:blipFill>
            </p:spPr>
            <p:txBody>
              <a:bodyPr/>
              <a:lstStyle/>
              <a:p>
                <a:r>
                  <a:rPr lang="en-US">
                    <a:noFill/>
                  </a:rPr>
                  <a:t> </a:t>
                </a:r>
              </a:p>
            </p:txBody>
          </p:sp>
        </mc:Fallback>
      </mc:AlternateContent>
      <p:sp>
        <p:nvSpPr>
          <p:cNvPr id="8" name="Rectangle 7"/>
          <p:cNvSpPr/>
          <p:nvPr/>
        </p:nvSpPr>
        <p:spPr>
          <a:xfrm>
            <a:off x="1066800" y="1897618"/>
            <a:ext cx="2611549" cy="369332"/>
          </a:xfrm>
          <a:prstGeom prst="rect">
            <a:avLst/>
          </a:prstGeom>
        </p:spPr>
        <p:txBody>
          <a:bodyPr wrap="none">
            <a:spAutoFit/>
          </a:bodyPr>
          <a:lstStyle/>
          <a:p>
            <a:pPr fontAlgn="t"/>
            <a:r>
              <a:rPr lang="en-US" dirty="0">
                <a:latin typeface="Times New Roman" pitchFamily="18" charset="0"/>
                <a:cs typeface="Times New Roman" pitchFamily="18" charset="0"/>
              </a:rPr>
              <a:t>T</a:t>
            </a:r>
            <a:r>
              <a:rPr lang="en-US" dirty="0" smtClean="0">
                <a:latin typeface="Times New Roman" pitchFamily="18" charset="0"/>
                <a:cs typeface="Times New Roman" pitchFamily="18" charset="0"/>
              </a:rPr>
              <a:t>otal number of outcomes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627166" y="1917849"/>
                <a:ext cx="1097234" cy="369332"/>
              </a:xfrm>
              <a:prstGeom prst="rect">
                <a:avLst/>
              </a:prstGeom>
            </p:spPr>
            <p:txBody>
              <a:bodyPr wrap="square">
                <a:spAutoFit/>
              </a:bodyPr>
              <a:lstStyle/>
              <a:p>
                <a:pPr fontAlgn="t"/>
                <a14:m>
                  <m:oMathPara xmlns:m="http://schemas.openxmlformats.org/officeDocument/2006/math">
                    <m:oMathParaPr>
                      <m:jc m:val="centerGroup"/>
                    </m:oMathParaPr>
                    <m:oMath xmlns:m="http://schemas.openxmlformats.org/officeDocument/2006/math">
                      <m:r>
                        <a:rPr lang="en-US" b="0" i="1" dirty="0" smtClean="0">
                          <a:latin typeface="Cambria Math"/>
                          <a:cs typeface="Times New Roman" pitchFamily="18" charset="0"/>
                        </a:rPr>
                        <m:t>𝑛</m:t>
                      </m:r>
                      <m:r>
                        <a:rPr lang="en-US" b="0" i="1" dirty="0" smtClean="0">
                          <a:latin typeface="Cambria Math"/>
                          <a:cs typeface="Times New Roman" pitchFamily="18" charset="0"/>
                        </a:rPr>
                        <m:t>(</m:t>
                      </m:r>
                      <m:r>
                        <a:rPr lang="en-US" b="0" i="1" dirty="0" smtClean="0">
                          <a:latin typeface="Cambria Math"/>
                          <a:cs typeface="Times New Roman" pitchFamily="18" charset="0"/>
                        </a:rPr>
                        <m:t>𝑆</m:t>
                      </m:r>
                      <m:r>
                        <a:rPr lang="en-US" b="0" i="1" dirty="0" smtClean="0">
                          <a:latin typeface="Cambria Math"/>
                          <a:cs typeface="Times New Roman" pitchFamily="18" charset="0"/>
                        </a:rPr>
                        <m:t>)=7</m:t>
                      </m:r>
                    </m:oMath>
                  </m:oMathPara>
                </a14:m>
                <a:endParaRPr lang="en-US" dirty="0">
                  <a:latin typeface="Times New Roman" pitchFamily="18" charset="0"/>
                  <a:cs typeface="Times New Roman"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627166" y="1917849"/>
                <a:ext cx="1097234" cy="369332"/>
              </a:xfrm>
              <a:prstGeom prst="rect">
                <a:avLst/>
              </a:prstGeom>
              <a:blipFill rotWithShape="1">
                <a:blip r:embed="rId5"/>
                <a:stretch>
                  <a:fillRect t="-6667" r="-8889" b="-28333"/>
                </a:stretch>
              </a:blipFill>
            </p:spPr>
            <p:txBody>
              <a:bodyPr/>
              <a:lstStyle/>
              <a:p>
                <a:r>
                  <a:rPr lang="en-US">
                    <a:noFill/>
                  </a:rPr>
                  <a:t> </a:t>
                </a:r>
              </a:p>
            </p:txBody>
          </p:sp>
        </mc:Fallback>
      </mc:AlternateContent>
      <p:sp>
        <p:nvSpPr>
          <p:cNvPr id="10" name="Rectangle 9"/>
          <p:cNvSpPr/>
          <p:nvPr/>
        </p:nvSpPr>
        <p:spPr>
          <a:xfrm>
            <a:off x="1143000" y="2266950"/>
            <a:ext cx="2940228" cy="369332"/>
          </a:xfrm>
          <a:prstGeom prst="rect">
            <a:avLst/>
          </a:prstGeom>
        </p:spPr>
        <p:txBody>
          <a:bodyPr wrap="none">
            <a:spAutoFit/>
          </a:bodyPr>
          <a:lstStyle/>
          <a:p>
            <a:pPr fontAlgn="t"/>
            <a:r>
              <a:rPr lang="en-US" dirty="0" smtClean="0">
                <a:latin typeface="Times New Roman" pitchFamily="18" charset="0"/>
                <a:cs typeface="Times New Roman" pitchFamily="18" charset="0"/>
              </a:rPr>
              <a:t>Favorable outcomes for |X|&lt;2</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4047786" y="2265323"/>
                <a:ext cx="1132874" cy="369332"/>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d>
                        <m:dPr>
                          <m:begChr m:val="{"/>
                          <m:endChr m:val="}"/>
                          <m:ctrlPr>
                            <a:rPr lang="en-US" i="1" dirty="0" smtClean="0">
                              <a:latin typeface="Cambria Math"/>
                              <a:cs typeface="Times New Roman" pitchFamily="18" charset="0"/>
                            </a:rPr>
                          </m:ctrlPr>
                        </m:dPr>
                        <m:e>
                          <m:r>
                            <a:rPr lang="en-US" i="1" dirty="0">
                              <a:latin typeface="Cambria Math"/>
                              <a:cs typeface="Times New Roman" pitchFamily="18" charset="0"/>
                            </a:rPr>
                            <m:t>−1,0,1</m:t>
                          </m:r>
                          <m:r>
                            <m:rPr>
                              <m:nor/>
                            </m:rPr>
                            <a:rPr lang="en-US" dirty="0">
                              <a:latin typeface="Times New Roman" pitchFamily="18" charset="0"/>
                              <a:cs typeface="Times New Roman" pitchFamily="18" charset="0"/>
                            </a:rPr>
                            <m:t> </m:t>
                          </m:r>
                        </m:e>
                      </m:d>
                    </m:oMath>
                  </m:oMathPara>
                </a14:m>
                <a:endParaRPr lang="en-US" dirty="0">
                  <a:latin typeface="Times New Roman" pitchFamily="18" charset="0"/>
                  <a:cs typeface="Times New Roman" pitchFamily="18"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4047786" y="2265323"/>
                <a:ext cx="1132874" cy="369332"/>
              </a:xfrm>
              <a:prstGeom prst="rect">
                <a:avLst/>
              </a:prstGeom>
              <a:blipFill rotWithShape="1">
                <a:blip r:embed="rId6"/>
                <a:stretch>
                  <a:fillRect t="-6667" r="-7527" b="-28333"/>
                </a:stretch>
              </a:blipFill>
            </p:spPr>
            <p:txBody>
              <a:bodyPr/>
              <a:lstStyle/>
              <a:p>
                <a:r>
                  <a:rPr lang="en-US">
                    <a:noFill/>
                  </a:rPr>
                  <a:t> </a:t>
                </a:r>
              </a:p>
            </p:txBody>
          </p:sp>
        </mc:Fallback>
      </mc:AlternateContent>
      <p:sp>
        <p:nvSpPr>
          <p:cNvPr id="12" name="Rectangle 11"/>
          <p:cNvSpPr/>
          <p:nvPr/>
        </p:nvSpPr>
        <p:spPr>
          <a:xfrm>
            <a:off x="1143000" y="2563187"/>
            <a:ext cx="3063659" cy="369332"/>
          </a:xfrm>
          <a:prstGeom prst="rect">
            <a:avLst/>
          </a:prstGeom>
        </p:spPr>
        <p:txBody>
          <a:bodyPr wrap="none">
            <a:spAutoFit/>
          </a:bodyPr>
          <a:lstStyle/>
          <a:p>
            <a:pPr fontAlgn="t"/>
            <a:r>
              <a:rPr lang="en-US" dirty="0" smtClean="0">
                <a:latin typeface="Times New Roman" pitchFamily="18" charset="0"/>
                <a:cs typeface="Times New Roman" pitchFamily="18" charset="0"/>
              </a:rPr>
              <a:t>Number of favorable outcomes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3" name="Rectangle 12"/>
              <p:cNvSpPr/>
              <p:nvPr/>
            </p:nvSpPr>
            <p:spPr>
              <a:xfrm>
                <a:off x="4084366" y="2583418"/>
                <a:ext cx="1154675" cy="369332"/>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𝑛</m:t>
                      </m:r>
                      <m:r>
                        <a:rPr lang="en-US" i="1" dirty="0" smtClean="0">
                          <a:latin typeface="Cambria Math"/>
                          <a:cs typeface="Times New Roman" pitchFamily="18" charset="0"/>
                        </a:rPr>
                        <m:t>(</m:t>
                      </m:r>
                      <m:r>
                        <a:rPr lang="en-US" i="1" dirty="0" smtClean="0">
                          <a:latin typeface="Cambria Math"/>
                          <a:cs typeface="Times New Roman" pitchFamily="18" charset="0"/>
                        </a:rPr>
                        <m:t>𝐸</m:t>
                      </m:r>
                      <m:r>
                        <a:rPr lang="en-US" i="1" dirty="0" smtClean="0">
                          <a:latin typeface="Cambria Math"/>
                          <a:cs typeface="Times New Roman" pitchFamily="18" charset="0"/>
                        </a:rPr>
                        <m:t>)=3</m:t>
                      </m:r>
                    </m:oMath>
                  </m:oMathPara>
                </a14:m>
                <a:endParaRPr lang="en-US" dirty="0">
                  <a:latin typeface="Times New Roman" pitchFamily="18" charset="0"/>
                  <a:cs typeface="Times New Roman"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4084366" y="2583418"/>
                <a:ext cx="1154675" cy="369332"/>
              </a:xfrm>
              <a:prstGeom prst="rect">
                <a:avLst/>
              </a:prstGeom>
              <a:blipFill rotWithShape="1">
                <a:blip r:embed="rId7"/>
                <a:stretch>
                  <a:fillRect t="-6667" r="-7407" b="-28333"/>
                </a:stretch>
              </a:blipFill>
            </p:spPr>
            <p:txBody>
              <a:bodyPr/>
              <a:lstStyle/>
              <a:p>
                <a:r>
                  <a:rPr lang="en-US">
                    <a:noFill/>
                  </a:rPr>
                  <a:t> </a:t>
                </a:r>
              </a:p>
            </p:txBody>
          </p:sp>
        </mc:Fallback>
      </mc:AlternateContent>
      <p:sp>
        <p:nvSpPr>
          <p:cNvPr id="14" name="Rectangle 13"/>
          <p:cNvSpPr/>
          <p:nvPr/>
        </p:nvSpPr>
        <p:spPr>
          <a:xfrm>
            <a:off x="2208946" y="3121660"/>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P</a:t>
            </a:r>
            <a:endParaRPr lang="en-US" dirty="0">
              <a:latin typeface="Times New Roman" pitchFamily="18" charset="0"/>
              <a:cs typeface="Times New Roman" pitchFamily="18" charset="0"/>
            </a:endParaRPr>
          </a:p>
        </p:txBody>
      </p:sp>
      <p:sp>
        <p:nvSpPr>
          <p:cNvPr id="15" name="Rectangle 14"/>
          <p:cNvSpPr/>
          <p:nvPr/>
        </p:nvSpPr>
        <p:spPr>
          <a:xfrm>
            <a:off x="2432266" y="3133328"/>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6" name="Rectangle 15"/>
          <p:cNvSpPr/>
          <p:nvPr/>
        </p:nvSpPr>
        <p:spPr>
          <a:xfrm>
            <a:off x="2743209" y="2933640"/>
            <a:ext cx="619080" cy="384721"/>
          </a:xfrm>
          <a:prstGeom prst="rect">
            <a:avLst/>
          </a:prstGeom>
        </p:spPr>
        <p:txBody>
          <a:bodyPr wrap="none">
            <a:spAutoFit/>
          </a:bodyPr>
          <a:lstStyle/>
          <a:p>
            <a:r>
              <a:rPr lang="en-US" sz="1900" dirty="0" smtClean="0">
                <a:latin typeface="Times New Roman" pitchFamily="18" charset="0"/>
                <a:cs typeface="Times New Roman" pitchFamily="18" charset="0"/>
              </a:rPr>
              <a:t>n(E)</a:t>
            </a:r>
            <a:endParaRPr lang="en-US" sz="1900" dirty="0">
              <a:latin typeface="Times New Roman" pitchFamily="18" charset="0"/>
              <a:cs typeface="Times New Roman" pitchFamily="18" charset="0"/>
            </a:endParaRPr>
          </a:p>
        </p:txBody>
      </p:sp>
      <p:cxnSp>
        <p:nvCxnSpPr>
          <p:cNvPr id="17" name="Straight Connector 16"/>
          <p:cNvCxnSpPr/>
          <p:nvPr/>
        </p:nvCxnSpPr>
        <p:spPr>
          <a:xfrm>
            <a:off x="2721934" y="3318361"/>
            <a:ext cx="707075" cy="0"/>
          </a:xfrm>
          <a:prstGeom prst="line">
            <a:avLst/>
          </a:prstGeom>
          <a:ln w="28575"/>
        </p:spPr>
        <p:style>
          <a:lnRef idx="1">
            <a:schemeClr val="dk1"/>
          </a:lnRef>
          <a:fillRef idx="0">
            <a:schemeClr val="dk1"/>
          </a:fillRef>
          <a:effectRef idx="0">
            <a:schemeClr val="dk1"/>
          </a:effectRef>
          <a:fontRef idx="minor">
            <a:schemeClr val="tx1"/>
          </a:fontRef>
        </p:style>
      </p:cxnSp>
      <p:sp>
        <p:nvSpPr>
          <p:cNvPr id="18" name="Rectangle 17"/>
          <p:cNvSpPr/>
          <p:nvPr/>
        </p:nvSpPr>
        <p:spPr>
          <a:xfrm>
            <a:off x="2743209" y="3314640"/>
            <a:ext cx="606256" cy="384721"/>
          </a:xfrm>
          <a:prstGeom prst="rect">
            <a:avLst/>
          </a:prstGeom>
        </p:spPr>
        <p:txBody>
          <a:bodyPr wrap="none">
            <a:spAutoFit/>
          </a:bodyPr>
          <a:lstStyle/>
          <a:p>
            <a:r>
              <a:rPr lang="en-US" sz="1900" dirty="0" smtClean="0">
                <a:latin typeface="Times New Roman" pitchFamily="18" charset="0"/>
                <a:cs typeface="Times New Roman" pitchFamily="18" charset="0"/>
              </a:rPr>
              <a:t>n(S)</a:t>
            </a:r>
            <a:endParaRPr lang="en-US" sz="1900" dirty="0">
              <a:latin typeface="Times New Roman" pitchFamily="18" charset="0"/>
              <a:cs typeface="Times New Roman" pitchFamily="18" charset="0"/>
            </a:endParaRPr>
          </a:p>
        </p:txBody>
      </p:sp>
      <p:sp>
        <p:nvSpPr>
          <p:cNvPr id="19" name="Rectangle 18"/>
          <p:cNvSpPr/>
          <p:nvPr/>
        </p:nvSpPr>
        <p:spPr>
          <a:xfrm>
            <a:off x="3733800" y="2947285"/>
            <a:ext cx="306494" cy="384721"/>
          </a:xfrm>
          <a:prstGeom prst="rect">
            <a:avLst/>
          </a:prstGeom>
        </p:spPr>
        <p:txBody>
          <a:bodyPr wrap="none">
            <a:spAutoFit/>
          </a:bodyPr>
          <a:lstStyle/>
          <a:p>
            <a:r>
              <a:rPr lang="en-US" sz="1900" dirty="0">
                <a:latin typeface="Times New Roman" pitchFamily="18" charset="0"/>
                <a:cs typeface="Times New Roman" pitchFamily="18" charset="0"/>
              </a:rPr>
              <a:t>3</a:t>
            </a:r>
          </a:p>
        </p:txBody>
      </p:sp>
      <p:cxnSp>
        <p:nvCxnSpPr>
          <p:cNvPr id="20" name="Straight Connector 19"/>
          <p:cNvCxnSpPr/>
          <p:nvPr/>
        </p:nvCxnSpPr>
        <p:spPr>
          <a:xfrm flipV="1">
            <a:off x="3788734" y="3317994"/>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21" name="Rectangle 20"/>
          <p:cNvSpPr/>
          <p:nvPr/>
        </p:nvSpPr>
        <p:spPr>
          <a:xfrm>
            <a:off x="3710985" y="3314640"/>
            <a:ext cx="1529150" cy="384721"/>
          </a:xfrm>
          <a:prstGeom prst="rect">
            <a:avLst/>
          </a:prstGeom>
        </p:spPr>
        <p:txBody>
          <a:bodyPr wrap="square">
            <a:spAutoFit/>
          </a:bodyPr>
          <a:lstStyle/>
          <a:p>
            <a:r>
              <a:rPr lang="en-US" sz="19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p:txBody>
      </p:sp>
      <p:sp>
        <p:nvSpPr>
          <p:cNvPr id="22" name="Rectangle 21"/>
          <p:cNvSpPr/>
          <p:nvPr/>
        </p:nvSpPr>
        <p:spPr>
          <a:xfrm>
            <a:off x="3416607" y="3132293"/>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Tree>
    <p:extLst>
      <p:ext uri="{BB962C8B-B14F-4D97-AF65-F5344CB8AC3E}">
        <p14:creationId xmlns:p14="http://schemas.microsoft.com/office/powerpoint/2010/main" val="406480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8" grpId="0"/>
      <p:bldP spid="9" grpId="0"/>
      <p:bldP spid="10" grpId="0"/>
      <p:bldP spid="11" grpId="0"/>
      <p:bldP spid="12" grpId="0"/>
      <p:bldP spid="13" grpId="0"/>
      <p:bldP spid="14" grpId="0"/>
      <p:bldP spid="15" grpId="0"/>
      <p:bldP spid="16" grpId="0"/>
      <p:bldP spid="18" grpId="0"/>
      <p:bldP spid="19" grpId="0"/>
      <p:bldP spid="21" grpId="0"/>
      <p:bldP spid="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81000" y="590550"/>
                <a:ext cx="8305800" cy="1446550"/>
              </a:xfrm>
              <a:prstGeom prst="rect">
                <a:avLst/>
              </a:prstGeom>
            </p:spPr>
            <p:txBody>
              <a:bodyPr wrap="square">
                <a:spAutoFit/>
              </a:bodyPr>
              <a:lstStyle/>
              <a:p>
                <a:pPr fontAlgn="t"/>
                <a:r>
                  <a:rPr lang="en-US" b="1" dirty="0" smtClean="0">
                    <a:solidFill>
                      <a:srgbClr val="FF0000"/>
                    </a:solidFill>
                    <a:latin typeface="Times New Roman" pitchFamily="18" charset="0"/>
                    <a:cs typeface="Times New Roman" pitchFamily="18" charset="0"/>
                  </a:rPr>
                  <a:t>Two </a:t>
                </a:r>
                <a:r>
                  <a:rPr lang="en-US" b="1" dirty="0">
                    <a:solidFill>
                      <a:srgbClr val="FF0000"/>
                    </a:solidFill>
                    <a:latin typeface="Times New Roman" pitchFamily="18" charset="0"/>
                    <a:cs typeface="Times New Roman" pitchFamily="18" charset="0"/>
                  </a:rPr>
                  <a:t>brother X and Y appeared for an exam. Let A be the event that X </a:t>
                </a:r>
                <a:r>
                  <a:rPr lang="en-US" b="1" dirty="0" smtClean="0">
                    <a:solidFill>
                      <a:srgbClr val="FF0000"/>
                    </a:solidFill>
                    <a:latin typeface="Times New Roman" pitchFamily="18" charset="0"/>
                    <a:cs typeface="Times New Roman" pitchFamily="18" charset="0"/>
                  </a:rPr>
                  <a:t>is selected </a:t>
                </a:r>
                <a:r>
                  <a:rPr lang="en-US" b="1" dirty="0">
                    <a:solidFill>
                      <a:srgbClr val="FF0000"/>
                    </a:solidFill>
                    <a:latin typeface="Times New Roman" pitchFamily="18" charset="0"/>
                    <a:cs typeface="Times New Roman" pitchFamily="18" charset="0"/>
                  </a:rPr>
                  <a:t>and B is the event that Y is </a:t>
                </a:r>
                <a:r>
                  <a:rPr lang="en-US" b="1" dirty="0" smtClean="0">
                    <a:solidFill>
                      <a:srgbClr val="FF0000"/>
                    </a:solidFill>
                    <a:latin typeface="Times New Roman" pitchFamily="18" charset="0"/>
                    <a:cs typeface="Times New Roman" pitchFamily="18" charset="0"/>
                  </a:rPr>
                  <a:t>selected. The </a:t>
                </a:r>
                <a:r>
                  <a:rPr lang="en-US" b="1" dirty="0">
                    <a:solidFill>
                      <a:srgbClr val="FF0000"/>
                    </a:solidFill>
                    <a:latin typeface="Times New Roman" pitchFamily="18" charset="0"/>
                    <a:cs typeface="Times New Roman" pitchFamily="18" charset="0"/>
                  </a:rPr>
                  <a:t>probability of </a:t>
                </a:r>
                <a:r>
                  <a:rPr lang="en-US" b="1" dirty="0" smtClean="0">
                    <a:solidFill>
                      <a:srgbClr val="FF0000"/>
                    </a:solidFill>
                    <a:latin typeface="Times New Roman" pitchFamily="18" charset="0"/>
                    <a:cs typeface="Times New Roman" pitchFamily="18" charset="0"/>
                  </a:rPr>
                  <a:t>A</a:t>
                </a:r>
                <a:r>
                  <a:rPr lang="en-US" b="1" dirty="0">
                    <a:solidFill>
                      <a:srgbClr val="FF0000"/>
                    </a:solidFill>
                    <a:latin typeface="Times New Roman" pitchFamily="18" charset="0"/>
                    <a:cs typeface="Times New Roman" pitchFamily="18" charset="0"/>
                  </a:rPr>
                  <a:t> is </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𝟕</m:t>
                        </m:r>
                      </m:den>
                    </m:f>
                  </m:oMath>
                </a14:m>
                <a:r>
                  <a:rPr lang="en-US" b="1" dirty="0">
                    <a:solidFill>
                      <a:srgbClr val="FF0000"/>
                    </a:solidFill>
                    <a:latin typeface="Times New Roman" pitchFamily="18" charset="0"/>
                    <a:cs typeface="Times New Roman" pitchFamily="18" charset="0"/>
                  </a:rPr>
                  <a:t> and that of </a:t>
                </a:r>
                <a:r>
                  <a:rPr lang="en-US" b="1" dirty="0" smtClean="0">
                    <a:solidFill>
                      <a:srgbClr val="FF0000"/>
                    </a:solidFill>
                    <a:latin typeface="Times New Roman" pitchFamily="18" charset="0"/>
                    <a:cs typeface="Times New Roman" pitchFamily="18" charset="0"/>
                  </a:rPr>
                  <a:t>B</a:t>
                </a:r>
                <a:r>
                  <a:rPr lang="en-US" b="1" dirty="0">
                    <a:solidFill>
                      <a:srgbClr val="FF0000"/>
                    </a:solidFill>
                    <a:latin typeface="Times New Roman" pitchFamily="18" charset="0"/>
                    <a:cs typeface="Times New Roman" pitchFamily="18" charset="0"/>
                  </a:rPr>
                  <a:t> is </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𝟐</m:t>
                        </m:r>
                      </m:num>
                      <m:den>
                        <m:r>
                          <a:rPr lang="en-US" b="1" i="1" dirty="0" smtClean="0">
                            <a:solidFill>
                              <a:srgbClr val="FF0000"/>
                            </a:solidFill>
                            <a:latin typeface="Cambria Math"/>
                            <a:cs typeface="Times New Roman" pitchFamily="18" charset="0"/>
                          </a:rPr>
                          <m:t>𝟗</m:t>
                        </m:r>
                      </m:den>
                    </m:f>
                  </m:oMath>
                </a14:m>
                <a:r>
                  <a:rPr lang="en-US" b="1" dirty="0">
                    <a:solidFill>
                      <a:srgbClr val="FF0000"/>
                    </a:solidFill>
                    <a:latin typeface="Times New Roman" pitchFamily="18" charset="0"/>
                    <a:cs typeface="Times New Roman" pitchFamily="18" charset="0"/>
                  </a:rPr>
                  <a:t>. Find the probability that </a:t>
                </a:r>
                <a:r>
                  <a:rPr lang="en-US" b="1" dirty="0" smtClean="0">
                    <a:solidFill>
                      <a:srgbClr val="FF0000"/>
                    </a:solidFill>
                    <a:latin typeface="Times New Roman" pitchFamily="18" charset="0"/>
                    <a:cs typeface="Times New Roman" pitchFamily="18" charset="0"/>
                  </a:rPr>
                  <a:t>	both </a:t>
                </a:r>
                <a:r>
                  <a:rPr lang="en-US" b="1" dirty="0">
                    <a:solidFill>
                      <a:srgbClr val="FF0000"/>
                    </a:solidFill>
                    <a:latin typeface="Times New Roman" pitchFamily="18" charset="0"/>
                    <a:cs typeface="Times New Roman" pitchFamily="18" charset="0"/>
                  </a:rPr>
                  <a:t>of them are selected.</a:t>
                </a:r>
              </a:p>
              <a:p>
                <a:pPr fontAlgn="t"/>
                <a:r>
                  <a:rPr lang="en-US" b="1" dirty="0" smtClean="0">
                    <a:solidFill>
                      <a:srgbClr val="FF0000"/>
                    </a:solidFill>
                    <a:latin typeface="Times New Roman" pitchFamily="18" charset="0"/>
                    <a:cs typeface="Times New Roman" pitchFamily="18" charset="0"/>
                  </a:rPr>
                  <a:t>	A.</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𝟔𝟑</m:t>
                        </m:r>
                      </m:den>
                    </m:f>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𝟐</m:t>
                        </m:r>
                      </m:num>
                      <m:den>
                        <m:r>
                          <a:rPr lang="en-US" b="1" i="1" dirty="0" smtClean="0">
                            <a:solidFill>
                              <a:srgbClr val="FF0000"/>
                            </a:solidFill>
                            <a:latin typeface="Cambria Math"/>
                            <a:cs typeface="Times New Roman" pitchFamily="18" charset="0"/>
                          </a:rPr>
                          <m:t>𝟑𝟓</m:t>
                        </m:r>
                      </m:den>
                    </m:f>
                  </m:oMath>
                </a14:m>
                <a:r>
                  <a:rPr lang="en-US" b="1" dirty="0" smtClean="0">
                    <a:solidFill>
                      <a:srgbClr val="FF0000"/>
                    </a:solidFill>
                    <a:latin typeface="Times New Roman" pitchFamily="18" charset="0"/>
                    <a:cs typeface="Times New Roman" pitchFamily="18" charset="0"/>
                  </a:rPr>
                  <a:t> 		C.</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𝟐</m:t>
                        </m:r>
                      </m:num>
                      <m:den>
                        <m:r>
                          <a:rPr lang="en-US" b="1" i="1" dirty="0" smtClean="0">
                            <a:solidFill>
                              <a:srgbClr val="FF0000"/>
                            </a:solidFill>
                            <a:latin typeface="Cambria Math"/>
                            <a:cs typeface="Times New Roman" pitchFamily="18" charset="0"/>
                          </a:rPr>
                          <m:t>𝟔𝟑</m:t>
                        </m:r>
                      </m:den>
                    </m:f>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𝟗</m:t>
                        </m:r>
                      </m:num>
                      <m:den>
                        <m:r>
                          <a:rPr lang="en-US" b="1" i="1" dirty="0" smtClean="0">
                            <a:solidFill>
                              <a:srgbClr val="FF0000"/>
                            </a:solidFill>
                            <a:latin typeface="Cambria Math"/>
                            <a:cs typeface="Times New Roman" pitchFamily="18" charset="0"/>
                          </a:rPr>
                          <m:t>𝟏𝟒</m:t>
                        </m:r>
                      </m:den>
                    </m:f>
                  </m:oMath>
                </a14:m>
                <a:endParaRPr lang="en-US" b="1" dirty="0">
                  <a:solidFill>
                    <a:srgbClr val="FF0000"/>
                  </a:solidFill>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81000" y="590550"/>
                <a:ext cx="8305800" cy="1446550"/>
              </a:xfrm>
              <a:prstGeom prst="rect">
                <a:avLst/>
              </a:prstGeom>
              <a:blipFill rotWithShape="1">
                <a:blip r:embed="rId2"/>
                <a:stretch>
                  <a:fillRect l="-661" t="-1688" b="-422"/>
                </a:stretch>
              </a:blipFill>
            </p:spPr>
            <p:txBody>
              <a:bodyPr/>
              <a:lstStyle/>
              <a:p>
                <a:r>
                  <a:rPr lang="en-US">
                    <a:noFill/>
                  </a:rPr>
                  <a:t> </a:t>
                </a:r>
              </a:p>
            </p:txBody>
          </p:sp>
        </mc:Fallback>
      </mc:AlternateContent>
      <p:sp>
        <p:nvSpPr>
          <p:cNvPr id="3" name="Rectangle 2"/>
          <p:cNvSpPr/>
          <p:nvPr/>
        </p:nvSpPr>
        <p:spPr>
          <a:xfrm>
            <a:off x="7737935" y="2038350"/>
            <a:ext cx="793807" cy="369332"/>
          </a:xfrm>
          <a:prstGeom prst="rect">
            <a:avLst/>
          </a:prstGeom>
        </p:spPr>
        <p:txBody>
          <a:bodyPr wrap="none">
            <a:spAutoFit/>
          </a:bodyPr>
          <a:lstStyle/>
          <a:p>
            <a:pPr fontAlgn="t"/>
            <a:r>
              <a:rPr lang="en-US" b="1" dirty="0">
                <a:latin typeface="Times New Roman" pitchFamily="18" charset="0"/>
                <a:cs typeface="Times New Roman" pitchFamily="18" charset="0"/>
              </a:rPr>
              <a:t>Ans C</a:t>
            </a:r>
          </a:p>
        </p:txBody>
      </p:sp>
      <p:sp>
        <p:nvSpPr>
          <p:cNvPr id="4" name="Rectangle 3"/>
          <p:cNvSpPr/>
          <p:nvPr/>
        </p:nvSpPr>
        <p:spPr>
          <a:xfrm>
            <a:off x="2776495" y="142341"/>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6" name="Rectangle 5"/>
          <p:cNvSpPr/>
          <p:nvPr/>
        </p:nvSpPr>
        <p:spPr>
          <a:xfrm>
            <a:off x="809801" y="2038350"/>
            <a:ext cx="806631" cy="369332"/>
          </a:xfrm>
          <a:prstGeom prst="rect">
            <a:avLst/>
          </a:prstGeom>
        </p:spPr>
        <p:txBody>
          <a:bodyPr wrap="none">
            <a:spAutoFit/>
          </a:bodyPr>
          <a:lstStyle/>
          <a:p>
            <a:pPr fontAlgn="t"/>
            <a:r>
              <a:rPr lang="en-US" dirty="0" smtClean="0">
                <a:latin typeface="Times New Roman" pitchFamily="18" charset="0"/>
                <a:cs typeface="Times New Roman" pitchFamily="18" charset="0"/>
              </a:rPr>
              <a:t> Given</a:t>
            </a:r>
            <a:endParaRPr lang="en-US" dirty="0">
              <a:latin typeface="Times New Roman" pitchFamily="18" charset="0"/>
              <a:cs typeface="Times New Roman" pitchFamily="18" charset="0"/>
            </a:endParaRPr>
          </a:p>
        </p:txBody>
      </p:sp>
      <p:sp>
        <p:nvSpPr>
          <p:cNvPr id="7" name="Rectangle 6"/>
          <p:cNvSpPr/>
          <p:nvPr/>
        </p:nvSpPr>
        <p:spPr>
          <a:xfrm>
            <a:off x="1524000" y="2223016"/>
            <a:ext cx="3674532" cy="369332"/>
          </a:xfrm>
          <a:prstGeom prst="rect">
            <a:avLst/>
          </a:prstGeom>
        </p:spPr>
        <p:txBody>
          <a:bodyPr wrap="none">
            <a:spAutoFit/>
          </a:bodyPr>
          <a:lstStyle/>
          <a:p>
            <a:pPr fontAlgn="t"/>
            <a:r>
              <a:rPr lang="en-US" dirty="0" smtClean="0">
                <a:latin typeface="Times New Roman" pitchFamily="18" charset="0"/>
                <a:cs typeface="Times New Roman" pitchFamily="18" charset="0"/>
              </a:rPr>
              <a:t>P(x) = Probability of A being selected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8" name="Rectangle 7"/>
              <p:cNvSpPr/>
              <p:nvPr/>
            </p:nvSpPr>
            <p:spPr>
              <a:xfrm>
                <a:off x="5030941" y="2050018"/>
                <a:ext cx="607859" cy="611771"/>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f>
                        <m:fPr>
                          <m:ctrlPr>
                            <a:rPr lang="en-US" i="1" dirty="0" smtClean="0">
                              <a:latin typeface="Cambria Math"/>
                              <a:cs typeface="Times New Roman" pitchFamily="18" charset="0"/>
                            </a:rPr>
                          </m:ctrlPr>
                        </m:fPr>
                        <m:num>
                          <m:r>
                            <a:rPr lang="en-US" i="1" dirty="0" smtClean="0">
                              <a:latin typeface="Cambria Math"/>
                              <a:cs typeface="Times New Roman" pitchFamily="18" charset="0"/>
                            </a:rPr>
                            <m:t>1</m:t>
                          </m:r>
                        </m:num>
                        <m:den>
                          <m:r>
                            <a:rPr lang="en-US" i="1" dirty="0" smtClean="0">
                              <a:latin typeface="Cambria Math"/>
                              <a:cs typeface="Times New Roman" pitchFamily="18" charset="0"/>
                            </a:rPr>
                            <m:t>7</m:t>
                          </m:r>
                        </m:den>
                      </m:f>
                    </m:oMath>
                  </m:oMathPara>
                </a14:m>
                <a:endParaRPr lang="en-US" dirty="0">
                  <a:latin typeface="Times New Roman" pitchFamily="18" charset="0"/>
                  <a:cs typeface="Times New Roman"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5030941" y="2050018"/>
                <a:ext cx="607859" cy="611771"/>
              </a:xfrm>
              <a:prstGeom prst="rect">
                <a:avLst/>
              </a:prstGeom>
              <a:blipFill rotWithShape="1">
                <a:blip r:embed="rId4"/>
                <a:stretch>
                  <a:fillRect t="-3960" r="-13000"/>
                </a:stretch>
              </a:blipFill>
            </p:spPr>
            <p:txBody>
              <a:bodyPr/>
              <a:lstStyle/>
              <a:p>
                <a:r>
                  <a:rPr lang="en-US">
                    <a:noFill/>
                  </a:rPr>
                  <a:t> </a:t>
                </a:r>
              </a:p>
            </p:txBody>
          </p:sp>
        </mc:Fallback>
      </mc:AlternateContent>
      <p:sp>
        <p:nvSpPr>
          <p:cNvPr id="9" name="Rectangle 8"/>
          <p:cNvSpPr/>
          <p:nvPr/>
        </p:nvSpPr>
        <p:spPr>
          <a:xfrm>
            <a:off x="1524000" y="2876550"/>
            <a:ext cx="3687228" cy="369332"/>
          </a:xfrm>
          <a:prstGeom prst="rect">
            <a:avLst/>
          </a:prstGeom>
        </p:spPr>
        <p:txBody>
          <a:bodyPr wrap="none">
            <a:spAutoFit/>
          </a:bodyPr>
          <a:lstStyle/>
          <a:p>
            <a:pPr fontAlgn="t"/>
            <a:r>
              <a:rPr lang="en-US" dirty="0" smtClean="0">
                <a:latin typeface="Times New Roman" pitchFamily="18" charset="0"/>
                <a:cs typeface="Times New Roman" pitchFamily="18" charset="0"/>
              </a:rPr>
              <a:t>P(y) = Probability of B being selected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0" name="Rectangle 9"/>
              <p:cNvSpPr/>
              <p:nvPr/>
            </p:nvSpPr>
            <p:spPr>
              <a:xfrm>
                <a:off x="5130954" y="2724150"/>
                <a:ext cx="607859" cy="612732"/>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f>
                        <m:fPr>
                          <m:ctrlPr>
                            <a:rPr lang="en-US" i="1" dirty="0" smtClean="0">
                              <a:latin typeface="Cambria Math"/>
                              <a:cs typeface="Times New Roman" pitchFamily="18" charset="0"/>
                            </a:rPr>
                          </m:ctrlPr>
                        </m:fPr>
                        <m:num>
                          <m:r>
                            <a:rPr lang="en-US" i="1" dirty="0" smtClean="0">
                              <a:latin typeface="Cambria Math"/>
                              <a:cs typeface="Times New Roman" pitchFamily="18" charset="0"/>
                            </a:rPr>
                            <m:t>2</m:t>
                          </m:r>
                        </m:num>
                        <m:den>
                          <m:r>
                            <a:rPr lang="en-US" i="1" dirty="0" smtClean="0">
                              <a:latin typeface="Cambria Math"/>
                              <a:cs typeface="Times New Roman" pitchFamily="18" charset="0"/>
                            </a:rPr>
                            <m:t>9</m:t>
                          </m:r>
                        </m:den>
                      </m:f>
                    </m:oMath>
                  </m:oMathPara>
                </a14:m>
                <a:endParaRPr lang="en-US" dirty="0">
                  <a:latin typeface="Times New Roman" pitchFamily="18" charset="0"/>
                  <a:cs typeface="Times New Roman"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5130954" y="2724150"/>
                <a:ext cx="607859" cy="612732"/>
              </a:xfrm>
              <a:prstGeom prst="rect">
                <a:avLst/>
              </a:prstGeom>
              <a:blipFill rotWithShape="1">
                <a:blip r:embed="rId5"/>
                <a:stretch>
                  <a:fillRect t="-4000" r="-13131"/>
                </a:stretch>
              </a:blipFill>
            </p:spPr>
            <p:txBody>
              <a:bodyPr/>
              <a:lstStyle/>
              <a:p>
                <a:r>
                  <a:rPr lang="en-US">
                    <a:noFill/>
                  </a:rPr>
                  <a:t> </a:t>
                </a:r>
              </a:p>
            </p:txBody>
          </p:sp>
        </mc:Fallback>
      </mc:AlternateContent>
      <p:sp>
        <p:nvSpPr>
          <p:cNvPr id="11" name="Rectangle 10"/>
          <p:cNvSpPr/>
          <p:nvPr/>
        </p:nvSpPr>
        <p:spPr>
          <a:xfrm>
            <a:off x="1149998" y="3404778"/>
            <a:ext cx="3986989" cy="369332"/>
          </a:xfrm>
          <a:prstGeom prst="rect">
            <a:avLst/>
          </a:prstGeom>
        </p:spPr>
        <p:txBody>
          <a:bodyPr wrap="none">
            <a:spAutoFit/>
          </a:bodyPr>
          <a:lstStyle/>
          <a:p>
            <a:pPr fontAlgn="t"/>
            <a:r>
              <a:rPr lang="en-US" dirty="0" smtClean="0">
                <a:latin typeface="Times New Roman" pitchFamily="18" charset="0"/>
                <a:cs typeface="Times New Roman" pitchFamily="18" charset="0"/>
              </a:rPr>
              <a:t>So,  Probability of both being selected is </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2" name="Rectangle 11"/>
              <p:cNvSpPr/>
              <p:nvPr/>
            </p:nvSpPr>
            <p:spPr>
              <a:xfrm>
                <a:off x="4953000" y="3408915"/>
                <a:ext cx="1692899" cy="369332"/>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r>
                        <a:rPr lang="en-US" i="1" dirty="0" smtClean="0">
                          <a:latin typeface="Cambria Math"/>
                          <a:cs typeface="Times New Roman" pitchFamily="18" charset="0"/>
                        </a:rPr>
                        <m:t>𝑃</m:t>
                      </m:r>
                      <m:r>
                        <a:rPr lang="en-US" i="1" dirty="0" smtClean="0">
                          <a:latin typeface="Cambria Math"/>
                          <a:cs typeface="Times New Roman" pitchFamily="18" charset="0"/>
                        </a:rPr>
                        <m:t>(</m:t>
                      </m:r>
                      <m:r>
                        <a:rPr lang="en-US" i="1" dirty="0" smtClean="0">
                          <a:latin typeface="Cambria Math"/>
                          <a:cs typeface="Times New Roman" pitchFamily="18" charset="0"/>
                        </a:rPr>
                        <m:t>𝑥</m:t>
                      </m:r>
                      <m:r>
                        <a:rPr lang="en-US" i="1" dirty="0" smtClean="0">
                          <a:latin typeface="Cambria Math"/>
                          <a:cs typeface="Times New Roman" pitchFamily="18" charset="0"/>
                        </a:rPr>
                        <m:t>)×</m:t>
                      </m:r>
                      <m:r>
                        <a:rPr lang="en-US" i="1" dirty="0" smtClean="0">
                          <a:latin typeface="Cambria Math"/>
                          <a:cs typeface="Times New Roman" pitchFamily="18" charset="0"/>
                        </a:rPr>
                        <m:t>𝑃</m:t>
                      </m:r>
                      <m:r>
                        <a:rPr lang="en-US" i="1" dirty="0" smtClean="0">
                          <a:latin typeface="Cambria Math"/>
                          <a:cs typeface="Times New Roman" pitchFamily="18" charset="0"/>
                        </a:rPr>
                        <m:t>(</m:t>
                      </m:r>
                      <m:r>
                        <a:rPr lang="en-US" i="1" dirty="0" smtClean="0">
                          <a:latin typeface="Cambria Math"/>
                          <a:cs typeface="Times New Roman" pitchFamily="18" charset="0"/>
                        </a:rPr>
                        <m:t>𝑦</m:t>
                      </m:r>
                      <m:r>
                        <a:rPr lang="en-US" i="1" dirty="0" smtClean="0">
                          <a:latin typeface="Cambria Math"/>
                          <a:cs typeface="Times New Roman" pitchFamily="18" charset="0"/>
                        </a:rPr>
                        <m:t>)</m:t>
                      </m:r>
                    </m:oMath>
                  </m:oMathPara>
                </a14:m>
                <a:endParaRPr lang="en-US" dirty="0">
                  <a:latin typeface="Times New Roman" pitchFamily="18" charset="0"/>
                  <a:cs typeface="Times New Roman"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4953000" y="3408915"/>
                <a:ext cx="1692899" cy="369332"/>
              </a:xfrm>
              <a:prstGeom prst="rect">
                <a:avLst/>
              </a:prstGeom>
              <a:blipFill rotWithShape="1">
                <a:blip r:embed="rId6"/>
                <a:stretch>
                  <a:fillRect t="-6557" r="-4693"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4963259" y="3774110"/>
                <a:ext cx="607859" cy="611771"/>
              </a:xfrm>
              <a:prstGeom prst="rect">
                <a:avLst/>
              </a:prstGeom>
            </p:spPr>
            <p:txBody>
              <a:bodyPr wrap="none">
                <a:spAutoFit/>
              </a:bodyPr>
              <a:lstStyle/>
              <a:p>
                <a:pPr fontAlgn="t"/>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f>
                        <m:fPr>
                          <m:ctrlPr>
                            <a:rPr lang="en-US" i="1" dirty="0" smtClean="0">
                              <a:latin typeface="Cambria Math"/>
                              <a:cs typeface="Times New Roman" pitchFamily="18" charset="0"/>
                            </a:rPr>
                          </m:ctrlPr>
                        </m:fPr>
                        <m:num>
                          <m:r>
                            <a:rPr lang="en-US" i="1" dirty="0" smtClean="0">
                              <a:latin typeface="Cambria Math"/>
                              <a:cs typeface="Times New Roman" pitchFamily="18" charset="0"/>
                            </a:rPr>
                            <m:t>1</m:t>
                          </m:r>
                        </m:num>
                        <m:den>
                          <m:r>
                            <a:rPr lang="en-US" i="1" dirty="0" smtClean="0">
                              <a:latin typeface="Cambria Math"/>
                              <a:cs typeface="Times New Roman" pitchFamily="18" charset="0"/>
                            </a:rPr>
                            <m:t>7</m:t>
                          </m:r>
                        </m:den>
                      </m:f>
                    </m:oMath>
                  </m:oMathPara>
                </a14:m>
                <a:endParaRPr lang="en-US" dirty="0">
                  <a:latin typeface="Times New Roman" pitchFamily="18" charset="0"/>
                  <a:cs typeface="Times New Roman"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4963259" y="3774110"/>
                <a:ext cx="607859" cy="611771"/>
              </a:xfrm>
              <a:prstGeom prst="rect">
                <a:avLst/>
              </a:prstGeom>
              <a:blipFill rotWithShape="1">
                <a:blip r:embed="rId7"/>
                <a:stretch>
                  <a:fillRect t="-4000" r="-13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437289" y="3774110"/>
                <a:ext cx="603049"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f>
                        <m:fPr>
                          <m:ctrlPr>
                            <a:rPr lang="en-US" i="1" dirty="0" smtClean="0">
                              <a:latin typeface="Cambria Math"/>
                              <a:cs typeface="Times New Roman" pitchFamily="18" charset="0"/>
                            </a:rPr>
                          </m:ctrlPr>
                        </m:fPr>
                        <m:num>
                          <m:r>
                            <a:rPr lang="en-US" i="1" dirty="0" smtClean="0">
                              <a:latin typeface="Cambria Math"/>
                              <a:cs typeface="Times New Roman" pitchFamily="18" charset="0"/>
                            </a:rPr>
                            <m:t>2</m:t>
                          </m:r>
                        </m:num>
                        <m:den>
                          <m:r>
                            <a:rPr lang="en-US" i="1" dirty="0" smtClean="0">
                              <a:latin typeface="Cambria Math"/>
                              <a:cs typeface="Times New Roman" pitchFamily="18" charset="0"/>
                            </a:rPr>
                            <m:t>9</m:t>
                          </m:r>
                        </m:den>
                      </m:f>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5437289" y="3774110"/>
                <a:ext cx="603049" cy="612732"/>
              </a:xfrm>
              <a:prstGeom prst="rect">
                <a:avLst/>
              </a:prstGeom>
              <a:blipFill rotWithShape="1">
                <a:blip r:embed="rId8"/>
                <a:stretch>
                  <a:fillRect r="-13131" b="-1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041799" y="3773149"/>
                <a:ext cx="752129"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a:cs typeface="Times New Roman" pitchFamily="18" charset="0"/>
                        </a:rPr>
                        <m:t>=</m:t>
                      </m:r>
                      <m:f>
                        <m:fPr>
                          <m:ctrlPr>
                            <a:rPr lang="en-US" i="1" dirty="0" smtClean="0">
                              <a:latin typeface="Cambria Math"/>
                              <a:cs typeface="Times New Roman" pitchFamily="18" charset="0"/>
                            </a:rPr>
                          </m:ctrlPr>
                        </m:fPr>
                        <m:num>
                          <m:r>
                            <a:rPr lang="en-US" i="1" dirty="0" smtClean="0">
                              <a:latin typeface="Cambria Math"/>
                              <a:cs typeface="Times New Roman" pitchFamily="18" charset="0"/>
                            </a:rPr>
                            <m:t>2</m:t>
                          </m:r>
                        </m:num>
                        <m:den>
                          <m:r>
                            <a:rPr lang="en-US" i="1" dirty="0" smtClean="0">
                              <a:latin typeface="Cambria Math"/>
                              <a:cs typeface="Times New Roman" pitchFamily="18" charset="0"/>
                            </a:rPr>
                            <m:t>63</m:t>
                          </m:r>
                        </m:den>
                      </m:f>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6041799" y="3773149"/>
                <a:ext cx="752129" cy="612732"/>
              </a:xfrm>
              <a:prstGeom prst="rect">
                <a:avLst/>
              </a:prstGeom>
              <a:blipFill rotWithShape="1">
                <a:blip r:embed="rId9"/>
                <a:stretch>
                  <a:fillRect r="-12195" b="-3000"/>
                </a:stretch>
              </a:blipFill>
            </p:spPr>
            <p:txBody>
              <a:bodyPr/>
              <a:lstStyle/>
              <a:p>
                <a:r>
                  <a:rPr lang="en-US">
                    <a:noFill/>
                  </a:rPr>
                  <a:t> </a:t>
                </a:r>
              </a:p>
            </p:txBody>
          </p:sp>
        </mc:Fallback>
      </mc:AlternateContent>
    </p:spTree>
    <p:extLst>
      <p:ext uri="{BB962C8B-B14F-4D97-AF65-F5344CB8AC3E}">
        <p14:creationId xmlns:p14="http://schemas.microsoft.com/office/powerpoint/2010/main" val="278266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P spid="10" grpId="0"/>
      <p:bldP spid="11" grpId="0"/>
      <p:bldP spid="12" grpId="0"/>
      <p:bldP spid="13" grpId="0"/>
      <p:bldP spid="14"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81000" y="590550"/>
                <a:ext cx="8305800" cy="1046440"/>
              </a:xfrm>
              <a:prstGeom prst="rect">
                <a:avLst/>
              </a:prstGeom>
            </p:spPr>
            <p:txBody>
              <a:bodyPr wrap="square">
                <a:spAutoFit/>
              </a:bodyPr>
              <a:lstStyle/>
              <a:p>
                <a:pPr fontAlgn="t"/>
                <a:r>
                  <a:rPr lang="en-US" b="1" dirty="0" smtClean="0">
                    <a:solidFill>
                      <a:srgbClr val="FF0000"/>
                    </a:solidFill>
                    <a:latin typeface="Times New Roman" pitchFamily="18" charset="0"/>
                    <a:cs typeface="Times New Roman" pitchFamily="18" charset="0"/>
                  </a:rPr>
                  <a:t>Four </a:t>
                </a:r>
                <a:r>
                  <a:rPr lang="en-US" b="1" dirty="0">
                    <a:solidFill>
                      <a:srgbClr val="FF0000"/>
                    </a:solidFill>
                    <a:latin typeface="Times New Roman" pitchFamily="18" charset="0"/>
                    <a:cs typeface="Times New Roman" pitchFamily="18" charset="0"/>
                  </a:rPr>
                  <a:t>dice are thrown simultaneously. Find the probability that all of them </a:t>
                </a:r>
                <a:r>
                  <a:rPr lang="en-US" b="1" dirty="0" smtClean="0">
                    <a:solidFill>
                      <a:srgbClr val="FF0000"/>
                    </a:solidFill>
                    <a:latin typeface="Times New Roman" pitchFamily="18" charset="0"/>
                    <a:cs typeface="Times New Roman" pitchFamily="18" charset="0"/>
                  </a:rPr>
                  <a:t>show </a:t>
                </a:r>
                <a:r>
                  <a:rPr lang="en-US" b="1" dirty="0">
                    <a:solidFill>
                      <a:srgbClr val="FF0000"/>
                    </a:solidFill>
                    <a:latin typeface="Times New Roman" pitchFamily="18" charset="0"/>
                    <a:cs typeface="Times New Roman" pitchFamily="18" charset="0"/>
                  </a:rPr>
                  <a:t>the same face.</a:t>
                </a:r>
              </a:p>
              <a:p>
                <a:pPr fontAlgn="t"/>
                <a:r>
                  <a:rPr lang="en-US" b="1" dirty="0" smtClean="0">
                    <a:solidFill>
                      <a:srgbClr val="FF0000"/>
                    </a:solidFill>
                    <a:latin typeface="Times New Roman" pitchFamily="18" charset="0"/>
                    <a:cs typeface="Times New Roman" pitchFamily="18" charset="0"/>
                  </a:rPr>
                  <a:t>	A.</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𝟐𝟏𝟔</m:t>
                        </m:r>
                      </m:den>
                    </m:f>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𝟑𝟔</m:t>
                        </m:r>
                      </m:den>
                    </m:f>
                  </m:oMath>
                </a14:m>
                <a:r>
                  <a:rPr lang="en-US" b="1" dirty="0" smtClean="0">
                    <a:solidFill>
                      <a:srgbClr val="FF0000"/>
                    </a:solidFill>
                    <a:latin typeface="Times New Roman" pitchFamily="18" charset="0"/>
                    <a:cs typeface="Times New Roman" pitchFamily="18" charset="0"/>
                  </a:rPr>
                  <a:t> 		C.</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𝟒</m:t>
                        </m:r>
                      </m:num>
                      <m:den>
                        <m:r>
                          <a:rPr lang="en-US" b="1" i="1" dirty="0" smtClean="0">
                            <a:solidFill>
                              <a:srgbClr val="FF0000"/>
                            </a:solidFill>
                            <a:latin typeface="Cambria Math"/>
                            <a:cs typeface="Times New Roman" pitchFamily="18" charset="0"/>
                          </a:rPr>
                          <m:t>𝟐𝟏𝟔</m:t>
                        </m:r>
                      </m:den>
                    </m:f>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𝟑</m:t>
                        </m:r>
                      </m:num>
                      <m:den>
                        <m:r>
                          <a:rPr lang="en-US" b="1" i="1" dirty="0" smtClean="0">
                            <a:solidFill>
                              <a:srgbClr val="FF0000"/>
                            </a:solidFill>
                            <a:latin typeface="Cambria Math"/>
                            <a:cs typeface="Times New Roman" pitchFamily="18" charset="0"/>
                          </a:rPr>
                          <m:t>𝟐𝟏𝟔</m:t>
                        </m:r>
                      </m:den>
                    </m:f>
                  </m:oMath>
                </a14:m>
                <a:endParaRPr lang="en-US" b="1" dirty="0">
                  <a:solidFill>
                    <a:srgbClr val="FF0000"/>
                  </a:solidFill>
                  <a:latin typeface="Times New Roman" pitchFamily="18" charset="0"/>
                  <a:cs typeface="Times New Roman"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81000" y="590550"/>
                <a:ext cx="8305800" cy="1046440"/>
              </a:xfrm>
              <a:prstGeom prst="rect">
                <a:avLst/>
              </a:prstGeom>
              <a:blipFill rotWithShape="1">
                <a:blip r:embed="rId2"/>
                <a:stretch>
                  <a:fillRect l="-661" t="-2326" r="-1175"/>
                </a:stretch>
              </a:blipFill>
            </p:spPr>
            <p:txBody>
              <a:bodyPr/>
              <a:lstStyle/>
              <a:p>
                <a:r>
                  <a:rPr lang="en-US">
                    <a:noFill/>
                  </a:rPr>
                  <a:t> </a:t>
                </a:r>
              </a:p>
            </p:txBody>
          </p:sp>
        </mc:Fallback>
      </mc:AlternateContent>
      <p:sp>
        <p:nvSpPr>
          <p:cNvPr id="3" name="Rectangle 2"/>
          <p:cNvSpPr/>
          <p:nvPr/>
        </p:nvSpPr>
        <p:spPr>
          <a:xfrm>
            <a:off x="416442" y="1536624"/>
            <a:ext cx="4823693" cy="369332"/>
          </a:xfrm>
          <a:prstGeom prst="rect">
            <a:avLst/>
          </a:prstGeom>
        </p:spPr>
        <p:txBody>
          <a:bodyPr wrap="none">
            <a:spAutoFit/>
          </a:bodyPr>
          <a:lstStyle/>
          <a:p>
            <a:pPr fontAlgn="t"/>
            <a:r>
              <a:rPr lang="en-US" dirty="0" smtClean="0">
                <a:latin typeface="Times New Roman" pitchFamily="18" charset="0"/>
                <a:cs typeface="Times New Roman" pitchFamily="18" charset="0"/>
              </a:rPr>
              <a:t>Total number of outcomes when 4 dies are thrown</a:t>
            </a:r>
            <a:endParaRPr lang="en-US" dirty="0">
              <a:latin typeface="Times New Roman" pitchFamily="18" charset="0"/>
              <a:cs typeface="Times New Roman" pitchFamily="18" charset="0"/>
            </a:endParaRPr>
          </a:p>
        </p:txBody>
      </p:sp>
      <p:sp>
        <p:nvSpPr>
          <p:cNvPr id="4" name="Rectangle 3"/>
          <p:cNvSpPr/>
          <p:nvPr/>
        </p:nvSpPr>
        <p:spPr>
          <a:xfrm>
            <a:off x="2776495" y="142341"/>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p:sp>
        <p:nvSpPr>
          <p:cNvPr id="6" name="Rectangle 5"/>
          <p:cNvSpPr/>
          <p:nvPr/>
        </p:nvSpPr>
        <p:spPr>
          <a:xfrm>
            <a:off x="5105400" y="1542896"/>
            <a:ext cx="429926" cy="369332"/>
          </a:xfrm>
          <a:prstGeom prst="rect">
            <a:avLst/>
          </a:prstGeom>
        </p:spPr>
        <p:txBody>
          <a:bodyPr wrap="none">
            <a:spAutoFit/>
          </a:bodyPr>
          <a:lstStyle/>
          <a:p>
            <a:pPr fontAlgn="t"/>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p:txBody>
      </p:sp>
      <p:sp>
        <p:nvSpPr>
          <p:cNvPr id="7" name="Rectangle 6"/>
          <p:cNvSpPr/>
          <p:nvPr/>
        </p:nvSpPr>
        <p:spPr>
          <a:xfrm>
            <a:off x="5355158" y="1548517"/>
            <a:ext cx="487634" cy="369332"/>
          </a:xfrm>
          <a:prstGeom prst="rect">
            <a:avLst/>
          </a:prstGeom>
        </p:spPr>
        <p:txBody>
          <a:bodyPr wrap="none">
            <a:spAutoFit/>
          </a:bodyPr>
          <a:lstStyle/>
          <a:p>
            <a:pPr fontAlgn="t"/>
            <a:r>
              <a:rPr lang="en-US" dirty="0">
                <a:latin typeface="Times New Roman" pitchFamily="18" charset="0"/>
                <a:cs typeface="Times New Roman" pitchFamily="18" charset="0"/>
              </a:rPr>
              <a:t>× 6</a:t>
            </a:r>
          </a:p>
        </p:txBody>
      </p:sp>
      <p:sp>
        <p:nvSpPr>
          <p:cNvPr id="8" name="Rectangle 7"/>
          <p:cNvSpPr/>
          <p:nvPr/>
        </p:nvSpPr>
        <p:spPr>
          <a:xfrm>
            <a:off x="5684566" y="1550286"/>
            <a:ext cx="487634" cy="369332"/>
          </a:xfrm>
          <a:prstGeom prst="rect">
            <a:avLst/>
          </a:prstGeom>
        </p:spPr>
        <p:txBody>
          <a:bodyPr wrap="none">
            <a:spAutoFit/>
          </a:bodyPr>
          <a:lstStyle/>
          <a:p>
            <a:pPr fontAlgn="t"/>
            <a:r>
              <a:rPr lang="en-US" dirty="0">
                <a:latin typeface="Times New Roman" pitchFamily="18" charset="0"/>
                <a:cs typeface="Times New Roman" pitchFamily="18" charset="0"/>
              </a:rPr>
              <a:t>× 6</a:t>
            </a:r>
          </a:p>
        </p:txBody>
      </p:sp>
      <p:sp>
        <p:nvSpPr>
          <p:cNvPr id="9" name="Rectangle 8"/>
          <p:cNvSpPr/>
          <p:nvPr/>
        </p:nvSpPr>
        <p:spPr>
          <a:xfrm>
            <a:off x="5978733" y="1560919"/>
            <a:ext cx="487634" cy="369332"/>
          </a:xfrm>
          <a:prstGeom prst="rect">
            <a:avLst/>
          </a:prstGeom>
        </p:spPr>
        <p:txBody>
          <a:bodyPr wrap="none">
            <a:spAutoFit/>
          </a:bodyPr>
          <a:lstStyle/>
          <a:p>
            <a:pPr fontAlgn="t"/>
            <a:r>
              <a:rPr lang="en-US" dirty="0">
                <a:latin typeface="Times New Roman" pitchFamily="18" charset="0"/>
                <a:cs typeface="Times New Roman" pitchFamily="18" charset="0"/>
              </a:rPr>
              <a:t>× 6</a:t>
            </a:r>
          </a:p>
        </p:txBody>
      </p:sp>
      <p:sp>
        <p:nvSpPr>
          <p:cNvPr id="10" name="Rectangle 9"/>
          <p:cNvSpPr/>
          <p:nvPr/>
        </p:nvSpPr>
        <p:spPr>
          <a:xfrm>
            <a:off x="457200" y="1973818"/>
            <a:ext cx="7295587" cy="369332"/>
          </a:xfrm>
          <a:prstGeom prst="rect">
            <a:avLst/>
          </a:prstGeom>
        </p:spPr>
        <p:txBody>
          <a:bodyPr wrap="none">
            <a:spAutoFit/>
          </a:bodyPr>
          <a:lstStyle/>
          <a:p>
            <a:r>
              <a:rPr lang="en-US" dirty="0" smtClean="0">
                <a:latin typeface="Times New Roman" pitchFamily="18" charset="0"/>
                <a:cs typeface="Times New Roman" pitchFamily="18" charset="0"/>
              </a:rPr>
              <a:t>Let E is the event for favorable outcomes for all </a:t>
            </a:r>
            <a:r>
              <a:rPr lang="en-US" dirty="0">
                <a:latin typeface="Times New Roman" pitchFamily="18" charset="0"/>
                <a:cs typeface="Times New Roman" pitchFamily="18" charset="0"/>
              </a:rPr>
              <a:t>of them show the same face.</a:t>
            </a:r>
            <a:endParaRPr lang="en-US" dirty="0"/>
          </a:p>
        </p:txBody>
      </p:sp>
      <p:sp>
        <p:nvSpPr>
          <p:cNvPr id="11" name="Rectangle 10"/>
          <p:cNvSpPr/>
          <p:nvPr/>
        </p:nvSpPr>
        <p:spPr>
          <a:xfrm>
            <a:off x="575958" y="2307783"/>
            <a:ext cx="1141659" cy="369332"/>
          </a:xfrm>
          <a:prstGeom prst="rect">
            <a:avLst/>
          </a:prstGeom>
        </p:spPr>
        <p:txBody>
          <a:bodyPr wrap="none">
            <a:spAutoFit/>
          </a:bodyPr>
          <a:lstStyle/>
          <a:p>
            <a:r>
              <a:rPr lang="en-US" b="1" dirty="0" smtClean="0">
                <a:latin typeface="Times New Roman" pitchFamily="18" charset="0"/>
                <a:cs typeface="Times New Roman" pitchFamily="18" charset="0"/>
              </a:rPr>
              <a:t>{ (1,1,1,1)</a:t>
            </a:r>
            <a:endParaRPr lang="en-US" b="1" dirty="0"/>
          </a:p>
        </p:txBody>
      </p:sp>
      <p:sp>
        <p:nvSpPr>
          <p:cNvPr id="12" name="Rectangle 11"/>
          <p:cNvSpPr/>
          <p:nvPr/>
        </p:nvSpPr>
        <p:spPr>
          <a:xfrm>
            <a:off x="1557668" y="2301653"/>
            <a:ext cx="1031051" cy="369332"/>
          </a:xfrm>
          <a:prstGeom prst="rect">
            <a:avLst/>
          </a:prstGeom>
        </p:spPr>
        <p:txBody>
          <a:bodyPr wrap="none">
            <a:spAutoFit/>
          </a:bodyPr>
          <a:lstStyle/>
          <a:p>
            <a:r>
              <a:rPr lang="en-US" b="1" dirty="0" smtClean="0">
                <a:latin typeface="Times New Roman" pitchFamily="18" charset="0"/>
                <a:cs typeface="Times New Roman" pitchFamily="18" charset="0"/>
              </a:rPr>
              <a:t>,(2,2,2,2)</a:t>
            </a:r>
            <a:endParaRPr lang="en-US" b="1" dirty="0"/>
          </a:p>
        </p:txBody>
      </p:sp>
      <p:sp>
        <p:nvSpPr>
          <p:cNvPr id="13" name="Rectangle 12"/>
          <p:cNvSpPr/>
          <p:nvPr/>
        </p:nvSpPr>
        <p:spPr>
          <a:xfrm>
            <a:off x="2423909" y="2318416"/>
            <a:ext cx="1031051" cy="369332"/>
          </a:xfrm>
          <a:prstGeom prst="rect">
            <a:avLst/>
          </a:prstGeom>
        </p:spPr>
        <p:txBody>
          <a:bodyPr wrap="none">
            <a:spAutoFit/>
          </a:bodyPr>
          <a:lstStyle/>
          <a:p>
            <a:r>
              <a:rPr lang="en-US" b="1" dirty="0" smtClean="0">
                <a:latin typeface="Times New Roman" pitchFamily="18" charset="0"/>
                <a:cs typeface="Times New Roman" pitchFamily="18" charset="0"/>
              </a:rPr>
              <a:t>,(3,3,3,3)</a:t>
            </a:r>
            <a:endParaRPr lang="en-US" b="1" dirty="0"/>
          </a:p>
        </p:txBody>
      </p:sp>
      <p:sp>
        <p:nvSpPr>
          <p:cNvPr id="14" name="Rectangle 13"/>
          <p:cNvSpPr/>
          <p:nvPr/>
        </p:nvSpPr>
        <p:spPr>
          <a:xfrm>
            <a:off x="3306098" y="2318049"/>
            <a:ext cx="1031051" cy="369332"/>
          </a:xfrm>
          <a:prstGeom prst="rect">
            <a:avLst/>
          </a:prstGeom>
        </p:spPr>
        <p:txBody>
          <a:bodyPr wrap="none">
            <a:spAutoFit/>
          </a:bodyPr>
          <a:lstStyle/>
          <a:p>
            <a:r>
              <a:rPr lang="en-US" b="1" dirty="0" smtClean="0">
                <a:latin typeface="Times New Roman" pitchFamily="18" charset="0"/>
                <a:cs typeface="Times New Roman" pitchFamily="18" charset="0"/>
              </a:rPr>
              <a:t>,(4,4,4,4)</a:t>
            </a:r>
            <a:endParaRPr lang="en-US" b="1" dirty="0"/>
          </a:p>
        </p:txBody>
      </p:sp>
      <p:sp>
        <p:nvSpPr>
          <p:cNvPr id="15" name="Rectangle 14"/>
          <p:cNvSpPr/>
          <p:nvPr/>
        </p:nvSpPr>
        <p:spPr>
          <a:xfrm>
            <a:off x="4175412" y="2318049"/>
            <a:ext cx="1031051" cy="369332"/>
          </a:xfrm>
          <a:prstGeom prst="rect">
            <a:avLst/>
          </a:prstGeom>
        </p:spPr>
        <p:txBody>
          <a:bodyPr wrap="none">
            <a:spAutoFit/>
          </a:bodyPr>
          <a:lstStyle/>
          <a:p>
            <a:r>
              <a:rPr lang="en-US" b="1" dirty="0" smtClean="0">
                <a:latin typeface="Times New Roman" pitchFamily="18" charset="0"/>
                <a:cs typeface="Times New Roman" pitchFamily="18" charset="0"/>
              </a:rPr>
              <a:t>,(5,5,5,5)</a:t>
            </a:r>
            <a:endParaRPr lang="en-US" b="1" dirty="0"/>
          </a:p>
        </p:txBody>
      </p:sp>
      <p:sp>
        <p:nvSpPr>
          <p:cNvPr id="16" name="Rectangle 15"/>
          <p:cNvSpPr/>
          <p:nvPr/>
        </p:nvSpPr>
        <p:spPr>
          <a:xfrm>
            <a:off x="5039833" y="2307049"/>
            <a:ext cx="1199367" cy="369332"/>
          </a:xfrm>
          <a:prstGeom prst="rect">
            <a:avLst/>
          </a:prstGeom>
        </p:spPr>
        <p:txBody>
          <a:bodyPr wrap="none">
            <a:spAutoFit/>
          </a:bodyPr>
          <a:lstStyle/>
          <a:p>
            <a:r>
              <a:rPr lang="en-US" b="1" dirty="0" smtClean="0">
                <a:latin typeface="Times New Roman" pitchFamily="18" charset="0"/>
                <a:cs typeface="Times New Roman" pitchFamily="18" charset="0"/>
              </a:rPr>
              <a:t>,(6,6,6,6) }</a:t>
            </a:r>
            <a:endParaRPr lang="en-US" b="1" dirty="0"/>
          </a:p>
        </p:txBody>
      </p:sp>
      <p:sp>
        <p:nvSpPr>
          <p:cNvPr id="17" name="Rectangle 16"/>
          <p:cNvSpPr/>
          <p:nvPr/>
        </p:nvSpPr>
        <p:spPr>
          <a:xfrm>
            <a:off x="609600" y="2647950"/>
            <a:ext cx="3461204" cy="369332"/>
          </a:xfrm>
          <a:prstGeom prst="rect">
            <a:avLst/>
          </a:prstGeom>
        </p:spPr>
        <p:txBody>
          <a:bodyPr wrap="none">
            <a:spAutoFit/>
          </a:bodyPr>
          <a:lstStyle/>
          <a:p>
            <a:r>
              <a:rPr lang="en-US" dirty="0" smtClean="0">
                <a:latin typeface="Times New Roman" pitchFamily="18" charset="0"/>
                <a:cs typeface="Times New Roman" pitchFamily="18" charset="0"/>
              </a:rPr>
              <a:t>Number of favorable outcomes are </a:t>
            </a:r>
            <a:endParaRPr lang="en-US" dirty="0"/>
          </a:p>
        </p:txBody>
      </p:sp>
      <p:sp>
        <p:nvSpPr>
          <p:cNvPr id="18" name="Rectangle 17"/>
          <p:cNvSpPr/>
          <p:nvPr/>
        </p:nvSpPr>
        <p:spPr>
          <a:xfrm>
            <a:off x="4067153" y="2647950"/>
            <a:ext cx="429926" cy="369332"/>
          </a:xfrm>
          <a:prstGeom prst="rect">
            <a:avLst/>
          </a:prstGeom>
        </p:spPr>
        <p:txBody>
          <a:bodyPr wrap="none">
            <a:spAutoFit/>
          </a:bodyPr>
          <a:lstStyle/>
          <a:p>
            <a:pPr fontAlgn="t"/>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p:txBody>
      </p:sp>
      <p:sp>
        <p:nvSpPr>
          <p:cNvPr id="19" name="Rectangle 18"/>
          <p:cNvSpPr/>
          <p:nvPr/>
        </p:nvSpPr>
        <p:spPr>
          <a:xfrm>
            <a:off x="2208946" y="3257550"/>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P</a:t>
            </a:r>
            <a:endParaRPr lang="en-US" dirty="0">
              <a:latin typeface="Times New Roman" pitchFamily="18" charset="0"/>
              <a:cs typeface="Times New Roman" pitchFamily="18" charset="0"/>
            </a:endParaRPr>
          </a:p>
        </p:txBody>
      </p:sp>
      <p:sp>
        <p:nvSpPr>
          <p:cNvPr id="20" name="Rectangle 19"/>
          <p:cNvSpPr/>
          <p:nvPr/>
        </p:nvSpPr>
        <p:spPr>
          <a:xfrm>
            <a:off x="2432266" y="3269218"/>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21" name="Rectangle 20"/>
          <p:cNvSpPr/>
          <p:nvPr/>
        </p:nvSpPr>
        <p:spPr>
          <a:xfrm>
            <a:off x="2743209" y="3069530"/>
            <a:ext cx="619080" cy="384721"/>
          </a:xfrm>
          <a:prstGeom prst="rect">
            <a:avLst/>
          </a:prstGeom>
        </p:spPr>
        <p:txBody>
          <a:bodyPr wrap="none">
            <a:spAutoFit/>
          </a:bodyPr>
          <a:lstStyle/>
          <a:p>
            <a:r>
              <a:rPr lang="en-US" sz="1900" dirty="0" smtClean="0">
                <a:latin typeface="Times New Roman" pitchFamily="18" charset="0"/>
                <a:cs typeface="Times New Roman" pitchFamily="18" charset="0"/>
              </a:rPr>
              <a:t>n(E)</a:t>
            </a:r>
            <a:endParaRPr lang="en-US" sz="1900" dirty="0">
              <a:latin typeface="Times New Roman" pitchFamily="18" charset="0"/>
              <a:cs typeface="Times New Roman" pitchFamily="18" charset="0"/>
            </a:endParaRPr>
          </a:p>
        </p:txBody>
      </p:sp>
      <p:cxnSp>
        <p:nvCxnSpPr>
          <p:cNvPr id="22" name="Straight Connector 21"/>
          <p:cNvCxnSpPr/>
          <p:nvPr/>
        </p:nvCxnSpPr>
        <p:spPr>
          <a:xfrm>
            <a:off x="2721934" y="3454251"/>
            <a:ext cx="707075" cy="0"/>
          </a:xfrm>
          <a:prstGeom prst="line">
            <a:avLst/>
          </a:prstGeom>
        </p:spPr>
        <p:style>
          <a:lnRef idx="2">
            <a:schemeClr val="dk1"/>
          </a:lnRef>
          <a:fillRef idx="0">
            <a:schemeClr val="dk1"/>
          </a:fillRef>
          <a:effectRef idx="1">
            <a:schemeClr val="dk1"/>
          </a:effectRef>
          <a:fontRef idx="minor">
            <a:schemeClr val="tx1"/>
          </a:fontRef>
        </p:style>
      </p:cxnSp>
      <p:sp>
        <p:nvSpPr>
          <p:cNvPr id="23" name="Rectangle 22"/>
          <p:cNvSpPr/>
          <p:nvPr/>
        </p:nvSpPr>
        <p:spPr>
          <a:xfrm>
            <a:off x="2743209" y="3450530"/>
            <a:ext cx="606256" cy="384721"/>
          </a:xfrm>
          <a:prstGeom prst="rect">
            <a:avLst/>
          </a:prstGeom>
        </p:spPr>
        <p:txBody>
          <a:bodyPr wrap="none">
            <a:spAutoFit/>
          </a:bodyPr>
          <a:lstStyle/>
          <a:p>
            <a:r>
              <a:rPr lang="en-US" sz="1900" dirty="0" smtClean="0">
                <a:latin typeface="Times New Roman" pitchFamily="18" charset="0"/>
                <a:cs typeface="Times New Roman" pitchFamily="18" charset="0"/>
              </a:rPr>
              <a:t>n(S)</a:t>
            </a:r>
            <a:endParaRPr lang="en-US" sz="1900" dirty="0">
              <a:latin typeface="Times New Roman" pitchFamily="18" charset="0"/>
              <a:cs typeface="Times New Roman" pitchFamily="18" charset="0"/>
            </a:endParaRPr>
          </a:p>
        </p:txBody>
      </p:sp>
      <p:sp>
        <p:nvSpPr>
          <p:cNvPr id="24" name="Rectangle 23"/>
          <p:cNvSpPr/>
          <p:nvPr/>
        </p:nvSpPr>
        <p:spPr>
          <a:xfrm>
            <a:off x="4104993" y="3083175"/>
            <a:ext cx="306494" cy="384721"/>
          </a:xfrm>
          <a:prstGeom prst="rect">
            <a:avLst/>
          </a:prstGeom>
        </p:spPr>
        <p:txBody>
          <a:bodyPr wrap="none">
            <a:spAutoFit/>
          </a:bodyPr>
          <a:lstStyle/>
          <a:p>
            <a:r>
              <a:rPr lang="en-US" sz="1900" dirty="0" smtClean="0">
                <a:latin typeface="Times New Roman" pitchFamily="18" charset="0"/>
                <a:cs typeface="Times New Roman" pitchFamily="18" charset="0"/>
              </a:rPr>
              <a:t>6</a:t>
            </a:r>
            <a:endParaRPr lang="en-US" sz="1900" dirty="0">
              <a:latin typeface="Times New Roman" pitchFamily="18" charset="0"/>
              <a:cs typeface="Times New Roman" pitchFamily="18" charset="0"/>
            </a:endParaRPr>
          </a:p>
        </p:txBody>
      </p:sp>
      <p:cxnSp>
        <p:nvCxnSpPr>
          <p:cNvPr id="25" name="Straight Connector 24"/>
          <p:cNvCxnSpPr/>
          <p:nvPr/>
        </p:nvCxnSpPr>
        <p:spPr>
          <a:xfrm>
            <a:off x="3788734" y="3454251"/>
            <a:ext cx="1164266" cy="6292"/>
          </a:xfrm>
          <a:prstGeom prst="line">
            <a:avLst/>
          </a:prstGeom>
        </p:spPr>
        <p:style>
          <a:lnRef idx="2">
            <a:schemeClr val="dk1"/>
          </a:lnRef>
          <a:fillRef idx="0">
            <a:schemeClr val="dk1"/>
          </a:fillRef>
          <a:effectRef idx="1">
            <a:schemeClr val="dk1"/>
          </a:effectRef>
          <a:fontRef idx="minor">
            <a:schemeClr val="tx1"/>
          </a:fontRef>
        </p:style>
      </p:cxnSp>
      <p:sp>
        <p:nvSpPr>
          <p:cNvPr id="26" name="Rectangle 25"/>
          <p:cNvSpPr/>
          <p:nvPr/>
        </p:nvSpPr>
        <p:spPr>
          <a:xfrm>
            <a:off x="3710985" y="3450530"/>
            <a:ext cx="1529150" cy="400110"/>
          </a:xfrm>
          <a:prstGeom prst="rect">
            <a:avLst/>
          </a:prstGeom>
        </p:spPr>
        <p:txBody>
          <a:bodyPr wrap="square">
            <a:spAutoFit/>
          </a:bodyPr>
          <a:lstStyle/>
          <a:p>
            <a:r>
              <a:rPr lang="en-US" sz="1900" dirty="0" smtClean="0">
                <a:latin typeface="Times New Roman" pitchFamily="18" charset="0"/>
                <a:cs typeface="Times New Roman" pitchFamily="18" charset="0"/>
              </a:rPr>
              <a:t>6</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6× 6× 6</a:t>
            </a:r>
            <a:endParaRPr lang="en-US" sz="2000" dirty="0">
              <a:latin typeface="Times New Roman" pitchFamily="18" charset="0"/>
              <a:cs typeface="Times New Roman" pitchFamily="18" charset="0"/>
            </a:endParaRPr>
          </a:p>
        </p:txBody>
      </p:sp>
      <p:sp>
        <p:nvSpPr>
          <p:cNvPr id="27" name="Rectangle 26"/>
          <p:cNvSpPr/>
          <p:nvPr/>
        </p:nvSpPr>
        <p:spPr>
          <a:xfrm>
            <a:off x="3416607" y="3268183"/>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29" name="Rectangle 28"/>
          <p:cNvSpPr/>
          <p:nvPr/>
        </p:nvSpPr>
        <p:spPr>
          <a:xfrm>
            <a:off x="5875258" y="3099685"/>
            <a:ext cx="306494" cy="384721"/>
          </a:xfrm>
          <a:prstGeom prst="rect">
            <a:avLst/>
          </a:prstGeom>
        </p:spPr>
        <p:txBody>
          <a:bodyPr wrap="none">
            <a:spAutoFit/>
          </a:bodyPr>
          <a:lstStyle/>
          <a:p>
            <a:r>
              <a:rPr lang="en-US" sz="1900" dirty="0">
                <a:latin typeface="Times New Roman" pitchFamily="18" charset="0"/>
                <a:cs typeface="Times New Roman" pitchFamily="18" charset="0"/>
              </a:rPr>
              <a:t>1</a:t>
            </a:r>
          </a:p>
        </p:txBody>
      </p:sp>
      <p:cxnSp>
        <p:nvCxnSpPr>
          <p:cNvPr id="30" name="Straight Connector 29"/>
          <p:cNvCxnSpPr/>
          <p:nvPr/>
        </p:nvCxnSpPr>
        <p:spPr>
          <a:xfrm>
            <a:off x="5558999" y="3470761"/>
            <a:ext cx="1164266" cy="6292"/>
          </a:xfrm>
          <a:prstGeom prst="line">
            <a:avLst/>
          </a:prstGeom>
        </p:spPr>
        <p:style>
          <a:lnRef idx="2">
            <a:schemeClr val="dk1"/>
          </a:lnRef>
          <a:fillRef idx="0">
            <a:schemeClr val="dk1"/>
          </a:fillRef>
          <a:effectRef idx="1">
            <a:schemeClr val="dk1"/>
          </a:effectRef>
          <a:fontRef idx="minor">
            <a:schemeClr val="tx1"/>
          </a:fontRef>
        </p:style>
      </p:cxnSp>
      <p:sp>
        <p:nvSpPr>
          <p:cNvPr id="31" name="Rectangle 30"/>
          <p:cNvSpPr/>
          <p:nvPr/>
        </p:nvSpPr>
        <p:spPr>
          <a:xfrm>
            <a:off x="5481250" y="3467040"/>
            <a:ext cx="1529150" cy="400110"/>
          </a:xfrm>
          <a:prstGeom prst="rect">
            <a:avLst/>
          </a:prstGeom>
        </p:spPr>
        <p:txBody>
          <a:bodyPr wrap="square">
            <a:spAutoFit/>
          </a:bodyPr>
          <a:lstStyle/>
          <a:p>
            <a:r>
              <a:rPr lang="en-US" sz="2000" dirty="0" smtClean="0">
                <a:latin typeface="Times New Roman" pitchFamily="18" charset="0"/>
                <a:cs typeface="Times New Roman" pitchFamily="18" charset="0"/>
              </a:rPr>
              <a:t> 6× 6× 6</a:t>
            </a:r>
            <a:endParaRPr lang="en-US" sz="2000" dirty="0">
              <a:latin typeface="Times New Roman" pitchFamily="18" charset="0"/>
              <a:cs typeface="Times New Roman" pitchFamily="18" charset="0"/>
            </a:endParaRPr>
          </a:p>
        </p:txBody>
      </p:sp>
      <p:sp>
        <p:nvSpPr>
          <p:cNvPr id="32" name="Rectangle 31"/>
          <p:cNvSpPr/>
          <p:nvPr/>
        </p:nvSpPr>
        <p:spPr>
          <a:xfrm>
            <a:off x="5186872" y="3284693"/>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33" name="Rectangle 32"/>
          <p:cNvSpPr/>
          <p:nvPr/>
        </p:nvSpPr>
        <p:spPr>
          <a:xfrm>
            <a:off x="5978733" y="3990222"/>
            <a:ext cx="815608" cy="384721"/>
          </a:xfrm>
          <a:prstGeom prst="rect">
            <a:avLst/>
          </a:prstGeom>
        </p:spPr>
        <p:txBody>
          <a:bodyPr wrap="none">
            <a:spAutoFit/>
          </a:bodyPr>
          <a:lstStyle/>
          <a:p>
            <a:r>
              <a:rPr lang="en-US" sz="1900" b="1" dirty="0" smtClean="0">
                <a:latin typeface="Times New Roman" pitchFamily="18" charset="0"/>
                <a:cs typeface="Times New Roman" pitchFamily="18" charset="0"/>
              </a:rPr>
              <a:t>Ans A</a:t>
            </a:r>
            <a:endParaRPr lang="en-US" sz="1900" b="1" dirty="0">
              <a:latin typeface="Times New Roman" pitchFamily="18" charset="0"/>
              <a:cs typeface="Times New Roman" pitchFamily="18" charset="0"/>
            </a:endParaRPr>
          </a:p>
        </p:txBody>
      </p:sp>
      <p:sp>
        <p:nvSpPr>
          <p:cNvPr id="34" name="Rectangle 33"/>
          <p:cNvSpPr/>
          <p:nvPr/>
        </p:nvSpPr>
        <p:spPr>
          <a:xfrm>
            <a:off x="5486269" y="3850640"/>
            <a:ext cx="306494" cy="384721"/>
          </a:xfrm>
          <a:prstGeom prst="rect">
            <a:avLst/>
          </a:prstGeom>
        </p:spPr>
        <p:txBody>
          <a:bodyPr wrap="none">
            <a:spAutoFit/>
          </a:bodyPr>
          <a:lstStyle/>
          <a:p>
            <a:r>
              <a:rPr lang="en-US" sz="1900" dirty="0">
                <a:latin typeface="Times New Roman" pitchFamily="18" charset="0"/>
                <a:cs typeface="Times New Roman" pitchFamily="18" charset="0"/>
              </a:rPr>
              <a:t>1</a:t>
            </a:r>
          </a:p>
        </p:txBody>
      </p:sp>
      <p:cxnSp>
        <p:nvCxnSpPr>
          <p:cNvPr id="35" name="Straight Connector 34"/>
          <p:cNvCxnSpPr/>
          <p:nvPr/>
        </p:nvCxnSpPr>
        <p:spPr>
          <a:xfrm>
            <a:off x="5477527" y="4238226"/>
            <a:ext cx="365265" cy="0"/>
          </a:xfrm>
          <a:prstGeom prst="line">
            <a:avLst/>
          </a:prstGeom>
        </p:spPr>
        <p:style>
          <a:lnRef idx="2">
            <a:schemeClr val="dk1"/>
          </a:lnRef>
          <a:fillRef idx="0">
            <a:schemeClr val="dk1"/>
          </a:fillRef>
          <a:effectRef idx="1">
            <a:schemeClr val="dk1"/>
          </a:effectRef>
          <a:fontRef idx="minor">
            <a:schemeClr val="tx1"/>
          </a:fontRef>
        </p:style>
      </p:cxnSp>
      <p:sp>
        <p:nvSpPr>
          <p:cNvPr id="36" name="Rectangle 35"/>
          <p:cNvSpPr/>
          <p:nvPr/>
        </p:nvSpPr>
        <p:spPr>
          <a:xfrm>
            <a:off x="5319298" y="4182583"/>
            <a:ext cx="700502" cy="400110"/>
          </a:xfrm>
          <a:prstGeom prst="rect">
            <a:avLst/>
          </a:prstGeom>
        </p:spPr>
        <p:txBody>
          <a:bodyPr wrap="square">
            <a:spAutoFit/>
          </a:bodyPr>
          <a:lstStyle/>
          <a:p>
            <a:r>
              <a:rPr lang="en-US" sz="2000" dirty="0" smtClean="0">
                <a:latin typeface="Times New Roman" pitchFamily="18" charset="0"/>
                <a:cs typeface="Times New Roman" pitchFamily="18" charset="0"/>
              </a:rPr>
              <a:t> 216</a:t>
            </a:r>
            <a:endParaRPr lang="en-US" sz="2000" dirty="0">
              <a:latin typeface="Times New Roman" pitchFamily="18" charset="0"/>
              <a:cs typeface="Times New Roman" pitchFamily="18" charset="0"/>
            </a:endParaRPr>
          </a:p>
        </p:txBody>
      </p:sp>
      <p:sp>
        <p:nvSpPr>
          <p:cNvPr id="37" name="Rectangle 36"/>
          <p:cNvSpPr/>
          <p:nvPr/>
        </p:nvSpPr>
        <p:spPr>
          <a:xfrm>
            <a:off x="5105400" y="4052158"/>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38" name="Rectangle 37"/>
          <p:cNvSpPr/>
          <p:nvPr/>
        </p:nvSpPr>
        <p:spPr>
          <a:xfrm>
            <a:off x="7740061" y="1548517"/>
            <a:ext cx="781048" cy="369332"/>
          </a:xfrm>
          <a:prstGeom prst="rect">
            <a:avLst/>
          </a:prstGeom>
        </p:spPr>
        <p:txBody>
          <a:bodyPr wrap="none">
            <a:spAutoFit/>
          </a:bodyPr>
          <a:lstStyle/>
          <a:p>
            <a:pPr fontAlgn="t"/>
            <a:r>
              <a:rPr lang="en-US" b="1" dirty="0">
                <a:latin typeface="Times New Roman" pitchFamily="18" charset="0"/>
                <a:cs typeface="Times New Roman" pitchFamily="18" charset="0"/>
              </a:rPr>
              <a:t>Ans A</a:t>
            </a:r>
          </a:p>
        </p:txBody>
      </p:sp>
    </p:spTree>
    <p:extLst>
      <p:ext uri="{BB962C8B-B14F-4D97-AF65-F5344CB8AC3E}">
        <p14:creationId xmlns:p14="http://schemas.microsoft.com/office/powerpoint/2010/main" val="201661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50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left)">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wipe(left)">
                                      <p:cBhvr>
                                        <p:cTn id="112" dur="500"/>
                                        <p:tgtEl>
                                          <p:spTgt spid="2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wipe(left)">
                                      <p:cBhvr>
                                        <p:cTn id="117" dur="500"/>
                                        <p:tgtEl>
                                          <p:spTgt spid="2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wipe(left)">
                                      <p:cBhvr>
                                        <p:cTn id="122" dur="500"/>
                                        <p:tgtEl>
                                          <p:spTgt spid="27"/>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wipe(left)">
                                      <p:cBhvr>
                                        <p:cTn id="127" dur="500"/>
                                        <p:tgtEl>
                                          <p:spTgt spid="29"/>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30"/>
                                        </p:tgtEl>
                                        <p:attrNameLst>
                                          <p:attrName>style.visibility</p:attrName>
                                        </p:attrNameLst>
                                      </p:cBhvr>
                                      <p:to>
                                        <p:strVal val="visible"/>
                                      </p:to>
                                    </p:set>
                                    <p:animEffect transition="in" filter="wipe(left)">
                                      <p:cBhvr>
                                        <p:cTn id="132" dur="500"/>
                                        <p:tgtEl>
                                          <p:spTgt spid="30"/>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wipe(left)">
                                      <p:cBhvr>
                                        <p:cTn id="137" dur="500"/>
                                        <p:tgtEl>
                                          <p:spTgt spid="31"/>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wipe(left)">
                                      <p:cBhvr>
                                        <p:cTn id="142" dur="500"/>
                                        <p:tgtEl>
                                          <p:spTgt spid="3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34"/>
                                        </p:tgtEl>
                                        <p:attrNameLst>
                                          <p:attrName>style.visibility</p:attrName>
                                        </p:attrNameLst>
                                      </p:cBhvr>
                                      <p:to>
                                        <p:strVal val="visible"/>
                                      </p:to>
                                    </p:set>
                                    <p:animEffect transition="in" filter="wipe(left)">
                                      <p:cBhvr>
                                        <p:cTn id="147" dur="500"/>
                                        <p:tgtEl>
                                          <p:spTgt spid="34"/>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35"/>
                                        </p:tgtEl>
                                        <p:attrNameLst>
                                          <p:attrName>style.visibility</p:attrName>
                                        </p:attrNameLst>
                                      </p:cBhvr>
                                      <p:to>
                                        <p:strVal val="visible"/>
                                      </p:to>
                                    </p:set>
                                    <p:animEffect transition="in" filter="wipe(left)">
                                      <p:cBhvr>
                                        <p:cTn id="152" dur="500"/>
                                        <p:tgtEl>
                                          <p:spTgt spid="35"/>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wipe(left)">
                                      <p:cBhvr>
                                        <p:cTn id="157" dur="500"/>
                                        <p:tgtEl>
                                          <p:spTgt spid="36"/>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7"/>
                                        </p:tgtEl>
                                        <p:attrNameLst>
                                          <p:attrName>style.visibility</p:attrName>
                                        </p:attrNameLst>
                                      </p:cBhvr>
                                      <p:to>
                                        <p:strVal val="visible"/>
                                      </p:to>
                                    </p:set>
                                    <p:animEffect transition="in" filter="wipe(left)">
                                      <p:cBhvr>
                                        <p:cTn id="162" dur="500"/>
                                        <p:tgtEl>
                                          <p:spTgt spid="37"/>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33"/>
                                        </p:tgtEl>
                                        <p:attrNameLst>
                                          <p:attrName>style.visibility</p:attrName>
                                        </p:attrNameLst>
                                      </p:cBhvr>
                                      <p:to>
                                        <p:strVal val="visible"/>
                                      </p:to>
                                    </p:set>
                                    <p:animEffect transition="in" filter="wipe(left)">
                                      <p:cBhvr>
                                        <p:cTn id="16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3" grpId="0"/>
      <p:bldP spid="24" grpId="0"/>
      <p:bldP spid="26" grpId="0"/>
      <p:bldP spid="27" grpId="0"/>
      <p:bldP spid="29" grpId="0"/>
      <p:bldP spid="31" grpId="0"/>
      <p:bldP spid="32" grpId="0"/>
      <p:bldP spid="33" grpId="0"/>
      <p:bldP spid="34" grpId="0"/>
      <p:bldP spid="36" grpId="0"/>
      <p:bldP spid="37" grpId="0"/>
      <p:bldP spid="3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142341"/>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3" name="Rectangle 22"/>
              <p:cNvSpPr/>
              <p:nvPr/>
            </p:nvSpPr>
            <p:spPr>
              <a:xfrm>
                <a:off x="287046" y="590550"/>
                <a:ext cx="8475953" cy="1045286"/>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In </a:t>
                </a:r>
                <a:r>
                  <a:rPr lang="en-US" b="1" dirty="0">
                    <a:solidFill>
                      <a:srgbClr val="FF0000"/>
                    </a:solidFill>
                    <a:latin typeface="Times New Roman" pitchFamily="18" charset="0"/>
                    <a:cs typeface="Times New Roman" pitchFamily="18" charset="0"/>
                  </a:rPr>
                  <a:t>a box, there are 8 red, 7 blue and 6 green balls. One ball is picked up </a:t>
                </a:r>
                <a:r>
                  <a:rPr lang="en-US" b="1" dirty="0" smtClean="0">
                    <a:solidFill>
                      <a:srgbClr val="FF0000"/>
                    </a:solidFill>
                    <a:latin typeface="Times New Roman" pitchFamily="18" charset="0"/>
                    <a:cs typeface="Times New Roman" pitchFamily="18" charset="0"/>
                  </a:rPr>
                  <a:t>randomly</a:t>
                </a:r>
                <a:r>
                  <a:rPr lang="en-US" b="1" dirty="0">
                    <a:solidFill>
                      <a:srgbClr val="FF0000"/>
                    </a:solidFill>
                    <a:latin typeface="Times New Roman" pitchFamily="18" charset="0"/>
                    <a:cs typeface="Times New Roman" pitchFamily="18" charset="0"/>
                  </a:rPr>
                  <a:t>. What is the probability that it is neither red nor green?</a:t>
                </a:r>
                <a:r>
                  <a:rPr lang="en-US" b="1" dirty="0" smtClean="0">
                    <a:solidFill>
                      <a:srgbClr val="FF0000"/>
                    </a:solidFill>
                    <a:latin typeface="Times New Roman" pitchFamily="18" charset="0"/>
                    <a:cs typeface="Times New Roman" pitchFamily="18" charset="0"/>
                  </a:rPr>
                  <a:t>	</a:t>
                </a:r>
              </a:p>
              <a:p>
                <a:r>
                  <a:rPr lang="en-US" b="1" dirty="0" smtClean="0">
                    <a:solidFill>
                      <a:srgbClr val="FF0000"/>
                    </a:solidFill>
                    <a:latin typeface="Times New Roman" pitchFamily="18" charset="0"/>
                    <a:cs typeface="Times New Roman" pitchFamily="18" charset="0"/>
                  </a:rPr>
                  <a:t>A.</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𝟕</m:t>
                        </m:r>
                      </m:den>
                    </m:f>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𝟑</m:t>
                        </m:r>
                      </m:num>
                      <m:den>
                        <m:r>
                          <a:rPr lang="en-US" b="1" i="1" dirty="0" smtClean="0">
                            <a:solidFill>
                              <a:srgbClr val="FF0000"/>
                            </a:solidFill>
                            <a:latin typeface="Cambria Math"/>
                            <a:cs typeface="Times New Roman" pitchFamily="18" charset="0"/>
                          </a:rPr>
                          <m:t>𝟒</m:t>
                        </m:r>
                      </m:den>
                    </m:f>
                  </m:oMath>
                </a14:m>
                <a:r>
                  <a:rPr lang="en-US"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𝟑</m:t>
                        </m:r>
                      </m:num>
                      <m:den>
                        <m:r>
                          <a:rPr lang="en-US" b="1" i="1" dirty="0" smtClean="0">
                            <a:solidFill>
                              <a:srgbClr val="FF0000"/>
                            </a:solidFill>
                            <a:latin typeface="Cambria Math"/>
                            <a:cs typeface="Times New Roman" pitchFamily="18" charset="0"/>
                          </a:rPr>
                          <m:t>𝟕</m:t>
                        </m:r>
                      </m:den>
                    </m:f>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m:t>
                        </m:r>
                      </m:num>
                      <m:den>
                        <m:r>
                          <a:rPr lang="en-US" b="1" i="1" dirty="0" smtClean="0">
                            <a:solidFill>
                              <a:srgbClr val="FF0000"/>
                            </a:solidFill>
                            <a:latin typeface="Cambria Math"/>
                            <a:cs typeface="Times New Roman" pitchFamily="18" charset="0"/>
                          </a:rPr>
                          <m:t>𝟑</m:t>
                        </m:r>
                      </m:den>
                    </m:f>
                  </m:oMath>
                </a14:m>
                <a:endParaRPr lang="en-US" b="1" dirty="0">
                  <a:solidFill>
                    <a:srgbClr val="FF0000"/>
                  </a:solidFill>
                  <a:latin typeface="Times New Roman" pitchFamily="18" charset="0"/>
                  <a:cs typeface="Times New Roman" pitchFamily="18" charset="0"/>
                </a:endParaRPr>
              </a:p>
            </p:txBody>
          </p:sp>
        </mc:Choice>
        <mc:Fallback xmlns="">
          <p:sp>
            <p:nvSpPr>
              <p:cNvPr id="23" name="Rectangle 22"/>
              <p:cNvSpPr>
                <a:spLocks noRot="1" noChangeAspect="1" noMove="1" noResize="1" noEditPoints="1" noAdjustHandles="1" noChangeArrowheads="1" noChangeShapeType="1" noTextEdit="1"/>
              </p:cNvSpPr>
              <p:nvPr/>
            </p:nvSpPr>
            <p:spPr>
              <a:xfrm>
                <a:off x="287046" y="590550"/>
                <a:ext cx="8475953" cy="1045286"/>
              </a:xfrm>
              <a:prstGeom prst="rect">
                <a:avLst/>
              </a:prstGeom>
              <a:blipFill rotWithShape="1">
                <a:blip r:embed="rId3"/>
                <a:stretch>
                  <a:fillRect l="-576" t="-2924" b="-2924"/>
                </a:stretch>
              </a:blipFill>
            </p:spPr>
            <p:txBody>
              <a:bodyPr/>
              <a:lstStyle/>
              <a:p>
                <a:r>
                  <a:rPr lang="en-US">
                    <a:noFill/>
                  </a:rPr>
                  <a:t> </a:t>
                </a:r>
              </a:p>
            </p:txBody>
          </p:sp>
        </mc:Fallback>
      </mc:AlternateContent>
      <p:sp>
        <p:nvSpPr>
          <p:cNvPr id="6" name="Rectangle 5"/>
          <p:cNvSpPr/>
          <p:nvPr/>
        </p:nvSpPr>
        <p:spPr>
          <a:xfrm>
            <a:off x="7766140" y="1432001"/>
            <a:ext cx="793807" cy="369332"/>
          </a:xfrm>
          <a:prstGeom prst="rect">
            <a:avLst/>
          </a:prstGeom>
        </p:spPr>
        <p:txBody>
          <a:bodyPr wrap="none">
            <a:spAutoFit/>
          </a:bodyPr>
          <a:lstStyle/>
          <a:p>
            <a:pPr fontAlgn="t"/>
            <a:r>
              <a:rPr lang="en-US" b="1" dirty="0">
                <a:latin typeface="Times New Roman" pitchFamily="18" charset="0"/>
                <a:cs typeface="Times New Roman" pitchFamily="18" charset="0"/>
              </a:rPr>
              <a:t>Ans </a:t>
            </a:r>
            <a:r>
              <a:rPr lang="en-US" b="1" dirty="0" smtClean="0">
                <a:latin typeface="Times New Roman" pitchFamily="18" charset="0"/>
                <a:cs typeface="Times New Roman" pitchFamily="18" charset="0"/>
              </a:rPr>
              <a:t>D</a:t>
            </a:r>
            <a:endParaRPr lang="en-US" b="1" dirty="0">
              <a:latin typeface="Times New Roman" pitchFamily="18" charset="0"/>
              <a:cs typeface="Times New Roman" pitchFamily="18" charset="0"/>
            </a:endParaRPr>
          </a:p>
        </p:txBody>
      </p:sp>
      <p:sp>
        <p:nvSpPr>
          <p:cNvPr id="7" name="Rectangle 6"/>
          <p:cNvSpPr/>
          <p:nvPr/>
        </p:nvSpPr>
        <p:spPr>
          <a:xfrm>
            <a:off x="1161983" y="1504950"/>
            <a:ext cx="1762342" cy="369332"/>
          </a:xfrm>
          <a:prstGeom prst="rect">
            <a:avLst/>
          </a:prstGeom>
        </p:spPr>
        <p:txBody>
          <a:bodyPr wrap="none">
            <a:spAutoFit/>
          </a:bodyPr>
          <a:lstStyle/>
          <a:p>
            <a:pPr fontAlgn="t"/>
            <a:r>
              <a:rPr lang="en-US" b="1" dirty="0" smtClean="0">
                <a:latin typeface="Times New Roman" pitchFamily="18" charset="0"/>
                <a:cs typeface="Times New Roman" pitchFamily="18" charset="0"/>
              </a:rPr>
              <a:t>There </a:t>
            </a:r>
            <a:r>
              <a:rPr lang="en-US" b="1" dirty="0">
                <a:latin typeface="Times New Roman" pitchFamily="18" charset="0"/>
                <a:cs typeface="Times New Roman" pitchFamily="18" charset="0"/>
              </a:rPr>
              <a:t>are 8</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red </a:t>
            </a:r>
          </a:p>
        </p:txBody>
      </p:sp>
      <p:sp>
        <p:nvSpPr>
          <p:cNvPr id="8" name="Rectangle 7"/>
          <p:cNvSpPr/>
          <p:nvPr/>
        </p:nvSpPr>
        <p:spPr>
          <a:xfrm>
            <a:off x="2663735" y="1513367"/>
            <a:ext cx="1020472" cy="369332"/>
          </a:xfrm>
          <a:prstGeom prst="rect">
            <a:avLst/>
          </a:prstGeom>
        </p:spPr>
        <p:txBody>
          <a:bodyPr wrap="none">
            <a:spAutoFit/>
          </a:bodyPr>
          <a:lstStyle/>
          <a:p>
            <a:r>
              <a:rPr lang="en-US" b="1" dirty="0" smtClean="0">
                <a:latin typeface="Times New Roman" pitchFamily="18" charset="0"/>
                <a:cs typeface="Times New Roman" pitchFamily="18" charset="0"/>
              </a:rPr>
              <a:t>, 7 green</a:t>
            </a:r>
            <a:endParaRPr lang="en-US" dirty="0"/>
          </a:p>
        </p:txBody>
      </p:sp>
      <p:sp>
        <p:nvSpPr>
          <p:cNvPr id="9" name="Rectangle 8"/>
          <p:cNvSpPr/>
          <p:nvPr/>
        </p:nvSpPr>
        <p:spPr>
          <a:xfrm>
            <a:off x="3555422" y="1513367"/>
            <a:ext cx="1473480" cy="369332"/>
          </a:xfrm>
          <a:prstGeom prst="rect">
            <a:avLst/>
          </a:prstGeom>
        </p:spPr>
        <p:txBody>
          <a:bodyPr wrap="none">
            <a:spAutoFit/>
          </a:bodyPr>
          <a:lstStyle/>
          <a:p>
            <a:r>
              <a:rPr lang="en-US" b="1" dirty="0" smtClean="0">
                <a:latin typeface="Times New Roman" pitchFamily="18" charset="0"/>
                <a:cs typeface="Times New Roman" pitchFamily="18" charset="0"/>
              </a:rPr>
              <a:t>, 6 blue balls.</a:t>
            </a:r>
            <a:endParaRPr lang="en-US" dirty="0"/>
          </a:p>
        </p:txBody>
      </p:sp>
      <p:sp>
        <p:nvSpPr>
          <p:cNvPr id="10" name="Rectangle 9"/>
          <p:cNvSpPr/>
          <p:nvPr/>
        </p:nvSpPr>
        <p:spPr>
          <a:xfrm>
            <a:off x="1143000" y="1818167"/>
            <a:ext cx="2464457" cy="369332"/>
          </a:xfrm>
          <a:prstGeom prst="rect">
            <a:avLst/>
          </a:prstGeom>
        </p:spPr>
        <p:txBody>
          <a:bodyPr wrap="none">
            <a:spAutoFit/>
          </a:bodyPr>
          <a:lstStyle/>
          <a:p>
            <a:r>
              <a:rPr lang="en-US" b="1" dirty="0" smtClean="0">
                <a:latin typeface="Times New Roman" pitchFamily="18" charset="0"/>
                <a:cs typeface="Times New Roman" pitchFamily="18" charset="0"/>
              </a:rPr>
              <a:t>Total Number of balls=</a:t>
            </a:r>
            <a:endParaRPr lang="en-US" dirty="0"/>
          </a:p>
        </p:txBody>
      </p:sp>
      <p:sp>
        <p:nvSpPr>
          <p:cNvPr id="11" name="Rectangle 10"/>
          <p:cNvSpPr/>
          <p:nvPr/>
        </p:nvSpPr>
        <p:spPr>
          <a:xfrm>
            <a:off x="3733800" y="1818167"/>
            <a:ext cx="793807" cy="369332"/>
          </a:xfrm>
          <a:prstGeom prst="rect">
            <a:avLst/>
          </a:prstGeom>
        </p:spPr>
        <p:txBody>
          <a:bodyPr wrap="none">
            <a:spAutoFit/>
          </a:bodyPr>
          <a:lstStyle/>
          <a:p>
            <a:r>
              <a:rPr lang="en-US" b="1" dirty="0" smtClean="0">
                <a:latin typeface="Times New Roman" pitchFamily="18" charset="0"/>
                <a:cs typeface="Times New Roman" pitchFamily="18" charset="0"/>
              </a:rPr>
              <a:t>8+7+6</a:t>
            </a:r>
            <a:endParaRPr lang="en-US" dirty="0"/>
          </a:p>
        </p:txBody>
      </p:sp>
      <p:sp>
        <p:nvSpPr>
          <p:cNvPr id="12" name="Rectangle 11"/>
          <p:cNvSpPr/>
          <p:nvPr/>
        </p:nvSpPr>
        <p:spPr>
          <a:xfrm>
            <a:off x="3611859" y="2002833"/>
            <a:ext cx="546945" cy="369332"/>
          </a:xfrm>
          <a:prstGeom prst="rect">
            <a:avLst/>
          </a:prstGeom>
        </p:spPr>
        <p:txBody>
          <a:bodyPr wrap="none">
            <a:spAutoFit/>
          </a:bodyPr>
          <a:lstStyle/>
          <a:p>
            <a:r>
              <a:rPr lang="en-US" b="1" dirty="0" smtClean="0">
                <a:latin typeface="Times New Roman" pitchFamily="18" charset="0"/>
                <a:cs typeface="Times New Roman" pitchFamily="18" charset="0"/>
              </a:rPr>
              <a:t>=21</a:t>
            </a:r>
            <a:endParaRPr lang="en-US" dirty="0"/>
          </a:p>
        </p:txBody>
      </p:sp>
      <p:sp>
        <p:nvSpPr>
          <p:cNvPr id="13" name="Rectangle 12"/>
          <p:cNvSpPr/>
          <p:nvPr/>
        </p:nvSpPr>
        <p:spPr>
          <a:xfrm>
            <a:off x="990600" y="2275367"/>
            <a:ext cx="4624343" cy="369332"/>
          </a:xfrm>
          <a:prstGeom prst="rect">
            <a:avLst/>
          </a:prstGeom>
        </p:spPr>
        <p:txBody>
          <a:bodyPr wrap="none">
            <a:spAutoFit/>
          </a:bodyPr>
          <a:lstStyle/>
          <a:p>
            <a:r>
              <a:rPr lang="en-US" b="1" dirty="0" smtClean="0">
                <a:latin typeface="Times New Roman" pitchFamily="18" charset="0"/>
                <a:cs typeface="Times New Roman" pitchFamily="18" charset="0"/>
              </a:rPr>
              <a:t>Total Number of outcomes for picking 1 balls</a:t>
            </a:r>
            <a:endParaRPr lang="en-US" dirty="0"/>
          </a:p>
        </p:txBody>
      </p:sp>
      <p:sp>
        <p:nvSpPr>
          <p:cNvPr id="19" name="Rectangle 18"/>
          <p:cNvSpPr/>
          <p:nvPr/>
        </p:nvSpPr>
        <p:spPr>
          <a:xfrm>
            <a:off x="5486400" y="2311092"/>
            <a:ext cx="316112" cy="369332"/>
          </a:xfrm>
          <a:prstGeom prst="rect">
            <a:avLst/>
          </a:prstGeom>
        </p:spPr>
        <p:txBody>
          <a:bodyPr wrap="none">
            <a:spAutoFit/>
          </a:bodyPr>
          <a:lstStyle/>
          <a:p>
            <a:r>
              <a:rPr lang="en-US" b="1" dirty="0" smtClean="0">
                <a:latin typeface="Times New Roman" pitchFamily="18" charset="0"/>
                <a:cs typeface="Times New Roman" pitchFamily="18" charset="0"/>
              </a:rPr>
              <a:t>=</a:t>
            </a:r>
            <a:endParaRPr lang="en-US" dirty="0"/>
          </a:p>
        </p:txBody>
      </p:sp>
      <p:sp>
        <p:nvSpPr>
          <p:cNvPr id="20" name="Rectangle 19"/>
          <p:cNvSpPr/>
          <p:nvPr/>
        </p:nvSpPr>
        <p:spPr>
          <a:xfrm>
            <a:off x="5649433" y="2288216"/>
            <a:ext cx="415498" cy="369332"/>
          </a:xfrm>
          <a:prstGeom prst="rect">
            <a:avLst/>
          </a:prstGeom>
        </p:spPr>
        <p:txBody>
          <a:bodyPr wrap="none">
            <a:spAutoFit/>
          </a:bodyPr>
          <a:lstStyle/>
          <a:p>
            <a:r>
              <a:rPr lang="en-US" b="1" dirty="0" smtClean="0">
                <a:latin typeface="Times New Roman" pitchFamily="18" charset="0"/>
                <a:cs typeface="Times New Roman" pitchFamily="18" charset="0"/>
              </a:rPr>
              <a:t>21</a:t>
            </a:r>
            <a:endParaRPr lang="en-US" dirty="0"/>
          </a:p>
        </p:txBody>
      </p:sp>
      <p:sp>
        <p:nvSpPr>
          <p:cNvPr id="21" name="Rectangle 20"/>
          <p:cNvSpPr/>
          <p:nvPr/>
        </p:nvSpPr>
        <p:spPr>
          <a:xfrm>
            <a:off x="913529" y="3049756"/>
            <a:ext cx="4440867" cy="369332"/>
          </a:xfrm>
          <a:prstGeom prst="rect">
            <a:avLst/>
          </a:prstGeom>
        </p:spPr>
        <p:txBody>
          <a:bodyPr wrap="square">
            <a:spAutoFit/>
          </a:bodyPr>
          <a:lstStyle/>
          <a:p>
            <a:r>
              <a:rPr lang="en-US" b="1" dirty="0" smtClean="0">
                <a:latin typeface="Times New Roman" pitchFamily="18" charset="0"/>
                <a:cs typeface="Times New Roman" pitchFamily="18" charset="0"/>
              </a:rPr>
              <a:t>Favorable Number of outcomes for event E</a:t>
            </a:r>
            <a:endParaRPr lang="en-US" dirty="0"/>
          </a:p>
        </p:txBody>
      </p:sp>
      <p:sp>
        <p:nvSpPr>
          <p:cNvPr id="28" name="Rectangle 27"/>
          <p:cNvSpPr/>
          <p:nvPr/>
        </p:nvSpPr>
        <p:spPr>
          <a:xfrm>
            <a:off x="5257800" y="3063653"/>
            <a:ext cx="513282" cy="369332"/>
          </a:xfrm>
          <a:prstGeom prst="rect">
            <a:avLst/>
          </a:prstGeom>
        </p:spPr>
        <p:txBody>
          <a:bodyPr wrap="none">
            <a:spAutoFit/>
          </a:bodyPr>
          <a:lstStyle/>
          <a:p>
            <a:r>
              <a:rPr lang="en-US" dirty="0" smtClean="0"/>
              <a:t>=7</a:t>
            </a:r>
            <a:endParaRPr lang="en-US" dirty="0"/>
          </a:p>
        </p:txBody>
      </p:sp>
      <p:sp>
        <p:nvSpPr>
          <p:cNvPr id="30" name="Rectangle 29"/>
          <p:cNvSpPr/>
          <p:nvPr/>
        </p:nvSpPr>
        <p:spPr>
          <a:xfrm>
            <a:off x="3873807" y="3485221"/>
            <a:ext cx="607859" cy="369332"/>
          </a:xfrm>
          <a:prstGeom prst="rect">
            <a:avLst/>
          </a:prstGeom>
        </p:spPr>
        <p:txBody>
          <a:bodyPr wrap="none">
            <a:spAutoFit/>
          </a:bodyPr>
          <a:lstStyle/>
          <a:p>
            <a:pPr fontAlgn="t"/>
            <a:r>
              <a:rPr lang="en-US" dirty="0" smtClean="0">
                <a:latin typeface="Times New Roman" pitchFamily="18" charset="0"/>
                <a:cs typeface="Times New Roman" pitchFamily="18" charset="0"/>
              </a:rPr>
              <a:t>P(E)</a:t>
            </a:r>
            <a:endParaRPr lang="en-US" dirty="0">
              <a:latin typeface="Times New Roman" pitchFamily="18" charset="0"/>
              <a:cs typeface="Times New Roman" pitchFamily="18" charset="0"/>
            </a:endParaRPr>
          </a:p>
        </p:txBody>
      </p:sp>
      <p:sp>
        <p:nvSpPr>
          <p:cNvPr id="31" name="Rectangle 30"/>
          <p:cNvSpPr/>
          <p:nvPr/>
        </p:nvSpPr>
        <p:spPr>
          <a:xfrm>
            <a:off x="4367081" y="3533438"/>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32" name="Rectangle 31"/>
          <p:cNvSpPr/>
          <p:nvPr/>
        </p:nvSpPr>
        <p:spPr>
          <a:xfrm>
            <a:off x="4678024" y="3333750"/>
            <a:ext cx="619080" cy="384721"/>
          </a:xfrm>
          <a:prstGeom prst="rect">
            <a:avLst/>
          </a:prstGeom>
        </p:spPr>
        <p:txBody>
          <a:bodyPr wrap="none">
            <a:spAutoFit/>
          </a:bodyPr>
          <a:lstStyle/>
          <a:p>
            <a:r>
              <a:rPr lang="en-US" sz="1900" dirty="0" smtClean="0">
                <a:latin typeface="Times New Roman" pitchFamily="18" charset="0"/>
                <a:cs typeface="Times New Roman" pitchFamily="18" charset="0"/>
              </a:rPr>
              <a:t>n(E)</a:t>
            </a:r>
            <a:endParaRPr lang="en-US" sz="1900" dirty="0">
              <a:latin typeface="Times New Roman" pitchFamily="18" charset="0"/>
              <a:cs typeface="Times New Roman" pitchFamily="18" charset="0"/>
            </a:endParaRPr>
          </a:p>
        </p:txBody>
      </p:sp>
      <p:cxnSp>
        <p:nvCxnSpPr>
          <p:cNvPr id="33" name="Straight Connector 32"/>
          <p:cNvCxnSpPr/>
          <p:nvPr/>
        </p:nvCxnSpPr>
        <p:spPr>
          <a:xfrm>
            <a:off x="4656749" y="3718471"/>
            <a:ext cx="707075" cy="0"/>
          </a:xfrm>
          <a:prstGeom prst="line">
            <a:avLst/>
          </a:prstGeom>
          <a:ln w="28575"/>
        </p:spPr>
        <p:style>
          <a:lnRef idx="1">
            <a:schemeClr val="dk1"/>
          </a:lnRef>
          <a:fillRef idx="0">
            <a:schemeClr val="dk1"/>
          </a:fillRef>
          <a:effectRef idx="0">
            <a:schemeClr val="dk1"/>
          </a:effectRef>
          <a:fontRef idx="minor">
            <a:schemeClr val="tx1"/>
          </a:fontRef>
        </p:style>
      </p:cxnSp>
      <p:sp>
        <p:nvSpPr>
          <p:cNvPr id="34" name="Rectangle 33"/>
          <p:cNvSpPr/>
          <p:nvPr/>
        </p:nvSpPr>
        <p:spPr>
          <a:xfrm>
            <a:off x="4678024" y="3714750"/>
            <a:ext cx="606256" cy="384721"/>
          </a:xfrm>
          <a:prstGeom prst="rect">
            <a:avLst/>
          </a:prstGeom>
        </p:spPr>
        <p:txBody>
          <a:bodyPr wrap="none">
            <a:spAutoFit/>
          </a:bodyPr>
          <a:lstStyle/>
          <a:p>
            <a:r>
              <a:rPr lang="en-US" sz="1900" dirty="0" smtClean="0">
                <a:latin typeface="Times New Roman" pitchFamily="18" charset="0"/>
                <a:cs typeface="Times New Roman" pitchFamily="18" charset="0"/>
              </a:rPr>
              <a:t>n(S)</a:t>
            </a:r>
            <a:endParaRPr lang="en-US" sz="1900" dirty="0">
              <a:latin typeface="Times New Roman" pitchFamily="18" charset="0"/>
              <a:cs typeface="Times New Roman" pitchFamily="18" charset="0"/>
            </a:endParaRPr>
          </a:p>
        </p:txBody>
      </p:sp>
      <p:sp>
        <p:nvSpPr>
          <p:cNvPr id="35" name="Rectangle 34"/>
          <p:cNvSpPr/>
          <p:nvPr/>
        </p:nvSpPr>
        <p:spPr>
          <a:xfrm>
            <a:off x="5668615" y="3347395"/>
            <a:ext cx="306494" cy="384721"/>
          </a:xfrm>
          <a:prstGeom prst="rect">
            <a:avLst/>
          </a:prstGeom>
        </p:spPr>
        <p:txBody>
          <a:bodyPr wrap="none">
            <a:spAutoFit/>
          </a:bodyPr>
          <a:lstStyle/>
          <a:p>
            <a:r>
              <a:rPr lang="en-US" sz="1900" dirty="0">
                <a:latin typeface="Times New Roman" pitchFamily="18" charset="0"/>
                <a:cs typeface="Times New Roman" pitchFamily="18" charset="0"/>
              </a:rPr>
              <a:t>7</a:t>
            </a:r>
          </a:p>
        </p:txBody>
      </p:sp>
      <p:cxnSp>
        <p:nvCxnSpPr>
          <p:cNvPr id="36" name="Straight Connector 35"/>
          <p:cNvCxnSpPr/>
          <p:nvPr/>
        </p:nvCxnSpPr>
        <p:spPr>
          <a:xfrm flipV="1">
            <a:off x="5723549" y="3718104"/>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37" name="Rectangle 36"/>
          <p:cNvSpPr/>
          <p:nvPr/>
        </p:nvSpPr>
        <p:spPr>
          <a:xfrm>
            <a:off x="5351422" y="3532403"/>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38" name="Rectangle 37"/>
          <p:cNvSpPr/>
          <p:nvPr/>
        </p:nvSpPr>
        <p:spPr>
          <a:xfrm>
            <a:off x="5659393" y="3688421"/>
            <a:ext cx="428322" cy="384721"/>
          </a:xfrm>
          <a:prstGeom prst="rect">
            <a:avLst/>
          </a:prstGeom>
        </p:spPr>
        <p:txBody>
          <a:bodyPr wrap="none">
            <a:spAutoFit/>
          </a:bodyPr>
          <a:lstStyle/>
          <a:p>
            <a:r>
              <a:rPr lang="en-US" sz="1900" dirty="0" smtClean="0">
                <a:latin typeface="Times New Roman" pitchFamily="18" charset="0"/>
                <a:cs typeface="Times New Roman" pitchFamily="18" charset="0"/>
              </a:rPr>
              <a:t>21</a:t>
            </a:r>
            <a:endParaRPr lang="en-US" sz="1900" dirty="0">
              <a:latin typeface="Times New Roman" pitchFamily="18" charset="0"/>
              <a:cs typeface="Times New Roman" pitchFamily="18" charset="0"/>
            </a:endParaRPr>
          </a:p>
        </p:txBody>
      </p:sp>
      <p:sp>
        <p:nvSpPr>
          <p:cNvPr id="43" name="Rectangle 42"/>
          <p:cNvSpPr/>
          <p:nvPr/>
        </p:nvSpPr>
        <p:spPr>
          <a:xfrm>
            <a:off x="815302" y="2680424"/>
            <a:ext cx="6950838" cy="369332"/>
          </a:xfrm>
          <a:prstGeom prst="rect">
            <a:avLst/>
          </a:prstGeom>
        </p:spPr>
        <p:txBody>
          <a:bodyPr wrap="square">
            <a:spAutoFit/>
          </a:bodyPr>
          <a:lstStyle/>
          <a:p>
            <a:r>
              <a:rPr lang="en-US" b="1" dirty="0" smtClean="0">
                <a:latin typeface="Times New Roman" pitchFamily="18" charset="0"/>
                <a:cs typeface="Times New Roman" pitchFamily="18" charset="0"/>
              </a:rPr>
              <a:t>Let E is the event of that ball drawn is neither red nor green balls</a:t>
            </a:r>
            <a:endParaRPr lang="en-US" dirty="0"/>
          </a:p>
        </p:txBody>
      </p:sp>
      <p:sp>
        <p:nvSpPr>
          <p:cNvPr id="39" name="Rectangle 38"/>
          <p:cNvSpPr/>
          <p:nvPr/>
        </p:nvSpPr>
        <p:spPr>
          <a:xfrm>
            <a:off x="6400800" y="3369074"/>
            <a:ext cx="306494" cy="384721"/>
          </a:xfrm>
          <a:prstGeom prst="rect">
            <a:avLst/>
          </a:prstGeom>
        </p:spPr>
        <p:txBody>
          <a:bodyPr wrap="none">
            <a:spAutoFit/>
          </a:bodyPr>
          <a:lstStyle/>
          <a:p>
            <a:r>
              <a:rPr lang="en-US" sz="1900" dirty="0" smtClean="0">
                <a:latin typeface="Times New Roman" pitchFamily="18" charset="0"/>
                <a:cs typeface="Times New Roman" pitchFamily="18" charset="0"/>
              </a:rPr>
              <a:t>1</a:t>
            </a:r>
            <a:endParaRPr lang="en-US" sz="1900" dirty="0">
              <a:latin typeface="Times New Roman" pitchFamily="18" charset="0"/>
              <a:cs typeface="Times New Roman" pitchFamily="18" charset="0"/>
            </a:endParaRPr>
          </a:p>
        </p:txBody>
      </p:sp>
      <p:cxnSp>
        <p:nvCxnSpPr>
          <p:cNvPr id="40" name="Straight Connector 39"/>
          <p:cNvCxnSpPr/>
          <p:nvPr/>
        </p:nvCxnSpPr>
        <p:spPr>
          <a:xfrm flipV="1">
            <a:off x="6455734" y="3739783"/>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41" name="Rectangle 40"/>
          <p:cNvSpPr/>
          <p:nvPr/>
        </p:nvSpPr>
        <p:spPr>
          <a:xfrm>
            <a:off x="6083607" y="3495854"/>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42" name="Rectangle 41"/>
          <p:cNvSpPr/>
          <p:nvPr/>
        </p:nvSpPr>
        <p:spPr>
          <a:xfrm>
            <a:off x="6391578" y="3710100"/>
            <a:ext cx="306494" cy="384721"/>
          </a:xfrm>
          <a:prstGeom prst="rect">
            <a:avLst/>
          </a:prstGeom>
        </p:spPr>
        <p:txBody>
          <a:bodyPr wrap="none">
            <a:spAutoFit/>
          </a:bodyPr>
          <a:lstStyle/>
          <a:p>
            <a:r>
              <a:rPr lang="en-US" sz="1900" dirty="0">
                <a:latin typeface="Times New Roman" pitchFamily="18" charset="0"/>
                <a:cs typeface="Times New Roman" pitchFamily="18" charset="0"/>
              </a:rPr>
              <a:t>3</a:t>
            </a:r>
          </a:p>
        </p:txBody>
      </p:sp>
    </p:spTree>
    <p:extLst>
      <p:ext uri="{BB962C8B-B14F-4D97-AF65-F5344CB8AC3E}">
        <p14:creationId xmlns:p14="http://schemas.microsoft.com/office/powerpoint/2010/main" val="1748898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wipe(left)">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left)">
                                      <p:cBhvr>
                                        <p:cTn id="82" dur="500"/>
                                        <p:tgtEl>
                                          <p:spTgt spid="3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wipe(left)">
                                      <p:cBhvr>
                                        <p:cTn id="87"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wipe(left)">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wipe(left)">
                                      <p:cBhvr>
                                        <p:cTn id="97" dur="500"/>
                                        <p:tgtEl>
                                          <p:spTgt spid="35"/>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wipe(left)">
                                      <p:cBhvr>
                                        <p:cTn id="102" dur="500"/>
                                        <p:tgtEl>
                                          <p:spTgt spid="3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wipe(left)">
                                      <p:cBhvr>
                                        <p:cTn id="107" dur="500"/>
                                        <p:tgtEl>
                                          <p:spTgt spid="3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wipe(left)">
                                      <p:cBhvr>
                                        <p:cTn id="112" dur="5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wipe(left)">
                                      <p:cBhvr>
                                        <p:cTn id="117" dur="500"/>
                                        <p:tgtEl>
                                          <p:spTgt spid="39"/>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40"/>
                                        </p:tgtEl>
                                        <p:attrNameLst>
                                          <p:attrName>style.visibility</p:attrName>
                                        </p:attrNameLst>
                                      </p:cBhvr>
                                      <p:to>
                                        <p:strVal val="visible"/>
                                      </p:to>
                                    </p:set>
                                    <p:animEffect transition="in" filter="wipe(left)">
                                      <p:cBhvr>
                                        <p:cTn id="122" dur="500"/>
                                        <p:tgtEl>
                                          <p:spTgt spid="4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41"/>
                                        </p:tgtEl>
                                        <p:attrNameLst>
                                          <p:attrName>style.visibility</p:attrName>
                                        </p:attrNameLst>
                                      </p:cBhvr>
                                      <p:to>
                                        <p:strVal val="visible"/>
                                      </p:to>
                                    </p:set>
                                    <p:animEffect transition="in" filter="wipe(left)">
                                      <p:cBhvr>
                                        <p:cTn id="127" dur="500"/>
                                        <p:tgtEl>
                                          <p:spTgt spid="4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2"/>
                                        </p:tgtEl>
                                        <p:attrNameLst>
                                          <p:attrName>style.visibility</p:attrName>
                                        </p:attrNameLst>
                                      </p:cBhvr>
                                      <p:to>
                                        <p:strVal val="visible"/>
                                      </p:to>
                                    </p:set>
                                    <p:animEffect transition="in" filter="wipe(left)">
                                      <p:cBhvr>
                                        <p:cTn id="13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9" grpId="0"/>
      <p:bldP spid="20" grpId="0"/>
      <p:bldP spid="21" grpId="0"/>
      <p:bldP spid="28" grpId="0"/>
      <p:bldP spid="30" grpId="0"/>
      <p:bldP spid="31" grpId="0"/>
      <p:bldP spid="32" grpId="0"/>
      <p:bldP spid="34" grpId="0"/>
      <p:bldP spid="35" grpId="0"/>
      <p:bldP spid="37" grpId="0"/>
      <p:bldP spid="38" grpId="0"/>
      <p:bldP spid="43" grpId="0"/>
      <p:bldP spid="39" grpId="0"/>
      <p:bldP spid="41" grpId="0"/>
      <p:bldP spid="4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142341"/>
            <a:ext cx="3496470" cy="461665"/>
          </a:xfrm>
          <a:prstGeom prst="rect">
            <a:avLst/>
          </a:prstGeom>
        </p:spPr>
        <p:txBody>
          <a:bodyPr wrap="none">
            <a:spAutoFit/>
          </a:bodyPr>
          <a:lstStyle/>
          <a:p>
            <a:r>
              <a:rPr lang="en-US" sz="2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3" name="Rectangle 22"/>
              <p:cNvSpPr/>
              <p:nvPr/>
            </p:nvSpPr>
            <p:spPr>
              <a:xfrm>
                <a:off x="287046" y="590550"/>
                <a:ext cx="8475953" cy="1050544"/>
              </a:xfrm>
              <a:prstGeom prst="rect">
                <a:avLst/>
              </a:prstGeom>
            </p:spPr>
            <p:txBody>
              <a:bodyPr wrap="square">
                <a:spAutoFit/>
              </a:bodyPr>
              <a:lstStyle/>
              <a:p>
                <a:r>
                  <a:rPr lang="en-US" b="1" dirty="0" smtClean="0">
                    <a:solidFill>
                      <a:srgbClr val="FF0000"/>
                    </a:solidFill>
                    <a:latin typeface="Times New Roman" pitchFamily="18" charset="0"/>
                    <a:cs typeface="Times New Roman" pitchFamily="18" charset="0"/>
                  </a:rPr>
                  <a:t>If </a:t>
                </a:r>
                <a:r>
                  <a:rPr lang="en-US" b="1" dirty="0">
                    <a:solidFill>
                      <a:srgbClr val="FF0000"/>
                    </a:solidFill>
                    <a:latin typeface="Times New Roman" pitchFamily="18" charset="0"/>
                    <a:cs typeface="Times New Roman" pitchFamily="18" charset="0"/>
                  </a:rPr>
                  <a:t>two dice are thrown simultaneously, then find the probability that the </a:t>
                </a:r>
                <a:r>
                  <a:rPr lang="en-US" b="1" dirty="0" smtClean="0">
                    <a:solidFill>
                      <a:srgbClr val="FF0000"/>
                    </a:solidFill>
                    <a:latin typeface="Times New Roman" pitchFamily="18" charset="0"/>
                    <a:cs typeface="Times New Roman" pitchFamily="18" charset="0"/>
                  </a:rPr>
                  <a:t>sum </a:t>
                </a:r>
                <a:r>
                  <a:rPr lang="en-US" b="1" dirty="0">
                    <a:solidFill>
                      <a:srgbClr val="FF0000"/>
                    </a:solidFill>
                    <a:latin typeface="Times New Roman" pitchFamily="18" charset="0"/>
                    <a:cs typeface="Times New Roman" pitchFamily="18" charset="0"/>
                  </a:rPr>
                  <a:t>of numbers appeared on the dice is 6 or 7? </a:t>
                </a:r>
                <a:endParaRPr lang="en-US" b="1" dirty="0" smtClean="0">
                  <a:solidFill>
                    <a:srgbClr val="FF0000"/>
                  </a:solidFill>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	A. </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𝟓</m:t>
                        </m:r>
                      </m:num>
                      <m:den>
                        <m:r>
                          <a:rPr lang="en-US" b="1" i="1" dirty="0" smtClean="0">
                            <a:solidFill>
                              <a:srgbClr val="FF0000"/>
                            </a:solidFill>
                            <a:latin typeface="Cambria Math"/>
                            <a:cs typeface="Times New Roman" pitchFamily="18" charset="0"/>
                          </a:rPr>
                          <m:t>𝟔</m:t>
                        </m:r>
                      </m:den>
                    </m:f>
                  </m:oMath>
                </a14:m>
                <a:r>
                  <a:rPr lang="en-US" b="1" dirty="0" smtClean="0">
                    <a:solidFill>
                      <a:srgbClr val="FF0000"/>
                    </a:solidFill>
                    <a:latin typeface="Times New Roman" pitchFamily="18" charset="0"/>
                    <a:cs typeface="Times New Roman" pitchFamily="18" charset="0"/>
                  </a:rPr>
                  <a:t>		B.</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𝟓</m:t>
                        </m:r>
                      </m:num>
                      <m:den>
                        <m:r>
                          <a:rPr lang="en-US" b="1" i="1" dirty="0" smtClean="0">
                            <a:solidFill>
                              <a:srgbClr val="FF0000"/>
                            </a:solidFill>
                            <a:latin typeface="Cambria Math"/>
                            <a:cs typeface="Times New Roman" pitchFamily="18" charset="0"/>
                          </a:rPr>
                          <m:t>𝟑𝟔</m:t>
                        </m:r>
                      </m:den>
                    </m:f>
                  </m:oMath>
                </a14:m>
                <a:r>
                  <a:rPr lang="en-US"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𝟕</m:t>
                        </m:r>
                      </m:num>
                      <m:den>
                        <m:r>
                          <a:rPr lang="en-US" b="1" i="1" dirty="0" smtClean="0">
                            <a:solidFill>
                              <a:srgbClr val="FF0000"/>
                            </a:solidFill>
                            <a:latin typeface="Cambria Math"/>
                            <a:cs typeface="Times New Roman" pitchFamily="18" charset="0"/>
                          </a:rPr>
                          <m:t>𝟑𝟔</m:t>
                        </m:r>
                      </m:den>
                    </m:f>
                  </m:oMath>
                </a14:m>
                <a:r>
                  <a:rPr lang="en-US"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b="1" i="1" dirty="0" smtClean="0">
                            <a:solidFill>
                              <a:srgbClr val="FF0000"/>
                            </a:solidFill>
                            <a:latin typeface="Cambria Math"/>
                            <a:cs typeface="Times New Roman" pitchFamily="18" charset="0"/>
                          </a:rPr>
                        </m:ctrlPr>
                      </m:fPr>
                      <m:num>
                        <m:r>
                          <a:rPr lang="en-US" b="1" i="1" dirty="0" smtClean="0">
                            <a:solidFill>
                              <a:srgbClr val="FF0000"/>
                            </a:solidFill>
                            <a:latin typeface="Cambria Math"/>
                            <a:cs typeface="Times New Roman" pitchFamily="18" charset="0"/>
                          </a:rPr>
                          <m:t>𝟏𝟏</m:t>
                        </m:r>
                      </m:num>
                      <m:den>
                        <m:r>
                          <a:rPr lang="en-US" b="1" i="1" dirty="0" smtClean="0">
                            <a:solidFill>
                              <a:srgbClr val="FF0000"/>
                            </a:solidFill>
                            <a:latin typeface="Cambria Math"/>
                            <a:cs typeface="Times New Roman" pitchFamily="18" charset="0"/>
                          </a:rPr>
                          <m:t>𝟑𝟔</m:t>
                        </m:r>
                      </m:den>
                    </m:f>
                  </m:oMath>
                </a14:m>
                <a:endParaRPr lang="en-US" b="1" dirty="0">
                  <a:solidFill>
                    <a:srgbClr val="FF0000"/>
                  </a:solidFill>
                  <a:latin typeface="Times New Roman" pitchFamily="18" charset="0"/>
                  <a:cs typeface="Times New Roman" pitchFamily="18" charset="0"/>
                </a:endParaRPr>
              </a:p>
            </p:txBody>
          </p:sp>
        </mc:Choice>
        <mc:Fallback xmlns="">
          <p:sp>
            <p:nvSpPr>
              <p:cNvPr id="23" name="Rectangle 22"/>
              <p:cNvSpPr>
                <a:spLocks noRot="1" noChangeAspect="1" noMove="1" noResize="1" noEditPoints="1" noAdjustHandles="1" noChangeArrowheads="1" noChangeShapeType="1" noTextEdit="1"/>
              </p:cNvSpPr>
              <p:nvPr/>
            </p:nvSpPr>
            <p:spPr>
              <a:xfrm>
                <a:off x="287046" y="590550"/>
                <a:ext cx="8475953" cy="1050544"/>
              </a:xfrm>
              <a:prstGeom prst="rect">
                <a:avLst/>
              </a:prstGeom>
              <a:blipFill rotWithShape="1">
                <a:blip r:embed="rId3"/>
                <a:stretch>
                  <a:fillRect l="-576" t="-2907" b="-2907"/>
                </a:stretch>
              </a:blipFill>
            </p:spPr>
            <p:txBody>
              <a:bodyPr/>
              <a:lstStyle/>
              <a:p>
                <a:r>
                  <a:rPr lang="en-US">
                    <a:noFill/>
                  </a:rPr>
                  <a:t> </a:t>
                </a:r>
              </a:p>
            </p:txBody>
          </p:sp>
        </mc:Fallback>
      </mc:AlternateContent>
      <p:sp>
        <p:nvSpPr>
          <p:cNvPr id="6" name="Rectangle 5"/>
          <p:cNvSpPr/>
          <p:nvPr/>
        </p:nvSpPr>
        <p:spPr>
          <a:xfrm>
            <a:off x="7766140" y="1432001"/>
            <a:ext cx="793807" cy="369332"/>
          </a:xfrm>
          <a:prstGeom prst="rect">
            <a:avLst/>
          </a:prstGeom>
        </p:spPr>
        <p:txBody>
          <a:bodyPr wrap="none">
            <a:spAutoFit/>
          </a:bodyPr>
          <a:lstStyle/>
          <a:p>
            <a:pPr fontAlgn="t"/>
            <a:r>
              <a:rPr lang="en-US" b="1" dirty="0">
                <a:latin typeface="Times New Roman" pitchFamily="18" charset="0"/>
                <a:cs typeface="Times New Roman" pitchFamily="18" charset="0"/>
              </a:rPr>
              <a:t>Ans </a:t>
            </a:r>
            <a:r>
              <a:rPr lang="en-US" b="1" dirty="0" smtClean="0">
                <a:latin typeface="Times New Roman" pitchFamily="18" charset="0"/>
                <a:cs typeface="Times New Roman" pitchFamily="18" charset="0"/>
              </a:rPr>
              <a:t>D</a:t>
            </a:r>
            <a:endParaRPr lang="en-US" b="1" dirty="0">
              <a:latin typeface="Times New Roman" pitchFamily="18" charset="0"/>
              <a:cs typeface="Times New Roman" pitchFamily="18" charset="0"/>
            </a:endParaRPr>
          </a:p>
        </p:txBody>
      </p:sp>
      <p:sp>
        <p:nvSpPr>
          <p:cNvPr id="44" name="Rectangle 43"/>
          <p:cNvSpPr/>
          <p:nvPr/>
        </p:nvSpPr>
        <p:spPr>
          <a:xfrm>
            <a:off x="685800" y="1798675"/>
            <a:ext cx="4927952" cy="369332"/>
          </a:xfrm>
          <a:prstGeom prst="rect">
            <a:avLst/>
          </a:prstGeom>
        </p:spPr>
        <p:txBody>
          <a:bodyPr wrap="none">
            <a:spAutoFit/>
          </a:bodyPr>
          <a:lstStyle/>
          <a:p>
            <a:pPr fontAlgn="t"/>
            <a:r>
              <a:rPr lang="en-US" b="1" dirty="0" smtClean="0">
                <a:latin typeface="Times New Roman" pitchFamily="18" charset="0"/>
                <a:cs typeface="Times New Roman" pitchFamily="18" charset="0"/>
              </a:rPr>
              <a:t>Total number of outcomes for throwing two dice</a:t>
            </a:r>
            <a:endParaRPr lang="en-US" b="1" dirty="0">
              <a:latin typeface="Times New Roman" pitchFamily="18" charset="0"/>
              <a:cs typeface="Times New Roman" pitchFamily="18" charset="0"/>
            </a:endParaRPr>
          </a:p>
        </p:txBody>
      </p:sp>
      <p:sp>
        <p:nvSpPr>
          <p:cNvPr id="7" name="Rectangle 6"/>
          <p:cNvSpPr/>
          <p:nvPr/>
        </p:nvSpPr>
        <p:spPr>
          <a:xfrm>
            <a:off x="5562600" y="1818607"/>
            <a:ext cx="546945" cy="369332"/>
          </a:xfrm>
          <a:prstGeom prst="rect">
            <a:avLst/>
          </a:prstGeom>
        </p:spPr>
        <p:txBody>
          <a:bodyPr wrap="none">
            <a:spAutoFit/>
          </a:bodyPr>
          <a:lstStyle/>
          <a:p>
            <a:pPr fontAlgn="t"/>
            <a:r>
              <a:rPr lang="en-US" b="1" dirty="0" smtClean="0">
                <a:latin typeface="Times New Roman" pitchFamily="18" charset="0"/>
                <a:cs typeface="Times New Roman" pitchFamily="18" charset="0"/>
              </a:rPr>
              <a:t>=36</a:t>
            </a:r>
            <a:endParaRPr lang="en-US" b="1" dirty="0">
              <a:latin typeface="Times New Roman" pitchFamily="18" charset="0"/>
              <a:cs typeface="Times New Roman" pitchFamily="18" charset="0"/>
            </a:endParaRPr>
          </a:p>
        </p:txBody>
      </p:sp>
      <p:sp>
        <p:nvSpPr>
          <p:cNvPr id="8" name="Rectangle 7"/>
          <p:cNvSpPr/>
          <p:nvPr/>
        </p:nvSpPr>
        <p:spPr>
          <a:xfrm>
            <a:off x="609600" y="2202418"/>
            <a:ext cx="4373954" cy="369332"/>
          </a:xfrm>
          <a:prstGeom prst="rect">
            <a:avLst/>
          </a:prstGeom>
        </p:spPr>
        <p:txBody>
          <a:bodyPr wrap="none">
            <a:spAutoFit/>
          </a:bodyPr>
          <a:lstStyle/>
          <a:p>
            <a:pPr fontAlgn="t"/>
            <a:r>
              <a:rPr lang="en-US" b="1" dirty="0" smtClean="0">
                <a:latin typeface="Times New Roman" pitchFamily="18" charset="0"/>
                <a:cs typeface="Times New Roman" pitchFamily="18" charset="0"/>
              </a:rPr>
              <a:t>Favorable outcomes for getting a sum of 6 </a:t>
            </a:r>
            <a:endParaRPr lang="en-US" b="1" dirty="0">
              <a:latin typeface="Times New Roman" pitchFamily="18" charset="0"/>
              <a:cs typeface="Times New Roman" pitchFamily="18" charset="0"/>
            </a:endParaRPr>
          </a:p>
        </p:txBody>
      </p:sp>
      <p:sp>
        <p:nvSpPr>
          <p:cNvPr id="9" name="Rectangle 8"/>
          <p:cNvSpPr/>
          <p:nvPr/>
        </p:nvSpPr>
        <p:spPr>
          <a:xfrm>
            <a:off x="4867772" y="2197242"/>
            <a:ext cx="2810385" cy="369332"/>
          </a:xfrm>
          <a:prstGeom prst="rect">
            <a:avLst/>
          </a:prstGeom>
        </p:spPr>
        <p:txBody>
          <a:bodyPr wrap="none">
            <a:spAutoFit/>
          </a:bodyPr>
          <a:lstStyle/>
          <a:p>
            <a:pPr fontAlgn="t"/>
            <a:r>
              <a:rPr lang="en-US" b="1" dirty="0" smtClean="0">
                <a:latin typeface="Times New Roman" pitchFamily="18" charset="0"/>
                <a:cs typeface="Times New Roman" pitchFamily="18" charset="0"/>
              </a:rPr>
              <a:t>{(1,5)( 2,4) (3,3) (4,2) (5,1)}</a:t>
            </a:r>
            <a:endParaRPr lang="en-US" b="1" dirty="0">
              <a:latin typeface="Times New Roman" pitchFamily="18" charset="0"/>
              <a:cs typeface="Times New Roman" pitchFamily="18" charset="0"/>
            </a:endParaRPr>
          </a:p>
        </p:txBody>
      </p:sp>
      <p:sp>
        <p:nvSpPr>
          <p:cNvPr id="10" name="Rectangle 9"/>
          <p:cNvSpPr/>
          <p:nvPr/>
        </p:nvSpPr>
        <p:spPr>
          <a:xfrm>
            <a:off x="533400" y="2507218"/>
            <a:ext cx="4373954" cy="369332"/>
          </a:xfrm>
          <a:prstGeom prst="rect">
            <a:avLst/>
          </a:prstGeom>
        </p:spPr>
        <p:txBody>
          <a:bodyPr wrap="none">
            <a:spAutoFit/>
          </a:bodyPr>
          <a:lstStyle/>
          <a:p>
            <a:pPr fontAlgn="t"/>
            <a:r>
              <a:rPr lang="en-US" b="1" dirty="0" smtClean="0">
                <a:latin typeface="Times New Roman" pitchFamily="18" charset="0"/>
                <a:cs typeface="Times New Roman" pitchFamily="18" charset="0"/>
              </a:rPr>
              <a:t>Favorable outcomes for getting a sum of 7 </a:t>
            </a:r>
            <a:endParaRPr lang="en-US" b="1" dirty="0">
              <a:latin typeface="Times New Roman" pitchFamily="18" charset="0"/>
              <a:cs typeface="Times New Roman" pitchFamily="18" charset="0"/>
            </a:endParaRPr>
          </a:p>
        </p:txBody>
      </p:sp>
      <p:sp>
        <p:nvSpPr>
          <p:cNvPr id="11" name="Rectangle 10"/>
          <p:cNvSpPr/>
          <p:nvPr/>
        </p:nvSpPr>
        <p:spPr>
          <a:xfrm>
            <a:off x="4955755" y="2504257"/>
            <a:ext cx="3310522" cy="369332"/>
          </a:xfrm>
          <a:prstGeom prst="rect">
            <a:avLst/>
          </a:prstGeom>
        </p:spPr>
        <p:txBody>
          <a:bodyPr wrap="none">
            <a:spAutoFit/>
          </a:bodyPr>
          <a:lstStyle/>
          <a:p>
            <a:pPr fontAlgn="t"/>
            <a:r>
              <a:rPr lang="en-US" b="1" dirty="0" smtClean="0">
                <a:latin typeface="Times New Roman" pitchFamily="18" charset="0"/>
                <a:cs typeface="Times New Roman" pitchFamily="18" charset="0"/>
              </a:rPr>
              <a:t>{(1,6)( 2,5) (3,4) (4,3) (5,2) (6,1)}</a:t>
            </a:r>
            <a:endParaRPr lang="en-US" b="1" dirty="0">
              <a:latin typeface="Times New Roman" pitchFamily="18" charset="0"/>
              <a:cs typeface="Times New Roman" pitchFamily="18" charset="0"/>
            </a:endParaRPr>
          </a:p>
        </p:txBody>
      </p:sp>
      <p:sp>
        <p:nvSpPr>
          <p:cNvPr id="12" name="Rectangle 11"/>
          <p:cNvSpPr/>
          <p:nvPr/>
        </p:nvSpPr>
        <p:spPr>
          <a:xfrm>
            <a:off x="685800" y="2904158"/>
            <a:ext cx="4373954" cy="369332"/>
          </a:xfrm>
          <a:prstGeom prst="rect">
            <a:avLst/>
          </a:prstGeom>
        </p:spPr>
        <p:txBody>
          <a:bodyPr wrap="none">
            <a:spAutoFit/>
          </a:bodyPr>
          <a:lstStyle/>
          <a:p>
            <a:pPr fontAlgn="t"/>
            <a:r>
              <a:rPr lang="en-US" b="1" dirty="0" smtClean="0">
                <a:latin typeface="Times New Roman" pitchFamily="18" charset="0"/>
                <a:cs typeface="Times New Roman" pitchFamily="18" charset="0"/>
              </a:rPr>
              <a:t>Favorable outcomes for getting a sum of 7 </a:t>
            </a:r>
            <a:endParaRPr lang="en-US" b="1" dirty="0">
              <a:latin typeface="Times New Roman" pitchFamily="18" charset="0"/>
              <a:cs typeface="Times New Roman" pitchFamily="18" charset="0"/>
            </a:endParaRPr>
          </a:p>
        </p:txBody>
      </p:sp>
      <p:sp>
        <p:nvSpPr>
          <p:cNvPr id="13" name="Rectangle 12"/>
          <p:cNvSpPr/>
          <p:nvPr/>
        </p:nvSpPr>
        <p:spPr>
          <a:xfrm>
            <a:off x="4886229" y="2904158"/>
            <a:ext cx="678391" cy="369332"/>
          </a:xfrm>
          <a:prstGeom prst="rect">
            <a:avLst/>
          </a:prstGeom>
        </p:spPr>
        <p:txBody>
          <a:bodyPr wrap="none">
            <a:spAutoFit/>
          </a:bodyPr>
          <a:lstStyle/>
          <a:p>
            <a:pPr fontAlgn="t"/>
            <a:r>
              <a:rPr lang="en-US" b="1" dirty="0" smtClean="0">
                <a:latin typeface="Times New Roman" pitchFamily="18" charset="0"/>
                <a:cs typeface="Times New Roman" pitchFamily="18" charset="0"/>
              </a:rPr>
              <a:t>=5+6</a:t>
            </a:r>
            <a:endParaRPr lang="en-US" b="1" dirty="0">
              <a:latin typeface="Times New Roman" pitchFamily="18" charset="0"/>
              <a:cs typeface="Times New Roman" pitchFamily="18" charset="0"/>
            </a:endParaRPr>
          </a:p>
        </p:txBody>
      </p:sp>
      <p:sp>
        <p:nvSpPr>
          <p:cNvPr id="14" name="Rectangle 13"/>
          <p:cNvSpPr/>
          <p:nvPr/>
        </p:nvSpPr>
        <p:spPr>
          <a:xfrm>
            <a:off x="4922337" y="3223055"/>
            <a:ext cx="534185" cy="369332"/>
          </a:xfrm>
          <a:prstGeom prst="rect">
            <a:avLst/>
          </a:prstGeom>
        </p:spPr>
        <p:txBody>
          <a:bodyPr wrap="none">
            <a:spAutoFit/>
          </a:bodyPr>
          <a:lstStyle/>
          <a:p>
            <a:pPr fontAlgn="t"/>
            <a:r>
              <a:rPr lang="en-US" b="1" dirty="0" smtClean="0">
                <a:latin typeface="Times New Roman" pitchFamily="18" charset="0"/>
                <a:cs typeface="Times New Roman" pitchFamily="18" charset="0"/>
              </a:rPr>
              <a:t>=11</a:t>
            </a:r>
            <a:endParaRPr lang="en-US" b="1" dirty="0">
              <a:latin typeface="Times New Roman" pitchFamily="18" charset="0"/>
              <a:cs typeface="Times New Roman" pitchFamily="18" charset="0"/>
            </a:endParaRPr>
          </a:p>
        </p:txBody>
      </p:sp>
      <p:sp>
        <p:nvSpPr>
          <p:cNvPr id="15" name="Rectangle 14"/>
          <p:cNvSpPr/>
          <p:nvPr/>
        </p:nvSpPr>
        <p:spPr>
          <a:xfrm>
            <a:off x="3873807" y="3710100"/>
            <a:ext cx="607859" cy="369332"/>
          </a:xfrm>
          <a:prstGeom prst="rect">
            <a:avLst/>
          </a:prstGeom>
        </p:spPr>
        <p:txBody>
          <a:bodyPr wrap="none">
            <a:spAutoFit/>
          </a:bodyPr>
          <a:lstStyle/>
          <a:p>
            <a:pPr fontAlgn="t"/>
            <a:r>
              <a:rPr lang="en-US" dirty="0" smtClean="0">
                <a:latin typeface="Times New Roman" pitchFamily="18" charset="0"/>
                <a:cs typeface="Times New Roman" pitchFamily="18" charset="0"/>
              </a:rPr>
              <a:t>P(E)</a:t>
            </a:r>
            <a:endParaRPr lang="en-US" dirty="0">
              <a:latin typeface="Times New Roman" pitchFamily="18" charset="0"/>
              <a:cs typeface="Times New Roman" pitchFamily="18" charset="0"/>
            </a:endParaRPr>
          </a:p>
        </p:txBody>
      </p:sp>
      <p:sp>
        <p:nvSpPr>
          <p:cNvPr id="16" name="Rectangle 15"/>
          <p:cNvSpPr/>
          <p:nvPr/>
        </p:nvSpPr>
        <p:spPr>
          <a:xfrm>
            <a:off x="4367081" y="3758317"/>
            <a:ext cx="312906" cy="369332"/>
          </a:xfrm>
          <a:prstGeom prst="rect">
            <a:avLst/>
          </a:prstGeom>
        </p:spPr>
        <p:txBody>
          <a:bodyPr wrap="none">
            <a:spAutoFit/>
          </a:bodyPr>
          <a:lstStyle/>
          <a:p>
            <a:pPr fontAlgn="t"/>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7" name="Rectangle 16"/>
          <p:cNvSpPr/>
          <p:nvPr/>
        </p:nvSpPr>
        <p:spPr>
          <a:xfrm>
            <a:off x="4678024" y="3558629"/>
            <a:ext cx="619080" cy="384721"/>
          </a:xfrm>
          <a:prstGeom prst="rect">
            <a:avLst/>
          </a:prstGeom>
        </p:spPr>
        <p:txBody>
          <a:bodyPr wrap="none">
            <a:spAutoFit/>
          </a:bodyPr>
          <a:lstStyle/>
          <a:p>
            <a:r>
              <a:rPr lang="en-US" sz="1900" dirty="0" smtClean="0">
                <a:latin typeface="Times New Roman" pitchFamily="18" charset="0"/>
                <a:cs typeface="Times New Roman" pitchFamily="18" charset="0"/>
              </a:rPr>
              <a:t>n(E)</a:t>
            </a:r>
            <a:endParaRPr lang="en-US" sz="1900" dirty="0">
              <a:latin typeface="Times New Roman" pitchFamily="18" charset="0"/>
              <a:cs typeface="Times New Roman" pitchFamily="18" charset="0"/>
            </a:endParaRPr>
          </a:p>
        </p:txBody>
      </p:sp>
      <p:cxnSp>
        <p:nvCxnSpPr>
          <p:cNvPr id="18" name="Straight Connector 17"/>
          <p:cNvCxnSpPr/>
          <p:nvPr/>
        </p:nvCxnSpPr>
        <p:spPr>
          <a:xfrm>
            <a:off x="4656749" y="3943350"/>
            <a:ext cx="707075" cy="0"/>
          </a:xfrm>
          <a:prstGeom prst="line">
            <a:avLst/>
          </a:prstGeom>
          <a:ln w="28575"/>
        </p:spPr>
        <p:style>
          <a:lnRef idx="1">
            <a:schemeClr val="dk1"/>
          </a:lnRef>
          <a:fillRef idx="0">
            <a:schemeClr val="dk1"/>
          </a:fillRef>
          <a:effectRef idx="0">
            <a:schemeClr val="dk1"/>
          </a:effectRef>
          <a:fontRef idx="minor">
            <a:schemeClr val="tx1"/>
          </a:fontRef>
        </p:style>
      </p:cxnSp>
      <p:sp>
        <p:nvSpPr>
          <p:cNvPr id="19" name="Rectangle 18"/>
          <p:cNvSpPr/>
          <p:nvPr/>
        </p:nvSpPr>
        <p:spPr>
          <a:xfrm>
            <a:off x="4678024" y="3939629"/>
            <a:ext cx="606256" cy="384721"/>
          </a:xfrm>
          <a:prstGeom prst="rect">
            <a:avLst/>
          </a:prstGeom>
        </p:spPr>
        <p:txBody>
          <a:bodyPr wrap="none">
            <a:spAutoFit/>
          </a:bodyPr>
          <a:lstStyle/>
          <a:p>
            <a:r>
              <a:rPr lang="en-US" sz="1900" dirty="0" smtClean="0">
                <a:latin typeface="Times New Roman" pitchFamily="18" charset="0"/>
                <a:cs typeface="Times New Roman" pitchFamily="18" charset="0"/>
              </a:rPr>
              <a:t>n(S)</a:t>
            </a:r>
            <a:endParaRPr lang="en-US" sz="1900" dirty="0">
              <a:latin typeface="Times New Roman" pitchFamily="18" charset="0"/>
              <a:cs typeface="Times New Roman" pitchFamily="18" charset="0"/>
            </a:endParaRPr>
          </a:p>
        </p:txBody>
      </p:sp>
      <p:sp>
        <p:nvSpPr>
          <p:cNvPr id="20" name="Rectangle 19"/>
          <p:cNvSpPr/>
          <p:nvPr/>
        </p:nvSpPr>
        <p:spPr>
          <a:xfrm>
            <a:off x="5668615" y="3572274"/>
            <a:ext cx="419282" cy="384721"/>
          </a:xfrm>
          <a:prstGeom prst="rect">
            <a:avLst/>
          </a:prstGeom>
        </p:spPr>
        <p:txBody>
          <a:bodyPr wrap="none">
            <a:spAutoFit/>
          </a:bodyPr>
          <a:lstStyle/>
          <a:p>
            <a:r>
              <a:rPr lang="en-US" sz="1900" dirty="0" smtClean="0">
                <a:latin typeface="Times New Roman" pitchFamily="18" charset="0"/>
                <a:cs typeface="Times New Roman" pitchFamily="18" charset="0"/>
              </a:rPr>
              <a:t>11</a:t>
            </a:r>
            <a:endParaRPr lang="en-US" sz="1900" dirty="0">
              <a:latin typeface="Times New Roman" pitchFamily="18" charset="0"/>
              <a:cs typeface="Times New Roman" pitchFamily="18" charset="0"/>
            </a:endParaRPr>
          </a:p>
        </p:txBody>
      </p:sp>
      <p:cxnSp>
        <p:nvCxnSpPr>
          <p:cNvPr id="21" name="Straight Connector 20"/>
          <p:cNvCxnSpPr/>
          <p:nvPr/>
        </p:nvCxnSpPr>
        <p:spPr>
          <a:xfrm flipV="1">
            <a:off x="5723549" y="3942983"/>
            <a:ext cx="326066" cy="2112"/>
          </a:xfrm>
          <a:prstGeom prst="line">
            <a:avLst/>
          </a:prstGeom>
          <a:ln w="38100"/>
        </p:spPr>
        <p:style>
          <a:lnRef idx="1">
            <a:schemeClr val="dk1"/>
          </a:lnRef>
          <a:fillRef idx="0">
            <a:schemeClr val="dk1"/>
          </a:fillRef>
          <a:effectRef idx="0">
            <a:schemeClr val="dk1"/>
          </a:effectRef>
          <a:fontRef idx="minor">
            <a:schemeClr val="tx1"/>
          </a:fontRef>
        </p:style>
      </p:cxnSp>
      <p:sp>
        <p:nvSpPr>
          <p:cNvPr id="22" name="Rectangle 21"/>
          <p:cNvSpPr/>
          <p:nvPr/>
        </p:nvSpPr>
        <p:spPr>
          <a:xfrm>
            <a:off x="5351422" y="3757282"/>
            <a:ext cx="322524" cy="384721"/>
          </a:xfrm>
          <a:prstGeom prst="rect">
            <a:avLst/>
          </a:prstGeom>
        </p:spPr>
        <p:txBody>
          <a:bodyPr wrap="none">
            <a:spAutoFit/>
          </a:bodyPr>
          <a:lstStyle/>
          <a:p>
            <a:r>
              <a:rPr lang="en-US" sz="1900" dirty="0" smtClean="0">
                <a:latin typeface="Times New Roman" pitchFamily="18" charset="0"/>
                <a:cs typeface="Times New Roman" pitchFamily="18" charset="0"/>
              </a:rPr>
              <a:t>=</a:t>
            </a:r>
            <a:endParaRPr lang="en-US" sz="1900" dirty="0">
              <a:latin typeface="Times New Roman" pitchFamily="18" charset="0"/>
              <a:cs typeface="Times New Roman" pitchFamily="18" charset="0"/>
            </a:endParaRPr>
          </a:p>
        </p:txBody>
      </p:sp>
      <p:sp>
        <p:nvSpPr>
          <p:cNvPr id="24" name="Rectangle 23"/>
          <p:cNvSpPr/>
          <p:nvPr/>
        </p:nvSpPr>
        <p:spPr>
          <a:xfrm>
            <a:off x="5659393" y="3913300"/>
            <a:ext cx="428322" cy="384721"/>
          </a:xfrm>
          <a:prstGeom prst="rect">
            <a:avLst/>
          </a:prstGeom>
        </p:spPr>
        <p:txBody>
          <a:bodyPr wrap="none">
            <a:spAutoFit/>
          </a:bodyPr>
          <a:lstStyle/>
          <a:p>
            <a:r>
              <a:rPr lang="en-US" sz="1900" dirty="0" smtClean="0">
                <a:latin typeface="Times New Roman" pitchFamily="18" charset="0"/>
                <a:cs typeface="Times New Roman" pitchFamily="18" charset="0"/>
              </a:rPr>
              <a:t>36</a:t>
            </a:r>
            <a:endParaRPr lang="en-US" sz="1900" dirty="0">
              <a:latin typeface="Times New Roman" pitchFamily="18" charset="0"/>
              <a:cs typeface="Times New Roman" pitchFamily="18" charset="0"/>
            </a:endParaRPr>
          </a:p>
        </p:txBody>
      </p:sp>
    </p:spTree>
    <p:extLst>
      <p:ext uri="{BB962C8B-B14F-4D97-AF65-F5344CB8AC3E}">
        <p14:creationId xmlns:p14="http://schemas.microsoft.com/office/powerpoint/2010/main" val="276178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left)">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left)">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wipe(left)">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wipe(left)">
                                      <p:cBhvr>
                                        <p:cTn id="87" dur="500"/>
                                        <p:tgtEl>
                                          <p:spTgt spid="2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wipe(left)">
                                      <p:cBhvr>
                                        <p:cTn id="92" dur="5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4" grpId="0"/>
      <p:bldP spid="7" grpId="0"/>
      <p:bldP spid="8" grpId="0"/>
      <p:bldP spid="9" grpId="0"/>
      <p:bldP spid="10" grpId="0"/>
      <p:bldP spid="11" grpId="0"/>
      <p:bldP spid="12" grpId="0"/>
      <p:bldP spid="13" grpId="0"/>
      <p:bldP spid="14" grpId="0"/>
      <p:bldP spid="15" grpId="0"/>
      <p:bldP spid="16" grpId="0"/>
      <p:bldP spid="17" grpId="0"/>
      <p:bldP spid="19" grpId="0"/>
      <p:bldP spid="20" grpId="0"/>
      <p:bldP spid="22" grpId="0"/>
      <p:bldP spid="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3" name="Rectangle 22"/>
              <p:cNvSpPr/>
              <p:nvPr/>
            </p:nvSpPr>
            <p:spPr>
              <a:xfrm>
                <a:off x="287046" y="438150"/>
                <a:ext cx="8475953" cy="1460272"/>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Out </a:t>
                </a:r>
                <a:r>
                  <a:rPr lang="en-US" sz="2000" b="1" dirty="0">
                    <a:solidFill>
                      <a:srgbClr val="FF0000"/>
                    </a:solidFill>
                    <a:latin typeface="Times New Roman" pitchFamily="18" charset="0"/>
                    <a:cs typeface="Times New Roman" pitchFamily="18" charset="0"/>
                  </a:rPr>
                  <a:t>of 17 applicants, there are 8 boys and 9 girls. Two persons are </a:t>
                </a:r>
                <a:r>
                  <a:rPr lang="en-US" sz="2000" b="1" dirty="0" smtClean="0">
                    <a:solidFill>
                      <a:srgbClr val="FF0000"/>
                    </a:solidFill>
                    <a:latin typeface="Times New Roman" pitchFamily="18" charset="0"/>
                    <a:cs typeface="Times New Roman" pitchFamily="18" charset="0"/>
                  </a:rPr>
                  <a:t>	to </a:t>
                </a:r>
                <a:r>
                  <a:rPr lang="en-US" sz="2000" b="1" dirty="0">
                    <a:solidFill>
                      <a:srgbClr val="FF0000"/>
                    </a:solidFill>
                    <a:latin typeface="Times New Roman" pitchFamily="18" charset="0"/>
                    <a:cs typeface="Times New Roman" pitchFamily="18" charset="0"/>
                  </a:rPr>
                  <a:t>be selected for the job. Find the probability that at least one of </a:t>
                </a:r>
                <a:r>
                  <a:rPr lang="en-US" sz="2000" b="1" dirty="0" smtClean="0">
                    <a:solidFill>
                      <a:srgbClr val="FF0000"/>
                    </a:solidFill>
                    <a:latin typeface="Times New Roman" pitchFamily="18" charset="0"/>
                    <a:cs typeface="Times New Roman" pitchFamily="18" charset="0"/>
                  </a:rPr>
                  <a:t>the </a:t>
                </a:r>
                <a:r>
                  <a:rPr lang="en-US" sz="2000" b="1" dirty="0">
                    <a:solidFill>
                      <a:srgbClr val="FF0000"/>
                    </a:solidFill>
                    <a:latin typeface="Times New Roman" pitchFamily="18" charset="0"/>
                    <a:cs typeface="Times New Roman" pitchFamily="18" charset="0"/>
                  </a:rPr>
                  <a:t>selected persons will be a girl.</a:t>
                </a:r>
                <a:r>
                  <a:rPr lang="en-US" sz="2000" b="1" dirty="0" smtClean="0">
                    <a:solidFill>
                      <a:srgbClr val="FF0000"/>
                    </a:solidFill>
                    <a:latin typeface="Times New Roman" pitchFamily="18" charset="0"/>
                    <a:cs typeface="Times New Roman" pitchFamily="18" charset="0"/>
                  </a:rPr>
                  <a:t>	</a:t>
                </a:r>
              </a:p>
              <a:p>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A.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𝟏𝟗</m:t>
                        </m:r>
                      </m:num>
                      <m:den>
                        <m:r>
                          <a:rPr lang="en-US" sz="2000" b="1" i="1" dirty="0" smtClean="0">
                            <a:solidFill>
                              <a:srgbClr val="FF0000"/>
                            </a:solidFill>
                            <a:latin typeface="Cambria Math"/>
                            <a:cs typeface="Times New Roman" pitchFamily="18" charset="0"/>
                          </a:rPr>
                          <m:t>𝟑𝟒</m:t>
                        </m:r>
                      </m:den>
                    </m:f>
                    <m:r>
                      <a:rPr lang="en-US" sz="2000" b="1" i="1" dirty="0" smtClean="0">
                        <a:solidFill>
                          <a:srgbClr val="FF0000"/>
                        </a:solidFill>
                        <a:latin typeface="Cambria Math"/>
                        <a:cs typeface="Times New Roman" pitchFamily="18" charset="0"/>
                      </a:rPr>
                      <m:t>	</m:t>
                    </m:r>
                  </m:oMath>
                </a14:m>
                <a:r>
                  <a:rPr lang="en-US" sz="2000" b="1" dirty="0" smtClean="0">
                    <a:solidFill>
                      <a:srgbClr val="FF0000"/>
                    </a:solidFill>
                    <a:latin typeface="Times New Roman" pitchFamily="18" charset="0"/>
                    <a:cs typeface="Times New Roman" pitchFamily="18" charset="0"/>
                  </a:rPr>
                  <a:t>	B</a:t>
                </a:r>
                <a:r>
                  <a:rPr lang="en-US" sz="2000" b="1" dirty="0">
                    <a:solidFill>
                      <a:srgbClr val="FF0000"/>
                    </a:solidFill>
                    <a:latin typeface="Times New Roman" pitchFamily="18" charset="0"/>
                    <a:cs typeface="Times New Roman" pitchFamily="18" charset="0"/>
                  </a:rPr>
                  <a:t>.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𝟐𝟏</m:t>
                        </m:r>
                      </m:num>
                      <m:den>
                        <m:r>
                          <a:rPr lang="en-US" sz="2000" b="1" i="1" dirty="0" smtClean="0">
                            <a:solidFill>
                              <a:srgbClr val="FF0000"/>
                            </a:solidFill>
                            <a:latin typeface="Cambria Math"/>
                            <a:cs typeface="Times New Roman" pitchFamily="18" charset="0"/>
                          </a:rPr>
                          <m:t>𝟑𝟒</m:t>
                        </m:r>
                      </m:den>
                    </m:f>
                    <m:r>
                      <a:rPr lang="en-US" sz="2000" b="1" i="1" dirty="0">
                        <a:solidFill>
                          <a:srgbClr val="FF0000"/>
                        </a:solidFill>
                        <a:latin typeface="Cambria Math"/>
                        <a:cs typeface="Times New Roman" pitchFamily="18" charset="0"/>
                      </a:rPr>
                      <m:t>	</m:t>
                    </m:r>
                  </m:oMath>
                </a14:m>
                <a:r>
                  <a:rPr lang="en-US" sz="2000"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𝟐𝟓</m:t>
                        </m:r>
                      </m:num>
                      <m:den>
                        <m:r>
                          <a:rPr lang="en-US" sz="2000" b="1" i="1" dirty="0" smtClean="0">
                            <a:solidFill>
                              <a:srgbClr val="FF0000"/>
                            </a:solidFill>
                            <a:latin typeface="Cambria Math"/>
                            <a:cs typeface="Times New Roman" pitchFamily="18" charset="0"/>
                          </a:rPr>
                          <m:t>𝟑𝟒</m:t>
                        </m:r>
                      </m:den>
                    </m:f>
                  </m:oMath>
                </a14:m>
                <a:r>
                  <a:rPr lang="en-US" sz="2000" b="1" dirty="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	D.</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𝟐𝟕</m:t>
                        </m:r>
                      </m:num>
                      <m:den>
                        <m:r>
                          <a:rPr lang="en-US" sz="2000" b="1" i="1" dirty="0" smtClean="0">
                            <a:solidFill>
                              <a:srgbClr val="FF0000"/>
                            </a:solidFill>
                            <a:latin typeface="Cambria Math"/>
                            <a:cs typeface="Times New Roman" pitchFamily="18" charset="0"/>
                          </a:rPr>
                          <m:t>𝟑𝟒</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23" name="Rectangle 22"/>
              <p:cNvSpPr>
                <a:spLocks noRot="1" noChangeAspect="1" noMove="1" noResize="1" noEditPoints="1" noAdjustHandles="1" noChangeArrowheads="1" noChangeShapeType="1" noTextEdit="1"/>
              </p:cNvSpPr>
              <p:nvPr/>
            </p:nvSpPr>
            <p:spPr>
              <a:xfrm>
                <a:off x="287046" y="438150"/>
                <a:ext cx="8475953" cy="1460272"/>
              </a:xfrm>
              <a:prstGeom prst="rect">
                <a:avLst/>
              </a:prstGeom>
              <a:blipFill rotWithShape="1">
                <a:blip r:embed="rId3"/>
                <a:stretch>
                  <a:fillRect l="-719" t="-2092" b="-2510"/>
                </a:stretch>
              </a:blipFill>
            </p:spPr>
            <p:txBody>
              <a:bodyPr/>
              <a:lstStyle/>
              <a:p>
                <a:r>
                  <a:rPr lang="en-US">
                    <a:noFill/>
                  </a:rPr>
                  <a:t> </a:t>
                </a:r>
              </a:p>
            </p:txBody>
          </p:sp>
        </mc:Fallback>
      </mc:AlternateContent>
      <p:sp>
        <p:nvSpPr>
          <p:cNvPr id="6" name="Rectangle 5"/>
          <p:cNvSpPr/>
          <p:nvPr/>
        </p:nvSpPr>
        <p:spPr>
          <a:xfrm>
            <a:off x="7766140" y="1669018"/>
            <a:ext cx="862737" cy="400110"/>
          </a:xfrm>
          <a:prstGeom prst="rect">
            <a:avLst/>
          </a:prstGeom>
        </p:spPr>
        <p:txBody>
          <a:bodyPr wrap="none">
            <a:spAutoFit/>
          </a:bodyPr>
          <a:lstStyle/>
          <a:p>
            <a:pPr fontAlgn="t"/>
            <a:r>
              <a:rPr lang="en-US" sz="2000" b="1" dirty="0">
                <a:latin typeface="Times New Roman" pitchFamily="18" charset="0"/>
                <a:cs typeface="Times New Roman" pitchFamily="18" charset="0"/>
              </a:rPr>
              <a:t>Ans </a:t>
            </a:r>
            <a:r>
              <a:rPr lang="en-US" sz="2000" b="1" dirty="0" smtClean="0">
                <a:latin typeface="Times New Roman" pitchFamily="18" charset="0"/>
                <a:cs typeface="Times New Roman" pitchFamily="18" charset="0"/>
              </a:rPr>
              <a:t>D</a:t>
            </a:r>
            <a:endParaRPr lang="en-US" sz="2000" b="1" dirty="0">
              <a:latin typeface="Times New Roman" pitchFamily="18" charset="0"/>
              <a:cs typeface="Times New Roman" pitchFamily="18" charset="0"/>
            </a:endParaRPr>
          </a:p>
        </p:txBody>
      </p:sp>
      <p:sp>
        <p:nvSpPr>
          <p:cNvPr id="2" name="Rectangle 1"/>
          <p:cNvSpPr/>
          <p:nvPr/>
        </p:nvSpPr>
        <p:spPr>
          <a:xfrm>
            <a:off x="258693" y="1671233"/>
            <a:ext cx="6553200" cy="400110"/>
          </a:xfrm>
          <a:prstGeom prst="rect">
            <a:avLst/>
          </a:prstGeom>
        </p:spPr>
        <p:txBody>
          <a:bodyPr wrap="square">
            <a:spAutoFit/>
          </a:bodyPr>
          <a:lstStyle/>
          <a:p>
            <a:r>
              <a:rPr lang="en-US" sz="2000" dirty="0">
                <a:latin typeface="Times New Roman" pitchFamily="18" charset="0"/>
                <a:cs typeface="Times New Roman" pitchFamily="18" charset="0"/>
              </a:rPr>
              <a:t>The events of selection of two person is redefined as</a:t>
            </a:r>
          </a:p>
        </p:txBody>
      </p:sp>
      <p:sp>
        <p:nvSpPr>
          <p:cNvPr id="3" name="Rectangle 2"/>
          <p:cNvSpPr/>
          <p:nvPr/>
        </p:nvSpPr>
        <p:spPr>
          <a:xfrm>
            <a:off x="457200" y="2026682"/>
            <a:ext cx="4038541" cy="400110"/>
          </a:xfrm>
          <a:prstGeom prst="rect">
            <a:avLst/>
          </a:prstGeom>
        </p:spPr>
        <p:txBody>
          <a:bodyPr wrap="none">
            <a:spAutoFit/>
          </a:bodyPr>
          <a:lstStyle/>
          <a:p>
            <a:r>
              <a:rPr lang="en-US" sz="2000" dirty="0">
                <a:latin typeface="Times New Roman" pitchFamily="18" charset="0"/>
                <a:cs typeface="Times New Roman" pitchFamily="18" charset="0"/>
              </a:rPr>
              <a:t>(i) first is a girl AND second is a boy </a:t>
            </a:r>
          </a:p>
        </p:txBody>
      </p:sp>
      <p:sp>
        <p:nvSpPr>
          <p:cNvPr id="25" name="Rectangle 24"/>
          <p:cNvSpPr/>
          <p:nvPr/>
        </p:nvSpPr>
        <p:spPr>
          <a:xfrm>
            <a:off x="685800" y="2724150"/>
            <a:ext cx="4572000" cy="400110"/>
          </a:xfrm>
          <a:prstGeom prst="rect">
            <a:avLst/>
          </a:prstGeom>
        </p:spPr>
        <p:txBody>
          <a:bodyPr>
            <a:spAutoFit/>
          </a:bodyPr>
          <a:lstStyle/>
          <a:p>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ii) first is boy AND second is a </a:t>
            </a:r>
            <a:r>
              <a:rPr lang="en-US" sz="2000" dirty="0" smtClean="0">
                <a:latin typeface="Times New Roman" pitchFamily="18" charset="0"/>
                <a:cs typeface="Times New Roman" pitchFamily="18" charset="0"/>
              </a:rPr>
              <a:t>girl</a:t>
            </a:r>
            <a:endParaRPr lang="en-US" sz="2000" dirty="0">
              <a:latin typeface="Times New Roman" pitchFamily="18" charset="0"/>
              <a:cs typeface="Times New Roman" pitchFamily="18" charset="0"/>
            </a:endParaRPr>
          </a:p>
        </p:txBody>
      </p:sp>
      <p:sp>
        <p:nvSpPr>
          <p:cNvPr id="26" name="Rectangle 25"/>
          <p:cNvSpPr/>
          <p:nvPr/>
        </p:nvSpPr>
        <p:spPr>
          <a:xfrm>
            <a:off x="1752600" y="2354818"/>
            <a:ext cx="606256" cy="400110"/>
          </a:xfrm>
          <a:prstGeom prst="rect">
            <a:avLst/>
          </a:prstGeom>
        </p:spPr>
        <p:txBody>
          <a:bodyPr wrap="none">
            <a:spAutoFit/>
          </a:bodyPr>
          <a:lstStyle/>
          <a:p>
            <a:r>
              <a:rPr lang="en-US" sz="2000" dirty="0">
                <a:latin typeface="Times New Roman" pitchFamily="18" charset="0"/>
                <a:cs typeface="Times New Roman" pitchFamily="18" charset="0"/>
              </a:rPr>
              <a:t>OR </a:t>
            </a:r>
          </a:p>
        </p:txBody>
      </p:sp>
      <p:sp>
        <p:nvSpPr>
          <p:cNvPr id="27" name="Rectangle 26"/>
          <p:cNvSpPr/>
          <p:nvPr/>
        </p:nvSpPr>
        <p:spPr>
          <a:xfrm>
            <a:off x="609600" y="3388760"/>
            <a:ext cx="4572000" cy="400110"/>
          </a:xfrm>
          <a:prstGeom prst="rect">
            <a:avLst/>
          </a:prstGeom>
        </p:spPr>
        <p:txBody>
          <a:bodyPr>
            <a:spAutoFit/>
          </a:bodyPr>
          <a:lstStyle/>
          <a:p>
            <a:r>
              <a:rPr lang="en-US" sz="2000" dirty="0" smtClean="0">
                <a:latin typeface="Times New Roman" pitchFamily="18" charset="0"/>
                <a:cs typeface="Times New Roman" pitchFamily="18" charset="0"/>
              </a:rPr>
              <a:t>(iii</a:t>
            </a:r>
            <a:r>
              <a:rPr lang="en-US" sz="2000" dirty="0">
                <a:latin typeface="Times New Roman" pitchFamily="18" charset="0"/>
                <a:cs typeface="Times New Roman" pitchFamily="18" charset="0"/>
              </a:rPr>
              <a:t>) first is a girl </a:t>
            </a:r>
            <a:r>
              <a:rPr lang="en-US" sz="2000" dirty="0" smtClean="0">
                <a:latin typeface="Times New Roman" pitchFamily="18" charset="0"/>
                <a:cs typeface="Times New Roman" pitchFamily="18" charset="0"/>
              </a:rPr>
              <a:t>AND second </a:t>
            </a:r>
            <a:r>
              <a:rPr lang="en-US" sz="2000" dirty="0">
                <a:latin typeface="Times New Roman" pitchFamily="18" charset="0"/>
                <a:cs typeface="Times New Roman" pitchFamily="18" charset="0"/>
              </a:rPr>
              <a:t>is a girl.</a:t>
            </a:r>
          </a:p>
        </p:txBody>
      </p:sp>
      <p:sp>
        <p:nvSpPr>
          <p:cNvPr id="29" name="Rectangle 28"/>
          <p:cNvSpPr/>
          <p:nvPr/>
        </p:nvSpPr>
        <p:spPr>
          <a:xfrm>
            <a:off x="1808819" y="3093482"/>
            <a:ext cx="606256" cy="400110"/>
          </a:xfrm>
          <a:prstGeom prst="rect">
            <a:avLst/>
          </a:prstGeom>
        </p:spPr>
        <p:txBody>
          <a:bodyPr wrap="none">
            <a:spAutoFit/>
          </a:bodyPr>
          <a:lstStyle/>
          <a:p>
            <a:r>
              <a:rPr lang="en-US" sz="2000" dirty="0">
                <a:latin typeface="Times New Roman" pitchFamily="18" charset="0"/>
                <a:cs typeface="Times New Roman" pitchFamily="18" charset="0"/>
              </a:rPr>
              <a:t>OR </a:t>
            </a:r>
          </a:p>
        </p:txBody>
      </p:sp>
      <mc:AlternateContent xmlns:mc="http://schemas.openxmlformats.org/markup-compatibility/2006" xmlns:a14="http://schemas.microsoft.com/office/drawing/2010/main">
        <mc:Choice Requires="a14">
          <p:sp>
            <p:nvSpPr>
              <p:cNvPr id="28" name="Rectangle 27"/>
              <p:cNvSpPr/>
              <p:nvPr/>
            </p:nvSpPr>
            <p:spPr>
              <a:xfrm>
                <a:off x="4688533" y="2026682"/>
                <a:ext cx="1441420" cy="552972"/>
              </a:xfrm>
              <a:prstGeom prst="rect">
                <a:avLst/>
              </a:prstGeom>
            </p:spPr>
            <p:txBody>
              <a:bodyPr wrap="none">
                <a:spAutoFit/>
              </a:bodyPr>
              <a:lstStyle/>
              <a:p>
                <a:r>
                  <a:rPr lang="en-US" sz="2000" dirty="0" smtClean="0">
                    <a:latin typeface="Times New Roman" pitchFamily="18" charset="0"/>
                    <a:cs typeface="Times New Roman" pitchFamily="18" charset="0"/>
                  </a:rPr>
                  <a:t>= </a:t>
                </a:r>
                <a14:m>
                  <m:oMath xmlns:m="http://schemas.openxmlformats.org/officeDocument/2006/math">
                    <m:d>
                      <m:dPr>
                        <m:ctrlPr>
                          <a:rPr lang="en-US" sz="2000" b="0" i="1" dirty="0" smtClean="0">
                            <a:latin typeface="Cambria Math"/>
                            <a:cs typeface="Times New Roman" pitchFamily="18" charset="0"/>
                          </a:rPr>
                        </m:ctrlPr>
                      </m:dPr>
                      <m:e>
                        <m:f>
                          <m:fPr>
                            <m:ctrlPr>
                              <a:rPr lang="en-US" sz="2000" b="0" i="1" dirty="0" smtClean="0">
                                <a:latin typeface="Cambria Math"/>
                                <a:cs typeface="Times New Roman" pitchFamily="18" charset="0"/>
                              </a:rPr>
                            </m:ctrlPr>
                          </m:fPr>
                          <m:num>
                            <m:r>
                              <a:rPr lang="en-US" sz="2000" b="0" i="0" dirty="0" smtClean="0">
                                <a:latin typeface="Cambria Math"/>
                                <a:cs typeface="Times New Roman" pitchFamily="18" charset="0"/>
                              </a:rPr>
                              <m:t>8</m:t>
                            </m:r>
                          </m:num>
                          <m:den>
                            <m:r>
                              <a:rPr lang="en-US" sz="2000" b="0" i="0" dirty="0" smtClean="0">
                                <a:latin typeface="Cambria Math"/>
                                <a:cs typeface="Times New Roman" pitchFamily="18" charset="0"/>
                              </a:rPr>
                              <m:t>17</m:t>
                            </m:r>
                          </m:den>
                        </m:f>
                        <m:r>
                          <a:rPr lang="en-US" sz="2000" i="1" dirty="0">
                            <a:latin typeface="Cambria Math"/>
                            <a:ea typeface="Cambria Math"/>
                            <a:cs typeface="Times New Roman" pitchFamily="18" charset="0"/>
                          </a:rPr>
                          <m:t>×</m:t>
                        </m:r>
                        <m:f>
                          <m:fPr>
                            <m:ctrlPr>
                              <a:rPr lang="en-US" sz="2000" i="1" dirty="0" smtClean="0">
                                <a:latin typeface="Cambria Math"/>
                                <a:ea typeface="Cambria Math"/>
                                <a:cs typeface="Times New Roman" pitchFamily="18" charset="0"/>
                              </a:rPr>
                            </m:ctrlPr>
                          </m:fPr>
                          <m:num>
                            <m:r>
                              <a:rPr lang="en-US" sz="2000" b="0" i="1" dirty="0" smtClean="0">
                                <a:latin typeface="Cambria Math"/>
                                <a:ea typeface="Cambria Math"/>
                                <a:cs typeface="Times New Roman" pitchFamily="18" charset="0"/>
                              </a:rPr>
                              <m:t>9</m:t>
                            </m:r>
                          </m:num>
                          <m:den>
                            <m:r>
                              <a:rPr lang="en-US" sz="2000" b="0" i="1" dirty="0" smtClean="0">
                                <a:latin typeface="Cambria Math"/>
                                <a:ea typeface="Cambria Math"/>
                                <a:cs typeface="Times New Roman" pitchFamily="18" charset="0"/>
                              </a:rPr>
                              <m:t>16</m:t>
                            </m:r>
                          </m:den>
                        </m:f>
                      </m:e>
                    </m:d>
                  </m:oMath>
                </a14:m>
                <a:r>
                  <a:rPr lang="en-US" sz="2000" dirty="0">
                    <a:latin typeface="Times New Roman" pitchFamily="18" charset="0"/>
                    <a:cs typeface="Times New Roman" pitchFamily="18" charset="0"/>
                  </a:rPr>
                  <a:t> </a:t>
                </a:r>
              </a:p>
            </p:txBody>
          </p:sp>
        </mc:Choice>
        <mc:Fallback xmlns="">
          <p:sp>
            <p:nvSpPr>
              <p:cNvPr id="28" name="Rectangle 27"/>
              <p:cNvSpPr>
                <a:spLocks noRot="1" noChangeAspect="1" noMove="1" noResize="1" noEditPoints="1" noAdjustHandles="1" noChangeArrowheads="1" noChangeShapeType="1" noTextEdit="1"/>
              </p:cNvSpPr>
              <p:nvPr/>
            </p:nvSpPr>
            <p:spPr>
              <a:xfrm>
                <a:off x="4688533" y="2026682"/>
                <a:ext cx="1441420" cy="552972"/>
              </a:xfrm>
              <a:prstGeom prst="rect">
                <a:avLst/>
              </a:prstGeom>
              <a:blipFill rotWithShape="1">
                <a:blip r:embed="rId4"/>
                <a:stretch>
                  <a:fillRect l="-4219" r="-8439" b="-43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4490105" y="2687701"/>
                <a:ext cx="1233030" cy="552972"/>
              </a:xfrm>
              <a:prstGeom prst="rect">
                <a:avLst/>
              </a:prstGeom>
            </p:spPr>
            <p:txBody>
              <a:bodyPr wrap="none">
                <a:spAutoFit/>
              </a:bodyPr>
              <a:lstStyle/>
              <a:p>
                <a:r>
                  <a:rPr lang="en-US" sz="2000" dirty="0" smtClean="0">
                    <a:latin typeface="Times New Roman" pitchFamily="18" charset="0"/>
                    <a:cs typeface="Times New Roman" pitchFamily="18" charset="0"/>
                  </a:rPr>
                  <a:t> </a:t>
                </a:r>
                <a14:m>
                  <m:oMath xmlns:m="http://schemas.openxmlformats.org/officeDocument/2006/math">
                    <m:d>
                      <m:dPr>
                        <m:ctrlPr>
                          <a:rPr lang="en-US" sz="2000" i="1" dirty="0">
                            <a:latin typeface="Cambria Math"/>
                            <a:cs typeface="Times New Roman" pitchFamily="18" charset="0"/>
                          </a:rPr>
                        </m:ctrlPr>
                      </m:dPr>
                      <m:e>
                        <m:f>
                          <m:fPr>
                            <m:ctrlPr>
                              <a:rPr lang="en-US" sz="2000" i="1" dirty="0">
                                <a:latin typeface="Cambria Math"/>
                                <a:cs typeface="Times New Roman" pitchFamily="18" charset="0"/>
                              </a:rPr>
                            </m:ctrlPr>
                          </m:fPr>
                          <m:num>
                            <m:r>
                              <a:rPr lang="en-US" sz="2000" b="0" i="0" dirty="0" smtClean="0">
                                <a:latin typeface="Cambria Math"/>
                                <a:cs typeface="Times New Roman" pitchFamily="18" charset="0"/>
                              </a:rPr>
                              <m:t>9</m:t>
                            </m:r>
                          </m:num>
                          <m:den>
                            <m:r>
                              <a:rPr lang="en-US" sz="2000" dirty="0">
                                <a:latin typeface="Cambria Math"/>
                                <a:cs typeface="Times New Roman" pitchFamily="18" charset="0"/>
                              </a:rPr>
                              <m:t>17</m:t>
                            </m:r>
                          </m:den>
                        </m:f>
                        <m:r>
                          <a:rPr lang="en-US" sz="2000" i="1" dirty="0">
                            <a:latin typeface="Cambria Math"/>
                            <a:ea typeface="Cambria Math"/>
                            <a:cs typeface="Times New Roman" pitchFamily="18" charset="0"/>
                          </a:rPr>
                          <m:t>×</m:t>
                        </m:r>
                        <m:f>
                          <m:fPr>
                            <m:ctrlPr>
                              <a:rPr lang="en-US" sz="2000" i="1" dirty="0">
                                <a:latin typeface="Cambria Math"/>
                                <a:ea typeface="Cambria Math"/>
                                <a:cs typeface="Times New Roman" pitchFamily="18" charset="0"/>
                              </a:rPr>
                            </m:ctrlPr>
                          </m:fPr>
                          <m:num>
                            <m:r>
                              <a:rPr lang="en-US" sz="2000" b="0" i="1" dirty="0" smtClean="0">
                                <a:latin typeface="Cambria Math"/>
                                <a:ea typeface="Cambria Math"/>
                                <a:cs typeface="Times New Roman" pitchFamily="18" charset="0"/>
                              </a:rPr>
                              <m:t>8</m:t>
                            </m:r>
                          </m:num>
                          <m:den>
                            <m:r>
                              <a:rPr lang="en-US" sz="2000" i="1" dirty="0">
                                <a:latin typeface="Cambria Math"/>
                                <a:ea typeface="Cambria Math"/>
                                <a:cs typeface="Times New Roman" pitchFamily="18" charset="0"/>
                              </a:rPr>
                              <m:t>16</m:t>
                            </m:r>
                          </m:den>
                        </m:f>
                      </m:e>
                    </m:d>
                  </m:oMath>
                </a14:m>
                <a:endParaRPr lang="en-US" sz="2000" dirty="0">
                  <a:latin typeface="Times New Roman" pitchFamily="18" charset="0"/>
                  <a:cs typeface="Times New Roman" pitchFamily="18" charset="0"/>
                </a:endParaRPr>
              </a:p>
            </p:txBody>
          </p:sp>
        </mc:Choice>
        <mc:Fallback xmlns="">
          <p:sp>
            <p:nvSpPr>
              <p:cNvPr id="30" name="Rectangle 29"/>
              <p:cNvSpPr>
                <a:spLocks noRot="1" noChangeAspect="1" noMove="1" noResize="1" noEditPoints="1" noAdjustHandles="1" noChangeArrowheads="1" noChangeShapeType="1" noTextEdit="1"/>
              </p:cNvSpPr>
              <p:nvPr/>
            </p:nvSpPr>
            <p:spPr>
              <a:xfrm>
                <a:off x="4490105" y="2687701"/>
                <a:ext cx="1233030" cy="552972"/>
              </a:xfrm>
              <a:prstGeom prst="rect">
                <a:avLst/>
              </a:prstGeom>
              <a:blipFill rotWithShape="1">
                <a:blip r:embed="rId5"/>
                <a:stretch>
                  <a:fillRect l="-5446" r="-9406" b="-4396"/>
                </a:stretch>
              </a:blipFill>
            </p:spPr>
            <p:txBody>
              <a:bodyPr/>
              <a:lstStyle/>
              <a:p>
                <a:r>
                  <a:rPr lang="en-US">
                    <a:noFill/>
                  </a:rPr>
                  <a:t> </a:t>
                </a:r>
              </a:p>
            </p:txBody>
          </p:sp>
        </mc:Fallback>
      </mc:AlternateContent>
      <p:sp>
        <p:nvSpPr>
          <p:cNvPr id="31" name="Rectangle 30"/>
          <p:cNvSpPr/>
          <p:nvPr/>
        </p:nvSpPr>
        <p:spPr>
          <a:xfrm>
            <a:off x="5346068" y="2426792"/>
            <a:ext cx="328936" cy="400110"/>
          </a:xfrm>
          <a:prstGeom prst="rect">
            <a:avLst/>
          </a:prstGeom>
        </p:spPr>
        <p:txBody>
          <a:bodyPr wrap="none">
            <a:spAutoFit/>
          </a:bodyPr>
          <a:lstStyle/>
          <a:p>
            <a:r>
              <a:rPr lang="en-US" sz="2000" dirty="0">
                <a:latin typeface="Times New Roman" pitchFamily="18" charset="0"/>
                <a:cs typeface="Times New Roman" pitchFamily="18" charset="0"/>
              </a:rPr>
              <a:t>+</a:t>
            </a:r>
          </a:p>
        </p:txBody>
      </p:sp>
      <p:sp>
        <p:nvSpPr>
          <p:cNvPr id="33" name="Rectangle 32"/>
          <p:cNvSpPr/>
          <p:nvPr/>
        </p:nvSpPr>
        <p:spPr>
          <a:xfrm>
            <a:off x="5017132" y="3069191"/>
            <a:ext cx="328936" cy="400110"/>
          </a:xfrm>
          <a:prstGeom prst="rect">
            <a:avLst/>
          </a:prstGeom>
        </p:spPr>
        <p:txBody>
          <a:bodyPr wrap="none">
            <a:spAutoFit/>
          </a:bodyPr>
          <a:lstStyle/>
          <a:p>
            <a:r>
              <a:rPr lang="en-US" sz="2000" dirty="0">
                <a:latin typeface="Times New Roman" pitchFamily="18" charset="0"/>
                <a:cs typeface="Times New Roman" pitchFamily="18" charset="0"/>
              </a:rPr>
              <a:t>+</a:t>
            </a:r>
          </a:p>
        </p:txBody>
      </p:sp>
      <mc:AlternateContent xmlns:mc="http://schemas.openxmlformats.org/markup-compatibility/2006" xmlns:a14="http://schemas.microsoft.com/office/drawing/2010/main">
        <mc:Choice Requires="a14">
          <p:sp>
            <p:nvSpPr>
              <p:cNvPr id="32" name="Rectangle 31"/>
              <p:cNvSpPr/>
              <p:nvPr/>
            </p:nvSpPr>
            <p:spPr>
              <a:xfrm>
                <a:off x="4572000" y="3314178"/>
                <a:ext cx="1233030" cy="552972"/>
              </a:xfrm>
              <a:prstGeom prst="rect">
                <a:avLst/>
              </a:prstGeom>
            </p:spPr>
            <p:txBody>
              <a:bodyPr wrap="none">
                <a:spAutoFit/>
              </a:bodyPr>
              <a:lstStyle/>
              <a:p>
                <a14:m>
                  <m:oMath xmlns:m="http://schemas.openxmlformats.org/officeDocument/2006/math">
                    <m:d>
                      <m:dPr>
                        <m:ctrlPr>
                          <a:rPr lang="en-US" sz="2000" i="1" dirty="0">
                            <a:latin typeface="Cambria Math"/>
                            <a:cs typeface="Times New Roman" pitchFamily="18" charset="0"/>
                          </a:rPr>
                        </m:ctrlPr>
                      </m:dPr>
                      <m:e>
                        <m:f>
                          <m:fPr>
                            <m:ctrlPr>
                              <a:rPr lang="en-US" sz="2000" i="1" dirty="0">
                                <a:latin typeface="Cambria Math"/>
                                <a:cs typeface="Times New Roman" pitchFamily="18" charset="0"/>
                              </a:rPr>
                            </m:ctrlPr>
                          </m:fPr>
                          <m:num>
                            <m:r>
                              <a:rPr lang="en-US" sz="2000" dirty="0">
                                <a:latin typeface="Cambria Math"/>
                                <a:cs typeface="Times New Roman" pitchFamily="18" charset="0"/>
                              </a:rPr>
                              <m:t>9</m:t>
                            </m:r>
                          </m:num>
                          <m:den>
                            <m:r>
                              <a:rPr lang="en-US" sz="2000" dirty="0">
                                <a:latin typeface="Cambria Math"/>
                                <a:cs typeface="Times New Roman" pitchFamily="18" charset="0"/>
                              </a:rPr>
                              <m:t>17</m:t>
                            </m:r>
                          </m:den>
                        </m:f>
                        <m:r>
                          <a:rPr lang="en-US" sz="2000" i="1" dirty="0">
                            <a:latin typeface="Cambria Math"/>
                            <a:ea typeface="Cambria Math"/>
                            <a:cs typeface="Times New Roman" pitchFamily="18" charset="0"/>
                          </a:rPr>
                          <m:t>×</m:t>
                        </m:r>
                        <m:f>
                          <m:fPr>
                            <m:ctrlPr>
                              <a:rPr lang="en-US" sz="2000" i="1" dirty="0">
                                <a:latin typeface="Cambria Math"/>
                                <a:ea typeface="Cambria Math"/>
                                <a:cs typeface="Times New Roman" pitchFamily="18" charset="0"/>
                              </a:rPr>
                            </m:ctrlPr>
                          </m:fPr>
                          <m:num>
                            <m:r>
                              <a:rPr lang="en-US" sz="2000" i="1" dirty="0">
                                <a:latin typeface="Cambria Math"/>
                                <a:ea typeface="Cambria Math"/>
                                <a:cs typeface="Times New Roman" pitchFamily="18" charset="0"/>
                              </a:rPr>
                              <m:t>8</m:t>
                            </m:r>
                          </m:num>
                          <m:den>
                            <m:r>
                              <a:rPr lang="en-US" sz="2000" i="1" dirty="0">
                                <a:latin typeface="Cambria Math"/>
                                <a:ea typeface="Cambria Math"/>
                                <a:cs typeface="Times New Roman" pitchFamily="18" charset="0"/>
                              </a:rPr>
                              <m:t>16</m:t>
                            </m:r>
                          </m:den>
                        </m:f>
                      </m:e>
                    </m:d>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32" name="Rectangle 31"/>
              <p:cNvSpPr>
                <a:spLocks noRot="1" noChangeAspect="1" noMove="1" noResize="1" noEditPoints="1" noAdjustHandles="1" noChangeArrowheads="1" noChangeShapeType="1" noTextEdit="1"/>
              </p:cNvSpPr>
              <p:nvPr/>
            </p:nvSpPr>
            <p:spPr>
              <a:xfrm>
                <a:off x="4572000" y="3314178"/>
                <a:ext cx="1233030" cy="552972"/>
              </a:xfrm>
              <a:prstGeom prst="rect">
                <a:avLst/>
              </a:prstGeom>
              <a:blipFill rotWithShape="1">
                <a:blip r:embed="rId6"/>
                <a:stretch>
                  <a:fillRect r="-9406"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4368573" y="3867150"/>
                <a:ext cx="1891352" cy="529184"/>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9</m:t>
                        </m:r>
                      </m:num>
                      <m:den>
                        <m:r>
                          <a:rPr lang="en-US" sz="2000" i="1" dirty="0" smtClean="0">
                            <a:latin typeface="Cambria Math"/>
                            <a:cs typeface="Times New Roman" pitchFamily="18" charset="0"/>
                          </a:rPr>
                          <m:t>34</m:t>
                        </m:r>
                      </m:den>
                    </m:f>
                    <m:r>
                      <a:rPr lang="en-US" sz="2000" i="1" dirty="0" smtClean="0">
                        <a:latin typeface="Cambria Math"/>
                        <a:cs typeface="Times New Roman" pitchFamily="18" charset="0"/>
                      </a:rPr>
                      <m:t> +</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9</m:t>
                        </m:r>
                      </m:num>
                      <m:den>
                        <m:r>
                          <a:rPr lang="en-US" sz="2000" i="1" dirty="0" smtClean="0">
                            <a:latin typeface="Cambria Math"/>
                            <a:cs typeface="Times New Roman" pitchFamily="18" charset="0"/>
                          </a:rPr>
                          <m:t>34</m:t>
                        </m:r>
                      </m:den>
                    </m:f>
                    <m:r>
                      <a:rPr lang="en-US" sz="2000" i="1" dirty="0" smtClean="0">
                        <a:latin typeface="Cambria Math"/>
                        <a:cs typeface="Times New Roman" pitchFamily="18" charset="0"/>
                      </a:rPr>
                      <m:t> +</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9</m:t>
                        </m:r>
                      </m:num>
                      <m:den>
                        <m:r>
                          <a:rPr lang="en-US" sz="2000" i="1" dirty="0" smtClean="0">
                            <a:latin typeface="Cambria Math"/>
                            <a:cs typeface="Times New Roman" pitchFamily="18" charset="0"/>
                          </a:rPr>
                          <m:t>34</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4368573" y="3867150"/>
                <a:ext cx="1891352" cy="529184"/>
              </a:xfrm>
              <a:prstGeom prst="rect">
                <a:avLst/>
              </a:prstGeom>
              <a:blipFill rotWithShape="1">
                <a:blip r:embed="rId7"/>
                <a:stretch>
                  <a:fillRect r="-5806"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6096000" y="3790950"/>
                <a:ext cx="853823" cy="670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27</m:t>
                          </m:r>
                        </m:num>
                        <m:den>
                          <m:r>
                            <a:rPr lang="en-US" sz="2000" i="1" dirty="0" smtClean="0">
                              <a:latin typeface="Cambria Math"/>
                              <a:cs typeface="Times New Roman" pitchFamily="18" charset="0"/>
                            </a:rPr>
                            <m:t>34</m:t>
                          </m:r>
                        </m:den>
                      </m:f>
                      <m:r>
                        <a:rPr lang="en-US" sz="2000" i="1" dirty="0" smtClean="0">
                          <a:latin typeface="Cambria Math"/>
                          <a:cs typeface="Times New Roman" pitchFamily="18" charset="0"/>
                        </a:rPr>
                        <m:t> </m:t>
                      </m:r>
                    </m:oMath>
                  </m:oMathPara>
                </a14:m>
                <a:endParaRPr lang="en-US" sz="2000" dirty="0">
                  <a:latin typeface="Times New Roman" pitchFamily="18" charset="0"/>
                  <a:cs typeface="Times New Roman" pitchFamily="18" charset="0"/>
                </a:endParaRPr>
              </a:p>
            </p:txBody>
          </p:sp>
        </mc:Choice>
        <mc:Fallback xmlns="">
          <p:sp>
            <p:nvSpPr>
              <p:cNvPr id="36" name="Rectangle 35"/>
              <p:cNvSpPr>
                <a:spLocks noRot="1" noChangeAspect="1" noMove="1" noResize="1" noEditPoints="1" noAdjustHandles="1" noChangeArrowheads="1" noChangeShapeType="1" noTextEdit="1"/>
              </p:cNvSpPr>
              <p:nvPr/>
            </p:nvSpPr>
            <p:spPr>
              <a:xfrm>
                <a:off x="6096000" y="3790950"/>
                <a:ext cx="853823" cy="670568"/>
              </a:xfrm>
              <a:prstGeom prst="rect">
                <a:avLst/>
              </a:prstGeom>
              <a:blipFill rotWithShape="1">
                <a:blip r:embed="rId8"/>
                <a:stretch>
                  <a:fillRect r="-10714"/>
                </a:stretch>
              </a:blipFill>
            </p:spPr>
            <p:txBody>
              <a:bodyPr/>
              <a:lstStyle/>
              <a:p>
                <a:r>
                  <a:rPr lang="en-US">
                    <a:noFill/>
                  </a:rPr>
                  <a:t> </a:t>
                </a:r>
              </a:p>
            </p:txBody>
          </p:sp>
        </mc:Fallback>
      </mc:AlternateContent>
    </p:spTree>
    <p:extLst>
      <p:ext uri="{BB962C8B-B14F-4D97-AF65-F5344CB8AC3E}">
        <p14:creationId xmlns:p14="http://schemas.microsoft.com/office/powerpoint/2010/main" val="323747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wipe(left)">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left)">
                                      <p:cBhvr>
                                        <p:cTn id="67" dur="500"/>
                                        <p:tgtEl>
                                          <p:spTgt spid="3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wipe(left)">
                                      <p:cBhvr>
                                        <p:cTn id="7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25" grpId="0"/>
      <p:bldP spid="26" grpId="0"/>
      <p:bldP spid="27" grpId="0"/>
      <p:bldP spid="29" grpId="0"/>
      <p:bldP spid="28" grpId="0"/>
      <p:bldP spid="30" grpId="0"/>
      <p:bldP spid="31" grpId="0"/>
      <p:bldP spid="33" grpId="0"/>
      <p:bldP spid="32" grpId="0"/>
      <p:bldP spid="34" grpId="0"/>
      <p:bldP spid="3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76200" y="505420"/>
                <a:ext cx="8915399" cy="1460272"/>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In </a:t>
                </a:r>
                <a:r>
                  <a:rPr lang="en-US" sz="2000" b="1" dirty="0">
                    <a:solidFill>
                      <a:srgbClr val="FF0000"/>
                    </a:solidFill>
                    <a:latin typeface="Times New Roman" pitchFamily="18" charset="0"/>
                    <a:cs typeface="Times New Roman" pitchFamily="18" charset="0"/>
                  </a:rPr>
                  <a:t>a race where 12 cars are running, the chance that car X will win </a:t>
                </a:r>
                <a:r>
                  <a:rPr lang="en-US" sz="2000" b="1" dirty="0" smtClean="0">
                    <a:solidFill>
                      <a:srgbClr val="FF0000"/>
                    </a:solidFill>
                    <a:latin typeface="Times New Roman" pitchFamily="18" charset="0"/>
                    <a:cs typeface="Times New Roman" pitchFamily="18" charset="0"/>
                  </a:rPr>
                  <a:t>	is 1/6</a:t>
                </a:r>
                <a:r>
                  <a:rPr lang="en-US" sz="2000" b="1" dirty="0">
                    <a:solidFill>
                      <a:srgbClr val="FF0000"/>
                    </a:solidFill>
                    <a:latin typeface="Times New Roman" pitchFamily="18" charset="0"/>
                    <a:cs typeface="Times New Roman" pitchFamily="18" charset="0"/>
                  </a:rPr>
                  <a:t>, that Y will win is 1/10 and that Z will win is 1/8. Assuming </a:t>
                </a:r>
                <a:r>
                  <a:rPr lang="en-US" sz="2000" b="1" dirty="0" smtClean="0">
                    <a:solidFill>
                      <a:srgbClr val="FF0000"/>
                    </a:solidFill>
                    <a:latin typeface="Times New Roman" pitchFamily="18" charset="0"/>
                    <a:cs typeface="Times New Roman" pitchFamily="18" charset="0"/>
                  </a:rPr>
                  <a:t>that </a:t>
                </a:r>
                <a:r>
                  <a:rPr lang="en-US" sz="2000" b="1" dirty="0">
                    <a:solidFill>
                      <a:srgbClr val="FF0000"/>
                    </a:solidFill>
                    <a:latin typeface="Times New Roman" pitchFamily="18" charset="0"/>
                    <a:cs typeface="Times New Roman" pitchFamily="18" charset="0"/>
                  </a:rPr>
                  <a:t>a </a:t>
                </a:r>
                <a:r>
                  <a:rPr lang="en-US" sz="2000" b="1" dirty="0" smtClean="0">
                    <a:solidFill>
                      <a:srgbClr val="FF0000"/>
                    </a:solidFill>
                    <a:latin typeface="Times New Roman" pitchFamily="18" charset="0"/>
                    <a:cs typeface="Times New Roman" pitchFamily="18" charset="0"/>
                  </a:rPr>
                  <a:t>dead </a:t>
                </a:r>
                <a:r>
                  <a:rPr lang="en-US" sz="2000" b="1" dirty="0">
                    <a:solidFill>
                      <a:srgbClr val="FF0000"/>
                    </a:solidFill>
                    <a:latin typeface="Times New Roman" pitchFamily="18" charset="0"/>
                    <a:cs typeface="Times New Roman" pitchFamily="18" charset="0"/>
                  </a:rPr>
                  <a:t>heat is impossible, find the chance that one of them will win</a:t>
                </a:r>
                <a:r>
                  <a:rPr lang="en-US" sz="2000" b="1" dirty="0" smtClean="0">
                    <a:solidFill>
                      <a:srgbClr val="FF0000"/>
                    </a:solidFill>
                    <a:latin typeface="Times New Roman" pitchFamily="18" charset="0"/>
                    <a:cs typeface="Times New Roman" pitchFamily="18" charset="0"/>
                  </a:rPr>
                  <a:t>.</a:t>
                </a:r>
              </a:p>
              <a:p>
                <a:r>
                  <a:rPr lang="en-US" sz="2000" b="1" dirty="0" smtClean="0">
                    <a:solidFill>
                      <a:srgbClr val="FF0000"/>
                    </a:solidFill>
                    <a:latin typeface="Times New Roman" pitchFamily="18" charset="0"/>
                    <a:cs typeface="Times New Roman" pitchFamily="18" charset="0"/>
                  </a:rPr>
                  <a:t>	A.</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𝟏𝟒𝟎</m:t>
                        </m:r>
                      </m:den>
                    </m:f>
                  </m:oMath>
                </a14:m>
                <a:r>
                  <a:rPr lang="en-US" sz="2000" b="1" dirty="0" smtClean="0">
                    <a:solidFill>
                      <a:srgbClr val="FF0000"/>
                    </a:solidFill>
                    <a:latin typeface="Times New Roman" pitchFamily="18" charset="0"/>
                    <a:cs typeface="Times New Roman" pitchFamily="18" charset="0"/>
                  </a:rPr>
                  <a:t>		B.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𝟏𝟖𝟎</m:t>
                        </m:r>
                      </m:den>
                    </m:f>
                  </m:oMath>
                </a14:m>
                <a:r>
                  <a:rPr lang="en-US" sz="2000" b="1" dirty="0" smtClean="0">
                    <a:solidFill>
                      <a:srgbClr val="FF0000"/>
                    </a:solidFill>
                    <a:latin typeface="Times New Roman" pitchFamily="18" charset="0"/>
                    <a:cs typeface="Times New Roman" pitchFamily="18" charset="0"/>
                  </a:rPr>
                  <a:t>		C.</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𝟒𝟕</m:t>
                        </m:r>
                      </m:num>
                      <m:den>
                        <m:r>
                          <a:rPr lang="en-US" sz="2000" b="1" i="1" dirty="0" smtClean="0">
                            <a:solidFill>
                              <a:srgbClr val="FF0000"/>
                            </a:solidFill>
                            <a:latin typeface="Cambria Math"/>
                            <a:cs typeface="Times New Roman" pitchFamily="18" charset="0"/>
                          </a:rPr>
                          <m:t>𝟏𝟐𝟎</m:t>
                        </m:r>
                      </m:den>
                    </m:f>
                  </m:oMath>
                </a14:m>
                <a:r>
                  <a:rPr lang="en-US" sz="20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𝟐𝟕</m:t>
                        </m:r>
                      </m:num>
                      <m:den>
                        <m:r>
                          <a:rPr lang="en-US" sz="2000" b="1" i="1" dirty="0" smtClean="0">
                            <a:solidFill>
                              <a:srgbClr val="FF0000"/>
                            </a:solidFill>
                            <a:latin typeface="Cambria Math"/>
                            <a:cs typeface="Times New Roman" pitchFamily="18" charset="0"/>
                          </a:rPr>
                          <m:t>𝟒𝟏𝟎</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6200" y="505420"/>
                <a:ext cx="8915399" cy="1460272"/>
              </a:xfrm>
              <a:prstGeom prst="rect">
                <a:avLst/>
              </a:prstGeom>
              <a:blipFill rotWithShape="1">
                <a:blip r:embed="rId3"/>
                <a:stretch>
                  <a:fillRect l="-752" t="-2092" r="-684" b="-2092"/>
                </a:stretch>
              </a:blipFill>
            </p:spPr>
            <p:txBody>
              <a:bodyPr/>
              <a:lstStyle/>
              <a:p>
                <a:r>
                  <a:rPr lang="en-US">
                    <a:noFill/>
                  </a:rPr>
                  <a:t> </a:t>
                </a:r>
              </a:p>
            </p:txBody>
          </p:sp>
        </mc:Fallback>
      </mc:AlternateContent>
      <p:sp>
        <p:nvSpPr>
          <p:cNvPr id="8" name="Rectangle 7"/>
          <p:cNvSpPr/>
          <p:nvPr/>
        </p:nvSpPr>
        <p:spPr>
          <a:xfrm>
            <a:off x="534422" y="1809750"/>
            <a:ext cx="4541628" cy="400110"/>
          </a:xfrm>
          <a:prstGeom prst="rect">
            <a:avLst/>
          </a:prstGeom>
        </p:spPr>
        <p:txBody>
          <a:bodyPr wrap="none">
            <a:spAutoFit/>
          </a:bodyPr>
          <a:lstStyle/>
          <a:p>
            <a:r>
              <a:rPr lang="en-US" sz="2000" dirty="0" smtClean="0">
                <a:latin typeface="Times New Roman" pitchFamily="18" charset="0"/>
                <a:cs typeface="Times New Roman" pitchFamily="18" charset="0"/>
              </a:rPr>
              <a:t>Here, all </a:t>
            </a:r>
            <a:r>
              <a:rPr lang="en-US" sz="2000" dirty="0">
                <a:latin typeface="Times New Roman" pitchFamily="18" charset="0"/>
                <a:cs typeface="Times New Roman" pitchFamily="18" charset="0"/>
              </a:rPr>
              <a:t>the events are mutually exclusive</a:t>
            </a:r>
          </a:p>
        </p:txBody>
      </p:sp>
      <p:sp>
        <p:nvSpPr>
          <p:cNvPr id="9" name="Rectangle 8"/>
          <p:cNvSpPr/>
          <p:nvPr/>
        </p:nvSpPr>
        <p:spPr>
          <a:xfrm>
            <a:off x="581990" y="2240813"/>
            <a:ext cx="5361610" cy="400110"/>
          </a:xfrm>
          <a:prstGeom prst="rect">
            <a:avLst/>
          </a:prstGeom>
        </p:spPr>
        <p:txBody>
          <a:bodyPr wrap="square">
            <a:spAutoFit/>
          </a:bodyPr>
          <a:lstStyle/>
          <a:p>
            <a:r>
              <a:rPr lang="en-US" sz="2000" dirty="0" smtClean="0">
                <a:latin typeface="Times New Roman" pitchFamily="18" charset="0"/>
                <a:cs typeface="Times New Roman" pitchFamily="18" charset="0"/>
              </a:rPr>
              <a:t>So, required </a:t>
            </a:r>
            <a:r>
              <a:rPr lang="en-US" sz="2000" dirty="0">
                <a:latin typeface="Times New Roman" pitchFamily="18" charset="0"/>
                <a:cs typeface="Times New Roman" pitchFamily="18" charset="0"/>
              </a:rPr>
              <a:t>probability = P(X) + P(Y) + P(Z)</a:t>
            </a:r>
          </a:p>
        </p:txBody>
      </p:sp>
      <mc:AlternateContent xmlns:mc="http://schemas.openxmlformats.org/markup-compatibility/2006" xmlns:a14="http://schemas.microsoft.com/office/drawing/2010/main">
        <mc:Choice Requires="a14">
          <p:sp>
            <p:nvSpPr>
              <p:cNvPr id="10" name="Rectangle 9"/>
              <p:cNvSpPr/>
              <p:nvPr/>
            </p:nvSpPr>
            <p:spPr>
              <a:xfrm>
                <a:off x="685800" y="2610145"/>
                <a:ext cx="1673343" cy="529056"/>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6</m:t>
                        </m:r>
                      </m:den>
                    </m:f>
                    <m:r>
                      <a:rPr lang="en-US" sz="2000" i="1" dirty="0" smtClean="0">
                        <a:latin typeface="Cambria Math"/>
                        <a:cs typeface="Times New Roman" pitchFamily="18" charset="0"/>
                      </a:rPr>
                      <m:t> +</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10</m:t>
                        </m:r>
                      </m:den>
                    </m:f>
                    <m:r>
                      <a:rPr lang="en-US" sz="2000" i="1" dirty="0" smtClean="0">
                        <a:latin typeface="Cambria Math"/>
                        <a:cs typeface="Times New Roman" pitchFamily="18" charset="0"/>
                      </a:rPr>
                      <m:t> +</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8</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685800" y="2610145"/>
                <a:ext cx="1673343" cy="529056"/>
              </a:xfrm>
              <a:prstGeom prst="rect">
                <a:avLst/>
              </a:prstGeom>
              <a:blipFill rotWithShape="1">
                <a:blip r:embed="rId4"/>
                <a:stretch>
                  <a:fillRect r="-6569"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85800" y="3139201"/>
                <a:ext cx="940386" cy="6694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47</m:t>
                          </m:r>
                        </m:num>
                        <m:den>
                          <m:r>
                            <a:rPr lang="en-US" sz="2000" i="1" dirty="0" smtClean="0">
                              <a:latin typeface="Cambria Math"/>
                              <a:cs typeface="Times New Roman" pitchFamily="18" charset="0"/>
                            </a:rPr>
                            <m:t>120</m:t>
                          </m:r>
                        </m:den>
                      </m:f>
                    </m:oMath>
                  </m:oMathPara>
                </a14:m>
                <a:endParaRPr lang="en-US" sz="2000" dirty="0">
                  <a:latin typeface="Times New Roman" pitchFamily="18" charset="0"/>
                  <a:cs typeface="Times New Roman" pitchFamily="18"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685800" y="3139201"/>
                <a:ext cx="940386" cy="669479"/>
              </a:xfrm>
              <a:prstGeom prst="rect">
                <a:avLst/>
              </a:prstGeom>
              <a:blipFill rotWithShape="1">
                <a:blip r:embed="rId5"/>
                <a:stretch>
                  <a:fillRect r="-9740"/>
                </a:stretch>
              </a:blipFill>
            </p:spPr>
            <p:txBody>
              <a:bodyPr/>
              <a:lstStyle/>
              <a:p>
                <a:r>
                  <a:rPr lang="en-US">
                    <a:noFill/>
                  </a:rPr>
                  <a:t> </a:t>
                </a:r>
              </a:p>
            </p:txBody>
          </p:sp>
        </mc:Fallback>
      </mc:AlternateContent>
    </p:spTree>
    <p:extLst>
      <p:ext uri="{BB962C8B-B14F-4D97-AF65-F5344CB8AC3E}">
        <p14:creationId xmlns:p14="http://schemas.microsoft.com/office/powerpoint/2010/main" val="41623730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76200" y="361950"/>
                <a:ext cx="8915399" cy="1289327"/>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The </a:t>
                </a:r>
                <a:r>
                  <a:rPr lang="en-US" sz="2000" b="1" dirty="0">
                    <a:solidFill>
                      <a:srgbClr val="FF0000"/>
                    </a:solidFill>
                    <a:latin typeface="Times New Roman" pitchFamily="18" charset="0"/>
                    <a:cs typeface="Times New Roman" pitchFamily="18" charset="0"/>
                  </a:rPr>
                  <a:t>probability that Alex will solve a problem is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𝟓</m:t>
                        </m:r>
                      </m:den>
                    </m:f>
                  </m:oMath>
                </a14:m>
                <a:r>
                  <a:rPr lang="en-US" sz="2000" b="1" dirty="0">
                    <a:solidFill>
                      <a:srgbClr val="FF0000"/>
                    </a:solidFill>
                    <a:latin typeface="Times New Roman" pitchFamily="18" charset="0"/>
                    <a:cs typeface="Times New Roman" pitchFamily="18" charset="0"/>
                  </a:rPr>
                  <a:t>. What is the </a:t>
                </a:r>
                <a:r>
                  <a:rPr lang="en-US" sz="2000" b="1" dirty="0" smtClean="0">
                    <a:solidFill>
                      <a:srgbClr val="FF0000"/>
                    </a:solidFill>
                    <a:latin typeface="Times New Roman" pitchFamily="18" charset="0"/>
                    <a:cs typeface="Times New Roman" pitchFamily="18" charset="0"/>
                  </a:rPr>
                  <a:t>probability </a:t>
                </a:r>
                <a:r>
                  <a:rPr lang="en-US" sz="2000" b="1" dirty="0">
                    <a:solidFill>
                      <a:srgbClr val="FF0000"/>
                    </a:solidFill>
                    <a:latin typeface="Times New Roman" pitchFamily="18" charset="0"/>
                    <a:cs typeface="Times New Roman" pitchFamily="18" charset="0"/>
                  </a:rPr>
                  <a:t>that he solves at least one problem out of 4 </a:t>
                </a:r>
                <a:r>
                  <a:rPr lang="en-US" sz="2000" b="1" dirty="0" smtClean="0">
                    <a:solidFill>
                      <a:srgbClr val="FF0000"/>
                    </a:solidFill>
                    <a:latin typeface="Times New Roman" pitchFamily="18" charset="0"/>
                    <a:cs typeface="Times New Roman" pitchFamily="18" charset="0"/>
                  </a:rPr>
                  <a:t>problems?</a:t>
                </a:r>
              </a:p>
              <a:p>
                <a:r>
                  <a:rPr lang="en-US" sz="2000" b="1" dirty="0" smtClean="0">
                    <a:solidFill>
                      <a:srgbClr val="FF0000"/>
                    </a:solidFill>
                    <a:latin typeface="Times New Roman" pitchFamily="18" charset="0"/>
                    <a:cs typeface="Times New Roman" pitchFamily="18" charset="0"/>
                  </a:rPr>
                  <a:t>	A.</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𝟔𝟒</m:t>
                        </m:r>
                      </m:num>
                      <m:den>
                        <m:r>
                          <a:rPr lang="en-US" sz="2000" b="1" i="1" dirty="0" smtClean="0">
                            <a:solidFill>
                              <a:srgbClr val="FF0000"/>
                            </a:solidFill>
                            <a:latin typeface="Cambria Math"/>
                            <a:cs typeface="Times New Roman" pitchFamily="18" charset="0"/>
                          </a:rPr>
                          <m:t>𝟏𝟐𝟓</m:t>
                        </m:r>
                      </m:den>
                    </m:f>
                  </m:oMath>
                </a14:m>
                <a:r>
                  <a:rPr lang="en-US" sz="2000" b="1" dirty="0" smtClean="0">
                    <a:solidFill>
                      <a:srgbClr val="FF0000"/>
                    </a:solidFill>
                    <a:latin typeface="Times New Roman" pitchFamily="18" charset="0"/>
                    <a:cs typeface="Times New Roman" pitchFamily="18" charset="0"/>
                  </a:rPr>
                  <a:t>	B.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𝟐𝟓𝟔</m:t>
                        </m:r>
                      </m:num>
                      <m:den>
                        <m:r>
                          <a:rPr lang="en-US" sz="2000" b="1" i="1" dirty="0" smtClean="0">
                            <a:solidFill>
                              <a:srgbClr val="FF0000"/>
                            </a:solidFill>
                            <a:latin typeface="Cambria Math"/>
                            <a:cs typeface="Times New Roman" pitchFamily="18" charset="0"/>
                          </a:rPr>
                          <m:t>𝟔𝟐𝟓</m:t>
                        </m:r>
                      </m:den>
                    </m:f>
                  </m:oMath>
                </a14:m>
                <a:r>
                  <a:rPr lang="en-US" sz="2000" b="1" dirty="0" smtClean="0">
                    <a:solidFill>
                      <a:srgbClr val="FF0000"/>
                    </a:solidFill>
                    <a:latin typeface="Times New Roman" pitchFamily="18" charset="0"/>
                    <a:cs typeface="Times New Roman" pitchFamily="18" charset="0"/>
                  </a:rPr>
                  <a:t>		C.</a:t>
                </a:r>
                <a:r>
                  <a:rPr lang="en-US" sz="2000" b="1" dirty="0">
                    <a:solidFill>
                      <a:srgbClr val="FF0000"/>
                    </a:solidFill>
                    <a:latin typeface="Times New Roman" pitchFamily="18" charset="0"/>
                    <a:cs typeface="Times New Roman" pitchFamily="18" charset="0"/>
                  </a:rPr>
                  <a:t>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𝟔𝟒</m:t>
                        </m:r>
                      </m:num>
                      <m:den>
                        <m:r>
                          <a:rPr lang="en-US" sz="2000" b="1" i="1" dirty="0" smtClean="0">
                            <a:solidFill>
                              <a:srgbClr val="FF0000"/>
                            </a:solidFill>
                            <a:latin typeface="Cambria Math"/>
                            <a:cs typeface="Times New Roman" pitchFamily="18" charset="0"/>
                          </a:rPr>
                          <m:t>𝟔𝟐𝟓</m:t>
                        </m:r>
                      </m:den>
                    </m:f>
                  </m:oMath>
                </a14:m>
                <a:r>
                  <a:rPr lang="en-US" sz="20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𝟑𝟔𝟗</m:t>
                        </m:r>
                      </m:num>
                      <m:den>
                        <m:r>
                          <a:rPr lang="en-US" sz="2000" b="1" i="1" dirty="0" smtClean="0">
                            <a:solidFill>
                              <a:srgbClr val="FF0000"/>
                            </a:solidFill>
                            <a:latin typeface="Cambria Math"/>
                            <a:cs typeface="Times New Roman" pitchFamily="18" charset="0"/>
                          </a:rPr>
                          <m:t>𝟔𝟐𝟓</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6200" y="361950"/>
                <a:ext cx="8915399" cy="1289327"/>
              </a:xfrm>
              <a:prstGeom prst="rect">
                <a:avLst/>
              </a:prstGeom>
              <a:blipFill rotWithShape="1">
                <a:blip r:embed="rId3"/>
                <a:stretch>
                  <a:fillRect l="-752" b="-2358"/>
                </a:stretch>
              </a:blipFill>
            </p:spPr>
            <p:txBody>
              <a:bodyPr/>
              <a:lstStyle/>
              <a:p>
                <a:r>
                  <a:rPr lang="en-US">
                    <a:noFill/>
                  </a:rPr>
                  <a:t> </a:t>
                </a:r>
              </a:p>
            </p:txBody>
          </p:sp>
        </mc:Fallback>
      </mc:AlternateContent>
      <p:sp>
        <p:nvSpPr>
          <p:cNvPr id="2" name="Rectangle 1"/>
          <p:cNvSpPr/>
          <p:nvPr/>
        </p:nvSpPr>
        <p:spPr>
          <a:xfrm>
            <a:off x="232672" y="1472215"/>
            <a:ext cx="5638800" cy="400110"/>
          </a:xfrm>
          <a:prstGeom prst="rect">
            <a:avLst/>
          </a:prstGeom>
        </p:spPr>
        <p:txBody>
          <a:bodyPr wrap="square">
            <a:spAutoFit/>
          </a:bodyPr>
          <a:lstStyle/>
          <a:p>
            <a:r>
              <a:rPr lang="en-US" sz="2000" dirty="0" smtClean="0">
                <a:latin typeface="Times New Roman" pitchFamily="18" charset="0"/>
                <a:cs typeface="Times New Roman" pitchFamily="18" charset="0"/>
              </a:rPr>
              <a:t>Given, </a:t>
            </a:r>
            <a:r>
              <a:rPr lang="en-US" sz="2000" dirty="0">
                <a:latin typeface="Times New Roman" pitchFamily="18" charset="0"/>
                <a:cs typeface="Times New Roman" pitchFamily="18" charset="0"/>
              </a:rPr>
              <a:t>t</a:t>
            </a:r>
            <a:r>
              <a:rPr lang="en-US" sz="2000" dirty="0" smtClean="0">
                <a:latin typeface="Times New Roman" pitchFamily="18" charset="0"/>
                <a:cs typeface="Times New Roman" pitchFamily="18" charset="0"/>
              </a:rPr>
              <a:t>he </a:t>
            </a:r>
            <a:r>
              <a:rPr lang="en-US" sz="2000" dirty="0">
                <a:latin typeface="Times New Roman" pitchFamily="18" charset="0"/>
                <a:cs typeface="Times New Roman" pitchFamily="18" charset="0"/>
              </a:rPr>
              <a:t>probability that Alex will </a:t>
            </a:r>
            <a:r>
              <a:rPr lang="en-US" sz="2000" dirty="0" smtClean="0">
                <a:latin typeface="Times New Roman" pitchFamily="18" charset="0"/>
                <a:cs typeface="Times New Roman" pitchFamily="18" charset="0"/>
              </a:rPr>
              <a:t>solve </a:t>
            </a:r>
            <a:r>
              <a:rPr lang="en-US" sz="2000" dirty="0">
                <a:latin typeface="Times New Roman" pitchFamily="18" charset="0"/>
                <a:cs typeface="Times New Roman" pitchFamily="18" charset="0"/>
              </a:rPr>
              <a:t>a problem </a:t>
            </a:r>
          </a:p>
        </p:txBody>
      </p:sp>
      <mc:AlternateContent xmlns:mc="http://schemas.openxmlformats.org/markup-compatibility/2006" xmlns:a14="http://schemas.microsoft.com/office/drawing/2010/main">
        <mc:Choice Requires="a14">
          <p:sp>
            <p:nvSpPr>
              <p:cNvPr id="3" name="Rectangle 2"/>
              <p:cNvSpPr/>
              <p:nvPr/>
            </p:nvSpPr>
            <p:spPr>
              <a:xfrm>
                <a:off x="5871472" y="1496064"/>
                <a:ext cx="621389" cy="528863"/>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5</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5871472" y="1496064"/>
                <a:ext cx="621389" cy="528863"/>
              </a:xfrm>
              <a:prstGeom prst="rect">
                <a:avLst/>
              </a:prstGeom>
              <a:blipFill rotWithShape="1">
                <a:blip r:embed="rId4"/>
                <a:stretch>
                  <a:fillRect r="-20588" b="-6897"/>
                </a:stretch>
              </a:blipFill>
            </p:spPr>
            <p:txBody>
              <a:bodyPr/>
              <a:lstStyle/>
              <a:p>
                <a:r>
                  <a:rPr lang="en-US">
                    <a:noFill/>
                  </a:rPr>
                  <a:t> </a:t>
                </a:r>
              </a:p>
            </p:txBody>
          </p:sp>
        </mc:Fallback>
      </mc:AlternateContent>
      <p:sp>
        <p:nvSpPr>
          <p:cNvPr id="12" name="Rectangle 11"/>
          <p:cNvSpPr/>
          <p:nvPr/>
        </p:nvSpPr>
        <p:spPr>
          <a:xfrm>
            <a:off x="223812" y="1857438"/>
            <a:ext cx="5766322" cy="400110"/>
          </a:xfrm>
          <a:prstGeom prst="rect">
            <a:avLst/>
          </a:prstGeom>
        </p:spPr>
        <p:txBody>
          <a:bodyPr wrap="square">
            <a:spAutoFit/>
          </a:bodyPr>
          <a:lstStyle/>
          <a:p>
            <a:r>
              <a:rPr lang="en-US" sz="2000" dirty="0" smtClean="0">
                <a:latin typeface="Times New Roman" pitchFamily="18" charset="0"/>
                <a:cs typeface="Times New Roman" pitchFamily="18" charset="0"/>
              </a:rPr>
              <a:t>so, </a:t>
            </a:r>
            <a:r>
              <a:rPr lang="en-US" sz="2000" dirty="0">
                <a:latin typeface="Times New Roman" pitchFamily="18" charset="0"/>
                <a:cs typeface="Times New Roman" pitchFamily="18" charset="0"/>
              </a:rPr>
              <a:t>t</a:t>
            </a:r>
            <a:r>
              <a:rPr lang="en-US" sz="2000" dirty="0" smtClean="0">
                <a:latin typeface="Times New Roman" pitchFamily="18" charset="0"/>
                <a:cs typeface="Times New Roman" pitchFamily="18" charset="0"/>
              </a:rPr>
              <a:t>he </a:t>
            </a:r>
            <a:r>
              <a:rPr lang="en-US" sz="2000" dirty="0">
                <a:latin typeface="Times New Roman" pitchFamily="18" charset="0"/>
                <a:cs typeface="Times New Roman" pitchFamily="18" charset="0"/>
              </a:rPr>
              <a:t>probability that Alex will </a:t>
            </a:r>
            <a:r>
              <a:rPr lang="en-US" sz="2000" dirty="0" smtClean="0">
                <a:latin typeface="Times New Roman" pitchFamily="18" charset="0"/>
                <a:cs typeface="Times New Roman" pitchFamily="18" charset="0"/>
              </a:rPr>
              <a:t>not solve </a:t>
            </a:r>
            <a:r>
              <a:rPr lang="en-US" sz="2000" dirty="0">
                <a:latin typeface="Times New Roman" pitchFamily="18" charset="0"/>
                <a:cs typeface="Times New Roman" pitchFamily="18" charset="0"/>
              </a:rPr>
              <a:t>a problem </a:t>
            </a:r>
          </a:p>
        </p:txBody>
      </p:sp>
      <p:sp>
        <p:nvSpPr>
          <p:cNvPr id="13" name="Rectangle 12"/>
          <p:cNvSpPr/>
          <p:nvPr/>
        </p:nvSpPr>
        <p:spPr>
          <a:xfrm>
            <a:off x="5732902" y="1872325"/>
            <a:ext cx="521297" cy="400110"/>
          </a:xfrm>
          <a:prstGeom prst="rect">
            <a:avLst/>
          </a:prstGeom>
        </p:spPr>
        <p:txBody>
          <a:bodyPr wrap="none">
            <a:spAutoFit/>
          </a:bodyPr>
          <a:lstStyle/>
          <a:p>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4" name="Rectangle 13"/>
              <p:cNvSpPr/>
              <p:nvPr/>
            </p:nvSpPr>
            <p:spPr>
              <a:xfrm>
                <a:off x="6099882" y="1807948"/>
                <a:ext cx="592919" cy="528863"/>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5</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6099882" y="1807948"/>
                <a:ext cx="592919" cy="528863"/>
              </a:xfrm>
              <a:prstGeom prst="rect">
                <a:avLst/>
              </a:prstGeom>
              <a:blipFill rotWithShape="1">
                <a:blip r:embed="rId5"/>
                <a:stretch>
                  <a:fillRect r="-20619" b="-81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631610" y="1760495"/>
                <a:ext cx="655051" cy="6694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4</m:t>
                          </m:r>
                        </m:num>
                        <m:den>
                          <m:r>
                            <a:rPr lang="en-US" sz="2000" i="1" dirty="0" smtClean="0">
                              <a:latin typeface="Cambria Math"/>
                              <a:cs typeface="Times New Roman" pitchFamily="18" charset="0"/>
                            </a:rPr>
                            <m:t>5</m:t>
                          </m:r>
                        </m:den>
                      </m:f>
                    </m:oMath>
                  </m:oMathPara>
                </a14:m>
                <a:endParaRPr lang="en-US" sz="2000" dirty="0">
                  <a:latin typeface="Times New Roman" pitchFamily="18" charset="0"/>
                  <a:cs typeface="Times New Roman" pitchFamily="18"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6631610" y="1760495"/>
                <a:ext cx="655051" cy="669414"/>
              </a:xfrm>
              <a:prstGeom prst="rect">
                <a:avLst/>
              </a:prstGeom>
              <a:blipFill rotWithShape="1">
                <a:blip r:embed="rId6"/>
                <a:stretch>
                  <a:fillRect r="-14953"/>
                </a:stretch>
              </a:blipFill>
            </p:spPr>
            <p:txBody>
              <a:bodyPr/>
              <a:lstStyle/>
              <a:p>
                <a:r>
                  <a:rPr lang="en-US">
                    <a:noFill/>
                  </a:rPr>
                  <a:t> </a:t>
                </a:r>
              </a:p>
            </p:txBody>
          </p:sp>
        </mc:Fallback>
      </mc:AlternateContent>
      <p:sp>
        <p:nvSpPr>
          <p:cNvPr id="6" name="Rectangle 5"/>
          <p:cNvSpPr/>
          <p:nvPr/>
        </p:nvSpPr>
        <p:spPr>
          <a:xfrm>
            <a:off x="253290" y="2709818"/>
            <a:ext cx="5736843" cy="400110"/>
          </a:xfrm>
          <a:prstGeom prst="rect">
            <a:avLst/>
          </a:prstGeom>
        </p:spPr>
        <p:txBody>
          <a:bodyPr wrap="square">
            <a:spAutoFit/>
          </a:bodyPr>
          <a:lstStyle/>
          <a:p>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probability that Alex will not solve </a:t>
            </a:r>
            <a:r>
              <a:rPr lang="en-US" sz="2000" dirty="0" smtClean="0">
                <a:latin typeface="Times New Roman" pitchFamily="18" charset="0"/>
                <a:cs typeface="Times New Roman" pitchFamily="18" charset="0"/>
              </a:rPr>
              <a:t>any </a:t>
            </a:r>
            <a:r>
              <a:rPr lang="en-US" sz="2000" dirty="0">
                <a:latin typeface="Times New Roman" pitchFamily="18" charset="0"/>
                <a:cs typeface="Times New Roman" pitchFamily="18" charset="0"/>
              </a:rPr>
              <a:t>problems</a:t>
            </a:r>
          </a:p>
        </p:txBody>
      </p:sp>
      <mc:AlternateContent xmlns:mc="http://schemas.openxmlformats.org/markup-compatibility/2006" xmlns:a14="http://schemas.microsoft.com/office/drawing/2010/main">
        <mc:Choice Requires="a14">
          <p:sp>
            <p:nvSpPr>
              <p:cNvPr id="16" name="Rectangle 15"/>
              <p:cNvSpPr/>
              <p:nvPr/>
            </p:nvSpPr>
            <p:spPr>
              <a:xfrm>
                <a:off x="5638800" y="2568875"/>
                <a:ext cx="1091902" cy="612475"/>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 </m:t>
                    </m:r>
                    <m:sSup>
                      <m:sSupPr>
                        <m:ctrlPr>
                          <a:rPr lang="en-US" sz="2000" i="1" dirty="0" smtClean="0">
                            <a:latin typeface="Cambria Math"/>
                            <a:cs typeface="Times New Roman" pitchFamily="18" charset="0"/>
                          </a:rPr>
                        </m:ctrlPr>
                      </m:sSupPr>
                      <m:e>
                        <m:d>
                          <m:dPr>
                            <m:ctrlPr>
                              <a:rPr lang="en-US" sz="2000" i="1" dirty="0">
                                <a:latin typeface="Cambria Math"/>
                                <a:cs typeface="Times New Roman" pitchFamily="18" charset="0"/>
                              </a:rPr>
                            </m:ctrlPr>
                          </m:dPr>
                          <m:e>
                            <m:f>
                              <m:fPr>
                                <m:ctrlPr>
                                  <a:rPr lang="en-US" sz="2000" i="1" dirty="0">
                                    <a:latin typeface="Cambria Math"/>
                                    <a:cs typeface="Times New Roman" pitchFamily="18" charset="0"/>
                                  </a:rPr>
                                </m:ctrlPr>
                              </m:fPr>
                              <m:num>
                                <m:r>
                                  <a:rPr lang="en-US" sz="2000" i="1" dirty="0">
                                    <a:latin typeface="Cambria Math"/>
                                    <a:cs typeface="Times New Roman" pitchFamily="18" charset="0"/>
                                  </a:rPr>
                                  <m:t>4</m:t>
                                </m:r>
                              </m:num>
                              <m:den>
                                <m:r>
                                  <a:rPr lang="en-US" sz="2000" i="1" dirty="0">
                                    <a:latin typeface="Cambria Math"/>
                                    <a:cs typeface="Times New Roman" pitchFamily="18" charset="0"/>
                                  </a:rPr>
                                  <m:t>5</m:t>
                                </m:r>
                              </m:den>
                            </m:f>
                          </m:e>
                        </m:d>
                      </m:e>
                      <m:sup>
                        <m:r>
                          <a:rPr lang="en-US" sz="2000" b="0" i="1" dirty="0" smtClean="0">
                            <a:latin typeface="Cambria Math"/>
                            <a:cs typeface="Times New Roman" pitchFamily="18" charset="0"/>
                          </a:rPr>
                          <m:t>4</m:t>
                        </m:r>
                      </m:sup>
                    </m:sSup>
                  </m:oMath>
                </a14:m>
                <a:r>
                  <a:rPr lang="en-US" sz="2000" baseline="30000" dirty="0">
                    <a:latin typeface="Times New Roman" pitchFamily="18" charset="0"/>
                    <a:cs typeface="Times New Roman" pitchFamily="18" charset="0"/>
                  </a:rPr>
                  <a:t> </a:t>
                </a:r>
                <a:r>
                  <a:rPr lang="en-US" sz="2000" dirty="0">
                    <a:latin typeface="Times New Roman" pitchFamily="18" charset="0"/>
                    <a:cs typeface="Times New Roman" pitchFamily="18" charset="0"/>
                  </a:rPr>
                  <a:t> </a:t>
                </a:r>
              </a:p>
            </p:txBody>
          </p:sp>
        </mc:Choice>
        <mc:Fallback xmlns="">
          <p:sp>
            <p:nvSpPr>
              <p:cNvPr id="16" name="Rectangle 15"/>
              <p:cNvSpPr>
                <a:spLocks noRot="1" noChangeAspect="1" noMove="1" noResize="1" noEditPoints="1" noAdjustHandles="1" noChangeArrowheads="1" noChangeShapeType="1" noTextEdit="1"/>
              </p:cNvSpPr>
              <p:nvPr/>
            </p:nvSpPr>
            <p:spPr>
              <a:xfrm>
                <a:off x="5638800" y="2568875"/>
                <a:ext cx="1091902" cy="612475"/>
              </a:xfrm>
              <a:prstGeom prst="rect">
                <a:avLst/>
              </a:prstGeom>
              <a:blipFill rotWithShape="1">
                <a:blip r:embed="rId7"/>
                <a:stretch>
                  <a:fillRect r="-10615" b="-39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657271" y="2681917"/>
                <a:ext cx="839397" cy="533929"/>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256</m:t>
                        </m:r>
                      </m:num>
                      <m:den>
                        <m:r>
                          <a:rPr lang="en-US" sz="2000" i="1" dirty="0" smtClean="0">
                            <a:latin typeface="Cambria Math"/>
                            <a:cs typeface="Times New Roman" pitchFamily="18" charset="0"/>
                          </a:rPr>
                          <m:t>625</m:t>
                        </m:r>
                      </m:den>
                    </m:f>
                  </m:oMath>
                </a14:m>
                <a:r>
                  <a:rPr lang="en-US" sz="2000" dirty="0">
                    <a:latin typeface="Times New Roman" pitchFamily="18" charset="0"/>
                    <a:cs typeface="Times New Roman" pitchFamily="18" charset="0"/>
                  </a:rPr>
                  <a:t>.</a:t>
                </a:r>
              </a:p>
            </p:txBody>
          </p:sp>
        </mc:Choice>
        <mc:Fallback xmlns="">
          <p:sp>
            <p:nvSpPr>
              <p:cNvPr id="17" name="Rectangle 16"/>
              <p:cNvSpPr>
                <a:spLocks noRot="1" noChangeAspect="1" noMove="1" noResize="1" noEditPoints="1" noAdjustHandles="1" noChangeArrowheads="1" noChangeShapeType="1" noTextEdit="1"/>
              </p:cNvSpPr>
              <p:nvPr/>
            </p:nvSpPr>
            <p:spPr>
              <a:xfrm>
                <a:off x="6657271" y="2681917"/>
                <a:ext cx="839397" cy="533929"/>
              </a:xfrm>
              <a:prstGeom prst="rect">
                <a:avLst/>
              </a:prstGeom>
              <a:blipFill rotWithShape="1">
                <a:blip r:embed="rId8"/>
                <a:stretch>
                  <a:fillRect r="-15217" b="-5682"/>
                </a:stretch>
              </a:blipFill>
            </p:spPr>
            <p:txBody>
              <a:bodyPr/>
              <a:lstStyle/>
              <a:p>
                <a:r>
                  <a:rPr lang="en-US">
                    <a:noFill/>
                  </a:rPr>
                  <a:t> </a:t>
                </a:r>
              </a:p>
            </p:txBody>
          </p:sp>
        </mc:Fallback>
      </mc:AlternateContent>
      <p:sp>
        <p:nvSpPr>
          <p:cNvPr id="18" name="Rectangle 17"/>
          <p:cNvSpPr/>
          <p:nvPr/>
        </p:nvSpPr>
        <p:spPr>
          <a:xfrm>
            <a:off x="802639" y="3311664"/>
            <a:ext cx="3540761" cy="707886"/>
          </a:xfrm>
          <a:prstGeom prst="rect">
            <a:avLst/>
          </a:prstGeom>
        </p:spPr>
        <p:txBody>
          <a:bodyPr wrap="square">
            <a:spAutoFit/>
          </a:bodyPr>
          <a:lstStyle/>
          <a:p>
            <a:r>
              <a:rPr lang="en-US" sz="2000" dirty="0">
                <a:latin typeface="Times New Roman" pitchFamily="18" charset="0"/>
                <a:cs typeface="Times New Roman" pitchFamily="18" charset="0"/>
              </a:rPr>
              <a:t>Hence, the probability that Alex will solve at least one problem </a:t>
            </a:r>
          </a:p>
        </p:txBody>
      </p:sp>
      <mc:AlternateContent xmlns:mc="http://schemas.openxmlformats.org/markup-compatibility/2006" xmlns:a14="http://schemas.microsoft.com/office/drawing/2010/main">
        <mc:Choice Requires="a14">
          <p:sp>
            <p:nvSpPr>
              <p:cNvPr id="19" name="Rectangle 18"/>
              <p:cNvSpPr/>
              <p:nvPr/>
            </p:nvSpPr>
            <p:spPr>
              <a:xfrm>
                <a:off x="4160820" y="3215846"/>
                <a:ext cx="1400640" cy="533929"/>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 1 −</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256</m:t>
                        </m:r>
                      </m:num>
                      <m:den>
                        <m:r>
                          <a:rPr lang="en-US" sz="2000" i="1" dirty="0" smtClean="0">
                            <a:latin typeface="Cambria Math"/>
                            <a:cs typeface="Times New Roman" pitchFamily="18" charset="0"/>
                          </a:rPr>
                          <m:t>625</m:t>
                        </m:r>
                      </m:den>
                    </m:f>
                  </m:oMath>
                </a14:m>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mc:Choice>
        <mc:Fallback xmlns="">
          <p:sp>
            <p:nvSpPr>
              <p:cNvPr id="19" name="Rectangle 18"/>
              <p:cNvSpPr>
                <a:spLocks noRot="1" noChangeAspect="1" noMove="1" noResize="1" noEditPoints="1" noAdjustHandles="1" noChangeArrowheads="1" noChangeShapeType="1" noTextEdit="1"/>
              </p:cNvSpPr>
              <p:nvPr/>
            </p:nvSpPr>
            <p:spPr>
              <a:xfrm>
                <a:off x="4160820" y="3215846"/>
                <a:ext cx="1400640" cy="533929"/>
              </a:xfrm>
              <a:prstGeom prst="rect">
                <a:avLst/>
              </a:prstGeom>
              <a:blipFill rotWithShape="1">
                <a:blip r:embed="rId9"/>
                <a:stretch>
                  <a:fillRect r="-8734"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4045069" y="3648354"/>
                <a:ext cx="839397" cy="529504"/>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369</m:t>
                        </m:r>
                      </m:num>
                      <m:den>
                        <m:r>
                          <a:rPr lang="en-US" sz="2000" i="1" dirty="0" smtClean="0">
                            <a:latin typeface="Cambria Math"/>
                            <a:cs typeface="Times New Roman" pitchFamily="18" charset="0"/>
                          </a:rPr>
                          <m:t>625</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20" name="Rectangle 19"/>
              <p:cNvSpPr>
                <a:spLocks noRot="1" noChangeAspect="1" noMove="1" noResize="1" noEditPoints="1" noAdjustHandles="1" noChangeArrowheads="1" noChangeShapeType="1" noTextEdit="1"/>
              </p:cNvSpPr>
              <p:nvPr/>
            </p:nvSpPr>
            <p:spPr>
              <a:xfrm>
                <a:off x="4045069" y="3648354"/>
                <a:ext cx="839397" cy="529504"/>
              </a:xfrm>
              <a:prstGeom prst="rect">
                <a:avLst/>
              </a:prstGeom>
              <a:blipFill rotWithShape="1">
                <a:blip r:embed="rId10"/>
                <a:stretch>
                  <a:fillRect r="-14599" b="-6897"/>
                </a:stretch>
              </a:blipFill>
            </p:spPr>
            <p:txBody>
              <a:bodyPr/>
              <a:lstStyle/>
              <a:p>
                <a:r>
                  <a:rPr lang="en-US">
                    <a:noFill/>
                  </a:rPr>
                  <a:t> </a:t>
                </a:r>
              </a:p>
            </p:txBody>
          </p:sp>
        </mc:Fallback>
      </mc:AlternateContent>
      <p:sp>
        <p:nvSpPr>
          <p:cNvPr id="21" name="Rectangle 20"/>
          <p:cNvSpPr/>
          <p:nvPr/>
        </p:nvSpPr>
        <p:spPr>
          <a:xfrm>
            <a:off x="5876127" y="3908125"/>
            <a:ext cx="862737" cy="400110"/>
          </a:xfrm>
          <a:prstGeom prst="rect">
            <a:avLst/>
          </a:prstGeom>
        </p:spPr>
        <p:txBody>
          <a:bodyPr wrap="none">
            <a:spAutoFit/>
          </a:bodyPr>
          <a:lstStyle/>
          <a:p>
            <a:r>
              <a:rPr lang="en-US" sz="2000" b="1" dirty="0" smtClean="0">
                <a:latin typeface="Times New Roman" pitchFamily="18" charset="0"/>
                <a:cs typeface="Times New Roman" pitchFamily="18" charset="0"/>
              </a:rPr>
              <a:t>Ans D</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74982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left)">
                                      <p:cBhvr>
                                        <p:cTn id="6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2" grpId="0"/>
      <p:bldP spid="13" grpId="0"/>
      <p:bldP spid="14" grpId="0"/>
      <p:bldP spid="15" grpId="0"/>
      <p:bldP spid="6" grpId="0"/>
      <p:bldP spid="16" grpId="0"/>
      <p:bldP spid="17" grpId="0"/>
      <p:bldP spid="18" grpId="0"/>
      <p:bldP spid="19" grpId="0"/>
      <p:bldP spid="20" grpId="0"/>
      <p:bldP spid="2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381000" y="438150"/>
                <a:ext cx="8534400" cy="2074350"/>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In </a:t>
                </a:r>
                <a:r>
                  <a:rPr lang="en-US" sz="2000" b="1" dirty="0">
                    <a:solidFill>
                      <a:srgbClr val="FF0000"/>
                    </a:solidFill>
                    <a:latin typeface="Times New Roman" pitchFamily="18" charset="0"/>
                    <a:cs typeface="Times New Roman" pitchFamily="18" charset="0"/>
                  </a:rPr>
                  <a:t>his room, Dumbo has three trousers. One of them is black, the </a:t>
                </a:r>
                <a:r>
                  <a:rPr lang="en-US" sz="2000" b="1" dirty="0" smtClean="0">
                    <a:solidFill>
                      <a:srgbClr val="FF0000"/>
                    </a:solidFill>
                    <a:latin typeface="Times New Roman" pitchFamily="18" charset="0"/>
                    <a:cs typeface="Times New Roman" pitchFamily="18" charset="0"/>
                  </a:rPr>
                  <a:t>second is </a:t>
                </a:r>
                <a:r>
                  <a:rPr lang="en-US" sz="2000" b="1" dirty="0">
                    <a:solidFill>
                      <a:srgbClr val="FF0000"/>
                    </a:solidFill>
                    <a:latin typeface="Times New Roman" pitchFamily="18" charset="0"/>
                    <a:cs typeface="Times New Roman" pitchFamily="18" charset="0"/>
                  </a:rPr>
                  <a:t>blue, and the third is brown. In his room, he also has four </a:t>
                </a:r>
                <a:r>
                  <a:rPr lang="en-US" sz="2000" b="1" dirty="0" smtClean="0">
                    <a:solidFill>
                      <a:srgbClr val="FF0000"/>
                    </a:solidFill>
                    <a:latin typeface="Times New Roman" pitchFamily="18" charset="0"/>
                    <a:cs typeface="Times New Roman" pitchFamily="18" charset="0"/>
                  </a:rPr>
                  <a:t>shirts</a:t>
                </a:r>
                <a:r>
                  <a:rPr lang="en-US" sz="2000" b="1" dirty="0">
                    <a:solidFill>
                      <a:srgbClr val="FF0000"/>
                    </a:solidFill>
                    <a:latin typeface="Times New Roman" pitchFamily="18" charset="0"/>
                    <a:cs typeface="Times New Roman" pitchFamily="18" charset="0"/>
                  </a:rPr>
                  <a:t>. One </a:t>
                </a:r>
                <a:r>
                  <a:rPr lang="en-US" sz="2000" b="1" dirty="0" smtClean="0">
                    <a:solidFill>
                      <a:srgbClr val="FF0000"/>
                    </a:solidFill>
                    <a:latin typeface="Times New Roman" pitchFamily="18" charset="0"/>
                    <a:cs typeface="Times New Roman" pitchFamily="18" charset="0"/>
                  </a:rPr>
                  <a:t>of </a:t>
                </a:r>
                <a:r>
                  <a:rPr lang="en-US" sz="2000" b="1" dirty="0">
                    <a:solidFill>
                      <a:srgbClr val="FF0000"/>
                    </a:solidFill>
                    <a:latin typeface="Times New Roman" pitchFamily="18" charset="0"/>
                    <a:cs typeface="Times New Roman" pitchFamily="18" charset="0"/>
                  </a:rPr>
                  <a:t>them is black and the other 3 are white. He opens his </a:t>
                </a:r>
                <a:r>
                  <a:rPr lang="en-US" sz="2000" b="1" dirty="0" smtClean="0">
                    <a:solidFill>
                      <a:srgbClr val="FF0000"/>
                    </a:solidFill>
                    <a:latin typeface="Times New Roman" pitchFamily="18" charset="0"/>
                    <a:cs typeface="Times New Roman" pitchFamily="18" charset="0"/>
                  </a:rPr>
                  <a:t>room </a:t>
                </a:r>
                <a:r>
                  <a:rPr lang="en-US" sz="2000" b="1" dirty="0">
                    <a:solidFill>
                      <a:srgbClr val="FF0000"/>
                    </a:solidFill>
                    <a:latin typeface="Times New Roman" pitchFamily="18" charset="0"/>
                    <a:cs typeface="Times New Roman" pitchFamily="18" charset="0"/>
                  </a:rPr>
                  <a:t>in the </a:t>
                </a:r>
                <a:r>
                  <a:rPr lang="en-US" sz="2000" b="1" dirty="0" smtClean="0">
                    <a:solidFill>
                      <a:srgbClr val="FF0000"/>
                    </a:solidFill>
                    <a:latin typeface="Times New Roman" pitchFamily="18" charset="0"/>
                    <a:cs typeface="Times New Roman" pitchFamily="18" charset="0"/>
                  </a:rPr>
                  <a:t>dark </a:t>
                </a:r>
                <a:r>
                  <a:rPr lang="en-US" sz="2000" b="1" dirty="0">
                    <a:solidFill>
                      <a:srgbClr val="FF0000"/>
                    </a:solidFill>
                    <a:latin typeface="Times New Roman" pitchFamily="18" charset="0"/>
                    <a:cs typeface="Times New Roman" pitchFamily="18" charset="0"/>
                  </a:rPr>
                  <a:t>and picks out one shirt and one trouser pair without examining the </a:t>
                </a:r>
                <a:r>
                  <a:rPr lang="en-US" sz="2000" b="1" dirty="0" smtClean="0">
                    <a:solidFill>
                      <a:srgbClr val="FF0000"/>
                    </a:solidFill>
                    <a:latin typeface="Times New Roman" pitchFamily="18" charset="0"/>
                    <a:cs typeface="Times New Roman" pitchFamily="18" charset="0"/>
                  </a:rPr>
                  <a:t>color. </a:t>
                </a:r>
                <a:r>
                  <a:rPr lang="en-US" sz="2000" b="1" dirty="0">
                    <a:solidFill>
                      <a:srgbClr val="FF0000"/>
                    </a:solidFill>
                    <a:latin typeface="Times New Roman" pitchFamily="18" charset="0"/>
                    <a:cs typeface="Times New Roman" pitchFamily="18" charset="0"/>
                  </a:rPr>
                  <a:t>What is the likelihood that neither the shirt nor the trouser is black</a:t>
                </a:r>
                <a:r>
                  <a:rPr lang="en-US" sz="2000" b="1" dirty="0" smtClean="0">
                    <a:solidFill>
                      <a:srgbClr val="FF0000"/>
                    </a:solidFill>
                    <a:latin typeface="Times New Roman" pitchFamily="18" charset="0"/>
                    <a:cs typeface="Times New Roman" pitchFamily="18" charset="0"/>
                  </a:rPr>
                  <a:t>?</a:t>
                </a:r>
              </a:p>
              <a:p>
                <a:r>
                  <a:rPr lang="en-US" sz="2000" b="1" dirty="0" smtClean="0">
                    <a:solidFill>
                      <a:srgbClr val="FF0000"/>
                    </a:solidFill>
                    <a:latin typeface="Times New Roman" pitchFamily="18" charset="0"/>
                    <a:cs typeface="Times New Roman" pitchFamily="18" charset="0"/>
                  </a:rPr>
                  <a:t>A.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𝟏𝟐</m:t>
                        </m:r>
                      </m:den>
                    </m:f>
                    <m:r>
                      <a:rPr lang="en-US" sz="2000" b="1" i="1" dirty="0" smtClean="0">
                        <a:solidFill>
                          <a:srgbClr val="FF0000"/>
                        </a:solidFill>
                        <a:latin typeface="Cambria Math"/>
                        <a:cs typeface="Times New Roman" pitchFamily="18" charset="0"/>
                      </a:rPr>
                      <m:t>	</m:t>
                    </m:r>
                  </m:oMath>
                </a14:m>
                <a:r>
                  <a:rPr lang="en-US" sz="2000" b="1" dirty="0" smtClean="0">
                    <a:solidFill>
                      <a:srgbClr val="FF0000"/>
                    </a:solidFill>
                    <a:latin typeface="Times New Roman" pitchFamily="18" charset="0"/>
                    <a:cs typeface="Times New Roman" pitchFamily="18" charset="0"/>
                  </a:rPr>
                  <a:t>			B.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𝟔</m:t>
                        </m:r>
                      </m:den>
                    </m:f>
                  </m:oMath>
                </a14:m>
                <a:r>
                  <a:rPr lang="en-US" sz="2000" b="1" dirty="0" smtClean="0">
                    <a:solidFill>
                      <a:srgbClr val="FF0000"/>
                    </a:solidFill>
                    <a:latin typeface="Times New Roman" pitchFamily="18" charset="0"/>
                    <a:cs typeface="Times New Roman" pitchFamily="18" charset="0"/>
                  </a:rPr>
                  <a:t>			C.</a:t>
                </a:r>
                <a:r>
                  <a:rPr lang="en-US" sz="2000" b="1" dirty="0">
                    <a:solidFill>
                      <a:srgbClr val="FF0000"/>
                    </a:solidFill>
                    <a:latin typeface="Times New Roman" pitchFamily="18" charset="0"/>
                    <a:cs typeface="Times New Roman" pitchFamily="18" charset="0"/>
                  </a:rPr>
                  <a:t>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𝟐</m:t>
                        </m:r>
                      </m:den>
                    </m:f>
                  </m:oMath>
                </a14:m>
                <a:r>
                  <a:rPr lang="en-US" sz="20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000" b="1" i="1" dirty="0" smtClean="0">
                            <a:solidFill>
                              <a:srgbClr val="FF0000"/>
                            </a:solidFill>
                            <a:latin typeface="Cambria Math"/>
                            <a:cs typeface="Times New Roman" pitchFamily="18" charset="0"/>
                          </a:rPr>
                        </m:ctrlPr>
                      </m:fPr>
                      <m:num>
                        <m:r>
                          <a:rPr lang="en-US" sz="2000" b="1" i="1" dirty="0" smtClean="0">
                            <a:solidFill>
                              <a:srgbClr val="FF0000"/>
                            </a:solidFill>
                            <a:latin typeface="Cambria Math"/>
                            <a:cs typeface="Times New Roman" pitchFamily="18" charset="0"/>
                          </a:rPr>
                          <m:t>𝟏</m:t>
                        </m:r>
                      </m:num>
                      <m:den>
                        <m:r>
                          <a:rPr lang="en-US" sz="2000" b="1" i="1" dirty="0" smtClean="0">
                            <a:solidFill>
                              <a:srgbClr val="FF0000"/>
                            </a:solidFill>
                            <a:latin typeface="Cambria Math"/>
                            <a:cs typeface="Times New Roman" pitchFamily="18" charset="0"/>
                          </a:rPr>
                          <m:t>𝟒</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81000" y="438150"/>
                <a:ext cx="8534400" cy="2074350"/>
              </a:xfrm>
              <a:prstGeom prst="rect">
                <a:avLst/>
              </a:prstGeom>
              <a:blipFill rotWithShape="1">
                <a:blip r:embed="rId2"/>
                <a:stretch>
                  <a:fillRect l="-786" t="-1471" r="-1357" b="-1176"/>
                </a:stretch>
              </a:blipFill>
            </p:spPr>
            <p:txBody>
              <a:bodyPr/>
              <a:lstStyle/>
              <a:p>
                <a:r>
                  <a:rPr lang="en-US">
                    <a:noFill/>
                  </a:rPr>
                  <a:t> </a:t>
                </a:r>
              </a:p>
            </p:txBody>
          </p:sp>
        </mc:Fallback>
      </mc:AlternateContent>
      <p:sp>
        <p:nvSpPr>
          <p:cNvPr id="8" name="Rectangle 7"/>
          <p:cNvSpPr/>
          <p:nvPr/>
        </p:nvSpPr>
        <p:spPr>
          <a:xfrm>
            <a:off x="990600" y="2563978"/>
            <a:ext cx="4572000" cy="400110"/>
          </a:xfrm>
          <a:prstGeom prst="rect">
            <a:avLst/>
          </a:prstGeom>
        </p:spPr>
        <p:txBody>
          <a:bodyPr>
            <a:spAutoFit/>
          </a:bodyPr>
          <a:lstStyle/>
          <a:p>
            <a:r>
              <a:rPr lang="en-US" sz="2000" dirty="0">
                <a:latin typeface="Times New Roman" pitchFamily="18" charset="0"/>
                <a:cs typeface="Times New Roman" pitchFamily="18" charset="0"/>
              </a:rPr>
              <a:t>Probability that trouser is not </a:t>
            </a:r>
            <a:r>
              <a:rPr lang="en-US" sz="2000" dirty="0" smtClean="0">
                <a:latin typeface="Times New Roman" pitchFamily="18" charset="0"/>
                <a:cs typeface="Times New Roman" pitchFamily="18" charset="0"/>
              </a:rPr>
              <a:t>black</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4633636" y="2377142"/>
                <a:ext cx="655051" cy="670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2</m:t>
                          </m:r>
                        </m:num>
                        <m:den>
                          <m:r>
                            <a:rPr lang="en-US" sz="2000" i="1" dirty="0" smtClean="0">
                              <a:latin typeface="Cambria Math"/>
                              <a:cs typeface="Times New Roman" pitchFamily="18" charset="0"/>
                            </a:rPr>
                            <m:t>3</m:t>
                          </m:r>
                        </m:den>
                      </m:f>
                    </m:oMath>
                  </m:oMathPara>
                </a14:m>
                <a:endParaRPr lang="en-US" sz="2000" dirty="0">
                  <a:latin typeface="Times New Roman" pitchFamily="18" charset="0"/>
                  <a:cs typeface="Times New Roman"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4633636" y="2377142"/>
                <a:ext cx="655051" cy="670568"/>
              </a:xfrm>
              <a:prstGeom prst="rect">
                <a:avLst/>
              </a:prstGeom>
              <a:blipFill rotWithShape="1">
                <a:blip r:embed="rId3"/>
                <a:stretch>
                  <a:fillRect r="-14815"/>
                </a:stretch>
              </a:blipFill>
            </p:spPr>
            <p:txBody>
              <a:bodyPr/>
              <a:lstStyle/>
              <a:p>
                <a:r>
                  <a:rPr lang="en-US">
                    <a:noFill/>
                  </a:rPr>
                  <a:t> </a:t>
                </a:r>
              </a:p>
            </p:txBody>
          </p:sp>
        </mc:Fallback>
      </mc:AlternateContent>
      <p:sp>
        <p:nvSpPr>
          <p:cNvPr id="11" name="Rectangle 10"/>
          <p:cNvSpPr/>
          <p:nvPr/>
        </p:nvSpPr>
        <p:spPr>
          <a:xfrm>
            <a:off x="1059157" y="2932771"/>
            <a:ext cx="3530134" cy="400110"/>
          </a:xfrm>
          <a:prstGeom prst="rect">
            <a:avLst/>
          </a:prstGeom>
        </p:spPr>
        <p:txBody>
          <a:bodyPr wrap="none">
            <a:spAutoFit/>
          </a:bodyPr>
          <a:lstStyle/>
          <a:p>
            <a:r>
              <a:rPr lang="en-US" sz="2000" dirty="0">
                <a:latin typeface="Times New Roman" pitchFamily="18" charset="0"/>
                <a:cs typeface="Times New Roman" pitchFamily="18" charset="0"/>
              </a:rPr>
              <a:t>Probability that shirt is not </a:t>
            </a:r>
            <a:r>
              <a:rPr lang="en-US" sz="2000" dirty="0" smtClean="0">
                <a:latin typeface="Times New Roman" pitchFamily="18" charset="0"/>
                <a:cs typeface="Times New Roman" pitchFamily="18" charset="0"/>
              </a:rPr>
              <a:t>black</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2" name="Rectangle 21"/>
              <p:cNvSpPr/>
              <p:nvPr/>
            </p:nvSpPr>
            <p:spPr>
              <a:xfrm>
                <a:off x="4437347" y="2869036"/>
                <a:ext cx="621389" cy="527580"/>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3</m:t>
                        </m:r>
                      </m:num>
                      <m:den>
                        <m:r>
                          <a:rPr lang="en-US" sz="2000" i="1" dirty="0" smtClean="0">
                            <a:latin typeface="Cambria Math"/>
                            <a:cs typeface="Times New Roman" pitchFamily="18" charset="0"/>
                          </a:rPr>
                          <m:t>4</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4437347" y="2869036"/>
                <a:ext cx="621389" cy="527580"/>
              </a:xfrm>
              <a:prstGeom prst="rect">
                <a:avLst/>
              </a:prstGeom>
              <a:blipFill rotWithShape="1">
                <a:blip r:embed="rId4"/>
                <a:stretch>
                  <a:fillRect r="-19608" b="-8140"/>
                </a:stretch>
              </a:blipFill>
            </p:spPr>
            <p:txBody>
              <a:bodyPr/>
              <a:lstStyle/>
              <a:p>
                <a:r>
                  <a:rPr lang="en-US">
                    <a:noFill/>
                  </a:rPr>
                  <a:t> </a:t>
                </a:r>
              </a:p>
            </p:txBody>
          </p:sp>
        </mc:Fallback>
      </mc:AlternateContent>
      <p:sp>
        <p:nvSpPr>
          <p:cNvPr id="23" name="Rectangle 22"/>
          <p:cNvSpPr/>
          <p:nvPr/>
        </p:nvSpPr>
        <p:spPr>
          <a:xfrm>
            <a:off x="1154679" y="3308033"/>
            <a:ext cx="2731521" cy="400110"/>
          </a:xfrm>
          <a:prstGeom prst="rect">
            <a:avLst/>
          </a:prstGeom>
        </p:spPr>
        <p:txBody>
          <a:bodyPr wrap="square">
            <a:spAutoFit/>
          </a:bodyPr>
          <a:lstStyle/>
          <a:p>
            <a:r>
              <a:rPr lang="en-US" sz="2000" dirty="0">
                <a:latin typeface="Times New Roman" pitchFamily="18" charset="0"/>
                <a:cs typeface="Times New Roman" pitchFamily="18" charset="0"/>
              </a:rPr>
              <a:t>Required </a:t>
            </a:r>
            <a:r>
              <a:rPr lang="en-US" sz="2000" dirty="0" smtClean="0">
                <a:latin typeface="Times New Roman" pitchFamily="18" charset="0"/>
                <a:cs typeface="Times New Roman" pitchFamily="18" charset="0"/>
              </a:rPr>
              <a:t>probability</a:t>
            </a:r>
            <a:endParaRPr lang="en-US" sz="2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Rectangle 23"/>
              <p:cNvSpPr/>
              <p:nvPr/>
            </p:nvSpPr>
            <p:spPr>
              <a:xfrm>
                <a:off x="3657600" y="3308033"/>
                <a:ext cx="1150571" cy="670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2</m:t>
                          </m:r>
                        </m:num>
                        <m:den>
                          <m:r>
                            <a:rPr lang="en-US" sz="2000" b="0" i="1" dirty="0" smtClean="0">
                              <a:latin typeface="Cambria Math"/>
                              <a:cs typeface="Times New Roman" pitchFamily="18" charset="0"/>
                            </a:rPr>
                            <m:t>3</m:t>
                          </m:r>
                        </m:den>
                      </m:f>
                      <m:r>
                        <a:rPr lang="en-US" sz="2000" i="1" dirty="0" smtClean="0">
                          <a:latin typeface="Cambria Math"/>
                          <a:cs typeface="Times New Roman" pitchFamily="18" charset="0"/>
                        </a:rPr>
                        <m:t> </m:t>
                      </m:r>
                      <m:r>
                        <a:rPr lang="en-US" sz="2000" i="1" dirty="0" smtClean="0">
                          <a:latin typeface="Cambria Math"/>
                          <a:ea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3</m:t>
                          </m:r>
                        </m:num>
                        <m:den>
                          <m:r>
                            <a:rPr lang="en-US" sz="2000" i="1" dirty="0" smtClean="0">
                              <a:latin typeface="Cambria Math"/>
                              <a:cs typeface="Times New Roman" pitchFamily="18" charset="0"/>
                            </a:rPr>
                            <m:t>4</m:t>
                          </m:r>
                        </m:den>
                      </m:f>
                    </m:oMath>
                  </m:oMathPara>
                </a14:m>
                <a:endParaRPr lang="en-US" sz="2000" dirty="0">
                  <a:latin typeface="Times New Roman" pitchFamily="18" charset="0"/>
                  <a:cs typeface="Times New Roman"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3657600" y="3308033"/>
                <a:ext cx="1150571" cy="670568"/>
              </a:xfrm>
              <a:prstGeom prst="rect">
                <a:avLst/>
              </a:prstGeom>
              <a:blipFill rotWithShape="1">
                <a:blip r:embed="rId5"/>
                <a:stretch>
                  <a:fillRect r="-79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3717278" y="4082830"/>
                <a:ext cx="621389" cy="526939"/>
              </a:xfrm>
              <a:prstGeom prst="rect">
                <a:avLst/>
              </a:prstGeom>
            </p:spPr>
            <p:txBody>
              <a:bodyPr wrap="none">
                <a:spAutoFit/>
              </a:bodyPr>
              <a:lstStyle/>
              <a:p>
                <a14:m>
                  <m:oMath xmlns:m="http://schemas.openxmlformats.org/officeDocument/2006/math">
                    <m:r>
                      <a:rPr lang="en-US" sz="2000" i="1" dirty="0" smtClean="0">
                        <a:latin typeface="Cambria Math"/>
                        <a:cs typeface="Times New Roman" pitchFamily="18" charset="0"/>
                      </a:rPr>
                      <m:t>=</m:t>
                    </m:r>
                    <m:f>
                      <m:fPr>
                        <m:ctrlPr>
                          <a:rPr lang="en-US" sz="2000" i="1" dirty="0" smtClean="0">
                            <a:latin typeface="Cambria Math"/>
                            <a:cs typeface="Times New Roman" pitchFamily="18" charset="0"/>
                          </a:rPr>
                        </m:ctrlPr>
                      </m:fPr>
                      <m:num>
                        <m:r>
                          <a:rPr lang="en-US" sz="2000" i="1" dirty="0" smtClean="0">
                            <a:latin typeface="Cambria Math"/>
                            <a:cs typeface="Times New Roman" pitchFamily="18" charset="0"/>
                          </a:rPr>
                          <m:t>1</m:t>
                        </m:r>
                      </m:num>
                      <m:den>
                        <m:r>
                          <a:rPr lang="en-US" sz="2000" i="1" dirty="0" smtClean="0">
                            <a:latin typeface="Cambria Math"/>
                            <a:cs typeface="Times New Roman" pitchFamily="18" charset="0"/>
                          </a:rPr>
                          <m:t>2</m:t>
                        </m:r>
                      </m:den>
                    </m:f>
                  </m:oMath>
                </a14:m>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mc:Choice>
        <mc:Fallback xmlns="">
          <p:sp>
            <p:nvSpPr>
              <p:cNvPr id="25" name="Rectangle 24"/>
              <p:cNvSpPr>
                <a:spLocks noRot="1" noChangeAspect="1" noMove="1" noResize="1" noEditPoints="1" noAdjustHandles="1" noChangeArrowheads="1" noChangeShapeType="1" noTextEdit="1"/>
              </p:cNvSpPr>
              <p:nvPr/>
            </p:nvSpPr>
            <p:spPr>
              <a:xfrm>
                <a:off x="3717278" y="4082830"/>
                <a:ext cx="621389" cy="526939"/>
              </a:xfrm>
              <a:prstGeom prst="rect">
                <a:avLst/>
              </a:prstGeom>
              <a:blipFill rotWithShape="1">
                <a:blip r:embed="rId6"/>
                <a:stretch>
                  <a:fillRect r="-19608" b="-8140"/>
                </a:stretch>
              </a:blipFill>
            </p:spPr>
            <p:txBody>
              <a:bodyPr/>
              <a:lstStyle/>
              <a:p>
                <a:r>
                  <a:rPr lang="en-US">
                    <a:noFill/>
                  </a:rPr>
                  <a:t> </a:t>
                </a:r>
              </a:p>
            </p:txBody>
          </p:sp>
        </mc:Fallback>
      </mc:AlternateContent>
    </p:spTree>
    <p:extLst>
      <p:ext uri="{BB962C8B-B14F-4D97-AF65-F5344CB8AC3E}">
        <p14:creationId xmlns:p14="http://schemas.microsoft.com/office/powerpoint/2010/main" val="67967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22" grpId="0"/>
      <p:bldP spid="23" grpId="0"/>
      <p:bldP spid="24" grpId="0"/>
      <p:bldP spid="2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6495" y="52685"/>
            <a:ext cx="2946640" cy="400110"/>
          </a:xfrm>
          <a:prstGeom prst="rect">
            <a:avLst/>
          </a:prstGeom>
        </p:spPr>
        <p:txBody>
          <a:bodyPr wrap="none">
            <a:spAutoFit/>
          </a:bodyPr>
          <a:lstStyle/>
          <a:p>
            <a:r>
              <a:rPr 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PRACTICE QUESTION</a:t>
            </a:r>
            <a:endParaRPr 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Rectangle 6"/>
              <p:cNvSpPr/>
              <p:nvPr/>
            </p:nvSpPr>
            <p:spPr>
              <a:xfrm>
                <a:off x="381000" y="438150"/>
                <a:ext cx="8534400" cy="1155829"/>
              </a:xfrm>
              <a:prstGeom prst="rect">
                <a:avLst/>
              </a:prstGeom>
            </p:spPr>
            <p:txBody>
              <a:bodyPr wrap="square">
                <a:spAutoFit/>
              </a:bodyPr>
              <a:lstStyle/>
              <a:p>
                <a:r>
                  <a:rPr lang="en-US" sz="2000" b="1" dirty="0" smtClean="0">
                    <a:solidFill>
                      <a:srgbClr val="FF0000"/>
                    </a:solidFill>
                    <a:latin typeface="Times New Roman" pitchFamily="18" charset="0"/>
                    <a:cs typeface="Times New Roman" pitchFamily="18" charset="0"/>
                  </a:rPr>
                  <a:t>A bag contains 2 red, 3 green and 2 blue balls. Two balls are drawn at random. What is the probability that none of the balls drawn is blue?</a:t>
                </a:r>
              </a:p>
              <a:p>
                <a:r>
                  <a:rPr lang="en-US" sz="2000" b="1" dirty="0" smtClean="0">
                    <a:solidFill>
                      <a:srgbClr val="FF0000"/>
                    </a:solidFill>
                    <a:latin typeface="Times New Roman" pitchFamily="18" charset="0"/>
                    <a:cs typeface="Times New Roman" pitchFamily="18" charset="0"/>
                  </a:rPr>
                  <a:t>A.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𝟏𝟎</m:t>
                        </m:r>
                      </m:num>
                      <m:den>
                        <m:r>
                          <a:rPr lang="en-US" sz="2000" b="1" i="1" smtClean="0">
                            <a:solidFill>
                              <a:srgbClr val="FF0000"/>
                            </a:solidFill>
                            <a:latin typeface="Cambria Math"/>
                            <a:cs typeface="Times New Roman" pitchFamily="18" charset="0"/>
                          </a:rPr>
                          <m:t>𝟐𝟏</m:t>
                        </m:r>
                      </m:den>
                    </m:f>
                  </m:oMath>
                </a14:m>
                <a:r>
                  <a:rPr lang="en-US" sz="2000" b="1" dirty="0" smtClean="0">
                    <a:solidFill>
                      <a:srgbClr val="FF0000"/>
                    </a:solidFill>
                    <a:latin typeface="Times New Roman" pitchFamily="18" charset="0"/>
                    <a:cs typeface="Times New Roman" pitchFamily="18" charset="0"/>
                  </a:rPr>
                  <a:t>	`	B.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𝟏𝟏</m:t>
                        </m:r>
                      </m:num>
                      <m:den>
                        <m:r>
                          <a:rPr lang="en-US" sz="2000" b="1" i="1" smtClean="0">
                            <a:solidFill>
                              <a:srgbClr val="FF0000"/>
                            </a:solidFill>
                            <a:latin typeface="Cambria Math"/>
                            <a:cs typeface="Times New Roman" pitchFamily="18" charset="0"/>
                          </a:rPr>
                          <m:t>𝟐𝟏</m:t>
                        </m:r>
                      </m:den>
                    </m:f>
                  </m:oMath>
                </a14:m>
                <a:r>
                  <a:rPr lang="en-US" sz="2000" b="1" dirty="0" smtClean="0">
                    <a:solidFill>
                      <a:srgbClr val="FF0000"/>
                    </a:solidFill>
                    <a:latin typeface="Times New Roman" pitchFamily="18" charset="0"/>
                    <a:cs typeface="Times New Roman" pitchFamily="18" charset="0"/>
                  </a:rPr>
                  <a:t>		C.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𝟐</m:t>
                        </m:r>
                      </m:num>
                      <m:den>
                        <m:r>
                          <a:rPr lang="en-US" sz="2000" b="1" i="1" smtClean="0">
                            <a:solidFill>
                              <a:srgbClr val="FF0000"/>
                            </a:solidFill>
                            <a:latin typeface="Cambria Math"/>
                            <a:cs typeface="Times New Roman" pitchFamily="18" charset="0"/>
                          </a:rPr>
                          <m:t>𝟕</m:t>
                        </m:r>
                      </m:den>
                    </m:f>
                  </m:oMath>
                </a14:m>
                <a:r>
                  <a:rPr lang="en-US" sz="2000" b="1" dirty="0" smtClean="0">
                    <a:solidFill>
                      <a:srgbClr val="FF0000"/>
                    </a:solidFill>
                    <a:latin typeface="Times New Roman" pitchFamily="18" charset="0"/>
                    <a:cs typeface="Times New Roman" pitchFamily="18" charset="0"/>
                  </a:rPr>
                  <a:t>		D. </a:t>
                </a:r>
                <a14:m>
                  <m:oMath xmlns:m="http://schemas.openxmlformats.org/officeDocument/2006/math">
                    <m:f>
                      <m:fPr>
                        <m:ctrlPr>
                          <a:rPr lang="en-US" sz="2000" b="1" i="1" smtClean="0">
                            <a:solidFill>
                              <a:srgbClr val="FF0000"/>
                            </a:solidFill>
                            <a:latin typeface="Cambria Math"/>
                            <a:cs typeface="Times New Roman" pitchFamily="18" charset="0"/>
                          </a:rPr>
                        </m:ctrlPr>
                      </m:fPr>
                      <m:num>
                        <m:r>
                          <a:rPr lang="en-US" sz="2000" b="1" i="1" smtClean="0">
                            <a:solidFill>
                              <a:srgbClr val="FF0000"/>
                            </a:solidFill>
                            <a:latin typeface="Cambria Math"/>
                            <a:cs typeface="Times New Roman" pitchFamily="18" charset="0"/>
                          </a:rPr>
                          <m:t>𝟓</m:t>
                        </m:r>
                      </m:num>
                      <m:den>
                        <m:r>
                          <a:rPr lang="en-US" sz="2000" b="1" i="1" smtClean="0">
                            <a:solidFill>
                              <a:srgbClr val="FF0000"/>
                            </a:solidFill>
                            <a:latin typeface="Cambria Math"/>
                            <a:cs typeface="Times New Roman" pitchFamily="18" charset="0"/>
                          </a:rPr>
                          <m:t>𝟕</m:t>
                        </m:r>
                      </m:den>
                    </m:f>
                  </m:oMath>
                </a14:m>
                <a:endParaRPr lang="en-US" sz="2000" b="1" dirty="0">
                  <a:solidFill>
                    <a:srgbClr val="FF0000"/>
                  </a:solidFill>
                  <a:latin typeface="Times New Roman" pitchFamily="18" charset="0"/>
                  <a:cs typeface="Times New Roman"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81000" y="438150"/>
                <a:ext cx="8534400" cy="1155829"/>
              </a:xfrm>
              <a:prstGeom prst="rect">
                <a:avLst/>
              </a:prstGeom>
              <a:blipFill rotWithShape="1">
                <a:blip r:embed="rId2"/>
                <a:stretch>
                  <a:fillRect l="-786" t="-2646" b="-3175"/>
                </a:stretch>
              </a:blipFill>
            </p:spPr>
            <p:txBody>
              <a:bodyPr/>
              <a:lstStyle/>
              <a:p>
                <a:r>
                  <a:rPr lang="en-US">
                    <a:noFill/>
                  </a:rPr>
                  <a:t> </a:t>
                </a:r>
              </a:p>
            </p:txBody>
          </p:sp>
        </mc:Fallback>
      </mc:AlternateContent>
      <p:sp>
        <p:nvSpPr>
          <p:cNvPr id="8" name="Rectangle 7"/>
          <p:cNvSpPr/>
          <p:nvPr/>
        </p:nvSpPr>
        <p:spPr>
          <a:xfrm>
            <a:off x="335509" y="1428750"/>
            <a:ext cx="4572000" cy="400110"/>
          </a:xfrm>
          <a:prstGeom prst="rect">
            <a:avLst/>
          </a:prstGeom>
        </p:spPr>
        <p:txBody>
          <a:bodyPr>
            <a:spAutoFit/>
          </a:bodyPr>
          <a:lstStyle/>
          <a:p>
            <a:r>
              <a:rPr lang="en-US" sz="2000" dirty="0">
                <a:latin typeface="Times New Roman" pitchFamily="18" charset="0"/>
                <a:cs typeface="Times New Roman" pitchFamily="18" charset="0"/>
              </a:rPr>
              <a:t>Here, Total number of balls</a:t>
            </a:r>
          </a:p>
        </p:txBody>
      </p:sp>
      <p:sp>
        <p:nvSpPr>
          <p:cNvPr id="11" name="Rectangle 10"/>
          <p:cNvSpPr/>
          <p:nvPr/>
        </p:nvSpPr>
        <p:spPr>
          <a:xfrm>
            <a:off x="335509" y="1822342"/>
            <a:ext cx="5585183" cy="400110"/>
          </a:xfrm>
          <a:prstGeom prst="rect">
            <a:avLst/>
          </a:prstGeom>
        </p:spPr>
        <p:txBody>
          <a:bodyPr wrap="none">
            <a:spAutoFit/>
          </a:bodyPr>
          <a:lstStyle/>
          <a:p>
            <a:r>
              <a:rPr lang="en-US" sz="2000" dirty="0">
                <a:latin typeface="Times New Roman" pitchFamily="18" charset="0"/>
                <a:cs typeface="Times New Roman" pitchFamily="18" charset="0"/>
              </a:rPr>
              <a:t>Let </a:t>
            </a:r>
            <a:r>
              <a:rPr lang="en-US" sz="2000" dirty="0" smtClean="0">
                <a:latin typeface="Times New Roman" pitchFamily="18" charset="0"/>
                <a:cs typeface="Times New Roman" pitchFamily="18" charset="0"/>
              </a:rPr>
              <a:t>n(S) </a:t>
            </a:r>
            <a:r>
              <a:rPr lang="en-US" sz="2000" dirty="0">
                <a:latin typeface="Times New Roman" pitchFamily="18" charset="0"/>
                <a:cs typeface="Times New Roman" pitchFamily="18" charset="0"/>
              </a:rPr>
              <a:t>Number of ways of drawing 2 balls out of 7</a:t>
            </a:r>
          </a:p>
        </p:txBody>
      </p:sp>
      <mc:AlternateContent xmlns:mc="http://schemas.openxmlformats.org/markup-compatibility/2006" xmlns:a14="http://schemas.microsoft.com/office/drawing/2010/main">
        <mc:Choice Requires="a14">
          <p:sp>
            <p:nvSpPr>
              <p:cNvPr id="22" name="Rectangle 21"/>
              <p:cNvSpPr/>
              <p:nvPr/>
            </p:nvSpPr>
            <p:spPr>
              <a:xfrm>
                <a:off x="5858217" y="1822342"/>
                <a:ext cx="146617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𝑆</m:t>
                          </m:r>
                        </m:e>
                      </m:d>
                      <m:r>
                        <a:rPr lang="en-US" sz="2000" b="0" i="1" smtClean="0">
                          <a:latin typeface="Cambria Math"/>
                          <a:cs typeface="Times New Roman" pitchFamily="18" charset="0"/>
                        </a:rPr>
                        <m:t>=</m:t>
                      </m:r>
                      <m:sSub>
                        <m:sSubPr>
                          <m:ctrlPr>
                            <a:rPr lang="en-US" sz="2000" b="0" i="1" smtClean="0">
                              <a:latin typeface="Cambria Math"/>
                              <a:cs typeface="Times New Roman" pitchFamily="18" charset="0"/>
                            </a:rPr>
                          </m:ctrlPr>
                        </m:sSubPr>
                        <m:e>
                          <m:sPre>
                            <m:sPrePr>
                              <m:ctrlPr>
                                <a:rPr lang="en-US" sz="2000" b="0" i="1" smtClean="0">
                                  <a:latin typeface="Cambria Math"/>
                                  <a:cs typeface="Times New Roman" pitchFamily="18" charset="0"/>
                                </a:rPr>
                              </m:ctrlPr>
                            </m:sPrePr>
                            <m:sub/>
                            <m:sup>
                              <m:r>
                                <a:rPr lang="en-US" sz="2000" b="0" i="1" smtClean="0">
                                  <a:latin typeface="Cambria Math"/>
                                </a:rPr>
                                <m:t>7</m:t>
                              </m:r>
                            </m:sup>
                            <m:e>
                              <m:r>
                                <a:rPr lang="en-US" sz="2000" b="0" i="1" smtClean="0">
                                  <a:latin typeface="Cambria Math"/>
                                </a:rPr>
                                <m:t>𝐶</m:t>
                              </m:r>
                            </m:e>
                          </m:sPre>
                        </m:e>
                        <m:sub>
                          <m:r>
                            <a:rPr lang="en-US" sz="2000" b="0" i="1" smtClean="0">
                              <a:latin typeface="Cambria Math"/>
                              <a:cs typeface="Times New Roman" pitchFamily="18" charset="0"/>
                            </a:rPr>
                            <m:t>2</m:t>
                          </m:r>
                        </m:sub>
                      </m:sSub>
                    </m:oMath>
                  </m:oMathPara>
                </a14:m>
                <a:endParaRPr lang="en-US" sz="2000" dirty="0">
                  <a:latin typeface="Times New Roman" pitchFamily="18" charset="0"/>
                  <a:cs typeface="Times New Roman"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5858217" y="1822342"/>
                <a:ext cx="1466171" cy="400110"/>
              </a:xfrm>
              <a:prstGeom prst="rect">
                <a:avLst/>
              </a:prstGeom>
              <a:blipFill rotWithShape="1">
                <a:blip r:embed="rId3"/>
                <a:stretch>
                  <a:fillRect t="-7576" r="-5809" b="-25758"/>
                </a:stretch>
              </a:blipFill>
            </p:spPr>
            <p:txBody>
              <a:bodyPr/>
              <a:lstStyle/>
              <a:p>
                <a:r>
                  <a:rPr lang="en-US">
                    <a:noFill/>
                  </a:rPr>
                  <a:t> </a:t>
                </a:r>
              </a:p>
            </p:txBody>
          </p:sp>
        </mc:Fallback>
      </mc:AlternateContent>
      <p:sp>
        <p:nvSpPr>
          <p:cNvPr id="23" name="Rectangle 22"/>
          <p:cNvSpPr/>
          <p:nvPr/>
        </p:nvSpPr>
        <p:spPr>
          <a:xfrm>
            <a:off x="1811231" y="4107430"/>
            <a:ext cx="2731521" cy="400110"/>
          </a:xfrm>
          <a:prstGeom prst="rect">
            <a:avLst/>
          </a:prstGeom>
        </p:spPr>
        <p:txBody>
          <a:bodyPr wrap="square">
            <a:spAutoFit/>
          </a:bodyPr>
          <a:lstStyle/>
          <a:p>
            <a:r>
              <a:rPr lang="en-US" sz="2000" b="1" dirty="0">
                <a:latin typeface="Times New Roman" pitchFamily="18" charset="0"/>
                <a:cs typeface="Times New Roman" pitchFamily="18" charset="0"/>
              </a:rPr>
              <a:t>Required </a:t>
            </a:r>
            <a:r>
              <a:rPr lang="en-US" sz="2000" b="1" dirty="0" smtClean="0">
                <a:latin typeface="Times New Roman" pitchFamily="18" charset="0"/>
                <a:cs typeface="Times New Roman" pitchFamily="18" charset="0"/>
              </a:rPr>
              <a:t>probability</a:t>
            </a:r>
            <a:endParaRPr lang="en-US" sz="20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Rectangle 23"/>
              <p:cNvSpPr/>
              <p:nvPr/>
            </p:nvSpPr>
            <p:spPr>
              <a:xfrm>
                <a:off x="4083539" y="3972201"/>
                <a:ext cx="1059008" cy="7331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a:cs typeface="Times New Roman" pitchFamily="18" charset="0"/>
                        </a:rPr>
                        <m:t>=</m:t>
                      </m:r>
                      <m:f>
                        <m:fPr>
                          <m:ctrlPr>
                            <a:rPr lang="en-US" sz="2000" b="1" i="1" smtClean="0">
                              <a:latin typeface="Cambria Math"/>
                              <a:cs typeface="Times New Roman" pitchFamily="18" charset="0"/>
                            </a:rPr>
                          </m:ctrlPr>
                        </m:fPr>
                        <m:num>
                          <m:r>
                            <a:rPr lang="en-US" sz="2000" b="1" i="1" smtClean="0">
                              <a:latin typeface="Cambria Math"/>
                              <a:cs typeface="Times New Roman" pitchFamily="18" charset="0"/>
                            </a:rPr>
                            <m:t>𝒏</m:t>
                          </m:r>
                          <m:r>
                            <a:rPr lang="en-US" sz="2000" b="1" i="1" smtClean="0">
                              <a:latin typeface="Cambria Math"/>
                              <a:cs typeface="Times New Roman" pitchFamily="18" charset="0"/>
                            </a:rPr>
                            <m:t>(</m:t>
                          </m:r>
                          <m:r>
                            <a:rPr lang="en-US" sz="2000" b="1" i="1" smtClean="0">
                              <a:latin typeface="Cambria Math"/>
                              <a:cs typeface="Times New Roman" pitchFamily="18" charset="0"/>
                            </a:rPr>
                            <m:t>𝑬</m:t>
                          </m:r>
                          <m:r>
                            <a:rPr lang="en-US" sz="2000" b="1" i="1" smtClean="0">
                              <a:latin typeface="Cambria Math"/>
                              <a:cs typeface="Times New Roman" pitchFamily="18" charset="0"/>
                            </a:rPr>
                            <m:t>)</m:t>
                          </m:r>
                        </m:num>
                        <m:den>
                          <m:r>
                            <a:rPr lang="en-US" sz="2000" b="1" i="1" smtClean="0">
                              <a:latin typeface="Cambria Math"/>
                              <a:cs typeface="Times New Roman" pitchFamily="18" charset="0"/>
                            </a:rPr>
                            <m:t>𝒏</m:t>
                          </m:r>
                          <m:r>
                            <a:rPr lang="en-US" sz="2000" b="1" i="1" smtClean="0">
                              <a:latin typeface="Cambria Math"/>
                              <a:cs typeface="Times New Roman" pitchFamily="18" charset="0"/>
                            </a:rPr>
                            <m:t>(</m:t>
                          </m:r>
                          <m:r>
                            <a:rPr lang="en-US" sz="2000" b="1" i="1" smtClean="0">
                              <a:latin typeface="Cambria Math"/>
                              <a:cs typeface="Times New Roman" pitchFamily="18" charset="0"/>
                            </a:rPr>
                            <m:t>𝑺</m:t>
                          </m:r>
                          <m:r>
                            <a:rPr lang="en-US" sz="2000" b="1" i="1" smtClean="0">
                              <a:latin typeface="Cambria Math"/>
                              <a:cs typeface="Times New Roman" pitchFamily="18" charset="0"/>
                            </a:rPr>
                            <m:t>)</m:t>
                          </m:r>
                        </m:den>
                      </m:f>
                    </m:oMath>
                  </m:oMathPara>
                </a14:m>
                <a:endParaRPr lang="en-US" sz="2000" b="1" dirty="0">
                  <a:latin typeface="Times New Roman" pitchFamily="18" charset="0"/>
                  <a:cs typeface="Times New Roman"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4083539" y="3972201"/>
                <a:ext cx="1059008" cy="733149"/>
              </a:xfrm>
              <a:prstGeom prst="rect">
                <a:avLst/>
              </a:prstGeom>
              <a:blipFill rotWithShape="1">
                <a:blip r:embed="rId4"/>
                <a:stretch>
                  <a:fillRect r="-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3630106" y="1468846"/>
                <a:ext cx="207249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=2</m:t>
                      </m:r>
                      <m:r>
                        <a:rPr lang="en-US" sz="2000" b="0" i="1" smtClean="0">
                          <a:latin typeface="Cambria Math"/>
                          <a:cs typeface="Times New Roman" pitchFamily="18" charset="0"/>
                        </a:rPr>
                        <m:t>𝑅</m:t>
                      </m:r>
                      <m:r>
                        <a:rPr lang="en-US" sz="2000" b="0" i="1" smtClean="0">
                          <a:latin typeface="Cambria Math"/>
                          <a:cs typeface="Times New Roman" pitchFamily="18" charset="0"/>
                        </a:rPr>
                        <m:t>+3</m:t>
                      </m:r>
                      <m:r>
                        <a:rPr lang="en-US" sz="2000" b="0" i="1" smtClean="0">
                          <a:latin typeface="Cambria Math"/>
                          <a:cs typeface="Times New Roman" pitchFamily="18" charset="0"/>
                        </a:rPr>
                        <m:t>𝐺</m:t>
                      </m:r>
                      <m:r>
                        <a:rPr lang="en-US" sz="2000" b="0" i="1" smtClean="0">
                          <a:latin typeface="Cambria Math"/>
                          <a:cs typeface="Times New Roman" pitchFamily="18" charset="0"/>
                        </a:rPr>
                        <m:t>+2</m:t>
                      </m:r>
                      <m:r>
                        <a:rPr lang="en-US" sz="2000" b="0" i="1" smtClean="0">
                          <a:latin typeface="Cambria Math"/>
                          <a:cs typeface="Times New Roman" pitchFamily="18" charset="0"/>
                        </a:rPr>
                        <m:t>𝐵</m:t>
                      </m:r>
                    </m:oMath>
                  </m:oMathPara>
                </a14:m>
                <a:endParaRPr lang="en-US" sz="2000" dirty="0">
                  <a:latin typeface="Times New Roman" pitchFamily="18" charset="0"/>
                  <a:cs typeface="Times New Roman"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3630106" y="1468846"/>
                <a:ext cx="2072490" cy="400110"/>
              </a:xfrm>
              <a:prstGeom prst="rect">
                <a:avLst/>
              </a:prstGeom>
              <a:blipFill rotWithShape="1">
                <a:blip r:embed="rId6"/>
                <a:stretch>
                  <a:fillRect t="-7576" r="-4412"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5047239" y="4005379"/>
                <a:ext cx="820161"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a:cs typeface="Times New Roman" pitchFamily="18" charset="0"/>
                        </a:rPr>
                        <m:t>=</m:t>
                      </m:r>
                      <m:f>
                        <m:fPr>
                          <m:ctrlPr>
                            <a:rPr lang="en-US" sz="2000" b="1" i="1" smtClean="0">
                              <a:latin typeface="Cambria Math"/>
                              <a:cs typeface="Times New Roman" pitchFamily="18" charset="0"/>
                            </a:rPr>
                          </m:ctrlPr>
                        </m:fPr>
                        <m:num>
                          <m:r>
                            <a:rPr lang="en-US" sz="2000" b="1" i="1" smtClean="0">
                              <a:latin typeface="Cambria Math"/>
                              <a:cs typeface="Times New Roman" pitchFamily="18" charset="0"/>
                            </a:rPr>
                            <m:t>𝟏𝟎</m:t>
                          </m:r>
                        </m:num>
                        <m:den>
                          <m:r>
                            <a:rPr lang="en-US" sz="2000" b="1" i="1" smtClean="0">
                              <a:latin typeface="Cambria Math"/>
                              <a:cs typeface="Times New Roman" pitchFamily="18" charset="0"/>
                            </a:rPr>
                            <m:t>𝟐𝟏</m:t>
                          </m:r>
                        </m:den>
                      </m:f>
                    </m:oMath>
                  </m:oMathPara>
                </a14:m>
                <a:endParaRPr lang="en-US" sz="2000" b="1" dirty="0">
                  <a:latin typeface="Times New Roman" pitchFamily="18" charset="0"/>
                  <a:cs typeface="Times New Roman"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5047239" y="4005379"/>
                <a:ext cx="820161" cy="668516"/>
              </a:xfrm>
              <a:prstGeom prst="rect">
                <a:avLst/>
              </a:prstGeom>
              <a:blipFill rotWithShape="1">
                <a:blip r:embed="rId7"/>
                <a:stretch>
                  <a:fillRect r="-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5700824" y="1458213"/>
                <a:ext cx="130952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=7 </m:t>
                      </m:r>
                      <m:r>
                        <a:rPr lang="en-US" sz="2000" b="0" i="1" smtClean="0">
                          <a:latin typeface="Cambria Math"/>
                          <a:cs typeface="Times New Roman" pitchFamily="18" charset="0"/>
                        </a:rPr>
                        <m:t>𝐵𝑎𝑙𝑙𝑠</m:t>
                      </m:r>
                    </m:oMath>
                  </m:oMathPara>
                </a14:m>
                <a:endParaRPr lang="en-US" sz="2000" dirty="0">
                  <a:latin typeface="Times New Roman" pitchFamily="18" charset="0"/>
                  <a:cs typeface="Times New Roman" pitchFamily="18" charset="0"/>
                </a:endParaRPr>
              </a:p>
            </p:txBody>
          </p:sp>
        </mc:Choice>
        <mc:Fallback xmlns="">
          <p:sp>
            <p:nvSpPr>
              <p:cNvPr id="30" name="Rectangle 29"/>
              <p:cNvSpPr>
                <a:spLocks noRot="1" noChangeAspect="1" noMove="1" noResize="1" noEditPoints="1" noAdjustHandles="1" noChangeArrowheads="1" noChangeShapeType="1" noTextEdit="1"/>
              </p:cNvSpPr>
              <p:nvPr/>
            </p:nvSpPr>
            <p:spPr>
              <a:xfrm>
                <a:off x="5700824" y="1458213"/>
                <a:ext cx="1309526" cy="400110"/>
              </a:xfrm>
              <a:prstGeom prst="rect">
                <a:avLst/>
              </a:prstGeom>
              <a:blipFill rotWithShape="1">
                <a:blip r:embed="rId8"/>
                <a:stretch>
                  <a:fillRect t="-7576" r="-6977"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5357256" y="2199218"/>
                <a:ext cx="1671676" cy="6685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𝑆</m:t>
                          </m:r>
                        </m:e>
                      </m:d>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7</m:t>
                          </m:r>
                          <m:r>
                            <a:rPr lang="en-US" sz="2000" b="0" i="1" smtClean="0">
                              <a:latin typeface="Cambria Math"/>
                              <a:ea typeface="Cambria Math"/>
                              <a:cs typeface="Times New Roman" pitchFamily="18" charset="0"/>
                            </a:rPr>
                            <m:t>×6</m:t>
                          </m:r>
                        </m:num>
                        <m:den>
                          <m:r>
                            <a:rPr lang="en-US" sz="2000" b="0" i="1" smtClean="0">
                              <a:latin typeface="Cambria Math"/>
                              <a:cs typeface="Times New Roman" pitchFamily="18" charset="0"/>
                            </a:rPr>
                            <m:t>1</m:t>
                          </m:r>
                          <m:r>
                            <a:rPr lang="en-US" sz="2000" b="0" i="1" smtClean="0">
                              <a:latin typeface="Cambria Math"/>
                              <a:ea typeface="Cambria Math"/>
                              <a:cs typeface="Times New Roman" pitchFamily="18" charset="0"/>
                            </a:rPr>
                            <m:t>×</m:t>
                          </m:r>
                          <m:r>
                            <a:rPr lang="en-US" sz="2000" b="0" i="1" smtClean="0">
                              <a:latin typeface="Cambria Math"/>
                              <a:cs typeface="Times New Roman" pitchFamily="18" charset="0"/>
                            </a:rPr>
                            <m:t>2</m:t>
                          </m:r>
                        </m:den>
                      </m:f>
                    </m:oMath>
                  </m:oMathPara>
                </a14:m>
                <a:endParaRPr lang="en-US" sz="2000" dirty="0">
                  <a:latin typeface="Times New Roman" pitchFamily="18" charset="0"/>
                  <a:cs typeface="Times New Roman" pitchFamily="18" charset="0"/>
                </a:endParaRPr>
              </a:p>
            </p:txBody>
          </p:sp>
        </mc:Choice>
        <mc:Fallback xmlns="">
          <p:sp>
            <p:nvSpPr>
              <p:cNvPr id="31" name="Rectangle 30"/>
              <p:cNvSpPr>
                <a:spLocks noRot="1" noChangeAspect="1" noMove="1" noResize="1" noEditPoints="1" noAdjustHandles="1" noChangeArrowheads="1" noChangeShapeType="1" noTextEdit="1"/>
              </p:cNvSpPr>
              <p:nvPr/>
            </p:nvSpPr>
            <p:spPr>
              <a:xfrm>
                <a:off x="5357256" y="2199218"/>
                <a:ext cx="1671676" cy="668516"/>
              </a:xfrm>
              <a:prstGeom prst="rect">
                <a:avLst/>
              </a:prstGeom>
              <a:blipFill rotWithShape="1">
                <a:blip r:embed="rId9"/>
                <a:stretch>
                  <a:fillRect r="-51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6974908" y="2333421"/>
                <a:ext cx="79771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=21</m:t>
                      </m:r>
                    </m:oMath>
                  </m:oMathPara>
                </a14:m>
                <a:endParaRPr lang="en-US" sz="2000" dirty="0">
                  <a:latin typeface="Times New Roman" pitchFamily="18" charset="0"/>
                  <a:cs typeface="Times New Roman" pitchFamily="18" charset="0"/>
                </a:endParaRPr>
              </a:p>
            </p:txBody>
          </p:sp>
        </mc:Choice>
        <mc:Fallback xmlns="">
          <p:sp>
            <p:nvSpPr>
              <p:cNvPr id="32" name="Rectangle 31"/>
              <p:cNvSpPr>
                <a:spLocks noRot="1" noChangeAspect="1" noMove="1" noResize="1" noEditPoints="1" noAdjustHandles="1" noChangeArrowheads="1" noChangeShapeType="1" noTextEdit="1"/>
              </p:cNvSpPr>
              <p:nvPr/>
            </p:nvSpPr>
            <p:spPr>
              <a:xfrm>
                <a:off x="6974908" y="2333421"/>
                <a:ext cx="797718" cy="400110"/>
              </a:xfrm>
              <a:prstGeom prst="rect">
                <a:avLst/>
              </a:prstGeom>
              <a:blipFill rotWithShape="1">
                <a:blip r:embed="rId10"/>
                <a:stretch>
                  <a:fillRect t="-7692" r="-12214" b="-27692"/>
                </a:stretch>
              </a:blipFill>
            </p:spPr>
            <p:txBody>
              <a:bodyPr/>
              <a:lstStyle/>
              <a:p>
                <a:r>
                  <a:rPr lang="en-US">
                    <a:noFill/>
                  </a:rPr>
                  <a:t> </a:t>
                </a:r>
              </a:p>
            </p:txBody>
          </p:sp>
        </mc:Fallback>
      </mc:AlternateContent>
      <p:sp>
        <p:nvSpPr>
          <p:cNvPr id="19" name="Rectangle 18"/>
          <p:cNvSpPr/>
          <p:nvPr/>
        </p:nvSpPr>
        <p:spPr>
          <a:xfrm>
            <a:off x="120580" y="2880163"/>
            <a:ext cx="6096001" cy="400110"/>
          </a:xfrm>
          <a:prstGeom prst="rect">
            <a:avLst/>
          </a:prstGeom>
        </p:spPr>
        <p:txBody>
          <a:bodyPr wrap="square">
            <a:spAutoFit/>
          </a:bodyPr>
          <a:lstStyle/>
          <a:p>
            <a:r>
              <a:rPr lang="en-US" sz="2000" dirty="0">
                <a:latin typeface="Times New Roman" pitchFamily="18" charset="0"/>
                <a:cs typeface="Times New Roman" pitchFamily="18" charset="0"/>
              </a:rPr>
              <a:t>Let E = Event of drawing 2 balls, none of which is blue.</a:t>
            </a:r>
          </a:p>
        </p:txBody>
      </p:sp>
      <mc:AlternateContent xmlns:mc="http://schemas.openxmlformats.org/markup-compatibility/2006" xmlns:a14="http://schemas.microsoft.com/office/drawing/2010/main">
        <mc:Choice Requires="a14">
          <p:sp>
            <p:nvSpPr>
              <p:cNvPr id="33" name="Rectangle 32"/>
              <p:cNvSpPr/>
              <p:nvPr/>
            </p:nvSpPr>
            <p:spPr>
              <a:xfrm>
                <a:off x="5813310" y="2870782"/>
                <a:ext cx="1495217" cy="4036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𝐸</m:t>
                          </m:r>
                        </m:e>
                      </m:d>
                      <m:r>
                        <a:rPr lang="en-US" sz="2000" b="0" i="1" smtClean="0">
                          <a:latin typeface="Cambria Math"/>
                          <a:cs typeface="Times New Roman" pitchFamily="18" charset="0"/>
                        </a:rPr>
                        <m:t>=</m:t>
                      </m:r>
                      <m:sSub>
                        <m:sSubPr>
                          <m:ctrlPr>
                            <a:rPr lang="en-US" sz="2000" b="0" i="1" smtClean="0">
                              <a:latin typeface="Cambria Math"/>
                              <a:cs typeface="Times New Roman" pitchFamily="18" charset="0"/>
                            </a:rPr>
                          </m:ctrlPr>
                        </m:sSubPr>
                        <m:e>
                          <m:sPre>
                            <m:sPrePr>
                              <m:ctrlPr>
                                <a:rPr lang="en-US" sz="2000" b="0" i="1" smtClean="0">
                                  <a:latin typeface="Cambria Math"/>
                                  <a:cs typeface="Times New Roman" pitchFamily="18" charset="0"/>
                                </a:rPr>
                              </m:ctrlPr>
                            </m:sPrePr>
                            <m:sub/>
                            <m:sup>
                              <m:r>
                                <a:rPr lang="en-US" sz="2000" b="0" i="1" smtClean="0">
                                  <a:latin typeface="Cambria Math"/>
                                </a:rPr>
                                <m:t>5</m:t>
                              </m:r>
                            </m:sup>
                            <m:e>
                              <m:r>
                                <a:rPr lang="en-US" sz="2000" b="0" i="1" smtClean="0">
                                  <a:latin typeface="Cambria Math"/>
                                </a:rPr>
                                <m:t>𝐶</m:t>
                              </m:r>
                            </m:e>
                          </m:sPre>
                        </m:e>
                        <m:sub>
                          <m:r>
                            <a:rPr lang="en-US" sz="2000" b="0" i="1" smtClean="0">
                              <a:latin typeface="Cambria Math"/>
                              <a:cs typeface="Times New Roman" pitchFamily="18" charset="0"/>
                            </a:rPr>
                            <m:t>2</m:t>
                          </m:r>
                        </m:sub>
                      </m:sSub>
                    </m:oMath>
                  </m:oMathPara>
                </a14:m>
                <a:endParaRPr lang="en-US" sz="2000" dirty="0">
                  <a:latin typeface="Times New Roman" pitchFamily="18" charset="0"/>
                  <a:cs typeface="Times New Roman" pitchFamily="18" charset="0"/>
                </a:endParaRPr>
              </a:p>
            </p:txBody>
          </p:sp>
        </mc:Choice>
        <mc:Fallback xmlns="">
          <p:sp>
            <p:nvSpPr>
              <p:cNvPr id="33" name="Rectangle 32"/>
              <p:cNvSpPr>
                <a:spLocks noRot="1" noChangeAspect="1" noMove="1" noResize="1" noEditPoints="1" noAdjustHandles="1" noChangeArrowheads="1" noChangeShapeType="1" noTextEdit="1"/>
              </p:cNvSpPr>
              <p:nvPr/>
            </p:nvSpPr>
            <p:spPr>
              <a:xfrm>
                <a:off x="5813310" y="2870782"/>
                <a:ext cx="1495217" cy="403637"/>
              </a:xfrm>
              <a:prstGeom prst="rect">
                <a:avLst/>
              </a:prstGeom>
              <a:blipFill rotWithShape="1">
                <a:blip r:embed="rId11"/>
                <a:stretch>
                  <a:fillRect t="-6061" r="-5714"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5942727" y="3192350"/>
                <a:ext cx="1766061" cy="6748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𝑛</m:t>
                      </m:r>
                      <m:d>
                        <m:dPr>
                          <m:ctrlPr>
                            <a:rPr lang="en-US" sz="2000" b="0" i="1" smtClean="0">
                              <a:latin typeface="Cambria Math"/>
                              <a:cs typeface="Times New Roman" pitchFamily="18" charset="0"/>
                            </a:rPr>
                          </m:ctrlPr>
                        </m:dPr>
                        <m:e>
                          <m:r>
                            <a:rPr lang="en-US" sz="2000" b="0" i="1" smtClean="0">
                              <a:latin typeface="Cambria Math"/>
                              <a:cs typeface="Times New Roman" pitchFamily="18" charset="0"/>
                            </a:rPr>
                            <m:t>𝐸</m:t>
                          </m:r>
                        </m:e>
                      </m:d>
                      <m:r>
                        <a:rPr lang="en-US" sz="2000" b="0" i="1" smtClean="0">
                          <a:latin typeface="Cambria Math"/>
                          <a:cs typeface="Times New Roman" pitchFamily="18" charset="0"/>
                        </a:rPr>
                        <m:t>=</m:t>
                      </m:r>
                      <m:f>
                        <m:fPr>
                          <m:ctrlPr>
                            <a:rPr lang="en-US" sz="2000" b="0" i="1" smtClean="0">
                              <a:latin typeface="Cambria Math"/>
                              <a:cs typeface="Times New Roman" pitchFamily="18" charset="0"/>
                            </a:rPr>
                          </m:ctrlPr>
                        </m:fPr>
                        <m:num>
                          <m:r>
                            <a:rPr lang="en-US" sz="2000" b="0" i="1" smtClean="0">
                              <a:latin typeface="Cambria Math"/>
                              <a:cs typeface="Times New Roman" pitchFamily="18" charset="0"/>
                            </a:rPr>
                            <m:t>5</m:t>
                          </m:r>
                          <m:r>
                            <a:rPr lang="en-US" sz="2000" b="0" i="1" smtClean="0">
                              <a:latin typeface="Cambria Math"/>
                              <a:ea typeface="Cambria Math"/>
                              <a:cs typeface="Times New Roman" pitchFamily="18" charset="0"/>
                            </a:rPr>
                            <m:t>×4</m:t>
                          </m:r>
                        </m:num>
                        <m:den>
                          <m:r>
                            <a:rPr lang="en-US" sz="2000" b="0" i="1" smtClean="0">
                              <a:latin typeface="Cambria Math"/>
                              <a:cs typeface="Times New Roman" pitchFamily="18" charset="0"/>
                            </a:rPr>
                            <m:t>1</m:t>
                          </m:r>
                          <m:r>
                            <a:rPr lang="en-US" sz="2000" b="0" i="1" smtClean="0">
                              <a:latin typeface="Cambria Math"/>
                              <a:ea typeface="Cambria Math"/>
                              <a:cs typeface="Times New Roman" pitchFamily="18" charset="0"/>
                            </a:rPr>
                            <m:t>×</m:t>
                          </m:r>
                          <m:r>
                            <a:rPr lang="en-US" sz="2000" b="0" i="1" smtClean="0">
                              <a:latin typeface="Cambria Math"/>
                              <a:cs typeface="Times New Roman" pitchFamily="18" charset="0"/>
                            </a:rPr>
                            <m:t>2</m:t>
                          </m:r>
                        </m:den>
                      </m:f>
                    </m:oMath>
                  </m:oMathPara>
                </a14:m>
                <a:endParaRPr lang="en-US" sz="2000" dirty="0">
                  <a:latin typeface="Times New Roman" pitchFamily="18" charset="0"/>
                  <a:cs typeface="Times New Roman"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5942727" y="3192350"/>
                <a:ext cx="1766061" cy="674800"/>
              </a:xfrm>
              <a:prstGeom prst="rect">
                <a:avLst/>
              </a:prstGeom>
              <a:blipFill rotWithShape="1">
                <a:blip r:embed="rId12"/>
                <a:stretch>
                  <a:fillRect r="-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7508081" y="3385072"/>
                <a:ext cx="79771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a:cs typeface="Times New Roman" pitchFamily="18" charset="0"/>
                        </a:rPr>
                        <m:t>=10</m:t>
                      </m:r>
                    </m:oMath>
                  </m:oMathPara>
                </a14:m>
                <a:endParaRPr lang="en-US" sz="2000" dirty="0">
                  <a:latin typeface="Times New Roman" pitchFamily="18" charset="0"/>
                  <a:cs typeface="Times New Roman" pitchFamily="18" charset="0"/>
                </a:endParaRPr>
              </a:p>
            </p:txBody>
          </p:sp>
        </mc:Choice>
        <mc:Fallback xmlns="">
          <p:sp>
            <p:nvSpPr>
              <p:cNvPr id="35" name="Rectangle 34"/>
              <p:cNvSpPr>
                <a:spLocks noRot="1" noChangeAspect="1" noMove="1" noResize="1" noEditPoints="1" noAdjustHandles="1" noChangeArrowheads="1" noChangeShapeType="1" noTextEdit="1"/>
              </p:cNvSpPr>
              <p:nvPr/>
            </p:nvSpPr>
            <p:spPr>
              <a:xfrm>
                <a:off x="7508081" y="3385072"/>
                <a:ext cx="797719" cy="400110"/>
              </a:xfrm>
              <a:prstGeom prst="rect">
                <a:avLst/>
              </a:prstGeom>
              <a:blipFill rotWithShape="1">
                <a:blip r:embed="rId13"/>
                <a:stretch>
                  <a:fillRect t="-7576" r="-11450" b="-25758"/>
                </a:stretch>
              </a:blipFill>
            </p:spPr>
            <p:txBody>
              <a:bodyPr/>
              <a:lstStyle/>
              <a:p>
                <a:r>
                  <a:rPr lang="en-US">
                    <a:noFill/>
                  </a:rPr>
                  <a:t> </a:t>
                </a:r>
              </a:p>
            </p:txBody>
          </p:sp>
        </mc:Fallback>
      </mc:AlternateContent>
    </p:spTree>
    <p:extLst>
      <p:ext uri="{BB962C8B-B14F-4D97-AF65-F5344CB8AC3E}">
        <p14:creationId xmlns:p14="http://schemas.microsoft.com/office/powerpoint/2010/main" val="15076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left)">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22" grpId="0"/>
      <p:bldP spid="23" grpId="0"/>
      <p:bldP spid="24" grpId="0"/>
      <p:bldP spid="27" grpId="0"/>
      <p:bldP spid="29" grpId="0"/>
      <p:bldP spid="30" grpId="0"/>
      <p:bldP spid="31" grpId="0"/>
      <p:bldP spid="32" grpId="0"/>
      <p:bldP spid="19" grpId="0"/>
      <p:bldP spid="33" grpId="0"/>
      <p:bldP spid="34" grpId="0"/>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3798" y="1428751"/>
            <a:ext cx="3288081" cy="769441"/>
          </a:xfrm>
          <a:prstGeom prst="rect">
            <a:avLst/>
          </a:prstGeom>
        </p:spPr>
        <p:txBody>
          <a:bodyPr wrap="none">
            <a:spAutoFit/>
          </a:bodyPr>
          <a:lstStyle/>
          <a:p>
            <a:pPr lvl="0" algn="ctr" fontAlgn="base">
              <a:spcBef>
                <a:spcPct val="0"/>
              </a:spcBef>
              <a:spcAft>
                <a:spcPct val="0"/>
              </a:spcAft>
            </a:pPr>
            <a:r>
              <a:rPr lang="en-US" sz="4400" b="1" dirty="0" smtClean="0">
                <a:latin typeface="Times New Roman" pitchFamily="18" charset="0"/>
                <a:cs typeface="Times New Roman" pitchFamily="18" charset="0"/>
              </a:rPr>
              <a:t>Mensuration</a:t>
            </a:r>
            <a:endParaRPr lang="en-US" sz="4400" b="1" dirty="0" smtClean="0">
              <a:latin typeface="Times New Roman" pitchFamily="18" charset="0"/>
              <a:cs typeface="Times New Roman" pitchFamily="18" charset="0"/>
            </a:endParaRPr>
          </a:p>
        </p:txBody>
      </p:sp>
      <p:sp>
        <p:nvSpPr>
          <p:cNvPr id="3" name="Rectangle 2"/>
          <p:cNvSpPr/>
          <p:nvPr/>
        </p:nvSpPr>
        <p:spPr>
          <a:xfrm>
            <a:off x="5568818" y="3409951"/>
            <a:ext cx="3270382" cy="1384995"/>
          </a:xfrm>
          <a:prstGeom prst="rect">
            <a:avLst/>
          </a:prstGeom>
        </p:spPr>
        <p:txBody>
          <a:bodyPr wrap="none">
            <a:spAutoFit/>
          </a:bodyPr>
          <a:lstStyle/>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By:-</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Naveen Kumar Jain</a:t>
            </a:r>
          </a:p>
          <a:p>
            <a:pPr lvl="0" fontAlgn="base">
              <a:spcBef>
                <a:spcPct val="0"/>
              </a:spcBef>
              <a:spcAft>
                <a:spcPct val="0"/>
              </a:spcAft>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(Aptitude Trainer)</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45717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646331"/>
          </a:xfrm>
          <a:prstGeom prst="rect">
            <a:avLst/>
          </a:prstGeom>
        </p:spPr>
        <p:txBody>
          <a:bodyPr wrap="square">
            <a:spAutoFit/>
          </a:bodyPr>
          <a:lstStyle/>
          <a:p>
            <a:r>
              <a:rPr lang="en-US" b="1" dirty="0" smtClean="0">
                <a:latin typeface="Times New Roman" pitchFamily="18" charset="0"/>
                <a:cs typeface="Times New Roman" pitchFamily="18" charset="0"/>
              </a:rPr>
              <a:t>1.	If </a:t>
            </a:r>
            <a:r>
              <a:rPr lang="en-US" b="1" dirty="0">
                <a:latin typeface="Times New Roman" pitchFamily="18" charset="0"/>
                <a:cs typeface="Times New Roman" pitchFamily="18" charset="0"/>
              </a:rPr>
              <a:t>the side of an equilateral triangle is 4 cm, find its area and perimeter. </a:t>
            </a:r>
          </a:p>
          <a:p>
            <a:r>
              <a:rPr lang="en-US" b="1" dirty="0">
                <a:latin typeface="Times New Roman" pitchFamily="18" charset="0"/>
                <a:cs typeface="Times New Roman" pitchFamily="18" charset="0"/>
              </a:rPr>
              <a:t>A. 6.928 cm2, 12cm B. 6 cm2, 12cm C. 6.928 cm2, 5 cm D. None of these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7273648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646331"/>
          </a:xfrm>
          <a:prstGeom prst="rect">
            <a:avLst/>
          </a:prstGeom>
        </p:spPr>
        <p:txBody>
          <a:bodyPr wrap="square">
            <a:spAutoFit/>
          </a:bodyPr>
          <a:lstStyle/>
          <a:p>
            <a:r>
              <a:rPr lang="en-US" b="1" dirty="0" smtClean="0">
                <a:latin typeface="Times New Roman" pitchFamily="18" charset="0"/>
                <a:cs typeface="Times New Roman" pitchFamily="18" charset="0"/>
              </a:rPr>
              <a:t>2.	If </a:t>
            </a:r>
            <a:r>
              <a:rPr lang="en-US" b="1" dirty="0">
                <a:latin typeface="Times New Roman" pitchFamily="18" charset="0"/>
                <a:cs typeface="Times New Roman" pitchFamily="18" charset="0"/>
              </a:rPr>
              <a:t>three sides of a triangle are 5, 6, 7 cm respectively, find the area of triangle. </a:t>
            </a:r>
          </a:p>
          <a:p>
            <a:r>
              <a:rPr lang="en-IN" b="1" dirty="0">
                <a:latin typeface="Times New Roman" pitchFamily="18" charset="0"/>
                <a:cs typeface="Times New Roman" pitchFamily="18" charset="0"/>
              </a:rPr>
              <a:t>A. 6√3 cm² B. 6√6 cm² C. 3√6 cm² D. 3√2 cm²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23396526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923330"/>
          </a:xfrm>
          <a:prstGeom prst="rect">
            <a:avLst/>
          </a:prstGeom>
        </p:spPr>
        <p:txBody>
          <a:bodyPr wrap="square">
            <a:spAutoFit/>
          </a:bodyPr>
          <a:lstStyle/>
          <a:p>
            <a:r>
              <a:rPr lang="en-US" b="1" dirty="0" smtClean="0">
                <a:latin typeface="Times New Roman" pitchFamily="18" charset="0"/>
                <a:cs typeface="Times New Roman" pitchFamily="18" charset="0"/>
              </a:rPr>
              <a:t>3.	If </a:t>
            </a:r>
            <a:r>
              <a:rPr lang="en-US" b="1" dirty="0">
                <a:latin typeface="Times New Roman" pitchFamily="18" charset="0"/>
                <a:cs typeface="Times New Roman" pitchFamily="18" charset="0"/>
              </a:rPr>
              <a:t>a rectangular paper of length 6 cm and width 3 cm is rolled to form a cylinder with height equal to the width of the paper, then its base radius is </a:t>
            </a:r>
          </a:p>
          <a:p>
            <a:r>
              <a:rPr lang="el-GR" b="1" dirty="0">
                <a:latin typeface="Times New Roman" pitchFamily="18" charset="0"/>
                <a:cs typeface="Times New Roman" pitchFamily="18" charset="0"/>
              </a:rPr>
              <a:t>A. 3/π B. 5/π C. 7/π D. 9/π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76107607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923330"/>
          </a:xfrm>
          <a:prstGeom prst="rect">
            <a:avLst/>
          </a:prstGeom>
        </p:spPr>
        <p:txBody>
          <a:bodyPr wrap="square">
            <a:spAutoFit/>
          </a:bodyPr>
          <a:lstStyle/>
          <a:p>
            <a:r>
              <a:rPr lang="en-US" b="1" dirty="0" smtClean="0">
                <a:latin typeface="Times New Roman" pitchFamily="18" charset="0"/>
                <a:cs typeface="Times New Roman" pitchFamily="18" charset="0"/>
              </a:rPr>
              <a:t>4.	The </a:t>
            </a:r>
            <a:r>
              <a:rPr lang="en-US" b="1" dirty="0">
                <a:latin typeface="Times New Roman" pitchFamily="18" charset="0"/>
                <a:cs typeface="Times New Roman" pitchFamily="18" charset="0"/>
              </a:rPr>
              <a:t>sides of a triangle are in the ratio of 5:4:3. If its perimeter is 24 cm, what is the area of the triangle? </a:t>
            </a:r>
          </a:p>
          <a:p>
            <a:r>
              <a:rPr lang="en-IN" b="1" dirty="0">
                <a:latin typeface="Times New Roman" pitchFamily="18" charset="0"/>
                <a:cs typeface="Times New Roman" pitchFamily="18" charset="0"/>
              </a:rPr>
              <a:t>A. 22 cm² B. 24 cm² C. 26 cm² D. 28 cm²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75213069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923330"/>
          </a:xfrm>
          <a:prstGeom prst="rect">
            <a:avLst/>
          </a:prstGeom>
        </p:spPr>
        <p:txBody>
          <a:bodyPr wrap="square">
            <a:spAutoFit/>
          </a:bodyPr>
          <a:lstStyle/>
          <a:p>
            <a:r>
              <a:rPr lang="en-US" b="1" dirty="0" smtClean="0">
                <a:latin typeface="Times New Roman" pitchFamily="18" charset="0"/>
                <a:cs typeface="Times New Roman" pitchFamily="18" charset="0"/>
              </a:rPr>
              <a:t>5.	The </a:t>
            </a:r>
            <a:r>
              <a:rPr lang="en-US" b="1" dirty="0">
                <a:latin typeface="Times New Roman" pitchFamily="18" charset="0"/>
                <a:cs typeface="Times New Roman" pitchFamily="18" charset="0"/>
              </a:rPr>
              <a:t>two adjacent sides of a parallelogram are 12 and 14 meters respectively, and if the diagonal connecting the ends is 22 meters, find the area of the parallelogram. </a:t>
            </a:r>
          </a:p>
          <a:p>
            <a:r>
              <a:rPr lang="en-US" b="1" dirty="0">
                <a:latin typeface="Times New Roman" pitchFamily="18" charset="0"/>
                <a:cs typeface="Times New Roman" pitchFamily="18" charset="0"/>
              </a:rPr>
              <a:t>A. 150 m² B. 145 m² C. 151.78 m² D. None of these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51735731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923330"/>
          </a:xfrm>
          <a:prstGeom prst="rect">
            <a:avLst/>
          </a:prstGeom>
        </p:spPr>
        <p:txBody>
          <a:bodyPr wrap="square">
            <a:spAutoFit/>
          </a:bodyPr>
          <a:lstStyle/>
          <a:p>
            <a:r>
              <a:rPr lang="en-US" b="1" dirty="0" smtClean="0">
                <a:latin typeface="Times New Roman" pitchFamily="18" charset="0"/>
                <a:cs typeface="Times New Roman" pitchFamily="18" charset="0"/>
              </a:rPr>
              <a:t>6.	The </a:t>
            </a:r>
            <a:r>
              <a:rPr lang="en-US" b="1" dirty="0">
                <a:latin typeface="Times New Roman" pitchFamily="18" charset="0"/>
                <a:cs typeface="Times New Roman" pitchFamily="18" charset="0"/>
              </a:rPr>
              <a:t>length of a rectangle is increased by 30% and its breadth is decreased by 20%. What is the percentage change in the area? </a:t>
            </a:r>
          </a:p>
          <a:p>
            <a:r>
              <a:rPr lang="en-IN" b="1" dirty="0">
                <a:latin typeface="Times New Roman" pitchFamily="18" charset="0"/>
                <a:cs typeface="Times New Roman" pitchFamily="18" charset="0"/>
              </a:rPr>
              <a:t>A. 4 % B. 6 % C. 8 % D. 10 %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5823068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646331"/>
          </a:xfrm>
          <a:prstGeom prst="rect">
            <a:avLst/>
          </a:prstGeom>
        </p:spPr>
        <p:txBody>
          <a:bodyPr wrap="square">
            <a:spAutoFit/>
          </a:bodyPr>
          <a:lstStyle/>
          <a:p>
            <a:r>
              <a:rPr lang="en-US" b="1" dirty="0" smtClean="0">
                <a:latin typeface="Times New Roman" pitchFamily="18" charset="0"/>
                <a:cs typeface="Times New Roman" pitchFamily="18" charset="0"/>
              </a:rPr>
              <a:t>7.	The </a:t>
            </a:r>
            <a:r>
              <a:rPr lang="en-US" b="1" dirty="0">
                <a:latin typeface="Times New Roman" pitchFamily="18" charset="0"/>
                <a:cs typeface="Times New Roman" pitchFamily="18" charset="0"/>
              </a:rPr>
              <a:t>diameter of a circle is doubled. Its area becomes times? </a:t>
            </a:r>
          </a:p>
          <a:p>
            <a:r>
              <a:rPr lang="en-IN" b="1" dirty="0">
                <a:latin typeface="Times New Roman" pitchFamily="18" charset="0"/>
                <a:cs typeface="Times New Roman" pitchFamily="18" charset="0"/>
              </a:rPr>
              <a:t>A. 4 B. 2 C. 6 D. 8 </a:t>
            </a:r>
            <a:endParaRPr lang="en-US"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89171516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33350"/>
            <a:ext cx="8980426" cy="923330"/>
          </a:xfrm>
          <a:prstGeom prst="rect">
            <a:avLst/>
          </a:prstGeom>
        </p:spPr>
        <p:txBody>
          <a:bodyPr wrap="square">
            <a:spAutoFit/>
          </a:bodyPr>
          <a:lstStyle/>
          <a:p>
            <a:r>
              <a:rPr lang="en-US" b="1" dirty="0" smtClean="0">
                <a:latin typeface="Times New Roman" pitchFamily="18" charset="0"/>
                <a:cs typeface="Times New Roman" pitchFamily="18" charset="0"/>
              </a:rPr>
              <a:t>8.	There </a:t>
            </a:r>
            <a:r>
              <a:rPr lang="en-US" b="1" dirty="0">
                <a:latin typeface="Times New Roman" pitchFamily="18" charset="0"/>
                <a:cs typeface="Times New Roman" pitchFamily="18" charset="0"/>
              </a:rPr>
              <a:t>is a path of 1 m wide around the outer edge of a circular part of 10 m radius. What is the path area? </a:t>
            </a: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A. 66 </a:t>
            </a:r>
            <a:r>
              <a:rPr lang="en-US" b="1" dirty="0" err="1" smtClean="0">
                <a:latin typeface="Times New Roman" pitchFamily="18" charset="0"/>
                <a:cs typeface="Times New Roman" pitchFamily="18" charset="0"/>
              </a:rPr>
              <a:t>sq</a:t>
            </a:r>
            <a:r>
              <a:rPr lang="en-US" b="1" dirty="0" smtClean="0">
                <a:latin typeface="Times New Roman" pitchFamily="18" charset="0"/>
                <a:cs typeface="Times New Roman" pitchFamily="18" charset="0"/>
              </a:rPr>
              <a:t> m	B. 55 </a:t>
            </a:r>
            <a:r>
              <a:rPr lang="en-US" b="1" dirty="0" err="1" smtClean="0">
                <a:latin typeface="Times New Roman" pitchFamily="18" charset="0"/>
                <a:cs typeface="Times New Roman" pitchFamily="18" charset="0"/>
              </a:rPr>
              <a:t>sq</a:t>
            </a:r>
            <a:r>
              <a:rPr lang="en-US" b="1" dirty="0" smtClean="0">
                <a:latin typeface="Times New Roman" pitchFamily="18" charset="0"/>
                <a:cs typeface="Times New Roman" pitchFamily="18" charset="0"/>
              </a:rPr>
              <a:t> m	C. 45 </a:t>
            </a:r>
            <a:r>
              <a:rPr lang="en-US" b="1" dirty="0" err="1" smtClean="0">
                <a:latin typeface="Times New Roman" pitchFamily="18" charset="0"/>
                <a:cs typeface="Times New Roman" pitchFamily="18" charset="0"/>
              </a:rPr>
              <a:t>sq</a:t>
            </a:r>
            <a:r>
              <a:rPr lang="en-US" b="1" dirty="0" smtClean="0">
                <a:latin typeface="Times New Roman" pitchFamily="18" charset="0"/>
                <a:cs typeface="Times New Roman" pitchFamily="18" charset="0"/>
              </a:rPr>
              <a:t> m	D.68 </a:t>
            </a:r>
            <a:r>
              <a:rPr lang="en-US" b="1" dirty="0" err="1" smtClean="0">
                <a:latin typeface="Times New Roman" pitchFamily="18" charset="0"/>
                <a:cs typeface="Times New Roman" pitchFamily="18" charset="0"/>
              </a:rPr>
              <a:t>sq</a:t>
            </a:r>
            <a:r>
              <a:rPr lang="en-US" b="1" dirty="0" smtClean="0">
                <a:latin typeface="Times New Roman" pitchFamily="18" charset="0"/>
                <a:cs typeface="Times New Roman" pitchFamily="18" charset="0"/>
              </a:rPr>
              <a:t> m</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42368527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
            <a:ext cx="8859837"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066601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99" y="187325"/>
            <a:ext cx="8812213"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81844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9550"/>
            <a:ext cx="8726487"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38408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350"/>
            <a:ext cx="733583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12490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61950"/>
            <a:ext cx="9040813"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30918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85750"/>
            <a:ext cx="7812087"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81786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1873" y="1276350"/>
            <a:ext cx="6800260" cy="144655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8800" b="1" cap="all" spc="0" dirty="0" smtClean="0">
                <a:ln w="0"/>
                <a:solidFill>
                  <a:srgbClr val="002060"/>
                </a:solidFill>
                <a:effectLst>
                  <a:reflection blurRad="12700" stA="50000" endPos="50000" dist="5000" dir="5400000" sy="-100000" rotWithShape="0"/>
                </a:effectLst>
              </a:rPr>
              <a:t>THANK YOU</a:t>
            </a:r>
            <a:endParaRPr lang="en-US" sz="8800" b="1" cap="all" spc="0" dirty="0">
              <a:ln w="0"/>
              <a:solidFill>
                <a:srgbClr val="002060"/>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100064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Chapter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4194</TotalTime>
  <Words>3086</Words>
  <Application>Microsoft Office PowerPoint</Application>
  <PresentationFormat>On-screen Show (16:9)</PresentationFormat>
  <Paragraphs>498</Paragraphs>
  <Slides>65</Slides>
  <Notes>4</Notes>
  <HiddenSlides>0</HiddenSlides>
  <MMClips>0</MMClips>
  <ScaleCrop>false</ScaleCrop>
  <HeadingPairs>
    <vt:vector size="4" baseType="variant">
      <vt:variant>
        <vt:lpstr>Theme</vt:lpstr>
      </vt:variant>
      <vt:variant>
        <vt:i4>2</vt:i4>
      </vt:variant>
      <vt:variant>
        <vt:lpstr>Slide Titles</vt:lpstr>
      </vt:variant>
      <vt:variant>
        <vt:i4>65</vt:i4>
      </vt:variant>
    </vt:vector>
  </HeadingPairs>
  <TitlesOfParts>
    <vt:vector size="67" baseType="lpstr">
      <vt:lpstr>Concourse</vt:lpstr>
      <vt:lpstr>Chapter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Lokesh</dc:creator>
  <cp:lastModifiedBy>naveen</cp:lastModifiedBy>
  <cp:revision>796</cp:revision>
  <dcterms:created xsi:type="dcterms:W3CDTF">2006-08-16T00:00:00Z</dcterms:created>
  <dcterms:modified xsi:type="dcterms:W3CDTF">2025-07-15T01:09:40Z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0A18FFB72AF74BFE9AEE2AD93839B004</vt:lpwstr>
  </property>
  <property fmtid="{D5CDD505-2E9C-101B-9397-08002B2CF9AE}" pid="3" name="KSOProductBuildVer">
    <vt:lpwstr>1033-11.2.0.11537</vt:lpwstr>
  </property>
</Properties>
</file>