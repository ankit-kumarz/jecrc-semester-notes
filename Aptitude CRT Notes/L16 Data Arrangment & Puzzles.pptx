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1"/>
  </p:notesMasterIdLst>
  <p:sldIdLst>
    <p:sldId id="468" r:id="rId2"/>
    <p:sldId id="469" r:id="rId3"/>
    <p:sldId id="470" r:id="rId4"/>
    <p:sldId id="471" r:id="rId5"/>
    <p:sldId id="472" r:id="rId6"/>
    <p:sldId id="473" r:id="rId7"/>
    <p:sldId id="474" r:id="rId8"/>
    <p:sldId id="475" r:id="rId9"/>
    <p:sldId id="476" r:id="rId10"/>
    <p:sldId id="477" r:id="rId11"/>
    <p:sldId id="478" r:id="rId12"/>
    <p:sldId id="479" r:id="rId13"/>
    <p:sldId id="482" r:id="rId14"/>
    <p:sldId id="483" r:id="rId15"/>
    <p:sldId id="484" r:id="rId16"/>
    <p:sldId id="485" r:id="rId17"/>
    <p:sldId id="486" r:id="rId18"/>
    <p:sldId id="487" r:id="rId19"/>
    <p:sldId id="488" r:id="rId20"/>
    <p:sldId id="489" r:id="rId21"/>
    <p:sldId id="490" r:id="rId22"/>
    <p:sldId id="491" r:id="rId23"/>
    <p:sldId id="492" r:id="rId24"/>
    <p:sldId id="493" r:id="rId25"/>
    <p:sldId id="494" r:id="rId26"/>
    <p:sldId id="495" r:id="rId27"/>
    <p:sldId id="496" r:id="rId28"/>
    <p:sldId id="497" r:id="rId29"/>
    <p:sldId id="498" r:id="rId30"/>
    <p:sldId id="499" r:id="rId31"/>
    <p:sldId id="500" r:id="rId32"/>
    <p:sldId id="501" r:id="rId33"/>
    <p:sldId id="502" r:id="rId34"/>
    <p:sldId id="503" r:id="rId35"/>
    <p:sldId id="504" r:id="rId36"/>
    <p:sldId id="505" r:id="rId37"/>
    <p:sldId id="506" r:id="rId38"/>
    <p:sldId id="507" r:id="rId39"/>
    <p:sldId id="508" r:id="rId40"/>
    <p:sldId id="509" r:id="rId41"/>
    <p:sldId id="510" r:id="rId42"/>
    <p:sldId id="511" r:id="rId43"/>
    <p:sldId id="512" r:id="rId44"/>
    <p:sldId id="517" r:id="rId45"/>
    <p:sldId id="518" r:id="rId46"/>
    <p:sldId id="519" r:id="rId47"/>
    <p:sldId id="520" r:id="rId48"/>
    <p:sldId id="521" r:id="rId49"/>
    <p:sldId id="522" r:id="rId50"/>
    <p:sldId id="523" r:id="rId51"/>
    <p:sldId id="524" r:id="rId52"/>
    <p:sldId id="525" r:id="rId53"/>
    <p:sldId id="526" r:id="rId54"/>
    <p:sldId id="527" r:id="rId55"/>
    <p:sldId id="529" r:id="rId56"/>
    <p:sldId id="530" r:id="rId57"/>
    <p:sldId id="481" r:id="rId58"/>
    <p:sldId id="339" r:id="rId59"/>
    <p:sldId id="422" r:id="rId60"/>
    <p:sldId id="423" r:id="rId61"/>
    <p:sldId id="430" r:id="rId62"/>
    <p:sldId id="432" r:id="rId63"/>
    <p:sldId id="424" r:id="rId64"/>
    <p:sldId id="429" r:id="rId65"/>
    <p:sldId id="433" r:id="rId66"/>
    <p:sldId id="434" r:id="rId67"/>
    <p:sldId id="425" r:id="rId68"/>
    <p:sldId id="431" r:id="rId69"/>
    <p:sldId id="465" r:id="rId70"/>
    <p:sldId id="466" r:id="rId71"/>
    <p:sldId id="467" r:id="rId72"/>
    <p:sldId id="435" r:id="rId73"/>
    <p:sldId id="436" r:id="rId74"/>
    <p:sldId id="438" r:id="rId75"/>
    <p:sldId id="445" r:id="rId76"/>
    <p:sldId id="446" r:id="rId77"/>
    <p:sldId id="447" r:id="rId78"/>
    <p:sldId id="448" r:id="rId79"/>
    <p:sldId id="449" r:id="rId80"/>
    <p:sldId id="450" r:id="rId81"/>
    <p:sldId id="451" r:id="rId82"/>
    <p:sldId id="452" r:id="rId83"/>
    <p:sldId id="453" r:id="rId84"/>
    <p:sldId id="454" r:id="rId85"/>
    <p:sldId id="455" r:id="rId86"/>
    <p:sldId id="456" r:id="rId87"/>
    <p:sldId id="439" r:id="rId88"/>
    <p:sldId id="440" r:id="rId89"/>
    <p:sldId id="444" r:id="rId9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236" y="-33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3-08-22T14:58:54.392"/>
    </inkml:context>
    <inkml:brush xml:id="br0">
      <inkml:brushProperty name="width" value="0.05292" units="cm"/>
      <inkml:brushProperty name="height" value="0.05292" units="cm"/>
      <inkml:brushProperty name="color" value="#FF0000"/>
    </inkml:brush>
  </inkml:definitions>
  <inkml:trace contextRef="#ctx0" brushRef="#br0">13153 3572,'0'37,"-19"-37,19 0,0-19,37-18,38 0,-75 0,56 0,-19 37,-37-38,56 38,-56-37,37 37,-19 0,20 0,-38-37,37 37,-37-19,74 19,-37-37,1 37,-1-37,0 0,0 37,-37-37</inkml:trace>
  <inkml:trace contextRef="#ctx0" brushRef="#br0" timeOffset="1027.0587">14287 3200,'0'-37,"0"-1,0 1,0 56,0 37,0-1,-18-55,18 56,0 0,0-19,0 19,0-19,0 38,0-20,0 1,0-19,0-37,0 0,0-18,-37 18,-1 0,38-37,-37 37,74 37,1-37,17 0,-17 0,-1 0,0 0,0 0,1-19,-20 19</inkml:trace>
  <inkml:trace contextRef="#ctx0" brushRef="#br0" timeOffset="3438.1966">7274 5897,'19'0,"18"0,-19 0,57-37,-19 37,-1 0,20-37,-19 37,37-56,-19 56,0-74,-18 74,-18 0,-57 0,-37 18,19-18</inkml:trace>
  <inkml:trace contextRef="#ctx0" brushRef="#br0" timeOffset="3880.2219">7813 5637,'-37'0,"56"0,18 0,0 0,-37 18,37-18,1 38,-38-1,18-37,-18 18,-18 57,-20-38,-17 0,55 19,-56-56,19 37,37 1,-56-38,56 55,-56-55,56 38</inkml:trace>
  <inkml:trace contextRef="#ctx0" brushRef="#br0" timeOffset="4983.285">6995 5562,'0'-37,"0"37,-37 0,0 19,-19-19,56 56,-38-56,38 55,-37-17,37 55,0-37,0-19,0-19,0 38,0-19,0 1,0-1,19-37,-19 56,18-56,20 0,-38 37,37-37,-37-19,37-18,-37 0,0 0,-18 37,18-38,-56 38,56-18,-38 18,-17 0,-1 0,19 0,18 0,19 0</inkml:trace>
  <inkml:trace contextRef="#ctx0" brushRef="#br0" timeOffset="6797.3887">8260 3423,'0'-37,"37"37,0 0,19 0,-19 0,38 18,-38-18,0 75,0-75,1 37,-1-37,0 0,-18 0,-19 37,74-37</inkml:trace>
  <inkml:trace contextRef="#ctx0" brushRef="#br0" timeOffset="7181.4107">8837 3442,'0'-38,"0"57,0 18,37-37,-37 37,37-37,-37 56,37-56,-37 56,37-56,-37 19,0 18,0 19,-37-56,-19 74,1-37,17-37,-17 38,17-38,38 37</inkml:trace>
  <inkml:trace contextRef="#ctx0" brushRef="#br0" timeOffset="7983.4566">7386 3311,'-56'0,"19"0,37-37,37 37,0 0,19 0,0-37,-1 37,1-37,0 37,18-37,-18 37,-37 0,-38 18,-37 19,56 1,-37-38,37 55,0 1,19-19,-19 19,56 0,-56 37,0-37,0 0,37 18,-37-37,0 1,0-1,-19-37,19 37</inkml:trace>
  <inkml:trace contextRef="#ctx0" brushRef="#br0" timeOffset="23057.3188">13171 8018,'0'-37,"0"0,0 74,75 19,-19-19,37 0,-19 0,-18-37,18 75,-55-75,37 56,-38-56,38 37,0-37,-56 37,18-37,20 37,-38 0</inkml:trace>
  <inkml:trace contextRef="#ctx0" brushRef="#br0" timeOffset="23493.3437">14269 8316,'0'-37,"0"92,0-17,18 17,-18-17,38 73,-38-74,0 1,0-20,37 19,-37 1</inkml:trace>
  <inkml:trace contextRef="#ctx0" brushRef="#br0" timeOffset="23913.3677">14474 8409,'0'0,"0"37,0 0,0 0,0 1,37-38,-37 55,37-55,0 0,-37 38,37-38,-18 0,-19-38,37 38,-37-37,37 0,-37 0,0-19,0 0,0 19,-37 37,-19 0,19 0,19 0,-20 0,-17 19,17-19,1 0</inkml:trace>
  <inkml:trace contextRef="#ctx0" brushRef="#br0" timeOffset="36399.0819">12111 9134,'37'-37,"-37"0,0 56,-19-19,-18 37,0 0,0 0,0-37,37 37,-38 1,38-1,19-56,55-18,1-37,-38 74,0-38,19 38,-56-37,37 37,1 0,-38-37,37 37,19 0,-56-19,37 19,-19 0,20 0,-38-37,37 37</inkml:trace>
  <inkml:trace contextRef="#ctx0" brushRef="#br0" timeOffset="48400.7682">9041 8595,'0'-37,"0"-1,0 76,0-1,0 0,0 37,0-18,0-19,0 1,38 17,-38-17,0-20,0 19,0 1,0-1</inkml:trace>
  <inkml:trace contextRef="#ctx0" brushRef="#br0" timeOffset="48986.8018">9339 8520,'-19'0,"19"-37,-37 56,-19 74,56-56,-37 37,37 1,0-1,0-37,0-18,0 18,19-37,-19 56,37-56,-37 37,56-37,0 0,-56 38,55-38,-17-19,-38-18,0-1,-38 1,1 37,0-37,-19 37,19-37,0 37,37 18,0 20,-37-38,37 37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4D7663-6794-40E7-83DF-6FA4F790FF98}" type="datetimeFigureOut">
              <a:rPr lang="en-US" smtClean="0"/>
              <a:pPr/>
              <a:t>7/16/2025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DF218E-6EB0-4981-ADB4-05E399C2A764}" type="slidenum">
              <a:rPr lang="en-US" smtClean="0"/>
              <a:pPr/>
              <a:t>‹#›</a:t>
            </a:fld>
            <a:endParaRPr lang="en-US"/>
          </a:p>
        </p:txBody>
      </p:sp>
    </p:spTree>
    <p:extLst>
      <p:ext uri="{BB962C8B-B14F-4D97-AF65-F5344CB8AC3E}">
        <p14:creationId xmlns:p14="http://schemas.microsoft.com/office/powerpoint/2010/main" val="57347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685800" y="2708705"/>
            <a:ext cx="7772400" cy="899778"/>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grpSp>
        <p:nvGrpSpPr>
          <p:cNvPr id="2" name="Group 1"/>
          <p:cNvGrpSpPr/>
          <p:nvPr/>
        </p:nvGrpSpPr>
        <p:grpSpPr>
          <a:xfrm>
            <a:off x="-3765" y="3714750"/>
            <a:ext cx="9147765" cy="1434066"/>
            <a:chOff x="-3765" y="4832896"/>
            <a:chExt cx="9147765" cy="2032192"/>
          </a:xfrm>
        </p:grpSpPr>
        <p:sp>
          <p:nvSpPr>
            <p:cNvPr id="7"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pPr/>
              <a:t>7/16/2025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794784"/>
            <a:ext cx="7772400" cy="13716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198784"/>
            <a:ext cx="4572000" cy="1091166"/>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110997"/>
            <a:ext cx="4038600" cy="3394472"/>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110997"/>
            <a:ext cx="4038600" cy="3394472"/>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8229600" cy="85725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7/16/2025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3657600"/>
            <a:ext cx="7481776" cy="342900"/>
          </a:xfrm>
        </p:spPr>
        <p:txBody>
          <a:bodyPr vert="horz" anchor="t">
            <a:noAutofit/>
            <a:sp3d prstMaterial="softEdge">
              <a:bevelT w="0" h="0"/>
            </a:sp3d>
          </a:bodyPr>
          <a:lstStyle>
            <a:lvl1pPr algn="r">
              <a:buNone/>
              <a:defRPr sz="2500" b="0">
                <a:solidFill>
                  <a:schemeClr val="accent1"/>
                </a:solidFill>
                <a:effectLst/>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4016327"/>
            <a:ext cx="3974592" cy="6858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05740"/>
            <a:ext cx="7479792" cy="3429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4805958"/>
            <a:ext cx="1920240" cy="274320"/>
          </a:xfrm>
        </p:spPr>
        <p:txBody>
          <a:bodyPr/>
          <a:lstStyle/>
          <a:p>
            <a:fld id="{1D8BD707-D9CF-40AE-B4C6-C98DA3205C09}" type="datetimeFigureOut">
              <a:rPr lang="en-US" smtClean="0"/>
              <a:pPr/>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4082552"/>
            <a:ext cx="7162800" cy="486174"/>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42476"/>
            <a:ext cx="8686800" cy="329184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7/16/2025</a:t>
            </a:fld>
            <a:endParaRPr lang="en-US"/>
          </a:p>
        </p:txBody>
      </p:sp>
      <p:sp>
        <p:nvSpPr>
          <p:cNvPr id="6" name="Footer Placeholder 5"/>
          <p:cNvSpPr>
            <a:spLocks noGrp="1"/>
          </p:cNvSpPr>
          <p:nvPr>
            <p:ph type="ftr" sz="quarter" idx="11"/>
          </p:nvPr>
        </p:nvSpPr>
        <p:spPr>
          <a:xfrm>
            <a:off x="4380073" y="4805958"/>
            <a:ext cx="2350681" cy="273844"/>
          </a:xfrm>
        </p:spPr>
        <p:txBody>
          <a:bodyPr/>
          <a:lstStyle>
            <a:lvl1pPr>
              <a:defRPr>
                <a:solidFill>
                  <a:schemeClr val="tx1"/>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
        <p:nvSpPr>
          <p:cNvPr id="2" name="Title 1"/>
          <p:cNvSpPr>
            <a:spLocks noGrp="1"/>
          </p:cNvSpPr>
          <p:nvPr>
            <p:ph type="title"/>
          </p:nvPr>
        </p:nvSpPr>
        <p:spPr>
          <a:xfrm>
            <a:off x="228600" y="3648842"/>
            <a:ext cx="8075432" cy="422004"/>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smtClean="0"/>
              <a:t>Click to edit Master title style</a:t>
            </a:r>
            <a:endParaRPr kumimoji="0" lang="en-US"/>
          </a:p>
        </p:txBody>
      </p:sp>
      <p:sp>
        <p:nvSpPr>
          <p:cNvPr id="8" name="Freeform 7"/>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p:nvPr/>
        </p:nvSpPr>
        <p:spPr bwMode="auto">
          <a:xfrm>
            <a:off x="-6042" y="4343440"/>
            <a:ext cx="3402314" cy="810651"/>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10997"/>
            <a:ext cx="8229600" cy="328955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05980"/>
            <a:ext cx="1777470" cy="419457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81"/>
            <a:ext cx="6324600" cy="419457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p:nvPr/>
        </p:nvSpPr>
        <p:spPr bwMode="auto">
          <a:xfrm>
            <a:off x="-6042" y="4343440"/>
            <a:ext cx="3402314" cy="810651"/>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lstStyle>
          <a:p>
            <a:fld id="{1D8BD707-D9CF-40AE-B4C6-C98DA3205C09}" type="datetimeFigureOut">
              <a:rPr lang="en-US" smtClean="0"/>
              <a:pPr/>
              <a:t>7/16/2025</a:t>
            </a:fld>
            <a:endParaRPr lang="en-US"/>
          </a:p>
        </p:txBody>
      </p:sp>
      <p:sp>
        <p:nvSpPr>
          <p:cNvPr id="22" name="Footer Placeholder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lstStyle>
          <a:p>
            <a:endParaRPr lang="en-US"/>
          </a:p>
        </p:txBody>
      </p:sp>
      <p:sp>
        <p:nvSpPr>
          <p:cNvPr id="18" name="Slide Number Placeholder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emf"/></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2698" y="1352550"/>
            <a:ext cx="5482812" cy="1323439"/>
          </a:xfrm>
          <a:prstGeom prst="rect">
            <a:avLst/>
          </a:prstGeom>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lvl="0" algn="ctr" fontAlgn="base">
              <a:spcBef>
                <a:spcPct val="0"/>
              </a:spcBef>
              <a:spcAft>
                <a:spcPct val="0"/>
              </a:spcAft>
            </a:pPr>
            <a:r>
              <a:rPr lang="en-US" sz="4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itchFamily="18" charset="0"/>
                <a:ea typeface="Times New Roman" pitchFamily="18" charset="0"/>
                <a:cs typeface="Times New Roman" pitchFamily="18" charset="0"/>
              </a:rPr>
              <a:t>ALPHANUMERIC </a:t>
            </a:r>
            <a: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itchFamily="18" charset="0"/>
                <a:cs typeface="Times New Roman" pitchFamily="18" charset="0"/>
              </a:rPr>
              <a:t>PUZZLES</a:t>
            </a:r>
            <a:endParaRPr lang="en-US" sz="4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Rectangle 2"/>
          <p:cNvSpPr/>
          <p:nvPr/>
        </p:nvSpPr>
        <p:spPr>
          <a:xfrm>
            <a:off x="4953000" y="2807494"/>
            <a:ext cx="3270382" cy="138499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anose="02020603050405020304" pitchFamily="18" charset="0"/>
                <a:ea typeface="Times New Roman" panose="02020603050405020304" pitchFamily="18" charset="0"/>
                <a:cs typeface="Times New Roman" panose="02020603050405020304" pitchFamily="18" charset="0"/>
              </a:rPr>
              <a:t>By:-</a:t>
            </a:r>
          </a:p>
          <a:p>
            <a:pPr lvl="0" fontAlgn="base">
              <a:spcBef>
                <a:spcPct val="0"/>
              </a:spcBef>
              <a:spcAft>
                <a:spcPct val="0"/>
              </a:spcAft>
            </a:pPr>
            <a:r>
              <a:rPr lang="en-US"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anose="02020603050405020304" pitchFamily="18" charset="0"/>
                <a:ea typeface="Times New Roman" panose="02020603050405020304" pitchFamily="18" charset="0"/>
                <a:cs typeface="Times New Roman" panose="02020603050405020304" pitchFamily="18" charset="0"/>
              </a:rPr>
              <a:t>Naveen Kumar Jain</a:t>
            </a:r>
          </a:p>
          <a:p>
            <a:pPr lvl="0" fontAlgn="base">
              <a:spcBef>
                <a:spcPct val="0"/>
              </a:spcBef>
              <a:spcAft>
                <a:spcPct val="0"/>
              </a:spcAft>
            </a:pPr>
            <a:r>
              <a:rPr lang="en-US"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anose="02020603050405020304" pitchFamily="18" charset="0"/>
                <a:ea typeface="Times New Roman" panose="02020603050405020304" pitchFamily="18" charset="0"/>
                <a:cs typeface="Times New Roman" panose="02020603050405020304" pitchFamily="18" charset="0"/>
              </a:rPr>
              <a:t>(Aptitude Trainer)</a:t>
            </a:r>
            <a:endParaRPr lang="en-US"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84505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6" name="Rectangle 5"/>
          <p:cNvSpPr/>
          <p:nvPr/>
        </p:nvSpPr>
        <p:spPr>
          <a:xfrm>
            <a:off x="228600" y="554831"/>
            <a:ext cx="8686800" cy="1631216"/>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Y W @ 1 &amp; C N 3 P L B 9 ↑ = D * E 2 £ M V ß 7 # 4 F G 5</a:t>
            </a:r>
          </a:p>
          <a:p>
            <a:r>
              <a:rPr lang="en-US" sz="2000" b="1" dirty="0">
                <a:solidFill>
                  <a:srgbClr val="FF0000"/>
                </a:solidFill>
                <a:latin typeface="Times New Roman" pitchFamily="18" charset="0"/>
                <a:cs typeface="Times New Roman" pitchFamily="18" charset="0"/>
              </a:rPr>
              <a:t>If the numbers immediately preceding the symbols are attached to the value double their numerical value, then what will be the sum of the values of all sum numbers?</a:t>
            </a:r>
          </a:p>
          <a:p>
            <a:r>
              <a:rPr lang="en-US" sz="2000" b="1" dirty="0" smtClean="0">
                <a:solidFill>
                  <a:srgbClr val="FF0000"/>
                </a:solidFill>
                <a:latin typeface="Times New Roman" pitchFamily="18" charset="0"/>
                <a:cs typeface="Times New Roman" pitchFamily="18" charset="0"/>
              </a:rPr>
              <a:t>A</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22		B</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26		C</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36		D</a:t>
            </a:r>
            <a:r>
              <a:rPr lang="en-US" sz="2000" b="1" dirty="0">
                <a:solidFill>
                  <a:srgbClr val="FF0000"/>
                </a:solidFill>
                <a:latin typeface="Times New Roman" pitchFamily="18" charset="0"/>
                <a:cs typeface="Times New Roman" pitchFamily="18" charset="0"/>
              </a:rPr>
              <a:t>) 38</a:t>
            </a:r>
          </a:p>
        </p:txBody>
      </p:sp>
      <p:sp>
        <p:nvSpPr>
          <p:cNvPr id="7" name="Rectangle 6"/>
          <p:cNvSpPr/>
          <p:nvPr/>
        </p:nvSpPr>
        <p:spPr>
          <a:xfrm>
            <a:off x="381000" y="2228334"/>
            <a:ext cx="1779654"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D</a:t>
            </a:r>
          </a:p>
        </p:txBody>
      </p:sp>
      <p:sp>
        <p:nvSpPr>
          <p:cNvPr id="9" name="Rectangle 8"/>
          <p:cNvSpPr/>
          <p:nvPr/>
        </p:nvSpPr>
        <p:spPr>
          <a:xfrm>
            <a:off x="1235809" y="2584282"/>
            <a:ext cx="1888391" cy="400110"/>
          </a:xfrm>
          <a:prstGeom prst="rect">
            <a:avLst/>
          </a:prstGeom>
        </p:spPr>
        <p:txBody>
          <a:bodyPr wrap="square">
            <a:spAutoFit/>
          </a:bodyPr>
          <a:lstStyle/>
          <a:p>
            <a:r>
              <a:rPr lang="en-US" sz="2000" b="1" dirty="0">
                <a:latin typeface="Times New Roman" pitchFamily="18" charset="0"/>
                <a:cs typeface="Times New Roman" pitchFamily="18" charset="0"/>
              </a:rPr>
              <a:t>Required </a:t>
            </a:r>
            <a:r>
              <a:rPr lang="en-US" sz="2000" b="1" dirty="0" smtClean="0">
                <a:latin typeface="Times New Roman" pitchFamily="18" charset="0"/>
                <a:cs typeface="Times New Roman" pitchFamily="18" charset="0"/>
              </a:rPr>
              <a:t>sum</a:t>
            </a:r>
            <a:endParaRPr lang="en-US" sz="2000" b="1" dirty="0">
              <a:latin typeface="Times New Roman" pitchFamily="18" charset="0"/>
              <a:cs typeface="Times New Roman" pitchFamily="18" charset="0"/>
            </a:endParaRPr>
          </a:p>
        </p:txBody>
      </p:sp>
      <p:sp>
        <p:nvSpPr>
          <p:cNvPr id="10" name="Rectangle 9"/>
          <p:cNvSpPr/>
          <p:nvPr/>
        </p:nvSpPr>
        <p:spPr>
          <a:xfrm>
            <a:off x="2814023" y="2571750"/>
            <a:ext cx="522900" cy="400110"/>
          </a:xfrm>
          <a:prstGeom prst="rect">
            <a:avLst/>
          </a:prstGeom>
        </p:spPr>
        <p:txBody>
          <a:bodyPr wrap="none">
            <a:spAutoFit/>
          </a:bodyPr>
          <a:lstStyle/>
          <a:p>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2</a:t>
            </a:r>
            <a:endParaRPr lang="en-US" sz="2000" b="1" dirty="0">
              <a:latin typeface="Times New Roman" pitchFamily="18" charset="0"/>
              <a:cs typeface="Times New Roman" pitchFamily="18" charset="0"/>
            </a:endParaRPr>
          </a:p>
        </p:txBody>
      </p:sp>
      <p:sp>
        <p:nvSpPr>
          <p:cNvPr id="11" name="Rectangle 10"/>
          <p:cNvSpPr/>
          <p:nvPr/>
        </p:nvSpPr>
        <p:spPr>
          <a:xfrm>
            <a:off x="3276600" y="2559050"/>
            <a:ext cx="312906" cy="400110"/>
          </a:xfrm>
          <a:prstGeom prst="rect">
            <a:avLst/>
          </a:prstGeom>
        </p:spPr>
        <p:txBody>
          <a:bodyPr wrap="none">
            <a:spAutoFit/>
          </a:bodyPr>
          <a:lstStyle/>
          <a:p>
            <a:r>
              <a:rPr lang="en-US" sz="2000" b="1" dirty="0" smtClean="0">
                <a:latin typeface="Times New Roman" pitchFamily="18" charset="0"/>
                <a:cs typeface="Times New Roman" pitchFamily="18" charset="0"/>
              </a:rPr>
              <a:t>x</a:t>
            </a:r>
            <a:endParaRPr lang="en-US" sz="2000" b="1" dirty="0">
              <a:latin typeface="Times New Roman" pitchFamily="18" charset="0"/>
              <a:cs typeface="Times New Roman" pitchFamily="18" charset="0"/>
            </a:endParaRPr>
          </a:p>
        </p:txBody>
      </p:sp>
      <p:sp>
        <p:nvSpPr>
          <p:cNvPr id="12" name="Rectangle 11"/>
          <p:cNvSpPr/>
          <p:nvPr/>
        </p:nvSpPr>
        <p:spPr>
          <a:xfrm>
            <a:off x="3439465" y="2559050"/>
            <a:ext cx="397866" cy="400110"/>
          </a:xfrm>
          <a:prstGeom prst="rect">
            <a:avLst/>
          </a:prstGeom>
        </p:spPr>
        <p:txBody>
          <a:bodyPr wrap="none">
            <a:spAutoFit/>
          </a:bodyPr>
          <a:lstStyle/>
          <a:p>
            <a:r>
              <a:rPr lang="en-US" sz="2000" b="1" dirty="0">
                <a:latin typeface="Times New Roman" pitchFamily="18" charset="0"/>
                <a:cs typeface="Times New Roman" pitchFamily="18" charset="0"/>
              </a:rPr>
              <a:t>(</a:t>
            </a:r>
            <a:r>
              <a:rPr lang="en-US" sz="2000" b="1" dirty="0" smtClean="0">
                <a:latin typeface="Times New Roman" pitchFamily="18" charset="0"/>
                <a:cs typeface="Times New Roman" pitchFamily="18" charset="0"/>
              </a:rPr>
              <a:t>1</a:t>
            </a:r>
            <a:endParaRPr lang="en-US" sz="2000" b="1" dirty="0">
              <a:latin typeface="Times New Roman" pitchFamily="18" charset="0"/>
              <a:cs typeface="Times New Roman" pitchFamily="18" charset="0"/>
            </a:endParaRPr>
          </a:p>
        </p:txBody>
      </p:sp>
      <p:sp>
        <p:nvSpPr>
          <p:cNvPr id="13" name="Rectangle 12"/>
          <p:cNvSpPr/>
          <p:nvPr/>
        </p:nvSpPr>
        <p:spPr>
          <a:xfrm>
            <a:off x="3619500" y="2559398"/>
            <a:ext cx="458780" cy="400110"/>
          </a:xfrm>
          <a:prstGeom prst="rect">
            <a:avLst/>
          </a:prstGeom>
        </p:spPr>
        <p:txBody>
          <a:bodyPr wrap="none">
            <a:spAutoFit/>
          </a:bodyPr>
          <a:lstStyle/>
          <a:p>
            <a:r>
              <a:rPr lang="en-US" sz="2000" b="1" dirty="0">
                <a:latin typeface="Times New Roman" pitchFamily="18" charset="0"/>
                <a:cs typeface="Times New Roman" pitchFamily="18" charset="0"/>
              </a:rPr>
              <a:t>+</a:t>
            </a:r>
            <a:r>
              <a:rPr lang="en-US" sz="2000" b="1" dirty="0" smtClean="0">
                <a:latin typeface="Times New Roman" pitchFamily="18" charset="0"/>
                <a:cs typeface="Times New Roman" pitchFamily="18" charset="0"/>
              </a:rPr>
              <a:t>9</a:t>
            </a:r>
            <a:endParaRPr lang="en-US" sz="2000" b="1" dirty="0">
              <a:latin typeface="Times New Roman" pitchFamily="18" charset="0"/>
              <a:cs typeface="Times New Roman" pitchFamily="18" charset="0"/>
            </a:endParaRPr>
          </a:p>
        </p:txBody>
      </p:sp>
      <p:sp>
        <p:nvSpPr>
          <p:cNvPr id="14" name="Rectangle 13"/>
          <p:cNvSpPr/>
          <p:nvPr/>
        </p:nvSpPr>
        <p:spPr>
          <a:xfrm>
            <a:off x="3942282" y="2546350"/>
            <a:ext cx="458780" cy="400110"/>
          </a:xfrm>
          <a:prstGeom prst="rect">
            <a:avLst/>
          </a:prstGeom>
        </p:spPr>
        <p:txBody>
          <a:bodyPr wrap="none">
            <a:spAutoFit/>
          </a:bodyPr>
          <a:lstStyle/>
          <a:p>
            <a:r>
              <a:rPr lang="en-US" sz="2000" b="1" dirty="0">
                <a:latin typeface="Times New Roman" pitchFamily="18" charset="0"/>
                <a:cs typeface="Times New Roman" pitchFamily="18" charset="0"/>
              </a:rPr>
              <a:t>+</a:t>
            </a:r>
            <a:r>
              <a:rPr lang="en-US" sz="2000" b="1" dirty="0" smtClean="0">
                <a:latin typeface="Times New Roman" pitchFamily="18" charset="0"/>
                <a:cs typeface="Times New Roman" pitchFamily="18" charset="0"/>
              </a:rPr>
              <a:t>2</a:t>
            </a:r>
            <a:endParaRPr lang="en-US" sz="2000" b="1" dirty="0">
              <a:latin typeface="Times New Roman" pitchFamily="18" charset="0"/>
              <a:cs typeface="Times New Roman" pitchFamily="18" charset="0"/>
            </a:endParaRPr>
          </a:p>
        </p:txBody>
      </p:sp>
      <p:sp>
        <p:nvSpPr>
          <p:cNvPr id="15" name="Rectangle 14"/>
          <p:cNvSpPr/>
          <p:nvPr/>
        </p:nvSpPr>
        <p:spPr>
          <a:xfrm>
            <a:off x="4254500" y="2545318"/>
            <a:ext cx="543739" cy="400110"/>
          </a:xfrm>
          <a:prstGeom prst="rect">
            <a:avLst/>
          </a:prstGeom>
        </p:spPr>
        <p:txBody>
          <a:bodyPr wrap="none">
            <a:spAutoFit/>
          </a:bodyPr>
          <a:lstStyle/>
          <a:p>
            <a:r>
              <a:rPr lang="en-US" sz="2000" b="1" dirty="0">
                <a:latin typeface="Times New Roman" pitchFamily="18" charset="0"/>
                <a:cs typeface="Times New Roman" pitchFamily="18" charset="0"/>
              </a:rPr>
              <a:t>+7</a:t>
            </a:r>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p:txBody>
      </p:sp>
      <p:sp>
        <p:nvSpPr>
          <p:cNvPr id="16" name="Rectangle 15"/>
          <p:cNvSpPr/>
          <p:nvPr/>
        </p:nvSpPr>
        <p:spPr>
          <a:xfrm>
            <a:off x="2841129" y="2953614"/>
            <a:ext cx="971741" cy="400110"/>
          </a:xfrm>
          <a:prstGeom prst="rect">
            <a:avLst/>
          </a:prstGeom>
        </p:spPr>
        <p:txBody>
          <a:bodyPr wrap="none">
            <a:spAutoFit/>
          </a:bodyPr>
          <a:lstStyle/>
          <a:p>
            <a:r>
              <a:rPr lang="en-US" sz="2000" b="1" dirty="0">
                <a:latin typeface="Times New Roman" pitchFamily="18" charset="0"/>
                <a:cs typeface="Times New Roman" pitchFamily="18" charset="0"/>
              </a:rPr>
              <a:t>=2 x </a:t>
            </a:r>
            <a:r>
              <a:rPr lang="en-US" sz="2000" b="1" dirty="0" smtClean="0">
                <a:latin typeface="Times New Roman" pitchFamily="18" charset="0"/>
                <a:cs typeface="Times New Roman" pitchFamily="18" charset="0"/>
              </a:rPr>
              <a:t>19</a:t>
            </a:r>
            <a:endParaRPr lang="en-US" sz="2000" b="1" dirty="0">
              <a:latin typeface="Times New Roman" pitchFamily="18" charset="0"/>
              <a:cs typeface="Times New Roman" pitchFamily="18" charset="0"/>
            </a:endParaRPr>
          </a:p>
        </p:txBody>
      </p:sp>
      <p:sp>
        <p:nvSpPr>
          <p:cNvPr id="17" name="Rectangle 16"/>
          <p:cNvSpPr/>
          <p:nvPr/>
        </p:nvSpPr>
        <p:spPr>
          <a:xfrm>
            <a:off x="2907050" y="3360530"/>
            <a:ext cx="587020" cy="400110"/>
          </a:xfrm>
          <a:prstGeom prst="rect">
            <a:avLst/>
          </a:prstGeom>
        </p:spPr>
        <p:txBody>
          <a:bodyPr wrap="none">
            <a:spAutoFit/>
          </a:bodyPr>
          <a:lstStyle/>
          <a:p>
            <a:r>
              <a:rPr lang="en-US" sz="2000" b="1" dirty="0">
                <a:latin typeface="Times New Roman" pitchFamily="18" charset="0"/>
                <a:cs typeface="Times New Roman" pitchFamily="18" charset="0"/>
              </a:rPr>
              <a:t>=38</a:t>
            </a:r>
          </a:p>
        </p:txBody>
      </p:sp>
    </p:spTree>
    <p:extLst>
      <p:ext uri="{BB962C8B-B14F-4D97-AF65-F5344CB8AC3E}">
        <p14:creationId xmlns:p14="http://schemas.microsoft.com/office/powerpoint/2010/main" val="3885313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4" grpId="0"/>
      <p:bldP spid="15"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152400" y="514350"/>
            <a:ext cx="8839200" cy="1938992"/>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2 * 8 5 6 B 9 ß Q 3 E 1 7 R D 4 £ (13) U @ K (18) A (14) P</a:t>
            </a:r>
          </a:p>
          <a:p>
            <a:r>
              <a:rPr lang="en-US" sz="2000" b="1" dirty="0">
                <a:solidFill>
                  <a:srgbClr val="FF0000"/>
                </a:solidFill>
                <a:latin typeface="Times New Roman" pitchFamily="18" charset="0"/>
                <a:cs typeface="Times New Roman" pitchFamily="18" charset="0"/>
              </a:rPr>
              <a:t>If each alphabet has a value of zero, each symbol has a value equivalent to the square of the numeral that immediately precedes the symbol or the value of 1 if it is not immediately preceded by any numeral, what will be the sum of the values of the first 10 elements of the series starting from the left end?</a:t>
            </a:r>
          </a:p>
          <a:p>
            <a:r>
              <a:rPr lang="en-US" sz="2000" b="1" dirty="0" smtClean="0">
                <a:solidFill>
                  <a:srgbClr val="FF0000"/>
                </a:solidFill>
                <a:latin typeface="Times New Roman" pitchFamily="18" charset="0"/>
                <a:cs typeface="Times New Roman" pitchFamily="18" charset="0"/>
              </a:rPr>
              <a:t>A</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46		B</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79		C</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107		D</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118</a:t>
            </a:r>
            <a:endParaRPr lang="en-US" sz="2000" b="1" dirty="0">
              <a:solidFill>
                <a:srgbClr val="FF0000"/>
              </a:solidFill>
              <a:latin typeface="Times New Roman" pitchFamily="18" charset="0"/>
              <a:cs typeface="Times New Roman" pitchFamily="18" charset="0"/>
            </a:endParaRPr>
          </a:p>
        </p:txBody>
      </p:sp>
      <p:sp>
        <p:nvSpPr>
          <p:cNvPr id="6" name="Rectangle 5"/>
          <p:cNvSpPr/>
          <p:nvPr/>
        </p:nvSpPr>
        <p:spPr>
          <a:xfrm>
            <a:off x="304800" y="2428389"/>
            <a:ext cx="1779654"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D</a:t>
            </a:r>
          </a:p>
        </p:txBody>
      </p:sp>
      <p:sp>
        <p:nvSpPr>
          <p:cNvPr id="3" name="Rectangle 2"/>
          <p:cNvSpPr/>
          <p:nvPr/>
        </p:nvSpPr>
        <p:spPr>
          <a:xfrm>
            <a:off x="571500" y="2822149"/>
            <a:ext cx="5257800" cy="707886"/>
          </a:xfrm>
          <a:prstGeom prst="rect">
            <a:avLst/>
          </a:prstGeom>
        </p:spPr>
        <p:txBody>
          <a:bodyPr wrap="square">
            <a:spAutoFit/>
          </a:bodyPr>
          <a:lstStyle/>
          <a:p>
            <a:r>
              <a:rPr lang="en-US" sz="2000" b="1" dirty="0">
                <a:latin typeface="Times New Roman" pitchFamily="18" charset="0"/>
                <a:cs typeface="Times New Roman" pitchFamily="18" charset="0"/>
              </a:rPr>
              <a:t>The values of the first 10 elements from the left end may be shown as </a:t>
            </a:r>
            <a:r>
              <a:rPr lang="en-US" sz="2000" b="1" dirty="0" smtClean="0">
                <a:latin typeface="Times New Roman" pitchFamily="18" charset="0"/>
                <a:cs typeface="Times New Roman" pitchFamily="18" charset="0"/>
              </a:rPr>
              <a:t>under</a:t>
            </a:r>
            <a:endParaRPr lang="en-US" sz="2000" b="1" dirty="0">
              <a:latin typeface="Times New Roman" pitchFamily="18" charset="0"/>
              <a:cs typeface="Times New Roman" pitchFamily="18" charset="0"/>
            </a:endParaRPr>
          </a:p>
        </p:txBody>
      </p:sp>
      <p:sp>
        <p:nvSpPr>
          <p:cNvPr id="7" name="Rectangle 6"/>
          <p:cNvSpPr/>
          <p:nvPr/>
        </p:nvSpPr>
        <p:spPr>
          <a:xfrm>
            <a:off x="2514600" y="3421618"/>
            <a:ext cx="4572000" cy="400110"/>
          </a:xfrm>
          <a:prstGeom prst="rect">
            <a:avLst/>
          </a:prstGeom>
        </p:spPr>
        <p:txBody>
          <a:bodyPr>
            <a:spAutoFit/>
          </a:bodyPr>
          <a:lstStyle/>
          <a:p>
            <a:r>
              <a:rPr lang="en-US" sz="2000" b="1" dirty="0">
                <a:latin typeface="Times New Roman" pitchFamily="18" charset="0"/>
                <a:cs typeface="Times New Roman" pitchFamily="18" charset="0"/>
              </a:rPr>
              <a:t>(2) (2</a:t>
            </a:r>
            <a:r>
              <a:rPr lang="en-US" sz="2000" b="1" baseline="30000" dirty="0">
                <a:latin typeface="Times New Roman" pitchFamily="18" charset="0"/>
                <a:cs typeface="Times New Roman" pitchFamily="18" charset="0"/>
              </a:rPr>
              <a:t>2</a:t>
            </a:r>
            <a:r>
              <a:rPr lang="en-US" sz="2000" b="1" dirty="0">
                <a:latin typeface="Times New Roman" pitchFamily="18" charset="0"/>
                <a:cs typeface="Times New Roman" pitchFamily="18" charset="0"/>
              </a:rPr>
              <a:t>) (8) (5) (6) (0) (9) (9</a:t>
            </a:r>
            <a:r>
              <a:rPr lang="en-US" sz="2000" b="1" baseline="30000" dirty="0">
                <a:latin typeface="Times New Roman" pitchFamily="18" charset="0"/>
                <a:cs typeface="Times New Roman" pitchFamily="18" charset="0"/>
              </a:rPr>
              <a:t>2</a:t>
            </a:r>
            <a:r>
              <a:rPr lang="en-US" sz="2000" b="1" dirty="0">
                <a:latin typeface="Times New Roman" pitchFamily="18" charset="0"/>
                <a:cs typeface="Times New Roman" pitchFamily="18" charset="0"/>
              </a:rPr>
              <a:t>) (0) (3) </a:t>
            </a:r>
          </a:p>
        </p:txBody>
      </p:sp>
      <p:sp>
        <p:nvSpPr>
          <p:cNvPr id="8" name="Rectangle 7"/>
          <p:cNvSpPr/>
          <p:nvPr/>
        </p:nvSpPr>
        <p:spPr>
          <a:xfrm>
            <a:off x="571500" y="3805367"/>
            <a:ext cx="2171700" cy="400110"/>
          </a:xfrm>
          <a:prstGeom prst="rect">
            <a:avLst/>
          </a:prstGeom>
        </p:spPr>
        <p:txBody>
          <a:bodyPr wrap="square">
            <a:spAutoFit/>
          </a:bodyPr>
          <a:lstStyle/>
          <a:p>
            <a:r>
              <a:rPr lang="en-US" sz="2000" b="1" dirty="0">
                <a:latin typeface="Times New Roman" pitchFamily="18" charset="0"/>
                <a:cs typeface="Times New Roman" pitchFamily="18" charset="0"/>
              </a:rPr>
              <a:t>Required  sum </a:t>
            </a:r>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p:txBody>
      </p:sp>
      <p:sp>
        <p:nvSpPr>
          <p:cNvPr id="9" name="Rectangle 8"/>
          <p:cNvSpPr/>
          <p:nvPr/>
        </p:nvSpPr>
        <p:spPr>
          <a:xfrm>
            <a:off x="2514600" y="3816350"/>
            <a:ext cx="2359941" cy="400110"/>
          </a:xfrm>
          <a:prstGeom prst="rect">
            <a:avLst/>
          </a:prstGeom>
        </p:spPr>
        <p:txBody>
          <a:bodyPr wrap="none">
            <a:spAutoFit/>
          </a:bodyPr>
          <a:lstStyle/>
          <a:p>
            <a:r>
              <a:rPr lang="en-US" sz="2000" b="1" dirty="0" smtClean="0">
                <a:latin typeface="Times New Roman" pitchFamily="18" charset="0"/>
                <a:cs typeface="Times New Roman" pitchFamily="18" charset="0"/>
              </a:rPr>
              <a:t>2+4+8+5+6+9+81+3</a:t>
            </a:r>
            <a:endParaRPr lang="en-US" sz="2000" b="1" dirty="0">
              <a:latin typeface="Times New Roman" pitchFamily="18" charset="0"/>
              <a:cs typeface="Times New Roman" pitchFamily="18" charset="0"/>
            </a:endParaRPr>
          </a:p>
        </p:txBody>
      </p:sp>
      <p:sp>
        <p:nvSpPr>
          <p:cNvPr id="10" name="Rectangle 9"/>
          <p:cNvSpPr/>
          <p:nvPr/>
        </p:nvSpPr>
        <p:spPr>
          <a:xfrm>
            <a:off x="2331182" y="4174699"/>
            <a:ext cx="701089" cy="400110"/>
          </a:xfrm>
          <a:prstGeom prst="rect">
            <a:avLst/>
          </a:prstGeom>
        </p:spPr>
        <p:txBody>
          <a:bodyPr wrap="none">
            <a:spAutoFit/>
          </a:bodyPr>
          <a:lstStyle/>
          <a:p>
            <a:r>
              <a:rPr lang="en-US" sz="2000" b="1" dirty="0">
                <a:latin typeface="Times New Roman" pitchFamily="18" charset="0"/>
                <a:cs typeface="Times New Roman" pitchFamily="18" charset="0"/>
              </a:rPr>
              <a:t>=118</a:t>
            </a:r>
          </a:p>
        </p:txBody>
      </p:sp>
    </p:spTree>
    <p:extLst>
      <p:ext uri="{BB962C8B-B14F-4D97-AF65-F5344CB8AC3E}">
        <p14:creationId xmlns:p14="http://schemas.microsoft.com/office/powerpoint/2010/main" val="334521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304800" y="458033"/>
            <a:ext cx="8509000" cy="1938992"/>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M 1 E ß R B 3 A K 7 £ # 9 ß U D I N 4 6 % F H 2 @ 8 W</a:t>
            </a:r>
          </a:p>
          <a:p>
            <a:r>
              <a:rPr lang="en-US" sz="2000" b="1" dirty="0">
                <a:solidFill>
                  <a:srgbClr val="FF0000"/>
                </a:solidFill>
                <a:latin typeface="Times New Roman" pitchFamily="18" charset="0"/>
                <a:cs typeface="Times New Roman" pitchFamily="18" charset="0"/>
              </a:rPr>
              <a:t>What should come in place of the question mark in the following series based on the above arrangement?</a:t>
            </a:r>
          </a:p>
          <a:p>
            <a:r>
              <a:rPr lang="en-US" sz="2000" b="1" dirty="0">
                <a:solidFill>
                  <a:srgbClr val="FF0000"/>
                </a:solidFill>
                <a:latin typeface="Times New Roman" pitchFamily="18" charset="0"/>
                <a:cs typeface="Times New Roman" pitchFamily="18" charset="0"/>
              </a:rPr>
              <a:t>E B M      A £ B     9 D £    ?    H 8 %   </a:t>
            </a:r>
          </a:p>
          <a:p>
            <a:endParaRPr lang="en-US" sz="2000" b="1" dirty="0">
              <a:solidFill>
                <a:srgbClr val="FF0000"/>
              </a:solidFill>
              <a:latin typeface="Times New Roman" pitchFamily="18" charset="0"/>
              <a:cs typeface="Times New Roman" pitchFamily="18" charset="0"/>
            </a:endParaRPr>
          </a:p>
          <a:p>
            <a:r>
              <a:rPr lang="en-US" sz="2000" b="1" dirty="0">
                <a:solidFill>
                  <a:srgbClr val="FF0000"/>
                </a:solidFill>
                <a:latin typeface="Times New Roman" pitchFamily="18" charset="0"/>
                <a:cs typeface="Times New Roman" pitchFamily="18" charset="0"/>
              </a:rPr>
              <a:t>A) N % </a:t>
            </a:r>
            <a:r>
              <a:rPr lang="en-US" sz="2000" b="1" dirty="0" smtClean="0">
                <a:solidFill>
                  <a:srgbClr val="FF0000"/>
                </a:solidFill>
                <a:latin typeface="Times New Roman" pitchFamily="18" charset="0"/>
                <a:cs typeface="Times New Roman" pitchFamily="18" charset="0"/>
              </a:rPr>
              <a:t>D	B</a:t>
            </a:r>
            <a:r>
              <a:rPr lang="en-US" sz="2000" b="1" dirty="0">
                <a:solidFill>
                  <a:srgbClr val="FF0000"/>
                </a:solidFill>
                <a:latin typeface="Times New Roman" pitchFamily="18" charset="0"/>
                <a:cs typeface="Times New Roman" pitchFamily="18" charset="0"/>
              </a:rPr>
              <a:t>) N F </a:t>
            </a:r>
            <a:r>
              <a:rPr lang="en-US" sz="2000" b="1" dirty="0" smtClean="0">
                <a:solidFill>
                  <a:srgbClr val="FF0000"/>
                </a:solidFill>
                <a:latin typeface="Times New Roman" pitchFamily="18" charset="0"/>
                <a:cs typeface="Times New Roman" pitchFamily="18" charset="0"/>
              </a:rPr>
              <a:t>D		C</a:t>
            </a:r>
            <a:r>
              <a:rPr lang="en-US" sz="2000" b="1" dirty="0">
                <a:solidFill>
                  <a:srgbClr val="FF0000"/>
                </a:solidFill>
                <a:latin typeface="Times New Roman" pitchFamily="18" charset="0"/>
                <a:cs typeface="Times New Roman" pitchFamily="18" charset="0"/>
              </a:rPr>
              <a:t>) 4 F </a:t>
            </a:r>
            <a:r>
              <a:rPr lang="en-US" sz="2000" b="1" dirty="0" smtClean="0">
                <a:solidFill>
                  <a:srgbClr val="FF0000"/>
                </a:solidFill>
                <a:latin typeface="Times New Roman" pitchFamily="18" charset="0"/>
                <a:cs typeface="Times New Roman" pitchFamily="18" charset="0"/>
              </a:rPr>
              <a:t>D		D</a:t>
            </a:r>
            <a:r>
              <a:rPr lang="en-US" sz="2000" b="1" dirty="0">
                <a:solidFill>
                  <a:srgbClr val="FF0000"/>
                </a:solidFill>
                <a:latin typeface="Times New Roman" pitchFamily="18" charset="0"/>
                <a:cs typeface="Times New Roman" pitchFamily="18" charset="0"/>
              </a:rPr>
              <a:t>) I 6 </a:t>
            </a:r>
            <a:r>
              <a:rPr lang="en-US" sz="2000" b="1" dirty="0" smtClean="0">
                <a:solidFill>
                  <a:srgbClr val="FF0000"/>
                </a:solidFill>
                <a:latin typeface="Times New Roman" pitchFamily="18" charset="0"/>
                <a:cs typeface="Times New Roman" pitchFamily="18" charset="0"/>
              </a:rPr>
              <a:t>D</a:t>
            </a:r>
            <a:endParaRPr lang="en-US" sz="2000" b="1" dirty="0">
              <a:solidFill>
                <a:srgbClr val="FF0000"/>
              </a:solidFill>
              <a:latin typeface="Times New Roman" pitchFamily="18" charset="0"/>
              <a:cs typeface="Times New Roman" pitchFamily="18" charset="0"/>
            </a:endParaRPr>
          </a:p>
        </p:txBody>
      </p:sp>
      <p:sp>
        <p:nvSpPr>
          <p:cNvPr id="18" name="Rectangle 17"/>
          <p:cNvSpPr/>
          <p:nvPr/>
        </p:nvSpPr>
        <p:spPr>
          <a:xfrm>
            <a:off x="304800" y="2428389"/>
            <a:ext cx="1765483"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A</a:t>
            </a:r>
          </a:p>
        </p:txBody>
      </p:sp>
      <p:sp>
        <p:nvSpPr>
          <p:cNvPr id="3" name="Rectangle 2"/>
          <p:cNvSpPr/>
          <p:nvPr/>
        </p:nvSpPr>
        <p:spPr>
          <a:xfrm>
            <a:off x="533400" y="2863514"/>
            <a:ext cx="7924800" cy="707886"/>
          </a:xfrm>
          <a:prstGeom prst="rect">
            <a:avLst/>
          </a:prstGeom>
        </p:spPr>
        <p:txBody>
          <a:bodyPr wrap="square">
            <a:spAutoFit/>
          </a:bodyPr>
          <a:lstStyle/>
          <a:p>
            <a:r>
              <a:rPr lang="en-US" sz="2000" b="1" dirty="0">
                <a:latin typeface="Times New Roman" pitchFamily="18" charset="0"/>
                <a:cs typeface="Times New Roman" pitchFamily="18" charset="0"/>
              </a:rPr>
              <a:t>Each element of each term moves 5 steps forward </a:t>
            </a:r>
            <a:r>
              <a:rPr lang="en-US" sz="2000" b="1" dirty="0" smtClean="0">
                <a:latin typeface="Times New Roman" pitchFamily="18" charset="0"/>
                <a:cs typeface="Times New Roman" pitchFamily="18" charset="0"/>
              </a:rPr>
              <a:t>to </a:t>
            </a:r>
            <a:r>
              <a:rPr lang="en-US" sz="2000" b="1" dirty="0">
                <a:latin typeface="Times New Roman" pitchFamily="18" charset="0"/>
                <a:cs typeface="Times New Roman" pitchFamily="18" charset="0"/>
              </a:rPr>
              <a:t>give the corresponding element of the next term</a:t>
            </a:r>
          </a:p>
        </p:txBody>
      </p:sp>
    </p:spTree>
    <p:extLst>
      <p:ext uri="{BB962C8B-B14F-4D97-AF65-F5344CB8AC3E}">
        <p14:creationId xmlns:p14="http://schemas.microsoft.com/office/powerpoint/2010/main" val="267155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228600" y="514350"/>
            <a:ext cx="85852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 K 6 £ Q 2 R * C F 8 E ß G 2 # 4 9 L N 3 U V 5 Y α B 7 W 9</a:t>
            </a:r>
          </a:p>
          <a:p>
            <a:r>
              <a:rPr lang="en-US" sz="2000" b="1" dirty="0">
                <a:solidFill>
                  <a:srgbClr val="FF0000"/>
                </a:solidFill>
                <a:latin typeface="Times New Roman" pitchFamily="18" charset="0"/>
                <a:cs typeface="Times New Roman" pitchFamily="18" charset="0"/>
              </a:rPr>
              <a:t>S K £, is related to 9 W B in the same way as Q 2 * is related to</a:t>
            </a:r>
          </a:p>
          <a:p>
            <a:r>
              <a:rPr lang="en-US" sz="2000" b="1" dirty="0" smtClean="0">
                <a:solidFill>
                  <a:srgbClr val="FF0000"/>
                </a:solidFill>
                <a:latin typeface="Times New Roman" pitchFamily="18" charset="0"/>
                <a:cs typeface="Times New Roman" pitchFamily="18" charset="0"/>
              </a:rPr>
              <a:t>A</a:t>
            </a:r>
            <a:r>
              <a:rPr lang="en-US" sz="2000" b="1" dirty="0">
                <a:solidFill>
                  <a:srgbClr val="FF0000"/>
                </a:solidFill>
                <a:latin typeface="Times New Roman" pitchFamily="18" charset="0"/>
                <a:cs typeface="Times New Roman" pitchFamily="18" charset="0"/>
              </a:rPr>
              <a:t>) a V </a:t>
            </a:r>
            <a:r>
              <a:rPr lang="en-US" sz="2000" b="1" dirty="0" smtClean="0">
                <a:solidFill>
                  <a:srgbClr val="FF0000"/>
                </a:solidFill>
                <a:latin typeface="Times New Roman" pitchFamily="18" charset="0"/>
                <a:cs typeface="Times New Roman" pitchFamily="18" charset="0"/>
              </a:rPr>
              <a:t>U	B</a:t>
            </a:r>
            <a:r>
              <a:rPr lang="en-US" sz="2000" b="1" dirty="0">
                <a:solidFill>
                  <a:srgbClr val="FF0000"/>
                </a:solidFill>
                <a:latin typeface="Times New Roman" pitchFamily="18" charset="0"/>
                <a:cs typeface="Times New Roman" pitchFamily="18" charset="0"/>
              </a:rPr>
              <a:t>) a Y </a:t>
            </a:r>
            <a:r>
              <a:rPr lang="en-US" sz="2000" b="1" dirty="0" smtClean="0">
                <a:solidFill>
                  <a:srgbClr val="FF0000"/>
                </a:solidFill>
                <a:latin typeface="Times New Roman" pitchFamily="18" charset="0"/>
                <a:cs typeface="Times New Roman" pitchFamily="18" charset="0"/>
              </a:rPr>
              <a:t>5		C</a:t>
            </a:r>
            <a:r>
              <a:rPr lang="en-US" sz="2000" b="1" dirty="0">
                <a:solidFill>
                  <a:srgbClr val="FF0000"/>
                </a:solidFill>
                <a:latin typeface="Times New Roman" pitchFamily="18" charset="0"/>
                <a:cs typeface="Times New Roman" pitchFamily="18" charset="0"/>
              </a:rPr>
              <a:t>) 7 B </a:t>
            </a:r>
            <a:r>
              <a:rPr lang="en-US" sz="2000" b="1" dirty="0" smtClean="0">
                <a:solidFill>
                  <a:srgbClr val="FF0000"/>
                </a:solidFill>
                <a:latin typeface="Times New Roman" pitchFamily="18" charset="0"/>
                <a:cs typeface="Times New Roman" pitchFamily="18" charset="0"/>
              </a:rPr>
              <a:t>Y	D</a:t>
            </a:r>
            <a:r>
              <a:rPr lang="en-US" sz="2000" b="1" dirty="0">
                <a:solidFill>
                  <a:srgbClr val="FF0000"/>
                </a:solidFill>
                <a:latin typeface="Times New Roman" pitchFamily="18" charset="0"/>
                <a:cs typeface="Times New Roman" pitchFamily="18" charset="0"/>
              </a:rPr>
              <a:t>) B Y </a:t>
            </a:r>
            <a:r>
              <a:rPr lang="en-US" sz="2000" b="1" dirty="0" smtClean="0">
                <a:solidFill>
                  <a:srgbClr val="FF0000"/>
                </a:solidFill>
                <a:latin typeface="Times New Roman" pitchFamily="18" charset="0"/>
                <a:cs typeface="Times New Roman" pitchFamily="18" charset="0"/>
              </a:rPr>
              <a:t>V	E) </a:t>
            </a:r>
            <a:r>
              <a:rPr lang="en-US" sz="2000" b="1" dirty="0">
                <a:solidFill>
                  <a:srgbClr val="FF0000"/>
                </a:solidFill>
                <a:latin typeface="Times New Roman" pitchFamily="18" charset="0"/>
                <a:cs typeface="Times New Roman" pitchFamily="18" charset="0"/>
              </a:rPr>
              <a:t>a Y V</a:t>
            </a:r>
          </a:p>
        </p:txBody>
      </p:sp>
      <p:sp>
        <p:nvSpPr>
          <p:cNvPr id="6" name="Rectangle 5"/>
          <p:cNvSpPr/>
          <p:nvPr/>
        </p:nvSpPr>
        <p:spPr>
          <a:xfrm>
            <a:off x="304800" y="1657350"/>
            <a:ext cx="1765227"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E</a:t>
            </a:r>
          </a:p>
        </p:txBody>
      </p:sp>
      <p:sp>
        <p:nvSpPr>
          <p:cNvPr id="3" name="Rectangle 2"/>
          <p:cNvSpPr/>
          <p:nvPr/>
        </p:nvSpPr>
        <p:spPr>
          <a:xfrm>
            <a:off x="381000" y="2057460"/>
            <a:ext cx="8229600" cy="707886"/>
          </a:xfrm>
          <a:prstGeom prst="rect">
            <a:avLst/>
          </a:prstGeom>
        </p:spPr>
        <p:txBody>
          <a:bodyPr wrap="square">
            <a:spAutoFit/>
          </a:bodyPr>
          <a:lstStyle/>
          <a:p>
            <a:r>
              <a:rPr lang="en-US" sz="2000" b="1" dirty="0">
                <a:latin typeface="Times New Roman" pitchFamily="18" charset="0"/>
                <a:cs typeface="Times New Roman" pitchFamily="18" charset="0"/>
              </a:rPr>
              <a:t>In each pair, the corresponding elements of both the terms occupy the same position from the beginning and end of the given sequence.</a:t>
            </a:r>
          </a:p>
        </p:txBody>
      </p:sp>
    </p:spTree>
    <p:extLst>
      <p:ext uri="{BB962C8B-B14F-4D97-AF65-F5344CB8AC3E}">
        <p14:creationId xmlns:p14="http://schemas.microsoft.com/office/powerpoint/2010/main" val="295139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381000" y="534233"/>
            <a:ext cx="8432800" cy="1631216"/>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 9 B Q = ß 2 5 R J δ L 3 @ Y M E 6 8 * ÷ D F 4 ß H 7 ©</a:t>
            </a:r>
          </a:p>
          <a:p>
            <a:r>
              <a:rPr lang="en-US" sz="2000" b="1" dirty="0">
                <a:solidFill>
                  <a:srgbClr val="FF0000"/>
                </a:solidFill>
                <a:latin typeface="Times New Roman" pitchFamily="18" charset="0"/>
                <a:cs typeface="Times New Roman" pitchFamily="18" charset="0"/>
              </a:rPr>
              <a:t>How many such numbers are there in the arrangement each of which is immediately preceded by a symbol but not immediately followed by a letter</a:t>
            </a:r>
            <a:r>
              <a:rPr lang="en-US" sz="2000" b="1" dirty="0" smtClean="0">
                <a:solidFill>
                  <a:srgbClr val="FF0000"/>
                </a:solidFill>
                <a:latin typeface="Times New Roman" pitchFamily="18" charset="0"/>
                <a:cs typeface="Times New Roman" pitchFamily="18" charset="0"/>
              </a:rPr>
              <a:t>?</a:t>
            </a:r>
            <a:r>
              <a:rPr lang="en-US" sz="2000" b="1" dirty="0">
                <a:solidFill>
                  <a:srgbClr val="FF0000"/>
                </a:solidFill>
                <a:latin typeface="Times New Roman" pitchFamily="18" charset="0"/>
                <a:cs typeface="Times New Roman" pitchFamily="18" charset="0"/>
              </a:rPr>
              <a:t/>
            </a:r>
            <a:br>
              <a:rPr lang="en-US" sz="2000" b="1" dirty="0">
                <a:solidFill>
                  <a:srgbClr val="FF0000"/>
                </a:solidFill>
                <a:latin typeface="Times New Roman" pitchFamily="18" charset="0"/>
                <a:cs typeface="Times New Roman" pitchFamily="18" charset="0"/>
              </a:rPr>
            </a:br>
            <a:r>
              <a:rPr lang="en-US" sz="2000" b="1" dirty="0" smtClean="0">
                <a:solidFill>
                  <a:srgbClr val="FF0000"/>
                </a:solidFill>
                <a:latin typeface="Times New Roman" pitchFamily="18" charset="0"/>
                <a:cs typeface="Times New Roman" pitchFamily="18" charset="0"/>
              </a:rPr>
              <a:t>A</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Nil		B</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One		C</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Two		D</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Three</a:t>
            </a:r>
            <a:endParaRPr lang="en-US" sz="2000" b="1" dirty="0">
              <a:solidFill>
                <a:srgbClr val="FF0000"/>
              </a:solidFill>
              <a:latin typeface="Times New Roman" pitchFamily="18" charset="0"/>
              <a:cs typeface="Times New Roman" pitchFamily="18" charset="0"/>
            </a:endParaRPr>
          </a:p>
        </p:txBody>
      </p:sp>
      <p:sp>
        <p:nvSpPr>
          <p:cNvPr id="6" name="Rectangle 5"/>
          <p:cNvSpPr/>
          <p:nvPr/>
        </p:nvSpPr>
        <p:spPr>
          <a:xfrm>
            <a:off x="355600" y="2288559"/>
            <a:ext cx="1765227"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B</a:t>
            </a:r>
          </a:p>
        </p:txBody>
      </p:sp>
      <p:sp>
        <p:nvSpPr>
          <p:cNvPr id="3" name="Rectangle 2"/>
          <p:cNvSpPr/>
          <p:nvPr/>
        </p:nvSpPr>
        <p:spPr>
          <a:xfrm>
            <a:off x="685800" y="2876550"/>
            <a:ext cx="7772400" cy="461665"/>
          </a:xfrm>
          <a:prstGeom prst="rect">
            <a:avLst/>
          </a:prstGeom>
        </p:spPr>
        <p:txBody>
          <a:bodyPr wrap="square">
            <a:spAutoFit/>
          </a:bodyPr>
          <a:lstStyle/>
          <a:p>
            <a:r>
              <a:rPr lang="en-US" sz="2400" b="1" dirty="0">
                <a:solidFill>
                  <a:srgbClr val="002060"/>
                </a:solidFill>
                <a:latin typeface="Times New Roman" pitchFamily="18" charset="0"/>
                <a:cs typeface="Times New Roman" pitchFamily="18" charset="0"/>
              </a:rPr>
              <a:t>↑ 9 B Q = ß 2 5 R J δ L 3 @ Y M E 6 8 * ÷ D F 4 ß H 7 ©</a:t>
            </a:r>
          </a:p>
        </p:txBody>
      </p:sp>
      <p:sp>
        <p:nvSpPr>
          <p:cNvPr id="7" name="Rectangle 6"/>
          <p:cNvSpPr/>
          <p:nvPr/>
        </p:nvSpPr>
        <p:spPr>
          <a:xfrm>
            <a:off x="1985450" y="2897316"/>
            <a:ext cx="833949"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b="1" dirty="0">
                <a:solidFill>
                  <a:srgbClr val="002060"/>
                </a:solidFill>
                <a:latin typeface="Times New Roman" pitchFamily="18" charset="0"/>
                <a:cs typeface="Times New Roman" pitchFamily="18" charset="0"/>
              </a:rPr>
              <a:t>ß 2 5 </a:t>
            </a:r>
            <a:endParaRPr lang="en-US" sz="2400" dirty="0"/>
          </a:p>
        </p:txBody>
      </p:sp>
    </p:spTree>
    <p:extLst>
      <p:ext uri="{BB962C8B-B14F-4D97-AF65-F5344CB8AC3E}">
        <p14:creationId xmlns:p14="http://schemas.microsoft.com/office/powerpoint/2010/main" val="1197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228600" y="448092"/>
            <a:ext cx="8585200" cy="1323439"/>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A B 7 C D 9 Z Y * P 2 M © K S 3 ↑ 5 N T @</a:t>
            </a:r>
          </a:p>
          <a:p>
            <a:r>
              <a:rPr lang="en-US" sz="2000" b="1" dirty="0">
                <a:solidFill>
                  <a:srgbClr val="FF0000"/>
                </a:solidFill>
                <a:latin typeface="Times New Roman" pitchFamily="18" charset="0"/>
                <a:cs typeface="Times New Roman" pitchFamily="18" charset="0"/>
              </a:rPr>
              <a:t>How many such digits are there in the sequence each of which is immediately preceded as well as followed by a letter?</a:t>
            </a:r>
          </a:p>
          <a:p>
            <a:r>
              <a:rPr lang="en-US" sz="2000" b="1" dirty="0" smtClean="0">
                <a:solidFill>
                  <a:srgbClr val="FF0000"/>
                </a:solidFill>
                <a:latin typeface="Times New Roman" pitchFamily="18" charset="0"/>
                <a:cs typeface="Times New Roman" pitchFamily="18" charset="0"/>
              </a:rPr>
              <a:t>A</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Nil		B</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One		C</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Two		D</a:t>
            </a:r>
            <a:r>
              <a:rPr lang="en-US" sz="2000" b="1" dirty="0">
                <a:solidFill>
                  <a:srgbClr val="FF0000"/>
                </a:solidFill>
                <a:latin typeface="Times New Roman" pitchFamily="18" charset="0"/>
                <a:cs typeface="Times New Roman" pitchFamily="18" charset="0"/>
              </a:rPr>
              <a:t>) Three</a:t>
            </a:r>
          </a:p>
        </p:txBody>
      </p:sp>
      <p:sp>
        <p:nvSpPr>
          <p:cNvPr id="6" name="Rectangle 5"/>
          <p:cNvSpPr/>
          <p:nvPr/>
        </p:nvSpPr>
        <p:spPr>
          <a:xfrm>
            <a:off x="228600" y="1878308"/>
            <a:ext cx="1779654"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D</a:t>
            </a:r>
          </a:p>
        </p:txBody>
      </p:sp>
      <p:sp>
        <p:nvSpPr>
          <p:cNvPr id="7" name="Rectangle 6"/>
          <p:cNvSpPr/>
          <p:nvPr/>
        </p:nvSpPr>
        <p:spPr>
          <a:xfrm>
            <a:off x="675224" y="2289233"/>
            <a:ext cx="7772400" cy="461665"/>
          </a:xfrm>
          <a:prstGeom prst="rect">
            <a:avLst/>
          </a:prstGeom>
        </p:spPr>
        <p:txBody>
          <a:bodyPr wrap="square">
            <a:spAutoFit/>
          </a:bodyPr>
          <a:lstStyle/>
          <a:p>
            <a:r>
              <a:rPr lang="en-US" sz="2400" b="1" dirty="0">
                <a:solidFill>
                  <a:srgbClr val="002060"/>
                </a:solidFill>
                <a:latin typeface="Times New Roman" pitchFamily="18" charset="0"/>
                <a:cs typeface="Times New Roman" pitchFamily="18" charset="0"/>
              </a:rPr>
              <a:t>A B 7 C </a:t>
            </a:r>
            <a:r>
              <a:rPr lang="en-US" sz="2400" b="1" dirty="0" smtClean="0">
                <a:solidFill>
                  <a:srgbClr val="002060"/>
                </a:solidFill>
                <a:latin typeface="Times New Roman" pitchFamily="18" charset="0"/>
                <a:cs typeface="Times New Roman" pitchFamily="18" charset="0"/>
              </a:rPr>
              <a:t>D </a:t>
            </a:r>
            <a:r>
              <a:rPr lang="en-US" sz="2400" b="1" dirty="0">
                <a:solidFill>
                  <a:srgbClr val="002060"/>
                </a:solidFill>
                <a:latin typeface="Times New Roman" pitchFamily="18" charset="0"/>
                <a:cs typeface="Times New Roman" pitchFamily="18" charset="0"/>
              </a:rPr>
              <a:t>9 Z Y * P 2 M © K S 3 ↑ 5 N T @</a:t>
            </a:r>
          </a:p>
        </p:txBody>
      </p:sp>
      <p:sp>
        <p:nvSpPr>
          <p:cNvPr id="8" name="Rectangle 7"/>
          <p:cNvSpPr/>
          <p:nvPr/>
        </p:nvSpPr>
        <p:spPr>
          <a:xfrm>
            <a:off x="850900" y="2343150"/>
            <a:ext cx="106255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b="1" dirty="0" smtClean="0">
                <a:solidFill>
                  <a:srgbClr val="002060"/>
                </a:solidFill>
                <a:latin typeface="Times New Roman" pitchFamily="18" charset="0"/>
                <a:cs typeface="Times New Roman" pitchFamily="18" charset="0"/>
              </a:rPr>
              <a:t> </a:t>
            </a:r>
            <a:r>
              <a:rPr lang="en-US" sz="2400" b="1" dirty="0">
                <a:solidFill>
                  <a:srgbClr val="002060"/>
                </a:solidFill>
                <a:latin typeface="Times New Roman" pitchFamily="18" charset="0"/>
                <a:cs typeface="Times New Roman" pitchFamily="18" charset="0"/>
              </a:rPr>
              <a:t>B 7 C</a:t>
            </a:r>
            <a:endParaRPr lang="en-US" sz="2400" dirty="0"/>
          </a:p>
        </p:txBody>
      </p:sp>
      <p:sp>
        <p:nvSpPr>
          <p:cNvPr id="9" name="Rectangle 8"/>
          <p:cNvSpPr/>
          <p:nvPr/>
        </p:nvSpPr>
        <p:spPr>
          <a:xfrm>
            <a:off x="1676400" y="2355850"/>
            <a:ext cx="106255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b="1" dirty="0" smtClean="0">
                <a:solidFill>
                  <a:srgbClr val="002060"/>
                </a:solidFill>
                <a:latin typeface="Times New Roman" pitchFamily="18" charset="0"/>
                <a:cs typeface="Times New Roman" pitchFamily="18" charset="0"/>
              </a:rPr>
              <a:t> </a:t>
            </a:r>
            <a:r>
              <a:rPr lang="en-US" sz="2400" b="1" dirty="0">
                <a:solidFill>
                  <a:srgbClr val="002060"/>
                </a:solidFill>
                <a:latin typeface="Times New Roman" pitchFamily="18" charset="0"/>
                <a:cs typeface="Times New Roman" pitchFamily="18" charset="0"/>
              </a:rPr>
              <a:t>D 9 Z</a:t>
            </a:r>
            <a:endParaRPr lang="en-US" sz="2400" dirty="0"/>
          </a:p>
        </p:txBody>
      </p:sp>
      <p:sp>
        <p:nvSpPr>
          <p:cNvPr id="10" name="Rectangle 9"/>
          <p:cNvSpPr/>
          <p:nvPr/>
        </p:nvSpPr>
        <p:spPr>
          <a:xfrm>
            <a:off x="3052250" y="2343150"/>
            <a:ext cx="106255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b="1" dirty="0">
                <a:solidFill>
                  <a:srgbClr val="002060"/>
                </a:solidFill>
                <a:latin typeface="Times New Roman" pitchFamily="18" charset="0"/>
                <a:cs typeface="Times New Roman" pitchFamily="18" charset="0"/>
              </a:rPr>
              <a:t>P 2 M</a:t>
            </a:r>
            <a:endParaRPr lang="en-US" sz="2400" dirty="0"/>
          </a:p>
        </p:txBody>
      </p:sp>
    </p:spTree>
    <p:extLst>
      <p:ext uri="{BB962C8B-B14F-4D97-AF65-F5344CB8AC3E}">
        <p14:creationId xmlns:p14="http://schemas.microsoft.com/office/powerpoint/2010/main" val="182779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228600" y="586591"/>
            <a:ext cx="8585200" cy="1323439"/>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W 1 R % 4 J E # 7 M T 2 I 9 B H 3 A φ 9 F Q 5 D G 6 U S P</a:t>
            </a:r>
          </a:p>
          <a:p>
            <a:r>
              <a:rPr lang="en-US" sz="2000" b="1" dirty="0">
                <a:solidFill>
                  <a:srgbClr val="FF0000"/>
                </a:solidFill>
                <a:latin typeface="Times New Roman" pitchFamily="18" charset="0"/>
                <a:cs typeface="Times New Roman" pitchFamily="18" charset="0"/>
              </a:rPr>
              <a:t>Which of the following is the seventh to the right of the eighteenth from the right end?</a:t>
            </a:r>
          </a:p>
          <a:p>
            <a:r>
              <a:rPr lang="en-US" sz="2000" b="1" dirty="0" smtClean="0">
                <a:solidFill>
                  <a:srgbClr val="FF0000"/>
                </a:solidFill>
                <a:latin typeface="Times New Roman" pitchFamily="18" charset="0"/>
                <a:cs typeface="Times New Roman" pitchFamily="18" charset="0"/>
              </a:rPr>
              <a:t>A</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A		B</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E		C</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f		D</a:t>
            </a:r>
            <a:r>
              <a:rPr lang="en-US" sz="2000" b="1" dirty="0">
                <a:solidFill>
                  <a:srgbClr val="FF0000"/>
                </a:solidFill>
                <a:latin typeface="Times New Roman" pitchFamily="18" charset="0"/>
                <a:cs typeface="Times New Roman" pitchFamily="18" charset="0"/>
              </a:rPr>
              <a:t>) #</a:t>
            </a:r>
          </a:p>
        </p:txBody>
      </p:sp>
      <p:sp>
        <p:nvSpPr>
          <p:cNvPr id="6" name="Rectangle 5"/>
          <p:cNvSpPr/>
          <p:nvPr/>
        </p:nvSpPr>
        <p:spPr>
          <a:xfrm>
            <a:off x="228600" y="1910030"/>
            <a:ext cx="1779654"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C</a:t>
            </a:r>
          </a:p>
        </p:txBody>
      </p:sp>
      <p:sp>
        <p:nvSpPr>
          <p:cNvPr id="7" name="Rectangle 6"/>
          <p:cNvSpPr/>
          <p:nvPr/>
        </p:nvSpPr>
        <p:spPr>
          <a:xfrm>
            <a:off x="228600" y="2266950"/>
            <a:ext cx="7772400" cy="707886"/>
          </a:xfrm>
          <a:prstGeom prst="rect">
            <a:avLst/>
          </a:prstGeom>
        </p:spPr>
        <p:txBody>
          <a:bodyPr wrap="square">
            <a:spAutoFit/>
          </a:bodyPr>
          <a:lstStyle/>
          <a:p>
            <a:r>
              <a:rPr lang="en-US" sz="2000" b="1" dirty="0">
                <a:latin typeface="Times New Roman" pitchFamily="18" charset="0"/>
                <a:cs typeface="Times New Roman" pitchFamily="18" charset="0"/>
              </a:rPr>
              <a:t>The 18th element from the right end of the arrangement is 2, and the 7th'element to the right of 2 is φ</a:t>
            </a:r>
            <a:endParaRPr lang="en-US" sz="20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78648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304800" y="448092"/>
            <a:ext cx="85090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J Y 2 = S £ ξ E G M œ 7 € H P 9 K L ß ¢ W Q 1 3 # C D ©</a:t>
            </a:r>
          </a:p>
          <a:p>
            <a:r>
              <a:rPr lang="en-US" sz="2000" b="1" dirty="0">
                <a:solidFill>
                  <a:srgbClr val="FF0000"/>
                </a:solidFill>
                <a:latin typeface="Times New Roman" pitchFamily="18" charset="0"/>
                <a:cs typeface="Times New Roman" pitchFamily="18" charset="0"/>
              </a:rPr>
              <a:t>2 Y S is to E G £ in the same way as P H K is to?</a:t>
            </a:r>
          </a:p>
          <a:p>
            <a:r>
              <a:rPr lang="en-US" sz="2000" b="1" dirty="0" smtClean="0">
                <a:solidFill>
                  <a:srgbClr val="FF0000"/>
                </a:solidFill>
                <a:latin typeface="Times New Roman" pitchFamily="18" charset="0"/>
                <a:cs typeface="Times New Roman" pitchFamily="18" charset="0"/>
              </a:rPr>
              <a:t>A</a:t>
            </a:r>
            <a:r>
              <a:rPr lang="en-US" sz="2000" b="1" dirty="0">
                <a:solidFill>
                  <a:srgbClr val="FF0000"/>
                </a:solidFill>
                <a:latin typeface="Times New Roman" pitchFamily="18" charset="0"/>
                <a:cs typeface="Times New Roman" pitchFamily="18" charset="0"/>
              </a:rPr>
              <a:t>) W Q </a:t>
            </a:r>
            <a:r>
              <a:rPr lang="en-US" sz="2000" b="1" dirty="0" smtClean="0">
                <a:solidFill>
                  <a:srgbClr val="FF0000"/>
                </a:solidFill>
                <a:latin typeface="Times New Roman" pitchFamily="18" charset="0"/>
                <a:cs typeface="Times New Roman" pitchFamily="18" charset="0"/>
              </a:rPr>
              <a:t>ß	B</a:t>
            </a:r>
            <a:r>
              <a:rPr lang="en-US" sz="2000" b="1" dirty="0">
                <a:solidFill>
                  <a:srgbClr val="FF0000"/>
                </a:solidFill>
                <a:latin typeface="Times New Roman" pitchFamily="18" charset="0"/>
                <a:cs typeface="Times New Roman" pitchFamily="18" charset="0"/>
              </a:rPr>
              <a:t>) @ W </a:t>
            </a:r>
            <a:r>
              <a:rPr lang="en-US" sz="2000" b="1" dirty="0" smtClean="0">
                <a:solidFill>
                  <a:srgbClr val="FF0000"/>
                </a:solidFill>
                <a:latin typeface="Times New Roman" pitchFamily="18" charset="0"/>
                <a:cs typeface="Times New Roman" pitchFamily="18" charset="0"/>
              </a:rPr>
              <a:t>L	C</a:t>
            </a:r>
            <a:r>
              <a:rPr lang="en-US" sz="2000" b="1" dirty="0">
                <a:solidFill>
                  <a:srgbClr val="FF0000"/>
                </a:solidFill>
                <a:latin typeface="Times New Roman" pitchFamily="18" charset="0"/>
                <a:cs typeface="Times New Roman" pitchFamily="18" charset="0"/>
              </a:rPr>
              <a:t>) @ ß </a:t>
            </a:r>
            <a:r>
              <a:rPr lang="en-US" sz="2000" b="1" dirty="0" smtClean="0">
                <a:solidFill>
                  <a:srgbClr val="FF0000"/>
                </a:solidFill>
                <a:latin typeface="Times New Roman" pitchFamily="18" charset="0"/>
                <a:cs typeface="Times New Roman" pitchFamily="18" charset="0"/>
              </a:rPr>
              <a:t>Q	D</a:t>
            </a:r>
            <a:r>
              <a:rPr lang="en-US" sz="2000" b="1" dirty="0">
                <a:solidFill>
                  <a:srgbClr val="FF0000"/>
                </a:solidFill>
                <a:latin typeface="Times New Roman" pitchFamily="18" charset="0"/>
                <a:cs typeface="Times New Roman" pitchFamily="18" charset="0"/>
              </a:rPr>
              <a:t>) @ W </a:t>
            </a:r>
            <a:r>
              <a:rPr lang="en-US" sz="2000" b="1" dirty="0" smtClean="0">
                <a:solidFill>
                  <a:srgbClr val="FF0000"/>
                </a:solidFill>
                <a:latin typeface="Times New Roman" pitchFamily="18" charset="0"/>
                <a:cs typeface="Times New Roman" pitchFamily="18" charset="0"/>
              </a:rPr>
              <a:t>K</a:t>
            </a:r>
            <a:endParaRPr lang="en-US" sz="2000" b="1" dirty="0">
              <a:solidFill>
                <a:srgbClr val="FF0000"/>
              </a:solidFill>
              <a:latin typeface="Times New Roman" pitchFamily="18" charset="0"/>
              <a:cs typeface="Times New Roman" pitchFamily="18" charset="0"/>
            </a:endParaRPr>
          </a:p>
        </p:txBody>
      </p:sp>
      <p:sp>
        <p:nvSpPr>
          <p:cNvPr id="6" name="Rectangle 5"/>
          <p:cNvSpPr/>
          <p:nvPr/>
        </p:nvSpPr>
        <p:spPr>
          <a:xfrm>
            <a:off x="228600" y="1428750"/>
            <a:ext cx="1765227"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B</a:t>
            </a:r>
          </a:p>
        </p:txBody>
      </p:sp>
      <p:sp>
        <p:nvSpPr>
          <p:cNvPr id="3" name="Rectangle 2"/>
          <p:cNvSpPr/>
          <p:nvPr/>
        </p:nvSpPr>
        <p:spPr>
          <a:xfrm>
            <a:off x="304800" y="1833086"/>
            <a:ext cx="8229600" cy="646331"/>
          </a:xfrm>
          <a:prstGeom prst="rect">
            <a:avLst/>
          </a:prstGeom>
        </p:spPr>
        <p:txBody>
          <a:bodyPr wrap="square">
            <a:spAutoFit/>
          </a:bodyPr>
          <a:lstStyle/>
          <a:p>
            <a:r>
              <a:rPr lang="en-US" b="1" dirty="0">
                <a:latin typeface="Times New Roman" pitchFamily="18" charset="0"/>
                <a:cs typeface="Times New Roman" pitchFamily="18" charset="0"/>
              </a:rPr>
              <a:t>In each pair, the first, second and third elements of the first term move 5, 7 and 1 steps forward respectively to give the corresponding elements of the second term.</a:t>
            </a:r>
          </a:p>
        </p:txBody>
      </p:sp>
    </p:spTree>
    <p:extLst>
      <p:ext uri="{BB962C8B-B14F-4D97-AF65-F5344CB8AC3E}">
        <p14:creationId xmlns:p14="http://schemas.microsoft.com/office/powerpoint/2010/main" val="208985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228600" y="534233"/>
            <a:ext cx="8585200" cy="2246769"/>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Study the following arrangement carefully and answer the questions given below :</a:t>
            </a:r>
          </a:p>
          <a:p>
            <a:r>
              <a:rPr lang="en-US" sz="2000" b="1" dirty="0">
                <a:solidFill>
                  <a:srgbClr val="FF0000"/>
                </a:solidFill>
                <a:latin typeface="Times New Roman" pitchFamily="18" charset="0"/>
                <a:cs typeface="Times New Roman" pitchFamily="18" charset="0"/>
              </a:rPr>
              <a:t>R E 5 D A P &amp; 3 T I Q 7 9 B # 2 K % U 1 M W 4 * J 8 N</a:t>
            </a:r>
          </a:p>
          <a:p>
            <a:r>
              <a:rPr lang="en-US" sz="2000" b="1" dirty="0">
                <a:solidFill>
                  <a:srgbClr val="FF0000"/>
                </a:solidFill>
                <a:latin typeface="Times New Roman" pitchFamily="18" charset="0"/>
                <a:cs typeface="Times New Roman" pitchFamily="18" charset="0"/>
              </a:rPr>
              <a:t>How many such numbers are there in the above arrangement, each of which is immediately preceded by a consonant and not immediately followed by a consonant?</a:t>
            </a:r>
          </a:p>
          <a:p>
            <a:r>
              <a:rPr lang="en-US" sz="2000" b="1" dirty="0" smtClean="0">
                <a:solidFill>
                  <a:srgbClr val="FF0000"/>
                </a:solidFill>
                <a:latin typeface="Times New Roman" pitchFamily="18" charset="0"/>
                <a:cs typeface="Times New Roman" pitchFamily="18" charset="0"/>
              </a:rPr>
              <a:t>A</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None		B</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One		C</a:t>
            </a:r>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Two		D</a:t>
            </a:r>
            <a:r>
              <a:rPr lang="en-US" sz="2000" b="1" dirty="0">
                <a:solidFill>
                  <a:srgbClr val="FF0000"/>
                </a:solidFill>
                <a:latin typeface="Times New Roman" pitchFamily="18" charset="0"/>
                <a:cs typeface="Times New Roman" pitchFamily="18" charset="0"/>
              </a:rPr>
              <a:t>) Three</a:t>
            </a:r>
          </a:p>
        </p:txBody>
      </p:sp>
      <p:sp>
        <p:nvSpPr>
          <p:cNvPr id="6" name="Rectangle 5"/>
          <p:cNvSpPr/>
          <p:nvPr/>
        </p:nvSpPr>
        <p:spPr>
          <a:xfrm>
            <a:off x="228600" y="2635843"/>
            <a:ext cx="1779654"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C</a:t>
            </a:r>
          </a:p>
        </p:txBody>
      </p:sp>
      <p:sp>
        <p:nvSpPr>
          <p:cNvPr id="7" name="Rectangle 6"/>
          <p:cNvSpPr/>
          <p:nvPr/>
        </p:nvSpPr>
        <p:spPr>
          <a:xfrm>
            <a:off x="675224" y="3046768"/>
            <a:ext cx="7772400" cy="461665"/>
          </a:xfrm>
          <a:prstGeom prst="rect">
            <a:avLst/>
          </a:prstGeom>
        </p:spPr>
        <p:txBody>
          <a:bodyPr wrap="square">
            <a:spAutoFit/>
          </a:bodyPr>
          <a:lstStyle/>
          <a:p>
            <a:r>
              <a:rPr lang="en-US" sz="2400" b="1" dirty="0">
                <a:solidFill>
                  <a:srgbClr val="002060"/>
                </a:solidFill>
                <a:latin typeface="Times New Roman" pitchFamily="18" charset="0"/>
                <a:cs typeface="Times New Roman" pitchFamily="18" charset="0"/>
              </a:rPr>
              <a:t>R E 5 D A P &amp; 3 T I Q 7 9 B # 2 K % U 1 M W 4 * J 8 N</a:t>
            </a:r>
          </a:p>
        </p:txBody>
      </p:sp>
      <p:sp>
        <p:nvSpPr>
          <p:cNvPr id="8" name="Rectangle 7"/>
          <p:cNvSpPr/>
          <p:nvPr/>
        </p:nvSpPr>
        <p:spPr>
          <a:xfrm>
            <a:off x="3276600" y="3105150"/>
            <a:ext cx="106255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b="1" dirty="0">
                <a:solidFill>
                  <a:srgbClr val="002060"/>
                </a:solidFill>
                <a:latin typeface="Times New Roman" pitchFamily="18" charset="0"/>
                <a:cs typeface="Times New Roman" pitchFamily="18" charset="0"/>
              </a:rPr>
              <a:t>Q 7 9</a:t>
            </a:r>
            <a:endParaRPr lang="en-US" sz="2400" dirty="0"/>
          </a:p>
        </p:txBody>
      </p:sp>
      <p:sp>
        <p:nvSpPr>
          <p:cNvPr id="9" name="Rectangle 8"/>
          <p:cNvSpPr/>
          <p:nvPr/>
        </p:nvSpPr>
        <p:spPr>
          <a:xfrm>
            <a:off x="6375400" y="3105150"/>
            <a:ext cx="106255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b="1" dirty="0">
                <a:solidFill>
                  <a:srgbClr val="002060"/>
                </a:solidFill>
                <a:latin typeface="Times New Roman" pitchFamily="18" charset="0"/>
                <a:cs typeface="Times New Roman" pitchFamily="18" charset="0"/>
              </a:rPr>
              <a:t>W 4 *</a:t>
            </a:r>
            <a:endParaRPr lang="en-US" sz="2400" dirty="0"/>
          </a:p>
        </p:txBody>
      </p:sp>
    </p:spTree>
    <p:extLst>
      <p:ext uri="{BB962C8B-B14F-4D97-AF65-F5344CB8AC3E}">
        <p14:creationId xmlns:p14="http://schemas.microsoft.com/office/powerpoint/2010/main" val="219034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304800" y="571880"/>
            <a:ext cx="8509000" cy="1323439"/>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W 5 R 1 &amp; * F R ? G 2 4 L % K * A $ Y</a:t>
            </a:r>
          </a:p>
          <a:p>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Remove </a:t>
            </a:r>
            <a:r>
              <a:rPr lang="en-US" sz="2000" b="1" dirty="0">
                <a:solidFill>
                  <a:srgbClr val="FF0000"/>
                </a:solidFill>
                <a:latin typeface="Times New Roman" pitchFamily="18" charset="0"/>
                <a:cs typeface="Times New Roman" pitchFamily="18" charset="0"/>
              </a:rPr>
              <a:t>all symbols from the sequence. What is the 6th component present when counted from the right-hand side of the line?</a:t>
            </a:r>
          </a:p>
          <a:p>
            <a:r>
              <a:rPr lang="en-US" sz="2000" b="1" dirty="0" smtClean="0">
                <a:solidFill>
                  <a:srgbClr val="FF0000"/>
                </a:solidFill>
                <a:latin typeface="Times New Roman" pitchFamily="18" charset="0"/>
                <a:cs typeface="Times New Roman" pitchFamily="18" charset="0"/>
              </a:rPr>
              <a:t>A) R		B) Y		C) 2		D) K</a:t>
            </a:r>
            <a:endParaRPr lang="en-US" sz="2000" b="1" dirty="0">
              <a:solidFill>
                <a:srgbClr val="FF0000"/>
              </a:solidFill>
              <a:latin typeface="Times New Roman" pitchFamily="18" charset="0"/>
              <a:cs typeface="Times New Roman" pitchFamily="18" charset="0"/>
            </a:endParaRPr>
          </a:p>
        </p:txBody>
      </p:sp>
      <p:sp>
        <p:nvSpPr>
          <p:cNvPr id="6" name="Rectangle 5"/>
          <p:cNvSpPr/>
          <p:nvPr/>
        </p:nvSpPr>
        <p:spPr>
          <a:xfrm>
            <a:off x="304800" y="1885950"/>
            <a:ext cx="1779654"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C</a:t>
            </a:r>
          </a:p>
        </p:txBody>
      </p:sp>
      <p:sp>
        <p:nvSpPr>
          <p:cNvPr id="3" name="Rectangle 2"/>
          <p:cNvSpPr/>
          <p:nvPr/>
        </p:nvSpPr>
        <p:spPr>
          <a:xfrm>
            <a:off x="1777761" y="2387084"/>
            <a:ext cx="5355120" cy="461665"/>
          </a:xfrm>
          <a:prstGeom prst="rect">
            <a:avLst/>
          </a:prstGeom>
        </p:spPr>
        <p:txBody>
          <a:bodyPr wrap="none">
            <a:spAutoFit/>
          </a:bodyPr>
          <a:lstStyle/>
          <a:p>
            <a:r>
              <a:rPr lang="en-US" sz="2400" b="1" dirty="0">
                <a:solidFill>
                  <a:srgbClr val="0070C0"/>
                </a:solidFill>
                <a:latin typeface="Times New Roman" pitchFamily="18" charset="0"/>
                <a:cs typeface="Times New Roman" pitchFamily="18" charset="0"/>
              </a:rPr>
              <a:t>W 5 R 1 &amp; * F R ? G 2 4 L % K * A $ Y</a:t>
            </a:r>
          </a:p>
        </p:txBody>
      </p:sp>
      <p:sp>
        <p:nvSpPr>
          <p:cNvPr id="7" name="Rectangle 6"/>
          <p:cNvSpPr/>
          <p:nvPr/>
        </p:nvSpPr>
        <p:spPr>
          <a:xfrm>
            <a:off x="1803400" y="2408187"/>
            <a:ext cx="4431791" cy="461665"/>
          </a:xfrm>
          <a:prstGeom prst="rect">
            <a:avLst/>
          </a:prstGeom>
        </p:spPr>
        <p:txBody>
          <a:bodyPr wrap="none">
            <a:spAutoFit/>
          </a:bodyPr>
          <a:lstStyle/>
          <a:p>
            <a:r>
              <a:rPr lang="en-US" sz="2400" b="1" dirty="0">
                <a:solidFill>
                  <a:srgbClr val="0070C0"/>
                </a:solidFill>
                <a:latin typeface="Times New Roman" pitchFamily="18" charset="0"/>
                <a:cs typeface="Times New Roman" pitchFamily="18" charset="0"/>
              </a:rPr>
              <a:t>W 5 R 1 &amp; </a:t>
            </a:r>
            <a:r>
              <a:rPr lang="en-US" sz="2400" b="1" dirty="0" smtClean="0">
                <a:solidFill>
                  <a:srgbClr val="0070C0"/>
                </a:solidFill>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F R </a:t>
            </a:r>
            <a:r>
              <a:rPr lang="en-US" sz="2400" b="1" dirty="0" smtClean="0">
                <a:solidFill>
                  <a:srgbClr val="0070C0"/>
                </a:solidFill>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G 2 4 L </a:t>
            </a:r>
            <a:r>
              <a:rPr lang="en-US" sz="2400" b="1" dirty="0" smtClean="0">
                <a:solidFill>
                  <a:srgbClr val="0070C0"/>
                </a:solidFill>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K </a:t>
            </a:r>
            <a:r>
              <a:rPr lang="en-US" sz="2400" b="1" dirty="0" smtClean="0">
                <a:solidFill>
                  <a:srgbClr val="0070C0"/>
                </a:solidFill>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A </a:t>
            </a:r>
            <a:r>
              <a:rPr lang="en-US" sz="2400" b="1" dirty="0" smtClean="0">
                <a:solidFill>
                  <a:srgbClr val="0070C0"/>
                </a:solidFill>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Y</a:t>
            </a:r>
          </a:p>
        </p:txBody>
      </p:sp>
      <p:sp>
        <p:nvSpPr>
          <p:cNvPr id="8" name="Rectangle 7"/>
          <p:cNvSpPr/>
          <p:nvPr/>
        </p:nvSpPr>
        <p:spPr>
          <a:xfrm>
            <a:off x="4260644" y="2414885"/>
            <a:ext cx="338554" cy="461665"/>
          </a:xfrm>
          <a:prstGeom prst="rect">
            <a:avLst/>
          </a:prstGeom>
        </p:spPr>
        <p:txBody>
          <a:bodyPr wrap="none">
            <a:spAutoFit/>
          </a:bodyPr>
          <a:lstStyle/>
          <a:p>
            <a:r>
              <a:rPr lang="en-US" sz="2400" b="1" dirty="0" smtClean="0">
                <a:latin typeface="Times New Roman" pitchFamily="18" charset="0"/>
                <a:cs typeface="Times New Roman" pitchFamily="18" charset="0"/>
              </a:rPr>
              <a:t>2</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328010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248279"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ALPHANUMERIC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2" name="Rectangle 1"/>
          <p:cNvSpPr/>
          <p:nvPr/>
        </p:nvSpPr>
        <p:spPr>
          <a:xfrm>
            <a:off x="304800" y="571880"/>
            <a:ext cx="8509000" cy="1631216"/>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W 5 R 1 &amp; * F R ? G 2 4 L % K * A $ Y</a:t>
            </a:r>
          </a:p>
          <a:p>
            <a:r>
              <a:rPr lang="en-US" sz="2000" b="1" dirty="0" smtClean="0">
                <a:solidFill>
                  <a:srgbClr val="FF0000"/>
                </a:solidFill>
                <a:latin typeface="Times New Roman" pitchFamily="18" charset="0"/>
                <a:cs typeface="Times New Roman" pitchFamily="18" charset="0"/>
              </a:rPr>
              <a:t>Mention </a:t>
            </a:r>
            <a:r>
              <a:rPr lang="en-US" sz="2000" b="1" dirty="0">
                <a:solidFill>
                  <a:srgbClr val="FF0000"/>
                </a:solidFill>
                <a:latin typeface="Times New Roman" pitchFamily="18" charset="0"/>
                <a:cs typeface="Times New Roman" pitchFamily="18" charset="0"/>
              </a:rPr>
              <a:t>the number of symbols present in the sequence between the 1st vowel starting from the left and the 1st consonant starting from the right-hand side of the sequence?</a:t>
            </a:r>
          </a:p>
          <a:p>
            <a:r>
              <a:rPr lang="en-US" sz="2000" b="1" dirty="0" smtClean="0">
                <a:solidFill>
                  <a:srgbClr val="FF0000"/>
                </a:solidFill>
                <a:latin typeface="Times New Roman" pitchFamily="18" charset="0"/>
                <a:cs typeface="Times New Roman" pitchFamily="18" charset="0"/>
              </a:rPr>
              <a:t>A) One		B) Two		C) Three	D) Four</a:t>
            </a:r>
            <a:endParaRPr lang="en-US" sz="2000" b="1" dirty="0">
              <a:solidFill>
                <a:srgbClr val="FF0000"/>
              </a:solidFill>
              <a:latin typeface="Times New Roman" pitchFamily="18" charset="0"/>
              <a:cs typeface="Times New Roman" pitchFamily="18" charset="0"/>
            </a:endParaRPr>
          </a:p>
        </p:txBody>
      </p:sp>
      <p:sp>
        <p:nvSpPr>
          <p:cNvPr id="6" name="Rectangle 5"/>
          <p:cNvSpPr/>
          <p:nvPr/>
        </p:nvSpPr>
        <p:spPr>
          <a:xfrm>
            <a:off x="304800" y="2019240"/>
            <a:ext cx="1765483" cy="400110"/>
          </a:xfrm>
          <a:prstGeom prst="rect">
            <a:avLst/>
          </a:prstGeom>
        </p:spPr>
        <p:txBody>
          <a:bodyPr wrap="none">
            <a:spAutoFit/>
          </a:bodyPr>
          <a:lstStyle/>
          <a:p>
            <a:r>
              <a:rPr lang="en-US" sz="2000" b="1" dirty="0" smtClean="0">
                <a:latin typeface="Times New Roman" pitchFamily="18" charset="0"/>
                <a:cs typeface="Times New Roman" pitchFamily="18" charset="0"/>
              </a:rPr>
              <a:t>Ans: Option </a:t>
            </a:r>
            <a:r>
              <a:rPr lang="en-US" sz="2000" b="1" dirty="0">
                <a:latin typeface="Times New Roman" pitchFamily="18" charset="0"/>
                <a:cs typeface="Times New Roman" pitchFamily="18" charset="0"/>
              </a:rPr>
              <a:t>A</a:t>
            </a:r>
          </a:p>
        </p:txBody>
      </p:sp>
      <p:sp>
        <p:nvSpPr>
          <p:cNvPr id="7" name="Rectangle 6"/>
          <p:cNvSpPr/>
          <p:nvPr/>
        </p:nvSpPr>
        <p:spPr>
          <a:xfrm>
            <a:off x="1784842" y="2534117"/>
            <a:ext cx="5355120" cy="461665"/>
          </a:xfrm>
          <a:prstGeom prst="rect">
            <a:avLst/>
          </a:prstGeom>
        </p:spPr>
        <p:txBody>
          <a:bodyPr wrap="none">
            <a:spAutoFit/>
          </a:bodyPr>
          <a:lstStyle/>
          <a:p>
            <a:r>
              <a:rPr lang="en-US" sz="2400" b="1" dirty="0">
                <a:solidFill>
                  <a:srgbClr val="0070C0"/>
                </a:solidFill>
                <a:latin typeface="Times New Roman" pitchFamily="18" charset="0"/>
                <a:cs typeface="Times New Roman" pitchFamily="18" charset="0"/>
              </a:rPr>
              <a:t>W 5 R 1 &amp; * F R ? G 2 4 L % K * A $ Y</a:t>
            </a:r>
          </a:p>
        </p:txBody>
      </p:sp>
      <p:sp>
        <p:nvSpPr>
          <p:cNvPr id="8" name="Rectangle 7"/>
          <p:cNvSpPr/>
          <p:nvPr/>
        </p:nvSpPr>
        <p:spPr>
          <a:xfrm>
            <a:off x="6204889" y="2540467"/>
            <a:ext cx="909673"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sz="2400" b="1" dirty="0">
                <a:solidFill>
                  <a:srgbClr val="0070C0"/>
                </a:solidFill>
                <a:latin typeface="Times New Roman" pitchFamily="18" charset="0"/>
                <a:cs typeface="Times New Roman" pitchFamily="18" charset="0"/>
              </a:rPr>
              <a:t>A $ </a:t>
            </a:r>
            <a:r>
              <a:rPr lang="en-US" sz="2400" b="1" dirty="0" smtClean="0">
                <a:solidFill>
                  <a:srgbClr val="0070C0"/>
                </a:solidFill>
                <a:latin typeface="Times New Roman" pitchFamily="18" charset="0"/>
                <a:cs typeface="Times New Roman" pitchFamily="18" charset="0"/>
              </a:rPr>
              <a:t>Y</a:t>
            </a:r>
            <a:endParaRPr lang="en-US" sz="24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361883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2536" y="1181784"/>
            <a:ext cx="2518638" cy="707886"/>
          </a:xfrm>
          <a:prstGeom prst="rect">
            <a:avLst/>
          </a:prstGeom>
        </p:spPr>
        <p:txBody>
          <a:bodyPr wrap="none">
            <a:spAutoFit/>
          </a:bodyPr>
          <a:lstStyle/>
          <a:p>
            <a:pPr lvl="0" algn="ctr" fontAlgn="base">
              <a:spcBef>
                <a:spcPct val="0"/>
              </a:spcBef>
              <a:spcAft>
                <a:spcPct val="0"/>
              </a:spcAft>
            </a:pPr>
            <a:r>
              <a:rPr lang="en-US" sz="4000" b="1" dirty="0" smtClean="0">
                <a:latin typeface="Times New Roman" pitchFamily="18" charset="0"/>
                <a:cs typeface="Times New Roman" pitchFamily="18" charset="0"/>
              </a:rPr>
              <a:t>PUZZLES</a:t>
            </a:r>
            <a:endParaRPr lang="en-US" sz="4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Rectangle 2"/>
          <p:cNvSpPr/>
          <p:nvPr/>
        </p:nvSpPr>
        <p:spPr>
          <a:xfrm>
            <a:off x="4953000" y="2807494"/>
            <a:ext cx="3270382" cy="1384995"/>
          </a:xfrm>
          <a:prstGeom prst="rect">
            <a:avLst/>
          </a:prstGeom>
        </p:spPr>
        <p:txBody>
          <a:bodyPr wrap="none">
            <a:spAutoFit/>
          </a:bodyPr>
          <a:lstStyle/>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By:-</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Naveen Kumar Jain</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(Aptitude Trainer)</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21605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152400" y="3695640"/>
            <a:ext cx="8915400" cy="400110"/>
          </a:xfrm>
          <a:prstGeom prst="rect">
            <a:avLst/>
          </a:prstGeom>
        </p:spPr>
        <p:txBody>
          <a:bodyPr wrap="square">
            <a:spAutoFit/>
          </a:bodyPr>
          <a:lstStyle/>
          <a:p>
            <a:r>
              <a:rPr lang="en-US" sz="2000" b="1" dirty="0">
                <a:latin typeface="Times New Roman" pitchFamily="18" charset="0"/>
                <a:cs typeface="Times New Roman" pitchFamily="18" charset="0"/>
              </a:rPr>
              <a:t>As you move diagonally down, numbers follow the sequence of Prime Numbers.</a:t>
            </a:r>
          </a:p>
        </p:txBody>
      </p:sp>
      <p:sp>
        <p:nvSpPr>
          <p:cNvPr id="8" name="Rectangle 7"/>
          <p:cNvSpPr/>
          <p:nvPr/>
        </p:nvSpPr>
        <p:spPr>
          <a:xfrm>
            <a:off x="3205700" y="4152682"/>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19</a:t>
            </a:r>
            <a:endParaRPr lang="en-US" sz="2400" b="1" dirty="0">
              <a:solidFill>
                <a:srgbClr val="0070C0"/>
              </a:solidFill>
              <a:latin typeface="Times New Roman" pitchFamily="18" charset="0"/>
              <a:cs typeface="Times New Roman" pitchFamily="18" charset="0"/>
            </a:endParaRPr>
          </a:p>
        </p:txBody>
      </p:sp>
      <p:pic>
        <p:nvPicPr>
          <p:cNvPr id="1028" name="Picture 4" descr="https://www.indiabix.com/_files/images/puzzles/10-1-q-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583070"/>
            <a:ext cx="4038600" cy="2918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7257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pic>
        <p:nvPicPr>
          <p:cNvPr id="1026" name="Picture 2" descr="https://www.indiabix.com/_files/images/puzzles/10-1-q-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590550"/>
            <a:ext cx="4114800" cy="2743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57200" y="3409950"/>
            <a:ext cx="7924800" cy="707886"/>
          </a:xfrm>
          <a:prstGeom prst="rect">
            <a:avLst/>
          </a:prstGeom>
        </p:spPr>
        <p:txBody>
          <a:bodyPr wrap="square">
            <a:spAutoFit/>
          </a:bodyPr>
          <a:lstStyle/>
          <a:p>
            <a:r>
              <a:rPr lang="en-US" sz="2000" b="1" dirty="0">
                <a:latin typeface="Times New Roman" pitchFamily="18" charset="0"/>
                <a:cs typeface="Times New Roman" pitchFamily="18" charset="0"/>
              </a:rPr>
              <a:t>Looking at the diagram in rows, the central circle equals half the sum of the numbers in the other circles to the left and right of the centre.</a:t>
            </a:r>
          </a:p>
        </p:txBody>
      </p:sp>
      <p:sp>
        <p:nvSpPr>
          <p:cNvPr id="8" name="Rectangle 7"/>
          <p:cNvSpPr/>
          <p:nvPr/>
        </p:nvSpPr>
        <p:spPr>
          <a:xfrm>
            <a:off x="3205700" y="4152682"/>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6</a:t>
            </a:r>
            <a:endParaRPr lang="en-US" sz="24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4229284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3409950"/>
            <a:ext cx="7924800" cy="707886"/>
          </a:xfrm>
          <a:prstGeom prst="rect">
            <a:avLst/>
          </a:prstGeom>
        </p:spPr>
        <p:txBody>
          <a:bodyPr wrap="square">
            <a:spAutoFit/>
          </a:bodyPr>
          <a:lstStyle/>
          <a:p>
            <a:r>
              <a:rPr lang="en-US" sz="2000" b="1" dirty="0">
                <a:latin typeface="Times New Roman" pitchFamily="18" charset="0"/>
                <a:cs typeface="Times New Roman" pitchFamily="18" charset="0"/>
              </a:rPr>
              <a:t>The number at the centre of each triangle equals the sum of the lower two numbers minus the top number.</a:t>
            </a:r>
          </a:p>
        </p:txBody>
      </p:sp>
      <p:sp>
        <p:nvSpPr>
          <p:cNvPr id="8" name="Rectangle 7"/>
          <p:cNvSpPr/>
          <p:nvPr/>
        </p:nvSpPr>
        <p:spPr>
          <a:xfrm>
            <a:off x="3205700" y="4152682"/>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9</a:t>
            </a:r>
            <a:endParaRPr lang="en-US" sz="2400" b="1" dirty="0">
              <a:solidFill>
                <a:srgbClr val="0070C0"/>
              </a:solidFill>
              <a:latin typeface="Times New Roman" pitchFamily="18" charset="0"/>
              <a:cs typeface="Times New Roman" pitchFamily="18" charset="0"/>
            </a:endParaRPr>
          </a:p>
        </p:txBody>
      </p:sp>
      <p:pic>
        <p:nvPicPr>
          <p:cNvPr id="3074" name="Picture 2" descr="https://www.indiabix.com/_files/images/puzzles/10-1-q-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514350"/>
            <a:ext cx="5715000" cy="294543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119022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3409950"/>
            <a:ext cx="7924800" cy="707886"/>
          </a:xfrm>
          <a:prstGeom prst="rect">
            <a:avLst/>
          </a:prstGeom>
        </p:spPr>
        <p:txBody>
          <a:bodyPr wrap="square">
            <a:spAutoFit/>
          </a:bodyPr>
          <a:lstStyle/>
          <a:p>
            <a:r>
              <a:rPr lang="en-US" sz="2000" dirty="0">
                <a:latin typeface="Times New Roman" pitchFamily="18" charset="0"/>
                <a:cs typeface="Times New Roman" pitchFamily="18" charset="0"/>
              </a:rPr>
              <a:t>Starting bottom left and moving clockwise around the triangle, numbers follow the sequence of Square Numbers.</a:t>
            </a:r>
            <a:endParaRPr lang="en-US" sz="2000" b="1" dirty="0">
              <a:latin typeface="Times New Roman" pitchFamily="18" charset="0"/>
              <a:cs typeface="Times New Roman" pitchFamily="18" charset="0"/>
            </a:endParaRPr>
          </a:p>
        </p:txBody>
      </p:sp>
      <p:sp>
        <p:nvSpPr>
          <p:cNvPr id="8" name="Rectangle 7"/>
          <p:cNvSpPr/>
          <p:nvPr/>
        </p:nvSpPr>
        <p:spPr>
          <a:xfrm>
            <a:off x="3205700" y="4152682"/>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16</a:t>
            </a:r>
            <a:endParaRPr lang="en-US" sz="2400" b="1" dirty="0">
              <a:solidFill>
                <a:srgbClr val="0070C0"/>
              </a:solidFill>
              <a:latin typeface="Times New Roman" pitchFamily="18" charset="0"/>
              <a:cs typeface="Times New Roman" pitchFamily="18" charset="0"/>
            </a:endParaRPr>
          </a:p>
        </p:txBody>
      </p:sp>
      <p:pic>
        <p:nvPicPr>
          <p:cNvPr id="5122" name="Picture 2" descr="https://www.indiabix.com/_files/images/puzzles/10-1-q-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699" y="448052"/>
            <a:ext cx="4940301" cy="30380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225738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57200" y="3409950"/>
            <a:ext cx="7924800" cy="707886"/>
          </a:xfrm>
          <a:prstGeom prst="rect">
            <a:avLst/>
          </a:prstGeom>
        </p:spPr>
        <p:txBody>
          <a:bodyPr wrap="square">
            <a:spAutoFit/>
          </a:bodyPr>
          <a:lstStyle/>
          <a:p>
            <a:r>
              <a:rPr lang="en-US" sz="2000" b="1" dirty="0">
                <a:latin typeface="Times New Roman" pitchFamily="18" charset="0"/>
                <a:cs typeface="Times New Roman" pitchFamily="18" charset="0"/>
              </a:rPr>
              <a:t>Working from top to bottom, double each number and subtract 1, then 2, then 3 etc.</a:t>
            </a:r>
          </a:p>
        </p:txBody>
      </p:sp>
      <p:sp>
        <p:nvSpPr>
          <p:cNvPr id="8" name="Rectangle 7"/>
          <p:cNvSpPr/>
          <p:nvPr/>
        </p:nvSpPr>
        <p:spPr>
          <a:xfrm>
            <a:off x="3205700" y="4152682"/>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39</a:t>
            </a:r>
            <a:endParaRPr lang="en-US" sz="2400" b="1" dirty="0">
              <a:solidFill>
                <a:srgbClr val="0070C0"/>
              </a:solidFill>
              <a:latin typeface="Times New Roman" pitchFamily="18" charset="0"/>
              <a:cs typeface="Times New Roman" pitchFamily="18" charset="0"/>
            </a:endParaRPr>
          </a:p>
        </p:txBody>
      </p:sp>
      <p:pic>
        <p:nvPicPr>
          <p:cNvPr id="6146" name="Picture 2" descr="https://www.indiabix.com/_files/images/puzzles/10-1-q-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551320"/>
            <a:ext cx="3810000" cy="2934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07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57200" y="3409950"/>
            <a:ext cx="7924800" cy="707886"/>
          </a:xfrm>
          <a:prstGeom prst="rect">
            <a:avLst/>
          </a:prstGeom>
        </p:spPr>
        <p:txBody>
          <a:bodyPr wrap="square">
            <a:spAutoFit/>
          </a:bodyPr>
          <a:lstStyle/>
          <a:p>
            <a:r>
              <a:rPr lang="en-US" sz="2000" b="1" dirty="0">
                <a:latin typeface="Times New Roman" pitchFamily="18" charset="0"/>
                <a:cs typeface="Times New Roman" pitchFamily="18" charset="0"/>
              </a:rPr>
              <a:t>Working from top to bottom, double each number and subtract 1, then 2, then 3 etc.</a:t>
            </a:r>
          </a:p>
        </p:txBody>
      </p:sp>
      <p:sp>
        <p:nvSpPr>
          <p:cNvPr id="8" name="Rectangle 7"/>
          <p:cNvSpPr/>
          <p:nvPr/>
        </p:nvSpPr>
        <p:spPr>
          <a:xfrm>
            <a:off x="3205700" y="4152682"/>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39</a:t>
            </a:r>
            <a:endParaRPr lang="en-US" sz="2400" b="1" dirty="0">
              <a:solidFill>
                <a:srgbClr val="0070C0"/>
              </a:solidFill>
              <a:latin typeface="Times New Roman" pitchFamily="18" charset="0"/>
              <a:cs typeface="Times New Roman" pitchFamily="18" charset="0"/>
            </a:endParaRPr>
          </a:p>
        </p:txBody>
      </p:sp>
      <p:pic>
        <p:nvPicPr>
          <p:cNvPr id="6146" name="Picture 2" descr="https://www.indiabix.com/_files/images/puzzles/10-1-q-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551320"/>
            <a:ext cx="3810000" cy="2934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54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1168400" y="2716055"/>
            <a:ext cx="6997700" cy="400110"/>
          </a:xfrm>
          <a:prstGeom prst="rect">
            <a:avLst/>
          </a:prstGeom>
        </p:spPr>
        <p:txBody>
          <a:bodyPr wrap="square">
            <a:spAutoFit/>
          </a:bodyPr>
          <a:lstStyle/>
          <a:p>
            <a:r>
              <a:rPr lang="en-US" sz="2000" b="1" dirty="0">
                <a:latin typeface="Times New Roman" pitchFamily="18" charset="0"/>
                <a:cs typeface="Times New Roman" pitchFamily="18" charset="0"/>
              </a:rPr>
              <a:t>Moving from left to right, numbers increase by 2,3,4 and 5.</a:t>
            </a:r>
          </a:p>
        </p:txBody>
      </p:sp>
      <p:sp>
        <p:nvSpPr>
          <p:cNvPr id="8" name="Rectangle 7"/>
          <p:cNvSpPr/>
          <p:nvPr/>
        </p:nvSpPr>
        <p:spPr>
          <a:xfrm>
            <a:off x="3205700" y="3116165"/>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40</a:t>
            </a:r>
            <a:endParaRPr lang="en-US" sz="2400" b="1" dirty="0">
              <a:solidFill>
                <a:srgbClr val="0070C0"/>
              </a:solidFill>
              <a:latin typeface="Times New Roman" pitchFamily="18" charset="0"/>
              <a:cs typeface="Times New Roman" pitchFamily="18" charset="0"/>
            </a:endParaRPr>
          </a:p>
        </p:txBody>
      </p:sp>
      <p:pic>
        <p:nvPicPr>
          <p:cNvPr id="7174" name="Picture 6" descr="https://www.indiabix.com/_files/images/puzzles/10-1-q-1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4600" y="583070"/>
            <a:ext cx="5943600" cy="2132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094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s://www.indiabix.com/_files/images/puzzles/10-1-q-1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8624" y="438150"/>
            <a:ext cx="4244976" cy="338431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57200" y="3852765"/>
            <a:ext cx="7708900" cy="400110"/>
          </a:xfrm>
          <a:prstGeom prst="rect">
            <a:avLst/>
          </a:prstGeom>
        </p:spPr>
        <p:txBody>
          <a:bodyPr wrap="square">
            <a:spAutoFit/>
          </a:bodyPr>
          <a:lstStyle/>
          <a:p>
            <a:r>
              <a:rPr lang="en-US" sz="2000" b="1" dirty="0" smtClean="0">
                <a:latin typeface="Times New Roman" pitchFamily="18" charset="0"/>
                <a:cs typeface="Times New Roman" pitchFamily="18" charset="0"/>
              </a:rPr>
              <a:t>In </a:t>
            </a:r>
            <a:r>
              <a:rPr lang="en-US" sz="2000" b="1" dirty="0">
                <a:latin typeface="Times New Roman" pitchFamily="18" charset="0"/>
                <a:cs typeface="Times New Roman" pitchFamily="18" charset="0"/>
              </a:rPr>
              <a:t>each square of the diagram, the sum of the numbers is always 22.</a:t>
            </a:r>
          </a:p>
        </p:txBody>
      </p:sp>
      <p:sp>
        <p:nvSpPr>
          <p:cNvPr id="8" name="Rectangle 7"/>
          <p:cNvSpPr/>
          <p:nvPr/>
        </p:nvSpPr>
        <p:spPr>
          <a:xfrm>
            <a:off x="6228301" y="4276390"/>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9</a:t>
            </a:r>
            <a:endParaRPr lang="en-US" sz="24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286727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1219200" y="3752572"/>
            <a:ext cx="6096000" cy="400110"/>
          </a:xfrm>
          <a:prstGeom prst="rect">
            <a:avLst/>
          </a:prstGeom>
        </p:spPr>
        <p:txBody>
          <a:bodyPr wrap="square">
            <a:spAutoFit/>
          </a:bodyPr>
          <a:lstStyle/>
          <a:p>
            <a:r>
              <a:rPr lang="en-US" sz="2000" b="1" dirty="0">
                <a:latin typeface="Times New Roman" pitchFamily="18" charset="0"/>
                <a:cs typeface="Times New Roman" pitchFamily="18" charset="0"/>
              </a:rPr>
              <a:t>The numbers in each row and column add up to 15.</a:t>
            </a:r>
          </a:p>
        </p:txBody>
      </p:sp>
      <p:sp>
        <p:nvSpPr>
          <p:cNvPr id="8" name="Rectangle 7"/>
          <p:cNvSpPr/>
          <p:nvPr/>
        </p:nvSpPr>
        <p:spPr>
          <a:xfrm>
            <a:off x="3205700" y="4152682"/>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6</a:t>
            </a:r>
            <a:endParaRPr lang="en-US" sz="2400" b="1" dirty="0">
              <a:solidFill>
                <a:srgbClr val="0070C0"/>
              </a:solidFill>
              <a:latin typeface="Times New Roman" pitchFamily="18" charset="0"/>
              <a:cs typeface="Times New Roman" pitchFamily="18" charset="0"/>
            </a:endParaRPr>
          </a:p>
        </p:txBody>
      </p:sp>
      <p:pic>
        <p:nvPicPr>
          <p:cNvPr id="7172" name="Picture 4" descr="https://www.indiabix.com/_files/images/puzzles/10-1-q-1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514349"/>
            <a:ext cx="3810000" cy="3084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145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57200" y="3409950"/>
            <a:ext cx="8356600" cy="400110"/>
          </a:xfrm>
          <a:prstGeom prst="rect">
            <a:avLst/>
          </a:prstGeom>
        </p:spPr>
        <p:txBody>
          <a:bodyPr wrap="square">
            <a:spAutoFit/>
          </a:bodyPr>
          <a:lstStyle/>
          <a:p>
            <a:r>
              <a:rPr lang="en-US" sz="2000" b="1" dirty="0">
                <a:latin typeface="Times New Roman" pitchFamily="18" charset="0"/>
                <a:cs typeface="Times New Roman" pitchFamily="18" charset="0"/>
              </a:rPr>
              <a:t>Working in columns, the sum of the numbers in each column is always 14.</a:t>
            </a:r>
          </a:p>
        </p:txBody>
      </p:sp>
      <p:sp>
        <p:nvSpPr>
          <p:cNvPr id="8" name="Rectangle 7"/>
          <p:cNvSpPr/>
          <p:nvPr/>
        </p:nvSpPr>
        <p:spPr>
          <a:xfrm>
            <a:off x="3205700" y="4152682"/>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4</a:t>
            </a:r>
            <a:endParaRPr lang="en-US" sz="2400" b="1" dirty="0">
              <a:solidFill>
                <a:srgbClr val="0070C0"/>
              </a:solidFill>
              <a:latin typeface="Times New Roman" pitchFamily="18" charset="0"/>
              <a:cs typeface="Times New Roman" pitchFamily="18" charset="0"/>
            </a:endParaRPr>
          </a:p>
        </p:txBody>
      </p:sp>
      <p:pic>
        <p:nvPicPr>
          <p:cNvPr id="7170" name="Picture 2" descr="https://www.indiabix.com/_files/images/puzzles/10-1-q-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514350"/>
            <a:ext cx="3707874"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696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57200" y="3409950"/>
            <a:ext cx="8356600" cy="1015663"/>
          </a:xfrm>
          <a:prstGeom prst="rect">
            <a:avLst/>
          </a:prstGeom>
        </p:spPr>
        <p:txBody>
          <a:bodyPr wrap="square">
            <a:spAutoFit/>
          </a:bodyPr>
          <a:lstStyle/>
          <a:p>
            <a:r>
              <a:rPr lang="en-US" sz="2000" b="1" dirty="0">
                <a:latin typeface="Times New Roman" pitchFamily="18" charset="0"/>
                <a:cs typeface="Times New Roman" pitchFamily="18" charset="0"/>
              </a:rPr>
              <a:t>In each circle, starting at the top left segment, numbers increase, as you move clockwise, by 2 for the upper left circle, 3 for the upper right, 4 for the lower right and 5 for the lower left.</a:t>
            </a:r>
          </a:p>
        </p:txBody>
      </p:sp>
      <p:sp>
        <p:nvSpPr>
          <p:cNvPr id="8" name="Rectangle 7"/>
          <p:cNvSpPr/>
          <p:nvPr/>
        </p:nvSpPr>
        <p:spPr>
          <a:xfrm>
            <a:off x="3205700" y="4383514"/>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13</a:t>
            </a:r>
            <a:endParaRPr lang="en-US" sz="2400" b="1" dirty="0">
              <a:solidFill>
                <a:srgbClr val="0070C0"/>
              </a:solidFill>
              <a:latin typeface="Times New Roman" pitchFamily="18" charset="0"/>
              <a:cs typeface="Times New Roman" pitchFamily="18" charset="0"/>
            </a:endParaRPr>
          </a:p>
        </p:txBody>
      </p:sp>
      <p:pic>
        <p:nvPicPr>
          <p:cNvPr id="13314" name="Picture 2" descr="https://www.indiabix.com/_files/images/puzzles/10-1-q-2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583070"/>
            <a:ext cx="5181600" cy="2826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555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57200" y="3409950"/>
            <a:ext cx="8356600" cy="707886"/>
          </a:xfrm>
          <a:prstGeom prst="rect">
            <a:avLst/>
          </a:prstGeom>
        </p:spPr>
        <p:txBody>
          <a:bodyPr wrap="square">
            <a:spAutoFit/>
          </a:bodyPr>
          <a:lstStyle/>
          <a:p>
            <a:r>
              <a:rPr lang="en-US" sz="2000" b="1" dirty="0">
                <a:latin typeface="Times New Roman" pitchFamily="18" charset="0"/>
                <a:cs typeface="Times New Roman" pitchFamily="18" charset="0"/>
              </a:rPr>
              <a:t>In each group of 3 numbers, the lower number equals the average of the top two numbers.</a:t>
            </a:r>
          </a:p>
        </p:txBody>
      </p:sp>
      <p:sp>
        <p:nvSpPr>
          <p:cNvPr id="8" name="Rectangle 7"/>
          <p:cNvSpPr/>
          <p:nvPr/>
        </p:nvSpPr>
        <p:spPr>
          <a:xfrm>
            <a:off x="2977101" y="4117836"/>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3</a:t>
            </a:r>
            <a:endParaRPr lang="en-US" sz="2400" b="1" dirty="0">
              <a:solidFill>
                <a:srgbClr val="0070C0"/>
              </a:solidFill>
              <a:latin typeface="Times New Roman" pitchFamily="18" charset="0"/>
              <a:cs typeface="Times New Roman" pitchFamily="18" charset="0"/>
            </a:endParaRPr>
          </a:p>
        </p:txBody>
      </p:sp>
      <p:pic>
        <p:nvPicPr>
          <p:cNvPr id="14338" name="Picture 2" descr="https://www.indiabix.com/_files/images/puzzles/10-1-q-2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514350"/>
            <a:ext cx="4419600" cy="2885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40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57200" y="3409950"/>
            <a:ext cx="8356600" cy="707886"/>
          </a:xfrm>
          <a:prstGeom prst="rect">
            <a:avLst/>
          </a:prstGeom>
        </p:spPr>
        <p:txBody>
          <a:bodyPr wrap="square">
            <a:spAutoFit/>
          </a:bodyPr>
          <a:lstStyle/>
          <a:p>
            <a:r>
              <a:rPr lang="en-US" sz="2000" b="1" dirty="0">
                <a:latin typeface="Times New Roman" pitchFamily="18" charset="0"/>
                <a:cs typeface="Times New Roman" pitchFamily="18" charset="0"/>
              </a:rPr>
              <a:t>Reading each row as a 3 digit number, the rows follow the sequence of square numbers, from 17 to 19.</a:t>
            </a:r>
          </a:p>
        </p:txBody>
      </p:sp>
      <p:sp>
        <p:nvSpPr>
          <p:cNvPr id="8" name="Rectangle 7"/>
          <p:cNvSpPr/>
          <p:nvPr/>
        </p:nvSpPr>
        <p:spPr>
          <a:xfrm>
            <a:off x="4978953" y="3887003"/>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1</a:t>
            </a:r>
            <a:endParaRPr lang="en-US" sz="2400" b="1" dirty="0">
              <a:solidFill>
                <a:srgbClr val="0070C0"/>
              </a:solidFill>
              <a:latin typeface="Times New Roman" pitchFamily="18" charset="0"/>
              <a:cs typeface="Times New Roman" pitchFamily="18" charset="0"/>
            </a:endParaRPr>
          </a:p>
        </p:txBody>
      </p:sp>
      <p:pic>
        <p:nvPicPr>
          <p:cNvPr id="15362" name="Picture 2" descr="https://www.indiabix.com/_files/images/puzzles/10-1-q-2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725" y="583069"/>
            <a:ext cx="3760278" cy="2842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77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304800" y="3692664"/>
            <a:ext cx="8610600" cy="707886"/>
          </a:xfrm>
          <a:prstGeom prst="rect">
            <a:avLst/>
          </a:prstGeom>
        </p:spPr>
        <p:txBody>
          <a:bodyPr wrap="square">
            <a:spAutoFit/>
          </a:bodyPr>
          <a:lstStyle/>
          <a:p>
            <a:r>
              <a:rPr lang="en-US" sz="2000" b="1" dirty="0">
                <a:latin typeface="Times New Roman" pitchFamily="18" charset="0"/>
                <a:cs typeface="Times New Roman" pitchFamily="18" charset="0"/>
              </a:rPr>
              <a:t>Moving clockwise, around alternate segments in the chain, one sequence decreases by 1, 2, 3 and 4 each time, while the other increases by 2, 3, 4 and 5.</a:t>
            </a:r>
          </a:p>
        </p:txBody>
      </p:sp>
      <p:sp>
        <p:nvSpPr>
          <p:cNvPr id="8" name="Rectangle 7"/>
          <p:cNvSpPr/>
          <p:nvPr/>
        </p:nvSpPr>
        <p:spPr>
          <a:xfrm>
            <a:off x="3205700" y="4324350"/>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16</a:t>
            </a:r>
            <a:endParaRPr lang="en-US" sz="2400" b="1" dirty="0">
              <a:solidFill>
                <a:srgbClr val="0070C0"/>
              </a:solidFill>
              <a:latin typeface="Times New Roman" pitchFamily="18" charset="0"/>
              <a:cs typeface="Times New Roman" pitchFamily="18" charset="0"/>
            </a:endParaRPr>
          </a:p>
        </p:txBody>
      </p:sp>
      <p:pic>
        <p:nvPicPr>
          <p:cNvPr id="11266" name="Picture 2" descr="https://www.indiabix.com/_files/images/puzzles/10-1-q-2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601023"/>
            <a:ext cx="3810000" cy="3037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688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304800" y="3409950"/>
            <a:ext cx="8610600" cy="707886"/>
          </a:xfrm>
          <a:prstGeom prst="rect">
            <a:avLst/>
          </a:prstGeom>
        </p:spPr>
        <p:txBody>
          <a:bodyPr wrap="square">
            <a:spAutoFit/>
          </a:bodyPr>
          <a:lstStyle/>
          <a:p>
            <a:r>
              <a:rPr lang="en-US" sz="2000" b="1" dirty="0">
                <a:latin typeface="Times New Roman" pitchFamily="18" charset="0"/>
                <a:cs typeface="Times New Roman" pitchFamily="18" charset="0"/>
              </a:rPr>
              <a:t>Reading each row as 3 separate 2-digit numbers, the central number equals the average of the left and right hand numbers.</a:t>
            </a:r>
          </a:p>
        </p:txBody>
      </p:sp>
      <p:sp>
        <p:nvSpPr>
          <p:cNvPr id="8" name="Rectangle 7"/>
          <p:cNvSpPr/>
          <p:nvPr/>
        </p:nvSpPr>
        <p:spPr>
          <a:xfrm>
            <a:off x="3205700" y="4152682"/>
            <a:ext cx="1290099"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8,1</a:t>
            </a:r>
            <a:endParaRPr lang="en-US" sz="2400" b="1" dirty="0">
              <a:solidFill>
                <a:srgbClr val="0070C0"/>
              </a:solidFill>
              <a:latin typeface="Times New Roman" pitchFamily="18" charset="0"/>
              <a:cs typeface="Times New Roman" pitchFamily="18" charset="0"/>
            </a:endParaRPr>
          </a:p>
        </p:txBody>
      </p:sp>
      <p:pic>
        <p:nvPicPr>
          <p:cNvPr id="16386" name="Picture 2" descr="https://www.indiabix.com/_files/images/puzzles/10-1-q-2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558800"/>
            <a:ext cx="4038600" cy="2956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94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304800" y="3409950"/>
            <a:ext cx="8610600" cy="707886"/>
          </a:xfrm>
          <a:prstGeom prst="rect">
            <a:avLst/>
          </a:prstGeom>
        </p:spPr>
        <p:txBody>
          <a:bodyPr wrap="square">
            <a:spAutoFit/>
          </a:bodyPr>
          <a:lstStyle/>
          <a:p>
            <a:r>
              <a:rPr lang="en-US" sz="2000" b="1" dirty="0">
                <a:latin typeface="Times New Roman" pitchFamily="18" charset="0"/>
                <a:cs typeface="Times New Roman" pitchFamily="18" charset="0"/>
              </a:rPr>
              <a:t>In the first oval, all numbers are multiples of 8, and in the second, they are all multiples of 7.</a:t>
            </a:r>
          </a:p>
        </p:txBody>
      </p:sp>
      <p:sp>
        <p:nvSpPr>
          <p:cNvPr id="8" name="Rectangle 7"/>
          <p:cNvSpPr/>
          <p:nvPr/>
        </p:nvSpPr>
        <p:spPr>
          <a:xfrm>
            <a:off x="3205700" y="4152682"/>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A.58</a:t>
            </a:r>
            <a:endParaRPr lang="en-US" sz="2400" b="1" dirty="0">
              <a:solidFill>
                <a:srgbClr val="0070C0"/>
              </a:solidFill>
              <a:latin typeface="Times New Roman" pitchFamily="18" charset="0"/>
              <a:cs typeface="Times New Roman" pitchFamily="18" charset="0"/>
            </a:endParaRPr>
          </a:p>
        </p:txBody>
      </p:sp>
      <p:pic>
        <p:nvPicPr>
          <p:cNvPr id="17410" name="Picture 2" descr="https://www.indiabix.com/_files/images/puzzles/10-1-q-2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574" y="551319"/>
            <a:ext cx="5051426" cy="29694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4876800" y="4152682"/>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B.86</a:t>
            </a:r>
            <a:endParaRPr lang="en-US" sz="24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1159392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304800" y="3409950"/>
            <a:ext cx="8610600" cy="707886"/>
          </a:xfrm>
          <a:prstGeom prst="rect">
            <a:avLst/>
          </a:prstGeom>
        </p:spPr>
        <p:txBody>
          <a:bodyPr wrap="square">
            <a:spAutoFit/>
          </a:bodyPr>
          <a:lstStyle/>
          <a:p>
            <a:r>
              <a:rPr lang="en-US" sz="2000" b="1" dirty="0">
                <a:latin typeface="Times New Roman" pitchFamily="18" charset="0"/>
                <a:cs typeface="Times New Roman" pitchFamily="18" charset="0"/>
              </a:rPr>
              <a:t>Reading each pair of numbers as a 2 digit number, they follow the sequence of square numbers from 6 to 9.</a:t>
            </a:r>
          </a:p>
        </p:txBody>
      </p:sp>
      <p:sp>
        <p:nvSpPr>
          <p:cNvPr id="8" name="Rectangle 7"/>
          <p:cNvSpPr/>
          <p:nvPr/>
        </p:nvSpPr>
        <p:spPr>
          <a:xfrm>
            <a:off x="3205700" y="4152682"/>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1</a:t>
            </a:r>
            <a:endParaRPr lang="en-US" sz="2400" b="1" dirty="0">
              <a:solidFill>
                <a:srgbClr val="0070C0"/>
              </a:solidFill>
              <a:latin typeface="Times New Roman" pitchFamily="18" charset="0"/>
              <a:cs typeface="Times New Roman" pitchFamily="18" charset="0"/>
            </a:endParaRPr>
          </a:p>
        </p:txBody>
      </p:sp>
      <p:pic>
        <p:nvPicPr>
          <p:cNvPr id="18434" name="Picture 2" descr="https://www.indiabix.com/_files/images/puzzles/10-2-q-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583070"/>
            <a:ext cx="4038600" cy="289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293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121405"/>
            <a:ext cx="3033203"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NUMBER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304800" y="3409950"/>
            <a:ext cx="8610600" cy="1323439"/>
          </a:xfrm>
          <a:prstGeom prst="rect">
            <a:avLst/>
          </a:prstGeom>
        </p:spPr>
        <p:txBody>
          <a:bodyPr wrap="square">
            <a:spAutoFit/>
          </a:bodyPr>
          <a:lstStyle/>
          <a:p>
            <a:r>
              <a:rPr lang="en-US" sz="2000" b="1" dirty="0">
                <a:latin typeface="Times New Roman" pitchFamily="18" charset="0"/>
                <a:cs typeface="Times New Roman" pitchFamily="18" charset="0"/>
              </a:rPr>
              <a:t>Taking the top row of circles, numbers in the central circle equal the sum of the numbers in corresponding segments of the left and right hand circles. In the bottom row, numbers in the central circle equal the difference between numbers in corresponding segments of the left and right hand circles.</a:t>
            </a:r>
          </a:p>
        </p:txBody>
      </p:sp>
      <p:sp>
        <p:nvSpPr>
          <p:cNvPr id="8" name="Rectangle 7"/>
          <p:cNvSpPr/>
          <p:nvPr/>
        </p:nvSpPr>
        <p:spPr>
          <a:xfrm>
            <a:off x="5334000" y="468183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7</a:t>
            </a:r>
            <a:endParaRPr lang="en-US" sz="2400" b="1" dirty="0">
              <a:solidFill>
                <a:srgbClr val="0070C0"/>
              </a:solidFill>
              <a:latin typeface="Times New Roman" pitchFamily="18" charset="0"/>
              <a:cs typeface="Times New Roman" pitchFamily="18" charset="0"/>
            </a:endParaRPr>
          </a:p>
        </p:txBody>
      </p:sp>
      <p:pic>
        <p:nvPicPr>
          <p:cNvPr id="19458" name="Picture 2" descr="https://www.indiabix.com/_files/images/puzzles/10-2-q-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850" y="583070"/>
            <a:ext cx="4357150" cy="2968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57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304800" y="3409950"/>
            <a:ext cx="8610600" cy="707886"/>
          </a:xfrm>
          <a:prstGeom prst="rect">
            <a:avLst/>
          </a:prstGeom>
        </p:spPr>
        <p:txBody>
          <a:bodyPr wrap="square">
            <a:spAutoFit/>
          </a:bodyPr>
          <a:lstStyle/>
          <a:p>
            <a:r>
              <a:rPr lang="en-US" sz="2000" b="1" dirty="0">
                <a:latin typeface="Times New Roman" pitchFamily="18" charset="0"/>
                <a:cs typeface="Times New Roman" pitchFamily="18" charset="0"/>
              </a:rPr>
              <a:t>Working in rows, add together the numerical values of the left and right hand letters to give the numerical value of the central letter.</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M</a:t>
            </a:r>
            <a:endParaRPr lang="en-US" sz="2400" b="1" dirty="0">
              <a:solidFill>
                <a:srgbClr val="0070C0"/>
              </a:solidFill>
              <a:latin typeface="Times New Roman" pitchFamily="18" charset="0"/>
              <a:cs typeface="Times New Roman" pitchFamily="18" charset="0"/>
            </a:endParaRPr>
          </a:p>
        </p:txBody>
      </p:sp>
      <p:pic>
        <p:nvPicPr>
          <p:cNvPr id="20482" name="Picture 2" descr="https://www.indiabix.com/_files/images/puzzles/10-1-q-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583070"/>
            <a:ext cx="4876800" cy="2825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2622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304800" y="3409950"/>
            <a:ext cx="8610600" cy="707886"/>
          </a:xfrm>
          <a:prstGeom prst="rect">
            <a:avLst/>
          </a:prstGeom>
        </p:spPr>
        <p:txBody>
          <a:bodyPr wrap="square">
            <a:spAutoFit/>
          </a:bodyPr>
          <a:lstStyle/>
          <a:p>
            <a:r>
              <a:rPr lang="en-US" sz="2000" b="1" dirty="0">
                <a:latin typeface="Times New Roman" pitchFamily="18" charset="0"/>
                <a:cs typeface="Times New Roman" pitchFamily="18" charset="0"/>
              </a:rPr>
              <a:t>In each segment of the diagram are a pair of letters, one of which is the same distance from the start of the alphabet as the other is from the end.</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O</a:t>
            </a:r>
            <a:endParaRPr lang="en-US" sz="2400" b="1" dirty="0">
              <a:solidFill>
                <a:srgbClr val="0070C0"/>
              </a:solidFill>
              <a:latin typeface="Times New Roman" pitchFamily="18" charset="0"/>
              <a:cs typeface="Times New Roman" pitchFamily="18" charset="0"/>
            </a:endParaRPr>
          </a:p>
        </p:txBody>
      </p:sp>
      <p:pic>
        <p:nvPicPr>
          <p:cNvPr id="21506" name="Picture 2" descr="https://www.indiabix.com/_files/images/puzzles/10-1-q-1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700" y="451039"/>
            <a:ext cx="4635500" cy="2958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083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914400" y="3409950"/>
            <a:ext cx="8229600" cy="707886"/>
          </a:xfrm>
          <a:prstGeom prst="rect">
            <a:avLst/>
          </a:prstGeom>
        </p:spPr>
        <p:txBody>
          <a:bodyPr wrap="square">
            <a:spAutoFit/>
          </a:bodyPr>
          <a:lstStyle/>
          <a:p>
            <a:r>
              <a:rPr lang="en-US" sz="2000" b="1" dirty="0">
                <a:latin typeface="Times New Roman" pitchFamily="18" charset="0"/>
                <a:cs typeface="Times New Roman" pitchFamily="18" charset="0"/>
              </a:rPr>
              <a:t>The numerical values of the letters in opposite segments of the circle always add up to 17.</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K</a:t>
            </a:r>
            <a:endParaRPr lang="en-US" sz="2400" b="1" dirty="0">
              <a:solidFill>
                <a:srgbClr val="0070C0"/>
              </a:solidFill>
              <a:latin typeface="Times New Roman" pitchFamily="18" charset="0"/>
              <a:cs typeface="Times New Roman" pitchFamily="18" charset="0"/>
            </a:endParaRPr>
          </a:p>
        </p:txBody>
      </p:sp>
      <p:pic>
        <p:nvPicPr>
          <p:cNvPr id="22530" name="Picture 2" descr="https://www.indiabix.com/_files/images/puzzles/10-1-q-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07624"/>
            <a:ext cx="3886200" cy="2810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43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914400" y="3409950"/>
            <a:ext cx="8229600" cy="707886"/>
          </a:xfrm>
          <a:prstGeom prst="rect">
            <a:avLst/>
          </a:prstGeom>
        </p:spPr>
        <p:txBody>
          <a:bodyPr wrap="square">
            <a:spAutoFit/>
          </a:bodyPr>
          <a:lstStyle/>
          <a:p>
            <a:r>
              <a:rPr lang="en-US" sz="2000" b="1" dirty="0">
                <a:latin typeface="Times New Roman" pitchFamily="18" charset="0"/>
                <a:cs typeface="Times New Roman" pitchFamily="18" charset="0"/>
              </a:rPr>
              <a:t>The numerical values of the letters in opposite segments of the circle always add up to 17.</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K</a:t>
            </a:r>
            <a:endParaRPr lang="en-US" sz="2400" b="1" dirty="0">
              <a:solidFill>
                <a:srgbClr val="0070C0"/>
              </a:solidFill>
              <a:latin typeface="Times New Roman" pitchFamily="18" charset="0"/>
              <a:cs typeface="Times New Roman" pitchFamily="18" charset="0"/>
            </a:endParaRPr>
          </a:p>
        </p:txBody>
      </p:sp>
      <p:pic>
        <p:nvPicPr>
          <p:cNvPr id="22530" name="Picture 2" descr="https://www.indiabix.com/_files/images/puzzles/10-1-q-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07624"/>
            <a:ext cx="3886200" cy="281043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2397600" y="1111680"/>
              <a:ext cx="2900160" cy="2237400"/>
            </p14:xfrm>
          </p:contentPart>
        </mc:Choice>
        <mc:Fallback xmlns="">
          <p:pic>
            <p:nvPicPr>
              <p:cNvPr id="2" name="Ink 1"/>
              <p:cNvPicPr/>
              <p:nvPr/>
            </p:nvPicPr>
            <p:blipFill>
              <a:blip r:embed="rId5"/>
              <a:stretch>
                <a:fillRect/>
              </a:stretch>
            </p:blipFill>
            <p:spPr>
              <a:xfrm>
                <a:off x="2388240" y="1102320"/>
                <a:ext cx="2918880" cy="2256120"/>
              </a:xfrm>
              <a:prstGeom prst="rect">
                <a:avLst/>
              </a:prstGeom>
            </p:spPr>
          </p:pic>
        </mc:Fallback>
      </mc:AlternateContent>
    </p:spTree>
    <p:extLst>
      <p:ext uri="{BB962C8B-B14F-4D97-AF65-F5344CB8AC3E}">
        <p14:creationId xmlns:p14="http://schemas.microsoft.com/office/powerpoint/2010/main" val="184119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768244" y="2419350"/>
            <a:ext cx="8229600" cy="707886"/>
          </a:xfrm>
          <a:prstGeom prst="rect">
            <a:avLst/>
          </a:prstGeom>
        </p:spPr>
        <p:txBody>
          <a:bodyPr wrap="square">
            <a:spAutoFit/>
          </a:bodyPr>
          <a:lstStyle/>
          <a:p>
            <a:r>
              <a:rPr lang="en-US" sz="2000" b="1" dirty="0">
                <a:latin typeface="Times New Roman" pitchFamily="18" charset="0"/>
                <a:cs typeface="Times New Roman" pitchFamily="18" charset="0"/>
              </a:rPr>
              <a:t>As you move down, the numerical value of the letters follows the sequence of Prime Numbers.</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K</a:t>
            </a:r>
            <a:endParaRPr lang="en-US" sz="2400" b="1" dirty="0">
              <a:solidFill>
                <a:srgbClr val="0070C0"/>
              </a:solidFill>
              <a:latin typeface="Times New Roman" pitchFamily="18" charset="0"/>
              <a:cs typeface="Times New Roman" pitchFamily="18" charset="0"/>
            </a:endParaRPr>
          </a:p>
        </p:txBody>
      </p:sp>
      <p:pic>
        <p:nvPicPr>
          <p:cNvPr id="23554" name="Picture 2" descr="https://www.indiabix.com/_files/images/puzzles/10-1-q-1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8256" y="601771"/>
            <a:ext cx="5944544" cy="1817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6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596900" y="3526869"/>
            <a:ext cx="8229600" cy="400110"/>
          </a:xfrm>
          <a:prstGeom prst="rect">
            <a:avLst/>
          </a:prstGeom>
        </p:spPr>
        <p:txBody>
          <a:bodyPr wrap="square">
            <a:spAutoFit/>
          </a:bodyPr>
          <a:lstStyle/>
          <a:p>
            <a:r>
              <a:rPr lang="en-US" sz="2000" b="1" dirty="0">
                <a:latin typeface="Times New Roman" pitchFamily="18" charset="0"/>
                <a:cs typeface="Times New Roman" pitchFamily="18" charset="0"/>
              </a:rPr>
              <a:t>The numerical values of the letters in each row add up to 26 each time.</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G</a:t>
            </a:r>
            <a:endParaRPr lang="en-US" sz="2400" b="1" dirty="0">
              <a:solidFill>
                <a:srgbClr val="0070C0"/>
              </a:solidFill>
              <a:latin typeface="Times New Roman" pitchFamily="18" charset="0"/>
              <a:cs typeface="Times New Roman" pitchFamily="18" charset="0"/>
            </a:endParaRPr>
          </a:p>
        </p:txBody>
      </p:sp>
      <p:pic>
        <p:nvPicPr>
          <p:cNvPr id="25602" name="Picture 2" descr="https://www.indiabix.com/_files/images/puzzles/10-1-q-2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6059" y="590550"/>
            <a:ext cx="3960341" cy="3034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081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768244" y="3514169"/>
            <a:ext cx="8229600" cy="1015663"/>
          </a:xfrm>
          <a:prstGeom prst="rect">
            <a:avLst/>
          </a:prstGeom>
        </p:spPr>
        <p:txBody>
          <a:bodyPr wrap="square">
            <a:spAutoFit/>
          </a:bodyPr>
          <a:lstStyle/>
          <a:p>
            <a:r>
              <a:rPr lang="en-US" sz="2000" b="1" dirty="0">
                <a:latin typeface="Times New Roman" pitchFamily="18" charset="0"/>
                <a:cs typeface="Times New Roman" pitchFamily="18" charset="0"/>
              </a:rPr>
              <a:t>Writing each letter as its numerical value and working in rows, add the top 2 digit number to the bottom 2 digit number to give the 3 digit result in the centre.</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A</a:t>
            </a:r>
            <a:endParaRPr lang="en-US" sz="2400" b="1" dirty="0">
              <a:solidFill>
                <a:srgbClr val="0070C0"/>
              </a:solidFill>
              <a:latin typeface="Times New Roman" pitchFamily="18" charset="0"/>
              <a:cs typeface="Times New Roman" pitchFamily="18" charset="0"/>
            </a:endParaRPr>
          </a:p>
        </p:txBody>
      </p:sp>
      <p:pic>
        <p:nvPicPr>
          <p:cNvPr id="24578" name="Picture 2" descr="https://www.indiabix.com/_files/images/puzzles/10-1-q-2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1269" y="583070"/>
            <a:ext cx="4746731" cy="3015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8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768244" y="3514169"/>
            <a:ext cx="8229600" cy="1015663"/>
          </a:xfrm>
          <a:prstGeom prst="rect">
            <a:avLst/>
          </a:prstGeom>
        </p:spPr>
        <p:txBody>
          <a:bodyPr wrap="square">
            <a:spAutoFit/>
          </a:bodyPr>
          <a:lstStyle/>
          <a:p>
            <a:r>
              <a:rPr lang="en-US" sz="2000" b="1" dirty="0">
                <a:latin typeface="Times New Roman" pitchFamily="18" charset="0"/>
                <a:cs typeface="Times New Roman" pitchFamily="18" charset="0"/>
              </a:rPr>
              <a:t>Starting at the top left and moving down, then right one column and up </a:t>
            </a:r>
            <a:r>
              <a:rPr lang="en-US" sz="2000" b="1" dirty="0" err="1">
                <a:latin typeface="Times New Roman" pitchFamily="18" charset="0"/>
                <a:cs typeface="Times New Roman" pitchFamily="18" charset="0"/>
              </a:rPr>
              <a:t>etc</a:t>
            </a:r>
            <a:r>
              <a:rPr lang="en-US" sz="2000" b="1" dirty="0">
                <a:latin typeface="Times New Roman" pitchFamily="18" charset="0"/>
                <a:cs typeface="Times New Roman" pitchFamily="18" charset="0"/>
              </a:rPr>
              <a:t> in a snakes and ladders pattern, letters move through the alphabet 4 letters at a time.</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W</a:t>
            </a:r>
            <a:endParaRPr lang="en-US" sz="2400" b="1" dirty="0">
              <a:solidFill>
                <a:srgbClr val="0070C0"/>
              </a:solidFill>
              <a:latin typeface="Times New Roman" pitchFamily="18" charset="0"/>
              <a:cs typeface="Times New Roman" pitchFamily="18" charset="0"/>
            </a:endParaRPr>
          </a:p>
        </p:txBody>
      </p:sp>
      <p:pic>
        <p:nvPicPr>
          <p:cNvPr id="26626" name="Picture 2" descr="https://www.indiabix.com/_files/images/puzzles/10-1-q-2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567571"/>
            <a:ext cx="3886200" cy="2911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98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768244" y="3514169"/>
            <a:ext cx="8229600" cy="707886"/>
          </a:xfrm>
          <a:prstGeom prst="rect">
            <a:avLst/>
          </a:prstGeom>
        </p:spPr>
        <p:txBody>
          <a:bodyPr wrap="square">
            <a:spAutoFit/>
          </a:bodyPr>
          <a:lstStyle/>
          <a:p>
            <a:r>
              <a:rPr lang="en-US" sz="2000" dirty="0">
                <a:latin typeface="Times New Roman" pitchFamily="18" charset="0"/>
                <a:cs typeface="Times New Roman" pitchFamily="18" charset="0"/>
              </a:rPr>
              <a:t>Starting at F and moving anti-clockwise, letters move through the alphabet in steps of 2, 3, 4, 5 etc.</a:t>
            </a:r>
            <a:endParaRPr lang="en-US" sz="2000" b="1" dirty="0">
              <a:latin typeface="Times New Roman" pitchFamily="18" charset="0"/>
              <a:cs typeface="Times New Roman" pitchFamily="18" charset="0"/>
            </a:endParaRP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T</a:t>
            </a:r>
            <a:endParaRPr lang="en-US" sz="2400" b="1" dirty="0">
              <a:solidFill>
                <a:srgbClr val="0070C0"/>
              </a:solidFill>
              <a:latin typeface="Times New Roman" pitchFamily="18" charset="0"/>
              <a:cs typeface="Times New Roman" pitchFamily="18" charset="0"/>
            </a:endParaRPr>
          </a:p>
        </p:txBody>
      </p:sp>
      <p:pic>
        <p:nvPicPr>
          <p:cNvPr id="28674" name="Picture 2" descr="https://www.indiabix.com/_files/images/puzzles/10-2-q-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197" y="590550"/>
            <a:ext cx="4108397" cy="2917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07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121405"/>
            <a:ext cx="449674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MISSING LETTERS PUZZLES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57200" y="3514169"/>
            <a:ext cx="8540644" cy="707886"/>
          </a:xfrm>
          <a:prstGeom prst="rect">
            <a:avLst/>
          </a:prstGeom>
        </p:spPr>
        <p:txBody>
          <a:bodyPr wrap="square">
            <a:spAutoFit/>
          </a:bodyPr>
          <a:lstStyle/>
          <a:p>
            <a:r>
              <a:rPr lang="en-US" sz="2000" b="1" dirty="0">
                <a:latin typeface="Times New Roman" pitchFamily="18" charset="0"/>
                <a:cs typeface="Times New Roman" pitchFamily="18" charset="0"/>
              </a:rPr>
              <a:t>In each row, add the numerical value of the left and right hand letters together and write the letter with the reverse alphabetical value in the centre.</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B</a:t>
            </a:r>
            <a:endParaRPr lang="en-US" sz="2400" b="1" dirty="0">
              <a:solidFill>
                <a:srgbClr val="0070C0"/>
              </a:solidFill>
              <a:latin typeface="Times New Roman" pitchFamily="18" charset="0"/>
              <a:cs typeface="Times New Roman" pitchFamily="18" charset="0"/>
            </a:endParaRPr>
          </a:p>
        </p:txBody>
      </p:sp>
      <p:pic>
        <p:nvPicPr>
          <p:cNvPr id="27650" name="Picture 2" descr="https://www.indiabix.com/_files/images/puzzles/10-1-q-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513220"/>
            <a:ext cx="4154174" cy="282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49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57200" y="3514169"/>
            <a:ext cx="8540644" cy="707886"/>
          </a:xfrm>
          <a:prstGeom prst="rect">
            <a:avLst/>
          </a:prstGeom>
        </p:spPr>
        <p:txBody>
          <a:bodyPr wrap="square">
            <a:spAutoFit/>
          </a:bodyPr>
          <a:lstStyle/>
          <a:p>
            <a:r>
              <a:rPr lang="en-US" sz="2000" b="1" dirty="0">
                <a:latin typeface="Times New Roman" pitchFamily="18" charset="0"/>
                <a:cs typeface="Times New Roman" pitchFamily="18" charset="0"/>
              </a:rPr>
              <a:t>Adding the three numbers in each square together gives the numerical value of the letter at the centre of each square.</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Q</a:t>
            </a:r>
            <a:endParaRPr lang="en-US" sz="2400" b="1" dirty="0">
              <a:solidFill>
                <a:srgbClr val="0070C0"/>
              </a:solidFill>
              <a:latin typeface="Times New Roman" pitchFamily="18" charset="0"/>
              <a:cs typeface="Times New Roman" pitchFamily="18" charset="0"/>
            </a:endParaRPr>
          </a:p>
        </p:txBody>
      </p:sp>
      <p:pic>
        <p:nvPicPr>
          <p:cNvPr id="29698" name="Picture 2" descr="https://www.indiabix.com/_files/images/puzzles/10-2-q-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609600"/>
            <a:ext cx="3887144" cy="29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7674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152400" y="3514169"/>
            <a:ext cx="8845444" cy="707886"/>
          </a:xfrm>
          <a:prstGeom prst="rect">
            <a:avLst/>
          </a:prstGeom>
        </p:spPr>
        <p:txBody>
          <a:bodyPr wrap="square">
            <a:spAutoFit/>
          </a:bodyPr>
          <a:lstStyle/>
          <a:p>
            <a:r>
              <a:rPr lang="en-US" sz="2000" b="1" dirty="0">
                <a:latin typeface="Times New Roman" pitchFamily="18" charset="0"/>
                <a:cs typeface="Times New Roman" pitchFamily="18" charset="0"/>
              </a:rPr>
              <a:t>The value at each corner of the diagram equals the difference between the sums of the numerical values of the letters in the boxes adjacent to the corner.</a:t>
            </a:r>
          </a:p>
        </p:txBody>
      </p:sp>
      <p:sp>
        <p:nvSpPr>
          <p:cNvPr id="8" name="Rectangle 7"/>
          <p:cNvSpPr/>
          <p:nvPr/>
        </p:nvSpPr>
        <p:spPr>
          <a:xfrm>
            <a:off x="4883044" y="421570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12</a:t>
            </a:r>
            <a:endParaRPr lang="en-US" sz="2400" b="1" dirty="0">
              <a:solidFill>
                <a:srgbClr val="0070C0"/>
              </a:solidFill>
              <a:latin typeface="Times New Roman" pitchFamily="18" charset="0"/>
              <a:cs typeface="Times New Roman" pitchFamily="18" charset="0"/>
            </a:endParaRPr>
          </a:p>
        </p:txBody>
      </p:sp>
      <p:pic>
        <p:nvPicPr>
          <p:cNvPr id="1026" name="Picture 2" descr="https://www.indiabix.com/_files/images/puzzles/10-3-q-2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9871" y="590549"/>
            <a:ext cx="4135851" cy="2923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96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446185" y="2800350"/>
            <a:ext cx="3968644" cy="1323439"/>
          </a:xfrm>
          <a:prstGeom prst="rect">
            <a:avLst/>
          </a:prstGeom>
        </p:spPr>
        <p:txBody>
          <a:bodyPr wrap="square">
            <a:spAutoFit/>
          </a:bodyPr>
          <a:lstStyle/>
          <a:p>
            <a:r>
              <a:rPr lang="en-US" sz="2000" b="1" dirty="0">
                <a:latin typeface="Times New Roman" pitchFamily="18" charset="0"/>
                <a:cs typeface="Times New Roman" pitchFamily="18" charset="0"/>
              </a:rPr>
              <a:t>In each row of the diagram, the reverse alphabetical value of the central letter equals the sum of the left and right hand digits.</a:t>
            </a:r>
          </a:p>
        </p:txBody>
      </p:sp>
      <p:sp>
        <p:nvSpPr>
          <p:cNvPr id="8" name="Rectangle 7"/>
          <p:cNvSpPr/>
          <p:nvPr/>
        </p:nvSpPr>
        <p:spPr>
          <a:xfrm>
            <a:off x="5425078" y="424487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a:t>
            </a:r>
            <a:r>
              <a:rPr lang="en-US" sz="2400" b="1" dirty="0">
                <a:solidFill>
                  <a:srgbClr val="0070C0"/>
                </a:solidFill>
                <a:latin typeface="Times New Roman" pitchFamily="18" charset="0"/>
                <a:cs typeface="Times New Roman" pitchFamily="18" charset="0"/>
              </a:rPr>
              <a:t>B</a:t>
            </a:r>
          </a:p>
        </p:txBody>
      </p:sp>
      <p:pic>
        <p:nvPicPr>
          <p:cNvPr id="4098" name="Picture 2" descr="https://www.indiabix.com/_files/images/puzzles/10-6-q-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84200"/>
            <a:ext cx="3810000" cy="320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59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ttps://www.indiabix.com/_files/images/puzzles/10-12-q-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28649"/>
            <a:ext cx="4184062" cy="36162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446185" y="2800350"/>
            <a:ext cx="3968644" cy="1323439"/>
          </a:xfrm>
          <a:prstGeom prst="rect">
            <a:avLst/>
          </a:prstGeom>
        </p:spPr>
        <p:txBody>
          <a:bodyPr wrap="square">
            <a:spAutoFit/>
          </a:bodyPr>
          <a:lstStyle/>
          <a:p>
            <a:r>
              <a:rPr lang="en-US" sz="2000" b="1" dirty="0">
                <a:latin typeface="Times New Roman" pitchFamily="18" charset="0"/>
                <a:cs typeface="Times New Roman" pitchFamily="18" charset="0"/>
              </a:rPr>
              <a:t>In each row, multiply the numerical values of the left and right hand letters, putting the result in the centre.</a:t>
            </a:r>
          </a:p>
        </p:txBody>
      </p:sp>
      <p:sp>
        <p:nvSpPr>
          <p:cNvPr id="8" name="Rectangle 7"/>
          <p:cNvSpPr/>
          <p:nvPr/>
        </p:nvSpPr>
        <p:spPr>
          <a:xfrm>
            <a:off x="5425078" y="424487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Z</a:t>
            </a:r>
            <a:endParaRPr lang="en-US" sz="24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3639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446184" y="1885950"/>
            <a:ext cx="3968644" cy="2246769"/>
          </a:xfrm>
          <a:prstGeom prst="rect">
            <a:avLst/>
          </a:prstGeom>
        </p:spPr>
        <p:txBody>
          <a:bodyPr wrap="square">
            <a:spAutoFit/>
          </a:bodyPr>
          <a:lstStyle/>
          <a:p>
            <a:r>
              <a:rPr lang="en-US" sz="2000" b="1" dirty="0">
                <a:latin typeface="Times New Roman" pitchFamily="18" charset="0"/>
                <a:cs typeface="Times New Roman" pitchFamily="18" charset="0"/>
              </a:rPr>
              <a:t>Convert each letter to its numerical value, and read each pair of values as 2 digit numbers. In each row, the number in the centre equals the difference between the 2 digit values on the left and right.</a:t>
            </a:r>
          </a:p>
        </p:txBody>
      </p:sp>
      <p:sp>
        <p:nvSpPr>
          <p:cNvPr id="8" name="Rectangle 7"/>
          <p:cNvSpPr/>
          <p:nvPr/>
        </p:nvSpPr>
        <p:spPr>
          <a:xfrm>
            <a:off x="5425078" y="4244875"/>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a:t>
            </a:r>
            <a:r>
              <a:rPr lang="en-US" sz="2400" b="1" dirty="0">
                <a:solidFill>
                  <a:srgbClr val="0070C0"/>
                </a:solidFill>
                <a:latin typeface="Times New Roman" pitchFamily="18" charset="0"/>
                <a:cs typeface="Times New Roman" pitchFamily="18" charset="0"/>
              </a:rPr>
              <a:t>G</a:t>
            </a:r>
          </a:p>
        </p:txBody>
      </p:sp>
      <p:pic>
        <p:nvPicPr>
          <p:cNvPr id="5122" name="Picture 2" descr="https://www.indiabix.com/_files/images/puzzles/10-6-q-2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 y="590550"/>
            <a:ext cx="3836585"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821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www.indiabix.com/_files/images/puzzles/10-6-q-2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57227"/>
            <a:ext cx="4882642" cy="347549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3" name="Rectangle 2"/>
          <p:cNvSpPr/>
          <p:nvPr/>
        </p:nvSpPr>
        <p:spPr>
          <a:xfrm>
            <a:off x="4446184" y="1885950"/>
            <a:ext cx="3968644" cy="1938992"/>
          </a:xfrm>
          <a:prstGeom prst="rect">
            <a:avLst/>
          </a:prstGeom>
        </p:spPr>
        <p:txBody>
          <a:bodyPr wrap="square">
            <a:spAutoFit/>
          </a:bodyPr>
          <a:lstStyle/>
          <a:p>
            <a:r>
              <a:rPr lang="en-US" sz="2000" b="1" dirty="0">
                <a:latin typeface="Times New Roman" pitchFamily="18" charset="0"/>
                <a:cs typeface="Times New Roman" pitchFamily="18" charset="0"/>
              </a:rPr>
              <a:t>Start in the top left hand corner and move anti clockwise around the perimeter of the square. Letters are written in alphabetical order, skipping 1 letter, then 2 letters, then 3 etc.</a:t>
            </a:r>
          </a:p>
        </p:txBody>
      </p:sp>
      <p:sp>
        <p:nvSpPr>
          <p:cNvPr id="8" name="Rectangle 7"/>
          <p:cNvSpPr/>
          <p:nvPr/>
        </p:nvSpPr>
        <p:spPr>
          <a:xfrm>
            <a:off x="5425078" y="4017117"/>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Y</a:t>
            </a:r>
            <a:endParaRPr lang="en-US" sz="24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32411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www.indiabix.com/_files/images/puzzles/10-6-q-2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175" y="609225"/>
            <a:ext cx="4619625" cy="33722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8" name="Rectangle 7"/>
          <p:cNvSpPr/>
          <p:nvPr/>
        </p:nvSpPr>
        <p:spPr>
          <a:xfrm>
            <a:off x="1326625" y="1276350"/>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a:t>
            </a:r>
            <a:r>
              <a:rPr lang="en-US" sz="2400" b="1" dirty="0">
                <a:solidFill>
                  <a:srgbClr val="0070C0"/>
                </a:solidFill>
                <a:latin typeface="Times New Roman" pitchFamily="18" charset="0"/>
                <a:cs typeface="Times New Roman" pitchFamily="18" charset="0"/>
              </a:rPr>
              <a:t>A</a:t>
            </a:r>
          </a:p>
        </p:txBody>
      </p:sp>
    </p:spTree>
    <p:extLst>
      <p:ext uri="{BB962C8B-B14F-4D97-AF65-F5344CB8AC3E}">
        <p14:creationId xmlns:p14="http://schemas.microsoft.com/office/powerpoint/2010/main" val="313176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8" name="Rectangle 7"/>
          <p:cNvSpPr/>
          <p:nvPr/>
        </p:nvSpPr>
        <p:spPr>
          <a:xfrm>
            <a:off x="6934200" y="971550"/>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C</a:t>
            </a:r>
            <a:endParaRPr lang="en-US" sz="2400" b="1" dirty="0">
              <a:solidFill>
                <a:srgbClr val="0070C0"/>
              </a:solidFill>
              <a:latin typeface="Times New Roman" pitchFamily="18" charset="0"/>
              <a:cs typeface="Times New Roman" pitchFamily="18" charset="0"/>
            </a:endParaRPr>
          </a:p>
        </p:txBody>
      </p:sp>
      <p:pic>
        <p:nvPicPr>
          <p:cNvPr id="9218" name="Picture 2" descr="https://www.indiabix.com/_files/images/puzzles/10-9-q-2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547610"/>
            <a:ext cx="5450523" cy="3776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47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8" name="Rectangle 7"/>
          <p:cNvSpPr/>
          <p:nvPr/>
        </p:nvSpPr>
        <p:spPr>
          <a:xfrm>
            <a:off x="6934200" y="971550"/>
            <a:ext cx="1671100" cy="461665"/>
          </a:xfrm>
          <a:prstGeom prst="rect">
            <a:avLst/>
          </a:prstGeom>
        </p:spPr>
        <p:txBody>
          <a:bodyPr wrap="square">
            <a:spAutoFit/>
          </a:bodyPr>
          <a:lstStyle/>
          <a:p>
            <a:r>
              <a:rPr lang="en-US" sz="2400" b="1" smtClean="0">
                <a:solidFill>
                  <a:srgbClr val="0070C0"/>
                </a:solidFill>
                <a:latin typeface="Times New Roman" pitchFamily="18" charset="0"/>
                <a:cs typeface="Times New Roman" pitchFamily="18" charset="0"/>
              </a:rPr>
              <a:t>Ans B</a:t>
            </a:r>
            <a:endParaRPr lang="en-US" sz="2400" b="1" dirty="0">
              <a:solidFill>
                <a:srgbClr val="0070C0"/>
              </a:solidFill>
              <a:latin typeface="Times New Roman" pitchFamily="18" charset="0"/>
              <a:cs typeface="Times New Roman" pitchFamily="18" charset="0"/>
            </a:endParaRPr>
          </a:p>
        </p:txBody>
      </p:sp>
      <p:pic>
        <p:nvPicPr>
          <p:cNvPr id="2050" name="Picture 2" descr="https://www.indiabix.com/_files/images/puzzles/10-18-q-2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988" y="819150"/>
            <a:ext cx="6518812"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70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95600" y="147560"/>
            <a:ext cx="3101170"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LOGICAL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8" name="Rectangle 7"/>
          <p:cNvSpPr/>
          <p:nvPr/>
        </p:nvSpPr>
        <p:spPr>
          <a:xfrm>
            <a:off x="2060050" y="3790950"/>
            <a:ext cx="16711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a:t>
            </a:r>
            <a:r>
              <a:rPr lang="en-US" sz="2400" b="1" dirty="0">
                <a:solidFill>
                  <a:srgbClr val="0070C0"/>
                </a:solidFill>
                <a:latin typeface="Times New Roman" pitchFamily="18" charset="0"/>
                <a:cs typeface="Times New Roman" pitchFamily="18" charset="0"/>
              </a:rPr>
              <a:t>3</a:t>
            </a:r>
          </a:p>
        </p:txBody>
      </p:sp>
      <p:pic>
        <p:nvPicPr>
          <p:cNvPr id="10242" name="Picture 2" descr="https://www.indiabix.com/_files/images/puzzles/10-9-q-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564206"/>
            <a:ext cx="7239000" cy="185514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09600" y="2554764"/>
            <a:ext cx="7924800" cy="1015663"/>
          </a:xfrm>
          <a:prstGeom prst="rect">
            <a:avLst/>
          </a:prstGeom>
        </p:spPr>
        <p:txBody>
          <a:bodyPr wrap="square">
            <a:spAutoFit/>
          </a:bodyPr>
          <a:lstStyle/>
          <a:p>
            <a:r>
              <a:rPr lang="en-US" sz="2000" b="1" dirty="0">
                <a:latin typeface="Times New Roman" pitchFamily="18" charset="0"/>
                <a:cs typeface="Times New Roman" pitchFamily="18" charset="0"/>
              </a:rPr>
              <a:t>Starting on the left and working to the right, take pairs of dominoes and calculate the sum of the dots they are displaying. This sum follows the sequence 3, 6, 9 and 12.</a:t>
            </a:r>
          </a:p>
        </p:txBody>
      </p:sp>
    </p:spTree>
    <p:extLst>
      <p:ext uri="{BB962C8B-B14F-4D97-AF65-F5344CB8AC3E}">
        <p14:creationId xmlns:p14="http://schemas.microsoft.com/office/powerpoint/2010/main" val="222773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s://www.indiabix.com/_files/images/puzzles/10-3-q-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949" y="397252"/>
            <a:ext cx="6946900"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331182" y="110215"/>
            <a:ext cx="4024435"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PLAYING CARD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8" name="Rectangle 7"/>
          <p:cNvSpPr/>
          <p:nvPr/>
        </p:nvSpPr>
        <p:spPr>
          <a:xfrm>
            <a:off x="5867400" y="4629150"/>
            <a:ext cx="252465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9 of </a:t>
            </a:r>
            <a:r>
              <a:rPr lang="en-US" sz="2400" b="1" dirty="0">
                <a:solidFill>
                  <a:srgbClr val="0070C0"/>
                </a:solidFill>
                <a:latin typeface="Times New Roman" pitchFamily="18" charset="0"/>
                <a:cs typeface="Times New Roman" pitchFamily="18" charset="0"/>
              </a:rPr>
              <a:t>club</a:t>
            </a:r>
          </a:p>
        </p:txBody>
      </p:sp>
      <p:sp>
        <p:nvSpPr>
          <p:cNvPr id="2" name="Rectangle 1"/>
          <p:cNvSpPr/>
          <p:nvPr/>
        </p:nvSpPr>
        <p:spPr>
          <a:xfrm>
            <a:off x="381000" y="3768119"/>
            <a:ext cx="8432800" cy="1015663"/>
          </a:xfrm>
          <a:prstGeom prst="rect">
            <a:avLst/>
          </a:prstGeom>
        </p:spPr>
        <p:txBody>
          <a:bodyPr wrap="square">
            <a:spAutoFit/>
          </a:bodyPr>
          <a:lstStyle/>
          <a:p>
            <a:r>
              <a:rPr lang="en-US" sz="2000" b="1" dirty="0">
                <a:latin typeface="Times New Roman" pitchFamily="18" charset="0"/>
                <a:cs typeface="Times New Roman" pitchFamily="18" charset="0"/>
              </a:rPr>
              <a:t>Taking red cards as positive values and black cards as negative values, in each column of the diagram, the lower card value equals the sum of the two upper card values. The suits are used alternately in each column.</a:t>
            </a:r>
          </a:p>
        </p:txBody>
      </p:sp>
    </p:spTree>
    <p:extLst>
      <p:ext uri="{BB962C8B-B14F-4D97-AF65-F5344CB8AC3E}">
        <p14:creationId xmlns:p14="http://schemas.microsoft.com/office/powerpoint/2010/main" val="940861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024435"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PLAYING CARD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8" name="Rectangle 7"/>
          <p:cNvSpPr/>
          <p:nvPr/>
        </p:nvSpPr>
        <p:spPr>
          <a:xfrm>
            <a:off x="5867400" y="4629150"/>
            <a:ext cx="252465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King of club</a:t>
            </a:r>
            <a:endParaRPr lang="en-US" sz="2400" b="1" dirty="0">
              <a:solidFill>
                <a:srgbClr val="0070C0"/>
              </a:solidFill>
              <a:latin typeface="Times New Roman" pitchFamily="18" charset="0"/>
              <a:cs typeface="Times New Roman" pitchFamily="18" charset="0"/>
            </a:endParaRPr>
          </a:p>
        </p:txBody>
      </p:sp>
      <p:sp>
        <p:nvSpPr>
          <p:cNvPr id="2" name="Rectangle 1"/>
          <p:cNvSpPr/>
          <p:nvPr/>
        </p:nvSpPr>
        <p:spPr>
          <a:xfrm>
            <a:off x="381000" y="3638550"/>
            <a:ext cx="8432800" cy="1323439"/>
          </a:xfrm>
          <a:prstGeom prst="rect">
            <a:avLst/>
          </a:prstGeom>
        </p:spPr>
        <p:txBody>
          <a:bodyPr wrap="square">
            <a:spAutoFit/>
          </a:bodyPr>
          <a:lstStyle/>
          <a:p>
            <a:r>
              <a:rPr lang="en-US" sz="2000" b="1" dirty="0">
                <a:latin typeface="Times New Roman" pitchFamily="18" charset="0"/>
                <a:cs typeface="Times New Roman" pitchFamily="18" charset="0"/>
              </a:rPr>
              <a:t>Start at the top left of the diagram and move to the right, then down one row and to the left etc. in a snakes and ladders pattern. The value of each card increases by 5 each time, with their suit following the sequence of hearts, clubs, diamonds and </a:t>
            </a:r>
            <a:r>
              <a:rPr lang="en-US" sz="2000" b="1" dirty="0" smtClean="0">
                <a:latin typeface="Times New Roman" pitchFamily="18" charset="0"/>
                <a:cs typeface="Times New Roman" pitchFamily="18" charset="0"/>
              </a:rPr>
              <a:t>spades</a:t>
            </a:r>
            <a:endParaRPr lang="en-US" sz="2000" b="1" dirty="0">
              <a:latin typeface="Times New Roman" pitchFamily="18" charset="0"/>
              <a:cs typeface="Times New Roman" pitchFamily="18" charset="0"/>
            </a:endParaRPr>
          </a:p>
        </p:txBody>
      </p:sp>
      <p:pic>
        <p:nvPicPr>
          <p:cNvPr id="15362" name="Picture 2" descr="https://www.indiabix.com/_files/images/puzzles/10-6-q-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571880"/>
            <a:ext cx="6324600" cy="3076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35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024435"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PLAYING CARD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8" name="Rectangle 7"/>
          <p:cNvSpPr/>
          <p:nvPr/>
        </p:nvSpPr>
        <p:spPr>
          <a:xfrm>
            <a:off x="5616050" y="4199235"/>
            <a:ext cx="252465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7 (Any suit)</a:t>
            </a:r>
            <a:endParaRPr lang="en-US" sz="2400" b="1" dirty="0">
              <a:solidFill>
                <a:srgbClr val="0070C0"/>
              </a:solidFill>
              <a:latin typeface="Times New Roman" pitchFamily="18" charset="0"/>
              <a:cs typeface="Times New Roman" pitchFamily="18" charset="0"/>
            </a:endParaRPr>
          </a:p>
        </p:txBody>
      </p:sp>
      <p:sp>
        <p:nvSpPr>
          <p:cNvPr id="2" name="Rectangle 1"/>
          <p:cNvSpPr/>
          <p:nvPr/>
        </p:nvSpPr>
        <p:spPr>
          <a:xfrm>
            <a:off x="381000" y="3442081"/>
            <a:ext cx="8432800" cy="707886"/>
          </a:xfrm>
          <a:prstGeom prst="rect">
            <a:avLst/>
          </a:prstGeom>
        </p:spPr>
        <p:txBody>
          <a:bodyPr wrap="square">
            <a:spAutoFit/>
          </a:bodyPr>
          <a:lstStyle/>
          <a:p>
            <a:r>
              <a:rPr lang="en-US" sz="2000" b="1" dirty="0">
                <a:latin typeface="Times New Roman" pitchFamily="18" charset="0"/>
                <a:cs typeface="Times New Roman" pitchFamily="18" charset="0"/>
              </a:rPr>
              <a:t>Taking the value of Aces as 1 and all court cards as 10, In each column of the diagram, the value of the sum of the 3 cards is always 21.</a:t>
            </a:r>
          </a:p>
        </p:txBody>
      </p:sp>
      <p:pic>
        <p:nvPicPr>
          <p:cNvPr id="16386" name="Picture 2" descr="https://www.indiabix.com/_files/images/puzzles/10-9-q-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540130"/>
            <a:ext cx="6172200" cy="2895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535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024435"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PLAYING CARD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8" name="Rectangle 7"/>
          <p:cNvSpPr/>
          <p:nvPr/>
        </p:nvSpPr>
        <p:spPr>
          <a:xfrm>
            <a:off x="5791200" y="4624685"/>
            <a:ext cx="327660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Jack of Spade</a:t>
            </a:r>
            <a:endParaRPr lang="en-US" sz="2400" b="1" dirty="0">
              <a:solidFill>
                <a:srgbClr val="0070C0"/>
              </a:solidFill>
              <a:latin typeface="Times New Roman" pitchFamily="18" charset="0"/>
              <a:cs typeface="Times New Roman" pitchFamily="18" charset="0"/>
            </a:endParaRPr>
          </a:p>
        </p:txBody>
      </p:sp>
      <p:sp>
        <p:nvSpPr>
          <p:cNvPr id="2" name="Rectangle 1"/>
          <p:cNvSpPr/>
          <p:nvPr/>
        </p:nvSpPr>
        <p:spPr>
          <a:xfrm>
            <a:off x="228600" y="3994487"/>
            <a:ext cx="8432800" cy="1015663"/>
          </a:xfrm>
          <a:prstGeom prst="rect">
            <a:avLst/>
          </a:prstGeom>
        </p:spPr>
        <p:txBody>
          <a:bodyPr wrap="square">
            <a:spAutoFit/>
          </a:bodyPr>
          <a:lstStyle/>
          <a:p>
            <a:r>
              <a:rPr lang="en-US" sz="2000" b="1" dirty="0" smtClean="0">
                <a:latin typeface="Times New Roman" pitchFamily="18" charset="0"/>
                <a:cs typeface="Times New Roman" pitchFamily="18" charset="0"/>
              </a:rPr>
              <a:t>To </a:t>
            </a:r>
            <a:r>
              <a:rPr lang="en-US" sz="2000" b="1" dirty="0">
                <a:latin typeface="Times New Roman" pitchFamily="18" charset="0"/>
                <a:cs typeface="Times New Roman" pitchFamily="18" charset="0"/>
              </a:rPr>
              <a:t>calculate the suit of each card, start on the top left and move down, then right one row and move up etc. cards are arranged in the order Hearts, Clubs, Diamonds, Spades.</a:t>
            </a:r>
          </a:p>
        </p:txBody>
      </p:sp>
      <p:pic>
        <p:nvPicPr>
          <p:cNvPr id="18434" name="Picture 2" descr="https://www.indiabix.com/_files/images/puzzles/10-12-q-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14351"/>
            <a:ext cx="5235050" cy="348013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616050" y="629335"/>
            <a:ext cx="3527950" cy="1015663"/>
          </a:xfrm>
          <a:prstGeom prst="rect">
            <a:avLst/>
          </a:prstGeom>
        </p:spPr>
        <p:txBody>
          <a:bodyPr wrap="square">
            <a:spAutoFit/>
          </a:bodyPr>
          <a:lstStyle/>
          <a:p>
            <a:r>
              <a:rPr lang="en-US" sz="2000" b="1" dirty="0">
                <a:latin typeface="Times New Roman" pitchFamily="18" charset="0"/>
                <a:cs typeface="Times New Roman" pitchFamily="18" charset="0"/>
              </a:rPr>
              <a:t>There are 2 sequences in the grid - one determining the value of the card, and </a:t>
            </a:r>
            <a:endParaRPr lang="en-US" sz="2000" dirty="0"/>
          </a:p>
        </p:txBody>
      </p:sp>
      <p:sp>
        <p:nvSpPr>
          <p:cNvPr id="6" name="Rectangle 5"/>
          <p:cNvSpPr/>
          <p:nvPr/>
        </p:nvSpPr>
        <p:spPr>
          <a:xfrm>
            <a:off x="5616050" y="1552665"/>
            <a:ext cx="3527950" cy="2554545"/>
          </a:xfrm>
          <a:prstGeom prst="rect">
            <a:avLst/>
          </a:prstGeom>
        </p:spPr>
        <p:txBody>
          <a:bodyPr wrap="square">
            <a:spAutoFit/>
          </a:bodyPr>
          <a:lstStyle/>
          <a:p>
            <a:r>
              <a:rPr lang="en-US" sz="2000" b="1" dirty="0">
                <a:latin typeface="Times New Roman" pitchFamily="18" charset="0"/>
                <a:cs typeface="Times New Roman" pitchFamily="18" charset="0"/>
              </a:rPr>
              <a:t>one determining the suit of the card. Starting on the top left and moving right, then down one row and to the left, then down the final row and to the right, cards are arranged in order, with their value increasing by 4 each time.</a:t>
            </a:r>
            <a:endParaRPr lang="en-US" sz="2000" dirty="0"/>
          </a:p>
        </p:txBody>
      </p:sp>
    </p:spTree>
    <p:extLst>
      <p:ext uri="{BB962C8B-B14F-4D97-AF65-F5344CB8AC3E}">
        <p14:creationId xmlns:p14="http://schemas.microsoft.com/office/powerpoint/2010/main" val="2631541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1182" y="110215"/>
            <a:ext cx="4024435"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PLAYING CARD PUZZELS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8" name="Rectangle 7"/>
          <p:cNvSpPr/>
          <p:nvPr/>
        </p:nvSpPr>
        <p:spPr>
          <a:xfrm>
            <a:off x="5616050" y="4472285"/>
            <a:ext cx="2524650" cy="461665"/>
          </a:xfrm>
          <a:prstGeom prst="rect">
            <a:avLst/>
          </a:prstGeom>
        </p:spPr>
        <p:txBody>
          <a:bodyPr wrap="square">
            <a:spAutoFit/>
          </a:bodyPr>
          <a:lstStyle/>
          <a:p>
            <a:r>
              <a:rPr lang="en-US" sz="2400" b="1" dirty="0" smtClean="0">
                <a:solidFill>
                  <a:srgbClr val="0070C0"/>
                </a:solidFill>
                <a:latin typeface="Times New Roman" pitchFamily="18" charset="0"/>
                <a:cs typeface="Times New Roman" pitchFamily="18" charset="0"/>
              </a:rPr>
              <a:t>Ans 9 of club</a:t>
            </a:r>
            <a:endParaRPr lang="en-US" sz="2400" b="1" dirty="0">
              <a:solidFill>
                <a:srgbClr val="0070C0"/>
              </a:solidFill>
              <a:latin typeface="Times New Roman" pitchFamily="18" charset="0"/>
              <a:cs typeface="Times New Roman" pitchFamily="18" charset="0"/>
            </a:endParaRPr>
          </a:p>
        </p:txBody>
      </p:sp>
      <p:sp>
        <p:nvSpPr>
          <p:cNvPr id="2" name="Rectangle 1"/>
          <p:cNvSpPr/>
          <p:nvPr/>
        </p:nvSpPr>
        <p:spPr>
          <a:xfrm>
            <a:off x="381000" y="3778929"/>
            <a:ext cx="8432800" cy="707886"/>
          </a:xfrm>
          <a:prstGeom prst="rect">
            <a:avLst/>
          </a:prstGeom>
        </p:spPr>
        <p:txBody>
          <a:bodyPr wrap="square">
            <a:spAutoFit/>
          </a:bodyPr>
          <a:lstStyle/>
          <a:p>
            <a:r>
              <a:rPr lang="en-US" sz="2000" b="1" dirty="0">
                <a:latin typeface="Times New Roman" pitchFamily="18" charset="0"/>
                <a:cs typeface="Times New Roman" pitchFamily="18" charset="0"/>
              </a:rPr>
              <a:t>In each column of the diagram, add the top and bottom card values together and subtract 2 to give the value of the central card.</a:t>
            </a:r>
          </a:p>
        </p:txBody>
      </p:sp>
      <p:pic>
        <p:nvPicPr>
          <p:cNvPr id="17410" name="Picture 2" descr="https://www.indiabix.com/_files/images/puzzles/10-18-q-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975" y="617918"/>
            <a:ext cx="6397625"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31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1965" y="1179850"/>
            <a:ext cx="5339219" cy="769441"/>
          </a:xfrm>
          <a:prstGeom prst="rect">
            <a:avLst/>
          </a:prstGeom>
        </p:spPr>
        <p:txBody>
          <a:bodyPr wrap="none">
            <a:spAutoFit/>
          </a:bodyPr>
          <a:lstStyle/>
          <a:p>
            <a:pPr lvl="0" algn="ctr" fontAlgn="base">
              <a:spcBef>
                <a:spcPct val="0"/>
              </a:spcBef>
              <a:spcAft>
                <a:spcPct val="0"/>
              </a:spcAft>
            </a:pPr>
            <a:r>
              <a:rPr lang="en-US" sz="4400" b="1" dirty="0" smtClean="0">
                <a:latin typeface="Times New Roman" pitchFamily="18" charset="0"/>
                <a:cs typeface="Times New Roman" pitchFamily="18" charset="0"/>
              </a:rPr>
              <a:t>Seating Arrangement</a:t>
            </a:r>
          </a:p>
        </p:txBody>
      </p:sp>
      <p:sp>
        <p:nvSpPr>
          <p:cNvPr id="3" name="Rectangle 2"/>
          <p:cNvSpPr/>
          <p:nvPr/>
        </p:nvSpPr>
        <p:spPr>
          <a:xfrm>
            <a:off x="5568818" y="3409950"/>
            <a:ext cx="3270382" cy="1384995"/>
          </a:xfrm>
          <a:prstGeom prst="rect">
            <a:avLst/>
          </a:prstGeom>
        </p:spPr>
        <p:txBody>
          <a:bodyPr wrap="none">
            <a:spAutoFit/>
          </a:bodyPr>
          <a:lstStyle/>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By:-</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Naveen Kumar Jain</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(Aptitude Trainer)</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73927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4600" y="128885"/>
            <a:ext cx="2773516" cy="461665"/>
          </a:xfrm>
          <a:prstGeom prst="rect">
            <a:avLst/>
          </a:prstGeom>
        </p:spPr>
        <p:txBody>
          <a:bodyPr wrap="none">
            <a:spAutoFit/>
          </a:bodyPr>
          <a:lstStyle/>
          <a:p>
            <a:pPr lvl="0" indent="63500" fontAlgn="base">
              <a:spcBef>
                <a:spcPct val="0"/>
              </a:spcBef>
              <a:spcAft>
                <a:spcPct val="0"/>
              </a:spcAft>
            </a:pPr>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ea typeface="Times New Roman" pitchFamily="18" charset="0"/>
                <a:cs typeface="Times New Roman" pitchFamily="18" charset="0"/>
              </a:rPr>
              <a:t>BASIC CONCEPT</a:t>
            </a:r>
            <a:endPar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3" name="Rectangle 2"/>
          <p:cNvSpPr/>
          <p:nvPr/>
        </p:nvSpPr>
        <p:spPr>
          <a:xfrm>
            <a:off x="304800" y="1581150"/>
            <a:ext cx="8727535" cy="646331"/>
          </a:xfrm>
          <a:prstGeom prst="rect">
            <a:avLst/>
          </a:prstGeom>
        </p:spPr>
        <p:txBody>
          <a:bodyPr wrap="square">
            <a:spAutoFit/>
          </a:bodyPr>
          <a:lstStyle/>
          <a:p>
            <a:pPr marL="285750" indent="-285750">
              <a:buFont typeface="Wingdings" pitchFamily="2" charset="2"/>
              <a:buChar char="v"/>
            </a:pPr>
            <a:r>
              <a:rPr lang="en-US" dirty="0"/>
              <a:t>Questions based on seating arrangement reasoning involve arranging the persons or objects according to the conditions given in the question. </a:t>
            </a:r>
            <a:endParaRPr lang="en-US" dirty="0">
              <a:latin typeface="Times New Roman" pitchFamily="18" charset="0"/>
              <a:cs typeface="Times New Roman" pitchFamily="18" charset="0"/>
            </a:endParaRPr>
          </a:p>
        </p:txBody>
      </p:sp>
      <p:sp>
        <p:nvSpPr>
          <p:cNvPr id="9" name="Rectangle 8"/>
          <p:cNvSpPr/>
          <p:nvPr/>
        </p:nvSpPr>
        <p:spPr>
          <a:xfrm>
            <a:off x="381000" y="2320656"/>
            <a:ext cx="7810500" cy="646331"/>
          </a:xfrm>
          <a:prstGeom prst="rect">
            <a:avLst/>
          </a:prstGeom>
        </p:spPr>
        <p:txBody>
          <a:bodyPr wrap="square">
            <a:spAutoFit/>
          </a:bodyPr>
          <a:lstStyle/>
          <a:p>
            <a:pPr marL="285750" indent="-285750">
              <a:buFont typeface="Wingdings" pitchFamily="2" charset="2"/>
              <a:buChar char="v"/>
            </a:pPr>
            <a:r>
              <a:rPr lang="en-US" dirty="0"/>
              <a:t>Q</a:t>
            </a:r>
            <a:r>
              <a:rPr lang="en-US" dirty="0" smtClean="0"/>
              <a:t>uestions </a:t>
            </a:r>
            <a:r>
              <a:rPr lang="en-US" dirty="0"/>
              <a:t>are based on the seating sequence pattern, direction, facing outside or inside, </a:t>
            </a:r>
            <a:r>
              <a:rPr lang="en-US" dirty="0" err="1"/>
              <a:t>etc</a:t>
            </a:r>
            <a:endParaRPr lang="en-US" dirty="0"/>
          </a:p>
        </p:txBody>
      </p:sp>
      <p:sp>
        <p:nvSpPr>
          <p:cNvPr id="10" name="Rectangle 9"/>
          <p:cNvSpPr/>
          <p:nvPr/>
        </p:nvSpPr>
        <p:spPr>
          <a:xfrm>
            <a:off x="381000" y="2980372"/>
            <a:ext cx="5791200" cy="369332"/>
          </a:xfrm>
          <a:prstGeom prst="rect">
            <a:avLst/>
          </a:prstGeom>
        </p:spPr>
        <p:txBody>
          <a:bodyPr wrap="square">
            <a:spAutoFit/>
          </a:bodyPr>
          <a:lstStyle/>
          <a:p>
            <a:pPr marL="285750" indent="-285750">
              <a:buFont typeface="Wingdings" pitchFamily="2" charset="2"/>
              <a:buChar char="v"/>
            </a:pPr>
            <a:r>
              <a:rPr lang="en-US" dirty="0"/>
              <a:t>G</a:t>
            </a:r>
            <a:r>
              <a:rPr lang="en-US" dirty="0" smtClean="0"/>
              <a:t>iven </a:t>
            </a:r>
            <a:r>
              <a:rPr lang="en-US" dirty="0"/>
              <a:t>information may be in jumbled form.</a:t>
            </a:r>
          </a:p>
        </p:txBody>
      </p:sp>
      <p:sp>
        <p:nvSpPr>
          <p:cNvPr id="11" name="Rectangle 10"/>
          <p:cNvSpPr/>
          <p:nvPr/>
        </p:nvSpPr>
        <p:spPr>
          <a:xfrm>
            <a:off x="381000" y="3449419"/>
            <a:ext cx="7975600" cy="646331"/>
          </a:xfrm>
          <a:prstGeom prst="rect">
            <a:avLst/>
          </a:prstGeom>
        </p:spPr>
        <p:txBody>
          <a:bodyPr wrap="square">
            <a:spAutoFit/>
          </a:bodyPr>
          <a:lstStyle/>
          <a:p>
            <a:pPr marL="285750" indent="-285750">
              <a:buFont typeface="Wingdings" pitchFamily="2" charset="2"/>
              <a:buChar char="v"/>
            </a:pPr>
            <a:r>
              <a:rPr lang="en-US" dirty="0"/>
              <a:t>Candidates have to segregate this information and make the arrangement as per the given conditions. </a:t>
            </a:r>
          </a:p>
        </p:txBody>
      </p:sp>
      <p:sp>
        <p:nvSpPr>
          <p:cNvPr id="25" name="Rectangle 24"/>
          <p:cNvSpPr/>
          <p:nvPr/>
        </p:nvSpPr>
        <p:spPr>
          <a:xfrm>
            <a:off x="304800" y="934819"/>
            <a:ext cx="7962900" cy="646331"/>
          </a:xfrm>
          <a:prstGeom prst="rect">
            <a:avLst/>
          </a:prstGeom>
        </p:spPr>
        <p:txBody>
          <a:bodyPr wrap="square">
            <a:spAutoFit/>
          </a:bodyPr>
          <a:lstStyle/>
          <a:p>
            <a:pPr marL="285750" indent="-285750">
              <a:buFont typeface="Wingdings" pitchFamily="2" charset="2"/>
              <a:buChar char="v"/>
            </a:pPr>
            <a:r>
              <a:rPr lang="en-US" smtClean="0"/>
              <a:t>Seating Arrangement </a:t>
            </a:r>
            <a:r>
              <a:rPr lang="en-US" dirty="0"/>
              <a:t>is a process of making a group of people sit as per a prefixed manner.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2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205085"/>
            <a:ext cx="5650971"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Types of Seating Arrangement</a:t>
            </a:r>
          </a:p>
        </p:txBody>
      </p:sp>
      <p:sp>
        <p:nvSpPr>
          <p:cNvPr id="4" name="Rectangle 3"/>
          <p:cNvSpPr/>
          <p:nvPr/>
        </p:nvSpPr>
        <p:spPr>
          <a:xfrm>
            <a:off x="533400" y="895350"/>
            <a:ext cx="3597460" cy="369332"/>
          </a:xfrm>
          <a:prstGeom prst="rect">
            <a:avLst/>
          </a:prstGeom>
        </p:spPr>
        <p:txBody>
          <a:bodyPr wrap="none">
            <a:spAutoFit/>
          </a:bodyPr>
          <a:lstStyle/>
          <a:p>
            <a:r>
              <a:rPr lang="en-US" b="1" dirty="0"/>
              <a:t>1. Linear Seating Arrangement</a:t>
            </a:r>
          </a:p>
        </p:txBody>
      </p:sp>
      <p:sp>
        <p:nvSpPr>
          <p:cNvPr id="5" name="Rectangle 4"/>
          <p:cNvSpPr/>
          <p:nvPr/>
        </p:nvSpPr>
        <p:spPr>
          <a:xfrm>
            <a:off x="512071" y="1276350"/>
            <a:ext cx="3786614" cy="369332"/>
          </a:xfrm>
          <a:prstGeom prst="rect">
            <a:avLst/>
          </a:prstGeom>
        </p:spPr>
        <p:txBody>
          <a:bodyPr wrap="none">
            <a:spAutoFit/>
          </a:bodyPr>
          <a:lstStyle/>
          <a:p>
            <a:r>
              <a:rPr lang="en-US" b="1" dirty="0"/>
              <a:t>2. Circular Seating Arrangement</a:t>
            </a:r>
          </a:p>
        </p:txBody>
      </p:sp>
      <p:sp>
        <p:nvSpPr>
          <p:cNvPr id="12" name="Rectangle 11"/>
          <p:cNvSpPr/>
          <p:nvPr/>
        </p:nvSpPr>
        <p:spPr>
          <a:xfrm>
            <a:off x="489249" y="1657350"/>
            <a:ext cx="3100529" cy="369332"/>
          </a:xfrm>
          <a:prstGeom prst="rect">
            <a:avLst/>
          </a:prstGeom>
        </p:spPr>
        <p:txBody>
          <a:bodyPr wrap="none">
            <a:spAutoFit/>
          </a:bodyPr>
          <a:lstStyle/>
          <a:p>
            <a:r>
              <a:rPr lang="en-US" b="1" dirty="0"/>
              <a:t>3. Polygonal Arrangement</a:t>
            </a:r>
          </a:p>
        </p:txBody>
      </p:sp>
    </p:spTree>
    <p:extLst>
      <p:ext uri="{BB962C8B-B14F-4D97-AF65-F5344CB8AC3E}">
        <p14:creationId xmlns:p14="http://schemas.microsoft.com/office/powerpoint/2010/main" val="3320897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666750"/>
            <a:ext cx="8153400" cy="646331"/>
          </a:xfrm>
          <a:prstGeom prst="rect">
            <a:avLst/>
          </a:prstGeom>
        </p:spPr>
        <p:txBody>
          <a:bodyPr wrap="square">
            <a:spAutoFit/>
          </a:bodyPr>
          <a:lstStyle/>
          <a:p>
            <a:r>
              <a:rPr lang="en-US" dirty="0"/>
              <a:t>In this </a:t>
            </a:r>
            <a:r>
              <a:rPr lang="en-US" dirty="0" smtClean="0"/>
              <a:t>type, </a:t>
            </a:r>
            <a:r>
              <a:rPr lang="en-US" dirty="0"/>
              <a:t>candidates are required to arrange people in a row or multiple rows according to the given conditions. </a:t>
            </a:r>
          </a:p>
        </p:txBody>
      </p:sp>
      <p:sp>
        <p:nvSpPr>
          <p:cNvPr id="6" name="Rectangle 5"/>
          <p:cNvSpPr/>
          <p:nvPr/>
        </p:nvSpPr>
        <p:spPr>
          <a:xfrm>
            <a:off x="533400" y="1276350"/>
            <a:ext cx="6066084" cy="369332"/>
          </a:xfrm>
          <a:prstGeom prst="rect">
            <a:avLst/>
          </a:prstGeom>
        </p:spPr>
        <p:txBody>
          <a:bodyPr wrap="none">
            <a:spAutoFit/>
          </a:bodyPr>
          <a:lstStyle/>
          <a:p>
            <a:r>
              <a:rPr lang="en-US" dirty="0" smtClean="0">
                <a:latin typeface="+mj-lt"/>
                <a:cs typeface="Times New Roman" pitchFamily="18" charset="0"/>
              </a:rPr>
              <a:t>There </a:t>
            </a:r>
            <a:r>
              <a:rPr lang="en-US" dirty="0">
                <a:latin typeface="+mj-lt"/>
                <a:cs typeface="Times New Roman" pitchFamily="18" charset="0"/>
              </a:rPr>
              <a:t>are </a:t>
            </a:r>
            <a:r>
              <a:rPr lang="en-US" dirty="0" smtClean="0">
                <a:latin typeface="+mj-lt"/>
                <a:cs typeface="Times New Roman" pitchFamily="18" charset="0"/>
              </a:rPr>
              <a:t>three types </a:t>
            </a:r>
            <a:r>
              <a:rPr lang="en-US" dirty="0">
                <a:latin typeface="+mj-lt"/>
                <a:cs typeface="Times New Roman" pitchFamily="18" charset="0"/>
              </a:rPr>
              <a:t>of </a:t>
            </a:r>
            <a:r>
              <a:rPr lang="en-US" dirty="0" smtClean="0">
                <a:latin typeface="+mj-lt"/>
                <a:cs typeface="Times New Roman" pitchFamily="18" charset="0"/>
              </a:rPr>
              <a:t>Linear Seating </a:t>
            </a:r>
            <a:r>
              <a:rPr lang="en-US" dirty="0">
                <a:latin typeface="+mj-lt"/>
                <a:cs typeface="Times New Roman" pitchFamily="18" charset="0"/>
              </a:rPr>
              <a:t>Arrangement</a:t>
            </a:r>
            <a:endParaRPr lang="en-US" dirty="0">
              <a:latin typeface="+mj-lt"/>
            </a:endParaRPr>
          </a:p>
        </p:txBody>
      </p:sp>
      <p:sp>
        <p:nvSpPr>
          <p:cNvPr id="7" name="Rectangle 6"/>
          <p:cNvSpPr/>
          <p:nvPr/>
        </p:nvSpPr>
        <p:spPr>
          <a:xfrm>
            <a:off x="533400" y="1645682"/>
            <a:ext cx="3459601" cy="369332"/>
          </a:xfrm>
          <a:prstGeom prst="rect">
            <a:avLst/>
          </a:prstGeom>
        </p:spPr>
        <p:txBody>
          <a:bodyPr wrap="none">
            <a:spAutoFit/>
          </a:bodyPr>
          <a:lstStyle/>
          <a:p>
            <a:r>
              <a:rPr lang="en-US" b="1" dirty="0"/>
              <a:t>(a) Single Row Unidirectional:</a:t>
            </a:r>
            <a:endParaRPr lang="en-US" dirty="0"/>
          </a:p>
        </p:txBody>
      </p:sp>
      <p:sp>
        <p:nvSpPr>
          <p:cNvPr id="9" name="Rectangle 8"/>
          <p:cNvSpPr/>
          <p:nvPr/>
        </p:nvSpPr>
        <p:spPr>
          <a:xfrm>
            <a:off x="762000" y="1925419"/>
            <a:ext cx="8153400" cy="646331"/>
          </a:xfrm>
          <a:prstGeom prst="rect">
            <a:avLst/>
          </a:prstGeom>
        </p:spPr>
        <p:txBody>
          <a:bodyPr wrap="square">
            <a:spAutoFit/>
          </a:bodyPr>
          <a:lstStyle/>
          <a:p>
            <a:r>
              <a:rPr lang="en-US" dirty="0"/>
              <a:t>In these type of linear seating arrangement questions, people will be arranged in a single row and everyone will face in the same direction. </a:t>
            </a:r>
          </a:p>
        </p:txBody>
      </p:sp>
      <p:sp>
        <p:nvSpPr>
          <p:cNvPr id="10" name="Rectangle 9"/>
          <p:cNvSpPr/>
          <p:nvPr/>
        </p:nvSpPr>
        <p:spPr>
          <a:xfrm>
            <a:off x="838200" y="4053722"/>
            <a:ext cx="8001000" cy="646331"/>
          </a:xfrm>
          <a:prstGeom prst="rect">
            <a:avLst/>
          </a:prstGeom>
        </p:spPr>
        <p:txBody>
          <a:bodyPr wrap="square">
            <a:spAutoFit/>
          </a:bodyPr>
          <a:lstStyle/>
          <a:p>
            <a:r>
              <a:rPr lang="en-US" dirty="0" smtClean="0"/>
              <a:t>In </a:t>
            </a:r>
            <a:r>
              <a:rPr lang="en-US" dirty="0"/>
              <a:t>these type of linear seating arrangement questions, people will be arranged in 2 different rows.</a:t>
            </a:r>
          </a:p>
        </p:txBody>
      </p:sp>
      <p:sp>
        <p:nvSpPr>
          <p:cNvPr id="11" name="Rectangle 10"/>
          <p:cNvSpPr/>
          <p:nvPr/>
        </p:nvSpPr>
        <p:spPr>
          <a:xfrm>
            <a:off x="533400" y="2559566"/>
            <a:ext cx="3307316" cy="369332"/>
          </a:xfrm>
          <a:prstGeom prst="rect">
            <a:avLst/>
          </a:prstGeom>
        </p:spPr>
        <p:txBody>
          <a:bodyPr wrap="none">
            <a:spAutoFit/>
          </a:bodyPr>
          <a:lstStyle/>
          <a:p>
            <a:r>
              <a:rPr lang="en-US" b="1" dirty="0"/>
              <a:t>(b) Single Row Bidirectional:</a:t>
            </a:r>
            <a:endParaRPr lang="en-US" dirty="0"/>
          </a:p>
        </p:txBody>
      </p:sp>
      <p:sp>
        <p:nvSpPr>
          <p:cNvPr id="13" name="Rectangle 12"/>
          <p:cNvSpPr/>
          <p:nvPr/>
        </p:nvSpPr>
        <p:spPr>
          <a:xfrm>
            <a:off x="863600" y="2928898"/>
            <a:ext cx="7594600" cy="923330"/>
          </a:xfrm>
          <a:prstGeom prst="rect">
            <a:avLst/>
          </a:prstGeom>
        </p:spPr>
        <p:txBody>
          <a:bodyPr wrap="square">
            <a:spAutoFit/>
          </a:bodyPr>
          <a:lstStyle/>
          <a:p>
            <a:r>
              <a:rPr lang="en-US" dirty="0"/>
              <a:t>In these type of linear seating arrangement questions, people will be arranged in a single row and they will face in two different directions.</a:t>
            </a:r>
          </a:p>
        </p:txBody>
      </p:sp>
      <p:sp>
        <p:nvSpPr>
          <p:cNvPr id="15" name="Rectangle 14"/>
          <p:cNvSpPr/>
          <p:nvPr/>
        </p:nvSpPr>
        <p:spPr>
          <a:xfrm>
            <a:off x="536445" y="3852228"/>
            <a:ext cx="1726755" cy="369332"/>
          </a:xfrm>
          <a:prstGeom prst="rect">
            <a:avLst/>
          </a:prstGeom>
        </p:spPr>
        <p:txBody>
          <a:bodyPr wrap="none">
            <a:spAutoFit/>
          </a:bodyPr>
          <a:lstStyle/>
          <a:p>
            <a:r>
              <a:rPr lang="en-US" b="1" dirty="0"/>
              <a:t>(c) Dual Row: </a:t>
            </a:r>
            <a:endParaRPr lang="en-US" dirty="0"/>
          </a:p>
        </p:txBody>
      </p:sp>
      <p:sp>
        <p:nvSpPr>
          <p:cNvPr id="12" name="Rectangle 11"/>
          <p:cNvSpPr/>
          <p:nvPr/>
        </p:nvSpPr>
        <p:spPr>
          <a:xfrm>
            <a:off x="1524000" y="57150"/>
            <a:ext cx="5673604"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1. Linear Seating Arrangement</a:t>
            </a:r>
          </a:p>
        </p:txBody>
      </p:sp>
    </p:spTree>
    <p:extLst>
      <p:ext uri="{BB962C8B-B14F-4D97-AF65-F5344CB8AC3E}">
        <p14:creationId xmlns:p14="http://schemas.microsoft.com/office/powerpoint/2010/main" val="3309262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9" grpId="0"/>
      <p:bldP spid="10" grpId="0"/>
      <p:bldP spid="11" grpId="0"/>
      <p:bldP spid="13" grpId="0"/>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57150"/>
            <a:ext cx="5673604"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1. Linear Seating Arrangement</a:t>
            </a:r>
          </a:p>
        </p:txBody>
      </p:sp>
      <p:sp>
        <p:nvSpPr>
          <p:cNvPr id="4" name="Rectangle 3"/>
          <p:cNvSpPr/>
          <p:nvPr/>
        </p:nvSpPr>
        <p:spPr>
          <a:xfrm>
            <a:off x="228600" y="514349"/>
            <a:ext cx="8610600" cy="1938992"/>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Nine persons A, B, C, D, E, F, G, H, I are watching a movie in a theatre sitting in a row facing North. B is at one end of the row. H is seated adjacent to both F and G. C is to the immediate right of </a:t>
            </a:r>
            <a:r>
              <a:rPr lang="en-US" sz="2000" b="1" dirty="0" smtClean="0">
                <a:solidFill>
                  <a:srgbClr val="FF0000"/>
                </a:solidFill>
                <a:latin typeface="Times New Roman" pitchFamily="18" charset="0"/>
                <a:cs typeface="Times New Roman" pitchFamily="18" charset="0"/>
              </a:rPr>
              <a:t>D and at </a:t>
            </a:r>
            <a:r>
              <a:rPr lang="en-US" sz="2000" b="1" dirty="0">
                <a:solidFill>
                  <a:srgbClr val="FF0000"/>
                </a:solidFill>
                <a:latin typeface="Times New Roman" pitchFamily="18" charset="0"/>
                <a:cs typeface="Times New Roman" pitchFamily="18" charset="0"/>
              </a:rPr>
              <a:t>the third place to the right of E. A is immediate left of F. F is at the third place to the left of B. Find out:</a:t>
            </a:r>
            <a:br>
              <a:rPr lang="en-US" sz="2000" b="1" dirty="0">
                <a:solidFill>
                  <a:srgbClr val="FF0000"/>
                </a:solidFill>
                <a:latin typeface="Times New Roman" pitchFamily="18" charset="0"/>
                <a:cs typeface="Times New Roman" pitchFamily="18" charset="0"/>
              </a:rPr>
            </a:br>
            <a:r>
              <a:rPr lang="en-US" sz="2000" b="1" dirty="0" smtClean="0">
                <a:solidFill>
                  <a:srgbClr val="FF0000"/>
                </a:solidFill>
                <a:latin typeface="Times New Roman" pitchFamily="18" charset="0"/>
                <a:cs typeface="Times New Roman" pitchFamily="18" charset="0"/>
              </a:rPr>
              <a:t>Q</a:t>
            </a:r>
            <a:r>
              <a:rPr lang="en-US" sz="2000" b="1" dirty="0">
                <a:solidFill>
                  <a:srgbClr val="FF0000"/>
                </a:solidFill>
                <a:latin typeface="Times New Roman" pitchFamily="18" charset="0"/>
                <a:cs typeface="Times New Roman" pitchFamily="18" charset="0"/>
              </a:rPr>
              <a:t>: Who is at the end of the row?</a:t>
            </a:r>
            <a:br>
              <a:rPr lang="en-US" sz="2000" b="1" dirty="0">
                <a:solidFill>
                  <a:srgbClr val="FF0000"/>
                </a:solidFill>
                <a:latin typeface="Times New Roman" pitchFamily="18" charset="0"/>
                <a:cs typeface="Times New Roman" pitchFamily="18" charset="0"/>
              </a:rPr>
            </a:br>
            <a:r>
              <a:rPr lang="en-US" sz="2000" b="1" dirty="0">
                <a:solidFill>
                  <a:srgbClr val="FF0000"/>
                </a:solidFill>
                <a:latin typeface="Times New Roman" pitchFamily="18" charset="0"/>
                <a:cs typeface="Times New Roman" pitchFamily="18" charset="0"/>
              </a:rPr>
              <a:t>Q: What is the position of F with respect to D? </a:t>
            </a:r>
            <a:endParaRPr lang="en-US" sz="2000" dirty="0">
              <a:solidFill>
                <a:srgbClr val="FF0000"/>
              </a:solidFill>
              <a:latin typeface="Times New Roman" pitchFamily="18" charset="0"/>
              <a:cs typeface="Times New Roman" pitchFamily="18" charset="0"/>
            </a:endParaRPr>
          </a:p>
        </p:txBody>
      </p:sp>
      <p:grpSp>
        <p:nvGrpSpPr>
          <p:cNvPr id="14" name="Group 13"/>
          <p:cNvGrpSpPr/>
          <p:nvPr/>
        </p:nvGrpSpPr>
        <p:grpSpPr>
          <a:xfrm>
            <a:off x="2727091" y="819150"/>
            <a:ext cx="4511909" cy="1009710"/>
            <a:chOff x="2422848" y="844550"/>
            <a:chExt cx="4511909" cy="1009710"/>
          </a:xfrm>
        </p:grpSpPr>
        <p:sp>
          <p:nvSpPr>
            <p:cNvPr id="5" name="Rectangle 4"/>
            <p:cNvSpPr/>
            <p:nvPr/>
          </p:nvSpPr>
          <p:spPr>
            <a:xfrm>
              <a:off x="2422848" y="844550"/>
              <a:ext cx="3064109"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sz="2000" b="1" dirty="0">
                  <a:latin typeface="Times New Roman" pitchFamily="18" charset="0"/>
                  <a:cs typeface="Times New Roman" pitchFamily="18" charset="0"/>
                </a:rPr>
                <a:t>B is at one end of the row. </a:t>
              </a:r>
              <a:endParaRPr lang="en-US" sz="2000" dirty="0"/>
            </a:p>
          </p:txBody>
        </p:sp>
        <p:sp>
          <p:nvSpPr>
            <p:cNvPr id="12" name="Rectangle 11"/>
            <p:cNvSpPr/>
            <p:nvPr/>
          </p:nvSpPr>
          <p:spPr>
            <a:xfrm>
              <a:off x="2819400" y="1454150"/>
              <a:ext cx="4115357"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sz="2000" b="1" dirty="0">
                  <a:latin typeface="Times New Roman" pitchFamily="18" charset="0"/>
                  <a:cs typeface="Times New Roman" pitchFamily="18" charset="0"/>
                </a:rPr>
                <a:t>F is at the third place to the left of B</a:t>
              </a:r>
              <a:endParaRPr lang="en-US" sz="2000" dirty="0"/>
            </a:p>
          </p:txBody>
        </p:sp>
      </p:grpSp>
      <p:sp>
        <p:nvSpPr>
          <p:cNvPr id="16" name="Rectangle 15"/>
          <p:cNvSpPr/>
          <p:nvPr/>
        </p:nvSpPr>
        <p:spPr>
          <a:xfrm>
            <a:off x="660400" y="3562350"/>
            <a:ext cx="381000" cy="533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Rectangle 16"/>
          <p:cNvSpPr/>
          <p:nvPr/>
        </p:nvSpPr>
        <p:spPr>
          <a:xfrm>
            <a:off x="1219200" y="3562350"/>
            <a:ext cx="381000" cy="533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 name="Rectangle 17"/>
          <p:cNvSpPr/>
          <p:nvPr/>
        </p:nvSpPr>
        <p:spPr>
          <a:xfrm>
            <a:off x="1803400" y="3562350"/>
            <a:ext cx="381000" cy="533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Rectangle 18"/>
          <p:cNvSpPr/>
          <p:nvPr/>
        </p:nvSpPr>
        <p:spPr>
          <a:xfrm>
            <a:off x="2362200" y="3562350"/>
            <a:ext cx="381000" cy="533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Rectangle 19"/>
          <p:cNvSpPr/>
          <p:nvPr/>
        </p:nvSpPr>
        <p:spPr>
          <a:xfrm>
            <a:off x="2946400" y="3562350"/>
            <a:ext cx="381000" cy="533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Rectangle 20"/>
          <p:cNvSpPr/>
          <p:nvPr/>
        </p:nvSpPr>
        <p:spPr>
          <a:xfrm>
            <a:off x="3505200" y="3562350"/>
            <a:ext cx="381000" cy="533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Rectangle 21"/>
          <p:cNvSpPr/>
          <p:nvPr/>
        </p:nvSpPr>
        <p:spPr>
          <a:xfrm>
            <a:off x="4089400" y="3562350"/>
            <a:ext cx="381000" cy="533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Rectangle 22"/>
          <p:cNvSpPr/>
          <p:nvPr/>
        </p:nvSpPr>
        <p:spPr>
          <a:xfrm>
            <a:off x="4648200" y="3562350"/>
            <a:ext cx="381000" cy="533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Rectangle 23"/>
          <p:cNvSpPr/>
          <p:nvPr/>
        </p:nvSpPr>
        <p:spPr>
          <a:xfrm>
            <a:off x="5257800" y="3562350"/>
            <a:ext cx="381000" cy="533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Rectangle 24"/>
          <p:cNvSpPr/>
          <p:nvPr/>
        </p:nvSpPr>
        <p:spPr>
          <a:xfrm>
            <a:off x="5279023" y="3644384"/>
            <a:ext cx="338554" cy="369332"/>
          </a:xfrm>
          <a:prstGeom prst="rect">
            <a:avLst/>
          </a:prstGeom>
        </p:spPr>
        <p:txBody>
          <a:bodyPr wrap="none">
            <a:spAutoFit/>
          </a:bodyPr>
          <a:lstStyle/>
          <a:p>
            <a:r>
              <a:rPr lang="en-US" b="1" dirty="0">
                <a:solidFill>
                  <a:schemeClr val="bg1"/>
                </a:solidFill>
                <a:latin typeface="Times New Roman" pitchFamily="18" charset="0"/>
                <a:cs typeface="Times New Roman" pitchFamily="18" charset="0"/>
              </a:rPr>
              <a:t>B</a:t>
            </a:r>
            <a:endParaRPr lang="en-US" dirty="0">
              <a:solidFill>
                <a:schemeClr val="bg1"/>
              </a:solidFill>
            </a:endParaRPr>
          </a:p>
        </p:txBody>
      </p:sp>
      <p:sp>
        <p:nvSpPr>
          <p:cNvPr id="26" name="Rectangle 25"/>
          <p:cNvSpPr/>
          <p:nvPr/>
        </p:nvSpPr>
        <p:spPr>
          <a:xfrm>
            <a:off x="3505200" y="3638550"/>
            <a:ext cx="325730" cy="369332"/>
          </a:xfrm>
          <a:prstGeom prst="rect">
            <a:avLst/>
          </a:prstGeom>
        </p:spPr>
        <p:txBody>
          <a:bodyPr wrap="none">
            <a:spAutoFit/>
          </a:bodyPr>
          <a:lstStyle/>
          <a:p>
            <a:r>
              <a:rPr lang="en-US" b="1" dirty="0">
                <a:solidFill>
                  <a:schemeClr val="bg1"/>
                </a:solidFill>
                <a:latin typeface="Times New Roman" pitchFamily="18" charset="0"/>
                <a:cs typeface="Times New Roman" pitchFamily="18" charset="0"/>
              </a:rPr>
              <a:t>F</a:t>
            </a:r>
            <a:endParaRPr lang="en-US" dirty="0">
              <a:solidFill>
                <a:schemeClr val="bg1"/>
              </a:solidFill>
            </a:endParaRPr>
          </a:p>
        </p:txBody>
      </p:sp>
      <p:sp>
        <p:nvSpPr>
          <p:cNvPr id="27" name="Rectangle 26"/>
          <p:cNvSpPr/>
          <p:nvPr/>
        </p:nvSpPr>
        <p:spPr>
          <a:xfrm>
            <a:off x="457200" y="1428750"/>
            <a:ext cx="2722477"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sz="2000" b="1" dirty="0">
                <a:latin typeface="Times New Roman" pitchFamily="18" charset="0"/>
                <a:cs typeface="Times New Roman" pitchFamily="18" charset="0"/>
              </a:rPr>
              <a:t>A is immediate left of F</a:t>
            </a:r>
            <a:endParaRPr lang="en-US" sz="2000" dirty="0"/>
          </a:p>
        </p:txBody>
      </p:sp>
      <p:sp>
        <p:nvSpPr>
          <p:cNvPr id="29" name="Rectangle 28"/>
          <p:cNvSpPr/>
          <p:nvPr/>
        </p:nvSpPr>
        <p:spPr>
          <a:xfrm>
            <a:off x="2925222" y="3651250"/>
            <a:ext cx="351378" cy="369332"/>
          </a:xfrm>
          <a:prstGeom prst="rect">
            <a:avLst/>
          </a:prstGeom>
        </p:spPr>
        <p:txBody>
          <a:bodyPr wrap="none">
            <a:spAutoFit/>
          </a:bodyPr>
          <a:lstStyle/>
          <a:p>
            <a:r>
              <a:rPr lang="en-US" b="1" dirty="0" smtClean="0">
                <a:solidFill>
                  <a:schemeClr val="bg1"/>
                </a:solidFill>
                <a:latin typeface="Times New Roman" pitchFamily="18" charset="0"/>
                <a:cs typeface="Times New Roman" pitchFamily="18" charset="0"/>
              </a:rPr>
              <a:t>A</a:t>
            </a:r>
            <a:endParaRPr lang="en-US" dirty="0">
              <a:solidFill>
                <a:schemeClr val="bg1"/>
              </a:solidFill>
            </a:endParaRPr>
          </a:p>
        </p:txBody>
      </p:sp>
      <p:grpSp>
        <p:nvGrpSpPr>
          <p:cNvPr id="32" name="Group 31"/>
          <p:cNvGrpSpPr/>
          <p:nvPr/>
        </p:nvGrpSpPr>
        <p:grpSpPr>
          <a:xfrm>
            <a:off x="228600" y="818634"/>
            <a:ext cx="8579629" cy="721905"/>
            <a:chOff x="228600" y="818634"/>
            <a:chExt cx="8579629" cy="721905"/>
          </a:xfrm>
        </p:grpSpPr>
        <p:sp>
          <p:nvSpPr>
            <p:cNvPr id="30" name="Rectangle 29"/>
            <p:cNvSpPr/>
            <p:nvPr/>
          </p:nvSpPr>
          <p:spPr>
            <a:xfrm>
              <a:off x="5536179" y="818634"/>
              <a:ext cx="3272050"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sz="2000" b="1" dirty="0">
                  <a:latin typeface="Times New Roman" pitchFamily="18" charset="0"/>
                  <a:cs typeface="Times New Roman" pitchFamily="18" charset="0"/>
                </a:rPr>
                <a:t>H is seated adjacent to both </a:t>
              </a:r>
              <a:endParaRPr lang="en-US" sz="2000" dirty="0"/>
            </a:p>
          </p:txBody>
        </p:sp>
        <p:sp>
          <p:nvSpPr>
            <p:cNvPr id="31" name="Rectangle 30"/>
            <p:cNvSpPr/>
            <p:nvPr/>
          </p:nvSpPr>
          <p:spPr>
            <a:xfrm>
              <a:off x="228600" y="1140429"/>
              <a:ext cx="1072858"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sz="2000" b="1" dirty="0">
                  <a:latin typeface="Times New Roman" pitchFamily="18" charset="0"/>
                  <a:cs typeface="Times New Roman" pitchFamily="18" charset="0"/>
                </a:rPr>
                <a:t>F and G</a:t>
              </a:r>
              <a:endParaRPr lang="en-US" sz="2000" dirty="0"/>
            </a:p>
          </p:txBody>
        </p:sp>
      </p:grpSp>
      <p:sp>
        <p:nvSpPr>
          <p:cNvPr id="33" name="Rectangle 32"/>
          <p:cNvSpPr/>
          <p:nvPr/>
        </p:nvSpPr>
        <p:spPr>
          <a:xfrm>
            <a:off x="4117035" y="3638550"/>
            <a:ext cx="364202" cy="369332"/>
          </a:xfrm>
          <a:prstGeom prst="rect">
            <a:avLst/>
          </a:prstGeom>
        </p:spPr>
        <p:txBody>
          <a:bodyPr wrap="none">
            <a:spAutoFit/>
          </a:bodyPr>
          <a:lstStyle/>
          <a:p>
            <a:r>
              <a:rPr lang="en-US" b="1" dirty="0">
                <a:solidFill>
                  <a:schemeClr val="bg1"/>
                </a:solidFill>
                <a:latin typeface="Times New Roman" pitchFamily="18" charset="0"/>
                <a:cs typeface="Times New Roman" pitchFamily="18" charset="0"/>
              </a:rPr>
              <a:t>H</a:t>
            </a:r>
            <a:endParaRPr lang="en-US" dirty="0">
              <a:solidFill>
                <a:schemeClr val="bg1"/>
              </a:solidFill>
            </a:endParaRPr>
          </a:p>
        </p:txBody>
      </p:sp>
      <p:sp>
        <p:nvSpPr>
          <p:cNvPr id="34" name="Rectangle 33"/>
          <p:cNvSpPr/>
          <p:nvPr/>
        </p:nvSpPr>
        <p:spPr>
          <a:xfrm>
            <a:off x="4675835" y="3613666"/>
            <a:ext cx="364202" cy="369332"/>
          </a:xfrm>
          <a:prstGeom prst="rect">
            <a:avLst/>
          </a:prstGeom>
        </p:spPr>
        <p:txBody>
          <a:bodyPr wrap="none">
            <a:spAutoFit/>
          </a:bodyPr>
          <a:lstStyle/>
          <a:p>
            <a:r>
              <a:rPr lang="en-US" b="1" dirty="0" smtClean="0">
                <a:solidFill>
                  <a:schemeClr val="bg1"/>
                </a:solidFill>
                <a:latin typeface="Times New Roman" pitchFamily="18" charset="0"/>
                <a:cs typeface="Times New Roman" pitchFamily="18" charset="0"/>
              </a:rPr>
              <a:t>G</a:t>
            </a:r>
            <a:endParaRPr lang="en-US" dirty="0">
              <a:solidFill>
                <a:schemeClr val="bg1"/>
              </a:solidFill>
            </a:endParaRPr>
          </a:p>
        </p:txBody>
      </p:sp>
      <p:sp>
        <p:nvSpPr>
          <p:cNvPr id="36" name="Rectangle 35"/>
          <p:cNvSpPr/>
          <p:nvPr/>
        </p:nvSpPr>
        <p:spPr>
          <a:xfrm>
            <a:off x="1219200" y="1123950"/>
            <a:ext cx="76581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b="1" dirty="0">
                <a:latin typeface="Times New Roman" pitchFamily="18" charset="0"/>
                <a:cs typeface="Times New Roman" pitchFamily="18" charset="0"/>
              </a:rPr>
              <a:t>C is to the immediate right of </a:t>
            </a:r>
            <a:r>
              <a:rPr lang="en-US" sz="2000" b="1" dirty="0" smtClean="0">
                <a:latin typeface="Times New Roman" pitchFamily="18" charset="0"/>
                <a:cs typeface="Times New Roman" pitchFamily="18" charset="0"/>
              </a:rPr>
              <a:t>D and </a:t>
            </a:r>
            <a:r>
              <a:rPr lang="en-US" sz="2000" b="1" dirty="0">
                <a:latin typeface="Times New Roman" pitchFamily="18" charset="0"/>
                <a:cs typeface="Times New Roman" pitchFamily="18" charset="0"/>
              </a:rPr>
              <a:t>at the third place to the right of </a:t>
            </a:r>
            <a:endParaRPr lang="en-US" sz="2000" dirty="0"/>
          </a:p>
        </p:txBody>
      </p:sp>
      <p:sp>
        <p:nvSpPr>
          <p:cNvPr id="38" name="Rectangle 37"/>
          <p:cNvSpPr/>
          <p:nvPr/>
        </p:nvSpPr>
        <p:spPr>
          <a:xfrm>
            <a:off x="639222" y="3638550"/>
            <a:ext cx="338554" cy="369332"/>
          </a:xfrm>
          <a:prstGeom prst="rect">
            <a:avLst/>
          </a:prstGeom>
        </p:spPr>
        <p:txBody>
          <a:bodyPr wrap="none">
            <a:spAutoFit/>
          </a:bodyPr>
          <a:lstStyle/>
          <a:p>
            <a:r>
              <a:rPr lang="en-US" b="1" dirty="0">
                <a:solidFill>
                  <a:schemeClr val="bg1"/>
                </a:solidFill>
                <a:latin typeface="Times New Roman" pitchFamily="18" charset="0"/>
                <a:cs typeface="Times New Roman" pitchFamily="18" charset="0"/>
              </a:rPr>
              <a:t>E</a:t>
            </a:r>
            <a:endParaRPr lang="en-US" dirty="0">
              <a:solidFill>
                <a:schemeClr val="bg1"/>
              </a:solidFill>
            </a:endParaRPr>
          </a:p>
        </p:txBody>
      </p:sp>
      <p:sp>
        <p:nvSpPr>
          <p:cNvPr id="39" name="Rectangle 38"/>
          <p:cNvSpPr/>
          <p:nvPr/>
        </p:nvSpPr>
        <p:spPr>
          <a:xfrm>
            <a:off x="1236246" y="3651250"/>
            <a:ext cx="274434" cy="369332"/>
          </a:xfrm>
          <a:prstGeom prst="rect">
            <a:avLst/>
          </a:prstGeom>
        </p:spPr>
        <p:txBody>
          <a:bodyPr wrap="none">
            <a:spAutoFit/>
          </a:bodyPr>
          <a:lstStyle/>
          <a:p>
            <a:r>
              <a:rPr lang="en-US" b="1" dirty="0" smtClean="0">
                <a:solidFill>
                  <a:schemeClr val="bg1"/>
                </a:solidFill>
                <a:latin typeface="Times New Roman" pitchFamily="18" charset="0"/>
                <a:cs typeface="Times New Roman" pitchFamily="18" charset="0"/>
              </a:rPr>
              <a:t>I</a:t>
            </a:r>
            <a:endParaRPr lang="en-US" dirty="0">
              <a:solidFill>
                <a:schemeClr val="bg1"/>
              </a:solidFill>
            </a:endParaRPr>
          </a:p>
        </p:txBody>
      </p:sp>
      <p:sp>
        <p:nvSpPr>
          <p:cNvPr id="40" name="Rectangle 39"/>
          <p:cNvSpPr/>
          <p:nvPr/>
        </p:nvSpPr>
        <p:spPr>
          <a:xfrm>
            <a:off x="1803400" y="3644384"/>
            <a:ext cx="351378" cy="369332"/>
          </a:xfrm>
          <a:prstGeom prst="rect">
            <a:avLst/>
          </a:prstGeom>
        </p:spPr>
        <p:txBody>
          <a:bodyPr wrap="none">
            <a:spAutoFit/>
          </a:bodyPr>
          <a:lstStyle/>
          <a:p>
            <a:r>
              <a:rPr lang="en-US" b="1" dirty="0" smtClean="0">
                <a:solidFill>
                  <a:schemeClr val="bg1"/>
                </a:solidFill>
                <a:latin typeface="Times New Roman" pitchFamily="18" charset="0"/>
                <a:cs typeface="Times New Roman" pitchFamily="18" charset="0"/>
              </a:rPr>
              <a:t>D</a:t>
            </a:r>
            <a:endParaRPr lang="en-US" dirty="0">
              <a:solidFill>
                <a:schemeClr val="bg1"/>
              </a:solidFill>
            </a:endParaRPr>
          </a:p>
        </p:txBody>
      </p:sp>
      <p:sp>
        <p:nvSpPr>
          <p:cNvPr id="41" name="Rectangle 40"/>
          <p:cNvSpPr/>
          <p:nvPr/>
        </p:nvSpPr>
        <p:spPr>
          <a:xfrm>
            <a:off x="2388537" y="3651250"/>
            <a:ext cx="351378" cy="369332"/>
          </a:xfrm>
          <a:prstGeom prst="rect">
            <a:avLst/>
          </a:prstGeom>
        </p:spPr>
        <p:txBody>
          <a:bodyPr wrap="none">
            <a:spAutoFit/>
          </a:bodyPr>
          <a:lstStyle/>
          <a:p>
            <a:r>
              <a:rPr lang="en-US" b="1" dirty="0" smtClean="0">
                <a:solidFill>
                  <a:schemeClr val="bg1"/>
                </a:solidFill>
                <a:latin typeface="Times New Roman" pitchFamily="18" charset="0"/>
                <a:cs typeface="Times New Roman" pitchFamily="18" charset="0"/>
              </a:rPr>
              <a:t>C</a:t>
            </a:r>
            <a:endParaRPr lang="en-US" dirty="0">
              <a:solidFill>
                <a:schemeClr val="bg1"/>
              </a:solidFill>
            </a:endParaRPr>
          </a:p>
        </p:txBody>
      </p:sp>
      <p:sp>
        <p:nvSpPr>
          <p:cNvPr id="42" name="Rectangle 41"/>
          <p:cNvSpPr/>
          <p:nvPr/>
        </p:nvSpPr>
        <p:spPr>
          <a:xfrm>
            <a:off x="660400" y="2584966"/>
            <a:ext cx="4352666" cy="400110"/>
          </a:xfrm>
          <a:prstGeom prst="rect">
            <a:avLst/>
          </a:prstGeom>
        </p:spPr>
        <p:txBody>
          <a:bodyPr wrap="none">
            <a:spAutoFit/>
          </a:bodyPr>
          <a:lstStyle/>
          <a:p>
            <a:r>
              <a:rPr lang="en-US" sz="2000" b="1" dirty="0">
                <a:latin typeface="Times New Roman" pitchFamily="18" charset="0"/>
                <a:cs typeface="Times New Roman" pitchFamily="18" charset="0"/>
              </a:rPr>
              <a:t>E is at the end of the row along with B</a:t>
            </a:r>
          </a:p>
        </p:txBody>
      </p:sp>
      <p:sp>
        <p:nvSpPr>
          <p:cNvPr id="43" name="Rectangle 42"/>
          <p:cNvSpPr/>
          <p:nvPr/>
        </p:nvSpPr>
        <p:spPr>
          <a:xfrm>
            <a:off x="617272" y="2957394"/>
            <a:ext cx="5609292" cy="369332"/>
          </a:xfrm>
          <a:prstGeom prst="rect">
            <a:avLst/>
          </a:prstGeom>
        </p:spPr>
        <p:txBody>
          <a:bodyPr wrap="none">
            <a:spAutoFit/>
          </a:bodyPr>
          <a:lstStyle/>
          <a:p>
            <a:r>
              <a:rPr lang="en-US" b="1" dirty="0" smtClean="0">
                <a:latin typeface="Times New Roman" pitchFamily="18" charset="0"/>
                <a:cs typeface="Times New Roman" pitchFamily="18" charset="0"/>
              </a:rPr>
              <a:t>Position </a:t>
            </a:r>
            <a:r>
              <a:rPr lang="en-US" b="1" dirty="0">
                <a:latin typeface="Times New Roman" pitchFamily="18" charset="0"/>
                <a:cs typeface="Times New Roman" pitchFamily="18" charset="0"/>
              </a:rPr>
              <a:t>of F with respect to </a:t>
            </a:r>
            <a:r>
              <a:rPr lang="en-US" b="1" dirty="0" smtClean="0">
                <a:latin typeface="Times New Roman" pitchFamily="18" charset="0"/>
                <a:cs typeface="Times New Roman" pitchFamily="18" charset="0"/>
              </a:rPr>
              <a:t>D is third to the right of D.</a:t>
            </a:r>
            <a:endParaRPr lang="en-US" dirty="0"/>
          </a:p>
        </p:txBody>
      </p:sp>
      <p:sp>
        <p:nvSpPr>
          <p:cNvPr id="35" name="Rectangle 34"/>
          <p:cNvSpPr/>
          <p:nvPr/>
        </p:nvSpPr>
        <p:spPr>
          <a:xfrm>
            <a:off x="243638" y="531515"/>
            <a:ext cx="16002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b="1" dirty="0">
                <a:solidFill>
                  <a:srgbClr val="FF0000"/>
                </a:solidFill>
                <a:latin typeface="Times New Roman" pitchFamily="18" charset="0"/>
                <a:cs typeface="Times New Roman" pitchFamily="18" charset="0"/>
              </a:rPr>
              <a:t>Nine persons</a:t>
            </a:r>
            <a:endParaRPr lang="en-US" sz="2000" dirty="0"/>
          </a:p>
        </p:txBody>
      </p:sp>
    </p:spTree>
    <p:extLst>
      <p:ext uri="{BB962C8B-B14F-4D97-AF65-F5344CB8AC3E}">
        <p14:creationId xmlns:p14="http://schemas.microsoft.com/office/powerpoint/2010/main" val="174765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left)">
                                      <p:cBhvr>
                                        <p:cTn id="24" dur="500"/>
                                        <p:tgtEl>
                                          <p:spTgt spid="1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childTnLst>
                          </p:cTn>
                        </p:par>
                        <p:par>
                          <p:cTn id="37" fill="hold">
                            <p:stCondLst>
                              <p:cond delay="3500"/>
                            </p:stCondLst>
                            <p:childTnLst>
                              <p:par>
                                <p:cTn id="38" presetID="22" presetClass="entr" presetSubtype="8"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left)">
                                      <p:cBhvr>
                                        <p:cTn id="40" dur="500"/>
                                        <p:tgtEl>
                                          <p:spTgt spid="23"/>
                                        </p:tgtEl>
                                      </p:cBhvr>
                                    </p:animEffect>
                                  </p:childTnLst>
                                </p:cTn>
                              </p:par>
                            </p:childTnLst>
                          </p:cTn>
                        </p:par>
                        <p:par>
                          <p:cTn id="41" fill="hold">
                            <p:stCondLst>
                              <p:cond delay="4000"/>
                            </p:stCondLst>
                            <p:childTnLst>
                              <p:par>
                                <p:cTn id="42" presetID="22" presetClass="entr" presetSubtype="8"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left)">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left)">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wipe(left)">
                                      <p:cBhvr>
                                        <p:cTn id="64"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wipe(left)">
                                      <p:cBhvr>
                                        <p:cTn id="69" dur="500"/>
                                        <p:tgtEl>
                                          <p:spTgt spid="2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wipe(left)">
                                      <p:cBhvr>
                                        <p:cTn id="74" dur="500"/>
                                        <p:tgtEl>
                                          <p:spTgt spid="32"/>
                                        </p:tgtEl>
                                      </p:cBhvr>
                                    </p:animEffec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wipe(left)">
                                      <p:cBhvr>
                                        <p:cTn id="79" dur="500"/>
                                        <p:tgtEl>
                                          <p:spTgt spid="33"/>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wipe(left)">
                                      <p:cBhvr>
                                        <p:cTn id="84" dur="500"/>
                                        <p:tgtEl>
                                          <p:spTgt spid="34"/>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wipe(left)">
                                      <p:cBhvr>
                                        <p:cTn id="89" dur="500"/>
                                        <p:tgtEl>
                                          <p:spTgt spid="36"/>
                                        </p:tgtEl>
                                      </p:cBhvr>
                                    </p:animEffec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wipe(left)">
                                      <p:cBhvr>
                                        <p:cTn id="94" dur="500"/>
                                        <p:tgtEl>
                                          <p:spTgt spid="38"/>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wipe(left)">
                                      <p:cBhvr>
                                        <p:cTn id="99" dur="500"/>
                                        <p:tgtEl>
                                          <p:spTgt spid="41"/>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wipe(left)">
                                      <p:cBhvr>
                                        <p:cTn id="104" dur="500"/>
                                        <p:tgtEl>
                                          <p:spTgt spid="40"/>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wipe(left)">
                                      <p:cBhvr>
                                        <p:cTn id="109" dur="500"/>
                                        <p:tgtEl>
                                          <p:spTgt spid="39"/>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wipe(left)">
                                      <p:cBhvr>
                                        <p:cTn id="114" dur="500"/>
                                        <p:tgtEl>
                                          <p:spTgt spid="42"/>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wipe(left)">
                                      <p:cBhvr>
                                        <p:cTn id="11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p:bldP spid="27" grpId="0" animBg="1"/>
      <p:bldP spid="29" grpId="0"/>
      <p:bldP spid="33" grpId="0"/>
      <p:bldP spid="34" grpId="0"/>
      <p:bldP spid="36" grpId="0" animBg="1"/>
      <p:bldP spid="38" grpId="0"/>
      <p:bldP spid="39" grpId="0"/>
      <p:bldP spid="40" grpId="0"/>
      <p:bldP spid="41" grpId="0"/>
      <p:bldP spid="42" grpId="0"/>
      <p:bldP spid="43" grpId="0"/>
      <p:bldP spid="3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590550"/>
            <a:ext cx="8839200" cy="2031325"/>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A, B and C are three boys while R, S and T are three girls. They are sitting such that the boys are facing the girls.</a:t>
            </a:r>
          </a:p>
          <a:p>
            <a:r>
              <a:rPr lang="en-US" b="1" dirty="0">
                <a:solidFill>
                  <a:srgbClr val="FF0000"/>
                </a:solidFill>
                <a:latin typeface="Times New Roman" pitchFamily="18" charset="0"/>
                <a:cs typeface="Times New Roman" pitchFamily="18" charset="0"/>
              </a:rPr>
              <a:t>A and R are diagonally opposite to each other.</a:t>
            </a:r>
          </a:p>
          <a:p>
            <a:r>
              <a:rPr lang="en-US" b="1" dirty="0">
                <a:solidFill>
                  <a:srgbClr val="FF0000"/>
                </a:solidFill>
                <a:latin typeface="Times New Roman" pitchFamily="18" charset="0"/>
                <a:cs typeface="Times New Roman" pitchFamily="18" charset="0"/>
              </a:rPr>
              <a:t>C is not sitting at any of the ends.</a:t>
            </a:r>
          </a:p>
          <a:p>
            <a:r>
              <a:rPr lang="en-US" b="1" dirty="0">
                <a:solidFill>
                  <a:srgbClr val="FF0000"/>
                </a:solidFill>
                <a:latin typeface="Times New Roman" pitchFamily="18" charset="0"/>
                <a:cs typeface="Times New Roman" pitchFamily="18" charset="0"/>
              </a:rPr>
              <a:t>T is left to R but opposite to C.</a:t>
            </a:r>
          </a:p>
          <a:p>
            <a:r>
              <a:rPr lang="en-US" b="1" dirty="0">
                <a:solidFill>
                  <a:srgbClr val="FF0000"/>
                </a:solidFill>
                <a:latin typeface="Times New Roman" pitchFamily="18" charset="0"/>
                <a:cs typeface="Times New Roman" pitchFamily="18" charset="0"/>
              </a:rPr>
              <a:t>(A). Who is sitting opposite to B ?</a:t>
            </a:r>
          </a:p>
          <a:p>
            <a:r>
              <a:rPr lang="en-US" b="1" dirty="0">
                <a:solidFill>
                  <a:srgbClr val="FF0000"/>
                </a:solidFill>
                <a:latin typeface="Times New Roman" pitchFamily="18" charset="0"/>
                <a:cs typeface="Times New Roman" pitchFamily="18" charset="0"/>
              </a:rPr>
              <a:t>(B). Who is sitting diagonally opposite to B ?</a:t>
            </a:r>
          </a:p>
        </p:txBody>
      </p:sp>
      <p:sp>
        <p:nvSpPr>
          <p:cNvPr id="5" name="Rectangle 4"/>
          <p:cNvSpPr/>
          <p:nvPr/>
        </p:nvSpPr>
        <p:spPr>
          <a:xfrm>
            <a:off x="1905000" y="3257550"/>
            <a:ext cx="5105400" cy="685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grpSp>
        <p:nvGrpSpPr>
          <p:cNvPr id="18" name="Group 17"/>
          <p:cNvGrpSpPr/>
          <p:nvPr/>
        </p:nvGrpSpPr>
        <p:grpSpPr>
          <a:xfrm>
            <a:off x="1143000" y="2800350"/>
            <a:ext cx="5638800" cy="431284"/>
            <a:chOff x="1143000" y="2800350"/>
            <a:chExt cx="5638800" cy="431284"/>
          </a:xfrm>
        </p:grpSpPr>
        <p:sp>
          <p:nvSpPr>
            <p:cNvPr id="10" name="Rectangle 9"/>
            <p:cNvSpPr/>
            <p:nvPr/>
          </p:nvSpPr>
          <p:spPr>
            <a:xfrm>
              <a:off x="2209800" y="2800350"/>
              <a:ext cx="304800" cy="381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Rectangle 10"/>
            <p:cNvSpPr/>
            <p:nvPr/>
          </p:nvSpPr>
          <p:spPr>
            <a:xfrm>
              <a:off x="4140200" y="2819400"/>
              <a:ext cx="304800" cy="381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Rectangle 11"/>
            <p:cNvSpPr/>
            <p:nvPr/>
          </p:nvSpPr>
          <p:spPr>
            <a:xfrm>
              <a:off x="6477000" y="2813050"/>
              <a:ext cx="304800" cy="381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Rectangle 15"/>
            <p:cNvSpPr/>
            <p:nvPr/>
          </p:nvSpPr>
          <p:spPr>
            <a:xfrm>
              <a:off x="1143000" y="2862302"/>
              <a:ext cx="633507" cy="369332"/>
            </a:xfrm>
            <a:prstGeom prst="rect">
              <a:avLst/>
            </a:prstGeom>
          </p:spPr>
          <p:txBody>
            <a:bodyPr wrap="none">
              <a:spAutoFit/>
            </a:bodyPr>
            <a:lstStyle/>
            <a:p>
              <a:r>
                <a:rPr lang="en-US" b="1" dirty="0">
                  <a:latin typeface="Times New Roman" pitchFamily="18" charset="0"/>
                  <a:cs typeface="Times New Roman" pitchFamily="18" charset="0"/>
                </a:rPr>
                <a:t>boys</a:t>
              </a:r>
              <a:endParaRPr lang="en-US" dirty="0"/>
            </a:p>
          </p:txBody>
        </p:sp>
      </p:grpSp>
      <p:grpSp>
        <p:nvGrpSpPr>
          <p:cNvPr id="19" name="Group 18"/>
          <p:cNvGrpSpPr/>
          <p:nvPr/>
        </p:nvGrpSpPr>
        <p:grpSpPr>
          <a:xfrm>
            <a:off x="1181224" y="4019550"/>
            <a:ext cx="5600576" cy="400050"/>
            <a:chOff x="1181224" y="4019550"/>
            <a:chExt cx="5600576" cy="400050"/>
          </a:xfrm>
        </p:grpSpPr>
        <p:sp>
          <p:nvSpPr>
            <p:cNvPr id="13" name="Rectangle 12"/>
            <p:cNvSpPr/>
            <p:nvPr/>
          </p:nvSpPr>
          <p:spPr>
            <a:xfrm>
              <a:off x="2209800" y="4019550"/>
              <a:ext cx="304800" cy="381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Rectangle 13"/>
            <p:cNvSpPr/>
            <p:nvPr/>
          </p:nvSpPr>
          <p:spPr>
            <a:xfrm>
              <a:off x="4140200" y="4038600"/>
              <a:ext cx="304800" cy="381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 name="Rectangle 14"/>
            <p:cNvSpPr/>
            <p:nvPr/>
          </p:nvSpPr>
          <p:spPr>
            <a:xfrm>
              <a:off x="6477000" y="4032250"/>
              <a:ext cx="304800" cy="381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Rectangle 16"/>
            <p:cNvSpPr/>
            <p:nvPr/>
          </p:nvSpPr>
          <p:spPr>
            <a:xfrm>
              <a:off x="1181224" y="4038084"/>
              <a:ext cx="620683" cy="369332"/>
            </a:xfrm>
            <a:prstGeom prst="rect">
              <a:avLst/>
            </a:prstGeom>
          </p:spPr>
          <p:txBody>
            <a:bodyPr wrap="none">
              <a:spAutoFit/>
            </a:bodyPr>
            <a:lstStyle/>
            <a:p>
              <a:r>
                <a:rPr lang="en-US" b="1" dirty="0">
                  <a:latin typeface="Times New Roman" pitchFamily="18" charset="0"/>
                  <a:cs typeface="Times New Roman" pitchFamily="18" charset="0"/>
                </a:rPr>
                <a:t>girls</a:t>
              </a:r>
              <a:endParaRPr lang="en-US" dirty="0"/>
            </a:p>
          </p:txBody>
        </p:sp>
      </p:grpSp>
      <p:sp>
        <p:nvSpPr>
          <p:cNvPr id="20" name="Rectangle 19"/>
          <p:cNvSpPr/>
          <p:nvPr/>
        </p:nvSpPr>
        <p:spPr>
          <a:xfrm>
            <a:off x="139700" y="1162050"/>
            <a:ext cx="49530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b="1" dirty="0">
                <a:latin typeface="Times New Roman" pitchFamily="18" charset="0"/>
                <a:cs typeface="Times New Roman" pitchFamily="18" charset="0"/>
              </a:rPr>
              <a:t>A and R are diagonally opposite to each other.</a:t>
            </a:r>
            <a:endParaRPr lang="en-US" dirty="0"/>
          </a:p>
        </p:txBody>
      </p:sp>
      <p:sp>
        <p:nvSpPr>
          <p:cNvPr id="21" name="Rectangle 20"/>
          <p:cNvSpPr/>
          <p:nvPr/>
        </p:nvSpPr>
        <p:spPr>
          <a:xfrm>
            <a:off x="2186511" y="2806184"/>
            <a:ext cx="351378" cy="369332"/>
          </a:xfrm>
          <a:prstGeom prst="rect">
            <a:avLst/>
          </a:prstGeom>
        </p:spPr>
        <p:txBody>
          <a:bodyPr wrap="none">
            <a:spAutoFit/>
          </a:bodyPr>
          <a:lstStyle/>
          <a:p>
            <a:r>
              <a:rPr lang="en-US" b="1" dirty="0">
                <a:solidFill>
                  <a:schemeClr val="bg1"/>
                </a:solidFill>
                <a:latin typeface="Times New Roman" pitchFamily="18" charset="0"/>
                <a:cs typeface="Times New Roman" pitchFamily="18" charset="0"/>
              </a:rPr>
              <a:t>A</a:t>
            </a:r>
            <a:endParaRPr lang="en-US" dirty="0">
              <a:solidFill>
                <a:schemeClr val="bg1"/>
              </a:solidFill>
            </a:endParaRPr>
          </a:p>
        </p:txBody>
      </p:sp>
      <p:sp>
        <p:nvSpPr>
          <p:cNvPr id="22" name="Rectangle 21"/>
          <p:cNvSpPr/>
          <p:nvPr/>
        </p:nvSpPr>
        <p:spPr>
          <a:xfrm>
            <a:off x="6430422" y="4038084"/>
            <a:ext cx="351378" cy="369332"/>
          </a:xfrm>
          <a:prstGeom prst="rect">
            <a:avLst/>
          </a:prstGeom>
        </p:spPr>
        <p:txBody>
          <a:bodyPr wrap="none">
            <a:spAutoFit/>
          </a:bodyPr>
          <a:lstStyle/>
          <a:p>
            <a:r>
              <a:rPr lang="en-US" b="1" dirty="0" smtClean="0">
                <a:solidFill>
                  <a:schemeClr val="bg1"/>
                </a:solidFill>
                <a:latin typeface="Times New Roman" pitchFamily="18" charset="0"/>
                <a:cs typeface="Times New Roman" pitchFamily="18" charset="0"/>
              </a:rPr>
              <a:t>R</a:t>
            </a:r>
            <a:endParaRPr lang="en-US" dirty="0">
              <a:solidFill>
                <a:schemeClr val="bg1"/>
              </a:solidFill>
            </a:endParaRPr>
          </a:p>
        </p:txBody>
      </p:sp>
      <p:sp>
        <p:nvSpPr>
          <p:cNvPr id="23" name="Rectangle 22"/>
          <p:cNvSpPr/>
          <p:nvPr/>
        </p:nvSpPr>
        <p:spPr>
          <a:xfrm>
            <a:off x="152400" y="1421546"/>
            <a:ext cx="3461204"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latin typeface="Times New Roman" pitchFamily="18" charset="0"/>
                <a:cs typeface="Times New Roman" pitchFamily="18" charset="0"/>
              </a:rPr>
              <a:t>C is not sitting at any of the ends.</a:t>
            </a:r>
          </a:p>
        </p:txBody>
      </p:sp>
      <p:sp>
        <p:nvSpPr>
          <p:cNvPr id="24" name="Rectangle 23"/>
          <p:cNvSpPr/>
          <p:nvPr/>
        </p:nvSpPr>
        <p:spPr>
          <a:xfrm>
            <a:off x="4093622" y="2818884"/>
            <a:ext cx="351378" cy="369332"/>
          </a:xfrm>
          <a:prstGeom prst="rect">
            <a:avLst/>
          </a:prstGeom>
        </p:spPr>
        <p:txBody>
          <a:bodyPr wrap="none">
            <a:spAutoFit/>
          </a:bodyPr>
          <a:lstStyle/>
          <a:p>
            <a:r>
              <a:rPr lang="en-US" b="1" dirty="0" smtClean="0">
                <a:solidFill>
                  <a:schemeClr val="bg1"/>
                </a:solidFill>
                <a:latin typeface="Times New Roman" pitchFamily="18" charset="0"/>
                <a:cs typeface="Times New Roman" pitchFamily="18" charset="0"/>
              </a:rPr>
              <a:t>C</a:t>
            </a:r>
            <a:endParaRPr lang="en-US" dirty="0">
              <a:solidFill>
                <a:schemeClr val="bg1"/>
              </a:solidFill>
            </a:endParaRPr>
          </a:p>
        </p:txBody>
      </p:sp>
      <p:sp>
        <p:nvSpPr>
          <p:cNvPr id="25" name="Rectangle 24"/>
          <p:cNvSpPr/>
          <p:nvPr/>
        </p:nvSpPr>
        <p:spPr>
          <a:xfrm>
            <a:off x="6453711" y="2806184"/>
            <a:ext cx="338554" cy="369332"/>
          </a:xfrm>
          <a:prstGeom prst="rect">
            <a:avLst/>
          </a:prstGeom>
        </p:spPr>
        <p:txBody>
          <a:bodyPr wrap="none">
            <a:spAutoFit/>
          </a:bodyPr>
          <a:lstStyle/>
          <a:p>
            <a:r>
              <a:rPr lang="en-US" b="1" dirty="0">
                <a:solidFill>
                  <a:schemeClr val="bg1"/>
                </a:solidFill>
                <a:latin typeface="Times New Roman" pitchFamily="18" charset="0"/>
                <a:cs typeface="Times New Roman" pitchFamily="18" charset="0"/>
              </a:rPr>
              <a:t>B</a:t>
            </a:r>
            <a:endParaRPr lang="en-US" dirty="0">
              <a:solidFill>
                <a:schemeClr val="bg1"/>
              </a:solidFill>
            </a:endParaRPr>
          </a:p>
        </p:txBody>
      </p:sp>
      <p:sp>
        <p:nvSpPr>
          <p:cNvPr id="26" name="Rectangle 25"/>
          <p:cNvSpPr/>
          <p:nvPr/>
        </p:nvSpPr>
        <p:spPr>
          <a:xfrm>
            <a:off x="152400" y="1720850"/>
            <a:ext cx="3142848"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latin typeface="Times New Roman" pitchFamily="18" charset="0"/>
                <a:cs typeface="Times New Roman" pitchFamily="18" charset="0"/>
              </a:rPr>
              <a:t>T is left to R but opposite to C</a:t>
            </a:r>
            <a:endParaRPr lang="en-US" dirty="0"/>
          </a:p>
        </p:txBody>
      </p:sp>
      <p:sp>
        <p:nvSpPr>
          <p:cNvPr id="27" name="Rectangle 26"/>
          <p:cNvSpPr/>
          <p:nvPr/>
        </p:nvSpPr>
        <p:spPr>
          <a:xfrm>
            <a:off x="4106322" y="4038084"/>
            <a:ext cx="338554" cy="369332"/>
          </a:xfrm>
          <a:prstGeom prst="rect">
            <a:avLst/>
          </a:prstGeom>
        </p:spPr>
        <p:txBody>
          <a:bodyPr wrap="none">
            <a:spAutoFit/>
          </a:bodyPr>
          <a:lstStyle/>
          <a:p>
            <a:r>
              <a:rPr lang="en-US" b="1" dirty="0">
                <a:solidFill>
                  <a:schemeClr val="bg1"/>
                </a:solidFill>
                <a:latin typeface="Times New Roman" pitchFamily="18" charset="0"/>
                <a:cs typeface="Times New Roman" pitchFamily="18" charset="0"/>
              </a:rPr>
              <a:t>T</a:t>
            </a:r>
            <a:endParaRPr lang="en-US" dirty="0">
              <a:solidFill>
                <a:schemeClr val="bg1"/>
              </a:solidFill>
            </a:endParaRPr>
          </a:p>
        </p:txBody>
      </p:sp>
      <p:sp>
        <p:nvSpPr>
          <p:cNvPr id="28" name="Rectangle 27"/>
          <p:cNvSpPr/>
          <p:nvPr/>
        </p:nvSpPr>
        <p:spPr>
          <a:xfrm>
            <a:off x="2209800" y="4025384"/>
            <a:ext cx="312906" cy="369332"/>
          </a:xfrm>
          <a:prstGeom prst="rect">
            <a:avLst/>
          </a:prstGeom>
        </p:spPr>
        <p:txBody>
          <a:bodyPr wrap="none">
            <a:spAutoFit/>
          </a:bodyPr>
          <a:lstStyle/>
          <a:p>
            <a:r>
              <a:rPr lang="en-US" b="1" dirty="0" smtClean="0">
                <a:solidFill>
                  <a:schemeClr val="bg1"/>
                </a:solidFill>
                <a:latin typeface="Times New Roman" pitchFamily="18" charset="0"/>
                <a:cs typeface="Times New Roman" pitchFamily="18" charset="0"/>
              </a:rPr>
              <a:t>S</a:t>
            </a:r>
            <a:endParaRPr lang="en-US" dirty="0">
              <a:solidFill>
                <a:schemeClr val="bg1"/>
              </a:solidFill>
            </a:endParaRPr>
          </a:p>
        </p:txBody>
      </p:sp>
      <p:sp>
        <p:nvSpPr>
          <p:cNvPr id="29" name="Rectangle 28"/>
          <p:cNvSpPr/>
          <p:nvPr/>
        </p:nvSpPr>
        <p:spPr>
          <a:xfrm>
            <a:off x="1905000" y="3231118"/>
            <a:ext cx="3801041" cy="369332"/>
          </a:xfrm>
          <a:prstGeom prst="rect">
            <a:avLst/>
          </a:prstGeom>
        </p:spPr>
        <p:txBody>
          <a:bodyPr wrap="none">
            <a:spAutoFit/>
          </a:bodyPr>
          <a:lstStyle/>
          <a:p>
            <a:r>
              <a:rPr lang="en-US" b="1" dirty="0">
                <a:latin typeface="Times New Roman" pitchFamily="18" charset="0"/>
                <a:cs typeface="Times New Roman" pitchFamily="18" charset="0"/>
              </a:rPr>
              <a:t>(A). Hence, R is sitting opposite to B.</a:t>
            </a:r>
          </a:p>
        </p:txBody>
      </p:sp>
      <p:sp>
        <p:nvSpPr>
          <p:cNvPr id="30" name="Rectangle 29"/>
          <p:cNvSpPr/>
          <p:nvPr/>
        </p:nvSpPr>
        <p:spPr>
          <a:xfrm>
            <a:off x="1883002" y="3563719"/>
            <a:ext cx="5279798" cy="369332"/>
          </a:xfrm>
          <a:prstGeom prst="rect">
            <a:avLst/>
          </a:prstGeom>
        </p:spPr>
        <p:txBody>
          <a:bodyPr wrap="square">
            <a:spAutoFit/>
          </a:bodyPr>
          <a:lstStyle/>
          <a:p>
            <a:r>
              <a:rPr lang="en-US" b="1" dirty="0">
                <a:latin typeface="Times New Roman" pitchFamily="18" charset="0"/>
                <a:cs typeface="Times New Roman" pitchFamily="18" charset="0"/>
              </a:rPr>
              <a:t>(B). Hence, S is sitting diagonally opposite to B.</a:t>
            </a:r>
          </a:p>
        </p:txBody>
      </p:sp>
      <p:sp>
        <p:nvSpPr>
          <p:cNvPr id="31" name="Rectangle 30"/>
          <p:cNvSpPr/>
          <p:nvPr/>
        </p:nvSpPr>
        <p:spPr>
          <a:xfrm>
            <a:off x="1524000" y="57150"/>
            <a:ext cx="5673604"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1. Linear Seating Arrangement</a:t>
            </a:r>
          </a:p>
        </p:txBody>
      </p:sp>
    </p:spTree>
    <p:extLst>
      <p:ext uri="{BB962C8B-B14F-4D97-AF65-F5344CB8AC3E}">
        <p14:creationId xmlns:p14="http://schemas.microsoft.com/office/powerpoint/2010/main" val="208907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left)">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wipe(left)">
                                      <p:cBhvr>
                                        <p:cTn id="7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P spid="21" grpId="0"/>
      <p:bldP spid="22" grpId="0"/>
      <p:bldP spid="23" grpId="0" animBg="1"/>
      <p:bldP spid="24" grpId="0"/>
      <p:bldP spid="25" grpId="0"/>
      <p:bldP spid="26" grpId="0" animBg="1"/>
      <p:bldP spid="27" grpId="0"/>
      <p:bldP spid="28" grpId="0"/>
      <p:bldP spid="29" grpId="0"/>
      <p:bldP spid="3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205085"/>
            <a:ext cx="6136873"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2. Circular Seating </a:t>
            </a:r>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Arrangement</a:t>
            </a:r>
          </a:p>
        </p:txBody>
      </p:sp>
      <p:sp>
        <p:nvSpPr>
          <p:cNvPr id="4" name="Rectangle 3"/>
          <p:cNvSpPr/>
          <p:nvPr/>
        </p:nvSpPr>
        <p:spPr>
          <a:xfrm>
            <a:off x="381000" y="895350"/>
            <a:ext cx="8305800" cy="369332"/>
          </a:xfrm>
          <a:prstGeom prst="rect">
            <a:avLst/>
          </a:prstGeom>
        </p:spPr>
        <p:txBody>
          <a:bodyPr wrap="square">
            <a:spAutoFit/>
          </a:bodyPr>
          <a:lstStyle/>
          <a:p>
            <a:r>
              <a:rPr lang="en-US" dirty="0"/>
              <a:t>In this type of </a:t>
            </a:r>
            <a:r>
              <a:rPr lang="en-US" dirty="0" smtClean="0"/>
              <a:t>questions</a:t>
            </a:r>
            <a:r>
              <a:rPr lang="en-US" dirty="0"/>
              <a:t>, people will be seated around a circular table. </a:t>
            </a:r>
          </a:p>
        </p:txBody>
      </p:sp>
      <p:sp>
        <p:nvSpPr>
          <p:cNvPr id="5" name="Rectangle 4"/>
          <p:cNvSpPr/>
          <p:nvPr/>
        </p:nvSpPr>
        <p:spPr>
          <a:xfrm>
            <a:off x="393700" y="1296432"/>
            <a:ext cx="8445500" cy="1200329"/>
          </a:xfrm>
          <a:prstGeom prst="rect">
            <a:avLst/>
          </a:prstGeom>
        </p:spPr>
        <p:txBody>
          <a:bodyPr wrap="square">
            <a:spAutoFit/>
          </a:bodyPr>
          <a:lstStyle/>
          <a:p>
            <a:r>
              <a:rPr lang="en-US" b="1" dirty="0"/>
              <a:t>(a) Circular Unidirectional: </a:t>
            </a:r>
            <a:r>
              <a:rPr lang="en-US" dirty="0"/>
              <a:t>In these type of circular seating arrangement questions, candidates are required to arrange people around a circular table, and everyone will face in the same direction such as either inside or outside. </a:t>
            </a:r>
          </a:p>
        </p:txBody>
      </p:sp>
      <p:sp>
        <p:nvSpPr>
          <p:cNvPr id="12" name="Rectangle 11"/>
          <p:cNvSpPr/>
          <p:nvPr/>
        </p:nvSpPr>
        <p:spPr>
          <a:xfrm>
            <a:off x="393700" y="2496761"/>
            <a:ext cx="8293100" cy="1200329"/>
          </a:xfrm>
          <a:prstGeom prst="rect">
            <a:avLst/>
          </a:prstGeom>
        </p:spPr>
        <p:txBody>
          <a:bodyPr wrap="square">
            <a:spAutoFit/>
          </a:bodyPr>
          <a:lstStyle/>
          <a:p>
            <a:r>
              <a:rPr lang="en-US" b="1" dirty="0"/>
              <a:t>(b) Circular Bidirectional: </a:t>
            </a:r>
            <a:r>
              <a:rPr lang="en-US" dirty="0"/>
              <a:t>In these type of circular seating arrangement questions, candidates are required to arrange people around a circular table, and everyone will face in the same direction such as either inside or outside. </a:t>
            </a:r>
          </a:p>
        </p:txBody>
      </p:sp>
    </p:spTree>
    <p:extLst>
      <p:ext uri="{BB962C8B-B14F-4D97-AF65-F5344CB8AC3E}">
        <p14:creationId xmlns:p14="http://schemas.microsoft.com/office/powerpoint/2010/main" val="119595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1600" y="57150"/>
            <a:ext cx="6136873"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2. Circular Seating </a:t>
            </a:r>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Arrangement</a:t>
            </a:r>
          </a:p>
        </p:txBody>
      </p:sp>
      <p:sp>
        <p:nvSpPr>
          <p:cNvPr id="3" name="Rectangle 2"/>
          <p:cNvSpPr/>
          <p:nvPr/>
        </p:nvSpPr>
        <p:spPr>
          <a:xfrm>
            <a:off x="152400" y="666750"/>
            <a:ext cx="8991600" cy="1477328"/>
          </a:xfrm>
          <a:prstGeom prst="rect">
            <a:avLst/>
          </a:prstGeom>
        </p:spPr>
        <p:txBody>
          <a:bodyPr wrap="square">
            <a:spAutoFit/>
          </a:bodyPr>
          <a:lstStyle/>
          <a:p>
            <a:r>
              <a:rPr lang="en-US" b="1" dirty="0" smtClean="0">
                <a:solidFill>
                  <a:srgbClr val="FF0000"/>
                </a:solidFill>
              </a:rPr>
              <a:t>1. 6 </a:t>
            </a:r>
            <a:r>
              <a:rPr lang="en-US" b="1" dirty="0">
                <a:solidFill>
                  <a:srgbClr val="FF0000"/>
                </a:solidFill>
              </a:rPr>
              <a:t>Boys are sitting in a circle and facing towards the centre of the circle.</a:t>
            </a:r>
          </a:p>
          <a:p>
            <a:r>
              <a:rPr lang="en-US" b="1" dirty="0">
                <a:solidFill>
                  <a:srgbClr val="FF0000"/>
                </a:solidFill>
              </a:rPr>
              <a:t>2</a:t>
            </a:r>
            <a:r>
              <a:rPr lang="en-US" b="1" dirty="0" smtClean="0">
                <a:solidFill>
                  <a:srgbClr val="FF0000"/>
                </a:solidFill>
              </a:rPr>
              <a:t>. Rajeev </a:t>
            </a:r>
            <a:r>
              <a:rPr lang="en-US" b="1" dirty="0">
                <a:solidFill>
                  <a:srgbClr val="FF0000"/>
                </a:solidFill>
              </a:rPr>
              <a:t>is sitting to the right of </a:t>
            </a:r>
            <a:r>
              <a:rPr lang="en-US" b="1" dirty="0" err="1">
                <a:solidFill>
                  <a:srgbClr val="FF0000"/>
                </a:solidFill>
              </a:rPr>
              <a:t>mohan</a:t>
            </a:r>
            <a:r>
              <a:rPr lang="en-US" b="1" dirty="0">
                <a:solidFill>
                  <a:srgbClr val="FF0000"/>
                </a:solidFill>
              </a:rPr>
              <a:t> but he is not just at the left of Vijay.</a:t>
            </a:r>
          </a:p>
          <a:p>
            <a:r>
              <a:rPr lang="en-US" b="1" dirty="0">
                <a:solidFill>
                  <a:srgbClr val="FF0000"/>
                </a:solidFill>
              </a:rPr>
              <a:t>3</a:t>
            </a:r>
            <a:r>
              <a:rPr lang="en-US" b="1" dirty="0" smtClean="0">
                <a:solidFill>
                  <a:srgbClr val="FF0000"/>
                </a:solidFill>
              </a:rPr>
              <a:t>. Suresh </a:t>
            </a:r>
            <a:r>
              <a:rPr lang="en-US" b="1" dirty="0">
                <a:solidFill>
                  <a:srgbClr val="FF0000"/>
                </a:solidFill>
              </a:rPr>
              <a:t>is between </a:t>
            </a:r>
            <a:r>
              <a:rPr lang="en-US" b="1" dirty="0" err="1">
                <a:solidFill>
                  <a:srgbClr val="FF0000"/>
                </a:solidFill>
              </a:rPr>
              <a:t>Babu</a:t>
            </a:r>
            <a:r>
              <a:rPr lang="en-US" b="1" dirty="0">
                <a:solidFill>
                  <a:srgbClr val="FF0000"/>
                </a:solidFill>
              </a:rPr>
              <a:t> and Vijay.</a:t>
            </a:r>
          </a:p>
          <a:p>
            <a:r>
              <a:rPr lang="en-US" b="1" dirty="0">
                <a:solidFill>
                  <a:srgbClr val="FF0000"/>
                </a:solidFill>
              </a:rPr>
              <a:t>4</a:t>
            </a:r>
            <a:r>
              <a:rPr lang="en-US" b="1" dirty="0" smtClean="0">
                <a:solidFill>
                  <a:srgbClr val="FF0000"/>
                </a:solidFill>
              </a:rPr>
              <a:t>. Ajay </a:t>
            </a:r>
            <a:r>
              <a:rPr lang="en-US" b="1" dirty="0">
                <a:solidFill>
                  <a:srgbClr val="FF0000"/>
                </a:solidFill>
              </a:rPr>
              <a:t>is sitting to the left of Vijay.</a:t>
            </a:r>
          </a:p>
          <a:p>
            <a:r>
              <a:rPr lang="en-US" b="1" dirty="0">
                <a:solidFill>
                  <a:srgbClr val="FF0000"/>
                </a:solidFill>
              </a:rPr>
              <a:t>Who is sitting to the left of Mohan ?</a:t>
            </a:r>
          </a:p>
        </p:txBody>
      </p:sp>
      <p:grpSp>
        <p:nvGrpSpPr>
          <p:cNvPr id="38" name="Group 37"/>
          <p:cNvGrpSpPr/>
          <p:nvPr/>
        </p:nvGrpSpPr>
        <p:grpSpPr>
          <a:xfrm>
            <a:off x="2895600" y="2266950"/>
            <a:ext cx="2171700" cy="2247900"/>
            <a:chOff x="2895600" y="2266950"/>
            <a:chExt cx="2171700" cy="2247900"/>
          </a:xfrm>
        </p:grpSpPr>
        <p:sp>
          <p:nvSpPr>
            <p:cNvPr id="6" name="Oval 5"/>
            <p:cNvSpPr/>
            <p:nvPr/>
          </p:nvSpPr>
          <p:spPr>
            <a:xfrm>
              <a:off x="2895600" y="2343150"/>
              <a:ext cx="2133600" cy="205740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9" name="Straight Connector 8"/>
            <p:cNvCxnSpPr/>
            <p:nvPr/>
          </p:nvCxnSpPr>
          <p:spPr>
            <a:xfrm flipH="1">
              <a:off x="28956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49149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962400" y="428625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flipV="1">
              <a:off x="3048000" y="27241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3962400" y="2266950"/>
              <a:ext cx="0" cy="18311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V="1">
              <a:off x="4800600" y="2823090"/>
              <a:ext cx="228600" cy="129660"/>
            </a:xfrm>
            <a:prstGeom prst="line">
              <a:avLst/>
            </a:prstGeom>
          </p:spPr>
          <p:style>
            <a:lnRef idx="2">
              <a:schemeClr val="accent1"/>
            </a:lnRef>
            <a:fillRef idx="0">
              <a:schemeClr val="accent1"/>
            </a:fillRef>
            <a:effectRef idx="1">
              <a:schemeClr val="accent1"/>
            </a:effectRef>
            <a:fontRef idx="minor">
              <a:schemeClr val="tx1"/>
            </a:fontRef>
          </p:style>
        </p:cxnSp>
      </p:grpSp>
      <p:sp>
        <p:nvSpPr>
          <p:cNvPr id="39" name="Rectangle 38"/>
          <p:cNvSpPr/>
          <p:nvPr/>
        </p:nvSpPr>
        <p:spPr>
          <a:xfrm>
            <a:off x="457200" y="946150"/>
            <a:ext cx="4434227"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t>Rajeev is sitting to the right of </a:t>
            </a:r>
            <a:r>
              <a:rPr lang="en-US" b="1" dirty="0" err="1"/>
              <a:t>mohan</a:t>
            </a:r>
            <a:endParaRPr lang="en-US" b="1" dirty="0"/>
          </a:p>
        </p:txBody>
      </p:sp>
      <p:sp>
        <p:nvSpPr>
          <p:cNvPr id="40" name="Rectangle 39"/>
          <p:cNvSpPr/>
          <p:nvPr/>
        </p:nvSpPr>
        <p:spPr>
          <a:xfrm>
            <a:off x="3665982" y="4527034"/>
            <a:ext cx="906017" cy="369332"/>
          </a:xfrm>
          <a:prstGeom prst="rect">
            <a:avLst/>
          </a:prstGeom>
        </p:spPr>
        <p:txBody>
          <a:bodyPr wrap="none">
            <a:spAutoFit/>
          </a:bodyPr>
          <a:lstStyle/>
          <a:p>
            <a:r>
              <a:rPr lang="en-US" b="1" dirty="0"/>
              <a:t>Rajeev</a:t>
            </a:r>
            <a:endParaRPr lang="en-US" dirty="0"/>
          </a:p>
        </p:txBody>
      </p:sp>
      <p:sp>
        <p:nvSpPr>
          <p:cNvPr id="41" name="Rectangle 40"/>
          <p:cNvSpPr/>
          <p:nvPr/>
        </p:nvSpPr>
        <p:spPr>
          <a:xfrm>
            <a:off x="1828800" y="3726934"/>
            <a:ext cx="957313" cy="369332"/>
          </a:xfrm>
          <a:prstGeom prst="rect">
            <a:avLst/>
          </a:prstGeom>
        </p:spPr>
        <p:txBody>
          <a:bodyPr wrap="none">
            <a:spAutoFit/>
          </a:bodyPr>
          <a:lstStyle/>
          <a:p>
            <a:r>
              <a:rPr lang="en-US" b="1" dirty="0" err="1"/>
              <a:t>mohan</a:t>
            </a:r>
            <a:endParaRPr lang="en-US" b="1" dirty="0"/>
          </a:p>
        </p:txBody>
      </p:sp>
      <p:sp>
        <p:nvSpPr>
          <p:cNvPr id="42" name="Rectangle 41"/>
          <p:cNvSpPr/>
          <p:nvPr/>
        </p:nvSpPr>
        <p:spPr>
          <a:xfrm>
            <a:off x="457200" y="1249918"/>
            <a:ext cx="3929281"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t>Suresh is between </a:t>
            </a:r>
            <a:r>
              <a:rPr lang="en-US" b="1" dirty="0" err="1"/>
              <a:t>Babu</a:t>
            </a:r>
            <a:r>
              <a:rPr lang="en-US" b="1" dirty="0"/>
              <a:t> and Vijay</a:t>
            </a:r>
          </a:p>
        </p:txBody>
      </p:sp>
      <p:sp>
        <p:nvSpPr>
          <p:cNvPr id="43" name="Rectangle 42"/>
          <p:cNvSpPr/>
          <p:nvPr/>
        </p:nvSpPr>
        <p:spPr>
          <a:xfrm>
            <a:off x="3639591" y="1959412"/>
            <a:ext cx="1008609" cy="369332"/>
          </a:xfrm>
          <a:prstGeom prst="rect">
            <a:avLst/>
          </a:prstGeom>
        </p:spPr>
        <p:txBody>
          <a:bodyPr wrap="none">
            <a:spAutoFit/>
          </a:bodyPr>
          <a:lstStyle/>
          <a:p>
            <a:r>
              <a:rPr lang="en-US" b="1" dirty="0"/>
              <a:t>Suresh </a:t>
            </a:r>
            <a:endParaRPr lang="en-US" dirty="0"/>
          </a:p>
        </p:txBody>
      </p:sp>
      <p:sp>
        <p:nvSpPr>
          <p:cNvPr id="44" name="Rectangle 43"/>
          <p:cNvSpPr/>
          <p:nvPr/>
        </p:nvSpPr>
        <p:spPr>
          <a:xfrm>
            <a:off x="2307065" y="2361168"/>
            <a:ext cx="734496" cy="369332"/>
          </a:xfrm>
          <a:prstGeom prst="rect">
            <a:avLst/>
          </a:prstGeom>
        </p:spPr>
        <p:txBody>
          <a:bodyPr wrap="none">
            <a:spAutoFit/>
          </a:bodyPr>
          <a:lstStyle/>
          <a:p>
            <a:r>
              <a:rPr lang="en-US" b="1" dirty="0" err="1"/>
              <a:t>Babu</a:t>
            </a:r>
            <a:endParaRPr lang="en-US" dirty="0"/>
          </a:p>
        </p:txBody>
      </p:sp>
      <p:sp>
        <p:nvSpPr>
          <p:cNvPr id="45" name="Rectangle 44"/>
          <p:cNvSpPr/>
          <p:nvPr/>
        </p:nvSpPr>
        <p:spPr>
          <a:xfrm>
            <a:off x="5181600" y="2615684"/>
            <a:ext cx="721672" cy="369332"/>
          </a:xfrm>
          <a:prstGeom prst="rect">
            <a:avLst/>
          </a:prstGeom>
        </p:spPr>
        <p:txBody>
          <a:bodyPr wrap="none">
            <a:spAutoFit/>
          </a:bodyPr>
          <a:lstStyle/>
          <a:p>
            <a:r>
              <a:rPr lang="en-US" b="1" dirty="0"/>
              <a:t>Vijay</a:t>
            </a:r>
          </a:p>
        </p:txBody>
      </p:sp>
      <p:sp>
        <p:nvSpPr>
          <p:cNvPr id="46" name="Rectangle 45"/>
          <p:cNvSpPr/>
          <p:nvPr/>
        </p:nvSpPr>
        <p:spPr>
          <a:xfrm>
            <a:off x="444500" y="1504950"/>
            <a:ext cx="3863558"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t>Ajay is sitting to the left of Vijay.</a:t>
            </a:r>
          </a:p>
        </p:txBody>
      </p:sp>
      <p:sp>
        <p:nvSpPr>
          <p:cNvPr id="47" name="Rectangle 46"/>
          <p:cNvSpPr/>
          <p:nvPr/>
        </p:nvSpPr>
        <p:spPr>
          <a:xfrm>
            <a:off x="5181600" y="3650734"/>
            <a:ext cx="662361" cy="369332"/>
          </a:xfrm>
          <a:prstGeom prst="rect">
            <a:avLst/>
          </a:prstGeom>
        </p:spPr>
        <p:txBody>
          <a:bodyPr wrap="none">
            <a:spAutoFit/>
          </a:bodyPr>
          <a:lstStyle/>
          <a:p>
            <a:r>
              <a:rPr lang="en-US" b="1" dirty="0"/>
              <a:t>Ajay</a:t>
            </a:r>
            <a:endParaRPr lang="en-US" dirty="0"/>
          </a:p>
        </p:txBody>
      </p:sp>
      <p:sp>
        <p:nvSpPr>
          <p:cNvPr id="48" name="Rectangle 47"/>
          <p:cNvSpPr/>
          <p:nvPr/>
        </p:nvSpPr>
        <p:spPr>
          <a:xfrm>
            <a:off x="6251173" y="3631347"/>
            <a:ext cx="2664227" cy="646331"/>
          </a:xfrm>
          <a:prstGeom prst="rect">
            <a:avLst/>
          </a:prstGeom>
        </p:spPr>
        <p:txBody>
          <a:bodyPr wrap="square">
            <a:spAutoFit/>
          </a:bodyPr>
          <a:lstStyle/>
          <a:p>
            <a:r>
              <a:rPr lang="en-US" dirty="0"/>
              <a:t>Hence, </a:t>
            </a:r>
            <a:r>
              <a:rPr lang="en-US" dirty="0" err="1"/>
              <a:t>Babu</a:t>
            </a:r>
            <a:r>
              <a:rPr lang="en-US" dirty="0"/>
              <a:t> is sitting to the left of Mohan.</a:t>
            </a:r>
          </a:p>
        </p:txBody>
      </p:sp>
    </p:spTree>
    <p:extLst>
      <p:ext uri="{BB962C8B-B14F-4D97-AF65-F5344CB8AC3E}">
        <p14:creationId xmlns:p14="http://schemas.microsoft.com/office/powerpoint/2010/main" val="161713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left)">
                                      <p:cBhvr>
                                        <p:cTn id="12" dur="500"/>
                                        <p:tgtEl>
                                          <p:spTgt spid="39"/>
                                        </p:tgtEl>
                                      </p:cBhvr>
                                    </p:animEffect>
                                  </p:childTnLst>
                                  <p:subTnLst>
                                    <p:set>
                                      <p:cBhvr override="childStyle">
                                        <p:cTn dur="1" fill="hold" display="0" masterRel="nextClick" afterEffect="1"/>
                                        <p:tgtEl>
                                          <p:spTgt spid="39"/>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left)">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left)">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left)">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left)">
                                      <p:cBhvr>
                                        <p:cTn id="32" dur="500"/>
                                        <p:tgtEl>
                                          <p:spTgt spid="42"/>
                                        </p:tgtEl>
                                      </p:cBhvr>
                                    </p:animEffect>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wipe(left)">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left)">
                                      <p:cBhvr>
                                        <p:cTn id="47" dur="500"/>
                                        <p:tgtEl>
                                          <p:spTgt spid="46"/>
                                        </p:tgtEl>
                                      </p:cBhvr>
                                    </p:animEffec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wipe(left)">
                                      <p:cBhvr>
                                        <p:cTn id="52" dur="500"/>
                                        <p:tgtEl>
                                          <p:spTgt spid="4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wipe(left)">
                                      <p:cBhvr>
                                        <p:cTn id="5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p:bldP spid="41" grpId="0"/>
      <p:bldP spid="42" grpId="0" animBg="1"/>
      <p:bldP spid="43" grpId="0"/>
      <p:bldP spid="44" grpId="0"/>
      <p:bldP spid="45" grpId="0"/>
      <p:bldP spid="46" grpId="0" animBg="1"/>
      <p:bldP spid="47" grpId="0"/>
      <p:bldP spid="4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611138"/>
            <a:ext cx="8686800" cy="1477328"/>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P, Q, R, S, T, U, V and W are sitting round the circle and are facing the </a:t>
            </a:r>
            <a:r>
              <a:rPr lang="en-US" b="1" dirty="0" smtClean="0">
                <a:solidFill>
                  <a:srgbClr val="FF0000"/>
                </a:solidFill>
                <a:latin typeface="Times New Roman" pitchFamily="18" charset="0"/>
                <a:cs typeface="Times New Roman" pitchFamily="18" charset="0"/>
              </a:rPr>
              <a:t>centre.</a:t>
            </a:r>
          </a:p>
          <a:p>
            <a:r>
              <a:rPr lang="en-US" b="1" dirty="0" smtClean="0">
                <a:solidFill>
                  <a:srgbClr val="FF0000"/>
                </a:solidFill>
                <a:latin typeface="Times New Roman" pitchFamily="18" charset="0"/>
                <a:cs typeface="Times New Roman" pitchFamily="18" charset="0"/>
              </a:rPr>
              <a:t>P </a:t>
            </a:r>
            <a:r>
              <a:rPr lang="en-US" b="1" dirty="0">
                <a:solidFill>
                  <a:srgbClr val="FF0000"/>
                </a:solidFill>
                <a:latin typeface="Times New Roman" pitchFamily="18" charset="0"/>
                <a:cs typeface="Times New Roman" pitchFamily="18" charset="0"/>
              </a:rPr>
              <a:t>is second to the right of T who is the </a:t>
            </a:r>
            <a:r>
              <a:rPr lang="en-US" b="1" dirty="0" err="1" smtClean="0">
                <a:solidFill>
                  <a:srgbClr val="FF0000"/>
                </a:solidFill>
                <a:latin typeface="Times New Roman" pitchFamily="18" charset="0"/>
                <a:cs typeface="Times New Roman" pitchFamily="18" charset="0"/>
              </a:rPr>
              <a:t>neighbour</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of R and V.</a:t>
            </a:r>
          </a:p>
          <a:p>
            <a:r>
              <a:rPr lang="en-US" b="1" dirty="0">
                <a:solidFill>
                  <a:srgbClr val="FF0000"/>
                </a:solidFill>
                <a:latin typeface="Times New Roman" pitchFamily="18" charset="0"/>
                <a:cs typeface="Times New Roman" pitchFamily="18" charset="0"/>
              </a:rPr>
              <a:t>S is not the </a:t>
            </a:r>
            <a:r>
              <a:rPr lang="en-US" b="1" dirty="0" err="1" smtClean="0">
                <a:solidFill>
                  <a:srgbClr val="FF0000"/>
                </a:solidFill>
                <a:latin typeface="Times New Roman" pitchFamily="18" charset="0"/>
                <a:cs typeface="Times New Roman" pitchFamily="18" charset="0"/>
              </a:rPr>
              <a:t>neighbour</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of P.</a:t>
            </a:r>
          </a:p>
          <a:p>
            <a:r>
              <a:rPr lang="en-US" b="1" dirty="0">
                <a:solidFill>
                  <a:srgbClr val="FF0000"/>
                </a:solidFill>
                <a:latin typeface="Times New Roman" pitchFamily="18" charset="0"/>
                <a:cs typeface="Times New Roman" pitchFamily="18" charset="0"/>
              </a:rPr>
              <a:t>V is the </a:t>
            </a:r>
            <a:r>
              <a:rPr lang="en-US" b="1" dirty="0" err="1" smtClean="0">
                <a:solidFill>
                  <a:srgbClr val="FF0000"/>
                </a:solidFill>
                <a:latin typeface="Times New Roman" pitchFamily="18" charset="0"/>
                <a:cs typeface="Times New Roman" pitchFamily="18" charset="0"/>
              </a:rPr>
              <a:t>neighbour</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of U.</a:t>
            </a:r>
          </a:p>
          <a:p>
            <a:r>
              <a:rPr lang="en-US" b="1" dirty="0">
                <a:solidFill>
                  <a:srgbClr val="FF0000"/>
                </a:solidFill>
                <a:latin typeface="Times New Roman" pitchFamily="18" charset="0"/>
                <a:cs typeface="Times New Roman" pitchFamily="18" charset="0"/>
              </a:rPr>
              <a:t>Q is not between S and W. W is not between U and S.</a:t>
            </a:r>
          </a:p>
        </p:txBody>
      </p:sp>
      <p:sp>
        <p:nvSpPr>
          <p:cNvPr id="29" name="Rectangle 28"/>
          <p:cNvSpPr/>
          <p:nvPr/>
        </p:nvSpPr>
        <p:spPr>
          <a:xfrm>
            <a:off x="152400" y="2306419"/>
            <a:ext cx="8610600" cy="646331"/>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1.Which </a:t>
            </a:r>
            <a:r>
              <a:rPr lang="en-US" b="1" dirty="0">
                <a:solidFill>
                  <a:srgbClr val="FF0000"/>
                </a:solidFill>
                <a:latin typeface="Times New Roman" pitchFamily="18" charset="0"/>
                <a:cs typeface="Times New Roman" pitchFamily="18" charset="0"/>
              </a:rPr>
              <a:t>two of the following are not </a:t>
            </a:r>
            <a:r>
              <a:rPr lang="en-US" b="1" dirty="0" err="1">
                <a:solidFill>
                  <a:srgbClr val="FF0000"/>
                </a:solidFill>
                <a:latin typeface="Times New Roman" pitchFamily="18" charset="0"/>
                <a:cs typeface="Times New Roman" pitchFamily="18" charset="0"/>
              </a:rPr>
              <a:t>neighbours</a:t>
            </a:r>
            <a:r>
              <a:rPr lang="en-US" b="1" dirty="0">
                <a:solidFill>
                  <a:srgbClr val="FF0000"/>
                </a:solidFill>
                <a:latin typeface="Times New Roman" pitchFamily="18" charset="0"/>
                <a:cs typeface="Times New Roman" pitchFamily="18" charset="0"/>
              </a:rPr>
              <a:t> ?</a:t>
            </a:r>
          </a:p>
          <a:p>
            <a:r>
              <a:rPr lang="en-US" b="1" dirty="0" smtClean="0">
                <a:solidFill>
                  <a:srgbClr val="FF0000"/>
                </a:solidFill>
                <a:latin typeface="Times New Roman" pitchFamily="18" charset="0"/>
                <a:cs typeface="Times New Roman" pitchFamily="18" charset="0"/>
              </a:rPr>
              <a:t>A. RV		B. UV		C. RP		D. QW</a:t>
            </a:r>
            <a:endParaRPr lang="en-US" b="1" dirty="0">
              <a:solidFill>
                <a:srgbClr val="FF0000"/>
              </a:solidFill>
              <a:latin typeface="Times New Roman" pitchFamily="18" charset="0"/>
              <a:cs typeface="Times New Roman" pitchFamily="18" charset="0"/>
            </a:endParaRPr>
          </a:p>
        </p:txBody>
      </p:sp>
      <p:sp>
        <p:nvSpPr>
          <p:cNvPr id="30" name="Rectangle 29"/>
          <p:cNvSpPr/>
          <p:nvPr/>
        </p:nvSpPr>
        <p:spPr>
          <a:xfrm>
            <a:off x="177800" y="2952750"/>
            <a:ext cx="6451600" cy="646331"/>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2.Which </a:t>
            </a:r>
            <a:r>
              <a:rPr lang="en-US" b="1" dirty="0">
                <a:solidFill>
                  <a:srgbClr val="FF0000"/>
                </a:solidFill>
                <a:latin typeface="Times New Roman" pitchFamily="18" charset="0"/>
                <a:cs typeface="Times New Roman" pitchFamily="18" charset="0"/>
              </a:rPr>
              <a:t>one is immediate right to the V ?</a:t>
            </a:r>
          </a:p>
          <a:p>
            <a:r>
              <a:rPr lang="en-US" b="1" dirty="0" smtClean="0">
                <a:solidFill>
                  <a:srgbClr val="FF0000"/>
                </a:solidFill>
                <a:latin typeface="Times New Roman" pitchFamily="18" charset="0"/>
                <a:cs typeface="Times New Roman" pitchFamily="18" charset="0"/>
              </a:rPr>
              <a:t>A.P		B. U		C. R		D.T</a:t>
            </a:r>
            <a:endParaRPr lang="en-US" b="1" dirty="0">
              <a:solidFill>
                <a:srgbClr val="FF0000"/>
              </a:solidFill>
              <a:latin typeface="Times New Roman" pitchFamily="18" charset="0"/>
              <a:cs typeface="Times New Roman" pitchFamily="18" charset="0"/>
            </a:endParaRPr>
          </a:p>
        </p:txBody>
      </p:sp>
      <p:sp>
        <p:nvSpPr>
          <p:cNvPr id="31" name="Rectangle 30"/>
          <p:cNvSpPr/>
          <p:nvPr/>
        </p:nvSpPr>
        <p:spPr>
          <a:xfrm>
            <a:off x="152400" y="3638550"/>
            <a:ext cx="7696200" cy="923330"/>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3.Which </a:t>
            </a:r>
            <a:r>
              <a:rPr lang="en-US" b="1" dirty="0">
                <a:solidFill>
                  <a:srgbClr val="FF0000"/>
                </a:solidFill>
                <a:latin typeface="Times New Roman" pitchFamily="18" charset="0"/>
                <a:cs typeface="Times New Roman" pitchFamily="18" charset="0"/>
              </a:rPr>
              <a:t>of the following is correct ?</a:t>
            </a:r>
          </a:p>
          <a:p>
            <a:r>
              <a:rPr lang="en-US" b="1" dirty="0" smtClean="0">
                <a:solidFill>
                  <a:srgbClr val="FF0000"/>
                </a:solidFill>
                <a:latin typeface="Times New Roman" pitchFamily="18" charset="0"/>
                <a:cs typeface="Times New Roman" pitchFamily="18" charset="0"/>
              </a:rPr>
              <a:t>A. P </a:t>
            </a:r>
            <a:r>
              <a:rPr lang="en-US" b="1" dirty="0">
                <a:solidFill>
                  <a:srgbClr val="FF0000"/>
                </a:solidFill>
                <a:latin typeface="Times New Roman" pitchFamily="18" charset="0"/>
                <a:cs typeface="Times New Roman" pitchFamily="18" charset="0"/>
              </a:rPr>
              <a:t>is to the immediate right of </a:t>
            </a:r>
            <a:r>
              <a:rPr lang="en-US" b="1" dirty="0" smtClean="0">
                <a:solidFill>
                  <a:srgbClr val="FF0000"/>
                </a:solidFill>
                <a:latin typeface="Times New Roman" pitchFamily="18" charset="0"/>
                <a:cs typeface="Times New Roman" pitchFamily="18" charset="0"/>
              </a:rPr>
              <a:t>Q		B. R </a:t>
            </a:r>
            <a:r>
              <a:rPr lang="en-US" b="1" dirty="0">
                <a:solidFill>
                  <a:srgbClr val="FF0000"/>
                </a:solidFill>
                <a:latin typeface="Times New Roman" pitchFamily="18" charset="0"/>
                <a:cs typeface="Times New Roman" pitchFamily="18" charset="0"/>
              </a:rPr>
              <a:t>is between U and V</a:t>
            </a:r>
          </a:p>
          <a:p>
            <a:r>
              <a:rPr lang="en-US" b="1" dirty="0" smtClean="0">
                <a:solidFill>
                  <a:srgbClr val="FF0000"/>
                </a:solidFill>
                <a:latin typeface="Times New Roman" pitchFamily="18" charset="0"/>
                <a:cs typeface="Times New Roman" pitchFamily="18" charset="0"/>
              </a:rPr>
              <a:t>C. Q </a:t>
            </a:r>
            <a:r>
              <a:rPr lang="en-US" b="1" dirty="0">
                <a:solidFill>
                  <a:srgbClr val="FF0000"/>
                </a:solidFill>
                <a:latin typeface="Times New Roman" pitchFamily="18" charset="0"/>
                <a:cs typeface="Times New Roman" pitchFamily="18" charset="0"/>
              </a:rPr>
              <a:t>is to the immediate left of </a:t>
            </a:r>
            <a:r>
              <a:rPr lang="en-US" b="1" dirty="0" smtClean="0">
                <a:solidFill>
                  <a:srgbClr val="FF0000"/>
                </a:solidFill>
                <a:latin typeface="Times New Roman" pitchFamily="18" charset="0"/>
                <a:cs typeface="Times New Roman" pitchFamily="18" charset="0"/>
              </a:rPr>
              <a:t>W		D. U </a:t>
            </a:r>
            <a:r>
              <a:rPr lang="en-US" b="1" dirty="0">
                <a:solidFill>
                  <a:srgbClr val="FF0000"/>
                </a:solidFill>
                <a:latin typeface="Times New Roman" pitchFamily="18" charset="0"/>
                <a:cs typeface="Times New Roman" pitchFamily="18" charset="0"/>
              </a:rPr>
              <a:t>is between W and S</a:t>
            </a:r>
          </a:p>
        </p:txBody>
      </p:sp>
      <p:sp>
        <p:nvSpPr>
          <p:cNvPr id="32" name="Rectangle 31"/>
          <p:cNvSpPr/>
          <p:nvPr/>
        </p:nvSpPr>
        <p:spPr>
          <a:xfrm>
            <a:off x="1371600" y="57150"/>
            <a:ext cx="6136873"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2. Circular Seating </a:t>
            </a:r>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Arrangement</a:t>
            </a:r>
          </a:p>
        </p:txBody>
      </p:sp>
    </p:spTree>
    <p:extLst>
      <p:ext uri="{BB962C8B-B14F-4D97-AF65-F5344CB8AC3E}">
        <p14:creationId xmlns:p14="http://schemas.microsoft.com/office/powerpoint/2010/main" val="106113759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611138"/>
            <a:ext cx="8686800" cy="1477328"/>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P, Q, R, S, T, U, V and W are sitting round the circle and are facing the </a:t>
            </a:r>
            <a:r>
              <a:rPr lang="en-US" b="1" dirty="0" smtClean="0">
                <a:solidFill>
                  <a:srgbClr val="FF0000"/>
                </a:solidFill>
                <a:latin typeface="Times New Roman" pitchFamily="18" charset="0"/>
                <a:cs typeface="Times New Roman" pitchFamily="18" charset="0"/>
              </a:rPr>
              <a:t>centre.</a:t>
            </a:r>
          </a:p>
          <a:p>
            <a:r>
              <a:rPr lang="en-US" b="1" dirty="0" smtClean="0">
                <a:solidFill>
                  <a:srgbClr val="FF0000"/>
                </a:solidFill>
                <a:latin typeface="Times New Roman" pitchFamily="18" charset="0"/>
                <a:cs typeface="Times New Roman" pitchFamily="18" charset="0"/>
              </a:rPr>
              <a:t>P </a:t>
            </a:r>
            <a:r>
              <a:rPr lang="en-US" b="1" dirty="0">
                <a:solidFill>
                  <a:srgbClr val="FF0000"/>
                </a:solidFill>
                <a:latin typeface="Times New Roman" pitchFamily="18" charset="0"/>
                <a:cs typeface="Times New Roman" pitchFamily="18" charset="0"/>
              </a:rPr>
              <a:t>is second to the right of T who is the </a:t>
            </a:r>
            <a:r>
              <a:rPr lang="en-US" b="1" dirty="0" err="1" smtClean="0">
                <a:solidFill>
                  <a:srgbClr val="FF0000"/>
                </a:solidFill>
                <a:latin typeface="Times New Roman" pitchFamily="18" charset="0"/>
                <a:cs typeface="Times New Roman" pitchFamily="18" charset="0"/>
              </a:rPr>
              <a:t>neighbour</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of R and V.</a:t>
            </a:r>
          </a:p>
          <a:p>
            <a:r>
              <a:rPr lang="en-US" b="1" dirty="0">
                <a:solidFill>
                  <a:srgbClr val="FF0000"/>
                </a:solidFill>
                <a:latin typeface="Times New Roman" pitchFamily="18" charset="0"/>
                <a:cs typeface="Times New Roman" pitchFamily="18" charset="0"/>
              </a:rPr>
              <a:t>S is not the </a:t>
            </a:r>
            <a:r>
              <a:rPr lang="en-US" b="1" dirty="0" err="1" smtClean="0">
                <a:solidFill>
                  <a:srgbClr val="FF0000"/>
                </a:solidFill>
                <a:latin typeface="Times New Roman" pitchFamily="18" charset="0"/>
                <a:cs typeface="Times New Roman" pitchFamily="18" charset="0"/>
              </a:rPr>
              <a:t>neighbour</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of P.</a:t>
            </a:r>
          </a:p>
          <a:p>
            <a:r>
              <a:rPr lang="en-US" b="1" dirty="0">
                <a:solidFill>
                  <a:srgbClr val="FF0000"/>
                </a:solidFill>
                <a:latin typeface="Times New Roman" pitchFamily="18" charset="0"/>
                <a:cs typeface="Times New Roman" pitchFamily="18" charset="0"/>
              </a:rPr>
              <a:t>V is the </a:t>
            </a:r>
            <a:r>
              <a:rPr lang="en-US" b="1" dirty="0" err="1" smtClean="0">
                <a:solidFill>
                  <a:srgbClr val="FF0000"/>
                </a:solidFill>
                <a:latin typeface="Times New Roman" pitchFamily="18" charset="0"/>
                <a:cs typeface="Times New Roman" pitchFamily="18" charset="0"/>
              </a:rPr>
              <a:t>neighbour</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of U.</a:t>
            </a:r>
          </a:p>
          <a:p>
            <a:r>
              <a:rPr lang="en-US" b="1" dirty="0">
                <a:solidFill>
                  <a:srgbClr val="FF0000"/>
                </a:solidFill>
                <a:latin typeface="Times New Roman" pitchFamily="18" charset="0"/>
                <a:cs typeface="Times New Roman" pitchFamily="18" charset="0"/>
              </a:rPr>
              <a:t>Q is not between S and W. W is not between U and S.</a:t>
            </a:r>
          </a:p>
        </p:txBody>
      </p:sp>
      <p:grpSp>
        <p:nvGrpSpPr>
          <p:cNvPr id="9" name="Group 8"/>
          <p:cNvGrpSpPr/>
          <p:nvPr/>
        </p:nvGrpSpPr>
        <p:grpSpPr>
          <a:xfrm>
            <a:off x="655355" y="2266950"/>
            <a:ext cx="2133600" cy="2247900"/>
            <a:chOff x="2895600" y="2266950"/>
            <a:chExt cx="2133600" cy="2247900"/>
          </a:xfrm>
        </p:grpSpPr>
        <p:sp>
          <p:nvSpPr>
            <p:cNvPr id="10" name="Oval 9"/>
            <p:cNvSpPr/>
            <p:nvPr/>
          </p:nvSpPr>
          <p:spPr>
            <a:xfrm>
              <a:off x="2895600" y="2343150"/>
              <a:ext cx="2133600" cy="205740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11" name="Straight Connector 10"/>
            <p:cNvCxnSpPr/>
            <p:nvPr/>
          </p:nvCxnSpPr>
          <p:spPr>
            <a:xfrm flipH="1">
              <a:off x="3124200" y="4019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4800600" y="38671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962400" y="428625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flipH="1" flipV="1">
              <a:off x="3124200" y="25717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3962400" y="2266950"/>
              <a:ext cx="0" cy="18311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4724400" y="2670690"/>
              <a:ext cx="228600" cy="129660"/>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Straight Connector 16"/>
          <p:cNvCxnSpPr/>
          <p:nvPr/>
        </p:nvCxnSpPr>
        <p:spPr>
          <a:xfrm flipH="1">
            <a:off x="502955" y="3333750"/>
            <a:ext cx="228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flipH="1">
            <a:off x="2712755" y="3333750"/>
            <a:ext cx="228600" cy="0"/>
          </a:xfrm>
          <a:prstGeom prst="line">
            <a:avLst/>
          </a:prstGeom>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52400" y="895350"/>
            <a:ext cx="6629400"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b="1" dirty="0">
                <a:latin typeface="Times New Roman" pitchFamily="18" charset="0"/>
                <a:cs typeface="Times New Roman" pitchFamily="18" charset="0"/>
              </a:rPr>
              <a:t>P is second to the right of T who is the </a:t>
            </a:r>
            <a:r>
              <a:rPr lang="en-US" b="1" dirty="0" err="1">
                <a:latin typeface="Times New Roman" pitchFamily="18" charset="0"/>
                <a:cs typeface="Times New Roman" pitchFamily="18" charset="0"/>
              </a:rPr>
              <a:t>neighbour</a:t>
            </a:r>
            <a:r>
              <a:rPr lang="en-US" b="1" dirty="0">
                <a:latin typeface="Times New Roman" pitchFamily="18" charset="0"/>
                <a:cs typeface="Times New Roman" pitchFamily="18" charset="0"/>
              </a:rPr>
              <a:t> of R and V.</a:t>
            </a:r>
          </a:p>
        </p:txBody>
      </p:sp>
      <p:sp>
        <p:nvSpPr>
          <p:cNvPr id="20" name="Rectangle 19"/>
          <p:cNvSpPr/>
          <p:nvPr/>
        </p:nvSpPr>
        <p:spPr>
          <a:xfrm>
            <a:off x="1559290" y="4514850"/>
            <a:ext cx="325730" cy="369332"/>
          </a:xfrm>
          <a:prstGeom prst="rect">
            <a:avLst/>
          </a:prstGeom>
        </p:spPr>
        <p:txBody>
          <a:bodyPr wrap="none">
            <a:spAutoFit/>
          </a:bodyPr>
          <a:lstStyle/>
          <a:p>
            <a:r>
              <a:rPr lang="en-US" b="1" dirty="0">
                <a:latin typeface="Times New Roman" pitchFamily="18" charset="0"/>
                <a:cs typeface="Times New Roman" pitchFamily="18" charset="0"/>
              </a:rPr>
              <a:t>P</a:t>
            </a:r>
            <a:endParaRPr lang="en-US" dirty="0"/>
          </a:p>
        </p:txBody>
      </p:sp>
      <p:sp>
        <p:nvSpPr>
          <p:cNvPr id="21" name="Rectangle 20"/>
          <p:cNvSpPr/>
          <p:nvPr/>
        </p:nvSpPr>
        <p:spPr>
          <a:xfrm>
            <a:off x="45755" y="3187184"/>
            <a:ext cx="338554" cy="369332"/>
          </a:xfrm>
          <a:prstGeom prst="rect">
            <a:avLst/>
          </a:prstGeom>
        </p:spPr>
        <p:txBody>
          <a:bodyPr wrap="none">
            <a:spAutoFit/>
          </a:bodyPr>
          <a:lstStyle/>
          <a:p>
            <a:r>
              <a:rPr lang="en-US" b="1" dirty="0">
                <a:latin typeface="Times New Roman" pitchFamily="18" charset="0"/>
                <a:cs typeface="Times New Roman" pitchFamily="18" charset="0"/>
              </a:rPr>
              <a:t>T</a:t>
            </a:r>
            <a:endParaRPr lang="en-US" dirty="0"/>
          </a:p>
        </p:txBody>
      </p:sp>
      <p:sp>
        <p:nvSpPr>
          <p:cNvPr id="22" name="Rectangle 21"/>
          <p:cNvSpPr/>
          <p:nvPr/>
        </p:nvSpPr>
        <p:spPr>
          <a:xfrm>
            <a:off x="333678" y="2387084"/>
            <a:ext cx="351378" cy="369332"/>
          </a:xfrm>
          <a:prstGeom prst="rect">
            <a:avLst/>
          </a:prstGeom>
        </p:spPr>
        <p:txBody>
          <a:bodyPr wrap="none">
            <a:spAutoFit/>
          </a:bodyPr>
          <a:lstStyle/>
          <a:p>
            <a:r>
              <a:rPr lang="en-US" b="1" dirty="0">
                <a:latin typeface="Times New Roman" pitchFamily="18" charset="0"/>
                <a:cs typeface="Times New Roman" pitchFamily="18" charset="0"/>
              </a:rPr>
              <a:t>V</a:t>
            </a:r>
            <a:endParaRPr lang="en-US" dirty="0"/>
          </a:p>
        </p:txBody>
      </p:sp>
      <p:sp>
        <p:nvSpPr>
          <p:cNvPr id="23" name="Rectangle 22"/>
          <p:cNvSpPr/>
          <p:nvPr/>
        </p:nvSpPr>
        <p:spPr>
          <a:xfrm>
            <a:off x="502955" y="4171950"/>
            <a:ext cx="351378" cy="369332"/>
          </a:xfrm>
          <a:prstGeom prst="rect">
            <a:avLst/>
          </a:prstGeom>
        </p:spPr>
        <p:txBody>
          <a:bodyPr wrap="none">
            <a:spAutoFit/>
          </a:bodyPr>
          <a:lstStyle/>
          <a:p>
            <a:r>
              <a:rPr lang="en-US" b="1" dirty="0" smtClean="0">
                <a:latin typeface="Times New Roman" pitchFamily="18" charset="0"/>
                <a:cs typeface="Times New Roman" pitchFamily="18" charset="0"/>
              </a:rPr>
              <a:t>R</a:t>
            </a:r>
            <a:endParaRPr lang="en-US" dirty="0"/>
          </a:p>
        </p:txBody>
      </p:sp>
      <p:sp>
        <p:nvSpPr>
          <p:cNvPr id="24" name="Rectangle 23"/>
          <p:cNvSpPr/>
          <p:nvPr/>
        </p:nvSpPr>
        <p:spPr>
          <a:xfrm>
            <a:off x="152400" y="1478518"/>
            <a:ext cx="2465419" cy="369332"/>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US" b="1" dirty="0">
                <a:latin typeface="Times New Roman" pitchFamily="18" charset="0"/>
                <a:cs typeface="Times New Roman" pitchFamily="18" charset="0"/>
              </a:rPr>
              <a:t>V is the </a:t>
            </a:r>
            <a:r>
              <a:rPr lang="en-US" b="1" dirty="0" err="1">
                <a:latin typeface="Times New Roman" pitchFamily="18" charset="0"/>
                <a:cs typeface="Times New Roman" pitchFamily="18" charset="0"/>
              </a:rPr>
              <a:t>neighbour</a:t>
            </a:r>
            <a:r>
              <a:rPr lang="en-US" b="1" dirty="0">
                <a:latin typeface="Times New Roman" pitchFamily="18" charset="0"/>
                <a:cs typeface="Times New Roman" pitchFamily="18" charset="0"/>
              </a:rPr>
              <a:t> of U</a:t>
            </a:r>
            <a:endParaRPr lang="en-US" dirty="0"/>
          </a:p>
        </p:txBody>
      </p:sp>
      <p:sp>
        <p:nvSpPr>
          <p:cNvPr id="25" name="Rectangle 24"/>
          <p:cNvSpPr/>
          <p:nvPr/>
        </p:nvSpPr>
        <p:spPr>
          <a:xfrm>
            <a:off x="1559290" y="1903800"/>
            <a:ext cx="351378" cy="369332"/>
          </a:xfrm>
          <a:prstGeom prst="rect">
            <a:avLst/>
          </a:prstGeom>
        </p:spPr>
        <p:txBody>
          <a:bodyPr wrap="none">
            <a:spAutoFit/>
          </a:bodyPr>
          <a:lstStyle/>
          <a:p>
            <a:r>
              <a:rPr lang="en-US" b="1" dirty="0" smtClean="0">
                <a:latin typeface="Times New Roman" pitchFamily="18" charset="0"/>
                <a:cs typeface="Times New Roman" pitchFamily="18" charset="0"/>
              </a:rPr>
              <a:t>U</a:t>
            </a:r>
            <a:endParaRPr lang="en-US" dirty="0"/>
          </a:p>
        </p:txBody>
      </p:sp>
      <p:sp>
        <p:nvSpPr>
          <p:cNvPr id="26" name="Rectangle 25"/>
          <p:cNvSpPr/>
          <p:nvPr/>
        </p:nvSpPr>
        <p:spPr>
          <a:xfrm>
            <a:off x="2784902" y="2343150"/>
            <a:ext cx="312906" cy="369332"/>
          </a:xfrm>
          <a:prstGeom prst="rect">
            <a:avLst/>
          </a:prstGeom>
        </p:spPr>
        <p:txBody>
          <a:bodyPr wrap="none">
            <a:spAutoFit/>
          </a:bodyPr>
          <a:lstStyle/>
          <a:p>
            <a:r>
              <a:rPr lang="en-US" b="1" dirty="0">
                <a:latin typeface="Times New Roman" pitchFamily="18" charset="0"/>
                <a:cs typeface="Times New Roman" pitchFamily="18" charset="0"/>
              </a:rPr>
              <a:t>S</a:t>
            </a:r>
            <a:endParaRPr lang="en-US" dirty="0"/>
          </a:p>
        </p:txBody>
      </p:sp>
      <p:sp>
        <p:nvSpPr>
          <p:cNvPr id="27" name="Rectangle 26"/>
          <p:cNvSpPr/>
          <p:nvPr/>
        </p:nvSpPr>
        <p:spPr>
          <a:xfrm>
            <a:off x="2937302" y="3193018"/>
            <a:ext cx="415498" cy="369332"/>
          </a:xfrm>
          <a:prstGeom prst="rect">
            <a:avLst/>
          </a:prstGeom>
        </p:spPr>
        <p:txBody>
          <a:bodyPr wrap="none">
            <a:spAutoFit/>
          </a:bodyPr>
          <a:lstStyle/>
          <a:p>
            <a:r>
              <a:rPr lang="en-US" b="1" dirty="0" smtClean="0">
                <a:latin typeface="Times New Roman" pitchFamily="18" charset="0"/>
                <a:cs typeface="Times New Roman" pitchFamily="18" charset="0"/>
              </a:rPr>
              <a:t>W</a:t>
            </a:r>
            <a:endParaRPr lang="en-US" dirty="0"/>
          </a:p>
        </p:txBody>
      </p:sp>
      <p:sp>
        <p:nvSpPr>
          <p:cNvPr id="28" name="Rectangle 27"/>
          <p:cNvSpPr/>
          <p:nvPr/>
        </p:nvSpPr>
        <p:spPr>
          <a:xfrm>
            <a:off x="2712755" y="3955018"/>
            <a:ext cx="364202" cy="369332"/>
          </a:xfrm>
          <a:prstGeom prst="rect">
            <a:avLst/>
          </a:prstGeom>
        </p:spPr>
        <p:txBody>
          <a:bodyPr wrap="none">
            <a:spAutoFit/>
          </a:bodyPr>
          <a:lstStyle/>
          <a:p>
            <a:r>
              <a:rPr lang="en-US" b="1" dirty="0" smtClean="0">
                <a:latin typeface="Times New Roman" pitchFamily="18" charset="0"/>
                <a:cs typeface="Times New Roman" pitchFamily="18" charset="0"/>
              </a:rPr>
              <a:t>Q</a:t>
            </a:r>
            <a:endParaRPr lang="en-US" dirty="0"/>
          </a:p>
        </p:txBody>
      </p:sp>
      <p:sp>
        <p:nvSpPr>
          <p:cNvPr id="29" name="Rectangle 28"/>
          <p:cNvSpPr/>
          <p:nvPr/>
        </p:nvSpPr>
        <p:spPr>
          <a:xfrm>
            <a:off x="2892044" y="1962150"/>
            <a:ext cx="6480556" cy="646331"/>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1.Which </a:t>
            </a:r>
            <a:r>
              <a:rPr lang="en-US" b="1" dirty="0">
                <a:solidFill>
                  <a:srgbClr val="FF0000"/>
                </a:solidFill>
                <a:latin typeface="Times New Roman" pitchFamily="18" charset="0"/>
                <a:cs typeface="Times New Roman" pitchFamily="18" charset="0"/>
              </a:rPr>
              <a:t>two of the following are not </a:t>
            </a:r>
            <a:r>
              <a:rPr lang="en-US" b="1" dirty="0" err="1">
                <a:solidFill>
                  <a:srgbClr val="FF0000"/>
                </a:solidFill>
                <a:latin typeface="Times New Roman" pitchFamily="18" charset="0"/>
                <a:cs typeface="Times New Roman" pitchFamily="18" charset="0"/>
              </a:rPr>
              <a:t>neighbours</a:t>
            </a:r>
            <a:r>
              <a:rPr lang="en-US" b="1" dirty="0">
                <a:solidFill>
                  <a:srgbClr val="FF0000"/>
                </a:solidFill>
                <a:latin typeface="Times New Roman" pitchFamily="18" charset="0"/>
                <a:cs typeface="Times New Roman" pitchFamily="18" charset="0"/>
              </a:rPr>
              <a:t> ?</a:t>
            </a:r>
          </a:p>
          <a:p>
            <a:r>
              <a:rPr lang="en-US" b="1" dirty="0" smtClean="0">
                <a:solidFill>
                  <a:srgbClr val="FF0000"/>
                </a:solidFill>
                <a:latin typeface="Times New Roman" pitchFamily="18" charset="0"/>
                <a:cs typeface="Times New Roman" pitchFamily="18" charset="0"/>
              </a:rPr>
              <a:t>A. RV		B. UV		C. RP		D. QW</a:t>
            </a:r>
            <a:endParaRPr lang="en-US" b="1" dirty="0">
              <a:solidFill>
                <a:srgbClr val="FF0000"/>
              </a:solidFill>
              <a:latin typeface="Times New Roman" pitchFamily="18" charset="0"/>
              <a:cs typeface="Times New Roman" pitchFamily="18" charset="0"/>
            </a:endParaRPr>
          </a:p>
        </p:txBody>
      </p:sp>
      <p:sp>
        <p:nvSpPr>
          <p:cNvPr id="2" name="Rectangle 1"/>
          <p:cNvSpPr/>
          <p:nvPr/>
        </p:nvSpPr>
        <p:spPr>
          <a:xfrm>
            <a:off x="3479800" y="2712482"/>
            <a:ext cx="1589474" cy="369332"/>
          </a:xfrm>
          <a:prstGeom prst="rect">
            <a:avLst/>
          </a:prstGeom>
        </p:spPr>
        <p:txBody>
          <a:bodyPr wrap="none">
            <a:spAutoFit/>
          </a:bodyPr>
          <a:lstStyle/>
          <a:p>
            <a:r>
              <a:rPr lang="en-US" b="1" dirty="0" smtClean="0">
                <a:latin typeface="Times New Roman" pitchFamily="18" charset="0"/>
                <a:cs typeface="Times New Roman" pitchFamily="18" charset="0"/>
              </a:rPr>
              <a:t>Answer A. </a:t>
            </a:r>
            <a:r>
              <a:rPr lang="en-US" b="1" dirty="0">
                <a:latin typeface="Times New Roman" pitchFamily="18" charset="0"/>
                <a:cs typeface="Times New Roman" pitchFamily="18" charset="0"/>
              </a:rPr>
              <a:t>RV</a:t>
            </a:r>
            <a:endParaRPr lang="en-US" dirty="0"/>
          </a:p>
        </p:txBody>
      </p:sp>
      <p:sp>
        <p:nvSpPr>
          <p:cNvPr id="30" name="Rectangle 29"/>
          <p:cNvSpPr/>
          <p:nvPr/>
        </p:nvSpPr>
        <p:spPr>
          <a:xfrm>
            <a:off x="3399051" y="3010584"/>
            <a:ext cx="5516349" cy="646331"/>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2.Which </a:t>
            </a:r>
            <a:r>
              <a:rPr lang="en-US" b="1" dirty="0">
                <a:solidFill>
                  <a:srgbClr val="FF0000"/>
                </a:solidFill>
                <a:latin typeface="Times New Roman" pitchFamily="18" charset="0"/>
                <a:cs typeface="Times New Roman" pitchFamily="18" charset="0"/>
              </a:rPr>
              <a:t>one is immediate right to the V ?</a:t>
            </a:r>
          </a:p>
          <a:p>
            <a:r>
              <a:rPr lang="en-US" b="1" dirty="0" smtClean="0">
                <a:solidFill>
                  <a:srgbClr val="FF0000"/>
                </a:solidFill>
                <a:latin typeface="Times New Roman" pitchFamily="18" charset="0"/>
                <a:cs typeface="Times New Roman" pitchFamily="18" charset="0"/>
              </a:rPr>
              <a:t>A.P		B. U		C. R	D.T</a:t>
            </a:r>
            <a:endParaRPr lang="en-US" b="1" dirty="0">
              <a:solidFill>
                <a:srgbClr val="FF0000"/>
              </a:solidFill>
              <a:latin typeface="Times New Roman" pitchFamily="18" charset="0"/>
              <a:cs typeface="Times New Roman" pitchFamily="18" charset="0"/>
            </a:endParaRPr>
          </a:p>
        </p:txBody>
      </p:sp>
      <p:sp>
        <p:nvSpPr>
          <p:cNvPr id="31" name="Rectangle 30"/>
          <p:cNvSpPr/>
          <p:nvPr/>
        </p:nvSpPr>
        <p:spPr>
          <a:xfrm>
            <a:off x="3701063" y="3636833"/>
            <a:ext cx="1426673" cy="369332"/>
          </a:xfrm>
          <a:prstGeom prst="rect">
            <a:avLst/>
          </a:prstGeom>
        </p:spPr>
        <p:txBody>
          <a:bodyPr wrap="none">
            <a:spAutoFit/>
          </a:bodyPr>
          <a:lstStyle/>
          <a:p>
            <a:r>
              <a:rPr lang="en-US" b="1" dirty="0" smtClean="0">
                <a:latin typeface="Times New Roman" pitchFamily="18" charset="0"/>
                <a:cs typeface="Times New Roman" pitchFamily="18" charset="0"/>
              </a:rPr>
              <a:t>Answer D. T</a:t>
            </a:r>
            <a:endParaRPr lang="en-US" dirty="0"/>
          </a:p>
        </p:txBody>
      </p:sp>
      <p:sp>
        <p:nvSpPr>
          <p:cNvPr id="32" name="Rectangle 31"/>
          <p:cNvSpPr/>
          <p:nvPr/>
        </p:nvSpPr>
        <p:spPr>
          <a:xfrm>
            <a:off x="2057400" y="3858220"/>
            <a:ext cx="7239000" cy="923330"/>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3.Which </a:t>
            </a:r>
            <a:r>
              <a:rPr lang="en-US" b="1" dirty="0">
                <a:solidFill>
                  <a:srgbClr val="FF0000"/>
                </a:solidFill>
                <a:latin typeface="Times New Roman" pitchFamily="18" charset="0"/>
                <a:cs typeface="Times New Roman" pitchFamily="18" charset="0"/>
              </a:rPr>
              <a:t>of the following is correct ?</a:t>
            </a:r>
          </a:p>
          <a:p>
            <a:r>
              <a:rPr lang="en-US" b="1" dirty="0" smtClean="0">
                <a:solidFill>
                  <a:srgbClr val="FF0000"/>
                </a:solidFill>
                <a:latin typeface="Times New Roman" pitchFamily="18" charset="0"/>
                <a:cs typeface="Times New Roman" pitchFamily="18" charset="0"/>
              </a:rPr>
              <a:t>A. P </a:t>
            </a:r>
            <a:r>
              <a:rPr lang="en-US" b="1" dirty="0">
                <a:solidFill>
                  <a:srgbClr val="FF0000"/>
                </a:solidFill>
                <a:latin typeface="Times New Roman" pitchFamily="18" charset="0"/>
                <a:cs typeface="Times New Roman" pitchFamily="18" charset="0"/>
              </a:rPr>
              <a:t>is to the immediate right of </a:t>
            </a:r>
            <a:r>
              <a:rPr lang="en-US" b="1" dirty="0" smtClean="0">
                <a:solidFill>
                  <a:srgbClr val="FF0000"/>
                </a:solidFill>
                <a:latin typeface="Times New Roman" pitchFamily="18" charset="0"/>
                <a:cs typeface="Times New Roman" pitchFamily="18" charset="0"/>
              </a:rPr>
              <a:t>Q		B. R </a:t>
            </a:r>
            <a:r>
              <a:rPr lang="en-US" b="1" dirty="0">
                <a:solidFill>
                  <a:srgbClr val="FF0000"/>
                </a:solidFill>
                <a:latin typeface="Times New Roman" pitchFamily="18" charset="0"/>
                <a:cs typeface="Times New Roman" pitchFamily="18" charset="0"/>
              </a:rPr>
              <a:t>is between U and V</a:t>
            </a:r>
          </a:p>
          <a:p>
            <a:r>
              <a:rPr lang="en-US" b="1" dirty="0" smtClean="0">
                <a:solidFill>
                  <a:srgbClr val="FF0000"/>
                </a:solidFill>
                <a:latin typeface="Times New Roman" pitchFamily="18" charset="0"/>
                <a:cs typeface="Times New Roman" pitchFamily="18" charset="0"/>
              </a:rPr>
              <a:t>C. Q </a:t>
            </a:r>
            <a:r>
              <a:rPr lang="en-US" b="1" dirty="0">
                <a:solidFill>
                  <a:srgbClr val="FF0000"/>
                </a:solidFill>
                <a:latin typeface="Times New Roman" pitchFamily="18" charset="0"/>
                <a:cs typeface="Times New Roman" pitchFamily="18" charset="0"/>
              </a:rPr>
              <a:t>is to the immediate left of </a:t>
            </a:r>
            <a:r>
              <a:rPr lang="en-US" b="1" dirty="0" smtClean="0">
                <a:solidFill>
                  <a:srgbClr val="FF0000"/>
                </a:solidFill>
                <a:latin typeface="Times New Roman" pitchFamily="18" charset="0"/>
                <a:cs typeface="Times New Roman" pitchFamily="18" charset="0"/>
              </a:rPr>
              <a:t>W		D. U </a:t>
            </a:r>
            <a:r>
              <a:rPr lang="en-US" b="1" dirty="0">
                <a:solidFill>
                  <a:srgbClr val="FF0000"/>
                </a:solidFill>
                <a:latin typeface="Times New Roman" pitchFamily="18" charset="0"/>
                <a:cs typeface="Times New Roman" pitchFamily="18" charset="0"/>
              </a:rPr>
              <a:t>is between W and S</a:t>
            </a:r>
          </a:p>
        </p:txBody>
      </p:sp>
      <p:sp>
        <p:nvSpPr>
          <p:cNvPr id="33" name="Rectangle 32"/>
          <p:cNvSpPr/>
          <p:nvPr/>
        </p:nvSpPr>
        <p:spPr>
          <a:xfrm>
            <a:off x="2611927" y="4640818"/>
            <a:ext cx="1219245" cy="369332"/>
          </a:xfrm>
          <a:prstGeom prst="rect">
            <a:avLst/>
          </a:prstGeom>
        </p:spPr>
        <p:txBody>
          <a:bodyPr wrap="none">
            <a:spAutoFit/>
          </a:bodyPr>
          <a:lstStyle/>
          <a:p>
            <a:r>
              <a:rPr lang="en-US" b="1" dirty="0" smtClean="0">
                <a:latin typeface="Times New Roman" pitchFamily="18" charset="0"/>
                <a:cs typeface="Times New Roman" pitchFamily="18" charset="0"/>
              </a:rPr>
              <a:t>Answer C.</a:t>
            </a:r>
            <a:endParaRPr lang="en-US" dirty="0"/>
          </a:p>
        </p:txBody>
      </p:sp>
      <p:sp>
        <p:nvSpPr>
          <p:cNvPr id="34" name="Rectangle 33"/>
          <p:cNvSpPr/>
          <p:nvPr/>
        </p:nvSpPr>
        <p:spPr>
          <a:xfrm>
            <a:off x="1371600" y="57150"/>
            <a:ext cx="6136873"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2. Circular Seating </a:t>
            </a:r>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Arrangement</a:t>
            </a:r>
          </a:p>
        </p:txBody>
      </p:sp>
    </p:spTree>
    <p:extLst>
      <p:ext uri="{BB962C8B-B14F-4D97-AF65-F5344CB8AC3E}">
        <p14:creationId xmlns:p14="http://schemas.microsoft.com/office/powerpoint/2010/main" val="729571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left)">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wipe(left)">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wipe(left)">
                                      <p:cBhvr>
                                        <p:cTn id="77" dur="500"/>
                                        <p:tgtEl>
                                          <p:spTgt spid="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wipe(left)">
                                      <p:cBhvr>
                                        <p:cTn id="82" dur="500"/>
                                        <p:tgtEl>
                                          <p:spTgt spid="3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left)">
                                      <p:cBhvr>
                                        <p:cTn id="87" dur="5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wipe(left)">
                                      <p:cBhvr>
                                        <p:cTn id="92" dur="500"/>
                                        <p:tgtEl>
                                          <p:spTgt spid="3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wipe(left)">
                                      <p:cBhvr>
                                        <p:cTn id="9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p:bldP spid="22" grpId="0"/>
      <p:bldP spid="23" grpId="0"/>
      <p:bldP spid="24" grpId="0" animBg="1"/>
      <p:bldP spid="25" grpId="0"/>
      <p:bldP spid="26" grpId="0"/>
      <p:bldP spid="27" grpId="0"/>
      <p:bldP spid="28" grpId="0"/>
      <p:bldP spid="29" grpId="0"/>
      <p:bldP spid="2" grpId="0"/>
      <p:bldP spid="30" grpId="0"/>
      <p:bldP spid="31" grpId="0"/>
      <p:bldP spid="32" grpId="0"/>
      <p:bldP spid="3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205085"/>
            <a:ext cx="6352252"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3. POLYGONAL Seating </a:t>
            </a:r>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Arrangement</a:t>
            </a:r>
          </a:p>
        </p:txBody>
      </p:sp>
      <p:sp>
        <p:nvSpPr>
          <p:cNvPr id="3" name="Rectangle 2"/>
          <p:cNvSpPr/>
          <p:nvPr/>
        </p:nvSpPr>
        <p:spPr>
          <a:xfrm>
            <a:off x="228600" y="771257"/>
            <a:ext cx="8458200" cy="1200329"/>
          </a:xfrm>
          <a:prstGeom prst="rect">
            <a:avLst/>
          </a:prstGeom>
        </p:spPr>
        <p:txBody>
          <a:bodyPr wrap="square">
            <a:spAutoFit/>
          </a:bodyPr>
          <a:lstStyle/>
          <a:p>
            <a:r>
              <a:rPr lang="en-US" dirty="0"/>
              <a:t>A polygon is a closed figure formed with three or more sides. In these type of sitting arrangement reasoning questions, people will be seated around different shapes of table such as triangle, square, rectangle, pentagonal, hexagonal, octagonal, etc. </a:t>
            </a:r>
          </a:p>
        </p:txBody>
      </p:sp>
      <p:sp>
        <p:nvSpPr>
          <p:cNvPr id="6" name="Rectangle 5"/>
          <p:cNvSpPr/>
          <p:nvPr/>
        </p:nvSpPr>
        <p:spPr>
          <a:xfrm>
            <a:off x="228600" y="2029420"/>
            <a:ext cx="8458200" cy="923330"/>
          </a:xfrm>
          <a:prstGeom prst="rect">
            <a:avLst/>
          </a:prstGeom>
        </p:spPr>
        <p:txBody>
          <a:bodyPr wrap="square">
            <a:spAutoFit/>
          </a:bodyPr>
          <a:lstStyle/>
          <a:p>
            <a:r>
              <a:rPr lang="en-US" b="1" dirty="0"/>
              <a:t>(a) Square Arrangement: </a:t>
            </a:r>
            <a:r>
              <a:rPr lang="en-US" dirty="0"/>
              <a:t>In these types of polygonal seating arrangement questions, candidates are required to arrange people around a square table. </a:t>
            </a:r>
          </a:p>
        </p:txBody>
      </p:sp>
      <p:sp>
        <p:nvSpPr>
          <p:cNvPr id="7" name="Rectangle 6"/>
          <p:cNvSpPr/>
          <p:nvPr/>
        </p:nvSpPr>
        <p:spPr>
          <a:xfrm>
            <a:off x="228600" y="3124021"/>
            <a:ext cx="8458200" cy="1200329"/>
          </a:xfrm>
          <a:prstGeom prst="rect">
            <a:avLst/>
          </a:prstGeom>
        </p:spPr>
        <p:txBody>
          <a:bodyPr wrap="square">
            <a:spAutoFit/>
          </a:bodyPr>
          <a:lstStyle/>
          <a:p>
            <a:r>
              <a:rPr lang="en-US" b="1" dirty="0"/>
              <a:t>(b)Triangular Arrangement: </a:t>
            </a:r>
            <a:r>
              <a:rPr lang="en-US" dirty="0"/>
              <a:t>In these types of polygonal seating arrangement questions, candidates are required to arrange people around a triangular table. The objects or persons placed around a triangular plane that may be a table or any triangular object. </a:t>
            </a:r>
          </a:p>
        </p:txBody>
      </p:sp>
    </p:spTree>
    <p:extLst>
      <p:ext uri="{BB962C8B-B14F-4D97-AF65-F5344CB8AC3E}">
        <p14:creationId xmlns:p14="http://schemas.microsoft.com/office/powerpoint/2010/main" val="306591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52685"/>
            <a:ext cx="6352252"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3. POLYGONAL Seating </a:t>
            </a:r>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Arrangement</a:t>
            </a:r>
          </a:p>
        </p:txBody>
      </p:sp>
      <p:sp>
        <p:nvSpPr>
          <p:cNvPr id="4" name="Rectangle 3"/>
          <p:cNvSpPr/>
          <p:nvPr/>
        </p:nvSpPr>
        <p:spPr>
          <a:xfrm>
            <a:off x="76200" y="395228"/>
            <a:ext cx="9144000" cy="313932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Eight friends are sitting around a rectangular table either in the middle side or at the corner. Four of them like fruits, apples, mangoes, Grapes, and bananas, and four of them like vegetables, tomatoes, potatoes, Broccoli, and cucumbers. The person who likes vegetables sits at the corner faces inside and the person who likes fruits sits in the middle faces outside.</a:t>
            </a:r>
          </a:p>
          <a:p>
            <a:r>
              <a:rPr lang="en-US" b="1" dirty="0">
                <a:solidFill>
                  <a:srgbClr val="FF0000"/>
                </a:solidFill>
                <a:latin typeface="Times New Roman" pitchFamily="18" charset="0"/>
                <a:cs typeface="Times New Roman" pitchFamily="18" charset="0"/>
              </a:rPr>
              <a:t>Only two friends sit between the one who likes Mango and the one who likes Broccoli. The one who likes Grapes sits second to the right of the one who likes Mango. Only one person sits between the one who likes Tomato and the one who likes Potato. The one who likes Apple is an immediate neighbor of the one who likes Potato. Friends who like Banana and Broccoli do not sit together</a:t>
            </a:r>
            <a:r>
              <a:rPr lang="en-US" b="1" dirty="0" smtClean="0">
                <a:solidFill>
                  <a:srgbClr val="FF0000"/>
                </a:solidFill>
                <a:latin typeface="Times New Roman" pitchFamily="18" charset="0"/>
                <a:cs typeface="Times New Roman" pitchFamily="18" charset="0"/>
              </a:rPr>
              <a:t>.</a:t>
            </a:r>
          </a:p>
          <a:p>
            <a:r>
              <a:rPr lang="en-US" b="1" dirty="0">
                <a:solidFill>
                  <a:srgbClr val="FF0000"/>
                </a:solidFill>
                <a:latin typeface="Times New Roman" pitchFamily="18" charset="0"/>
                <a:cs typeface="Times New Roman" pitchFamily="18" charset="0"/>
              </a:rPr>
              <a:t>Who sits opposite to the one who likes Broccoli?</a:t>
            </a:r>
          </a:p>
        </p:txBody>
      </p:sp>
      <p:sp>
        <p:nvSpPr>
          <p:cNvPr id="5" name="Rectangle 4"/>
          <p:cNvSpPr/>
          <p:nvPr/>
        </p:nvSpPr>
        <p:spPr>
          <a:xfrm>
            <a:off x="76200" y="400050"/>
            <a:ext cx="9067800" cy="1477328"/>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b="1" dirty="0">
                <a:latin typeface="Times New Roman" pitchFamily="18" charset="0"/>
                <a:cs typeface="Times New Roman" pitchFamily="18" charset="0"/>
              </a:rPr>
              <a:t>Eight friends are sitting around a rectangular table either in the middle side or at the corner. Four of them like fruits, apples, mangoes, Grapes, and bananas, and four of them like vegetables, tomatoes, potatoes, Broccoli, and cucumbers. The person who likes vegetables sits at the corner faces inside and the person who likes fruits sits in the middle faces outside.</a:t>
            </a:r>
          </a:p>
        </p:txBody>
      </p:sp>
      <p:sp>
        <p:nvSpPr>
          <p:cNvPr id="9" name="Rectangle 8"/>
          <p:cNvSpPr/>
          <p:nvPr/>
        </p:nvSpPr>
        <p:spPr>
          <a:xfrm>
            <a:off x="3505200" y="3714750"/>
            <a:ext cx="3048000" cy="10668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Rectangle 9"/>
          <p:cNvSpPr/>
          <p:nvPr/>
        </p:nvSpPr>
        <p:spPr>
          <a:xfrm>
            <a:off x="3048000" y="3409950"/>
            <a:ext cx="3810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11" name="Rectangle 10"/>
          <p:cNvSpPr/>
          <p:nvPr/>
        </p:nvSpPr>
        <p:spPr>
          <a:xfrm>
            <a:off x="3098800" y="4781550"/>
            <a:ext cx="3810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12" name="Rectangle 11"/>
          <p:cNvSpPr/>
          <p:nvPr/>
        </p:nvSpPr>
        <p:spPr>
          <a:xfrm>
            <a:off x="6553200" y="3333750"/>
            <a:ext cx="3810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13" name="Rectangle 12"/>
          <p:cNvSpPr/>
          <p:nvPr/>
        </p:nvSpPr>
        <p:spPr>
          <a:xfrm>
            <a:off x="6616700" y="4781550"/>
            <a:ext cx="3810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14" name="Rectangle 13"/>
          <p:cNvSpPr/>
          <p:nvPr/>
        </p:nvSpPr>
        <p:spPr>
          <a:xfrm>
            <a:off x="4724400" y="4794250"/>
            <a:ext cx="3810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15" name="Rectangle 14"/>
          <p:cNvSpPr/>
          <p:nvPr/>
        </p:nvSpPr>
        <p:spPr>
          <a:xfrm>
            <a:off x="6705600" y="4086786"/>
            <a:ext cx="381000" cy="326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16" name="Rectangle 15"/>
          <p:cNvSpPr/>
          <p:nvPr/>
        </p:nvSpPr>
        <p:spPr>
          <a:xfrm>
            <a:off x="2971800" y="4086785"/>
            <a:ext cx="381000" cy="313765"/>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17" name="Rectangle 16"/>
          <p:cNvSpPr/>
          <p:nvPr/>
        </p:nvSpPr>
        <p:spPr>
          <a:xfrm>
            <a:off x="4800600" y="3257550"/>
            <a:ext cx="3810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18" name="Rectangle 17"/>
          <p:cNvSpPr/>
          <p:nvPr/>
        </p:nvSpPr>
        <p:spPr>
          <a:xfrm>
            <a:off x="76200" y="1796018"/>
            <a:ext cx="85344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b="1" dirty="0">
                <a:latin typeface="Times New Roman" pitchFamily="18" charset="0"/>
                <a:cs typeface="Times New Roman" pitchFamily="18" charset="0"/>
              </a:rPr>
              <a:t>Only two friends sit between the one who likes Mango and the one who likes </a:t>
            </a:r>
            <a:r>
              <a:rPr lang="en-US" b="1" dirty="0" smtClean="0">
                <a:latin typeface="Times New Roman" pitchFamily="18" charset="0"/>
                <a:cs typeface="Times New Roman" pitchFamily="18" charset="0"/>
              </a:rPr>
              <a:t>Broccoli.</a:t>
            </a:r>
            <a:endParaRPr lang="en-US" dirty="0"/>
          </a:p>
        </p:txBody>
      </p:sp>
      <p:sp>
        <p:nvSpPr>
          <p:cNvPr id="19" name="Rectangle 18"/>
          <p:cNvSpPr/>
          <p:nvPr/>
        </p:nvSpPr>
        <p:spPr>
          <a:xfrm>
            <a:off x="2120037" y="4094202"/>
            <a:ext cx="877163" cy="369332"/>
          </a:xfrm>
          <a:prstGeom prst="rect">
            <a:avLst/>
          </a:prstGeom>
        </p:spPr>
        <p:txBody>
          <a:bodyPr wrap="none">
            <a:spAutoFit/>
          </a:bodyPr>
          <a:lstStyle/>
          <a:p>
            <a:r>
              <a:rPr lang="en-US" b="1" dirty="0">
                <a:latin typeface="Times New Roman" pitchFamily="18" charset="0"/>
                <a:cs typeface="Times New Roman" pitchFamily="18" charset="0"/>
              </a:rPr>
              <a:t>Mango</a:t>
            </a:r>
            <a:endParaRPr lang="en-US" dirty="0"/>
          </a:p>
        </p:txBody>
      </p:sp>
      <p:sp>
        <p:nvSpPr>
          <p:cNvPr id="20" name="Rectangle 19"/>
          <p:cNvSpPr/>
          <p:nvPr/>
        </p:nvSpPr>
        <p:spPr>
          <a:xfrm>
            <a:off x="7086600" y="3269218"/>
            <a:ext cx="1001236" cy="369332"/>
          </a:xfrm>
          <a:prstGeom prst="rect">
            <a:avLst/>
          </a:prstGeom>
        </p:spPr>
        <p:txBody>
          <a:bodyPr wrap="none">
            <a:spAutoFit/>
          </a:bodyPr>
          <a:lstStyle/>
          <a:p>
            <a:r>
              <a:rPr lang="en-US" b="1" dirty="0">
                <a:latin typeface="Times New Roman" pitchFamily="18" charset="0"/>
                <a:cs typeface="Times New Roman" pitchFamily="18" charset="0"/>
              </a:rPr>
              <a:t>Broccoli</a:t>
            </a:r>
            <a:endParaRPr lang="en-US" dirty="0"/>
          </a:p>
        </p:txBody>
      </p:sp>
      <p:sp>
        <p:nvSpPr>
          <p:cNvPr id="21" name="Rectangle 20"/>
          <p:cNvSpPr/>
          <p:nvPr/>
        </p:nvSpPr>
        <p:spPr>
          <a:xfrm>
            <a:off x="76200" y="2063750"/>
            <a:ext cx="73152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b="1" dirty="0">
                <a:latin typeface="Times New Roman" pitchFamily="18" charset="0"/>
                <a:cs typeface="Times New Roman" pitchFamily="18" charset="0"/>
              </a:rPr>
              <a:t>one who likes Grapes sits second to the right of the one who likes Mango</a:t>
            </a:r>
            <a:endParaRPr lang="en-US" dirty="0"/>
          </a:p>
        </p:txBody>
      </p:sp>
      <p:sp>
        <p:nvSpPr>
          <p:cNvPr id="22" name="Rectangle 21"/>
          <p:cNvSpPr/>
          <p:nvPr/>
        </p:nvSpPr>
        <p:spPr>
          <a:xfrm>
            <a:off x="5180489" y="3194050"/>
            <a:ext cx="902811" cy="369332"/>
          </a:xfrm>
          <a:prstGeom prst="rect">
            <a:avLst/>
          </a:prstGeom>
        </p:spPr>
        <p:txBody>
          <a:bodyPr wrap="none">
            <a:spAutoFit/>
          </a:bodyPr>
          <a:lstStyle/>
          <a:p>
            <a:r>
              <a:rPr lang="en-US" b="1" dirty="0">
                <a:latin typeface="Times New Roman" pitchFamily="18" charset="0"/>
                <a:cs typeface="Times New Roman" pitchFamily="18" charset="0"/>
              </a:rPr>
              <a:t>Grapes</a:t>
            </a:r>
            <a:endParaRPr lang="en-US" dirty="0"/>
          </a:p>
        </p:txBody>
      </p:sp>
      <p:grpSp>
        <p:nvGrpSpPr>
          <p:cNvPr id="25" name="Group 24"/>
          <p:cNvGrpSpPr/>
          <p:nvPr/>
        </p:nvGrpSpPr>
        <p:grpSpPr>
          <a:xfrm>
            <a:off x="76200" y="2610366"/>
            <a:ext cx="8975571" cy="647700"/>
            <a:chOff x="76200" y="2610366"/>
            <a:chExt cx="8975571" cy="647700"/>
          </a:xfrm>
        </p:grpSpPr>
        <p:sp>
          <p:nvSpPr>
            <p:cNvPr id="23" name="Rectangle 22"/>
            <p:cNvSpPr/>
            <p:nvPr/>
          </p:nvSpPr>
          <p:spPr>
            <a:xfrm>
              <a:off x="5981700" y="2610366"/>
              <a:ext cx="3070071"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latin typeface="Times New Roman" pitchFamily="18" charset="0"/>
                  <a:cs typeface="Times New Roman" pitchFamily="18" charset="0"/>
                </a:rPr>
                <a:t>Friends who like Banana and</a:t>
              </a:r>
              <a:endParaRPr lang="en-US" dirty="0"/>
            </a:p>
          </p:txBody>
        </p:sp>
        <p:sp>
          <p:nvSpPr>
            <p:cNvPr id="24" name="Rectangle 23"/>
            <p:cNvSpPr/>
            <p:nvPr/>
          </p:nvSpPr>
          <p:spPr>
            <a:xfrm>
              <a:off x="76200" y="2888734"/>
              <a:ext cx="2847896"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latin typeface="Times New Roman" pitchFamily="18" charset="0"/>
                  <a:cs typeface="Times New Roman" pitchFamily="18" charset="0"/>
                </a:rPr>
                <a:t>Broccoli do not sit together</a:t>
              </a:r>
              <a:endParaRPr lang="en-US" dirty="0"/>
            </a:p>
          </p:txBody>
        </p:sp>
      </p:grpSp>
      <p:sp>
        <p:nvSpPr>
          <p:cNvPr id="27" name="Rectangle 26"/>
          <p:cNvSpPr/>
          <p:nvPr/>
        </p:nvSpPr>
        <p:spPr>
          <a:xfrm>
            <a:off x="5054600" y="4805918"/>
            <a:ext cx="941283" cy="369332"/>
          </a:xfrm>
          <a:prstGeom prst="rect">
            <a:avLst/>
          </a:prstGeom>
        </p:spPr>
        <p:txBody>
          <a:bodyPr wrap="none">
            <a:spAutoFit/>
          </a:bodyPr>
          <a:lstStyle/>
          <a:p>
            <a:r>
              <a:rPr lang="en-US" b="1" dirty="0">
                <a:latin typeface="Times New Roman" pitchFamily="18" charset="0"/>
                <a:cs typeface="Times New Roman" pitchFamily="18" charset="0"/>
              </a:rPr>
              <a:t>Banana</a:t>
            </a:r>
            <a:endParaRPr lang="en-US" dirty="0"/>
          </a:p>
        </p:txBody>
      </p:sp>
      <p:sp>
        <p:nvSpPr>
          <p:cNvPr id="28" name="Rectangle 27"/>
          <p:cNvSpPr/>
          <p:nvPr/>
        </p:nvSpPr>
        <p:spPr>
          <a:xfrm>
            <a:off x="3200400" y="692150"/>
            <a:ext cx="813043"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latin typeface="Times New Roman" pitchFamily="18" charset="0"/>
                <a:cs typeface="Times New Roman" pitchFamily="18" charset="0"/>
              </a:rPr>
              <a:t>apples</a:t>
            </a:r>
            <a:endParaRPr lang="en-US" dirty="0"/>
          </a:p>
        </p:txBody>
      </p:sp>
      <p:sp>
        <p:nvSpPr>
          <p:cNvPr id="29" name="Rectangle 28"/>
          <p:cNvSpPr/>
          <p:nvPr/>
        </p:nvSpPr>
        <p:spPr>
          <a:xfrm>
            <a:off x="7137278" y="4106386"/>
            <a:ext cx="813043" cy="369332"/>
          </a:xfrm>
          <a:prstGeom prst="rect">
            <a:avLst/>
          </a:prstGeom>
        </p:spPr>
        <p:txBody>
          <a:bodyPr wrap="none">
            <a:spAutoFit/>
          </a:bodyPr>
          <a:lstStyle/>
          <a:p>
            <a:r>
              <a:rPr lang="en-US" b="1" dirty="0">
                <a:latin typeface="Times New Roman" pitchFamily="18" charset="0"/>
                <a:cs typeface="Times New Roman" pitchFamily="18" charset="0"/>
              </a:rPr>
              <a:t>apples</a:t>
            </a:r>
            <a:endParaRPr lang="en-US" dirty="0"/>
          </a:p>
        </p:txBody>
      </p:sp>
      <p:sp>
        <p:nvSpPr>
          <p:cNvPr id="30" name="Rectangle 29"/>
          <p:cNvSpPr/>
          <p:nvPr/>
        </p:nvSpPr>
        <p:spPr>
          <a:xfrm>
            <a:off x="76200" y="2608818"/>
            <a:ext cx="60198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b="1" dirty="0">
                <a:latin typeface="Times New Roman" pitchFamily="18" charset="0"/>
                <a:cs typeface="Times New Roman" pitchFamily="18" charset="0"/>
              </a:rPr>
              <a:t>Apple is an immediate neighbor of the one who likes Potato</a:t>
            </a:r>
            <a:endParaRPr lang="en-US" dirty="0"/>
          </a:p>
        </p:txBody>
      </p:sp>
      <p:sp>
        <p:nvSpPr>
          <p:cNvPr id="31" name="Rectangle 30"/>
          <p:cNvSpPr/>
          <p:nvPr/>
        </p:nvSpPr>
        <p:spPr>
          <a:xfrm>
            <a:off x="7218551" y="4633952"/>
            <a:ext cx="825867" cy="369332"/>
          </a:xfrm>
          <a:prstGeom prst="rect">
            <a:avLst/>
          </a:prstGeom>
        </p:spPr>
        <p:txBody>
          <a:bodyPr wrap="none">
            <a:spAutoFit/>
          </a:bodyPr>
          <a:lstStyle/>
          <a:p>
            <a:r>
              <a:rPr lang="en-US" b="1" dirty="0">
                <a:latin typeface="Times New Roman" pitchFamily="18" charset="0"/>
                <a:cs typeface="Times New Roman" pitchFamily="18" charset="0"/>
              </a:rPr>
              <a:t>Potato</a:t>
            </a:r>
            <a:endParaRPr lang="en-US" dirty="0"/>
          </a:p>
        </p:txBody>
      </p:sp>
      <p:sp>
        <p:nvSpPr>
          <p:cNvPr id="32" name="Rectangle 31"/>
          <p:cNvSpPr/>
          <p:nvPr/>
        </p:nvSpPr>
        <p:spPr>
          <a:xfrm>
            <a:off x="7239000" y="2063750"/>
            <a:ext cx="1858201"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latin typeface="Times New Roman" pitchFamily="18" charset="0"/>
                <a:cs typeface="Times New Roman" pitchFamily="18" charset="0"/>
              </a:rPr>
              <a:t>Only one person </a:t>
            </a:r>
            <a:endParaRPr lang="en-US" dirty="0"/>
          </a:p>
        </p:txBody>
      </p:sp>
      <p:sp>
        <p:nvSpPr>
          <p:cNvPr id="33" name="Rectangle 32"/>
          <p:cNvSpPr/>
          <p:nvPr/>
        </p:nvSpPr>
        <p:spPr>
          <a:xfrm>
            <a:off x="76200" y="2354818"/>
            <a:ext cx="6883521"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b="1" dirty="0">
                <a:latin typeface="Times New Roman" pitchFamily="18" charset="0"/>
                <a:cs typeface="Times New Roman" pitchFamily="18" charset="0"/>
              </a:rPr>
              <a:t>sits between the one who likes Tomato and the one who likes Potato. </a:t>
            </a:r>
            <a:endParaRPr lang="en-US" dirty="0"/>
          </a:p>
        </p:txBody>
      </p:sp>
      <p:sp>
        <p:nvSpPr>
          <p:cNvPr id="34" name="Rectangle 33"/>
          <p:cNvSpPr/>
          <p:nvPr/>
        </p:nvSpPr>
        <p:spPr>
          <a:xfrm>
            <a:off x="2064252" y="4767818"/>
            <a:ext cx="932948" cy="369332"/>
          </a:xfrm>
          <a:prstGeom prst="rect">
            <a:avLst/>
          </a:prstGeom>
        </p:spPr>
        <p:txBody>
          <a:bodyPr wrap="none">
            <a:spAutoFit/>
          </a:bodyPr>
          <a:lstStyle/>
          <a:p>
            <a:r>
              <a:rPr lang="en-US" b="1" dirty="0">
                <a:latin typeface="Times New Roman" pitchFamily="18" charset="0"/>
                <a:cs typeface="Times New Roman" pitchFamily="18" charset="0"/>
              </a:rPr>
              <a:t>Tomato</a:t>
            </a:r>
            <a:endParaRPr lang="en-US" dirty="0"/>
          </a:p>
        </p:txBody>
      </p:sp>
      <p:sp>
        <p:nvSpPr>
          <p:cNvPr id="35" name="Rectangle 34"/>
          <p:cNvSpPr/>
          <p:nvPr/>
        </p:nvSpPr>
        <p:spPr>
          <a:xfrm>
            <a:off x="4876800" y="971550"/>
            <a:ext cx="1261884"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smtClean="0">
                <a:latin typeface="Times New Roman" pitchFamily="18" charset="0"/>
                <a:cs typeface="Times New Roman" pitchFamily="18" charset="0"/>
              </a:rPr>
              <a:t>cucumbers</a:t>
            </a:r>
            <a:endParaRPr lang="en-US" dirty="0"/>
          </a:p>
        </p:txBody>
      </p:sp>
      <p:sp>
        <p:nvSpPr>
          <p:cNvPr id="36" name="Rectangle 35"/>
          <p:cNvSpPr/>
          <p:nvPr/>
        </p:nvSpPr>
        <p:spPr>
          <a:xfrm>
            <a:off x="1748016" y="3441700"/>
            <a:ext cx="1261884"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smtClean="0">
                <a:latin typeface="Times New Roman" pitchFamily="18" charset="0"/>
                <a:cs typeface="Times New Roman" pitchFamily="18" charset="0"/>
              </a:rPr>
              <a:t>cucumbers</a:t>
            </a:r>
            <a:endParaRPr lang="en-US" dirty="0"/>
          </a:p>
        </p:txBody>
      </p:sp>
      <p:sp>
        <p:nvSpPr>
          <p:cNvPr id="37" name="Rectangle 36"/>
          <p:cNvSpPr/>
          <p:nvPr/>
        </p:nvSpPr>
        <p:spPr>
          <a:xfrm>
            <a:off x="3632333" y="3790950"/>
            <a:ext cx="2809796"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latin typeface="Times New Roman" pitchFamily="18" charset="0"/>
                <a:cs typeface="Times New Roman" pitchFamily="18" charset="0"/>
              </a:rPr>
              <a:t>Hence, the one who likes Tomato sits opposite to the one who likes Broccoli.</a:t>
            </a:r>
          </a:p>
        </p:txBody>
      </p:sp>
    </p:spTree>
    <p:extLst>
      <p:ext uri="{BB962C8B-B14F-4D97-AF65-F5344CB8AC3E}">
        <p14:creationId xmlns:p14="http://schemas.microsoft.com/office/powerpoint/2010/main" val="3521855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left)">
                                      <p:cBhvr>
                                        <p:cTn id="62"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wipe(left)">
                                      <p:cBhvr>
                                        <p:cTn id="72" dur="500"/>
                                        <p:tgtEl>
                                          <p:spTgt spid="2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left)">
                                      <p:cBhvr>
                                        <p:cTn id="77"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wipe(left)">
                                      <p:cBhvr>
                                        <p:cTn id="82" dur="500"/>
                                        <p:tgtEl>
                                          <p:spTgt spid="2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wipe(left)">
                                      <p:cBhvr>
                                        <p:cTn id="87"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wipe(left)">
                                      <p:cBhvr>
                                        <p:cTn id="92" dur="500"/>
                                        <p:tgtEl>
                                          <p:spTgt spid="2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8"/>
                                        </p:tgtEl>
                                        <p:attrNameLst>
                                          <p:attrName>style.visibility</p:attrName>
                                        </p:attrNameLst>
                                      </p:cBhvr>
                                      <p:to>
                                        <p:strVal val="visible"/>
                                      </p:to>
                                    </p:set>
                                    <p:animEffect transition="in" filter="wipe(left)">
                                      <p:cBhvr>
                                        <p:cTn id="97"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wipe(left)">
                                      <p:cBhvr>
                                        <p:cTn id="102" dur="500"/>
                                        <p:tgtEl>
                                          <p:spTgt spid="2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wipe(left)">
                                      <p:cBhvr>
                                        <p:cTn id="107"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wipe(left)">
                                      <p:cBhvr>
                                        <p:cTn id="112" dur="500"/>
                                        <p:tgtEl>
                                          <p:spTgt spid="31"/>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wipe(left)">
                                      <p:cBhvr>
                                        <p:cTn id="117" dur="500"/>
                                        <p:tgtEl>
                                          <p:spTgt spid="32"/>
                                        </p:tgtEl>
                                      </p:cBhvr>
                                    </p:animEffec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wipe(left)">
                                      <p:cBhvr>
                                        <p:cTn id="122" dur="500"/>
                                        <p:tgtEl>
                                          <p:spTgt spid="33"/>
                                        </p:tgtEl>
                                      </p:cBhvr>
                                    </p:animEffec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34"/>
                                        </p:tgtEl>
                                        <p:attrNameLst>
                                          <p:attrName>style.visibility</p:attrName>
                                        </p:attrNameLst>
                                      </p:cBhvr>
                                      <p:to>
                                        <p:strVal val="visible"/>
                                      </p:to>
                                    </p:set>
                                    <p:animEffect transition="in" filter="wipe(left)">
                                      <p:cBhvr>
                                        <p:cTn id="127" dur="500"/>
                                        <p:tgtEl>
                                          <p:spTgt spid="34"/>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35"/>
                                        </p:tgtEl>
                                        <p:attrNameLst>
                                          <p:attrName>style.visibility</p:attrName>
                                        </p:attrNameLst>
                                      </p:cBhvr>
                                      <p:to>
                                        <p:strVal val="visible"/>
                                      </p:to>
                                    </p:set>
                                    <p:animEffect transition="in" filter="wipe(left)">
                                      <p:cBhvr>
                                        <p:cTn id="132" dur="500"/>
                                        <p:tgtEl>
                                          <p:spTgt spid="35"/>
                                        </p:tgtEl>
                                      </p:cBhvr>
                                    </p:animEffec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36"/>
                                        </p:tgtEl>
                                        <p:attrNameLst>
                                          <p:attrName>style.visibility</p:attrName>
                                        </p:attrNameLst>
                                      </p:cBhvr>
                                      <p:to>
                                        <p:strVal val="visible"/>
                                      </p:to>
                                    </p:set>
                                    <p:animEffect transition="in" filter="wipe(left)">
                                      <p:cBhvr>
                                        <p:cTn id="137" dur="500"/>
                                        <p:tgtEl>
                                          <p:spTgt spid="36"/>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wipe(left)">
                                      <p:cBhvr>
                                        <p:cTn id="14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p:bldP spid="21" grpId="0" animBg="1"/>
      <p:bldP spid="22" grpId="0"/>
      <p:bldP spid="27" grpId="0"/>
      <p:bldP spid="28" grpId="0" animBg="1"/>
      <p:bldP spid="29" grpId="0"/>
      <p:bldP spid="30" grpId="0" animBg="1"/>
      <p:bldP spid="31" grpId="0"/>
      <p:bldP spid="32" grpId="0" animBg="1"/>
      <p:bldP spid="33" grpId="0" animBg="1"/>
      <p:bldP spid="34" grpId="0"/>
      <p:bldP spid="35" grpId="0" animBg="1"/>
      <p:bldP spid="36" grpId="0" animBg="1"/>
      <p:bldP spid="3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57150"/>
            <a:ext cx="8915400" cy="2585323"/>
          </a:xfrm>
          <a:prstGeom prst="rect">
            <a:avLst/>
          </a:prstGeom>
        </p:spPr>
        <p:txBody>
          <a:bodyPr wrap="square">
            <a:spAutoFit/>
          </a:bodyPr>
          <a:lstStyle/>
          <a:p>
            <a:r>
              <a:rPr lang="en-IN" b="1" dirty="0">
                <a:solidFill>
                  <a:srgbClr val="FF0000"/>
                </a:solidFill>
                <a:latin typeface="Times New Roman" pitchFamily="18" charset="0"/>
                <a:cs typeface="Times New Roman" pitchFamily="18" charset="0"/>
              </a:rPr>
              <a:t>Eight players Sachin, </a:t>
            </a:r>
            <a:r>
              <a:rPr lang="en-IN" b="1" dirty="0" err="1">
                <a:solidFill>
                  <a:srgbClr val="FF0000"/>
                </a:solidFill>
                <a:latin typeface="Times New Roman" pitchFamily="18" charset="0"/>
                <a:cs typeface="Times New Roman" pitchFamily="18" charset="0"/>
              </a:rPr>
              <a:t>Virat</a:t>
            </a:r>
            <a:r>
              <a:rPr lang="en-IN" b="1" dirty="0">
                <a:solidFill>
                  <a:srgbClr val="FF0000"/>
                </a:solidFill>
                <a:latin typeface="Times New Roman" pitchFamily="18" charset="0"/>
                <a:cs typeface="Times New Roman" pitchFamily="18" charset="0"/>
              </a:rPr>
              <a:t>, </a:t>
            </a:r>
            <a:r>
              <a:rPr lang="en-IN" b="1" dirty="0" err="1">
                <a:solidFill>
                  <a:srgbClr val="FF0000"/>
                </a:solidFill>
                <a:latin typeface="Times New Roman" pitchFamily="18" charset="0"/>
                <a:cs typeface="Times New Roman" pitchFamily="18" charset="0"/>
              </a:rPr>
              <a:t>Rohit</a:t>
            </a:r>
            <a:r>
              <a:rPr lang="en-IN" b="1" dirty="0">
                <a:solidFill>
                  <a:srgbClr val="FF0000"/>
                </a:solidFill>
                <a:latin typeface="Times New Roman" pitchFamily="18" charset="0"/>
                <a:cs typeface="Times New Roman" pitchFamily="18" charset="0"/>
              </a:rPr>
              <a:t>, </a:t>
            </a:r>
            <a:r>
              <a:rPr lang="en-IN" b="1" dirty="0" err="1">
                <a:solidFill>
                  <a:srgbClr val="FF0000"/>
                </a:solidFill>
                <a:latin typeface="Times New Roman" pitchFamily="18" charset="0"/>
                <a:cs typeface="Times New Roman" pitchFamily="18" charset="0"/>
              </a:rPr>
              <a:t>Dhawan</a:t>
            </a:r>
            <a:r>
              <a:rPr lang="en-IN" b="1" dirty="0">
                <a:solidFill>
                  <a:srgbClr val="FF0000"/>
                </a:solidFill>
                <a:latin typeface="Times New Roman" pitchFamily="18" charset="0"/>
                <a:cs typeface="Times New Roman" pitchFamily="18" charset="0"/>
              </a:rPr>
              <a:t>, </a:t>
            </a:r>
            <a:r>
              <a:rPr lang="en-IN" b="1" dirty="0" err="1">
                <a:solidFill>
                  <a:srgbClr val="FF0000"/>
                </a:solidFill>
                <a:latin typeface="Times New Roman" pitchFamily="18" charset="0"/>
                <a:cs typeface="Times New Roman" pitchFamily="18" charset="0"/>
              </a:rPr>
              <a:t>Dhoni</a:t>
            </a:r>
            <a:r>
              <a:rPr lang="en-IN" b="1" dirty="0">
                <a:solidFill>
                  <a:srgbClr val="FF0000"/>
                </a:solidFill>
                <a:latin typeface="Times New Roman" pitchFamily="18" charset="0"/>
                <a:cs typeface="Times New Roman" pitchFamily="18" charset="0"/>
              </a:rPr>
              <a:t>, </a:t>
            </a:r>
            <a:r>
              <a:rPr lang="en-IN" b="1" dirty="0" err="1">
                <a:solidFill>
                  <a:srgbClr val="FF0000"/>
                </a:solidFill>
                <a:latin typeface="Times New Roman" pitchFamily="18" charset="0"/>
                <a:cs typeface="Times New Roman" pitchFamily="18" charset="0"/>
              </a:rPr>
              <a:t>Rahane</a:t>
            </a:r>
            <a:r>
              <a:rPr lang="en-IN" b="1" dirty="0">
                <a:solidFill>
                  <a:srgbClr val="FF0000"/>
                </a:solidFill>
                <a:latin typeface="Times New Roman" pitchFamily="18" charset="0"/>
                <a:cs typeface="Times New Roman" pitchFamily="18" charset="0"/>
              </a:rPr>
              <a:t>, </a:t>
            </a:r>
            <a:r>
              <a:rPr lang="en-IN" b="1" dirty="0" err="1">
                <a:solidFill>
                  <a:srgbClr val="FF0000"/>
                </a:solidFill>
                <a:latin typeface="Times New Roman" pitchFamily="18" charset="0"/>
                <a:cs typeface="Times New Roman" pitchFamily="18" charset="0"/>
              </a:rPr>
              <a:t>Gambhir</a:t>
            </a:r>
            <a:r>
              <a:rPr lang="en-IN" b="1" dirty="0">
                <a:solidFill>
                  <a:srgbClr val="FF0000"/>
                </a:solidFill>
                <a:latin typeface="Times New Roman" pitchFamily="18" charset="0"/>
                <a:cs typeface="Times New Roman" pitchFamily="18" charset="0"/>
              </a:rPr>
              <a:t>, &amp; </a:t>
            </a:r>
            <a:r>
              <a:rPr lang="en-IN" b="1" dirty="0" err="1">
                <a:solidFill>
                  <a:srgbClr val="FF0000"/>
                </a:solidFill>
                <a:latin typeface="Times New Roman" pitchFamily="18" charset="0"/>
                <a:cs typeface="Times New Roman" pitchFamily="18" charset="0"/>
              </a:rPr>
              <a:t>Ashwin</a:t>
            </a:r>
            <a:r>
              <a:rPr lang="en-IN" b="1" dirty="0">
                <a:solidFill>
                  <a:srgbClr val="FF0000"/>
                </a:solidFill>
                <a:latin typeface="Times New Roman" pitchFamily="18" charset="0"/>
                <a:cs typeface="Times New Roman" pitchFamily="18" charset="0"/>
              </a:rPr>
              <a:t> play for three different teams </a:t>
            </a:r>
            <a:r>
              <a:rPr lang="en-IN" b="1" dirty="0" smtClean="0">
                <a:solidFill>
                  <a:srgbClr val="FF0000"/>
                </a:solidFill>
                <a:latin typeface="Times New Roman" pitchFamily="18" charset="0"/>
                <a:cs typeface="Times New Roman" pitchFamily="18" charset="0"/>
              </a:rPr>
              <a:t>SRH, </a:t>
            </a:r>
            <a:r>
              <a:rPr lang="en-US" b="1" dirty="0" smtClean="0">
                <a:solidFill>
                  <a:srgbClr val="FF0000"/>
                </a:solidFill>
                <a:latin typeface="Times New Roman" pitchFamily="18" charset="0"/>
                <a:cs typeface="Times New Roman" pitchFamily="18" charset="0"/>
              </a:rPr>
              <a:t>MI </a:t>
            </a:r>
            <a:r>
              <a:rPr lang="en-US" b="1" dirty="0">
                <a:solidFill>
                  <a:srgbClr val="FF0000"/>
                </a:solidFill>
                <a:latin typeface="Times New Roman" pitchFamily="18" charset="0"/>
                <a:cs typeface="Times New Roman" pitchFamily="18" charset="0"/>
              </a:rPr>
              <a:t>and KKR and like eight different </a:t>
            </a:r>
            <a:r>
              <a:rPr lang="en-US" b="1" dirty="0" err="1">
                <a:solidFill>
                  <a:srgbClr val="FF0000"/>
                </a:solidFill>
                <a:latin typeface="Times New Roman" pitchFamily="18" charset="0"/>
                <a:cs typeface="Times New Roman" pitchFamily="18" charset="0"/>
              </a:rPr>
              <a:t>colours</a:t>
            </a:r>
            <a:r>
              <a:rPr lang="en-US" b="1" dirty="0">
                <a:solidFill>
                  <a:srgbClr val="FF0000"/>
                </a:solidFill>
                <a:latin typeface="Times New Roman" pitchFamily="18" charset="0"/>
                <a:cs typeface="Times New Roman" pitchFamily="18" charset="0"/>
              </a:rPr>
              <a:t> viz. Violet, Indigo, Blue, Green, Yellow, Orange, Red and White </a:t>
            </a:r>
            <a:r>
              <a:rPr lang="en-US" b="1" dirty="0" smtClean="0">
                <a:solidFill>
                  <a:srgbClr val="FF0000"/>
                </a:solidFill>
                <a:latin typeface="Times New Roman" pitchFamily="18" charset="0"/>
                <a:cs typeface="Times New Roman" pitchFamily="18" charset="0"/>
              </a:rPr>
              <a:t>not necessarily </a:t>
            </a:r>
            <a:r>
              <a:rPr lang="en-US" b="1" dirty="0">
                <a:solidFill>
                  <a:srgbClr val="FF0000"/>
                </a:solidFill>
                <a:latin typeface="Times New Roman" pitchFamily="18" charset="0"/>
                <a:cs typeface="Times New Roman" pitchFamily="18" charset="0"/>
              </a:rPr>
              <a:t>in the same order. At least two and not more than three players play for the same team. </a:t>
            </a:r>
            <a:r>
              <a:rPr lang="en-US" b="1" dirty="0" err="1">
                <a:solidFill>
                  <a:srgbClr val="FF0000"/>
                </a:solidFill>
                <a:latin typeface="Times New Roman" pitchFamily="18" charset="0"/>
                <a:cs typeface="Times New Roman" pitchFamily="18" charset="0"/>
              </a:rPr>
              <a:t>Virat</a:t>
            </a:r>
            <a:r>
              <a:rPr lang="en-US" b="1" dirty="0">
                <a:solidFill>
                  <a:srgbClr val="FF0000"/>
                </a:solidFill>
                <a:latin typeface="Times New Roman" pitchFamily="18" charset="0"/>
                <a:cs typeface="Times New Roman" pitchFamily="18" charset="0"/>
              </a:rPr>
              <a:t> plays for MI</a:t>
            </a:r>
          </a:p>
          <a:p>
            <a:r>
              <a:rPr lang="en-US" b="1" dirty="0">
                <a:solidFill>
                  <a:srgbClr val="FF0000"/>
                </a:solidFill>
                <a:latin typeface="Times New Roman" pitchFamily="18" charset="0"/>
                <a:cs typeface="Times New Roman" pitchFamily="18" charset="0"/>
              </a:rPr>
              <a:t>and likes Violet. </a:t>
            </a:r>
            <a:r>
              <a:rPr lang="en-US" b="1" dirty="0" err="1">
                <a:solidFill>
                  <a:srgbClr val="FF0000"/>
                </a:solidFill>
                <a:latin typeface="Times New Roman" pitchFamily="18" charset="0"/>
                <a:cs typeface="Times New Roman" pitchFamily="18" charset="0"/>
              </a:rPr>
              <a:t>Rohit</a:t>
            </a:r>
            <a:r>
              <a:rPr lang="en-US" b="1" dirty="0">
                <a:solidFill>
                  <a:srgbClr val="FF0000"/>
                </a:solidFill>
                <a:latin typeface="Times New Roman" pitchFamily="18" charset="0"/>
                <a:cs typeface="Times New Roman" pitchFamily="18" charset="0"/>
              </a:rPr>
              <a:t> likes Green but do not play for SRH. No one from KKR likes White. The only other person </a:t>
            </a:r>
            <a:r>
              <a:rPr lang="en-US" b="1" dirty="0" smtClean="0">
                <a:solidFill>
                  <a:srgbClr val="FF0000"/>
                </a:solidFill>
                <a:latin typeface="Times New Roman" pitchFamily="18" charset="0"/>
                <a:cs typeface="Times New Roman" pitchFamily="18" charset="0"/>
              </a:rPr>
              <a:t>in same </a:t>
            </a:r>
            <a:r>
              <a:rPr lang="en-US" b="1" dirty="0">
                <a:solidFill>
                  <a:srgbClr val="FF0000"/>
                </a:solidFill>
                <a:latin typeface="Times New Roman" pitchFamily="18" charset="0"/>
                <a:cs typeface="Times New Roman" pitchFamily="18" charset="0"/>
              </a:rPr>
              <a:t>team with </a:t>
            </a:r>
            <a:r>
              <a:rPr lang="en-US" b="1" dirty="0" err="1">
                <a:solidFill>
                  <a:srgbClr val="FF0000"/>
                </a:solidFill>
                <a:latin typeface="Times New Roman" pitchFamily="18" charset="0"/>
                <a:cs typeface="Times New Roman" pitchFamily="18" charset="0"/>
              </a:rPr>
              <a:t>Virat</a:t>
            </a:r>
            <a:r>
              <a:rPr lang="en-US" b="1" dirty="0">
                <a:solidFill>
                  <a:srgbClr val="FF0000"/>
                </a:solidFill>
                <a:latin typeface="Times New Roman" pitchFamily="18" charset="0"/>
                <a:cs typeface="Times New Roman" pitchFamily="18" charset="0"/>
              </a:rPr>
              <a:t> likes Blue. </a:t>
            </a:r>
            <a:r>
              <a:rPr lang="en-US" b="1" dirty="0" err="1">
                <a:solidFill>
                  <a:srgbClr val="FF0000"/>
                </a:solidFill>
                <a:latin typeface="Times New Roman" pitchFamily="18" charset="0"/>
                <a:cs typeface="Times New Roman" pitchFamily="18" charset="0"/>
              </a:rPr>
              <a:t>Dhoni</a:t>
            </a:r>
            <a:r>
              <a:rPr lang="en-US" b="1" dirty="0">
                <a:solidFill>
                  <a:srgbClr val="FF0000"/>
                </a:solidFill>
                <a:latin typeface="Times New Roman" pitchFamily="18" charset="0"/>
                <a:cs typeface="Times New Roman" pitchFamily="18" charset="0"/>
              </a:rPr>
              <a:t> likes White and </a:t>
            </a:r>
            <a:r>
              <a:rPr lang="en-US" b="1" dirty="0" err="1">
                <a:solidFill>
                  <a:srgbClr val="FF0000"/>
                </a:solidFill>
                <a:latin typeface="Times New Roman" pitchFamily="18" charset="0"/>
                <a:cs typeface="Times New Roman" pitchFamily="18" charset="0"/>
              </a:rPr>
              <a:t>Rahane</a:t>
            </a:r>
            <a:r>
              <a:rPr lang="en-US" b="1" dirty="0">
                <a:solidFill>
                  <a:srgbClr val="FF0000"/>
                </a:solidFill>
                <a:latin typeface="Times New Roman" pitchFamily="18" charset="0"/>
                <a:cs typeface="Times New Roman" pitchFamily="18" charset="0"/>
              </a:rPr>
              <a:t> likes Indigo. </a:t>
            </a:r>
            <a:r>
              <a:rPr lang="en-US" b="1" dirty="0" err="1">
                <a:solidFill>
                  <a:srgbClr val="FF0000"/>
                </a:solidFill>
                <a:latin typeface="Times New Roman" pitchFamily="18" charset="0"/>
                <a:cs typeface="Times New Roman" pitchFamily="18" charset="0"/>
              </a:rPr>
              <a:t>Ashwin</a:t>
            </a:r>
            <a:r>
              <a:rPr lang="en-US" b="1" dirty="0">
                <a:solidFill>
                  <a:srgbClr val="FF0000"/>
                </a:solidFill>
                <a:latin typeface="Times New Roman" pitchFamily="18" charset="0"/>
                <a:cs typeface="Times New Roman" pitchFamily="18" charset="0"/>
              </a:rPr>
              <a:t> does not like Blue and plays </a:t>
            </a:r>
            <a:r>
              <a:rPr lang="en-US" b="1" dirty="0" smtClean="0">
                <a:solidFill>
                  <a:srgbClr val="FF0000"/>
                </a:solidFill>
                <a:latin typeface="Times New Roman" pitchFamily="18" charset="0"/>
                <a:cs typeface="Times New Roman" pitchFamily="18" charset="0"/>
              </a:rPr>
              <a:t>for the </a:t>
            </a:r>
            <a:r>
              <a:rPr lang="en-US" b="1" dirty="0">
                <a:solidFill>
                  <a:srgbClr val="FF0000"/>
                </a:solidFill>
                <a:latin typeface="Times New Roman" pitchFamily="18" charset="0"/>
                <a:cs typeface="Times New Roman" pitchFamily="18" charset="0"/>
              </a:rPr>
              <a:t>same team with </a:t>
            </a:r>
            <a:r>
              <a:rPr lang="en-US" b="1" dirty="0" err="1">
                <a:solidFill>
                  <a:srgbClr val="FF0000"/>
                </a:solidFill>
                <a:latin typeface="Times New Roman" pitchFamily="18" charset="0"/>
                <a:cs typeface="Times New Roman" pitchFamily="18" charset="0"/>
              </a:rPr>
              <a:t>Dhoni</a:t>
            </a:r>
            <a:r>
              <a:rPr lang="en-US" b="1" dirty="0">
                <a:solidFill>
                  <a:srgbClr val="FF0000"/>
                </a:solidFill>
                <a:latin typeface="Times New Roman" pitchFamily="18" charset="0"/>
                <a:cs typeface="Times New Roman" pitchFamily="18" charset="0"/>
              </a:rPr>
              <a:t>. </a:t>
            </a:r>
            <a:r>
              <a:rPr lang="en-US" b="1" dirty="0" err="1">
                <a:solidFill>
                  <a:srgbClr val="FF0000"/>
                </a:solidFill>
                <a:latin typeface="Times New Roman" pitchFamily="18" charset="0"/>
                <a:cs typeface="Times New Roman" pitchFamily="18" charset="0"/>
              </a:rPr>
              <a:t>Sachin</a:t>
            </a:r>
            <a:r>
              <a:rPr lang="en-US" b="1" dirty="0">
                <a:solidFill>
                  <a:srgbClr val="FF0000"/>
                </a:solidFill>
                <a:latin typeface="Times New Roman" pitchFamily="18" charset="0"/>
                <a:cs typeface="Times New Roman" pitchFamily="18" charset="0"/>
              </a:rPr>
              <a:t> and </a:t>
            </a:r>
            <a:r>
              <a:rPr lang="en-US" b="1" dirty="0" err="1">
                <a:solidFill>
                  <a:srgbClr val="FF0000"/>
                </a:solidFill>
                <a:latin typeface="Times New Roman" pitchFamily="18" charset="0"/>
                <a:cs typeface="Times New Roman" pitchFamily="18" charset="0"/>
              </a:rPr>
              <a:t>Gambhir</a:t>
            </a:r>
            <a:r>
              <a:rPr lang="en-US" b="1" dirty="0">
                <a:solidFill>
                  <a:srgbClr val="FF0000"/>
                </a:solidFill>
                <a:latin typeface="Times New Roman" pitchFamily="18" charset="0"/>
                <a:cs typeface="Times New Roman" pitchFamily="18" charset="0"/>
              </a:rPr>
              <a:t> both play for KKR. The one who plays for KKR does not like</a:t>
            </a:r>
          </a:p>
          <a:p>
            <a:r>
              <a:rPr lang="en-US" b="1" dirty="0">
                <a:solidFill>
                  <a:srgbClr val="FF0000"/>
                </a:solidFill>
                <a:latin typeface="Times New Roman" pitchFamily="18" charset="0"/>
                <a:cs typeface="Times New Roman" pitchFamily="18" charset="0"/>
              </a:rPr>
              <a:t>Orange. </a:t>
            </a:r>
            <a:r>
              <a:rPr lang="en-US" b="1" dirty="0" err="1">
                <a:solidFill>
                  <a:srgbClr val="FF0000"/>
                </a:solidFill>
                <a:latin typeface="Times New Roman" pitchFamily="18" charset="0"/>
                <a:cs typeface="Times New Roman" pitchFamily="18" charset="0"/>
              </a:rPr>
              <a:t>Gambhir</a:t>
            </a:r>
            <a:r>
              <a:rPr lang="en-US" b="1" dirty="0">
                <a:solidFill>
                  <a:srgbClr val="FF0000"/>
                </a:solidFill>
                <a:latin typeface="Times New Roman" pitchFamily="18" charset="0"/>
                <a:cs typeface="Times New Roman" pitchFamily="18" charset="0"/>
              </a:rPr>
              <a:t> does not like Red</a:t>
            </a:r>
            <a:endParaRPr lang="en-IN" b="1" dirty="0">
              <a:solidFill>
                <a:srgbClr val="FF0000"/>
              </a:solidFill>
              <a:latin typeface="Times New Roman" pitchFamily="18" charset="0"/>
              <a:cs typeface="Times New Roman" pitchFamily="18" charset="0"/>
            </a:endParaRPr>
          </a:p>
        </p:txBody>
      </p:sp>
      <p:sp>
        <p:nvSpPr>
          <p:cNvPr id="3" name="Rectangle 2"/>
          <p:cNvSpPr/>
          <p:nvPr/>
        </p:nvSpPr>
        <p:spPr>
          <a:xfrm>
            <a:off x="1066800" y="2696329"/>
            <a:ext cx="659155" cy="369332"/>
          </a:xfrm>
          <a:prstGeom prst="rect">
            <a:avLst/>
          </a:prstGeom>
        </p:spPr>
        <p:txBody>
          <a:bodyPr wrap="none">
            <a:spAutoFit/>
          </a:bodyPr>
          <a:lstStyle/>
          <a:p>
            <a:r>
              <a:rPr lang="en-IN" b="1" dirty="0">
                <a:latin typeface="Times New Roman" pitchFamily="18" charset="0"/>
                <a:cs typeface="Times New Roman" pitchFamily="18" charset="0"/>
              </a:rPr>
              <a:t>SRH</a:t>
            </a:r>
            <a:endParaRPr lang="en-IN" dirty="0"/>
          </a:p>
        </p:txBody>
      </p:sp>
      <p:sp>
        <p:nvSpPr>
          <p:cNvPr id="4" name="Rectangle 3"/>
          <p:cNvSpPr/>
          <p:nvPr/>
        </p:nvSpPr>
        <p:spPr>
          <a:xfrm>
            <a:off x="3657600" y="2696329"/>
            <a:ext cx="550151" cy="369332"/>
          </a:xfrm>
          <a:prstGeom prst="rect">
            <a:avLst/>
          </a:prstGeom>
        </p:spPr>
        <p:txBody>
          <a:bodyPr wrap="none">
            <a:spAutoFit/>
          </a:bodyPr>
          <a:lstStyle/>
          <a:p>
            <a:r>
              <a:rPr lang="en-US" b="1" dirty="0">
                <a:latin typeface="Times New Roman" pitchFamily="18" charset="0"/>
                <a:cs typeface="Times New Roman" pitchFamily="18" charset="0"/>
              </a:rPr>
              <a:t>MI </a:t>
            </a:r>
            <a:endParaRPr lang="en-IN" dirty="0"/>
          </a:p>
        </p:txBody>
      </p:sp>
      <p:sp>
        <p:nvSpPr>
          <p:cNvPr id="5" name="Rectangle 4"/>
          <p:cNvSpPr/>
          <p:nvPr/>
        </p:nvSpPr>
        <p:spPr>
          <a:xfrm>
            <a:off x="6324600" y="2642473"/>
            <a:ext cx="768159" cy="369332"/>
          </a:xfrm>
          <a:prstGeom prst="rect">
            <a:avLst/>
          </a:prstGeom>
        </p:spPr>
        <p:txBody>
          <a:bodyPr wrap="none">
            <a:spAutoFit/>
          </a:bodyPr>
          <a:lstStyle/>
          <a:p>
            <a:r>
              <a:rPr lang="en-US" b="1" dirty="0">
                <a:latin typeface="Times New Roman" pitchFamily="18" charset="0"/>
                <a:cs typeface="Times New Roman" pitchFamily="18" charset="0"/>
              </a:rPr>
              <a:t>KKR </a:t>
            </a:r>
            <a:endParaRPr lang="en-IN" dirty="0"/>
          </a:p>
        </p:txBody>
      </p:sp>
      <p:sp>
        <p:nvSpPr>
          <p:cNvPr id="6" name="Rectangle 5"/>
          <p:cNvSpPr/>
          <p:nvPr/>
        </p:nvSpPr>
        <p:spPr>
          <a:xfrm>
            <a:off x="6522720" y="880110"/>
            <a:ext cx="1986506" cy="369332"/>
          </a:xfrm>
          <a:prstGeom prst="rect">
            <a:avLst/>
          </a:prstGeom>
        </p:spPr>
        <p:txBody>
          <a:bodyPr wrap="none">
            <a:spAutoFit/>
          </a:bodyPr>
          <a:lstStyle/>
          <a:p>
            <a:r>
              <a:rPr lang="en-US" b="1" dirty="0" err="1">
                <a:latin typeface="Times New Roman" pitchFamily="18" charset="0"/>
                <a:cs typeface="Times New Roman" pitchFamily="18" charset="0"/>
              </a:rPr>
              <a:t>Virat</a:t>
            </a:r>
            <a:r>
              <a:rPr lang="en-US" b="1" dirty="0">
                <a:latin typeface="Times New Roman" pitchFamily="18" charset="0"/>
                <a:cs typeface="Times New Roman" pitchFamily="18" charset="0"/>
              </a:rPr>
              <a:t> plays for MI</a:t>
            </a:r>
          </a:p>
        </p:txBody>
      </p:sp>
      <p:sp>
        <p:nvSpPr>
          <p:cNvPr id="7" name="Rectangle 6"/>
          <p:cNvSpPr/>
          <p:nvPr/>
        </p:nvSpPr>
        <p:spPr>
          <a:xfrm>
            <a:off x="3048000" y="3121184"/>
            <a:ext cx="701859" cy="369332"/>
          </a:xfrm>
          <a:prstGeom prst="rect">
            <a:avLst/>
          </a:prstGeom>
        </p:spPr>
        <p:txBody>
          <a:bodyPr wrap="none">
            <a:spAutoFit/>
          </a:bodyPr>
          <a:lstStyle/>
          <a:p>
            <a:r>
              <a:rPr lang="en-US" b="1" dirty="0" err="1" smtClean="0">
                <a:latin typeface="Times New Roman" pitchFamily="18" charset="0"/>
                <a:cs typeface="Times New Roman" pitchFamily="18" charset="0"/>
              </a:rPr>
              <a:t>Virat</a:t>
            </a:r>
            <a:endParaRPr lang="en-US" b="1" dirty="0">
              <a:latin typeface="Times New Roman" pitchFamily="18" charset="0"/>
              <a:cs typeface="Times New Roman" pitchFamily="18" charset="0"/>
            </a:endParaRPr>
          </a:p>
        </p:txBody>
      </p:sp>
      <p:sp>
        <p:nvSpPr>
          <p:cNvPr id="8" name="Rectangle 7"/>
          <p:cNvSpPr/>
          <p:nvPr/>
        </p:nvSpPr>
        <p:spPr>
          <a:xfrm>
            <a:off x="3764280" y="3132058"/>
            <a:ext cx="753411" cy="369332"/>
          </a:xfrm>
          <a:prstGeom prst="rect">
            <a:avLst/>
          </a:prstGeom>
        </p:spPr>
        <p:txBody>
          <a:bodyPr wrap="none">
            <a:spAutoFit/>
          </a:bodyPr>
          <a:lstStyle/>
          <a:p>
            <a:r>
              <a:rPr lang="en-US" b="1" dirty="0" err="1" smtClean="0">
                <a:latin typeface="Times New Roman" pitchFamily="18" charset="0"/>
                <a:cs typeface="Times New Roman" pitchFamily="18" charset="0"/>
              </a:rPr>
              <a:t>Voilet</a:t>
            </a:r>
            <a:endParaRPr lang="en-US" b="1" dirty="0">
              <a:latin typeface="Times New Roman" pitchFamily="18" charset="0"/>
              <a:cs typeface="Times New Roman" pitchFamily="18" charset="0"/>
            </a:endParaRPr>
          </a:p>
        </p:txBody>
      </p:sp>
      <p:cxnSp>
        <p:nvCxnSpPr>
          <p:cNvPr id="10" name="Straight Connector 9"/>
          <p:cNvCxnSpPr/>
          <p:nvPr/>
        </p:nvCxnSpPr>
        <p:spPr>
          <a:xfrm>
            <a:off x="2286000" y="209550"/>
            <a:ext cx="533400" cy="7620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a:off x="7696200" y="514350"/>
            <a:ext cx="533400" cy="76200"/>
          </a:xfrm>
          <a:prstGeom prst="line">
            <a:avLst/>
          </a:prstGeom>
        </p:spPr>
        <p:style>
          <a:lnRef idx="2">
            <a:schemeClr val="dk1"/>
          </a:lnRef>
          <a:fillRef idx="0">
            <a:schemeClr val="dk1"/>
          </a:fillRef>
          <a:effectRef idx="1">
            <a:schemeClr val="dk1"/>
          </a:effectRef>
          <a:fontRef idx="minor">
            <a:schemeClr val="tx1"/>
          </a:fontRef>
        </p:style>
      </p:cxnSp>
      <p:sp>
        <p:nvSpPr>
          <p:cNvPr id="12" name="Rectangle 11"/>
          <p:cNvSpPr/>
          <p:nvPr/>
        </p:nvSpPr>
        <p:spPr>
          <a:xfrm>
            <a:off x="792480" y="1459230"/>
            <a:ext cx="6223226" cy="369332"/>
          </a:xfrm>
          <a:prstGeom prst="rect">
            <a:avLst/>
          </a:prstGeom>
        </p:spPr>
        <p:txBody>
          <a:bodyPr wrap="square">
            <a:spAutoFit/>
          </a:bodyPr>
          <a:lstStyle/>
          <a:p>
            <a:r>
              <a:rPr lang="en-US" b="1" dirty="0" smtClean="0">
                <a:latin typeface="Times New Roman" pitchFamily="18" charset="0"/>
                <a:cs typeface="Times New Roman" pitchFamily="18" charset="0"/>
              </a:rPr>
              <a:t>The </a:t>
            </a:r>
            <a:r>
              <a:rPr lang="en-US" b="1" dirty="0">
                <a:latin typeface="Times New Roman" pitchFamily="18" charset="0"/>
                <a:cs typeface="Times New Roman" pitchFamily="18" charset="0"/>
              </a:rPr>
              <a:t>only other person in same team with </a:t>
            </a:r>
            <a:r>
              <a:rPr lang="en-US" b="1" dirty="0" err="1">
                <a:latin typeface="Times New Roman" pitchFamily="18" charset="0"/>
                <a:cs typeface="Times New Roman" pitchFamily="18" charset="0"/>
              </a:rPr>
              <a:t>Virat</a:t>
            </a:r>
            <a:r>
              <a:rPr lang="en-US" b="1" dirty="0">
                <a:latin typeface="Times New Roman" pitchFamily="18" charset="0"/>
                <a:cs typeface="Times New Roman" pitchFamily="18" charset="0"/>
              </a:rPr>
              <a:t> likes Blue</a:t>
            </a:r>
            <a:endParaRPr lang="en-IN" dirty="0"/>
          </a:p>
        </p:txBody>
      </p:sp>
      <p:sp>
        <p:nvSpPr>
          <p:cNvPr id="13" name="Rectangle 12"/>
          <p:cNvSpPr/>
          <p:nvPr/>
        </p:nvSpPr>
        <p:spPr>
          <a:xfrm>
            <a:off x="3831045" y="3507740"/>
            <a:ext cx="633507" cy="369332"/>
          </a:xfrm>
          <a:prstGeom prst="rect">
            <a:avLst/>
          </a:prstGeom>
        </p:spPr>
        <p:txBody>
          <a:bodyPr wrap="none">
            <a:spAutoFit/>
          </a:bodyPr>
          <a:lstStyle/>
          <a:p>
            <a:r>
              <a:rPr lang="en-US" b="1" dirty="0" smtClean="0">
                <a:latin typeface="Times New Roman" pitchFamily="18" charset="0"/>
                <a:cs typeface="Times New Roman" pitchFamily="18" charset="0"/>
              </a:rPr>
              <a:t>Blue</a:t>
            </a:r>
            <a:endParaRPr lang="en-US" b="1" dirty="0">
              <a:latin typeface="Times New Roman" pitchFamily="18" charset="0"/>
              <a:cs typeface="Times New Roman" pitchFamily="18" charset="0"/>
            </a:endParaRPr>
          </a:p>
        </p:txBody>
      </p:sp>
      <p:cxnSp>
        <p:nvCxnSpPr>
          <p:cNvPr id="14" name="Straight Connector 13"/>
          <p:cNvCxnSpPr/>
          <p:nvPr/>
        </p:nvCxnSpPr>
        <p:spPr>
          <a:xfrm>
            <a:off x="914400" y="763270"/>
            <a:ext cx="533400" cy="76200"/>
          </a:xfrm>
          <a:prstGeom prst="line">
            <a:avLst/>
          </a:prstGeom>
        </p:spPr>
        <p:style>
          <a:lnRef idx="2">
            <a:schemeClr val="dk1"/>
          </a:lnRef>
          <a:fillRef idx="0">
            <a:schemeClr val="dk1"/>
          </a:fillRef>
          <a:effectRef idx="1">
            <a:schemeClr val="dk1"/>
          </a:effectRef>
          <a:fontRef idx="minor">
            <a:schemeClr val="tx1"/>
          </a:fontRef>
        </p:style>
      </p:cxnSp>
      <p:sp>
        <p:nvSpPr>
          <p:cNvPr id="15" name="Rectangle 14"/>
          <p:cNvSpPr/>
          <p:nvPr/>
        </p:nvSpPr>
        <p:spPr>
          <a:xfrm>
            <a:off x="76200" y="1992630"/>
            <a:ext cx="4164602" cy="369332"/>
          </a:xfrm>
          <a:prstGeom prst="rect">
            <a:avLst/>
          </a:prstGeom>
        </p:spPr>
        <p:txBody>
          <a:bodyPr wrap="none">
            <a:spAutoFit/>
          </a:bodyPr>
          <a:lstStyle/>
          <a:p>
            <a:r>
              <a:rPr lang="en-US" b="1" dirty="0" err="1">
                <a:latin typeface="Times New Roman" pitchFamily="18" charset="0"/>
                <a:cs typeface="Times New Roman" pitchFamily="18" charset="0"/>
              </a:rPr>
              <a:t>Sachin</a:t>
            </a:r>
            <a:r>
              <a:rPr lang="en-US" b="1" dirty="0">
                <a:latin typeface="Times New Roman" pitchFamily="18" charset="0"/>
                <a:cs typeface="Times New Roman" pitchFamily="18" charset="0"/>
              </a:rPr>
              <a:t> and </a:t>
            </a:r>
            <a:r>
              <a:rPr lang="en-US" b="1" dirty="0" err="1">
                <a:latin typeface="Times New Roman" pitchFamily="18" charset="0"/>
                <a:cs typeface="Times New Roman" pitchFamily="18" charset="0"/>
              </a:rPr>
              <a:t>Gambhir</a:t>
            </a:r>
            <a:r>
              <a:rPr lang="en-US" b="1" dirty="0">
                <a:latin typeface="Times New Roman" pitchFamily="18" charset="0"/>
                <a:cs typeface="Times New Roman" pitchFamily="18" charset="0"/>
              </a:rPr>
              <a:t> both play for KKR</a:t>
            </a:r>
            <a:endParaRPr lang="en-IN" dirty="0"/>
          </a:p>
        </p:txBody>
      </p:sp>
      <p:sp>
        <p:nvSpPr>
          <p:cNvPr id="16" name="Rectangle 15"/>
          <p:cNvSpPr/>
          <p:nvPr/>
        </p:nvSpPr>
        <p:spPr>
          <a:xfrm>
            <a:off x="5752738" y="3138408"/>
            <a:ext cx="909223" cy="369332"/>
          </a:xfrm>
          <a:prstGeom prst="rect">
            <a:avLst/>
          </a:prstGeom>
        </p:spPr>
        <p:txBody>
          <a:bodyPr wrap="none">
            <a:spAutoFit/>
          </a:bodyPr>
          <a:lstStyle/>
          <a:p>
            <a:r>
              <a:rPr lang="en-US" b="1" dirty="0" err="1">
                <a:latin typeface="Times New Roman" pitchFamily="18" charset="0"/>
                <a:cs typeface="Times New Roman" pitchFamily="18" charset="0"/>
              </a:rPr>
              <a:t>Sachin</a:t>
            </a:r>
            <a:r>
              <a:rPr lang="en-US" b="1" dirty="0">
                <a:latin typeface="Times New Roman" pitchFamily="18" charset="0"/>
                <a:cs typeface="Times New Roman" pitchFamily="18" charset="0"/>
              </a:rPr>
              <a:t> </a:t>
            </a:r>
            <a:endParaRPr lang="en-IN" dirty="0"/>
          </a:p>
        </p:txBody>
      </p:sp>
      <p:sp>
        <p:nvSpPr>
          <p:cNvPr id="17" name="Rectangle 16"/>
          <p:cNvSpPr/>
          <p:nvPr/>
        </p:nvSpPr>
        <p:spPr>
          <a:xfrm>
            <a:off x="5632993" y="3507740"/>
            <a:ext cx="1148712" cy="369332"/>
          </a:xfrm>
          <a:prstGeom prst="rect">
            <a:avLst/>
          </a:prstGeom>
        </p:spPr>
        <p:txBody>
          <a:bodyPr wrap="none">
            <a:spAutoFit/>
          </a:bodyPr>
          <a:lstStyle/>
          <a:p>
            <a:r>
              <a:rPr lang="en-US" b="1" dirty="0" err="1">
                <a:latin typeface="Times New Roman" pitchFamily="18" charset="0"/>
                <a:cs typeface="Times New Roman" pitchFamily="18" charset="0"/>
              </a:rPr>
              <a:t>Gambhir</a:t>
            </a:r>
            <a:r>
              <a:rPr lang="en-US" b="1" dirty="0">
                <a:latin typeface="Times New Roman" pitchFamily="18" charset="0"/>
                <a:cs typeface="Times New Roman" pitchFamily="18" charset="0"/>
              </a:rPr>
              <a:t> </a:t>
            </a:r>
            <a:endParaRPr lang="en-IN" dirty="0"/>
          </a:p>
        </p:txBody>
      </p:sp>
      <p:cxnSp>
        <p:nvCxnSpPr>
          <p:cNvPr id="18" name="Straight Connector 17"/>
          <p:cNvCxnSpPr/>
          <p:nvPr/>
        </p:nvCxnSpPr>
        <p:spPr>
          <a:xfrm>
            <a:off x="6324600" y="209550"/>
            <a:ext cx="533400" cy="7620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p:cNvCxnSpPr/>
          <p:nvPr/>
        </p:nvCxnSpPr>
        <p:spPr>
          <a:xfrm>
            <a:off x="4724400" y="742950"/>
            <a:ext cx="533400" cy="76200"/>
          </a:xfrm>
          <a:prstGeom prst="line">
            <a:avLst/>
          </a:prstGeom>
        </p:spPr>
        <p:style>
          <a:lnRef idx="2">
            <a:schemeClr val="dk1"/>
          </a:lnRef>
          <a:fillRef idx="0">
            <a:schemeClr val="dk1"/>
          </a:fillRef>
          <a:effectRef idx="1">
            <a:schemeClr val="dk1"/>
          </a:effectRef>
          <a:fontRef idx="minor">
            <a:schemeClr val="tx1"/>
          </a:fontRef>
        </p:style>
      </p:cxnSp>
      <p:sp>
        <p:nvSpPr>
          <p:cNvPr id="20" name="Rectangle 19"/>
          <p:cNvSpPr/>
          <p:nvPr/>
        </p:nvSpPr>
        <p:spPr>
          <a:xfrm>
            <a:off x="5818989" y="1185465"/>
            <a:ext cx="2674771" cy="369332"/>
          </a:xfrm>
          <a:prstGeom prst="rect">
            <a:avLst/>
          </a:prstGeom>
        </p:spPr>
        <p:txBody>
          <a:bodyPr wrap="none">
            <a:spAutoFit/>
          </a:bodyPr>
          <a:lstStyle/>
          <a:p>
            <a:r>
              <a:rPr lang="en-US" b="1" dirty="0">
                <a:latin typeface="Times New Roman" pitchFamily="18" charset="0"/>
                <a:cs typeface="Times New Roman" pitchFamily="18" charset="0"/>
              </a:rPr>
              <a:t>. No one from KKR likes </a:t>
            </a:r>
            <a:endParaRPr lang="en-IN" dirty="0"/>
          </a:p>
        </p:txBody>
      </p:sp>
      <p:sp>
        <p:nvSpPr>
          <p:cNvPr id="21" name="Rectangle 20"/>
          <p:cNvSpPr/>
          <p:nvPr/>
        </p:nvSpPr>
        <p:spPr>
          <a:xfrm>
            <a:off x="1892302" y="3138408"/>
            <a:ext cx="787395" cy="369332"/>
          </a:xfrm>
          <a:prstGeom prst="rect">
            <a:avLst/>
          </a:prstGeom>
        </p:spPr>
        <p:txBody>
          <a:bodyPr wrap="none">
            <a:spAutoFit/>
          </a:bodyPr>
          <a:lstStyle/>
          <a:p>
            <a:r>
              <a:rPr lang="en-US" b="1" dirty="0">
                <a:latin typeface="Times New Roman" pitchFamily="18" charset="0"/>
                <a:cs typeface="Times New Roman" pitchFamily="18" charset="0"/>
              </a:rPr>
              <a:t>White</a:t>
            </a:r>
            <a:endParaRPr lang="en-IN" dirty="0"/>
          </a:p>
        </p:txBody>
      </p:sp>
      <p:sp>
        <p:nvSpPr>
          <p:cNvPr id="22" name="Rectangle 21"/>
          <p:cNvSpPr/>
          <p:nvPr/>
        </p:nvSpPr>
        <p:spPr>
          <a:xfrm>
            <a:off x="6456680" y="1450578"/>
            <a:ext cx="1950214" cy="369332"/>
          </a:xfrm>
          <a:prstGeom prst="rect">
            <a:avLst/>
          </a:prstGeom>
        </p:spPr>
        <p:txBody>
          <a:bodyPr wrap="none">
            <a:spAutoFit/>
          </a:bodyPr>
          <a:lstStyle/>
          <a:p>
            <a:r>
              <a:rPr lang="en-US" b="1" dirty="0" err="1">
                <a:latin typeface="Times New Roman" pitchFamily="18" charset="0"/>
                <a:cs typeface="Times New Roman" pitchFamily="18" charset="0"/>
              </a:rPr>
              <a:t>Dhoni</a:t>
            </a:r>
            <a:r>
              <a:rPr lang="en-US" b="1" dirty="0">
                <a:latin typeface="Times New Roman" pitchFamily="18" charset="0"/>
                <a:cs typeface="Times New Roman" pitchFamily="18" charset="0"/>
              </a:rPr>
              <a:t> likes White</a:t>
            </a:r>
            <a:endParaRPr lang="en-IN" dirty="0"/>
          </a:p>
        </p:txBody>
      </p:sp>
      <p:sp>
        <p:nvSpPr>
          <p:cNvPr id="23" name="Rectangle 22"/>
          <p:cNvSpPr/>
          <p:nvPr/>
        </p:nvSpPr>
        <p:spPr>
          <a:xfrm>
            <a:off x="1021799" y="3105150"/>
            <a:ext cx="845103" cy="369332"/>
          </a:xfrm>
          <a:prstGeom prst="rect">
            <a:avLst/>
          </a:prstGeom>
        </p:spPr>
        <p:txBody>
          <a:bodyPr wrap="none">
            <a:spAutoFit/>
          </a:bodyPr>
          <a:lstStyle/>
          <a:p>
            <a:r>
              <a:rPr lang="en-US" b="1" dirty="0" err="1">
                <a:latin typeface="Times New Roman" pitchFamily="18" charset="0"/>
                <a:cs typeface="Times New Roman" pitchFamily="18" charset="0"/>
              </a:rPr>
              <a:t>Dhoni</a:t>
            </a:r>
            <a:r>
              <a:rPr lang="en-US" b="1" dirty="0">
                <a:latin typeface="Times New Roman" pitchFamily="18" charset="0"/>
                <a:cs typeface="Times New Roman" pitchFamily="18" charset="0"/>
              </a:rPr>
              <a:t> </a:t>
            </a:r>
            <a:endParaRPr lang="en-IN" dirty="0"/>
          </a:p>
        </p:txBody>
      </p:sp>
      <p:cxnSp>
        <p:nvCxnSpPr>
          <p:cNvPr id="24" name="Straight Connector 23"/>
          <p:cNvCxnSpPr/>
          <p:nvPr/>
        </p:nvCxnSpPr>
        <p:spPr>
          <a:xfrm>
            <a:off x="3810000" y="742950"/>
            <a:ext cx="533400" cy="76200"/>
          </a:xfrm>
          <a:prstGeom prst="line">
            <a:avLst/>
          </a:prstGeom>
        </p:spPr>
        <p:style>
          <a:lnRef idx="2">
            <a:schemeClr val="dk1"/>
          </a:lnRef>
          <a:fillRef idx="0">
            <a:schemeClr val="dk1"/>
          </a:fillRef>
          <a:effectRef idx="1">
            <a:schemeClr val="dk1"/>
          </a:effectRef>
          <a:fontRef idx="minor">
            <a:schemeClr val="tx1"/>
          </a:fontRef>
        </p:style>
      </p:cxnSp>
      <p:sp>
        <p:nvSpPr>
          <p:cNvPr id="25" name="Rectangle 24"/>
          <p:cNvSpPr/>
          <p:nvPr/>
        </p:nvSpPr>
        <p:spPr>
          <a:xfrm>
            <a:off x="2128020" y="1735058"/>
            <a:ext cx="6833099" cy="369332"/>
          </a:xfrm>
          <a:prstGeom prst="rect">
            <a:avLst/>
          </a:prstGeom>
        </p:spPr>
        <p:txBody>
          <a:bodyPr wrap="square">
            <a:spAutoFit/>
          </a:bodyPr>
          <a:lstStyle/>
          <a:p>
            <a:r>
              <a:rPr lang="en-US" b="1" dirty="0" err="1">
                <a:latin typeface="Times New Roman" pitchFamily="18" charset="0"/>
                <a:cs typeface="Times New Roman" pitchFamily="18" charset="0"/>
              </a:rPr>
              <a:t>Ashwin</a:t>
            </a:r>
            <a:r>
              <a:rPr lang="en-US" b="1" dirty="0">
                <a:latin typeface="Times New Roman" pitchFamily="18" charset="0"/>
                <a:cs typeface="Times New Roman" pitchFamily="18" charset="0"/>
              </a:rPr>
              <a:t> does not like Blue and plays for the same team with </a:t>
            </a:r>
            <a:r>
              <a:rPr lang="en-US" b="1" dirty="0" err="1">
                <a:latin typeface="Times New Roman" pitchFamily="18" charset="0"/>
                <a:cs typeface="Times New Roman" pitchFamily="18" charset="0"/>
              </a:rPr>
              <a:t>Dhoni</a:t>
            </a:r>
            <a:r>
              <a:rPr lang="en-US" b="1" dirty="0">
                <a:latin typeface="Times New Roman" pitchFamily="18" charset="0"/>
                <a:cs typeface="Times New Roman" pitchFamily="18" charset="0"/>
              </a:rPr>
              <a:t>.</a:t>
            </a:r>
            <a:endParaRPr lang="en-IN" dirty="0"/>
          </a:p>
        </p:txBody>
      </p:sp>
      <p:sp>
        <p:nvSpPr>
          <p:cNvPr id="26" name="Rectangle 25"/>
          <p:cNvSpPr/>
          <p:nvPr/>
        </p:nvSpPr>
        <p:spPr>
          <a:xfrm>
            <a:off x="1021799" y="3562350"/>
            <a:ext cx="986167" cy="369332"/>
          </a:xfrm>
          <a:prstGeom prst="rect">
            <a:avLst/>
          </a:prstGeom>
        </p:spPr>
        <p:txBody>
          <a:bodyPr wrap="none">
            <a:spAutoFit/>
          </a:bodyPr>
          <a:lstStyle/>
          <a:p>
            <a:r>
              <a:rPr lang="en-US" b="1" dirty="0" err="1">
                <a:latin typeface="Times New Roman" pitchFamily="18" charset="0"/>
                <a:cs typeface="Times New Roman" pitchFamily="18" charset="0"/>
              </a:rPr>
              <a:t>Ashwin</a:t>
            </a:r>
            <a:r>
              <a:rPr lang="en-US" b="1" dirty="0">
                <a:latin typeface="Times New Roman" pitchFamily="18" charset="0"/>
                <a:cs typeface="Times New Roman" pitchFamily="18" charset="0"/>
              </a:rPr>
              <a:t> </a:t>
            </a:r>
            <a:endParaRPr lang="en-IN" dirty="0"/>
          </a:p>
        </p:txBody>
      </p:sp>
      <p:sp>
        <p:nvSpPr>
          <p:cNvPr id="27" name="Rectangle 26"/>
          <p:cNvSpPr/>
          <p:nvPr/>
        </p:nvSpPr>
        <p:spPr>
          <a:xfrm>
            <a:off x="1981200" y="3562350"/>
            <a:ext cx="986167" cy="369332"/>
          </a:xfrm>
          <a:prstGeom prst="rect">
            <a:avLst/>
          </a:prstGeom>
        </p:spPr>
        <p:txBody>
          <a:bodyPr wrap="none">
            <a:spAutoFit/>
          </a:bodyPr>
          <a:lstStyle/>
          <a:p>
            <a:r>
              <a:rPr lang="en-US" b="1" dirty="0" smtClean="0">
                <a:latin typeface="Times New Roman" pitchFamily="18" charset="0"/>
                <a:cs typeface="Times New Roman" pitchFamily="18" charset="0"/>
              </a:rPr>
              <a:t>Orange </a:t>
            </a:r>
            <a:endParaRPr lang="en-IN" dirty="0"/>
          </a:p>
        </p:txBody>
      </p:sp>
      <p:cxnSp>
        <p:nvCxnSpPr>
          <p:cNvPr id="28" name="Straight Connector 27"/>
          <p:cNvCxnSpPr/>
          <p:nvPr/>
        </p:nvCxnSpPr>
        <p:spPr>
          <a:xfrm>
            <a:off x="7467600" y="209550"/>
            <a:ext cx="533400" cy="76200"/>
          </a:xfrm>
          <a:prstGeom prst="line">
            <a:avLst/>
          </a:prstGeom>
        </p:spPr>
        <p:style>
          <a:lnRef idx="2">
            <a:schemeClr val="dk1"/>
          </a:lnRef>
          <a:fillRef idx="0">
            <a:schemeClr val="dk1"/>
          </a:fillRef>
          <a:effectRef idx="1">
            <a:schemeClr val="dk1"/>
          </a:effectRef>
          <a:fontRef idx="minor">
            <a:schemeClr val="tx1"/>
          </a:fontRef>
        </p:style>
      </p:cxnSp>
      <p:sp>
        <p:nvSpPr>
          <p:cNvPr id="29" name="Rectangle 28"/>
          <p:cNvSpPr/>
          <p:nvPr/>
        </p:nvSpPr>
        <p:spPr>
          <a:xfrm>
            <a:off x="4135120" y="1982470"/>
            <a:ext cx="4232890" cy="369332"/>
          </a:xfrm>
          <a:prstGeom prst="rect">
            <a:avLst/>
          </a:prstGeom>
        </p:spPr>
        <p:txBody>
          <a:bodyPr wrap="none">
            <a:spAutoFit/>
          </a:bodyPr>
          <a:lstStyle/>
          <a:p>
            <a:r>
              <a:rPr lang="en-US" b="1" dirty="0">
                <a:latin typeface="Times New Roman" pitchFamily="18" charset="0"/>
                <a:cs typeface="Times New Roman" pitchFamily="18" charset="0"/>
              </a:rPr>
              <a:t>The one who plays for KKR does not like</a:t>
            </a:r>
            <a:endParaRPr lang="en-IN" dirty="0"/>
          </a:p>
        </p:txBody>
      </p:sp>
      <p:cxnSp>
        <p:nvCxnSpPr>
          <p:cNvPr id="30" name="Straight Connector 29"/>
          <p:cNvCxnSpPr/>
          <p:nvPr/>
        </p:nvCxnSpPr>
        <p:spPr>
          <a:xfrm>
            <a:off x="2994133" y="797560"/>
            <a:ext cx="533400" cy="76200"/>
          </a:xfrm>
          <a:prstGeom prst="line">
            <a:avLst/>
          </a:prstGeom>
        </p:spPr>
        <p:style>
          <a:lnRef idx="2">
            <a:schemeClr val="dk1"/>
          </a:lnRef>
          <a:fillRef idx="0">
            <a:schemeClr val="dk1"/>
          </a:fillRef>
          <a:effectRef idx="1">
            <a:schemeClr val="dk1"/>
          </a:effectRef>
          <a:fontRef idx="minor">
            <a:schemeClr val="tx1"/>
          </a:fontRef>
        </p:style>
      </p:cxnSp>
      <p:sp>
        <p:nvSpPr>
          <p:cNvPr id="31" name="Rectangle 30"/>
          <p:cNvSpPr/>
          <p:nvPr/>
        </p:nvSpPr>
        <p:spPr>
          <a:xfrm>
            <a:off x="1699616" y="1166098"/>
            <a:ext cx="4344138" cy="369332"/>
          </a:xfrm>
          <a:prstGeom prst="rect">
            <a:avLst/>
          </a:prstGeom>
        </p:spPr>
        <p:txBody>
          <a:bodyPr wrap="none">
            <a:spAutoFit/>
          </a:bodyPr>
          <a:lstStyle/>
          <a:p>
            <a:r>
              <a:rPr lang="en-US" b="1" dirty="0" err="1">
                <a:latin typeface="Times New Roman" pitchFamily="18" charset="0"/>
                <a:cs typeface="Times New Roman" pitchFamily="18" charset="0"/>
              </a:rPr>
              <a:t>Rohit</a:t>
            </a:r>
            <a:r>
              <a:rPr lang="en-US" b="1" dirty="0">
                <a:latin typeface="Times New Roman" pitchFamily="18" charset="0"/>
                <a:cs typeface="Times New Roman" pitchFamily="18" charset="0"/>
              </a:rPr>
              <a:t> likes Green but do not play for SRH</a:t>
            </a:r>
            <a:endParaRPr lang="en-IN" dirty="0"/>
          </a:p>
        </p:txBody>
      </p:sp>
      <p:sp>
        <p:nvSpPr>
          <p:cNvPr id="32" name="Rectangle 31"/>
          <p:cNvSpPr/>
          <p:nvPr/>
        </p:nvSpPr>
        <p:spPr>
          <a:xfrm>
            <a:off x="5818989" y="3944898"/>
            <a:ext cx="793807" cy="369332"/>
          </a:xfrm>
          <a:prstGeom prst="rect">
            <a:avLst/>
          </a:prstGeom>
        </p:spPr>
        <p:txBody>
          <a:bodyPr wrap="none">
            <a:spAutoFit/>
          </a:bodyPr>
          <a:lstStyle/>
          <a:p>
            <a:r>
              <a:rPr lang="en-US" b="1" dirty="0" err="1">
                <a:latin typeface="Times New Roman" pitchFamily="18" charset="0"/>
                <a:cs typeface="Times New Roman" pitchFamily="18" charset="0"/>
              </a:rPr>
              <a:t>Rohit</a:t>
            </a:r>
            <a:r>
              <a:rPr lang="en-US" b="1" dirty="0">
                <a:latin typeface="Times New Roman" pitchFamily="18" charset="0"/>
                <a:cs typeface="Times New Roman" pitchFamily="18" charset="0"/>
              </a:rPr>
              <a:t> </a:t>
            </a:r>
            <a:endParaRPr lang="en-IN" dirty="0"/>
          </a:p>
        </p:txBody>
      </p:sp>
      <p:sp>
        <p:nvSpPr>
          <p:cNvPr id="33" name="Rectangle 32"/>
          <p:cNvSpPr/>
          <p:nvPr/>
        </p:nvSpPr>
        <p:spPr>
          <a:xfrm>
            <a:off x="6781705" y="3955018"/>
            <a:ext cx="853760" cy="369332"/>
          </a:xfrm>
          <a:prstGeom prst="rect">
            <a:avLst/>
          </a:prstGeom>
        </p:spPr>
        <p:txBody>
          <a:bodyPr wrap="none">
            <a:spAutoFit/>
          </a:bodyPr>
          <a:lstStyle/>
          <a:p>
            <a:r>
              <a:rPr lang="en-US" b="1" dirty="0">
                <a:latin typeface="Times New Roman" pitchFamily="18" charset="0"/>
                <a:cs typeface="Times New Roman" pitchFamily="18" charset="0"/>
              </a:rPr>
              <a:t>Green </a:t>
            </a:r>
            <a:endParaRPr lang="en-IN" dirty="0"/>
          </a:p>
        </p:txBody>
      </p:sp>
      <p:cxnSp>
        <p:nvCxnSpPr>
          <p:cNvPr id="34" name="Straight Connector 33"/>
          <p:cNvCxnSpPr/>
          <p:nvPr/>
        </p:nvCxnSpPr>
        <p:spPr>
          <a:xfrm>
            <a:off x="2971800" y="209550"/>
            <a:ext cx="533400" cy="7620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p:cNvCxnSpPr/>
          <p:nvPr/>
        </p:nvCxnSpPr>
        <p:spPr>
          <a:xfrm>
            <a:off x="1534160" y="763270"/>
            <a:ext cx="533400" cy="76200"/>
          </a:xfrm>
          <a:prstGeom prst="line">
            <a:avLst/>
          </a:prstGeom>
        </p:spPr>
        <p:style>
          <a:lnRef idx="2">
            <a:schemeClr val="dk1"/>
          </a:lnRef>
          <a:fillRef idx="0">
            <a:schemeClr val="dk1"/>
          </a:fillRef>
          <a:effectRef idx="1">
            <a:schemeClr val="dk1"/>
          </a:effectRef>
          <a:fontRef idx="minor">
            <a:schemeClr val="tx1"/>
          </a:fontRef>
        </p:style>
      </p:cxnSp>
      <p:sp>
        <p:nvSpPr>
          <p:cNvPr id="36" name="Rectangle 35"/>
          <p:cNvSpPr/>
          <p:nvPr/>
        </p:nvSpPr>
        <p:spPr>
          <a:xfrm>
            <a:off x="76200" y="1733550"/>
            <a:ext cx="2146742" cy="369332"/>
          </a:xfrm>
          <a:prstGeom prst="rect">
            <a:avLst/>
          </a:prstGeom>
        </p:spPr>
        <p:txBody>
          <a:bodyPr wrap="none">
            <a:spAutoFit/>
          </a:bodyPr>
          <a:lstStyle/>
          <a:p>
            <a:r>
              <a:rPr lang="en-US" b="1" dirty="0" err="1">
                <a:latin typeface="Times New Roman" pitchFamily="18" charset="0"/>
                <a:cs typeface="Times New Roman" pitchFamily="18" charset="0"/>
              </a:rPr>
              <a:t>Rahane</a:t>
            </a:r>
            <a:r>
              <a:rPr lang="en-US" b="1" dirty="0">
                <a:latin typeface="Times New Roman" pitchFamily="18" charset="0"/>
                <a:cs typeface="Times New Roman" pitchFamily="18" charset="0"/>
              </a:rPr>
              <a:t> likes Indigo</a:t>
            </a:r>
            <a:endParaRPr lang="en-IN" dirty="0"/>
          </a:p>
        </p:txBody>
      </p:sp>
      <p:sp>
        <p:nvSpPr>
          <p:cNvPr id="37" name="Rectangle 36"/>
          <p:cNvSpPr/>
          <p:nvPr/>
        </p:nvSpPr>
        <p:spPr>
          <a:xfrm>
            <a:off x="990600" y="4046974"/>
            <a:ext cx="998991" cy="369332"/>
          </a:xfrm>
          <a:prstGeom prst="rect">
            <a:avLst/>
          </a:prstGeom>
        </p:spPr>
        <p:txBody>
          <a:bodyPr wrap="none">
            <a:spAutoFit/>
          </a:bodyPr>
          <a:lstStyle/>
          <a:p>
            <a:r>
              <a:rPr lang="en-US" b="1" dirty="0" err="1">
                <a:latin typeface="Times New Roman" pitchFamily="18" charset="0"/>
                <a:cs typeface="Times New Roman" pitchFamily="18" charset="0"/>
              </a:rPr>
              <a:t>Rahane</a:t>
            </a:r>
            <a:r>
              <a:rPr lang="en-US" b="1" dirty="0">
                <a:latin typeface="Times New Roman" pitchFamily="18" charset="0"/>
                <a:cs typeface="Times New Roman" pitchFamily="18" charset="0"/>
              </a:rPr>
              <a:t> </a:t>
            </a:r>
            <a:endParaRPr lang="en-IN" dirty="0"/>
          </a:p>
        </p:txBody>
      </p:sp>
      <p:sp>
        <p:nvSpPr>
          <p:cNvPr id="38" name="Rectangle 37"/>
          <p:cNvSpPr/>
          <p:nvPr/>
        </p:nvSpPr>
        <p:spPr>
          <a:xfrm>
            <a:off x="2082751" y="4019550"/>
            <a:ext cx="825867" cy="369332"/>
          </a:xfrm>
          <a:prstGeom prst="rect">
            <a:avLst/>
          </a:prstGeom>
        </p:spPr>
        <p:txBody>
          <a:bodyPr wrap="none">
            <a:spAutoFit/>
          </a:bodyPr>
          <a:lstStyle/>
          <a:p>
            <a:r>
              <a:rPr lang="en-US" b="1" dirty="0">
                <a:latin typeface="Times New Roman" pitchFamily="18" charset="0"/>
                <a:cs typeface="Times New Roman" pitchFamily="18" charset="0"/>
              </a:rPr>
              <a:t>Indigo</a:t>
            </a:r>
            <a:endParaRPr lang="en-IN" dirty="0"/>
          </a:p>
        </p:txBody>
      </p:sp>
      <p:cxnSp>
        <p:nvCxnSpPr>
          <p:cNvPr id="39" name="Straight Connector 38"/>
          <p:cNvCxnSpPr/>
          <p:nvPr/>
        </p:nvCxnSpPr>
        <p:spPr>
          <a:xfrm>
            <a:off x="5334000" y="209550"/>
            <a:ext cx="533400" cy="76200"/>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p:cNvCxnSpPr/>
          <p:nvPr/>
        </p:nvCxnSpPr>
        <p:spPr>
          <a:xfrm>
            <a:off x="228600" y="742950"/>
            <a:ext cx="533400" cy="76200"/>
          </a:xfrm>
          <a:prstGeom prst="line">
            <a:avLst/>
          </a:prstGeom>
        </p:spPr>
        <p:style>
          <a:lnRef idx="2">
            <a:schemeClr val="dk1"/>
          </a:lnRef>
          <a:fillRef idx="0">
            <a:schemeClr val="dk1"/>
          </a:fillRef>
          <a:effectRef idx="1">
            <a:schemeClr val="dk1"/>
          </a:effectRef>
          <a:fontRef idx="minor">
            <a:schemeClr val="tx1"/>
          </a:fontRef>
        </p:style>
      </p:cxnSp>
      <p:sp>
        <p:nvSpPr>
          <p:cNvPr id="41" name="Rectangle 40"/>
          <p:cNvSpPr/>
          <p:nvPr/>
        </p:nvSpPr>
        <p:spPr>
          <a:xfrm>
            <a:off x="934720" y="2268458"/>
            <a:ext cx="2835071" cy="369332"/>
          </a:xfrm>
          <a:prstGeom prst="rect">
            <a:avLst/>
          </a:prstGeom>
        </p:spPr>
        <p:txBody>
          <a:bodyPr wrap="none">
            <a:spAutoFit/>
          </a:bodyPr>
          <a:lstStyle/>
          <a:p>
            <a:r>
              <a:rPr lang="en-US" b="1" dirty="0" err="1">
                <a:latin typeface="Times New Roman" pitchFamily="18" charset="0"/>
                <a:cs typeface="Times New Roman" pitchFamily="18" charset="0"/>
              </a:rPr>
              <a:t>Gambhir</a:t>
            </a:r>
            <a:r>
              <a:rPr lang="en-US" b="1" dirty="0">
                <a:latin typeface="Times New Roman" pitchFamily="18" charset="0"/>
                <a:cs typeface="Times New Roman" pitchFamily="18" charset="0"/>
              </a:rPr>
              <a:t> does not like Red</a:t>
            </a:r>
            <a:endParaRPr lang="en-IN" b="1" dirty="0">
              <a:latin typeface="Times New Roman" pitchFamily="18" charset="0"/>
              <a:cs typeface="Times New Roman" pitchFamily="18" charset="0"/>
            </a:endParaRPr>
          </a:p>
        </p:txBody>
      </p:sp>
      <p:sp>
        <p:nvSpPr>
          <p:cNvPr id="42" name="Rectangle 41"/>
          <p:cNvSpPr/>
          <p:nvPr/>
        </p:nvSpPr>
        <p:spPr>
          <a:xfrm>
            <a:off x="6858000" y="3136543"/>
            <a:ext cx="582211" cy="369332"/>
          </a:xfrm>
          <a:prstGeom prst="rect">
            <a:avLst/>
          </a:prstGeom>
        </p:spPr>
        <p:txBody>
          <a:bodyPr wrap="none">
            <a:spAutoFit/>
          </a:bodyPr>
          <a:lstStyle/>
          <a:p>
            <a:r>
              <a:rPr lang="en-US" b="1" dirty="0" smtClean="0">
                <a:latin typeface="Times New Roman" pitchFamily="18" charset="0"/>
                <a:cs typeface="Times New Roman" pitchFamily="18" charset="0"/>
              </a:rPr>
              <a:t>Red</a:t>
            </a:r>
            <a:endParaRPr lang="en-IN" dirty="0"/>
          </a:p>
        </p:txBody>
      </p:sp>
      <p:cxnSp>
        <p:nvCxnSpPr>
          <p:cNvPr id="43" name="Straight Connector 42"/>
          <p:cNvCxnSpPr/>
          <p:nvPr/>
        </p:nvCxnSpPr>
        <p:spPr>
          <a:xfrm>
            <a:off x="4572000" y="209550"/>
            <a:ext cx="533400" cy="76200"/>
          </a:xfrm>
          <a:prstGeom prst="line">
            <a:avLst/>
          </a:prstGeom>
        </p:spPr>
        <p:style>
          <a:lnRef idx="2">
            <a:schemeClr val="dk1"/>
          </a:lnRef>
          <a:fillRef idx="0">
            <a:schemeClr val="dk1"/>
          </a:fillRef>
          <a:effectRef idx="1">
            <a:schemeClr val="dk1"/>
          </a:effectRef>
          <a:fontRef idx="minor">
            <a:schemeClr val="tx1"/>
          </a:fontRef>
        </p:style>
      </p:cxnSp>
      <p:cxnSp>
        <p:nvCxnSpPr>
          <p:cNvPr id="44" name="Straight Connector 43"/>
          <p:cNvCxnSpPr/>
          <p:nvPr/>
        </p:nvCxnSpPr>
        <p:spPr>
          <a:xfrm>
            <a:off x="1524000" y="209550"/>
            <a:ext cx="533400" cy="76200"/>
          </a:xfrm>
          <a:prstGeom prst="line">
            <a:avLst/>
          </a:prstGeom>
        </p:spPr>
        <p:style>
          <a:lnRef idx="2">
            <a:schemeClr val="dk1"/>
          </a:lnRef>
          <a:fillRef idx="0">
            <a:schemeClr val="dk1"/>
          </a:fillRef>
          <a:effectRef idx="1">
            <a:schemeClr val="dk1"/>
          </a:effectRef>
          <a:fontRef idx="minor">
            <a:schemeClr val="tx1"/>
          </a:fontRef>
        </p:style>
      </p:cxnSp>
      <p:sp>
        <p:nvSpPr>
          <p:cNvPr id="45" name="Rectangle 44"/>
          <p:cNvSpPr/>
          <p:nvPr/>
        </p:nvSpPr>
        <p:spPr>
          <a:xfrm>
            <a:off x="2971800" y="3483412"/>
            <a:ext cx="1005403" cy="369332"/>
          </a:xfrm>
          <a:prstGeom prst="rect">
            <a:avLst/>
          </a:prstGeom>
        </p:spPr>
        <p:txBody>
          <a:bodyPr wrap="none">
            <a:spAutoFit/>
          </a:bodyPr>
          <a:lstStyle/>
          <a:p>
            <a:r>
              <a:rPr lang="en-IN" b="1" dirty="0" err="1">
                <a:latin typeface="Times New Roman" pitchFamily="18" charset="0"/>
                <a:cs typeface="Times New Roman" pitchFamily="18" charset="0"/>
              </a:rPr>
              <a:t>Dhawan</a:t>
            </a:r>
            <a:endParaRPr lang="en-IN" dirty="0"/>
          </a:p>
        </p:txBody>
      </p:sp>
      <p:sp>
        <p:nvSpPr>
          <p:cNvPr id="46" name="Rectangle 45"/>
          <p:cNvSpPr/>
          <p:nvPr/>
        </p:nvSpPr>
        <p:spPr>
          <a:xfrm>
            <a:off x="6858000" y="3496628"/>
            <a:ext cx="838756" cy="369332"/>
          </a:xfrm>
          <a:prstGeom prst="rect">
            <a:avLst/>
          </a:prstGeom>
        </p:spPr>
        <p:txBody>
          <a:bodyPr wrap="none">
            <a:spAutoFit/>
          </a:bodyPr>
          <a:lstStyle/>
          <a:p>
            <a:r>
              <a:rPr lang="en-US" b="1" dirty="0">
                <a:latin typeface="Times New Roman" pitchFamily="18" charset="0"/>
                <a:cs typeface="Times New Roman" pitchFamily="18" charset="0"/>
              </a:rPr>
              <a:t>Yellow</a:t>
            </a:r>
            <a:endParaRPr lang="en-IN" dirty="0"/>
          </a:p>
        </p:txBody>
      </p:sp>
    </p:spTree>
    <p:extLst>
      <p:ext uri="{BB962C8B-B14F-4D97-AF65-F5344CB8AC3E}">
        <p14:creationId xmlns:p14="http://schemas.microsoft.com/office/powerpoint/2010/main" val="127294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3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35"/>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6"/>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38"/>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39"/>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40"/>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41"/>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2"/>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4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44"/>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45"/>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12" grpId="0"/>
      <p:bldP spid="13" grpId="0"/>
      <p:bldP spid="15" grpId="0"/>
      <p:bldP spid="16" grpId="0"/>
      <p:bldP spid="17" grpId="0"/>
      <p:bldP spid="20" grpId="0"/>
      <p:bldP spid="21" grpId="0"/>
      <p:bldP spid="22" grpId="0"/>
      <p:bldP spid="23" grpId="0"/>
      <p:bldP spid="25" grpId="0"/>
      <p:bldP spid="26" grpId="0"/>
      <p:bldP spid="27" grpId="0"/>
      <p:bldP spid="29" grpId="0"/>
      <p:bldP spid="31" grpId="0"/>
      <p:bldP spid="32" grpId="0"/>
      <p:bldP spid="33" grpId="0"/>
      <p:bldP spid="36" grpId="0"/>
      <p:bldP spid="37" grpId="0"/>
      <p:bldP spid="38" grpId="0"/>
      <p:bldP spid="41" grpId="0"/>
      <p:bldP spid="42" grpId="0"/>
      <p:bldP spid="45" grpId="0"/>
      <p:bldP spid="4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41394"/>
            <a:ext cx="659155" cy="369332"/>
          </a:xfrm>
          <a:prstGeom prst="rect">
            <a:avLst/>
          </a:prstGeom>
        </p:spPr>
        <p:txBody>
          <a:bodyPr wrap="none">
            <a:spAutoFit/>
          </a:bodyPr>
          <a:lstStyle/>
          <a:p>
            <a:r>
              <a:rPr lang="en-IN" b="1" dirty="0">
                <a:latin typeface="Times New Roman" pitchFamily="18" charset="0"/>
                <a:cs typeface="Times New Roman" pitchFamily="18" charset="0"/>
              </a:rPr>
              <a:t>SRH</a:t>
            </a:r>
            <a:endParaRPr lang="en-IN" dirty="0"/>
          </a:p>
        </p:txBody>
      </p:sp>
      <p:sp>
        <p:nvSpPr>
          <p:cNvPr id="3" name="Rectangle 2"/>
          <p:cNvSpPr/>
          <p:nvPr/>
        </p:nvSpPr>
        <p:spPr>
          <a:xfrm>
            <a:off x="3657600" y="-41394"/>
            <a:ext cx="550151" cy="369332"/>
          </a:xfrm>
          <a:prstGeom prst="rect">
            <a:avLst/>
          </a:prstGeom>
        </p:spPr>
        <p:txBody>
          <a:bodyPr wrap="none">
            <a:spAutoFit/>
          </a:bodyPr>
          <a:lstStyle/>
          <a:p>
            <a:r>
              <a:rPr lang="en-US" b="1" dirty="0">
                <a:latin typeface="Times New Roman" pitchFamily="18" charset="0"/>
                <a:cs typeface="Times New Roman" pitchFamily="18" charset="0"/>
              </a:rPr>
              <a:t>MI </a:t>
            </a:r>
            <a:endParaRPr lang="en-IN" dirty="0"/>
          </a:p>
        </p:txBody>
      </p:sp>
      <p:sp>
        <p:nvSpPr>
          <p:cNvPr id="4" name="Rectangle 3"/>
          <p:cNvSpPr/>
          <p:nvPr/>
        </p:nvSpPr>
        <p:spPr>
          <a:xfrm>
            <a:off x="6324600" y="-95250"/>
            <a:ext cx="768159" cy="369332"/>
          </a:xfrm>
          <a:prstGeom prst="rect">
            <a:avLst/>
          </a:prstGeom>
        </p:spPr>
        <p:txBody>
          <a:bodyPr wrap="none">
            <a:spAutoFit/>
          </a:bodyPr>
          <a:lstStyle/>
          <a:p>
            <a:r>
              <a:rPr lang="en-US" b="1" dirty="0">
                <a:latin typeface="Times New Roman" pitchFamily="18" charset="0"/>
                <a:cs typeface="Times New Roman" pitchFamily="18" charset="0"/>
              </a:rPr>
              <a:t>KKR </a:t>
            </a:r>
            <a:endParaRPr lang="en-IN" dirty="0"/>
          </a:p>
        </p:txBody>
      </p:sp>
      <p:sp>
        <p:nvSpPr>
          <p:cNvPr id="5" name="Rectangle 4"/>
          <p:cNvSpPr/>
          <p:nvPr/>
        </p:nvSpPr>
        <p:spPr>
          <a:xfrm>
            <a:off x="3048000" y="383461"/>
            <a:ext cx="701859" cy="369332"/>
          </a:xfrm>
          <a:prstGeom prst="rect">
            <a:avLst/>
          </a:prstGeom>
        </p:spPr>
        <p:txBody>
          <a:bodyPr wrap="none">
            <a:spAutoFit/>
          </a:bodyPr>
          <a:lstStyle/>
          <a:p>
            <a:r>
              <a:rPr lang="en-US" b="1" dirty="0" err="1" smtClean="0">
                <a:latin typeface="Times New Roman" pitchFamily="18" charset="0"/>
                <a:cs typeface="Times New Roman" pitchFamily="18" charset="0"/>
              </a:rPr>
              <a:t>Virat</a:t>
            </a:r>
            <a:endParaRPr lang="en-US" b="1" dirty="0">
              <a:latin typeface="Times New Roman" pitchFamily="18" charset="0"/>
              <a:cs typeface="Times New Roman" pitchFamily="18" charset="0"/>
            </a:endParaRPr>
          </a:p>
        </p:txBody>
      </p:sp>
      <p:sp>
        <p:nvSpPr>
          <p:cNvPr id="6" name="Rectangle 5"/>
          <p:cNvSpPr/>
          <p:nvPr/>
        </p:nvSpPr>
        <p:spPr>
          <a:xfrm>
            <a:off x="3764280" y="394335"/>
            <a:ext cx="753411" cy="369332"/>
          </a:xfrm>
          <a:prstGeom prst="rect">
            <a:avLst/>
          </a:prstGeom>
        </p:spPr>
        <p:txBody>
          <a:bodyPr wrap="none">
            <a:spAutoFit/>
          </a:bodyPr>
          <a:lstStyle/>
          <a:p>
            <a:r>
              <a:rPr lang="en-US" b="1" dirty="0" err="1" smtClean="0">
                <a:latin typeface="Times New Roman" pitchFamily="18" charset="0"/>
                <a:cs typeface="Times New Roman" pitchFamily="18" charset="0"/>
              </a:rPr>
              <a:t>Voilet</a:t>
            </a:r>
            <a:endParaRPr lang="en-US" b="1" dirty="0">
              <a:latin typeface="Times New Roman" pitchFamily="18" charset="0"/>
              <a:cs typeface="Times New Roman" pitchFamily="18" charset="0"/>
            </a:endParaRPr>
          </a:p>
        </p:txBody>
      </p:sp>
      <p:sp>
        <p:nvSpPr>
          <p:cNvPr id="7" name="Rectangle 6"/>
          <p:cNvSpPr/>
          <p:nvPr/>
        </p:nvSpPr>
        <p:spPr>
          <a:xfrm>
            <a:off x="3831045" y="770017"/>
            <a:ext cx="633507" cy="369332"/>
          </a:xfrm>
          <a:prstGeom prst="rect">
            <a:avLst/>
          </a:prstGeom>
        </p:spPr>
        <p:txBody>
          <a:bodyPr wrap="none">
            <a:spAutoFit/>
          </a:bodyPr>
          <a:lstStyle/>
          <a:p>
            <a:r>
              <a:rPr lang="en-US" b="1" dirty="0" smtClean="0">
                <a:latin typeface="Times New Roman" pitchFamily="18" charset="0"/>
                <a:cs typeface="Times New Roman" pitchFamily="18" charset="0"/>
              </a:rPr>
              <a:t>Blue</a:t>
            </a:r>
            <a:endParaRPr lang="en-US" b="1" dirty="0">
              <a:latin typeface="Times New Roman" pitchFamily="18" charset="0"/>
              <a:cs typeface="Times New Roman" pitchFamily="18" charset="0"/>
            </a:endParaRPr>
          </a:p>
        </p:txBody>
      </p:sp>
      <p:sp>
        <p:nvSpPr>
          <p:cNvPr id="8" name="Rectangle 7"/>
          <p:cNvSpPr/>
          <p:nvPr/>
        </p:nvSpPr>
        <p:spPr>
          <a:xfrm>
            <a:off x="5752738" y="400685"/>
            <a:ext cx="909223" cy="369332"/>
          </a:xfrm>
          <a:prstGeom prst="rect">
            <a:avLst/>
          </a:prstGeom>
        </p:spPr>
        <p:txBody>
          <a:bodyPr wrap="none">
            <a:spAutoFit/>
          </a:bodyPr>
          <a:lstStyle/>
          <a:p>
            <a:r>
              <a:rPr lang="en-US" b="1" dirty="0" err="1">
                <a:latin typeface="Times New Roman" pitchFamily="18" charset="0"/>
                <a:cs typeface="Times New Roman" pitchFamily="18" charset="0"/>
              </a:rPr>
              <a:t>Sachin</a:t>
            </a:r>
            <a:r>
              <a:rPr lang="en-US" b="1" dirty="0">
                <a:latin typeface="Times New Roman" pitchFamily="18" charset="0"/>
                <a:cs typeface="Times New Roman" pitchFamily="18" charset="0"/>
              </a:rPr>
              <a:t> </a:t>
            </a:r>
            <a:endParaRPr lang="en-IN" dirty="0"/>
          </a:p>
        </p:txBody>
      </p:sp>
      <p:sp>
        <p:nvSpPr>
          <p:cNvPr id="9" name="Rectangle 8"/>
          <p:cNvSpPr/>
          <p:nvPr/>
        </p:nvSpPr>
        <p:spPr>
          <a:xfrm>
            <a:off x="5632993" y="770017"/>
            <a:ext cx="1148712" cy="369332"/>
          </a:xfrm>
          <a:prstGeom prst="rect">
            <a:avLst/>
          </a:prstGeom>
        </p:spPr>
        <p:txBody>
          <a:bodyPr wrap="none">
            <a:spAutoFit/>
          </a:bodyPr>
          <a:lstStyle/>
          <a:p>
            <a:r>
              <a:rPr lang="en-US" b="1" dirty="0" err="1">
                <a:latin typeface="Times New Roman" pitchFamily="18" charset="0"/>
                <a:cs typeface="Times New Roman" pitchFamily="18" charset="0"/>
              </a:rPr>
              <a:t>Gambhir</a:t>
            </a:r>
            <a:r>
              <a:rPr lang="en-US" b="1" dirty="0">
                <a:latin typeface="Times New Roman" pitchFamily="18" charset="0"/>
                <a:cs typeface="Times New Roman" pitchFamily="18" charset="0"/>
              </a:rPr>
              <a:t> </a:t>
            </a:r>
            <a:endParaRPr lang="en-IN" dirty="0"/>
          </a:p>
        </p:txBody>
      </p:sp>
      <p:sp>
        <p:nvSpPr>
          <p:cNvPr id="10" name="Rectangle 9"/>
          <p:cNvSpPr/>
          <p:nvPr/>
        </p:nvSpPr>
        <p:spPr>
          <a:xfrm>
            <a:off x="1892302" y="400685"/>
            <a:ext cx="787395" cy="369332"/>
          </a:xfrm>
          <a:prstGeom prst="rect">
            <a:avLst/>
          </a:prstGeom>
        </p:spPr>
        <p:txBody>
          <a:bodyPr wrap="none">
            <a:spAutoFit/>
          </a:bodyPr>
          <a:lstStyle/>
          <a:p>
            <a:r>
              <a:rPr lang="en-US" b="1" dirty="0">
                <a:latin typeface="Times New Roman" pitchFamily="18" charset="0"/>
                <a:cs typeface="Times New Roman" pitchFamily="18" charset="0"/>
              </a:rPr>
              <a:t>White</a:t>
            </a:r>
            <a:endParaRPr lang="en-IN" dirty="0"/>
          </a:p>
        </p:txBody>
      </p:sp>
      <p:sp>
        <p:nvSpPr>
          <p:cNvPr id="11" name="Rectangle 10"/>
          <p:cNvSpPr/>
          <p:nvPr/>
        </p:nvSpPr>
        <p:spPr>
          <a:xfrm>
            <a:off x="1021799" y="367427"/>
            <a:ext cx="845103" cy="369332"/>
          </a:xfrm>
          <a:prstGeom prst="rect">
            <a:avLst/>
          </a:prstGeom>
        </p:spPr>
        <p:txBody>
          <a:bodyPr wrap="none">
            <a:spAutoFit/>
          </a:bodyPr>
          <a:lstStyle/>
          <a:p>
            <a:r>
              <a:rPr lang="en-US" b="1" dirty="0" err="1">
                <a:latin typeface="Times New Roman" pitchFamily="18" charset="0"/>
                <a:cs typeface="Times New Roman" pitchFamily="18" charset="0"/>
              </a:rPr>
              <a:t>Dhoni</a:t>
            </a:r>
            <a:r>
              <a:rPr lang="en-US" b="1" dirty="0">
                <a:latin typeface="Times New Roman" pitchFamily="18" charset="0"/>
                <a:cs typeface="Times New Roman" pitchFamily="18" charset="0"/>
              </a:rPr>
              <a:t> </a:t>
            </a:r>
            <a:endParaRPr lang="en-IN" dirty="0"/>
          </a:p>
        </p:txBody>
      </p:sp>
      <p:sp>
        <p:nvSpPr>
          <p:cNvPr id="12" name="Rectangle 11"/>
          <p:cNvSpPr/>
          <p:nvPr/>
        </p:nvSpPr>
        <p:spPr>
          <a:xfrm>
            <a:off x="1021799" y="824627"/>
            <a:ext cx="986167" cy="369332"/>
          </a:xfrm>
          <a:prstGeom prst="rect">
            <a:avLst/>
          </a:prstGeom>
        </p:spPr>
        <p:txBody>
          <a:bodyPr wrap="none">
            <a:spAutoFit/>
          </a:bodyPr>
          <a:lstStyle/>
          <a:p>
            <a:r>
              <a:rPr lang="en-US" b="1" dirty="0" err="1">
                <a:latin typeface="Times New Roman" pitchFamily="18" charset="0"/>
                <a:cs typeface="Times New Roman" pitchFamily="18" charset="0"/>
              </a:rPr>
              <a:t>Ashwin</a:t>
            </a:r>
            <a:r>
              <a:rPr lang="en-US" b="1" dirty="0">
                <a:latin typeface="Times New Roman" pitchFamily="18" charset="0"/>
                <a:cs typeface="Times New Roman" pitchFamily="18" charset="0"/>
              </a:rPr>
              <a:t> </a:t>
            </a:r>
            <a:endParaRPr lang="en-IN" dirty="0"/>
          </a:p>
        </p:txBody>
      </p:sp>
      <p:sp>
        <p:nvSpPr>
          <p:cNvPr id="13" name="Rectangle 12"/>
          <p:cNvSpPr/>
          <p:nvPr/>
        </p:nvSpPr>
        <p:spPr>
          <a:xfrm>
            <a:off x="1981200" y="824627"/>
            <a:ext cx="986167" cy="369332"/>
          </a:xfrm>
          <a:prstGeom prst="rect">
            <a:avLst/>
          </a:prstGeom>
        </p:spPr>
        <p:txBody>
          <a:bodyPr wrap="none">
            <a:spAutoFit/>
          </a:bodyPr>
          <a:lstStyle/>
          <a:p>
            <a:r>
              <a:rPr lang="en-US" b="1" dirty="0" smtClean="0">
                <a:latin typeface="Times New Roman" pitchFamily="18" charset="0"/>
                <a:cs typeface="Times New Roman" pitchFamily="18" charset="0"/>
              </a:rPr>
              <a:t>Orange </a:t>
            </a:r>
            <a:endParaRPr lang="en-IN" dirty="0"/>
          </a:p>
        </p:txBody>
      </p:sp>
      <p:sp>
        <p:nvSpPr>
          <p:cNvPr id="14" name="Rectangle 13"/>
          <p:cNvSpPr/>
          <p:nvPr/>
        </p:nvSpPr>
        <p:spPr>
          <a:xfrm>
            <a:off x="5818989" y="1207175"/>
            <a:ext cx="793807" cy="369332"/>
          </a:xfrm>
          <a:prstGeom prst="rect">
            <a:avLst/>
          </a:prstGeom>
        </p:spPr>
        <p:txBody>
          <a:bodyPr wrap="none">
            <a:spAutoFit/>
          </a:bodyPr>
          <a:lstStyle/>
          <a:p>
            <a:r>
              <a:rPr lang="en-US" b="1" dirty="0" err="1">
                <a:latin typeface="Times New Roman" pitchFamily="18" charset="0"/>
                <a:cs typeface="Times New Roman" pitchFamily="18" charset="0"/>
              </a:rPr>
              <a:t>Rohit</a:t>
            </a:r>
            <a:r>
              <a:rPr lang="en-US" b="1" dirty="0">
                <a:latin typeface="Times New Roman" pitchFamily="18" charset="0"/>
                <a:cs typeface="Times New Roman" pitchFamily="18" charset="0"/>
              </a:rPr>
              <a:t> </a:t>
            </a:r>
            <a:endParaRPr lang="en-IN" dirty="0"/>
          </a:p>
        </p:txBody>
      </p:sp>
      <p:sp>
        <p:nvSpPr>
          <p:cNvPr id="15" name="Rectangle 14"/>
          <p:cNvSpPr/>
          <p:nvPr/>
        </p:nvSpPr>
        <p:spPr>
          <a:xfrm>
            <a:off x="6781705" y="1217295"/>
            <a:ext cx="853760" cy="369332"/>
          </a:xfrm>
          <a:prstGeom prst="rect">
            <a:avLst/>
          </a:prstGeom>
        </p:spPr>
        <p:txBody>
          <a:bodyPr wrap="none">
            <a:spAutoFit/>
          </a:bodyPr>
          <a:lstStyle/>
          <a:p>
            <a:r>
              <a:rPr lang="en-US" b="1" dirty="0">
                <a:latin typeface="Times New Roman" pitchFamily="18" charset="0"/>
                <a:cs typeface="Times New Roman" pitchFamily="18" charset="0"/>
              </a:rPr>
              <a:t>Green </a:t>
            </a:r>
            <a:endParaRPr lang="en-IN" dirty="0"/>
          </a:p>
        </p:txBody>
      </p:sp>
      <p:sp>
        <p:nvSpPr>
          <p:cNvPr id="16" name="Rectangle 15"/>
          <p:cNvSpPr/>
          <p:nvPr/>
        </p:nvSpPr>
        <p:spPr>
          <a:xfrm>
            <a:off x="990600" y="1309251"/>
            <a:ext cx="998991" cy="369332"/>
          </a:xfrm>
          <a:prstGeom prst="rect">
            <a:avLst/>
          </a:prstGeom>
        </p:spPr>
        <p:txBody>
          <a:bodyPr wrap="none">
            <a:spAutoFit/>
          </a:bodyPr>
          <a:lstStyle/>
          <a:p>
            <a:r>
              <a:rPr lang="en-US" b="1" dirty="0" err="1">
                <a:latin typeface="Times New Roman" pitchFamily="18" charset="0"/>
                <a:cs typeface="Times New Roman" pitchFamily="18" charset="0"/>
              </a:rPr>
              <a:t>Rahane</a:t>
            </a:r>
            <a:r>
              <a:rPr lang="en-US" b="1" dirty="0">
                <a:latin typeface="Times New Roman" pitchFamily="18" charset="0"/>
                <a:cs typeface="Times New Roman" pitchFamily="18" charset="0"/>
              </a:rPr>
              <a:t> </a:t>
            </a:r>
            <a:endParaRPr lang="en-IN" dirty="0"/>
          </a:p>
        </p:txBody>
      </p:sp>
      <p:sp>
        <p:nvSpPr>
          <p:cNvPr id="17" name="Rectangle 16"/>
          <p:cNvSpPr/>
          <p:nvPr/>
        </p:nvSpPr>
        <p:spPr>
          <a:xfrm>
            <a:off x="2082751" y="1281827"/>
            <a:ext cx="825867" cy="369332"/>
          </a:xfrm>
          <a:prstGeom prst="rect">
            <a:avLst/>
          </a:prstGeom>
        </p:spPr>
        <p:txBody>
          <a:bodyPr wrap="none">
            <a:spAutoFit/>
          </a:bodyPr>
          <a:lstStyle/>
          <a:p>
            <a:r>
              <a:rPr lang="en-US" b="1" dirty="0">
                <a:latin typeface="Times New Roman" pitchFamily="18" charset="0"/>
                <a:cs typeface="Times New Roman" pitchFamily="18" charset="0"/>
              </a:rPr>
              <a:t>Indigo</a:t>
            </a:r>
            <a:endParaRPr lang="en-IN" dirty="0"/>
          </a:p>
        </p:txBody>
      </p:sp>
      <p:sp>
        <p:nvSpPr>
          <p:cNvPr id="18" name="Rectangle 17"/>
          <p:cNvSpPr/>
          <p:nvPr/>
        </p:nvSpPr>
        <p:spPr>
          <a:xfrm>
            <a:off x="6858000" y="398820"/>
            <a:ext cx="582211" cy="369332"/>
          </a:xfrm>
          <a:prstGeom prst="rect">
            <a:avLst/>
          </a:prstGeom>
        </p:spPr>
        <p:txBody>
          <a:bodyPr wrap="none">
            <a:spAutoFit/>
          </a:bodyPr>
          <a:lstStyle/>
          <a:p>
            <a:r>
              <a:rPr lang="en-US" b="1" dirty="0" smtClean="0">
                <a:latin typeface="Times New Roman" pitchFamily="18" charset="0"/>
                <a:cs typeface="Times New Roman" pitchFamily="18" charset="0"/>
              </a:rPr>
              <a:t>Red</a:t>
            </a:r>
            <a:endParaRPr lang="en-IN" dirty="0"/>
          </a:p>
        </p:txBody>
      </p:sp>
      <p:sp>
        <p:nvSpPr>
          <p:cNvPr id="19" name="Rectangle 18"/>
          <p:cNvSpPr/>
          <p:nvPr/>
        </p:nvSpPr>
        <p:spPr>
          <a:xfrm>
            <a:off x="2971800" y="745689"/>
            <a:ext cx="1005403" cy="369332"/>
          </a:xfrm>
          <a:prstGeom prst="rect">
            <a:avLst/>
          </a:prstGeom>
        </p:spPr>
        <p:txBody>
          <a:bodyPr wrap="none">
            <a:spAutoFit/>
          </a:bodyPr>
          <a:lstStyle/>
          <a:p>
            <a:r>
              <a:rPr lang="en-IN" b="1" dirty="0" err="1">
                <a:latin typeface="Times New Roman" pitchFamily="18" charset="0"/>
                <a:cs typeface="Times New Roman" pitchFamily="18" charset="0"/>
              </a:rPr>
              <a:t>Dhawan</a:t>
            </a:r>
            <a:endParaRPr lang="en-IN" dirty="0"/>
          </a:p>
        </p:txBody>
      </p:sp>
      <p:sp>
        <p:nvSpPr>
          <p:cNvPr id="20" name="Rectangle 19"/>
          <p:cNvSpPr/>
          <p:nvPr/>
        </p:nvSpPr>
        <p:spPr>
          <a:xfrm>
            <a:off x="6858000" y="758905"/>
            <a:ext cx="838756" cy="369332"/>
          </a:xfrm>
          <a:prstGeom prst="rect">
            <a:avLst/>
          </a:prstGeom>
        </p:spPr>
        <p:txBody>
          <a:bodyPr wrap="none">
            <a:spAutoFit/>
          </a:bodyPr>
          <a:lstStyle/>
          <a:p>
            <a:r>
              <a:rPr lang="en-US" b="1" dirty="0">
                <a:latin typeface="Times New Roman" pitchFamily="18" charset="0"/>
                <a:cs typeface="Times New Roman" pitchFamily="18" charset="0"/>
              </a:rPr>
              <a:t>Yellow</a:t>
            </a:r>
            <a:endParaRPr lang="en-IN" dirty="0"/>
          </a:p>
        </p:txBody>
      </p:sp>
      <p:sp>
        <p:nvSpPr>
          <p:cNvPr id="21" name="Rectangle 20"/>
          <p:cNvSpPr/>
          <p:nvPr/>
        </p:nvSpPr>
        <p:spPr>
          <a:xfrm>
            <a:off x="209684" y="1428750"/>
            <a:ext cx="8705716"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Q1. Who likes Blue </a:t>
            </a:r>
            <a:r>
              <a:rPr lang="en-US" b="1" dirty="0" err="1">
                <a:solidFill>
                  <a:srgbClr val="FF0000"/>
                </a:solidFill>
                <a:latin typeface="Times New Roman" pitchFamily="18" charset="0"/>
                <a:cs typeface="Times New Roman" pitchFamily="18" charset="0"/>
              </a:rPr>
              <a:t>colour</a:t>
            </a:r>
            <a:r>
              <a:rPr lang="en-US" b="1" dirty="0">
                <a:solidFill>
                  <a:srgbClr val="FF0000"/>
                </a:solidFill>
                <a:latin typeface="Times New Roman" pitchFamily="18" charset="0"/>
                <a:cs typeface="Times New Roman" pitchFamily="18" charset="0"/>
              </a:rPr>
              <a:t>?</a:t>
            </a:r>
          </a:p>
          <a:p>
            <a:r>
              <a:rPr lang="en-US" dirty="0">
                <a:solidFill>
                  <a:srgbClr val="FF0000"/>
                </a:solidFill>
                <a:latin typeface="Times New Roman" pitchFamily="18" charset="0"/>
                <a:cs typeface="Times New Roman" pitchFamily="18" charset="0"/>
              </a:rPr>
              <a:t>(a) </a:t>
            </a:r>
            <a:r>
              <a:rPr lang="en-US" dirty="0" err="1">
                <a:solidFill>
                  <a:srgbClr val="FF0000"/>
                </a:solidFill>
                <a:latin typeface="Times New Roman" pitchFamily="18" charset="0"/>
                <a:cs typeface="Times New Roman" pitchFamily="18" charset="0"/>
              </a:rPr>
              <a:t>Dhawan</a:t>
            </a:r>
            <a:r>
              <a:rPr lang="en-US" dirty="0">
                <a:solidFill>
                  <a:srgbClr val="FF0000"/>
                </a:solidFill>
                <a:latin typeface="Times New Roman" pitchFamily="18" charset="0"/>
                <a:cs typeface="Times New Roman" pitchFamily="18" charset="0"/>
              </a:rPr>
              <a:t> (b) </a:t>
            </a:r>
            <a:r>
              <a:rPr lang="en-US" dirty="0" err="1">
                <a:solidFill>
                  <a:srgbClr val="FF0000"/>
                </a:solidFill>
                <a:latin typeface="Times New Roman" pitchFamily="18" charset="0"/>
                <a:cs typeface="Times New Roman" pitchFamily="18" charset="0"/>
              </a:rPr>
              <a:t>Gambhir</a:t>
            </a:r>
            <a:r>
              <a:rPr lang="en-US" dirty="0">
                <a:solidFill>
                  <a:srgbClr val="FF0000"/>
                </a:solidFill>
                <a:latin typeface="Times New Roman" pitchFamily="18" charset="0"/>
                <a:cs typeface="Times New Roman" pitchFamily="18" charset="0"/>
              </a:rPr>
              <a:t> (c) </a:t>
            </a:r>
            <a:r>
              <a:rPr lang="en-US" dirty="0" err="1">
                <a:solidFill>
                  <a:srgbClr val="FF0000"/>
                </a:solidFill>
                <a:latin typeface="Times New Roman" pitchFamily="18" charset="0"/>
                <a:cs typeface="Times New Roman" pitchFamily="18" charset="0"/>
              </a:rPr>
              <a:t>Ashwin</a:t>
            </a:r>
            <a:r>
              <a:rPr lang="en-US" dirty="0">
                <a:solidFill>
                  <a:srgbClr val="FF0000"/>
                </a:solidFill>
                <a:latin typeface="Times New Roman" pitchFamily="18" charset="0"/>
                <a:cs typeface="Times New Roman" pitchFamily="18" charset="0"/>
              </a:rPr>
              <a:t> (d) </a:t>
            </a:r>
            <a:r>
              <a:rPr lang="en-US" dirty="0" err="1">
                <a:solidFill>
                  <a:srgbClr val="FF0000"/>
                </a:solidFill>
                <a:latin typeface="Times New Roman" pitchFamily="18" charset="0"/>
                <a:cs typeface="Times New Roman" pitchFamily="18" charset="0"/>
              </a:rPr>
              <a:t>Dhawan</a:t>
            </a:r>
            <a:r>
              <a:rPr lang="en-US" dirty="0">
                <a:solidFill>
                  <a:srgbClr val="FF0000"/>
                </a:solidFill>
                <a:latin typeface="Times New Roman" pitchFamily="18" charset="0"/>
                <a:cs typeface="Times New Roman" pitchFamily="18" charset="0"/>
              </a:rPr>
              <a:t> or </a:t>
            </a:r>
            <a:r>
              <a:rPr lang="en-US" dirty="0" err="1">
                <a:solidFill>
                  <a:srgbClr val="FF0000"/>
                </a:solidFill>
                <a:latin typeface="Times New Roman" pitchFamily="18" charset="0"/>
                <a:cs typeface="Times New Roman" pitchFamily="18" charset="0"/>
              </a:rPr>
              <a:t>Gambhir</a:t>
            </a:r>
            <a:r>
              <a:rPr lang="en-US" dirty="0">
                <a:solidFill>
                  <a:srgbClr val="FF0000"/>
                </a:solidFill>
                <a:latin typeface="Times New Roman" pitchFamily="18" charset="0"/>
                <a:cs typeface="Times New Roman" pitchFamily="18" charset="0"/>
              </a:rPr>
              <a:t> (e) None of these</a:t>
            </a:r>
            <a:endParaRPr lang="en-IN" dirty="0">
              <a:solidFill>
                <a:srgbClr val="FF0000"/>
              </a:solidFill>
              <a:latin typeface="Times New Roman" pitchFamily="18" charset="0"/>
              <a:cs typeface="Times New Roman" pitchFamily="18" charset="0"/>
            </a:endParaRPr>
          </a:p>
        </p:txBody>
      </p:sp>
      <p:sp>
        <p:nvSpPr>
          <p:cNvPr id="22" name="Rectangle 21"/>
          <p:cNvSpPr/>
          <p:nvPr/>
        </p:nvSpPr>
        <p:spPr>
          <a:xfrm>
            <a:off x="169436" y="1702157"/>
            <a:ext cx="1390124" cy="369332"/>
          </a:xfrm>
          <a:prstGeom prst="rect">
            <a:avLst/>
          </a:prstGeom>
        </p:spPr>
        <p:txBody>
          <a:bodyPr wrap="none">
            <a:spAutoFit/>
          </a:bodyPr>
          <a:lstStyle/>
          <a:p>
            <a:r>
              <a:rPr lang="en-US" b="1" dirty="0" smtClean="0">
                <a:latin typeface="Times New Roman" pitchFamily="18" charset="0"/>
                <a:cs typeface="Times New Roman" pitchFamily="18" charset="0"/>
              </a:rPr>
              <a:t>(a</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Dhawan</a:t>
            </a:r>
            <a:r>
              <a:rPr lang="en-US" b="1" dirty="0">
                <a:latin typeface="Times New Roman" pitchFamily="18" charset="0"/>
                <a:cs typeface="Times New Roman" pitchFamily="18" charset="0"/>
              </a:rPr>
              <a:t> </a:t>
            </a:r>
            <a:endParaRPr lang="en-IN" b="1" dirty="0">
              <a:latin typeface="Times New Roman" pitchFamily="18" charset="0"/>
              <a:cs typeface="Times New Roman" pitchFamily="18" charset="0"/>
            </a:endParaRPr>
          </a:p>
        </p:txBody>
      </p:sp>
      <p:sp>
        <p:nvSpPr>
          <p:cNvPr id="23" name="Rectangle 22"/>
          <p:cNvSpPr/>
          <p:nvPr/>
        </p:nvSpPr>
        <p:spPr>
          <a:xfrm>
            <a:off x="188282" y="2093317"/>
            <a:ext cx="8727117" cy="646331"/>
          </a:xfrm>
          <a:prstGeom prst="rect">
            <a:avLst/>
          </a:prstGeom>
        </p:spPr>
        <p:txBody>
          <a:bodyPr wrap="square">
            <a:spAutoFit/>
          </a:bodyPr>
          <a:lstStyle/>
          <a:p>
            <a:r>
              <a:rPr lang="en-US" dirty="0">
                <a:solidFill>
                  <a:srgbClr val="FF0000"/>
                </a:solidFill>
                <a:latin typeface="Times New Roman" pitchFamily="18" charset="0"/>
                <a:cs typeface="Times New Roman" pitchFamily="18" charset="0"/>
              </a:rPr>
              <a:t>Q2. Which team has only two of the eight players?</a:t>
            </a:r>
          </a:p>
          <a:p>
            <a:r>
              <a:rPr lang="en-US" dirty="0">
                <a:solidFill>
                  <a:srgbClr val="FF0000"/>
                </a:solidFill>
                <a:latin typeface="Times New Roman" pitchFamily="18" charset="0"/>
                <a:cs typeface="Times New Roman" pitchFamily="18" charset="0"/>
              </a:rPr>
              <a:t>(a) SRH (b) KKR (c) MI (d) KKR or SRH (e) Cannot be determined</a:t>
            </a:r>
            <a:endParaRPr lang="en-IN" dirty="0">
              <a:solidFill>
                <a:srgbClr val="FF0000"/>
              </a:solidFill>
              <a:latin typeface="Times New Roman" pitchFamily="18" charset="0"/>
              <a:cs typeface="Times New Roman" pitchFamily="18" charset="0"/>
            </a:endParaRPr>
          </a:p>
        </p:txBody>
      </p:sp>
      <p:sp>
        <p:nvSpPr>
          <p:cNvPr id="24" name="Rectangle 23"/>
          <p:cNvSpPr/>
          <p:nvPr/>
        </p:nvSpPr>
        <p:spPr>
          <a:xfrm>
            <a:off x="6873796" y="2231816"/>
            <a:ext cx="865943" cy="369332"/>
          </a:xfrm>
          <a:prstGeom prst="rect">
            <a:avLst/>
          </a:prstGeom>
        </p:spPr>
        <p:txBody>
          <a:bodyPr wrap="none">
            <a:spAutoFit/>
          </a:bodyPr>
          <a:lstStyle/>
          <a:p>
            <a:r>
              <a:rPr lang="en-US" dirty="0" smtClean="0"/>
              <a:t>(c</a:t>
            </a:r>
            <a:r>
              <a:rPr lang="en-US" dirty="0"/>
              <a:t>) MI </a:t>
            </a:r>
            <a:endParaRPr lang="en-IN" dirty="0"/>
          </a:p>
        </p:txBody>
      </p:sp>
      <p:sp>
        <p:nvSpPr>
          <p:cNvPr id="25" name="Rectangle 24"/>
          <p:cNvSpPr/>
          <p:nvPr/>
        </p:nvSpPr>
        <p:spPr>
          <a:xfrm>
            <a:off x="188282" y="2743339"/>
            <a:ext cx="8193717"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Q3.Which of the following group of persons plays for KKR?</a:t>
            </a:r>
          </a:p>
          <a:p>
            <a:r>
              <a:rPr lang="en-IN" dirty="0">
                <a:solidFill>
                  <a:srgbClr val="FF0000"/>
                </a:solidFill>
                <a:latin typeface="Times New Roman" pitchFamily="18" charset="0"/>
                <a:cs typeface="Times New Roman" pitchFamily="18" charset="0"/>
              </a:rPr>
              <a:t>(a) </a:t>
            </a:r>
            <a:r>
              <a:rPr lang="en-IN" dirty="0" err="1">
                <a:solidFill>
                  <a:srgbClr val="FF0000"/>
                </a:solidFill>
                <a:latin typeface="Times New Roman" pitchFamily="18" charset="0"/>
                <a:cs typeface="Times New Roman" pitchFamily="18" charset="0"/>
              </a:rPr>
              <a:t>Dhawan</a:t>
            </a:r>
            <a:r>
              <a:rPr lang="en-IN" dirty="0">
                <a:solidFill>
                  <a:srgbClr val="FF0000"/>
                </a:solidFill>
                <a:latin typeface="Times New Roman" pitchFamily="18" charset="0"/>
                <a:cs typeface="Times New Roman" pitchFamily="18" charset="0"/>
              </a:rPr>
              <a:t>, Sachin, </a:t>
            </a:r>
            <a:r>
              <a:rPr lang="en-IN" dirty="0" err="1">
                <a:solidFill>
                  <a:srgbClr val="FF0000"/>
                </a:solidFill>
                <a:latin typeface="Times New Roman" pitchFamily="18" charset="0"/>
                <a:cs typeface="Times New Roman" pitchFamily="18" charset="0"/>
              </a:rPr>
              <a:t>Gambhir</a:t>
            </a:r>
            <a:r>
              <a:rPr lang="en-IN" dirty="0">
                <a:solidFill>
                  <a:srgbClr val="FF0000"/>
                </a:solidFill>
                <a:latin typeface="Times New Roman" pitchFamily="18" charset="0"/>
                <a:cs typeface="Times New Roman" pitchFamily="18" charset="0"/>
              </a:rPr>
              <a:t> (b) Sachin, </a:t>
            </a:r>
            <a:r>
              <a:rPr lang="en-IN" dirty="0" err="1">
                <a:solidFill>
                  <a:srgbClr val="FF0000"/>
                </a:solidFill>
                <a:latin typeface="Times New Roman" pitchFamily="18" charset="0"/>
                <a:cs typeface="Times New Roman" pitchFamily="18" charset="0"/>
              </a:rPr>
              <a:t>Gambhir</a:t>
            </a:r>
            <a:r>
              <a:rPr lang="en-IN" dirty="0">
                <a:solidFill>
                  <a:srgbClr val="FF0000"/>
                </a:solidFill>
                <a:latin typeface="Times New Roman" pitchFamily="18" charset="0"/>
                <a:cs typeface="Times New Roman" pitchFamily="18" charset="0"/>
              </a:rPr>
              <a:t>, </a:t>
            </a:r>
            <a:r>
              <a:rPr lang="en-IN" dirty="0" err="1">
                <a:solidFill>
                  <a:srgbClr val="FF0000"/>
                </a:solidFill>
                <a:latin typeface="Times New Roman" pitchFamily="18" charset="0"/>
                <a:cs typeface="Times New Roman" pitchFamily="18" charset="0"/>
              </a:rPr>
              <a:t>Rahane</a:t>
            </a:r>
            <a:r>
              <a:rPr lang="en-IN" dirty="0">
                <a:solidFill>
                  <a:srgbClr val="FF0000"/>
                </a:solidFill>
                <a:latin typeface="Times New Roman" pitchFamily="18" charset="0"/>
                <a:cs typeface="Times New Roman" pitchFamily="18" charset="0"/>
              </a:rPr>
              <a:t> (c) Sachin, </a:t>
            </a:r>
            <a:r>
              <a:rPr lang="en-IN" dirty="0" err="1">
                <a:solidFill>
                  <a:srgbClr val="FF0000"/>
                </a:solidFill>
                <a:latin typeface="Times New Roman" pitchFamily="18" charset="0"/>
                <a:cs typeface="Times New Roman" pitchFamily="18" charset="0"/>
              </a:rPr>
              <a:t>Rohit</a:t>
            </a:r>
            <a:r>
              <a:rPr lang="en-IN" dirty="0">
                <a:solidFill>
                  <a:srgbClr val="FF0000"/>
                </a:solidFill>
                <a:latin typeface="Times New Roman" pitchFamily="18" charset="0"/>
                <a:cs typeface="Times New Roman" pitchFamily="18" charset="0"/>
              </a:rPr>
              <a:t>, </a:t>
            </a:r>
            <a:r>
              <a:rPr lang="en-IN" dirty="0" err="1">
                <a:solidFill>
                  <a:srgbClr val="FF0000"/>
                </a:solidFill>
                <a:latin typeface="Times New Roman" pitchFamily="18" charset="0"/>
                <a:cs typeface="Times New Roman" pitchFamily="18" charset="0"/>
              </a:rPr>
              <a:t>Dhoni</a:t>
            </a:r>
            <a:endParaRPr lang="en-IN" dirty="0">
              <a:solidFill>
                <a:srgbClr val="FF0000"/>
              </a:solidFill>
              <a:latin typeface="Times New Roman" pitchFamily="18" charset="0"/>
              <a:cs typeface="Times New Roman" pitchFamily="18" charset="0"/>
            </a:endParaRPr>
          </a:p>
          <a:p>
            <a:r>
              <a:rPr lang="en-US" dirty="0">
                <a:solidFill>
                  <a:srgbClr val="FF0000"/>
                </a:solidFill>
                <a:latin typeface="Times New Roman" pitchFamily="18" charset="0"/>
                <a:cs typeface="Times New Roman" pitchFamily="18" charset="0"/>
              </a:rPr>
              <a:t>(d) </a:t>
            </a:r>
            <a:r>
              <a:rPr lang="en-US" dirty="0" err="1">
                <a:solidFill>
                  <a:srgbClr val="FF0000"/>
                </a:solidFill>
                <a:latin typeface="Times New Roman" pitchFamily="18" charset="0"/>
                <a:cs typeface="Times New Roman" pitchFamily="18" charset="0"/>
              </a:rPr>
              <a:t>Sachin</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Rohit</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Gambhir</a:t>
            </a:r>
            <a:r>
              <a:rPr lang="en-US" dirty="0">
                <a:solidFill>
                  <a:srgbClr val="FF0000"/>
                </a:solidFill>
                <a:latin typeface="Times New Roman" pitchFamily="18" charset="0"/>
                <a:cs typeface="Times New Roman" pitchFamily="18" charset="0"/>
              </a:rPr>
              <a:t> (e) None of these</a:t>
            </a:r>
            <a:endParaRPr lang="en-IN" dirty="0">
              <a:solidFill>
                <a:srgbClr val="FF0000"/>
              </a:solidFill>
              <a:latin typeface="Times New Roman" pitchFamily="18" charset="0"/>
              <a:cs typeface="Times New Roman" pitchFamily="18" charset="0"/>
            </a:endParaRPr>
          </a:p>
        </p:txBody>
      </p:sp>
      <p:sp>
        <p:nvSpPr>
          <p:cNvPr id="26" name="Rectangle 25"/>
          <p:cNvSpPr/>
          <p:nvPr/>
        </p:nvSpPr>
        <p:spPr>
          <a:xfrm>
            <a:off x="7149105" y="3298389"/>
            <a:ext cx="481222" cy="369332"/>
          </a:xfrm>
          <a:prstGeom prst="rect">
            <a:avLst/>
          </a:prstGeom>
        </p:spPr>
        <p:txBody>
          <a:bodyPr wrap="none">
            <a:spAutoFit/>
          </a:bodyPr>
          <a:lstStyle/>
          <a:p>
            <a:r>
              <a:rPr lang="en-US" dirty="0" smtClean="0"/>
              <a:t>(d)</a:t>
            </a:r>
            <a:endParaRPr lang="en-IN" dirty="0"/>
          </a:p>
        </p:txBody>
      </p:sp>
      <p:sp>
        <p:nvSpPr>
          <p:cNvPr id="27" name="Rectangle 26"/>
          <p:cNvSpPr/>
          <p:nvPr/>
        </p:nvSpPr>
        <p:spPr>
          <a:xfrm>
            <a:off x="209684" y="3587789"/>
            <a:ext cx="8553316" cy="1477328"/>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Q4.Which of the following combinations of team, person &amp; </a:t>
            </a:r>
            <a:r>
              <a:rPr lang="en-US" b="1" dirty="0" err="1">
                <a:solidFill>
                  <a:srgbClr val="FF0000"/>
                </a:solidFill>
                <a:latin typeface="Times New Roman" pitchFamily="18" charset="0"/>
                <a:cs typeface="Times New Roman" pitchFamily="18" charset="0"/>
              </a:rPr>
              <a:t>colour</a:t>
            </a:r>
            <a:r>
              <a:rPr lang="en-US" b="1" dirty="0">
                <a:solidFill>
                  <a:srgbClr val="FF0000"/>
                </a:solidFill>
                <a:latin typeface="Times New Roman" pitchFamily="18" charset="0"/>
                <a:cs typeface="Times New Roman" pitchFamily="18" charset="0"/>
              </a:rPr>
              <a:t> is correct?</a:t>
            </a:r>
          </a:p>
          <a:p>
            <a:r>
              <a:rPr lang="en-US" dirty="0">
                <a:solidFill>
                  <a:srgbClr val="FF0000"/>
                </a:solidFill>
                <a:latin typeface="Times New Roman" pitchFamily="18" charset="0"/>
                <a:cs typeface="Times New Roman" pitchFamily="18" charset="0"/>
              </a:rPr>
              <a:t>(a) KKR – </a:t>
            </a:r>
            <a:r>
              <a:rPr lang="en-US" dirty="0" err="1">
                <a:solidFill>
                  <a:srgbClr val="FF0000"/>
                </a:solidFill>
                <a:latin typeface="Times New Roman" pitchFamily="18" charset="0"/>
                <a:cs typeface="Times New Roman" pitchFamily="18" charset="0"/>
              </a:rPr>
              <a:t>Sachin</a:t>
            </a:r>
            <a:r>
              <a:rPr lang="en-US" dirty="0">
                <a:solidFill>
                  <a:srgbClr val="FF0000"/>
                </a:solidFill>
                <a:latin typeface="Times New Roman" pitchFamily="18" charset="0"/>
                <a:cs typeface="Times New Roman" pitchFamily="18" charset="0"/>
              </a:rPr>
              <a:t> – Orange (b) MI – </a:t>
            </a:r>
            <a:r>
              <a:rPr lang="en-US" dirty="0" err="1">
                <a:solidFill>
                  <a:srgbClr val="FF0000"/>
                </a:solidFill>
                <a:latin typeface="Times New Roman" pitchFamily="18" charset="0"/>
                <a:cs typeface="Times New Roman" pitchFamily="18" charset="0"/>
              </a:rPr>
              <a:t>Virat</a:t>
            </a:r>
            <a:r>
              <a:rPr lang="en-US" dirty="0">
                <a:solidFill>
                  <a:srgbClr val="FF0000"/>
                </a:solidFill>
                <a:latin typeface="Times New Roman" pitchFamily="18" charset="0"/>
                <a:cs typeface="Times New Roman" pitchFamily="18" charset="0"/>
              </a:rPr>
              <a:t> – Blue (c) SRH – </a:t>
            </a:r>
            <a:r>
              <a:rPr lang="en-US" dirty="0" err="1">
                <a:solidFill>
                  <a:srgbClr val="FF0000"/>
                </a:solidFill>
                <a:latin typeface="Times New Roman" pitchFamily="18" charset="0"/>
                <a:cs typeface="Times New Roman" pitchFamily="18" charset="0"/>
              </a:rPr>
              <a:t>Ashwin</a:t>
            </a:r>
            <a:r>
              <a:rPr lang="en-US" dirty="0">
                <a:solidFill>
                  <a:srgbClr val="FF0000"/>
                </a:solidFill>
                <a:latin typeface="Times New Roman" pitchFamily="18" charset="0"/>
                <a:cs typeface="Times New Roman" pitchFamily="18" charset="0"/>
              </a:rPr>
              <a:t> – Violet</a:t>
            </a:r>
          </a:p>
          <a:p>
            <a:r>
              <a:rPr lang="en-US" dirty="0">
                <a:solidFill>
                  <a:srgbClr val="FF0000"/>
                </a:solidFill>
                <a:latin typeface="Times New Roman" pitchFamily="18" charset="0"/>
                <a:cs typeface="Times New Roman" pitchFamily="18" charset="0"/>
              </a:rPr>
              <a:t>(d) SRH – </a:t>
            </a:r>
            <a:r>
              <a:rPr lang="en-US" dirty="0" err="1">
                <a:solidFill>
                  <a:srgbClr val="FF0000"/>
                </a:solidFill>
                <a:latin typeface="Times New Roman" pitchFamily="18" charset="0"/>
                <a:cs typeface="Times New Roman" pitchFamily="18" charset="0"/>
              </a:rPr>
              <a:t>Gambhir</a:t>
            </a:r>
            <a:r>
              <a:rPr lang="en-US" dirty="0">
                <a:solidFill>
                  <a:srgbClr val="FF0000"/>
                </a:solidFill>
                <a:latin typeface="Times New Roman" pitchFamily="18" charset="0"/>
                <a:cs typeface="Times New Roman" pitchFamily="18" charset="0"/>
              </a:rPr>
              <a:t> – Yellow (e) None of these</a:t>
            </a:r>
          </a:p>
          <a:p>
            <a:r>
              <a:rPr lang="en-US" b="1" dirty="0">
                <a:solidFill>
                  <a:srgbClr val="FF0000"/>
                </a:solidFill>
                <a:latin typeface="Times New Roman" pitchFamily="18" charset="0"/>
                <a:cs typeface="Times New Roman" pitchFamily="18" charset="0"/>
              </a:rPr>
              <a:t>Q5. Which </a:t>
            </a:r>
            <a:r>
              <a:rPr lang="en-US" b="1" dirty="0" err="1">
                <a:solidFill>
                  <a:srgbClr val="FF0000"/>
                </a:solidFill>
                <a:latin typeface="Times New Roman" pitchFamily="18" charset="0"/>
                <a:cs typeface="Times New Roman" pitchFamily="18" charset="0"/>
              </a:rPr>
              <a:t>colour</a:t>
            </a:r>
            <a:r>
              <a:rPr lang="en-US" b="1" dirty="0">
                <a:solidFill>
                  <a:srgbClr val="FF0000"/>
                </a:solidFill>
                <a:latin typeface="Times New Roman" pitchFamily="18" charset="0"/>
                <a:cs typeface="Times New Roman" pitchFamily="18" charset="0"/>
              </a:rPr>
              <a:t> does </a:t>
            </a:r>
            <a:r>
              <a:rPr lang="en-US" b="1" dirty="0" err="1">
                <a:solidFill>
                  <a:srgbClr val="FF0000"/>
                </a:solidFill>
                <a:latin typeface="Times New Roman" pitchFamily="18" charset="0"/>
                <a:cs typeface="Times New Roman" pitchFamily="18" charset="0"/>
              </a:rPr>
              <a:t>Gambhir</a:t>
            </a:r>
            <a:r>
              <a:rPr lang="en-US" b="1" dirty="0">
                <a:solidFill>
                  <a:srgbClr val="FF0000"/>
                </a:solidFill>
                <a:latin typeface="Times New Roman" pitchFamily="18" charset="0"/>
                <a:cs typeface="Times New Roman" pitchFamily="18" charset="0"/>
              </a:rPr>
              <a:t> like?</a:t>
            </a:r>
          </a:p>
          <a:p>
            <a:r>
              <a:rPr lang="en-US" dirty="0">
                <a:solidFill>
                  <a:srgbClr val="FF0000"/>
                </a:solidFill>
                <a:latin typeface="Times New Roman" pitchFamily="18" charset="0"/>
                <a:cs typeface="Times New Roman" pitchFamily="18" charset="0"/>
              </a:rPr>
              <a:t>(a) Blue (b) Orange (c) Yellow (d) Violet (e) None of these</a:t>
            </a:r>
            <a:endParaRPr lang="en-IN"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08482158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69830"/>
            <a:ext cx="8763000" cy="2308324"/>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Eight persons P, Q, R, S, T, U, V and W live on different floors in the same building, the building has eight floors </a:t>
            </a:r>
            <a:r>
              <a:rPr lang="en-US" b="1" dirty="0" smtClean="0">
                <a:solidFill>
                  <a:srgbClr val="FF0000"/>
                </a:solidFill>
                <a:latin typeface="Times New Roman" pitchFamily="18" charset="0"/>
                <a:cs typeface="Times New Roman" pitchFamily="18" charset="0"/>
              </a:rPr>
              <a:t>from 1 </a:t>
            </a:r>
            <a:r>
              <a:rPr lang="en-US" b="1" dirty="0">
                <a:solidFill>
                  <a:srgbClr val="FF0000"/>
                </a:solidFill>
                <a:latin typeface="Times New Roman" pitchFamily="18" charset="0"/>
                <a:cs typeface="Times New Roman" pitchFamily="18" charset="0"/>
              </a:rPr>
              <a:t>to 8 in such a way that ground floor is numbered 1, the above floor is numbered 2 and so on. The top most floor </a:t>
            </a:r>
            <a:r>
              <a:rPr lang="en-US" b="1" dirty="0" smtClean="0">
                <a:solidFill>
                  <a:srgbClr val="FF0000"/>
                </a:solidFill>
                <a:latin typeface="Times New Roman" pitchFamily="18" charset="0"/>
                <a:cs typeface="Times New Roman" pitchFamily="18" charset="0"/>
              </a:rPr>
              <a:t>is </a:t>
            </a:r>
            <a:r>
              <a:rPr lang="en-IN" b="1" dirty="0" smtClean="0">
                <a:solidFill>
                  <a:srgbClr val="FF0000"/>
                </a:solidFill>
                <a:latin typeface="Times New Roman" pitchFamily="18" charset="0"/>
                <a:cs typeface="Times New Roman" pitchFamily="18" charset="0"/>
              </a:rPr>
              <a:t>numbered </a:t>
            </a:r>
            <a:r>
              <a:rPr lang="en-IN" b="1" dirty="0">
                <a:solidFill>
                  <a:srgbClr val="FF0000"/>
                </a:solidFill>
                <a:latin typeface="Times New Roman" pitchFamily="18" charset="0"/>
                <a:cs typeface="Times New Roman" pitchFamily="18" charset="0"/>
              </a:rPr>
              <a:t>8.</a:t>
            </a:r>
          </a:p>
          <a:p>
            <a:r>
              <a:rPr lang="en-US" b="1" dirty="0">
                <a:solidFill>
                  <a:srgbClr val="FF0000"/>
                </a:solidFill>
                <a:latin typeface="Times New Roman" pitchFamily="18" charset="0"/>
                <a:cs typeface="Times New Roman" pitchFamily="18" charset="0"/>
              </a:rPr>
              <a:t>S lives on even numbered floor above the floor numbered 5. There are only two persons live between the floor </a:t>
            </a:r>
            <a:r>
              <a:rPr lang="en-US" b="1" dirty="0" smtClean="0">
                <a:solidFill>
                  <a:srgbClr val="FF0000"/>
                </a:solidFill>
                <a:latin typeface="Times New Roman" pitchFamily="18" charset="0"/>
                <a:cs typeface="Times New Roman" pitchFamily="18" charset="0"/>
              </a:rPr>
              <a:t>on which </a:t>
            </a:r>
            <a:r>
              <a:rPr lang="en-US" b="1" dirty="0">
                <a:solidFill>
                  <a:srgbClr val="FF0000"/>
                </a:solidFill>
                <a:latin typeface="Times New Roman" pitchFamily="18" charset="0"/>
                <a:cs typeface="Times New Roman" pitchFamily="18" charset="0"/>
              </a:rPr>
              <a:t>V and W live. P lives immediate above the floor on which U lives. V lives on an even numbered floor below </a:t>
            </a:r>
            <a:r>
              <a:rPr lang="en-US" b="1" dirty="0" smtClean="0">
                <a:solidFill>
                  <a:srgbClr val="FF0000"/>
                </a:solidFill>
                <a:latin typeface="Times New Roman" pitchFamily="18" charset="0"/>
                <a:cs typeface="Times New Roman" pitchFamily="18" charset="0"/>
              </a:rPr>
              <a:t>the floor </a:t>
            </a:r>
            <a:r>
              <a:rPr lang="en-US" b="1" dirty="0">
                <a:solidFill>
                  <a:srgbClr val="FF0000"/>
                </a:solidFill>
                <a:latin typeface="Times New Roman" pitchFamily="18" charset="0"/>
                <a:cs typeface="Times New Roman" pitchFamily="18" charset="0"/>
              </a:rPr>
              <a:t>on which S lives. R lives on floor numbered 4. There are only three person lives between U and T who lives </a:t>
            </a:r>
            <a:r>
              <a:rPr lang="en-US" b="1" dirty="0" smtClean="0">
                <a:solidFill>
                  <a:srgbClr val="FF0000"/>
                </a:solidFill>
                <a:latin typeface="Times New Roman" pitchFamily="18" charset="0"/>
                <a:cs typeface="Times New Roman" pitchFamily="18" charset="0"/>
              </a:rPr>
              <a:t>on odd </a:t>
            </a:r>
            <a:r>
              <a:rPr lang="en-US" b="1" dirty="0">
                <a:solidFill>
                  <a:srgbClr val="FF0000"/>
                </a:solidFill>
                <a:latin typeface="Times New Roman" pitchFamily="18" charset="0"/>
                <a:cs typeface="Times New Roman" pitchFamily="18" charset="0"/>
              </a:rPr>
              <a:t>numbered floor above the floor on which R lives.</a:t>
            </a:r>
            <a:endParaRPr lang="en-IN" b="1" dirty="0">
              <a:solidFill>
                <a:srgbClr val="FF0000"/>
              </a:solidFill>
              <a:latin typeface="Times New Roman" pitchFamily="18" charset="0"/>
              <a:cs typeface="Times New Roman" pitchFamily="18" charset="0"/>
            </a:endParaRPr>
          </a:p>
        </p:txBody>
      </p:sp>
      <p:sp>
        <p:nvSpPr>
          <p:cNvPr id="3" name="Rectangle 2"/>
          <p:cNvSpPr/>
          <p:nvPr/>
        </p:nvSpPr>
        <p:spPr>
          <a:xfrm>
            <a:off x="152400" y="4705350"/>
            <a:ext cx="885820" cy="369332"/>
          </a:xfrm>
          <a:prstGeom prst="rect">
            <a:avLst/>
          </a:prstGeom>
        </p:spPr>
        <p:txBody>
          <a:bodyPr wrap="none">
            <a:spAutoFit/>
          </a:bodyPr>
          <a:lstStyle/>
          <a:p>
            <a:r>
              <a:rPr lang="en-US" b="1" dirty="0" smtClean="0">
                <a:latin typeface="Times New Roman" pitchFamily="18" charset="0"/>
                <a:cs typeface="Times New Roman" pitchFamily="18" charset="0"/>
              </a:rPr>
              <a:t>1 floor </a:t>
            </a:r>
            <a:endParaRPr lang="en-IN" dirty="0"/>
          </a:p>
        </p:txBody>
      </p:sp>
      <p:sp>
        <p:nvSpPr>
          <p:cNvPr id="4" name="Rectangle 3"/>
          <p:cNvSpPr/>
          <p:nvPr/>
        </p:nvSpPr>
        <p:spPr>
          <a:xfrm>
            <a:off x="152400" y="4400550"/>
            <a:ext cx="885820" cy="369332"/>
          </a:xfrm>
          <a:prstGeom prst="rect">
            <a:avLst/>
          </a:prstGeom>
        </p:spPr>
        <p:txBody>
          <a:bodyPr wrap="none">
            <a:spAutoFit/>
          </a:bodyPr>
          <a:lstStyle/>
          <a:p>
            <a:r>
              <a:rPr lang="en-US" b="1" dirty="0">
                <a:latin typeface="Times New Roman" pitchFamily="18" charset="0"/>
                <a:cs typeface="Times New Roman" pitchFamily="18" charset="0"/>
              </a:rPr>
              <a:t>2</a:t>
            </a:r>
            <a:r>
              <a:rPr lang="en-US" b="1" dirty="0" smtClean="0">
                <a:latin typeface="Times New Roman" pitchFamily="18" charset="0"/>
                <a:cs typeface="Times New Roman" pitchFamily="18" charset="0"/>
              </a:rPr>
              <a:t> floor </a:t>
            </a:r>
            <a:endParaRPr lang="en-IN" dirty="0"/>
          </a:p>
        </p:txBody>
      </p:sp>
      <p:sp>
        <p:nvSpPr>
          <p:cNvPr id="5" name="Rectangle 4"/>
          <p:cNvSpPr/>
          <p:nvPr/>
        </p:nvSpPr>
        <p:spPr>
          <a:xfrm>
            <a:off x="152400" y="4095750"/>
            <a:ext cx="885820" cy="369332"/>
          </a:xfrm>
          <a:prstGeom prst="rect">
            <a:avLst/>
          </a:prstGeom>
        </p:spPr>
        <p:txBody>
          <a:bodyPr wrap="none">
            <a:spAutoFit/>
          </a:bodyPr>
          <a:lstStyle/>
          <a:p>
            <a:r>
              <a:rPr lang="en-US" b="1" dirty="0">
                <a:latin typeface="Times New Roman" pitchFamily="18" charset="0"/>
                <a:cs typeface="Times New Roman" pitchFamily="18" charset="0"/>
              </a:rPr>
              <a:t>3</a:t>
            </a:r>
            <a:r>
              <a:rPr lang="en-US" b="1" dirty="0" smtClean="0">
                <a:latin typeface="Times New Roman" pitchFamily="18" charset="0"/>
                <a:cs typeface="Times New Roman" pitchFamily="18" charset="0"/>
              </a:rPr>
              <a:t> floor </a:t>
            </a:r>
            <a:endParaRPr lang="en-IN" dirty="0"/>
          </a:p>
        </p:txBody>
      </p:sp>
      <p:sp>
        <p:nvSpPr>
          <p:cNvPr id="6" name="Rectangle 5"/>
          <p:cNvSpPr/>
          <p:nvPr/>
        </p:nvSpPr>
        <p:spPr>
          <a:xfrm>
            <a:off x="211460" y="3792458"/>
            <a:ext cx="885820" cy="369332"/>
          </a:xfrm>
          <a:prstGeom prst="rect">
            <a:avLst/>
          </a:prstGeom>
        </p:spPr>
        <p:txBody>
          <a:bodyPr wrap="none">
            <a:spAutoFit/>
          </a:bodyPr>
          <a:lstStyle/>
          <a:p>
            <a:r>
              <a:rPr lang="en-US" b="1" dirty="0">
                <a:latin typeface="Times New Roman" pitchFamily="18" charset="0"/>
                <a:cs typeface="Times New Roman" pitchFamily="18" charset="0"/>
              </a:rPr>
              <a:t>4</a:t>
            </a:r>
            <a:r>
              <a:rPr lang="en-US" b="1" dirty="0" smtClean="0">
                <a:latin typeface="Times New Roman" pitchFamily="18" charset="0"/>
                <a:cs typeface="Times New Roman" pitchFamily="18" charset="0"/>
              </a:rPr>
              <a:t> floor </a:t>
            </a:r>
            <a:endParaRPr lang="en-IN" dirty="0"/>
          </a:p>
        </p:txBody>
      </p:sp>
      <p:sp>
        <p:nvSpPr>
          <p:cNvPr id="7" name="Rectangle 6"/>
          <p:cNvSpPr/>
          <p:nvPr/>
        </p:nvSpPr>
        <p:spPr>
          <a:xfrm>
            <a:off x="257180" y="3421618"/>
            <a:ext cx="885820" cy="369332"/>
          </a:xfrm>
          <a:prstGeom prst="rect">
            <a:avLst/>
          </a:prstGeom>
        </p:spPr>
        <p:txBody>
          <a:bodyPr wrap="none">
            <a:spAutoFit/>
          </a:bodyPr>
          <a:lstStyle/>
          <a:p>
            <a:r>
              <a:rPr lang="en-US" b="1" dirty="0">
                <a:latin typeface="Times New Roman" pitchFamily="18" charset="0"/>
                <a:cs typeface="Times New Roman" pitchFamily="18" charset="0"/>
              </a:rPr>
              <a:t>5</a:t>
            </a:r>
            <a:r>
              <a:rPr lang="en-US" b="1" dirty="0" smtClean="0">
                <a:latin typeface="Times New Roman" pitchFamily="18" charset="0"/>
                <a:cs typeface="Times New Roman" pitchFamily="18" charset="0"/>
              </a:rPr>
              <a:t> floor </a:t>
            </a:r>
            <a:endParaRPr lang="en-IN" dirty="0"/>
          </a:p>
        </p:txBody>
      </p:sp>
      <p:sp>
        <p:nvSpPr>
          <p:cNvPr id="8" name="Rectangle 7"/>
          <p:cNvSpPr/>
          <p:nvPr/>
        </p:nvSpPr>
        <p:spPr>
          <a:xfrm>
            <a:off x="257180" y="3054112"/>
            <a:ext cx="885820" cy="369332"/>
          </a:xfrm>
          <a:prstGeom prst="rect">
            <a:avLst/>
          </a:prstGeom>
        </p:spPr>
        <p:txBody>
          <a:bodyPr wrap="none">
            <a:spAutoFit/>
          </a:bodyPr>
          <a:lstStyle/>
          <a:p>
            <a:r>
              <a:rPr lang="en-US" b="1" dirty="0">
                <a:latin typeface="Times New Roman" pitchFamily="18" charset="0"/>
                <a:cs typeface="Times New Roman" pitchFamily="18" charset="0"/>
              </a:rPr>
              <a:t>6</a:t>
            </a:r>
            <a:r>
              <a:rPr lang="en-US" b="1" dirty="0" smtClean="0">
                <a:latin typeface="Times New Roman" pitchFamily="18" charset="0"/>
                <a:cs typeface="Times New Roman" pitchFamily="18" charset="0"/>
              </a:rPr>
              <a:t> floor </a:t>
            </a:r>
            <a:endParaRPr lang="en-IN" dirty="0"/>
          </a:p>
        </p:txBody>
      </p:sp>
      <p:sp>
        <p:nvSpPr>
          <p:cNvPr id="9" name="Rectangle 8"/>
          <p:cNvSpPr/>
          <p:nvPr/>
        </p:nvSpPr>
        <p:spPr>
          <a:xfrm>
            <a:off x="228600" y="2712482"/>
            <a:ext cx="885820" cy="369332"/>
          </a:xfrm>
          <a:prstGeom prst="rect">
            <a:avLst/>
          </a:prstGeom>
        </p:spPr>
        <p:txBody>
          <a:bodyPr wrap="none">
            <a:spAutoFit/>
          </a:bodyPr>
          <a:lstStyle/>
          <a:p>
            <a:r>
              <a:rPr lang="en-US" b="1" dirty="0">
                <a:latin typeface="Times New Roman" pitchFamily="18" charset="0"/>
                <a:cs typeface="Times New Roman" pitchFamily="18" charset="0"/>
              </a:rPr>
              <a:t>7</a:t>
            </a:r>
            <a:r>
              <a:rPr lang="en-US" b="1" dirty="0" smtClean="0">
                <a:latin typeface="Times New Roman" pitchFamily="18" charset="0"/>
                <a:cs typeface="Times New Roman" pitchFamily="18" charset="0"/>
              </a:rPr>
              <a:t> floor </a:t>
            </a:r>
            <a:endParaRPr lang="en-IN" dirty="0"/>
          </a:p>
        </p:txBody>
      </p:sp>
      <p:sp>
        <p:nvSpPr>
          <p:cNvPr id="10" name="Rectangle 9"/>
          <p:cNvSpPr/>
          <p:nvPr/>
        </p:nvSpPr>
        <p:spPr>
          <a:xfrm>
            <a:off x="257180" y="2343150"/>
            <a:ext cx="885820" cy="369332"/>
          </a:xfrm>
          <a:prstGeom prst="rect">
            <a:avLst/>
          </a:prstGeom>
        </p:spPr>
        <p:txBody>
          <a:bodyPr wrap="none">
            <a:spAutoFit/>
          </a:bodyPr>
          <a:lstStyle/>
          <a:p>
            <a:r>
              <a:rPr lang="en-US" b="1" dirty="0">
                <a:latin typeface="Times New Roman" pitchFamily="18" charset="0"/>
                <a:cs typeface="Times New Roman" pitchFamily="18" charset="0"/>
              </a:rPr>
              <a:t>8</a:t>
            </a:r>
            <a:r>
              <a:rPr lang="en-US" b="1" dirty="0" smtClean="0">
                <a:latin typeface="Times New Roman" pitchFamily="18" charset="0"/>
                <a:cs typeface="Times New Roman" pitchFamily="18" charset="0"/>
              </a:rPr>
              <a:t> floor </a:t>
            </a:r>
            <a:endParaRPr lang="en-IN" dirty="0"/>
          </a:p>
        </p:txBody>
      </p:sp>
      <p:sp>
        <p:nvSpPr>
          <p:cNvPr id="11" name="Rectangle 10"/>
          <p:cNvSpPr/>
          <p:nvPr/>
        </p:nvSpPr>
        <p:spPr>
          <a:xfrm>
            <a:off x="152400" y="1733550"/>
            <a:ext cx="2689839" cy="369332"/>
          </a:xfrm>
          <a:prstGeom prst="rect">
            <a:avLst/>
          </a:prstGeom>
        </p:spPr>
        <p:txBody>
          <a:bodyPr wrap="none">
            <a:spAutoFit/>
          </a:bodyPr>
          <a:lstStyle/>
          <a:p>
            <a:r>
              <a:rPr lang="en-US" b="1" dirty="0">
                <a:latin typeface="Times New Roman" pitchFamily="18" charset="0"/>
                <a:cs typeface="Times New Roman" pitchFamily="18" charset="0"/>
              </a:rPr>
              <a:t>lives on floor numbered 4</a:t>
            </a:r>
            <a:endParaRPr lang="en-IN" dirty="0"/>
          </a:p>
        </p:txBody>
      </p:sp>
      <p:sp>
        <p:nvSpPr>
          <p:cNvPr id="12" name="Rectangle 11"/>
          <p:cNvSpPr/>
          <p:nvPr/>
        </p:nvSpPr>
        <p:spPr>
          <a:xfrm>
            <a:off x="1096422" y="3802618"/>
            <a:ext cx="351378" cy="369332"/>
          </a:xfrm>
          <a:prstGeom prst="rect">
            <a:avLst/>
          </a:prstGeom>
        </p:spPr>
        <p:txBody>
          <a:bodyPr wrap="none">
            <a:spAutoFit/>
          </a:bodyPr>
          <a:lstStyle/>
          <a:p>
            <a:r>
              <a:rPr lang="en-US" b="1" dirty="0" smtClean="0">
                <a:latin typeface="Times New Roman" pitchFamily="18" charset="0"/>
                <a:cs typeface="Times New Roman" pitchFamily="18" charset="0"/>
              </a:rPr>
              <a:t>R</a:t>
            </a:r>
            <a:endParaRPr lang="en-IN" dirty="0"/>
          </a:p>
        </p:txBody>
      </p:sp>
      <p:sp>
        <p:nvSpPr>
          <p:cNvPr id="13" name="Rectangle 12"/>
          <p:cNvSpPr/>
          <p:nvPr/>
        </p:nvSpPr>
        <p:spPr>
          <a:xfrm>
            <a:off x="4612640" y="1186418"/>
            <a:ext cx="3790525" cy="369332"/>
          </a:xfrm>
          <a:prstGeom prst="rect">
            <a:avLst/>
          </a:prstGeom>
        </p:spPr>
        <p:txBody>
          <a:bodyPr wrap="none">
            <a:spAutoFit/>
          </a:bodyPr>
          <a:lstStyle/>
          <a:p>
            <a:r>
              <a:rPr lang="en-US" b="1" dirty="0">
                <a:latin typeface="Times New Roman" pitchFamily="18" charset="0"/>
                <a:cs typeface="Times New Roman" pitchFamily="18" charset="0"/>
              </a:rPr>
              <a:t>P lives immediate above the floor on </a:t>
            </a:r>
            <a:endParaRPr lang="en-IN" dirty="0"/>
          </a:p>
        </p:txBody>
      </p:sp>
      <p:sp>
        <p:nvSpPr>
          <p:cNvPr id="14" name="Rectangle 13"/>
          <p:cNvSpPr/>
          <p:nvPr/>
        </p:nvSpPr>
        <p:spPr>
          <a:xfrm>
            <a:off x="152400" y="1450578"/>
            <a:ext cx="1492716" cy="369332"/>
          </a:xfrm>
          <a:prstGeom prst="rect">
            <a:avLst/>
          </a:prstGeom>
        </p:spPr>
        <p:txBody>
          <a:bodyPr wrap="none">
            <a:spAutoFit/>
          </a:bodyPr>
          <a:lstStyle/>
          <a:p>
            <a:r>
              <a:rPr lang="en-US" b="1" dirty="0">
                <a:latin typeface="Times New Roman" pitchFamily="18" charset="0"/>
                <a:cs typeface="Times New Roman" pitchFamily="18" charset="0"/>
              </a:rPr>
              <a:t>which U lives</a:t>
            </a:r>
            <a:endParaRPr lang="en-IN" dirty="0"/>
          </a:p>
        </p:txBody>
      </p:sp>
      <p:sp>
        <p:nvSpPr>
          <p:cNvPr id="15" name="Rectangle 14"/>
          <p:cNvSpPr/>
          <p:nvPr/>
        </p:nvSpPr>
        <p:spPr>
          <a:xfrm>
            <a:off x="1145941" y="2343150"/>
            <a:ext cx="312906" cy="369332"/>
          </a:xfrm>
          <a:prstGeom prst="rect">
            <a:avLst/>
          </a:prstGeom>
        </p:spPr>
        <p:txBody>
          <a:bodyPr wrap="none">
            <a:spAutoFit/>
          </a:bodyPr>
          <a:lstStyle/>
          <a:p>
            <a:r>
              <a:rPr lang="en-US" b="1" dirty="0" smtClean="0">
                <a:latin typeface="Times New Roman" pitchFamily="18" charset="0"/>
                <a:cs typeface="Times New Roman" pitchFamily="18" charset="0"/>
              </a:rPr>
              <a:t>S</a:t>
            </a:r>
            <a:endParaRPr lang="en-IN" dirty="0"/>
          </a:p>
        </p:txBody>
      </p:sp>
      <p:sp>
        <p:nvSpPr>
          <p:cNvPr id="16" name="Rectangle 15"/>
          <p:cNvSpPr/>
          <p:nvPr/>
        </p:nvSpPr>
        <p:spPr>
          <a:xfrm>
            <a:off x="1184413" y="2684780"/>
            <a:ext cx="364202" cy="369332"/>
          </a:xfrm>
          <a:prstGeom prst="rect">
            <a:avLst/>
          </a:prstGeom>
        </p:spPr>
        <p:txBody>
          <a:bodyPr wrap="none">
            <a:spAutoFit/>
          </a:bodyPr>
          <a:lstStyle/>
          <a:p>
            <a:r>
              <a:rPr lang="en-US" b="1" dirty="0">
                <a:latin typeface="Times New Roman" pitchFamily="18" charset="0"/>
                <a:cs typeface="Times New Roman" pitchFamily="18" charset="0"/>
              </a:rPr>
              <a:t>Q</a:t>
            </a:r>
            <a:endParaRPr lang="en-IN" dirty="0"/>
          </a:p>
        </p:txBody>
      </p:sp>
      <p:sp>
        <p:nvSpPr>
          <p:cNvPr id="17" name="Rectangle 16"/>
          <p:cNvSpPr/>
          <p:nvPr/>
        </p:nvSpPr>
        <p:spPr>
          <a:xfrm>
            <a:off x="1143000" y="3052286"/>
            <a:ext cx="351378" cy="369332"/>
          </a:xfrm>
          <a:prstGeom prst="rect">
            <a:avLst/>
          </a:prstGeom>
        </p:spPr>
        <p:txBody>
          <a:bodyPr wrap="none">
            <a:spAutoFit/>
          </a:bodyPr>
          <a:lstStyle/>
          <a:p>
            <a:r>
              <a:rPr lang="en-US" b="1" dirty="0" smtClean="0">
                <a:latin typeface="Times New Roman" pitchFamily="18" charset="0"/>
                <a:cs typeface="Times New Roman" pitchFamily="18" charset="0"/>
              </a:rPr>
              <a:t>V</a:t>
            </a:r>
            <a:endParaRPr lang="en-IN" dirty="0"/>
          </a:p>
        </p:txBody>
      </p:sp>
      <p:sp>
        <p:nvSpPr>
          <p:cNvPr id="18" name="Rectangle 17"/>
          <p:cNvSpPr/>
          <p:nvPr/>
        </p:nvSpPr>
        <p:spPr>
          <a:xfrm>
            <a:off x="1158228" y="3423444"/>
            <a:ext cx="338554" cy="369332"/>
          </a:xfrm>
          <a:prstGeom prst="rect">
            <a:avLst/>
          </a:prstGeom>
        </p:spPr>
        <p:txBody>
          <a:bodyPr wrap="none">
            <a:spAutoFit/>
          </a:bodyPr>
          <a:lstStyle/>
          <a:p>
            <a:r>
              <a:rPr lang="en-US" b="1" dirty="0">
                <a:latin typeface="Times New Roman" pitchFamily="18" charset="0"/>
                <a:cs typeface="Times New Roman" pitchFamily="18" charset="0"/>
              </a:rPr>
              <a:t>T</a:t>
            </a:r>
            <a:endParaRPr lang="en-IN" dirty="0"/>
          </a:p>
        </p:txBody>
      </p:sp>
      <p:sp>
        <p:nvSpPr>
          <p:cNvPr id="19" name="Rectangle 18"/>
          <p:cNvSpPr/>
          <p:nvPr/>
        </p:nvSpPr>
        <p:spPr>
          <a:xfrm>
            <a:off x="1064362" y="4095750"/>
            <a:ext cx="415498" cy="369332"/>
          </a:xfrm>
          <a:prstGeom prst="rect">
            <a:avLst/>
          </a:prstGeom>
        </p:spPr>
        <p:txBody>
          <a:bodyPr wrap="none">
            <a:spAutoFit/>
          </a:bodyPr>
          <a:lstStyle/>
          <a:p>
            <a:r>
              <a:rPr lang="en-US" b="1" dirty="0" smtClean="0">
                <a:latin typeface="Times New Roman" pitchFamily="18" charset="0"/>
                <a:cs typeface="Times New Roman" pitchFamily="18" charset="0"/>
              </a:rPr>
              <a:t>W</a:t>
            </a:r>
            <a:endParaRPr lang="en-IN" dirty="0"/>
          </a:p>
        </p:txBody>
      </p:sp>
      <p:sp>
        <p:nvSpPr>
          <p:cNvPr id="20" name="Rectangle 19"/>
          <p:cNvSpPr/>
          <p:nvPr/>
        </p:nvSpPr>
        <p:spPr>
          <a:xfrm>
            <a:off x="1056917" y="4417338"/>
            <a:ext cx="325730" cy="369332"/>
          </a:xfrm>
          <a:prstGeom prst="rect">
            <a:avLst/>
          </a:prstGeom>
        </p:spPr>
        <p:txBody>
          <a:bodyPr wrap="none">
            <a:spAutoFit/>
          </a:bodyPr>
          <a:lstStyle/>
          <a:p>
            <a:r>
              <a:rPr lang="en-US" b="1" dirty="0">
                <a:latin typeface="Times New Roman" pitchFamily="18" charset="0"/>
                <a:cs typeface="Times New Roman" pitchFamily="18" charset="0"/>
              </a:rPr>
              <a:t>P</a:t>
            </a:r>
            <a:endParaRPr lang="en-IN" dirty="0"/>
          </a:p>
        </p:txBody>
      </p:sp>
      <p:sp>
        <p:nvSpPr>
          <p:cNvPr id="21" name="Rectangle 20"/>
          <p:cNvSpPr/>
          <p:nvPr/>
        </p:nvSpPr>
        <p:spPr>
          <a:xfrm>
            <a:off x="1066184" y="4716820"/>
            <a:ext cx="351378" cy="369332"/>
          </a:xfrm>
          <a:prstGeom prst="rect">
            <a:avLst/>
          </a:prstGeom>
        </p:spPr>
        <p:txBody>
          <a:bodyPr wrap="none">
            <a:spAutoFit/>
          </a:bodyPr>
          <a:lstStyle/>
          <a:p>
            <a:r>
              <a:rPr lang="en-US" b="1" dirty="0" smtClean="0">
                <a:latin typeface="Times New Roman" pitchFamily="18" charset="0"/>
                <a:cs typeface="Times New Roman" pitchFamily="18" charset="0"/>
              </a:rPr>
              <a:t>U</a:t>
            </a:r>
            <a:endParaRPr lang="en-IN" dirty="0"/>
          </a:p>
        </p:txBody>
      </p:sp>
      <p:sp>
        <p:nvSpPr>
          <p:cNvPr id="22" name="Rectangle 21"/>
          <p:cNvSpPr/>
          <p:nvPr/>
        </p:nvSpPr>
        <p:spPr>
          <a:xfrm>
            <a:off x="1752600" y="2190750"/>
            <a:ext cx="7467600" cy="2862322"/>
          </a:xfrm>
          <a:prstGeom prst="rect">
            <a:avLst/>
          </a:prstGeom>
        </p:spPr>
        <p:txBody>
          <a:bodyPr wrap="square">
            <a:spAutoFit/>
          </a:bodyPr>
          <a:lstStyle/>
          <a:p>
            <a:r>
              <a:rPr lang="en-US" b="1" dirty="0">
                <a:solidFill>
                  <a:srgbClr val="002060"/>
                </a:solidFill>
                <a:latin typeface="Times New Roman" pitchFamily="18" charset="0"/>
                <a:cs typeface="Times New Roman" pitchFamily="18" charset="0"/>
              </a:rPr>
              <a:t>Q6. Who among the following lives on the topmost floor?</a:t>
            </a:r>
          </a:p>
          <a:p>
            <a:r>
              <a:rPr lang="en-US" dirty="0">
                <a:solidFill>
                  <a:srgbClr val="002060"/>
                </a:solidFill>
                <a:latin typeface="Times New Roman" pitchFamily="18" charset="0"/>
                <a:cs typeface="Times New Roman" pitchFamily="18" charset="0"/>
              </a:rPr>
              <a:t>(a) W (b) V (c) Q (d) S (e) None of these</a:t>
            </a:r>
          </a:p>
          <a:p>
            <a:r>
              <a:rPr lang="en-US" b="1" dirty="0">
                <a:solidFill>
                  <a:srgbClr val="002060"/>
                </a:solidFill>
                <a:latin typeface="Times New Roman" pitchFamily="18" charset="0"/>
                <a:cs typeface="Times New Roman" pitchFamily="18" charset="0"/>
              </a:rPr>
              <a:t>Q7. T lives on which of the following floor?</a:t>
            </a:r>
          </a:p>
          <a:p>
            <a:r>
              <a:rPr lang="en-US" dirty="0">
                <a:solidFill>
                  <a:srgbClr val="002060"/>
                </a:solidFill>
                <a:latin typeface="Times New Roman" pitchFamily="18" charset="0"/>
                <a:cs typeface="Times New Roman" pitchFamily="18" charset="0"/>
              </a:rPr>
              <a:t>(a) 1st (b) 3rd (c) 4th (d) 5th (e) None of these</a:t>
            </a:r>
          </a:p>
          <a:p>
            <a:r>
              <a:rPr lang="en-US" b="1" dirty="0">
                <a:solidFill>
                  <a:srgbClr val="002060"/>
                </a:solidFill>
                <a:latin typeface="Times New Roman" pitchFamily="18" charset="0"/>
                <a:cs typeface="Times New Roman" pitchFamily="18" charset="0"/>
              </a:rPr>
              <a:t>Q8. How many floors are between Q’s floor and U’s floor?</a:t>
            </a:r>
          </a:p>
          <a:p>
            <a:r>
              <a:rPr lang="en-US" dirty="0">
                <a:solidFill>
                  <a:srgbClr val="002060"/>
                </a:solidFill>
                <a:latin typeface="Times New Roman" pitchFamily="18" charset="0"/>
                <a:cs typeface="Times New Roman" pitchFamily="18" charset="0"/>
              </a:rPr>
              <a:t>(a) Four (b) Five (c) Three (d) Two (e) None of these</a:t>
            </a:r>
          </a:p>
          <a:p>
            <a:r>
              <a:rPr lang="en-US" b="1" dirty="0">
                <a:solidFill>
                  <a:srgbClr val="002060"/>
                </a:solidFill>
                <a:latin typeface="Times New Roman" pitchFamily="18" charset="0"/>
                <a:cs typeface="Times New Roman" pitchFamily="18" charset="0"/>
              </a:rPr>
              <a:t>Q9. W lives on which floor?</a:t>
            </a:r>
          </a:p>
          <a:p>
            <a:r>
              <a:rPr lang="en-US" dirty="0">
                <a:solidFill>
                  <a:srgbClr val="002060"/>
                </a:solidFill>
                <a:latin typeface="Times New Roman" pitchFamily="18" charset="0"/>
                <a:cs typeface="Times New Roman" pitchFamily="18" charset="0"/>
              </a:rPr>
              <a:t>(a) 4th (b) 3rd (c) 2nd (d) 1st (e) 6th</a:t>
            </a:r>
          </a:p>
          <a:p>
            <a:r>
              <a:rPr lang="en-US" b="1" dirty="0">
                <a:solidFill>
                  <a:srgbClr val="002060"/>
                </a:solidFill>
                <a:latin typeface="Times New Roman" pitchFamily="18" charset="0"/>
                <a:cs typeface="Times New Roman" pitchFamily="18" charset="0"/>
              </a:rPr>
              <a:t>Q10. How many floors are between the one who lives immediately below W and V</a:t>
            </a:r>
            <a:r>
              <a:rPr lang="en-US" b="1" dirty="0" smtClean="0">
                <a:solidFill>
                  <a:srgbClr val="002060"/>
                </a:solidFill>
                <a:latin typeface="Times New Roman" pitchFamily="18" charset="0"/>
                <a:cs typeface="Times New Roman" pitchFamily="18" charset="0"/>
              </a:rPr>
              <a:t>? </a:t>
            </a:r>
            <a:r>
              <a:rPr lang="en-US" dirty="0" smtClean="0">
                <a:solidFill>
                  <a:srgbClr val="002060"/>
                </a:solidFill>
                <a:latin typeface="Times New Roman" pitchFamily="18" charset="0"/>
                <a:cs typeface="Times New Roman" pitchFamily="18" charset="0"/>
              </a:rPr>
              <a:t>(</a:t>
            </a:r>
            <a:r>
              <a:rPr lang="en-US" dirty="0">
                <a:solidFill>
                  <a:srgbClr val="002060"/>
                </a:solidFill>
                <a:latin typeface="Times New Roman" pitchFamily="18" charset="0"/>
                <a:cs typeface="Times New Roman" pitchFamily="18" charset="0"/>
              </a:rPr>
              <a:t>a) Two (b) Three (c) One (d) Five (e) No one</a:t>
            </a:r>
            <a:endParaRPr lang="en-IN"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148076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7008" y="57150"/>
            <a:ext cx="3667992"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4" name="Rectangle 3"/>
          <p:cNvSpPr/>
          <p:nvPr/>
        </p:nvSpPr>
        <p:spPr>
          <a:xfrm>
            <a:off x="228600" y="438150"/>
            <a:ext cx="8610600" cy="3693319"/>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Five girls are sitting on a bench to be photographed. </a:t>
            </a:r>
            <a:r>
              <a:rPr lang="en-US" b="1" dirty="0" err="1">
                <a:solidFill>
                  <a:srgbClr val="FF0000"/>
                </a:solidFill>
                <a:latin typeface="Times New Roman" pitchFamily="18" charset="0"/>
                <a:cs typeface="Times New Roman" pitchFamily="18" charset="0"/>
              </a:rPr>
              <a:t>Seema</a:t>
            </a:r>
            <a:r>
              <a:rPr lang="en-US" b="1" dirty="0">
                <a:solidFill>
                  <a:srgbClr val="FF0000"/>
                </a:solidFill>
                <a:latin typeface="Times New Roman" pitchFamily="18" charset="0"/>
                <a:cs typeface="Times New Roman" pitchFamily="18" charset="0"/>
              </a:rPr>
              <a:t> is to the left of Rani and to the right of </a:t>
            </a:r>
            <a:r>
              <a:rPr lang="en-US" b="1" dirty="0" err="1">
                <a:solidFill>
                  <a:srgbClr val="FF0000"/>
                </a:solidFill>
                <a:latin typeface="Times New Roman" pitchFamily="18" charset="0"/>
                <a:cs typeface="Times New Roman" pitchFamily="18" charset="0"/>
              </a:rPr>
              <a:t>Bindu</a:t>
            </a:r>
            <a:r>
              <a:rPr lang="en-US" b="1" dirty="0">
                <a:solidFill>
                  <a:srgbClr val="FF0000"/>
                </a:solidFill>
                <a:latin typeface="Times New Roman" pitchFamily="18" charset="0"/>
                <a:cs typeface="Times New Roman" pitchFamily="18" charset="0"/>
              </a:rPr>
              <a:t>. Mary is to the right of Rani. </a:t>
            </a:r>
            <a:r>
              <a:rPr lang="en-US" b="1" dirty="0" err="1">
                <a:solidFill>
                  <a:srgbClr val="FF0000"/>
                </a:solidFill>
                <a:latin typeface="Times New Roman" pitchFamily="18" charset="0"/>
                <a:cs typeface="Times New Roman" pitchFamily="18" charset="0"/>
              </a:rPr>
              <a:t>Reeta</a:t>
            </a:r>
            <a:r>
              <a:rPr lang="en-US" b="1" dirty="0">
                <a:solidFill>
                  <a:srgbClr val="FF0000"/>
                </a:solidFill>
                <a:latin typeface="Times New Roman" pitchFamily="18" charset="0"/>
                <a:cs typeface="Times New Roman" pitchFamily="18" charset="0"/>
              </a:rPr>
              <a:t> is between Rani and Mary</a:t>
            </a:r>
            <a:r>
              <a:rPr lang="en-US"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1.Who </a:t>
            </a:r>
            <a:r>
              <a:rPr lang="en-US" b="1" dirty="0">
                <a:solidFill>
                  <a:srgbClr val="FF0000"/>
                </a:solidFill>
                <a:latin typeface="Times New Roman" pitchFamily="18" charset="0"/>
                <a:cs typeface="Times New Roman" pitchFamily="18" charset="0"/>
              </a:rPr>
              <a:t>is sitting immediate right to </a:t>
            </a:r>
            <a:r>
              <a:rPr lang="en-US" b="1" dirty="0" err="1">
                <a:solidFill>
                  <a:srgbClr val="FF0000"/>
                </a:solidFill>
                <a:latin typeface="Times New Roman" pitchFamily="18" charset="0"/>
                <a:cs typeface="Times New Roman" pitchFamily="18" charset="0"/>
              </a:rPr>
              <a:t>Reeta</a:t>
            </a:r>
            <a:r>
              <a:rPr lang="en-US" b="1" dirty="0">
                <a:solidFill>
                  <a:srgbClr val="FF0000"/>
                </a:solidFill>
                <a:latin typeface="Times New Roman" pitchFamily="18" charset="0"/>
                <a:cs typeface="Times New Roman" pitchFamily="18" charset="0"/>
              </a:rPr>
              <a:t> ?</a:t>
            </a:r>
          </a:p>
          <a:p>
            <a:r>
              <a:rPr lang="en-US" b="1" dirty="0" smtClean="0">
                <a:solidFill>
                  <a:srgbClr val="FF0000"/>
                </a:solidFill>
                <a:latin typeface="Times New Roman" pitchFamily="18" charset="0"/>
                <a:cs typeface="Times New Roman" pitchFamily="18" charset="0"/>
              </a:rPr>
              <a:t>A. </a:t>
            </a:r>
            <a:r>
              <a:rPr lang="en-US" b="1" dirty="0" err="1" smtClean="0">
                <a:solidFill>
                  <a:srgbClr val="FF0000"/>
                </a:solidFill>
                <a:latin typeface="Times New Roman" pitchFamily="18" charset="0"/>
                <a:cs typeface="Times New Roman" pitchFamily="18" charset="0"/>
              </a:rPr>
              <a:t>Bindu</a:t>
            </a:r>
            <a:r>
              <a:rPr lang="en-US" b="1" dirty="0" smtClean="0">
                <a:solidFill>
                  <a:srgbClr val="FF0000"/>
                </a:solidFill>
                <a:latin typeface="Times New Roman" pitchFamily="18" charset="0"/>
                <a:cs typeface="Times New Roman" pitchFamily="18" charset="0"/>
              </a:rPr>
              <a:t>		B. Rani		C. Mary		D. </a:t>
            </a:r>
            <a:r>
              <a:rPr lang="en-US" b="1" dirty="0" err="1" smtClean="0">
                <a:solidFill>
                  <a:srgbClr val="FF0000"/>
                </a:solidFill>
                <a:latin typeface="Times New Roman" pitchFamily="18" charset="0"/>
                <a:cs typeface="Times New Roman" pitchFamily="18" charset="0"/>
              </a:rPr>
              <a:t>Seema</a:t>
            </a:r>
            <a:endParaRPr lang="en-US" b="1" dirty="0">
              <a:solidFill>
                <a:srgbClr val="FF0000"/>
              </a:solidFill>
              <a:latin typeface="Times New Roman" pitchFamily="18" charset="0"/>
              <a:cs typeface="Times New Roman" pitchFamily="18" charset="0"/>
            </a:endParaRPr>
          </a:p>
          <a:p>
            <a:pPr fontAlgn="t"/>
            <a:endParaRPr lang="en-US" b="1" dirty="0" smtClean="0">
              <a:solidFill>
                <a:srgbClr val="FF0000"/>
              </a:solidFill>
              <a:latin typeface="Times New Roman" pitchFamily="18" charset="0"/>
              <a:cs typeface="Times New Roman" pitchFamily="18" charset="0"/>
            </a:endParaRPr>
          </a:p>
          <a:p>
            <a:pPr fontAlgn="t"/>
            <a:r>
              <a:rPr lang="en-US" b="1" dirty="0" smtClean="0">
                <a:solidFill>
                  <a:srgbClr val="FF0000"/>
                </a:solidFill>
                <a:latin typeface="Times New Roman" pitchFamily="18" charset="0"/>
                <a:cs typeface="Times New Roman" pitchFamily="18" charset="0"/>
              </a:rPr>
              <a:t>2. Who </a:t>
            </a:r>
            <a:r>
              <a:rPr lang="en-US" b="1" dirty="0">
                <a:solidFill>
                  <a:srgbClr val="FF0000"/>
                </a:solidFill>
                <a:latin typeface="Times New Roman" pitchFamily="18" charset="0"/>
                <a:cs typeface="Times New Roman" pitchFamily="18" charset="0"/>
              </a:rPr>
              <a:t>is in the middle of the photograph ?</a:t>
            </a:r>
          </a:p>
          <a:p>
            <a:r>
              <a:rPr lang="en-US" b="1" dirty="0" smtClean="0">
                <a:solidFill>
                  <a:srgbClr val="FF0000"/>
                </a:solidFill>
                <a:latin typeface="Times New Roman" pitchFamily="18" charset="0"/>
                <a:cs typeface="Times New Roman" pitchFamily="18" charset="0"/>
              </a:rPr>
              <a:t>A. </a:t>
            </a:r>
            <a:r>
              <a:rPr lang="en-US" b="1" dirty="0" err="1" smtClean="0">
                <a:solidFill>
                  <a:srgbClr val="FF0000"/>
                </a:solidFill>
                <a:latin typeface="Times New Roman" pitchFamily="18" charset="0"/>
                <a:cs typeface="Times New Roman" pitchFamily="18" charset="0"/>
              </a:rPr>
              <a:t>Bindu</a:t>
            </a:r>
            <a:r>
              <a:rPr lang="en-US" b="1" dirty="0" smtClean="0">
                <a:solidFill>
                  <a:srgbClr val="FF0000"/>
                </a:solidFill>
                <a:latin typeface="Times New Roman" pitchFamily="18" charset="0"/>
                <a:cs typeface="Times New Roman" pitchFamily="18" charset="0"/>
              </a:rPr>
              <a:t>		B. Rani		C. </a:t>
            </a:r>
            <a:r>
              <a:rPr lang="en-US" b="1" dirty="0" err="1" smtClean="0">
                <a:solidFill>
                  <a:srgbClr val="FF0000"/>
                </a:solidFill>
                <a:latin typeface="Times New Roman" pitchFamily="18" charset="0"/>
                <a:cs typeface="Times New Roman" pitchFamily="18" charset="0"/>
              </a:rPr>
              <a:t>Reeta</a:t>
            </a:r>
            <a:r>
              <a:rPr lang="en-US" b="1" dirty="0" smtClean="0">
                <a:solidFill>
                  <a:srgbClr val="FF0000"/>
                </a:solidFill>
                <a:latin typeface="Times New Roman" pitchFamily="18" charset="0"/>
                <a:cs typeface="Times New Roman" pitchFamily="18" charset="0"/>
              </a:rPr>
              <a:t>		</a:t>
            </a:r>
            <a:r>
              <a:rPr lang="en-US" b="1" dirty="0" err="1" smtClean="0">
                <a:solidFill>
                  <a:srgbClr val="FF0000"/>
                </a:solidFill>
                <a:latin typeface="Times New Roman" pitchFamily="18" charset="0"/>
                <a:cs typeface="Times New Roman" pitchFamily="18" charset="0"/>
              </a:rPr>
              <a:t>D.Seema</a:t>
            </a:r>
            <a:endParaRPr lang="en-US" b="1" dirty="0">
              <a:solidFill>
                <a:srgbClr val="FF0000"/>
              </a:solidFill>
              <a:latin typeface="Times New Roman" pitchFamily="18" charset="0"/>
              <a:cs typeface="Times New Roman" pitchFamily="18" charset="0"/>
            </a:endParaRPr>
          </a:p>
          <a:p>
            <a:endParaRPr lang="en-US" b="1" dirty="0" smtClean="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3.Who </a:t>
            </a:r>
            <a:r>
              <a:rPr lang="en-US" b="1" dirty="0">
                <a:solidFill>
                  <a:srgbClr val="FF0000"/>
                </a:solidFill>
                <a:latin typeface="Times New Roman" pitchFamily="18" charset="0"/>
                <a:cs typeface="Times New Roman" pitchFamily="18" charset="0"/>
              </a:rPr>
              <a:t>is second from the right ?</a:t>
            </a:r>
          </a:p>
          <a:p>
            <a:r>
              <a:rPr lang="en-US" b="1" dirty="0" smtClean="0">
                <a:solidFill>
                  <a:srgbClr val="FF0000"/>
                </a:solidFill>
                <a:latin typeface="Times New Roman" pitchFamily="18" charset="0"/>
                <a:cs typeface="Times New Roman" pitchFamily="18" charset="0"/>
              </a:rPr>
              <a:t>A. Mary		B. Rani		C. </a:t>
            </a:r>
            <a:r>
              <a:rPr lang="en-US" b="1" dirty="0" err="1" smtClean="0">
                <a:solidFill>
                  <a:srgbClr val="FF0000"/>
                </a:solidFill>
                <a:latin typeface="Times New Roman" pitchFamily="18" charset="0"/>
                <a:cs typeface="Times New Roman" pitchFamily="18" charset="0"/>
              </a:rPr>
              <a:t>Reeta</a:t>
            </a:r>
            <a:r>
              <a:rPr lang="en-US" b="1" dirty="0" smtClean="0">
                <a:solidFill>
                  <a:srgbClr val="FF0000"/>
                </a:solidFill>
                <a:latin typeface="Times New Roman" pitchFamily="18" charset="0"/>
                <a:cs typeface="Times New Roman" pitchFamily="18" charset="0"/>
              </a:rPr>
              <a:t>		D. </a:t>
            </a:r>
            <a:r>
              <a:rPr lang="en-US" b="1" dirty="0" err="1" smtClean="0">
                <a:solidFill>
                  <a:srgbClr val="FF0000"/>
                </a:solidFill>
                <a:latin typeface="Times New Roman" pitchFamily="18" charset="0"/>
                <a:cs typeface="Times New Roman" pitchFamily="18" charset="0"/>
              </a:rPr>
              <a:t>Bindu</a:t>
            </a:r>
            <a:endParaRPr lang="en-US" b="1" dirty="0">
              <a:solidFill>
                <a:srgbClr val="FF0000"/>
              </a:solidFill>
              <a:latin typeface="Times New Roman" pitchFamily="18" charset="0"/>
              <a:cs typeface="Times New Roman" pitchFamily="18" charset="0"/>
            </a:endParaRPr>
          </a:p>
          <a:p>
            <a:endParaRPr lang="en-US" b="1" dirty="0" smtClean="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4.Who </a:t>
            </a:r>
            <a:r>
              <a:rPr lang="en-US" b="1" dirty="0">
                <a:solidFill>
                  <a:srgbClr val="FF0000"/>
                </a:solidFill>
                <a:latin typeface="Times New Roman" pitchFamily="18" charset="0"/>
                <a:cs typeface="Times New Roman" pitchFamily="18" charset="0"/>
              </a:rPr>
              <a:t>is second from the left in photograph ?</a:t>
            </a:r>
          </a:p>
          <a:p>
            <a:r>
              <a:rPr lang="en-US" b="1" dirty="0" smtClean="0">
                <a:solidFill>
                  <a:srgbClr val="FF0000"/>
                </a:solidFill>
                <a:latin typeface="Times New Roman" pitchFamily="18" charset="0"/>
                <a:cs typeface="Times New Roman" pitchFamily="18" charset="0"/>
              </a:rPr>
              <a:t>A. </a:t>
            </a:r>
            <a:r>
              <a:rPr lang="en-US" b="1" dirty="0" err="1" smtClean="0">
                <a:solidFill>
                  <a:srgbClr val="FF0000"/>
                </a:solidFill>
                <a:latin typeface="Times New Roman" pitchFamily="18" charset="0"/>
                <a:cs typeface="Times New Roman" pitchFamily="18" charset="0"/>
              </a:rPr>
              <a:t>Reeta</a:t>
            </a:r>
            <a:r>
              <a:rPr lang="en-US" b="1" dirty="0" smtClean="0">
                <a:solidFill>
                  <a:srgbClr val="FF0000"/>
                </a:solidFill>
                <a:latin typeface="Times New Roman" pitchFamily="18" charset="0"/>
                <a:cs typeface="Times New Roman" pitchFamily="18" charset="0"/>
              </a:rPr>
              <a:t>		B. Mary		C. </a:t>
            </a:r>
            <a:r>
              <a:rPr lang="en-US" b="1" dirty="0" err="1" smtClean="0">
                <a:solidFill>
                  <a:srgbClr val="FF0000"/>
                </a:solidFill>
                <a:latin typeface="Times New Roman" pitchFamily="18" charset="0"/>
                <a:cs typeface="Times New Roman" pitchFamily="18" charset="0"/>
              </a:rPr>
              <a:t>Bindu</a:t>
            </a:r>
            <a:r>
              <a:rPr lang="en-US" b="1" dirty="0" smtClean="0">
                <a:solidFill>
                  <a:srgbClr val="FF0000"/>
                </a:solidFill>
                <a:latin typeface="Times New Roman" pitchFamily="18" charset="0"/>
                <a:cs typeface="Times New Roman" pitchFamily="18" charset="0"/>
              </a:rPr>
              <a:t>		D. </a:t>
            </a:r>
            <a:r>
              <a:rPr lang="en-US" b="1" dirty="0" err="1" smtClean="0">
                <a:solidFill>
                  <a:srgbClr val="FF0000"/>
                </a:solidFill>
                <a:latin typeface="Times New Roman" pitchFamily="18" charset="0"/>
                <a:cs typeface="Times New Roman" pitchFamily="18" charset="0"/>
              </a:rPr>
              <a:t>Seema</a:t>
            </a:r>
            <a:endParaRPr lang="en-US"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21477469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7008" y="57150"/>
            <a:ext cx="3667992"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4" name="Rectangle 3"/>
          <p:cNvSpPr/>
          <p:nvPr/>
        </p:nvSpPr>
        <p:spPr>
          <a:xfrm>
            <a:off x="228600" y="438150"/>
            <a:ext cx="8610600" cy="1200329"/>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Five girls are sitting on a bench to be photographed. </a:t>
            </a:r>
            <a:endParaRPr lang="en-US" b="1" dirty="0" smtClean="0">
              <a:solidFill>
                <a:srgbClr val="FF0000"/>
              </a:solidFill>
              <a:latin typeface="Times New Roman" pitchFamily="18" charset="0"/>
              <a:cs typeface="Times New Roman" pitchFamily="18" charset="0"/>
            </a:endParaRPr>
          </a:p>
          <a:p>
            <a:r>
              <a:rPr lang="en-US" b="1" dirty="0" err="1" smtClean="0">
                <a:solidFill>
                  <a:srgbClr val="FF0000"/>
                </a:solidFill>
                <a:latin typeface="Times New Roman" pitchFamily="18" charset="0"/>
                <a:cs typeface="Times New Roman" pitchFamily="18" charset="0"/>
              </a:rPr>
              <a:t>Seema</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is to the left of </a:t>
            </a:r>
            <a:r>
              <a:rPr lang="en-US" b="1" dirty="0" smtClean="0">
                <a:solidFill>
                  <a:srgbClr val="FF0000"/>
                </a:solidFill>
                <a:latin typeface="Times New Roman" pitchFamily="18" charset="0"/>
                <a:cs typeface="Times New Roman" pitchFamily="18" charset="0"/>
              </a:rPr>
              <a:t> Rani </a:t>
            </a:r>
            <a:r>
              <a:rPr lang="en-US" b="1" dirty="0">
                <a:solidFill>
                  <a:srgbClr val="FF0000"/>
                </a:solidFill>
                <a:latin typeface="Times New Roman" pitchFamily="18" charset="0"/>
                <a:cs typeface="Times New Roman" pitchFamily="18" charset="0"/>
              </a:rPr>
              <a:t>and to the right of </a:t>
            </a:r>
            <a:r>
              <a:rPr lang="en-US" b="1" dirty="0" smtClean="0">
                <a:solidFill>
                  <a:srgbClr val="FF0000"/>
                </a:solidFill>
                <a:latin typeface="Times New Roman" pitchFamily="18" charset="0"/>
                <a:cs typeface="Times New Roman" pitchFamily="18" charset="0"/>
              </a:rPr>
              <a:t> </a:t>
            </a:r>
            <a:r>
              <a:rPr lang="en-US" b="1" dirty="0" err="1" smtClean="0">
                <a:solidFill>
                  <a:srgbClr val="FF0000"/>
                </a:solidFill>
                <a:latin typeface="Times New Roman" pitchFamily="18" charset="0"/>
                <a:cs typeface="Times New Roman" pitchFamily="18" charset="0"/>
              </a:rPr>
              <a:t>Bindu</a:t>
            </a:r>
            <a:r>
              <a:rPr lang="en-US" b="1" dirty="0">
                <a:solidFill>
                  <a:srgbClr val="FF0000"/>
                </a:solidFill>
                <a:latin typeface="Times New Roman" pitchFamily="18" charset="0"/>
                <a:cs typeface="Times New Roman" pitchFamily="18" charset="0"/>
              </a:rPr>
              <a:t>. </a:t>
            </a:r>
            <a:endParaRPr lang="en-US" b="1" dirty="0" smtClean="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Mary </a:t>
            </a:r>
            <a:r>
              <a:rPr lang="en-US" b="1" dirty="0">
                <a:solidFill>
                  <a:srgbClr val="FF0000"/>
                </a:solidFill>
                <a:latin typeface="Times New Roman" pitchFamily="18" charset="0"/>
                <a:cs typeface="Times New Roman" pitchFamily="18" charset="0"/>
              </a:rPr>
              <a:t>is to the right of </a:t>
            </a:r>
            <a:r>
              <a:rPr lang="en-US" b="1" dirty="0" smtClean="0">
                <a:solidFill>
                  <a:srgbClr val="FF0000"/>
                </a:solidFill>
                <a:latin typeface="Times New Roman" pitchFamily="18" charset="0"/>
                <a:cs typeface="Times New Roman" pitchFamily="18" charset="0"/>
              </a:rPr>
              <a:t> Rani</a:t>
            </a:r>
            <a:r>
              <a:rPr lang="en-US" b="1" dirty="0">
                <a:solidFill>
                  <a:srgbClr val="FF0000"/>
                </a:solidFill>
                <a:latin typeface="Times New Roman" pitchFamily="18" charset="0"/>
                <a:cs typeface="Times New Roman" pitchFamily="18" charset="0"/>
              </a:rPr>
              <a:t>. </a:t>
            </a:r>
            <a:endParaRPr lang="en-US" b="1" dirty="0" smtClean="0">
              <a:solidFill>
                <a:srgbClr val="FF0000"/>
              </a:solidFill>
              <a:latin typeface="Times New Roman" pitchFamily="18" charset="0"/>
              <a:cs typeface="Times New Roman" pitchFamily="18" charset="0"/>
            </a:endParaRPr>
          </a:p>
          <a:p>
            <a:r>
              <a:rPr lang="en-US" b="1" dirty="0" err="1" smtClean="0">
                <a:solidFill>
                  <a:srgbClr val="FF0000"/>
                </a:solidFill>
                <a:latin typeface="Times New Roman" pitchFamily="18" charset="0"/>
                <a:cs typeface="Times New Roman" pitchFamily="18" charset="0"/>
              </a:rPr>
              <a:t>Reeta</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is between Rani and Mary</a:t>
            </a:r>
            <a:r>
              <a:rPr lang="en-US" b="1" dirty="0" smtClean="0">
                <a:solidFill>
                  <a:srgbClr val="FF0000"/>
                </a:solidFill>
                <a:latin typeface="Times New Roman" pitchFamily="18" charset="0"/>
                <a:cs typeface="Times New Roman" pitchFamily="18" charset="0"/>
              </a:rPr>
              <a:t>.</a:t>
            </a:r>
          </a:p>
        </p:txBody>
      </p:sp>
      <p:sp>
        <p:nvSpPr>
          <p:cNvPr id="5" name="Rectangle 4"/>
          <p:cNvSpPr/>
          <p:nvPr/>
        </p:nvSpPr>
        <p:spPr>
          <a:xfrm>
            <a:off x="762000" y="2012950"/>
            <a:ext cx="9144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6" name="Rectangle 5"/>
          <p:cNvSpPr/>
          <p:nvPr/>
        </p:nvSpPr>
        <p:spPr>
          <a:xfrm>
            <a:off x="4191000" y="2012950"/>
            <a:ext cx="10668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7" name="Rectangle 6"/>
          <p:cNvSpPr/>
          <p:nvPr/>
        </p:nvSpPr>
        <p:spPr>
          <a:xfrm>
            <a:off x="2362200" y="2025650"/>
            <a:ext cx="10668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9" name="Rectangle 8"/>
          <p:cNvSpPr/>
          <p:nvPr/>
        </p:nvSpPr>
        <p:spPr>
          <a:xfrm>
            <a:off x="5715000" y="2025650"/>
            <a:ext cx="1066800"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11" name="Rectangle 10"/>
          <p:cNvSpPr/>
          <p:nvPr/>
        </p:nvSpPr>
        <p:spPr>
          <a:xfrm>
            <a:off x="7176001" y="2038350"/>
            <a:ext cx="1053599" cy="38100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chemeClr val="bg1"/>
              </a:solidFill>
            </a:endParaRPr>
          </a:p>
        </p:txBody>
      </p:sp>
      <p:sp>
        <p:nvSpPr>
          <p:cNvPr id="3" name="Rectangle 2"/>
          <p:cNvSpPr/>
          <p:nvPr/>
        </p:nvSpPr>
        <p:spPr>
          <a:xfrm>
            <a:off x="228600" y="741918"/>
            <a:ext cx="56515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b="1" dirty="0" err="1">
                <a:latin typeface="Times New Roman" pitchFamily="18" charset="0"/>
                <a:cs typeface="Times New Roman" pitchFamily="18" charset="0"/>
              </a:rPr>
              <a:t>Seema</a:t>
            </a:r>
            <a:r>
              <a:rPr lang="en-US" b="1" dirty="0">
                <a:latin typeface="Times New Roman" pitchFamily="18" charset="0"/>
                <a:cs typeface="Times New Roman" pitchFamily="18" charset="0"/>
              </a:rPr>
              <a:t> is to the left of  Rani and to the right of  </a:t>
            </a:r>
            <a:r>
              <a:rPr lang="en-US" b="1" dirty="0" err="1">
                <a:latin typeface="Times New Roman" pitchFamily="18" charset="0"/>
                <a:cs typeface="Times New Roman" pitchFamily="18" charset="0"/>
              </a:rPr>
              <a:t>Bindu</a:t>
            </a:r>
            <a:r>
              <a:rPr lang="en-US" b="1" dirty="0">
                <a:latin typeface="Times New Roman" pitchFamily="18" charset="0"/>
                <a:cs typeface="Times New Roman" pitchFamily="18" charset="0"/>
              </a:rPr>
              <a:t>. </a:t>
            </a:r>
            <a:endParaRPr lang="en-US" dirty="0"/>
          </a:p>
        </p:txBody>
      </p:sp>
      <p:sp>
        <p:nvSpPr>
          <p:cNvPr id="10" name="Rectangle 9"/>
          <p:cNvSpPr/>
          <p:nvPr/>
        </p:nvSpPr>
        <p:spPr>
          <a:xfrm>
            <a:off x="2469966" y="2034222"/>
            <a:ext cx="825867" cy="369332"/>
          </a:xfrm>
          <a:prstGeom prst="rect">
            <a:avLst/>
          </a:prstGeom>
        </p:spPr>
        <p:txBody>
          <a:bodyPr wrap="none">
            <a:spAutoFit/>
          </a:bodyPr>
          <a:lstStyle/>
          <a:p>
            <a:r>
              <a:rPr lang="en-US" b="1" dirty="0" err="1">
                <a:solidFill>
                  <a:schemeClr val="bg1"/>
                </a:solidFill>
                <a:latin typeface="Times New Roman" pitchFamily="18" charset="0"/>
                <a:cs typeface="Times New Roman" pitchFamily="18" charset="0"/>
              </a:rPr>
              <a:t>Seema</a:t>
            </a:r>
            <a:endParaRPr lang="en-US" dirty="0">
              <a:solidFill>
                <a:schemeClr val="bg1"/>
              </a:solidFill>
            </a:endParaRPr>
          </a:p>
        </p:txBody>
      </p:sp>
      <p:sp>
        <p:nvSpPr>
          <p:cNvPr id="12" name="Rectangle 11"/>
          <p:cNvSpPr/>
          <p:nvPr/>
        </p:nvSpPr>
        <p:spPr>
          <a:xfrm>
            <a:off x="4394200" y="2050018"/>
            <a:ext cx="659155" cy="369332"/>
          </a:xfrm>
          <a:prstGeom prst="rect">
            <a:avLst/>
          </a:prstGeom>
        </p:spPr>
        <p:txBody>
          <a:bodyPr wrap="none">
            <a:spAutoFit/>
          </a:bodyPr>
          <a:lstStyle/>
          <a:p>
            <a:r>
              <a:rPr lang="en-US" b="1" dirty="0">
                <a:solidFill>
                  <a:schemeClr val="bg1"/>
                </a:solidFill>
                <a:latin typeface="Times New Roman" pitchFamily="18" charset="0"/>
                <a:cs typeface="Times New Roman" pitchFamily="18" charset="0"/>
              </a:rPr>
              <a:t>Rani</a:t>
            </a:r>
            <a:endParaRPr lang="en-US" dirty="0">
              <a:solidFill>
                <a:schemeClr val="bg1"/>
              </a:solidFill>
            </a:endParaRPr>
          </a:p>
        </p:txBody>
      </p:sp>
      <p:sp>
        <p:nvSpPr>
          <p:cNvPr id="13" name="Rectangle 12"/>
          <p:cNvSpPr/>
          <p:nvPr/>
        </p:nvSpPr>
        <p:spPr>
          <a:xfrm>
            <a:off x="838200" y="2050018"/>
            <a:ext cx="787395" cy="369332"/>
          </a:xfrm>
          <a:prstGeom prst="rect">
            <a:avLst/>
          </a:prstGeom>
        </p:spPr>
        <p:txBody>
          <a:bodyPr wrap="none">
            <a:spAutoFit/>
          </a:bodyPr>
          <a:lstStyle/>
          <a:p>
            <a:r>
              <a:rPr lang="en-US" b="1" dirty="0" err="1">
                <a:solidFill>
                  <a:schemeClr val="bg1"/>
                </a:solidFill>
                <a:latin typeface="Times New Roman" pitchFamily="18" charset="0"/>
                <a:cs typeface="Times New Roman" pitchFamily="18" charset="0"/>
              </a:rPr>
              <a:t>Bindu</a:t>
            </a:r>
            <a:endParaRPr lang="en-US" dirty="0">
              <a:solidFill>
                <a:schemeClr val="bg1"/>
              </a:solidFill>
            </a:endParaRPr>
          </a:p>
        </p:txBody>
      </p:sp>
      <p:sp>
        <p:nvSpPr>
          <p:cNvPr id="14" name="Rectangle 13"/>
          <p:cNvSpPr/>
          <p:nvPr/>
        </p:nvSpPr>
        <p:spPr>
          <a:xfrm>
            <a:off x="212941" y="1008618"/>
            <a:ext cx="3063659"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a:latin typeface="Times New Roman" pitchFamily="18" charset="0"/>
                <a:cs typeface="Times New Roman" pitchFamily="18" charset="0"/>
              </a:rPr>
              <a:t>Mary is to the right of  Rani. </a:t>
            </a:r>
          </a:p>
        </p:txBody>
      </p:sp>
      <p:sp>
        <p:nvSpPr>
          <p:cNvPr id="15" name="Rectangle 14"/>
          <p:cNvSpPr/>
          <p:nvPr/>
        </p:nvSpPr>
        <p:spPr>
          <a:xfrm>
            <a:off x="7264901" y="2050018"/>
            <a:ext cx="736099" cy="369332"/>
          </a:xfrm>
          <a:prstGeom prst="rect">
            <a:avLst/>
          </a:prstGeom>
        </p:spPr>
        <p:txBody>
          <a:bodyPr wrap="none">
            <a:spAutoFit/>
          </a:bodyPr>
          <a:lstStyle/>
          <a:p>
            <a:r>
              <a:rPr lang="en-US" b="1" dirty="0">
                <a:solidFill>
                  <a:schemeClr val="bg1"/>
                </a:solidFill>
                <a:latin typeface="Times New Roman" pitchFamily="18" charset="0"/>
                <a:cs typeface="Times New Roman" pitchFamily="18" charset="0"/>
              </a:rPr>
              <a:t>Mary</a:t>
            </a:r>
            <a:endParaRPr lang="en-US" dirty="0">
              <a:solidFill>
                <a:schemeClr val="bg1"/>
              </a:solidFill>
            </a:endParaRPr>
          </a:p>
        </p:txBody>
      </p:sp>
      <p:sp>
        <p:nvSpPr>
          <p:cNvPr id="16" name="Rectangle 15"/>
          <p:cNvSpPr/>
          <p:nvPr/>
        </p:nvSpPr>
        <p:spPr>
          <a:xfrm>
            <a:off x="231991" y="1276350"/>
            <a:ext cx="3557449"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b="1" dirty="0" err="1">
                <a:latin typeface="Times New Roman" pitchFamily="18" charset="0"/>
                <a:cs typeface="Times New Roman" pitchFamily="18" charset="0"/>
              </a:rPr>
              <a:t>Reeta</a:t>
            </a:r>
            <a:r>
              <a:rPr lang="en-US" b="1" dirty="0">
                <a:latin typeface="Times New Roman" pitchFamily="18" charset="0"/>
                <a:cs typeface="Times New Roman" pitchFamily="18" charset="0"/>
              </a:rPr>
              <a:t> is between Rani and </a:t>
            </a:r>
            <a:r>
              <a:rPr lang="en-US" b="1" dirty="0" smtClean="0">
                <a:latin typeface="Times New Roman" pitchFamily="18" charset="0"/>
                <a:cs typeface="Times New Roman" pitchFamily="18" charset="0"/>
              </a:rPr>
              <a:t>Mary.</a:t>
            </a:r>
            <a:endParaRPr lang="en-US" b="1" dirty="0">
              <a:latin typeface="Times New Roman" pitchFamily="18" charset="0"/>
              <a:cs typeface="Times New Roman" pitchFamily="18" charset="0"/>
            </a:endParaRPr>
          </a:p>
        </p:txBody>
      </p:sp>
      <p:sp>
        <p:nvSpPr>
          <p:cNvPr id="17" name="Rectangle 16"/>
          <p:cNvSpPr/>
          <p:nvPr/>
        </p:nvSpPr>
        <p:spPr>
          <a:xfrm>
            <a:off x="5880100" y="2050018"/>
            <a:ext cx="806631" cy="369332"/>
          </a:xfrm>
          <a:prstGeom prst="rect">
            <a:avLst/>
          </a:prstGeom>
        </p:spPr>
        <p:txBody>
          <a:bodyPr wrap="none">
            <a:spAutoFit/>
          </a:bodyPr>
          <a:lstStyle/>
          <a:p>
            <a:r>
              <a:rPr lang="en-US" b="1" dirty="0" err="1">
                <a:solidFill>
                  <a:schemeClr val="bg1"/>
                </a:solidFill>
                <a:latin typeface="Times New Roman" pitchFamily="18" charset="0"/>
                <a:cs typeface="Times New Roman" pitchFamily="18" charset="0"/>
              </a:rPr>
              <a:t>Reeta</a:t>
            </a:r>
            <a:r>
              <a:rPr lang="en-US" b="1" dirty="0">
                <a:solidFill>
                  <a:schemeClr val="bg1"/>
                </a:solidFill>
                <a:latin typeface="Times New Roman" pitchFamily="18" charset="0"/>
                <a:cs typeface="Times New Roman" pitchFamily="18" charset="0"/>
              </a:rPr>
              <a:t> </a:t>
            </a:r>
            <a:endParaRPr lang="en-US" dirty="0">
              <a:solidFill>
                <a:schemeClr val="bg1"/>
              </a:solidFill>
            </a:endParaRPr>
          </a:p>
        </p:txBody>
      </p:sp>
      <p:sp>
        <p:nvSpPr>
          <p:cNvPr id="18" name="Rectangle 17"/>
          <p:cNvSpPr/>
          <p:nvPr/>
        </p:nvSpPr>
        <p:spPr>
          <a:xfrm>
            <a:off x="381000" y="2419350"/>
            <a:ext cx="7467600"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1.Who is sitting immediate right to </a:t>
            </a:r>
            <a:r>
              <a:rPr lang="en-US" b="1" dirty="0" err="1">
                <a:solidFill>
                  <a:srgbClr val="FF0000"/>
                </a:solidFill>
                <a:latin typeface="Times New Roman" pitchFamily="18" charset="0"/>
                <a:cs typeface="Times New Roman" pitchFamily="18" charset="0"/>
              </a:rPr>
              <a:t>Reeta</a:t>
            </a:r>
            <a:r>
              <a:rPr lang="en-US" b="1" dirty="0">
                <a:solidFill>
                  <a:srgbClr val="FF0000"/>
                </a:solidFill>
                <a:latin typeface="Times New Roman" pitchFamily="18" charset="0"/>
                <a:cs typeface="Times New Roman" pitchFamily="18" charset="0"/>
              </a:rPr>
              <a:t> ?</a:t>
            </a:r>
          </a:p>
          <a:p>
            <a:r>
              <a:rPr lang="en-US" b="1" dirty="0">
                <a:solidFill>
                  <a:srgbClr val="FF0000"/>
                </a:solidFill>
                <a:latin typeface="Times New Roman" pitchFamily="18" charset="0"/>
                <a:cs typeface="Times New Roman" pitchFamily="18" charset="0"/>
              </a:rPr>
              <a:t>A. </a:t>
            </a:r>
            <a:r>
              <a:rPr lang="en-US" b="1" dirty="0" err="1">
                <a:solidFill>
                  <a:srgbClr val="FF0000"/>
                </a:solidFill>
                <a:latin typeface="Times New Roman" pitchFamily="18" charset="0"/>
                <a:cs typeface="Times New Roman" pitchFamily="18" charset="0"/>
              </a:rPr>
              <a:t>Bindu</a:t>
            </a:r>
            <a:r>
              <a:rPr lang="en-US" b="1" dirty="0">
                <a:solidFill>
                  <a:srgbClr val="FF0000"/>
                </a:solidFill>
                <a:latin typeface="Times New Roman" pitchFamily="18" charset="0"/>
                <a:cs typeface="Times New Roman" pitchFamily="18" charset="0"/>
              </a:rPr>
              <a:t>		B. Rani		C. Mary		D. </a:t>
            </a:r>
            <a:r>
              <a:rPr lang="en-US" b="1" dirty="0" err="1">
                <a:solidFill>
                  <a:srgbClr val="FF0000"/>
                </a:solidFill>
                <a:latin typeface="Times New Roman" pitchFamily="18" charset="0"/>
                <a:cs typeface="Times New Roman" pitchFamily="18" charset="0"/>
              </a:rPr>
              <a:t>Seema</a:t>
            </a:r>
            <a:endParaRPr lang="en-US" b="1" dirty="0">
              <a:solidFill>
                <a:srgbClr val="FF0000"/>
              </a:solidFill>
              <a:latin typeface="Times New Roman" pitchFamily="18" charset="0"/>
              <a:cs typeface="Times New Roman" pitchFamily="18" charset="0"/>
            </a:endParaRPr>
          </a:p>
        </p:txBody>
      </p:sp>
      <p:sp>
        <p:nvSpPr>
          <p:cNvPr id="19" name="Rectangle 18"/>
          <p:cNvSpPr/>
          <p:nvPr/>
        </p:nvSpPr>
        <p:spPr>
          <a:xfrm>
            <a:off x="6781800" y="2724150"/>
            <a:ext cx="2376805" cy="461665"/>
          </a:xfrm>
          <a:prstGeom prst="rect">
            <a:avLst/>
          </a:prstGeom>
        </p:spPr>
        <p:txBody>
          <a:bodyPr wrap="none">
            <a:spAutoFit/>
          </a:bodyPr>
          <a:lstStyle/>
          <a:p>
            <a:r>
              <a:rPr lang="en-US" sz="2400" b="1" dirty="0" smtClean="0">
                <a:latin typeface="Times New Roman" pitchFamily="18" charset="0"/>
                <a:cs typeface="Times New Roman" pitchFamily="18" charset="0"/>
              </a:rPr>
              <a:t>Answer C</a:t>
            </a:r>
            <a:r>
              <a:rPr lang="en-US" sz="2400" b="1" dirty="0">
                <a:latin typeface="Times New Roman" pitchFamily="18" charset="0"/>
                <a:cs typeface="Times New Roman" pitchFamily="18" charset="0"/>
              </a:rPr>
              <a:t>. Mary</a:t>
            </a:r>
            <a:endParaRPr lang="en-US" sz="2400" dirty="0"/>
          </a:p>
        </p:txBody>
      </p:sp>
      <p:sp>
        <p:nvSpPr>
          <p:cNvPr id="20" name="Rectangle 19"/>
          <p:cNvSpPr/>
          <p:nvPr/>
        </p:nvSpPr>
        <p:spPr>
          <a:xfrm>
            <a:off x="304800" y="3144619"/>
            <a:ext cx="6883903" cy="646331"/>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2. Who is in the middle of the photograph ?</a:t>
            </a:r>
          </a:p>
          <a:p>
            <a:r>
              <a:rPr lang="en-US" b="1" dirty="0">
                <a:solidFill>
                  <a:srgbClr val="FF0000"/>
                </a:solidFill>
                <a:latin typeface="Times New Roman" pitchFamily="18" charset="0"/>
                <a:cs typeface="Times New Roman" pitchFamily="18" charset="0"/>
              </a:rPr>
              <a:t>A. </a:t>
            </a:r>
            <a:r>
              <a:rPr lang="en-US" b="1" dirty="0" err="1">
                <a:solidFill>
                  <a:srgbClr val="FF0000"/>
                </a:solidFill>
                <a:latin typeface="Times New Roman" pitchFamily="18" charset="0"/>
                <a:cs typeface="Times New Roman" pitchFamily="18" charset="0"/>
              </a:rPr>
              <a:t>Bindu</a:t>
            </a:r>
            <a:r>
              <a:rPr lang="en-US" b="1" dirty="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	B</a:t>
            </a:r>
            <a:r>
              <a:rPr lang="en-US" b="1" dirty="0">
                <a:solidFill>
                  <a:srgbClr val="FF0000"/>
                </a:solidFill>
                <a:latin typeface="Times New Roman" pitchFamily="18" charset="0"/>
                <a:cs typeface="Times New Roman" pitchFamily="18" charset="0"/>
              </a:rPr>
              <a:t>. Rani		C. </a:t>
            </a:r>
            <a:r>
              <a:rPr lang="en-US" b="1" dirty="0" err="1" smtClean="0">
                <a:solidFill>
                  <a:srgbClr val="FF0000"/>
                </a:solidFill>
                <a:latin typeface="Times New Roman" pitchFamily="18" charset="0"/>
                <a:cs typeface="Times New Roman" pitchFamily="18" charset="0"/>
              </a:rPr>
              <a:t>Reeta</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	</a:t>
            </a:r>
            <a:r>
              <a:rPr lang="en-US" b="1" dirty="0" err="1">
                <a:solidFill>
                  <a:srgbClr val="FF0000"/>
                </a:solidFill>
                <a:latin typeface="Times New Roman" pitchFamily="18" charset="0"/>
                <a:cs typeface="Times New Roman" pitchFamily="18" charset="0"/>
              </a:rPr>
              <a:t>D.Seema</a:t>
            </a:r>
            <a:endParaRPr lang="en-US" b="1" dirty="0">
              <a:solidFill>
                <a:srgbClr val="FF0000"/>
              </a:solidFill>
              <a:latin typeface="Times New Roman" pitchFamily="18" charset="0"/>
              <a:cs typeface="Times New Roman" pitchFamily="18" charset="0"/>
            </a:endParaRPr>
          </a:p>
        </p:txBody>
      </p:sp>
      <p:sp>
        <p:nvSpPr>
          <p:cNvPr id="21" name="Rectangle 20"/>
          <p:cNvSpPr/>
          <p:nvPr/>
        </p:nvSpPr>
        <p:spPr>
          <a:xfrm>
            <a:off x="6819900" y="3518416"/>
            <a:ext cx="2258182" cy="461665"/>
          </a:xfrm>
          <a:prstGeom prst="rect">
            <a:avLst/>
          </a:prstGeom>
        </p:spPr>
        <p:txBody>
          <a:bodyPr wrap="none">
            <a:spAutoFit/>
          </a:bodyPr>
          <a:lstStyle/>
          <a:p>
            <a:r>
              <a:rPr lang="en-US" sz="2400" b="1" dirty="0" smtClean="0">
                <a:latin typeface="Times New Roman" pitchFamily="18" charset="0"/>
                <a:cs typeface="Times New Roman" pitchFamily="18" charset="0"/>
              </a:rPr>
              <a:t>Answer B. Rani</a:t>
            </a:r>
            <a:endParaRPr lang="en-US" sz="2400" dirty="0"/>
          </a:p>
        </p:txBody>
      </p:sp>
      <p:sp>
        <p:nvSpPr>
          <p:cNvPr id="22" name="Rectangle 21"/>
          <p:cNvSpPr/>
          <p:nvPr/>
        </p:nvSpPr>
        <p:spPr>
          <a:xfrm>
            <a:off x="384391" y="3790950"/>
            <a:ext cx="6854609"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3.Who is second from the right ?</a:t>
            </a:r>
          </a:p>
          <a:p>
            <a:r>
              <a:rPr lang="en-US" b="1" dirty="0">
                <a:solidFill>
                  <a:srgbClr val="FF0000"/>
                </a:solidFill>
                <a:latin typeface="Times New Roman" pitchFamily="18" charset="0"/>
                <a:cs typeface="Times New Roman" pitchFamily="18" charset="0"/>
              </a:rPr>
              <a:t>A. Mary		B. Rani		C. </a:t>
            </a:r>
            <a:r>
              <a:rPr lang="en-US" b="1" dirty="0" err="1">
                <a:solidFill>
                  <a:srgbClr val="FF0000"/>
                </a:solidFill>
                <a:latin typeface="Times New Roman" pitchFamily="18" charset="0"/>
                <a:cs typeface="Times New Roman" pitchFamily="18" charset="0"/>
              </a:rPr>
              <a:t>Reeta</a:t>
            </a:r>
            <a:r>
              <a:rPr lang="en-US" b="1" dirty="0">
                <a:solidFill>
                  <a:srgbClr val="FF0000"/>
                </a:solidFill>
                <a:latin typeface="Times New Roman" pitchFamily="18" charset="0"/>
                <a:cs typeface="Times New Roman" pitchFamily="18" charset="0"/>
              </a:rPr>
              <a:t>		D. </a:t>
            </a:r>
            <a:r>
              <a:rPr lang="en-US" b="1" dirty="0" err="1">
                <a:solidFill>
                  <a:srgbClr val="FF0000"/>
                </a:solidFill>
                <a:latin typeface="Times New Roman" pitchFamily="18" charset="0"/>
                <a:cs typeface="Times New Roman" pitchFamily="18" charset="0"/>
              </a:rPr>
              <a:t>Bindu</a:t>
            </a:r>
            <a:endParaRPr lang="en-US" b="1" dirty="0">
              <a:solidFill>
                <a:srgbClr val="FF0000"/>
              </a:solidFill>
              <a:latin typeface="Times New Roman" pitchFamily="18" charset="0"/>
              <a:cs typeface="Times New Roman" pitchFamily="18" charset="0"/>
            </a:endParaRPr>
          </a:p>
        </p:txBody>
      </p:sp>
      <p:sp>
        <p:nvSpPr>
          <p:cNvPr id="23" name="Rectangle 22"/>
          <p:cNvSpPr/>
          <p:nvPr/>
        </p:nvSpPr>
        <p:spPr>
          <a:xfrm>
            <a:off x="6705600" y="4091285"/>
            <a:ext cx="2394438" cy="461665"/>
          </a:xfrm>
          <a:prstGeom prst="rect">
            <a:avLst/>
          </a:prstGeom>
        </p:spPr>
        <p:txBody>
          <a:bodyPr wrap="none">
            <a:spAutoFit/>
          </a:bodyPr>
          <a:lstStyle/>
          <a:p>
            <a:r>
              <a:rPr lang="en-US" sz="2400" b="1" dirty="0" smtClean="0">
                <a:latin typeface="Times New Roman" pitchFamily="18" charset="0"/>
                <a:cs typeface="Times New Roman" pitchFamily="18" charset="0"/>
              </a:rPr>
              <a:t>Answer C. </a:t>
            </a:r>
            <a:r>
              <a:rPr lang="en-US" sz="2400" b="1" dirty="0" err="1" smtClean="0">
                <a:latin typeface="Times New Roman" pitchFamily="18" charset="0"/>
                <a:cs typeface="Times New Roman" pitchFamily="18" charset="0"/>
              </a:rPr>
              <a:t>Reeta</a:t>
            </a:r>
            <a:endParaRPr lang="en-US" sz="2400" dirty="0"/>
          </a:p>
        </p:txBody>
      </p:sp>
      <p:sp>
        <p:nvSpPr>
          <p:cNvPr id="24" name="Rectangle 23"/>
          <p:cNvSpPr/>
          <p:nvPr/>
        </p:nvSpPr>
        <p:spPr>
          <a:xfrm>
            <a:off x="228600" y="4400550"/>
            <a:ext cx="6694646"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4.Who is second from the left in photograph ?</a:t>
            </a:r>
          </a:p>
          <a:p>
            <a:r>
              <a:rPr lang="en-US" b="1" dirty="0">
                <a:solidFill>
                  <a:srgbClr val="FF0000"/>
                </a:solidFill>
                <a:latin typeface="Times New Roman" pitchFamily="18" charset="0"/>
                <a:cs typeface="Times New Roman" pitchFamily="18" charset="0"/>
              </a:rPr>
              <a:t>A. </a:t>
            </a:r>
            <a:r>
              <a:rPr lang="en-US" b="1" dirty="0" err="1">
                <a:solidFill>
                  <a:srgbClr val="FF0000"/>
                </a:solidFill>
                <a:latin typeface="Times New Roman" pitchFamily="18" charset="0"/>
                <a:cs typeface="Times New Roman" pitchFamily="18" charset="0"/>
              </a:rPr>
              <a:t>Reeta</a:t>
            </a:r>
            <a:r>
              <a:rPr lang="en-US" b="1" dirty="0">
                <a:solidFill>
                  <a:srgbClr val="FF0000"/>
                </a:solidFill>
                <a:latin typeface="Times New Roman" pitchFamily="18" charset="0"/>
                <a:cs typeface="Times New Roman" pitchFamily="18" charset="0"/>
              </a:rPr>
              <a:t>		B. Mary		C. </a:t>
            </a:r>
            <a:r>
              <a:rPr lang="en-US" b="1" dirty="0" err="1">
                <a:solidFill>
                  <a:srgbClr val="FF0000"/>
                </a:solidFill>
                <a:latin typeface="Times New Roman" pitchFamily="18" charset="0"/>
                <a:cs typeface="Times New Roman" pitchFamily="18" charset="0"/>
              </a:rPr>
              <a:t>Bindu</a:t>
            </a:r>
            <a:r>
              <a:rPr lang="en-US" b="1" dirty="0">
                <a:solidFill>
                  <a:srgbClr val="FF0000"/>
                </a:solidFill>
                <a:latin typeface="Times New Roman" pitchFamily="18" charset="0"/>
                <a:cs typeface="Times New Roman" pitchFamily="18" charset="0"/>
              </a:rPr>
              <a:t>		D. </a:t>
            </a:r>
            <a:r>
              <a:rPr lang="en-US" b="1" dirty="0" err="1">
                <a:solidFill>
                  <a:srgbClr val="FF0000"/>
                </a:solidFill>
                <a:latin typeface="Times New Roman" pitchFamily="18" charset="0"/>
                <a:cs typeface="Times New Roman" pitchFamily="18" charset="0"/>
              </a:rPr>
              <a:t>Seema</a:t>
            </a:r>
            <a:endParaRPr lang="en-US" b="1" dirty="0">
              <a:solidFill>
                <a:srgbClr val="FF0000"/>
              </a:solidFill>
              <a:latin typeface="Times New Roman" pitchFamily="18" charset="0"/>
              <a:cs typeface="Times New Roman" pitchFamily="18" charset="0"/>
            </a:endParaRPr>
          </a:p>
        </p:txBody>
      </p:sp>
      <p:sp>
        <p:nvSpPr>
          <p:cNvPr id="25" name="Rectangle 24"/>
          <p:cNvSpPr/>
          <p:nvPr/>
        </p:nvSpPr>
        <p:spPr>
          <a:xfrm>
            <a:off x="6724663" y="4585216"/>
            <a:ext cx="2497030" cy="461665"/>
          </a:xfrm>
          <a:prstGeom prst="rect">
            <a:avLst/>
          </a:prstGeom>
        </p:spPr>
        <p:txBody>
          <a:bodyPr wrap="none">
            <a:spAutoFit/>
          </a:bodyPr>
          <a:lstStyle/>
          <a:p>
            <a:r>
              <a:rPr lang="en-US" sz="2400" b="1" dirty="0" smtClean="0">
                <a:latin typeface="Times New Roman" pitchFamily="18" charset="0"/>
                <a:cs typeface="Times New Roman" pitchFamily="18" charset="0"/>
              </a:rPr>
              <a:t>Answer D. </a:t>
            </a:r>
            <a:r>
              <a:rPr lang="en-US" sz="2400" b="1" dirty="0" err="1" smtClean="0">
                <a:latin typeface="Times New Roman" pitchFamily="18" charset="0"/>
                <a:cs typeface="Times New Roman" pitchFamily="18" charset="0"/>
              </a:rPr>
              <a:t>Seema</a:t>
            </a:r>
            <a:endParaRPr lang="en-US" sz="2400" dirty="0"/>
          </a:p>
        </p:txBody>
      </p:sp>
    </p:spTree>
    <p:extLst>
      <p:ext uri="{BB962C8B-B14F-4D97-AF65-F5344CB8AC3E}">
        <p14:creationId xmlns:p14="http://schemas.microsoft.com/office/powerpoint/2010/main" val="35138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left)">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left)">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wipe(left)">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wipe(left)">
                                      <p:cBhvr>
                                        <p:cTn id="87" dur="500"/>
                                        <p:tgtEl>
                                          <p:spTgt spid="2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wipe(left)">
                                      <p:cBhvr>
                                        <p:cTn id="92" dur="500"/>
                                        <p:tgtEl>
                                          <p:spTgt spid="2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wipe(left)">
                                      <p:cBhvr>
                                        <p:cTn id="97" dur="500"/>
                                        <p:tgtEl>
                                          <p:spTgt spid="2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4"/>
                                        </p:tgtEl>
                                        <p:attrNameLst>
                                          <p:attrName>style.visibility</p:attrName>
                                        </p:attrNameLst>
                                      </p:cBhvr>
                                      <p:to>
                                        <p:strVal val="visible"/>
                                      </p:to>
                                    </p:set>
                                    <p:animEffect transition="in" filter="wipe(left)">
                                      <p:cBhvr>
                                        <p:cTn id="102" dur="500"/>
                                        <p:tgtEl>
                                          <p:spTgt spid="2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wipe(left)">
                                      <p:cBhvr>
                                        <p:cTn id="10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1" grpId="0" animBg="1"/>
      <p:bldP spid="3" grpId="0" animBg="1"/>
      <p:bldP spid="10" grpId="0"/>
      <p:bldP spid="12" grpId="0"/>
      <p:bldP spid="13" grpId="0"/>
      <p:bldP spid="14" grpId="0" animBg="1"/>
      <p:bldP spid="15" grpId="0"/>
      <p:bldP spid="16" grpId="0" animBg="1"/>
      <p:bldP spid="17" grpId="0"/>
      <p:bldP spid="18" grpId="0"/>
      <p:bldP spid="19" grpId="0"/>
      <p:bldP spid="20" grpId="0"/>
      <p:bldP spid="21" grpId="0"/>
      <p:bldP spid="22" grpId="0"/>
      <p:bldP spid="23" grpId="0"/>
      <p:bldP spid="24" grpId="0"/>
      <p:bldP spid="2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7008" y="57150"/>
            <a:ext cx="3667992"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26" name="Rectangle 25"/>
          <p:cNvSpPr/>
          <p:nvPr/>
        </p:nvSpPr>
        <p:spPr>
          <a:xfrm>
            <a:off x="228600" y="640140"/>
            <a:ext cx="8686800" cy="1754326"/>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Eleven </a:t>
            </a:r>
            <a:r>
              <a:rPr lang="en-US" b="1" dirty="0">
                <a:solidFill>
                  <a:srgbClr val="FF0000"/>
                </a:solidFill>
                <a:latin typeface="Times New Roman" pitchFamily="18" charset="0"/>
                <a:cs typeface="Times New Roman" pitchFamily="18" charset="0"/>
              </a:rPr>
              <a:t>friends M, N, O, P, Q, R, S, T, U, V and W are sitting in the first row of the stadium watching a cricket match.</a:t>
            </a:r>
          </a:p>
          <a:p>
            <a:r>
              <a:rPr lang="en-US" b="1" dirty="0">
                <a:solidFill>
                  <a:srgbClr val="FF0000"/>
                </a:solidFill>
                <a:latin typeface="Times New Roman" pitchFamily="18" charset="0"/>
                <a:cs typeface="Times New Roman" pitchFamily="18" charset="0"/>
              </a:rPr>
              <a:t>T is to the immediate left of P and third to the right of U.</a:t>
            </a:r>
          </a:p>
          <a:p>
            <a:r>
              <a:rPr lang="en-US" b="1" dirty="0">
                <a:solidFill>
                  <a:srgbClr val="FF0000"/>
                </a:solidFill>
                <a:latin typeface="Times New Roman" pitchFamily="18" charset="0"/>
                <a:cs typeface="Times New Roman" pitchFamily="18" charset="0"/>
              </a:rPr>
              <a:t>V is the immediate </a:t>
            </a:r>
            <a:r>
              <a:rPr lang="en-US" b="1" dirty="0" err="1">
                <a:solidFill>
                  <a:srgbClr val="FF0000"/>
                </a:solidFill>
                <a:latin typeface="Times New Roman" pitchFamily="18" charset="0"/>
                <a:cs typeface="Times New Roman" pitchFamily="18" charset="0"/>
              </a:rPr>
              <a:t>neighbour</a:t>
            </a:r>
            <a:r>
              <a:rPr lang="en-US" b="1" dirty="0">
                <a:solidFill>
                  <a:srgbClr val="FF0000"/>
                </a:solidFill>
                <a:latin typeface="Times New Roman" pitchFamily="18" charset="0"/>
                <a:cs typeface="Times New Roman" pitchFamily="18" charset="0"/>
              </a:rPr>
              <a:t> of M and N and third to the left of S.</a:t>
            </a:r>
          </a:p>
          <a:p>
            <a:r>
              <a:rPr lang="en-US" b="1" dirty="0">
                <a:solidFill>
                  <a:srgbClr val="FF0000"/>
                </a:solidFill>
                <a:latin typeface="Times New Roman" pitchFamily="18" charset="0"/>
                <a:cs typeface="Times New Roman" pitchFamily="18" charset="0"/>
              </a:rPr>
              <a:t>M is the second to the right of Q, who is at one of the ends.</a:t>
            </a:r>
          </a:p>
          <a:p>
            <a:r>
              <a:rPr lang="en-US" b="1" dirty="0">
                <a:solidFill>
                  <a:srgbClr val="FF0000"/>
                </a:solidFill>
                <a:latin typeface="Times New Roman" pitchFamily="18" charset="0"/>
                <a:cs typeface="Times New Roman" pitchFamily="18" charset="0"/>
              </a:rPr>
              <a:t>R is sitting next to the right of P and P is second to the right of O.</a:t>
            </a:r>
          </a:p>
        </p:txBody>
      </p:sp>
      <p:sp>
        <p:nvSpPr>
          <p:cNvPr id="28" name="Rectangle 27"/>
          <p:cNvSpPr/>
          <p:nvPr/>
        </p:nvSpPr>
        <p:spPr>
          <a:xfrm>
            <a:off x="228600" y="1211818"/>
            <a:ext cx="57150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latin typeface="Times New Roman" pitchFamily="18" charset="0"/>
                <a:cs typeface="Times New Roman" pitchFamily="18" charset="0"/>
              </a:rPr>
              <a:t>T is to the immediate left of P and third to the right of U.</a:t>
            </a:r>
          </a:p>
        </p:txBody>
      </p:sp>
      <p:sp>
        <p:nvSpPr>
          <p:cNvPr id="29" name="Rectangle 28"/>
          <p:cNvSpPr/>
          <p:nvPr/>
        </p:nvSpPr>
        <p:spPr>
          <a:xfrm>
            <a:off x="4322470" y="2583418"/>
            <a:ext cx="325730" cy="369332"/>
          </a:xfrm>
          <a:prstGeom prst="rect">
            <a:avLst/>
          </a:prstGeom>
        </p:spPr>
        <p:style>
          <a:lnRef idx="3">
            <a:schemeClr val="lt1"/>
          </a:lnRef>
          <a:fillRef idx="1">
            <a:schemeClr val="accent6"/>
          </a:fillRef>
          <a:effectRef idx="1">
            <a:schemeClr val="accent6"/>
          </a:effectRef>
          <a:fontRef idx="minor">
            <a:schemeClr val="lt1"/>
          </a:fontRef>
        </p:style>
        <p:txBody>
          <a:bodyPr wrap="none">
            <a:spAutoFit/>
          </a:bodyPr>
          <a:lstStyle/>
          <a:p>
            <a:r>
              <a:rPr lang="en-US" dirty="0">
                <a:latin typeface="Times New Roman" pitchFamily="18" charset="0"/>
                <a:cs typeface="Times New Roman" pitchFamily="18" charset="0"/>
              </a:rPr>
              <a:t>T</a:t>
            </a:r>
            <a:endParaRPr lang="en-US" dirty="0"/>
          </a:p>
        </p:txBody>
      </p:sp>
      <p:sp>
        <p:nvSpPr>
          <p:cNvPr id="30" name="Rectangle 29"/>
          <p:cNvSpPr/>
          <p:nvPr/>
        </p:nvSpPr>
        <p:spPr>
          <a:xfrm>
            <a:off x="4766846" y="2583418"/>
            <a:ext cx="312906" cy="369332"/>
          </a:xfrm>
          <a:prstGeom prst="rect">
            <a:avLst/>
          </a:prstGeom>
        </p:spPr>
        <p:style>
          <a:lnRef idx="3">
            <a:schemeClr val="lt1"/>
          </a:lnRef>
          <a:fillRef idx="1">
            <a:schemeClr val="accent6"/>
          </a:fillRef>
          <a:effectRef idx="1">
            <a:schemeClr val="accent6"/>
          </a:effectRef>
          <a:fontRef idx="minor">
            <a:schemeClr val="lt1"/>
          </a:fontRef>
        </p:style>
        <p:txBody>
          <a:bodyPr wrap="none">
            <a:spAutoFit/>
          </a:bodyPr>
          <a:lstStyle/>
          <a:p>
            <a:r>
              <a:rPr lang="en-US" dirty="0" smtClean="0">
                <a:latin typeface="Times New Roman" pitchFamily="18" charset="0"/>
                <a:cs typeface="Times New Roman" pitchFamily="18" charset="0"/>
              </a:rPr>
              <a:t>P</a:t>
            </a:r>
            <a:endParaRPr lang="en-US" dirty="0"/>
          </a:p>
        </p:txBody>
      </p:sp>
      <p:sp>
        <p:nvSpPr>
          <p:cNvPr id="31" name="Rectangle 30"/>
          <p:cNvSpPr/>
          <p:nvPr/>
        </p:nvSpPr>
        <p:spPr>
          <a:xfrm>
            <a:off x="3841908" y="2583418"/>
            <a:ext cx="304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endParaRPr lang="en-US" dirty="0"/>
          </a:p>
        </p:txBody>
      </p:sp>
      <p:sp>
        <p:nvSpPr>
          <p:cNvPr id="32" name="Rectangle 31"/>
          <p:cNvSpPr/>
          <p:nvPr/>
        </p:nvSpPr>
        <p:spPr>
          <a:xfrm>
            <a:off x="3460908" y="2571750"/>
            <a:ext cx="304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endParaRPr lang="en-US" dirty="0"/>
          </a:p>
        </p:txBody>
      </p:sp>
      <p:sp>
        <p:nvSpPr>
          <p:cNvPr id="33" name="Rectangle 32"/>
          <p:cNvSpPr/>
          <p:nvPr/>
        </p:nvSpPr>
        <p:spPr>
          <a:xfrm>
            <a:off x="3003708" y="2583418"/>
            <a:ext cx="304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en-US" dirty="0" smtClean="0">
                <a:latin typeface="Times New Roman" pitchFamily="18" charset="0"/>
                <a:cs typeface="Times New Roman" pitchFamily="18" charset="0"/>
              </a:rPr>
              <a:t>U</a:t>
            </a:r>
            <a:endParaRPr lang="en-US" dirty="0"/>
          </a:p>
        </p:txBody>
      </p:sp>
      <p:sp>
        <p:nvSpPr>
          <p:cNvPr id="41" name="Rectangle 40"/>
          <p:cNvSpPr/>
          <p:nvPr/>
        </p:nvSpPr>
        <p:spPr>
          <a:xfrm>
            <a:off x="228600" y="1733550"/>
            <a:ext cx="57150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latin typeface="Times New Roman" pitchFamily="18" charset="0"/>
                <a:cs typeface="Times New Roman" pitchFamily="18" charset="0"/>
              </a:rPr>
              <a:t>M is the second to the right of Q, who is at one of the ends.</a:t>
            </a:r>
          </a:p>
        </p:txBody>
      </p:sp>
      <p:sp>
        <p:nvSpPr>
          <p:cNvPr id="42" name="Rectangle 41"/>
          <p:cNvSpPr/>
          <p:nvPr/>
        </p:nvSpPr>
        <p:spPr>
          <a:xfrm>
            <a:off x="791768" y="2571750"/>
            <a:ext cx="304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en-US" dirty="0">
                <a:latin typeface="Times New Roman" pitchFamily="18" charset="0"/>
                <a:cs typeface="Times New Roman" pitchFamily="18" charset="0"/>
              </a:rPr>
              <a:t>Q</a:t>
            </a:r>
            <a:endParaRPr lang="en-US" dirty="0"/>
          </a:p>
        </p:txBody>
      </p:sp>
      <p:sp>
        <p:nvSpPr>
          <p:cNvPr id="43" name="Rectangle 42"/>
          <p:cNvSpPr/>
          <p:nvPr/>
        </p:nvSpPr>
        <p:spPr>
          <a:xfrm>
            <a:off x="1676400" y="2565084"/>
            <a:ext cx="346368"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en-US" dirty="0" smtClean="0">
                <a:latin typeface="Times New Roman" pitchFamily="18" charset="0"/>
                <a:cs typeface="Times New Roman" pitchFamily="18" charset="0"/>
              </a:rPr>
              <a:t>M</a:t>
            </a:r>
            <a:endParaRPr lang="en-US" dirty="0"/>
          </a:p>
        </p:txBody>
      </p:sp>
      <p:sp>
        <p:nvSpPr>
          <p:cNvPr id="44" name="Rectangle 43"/>
          <p:cNvSpPr/>
          <p:nvPr/>
        </p:nvSpPr>
        <p:spPr>
          <a:xfrm>
            <a:off x="1219200" y="2593222"/>
            <a:ext cx="304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endParaRPr lang="en-US" dirty="0"/>
          </a:p>
        </p:txBody>
      </p:sp>
      <p:sp>
        <p:nvSpPr>
          <p:cNvPr id="46" name="Rectangle 45"/>
          <p:cNvSpPr/>
          <p:nvPr/>
        </p:nvSpPr>
        <p:spPr>
          <a:xfrm>
            <a:off x="640238" y="3040618"/>
            <a:ext cx="607859" cy="369332"/>
          </a:xfrm>
          <a:prstGeom prst="rect">
            <a:avLst/>
          </a:prstGeom>
        </p:spPr>
        <p:txBody>
          <a:bodyPr wrap="none">
            <a:spAutoFit/>
          </a:bodyPr>
          <a:lstStyle/>
          <a:p>
            <a:r>
              <a:rPr lang="en-US" dirty="0">
                <a:latin typeface="Times New Roman" pitchFamily="18" charset="0"/>
                <a:cs typeface="Times New Roman" pitchFamily="18" charset="0"/>
              </a:rPr>
              <a:t>ends</a:t>
            </a:r>
            <a:endParaRPr lang="en-US" dirty="0"/>
          </a:p>
        </p:txBody>
      </p:sp>
      <p:sp>
        <p:nvSpPr>
          <p:cNvPr id="47" name="Rectangle 46"/>
          <p:cNvSpPr/>
          <p:nvPr/>
        </p:nvSpPr>
        <p:spPr>
          <a:xfrm>
            <a:off x="215900" y="2025650"/>
            <a:ext cx="66294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latin typeface="Times New Roman" pitchFamily="18" charset="0"/>
                <a:cs typeface="Times New Roman" pitchFamily="18" charset="0"/>
              </a:rPr>
              <a:t>R is sitting next to the right of P and P is second to the right of O.</a:t>
            </a:r>
          </a:p>
        </p:txBody>
      </p:sp>
      <p:sp>
        <p:nvSpPr>
          <p:cNvPr id="48" name="Rectangle 47"/>
          <p:cNvSpPr/>
          <p:nvPr/>
        </p:nvSpPr>
        <p:spPr>
          <a:xfrm>
            <a:off x="5224046" y="2583418"/>
            <a:ext cx="338554" cy="369332"/>
          </a:xfrm>
          <a:prstGeom prst="rect">
            <a:avLst/>
          </a:prstGeom>
        </p:spPr>
        <p:style>
          <a:lnRef idx="3">
            <a:schemeClr val="lt1"/>
          </a:lnRef>
          <a:fillRef idx="1">
            <a:schemeClr val="accent6"/>
          </a:fillRef>
          <a:effectRef idx="1">
            <a:schemeClr val="accent6"/>
          </a:effectRef>
          <a:fontRef idx="minor">
            <a:schemeClr val="lt1"/>
          </a:fontRef>
        </p:style>
        <p:txBody>
          <a:bodyPr wrap="none">
            <a:spAutoFit/>
          </a:bodyPr>
          <a:lstStyle/>
          <a:p>
            <a:r>
              <a:rPr lang="en-US" dirty="0">
                <a:latin typeface="Times New Roman" pitchFamily="18" charset="0"/>
                <a:cs typeface="Times New Roman" pitchFamily="18" charset="0"/>
              </a:rPr>
              <a:t>R</a:t>
            </a:r>
            <a:endParaRPr lang="en-US" dirty="0"/>
          </a:p>
        </p:txBody>
      </p:sp>
      <p:sp>
        <p:nvSpPr>
          <p:cNvPr id="49" name="Rectangle 48"/>
          <p:cNvSpPr/>
          <p:nvPr/>
        </p:nvSpPr>
        <p:spPr>
          <a:xfrm>
            <a:off x="3833802" y="2622550"/>
            <a:ext cx="351378" cy="369332"/>
          </a:xfrm>
          <a:prstGeom prst="rect">
            <a:avLst/>
          </a:prstGeom>
        </p:spPr>
        <p:txBody>
          <a:bodyPr wrap="none">
            <a:spAutoFit/>
          </a:bodyPr>
          <a:lstStyle/>
          <a:p>
            <a:r>
              <a:rPr lang="en-US" dirty="0" smtClean="0">
                <a:solidFill>
                  <a:schemeClr val="bg1"/>
                </a:solidFill>
                <a:latin typeface="Times New Roman" pitchFamily="18" charset="0"/>
                <a:cs typeface="Times New Roman" pitchFamily="18" charset="0"/>
              </a:rPr>
              <a:t>O</a:t>
            </a:r>
            <a:endParaRPr lang="en-US" dirty="0">
              <a:solidFill>
                <a:schemeClr val="bg1"/>
              </a:solidFill>
            </a:endParaRPr>
          </a:p>
        </p:txBody>
      </p:sp>
      <p:sp>
        <p:nvSpPr>
          <p:cNvPr id="50" name="Rectangle 49"/>
          <p:cNvSpPr/>
          <p:nvPr/>
        </p:nvSpPr>
        <p:spPr>
          <a:xfrm>
            <a:off x="228600" y="1504950"/>
            <a:ext cx="64008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latin typeface="Times New Roman" pitchFamily="18" charset="0"/>
                <a:cs typeface="Times New Roman" pitchFamily="18" charset="0"/>
              </a:rPr>
              <a:t>V is the immediate </a:t>
            </a:r>
            <a:r>
              <a:rPr lang="en-US" dirty="0" err="1">
                <a:latin typeface="Times New Roman" pitchFamily="18" charset="0"/>
                <a:cs typeface="Times New Roman" pitchFamily="18" charset="0"/>
              </a:rPr>
              <a:t>neighbour</a:t>
            </a:r>
            <a:r>
              <a:rPr lang="en-US" dirty="0">
                <a:latin typeface="Times New Roman" pitchFamily="18" charset="0"/>
                <a:cs typeface="Times New Roman" pitchFamily="18" charset="0"/>
              </a:rPr>
              <a:t> of M and N and third to the left of S.</a:t>
            </a:r>
          </a:p>
        </p:txBody>
      </p:sp>
      <p:sp>
        <p:nvSpPr>
          <p:cNvPr id="51" name="Rectangle 50"/>
          <p:cNvSpPr/>
          <p:nvPr/>
        </p:nvSpPr>
        <p:spPr>
          <a:xfrm>
            <a:off x="2127408" y="2571750"/>
            <a:ext cx="304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en-US" dirty="0">
                <a:latin typeface="Times New Roman" pitchFamily="18" charset="0"/>
                <a:cs typeface="Times New Roman" pitchFamily="18" charset="0"/>
              </a:rPr>
              <a:t>V</a:t>
            </a:r>
            <a:endParaRPr lang="en-US" dirty="0"/>
          </a:p>
        </p:txBody>
      </p:sp>
      <p:sp>
        <p:nvSpPr>
          <p:cNvPr id="52" name="Rectangle 51"/>
          <p:cNvSpPr/>
          <p:nvPr/>
        </p:nvSpPr>
        <p:spPr>
          <a:xfrm>
            <a:off x="2528612" y="2583418"/>
            <a:ext cx="304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en-US" dirty="0" smtClean="0">
                <a:latin typeface="Times New Roman" pitchFamily="18" charset="0"/>
                <a:cs typeface="Times New Roman" pitchFamily="18" charset="0"/>
              </a:rPr>
              <a:t>N</a:t>
            </a:r>
            <a:endParaRPr lang="en-US" dirty="0"/>
          </a:p>
        </p:txBody>
      </p:sp>
      <p:sp>
        <p:nvSpPr>
          <p:cNvPr id="53" name="Rectangle 52"/>
          <p:cNvSpPr/>
          <p:nvPr/>
        </p:nvSpPr>
        <p:spPr>
          <a:xfrm>
            <a:off x="3456855" y="2608818"/>
            <a:ext cx="312906" cy="369332"/>
          </a:xfrm>
          <a:prstGeom prst="rect">
            <a:avLst/>
          </a:prstGeom>
        </p:spPr>
        <p:txBody>
          <a:bodyPr wrap="none">
            <a:spAutoFit/>
          </a:bodyPr>
          <a:lstStyle/>
          <a:p>
            <a:r>
              <a:rPr lang="en-US" dirty="0" smtClean="0">
                <a:solidFill>
                  <a:schemeClr val="bg1"/>
                </a:solidFill>
                <a:latin typeface="Times New Roman" pitchFamily="18" charset="0"/>
                <a:cs typeface="Times New Roman" pitchFamily="18" charset="0"/>
              </a:rPr>
              <a:t>S</a:t>
            </a:r>
            <a:endParaRPr lang="en-US" dirty="0">
              <a:solidFill>
                <a:schemeClr val="bg1"/>
              </a:solidFill>
            </a:endParaRPr>
          </a:p>
        </p:txBody>
      </p:sp>
      <p:sp>
        <p:nvSpPr>
          <p:cNvPr id="54" name="Rectangle 53"/>
          <p:cNvSpPr/>
          <p:nvPr/>
        </p:nvSpPr>
        <p:spPr>
          <a:xfrm>
            <a:off x="1220815" y="2593222"/>
            <a:ext cx="402674"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W</a:t>
            </a:r>
            <a:endParaRPr lang="en-US" dirty="0">
              <a:solidFill>
                <a:schemeClr val="bg1"/>
              </a:solidFill>
            </a:endParaRPr>
          </a:p>
        </p:txBody>
      </p:sp>
      <p:sp>
        <p:nvSpPr>
          <p:cNvPr id="55" name="Rectangle 54"/>
          <p:cNvSpPr/>
          <p:nvPr/>
        </p:nvSpPr>
        <p:spPr>
          <a:xfrm>
            <a:off x="283914" y="3257550"/>
            <a:ext cx="5109409"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Q.1. Who is sitting in the center of the row</a:t>
            </a:r>
            <a:r>
              <a:rPr lang="en-US"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1</a:t>
            </a:r>
            <a:r>
              <a:rPr lang="en-US" b="1" dirty="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N	2</a:t>
            </a:r>
            <a:r>
              <a:rPr lang="en-US" b="1" dirty="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O	3</a:t>
            </a:r>
            <a:r>
              <a:rPr lang="en-US" b="1" dirty="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S	4</a:t>
            </a:r>
            <a:r>
              <a:rPr lang="en-US" b="1" dirty="0">
                <a:solidFill>
                  <a:srgbClr val="FF0000"/>
                </a:solidFill>
                <a:latin typeface="Times New Roman" pitchFamily="18" charset="0"/>
                <a:cs typeface="Times New Roman" pitchFamily="18" charset="0"/>
              </a:rPr>
              <a:t>. U</a:t>
            </a:r>
          </a:p>
        </p:txBody>
      </p:sp>
      <p:sp>
        <p:nvSpPr>
          <p:cNvPr id="56" name="Rectangle 55"/>
          <p:cNvSpPr/>
          <p:nvPr/>
        </p:nvSpPr>
        <p:spPr>
          <a:xfrm>
            <a:off x="4766846" y="3396049"/>
            <a:ext cx="1392369" cy="369332"/>
          </a:xfrm>
          <a:prstGeom prst="rect">
            <a:avLst/>
          </a:prstGeom>
        </p:spPr>
        <p:txBody>
          <a:bodyPr wrap="none">
            <a:spAutoFit/>
          </a:bodyPr>
          <a:lstStyle/>
          <a:p>
            <a:r>
              <a:rPr lang="en-US" b="1" dirty="0" smtClean="0">
                <a:latin typeface="Times New Roman" pitchFamily="18" charset="0"/>
                <a:cs typeface="Times New Roman" pitchFamily="18" charset="0"/>
              </a:rPr>
              <a:t>Answer 4</a:t>
            </a:r>
            <a:r>
              <a:rPr lang="en-US" b="1" dirty="0">
                <a:latin typeface="Times New Roman" pitchFamily="18" charset="0"/>
                <a:cs typeface="Times New Roman" pitchFamily="18" charset="0"/>
              </a:rPr>
              <a:t>. U</a:t>
            </a:r>
          </a:p>
        </p:txBody>
      </p:sp>
      <p:sp>
        <p:nvSpPr>
          <p:cNvPr id="57" name="Rectangle 56"/>
          <p:cNvSpPr/>
          <p:nvPr/>
        </p:nvSpPr>
        <p:spPr>
          <a:xfrm>
            <a:off x="410498" y="3903881"/>
            <a:ext cx="4813548" cy="1200329"/>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Q.2. Which of the following people are sitting to the right of S</a:t>
            </a:r>
            <a:r>
              <a:rPr lang="en-US"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1</a:t>
            </a:r>
            <a:r>
              <a:rPr lang="en-US" b="1" dirty="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OTPQ		2</a:t>
            </a:r>
            <a:r>
              <a:rPr lang="en-US" b="1" dirty="0">
                <a:solidFill>
                  <a:srgbClr val="FF0000"/>
                </a:solidFill>
                <a:latin typeface="Times New Roman" pitchFamily="18" charset="0"/>
                <a:cs typeface="Times New Roman" pitchFamily="18" charset="0"/>
              </a:rPr>
              <a:t>. OTPR</a:t>
            </a:r>
          </a:p>
          <a:p>
            <a:r>
              <a:rPr lang="en-US" b="1" dirty="0">
                <a:solidFill>
                  <a:srgbClr val="FF0000"/>
                </a:solidFill>
                <a:latin typeface="Times New Roman" pitchFamily="18" charset="0"/>
                <a:cs typeface="Times New Roman" pitchFamily="18" charset="0"/>
              </a:rPr>
              <a:t>3. </a:t>
            </a:r>
            <a:r>
              <a:rPr lang="en-US" b="1" dirty="0" smtClean="0">
                <a:solidFill>
                  <a:srgbClr val="FF0000"/>
                </a:solidFill>
                <a:latin typeface="Times New Roman" pitchFamily="18" charset="0"/>
                <a:cs typeface="Times New Roman" pitchFamily="18" charset="0"/>
              </a:rPr>
              <a:t>UNVM	4</a:t>
            </a:r>
            <a:r>
              <a:rPr lang="en-US" b="1" dirty="0">
                <a:solidFill>
                  <a:srgbClr val="FF0000"/>
                </a:solidFill>
                <a:latin typeface="Times New Roman" pitchFamily="18" charset="0"/>
                <a:cs typeface="Times New Roman" pitchFamily="18" charset="0"/>
              </a:rPr>
              <a:t>. UOTPR</a:t>
            </a:r>
          </a:p>
        </p:txBody>
      </p:sp>
      <p:sp>
        <p:nvSpPr>
          <p:cNvPr id="58" name="Rectangle 57"/>
          <p:cNvSpPr/>
          <p:nvPr/>
        </p:nvSpPr>
        <p:spPr>
          <a:xfrm>
            <a:off x="4866415" y="4319379"/>
            <a:ext cx="1815562" cy="369332"/>
          </a:xfrm>
          <a:prstGeom prst="rect">
            <a:avLst/>
          </a:prstGeom>
        </p:spPr>
        <p:txBody>
          <a:bodyPr wrap="none">
            <a:spAutoFit/>
          </a:bodyPr>
          <a:lstStyle/>
          <a:p>
            <a:r>
              <a:rPr lang="en-US" b="1" dirty="0" smtClean="0">
                <a:latin typeface="Times New Roman" pitchFamily="18" charset="0"/>
                <a:cs typeface="Times New Roman" pitchFamily="18" charset="0"/>
              </a:rPr>
              <a:t>Answer 2. </a:t>
            </a:r>
            <a:r>
              <a:rPr lang="en-US" dirty="0" smtClean="0">
                <a:latin typeface="Times New Roman" pitchFamily="18" charset="0"/>
                <a:cs typeface="Times New Roman" pitchFamily="18" charset="0"/>
              </a:rPr>
              <a:t>OTPR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40340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left)">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left)">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left)">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left)">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wipe(left)">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wipe(left)">
                                      <p:cBhvr>
                                        <p:cTn id="67" dur="500"/>
                                        <p:tgtEl>
                                          <p:spTgt spid="4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wipe(left)">
                                      <p:cBhvr>
                                        <p:cTn id="72" dur="500"/>
                                        <p:tgtEl>
                                          <p:spTgt spid="47"/>
                                        </p:tgtEl>
                                      </p:cBhvr>
                                    </p:animEffect>
                                  </p:childTnLst>
                                  <p:subTnLst>
                                    <p:set>
                                      <p:cBhvr override="childStyle">
                                        <p:cTn dur="1" fill="hold" display="0" masterRel="nextClick" afterEffect="1"/>
                                        <p:tgtEl>
                                          <p:spTgt spid="47"/>
                                        </p:tgtEl>
                                        <p:attrNameLst>
                                          <p:attrName>style.visibility</p:attrName>
                                        </p:attrNameLst>
                                      </p:cBhvr>
                                      <p:to>
                                        <p:strVal val="hidden"/>
                                      </p:to>
                                    </p:set>
                                  </p:sub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wipe(left)">
                                      <p:cBhvr>
                                        <p:cTn id="77" dur="500"/>
                                        <p:tgtEl>
                                          <p:spTgt spid="4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wipe(left)">
                                      <p:cBhvr>
                                        <p:cTn id="82" dur="500"/>
                                        <p:tgtEl>
                                          <p:spTgt spid="4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wipe(left)">
                                      <p:cBhvr>
                                        <p:cTn id="87" dur="500"/>
                                        <p:tgtEl>
                                          <p:spTgt spid="50"/>
                                        </p:tgtEl>
                                      </p:cBhvr>
                                    </p:animEffect>
                                  </p:childTnLst>
                                  <p:subTnLst>
                                    <p:set>
                                      <p:cBhvr override="childStyle">
                                        <p:cTn dur="1" fill="hold" display="0" masterRel="nextClick" afterEffect="1"/>
                                        <p:tgtEl>
                                          <p:spTgt spid="50"/>
                                        </p:tgtEl>
                                        <p:attrNameLst>
                                          <p:attrName>style.visibility</p:attrName>
                                        </p:attrNameLst>
                                      </p:cBhvr>
                                      <p:to>
                                        <p:strVal val="hidden"/>
                                      </p:to>
                                    </p:set>
                                  </p:sub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51"/>
                                        </p:tgtEl>
                                        <p:attrNameLst>
                                          <p:attrName>style.visibility</p:attrName>
                                        </p:attrNameLst>
                                      </p:cBhvr>
                                      <p:to>
                                        <p:strVal val="visible"/>
                                      </p:to>
                                    </p:set>
                                    <p:animEffect transition="in" filter="wipe(left)">
                                      <p:cBhvr>
                                        <p:cTn id="92" dur="500"/>
                                        <p:tgtEl>
                                          <p:spTgt spid="5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52"/>
                                        </p:tgtEl>
                                        <p:attrNameLst>
                                          <p:attrName>style.visibility</p:attrName>
                                        </p:attrNameLst>
                                      </p:cBhvr>
                                      <p:to>
                                        <p:strVal val="visible"/>
                                      </p:to>
                                    </p:set>
                                    <p:animEffect transition="in" filter="wipe(left)">
                                      <p:cBhvr>
                                        <p:cTn id="97" dur="500"/>
                                        <p:tgtEl>
                                          <p:spTgt spid="5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53"/>
                                        </p:tgtEl>
                                        <p:attrNameLst>
                                          <p:attrName>style.visibility</p:attrName>
                                        </p:attrNameLst>
                                      </p:cBhvr>
                                      <p:to>
                                        <p:strVal val="visible"/>
                                      </p:to>
                                    </p:set>
                                    <p:animEffect transition="in" filter="wipe(left)">
                                      <p:cBhvr>
                                        <p:cTn id="102" dur="500"/>
                                        <p:tgtEl>
                                          <p:spTgt spid="5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54"/>
                                        </p:tgtEl>
                                        <p:attrNameLst>
                                          <p:attrName>style.visibility</p:attrName>
                                        </p:attrNameLst>
                                      </p:cBhvr>
                                      <p:to>
                                        <p:strVal val="visible"/>
                                      </p:to>
                                    </p:set>
                                    <p:animEffect transition="in" filter="wipe(left)">
                                      <p:cBhvr>
                                        <p:cTn id="107" dur="500"/>
                                        <p:tgtEl>
                                          <p:spTgt spid="5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58"/>
                                        </p:tgtEl>
                                        <p:attrNameLst>
                                          <p:attrName>style.visibility</p:attrName>
                                        </p:attrNameLst>
                                      </p:cBhvr>
                                      <p:to>
                                        <p:strVal val="visible"/>
                                      </p:to>
                                    </p:set>
                                    <p:animEffect transition="in" filter="wipe(left)">
                                      <p:cBhvr>
                                        <p:cTn id="112" dur="500"/>
                                        <p:tgtEl>
                                          <p:spTgt spid="5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56"/>
                                        </p:tgtEl>
                                        <p:attrNameLst>
                                          <p:attrName>style.visibility</p:attrName>
                                        </p:attrNameLst>
                                      </p:cBhvr>
                                      <p:to>
                                        <p:strVal val="visible"/>
                                      </p:to>
                                    </p:set>
                                    <p:animEffect transition="in" filter="wipe(left)">
                                      <p:cBhvr>
                                        <p:cTn id="11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41" grpId="0" animBg="1"/>
      <p:bldP spid="42" grpId="0" animBg="1"/>
      <p:bldP spid="43" grpId="0" animBg="1"/>
      <p:bldP spid="44" grpId="0" animBg="1"/>
      <p:bldP spid="46" grpId="0"/>
      <p:bldP spid="47" grpId="0" animBg="1"/>
      <p:bldP spid="48" grpId="0" animBg="1"/>
      <p:bldP spid="49" grpId="0"/>
      <p:bldP spid="50" grpId="0" animBg="1"/>
      <p:bldP spid="51" grpId="0" animBg="1"/>
      <p:bldP spid="52" grpId="0" animBg="1"/>
      <p:bldP spid="53" grpId="0"/>
      <p:bldP spid="54" grpId="0"/>
      <p:bldP spid="55" grpId="0"/>
      <p:bldP spid="56" grpId="0"/>
      <p:bldP spid="57" grpId="0"/>
      <p:bldP spid="5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7008" y="57150"/>
            <a:ext cx="3667992"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3" name="Rectangle 2"/>
          <p:cNvSpPr/>
          <p:nvPr/>
        </p:nvSpPr>
        <p:spPr>
          <a:xfrm>
            <a:off x="457200" y="612339"/>
            <a:ext cx="8229600" cy="1015663"/>
          </a:xfrm>
          <a:prstGeom prst="rect">
            <a:avLst/>
          </a:prstGeom>
        </p:spPr>
        <p:txBody>
          <a:bodyPr wrap="square">
            <a:spAutoFit/>
          </a:bodyPr>
          <a:lstStyle/>
          <a:p>
            <a:pPr fontAlgn="t"/>
            <a:r>
              <a:rPr lang="en-US" sz="2000" b="1" dirty="0">
                <a:solidFill>
                  <a:srgbClr val="FF0000"/>
                </a:solidFill>
                <a:latin typeface="Times New Roman" pitchFamily="18" charset="0"/>
                <a:cs typeface="Times New Roman" pitchFamily="18" charset="0"/>
              </a:rPr>
              <a:t>A, P, R, X, S and Z are sitting in a row. S and Z are in the centre. A and P are at the ends. R is sitting to the left of A. Who is to the right of P ?</a:t>
            </a:r>
          </a:p>
          <a:p>
            <a:r>
              <a:rPr lang="en-US" sz="2000" b="1" dirty="0" smtClean="0">
                <a:solidFill>
                  <a:srgbClr val="FF0000"/>
                </a:solidFill>
                <a:latin typeface="Times New Roman" pitchFamily="18" charset="0"/>
                <a:cs typeface="Times New Roman" pitchFamily="18" charset="0"/>
              </a:rPr>
              <a:t>A. A		B. X		C. S		D. Z</a:t>
            </a:r>
            <a:endParaRPr lang="en-US" sz="2000" b="1" dirty="0">
              <a:solidFill>
                <a:srgbClr val="FF0000"/>
              </a:solidFill>
              <a:latin typeface="Times New Roman" pitchFamily="18" charset="0"/>
              <a:cs typeface="Times New Roman" pitchFamily="18" charset="0"/>
            </a:endParaRPr>
          </a:p>
        </p:txBody>
      </p:sp>
      <p:sp>
        <p:nvSpPr>
          <p:cNvPr id="7" name="Rectangle 6"/>
          <p:cNvSpPr/>
          <p:nvPr/>
        </p:nvSpPr>
        <p:spPr>
          <a:xfrm>
            <a:off x="457200" y="920115"/>
            <a:ext cx="1909690" cy="40011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2000" b="1" dirty="0" smtClean="0">
                <a:solidFill>
                  <a:srgbClr val="FF0000"/>
                </a:solidFill>
                <a:latin typeface="Times New Roman" pitchFamily="18" charset="0"/>
                <a:cs typeface="Times New Roman" pitchFamily="18" charset="0"/>
              </a:rPr>
              <a:t>are </a:t>
            </a:r>
            <a:r>
              <a:rPr lang="en-US" sz="2000" b="1" dirty="0">
                <a:solidFill>
                  <a:srgbClr val="FF0000"/>
                </a:solidFill>
                <a:latin typeface="Times New Roman" pitchFamily="18" charset="0"/>
                <a:cs typeface="Times New Roman" pitchFamily="18" charset="0"/>
              </a:rPr>
              <a:t>at the ends. </a:t>
            </a:r>
            <a:endParaRPr lang="en-US" sz="2000" dirty="0"/>
          </a:p>
        </p:txBody>
      </p:sp>
      <p:sp>
        <p:nvSpPr>
          <p:cNvPr id="9" name="Rectangle 8"/>
          <p:cNvSpPr/>
          <p:nvPr/>
        </p:nvSpPr>
        <p:spPr>
          <a:xfrm>
            <a:off x="7505700" y="629166"/>
            <a:ext cx="1011944"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a:solidFill>
                  <a:srgbClr val="FF0000"/>
                </a:solidFill>
                <a:latin typeface="Times New Roman" pitchFamily="18" charset="0"/>
                <a:cs typeface="Times New Roman" pitchFamily="18" charset="0"/>
              </a:rPr>
              <a:t>A and P </a:t>
            </a:r>
            <a:endParaRPr lang="en-US" dirty="0"/>
          </a:p>
        </p:txBody>
      </p:sp>
      <p:sp>
        <p:nvSpPr>
          <p:cNvPr id="10" name="Rectangle 9"/>
          <p:cNvSpPr/>
          <p:nvPr/>
        </p:nvSpPr>
        <p:spPr>
          <a:xfrm>
            <a:off x="609600" y="2495550"/>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endParaRPr lang="en-US" sz="2000" dirty="0"/>
          </a:p>
        </p:txBody>
      </p:sp>
      <p:sp>
        <p:nvSpPr>
          <p:cNvPr id="11" name="Rectangle 10"/>
          <p:cNvSpPr/>
          <p:nvPr/>
        </p:nvSpPr>
        <p:spPr>
          <a:xfrm>
            <a:off x="1524000" y="2511455"/>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endParaRPr lang="en-US" sz="2000" dirty="0"/>
          </a:p>
        </p:txBody>
      </p:sp>
      <p:sp>
        <p:nvSpPr>
          <p:cNvPr id="12" name="Rectangle 11"/>
          <p:cNvSpPr/>
          <p:nvPr/>
        </p:nvSpPr>
        <p:spPr>
          <a:xfrm>
            <a:off x="1066800" y="2495550"/>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endParaRPr lang="en-US" sz="2000" dirty="0"/>
          </a:p>
        </p:txBody>
      </p:sp>
      <p:sp>
        <p:nvSpPr>
          <p:cNvPr id="13" name="Rectangle 12"/>
          <p:cNvSpPr/>
          <p:nvPr/>
        </p:nvSpPr>
        <p:spPr>
          <a:xfrm>
            <a:off x="2438400" y="2524155"/>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endParaRPr lang="en-US" sz="2000" dirty="0"/>
          </a:p>
        </p:txBody>
      </p:sp>
      <p:sp>
        <p:nvSpPr>
          <p:cNvPr id="14" name="Rectangle 13"/>
          <p:cNvSpPr/>
          <p:nvPr/>
        </p:nvSpPr>
        <p:spPr>
          <a:xfrm>
            <a:off x="1985890" y="2511455"/>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endParaRPr lang="en-US" sz="2000" dirty="0"/>
          </a:p>
        </p:txBody>
      </p:sp>
      <p:sp>
        <p:nvSpPr>
          <p:cNvPr id="15" name="Rectangle 14"/>
          <p:cNvSpPr/>
          <p:nvPr/>
        </p:nvSpPr>
        <p:spPr>
          <a:xfrm>
            <a:off x="2163690" y="920115"/>
            <a:ext cx="2964529" cy="40011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sz="2000" b="1" dirty="0">
                <a:solidFill>
                  <a:srgbClr val="FF0000"/>
                </a:solidFill>
                <a:latin typeface="Times New Roman" pitchFamily="18" charset="0"/>
                <a:cs typeface="Times New Roman" pitchFamily="18" charset="0"/>
              </a:rPr>
              <a:t>R is sitting to the left of A</a:t>
            </a:r>
            <a:endParaRPr lang="en-US" sz="2000" dirty="0"/>
          </a:p>
        </p:txBody>
      </p:sp>
      <p:sp>
        <p:nvSpPr>
          <p:cNvPr id="16" name="Rectangle 15"/>
          <p:cNvSpPr/>
          <p:nvPr/>
        </p:nvSpPr>
        <p:spPr>
          <a:xfrm>
            <a:off x="2438400" y="2537095"/>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b="1" dirty="0" smtClean="0">
                <a:latin typeface="Times New Roman" pitchFamily="18" charset="0"/>
                <a:cs typeface="Times New Roman" pitchFamily="18" charset="0"/>
              </a:rPr>
              <a:t>A</a:t>
            </a:r>
            <a:endParaRPr lang="en-US" sz="2000" b="1" dirty="0">
              <a:latin typeface="Times New Roman" pitchFamily="18" charset="0"/>
              <a:cs typeface="Times New Roman" pitchFamily="18" charset="0"/>
            </a:endParaRPr>
          </a:p>
        </p:txBody>
      </p:sp>
      <p:sp>
        <p:nvSpPr>
          <p:cNvPr id="18" name="Rectangle 17"/>
          <p:cNvSpPr/>
          <p:nvPr/>
        </p:nvSpPr>
        <p:spPr>
          <a:xfrm>
            <a:off x="1985890" y="2508250"/>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b="1" dirty="0">
                <a:latin typeface="Times New Roman" pitchFamily="18" charset="0"/>
                <a:cs typeface="Times New Roman" pitchFamily="18" charset="0"/>
              </a:rPr>
              <a:t>R</a:t>
            </a:r>
          </a:p>
        </p:txBody>
      </p:sp>
      <p:sp>
        <p:nvSpPr>
          <p:cNvPr id="20" name="Rectangle 19"/>
          <p:cNvSpPr/>
          <p:nvPr/>
        </p:nvSpPr>
        <p:spPr>
          <a:xfrm>
            <a:off x="152400" y="2511455"/>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endParaRPr lang="en-US" sz="2000" dirty="0"/>
          </a:p>
        </p:txBody>
      </p:sp>
      <p:sp>
        <p:nvSpPr>
          <p:cNvPr id="17" name="Rectangle 16"/>
          <p:cNvSpPr/>
          <p:nvPr/>
        </p:nvSpPr>
        <p:spPr>
          <a:xfrm>
            <a:off x="139700" y="2521010"/>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b="1" dirty="0">
                <a:latin typeface="Times New Roman" pitchFamily="18" charset="0"/>
                <a:cs typeface="Times New Roman" pitchFamily="18" charset="0"/>
              </a:rPr>
              <a:t>P</a:t>
            </a:r>
          </a:p>
        </p:txBody>
      </p:sp>
      <p:sp>
        <p:nvSpPr>
          <p:cNvPr id="22" name="Rectangle 21"/>
          <p:cNvSpPr/>
          <p:nvPr/>
        </p:nvSpPr>
        <p:spPr>
          <a:xfrm>
            <a:off x="4724400" y="609540"/>
            <a:ext cx="2881302" cy="40011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sz="2000" b="1" dirty="0">
                <a:solidFill>
                  <a:srgbClr val="FF0000"/>
                </a:solidFill>
                <a:latin typeface="Times New Roman" pitchFamily="18" charset="0"/>
                <a:cs typeface="Times New Roman" pitchFamily="18" charset="0"/>
              </a:rPr>
              <a:t>S and Z are in the centre</a:t>
            </a:r>
            <a:endParaRPr lang="en-US" sz="2000" dirty="0"/>
          </a:p>
        </p:txBody>
      </p:sp>
      <p:sp>
        <p:nvSpPr>
          <p:cNvPr id="23" name="Rectangle 22"/>
          <p:cNvSpPr/>
          <p:nvPr/>
        </p:nvSpPr>
        <p:spPr>
          <a:xfrm>
            <a:off x="1066800" y="2499115"/>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b="1" dirty="0">
                <a:latin typeface="Times New Roman" pitchFamily="18" charset="0"/>
                <a:cs typeface="Times New Roman" pitchFamily="18" charset="0"/>
              </a:rPr>
              <a:t>S</a:t>
            </a:r>
          </a:p>
        </p:txBody>
      </p:sp>
      <p:sp>
        <p:nvSpPr>
          <p:cNvPr id="24" name="Rectangle 23"/>
          <p:cNvSpPr/>
          <p:nvPr/>
        </p:nvSpPr>
        <p:spPr>
          <a:xfrm>
            <a:off x="1524000" y="2524155"/>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b="1" dirty="0">
                <a:latin typeface="Times New Roman" pitchFamily="18" charset="0"/>
                <a:cs typeface="Times New Roman" pitchFamily="18" charset="0"/>
              </a:rPr>
              <a:t>Z</a:t>
            </a:r>
          </a:p>
        </p:txBody>
      </p:sp>
      <p:sp>
        <p:nvSpPr>
          <p:cNvPr id="25" name="Rectangle 24"/>
          <p:cNvSpPr/>
          <p:nvPr/>
        </p:nvSpPr>
        <p:spPr>
          <a:xfrm>
            <a:off x="609600" y="2495550"/>
            <a:ext cx="381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b="1" dirty="0">
                <a:latin typeface="Times New Roman" pitchFamily="18" charset="0"/>
                <a:cs typeface="Times New Roman" pitchFamily="18" charset="0"/>
              </a:rPr>
              <a:t>X</a:t>
            </a:r>
          </a:p>
        </p:txBody>
      </p:sp>
      <p:sp>
        <p:nvSpPr>
          <p:cNvPr id="26" name="Rectangle 25"/>
          <p:cNvSpPr/>
          <p:nvPr/>
        </p:nvSpPr>
        <p:spPr>
          <a:xfrm>
            <a:off x="3624441" y="2489260"/>
            <a:ext cx="2972930" cy="400110"/>
          </a:xfrm>
          <a:prstGeom prst="rect">
            <a:avLst/>
          </a:prstGeom>
        </p:spPr>
        <p:txBody>
          <a:bodyPr wrap="none">
            <a:spAutoFit/>
          </a:bodyPr>
          <a:lstStyle/>
          <a:p>
            <a:r>
              <a:rPr lang="en-US" sz="2000" b="1" dirty="0">
                <a:latin typeface="Times New Roman" pitchFamily="18" charset="0"/>
                <a:cs typeface="Times New Roman" pitchFamily="18" charset="0"/>
              </a:rPr>
              <a:t>Therefore, right of P is X.</a:t>
            </a:r>
          </a:p>
        </p:txBody>
      </p:sp>
    </p:spTree>
    <p:extLst>
      <p:ext uri="{BB962C8B-B14F-4D97-AF65-F5344CB8AC3E}">
        <p14:creationId xmlns:p14="http://schemas.microsoft.com/office/powerpoint/2010/main" val="4251052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left)">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down)">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500"/>
                                        <p:tgtEl>
                                          <p:spTgt spid="2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left)">
                                      <p:cBhvr>
                                        <p:cTn id="65" dur="500"/>
                                        <p:tgtEl>
                                          <p:spTgt spid="2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wipe(left)">
                                      <p:cBhvr>
                                        <p:cTn id="70" dur="5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left)">
                                      <p:cBhvr>
                                        <p:cTn id="75" dur="500"/>
                                        <p:tgtEl>
                                          <p:spTgt spid="2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wipe(down)">
                                      <p:cBhvr>
                                        <p:cTn id="8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9" grpId="0" animBg="1"/>
      <p:bldP spid="10" grpId="0" animBg="1"/>
      <p:bldP spid="11" grpId="0" animBg="1"/>
      <p:bldP spid="12" grpId="0" animBg="1"/>
      <p:bldP spid="13" grpId="0" animBg="1"/>
      <p:bldP spid="14" grpId="0" animBg="1"/>
      <p:bldP spid="15" grpId="0" animBg="1"/>
      <p:bldP spid="16" grpId="0" animBg="1"/>
      <p:bldP spid="18" grpId="0" animBg="1"/>
      <p:bldP spid="20" grpId="0" animBg="1"/>
      <p:bldP spid="17" grpId="0" animBg="1"/>
      <p:bldP spid="22" grpId="0" animBg="1"/>
      <p:bldP spid="23" grpId="0" animBg="1"/>
      <p:bldP spid="24" grpId="0" animBg="1"/>
      <p:bldP spid="25" grpId="0" animBg="1"/>
      <p:bldP spid="2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7008" y="57150"/>
            <a:ext cx="3667992"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3" name="Rectangle 2"/>
          <p:cNvSpPr/>
          <p:nvPr/>
        </p:nvSpPr>
        <p:spPr>
          <a:xfrm>
            <a:off x="457200" y="612339"/>
            <a:ext cx="8229600" cy="1938992"/>
          </a:xfrm>
          <a:prstGeom prst="rect">
            <a:avLst/>
          </a:prstGeom>
        </p:spPr>
        <p:txBody>
          <a:bodyPr wrap="square">
            <a:spAutoFit/>
          </a:bodyPr>
          <a:lstStyle/>
          <a:p>
            <a:pPr fontAlgn="t"/>
            <a:r>
              <a:rPr lang="en-US" sz="2000" b="1" dirty="0">
                <a:solidFill>
                  <a:srgbClr val="FF0000"/>
                </a:solidFill>
                <a:latin typeface="Times New Roman" pitchFamily="18" charset="0"/>
                <a:cs typeface="Times New Roman" pitchFamily="18" charset="0"/>
              </a:rPr>
              <a:t>A, B, C, D and E are sitting on a bench. A is sitting next to B, C is sitting next to D, D is not sitting with E who is on the left end of the bench. C is on the second position from the right. A is to the right of B and E. A and C are sitting together. In which position A is sitting ?</a:t>
            </a:r>
          </a:p>
          <a:p>
            <a:r>
              <a:rPr lang="en-US" sz="2000" b="1" dirty="0" smtClean="0">
                <a:solidFill>
                  <a:srgbClr val="FF0000"/>
                </a:solidFill>
                <a:latin typeface="Times New Roman" pitchFamily="18" charset="0"/>
                <a:cs typeface="Times New Roman" pitchFamily="18" charset="0"/>
              </a:rPr>
              <a:t>A. Between </a:t>
            </a:r>
            <a:r>
              <a:rPr lang="en-US" sz="2000" b="1" dirty="0">
                <a:solidFill>
                  <a:srgbClr val="FF0000"/>
                </a:solidFill>
                <a:latin typeface="Times New Roman" pitchFamily="18" charset="0"/>
                <a:cs typeface="Times New Roman" pitchFamily="18" charset="0"/>
              </a:rPr>
              <a:t>B and </a:t>
            </a:r>
            <a:r>
              <a:rPr lang="en-US" sz="2000" b="1" dirty="0" smtClean="0">
                <a:solidFill>
                  <a:srgbClr val="FF0000"/>
                </a:solidFill>
                <a:latin typeface="Times New Roman" pitchFamily="18" charset="0"/>
                <a:cs typeface="Times New Roman" pitchFamily="18" charset="0"/>
              </a:rPr>
              <a:t>D		B. Between </a:t>
            </a:r>
            <a:r>
              <a:rPr lang="en-US" sz="2000" b="1" dirty="0">
                <a:solidFill>
                  <a:srgbClr val="FF0000"/>
                </a:solidFill>
                <a:latin typeface="Times New Roman" pitchFamily="18" charset="0"/>
                <a:cs typeface="Times New Roman" pitchFamily="18" charset="0"/>
              </a:rPr>
              <a:t>B and C</a:t>
            </a:r>
          </a:p>
          <a:p>
            <a:r>
              <a:rPr lang="en-US" sz="2000" b="1" dirty="0" smtClean="0">
                <a:solidFill>
                  <a:srgbClr val="FF0000"/>
                </a:solidFill>
                <a:latin typeface="Times New Roman" pitchFamily="18" charset="0"/>
                <a:cs typeface="Times New Roman" pitchFamily="18" charset="0"/>
              </a:rPr>
              <a:t>C. Between </a:t>
            </a:r>
            <a:r>
              <a:rPr lang="en-US" sz="2000" b="1" dirty="0">
                <a:solidFill>
                  <a:srgbClr val="FF0000"/>
                </a:solidFill>
                <a:latin typeface="Times New Roman" pitchFamily="18" charset="0"/>
                <a:cs typeface="Times New Roman" pitchFamily="18" charset="0"/>
              </a:rPr>
              <a:t>E and </a:t>
            </a:r>
            <a:r>
              <a:rPr lang="en-US" sz="2000" b="1" dirty="0" smtClean="0">
                <a:solidFill>
                  <a:srgbClr val="FF0000"/>
                </a:solidFill>
                <a:latin typeface="Times New Roman" pitchFamily="18" charset="0"/>
                <a:cs typeface="Times New Roman" pitchFamily="18" charset="0"/>
              </a:rPr>
              <a:t>D		D. Between </a:t>
            </a:r>
            <a:r>
              <a:rPr lang="en-US" sz="2000" b="1" dirty="0">
                <a:solidFill>
                  <a:srgbClr val="FF0000"/>
                </a:solidFill>
                <a:latin typeface="Times New Roman" pitchFamily="18" charset="0"/>
                <a:cs typeface="Times New Roman" pitchFamily="18" charset="0"/>
              </a:rPr>
              <a:t>C and </a:t>
            </a:r>
            <a:r>
              <a:rPr lang="en-US" sz="2000" b="1" dirty="0" smtClean="0">
                <a:solidFill>
                  <a:srgbClr val="FF0000"/>
                </a:solidFill>
                <a:latin typeface="Times New Roman" pitchFamily="18" charset="0"/>
                <a:cs typeface="Times New Roman" pitchFamily="18" charset="0"/>
              </a:rPr>
              <a:t>E</a:t>
            </a:r>
            <a:endParaRPr lang="en-US" sz="2000" b="1" dirty="0">
              <a:solidFill>
                <a:srgbClr val="FF0000"/>
              </a:solidFill>
              <a:latin typeface="Times New Roman" pitchFamily="18" charset="0"/>
              <a:cs typeface="Times New Roman" pitchFamily="18" charset="0"/>
            </a:endParaRPr>
          </a:p>
        </p:txBody>
      </p:sp>
      <p:sp>
        <p:nvSpPr>
          <p:cNvPr id="4" name="Rectangle 3"/>
          <p:cNvSpPr/>
          <p:nvPr/>
        </p:nvSpPr>
        <p:spPr>
          <a:xfrm>
            <a:off x="7785100" y="932418"/>
            <a:ext cx="620683"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a:solidFill>
                  <a:srgbClr val="FF0000"/>
                </a:solidFill>
                <a:latin typeface="Times New Roman" pitchFamily="18" charset="0"/>
                <a:cs typeface="Times New Roman" pitchFamily="18" charset="0"/>
              </a:rPr>
              <a:t>C is </a:t>
            </a:r>
            <a:endParaRPr lang="en-US" dirty="0"/>
          </a:p>
        </p:txBody>
      </p:sp>
      <p:sp>
        <p:nvSpPr>
          <p:cNvPr id="5" name="Rectangle 4"/>
          <p:cNvSpPr/>
          <p:nvPr/>
        </p:nvSpPr>
        <p:spPr>
          <a:xfrm>
            <a:off x="457200" y="1213019"/>
            <a:ext cx="4206793" cy="40011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sz="2000" b="1" dirty="0">
                <a:solidFill>
                  <a:srgbClr val="FF0000"/>
                </a:solidFill>
                <a:latin typeface="Times New Roman" pitchFamily="18" charset="0"/>
                <a:cs typeface="Times New Roman" pitchFamily="18" charset="0"/>
              </a:rPr>
              <a:t>on the second position from the right</a:t>
            </a:r>
            <a:endParaRPr lang="en-US" sz="2000" dirty="0"/>
          </a:p>
        </p:txBody>
      </p:sp>
      <p:sp>
        <p:nvSpPr>
          <p:cNvPr id="27" name="Rectangle 26"/>
          <p:cNvSpPr/>
          <p:nvPr/>
        </p:nvSpPr>
        <p:spPr>
          <a:xfrm>
            <a:off x="1426325" y="2800350"/>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endParaRPr lang="en-US" dirty="0"/>
          </a:p>
        </p:txBody>
      </p:sp>
      <p:sp>
        <p:nvSpPr>
          <p:cNvPr id="28" name="Rectangle 27"/>
          <p:cNvSpPr/>
          <p:nvPr/>
        </p:nvSpPr>
        <p:spPr>
          <a:xfrm>
            <a:off x="1883525" y="2800350"/>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endParaRPr lang="en-US" dirty="0"/>
          </a:p>
        </p:txBody>
      </p:sp>
      <p:sp>
        <p:nvSpPr>
          <p:cNvPr id="31" name="Rectangle 30"/>
          <p:cNvSpPr/>
          <p:nvPr/>
        </p:nvSpPr>
        <p:spPr>
          <a:xfrm>
            <a:off x="2340725" y="2800350"/>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endParaRPr lang="en-US" dirty="0"/>
          </a:p>
        </p:txBody>
      </p:sp>
      <p:sp>
        <p:nvSpPr>
          <p:cNvPr id="32" name="Rectangle 31"/>
          <p:cNvSpPr/>
          <p:nvPr/>
        </p:nvSpPr>
        <p:spPr>
          <a:xfrm>
            <a:off x="2797925" y="2800350"/>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endParaRPr lang="en-US" dirty="0"/>
          </a:p>
        </p:txBody>
      </p:sp>
      <p:sp>
        <p:nvSpPr>
          <p:cNvPr id="33" name="Rectangle 32"/>
          <p:cNvSpPr/>
          <p:nvPr/>
        </p:nvSpPr>
        <p:spPr>
          <a:xfrm>
            <a:off x="3200400" y="2800350"/>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endParaRPr lang="en-US" dirty="0"/>
          </a:p>
        </p:txBody>
      </p:sp>
      <p:sp>
        <p:nvSpPr>
          <p:cNvPr id="35" name="Rectangle 34"/>
          <p:cNvSpPr/>
          <p:nvPr/>
        </p:nvSpPr>
        <p:spPr>
          <a:xfrm>
            <a:off x="2819400" y="2800350"/>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smtClean="0"/>
              <a:t>C</a:t>
            </a:r>
            <a:endParaRPr lang="en-US" dirty="0"/>
          </a:p>
        </p:txBody>
      </p:sp>
      <p:sp>
        <p:nvSpPr>
          <p:cNvPr id="6" name="Rectangle 5"/>
          <p:cNvSpPr/>
          <p:nvPr/>
        </p:nvSpPr>
        <p:spPr>
          <a:xfrm>
            <a:off x="7543800" y="1257240"/>
            <a:ext cx="1148328" cy="40011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sz="2000" b="1" dirty="0">
                <a:solidFill>
                  <a:srgbClr val="FF0000"/>
                </a:solidFill>
                <a:latin typeface="Times New Roman" pitchFamily="18" charset="0"/>
                <a:cs typeface="Times New Roman" pitchFamily="18" charset="0"/>
              </a:rPr>
              <a:t>A and C </a:t>
            </a:r>
            <a:endParaRPr lang="en-US" sz="2000" dirty="0"/>
          </a:p>
        </p:txBody>
      </p:sp>
      <p:sp>
        <p:nvSpPr>
          <p:cNvPr id="36" name="Rectangle 35"/>
          <p:cNvSpPr/>
          <p:nvPr/>
        </p:nvSpPr>
        <p:spPr>
          <a:xfrm>
            <a:off x="2340724" y="2800350"/>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smtClean="0">
                <a:latin typeface="Times New Roman" pitchFamily="18" charset="0"/>
                <a:cs typeface="Times New Roman" pitchFamily="18" charset="0"/>
              </a:rPr>
              <a:t>A</a:t>
            </a:r>
            <a:endParaRPr lang="en-US" b="1" dirty="0">
              <a:latin typeface="Times New Roman" pitchFamily="18" charset="0"/>
              <a:cs typeface="Times New Roman" pitchFamily="18" charset="0"/>
            </a:endParaRPr>
          </a:p>
        </p:txBody>
      </p:sp>
      <p:sp>
        <p:nvSpPr>
          <p:cNvPr id="19" name="Rectangle 18"/>
          <p:cNvSpPr/>
          <p:nvPr/>
        </p:nvSpPr>
        <p:spPr>
          <a:xfrm>
            <a:off x="4574519" y="1225550"/>
            <a:ext cx="2230162"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a:solidFill>
                  <a:srgbClr val="FF0000"/>
                </a:solidFill>
                <a:latin typeface="Times New Roman" pitchFamily="18" charset="0"/>
                <a:cs typeface="Times New Roman" pitchFamily="18" charset="0"/>
              </a:rPr>
              <a:t>A is to the right of B </a:t>
            </a:r>
            <a:endParaRPr lang="en-US" dirty="0"/>
          </a:p>
        </p:txBody>
      </p:sp>
      <p:sp>
        <p:nvSpPr>
          <p:cNvPr id="37" name="Rectangle 36"/>
          <p:cNvSpPr/>
          <p:nvPr/>
        </p:nvSpPr>
        <p:spPr>
          <a:xfrm>
            <a:off x="1883525" y="2800350"/>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latin typeface="Times New Roman" pitchFamily="18" charset="0"/>
                <a:cs typeface="Times New Roman" pitchFamily="18" charset="0"/>
              </a:rPr>
              <a:t>B</a:t>
            </a:r>
          </a:p>
        </p:txBody>
      </p:sp>
      <p:sp>
        <p:nvSpPr>
          <p:cNvPr id="21" name="Rectangle 20"/>
          <p:cNvSpPr/>
          <p:nvPr/>
        </p:nvSpPr>
        <p:spPr>
          <a:xfrm>
            <a:off x="7078015" y="618233"/>
            <a:ext cx="1414170" cy="40011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sz="2000" b="1" dirty="0">
                <a:solidFill>
                  <a:srgbClr val="FF0000"/>
                </a:solidFill>
                <a:latin typeface="Times New Roman" pitchFamily="18" charset="0"/>
                <a:cs typeface="Times New Roman" pitchFamily="18" charset="0"/>
              </a:rPr>
              <a:t>C is sitting </a:t>
            </a:r>
            <a:endParaRPr lang="en-US" sz="2000" dirty="0"/>
          </a:p>
        </p:txBody>
      </p:sp>
      <p:sp>
        <p:nvSpPr>
          <p:cNvPr id="39" name="Rectangle 38"/>
          <p:cNvSpPr/>
          <p:nvPr/>
        </p:nvSpPr>
        <p:spPr>
          <a:xfrm>
            <a:off x="3221875" y="2807732"/>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latin typeface="Times New Roman" pitchFamily="18" charset="0"/>
                <a:cs typeface="Times New Roman" pitchFamily="18" charset="0"/>
              </a:rPr>
              <a:t>D</a:t>
            </a:r>
          </a:p>
        </p:txBody>
      </p:sp>
      <p:sp>
        <p:nvSpPr>
          <p:cNvPr id="40" name="Rectangle 39"/>
          <p:cNvSpPr/>
          <p:nvPr/>
        </p:nvSpPr>
        <p:spPr>
          <a:xfrm>
            <a:off x="1604101" y="932418"/>
            <a:ext cx="6119783"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FF0000"/>
                </a:solidFill>
                <a:latin typeface="Times New Roman" pitchFamily="18" charset="0"/>
                <a:cs typeface="Times New Roman" pitchFamily="18" charset="0"/>
              </a:rPr>
              <a:t>D is not sitting with E who is on the left end of the bench</a:t>
            </a:r>
            <a:endParaRPr lang="en-US" dirty="0"/>
          </a:p>
        </p:txBody>
      </p:sp>
      <p:sp>
        <p:nvSpPr>
          <p:cNvPr id="41" name="Rectangle 40"/>
          <p:cNvSpPr/>
          <p:nvPr/>
        </p:nvSpPr>
        <p:spPr>
          <a:xfrm>
            <a:off x="1444912" y="2800350"/>
            <a:ext cx="4024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smtClean="0">
                <a:latin typeface="Times New Roman" pitchFamily="18" charset="0"/>
                <a:cs typeface="Times New Roman" pitchFamily="18" charset="0"/>
              </a:rPr>
              <a:t>E</a:t>
            </a:r>
            <a:endParaRPr lang="en-US" b="1" dirty="0">
              <a:latin typeface="Times New Roman" pitchFamily="18" charset="0"/>
              <a:cs typeface="Times New Roman" pitchFamily="18" charset="0"/>
            </a:endParaRPr>
          </a:p>
        </p:txBody>
      </p:sp>
      <p:sp>
        <p:nvSpPr>
          <p:cNvPr id="42" name="Rectangle 41"/>
          <p:cNvSpPr/>
          <p:nvPr/>
        </p:nvSpPr>
        <p:spPr>
          <a:xfrm>
            <a:off x="2194580" y="3486150"/>
            <a:ext cx="5120619" cy="400110"/>
          </a:xfrm>
          <a:prstGeom prst="rect">
            <a:avLst/>
          </a:prstGeom>
        </p:spPr>
        <p:txBody>
          <a:bodyPr wrap="square">
            <a:spAutoFit/>
          </a:bodyPr>
          <a:lstStyle/>
          <a:p>
            <a:r>
              <a:rPr lang="en-US" sz="2000" b="1" dirty="0">
                <a:latin typeface="Times New Roman" pitchFamily="18" charset="0"/>
                <a:cs typeface="Times New Roman" pitchFamily="18" charset="0"/>
              </a:rPr>
              <a:t>Therefore, A is sitting in between B and C.</a:t>
            </a:r>
          </a:p>
        </p:txBody>
      </p:sp>
    </p:spTree>
    <p:extLst>
      <p:ext uri="{BB962C8B-B14F-4D97-AF65-F5344CB8AC3E}">
        <p14:creationId xmlns:p14="http://schemas.microsoft.com/office/powerpoint/2010/main" val="65222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wipe(down)">
                                      <p:cBhvr>
                                        <p:cTn id="20" dur="500"/>
                                        <p:tgtEl>
                                          <p:spTgt spid="27"/>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down)">
                                      <p:cBhvr>
                                        <p:cTn id="23" dur="500"/>
                                        <p:tgtEl>
                                          <p:spTgt spid="28"/>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down)">
                                      <p:cBhvr>
                                        <p:cTn id="26" dur="500"/>
                                        <p:tgtEl>
                                          <p:spTgt spid="31"/>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down)">
                                      <p:cBhvr>
                                        <p:cTn id="29" dur="500"/>
                                        <p:tgtEl>
                                          <p:spTgt spid="32"/>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down)">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down)">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wipe(down)">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down)">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down)">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wipe(down)">
                                      <p:cBhvr>
                                        <p:cTn id="67" dur="500"/>
                                        <p:tgtEl>
                                          <p:spTgt spid="3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wipe(left)">
                                      <p:cBhvr>
                                        <p:cTn id="72" dur="50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wipe(down)">
                                      <p:cBhvr>
                                        <p:cTn id="77" dur="500"/>
                                        <p:tgtEl>
                                          <p:spTgt spid="4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wipe(left)">
                                      <p:cBhvr>
                                        <p:cTn id="8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27" grpId="0" animBg="1"/>
      <p:bldP spid="28" grpId="0" animBg="1"/>
      <p:bldP spid="31" grpId="0" animBg="1"/>
      <p:bldP spid="32" grpId="0" animBg="1"/>
      <p:bldP spid="33" grpId="0" animBg="1"/>
      <p:bldP spid="35" grpId="0" animBg="1"/>
      <p:bldP spid="6" grpId="0" animBg="1"/>
      <p:bldP spid="36" grpId="0" animBg="1"/>
      <p:bldP spid="19" grpId="0" animBg="1"/>
      <p:bldP spid="37" grpId="0" animBg="1"/>
      <p:bldP spid="21" grpId="0" animBg="1"/>
      <p:bldP spid="39" grpId="0" animBg="1"/>
      <p:bldP spid="40" grpId="0" animBg="1"/>
      <p:bldP spid="41" grpId="0" animBg="1"/>
      <p:bldP spid="4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0" y="80665"/>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
        <p:nvSpPr>
          <p:cNvPr id="3" name="Rectangle 2"/>
          <p:cNvSpPr/>
          <p:nvPr/>
        </p:nvSpPr>
        <p:spPr>
          <a:xfrm>
            <a:off x="152400" y="666750"/>
            <a:ext cx="89916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Six friends are sitting in a circle and are facing the centre of the circle. </a:t>
            </a:r>
            <a:r>
              <a:rPr lang="en-US" sz="2000" b="1" dirty="0" err="1">
                <a:solidFill>
                  <a:srgbClr val="FF0000"/>
                </a:solidFill>
                <a:latin typeface="Times New Roman" pitchFamily="18" charset="0"/>
                <a:cs typeface="Times New Roman" pitchFamily="18" charset="0"/>
              </a:rPr>
              <a:t>Deepa</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Pankaj</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Priti</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Lalit</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are opposite to each other.</a:t>
            </a:r>
          </a:p>
        </p:txBody>
      </p:sp>
      <p:sp>
        <p:nvSpPr>
          <p:cNvPr id="4" name="Rectangle 3"/>
          <p:cNvSpPr/>
          <p:nvPr/>
        </p:nvSpPr>
        <p:spPr>
          <a:xfrm>
            <a:off x="381000" y="1657350"/>
            <a:ext cx="8077200" cy="707886"/>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1</a:t>
            </a:r>
            <a:r>
              <a:rPr lang="en-US" sz="2000" b="1" dirty="0" smtClean="0">
                <a:solidFill>
                  <a:srgbClr val="FF0000"/>
                </a:solidFill>
                <a:latin typeface="Times New Roman" pitchFamily="18" charset="0"/>
                <a:cs typeface="Times New Roman" pitchFamily="18" charset="0"/>
              </a:rPr>
              <a:t>. Who </a:t>
            </a:r>
            <a:r>
              <a:rPr lang="en-US" sz="2000" b="1" dirty="0">
                <a:solidFill>
                  <a:srgbClr val="FF0000"/>
                </a:solidFill>
                <a:latin typeface="Times New Roman" pitchFamily="18" charset="0"/>
                <a:cs typeface="Times New Roman" pitchFamily="18" charset="0"/>
              </a:rPr>
              <a:t>is sitting right to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t>
            </a:r>
          </a:p>
          <a:p>
            <a:r>
              <a:rPr lang="en-US" sz="2000" b="1" dirty="0" smtClean="0">
                <a:solidFill>
                  <a:srgbClr val="FF0000"/>
                </a:solidFill>
                <a:latin typeface="Times New Roman" pitchFamily="18" charset="0"/>
                <a:cs typeface="Times New Roman" pitchFamily="18" charset="0"/>
              </a:rPr>
              <a:t>A. </a:t>
            </a:r>
            <a:r>
              <a:rPr lang="en-US" sz="2000" b="1" dirty="0" err="1" smtClean="0">
                <a:solidFill>
                  <a:srgbClr val="FF0000"/>
                </a:solidFill>
                <a:latin typeface="Times New Roman" pitchFamily="18" charset="0"/>
                <a:cs typeface="Times New Roman" pitchFamily="18" charset="0"/>
              </a:rPr>
              <a:t>Mukesh</a:t>
            </a:r>
            <a:r>
              <a:rPr lang="en-US" sz="2000" b="1" dirty="0" smtClean="0">
                <a:solidFill>
                  <a:srgbClr val="FF0000"/>
                </a:solidFill>
                <a:latin typeface="Times New Roman" pitchFamily="18" charset="0"/>
                <a:cs typeface="Times New Roman" pitchFamily="18" charset="0"/>
              </a:rPr>
              <a:t>	B. </a:t>
            </a:r>
            <a:r>
              <a:rPr lang="en-US" sz="2000" b="1" dirty="0" err="1" smtClean="0">
                <a:solidFill>
                  <a:srgbClr val="FF0000"/>
                </a:solidFill>
                <a:latin typeface="Times New Roman" pitchFamily="18" charset="0"/>
                <a:cs typeface="Times New Roman" pitchFamily="18" charset="0"/>
              </a:rPr>
              <a:t>Deepa</a:t>
            </a:r>
            <a:r>
              <a:rPr lang="en-US" sz="2000" b="1" dirty="0" smtClean="0">
                <a:solidFill>
                  <a:srgbClr val="FF0000"/>
                </a:solidFill>
                <a:latin typeface="Times New Roman" pitchFamily="18" charset="0"/>
                <a:cs typeface="Times New Roman" pitchFamily="18" charset="0"/>
              </a:rPr>
              <a:t>		C. </a:t>
            </a:r>
            <a:r>
              <a:rPr lang="en-US" sz="2000" b="1" dirty="0" err="1" smtClean="0">
                <a:solidFill>
                  <a:srgbClr val="FF0000"/>
                </a:solidFill>
                <a:latin typeface="Times New Roman" pitchFamily="18" charset="0"/>
                <a:cs typeface="Times New Roman" pitchFamily="18" charset="0"/>
              </a:rPr>
              <a:t>Pankaj</a:t>
            </a:r>
            <a:r>
              <a:rPr lang="en-US" sz="2000" b="1" dirty="0" smtClean="0">
                <a:solidFill>
                  <a:srgbClr val="FF0000"/>
                </a:solidFill>
                <a:latin typeface="Times New Roman" pitchFamily="18" charset="0"/>
                <a:cs typeface="Times New Roman" pitchFamily="18" charset="0"/>
              </a:rPr>
              <a:t>	D. </a:t>
            </a:r>
            <a:r>
              <a:rPr lang="en-US" sz="2000" b="1" dirty="0" err="1" smtClean="0">
                <a:solidFill>
                  <a:srgbClr val="FF0000"/>
                </a:solidFill>
                <a:latin typeface="Times New Roman" pitchFamily="18" charset="0"/>
                <a:cs typeface="Times New Roman" pitchFamily="18" charset="0"/>
              </a:rPr>
              <a:t>Lalit</a:t>
            </a:r>
            <a:endParaRPr lang="en-US" sz="2000" b="1" dirty="0">
              <a:solidFill>
                <a:srgbClr val="FF0000"/>
              </a:solidFill>
              <a:latin typeface="Times New Roman" pitchFamily="18" charset="0"/>
              <a:cs typeface="Times New Roman" pitchFamily="18" charset="0"/>
            </a:endParaRPr>
          </a:p>
        </p:txBody>
      </p:sp>
      <p:sp>
        <p:nvSpPr>
          <p:cNvPr id="5" name="Rectangle 4"/>
          <p:cNvSpPr/>
          <p:nvPr/>
        </p:nvSpPr>
        <p:spPr>
          <a:xfrm>
            <a:off x="381000" y="2343150"/>
            <a:ext cx="8077200" cy="707886"/>
          </a:xfrm>
          <a:prstGeom prst="rect">
            <a:avLst/>
          </a:prstGeom>
        </p:spPr>
        <p:txBody>
          <a:bodyPr wrap="square">
            <a:spAutoFit/>
          </a:bodyPr>
          <a:lstStyle/>
          <a:p>
            <a:r>
              <a:rPr lang="en-US" sz="2000" b="1" dirty="0" smtClean="0">
                <a:latin typeface="Times New Roman" pitchFamily="18" charset="0"/>
                <a:cs typeface="Times New Roman" pitchFamily="18" charset="0"/>
              </a:rPr>
              <a:t>2. Who </a:t>
            </a:r>
            <a:r>
              <a:rPr lang="en-US" sz="2000" b="1" dirty="0">
                <a:latin typeface="Times New Roman" pitchFamily="18" charset="0"/>
                <a:cs typeface="Times New Roman" pitchFamily="18" charset="0"/>
              </a:rPr>
              <a:t>is just right to </a:t>
            </a:r>
            <a:r>
              <a:rPr lang="en-US" sz="2000" b="1" dirty="0" err="1">
                <a:latin typeface="Times New Roman" pitchFamily="18" charset="0"/>
                <a:cs typeface="Times New Roman" pitchFamily="18" charset="0"/>
              </a:rPr>
              <a:t>Pankaj</a:t>
            </a:r>
            <a:r>
              <a:rPr lang="en-US" sz="2000" b="1" dirty="0">
                <a:latin typeface="Times New Roman" pitchFamily="18" charset="0"/>
                <a:cs typeface="Times New Roman" pitchFamily="18" charset="0"/>
              </a:rPr>
              <a:t> ?</a:t>
            </a:r>
          </a:p>
          <a:p>
            <a:r>
              <a:rPr lang="en-US" sz="2000" b="1" dirty="0" smtClean="0">
                <a:latin typeface="Times New Roman" pitchFamily="18" charset="0"/>
                <a:cs typeface="Times New Roman" pitchFamily="18" charset="0"/>
              </a:rPr>
              <a:t>A. </a:t>
            </a:r>
            <a:r>
              <a:rPr lang="en-US" sz="2000" b="1" dirty="0" err="1" smtClean="0">
                <a:latin typeface="Times New Roman" pitchFamily="18" charset="0"/>
                <a:cs typeface="Times New Roman" pitchFamily="18" charset="0"/>
              </a:rPr>
              <a:t>Deepa</a:t>
            </a:r>
            <a:r>
              <a:rPr lang="en-US" sz="2000" b="1" dirty="0" smtClean="0">
                <a:latin typeface="Times New Roman" pitchFamily="18" charset="0"/>
                <a:cs typeface="Times New Roman" pitchFamily="18" charset="0"/>
              </a:rPr>
              <a:t>	B. </a:t>
            </a:r>
            <a:r>
              <a:rPr lang="en-US" sz="2000" b="1" dirty="0" err="1" smtClean="0">
                <a:latin typeface="Times New Roman" pitchFamily="18" charset="0"/>
                <a:cs typeface="Times New Roman" pitchFamily="18" charset="0"/>
              </a:rPr>
              <a:t>Lalit</a:t>
            </a:r>
            <a:r>
              <a:rPr lang="en-US" sz="2000" b="1" dirty="0" smtClean="0">
                <a:latin typeface="Times New Roman" pitchFamily="18" charset="0"/>
                <a:cs typeface="Times New Roman" pitchFamily="18" charset="0"/>
              </a:rPr>
              <a:t>		C. </a:t>
            </a:r>
            <a:r>
              <a:rPr lang="en-US" sz="2000" b="1" dirty="0" err="1" smtClean="0">
                <a:latin typeface="Times New Roman" pitchFamily="18" charset="0"/>
                <a:cs typeface="Times New Roman" pitchFamily="18" charset="0"/>
              </a:rPr>
              <a:t>Prakash</a:t>
            </a:r>
            <a:r>
              <a:rPr lang="en-US" sz="2000" b="1"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D.Priti</a:t>
            </a:r>
            <a:endParaRPr lang="en-US" sz="2000" b="1" dirty="0">
              <a:latin typeface="Times New Roman" pitchFamily="18" charset="0"/>
              <a:cs typeface="Times New Roman" pitchFamily="18" charset="0"/>
            </a:endParaRPr>
          </a:p>
        </p:txBody>
      </p:sp>
      <p:sp>
        <p:nvSpPr>
          <p:cNvPr id="7" name="Rectangle 6"/>
          <p:cNvSpPr/>
          <p:nvPr/>
        </p:nvSpPr>
        <p:spPr>
          <a:xfrm>
            <a:off x="381000" y="3003887"/>
            <a:ext cx="7810500" cy="1015663"/>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3. Who </a:t>
            </a:r>
            <a:r>
              <a:rPr lang="en-US" sz="2000" b="1" dirty="0">
                <a:solidFill>
                  <a:srgbClr val="FF0000"/>
                </a:solidFill>
                <a:latin typeface="Times New Roman" pitchFamily="18" charset="0"/>
                <a:cs typeface="Times New Roman" pitchFamily="18" charset="0"/>
              </a:rPr>
              <a:t>are the </a:t>
            </a:r>
            <a:r>
              <a:rPr lang="en-US" sz="2000" b="1" dirty="0" smtClean="0">
                <a:solidFill>
                  <a:srgbClr val="FF0000"/>
                </a:solidFill>
                <a:latin typeface="Times New Roman" pitchFamily="18" charset="0"/>
                <a:cs typeface="Times New Roman" pitchFamily="18" charset="0"/>
              </a:rPr>
              <a:t>neighbors </a:t>
            </a:r>
            <a:r>
              <a:rPr lang="en-US" sz="2000" b="1" dirty="0">
                <a:solidFill>
                  <a:srgbClr val="FF0000"/>
                </a:solidFill>
                <a:latin typeface="Times New Roman" pitchFamily="18" charset="0"/>
                <a:cs typeface="Times New Roman" pitchFamily="18" charset="0"/>
              </a:rPr>
              <a:t>of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t>
            </a:r>
          </a:p>
          <a:p>
            <a:r>
              <a:rPr lang="en-US" sz="2000" b="1" dirty="0" smtClean="0">
                <a:solidFill>
                  <a:srgbClr val="FF0000"/>
                </a:solidFill>
                <a:latin typeface="Times New Roman" pitchFamily="18" charset="0"/>
                <a:cs typeface="Times New Roman" pitchFamily="18" charset="0"/>
              </a:rPr>
              <a:t>A. </a:t>
            </a:r>
            <a:r>
              <a:rPr lang="en-US" sz="2000" b="1" dirty="0" err="1" smtClean="0">
                <a:solidFill>
                  <a:srgbClr val="FF0000"/>
                </a:solidFill>
                <a:latin typeface="Times New Roman" pitchFamily="18" charset="0"/>
                <a:cs typeface="Times New Roman" pitchFamily="18" charset="0"/>
              </a:rPr>
              <a:t>Prakash</a:t>
            </a:r>
            <a:r>
              <a:rPr lang="en-US" sz="2000" b="1" dirty="0" smtClean="0">
                <a:solidFill>
                  <a:srgbClr val="FF000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and </a:t>
            </a:r>
            <a:r>
              <a:rPr lang="en-US" sz="2000" b="1" dirty="0" err="1" smtClean="0">
                <a:solidFill>
                  <a:srgbClr val="FF0000"/>
                </a:solidFill>
                <a:latin typeface="Times New Roman" pitchFamily="18" charset="0"/>
                <a:cs typeface="Times New Roman" pitchFamily="18" charset="0"/>
              </a:rPr>
              <a:t>Deepa</a:t>
            </a:r>
            <a:r>
              <a:rPr lang="en-US" sz="2000" b="1" dirty="0" smtClean="0">
                <a:solidFill>
                  <a:srgbClr val="FF0000"/>
                </a:solidFill>
                <a:latin typeface="Times New Roman" pitchFamily="18" charset="0"/>
                <a:cs typeface="Times New Roman" pitchFamily="18" charset="0"/>
              </a:rPr>
              <a:t>			B. </a:t>
            </a:r>
            <a:r>
              <a:rPr lang="en-US" sz="2000" b="1" dirty="0" err="1" smtClean="0">
                <a:solidFill>
                  <a:srgbClr val="FF0000"/>
                </a:solidFill>
                <a:latin typeface="Times New Roman" pitchFamily="18" charset="0"/>
                <a:cs typeface="Times New Roman" pitchFamily="18" charset="0"/>
              </a:rPr>
              <a:t>Deepa</a:t>
            </a:r>
            <a:r>
              <a:rPr lang="en-US" sz="2000" b="1" dirty="0" smtClean="0">
                <a:solidFill>
                  <a:srgbClr val="FF000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and </a:t>
            </a:r>
            <a:r>
              <a:rPr lang="en-US" sz="2000" b="1" dirty="0" err="1">
                <a:solidFill>
                  <a:srgbClr val="FF0000"/>
                </a:solidFill>
                <a:latin typeface="Times New Roman" pitchFamily="18" charset="0"/>
                <a:cs typeface="Times New Roman" pitchFamily="18" charset="0"/>
              </a:rPr>
              <a:t>Priti</a:t>
            </a:r>
            <a:endParaRPr lang="en-US" sz="2000" b="1" dirty="0">
              <a:solidFill>
                <a:srgbClr val="FF0000"/>
              </a:solidFill>
              <a:latin typeface="Times New Roman" pitchFamily="18" charset="0"/>
              <a:cs typeface="Times New Roman" pitchFamily="18" charset="0"/>
            </a:endParaRPr>
          </a:p>
          <a:p>
            <a:r>
              <a:rPr lang="en-US" sz="2000" b="1" dirty="0" smtClean="0">
                <a:solidFill>
                  <a:srgbClr val="FF0000"/>
                </a:solidFill>
                <a:latin typeface="Times New Roman" pitchFamily="18" charset="0"/>
                <a:cs typeface="Times New Roman" pitchFamily="18" charset="0"/>
              </a:rPr>
              <a:t>C. </a:t>
            </a:r>
            <a:r>
              <a:rPr lang="en-US" sz="2000" b="1" dirty="0" err="1" smtClean="0">
                <a:solidFill>
                  <a:srgbClr val="FF0000"/>
                </a:solidFill>
                <a:latin typeface="Times New Roman" pitchFamily="18" charset="0"/>
                <a:cs typeface="Times New Roman" pitchFamily="18" charset="0"/>
              </a:rPr>
              <a:t>Priti</a:t>
            </a:r>
            <a:r>
              <a:rPr lang="en-US" sz="2000" b="1" dirty="0" smtClean="0">
                <a:solidFill>
                  <a:srgbClr val="FF000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and </a:t>
            </a:r>
            <a:r>
              <a:rPr lang="en-US" sz="2000" b="1" dirty="0" err="1" smtClean="0">
                <a:solidFill>
                  <a:srgbClr val="FF0000"/>
                </a:solidFill>
                <a:latin typeface="Times New Roman" pitchFamily="18" charset="0"/>
                <a:cs typeface="Times New Roman" pitchFamily="18" charset="0"/>
              </a:rPr>
              <a:t>Pankaj</a:t>
            </a:r>
            <a:r>
              <a:rPr lang="en-US" sz="2000" b="1" dirty="0" smtClean="0">
                <a:solidFill>
                  <a:srgbClr val="FF0000"/>
                </a:solidFill>
                <a:latin typeface="Times New Roman" pitchFamily="18" charset="0"/>
                <a:cs typeface="Times New Roman" pitchFamily="18" charset="0"/>
              </a:rPr>
              <a:t>			D. </a:t>
            </a:r>
            <a:r>
              <a:rPr lang="en-US" sz="2000" b="1" dirty="0" err="1" smtClean="0">
                <a:solidFill>
                  <a:srgbClr val="FF0000"/>
                </a:solidFill>
                <a:latin typeface="Times New Roman" pitchFamily="18" charset="0"/>
                <a:cs typeface="Times New Roman" pitchFamily="18" charset="0"/>
              </a:rPr>
              <a:t>Lalit</a:t>
            </a:r>
            <a:r>
              <a:rPr lang="en-US" sz="2000" b="1" dirty="0" smtClean="0">
                <a:solidFill>
                  <a:srgbClr val="FF000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and </a:t>
            </a:r>
            <a:r>
              <a:rPr lang="en-US" sz="2000" b="1" dirty="0" err="1">
                <a:solidFill>
                  <a:srgbClr val="FF0000"/>
                </a:solidFill>
                <a:latin typeface="Times New Roman" pitchFamily="18" charset="0"/>
                <a:cs typeface="Times New Roman" pitchFamily="18" charset="0"/>
              </a:rPr>
              <a:t>Priti</a:t>
            </a:r>
            <a:endParaRPr lang="en-US" sz="2000" b="1" dirty="0">
              <a:solidFill>
                <a:srgbClr val="FF0000"/>
              </a:solidFill>
              <a:latin typeface="Times New Roman" pitchFamily="18" charset="0"/>
              <a:cs typeface="Times New Roman" pitchFamily="18" charset="0"/>
            </a:endParaRPr>
          </a:p>
        </p:txBody>
      </p:sp>
      <p:sp>
        <p:nvSpPr>
          <p:cNvPr id="10" name="Rectangle 9"/>
          <p:cNvSpPr/>
          <p:nvPr/>
        </p:nvSpPr>
        <p:spPr>
          <a:xfrm>
            <a:off x="381000" y="4019550"/>
            <a:ext cx="7924800" cy="707886"/>
          </a:xfrm>
          <a:prstGeom prst="rect">
            <a:avLst/>
          </a:prstGeom>
        </p:spPr>
        <p:txBody>
          <a:bodyPr wrap="square">
            <a:spAutoFit/>
          </a:bodyPr>
          <a:lstStyle/>
          <a:p>
            <a:r>
              <a:rPr lang="en-US" sz="2000" b="1" dirty="0" smtClean="0">
                <a:latin typeface="Times New Roman" pitchFamily="18" charset="0"/>
                <a:cs typeface="Times New Roman" pitchFamily="18" charset="0"/>
              </a:rPr>
              <a:t>4. Who </a:t>
            </a:r>
            <a:r>
              <a:rPr lang="en-US" sz="2000" b="1" dirty="0">
                <a:latin typeface="Times New Roman" pitchFamily="18" charset="0"/>
                <a:cs typeface="Times New Roman" pitchFamily="18" charset="0"/>
              </a:rPr>
              <a:t>is sitting opposite to </a:t>
            </a:r>
            <a:r>
              <a:rPr lang="en-US" sz="2000" b="1" dirty="0" err="1">
                <a:latin typeface="Times New Roman" pitchFamily="18" charset="0"/>
                <a:cs typeface="Times New Roman" pitchFamily="18" charset="0"/>
              </a:rPr>
              <a:t>Priti</a:t>
            </a:r>
            <a:r>
              <a:rPr lang="en-US" sz="2000" b="1" dirty="0">
                <a:latin typeface="Times New Roman" pitchFamily="18" charset="0"/>
                <a:cs typeface="Times New Roman" pitchFamily="18" charset="0"/>
              </a:rPr>
              <a:t> ?</a:t>
            </a:r>
          </a:p>
          <a:p>
            <a:r>
              <a:rPr lang="en-US" sz="2000" b="1" dirty="0" smtClean="0">
                <a:latin typeface="Times New Roman" pitchFamily="18" charset="0"/>
                <a:cs typeface="Times New Roman" pitchFamily="18" charset="0"/>
              </a:rPr>
              <a:t>A. </a:t>
            </a:r>
            <a:r>
              <a:rPr lang="en-US" sz="2000" b="1" dirty="0" err="1" smtClean="0">
                <a:latin typeface="Times New Roman" pitchFamily="18" charset="0"/>
                <a:cs typeface="Times New Roman" pitchFamily="18" charset="0"/>
              </a:rPr>
              <a:t>Prakash</a:t>
            </a:r>
            <a:r>
              <a:rPr lang="en-US" sz="2000" b="1" dirty="0" smtClean="0">
                <a:latin typeface="Times New Roman" pitchFamily="18" charset="0"/>
                <a:cs typeface="Times New Roman" pitchFamily="18" charset="0"/>
              </a:rPr>
              <a:t>	B. </a:t>
            </a:r>
            <a:r>
              <a:rPr lang="en-US" sz="2000" b="1" dirty="0" err="1" smtClean="0">
                <a:latin typeface="Times New Roman" pitchFamily="18" charset="0"/>
                <a:cs typeface="Times New Roman" pitchFamily="18" charset="0"/>
              </a:rPr>
              <a:t>Deepa</a:t>
            </a:r>
            <a:r>
              <a:rPr lang="en-US" sz="2000" b="1" dirty="0" smtClean="0">
                <a:latin typeface="Times New Roman" pitchFamily="18" charset="0"/>
                <a:cs typeface="Times New Roman" pitchFamily="18" charset="0"/>
              </a:rPr>
              <a:t>	C. </a:t>
            </a:r>
            <a:r>
              <a:rPr lang="en-US" sz="2000" b="1" dirty="0" err="1" smtClean="0">
                <a:latin typeface="Times New Roman" pitchFamily="18" charset="0"/>
                <a:cs typeface="Times New Roman" pitchFamily="18" charset="0"/>
              </a:rPr>
              <a:t>Pankaj</a:t>
            </a:r>
            <a:r>
              <a:rPr lang="en-US" sz="2000" b="1" dirty="0" smtClean="0">
                <a:latin typeface="Times New Roman" pitchFamily="18" charset="0"/>
                <a:cs typeface="Times New Roman" pitchFamily="18" charset="0"/>
              </a:rPr>
              <a:t>	D. </a:t>
            </a:r>
            <a:r>
              <a:rPr lang="en-US" sz="2000" b="1" dirty="0" err="1" smtClean="0">
                <a:latin typeface="Times New Roman" pitchFamily="18" charset="0"/>
                <a:cs typeface="Times New Roman" pitchFamily="18" charset="0"/>
              </a:rPr>
              <a:t>Lalit</a:t>
            </a:r>
            <a:endParaRPr lang="en-US"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200725802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62019" y="57150"/>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
        <p:nvSpPr>
          <p:cNvPr id="3" name="Rectangle 2"/>
          <p:cNvSpPr/>
          <p:nvPr/>
        </p:nvSpPr>
        <p:spPr>
          <a:xfrm>
            <a:off x="152400" y="666750"/>
            <a:ext cx="89916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Six friends are sitting in a circle and are facing the centre of the circle. </a:t>
            </a:r>
            <a:r>
              <a:rPr lang="en-US" sz="2000" b="1" dirty="0" err="1">
                <a:solidFill>
                  <a:srgbClr val="FF0000"/>
                </a:solidFill>
                <a:latin typeface="Times New Roman" pitchFamily="18" charset="0"/>
                <a:cs typeface="Times New Roman" pitchFamily="18" charset="0"/>
              </a:rPr>
              <a:t>Deepa</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Pankaj</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Priti</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Lalit</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are opposite to each other.</a:t>
            </a:r>
          </a:p>
        </p:txBody>
      </p:sp>
      <p:grpSp>
        <p:nvGrpSpPr>
          <p:cNvPr id="38" name="Group 37"/>
          <p:cNvGrpSpPr/>
          <p:nvPr/>
        </p:nvGrpSpPr>
        <p:grpSpPr>
          <a:xfrm>
            <a:off x="2895600" y="2266950"/>
            <a:ext cx="2171700" cy="2247900"/>
            <a:chOff x="2895600" y="2266950"/>
            <a:chExt cx="2171700" cy="2247900"/>
          </a:xfrm>
        </p:grpSpPr>
        <p:sp>
          <p:nvSpPr>
            <p:cNvPr id="6" name="Oval 5"/>
            <p:cNvSpPr/>
            <p:nvPr/>
          </p:nvSpPr>
          <p:spPr>
            <a:xfrm>
              <a:off x="2895600" y="2343150"/>
              <a:ext cx="2133600" cy="205740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9" name="Straight Connector 8"/>
            <p:cNvCxnSpPr/>
            <p:nvPr/>
          </p:nvCxnSpPr>
          <p:spPr>
            <a:xfrm flipH="1">
              <a:off x="28956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49149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962400" y="428625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flipV="1">
              <a:off x="3048000" y="27241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3962400" y="2266950"/>
              <a:ext cx="0" cy="18311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V="1">
              <a:off x="4800600" y="2823090"/>
              <a:ext cx="228600" cy="129660"/>
            </a:xfrm>
            <a:prstGeom prst="line">
              <a:avLst/>
            </a:prstGeom>
          </p:spPr>
          <p:style>
            <a:lnRef idx="2">
              <a:schemeClr val="accent1"/>
            </a:lnRef>
            <a:fillRef idx="0">
              <a:schemeClr val="accent1"/>
            </a:fillRef>
            <a:effectRef idx="1">
              <a:schemeClr val="accent1"/>
            </a:effectRef>
            <a:fontRef idx="minor">
              <a:schemeClr val="tx1"/>
            </a:fontRef>
          </p:style>
        </p:cxnSp>
      </p:grpSp>
      <p:sp>
        <p:nvSpPr>
          <p:cNvPr id="40" name="Rectangle 39"/>
          <p:cNvSpPr/>
          <p:nvPr/>
        </p:nvSpPr>
        <p:spPr>
          <a:xfrm>
            <a:off x="3665982" y="4527034"/>
            <a:ext cx="888385" cy="369332"/>
          </a:xfrm>
          <a:prstGeom prst="rect">
            <a:avLst/>
          </a:prstGeom>
        </p:spPr>
        <p:txBody>
          <a:bodyPr wrap="none">
            <a:spAutoFit/>
          </a:bodyPr>
          <a:lstStyle/>
          <a:p>
            <a:r>
              <a:rPr lang="en-US" b="1" dirty="0" err="1" smtClean="0"/>
              <a:t>Deepa</a:t>
            </a:r>
            <a:endParaRPr lang="en-US" dirty="0"/>
          </a:p>
        </p:txBody>
      </p:sp>
      <p:sp>
        <p:nvSpPr>
          <p:cNvPr id="41" name="Rectangle 40"/>
          <p:cNvSpPr/>
          <p:nvPr/>
        </p:nvSpPr>
        <p:spPr>
          <a:xfrm>
            <a:off x="1828800" y="3726934"/>
            <a:ext cx="917239" cy="369332"/>
          </a:xfrm>
          <a:prstGeom prst="rect">
            <a:avLst/>
          </a:prstGeom>
        </p:spPr>
        <p:txBody>
          <a:bodyPr wrap="none">
            <a:spAutoFit/>
          </a:bodyPr>
          <a:lstStyle/>
          <a:p>
            <a:r>
              <a:rPr lang="en-US" b="1" dirty="0" err="1" smtClean="0"/>
              <a:t>Pankaj</a:t>
            </a:r>
            <a:endParaRPr lang="en-US" b="1" dirty="0"/>
          </a:p>
        </p:txBody>
      </p:sp>
      <p:sp>
        <p:nvSpPr>
          <p:cNvPr id="43" name="Rectangle 42"/>
          <p:cNvSpPr/>
          <p:nvPr/>
        </p:nvSpPr>
        <p:spPr>
          <a:xfrm>
            <a:off x="3639591" y="1959412"/>
            <a:ext cx="817853" cy="369332"/>
          </a:xfrm>
          <a:prstGeom prst="rect">
            <a:avLst/>
          </a:prstGeom>
        </p:spPr>
        <p:txBody>
          <a:bodyPr wrap="none">
            <a:spAutoFit/>
          </a:bodyPr>
          <a:lstStyle/>
          <a:p>
            <a:r>
              <a:rPr lang="en-US" b="1" dirty="0" err="1" smtClean="0"/>
              <a:t>Preeti</a:t>
            </a:r>
            <a:endParaRPr lang="en-US" dirty="0"/>
          </a:p>
        </p:txBody>
      </p:sp>
      <p:sp>
        <p:nvSpPr>
          <p:cNvPr id="44" name="Rectangle 43"/>
          <p:cNvSpPr/>
          <p:nvPr/>
        </p:nvSpPr>
        <p:spPr>
          <a:xfrm>
            <a:off x="2307065" y="2361168"/>
            <a:ext cx="1048685" cy="369332"/>
          </a:xfrm>
          <a:prstGeom prst="rect">
            <a:avLst/>
          </a:prstGeom>
        </p:spPr>
        <p:txBody>
          <a:bodyPr wrap="none">
            <a:spAutoFit/>
          </a:bodyPr>
          <a:lstStyle/>
          <a:p>
            <a:r>
              <a:rPr lang="en-US" b="1" dirty="0" err="1" smtClean="0"/>
              <a:t>Mukesh</a:t>
            </a:r>
            <a:endParaRPr lang="en-US" dirty="0"/>
          </a:p>
        </p:txBody>
      </p:sp>
      <p:sp>
        <p:nvSpPr>
          <p:cNvPr id="45" name="Rectangle 44"/>
          <p:cNvSpPr/>
          <p:nvPr/>
        </p:nvSpPr>
        <p:spPr>
          <a:xfrm>
            <a:off x="5181600" y="2615684"/>
            <a:ext cx="657552" cy="369332"/>
          </a:xfrm>
          <a:prstGeom prst="rect">
            <a:avLst/>
          </a:prstGeom>
        </p:spPr>
        <p:txBody>
          <a:bodyPr wrap="none">
            <a:spAutoFit/>
          </a:bodyPr>
          <a:lstStyle/>
          <a:p>
            <a:r>
              <a:rPr lang="en-US" b="1" dirty="0" err="1" smtClean="0"/>
              <a:t>Lalit</a:t>
            </a:r>
            <a:endParaRPr lang="en-US" b="1" dirty="0"/>
          </a:p>
        </p:txBody>
      </p:sp>
      <p:sp>
        <p:nvSpPr>
          <p:cNvPr id="47" name="Rectangle 46"/>
          <p:cNvSpPr/>
          <p:nvPr/>
        </p:nvSpPr>
        <p:spPr>
          <a:xfrm>
            <a:off x="5181600" y="3650734"/>
            <a:ext cx="1058303" cy="369332"/>
          </a:xfrm>
          <a:prstGeom prst="rect">
            <a:avLst/>
          </a:prstGeom>
        </p:spPr>
        <p:txBody>
          <a:bodyPr wrap="none">
            <a:spAutoFit/>
          </a:bodyPr>
          <a:lstStyle/>
          <a:p>
            <a:r>
              <a:rPr lang="en-US" b="1" dirty="0" err="1" smtClean="0"/>
              <a:t>Prakash</a:t>
            </a:r>
            <a:endParaRPr lang="en-US" dirty="0"/>
          </a:p>
        </p:txBody>
      </p:sp>
    </p:spTree>
    <p:extLst>
      <p:ext uri="{BB962C8B-B14F-4D97-AF65-F5344CB8AC3E}">
        <p14:creationId xmlns:p14="http://schemas.microsoft.com/office/powerpoint/2010/main" val="343656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left)">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left)">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wipe(left)">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left)">
                                      <p:cBhvr>
                                        <p:cTn id="32" dur="5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wipe(left)">
                                      <p:cBhvr>
                                        <p:cTn id="3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3" grpId="0"/>
      <p:bldP spid="44" grpId="0"/>
      <p:bldP spid="45" grpId="0"/>
      <p:bldP spid="4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666750"/>
            <a:ext cx="89916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Six friends are sitting in a circle and are facing the centre of the circle. </a:t>
            </a:r>
            <a:r>
              <a:rPr lang="en-US" sz="2000" b="1" dirty="0" err="1">
                <a:solidFill>
                  <a:srgbClr val="FF0000"/>
                </a:solidFill>
                <a:latin typeface="Times New Roman" pitchFamily="18" charset="0"/>
                <a:cs typeface="Times New Roman" pitchFamily="18" charset="0"/>
              </a:rPr>
              <a:t>Deepa</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Pankaj</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Priti</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Lalit</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are opposite to each other.</a:t>
            </a:r>
          </a:p>
        </p:txBody>
      </p:sp>
      <p:grpSp>
        <p:nvGrpSpPr>
          <p:cNvPr id="38" name="Group 37"/>
          <p:cNvGrpSpPr/>
          <p:nvPr/>
        </p:nvGrpSpPr>
        <p:grpSpPr>
          <a:xfrm>
            <a:off x="1227697" y="2117288"/>
            <a:ext cx="2171700" cy="2247900"/>
            <a:chOff x="2895600" y="2266950"/>
            <a:chExt cx="2171700" cy="2247900"/>
          </a:xfrm>
        </p:grpSpPr>
        <p:sp>
          <p:nvSpPr>
            <p:cNvPr id="6" name="Oval 5"/>
            <p:cNvSpPr/>
            <p:nvPr/>
          </p:nvSpPr>
          <p:spPr>
            <a:xfrm>
              <a:off x="2895600" y="2343150"/>
              <a:ext cx="2133600" cy="205740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9" name="Straight Connector 8"/>
            <p:cNvCxnSpPr/>
            <p:nvPr/>
          </p:nvCxnSpPr>
          <p:spPr>
            <a:xfrm flipH="1">
              <a:off x="28956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49149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962400" y="428625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flipV="1">
              <a:off x="3048000" y="27241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3962400" y="2266950"/>
              <a:ext cx="0" cy="18311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V="1">
              <a:off x="4800600" y="2823090"/>
              <a:ext cx="228600" cy="129660"/>
            </a:xfrm>
            <a:prstGeom prst="line">
              <a:avLst/>
            </a:prstGeom>
          </p:spPr>
          <p:style>
            <a:lnRef idx="2">
              <a:schemeClr val="accent1"/>
            </a:lnRef>
            <a:fillRef idx="0">
              <a:schemeClr val="accent1"/>
            </a:fillRef>
            <a:effectRef idx="1">
              <a:schemeClr val="accent1"/>
            </a:effectRef>
            <a:fontRef idx="minor">
              <a:schemeClr val="tx1"/>
            </a:fontRef>
          </p:style>
        </p:cxnSp>
      </p:grpSp>
      <p:sp>
        <p:nvSpPr>
          <p:cNvPr id="40" name="Rectangle 39"/>
          <p:cNvSpPr/>
          <p:nvPr/>
        </p:nvSpPr>
        <p:spPr>
          <a:xfrm>
            <a:off x="1998079" y="4377372"/>
            <a:ext cx="888385" cy="369332"/>
          </a:xfrm>
          <a:prstGeom prst="rect">
            <a:avLst/>
          </a:prstGeom>
        </p:spPr>
        <p:txBody>
          <a:bodyPr wrap="none">
            <a:spAutoFit/>
          </a:bodyPr>
          <a:lstStyle/>
          <a:p>
            <a:r>
              <a:rPr lang="en-US" b="1" dirty="0" err="1" smtClean="0"/>
              <a:t>Deepa</a:t>
            </a:r>
            <a:endParaRPr lang="en-US" dirty="0"/>
          </a:p>
        </p:txBody>
      </p:sp>
      <p:sp>
        <p:nvSpPr>
          <p:cNvPr id="41" name="Rectangle 40"/>
          <p:cNvSpPr/>
          <p:nvPr/>
        </p:nvSpPr>
        <p:spPr>
          <a:xfrm>
            <a:off x="160897" y="3577272"/>
            <a:ext cx="917239" cy="369332"/>
          </a:xfrm>
          <a:prstGeom prst="rect">
            <a:avLst/>
          </a:prstGeom>
        </p:spPr>
        <p:txBody>
          <a:bodyPr wrap="none">
            <a:spAutoFit/>
          </a:bodyPr>
          <a:lstStyle/>
          <a:p>
            <a:r>
              <a:rPr lang="en-US" b="1" dirty="0" err="1" smtClean="0"/>
              <a:t>Pankaj</a:t>
            </a:r>
            <a:endParaRPr lang="en-US" b="1" dirty="0"/>
          </a:p>
        </p:txBody>
      </p:sp>
      <p:sp>
        <p:nvSpPr>
          <p:cNvPr id="43" name="Rectangle 42"/>
          <p:cNvSpPr/>
          <p:nvPr/>
        </p:nvSpPr>
        <p:spPr>
          <a:xfrm>
            <a:off x="1971688" y="1809750"/>
            <a:ext cx="817853" cy="369332"/>
          </a:xfrm>
          <a:prstGeom prst="rect">
            <a:avLst/>
          </a:prstGeom>
        </p:spPr>
        <p:txBody>
          <a:bodyPr wrap="none">
            <a:spAutoFit/>
          </a:bodyPr>
          <a:lstStyle/>
          <a:p>
            <a:r>
              <a:rPr lang="en-US" b="1" dirty="0" err="1" smtClean="0"/>
              <a:t>Preeti</a:t>
            </a:r>
            <a:endParaRPr lang="en-US" dirty="0"/>
          </a:p>
        </p:txBody>
      </p:sp>
      <p:sp>
        <p:nvSpPr>
          <p:cNvPr id="44" name="Rectangle 43"/>
          <p:cNvSpPr/>
          <p:nvPr/>
        </p:nvSpPr>
        <p:spPr>
          <a:xfrm>
            <a:off x="639162" y="2211506"/>
            <a:ext cx="1048685" cy="369332"/>
          </a:xfrm>
          <a:prstGeom prst="rect">
            <a:avLst/>
          </a:prstGeom>
        </p:spPr>
        <p:txBody>
          <a:bodyPr wrap="none">
            <a:spAutoFit/>
          </a:bodyPr>
          <a:lstStyle/>
          <a:p>
            <a:r>
              <a:rPr lang="en-US" b="1" dirty="0" err="1" smtClean="0"/>
              <a:t>Mukesh</a:t>
            </a:r>
            <a:endParaRPr lang="en-US" dirty="0"/>
          </a:p>
        </p:txBody>
      </p:sp>
      <p:sp>
        <p:nvSpPr>
          <p:cNvPr id="45" name="Rectangle 44"/>
          <p:cNvSpPr/>
          <p:nvPr/>
        </p:nvSpPr>
        <p:spPr>
          <a:xfrm>
            <a:off x="3513697" y="2466022"/>
            <a:ext cx="657552" cy="369332"/>
          </a:xfrm>
          <a:prstGeom prst="rect">
            <a:avLst/>
          </a:prstGeom>
        </p:spPr>
        <p:txBody>
          <a:bodyPr wrap="none">
            <a:spAutoFit/>
          </a:bodyPr>
          <a:lstStyle/>
          <a:p>
            <a:r>
              <a:rPr lang="en-US" b="1" dirty="0" err="1" smtClean="0"/>
              <a:t>Lalit</a:t>
            </a:r>
            <a:endParaRPr lang="en-US" b="1" dirty="0"/>
          </a:p>
        </p:txBody>
      </p:sp>
      <p:sp>
        <p:nvSpPr>
          <p:cNvPr id="47" name="Rectangle 46"/>
          <p:cNvSpPr/>
          <p:nvPr/>
        </p:nvSpPr>
        <p:spPr>
          <a:xfrm>
            <a:off x="3513697" y="3501072"/>
            <a:ext cx="1058303" cy="369332"/>
          </a:xfrm>
          <a:prstGeom prst="rect">
            <a:avLst/>
          </a:prstGeom>
        </p:spPr>
        <p:txBody>
          <a:bodyPr wrap="none">
            <a:spAutoFit/>
          </a:bodyPr>
          <a:lstStyle/>
          <a:p>
            <a:r>
              <a:rPr lang="en-US" b="1" dirty="0" err="1" smtClean="0"/>
              <a:t>Prakash</a:t>
            </a:r>
            <a:endParaRPr lang="en-US" dirty="0"/>
          </a:p>
        </p:txBody>
      </p:sp>
      <p:sp>
        <p:nvSpPr>
          <p:cNvPr id="20" name="Rectangle 19"/>
          <p:cNvSpPr/>
          <p:nvPr/>
        </p:nvSpPr>
        <p:spPr>
          <a:xfrm>
            <a:off x="4826000" y="1654075"/>
            <a:ext cx="40132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1</a:t>
            </a:r>
            <a:r>
              <a:rPr lang="en-US" sz="2000" b="1" dirty="0" smtClean="0">
                <a:solidFill>
                  <a:srgbClr val="FF0000"/>
                </a:solidFill>
                <a:latin typeface="Times New Roman" pitchFamily="18" charset="0"/>
                <a:cs typeface="Times New Roman" pitchFamily="18" charset="0"/>
              </a:rPr>
              <a:t>. Who </a:t>
            </a:r>
            <a:r>
              <a:rPr lang="en-US" sz="2000" b="1" dirty="0">
                <a:solidFill>
                  <a:srgbClr val="FF0000"/>
                </a:solidFill>
                <a:latin typeface="Times New Roman" pitchFamily="18" charset="0"/>
                <a:cs typeface="Times New Roman" pitchFamily="18" charset="0"/>
              </a:rPr>
              <a:t>is sitting right to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t>
            </a:r>
          </a:p>
          <a:p>
            <a:r>
              <a:rPr lang="en-US" sz="2000" b="1" dirty="0" smtClean="0">
                <a:solidFill>
                  <a:srgbClr val="FF0000"/>
                </a:solidFill>
                <a:latin typeface="Times New Roman" pitchFamily="18" charset="0"/>
                <a:cs typeface="Times New Roman" pitchFamily="18" charset="0"/>
              </a:rPr>
              <a:t>A. </a:t>
            </a:r>
            <a:r>
              <a:rPr lang="en-US" sz="2000" b="1" dirty="0" err="1" smtClean="0">
                <a:solidFill>
                  <a:srgbClr val="FF0000"/>
                </a:solidFill>
                <a:latin typeface="Times New Roman" pitchFamily="18" charset="0"/>
                <a:cs typeface="Times New Roman" pitchFamily="18" charset="0"/>
              </a:rPr>
              <a:t>Mukesh</a:t>
            </a:r>
            <a:r>
              <a:rPr lang="en-US" sz="2000" b="1" dirty="0" smtClean="0">
                <a:solidFill>
                  <a:srgbClr val="FF0000"/>
                </a:solidFill>
                <a:latin typeface="Times New Roman" pitchFamily="18" charset="0"/>
                <a:cs typeface="Times New Roman" pitchFamily="18" charset="0"/>
              </a:rPr>
              <a:t>	B. </a:t>
            </a:r>
            <a:r>
              <a:rPr lang="en-US" sz="2000" b="1" dirty="0" err="1" smtClean="0">
                <a:solidFill>
                  <a:srgbClr val="FF0000"/>
                </a:solidFill>
                <a:latin typeface="Times New Roman" pitchFamily="18" charset="0"/>
                <a:cs typeface="Times New Roman" pitchFamily="18" charset="0"/>
              </a:rPr>
              <a:t>Deepa</a:t>
            </a:r>
            <a:endParaRPr lang="en-US" sz="2000" b="1" dirty="0">
              <a:solidFill>
                <a:srgbClr val="FF0000"/>
              </a:solidFill>
              <a:latin typeface="Times New Roman" pitchFamily="18" charset="0"/>
              <a:cs typeface="Times New Roman" pitchFamily="18" charset="0"/>
            </a:endParaRPr>
          </a:p>
          <a:p>
            <a:r>
              <a:rPr lang="en-US" sz="2000" b="1" dirty="0" smtClean="0">
                <a:solidFill>
                  <a:srgbClr val="FF0000"/>
                </a:solidFill>
                <a:latin typeface="Times New Roman" pitchFamily="18" charset="0"/>
                <a:cs typeface="Times New Roman" pitchFamily="18" charset="0"/>
              </a:rPr>
              <a:t>C. </a:t>
            </a:r>
            <a:r>
              <a:rPr lang="en-US" sz="2000" b="1" dirty="0" err="1" smtClean="0">
                <a:solidFill>
                  <a:srgbClr val="FF0000"/>
                </a:solidFill>
                <a:latin typeface="Times New Roman" pitchFamily="18" charset="0"/>
                <a:cs typeface="Times New Roman" pitchFamily="18" charset="0"/>
              </a:rPr>
              <a:t>Pankaj</a:t>
            </a:r>
            <a:r>
              <a:rPr lang="en-US" sz="2000" b="1" dirty="0" smtClean="0">
                <a:solidFill>
                  <a:srgbClr val="FF0000"/>
                </a:solidFill>
                <a:latin typeface="Times New Roman" pitchFamily="18" charset="0"/>
                <a:cs typeface="Times New Roman" pitchFamily="18" charset="0"/>
              </a:rPr>
              <a:t>	D. </a:t>
            </a:r>
            <a:r>
              <a:rPr lang="en-US" sz="2000" b="1" dirty="0" err="1" smtClean="0">
                <a:solidFill>
                  <a:srgbClr val="FF0000"/>
                </a:solidFill>
                <a:latin typeface="Times New Roman" pitchFamily="18" charset="0"/>
                <a:cs typeface="Times New Roman" pitchFamily="18" charset="0"/>
              </a:rPr>
              <a:t>Lalit</a:t>
            </a:r>
            <a:endParaRPr lang="en-US" sz="2000" b="1" dirty="0">
              <a:solidFill>
                <a:srgbClr val="FF0000"/>
              </a:solidFill>
              <a:latin typeface="Times New Roman" pitchFamily="18" charset="0"/>
              <a:cs typeface="Times New Roman" pitchFamily="18" charset="0"/>
            </a:endParaRPr>
          </a:p>
        </p:txBody>
      </p:sp>
      <p:sp>
        <p:nvSpPr>
          <p:cNvPr id="4" name="Rectangle 3"/>
          <p:cNvSpPr/>
          <p:nvPr/>
        </p:nvSpPr>
        <p:spPr>
          <a:xfrm>
            <a:off x="5029200" y="3119556"/>
            <a:ext cx="3162300" cy="707886"/>
          </a:xfrm>
          <a:prstGeom prst="rect">
            <a:avLst/>
          </a:prstGeom>
        </p:spPr>
        <p:txBody>
          <a:bodyPr wrap="square">
            <a:spAutoFit/>
          </a:bodyPr>
          <a:lstStyle/>
          <a:p>
            <a:r>
              <a:rPr lang="en-US" sz="2000" b="1" dirty="0">
                <a:latin typeface="Times New Roman" pitchFamily="18" charset="0"/>
                <a:cs typeface="Times New Roman" pitchFamily="18" charset="0"/>
              </a:rPr>
              <a:t>Hence, </a:t>
            </a:r>
            <a:r>
              <a:rPr lang="en-US" sz="2000" b="1" dirty="0" err="1">
                <a:latin typeface="Times New Roman" pitchFamily="18" charset="0"/>
                <a:cs typeface="Times New Roman" pitchFamily="18" charset="0"/>
              </a:rPr>
              <a:t>Lalit</a:t>
            </a:r>
            <a:r>
              <a:rPr lang="en-US" sz="2000" b="1" dirty="0">
                <a:latin typeface="Times New Roman" pitchFamily="18" charset="0"/>
                <a:cs typeface="Times New Roman" pitchFamily="18" charset="0"/>
              </a:rPr>
              <a:t> is sitting right to </a:t>
            </a:r>
            <a:r>
              <a:rPr lang="en-US" sz="2000" b="1" dirty="0" err="1">
                <a:latin typeface="Times New Roman" pitchFamily="18" charset="0"/>
                <a:cs typeface="Times New Roman" pitchFamily="18" charset="0"/>
              </a:rPr>
              <a:t>Prakash</a:t>
            </a:r>
            <a:r>
              <a:rPr lang="en-US" sz="2000" b="1" dirty="0">
                <a:latin typeface="Times New Roman" pitchFamily="18" charset="0"/>
                <a:cs typeface="Times New Roman" pitchFamily="18" charset="0"/>
              </a:rPr>
              <a:t>.</a:t>
            </a:r>
          </a:p>
        </p:txBody>
      </p:sp>
      <p:sp>
        <p:nvSpPr>
          <p:cNvPr id="21" name="Rectangle 20"/>
          <p:cNvSpPr/>
          <p:nvPr/>
        </p:nvSpPr>
        <p:spPr>
          <a:xfrm>
            <a:off x="2262019" y="57150"/>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Tree>
    <p:extLst>
      <p:ext uri="{BB962C8B-B14F-4D97-AF65-F5344CB8AC3E}">
        <p14:creationId xmlns:p14="http://schemas.microsoft.com/office/powerpoint/2010/main" val="187227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666750"/>
            <a:ext cx="89916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Six friends are sitting in a circle and are facing the centre of the circle. </a:t>
            </a:r>
            <a:r>
              <a:rPr lang="en-US" sz="2000" b="1" dirty="0" err="1">
                <a:solidFill>
                  <a:srgbClr val="FF0000"/>
                </a:solidFill>
                <a:latin typeface="Times New Roman" pitchFamily="18" charset="0"/>
                <a:cs typeface="Times New Roman" pitchFamily="18" charset="0"/>
              </a:rPr>
              <a:t>Deepa</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Pankaj</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Priti</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Lalit</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are opposite to each other.</a:t>
            </a:r>
          </a:p>
        </p:txBody>
      </p:sp>
      <p:grpSp>
        <p:nvGrpSpPr>
          <p:cNvPr id="38" name="Group 37"/>
          <p:cNvGrpSpPr/>
          <p:nvPr/>
        </p:nvGrpSpPr>
        <p:grpSpPr>
          <a:xfrm>
            <a:off x="1227697" y="2117288"/>
            <a:ext cx="2171700" cy="2247900"/>
            <a:chOff x="2895600" y="2266950"/>
            <a:chExt cx="2171700" cy="2247900"/>
          </a:xfrm>
        </p:grpSpPr>
        <p:sp>
          <p:nvSpPr>
            <p:cNvPr id="6" name="Oval 5"/>
            <p:cNvSpPr/>
            <p:nvPr/>
          </p:nvSpPr>
          <p:spPr>
            <a:xfrm>
              <a:off x="2895600" y="2343150"/>
              <a:ext cx="2133600" cy="205740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9" name="Straight Connector 8"/>
            <p:cNvCxnSpPr/>
            <p:nvPr/>
          </p:nvCxnSpPr>
          <p:spPr>
            <a:xfrm flipH="1">
              <a:off x="28956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49149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962400" y="428625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flipV="1">
              <a:off x="3048000" y="27241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3962400" y="2266950"/>
              <a:ext cx="0" cy="18311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V="1">
              <a:off x="4800600" y="2823090"/>
              <a:ext cx="228600" cy="129660"/>
            </a:xfrm>
            <a:prstGeom prst="line">
              <a:avLst/>
            </a:prstGeom>
          </p:spPr>
          <p:style>
            <a:lnRef idx="2">
              <a:schemeClr val="accent1"/>
            </a:lnRef>
            <a:fillRef idx="0">
              <a:schemeClr val="accent1"/>
            </a:fillRef>
            <a:effectRef idx="1">
              <a:schemeClr val="accent1"/>
            </a:effectRef>
            <a:fontRef idx="minor">
              <a:schemeClr val="tx1"/>
            </a:fontRef>
          </p:style>
        </p:cxnSp>
      </p:grpSp>
      <p:sp>
        <p:nvSpPr>
          <p:cNvPr id="40" name="Rectangle 39"/>
          <p:cNvSpPr/>
          <p:nvPr/>
        </p:nvSpPr>
        <p:spPr>
          <a:xfrm>
            <a:off x="1998079" y="4377372"/>
            <a:ext cx="888385" cy="369332"/>
          </a:xfrm>
          <a:prstGeom prst="rect">
            <a:avLst/>
          </a:prstGeom>
        </p:spPr>
        <p:txBody>
          <a:bodyPr wrap="none">
            <a:spAutoFit/>
          </a:bodyPr>
          <a:lstStyle/>
          <a:p>
            <a:r>
              <a:rPr lang="en-US" b="1" dirty="0" err="1" smtClean="0"/>
              <a:t>Deepa</a:t>
            </a:r>
            <a:endParaRPr lang="en-US" dirty="0"/>
          </a:p>
        </p:txBody>
      </p:sp>
      <p:sp>
        <p:nvSpPr>
          <p:cNvPr id="41" name="Rectangle 40"/>
          <p:cNvSpPr/>
          <p:nvPr/>
        </p:nvSpPr>
        <p:spPr>
          <a:xfrm>
            <a:off x="160897" y="3577272"/>
            <a:ext cx="917239" cy="369332"/>
          </a:xfrm>
          <a:prstGeom prst="rect">
            <a:avLst/>
          </a:prstGeom>
        </p:spPr>
        <p:txBody>
          <a:bodyPr wrap="none">
            <a:spAutoFit/>
          </a:bodyPr>
          <a:lstStyle/>
          <a:p>
            <a:r>
              <a:rPr lang="en-US" b="1" dirty="0" err="1" smtClean="0"/>
              <a:t>Pankaj</a:t>
            </a:r>
            <a:endParaRPr lang="en-US" b="1" dirty="0"/>
          </a:p>
        </p:txBody>
      </p:sp>
      <p:sp>
        <p:nvSpPr>
          <p:cNvPr id="43" name="Rectangle 42"/>
          <p:cNvSpPr/>
          <p:nvPr/>
        </p:nvSpPr>
        <p:spPr>
          <a:xfrm>
            <a:off x="1971688" y="1809750"/>
            <a:ext cx="817853" cy="369332"/>
          </a:xfrm>
          <a:prstGeom prst="rect">
            <a:avLst/>
          </a:prstGeom>
        </p:spPr>
        <p:txBody>
          <a:bodyPr wrap="none">
            <a:spAutoFit/>
          </a:bodyPr>
          <a:lstStyle/>
          <a:p>
            <a:r>
              <a:rPr lang="en-US" b="1" dirty="0" err="1" smtClean="0"/>
              <a:t>Preeti</a:t>
            </a:r>
            <a:endParaRPr lang="en-US" dirty="0"/>
          </a:p>
        </p:txBody>
      </p:sp>
      <p:sp>
        <p:nvSpPr>
          <p:cNvPr id="44" name="Rectangle 43"/>
          <p:cNvSpPr/>
          <p:nvPr/>
        </p:nvSpPr>
        <p:spPr>
          <a:xfrm>
            <a:off x="639162" y="2211506"/>
            <a:ext cx="1048685" cy="369332"/>
          </a:xfrm>
          <a:prstGeom prst="rect">
            <a:avLst/>
          </a:prstGeom>
        </p:spPr>
        <p:txBody>
          <a:bodyPr wrap="none">
            <a:spAutoFit/>
          </a:bodyPr>
          <a:lstStyle/>
          <a:p>
            <a:r>
              <a:rPr lang="en-US" b="1" dirty="0" err="1" smtClean="0"/>
              <a:t>Mukesh</a:t>
            </a:r>
            <a:endParaRPr lang="en-US" dirty="0"/>
          </a:p>
        </p:txBody>
      </p:sp>
      <p:sp>
        <p:nvSpPr>
          <p:cNvPr id="45" name="Rectangle 44"/>
          <p:cNvSpPr/>
          <p:nvPr/>
        </p:nvSpPr>
        <p:spPr>
          <a:xfrm>
            <a:off x="3513697" y="2466022"/>
            <a:ext cx="657552" cy="369332"/>
          </a:xfrm>
          <a:prstGeom prst="rect">
            <a:avLst/>
          </a:prstGeom>
        </p:spPr>
        <p:txBody>
          <a:bodyPr wrap="none">
            <a:spAutoFit/>
          </a:bodyPr>
          <a:lstStyle/>
          <a:p>
            <a:r>
              <a:rPr lang="en-US" b="1" dirty="0" err="1" smtClean="0"/>
              <a:t>Lalit</a:t>
            </a:r>
            <a:endParaRPr lang="en-US" b="1" dirty="0"/>
          </a:p>
        </p:txBody>
      </p:sp>
      <p:sp>
        <p:nvSpPr>
          <p:cNvPr id="47" name="Rectangle 46"/>
          <p:cNvSpPr/>
          <p:nvPr/>
        </p:nvSpPr>
        <p:spPr>
          <a:xfrm>
            <a:off x="3513697" y="3501072"/>
            <a:ext cx="1058303" cy="369332"/>
          </a:xfrm>
          <a:prstGeom prst="rect">
            <a:avLst/>
          </a:prstGeom>
        </p:spPr>
        <p:txBody>
          <a:bodyPr wrap="none">
            <a:spAutoFit/>
          </a:bodyPr>
          <a:lstStyle/>
          <a:p>
            <a:r>
              <a:rPr lang="en-US" b="1" dirty="0" err="1" smtClean="0"/>
              <a:t>Prakash</a:t>
            </a:r>
            <a:endParaRPr lang="en-US" dirty="0"/>
          </a:p>
        </p:txBody>
      </p:sp>
      <p:sp>
        <p:nvSpPr>
          <p:cNvPr id="20" name="Rectangle 19"/>
          <p:cNvSpPr/>
          <p:nvPr/>
        </p:nvSpPr>
        <p:spPr>
          <a:xfrm>
            <a:off x="4826000" y="1654075"/>
            <a:ext cx="4013200" cy="1015663"/>
          </a:xfrm>
          <a:prstGeom prst="rect">
            <a:avLst/>
          </a:prstGeom>
        </p:spPr>
        <p:txBody>
          <a:bodyPr wrap="square">
            <a:spAutoFit/>
          </a:bodyPr>
          <a:lstStyle/>
          <a:p>
            <a:r>
              <a:rPr lang="en-US" sz="2000" b="1" dirty="0">
                <a:latin typeface="Times New Roman" pitchFamily="18" charset="0"/>
                <a:cs typeface="Times New Roman" pitchFamily="18" charset="0"/>
              </a:rPr>
              <a:t>2. Who is just right to </a:t>
            </a:r>
            <a:r>
              <a:rPr lang="en-US" sz="2000" b="1" dirty="0" err="1">
                <a:latin typeface="Times New Roman" pitchFamily="18" charset="0"/>
                <a:cs typeface="Times New Roman" pitchFamily="18" charset="0"/>
              </a:rPr>
              <a:t>Pankaj</a:t>
            </a:r>
            <a:r>
              <a:rPr lang="en-US" sz="2000" b="1" dirty="0">
                <a:latin typeface="Times New Roman" pitchFamily="18" charset="0"/>
                <a:cs typeface="Times New Roman" pitchFamily="18" charset="0"/>
              </a:rPr>
              <a:t> ?</a:t>
            </a:r>
          </a:p>
          <a:p>
            <a:r>
              <a:rPr lang="en-US" sz="2000" b="1" dirty="0" smtClean="0">
                <a:latin typeface="Times New Roman" pitchFamily="18" charset="0"/>
                <a:cs typeface="Times New Roman" pitchFamily="18" charset="0"/>
              </a:rPr>
              <a:t>A. </a:t>
            </a:r>
            <a:r>
              <a:rPr lang="en-US" sz="2000" b="1" dirty="0" err="1" smtClean="0">
                <a:latin typeface="Times New Roman" pitchFamily="18" charset="0"/>
                <a:cs typeface="Times New Roman" pitchFamily="18" charset="0"/>
              </a:rPr>
              <a:t>Deepa</a:t>
            </a:r>
            <a:r>
              <a:rPr lang="en-US" sz="2000" b="1" dirty="0">
                <a:latin typeface="Times New Roman" pitchFamily="18" charset="0"/>
                <a:cs typeface="Times New Roman" pitchFamily="18" charset="0"/>
              </a:rPr>
              <a:t>	B. </a:t>
            </a:r>
            <a:r>
              <a:rPr lang="en-US" sz="2000" b="1" dirty="0" err="1">
                <a:latin typeface="Times New Roman" pitchFamily="18" charset="0"/>
                <a:cs typeface="Times New Roman" pitchFamily="18" charset="0"/>
              </a:rPr>
              <a:t>Lalit</a:t>
            </a:r>
            <a:r>
              <a:rPr lang="en-US" sz="2000" b="1" dirty="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C</a:t>
            </a: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Prakash</a:t>
            </a: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D.Priti</a:t>
            </a:r>
            <a:endParaRPr lang="en-US" sz="2000" b="1" dirty="0">
              <a:latin typeface="Times New Roman" pitchFamily="18" charset="0"/>
              <a:cs typeface="Times New Roman" pitchFamily="18" charset="0"/>
            </a:endParaRPr>
          </a:p>
        </p:txBody>
      </p:sp>
      <p:sp>
        <p:nvSpPr>
          <p:cNvPr id="4" name="Rectangle 3"/>
          <p:cNvSpPr/>
          <p:nvPr/>
        </p:nvSpPr>
        <p:spPr>
          <a:xfrm>
            <a:off x="5029200" y="3119556"/>
            <a:ext cx="3162300" cy="707886"/>
          </a:xfrm>
          <a:prstGeom prst="rect">
            <a:avLst/>
          </a:prstGeom>
        </p:spPr>
        <p:txBody>
          <a:bodyPr wrap="square">
            <a:spAutoFit/>
          </a:bodyPr>
          <a:lstStyle/>
          <a:p>
            <a:r>
              <a:rPr lang="en-US" sz="2000" b="1" dirty="0">
                <a:latin typeface="Times New Roman" pitchFamily="18" charset="0"/>
                <a:cs typeface="Times New Roman" pitchFamily="18" charset="0"/>
              </a:rPr>
              <a:t>Hence, </a:t>
            </a:r>
            <a:r>
              <a:rPr lang="en-US" sz="2000" b="1" dirty="0" err="1" smtClean="0">
                <a:latin typeface="Times New Roman" pitchFamily="18" charset="0"/>
                <a:cs typeface="Times New Roman" pitchFamily="18" charset="0"/>
              </a:rPr>
              <a:t>Deepa</a:t>
            </a:r>
            <a:r>
              <a:rPr lang="en-US" sz="2000" b="1" dirty="0" smtClean="0">
                <a:latin typeface="Times New Roman" pitchFamily="18" charset="0"/>
                <a:cs typeface="Times New Roman" pitchFamily="18" charset="0"/>
              </a:rPr>
              <a:t> is </a:t>
            </a:r>
            <a:r>
              <a:rPr lang="en-US" sz="2000" b="1" dirty="0">
                <a:latin typeface="Times New Roman" pitchFamily="18" charset="0"/>
                <a:cs typeface="Times New Roman" pitchFamily="18" charset="0"/>
              </a:rPr>
              <a:t>sitting right to </a:t>
            </a:r>
            <a:r>
              <a:rPr lang="en-US" sz="2000" b="1" dirty="0" err="1" smtClean="0">
                <a:latin typeface="Times New Roman" pitchFamily="18" charset="0"/>
                <a:cs typeface="Times New Roman" pitchFamily="18" charset="0"/>
              </a:rPr>
              <a:t>Pankaj</a:t>
            </a:r>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p:txBody>
      </p:sp>
      <p:sp>
        <p:nvSpPr>
          <p:cNvPr id="21" name="Rectangle 20"/>
          <p:cNvSpPr/>
          <p:nvPr/>
        </p:nvSpPr>
        <p:spPr>
          <a:xfrm>
            <a:off x="2262019" y="57150"/>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Tree>
    <p:extLst>
      <p:ext uri="{BB962C8B-B14F-4D97-AF65-F5344CB8AC3E}">
        <p14:creationId xmlns:p14="http://schemas.microsoft.com/office/powerpoint/2010/main" val="212308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666750"/>
            <a:ext cx="89916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Six friends are sitting in a circle and are facing the centre of the circle. </a:t>
            </a:r>
            <a:r>
              <a:rPr lang="en-US" sz="2000" b="1" dirty="0" err="1">
                <a:solidFill>
                  <a:srgbClr val="FF0000"/>
                </a:solidFill>
                <a:latin typeface="Times New Roman" pitchFamily="18" charset="0"/>
                <a:cs typeface="Times New Roman" pitchFamily="18" charset="0"/>
              </a:rPr>
              <a:t>Deepa</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Pankaj</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Priti</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Lalit</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are opposite to each other.</a:t>
            </a:r>
          </a:p>
        </p:txBody>
      </p:sp>
      <p:grpSp>
        <p:nvGrpSpPr>
          <p:cNvPr id="38" name="Group 37"/>
          <p:cNvGrpSpPr/>
          <p:nvPr/>
        </p:nvGrpSpPr>
        <p:grpSpPr>
          <a:xfrm>
            <a:off x="1227697" y="2117288"/>
            <a:ext cx="2171700" cy="2247900"/>
            <a:chOff x="2895600" y="2266950"/>
            <a:chExt cx="2171700" cy="2247900"/>
          </a:xfrm>
        </p:grpSpPr>
        <p:sp>
          <p:nvSpPr>
            <p:cNvPr id="6" name="Oval 5"/>
            <p:cNvSpPr/>
            <p:nvPr/>
          </p:nvSpPr>
          <p:spPr>
            <a:xfrm>
              <a:off x="2895600" y="2343150"/>
              <a:ext cx="2133600" cy="205740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9" name="Straight Connector 8"/>
            <p:cNvCxnSpPr/>
            <p:nvPr/>
          </p:nvCxnSpPr>
          <p:spPr>
            <a:xfrm flipH="1">
              <a:off x="28956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49149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962400" y="428625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flipV="1">
              <a:off x="3048000" y="27241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3962400" y="2266950"/>
              <a:ext cx="0" cy="18311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V="1">
              <a:off x="4800600" y="2823090"/>
              <a:ext cx="228600" cy="129660"/>
            </a:xfrm>
            <a:prstGeom prst="line">
              <a:avLst/>
            </a:prstGeom>
          </p:spPr>
          <p:style>
            <a:lnRef idx="2">
              <a:schemeClr val="accent1"/>
            </a:lnRef>
            <a:fillRef idx="0">
              <a:schemeClr val="accent1"/>
            </a:fillRef>
            <a:effectRef idx="1">
              <a:schemeClr val="accent1"/>
            </a:effectRef>
            <a:fontRef idx="minor">
              <a:schemeClr val="tx1"/>
            </a:fontRef>
          </p:style>
        </p:cxnSp>
      </p:grpSp>
      <p:sp>
        <p:nvSpPr>
          <p:cNvPr id="40" name="Rectangle 39"/>
          <p:cNvSpPr/>
          <p:nvPr/>
        </p:nvSpPr>
        <p:spPr>
          <a:xfrm>
            <a:off x="1998079" y="4377372"/>
            <a:ext cx="888385" cy="369332"/>
          </a:xfrm>
          <a:prstGeom prst="rect">
            <a:avLst/>
          </a:prstGeom>
        </p:spPr>
        <p:txBody>
          <a:bodyPr wrap="none">
            <a:spAutoFit/>
          </a:bodyPr>
          <a:lstStyle/>
          <a:p>
            <a:r>
              <a:rPr lang="en-US" b="1" dirty="0" err="1" smtClean="0"/>
              <a:t>Deepa</a:t>
            </a:r>
            <a:endParaRPr lang="en-US" dirty="0"/>
          </a:p>
        </p:txBody>
      </p:sp>
      <p:sp>
        <p:nvSpPr>
          <p:cNvPr id="41" name="Rectangle 40"/>
          <p:cNvSpPr/>
          <p:nvPr/>
        </p:nvSpPr>
        <p:spPr>
          <a:xfrm>
            <a:off x="160897" y="3577272"/>
            <a:ext cx="917239" cy="369332"/>
          </a:xfrm>
          <a:prstGeom prst="rect">
            <a:avLst/>
          </a:prstGeom>
        </p:spPr>
        <p:txBody>
          <a:bodyPr wrap="none">
            <a:spAutoFit/>
          </a:bodyPr>
          <a:lstStyle/>
          <a:p>
            <a:r>
              <a:rPr lang="en-US" b="1" dirty="0" err="1" smtClean="0"/>
              <a:t>Pankaj</a:t>
            </a:r>
            <a:endParaRPr lang="en-US" b="1" dirty="0"/>
          </a:p>
        </p:txBody>
      </p:sp>
      <p:sp>
        <p:nvSpPr>
          <p:cNvPr id="43" name="Rectangle 42"/>
          <p:cNvSpPr/>
          <p:nvPr/>
        </p:nvSpPr>
        <p:spPr>
          <a:xfrm>
            <a:off x="1971688" y="1809750"/>
            <a:ext cx="817853" cy="369332"/>
          </a:xfrm>
          <a:prstGeom prst="rect">
            <a:avLst/>
          </a:prstGeom>
        </p:spPr>
        <p:txBody>
          <a:bodyPr wrap="none">
            <a:spAutoFit/>
          </a:bodyPr>
          <a:lstStyle/>
          <a:p>
            <a:r>
              <a:rPr lang="en-US" b="1" dirty="0" err="1" smtClean="0"/>
              <a:t>Preeti</a:t>
            </a:r>
            <a:endParaRPr lang="en-US" dirty="0"/>
          </a:p>
        </p:txBody>
      </p:sp>
      <p:sp>
        <p:nvSpPr>
          <p:cNvPr id="44" name="Rectangle 43"/>
          <p:cNvSpPr/>
          <p:nvPr/>
        </p:nvSpPr>
        <p:spPr>
          <a:xfrm>
            <a:off x="639162" y="2211506"/>
            <a:ext cx="1048685" cy="369332"/>
          </a:xfrm>
          <a:prstGeom prst="rect">
            <a:avLst/>
          </a:prstGeom>
        </p:spPr>
        <p:txBody>
          <a:bodyPr wrap="none">
            <a:spAutoFit/>
          </a:bodyPr>
          <a:lstStyle/>
          <a:p>
            <a:r>
              <a:rPr lang="en-US" b="1" dirty="0" err="1" smtClean="0"/>
              <a:t>Mukesh</a:t>
            </a:r>
            <a:endParaRPr lang="en-US" dirty="0"/>
          </a:p>
        </p:txBody>
      </p:sp>
      <p:sp>
        <p:nvSpPr>
          <p:cNvPr id="45" name="Rectangle 44"/>
          <p:cNvSpPr/>
          <p:nvPr/>
        </p:nvSpPr>
        <p:spPr>
          <a:xfrm>
            <a:off x="3513697" y="2466022"/>
            <a:ext cx="657552" cy="369332"/>
          </a:xfrm>
          <a:prstGeom prst="rect">
            <a:avLst/>
          </a:prstGeom>
        </p:spPr>
        <p:txBody>
          <a:bodyPr wrap="none">
            <a:spAutoFit/>
          </a:bodyPr>
          <a:lstStyle/>
          <a:p>
            <a:r>
              <a:rPr lang="en-US" b="1" dirty="0" err="1" smtClean="0"/>
              <a:t>Lalit</a:t>
            </a:r>
            <a:endParaRPr lang="en-US" b="1" dirty="0"/>
          </a:p>
        </p:txBody>
      </p:sp>
      <p:sp>
        <p:nvSpPr>
          <p:cNvPr id="47" name="Rectangle 46"/>
          <p:cNvSpPr/>
          <p:nvPr/>
        </p:nvSpPr>
        <p:spPr>
          <a:xfrm>
            <a:off x="3513697" y="3501072"/>
            <a:ext cx="1058303" cy="369332"/>
          </a:xfrm>
          <a:prstGeom prst="rect">
            <a:avLst/>
          </a:prstGeom>
        </p:spPr>
        <p:txBody>
          <a:bodyPr wrap="none">
            <a:spAutoFit/>
          </a:bodyPr>
          <a:lstStyle/>
          <a:p>
            <a:r>
              <a:rPr lang="en-US" b="1" dirty="0" err="1" smtClean="0"/>
              <a:t>Prakash</a:t>
            </a:r>
            <a:endParaRPr lang="en-US" dirty="0"/>
          </a:p>
        </p:txBody>
      </p:sp>
      <p:sp>
        <p:nvSpPr>
          <p:cNvPr id="20" name="Rectangle 19"/>
          <p:cNvSpPr/>
          <p:nvPr/>
        </p:nvSpPr>
        <p:spPr>
          <a:xfrm>
            <a:off x="4826000" y="1540520"/>
            <a:ext cx="4013200" cy="1938992"/>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3. Who are the neighbors of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t>
            </a:r>
          </a:p>
          <a:p>
            <a:r>
              <a:rPr lang="en-US" sz="2000" b="1" dirty="0" smtClean="0">
                <a:solidFill>
                  <a:srgbClr val="FF0000"/>
                </a:solidFill>
                <a:latin typeface="Times New Roman" pitchFamily="18" charset="0"/>
                <a:cs typeface="Times New Roman" pitchFamily="18" charset="0"/>
              </a:rPr>
              <a:t>A. </a:t>
            </a:r>
            <a:r>
              <a:rPr lang="en-US" sz="2000" b="1" dirty="0" err="1" smtClean="0">
                <a:solidFill>
                  <a:srgbClr val="FF0000"/>
                </a:solidFill>
                <a:latin typeface="Times New Roman" pitchFamily="18" charset="0"/>
                <a:cs typeface="Times New Roman" pitchFamily="18" charset="0"/>
              </a:rPr>
              <a:t>Prakash</a:t>
            </a:r>
            <a:r>
              <a:rPr lang="en-US" sz="2000" b="1" dirty="0" smtClean="0">
                <a:solidFill>
                  <a:srgbClr val="FF000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and </a:t>
            </a:r>
            <a:r>
              <a:rPr lang="en-US" sz="2000" b="1" dirty="0" err="1">
                <a:solidFill>
                  <a:srgbClr val="FF0000"/>
                </a:solidFill>
                <a:latin typeface="Times New Roman" pitchFamily="18" charset="0"/>
                <a:cs typeface="Times New Roman" pitchFamily="18" charset="0"/>
              </a:rPr>
              <a:t>Deepa</a:t>
            </a:r>
            <a:r>
              <a:rPr lang="en-US" sz="2000" b="1" dirty="0">
                <a:solidFill>
                  <a:srgbClr val="FF0000"/>
                </a:solidFill>
                <a:latin typeface="Times New Roman" pitchFamily="18" charset="0"/>
                <a:cs typeface="Times New Roman" pitchFamily="18" charset="0"/>
              </a:rPr>
              <a:t>	</a:t>
            </a:r>
            <a:endParaRPr lang="en-US" sz="2000" b="1" dirty="0" smtClean="0">
              <a:solidFill>
                <a:srgbClr val="FF0000"/>
              </a:solidFill>
              <a:latin typeface="Times New Roman" pitchFamily="18" charset="0"/>
              <a:cs typeface="Times New Roman" pitchFamily="18" charset="0"/>
            </a:endParaRPr>
          </a:p>
          <a:p>
            <a:r>
              <a:rPr lang="en-US" sz="2000" b="1" dirty="0" smtClean="0">
                <a:solidFill>
                  <a:srgbClr val="FF0000"/>
                </a:solidFill>
                <a:latin typeface="Times New Roman" pitchFamily="18" charset="0"/>
                <a:cs typeface="Times New Roman" pitchFamily="18" charset="0"/>
              </a:rPr>
              <a:t>B</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Deepa</a:t>
            </a:r>
            <a:r>
              <a:rPr lang="en-US" sz="2000" b="1" dirty="0">
                <a:solidFill>
                  <a:srgbClr val="FF0000"/>
                </a:solidFill>
                <a:latin typeface="Times New Roman" pitchFamily="18" charset="0"/>
                <a:cs typeface="Times New Roman" pitchFamily="18" charset="0"/>
              </a:rPr>
              <a:t> and </a:t>
            </a:r>
            <a:r>
              <a:rPr lang="en-US" sz="2000" b="1" dirty="0" err="1" smtClean="0">
                <a:solidFill>
                  <a:srgbClr val="FF0000"/>
                </a:solidFill>
                <a:latin typeface="Times New Roman" pitchFamily="18" charset="0"/>
                <a:cs typeface="Times New Roman" pitchFamily="18" charset="0"/>
              </a:rPr>
              <a:t>Priti</a:t>
            </a:r>
            <a:endParaRPr lang="en-US" sz="2000" b="1" dirty="0" smtClean="0">
              <a:solidFill>
                <a:srgbClr val="FF0000"/>
              </a:solidFill>
              <a:latin typeface="Times New Roman" pitchFamily="18" charset="0"/>
              <a:cs typeface="Times New Roman" pitchFamily="18" charset="0"/>
            </a:endParaRPr>
          </a:p>
          <a:p>
            <a:r>
              <a:rPr lang="en-US" sz="2000" b="1" dirty="0" smtClean="0">
                <a:solidFill>
                  <a:srgbClr val="FF0000"/>
                </a:solidFill>
                <a:latin typeface="Times New Roman" pitchFamily="18" charset="0"/>
                <a:cs typeface="Times New Roman" pitchFamily="18" charset="0"/>
              </a:rPr>
              <a:t>C</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Priti</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Pankaj</a:t>
            </a:r>
            <a:r>
              <a:rPr lang="en-US" sz="2000" b="1" dirty="0">
                <a:solidFill>
                  <a:srgbClr val="FF0000"/>
                </a:solidFill>
                <a:latin typeface="Times New Roman" pitchFamily="18" charset="0"/>
                <a:cs typeface="Times New Roman" pitchFamily="18" charset="0"/>
              </a:rPr>
              <a:t>	</a:t>
            </a:r>
            <a:endParaRPr lang="en-US" sz="2000" b="1" dirty="0" smtClean="0">
              <a:solidFill>
                <a:srgbClr val="FF0000"/>
              </a:solidFill>
              <a:latin typeface="Times New Roman" pitchFamily="18" charset="0"/>
              <a:cs typeface="Times New Roman" pitchFamily="18" charset="0"/>
            </a:endParaRPr>
          </a:p>
          <a:p>
            <a:r>
              <a:rPr lang="en-US" sz="2000" b="1" dirty="0" smtClean="0">
                <a:solidFill>
                  <a:srgbClr val="FF0000"/>
                </a:solidFill>
                <a:latin typeface="Times New Roman" pitchFamily="18" charset="0"/>
                <a:cs typeface="Times New Roman" pitchFamily="18" charset="0"/>
              </a:rPr>
              <a:t>D</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Lalit</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Priti</a:t>
            </a:r>
            <a:endParaRPr lang="en-US" sz="2000" b="1" dirty="0">
              <a:solidFill>
                <a:srgbClr val="FF0000"/>
              </a:solidFill>
              <a:latin typeface="Times New Roman" pitchFamily="18" charset="0"/>
              <a:cs typeface="Times New Roman" pitchFamily="18" charset="0"/>
            </a:endParaRPr>
          </a:p>
        </p:txBody>
      </p:sp>
      <p:sp>
        <p:nvSpPr>
          <p:cNvPr id="4" name="Rectangle 3"/>
          <p:cNvSpPr/>
          <p:nvPr/>
        </p:nvSpPr>
        <p:spPr>
          <a:xfrm>
            <a:off x="4965700" y="3562904"/>
            <a:ext cx="3162300" cy="707886"/>
          </a:xfrm>
          <a:prstGeom prst="rect">
            <a:avLst/>
          </a:prstGeom>
        </p:spPr>
        <p:txBody>
          <a:bodyPr wrap="square">
            <a:spAutoFit/>
          </a:bodyPr>
          <a:lstStyle/>
          <a:p>
            <a:r>
              <a:rPr lang="en-US" sz="2000" b="1" dirty="0">
                <a:latin typeface="Times New Roman" pitchFamily="18" charset="0"/>
                <a:cs typeface="Times New Roman" pitchFamily="18" charset="0"/>
              </a:rPr>
              <a:t>Hence, </a:t>
            </a:r>
            <a:r>
              <a:rPr lang="en-US" sz="2000" b="1" dirty="0" err="1" smtClean="0">
                <a:latin typeface="Times New Roman" pitchFamily="18" charset="0"/>
                <a:cs typeface="Times New Roman" pitchFamily="18" charset="0"/>
              </a:rPr>
              <a:t>Preeti</a:t>
            </a:r>
            <a:r>
              <a:rPr lang="en-US" sz="2000" b="1" dirty="0" smtClean="0">
                <a:latin typeface="Times New Roman" pitchFamily="18" charset="0"/>
                <a:cs typeface="Times New Roman" pitchFamily="18" charset="0"/>
              </a:rPr>
              <a:t> &amp; </a:t>
            </a:r>
            <a:r>
              <a:rPr lang="en-US" sz="2000" b="1" dirty="0" err="1" smtClean="0">
                <a:latin typeface="Times New Roman" pitchFamily="18" charset="0"/>
                <a:cs typeface="Times New Roman" pitchFamily="18" charset="0"/>
              </a:rPr>
              <a:t>Pankaj</a:t>
            </a:r>
            <a:r>
              <a:rPr lang="en-US" sz="2000" b="1" dirty="0" smtClean="0">
                <a:latin typeface="Times New Roman" pitchFamily="18" charset="0"/>
                <a:cs typeface="Times New Roman" pitchFamily="18" charset="0"/>
              </a:rPr>
              <a:t> are neighbor of </a:t>
            </a:r>
            <a:r>
              <a:rPr lang="en-US" sz="2000" b="1" dirty="0" err="1" smtClean="0">
                <a:latin typeface="Times New Roman" pitchFamily="18" charset="0"/>
                <a:cs typeface="Times New Roman" pitchFamily="18" charset="0"/>
              </a:rPr>
              <a:t>Mukesh</a:t>
            </a:r>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p:txBody>
      </p:sp>
      <p:sp>
        <p:nvSpPr>
          <p:cNvPr id="21" name="Rectangle 20"/>
          <p:cNvSpPr/>
          <p:nvPr/>
        </p:nvSpPr>
        <p:spPr>
          <a:xfrm>
            <a:off x="2262019" y="57150"/>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Tree>
    <p:extLst>
      <p:ext uri="{BB962C8B-B14F-4D97-AF65-F5344CB8AC3E}">
        <p14:creationId xmlns:p14="http://schemas.microsoft.com/office/powerpoint/2010/main" val="2206883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666750"/>
            <a:ext cx="89916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Six friends are sitting in a circle and are facing the centre of the circle. </a:t>
            </a:r>
            <a:r>
              <a:rPr lang="en-US" sz="2000" b="1" dirty="0" err="1">
                <a:solidFill>
                  <a:srgbClr val="FF0000"/>
                </a:solidFill>
                <a:latin typeface="Times New Roman" pitchFamily="18" charset="0"/>
                <a:cs typeface="Times New Roman" pitchFamily="18" charset="0"/>
              </a:rPr>
              <a:t>Deepa</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Pankaj</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Priti</a:t>
            </a:r>
            <a:r>
              <a:rPr lang="en-US" sz="2000" b="1" dirty="0">
                <a:solidFill>
                  <a:srgbClr val="FF0000"/>
                </a:solidFill>
                <a:latin typeface="Times New Roman" pitchFamily="18" charset="0"/>
                <a:cs typeface="Times New Roman" pitchFamily="18" charset="0"/>
              </a:rPr>
              <a:t> is between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Lalit</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and </a:t>
            </a:r>
            <a:r>
              <a:rPr lang="en-US" sz="2000" b="1" dirty="0" err="1">
                <a:solidFill>
                  <a:srgbClr val="FF0000"/>
                </a:solidFill>
                <a:latin typeface="Times New Roman" pitchFamily="18" charset="0"/>
                <a:cs typeface="Times New Roman" pitchFamily="18" charset="0"/>
              </a:rPr>
              <a:t>Mukesh</a:t>
            </a:r>
            <a:r>
              <a:rPr lang="en-US" sz="2000" b="1" dirty="0">
                <a:solidFill>
                  <a:srgbClr val="FF0000"/>
                </a:solidFill>
                <a:latin typeface="Times New Roman" pitchFamily="18" charset="0"/>
                <a:cs typeface="Times New Roman" pitchFamily="18" charset="0"/>
              </a:rPr>
              <a:t> are opposite to each other.</a:t>
            </a:r>
          </a:p>
        </p:txBody>
      </p:sp>
      <p:grpSp>
        <p:nvGrpSpPr>
          <p:cNvPr id="38" name="Group 37"/>
          <p:cNvGrpSpPr/>
          <p:nvPr/>
        </p:nvGrpSpPr>
        <p:grpSpPr>
          <a:xfrm>
            <a:off x="1227697" y="2117288"/>
            <a:ext cx="2171700" cy="2247900"/>
            <a:chOff x="2895600" y="2266950"/>
            <a:chExt cx="2171700" cy="2247900"/>
          </a:xfrm>
        </p:grpSpPr>
        <p:sp>
          <p:nvSpPr>
            <p:cNvPr id="6" name="Oval 5"/>
            <p:cNvSpPr/>
            <p:nvPr/>
          </p:nvSpPr>
          <p:spPr>
            <a:xfrm>
              <a:off x="2895600" y="2343150"/>
              <a:ext cx="2133600" cy="205740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9" name="Straight Connector 8"/>
            <p:cNvCxnSpPr/>
            <p:nvPr/>
          </p:nvCxnSpPr>
          <p:spPr>
            <a:xfrm flipH="1">
              <a:off x="28956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4914900" y="36385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962400" y="428625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flipV="1">
              <a:off x="3048000" y="2724150"/>
              <a:ext cx="1524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3962400" y="2266950"/>
              <a:ext cx="0" cy="18311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V="1">
              <a:off x="4800600" y="2823090"/>
              <a:ext cx="228600" cy="129660"/>
            </a:xfrm>
            <a:prstGeom prst="line">
              <a:avLst/>
            </a:prstGeom>
          </p:spPr>
          <p:style>
            <a:lnRef idx="2">
              <a:schemeClr val="accent1"/>
            </a:lnRef>
            <a:fillRef idx="0">
              <a:schemeClr val="accent1"/>
            </a:fillRef>
            <a:effectRef idx="1">
              <a:schemeClr val="accent1"/>
            </a:effectRef>
            <a:fontRef idx="minor">
              <a:schemeClr val="tx1"/>
            </a:fontRef>
          </p:style>
        </p:cxnSp>
      </p:grpSp>
      <p:sp>
        <p:nvSpPr>
          <p:cNvPr id="40" name="Rectangle 39"/>
          <p:cNvSpPr/>
          <p:nvPr/>
        </p:nvSpPr>
        <p:spPr>
          <a:xfrm>
            <a:off x="1998079" y="4377372"/>
            <a:ext cx="888385" cy="369332"/>
          </a:xfrm>
          <a:prstGeom prst="rect">
            <a:avLst/>
          </a:prstGeom>
        </p:spPr>
        <p:txBody>
          <a:bodyPr wrap="none">
            <a:spAutoFit/>
          </a:bodyPr>
          <a:lstStyle/>
          <a:p>
            <a:r>
              <a:rPr lang="en-US" b="1" dirty="0" err="1" smtClean="0"/>
              <a:t>Deepa</a:t>
            </a:r>
            <a:endParaRPr lang="en-US" dirty="0"/>
          </a:p>
        </p:txBody>
      </p:sp>
      <p:sp>
        <p:nvSpPr>
          <p:cNvPr id="41" name="Rectangle 40"/>
          <p:cNvSpPr/>
          <p:nvPr/>
        </p:nvSpPr>
        <p:spPr>
          <a:xfrm>
            <a:off x="160897" y="3577272"/>
            <a:ext cx="917239" cy="369332"/>
          </a:xfrm>
          <a:prstGeom prst="rect">
            <a:avLst/>
          </a:prstGeom>
        </p:spPr>
        <p:txBody>
          <a:bodyPr wrap="none">
            <a:spAutoFit/>
          </a:bodyPr>
          <a:lstStyle/>
          <a:p>
            <a:r>
              <a:rPr lang="en-US" b="1" dirty="0" err="1" smtClean="0"/>
              <a:t>Pankaj</a:t>
            </a:r>
            <a:endParaRPr lang="en-US" b="1" dirty="0"/>
          </a:p>
        </p:txBody>
      </p:sp>
      <p:sp>
        <p:nvSpPr>
          <p:cNvPr id="43" name="Rectangle 42"/>
          <p:cNvSpPr/>
          <p:nvPr/>
        </p:nvSpPr>
        <p:spPr>
          <a:xfrm>
            <a:off x="1971688" y="1809750"/>
            <a:ext cx="817853" cy="369332"/>
          </a:xfrm>
          <a:prstGeom prst="rect">
            <a:avLst/>
          </a:prstGeom>
        </p:spPr>
        <p:txBody>
          <a:bodyPr wrap="none">
            <a:spAutoFit/>
          </a:bodyPr>
          <a:lstStyle/>
          <a:p>
            <a:r>
              <a:rPr lang="en-US" b="1" dirty="0" err="1" smtClean="0"/>
              <a:t>Preeti</a:t>
            </a:r>
            <a:endParaRPr lang="en-US" dirty="0"/>
          </a:p>
        </p:txBody>
      </p:sp>
      <p:sp>
        <p:nvSpPr>
          <p:cNvPr id="44" name="Rectangle 43"/>
          <p:cNvSpPr/>
          <p:nvPr/>
        </p:nvSpPr>
        <p:spPr>
          <a:xfrm>
            <a:off x="639162" y="2211506"/>
            <a:ext cx="1048685" cy="369332"/>
          </a:xfrm>
          <a:prstGeom prst="rect">
            <a:avLst/>
          </a:prstGeom>
        </p:spPr>
        <p:txBody>
          <a:bodyPr wrap="none">
            <a:spAutoFit/>
          </a:bodyPr>
          <a:lstStyle/>
          <a:p>
            <a:r>
              <a:rPr lang="en-US" b="1" dirty="0" err="1" smtClean="0"/>
              <a:t>Mukesh</a:t>
            </a:r>
            <a:endParaRPr lang="en-US" dirty="0"/>
          </a:p>
        </p:txBody>
      </p:sp>
      <p:sp>
        <p:nvSpPr>
          <p:cNvPr id="45" name="Rectangle 44"/>
          <p:cNvSpPr/>
          <p:nvPr/>
        </p:nvSpPr>
        <p:spPr>
          <a:xfrm>
            <a:off x="3513697" y="2466022"/>
            <a:ext cx="657552" cy="369332"/>
          </a:xfrm>
          <a:prstGeom prst="rect">
            <a:avLst/>
          </a:prstGeom>
        </p:spPr>
        <p:txBody>
          <a:bodyPr wrap="none">
            <a:spAutoFit/>
          </a:bodyPr>
          <a:lstStyle/>
          <a:p>
            <a:r>
              <a:rPr lang="en-US" b="1" dirty="0" err="1" smtClean="0"/>
              <a:t>Lalit</a:t>
            </a:r>
            <a:endParaRPr lang="en-US" b="1" dirty="0"/>
          </a:p>
        </p:txBody>
      </p:sp>
      <p:sp>
        <p:nvSpPr>
          <p:cNvPr id="47" name="Rectangle 46"/>
          <p:cNvSpPr/>
          <p:nvPr/>
        </p:nvSpPr>
        <p:spPr>
          <a:xfrm>
            <a:off x="3513697" y="3501072"/>
            <a:ext cx="1058303" cy="369332"/>
          </a:xfrm>
          <a:prstGeom prst="rect">
            <a:avLst/>
          </a:prstGeom>
        </p:spPr>
        <p:txBody>
          <a:bodyPr wrap="none">
            <a:spAutoFit/>
          </a:bodyPr>
          <a:lstStyle/>
          <a:p>
            <a:r>
              <a:rPr lang="en-US" b="1" dirty="0" err="1" smtClean="0"/>
              <a:t>Prakash</a:t>
            </a:r>
            <a:endParaRPr lang="en-US" dirty="0"/>
          </a:p>
        </p:txBody>
      </p:sp>
      <p:sp>
        <p:nvSpPr>
          <p:cNvPr id="20" name="Rectangle 19"/>
          <p:cNvSpPr/>
          <p:nvPr/>
        </p:nvSpPr>
        <p:spPr>
          <a:xfrm>
            <a:off x="4826000" y="1540520"/>
            <a:ext cx="4013200" cy="1015663"/>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4. Who is sitting opposite to </a:t>
            </a:r>
            <a:r>
              <a:rPr lang="en-US" sz="2000" b="1" dirty="0" err="1">
                <a:solidFill>
                  <a:srgbClr val="FF0000"/>
                </a:solidFill>
                <a:latin typeface="Times New Roman" pitchFamily="18" charset="0"/>
                <a:cs typeface="Times New Roman" pitchFamily="18" charset="0"/>
              </a:rPr>
              <a:t>Priti</a:t>
            </a:r>
            <a:r>
              <a:rPr lang="en-US" sz="2000" b="1" dirty="0">
                <a:solidFill>
                  <a:srgbClr val="FF0000"/>
                </a:solidFill>
                <a:latin typeface="Times New Roman" pitchFamily="18" charset="0"/>
                <a:cs typeface="Times New Roman" pitchFamily="18" charset="0"/>
              </a:rPr>
              <a:t> ?</a:t>
            </a:r>
          </a:p>
          <a:p>
            <a:r>
              <a:rPr lang="en-US" sz="2000" b="1" dirty="0" smtClean="0">
                <a:solidFill>
                  <a:srgbClr val="FF0000"/>
                </a:solidFill>
                <a:latin typeface="Times New Roman" pitchFamily="18" charset="0"/>
                <a:cs typeface="Times New Roman" pitchFamily="18" charset="0"/>
              </a:rPr>
              <a:t>A. </a:t>
            </a:r>
            <a:r>
              <a:rPr lang="en-US" sz="2000" b="1" dirty="0" err="1" smtClean="0">
                <a:solidFill>
                  <a:srgbClr val="FF0000"/>
                </a:solidFill>
                <a:latin typeface="Times New Roman" pitchFamily="18" charset="0"/>
                <a:cs typeface="Times New Roman" pitchFamily="18" charset="0"/>
              </a:rPr>
              <a:t>Prakash</a:t>
            </a:r>
            <a:r>
              <a:rPr lang="en-US" sz="2000" b="1" dirty="0">
                <a:solidFill>
                  <a:srgbClr val="FF0000"/>
                </a:solidFill>
                <a:latin typeface="Times New Roman" pitchFamily="18" charset="0"/>
                <a:cs typeface="Times New Roman" pitchFamily="18" charset="0"/>
              </a:rPr>
              <a:t>	B. </a:t>
            </a:r>
            <a:r>
              <a:rPr lang="en-US" sz="2000" b="1" dirty="0" err="1" smtClean="0">
                <a:solidFill>
                  <a:srgbClr val="FF0000"/>
                </a:solidFill>
                <a:latin typeface="Times New Roman" pitchFamily="18" charset="0"/>
                <a:cs typeface="Times New Roman" pitchFamily="18" charset="0"/>
              </a:rPr>
              <a:t>Deepa</a:t>
            </a:r>
            <a:endParaRPr lang="en-US" sz="2000" b="1" dirty="0" smtClean="0">
              <a:solidFill>
                <a:srgbClr val="FF0000"/>
              </a:solidFill>
              <a:latin typeface="Times New Roman" pitchFamily="18" charset="0"/>
              <a:cs typeface="Times New Roman" pitchFamily="18" charset="0"/>
            </a:endParaRPr>
          </a:p>
          <a:p>
            <a:r>
              <a:rPr lang="en-US" sz="2000" b="1" dirty="0" smtClean="0">
                <a:solidFill>
                  <a:srgbClr val="FF0000"/>
                </a:solidFill>
                <a:latin typeface="Times New Roman" pitchFamily="18" charset="0"/>
                <a:cs typeface="Times New Roman" pitchFamily="18" charset="0"/>
              </a:rPr>
              <a:t>C</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Pankaj</a:t>
            </a:r>
            <a:r>
              <a:rPr lang="en-US" sz="2000" b="1" dirty="0">
                <a:solidFill>
                  <a:srgbClr val="FF0000"/>
                </a:solidFill>
                <a:latin typeface="Times New Roman" pitchFamily="18" charset="0"/>
                <a:cs typeface="Times New Roman" pitchFamily="18" charset="0"/>
              </a:rPr>
              <a:t>	D. </a:t>
            </a:r>
            <a:r>
              <a:rPr lang="en-US" sz="2000" b="1" dirty="0" err="1">
                <a:solidFill>
                  <a:srgbClr val="FF0000"/>
                </a:solidFill>
                <a:latin typeface="Times New Roman" pitchFamily="18" charset="0"/>
                <a:cs typeface="Times New Roman" pitchFamily="18" charset="0"/>
              </a:rPr>
              <a:t>Lalit</a:t>
            </a:r>
            <a:endParaRPr lang="en-US" sz="2000" b="1" dirty="0">
              <a:solidFill>
                <a:srgbClr val="FF0000"/>
              </a:solidFill>
              <a:latin typeface="Times New Roman" pitchFamily="18" charset="0"/>
              <a:cs typeface="Times New Roman" pitchFamily="18" charset="0"/>
            </a:endParaRPr>
          </a:p>
        </p:txBody>
      </p:sp>
      <p:sp>
        <p:nvSpPr>
          <p:cNvPr id="4" name="Rectangle 3"/>
          <p:cNvSpPr/>
          <p:nvPr/>
        </p:nvSpPr>
        <p:spPr>
          <a:xfrm>
            <a:off x="5029200" y="2855018"/>
            <a:ext cx="3162300" cy="707886"/>
          </a:xfrm>
          <a:prstGeom prst="rect">
            <a:avLst/>
          </a:prstGeom>
        </p:spPr>
        <p:txBody>
          <a:bodyPr wrap="square">
            <a:spAutoFit/>
          </a:bodyPr>
          <a:lstStyle/>
          <a:p>
            <a:r>
              <a:rPr lang="en-US" sz="2000" b="1" dirty="0">
                <a:latin typeface="Times New Roman" pitchFamily="18" charset="0"/>
                <a:cs typeface="Times New Roman" pitchFamily="18" charset="0"/>
              </a:rPr>
              <a:t>Hence, </a:t>
            </a:r>
            <a:r>
              <a:rPr lang="en-US" sz="2000" b="1" dirty="0" err="1" smtClean="0">
                <a:latin typeface="Times New Roman" pitchFamily="18" charset="0"/>
                <a:cs typeface="Times New Roman" pitchFamily="18" charset="0"/>
              </a:rPr>
              <a:t>Depa</a:t>
            </a:r>
            <a:r>
              <a:rPr lang="en-US" sz="2000" b="1" dirty="0" smtClean="0">
                <a:latin typeface="Times New Roman" pitchFamily="18" charset="0"/>
                <a:cs typeface="Times New Roman" pitchFamily="18" charset="0"/>
              </a:rPr>
              <a:t> is opposite of </a:t>
            </a:r>
            <a:r>
              <a:rPr lang="en-US" sz="2000" b="1" dirty="0" err="1" smtClean="0">
                <a:latin typeface="Times New Roman" pitchFamily="18" charset="0"/>
                <a:cs typeface="Times New Roman" pitchFamily="18" charset="0"/>
              </a:rPr>
              <a:t>Preeti</a:t>
            </a:r>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p:txBody>
      </p:sp>
      <p:sp>
        <p:nvSpPr>
          <p:cNvPr id="21" name="Rectangle 20"/>
          <p:cNvSpPr/>
          <p:nvPr/>
        </p:nvSpPr>
        <p:spPr>
          <a:xfrm>
            <a:off x="2262019" y="57150"/>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Tree>
    <p:extLst>
      <p:ext uri="{BB962C8B-B14F-4D97-AF65-F5344CB8AC3E}">
        <p14:creationId xmlns:p14="http://schemas.microsoft.com/office/powerpoint/2010/main" val="352391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514350"/>
            <a:ext cx="9144000" cy="1477328"/>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In an Exhibition seven cars of different companies - Cadillac, Ambassador, Fiat, </a:t>
            </a:r>
            <a:r>
              <a:rPr lang="en-US" b="1" dirty="0" err="1">
                <a:solidFill>
                  <a:srgbClr val="FF0000"/>
                </a:solidFill>
                <a:latin typeface="Times New Roman" pitchFamily="18" charset="0"/>
                <a:cs typeface="Times New Roman" pitchFamily="18" charset="0"/>
              </a:rPr>
              <a:t>Maruti</a:t>
            </a:r>
            <a:r>
              <a:rPr lang="en-US" b="1" dirty="0">
                <a:solidFill>
                  <a:srgbClr val="FF0000"/>
                </a:solidFill>
                <a:latin typeface="Times New Roman" pitchFamily="18" charset="0"/>
                <a:cs typeface="Times New Roman" pitchFamily="18" charset="0"/>
              </a:rPr>
              <a:t>, Mercedes, Bedford and Fargo are standing facing to east in the following order </a:t>
            </a:r>
            <a:r>
              <a:rPr lang="en-US"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1. Cadillac </a:t>
            </a:r>
            <a:r>
              <a:rPr lang="en-US" b="1" dirty="0">
                <a:solidFill>
                  <a:srgbClr val="FF0000"/>
                </a:solidFill>
                <a:latin typeface="Times New Roman" pitchFamily="18" charset="0"/>
                <a:cs typeface="Times New Roman" pitchFamily="18" charset="0"/>
              </a:rPr>
              <a:t>is next to right of </a:t>
            </a:r>
            <a:r>
              <a:rPr lang="en-US" b="1" dirty="0" smtClean="0">
                <a:solidFill>
                  <a:srgbClr val="FF0000"/>
                </a:solidFill>
                <a:latin typeface="Times New Roman" pitchFamily="18" charset="0"/>
                <a:cs typeface="Times New Roman" pitchFamily="18" charset="0"/>
              </a:rPr>
              <a:t>Fargo.	2. Fargo </a:t>
            </a:r>
            <a:r>
              <a:rPr lang="en-US" b="1" dirty="0">
                <a:solidFill>
                  <a:srgbClr val="FF0000"/>
                </a:solidFill>
                <a:latin typeface="Times New Roman" pitchFamily="18" charset="0"/>
                <a:cs typeface="Times New Roman" pitchFamily="18" charset="0"/>
              </a:rPr>
              <a:t>is fourth to the right of Fiat.</a:t>
            </a:r>
          </a:p>
          <a:p>
            <a:r>
              <a:rPr lang="en-US" b="1" dirty="0" smtClean="0">
                <a:solidFill>
                  <a:srgbClr val="FF0000"/>
                </a:solidFill>
                <a:latin typeface="Times New Roman" pitchFamily="18" charset="0"/>
                <a:cs typeface="Times New Roman" pitchFamily="18" charset="0"/>
              </a:rPr>
              <a:t>3. </a:t>
            </a:r>
            <a:r>
              <a:rPr lang="en-US" b="1" dirty="0" err="1" smtClean="0">
                <a:solidFill>
                  <a:srgbClr val="FF0000"/>
                </a:solidFill>
                <a:latin typeface="Times New Roman" pitchFamily="18" charset="0"/>
                <a:cs typeface="Times New Roman" pitchFamily="18" charset="0"/>
              </a:rPr>
              <a:t>Maruti</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car is between Ambassador and Bedford.</a:t>
            </a:r>
          </a:p>
          <a:p>
            <a:r>
              <a:rPr lang="en-US" b="1" dirty="0" smtClean="0">
                <a:solidFill>
                  <a:srgbClr val="FF0000"/>
                </a:solidFill>
                <a:latin typeface="Times New Roman" pitchFamily="18" charset="0"/>
                <a:cs typeface="Times New Roman" pitchFamily="18" charset="0"/>
              </a:rPr>
              <a:t>4</a:t>
            </a:r>
            <a:r>
              <a:rPr lang="en-US" b="1" dirty="0">
                <a:solidFill>
                  <a:srgbClr val="FF0000"/>
                </a:solidFill>
                <a:latin typeface="Times New Roman" pitchFamily="18" charset="0"/>
                <a:cs typeface="Times New Roman" pitchFamily="18" charset="0"/>
              </a:rPr>
              <a:t>. Fiat which is third to the left of Ambassador, is at one end.</a:t>
            </a:r>
          </a:p>
        </p:txBody>
      </p:sp>
      <p:sp>
        <p:nvSpPr>
          <p:cNvPr id="12" name="Rectangle 11"/>
          <p:cNvSpPr/>
          <p:nvPr/>
        </p:nvSpPr>
        <p:spPr>
          <a:xfrm>
            <a:off x="0" y="1809750"/>
            <a:ext cx="8648700" cy="1015663"/>
          </a:xfrm>
          <a:prstGeom prst="rect">
            <a:avLst/>
          </a:prstGeom>
        </p:spPr>
        <p:txBody>
          <a:bodyPr wrap="square">
            <a:spAutoFit/>
          </a:bodyPr>
          <a:lstStyle/>
          <a:p>
            <a:r>
              <a:rPr lang="en-US" sz="2000" b="1" dirty="0" smtClean="0">
                <a:latin typeface="Times New Roman" pitchFamily="18" charset="0"/>
                <a:cs typeface="Times New Roman" pitchFamily="18" charset="0"/>
              </a:rPr>
              <a:t>1.Which </a:t>
            </a:r>
            <a:r>
              <a:rPr lang="en-US" sz="2000" b="1" dirty="0">
                <a:latin typeface="Times New Roman" pitchFamily="18" charset="0"/>
                <a:cs typeface="Times New Roman" pitchFamily="18" charset="0"/>
              </a:rPr>
              <a:t>of the cars are on both the sides of </a:t>
            </a:r>
            <a:r>
              <a:rPr lang="en-US" sz="2000" b="1" dirty="0" err="1">
                <a:latin typeface="Times New Roman" pitchFamily="18" charset="0"/>
                <a:cs typeface="Times New Roman" pitchFamily="18" charset="0"/>
              </a:rPr>
              <a:t>cadillac</a:t>
            </a:r>
            <a:r>
              <a:rPr lang="en-US" sz="2000" b="1" dirty="0">
                <a:latin typeface="Times New Roman" pitchFamily="18" charset="0"/>
                <a:cs typeface="Times New Roman" pitchFamily="18" charset="0"/>
              </a:rPr>
              <a:t> car ?</a:t>
            </a:r>
          </a:p>
          <a:p>
            <a:r>
              <a:rPr lang="en-US" sz="2000" b="1" dirty="0" smtClean="0">
                <a:latin typeface="Times New Roman" pitchFamily="18" charset="0"/>
                <a:cs typeface="Times New Roman" pitchFamily="18" charset="0"/>
              </a:rPr>
              <a:t>A. Ambassador </a:t>
            </a:r>
            <a:r>
              <a:rPr lang="en-US" sz="2000" b="1" dirty="0">
                <a:latin typeface="Times New Roman" pitchFamily="18" charset="0"/>
                <a:cs typeface="Times New Roman" pitchFamily="18" charset="0"/>
              </a:rPr>
              <a:t>and </a:t>
            </a:r>
            <a:r>
              <a:rPr lang="en-US" sz="2000" b="1" dirty="0" err="1" smtClean="0">
                <a:latin typeface="Times New Roman" pitchFamily="18" charset="0"/>
                <a:cs typeface="Times New Roman" pitchFamily="18" charset="0"/>
              </a:rPr>
              <a:t>Maruti</a:t>
            </a:r>
            <a:r>
              <a:rPr lang="en-US" sz="2000" b="1" dirty="0" smtClean="0">
                <a:latin typeface="Times New Roman" pitchFamily="18" charset="0"/>
                <a:cs typeface="Times New Roman" pitchFamily="18" charset="0"/>
              </a:rPr>
              <a:t>		B. </a:t>
            </a:r>
            <a:r>
              <a:rPr lang="en-US" sz="2000" b="1" dirty="0" err="1" smtClean="0">
                <a:latin typeface="Times New Roman" pitchFamily="18" charset="0"/>
                <a:cs typeface="Times New Roman" pitchFamily="18" charset="0"/>
              </a:rPr>
              <a:t>Maruti</a:t>
            </a:r>
            <a:r>
              <a:rPr lang="en-US" sz="2000" b="1"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and Fiat</a:t>
            </a:r>
          </a:p>
          <a:p>
            <a:r>
              <a:rPr lang="en-US" sz="2000" b="1" dirty="0" smtClean="0">
                <a:latin typeface="Times New Roman" pitchFamily="18" charset="0"/>
                <a:cs typeface="Times New Roman" pitchFamily="18" charset="0"/>
              </a:rPr>
              <a:t>C. Fargo </a:t>
            </a:r>
            <a:r>
              <a:rPr lang="en-US" sz="2000" b="1" dirty="0">
                <a:latin typeface="Times New Roman" pitchFamily="18" charset="0"/>
                <a:cs typeface="Times New Roman" pitchFamily="18" charset="0"/>
              </a:rPr>
              <a:t>and </a:t>
            </a:r>
            <a:r>
              <a:rPr lang="en-US" sz="2000" b="1" dirty="0" smtClean="0">
                <a:latin typeface="Times New Roman" pitchFamily="18" charset="0"/>
                <a:cs typeface="Times New Roman" pitchFamily="18" charset="0"/>
              </a:rPr>
              <a:t>Mercedes			D. Ambassador </a:t>
            </a:r>
            <a:r>
              <a:rPr lang="en-US" sz="2000" b="1" dirty="0">
                <a:latin typeface="Times New Roman" pitchFamily="18" charset="0"/>
                <a:cs typeface="Times New Roman" pitchFamily="18" charset="0"/>
              </a:rPr>
              <a:t>and Fargo</a:t>
            </a:r>
          </a:p>
        </p:txBody>
      </p:sp>
      <p:sp>
        <p:nvSpPr>
          <p:cNvPr id="14" name="Rectangle 13"/>
          <p:cNvSpPr/>
          <p:nvPr/>
        </p:nvSpPr>
        <p:spPr>
          <a:xfrm>
            <a:off x="0" y="2800350"/>
            <a:ext cx="8813800" cy="10156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2000" b="1" dirty="0" smtClean="0">
                <a:solidFill>
                  <a:srgbClr val="FF0000"/>
                </a:solidFill>
                <a:latin typeface="Times New Roman" pitchFamily="18" charset="0"/>
                <a:cs typeface="Times New Roman" pitchFamily="18" charset="0"/>
              </a:rPr>
              <a:t>2.Which </a:t>
            </a:r>
            <a:r>
              <a:rPr lang="en-US" sz="2000" b="1" dirty="0">
                <a:solidFill>
                  <a:srgbClr val="FF0000"/>
                </a:solidFill>
                <a:latin typeface="Times New Roman" pitchFamily="18" charset="0"/>
                <a:cs typeface="Times New Roman" pitchFamily="18" charset="0"/>
              </a:rPr>
              <a:t>of the following statement is correct ?</a:t>
            </a:r>
          </a:p>
          <a:p>
            <a:r>
              <a:rPr lang="en-US" sz="2000" b="1" dirty="0" smtClean="0">
                <a:solidFill>
                  <a:srgbClr val="FF0000"/>
                </a:solidFill>
                <a:latin typeface="Times New Roman" pitchFamily="18" charset="0"/>
                <a:cs typeface="Times New Roman" pitchFamily="18" charset="0"/>
              </a:rPr>
              <a:t>A. </a:t>
            </a:r>
            <a:r>
              <a:rPr lang="en-US" sz="2000" b="1" dirty="0" err="1" smtClean="0">
                <a:solidFill>
                  <a:srgbClr val="FF0000"/>
                </a:solidFill>
                <a:latin typeface="Times New Roman" pitchFamily="18" charset="0"/>
                <a:cs typeface="Times New Roman" pitchFamily="18" charset="0"/>
              </a:rPr>
              <a:t>Maruti</a:t>
            </a:r>
            <a:r>
              <a:rPr lang="en-US" sz="2000" b="1" dirty="0" smtClean="0">
                <a:solidFill>
                  <a:srgbClr val="FF000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is next left of Ambassador</a:t>
            </a:r>
            <a:r>
              <a:rPr lang="en-US" sz="2000" b="1" dirty="0" smtClean="0">
                <a:solidFill>
                  <a:srgbClr val="FF0000"/>
                </a:solidFill>
                <a:latin typeface="Times New Roman" pitchFamily="18" charset="0"/>
                <a:cs typeface="Times New Roman" pitchFamily="18" charset="0"/>
              </a:rPr>
              <a:t>.	B. Bedford </a:t>
            </a:r>
            <a:r>
              <a:rPr lang="en-US" sz="2000" b="1" dirty="0">
                <a:solidFill>
                  <a:srgbClr val="FF0000"/>
                </a:solidFill>
                <a:latin typeface="Times New Roman" pitchFamily="18" charset="0"/>
                <a:cs typeface="Times New Roman" pitchFamily="18" charset="0"/>
              </a:rPr>
              <a:t>is next left of Fiat.</a:t>
            </a:r>
          </a:p>
          <a:p>
            <a:r>
              <a:rPr lang="en-US" sz="2000" b="1" dirty="0" smtClean="0">
                <a:solidFill>
                  <a:srgbClr val="FF0000"/>
                </a:solidFill>
                <a:latin typeface="Times New Roman" pitchFamily="18" charset="0"/>
                <a:cs typeface="Times New Roman" pitchFamily="18" charset="0"/>
              </a:rPr>
              <a:t>C. Bedford </a:t>
            </a:r>
            <a:r>
              <a:rPr lang="en-US" sz="2000" b="1" dirty="0">
                <a:solidFill>
                  <a:srgbClr val="FF0000"/>
                </a:solidFill>
                <a:latin typeface="Times New Roman" pitchFamily="18" charset="0"/>
                <a:cs typeface="Times New Roman" pitchFamily="18" charset="0"/>
              </a:rPr>
              <a:t>is at one end</a:t>
            </a:r>
            <a:r>
              <a:rPr lang="en-US" sz="2000" b="1" dirty="0" smtClean="0">
                <a:solidFill>
                  <a:srgbClr val="FF0000"/>
                </a:solidFill>
                <a:latin typeface="Times New Roman" pitchFamily="18" charset="0"/>
                <a:cs typeface="Times New Roman" pitchFamily="18" charset="0"/>
              </a:rPr>
              <a:t>.		D. Fiat </a:t>
            </a:r>
            <a:r>
              <a:rPr lang="en-US" sz="2000" b="1" dirty="0">
                <a:solidFill>
                  <a:srgbClr val="FF0000"/>
                </a:solidFill>
                <a:latin typeface="Times New Roman" pitchFamily="18" charset="0"/>
                <a:cs typeface="Times New Roman" pitchFamily="18" charset="0"/>
              </a:rPr>
              <a:t>is next second to the right of </a:t>
            </a:r>
            <a:r>
              <a:rPr lang="en-US" sz="2000" b="1" dirty="0" err="1">
                <a:solidFill>
                  <a:srgbClr val="FF0000"/>
                </a:solidFill>
                <a:latin typeface="Times New Roman" pitchFamily="18" charset="0"/>
                <a:cs typeface="Times New Roman" pitchFamily="18" charset="0"/>
              </a:rPr>
              <a:t>Maruti</a:t>
            </a:r>
            <a:r>
              <a:rPr lang="en-US" sz="2000" b="1" dirty="0">
                <a:solidFill>
                  <a:srgbClr val="FF0000"/>
                </a:solidFill>
                <a:latin typeface="Times New Roman" pitchFamily="18" charset="0"/>
                <a:cs typeface="Times New Roman" pitchFamily="18" charset="0"/>
              </a:rPr>
              <a:t>.</a:t>
            </a:r>
          </a:p>
        </p:txBody>
      </p:sp>
      <p:sp>
        <p:nvSpPr>
          <p:cNvPr id="16" name="Rectangle 15"/>
          <p:cNvSpPr/>
          <p:nvPr/>
        </p:nvSpPr>
        <p:spPr>
          <a:xfrm>
            <a:off x="25400" y="3855651"/>
            <a:ext cx="8966200" cy="9233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smtClean="0">
                <a:solidFill>
                  <a:srgbClr val="0070C0"/>
                </a:solidFill>
                <a:latin typeface="Times New Roman" pitchFamily="18" charset="0"/>
                <a:cs typeface="Times New Roman" pitchFamily="18" charset="0"/>
              </a:rPr>
              <a:t>3.Which </a:t>
            </a:r>
            <a:r>
              <a:rPr lang="en-US" b="1" dirty="0">
                <a:solidFill>
                  <a:srgbClr val="0070C0"/>
                </a:solidFill>
                <a:latin typeface="Times New Roman" pitchFamily="18" charset="0"/>
                <a:cs typeface="Times New Roman" pitchFamily="18" charset="0"/>
              </a:rPr>
              <a:t>one of the following statements is correct ?</a:t>
            </a:r>
          </a:p>
          <a:p>
            <a:r>
              <a:rPr lang="en-US" b="1" dirty="0" smtClean="0">
                <a:solidFill>
                  <a:srgbClr val="0070C0"/>
                </a:solidFill>
                <a:latin typeface="Times New Roman" pitchFamily="18" charset="0"/>
                <a:cs typeface="Times New Roman" pitchFamily="18" charset="0"/>
              </a:rPr>
              <a:t>A. Fargo </a:t>
            </a:r>
            <a:r>
              <a:rPr lang="en-US" b="1" dirty="0">
                <a:solidFill>
                  <a:srgbClr val="0070C0"/>
                </a:solidFill>
                <a:latin typeface="Times New Roman" pitchFamily="18" charset="0"/>
                <a:cs typeface="Times New Roman" pitchFamily="18" charset="0"/>
              </a:rPr>
              <a:t>car is in between Ambassador and </a:t>
            </a:r>
            <a:r>
              <a:rPr lang="en-US" b="1" dirty="0" smtClean="0">
                <a:solidFill>
                  <a:srgbClr val="0070C0"/>
                </a:solidFill>
                <a:latin typeface="Times New Roman" pitchFamily="18" charset="0"/>
                <a:cs typeface="Times New Roman" pitchFamily="18" charset="0"/>
              </a:rPr>
              <a:t>Fiat.</a:t>
            </a:r>
            <a:r>
              <a:rPr lang="en-US" b="1" dirty="0">
                <a:solidFill>
                  <a:srgbClr val="0070C0"/>
                </a:solidFill>
                <a:latin typeface="Times New Roman" pitchFamily="18" charset="0"/>
                <a:cs typeface="Times New Roman" pitchFamily="18" charset="0"/>
              </a:rPr>
              <a:t> </a:t>
            </a:r>
            <a:r>
              <a:rPr lang="en-US" b="1" dirty="0" smtClean="0">
                <a:solidFill>
                  <a:srgbClr val="0070C0"/>
                </a:solidFill>
                <a:latin typeface="Times New Roman" pitchFamily="18" charset="0"/>
                <a:cs typeface="Times New Roman" pitchFamily="18" charset="0"/>
              </a:rPr>
              <a:t>  B. Cadillac </a:t>
            </a:r>
            <a:r>
              <a:rPr lang="en-US" b="1" dirty="0">
                <a:solidFill>
                  <a:srgbClr val="0070C0"/>
                </a:solidFill>
                <a:latin typeface="Times New Roman" pitchFamily="18" charset="0"/>
                <a:cs typeface="Times New Roman" pitchFamily="18" charset="0"/>
              </a:rPr>
              <a:t>is next left to Mercedes car.</a:t>
            </a:r>
          </a:p>
          <a:p>
            <a:r>
              <a:rPr lang="en-US" b="1" smtClean="0">
                <a:solidFill>
                  <a:srgbClr val="0070C0"/>
                </a:solidFill>
                <a:latin typeface="Times New Roman" pitchFamily="18" charset="0"/>
                <a:cs typeface="Times New Roman" pitchFamily="18" charset="0"/>
              </a:rPr>
              <a:t>C. Fargo </a:t>
            </a:r>
            <a:r>
              <a:rPr lang="en-US" b="1" dirty="0">
                <a:solidFill>
                  <a:srgbClr val="0070C0"/>
                </a:solidFill>
                <a:latin typeface="Times New Roman" pitchFamily="18" charset="0"/>
                <a:cs typeface="Times New Roman" pitchFamily="18" charset="0"/>
              </a:rPr>
              <a:t>is next right of Cadillac</a:t>
            </a:r>
            <a:r>
              <a:rPr lang="en-US" b="1" dirty="0" smtClean="0">
                <a:solidFill>
                  <a:srgbClr val="0070C0"/>
                </a:solidFill>
                <a:latin typeface="Times New Roman" pitchFamily="18" charset="0"/>
                <a:cs typeface="Times New Roman" pitchFamily="18" charset="0"/>
              </a:rPr>
              <a:t>.		D. </a:t>
            </a:r>
            <a:r>
              <a:rPr lang="en-US" b="1" dirty="0" err="1" smtClean="0">
                <a:solidFill>
                  <a:srgbClr val="0070C0"/>
                </a:solidFill>
                <a:latin typeface="Times New Roman" pitchFamily="18" charset="0"/>
                <a:cs typeface="Times New Roman" pitchFamily="18" charset="0"/>
              </a:rPr>
              <a:t>Maruti</a:t>
            </a:r>
            <a:r>
              <a:rPr lang="en-US" b="1" dirty="0" smtClean="0">
                <a:solidFill>
                  <a:srgbClr val="0070C0"/>
                </a:solidFill>
                <a:latin typeface="Times New Roman" pitchFamily="18" charset="0"/>
                <a:cs typeface="Times New Roman" pitchFamily="18" charset="0"/>
              </a:rPr>
              <a:t> </a:t>
            </a:r>
            <a:r>
              <a:rPr lang="en-US" b="1" dirty="0">
                <a:solidFill>
                  <a:srgbClr val="0070C0"/>
                </a:solidFill>
                <a:latin typeface="Times New Roman" pitchFamily="18" charset="0"/>
                <a:cs typeface="Times New Roman" pitchFamily="18" charset="0"/>
              </a:rPr>
              <a:t>is fourth right of Mercedes.</a:t>
            </a:r>
          </a:p>
        </p:txBody>
      </p:sp>
      <p:sp>
        <p:nvSpPr>
          <p:cNvPr id="9" name="Rectangle 8"/>
          <p:cNvSpPr/>
          <p:nvPr/>
        </p:nvSpPr>
        <p:spPr>
          <a:xfrm>
            <a:off x="2262019" y="57150"/>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Tree>
    <p:extLst>
      <p:ext uri="{BB962C8B-B14F-4D97-AF65-F5344CB8AC3E}">
        <p14:creationId xmlns:p14="http://schemas.microsoft.com/office/powerpoint/2010/main" val="214292484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514350"/>
            <a:ext cx="8991600" cy="2246769"/>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In an Exhibition seven cars of different companies - Cadillac, Ambassador, Fiat, </a:t>
            </a:r>
            <a:r>
              <a:rPr lang="en-US" sz="2000" b="1" dirty="0" err="1">
                <a:solidFill>
                  <a:srgbClr val="FF0000"/>
                </a:solidFill>
                <a:latin typeface="Times New Roman" pitchFamily="18" charset="0"/>
                <a:cs typeface="Times New Roman" pitchFamily="18" charset="0"/>
              </a:rPr>
              <a:t>Maruti</a:t>
            </a:r>
            <a:r>
              <a:rPr lang="en-US" sz="2000" b="1" dirty="0">
                <a:solidFill>
                  <a:srgbClr val="FF0000"/>
                </a:solidFill>
                <a:latin typeface="Times New Roman" pitchFamily="18" charset="0"/>
                <a:cs typeface="Times New Roman" pitchFamily="18" charset="0"/>
              </a:rPr>
              <a:t>, Mercedes, Bedford and Fargo are standing facing to east in the following order </a:t>
            </a:r>
            <a:r>
              <a:rPr lang="en-US" sz="2000" b="1" dirty="0" smtClean="0">
                <a:solidFill>
                  <a:srgbClr val="FF0000"/>
                </a:solidFill>
                <a:latin typeface="Times New Roman" pitchFamily="18" charset="0"/>
                <a:cs typeface="Times New Roman" pitchFamily="18" charset="0"/>
              </a:rPr>
              <a:t>:</a:t>
            </a:r>
          </a:p>
          <a:p>
            <a:r>
              <a:rPr lang="en-US" sz="2000" b="1" dirty="0" smtClean="0">
                <a:solidFill>
                  <a:srgbClr val="FF0000"/>
                </a:solidFill>
                <a:latin typeface="Times New Roman" pitchFamily="18" charset="0"/>
                <a:cs typeface="Times New Roman" pitchFamily="18" charset="0"/>
              </a:rPr>
              <a:t>1. Cadillac </a:t>
            </a:r>
            <a:r>
              <a:rPr lang="en-US" sz="2000" b="1" dirty="0">
                <a:solidFill>
                  <a:srgbClr val="FF0000"/>
                </a:solidFill>
                <a:latin typeface="Times New Roman" pitchFamily="18" charset="0"/>
                <a:cs typeface="Times New Roman" pitchFamily="18" charset="0"/>
              </a:rPr>
              <a:t>is next to right of Fargo.</a:t>
            </a:r>
          </a:p>
          <a:p>
            <a:r>
              <a:rPr lang="en-US" sz="2000" b="1" dirty="0" smtClean="0">
                <a:solidFill>
                  <a:srgbClr val="FF0000"/>
                </a:solidFill>
                <a:latin typeface="Times New Roman" pitchFamily="18" charset="0"/>
                <a:cs typeface="Times New Roman" pitchFamily="18" charset="0"/>
              </a:rPr>
              <a:t>2. Fargo </a:t>
            </a:r>
            <a:r>
              <a:rPr lang="en-US" sz="2000" b="1" dirty="0">
                <a:solidFill>
                  <a:srgbClr val="FF0000"/>
                </a:solidFill>
                <a:latin typeface="Times New Roman" pitchFamily="18" charset="0"/>
                <a:cs typeface="Times New Roman" pitchFamily="18" charset="0"/>
              </a:rPr>
              <a:t>is fourth to the right of Fiat.</a:t>
            </a:r>
          </a:p>
          <a:p>
            <a:r>
              <a:rPr lang="en-US" sz="2000" b="1" dirty="0" smtClean="0">
                <a:solidFill>
                  <a:srgbClr val="FF0000"/>
                </a:solidFill>
                <a:latin typeface="Times New Roman" pitchFamily="18" charset="0"/>
                <a:cs typeface="Times New Roman" pitchFamily="18" charset="0"/>
              </a:rPr>
              <a:t>3. </a:t>
            </a:r>
            <a:r>
              <a:rPr lang="en-US" sz="2000" b="1" dirty="0" err="1" smtClean="0">
                <a:solidFill>
                  <a:srgbClr val="FF0000"/>
                </a:solidFill>
                <a:latin typeface="Times New Roman" pitchFamily="18" charset="0"/>
                <a:cs typeface="Times New Roman" pitchFamily="18" charset="0"/>
              </a:rPr>
              <a:t>Maruti</a:t>
            </a:r>
            <a:r>
              <a:rPr lang="en-US" sz="2000" b="1" dirty="0" smtClean="0">
                <a:solidFill>
                  <a:srgbClr val="FF000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car is between Ambassador and Bedford.</a:t>
            </a:r>
          </a:p>
          <a:p>
            <a:r>
              <a:rPr lang="en-US" sz="2000" b="1" dirty="0" smtClean="0">
                <a:solidFill>
                  <a:srgbClr val="FF0000"/>
                </a:solidFill>
                <a:latin typeface="Times New Roman" pitchFamily="18" charset="0"/>
                <a:cs typeface="Times New Roman" pitchFamily="18" charset="0"/>
              </a:rPr>
              <a:t>4</a:t>
            </a:r>
            <a:r>
              <a:rPr lang="en-US" sz="2000" b="1" dirty="0">
                <a:solidFill>
                  <a:srgbClr val="FF0000"/>
                </a:solidFill>
                <a:latin typeface="Times New Roman" pitchFamily="18" charset="0"/>
                <a:cs typeface="Times New Roman" pitchFamily="18" charset="0"/>
              </a:rPr>
              <a:t>. Fiat which is third to the left of Ambassador, is at one end.</a:t>
            </a:r>
          </a:p>
        </p:txBody>
      </p:sp>
      <p:sp>
        <p:nvSpPr>
          <p:cNvPr id="5" name="Rectangle 4"/>
          <p:cNvSpPr/>
          <p:nvPr/>
        </p:nvSpPr>
        <p:spPr>
          <a:xfrm>
            <a:off x="393700" y="2355850"/>
            <a:ext cx="61849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smtClean="0">
                <a:solidFill>
                  <a:srgbClr val="FF0000"/>
                </a:solidFill>
                <a:latin typeface="Times New Roman" pitchFamily="18" charset="0"/>
                <a:cs typeface="Times New Roman" pitchFamily="18" charset="0"/>
              </a:rPr>
              <a:t>Fiat </a:t>
            </a:r>
            <a:r>
              <a:rPr lang="en-US" b="1" dirty="0">
                <a:solidFill>
                  <a:srgbClr val="FF0000"/>
                </a:solidFill>
                <a:latin typeface="Times New Roman" pitchFamily="18" charset="0"/>
                <a:cs typeface="Times New Roman" pitchFamily="18" charset="0"/>
              </a:rPr>
              <a:t>which is third to the left of Ambassador, is at one end.</a:t>
            </a:r>
          </a:p>
        </p:txBody>
      </p:sp>
      <p:sp>
        <p:nvSpPr>
          <p:cNvPr id="23" name="Rectangle 22"/>
          <p:cNvSpPr/>
          <p:nvPr/>
        </p:nvSpPr>
        <p:spPr>
          <a:xfrm>
            <a:off x="7112000" y="1893530"/>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smtClean="0">
                <a:solidFill>
                  <a:srgbClr val="0070C0"/>
                </a:solidFill>
                <a:latin typeface="Times New Roman" pitchFamily="18" charset="0"/>
                <a:cs typeface="Times New Roman" pitchFamily="18" charset="0"/>
              </a:rPr>
              <a:t>1. </a:t>
            </a:r>
            <a:endParaRPr lang="en-US" b="1" dirty="0">
              <a:solidFill>
                <a:srgbClr val="0070C0"/>
              </a:solidFill>
              <a:latin typeface="Times New Roman" pitchFamily="18" charset="0"/>
              <a:cs typeface="Times New Roman" pitchFamily="18" charset="0"/>
            </a:endParaRPr>
          </a:p>
        </p:txBody>
      </p:sp>
      <p:sp>
        <p:nvSpPr>
          <p:cNvPr id="24" name="Rectangle 23"/>
          <p:cNvSpPr/>
          <p:nvPr/>
        </p:nvSpPr>
        <p:spPr>
          <a:xfrm>
            <a:off x="7112000" y="2318980"/>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2</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25" name="Rectangle 24"/>
          <p:cNvSpPr/>
          <p:nvPr/>
        </p:nvSpPr>
        <p:spPr>
          <a:xfrm>
            <a:off x="7112000" y="2788265"/>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3</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26" name="Rectangle 25"/>
          <p:cNvSpPr/>
          <p:nvPr/>
        </p:nvSpPr>
        <p:spPr>
          <a:xfrm>
            <a:off x="7099300" y="3221097"/>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4</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27" name="Rectangle 26"/>
          <p:cNvSpPr/>
          <p:nvPr/>
        </p:nvSpPr>
        <p:spPr>
          <a:xfrm>
            <a:off x="7099300" y="3640296"/>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5</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28" name="Rectangle 27"/>
          <p:cNvSpPr/>
          <p:nvPr/>
        </p:nvSpPr>
        <p:spPr>
          <a:xfrm>
            <a:off x="7099300" y="4078545"/>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6</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29" name="Rectangle 28"/>
          <p:cNvSpPr/>
          <p:nvPr/>
        </p:nvSpPr>
        <p:spPr>
          <a:xfrm>
            <a:off x="7086600" y="4535745"/>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7</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7" name="Rectangle 6"/>
          <p:cNvSpPr/>
          <p:nvPr/>
        </p:nvSpPr>
        <p:spPr>
          <a:xfrm>
            <a:off x="7564235" y="1885950"/>
            <a:ext cx="582211"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a:solidFill>
                  <a:srgbClr val="0070C0"/>
                </a:solidFill>
                <a:latin typeface="Times New Roman" pitchFamily="18" charset="0"/>
                <a:cs typeface="Times New Roman" pitchFamily="18" charset="0"/>
              </a:rPr>
              <a:t>Fiat</a:t>
            </a:r>
            <a:endParaRPr lang="en-US" dirty="0">
              <a:solidFill>
                <a:srgbClr val="0070C0"/>
              </a:solidFill>
            </a:endParaRPr>
          </a:p>
        </p:txBody>
      </p:sp>
      <p:sp>
        <p:nvSpPr>
          <p:cNvPr id="31" name="Rectangle 30"/>
          <p:cNvSpPr/>
          <p:nvPr/>
        </p:nvSpPr>
        <p:spPr>
          <a:xfrm>
            <a:off x="7564235" y="3221097"/>
            <a:ext cx="1428596"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a:solidFill>
                  <a:srgbClr val="0070C0"/>
                </a:solidFill>
                <a:latin typeface="Times New Roman" pitchFamily="18" charset="0"/>
                <a:cs typeface="Times New Roman" pitchFamily="18" charset="0"/>
              </a:rPr>
              <a:t>Ambassador</a:t>
            </a:r>
            <a:endParaRPr lang="en-US" dirty="0">
              <a:solidFill>
                <a:srgbClr val="0070C0"/>
              </a:solidFill>
            </a:endParaRPr>
          </a:p>
        </p:txBody>
      </p:sp>
      <p:sp>
        <p:nvSpPr>
          <p:cNvPr id="10" name="Rectangle 9"/>
          <p:cNvSpPr/>
          <p:nvPr/>
        </p:nvSpPr>
        <p:spPr>
          <a:xfrm>
            <a:off x="406400" y="1733550"/>
            <a:ext cx="3969356" cy="40011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sz="2000" b="1" dirty="0">
                <a:solidFill>
                  <a:srgbClr val="FF0000"/>
                </a:solidFill>
                <a:latin typeface="Times New Roman" pitchFamily="18" charset="0"/>
                <a:cs typeface="Times New Roman" pitchFamily="18" charset="0"/>
              </a:rPr>
              <a:t>Fargo is fourth to the right of Fiat.</a:t>
            </a:r>
          </a:p>
        </p:txBody>
      </p:sp>
      <p:sp>
        <p:nvSpPr>
          <p:cNvPr id="32" name="Rectangle 31"/>
          <p:cNvSpPr/>
          <p:nvPr/>
        </p:nvSpPr>
        <p:spPr>
          <a:xfrm>
            <a:off x="7564235" y="3640296"/>
            <a:ext cx="774571"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Fargo</a:t>
            </a:r>
            <a:endParaRPr lang="en-US" dirty="0">
              <a:solidFill>
                <a:srgbClr val="0070C0"/>
              </a:solidFill>
            </a:endParaRPr>
          </a:p>
        </p:txBody>
      </p:sp>
      <p:sp>
        <p:nvSpPr>
          <p:cNvPr id="11" name="Rectangle 10"/>
          <p:cNvSpPr/>
          <p:nvPr/>
        </p:nvSpPr>
        <p:spPr>
          <a:xfrm>
            <a:off x="393700" y="2059583"/>
            <a:ext cx="5473700" cy="40011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2000" b="1" dirty="0" err="1">
                <a:solidFill>
                  <a:srgbClr val="FF0000"/>
                </a:solidFill>
                <a:latin typeface="Times New Roman" pitchFamily="18" charset="0"/>
                <a:cs typeface="Times New Roman" pitchFamily="18" charset="0"/>
              </a:rPr>
              <a:t>Maruti</a:t>
            </a:r>
            <a:r>
              <a:rPr lang="en-US" sz="2000" b="1" dirty="0">
                <a:solidFill>
                  <a:srgbClr val="FF0000"/>
                </a:solidFill>
                <a:latin typeface="Times New Roman" pitchFamily="18" charset="0"/>
                <a:cs typeface="Times New Roman" pitchFamily="18" charset="0"/>
              </a:rPr>
              <a:t> car is between Ambassador and Bedford</a:t>
            </a:r>
            <a:endParaRPr lang="en-US" sz="2000" dirty="0"/>
          </a:p>
        </p:txBody>
      </p:sp>
      <p:sp>
        <p:nvSpPr>
          <p:cNvPr id="34" name="Rectangle 33"/>
          <p:cNvSpPr/>
          <p:nvPr/>
        </p:nvSpPr>
        <p:spPr>
          <a:xfrm>
            <a:off x="7620000" y="2785190"/>
            <a:ext cx="889987"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err="1" smtClean="0">
                <a:solidFill>
                  <a:srgbClr val="0070C0"/>
                </a:solidFill>
                <a:latin typeface="Times New Roman" pitchFamily="18" charset="0"/>
                <a:cs typeface="Times New Roman" pitchFamily="18" charset="0"/>
              </a:rPr>
              <a:t>Maruti</a:t>
            </a:r>
            <a:endParaRPr lang="en-US" dirty="0">
              <a:solidFill>
                <a:srgbClr val="0070C0"/>
              </a:solidFill>
            </a:endParaRPr>
          </a:p>
        </p:txBody>
      </p:sp>
      <p:sp>
        <p:nvSpPr>
          <p:cNvPr id="35" name="Rectangle 34"/>
          <p:cNvSpPr/>
          <p:nvPr/>
        </p:nvSpPr>
        <p:spPr>
          <a:xfrm>
            <a:off x="7583720" y="2321739"/>
            <a:ext cx="992579"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Bedford</a:t>
            </a:r>
            <a:endParaRPr lang="en-US" dirty="0">
              <a:solidFill>
                <a:srgbClr val="0070C0"/>
              </a:solidFill>
            </a:endParaRPr>
          </a:p>
        </p:txBody>
      </p:sp>
      <p:sp>
        <p:nvSpPr>
          <p:cNvPr id="36" name="Rectangle 35"/>
          <p:cNvSpPr/>
          <p:nvPr/>
        </p:nvSpPr>
        <p:spPr>
          <a:xfrm>
            <a:off x="7586493" y="4091146"/>
            <a:ext cx="1005403"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Cadillac</a:t>
            </a:r>
            <a:endParaRPr lang="en-US" dirty="0">
              <a:solidFill>
                <a:srgbClr val="0070C0"/>
              </a:solidFill>
            </a:endParaRPr>
          </a:p>
        </p:txBody>
      </p:sp>
      <p:sp>
        <p:nvSpPr>
          <p:cNvPr id="37" name="Rectangle 36"/>
          <p:cNvSpPr/>
          <p:nvPr/>
        </p:nvSpPr>
        <p:spPr>
          <a:xfrm>
            <a:off x="7620000" y="4516695"/>
            <a:ext cx="1129476"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Mercedes</a:t>
            </a:r>
            <a:endParaRPr lang="en-US" dirty="0">
              <a:solidFill>
                <a:srgbClr val="0070C0"/>
              </a:solidFill>
            </a:endParaRPr>
          </a:p>
        </p:txBody>
      </p:sp>
      <p:sp>
        <p:nvSpPr>
          <p:cNvPr id="22" name="Rectangle 21"/>
          <p:cNvSpPr/>
          <p:nvPr/>
        </p:nvSpPr>
        <p:spPr>
          <a:xfrm>
            <a:off x="2262019" y="57150"/>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Tree>
    <p:extLst>
      <p:ext uri="{BB962C8B-B14F-4D97-AF65-F5344CB8AC3E}">
        <p14:creationId xmlns:p14="http://schemas.microsoft.com/office/powerpoint/2010/main" val="105086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left)">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left)">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down)">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down)">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down)">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down)">
                                      <p:cBhvr>
                                        <p:cTn id="67" dur="500"/>
                                        <p:tgtEl>
                                          <p:spTgt spid="1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wipe(down)">
                                      <p:cBhvr>
                                        <p:cTn id="72" dur="500"/>
                                        <p:tgtEl>
                                          <p:spTgt spid="3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wipe(down)">
                                      <p:cBhvr>
                                        <p:cTn id="77" dur="500"/>
                                        <p:tgtEl>
                                          <p:spTgt spid="3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wipe(down)">
                                      <p:cBhvr>
                                        <p:cTn id="82" dur="500"/>
                                        <p:tgtEl>
                                          <p:spTgt spid="3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wipe(down)">
                                      <p:cBhvr>
                                        <p:cTn id="8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animBg="1"/>
      <p:bldP spid="24" grpId="0" animBg="1"/>
      <p:bldP spid="25" grpId="0" animBg="1"/>
      <p:bldP spid="26" grpId="0" animBg="1"/>
      <p:bldP spid="27" grpId="0" animBg="1"/>
      <p:bldP spid="28" grpId="0" animBg="1"/>
      <p:bldP spid="29" grpId="0" animBg="1"/>
      <p:bldP spid="7" grpId="0" animBg="1"/>
      <p:bldP spid="31" grpId="0" animBg="1"/>
      <p:bldP spid="10" grpId="0" animBg="1"/>
      <p:bldP spid="32" grpId="0" animBg="1"/>
      <p:bldP spid="11" grpId="0" animBg="1"/>
      <p:bldP spid="34" grpId="0" animBg="1"/>
      <p:bldP spid="35" grpId="0" animBg="1"/>
      <p:bldP spid="36" grpId="0" animBg="1"/>
      <p:bldP spid="3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514350"/>
            <a:ext cx="9144000" cy="1477328"/>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In an Exhibition seven cars of different companies - Cadillac, Ambassador, Fiat, </a:t>
            </a:r>
            <a:r>
              <a:rPr lang="en-US" b="1" dirty="0" err="1">
                <a:solidFill>
                  <a:srgbClr val="FF0000"/>
                </a:solidFill>
                <a:latin typeface="Times New Roman" pitchFamily="18" charset="0"/>
                <a:cs typeface="Times New Roman" pitchFamily="18" charset="0"/>
              </a:rPr>
              <a:t>Maruti</a:t>
            </a:r>
            <a:r>
              <a:rPr lang="en-US" b="1" dirty="0">
                <a:solidFill>
                  <a:srgbClr val="FF0000"/>
                </a:solidFill>
                <a:latin typeface="Times New Roman" pitchFamily="18" charset="0"/>
                <a:cs typeface="Times New Roman" pitchFamily="18" charset="0"/>
              </a:rPr>
              <a:t>, Mercedes, Bedford and Fargo are standing facing to east in the following order </a:t>
            </a:r>
            <a:r>
              <a:rPr lang="en-US"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1. Cadillac </a:t>
            </a:r>
            <a:r>
              <a:rPr lang="en-US" b="1" dirty="0">
                <a:solidFill>
                  <a:srgbClr val="FF0000"/>
                </a:solidFill>
                <a:latin typeface="Times New Roman" pitchFamily="18" charset="0"/>
                <a:cs typeface="Times New Roman" pitchFamily="18" charset="0"/>
              </a:rPr>
              <a:t>is next to right of </a:t>
            </a:r>
            <a:r>
              <a:rPr lang="en-US" b="1" dirty="0" smtClean="0">
                <a:solidFill>
                  <a:srgbClr val="FF0000"/>
                </a:solidFill>
                <a:latin typeface="Times New Roman" pitchFamily="18" charset="0"/>
                <a:cs typeface="Times New Roman" pitchFamily="18" charset="0"/>
              </a:rPr>
              <a:t>Fargo.	2. Fargo </a:t>
            </a:r>
            <a:r>
              <a:rPr lang="en-US" b="1" dirty="0">
                <a:solidFill>
                  <a:srgbClr val="FF0000"/>
                </a:solidFill>
                <a:latin typeface="Times New Roman" pitchFamily="18" charset="0"/>
                <a:cs typeface="Times New Roman" pitchFamily="18" charset="0"/>
              </a:rPr>
              <a:t>is fourth to the right of Fiat.</a:t>
            </a:r>
          </a:p>
          <a:p>
            <a:r>
              <a:rPr lang="en-US" b="1" dirty="0" smtClean="0">
                <a:solidFill>
                  <a:srgbClr val="FF0000"/>
                </a:solidFill>
                <a:latin typeface="Times New Roman" pitchFamily="18" charset="0"/>
                <a:cs typeface="Times New Roman" pitchFamily="18" charset="0"/>
              </a:rPr>
              <a:t>3. </a:t>
            </a:r>
            <a:r>
              <a:rPr lang="en-US" b="1" dirty="0" err="1" smtClean="0">
                <a:solidFill>
                  <a:srgbClr val="FF0000"/>
                </a:solidFill>
                <a:latin typeface="Times New Roman" pitchFamily="18" charset="0"/>
                <a:cs typeface="Times New Roman" pitchFamily="18" charset="0"/>
              </a:rPr>
              <a:t>Maruti</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car is between Ambassador and Bedford.</a:t>
            </a:r>
          </a:p>
          <a:p>
            <a:r>
              <a:rPr lang="en-US" b="1" dirty="0" smtClean="0">
                <a:solidFill>
                  <a:srgbClr val="FF0000"/>
                </a:solidFill>
                <a:latin typeface="Times New Roman" pitchFamily="18" charset="0"/>
                <a:cs typeface="Times New Roman" pitchFamily="18" charset="0"/>
              </a:rPr>
              <a:t>4</a:t>
            </a:r>
            <a:r>
              <a:rPr lang="en-US" b="1" dirty="0">
                <a:solidFill>
                  <a:srgbClr val="FF0000"/>
                </a:solidFill>
                <a:latin typeface="Times New Roman" pitchFamily="18" charset="0"/>
                <a:cs typeface="Times New Roman" pitchFamily="18" charset="0"/>
              </a:rPr>
              <a:t>. Fiat which is third to the left of Ambassador, is at one end.</a:t>
            </a:r>
          </a:p>
        </p:txBody>
      </p:sp>
      <p:sp>
        <p:nvSpPr>
          <p:cNvPr id="12" name="Rectangle 11"/>
          <p:cNvSpPr/>
          <p:nvPr/>
        </p:nvSpPr>
        <p:spPr>
          <a:xfrm>
            <a:off x="0" y="1809750"/>
            <a:ext cx="8648700" cy="1015663"/>
          </a:xfrm>
          <a:prstGeom prst="rect">
            <a:avLst/>
          </a:prstGeom>
        </p:spPr>
        <p:txBody>
          <a:bodyPr wrap="square">
            <a:spAutoFit/>
          </a:bodyPr>
          <a:lstStyle/>
          <a:p>
            <a:r>
              <a:rPr lang="en-US" sz="2000" b="1" dirty="0" smtClean="0">
                <a:latin typeface="Times New Roman" pitchFamily="18" charset="0"/>
                <a:cs typeface="Times New Roman" pitchFamily="18" charset="0"/>
              </a:rPr>
              <a:t>1.Which </a:t>
            </a:r>
            <a:r>
              <a:rPr lang="en-US" sz="2000" b="1" dirty="0">
                <a:latin typeface="Times New Roman" pitchFamily="18" charset="0"/>
                <a:cs typeface="Times New Roman" pitchFamily="18" charset="0"/>
              </a:rPr>
              <a:t>of the cars are on both the sides of </a:t>
            </a:r>
            <a:r>
              <a:rPr lang="en-US" sz="2000" b="1" dirty="0" err="1">
                <a:latin typeface="Times New Roman" pitchFamily="18" charset="0"/>
                <a:cs typeface="Times New Roman" pitchFamily="18" charset="0"/>
              </a:rPr>
              <a:t>cadillac</a:t>
            </a:r>
            <a:r>
              <a:rPr lang="en-US" sz="2000" b="1" dirty="0">
                <a:latin typeface="Times New Roman" pitchFamily="18" charset="0"/>
                <a:cs typeface="Times New Roman" pitchFamily="18" charset="0"/>
              </a:rPr>
              <a:t> car ?</a:t>
            </a:r>
          </a:p>
          <a:p>
            <a:r>
              <a:rPr lang="en-US" sz="2000" b="1" dirty="0" smtClean="0">
                <a:latin typeface="Times New Roman" pitchFamily="18" charset="0"/>
                <a:cs typeface="Times New Roman" pitchFamily="18" charset="0"/>
              </a:rPr>
              <a:t>A. Ambassador </a:t>
            </a:r>
            <a:r>
              <a:rPr lang="en-US" sz="2000" b="1" dirty="0">
                <a:latin typeface="Times New Roman" pitchFamily="18" charset="0"/>
                <a:cs typeface="Times New Roman" pitchFamily="18" charset="0"/>
              </a:rPr>
              <a:t>and </a:t>
            </a:r>
            <a:r>
              <a:rPr lang="en-US" sz="2000" b="1" dirty="0" err="1" smtClean="0">
                <a:latin typeface="Times New Roman" pitchFamily="18" charset="0"/>
                <a:cs typeface="Times New Roman" pitchFamily="18" charset="0"/>
              </a:rPr>
              <a:t>Maruti</a:t>
            </a:r>
            <a:r>
              <a:rPr lang="en-US" sz="2000" b="1" dirty="0" smtClean="0">
                <a:latin typeface="Times New Roman" pitchFamily="18" charset="0"/>
                <a:cs typeface="Times New Roman" pitchFamily="18" charset="0"/>
              </a:rPr>
              <a:t>		B. </a:t>
            </a:r>
            <a:r>
              <a:rPr lang="en-US" sz="2000" b="1" dirty="0" err="1" smtClean="0">
                <a:latin typeface="Times New Roman" pitchFamily="18" charset="0"/>
                <a:cs typeface="Times New Roman" pitchFamily="18" charset="0"/>
              </a:rPr>
              <a:t>Maruti</a:t>
            </a:r>
            <a:r>
              <a:rPr lang="en-US" sz="2000" b="1"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and Fiat</a:t>
            </a:r>
          </a:p>
          <a:p>
            <a:r>
              <a:rPr lang="en-US" sz="2000" b="1" dirty="0" smtClean="0">
                <a:latin typeface="Times New Roman" pitchFamily="18" charset="0"/>
                <a:cs typeface="Times New Roman" pitchFamily="18" charset="0"/>
              </a:rPr>
              <a:t>C. Fargo </a:t>
            </a:r>
            <a:r>
              <a:rPr lang="en-US" sz="2000" b="1" dirty="0">
                <a:latin typeface="Times New Roman" pitchFamily="18" charset="0"/>
                <a:cs typeface="Times New Roman" pitchFamily="18" charset="0"/>
              </a:rPr>
              <a:t>and </a:t>
            </a:r>
            <a:r>
              <a:rPr lang="en-US" sz="2000" b="1" dirty="0" smtClean="0">
                <a:latin typeface="Times New Roman" pitchFamily="18" charset="0"/>
                <a:cs typeface="Times New Roman" pitchFamily="18" charset="0"/>
              </a:rPr>
              <a:t>Mercedes			D. Ambassador </a:t>
            </a:r>
            <a:r>
              <a:rPr lang="en-US" sz="2000" b="1" dirty="0">
                <a:latin typeface="Times New Roman" pitchFamily="18" charset="0"/>
                <a:cs typeface="Times New Roman" pitchFamily="18" charset="0"/>
              </a:rPr>
              <a:t>and Fargo</a:t>
            </a:r>
          </a:p>
        </p:txBody>
      </p:sp>
      <p:sp>
        <p:nvSpPr>
          <p:cNvPr id="14" name="Rectangle 13"/>
          <p:cNvSpPr/>
          <p:nvPr/>
        </p:nvSpPr>
        <p:spPr>
          <a:xfrm>
            <a:off x="25400" y="3378934"/>
            <a:ext cx="5613400" cy="163121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2000" b="1" dirty="0" smtClean="0">
                <a:solidFill>
                  <a:srgbClr val="FF0000"/>
                </a:solidFill>
                <a:latin typeface="Times New Roman" pitchFamily="18" charset="0"/>
                <a:cs typeface="Times New Roman" pitchFamily="18" charset="0"/>
              </a:rPr>
              <a:t>2.Which </a:t>
            </a:r>
            <a:r>
              <a:rPr lang="en-US" sz="2000" b="1" dirty="0">
                <a:solidFill>
                  <a:srgbClr val="FF0000"/>
                </a:solidFill>
                <a:latin typeface="Times New Roman" pitchFamily="18" charset="0"/>
                <a:cs typeface="Times New Roman" pitchFamily="18" charset="0"/>
              </a:rPr>
              <a:t>of the following statement is correct ?</a:t>
            </a:r>
          </a:p>
          <a:p>
            <a:r>
              <a:rPr lang="en-US" sz="2000" b="1" dirty="0" smtClean="0">
                <a:solidFill>
                  <a:srgbClr val="FF0000"/>
                </a:solidFill>
                <a:latin typeface="Times New Roman" pitchFamily="18" charset="0"/>
                <a:cs typeface="Times New Roman" pitchFamily="18" charset="0"/>
              </a:rPr>
              <a:t>A. </a:t>
            </a:r>
            <a:r>
              <a:rPr lang="en-US" sz="2000" b="1" dirty="0" err="1" smtClean="0">
                <a:solidFill>
                  <a:srgbClr val="FF0000"/>
                </a:solidFill>
                <a:latin typeface="Times New Roman" pitchFamily="18" charset="0"/>
                <a:cs typeface="Times New Roman" pitchFamily="18" charset="0"/>
              </a:rPr>
              <a:t>Maruti</a:t>
            </a:r>
            <a:r>
              <a:rPr lang="en-US" sz="2000" b="1" dirty="0" smtClean="0">
                <a:solidFill>
                  <a:srgbClr val="FF000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is next left of Ambassador</a:t>
            </a:r>
            <a:r>
              <a:rPr lang="en-US" sz="2000" b="1" dirty="0" smtClean="0">
                <a:solidFill>
                  <a:srgbClr val="FF0000"/>
                </a:solidFill>
                <a:latin typeface="Times New Roman" pitchFamily="18" charset="0"/>
                <a:cs typeface="Times New Roman" pitchFamily="18" charset="0"/>
              </a:rPr>
              <a:t>.	</a:t>
            </a:r>
          </a:p>
          <a:p>
            <a:r>
              <a:rPr lang="en-US" sz="2000" b="1" dirty="0" smtClean="0">
                <a:solidFill>
                  <a:srgbClr val="FF0000"/>
                </a:solidFill>
                <a:latin typeface="Times New Roman" pitchFamily="18" charset="0"/>
                <a:cs typeface="Times New Roman" pitchFamily="18" charset="0"/>
              </a:rPr>
              <a:t>B. Bedford </a:t>
            </a:r>
            <a:r>
              <a:rPr lang="en-US" sz="2000" b="1" dirty="0">
                <a:solidFill>
                  <a:srgbClr val="FF0000"/>
                </a:solidFill>
                <a:latin typeface="Times New Roman" pitchFamily="18" charset="0"/>
                <a:cs typeface="Times New Roman" pitchFamily="18" charset="0"/>
              </a:rPr>
              <a:t>is next left of Fiat.</a:t>
            </a:r>
          </a:p>
          <a:p>
            <a:r>
              <a:rPr lang="en-US" sz="2000" b="1" dirty="0" smtClean="0">
                <a:solidFill>
                  <a:srgbClr val="FF0000"/>
                </a:solidFill>
                <a:latin typeface="Times New Roman" pitchFamily="18" charset="0"/>
                <a:cs typeface="Times New Roman" pitchFamily="18" charset="0"/>
              </a:rPr>
              <a:t>C. Bedford </a:t>
            </a:r>
            <a:r>
              <a:rPr lang="en-US" sz="2000" b="1" dirty="0">
                <a:solidFill>
                  <a:srgbClr val="FF0000"/>
                </a:solidFill>
                <a:latin typeface="Times New Roman" pitchFamily="18" charset="0"/>
                <a:cs typeface="Times New Roman" pitchFamily="18" charset="0"/>
              </a:rPr>
              <a:t>is at one end</a:t>
            </a:r>
            <a:r>
              <a:rPr lang="en-US" sz="2000" b="1" dirty="0" smtClean="0">
                <a:solidFill>
                  <a:srgbClr val="FF0000"/>
                </a:solidFill>
                <a:latin typeface="Times New Roman" pitchFamily="18" charset="0"/>
                <a:cs typeface="Times New Roman" pitchFamily="18" charset="0"/>
              </a:rPr>
              <a:t>.		</a:t>
            </a:r>
          </a:p>
          <a:p>
            <a:r>
              <a:rPr lang="en-US" sz="2000" b="1" dirty="0" smtClean="0">
                <a:solidFill>
                  <a:srgbClr val="FF0000"/>
                </a:solidFill>
                <a:latin typeface="Times New Roman" pitchFamily="18" charset="0"/>
                <a:cs typeface="Times New Roman" pitchFamily="18" charset="0"/>
              </a:rPr>
              <a:t>D. Fiat </a:t>
            </a:r>
            <a:r>
              <a:rPr lang="en-US" sz="2000" b="1" dirty="0">
                <a:solidFill>
                  <a:srgbClr val="FF0000"/>
                </a:solidFill>
                <a:latin typeface="Times New Roman" pitchFamily="18" charset="0"/>
                <a:cs typeface="Times New Roman" pitchFamily="18" charset="0"/>
              </a:rPr>
              <a:t>is next second to the right of </a:t>
            </a:r>
            <a:r>
              <a:rPr lang="en-US" sz="2000" b="1" dirty="0" err="1">
                <a:solidFill>
                  <a:srgbClr val="FF0000"/>
                </a:solidFill>
                <a:latin typeface="Times New Roman" pitchFamily="18" charset="0"/>
                <a:cs typeface="Times New Roman" pitchFamily="18" charset="0"/>
              </a:rPr>
              <a:t>Maruti</a:t>
            </a:r>
            <a:r>
              <a:rPr lang="en-US" sz="2000" b="1" dirty="0">
                <a:solidFill>
                  <a:srgbClr val="FF0000"/>
                </a:solidFill>
                <a:latin typeface="Times New Roman" pitchFamily="18" charset="0"/>
                <a:cs typeface="Times New Roman" pitchFamily="18" charset="0"/>
              </a:rPr>
              <a:t>.</a:t>
            </a:r>
          </a:p>
        </p:txBody>
      </p:sp>
      <p:sp>
        <p:nvSpPr>
          <p:cNvPr id="7" name="Rectangle 6"/>
          <p:cNvSpPr/>
          <p:nvPr/>
        </p:nvSpPr>
        <p:spPr>
          <a:xfrm>
            <a:off x="7430324" y="1969730"/>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smtClean="0">
                <a:solidFill>
                  <a:srgbClr val="0070C0"/>
                </a:solidFill>
                <a:latin typeface="Times New Roman" pitchFamily="18" charset="0"/>
                <a:cs typeface="Times New Roman" pitchFamily="18" charset="0"/>
              </a:rPr>
              <a:t>1. </a:t>
            </a:r>
            <a:endParaRPr lang="en-US" b="1" dirty="0">
              <a:solidFill>
                <a:srgbClr val="0070C0"/>
              </a:solidFill>
              <a:latin typeface="Times New Roman" pitchFamily="18" charset="0"/>
              <a:cs typeface="Times New Roman" pitchFamily="18" charset="0"/>
            </a:endParaRPr>
          </a:p>
        </p:txBody>
      </p:sp>
      <p:sp>
        <p:nvSpPr>
          <p:cNvPr id="9" name="Rectangle 8"/>
          <p:cNvSpPr/>
          <p:nvPr/>
        </p:nvSpPr>
        <p:spPr>
          <a:xfrm>
            <a:off x="7430324" y="2395180"/>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2</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0" name="Rectangle 9"/>
          <p:cNvSpPr/>
          <p:nvPr/>
        </p:nvSpPr>
        <p:spPr>
          <a:xfrm>
            <a:off x="7430324" y="2864465"/>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3</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1" name="Rectangle 10"/>
          <p:cNvSpPr/>
          <p:nvPr/>
        </p:nvSpPr>
        <p:spPr>
          <a:xfrm>
            <a:off x="7417624" y="3297297"/>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4</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3" name="Rectangle 12"/>
          <p:cNvSpPr/>
          <p:nvPr/>
        </p:nvSpPr>
        <p:spPr>
          <a:xfrm>
            <a:off x="7417624" y="3716496"/>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5</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5" name="Rectangle 14"/>
          <p:cNvSpPr/>
          <p:nvPr/>
        </p:nvSpPr>
        <p:spPr>
          <a:xfrm>
            <a:off x="7417624" y="4154745"/>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6</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6" name="Rectangle 15"/>
          <p:cNvSpPr/>
          <p:nvPr/>
        </p:nvSpPr>
        <p:spPr>
          <a:xfrm>
            <a:off x="7404924" y="4611945"/>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7</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7" name="Rectangle 16"/>
          <p:cNvSpPr/>
          <p:nvPr/>
        </p:nvSpPr>
        <p:spPr>
          <a:xfrm>
            <a:off x="7882559" y="1962150"/>
            <a:ext cx="582211"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a:solidFill>
                  <a:srgbClr val="0070C0"/>
                </a:solidFill>
                <a:latin typeface="Times New Roman" pitchFamily="18" charset="0"/>
                <a:cs typeface="Times New Roman" pitchFamily="18" charset="0"/>
              </a:rPr>
              <a:t>Fiat</a:t>
            </a:r>
            <a:endParaRPr lang="en-US" dirty="0">
              <a:solidFill>
                <a:srgbClr val="0070C0"/>
              </a:solidFill>
            </a:endParaRPr>
          </a:p>
        </p:txBody>
      </p:sp>
      <p:sp>
        <p:nvSpPr>
          <p:cNvPr id="18" name="Rectangle 17"/>
          <p:cNvSpPr/>
          <p:nvPr/>
        </p:nvSpPr>
        <p:spPr>
          <a:xfrm>
            <a:off x="7882559" y="3716496"/>
            <a:ext cx="774571"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Fargo</a:t>
            </a:r>
            <a:endParaRPr lang="en-US" dirty="0">
              <a:solidFill>
                <a:srgbClr val="0070C0"/>
              </a:solidFill>
            </a:endParaRPr>
          </a:p>
        </p:txBody>
      </p:sp>
      <p:sp>
        <p:nvSpPr>
          <p:cNvPr id="19" name="Rectangle 18"/>
          <p:cNvSpPr/>
          <p:nvPr/>
        </p:nvSpPr>
        <p:spPr>
          <a:xfrm>
            <a:off x="7938324" y="2861390"/>
            <a:ext cx="889987"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err="1" smtClean="0">
                <a:solidFill>
                  <a:srgbClr val="0070C0"/>
                </a:solidFill>
                <a:latin typeface="Times New Roman" pitchFamily="18" charset="0"/>
                <a:cs typeface="Times New Roman" pitchFamily="18" charset="0"/>
              </a:rPr>
              <a:t>Maruti</a:t>
            </a:r>
            <a:endParaRPr lang="en-US" dirty="0">
              <a:solidFill>
                <a:srgbClr val="0070C0"/>
              </a:solidFill>
            </a:endParaRPr>
          </a:p>
        </p:txBody>
      </p:sp>
      <p:sp>
        <p:nvSpPr>
          <p:cNvPr id="20" name="Rectangle 19"/>
          <p:cNvSpPr/>
          <p:nvPr/>
        </p:nvSpPr>
        <p:spPr>
          <a:xfrm>
            <a:off x="7902044" y="2397939"/>
            <a:ext cx="992579"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Bedford</a:t>
            </a:r>
            <a:endParaRPr lang="en-US" dirty="0">
              <a:solidFill>
                <a:srgbClr val="0070C0"/>
              </a:solidFill>
            </a:endParaRPr>
          </a:p>
        </p:txBody>
      </p:sp>
      <p:sp>
        <p:nvSpPr>
          <p:cNvPr id="21" name="Rectangle 20"/>
          <p:cNvSpPr/>
          <p:nvPr/>
        </p:nvSpPr>
        <p:spPr>
          <a:xfrm>
            <a:off x="7904817" y="4167346"/>
            <a:ext cx="1005403"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Cadillac</a:t>
            </a:r>
            <a:endParaRPr lang="en-US" dirty="0">
              <a:solidFill>
                <a:srgbClr val="0070C0"/>
              </a:solidFill>
            </a:endParaRPr>
          </a:p>
        </p:txBody>
      </p:sp>
      <p:sp>
        <p:nvSpPr>
          <p:cNvPr id="22" name="Rectangle 21"/>
          <p:cNvSpPr/>
          <p:nvPr/>
        </p:nvSpPr>
        <p:spPr>
          <a:xfrm>
            <a:off x="7938324" y="4592895"/>
            <a:ext cx="1129476"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Mercedes</a:t>
            </a:r>
            <a:endParaRPr lang="en-US" dirty="0">
              <a:solidFill>
                <a:srgbClr val="0070C0"/>
              </a:solidFill>
            </a:endParaRPr>
          </a:p>
        </p:txBody>
      </p:sp>
      <p:sp>
        <p:nvSpPr>
          <p:cNvPr id="23" name="Rectangle 22"/>
          <p:cNvSpPr/>
          <p:nvPr/>
        </p:nvSpPr>
        <p:spPr>
          <a:xfrm>
            <a:off x="7867804" y="3269218"/>
            <a:ext cx="1428596"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a:solidFill>
                  <a:srgbClr val="0070C0"/>
                </a:solidFill>
                <a:latin typeface="Times New Roman" pitchFamily="18" charset="0"/>
                <a:cs typeface="Times New Roman" pitchFamily="18" charset="0"/>
              </a:rPr>
              <a:t>Ambassador</a:t>
            </a:r>
            <a:endParaRPr lang="en-US" dirty="0">
              <a:solidFill>
                <a:srgbClr val="0070C0"/>
              </a:solidFill>
            </a:endParaRPr>
          </a:p>
        </p:txBody>
      </p:sp>
      <p:sp>
        <p:nvSpPr>
          <p:cNvPr id="24" name="Rectangle 23"/>
          <p:cNvSpPr/>
          <p:nvPr/>
        </p:nvSpPr>
        <p:spPr>
          <a:xfrm>
            <a:off x="1702624" y="2934513"/>
            <a:ext cx="2751715"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Ans C Fargo &amp;</a:t>
            </a:r>
            <a:r>
              <a:rPr lang="en-US" b="1" dirty="0" smtClean="0">
                <a:latin typeface="Times New Roman" pitchFamily="18" charset="0"/>
                <a:cs typeface="Times New Roman" pitchFamily="18" charset="0"/>
              </a:rPr>
              <a:t> </a:t>
            </a:r>
            <a:r>
              <a:rPr lang="en-US" b="1" dirty="0">
                <a:solidFill>
                  <a:srgbClr val="0070C0"/>
                </a:solidFill>
                <a:latin typeface="Times New Roman" pitchFamily="18" charset="0"/>
                <a:cs typeface="Times New Roman" pitchFamily="18" charset="0"/>
              </a:rPr>
              <a:t>Mercedes</a:t>
            </a:r>
            <a:r>
              <a:rPr lang="en-US" b="1" dirty="0" smtClean="0">
                <a:solidFill>
                  <a:srgbClr val="0070C0"/>
                </a:solidFill>
                <a:latin typeface="Times New Roman" pitchFamily="18" charset="0"/>
                <a:cs typeface="Times New Roman" pitchFamily="18" charset="0"/>
              </a:rPr>
              <a:t> </a:t>
            </a:r>
            <a:endParaRPr lang="en-US" dirty="0">
              <a:solidFill>
                <a:srgbClr val="0070C0"/>
              </a:solidFill>
            </a:endParaRPr>
          </a:p>
        </p:txBody>
      </p:sp>
      <p:sp>
        <p:nvSpPr>
          <p:cNvPr id="25" name="Rectangle 24"/>
          <p:cNvSpPr/>
          <p:nvPr/>
        </p:nvSpPr>
        <p:spPr>
          <a:xfrm>
            <a:off x="76200" y="3714750"/>
            <a:ext cx="4177619"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Ans A </a:t>
            </a:r>
            <a:r>
              <a:rPr lang="en-US" b="1" dirty="0" err="1">
                <a:solidFill>
                  <a:srgbClr val="0070C0"/>
                </a:solidFill>
                <a:latin typeface="Times New Roman" pitchFamily="18" charset="0"/>
                <a:cs typeface="Times New Roman" pitchFamily="18" charset="0"/>
              </a:rPr>
              <a:t>Maruti</a:t>
            </a:r>
            <a:r>
              <a:rPr lang="en-US" b="1" dirty="0">
                <a:solidFill>
                  <a:srgbClr val="0070C0"/>
                </a:solidFill>
                <a:latin typeface="Times New Roman" pitchFamily="18" charset="0"/>
                <a:cs typeface="Times New Roman" pitchFamily="18" charset="0"/>
              </a:rPr>
              <a:t> is next left of Ambassador.</a:t>
            </a:r>
            <a:endParaRPr lang="en-US" dirty="0">
              <a:solidFill>
                <a:srgbClr val="0070C0"/>
              </a:solidFill>
            </a:endParaRPr>
          </a:p>
        </p:txBody>
      </p:sp>
      <p:sp>
        <p:nvSpPr>
          <p:cNvPr id="26" name="Rectangle 25"/>
          <p:cNvSpPr/>
          <p:nvPr/>
        </p:nvSpPr>
        <p:spPr>
          <a:xfrm>
            <a:off x="2262019" y="57150"/>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Tree>
    <p:extLst>
      <p:ext uri="{BB962C8B-B14F-4D97-AF65-F5344CB8AC3E}">
        <p14:creationId xmlns:p14="http://schemas.microsoft.com/office/powerpoint/2010/main" val="270701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514350"/>
            <a:ext cx="9144000" cy="1477328"/>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In an Exhibition seven cars of different companies - Cadillac, Ambassador, Fiat, </a:t>
            </a:r>
            <a:r>
              <a:rPr lang="en-US" b="1" dirty="0" err="1">
                <a:solidFill>
                  <a:srgbClr val="FF0000"/>
                </a:solidFill>
                <a:latin typeface="Times New Roman" pitchFamily="18" charset="0"/>
                <a:cs typeface="Times New Roman" pitchFamily="18" charset="0"/>
              </a:rPr>
              <a:t>Maruti</a:t>
            </a:r>
            <a:r>
              <a:rPr lang="en-US" b="1" dirty="0">
                <a:solidFill>
                  <a:srgbClr val="FF0000"/>
                </a:solidFill>
                <a:latin typeface="Times New Roman" pitchFamily="18" charset="0"/>
                <a:cs typeface="Times New Roman" pitchFamily="18" charset="0"/>
              </a:rPr>
              <a:t>, Mercedes, Bedford and Fargo are standing facing to east in the following order </a:t>
            </a:r>
            <a:r>
              <a:rPr lang="en-US"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1. Cadillac </a:t>
            </a:r>
            <a:r>
              <a:rPr lang="en-US" b="1" dirty="0">
                <a:solidFill>
                  <a:srgbClr val="FF0000"/>
                </a:solidFill>
                <a:latin typeface="Times New Roman" pitchFamily="18" charset="0"/>
                <a:cs typeface="Times New Roman" pitchFamily="18" charset="0"/>
              </a:rPr>
              <a:t>is next to right of </a:t>
            </a:r>
            <a:r>
              <a:rPr lang="en-US" b="1" dirty="0" smtClean="0">
                <a:solidFill>
                  <a:srgbClr val="FF0000"/>
                </a:solidFill>
                <a:latin typeface="Times New Roman" pitchFamily="18" charset="0"/>
                <a:cs typeface="Times New Roman" pitchFamily="18" charset="0"/>
              </a:rPr>
              <a:t>Fargo.	2. Fargo </a:t>
            </a:r>
            <a:r>
              <a:rPr lang="en-US" b="1" dirty="0">
                <a:solidFill>
                  <a:srgbClr val="FF0000"/>
                </a:solidFill>
                <a:latin typeface="Times New Roman" pitchFamily="18" charset="0"/>
                <a:cs typeface="Times New Roman" pitchFamily="18" charset="0"/>
              </a:rPr>
              <a:t>is fourth to the right of Fiat.</a:t>
            </a:r>
          </a:p>
          <a:p>
            <a:r>
              <a:rPr lang="en-US" b="1" dirty="0" smtClean="0">
                <a:solidFill>
                  <a:srgbClr val="FF0000"/>
                </a:solidFill>
                <a:latin typeface="Times New Roman" pitchFamily="18" charset="0"/>
                <a:cs typeface="Times New Roman" pitchFamily="18" charset="0"/>
              </a:rPr>
              <a:t>3. </a:t>
            </a:r>
            <a:r>
              <a:rPr lang="en-US" b="1" dirty="0" err="1" smtClean="0">
                <a:solidFill>
                  <a:srgbClr val="FF0000"/>
                </a:solidFill>
                <a:latin typeface="Times New Roman" pitchFamily="18" charset="0"/>
                <a:cs typeface="Times New Roman" pitchFamily="18" charset="0"/>
              </a:rPr>
              <a:t>Maruti</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car is between Ambassador and Bedford.</a:t>
            </a:r>
          </a:p>
          <a:p>
            <a:r>
              <a:rPr lang="en-US" b="1" dirty="0" smtClean="0">
                <a:solidFill>
                  <a:srgbClr val="FF0000"/>
                </a:solidFill>
                <a:latin typeface="Times New Roman" pitchFamily="18" charset="0"/>
                <a:cs typeface="Times New Roman" pitchFamily="18" charset="0"/>
              </a:rPr>
              <a:t>4</a:t>
            </a:r>
            <a:r>
              <a:rPr lang="en-US" b="1" dirty="0">
                <a:solidFill>
                  <a:srgbClr val="FF0000"/>
                </a:solidFill>
                <a:latin typeface="Times New Roman" pitchFamily="18" charset="0"/>
                <a:cs typeface="Times New Roman" pitchFamily="18" charset="0"/>
              </a:rPr>
              <a:t>. Fiat which is third to the left of Ambassador, is at one end.</a:t>
            </a:r>
          </a:p>
        </p:txBody>
      </p:sp>
      <p:sp>
        <p:nvSpPr>
          <p:cNvPr id="12" name="Rectangle 11"/>
          <p:cNvSpPr/>
          <p:nvPr/>
        </p:nvSpPr>
        <p:spPr>
          <a:xfrm>
            <a:off x="0" y="1809750"/>
            <a:ext cx="8648700" cy="1631216"/>
          </a:xfrm>
          <a:prstGeom prst="rect">
            <a:avLst/>
          </a:prstGeom>
        </p:spPr>
        <p:txBody>
          <a:bodyPr wrap="square">
            <a:spAutoFit/>
          </a:bodyPr>
          <a:lstStyle/>
          <a:p>
            <a:r>
              <a:rPr lang="en-US" sz="2000" b="1" dirty="0">
                <a:solidFill>
                  <a:srgbClr val="0070C0"/>
                </a:solidFill>
                <a:latin typeface="Times New Roman" pitchFamily="18" charset="0"/>
                <a:cs typeface="Times New Roman" pitchFamily="18" charset="0"/>
              </a:rPr>
              <a:t>3.Which one of the following statements is correct ?</a:t>
            </a:r>
          </a:p>
          <a:p>
            <a:r>
              <a:rPr lang="en-US" sz="2000" b="1" dirty="0" smtClean="0">
                <a:solidFill>
                  <a:srgbClr val="0070C0"/>
                </a:solidFill>
                <a:latin typeface="Times New Roman" pitchFamily="18" charset="0"/>
                <a:cs typeface="Times New Roman" pitchFamily="18" charset="0"/>
              </a:rPr>
              <a:t>A. Fargo </a:t>
            </a:r>
            <a:r>
              <a:rPr lang="en-US" sz="2000" b="1" dirty="0">
                <a:solidFill>
                  <a:srgbClr val="0070C0"/>
                </a:solidFill>
                <a:latin typeface="Times New Roman" pitchFamily="18" charset="0"/>
                <a:cs typeface="Times New Roman" pitchFamily="18" charset="0"/>
              </a:rPr>
              <a:t>car is in between Ambassador and Fiat.   </a:t>
            </a:r>
            <a:endParaRPr lang="en-US" sz="2000" b="1" dirty="0" smtClean="0">
              <a:solidFill>
                <a:srgbClr val="0070C0"/>
              </a:solidFill>
              <a:latin typeface="Times New Roman" pitchFamily="18" charset="0"/>
              <a:cs typeface="Times New Roman" pitchFamily="18" charset="0"/>
            </a:endParaRPr>
          </a:p>
          <a:p>
            <a:r>
              <a:rPr lang="en-US" sz="2000" b="1" dirty="0" smtClean="0">
                <a:solidFill>
                  <a:srgbClr val="0070C0"/>
                </a:solidFill>
                <a:latin typeface="Times New Roman" pitchFamily="18" charset="0"/>
                <a:cs typeface="Times New Roman" pitchFamily="18" charset="0"/>
              </a:rPr>
              <a:t>B</a:t>
            </a:r>
            <a:r>
              <a:rPr lang="en-US" sz="2000" b="1" dirty="0">
                <a:solidFill>
                  <a:srgbClr val="0070C0"/>
                </a:solidFill>
                <a:latin typeface="Times New Roman" pitchFamily="18" charset="0"/>
                <a:cs typeface="Times New Roman" pitchFamily="18" charset="0"/>
              </a:rPr>
              <a:t>. Cadillac is next left to Mercedes car</a:t>
            </a:r>
            <a:r>
              <a:rPr lang="en-US" sz="2000" b="1" dirty="0" smtClean="0">
                <a:solidFill>
                  <a:srgbClr val="0070C0"/>
                </a:solidFill>
                <a:latin typeface="Times New Roman" pitchFamily="18" charset="0"/>
                <a:cs typeface="Times New Roman" pitchFamily="18" charset="0"/>
              </a:rPr>
              <a:t>.</a:t>
            </a:r>
          </a:p>
          <a:p>
            <a:r>
              <a:rPr lang="en-US" sz="2000" b="1" dirty="0" smtClean="0">
                <a:solidFill>
                  <a:srgbClr val="0070C0"/>
                </a:solidFill>
                <a:latin typeface="Times New Roman" pitchFamily="18" charset="0"/>
                <a:cs typeface="Times New Roman" pitchFamily="18" charset="0"/>
              </a:rPr>
              <a:t>C. Fargo </a:t>
            </a:r>
            <a:r>
              <a:rPr lang="en-US" sz="2000" b="1" dirty="0">
                <a:solidFill>
                  <a:srgbClr val="0070C0"/>
                </a:solidFill>
                <a:latin typeface="Times New Roman" pitchFamily="18" charset="0"/>
                <a:cs typeface="Times New Roman" pitchFamily="18" charset="0"/>
              </a:rPr>
              <a:t>is next right of Cadillac.		</a:t>
            </a:r>
            <a:endParaRPr lang="en-US" sz="2000" b="1" dirty="0" smtClean="0">
              <a:solidFill>
                <a:srgbClr val="0070C0"/>
              </a:solidFill>
              <a:latin typeface="Times New Roman" pitchFamily="18" charset="0"/>
              <a:cs typeface="Times New Roman" pitchFamily="18" charset="0"/>
            </a:endParaRPr>
          </a:p>
          <a:p>
            <a:r>
              <a:rPr lang="en-US" sz="2000" b="1" dirty="0" smtClean="0">
                <a:solidFill>
                  <a:srgbClr val="0070C0"/>
                </a:solidFill>
                <a:latin typeface="Times New Roman" pitchFamily="18" charset="0"/>
                <a:cs typeface="Times New Roman" pitchFamily="18" charset="0"/>
              </a:rPr>
              <a:t>D</a:t>
            </a:r>
            <a:r>
              <a:rPr lang="en-US" sz="2000" b="1" dirty="0">
                <a:solidFill>
                  <a:srgbClr val="0070C0"/>
                </a:solidFill>
                <a:latin typeface="Times New Roman" pitchFamily="18" charset="0"/>
                <a:cs typeface="Times New Roman" pitchFamily="18" charset="0"/>
              </a:rPr>
              <a:t>. </a:t>
            </a:r>
            <a:r>
              <a:rPr lang="en-US" sz="2000" b="1" dirty="0" err="1">
                <a:solidFill>
                  <a:srgbClr val="0070C0"/>
                </a:solidFill>
                <a:latin typeface="Times New Roman" pitchFamily="18" charset="0"/>
                <a:cs typeface="Times New Roman" pitchFamily="18" charset="0"/>
              </a:rPr>
              <a:t>Maruti</a:t>
            </a:r>
            <a:r>
              <a:rPr lang="en-US" sz="2000" b="1" dirty="0">
                <a:solidFill>
                  <a:srgbClr val="0070C0"/>
                </a:solidFill>
                <a:latin typeface="Times New Roman" pitchFamily="18" charset="0"/>
                <a:cs typeface="Times New Roman" pitchFamily="18" charset="0"/>
              </a:rPr>
              <a:t> is fourth right of Mercedes.</a:t>
            </a:r>
          </a:p>
        </p:txBody>
      </p:sp>
      <p:sp>
        <p:nvSpPr>
          <p:cNvPr id="7" name="Rectangle 6"/>
          <p:cNvSpPr/>
          <p:nvPr/>
        </p:nvSpPr>
        <p:spPr>
          <a:xfrm>
            <a:off x="7430324" y="1969730"/>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smtClean="0">
                <a:solidFill>
                  <a:srgbClr val="0070C0"/>
                </a:solidFill>
                <a:latin typeface="Times New Roman" pitchFamily="18" charset="0"/>
                <a:cs typeface="Times New Roman" pitchFamily="18" charset="0"/>
              </a:rPr>
              <a:t>1. </a:t>
            </a:r>
            <a:endParaRPr lang="en-US" b="1" dirty="0">
              <a:solidFill>
                <a:srgbClr val="0070C0"/>
              </a:solidFill>
              <a:latin typeface="Times New Roman" pitchFamily="18" charset="0"/>
              <a:cs typeface="Times New Roman" pitchFamily="18" charset="0"/>
            </a:endParaRPr>
          </a:p>
        </p:txBody>
      </p:sp>
      <p:sp>
        <p:nvSpPr>
          <p:cNvPr id="9" name="Rectangle 8"/>
          <p:cNvSpPr/>
          <p:nvPr/>
        </p:nvSpPr>
        <p:spPr>
          <a:xfrm>
            <a:off x="7430324" y="2395180"/>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2</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0" name="Rectangle 9"/>
          <p:cNvSpPr/>
          <p:nvPr/>
        </p:nvSpPr>
        <p:spPr>
          <a:xfrm>
            <a:off x="7430324" y="2864465"/>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3</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1" name="Rectangle 10"/>
          <p:cNvSpPr/>
          <p:nvPr/>
        </p:nvSpPr>
        <p:spPr>
          <a:xfrm>
            <a:off x="7417624" y="3297297"/>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4</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3" name="Rectangle 12"/>
          <p:cNvSpPr/>
          <p:nvPr/>
        </p:nvSpPr>
        <p:spPr>
          <a:xfrm>
            <a:off x="7417624" y="3716496"/>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5</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5" name="Rectangle 14"/>
          <p:cNvSpPr/>
          <p:nvPr/>
        </p:nvSpPr>
        <p:spPr>
          <a:xfrm>
            <a:off x="7417624" y="4154745"/>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6</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6" name="Rectangle 15"/>
          <p:cNvSpPr/>
          <p:nvPr/>
        </p:nvSpPr>
        <p:spPr>
          <a:xfrm>
            <a:off x="7404924" y="4611945"/>
            <a:ext cx="38100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a:solidFill>
                  <a:srgbClr val="0070C0"/>
                </a:solidFill>
                <a:latin typeface="Times New Roman" pitchFamily="18" charset="0"/>
                <a:cs typeface="Times New Roman" pitchFamily="18" charset="0"/>
              </a:rPr>
              <a:t>7</a:t>
            </a:r>
            <a:r>
              <a:rPr lang="en-US" b="1" dirty="0" smtClean="0">
                <a:solidFill>
                  <a:srgbClr val="0070C0"/>
                </a:solidFill>
                <a:latin typeface="Times New Roman" pitchFamily="18" charset="0"/>
                <a:cs typeface="Times New Roman" pitchFamily="18" charset="0"/>
              </a:rPr>
              <a:t>. </a:t>
            </a:r>
            <a:endParaRPr lang="en-US" b="1" dirty="0">
              <a:solidFill>
                <a:srgbClr val="0070C0"/>
              </a:solidFill>
              <a:latin typeface="Times New Roman" pitchFamily="18" charset="0"/>
              <a:cs typeface="Times New Roman" pitchFamily="18" charset="0"/>
            </a:endParaRPr>
          </a:p>
        </p:txBody>
      </p:sp>
      <p:sp>
        <p:nvSpPr>
          <p:cNvPr id="17" name="Rectangle 16"/>
          <p:cNvSpPr/>
          <p:nvPr/>
        </p:nvSpPr>
        <p:spPr>
          <a:xfrm>
            <a:off x="7882559" y="1962150"/>
            <a:ext cx="582211"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a:solidFill>
                  <a:srgbClr val="0070C0"/>
                </a:solidFill>
                <a:latin typeface="Times New Roman" pitchFamily="18" charset="0"/>
                <a:cs typeface="Times New Roman" pitchFamily="18" charset="0"/>
              </a:rPr>
              <a:t>Fiat</a:t>
            </a:r>
            <a:endParaRPr lang="en-US" dirty="0">
              <a:solidFill>
                <a:srgbClr val="0070C0"/>
              </a:solidFill>
            </a:endParaRPr>
          </a:p>
        </p:txBody>
      </p:sp>
      <p:sp>
        <p:nvSpPr>
          <p:cNvPr id="18" name="Rectangle 17"/>
          <p:cNvSpPr/>
          <p:nvPr/>
        </p:nvSpPr>
        <p:spPr>
          <a:xfrm>
            <a:off x="7882559" y="3716496"/>
            <a:ext cx="774571"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Fargo</a:t>
            </a:r>
            <a:endParaRPr lang="en-US" dirty="0">
              <a:solidFill>
                <a:srgbClr val="0070C0"/>
              </a:solidFill>
            </a:endParaRPr>
          </a:p>
        </p:txBody>
      </p:sp>
      <p:sp>
        <p:nvSpPr>
          <p:cNvPr id="19" name="Rectangle 18"/>
          <p:cNvSpPr/>
          <p:nvPr/>
        </p:nvSpPr>
        <p:spPr>
          <a:xfrm>
            <a:off x="7938324" y="2861390"/>
            <a:ext cx="889987"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err="1" smtClean="0">
                <a:solidFill>
                  <a:srgbClr val="0070C0"/>
                </a:solidFill>
                <a:latin typeface="Times New Roman" pitchFamily="18" charset="0"/>
                <a:cs typeface="Times New Roman" pitchFamily="18" charset="0"/>
              </a:rPr>
              <a:t>Maruti</a:t>
            </a:r>
            <a:endParaRPr lang="en-US" dirty="0">
              <a:solidFill>
                <a:srgbClr val="0070C0"/>
              </a:solidFill>
            </a:endParaRPr>
          </a:p>
        </p:txBody>
      </p:sp>
      <p:sp>
        <p:nvSpPr>
          <p:cNvPr id="20" name="Rectangle 19"/>
          <p:cNvSpPr/>
          <p:nvPr/>
        </p:nvSpPr>
        <p:spPr>
          <a:xfrm>
            <a:off x="7902044" y="2397939"/>
            <a:ext cx="992579"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Bedford</a:t>
            </a:r>
            <a:endParaRPr lang="en-US" dirty="0">
              <a:solidFill>
                <a:srgbClr val="0070C0"/>
              </a:solidFill>
            </a:endParaRPr>
          </a:p>
        </p:txBody>
      </p:sp>
      <p:sp>
        <p:nvSpPr>
          <p:cNvPr id="21" name="Rectangle 20"/>
          <p:cNvSpPr/>
          <p:nvPr/>
        </p:nvSpPr>
        <p:spPr>
          <a:xfrm>
            <a:off x="7904817" y="4167346"/>
            <a:ext cx="1005403"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Cadillac</a:t>
            </a:r>
            <a:endParaRPr lang="en-US" dirty="0">
              <a:solidFill>
                <a:srgbClr val="0070C0"/>
              </a:solidFill>
            </a:endParaRPr>
          </a:p>
        </p:txBody>
      </p:sp>
      <p:sp>
        <p:nvSpPr>
          <p:cNvPr id="22" name="Rectangle 21"/>
          <p:cNvSpPr/>
          <p:nvPr/>
        </p:nvSpPr>
        <p:spPr>
          <a:xfrm>
            <a:off x="7938324" y="4592895"/>
            <a:ext cx="1129476"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rgbClr val="0070C0"/>
                </a:solidFill>
                <a:latin typeface="Times New Roman" pitchFamily="18" charset="0"/>
                <a:cs typeface="Times New Roman" pitchFamily="18" charset="0"/>
              </a:rPr>
              <a:t>Mercedes</a:t>
            </a:r>
            <a:endParaRPr lang="en-US" dirty="0">
              <a:solidFill>
                <a:srgbClr val="0070C0"/>
              </a:solidFill>
            </a:endParaRPr>
          </a:p>
        </p:txBody>
      </p:sp>
      <p:sp>
        <p:nvSpPr>
          <p:cNvPr id="23" name="Rectangle 22"/>
          <p:cNvSpPr/>
          <p:nvPr/>
        </p:nvSpPr>
        <p:spPr>
          <a:xfrm>
            <a:off x="7867804" y="3269218"/>
            <a:ext cx="1428596"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a:solidFill>
                  <a:srgbClr val="0070C0"/>
                </a:solidFill>
                <a:latin typeface="Times New Roman" pitchFamily="18" charset="0"/>
                <a:cs typeface="Times New Roman" pitchFamily="18" charset="0"/>
              </a:rPr>
              <a:t>Ambassador</a:t>
            </a:r>
            <a:endParaRPr lang="en-US" dirty="0">
              <a:solidFill>
                <a:srgbClr val="0070C0"/>
              </a:solidFill>
            </a:endParaRPr>
          </a:p>
        </p:txBody>
      </p:sp>
      <p:sp>
        <p:nvSpPr>
          <p:cNvPr id="24" name="Rectangle 23"/>
          <p:cNvSpPr/>
          <p:nvPr/>
        </p:nvSpPr>
        <p:spPr>
          <a:xfrm>
            <a:off x="4857817" y="2495133"/>
            <a:ext cx="780983" cy="369332"/>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b="1" dirty="0" smtClean="0">
                <a:solidFill>
                  <a:schemeClr val="tx1"/>
                </a:solidFill>
                <a:latin typeface="Times New Roman" pitchFamily="18" charset="0"/>
                <a:cs typeface="Times New Roman" pitchFamily="18" charset="0"/>
              </a:rPr>
              <a:t>Ans B</a:t>
            </a:r>
            <a:endParaRPr lang="en-US" dirty="0">
              <a:solidFill>
                <a:schemeClr val="tx1"/>
              </a:solidFill>
            </a:endParaRPr>
          </a:p>
        </p:txBody>
      </p:sp>
      <p:sp>
        <p:nvSpPr>
          <p:cNvPr id="25" name="Rectangle 24"/>
          <p:cNvSpPr/>
          <p:nvPr/>
        </p:nvSpPr>
        <p:spPr>
          <a:xfrm>
            <a:off x="2262019" y="57150"/>
            <a:ext cx="3667992" cy="461665"/>
          </a:xfrm>
          <a:prstGeom prst="rect">
            <a:avLst/>
          </a:prstGeom>
        </p:spPr>
        <p:txBody>
          <a:bodyPr wrap="none">
            <a:spAutoFit/>
          </a:bodyPr>
          <a:lstStyle/>
          <a:p>
            <a:r>
              <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p>
        </p:txBody>
      </p:sp>
    </p:spTree>
    <p:extLst>
      <p:ext uri="{BB962C8B-B14F-4D97-AF65-F5344CB8AC3E}">
        <p14:creationId xmlns:p14="http://schemas.microsoft.com/office/powerpoint/2010/main" val="353283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7008" y="57150"/>
            <a:ext cx="3667992"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3" name="Rectangle 2"/>
          <p:cNvSpPr/>
          <p:nvPr/>
        </p:nvSpPr>
        <p:spPr>
          <a:xfrm>
            <a:off x="304800" y="598438"/>
            <a:ext cx="8610600" cy="923330"/>
          </a:xfrm>
          <a:prstGeom prst="rect">
            <a:avLst/>
          </a:prstGeom>
        </p:spPr>
        <p:txBody>
          <a:bodyPr wrap="square">
            <a:spAutoFit/>
          </a:bodyPr>
          <a:lstStyle/>
          <a:p>
            <a:pPr fontAlgn="base"/>
            <a:r>
              <a:rPr lang="en-US" b="1" dirty="0">
                <a:solidFill>
                  <a:srgbClr val="FF0000"/>
                </a:solidFill>
              </a:rPr>
              <a:t>Q1. In a row of 20 students facing North, R is 9th from the left end. How many students are there between R and S? </a:t>
            </a:r>
            <a:br>
              <a:rPr lang="en-US" b="1" dirty="0">
                <a:solidFill>
                  <a:srgbClr val="FF0000"/>
                </a:solidFill>
              </a:rPr>
            </a:br>
            <a:r>
              <a:rPr lang="en-US" b="1" dirty="0">
                <a:solidFill>
                  <a:srgbClr val="FF0000"/>
                </a:solidFill>
              </a:rPr>
              <a:t>a) 7 </a:t>
            </a:r>
            <a:r>
              <a:rPr lang="en-US" b="1" dirty="0" smtClean="0">
                <a:solidFill>
                  <a:srgbClr val="FF0000"/>
                </a:solidFill>
              </a:rPr>
              <a:t>	b</a:t>
            </a:r>
            <a:r>
              <a:rPr lang="en-US" b="1" dirty="0">
                <a:solidFill>
                  <a:srgbClr val="FF0000"/>
                </a:solidFill>
              </a:rPr>
              <a:t>) </a:t>
            </a:r>
            <a:r>
              <a:rPr lang="en-US" b="1" dirty="0" smtClean="0">
                <a:solidFill>
                  <a:srgbClr val="FF0000"/>
                </a:solidFill>
              </a:rPr>
              <a:t>8	c</a:t>
            </a:r>
            <a:r>
              <a:rPr lang="en-US" b="1" dirty="0">
                <a:solidFill>
                  <a:srgbClr val="FF0000"/>
                </a:solidFill>
              </a:rPr>
              <a:t>) </a:t>
            </a:r>
            <a:r>
              <a:rPr lang="en-US" b="1" dirty="0" smtClean="0">
                <a:solidFill>
                  <a:srgbClr val="FF0000"/>
                </a:solidFill>
              </a:rPr>
              <a:t>9	d</a:t>
            </a:r>
            <a:r>
              <a:rPr lang="en-US" b="1" dirty="0">
                <a:solidFill>
                  <a:srgbClr val="FF0000"/>
                </a:solidFill>
              </a:rPr>
              <a:t>) 10 </a:t>
            </a:r>
          </a:p>
        </p:txBody>
      </p:sp>
      <p:sp>
        <p:nvSpPr>
          <p:cNvPr id="4" name="Rectangle 3"/>
          <p:cNvSpPr/>
          <p:nvPr/>
        </p:nvSpPr>
        <p:spPr>
          <a:xfrm>
            <a:off x="685800" y="1657350"/>
            <a:ext cx="1592103" cy="369332"/>
          </a:xfrm>
          <a:prstGeom prst="rect">
            <a:avLst/>
          </a:prstGeom>
        </p:spPr>
        <p:txBody>
          <a:bodyPr wrap="none">
            <a:spAutoFit/>
          </a:bodyPr>
          <a:lstStyle/>
          <a:p>
            <a:r>
              <a:rPr lang="en-US" b="1" i="1" dirty="0"/>
              <a:t>Answer: b) 8</a:t>
            </a:r>
            <a:endParaRPr lang="en-US" dirty="0"/>
          </a:p>
        </p:txBody>
      </p:sp>
      <p:sp>
        <p:nvSpPr>
          <p:cNvPr id="6" name="Rectangle 5"/>
          <p:cNvSpPr/>
          <p:nvPr/>
        </p:nvSpPr>
        <p:spPr>
          <a:xfrm>
            <a:off x="609600" y="2058432"/>
            <a:ext cx="8077200" cy="1200329"/>
          </a:xfrm>
          <a:prstGeom prst="rect">
            <a:avLst/>
          </a:prstGeom>
        </p:spPr>
        <p:txBody>
          <a:bodyPr wrap="square">
            <a:spAutoFit/>
          </a:bodyPr>
          <a:lstStyle/>
          <a:p>
            <a:pPr fontAlgn="base"/>
            <a:r>
              <a:rPr lang="en-US" b="1" dirty="0">
                <a:solidFill>
                  <a:srgbClr val="FF0000"/>
                </a:solidFill>
              </a:rPr>
              <a:t>There are six persons sitting in a row facing North. A is sitting left to B but right to C. D is sitting left to F but right to E. Who is sitting in the middle? </a:t>
            </a:r>
            <a:br>
              <a:rPr lang="en-US" b="1" dirty="0">
                <a:solidFill>
                  <a:srgbClr val="FF0000"/>
                </a:solidFill>
              </a:rPr>
            </a:br>
            <a:r>
              <a:rPr lang="en-US" b="1" dirty="0">
                <a:solidFill>
                  <a:srgbClr val="FF0000"/>
                </a:solidFill>
              </a:rPr>
              <a:t>a) A </a:t>
            </a:r>
            <a:r>
              <a:rPr lang="en-US" b="1" dirty="0" smtClean="0">
                <a:solidFill>
                  <a:srgbClr val="FF0000"/>
                </a:solidFill>
              </a:rPr>
              <a:t>	b</a:t>
            </a:r>
            <a:r>
              <a:rPr lang="en-US" b="1" dirty="0">
                <a:solidFill>
                  <a:srgbClr val="FF0000"/>
                </a:solidFill>
              </a:rPr>
              <a:t>) B </a:t>
            </a:r>
            <a:r>
              <a:rPr lang="en-US" b="1" dirty="0" smtClean="0">
                <a:solidFill>
                  <a:srgbClr val="FF0000"/>
                </a:solidFill>
              </a:rPr>
              <a:t>	c</a:t>
            </a:r>
            <a:r>
              <a:rPr lang="en-US" b="1" dirty="0">
                <a:solidFill>
                  <a:srgbClr val="FF0000"/>
                </a:solidFill>
              </a:rPr>
              <a:t>) C </a:t>
            </a:r>
            <a:r>
              <a:rPr lang="en-US" b="1" dirty="0" smtClean="0">
                <a:solidFill>
                  <a:srgbClr val="FF0000"/>
                </a:solidFill>
              </a:rPr>
              <a:t>	d</a:t>
            </a:r>
            <a:r>
              <a:rPr lang="en-US" b="1" dirty="0">
                <a:solidFill>
                  <a:srgbClr val="FF0000"/>
                </a:solidFill>
              </a:rPr>
              <a:t>) D </a:t>
            </a:r>
          </a:p>
        </p:txBody>
      </p:sp>
      <p:sp>
        <p:nvSpPr>
          <p:cNvPr id="7" name="Rectangle 6"/>
          <p:cNvSpPr/>
          <p:nvPr/>
        </p:nvSpPr>
        <p:spPr>
          <a:xfrm>
            <a:off x="838200" y="3409950"/>
            <a:ext cx="1579278" cy="369332"/>
          </a:xfrm>
          <a:prstGeom prst="rect">
            <a:avLst/>
          </a:prstGeom>
        </p:spPr>
        <p:txBody>
          <a:bodyPr wrap="none">
            <a:spAutoFit/>
          </a:bodyPr>
          <a:lstStyle/>
          <a:p>
            <a:r>
              <a:rPr lang="en-US" b="1" i="1" dirty="0"/>
              <a:t>Answer: c) C</a:t>
            </a:r>
            <a:endParaRPr lang="en-US" dirty="0"/>
          </a:p>
        </p:txBody>
      </p:sp>
    </p:spTree>
    <p:extLst>
      <p:ext uri="{BB962C8B-B14F-4D97-AF65-F5344CB8AC3E}">
        <p14:creationId xmlns:p14="http://schemas.microsoft.com/office/powerpoint/2010/main" val="235809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7008" y="57150"/>
            <a:ext cx="3667992"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QUESTIONS</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3" name="Rectangle 2"/>
          <p:cNvSpPr/>
          <p:nvPr/>
        </p:nvSpPr>
        <p:spPr>
          <a:xfrm>
            <a:off x="457200" y="612339"/>
            <a:ext cx="8229600" cy="1200329"/>
          </a:xfrm>
          <a:prstGeom prst="rect">
            <a:avLst/>
          </a:prstGeom>
        </p:spPr>
        <p:txBody>
          <a:bodyPr wrap="square">
            <a:spAutoFit/>
          </a:bodyPr>
          <a:lstStyle/>
          <a:p>
            <a:pPr fontAlgn="base"/>
            <a:r>
              <a:rPr lang="en-US" b="1" dirty="0">
                <a:solidFill>
                  <a:srgbClr val="FF0000"/>
                </a:solidFill>
              </a:rPr>
              <a:t>In a circular arrangement of 7 persons, A is sitting between B and C, D is sitting immediate right of C and E is sitting immediate left of A. Who is sitting between D and F? </a:t>
            </a:r>
            <a:br>
              <a:rPr lang="en-US" b="1" dirty="0">
                <a:solidFill>
                  <a:srgbClr val="FF0000"/>
                </a:solidFill>
              </a:rPr>
            </a:br>
            <a:r>
              <a:rPr lang="en-US" b="1" dirty="0">
                <a:solidFill>
                  <a:srgbClr val="FF0000"/>
                </a:solidFill>
              </a:rPr>
              <a:t>a) A </a:t>
            </a:r>
            <a:r>
              <a:rPr lang="en-US" b="1" dirty="0" smtClean="0">
                <a:solidFill>
                  <a:srgbClr val="FF0000"/>
                </a:solidFill>
              </a:rPr>
              <a:t>	b</a:t>
            </a:r>
            <a:r>
              <a:rPr lang="en-US" b="1" dirty="0">
                <a:solidFill>
                  <a:srgbClr val="FF0000"/>
                </a:solidFill>
              </a:rPr>
              <a:t>) B </a:t>
            </a:r>
            <a:r>
              <a:rPr lang="en-US" b="1" dirty="0" smtClean="0">
                <a:solidFill>
                  <a:srgbClr val="FF0000"/>
                </a:solidFill>
              </a:rPr>
              <a:t>	c</a:t>
            </a:r>
            <a:r>
              <a:rPr lang="en-US" b="1" dirty="0">
                <a:solidFill>
                  <a:srgbClr val="FF0000"/>
                </a:solidFill>
              </a:rPr>
              <a:t>) C </a:t>
            </a:r>
            <a:r>
              <a:rPr lang="en-US" b="1" dirty="0" smtClean="0">
                <a:solidFill>
                  <a:srgbClr val="FF0000"/>
                </a:solidFill>
              </a:rPr>
              <a:t>	d</a:t>
            </a:r>
            <a:r>
              <a:rPr lang="en-US" b="1" dirty="0">
                <a:solidFill>
                  <a:srgbClr val="FF0000"/>
                </a:solidFill>
              </a:rPr>
              <a:t>) E </a:t>
            </a:r>
          </a:p>
        </p:txBody>
      </p:sp>
      <p:sp>
        <p:nvSpPr>
          <p:cNvPr id="4" name="Rectangle 3"/>
          <p:cNvSpPr/>
          <p:nvPr/>
        </p:nvSpPr>
        <p:spPr>
          <a:xfrm>
            <a:off x="1447800" y="2017236"/>
            <a:ext cx="1579278" cy="369332"/>
          </a:xfrm>
          <a:prstGeom prst="rect">
            <a:avLst/>
          </a:prstGeom>
        </p:spPr>
        <p:txBody>
          <a:bodyPr wrap="none">
            <a:spAutoFit/>
          </a:bodyPr>
          <a:lstStyle/>
          <a:p>
            <a:r>
              <a:rPr lang="en-US" b="1" i="1" dirty="0"/>
              <a:t>Answer: b) B</a:t>
            </a:r>
            <a:endParaRPr lang="en-US" dirty="0"/>
          </a:p>
        </p:txBody>
      </p:sp>
      <p:sp>
        <p:nvSpPr>
          <p:cNvPr id="5" name="Rectangle 4"/>
          <p:cNvSpPr/>
          <p:nvPr/>
        </p:nvSpPr>
        <p:spPr>
          <a:xfrm>
            <a:off x="457200" y="2362021"/>
            <a:ext cx="8077200" cy="1200329"/>
          </a:xfrm>
          <a:prstGeom prst="rect">
            <a:avLst/>
          </a:prstGeom>
        </p:spPr>
        <p:txBody>
          <a:bodyPr wrap="square">
            <a:spAutoFit/>
          </a:bodyPr>
          <a:lstStyle/>
          <a:p>
            <a:pPr fontAlgn="base"/>
            <a:r>
              <a:rPr lang="en-US" b="1" dirty="0">
                <a:solidFill>
                  <a:srgbClr val="FF0000"/>
                </a:solidFill>
              </a:rPr>
              <a:t>In a rectangular table, A, B, C, and D are sitting on one side facing E, F, G, and H on the other side. A is opposite to E and B is opposite to F. Who is opposite to D? </a:t>
            </a:r>
            <a:endParaRPr lang="en-US" b="1" dirty="0" smtClean="0">
              <a:solidFill>
                <a:srgbClr val="FF0000"/>
              </a:solidFill>
            </a:endParaRPr>
          </a:p>
          <a:p>
            <a:pPr fontAlgn="base"/>
            <a:r>
              <a:rPr lang="en-US" b="1" dirty="0" smtClean="0">
                <a:solidFill>
                  <a:srgbClr val="FF0000"/>
                </a:solidFill>
              </a:rPr>
              <a:t>a</a:t>
            </a:r>
            <a:r>
              <a:rPr lang="en-US" b="1" dirty="0">
                <a:solidFill>
                  <a:srgbClr val="FF0000"/>
                </a:solidFill>
              </a:rPr>
              <a:t>) G </a:t>
            </a:r>
            <a:r>
              <a:rPr lang="en-US" b="1" dirty="0" smtClean="0">
                <a:solidFill>
                  <a:srgbClr val="FF0000"/>
                </a:solidFill>
              </a:rPr>
              <a:t>	b</a:t>
            </a:r>
            <a:r>
              <a:rPr lang="en-US" b="1" dirty="0">
                <a:solidFill>
                  <a:srgbClr val="FF0000"/>
                </a:solidFill>
              </a:rPr>
              <a:t>) H </a:t>
            </a:r>
            <a:r>
              <a:rPr lang="en-US" b="1" dirty="0" smtClean="0">
                <a:solidFill>
                  <a:srgbClr val="FF0000"/>
                </a:solidFill>
              </a:rPr>
              <a:t>	c</a:t>
            </a:r>
            <a:r>
              <a:rPr lang="en-US" b="1" dirty="0">
                <a:solidFill>
                  <a:srgbClr val="FF0000"/>
                </a:solidFill>
              </a:rPr>
              <a:t>) E </a:t>
            </a:r>
            <a:r>
              <a:rPr lang="en-US" b="1" dirty="0" smtClean="0">
                <a:solidFill>
                  <a:srgbClr val="FF0000"/>
                </a:solidFill>
              </a:rPr>
              <a:t>	d</a:t>
            </a:r>
            <a:r>
              <a:rPr lang="en-US" b="1" dirty="0">
                <a:solidFill>
                  <a:srgbClr val="FF0000"/>
                </a:solidFill>
              </a:rPr>
              <a:t>) F </a:t>
            </a:r>
          </a:p>
        </p:txBody>
      </p:sp>
      <p:sp>
        <p:nvSpPr>
          <p:cNvPr id="6" name="Rectangle 5"/>
          <p:cNvSpPr/>
          <p:nvPr/>
        </p:nvSpPr>
        <p:spPr>
          <a:xfrm>
            <a:off x="1905000" y="3790950"/>
            <a:ext cx="1569660" cy="369332"/>
          </a:xfrm>
          <a:prstGeom prst="rect">
            <a:avLst/>
          </a:prstGeom>
        </p:spPr>
        <p:txBody>
          <a:bodyPr wrap="none">
            <a:spAutoFit/>
          </a:bodyPr>
          <a:lstStyle/>
          <a:p>
            <a:r>
              <a:rPr lang="en-US" b="1" i="1" dirty="0"/>
              <a:t>Answer: d) F</a:t>
            </a:r>
            <a:endParaRPr lang="en-US" dirty="0"/>
          </a:p>
        </p:txBody>
      </p:sp>
    </p:spTree>
    <p:extLst>
      <p:ext uri="{BB962C8B-B14F-4D97-AF65-F5344CB8AC3E}">
        <p14:creationId xmlns:p14="http://schemas.microsoft.com/office/powerpoint/2010/main" val="550807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1873" y="1276350"/>
            <a:ext cx="6800260" cy="1446550"/>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8800" b="1" cap="all" spc="0" dirty="0" smtClean="0">
                <a:ln w="0"/>
                <a:solidFill>
                  <a:srgbClr val="002060"/>
                </a:solidFill>
                <a:effectLst>
                  <a:reflection blurRad="12700" stA="50000" endPos="50000" dist="5000" dir="5400000" sy="-100000" rotWithShape="0"/>
                </a:effectLst>
              </a:rPr>
              <a:t>THANK YOU</a:t>
            </a:r>
            <a:endParaRPr lang="en-US" sz="8800" b="1" cap="all" spc="0" dirty="0">
              <a:ln w="0"/>
              <a:solidFill>
                <a:srgbClr val="002060"/>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3065668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2733</TotalTime>
  <Words>5879</Words>
  <Application>Microsoft Office PowerPoint</Application>
  <PresentationFormat>On-screen Show (16:9)</PresentationFormat>
  <Paragraphs>740</Paragraphs>
  <Slides>89</Slides>
  <Notes>0</Notes>
  <HiddenSlides>0</HiddenSlides>
  <MMClips>0</MMClips>
  <ScaleCrop>false</ScaleCrop>
  <HeadingPairs>
    <vt:vector size="4" baseType="variant">
      <vt:variant>
        <vt:lpstr>Theme</vt:lpstr>
      </vt:variant>
      <vt:variant>
        <vt:i4>1</vt:i4>
      </vt:variant>
      <vt:variant>
        <vt:lpstr>Slide Titles</vt:lpstr>
      </vt:variant>
      <vt:variant>
        <vt:i4>89</vt:i4>
      </vt:variant>
    </vt:vector>
  </HeadingPairs>
  <TitlesOfParts>
    <vt:vector size="90" baseType="lpstr">
      <vt:lpstr>Concourse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Lokesh</dc:creator>
  <cp:lastModifiedBy>naveen</cp:lastModifiedBy>
  <cp:revision>526</cp:revision>
  <dcterms:created xsi:type="dcterms:W3CDTF">2006-08-16T00:00:00Z</dcterms:created>
  <dcterms:modified xsi:type="dcterms:W3CDTF">2025-07-16T00:25:43Z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0A18FFB72AF74BFE9AEE2AD93839B004</vt:lpwstr>
  </property>
  <property fmtid="{D5CDD505-2E9C-101B-9397-08002B2CF9AE}" pid="3" name="KSOProductBuildVer">
    <vt:lpwstr>1033-11.2.0.11537</vt:lpwstr>
  </property>
</Properties>
</file>