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06"/>
  </p:notesMasterIdLst>
  <p:sldIdLst>
    <p:sldId id="256" r:id="rId5"/>
    <p:sldId id="257" r:id="rId6"/>
    <p:sldId id="259" r:id="rId7"/>
    <p:sldId id="261" r:id="rId8"/>
    <p:sldId id="263" r:id="rId9"/>
    <p:sldId id="265" r:id="rId10"/>
    <p:sldId id="266" r:id="rId11"/>
    <p:sldId id="267" r:id="rId12"/>
    <p:sldId id="268" r:id="rId13"/>
    <p:sldId id="269" r:id="rId14"/>
    <p:sldId id="271" r:id="rId15"/>
    <p:sldId id="273" r:id="rId16"/>
    <p:sldId id="274" r:id="rId17"/>
    <p:sldId id="275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310" r:id="rId51"/>
    <p:sldId id="311" r:id="rId52"/>
    <p:sldId id="312" r:id="rId53"/>
    <p:sldId id="313" r:id="rId54"/>
    <p:sldId id="314" r:id="rId55"/>
    <p:sldId id="315" r:id="rId56"/>
    <p:sldId id="316" r:id="rId57"/>
    <p:sldId id="317" r:id="rId58"/>
    <p:sldId id="318" r:id="rId59"/>
    <p:sldId id="319" r:id="rId60"/>
    <p:sldId id="320" r:id="rId61"/>
    <p:sldId id="321" r:id="rId62"/>
    <p:sldId id="322" r:id="rId63"/>
    <p:sldId id="323" r:id="rId64"/>
    <p:sldId id="324" r:id="rId65"/>
    <p:sldId id="325" r:id="rId66"/>
    <p:sldId id="326" r:id="rId67"/>
    <p:sldId id="327" r:id="rId68"/>
    <p:sldId id="328" r:id="rId69"/>
    <p:sldId id="329" r:id="rId70"/>
    <p:sldId id="330" r:id="rId71"/>
    <p:sldId id="331" r:id="rId72"/>
    <p:sldId id="332" r:id="rId73"/>
    <p:sldId id="333" r:id="rId74"/>
    <p:sldId id="334" r:id="rId75"/>
    <p:sldId id="335" r:id="rId76"/>
    <p:sldId id="336" r:id="rId77"/>
    <p:sldId id="337" r:id="rId78"/>
    <p:sldId id="338" r:id="rId79"/>
    <p:sldId id="339" r:id="rId80"/>
    <p:sldId id="340" r:id="rId81"/>
    <p:sldId id="341" r:id="rId82"/>
    <p:sldId id="342" r:id="rId83"/>
    <p:sldId id="343" r:id="rId84"/>
    <p:sldId id="344" r:id="rId85"/>
    <p:sldId id="345" r:id="rId86"/>
    <p:sldId id="346" r:id="rId87"/>
    <p:sldId id="348" r:id="rId88"/>
    <p:sldId id="349" r:id="rId89"/>
    <p:sldId id="369" r:id="rId90"/>
    <p:sldId id="370" r:id="rId91"/>
    <p:sldId id="354" r:id="rId92"/>
    <p:sldId id="355" r:id="rId93"/>
    <p:sldId id="356" r:id="rId94"/>
    <p:sldId id="357" r:id="rId95"/>
    <p:sldId id="358" r:id="rId96"/>
    <p:sldId id="359" r:id="rId97"/>
    <p:sldId id="360" r:id="rId98"/>
    <p:sldId id="361" r:id="rId99"/>
    <p:sldId id="363" r:id="rId100"/>
    <p:sldId id="364" r:id="rId101"/>
    <p:sldId id="365" r:id="rId102"/>
    <p:sldId id="366" r:id="rId103"/>
    <p:sldId id="367" r:id="rId104"/>
    <p:sldId id="368" r:id="rId105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AFE9EB-DD1E-4C5F-8A2E-9B764FE31C75}" v="1" dt="2023-09-13T11:37:02.650"/>
    <p1510:client id="{4731DAF3-1154-41CE-AC1F-A198B0AB4EC9}" v="1" dt="2023-09-16T18:20:47.929"/>
    <p1510:client id="{7CF7BE2A-71CC-4876-A0B5-593E97A25751}" v="1" dt="2023-09-10T09:54:17.92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18" autoAdjust="0"/>
    <p:restoredTop sz="94660"/>
  </p:normalViewPr>
  <p:slideViewPr>
    <p:cSldViewPr>
      <p:cViewPr varScale="1">
        <p:scale>
          <a:sx n="64" d="100"/>
          <a:sy n="64" d="100"/>
        </p:scale>
        <p:origin x="1024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microsoft.com/office/2015/10/relationships/revisionInfo" Target="revisionInfo.xml"/><Relationship Id="rId16" Type="http://schemas.openxmlformats.org/officeDocument/2006/relationships/slide" Target="slides/slide12.xml"/><Relationship Id="rId107" Type="http://schemas.openxmlformats.org/officeDocument/2006/relationships/presProps" Target="presProps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viewProps" Target="viewProps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theme" Target="theme/theme1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tableStyles" Target="tableStyles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22BCE10803" userId="S::rishitranjan2022@vitbhopal.ac.in::8f65b1bf-ad78-4a79-8c1a-3c9c97e5497a" providerId="AD" clId="Web-{7CF7BE2A-71CC-4876-A0B5-593E97A25751}"/>
    <pc:docChg chg="modSld">
      <pc:chgData name="22BCE10803" userId="S::rishitranjan2022@vitbhopal.ac.in::8f65b1bf-ad78-4a79-8c1a-3c9c97e5497a" providerId="AD" clId="Web-{7CF7BE2A-71CC-4876-A0B5-593E97A25751}" dt="2023-09-10T09:54:21.225" v="7" actId="1076"/>
      <pc:docMkLst>
        <pc:docMk/>
      </pc:docMkLst>
      <pc:sldChg chg="modSp">
        <pc:chgData name="22BCE10803" userId="S::rishitranjan2022@vitbhopal.ac.in::8f65b1bf-ad78-4a79-8c1a-3c9c97e5497a" providerId="AD" clId="Web-{7CF7BE2A-71CC-4876-A0B5-593E97A25751}" dt="2023-09-10T09:54:21.225" v="7" actId="1076"/>
        <pc:sldMkLst>
          <pc:docMk/>
          <pc:sldMk cId="0" sldId="311"/>
        </pc:sldMkLst>
        <pc:graphicFrameChg chg="mod ord">
          <ac:chgData name="22BCE10803" userId="S::rishitranjan2022@vitbhopal.ac.in::8f65b1bf-ad78-4a79-8c1a-3c9c97e5497a" providerId="AD" clId="Web-{7CF7BE2A-71CC-4876-A0B5-593E97A25751}" dt="2023-09-10T09:54:21.225" v="7" actId="1076"/>
          <ac:graphicFrameMkLst>
            <pc:docMk/>
            <pc:sldMk cId="0" sldId="311"/>
            <ac:graphicFrameMk id="10" creationId="{E1A084FF-676E-95AE-B388-68ABED70D466}"/>
          </ac:graphicFrameMkLst>
        </pc:graphicFrameChg>
      </pc:sldChg>
    </pc:docChg>
  </pc:docChgLst>
  <pc:docChgLst>
    <pc:chgData name="22BCE10255" userId="S::kavyaagarwal2022@vitbhopal.ac.in::5b3f3f31-6184-4f67-92a4-cd53a3c40003" providerId="AD" clId="Web-{4731DAF3-1154-41CE-AC1F-A198B0AB4EC9}"/>
    <pc:docChg chg="delSld">
      <pc:chgData name="22BCE10255" userId="S::kavyaagarwal2022@vitbhopal.ac.in::5b3f3f31-6184-4f67-92a4-cd53a3c40003" providerId="AD" clId="Web-{4731DAF3-1154-41CE-AC1F-A198B0AB4EC9}" dt="2023-09-16T18:20:47.929" v="0"/>
      <pc:docMkLst>
        <pc:docMk/>
      </pc:docMkLst>
      <pc:sldChg chg="del">
        <pc:chgData name="22BCE10255" userId="S::kavyaagarwal2022@vitbhopal.ac.in::5b3f3f31-6184-4f67-92a4-cd53a3c40003" providerId="AD" clId="Web-{4731DAF3-1154-41CE-AC1F-A198B0AB4EC9}" dt="2023-09-16T18:20:47.929" v="0"/>
        <pc:sldMkLst>
          <pc:docMk/>
          <pc:sldMk cId="0" sldId="262"/>
        </pc:sldMkLst>
      </pc:sldChg>
    </pc:docChg>
  </pc:docChgLst>
  <pc:docChgLst>
    <pc:chgData name="22BCE10367" userId="S::nehapal2022@vitbhopal.ac.in::b2ae22c8-5961-49e5-a9b1-f084675de6e8" providerId="AD" clId="Web-{00AFE9EB-DD1E-4C5F-8A2E-9B764FE31C75}"/>
    <pc:docChg chg="delSld">
      <pc:chgData name="22BCE10367" userId="S::nehapal2022@vitbhopal.ac.in::b2ae22c8-5961-49e5-a9b1-f084675de6e8" providerId="AD" clId="Web-{00AFE9EB-DD1E-4C5F-8A2E-9B764FE31C75}" dt="2023-09-13T11:37:02.650" v="0"/>
      <pc:docMkLst>
        <pc:docMk/>
      </pc:docMkLst>
      <pc:sldChg chg="del">
        <pc:chgData name="22BCE10367" userId="S::nehapal2022@vitbhopal.ac.in::b2ae22c8-5961-49e5-a9b1-f084675de6e8" providerId="AD" clId="Web-{00AFE9EB-DD1E-4C5F-8A2E-9B764FE31C75}" dt="2023-09-13T11:37:02.650" v="0"/>
        <pc:sldMkLst>
          <pc:docMk/>
          <pc:sldMk cId="0" sldId="27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63DACA-E1A0-469B-9A69-EA0688E04582}" type="datetimeFigureOut">
              <a:rPr lang="en-IN" smtClean="0"/>
              <a:t>18-09-2023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58CDC1-8EB6-4778-AC69-8777D79399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9698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8CDC1-8EB6-4778-AC69-8777D793995F}" type="slidenum">
              <a:rPr lang="en-IN" smtClean="0"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8408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959B0B4-62E1-1B6C-5B79-AD8562FF44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E65DEC-41A3-4660-83BC-F090C95DDEFA}" type="slidenum">
              <a:rPr lang="en-US" altLang="en-US"/>
              <a:pPr/>
              <a:t>84</a:t>
            </a:fld>
            <a:endParaRPr lang="en-US" altLang="en-US"/>
          </a:p>
        </p:txBody>
      </p:sp>
      <p:sp>
        <p:nvSpPr>
          <p:cNvPr id="182274" name="Rectangle 2">
            <a:extLst>
              <a:ext uri="{FF2B5EF4-FFF2-40B4-BE49-F238E27FC236}">
                <a16:creationId xmlns:a16="http://schemas.microsoft.com/office/drawing/2014/main" id="{F73E2973-15AE-C758-8A23-F72B7CB0CA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2275" name="Rectangle 3">
            <a:extLst>
              <a:ext uri="{FF2B5EF4-FFF2-40B4-BE49-F238E27FC236}">
                <a16:creationId xmlns:a16="http://schemas.microsoft.com/office/drawing/2014/main" id="{411693F4-D35A-3CC8-7B81-A3AB8874F1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684DED7-FB83-63E1-81FD-F0B4F921AA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5F1E69-2ECF-49ED-B66B-C4DA8F9DF222}" type="slidenum">
              <a:rPr lang="en-US" altLang="en-US"/>
              <a:pPr/>
              <a:t>85</a:t>
            </a:fld>
            <a:endParaRPr lang="en-US" altLang="en-US"/>
          </a:p>
        </p:txBody>
      </p:sp>
      <p:sp>
        <p:nvSpPr>
          <p:cNvPr id="183298" name="Rectangle 2">
            <a:extLst>
              <a:ext uri="{FF2B5EF4-FFF2-40B4-BE49-F238E27FC236}">
                <a16:creationId xmlns:a16="http://schemas.microsoft.com/office/drawing/2014/main" id="{665F1D99-215E-556C-CBE9-7237B65276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299" name="Rectangle 3">
            <a:extLst>
              <a:ext uri="{FF2B5EF4-FFF2-40B4-BE49-F238E27FC236}">
                <a16:creationId xmlns:a16="http://schemas.microsoft.com/office/drawing/2014/main" id="{D3A49946-9108-F1EB-263C-A3CB1A05A2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7719C88-B7CA-06C0-A012-CB87F43CB6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093D6FE-96A2-4C46-B58F-6E996C6756E1}" type="slidenum">
              <a:rPr lang="en-US" altLang="en-US"/>
              <a:pPr/>
              <a:t>86</a:t>
            </a:fld>
            <a:endParaRPr lang="en-US" altLang="en-US"/>
          </a:p>
        </p:txBody>
      </p:sp>
      <p:sp>
        <p:nvSpPr>
          <p:cNvPr id="262146" name="Rectangle 2">
            <a:extLst>
              <a:ext uri="{FF2B5EF4-FFF2-40B4-BE49-F238E27FC236}">
                <a16:creationId xmlns:a16="http://schemas.microsoft.com/office/drawing/2014/main" id="{F7177C82-AF03-5C37-D584-7BABA950C5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2147" name="Rectangle 3">
            <a:extLst>
              <a:ext uri="{FF2B5EF4-FFF2-40B4-BE49-F238E27FC236}">
                <a16:creationId xmlns:a16="http://schemas.microsoft.com/office/drawing/2014/main" id="{81A129F5-D1C8-0708-4F86-E2BF3FC324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7719C88-B7CA-06C0-A012-CB87F43CB6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093D6FE-96A2-4C46-B58F-6E996C6756E1}" type="slidenum">
              <a:rPr lang="en-US" altLang="en-US"/>
              <a:pPr/>
              <a:t>87</a:t>
            </a:fld>
            <a:endParaRPr lang="en-US" altLang="en-US"/>
          </a:p>
        </p:txBody>
      </p:sp>
      <p:sp>
        <p:nvSpPr>
          <p:cNvPr id="262146" name="Rectangle 2">
            <a:extLst>
              <a:ext uri="{FF2B5EF4-FFF2-40B4-BE49-F238E27FC236}">
                <a16:creationId xmlns:a16="http://schemas.microsoft.com/office/drawing/2014/main" id="{F7177C82-AF03-5C37-D584-7BABA950C5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2147" name="Rectangle 3">
            <a:extLst>
              <a:ext uri="{FF2B5EF4-FFF2-40B4-BE49-F238E27FC236}">
                <a16:creationId xmlns:a16="http://schemas.microsoft.com/office/drawing/2014/main" id="{81A129F5-D1C8-0708-4F86-E2BF3FC324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78737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824A83F-8ACE-6E54-C0E7-9EE84B4BD2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700CC42-FE22-4ED7-AB9B-638B77F663AA}" type="slidenum">
              <a:rPr lang="en-US" altLang="en-US"/>
              <a:pPr/>
              <a:t>88</a:t>
            </a:fld>
            <a:endParaRPr lang="en-US" altLang="en-US"/>
          </a:p>
        </p:txBody>
      </p:sp>
      <p:sp>
        <p:nvSpPr>
          <p:cNvPr id="202754" name="Rectangle 2">
            <a:extLst>
              <a:ext uri="{FF2B5EF4-FFF2-40B4-BE49-F238E27FC236}">
                <a16:creationId xmlns:a16="http://schemas.microsoft.com/office/drawing/2014/main" id="{8293428A-1160-DA51-676F-6339B48748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5" name="Rectangle 3">
            <a:extLst>
              <a:ext uri="{FF2B5EF4-FFF2-40B4-BE49-F238E27FC236}">
                <a16:creationId xmlns:a16="http://schemas.microsoft.com/office/drawing/2014/main" id="{C77DA892-06F7-822C-BC13-908EDC72A4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17C4653-5FD5-5F17-1997-259A4BA204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714A06B-3612-4C4A-B5B4-B9359FE9F8A2}" type="slidenum">
              <a:rPr lang="en-US" altLang="en-US"/>
              <a:pPr/>
              <a:t>89</a:t>
            </a:fld>
            <a:endParaRPr lang="en-US" altLang="en-US"/>
          </a:p>
        </p:txBody>
      </p:sp>
      <p:sp>
        <p:nvSpPr>
          <p:cNvPr id="204802" name="Rectangle 2">
            <a:extLst>
              <a:ext uri="{FF2B5EF4-FFF2-40B4-BE49-F238E27FC236}">
                <a16:creationId xmlns:a16="http://schemas.microsoft.com/office/drawing/2014/main" id="{6C4A305C-B5FB-2438-888E-EE034EDF96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03" name="Rectangle 3">
            <a:extLst>
              <a:ext uri="{FF2B5EF4-FFF2-40B4-BE49-F238E27FC236}">
                <a16:creationId xmlns:a16="http://schemas.microsoft.com/office/drawing/2014/main" id="{57797FB9-5478-87A0-AD0C-0218025165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451D1EF-A3E6-47AE-7576-5A3DD38928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B4BCABB-3633-47F0-99C9-C58F0BD12330}" type="slidenum">
              <a:rPr lang="en-US" altLang="en-US"/>
              <a:pPr/>
              <a:t>90</a:t>
            </a:fld>
            <a:endParaRPr lang="en-US" altLang="en-US"/>
          </a:p>
        </p:txBody>
      </p:sp>
      <p:sp>
        <p:nvSpPr>
          <p:cNvPr id="206850" name="Rectangle 2">
            <a:extLst>
              <a:ext uri="{FF2B5EF4-FFF2-40B4-BE49-F238E27FC236}">
                <a16:creationId xmlns:a16="http://schemas.microsoft.com/office/drawing/2014/main" id="{EB4EAA03-3AC8-2528-33FE-0F61B1001C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6851" name="Rectangle 3">
            <a:extLst>
              <a:ext uri="{FF2B5EF4-FFF2-40B4-BE49-F238E27FC236}">
                <a16:creationId xmlns:a16="http://schemas.microsoft.com/office/drawing/2014/main" id="{4313417E-3BF1-1E63-424F-A6F2D92DD1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86592C0-6D4E-4518-BE12-6FCE8F5227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F0C2D8F-9BF4-42FA-8013-331A6BECC990}" type="slidenum">
              <a:rPr lang="en-US" altLang="en-US"/>
              <a:pPr/>
              <a:t>91</a:t>
            </a:fld>
            <a:endParaRPr lang="en-US" altLang="en-US"/>
          </a:p>
        </p:txBody>
      </p:sp>
      <p:sp>
        <p:nvSpPr>
          <p:cNvPr id="208898" name="Rectangle 2">
            <a:extLst>
              <a:ext uri="{FF2B5EF4-FFF2-40B4-BE49-F238E27FC236}">
                <a16:creationId xmlns:a16="http://schemas.microsoft.com/office/drawing/2014/main" id="{881D1E1A-93BD-E408-5E4C-410F3572B3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8899" name="Rectangle 3">
            <a:extLst>
              <a:ext uri="{FF2B5EF4-FFF2-40B4-BE49-F238E27FC236}">
                <a16:creationId xmlns:a16="http://schemas.microsoft.com/office/drawing/2014/main" id="{249B4B54-57B4-99EB-DF1E-0C1D5703B3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BA87F0E-26F7-3F38-6E38-C7FCC4D40E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62409C9-F26E-4F67-A0FE-7429BF4EC8BF}" type="slidenum">
              <a:rPr lang="en-US" altLang="en-US"/>
              <a:pPr/>
              <a:t>92</a:t>
            </a:fld>
            <a:endParaRPr lang="en-US" altLang="en-US"/>
          </a:p>
        </p:txBody>
      </p:sp>
      <p:sp>
        <p:nvSpPr>
          <p:cNvPr id="210946" name="Rectangle 2">
            <a:extLst>
              <a:ext uri="{FF2B5EF4-FFF2-40B4-BE49-F238E27FC236}">
                <a16:creationId xmlns:a16="http://schemas.microsoft.com/office/drawing/2014/main" id="{A8445A0C-CD1C-F850-9124-E8693CCB33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0947" name="Rectangle 3">
            <a:extLst>
              <a:ext uri="{FF2B5EF4-FFF2-40B4-BE49-F238E27FC236}">
                <a16:creationId xmlns:a16="http://schemas.microsoft.com/office/drawing/2014/main" id="{57C31EC5-6171-87A1-8492-8502BBC690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1E0D7B1-0D9E-1FFB-5219-FBE255CE55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4F12283-C728-4693-983D-60033B71DA70}" type="slidenum">
              <a:rPr lang="en-US" altLang="en-US"/>
              <a:pPr/>
              <a:t>93</a:t>
            </a:fld>
            <a:endParaRPr lang="en-US" altLang="en-US"/>
          </a:p>
        </p:txBody>
      </p:sp>
      <p:sp>
        <p:nvSpPr>
          <p:cNvPr id="212994" name="Rectangle 2">
            <a:extLst>
              <a:ext uri="{FF2B5EF4-FFF2-40B4-BE49-F238E27FC236}">
                <a16:creationId xmlns:a16="http://schemas.microsoft.com/office/drawing/2014/main" id="{AA1A6B13-ACD8-A6CF-C9E1-754EE68326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2995" name="Rectangle 3">
            <a:extLst>
              <a:ext uri="{FF2B5EF4-FFF2-40B4-BE49-F238E27FC236}">
                <a16:creationId xmlns:a16="http://schemas.microsoft.com/office/drawing/2014/main" id="{85019BE7-6EE2-0FA6-735B-C791545A12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A6BB5FC-8BD0-5243-07FD-5895DC88BA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347CA48-95AD-46BE-B076-17E552B01802}" type="slidenum">
              <a:rPr lang="en-US" altLang="en-US"/>
              <a:pPr/>
              <a:t>94</a:t>
            </a:fld>
            <a:endParaRPr lang="en-US" altLang="en-US"/>
          </a:p>
        </p:txBody>
      </p:sp>
      <p:sp>
        <p:nvSpPr>
          <p:cNvPr id="215042" name="Rectangle 2">
            <a:extLst>
              <a:ext uri="{FF2B5EF4-FFF2-40B4-BE49-F238E27FC236}">
                <a16:creationId xmlns:a16="http://schemas.microsoft.com/office/drawing/2014/main" id="{A46F89B2-45EE-FCDB-086F-40DA4891CF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43" name="Rectangle 3">
            <a:extLst>
              <a:ext uri="{FF2B5EF4-FFF2-40B4-BE49-F238E27FC236}">
                <a16:creationId xmlns:a16="http://schemas.microsoft.com/office/drawing/2014/main" id="{B2FDFD2D-C0A6-473B-7474-730C9C901F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75DEBCB-3203-79A8-1954-FE341B7223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0B79B90-1987-4610-BB35-4EDB03718C64}" type="slidenum">
              <a:rPr lang="en-US" altLang="en-US"/>
              <a:pPr/>
              <a:t>95</a:t>
            </a:fld>
            <a:endParaRPr lang="en-US" altLang="en-US"/>
          </a:p>
        </p:txBody>
      </p:sp>
      <p:sp>
        <p:nvSpPr>
          <p:cNvPr id="217090" name="Rectangle 2">
            <a:extLst>
              <a:ext uri="{FF2B5EF4-FFF2-40B4-BE49-F238E27FC236}">
                <a16:creationId xmlns:a16="http://schemas.microsoft.com/office/drawing/2014/main" id="{49D0EE5F-24A1-DE00-C0B1-69410A571A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7091" name="Rectangle 3">
            <a:extLst>
              <a:ext uri="{FF2B5EF4-FFF2-40B4-BE49-F238E27FC236}">
                <a16:creationId xmlns:a16="http://schemas.microsoft.com/office/drawing/2014/main" id="{7EBACCB6-E7F1-4BD1-37F8-15D91102DC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012D703-8CA4-D4DA-920A-3ED88988E7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B99E309-71A9-43A9-B6CE-1DF0E7D59DAF}" type="slidenum">
              <a:rPr lang="en-US" altLang="en-US"/>
              <a:pPr/>
              <a:t>96</a:t>
            </a:fld>
            <a:endParaRPr lang="en-US" altLang="en-US"/>
          </a:p>
        </p:txBody>
      </p:sp>
      <p:sp>
        <p:nvSpPr>
          <p:cNvPr id="221186" name="Rectangle 2">
            <a:extLst>
              <a:ext uri="{FF2B5EF4-FFF2-40B4-BE49-F238E27FC236}">
                <a16:creationId xmlns:a16="http://schemas.microsoft.com/office/drawing/2014/main" id="{9A52CE47-0F8C-42A2-B877-09BCEDDD39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1187" name="Rectangle 3">
            <a:extLst>
              <a:ext uri="{FF2B5EF4-FFF2-40B4-BE49-F238E27FC236}">
                <a16:creationId xmlns:a16="http://schemas.microsoft.com/office/drawing/2014/main" id="{80C89F12-734E-69F3-52E3-CC8673F46A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8D00479-C07F-D630-FFE3-65A850BDA2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65AE1C7-4216-4B3D-9D36-61E04776CB3C}" type="slidenum">
              <a:rPr lang="en-US" altLang="en-US"/>
              <a:pPr/>
              <a:t>97</a:t>
            </a:fld>
            <a:endParaRPr lang="en-US" altLang="en-US"/>
          </a:p>
        </p:txBody>
      </p:sp>
      <p:sp>
        <p:nvSpPr>
          <p:cNvPr id="223234" name="Rectangle 2">
            <a:extLst>
              <a:ext uri="{FF2B5EF4-FFF2-40B4-BE49-F238E27FC236}">
                <a16:creationId xmlns:a16="http://schemas.microsoft.com/office/drawing/2014/main" id="{F34A7BEF-5D0F-24CE-2D52-D6DD05FE9F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3235" name="Rectangle 3">
            <a:extLst>
              <a:ext uri="{FF2B5EF4-FFF2-40B4-BE49-F238E27FC236}">
                <a16:creationId xmlns:a16="http://schemas.microsoft.com/office/drawing/2014/main" id="{890A7D81-FB3B-D051-AEBD-D5599BCE13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CB467A3-5D6A-EEDC-E7F9-D887925660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E3593D4-5086-45D2-B286-943184489F33}" type="slidenum">
              <a:rPr lang="en-US" altLang="en-US"/>
              <a:pPr/>
              <a:t>98</a:t>
            </a:fld>
            <a:endParaRPr lang="en-US" altLang="en-US"/>
          </a:p>
        </p:txBody>
      </p:sp>
      <p:sp>
        <p:nvSpPr>
          <p:cNvPr id="225282" name="Rectangle 2">
            <a:extLst>
              <a:ext uri="{FF2B5EF4-FFF2-40B4-BE49-F238E27FC236}">
                <a16:creationId xmlns:a16="http://schemas.microsoft.com/office/drawing/2014/main" id="{B06471D1-AC50-CEFD-2E30-49A889F56C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283" name="Rectangle 3">
            <a:extLst>
              <a:ext uri="{FF2B5EF4-FFF2-40B4-BE49-F238E27FC236}">
                <a16:creationId xmlns:a16="http://schemas.microsoft.com/office/drawing/2014/main" id="{1C045940-9E11-11D1-76F5-8D9663EC1B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2DF9C0F-87C6-9F94-FB15-87736AF6C2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845A3B2-1BE0-4BB3-9F0D-A4291ADBA677}" type="slidenum">
              <a:rPr lang="en-US" altLang="en-US"/>
              <a:pPr/>
              <a:t>99</a:t>
            </a:fld>
            <a:endParaRPr lang="en-US" altLang="en-US"/>
          </a:p>
        </p:txBody>
      </p:sp>
      <p:sp>
        <p:nvSpPr>
          <p:cNvPr id="227330" name="Rectangle 2">
            <a:extLst>
              <a:ext uri="{FF2B5EF4-FFF2-40B4-BE49-F238E27FC236}">
                <a16:creationId xmlns:a16="http://schemas.microsoft.com/office/drawing/2014/main" id="{544A5095-962D-0759-E924-3CD2CA60FA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7331" name="Rectangle 3">
            <a:extLst>
              <a:ext uri="{FF2B5EF4-FFF2-40B4-BE49-F238E27FC236}">
                <a16:creationId xmlns:a16="http://schemas.microsoft.com/office/drawing/2014/main" id="{4C63945F-8986-5DD9-F741-6B840345AD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F62BB01-0047-53B5-3FF1-DF5B71A2A3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337290-517B-4C18-AB07-38B8EB1A72FF}" type="slidenum">
              <a:rPr lang="en-US" altLang="en-US"/>
              <a:pPr/>
              <a:t>100</a:t>
            </a:fld>
            <a:endParaRPr lang="en-US" altLang="en-US"/>
          </a:p>
        </p:txBody>
      </p:sp>
      <p:sp>
        <p:nvSpPr>
          <p:cNvPr id="229378" name="Rectangle 2">
            <a:extLst>
              <a:ext uri="{FF2B5EF4-FFF2-40B4-BE49-F238E27FC236}">
                <a16:creationId xmlns:a16="http://schemas.microsoft.com/office/drawing/2014/main" id="{CCE65299-DC74-F9F4-E78C-11972064A6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9379" name="Rectangle 3">
            <a:extLst>
              <a:ext uri="{FF2B5EF4-FFF2-40B4-BE49-F238E27FC236}">
                <a16:creationId xmlns:a16="http://schemas.microsoft.com/office/drawing/2014/main" id="{C2D154FD-B344-681D-CBD1-CEC2481894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3666707-F888-CFCA-12B6-68C7F0886B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656F42C-1B85-4982-A457-35BAE8D9080A}" type="slidenum">
              <a:rPr lang="en-US" altLang="en-US"/>
              <a:pPr/>
              <a:t>101</a:t>
            </a:fld>
            <a:endParaRPr lang="en-US" altLang="en-US"/>
          </a:p>
        </p:txBody>
      </p:sp>
      <p:sp>
        <p:nvSpPr>
          <p:cNvPr id="231426" name="Rectangle 2">
            <a:extLst>
              <a:ext uri="{FF2B5EF4-FFF2-40B4-BE49-F238E27FC236}">
                <a16:creationId xmlns:a16="http://schemas.microsoft.com/office/drawing/2014/main" id="{678BAEE4-31B7-284F-CEBC-17D688AF33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1427" name="Rectangle 3">
            <a:extLst>
              <a:ext uri="{FF2B5EF4-FFF2-40B4-BE49-F238E27FC236}">
                <a16:creationId xmlns:a16="http://schemas.microsoft.com/office/drawing/2014/main" id="{9BBF0A4F-3FF1-7CD1-0891-BC4936B924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40048" y="758520"/>
            <a:ext cx="2378303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9413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CSE</a:t>
            </a:r>
            <a:r>
              <a:rPr spc="-15" dirty="0"/>
              <a:t> </a:t>
            </a:r>
            <a:r>
              <a:rPr spc="-30" dirty="0"/>
              <a:t>2011</a:t>
            </a: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/>
              <a:t>Prof. J.</a:t>
            </a:r>
            <a:r>
              <a:rPr spc="-65" dirty="0"/>
              <a:t> </a:t>
            </a:r>
            <a:r>
              <a:rPr spc="-5" dirty="0"/>
              <a:t>Elder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/>
              <a:t>Last Updated: 4/1/10 11:16 AM</a:t>
            </a:r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‹#›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9413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CSE</a:t>
            </a:r>
            <a:r>
              <a:rPr spc="-15" dirty="0"/>
              <a:t> </a:t>
            </a:r>
            <a:r>
              <a:rPr spc="-30" dirty="0"/>
              <a:t>2011</a:t>
            </a: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/>
              <a:t>Prof. J.</a:t>
            </a:r>
            <a:r>
              <a:rPr spc="-65" dirty="0"/>
              <a:t> </a:t>
            </a:r>
            <a:r>
              <a:rPr spc="-5" dirty="0"/>
              <a:t>Elder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/>
              <a:t>Last Updated: 4/1/10 11:16 AM</a:t>
            </a:r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‹#›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57200" y="45720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0"/>
                </a:move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CF2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57200" y="6769100"/>
            <a:ext cx="1371600" cy="546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9413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60094" y="1331302"/>
            <a:ext cx="4060825" cy="53314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256872" y="1389062"/>
            <a:ext cx="4114800" cy="47866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CSE</a:t>
            </a:r>
            <a:r>
              <a:rPr spc="-15" dirty="0"/>
              <a:t> </a:t>
            </a:r>
            <a:r>
              <a:rPr spc="-30" dirty="0"/>
              <a:t>2011</a:t>
            </a: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/>
              <a:t>Prof. J.</a:t>
            </a:r>
            <a:r>
              <a:rPr spc="-65" dirty="0"/>
              <a:t> </a:t>
            </a:r>
            <a:r>
              <a:rPr spc="-5" dirty="0"/>
              <a:t>Elder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/>
              <a:t>Last Updated: 4/1/10 11:16 AM</a:t>
            </a:r>
            <a:endParaRPr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‹#›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9413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CSE</a:t>
            </a:r>
            <a:r>
              <a:rPr spc="-15" dirty="0"/>
              <a:t> </a:t>
            </a:r>
            <a:r>
              <a:rPr spc="-30" dirty="0"/>
              <a:t>2011</a:t>
            </a: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/>
              <a:t>Prof. J.</a:t>
            </a:r>
            <a:r>
              <a:rPr spc="-65" dirty="0"/>
              <a:t> </a:t>
            </a:r>
            <a:r>
              <a:rPr spc="-5" dirty="0"/>
              <a:t>Elder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/>
              <a:t>Last Updated: 4/1/10 11:16 AM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‹#›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57200" y="45720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0"/>
                </a:move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CF2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57200" y="6769100"/>
            <a:ext cx="1371600" cy="546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CSE</a:t>
            </a:r>
            <a:r>
              <a:rPr spc="-15" dirty="0"/>
              <a:t> </a:t>
            </a:r>
            <a:r>
              <a:rPr spc="-30" dirty="0"/>
              <a:t>2011</a:t>
            </a: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/>
              <a:t>Prof. J.</a:t>
            </a:r>
            <a:r>
              <a:rPr spc="-65" dirty="0"/>
              <a:t> </a:t>
            </a:r>
            <a:r>
              <a:rPr spc="-5" dirty="0"/>
              <a:t>Elder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/>
              <a:t>Last Updated: 4/1/10 11:16 AM</a:t>
            </a:r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‹#›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92359-D85A-3AF5-897B-E6DE08D25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172720"/>
            <a:ext cx="8298180" cy="4924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1A699-BF2D-F08C-3F58-91082B077436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005840" y="1899920"/>
            <a:ext cx="4065270" cy="2031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97021D-A578-1843-EC1A-F13316B0D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38750" y="1899920"/>
            <a:ext cx="4065270" cy="2031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0C422-805E-7BF1-DC67-5FF4AC16A8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08520" y="7081520"/>
            <a:ext cx="2095500" cy="184666"/>
          </a:xfrm>
        </p:spPr>
        <p:txBody>
          <a:bodyPr/>
          <a:lstStyle>
            <a:lvl1pPr>
              <a:defRPr/>
            </a:lvl1pPr>
          </a:lstStyle>
          <a:p>
            <a:fld id="{EBC2EEE6-8270-4CAE-8BBC-4A431A2CAEA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F8ECFF-7F05-374C-9892-296E34C97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" y="7363990"/>
            <a:ext cx="6621780" cy="184666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© 2006 Pearson Addison-Wesley.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406437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57200" y="45720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0"/>
                </a:move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CF2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28300" y="637222"/>
            <a:ext cx="2401798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9413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2127" y="3750957"/>
            <a:ext cx="6690359" cy="275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01197" y="6826890"/>
            <a:ext cx="906780" cy="4165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CSE</a:t>
            </a:r>
            <a:r>
              <a:rPr spc="-15" dirty="0"/>
              <a:t> </a:t>
            </a:r>
            <a:r>
              <a:rPr spc="-30" dirty="0"/>
              <a:t>2011</a:t>
            </a: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/>
              <a:t>Prof. J.</a:t>
            </a:r>
            <a:r>
              <a:rPr spc="-65" dirty="0"/>
              <a:t> </a:t>
            </a:r>
            <a:r>
              <a:rPr spc="-5" dirty="0"/>
              <a:t>Elder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059206" y="6951919"/>
            <a:ext cx="2158365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/>
              <a:t>Last Updated: 4/1/10 11:16 AM</a:t>
            </a:r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828542" y="6951919"/>
            <a:ext cx="466089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‹#›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" Target="slide48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jpg"/><Relationship Id="rId4" Type="http://schemas.openxmlformats.org/officeDocument/2006/relationships/image" Target="../media/image30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jpg"/><Relationship Id="rId3" Type="http://schemas.openxmlformats.org/officeDocument/2006/relationships/image" Target="../media/image49.jpg"/><Relationship Id="rId7" Type="http://schemas.openxmlformats.org/officeDocument/2006/relationships/image" Target="../media/image53.jpg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2.jpg"/><Relationship Id="rId5" Type="http://schemas.openxmlformats.org/officeDocument/2006/relationships/image" Target="../media/image51.jpg"/><Relationship Id="rId10" Type="http://schemas.openxmlformats.org/officeDocument/2006/relationships/image" Target="../media/image56.jpg"/><Relationship Id="rId4" Type="http://schemas.openxmlformats.org/officeDocument/2006/relationships/image" Target="../media/image50.jpg"/><Relationship Id="rId9" Type="http://schemas.openxmlformats.org/officeDocument/2006/relationships/image" Target="../media/image55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6.jpg"/><Relationship Id="rId4" Type="http://schemas.openxmlformats.org/officeDocument/2006/relationships/image" Target="../media/image65.jp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g"/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429000" y="3124200"/>
            <a:ext cx="533399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941300"/>
                </a:solidFill>
                <a:latin typeface="Arial"/>
                <a:cs typeface="Arial"/>
              </a:rPr>
              <a:t>Sorting</a:t>
            </a:r>
            <a:r>
              <a:rPr lang="en-GB" sz="3200" spc="-10" dirty="0">
                <a:solidFill>
                  <a:srgbClr val="941300"/>
                </a:solidFill>
                <a:latin typeface="Arial"/>
                <a:cs typeface="Arial"/>
              </a:rPr>
              <a:t> and Searching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1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86000" y="758520"/>
            <a:ext cx="6400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Sorting</a:t>
            </a:r>
            <a:r>
              <a:rPr spc="-45" dirty="0"/>
              <a:t> </a:t>
            </a:r>
            <a:r>
              <a:rPr lang="en-GB" spc="-45" dirty="0"/>
              <a:t>and Searching </a:t>
            </a:r>
            <a:r>
              <a:rPr spc="-10" dirty="0"/>
              <a:t>Algorithms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2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3139" y="1314389"/>
            <a:ext cx="3061335" cy="3303468"/>
          </a:xfrm>
          <a:prstGeom prst="rect">
            <a:avLst/>
          </a:prstGeom>
        </p:spPr>
        <p:txBody>
          <a:bodyPr vert="horz" wrap="square" lIns="0" tIns="198120" rIns="0" bIns="0" rtlCol="0">
            <a:spAutoFit/>
          </a:bodyPr>
          <a:lstStyle/>
          <a:p>
            <a:pPr marL="755650" lvl="1" indent="-285750">
              <a:lnSpc>
                <a:spcPct val="100000"/>
              </a:lnSpc>
              <a:spcBef>
                <a:spcPts val="1220"/>
              </a:spcBef>
              <a:buClr>
                <a:srgbClr val="2F5C00"/>
              </a:buClr>
              <a:buFont typeface="Wingdings"/>
              <a:buChar char=""/>
              <a:tabLst>
                <a:tab pos="755650" algn="l"/>
              </a:tabLst>
            </a:pPr>
            <a:r>
              <a:rPr sz="2000" spc="-5" dirty="0">
                <a:latin typeface="Arial"/>
                <a:cs typeface="Arial"/>
              </a:rPr>
              <a:t>Selection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Sort</a:t>
            </a:r>
            <a:endParaRPr sz="2000" dirty="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Clr>
                <a:srgbClr val="2F5C00"/>
              </a:buClr>
              <a:buFont typeface="Wingdings"/>
              <a:buChar char=""/>
              <a:tabLst>
                <a:tab pos="755650" algn="l"/>
              </a:tabLst>
            </a:pPr>
            <a:r>
              <a:rPr sz="2000" spc="-5" dirty="0">
                <a:latin typeface="Arial"/>
                <a:cs typeface="Arial"/>
              </a:rPr>
              <a:t>Bubble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Sort</a:t>
            </a:r>
            <a:endParaRPr sz="2000" dirty="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Clr>
                <a:srgbClr val="2F5C00"/>
              </a:buClr>
              <a:buFont typeface="Wingdings"/>
              <a:buChar char=""/>
              <a:tabLst>
                <a:tab pos="755650" algn="l"/>
              </a:tabLst>
            </a:pPr>
            <a:r>
              <a:rPr sz="2000" spc="-5" dirty="0">
                <a:latin typeface="Arial"/>
                <a:cs typeface="Arial"/>
              </a:rPr>
              <a:t>Insertion </a:t>
            </a:r>
            <a:r>
              <a:rPr sz="2000" dirty="0">
                <a:latin typeface="Arial"/>
                <a:cs typeface="Arial"/>
              </a:rPr>
              <a:t>Sort</a:t>
            </a: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Clr>
                <a:srgbClr val="2F5C00"/>
              </a:buClr>
              <a:buFont typeface="Wingdings"/>
              <a:buChar char=""/>
              <a:tabLst>
                <a:tab pos="755650" algn="l"/>
              </a:tabLst>
            </a:pPr>
            <a:r>
              <a:rPr sz="2000" spc="-5" dirty="0">
                <a:latin typeface="Arial"/>
                <a:cs typeface="Arial"/>
              </a:rPr>
              <a:t>Merge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Sort</a:t>
            </a:r>
            <a:endParaRPr sz="2000" dirty="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Clr>
                <a:srgbClr val="2F5C00"/>
              </a:buClr>
              <a:buFont typeface="Wingdings"/>
              <a:buChar char=""/>
              <a:tabLst>
                <a:tab pos="755650" algn="l"/>
              </a:tabLst>
            </a:pPr>
            <a:r>
              <a:rPr sz="2000" spc="-5" dirty="0">
                <a:latin typeface="Arial"/>
                <a:cs typeface="Arial"/>
              </a:rPr>
              <a:t>Heap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Sort</a:t>
            </a:r>
            <a:endParaRPr sz="2000" dirty="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Clr>
                <a:srgbClr val="2F5C00"/>
              </a:buClr>
              <a:buFont typeface="Wingdings"/>
              <a:buChar char=""/>
              <a:tabLst>
                <a:tab pos="755650" algn="l"/>
              </a:tabLst>
            </a:pPr>
            <a:r>
              <a:rPr sz="2000" dirty="0">
                <a:latin typeface="Arial"/>
                <a:cs typeface="Arial"/>
              </a:rPr>
              <a:t>Quick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Sort</a:t>
            </a:r>
          </a:p>
          <a:p>
            <a:pPr marL="355600" marR="800735" indent="-355600" algn="r">
              <a:lnSpc>
                <a:spcPct val="100000"/>
              </a:lnSpc>
              <a:spcBef>
                <a:spcPts val="144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73147" y="758520"/>
            <a:ext cx="571627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Sorting Algorithms and</a:t>
            </a:r>
            <a:r>
              <a:rPr spc="-75" dirty="0"/>
              <a:t> </a:t>
            </a:r>
            <a:r>
              <a:rPr spc="-5" dirty="0"/>
              <a:t>Memory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3139" y="1659331"/>
            <a:ext cx="8075930" cy="35026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55600" marR="360680" indent="-342900">
              <a:lnSpc>
                <a:spcPct val="100699"/>
              </a:lnSpc>
              <a:spcBef>
                <a:spcPts val="8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Some algorithms sort by swapping elements within the  input </a:t>
            </a:r>
            <a:r>
              <a:rPr sz="2400" spc="-10" dirty="0">
                <a:latin typeface="Arial"/>
                <a:cs typeface="Arial"/>
              </a:rPr>
              <a:t>array</a:t>
            </a:r>
            <a:endParaRPr sz="2400">
              <a:latin typeface="Arial"/>
              <a:cs typeface="Arial"/>
            </a:endParaRPr>
          </a:p>
          <a:p>
            <a:pPr marL="355600" marR="427355" indent="-342900">
              <a:lnSpc>
                <a:spcPts val="2860"/>
              </a:lnSpc>
              <a:spcBef>
                <a:spcPts val="157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Such algorithms are said to </a:t>
            </a:r>
            <a:r>
              <a:rPr sz="2400" b="1" dirty="0">
                <a:solidFill>
                  <a:srgbClr val="941300"/>
                </a:solidFill>
                <a:latin typeface="Arial"/>
                <a:cs typeface="Arial"/>
              </a:rPr>
              <a:t>sort in </a:t>
            </a:r>
            <a:r>
              <a:rPr sz="2400" b="1" spc="-5" dirty="0">
                <a:solidFill>
                  <a:srgbClr val="941300"/>
                </a:solidFill>
                <a:latin typeface="Arial"/>
                <a:cs typeface="Arial"/>
              </a:rPr>
              <a:t>place</a:t>
            </a:r>
            <a:r>
              <a:rPr sz="2400" spc="-5" dirty="0">
                <a:latin typeface="Arial"/>
                <a:cs typeface="Arial"/>
              </a:rPr>
              <a:t>, and </a:t>
            </a:r>
            <a:r>
              <a:rPr sz="2400" spc="-10" dirty="0">
                <a:latin typeface="Arial"/>
                <a:cs typeface="Arial"/>
              </a:rPr>
              <a:t>require  </a:t>
            </a:r>
            <a:r>
              <a:rPr sz="2400" spc="-5" dirty="0">
                <a:latin typeface="Arial"/>
                <a:cs typeface="Arial"/>
              </a:rPr>
              <a:t>only O(1) additional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memory.</a:t>
            </a: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ts val="2860"/>
              </a:lnSpc>
              <a:spcBef>
                <a:spcPts val="148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Other algorithms require allocation of an output array </a:t>
            </a:r>
            <a:r>
              <a:rPr sz="2400" spc="-10" dirty="0">
                <a:latin typeface="Arial"/>
                <a:cs typeface="Arial"/>
              </a:rPr>
              <a:t>into  </a:t>
            </a:r>
            <a:r>
              <a:rPr sz="2400" spc="-5" dirty="0">
                <a:latin typeface="Arial"/>
                <a:cs typeface="Arial"/>
              </a:rPr>
              <a:t>which values are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copied.</a:t>
            </a:r>
            <a:endParaRPr sz="2400">
              <a:latin typeface="Arial"/>
              <a:cs typeface="Arial"/>
            </a:endParaRPr>
          </a:p>
          <a:p>
            <a:pPr marL="355600" marR="309245" indent="-342900">
              <a:lnSpc>
                <a:spcPts val="2860"/>
              </a:lnSpc>
              <a:spcBef>
                <a:spcPts val="148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These algorithms do not sort in place, and require O(n)  additional memory.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55101" y="5691670"/>
            <a:ext cx="6096000" cy="370840"/>
          </a:xfrm>
          <a:custGeom>
            <a:avLst/>
            <a:gdLst/>
            <a:ahLst/>
            <a:cxnLst/>
            <a:rect l="l" t="t" r="r" b="b"/>
            <a:pathLst>
              <a:path w="6096000" h="370839">
                <a:moveTo>
                  <a:pt x="0" y="0"/>
                </a:moveTo>
                <a:lnTo>
                  <a:pt x="0" y="370840"/>
                </a:lnTo>
                <a:lnTo>
                  <a:pt x="6096000" y="370839"/>
                </a:lnTo>
                <a:lnTo>
                  <a:pt x="6096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941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1948738" y="5685320"/>
            <a:ext cx="6108700" cy="396240"/>
            <a:chOff x="1948738" y="5685320"/>
            <a:chExt cx="6108700" cy="396240"/>
          </a:xfrm>
        </p:grpSpPr>
        <p:sp>
          <p:nvSpPr>
            <p:cNvPr id="7" name="object 7"/>
            <p:cNvSpPr/>
            <p:nvPr/>
          </p:nvSpPr>
          <p:spPr>
            <a:xfrm>
              <a:off x="2632443" y="5685320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39">
                  <a:moveTo>
                    <a:pt x="0" y="0"/>
                  </a:moveTo>
                  <a:lnTo>
                    <a:pt x="0" y="396239"/>
                  </a:lnTo>
                </a:path>
              </a:pathLst>
            </a:custGeom>
            <a:ln w="12700">
              <a:solidFill>
                <a:srgbClr val="FCF2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09772" y="5685320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39">
                  <a:moveTo>
                    <a:pt x="0" y="0"/>
                  </a:moveTo>
                  <a:lnTo>
                    <a:pt x="0" y="396239"/>
                  </a:lnTo>
                </a:path>
              </a:pathLst>
            </a:custGeom>
            <a:ln w="12700">
              <a:solidFill>
                <a:srgbClr val="FCF2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87101" y="5685320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39">
                  <a:moveTo>
                    <a:pt x="0" y="0"/>
                  </a:moveTo>
                  <a:lnTo>
                    <a:pt x="0" y="396239"/>
                  </a:lnTo>
                </a:path>
              </a:pathLst>
            </a:custGeom>
            <a:ln w="12700">
              <a:solidFill>
                <a:srgbClr val="FCF2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664430" y="5685320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39">
                  <a:moveTo>
                    <a:pt x="0" y="0"/>
                  </a:moveTo>
                  <a:lnTo>
                    <a:pt x="0" y="396239"/>
                  </a:lnTo>
                </a:path>
              </a:pathLst>
            </a:custGeom>
            <a:ln w="12700">
              <a:solidFill>
                <a:srgbClr val="FCF2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341759" y="5685320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39">
                  <a:moveTo>
                    <a:pt x="0" y="0"/>
                  </a:moveTo>
                  <a:lnTo>
                    <a:pt x="0" y="396239"/>
                  </a:lnTo>
                </a:path>
              </a:pathLst>
            </a:custGeom>
            <a:ln w="12700">
              <a:solidFill>
                <a:srgbClr val="FCF2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019088" y="5685320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39">
                  <a:moveTo>
                    <a:pt x="0" y="0"/>
                  </a:moveTo>
                  <a:lnTo>
                    <a:pt x="0" y="396239"/>
                  </a:lnTo>
                </a:path>
              </a:pathLst>
            </a:custGeom>
            <a:ln w="12700">
              <a:solidFill>
                <a:srgbClr val="FCF2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696418" y="5685320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39">
                  <a:moveTo>
                    <a:pt x="0" y="0"/>
                  </a:moveTo>
                  <a:lnTo>
                    <a:pt x="0" y="396239"/>
                  </a:lnTo>
                </a:path>
              </a:pathLst>
            </a:custGeom>
            <a:ln w="12700">
              <a:solidFill>
                <a:srgbClr val="FCF2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373746" y="5685320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39">
                  <a:moveTo>
                    <a:pt x="0" y="0"/>
                  </a:moveTo>
                  <a:lnTo>
                    <a:pt x="0" y="396239"/>
                  </a:lnTo>
                </a:path>
              </a:pathLst>
            </a:custGeom>
            <a:ln w="12700">
              <a:solidFill>
                <a:srgbClr val="FCF2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55088" y="5685320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39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CF2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051076" y="5685320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39">
                  <a:moveTo>
                    <a:pt x="0" y="0"/>
                  </a:moveTo>
                  <a:lnTo>
                    <a:pt x="0" y="396239"/>
                  </a:lnTo>
                </a:path>
              </a:pathLst>
            </a:custGeom>
            <a:ln w="12700">
              <a:solidFill>
                <a:srgbClr val="FCF2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948738" y="5691670"/>
              <a:ext cx="6108700" cy="0"/>
            </a:xfrm>
            <a:custGeom>
              <a:avLst/>
              <a:gdLst/>
              <a:ahLst/>
              <a:cxnLst/>
              <a:rect l="l" t="t" r="r" b="b"/>
              <a:pathLst>
                <a:path w="6108699">
                  <a:moveTo>
                    <a:pt x="0" y="0"/>
                  </a:moveTo>
                  <a:lnTo>
                    <a:pt x="6108687" y="0"/>
                  </a:lnTo>
                </a:path>
              </a:pathLst>
            </a:custGeom>
            <a:ln w="12700">
              <a:solidFill>
                <a:srgbClr val="FCF2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48751" y="6062510"/>
              <a:ext cx="6108700" cy="0"/>
            </a:xfrm>
            <a:custGeom>
              <a:avLst/>
              <a:gdLst/>
              <a:ahLst/>
              <a:cxnLst/>
              <a:rect l="l" t="t" r="r" b="b"/>
              <a:pathLst>
                <a:path w="6108700">
                  <a:moveTo>
                    <a:pt x="0" y="0"/>
                  </a:moveTo>
                  <a:lnTo>
                    <a:pt x="6108687" y="0"/>
                  </a:lnTo>
                </a:path>
              </a:pathLst>
            </a:custGeom>
            <a:ln w="38100">
              <a:solidFill>
                <a:srgbClr val="FCF2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955101" y="5691670"/>
            <a:ext cx="6096000" cy="37084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277495">
              <a:lnSpc>
                <a:spcPct val="100000"/>
              </a:lnSpc>
              <a:spcBef>
                <a:spcPts val="360"/>
              </a:spcBef>
              <a:tabLst>
                <a:tab pos="955040" algn="l"/>
                <a:tab pos="1631950" algn="l"/>
                <a:tab pos="2252345" algn="l"/>
                <a:tab pos="2987040" algn="l"/>
                <a:tab pos="3663950" algn="l"/>
                <a:tab pos="4341495" algn="l"/>
                <a:tab pos="5018405" algn="l"/>
                <a:tab pos="5695950" algn="l"/>
              </a:tabLst>
            </a:pPr>
            <a:r>
              <a:rPr sz="1800" b="1" spc="-5" dirty="0">
                <a:solidFill>
                  <a:srgbClr val="FCF2DA"/>
                </a:solidFill>
                <a:latin typeface="Arial"/>
                <a:cs typeface="Arial"/>
              </a:rPr>
              <a:t>4	3	7	</a:t>
            </a:r>
            <a:r>
              <a:rPr sz="1800" b="1" spc="-55" dirty="0">
                <a:solidFill>
                  <a:srgbClr val="FCF2DA"/>
                </a:solidFill>
                <a:latin typeface="Arial"/>
                <a:cs typeface="Arial"/>
              </a:rPr>
              <a:t>11	</a:t>
            </a:r>
            <a:r>
              <a:rPr sz="1800" b="1" spc="-5" dirty="0">
                <a:solidFill>
                  <a:srgbClr val="FCF2DA"/>
                </a:solidFill>
                <a:latin typeface="Arial"/>
                <a:cs typeface="Arial"/>
              </a:rPr>
              <a:t>2	2	1	3	5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667125" y="6042025"/>
            <a:ext cx="1374140" cy="675005"/>
            <a:chOff x="3667125" y="6042025"/>
            <a:chExt cx="1374140" cy="675005"/>
          </a:xfrm>
        </p:grpSpPr>
        <p:sp>
          <p:nvSpPr>
            <p:cNvPr id="21" name="object 21"/>
            <p:cNvSpPr/>
            <p:nvPr/>
          </p:nvSpPr>
          <p:spPr>
            <a:xfrm>
              <a:off x="3684308" y="6064834"/>
              <a:ext cx="1341120" cy="638175"/>
            </a:xfrm>
            <a:custGeom>
              <a:avLst/>
              <a:gdLst/>
              <a:ahLst/>
              <a:cxnLst/>
              <a:rect l="l" t="t" r="r" b="b"/>
              <a:pathLst>
                <a:path w="1341120" h="638175">
                  <a:moveTo>
                    <a:pt x="0" y="0"/>
                  </a:moveTo>
                  <a:lnTo>
                    <a:pt x="74879" y="99415"/>
                  </a:lnTo>
                  <a:lnTo>
                    <a:pt x="166954" y="218478"/>
                  </a:lnTo>
                  <a:lnTo>
                    <a:pt x="259029" y="329603"/>
                  </a:lnTo>
                  <a:lnTo>
                    <a:pt x="350316" y="429615"/>
                  </a:lnTo>
                  <a:lnTo>
                    <a:pt x="440804" y="513753"/>
                  </a:lnTo>
                  <a:lnTo>
                    <a:pt x="485996" y="549421"/>
                  </a:lnTo>
                  <a:lnTo>
                    <a:pt x="529892" y="579315"/>
                  </a:lnTo>
                  <a:lnTo>
                    <a:pt x="572756" y="603263"/>
                  </a:lnTo>
                  <a:lnTo>
                    <a:pt x="614854" y="621096"/>
                  </a:lnTo>
                  <a:lnTo>
                    <a:pt x="656452" y="632645"/>
                  </a:lnTo>
                  <a:lnTo>
                    <a:pt x="697815" y="637740"/>
                  </a:lnTo>
                  <a:lnTo>
                    <a:pt x="739210" y="636211"/>
                  </a:lnTo>
                  <a:lnTo>
                    <a:pt x="780900" y="627889"/>
                  </a:lnTo>
                  <a:lnTo>
                    <a:pt x="823153" y="612604"/>
                  </a:lnTo>
                  <a:lnTo>
                    <a:pt x="866234" y="590187"/>
                  </a:lnTo>
                  <a:lnTo>
                    <a:pt x="910408" y="560468"/>
                  </a:lnTo>
                  <a:lnTo>
                    <a:pt x="955941" y="523278"/>
                  </a:lnTo>
                  <a:lnTo>
                    <a:pt x="1036904" y="442315"/>
                  </a:lnTo>
                  <a:lnTo>
                    <a:pt x="1117866" y="345478"/>
                  </a:lnTo>
                  <a:lnTo>
                    <a:pt x="1198041" y="237528"/>
                  </a:lnTo>
                  <a:lnTo>
                    <a:pt x="1277416" y="122427"/>
                  </a:lnTo>
                  <a:lnTo>
                    <a:pt x="1340929" y="27139"/>
                  </a:lnTo>
                </a:path>
              </a:pathLst>
            </a:custGeom>
            <a:ln w="28575">
              <a:solidFill>
                <a:srgbClr val="2F5C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67125" y="6042024"/>
              <a:ext cx="1374140" cy="121920"/>
            </a:xfrm>
            <a:custGeom>
              <a:avLst/>
              <a:gdLst/>
              <a:ahLst/>
              <a:cxnLst/>
              <a:rect l="l" t="t" r="r" b="b"/>
              <a:pathLst>
                <a:path w="1374139" h="121920">
                  <a:moveTo>
                    <a:pt x="85813" y="42684"/>
                  </a:moveTo>
                  <a:lnTo>
                    <a:pt x="0" y="0"/>
                  </a:lnTo>
                  <a:lnTo>
                    <a:pt x="17335" y="94259"/>
                  </a:lnTo>
                  <a:lnTo>
                    <a:pt x="34378" y="45643"/>
                  </a:lnTo>
                  <a:lnTo>
                    <a:pt x="85813" y="42684"/>
                  </a:lnTo>
                  <a:close/>
                </a:path>
                <a:path w="1374139" h="121920">
                  <a:moveTo>
                    <a:pt x="1373974" y="26200"/>
                  </a:moveTo>
                  <a:lnTo>
                    <a:pt x="1290764" y="73748"/>
                  </a:lnTo>
                  <a:lnTo>
                    <a:pt x="1342275" y="73748"/>
                  </a:lnTo>
                  <a:lnTo>
                    <a:pt x="1362087" y="121297"/>
                  </a:lnTo>
                  <a:lnTo>
                    <a:pt x="1373974" y="26200"/>
                  </a:lnTo>
                  <a:close/>
                </a:path>
              </a:pathLst>
            </a:custGeom>
            <a:solidFill>
              <a:srgbClr val="2F5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084815" y="6247053"/>
            <a:ext cx="558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2F5C00"/>
                </a:solidFill>
                <a:latin typeface="Arial"/>
                <a:cs typeface="Arial"/>
              </a:rPr>
              <a:t>swap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3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54005" y="758520"/>
            <a:ext cx="255524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Selection</a:t>
            </a:r>
            <a:r>
              <a:rPr spc="-85" dirty="0"/>
              <a:t> </a:t>
            </a:r>
            <a:r>
              <a:rPr spc="-5" dirty="0"/>
              <a:t>Sort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4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3139" y="1659331"/>
            <a:ext cx="7907020" cy="459994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55600" marR="123825" indent="-342900">
              <a:lnSpc>
                <a:spcPct val="100699"/>
              </a:lnSpc>
              <a:spcBef>
                <a:spcPts val="8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Selection </a:t>
            </a:r>
            <a:r>
              <a:rPr sz="2400" dirty="0">
                <a:latin typeface="Arial"/>
                <a:cs typeface="Arial"/>
              </a:rPr>
              <a:t>Sort </a:t>
            </a:r>
            <a:r>
              <a:rPr sz="2400" spc="-5" dirty="0">
                <a:latin typeface="Arial"/>
                <a:cs typeface="Arial"/>
              </a:rPr>
              <a:t>operates by </a:t>
            </a:r>
            <a:r>
              <a:rPr sz="2400" dirty="0">
                <a:latin typeface="Arial"/>
                <a:cs typeface="Arial"/>
              </a:rPr>
              <a:t>first </a:t>
            </a:r>
            <a:r>
              <a:rPr sz="2400" spc="-5" dirty="0">
                <a:latin typeface="Arial"/>
                <a:cs typeface="Arial"/>
              </a:rPr>
              <a:t>finding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smallest  element in the input list, and moving it to the output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list.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46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It then finds the next smallest value and does the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same.</a:t>
            </a: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142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It continues in this way until all the input elements </a:t>
            </a:r>
            <a:r>
              <a:rPr sz="2400" spc="-10" dirty="0">
                <a:latin typeface="Arial"/>
                <a:cs typeface="Arial"/>
              </a:rPr>
              <a:t>have  </a:t>
            </a:r>
            <a:r>
              <a:rPr sz="2400" spc="-5" dirty="0">
                <a:latin typeface="Arial"/>
                <a:cs typeface="Arial"/>
              </a:rPr>
              <a:t>been selected and placed in the output list in the correct  order.</a:t>
            </a:r>
            <a:endParaRPr sz="2400">
              <a:latin typeface="Arial"/>
              <a:cs typeface="Arial"/>
            </a:endParaRPr>
          </a:p>
          <a:p>
            <a:pPr marL="355600" marR="123825" indent="-342900">
              <a:lnSpc>
                <a:spcPts val="2860"/>
              </a:lnSpc>
              <a:spcBef>
                <a:spcPts val="157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Note that every selection requires a search through the  input </a:t>
            </a:r>
            <a:r>
              <a:rPr sz="2400" dirty="0">
                <a:latin typeface="Arial"/>
                <a:cs typeface="Arial"/>
              </a:rPr>
              <a:t>list.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37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Thus the algorithm has a nested loop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structure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42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u="heavy" spc="-5" dirty="0">
                <a:solidFill>
                  <a:srgbClr val="D84900"/>
                </a:solidFill>
                <a:uFill>
                  <a:solidFill>
                    <a:srgbClr val="D84900"/>
                  </a:solidFill>
                </a:uFill>
                <a:latin typeface="Arial"/>
                <a:cs typeface="Arial"/>
              </a:rPr>
              <a:t>Selection Sort</a:t>
            </a:r>
            <a:r>
              <a:rPr sz="2400" u="heavy" dirty="0">
                <a:solidFill>
                  <a:srgbClr val="D84900"/>
                </a:solidFill>
                <a:uFill>
                  <a:solidFill>
                    <a:srgbClr val="D84900"/>
                  </a:solidFill>
                </a:uFill>
                <a:latin typeface="Arial"/>
                <a:cs typeface="Arial"/>
              </a:rPr>
              <a:t> </a:t>
            </a:r>
            <a:r>
              <a:rPr sz="2400" u="heavy" spc="-10" dirty="0">
                <a:solidFill>
                  <a:srgbClr val="D84900"/>
                </a:solidFill>
                <a:uFill>
                  <a:solidFill>
                    <a:srgbClr val="D84900"/>
                  </a:solidFill>
                </a:uFill>
                <a:latin typeface="Arial"/>
                <a:cs typeface="Arial"/>
              </a:rPr>
              <a:t>Example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57205" y="758520"/>
            <a:ext cx="214884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Bubble</a:t>
            </a:r>
            <a:r>
              <a:rPr spc="-85" dirty="0"/>
              <a:t> </a:t>
            </a:r>
            <a:r>
              <a:rPr spc="-5" dirty="0"/>
              <a:t>Sort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5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3139" y="1659331"/>
            <a:ext cx="7807325" cy="368554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55600" marR="480695" indent="-342900">
              <a:lnSpc>
                <a:spcPct val="100699"/>
              </a:lnSpc>
              <a:spcBef>
                <a:spcPts val="8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Bubble Sort operates by successively </a:t>
            </a:r>
            <a:r>
              <a:rPr sz="2400" spc="-10" dirty="0">
                <a:latin typeface="Arial"/>
                <a:cs typeface="Arial"/>
              </a:rPr>
              <a:t>comparing  </a:t>
            </a:r>
            <a:r>
              <a:rPr sz="2400" spc="-5" dirty="0">
                <a:latin typeface="Arial"/>
                <a:cs typeface="Arial"/>
              </a:rPr>
              <a:t>adjacent elements, swapping them if they are out of  order.</a:t>
            </a: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ct val="102800"/>
              </a:lnSpc>
              <a:spcBef>
                <a:spcPts val="128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At the </a:t>
            </a:r>
            <a:r>
              <a:rPr sz="2400" spc="-5" dirty="0">
                <a:latin typeface="Arial"/>
                <a:cs typeface="Arial"/>
              </a:rPr>
              <a:t>end </a:t>
            </a:r>
            <a:r>
              <a:rPr sz="2400" dirty="0">
                <a:latin typeface="Arial"/>
                <a:cs typeface="Arial"/>
              </a:rPr>
              <a:t>of the first pass, the </a:t>
            </a:r>
            <a:r>
              <a:rPr sz="2400" spc="-5" dirty="0">
                <a:latin typeface="Arial"/>
                <a:cs typeface="Arial"/>
              </a:rPr>
              <a:t>largest element is in </a:t>
            </a:r>
            <a:r>
              <a:rPr sz="2400" dirty="0">
                <a:latin typeface="Arial"/>
                <a:cs typeface="Arial"/>
              </a:rPr>
              <a:t>the  correct</a:t>
            </a:r>
            <a:r>
              <a:rPr sz="2400" spc="-5" dirty="0">
                <a:latin typeface="Arial"/>
                <a:cs typeface="Arial"/>
              </a:rPr>
              <a:t> position.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36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total of n passes are required to sort the entire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array.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52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Thus bubble sort also has a nested loop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structure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42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u="heavy" spc="-5" dirty="0">
                <a:solidFill>
                  <a:srgbClr val="D84900"/>
                </a:solidFill>
                <a:uFill>
                  <a:solidFill>
                    <a:srgbClr val="D84900"/>
                  </a:solidFill>
                </a:uFill>
                <a:latin typeface="Arial"/>
                <a:cs typeface="Arial"/>
              </a:rPr>
              <a:t>Bubble Sort</a:t>
            </a:r>
            <a:r>
              <a:rPr sz="2400" u="heavy" dirty="0">
                <a:solidFill>
                  <a:srgbClr val="D84900"/>
                </a:solidFill>
                <a:uFill>
                  <a:solidFill>
                    <a:srgbClr val="D84900"/>
                  </a:solidFill>
                </a:uFill>
                <a:latin typeface="Arial"/>
                <a:cs typeface="Arial"/>
              </a:rPr>
              <a:t> </a:t>
            </a:r>
            <a:r>
              <a:rPr sz="2400" u="heavy" spc="-10" dirty="0">
                <a:solidFill>
                  <a:srgbClr val="D84900"/>
                </a:solidFill>
                <a:uFill>
                  <a:solidFill>
                    <a:srgbClr val="D84900"/>
                  </a:solidFill>
                </a:uFill>
                <a:latin typeface="Arial"/>
                <a:cs typeface="Arial"/>
              </a:rPr>
              <a:t>Example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57205" y="758520"/>
            <a:ext cx="214884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Bubble</a:t>
            </a:r>
            <a:r>
              <a:rPr spc="-85" dirty="0"/>
              <a:t> </a:t>
            </a:r>
            <a:r>
              <a:rPr spc="-5" dirty="0"/>
              <a:t>Sort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3139" y="1473921"/>
            <a:ext cx="5066030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426970" indent="-343535">
              <a:lnSpc>
                <a:spcPct val="1507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for </a:t>
            </a:r>
            <a:r>
              <a:rPr sz="2400" spc="-5" dirty="0">
                <a:latin typeface="Arial"/>
                <a:cs typeface="Arial"/>
              </a:rPr>
              <a:t>i </a:t>
            </a:r>
            <a:r>
              <a:rPr sz="2400" dirty="0">
                <a:latin typeface="Arial"/>
                <a:cs typeface="Arial"/>
              </a:rPr>
              <a:t>= </a:t>
            </a:r>
            <a:r>
              <a:rPr sz="2400" spc="-5" dirty="0">
                <a:latin typeface="Arial"/>
                <a:cs typeface="Arial"/>
              </a:rPr>
              <a:t>n-2 downto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0  for j </a:t>
            </a:r>
            <a:r>
              <a:rPr sz="2400" dirty="0">
                <a:latin typeface="Arial"/>
                <a:cs typeface="Arial"/>
              </a:rPr>
              <a:t>= </a:t>
            </a:r>
            <a:r>
              <a:rPr sz="2400" spc="-5" dirty="0">
                <a:latin typeface="Arial"/>
                <a:cs typeface="Arial"/>
              </a:rPr>
              <a:t>0 to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i</a:t>
            </a:r>
            <a:endParaRPr sz="24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1420"/>
              </a:spcBef>
            </a:pPr>
            <a:r>
              <a:rPr sz="2400" dirty="0">
                <a:latin typeface="Arial"/>
                <a:cs typeface="Arial"/>
              </a:rPr>
              <a:t>if A[ </a:t>
            </a:r>
            <a:r>
              <a:rPr sz="2400" spc="-5" dirty="0">
                <a:latin typeface="Arial"/>
                <a:cs typeface="Arial"/>
              </a:rPr>
              <a:t>j </a:t>
            </a:r>
            <a:r>
              <a:rPr sz="2400" dirty="0">
                <a:latin typeface="Arial"/>
                <a:cs typeface="Arial"/>
              </a:rPr>
              <a:t>] &gt; A[ </a:t>
            </a:r>
            <a:r>
              <a:rPr sz="2400" spc="-5" dirty="0">
                <a:latin typeface="Arial"/>
                <a:cs typeface="Arial"/>
              </a:rPr>
              <a:t>j </a:t>
            </a:r>
            <a:r>
              <a:rPr sz="2400" dirty="0">
                <a:latin typeface="Arial"/>
                <a:cs typeface="Arial"/>
              </a:rPr>
              <a:t>+ </a:t>
            </a:r>
            <a:r>
              <a:rPr sz="2400" spc="-5" dirty="0">
                <a:latin typeface="Arial"/>
                <a:cs typeface="Arial"/>
              </a:rPr>
              <a:t>1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]</a:t>
            </a:r>
            <a:endParaRPr sz="2400">
              <a:latin typeface="Arial"/>
              <a:cs typeface="Arial"/>
            </a:endParaRPr>
          </a:p>
          <a:p>
            <a:pPr marL="1841500">
              <a:lnSpc>
                <a:spcPct val="100000"/>
              </a:lnSpc>
              <a:spcBef>
                <a:spcPts val="1420"/>
              </a:spcBef>
            </a:pPr>
            <a:r>
              <a:rPr sz="2400" spc="-5" dirty="0">
                <a:latin typeface="Arial"/>
                <a:cs typeface="Arial"/>
              </a:rPr>
              <a:t>swap </a:t>
            </a:r>
            <a:r>
              <a:rPr sz="2400" dirty="0">
                <a:latin typeface="Arial"/>
                <a:cs typeface="Arial"/>
              </a:rPr>
              <a:t>A[ </a:t>
            </a:r>
            <a:r>
              <a:rPr sz="2400" spc="-5" dirty="0">
                <a:latin typeface="Arial"/>
                <a:cs typeface="Arial"/>
              </a:rPr>
              <a:t>j </a:t>
            </a:r>
            <a:r>
              <a:rPr sz="2400" dirty="0">
                <a:latin typeface="Arial"/>
                <a:cs typeface="Arial"/>
              </a:rPr>
              <a:t>] </a:t>
            </a:r>
            <a:r>
              <a:rPr sz="2400" spc="-5" dirty="0">
                <a:latin typeface="Arial"/>
                <a:cs typeface="Arial"/>
              </a:rPr>
              <a:t>and </a:t>
            </a:r>
            <a:r>
              <a:rPr sz="2400" dirty="0">
                <a:latin typeface="Arial"/>
                <a:cs typeface="Arial"/>
              </a:rPr>
              <a:t>A[ </a:t>
            </a:r>
            <a:r>
              <a:rPr sz="2400" spc="-5" dirty="0">
                <a:latin typeface="Arial"/>
                <a:cs typeface="Arial"/>
              </a:rPr>
              <a:t>j </a:t>
            </a:r>
            <a:r>
              <a:rPr sz="2400" dirty="0">
                <a:latin typeface="Arial"/>
                <a:cs typeface="Arial"/>
              </a:rPr>
              <a:t>+ </a:t>
            </a:r>
            <a:r>
              <a:rPr sz="2400" spc="-5" dirty="0">
                <a:latin typeface="Arial"/>
                <a:cs typeface="Arial"/>
              </a:rPr>
              <a:t>1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]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93637" y="2214372"/>
            <a:ext cx="374650" cy="1557655"/>
          </a:xfrm>
          <a:custGeom>
            <a:avLst/>
            <a:gdLst/>
            <a:ahLst/>
            <a:cxnLst/>
            <a:rect l="l" t="t" r="r" b="b"/>
            <a:pathLst>
              <a:path w="374650" h="1557654">
                <a:moveTo>
                  <a:pt x="0" y="0"/>
                </a:moveTo>
                <a:lnTo>
                  <a:pt x="72795" y="2449"/>
                </a:lnTo>
                <a:lnTo>
                  <a:pt x="132237" y="9129"/>
                </a:lnTo>
                <a:lnTo>
                  <a:pt x="172312" y="19036"/>
                </a:lnTo>
                <a:lnTo>
                  <a:pt x="187007" y="747382"/>
                </a:lnTo>
                <a:lnTo>
                  <a:pt x="201704" y="759511"/>
                </a:lnTo>
                <a:lnTo>
                  <a:pt x="241784" y="769418"/>
                </a:lnTo>
                <a:lnTo>
                  <a:pt x="301230" y="776098"/>
                </a:lnTo>
                <a:lnTo>
                  <a:pt x="374027" y="778548"/>
                </a:lnTo>
                <a:lnTo>
                  <a:pt x="301230" y="780997"/>
                </a:lnTo>
                <a:lnTo>
                  <a:pt x="241784" y="787677"/>
                </a:lnTo>
                <a:lnTo>
                  <a:pt x="201704" y="797584"/>
                </a:lnTo>
                <a:lnTo>
                  <a:pt x="187007" y="809713"/>
                </a:lnTo>
                <a:lnTo>
                  <a:pt x="187007" y="1525930"/>
                </a:lnTo>
                <a:lnTo>
                  <a:pt x="172312" y="1538065"/>
                </a:lnTo>
                <a:lnTo>
                  <a:pt x="132237" y="1547971"/>
                </a:lnTo>
                <a:lnTo>
                  <a:pt x="72795" y="1554648"/>
                </a:lnTo>
                <a:lnTo>
                  <a:pt x="0" y="1557096"/>
                </a:lnTo>
              </a:path>
            </a:pathLst>
          </a:custGeom>
          <a:ln w="28575">
            <a:solidFill>
              <a:srgbClr val="941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479247" y="2788986"/>
            <a:ext cx="530860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i="1" spc="-35" dirty="0">
                <a:solidFill>
                  <a:srgbClr val="B11800"/>
                </a:solidFill>
                <a:latin typeface="Arial"/>
                <a:cs typeface="Arial"/>
              </a:rPr>
              <a:t>O</a:t>
            </a:r>
            <a:r>
              <a:rPr sz="2300" spc="30" dirty="0">
                <a:solidFill>
                  <a:srgbClr val="B11800"/>
                </a:solidFill>
                <a:latin typeface="Arial"/>
                <a:cs typeface="Arial"/>
              </a:rPr>
              <a:t>(</a:t>
            </a:r>
            <a:r>
              <a:rPr sz="2300" i="1" spc="140" dirty="0">
                <a:solidFill>
                  <a:srgbClr val="B11800"/>
                </a:solidFill>
                <a:latin typeface="Arial"/>
                <a:cs typeface="Arial"/>
              </a:rPr>
              <a:t>i</a:t>
            </a:r>
            <a:r>
              <a:rPr sz="2300" spc="-5" dirty="0">
                <a:solidFill>
                  <a:srgbClr val="B11800"/>
                </a:solidFill>
                <a:latin typeface="Arial"/>
                <a:cs typeface="Arial"/>
              </a:rPr>
              <a:t>)</a:t>
            </a:r>
            <a:endParaRPr sz="23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6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212670" y="4909891"/>
            <a:ext cx="283210" cy="2222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i="1" spc="5" dirty="0">
                <a:solidFill>
                  <a:srgbClr val="AB1700"/>
                </a:solidFill>
                <a:latin typeface="Arial"/>
                <a:cs typeface="Arial"/>
              </a:rPr>
              <a:t>i</a:t>
            </a:r>
            <a:r>
              <a:rPr sz="1250" i="1" spc="-200" dirty="0">
                <a:solidFill>
                  <a:srgbClr val="AB1700"/>
                </a:solidFill>
                <a:latin typeface="Arial"/>
                <a:cs typeface="Arial"/>
              </a:rPr>
              <a:t> </a:t>
            </a:r>
            <a:r>
              <a:rPr sz="1250" spc="20" dirty="0">
                <a:solidFill>
                  <a:srgbClr val="AB1700"/>
                </a:solidFill>
                <a:latin typeface="Symbol"/>
                <a:cs typeface="Symbol"/>
              </a:rPr>
              <a:t></a:t>
            </a:r>
            <a:r>
              <a:rPr sz="1250" spc="-220" dirty="0">
                <a:solidFill>
                  <a:srgbClr val="AB1700"/>
                </a:solidFill>
                <a:latin typeface="Times New Roman"/>
                <a:cs typeface="Times New Roman"/>
              </a:rPr>
              <a:t> </a:t>
            </a:r>
            <a:r>
              <a:rPr sz="1250" spc="20" dirty="0">
                <a:solidFill>
                  <a:srgbClr val="AB1700"/>
                </a:solidFill>
                <a:latin typeface="Arial"/>
                <a:cs typeface="Arial"/>
              </a:rPr>
              <a:t>0</a:t>
            </a:r>
            <a:endParaRPr sz="12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88368" y="4328191"/>
            <a:ext cx="330835" cy="2222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i="1" spc="20" dirty="0">
                <a:solidFill>
                  <a:srgbClr val="AB1700"/>
                </a:solidFill>
                <a:latin typeface="Arial"/>
                <a:cs typeface="Arial"/>
              </a:rPr>
              <a:t>n</a:t>
            </a:r>
            <a:r>
              <a:rPr sz="1250" i="1" spc="-270" dirty="0">
                <a:solidFill>
                  <a:srgbClr val="AB1700"/>
                </a:solidFill>
                <a:latin typeface="Arial"/>
                <a:cs typeface="Arial"/>
              </a:rPr>
              <a:t> </a:t>
            </a:r>
            <a:r>
              <a:rPr sz="1250" spc="20" dirty="0">
                <a:solidFill>
                  <a:srgbClr val="AB1700"/>
                </a:solidFill>
                <a:latin typeface="Symbol"/>
                <a:cs typeface="Symbol"/>
              </a:rPr>
              <a:t></a:t>
            </a:r>
            <a:r>
              <a:rPr sz="1250" spc="-204" dirty="0">
                <a:solidFill>
                  <a:srgbClr val="AB1700"/>
                </a:solidFill>
                <a:latin typeface="Times New Roman"/>
                <a:cs typeface="Times New Roman"/>
              </a:rPr>
              <a:t> </a:t>
            </a:r>
            <a:r>
              <a:rPr sz="1250" spc="20" dirty="0">
                <a:solidFill>
                  <a:srgbClr val="AB1700"/>
                </a:solidFill>
                <a:latin typeface="Arial"/>
                <a:cs typeface="Arial"/>
              </a:rPr>
              <a:t>2</a:t>
            </a:r>
            <a:endParaRPr sz="12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31851" y="4380947"/>
            <a:ext cx="2286000" cy="5353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440815" algn="l"/>
              </a:tabLst>
            </a:pPr>
            <a:r>
              <a:rPr sz="3300" i="1" spc="22" baseline="2525" dirty="0">
                <a:solidFill>
                  <a:srgbClr val="AB1700"/>
                </a:solidFill>
                <a:latin typeface="Arial"/>
                <a:cs typeface="Arial"/>
              </a:rPr>
              <a:t>T</a:t>
            </a:r>
            <a:r>
              <a:rPr sz="3300" i="1" spc="-794" baseline="2525" dirty="0">
                <a:solidFill>
                  <a:srgbClr val="AB1700"/>
                </a:solidFill>
                <a:latin typeface="Arial"/>
                <a:cs typeface="Arial"/>
              </a:rPr>
              <a:t> </a:t>
            </a:r>
            <a:r>
              <a:rPr sz="3300" spc="7" baseline="2525" dirty="0">
                <a:solidFill>
                  <a:srgbClr val="AB1700"/>
                </a:solidFill>
                <a:latin typeface="Arial"/>
                <a:cs typeface="Arial"/>
              </a:rPr>
              <a:t>(</a:t>
            </a:r>
            <a:r>
              <a:rPr sz="3300" i="1" spc="7" baseline="2525" dirty="0">
                <a:solidFill>
                  <a:srgbClr val="AB1700"/>
                </a:solidFill>
                <a:latin typeface="Arial"/>
                <a:cs typeface="Arial"/>
              </a:rPr>
              <a:t>n</a:t>
            </a:r>
            <a:r>
              <a:rPr sz="3300" spc="7" baseline="2525" dirty="0">
                <a:solidFill>
                  <a:srgbClr val="AB1700"/>
                </a:solidFill>
                <a:latin typeface="Arial"/>
                <a:cs typeface="Arial"/>
              </a:rPr>
              <a:t>) </a:t>
            </a:r>
            <a:r>
              <a:rPr sz="3300" spc="15" baseline="2525" dirty="0">
                <a:solidFill>
                  <a:srgbClr val="AB1700"/>
                </a:solidFill>
                <a:latin typeface="Symbol"/>
                <a:cs typeface="Symbol"/>
              </a:rPr>
              <a:t></a:t>
            </a:r>
            <a:r>
              <a:rPr sz="3300" spc="15" baseline="2525" dirty="0">
                <a:solidFill>
                  <a:srgbClr val="AB1700"/>
                </a:solidFill>
                <a:latin typeface="Times New Roman"/>
                <a:cs typeface="Times New Roman"/>
              </a:rPr>
              <a:t> </a:t>
            </a:r>
            <a:r>
              <a:rPr sz="5025" spc="-772" baseline="-5804" dirty="0">
                <a:solidFill>
                  <a:srgbClr val="AB1700"/>
                </a:solidFill>
                <a:latin typeface="Symbol"/>
                <a:cs typeface="Symbol"/>
              </a:rPr>
              <a:t></a:t>
            </a:r>
            <a:r>
              <a:rPr sz="5025" spc="-719" baseline="-5804" dirty="0">
                <a:solidFill>
                  <a:srgbClr val="AB1700"/>
                </a:solidFill>
                <a:latin typeface="Times New Roman"/>
                <a:cs typeface="Times New Roman"/>
              </a:rPr>
              <a:t> </a:t>
            </a:r>
            <a:r>
              <a:rPr sz="3300" i="1" spc="7" baseline="2525" dirty="0">
                <a:solidFill>
                  <a:srgbClr val="AB1700"/>
                </a:solidFill>
                <a:latin typeface="Arial"/>
                <a:cs typeface="Arial"/>
              </a:rPr>
              <a:t>i	</a:t>
            </a:r>
            <a:r>
              <a:rPr sz="2000" dirty="0">
                <a:solidFill>
                  <a:srgbClr val="AB1700"/>
                </a:solidFill>
                <a:latin typeface="Symbol"/>
                <a:cs typeface="Symbol"/>
              </a:rPr>
              <a:t></a:t>
            </a:r>
            <a:r>
              <a:rPr sz="2000" spc="-305" dirty="0">
                <a:solidFill>
                  <a:srgbClr val="AB1700"/>
                </a:solidFill>
                <a:latin typeface="Times New Roman"/>
                <a:cs typeface="Times New Roman"/>
              </a:rPr>
              <a:t> </a:t>
            </a:r>
            <a:r>
              <a:rPr sz="2000" i="1" spc="5" dirty="0">
                <a:solidFill>
                  <a:srgbClr val="AB1700"/>
                </a:solidFill>
                <a:latin typeface="Arial"/>
                <a:cs typeface="Arial"/>
              </a:rPr>
              <a:t>O</a:t>
            </a:r>
            <a:r>
              <a:rPr sz="2000" spc="5" dirty="0">
                <a:solidFill>
                  <a:srgbClr val="AB1700"/>
                </a:solidFill>
                <a:latin typeface="Arial"/>
                <a:cs typeface="Arial"/>
              </a:rPr>
              <a:t>(</a:t>
            </a:r>
            <a:r>
              <a:rPr sz="2000" i="1" spc="5" dirty="0">
                <a:solidFill>
                  <a:srgbClr val="AB1700"/>
                </a:solidFill>
                <a:latin typeface="Arial"/>
                <a:cs typeface="Arial"/>
              </a:rPr>
              <a:t>n</a:t>
            </a:r>
            <a:r>
              <a:rPr sz="1725" spc="7" baseline="43478" dirty="0">
                <a:solidFill>
                  <a:srgbClr val="AB1700"/>
                </a:solidFill>
                <a:latin typeface="Arial"/>
                <a:cs typeface="Arial"/>
              </a:rPr>
              <a:t>2 </a:t>
            </a:r>
            <a:r>
              <a:rPr sz="2000" dirty="0">
                <a:solidFill>
                  <a:srgbClr val="AB1700"/>
                </a:solidFill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23563" y="758520"/>
            <a:ext cx="221551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Comparison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7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67737" y="1659331"/>
            <a:ext cx="7580630" cy="222250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0" marR="30480" indent="-342900">
              <a:lnSpc>
                <a:spcPct val="100699"/>
              </a:lnSpc>
              <a:spcBef>
                <a:spcPts val="80"/>
              </a:spcBef>
              <a:buClr>
                <a:srgbClr val="941300"/>
              </a:buClr>
              <a:buFont typeface="Wingdings"/>
              <a:buChar char=""/>
              <a:tabLst>
                <a:tab pos="381000" algn="l"/>
              </a:tabLst>
            </a:pPr>
            <a:r>
              <a:rPr sz="2400" spc="-5" dirty="0">
                <a:latin typeface="Arial"/>
                <a:cs typeface="Arial"/>
              </a:rPr>
              <a:t>Thus both Selection Sort and Bubble Sort have O(n</a:t>
            </a:r>
            <a:r>
              <a:rPr sz="2400" spc="-7" baseline="24305" dirty="0">
                <a:latin typeface="Arial"/>
                <a:cs typeface="Arial"/>
              </a:rPr>
              <a:t>2</a:t>
            </a:r>
            <a:r>
              <a:rPr sz="2400" spc="-5" dirty="0">
                <a:latin typeface="Arial"/>
                <a:cs typeface="Arial"/>
              </a:rPr>
              <a:t>)  running time.</a:t>
            </a:r>
            <a:endParaRPr sz="2400">
              <a:latin typeface="Arial"/>
              <a:cs typeface="Arial"/>
            </a:endParaRPr>
          </a:p>
          <a:p>
            <a:pPr marL="381000" indent="-342900">
              <a:lnSpc>
                <a:spcPct val="100000"/>
              </a:lnSpc>
              <a:spcBef>
                <a:spcPts val="1460"/>
              </a:spcBef>
              <a:buClr>
                <a:srgbClr val="941300"/>
              </a:buClr>
              <a:buFont typeface="Wingdings"/>
              <a:buChar char=""/>
              <a:tabLst>
                <a:tab pos="381000" algn="l"/>
              </a:tabLst>
            </a:pPr>
            <a:r>
              <a:rPr sz="2400" spc="-5" dirty="0">
                <a:latin typeface="Arial"/>
                <a:cs typeface="Arial"/>
              </a:rPr>
              <a:t>However, both can also easily be designed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to</a:t>
            </a:r>
            <a:endParaRPr sz="2400">
              <a:latin typeface="Arial"/>
              <a:cs typeface="Arial"/>
            </a:endParaRPr>
          </a:p>
          <a:p>
            <a:pPr marL="781050" lvl="1" indent="-285750">
              <a:lnSpc>
                <a:spcPct val="100000"/>
              </a:lnSpc>
              <a:spcBef>
                <a:spcPts val="1180"/>
              </a:spcBef>
              <a:buClr>
                <a:srgbClr val="2F5C00"/>
              </a:buClr>
              <a:buFont typeface="Wingdings"/>
              <a:buChar char=""/>
              <a:tabLst>
                <a:tab pos="781050" algn="l"/>
              </a:tabLst>
            </a:pPr>
            <a:r>
              <a:rPr sz="2000" spc="-5" dirty="0">
                <a:latin typeface="Arial"/>
                <a:cs typeface="Arial"/>
              </a:rPr>
              <a:t>Sort in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place</a:t>
            </a:r>
            <a:endParaRPr sz="2000">
              <a:latin typeface="Arial"/>
              <a:cs typeface="Arial"/>
            </a:endParaRPr>
          </a:p>
          <a:p>
            <a:pPr marL="781050" lvl="1" indent="-285750">
              <a:lnSpc>
                <a:spcPct val="100000"/>
              </a:lnSpc>
              <a:spcBef>
                <a:spcPts val="1200"/>
              </a:spcBef>
              <a:buClr>
                <a:srgbClr val="2F5C00"/>
              </a:buClr>
              <a:buFont typeface="Wingdings"/>
              <a:buChar char=""/>
              <a:tabLst>
                <a:tab pos="781050" algn="l"/>
              </a:tabLst>
            </a:pPr>
            <a:r>
              <a:rPr sz="2000" spc="-5" dirty="0">
                <a:latin typeface="Arial"/>
                <a:cs typeface="Arial"/>
              </a:rPr>
              <a:t>Stable sort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52600" y="1485900"/>
            <a:ext cx="6553200" cy="5168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50616" y="758520"/>
            <a:ext cx="436245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32305" algn="l"/>
              </a:tabLst>
            </a:pPr>
            <a:r>
              <a:rPr spc="-5" dirty="0"/>
              <a:t>Example:	Insertion</a:t>
            </a:r>
            <a:r>
              <a:rPr spc="-55" dirty="0"/>
              <a:t> </a:t>
            </a:r>
            <a:r>
              <a:rPr dirty="0"/>
              <a:t>Sort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8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2489200"/>
            <a:ext cx="8915400" cy="3098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50616" y="758520"/>
            <a:ext cx="436245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32305" algn="l"/>
              </a:tabLst>
            </a:pPr>
            <a:r>
              <a:rPr spc="-5" dirty="0"/>
              <a:t>Example:	Insertion</a:t>
            </a:r>
            <a:r>
              <a:rPr spc="-55" dirty="0"/>
              <a:t> </a:t>
            </a:r>
            <a:r>
              <a:rPr dirty="0"/>
              <a:t>Sort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9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1625600"/>
            <a:ext cx="9144000" cy="4000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50616" y="758520"/>
            <a:ext cx="436245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32305" algn="l"/>
              </a:tabLst>
            </a:pPr>
            <a:r>
              <a:rPr spc="-5" dirty="0"/>
              <a:t>Example:	Insertion</a:t>
            </a:r>
            <a:r>
              <a:rPr spc="-55" dirty="0"/>
              <a:t> </a:t>
            </a:r>
            <a:r>
              <a:rPr dirty="0"/>
              <a:t>Sort</a:t>
            </a:r>
          </a:p>
        </p:txBody>
      </p:sp>
      <p:sp>
        <p:nvSpPr>
          <p:cNvPr id="5" name="object 5"/>
          <p:cNvSpPr/>
          <p:nvPr/>
        </p:nvSpPr>
        <p:spPr>
          <a:xfrm>
            <a:off x="871245" y="5994628"/>
            <a:ext cx="6899452" cy="5535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10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23563" y="758520"/>
            <a:ext cx="221551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Comparison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11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67739" y="1473921"/>
            <a:ext cx="3411854" cy="3591560"/>
          </a:xfrm>
          <a:prstGeom prst="rect">
            <a:avLst/>
          </a:prstGeom>
        </p:spPr>
        <p:txBody>
          <a:bodyPr vert="horz" wrap="square" lIns="0" tIns="19812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1560"/>
              </a:spcBef>
              <a:buClr>
                <a:srgbClr val="941300"/>
              </a:buClr>
              <a:buFont typeface="Wingdings"/>
              <a:buChar char=""/>
              <a:tabLst>
                <a:tab pos="381000" algn="l"/>
              </a:tabLst>
            </a:pPr>
            <a:r>
              <a:rPr sz="2400" spc="-5" dirty="0">
                <a:latin typeface="Arial"/>
                <a:cs typeface="Arial"/>
              </a:rPr>
              <a:t>Selection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Sort</a:t>
            </a:r>
            <a:endParaRPr sz="2400">
              <a:latin typeface="Arial"/>
              <a:cs typeface="Arial"/>
            </a:endParaRPr>
          </a:p>
          <a:p>
            <a:pPr marL="381000" indent="-342900">
              <a:lnSpc>
                <a:spcPct val="100000"/>
              </a:lnSpc>
              <a:spcBef>
                <a:spcPts val="1460"/>
              </a:spcBef>
              <a:buClr>
                <a:srgbClr val="941300"/>
              </a:buClr>
              <a:buFont typeface="Wingdings"/>
              <a:buChar char=""/>
              <a:tabLst>
                <a:tab pos="381000" algn="l"/>
              </a:tabLst>
            </a:pPr>
            <a:r>
              <a:rPr sz="2400" spc="-5" dirty="0">
                <a:latin typeface="Arial"/>
                <a:cs typeface="Arial"/>
              </a:rPr>
              <a:t>Bubble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Sort</a:t>
            </a:r>
            <a:endParaRPr sz="2400">
              <a:latin typeface="Arial"/>
              <a:cs typeface="Arial"/>
            </a:endParaRPr>
          </a:p>
          <a:p>
            <a:pPr marL="381000" indent="-342900">
              <a:lnSpc>
                <a:spcPct val="100000"/>
              </a:lnSpc>
              <a:spcBef>
                <a:spcPts val="1420"/>
              </a:spcBef>
              <a:buClr>
                <a:srgbClr val="941300"/>
              </a:buClr>
              <a:buFont typeface="Wingdings"/>
              <a:buChar char=""/>
              <a:tabLst>
                <a:tab pos="381000" algn="l"/>
              </a:tabLst>
            </a:pPr>
            <a:r>
              <a:rPr sz="2400" spc="-5" dirty="0">
                <a:latin typeface="Arial"/>
                <a:cs typeface="Arial"/>
              </a:rPr>
              <a:t>Insertion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Sort</a:t>
            </a:r>
            <a:endParaRPr sz="2400">
              <a:latin typeface="Arial"/>
              <a:cs typeface="Arial"/>
            </a:endParaRPr>
          </a:p>
          <a:p>
            <a:pPr marL="781050" lvl="1" indent="-285750">
              <a:lnSpc>
                <a:spcPct val="100000"/>
              </a:lnSpc>
              <a:spcBef>
                <a:spcPts val="1180"/>
              </a:spcBef>
              <a:buClr>
                <a:srgbClr val="2F5C00"/>
              </a:buClr>
              <a:buFont typeface="Wingdings"/>
              <a:buChar char=""/>
              <a:tabLst>
                <a:tab pos="781050" algn="l"/>
              </a:tabLst>
            </a:pPr>
            <a:r>
              <a:rPr sz="2000" spc="-5" dirty="0">
                <a:latin typeface="Arial"/>
                <a:cs typeface="Arial"/>
              </a:rPr>
              <a:t>Sort in </a:t>
            </a:r>
            <a:r>
              <a:rPr sz="2000" spc="-10" dirty="0">
                <a:latin typeface="Arial"/>
                <a:cs typeface="Arial"/>
              </a:rPr>
              <a:t>place</a:t>
            </a:r>
            <a:endParaRPr sz="2000">
              <a:latin typeface="Arial"/>
              <a:cs typeface="Arial"/>
            </a:endParaRPr>
          </a:p>
          <a:p>
            <a:pPr marL="781050" lvl="1" indent="-285750">
              <a:lnSpc>
                <a:spcPct val="100000"/>
              </a:lnSpc>
              <a:spcBef>
                <a:spcPts val="1200"/>
              </a:spcBef>
              <a:buClr>
                <a:srgbClr val="2F5C00"/>
              </a:buClr>
              <a:buFont typeface="Wingdings"/>
              <a:buChar char=""/>
              <a:tabLst>
                <a:tab pos="781050" algn="l"/>
              </a:tabLst>
            </a:pPr>
            <a:r>
              <a:rPr sz="2000" spc="-5" dirty="0">
                <a:latin typeface="Arial"/>
                <a:cs typeface="Arial"/>
              </a:rPr>
              <a:t>Stable sort</a:t>
            </a:r>
            <a:endParaRPr sz="2000">
              <a:latin typeface="Arial"/>
              <a:cs typeface="Arial"/>
            </a:endParaRPr>
          </a:p>
          <a:p>
            <a:pPr marL="781050" lvl="1" indent="-285750">
              <a:lnSpc>
                <a:spcPct val="100000"/>
              </a:lnSpc>
              <a:spcBef>
                <a:spcPts val="1200"/>
              </a:spcBef>
              <a:buClr>
                <a:srgbClr val="2F5C00"/>
              </a:buClr>
              <a:buFont typeface="Wingdings"/>
              <a:buChar char=""/>
              <a:tabLst>
                <a:tab pos="781050" algn="l"/>
              </a:tabLst>
            </a:pPr>
            <a:r>
              <a:rPr sz="2000" dirty="0">
                <a:latin typeface="Arial"/>
                <a:cs typeface="Arial"/>
              </a:rPr>
              <a:t>But O(n</a:t>
            </a:r>
            <a:r>
              <a:rPr sz="1950" baseline="25641" dirty="0">
                <a:latin typeface="Arial"/>
                <a:cs typeface="Arial"/>
              </a:rPr>
              <a:t>2</a:t>
            </a:r>
            <a:r>
              <a:rPr sz="2000" dirty="0">
                <a:latin typeface="Arial"/>
                <a:cs typeface="Arial"/>
              </a:rPr>
              <a:t>) </a:t>
            </a:r>
            <a:r>
              <a:rPr sz="2000" spc="-5" dirty="0">
                <a:latin typeface="Arial"/>
                <a:cs typeface="Arial"/>
              </a:rPr>
              <a:t>running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time.</a:t>
            </a:r>
            <a:endParaRPr sz="2000">
              <a:latin typeface="Arial"/>
              <a:cs typeface="Arial"/>
            </a:endParaRPr>
          </a:p>
          <a:p>
            <a:pPr marL="381000" indent="-342900">
              <a:lnSpc>
                <a:spcPct val="100000"/>
              </a:lnSpc>
              <a:spcBef>
                <a:spcPts val="1440"/>
              </a:spcBef>
              <a:buClr>
                <a:srgbClr val="941300"/>
              </a:buClr>
              <a:buFont typeface="Wingdings"/>
              <a:buChar char=""/>
              <a:tabLst>
                <a:tab pos="381000" algn="l"/>
              </a:tabLst>
            </a:pPr>
            <a:r>
              <a:rPr sz="2400" spc="-5" dirty="0">
                <a:latin typeface="Arial"/>
                <a:cs typeface="Arial"/>
              </a:rPr>
              <a:t>Can we do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better?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13949" y="924559"/>
            <a:ext cx="20351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Merge</a:t>
            </a:r>
            <a:r>
              <a:rPr spc="-85" dirty="0"/>
              <a:t> </a:t>
            </a:r>
            <a:r>
              <a:rPr spc="-5" dirty="0"/>
              <a:t>Sort</a:t>
            </a:r>
          </a:p>
        </p:txBody>
      </p:sp>
      <p:sp>
        <p:nvSpPr>
          <p:cNvPr id="3" name="object 3"/>
          <p:cNvSpPr/>
          <p:nvPr/>
        </p:nvSpPr>
        <p:spPr>
          <a:xfrm>
            <a:off x="3494877" y="1691485"/>
            <a:ext cx="2830195" cy="1985645"/>
          </a:xfrm>
          <a:custGeom>
            <a:avLst/>
            <a:gdLst/>
            <a:ahLst/>
            <a:cxnLst/>
            <a:rect l="l" t="t" r="r" b="b"/>
            <a:pathLst>
              <a:path w="2830195" h="1985645">
                <a:moveTo>
                  <a:pt x="537360" y="348452"/>
                </a:moveTo>
                <a:lnTo>
                  <a:pt x="498790" y="376847"/>
                </a:lnTo>
                <a:lnTo>
                  <a:pt x="459502" y="408449"/>
                </a:lnTo>
                <a:lnTo>
                  <a:pt x="419823" y="442895"/>
                </a:lnTo>
                <a:lnTo>
                  <a:pt x="380083" y="479820"/>
                </a:lnTo>
                <a:lnTo>
                  <a:pt x="340609" y="518860"/>
                </a:lnTo>
                <a:lnTo>
                  <a:pt x="301730" y="559649"/>
                </a:lnTo>
                <a:lnTo>
                  <a:pt x="263775" y="601825"/>
                </a:lnTo>
                <a:lnTo>
                  <a:pt x="227073" y="645022"/>
                </a:lnTo>
                <a:lnTo>
                  <a:pt x="191952" y="688876"/>
                </a:lnTo>
                <a:lnTo>
                  <a:pt x="158741" y="733023"/>
                </a:lnTo>
                <a:lnTo>
                  <a:pt x="127768" y="777099"/>
                </a:lnTo>
                <a:lnTo>
                  <a:pt x="99362" y="820739"/>
                </a:lnTo>
                <a:lnTo>
                  <a:pt x="73852" y="863579"/>
                </a:lnTo>
                <a:lnTo>
                  <a:pt x="51565" y="905254"/>
                </a:lnTo>
                <a:lnTo>
                  <a:pt x="32832" y="945401"/>
                </a:lnTo>
                <a:lnTo>
                  <a:pt x="17980" y="983655"/>
                </a:lnTo>
                <a:lnTo>
                  <a:pt x="1235" y="1053025"/>
                </a:lnTo>
                <a:lnTo>
                  <a:pt x="0" y="1083414"/>
                </a:lnTo>
                <a:lnTo>
                  <a:pt x="3960" y="1110452"/>
                </a:lnTo>
                <a:lnTo>
                  <a:pt x="33322" y="1156962"/>
                </a:lnTo>
                <a:lnTo>
                  <a:pt x="89625" y="1191986"/>
                </a:lnTo>
                <a:lnTo>
                  <a:pt x="126140" y="1206020"/>
                </a:lnTo>
                <a:lnTo>
                  <a:pt x="167302" y="1218177"/>
                </a:lnTo>
                <a:lnTo>
                  <a:pt x="212417" y="1228791"/>
                </a:lnTo>
                <a:lnTo>
                  <a:pt x="260789" y="1238192"/>
                </a:lnTo>
                <a:lnTo>
                  <a:pt x="311721" y="1246713"/>
                </a:lnTo>
                <a:lnTo>
                  <a:pt x="364518" y="1254685"/>
                </a:lnTo>
                <a:lnTo>
                  <a:pt x="418484" y="1262441"/>
                </a:lnTo>
                <a:lnTo>
                  <a:pt x="472924" y="1270312"/>
                </a:lnTo>
                <a:lnTo>
                  <a:pt x="527142" y="1278630"/>
                </a:lnTo>
                <a:lnTo>
                  <a:pt x="580442" y="1287727"/>
                </a:lnTo>
                <a:lnTo>
                  <a:pt x="632128" y="1297935"/>
                </a:lnTo>
                <a:lnTo>
                  <a:pt x="681505" y="1309585"/>
                </a:lnTo>
                <a:lnTo>
                  <a:pt x="727877" y="1323011"/>
                </a:lnTo>
                <a:lnTo>
                  <a:pt x="770548" y="1338543"/>
                </a:lnTo>
                <a:lnTo>
                  <a:pt x="808822" y="1356514"/>
                </a:lnTo>
                <a:lnTo>
                  <a:pt x="852984" y="1382856"/>
                </a:lnTo>
                <a:lnTo>
                  <a:pt x="894865" y="1412604"/>
                </a:lnTo>
                <a:lnTo>
                  <a:pt x="934768" y="1445185"/>
                </a:lnTo>
                <a:lnTo>
                  <a:pt x="972994" y="1480028"/>
                </a:lnTo>
                <a:lnTo>
                  <a:pt x="1009847" y="1516558"/>
                </a:lnTo>
                <a:lnTo>
                  <a:pt x="1045626" y="1554202"/>
                </a:lnTo>
                <a:lnTo>
                  <a:pt x="1080635" y="1592389"/>
                </a:lnTo>
                <a:lnTo>
                  <a:pt x="1115176" y="1630544"/>
                </a:lnTo>
                <a:lnTo>
                  <a:pt x="1149550" y="1668096"/>
                </a:lnTo>
                <a:lnTo>
                  <a:pt x="1184060" y="1704470"/>
                </a:lnTo>
                <a:lnTo>
                  <a:pt x="1219007" y="1739095"/>
                </a:lnTo>
                <a:lnTo>
                  <a:pt x="1254694" y="1771398"/>
                </a:lnTo>
                <a:lnTo>
                  <a:pt x="1291422" y="1800804"/>
                </a:lnTo>
                <a:lnTo>
                  <a:pt x="1329493" y="1826742"/>
                </a:lnTo>
                <a:lnTo>
                  <a:pt x="1369210" y="1848639"/>
                </a:lnTo>
                <a:lnTo>
                  <a:pt x="1412859" y="1869612"/>
                </a:lnTo>
                <a:lnTo>
                  <a:pt x="1456763" y="1890071"/>
                </a:lnTo>
                <a:lnTo>
                  <a:pt x="1500978" y="1909600"/>
                </a:lnTo>
                <a:lnTo>
                  <a:pt x="1545565" y="1927783"/>
                </a:lnTo>
                <a:lnTo>
                  <a:pt x="1590583" y="1944201"/>
                </a:lnTo>
                <a:lnTo>
                  <a:pt x="1636090" y="1958440"/>
                </a:lnTo>
                <a:lnTo>
                  <a:pt x="1682145" y="1970083"/>
                </a:lnTo>
                <a:lnTo>
                  <a:pt x="1728808" y="1978712"/>
                </a:lnTo>
                <a:lnTo>
                  <a:pt x="1776138" y="1983912"/>
                </a:lnTo>
                <a:lnTo>
                  <a:pt x="1824193" y="1985266"/>
                </a:lnTo>
                <a:lnTo>
                  <a:pt x="1873032" y="1982357"/>
                </a:lnTo>
                <a:lnTo>
                  <a:pt x="1922715" y="1974769"/>
                </a:lnTo>
                <a:lnTo>
                  <a:pt x="1973300" y="1962085"/>
                </a:lnTo>
                <a:lnTo>
                  <a:pt x="2024847" y="1943889"/>
                </a:lnTo>
                <a:lnTo>
                  <a:pt x="2090158" y="1917097"/>
                </a:lnTo>
                <a:lnTo>
                  <a:pt x="2127434" y="1901392"/>
                </a:lnTo>
                <a:lnTo>
                  <a:pt x="2167220" y="1884209"/>
                </a:lnTo>
                <a:lnTo>
                  <a:pt x="2209086" y="1865594"/>
                </a:lnTo>
                <a:lnTo>
                  <a:pt x="2252604" y="1845591"/>
                </a:lnTo>
                <a:lnTo>
                  <a:pt x="2297345" y="1824247"/>
                </a:lnTo>
                <a:lnTo>
                  <a:pt x="2342882" y="1801608"/>
                </a:lnTo>
                <a:lnTo>
                  <a:pt x="2388785" y="1777720"/>
                </a:lnTo>
                <a:lnTo>
                  <a:pt x="2434625" y="1752627"/>
                </a:lnTo>
                <a:lnTo>
                  <a:pt x="2479975" y="1726376"/>
                </a:lnTo>
                <a:lnTo>
                  <a:pt x="2524406" y="1699013"/>
                </a:lnTo>
                <a:lnTo>
                  <a:pt x="2567488" y="1670582"/>
                </a:lnTo>
                <a:lnTo>
                  <a:pt x="2608795" y="1641131"/>
                </a:lnTo>
                <a:lnTo>
                  <a:pt x="2647896" y="1610705"/>
                </a:lnTo>
                <a:lnTo>
                  <a:pt x="2684364" y="1579348"/>
                </a:lnTo>
                <a:lnTo>
                  <a:pt x="2717770" y="1547108"/>
                </a:lnTo>
                <a:lnTo>
                  <a:pt x="2747686" y="1514030"/>
                </a:lnTo>
                <a:lnTo>
                  <a:pt x="2773682" y="1480159"/>
                </a:lnTo>
                <a:lnTo>
                  <a:pt x="2795331" y="1445541"/>
                </a:lnTo>
                <a:lnTo>
                  <a:pt x="2812203" y="1410222"/>
                </a:lnTo>
                <a:lnTo>
                  <a:pt x="2829905" y="1337665"/>
                </a:lnTo>
                <a:lnTo>
                  <a:pt x="2829877" y="1300517"/>
                </a:lnTo>
                <a:lnTo>
                  <a:pt x="2823360" y="1262852"/>
                </a:lnTo>
                <a:lnTo>
                  <a:pt x="2803595" y="1207973"/>
                </a:lnTo>
                <a:lnTo>
                  <a:pt x="2771831" y="1146448"/>
                </a:lnTo>
                <a:lnTo>
                  <a:pt x="2751805" y="1113499"/>
                </a:lnTo>
                <a:lnTo>
                  <a:pt x="2729206" y="1079256"/>
                </a:lnTo>
                <a:lnTo>
                  <a:pt x="2704176" y="1043841"/>
                </a:lnTo>
                <a:lnTo>
                  <a:pt x="2676857" y="1007377"/>
                </a:lnTo>
                <a:lnTo>
                  <a:pt x="2647391" y="969986"/>
                </a:lnTo>
                <a:lnTo>
                  <a:pt x="2615921" y="931789"/>
                </a:lnTo>
                <a:lnTo>
                  <a:pt x="2582588" y="892911"/>
                </a:lnTo>
                <a:lnTo>
                  <a:pt x="2547535" y="853473"/>
                </a:lnTo>
                <a:lnTo>
                  <a:pt x="2510904" y="813598"/>
                </a:lnTo>
                <a:lnTo>
                  <a:pt x="2472837" y="773407"/>
                </a:lnTo>
                <a:lnTo>
                  <a:pt x="2433476" y="733024"/>
                </a:lnTo>
                <a:lnTo>
                  <a:pt x="2392964" y="692571"/>
                </a:lnTo>
                <a:lnTo>
                  <a:pt x="2351442" y="652170"/>
                </a:lnTo>
                <a:lnTo>
                  <a:pt x="2309054" y="611944"/>
                </a:lnTo>
                <a:lnTo>
                  <a:pt x="2265940" y="572015"/>
                </a:lnTo>
                <a:lnTo>
                  <a:pt x="2222243" y="532505"/>
                </a:lnTo>
                <a:lnTo>
                  <a:pt x="2178105" y="493537"/>
                </a:lnTo>
                <a:lnTo>
                  <a:pt x="2133669" y="455234"/>
                </a:lnTo>
                <a:lnTo>
                  <a:pt x="2089076" y="417718"/>
                </a:lnTo>
                <a:lnTo>
                  <a:pt x="2044469" y="381110"/>
                </a:lnTo>
                <a:lnTo>
                  <a:pt x="1999989" y="345535"/>
                </a:lnTo>
                <a:lnTo>
                  <a:pt x="1955780" y="311113"/>
                </a:lnTo>
                <a:lnTo>
                  <a:pt x="1911983" y="277968"/>
                </a:lnTo>
                <a:lnTo>
                  <a:pt x="1868741" y="246221"/>
                </a:lnTo>
                <a:lnTo>
                  <a:pt x="1826195" y="215996"/>
                </a:lnTo>
                <a:lnTo>
                  <a:pt x="1784487" y="187415"/>
                </a:lnTo>
                <a:lnTo>
                  <a:pt x="1743760" y="160600"/>
                </a:lnTo>
                <a:lnTo>
                  <a:pt x="1704157" y="135673"/>
                </a:lnTo>
                <a:lnTo>
                  <a:pt x="1665818" y="112757"/>
                </a:lnTo>
                <a:lnTo>
                  <a:pt x="1628887" y="91975"/>
                </a:lnTo>
                <a:lnTo>
                  <a:pt x="1593506" y="73448"/>
                </a:lnTo>
                <a:lnTo>
                  <a:pt x="1527960" y="43652"/>
                </a:lnTo>
                <a:lnTo>
                  <a:pt x="1478414" y="26178"/>
                </a:lnTo>
                <a:lnTo>
                  <a:pt x="1429194" y="13339"/>
                </a:lnTo>
                <a:lnTo>
                  <a:pt x="1380338" y="4872"/>
                </a:lnTo>
                <a:lnTo>
                  <a:pt x="1331882" y="513"/>
                </a:lnTo>
                <a:lnTo>
                  <a:pt x="1283865" y="0"/>
                </a:lnTo>
                <a:lnTo>
                  <a:pt x="1236324" y="3068"/>
                </a:lnTo>
                <a:lnTo>
                  <a:pt x="1189296" y="9456"/>
                </a:lnTo>
                <a:lnTo>
                  <a:pt x="1142820" y="18901"/>
                </a:lnTo>
                <a:lnTo>
                  <a:pt x="1096932" y="31138"/>
                </a:lnTo>
                <a:lnTo>
                  <a:pt x="1051670" y="45906"/>
                </a:lnTo>
                <a:lnTo>
                  <a:pt x="1007073" y="62941"/>
                </a:lnTo>
                <a:lnTo>
                  <a:pt x="963176" y="81980"/>
                </a:lnTo>
                <a:lnTo>
                  <a:pt x="920019" y="102760"/>
                </a:lnTo>
                <a:lnTo>
                  <a:pt x="877639" y="125018"/>
                </a:lnTo>
                <a:lnTo>
                  <a:pt x="836072" y="148491"/>
                </a:lnTo>
                <a:lnTo>
                  <a:pt x="795357" y="172917"/>
                </a:lnTo>
                <a:lnTo>
                  <a:pt x="755532" y="198031"/>
                </a:lnTo>
                <a:lnTo>
                  <a:pt x="716633" y="223570"/>
                </a:lnTo>
                <a:lnTo>
                  <a:pt x="678699" y="249273"/>
                </a:lnTo>
                <a:lnTo>
                  <a:pt x="641767" y="274876"/>
                </a:lnTo>
                <a:lnTo>
                  <a:pt x="605875" y="300115"/>
                </a:lnTo>
                <a:lnTo>
                  <a:pt x="571060" y="324728"/>
                </a:lnTo>
                <a:lnTo>
                  <a:pt x="537360" y="348452"/>
                </a:lnTo>
                <a:close/>
              </a:path>
            </a:pathLst>
          </a:custGeom>
          <a:ln w="38100">
            <a:solidFill>
              <a:srgbClr val="0E2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234940" y="2149157"/>
            <a:ext cx="471170" cy="132715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700"/>
              </a:spcBef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14</a:t>
            </a:r>
            <a:endParaRPr sz="2000">
              <a:latin typeface="Tahoma"/>
              <a:cs typeface="Tahoma"/>
            </a:endParaRPr>
          </a:p>
          <a:p>
            <a:pPr marL="180975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30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50"/>
              </a:spcBef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79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68340" y="2834957"/>
            <a:ext cx="3028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23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95090" y="2023732"/>
            <a:ext cx="1376045" cy="114808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85750">
              <a:lnSpc>
                <a:spcPct val="100000"/>
              </a:lnSpc>
              <a:spcBef>
                <a:spcPts val="535"/>
              </a:spcBef>
              <a:tabLst>
                <a:tab pos="834390" algn="l"/>
              </a:tabLst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88	</a:t>
            </a:r>
            <a:r>
              <a:rPr sz="3000" baseline="1388" dirty="0">
                <a:solidFill>
                  <a:srgbClr val="37D142"/>
                </a:solidFill>
                <a:latin typeface="Tahoma"/>
                <a:cs typeface="Tahoma"/>
              </a:rPr>
              <a:t>52</a:t>
            </a:r>
            <a:endParaRPr sz="3000" baseline="1388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440"/>
              </a:spcBef>
              <a:tabLst>
                <a:tab pos="834390" algn="l"/>
              </a:tabLst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31</a:t>
            </a:r>
            <a:r>
              <a:rPr sz="2000" spc="-235" dirty="0">
                <a:solidFill>
                  <a:srgbClr val="37D142"/>
                </a:solidFill>
                <a:latin typeface="Tahoma"/>
                <a:cs typeface="Tahoma"/>
              </a:rPr>
              <a:t> </a:t>
            </a:r>
            <a:r>
              <a:rPr sz="3000" baseline="-36111" dirty="0">
                <a:solidFill>
                  <a:srgbClr val="37D142"/>
                </a:solidFill>
                <a:latin typeface="Tahoma"/>
                <a:cs typeface="Tahoma"/>
              </a:rPr>
              <a:t>25	</a:t>
            </a:r>
            <a:r>
              <a:rPr sz="3000" baseline="-19444" dirty="0">
                <a:solidFill>
                  <a:srgbClr val="37D142"/>
                </a:solidFill>
                <a:latin typeface="Tahoma"/>
                <a:cs typeface="Tahoma"/>
              </a:rPr>
              <a:t>98</a:t>
            </a:r>
            <a:endParaRPr sz="3000" baseline="-19444">
              <a:latin typeface="Tahoma"/>
              <a:cs typeface="Tahoma"/>
            </a:endParaRPr>
          </a:p>
          <a:p>
            <a:pPr marR="43180" algn="r">
              <a:lnSpc>
                <a:spcPct val="100000"/>
              </a:lnSpc>
              <a:spcBef>
                <a:spcPts val="760"/>
              </a:spcBef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62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46233" y="4039870"/>
            <a:ext cx="37331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D84900"/>
                </a:solidFill>
                <a:latin typeface="Times New Roman"/>
                <a:cs typeface="Times New Roman"/>
              </a:rPr>
              <a:t>Divide and</a:t>
            </a:r>
            <a:r>
              <a:rPr sz="3600" spc="-20" dirty="0">
                <a:solidFill>
                  <a:srgbClr val="D849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D84900"/>
                </a:solidFill>
                <a:latin typeface="Times New Roman"/>
                <a:cs typeface="Times New Roman"/>
              </a:rPr>
              <a:t>Conquer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962400" y="4660900"/>
            <a:ext cx="2730500" cy="2578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3048000" y="2057400"/>
            <a:ext cx="457200" cy="914400"/>
            <a:chOff x="3048000" y="2057400"/>
            <a:chExt cx="457200" cy="914400"/>
          </a:xfrm>
        </p:grpSpPr>
        <p:sp>
          <p:nvSpPr>
            <p:cNvPr id="11" name="object 11"/>
            <p:cNvSpPr/>
            <p:nvPr/>
          </p:nvSpPr>
          <p:spPr>
            <a:xfrm>
              <a:off x="3129749" y="2057400"/>
              <a:ext cx="227088" cy="19081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48000" y="2269807"/>
              <a:ext cx="457200" cy="702310"/>
            </a:xfrm>
            <a:custGeom>
              <a:avLst/>
              <a:gdLst/>
              <a:ahLst/>
              <a:cxnLst/>
              <a:rect l="l" t="t" r="r" b="b"/>
              <a:pathLst>
                <a:path w="457200" h="702310">
                  <a:moveTo>
                    <a:pt x="457200" y="136753"/>
                  </a:moveTo>
                  <a:lnTo>
                    <a:pt x="454418" y="122656"/>
                  </a:lnTo>
                  <a:lnTo>
                    <a:pt x="426656" y="82257"/>
                  </a:lnTo>
                  <a:lnTo>
                    <a:pt x="423887" y="79679"/>
                  </a:lnTo>
                  <a:lnTo>
                    <a:pt x="423887" y="141439"/>
                  </a:lnTo>
                  <a:lnTo>
                    <a:pt x="415556" y="156006"/>
                  </a:lnTo>
                  <a:lnTo>
                    <a:pt x="381685" y="172453"/>
                  </a:lnTo>
                  <a:lnTo>
                    <a:pt x="342265" y="181838"/>
                  </a:lnTo>
                  <a:lnTo>
                    <a:pt x="319811" y="189623"/>
                  </a:lnTo>
                  <a:lnTo>
                    <a:pt x="305612" y="145046"/>
                  </a:lnTo>
                  <a:lnTo>
                    <a:pt x="302844" y="99974"/>
                  </a:lnTo>
                  <a:lnTo>
                    <a:pt x="286613" y="44030"/>
                  </a:lnTo>
                  <a:lnTo>
                    <a:pt x="361696" y="63004"/>
                  </a:lnTo>
                  <a:lnTo>
                    <a:pt x="418338" y="115608"/>
                  </a:lnTo>
                  <a:lnTo>
                    <a:pt x="423887" y="141439"/>
                  </a:lnTo>
                  <a:lnTo>
                    <a:pt x="423887" y="79679"/>
                  </a:lnTo>
                  <a:lnTo>
                    <a:pt x="373354" y="32473"/>
                  </a:lnTo>
                  <a:lnTo>
                    <a:pt x="336715" y="8509"/>
                  </a:lnTo>
                  <a:lnTo>
                    <a:pt x="294513" y="6159"/>
                  </a:lnTo>
                  <a:lnTo>
                    <a:pt x="274523" y="13208"/>
                  </a:lnTo>
                  <a:lnTo>
                    <a:pt x="274523" y="24333"/>
                  </a:lnTo>
                  <a:lnTo>
                    <a:pt x="266306" y="12179"/>
                  </a:lnTo>
                  <a:lnTo>
                    <a:pt x="223672" y="444"/>
                  </a:lnTo>
                  <a:lnTo>
                    <a:pt x="181597" y="5143"/>
                  </a:lnTo>
                  <a:lnTo>
                    <a:pt x="180809" y="6400"/>
                  </a:lnTo>
                  <a:lnTo>
                    <a:pt x="162687" y="0"/>
                  </a:lnTo>
                  <a:lnTo>
                    <a:pt x="120484" y="2349"/>
                  </a:lnTo>
                  <a:lnTo>
                    <a:pt x="83845" y="26314"/>
                  </a:lnTo>
                  <a:lnTo>
                    <a:pt x="30543" y="76098"/>
                  </a:lnTo>
                  <a:lnTo>
                    <a:pt x="2781" y="116497"/>
                  </a:lnTo>
                  <a:lnTo>
                    <a:pt x="0" y="130594"/>
                  </a:lnTo>
                  <a:lnTo>
                    <a:pt x="13881" y="156895"/>
                  </a:lnTo>
                  <a:lnTo>
                    <a:pt x="44424" y="168630"/>
                  </a:lnTo>
                  <a:lnTo>
                    <a:pt x="83845" y="182727"/>
                  </a:lnTo>
                  <a:lnTo>
                    <a:pt x="114935" y="189776"/>
                  </a:lnTo>
                  <a:lnTo>
                    <a:pt x="128816" y="201993"/>
                  </a:lnTo>
                  <a:lnTo>
                    <a:pt x="120484" y="218427"/>
                  </a:lnTo>
                  <a:lnTo>
                    <a:pt x="98272" y="237680"/>
                  </a:lnTo>
                  <a:lnTo>
                    <a:pt x="69964" y="240030"/>
                  </a:lnTo>
                  <a:lnTo>
                    <a:pt x="50533" y="232524"/>
                  </a:lnTo>
                  <a:lnTo>
                    <a:pt x="38862" y="240030"/>
                  </a:lnTo>
                  <a:lnTo>
                    <a:pt x="41643" y="249428"/>
                  </a:lnTo>
                  <a:lnTo>
                    <a:pt x="64401" y="256476"/>
                  </a:lnTo>
                  <a:lnTo>
                    <a:pt x="98272" y="256476"/>
                  </a:lnTo>
                  <a:lnTo>
                    <a:pt x="128816" y="249428"/>
                  </a:lnTo>
                  <a:lnTo>
                    <a:pt x="146024" y="240030"/>
                  </a:lnTo>
                  <a:lnTo>
                    <a:pt x="157137" y="223126"/>
                  </a:lnTo>
                  <a:lnTo>
                    <a:pt x="162687" y="204330"/>
                  </a:lnTo>
                  <a:lnTo>
                    <a:pt x="148805" y="187426"/>
                  </a:lnTo>
                  <a:lnTo>
                    <a:pt x="114935" y="175679"/>
                  </a:lnTo>
                  <a:lnTo>
                    <a:pt x="75514" y="166293"/>
                  </a:lnTo>
                  <a:lnTo>
                    <a:pt x="41643" y="149847"/>
                  </a:lnTo>
                  <a:lnTo>
                    <a:pt x="33312" y="135280"/>
                  </a:lnTo>
                  <a:lnTo>
                    <a:pt x="38862" y="109448"/>
                  </a:lnTo>
                  <a:lnTo>
                    <a:pt x="64401" y="76098"/>
                  </a:lnTo>
                  <a:lnTo>
                    <a:pt x="95504" y="56845"/>
                  </a:lnTo>
                  <a:lnTo>
                    <a:pt x="143256" y="42748"/>
                  </a:lnTo>
                  <a:lnTo>
                    <a:pt x="162445" y="39319"/>
                  </a:lnTo>
                  <a:lnTo>
                    <a:pt x="164985" y="74155"/>
                  </a:lnTo>
                  <a:lnTo>
                    <a:pt x="176060" y="135648"/>
                  </a:lnTo>
                  <a:lnTo>
                    <a:pt x="176060" y="190119"/>
                  </a:lnTo>
                  <a:lnTo>
                    <a:pt x="162217" y="237528"/>
                  </a:lnTo>
                  <a:lnTo>
                    <a:pt x="153911" y="263829"/>
                  </a:lnTo>
                  <a:lnTo>
                    <a:pt x="159448" y="287769"/>
                  </a:lnTo>
                  <a:lnTo>
                    <a:pt x="160489" y="288429"/>
                  </a:lnTo>
                  <a:lnTo>
                    <a:pt x="168021" y="406298"/>
                  </a:lnTo>
                  <a:lnTo>
                    <a:pt x="168021" y="437324"/>
                  </a:lnTo>
                  <a:lnTo>
                    <a:pt x="156895" y="494677"/>
                  </a:lnTo>
                  <a:lnTo>
                    <a:pt x="154114" y="561428"/>
                  </a:lnTo>
                  <a:lnTo>
                    <a:pt x="159677" y="594804"/>
                  </a:lnTo>
                  <a:lnTo>
                    <a:pt x="154114" y="613613"/>
                  </a:lnTo>
                  <a:lnTo>
                    <a:pt x="114630" y="642289"/>
                  </a:lnTo>
                  <a:lnTo>
                    <a:pt x="97383" y="678014"/>
                  </a:lnTo>
                  <a:lnTo>
                    <a:pt x="100723" y="689775"/>
                  </a:lnTo>
                  <a:lnTo>
                    <a:pt x="131318" y="701992"/>
                  </a:lnTo>
                  <a:lnTo>
                    <a:pt x="139649" y="696823"/>
                  </a:lnTo>
                  <a:lnTo>
                    <a:pt x="142989" y="675665"/>
                  </a:lnTo>
                  <a:lnTo>
                    <a:pt x="151333" y="644639"/>
                  </a:lnTo>
                  <a:lnTo>
                    <a:pt x="165239" y="630542"/>
                  </a:lnTo>
                  <a:lnTo>
                    <a:pt x="181927" y="621131"/>
                  </a:lnTo>
                  <a:lnTo>
                    <a:pt x="196380" y="608914"/>
                  </a:lnTo>
                  <a:lnTo>
                    <a:pt x="199161" y="599503"/>
                  </a:lnTo>
                  <a:lnTo>
                    <a:pt x="190817" y="587756"/>
                  </a:lnTo>
                  <a:lnTo>
                    <a:pt x="181927" y="580707"/>
                  </a:lnTo>
                  <a:lnTo>
                    <a:pt x="176364" y="551561"/>
                  </a:lnTo>
                  <a:lnTo>
                    <a:pt x="181927" y="491858"/>
                  </a:lnTo>
                  <a:lnTo>
                    <a:pt x="201942" y="423214"/>
                  </a:lnTo>
                  <a:lnTo>
                    <a:pt x="221411" y="368211"/>
                  </a:lnTo>
                  <a:lnTo>
                    <a:pt x="226669" y="315937"/>
                  </a:lnTo>
                  <a:lnTo>
                    <a:pt x="229209" y="316407"/>
                  </a:lnTo>
                  <a:lnTo>
                    <a:pt x="247942" y="316407"/>
                  </a:lnTo>
                  <a:lnTo>
                    <a:pt x="275793" y="394576"/>
                  </a:lnTo>
                  <a:lnTo>
                    <a:pt x="292430" y="449110"/>
                  </a:lnTo>
                  <a:lnTo>
                    <a:pt x="297980" y="496608"/>
                  </a:lnTo>
                  <a:lnTo>
                    <a:pt x="297980" y="534695"/>
                  </a:lnTo>
                  <a:lnTo>
                    <a:pt x="289661" y="563841"/>
                  </a:lnTo>
                  <a:lnTo>
                    <a:pt x="281343" y="573239"/>
                  </a:lnTo>
                  <a:lnTo>
                    <a:pt x="281343" y="582650"/>
                  </a:lnTo>
                  <a:lnTo>
                    <a:pt x="292430" y="597230"/>
                  </a:lnTo>
                  <a:lnTo>
                    <a:pt x="311835" y="601929"/>
                  </a:lnTo>
                  <a:lnTo>
                    <a:pt x="342900" y="601929"/>
                  </a:lnTo>
                  <a:lnTo>
                    <a:pt x="398907" y="613689"/>
                  </a:lnTo>
                  <a:lnTo>
                    <a:pt x="415544" y="630605"/>
                  </a:lnTo>
                  <a:lnTo>
                    <a:pt x="441058" y="620737"/>
                  </a:lnTo>
                  <a:lnTo>
                    <a:pt x="452145" y="597230"/>
                  </a:lnTo>
                  <a:lnTo>
                    <a:pt x="441058" y="587819"/>
                  </a:lnTo>
                  <a:lnTo>
                    <a:pt x="393357" y="582650"/>
                  </a:lnTo>
                  <a:lnTo>
                    <a:pt x="340118" y="582650"/>
                  </a:lnTo>
                  <a:lnTo>
                    <a:pt x="317385" y="580301"/>
                  </a:lnTo>
                  <a:lnTo>
                    <a:pt x="311835" y="566191"/>
                  </a:lnTo>
                  <a:lnTo>
                    <a:pt x="317385" y="539394"/>
                  </a:lnTo>
                  <a:lnTo>
                    <a:pt x="320713" y="494245"/>
                  </a:lnTo>
                  <a:lnTo>
                    <a:pt x="306298" y="378117"/>
                  </a:lnTo>
                  <a:lnTo>
                    <a:pt x="309067" y="320751"/>
                  </a:lnTo>
                  <a:lnTo>
                    <a:pt x="309067" y="301942"/>
                  </a:lnTo>
                  <a:lnTo>
                    <a:pt x="305549" y="277520"/>
                  </a:lnTo>
                  <a:lnTo>
                    <a:pt x="320116" y="251079"/>
                  </a:lnTo>
                  <a:lnTo>
                    <a:pt x="328383" y="255587"/>
                  </a:lnTo>
                  <a:lnTo>
                    <a:pt x="358914" y="262636"/>
                  </a:lnTo>
                  <a:lnTo>
                    <a:pt x="392785" y="262636"/>
                  </a:lnTo>
                  <a:lnTo>
                    <a:pt x="415556" y="255587"/>
                  </a:lnTo>
                  <a:lnTo>
                    <a:pt x="418338" y="246189"/>
                  </a:lnTo>
                  <a:lnTo>
                    <a:pt x="406666" y="238683"/>
                  </a:lnTo>
                  <a:lnTo>
                    <a:pt x="387235" y="246189"/>
                  </a:lnTo>
                  <a:lnTo>
                    <a:pt x="358914" y="243840"/>
                  </a:lnTo>
                  <a:lnTo>
                    <a:pt x="336715" y="224586"/>
                  </a:lnTo>
                  <a:lnTo>
                    <a:pt x="328383" y="208140"/>
                  </a:lnTo>
                  <a:lnTo>
                    <a:pt x="342265" y="195935"/>
                  </a:lnTo>
                  <a:lnTo>
                    <a:pt x="373354" y="188887"/>
                  </a:lnTo>
                  <a:lnTo>
                    <a:pt x="412775" y="174790"/>
                  </a:lnTo>
                  <a:lnTo>
                    <a:pt x="443318" y="163055"/>
                  </a:lnTo>
                  <a:lnTo>
                    <a:pt x="457200" y="136753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12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13949" y="758520"/>
            <a:ext cx="20351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Merge</a:t>
            </a:r>
            <a:r>
              <a:rPr spc="-85" dirty="0"/>
              <a:t> </a:t>
            </a:r>
            <a:r>
              <a:rPr spc="-5" dirty="0"/>
              <a:t>Sort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659331"/>
            <a:ext cx="7567295" cy="16738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55600" marR="5080" indent="-342900">
              <a:lnSpc>
                <a:spcPct val="100699"/>
              </a:lnSpc>
              <a:spcBef>
                <a:spcPts val="80"/>
              </a:spcBef>
              <a:buFont typeface="Wingdings"/>
              <a:buChar char=""/>
              <a:tabLst>
                <a:tab pos="355600" algn="l"/>
              </a:tabLst>
            </a:pPr>
            <a:r>
              <a:rPr sz="2400" spc="-5" dirty="0">
                <a:solidFill>
                  <a:srgbClr val="941300"/>
                </a:solidFill>
                <a:latin typeface="Arial"/>
                <a:cs typeface="Arial"/>
              </a:rPr>
              <a:t>Merge-sort </a:t>
            </a:r>
            <a:r>
              <a:rPr sz="2400" spc="-5" dirty="0">
                <a:latin typeface="Arial"/>
                <a:cs typeface="Arial"/>
              </a:rPr>
              <a:t>is a sorting algorithm based on the </a:t>
            </a:r>
            <a:r>
              <a:rPr sz="2400" spc="-10" dirty="0">
                <a:latin typeface="Arial"/>
                <a:cs typeface="Arial"/>
              </a:rPr>
              <a:t>divide-  </a:t>
            </a:r>
            <a:r>
              <a:rPr sz="2400" spc="-5" dirty="0">
                <a:latin typeface="Arial"/>
                <a:cs typeface="Arial"/>
              </a:rPr>
              <a:t>and-conquer </a:t>
            </a:r>
            <a:r>
              <a:rPr sz="2400" spc="-10" dirty="0">
                <a:latin typeface="Arial"/>
                <a:cs typeface="Arial"/>
              </a:rPr>
              <a:t>paradigm</a:t>
            </a:r>
            <a:endParaRPr sz="2400">
              <a:latin typeface="Arial"/>
              <a:cs typeface="Arial"/>
            </a:endParaRPr>
          </a:p>
          <a:p>
            <a:pPr marL="355600" marR="511809" indent="-342900">
              <a:lnSpc>
                <a:spcPts val="2860"/>
              </a:lnSpc>
              <a:spcBef>
                <a:spcPts val="157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It was invented by John von Neumann, one of the  pioneers of computing, in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1945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75400" y="3238500"/>
            <a:ext cx="2768600" cy="3657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13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00565" y="758520"/>
            <a:ext cx="366204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Divide-and-Conquer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14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67739" y="1506931"/>
            <a:ext cx="7477125" cy="203200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42265" marR="368935" indent="-342265" algn="r">
              <a:lnSpc>
                <a:spcPct val="100000"/>
              </a:lnSpc>
              <a:spcBef>
                <a:spcPts val="1100"/>
              </a:spcBef>
              <a:buFont typeface="Wingdings"/>
              <a:buChar char=""/>
              <a:tabLst>
                <a:tab pos="342265" algn="l"/>
                <a:tab pos="342900" algn="l"/>
              </a:tabLst>
            </a:pPr>
            <a:r>
              <a:rPr sz="2000" spc="-5" dirty="0">
                <a:solidFill>
                  <a:srgbClr val="941300"/>
                </a:solidFill>
                <a:latin typeface="Arial"/>
                <a:cs typeface="Arial"/>
              </a:rPr>
              <a:t>Divide-and conquer </a:t>
            </a:r>
            <a:r>
              <a:rPr sz="2000" spc="-5" dirty="0">
                <a:latin typeface="Arial"/>
                <a:cs typeface="Arial"/>
              </a:rPr>
              <a:t>is a general algorithm design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paradigm:</a:t>
            </a:r>
            <a:endParaRPr sz="2000">
              <a:latin typeface="Arial"/>
              <a:cs typeface="Arial"/>
            </a:endParaRPr>
          </a:p>
          <a:p>
            <a:pPr marL="285750" marR="429895" lvl="1" indent="-285750" algn="r">
              <a:lnSpc>
                <a:spcPct val="100000"/>
              </a:lnSpc>
              <a:spcBef>
                <a:spcPts val="900"/>
              </a:spcBef>
              <a:buClr>
                <a:srgbClr val="2F5C00"/>
              </a:buClr>
              <a:buFont typeface="Wingdings"/>
              <a:buChar char=""/>
              <a:tabLst>
                <a:tab pos="285750" algn="l"/>
              </a:tabLst>
            </a:pPr>
            <a:r>
              <a:rPr sz="1800" spc="-5" dirty="0">
                <a:solidFill>
                  <a:srgbClr val="941300"/>
                </a:solidFill>
                <a:latin typeface="Arial"/>
                <a:cs typeface="Arial"/>
              </a:rPr>
              <a:t>Divide</a:t>
            </a:r>
            <a:r>
              <a:rPr sz="1800" spc="-5" dirty="0">
                <a:latin typeface="Arial"/>
                <a:cs typeface="Arial"/>
              </a:rPr>
              <a:t>: divide the input data </a:t>
            </a:r>
            <a:r>
              <a:rPr sz="1800" b="1" i="1" spc="-5" dirty="0">
                <a:latin typeface="Times New Roman"/>
                <a:cs typeface="Times New Roman"/>
              </a:rPr>
              <a:t>S </a:t>
            </a:r>
            <a:r>
              <a:rPr sz="1800" spc="-5" dirty="0">
                <a:latin typeface="Arial"/>
                <a:cs typeface="Arial"/>
              </a:rPr>
              <a:t>in two disjoint subsets </a:t>
            </a:r>
            <a:r>
              <a:rPr sz="1800" b="1" i="1" spc="-5" dirty="0">
                <a:latin typeface="Times New Roman"/>
                <a:cs typeface="Times New Roman"/>
              </a:rPr>
              <a:t>S</a:t>
            </a:r>
            <a:r>
              <a:rPr sz="1800" spc="-7" baseline="-20833" dirty="0">
                <a:latin typeface="Times New Roman"/>
                <a:cs typeface="Times New Roman"/>
              </a:rPr>
              <a:t>1 </a:t>
            </a:r>
            <a:r>
              <a:rPr sz="1800" spc="-5" dirty="0">
                <a:latin typeface="Arial"/>
                <a:cs typeface="Arial"/>
              </a:rPr>
              <a:t>and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b="1" i="1" spc="-5" dirty="0">
                <a:latin typeface="Times New Roman"/>
                <a:cs typeface="Times New Roman"/>
              </a:rPr>
              <a:t>S</a:t>
            </a:r>
            <a:r>
              <a:rPr sz="1800" spc="-7" baseline="-20833" dirty="0">
                <a:latin typeface="Times New Roman"/>
                <a:cs typeface="Times New Roman"/>
              </a:rPr>
              <a:t>2</a:t>
            </a:r>
            <a:endParaRPr sz="1800" baseline="-20833">
              <a:latin typeface="Times New Roman"/>
              <a:cs typeface="Times New Roman"/>
            </a:endParaRPr>
          </a:p>
          <a:p>
            <a:pPr marL="781050" lvl="1" indent="-285750">
              <a:lnSpc>
                <a:spcPct val="100000"/>
              </a:lnSpc>
              <a:spcBef>
                <a:spcPts val="840"/>
              </a:spcBef>
              <a:buClr>
                <a:srgbClr val="2F5C00"/>
              </a:buClr>
              <a:buFont typeface="Wingdings"/>
              <a:buChar char=""/>
              <a:tabLst>
                <a:tab pos="781050" algn="l"/>
              </a:tabLst>
            </a:pPr>
            <a:r>
              <a:rPr sz="1800" spc="-5" dirty="0">
                <a:solidFill>
                  <a:srgbClr val="941300"/>
                </a:solidFill>
                <a:latin typeface="Arial"/>
                <a:cs typeface="Arial"/>
              </a:rPr>
              <a:t>Recur</a:t>
            </a:r>
            <a:r>
              <a:rPr sz="1800" spc="-5" dirty="0">
                <a:latin typeface="Arial"/>
                <a:cs typeface="Arial"/>
              </a:rPr>
              <a:t>: solve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subproblems associated with </a:t>
            </a:r>
            <a:r>
              <a:rPr sz="1800" b="1" i="1" spc="-5" dirty="0">
                <a:latin typeface="Times New Roman"/>
                <a:cs typeface="Times New Roman"/>
              </a:rPr>
              <a:t>S</a:t>
            </a:r>
            <a:r>
              <a:rPr sz="1800" spc="-7" baseline="-20833" dirty="0">
                <a:latin typeface="Times New Roman"/>
                <a:cs typeface="Times New Roman"/>
              </a:rPr>
              <a:t>1 </a:t>
            </a:r>
            <a:r>
              <a:rPr sz="1800" spc="-5" dirty="0">
                <a:latin typeface="Arial"/>
                <a:cs typeface="Arial"/>
              </a:rPr>
              <a:t>and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b="1" i="1" spc="-5" dirty="0">
                <a:latin typeface="Times New Roman"/>
                <a:cs typeface="Times New Roman"/>
              </a:rPr>
              <a:t>S</a:t>
            </a:r>
            <a:r>
              <a:rPr sz="1800" spc="-7" baseline="-20833" dirty="0">
                <a:latin typeface="Times New Roman"/>
                <a:cs typeface="Times New Roman"/>
              </a:rPr>
              <a:t>2</a:t>
            </a:r>
            <a:endParaRPr sz="1800" baseline="-20833">
              <a:latin typeface="Times New Roman"/>
              <a:cs typeface="Times New Roman"/>
            </a:endParaRPr>
          </a:p>
          <a:p>
            <a:pPr marL="780415" lvl="1" indent="-286385">
              <a:lnSpc>
                <a:spcPct val="100000"/>
              </a:lnSpc>
              <a:spcBef>
                <a:spcPts val="840"/>
              </a:spcBef>
              <a:buClr>
                <a:srgbClr val="2F5C00"/>
              </a:buClr>
              <a:buFont typeface="Wingdings"/>
              <a:buChar char=""/>
              <a:tabLst>
                <a:tab pos="781050" algn="l"/>
              </a:tabLst>
            </a:pPr>
            <a:r>
              <a:rPr sz="1800" spc="-5" dirty="0">
                <a:solidFill>
                  <a:srgbClr val="941300"/>
                </a:solidFill>
                <a:latin typeface="Arial"/>
                <a:cs typeface="Arial"/>
              </a:rPr>
              <a:t>Conquer</a:t>
            </a:r>
            <a:r>
              <a:rPr sz="1800" spc="-5" dirty="0">
                <a:latin typeface="Arial"/>
                <a:cs typeface="Arial"/>
              </a:rPr>
              <a:t>: combine the solutions for </a:t>
            </a:r>
            <a:r>
              <a:rPr sz="1800" b="1" i="1" spc="-5" dirty="0">
                <a:latin typeface="Times New Roman"/>
                <a:cs typeface="Times New Roman"/>
              </a:rPr>
              <a:t>S</a:t>
            </a:r>
            <a:r>
              <a:rPr sz="1800" spc="-7" baseline="-20833" dirty="0">
                <a:latin typeface="Times New Roman"/>
                <a:cs typeface="Times New Roman"/>
              </a:rPr>
              <a:t>1 </a:t>
            </a:r>
            <a:r>
              <a:rPr sz="1800" spc="-5" dirty="0">
                <a:latin typeface="Arial"/>
                <a:cs typeface="Arial"/>
              </a:rPr>
              <a:t>and </a:t>
            </a:r>
            <a:r>
              <a:rPr sz="1800" b="1" i="1" spc="-5" dirty="0">
                <a:latin typeface="Times New Roman"/>
                <a:cs typeface="Times New Roman"/>
              </a:rPr>
              <a:t>S</a:t>
            </a:r>
            <a:r>
              <a:rPr sz="1800" spc="-7" baseline="-20833" dirty="0">
                <a:latin typeface="Times New Roman"/>
                <a:cs typeface="Times New Roman"/>
              </a:rPr>
              <a:t>2 </a:t>
            </a:r>
            <a:r>
              <a:rPr sz="1800" spc="-5" dirty="0">
                <a:latin typeface="Arial"/>
                <a:cs typeface="Arial"/>
              </a:rPr>
              <a:t>into a solution for</a:t>
            </a:r>
            <a:r>
              <a:rPr sz="1800" spc="-210" dirty="0">
                <a:latin typeface="Arial"/>
                <a:cs typeface="Arial"/>
              </a:rPr>
              <a:t> </a:t>
            </a:r>
            <a:r>
              <a:rPr sz="1800" b="1" i="1" spc="-5" dirty="0">
                <a:latin typeface="Times New Roman"/>
                <a:cs typeface="Times New Roman"/>
              </a:rPr>
              <a:t>S</a:t>
            </a:r>
            <a:endParaRPr sz="1800">
              <a:latin typeface="Times New Roman"/>
              <a:cs typeface="Times New Roman"/>
            </a:endParaRPr>
          </a:p>
          <a:p>
            <a:pPr marL="381000" indent="-342900">
              <a:lnSpc>
                <a:spcPct val="100000"/>
              </a:lnSpc>
              <a:spcBef>
                <a:spcPts val="940"/>
              </a:spcBef>
              <a:buClr>
                <a:srgbClr val="941300"/>
              </a:buClr>
              <a:buFont typeface="Wingdings"/>
              <a:buChar char=""/>
              <a:tabLst>
                <a:tab pos="380365" algn="l"/>
                <a:tab pos="381000" algn="l"/>
              </a:tabLst>
            </a:pPr>
            <a:r>
              <a:rPr sz="2000" spc="-5" dirty="0">
                <a:latin typeface="Arial"/>
                <a:cs typeface="Arial"/>
              </a:rPr>
              <a:t>The base case for the recursion are subproblems of size 0 or</a:t>
            </a:r>
            <a:r>
              <a:rPr sz="2000" spc="1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13949" y="924559"/>
            <a:ext cx="20351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Merge</a:t>
            </a:r>
            <a:r>
              <a:rPr spc="-85" dirty="0"/>
              <a:t> </a:t>
            </a:r>
            <a:r>
              <a:rPr spc="-5" dirty="0"/>
              <a:t>Sort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62000" y="3505200"/>
            <a:ext cx="457200" cy="914400"/>
            <a:chOff x="762000" y="3505200"/>
            <a:chExt cx="457200" cy="914400"/>
          </a:xfrm>
        </p:grpSpPr>
        <p:sp>
          <p:nvSpPr>
            <p:cNvPr id="5" name="object 5"/>
            <p:cNvSpPr/>
            <p:nvPr/>
          </p:nvSpPr>
          <p:spPr>
            <a:xfrm>
              <a:off x="843749" y="3505200"/>
              <a:ext cx="227088" cy="19081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62000" y="3717607"/>
              <a:ext cx="457200" cy="702310"/>
            </a:xfrm>
            <a:custGeom>
              <a:avLst/>
              <a:gdLst/>
              <a:ahLst/>
              <a:cxnLst/>
              <a:rect l="l" t="t" r="r" b="b"/>
              <a:pathLst>
                <a:path w="457200" h="702310">
                  <a:moveTo>
                    <a:pt x="457187" y="136753"/>
                  </a:moveTo>
                  <a:lnTo>
                    <a:pt x="454406" y="122656"/>
                  </a:lnTo>
                  <a:lnTo>
                    <a:pt x="426643" y="82257"/>
                  </a:lnTo>
                  <a:lnTo>
                    <a:pt x="423875" y="79679"/>
                  </a:lnTo>
                  <a:lnTo>
                    <a:pt x="423875" y="141439"/>
                  </a:lnTo>
                  <a:lnTo>
                    <a:pt x="415544" y="156006"/>
                  </a:lnTo>
                  <a:lnTo>
                    <a:pt x="381673" y="172440"/>
                  </a:lnTo>
                  <a:lnTo>
                    <a:pt x="342252" y="181838"/>
                  </a:lnTo>
                  <a:lnTo>
                    <a:pt x="319811" y="189623"/>
                  </a:lnTo>
                  <a:lnTo>
                    <a:pt x="305612" y="145046"/>
                  </a:lnTo>
                  <a:lnTo>
                    <a:pt x="302844" y="99974"/>
                  </a:lnTo>
                  <a:lnTo>
                    <a:pt x="286613" y="44030"/>
                  </a:lnTo>
                  <a:lnTo>
                    <a:pt x="361683" y="63004"/>
                  </a:lnTo>
                  <a:lnTo>
                    <a:pt x="418325" y="115608"/>
                  </a:lnTo>
                  <a:lnTo>
                    <a:pt x="423875" y="141439"/>
                  </a:lnTo>
                  <a:lnTo>
                    <a:pt x="423875" y="79679"/>
                  </a:lnTo>
                  <a:lnTo>
                    <a:pt x="373341" y="32473"/>
                  </a:lnTo>
                  <a:lnTo>
                    <a:pt x="336702" y="8509"/>
                  </a:lnTo>
                  <a:lnTo>
                    <a:pt x="294500" y="6159"/>
                  </a:lnTo>
                  <a:lnTo>
                    <a:pt x="274510" y="13208"/>
                  </a:lnTo>
                  <a:lnTo>
                    <a:pt x="274510" y="24307"/>
                  </a:lnTo>
                  <a:lnTo>
                    <a:pt x="266306" y="12179"/>
                  </a:lnTo>
                  <a:lnTo>
                    <a:pt x="223672" y="444"/>
                  </a:lnTo>
                  <a:lnTo>
                    <a:pt x="181597" y="5143"/>
                  </a:lnTo>
                  <a:lnTo>
                    <a:pt x="180809" y="6400"/>
                  </a:lnTo>
                  <a:lnTo>
                    <a:pt x="162687" y="0"/>
                  </a:lnTo>
                  <a:lnTo>
                    <a:pt x="120484" y="2349"/>
                  </a:lnTo>
                  <a:lnTo>
                    <a:pt x="83845" y="26301"/>
                  </a:lnTo>
                  <a:lnTo>
                    <a:pt x="30543" y="76098"/>
                  </a:lnTo>
                  <a:lnTo>
                    <a:pt x="2781" y="116497"/>
                  </a:lnTo>
                  <a:lnTo>
                    <a:pt x="0" y="130581"/>
                  </a:lnTo>
                  <a:lnTo>
                    <a:pt x="13881" y="156895"/>
                  </a:lnTo>
                  <a:lnTo>
                    <a:pt x="44424" y="168630"/>
                  </a:lnTo>
                  <a:lnTo>
                    <a:pt x="83845" y="182727"/>
                  </a:lnTo>
                  <a:lnTo>
                    <a:pt x="114935" y="189776"/>
                  </a:lnTo>
                  <a:lnTo>
                    <a:pt x="128816" y="201980"/>
                  </a:lnTo>
                  <a:lnTo>
                    <a:pt x="120484" y="218427"/>
                  </a:lnTo>
                  <a:lnTo>
                    <a:pt x="98272" y="237680"/>
                  </a:lnTo>
                  <a:lnTo>
                    <a:pt x="69964" y="240030"/>
                  </a:lnTo>
                  <a:lnTo>
                    <a:pt x="50520" y="232524"/>
                  </a:lnTo>
                  <a:lnTo>
                    <a:pt x="38862" y="240030"/>
                  </a:lnTo>
                  <a:lnTo>
                    <a:pt x="41643" y="249428"/>
                  </a:lnTo>
                  <a:lnTo>
                    <a:pt x="64401" y="256476"/>
                  </a:lnTo>
                  <a:lnTo>
                    <a:pt x="98272" y="256476"/>
                  </a:lnTo>
                  <a:lnTo>
                    <a:pt x="128816" y="249428"/>
                  </a:lnTo>
                  <a:lnTo>
                    <a:pt x="146024" y="240030"/>
                  </a:lnTo>
                  <a:lnTo>
                    <a:pt x="157137" y="223126"/>
                  </a:lnTo>
                  <a:lnTo>
                    <a:pt x="162687" y="204330"/>
                  </a:lnTo>
                  <a:lnTo>
                    <a:pt x="148805" y="187426"/>
                  </a:lnTo>
                  <a:lnTo>
                    <a:pt x="114935" y="175679"/>
                  </a:lnTo>
                  <a:lnTo>
                    <a:pt x="75514" y="166281"/>
                  </a:lnTo>
                  <a:lnTo>
                    <a:pt x="41643" y="149847"/>
                  </a:lnTo>
                  <a:lnTo>
                    <a:pt x="33312" y="135280"/>
                  </a:lnTo>
                  <a:lnTo>
                    <a:pt x="38862" y="109448"/>
                  </a:lnTo>
                  <a:lnTo>
                    <a:pt x="64401" y="76098"/>
                  </a:lnTo>
                  <a:lnTo>
                    <a:pt x="95504" y="56845"/>
                  </a:lnTo>
                  <a:lnTo>
                    <a:pt x="143256" y="42748"/>
                  </a:lnTo>
                  <a:lnTo>
                    <a:pt x="162445" y="39319"/>
                  </a:lnTo>
                  <a:lnTo>
                    <a:pt x="164985" y="74155"/>
                  </a:lnTo>
                  <a:lnTo>
                    <a:pt x="176060" y="135661"/>
                  </a:lnTo>
                  <a:lnTo>
                    <a:pt x="176060" y="190119"/>
                  </a:lnTo>
                  <a:lnTo>
                    <a:pt x="162217" y="237528"/>
                  </a:lnTo>
                  <a:lnTo>
                    <a:pt x="153924" y="263829"/>
                  </a:lnTo>
                  <a:lnTo>
                    <a:pt x="159448" y="287769"/>
                  </a:lnTo>
                  <a:lnTo>
                    <a:pt x="160502" y="288442"/>
                  </a:lnTo>
                  <a:lnTo>
                    <a:pt x="168033" y="406285"/>
                  </a:lnTo>
                  <a:lnTo>
                    <a:pt x="168033" y="437324"/>
                  </a:lnTo>
                  <a:lnTo>
                    <a:pt x="156908" y="494677"/>
                  </a:lnTo>
                  <a:lnTo>
                    <a:pt x="154127" y="561428"/>
                  </a:lnTo>
                  <a:lnTo>
                    <a:pt x="159689" y="594804"/>
                  </a:lnTo>
                  <a:lnTo>
                    <a:pt x="154127" y="613613"/>
                  </a:lnTo>
                  <a:lnTo>
                    <a:pt x="114642" y="642289"/>
                  </a:lnTo>
                  <a:lnTo>
                    <a:pt x="97396" y="678014"/>
                  </a:lnTo>
                  <a:lnTo>
                    <a:pt x="100736" y="689775"/>
                  </a:lnTo>
                  <a:lnTo>
                    <a:pt x="131330" y="701992"/>
                  </a:lnTo>
                  <a:lnTo>
                    <a:pt x="139661" y="696823"/>
                  </a:lnTo>
                  <a:lnTo>
                    <a:pt x="143002" y="675665"/>
                  </a:lnTo>
                  <a:lnTo>
                    <a:pt x="151345" y="644639"/>
                  </a:lnTo>
                  <a:lnTo>
                    <a:pt x="165252" y="630529"/>
                  </a:lnTo>
                  <a:lnTo>
                    <a:pt x="181940" y="621131"/>
                  </a:lnTo>
                  <a:lnTo>
                    <a:pt x="196392" y="608914"/>
                  </a:lnTo>
                  <a:lnTo>
                    <a:pt x="199174" y="599503"/>
                  </a:lnTo>
                  <a:lnTo>
                    <a:pt x="190830" y="587756"/>
                  </a:lnTo>
                  <a:lnTo>
                    <a:pt x="181940" y="580707"/>
                  </a:lnTo>
                  <a:lnTo>
                    <a:pt x="176377" y="551561"/>
                  </a:lnTo>
                  <a:lnTo>
                    <a:pt x="181940" y="491858"/>
                  </a:lnTo>
                  <a:lnTo>
                    <a:pt x="201955" y="423214"/>
                  </a:lnTo>
                  <a:lnTo>
                    <a:pt x="221424" y="368211"/>
                  </a:lnTo>
                  <a:lnTo>
                    <a:pt x="226682" y="315937"/>
                  </a:lnTo>
                  <a:lnTo>
                    <a:pt x="229209" y="316407"/>
                  </a:lnTo>
                  <a:lnTo>
                    <a:pt x="247942" y="316407"/>
                  </a:lnTo>
                  <a:lnTo>
                    <a:pt x="275793" y="394576"/>
                  </a:lnTo>
                  <a:lnTo>
                    <a:pt x="292430" y="449110"/>
                  </a:lnTo>
                  <a:lnTo>
                    <a:pt x="297980" y="496608"/>
                  </a:lnTo>
                  <a:lnTo>
                    <a:pt x="297980" y="534682"/>
                  </a:lnTo>
                  <a:lnTo>
                    <a:pt x="289661" y="563841"/>
                  </a:lnTo>
                  <a:lnTo>
                    <a:pt x="281343" y="573239"/>
                  </a:lnTo>
                  <a:lnTo>
                    <a:pt x="281343" y="582650"/>
                  </a:lnTo>
                  <a:lnTo>
                    <a:pt x="292430" y="597230"/>
                  </a:lnTo>
                  <a:lnTo>
                    <a:pt x="311835" y="601929"/>
                  </a:lnTo>
                  <a:lnTo>
                    <a:pt x="342900" y="601929"/>
                  </a:lnTo>
                  <a:lnTo>
                    <a:pt x="398907" y="613676"/>
                  </a:lnTo>
                  <a:lnTo>
                    <a:pt x="415544" y="630605"/>
                  </a:lnTo>
                  <a:lnTo>
                    <a:pt x="441058" y="620737"/>
                  </a:lnTo>
                  <a:lnTo>
                    <a:pt x="452145" y="597230"/>
                  </a:lnTo>
                  <a:lnTo>
                    <a:pt x="441058" y="587819"/>
                  </a:lnTo>
                  <a:lnTo>
                    <a:pt x="393357" y="582650"/>
                  </a:lnTo>
                  <a:lnTo>
                    <a:pt x="340118" y="582650"/>
                  </a:lnTo>
                  <a:lnTo>
                    <a:pt x="317385" y="580301"/>
                  </a:lnTo>
                  <a:lnTo>
                    <a:pt x="311835" y="566191"/>
                  </a:lnTo>
                  <a:lnTo>
                    <a:pt x="317385" y="539394"/>
                  </a:lnTo>
                  <a:lnTo>
                    <a:pt x="320713" y="494245"/>
                  </a:lnTo>
                  <a:lnTo>
                    <a:pt x="306298" y="378117"/>
                  </a:lnTo>
                  <a:lnTo>
                    <a:pt x="309067" y="320751"/>
                  </a:lnTo>
                  <a:lnTo>
                    <a:pt x="309067" y="301942"/>
                  </a:lnTo>
                  <a:lnTo>
                    <a:pt x="305549" y="277520"/>
                  </a:lnTo>
                  <a:lnTo>
                    <a:pt x="320103" y="251091"/>
                  </a:lnTo>
                  <a:lnTo>
                    <a:pt x="328371" y="255587"/>
                  </a:lnTo>
                  <a:lnTo>
                    <a:pt x="358914" y="262636"/>
                  </a:lnTo>
                  <a:lnTo>
                    <a:pt x="392772" y="262636"/>
                  </a:lnTo>
                  <a:lnTo>
                    <a:pt x="415544" y="255587"/>
                  </a:lnTo>
                  <a:lnTo>
                    <a:pt x="418325" y="246189"/>
                  </a:lnTo>
                  <a:lnTo>
                    <a:pt x="406666" y="238683"/>
                  </a:lnTo>
                  <a:lnTo>
                    <a:pt x="387223" y="246189"/>
                  </a:lnTo>
                  <a:lnTo>
                    <a:pt x="358914" y="243840"/>
                  </a:lnTo>
                  <a:lnTo>
                    <a:pt x="336702" y="224586"/>
                  </a:lnTo>
                  <a:lnTo>
                    <a:pt x="328371" y="208140"/>
                  </a:lnTo>
                  <a:lnTo>
                    <a:pt x="342252" y="195935"/>
                  </a:lnTo>
                  <a:lnTo>
                    <a:pt x="373341" y="188887"/>
                  </a:lnTo>
                  <a:lnTo>
                    <a:pt x="412762" y="174790"/>
                  </a:lnTo>
                  <a:lnTo>
                    <a:pt x="443306" y="163055"/>
                  </a:lnTo>
                  <a:lnTo>
                    <a:pt x="457187" y="136753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517139" y="2014220"/>
            <a:ext cx="506476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5" dirty="0">
                <a:latin typeface="Times New Roman"/>
                <a:cs typeface="Times New Roman"/>
              </a:rPr>
              <a:t>Merge </a:t>
            </a:r>
            <a:r>
              <a:rPr sz="3200" spc="-5" dirty="0">
                <a:latin typeface="Times New Roman"/>
                <a:cs typeface="Times New Roman"/>
              </a:rPr>
              <a:t>two </a:t>
            </a:r>
            <a:r>
              <a:rPr sz="3200" dirty="0">
                <a:latin typeface="Times New Roman"/>
                <a:cs typeface="Times New Roman"/>
              </a:rPr>
              <a:t>sorted </a:t>
            </a:r>
            <a:r>
              <a:rPr sz="3200" spc="-5" dirty="0">
                <a:latin typeface="Times New Roman"/>
                <a:cs typeface="Times New Roman"/>
              </a:rPr>
              <a:t>lists </a:t>
            </a:r>
            <a:r>
              <a:rPr sz="3200" dirty="0">
                <a:latin typeface="Times New Roman"/>
                <a:cs typeface="Times New Roman"/>
              </a:rPr>
              <a:t>into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one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25612" y="3146412"/>
            <a:ext cx="1905000" cy="533400"/>
          </a:xfrm>
          <a:prstGeom prst="rect">
            <a:avLst/>
          </a:prstGeom>
          <a:ln w="38100">
            <a:solidFill>
              <a:srgbClr val="0E2FFF"/>
            </a:solidFill>
          </a:ln>
        </p:spPr>
        <p:txBody>
          <a:bodyPr vert="horz" wrap="square" lIns="0" tIns="121920" rIns="0" bIns="0" rtlCol="0">
            <a:spAutoFit/>
          </a:bodyPr>
          <a:lstStyle/>
          <a:p>
            <a:pPr marL="118110">
              <a:lnSpc>
                <a:spcPct val="100000"/>
              </a:lnSpc>
              <a:spcBef>
                <a:spcPts val="960"/>
              </a:spcBef>
            </a:pPr>
            <a:r>
              <a:rPr sz="2000" spc="-5" dirty="0">
                <a:solidFill>
                  <a:srgbClr val="37D142"/>
                </a:solidFill>
                <a:latin typeface="Tahoma"/>
                <a:cs typeface="Tahoma"/>
              </a:rPr>
              <a:t>25,31,52,88,98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25612" y="4114787"/>
            <a:ext cx="1905000" cy="533400"/>
          </a:xfrm>
          <a:prstGeom prst="rect">
            <a:avLst/>
          </a:prstGeom>
          <a:ln w="38100">
            <a:solidFill>
              <a:srgbClr val="0E2FFF"/>
            </a:solidFill>
          </a:ln>
        </p:spPr>
        <p:txBody>
          <a:bodyPr vert="horz" wrap="square" lIns="0" tIns="121920" rIns="0" bIns="0" rtlCol="0">
            <a:spAutoFit/>
          </a:bodyPr>
          <a:lstStyle/>
          <a:p>
            <a:pPr marL="118110">
              <a:lnSpc>
                <a:spcPct val="100000"/>
              </a:lnSpc>
              <a:spcBef>
                <a:spcPts val="960"/>
              </a:spcBef>
            </a:pPr>
            <a:r>
              <a:rPr sz="2000" spc="-10" dirty="0">
                <a:solidFill>
                  <a:srgbClr val="37D142"/>
                </a:solidFill>
                <a:latin typeface="Tahoma"/>
                <a:cs typeface="Tahoma"/>
              </a:rPr>
              <a:t>14,23,30,62,79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62587" y="3657587"/>
            <a:ext cx="3733800" cy="533400"/>
          </a:xfrm>
          <a:prstGeom prst="rect">
            <a:avLst/>
          </a:prstGeom>
          <a:solidFill>
            <a:srgbClr val="FCF2DA"/>
          </a:solidFill>
          <a:ln w="38100">
            <a:solidFill>
              <a:srgbClr val="0E2FFF"/>
            </a:solidFill>
          </a:ln>
        </p:spPr>
        <p:txBody>
          <a:bodyPr vert="horz" wrap="square" lIns="0" tIns="121920" rIns="0" bIns="0" rtlCol="0">
            <a:spAutoFit/>
          </a:bodyPr>
          <a:lstStyle/>
          <a:p>
            <a:pPr marL="145415">
              <a:lnSpc>
                <a:spcPct val="100000"/>
              </a:lnSpc>
              <a:spcBef>
                <a:spcPts val="960"/>
              </a:spcBef>
            </a:pPr>
            <a:r>
              <a:rPr sz="2000" spc="-5" dirty="0">
                <a:solidFill>
                  <a:srgbClr val="37D142"/>
                </a:solidFill>
                <a:latin typeface="Tahoma"/>
                <a:cs typeface="Tahoma"/>
              </a:rPr>
              <a:t>14,23,25,30,31,52,62,79,88,98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24000" y="4267187"/>
            <a:ext cx="7924800" cy="611505"/>
          </a:xfrm>
          <a:custGeom>
            <a:avLst/>
            <a:gdLst/>
            <a:ahLst/>
            <a:cxnLst/>
            <a:rect l="l" t="t" r="r" b="b"/>
            <a:pathLst>
              <a:path w="7924800" h="611504">
                <a:moveTo>
                  <a:pt x="0" y="609600"/>
                </a:moveTo>
                <a:lnTo>
                  <a:pt x="56922" y="609600"/>
                </a:lnTo>
                <a:lnTo>
                  <a:pt x="124527" y="609600"/>
                </a:lnTo>
                <a:lnTo>
                  <a:pt x="201888" y="609603"/>
                </a:lnTo>
                <a:lnTo>
                  <a:pt x="243938" y="609605"/>
                </a:lnTo>
                <a:lnTo>
                  <a:pt x="288080" y="609607"/>
                </a:lnTo>
                <a:lnTo>
                  <a:pt x="334199" y="609611"/>
                </a:lnTo>
                <a:lnTo>
                  <a:pt x="382178" y="609615"/>
                </a:lnTo>
                <a:lnTo>
                  <a:pt x="431903" y="609620"/>
                </a:lnTo>
                <a:lnTo>
                  <a:pt x="483256" y="609626"/>
                </a:lnTo>
                <a:lnTo>
                  <a:pt x="536124" y="609633"/>
                </a:lnTo>
                <a:lnTo>
                  <a:pt x="590389" y="609641"/>
                </a:lnTo>
                <a:lnTo>
                  <a:pt x="645937" y="609651"/>
                </a:lnTo>
                <a:lnTo>
                  <a:pt x="702651" y="609662"/>
                </a:lnTo>
                <a:lnTo>
                  <a:pt x="760416" y="609675"/>
                </a:lnTo>
                <a:lnTo>
                  <a:pt x="819117" y="609689"/>
                </a:lnTo>
                <a:lnTo>
                  <a:pt x="878637" y="609704"/>
                </a:lnTo>
                <a:lnTo>
                  <a:pt x="938861" y="609722"/>
                </a:lnTo>
                <a:lnTo>
                  <a:pt x="999673" y="609741"/>
                </a:lnTo>
                <a:lnTo>
                  <a:pt x="1060957" y="609762"/>
                </a:lnTo>
                <a:lnTo>
                  <a:pt x="1122598" y="609786"/>
                </a:lnTo>
                <a:lnTo>
                  <a:pt x="1184481" y="609811"/>
                </a:lnTo>
                <a:lnTo>
                  <a:pt x="1246489" y="609838"/>
                </a:lnTo>
                <a:lnTo>
                  <a:pt x="1308506" y="609868"/>
                </a:lnTo>
                <a:lnTo>
                  <a:pt x="1370418" y="609900"/>
                </a:lnTo>
                <a:lnTo>
                  <a:pt x="1432107" y="609935"/>
                </a:lnTo>
                <a:lnTo>
                  <a:pt x="1493460" y="609972"/>
                </a:lnTo>
                <a:lnTo>
                  <a:pt x="1554359" y="610012"/>
                </a:lnTo>
                <a:lnTo>
                  <a:pt x="1614690" y="610055"/>
                </a:lnTo>
                <a:lnTo>
                  <a:pt x="1674337" y="610101"/>
                </a:lnTo>
                <a:lnTo>
                  <a:pt x="1733183" y="610149"/>
                </a:lnTo>
                <a:lnTo>
                  <a:pt x="1791113" y="610200"/>
                </a:lnTo>
                <a:lnTo>
                  <a:pt x="1848013" y="610255"/>
                </a:lnTo>
                <a:lnTo>
                  <a:pt x="1903764" y="610313"/>
                </a:lnTo>
                <a:lnTo>
                  <a:pt x="1958254" y="610374"/>
                </a:lnTo>
                <a:lnTo>
                  <a:pt x="2011364" y="610439"/>
                </a:lnTo>
                <a:lnTo>
                  <a:pt x="2062980" y="610507"/>
                </a:lnTo>
                <a:lnTo>
                  <a:pt x="2112987" y="610578"/>
                </a:lnTo>
                <a:lnTo>
                  <a:pt x="2161268" y="610653"/>
                </a:lnTo>
                <a:lnTo>
                  <a:pt x="2207707" y="610732"/>
                </a:lnTo>
                <a:lnTo>
                  <a:pt x="2252190" y="610815"/>
                </a:lnTo>
                <a:lnTo>
                  <a:pt x="2294600" y="610902"/>
                </a:lnTo>
                <a:lnTo>
                  <a:pt x="2334822" y="610993"/>
                </a:lnTo>
                <a:lnTo>
                  <a:pt x="2408237" y="611187"/>
                </a:lnTo>
                <a:lnTo>
                  <a:pt x="2477469" y="608033"/>
                </a:lnTo>
                <a:lnTo>
                  <a:pt x="2540436" y="601775"/>
                </a:lnTo>
                <a:lnTo>
                  <a:pt x="2597603" y="592677"/>
                </a:lnTo>
                <a:lnTo>
                  <a:pt x="2649434" y="580999"/>
                </a:lnTo>
                <a:lnTo>
                  <a:pt x="2696396" y="567005"/>
                </a:lnTo>
                <a:lnTo>
                  <a:pt x="2738953" y="550956"/>
                </a:lnTo>
                <a:lnTo>
                  <a:pt x="2777571" y="533115"/>
                </a:lnTo>
                <a:lnTo>
                  <a:pt x="2812714" y="513742"/>
                </a:lnTo>
                <a:lnTo>
                  <a:pt x="2844848" y="493102"/>
                </a:lnTo>
                <a:lnTo>
                  <a:pt x="2901948" y="449064"/>
                </a:lnTo>
                <a:lnTo>
                  <a:pt x="2952593" y="403097"/>
                </a:lnTo>
                <a:lnTo>
                  <a:pt x="2976658" y="380045"/>
                </a:lnTo>
                <a:lnTo>
                  <a:pt x="3000504" y="357298"/>
                </a:lnTo>
                <a:lnTo>
                  <a:pt x="3049402" y="313764"/>
                </a:lnTo>
                <a:lnTo>
                  <a:pt x="3103009" y="274592"/>
                </a:lnTo>
                <a:lnTo>
                  <a:pt x="3165045" y="241879"/>
                </a:lnTo>
                <a:lnTo>
                  <a:pt x="3229611" y="218619"/>
                </a:lnTo>
                <a:lnTo>
                  <a:pt x="3254979" y="209177"/>
                </a:lnTo>
                <a:lnTo>
                  <a:pt x="3296196" y="191800"/>
                </a:lnTo>
                <a:lnTo>
                  <a:pt x="3341906" y="169117"/>
                </a:lnTo>
                <a:lnTo>
                  <a:pt x="3354894" y="162354"/>
                </a:lnTo>
                <a:lnTo>
                  <a:pt x="3367611" y="155946"/>
                </a:lnTo>
                <a:lnTo>
                  <a:pt x="3409256" y="138595"/>
                </a:lnTo>
                <a:lnTo>
                  <a:pt x="3466900" y="123508"/>
                </a:lnTo>
                <a:lnTo>
                  <a:pt x="3521045" y="114360"/>
                </a:lnTo>
                <a:lnTo>
                  <a:pt x="3592542" y="105698"/>
                </a:lnTo>
                <a:lnTo>
                  <a:pt x="3636079" y="101484"/>
                </a:lnTo>
                <a:lnTo>
                  <a:pt x="3685490" y="97313"/>
                </a:lnTo>
                <a:lnTo>
                  <a:pt x="3741287" y="93160"/>
                </a:lnTo>
                <a:lnTo>
                  <a:pt x="3803984" y="88998"/>
                </a:lnTo>
                <a:lnTo>
                  <a:pt x="3874091" y="84801"/>
                </a:lnTo>
                <a:lnTo>
                  <a:pt x="3952121" y="80544"/>
                </a:lnTo>
                <a:lnTo>
                  <a:pt x="4038587" y="76200"/>
                </a:lnTo>
                <a:lnTo>
                  <a:pt x="4101472" y="73269"/>
                </a:lnTo>
                <a:lnTo>
                  <a:pt x="4167361" y="70413"/>
                </a:lnTo>
                <a:lnTo>
                  <a:pt x="4236174" y="67631"/>
                </a:lnTo>
                <a:lnTo>
                  <a:pt x="4307832" y="64920"/>
                </a:lnTo>
                <a:lnTo>
                  <a:pt x="4382253" y="62278"/>
                </a:lnTo>
                <a:lnTo>
                  <a:pt x="4420475" y="60982"/>
                </a:lnTo>
                <a:lnTo>
                  <a:pt x="4459359" y="59702"/>
                </a:lnTo>
                <a:lnTo>
                  <a:pt x="4498893" y="58439"/>
                </a:lnTo>
                <a:lnTo>
                  <a:pt x="4539068" y="57192"/>
                </a:lnTo>
                <a:lnTo>
                  <a:pt x="4579874" y="55961"/>
                </a:lnTo>
                <a:lnTo>
                  <a:pt x="4621301" y="54746"/>
                </a:lnTo>
                <a:lnTo>
                  <a:pt x="4663339" y="53545"/>
                </a:lnTo>
                <a:lnTo>
                  <a:pt x="4705977" y="52360"/>
                </a:lnTo>
                <a:lnTo>
                  <a:pt x="4749207" y="51189"/>
                </a:lnTo>
                <a:lnTo>
                  <a:pt x="4793017" y="50033"/>
                </a:lnTo>
                <a:lnTo>
                  <a:pt x="4837399" y="48891"/>
                </a:lnTo>
                <a:lnTo>
                  <a:pt x="4882341" y="47763"/>
                </a:lnTo>
                <a:lnTo>
                  <a:pt x="4927834" y="46649"/>
                </a:lnTo>
                <a:lnTo>
                  <a:pt x="4973867" y="45549"/>
                </a:lnTo>
                <a:lnTo>
                  <a:pt x="5020432" y="44462"/>
                </a:lnTo>
                <a:lnTo>
                  <a:pt x="5067517" y="43387"/>
                </a:lnTo>
                <a:lnTo>
                  <a:pt x="5115113" y="42326"/>
                </a:lnTo>
                <a:lnTo>
                  <a:pt x="5163209" y="41277"/>
                </a:lnTo>
                <a:lnTo>
                  <a:pt x="5211797" y="40240"/>
                </a:lnTo>
                <a:lnTo>
                  <a:pt x="5260865" y="39216"/>
                </a:lnTo>
                <a:lnTo>
                  <a:pt x="5310404" y="38203"/>
                </a:lnTo>
                <a:lnTo>
                  <a:pt x="5360403" y="37201"/>
                </a:lnTo>
                <a:lnTo>
                  <a:pt x="5410853" y="36211"/>
                </a:lnTo>
                <a:lnTo>
                  <a:pt x="5461744" y="35232"/>
                </a:lnTo>
                <a:lnTo>
                  <a:pt x="5513065" y="34264"/>
                </a:lnTo>
                <a:lnTo>
                  <a:pt x="5564807" y="33306"/>
                </a:lnTo>
                <a:lnTo>
                  <a:pt x="5616960" y="32358"/>
                </a:lnTo>
                <a:lnTo>
                  <a:pt x="5669513" y="31421"/>
                </a:lnTo>
                <a:lnTo>
                  <a:pt x="5722457" y="30493"/>
                </a:lnTo>
                <a:lnTo>
                  <a:pt x="5775781" y="29575"/>
                </a:lnTo>
                <a:lnTo>
                  <a:pt x="5829476" y="28666"/>
                </a:lnTo>
                <a:lnTo>
                  <a:pt x="5883531" y="27766"/>
                </a:lnTo>
                <a:lnTo>
                  <a:pt x="5937937" y="26875"/>
                </a:lnTo>
                <a:lnTo>
                  <a:pt x="5992684" y="25992"/>
                </a:lnTo>
                <a:lnTo>
                  <a:pt x="6047760" y="25117"/>
                </a:lnTo>
                <a:lnTo>
                  <a:pt x="6103158" y="24251"/>
                </a:lnTo>
                <a:lnTo>
                  <a:pt x="6158866" y="23392"/>
                </a:lnTo>
                <a:lnTo>
                  <a:pt x="6214874" y="22541"/>
                </a:lnTo>
                <a:lnTo>
                  <a:pt x="6271172" y="21697"/>
                </a:lnTo>
                <a:lnTo>
                  <a:pt x="6327751" y="20860"/>
                </a:lnTo>
                <a:lnTo>
                  <a:pt x="6384601" y="20030"/>
                </a:lnTo>
                <a:lnTo>
                  <a:pt x="6441711" y="19207"/>
                </a:lnTo>
                <a:lnTo>
                  <a:pt x="6499071" y="18389"/>
                </a:lnTo>
                <a:lnTo>
                  <a:pt x="6556671" y="17578"/>
                </a:lnTo>
                <a:lnTo>
                  <a:pt x="6614502" y="16772"/>
                </a:lnTo>
                <a:lnTo>
                  <a:pt x="6672553" y="15972"/>
                </a:lnTo>
                <a:lnTo>
                  <a:pt x="6730815" y="15177"/>
                </a:lnTo>
                <a:lnTo>
                  <a:pt x="6789277" y="14388"/>
                </a:lnTo>
                <a:lnTo>
                  <a:pt x="6847929" y="13603"/>
                </a:lnTo>
                <a:lnTo>
                  <a:pt x="6906761" y="12822"/>
                </a:lnTo>
                <a:lnTo>
                  <a:pt x="6965764" y="12046"/>
                </a:lnTo>
                <a:lnTo>
                  <a:pt x="7024927" y="11273"/>
                </a:lnTo>
                <a:lnTo>
                  <a:pt x="7084240" y="10505"/>
                </a:lnTo>
                <a:lnTo>
                  <a:pt x="7143693" y="9740"/>
                </a:lnTo>
                <a:lnTo>
                  <a:pt x="7203276" y="8978"/>
                </a:lnTo>
                <a:lnTo>
                  <a:pt x="7262980" y="8219"/>
                </a:lnTo>
                <a:lnTo>
                  <a:pt x="7322794" y="7463"/>
                </a:lnTo>
                <a:lnTo>
                  <a:pt x="7382707" y="6710"/>
                </a:lnTo>
                <a:lnTo>
                  <a:pt x="7442712" y="5959"/>
                </a:lnTo>
                <a:lnTo>
                  <a:pt x="7502796" y="5209"/>
                </a:lnTo>
                <a:lnTo>
                  <a:pt x="7562950" y="4462"/>
                </a:lnTo>
                <a:lnTo>
                  <a:pt x="7623164" y="3716"/>
                </a:lnTo>
                <a:lnTo>
                  <a:pt x="7683429" y="2971"/>
                </a:lnTo>
                <a:lnTo>
                  <a:pt x="7743733" y="2227"/>
                </a:lnTo>
                <a:lnTo>
                  <a:pt x="7804068" y="1484"/>
                </a:lnTo>
                <a:lnTo>
                  <a:pt x="7864422" y="742"/>
                </a:lnTo>
                <a:lnTo>
                  <a:pt x="7924787" y="0"/>
                </a:lnTo>
              </a:path>
            </a:pathLst>
          </a:custGeom>
          <a:ln w="38100">
            <a:solidFill>
              <a:srgbClr val="D84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447800" y="2971787"/>
            <a:ext cx="7924800" cy="611505"/>
          </a:xfrm>
          <a:custGeom>
            <a:avLst/>
            <a:gdLst/>
            <a:ahLst/>
            <a:cxnLst/>
            <a:rect l="l" t="t" r="r" b="b"/>
            <a:pathLst>
              <a:path w="7924800" h="611504">
                <a:moveTo>
                  <a:pt x="0" y="1587"/>
                </a:moveTo>
                <a:lnTo>
                  <a:pt x="56922" y="1587"/>
                </a:lnTo>
                <a:lnTo>
                  <a:pt x="124527" y="1586"/>
                </a:lnTo>
                <a:lnTo>
                  <a:pt x="201888" y="1584"/>
                </a:lnTo>
                <a:lnTo>
                  <a:pt x="243938" y="1582"/>
                </a:lnTo>
                <a:lnTo>
                  <a:pt x="288080" y="1579"/>
                </a:lnTo>
                <a:lnTo>
                  <a:pt x="334199" y="1576"/>
                </a:lnTo>
                <a:lnTo>
                  <a:pt x="382178" y="1572"/>
                </a:lnTo>
                <a:lnTo>
                  <a:pt x="431903" y="1567"/>
                </a:lnTo>
                <a:lnTo>
                  <a:pt x="483256" y="1561"/>
                </a:lnTo>
                <a:lnTo>
                  <a:pt x="536124" y="1553"/>
                </a:lnTo>
                <a:lnTo>
                  <a:pt x="590389" y="1545"/>
                </a:lnTo>
                <a:lnTo>
                  <a:pt x="645937" y="1535"/>
                </a:lnTo>
                <a:lnTo>
                  <a:pt x="702651" y="1524"/>
                </a:lnTo>
                <a:lnTo>
                  <a:pt x="760416" y="1512"/>
                </a:lnTo>
                <a:lnTo>
                  <a:pt x="819117" y="1498"/>
                </a:lnTo>
                <a:lnTo>
                  <a:pt x="878637" y="1482"/>
                </a:lnTo>
                <a:lnTo>
                  <a:pt x="938861" y="1465"/>
                </a:lnTo>
                <a:lnTo>
                  <a:pt x="999673" y="1445"/>
                </a:lnTo>
                <a:lnTo>
                  <a:pt x="1060957" y="1424"/>
                </a:lnTo>
                <a:lnTo>
                  <a:pt x="1122598" y="1401"/>
                </a:lnTo>
                <a:lnTo>
                  <a:pt x="1184481" y="1376"/>
                </a:lnTo>
                <a:lnTo>
                  <a:pt x="1246489" y="1348"/>
                </a:lnTo>
                <a:lnTo>
                  <a:pt x="1308506" y="1318"/>
                </a:lnTo>
                <a:lnTo>
                  <a:pt x="1370418" y="1286"/>
                </a:lnTo>
                <a:lnTo>
                  <a:pt x="1432107" y="1251"/>
                </a:lnTo>
                <a:lnTo>
                  <a:pt x="1493460" y="1214"/>
                </a:lnTo>
                <a:lnTo>
                  <a:pt x="1554359" y="1174"/>
                </a:lnTo>
                <a:lnTo>
                  <a:pt x="1614690" y="1131"/>
                </a:lnTo>
                <a:lnTo>
                  <a:pt x="1674337" y="1086"/>
                </a:lnTo>
                <a:lnTo>
                  <a:pt x="1733183" y="1038"/>
                </a:lnTo>
                <a:lnTo>
                  <a:pt x="1791113" y="986"/>
                </a:lnTo>
                <a:lnTo>
                  <a:pt x="1848013" y="931"/>
                </a:lnTo>
                <a:lnTo>
                  <a:pt x="1903764" y="874"/>
                </a:lnTo>
                <a:lnTo>
                  <a:pt x="1958254" y="812"/>
                </a:lnTo>
                <a:lnTo>
                  <a:pt x="2011364" y="748"/>
                </a:lnTo>
                <a:lnTo>
                  <a:pt x="2062980" y="680"/>
                </a:lnTo>
                <a:lnTo>
                  <a:pt x="2112987" y="608"/>
                </a:lnTo>
                <a:lnTo>
                  <a:pt x="2161268" y="533"/>
                </a:lnTo>
                <a:lnTo>
                  <a:pt x="2207707" y="454"/>
                </a:lnTo>
                <a:lnTo>
                  <a:pt x="2252190" y="371"/>
                </a:lnTo>
                <a:lnTo>
                  <a:pt x="2294600" y="284"/>
                </a:lnTo>
                <a:lnTo>
                  <a:pt x="2334822" y="194"/>
                </a:lnTo>
                <a:lnTo>
                  <a:pt x="2408237" y="0"/>
                </a:lnTo>
                <a:lnTo>
                  <a:pt x="2477469" y="3154"/>
                </a:lnTo>
                <a:lnTo>
                  <a:pt x="2540436" y="9411"/>
                </a:lnTo>
                <a:lnTo>
                  <a:pt x="2597603" y="18510"/>
                </a:lnTo>
                <a:lnTo>
                  <a:pt x="2649434" y="30187"/>
                </a:lnTo>
                <a:lnTo>
                  <a:pt x="2696396" y="44181"/>
                </a:lnTo>
                <a:lnTo>
                  <a:pt x="2738953" y="60230"/>
                </a:lnTo>
                <a:lnTo>
                  <a:pt x="2777571" y="78072"/>
                </a:lnTo>
                <a:lnTo>
                  <a:pt x="2812714" y="97444"/>
                </a:lnTo>
                <a:lnTo>
                  <a:pt x="2844848" y="118085"/>
                </a:lnTo>
                <a:lnTo>
                  <a:pt x="2901948" y="162123"/>
                </a:lnTo>
                <a:lnTo>
                  <a:pt x="2952593" y="208090"/>
                </a:lnTo>
                <a:lnTo>
                  <a:pt x="2976658" y="231141"/>
                </a:lnTo>
                <a:lnTo>
                  <a:pt x="3000504" y="253888"/>
                </a:lnTo>
                <a:lnTo>
                  <a:pt x="3049402" y="297422"/>
                </a:lnTo>
                <a:lnTo>
                  <a:pt x="3103009" y="336594"/>
                </a:lnTo>
                <a:lnTo>
                  <a:pt x="3165045" y="369307"/>
                </a:lnTo>
                <a:lnTo>
                  <a:pt x="3229611" y="392567"/>
                </a:lnTo>
                <a:lnTo>
                  <a:pt x="3254979" y="402010"/>
                </a:lnTo>
                <a:lnTo>
                  <a:pt x="3296196" y="419386"/>
                </a:lnTo>
                <a:lnTo>
                  <a:pt x="3341906" y="442069"/>
                </a:lnTo>
                <a:lnTo>
                  <a:pt x="3354894" y="448833"/>
                </a:lnTo>
                <a:lnTo>
                  <a:pt x="3367611" y="455241"/>
                </a:lnTo>
                <a:lnTo>
                  <a:pt x="3409256" y="472591"/>
                </a:lnTo>
                <a:lnTo>
                  <a:pt x="3466900" y="487678"/>
                </a:lnTo>
                <a:lnTo>
                  <a:pt x="3521045" y="496826"/>
                </a:lnTo>
                <a:lnTo>
                  <a:pt x="3592542" y="505489"/>
                </a:lnTo>
                <a:lnTo>
                  <a:pt x="3636079" y="509703"/>
                </a:lnTo>
                <a:lnTo>
                  <a:pt x="3685490" y="513873"/>
                </a:lnTo>
                <a:lnTo>
                  <a:pt x="3741287" y="518027"/>
                </a:lnTo>
                <a:lnTo>
                  <a:pt x="3803984" y="522189"/>
                </a:lnTo>
                <a:lnTo>
                  <a:pt x="3874091" y="526385"/>
                </a:lnTo>
                <a:lnTo>
                  <a:pt x="3952121" y="530643"/>
                </a:lnTo>
                <a:lnTo>
                  <a:pt x="4038587" y="534987"/>
                </a:lnTo>
                <a:lnTo>
                  <a:pt x="4101472" y="537918"/>
                </a:lnTo>
                <a:lnTo>
                  <a:pt x="4167361" y="540773"/>
                </a:lnTo>
                <a:lnTo>
                  <a:pt x="4236174" y="543556"/>
                </a:lnTo>
                <a:lnTo>
                  <a:pt x="4307832" y="546267"/>
                </a:lnTo>
                <a:lnTo>
                  <a:pt x="4382253" y="548909"/>
                </a:lnTo>
                <a:lnTo>
                  <a:pt x="4420475" y="550205"/>
                </a:lnTo>
                <a:lnTo>
                  <a:pt x="4459359" y="551484"/>
                </a:lnTo>
                <a:lnTo>
                  <a:pt x="4498893" y="552747"/>
                </a:lnTo>
                <a:lnTo>
                  <a:pt x="4539068" y="553994"/>
                </a:lnTo>
                <a:lnTo>
                  <a:pt x="4579874" y="555225"/>
                </a:lnTo>
                <a:lnTo>
                  <a:pt x="4621301" y="556441"/>
                </a:lnTo>
                <a:lnTo>
                  <a:pt x="4663339" y="557641"/>
                </a:lnTo>
                <a:lnTo>
                  <a:pt x="4705977" y="558827"/>
                </a:lnTo>
                <a:lnTo>
                  <a:pt x="4749207" y="559997"/>
                </a:lnTo>
                <a:lnTo>
                  <a:pt x="4793017" y="561154"/>
                </a:lnTo>
                <a:lnTo>
                  <a:pt x="4837399" y="562295"/>
                </a:lnTo>
                <a:lnTo>
                  <a:pt x="4882341" y="563423"/>
                </a:lnTo>
                <a:lnTo>
                  <a:pt x="4927834" y="564537"/>
                </a:lnTo>
                <a:lnTo>
                  <a:pt x="4973867" y="565638"/>
                </a:lnTo>
                <a:lnTo>
                  <a:pt x="5020432" y="566725"/>
                </a:lnTo>
                <a:lnTo>
                  <a:pt x="5067517" y="567799"/>
                </a:lnTo>
                <a:lnTo>
                  <a:pt x="5115113" y="568861"/>
                </a:lnTo>
                <a:lnTo>
                  <a:pt x="5163209" y="569910"/>
                </a:lnTo>
                <a:lnTo>
                  <a:pt x="5211797" y="570946"/>
                </a:lnTo>
                <a:lnTo>
                  <a:pt x="5260865" y="571971"/>
                </a:lnTo>
                <a:lnTo>
                  <a:pt x="5310404" y="572984"/>
                </a:lnTo>
                <a:lnTo>
                  <a:pt x="5360403" y="573985"/>
                </a:lnTo>
                <a:lnTo>
                  <a:pt x="5410853" y="574975"/>
                </a:lnTo>
                <a:lnTo>
                  <a:pt x="5461744" y="575954"/>
                </a:lnTo>
                <a:lnTo>
                  <a:pt x="5513065" y="576923"/>
                </a:lnTo>
                <a:lnTo>
                  <a:pt x="5564807" y="577881"/>
                </a:lnTo>
                <a:lnTo>
                  <a:pt x="5616960" y="578828"/>
                </a:lnTo>
                <a:lnTo>
                  <a:pt x="5669513" y="579766"/>
                </a:lnTo>
                <a:lnTo>
                  <a:pt x="5722457" y="580693"/>
                </a:lnTo>
                <a:lnTo>
                  <a:pt x="5775781" y="581612"/>
                </a:lnTo>
                <a:lnTo>
                  <a:pt x="5829476" y="582521"/>
                </a:lnTo>
                <a:lnTo>
                  <a:pt x="5883531" y="583421"/>
                </a:lnTo>
                <a:lnTo>
                  <a:pt x="5937937" y="584312"/>
                </a:lnTo>
                <a:lnTo>
                  <a:pt x="5992684" y="585195"/>
                </a:lnTo>
                <a:lnTo>
                  <a:pt x="6047760" y="586069"/>
                </a:lnTo>
                <a:lnTo>
                  <a:pt x="6103158" y="586935"/>
                </a:lnTo>
                <a:lnTo>
                  <a:pt x="6158866" y="587794"/>
                </a:lnTo>
                <a:lnTo>
                  <a:pt x="6214874" y="588645"/>
                </a:lnTo>
                <a:lnTo>
                  <a:pt x="6271172" y="589489"/>
                </a:lnTo>
                <a:lnTo>
                  <a:pt x="6327751" y="590326"/>
                </a:lnTo>
                <a:lnTo>
                  <a:pt x="6384601" y="591156"/>
                </a:lnTo>
                <a:lnTo>
                  <a:pt x="6441711" y="591980"/>
                </a:lnTo>
                <a:lnTo>
                  <a:pt x="6499071" y="592797"/>
                </a:lnTo>
                <a:lnTo>
                  <a:pt x="6556671" y="593609"/>
                </a:lnTo>
                <a:lnTo>
                  <a:pt x="6614502" y="594414"/>
                </a:lnTo>
                <a:lnTo>
                  <a:pt x="6672553" y="595214"/>
                </a:lnTo>
                <a:lnTo>
                  <a:pt x="6730815" y="596009"/>
                </a:lnTo>
                <a:lnTo>
                  <a:pt x="6789277" y="596799"/>
                </a:lnTo>
                <a:lnTo>
                  <a:pt x="6847929" y="597584"/>
                </a:lnTo>
                <a:lnTo>
                  <a:pt x="6906761" y="598364"/>
                </a:lnTo>
                <a:lnTo>
                  <a:pt x="6965764" y="599141"/>
                </a:lnTo>
                <a:lnTo>
                  <a:pt x="7024927" y="599913"/>
                </a:lnTo>
                <a:lnTo>
                  <a:pt x="7084240" y="600682"/>
                </a:lnTo>
                <a:lnTo>
                  <a:pt x="7143693" y="601447"/>
                </a:lnTo>
                <a:lnTo>
                  <a:pt x="7203276" y="602208"/>
                </a:lnTo>
                <a:lnTo>
                  <a:pt x="7262980" y="602967"/>
                </a:lnTo>
                <a:lnTo>
                  <a:pt x="7322794" y="603723"/>
                </a:lnTo>
                <a:lnTo>
                  <a:pt x="7382707" y="604477"/>
                </a:lnTo>
                <a:lnTo>
                  <a:pt x="7442712" y="605228"/>
                </a:lnTo>
                <a:lnTo>
                  <a:pt x="7502796" y="605977"/>
                </a:lnTo>
                <a:lnTo>
                  <a:pt x="7562950" y="606725"/>
                </a:lnTo>
                <a:lnTo>
                  <a:pt x="7623164" y="607471"/>
                </a:lnTo>
                <a:lnTo>
                  <a:pt x="7683429" y="608215"/>
                </a:lnTo>
                <a:lnTo>
                  <a:pt x="7743733" y="608959"/>
                </a:lnTo>
                <a:lnTo>
                  <a:pt x="7804068" y="609702"/>
                </a:lnTo>
                <a:lnTo>
                  <a:pt x="7864422" y="610445"/>
                </a:lnTo>
                <a:lnTo>
                  <a:pt x="7924787" y="611187"/>
                </a:lnTo>
              </a:path>
            </a:pathLst>
          </a:custGeom>
          <a:ln w="38100">
            <a:solidFill>
              <a:srgbClr val="D84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47800" y="3803638"/>
            <a:ext cx="3284854" cy="165735"/>
          </a:xfrm>
          <a:custGeom>
            <a:avLst/>
            <a:gdLst/>
            <a:ahLst/>
            <a:cxnLst/>
            <a:rect l="l" t="t" r="r" b="b"/>
            <a:pathLst>
              <a:path w="3284854" h="165735">
                <a:moveTo>
                  <a:pt x="0" y="6348"/>
                </a:moveTo>
                <a:lnTo>
                  <a:pt x="55331" y="6295"/>
                </a:lnTo>
                <a:lnTo>
                  <a:pt x="120159" y="6145"/>
                </a:lnTo>
                <a:lnTo>
                  <a:pt x="193776" y="5909"/>
                </a:lnTo>
                <a:lnTo>
                  <a:pt x="233660" y="5762"/>
                </a:lnTo>
                <a:lnTo>
                  <a:pt x="275475" y="5598"/>
                </a:lnTo>
                <a:lnTo>
                  <a:pt x="319133" y="5419"/>
                </a:lnTo>
                <a:lnTo>
                  <a:pt x="364546" y="5225"/>
                </a:lnTo>
                <a:lnTo>
                  <a:pt x="411625" y="5019"/>
                </a:lnTo>
                <a:lnTo>
                  <a:pt x="460282" y="4802"/>
                </a:lnTo>
                <a:lnTo>
                  <a:pt x="510428" y="4574"/>
                </a:lnTo>
                <a:lnTo>
                  <a:pt x="561975" y="4339"/>
                </a:lnTo>
                <a:lnTo>
                  <a:pt x="614833" y="4096"/>
                </a:lnTo>
                <a:lnTo>
                  <a:pt x="668916" y="3849"/>
                </a:lnTo>
                <a:lnTo>
                  <a:pt x="724133" y="3597"/>
                </a:lnTo>
                <a:lnTo>
                  <a:pt x="780397" y="3343"/>
                </a:lnTo>
                <a:lnTo>
                  <a:pt x="837619" y="3088"/>
                </a:lnTo>
                <a:lnTo>
                  <a:pt x="895711" y="2833"/>
                </a:lnTo>
                <a:lnTo>
                  <a:pt x="954583" y="2581"/>
                </a:lnTo>
                <a:lnTo>
                  <a:pt x="1014148" y="2332"/>
                </a:lnTo>
                <a:lnTo>
                  <a:pt x="1074317" y="2087"/>
                </a:lnTo>
                <a:lnTo>
                  <a:pt x="1135002" y="1849"/>
                </a:lnTo>
                <a:lnTo>
                  <a:pt x="1196113" y="1619"/>
                </a:lnTo>
                <a:lnTo>
                  <a:pt x="1257563" y="1398"/>
                </a:lnTo>
                <a:lnTo>
                  <a:pt x="1319263" y="1188"/>
                </a:lnTo>
                <a:lnTo>
                  <a:pt x="1381125" y="990"/>
                </a:lnTo>
                <a:lnTo>
                  <a:pt x="1443059" y="806"/>
                </a:lnTo>
                <a:lnTo>
                  <a:pt x="1504977" y="637"/>
                </a:lnTo>
                <a:lnTo>
                  <a:pt x="1566792" y="484"/>
                </a:lnTo>
                <a:lnTo>
                  <a:pt x="1628413" y="350"/>
                </a:lnTo>
                <a:lnTo>
                  <a:pt x="1689754" y="235"/>
                </a:lnTo>
                <a:lnTo>
                  <a:pt x="1750725" y="141"/>
                </a:lnTo>
                <a:lnTo>
                  <a:pt x="1811238" y="69"/>
                </a:lnTo>
                <a:lnTo>
                  <a:pt x="1871204" y="22"/>
                </a:lnTo>
                <a:lnTo>
                  <a:pt x="1930535" y="0"/>
                </a:lnTo>
                <a:lnTo>
                  <a:pt x="1989142" y="4"/>
                </a:lnTo>
                <a:lnTo>
                  <a:pt x="2046936" y="37"/>
                </a:lnTo>
                <a:lnTo>
                  <a:pt x="2103830" y="100"/>
                </a:lnTo>
                <a:lnTo>
                  <a:pt x="2159735" y="194"/>
                </a:lnTo>
                <a:lnTo>
                  <a:pt x="2214562" y="320"/>
                </a:lnTo>
                <a:lnTo>
                  <a:pt x="2268223" y="481"/>
                </a:lnTo>
                <a:lnTo>
                  <a:pt x="2320628" y="678"/>
                </a:lnTo>
                <a:lnTo>
                  <a:pt x="2371691" y="911"/>
                </a:lnTo>
                <a:lnTo>
                  <a:pt x="2421321" y="1183"/>
                </a:lnTo>
                <a:lnTo>
                  <a:pt x="2469431" y="1496"/>
                </a:lnTo>
                <a:lnTo>
                  <a:pt x="2515932" y="1849"/>
                </a:lnTo>
                <a:lnTo>
                  <a:pt x="2560736" y="2246"/>
                </a:lnTo>
                <a:lnTo>
                  <a:pt x="2603754" y="2687"/>
                </a:lnTo>
                <a:lnTo>
                  <a:pt x="2644897" y="3174"/>
                </a:lnTo>
                <a:lnTo>
                  <a:pt x="2684078" y="3708"/>
                </a:lnTo>
                <a:lnTo>
                  <a:pt x="2756196" y="4925"/>
                </a:lnTo>
                <a:lnTo>
                  <a:pt x="2819400" y="6348"/>
                </a:lnTo>
                <a:lnTo>
                  <a:pt x="2934531" y="10131"/>
                </a:lnTo>
                <a:lnTo>
                  <a:pt x="3029190" y="14804"/>
                </a:lnTo>
                <a:lnTo>
                  <a:pt x="3105338" y="20239"/>
                </a:lnTo>
                <a:lnTo>
                  <a:pt x="3164933" y="26311"/>
                </a:lnTo>
                <a:lnTo>
                  <a:pt x="3209935" y="32895"/>
                </a:lnTo>
                <a:lnTo>
                  <a:pt x="3263999" y="47096"/>
                </a:lnTo>
                <a:lnTo>
                  <a:pt x="3284639" y="69089"/>
                </a:lnTo>
                <a:lnTo>
                  <a:pt x="3283236" y="76103"/>
                </a:lnTo>
                <a:lnTo>
                  <a:pt x="3280957" y="82747"/>
                </a:lnTo>
                <a:lnTo>
                  <a:pt x="3279762" y="88898"/>
                </a:lnTo>
                <a:lnTo>
                  <a:pt x="3280957" y="94887"/>
                </a:lnTo>
                <a:lnTo>
                  <a:pt x="3283236" y="101075"/>
                </a:lnTo>
                <a:lnTo>
                  <a:pt x="3284639" y="107380"/>
                </a:lnTo>
                <a:lnTo>
                  <a:pt x="3242304" y="132124"/>
                </a:lnTo>
                <a:lnTo>
                  <a:pt x="3164933" y="143057"/>
                </a:lnTo>
                <a:lnTo>
                  <a:pt x="3105338" y="147875"/>
                </a:lnTo>
                <a:lnTo>
                  <a:pt x="3029190" y="152151"/>
                </a:lnTo>
                <a:lnTo>
                  <a:pt x="2934531" y="155803"/>
                </a:lnTo>
                <a:lnTo>
                  <a:pt x="2819400" y="158748"/>
                </a:lnTo>
                <a:lnTo>
                  <a:pt x="2758632" y="159879"/>
                </a:lnTo>
                <a:lnTo>
                  <a:pt x="2693464" y="160891"/>
                </a:lnTo>
                <a:lnTo>
                  <a:pt x="2624061" y="161791"/>
                </a:lnTo>
                <a:lnTo>
                  <a:pt x="2550589" y="162580"/>
                </a:lnTo>
                <a:lnTo>
                  <a:pt x="2512380" y="162935"/>
                </a:lnTo>
                <a:lnTo>
                  <a:pt x="2473216" y="163264"/>
                </a:lnTo>
                <a:lnTo>
                  <a:pt x="2433118" y="163567"/>
                </a:lnTo>
                <a:lnTo>
                  <a:pt x="2392107" y="163845"/>
                </a:lnTo>
                <a:lnTo>
                  <a:pt x="2350205" y="164099"/>
                </a:lnTo>
                <a:lnTo>
                  <a:pt x="2307431" y="164329"/>
                </a:lnTo>
                <a:lnTo>
                  <a:pt x="2263806" y="164535"/>
                </a:lnTo>
                <a:lnTo>
                  <a:pt x="2219352" y="164718"/>
                </a:lnTo>
                <a:lnTo>
                  <a:pt x="2174089" y="164879"/>
                </a:lnTo>
                <a:lnTo>
                  <a:pt x="2128039" y="165018"/>
                </a:lnTo>
                <a:lnTo>
                  <a:pt x="2081221" y="165135"/>
                </a:lnTo>
                <a:lnTo>
                  <a:pt x="2033656" y="165230"/>
                </a:lnTo>
                <a:lnTo>
                  <a:pt x="1985367" y="165306"/>
                </a:lnTo>
                <a:lnTo>
                  <a:pt x="1936372" y="165361"/>
                </a:lnTo>
                <a:lnTo>
                  <a:pt x="1886694" y="165396"/>
                </a:lnTo>
                <a:lnTo>
                  <a:pt x="1836353" y="165413"/>
                </a:lnTo>
                <a:lnTo>
                  <a:pt x="1785369" y="165410"/>
                </a:lnTo>
                <a:lnTo>
                  <a:pt x="1733765" y="165390"/>
                </a:lnTo>
                <a:lnTo>
                  <a:pt x="1681559" y="165352"/>
                </a:lnTo>
                <a:lnTo>
                  <a:pt x="1628775" y="165296"/>
                </a:lnTo>
                <a:lnTo>
                  <a:pt x="1575431" y="165224"/>
                </a:lnTo>
                <a:lnTo>
                  <a:pt x="1521549" y="165136"/>
                </a:lnTo>
                <a:lnTo>
                  <a:pt x="1467150" y="165032"/>
                </a:lnTo>
                <a:lnTo>
                  <a:pt x="1412254" y="164913"/>
                </a:lnTo>
                <a:lnTo>
                  <a:pt x="1356883" y="164779"/>
                </a:lnTo>
                <a:lnTo>
                  <a:pt x="1301058" y="164631"/>
                </a:lnTo>
                <a:lnTo>
                  <a:pt x="1244798" y="164469"/>
                </a:lnTo>
                <a:lnTo>
                  <a:pt x="1188125" y="164293"/>
                </a:lnTo>
                <a:lnTo>
                  <a:pt x="1131060" y="164105"/>
                </a:lnTo>
                <a:lnTo>
                  <a:pt x="1073624" y="163905"/>
                </a:lnTo>
                <a:lnTo>
                  <a:pt x="1015837" y="163692"/>
                </a:lnTo>
                <a:lnTo>
                  <a:pt x="957720" y="163469"/>
                </a:lnTo>
                <a:lnTo>
                  <a:pt x="899295" y="163234"/>
                </a:lnTo>
                <a:lnTo>
                  <a:pt x="840581" y="162990"/>
                </a:lnTo>
                <a:lnTo>
                  <a:pt x="781600" y="162735"/>
                </a:lnTo>
                <a:lnTo>
                  <a:pt x="722372" y="162471"/>
                </a:lnTo>
                <a:lnTo>
                  <a:pt x="662919" y="162198"/>
                </a:lnTo>
                <a:lnTo>
                  <a:pt x="603261" y="161917"/>
                </a:lnTo>
                <a:lnTo>
                  <a:pt x="543419" y="161627"/>
                </a:lnTo>
                <a:lnTo>
                  <a:pt x="483414" y="161331"/>
                </a:lnTo>
                <a:lnTo>
                  <a:pt x="423267" y="161027"/>
                </a:lnTo>
                <a:lnTo>
                  <a:pt x="362998" y="160717"/>
                </a:lnTo>
                <a:lnTo>
                  <a:pt x="302628" y="160401"/>
                </a:lnTo>
                <a:lnTo>
                  <a:pt x="242179" y="160079"/>
                </a:lnTo>
                <a:lnTo>
                  <a:pt x="181670" y="159753"/>
                </a:lnTo>
                <a:lnTo>
                  <a:pt x="121124" y="159422"/>
                </a:lnTo>
                <a:lnTo>
                  <a:pt x="60560" y="159087"/>
                </a:lnTo>
                <a:lnTo>
                  <a:pt x="0" y="158748"/>
                </a:lnTo>
              </a:path>
            </a:pathLst>
          </a:custGeom>
          <a:ln w="38099">
            <a:solidFill>
              <a:srgbClr val="D84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15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02747" y="758520"/>
            <a:ext cx="205803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Merge-Sort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16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35228" y="1300822"/>
            <a:ext cx="7479665" cy="227838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68300" marR="173990" indent="-343535">
              <a:lnSpc>
                <a:spcPts val="2600"/>
              </a:lnSpc>
              <a:spcBef>
                <a:spcPts val="420"/>
              </a:spcBef>
              <a:buClr>
                <a:srgbClr val="941300"/>
              </a:buClr>
              <a:buFont typeface="Wingdings"/>
              <a:buChar char=""/>
              <a:tabLst>
                <a:tab pos="368300" algn="l"/>
              </a:tabLst>
            </a:pPr>
            <a:r>
              <a:rPr sz="2400" spc="-5" dirty="0">
                <a:latin typeface="Arial"/>
                <a:cs typeface="Arial"/>
              </a:rPr>
              <a:t>Merge-sort on an input sequence </a:t>
            </a:r>
            <a:r>
              <a:rPr sz="2400" b="1" i="1" spc="-5" dirty="0">
                <a:latin typeface="Times New Roman"/>
                <a:cs typeface="Times New Roman"/>
              </a:rPr>
              <a:t>S </a:t>
            </a:r>
            <a:r>
              <a:rPr sz="2400" spc="-5" dirty="0">
                <a:latin typeface="Arial"/>
                <a:cs typeface="Arial"/>
              </a:rPr>
              <a:t>with </a:t>
            </a:r>
            <a:r>
              <a:rPr sz="2400" b="1" i="1" spc="-5" dirty="0">
                <a:latin typeface="Times New Roman"/>
                <a:cs typeface="Times New Roman"/>
              </a:rPr>
              <a:t>n </a:t>
            </a:r>
            <a:r>
              <a:rPr sz="2400" spc="-10" dirty="0">
                <a:latin typeface="Arial"/>
                <a:cs typeface="Arial"/>
              </a:rPr>
              <a:t>elements  </a:t>
            </a:r>
            <a:r>
              <a:rPr sz="2400" spc="-5" dirty="0">
                <a:latin typeface="Arial"/>
                <a:cs typeface="Arial"/>
              </a:rPr>
              <a:t>consists </a:t>
            </a:r>
            <a:r>
              <a:rPr sz="2400" dirty="0">
                <a:latin typeface="Arial"/>
                <a:cs typeface="Arial"/>
              </a:rPr>
              <a:t>of </a:t>
            </a:r>
            <a:r>
              <a:rPr sz="2400" spc="-5" dirty="0">
                <a:latin typeface="Arial"/>
                <a:cs typeface="Arial"/>
              </a:rPr>
              <a:t>three</a:t>
            </a:r>
            <a:r>
              <a:rPr sz="2400" dirty="0">
                <a:latin typeface="Arial"/>
                <a:cs typeface="Arial"/>
              </a:rPr>
              <a:t> steps:</a:t>
            </a:r>
            <a:endParaRPr sz="2400">
              <a:latin typeface="Arial"/>
              <a:cs typeface="Arial"/>
            </a:endParaRPr>
          </a:p>
          <a:p>
            <a:pPr marL="768350" lvl="1" indent="-285750">
              <a:lnSpc>
                <a:spcPts val="2250"/>
              </a:lnSpc>
              <a:spcBef>
                <a:spcPts val="920"/>
              </a:spcBef>
              <a:buClr>
                <a:srgbClr val="2F5C00"/>
              </a:buClr>
              <a:buFont typeface="Wingdings"/>
              <a:buChar char=""/>
              <a:tabLst>
                <a:tab pos="768350" algn="l"/>
              </a:tabLst>
            </a:pPr>
            <a:r>
              <a:rPr sz="2000" spc="-5" dirty="0">
                <a:solidFill>
                  <a:srgbClr val="941300"/>
                </a:solidFill>
                <a:latin typeface="Arial"/>
                <a:cs typeface="Arial"/>
              </a:rPr>
              <a:t>Divide</a:t>
            </a:r>
            <a:r>
              <a:rPr sz="2000" spc="-5" dirty="0">
                <a:latin typeface="Arial"/>
                <a:cs typeface="Arial"/>
              </a:rPr>
              <a:t>: partition </a:t>
            </a:r>
            <a:r>
              <a:rPr sz="2000" b="1" i="1" spc="-5" dirty="0">
                <a:latin typeface="Times New Roman"/>
                <a:cs typeface="Times New Roman"/>
              </a:rPr>
              <a:t>S </a:t>
            </a:r>
            <a:r>
              <a:rPr sz="2000" spc="-5" dirty="0">
                <a:latin typeface="Arial"/>
                <a:cs typeface="Arial"/>
              </a:rPr>
              <a:t>into two sequences </a:t>
            </a:r>
            <a:r>
              <a:rPr sz="2000" b="1" i="1" spc="5" dirty="0">
                <a:latin typeface="Times New Roman"/>
                <a:cs typeface="Times New Roman"/>
              </a:rPr>
              <a:t>S</a:t>
            </a:r>
            <a:r>
              <a:rPr sz="1950" spc="7" baseline="-21367" dirty="0">
                <a:latin typeface="Times New Roman"/>
                <a:cs typeface="Times New Roman"/>
              </a:rPr>
              <a:t>1 </a:t>
            </a:r>
            <a:r>
              <a:rPr sz="2000" spc="-5" dirty="0">
                <a:latin typeface="Arial"/>
                <a:cs typeface="Arial"/>
              </a:rPr>
              <a:t>and </a:t>
            </a:r>
            <a:r>
              <a:rPr sz="2000" b="1" i="1" spc="5" dirty="0">
                <a:latin typeface="Times New Roman"/>
                <a:cs typeface="Times New Roman"/>
              </a:rPr>
              <a:t>S</a:t>
            </a:r>
            <a:r>
              <a:rPr sz="1950" spc="7" baseline="-21367" dirty="0">
                <a:latin typeface="Times New Roman"/>
                <a:cs typeface="Times New Roman"/>
              </a:rPr>
              <a:t>2 </a:t>
            </a:r>
            <a:r>
              <a:rPr sz="2000" dirty="0">
                <a:latin typeface="Arial"/>
                <a:cs typeface="Arial"/>
              </a:rPr>
              <a:t>of </a:t>
            </a:r>
            <a:r>
              <a:rPr sz="2000" spc="-5" dirty="0">
                <a:latin typeface="Arial"/>
                <a:cs typeface="Arial"/>
              </a:rPr>
              <a:t>about</a:t>
            </a:r>
            <a:r>
              <a:rPr sz="2000" spc="-200" dirty="0">
                <a:latin typeface="Arial"/>
                <a:cs typeface="Arial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n</a:t>
            </a:r>
            <a:r>
              <a:rPr sz="2000" i="1" spc="-5" dirty="0">
                <a:latin typeface="Symbol"/>
                <a:cs typeface="Symbol"/>
              </a:rPr>
              <a:t></a:t>
            </a:r>
            <a:r>
              <a:rPr sz="2000" spc="-5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  <a:p>
            <a:pPr marL="774065">
              <a:lnSpc>
                <a:spcPts val="2250"/>
              </a:lnSpc>
            </a:pPr>
            <a:r>
              <a:rPr sz="2000" spc="-5" dirty="0">
                <a:latin typeface="Arial"/>
                <a:cs typeface="Arial"/>
              </a:rPr>
              <a:t>elements </a:t>
            </a:r>
            <a:r>
              <a:rPr sz="2000" spc="-10" dirty="0">
                <a:latin typeface="Arial"/>
                <a:cs typeface="Arial"/>
              </a:rPr>
              <a:t>each</a:t>
            </a:r>
            <a:endParaRPr sz="2000">
              <a:latin typeface="Arial"/>
              <a:cs typeface="Arial"/>
            </a:endParaRPr>
          </a:p>
          <a:p>
            <a:pPr marL="768350" lvl="1" indent="-286385">
              <a:lnSpc>
                <a:spcPct val="100000"/>
              </a:lnSpc>
              <a:spcBef>
                <a:spcPts val="1000"/>
              </a:spcBef>
              <a:buClr>
                <a:srgbClr val="2F5C00"/>
              </a:buClr>
              <a:buFont typeface="Wingdings"/>
              <a:buChar char=""/>
              <a:tabLst>
                <a:tab pos="768350" algn="l"/>
              </a:tabLst>
            </a:pPr>
            <a:r>
              <a:rPr sz="2000" spc="-5" dirty="0">
                <a:solidFill>
                  <a:srgbClr val="941300"/>
                </a:solidFill>
                <a:latin typeface="Arial"/>
                <a:cs typeface="Arial"/>
              </a:rPr>
              <a:t>Recur</a:t>
            </a:r>
            <a:r>
              <a:rPr sz="2000" spc="-5" dirty="0">
                <a:latin typeface="Arial"/>
                <a:cs typeface="Arial"/>
              </a:rPr>
              <a:t>: recursively </a:t>
            </a:r>
            <a:r>
              <a:rPr sz="2000" dirty="0">
                <a:latin typeface="Arial"/>
                <a:cs typeface="Arial"/>
              </a:rPr>
              <a:t>sort </a:t>
            </a:r>
            <a:r>
              <a:rPr sz="2000" b="1" i="1" spc="5" dirty="0">
                <a:latin typeface="Times New Roman"/>
                <a:cs typeface="Times New Roman"/>
              </a:rPr>
              <a:t>S</a:t>
            </a:r>
            <a:r>
              <a:rPr sz="1950" spc="7" baseline="-21367" dirty="0">
                <a:latin typeface="Times New Roman"/>
                <a:cs typeface="Times New Roman"/>
              </a:rPr>
              <a:t>1 </a:t>
            </a:r>
            <a:r>
              <a:rPr sz="2000" spc="-5" dirty="0">
                <a:latin typeface="Arial"/>
                <a:cs typeface="Arial"/>
              </a:rPr>
              <a:t>and</a:t>
            </a:r>
            <a:r>
              <a:rPr sz="2000" spc="-160" dirty="0">
                <a:latin typeface="Arial"/>
                <a:cs typeface="Arial"/>
              </a:rPr>
              <a:t> </a:t>
            </a:r>
            <a:r>
              <a:rPr sz="2000" b="1" i="1" spc="5" dirty="0">
                <a:latin typeface="Times New Roman"/>
                <a:cs typeface="Times New Roman"/>
              </a:rPr>
              <a:t>S</a:t>
            </a:r>
            <a:r>
              <a:rPr sz="1950" spc="7" baseline="-21367" dirty="0">
                <a:latin typeface="Times New Roman"/>
                <a:cs typeface="Times New Roman"/>
              </a:rPr>
              <a:t>2</a:t>
            </a:r>
            <a:endParaRPr sz="1950" baseline="-21367">
              <a:latin typeface="Times New Roman"/>
              <a:cs typeface="Times New Roman"/>
            </a:endParaRPr>
          </a:p>
          <a:p>
            <a:pPr marL="768350" lvl="1" indent="-285750">
              <a:lnSpc>
                <a:spcPct val="100000"/>
              </a:lnSpc>
              <a:spcBef>
                <a:spcPts val="1000"/>
              </a:spcBef>
              <a:buClr>
                <a:srgbClr val="2F5C00"/>
              </a:buClr>
              <a:buFont typeface="Wingdings"/>
              <a:buChar char=""/>
              <a:tabLst>
                <a:tab pos="768350" algn="l"/>
              </a:tabLst>
            </a:pPr>
            <a:r>
              <a:rPr sz="2000" spc="-5" dirty="0">
                <a:solidFill>
                  <a:srgbClr val="941300"/>
                </a:solidFill>
                <a:latin typeface="Arial"/>
                <a:cs typeface="Arial"/>
              </a:rPr>
              <a:t>Conquer</a:t>
            </a:r>
            <a:r>
              <a:rPr sz="2000" spc="-5" dirty="0">
                <a:latin typeface="Arial"/>
                <a:cs typeface="Arial"/>
              </a:rPr>
              <a:t>: merge </a:t>
            </a:r>
            <a:r>
              <a:rPr sz="2000" b="1" i="1" spc="5" dirty="0">
                <a:latin typeface="Times New Roman"/>
                <a:cs typeface="Times New Roman"/>
              </a:rPr>
              <a:t>S</a:t>
            </a:r>
            <a:r>
              <a:rPr sz="1950" spc="7" baseline="-21367" dirty="0">
                <a:latin typeface="Times New Roman"/>
                <a:cs typeface="Times New Roman"/>
              </a:rPr>
              <a:t>1 </a:t>
            </a:r>
            <a:r>
              <a:rPr sz="2000" spc="-5" dirty="0">
                <a:latin typeface="Arial"/>
                <a:cs typeface="Arial"/>
              </a:rPr>
              <a:t>and </a:t>
            </a:r>
            <a:r>
              <a:rPr sz="2000" b="1" i="1" spc="5" dirty="0">
                <a:latin typeface="Times New Roman"/>
                <a:cs typeface="Times New Roman"/>
              </a:rPr>
              <a:t>S</a:t>
            </a:r>
            <a:r>
              <a:rPr sz="1950" spc="7" baseline="-21367" dirty="0">
                <a:latin typeface="Times New Roman"/>
                <a:cs typeface="Times New Roman"/>
              </a:rPr>
              <a:t>2 </a:t>
            </a:r>
            <a:r>
              <a:rPr sz="2000" spc="-5" dirty="0">
                <a:latin typeface="Arial"/>
                <a:cs typeface="Arial"/>
              </a:rPr>
              <a:t>into a unique sorted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sequence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44587" y="3806190"/>
            <a:ext cx="6433185" cy="2744470"/>
          </a:xfrm>
          <a:prstGeom prst="rect">
            <a:avLst/>
          </a:prstGeom>
          <a:solidFill>
            <a:srgbClr val="FCF2DA"/>
          </a:solidFill>
          <a:ln w="9525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60"/>
              </a:spcBef>
            </a:pPr>
            <a:r>
              <a:rPr sz="2000" b="1" spc="-5" dirty="0">
                <a:latin typeface="Times New Roman"/>
                <a:cs typeface="Times New Roman"/>
              </a:rPr>
              <a:t>Algorithm </a:t>
            </a:r>
            <a:r>
              <a:rPr sz="2000" b="1" i="1" spc="-5" dirty="0">
                <a:solidFill>
                  <a:srgbClr val="941300"/>
                </a:solidFill>
                <a:latin typeface="Times New Roman"/>
                <a:cs typeface="Times New Roman"/>
              </a:rPr>
              <a:t>mergeSort</a:t>
            </a:r>
            <a:r>
              <a:rPr sz="2000" spc="-5" dirty="0">
                <a:solidFill>
                  <a:srgbClr val="941300"/>
                </a:solidFill>
                <a:latin typeface="Times New Roman"/>
                <a:cs typeface="Times New Roman"/>
              </a:rPr>
              <a:t>(</a:t>
            </a:r>
            <a:r>
              <a:rPr sz="2000" b="1" i="1" spc="-5" dirty="0">
                <a:solidFill>
                  <a:srgbClr val="941300"/>
                </a:solidFill>
                <a:latin typeface="Times New Roman"/>
                <a:cs typeface="Times New Roman"/>
              </a:rPr>
              <a:t>S</a:t>
            </a:r>
            <a:r>
              <a:rPr sz="2000" spc="-5" dirty="0">
                <a:solidFill>
                  <a:srgbClr val="941300"/>
                </a:solidFill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 marL="433705">
              <a:lnSpc>
                <a:spcPct val="100000"/>
              </a:lnSpc>
              <a:spcBef>
                <a:spcPts val="280"/>
              </a:spcBef>
            </a:pPr>
            <a:r>
              <a:rPr sz="2000" b="1" spc="-5" dirty="0">
                <a:latin typeface="Times New Roman"/>
                <a:cs typeface="Times New Roman"/>
              </a:rPr>
              <a:t>Input </a:t>
            </a:r>
            <a:r>
              <a:rPr sz="2000" dirty="0">
                <a:solidFill>
                  <a:srgbClr val="2F5C00"/>
                </a:solidFill>
                <a:latin typeface="Times New Roman"/>
                <a:cs typeface="Times New Roman"/>
              </a:rPr>
              <a:t>sequence </a:t>
            </a:r>
            <a:r>
              <a:rPr sz="2000" b="1" i="1" spc="-5" dirty="0">
                <a:solidFill>
                  <a:srgbClr val="2F5C00"/>
                </a:solidFill>
                <a:latin typeface="Times New Roman"/>
                <a:cs typeface="Times New Roman"/>
              </a:rPr>
              <a:t>S </a:t>
            </a:r>
            <a:r>
              <a:rPr sz="2000" dirty="0">
                <a:solidFill>
                  <a:srgbClr val="2F5C00"/>
                </a:solidFill>
                <a:latin typeface="Times New Roman"/>
                <a:cs typeface="Times New Roman"/>
              </a:rPr>
              <a:t>with </a:t>
            </a:r>
            <a:r>
              <a:rPr sz="2000" b="1" i="1" spc="-5" dirty="0">
                <a:solidFill>
                  <a:srgbClr val="2F5C00"/>
                </a:solidFill>
                <a:latin typeface="Times New Roman"/>
                <a:cs typeface="Times New Roman"/>
              </a:rPr>
              <a:t>n</a:t>
            </a:r>
            <a:r>
              <a:rPr sz="2000" b="1" i="1" spc="-10" dirty="0">
                <a:solidFill>
                  <a:srgbClr val="2F5C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5C00"/>
                </a:solidFill>
                <a:latin typeface="Times New Roman"/>
                <a:cs typeface="Times New Roman"/>
              </a:rPr>
              <a:t>elements</a:t>
            </a:r>
            <a:endParaRPr sz="2000">
              <a:latin typeface="Times New Roman"/>
              <a:cs typeface="Times New Roman"/>
            </a:endParaRPr>
          </a:p>
          <a:p>
            <a:pPr marL="433705">
              <a:lnSpc>
                <a:spcPct val="100000"/>
              </a:lnSpc>
              <a:spcBef>
                <a:spcPts val="200"/>
              </a:spcBef>
            </a:pPr>
            <a:r>
              <a:rPr sz="2000" b="1" spc="-5" dirty="0">
                <a:latin typeface="Times New Roman"/>
                <a:cs typeface="Times New Roman"/>
              </a:rPr>
              <a:t>Output </a:t>
            </a:r>
            <a:r>
              <a:rPr sz="2000" dirty="0">
                <a:solidFill>
                  <a:srgbClr val="2F5C00"/>
                </a:solidFill>
                <a:latin typeface="Times New Roman"/>
                <a:cs typeface="Times New Roman"/>
              </a:rPr>
              <a:t>sequence </a:t>
            </a:r>
            <a:r>
              <a:rPr sz="2000" b="1" i="1" spc="-5" dirty="0">
                <a:solidFill>
                  <a:srgbClr val="2F5C00"/>
                </a:solidFill>
                <a:latin typeface="Times New Roman"/>
                <a:cs typeface="Times New Roman"/>
              </a:rPr>
              <a:t>S </a:t>
            </a:r>
            <a:r>
              <a:rPr sz="2000" dirty="0">
                <a:solidFill>
                  <a:srgbClr val="2F5C00"/>
                </a:solidFill>
                <a:latin typeface="Times New Roman"/>
                <a:cs typeface="Times New Roman"/>
              </a:rPr>
              <a:t>sorted</a:t>
            </a:r>
            <a:endParaRPr sz="2000">
              <a:latin typeface="Times New Roman"/>
              <a:cs typeface="Times New Roman"/>
            </a:endParaRPr>
          </a:p>
          <a:p>
            <a:pPr marL="433705">
              <a:lnSpc>
                <a:spcPct val="100000"/>
              </a:lnSpc>
              <a:spcBef>
                <a:spcPts val="200"/>
              </a:spcBef>
            </a:pPr>
            <a:r>
              <a:rPr sz="2000" b="1" dirty="0">
                <a:latin typeface="Times New Roman"/>
                <a:cs typeface="Times New Roman"/>
              </a:rPr>
              <a:t>if </a:t>
            </a:r>
            <a:r>
              <a:rPr sz="2000" b="1" i="1" spc="-5" dirty="0">
                <a:solidFill>
                  <a:srgbClr val="2F5C00"/>
                </a:solidFill>
                <a:latin typeface="Times New Roman"/>
                <a:cs typeface="Times New Roman"/>
              </a:rPr>
              <a:t>S.size</a:t>
            </a:r>
            <a:r>
              <a:rPr sz="2000" spc="-5" dirty="0">
                <a:solidFill>
                  <a:srgbClr val="2F5C00"/>
                </a:solidFill>
                <a:latin typeface="Times New Roman"/>
                <a:cs typeface="Times New Roman"/>
              </a:rPr>
              <a:t>() </a:t>
            </a:r>
            <a:r>
              <a:rPr sz="2000" b="1" dirty="0">
                <a:solidFill>
                  <a:srgbClr val="2F5C00"/>
                </a:solidFill>
                <a:latin typeface="Times New Roman"/>
                <a:cs typeface="Times New Roman"/>
              </a:rPr>
              <a:t>&gt;</a:t>
            </a:r>
            <a:r>
              <a:rPr sz="2000" b="1" spc="-5" dirty="0">
                <a:solidFill>
                  <a:srgbClr val="2F5C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5C00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  <a:p>
            <a:pPr marL="776605" marR="3287395">
              <a:lnSpc>
                <a:spcPct val="109700"/>
              </a:lnSpc>
              <a:spcBef>
                <a:spcPts val="65"/>
              </a:spcBef>
            </a:pPr>
            <a:r>
              <a:rPr sz="2000" dirty="0">
                <a:solidFill>
                  <a:srgbClr val="2F5C00"/>
                </a:solidFill>
                <a:latin typeface="Times New Roman"/>
                <a:cs typeface="Times New Roman"/>
              </a:rPr>
              <a:t>(</a:t>
            </a:r>
            <a:r>
              <a:rPr sz="2000" b="1" i="1" dirty="0">
                <a:solidFill>
                  <a:srgbClr val="2F5C00"/>
                </a:solidFill>
                <a:latin typeface="Times New Roman"/>
                <a:cs typeface="Times New Roman"/>
              </a:rPr>
              <a:t>S</a:t>
            </a:r>
            <a:r>
              <a:rPr sz="1950" baseline="-21367" dirty="0">
                <a:solidFill>
                  <a:srgbClr val="2F5C00"/>
                </a:solidFill>
                <a:latin typeface="Times New Roman"/>
                <a:cs typeface="Times New Roman"/>
              </a:rPr>
              <a:t>1</a:t>
            </a:r>
            <a:r>
              <a:rPr sz="2000" dirty="0">
                <a:solidFill>
                  <a:srgbClr val="2F5C00"/>
                </a:solidFill>
                <a:latin typeface="Times New Roman"/>
                <a:cs typeface="Times New Roman"/>
              </a:rPr>
              <a:t>, </a:t>
            </a:r>
            <a:r>
              <a:rPr sz="2000" b="1" i="1" dirty="0">
                <a:solidFill>
                  <a:srgbClr val="2F5C00"/>
                </a:solidFill>
                <a:latin typeface="Times New Roman"/>
                <a:cs typeface="Times New Roman"/>
              </a:rPr>
              <a:t>S</a:t>
            </a:r>
            <a:r>
              <a:rPr sz="1950" baseline="-21367" dirty="0">
                <a:solidFill>
                  <a:srgbClr val="2F5C00"/>
                </a:solidFill>
                <a:latin typeface="Times New Roman"/>
                <a:cs typeface="Times New Roman"/>
              </a:rPr>
              <a:t>2</a:t>
            </a:r>
            <a:r>
              <a:rPr sz="2000" dirty="0">
                <a:solidFill>
                  <a:srgbClr val="2F5C00"/>
                </a:solidFill>
                <a:latin typeface="Times New Roman"/>
                <a:cs typeface="Times New Roman"/>
              </a:rPr>
              <a:t>) </a:t>
            </a:r>
            <a:r>
              <a:rPr sz="2000" spc="3840" dirty="0">
                <a:latin typeface="Wingdings"/>
                <a:cs typeface="Wingdings"/>
              </a:rPr>
              <a:t>€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solidFill>
                  <a:srgbClr val="2F5C00"/>
                </a:solidFill>
                <a:latin typeface="Times New Roman"/>
                <a:cs typeface="Times New Roman"/>
              </a:rPr>
              <a:t>split</a:t>
            </a:r>
            <a:r>
              <a:rPr sz="2000" spc="-5" dirty="0">
                <a:solidFill>
                  <a:srgbClr val="2F5C00"/>
                </a:solidFill>
                <a:latin typeface="Times New Roman"/>
                <a:cs typeface="Times New Roman"/>
              </a:rPr>
              <a:t>(</a:t>
            </a:r>
            <a:r>
              <a:rPr sz="2000" b="1" i="1" spc="-5" dirty="0">
                <a:solidFill>
                  <a:srgbClr val="2F5C00"/>
                </a:solidFill>
                <a:latin typeface="Times New Roman"/>
                <a:cs typeface="Times New Roman"/>
              </a:rPr>
              <a:t>S</a:t>
            </a:r>
            <a:r>
              <a:rPr sz="2000" spc="-5" dirty="0">
                <a:solidFill>
                  <a:srgbClr val="2F5C00"/>
                </a:solidFill>
                <a:latin typeface="Times New Roman"/>
                <a:cs typeface="Times New Roman"/>
              </a:rPr>
              <a:t>,  </a:t>
            </a:r>
            <a:r>
              <a:rPr sz="2000" spc="-295" dirty="0">
                <a:solidFill>
                  <a:srgbClr val="2F5C00"/>
                </a:solidFill>
                <a:latin typeface="Times New Roman"/>
                <a:cs typeface="Times New Roman"/>
              </a:rPr>
              <a:t> </a:t>
            </a:r>
            <a:r>
              <a:rPr sz="2000" b="1" i="1" spc="-775" dirty="0">
                <a:solidFill>
                  <a:srgbClr val="2F5C00"/>
                </a:solidFill>
                <a:latin typeface="Times New Roman"/>
                <a:cs typeface="Times New Roman"/>
              </a:rPr>
              <a:t>n</a:t>
            </a:r>
            <a:r>
              <a:rPr sz="2000" spc="-775" dirty="0">
                <a:solidFill>
                  <a:srgbClr val="2F5C00"/>
                </a:solidFill>
                <a:latin typeface="Times New Roman"/>
                <a:cs typeface="Times New Roman"/>
              </a:rPr>
              <a:t>/2)</a:t>
            </a:r>
            <a:r>
              <a:rPr sz="2000" spc="-10" dirty="0">
                <a:solidFill>
                  <a:srgbClr val="2F5C0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2F5C00"/>
                </a:solidFill>
                <a:latin typeface="Times New Roman"/>
                <a:cs typeface="Times New Roman"/>
              </a:rPr>
              <a:t>mergeSort</a:t>
            </a:r>
            <a:r>
              <a:rPr sz="2000" dirty="0">
                <a:solidFill>
                  <a:srgbClr val="2F5C00"/>
                </a:solidFill>
                <a:latin typeface="Times New Roman"/>
                <a:cs typeface="Times New Roman"/>
              </a:rPr>
              <a:t>(</a:t>
            </a:r>
            <a:r>
              <a:rPr sz="2000" b="1" i="1" dirty="0">
                <a:solidFill>
                  <a:srgbClr val="2F5C00"/>
                </a:solidFill>
                <a:latin typeface="Times New Roman"/>
                <a:cs typeface="Times New Roman"/>
              </a:rPr>
              <a:t>S</a:t>
            </a:r>
            <a:r>
              <a:rPr sz="1950" baseline="-21367" dirty="0">
                <a:solidFill>
                  <a:srgbClr val="2F5C00"/>
                </a:solidFill>
                <a:latin typeface="Times New Roman"/>
                <a:cs typeface="Times New Roman"/>
              </a:rPr>
              <a:t>1</a:t>
            </a:r>
            <a:r>
              <a:rPr sz="2000" dirty="0">
                <a:solidFill>
                  <a:srgbClr val="2F5C00"/>
                </a:solidFill>
                <a:latin typeface="Times New Roman"/>
                <a:cs typeface="Times New Roman"/>
              </a:rPr>
              <a:t>)  </a:t>
            </a:r>
            <a:r>
              <a:rPr sz="2000" b="1" i="1" dirty="0">
                <a:solidFill>
                  <a:srgbClr val="2F5C00"/>
                </a:solidFill>
                <a:latin typeface="Times New Roman"/>
                <a:cs typeface="Times New Roman"/>
              </a:rPr>
              <a:t>mergeSort</a:t>
            </a:r>
            <a:r>
              <a:rPr sz="2000" dirty="0">
                <a:solidFill>
                  <a:srgbClr val="2F5C00"/>
                </a:solidFill>
                <a:latin typeface="Times New Roman"/>
                <a:cs typeface="Times New Roman"/>
              </a:rPr>
              <a:t>(</a:t>
            </a:r>
            <a:r>
              <a:rPr sz="2000" b="1" i="1" dirty="0">
                <a:solidFill>
                  <a:srgbClr val="2F5C00"/>
                </a:solidFill>
                <a:latin typeface="Times New Roman"/>
                <a:cs typeface="Times New Roman"/>
              </a:rPr>
              <a:t>S</a:t>
            </a:r>
            <a:r>
              <a:rPr sz="1950" baseline="-21367" dirty="0">
                <a:solidFill>
                  <a:srgbClr val="2F5C00"/>
                </a:solidFill>
                <a:latin typeface="Times New Roman"/>
                <a:cs typeface="Times New Roman"/>
              </a:rPr>
              <a:t>2</a:t>
            </a:r>
            <a:r>
              <a:rPr sz="2000" dirty="0">
                <a:solidFill>
                  <a:srgbClr val="2F5C00"/>
                </a:solidFill>
                <a:latin typeface="Times New Roman"/>
                <a:cs typeface="Times New Roman"/>
              </a:rPr>
              <a:t>)  </a:t>
            </a:r>
            <a:r>
              <a:rPr sz="2000" b="1" i="1" dirty="0">
                <a:solidFill>
                  <a:srgbClr val="2F5C00"/>
                </a:solidFill>
                <a:latin typeface="Times New Roman"/>
                <a:cs typeface="Times New Roman"/>
              </a:rPr>
              <a:t>merge</a:t>
            </a:r>
            <a:r>
              <a:rPr sz="2000" dirty="0">
                <a:solidFill>
                  <a:srgbClr val="2F5C00"/>
                </a:solidFill>
                <a:latin typeface="Times New Roman"/>
                <a:cs typeface="Times New Roman"/>
              </a:rPr>
              <a:t>(</a:t>
            </a:r>
            <a:r>
              <a:rPr sz="2000" b="1" i="1" dirty="0">
                <a:solidFill>
                  <a:srgbClr val="2F5C00"/>
                </a:solidFill>
                <a:latin typeface="Times New Roman"/>
                <a:cs typeface="Times New Roman"/>
              </a:rPr>
              <a:t>S</a:t>
            </a:r>
            <a:r>
              <a:rPr sz="1950" baseline="-21367" dirty="0">
                <a:solidFill>
                  <a:srgbClr val="2F5C00"/>
                </a:solidFill>
                <a:latin typeface="Times New Roman"/>
                <a:cs typeface="Times New Roman"/>
              </a:rPr>
              <a:t>1</a:t>
            </a:r>
            <a:r>
              <a:rPr sz="2000" dirty="0">
                <a:solidFill>
                  <a:srgbClr val="2F5C00"/>
                </a:solidFill>
                <a:latin typeface="Times New Roman"/>
                <a:cs typeface="Times New Roman"/>
              </a:rPr>
              <a:t>, </a:t>
            </a:r>
            <a:r>
              <a:rPr sz="2000" b="1" i="1" spc="5" dirty="0">
                <a:solidFill>
                  <a:srgbClr val="2F5C00"/>
                </a:solidFill>
                <a:latin typeface="Times New Roman"/>
                <a:cs typeface="Times New Roman"/>
              </a:rPr>
              <a:t>S</a:t>
            </a:r>
            <a:r>
              <a:rPr sz="1950" spc="7" baseline="-21367" dirty="0">
                <a:solidFill>
                  <a:srgbClr val="2F5C00"/>
                </a:solidFill>
                <a:latin typeface="Times New Roman"/>
                <a:cs typeface="Times New Roman"/>
              </a:rPr>
              <a:t>2,</a:t>
            </a:r>
            <a:r>
              <a:rPr sz="1950" spc="-7" baseline="-21367" dirty="0">
                <a:solidFill>
                  <a:srgbClr val="2F5C00"/>
                </a:solidFill>
                <a:latin typeface="Times New Roman"/>
                <a:cs typeface="Times New Roman"/>
              </a:rPr>
              <a:t> </a:t>
            </a:r>
            <a:r>
              <a:rPr sz="2000" b="1" i="1" spc="-5" dirty="0">
                <a:solidFill>
                  <a:srgbClr val="2F5C00"/>
                </a:solidFill>
                <a:latin typeface="Times New Roman"/>
                <a:cs typeface="Times New Roman"/>
              </a:rPr>
              <a:t>S</a:t>
            </a:r>
            <a:r>
              <a:rPr sz="2000" spc="-5" dirty="0">
                <a:solidFill>
                  <a:srgbClr val="2F5C00"/>
                </a:solidFill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92401" y="1076959"/>
            <a:ext cx="582993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Merging Two Sorted</a:t>
            </a:r>
            <a:r>
              <a:rPr spc="-35" dirty="0"/>
              <a:t> </a:t>
            </a:r>
            <a:r>
              <a:rPr spc="-10" dirty="0"/>
              <a:t>Sequences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17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36078" y="1938020"/>
            <a:ext cx="8074659" cy="3655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43815" indent="-342900">
              <a:lnSpc>
                <a:spcPct val="100000"/>
              </a:lnSpc>
              <a:spcBef>
                <a:spcPts val="100"/>
              </a:spcBef>
              <a:buClr>
                <a:srgbClr val="941300"/>
              </a:buClr>
              <a:buFont typeface="Wingdings"/>
              <a:buChar char=""/>
              <a:tabLst>
                <a:tab pos="354965" algn="l"/>
                <a:tab pos="356235" algn="l"/>
              </a:tabLst>
            </a:pPr>
            <a:r>
              <a:rPr sz="2000" spc="-5" dirty="0">
                <a:latin typeface="Arial"/>
                <a:cs typeface="Arial"/>
              </a:rPr>
              <a:t>The conquer step of merge-sort consists of merging two </a:t>
            </a:r>
            <a:r>
              <a:rPr sz="2000" spc="-10" dirty="0">
                <a:latin typeface="Arial"/>
                <a:cs typeface="Arial"/>
              </a:rPr>
              <a:t>sorted  </a:t>
            </a:r>
            <a:r>
              <a:rPr sz="2000" spc="-5" dirty="0">
                <a:latin typeface="Arial"/>
                <a:cs typeface="Arial"/>
              </a:rPr>
              <a:t>sequences </a:t>
            </a:r>
            <a:r>
              <a:rPr sz="2000" b="1" i="1" dirty="0">
                <a:latin typeface="Times New Roman"/>
                <a:cs typeface="Times New Roman"/>
              </a:rPr>
              <a:t>A </a:t>
            </a:r>
            <a:r>
              <a:rPr sz="2000" spc="-5" dirty="0">
                <a:latin typeface="Arial"/>
                <a:cs typeface="Arial"/>
              </a:rPr>
              <a:t>and </a:t>
            </a:r>
            <a:r>
              <a:rPr sz="2000" b="1" i="1" dirty="0">
                <a:latin typeface="Times New Roman"/>
                <a:cs typeface="Times New Roman"/>
              </a:rPr>
              <a:t>B </a:t>
            </a:r>
            <a:r>
              <a:rPr sz="2000" spc="-5" dirty="0">
                <a:latin typeface="Arial"/>
                <a:cs typeface="Arial"/>
              </a:rPr>
              <a:t>into a sorted sequence </a:t>
            </a:r>
            <a:r>
              <a:rPr sz="2000" b="1" i="1" spc="-5" dirty="0">
                <a:latin typeface="Times New Roman"/>
                <a:cs typeface="Times New Roman"/>
              </a:rPr>
              <a:t>S </a:t>
            </a:r>
            <a:r>
              <a:rPr sz="2000" spc="-5" dirty="0">
                <a:latin typeface="Arial"/>
                <a:cs typeface="Arial"/>
              </a:rPr>
              <a:t>containing the union of  the elements of </a:t>
            </a:r>
            <a:r>
              <a:rPr sz="2000" b="1" i="1" dirty="0">
                <a:latin typeface="Times New Roman"/>
                <a:cs typeface="Times New Roman"/>
              </a:rPr>
              <a:t>A </a:t>
            </a:r>
            <a:r>
              <a:rPr sz="2000" spc="-5" dirty="0">
                <a:latin typeface="Arial"/>
                <a:cs typeface="Arial"/>
              </a:rPr>
              <a:t>and</a:t>
            </a:r>
            <a:r>
              <a:rPr sz="2000" spc="5" dirty="0">
                <a:latin typeface="Arial"/>
                <a:cs typeface="Arial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Clr>
                <a:srgbClr val="941300"/>
              </a:buClr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spc="-5" dirty="0">
                <a:latin typeface="Arial"/>
                <a:cs typeface="Arial"/>
              </a:rPr>
              <a:t>Merging two sorted sequences, each with </a:t>
            </a:r>
            <a:r>
              <a:rPr sz="2000" b="1" i="1" spc="-5" dirty="0">
                <a:latin typeface="Times New Roman"/>
                <a:cs typeface="Times New Roman"/>
              </a:rPr>
              <a:t>n</a:t>
            </a:r>
            <a:r>
              <a:rPr sz="2000" i="1" spc="-5" dirty="0">
                <a:latin typeface="Symbol"/>
                <a:cs typeface="Symbol"/>
              </a:rPr>
              <a:t></a:t>
            </a:r>
            <a:r>
              <a:rPr sz="2000" spc="-5" dirty="0">
                <a:latin typeface="Times New Roman"/>
                <a:cs typeface="Times New Roman"/>
              </a:rPr>
              <a:t>2 </a:t>
            </a:r>
            <a:r>
              <a:rPr sz="2000" spc="-5" dirty="0">
                <a:latin typeface="Arial"/>
                <a:cs typeface="Arial"/>
              </a:rPr>
              <a:t>elements takes</a:t>
            </a:r>
            <a:r>
              <a:rPr sz="2000" spc="60" dirty="0">
                <a:latin typeface="Arial"/>
                <a:cs typeface="Arial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O</a:t>
            </a:r>
            <a:r>
              <a:rPr sz="2000" spc="-5" dirty="0">
                <a:latin typeface="Times New Roman"/>
                <a:cs typeface="Times New Roman"/>
              </a:rPr>
              <a:t>(</a:t>
            </a:r>
            <a:r>
              <a:rPr sz="2000" b="1" i="1" spc="-5" dirty="0">
                <a:latin typeface="Times New Roman"/>
                <a:cs typeface="Times New Roman"/>
              </a:rPr>
              <a:t>n</a:t>
            </a:r>
            <a:r>
              <a:rPr sz="2000" spc="-5" dirty="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time</a:t>
            </a:r>
            <a:endParaRPr sz="20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1200"/>
              </a:spcBef>
              <a:buClr>
                <a:srgbClr val="941300"/>
              </a:buClr>
              <a:buFont typeface="Wingdings"/>
              <a:buChar char=""/>
              <a:tabLst>
                <a:tab pos="354965" algn="l"/>
                <a:tab pos="356235" algn="l"/>
                <a:tab pos="4264660" algn="l"/>
              </a:tabLst>
            </a:pPr>
            <a:r>
              <a:rPr sz="2000" spc="-5" dirty="0">
                <a:latin typeface="Arial"/>
                <a:cs typeface="Arial"/>
              </a:rPr>
              <a:t>Normally, merging is</a:t>
            </a:r>
            <a:r>
              <a:rPr sz="2000" spc="2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not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in-place:	new memory must be allocated to  hold S.</a:t>
            </a:r>
            <a:endParaRPr sz="20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1200"/>
              </a:spcBef>
              <a:buClr>
                <a:srgbClr val="941300"/>
              </a:buClr>
              <a:buFont typeface="Wingdings"/>
              <a:buChar char=""/>
              <a:tabLst>
                <a:tab pos="354965" algn="l"/>
                <a:tab pos="356235" algn="l"/>
              </a:tabLst>
            </a:pPr>
            <a:r>
              <a:rPr sz="2000" dirty="0">
                <a:latin typeface="Arial"/>
                <a:cs typeface="Arial"/>
              </a:rPr>
              <a:t>It </a:t>
            </a:r>
            <a:r>
              <a:rPr sz="2000" b="1" dirty="0">
                <a:latin typeface="Arial"/>
                <a:cs typeface="Arial"/>
              </a:rPr>
              <a:t>is </a:t>
            </a:r>
            <a:r>
              <a:rPr sz="2000" spc="-5" dirty="0">
                <a:latin typeface="Arial"/>
                <a:cs typeface="Arial"/>
              </a:rPr>
              <a:t>possible to do in-place merging using linked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lists.</a:t>
            </a:r>
            <a:endParaRPr sz="2000">
              <a:latin typeface="Arial"/>
              <a:cs typeface="Arial"/>
            </a:endParaRPr>
          </a:p>
          <a:p>
            <a:pPr marL="755650" lvl="1" indent="-286385">
              <a:lnSpc>
                <a:spcPct val="100000"/>
              </a:lnSpc>
              <a:spcBef>
                <a:spcPts val="960"/>
              </a:spcBef>
              <a:buClr>
                <a:srgbClr val="2F5C00"/>
              </a:buClr>
              <a:buFont typeface="Wingdings"/>
              <a:buChar char=""/>
              <a:tabLst>
                <a:tab pos="756285" algn="l"/>
              </a:tabLst>
            </a:pPr>
            <a:r>
              <a:rPr sz="1600" spc="-5" dirty="0">
                <a:latin typeface="Arial"/>
                <a:cs typeface="Arial"/>
              </a:rPr>
              <a:t>Code is more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complicated</a:t>
            </a:r>
            <a:endParaRPr sz="16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980"/>
              </a:spcBef>
              <a:buClr>
                <a:srgbClr val="2F5C00"/>
              </a:buClr>
              <a:buFont typeface="Wingdings"/>
              <a:buChar char=""/>
              <a:tabLst>
                <a:tab pos="755650" algn="l"/>
              </a:tabLst>
            </a:pPr>
            <a:r>
              <a:rPr sz="1600" spc="-5" dirty="0">
                <a:latin typeface="Arial"/>
                <a:cs typeface="Arial"/>
              </a:rPr>
              <a:t>Only changes memory usage by a constant</a:t>
            </a:r>
            <a:r>
              <a:rPr sz="1600" spc="2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factor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43736" y="634351"/>
            <a:ext cx="797496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Merging Two Sorted Sequences (As</a:t>
            </a:r>
            <a:r>
              <a:rPr spc="-60" dirty="0"/>
              <a:t> </a:t>
            </a:r>
            <a:r>
              <a:rPr spc="-5" dirty="0"/>
              <a:t>Arrays)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18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68685" y="1168055"/>
            <a:ext cx="7567930" cy="544703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800"/>
              </a:spcBef>
            </a:pPr>
            <a:r>
              <a:rPr sz="1550" b="1" spc="-5" dirty="0">
                <a:latin typeface="Arial"/>
                <a:cs typeface="Arial"/>
              </a:rPr>
              <a:t>Algorithm </a:t>
            </a:r>
            <a:r>
              <a:rPr sz="1550" spc="-20" dirty="0">
                <a:latin typeface="Arial"/>
                <a:cs typeface="Arial"/>
              </a:rPr>
              <a:t>merge(S</a:t>
            </a:r>
            <a:r>
              <a:rPr sz="1350" spc="-30" baseline="-33950" dirty="0">
                <a:latin typeface="Arial"/>
                <a:cs typeface="Arial"/>
              </a:rPr>
              <a:t>1</a:t>
            </a:r>
            <a:r>
              <a:rPr sz="1550" spc="-20" dirty="0">
                <a:latin typeface="Arial"/>
                <a:cs typeface="Arial"/>
              </a:rPr>
              <a:t>, </a:t>
            </a:r>
            <a:r>
              <a:rPr sz="1550" spc="35" dirty="0">
                <a:latin typeface="Arial"/>
                <a:cs typeface="Arial"/>
              </a:rPr>
              <a:t>S</a:t>
            </a:r>
            <a:r>
              <a:rPr sz="1350" spc="52" baseline="-33950" dirty="0">
                <a:latin typeface="Arial"/>
                <a:cs typeface="Arial"/>
              </a:rPr>
              <a:t>2</a:t>
            </a:r>
            <a:r>
              <a:rPr sz="1550" spc="35" dirty="0">
                <a:latin typeface="Arial"/>
                <a:cs typeface="Arial"/>
              </a:rPr>
              <a:t>,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S):</a:t>
            </a:r>
            <a:endParaRPr sz="155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710"/>
              </a:spcBef>
            </a:pPr>
            <a:r>
              <a:rPr sz="1550" b="1" spc="-5" dirty="0">
                <a:latin typeface="Arial"/>
                <a:cs typeface="Arial"/>
              </a:rPr>
              <a:t>Input</a:t>
            </a:r>
            <a:r>
              <a:rPr sz="1550" spc="-5" dirty="0">
                <a:latin typeface="Arial"/>
                <a:cs typeface="Arial"/>
              </a:rPr>
              <a:t>: Sorted </a:t>
            </a:r>
            <a:r>
              <a:rPr sz="1550" dirty="0">
                <a:latin typeface="Arial"/>
                <a:cs typeface="Arial"/>
              </a:rPr>
              <a:t>sequences </a:t>
            </a:r>
            <a:r>
              <a:rPr sz="1550" spc="-25" dirty="0">
                <a:latin typeface="Arial"/>
                <a:cs typeface="Arial"/>
              </a:rPr>
              <a:t>S</a:t>
            </a:r>
            <a:r>
              <a:rPr sz="1350" spc="-37" baseline="-33950" dirty="0">
                <a:latin typeface="Arial"/>
                <a:cs typeface="Arial"/>
              </a:rPr>
              <a:t>1 </a:t>
            </a:r>
            <a:r>
              <a:rPr sz="1550" dirty="0">
                <a:latin typeface="Arial"/>
                <a:cs typeface="Arial"/>
              </a:rPr>
              <a:t>and </a:t>
            </a:r>
            <a:r>
              <a:rPr sz="1550" spc="15" dirty="0">
                <a:latin typeface="Arial"/>
                <a:cs typeface="Arial"/>
              </a:rPr>
              <a:t>S</a:t>
            </a:r>
            <a:r>
              <a:rPr sz="1350" spc="22" baseline="-33950" dirty="0">
                <a:latin typeface="Arial"/>
                <a:cs typeface="Arial"/>
              </a:rPr>
              <a:t>2 </a:t>
            </a:r>
            <a:r>
              <a:rPr sz="1550" dirty="0">
                <a:latin typeface="Arial"/>
                <a:cs typeface="Arial"/>
              </a:rPr>
              <a:t>and an </a:t>
            </a:r>
            <a:r>
              <a:rPr sz="1550" spc="-5" dirty="0">
                <a:latin typeface="Arial"/>
                <a:cs typeface="Arial"/>
              </a:rPr>
              <a:t>empty </a:t>
            </a:r>
            <a:r>
              <a:rPr sz="1550" dirty="0">
                <a:latin typeface="Arial"/>
                <a:cs typeface="Arial"/>
              </a:rPr>
              <a:t>sequence </a:t>
            </a:r>
            <a:r>
              <a:rPr sz="1550" spc="10" dirty="0">
                <a:latin typeface="Arial"/>
                <a:cs typeface="Arial"/>
              </a:rPr>
              <a:t>S, </a:t>
            </a:r>
            <a:r>
              <a:rPr sz="1550" spc="-10" dirty="0">
                <a:latin typeface="Arial"/>
                <a:cs typeface="Arial"/>
              </a:rPr>
              <a:t>implemented </a:t>
            </a:r>
            <a:r>
              <a:rPr sz="1550" dirty="0">
                <a:latin typeface="Arial"/>
                <a:cs typeface="Arial"/>
              </a:rPr>
              <a:t>as</a:t>
            </a:r>
            <a:r>
              <a:rPr sz="1550" spc="-235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arrays</a:t>
            </a:r>
            <a:endParaRPr sz="1550">
              <a:latin typeface="Arial"/>
              <a:cs typeface="Arial"/>
            </a:endParaRPr>
          </a:p>
          <a:p>
            <a:pPr marL="29209">
              <a:lnSpc>
                <a:spcPct val="100000"/>
              </a:lnSpc>
              <a:spcBef>
                <a:spcPts val="710"/>
              </a:spcBef>
            </a:pPr>
            <a:r>
              <a:rPr sz="1550" b="1" spc="-5" dirty="0">
                <a:latin typeface="Arial"/>
                <a:cs typeface="Arial"/>
              </a:rPr>
              <a:t>Output</a:t>
            </a:r>
            <a:r>
              <a:rPr sz="1550" spc="-5" dirty="0">
                <a:latin typeface="Arial"/>
                <a:cs typeface="Arial"/>
              </a:rPr>
              <a:t>: Sorted </a:t>
            </a:r>
            <a:r>
              <a:rPr sz="1550" dirty="0">
                <a:latin typeface="Arial"/>
                <a:cs typeface="Arial"/>
              </a:rPr>
              <a:t>sequence </a:t>
            </a:r>
            <a:r>
              <a:rPr sz="1550" spc="20" dirty="0">
                <a:latin typeface="Arial"/>
                <a:cs typeface="Arial"/>
              </a:rPr>
              <a:t>S </a:t>
            </a:r>
            <a:r>
              <a:rPr sz="1550" spc="-5" dirty="0">
                <a:latin typeface="Arial"/>
                <a:cs typeface="Arial"/>
              </a:rPr>
              <a:t>containing </a:t>
            </a:r>
            <a:r>
              <a:rPr sz="1550" dirty="0">
                <a:latin typeface="Arial"/>
                <a:cs typeface="Arial"/>
              </a:rPr>
              <a:t>the </a:t>
            </a:r>
            <a:r>
              <a:rPr sz="1550" spc="-10" dirty="0">
                <a:latin typeface="Arial"/>
                <a:cs typeface="Arial"/>
              </a:rPr>
              <a:t>elements </a:t>
            </a:r>
            <a:r>
              <a:rPr sz="1550" spc="-5" dirty="0">
                <a:latin typeface="Arial"/>
                <a:cs typeface="Arial"/>
              </a:rPr>
              <a:t>from </a:t>
            </a:r>
            <a:r>
              <a:rPr sz="1550" spc="-25" dirty="0">
                <a:latin typeface="Arial"/>
                <a:cs typeface="Arial"/>
              </a:rPr>
              <a:t>S</a:t>
            </a:r>
            <a:r>
              <a:rPr sz="1350" spc="-37" baseline="-33950" dirty="0">
                <a:latin typeface="Arial"/>
                <a:cs typeface="Arial"/>
              </a:rPr>
              <a:t>1 </a:t>
            </a:r>
            <a:r>
              <a:rPr sz="1550" dirty="0">
                <a:latin typeface="Arial"/>
                <a:cs typeface="Arial"/>
              </a:rPr>
              <a:t>and</a:t>
            </a:r>
            <a:r>
              <a:rPr sz="1550" spc="-114" dirty="0">
                <a:latin typeface="Arial"/>
                <a:cs typeface="Arial"/>
              </a:rPr>
              <a:t> </a:t>
            </a:r>
            <a:r>
              <a:rPr sz="1550" spc="15" dirty="0">
                <a:latin typeface="Arial"/>
                <a:cs typeface="Arial"/>
              </a:rPr>
              <a:t>S</a:t>
            </a:r>
            <a:r>
              <a:rPr sz="1350" spc="22" baseline="-33950" dirty="0">
                <a:latin typeface="Arial"/>
                <a:cs typeface="Arial"/>
              </a:rPr>
              <a:t>2</a:t>
            </a:r>
            <a:endParaRPr sz="1350" baseline="-3395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710"/>
              </a:spcBef>
            </a:pPr>
            <a:r>
              <a:rPr sz="1550" i="1" spc="5" dirty="0">
                <a:latin typeface="Arial"/>
                <a:cs typeface="Arial"/>
              </a:rPr>
              <a:t>i </a:t>
            </a:r>
            <a:r>
              <a:rPr sz="1550" spc="30" dirty="0">
                <a:latin typeface="Symbol"/>
                <a:cs typeface="Symbol"/>
              </a:rPr>
              <a:t></a:t>
            </a:r>
            <a:r>
              <a:rPr sz="1550" spc="30" dirty="0">
                <a:latin typeface="Times New Roman"/>
                <a:cs typeface="Times New Roman"/>
              </a:rPr>
              <a:t> </a:t>
            </a:r>
            <a:r>
              <a:rPr sz="1550" i="1" spc="5" dirty="0">
                <a:latin typeface="Arial"/>
                <a:cs typeface="Arial"/>
              </a:rPr>
              <a:t>j </a:t>
            </a:r>
            <a:r>
              <a:rPr sz="1550" spc="30" dirty="0">
                <a:latin typeface="Symbol"/>
                <a:cs typeface="Symbol"/>
              </a:rPr>
              <a:t></a:t>
            </a:r>
            <a:r>
              <a:rPr sz="1550" spc="8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0</a:t>
            </a:r>
            <a:endParaRPr sz="1550">
              <a:latin typeface="Arial"/>
              <a:cs typeface="Arial"/>
            </a:endParaRPr>
          </a:p>
          <a:p>
            <a:pPr marL="175895" marR="4243705" indent="-138430">
              <a:lnSpc>
                <a:spcPts val="2570"/>
              </a:lnSpc>
              <a:spcBef>
                <a:spcPts val="5"/>
              </a:spcBef>
            </a:pPr>
            <a:r>
              <a:rPr sz="1550" b="1" dirty="0">
                <a:latin typeface="Arial"/>
                <a:cs typeface="Arial"/>
              </a:rPr>
              <a:t>while </a:t>
            </a:r>
            <a:r>
              <a:rPr sz="1550" i="1" spc="5" dirty="0">
                <a:latin typeface="Arial"/>
                <a:cs typeface="Arial"/>
              </a:rPr>
              <a:t>i </a:t>
            </a:r>
            <a:r>
              <a:rPr sz="1550" spc="15" dirty="0">
                <a:latin typeface="Symbol"/>
                <a:cs typeface="Symbol"/>
              </a:rPr>
              <a:t>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i="1" spc="-15" dirty="0">
                <a:latin typeface="Arial"/>
                <a:cs typeface="Arial"/>
              </a:rPr>
              <a:t>S</a:t>
            </a:r>
            <a:r>
              <a:rPr sz="1350" spc="-22" baseline="-33950" dirty="0">
                <a:latin typeface="Arial"/>
                <a:cs typeface="Arial"/>
              </a:rPr>
              <a:t>1</a:t>
            </a:r>
            <a:r>
              <a:rPr sz="1550" spc="-15" dirty="0">
                <a:latin typeface="Arial"/>
                <a:cs typeface="Arial"/>
              </a:rPr>
              <a:t>.size() </a:t>
            </a:r>
            <a:r>
              <a:rPr sz="1550" b="1" spc="5" dirty="0">
                <a:latin typeface="Arial"/>
                <a:cs typeface="Arial"/>
              </a:rPr>
              <a:t>and </a:t>
            </a:r>
            <a:r>
              <a:rPr sz="1550" i="1" spc="5" dirty="0">
                <a:latin typeface="Arial"/>
                <a:cs typeface="Arial"/>
              </a:rPr>
              <a:t>j </a:t>
            </a:r>
            <a:r>
              <a:rPr sz="1550" spc="15" dirty="0">
                <a:latin typeface="Symbol"/>
                <a:cs typeface="Symbol"/>
              </a:rPr>
              <a:t>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i="1" spc="5" dirty="0">
                <a:latin typeface="Arial"/>
                <a:cs typeface="Arial"/>
              </a:rPr>
              <a:t>S</a:t>
            </a:r>
            <a:r>
              <a:rPr sz="1350" spc="7" baseline="-33950" dirty="0">
                <a:latin typeface="Arial"/>
                <a:cs typeface="Arial"/>
              </a:rPr>
              <a:t>2</a:t>
            </a:r>
            <a:r>
              <a:rPr sz="1550" spc="5" dirty="0">
                <a:latin typeface="Arial"/>
                <a:cs typeface="Arial"/>
              </a:rPr>
              <a:t>.size()</a:t>
            </a:r>
            <a:r>
              <a:rPr sz="1550" spc="-15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do  if </a:t>
            </a:r>
            <a:r>
              <a:rPr sz="1550" i="1" spc="-20" dirty="0">
                <a:latin typeface="Arial"/>
                <a:cs typeface="Arial"/>
              </a:rPr>
              <a:t>S</a:t>
            </a:r>
            <a:r>
              <a:rPr sz="1350" spc="-30" baseline="-33950" dirty="0">
                <a:latin typeface="Arial"/>
                <a:cs typeface="Arial"/>
              </a:rPr>
              <a:t>1</a:t>
            </a:r>
            <a:r>
              <a:rPr sz="1550" spc="-20" dirty="0">
                <a:latin typeface="Arial"/>
                <a:cs typeface="Arial"/>
              </a:rPr>
              <a:t>.get(</a:t>
            </a:r>
            <a:r>
              <a:rPr sz="1550" i="1" spc="-20" dirty="0">
                <a:latin typeface="Arial"/>
                <a:cs typeface="Arial"/>
              </a:rPr>
              <a:t>i</a:t>
            </a:r>
            <a:r>
              <a:rPr sz="1550" spc="-20" dirty="0">
                <a:latin typeface="Arial"/>
                <a:cs typeface="Arial"/>
              </a:rPr>
              <a:t>) </a:t>
            </a:r>
            <a:r>
              <a:rPr sz="1550" spc="-50" dirty="0">
                <a:latin typeface="Symbol"/>
                <a:cs typeface="Symbol"/>
              </a:rPr>
              <a:t></a:t>
            </a:r>
            <a:r>
              <a:rPr sz="1550" spc="-50" dirty="0">
                <a:latin typeface="Times New Roman"/>
                <a:cs typeface="Times New Roman"/>
              </a:rPr>
              <a:t> </a:t>
            </a:r>
            <a:r>
              <a:rPr sz="1550" i="1" spc="20" dirty="0">
                <a:latin typeface="Arial"/>
                <a:cs typeface="Arial"/>
              </a:rPr>
              <a:t>S</a:t>
            </a:r>
            <a:r>
              <a:rPr sz="1350" spc="30" baseline="-33950" dirty="0">
                <a:latin typeface="Arial"/>
                <a:cs typeface="Arial"/>
              </a:rPr>
              <a:t>2</a:t>
            </a:r>
            <a:r>
              <a:rPr sz="1550" spc="20" dirty="0">
                <a:latin typeface="Arial"/>
                <a:cs typeface="Arial"/>
              </a:rPr>
              <a:t>.get(</a:t>
            </a:r>
            <a:r>
              <a:rPr sz="1550" i="1" spc="20" dirty="0">
                <a:latin typeface="Arial"/>
                <a:cs typeface="Arial"/>
              </a:rPr>
              <a:t>j</a:t>
            </a:r>
            <a:r>
              <a:rPr sz="1550" spc="20" dirty="0">
                <a:latin typeface="Arial"/>
                <a:cs typeface="Arial"/>
              </a:rPr>
              <a:t>)</a:t>
            </a:r>
            <a:r>
              <a:rPr sz="1550" spc="-35" dirty="0">
                <a:latin typeface="Arial"/>
                <a:cs typeface="Arial"/>
              </a:rPr>
              <a:t> </a:t>
            </a:r>
            <a:r>
              <a:rPr sz="1550" b="1" spc="-5" dirty="0">
                <a:latin typeface="Arial"/>
                <a:cs typeface="Arial"/>
              </a:rPr>
              <a:t>then</a:t>
            </a:r>
            <a:endParaRPr sz="1550">
              <a:latin typeface="Arial"/>
              <a:cs typeface="Arial"/>
            </a:endParaRPr>
          </a:p>
          <a:p>
            <a:pPr marL="321945">
              <a:lnSpc>
                <a:spcPct val="100000"/>
              </a:lnSpc>
              <a:spcBef>
                <a:spcPts val="505"/>
              </a:spcBef>
            </a:pPr>
            <a:r>
              <a:rPr sz="1550" i="1" spc="-10" dirty="0">
                <a:latin typeface="Arial"/>
                <a:cs typeface="Arial"/>
              </a:rPr>
              <a:t>S</a:t>
            </a:r>
            <a:r>
              <a:rPr sz="1550" spc="-10" dirty="0">
                <a:latin typeface="Arial"/>
                <a:cs typeface="Arial"/>
              </a:rPr>
              <a:t>.addLast(</a:t>
            </a:r>
            <a:r>
              <a:rPr sz="1550" i="1" spc="-10" dirty="0">
                <a:latin typeface="Arial"/>
                <a:cs typeface="Arial"/>
              </a:rPr>
              <a:t>S</a:t>
            </a:r>
            <a:r>
              <a:rPr sz="1350" spc="-15" baseline="-33950" dirty="0">
                <a:latin typeface="Arial"/>
                <a:cs typeface="Arial"/>
              </a:rPr>
              <a:t>1</a:t>
            </a:r>
            <a:r>
              <a:rPr sz="1550" spc="-10" dirty="0">
                <a:latin typeface="Arial"/>
                <a:cs typeface="Arial"/>
              </a:rPr>
              <a:t>.get(</a:t>
            </a:r>
            <a:r>
              <a:rPr sz="1550" i="1" spc="-10" dirty="0">
                <a:latin typeface="Arial"/>
                <a:cs typeface="Arial"/>
              </a:rPr>
              <a:t>i</a:t>
            </a:r>
            <a:r>
              <a:rPr sz="1550" spc="-10" dirty="0">
                <a:latin typeface="Arial"/>
                <a:cs typeface="Arial"/>
              </a:rPr>
              <a:t>))</a:t>
            </a:r>
            <a:endParaRPr sz="1550">
              <a:latin typeface="Arial"/>
              <a:cs typeface="Arial"/>
            </a:endParaRPr>
          </a:p>
          <a:p>
            <a:pPr marL="334645">
              <a:lnSpc>
                <a:spcPct val="100000"/>
              </a:lnSpc>
              <a:spcBef>
                <a:spcPts val="710"/>
              </a:spcBef>
            </a:pPr>
            <a:r>
              <a:rPr sz="1550" i="1" spc="5" dirty="0">
                <a:latin typeface="Arial"/>
                <a:cs typeface="Arial"/>
              </a:rPr>
              <a:t>i </a:t>
            </a:r>
            <a:r>
              <a:rPr sz="1550" spc="30" dirty="0">
                <a:latin typeface="Symbol"/>
                <a:cs typeface="Symbol"/>
              </a:rPr>
              <a:t></a:t>
            </a:r>
            <a:r>
              <a:rPr sz="1550" spc="30" dirty="0">
                <a:latin typeface="Times New Roman"/>
                <a:cs typeface="Times New Roman"/>
              </a:rPr>
              <a:t> </a:t>
            </a:r>
            <a:r>
              <a:rPr sz="1550" i="1" spc="5" dirty="0">
                <a:latin typeface="Arial"/>
                <a:cs typeface="Arial"/>
              </a:rPr>
              <a:t>i </a:t>
            </a:r>
            <a:r>
              <a:rPr sz="1550" spc="15" dirty="0">
                <a:latin typeface="Symbol"/>
                <a:cs typeface="Symbol"/>
              </a:rPr>
              <a:t></a:t>
            </a:r>
            <a:r>
              <a:rPr sz="1550" spc="-27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1</a:t>
            </a:r>
            <a:endParaRPr sz="1550">
              <a:latin typeface="Arial"/>
              <a:cs typeface="Arial"/>
            </a:endParaRPr>
          </a:p>
          <a:p>
            <a:pPr marL="179705">
              <a:lnSpc>
                <a:spcPct val="100000"/>
              </a:lnSpc>
              <a:spcBef>
                <a:spcPts val="509"/>
              </a:spcBef>
            </a:pPr>
            <a:r>
              <a:rPr sz="1550" b="1" spc="-10" dirty="0">
                <a:latin typeface="Arial"/>
                <a:cs typeface="Arial"/>
              </a:rPr>
              <a:t>else</a:t>
            </a:r>
            <a:endParaRPr sz="1550">
              <a:latin typeface="Arial"/>
              <a:cs typeface="Arial"/>
            </a:endParaRPr>
          </a:p>
          <a:p>
            <a:pPr marL="360045" marR="5523230" indent="-38100">
              <a:lnSpc>
                <a:spcPts val="2570"/>
              </a:lnSpc>
              <a:spcBef>
                <a:spcPts val="5"/>
              </a:spcBef>
            </a:pPr>
            <a:r>
              <a:rPr sz="1550" i="1" spc="10" dirty="0">
                <a:latin typeface="Arial"/>
                <a:cs typeface="Arial"/>
              </a:rPr>
              <a:t>S</a:t>
            </a:r>
            <a:r>
              <a:rPr sz="1550" spc="-10" dirty="0">
                <a:latin typeface="Arial"/>
                <a:cs typeface="Arial"/>
              </a:rPr>
              <a:t>.addLa</a:t>
            </a:r>
            <a:r>
              <a:rPr sz="1550" spc="15" dirty="0">
                <a:latin typeface="Arial"/>
                <a:cs typeface="Arial"/>
              </a:rPr>
              <a:t>st</a:t>
            </a:r>
            <a:r>
              <a:rPr sz="1550" spc="-65" dirty="0">
                <a:latin typeface="Arial"/>
                <a:cs typeface="Arial"/>
              </a:rPr>
              <a:t>(</a:t>
            </a:r>
            <a:r>
              <a:rPr sz="1550" i="1" spc="10" dirty="0">
                <a:latin typeface="Arial"/>
                <a:cs typeface="Arial"/>
              </a:rPr>
              <a:t>S</a:t>
            </a:r>
            <a:r>
              <a:rPr sz="1350" spc="112" baseline="-33950" dirty="0">
                <a:latin typeface="Arial"/>
                <a:cs typeface="Arial"/>
              </a:rPr>
              <a:t>2</a:t>
            </a:r>
            <a:r>
              <a:rPr sz="1550" spc="-114" dirty="0">
                <a:latin typeface="Arial"/>
                <a:cs typeface="Arial"/>
              </a:rPr>
              <a:t>.</a:t>
            </a:r>
            <a:r>
              <a:rPr sz="1550" spc="-10" dirty="0">
                <a:latin typeface="Arial"/>
                <a:cs typeface="Arial"/>
              </a:rPr>
              <a:t>get</a:t>
            </a:r>
            <a:r>
              <a:rPr sz="1550" spc="-25" dirty="0">
                <a:latin typeface="Arial"/>
                <a:cs typeface="Arial"/>
              </a:rPr>
              <a:t>(</a:t>
            </a:r>
            <a:r>
              <a:rPr sz="1550" i="1" spc="135" dirty="0">
                <a:latin typeface="Arial"/>
                <a:cs typeface="Arial"/>
              </a:rPr>
              <a:t>j</a:t>
            </a:r>
            <a:r>
              <a:rPr sz="1550" spc="-40" dirty="0">
                <a:latin typeface="Arial"/>
                <a:cs typeface="Arial"/>
              </a:rPr>
              <a:t>))  </a:t>
            </a:r>
            <a:r>
              <a:rPr sz="1550" i="1" spc="5" dirty="0">
                <a:latin typeface="Arial"/>
                <a:cs typeface="Arial"/>
              </a:rPr>
              <a:t> j </a:t>
            </a:r>
            <a:r>
              <a:rPr sz="1550" spc="30" dirty="0">
                <a:latin typeface="Symbol"/>
                <a:cs typeface="Symbol"/>
              </a:rPr>
              <a:t></a:t>
            </a:r>
            <a:r>
              <a:rPr sz="1550" spc="30" dirty="0">
                <a:latin typeface="Times New Roman"/>
                <a:cs typeface="Times New Roman"/>
              </a:rPr>
              <a:t> </a:t>
            </a:r>
            <a:r>
              <a:rPr sz="1550" i="1" spc="5" dirty="0">
                <a:latin typeface="Arial"/>
                <a:cs typeface="Arial"/>
              </a:rPr>
              <a:t>j </a:t>
            </a:r>
            <a:r>
              <a:rPr sz="1550" spc="15" dirty="0">
                <a:latin typeface="Symbol"/>
                <a:cs typeface="Symbol"/>
              </a:rPr>
              <a:t></a:t>
            </a:r>
            <a:r>
              <a:rPr sz="1550" spc="-2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1</a:t>
            </a:r>
            <a:endParaRPr sz="155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305"/>
              </a:spcBef>
            </a:pPr>
            <a:r>
              <a:rPr sz="1550" b="1" dirty="0">
                <a:latin typeface="Arial"/>
                <a:cs typeface="Arial"/>
              </a:rPr>
              <a:t>while </a:t>
            </a:r>
            <a:r>
              <a:rPr sz="1550" i="1" spc="5" dirty="0">
                <a:latin typeface="Arial"/>
                <a:cs typeface="Arial"/>
              </a:rPr>
              <a:t>i </a:t>
            </a:r>
            <a:r>
              <a:rPr sz="1550" spc="15" dirty="0">
                <a:latin typeface="Symbol"/>
                <a:cs typeface="Symbol"/>
              </a:rPr>
              <a:t>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i="1" spc="-15" dirty="0">
                <a:latin typeface="Arial"/>
                <a:cs typeface="Arial"/>
              </a:rPr>
              <a:t>S</a:t>
            </a:r>
            <a:r>
              <a:rPr sz="1350" spc="-22" baseline="-33950" dirty="0">
                <a:latin typeface="Arial"/>
                <a:cs typeface="Arial"/>
              </a:rPr>
              <a:t>1</a:t>
            </a:r>
            <a:r>
              <a:rPr sz="1550" spc="-15" dirty="0">
                <a:latin typeface="Arial"/>
                <a:cs typeface="Arial"/>
              </a:rPr>
              <a:t>.size()</a:t>
            </a:r>
            <a:r>
              <a:rPr sz="1550" spc="-65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do</a:t>
            </a:r>
            <a:endParaRPr sz="1550">
              <a:latin typeface="Arial"/>
              <a:cs typeface="Arial"/>
            </a:endParaRPr>
          </a:p>
          <a:p>
            <a:pPr marL="184150" marR="5703570" indent="-12700">
              <a:lnSpc>
                <a:spcPct val="138100"/>
              </a:lnSpc>
              <a:spcBef>
                <a:spcPts val="5"/>
              </a:spcBef>
            </a:pPr>
            <a:r>
              <a:rPr sz="1550" i="1" spc="10" dirty="0">
                <a:latin typeface="Arial"/>
                <a:cs typeface="Arial"/>
              </a:rPr>
              <a:t>S</a:t>
            </a:r>
            <a:r>
              <a:rPr sz="1550" spc="-114" dirty="0">
                <a:latin typeface="Arial"/>
                <a:cs typeface="Arial"/>
              </a:rPr>
              <a:t>.</a:t>
            </a:r>
            <a:r>
              <a:rPr sz="1550" spc="-10" dirty="0">
                <a:latin typeface="Arial"/>
                <a:cs typeface="Arial"/>
              </a:rPr>
              <a:t>addLa</a:t>
            </a:r>
            <a:r>
              <a:rPr sz="1550" spc="15" dirty="0">
                <a:latin typeface="Arial"/>
                <a:cs typeface="Arial"/>
              </a:rPr>
              <a:t>st</a:t>
            </a:r>
            <a:r>
              <a:rPr sz="1550" spc="-65" dirty="0">
                <a:latin typeface="Arial"/>
                <a:cs typeface="Arial"/>
              </a:rPr>
              <a:t>(</a:t>
            </a:r>
            <a:r>
              <a:rPr sz="1550" i="1" spc="-70" dirty="0">
                <a:latin typeface="Arial"/>
                <a:cs typeface="Arial"/>
              </a:rPr>
              <a:t>S</a:t>
            </a:r>
            <a:r>
              <a:rPr sz="1350" spc="-60" baseline="-33950" dirty="0">
                <a:latin typeface="Arial"/>
                <a:cs typeface="Arial"/>
              </a:rPr>
              <a:t>1</a:t>
            </a:r>
            <a:r>
              <a:rPr sz="1550" spc="-114" dirty="0">
                <a:latin typeface="Arial"/>
                <a:cs typeface="Arial"/>
              </a:rPr>
              <a:t>.</a:t>
            </a:r>
            <a:r>
              <a:rPr sz="1550" spc="-10" dirty="0">
                <a:latin typeface="Arial"/>
                <a:cs typeface="Arial"/>
              </a:rPr>
              <a:t>ge</a:t>
            </a:r>
            <a:r>
              <a:rPr sz="1550" spc="15" dirty="0">
                <a:latin typeface="Arial"/>
                <a:cs typeface="Arial"/>
              </a:rPr>
              <a:t>t</a:t>
            </a:r>
            <a:r>
              <a:rPr sz="1550" spc="35" dirty="0">
                <a:latin typeface="Arial"/>
                <a:cs typeface="Arial"/>
              </a:rPr>
              <a:t>(</a:t>
            </a:r>
            <a:r>
              <a:rPr sz="1550" i="1" spc="105" dirty="0">
                <a:latin typeface="Arial"/>
                <a:cs typeface="Arial"/>
              </a:rPr>
              <a:t>i</a:t>
            </a:r>
            <a:r>
              <a:rPr sz="1550" spc="-30" dirty="0">
                <a:latin typeface="Arial"/>
                <a:cs typeface="Arial"/>
              </a:rPr>
              <a:t>))  </a:t>
            </a:r>
            <a:r>
              <a:rPr sz="1550" i="1" spc="5" dirty="0">
                <a:latin typeface="Arial"/>
                <a:cs typeface="Arial"/>
              </a:rPr>
              <a:t> i </a:t>
            </a:r>
            <a:r>
              <a:rPr sz="1550" spc="30" dirty="0">
                <a:latin typeface="Symbol"/>
                <a:cs typeface="Symbol"/>
              </a:rPr>
              <a:t></a:t>
            </a:r>
            <a:r>
              <a:rPr sz="1550" spc="30" dirty="0">
                <a:latin typeface="Times New Roman"/>
                <a:cs typeface="Times New Roman"/>
              </a:rPr>
              <a:t> </a:t>
            </a:r>
            <a:r>
              <a:rPr sz="1550" i="1" spc="5" dirty="0">
                <a:latin typeface="Arial"/>
                <a:cs typeface="Arial"/>
              </a:rPr>
              <a:t>i </a:t>
            </a:r>
            <a:r>
              <a:rPr sz="1550" spc="15" dirty="0">
                <a:latin typeface="Symbol"/>
                <a:cs typeface="Symbol"/>
              </a:rPr>
              <a:t></a:t>
            </a:r>
            <a:r>
              <a:rPr sz="1550" spc="-28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1</a:t>
            </a:r>
            <a:endParaRPr sz="1550">
              <a:latin typeface="Arial"/>
              <a:cs typeface="Arial"/>
            </a:endParaRPr>
          </a:p>
          <a:p>
            <a:pPr marL="171450" marR="5669915" indent="-133985" algn="just">
              <a:lnSpc>
                <a:spcPts val="2570"/>
              </a:lnSpc>
              <a:spcBef>
                <a:spcPts val="5"/>
              </a:spcBef>
            </a:pPr>
            <a:r>
              <a:rPr sz="1550" b="1" dirty="0">
                <a:latin typeface="Arial"/>
                <a:cs typeface="Arial"/>
              </a:rPr>
              <a:t>while </a:t>
            </a:r>
            <a:r>
              <a:rPr sz="1550" i="1" spc="5" dirty="0">
                <a:latin typeface="Arial"/>
                <a:cs typeface="Arial"/>
              </a:rPr>
              <a:t>j </a:t>
            </a:r>
            <a:r>
              <a:rPr sz="1550" spc="15" dirty="0">
                <a:latin typeface="Symbol"/>
                <a:cs typeface="Symbol"/>
              </a:rPr>
              <a:t>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i="1" spc="5" dirty="0">
                <a:latin typeface="Arial"/>
                <a:cs typeface="Arial"/>
              </a:rPr>
              <a:t>S</a:t>
            </a:r>
            <a:r>
              <a:rPr sz="1350" spc="7" baseline="-33950" dirty="0">
                <a:latin typeface="Arial"/>
                <a:cs typeface="Arial"/>
              </a:rPr>
              <a:t>2</a:t>
            </a:r>
            <a:r>
              <a:rPr sz="1550" spc="5" dirty="0">
                <a:latin typeface="Arial"/>
                <a:cs typeface="Arial"/>
              </a:rPr>
              <a:t>.size() </a:t>
            </a:r>
            <a:r>
              <a:rPr sz="1550" b="1" dirty="0">
                <a:latin typeface="Arial"/>
                <a:cs typeface="Arial"/>
              </a:rPr>
              <a:t>do  </a:t>
            </a:r>
            <a:r>
              <a:rPr sz="1550" i="1" spc="-5" dirty="0">
                <a:latin typeface="Arial"/>
                <a:cs typeface="Arial"/>
              </a:rPr>
              <a:t>S</a:t>
            </a:r>
            <a:r>
              <a:rPr sz="1550" spc="-5" dirty="0">
                <a:latin typeface="Arial"/>
                <a:cs typeface="Arial"/>
              </a:rPr>
              <a:t>.addLast(</a:t>
            </a:r>
            <a:r>
              <a:rPr sz="1550" i="1" spc="-5" dirty="0">
                <a:latin typeface="Arial"/>
                <a:cs typeface="Arial"/>
              </a:rPr>
              <a:t>S</a:t>
            </a:r>
            <a:r>
              <a:rPr sz="1350" spc="-7" baseline="-33950" dirty="0">
                <a:latin typeface="Arial"/>
                <a:cs typeface="Arial"/>
              </a:rPr>
              <a:t>2</a:t>
            </a:r>
            <a:r>
              <a:rPr sz="1550" spc="-5" dirty="0">
                <a:latin typeface="Arial"/>
                <a:cs typeface="Arial"/>
              </a:rPr>
              <a:t>.get(</a:t>
            </a:r>
            <a:r>
              <a:rPr sz="1550" i="1" spc="-5" dirty="0">
                <a:latin typeface="Arial"/>
                <a:cs typeface="Arial"/>
              </a:rPr>
              <a:t>j</a:t>
            </a:r>
            <a:r>
              <a:rPr sz="1550" spc="-5" dirty="0">
                <a:latin typeface="Arial"/>
                <a:cs typeface="Arial"/>
              </a:rPr>
              <a:t>))  </a:t>
            </a:r>
            <a:r>
              <a:rPr sz="1550" dirty="0">
                <a:latin typeface="Arial"/>
                <a:cs typeface="Arial"/>
              </a:rPr>
              <a:t> </a:t>
            </a:r>
            <a:r>
              <a:rPr sz="1550" i="1" spc="5" dirty="0">
                <a:latin typeface="Arial"/>
                <a:cs typeface="Arial"/>
              </a:rPr>
              <a:t>j </a:t>
            </a:r>
            <a:r>
              <a:rPr sz="1550" spc="30" dirty="0">
                <a:latin typeface="Symbol"/>
                <a:cs typeface="Symbol"/>
              </a:rPr>
              <a:t></a:t>
            </a:r>
            <a:r>
              <a:rPr sz="1550" spc="30" dirty="0">
                <a:latin typeface="Times New Roman"/>
                <a:cs typeface="Times New Roman"/>
              </a:rPr>
              <a:t> </a:t>
            </a:r>
            <a:r>
              <a:rPr sz="1550" i="1" spc="5" dirty="0">
                <a:latin typeface="Arial"/>
                <a:cs typeface="Arial"/>
              </a:rPr>
              <a:t>j </a:t>
            </a:r>
            <a:r>
              <a:rPr sz="1550" spc="15" dirty="0">
                <a:latin typeface="Symbol"/>
                <a:cs typeface="Symbol"/>
              </a:rPr>
              <a:t></a:t>
            </a:r>
            <a:r>
              <a:rPr sz="1550" spc="-2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Arial"/>
                <a:cs typeface="Arial"/>
              </a:rPr>
              <a:t>1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7771" y="634351"/>
            <a:ext cx="894651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Merging Two Sorted Sequences (As Linked</a:t>
            </a:r>
            <a:r>
              <a:rPr spc="-50" dirty="0"/>
              <a:t> </a:t>
            </a:r>
            <a:r>
              <a:rPr spc="-5" dirty="0"/>
              <a:t>Lists)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19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5756" y="1688279"/>
            <a:ext cx="8961120" cy="475297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890"/>
              </a:spcBef>
            </a:pPr>
            <a:r>
              <a:rPr sz="1750" b="1" spc="-5" dirty="0">
                <a:latin typeface="Arial"/>
                <a:cs typeface="Arial"/>
              </a:rPr>
              <a:t>Algorithm </a:t>
            </a:r>
            <a:r>
              <a:rPr sz="1750" spc="-25" dirty="0">
                <a:latin typeface="Arial"/>
                <a:cs typeface="Arial"/>
              </a:rPr>
              <a:t>merge(S</a:t>
            </a:r>
            <a:r>
              <a:rPr sz="1500" spc="-37" baseline="-33333" dirty="0">
                <a:latin typeface="Arial"/>
                <a:cs typeface="Arial"/>
              </a:rPr>
              <a:t>1</a:t>
            </a:r>
            <a:r>
              <a:rPr sz="1750" spc="-25" dirty="0">
                <a:latin typeface="Arial"/>
                <a:cs typeface="Arial"/>
              </a:rPr>
              <a:t>, </a:t>
            </a:r>
            <a:r>
              <a:rPr sz="1750" spc="40" dirty="0">
                <a:latin typeface="Arial"/>
                <a:cs typeface="Arial"/>
              </a:rPr>
              <a:t>S</a:t>
            </a:r>
            <a:r>
              <a:rPr sz="1500" spc="60" baseline="-33333" dirty="0">
                <a:latin typeface="Arial"/>
                <a:cs typeface="Arial"/>
              </a:rPr>
              <a:t>2</a:t>
            </a:r>
            <a:r>
              <a:rPr sz="1750" spc="40" dirty="0">
                <a:latin typeface="Arial"/>
                <a:cs typeface="Arial"/>
              </a:rPr>
              <a:t>,</a:t>
            </a:r>
            <a:r>
              <a:rPr sz="1750" spc="2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S):</a:t>
            </a:r>
            <a:endParaRPr sz="17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795"/>
              </a:spcBef>
            </a:pPr>
            <a:r>
              <a:rPr sz="1750" b="1" spc="-5" dirty="0">
                <a:latin typeface="Arial"/>
                <a:cs typeface="Arial"/>
              </a:rPr>
              <a:t>Input</a:t>
            </a:r>
            <a:r>
              <a:rPr sz="1750" spc="-5" dirty="0">
                <a:latin typeface="Arial"/>
                <a:cs typeface="Arial"/>
              </a:rPr>
              <a:t>: Sorted sequences </a:t>
            </a:r>
            <a:r>
              <a:rPr sz="1750" spc="-25" dirty="0">
                <a:latin typeface="Arial"/>
                <a:cs typeface="Arial"/>
              </a:rPr>
              <a:t>S</a:t>
            </a:r>
            <a:r>
              <a:rPr sz="1500" spc="-37" baseline="-33333" dirty="0">
                <a:latin typeface="Arial"/>
                <a:cs typeface="Arial"/>
              </a:rPr>
              <a:t>1 </a:t>
            </a:r>
            <a:r>
              <a:rPr sz="1750" spc="-5" dirty="0">
                <a:latin typeface="Arial"/>
                <a:cs typeface="Arial"/>
              </a:rPr>
              <a:t>and </a:t>
            </a:r>
            <a:r>
              <a:rPr sz="1750" spc="20" dirty="0">
                <a:latin typeface="Arial"/>
                <a:cs typeface="Arial"/>
              </a:rPr>
              <a:t>S</a:t>
            </a:r>
            <a:r>
              <a:rPr sz="1500" spc="30" baseline="-33333" dirty="0">
                <a:latin typeface="Arial"/>
                <a:cs typeface="Arial"/>
              </a:rPr>
              <a:t>2 </a:t>
            </a:r>
            <a:r>
              <a:rPr sz="1750" spc="-5" dirty="0">
                <a:latin typeface="Arial"/>
                <a:cs typeface="Arial"/>
              </a:rPr>
              <a:t>and </a:t>
            </a:r>
            <a:r>
              <a:rPr sz="1750" dirty="0">
                <a:latin typeface="Arial"/>
                <a:cs typeface="Arial"/>
              </a:rPr>
              <a:t>an </a:t>
            </a:r>
            <a:r>
              <a:rPr sz="1750" spc="-5" dirty="0">
                <a:latin typeface="Arial"/>
                <a:cs typeface="Arial"/>
              </a:rPr>
              <a:t>empty sequence </a:t>
            </a:r>
            <a:r>
              <a:rPr sz="1750" spc="15" dirty="0">
                <a:latin typeface="Arial"/>
                <a:cs typeface="Arial"/>
              </a:rPr>
              <a:t>S, </a:t>
            </a:r>
            <a:r>
              <a:rPr sz="1750" spc="-15" dirty="0">
                <a:latin typeface="Arial"/>
                <a:cs typeface="Arial"/>
              </a:rPr>
              <a:t>implemented </a:t>
            </a:r>
            <a:r>
              <a:rPr sz="1750" dirty="0">
                <a:latin typeface="Arial"/>
                <a:cs typeface="Arial"/>
              </a:rPr>
              <a:t>as </a:t>
            </a:r>
            <a:r>
              <a:rPr sz="1750" spc="-10" dirty="0">
                <a:latin typeface="Arial"/>
                <a:cs typeface="Arial"/>
              </a:rPr>
              <a:t>linked</a:t>
            </a:r>
            <a:r>
              <a:rPr sz="1750" spc="-215" dirty="0">
                <a:latin typeface="Arial"/>
                <a:cs typeface="Arial"/>
              </a:rPr>
              <a:t> </a:t>
            </a:r>
            <a:r>
              <a:rPr sz="1750" spc="-5" dirty="0">
                <a:latin typeface="Arial"/>
                <a:cs typeface="Arial"/>
              </a:rPr>
              <a:t>lists</a:t>
            </a:r>
            <a:endParaRPr sz="175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800"/>
              </a:spcBef>
            </a:pPr>
            <a:r>
              <a:rPr sz="1750" b="1" spc="-5" dirty="0">
                <a:latin typeface="Arial"/>
                <a:cs typeface="Arial"/>
              </a:rPr>
              <a:t>Output</a:t>
            </a:r>
            <a:r>
              <a:rPr sz="1750" spc="-5" dirty="0">
                <a:latin typeface="Arial"/>
                <a:cs typeface="Arial"/>
              </a:rPr>
              <a:t>: Sorted sequence </a:t>
            </a:r>
            <a:r>
              <a:rPr sz="1750" spc="20" dirty="0">
                <a:latin typeface="Arial"/>
                <a:cs typeface="Arial"/>
              </a:rPr>
              <a:t>S </a:t>
            </a:r>
            <a:r>
              <a:rPr sz="1750" spc="-10" dirty="0">
                <a:latin typeface="Arial"/>
                <a:cs typeface="Arial"/>
              </a:rPr>
              <a:t>containing </a:t>
            </a:r>
            <a:r>
              <a:rPr sz="1750" dirty="0">
                <a:latin typeface="Arial"/>
                <a:cs typeface="Arial"/>
              </a:rPr>
              <a:t>the </a:t>
            </a:r>
            <a:r>
              <a:rPr sz="1750" spc="-10" dirty="0">
                <a:latin typeface="Arial"/>
                <a:cs typeface="Arial"/>
              </a:rPr>
              <a:t>elements </a:t>
            </a:r>
            <a:r>
              <a:rPr sz="1750" spc="-5" dirty="0">
                <a:latin typeface="Arial"/>
                <a:cs typeface="Arial"/>
              </a:rPr>
              <a:t>from </a:t>
            </a:r>
            <a:r>
              <a:rPr sz="1750" spc="-25" dirty="0">
                <a:latin typeface="Arial"/>
                <a:cs typeface="Arial"/>
              </a:rPr>
              <a:t>S</a:t>
            </a:r>
            <a:r>
              <a:rPr sz="1500" spc="-37" baseline="-33333" dirty="0">
                <a:latin typeface="Arial"/>
                <a:cs typeface="Arial"/>
              </a:rPr>
              <a:t>1 </a:t>
            </a:r>
            <a:r>
              <a:rPr sz="1750" spc="-5" dirty="0">
                <a:latin typeface="Arial"/>
                <a:cs typeface="Arial"/>
              </a:rPr>
              <a:t>and</a:t>
            </a:r>
            <a:r>
              <a:rPr sz="1750" spc="-114" dirty="0">
                <a:latin typeface="Arial"/>
                <a:cs typeface="Arial"/>
              </a:rPr>
              <a:t> </a:t>
            </a:r>
            <a:r>
              <a:rPr sz="1750" spc="20" dirty="0">
                <a:latin typeface="Arial"/>
                <a:cs typeface="Arial"/>
              </a:rPr>
              <a:t>S</a:t>
            </a:r>
            <a:r>
              <a:rPr sz="1500" spc="30" baseline="-33333" dirty="0">
                <a:latin typeface="Arial"/>
                <a:cs typeface="Arial"/>
              </a:rPr>
              <a:t>2</a:t>
            </a:r>
            <a:endParaRPr sz="1500" baseline="-33333">
              <a:latin typeface="Arial"/>
              <a:cs typeface="Arial"/>
            </a:endParaRPr>
          </a:p>
          <a:p>
            <a:pPr marL="52069">
              <a:lnSpc>
                <a:spcPct val="100000"/>
              </a:lnSpc>
              <a:spcBef>
                <a:spcPts val="800"/>
              </a:spcBef>
            </a:pPr>
            <a:r>
              <a:rPr sz="1750" b="1" spc="5" dirty="0">
                <a:latin typeface="Arial"/>
                <a:cs typeface="Arial"/>
              </a:rPr>
              <a:t>while </a:t>
            </a:r>
            <a:r>
              <a:rPr sz="1750" i="1" spc="-35" dirty="0">
                <a:latin typeface="Arial"/>
                <a:cs typeface="Arial"/>
              </a:rPr>
              <a:t>S</a:t>
            </a:r>
            <a:r>
              <a:rPr sz="1500" spc="-52" baseline="-33333" dirty="0">
                <a:latin typeface="Arial"/>
                <a:cs typeface="Arial"/>
              </a:rPr>
              <a:t>1 </a:t>
            </a:r>
            <a:r>
              <a:rPr sz="1750" spc="285" dirty="0">
                <a:latin typeface="Symbol"/>
                <a:cs typeface="Symbol"/>
              </a:rPr>
              <a:t></a:t>
            </a:r>
            <a:r>
              <a:rPr sz="1750" spc="285" dirty="0">
                <a:latin typeface="Times New Roman"/>
                <a:cs typeface="Times New Roman"/>
              </a:rPr>
              <a:t> </a:t>
            </a:r>
            <a:r>
              <a:rPr sz="1750" b="1" spc="5" dirty="0">
                <a:latin typeface="Arial"/>
                <a:cs typeface="Arial"/>
              </a:rPr>
              <a:t>and </a:t>
            </a:r>
            <a:r>
              <a:rPr sz="1750" i="1" spc="10" dirty="0">
                <a:latin typeface="Arial"/>
                <a:cs typeface="Arial"/>
              </a:rPr>
              <a:t>S</a:t>
            </a:r>
            <a:r>
              <a:rPr sz="1500" spc="15" baseline="-33333" dirty="0">
                <a:latin typeface="Arial"/>
                <a:cs typeface="Arial"/>
              </a:rPr>
              <a:t>2 </a:t>
            </a:r>
            <a:r>
              <a:rPr sz="1750" spc="285" dirty="0">
                <a:latin typeface="Symbol"/>
                <a:cs typeface="Symbol"/>
              </a:rPr>
              <a:t>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b="1" spc="5" dirty="0">
                <a:latin typeface="Arial"/>
                <a:cs typeface="Arial"/>
              </a:rPr>
              <a:t>do</a:t>
            </a:r>
            <a:endParaRPr sz="1750">
              <a:latin typeface="Arial"/>
              <a:cs typeface="Arial"/>
            </a:endParaRPr>
          </a:p>
          <a:p>
            <a:pPr marL="207645">
              <a:lnSpc>
                <a:spcPct val="100000"/>
              </a:lnSpc>
              <a:spcBef>
                <a:spcPts val="795"/>
              </a:spcBef>
            </a:pPr>
            <a:r>
              <a:rPr sz="1750" b="1" dirty="0">
                <a:latin typeface="Arial"/>
                <a:cs typeface="Arial"/>
              </a:rPr>
              <a:t>if </a:t>
            </a:r>
            <a:r>
              <a:rPr sz="1750" i="1" spc="-20" dirty="0">
                <a:latin typeface="Arial"/>
                <a:cs typeface="Arial"/>
              </a:rPr>
              <a:t>S</a:t>
            </a:r>
            <a:r>
              <a:rPr sz="1500" spc="-30" baseline="-33333" dirty="0">
                <a:latin typeface="Arial"/>
                <a:cs typeface="Arial"/>
              </a:rPr>
              <a:t>1</a:t>
            </a:r>
            <a:r>
              <a:rPr sz="1750" spc="-20" dirty="0">
                <a:latin typeface="Arial"/>
                <a:cs typeface="Arial"/>
              </a:rPr>
              <a:t>.first().element() </a:t>
            </a:r>
            <a:r>
              <a:rPr sz="1750" spc="-60" dirty="0">
                <a:latin typeface="Symbol"/>
                <a:cs typeface="Symbol"/>
              </a:rPr>
              <a:t></a:t>
            </a:r>
            <a:r>
              <a:rPr sz="1750" spc="-60" dirty="0">
                <a:latin typeface="Times New Roman"/>
                <a:cs typeface="Times New Roman"/>
              </a:rPr>
              <a:t> </a:t>
            </a:r>
            <a:r>
              <a:rPr sz="1750" i="1" spc="-5" dirty="0">
                <a:latin typeface="Arial"/>
                <a:cs typeface="Arial"/>
              </a:rPr>
              <a:t>S</a:t>
            </a:r>
            <a:r>
              <a:rPr sz="1500" spc="-7" baseline="-33333" dirty="0">
                <a:latin typeface="Arial"/>
                <a:cs typeface="Arial"/>
              </a:rPr>
              <a:t>2</a:t>
            </a:r>
            <a:r>
              <a:rPr sz="1750" spc="-5" dirty="0">
                <a:latin typeface="Arial"/>
                <a:cs typeface="Arial"/>
              </a:rPr>
              <a:t>.first().element()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b="1" spc="-5" dirty="0">
                <a:latin typeface="Arial"/>
                <a:cs typeface="Arial"/>
              </a:rPr>
              <a:t>then</a:t>
            </a:r>
            <a:endParaRPr sz="1750">
              <a:latin typeface="Arial"/>
              <a:cs typeface="Arial"/>
            </a:endParaRPr>
          </a:p>
          <a:p>
            <a:pPr marL="387350" marR="5532120" indent="-14604">
              <a:lnSpc>
                <a:spcPct val="138000"/>
              </a:lnSpc>
            </a:pPr>
            <a:r>
              <a:rPr sz="1750" i="1" spc="-20" dirty="0">
                <a:latin typeface="Arial"/>
                <a:cs typeface="Arial"/>
              </a:rPr>
              <a:t>S</a:t>
            </a:r>
            <a:r>
              <a:rPr sz="1750" spc="-20" dirty="0">
                <a:latin typeface="Arial"/>
                <a:cs typeface="Arial"/>
              </a:rPr>
              <a:t>.addLast(</a:t>
            </a:r>
            <a:r>
              <a:rPr sz="1750" i="1" spc="-20" dirty="0">
                <a:latin typeface="Arial"/>
                <a:cs typeface="Arial"/>
              </a:rPr>
              <a:t>S</a:t>
            </a:r>
            <a:r>
              <a:rPr sz="1500" spc="-30" baseline="-33333" dirty="0">
                <a:latin typeface="Arial"/>
                <a:cs typeface="Arial"/>
              </a:rPr>
              <a:t>1</a:t>
            </a:r>
            <a:r>
              <a:rPr sz="1750" spc="-20" dirty="0">
                <a:latin typeface="Arial"/>
                <a:cs typeface="Arial"/>
              </a:rPr>
              <a:t>.remove(</a:t>
            </a:r>
            <a:r>
              <a:rPr sz="1750" i="1" spc="-20" dirty="0">
                <a:latin typeface="Arial"/>
                <a:cs typeface="Arial"/>
              </a:rPr>
              <a:t>S</a:t>
            </a:r>
            <a:r>
              <a:rPr sz="1500" spc="-30" baseline="-33333" dirty="0">
                <a:latin typeface="Arial"/>
                <a:cs typeface="Arial"/>
              </a:rPr>
              <a:t>1</a:t>
            </a:r>
            <a:r>
              <a:rPr sz="1750" spc="-20" dirty="0">
                <a:latin typeface="Arial"/>
                <a:cs typeface="Arial"/>
              </a:rPr>
              <a:t>.first()))  </a:t>
            </a:r>
            <a:r>
              <a:rPr sz="1750" dirty="0">
                <a:latin typeface="Arial"/>
                <a:cs typeface="Arial"/>
              </a:rPr>
              <a:t> </a:t>
            </a:r>
            <a:r>
              <a:rPr sz="1750" i="1" spc="5" dirty="0">
                <a:latin typeface="Arial"/>
                <a:cs typeface="Arial"/>
              </a:rPr>
              <a:t>i </a:t>
            </a:r>
            <a:r>
              <a:rPr sz="1750" spc="30" dirty="0">
                <a:latin typeface="Symbol"/>
                <a:cs typeface="Symbol"/>
              </a:rPr>
              <a:t></a:t>
            </a:r>
            <a:r>
              <a:rPr sz="1750" spc="30" dirty="0">
                <a:latin typeface="Times New Roman"/>
                <a:cs typeface="Times New Roman"/>
              </a:rPr>
              <a:t> </a:t>
            </a:r>
            <a:r>
              <a:rPr sz="1750" i="1" spc="5" dirty="0">
                <a:latin typeface="Arial"/>
                <a:cs typeface="Arial"/>
              </a:rPr>
              <a:t>i </a:t>
            </a:r>
            <a:r>
              <a:rPr sz="1750" spc="15" dirty="0">
                <a:latin typeface="Symbol"/>
                <a:cs typeface="Symbol"/>
              </a:rPr>
              <a:t></a:t>
            </a:r>
            <a:r>
              <a:rPr sz="1750" spc="-315" dirty="0">
                <a:latin typeface="Times New Roman"/>
                <a:cs typeface="Times New Roman"/>
              </a:rPr>
              <a:t> </a:t>
            </a:r>
            <a:r>
              <a:rPr sz="1750" spc="15" dirty="0">
                <a:latin typeface="Arial"/>
                <a:cs typeface="Arial"/>
              </a:rPr>
              <a:t>1</a:t>
            </a:r>
            <a:endParaRPr sz="1750">
              <a:latin typeface="Arial"/>
              <a:cs typeface="Arial"/>
            </a:endParaRPr>
          </a:p>
          <a:p>
            <a:pPr marL="212725">
              <a:lnSpc>
                <a:spcPct val="100000"/>
              </a:lnSpc>
              <a:spcBef>
                <a:spcPts val="575"/>
              </a:spcBef>
            </a:pPr>
            <a:r>
              <a:rPr sz="1750" b="1" spc="-10" dirty="0">
                <a:latin typeface="Arial"/>
                <a:cs typeface="Arial"/>
              </a:rPr>
              <a:t>else</a:t>
            </a:r>
            <a:endParaRPr sz="1750">
              <a:latin typeface="Arial"/>
              <a:cs typeface="Arial"/>
            </a:endParaRPr>
          </a:p>
          <a:p>
            <a:pPr marL="372745">
              <a:lnSpc>
                <a:spcPct val="100000"/>
              </a:lnSpc>
              <a:spcBef>
                <a:spcPts val="575"/>
              </a:spcBef>
            </a:pPr>
            <a:r>
              <a:rPr sz="1750" i="1" spc="-5" dirty="0">
                <a:latin typeface="Arial"/>
                <a:cs typeface="Arial"/>
              </a:rPr>
              <a:t>S</a:t>
            </a:r>
            <a:r>
              <a:rPr sz="1750" spc="-5" dirty="0">
                <a:latin typeface="Arial"/>
                <a:cs typeface="Arial"/>
              </a:rPr>
              <a:t>.addLast(</a:t>
            </a:r>
            <a:r>
              <a:rPr sz="1750" i="1" spc="-5" dirty="0">
                <a:latin typeface="Arial"/>
                <a:cs typeface="Arial"/>
              </a:rPr>
              <a:t>S</a:t>
            </a:r>
            <a:r>
              <a:rPr sz="1500" spc="-7" baseline="-33333" dirty="0">
                <a:latin typeface="Arial"/>
                <a:cs typeface="Arial"/>
              </a:rPr>
              <a:t>2</a:t>
            </a:r>
            <a:r>
              <a:rPr sz="1750" spc="-5" dirty="0">
                <a:latin typeface="Arial"/>
                <a:cs typeface="Arial"/>
              </a:rPr>
              <a:t>.remove(</a:t>
            </a:r>
            <a:r>
              <a:rPr sz="1750" i="1" spc="-5" dirty="0">
                <a:latin typeface="Arial"/>
                <a:cs typeface="Arial"/>
              </a:rPr>
              <a:t>S</a:t>
            </a:r>
            <a:r>
              <a:rPr sz="1500" spc="-7" baseline="-33333" dirty="0">
                <a:latin typeface="Arial"/>
                <a:cs typeface="Arial"/>
              </a:rPr>
              <a:t>2</a:t>
            </a:r>
            <a:r>
              <a:rPr sz="1750" spc="-5" dirty="0">
                <a:latin typeface="Arial"/>
                <a:cs typeface="Arial"/>
              </a:rPr>
              <a:t>.first()))</a:t>
            </a:r>
            <a:endParaRPr sz="1750">
              <a:latin typeface="Arial"/>
              <a:cs typeface="Arial"/>
            </a:endParaRPr>
          </a:p>
          <a:p>
            <a:pPr marL="52069">
              <a:lnSpc>
                <a:spcPct val="100000"/>
              </a:lnSpc>
              <a:spcBef>
                <a:spcPts val="795"/>
              </a:spcBef>
            </a:pPr>
            <a:r>
              <a:rPr sz="1750" b="1" spc="5" dirty="0">
                <a:latin typeface="Arial"/>
                <a:cs typeface="Arial"/>
              </a:rPr>
              <a:t>while </a:t>
            </a:r>
            <a:r>
              <a:rPr sz="1750" i="1" spc="-35" dirty="0">
                <a:latin typeface="Arial"/>
                <a:cs typeface="Arial"/>
              </a:rPr>
              <a:t>S</a:t>
            </a:r>
            <a:r>
              <a:rPr sz="1500" spc="-52" baseline="-33333" dirty="0">
                <a:latin typeface="Arial"/>
                <a:cs typeface="Arial"/>
              </a:rPr>
              <a:t>1 </a:t>
            </a:r>
            <a:r>
              <a:rPr sz="1750" spc="285" dirty="0">
                <a:latin typeface="Symbol"/>
                <a:cs typeface="Symbol"/>
              </a:rPr>
              <a:t></a:t>
            </a:r>
            <a:r>
              <a:rPr sz="1750" spc="140" dirty="0">
                <a:latin typeface="Times New Roman"/>
                <a:cs typeface="Times New Roman"/>
              </a:rPr>
              <a:t> </a:t>
            </a:r>
            <a:r>
              <a:rPr sz="1750" b="1" spc="5" dirty="0">
                <a:latin typeface="Arial"/>
                <a:cs typeface="Arial"/>
              </a:rPr>
              <a:t>do</a:t>
            </a:r>
            <a:endParaRPr sz="1750">
              <a:latin typeface="Arial"/>
              <a:cs typeface="Arial"/>
            </a:endParaRPr>
          </a:p>
          <a:p>
            <a:pPr marL="203200">
              <a:lnSpc>
                <a:spcPct val="100000"/>
              </a:lnSpc>
              <a:spcBef>
                <a:spcPts val="800"/>
              </a:spcBef>
            </a:pPr>
            <a:r>
              <a:rPr sz="1750" i="1" spc="-20" dirty="0">
                <a:latin typeface="Arial"/>
                <a:cs typeface="Arial"/>
              </a:rPr>
              <a:t>S</a:t>
            </a:r>
            <a:r>
              <a:rPr sz="1750" spc="-20" dirty="0">
                <a:latin typeface="Arial"/>
                <a:cs typeface="Arial"/>
              </a:rPr>
              <a:t>.addLast(</a:t>
            </a:r>
            <a:r>
              <a:rPr sz="1750" i="1" spc="-20" dirty="0">
                <a:latin typeface="Arial"/>
                <a:cs typeface="Arial"/>
              </a:rPr>
              <a:t>S</a:t>
            </a:r>
            <a:r>
              <a:rPr sz="1500" spc="-30" baseline="-33333" dirty="0">
                <a:latin typeface="Arial"/>
                <a:cs typeface="Arial"/>
              </a:rPr>
              <a:t>1</a:t>
            </a:r>
            <a:r>
              <a:rPr sz="1750" spc="-20" dirty="0">
                <a:latin typeface="Arial"/>
                <a:cs typeface="Arial"/>
              </a:rPr>
              <a:t>.remove(</a:t>
            </a:r>
            <a:r>
              <a:rPr sz="1750" i="1" spc="-20" dirty="0">
                <a:latin typeface="Arial"/>
                <a:cs typeface="Arial"/>
              </a:rPr>
              <a:t>S</a:t>
            </a:r>
            <a:r>
              <a:rPr sz="1500" spc="-30" baseline="-33333" dirty="0">
                <a:latin typeface="Arial"/>
                <a:cs typeface="Arial"/>
              </a:rPr>
              <a:t>1</a:t>
            </a:r>
            <a:r>
              <a:rPr sz="1750" spc="-20" dirty="0">
                <a:latin typeface="Arial"/>
                <a:cs typeface="Arial"/>
              </a:rPr>
              <a:t>.first()))</a:t>
            </a:r>
            <a:endParaRPr sz="1750">
              <a:latin typeface="Arial"/>
              <a:cs typeface="Arial"/>
            </a:endParaRPr>
          </a:p>
          <a:p>
            <a:pPr marL="52069">
              <a:lnSpc>
                <a:spcPct val="100000"/>
              </a:lnSpc>
              <a:spcBef>
                <a:spcPts val="800"/>
              </a:spcBef>
            </a:pPr>
            <a:r>
              <a:rPr sz="1750" b="1" spc="5" dirty="0">
                <a:latin typeface="Arial"/>
                <a:cs typeface="Arial"/>
              </a:rPr>
              <a:t>while </a:t>
            </a:r>
            <a:r>
              <a:rPr sz="1750" i="1" spc="10" dirty="0">
                <a:latin typeface="Arial"/>
                <a:cs typeface="Arial"/>
              </a:rPr>
              <a:t>S</a:t>
            </a:r>
            <a:r>
              <a:rPr sz="1500" spc="15" baseline="-33333" dirty="0">
                <a:latin typeface="Arial"/>
                <a:cs typeface="Arial"/>
              </a:rPr>
              <a:t>2 </a:t>
            </a:r>
            <a:r>
              <a:rPr sz="1750" spc="285" dirty="0">
                <a:latin typeface="Symbol"/>
                <a:cs typeface="Symbol"/>
              </a:rPr>
              <a:t></a:t>
            </a:r>
            <a:r>
              <a:rPr sz="1750" spc="180" dirty="0">
                <a:latin typeface="Times New Roman"/>
                <a:cs typeface="Times New Roman"/>
              </a:rPr>
              <a:t> </a:t>
            </a:r>
            <a:r>
              <a:rPr sz="1750" b="1" spc="5" dirty="0">
                <a:latin typeface="Arial"/>
                <a:cs typeface="Arial"/>
              </a:rPr>
              <a:t>do</a:t>
            </a:r>
            <a:endParaRPr sz="1750">
              <a:latin typeface="Arial"/>
              <a:cs typeface="Arial"/>
            </a:endParaRPr>
          </a:p>
          <a:p>
            <a:pPr marL="203200">
              <a:lnSpc>
                <a:spcPct val="100000"/>
              </a:lnSpc>
              <a:spcBef>
                <a:spcPts val="795"/>
              </a:spcBef>
            </a:pPr>
            <a:r>
              <a:rPr sz="1750" i="1" spc="-5" dirty="0">
                <a:latin typeface="Arial"/>
                <a:cs typeface="Arial"/>
              </a:rPr>
              <a:t>S</a:t>
            </a:r>
            <a:r>
              <a:rPr sz="1750" spc="-5" dirty="0">
                <a:latin typeface="Arial"/>
                <a:cs typeface="Arial"/>
              </a:rPr>
              <a:t>.addLast(</a:t>
            </a:r>
            <a:r>
              <a:rPr sz="1750" i="1" spc="-5" dirty="0">
                <a:latin typeface="Arial"/>
                <a:cs typeface="Arial"/>
              </a:rPr>
              <a:t>S</a:t>
            </a:r>
            <a:r>
              <a:rPr sz="1500" spc="-7" baseline="-33333" dirty="0">
                <a:latin typeface="Arial"/>
                <a:cs typeface="Arial"/>
              </a:rPr>
              <a:t>2</a:t>
            </a:r>
            <a:r>
              <a:rPr sz="1750" spc="-5" dirty="0">
                <a:latin typeface="Arial"/>
                <a:cs typeface="Arial"/>
              </a:rPr>
              <a:t>.remove(</a:t>
            </a:r>
            <a:r>
              <a:rPr sz="1750" i="1" spc="-5" dirty="0">
                <a:latin typeface="Arial"/>
                <a:cs typeface="Arial"/>
              </a:rPr>
              <a:t>S</a:t>
            </a:r>
            <a:r>
              <a:rPr sz="1500" spc="-7" baseline="-33333" dirty="0">
                <a:latin typeface="Arial"/>
                <a:cs typeface="Arial"/>
              </a:rPr>
              <a:t>2</a:t>
            </a:r>
            <a:r>
              <a:rPr sz="1750" spc="-5" dirty="0">
                <a:latin typeface="Arial"/>
                <a:cs typeface="Arial"/>
              </a:rPr>
              <a:t>.first()))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28479" y="758520"/>
            <a:ext cx="300609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Merge-Sort</a:t>
            </a:r>
            <a:r>
              <a:rPr spc="-70" dirty="0"/>
              <a:t> </a:t>
            </a:r>
            <a:r>
              <a:rPr spc="-10" dirty="0"/>
              <a:t>Tree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1154519"/>
            <a:ext cx="7826375" cy="2590165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5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An execution of merge-sort is depicted by a binary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tree</a:t>
            </a:r>
            <a:endParaRPr sz="24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960"/>
              </a:spcBef>
              <a:buClr>
                <a:srgbClr val="2F5C00"/>
              </a:buClr>
              <a:buFont typeface="Wingdings"/>
              <a:buChar char=""/>
              <a:tabLst>
                <a:tab pos="755650" algn="l"/>
              </a:tabLst>
            </a:pPr>
            <a:r>
              <a:rPr sz="2000" spc="-5" dirty="0">
                <a:latin typeface="Arial"/>
                <a:cs typeface="Arial"/>
              </a:rPr>
              <a:t>each node represents a recursive call of merge-sort and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stores</a:t>
            </a:r>
            <a:endParaRPr sz="20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900"/>
              </a:spcBef>
            </a:pPr>
            <a:r>
              <a:rPr sz="1800" spc="2590" dirty="0">
                <a:solidFill>
                  <a:srgbClr val="0E2FFF"/>
                </a:solidFill>
                <a:latin typeface="Wingdings"/>
                <a:cs typeface="Wingdings"/>
              </a:rPr>
              <a:t></a:t>
            </a:r>
            <a:r>
              <a:rPr sz="1800" spc="-235" dirty="0">
                <a:solidFill>
                  <a:srgbClr val="0E2FFF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unsorted sequence before the execution and its </a:t>
            </a:r>
            <a:r>
              <a:rPr sz="1800" spc="-10" dirty="0">
                <a:latin typeface="Arial"/>
                <a:cs typeface="Arial"/>
              </a:rPr>
              <a:t>partition</a:t>
            </a:r>
            <a:endParaRPr sz="18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840"/>
              </a:spcBef>
            </a:pPr>
            <a:r>
              <a:rPr sz="1800" spc="2590" dirty="0">
                <a:solidFill>
                  <a:srgbClr val="0E2FFF"/>
                </a:solidFill>
                <a:latin typeface="Wingdings"/>
                <a:cs typeface="Wingdings"/>
              </a:rPr>
              <a:t></a:t>
            </a:r>
            <a:r>
              <a:rPr sz="1800" spc="-225" dirty="0">
                <a:solidFill>
                  <a:srgbClr val="0E2FFF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sorted sequence at the end of the </a:t>
            </a:r>
            <a:r>
              <a:rPr sz="1800" spc="-10" dirty="0">
                <a:latin typeface="Arial"/>
                <a:cs typeface="Arial"/>
              </a:rPr>
              <a:t>execution</a:t>
            </a:r>
            <a:endParaRPr sz="18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940"/>
              </a:spcBef>
              <a:buClr>
                <a:srgbClr val="2F5C00"/>
              </a:buClr>
              <a:buFont typeface="Wingdings"/>
              <a:buChar char=""/>
              <a:tabLst>
                <a:tab pos="755650" algn="l"/>
              </a:tabLst>
            </a:pPr>
            <a:r>
              <a:rPr sz="2000" spc="-5" dirty="0">
                <a:latin typeface="Arial"/>
                <a:cs typeface="Arial"/>
              </a:rPr>
              <a:t>the root is the initial</a:t>
            </a:r>
            <a:r>
              <a:rPr sz="2000" spc="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call</a:t>
            </a:r>
            <a:endParaRPr sz="20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1000"/>
              </a:spcBef>
              <a:buClr>
                <a:srgbClr val="2F5C00"/>
              </a:buClr>
              <a:buFont typeface="Wingdings"/>
              <a:buChar char=""/>
              <a:tabLst>
                <a:tab pos="755650" algn="l"/>
              </a:tabLst>
            </a:pPr>
            <a:r>
              <a:rPr sz="2000" spc="-5" dirty="0">
                <a:latin typeface="Arial"/>
                <a:cs typeface="Arial"/>
              </a:rPr>
              <a:t>the leaves are calls on subsequences of size 0 or</a:t>
            </a:r>
            <a:r>
              <a:rPr sz="2000" spc="2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190875" y="4257675"/>
            <a:ext cx="3676650" cy="628650"/>
            <a:chOff x="3190875" y="4257675"/>
            <a:chExt cx="3676650" cy="628650"/>
          </a:xfrm>
        </p:grpSpPr>
        <p:sp>
          <p:nvSpPr>
            <p:cNvPr id="6" name="object 6"/>
            <p:cNvSpPr/>
            <p:nvPr/>
          </p:nvSpPr>
          <p:spPr>
            <a:xfrm>
              <a:off x="3200400" y="4267200"/>
              <a:ext cx="3657600" cy="609600"/>
            </a:xfrm>
            <a:custGeom>
              <a:avLst/>
              <a:gdLst/>
              <a:ahLst/>
              <a:cxnLst/>
              <a:rect l="l" t="t" r="r" b="b"/>
              <a:pathLst>
                <a:path w="3657600" h="609600">
                  <a:moveTo>
                    <a:pt x="0" y="101600"/>
                  </a:moveTo>
                  <a:lnTo>
                    <a:pt x="0" y="508000"/>
                  </a:lnTo>
                  <a:lnTo>
                    <a:pt x="7984" y="547545"/>
                  </a:lnTo>
                  <a:lnTo>
                    <a:pt x="29759" y="579840"/>
                  </a:lnTo>
                  <a:lnTo>
                    <a:pt x="62054" y="601615"/>
                  </a:lnTo>
                  <a:lnTo>
                    <a:pt x="101600" y="609600"/>
                  </a:lnTo>
                  <a:lnTo>
                    <a:pt x="3556000" y="609600"/>
                  </a:lnTo>
                  <a:lnTo>
                    <a:pt x="3595545" y="601615"/>
                  </a:lnTo>
                  <a:lnTo>
                    <a:pt x="3627840" y="579840"/>
                  </a:lnTo>
                  <a:lnTo>
                    <a:pt x="3649615" y="547545"/>
                  </a:lnTo>
                  <a:lnTo>
                    <a:pt x="3657600" y="508000"/>
                  </a:lnTo>
                  <a:lnTo>
                    <a:pt x="3657600" y="101600"/>
                  </a:lnTo>
                  <a:lnTo>
                    <a:pt x="3649615" y="62054"/>
                  </a:lnTo>
                  <a:lnTo>
                    <a:pt x="3627840" y="29759"/>
                  </a:lnTo>
                  <a:lnTo>
                    <a:pt x="3595545" y="7984"/>
                  </a:lnTo>
                  <a:lnTo>
                    <a:pt x="3556000" y="0"/>
                  </a:lnTo>
                  <a:lnTo>
                    <a:pt x="101599" y="0"/>
                  </a:lnTo>
                  <a:lnTo>
                    <a:pt x="62054" y="7984"/>
                  </a:lnTo>
                  <a:lnTo>
                    <a:pt x="29759" y="29759"/>
                  </a:lnTo>
                  <a:lnTo>
                    <a:pt x="7984" y="62054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00400" y="4267200"/>
              <a:ext cx="3657600" cy="609600"/>
            </a:xfrm>
            <a:custGeom>
              <a:avLst/>
              <a:gdLst/>
              <a:ahLst/>
              <a:cxnLst/>
              <a:rect l="l" t="t" r="r" b="b"/>
              <a:pathLst>
                <a:path w="3657600" h="609600">
                  <a:moveTo>
                    <a:pt x="0" y="101600"/>
                  </a:moveTo>
                  <a:lnTo>
                    <a:pt x="7984" y="62054"/>
                  </a:lnTo>
                  <a:lnTo>
                    <a:pt x="29759" y="29759"/>
                  </a:lnTo>
                  <a:lnTo>
                    <a:pt x="62054" y="7984"/>
                  </a:lnTo>
                  <a:lnTo>
                    <a:pt x="101599" y="0"/>
                  </a:lnTo>
                  <a:lnTo>
                    <a:pt x="3555987" y="0"/>
                  </a:lnTo>
                  <a:lnTo>
                    <a:pt x="3595538" y="7984"/>
                  </a:lnTo>
                  <a:lnTo>
                    <a:pt x="3627832" y="29759"/>
                  </a:lnTo>
                  <a:lnTo>
                    <a:pt x="3649604" y="62054"/>
                  </a:lnTo>
                  <a:lnTo>
                    <a:pt x="3657587" y="101600"/>
                  </a:lnTo>
                  <a:lnTo>
                    <a:pt x="3657587" y="508000"/>
                  </a:lnTo>
                  <a:lnTo>
                    <a:pt x="3649604" y="547545"/>
                  </a:lnTo>
                  <a:lnTo>
                    <a:pt x="3627832" y="579840"/>
                  </a:lnTo>
                  <a:lnTo>
                    <a:pt x="3595538" y="601615"/>
                  </a:lnTo>
                  <a:lnTo>
                    <a:pt x="3555987" y="609600"/>
                  </a:lnTo>
                  <a:lnTo>
                    <a:pt x="101600" y="609600"/>
                  </a:lnTo>
                  <a:lnTo>
                    <a:pt x="62054" y="601615"/>
                  </a:lnTo>
                  <a:lnTo>
                    <a:pt x="29759" y="579840"/>
                  </a:lnTo>
                  <a:lnTo>
                    <a:pt x="7984" y="547545"/>
                  </a:lnTo>
                  <a:lnTo>
                    <a:pt x="0" y="508000"/>
                  </a:lnTo>
                  <a:lnTo>
                    <a:pt x="0" y="1016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308896" y="4422140"/>
            <a:ext cx="2349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6700" algn="l"/>
                <a:tab pos="821055" algn="l"/>
                <a:tab pos="1445895" algn="l"/>
                <a:tab pos="1700530" algn="l"/>
                <a:tab pos="1954530" algn="l"/>
                <a:tab pos="2208530" algn="l"/>
              </a:tabLst>
            </a:pPr>
            <a:r>
              <a:rPr sz="1800" spc="-5" dirty="0">
                <a:solidFill>
                  <a:srgbClr val="FCF2DA"/>
                </a:solidFill>
                <a:latin typeface="Arial"/>
                <a:cs typeface="Arial"/>
              </a:rPr>
              <a:t>7	2 </a:t>
            </a:r>
            <a:r>
              <a:rPr sz="1800" b="1" spc="-5" dirty="0">
                <a:solidFill>
                  <a:srgbClr val="FCF2DA"/>
                </a:solidFill>
                <a:latin typeface="Symbol"/>
                <a:cs typeface="Symbol"/>
              </a:rPr>
              <a:t></a:t>
            </a:r>
            <a:r>
              <a:rPr sz="1800" b="1" spc="55" dirty="0">
                <a:solidFill>
                  <a:srgbClr val="FCF2DA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CF2DA"/>
                </a:solidFill>
                <a:latin typeface="Arial"/>
                <a:cs typeface="Arial"/>
              </a:rPr>
              <a:t>9	4 </a:t>
            </a:r>
            <a:r>
              <a:rPr sz="1800" spc="5" dirty="0">
                <a:solidFill>
                  <a:srgbClr val="FCF2DA"/>
                </a:solidFill>
                <a:latin typeface="Arial"/>
                <a:cs typeface="Arial"/>
              </a:rPr>
              <a:t> </a:t>
            </a:r>
            <a:r>
              <a:rPr sz="1800" b="1" spc="3450" dirty="0">
                <a:solidFill>
                  <a:srgbClr val="FCF2DA"/>
                </a:solidFill>
                <a:latin typeface="Wingdings"/>
                <a:cs typeface="Wingdings"/>
              </a:rPr>
              <a:t>€</a:t>
            </a:r>
            <a:r>
              <a:rPr sz="1800" spc="3450" dirty="0">
                <a:solidFill>
                  <a:srgbClr val="FCF2DA"/>
                </a:solidFill>
                <a:latin typeface="Times New Roman"/>
                <a:cs typeface="Times New Roman"/>
              </a:rPr>
              <a:t>	</a:t>
            </a:r>
            <a:r>
              <a:rPr sz="1800" spc="-5" dirty="0">
                <a:solidFill>
                  <a:srgbClr val="FCF2DA"/>
                </a:solidFill>
                <a:latin typeface="Arial"/>
                <a:cs typeface="Arial"/>
              </a:rPr>
              <a:t>2	4	7	9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428875" y="5172062"/>
            <a:ext cx="2152650" cy="628650"/>
            <a:chOff x="2428875" y="5172062"/>
            <a:chExt cx="2152650" cy="628650"/>
          </a:xfrm>
        </p:grpSpPr>
        <p:sp>
          <p:nvSpPr>
            <p:cNvPr id="10" name="object 10"/>
            <p:cNvSpPr/>
            <p:nvPr/>
          </p:nvSpPr>
          <p:spPr>
            <a:xfrm>
              <a:off x="2438400" y="5181599"/>
              <a:ext cx="2133600" cy="609600"/>
            </a:xfrm>
            <a:custGeom>
              <a:avLst/>
              <a:gdLst/>
              <a:ahLst/>
              <a:cxnLst/>
              <a:rect l="l" t="t" r="r" b="b"/>
              <a:pathLst>
                <a:path w="2133600" h="609600">
                  <a:moveTo>
                    <a:pt x="0" y="101600"/>
                  </a:moveTo>
                  <a:lnTo>
                    <a:pt x="0" y="508000"/>
                  </a:lnTo>
                  <a:lnTo>
                    <a:pt x="7984" y="547545"/>
                  </a:lnTo>
                  <a:lnTo>
                    <a:pt x="29759" y="579840"/>
                  </a:lnTo>
                  <a:lnTo>
                    <a:pt x="62054" y="601615"/>
                  </a:lnTo>
                  <a:lnTo>
                    <a:pt x="101600" y="609600"/>
                  </a:lnTo>
                  <a:lnTo>
                    <a:pt x="2032000" y="609600"/>
                  </a:lnTo>
                  <a:lnTo>
                    <a:pt x="2071545" y="601615"/>
                  </a:lnTo>
                  <a:lnTo>
                    <a:pt x="2103840" y="579840"/>
                  </a:lnTo>
                  <a:lnTo>
                    <a:pt x="2125615" y="547545"/>
                  </a:lnTo>
                  <a:lnTo>
                    <a:pt x="2133600" y="508000"/>
                  </a:lnTo>
                  <a:lnTo>
                    <a:pt x="2133600" y="101599"/>
                  </a:lnTo>
                  <a:lnTo>
                    <a:pt x="2125615" y="62054"/>
                  </a:lnTo>
                  <a:lnTo>
                    <a:pt x="2103840" y="29759"/>
                  </a:lnTo>
                  <a:lnTo>
                    <a:pt x="2071545" y="7984"/>
                  </a:lnTo>
                  <a:lnTo>
                    <a:pt x="2032000" y="0"/>
                  </a:lnTo>
                  <a:lnTo>
                    <a:pt x="101599" y="0"/>
                  </a:lnTo>
                  <a:lnTo>
                    <a:pt x="62054" y="7984"/>
                  </a:lnTo>
                  <a:lnTo>
                    <a:pt x="29759" y="29759"/>
                  </a:lnTo>
                  <a:lnTo>
                    <a:pt x="7984" y="62054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438400" y="5181587"/>
              <a:ext cx="2133600" cy="609600"/>
            </a:xfrm>
            <a:custGeom>
              <a:avLst/>
              <a:gdLst/>
              <a:ahLst/>
              <a:cxnLst/>
              <a:rect l="l" t="t" r="r" b="b"/>
              <a:pathLst>
                <a:path w="2133600" h="609600">
                  <a:moveTo>
                    <a:pt x="0" y="101600"/>
                  </a:moveTo>
                  <a:lnTo>
                    <a:pt x="7984" y="62054"/>
                  </a:lnTo>
                  <a:lnTo>
                    <a:pt x="29759" y="29759"/>
                  </a:lnTo>
                  <a:lnTo>
                    <a:pt x="62054" y="7984"/>
                  </a:lnTo>
                  <a:lnTo>
                    <a:pt x="101599" y="0"/>
                  </a:lnTo>
                  <a:lnTo>
                    <a:pt x="2032000" y="0"/>
                  </a:lnTo>
                  <a:lnTo>
                    <a:pt x="2071545" y="7984"/>
                  </a:lnTo>
                  <a:lnTo>
                    <a:pt x="2103840" y="29759"/>
                  </a:lnTo>
                  <a:lnTo>
                    <a:pt x="2125615" y="62054"/>
                  </a:lnTo>
                  <a:lnTo>
                    <a:pt x="2133600" y="101600"/>
                  </a:lnTo>
                  <a:lnTo>
                    <a:pt x="2133600" y="508000"/>
                  </a:lnTo>
                  <a:lnTo>
                    <a:pt x="2125615" y="547545"/>
                  </a:lnTo>
                  <a:lnTo>
                    <a:pt x="2103840" y="579840"/>
                  </a:lnTo>
                  <a:lnTo>
                    <a:pt x="2071545" y="601615"/>
                  </a:lnTo>
                  <a:lnTo>
                    <a:pt x="2032000" y="609600"/>
                  </a:lnTo>
                  <a:lnTo>
                    <a:pt x="101600" y="609600"/>
                  </a:lnTo>
                  <a:lnTo>
                    <a:pt x="62054" y="601615"/>
                  </a:lnTo>
                  <a:lnTo>
                    <a:pt x="29759" y="579840"/>
                  </a:lnTo>
                  <a:lnTo>
                    <a:pt x="7984" y="547545"/>
                  </a:lnTo>
                  <a:lnTo>
                    <a:pt x="0" y="508000"/>
                  </a:lnTo>
                  <a:lnTo>
                    <a:pt x="0" y="1016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546896" y="5336540"/>
            <a:ext cx="1332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37894" algn="l"/>
                <a:tab pos="1191895" algn="l"/>
              </a:tabLst>
            </a:pPr>
            <a:r>
              <a:rPr sz="1800" spc="-5" dirty="0">
                <a:solidFill>
                  <a:srgbClr val="FCF2DA"/>
                </a:solidFill>
                <a:latin typeface="Arial"/>
                <a:cs typeface="Arial"/>
              </a:rPr>
              <a:t>7 </a:t>
            </a:r>
            <a:r>
              <a:rPr sz="1800" b="1" spc="-5" dirty="0">
                <a:solidFill>
                  <a:srgbClr val="FCF2DA"/>
                </a:solidFill>
                <a:latin typeface="Symbol"/>
                <a:cs typeface="Symbol"/>
              </a:rPr>
              <a:t></a:t>
            </a:r>
            <a:r>
              <a:rPr sz="1800" spc="50" dirty="0">
                <a:solidFill>
                  <a:srgbClr val="FCF2DA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CF2DA"/>
                </a:solidFill>
                <a:latin typeface="Arial"/>
                <a:cs typeface="Arial"/>
              </a:rPr>
              <a:t>2</a:t>
            </a:r>
            <a:r>
              <a:rPr sz="1800" dirty="0">
                <a:solidFill>
                  <a:srgbClr val="FCF2DA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CF2DA"/>
                </a:solidFill>
                <a:latin typeface="Arial"/>
                <a:cs typeface="Arial"/>
              </a:rPr>
              <a:t> </a:t>
            </a:r>
            <a:r>
              <a:rPr sz="1800" b="1" spc="3450" dirty="0">
                <a:solidFill>
                  <a:srgbClr val="FCF2DA"/>
                </a:solidFill>
                <a:latin typeface="Wingdings"/>
                <a:cs typeface="Wingdings"/>
              </a:rPr>
              <a:t>€</a:t>
            </a:r>
            <a:r>
              <a:rPr sz="1800" dirty="0">
                <a:solidFill>
                  <a:srgbClr val="FCF2DA"/>
                </a:solidFill>
                <a:latin typeface="Times New Roman"/>
                <a:cs typeface="Times New Roman"/>
              </a:rPr>
              <a:t>	</a:t>
            </a:r>
            <a:r>
              <a:rPr sz="1800" spc="-5" dirty="0">
                <a:solidFill>
                  <a:srgbClr val="FCF2DA"/>
                </a:solidFill>
                <a:latin typeface="Arial"/>
                <a:cs typeface="Arial"/>
              </a:rPr>
              <a:t>2</a:t>
            </a:r>
            <a:r>
              <a:rPr sz="1800" dirty="0">
                <a:solidFill>
                  <a:srgbClr val="FCF2DA"/>
                </a:solidFill>
                <a:latin typeface="Arial"/>
                <a:cs typeface="Arial"/>
              </a:rPr>
              <a:t>	</a:t>
            </a:r>
            <a:r>
              <a:rPr sz="1800" spc="-5" dirty="0">
                <a:solidFill>
                  <a:srgbClr val="FCF2DA"/>
                </a:solidFill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476862" y="5172062"/>
            <a:ext cx="2152650" cy="628650"/>
            <a:chOff x="5476862" y="5172062"/>
            <a:chExt cx="2152650" cy="628650"/>
          </a:xfrm>
        </p:grpSpPr>
        <p:sp>
          <p:nvSpPr>
            <p:cNvPr id="14" name="object 14"/>
            <p:cNvSpPr/>
            <p:nvPr/>
          </p:nvSpPr>
          <p:spPr>
            <a:xfrm>
              <a:off x="5486399" y="5181599"/>
              <a:ext cx="2133600" cy="609600"/>
            </a:xfrm>
            <a:custGeom>
              <a:avLst/>
              <a:gdLst/>
              <a:ahLst/>
              <a:cxnLst/>
              <a:rect l="l" t="t" r="r" b="b"/>
              <a:pathLst>
                <a:path w="2133600" h="609600">
                  <a:moveTo>
                    <a:pt x="0" y="101600"/>
                  </a:moveTo>
                  <a:lnTo>
                    <a:pt x="0" y="508000"/>
                  </a:lnTo>
                  <a:lnTo>
                    <a:pt x="7984" y="547545"/>
                  </a:lnTo>
                  <a:lnTo>
                    <a:pt x="29759" y="579840"/>
                  </a:lnTo>
                  <a:lnTo>
                    <a:pt x="62054" y="601615"/>
                  </a:lnTo>
                  <a:lnTo>
                    <a:pt x="101600" y="609600"/>
                  </a:lnTo>
                  <a:lnTo>
                    <a:pt x="2032000" y="609600"/>
                  </a:lnTo>
                  <a:lnTo>
                    <a:pt x="2071545" y="601615"/>
                  </a:lnTo>
                  <a:lnTo>
                    <a:pt x="2103840" y="579840"/>
                  </a:lnTo>
                  <a:lnTo>
                    <a:pt x="2125615" y="547545"/>
                  </a:lnTo>
                  <a:lnTo>
                    <a:pt x="2133600" y="508000"/>
                  </a:lnTo>
                  <a:lnTo>
                    <a:pt x="2133600" y="101599"/>
                  </a:lnTo>
                  <a:lnTo>
                    <a:pt x="2125615" y="62054"/>
                  </a:lnTo>
                  <a:lnTo>
                    <a:pt x="2103840" y="29759"/>
                  </a:lnTo>
                  <a:lnTo>
                    <a:pt x="2071545" y="7984"/>
                  </a:lnTo>
                  <a:lnTo>
                    <a:pt x="2032000" y="0"/>
                  </a:lnTo>
                  <a:lnTo>
                    <a:pt x="101599" y="0"/>
                  </a:lnTo>
                  <a:lnTo>
                    <a:pt x="62054" y="7984"/>
                  </a:lnTo>
                  <a:lnTo>
                    <a:pt x="29759" y="29759"/>
                  </a:lnTo>
                  <a:lnTo>
                    <a:pt x="7984" y="62054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486387" y="5181587"/>
              <a:ext cx="2133600" cy="609600"/>
            </a:xfrm>
            <a:custGeom>
              <a:avLst/>
              <a:gdLst/>
              <a:ahLst/>
              <a:cxnLst/>
              <a:rect l="l" t="t" r="r" b="b"/>
              <a:pathLst>
                <a:path w="2133600" h="609600">
                  <a:moveTo>
                    <a:pt x="0" y="101600"/>
                  </a:moveTo>
                  <a:lnTo>
                    <a:pt x="7984" y="62054"/>
                  </a:lnTo>
                  <a:lnTo>
                    <a:pt x="29759" y="29759"/>
                  </a:lnTo>
                  <a:lnTo>
                    <a:pt x="62054" y="7984"/>
                  </a:lnTo>
                  <a:lnTo>
                    <a:pt x="101599" y="0"/>
                  </a:lnTo>
                  <a:lnTo>
                    <a:pt x="2032000" y="0"/>
                  </a:lnTo>
                  <a:lnTo>
                    <a:pt x="2071545" y="7984"/>
                  </a:lnTo>
                  <a:lnTo>
                    <a:pt x="2103840" y="29759"/>
                  </a:lnTo>
                  <a:lnTo>
                    <a:pt x="2125615" y="62054"/>
                  </a:lnTo>
                  <a:lnTo>
                    <a:pt x="2133600" y="101599"/>
                  </a:lnTo>
                  <a:lnTo>
                    <a:pt x="2133600" y="507999"/>
                  </a:lnTo>
                  <a:lnTo>
                    <a:pt x="2125615" y="547545"/>
                  </a:lnTo>
                  <a:lnTo>
                    <a:pt x="2103840" y="579840"/>
                  </a:lnTo>
                  <a:lnTo>
                    <a:pt x="2071545" y="601615"/>
                  </a:lnTo>
                  <a:lnTo>
                    <a:pt x="2032000" y="609599"/>
                  </a:lnTo>
                  <a:lnTo>
                    <a:pt x="101600" y="609600"/>
                  </a:lnTo>
                  <a:lnTo>
                    <a:pt x="62054" y="601615"/>
                  </a:lnTo>
                  <a:lnTo>
                    <a:pt x="29759" y="579840"/>
                  </a:lnTo>
                  <a:lnTo>
                    <a:pt x="7984" y="547545"/>
                  </a:lnTo>
                  <a:lnTo>
                    <a:pt x="0" y="508000"/>
                  </a:lnTo>
                  <a:lnTo>
                    <a:pt x="0" y="1016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594896" y="5336540"/>
            <a:ext cx="1433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38860" algn="l"/>
                <a:tab pos="1293495" algn="l"/>
              </a:tabLst>
            </a:pPr>
            <a:r>
              <a:rPr sz="1800" spc="-5" dirty="0">
                <a:solidFill>
                  <a:srgbClr val="FCF2DA"/>
                </a:solidFill>
                <a:latin typeface="Arial"/>
                <a:cs typeface="Arial"/>
              </a:rPr>
              <a:t>9 </a:t>
            </a:r>
            <a:r>
              <a:rPr sz="1800" b="1" spc="-5" dirty="0">
                <a:solidFill>
                  <a:srgbClr val="FCF2DA"/>
                </a:solidFill>
                <a:latin typeface="Symbol"/>
                <a:cs typeface="Symbol"/>
              </a:rPr>
              <a:t></a:t>
            </a:r>
            <a:r>
              <a:rPr sz="1800" b="1" spc="60" dirty="0">
                <a:solidFill>
                  <a:srgbClr val="FCF2DA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CF2DA"/>
                </a:solidFill>
                <a:latin typeface="Arial"/>
                <a:cs typeface="Arial"/>
              </a:rPr>
              <a:t>4 </a:t>
            </a:r>
            <a:r>
              <a:rPr sz="1800" spc="10" dirty="0">
                <a:solidFill>
                  <a:srgbClr val="FCF2DA"/>
                </a:solidFill>
                <a:latin typeface="Arial"/>
                <a:cs typeface="Arial"/>
              </a:rPr>
              <a:t> </a:t>
            </a:r>
            <a:r>
              <a:rPr sz="1800" b="1" spc="3450" dirty="0">
                <a:solidFill>
                  <a:srgbClr val="FCF2DA"/>
                </a:solidFill>
                <a:latin typeface="Wingdings"/>
                <a:cs typeface="Wingdings"/>
              </a:rPr>
              <a:t>€</a:t>
            </a:r>
            <a:r>
              <a:rPr sz="1800" spc="3450" dirty="0">
                <a:solidFill>
                  <a:srgbClr val="FCF2DA"/>
                </a:solidFill>
                <a:latin typeface="Times New Roman"/>
                <a:cs typeface="Times New Roman"/>
              </a:rPr>
              <a:t>	</a:t>
            </a:r>
            <a:r>
              <a:rPr sz="1800" spc="-5" dirty="0">
                <a:solidFill>
                  <a:srgbClr val="FCF2DA"/>
                </a:solidFill>
                <a:latin typeface="Arial"/>
                <a:cs typeface="Arial"/>
              </a:rPr>
              <a:t>4	9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314575" y="6086462"/>
            <a:ext cx="1047750" cy="628650"/>
            <a:chOff x="2314575" y="6086462"/>
            <a:chExt cx="1047750" cy="628650"/>
          </a:xfrm>
        </p:grpSpPr>
        <p:sp>
          <p:nvSpPr>
            <p:cNvPr id="18" name="object 18"/>
            <p:cNvSpPr/>
            <p:nvPr/>
          </p:nvSpPr>
          <p:spPr>
            <a:xfrm>
              <a:off x="2324100" y="6095999"/>
              <a:ext cx="1028700" cy="609600"/>
            </a:xfrm>
            <a:custGeom>
              <a:avLst/>
              <a:gdLst/>
              <a:ahLst/>
              <a:cxnLst/>
              <a:rect l="l" t="t" r="r" b="b"/>
              <a:pathLst>
                <a:path w="1028700" h="609600">
                  <a:moveTo>
                    <a:pt x="0" y="101600"/>
                  </a:moveTo>
                  <a:lnTo>
                    <a:pt x="0" y="508000"/>
                  </a:lnTo>
                  <a:lnTo>
                    <a:pt x="7984" y="547545"/>
                  </a:lnTo>
                  <a:lnTo>
                    <a:pt x="29759" y="579840"/>
                  </a:lnTo>
                  <a:lnTo>
                    <a:pt x="62054" y="601615"/>
                  </a:lnTo>
                  <a:lnTo>
                    <a:pt x="101600" y="609600"/>
                  </a:lnTo>
                  <a:lnTo>
                    <a:pt x="927100" y="609600"/>
                  </a:lnTo>
                  <a:lnTo>
                    <a:pt x="966645" y="601615"/>
                  </a:lnTo>
                  <a:lnTo>
                    <a:pt x="998940" y="579840"/>
                  </a:lnTo>
                  <a:lnTo>
                    <a:pt x="1020715" y="547545"/>
                  </a:lnTo>
                  <a:lnTo>
                    <a:pt x="1028700" y="508000"/>
                  </a:lnTo>
                  <a:lnTo>
                    <a:pt x="1028700" y="101600"/>
                  </a:lnTo>
                  <a:lnTo>
                    <a:pt x="1020715" y="62054"/>
                  </a:lnTo>
                  <a:lnTo>
                    <a:pt x="998940" y="29759"/>
                  </a:lnTo>
                  <a:lnTo>
                    <a:pt x="966645" y="7984"/>
                  </a:lnTo>
                  <a:lnTo>
                    <a:pt x="927100" y="0"/>
                  </a:lnTo>
                  <a:lnTo>
                    <a:pt x="101599" y="0"/>
                  </a:lnTo>
                  <a:lnTo>
                    <a:pt x="62054" y="7984"/>
                  </a:lnTo>
                  <a:lnTo>
                    <a:pt x="29759" y="29759"/>
                  </a:lnTo>
                  <a:lnTo>
                    <a:pt x="7984" y="62054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AA7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324100" y="6095987"/>
              <a:ext cx="1028700" cy="609600"/>
            </a:xfrm>
            <a:custGeom>
              <a:avLst/>
              <a:gdLst/>
              <a:ahLst/>
              <a:cxnLst/>
              <a:rect l="l" t="t" r="r" b="b"/>
              <a:pathLst>
                <a:path w="1028700" h="609600">
                  <a:moveTo>
                    <a:pt x="0" y="101600"/>
                  </a:moveTo>
                  <a:lnTo>
                    <a:pt x="7984" y="62054"/>
                  </a:lnTo>
                  <a:lnTo>
                    <a:pt x="29759" y="29759"/>
                  </a:lnTo>
                  <a:lnTo>
                    <a:pt x="62054" y="7984"/>
                  </a:lnTo>
                  <a:lnTo>
                    <a:pt x="101599" y="0"/>
                  </a:lnTo>
                  <a:lnTo>
                    <a:pt x="927100" y="0"/>
                  </a:lnTo>
                  <a:lnTo>
                    <a:pt x="966645" y="7984"/>
                  </a:lnTo>
                  <a:lnTo>
                    <a:pt x="998940" y="29759"/>
                  </a:lnTo>
                  <a:lnTo>
                    <a:pt x="1020715" y="62054"/>
                  </a:lnTo>
                  <a:lnTo>
                    <a:pt x="1028700" y="101599"/>
                  </a:lnTo>
                  <a:lnTo>
                    <a:pt x="1028700" y="507999"/>
                  </a:lnTo>
                  <a:lnTo>
                    <a:pt x="1020715" y="547545"/>
                  </a:lnTo>
                  <a:lnTo>
                    <a:pt x="998940" y="579840"/>
                  </a:lnTo>
                  <a:lnTo>
                    <a:pt x="966645" y="601615"/>
                  </a:lnTo>
                  <a:lnTo>
                    <a:pt x="927100" y="609599"/>
                  </a:lnTo>
                  <a:lnTo>
                    <a:pt x="101600" y="609600"/>
                  </a:lnTo>
                  <a:lnTo>
                    <a:pt x="62054" y="601615"/>
                  </a:lnTo>
                  <a:lnTo>
                    <a:pt x="29759" y="579840"/>
                  </a:lnTo>
                  <a:lnTo>
                    <a:pt x="7984" y="547545"/>
                  </a:lnTo>
                  <a:lnTo>
                    <a:pt x="0" y="508000"/>
                  </a:lnTo>
                  <a:lnTo>
                    <a:pt x="0" y="1016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432596" y="6250940"/>
            <a:ext cx="650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CF2DA"/>
                </a:solidFill>
                <a:latin typeface="Arial"/>
                <a:cs typeface="Arial"/>
              </a:rPr>
              <a:t>7</a:t>
            </a:r>
            <a:r>
              <a:rPr sz="1800" spc="-80" dirty="0">
                <a:solidFill>
                  <a:srgbClr val="FCF2DA"/>
                </a:solidFill>
                <a:latin typeface="Arial"/>
                <a:cs typeface="Arial"/>
              </a:rPr>
              <a:t> </a:t>
            </a:r>
            <a:r>
              <a:rPr sz="1800" b="1" spc="1664" dirty="0">
                <a:solidFill>
                  <a:srgbClr val="FCF2DA"/>
                </a:solidFill>
                <a:latin typeface="Wingdings"/>
                <a:cs typeface="Wingdings"/>
              </a:rPr>
              <a:t>€</a:t>
            </a:r>
            <a:r>
              <a:rPr sz="1800" b="1" spc="1664" dirty="0">
                <a:solidFill>
                  <a:srgbClr val="FCF2DA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CF2DA"/>
                </a:solidFill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724262" y="6086462"/>
            <a:ext cx="1009650" cy="628650"/>
            <a:chOff x="3724262" y="6086462"/>
            <a:chExt cx="1009650" cy="628650"/>
          </a:xfrm>
        </p:grpSpPr>
        <p:sp>
          <p:nvSpPr>
            <p:cNvPr id="22" name="object 22"/>
            <p:cNvSpPr/>
            <p:nvPr/>
          </p:nvSpPr>
          <p:spPr>
            <a:xfrm>
              <a:off x="3733799" y="6095999"/>
              <a:ext cx="990600" cy="609600"/>
            </a:xfrm>
            <a:custGeom>
              <a:avLst/>
              <a:gdLst/>
              <a:ahLst/>
              <a:cxnLst/>
              <a:rect l="l" t="t" r="r" b="b"/>
              <a:pathLst>
                <a:path w="990600" h="609600">
                  <a:moveTo>
                    <a:pt x="0" y="101600"/>
                  </a:moveTo>
                  <a:lnTo>
                    <a:pt x="0" y="508000"/>
                  </a:lnTo>
                  <a:lnTo>
                    <a:pt x="7984" y="547545"/>
                  </a:lnTo>
                  <a:lnTo>
                    <a:pt x="29759" y="579840"/>
                  </a:lnTo>
                  <a:lnTo>
                    <a:pt x="62054" y="601615"/>
                  </a:lnTo>
                  <a:lnTo>
                    <a:pt x="101600" y="609600"/>
                  </a:lnTo>
                  <a:lnTo>
                    <a:pt x="889000" y="609599"/>
                  </a:lnTo>
                  <a:lnTo>
                    <a:pt x="928545" y="601615"/>
                  </a:lnTo>
                  <a:lnTo>
                    <a:pt x="960840" y="579840"/>
                  </a:lnTo>
                  <a:lnTo>
                    <a:pt x="982615" y="547545"/>
                  </a:lnTo>
                  <a:lnTo>
                    <a:pt x="990600" y="507999"/>
                  </a:lnTo>
                  <a:lnTo>
                    <a:pt x="990600" y="101599"/>
                  </a:lnTo>
                  <a:lnTo>
                    <a:pt x="982615" y="62054"/>
                  </a:lnTo>
                  <a:lnTo>
                    <a:pt x="960840" y="29759"/>
                  </a:lnTo>
                  <a:lnTo>
                    <a:pt x="928545" y="7984"/>
                  </a:lnTo>
                  <a:lnTo>
                    <a:pt x="889000" y="0"/>
                  </a:lnTo>
                  <a:lnTo>
                    <a:pt x="101599" y="0"/>
                  </a:lnTo>
                  <a:lnTo>
                    <a:pt x="62054" y="7984"/>
                  </a:lnTo>
                  <a:lnTo>
                    <a:pt x="29759" y="29759"/>
                  </a:lnTo>
                  <a:lnTo>
                    <a:pt x="7984" y="62054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AA7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733787" y="6095987"/>
              <a:ext cx="990600" cy="609600"/>
            </a:xfrm>
            <a:custGeom>
              <a:avLst/>
              <a:gdLst/>
              <a:ahLst/>
              <a:cxnLst/>
              <a:rect l="l" t="t" r="r" b="b"/>
              <a:pathLst>
                <a:path w="990600" h="609600">
                  <a:moveTo>
                    <a:pt x="0" y="101600"/>
                  </a:moveTo>
                  <a:lnTo>
                    <a:pt x="7984" y="62054"/>
                  </a:lnTo>
                  <a:lnTo>
                    <a:pt x="29759" y="29759"/>
                  </a:lnTo>
                  <a:lnTo>
                    <a:pt x="62054" y="7984"/>
                  </a:lnTo>
                  <a:lnTo>
                    <a:pt x="101599" y="0"/>
                  </a:lnTo>
                  <a:lnTo>
                    <a:pt x="889000" y="0"/>
                  </a:lnTo>
                  <a:lnTo>
                    <a:pt x="928545" y="7984"/>
                  </a:lnTo>
                  <a:lnTo>
                    <a:pt x="960840" y="29759"/>
                  </a:lnTo>
                  <a:lnTo>
                    <a:pt x="982615" y="62054"/>
                  </a:lnTo>
                  <a:lnTo>
                    <a:pt x="990600" y="101600"/>
                  </a:lnTo>
                  <a:lnTo>
                    <a:pt x="990600" y="508000"/>
                  </a:lnTo>
                  <a:lnTo>
                    <a:pt x="982615" y="547545"/>
                  </a:lnTo>
                  <a:lnTo>
                    <a:pt x="960840" y="579840"/>
                  </a:lnTo>
                  <a:lnTo>
                    <a:pt x="928545" y="601615"/>
                  </a:lnTo>
                  <a:lnTo>
                    <a:pt x="889000" y="609600"/>
                  </a:lnTo>
                  <a:lnTo>
                    <a:pt x="101600" y="609600"/>
                  </a:lnTo>
                  <a:lnTo>
                    <a:pt x="62054" y="601615"/>
                  </a:lnTo>
                  <a:lnTo>
                    <a:pt x="29759" y="579840"/>
                  </a:lnTo>
                  <a:lnTo>
                    <a:pt x="7984" y="547545"/>
                  </a:lnTo>
                  <a:lnTo>
                    <a:pt x="0" y="508000"/>
                  </a:lnTo>
                  <a:lnTo>
                    <a:pt x="0" y="1016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842296" y="6250940"/>
            <a:ext cx="650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CF2DA"/>
                </a:solidFill>
                <a:latin typeface="Arial"/>
                <a:cs typeface="Arial"/>
              </a:rPr>
              <a:t>2</a:t>
            </a:r>
            <a:r>
              <a:rPr sz="1800" spc="-80" dirty="0">
                <a:solidFill>
                  <a:srgbClr val="FCF2DA"/>
                </a:solidFill>
                <a:latin typeface="Arial"/>
                <a:cs typeface="Arial"/>
              </a:rPr>
              <a:t> </a:t>
            </a:r>
            <a:r>
              <a:rPr sz="1800" b="1" spc="1664" dirty="0">
                <a:solidFill>
                  <a:srgbClr val="FCF2DA"/>
                </a:solidFill>
                <a:latin typeface="Wingdings"/>
                <a:cs typeface="Wingdings"/>
              </a:rPr>
              <a:t>€</a:t>
            </a:r>
            <a:r>
              <a:rPr sz="1800" b="1" spc="1664" dirty="0">
                <a:solidFill>
                  <a:srgbClr val="FCF2DA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CF2DA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353037" y="6086462"/>
            <a:ext cx="1028700" cy="628650"/>
            <a:chOff x="5353037" y="6086462"/>
            <a:chExt cx="1028700" cy="628650"/>
          </a:xfrm>
        </p:grpSpPr>
        <p:sp>
          <p:nvSpPr>
            <p:cNvPr id="26" name="object 26"/>
            <p:cNvSpPr/>
            <p:nvPr/>
          </p:nvSpPr>
          <p:spPr>
            <a:xfrm>
              <a:off x="5362574" y="6095999"/>
              <a:ext cx="1009650" cy="609600"/>
            </a:xfrm>
            <a:custGeom>
              <a:avLst/>
              <a:gdLst/>
              <a:ahLst/>
              <a:cxnLst/>
              <a:rect l="l" t="t" r="r" b="b"/>
              <a:pathLst>
                <a:path w="1009650" h="609600">
                  <a:moveTo>
                    <a:pt x="0" y="101600"/>
                  </a:moveTo>
                  <a:lnTo>
                    <a:pt x="0" y="508000"/>
                  </a:lnTo>
                  <a:lnTo>
                    <a:pt x="7984" y="547545"/>
                  </a:lnTo>
                  <a:lnTo>
                    <a:pt x="29759" y="579840"/>
                  </a:lnTo>
                  <a:lnTo>
                    <a:pt x="62054" y="601615"/>
                  </a:lnTo>
                  <a:lnTo>
                    <a:pt x="101600" y="609600"/>
                  </a:lnTo>
                  <a:lnTo>
                    <a:pt x="908050" y="609600"/>
                  </a:lnTo>
                  <a:lnTo>
                    <a:pt x="947595" y="601615"/>
                  </a:lnTo>
                  <a:lnTo>
                    <a:pt x="979890" y="579840"/>
                  </a:lnTo>
                  <a:lnTo>
                    <a:pt x="1001665" y="547545"/>
                  </a:lnTo>
                  <a:lnTo>
                    <a:pt x="1009650" y="508000"/>
                  </a:lnTo>
                  <a:lnTo>
                    <a:pt x="1009650" y="101600"/>
                  </a:lnTo>
                  <a:lnTo>
                    <a:pt x="1001665" y="62054"/>
                  </a:lnTo>
                  <a:lnTo>
                    <a:pt x="979890" y="29759"/>
                  </a:lnTo>
                  <a:lnTo>
                    <a:pt x="947595" y="7984"/>
                  </a:lnTo>
                  <a:lnTo>
                    <a:pt x="908050" y="0"/>
                  </a:lnTo>
                  <a:lnTo>
                    <a:pt x="101599" y="0"/>
                  </a:lnTo>
                  <a:lnTo>
                    <a:pt x="62054" y="7984"/>
                  </a:lnTo>
                  <a:lnTo>
                    <a:pt x="29759" y="29759"/>
                  </a:lnTo>
                  <a:lnTo>
                    <a:pt x="7984" y="62054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AA7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62562" y="6095987"/>
              <a:ext cx="1009650" cy="609600"/>
            </a:xfrm>
            <a:custGeom>
              <a:avLst/>
              <a:gdLst/>
              <a:ahLst/>
              <a:cxnLst/>
              <a:rect l="l" t="t" r="r" b="b"/>
              <a:pathLst>
                <a:path w="1009650" h="609600">
                  <a:moveTo>
                    <a:pt x="0" y="101600"/>
                  </a:moveTo>
                  <a:lnTo>
                    <a:pt x="7984" y="62054"/>
                  </a:lnTo>
                  <a:lnTo>
                    <a:pt x="29759" y="29759"/>
                  </a:lnTo>
                  <a:lnTo>
                    <a:pt x="62054" y="7984"/>
                  </a:lnTo>
                  <a:lnTo>
                    <a:pt x="101599" y="0"/>
                  </a:lnTo>
                  <a:lnTo>
                    <a:pt x="908050" y="0"/>
                  </a:lnTo>
                  <a:lnTo>
                    <a:pt x="947595" y="7984"/>
                  </a:lnTo>
                  <a:lnTo>
                    <a:pt x="979890" y="29759"/>
                  </a:lnTo>
                  <a:lnTo>
                    <a:pt x="1001665" y="62054"/>
                  </a:lnTo>
                  <a:lnTo>
                    <a:pt x="1009650" y="101600"/>
                  </a:lnTo>
                  <a:lnTo>
                    <a:pt x="1009650" y="508000"/>
                  </a:lnTo>
                  <a:lnTo>
                    <a:pt x="1001665" y="547545"/>
                  </a:lnTo>
                  <a:lnTo>
                    <a:pt x="979890" y="579840"/>
                  </a:lnTo>
                  <a:lnTo>
                    <a:pt x="947595" y="601615"/>
                  </a:lnTo>
                  <a:lnTo>
                    <a:pt x="908050" y="609600"/>
                  </a:lnTo>
                  <a:lnTo>
                    <a:pt x="101600" y="609600"/>
                  </a:lnTo>
                  <a:lnTo>
                    <a:pt x="62054" y="601615"/>
                  </a:lnTo>
                  <a:lnTo>
                    <a:pt x="29759" y="579840"/>
                  </a:lnTo>
                  <a:lnTo>
                    <a:pt x="7984" y="547545"/>
                  </a:lnTo>
                  <a:lnTo>
                    <a:pt x="0" y="508000"/>
                  </a:lnTo>
                  <a:lnTo>
                    <a:pt x="0" y="1016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471071" y="6250940"/>
            <a:ext cx="650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CF2DA"/>
                </a:solidFill>
                <a:latin typeface="Arial"/>
                <a:cs typeface="Arial"/>
              </a:rPr>
              <a:t>9</a:t>
            </a:r>
            <a:r>
              <a:rPr sz="1800" spc="-80" dirty="0">
                <a:solidFill>
                  <a:srgbClr val="FCF2DA"/>
                </a:solidFill>
                <a:latin typeface="Arial"/>
                <a:cs typeface="Arial"/>
              </a:rPr>
              <a:t> </a:t>
            </a:r>
            <a:r>
              <a:rPr sz="1800" b="1" spc="1664" dirty="0">
                <a:solidFill>
                  <a:srgbClr val="FCF2DA"/>
                </a:solidFill>
                <a:latin typeface="Wingdings"/>
                <a:cs typeface="Wingdings"/>
              </a:rPr>
              <a:t>€</a:t>
            </a:r>
            <a:r>
              <a:rPr sz="1800" b="1" spc="1664" dirty="0">
                <a:solidFill>
                  <a:srgbClr val="FCF2DA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CF2DA"/>
                </a:solidFill>
                <a:latin typeface="Arial"/>
                <a:cs typeface="Arial"/>
              </a:rPr>
              <a:t>9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772262" y="6086462"/>
            <a:ext cx="1000125" cy="628650"/>
            <a:chOff x="6772262" y="6086462"/>
            <a:chExt cx="1000125" cy="628650"/>
          </a:xfrm>
        </p:grpSpPr>
        <p:sp>
          <p:nvSpPr>
            <p:cNvPr id="30" name="object 30"/>
            <p:cNvSpPr/>
            <p:nvPr/>
          </p:nvSpPr>
          <p:spPr>
            <a:xfrm>
              <a:off x="6781800" y="6095999"/>
              <a:ext cx="981075" cy="609600"/>
            </a:xfrm>
            <a:custGeom>
              <a:avLst/>
              <a:gdLst/>
              <a:ahLst/>
              <a:cxnLst/>
              <a:rect l="l" t="t" r="r" b="b"/>
              <a:pathLst>
                <a:path w="981075" h="609600">
                  <a:moveTo>
                    <a:pt x="0" y="101600"/>
                  </a:moveTo>
                  <a:lnTo>
                    <a:pt x="0" y="508000"/>
                  </a:lnTo>
                  <a:lnTo>
                    <a:pt x="7984" y="547545"/>
                  </a:lnTo>
                  <a:lnTo>
                    <a:pt x="29759" y="579840"/>
                  </a:lnTo>
                  <a:lnTo>
                    <a:pt x="62054" y="601615"/>
                  </a:lnTo>
                  <a:lnTo>
                    <a:pt x="101600" y="609600"/>
                  </a:lnTo>
                  <a:lnTo>
                    <a:pt x="879475" y="609600"/>
                  </a:lnTo>
                  <a:lnTo>
                    <a:pt x="919020" y="601615"/>
                  </a:lnTo>
                  <a:lnTo>
                    <a:pt x="951315" y="579840"/>
                  </a:lnTo>
                  <a:lnTo>
                    <a:pt x="973090" y="547545"/>
                  </a:lnTo>
                  <a:lnTo>
                    <a:pt x="981075" y="508000"/>
                  </a:lnTo>
                  <a:lnTo>
                    <a:pt x="981075" y="101600"/>
                  </a:lnTo>
                  <a:lnTo>
                    <a:pt x="973090" y="62054"/>
                  </a:lnTo>
                  <a:lnTo>
                    <a:pt x="951315" y="29759"/>
                  </a:lnTo>
                  <a:lnTo>
                    <a:pt x="919020" y="7984"/>
                  </a:lnTo>
                  <a:lnTo>
                    <a:pt x="879475" y="0"/>
                  </a:lnTo>
                  <a:lnTo>
                    <a:pt x="101599" y="0"/>
                  </a:lnTo>
                  <a:lnTo>
                    <a:pt x="62054" y="7984"/>
                  </a:lnTo>
                  <a:lnTo>
                    <a:pt x="29759" y="29759"/>
                  </a:lnTo>
                  <a:lnTo>
                    <a:pt x="7984" y="62054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AA7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781787" y="6095987"/>
              <a:ext cx="981075" cy="609600"/>
            </a:xfrm>
            <a:custGeom>
              <a:avLst/>
              <a:gdLst/>
              <a:ahLst/>
              <a:cxnLst/>
              <a:rect l="l" t="t" r="r" b="b"/>
              <a:pathLst>
                <a:path w="981075" h="609600">
                  <a:moveTo>
                    <a:pt x="0" y="101599"/>
                  </a:moveTo>
                  <a:lnTo>
                    <a:pt x="7984" y="62054"/>
                  </a:lnTo>
                  <a:lnTo>
                    <a:pt x="29759" y="29759"/>
                  </a:lnTo>
                  <a:lnTo>
                    <a:pt x="62054" y="7984"/>
                  </a:lnTo>
                  <a:lnTo>
                    <a:pt x="101599" y="0"/>
                  </a:lnTo>
                  <a:lnTo>
                    <a:pt x="879475" y="0"/>
                  </a:lnTo>
                  <a:lnTo>
                    <a:pt x="919020" y="7984"/>
                  </a:lnTo>
                  <a:lnTo>
                    <a:pt x="951315" y="29759"/>
                  </a:lnTo>
                  <a:lnTo>
                    <a:pt x="973090" y="62054"/>
                  </a:lnTo>
                  <a:lnTo>
                    <a:pt x="981075" y="101599"/>
                  </a:lnTo>
                  <a:lnTo>
                    <a:pt x="981075" y="507999"/>
                  </a:lnTo>
                  <a:lnTo>
                    <a:pt x="973090" y="547545"/>
                  </a:lnTo>
                  <a:lnTo>
                    <a:pt x="951315" y="579840"/>
                  </a:lnTo>
                  <a:lnTo>
                    <a:pt x="919020" y="601615"/>
                  </a:lnTo>
                  <a:lnTo>
                    <a:pt x="879475" y="609599"/>
                  </a:lnTo>
                  <a:lnTo>
                    <a:pt x="101600" y="609599"/>
                  </a:lnTo>
                  <a:lnTo>
                    <a:pt x="62054" y="601615"/>
                  </a:lnTo>
                  <a:lnTo>
                    <a:pt x="29759" y="579840"/>
                  </a:lnTo>
                  <a:lnTo>
                    <a:pt x="7984" y="547545"/>
                  </a:lnTo>
                  <a:lnTo>
                    <a:pt x="0" y="507999"/>
                  </a:lnTo>
                  <a:lnTo>
                    <a:pt x="0" y="101599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890296" y="6250940"/>
            <a:ext cx="650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CF2DA"/>
                </a:solidFill>
                <a:latin typeface="Arial"/>
                <a:cs typeface="Arial"/>
              </a:rPr>
              <a:t>4</a:t>
            </a:r>
            <a:r>
              <a:rPr sz="1800" spc="-80" dirty="0">
                <a:solidFill>
                  <a:srgbClr val="FCF2DA"/>
                </a:solidFill>
                <a:latin typeface="Arial"/>
                <a:cs typeface="Arial"/>
              </a:rPr>
              <a:t> </a:t>
            </a:r>
            <a:r>
              <a:rPr sz="1800" b="1" spc="1664" dirty="0">
                <a:solidFill>
                  <a:srgbClr val="FCF2DA"/>
                </a:solidFill>
                <a:latin typeface="Wingdings"/>
                <a:cs typeface="Wingdings"/>
              </a:rPr>
              <a:t>€</a:t>
            </a:r>
            <a:r>
              <a:rPr sz="1800" b="1" spc="1664" dirty="0">
                <a:solidFill>
                  <a:srgbClr val="FCF2DA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CF2DA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828937" y="4876787"/>
            <a:ext cx="4453255" cy="1219200"/>
            <a:chOff x="2828937" y="4876787"/>
            <a:chExt cx="4453255" cy="1219200"/>
          </a:xfrm>
        </p:grpSpPr>
        <p:sp>
          <p:nvSpPr>
            <p:cNvPr id="34" name="object 34"/>
            <p:cNvSpPr/>
            <p:nvPr/>
          </p:nvSpPr>
          <p:spPr>
            <a:xfrm>
              <a:off x="3505200" y="4886312"/>
              <a:ext cx="1524000" cy="285750"/>
            </a:xfrm>
            <a:custGeom>
              <a:avLst/>
              <a:gdLst/>
              <a:ahLst/>
              <a:cxnLst/>
              <a:rect l="l" t="t" r="r" b="b"/>
              <a:pathLst>
                <a:path w="1524000" h="285750">
                  <a:moveTo>
                    <a:pt x="0" y="285750"/>
                  </a:moveTo>
                  <a:lnTo>
                    <a:pt x="152400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029200" y="4886312"/>
              <a:ext cx="1524000" cy="285750"/>
            </a:xfrm>
            <a:custGeom>
              <a:avLst/>
              <a:gdLst/>
              <a:ahLst/>
              <a:cxnLst/>
              <a:rect l="l" t="t" r="r" b="b"/>
              <a:pathLst>
                <a:path w="1524000" h="285750">
                  <a:moveTo>
                    <a:pt x="1524000" y="285749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838462" y="5800712"/>
              <a:ext cx="666750" cy="285750"/>
            </a:xfrm>
            <a:custGeom>
              <a:avLst/>
              <a:gdLst/>
              <a:ahLst/>
              <a:cxnLst/>
              <a:rect l="l" t="t" r="r" b="b"/>
              <a:pathLst>
                <a:path w="666750" h="285750">
                  <a:moveTo>
                    <a:pt x="0" y="285750"/>
                  </a:moveTo>
                  <a:lnTo>
                    <a:pt x="666749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867412" y="5800712"/>
              <a:ext cx="685800" cy="285750"/>
            </a:xfrm>
            <a:custGeom>
              <a:avLst/>
              <a:gdLst/>
              <a:ahLst/>
              <a:cxnLst/>
              <a:rect l="l" t="t" r="r" b="b"/>
              <a:pathLst>
                <a:path w="685800" h="285750">
                  <a:moveTo>
                    <a:pt x="0" y="285749"/>
                  </a:moveTo>
                  <a:lnTo>
                    <a:pt x="685799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505212" y="5800712"/>
              <a:ext cx="723900" cy="285750"/>
            </a:xfrm>
            <a:custGeom>
              <a:avLst/>
              <a:gdLst/>
              <a:ahLst/>
              <a:cxnLst/>
              <a:rect l="l" t="t" r="r" b="b"/>
              <a:pathLst>
                <a:path w="723900" h="285750">
                  <a:moveTo>
                    <a:pt x="0" y="0"/>
                  </a:moveTo>
                  <a:lnTo>
                    <a:pt x="723900" y="285749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553212" y="5800712"/>
              <a:ext cx="719455" cy="285750"/>
            </a:xfrm>
            <a:custGeom>
              <a:avLst/>
              <a:gdLst/>
              <a:ahLst/>
              <a:cxnLst/>
              <a:rect l="l" t="t" r="r" b="b"/>
              <a:pathLst>
                <a:path w="719454" h="285750">
                  <a:moveTo>
                    <a:pt x="0" y="0"/>
                  </a:moveTo>
                  <a:lnTo>
                    <a:pt x="719137" y="285749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20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9635" y="758520"/>
            <a:ext cx="350329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Execution</a:t>
            </a:r>
            <a:r>
              <a:rPr spc="-55" dirty="0"/>
              <a:t>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97939" y="2166620"/>
            <a:ext cx="14865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-10" dirty="0">
                <a:latin typeface="Arial"/>
                <a:cs typeface="Arial"/>
              </a:rPr>
              <a:t>Partition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63600" y="2819400"/>
            <a:ext cx="8331200" cy="3619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21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7314" y="758520"/>
            <a:ext cx="476821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Execution Example</a:t>
            </a:r>
            <a:r>
              <a:rPr spc="-80" dirty="0"/>
              <a:t> </a:t>
            </a:r>
            <a:r>
              <a:rPr spc="-5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4139" y="2166620"/>
            <a:ext cx="35185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Recursive call,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partition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63600" y="2692400"/>
            <a:ext cx="8331200" cy="3594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22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7314" y="758520"/>
            <a:ext cx="476821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Execution Example</a:t>
            </a:r>
            <a:r>
              <a:rPr spc="-80" dirty="0"/>
              <a:t> </a:t>
            </a:r>
            <a:r>
              <a:rPr spc="-5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4139" y="2166620"/>
            <a:ext cx="35185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Recursive call,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partition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6300" y="2819400"/>
            <a:ext cx="8305800" cy="3619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23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7314" y="758520"/>
            <a:ext cx="476821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Execution Example</a:t>
            </a:r>
            <a:r>
              <a:rPr spc="-80" dirty="0"/>
              <a:t> </a:t>
            </a:r>
            <a:r>
              <a:rPr spc="-5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4139" y="2166620"/>
            <a:ext cx="38233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Recursive call, base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case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63600" y="2819400"/>
            <a:ext cx="8331200" cy="3657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24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7314" y="758520"/>
            <a:ext cx="476821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Execution Example</a:t>
            </a:r>
            <a:r>
              <a:rPr spc="-80" dirty="0"/>
              <a:t> </a:t>
            </a:r>
            <a:r>
              <a:rPr spc="-5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4139" y="2242820"/>
            <a:ext cx="38233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Recursive call, base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case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5500" y="2895600"/>
            <a:ext cx="8407400" cy="3657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25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7314" y="758520"/>
            <a:ext cx="476821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Execution Example</a:t>
            </a:r>
            <a:r>
              <a:rPr spc="-80" dirty="0"/>
              <a:t> </a:t>
            </a:r>
            <a:r>
              <a:rPr spc="-5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4139" y="2166620"/>
            <a:ext cx="12325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-10" dirty="0">
                <a:latin typeface="Arial"/>
                <a:cs typeface="Arial"/>
              </a:rPr>
              <a:t>Merge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0900" y="2895600"/>
            <a:ext cx="8356600" cy="3606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26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7314" y="758520"/>
            <a:ext cx="476821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Execution Example</a:t>
            </a:r>
            <a:r>
              <a:rPr spc="-80" dirty="0"/>
              <a:t> </a:t>
            </a:r>
            <a:r>
              <a:rPr spc="-5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4139" y="2166620"/>
            <a:ext cx="53308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Recursive call, …, base case,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merge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400" y="2616200"/>
            <a:ext cx="8369300" cy="3670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27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7314" y="758520"/>
            <a:ext cx="476821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Execution Example</a:t>
            </a:r>
            <a:r>
              <a:rPr spc="-80" dirty="0"/>
              <a:t> </a:t>
            </a:r>
            <a:r>
              <a:rPr spc="-5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4139" y="2166620"/>
            <a:ext cx="12325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-10" dirty="0">
                <a:latin typeface="Arial"/>
                <a:cs typeface="Arial"/>
              </a:rPr>
              <a:t>Merge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5500" y="2819400"/>
            <a:ext cx="8407400" cy="3683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28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7314" y="758520"/>
            <a:ext cx="476821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Execution Example</a:t>
            </a:r>
            <a:r>
              <a:rPr spc="-80" dirty="0"/>
              <a:t> </a:t>
            </a:r>
            <a:r>
              <a:rPr spc="-5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4139" y="2242820"/>
            <a:ext cx="48056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Recursive call, …, merge,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merge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12800" y="2895600"/>
            <a:ext cx="8432800" cy="3632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29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7314" y="758520"/>
            <a:ext cx="476821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Execution Example</a:t>
            </a:r>
            <a:r>
              <a:rPr spc="-80" dirty="0"/>
              <a:t> </a:t>
            </a:r>
            <a:r>
              <a:rPr spc="-5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4139" y="2166620"/>
            <a:ext cx="12325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-10" dirty="0">
                <a:latin typeface="Arial"/>
                <a:cs typeface="Arial"/>
              </a:rPr>
              <a:t>Merge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0900" y="2819400"/>
            <a:ext cx="8356600" cy="3644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30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63722" y="758520"/>
            <a:ext cx="413512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Analysis of</a:t>
            </a:r>
            <a:r>
              <a:rPr spc="-80" dirty="0"/>
              <a:t> </a:t>
            </a:r>
            <a:r>
              <a:rPr spc="-5" dirty="0"/>
              <a:t>Merge-Sort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85239" y="1364399"/>
            <a:ext cx="7517130" cy="26289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1300"/>
              </a:spcBef>
              <a:buClr>
                <a:srgbClr val="941300"/>
              </a:buClr>
              <a:buFont typeface="Wingdings"/>
              <a:buChar char=""/>
              <a:tabLst>
                <a:tab pos="367665" algn="l"/>
                <a:tab pos="368300" algn="l"/>
              </a:tabLst>
            </a:pPr>
            <a:r>
              <a:rPr sz="2000" spc="-5" dirty="0">
                <a:latin typeface="Arial"/>
                <a:cs typeface="Arial"/>
              </a:rPr>
              <a:t>The height </a:t>
            </a:r>
            <a:r>
              <a:rPr sz="2000" b="1" i="1" spc="-5" dirty="0">
                <a:latin typeface="Times New Roman"/>
                <a:cs typeface="Times New Roman"/>
              </a:rPr>
              <a:t>h </a:t>
            </a:r>
            <a:r>
              <a:rPr sz="2000" dirty="0">
                <a:latin typeface="Arial"/>
                <a:cs typeface="Arial"/>
              </a:rPr>
              <a:t>of the merge-sort tree </a:t>
            </a:r>
            <a:r>
              <a:rPr sz="2000" spc="-5" dirty="0">
                <a:latin typeface="Arial"/>
                <a:cs typeface="Arial"/>
              </a:rPr>
              <a:t>is </a:t>
            </a:r>
            <a:r>
              <a:rPr sz="2000" b="1" i="1" spc="-5" dirty="0">
                <a:latin typeface="Times New Roman"/>
                <a:cs typeface="Times New Roman"/>
              </a:rPr>
              <a:t>O</a:t>
            </a:r>
            <a:r>
              <a:rPr sz="2000" spc="-5" dirty="0">
                <a:latin typeface="Times New Roman"/>
                <a:cs typeface="Times New Roman"/>
              </a:rPr>
              <a:t>(log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n</a:t>
            </a:r>
            <a:r>
              <a:rPr sz="2000" spc="-5" dirty="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 marL="768350" lvl="1" indent="-285750">
              <a:lnSpc>
                <a:spcPct val="100000"/>
              </a:lnSpc>
              <a:spcBef>
                <a:spcPts val="1080"/>
              </a:spcBef>
              <a:buClr>
                <a:srgbClr val="2F5C00"/>
              </a:buClr>
              <a:buFont typeface="Wingdings"/>
              <a:buChar char=""/>
              <a:tabLst>
                <a:tab pos="768350" algn="l"/>
              </a:tabLst>
            </a:pPr>
            <a:r>
              <a:rPr sz="1800" spc="-5" dirty="0">
                <a:latin typeface="Arial"/>
                <a:cs typeface="Arial"/>
              </a:rPr>
              <a:t>at each recursive call we divide in half the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sequence,</a:t>
            </a:r>
            <a:endParaRPr sz="1800">
              <a:latin typeface="Arial"/>
              <a:cs typeface="Arial"/>
            </a:endParaRPr>
          </a:p>
          <a:p>
            <a:pPr marL="368300" indent="-342900">
              <a:lnSpc>
                <a:spcPct val="100000"/>
              </a:lnSpc>
              <a:spcBef>
                <a:spcPts val="1160"/>
              </a:spcBef>
              <a:buClr>
                <a:srgbClr val="941300"/>
              </a:buClr>
              <a:buFont typeface="Wingdings"/>
              <a:buChar char=""/>
              <a:tabLst>
                <a:tab pos="367665" algn="l"/>
                <a:tab pos="368300" algn="l"/>
              </a:tabLst>
            </a:pPr>
            <a:r>
              <a:rPr sz="2000" spc="-5" dirty="0">
                <a:latin typeface="Arial"/>
                <a:cs typeface="Arial"/>
              </a:rPr>
              <a:t>The overall amount or work done at the nodes of depth </a:t>
            </a:r>
            <a:r>
              <a:rPr sz="2000" b="1" i="1" dirty="0">
                <a:latin typeface="Times New Roman"/>
                <a:cs typeface="Times New Roman"/>
              </a:rPr>
              <a:t>i </a:t>
            </a:r>
            <a:r>
              <a:rPr sz="2000" spc="-5" dirty="0">
                <a:latin typeface="Arial"/>
                <a:cs typeface="Arial"/>
              </a:rPr>
              <a:t>is</a:t>
            </a:r>
            <a:r>
              <a:rPr sz="2000" spc="25" dirty="0">
                <a:latin typeface="Arial"/>
                <a:cs typeface="Arial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O</a:t>
            </a:r>
            <a:r>
              <a:rPr sz="2000" spc="-5" dirty="0">
                <a:latin typeface="Times New Roman"/>
                <a:cs typeface="Times New Roman"/>
              </a:rPr>
              <a:t>(</a:t>
            </a:r>
            <a:r>
              <a:rPr sz="2000" b="1" i="1" spc="-5" dirty="0">
                <a:latin typeface="Times New Roman"/>
                <a:cs typeface="Times New Roman"/>
              </a:rPr>
              <a:t>n</a:t>
            </a:r>
            <a:r>
              <a:rPr sz="2000" spc="-5" dirty="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 marL="768350" lvl="1" indent="-285750">
              <a:lnSpc>
                <a:spcPct val="100000"/>
              </a:lnSpc>
              <a:spcBef>
                <a:spcPts val="1080"/>
              </a:spcBef>
              <a:buClr>
                <a:srgbClr val="2F5C00"/>
              </a:buClr>
              <a:buFont typeface="Wingdings"/>
              <a:buChar char=""/>
              <a:tabLst>
                <a:tab pos="768350" algn="l"/>
              </a:tabLst>
            </a:pPr>
            <a:r>
              <a:rPr sz="1800" spc="-5" dirty="0">
                <a:latin typeface="Arial"/>
                <a:cs typeface="Arial"/>
              </a:rPr>
              <a:t>we partition and merge </a:t>
            </a:r>
            <a:r>
              <a:rPr sz="1800" dirty="0">
                <a:latin typeface="Times New Roman"/>
                <a:cs typeface="Times New Roman"/>
              </a:rPr>
              <a:t>2</a:t>
            </a:r>
            <a:r>
              <a:rPr sz="1800" b="1" i="1" baseline="25462" dirty="0">
                <a:latin typeface="Times New Roman"/>
                <a:cs typeface="Times New Roman"/>
              </a:rPr>
              <a:t>i </a:t>
            </a:r>
            <a:r>
              <a:rPr sz="1800" spc="-5" dirty="0">
                <a:latin typeface="Arial"/>
                <a:cs typeface="Arial"/>
              </a:rPr>
              <a:t>sequences of size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b="1" i="1" spc="-5" dirty="0">
                <a:latin typeface="Times New Roman"/>
                <a:cs typeface="Times New Roman"/>
              </a:rPr>
              <a:t>n</a:t>
            </a:r>
            <a:r>
              <a:rPr sz="1800" b="1" i="1" spc="-5" dirty="0">
                <a:latin typeface="Symbol"/>
                <a:cs typeface="Symbol"/>
              </a:rPr>
              <a:t></a:t>
            </a:r>
            <a:r>
              <a:rPr sz="1800" spc="-5" dirty="0">
                <a:latin typeface="Times New Roman"/>
                <a:cs typeface="Times New Roman"/>
              </a:rPr>
              <a:t>2</a:t>
            </a:r>
            <a:r>
              <a:rPr sz="1800" b="1" i="1" spc="-7" baseline="25462" dirty="0">
                <a:latin typeface="Times New Roman"/>
                <a:cs typeface="Times New Roman"/>
              </a:rPr>
              <a:t>i</a:t>
            </a:r>
            <a:endParaRPr sz="1800" baseline="25462">
              <a:latin typeface="Times New Roman"/>
              <a:cs typeface="Times New Roman"/>
            </a:endParaRPr>
          </a:p>
          <a:p>
            <a:pPr marL="768350" lvl="1" indent="-286385">
              <a:lnSpc>
                <a:spcPct val="100000"/>
              </a:lnSpc>
              <a:spcBef>
                <a:spcPts val="1140"/>
              </a:spcBef>
              <a:buClr>
                <a:srgbClr val="2F5C00"/>
              </a:buClr>
              <a:buFont typeface="Wingdings"/>
              <a:buChar char=""/>
              <a:tabLst>
                <a:tab pos="768350" algn="l"/>
              </a:tabLst>
            </a:pPr>
            <a:r>
              <a:rPr sz="1800" spc="-5" dirty="0">
                <a:latin typeface="Arial"/>
                <a:cs typeface="Arial"/>
              </a:rPr>
              <a:t>we make </a:t>
            </a:r>
            <a:r>
              <a:rPr sz="1800" dirty="0">
                <a:latin typeface="Times New Roman"/>
                <a:cs typeface="Times New Roman"/>
              </a:rPr>
              <a:t>2</a:t>
            </a:r>
            <a:r>
              <a:rPr sz="1800" b="1" i="1" baseline="25462" dirty="0">
                <a:latin typeface="Times New Roman"/>
                <a:cs typeface="Times New Roman"/>
              </a:rPr>
              <a:t>i</a:t>
            </a:r>
            <a:r>
              <a:rPr sz="1800" baseline="25462" dirty="0">
                <a:latin typeface="Symbol"/>
                <a:cs typeface="Symbol"/>
              </a:rPr>
              <a:t></a:t>
            </a:r>
            <a:r>
              <a:rPr sz="1800" baseline="25462" dirty="0">
                <a:latin typeface="Times New Roman"/>
                <a:cs typeface="Times New Roman"/>
              </a:rPr>
              <a:t>1 </a:t>
            </a:r>
            <a:r>
              <a:rPr sz="1800" spc="-5" dirty="0">
                <a:latin typeface="Arial"/>
                <a:cs typeface="Arial"/>
              </a:rPr>
              <a:t>recursive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calls</a:t>
            </a:r>
            <a:endParaRPr sz="1800">
              <a:latin typeface="Arial"/>
              <a:cs typeface="Arial"/>
            </a:endParaRPr>
          </a:p>
          <a:p>
            <a:pPr marL="368300" indent="-342900">
              <a:lnSpc>
                <a:spcPct val="100000"/>
              </a:lnSpc>
              <a:spcBef>
                <a:spcPts val="1160"/>
              </a:spcBef>
              <a:buClr>
                <a:srgbClr val="941300"/>
              </a:buClr>
              <a:buFont typeface="Wingdings"/>
              <a:buChar char=""/>
              <a:tabLst>
                <a:tab pos="367665" algn="l"/>
                <a:tab pos="368300" algn="l"/>
              </a:tabLst>
            </a:pPr>
            <a:r>
              <a:rPr sz="2000" spc="-5" dirty="0">
                <a:latin typeface="Arial"/>
                <a:cs typeface="Arial"/>
              </a:rPr>
              <a:t>Thus, the total running time of merge-sort is </a:t>
            </a:r>
            <a:r>
              <a:rPr sz="2000" b="1" i="1" spc="-5" dirty="0">
                <a:latin typeface="Times New Roman"/>
                <a:cs typeface="Times New Roman"/>
              </a:rPr>
              <a:t>O</a:t>
            </a:r>
            <a:r>
              <a:rPr sz="2000" spc="-5" dirty="0">
                <a:latin typeface="Times New Roman"/>
                <a:cs typeface="Times New Roman"/>
              </a:rPr>
              <a:t>(</a:t>
            </a:r>
            <a:r>
              <a:rPr sz="2000" b="1" i="1" spc="-5" dirty="0">
                <a:latin typeface="Times New Roman"/>
                <a:cs typeface="Times New Roman"/>
              </a:rPr>
              <a:t>n </a:t>
            </a:r>
            <a:r>
              <a:rPr sz="2000" dirty="0">
                <a:latin typeface="Times New Roman"/>
                <a:cs typeface="Times New Roman"/>
              </a:rPr>
              <a:t>log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n</a:t>
            </a:r>
            <a:r>
              <a:rPr sz="2000" spc="-5" dirty="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79837" y="4841862"/>
            <a:ext cx="4203700" cy="1798955"/>
            <a:chOff x="3879837" y="4841862"/>
            <a:chExt cx="4203700" cy="1798955"/>
          </a:xfrm>
        </p:grpSpPr>
        <p:sp>
          <p:nvSpPr>
            <p:cNvPr id="6" name="object 6"/>
            <p:cNvSpPr/>
            <p:nvPr/>
          </p:nvSpPr>
          <p:spPr>
            <a:xfrm>
              <a:off x="4307395" y="5589117"/>
              <a:ext cx="544195" cy="305435"/>
            </a:xfrm>
            <a:custGeom>
              <a:avLst/>
              <a:gdLst/>
              <a:ahLst/>
              <a:cxnLst/>
              <a:rect l="l" t="t" r="r" b="b"/>
              <a:pathLst>
                <a:path w="544195" h="305435">
                  <a:moveTo>
                    <a:pt x="0" y="304939"/>
                  </a:moveTo>
                  <a:lnTo>
                    <a:pt x="54408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851476" y="5589117"/>
              <a:ext cx="543560" cy="305435"/>
            </a:xfrm>
            <a:custGeom>
              <a:avLst/>
              <a:gdLst/>
              <a:ahLst/>
              <a:cxnLst/>
              <a:rect l="l" t="t" r="r" b="b"/>
              <a:pathLst>
                <a:path w="543560" h="305435">
                  <a:moveTo>
                    <a:pt x="543280" y="304939"/>
                  </a:moveTo>
                  <a:lnTo>
                    <a:pt x="0" y="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99064" y="5371553"/>
              <a:ext cx="1304925" cy="217804"/>
            </a:xfrm>
            <a:custGeom>
              <a:avLst/>
              <a:gdLst/>
              <a:ahLst/>
              <a:cxnLst/>
              <a:rect l="l" t="t" r="r" b="b"/>
              <a:pathLst>
                <a:path w="1304925" h="217804">
                  <a:moveTo>
                    <a:pt x="0" y="36258"/>
                  </a:moveTo>
                  <a:lnTo>
                    <a:pt x="0" y="181305"/>
                  </a:lnTo>
                  <a:lnTo>
                    <a:pt x="22143" y="214725"/>
                  </a:lnTo>
                  <a:lnTo>
                    <a:pt x="36258" y="217576"/>
                  </a:lnTo>
                  <a:lnTo>
                    <a:pt x="1268577" y="217576"/>
                  </a:lnTo>
                  <a:lnTo>
                    <a:pt x="1282692" y="214725"/>
                  </a:lnTo>
                  <a:lnTo>
                    <a:pt x="1294217" y="206951"/>
                  </a:lnTo>
                  <a:lnTo>
                    <a:pt x="1301987" y="195421"/>
                  </a:lnTo>
                  <a:lnTo>
                    <a:pt x="1304836" y="181305"/>
                  </a:lnTo>
                  <a:lnTo>
                    <a:pt x="1304836" y="36258"/>
                  </a:lnTo>
                  <a:lnTo>
                    <a:pt x="1301987" y="22143"/>
                  </a:lnTo>
                  <a:lnTo>
                    <a:pt x="1294217" y="10618"/>
                  </a:lnTo>
                  <a:lnTo>
                    <a:pt x="1282692" y="2848"/>
                  </a:lnTo>
                  <a:lnTo>
                    <a:pt x="1268577" y="0"/>
                  </a:lnTo>
                  <a:lnTo>
                    <a:pt x="36258" y="0"/>
                  </a:lnTo>
                  <a:lnTo>
                    <a:pt x="22143" y="2848"/>
                  </a:lnTo>
                  <a:lnTo>
                    <a:pt x="10618" y="10618"/>
                  </a:lnTo>
                  <a:lnTo>
                    <a:pt x="2848" y="22143"/>
                  </a:lnTo>
                  <a:lnTo>
                    <a:pt x="0" y="36258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199064" y="5371541"/>
              <a:ext cx="1304925" cy="217804"/>
            </a:xfrm>
            <a:custGeom>
              <a:avLst/>
              <a:gdLst/>
              <a:ahLst/>
              <a:cxnLst/>
              <a:rect l="l" t="t" r="r" b="b"/>
              <a:pathLst>
                <a:path w="1304925" h="217804">
                  <a:moveTo>
                    <a:pt x="0" y="36258"/>
                  </a:moveTo>
                  <a:lnTo>
                    <a:pt x="22143" y="2848"/>
                  </a:lnTo>
                  <a:lnTo>
                    <a:pt x="1268564" y="0"/>
                  </a:lnTo>
                  <a:lnTo>
                    <a:pt x="1282681" y="2848"/>
                  </a:lnTo>
                  <a:lnTo>
                    <a:pt x="1294210" y="10618"/>
                  </a:lnTo>
                  <a:lnTo>
                    <a:pt x="1301985" y="22143"/>
                  </a:lnTo>
                  <a:lnTo>
                    <a:pt x="1304836" y="36258"/>
                  </a:lnTo>
                  <a:lnTo>
                    <a:pt x="1304836" y="181305"/>
                  </a:lnTo>
                  <a:lnTo>
                    <a:pt x="1282681" y="214725"/>
                  </a:lnTo>
                  <a:lnTo>
                    <a:pt x="36258" y="217576"/>
                  </a:lnTo>
                  <a:lnTo>
                    <a:pt x="22143" y="214725"/>
                  </a:lnTo>
                  <a:lnTo>
                    <a:pt x="10618" y="206951"/>
                  </a:lnTo>
                  <a:lnTo>
                    <a:pt x="2848" y="195421"/>
                  </a:lnTo>
                  <a:lnTo>
                    <a:pt x="0" y="181305"/>
                  </a:lnTo>
                  <a:lnTo>
                    <a:pt x="0" y="3625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069714" y="6111633"/>
              <a:ext cx="238125" cy="305435"/>
            </a:xfrm>
            <a:custGeom>
              <a:avLst/>
              <a:gdLst/>
              <a:ahLst/>
              <a:cxnLst/>
              <a:rect l="l" t="t" r="r" b="b"/>
              <a:pathLst>
                <a:path w="238125" h="305435">
                  <a:moveTo>
                    <a:pt x="0" y="304939"/>
                  </a:moveTo>
                  <a:lnTo>
                    <a:pt x="23768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07395" y="6111633"/>
              <a:ext cx="259079" cy="305435"/>
            </a:xfrm>
            <a:custGeom>
              <a:avLst/>
              <a:gdLst/>
              <a:ahLst/>
              <a:cxnLst/>
              <a:rect l="l" t="t" r="r" b="b"/>
              <a:pathLst>
                <a:path w="259079" h="305435">
                  <a:moveTo>
                    <a:pt x="0" y="0"/>
                  </a:moveTo>
                  <a:lnTo>
                    <a:pt x="258699" y="30493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954106" y="5894069"/>
              <a:ext cx="706755" cy="217804"/>
            </a:xfrm>
            <a:custGeom>
              <a:avLst/>
              <a:gdLst/>
              <a:ahLst/>
              <a:cxnLst/>
              <a:rect l="l" t="t" r="r" b="b"/>
              <a:pathLst>
                <a:path w="706754" h="217804">
                  <a:moveTo>
                    <a:pt x="0" y="36258"/>
                  </a:moveTo>
                  <a:lnTo>
                    <a:pt x="0" y="181305"/>
                  </a:lnTo>
                  <a:lnTo>
                    <a:pt x="22143" y="214725"/>
                  </a:lnTo>
                  <a:lnTo>
                    <a:pt x="36258" y="217576"/>
                  </a:lnTo>
                  <a:lnTo>
                    <a:pt x="670318" y="217576"/>
                  </a:lnTo>
                  <a:lnTo>
                    <a:pt x="684435" y="214725"/>
                  </a:lnTo>
                  <a:lnTo>
                    <a:pt x="695964" y="206951"/>
                  </a:lnTo>
                  <a:lnTo>
                    <a:pt x="703738" y="195421"/>
                  </a:lnTo>
                  <a:lnTo>
                    <a:pt x="706589" y="181305"/>
                  </a:lnTo>
                  <a:lnTo>
                    <a:pt x="706589" y="36258"/>
                  </a:lnTo>
                  <a:lnTo>
                    <a:pt x="703738" y="22143"/>
                  </a:lnTo>
                  <a:lnTo>
                    <a:pt x="695964" y="10618"/>
                  </a:lnTo>
                  <a:lnTo>
                    <a:pt x="684435" y="2848"/>
                  </a:lnTo>
                  <a:lnTo>
                    <a:pt x="670318" y="0"/>
                  </a:lnTo>
                  <a:lnTo>
                    <a:pt x="36258" y="0"/>
                  </a:lnTo>
                  <a:lnTo>
                    <a:pt x="22143" y="2848"/>
                  </a:lnTo>
                  <a:lnTo>
                    <a:pt x="10618" y="10618"/>
                  </a:lnTo>
                  <a:lnTo>
                    <a:pt x="2848" y="22143"/>
                  </a:lnTo>
                  <a:lnTo>
                    <a:pt x="0" y="36258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954106" y="5894057"/>
              <a:ext cx="706755" cy="217804"/>
            </a:xfrm>
            <a:custGeom>
              <a:avLst/>
              <a:gdLst/>
              <a:ahLst/>
              <a:cxnLst/>
              <a:rect l="l" t="t" r="r" b="b"/>
              <a:pathLst>
                <a:path w="706754" h="217804">
                  <a:moveTo>
                    <a:pt x="0" y="36258"/>
                  </a:moveTo>
                  <a:lnTo>
                    <a:pt x="22143" y="2848"/>
                  </a:lnTo>
                  <a:lnTo>
                    <a:pt x="670318" y="0"/>
                  </a:lnTo>
                  <a:lnTo>
                    <a:pt x="684433" y="2848"/>
                  </a:lnTo>
                  <a:lnTo>
                    <a:pt x="695958" y="10618"/>
                  </a:lnTo>
                  <a:lnTo>
                    <a:pt x="703728" y="22143"/>
                  </a:lnTo>
                  <a:lnTo>
                    <a:pt x="706577" y="36258"/>
                  </a:lnTo>
                  <a:lnTo>
                    <a:pt x="706577" y="181305"/>
                  </a:lnTo>
                  <a:lnTo>
                    <a:pt x="684433" y="214725"/>
                  </a:lnTo>
                  <a:lnTo>
                    <a:pt x="36258" y="217576"/>
                  </a:lnTo>
                  <a:lnTo>
                    <a:pt x="22143" y="214725"/>
                  </a:lnTo>
                  <a:lnTo>
                    <a:pt x="10618" y="206951"/>
                  </a:lnTo>
                  <a:lnTo>
                    <a:pt x="2848" y="195421"/>
                  </a:lnTo>
                  <a:lnTo>
                    <a:pt x="0" y="181305"/>
                  </a:lnTo>
                  <a:lnTo>
                    <a:pt x="0" y="3625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50611" y="6111633"/>
              <a:ext cx="244475" cy="305435"/>
            </a:xfrm>
            <a:custGeom>
              <a:avLst/>
              <a:gdLst/>
              <a:ahLst/>
              <a:cxnLst/>
              <a:rect l="l" t="t" r="r" b="b"/>
              <a:pathLst>
                <a:path w="244475" h="305435">
                  <a:moveTo>
                    <a:pt x="0" y="304939"/>
                  </a:moveTo>
                  <a:lnTo>
                    <a:pt x="24415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94756" y="6111633"/>
              <a:ext cx="257175" cy="305435"/>
            </a:xfrm>
            <a:custGeom>
              <a:avLst/>
              <a:gdLst/>
              <a:ahLst/>
              <a:cxnLst/>
              <a:rect l="l" t="t" r="r" b="b"/>
              <a:pathLst>
                <a:path w="257175" h="305435">
                  <a:moveTo>
                    <a:pt x="0" y="0"/>
                  </a:moveTo>
                  <a:lnTo>
                    <a:pt x="257086" y="30493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013985" y="5894069"/>
              <a:ext cx="762000" cy="217804"/>
            </a:xfrm>
            <a:custGeom>
              <a:avLst/>
              <a:gdLst/>
              <a:ahLst/>
              <a:cxnLst/>
              <a:rect l="l" t="t" r="r" b="b"/>
              <a:pathLst>
                <a:path w="762000" h="217804">
                  <a:moveTo>
                    <a:pt x="0" y="36258"/>
                  </a:moveTo>
                  <a:lnTo>
                    <a:pt x="0" y="181305"/>
                  </a:lnTo>
                  <a:lnTo>
                    <a:pt x="22143" y="214725"/>
                  </a:lnTo>
                  <a:lnTo>
                    <a:pt x="36258" y="217576"/>
                  </a:lnTo>
                  <a:lnTo>
                    <a:pt x="725297" y="217576"/>
                  </a:lnTo>
                  <a:lnTo>
                    <a:pt x="739411" y="214725"/>
                  </a:lnTo>
                  <a:lnTo>
                    <a:pt x="750936" y="206951"/>
                  </a:lnTo>
                  <a:lnTo>
                    <a:pt x="758706" y="195421"/>
                  </a:lnTo>
                  <a:lnTo>
                    <a:pt x="761555" y="181305"/>
                  </a:lnTo>
                  <a:lnTo>
                    <a:pt x="761555" y="36258"/>
                  </a:lnTo>
                  <a:lnTo>
                    <a:pt x="758706" y="22143"/>
                  </a:lnTo>
                  <a:lnTo>
                    <a:pt x="750936" y="10618"/>
                  </a:lnTo>
                  <a:lnTo>
                    <a:pt x="739411" y="2848"/>
                  </a:lnTo>
                  <a:lnTo>
                    <a:pt x="725297" y="0"/>
                  </a:lnTo>
                  <a:lnTo>
                    <a:pt x="36258" y="0"/>
                  </a:lnTo>
                  <a:lnTo>
                    <a:pt x="22143" y="2848"/>
                  </a:lnTo>
                  <a:lnTo>
                    <a:pt x="10618" y="10618"/>
                  </a:lnTo>
                  <a:lnTo>
                    <a:pt x="2848" y="22143"/>
                  </a:lnTo>
                  <a:lnTo>
                    <a:pt x="0" y="36258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013972" y="5894057"/>
              <a:ext cx="762000" cy="217804"/>
            </a:xfrm>
            <a:custGeom>
              <a:avLst/>
              <a:gdLst/>
              <a:ahLst/>
              <a:cxnLst/>
              <a:rect l="l" t="t" r="r" b="b"/>
              <a:pathLst>
                <a:path w="762000" h="217804">
                  <a:moveTo>
                    <a:pt x="0" y="36258"/>
                  </a:moveTo>
                  <a:lnTo>
                    <a:pt x="22143" y="2848"/>
                  </a:lnTo>
                  <a:lnTo>
                    <a:pt x="725297" y="0"/>
                  </a:lnTo>
                  <a:lnTo>
                    <a:pt x="739411" y="2848"/>
                  </a:lnTo>
                  <a:lnTo>
                    <a:pt x="750936" y="10618"/>
                  </a:lnTo>
                  <a:lnTo>
                    <a:pt x="758706" y="22143"/>
                  </a:lnTo>
                  <a:lnTo>
                    <a:pt x="761555" y="36258"/>
                  </a:lnTo>
                  <a:lnTo>
                    <a:pt x="761555" y="181305"/>
                  </a:lnTo>
                  <a:lnTo>
                    <a:pt x="739411" y="214725"/>
                  </a:lnTo>
                  <a:lnTo>
                    <a:pt x="36258" y="217576"/>
                  </a:lnTo>
                  <a:lnTo>
                    <a:pt x="22143" y="214725"/>
                  </a:lnTo>
                  <a:lnTo>
                    <a:pt x="10618" y="206951"/>
                  </a:lnTo>
                  <a:lnTo>
                    <a:pt x="2848" y="195421"/>
                  </a:lnTo>
                  <a:lnTo>
                    <a:pt x="0" y="181305"/>
                  </a:lnTo>
                  <a:lnTo>
                    <a:pt x="0" y="3625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86199" y="6416573"/>
              <a:ext cx="367030" cy="217804"/>
            </a:xfrm>
            <a:custGeom>
              <a:avLst/>
              <a:gdLst/>
              <a:ahLst/>
              <a:cxnLst/>
              <a:rect l="l" t="t" r="r" b="b"/>
              <a:pathLst>
                <a:path w="367029" h="217804">
                  <a:moveTo>
                    <a:pt x="0" y="36271"/>
                  </a:moveTo>
                  <a:lnTo>
                    <a:pt x="0" y="181317"/>
                  </a:lnTo>
                  <a:lnTo>
                    <a:pt x="22143" y="214738"/>
                  </a:lnTo>
                  <a:lnTo>
                    <a:pt x="36258" y="217589"/>
                  </a:lnTo>
                  <a:lnTo>
                    <a:pt x="330771" y="217589"/>
                  </a:lnTo>
                  <a:lnTo>
                    <a:pt x="344886" y="214738"/>
                  </a:lnTo>
                  <a:lnTo>
                    <a:pt x="356411" y="206963"/>
                  </a:lnTo>
                  <a:lnTo>
                    <a:pt x="364181" y="195434"/>
                  </a:lnTo>
                  <a:lnTo>
                    <a:pt x="367030" y="181317"/>
                  </a:lnTo>
                  <a:lnTo>
                    <a:pt x="367030" y="36271"/>
                  </a:lnTo>
                  <a:lnTo>
                    <a:pt x="364181" y="22154"/>
                  </a:lnTo>
                  <a:lnTo>
                    <a:pt x="356411" y="10625"/>
                  </a:lnTo>
                  <a:lnTo>
                    <a:pt x="344886" y="2850"/>
                  </a:lnTo>
                  <a:lnTo>
                    <a:pt x="330771" y="0"/>
                  </a:lnTo>
                  <a:lnTo>
                    <a:pt x="36258" y="0"/>
                  </a:lnTo>
                  <a:lnTo>
                    <a:pt x="22143" y="2850"/>
                  </a:lnTo>
                  <a:lnTo>
                    <a:pt x="10618" y="10625"/>
                  </a:lnTo>
                  <a:lnTo>
                    <a:pt x="2848" y="22154"/>
                  </a:lnTo>
                  <a:lnTo>
                    <a:pt x="0" y="36271"/>
                  </a:lnTo>
                  <a:close/>
                </a:path>
              </a:pathLst>
            </a:custGeom>
            <a:solidFill>
              <a:srgbClr val="AA7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86187" y="6416573"/>
              <a:ext cx="367030" cy="217804"/>
            </a:xfrm>
            <a:custGeom>
              <a:avLst/>
              <a:gdLst/>
              <a:ahLst/>
              <a:cxnLst/>
              <a:rect l="l" t="t" r="r" b="b"/>
              <a:pathLst>
                <a:path w="367029" h="217804">
                  <a:moveTo>
                    <a:pt x="0" y="36258"/>
                  </a:moveTo>
                  <a:lnTo>
                    <a:pt x="22143" y="2848"/>
                  </a:lnTo>
                  <a:lnTo>
                    <a:pt x="330771" y="0"/>
                  </a:lnTo>
                  <a:lnTo>
                    <a:pt x="344886" y="2848"/>
                  </a:lnTo>
                  <a:lnTo>
                    <a:pt x="356411" y="10618"/>
                  </a:lnTo>
                  <a:lnTo>
                    <a:pt x="364181" y="22143"/>
                  </a:lnTo>
                  <a:lnTo>
                    <a:pt x="367030" y="36258"/>
                  </a:lnTo>
                  <a:lnTo>
                    <a:pt x="367030" y="181305"/>
                  </a:lnTo>
                  <a:lnTo>
                    <a:pt x="364181" y="195421"/>
                  </a:lnTo>
                  <a:lnTo>
                    <a:pt x="356411" y="206951"/>
                  </a:lnTo>
                  <a:lnTo>
                    <a:pt x="344886" y="214725"/>
                  </a:lnTo>
                  <a:lnTo>
                    <a:pt x="330771" y="217576"/>
                  </a:lnTo>
                  <a:lnTo>
                    <a:pt x="36258" y="217576"/>
                  </a:lnTo>
                  <a:lnTo>
                    <a:pt x="22143" y="214725"/>
                  </a:lnTo>
                  <a:lnTo>
                    <a:pt x="10618" y="206951"/>
                  </a:lnTo>
                  <a:lnTo>
                    <a:pt x="2848" y="195421"/>
                  </a:lnTo>
                  <a:lnTo>
                    <a:pt x="0" y="181305"/>
                  </a:lnTo>
                  <a:lnTo>
                    <a:pt x="0" y="36258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389056" y="6416573"/>
              <a:ext cx="353695" cy="217804"/>
            </a:xfrm>
            <a:custGeom>
              <a:avLst/>
              <a:gdLst/>
              <a:ahLst/>
              <a:cxnLst/>
              <a:rect l="l" t="t" r="r" b="b"/>
              <a:pathLst>
                <a:path w="353695" h="217804">
                  <a:moveTo>
                    <a:pt x="0" y="36271"/>
                  </a:moveTo>
                  <a:lnTo>
                    <a:pt x="0" y="181317"/>
                  </a:lnTo>
                  <a:lnTo>
                    <a:pt x="22143" y="214738"/>
                  </a:lnTo>
                  <a:lnTo>
                    <a:pt x="36258" y="217589"/>
                  </a:lnTo>
                  <a:lnTo>
                    <a:pt x="317030" y="217589"/>
                  </a:lnTo>
                  <a:lnTo>
                    <a:pt x="331144" y="214738"/>
                  </a:lnTo>
                  <a:lnTo>
                    <a:pt x="342669" y="206963"/>
                  </a:lnTo>
                  <a:lnTo>
                    <a:pt x="350439" y="195434"/>
                  </a:lnTo>
                  <a:lnTo>
                    <a:pt x="353288" y="181317"/>
                  </a:lnTo>
                  <a:lnTo>
                    <a:pt x="353288" y="36271"/>
                  </a:lnTo>
                  <a:lnTo>
                    <a:pt x="350439" y="22154"/>
                  </a:lnTo>
                  <a:lnTo>
                    <a:pt x="342669" y="10625"/>
                  </a:lnTo>
                  <a:lnTo>
                    <a:pt x="331144" y="2850"/>
                  </a:lnTo>
                  <a:lnTo>
                    <a:pt x="317030" y="0"/>
                  </a:lnTo>
                  <a:lnTo>
                    <a:pt x="36258" y="0"/>
                  </a:lnTo>
                  <a:lnTo>
                    <a:pt x="22143" y="2850"/>
                  </a:lnTo>
                  <a:lnTo>
                    <a:pt x="10618" y="10625"/>
                  </a:lnTo>
                  <a:lnTo>
                    <a:pt x="2848" y="22154"/>
                  </a:lnTo>
                  <a:lnTo>
                    <a:pt x="0" y="36271"/>
                  </a:lnTo>
                  <a:close/>
                </a:path>
              </a:pathLst>
            </a:custGeom>
            <a:solidFill>
              <a:srgbClr val="AA7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389043" y="6416573"/>
              <a:ext cx="353695" cy="217804"/>
            </a:xfrm>
            <a:custGeom>
              <a:avLst/>
              <a:gdLst/>
              <a:ahLst/>
              <a:cxnLst/>
              <a:rect l="l" t="t" r="r" b="b"/>
              <a:pathLst>
                <a:path w="353695" h="217804">
                  <a:moveTo>
                    <a:pt x="0" y="36258"/>
                  </a:moveTo>
                  <a:lnTo>
                    <a:pt x="22143" y="2848"/>
                  </a:lnTo>
                  <a:lnTo>
                    <a:pt x="317030" y="0"/>
                  </a:lnTo>
                  <a:lnTo>
                    <a:pt x="331144" y="2848"/>
                  </a:lnTo>
                  <a:lnTo>
                    <a:pt x="342669" y="10618"/>
                  </a:lnTo>
                  <a:lnTo>
                    <a:pt x="350439" y="22143"/>
                  </a:lnTo>
                  <a:lnTo>
                    <a:pt x="353288" y="36258"/>
                  </a:lnTo>
                  <a:lnTo>
                    <a:pt x="353288" y="181305"/>
                  </a:lnTo>
                  <a:lnTo>
                    <a:pt x="350439" y="195421"/>
                  </a:lnTo>
                  <a:lnTo>
                    <a:pt x="342669" y="206951"/>
                  </a:lnTo>
                  <a:lnTo>
                    <a:pt x="331144" y="214725"/>
                  </a:lnTo>
                  <a:lnTo>
                    <a:pt x="317030" y="217576"/>
                  </a:lnTo>
                  <a:lnTo>
                    <a:pt x="36258" y="217576"/>
                  </a:lnTo>
                  <a:lnTo>
                    <a:pt x="22143" y="214725"/>
                  </a:lnTo>
                  <a:lnTo>
                    <a:pt x="10618" y="206951"/>
                  </a:lnTo>
                  <a:lnTo>
                    <a:pt x="2848" y="195421"/>
                  </a:lnTo>
                  <a:lnTo>
                    <a:pt x="0" y="181305"/>
                  </a:lnTo>
                  <a:lnTo>
                    <a:pt x="0" y="3625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970335" y="6416573"/>
              <a:ext cx="360045" cy="217804"/>
            </a:xfrm>
            <a:custGeom>
              <a:avLst/>
              <a:gdLst/>
              <a:ahLst/>
              <a:cxnLst/>
              <a:rect l="l" t="t" r="r" b="b"/>
              <a:pathLst>
                <a:path w="360045" h="217804">
                  <a:moveTo>
                    <a:pt x="0" y="36271"/>
                  </a:moveTo>
                  <a:lnTo>
                    <a:pt x="0" y="181317"/>
                  </a:lnTo>
                  <a:lnTo>
                    <a:pt x="22149" y="214738"/>
                  </a:lnTo>
                  <a:lnTo>
                    <a:pt x="36258" y="217589"/>
                  </a:lnTo>
                  <a:lnTo>
                    <a:pt x="323494" y="217589"/>
                  </a:lnTo>
                  <a:lnTo>
                    <a:pt x="337611" y="214738"/>
                  </a:lnTo>
                  <a:lnTo>
                    <a:pt x="349140" y="206963"/>
                  </a:lnTo>
                  <a:lnTo>
                    <a:pt x="356914" y="195434"/>
                  </a:lnTo>
                  <a:lnTo>
                    <a:pt x="359765" y="181317"/>
                  </a:lnTo>
                  <a:lnTo>
                    <a:pt x="359765" y="36271"/>
                  </a:lnTo>
                  <a:lnTo>
                    <a:pt x="356914" y="22154"/>
                  </a:lnTo>
                  <a:lnTo>
                    <a:pt x="349140" y="10625"/>
                  </a:lnTo>
                  <a:lnTo>
                    <a:pt x="337611" y="2850"/>
                  </a:lnTo>
                  <a:lnTo>
                    <a:pt x="323494" y="0"/>
                  </a:lnTo>
                  <a:lnTo>
                    <a:pt x="36258" y="0"/>
                  </a:lnTo>
                  <a:lnTo>
                    <a:pt x="22149" y="2850"/>
                  </a:lnTo>
                  <a:lnTo>
                    <a:pt x="10623" y="10625"/>
                  </a:lnTo>
                  <a:lnTo>
                    <a:pt x="2850" y="22154"/>
                  </a:lnTo>
                  <a:lnTo>
                    <a:pt x="0" y="36271"/>
                  </a:lnTo>
                  <a:close/>
                </a:path>
              </a:pathLst>
            </a:custGeom>
            <a:solidFill>
              <a:srgbClr val="AA7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970322" y="6416573"/>
              <a:ext cx="360045" cy="217804"/>
            </a:xfrm>
            <a:custGeom>
              <a:avLst/>
              <a:gdLst/>
              <a:ahLst/>
              <a:cxnLst/>
              <a:rect l="l" t="t" r="r" b="b"/>
              <a:pathLst>
                <a:path w="360045" h="217804">
                  <a:moveTo>
                    <a:pt x="0" y="36258"/>
                  </a:moveTo>
                  <a:lnTo>
                    <a:pt x="22143" y="2848"/>
                  </a:lnTo>
                  <a:lnTo>
                    <a:pt x="323494" y="0"/>
                  </a:lnTo>
                  <a:lnTo>
                    <a:pt x="337609" y="2848"/>
                  </a:lnTo>
                  <a:lnTo>
                    <a:pt x="349134" y="10618"/>
                  </a:lnTo>
                  <a:lnTo>
                    <a:pt x="356903" y="22143"/>
                  </a:lnTo>
                  <a:lnTo>
                    <a:pt x="359752" y="36258"/>
                  </a:lnTo>
                  <a:lnTo>
                    <a:pt x="359752" y="181305"/>
                  </a:lnTo>
                  <a:lnTo>
                    <a:pt x="356903" y="195421"/>
                  </a:lnTo>
                  <a:lnTo>
                    <a:pt x="349134" y="206951"/>
                  </a:lnTo>
                  <a:lnTo>
                    <a:pt x="337609" y="214725"/>
                  </a:lnTo>
                  <a:lnTo>
                    <a:pt x="323494" y="217576"/>
                  </a:lnTo>
                  <a:lnTo>
                    <a:pt x="36258" y="217576"/>
                  </a:lnTo>
                  <a:lnTo>
                    <a:pt x="22143" y="214725"/>
                  </a:lnTo>
                  <a:lnTo>
                    <a:pt x="10618" y="206951"/>
                  </a:lnTo>
                  <a:lnTo>
                    <a:pt x="2848" y="195421"/>
                  </a:lnTo>
                  <a:lnTo>
                    <a:pt x="0" y="181305"/>
                  </a:lnTo>
                  <a:lnTo>
                    <a:pt x="0" y="3625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476417" y="6416573"/>
              <a:ext cx="350520" cy="217804"/>
            </a:xfrm>
            <a:custGeom>
              <a:avLst/>
              <a:gdLst/>
              <a:ahLst/>
              <a:cxnLst/>
              <a:rect l="l" t="t" r="r" b="b"/>
              <a:pathLst>
                <a:path w="350520" h="217804">
                  <a:moveTo>
                    <a:pt x="0" y="36271"/>
                  </a:moveTo>
                  <a:lnTo>
                    <a:pt x="0" y="181317"/>
                  </a:lnTo>
                  <a:lnTo>
                    <a:pt x="22143" y="214738"/>
                  </a:lnTo>
                  <a:lnTo>
                    <a:pt x="36258" y="217589"/>
                  </a:lnTo>
                  <a:lnTo>
                    <a:pt x="313791" y="217589"/>
                  </a:lnTo>
                  <a:lnTo>
                    <a:pt x="327908" y="214738"/>
                  </a:lnTo>
                  <a:lnTo>
                    <a:pt x="339437" y="206963"/>
                  </a:lnTo>
                  <a:lnTo>
                    <a:pt x="347211" y="195434"/>
                  </a:lnTo>
                  <a:lnTo>
                    <a:pt x="350062" y="181317"/>
                  </a:lnTo>
                  <a:lnTo>
                    <a:pt x="350062" y="36271"/>
                  </a:lnTo>
                  <a:lnTo>
                    <a:pt x="347211" y="22154"/>
                  </a:lnTo>
                  <a:lnTo>
                    <a:pt x="339437" y="10625"/>
                  </a:lnTo>
                  <a:lnTo>
                    <a:pt x="327908" y="2850"/>
                  </a:lnTo>
                  <a:lnTo>
                    <a:pt x="313791" y="0"/>
                  </a:lnTo>
                  <a:lnTo>
                    <a:pt x="36258" y="0"/>
                  </a:lnTo>
                  <a:lnTo>
                    <a:pt x="22143" y="2850"/>
                  </a:lnTo>
                  <a:lnTo>
                    <a:pt x="10618" y="10625"/>
                  </a:lnTo>
                  <a:lnTo>
                    <a:pt x="2848" y="22154"/>
                  </a:lnTo>
                  <a:lnTo>
                    <a:pt x="0" y="36271"/>
                  </a:lnTo>
                  <a:close/>
                </a:path>
              </a:pathLst>
            </a:custGeom>
            <a:solidFill>
              <a:srgbClr val="AA7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476404" y="6416573"/>
              <a:ext cx="350520" cy="217804"/>
            </a:xfrm>
            <a:custGeom>
              <a:avLst/>
              <a:gdLst/>
              <a:ahLst/>
              <a:cxnLst/>
              <a:rect l="l" t="t" r="r" b="b"/>
              <a:pathLst>
                <a:path w="350520" h="217804">
                  <a:moveTo>
                    <a:pt x="0" y="36258"/>
                  </a:moveTo>
                  <a:lnTo>
                    <a:pt x="22143" y="2848"/>
                  </a:lnTo>
                  <a:lnTo>
                    <a:pt x="313791" y="0"/>
                  </a:lnTo>
                  <a:lnTo>
                    <a:pt x="327908" y="2848"/>
                  </a:lnTo>
                  <a:lnTo>
                    <a:pt x="339437" y="10618"/>
                  </a:lnTo>
                  <a:lnTo>
                    <a:pt x="347211" y="22143"/>
                  </a:lnTo>
                  <a:lnTo>
                    <a:pt x="350062" y="36258"/>
                  </a:lnTo>
                  <a:lnTo>
                    <a:pt x="350062" y="181305"/>
                  </a:lnTo>
                  <a:lnTo>
                    <a:pt x="347211" y="195421"/>
                  </a:lnTo>
                  <a:lnTo>
                    <a:pt x="339437" y="206951"/>
                  </a:lnTo>
                  <a:lnTo>
                    <a:pt x="327908" y="214725"/>
                  </a:lnTo>
                  <a:lnTo>
                    <a:pt x="313791" y="217576"/>
                  </a:lnTo>
                  <a:lnTo>
                    <a:pt x="36258" y="217576"/>
                  </a:lnTo>
                  <a:lnTo>
                    <a:pt x="22143" y="214725"/>
                  </a:lnTo>
                  <a:lnTo>
                    <a:pt x="10618" y="206951"/>
                  </a:lnTo>
                  <a:lnTo>
                    <a:pt x="2848" y="195421"/>
                  </a:lnTo>
                  <a:lnTo>
                    <a:pt x="0" y="181305"/>
                  </a:lnTo>
                  <a:lnTo>
                    <a:pt x="0" y="36258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739919" y="4848224"/>
              <a:ext cx="2484120" cy="219710"/>
            </a:xfrm>
            <a:custGeom>
              <a:avLst/>
              <a:gdLst/>
              <a:ahLst/>
              <a:cxnLst/>
              <a:rect l="l" t="t" r="r" b="b"/>
              <a:pathLst>
                <a:path w="2484120" h="219710">
                  <a:moveTo>
                    <a:pt x="0" y="36537"/>
                  </a:moveTo>
                  <a:lnTo>
                    <a:pt x="0" y="182664"/>
                  </a:lnTo>
                  <a:lnTo>
                    <a:pt x="22315" y="216330"/>
                  </a:lnTo>
                  <a:lnTo>
                    <a:pt x="36537" y="219202"/>
                  </a:lnTo>
                  <a:lnTo>
                    <a:pt x="2447023" y="219202"/>
                  </a:lnTo>
                  <a:lnTo>
                    <a:pt x="2461245" y="216330"/>
                  </a:lnTo>
                  <a:lnTo>
                    <a:pt x="2472859" y="208500"/>
                  </a:lnTo>
                  <a:lnTo>
                    <a:pt x="2480690" y="196886"/>
                  </a:lnTo>
                  <a:lnTo>
                    <a:pt x="2483561" y="182664"/>
                  </a:lnTo>
                  <a:lnTo>
                    <a:pt x="2483561" y="36537"/>
                  </a:lnTo>
                  <a:lnTo>
                    <a:pt x="2480690" y="22315"/>
                  </a:lnTo>
                  <a:lnTo>
                    <a:pt x="2472859" y="10701"/>
                  </a:lnTo>
                  <a:lnTo>
                    <a:pt x="2461245" y="2871"/>
                  </a:lnTo>
                  <a:lnTo>
                    <a:pt x="2447023" y="0"/>
                  </a:lnTo>
                  <a:lnTo>
                    <a:pt x="36537" y="0"/>
                  </a:lnTo>
                  <a:lnTo>
                    <a:pt x="22315" y="2871"/>
                  </a:lnTo>
                  <a:lnTo>
                    <a:pt x="10701" y="10701"/>
                  </a:lnTo>
                  <a:lnTo>
                    <a:pt x="2871" y="22315"/>
                  </a:lnTo>
                  <a:lnTo>
                    <a:pt x="0" y="36537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739919" y="4848212"/>
              <a:ext cx="2484120" cy="219710"/>
            </a:xfrm>
            <a:custGeom>
              <a:avLst/>
              <a:gdLst/>
              <a:ahLst/>
              <a:cxnLst/>
              <a:rect l="l" t="t" r="r" b="b"/>
              <a:pathLst>
                <a:path w="2484120" h="219710">
                  <a:moveTo>
                    <a:pt x="0" y="36537"/>
                  </a:moveTo>
                  <a:lnTo>
                    <a:pt x="22315" y="2871"/>
                  </a:lnTo>
                  <a:lnTo>
                    <a:pt x="2447023" y="0"/>
                  </a:lnTo>
                  <a:lnTo>
                    <a:pt x="2461238" y="2871"/>
                  </a:lnTo>
                  <a:lnTo>
                    <a:pt x="2472848" y="10701"/>
                  </a:lnTo>
                  <a:lnTo>
                    <a:pt x="2480677" y="22315"/>
                  </a:lnTo>
                  <a:lnTo>
                    <a:pt x="2483548" y="36537"/>
                  </a:lnTo>
                  <a:lnTo>
                    <a:pt x="2483548" y="182664"/>
                  </a:lnTo>
                  <a:lnTo>
                    <a:pt x="2461238" y="216330"/>
                  </a:lnTo>
                  <a:lnTo>
                    <a:pt x="36537" y="219202"/>
                  </a:lnTo>
                  <a:lnTo>
                    <a:pt x="22315" y="216330"/>
                  </a:lnTo>
                  <a:lnTo>
                    <a:pt x="10701" y="208500"/>
                  </a:lnTo>
                  <a:lnTo>
                    <a:pt x="2871" y="196886"/>
                  </a:lnTo>
                  <a:lnTo>
                    <a:pt x="0" y="182664"/>
                  </a:lnTo>
                  <a:lnTo>
                    <a:pt x="0" y="365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851488" y="5067414"/>
              <a:ext cx="1130300" cy="304165"/>
            </a:xfrm>
            <a:custGeom>
              <a:avLst/>
              <a:gdLst/>
              <a:ahLst/>
              <a:cxnLst/>
              <a:rect l="l" t="t" r="r" b="b"/>
              <a:pathLst>
                <a:path w="1130300" h="304164">
                  <a:moveTo>
                    <a:pt x="0" y="304126"/>
                  </a:moveTo>
                  <a:lnTo>
                    <a:pt x="1130211" y="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449796" y="5371553"/>
              <a:ext cx="1304925" cy="217804"/>
            </a:xfrm>
            <a:custGeom>
              <a:avLst/>
              <a:gdLst/>
              <a:ahLst/>
              <a:cxnLst/>
              <a:rect l="l" t="t" r="r" b="b"/>
              <a:pathLst>
                <a:path w="1304925" h="217804">
                  <a:moveTo>
                    <a:pt x="0" y="36258"/>
                  </a:moveTo>
                  <a:lnTo>
                    <a:pt x="0" y="181305"/>
                  </a:lnTo>
                  <a:lnTo>
                    <a:pt x="22143" y="214725"/>
                  </a:lnTo>
                  <a:lnTo>
                    <a:pt x="36258" y="217576"/>
                  </a:lnTo>
                  <a:lnTo>
                    <a:pt x="1268577" y="217576"/>
                  </a:lnTo>
                  <a:lnTo>
                    <a:pt x="1282692" y="214725"/>
                  </a:lnTo>
                  <a:lnTo>
                    <a:pt x="1294217" y="206951"/>
                  </a:lnTo>
                  <a:lnTo>
                    <a:pt x="1301987" y="195421"/>
                  </a:lnTo>
                  <a:lnTo>
                    <a:pt x="1304836" y="181305"/>
                  </a:lnTo>
                  <a:lnTo>
                    <a:pt x="1304836" y="36258"/>
                  </a:lnTo>
                  <a:lnTo>
                    <a:pt x="1301987" y="22143"/>
                  </a:lnTo>
                  <a:lnTo>
                    <a:pt x="1294217" y="10618"/>
                  </a:lnTo>
                  <a:lnTo>
                    <a:pt x="1282692" y="2848"/>
                  </a:lnTo>
                  <a:lnTo>
                    <a:pt x="1268577" y="0"/>
                  </a:lnTo>
                  <a:lnTo>
                    <a:pt x="36258" y="0"/>
                  </a:lnTo>
                  <a:lnTo>
                    <a:pt x="22143" y="2848"/>
                  </a:lnTo>
                  <a:lnTo>
                    <a:pt x="10618" y="10618"/>
                  </a:lnTo>
                  <a:lnTo>
                    <a:pt x="2848" y="22143"/>
                  </a:lnTo>
                  <a:lnTo>
                    <a:pt x="0" y="36258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449783" y="5371541"/>
              <a:ext cx="1304925" cy="217804"/>
            </a:xfrm>
            <a:custGeom>
              <a:avLst/>
              <a:gdLst/>
              <a:ahLst/>
              <a:cxnLst/>
              <a:rect l="l" t="t" r="r" b="b"/>
              <a:pathLst>
                <a:path w="1304925" h="217804">
                  <a:moveTo>
                    <a:pt x="0" y="36258"/>
                  </a:moveTo>
                  <a:lnTo>
                    <a:pt x="22143" y="2848"/>
                  </a:lnTo>
                  <a:lnTo>
                    <a:pt x="1268564" y="0"/>
                  </a:lnTo>
                  <a:lnTo>
                    <a:pt x="1282686" y="2848"/>
                  </a:lnTo>
                  <a:lnTo>
                    <a:pt x="1294215" y="10618"/>
                  </a:lnTo>
                  <a:lnTo>
                    <a:pt x="1301986" y="22143"/>
                  </a:lnTo>
                  <a:lnTo>
                    <a:pt x="1304836" y="36258"/>
                  </a:lnTo>
                  <a:lnTo>
                    <a:pt x="1304836" y="181305"/>
                  </a:lnTo>
                  <a:lnTo>
                    <a:pt x="1282686" y="214725"/>
                  </a:lnTo>
                  <a:lnTo>
                    <a:pt x="36258" y="217576"/>
                  </a:lnTo>
                  <a:lnTo>
                    <a:pt x="22143" y="214725"/>
                  </a:lnTo>
                  <a:lnTo>
                    <a:pt x="10618" y="206951"/>
                  </a:lnTo>
                  <a:lnTo>
                    <a:pt x="2848" y="195421"/>
                  </a:lnTo>
                  <a:lnTo>
                    <a:pt x="0" y="181305"/>
                  </a:lnTo>
                  <a:lnTo>
                    <a:pt x="0" y="3625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204826" y="5894069"/>
              <a:ext cx="706755" cy="217804"/>
            </a:xfrm>
            <a:custGeom>
              <a:avLst/>
              <a:gdLst/>
              <a:ahLst/>
              <a:cxnLst/>
              <a:rect l="l" t="t" r="r" b="b"/>
              <a:pathLst>
                <a:path w="706754" h="217804">
                  <a:moveTo>
                    <a:pt x="0" y="36258"/>
                  </a:moveTo>
                  <a:lnTo>
                    <a:pt x="0" y="181305"/>
                  </a:lnTo>
                  <a:lnTo>
                    <a:pt x="22143" y="214725"/>
                  </a:lnTo>
                  <a:lnTo>
                    <a:pt x="36258" y="217576"/>
                  </a:lnTo>
                  <a:lnTo>
                    <a:pt x="670318" y="217576"/>
                  </a:lnTo>
                  <a:lnTo>
                    <a:pt x="684435" y="214725"/>
                  </a:lnTo>
                  <a:lnTo>
                    <a:pt x="695964" y="206951"/>
                  </a:lnTo>
                  <a:lnTo>
                    <a:pt x="703738" y="195421"/>
                  </a:lnTo>
                  <a:lnTo>
                    <a:pt x="706589" y="181305"/>
                  </a:lnTo>
                  <a:lnTo>
                    <a:pt x="706589" y="36258"/>
                  </a:lnTo>
                  <a:lnTo>
                    <a:pt x="703738" y="22143"/>
                  </a:lnTo>
                  <a:lnTo>
                    <a:pt x="695964" y="10618"/>
                  </a:lnTo>
                  <a:lnTo>
                    <a:pt x="684435" y="2848"/>
                  </a:lnTo>
                  <a:lnTo>
                    <a:pt x="670318" y="0"/>
                  </a:lnTo>
                  <a:lnTo>
                    <a:pt x="36258" y="0"/>
                  </a:lnTo>
                  <a:lnTo>
                    <a:pt x="22143" y="2848"/>
                  </a:lnTo>
                  <a:lnTo>
                    <a:pt x="10618" y="10618"/>
                  </a:lnTo>
                  <a:lnTo>
                    <a:pt x="2848" y="22143"/>
                  </a:lnTo>
                  <a:lnTo>
                    <a:pt x="0" y="36258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204826" y="5894057"/>
              <a:ext cx="706755" cy="217804"/>
            </a:xfrm>
            <a:custGeom>
              <a:avLst/>
              <a:gdLst/>
              <a:ahLst/>
              <a:cxnLst/>
              <a:rect l="l" t="t" r="r" b="b"/>
              <a:pathLst>
                <a:path w="706754" h="217804">
                  <a:moveTo>
                    <a:pt x="0" y="36258"/>
                  </a:moveTo>
                  <a:lnTo>
                    <a:pt x="22143" y="2848"/>
                  </a:lnTo>
                  <a:lnTo>
                    <a:pt x="670318" y="0"/>
                  </a:lnTo>
                  <a:lnTo>
                    <a:pt x="684433" y="2848"/>
                  </a:lnTo>
                  <a:lnTo>
                    <a:pt x="695958" y="10618"/>
                  </a:lnTo>
                  <a:lnTo>
                    <a:pt x="703728" y="22143"/>
                  </a:lnTo>
                  <a:lnTo>
                    <a:pt x="706577" y="36258"/>
                  </a:lnTo>
                  <a:lnTo>
                    <a:pt x="706577" y="181305"/>
                  </a:lnTo>
                  <a:lnTo>
                    <a:pt x="684433" y="214725"/>
                  </a:lnTo>
                  <a:lnTo>
                    <a:pt x="36258" y="217576"/>
                  </a:lnTo>
                  <a:lnTo>
                    <a:pt x="22143" y="214725"/>
                  </a:lnTo>
                  <a:lnTo>
                    <a:pt x="10618" y="206951"/>
                  </a:lnTo>
                  <a:lnTo>
                    <a:pt x="2848" y="195421"/>
                  </a:lnTo>
                  <a:lnTo>
                    <a:pt x="0" y="181305"/>
                  </a:lnTo>
                  <a:lnTo>
                    <a:pt x="0" y="3625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558114" y="5589117"/>
              <a:ext cx="544195" cy="305435"/>
            </a:xfrm>
            <a:custGeom>
              <a:avLst/>
              <a:gdLst/>
              <a:ahLst/>
              <a:cxnLst/>
              <a:rect l="l" t="t" r="r" b="b"/>
              <a:pathLst>
                <a:path w="544195" h="305435">
                  <a:moveTo>
                    <a:pt x="0" y="304939"/>
                  </a:moveTo>
                  <a:lnTo>
                    <a:pt x="54408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264704" y="5894069"/>
              <a:ext cx="762000" cy="217804"/>
            </a:xfrm>
            <a:custGeom>
              <a:avLst/>
              <a:gdLst/>
              <a:ahLst/>
              <a:cxnLst/>
              <a:rect l="l" t="t" r="r" b="b"/>
              <a:pathLst>
                <a:path w="762000" h="217804">
                  <a:moveTo>
                    <a:pt x="0" y="36258"/>
                  </a:moveTo>
                  <a:lnTo>
                    <a:pt x="0" y="181305"/>
                  </a:lnTo>
                  <a:lnTo>
                    <a:pt x="22143" y="214725"/>
                  </a:lnTo>
                  <a:lnTo>
                    <a:pt x="36258" y="217576"/>
                  </a:lnTo>
                  <a:lnTo>
                    <a:pt x="725297" y="217576"/>
                  </a:lnTo>
                  <a:lnTo>
                    <a:pt x="739411" y="214725"/>
                  </a:lnTo>
                  <a:lnTo>
                    <a:pt x="750936" y="206951"/>
                  </a:lnTo>
                  <a:lnTo>
                    <a:pt x="758706" y="195421"/>
                  </a:lnTo>
                  <a:lnTo>
                    <a:pt x="761555" y="181305"/>
                  </a:lnTo>
                  <a:lnTo>
                    <a:pt x="761555" y="36258"/>
                  </a:lnTo>
                  <a:lnTo>
                    <a:pt x="758706" y="22143"/>
                  </a:lnTo>
                  <a:lnTo>
                    <a:pt x="750936" y="10618"/>
                  </a:lnTo>
                  <a:lnTo>
                    <a:pt x="739411" y="2848"/>
                  </a:lnTo>
                  <a:lnTo>
                    <a:pt x="725297" y="0"/>
                  </a:lnTo>
                  <a:lnTo>
                    <a:pt x="36258" y="0"/>
                  </a:lnTo>
                  <a:lnTo>
                    <a:pt x="22143" y="2848"/>
                  </a:lnTo>
                  <a:lnTo>
                    <a:pt x="10618" y="10618"/>
                  </a:lnTo>
                  <a:lnTo>
                    <a:pt x="2848" y="22143"/>
                  </a:lnTo>
                  <a:lnTo>
                    <a:pt x="0" y="36258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264691" y="5894057"/>
              <a:ext cx="762000" cy="217804"/>
            </a:xfrm>
            <a:custGeom>
              <a:avLst/>
              <a:gdLst/>
              <a:ahLst/>
              <a:cxnLst/>
              <a:rect l="l" t="t" r="r" b="b"/>
              <a:pathLst>
                <a:path w="762000" h="217804">
                  <a:moveTo>
                    <a:pt x="0" y="36258"/>
                  </a:moveTo>
                  <a:lnTo>
                    <a:pt x="22149" y="2848"/>
                  </a:lnTo>
                  <a:lnTo>
                    <a:pt x="725297" y="0"/>
                  </a:lnTo>
                  <a:lnTo>
                    <a:pt x="739411" y="2848"/>
                  </a:lnTo>
                  <a:lnTo>
                    <a:pt x="750936" y="10618"/>
                  </a:lnTo>
                  <a:lnTo>
                    <a:pt x="758706" y="22143"/>
                  </a:lnTo>
                  <a:lnTo>
                    <a:pt x="761555" y="36258"/>
                  </a:lnTo>
                  <a:lnTo>
                    <a:pt x="761555" y="181305"/>
                  </a:lnTo>
                  <a:lnTo>
                    <a:pt x="739411" y="214725"/>
                  </a:lnTo>
                  <a:lnTo>
                    <a:pt x="36258" y="217576"/>
                  </a:lnTo>
                  <a:lnTo>
                    <a:pt x="22149" y="214725"/>
                  </a:lnTo>
                  <a:lnTo>
                    <a:pt x="10623" y="206951"/>
                  </a:lnTo>
                  <a:lnTo>
                    <a:pt x="2850" y="195421"/>
                  </a:lnTo>
                  <a:lnTo>
                    <a:pt x="0" y="181305"/>
                  </a:lnTo>
                  <a:lnTo>
                    <a:pt x="0" y="3625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102195" y="5589117"/>
              <a:ext cx="543560" cy="305435"/>
            </a:xfrm>
            <a:custGeom>
              <a:avLst/>
              <a:gdLst/>
              <a:ahLst/>
              <a:cxnLst/>
              <a:rect l="l" t="t" r="r" b="b"/>
              <a:pathLst>
                <a:path w="543559" h="305435">
                  <a:moveTo>
                    <a:pt x="543280" y="304939"/>
                  </a:moveTo>
                  <a:lnTo>
                    <a:pt x="0" y="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36919" y="6416573"/>
              <a:ext cx="367030" cy="217804"/>
            </a:xfrm>
            <a:custGeom>
              <a:avLst/>
              <a:gdLst/>
              <a:ahLst/>
              <a:cxnLst/>
              <a:rect l="l" t="t" r="r" b="b"/>
              <a:pathLst>
                <a:path w="367029" h="217804">
                  <a:moveTo>
                    <a:pt x="0" y="36271"/>
                  </a:moveTo>
                  <a:lnTo>
                    <a:pt x="0" y="181317"/>
                  </a:lnTo>
                  <a:lnTo>
                    <a:pt x="22143" y="214738"/>
                  </a:lnTo>
                  <a:lnTo>
                    <a:pt x="36258" y="217589"/>
                  </a:lnTo>
                  <a:lnTo>
                    <a:pt x="330771" y="217589"/>
                  </a:lnTo>
                  <a:lnTo>
                    <a:pt x="344886" y="214738"/>
                  </a:lnTo>
                  <a:lnTo>
                    <a:pt x="356411" y="206963"/>
                  </a:lnTo>
                  <a:lnTo>
                    <a:pt x="364181" y="195434"/>
                  </a:lnTo>
                  <a:lnTo>
                    <a:pt x="367030" y="181317"/>
                  </a:lnTo>
                  <a:lnTo>
                    <a:pt x="367030" y="36271"/>
                  </a:lnTo>
                  <a:lnTo>
                    <a:pt x="364181" y="22154"/>
                  </a:lnTo>
                  <a:lnTo>
                    <a:pt x="356411" y="10625"/>
                  </a:lnTo>
                  <a:lnTo>
                    <a:pt x="344886" y="2850"/>
                  </a:lnTo>
                  <a:lnTo>
                    <a:pt x="330771" y="0"/>
                  </a:lnTo>
                  <a:lnTo>
                    <a:pt x="36258" y="0"/>
                  </a:lnTo>
                  <a:lnTo>
                    <a:pt x="22143" y="2850"/>
                  </a:lnTo>
                  <a:lnTo>
                    <a:pt x="10618" y="10625"/>
                  </a:lnTo>
                  <a:lnTo>
                    <a:pt x="2848" y="22154"/>
                  </a:lnTo>
                  <a:lnTo>
                    <a:pt x="0" y="36271"/>
                  </a:lnTo>
                  <a:close/>
                </a:path>
              </a:pathLst>
            </a:custGeom>
            <a:solidFill>
              <a:srgbClr val="AA7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136906" y="6416573"/>
              <a:ext cx="367030" cy="217804"/>
            </a:xfrm>
            <a:custGeom>
              <a:avLst/>
              <a:gdLst/>
              <a:ahLst/>
              <a:cxnLst/>
              <a:rect l="l" t="t" r="r" b="b"/>
              <a:pathLst>
                <a:path w="367029" h="217804">
                  <a:moveTo>
                    <a:pt x="0" y="36258"/>
                  </a:moveTo>
                  <a:lnTo>
                    <a:pt x="22143" y="2848"/>
                  </a:lnTo>
                  <a:lnTo>
                    <a:pt x="330771" y="0"/>
                  </a:lnTo>
                  <a:lnTo>
                    <a:pt x="344886" y="2848"/>
                  </a:lnTo>
                  <a:lnTo>
                    <a:pt x="356411" y="10618"/>
                  </a:lnTo>
                  <a:lnTo>
                    <a:pt x="364181" y="22143"/>
                  </a:lnTo>
                  <a:lnTo>
                    <a:pt x="367030" y="36258"/>
                  </a:lnTo>
                  <a:lnTo>
                    <a:pt x="367030" y="181305"/>
                  </a:lnTo>
                  <a:lnTo>
                    <a:pt x="364181" y="195421"/>
                  </a:lnTo>
                  <a:lnTo>
                    <a:pt x="356411" y="206951"/>
                  </a:lnTo>
                  <a:lnTo>
                    <a:pt x="344886" y="214725"/>
                  </a:lnTo>
                  <a:lnTo>
                    <a:pt x="330771" y="217576"/>
                  </a:lnTo>
                  <a:lnTo>
                    <a:pt x="36258" y="217576"/>
                  </a:lnTo>
                  <a:lnTo>
                    <a:pt x="22143" y="214725"/>
                  </a:lnTo>
                  <a:lnTo>
                    <a:pt x="10618" y="206951"/>
                  </a:lnTo>
                  <a:lnTo>
                    <a:pt x="2848" y="195421"/>
                  </a:lnTo>
                  <a:lnTo>
                    <a:pt x="0" y="181305"/>
                  </a:lnTo>
                  <a:lnTo>
                    <a:pt x="0" y="36258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320434" y="6111633"/>
              <a:ext cx="238125" cy="305435"/>
            </a:xfrm>
            <a:custGeom>
              <a:avLst/>
              <a:gdLst/>
              <a:ahLst/>
              <a:cxnLst/>
              <a:rect l="l" t="t" r="r" b="b"/>
              <a:pathLst>
                <a:path w="238125" h="305435">
                  <a:moveTo>
                    <a:pt x="0" y="304939"/>
                  </a:moveTo>
                  <a:lnTo>
                    <a:pt x="23768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221054" y="6416573"/>
              <a:ext cx="360045" cy="217804"/>
            </a:xfrm>
            <a:custGeom>
              <a:avLst/>
              <a:gdLst/>
              <a:ahLst/>
              <a:cxnLst/>
              <a:rect l="l" t="t" r="r" b="b"/>
              <a:pathLst>
                <a:path w="360045" h="217804">
                  <a:moveTo>
                    <a:pt x="0" y="36271"/>
                  </a:moveTo>
                  <a:lnTo>
                    <a:pt x="0" y="181317"/>
                  </a:lnTo>
                  <a:lnTo>
                    <a:pt x="22149" y="214738"/>
                  </a:lnTo>
                  <a:lnTo>
                    <a:pt x="36258" y="217589"/>
                  </a:lnTo>
                  <a:lnTo>
                    <a:pt x="323494" y="217589"/>
                  </a:lnTo>
                  <a:lnTo>
                    <a:pt x="337611" y="214738"/>
                  </a:lnTo>
                  <a:lnTo>
                    <a:pt x="349140" y="206963"/>
                  </a:lnTo>
                  <a:lnTo>
                    <a:pt x="356914" y="195434"/>
                  </a:lnTo>
                  <a:lnTo>
                    <a:pt x="359765" y="181317"/>
                  </a:lnTo>
                  <a:lnTo>
                    <a:pt x="359765" y="36271"/>
                  </a:lnTo>
                  <a:lnTo>
                    <a:pt x="356914" y="22154"/>
                  </a:lnTo>
                  <a:lnTo>
                    <a:pt x="349140" y="10625"/>
                  </a:lnTo>
                  <a:lnTo>
                    <a:pt x="337611" y="2850"/>
                  </a:lnTo>
                  <a:lnTo>
                    <a:pt x="323494" y="0"/>
                  </a:lnTo>
                  <a:lnTo>
                    <a:pt x="36258" y="0"/>
                  </a:lnTo>
                  <a:lnTo>
                    <a:pt x="22149" y="2850"/>
                  </a:lnTo>
                  <a:lnTo>
                    <a:pt x="10623" y="10625"/>
                  </a:lnTo>
                  <a:lnTo>
                    <a:pt x="2850" y="22154"/>
                  </a:lnTo>
                  <a:lnTo>
                    <a:pt x="0" y="36271"/>
                  </a:lnTo>
                  <a:close/>
                </a:path>
              </a:pathLst>
            </a:custGeom>
            <a:solidFill>
              <a:srgbClr val="AA7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221042" y="6416573"/>
              <a:ext cx="360045" cy="217804"/>
            </a:xfrm>
            <a:custGeom>
              <a:avLst/>
              <a:gdLst/>
              <a:ahLst/>
              <a:cxnLst/>
              <a:rect l="l" t="t" r="r" b="b"/>
              <a:pathLst>
                <a:path w="360045" h="217804">
                  <a:moveTo>
                    <a:pt x="0" y="36258"/>
                  </a:moveTo>
                  <a:lnTo>
                    <a:pt x="22143" y="2848"/>
                  </a:lnTo>
                  <a:lnTo>
                    <a:pt x="323494" y="0"/>
                  </a:lnTo>
                  <a:lnTo>
                    <a:pt x="337611" y="2848"/>
                  </a:lnTo>
                  <a:lnTo>
                    <a:pt x="349140" y="10618"/>
                  </a:lnTo>
                  <a:lnTo>
                    <a:pt x="356914" y="22143"/>
                  </a:lnTo>
                  <a:lnTo>
                    <a:pt x="359765" y="36258"/>
                  </a:lnTo>
                  <a:lnTo>
                    <a:pt x="359765" y="181305"/>
                  </a:lnTo>
                  <a:lnTo>
                    <a:pt x="356914" y="195421"/>
                  </a:lnTo>
                  <a:lnTo>
                    <a:pt x="349140" y="206951"/>
                  </a:lnTo>
                  <a:lnTo>
                    <a:pt x="337611" y="214725"/>
                  </a:lnTo>
                  <a:lnTo>
                    <a:pt x="323494" y="217576"/>
                  </a:lnTo>
                  <a:lnTo>
                    <a:pt x="36258" y="217576"/>
                  </a:lnTo>
                  <a:lnTo>
                    <a:pt x="22143" y="214725"/>
                  </a:lnTo>
                  <a:lnTo>
                    <a:pt x="10618" y="206951"/>
                  </a:lnTo>
                  <a:lnTo>
                    <a:pt x="2848" y="195421"/>
                  </a:lnTo>
                  <a:lnTo>
                    <a:pt x="0" y="181305"/>
                  </a:lnTo>
                  <a:lnTo>
                    <a:pt x="0" y="3625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401331" y="6111633"/>
              <a:ext cx="244475" cy="305435"/>
            </a:xfrm>
            <a:custGeom>
              <a:avLst/>
              <a:gdLst/>
              <a:ahLst/>
              <a:cxnLst/>
              <a:rect l="l" t="t" r="r" b="b"/>
              <a:pathLst>
                <a:path w="244475" h="305435">
                  <a:moveTo>
                    <a:pt x="0" y="304939"/>
                  </a:moveTo>
                  <a:lnTo>
                    <a:pt x="244144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639775" y="6416573"/>
              <a:ext cx="353695" cy="217804"/>
            </a:xfrm>
            <a:custGeom>
              <a:avLst/>
              <a:gdLst/>
              <a:ahLst/>
              <a:cxnLst/>
              <a:rect l="l" t="t" r="r" b="b"/>
              <a:pathLst>
                <a:path w="353695" h="217804">
                  <a:moveTo>
                    <a:pt x="0" y="36271"/>
                  </a:moveTo>
                  <a:lnTo>
                    <a:pt x="0" y="181317"/>
                  </a:lnTo>
                  <a:lnTo>
                    <a:pt x="22149" y="214738"/>
                  </a:lnTo>
                  <a:lnTo>
                    <a:pt x="36258" y="217589"/>
                  </a:lnTo>
                  <a:lnTo>
                    <a:pt x="317030" y="217589"/>
                  </a:lnTo>
                  <a:lnTo>
                    <a:pt x="331144" y="214738"/>
                  </a:lnTo>
                  <a:lnTo>
                    <a:pt x="342669" y="206963"/>
                  </a:lnTo>
                  <a:lnTo>
                    <a:pt x="350439" y="195434"/>
                  </a:lnTo>
                  <a:lnTo>
                    <a:pt x="353288" y="181317"/>
                  </a:lnTo>
                  <a:lnTo>
                    <a:pt x="353288" y="36271"/>
                  </a:lnTo>
                  <a:lnTo>
                    <a:pt x="350439" y="22154"/>
                  </a:lnTo>
                  <a:lnTo>
                    <a:pt x="342669" y="10625"/>
                  </a:lnTo>
                  <a:lnTo>
                    <a:pt x="331144" y="2850"/>
                  </a:lnTo>
                  <a:lnTo>
                    <a:pt x="317030" y="0"/>
                  </a:lnTo>
                  <a:lnTo>
                    <a:pt x="36258" y="0"/>
                  </a:lnTo>
                  <a:lnTo>
                    <a:pt x="22149" y="2850"/>
                  </a:lnTo>
                  <a:lnTo>
                    <a:pt x="10623" y="10625"/>
                  </a:lnTo>
                  <a:lnTo>
                    <a:pt x="2850" y="22154"/>
                  </a:lnTo>
                  <a:lnTo>
                    <a:pt x="0" y="36271"/>
                  </a:lnTo>
                  <a:close/>
                </a:path>
              </a:pathLst>
            </a:custGeom>
            <a:solidFill>
              <a:srgbClr val="AA7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639763" y="6416573"/>
              <a:ext cx="353695" cy="217804"/>
            </a:xfrm>
            <a:custGeom>
              <a:avLst/>
              <a:gdLst/>
              <a:ahLst/>
              <a:cxnLst/>
              <a:rect l="l" t="t" r="r" b="b"/>
              <a:pathLst>
                <a:path w="353695" h="217804">
                  <a:moveTo>
                    <a:pt x="0" y="36258"/>
                  </a:moveTo>
                  <a:lnTo>
                    <a:pt x="22143" y="2848"/>
                  </a:lnTo>
                  <a:lnTo>
                    <a:pt x="317030" y="0"/>
                  </a:lnTo>
                  <a:lnTo>
                    <a:pt x="331144" y="2848"/>
                  </a:lnTo>
                  <a:lnTo>
                    <a:pt x="342669" y="10618"/>
                  </a:lnTo>
                  <a:lnTo>
                    <a:pt x="350439" y="22143"/>
                  </a:lnTo>
                  <a:lnTo>
                    <a:pt x="353288" y="36258"/>
                  </a:lnTo>
                  <a:lnTo>
                    <a:pt x="353288" y="181305"/>
                  </a:lnTo>
                  <a:lnTo>
                    <a:pt x="350439" y="195421"/>
                  </a:lnTo>
                  <a:lnTo>
                    <a:pt x="342669" y="206951"/>
                  </a:lnTo>
                  <a:lnTo>
                    <a:pt x="331144" y="214725"/>
                  </a:lnTo>
                  <a:lnTo>
                    <a:pt x="317030" y="217576"/>
                  </a:lnTo>
                  <a:lnTo>
                    <a:pt x="36258" y="217576"/>
                  </a:lnTo>
                  <a:lnTo>
                    <a:pt x="22143" y="214725"/>
                  </a:lnTo>
                  <a:lnTo>
                    <a:pt x="10618" y="206951"/>
                  </a:lnTo>
                  <a:lnTo>
                    <a:pt x="2848" y="195421"/>
                  </a:lnTo>
                  <a:lnTo>
                    <a:pt x="0" y="181305"/>
                  </a:lnTo>
                  <a:lnTo>
                    <a:pt x="0" y="3625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558114" y="6111633"/>
              <a:ext cx="259079" cy="305435"/>
            </a:xfrm>
            <a:custGeom>
              <a:avLst/>
              <a:gdLst/>
              <a:ahLst/>
              <a:cxnLst/>
              <a:rect l="l" t="t" r="r" b="b"/>
              <a:pathLst>
                <a:path w="259079" h="305435">
                  <a:moveTo>
                    <a:pt x="0" y="0"/>
                  </a:moveTo>
                  <a:lnTo>
                    <a:pt x="258699" y="30493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727137" y="6416573"/>
              <a:ext cx="350520" cy="217804"/>
            </a:xfrm>
            <a:custGeom>
              <a:avLst/>
              <a:gdLst/>
              <a:ahLst/>
              <a:cxnLst/>
              <a:rect l="l" t="t" r="r" b="b"/>
              <a:pathLst>
                <a:path w="350520" h="217804">
                  <a:moveTo>
                    <a:pt x="0" y="36271"/>
                  </a:moveTo>
                  <a:lnTo>
                    <a:pt x="0" y="181317"/>
                  </a:lnTo>
                  <a:lnTo>
                    <a:pt x="22149" y="214738"/>
                  </a:lnTo>
                  <a:lnTo>
                    <a:pt x="36258" y="217589"/>
                  </a:lnTo>
                  <a:lnTo>
                    <a:pt x="313791" y="217589"/>
                  </a:lnTo>
                  <a:lnTo>
                    <a:pt x="327908" y="214738"/>
                  </a:lnTo>
                  <a:lnTo>
                    <a:pt x="339437" y="206963"/>
                  </a:lnTo>
                  <a:lnTo>
                    <a:pt x="347211" y="195434"/>
                  </a:lnTo>
                  <a:lnTo>
                    <a:pt x="350062" y="181317"/>
                  </a:lnTo>
                  <a:lnTo>
                    <a:pt x="350062" y="36271"/>
                  </a:lnTo>
                  <a:lnTo>
                    <a:pt x="347211" y="22154"/>
                  </a:lnTo>
                  <a:lnTo>
                    <a:pt x="339437" y="10625"/>
                  </a:lnTo>
                  <a:lnTo>
                    <a:pt x="327908" y="2850"/>
                  </a:lnTo>
                  <a:lnTo>
                    <a:pt x="313791" y="0"/>
                  </a:lnTo>
                  <a:lnTo>
                    <a:pt x="36258" y="0"/>
                  </a:lnTo>
                  <a:lnTo>
                    <a:pt x="22149" y="2850"/>
                  </a:lnTo>
                  <a:lnTo>
                    <a:pt x="10623" y="10625"/>
                  </a:lnTo>
                  <a:lnTo>
                    <a:pt x="2850" y="22154"/>
                  </a:lnTo>
                  <a:lnTo>
                    <a:pt x="0" y="36271"/>
                  </a:lnTo>
                  <a:close/>
                </a:path>
              </a:pathLst>
            </a:custGeom>
            <a:solidFill>
              <a:srgbClr val="AA7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727124" y="6416573"/>
              <a:ext cx="350520" cy="217804"/>
            </a:xfrm>
            <a:custGeom>
              <a:avLst/>
              <a:gdLst/>
              <a:ahLst/>
              <a:cxnLst/>
              <a:rect l="l" t="t" r="r" b="b"/>
              <a:pathLst>
                <a:path w="350520" h="217804">
                  <a:moveTo>
                    <a:pt x="0" y="36258"/>
                  </a:moveTo>
                  <a:lnTo>
                    <a:pt x="22143" y="2848"/>
                  </a:lnTo>
                  <a:lnTo>
                    <a:pt x="313791" y="0"/>
                  </a:lnTo>
                  <a:lnTo>
                    <a:pt x="327908" y="2848"/>
                  </a:lnTo>
                  <a:lnTo>
                    <a:pt x="339437" y="10618"/>
                  </a:lnTo>
                  <a:lnTo>
                    <a:pt x="347211" y="22143"/>
                  </a:lnTo>
                  <a:lnTo>
                    <a:pt x="350062" y="36258"/>
                  </a:lnTo>
                  <a:lnTo>
                    <a:pt x="350062" y="181305"/>
                  </a:lnTo>
                  <a:lnTo>
                    <a:pt x="347211" y="195421"/>
                  </a:lnTo>
                  <a:lnTo>
                    <a:pt x="339437" y="206951"/>
                  </a:lnTo>
                  <a:lnTo>
                    <a:pt x="327908" y="214725"/>
                  </a:lnTo>
                  <a:lnTo>
                    <a:pt x="313791" y="217576"/>
                  </a:lnTo>
                  <a:lnTo>
                    <a:pt x="36258" y="217576"/>
                  </a:lnTo>
                  <a:lnTo>
                    <a:pt x="22143" y="214725"/>
                  </a:lnTo>
                  <a:lnTo>
                    <a:pt x="10618" y="206951"/>
                  </a:lnTo>
                  <a:lnTo>
                    <a:pt x="2848" y="195421"/>
                  </a:lnTo>
                  <a:lnTo>
                    <a:pt x="0" y="181305"/>
                  </a:lnTo>
                  <a:lnTo>
                    <a:pt x="0" y="36258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645475" y="6111633"/>
              <a:ext cx="257175" cy="305435"/>
            </a:xfrm>
            <a:custGeom>
              <a:avLst/>
              <a:gdLst/>
              <a:ahLst/>
              <a:cxnLst/>
              <a:rect l="l" t="t" r="r" b="b"/>
              <a:pathLst>
                <a:path w="257175" h="305435">
                  <a:moveTo>
                    <a:pt x="0" y="0"/>
                  </a:moveTo>
                  <a:lnTo>
                    <a:pt x="257086" y="30493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981700" y="5067414"/>
              <a:ext cx="1120775" cy="304165"/>
            </a:xfrm>
            <a:custGeom>
              <a:avLst/>
              <a:gdLst/>
              <a:ahLst/>
              <a:cxnLst/>
              <a:rect l="l" t="t" r="r" b="b"/>
              <a:pathLst>
                <a:path w="1120775" h="304164">
                  <a:moveTo>
                    <a:pt x="1120508" y="304126"/>
                  </a:moveTo>
                  <a:lnTo>
                    <a:pt x="0" y="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1978025" y="5846927"/>
            <a:ext cx="89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Times New Roman"/>
                <a:cs typeface="Times New Roman"/>
              </a:rPr>
              <a:t>i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31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  <p:sp>
        <p:nvSpPr>
          <p:cNvPr id="51" name="object 51"/>
          <p:cNvSpPr txBox="1"/>
          <p:nvPr/>
        </p:nvSpPr>
        <p:spPr>
          <a:xfrm>
            <a:off x="2591859" y="5778347"/>
            <a:ext cx="233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-16975" dirty="0">
                <a:latin typeface="Times New Roman"/>
                <a:cs typeface="Times New Roman"/>
              </a:rPr>
              <a:t>2</a:t>
            </a:r>
            <a:r>
              <a:rPr sz="1200" b="1" i="1" dirty="0">
                <a:latin typeface="Times New Roman"/>
                <a:cs typeface="Times New Roman"/>
              </a:rPr>
              <a:t>i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695894" y="4252427"/>
            <a:ext cx="1924050" cy="1894839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65"/>
              </a:spcBef>
              <a:tabLst>
                <a:tab pos="1509395" algn="l"/>
              </a:tabLst>
            </a:pPr>
            <a:r>
              <a:rPr sz="1800" spc="-5" dirty="0">
                <a:latin typeface="Tahoma"/>
                <a:cs typeface="Tahoma"/>
              </a:rPr>
              <a:t>depth</a:t>
            </a:r>
            <a:r>
              <a:rPr sz="1800" spc="135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#seqs	size</a:t>
            </a:r>
            <a:endParaRPr sz="1800">
              <a:latin typeface="Tahoma"/>
              <a:cs typeface="Tahoma"/>
            </a:endParaRPr>
          </a:p>
          <a:p>
            <a:pPr marL="269240">
              <a:lnSpc>
                <a:spcPct val="100000"/>
              </a:lnSpc>
              <a:spcBef>
                <a:spcPts val="1065"/>
              </a:spcBef>
              <a:tabLst>
                <a:tab pos="955040" algn="l"/>
                <a:tab pos="1634489" algn="l"/>
              </a:tabLst>
            </a:pPr>
            <a:r>
              <a:rPr sz="1800" dirty="0">
                <a:latin typeface="Times New Roman"/>
                <a:cs typeface="Times New Roman"/>
              </a:rPr>
              <a:t>0	1	</a:t>
            </a:r>
            <a:r>
              <a:rPr sz="1800" b="1" i="1" spc="-5" dirty="0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  <a:p>
            <a:pPr marL="1524000" marR="44450" indent="-1255395">
              <a:lnSpc>
                <a:spcPct val="191300"/>
              </a:lnSpc>
              <a:tabLst>
                <a:tab pos="955040" algn="l"/>
                <a:tab pos="1545590" algn="l"/>
              </a:tabLst>
            </a:pPr>
            <a:r>
              <a:rPr sz="1800" dirty="0">
                <a:latin typeface="Times New Roman"/>
                <a:cs typeface="Times New Roman"/>
              </a:rPr>
              <a:t>1	2		</a:t>
            </a:r>
            <a:r>
              <a:rPr sz="1800" b="1" i="1" spc="-5" dirty="0">
                <a:latin typeface="Times New Roman"/>
                <a:cs typeface="Times New Roman"/>
              </a:rPr>
              <a:t>n</a:t>
            </a:r>
            <a:r>
              <a:rPr sz="1800" b="1" i="1" spc="-5" dirty="0">
                <a:latin typeface="Symbol"/>
                <a:cs typeface="Symbol"/>
              </a:rPr>
              <a:t></a:t>
            </a:r>
            <a:r>
              <a:rPr sz="1800" spc="-5" dirty="0">
                <a:latin typeface="Times New Roman"/>
                <a:cs typeface="Times New Roman"/>
              </a:rPr>
              <a:t>2  </a:t>
            </a:r>
            <a:r>
              <a:rPr sz="1800" b="1" i="1" spc="-5" dirty="0">
                <a:latin typeface="Times New Roman"/>
                <a:cs typeface="Times New Roman"/>
              </a:rPr>
              <a:t>n</a:t>
            </a:r>
            <a:r>
              <a:rPr sz="1800" b="1" i="1" spc="-5" dirty="0">
                <a:latin typeface="Symbol"/>
                <a:cs typeface="Symbol"/>
              </a:rPr>
              <a:t></a:t>
            </a:r>
            <a:r>
              <a:rPr sz="1800" dirty="0">
                <a:latin typeface="Times New Roman"/>
                <a:cs typeface="Times New Roman"/>
              </a:rPr>
              <a:t>2</a:t>
            </a:r>
            <a:r>
              <a:rPr sz="1800" b="1" i="1" baseline="25462" dirty="0">
                <a:latin typeface="Times New Roman"/>
                <a:cs typeface="Times New Roman"/>
              </a:rPr>
              <a:t>i</a:t>
            </a:r>
            <a:endParaRPr sz="1800" baseline="25462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895475" y="6370003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Times New Roman"/>
                <a:cs typeface="Times New Roman"/>
              </a:rPr>
              <a:t>…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581275" y="6370003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…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267075" y="6370003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…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766119" y="4161034"/>
            <a:ext cx="2703195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i="1" spc="15" dirty="0">
                <a:latin typeface="Arial"/>
                <a:cs typeface="Arial"/>
              </a:rPr>
              <a:t>T</a:t>
            </a:r>
            <a:r>
              <a:rPr sz="2200" i="1" spc="-415" dirty="0">
                <a:latin typeface="Arial"/>
                <a:cs typeface="Arial"/>
              </a:rPr>
              <a:t> </a:t>
            </a:r>
            <a:r>
              <a:rPr sz="2200" spc="5" dirty="0">
                <a:latin typeface="Arial"/>
                <a:cs typeface="Arial"/>
              </a:rPr>
              <a:t>(</a:t>
            </a:r>
            <a:r>
              <a:rPr sz="2200" i="1" spc="5" dirty="0">
                <a:latin typeface="Arial"/>
                <a:cs typeface="Arial"/>
              </a:rPr>
              <a:t>n</a:t>
            </a:r>
            <a:r>
              <a:rPr sz="2200" spc="5" dirty="0">
                <a:latin typeface="Arial"/>
                <a:cs typeface="Arial"/>
              </a:rPr>
              <a:t>)</a:t>
            </a:r>
            <a:r>
              <a:rPr sz="2200" spc="-150" dirty="0">
                <a:latin typeface="Arial"/>
                <a:cs typeface="Arial"/>
              </a:rPr>
              <a:t> </a:t>
            </a:r>
            <a:r>
              <a:rPr sz="2200" spc="15" dirty="0">
                <a:latin typeface="Symbol"/>
                <a:cs typeface="Symbol"/>
              </a:rPr>
              <a:t>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100" dirty="0">
                <a:latin typeface="Arial"/>
                <a:cs typeface="Arial"/>
              </a:rPr>
              <a:t>2</a:t>
            </a:r>
            <a:r>
              <a:rPr sz="2200" i="1" spc="-100" dirty="0">
                <a:latin typeface="Arial"/>
                <a:cs typeface="Arial"/>
              </a:rPr>
              <a:t>T</a:t>
            </a:r>
            <a:r>
              <a:rPr sz="2200" i="1" spc="-409" dirty="0">
                <a:latin typeface="Arial"/>
                <a:cs typeface="Arial"/>
              </a:rPr>
              <a:t> </a:t>
            </a:r>
            <a:r>
              <a:rPr sz="2200" spc="5" dirty="0">
                <a:latin typeface="Arial"/>
                <a:cs typeface="Arial"/>
              </a:rPr>
              <a:t>(</a:t>
            </a:r>
            <a:r>
              <a:rPr sz="2200" i="1" spc="5" dirty="0">
                <a:latin typeface="Arial"/>
                <a:cs typeface="Arial"/>
              </a:rPr>
              <a:t>n</a:t>
            </a:r>
            <a:r>
              <a:rPr sz="2200" i="1" spc="-145" dirty="0">
                <a:latin typeface="Arial"/>
                <a:cs typeface="Arial"/>
              </a:rPr>
              <a:t> </a:t>
            </a:r>
            <a:r>
              <a:rPr sz="2200" spc="5" dirty="0">
                <a:latin typeface="Arial"/>
                <a:cs typeface="Arial"/>
              </a:rPr>
              <a:t>/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2)</a:t>
            </a:r>
            <a:r>
              <a:rPr sz="2200" spc="-245" dirty="0">
                <a:latin typeface="Arial"/>
                <a:cs typeface="Arial"/>
              </a:rPr>
              <a:t> </a:t>
            </a:r>
            <a:r>
              <a:rPr sz="2200" spc="15" dirty="0">
                <a:latin typeface="Symbol"/>
                <a:cs typeface="Symbol"/>
              </a:rPr>
              <a:t></a:t>
            </a:r>
            <a:r>
              <a:rPr sz="2200" spc="-20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Arial"/>
                <a:cs typeface="Arial"/>
              </a:rPr>
              <a:t>O</a:t>
            </a:r>
            <a:r>
              <a:rPr sz="2200" dirty="0">
                <a:latin typeface="Arial"/>
                <a:cs typeface="Arial"/>
              </a:rPr>
              <a:t>(</a:t>
            </a:r>
            <a:r>
              <a:rPr sz="2200" i="1" dirty="0">
                <a:latin typeface="Arial"/>
                <a:cs typeface="Arial"/>
              </a:rPr>
              <a:t>n</a:t>
            </a:r>
            <a:r>
              <a:rPr sz="2200" dirty="0"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94530" y="758520"/>
            <a:ext cx="167386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Heapsort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32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3139" y="1473921"/>
            <a:ext cx="5433060" cy="2219960"/>
          </a:xfrm>
          <a:prstGeom prst="rect">
            <a:avLst/>
          </a:prstGeom>
        </p:spPr>
        <p:txBody>
          <a:bodyPr vert="horz" wrap="square" lIns="0" tIns="19812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56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Invented by Williams </a:t>
            </a:r>
            <a:r>
              <a:rPr sz="2400" dirty="0">
                <a:latin typeface="Arial"/>
                <a:cs typeface="Arial"/>
              </a:rPr>
              <a:t>&amp; </a:t>
            </a:r>
            <a:r>
              <a:rPr sz="2400" spc="-5" dirty="0">
                <a:latin typeface="Arial"/>
                <a:cs typeface="Arial"/>
              </a:rPr>
              <a:t>Floyd in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1964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46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O(</a:t>
            </a:r>
            <a:r>
              <a:rPr sz="2400" i="1" spc="-5" dirty="0">
                <a:latin typeface="Arial"/>
                <a:cs typeface="Arial"/>
              </a:rPr>
              <a:t>nlogn</a:t>
            </a:r>
            <a:r>
              <a:rPr sz="2400" spc="-5" dirty="0">
                <a:latin typeface="Arial"/>
                <a:cs typeface="Arial"/>
              </a:rPr>
              <a:t>) worst case – like merge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sort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42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Sorts in place – like insertion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sort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42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Combines the best of both</a:t>
            </a:r>
            <a:r>
              <a:rPr sz="2400" spc="-10" dirty="0">
                <a:latin typeface="Arial"/>
                <a:cs typeface="Arial"/>
              </a:rPr>
              <a:t> algorithms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54005" y="619759"/>
            <a:ext cx="255524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Selection</a:t>
            </a:r>
            <a:r>
              <a:rPr spc="-85" dirty="0"/>
              <a:t> </a:t>
            </a:r>
            <a:r>
              <a:rPr spc="-5" dirty="0"/>
              <a:t>Sort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59952" y="2085657"/>
            <a:ext cx="66351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latin typeface="Arial"/>
                <a:cs typeface="Arial"/>
              </a:rPr>
              <a:t>Largest i values are sorted on the right.  Remaining values are </a:t>
            </a:r>
            <a:r>
              <a:rPr sz="3000" spc="-20" dirty="0">
                <a:latin typeface="Arial"/>
                <a:cs typeface="Arial"/>
              </a:rPr>
              <a:t>off </a:t>
            </a:r>
            <a:r>
              <a:rPr sz="3000" spc="-5" dirty="0">
                <a:latin typeface="Arial"/>
                <a:cs typeface="Arial"/>
              </a:rPr>
              <a:t>to the left.</a:t>
            </a:r>
            <a:endParaRPr sz="3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65724" y="3952862"/>
            <a:ext cx="1894205" cy="466725"/>
          </a:xfrm>
          <a:prstGeom prst="rect">
            <a:avLst/>
          </a:prstGeom>
          <a:ln w="38100">
            <a:solidFill>
              <a:srgbClr val="0E2FFF"/>
            </a:solidFill>
          </a:ln>
        </p:spPr>
        <p:txBody>
          <a:bodyPr vert="horz" wrap="square" lIns="0" tIns="86995" rIns="0" bIns="0" rtlCol="0">
            <a:spAutoFit/>
          </a:bodyPr>
          <a:lstStyle/>
          <a:p>
            <a:pPr marL="1092835">
              <a:lnSpc>
                <a:spcPct val="100000"/>
              </a:lnSpc>
              <a:spcBef>
                <a:spcPts val="685"/>
              </a:spcBef>
            </a:pPr>
            <a:r>
              <a:rPr sz="1800" dirty="0">
                <a:solidFill>
                  <a:srgbClr val="37D142"/>
                </a:solidFill>
                <a:latin typeface="Arial"/>
                <a:cs typeface="Arial"/>
              </a:rPr>
              <a:t>6,7,8,9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15815" y="3814445"/>
            <a:ext cx="35179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D84900"/>
                </a:solidFill>
                <a:latin typeface="Arial"/>
                <a:cs typeface="Arial"/>
              </a:rPr>
              <a:t>&lt;</a:t>
            </a:r>
            <a:endParaRPr sz="4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36829" y="3619179"/>
            <a:ext cx="1874520" cy="1156335"/>
          </a:xfrm>
          <a:custGeom>
            <a:avLst/>
            <a:gdLst/>
            <a:ahLst/>
            <a:cxnLst/>
            <a:rect l="l" t="t" r="r" b="b"/>
            <a:pathLst>
              <a:path w="1874520" h="1156335">
                <a:moveTo>
                  <a:pt x="355646" y="203037"/>
                </a:moveTo>
                <a:lnTo>
                  <a:pt x="312801" y="231645"/>
                </a:lnTo>
                <a:lnTo>
                  <a:pt x="269036" y="265047"/>
                </a:lnTo>
                <a:lnTo>
                  <a:pt x="225360" y="302263"/>
                </a:lnTo>
                <a:lnTo>
                  <a:pt x="182779" y="342310"/>
                </a:lnTo>
                <a:lnTo>
                  <a:pt x="142300" y="384206"/>
                </a:lnTo>
                <a:lnTo>
                  <a:pt x="104932" y="426968"/>
                </a:lnTo>
                <a:lnTo>
                  <a:pt x="71681" y="469615"/>
                </a:lnTo>
                <a:lnTo>
                  <a:pt x="43555" y="511163"/>
                </a:lnTo>
                <a:lnTo>
                  <a:pt x="21561" y="550632"/>
                </a:lnTo>
                <a:lnTo>
                  <a:pt x="6707" y="587039"/>
                </a:lnTo>
                <a:lnTo>
                  <a:pt x="0" y="619401"/>
                </a:lnTo>
                <a:lnTo>
                  <a:pt x="2446" y="646737"/>
                </a:lnTo>
                <a:lnTo>
                  <a:pt x="41703" y="686428"/>
                </a:lnTo>
                <a:lnTo>
                  <a:pt x="120294" y="711612"/>
                </a:lnTo>
                <a:lnTo>
                  <a:pt x="169768" y="720682"/>
                </a:lnTo>
                <a:lnTo>
                  <a:pt x="223590" y="728426"/>
                </a:lnTo>
                <a:lnTo>
                  <a:pt x="279930" y="735613"/>
                </a:lnTo>
                <a:lnTo>
                  <a:pt x="336960" y="743008"/>
                </a:lnTo>
                <a:lnTo>
                  <a:pt x="392850" y="751378"/>
                </a:lnTo>
                <a:lnTo>
                  <a:pt x="445774" y="761493"/>
                </a:lnTo>
                <a:lnTo>
                  <a:pt x="493900" y="774117"/>
                </a:lnTo>
                <a:lnTo>
                  <a:pt x="535402" y="790018"/>
                </a:lnTo>
                <a:lnTo>
                  <a:pt x="578686" y="813789"/>
                </a:lnTo>
                <a:lnTo>
                  <a:pt x="618798" y="841648"/>
                </a:lnTo>
                <a:lnTo>
                  <a:pt x="656414" y="872470"/>
                </a:lnTo>
                <a:lnTo>
                  <a:pt x="692206" y="905127"/>
                </a:lnTo>
                <a:lnTo>
                  <a:pt x="726851" y="938496"/>
                </a:lnTo>
                <a:lnTo>
                  <a:pt x="761023" y="971448"/>
                </a:lnTo>
                <a:lnTo>
                  <a:pt x="795396" y="1002859"/>
                </a:lnTo>
                <a:lnTo>
                  <a:pt x="830645" y="1031602"/>
                </a:lnTo>
                <a:lnTo>
                  <a:pt x="867445" y="1056551"/>
                </a:lnTo>
                <a:lnTo>
                  <a:pt x="906470" y="1076581"/>
                </a:lnTo>
                <a:lnTo>
                  <a:pt x="951503" y="1095461"/>
                </a:lnTo>
                <a:lnTo>
                  <a:pt x="996994" y="1113293"/>
                </a:lnTo>
                <a:lnTo>
                  <a:pt x="1043090" y="1129161"/>
                </a:lnTo>
                <a:lnTo>
                  <a:pt x="1089939" y="1142155"/>
                </a:lnTo>
                <a:lnTo>
                  <a:pt x="1137687" y="1151360"/>
                </a:lnTo>
                <a:lnTo>
                  <a:pt x="1186483" y="1155865"/>
                </a:lnTo>
                <a:lnTo>
                  <a:pt x="1236472" y="1154755"/>
                </a:lnTo>
                <a:lnTo>
                  <a:pt x="1287802" y="1147118"/>
                </a:lnTo>
                <a:lnTo>
                  <a:pt x="1340620" y="1132042"/>
                </a:lnTo>
                <a:lnTo>
                  <a:pt x="1411759" y="1106091"/>
                </a:lnTo>
                <a:lnTo>
                  <a:pt x="1453824" y="1089925"/>
                </a:lnTo>
                <a:lnTo>
                  <a:pt x="1498777" y="1071768"/>
                </a:lnTo>
                <a:lnTo>
                  <a:pt x="1545535" y="1051720"/>
                </a:lnTo>
                <a:lnTo>
                  <a:pt x="1593015" y="1029883"/>
                </a:lnTo>
                <a:lnTo>
                  <a:pt x="1640135" y="1006359"/>
                </a:lnTo>
                <a:lnTo>
                  <a:pt x="1685812" y="981250"/>
                </a:lnTo>
                <a:lnTo>
                  <a:pt x="1728964" y="954657"/>
                </a:lnTo>
                <a:lnTo>
                  <a:pt x="1768508" y="926681"/>
                </a:lnTo>
                <a:lnTo>
                  <a:pt x="1803361" y="897425"/>
                </a:lnTo>
                <a:lnTo>
                  <a:pt x="1832442" y="866989"/>
                </a:lnTo>
                <a:lnTo>
                  <a:pt x="1854667" y="835476"/>
                </a:lnTo>
                <a:lnTo>
                  <a:pt x="1874221" y="769622"/>
                </a:lnTo>
                <a:lnTo>
                  <a:pt x="1869384" y="735484"/>
                </a:lnTo>
                <a:lnTo>
                  <a:pt x="1844389" y="682146"/>
                </a:lnTo>
                <a:lnTo>
                  <a:pt x="1800020" y="619690"/>
                </a:lnTo>
                <a:lnTo>
                  <a:pt x="1771549" y="585786"/>
                </a:lnTo>
                <a:lnTo>
                  <a:pt x="1739411" y="550493"/>
                </a:lnTo>
                <a:lnTo>
                  <a:pt x="1703996" y="514107"/>
                </a:lnTo>
                <a:lnTo>
                  <a:pt x="1665698" y="476927"/>
                </a:lnTo>
                <a:lnTo>
                  <a:pt x="1624907" y="439247"/>
                </a:lnTo>
                <a:lnTo>
                  <a:pt x="1582015" y="401366"/>
                </a:lnTo>
                <a:lnTo>
                  <a:pt x="1537415" y="363580"/>
                </a:lnTo>
                <a:lnTo>
                  <a:pt x="1491499" y="326185"/>
                </a:lnTo>
                <a:lnTo>
                  <a:pt x="1444658" y="289479"/>
                </a:lnTo>
                <a:lnTo>
                  <a:pt x="1397283" y="253757"/>
                </a:lnTo>
                <a:lnTo>
                  <a:pt x="1349768" y="219318"/>
                </a:lnTo>
                <a:lnTo>
                  <a:pt x="1302504" y="186457"/>
                </a:lnTo>
                <a:lnTo>
                  <a:pt x="1255883" y="155471"/>
                </a:lnTo>
                <a:lnTo>
                  <a:pt x="1210297" y="126657"/>
                </a:lnTo>
                <a:lnTo>
                  <a:pt x="1166137" y="100312"/>
                </a:lnTo>
                <a:lnTo>
                  <a:pt x="1123795" y="76733"/>
                </a:lnTo>
                <a:lnTo>
                  <a:pt x="1083664" y="56215"/>
                </a:lnTo>
                <a:lnTo>
                  <a:pt x="1046135" y="39057"/>
                </a:lnTo>
                <a:lnTo>
                  <a:pt x="961381" y="11068"/>
                </a:lnTo>
                <a:lnTo>
                  <a:pt x="911699" y="2733"/>
                </a:lnTo>
                <a:lnTo>
                  <a:pt x="862646" y="0"/>
                </a:lnTo>
                <a:lnTo>
                  <a:pt x="814311" y="2314"/>
                </a:lnTo>
                <a:lnTo>
                  <a:pt x="766784" y="9124"/>
                </a:lnTo>
                <a:lnTo>
                  <a:pt x="720153" y="19878"/>
                </a:lnTo>
                <a:lnTo>
                  <a:pt x="674510" y="34024"/>
                </a:lnTo>
                <a:lnTo>
                  <a:pt x="629943" y="51009"/>
                </a:lnTo>
                <a:lnTo>
                  <a:pt x="586542" y="70282"/>
                </a:lnTo>
                <a:lnTo>
                  <a:pt x="544397" y="91291"/>
                </a:lnTo>
                <a:lnTo>
                  <a:pt x="503598" y="113482"/>
                </a:lnTo>
                <a:lnTo>
                  <a:pt x="464233" y="136305"/>
                </a:lnTo>
                <a:lnTo>
                  <a:pt x="426393" y="159206"/>
                </a:lnTo>
                <a:lnTo>
                  <a:pt x="390168" y="181634"/>
                </a:lnTo>
                <a:lnTo>
                  <a:pt x="355646" y="203037"/>
                </a:lnTo>
                <a:close/>
              </a:path>
            </a:pathLst>
          </a:custGeom>
          <a:ln w="38100">
            <a:solidFill>
              <a:srgbClr val="0E2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944177" y="3699820"/>
            <a:ext cx="578485" cy="89281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R="34925" algn="r">
              <a:lnSpc>
                <a:spcPct val="100000"/>
              </a:lnSpc>
              <a:spcBef>
                <a:spcPts val="375"/>
              </a:spcBef>
              <a:tabLst>
                <a:tab pos="394970" algn="l"/>
              </a:tabLst>
            </a:pPr>
            <a:r>
              <a:rPr sz="1800" spc="-5" dirty="0">
                <a:solidFill>
                  <a:srgbClr val="37D142"/>
                </a:solidFill>
                <a:latin typeface="Arial"/>
                <a:cs typeface="Arial"/>
              </a:rPr>
              <a:t>3	</a:t>
            </a:r>
            <a:r>
              <a:rPr sz="2700" spc="-7" baseline="1543" dirty="0">
                <a:solidFill>
                  <a:srgbClr val="37D142"/>
                </a:solidFill>
                <a:latin typeface="Arial"/>
                <a:cs typeface="Arial"/>
              </a:rPr>
              <a:t>5</a:t>
            </a:r>
            <a:endParaRPr sz="2700" baseline="1543">
              <a:latin typeface="Arial"/>
              <a:cs typeface="Arial"/>
            </a:endParaRPr>
          </a:p>
          <a:p>
            <a:pPr marR="5080" algn="r">
              <a:lnSpc>
                <a:spcPts val="2055"/>
              </a:lnSpc>
              <a:spcBef>
                <a:spcPts val="280"/>
              </a:spcBef>
            </a:pPr>
            <a:r>
              <a:rPr sz="1800" spc="-5" dirty="0">
                <a:solidFill>
                  <a:srgbClr val="37D142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  <a:p>
            <a:pPr marR="34925" algn="r">
              <a:lnSpc>
                <a:spcPts val="2055"/>
              </a:lnSpc>
            </a:pPr>
            <a:r>
              <a:rPr sz="1800" spc="-5" dirty="0">
                <a:solidFill>
                  <a:srgbClr val="37D142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10947" y="448437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37D142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270250" y="3614308"/>
            <a:ext cx="2990850" cy="475615"/>
            <a:chOff x="3270250" y="3614308"/>
            <a:chExt cx="2990850" cy="475615"/>
          </a:xfrm>
        </p:grpSpPr>
        <p:sp>
          <p:nvSpPr>
            <p:cNvPr id="11" name="object 11"/>
            <p:cNvSpPr/>
            <p:nvPr/>
          </p:nvSpPr>
          <p:spPr>
            <a:xfrm>
              <a:off x="3587750" y="3620658"/>
              <a:ext cx="2658110" cy="448945"/>
            </a:xfrm>
            <a:custGeom>
              <a:avLst/>
              <a:gdLst/>
              <a:ahLst/>
              <a:cxnLst/>
              <a:rect l="l" t="t" r="r" b="b"/>
              <a:pathLst>
                <a:path w="2658110" h="448945">
                  <a:moveTo>
                    <a:pt x="0" y="140128"/>
                  </a:moveTo>
                  <a:lnTo>
                    <a:pt x="69049" y="134566"/>
                  </a:lnTo>
                  <a:lnTo>
                    <a:pt x="120264" y="129643"/>
                  </a:lnTo>
                  <a:lnTo>
                    <a:pt x="171457" y="124576"/>
                  </a:lnTo>
                  <a:lnTo>
                    <a:pt x="222634" y="119385"/>
                  </a:lnTo>
                  <a:lnTo>
                    <a:pt x="273795" y="114089"/>
                  </a:lnTo>
                  <a:lnTo>
                    <a:pt x="324944" y="108708"/>
                  </a:lnTo>
                  <a:lnTo>
                    <a:pt x="376084" y="103262"/>
                  </a:lnTo>
                  <a:lnTo>
                    <a:pt x="427218" y="97771"/>
                  </a:lnTo>
                  <a:lnTo>
                    <a:pt x="478349" y="92254"/>
                  </a:lnTo>
                  <a:lnTo>
                    <a:pt x="529478" y="86732"/>
                  </a:lnTo>
                  <a:lnTo>
                    <a:pt x="580610" y="81224"/>
                  </a:lnTo>
                  <a:lnTo>
                    <a:pt x="631747" y="75750"/>
                  </a:lnTo>
                  <a:lnTo>
                    <a:pt x="682891" y="70330"/>
                  </a:lnTo>
                  <a:lnTo>
                    <a:pt x="734046" y="64983"/>
                  </a:lnTo>
                  <a:lnTo>
                    <a:pt x="785215" y="59730"/>
                  </a:lnTo>
                  <a:lnTo>
                    <a:pt x="836400" y="54590"/>
                  </a:lnTo>
                  <a:lnTo>
                    <a:pt x="887604" y="49583"/>
                  </a:lnTo>
                  <a:lnTo>
                    <a:pt x="938830" y="44728"/>
                  </a:lnTo>
                  <a:lnTo>
                    <a:pt x="990080" y="40046"/>
                  </a:lnTo>
                  <a:lnTo>
                    <a:pt x="1041359" y="35557"/>
                  </a:lnTo>
                  <a:lnTo>
                    <a:pt x="1092667" y="31279"/>
                  </a:lnTo>
                  <a:lnTo>
                    <a:pt x="1144009" y="27234"/>
                  </a:lnTo>
                  <a:lnTo>
                    <a:pt x="1195387" y="23441"/>
                  </a:lnTo>
                  <a:lnTo>
                    <a:pt x="1335087" y="13128"/>
                  </a:lnTo>
                  <a:lnTo>
                    <a:pt x="1469224" y="5978"/>
                  </a:lnTo>
                  <a:lnTo>
                    <a:pt x="1519207" y="3728"/>
                  </a:lnTo>
                  <a:lnTo>
                    <a:pt x="1569251" y="1884"/>
                  </a:lnTo>
                  <a:lnTo>
                    <a:pt x="1619318" y="593"/>
                  </a:lnTo>
                  <a:lnTo>
                    <a:pt x="1669371" y="0"/>
                  </a:lnTo>
                  <a:lnTo>
                    <a:pt x="1719371" y="251"/>
                  </a:lnTo>
                  <a:lnTo>
                    <a:pt x="1769280" y="1492"/>
                  </a:lnTo>
                  <a:lnTo>
                    <a:pt x="1819060" y="3869"/>
                  </a:lnTo>
                  <a:lnTo>
                    <a:pt x="1868674" y="7527"/>
                  </a:lnTo>
                  <a:lnTo>
                    <a:pt x="1918084" y="12614"/>
                  </a:lnTo>
                  <a:lnTo>
                    <a:pt x="1967251" y="19273"/>
                  </a:lnTo>
                  <a:lnTo>
                    <a:pt x="2016138" y="27652"/>
                  </a:lnTo>
                  <a:lnTo>
                    <a:pt x="2064706" y="37896"/>
                  </a:lnTo>
                  <a:lnTo>
                    <a:pt x="2112918" y="50151"/>
                  </a:lnTo>
                  <a:lnTo>
                    <a:pt x="2160736" y="64563"/>
                  </a:lnTo>
                  <a:lnTo>
                    <a:pt x="2208121" y="81278"/>
                  </a:lnTo>
                  <a:lnTo>
                    <a:pt x="2255037" y="100441"/>
                  </a:lnTo>
                  <a:lnTo>
                    <a:pt x="2308225" y="126628"/>
                  </a:lnTo>
                  <a:lnTo>
                    <a:pt x="2402674" y="184578"/>
                  </a:lnTo>
                  <a:lnTo>
                    <a:pt x="2482850" y="248866"/>
                  </a:lnTo>
                  <a:lnTo>
                    <a:pt x="2552700" y="319516"/>
                  </a:lnTo>
                  <a:lnTo>
                    <a:pt x="2615399" y="393328"/>
                  </a:lnTo>
                  <a:lnTo>
                    <a:pt x="2657868" y="448598"/>
                  </a:lnTo>
                </a:path>
              </a:pathLst>
            </a:custGeom>
            <a:ln w="12700">
              <a:solidFill>
                <a:srgbClr val="D84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84455" y="4005770"/>
              <a:ext cx="76835" cy="83820"/>
            </a:xfrm>
            <a:custGeom>
              <a:avLst/>
              <a:gdLst/>
              <a:ahLst/>
              <a:cxnLst/>
              <a:rect l="l" t="t" r="r" b="b"/>
              <a:pathLst>
                <a:path w="76835" h="83820">
                  <a:moveTo>
                    <a:pt x="0" y="46431"/>
                  </a:moveTo>
                  <a:lnTo>
                    <a:pt x="76644" y="83642"/>
                  </a:lnTo>
                  <a:lnTo>
                    <a:pt x="60426" y="0"/>
                  </a:lnTo>
                  <a:lnTo>
                    <a:pt x="0" y="46431"/>
                  </a:lnTo>
                  <a:close/>
                </a:path>
              </a:pathLst>
            </a:custGeom>
            <a:solidFill>
              <a:srgbClr val="D84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76600" y="3670287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0" y="190500"/>
                  </a:moveTo>
                  <a:lnTo>
                    <a:pt x="5444" y="139858"/>
                  </a:lnTo>
                  <a:lnTo>
                    <a:pt x="20808" y="94352"/>
                  </a:lnTo>
                  <a:lnTo>
                    <a:pt x="44638" y="55797"/>
                  </a:lnTo>
                  <a:lnTo>
                    <a:pt x="75483" y="26009"/>
                  </a:lnTo>
                  <a:lnTo>
                    <a:pt x="111887" y="6805"/>
                  </a:lnTo>
                  <a:lnTo>
                    <a:pt x="152399" y="0"/>
                  </a:lnTo>
                  <a:lnTo>
                    <a:pt x="192912" y="6805"/>
                  </a:lnTo>
                  <a:lnTo>
                    <a:pt x="229316" y="26009"/>
                  </a:lnTo>
                  <a:lnTo>
                    <a:pt x="260161" y="55797"/>
                  </a:lnTo>
                  <a:lnTo>
                    <a:pt x="283991" y="94352"/>
                  </a:lnTo>
                  <a:lnTo>
                    <a:pt x="299355" y="139858"/>
                  </a:lnTo>
                  <a:lnTo>
                    <a:pt x="304800" y="190499"/>
                  </a:lnTo>
                  <a:lnTo>
                    <a:pt x="299355" y="241141"/>
                  </a:lnTo>
                  <a:lnTo>
                    <a:pt x="283991" y="286647"/>
                  </a:lnTo>
                  <a:lnTo>
                    <a:pt x="260161" y="325202"/>
                  </a:lnTo>
                  <a:lnTo>
                    <a:pt x="229316" y="354990"/>
                  </a:lnTo>
                  <a:lnTo>
                    <a:pt x="192912" y="374194"/>
                  </a:lnTo>
                  <a:lnTo>
                    <a:pt x="152400" y="381000"/>
                  </a:lnTo>
                  <a:lnTo>
                    <a:pt x="111887" y="374194"/>
                  </a:lnTo>
                  <a:lnTo>
                    <a:pt x="75483" y="354990"/>
                  </a:lnTo>
                  <a:lnTo>
                    <a:pt x="44638" y="325202"/>
                  </a:lnTo>
                  <a:lnTo>
                    <a:pt x="20808" y="286647"/>
                  </a:lnTo>
                  <a:lnTo>
                    <a:pt x="5444" y="241141"/>
                  </a:lnTo>
                  <a:lnTo>
                    <a:pt x="0" y="190500"/>
                  </a:lnTo>
                  <a:close/>
                </a:path>
              </a:pathLst>
            </a:custGeom>
            <a:ln w="12700">
              <a:solidFill>
                <a:srgbClr val="D84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517139" y="5209857"/>
            <a:ext cx="50863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latin typeface="Arial"/>
                <a:cs typeface="Arial"/>
              </a:rPr>
              <a:t>Max is easier to find if a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heap.</a:t>
            </a:r>
            <a:endParaRPr sz="30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33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78238" y="758520"/>
            <a:ext cx="370649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Heap-Sort</a:t>
            </a:r>
            <a:r>
              <a:rPr spc="-45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34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3139" y="1473921"/>
            <a:ext cx="7635875" cy="2405380"/>
          </a:xfrm>
          <a:prstGeom prst="rect">
            <a:avLst/>
          </a:prstGeom>
        </p:spPr>
        <p:txBody>
          <a:bodyPr vert="horz" wrap="square" lIns="0" tIns="19812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56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Build an array-based (max)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heap</a:t>
            </a:r>
            <a:endParaRPr sz="2400">
              <a:latin typeface="Arial"/>
              <a:cs typeface="Arial"/>
            </a:endParaRPr>
          </a:p>
          <a:p>
            <a:pPr marL="355600" marR="666115" indent="-342900">
              <a:lnSpc>
                <a:spcPts val="2860"/>
              </a:lnSpc>
              <a:spcBef>
                <a:spcPts val="157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Iteratively </a:t>
            </a:r>
            <a:r>
              <a:rPr sz="2400" spc="-5" dirty="0">
                <a:latin typeface="Arial"/>
                <a:cs typeface="Arial"/>
              </a:rPr>
              <a:t>call removeMax() </a:t>
            </a:r>
            <a:r>
              <a:rPr sz="2400" dirty="0">
                <a:latin typeface="Arial"/>
                <a:cs typeface="Arial"/>
              </a:rPr>
              <a:t>to extract the keys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in  descending </a:t>
            </a:r>
            <a:r>
              <a:rPr sz="2400" spc="-10" dirty="0">
                <a:latin typeface="Arial"/>
                <a:cs typeface="Arial"/>
              </a:rPr>
              <a:t>order</a:t>
            </a: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ts val="2860"/>
              </a:lnSpc>
              <a:spcBef>
                <a:spcPts val="148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Store the keys as they are extracted in the unused </a:t>
            </a:r>
            <a:r>
              <a:rPr sz="2400" spc="-10" dirty="0">
                <a:latin typeface="Arial"/>
                <a:cs typeface="Arial"/>
              </a:rPr>
              <a:t>tail  </a:t>
            </a:r>
            <a:r>
              <a:rPr sz="2400" spc="-5" dirty="0">
                <a:latin typeface="Arial"/>
                <a:cs typeface="Arial"/>
              </a:rPr>
              <a:t>portion of the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array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78238" y="758520"/>
            <a:ext cx="370649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Heap-Sort</a:t>
            </a:r>
            <a:r>
              <a:rPr spc="-45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35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3139" y="1473921"/>
            <a:ext cx="7122795" cy="3324860"/>
          </a:xfrm>
          <a:prstGeom prst="rect">
            <a:avLst/>
          </a:prstGeom>
        </p:spPr>
        <p:txBody>
          <a:bodyPr vert="horz" wrap="square" lIns="0" tIns="198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400" b="1" dirty="0">
                <a:latin typeface="Arial"/>
                <a:cs typeface="Arial"/>
              </a:rPr>
              <a:t>Algorithm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HeapSort</a:t>
            </a:r>
            <a:r>
              <a:rPr sz="2400" spc="-5" dirty="0">
                <a:latin typeface="Arial"/>
                <a:cs typeface="Arial"/>
              </a:rPr>
              <a:t>(S)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60"/>
              </a:spcBef>
              <a:tabLst>
                <a:tab pos="1011555" algn="l"/>
              </a:tabLst>
            </a:pPr>
            <a:r>
              <a:rPr sz="2400" b="1" spc="-5" dirty="0">
                <a:latin typeface="Arial"/>
                <a:cs typeface="Arial"/>
              </a:rPr>
              <a:t>Input</a:t>
            </a:r>
            <a:r>
              <a:rPr sz="2400" spc="-5" dirty="0">
                <a:latin typeface="Arial"/>
                <a:cs typeface="Arial"/>
              </a:rPr>
              <a:t>:	S, an unsorted array of comparable</a:t>
            </a:r>
            <a:r>
              <a:rPr sz="2400" spc="-10" dirty="0">
                <a:latin typeface="Arial"/>
                <a:cs typeface="Arial"/>
              </a:rPr>
              <a:t> elements</a:t>
            </a:r>
            <a:endParaRPr sz="2400">
              <a:latin typeface="Arial"/>
              <a:cs typeface="Arial"/>
            </a:endParaRPr>
          </a:p>
          <a:p>
            <a:pPr marL="355600" marR="259715" indent="-343535">
              <a:lnSpc>
                <a:spcPct val="149300"/>
              </a:lnSpc>
              <a:tabLst>
                <a:tab pos="1264920" algn="l"/>
              </a:tabLst>
            </a:pPr>
            <a:r>
              <a:rPr sz="2400" b="1" spc="-5" dirty="0">
                <a:latin typeface="Arial"/>
                <a:cs typeface="Arial"/>
              </a:rPr>
              <a:t>Output</a:t>
            </a:r>
            <a:r>
              <a:rPr sz="2400" spc="-5" dirty="0">
                <a:latin typeface="Arial"/>
                <a:cs typeface="Arial"/>
              </a:rPr>
              <a:t>:	S, a sorted array of comparable </a:t>
            </a:r>
            <a:r>
              <a:rPr sz="2400" spc="-10" dirty="0">
                <a:latin typeface="Arial"/>
                <a:cs typeface="Arial"/>
              </a:rPr>
              <a:t>elements  </a:t>
            </a:r>
            <a:r>
              <a:rPr sz="2400" dirty="0">
                <a:latin typeface="Arial"/>
                <a:cs typeface="Arial"/>
              </a:rPr>
              <a:t>T = </a:t>
            </a:r>
            <a:r>
              <a:rPr sz="2400" spc="-5" dirty="0">
                <a:latin typeface="Arial"/>
                <a:cs typeface="Arial"/>
              </a:rPr>
              <a:t>MakeMaxHeap </a:t>
            </a:r>
            <a:r>
              <a:rPr sz="2400" dirty="0">
                <a:latin typeface="Arial"/>
                <a:cs typeface="Arial"/>
              </a:rPr>
              <a:t>(S)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1420"/>
              </a:spcBef>
            </a:pPr>
            <a:r>
              <a:rPr sz="2400" dirty="0">
                <a:latin typeface="Arial"/>
                <a:cs typeface="Arial"/>
              </a:rPr>
              <a:t>for </a:t>
            </a:r>
            <a:r>
              <a:rPr sz="2400" spc="-5" dirty="0">
                <a:latin typeface="Arial"/>
                <a:cs typeface="Arial"/>
              </a:rPr>
              <a:t>i </a:t>
            </a:r>
            <a:r>
              <a:rPr sz="2400" dirty="0">
                <a:latin typeface="Arial"/>
                <a:cs typeface="Arial"/>
              </a:rPr>
              <a:t>= </a:t>
            </a:r>
            <a:r>
              <a:rPr sz="2400" spc="-5" dirty="0">
                <a:latin typeface="Arial"/>
                <a:cs typeface="Arial"/>
              </a:rPr>
              <a:t>n-1 downto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1520"/>
              </a:spcBef>
            </a:pPr>
            <a:r>
              <a:rPr sz="2400" dirty="0">
                <a:latin typeface="Arial"/>
                <a:cs typeface="Arial"/>
              </a:rPr>
              <a:t>S[i] =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T.removeMax()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71533" y="758520"/>
            <a:ext cx="451929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Heap-Sort Running</a:t>
            </a:r>
            <a:r>
              <a:rPr spc="-85" dirty="0"/>
              <a:t> </a:t>
            </a:r>
            <a:r>
              <a:rPr spc="-5" dirty="0"/>
              <a:t>Time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36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3139" y="1430690"/>
            <a:ext cx="7611109" cy="2042160"/>
          </a:xfrm>
          <a:prstGeom prst="rect">
            <a:avLst/>
          </a:prstGeom>
        </p:spPr>
        <p:txBody>
          <a:bodyPr vert="horz" wrap="square" lIns="0" tIns="19812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56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The heap can be built bottom-up in O(n)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time</a:t>
            </a: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ts val="2860"/>
              </a:lnSpc>
              <a:spcBef>
                <a:spcPts val="157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Extraction of the </a:t>
            </a:r>
            <a:r>
              <a:rPr sz="2400" spc="-5" dirty="0">
                <a:latin typeface="Arial"/>
                <a:cs typeface="Arial"/>
              </a:rPr>
              <a:t>ith element </a:t>
            </a:r>
            <a:r>
              <a:rPr sz="2400" dirty="0">
                <a:latin typeface="Arial"/>
                <a:cs typeface="Arial"/>
              </a:rPr>
              <a:t>takes </a:t>
            </a:r>
            <a:r>
              <a:rPr sz="2400" spc="-5" dirty="0">
                <a:latin typeface="Arial"/>
                <a:cs typeface="Arial"/>
              </a:rPr>
              <a:t>O(log(n </a:t>
            </a:r>
            <a:r>
              <a:rPr sz="2400" dirty="0">
                <a:latin typeface="Arial"/>
                <a:cs typeface="Arial"/>
              </a:rPr>
              <a:t>- </a:t>
            </a:r>
            <a:r>
              <a:rPr sz="2400" spc="-5" dirty="0">
                <a:latin typeface="Arial"/>
                <a:cs typeface="Arial"/>
              </a:rPr>
              <a:t>i+1)) </a:t>
            </a:r>
            <a:r>
              <a:rPr sz="2400" dirty="0">
                <a:latin typeface="Arial"/>
                <a:cs typeface="Arial"/>
              </a:rPr>
              <a:t>time  (for</a:t>
            </a:r>
            <a:r>
              <a:rPr sz="2400" spc="-5" dirty="0">
                <a:latin typeface="Arial"/>
                <a:cs typeface="Arial"/>
              </a:rPr>
              <a:t> downheaping)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37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Thus total </a:t>
            </a:r>
            <a:r>
              <a:rPr sz="2400" spc="-5" dirty="0">
                <a:latin typeface="Arial"/>
                <a:cs typeface="Arial"/>
              </a:rPr>
              <a:t>run </a:t>
            </a:r>
            <a:r>
              <a:rPr sz="2400" dirty="0">
                <a:latin typeface="Arial"/>
                <a:cs typeface="Arial"/>
              </a:rPr>
              <a:t>time</a:t>
            </a:r>
            <a:r>
              <a:rPr sz="2400" spc="-5" dirty="0">
                <a:latin typeface="Arial"/>
                <a:cs typeface="Arial"/>
              </a:rPr>
              <a:t> is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11663" y="3694998"/>
            <a:ext cx="113030" cy="2146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i="1" spc="20" dirty="0">
                <a:latin typeface="Arial"/>
                <a:cs typeface="Arial"/>
              </a:rPr>
              <a:t>n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08428" y="3735387"/>
            <a:ext cx="3336925" cy="5156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150" i="1" spc="-5" dirty="0">
                <a:latin typeface="Arial"/>
                <a:cs typeface="Arial"/>
              </a:rPr>
              <a:t>T</a:t>
            </a:r>
            <a:r>
              <a:rPr sz="2150" i="1" spc="-405" dirty="0">
                <a:latin typeface="Arial"/>
                <a:cs typeface="Arial"/>
              </a:rPr>
              <a:t> </a:t>
            </a:r>
            <a:r>
              <a:rPr sz="2150" spc="-10" dirty="0">
                <a:latin typeface="Arial"/>
                <a:cs typeface="Arial"/>
              </a:rPr>
              <a:t>(</a:t>
            </a:r>
            <a:r>
              <a:rPr sz="2150" i="1" spc="-10" dirty="0">
                <a:latin typeface="Arial"/>
                <a:cs typeface="Arial"/>
              </a:rPr>
              <a:t>n</a:t>
            </a:r>
            <a:r>
              <a:rPr sz="2150" spc="-10" dirty="0">
                <a:latin typeface="Arial"/>
                <a:cs typeface="Arial"/>
              </a:rPr>
              <a:t>)</a:t>
            </a:r>
            <a:r>
              <a:rPr sz="2150" spc="-155" dirty="0">
                <a:latin typeface="Arial"/>
                <a:cs typeface="Arial"/>
              </a:rPr>
              <a:t> </a:t>
            </a:r>
            <a:r>
              <a:rPr sz="2150" spc="-5" dirty="0">
                <a:latin typeface="Symbol"/>
                <a:cs typeface="Symbol"/>
              </a:rPr>
              <a:t></a:t>
            </a:r>
            <a:r>
              <a:rPr sz="2150" spc="-114" dirty="0">
                <a:latin typeface="Times New Roman"/>
                <a:cs typeface="Times New Roman"/>
              </a:rPr>
              <a:t> </a:t>
            </a:r>
            <a:r>
              <a:rPr sz="2150" i="1" spc="-15" dirty="0">
                <a:latin typeface="Arial"/>
                <a:cs typeface="Arial"/>
              </a:rPr>
              <a:t>O</a:t>
            </a:r>
            <a:r>
              <a:rPr sz="2150" spc="-15" dirty="0">
                <a:latin typeface="Arial"/>
                <a:cs typeface="Arial"/>
              </a:rPr>
              <a:t>(</a:t>
            </a:r>
            <a:r>
              <a:rPr sz="2150" i="1" spc="-15" dirty="0">
                <a:latin typeface="Arial"/>
                <a:cs typeface="Arial"/>
              </a:rPr>
              <a:t>n</a:t>
            </a:r>
            <a:r>
              <a:rPr sz="2150" spc="-15" dirty="0">
                <a:latin typeface="Arial"/>
                <a:cs typeface="Arial"/>
              </a:rPr>
              <a:t>)</a:t>
            </a:r>
            <a:r>
              <a:rPr sz="2150" spc="-245" dirty="0">
                <a:latin typeface="Arial"/>
                <a:cs typeface="Arial"/>
              </a:rPr>
              <a:t> </a:t>
            </a:r>
            <a:r>
              <a:rPr sz="2150" spc="-5" dirty="0">
                <a:latin typeface="Symbol"/>
                <a:cs typeface="Symbol"/>
              </a:rPr>
              <a:t></a:t>
            </a:r>
            <a:r>
              <a:rPr sz="2150" spc="-90" dirty="0">
                <a:latin typeface="Times New Roman"/>
                <a:cs typeface="Times New Roman"/>
              </a:rPr>
              <a:t> </a:t>
            </a:r>
            <a:r>
              <a:rPr sz="4800" spc="-97" baseline="-6944" dirty="0">
                <a:latin typeface="Symbol"/>
                <a:cs typeface="Symbol"/>
              </a:rPr>
              <a:t></a:t>
            </a:r>
            <a:r>
              <a:rPr sz="2150" spc="-65" dirty="0">
                <a:latin typeface="Arial"/>
                <a:cs typeface="Arial"/>
              </a:rPr>
              <a:t>log(</a:t>
            </a:r>
            <a:r>
              <a:rPr sz="2150" i="1" spc="-65" dirty="0">
                <a:latin typeface="Arial"/>
                <a:cs typeface="Arial"/>
              </a:rPr>
              <a:t>n</a:t>
            </a:r>
            <a:r>
              <a:rPr sz="2150" i="1" spc="-190" dirty="0">
                <a:latin typeface="Arial"/>
                <a:cs typeface="Arial"/>
              </a:rPr>
              <a:t> </a:t>
            </a:r>
            <a:r>
              <a:rPr sz="2150" spc="-5" dirty="0">
                <a:latin typeface="Symbol"/>
                <a:cs typeface="Symbol"/>
              </a:rPr>
              <a:t></a:t>
            </a:r>
            <a:r>
              <a:rPr sz="2150" spc="-70" dirty="0">
                <a:latin typeface="Times New Roman"/>
                <a:cs typeface="Times New Roman"/>
              </a:rPr>
              <a:t> </a:t>
            </a:r>
            <a:r>
              <a:rPr sz="2150" i="1" spc="-5" dirty="0">
                <a:latin typeface="Arial"/>
                <a:cs typeface="Arial"/>
              </a:rPr>
              <a:t>i</a:t>
            </a:r>
            <a:r>
              <a:rPr sz="2150" i="1" spc="-55" dirty="0">
                <a:latin typeface="Arial"/>
                <a:cs typeface="Arial"/>
              </a:rPr>
              <a:t> </a:t>
            </a:r>
            <a:r>
              <a:rPr sz="2150" spc="-5" dirty="0">
                <a:latin typeface="Symbol"/>
                <a:cs typeface="Symbol"/>
              </a:rPr>
              <a:t></a:t>
            </a:r>
            <a:r>
              <a:rPr sz="2150" spc="-250" dirty="0">
                <a:latin typeface="Times New Roman"/>
                <a:cs typeface="Times New Roman"/>
              </a:rPr>
              <a:t> </a:t>
            </a:r>
            <a:r>
              <a:rPr sz="2150" spc="-320" dirty="0">
                <a:latin typeface="Arial"/>
                <a:cs typeface="Arial"/>
              </a:rPr>
              <a:t>1)</a:t>
            </a:r>
            <a:endParaRPr sz="2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49967" y="4194727"/>
            <a:ext cx="263525" cy="521334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200" i="1" spc="5" dirty="0">
                <a:latin typeface="Arial"/>
                <a:cs typeface="Arial"/>
              </a:rPr>
              <a:t>i</a:t>
            </a:r>
            <a:r>
              <a:rPr sz="1200" i="1" spc="-210" dirty="0">
                <a:latin typeface="Arial"/>
                <a:cs typeface="Arial"/>
              </a:rPr>
              <a:t> </a:t>
            </a:r>
            <a:r>
              <a:rPr sz="1200" spc="40" dirty="0">
                <a:latin typeface="Symbol"/>
                <a:cs typeface="Symbol"/>
              </a:rPr>
              <a:t></a:t>
            </a:r>
            <a:r>
              <a:rPr sz="1200" spc="40" dirty="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  <a:p>
            <a:pPr marL="74295">
              <a:lnSpc>
                <a:spcPct val="100000"/>
              </a:lnSpc>
              <a:spcBef>
                <a:spcPts val="509"/>
              </a:spcBef>
            </a:pPr>
            <a:r>
              <a:rPr sz="1200" i="1" spc="20" dirty="0">
                <a:latin typeface="Arial"/>
                <a:cs typeface="Arial"/>
              </a:rPr>
              <a:t>n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88513" y="4542282"/>
            <a:ext cx="1845945" cy="5156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150" spc="-5" dirty="0">
                <a:latin typeface="Symbol"/>
                <a:cs typeface="Symbol"/>
              </a:rPr>
              <a:t></a:t>
            </a:r>
            <a:r>
              <a:rPr sz="2150" spc="-130" dirty="0">
                <a:latin typeface="Times New Roman"/>
                <a:cs typeface="Times New Roman"/>
              </a:rPr>
              <a:t> </a:t>
            </a:r>
            <a:r>
              <a:rPr sz="2150" i="1" spc="-15" dirty="0">
                <a:latin typeface="Arial"/>
                <a:cs typeface="Arial"/>
              </a:rPr>
              <a:t>O</a:t>
            </a:r>
            <a:r>
              <a:rPr sz="2150" spc="-15" dirty="0">
                <a:latin typeface="Arial"/>
                <a:cs typeface="Arial"/>
              </a:rPr>
              <a:t>(</a:t>
            </a:r>
            <a:r>
              <a:rPr sz="2150" i="1" spc="-15" dirty="0">
                <a:latin typeface="Arial"/>
                <a:cs typeface="Arial"/>
              </a:rPr>
              <a:t>n</a:t>
            </a:r>
            <a:r>
              <a:rPr sz="2150" spc="-15" dirty="0">
                <a:latin typeface="Arial"/>
                <a:cs typeface="Arial"/>
              </a:rPr>
              <a:t>)</a:t>
            </a:r>
            <a:r>
              <a:rPr sz="2150" spc="-260" dirty="0">
                <a:latin typeface="Arial"/>
                <a:cs typeface="Arial"/>
              </a:rPr>
              <a:t> </a:t>
            </a:r>
            <a:r>
              <a:rPr sz="2150" spc="-5" dirty="0">
                <a:latin typeface="Symbol"/>
                <a:cs typeface="Symbol"/>
              </a:rPr>
              <a:t></a:t>
            </a:r>
            <a:r>
              <a:rPr sz="2150" spc="-105" dirty="0">
                <a:latin typeface="Times New Roman"/>
                <a:cs typeface="Times New Roman"/>
              </a:rPr>
              <a:t> </a:t>
            </a:r>
            <a:r>
              <a:rPr sz="4800" spc="-120" baseline="-6944" dirty="0">
                <a:latin typeface="Symbol"/>
                <a:cs typeface="Symbol"/>
              </a:rPr>
              <a:t></a:t>
            </a:r>
            <a:r>
              <a:rPr sz="2150" spc="-80" dirty="0">
                <a:latin typeface="Arial"/>
                <a:cs typeface="Arial"/>
              </a:rPr>
              <a:t>log</a:t>
            </a:r>
            <a:r>
              <a:rPr sz="2150" spc="-330" dirty="0">
                <a:latin typeface="Arial"/>
                <a:cs typeface="Arial"/>
              </a:rPr>
              <a:t> </a:t>
            </a:r>
            <a:r>
              <a:rPr sz="2150" i="1" spc="-5" dirty="0">
                <a:latin typeface="Arial"/>
                <a:cs typeface="Arial"/>
              </a:rPr>
              <a:t>i</a:t>
            </a:r>
            <a:endParaRPr sz="21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49967" y="5001622"/>
            <a:ext cx="263525" cy="521334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200" i="1" spc="5" dirty="0">
                <a:latin typeface="Arial"/>
                <a:cs typeface="Arial"/>
              </a:rPr>
              <a:t>i</a:t>
            </a:r>
            <a:r>
              <a:rPr sz="1200" i="1" spc="-210" dirty="0">
                <a:latin typeface="Arial"/>
                <a:cs typeface="Arial"/>
              </a:rPr>
              <a:t> </a:t>
            </a:r>
            <a:r>
              <a:rPr sz="1200" spc="40" dirty="0">
                <a:latin typeface="Symbol"/>
                <a:cs typeface="Symbol"/>
              </a:rPr>
              <a:t></a:t>
            </a:r>
            <a:r>
              <a:rPr sz="1200" spc="40" dirty="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  <a:p>
            <a:pPr marL="71120">
              <a:lnSpc>
                <a:spcPct val="100000"/>
              </a:lnSpc>
              <a:spcBef>
                <a:spcPts val="509"/>
              </a:spcBef>
            </a:pPr>
            <a:r>
              <a:rPr sz="1200" i="1" spc="20" dirty="0">
                <a:latin typeface="Arial"/>
                <a:cs typeface="Arial"/>
              </a:rPr>
              <a:t>n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91345" y="5349163"/>
            <a:ext cx="1925320" cy="5156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150" spc="-100" dirty="0">
                <a:latin typeface="Symbol"/>
                <a:cs typeface="Symbol"/>
              </a:rPr>
              <a:t></a:t>
            </a:r>
            <a:r>
              <a:rPr sz="2150" spc="-175" dirty="0">
                <a:latin typeface="Times New Roman"/>
                <a:cs typeface="Times New Roman"/>
              </a:rPr>
              <a:t> </a:t>
            </a:r>
            <a:r>
              <a:rPr sz="2150" i="1" spc="-15" dirty="0">
                <a:latin typeface="Arial"/>
                <a:cs typeface="Arial"/>
              </a:rPr>
              <a:t>O</a:t>
            </a:r>
            <a:r>
              <a:rPr sz="2150" spc="-15" dirty="0">
                <a:latin typeface="Arial"/>
                <a:cs typeface="Arial"/>
              </a:rPr>
              <a:t>(</a:t>
            </a:r>
            <a:r>
              <a:rPr sz="2150" i="1" spc="-15" dirty="0">
                <a:latin typeface="Arial"/>
                <a:cs typeface="Arial"/>
              </a:rPr>
              <a:t>n</a:t>
            </a:r>
            <a:r>
              <a:rPr sz="2150" spc="-15" dirty="0">
                <a:latin typeface="Arial"/>
                <a:cs typeface="Arial"/>
              </a:rPr>
              <a:t>)</a:t>
            </a:r>
            <a:r>
              <a:rPr sz="2150" spc="-260" dirty="0">
                <a:latin typeface="Arial"/>
                <a:cs typeface="Arial"/>
              </a:rPr>
              <a:t> </a:t>
            </a:r>
            <a:r>
              <a:rPr sz="2150" spc="-5" dirty="0">
                <a:latin typeface="Symbol"/>
                <a:cs typeface="Symbol"/>
              </a:rPr>
              <a:t></a:t>
            </a:r>
            <a:r>
              <a:rPr sz="2150" spc="-105" dirty="0">
                <a:latin typeface="Times New Roman"/>
                <a:cs typeface="Times New Roman"/>
              </a:rPr>
              <a:t> </a:t>
            </a:r>
            <a:r>
              <a:rPr sz="4800" spc="-120" baseline="-6944" dirty="0">
                <a:latin typeface="Symbol"/>
                <a:cs typeface="Symbol"/>
              </a:rPr>
              <a:t></a:t>
            </a:r>
            <a:r>
              <a:rPr sz="2150" spc="-80" dirty="0">
                <a:latin typeface="Arial"/>
                <a:cs typeface="Arial"/>
              </a:rPr>
              <a:t>log</a:t>
            </a:r>
            <a:r>
              <a:rPr sz="2150" spc="-370" dirty="0">
                <a:latin typeface="Arial"/>
                <a:cs typeface="Arial"/>
              </a:rPr>
              <a:t> </a:t>
            </a:r>
            <a:r>
              <a:rPr sz="2150" i="1" spc="-5" dirty="0">
                <a:latin typeface="Arial"/>
                <a:cs typeface="Arial"/>
              </a:rPr>
              <a:t>n</a:t>
            </a:r>
            <a:endParaRPr sz="21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13913" y="5840055"/>
            <a:ext cx="1337310" cy="61658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R="45085" algn="r">
              <a:lnSpc>
                <a:spcPct val="100000"/>
              </a:lnSpc>
              <a:spcBef>
                <a:spcPts val="355"/>
              </a:spcBef>
            </a:pPr>
            <a:r>
              <a:rPr sz="1200" i="1" spc="5" dirty="0">
                <a:latin typeface="Arial"/>
                <a:cs typeface="Arial"/>
              </a:rPr>
              <a:t>i</a:t>
            </a:r>
            <a:r>
              <a:rPr sz="1200" i="1" spc="-245" dirty="0">
                <a:latin typeface="Arial"/>
                <a:cs typeface="Arial"/>
              </a:rPr>
              <a:t> </a:t>
            </a:r>
            <a:r>
              <a:rPr sz="1200" spc="40" dirty="0">
                <a:latin typeface="Symbol"/>
                <a:cs typeface="Symbol"/>
              </a:rPr>
              <a:t></a:t>
            </a:r>
            <a:r>
              <a:rPr sz="1200" spc="40" dirty="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2150" spc="-5" dirty="0">
                <a:latin typeface="Symbol"/>
                <a:cs typeface="Symbol"/>
              </a:rPr>
              <a:t></a:t>
            </a:r>
            <a:r>
              <a:rPr sz="2150" spc="-145" dirty="0">
                <a:latin typeface="Times New Roman"/>
                <a:cs typeface="Times New Roman"/>
              </a:rPr>
              <a:t> </a:t>
            </a:r>
            <a:r>
              <a:rPr sz="2150" i="1" spc="-20" dirty="0">
                <a:latin typeface="Arial"/>
                <a:cs typeface="Arial"/>
              </a:rPr>
              <a:t>O</a:t>
            </a:r>
            <a:r>
              <a:rPr sz="2150" spc="-20" dirty="0">
                <a:latin typeface="Arial"/>
                <a:cs typeface="Arial"/>
              </a:rPr>
              <a:t>(</a:t>
            </a:r>
            <a:r>
              <a:rPr sz="2150" i="1" spc="-20" dirty="0">
                <a:latin typeface="Arial"/>
                <a:cs typeface="Arial"/>
              </a:rPr>
              <a:t>n</a:t>
            </a:r>
            <a:r>
              <a:rPr sz="2150" i="1" spc="-375" dirty="0">
                <a:latin typeface="Arial"/>
                <a:cs typeface="Arial"/>
              </a:rPr>
              <a:t> </a:t>
            </a:r>
            <a:r>
              <a:rPr sz="2150" spc="-30" dirty="0">
                <a:latin typeface="Arial"/>
                <a:cs typeface="Arial"/>
              </a:rPr>
              <a:t>log</a:t>
            </a:r>
            <a:r>
              <a:rPr sz="2150" spc="-380" dirty="0">
                <a:latin typeface="Arial"/>
                <a:cs typeface="Arial"/>
              </a:rPr>
              <a:t> </a:t>
            </a:r>
            <a:r>
              <a:rPr sz="2150" i="1" spc="-5" dirty="0">
                <a:latin typeface="Arial"/>
                <a:cs typeface="Arial"/>
              </a:rPr>
              <a:t>n</a:t>
            </a:r>
            <a:r>
              <a:rPr sz="2150" spc="-5" dirty="0">
                <a:latin typeface="Arial"/>
                <a:cs typeface="Arial"/>
              </a:rPr>
              <a:t>)</a:t>
            </a:r>
            <a:endParaRPr sz="2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59301" y="924559"/>
            <a:ext cx="19450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Quick-Sort</a:t>
            </a:r>
          </a:p>
        </p:txBody>
      </p:sp>
      <p:sp>
        <p:nvSpPr>
          <p:cNvPr id="3" name="object 3"/>
          <p:cNvSpPr/>
          <p:nvPr/>
        </p:nvSpPr>
        <p:spPr>
          <a:xfrm>
            <a:off x="3494877" y="1691485"/>
            <a:ext cx="2830195" cy="1985645"/>
          </a:xfrm>
          <a:custGeom>
            <a:avLst/>
            <a:gdLst/>
            <a:ahLst/>
            <a:cxnLst/>
            <a:rect l="l" t="t" r="r" b="b"/>
            <a:pathLst>
              <a:path w="2830195" h="1985645">
                <a:moveTo>
                  <a:pt x="537360" y="348452"/>
                </a:moveTo>
                <a:lnTo>
                  <a:pt x="498790" y="376847"/>
                </a:lnTo>
                <a:lnTo>
                  <a:pt x="459502" y="408449"/>
                </a:lnTo>
                <a:lnTo>
                  <a:pt x="419823" y="442895"/>
                </a:lnTo>
                <a:lnTo>
                  <a:pt x="380083" y="479820"/>
                </a:lnTo>
                <a:lnTo>
                  <a:pt x="340609" y="518860"/>
                </a:lnTo>
                <a:lnTo>
                  <a:pt x="301730" y="559649"/>
                </a:lnTo>
                <a:lnTo>
                  <a:pt x="263775" y="601825"/>
                </a:lnTo>
                <a:lnTo>
                  <a:pt x="227073" y="645022"/>
                </a:lnTo>
                <a:lnTo>
                  <a:pt x="191952" y="688876"/>
                </a:lnTo>
                <a:lnTo>
                  <a:pt x="158741" y="733023"/>
                </a:lnTo>
                <a:lnTo>
                  <a:pt x="127768" y="777099"/>
                </a:lnTo>
                <a:lnTo>
                  <a:pt x="99362" y="820739"/>
                </a:lnTo>
                <a:lnTo>
                  <a:pt x="73852" y="863579"/>
                </a:lnTo>
                <a:lnTo>
                  <a:pt x="51565" y="905254"/>
                </a:lnTo>
                <a:lnTo>
                  <a:pt x="32832" y="945401"/>
                </a:lnTo>
                <a:lnTo>
                  <a:pt x="17980" y="983655"/>
                </a:lnTo>
                <a:lnTo>
                  <a:pt x="1235" y="1053025"/>
                </a:lnTo>
                <a:lnTo>
                  <a:pt x="0" y="1083414"/>
                </a:lnTo>
                <a:lnTo>
                  <a:pt x="3960" y="1110452"/>
                </a:lnTo>
                <a:lnTo>
                  <a:pt x="33322" y="1156962"/>
                </a:lnTo>
                <a:lnTo>
                  <a:pt x="89625" y="1191986"/>
                </a:lnTo>
                <a:lnTo>
                  <a:pt x="126140" y="1206020"/>
                </a:lnTo>
                <a:lnTo>
                  <a:pt x="167302" y="1218177"/>
                </a:lnTo>
                <a:lnTo>
                  <a:pt x="212417" y="1228791"/>
                </a:lnTo>
                <a:lnTo>
                  <a:pt x="260789" y="1238192"/>
                </a:lnTo>
                <a:lnTo>
                  <a:pt x="311721" y="1246713"/>
                </a:lnTo>
                <a:lnTo>
                  <a:pt x="364518" y="1254685"/>
                </a:lnTo>
                <a:lnTo>
                  <a:pt x="418484" y="1262441"/>
                </a:lnTo>
                <a:lnTo>
                  <a:pt x="472924" y="1270312"/>
                </a:lnTo>
                <a:lnTo>
                  <a:pt x="527142" y="1278630"/>
                </a:lnTo>
                <a:lnTo>
                  <a:pt x="580442" y="1287727"/>
                </a:lnTo>
                <a:lnTo>
                  <a:pt x="632128" y="1297935"/>
                </a:lnTo>
                <a:lnTo>
                  <a:pt x="681505" y="1309585"/>
                </a:lnTo>
                <a:lnTo>
                  <a:pt x="727877" y="1323011"/>
                </a:lnTo>
                <a:lnTo>
                  <a:pt x="770548" y="1338543"/>
                </a:lnTo>
                <a:lnTo>
                  <a:pt x="808822" y="1356514"/>
                </a:lnTo>
                <a:lnTo>
                  <a:pt x="852984" y="1382856"/>
                </a:lnTo>
                <a:lnTo>
                  <a:pt x="894865" y="1412604"/>
                </a:lnTo>
                <a:lnTo>
                  <a:pt x="934768" y="1445185"/>
                </a:lnTo>
                <a:lnTo>
                  <a:pt x="972994" y="1480028"/>
                </a:lnTo>
                <a:lnTo>
                  <a:pt x="1009847" y="1516558"/>
                </a:lnTo>
                <a:lnTo>
                  <a:pt x="1045626" y="1554202"/>
                </a:lnTo>
                <a:lnTo>
                  <a:pt x="1080635" y="1592389"/>
                </a:lnTo>
                <a:lnTo>
                  <a:pt x="1115176" y="1630544"/>
                </a:lnTo>
                <a:lnTo>
                  <a:pt x="1149550" y="1668096"/>
                </a:lnTo>
                <a:lnTo>
                  <a:pt x="1184060" y="1704470"/>
                </a:lnTo>
                <a:lnTo>
                  <a:pt x="1219007" y="1739095"/>
                </a:lnTo>
                <a:lnTo>
                  <a:pt x="1254694" y="1771398"/>
                </a:lnTo>
                <a:lnTo>
                  <a:pt x="1291422" y="1800804"/>
                </a:lnTo>
                <a:lnTo>
                  <a:pt x="1329493" y="1826742"/>
                </a:lnTo>
                <a:lnTo>
                  <a:pt x="1369210" y="1848639"/>
                </a:lnTo>
                <a:lnTo>
                  <a:pt x="1412859" y="1869612"/>
                </a:lnTo>
                <a:lnTo>
                  <a:pt x="1456763" y="1890071"/>
                </a:lnTo>
                <a:lnTo>
                  <a:pt x="1500978" y="1909600"/>
                </a:lnTo>
                <a:lnTo>
                  <a:pt x="1545565" y="1927783"/>
                </a:lnTo>
                <a:lnTo>
                  <a:pt x="1590583" y="1944201"/>
                </a:lnTo>
                <a:lnTo>
                  <a:pt x="1636090" y="1958440"/>
                </a:lnTo>
                <a:lnTo>
                  <a:pt x="1682145" y="1970083"/>
                </a:lnTo>
                <a:lnTo>
                  <a:pt x="1728808" y="1978712"/>
                </a:lnTo>
                <a:lnTo>
                  <a:pt x="1776138" y="1983912"/>
                </a:lnTo>
                <a:lnTo>
                  <a:pt x="1824193" y="1985266"/>
                </a:lnTo>
                <a:lnTo>
                  <a:pt x="1873032" y="1982357"/>
                </a:lnTo>
                <a:lnTo>
                  <a:pt x="1922715" y="1974769"/>
                </a:lnTo>
                <a:lnTo>
                  <a:pt x="1973300" y="1962085"/>
                </a:lnTo>
                <a:lnTo>
                  <a:pt x="2024847" y="1943889"/>
                </a:lnTo>
                <a:lnTo>
                  <a:pt x="2090158" y="1917097"/>
                </a:lnTo>
                <a:lnTo>
                  <a:pt x="2127434" y="1901392"/>
                </a:lnTo>
                <a:lnTo>
                  <a:pt x="2167220" y="1884209"/>
                </a:lnTo>
                <a:lnTo>
                  <a:pt x="2209086" y="1865594"/>
                </a:lnTo>
                <a:lnTo>
                  <a:pt x="2252604" y="1845591"/>
                </a:lnTo>
                <a:lnTo>
                  <a:pt x="2297345" y="1824247"/>
                </a:lnTo>
                <a:lnTo>
                  <a:pt x="2342882" y="1801608"/>
                </a:lnTo>
                <a:lnTo>
                  <a:pt x="2388785" y="1777720"/>
                </a:lnTo>
                <a:lnTo>
                  <a:pt x="2434625" y="1752627"/>
                </a:lnTo>
                <a:lnTo>
                  <a:pt x="2479975" y="1726376"/>
                </a:lnTo>
                <a:lnTo>
                  <a:pt x="2524406" y="1699013"/>
                </a:lnTo>
                <a:lnTo>
                  <a:pt x="2567488" y="1670582"/>
                </a:lnTo>
                <a:lnTo>
                  <a:pt x="2608795" y="1641131"/>
                </a:lnTo>
                <a:lnTo>
                  <a:pt x="2647896" y="1610705"/>
                </a:lnTo>
                <a:lnTo>
                  <a:pt x="2684364" y="1579348"/>
                </a:lnTo>
                <a:lnTo>
                  <a:pt x="2717770" y="1547108"/>
                </a:lnTo>
                <a:lnTo>
                  <a:pt x="2747686" y="1514030"/>
                </a:lnTo>
                <a:lnTo>
                  <a:pt x="2773682" y="1480159"/>
                </a:lnTo>
                <a:lnTo>
                  <a:pt x="2795331" y="1445541"/>
                </a:lnTo>
                <a:lnTo>
                  <a:pt x="2812203" y="1410222"/>
                </a:lnTo>
                <a:lnTo>
                  <a:pt x="2829905" y="1337665"/>
                </a:lnTo>
                <a:lnTo>
                  <a:pt x="2829877" y="1300517"/>
                </a:lnTo>
                <a:lnTo>
                  <a:pt x="2823360" y="1262852"/>
                </a:lnTo>
                <a:lnTo>
                  <a:pt x="2803595" y="1207973"/>
                </a:lnTo>
                <a:lnTo>
                  <a:pt x="2771831" y="1146448"/>
                </a:lnTo>
                <a:lnTo>
                  <a:pt x="2751805" y="1113499"/>
                </a:lnTo>
                <a:lnTo>
                  <a:pt x="2729206" y="1079256"/>
                </a:lnTo>
                <a:lnTo>
                  <a:pt x="2704176" y="1043841"/>
                </a:lnTo>
                <a:lnTo>
                  <a:pt x="2676857" y="1007377"/>
                </a:lnTo>
                <a:lnTo>
                  <a:pt x="2647391" y="969986"/>
                </a:lnTo>
                <a:lnTo>
                  <a:pt x="2615921" y="931789"/>
                </a:lnTo>
                <a:lnTo>
                  <a:pt x="2582588" y="892911"/>
                </a:lnTo>
                <a:lnTo>
                  <a:pt x="2547535" y="853473"/>
                </a:lnTo>
                <a:lnTo>
                  <a:pt x="2510904" y="813598"/>
                </a:lnTo>
                <a:lnTo>
                  <a:pt x="2472837" y="773407"/>
                </a:lnTo>
                <a:lnTo>
                  <a:pt x="2433476" y="733024"/>
                </a:lnTo>
                <a:lnTo>
                  <a:pt x="2392964" y="692571"/>
                </a:lnTo>
                <a:lnTo>
                  <a:pt x="2351442" y="652170"/>
                </a:lnTo>
                <a:lnTo>
                  <a:pt x="2309054" y="611944"/>
                </a:lnTo>
                <a:lnTo>
                  <a:pt x="2265940" y="572015"/>
                </a:lnTo>
                <a:lnTo>
                  <a:pt x="2222243" y="532505"/>
                </a:lnTo>
                <a:lnTo>
                  <a:pt x="2178105" y="493537"/>
                </a:lnTo>
                <a:lnTo>
                  <a:pt x="2133669" y="455234"/>
                </a:lnTo>
                <a:lnTo>
                  <a:pt x="2089076" y="417718"/>
                </a:lnTo>
                <a:lnTo>
                  <a:pt x="2044469" y="381110"/>
                </a:lnTo>
                <a:lnTo>
                  <a:pt x="1999989" y="345535"/>
                </a:lnTo>
                <a:lnTo>
                  <a:pt x="1955780" y="311113"/>
                </a:lnTo>
                <a:lnTo>
                  <a:pt x="1911983" y="277968"/>
                </a:lnTo>
                <a:lnTo>
                  <a:pt x="1868741" y="246221"/>
                </a:lnTo>
                <a:lnTo>
                  <a:pt x="1826195" y="215996"/>
                </a:lnTo>
                <a:lnTo>
                  <a:pt x="1784487" y="187415"/>
                </a:lnTo>
                <a:lnTo>
                  <a:pt x="1743760" y="160600"/>
                </a:lnTo>
                <a:lnTo>
                  <a:pt x="1704157" y="135673"/>
                </a:lnTo>
                <a:lnTo>
                  <a:pt x="1665818" y="112757"/>
                </a:lnTo>
                <a:lnTo>
                  <a:pt x="1628887" y="91975"/>
                </a:lnTo>
                <a:lnTo>
                  <a:pt x="1593506" y="73448"/>
                </a:lnTo>
                <a:lnTo>
                  <a:pt x="1527960" y="43652"/>
                </a:lnTo>
                <a:lnTo>
                  <a:pt x="1478414" y="26178"/>
                </a:lnTo>
                <a:lnTo>
                  <a:pt x="1429194" y="13339"/>
                </a:lnTo>
                <a:lnTo>
                  <a:pt x="1380338" y="4872"/>
                </a:lnTo>
                <a:lnTo>
                  <a:pt x="1331882" y="513"/>
                </a:lnTo>
                <a:lnTo>
                  <a:pt x="1283865" y="0"/>
                </a:lnTo>
                <a:lnTo>
                  <a:pt x="1236324" y="3068"/>
                </a:lnTo>
                <a:lnTo>
                  <a:pt x="1189296" y="9456"/>
                </a:lnTo>
                <a:lnTo>
                  <a:pt x="1142820" y="18901"/>
                </a:lnTo>
                <a:lnTo>
                  <a:pt x="1096932" y="31138"/>
                </a:lnTo>
                <a:lnTo>
                  <a:pt x="1051670" y="45906"/>
                </a:lnTo>
                <a:lnTo>
                  <a:pt x="1007073" y="62941"/>
                </a:lnTo>
                <a:lnTo>
                  <a:pt x="963176" y="81980"/>
                </a:lnTo>
                <a:lnTo>
                  <a:pt x="920019" y="102760"/>
                </a:lnTo>
                <a:lnTo>
                  <a:pt x="877639" y="125018"/>
                </a:lnTo>
                <a:lnTo>
                  <a:pt x="836072" y="148491"/>
                </a:lnTo>
                <a:lnTo>
                  <a:pt x="795357" y="172917"/>
                </a:lnTo>
                <a:lnTo>
                  <a:pt x="755532" y="198031"/>
                </a:lnTo>
                <a:lnTo>
                  <a:pt x="716633" y="223570"/>
                </a:lnTo>
                <a:lnTo>
                  <a:pt x="678699" y="249273"/>
                </a:lnTo>
                <a:lnTo>
                  <a:pt x="641767" y="274876"/>
                </a:lnTo>
                <a:lnTo>
                  <a:pt x="605875" y="300115"/>
                </a:lnTo>
                <a:lnTo>
                  <a:pt x="571060" y="324728"/>
                </a:lnTo>
                <a:lnTo>
                  <a:pt x="537360" y="348452"/>
                </a:lnTo>
                <a:close/>
              </a:path>
            </a:pathLst>
          </a:custGeom>
          <a:ln w="38100">
            <a:solidFill>
              <a:srgbClr val="0E2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234940" y="2149157"/>
            <a:ext cx="471170" cy="132715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700"/>
              </a:spcBef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14</a:t>
            </a:r>
            <a:endParaRPr sz="2000">
              <a:latin typeface="Tahoma"/>
              <a:cs typeface="Tahoma"/>
            </a:endParaRPr>
          </a:p>
          <a:p>
            <a:pPr marL="180975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30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50"/>
              </a:spcBef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79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68340" y="2834957"/>
            <a:ext cx="3028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23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95090" y="2023732"/>
            <a:ext cx="1376045" cy="114808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85750">
              <a:lnSpc>
                <a:spcPct val="100000"/>
              </a:lnSpc>
              <a:spcBef>
                <a:spcPts val="535"/>
              </a:spcBef>
              <a:tabLst>
                <a:tab pos="834390" algn="l"/>
              </a:tabLst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88	</a:t>
            </a:r>
            <a:r>
              <a:rPr sz="3000" baseline="1388" dirty="0">
                <a:solidFill>
                  <a:srgbClr val="37D142"/>
                </a:solidFill>
                <a:latin typeface="Tahoma"/>
                <a:cs typeface="Tahoma"/>
              </a:rPr>
              <a:t>52</a:t>
            </a:r>
            <a:endParaRPr sz="3000" baseline="1388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440"/>
              </a:spcBef>
              <a:tabLst>
                <a:tab pos="834390" algn="l"/>
              </a:tabLst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31</a:t>
            </a:r>
            <a:r>
              <a:rPr sz="2000" spc="-235" dirty="0">
                <a:solidFill>
                  <a:srgbClr val="37D142"/>
                </a:solidFill>
                <a:latin typeface="Tahoma"/>
                <a:cs typeface="Tahoma"/>
              </a:rPr>
              <a:t> </a:t>
            </a:r>
            <a:r>
              <a:rPr sz="3000" baseline="-36111" dirty="0">
                <a:solidFill>
                  <a:srgbClr val="37D142"/>
                </a:solidFill>
                <a:latin typeface="Tahoma"/>
                <a:cs typeface="Tahoma"/>
              </a:rPr>
              <a:t>25	</a:t>
            </a:r>
            <a:r>
              <a:rPr sz="3000" baseline="-19444" dirty="0">
                <a:solidFill>
                  <a:srgbClr val="37D142"/>
                </a:solidFill>
                <a:latin typeface="Tahoma"/>
                <a:cs typeface="Tahoma"/>
              </a:rPr>
              <a:t>98</a:t>
            </a:r>
            <a:endParaRPr sz="3000" baseline="-19444">
              <a:latin typeface="Tahoma"/>
              <a:cs typeface="Tahoma"/>
            </a:endParaRPr>
          </a:p>
          <a:p>
            <a:pPr marR="43180" algn="r">
              <a:lnSpc>
                <a:spcPct val="100000"/>
              </a:lnSpc>
              <a:spcBef>
                <a:spcPts val="760"/>
              </a:spcBef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62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46233" y="4039870"/>
            <a:ext cx="37331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D84900"/>
                </a:solidFill>
                <a:latin typeface="Times New Roman"/>
                <a:cs typeface="Times New Roman"/>
              </a:rPr>
              <a:t>Divide and</a:t>
            </a:r>
            <a:r>
              <a:rPr sz="3600" spc="-20" dirty="0">
                <a:solidFill>
                  <a:srgbClr val="D849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D84900"/>
                </a:solidFill>
                <a:latin typeface="Times New Roman"/>
                <a:cs typeface="Times New Roman"/>
              </a:rPr>
              <a:t>Conquer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962400" y="4660900"/>
            <a:ext cx="2730500" cy="2578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3048000" y="2057400"/>
            <a:ext cx="457200" cy="914400"/>
            <a:chOff x="3048000" y="2057400"/>
            <a:chExt cx="457200" cy="914400"/>
          </a:xfrm>
        </p:grpSpPr>
        <p:sp>
          <p:nvSpPr>
            <p:cNvPr id="11" name="object 11"/>
            <p:cNvSpPr/>
            <p:nvPr/>
          </p:nvSpPr>
          <p:spPr>
            <a:xfrm>
              <a:off x="3129749" y="2057400"/>
              <a:ext cx="227088" cy="19081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48000" y="2269807"/>
              <a:ext cx="457200" cy="702310"/>
            </a:xfrm>
            <a:custGeom>
              <a:avLst/>
              <a:gdLst/>
              <a:ahLst/>
              <a:cxnLst/>
              <a:rect l="l" t="t" r="r" b="b"/>
              <a:pathLst>
                <a:path w="457200" h="702310">
                  <a:moveTo>
                    <a:pt x="457200" y="136753"/>
                  </a:moveTo>
                  <a:lnTo>
                    <a:pt x="454418" y="122656"/>
                  </a:lnTo>
                  <a:lnTo>
                    <a:pt x="426656" y="82257"/>
                  </a:lnTo>
                  <a:lnTo>
                    <a:pt x="423887" y="79679"/>
                  </a:lnTo>
                  <a:lnTo>
                    <a:pt x="423887" y="141439"/>
                  </a:lnTo>
                  <a:lnTo>
                    <a:pt x="415556" y="156006"/>
                  </a:lnTo>
                  <a:lnTo>
                    <a:pt x="381685" y="172453"/>
                  </a:lnTo>
                  <a:lnTo>
                    <a:pt x="342265" y="181838"/>
                  </a:lnTo>
                  <a:lnTo>
                    <a:pt x="319811" y="189623"/>
                  </a:lnTo>
                  <a:lnTo>
                    <a:pt x="305612" y="145046"/>
                  </a:lnTo>
                  <a:lnTo>
                    <a:pt x="302844" y="99974"/>
                  </a:lnTo>
                  <a:lnTo>
                    <a:pt x="286613" y="44030"/>
                  </a:lnTo>
                  <a:lnTo>
                    <a:pt x="361696" y="63004"/>
                  </a:lnTo>
                  <a:lnTo>
                    <a:pt x="418338" y="115608"/>
                  </a:lnTo>
                  <a:lnTo>
                    <a:pt x="423887" y="141439"/>
                  </a:lnTo>
                  <a:lnTo>
                    <a:pt x="423887" y="79679"/>
                  </a:lnTo>
                  <a:lnTo>
                    <a:pt x="373354" y="32473"/>
                  </a:lnTo>
                  <a:lnTo>
                    <a:pt x="336715" y="8509"/>
                  </a:lnTo>
                  <a:lnTo>
                    <a:pt x="294513" y="6159"/>
                  </a:lnTo>
                  <a:lnTo>
                    <a:pt x="274523" y="13208"/>
                  </a:lnTo>
                  <a:lnTo>
                    <a:pt x="274523" y="24333"/>
                  </a:lnTo>
                  <a:lnTo>
                    <a:pt x="266306" y="12179"/>
                  </a:lnTo>
                  <a:lnTo>
                    <a:pt x="223672" y="444"/>
                  </a:lnTo>
                  <a:lnTo>
                    <a:pt x="181597" y="5143"/>
                  </a:lnTo>
                  <a:lnTo>
                    <a:pt x="180809" y="6400"/>
                  </a:lnTo>
                  <a:lnTo>
                    <a:pt x="162687" y="0"/>
                  </a:lnTo>
                  <a:lnTo>
                    <a:pt x="120484" y="2349"/>
                  </a:lnTo>
                  <a:lnTo>
                    <a:pt x="83845" y="26314"/>
                  </a:lnTo>
                  <a:lnTo>
                    <a:pt x="30543" y="76098"/>
                  </a:lnTo>
                  <a:lnTo>
                    <a:pt x="2781" y="116497"/>
                  </a:lnTo>
                  <a:lnTo>
                    <a:pt x="0" y="130594"/>
                  </a:lnTo>
                  <a:lnTo>
                    <a:pt x="13881" y="156895"/>
                  </a:lnTo>
                  <a:lnTo>
                    <a:pt x="44424" y="168630"/>
                  </a:lnTo>
                  <a:lnTo>
                    <a:pt x="83845" y="182727"/>
                  </a:lnTo>
                  <a:lnTo>
                    <a:pt x="114935" y="189776"/>
                  </a:lnTo>
                  <a:lnTo>
                    <a:pt x="128816" y="201993"/>
                  </a:lnTo>
                  <a:lnTo>
                    <a:pt x="120484" y="218427"/>
                  </a:lnTo>
                  <a:lnTo>
                    <a:pt x="98272" y="237680"/>
                  </a:lnTo>
                  <a:lnTo>
                    <a:pt x="69964" y="240030"/>
                  </a:lnTo>
                  <a:lnTo>
                    <a:pt x="50533" y="232524"/>
                  </a:lnTo>
                  <a:lnTo>
                    <a:pt x="38862" y="240030"/>
                  </a:lnTo>
                  <a:lnTo>
                    <a:pt x="41643" y="249428"/>
                  </a:lnTo>
                  <a:lnTo>
                    <a:pt x="64401" y="256476"/>
                  </a:lnTo>
                  <a:lnTo>
                    <a:pt x="98272" y="256476"/>
                  </a:lnTo>
                  <a:lnTo>
                    <a:pt x="128816" y="249428"/>
                  </a:lnTo>
                  <a:lnTo>
                    <a:pt x="146024" y="240030"/>
                  </a:lnTo>
                  <a:lnTo>
                    <a:pt x="157137" y="223126"/>
                  </a:lnTo>
                  <a:lnTo>
                    <a:pt x="162687" y="204330"/>
                  </a:lnTo>
                  <a:lnTo>
                    <a:pt x="148805" y="187426"/>
                  </a:lnTo>
                  <a:lnTo>
                    <a:pt x="114935" y="175679"/>
                  </a:lnTo>
                  <a:lnTo>
                    <a:pt x="75514" y="166293"/>
                  </a:lnTo>
                  <a:lnTo>
                    <a:pt x="41643" y="149847"/>
                  </a:lnTo>
                  <a:lnTo>
                    <a:pt x="33312" y="135280"/>
                  </a:lnTo>
                  <a:lnTo>
                    <a:pt x="38862" y="109448"/>
                  </a:lnTo>
                  <a:lnTo>
                    <a:pt x="64401" y="76098"/>
                  </a:lnTo>
                  <a:lnTo>
                    <a:pt x="95504" y="56845"/>
                  </a:lnTo>
                  <a:lnTo>
                    <a:pt x="143256" y="42748"/>
                  </a:lnTo>
                  <a:lnTo>
                    <a:pt x="162445" y="39319"/>
                  </a:lnTo>
                  <a:lnTo>
                    <a:pt x="164985" y="74155"/>
                  </a:lnTo>
                  <a:lnTo>
                    <a:pt x="176060" y="135648"/>
                  </a:lnTo>
                  <a:lnTo>
                    <a:pt x="176060" y="190119"/>
                  </a:lnTo>
                  <a:lnTo>
                    <a:pt x="162217" y="237528"/>
                  </a:lnTo>
                  <a:lnTo>
                    <a:pt x="153911" y="263829"/>
                  </a:lnTo>
                  <a:lnTo>
                    <a:pt x="159448" y="287769"/>
                  </a:lnTo>
                  <a:lnTo>
                    <a:pt x="160489" y="288429"/>
                  </a:lnTo>
                  <a:lnTo>
                    <a:pt x="168021" y="406298"/>
                  </a:lnTo>
                  <a:lnTo>
                    <a:pt x="168021" y="437324"/>
                  </a:lnTo>
                  <a:lnTo>
                    <a:pt x="156895" y="494677"/>
                  </a:lnTo>
                  <a:lnTo>
                    <a:pt x="154114" y="561428"/>
                  </a:lnTo>
                  <a:lnTo>
                    <a:pt x="159677" y="594804"/>
                  </a:lnTo>
                  <a:lnTo>
                    <a:pt x="154114" y="613613"/>
                  </a:lnTo>
                  <a:lnTo>
                    <a:pt x="114630" y="642289"/>
                  </a:lnTo>
                  <a:lnTo>
                    <a:pt x="97383" y="678014"/>
                  </a:lnTo>
                  <a:lnTo>
                    <a:pt x="100723" y="689775"/>
                  </a:lnTo>
                  <a:lnTo>
                    <a:pt x="131318" y="701992"/>
                  </a:lnTo>
                  <a:lnTo>
                    <a:pt x="139649" y="696823"/>
                  </a:lnTo>
                  <a:lnTo>
                    <a:pt x="142989" y="675665"/>
                  </a:lnTo>
                  <a:lnTo>
                    <a:pt x="151333" y="644639"/>
                  </a:lnTo>
                  <a:lnTo>
                    <a:pt x="165239" y="630542"/>
                  </a:lnTo>
                  <a:lnTo>
                    <a:pt x="181927" y="621131"/>
                  </a:lnTo>
                  <a:lnTo>
                    <a:pt x="196380" y="608914"/>
                  </a:lnTo>
                  <a:lnTo>
                    <a:pt x="199161" y="599503"/>
                  </a:lnTo>
                  <a:lnTo>
                    <a:pt x="190817" y="587756"/>
                  </a:lnTo>
                  <a:lnTo>
                    <a:pt x="181927" y="580707"/>
                  </a:lnTo>
                  <a:lnTo>
                    <a:pt x="176364" y="551561"/>
                  </a:lnTo>
                  <a:lnTo>
                    <a:pt x="181927" y="491858"/>
                  </a:lnTo>
                  <a:lnTo>
                    <a:pt x="201942" y="423214"/>
                  </a:lnTo>
                  <a:lnTo>
                    <a:pt x="221411" y="368211"/>
                  </a:lnTo>
                  <a:lnTo>
                    <a:pt x="226669" y="315937"/>
                  </a:lnTo>
                  <a:lnTo>
                    <a:pt x="229209" y="316407"/>
                  </a:lnTo>
                  <a:lnTo>
                    <a:pt x="247942" y="316407"/>
                  </a:lnTo>
                  <a:lnTo>
                    <a:pt x="275793" y="394576"/>
                  </a:lnTo>
                  <a:lnTo>
                    <a:pt x="292430" y="449110"/>
                  </a:lnTo>
                  <a:lnTo>
                    <a:pt x="297980" y="496608"/>
                  </a:lnTo>
                  <a:lnTo>
                    <a:pt x="297980" y="534695"/>
                  </a:lnTo>
                  <a:lnTo>
                    <a:pt x="289661" y="563841"/>
                  </a:lnTo>
                  <a:lnTo>
                    <a:pt x="281343" y="573239"/>
                  </a:lnTo>
                  <a:lnTo>
                    <a:pt x="281343" y="582650"/>
                  </a:lnTo>
                  <a:lnTo>
                    <a:pt x="292430" y="597230"/>
                  </a:lnTo>
                  <a:lnTo>
                    <a:pt x="311835" y="601929"/>
                  </a:lnTo>
                  <a:lnTo>
                    <a:pt x="342900" y="601929"/>
                  </a:lnTo>
                  <a:lnTo>
                    <a:pt x="398907" y="613689"/>
                  </a:lnTo>
                  <a:lnTo>
                    <a:pt x="415544" y="630605"/>
                  </a:lnTo>
                  <a:lnTo>
                    <a:pt x="441058" y="620737"/>
                  </a:lnTo>
                  <a:lnTo>
                    <a:pt x="452145" y="597230"/>
                  </a:lnTo>
                  <a:lnTo>
                    <a:pt x="441058" y="587819"/>
                  </a:lnTo>
                  <a:lnTo>
                    <a:pt x="393357" y="582650"/>
                  </a:lnTo>
                  <a:lnTo>
                    <a:pt x="340118" y="582650"/>
                  </a:lnTo>
                  <a:lnTo>
                    <a:pt x="317385" y="580301"/>
                  </a:lnTo>
                  <a:lnTo>
                    <a:pt x="311835" y="566191"/>
                  </a:lnTo>
                  <a:lnTo>
                    <a:pt x="317385" y="539394"/>
                  </a:lnTo>
                  <a:lnTo>
                    <a:pt x="320713" y="494245"/>
                  </a:lnTo>
                  <a:lnTo>
                    <a:pt x="306298" y="378117"/>
                  </a:lnTo>
                  <a:lnTo>
                    <a:pt x="309067" y="320751"/>
                  </a:lnTo>
                  <a:lnTo>
                    <a:pt x="309067" y="301942"/>
                  </a:lnTo>
                  <a:lnTo>
                    <a:pt x="305549" y="277520"/>
                  </a:lnTo>
                  <a:lnTo>
                    <a:pt x="320116" y="251079"/>
                  </a:lnTo>
                  <a:lnTo>
                    <a:pt x="328383" y="255587"/>
                  </a:lnTo>
                  <a:lnTo>
                    <a:pt x="358914" y="262636"/>
                  </a:lnTo>
                  <a:lnTo>
                    <a:pt x="392785" y="262636"/>
                  </a:lnTo>
                  <a:lnTo>
                    <a:pt x="415556" y="255587"/>
                  </a:lnTo>
                  <a:lnTo>
                    <a:pt x="418338" y="246189"/>
                  </a:lnTo>
                  <a:lnTo>
                    <a:pt x="406666" y="238683"/>
                  </a:lnTo>
                  <a:lnTo>
                    <a:pt x="387235" y="246189"/>
                  </a:lnTo>
                  <a:lnTo>
                    <a:pt x="358914" y="243840"/>
                  </a:lnTo>
                  <a:lnTo>
                    <a:pt x="336715" y="224586"/>
                  </a:lnTo>
                  <a:lnTo>
                    <a:pt x="328383" y="208140"/>
                  </a:lnTo>
                  <a:lnTo>
                    <a:pt x="342265" y="195935"/>
                  </a:lnTo>
                  <a:lnTo>
                    <a:pt x="373354" y="188887"/>
                  </a:lnTo>
                  <a:lnTo>
                    <a:pt x="412775" y="174790"/>
                  </a:lnTo>
                  <a:lnTo>
                    <a:pt x="443318" y="163055"/>
                  </a:lnTo>
                  <a:lnTo>
                    <a:pt x="457200" y="136753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37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26966" y="758520"/>
            <a:ext cx="180975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QuickSort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473921"/>
            <a:ext cx="7906384" cy="2583180"/>
          </a:xfrm>
          <a:prstGeom prst="rect">
            <a:avLst/>
          </a:prstGeom>
        </p:spPr>
        <p:txBody>
          <a:bodyPr vert="horz" wrap="square" lIns="0" tIns="19812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56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Invented by C.A.R. Hoare in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1960</a:t>
            </a: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ct val="99500"/>
              </a:lnSpc>
              <a:spcBef>
                <a:spcPts val="1475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“There are two ways of constructing a software </a:t>
            </a:r>
            <a:r>
              <a:rPr sz="2400" spc="-10" dirty="0">
                <a:latin typeface="Arial"/>
                <a:cs typeface="Arial"/>
              </a:rPr>
              <a:t>design:  </a:t>
            </a:r>
            <a:r>
              <a:rPr sz="2400" spc="-5" dirty="0">
                <a:latin typeface="Arial"/>
                <a:cs typeface="Arial"/>
              </a:rPr>
              <a:t>One way is to make it so simple that there are </a:t>
            </a:r>
            <a:r>
              <a:rPr sz="2400" spc="-10" dirty="0">
                <a:latin typeface="Arial"/>
                <a:cs typeface="Arial"/>
              </a:rPr>
              <a:t>obviously  </a:t>
            </a:r>
            <a:r>
              <a:rPr sz="2400" spc="-5" dirty="0">
                <a:latin typeface="Arial"/>
                <a:cs typeface="Arial"/>
              </a:rPr>
              <a:t>no deficiencies, and the other way is to make it </a:t>
            </a:r>
            <a:r>
              <a:rPr sz="2400" spc="-10" dirty="0">
                <a:latin typeface="Arial"/>
                <a:cs typeface="Arial"/>
              </a:rPr>
              <a:t>so  </a:t>
            </a:r>
            <a:r>
              <a:rPr sz="2400" spc="-5" dirty="0">
                <a:latin typeface="Arial"/>
                <a:cs typeface="Arial"/>
              </a:rPr>
              <a:t>complicated that there are no obvious deficiencies. The  </a:t>
            </a:r>
            <a:r>
              <a:rPr sz="2400" dirty="0">
                <a:latin typeface="Arial"/>
                <a:cs typeface="Arial"/>
              </a:rPr>
              <a:t>first </a:t>
            </a:r>
            <a:r>
              <a:rPr sz="2400" spc="-5" dirty="0">
                <a:latin typeface="Arial"/>
                <a:cs typeface="Arial"/>
              </a:rPr>
              <a:t>method is </a:t>
            </a:r>
            <a:r>
              <a:rPr sz="2400" dirty="0">
                <a:latin typeface="Arial"/>
                <a:cs typeface="Arial"/>
              </a:rPr>
              <a:t>far </a:t>
            </a:r>
            <a:r>
              <a:rPr sz="2400" spc="-5" dirty="0">
                <a:latin typeface="Arial"/>
                <a:cs typeface="Arial"/>
              </a:rPr>
              <a:t>more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difficult.”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88200" y="3949700"/>
            <a:ext cx="2146300" cy="2844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38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6264262" y="5780328"/>
            <a:ext cx="247650" cy="361950"/>
            <a:chOff x="6264262" y="5780328"/>
            <a:chExt cx="247650" cy="361950"/>
          </a:xfrm>
        </p:grpSpPr>
        <p:sp>
          <p:nvSpPr>
            <p:cNvPr id="4" name="object 4"/>
            <p:cNvSpPr/>
            <p:nvPr/>
          </p:nvSpPr>
          <p:spPr>
            <a:xfrm>
              <a:off x="6273799" y="5789866"/>
              <a:ext cx="228600" cy="342900"/>
            </a:xfrm>
            <a:custGeom>
              <a:avLst/>
              <a:gdLst/>
              <a:ahLst/>
              <a:cxnLst/>
              <a:rect l="l" t="t" r="r" b="b"/>
              <a:pathLst>
                <a:path w="228600" h="342900">
                  <a:moveTo>
                    <a:pt x="0" y="0"/>
                  </a:moveTo>
                  <a:lnTo>
                    <a:pt x="0" y="342900"/>
                  </a:lnTo>
                  <a:lnTo>
                    <a:pt x="228600" y="342900"/>
                  </a:lnTo>
                  <a:lnTo>
                    <a:pt x="228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73787" y="5789853"/>
              <a:ext cx="228600" cy="342900"/>
            </a:xfrm>
            <a:custGeom>
              <a:avLst/>
              <a:gdLst/>
              <a:ahLst/>
              <a:cxnLst/>
              <a:rect l="l" t="t" r="r" b="b"/>
              <a:pathLst>
                <a:path w="228600" h="342900">
                  <a:moveTo>
                    <a:pt x="0" y="342900"/>
                  </a:moveTo>
                  <a:lnTo>
                    <a:pt x="0" y="0"/>
                  </a:lnTo>
                  <a:lnTo>
                    <a:pt x="228600" y="0"/>
                  </a:lnTo>
                  <a:lnTo>
                    <a:pt x="228600" y="342900"/>
                  </a:lnTo>
                  <a:lnTo>
                    <a:pt x="0" y="3429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059301" y="758520"/>
            <a:ext cx="19450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Quick-Sort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93139" y="1743011"/>
            <a:ext cx="3908425" cy="397510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55600" marR="5080" indent="-342900">
              <a:lnSpc>
                <a:spcPct val="100699"/>
              </a:lnSpc>
              <a:spcBef>
                <a:spcPts val="80"/>
              </a:spcBef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solidFill>
                  <a:srgbClr val="941300"/>
                </a:solidFill>
                <a:latin typeface="Arial"/>
                <a:cs typeface="Arial"/>
              </a:rPr>
              <a:t>Quick-sort </a:t>
            </a:r>
            <a:r>
              <a:rPr sz="2400" spc="-5" dirty="0">
                <a:latin typeface="Arial"/>
                <a:cs typeface="Arial"/>
              </a:rPr>
              <a:t>is a </a:t>
            </a:r>
            <a:r>
              <a:rPr sz="2400" spc="-10" dirty="0">
                <a:latin typeface="Arial"/>
                <a:cs typeface="Arial"/>
              </a:rPr>
              <a:t>divide-and-  </a:t>
            </a:r>
            <a:r>
              <a:rPr sz="2400" spc="-5" dirty="0">
                <a:latin typeface="Arial"/>
                <a:cs typeface="Arial"/>
              </a:rPr>
              <a:t>conquer </a:t>
            </a:r>
            <a:r>
              <a:rPr sz="2400" spc="-10" dirty="0">
                <a:latin typeface="Arial"/>
                <a:cs typeface="Arial"/>
              </a:rPr>
              <a:t>algorithm:</a:t>
            </a:r>
            <a:endParaRPr sz="2400">
              <a:latin typeface="Arial"/>
              <a:cs typeface="Arial"/>
            </a:endParaRPr>
          </a:p>
          <a:p>
            <a:pPr marL="762000" marR="314325" lvl="1" indent="-292100">
              <a:lnSpc>
                <a:spcPct val="100000"/>
              </a:lnSpc>
              <a:spcBef>
                <a:spcPts val="1220"/>
              </a:spcBef>
              <a:buClr>
                <a:srgbClr val="2F5C00"/>
              </a:buClr>
              <a:buFont typeface="Wingdings"/>
              <a:buChar char=""/>
              <a:tabLst>
                <a:tab pos="755650" algn="l"/>
              </a:tabLst>
            </a:pPr>
            <a:r>
              <a:rPr sz="2000" spc="-5" dirty="0">
                <a:solidFill>
                  <a:srgbClr val="941300"/>
                </a:solidFill>
                <a:latin typeface="Arial"/>
                <a:cs typeface="Arial"/>
              </a:rPr>
              <a:t>Divide</a:t>
            </a:r>
            <a:r>
              <a:rPr sz="2000" spc="-5" dirty="0">
                <a:latin typeface="Arial"/>
                <a:cs typeface="Arial"/>
              </a:rPr>
              <a:t>: pick a </a:t>
            </a:r>
            <a:r>
              <a:rPr sz="2000" spc="-10" dirty="0">
                <a:latin typeface="Arial"/>
                <a:cs typeface="Arial"/>
              </a:rPr>
              <a:t>random  </a:t>
            </a:r>
            <a:r>
              <a:rPr sz="2000" spc="-5" dirty="0">
                <a:latin typeface="Arial"/>
                <a:cs typeface="Arial"/>
              </a:rPr>
              <a:t>element </a:t>
            </a:r>
            <a:r>
              <a:rPr sz="2000" b="1" i="1" dirty="0">
                <a:latin typeface="Times New Roman"/>
                <a:cs typeface="Times New Roman"/>
              </a:rPr>
              <a:t>x </a:t>
            </a:r>
            <a:r>
              <a:rPr sz="2000" spc="-5" dirty="0">
                <a:latin typeface="Arial"/>
                <a:cs typeface="Arial"/>
              </a:rPr>
              <a:t>(called a </a:t>
            </a:r>
            <a:r>
              <a:rPr sz="2000" spc="-5" dirty="0">
                <a:solidFill>
                  <a:srgbClr val="941300"/>
                </a:solidFill>
                <a:latin typeface="Arial"/>
                <a:cs typeface="Arial"/>
              </a:rPr>
              <a:t>pivot</a:t>
            </a:r>
            <a:r>
              <a:rPr sz="2000" spc="-5" dirty="0">
                <a:latin typeface="Arial"/>
                <a:cs typeface="Arial"/>
              </a:rPr>
              <a:t>)  and partition </a:t>
            </a:r>
            <a:r>
              <a:rPr sz="2000" b="1" i="1" spc="-5" dirty="0">
                <a:latin typeface="Times New Roman"/>
                <a:cs typeface="Times New Roman"/>
              </a:rPr>
              <a:t>S</a:t>
            </a:r>
            <a:r>
              <a:rPr sz="2000" b="1" i="1" spc="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into</a:t>
            </a:r>
            <a:endParaRPr sz="20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1080"/>
              </a:spcBef>
            </a:pPr>
            <a:r>
              <a:rPr sz="1800" spc="2590" dirty="0">
                <a:solidFill>
                  <a:srgbClr val="0E2FFF"/>
                </a:solidFill>
                <a:latin typeface="Wingdings"/>
                <a:cs typeface="Wingdings"/>
              </a:rPr>
              <a:t></a:t>
            </a:r>
            <a:r>
              <a:rPr sz="1800" spc="-305" dirty="0">
                <a:solidFill>
                  <a:srgbClr val="0E2FFF"/>
                </a:solidFill>
                <a:latin typeface="Times New Roman"/>
                <a:cs typeface="Times New Roman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L </a:t>
            </a:r>
            <a:r>
              <a:rPr sz="1800" spc="-5" dirty="0">
                <a:latin typeface="Arial"/>
                <a:cs typeface="Arial"/>
              </a:rPr>
              <a:t>elements less than </a:t>
            </a:r>
            <a:r>
              <a:rPr sz="1800" b="1" i="1" dirty="0">
                <a:latin typeface="Times New Roman"/>
                <a:cs typeface="Times New Roman"/>
              </a:rPr>
              <a:t>x</a:t>
            </a:r>
            <a:endParaRPr sz="1800">
              <a:latin typeface="Times New Roman"/>
              <a:cs typeface="Times New Roman"/>
            </a:endParaRPr>
          </a:p>
          <a:p>
            <a:pPr marL="926465">
              <a:lnSpc>
                <a:spcPct val="100000"/>
              </a:lnSpc>
              <a:spcBef>
                <a:spcPts val="1040"/>
              </a:spcBef>
            </a:pPr>
            <a:r>
              <a:rPr sz="1800" spc="2590" dirty="0">
                <a:solidFill>
                  <a:srgbClr val="0E2FFF"/>
                </a:solidFill>
                <a:latin typeface="Wingdings"/>
                <a:cs typeface="Wingdings"/>
              </a:rPr>
              <a:t></a:t>
            </a:r>
            <a:r>
              <a:rPr sz="1800" spc="-290" dirty="0">
                <a:solidFill>
                  <a:srgbClr val="0E2FFF"/>
                </a:solidFill>
                <a:latin typeface="Times New Roman"/>
                <a:cs typeface="Times New Roman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E </a:t>
            </a:r>
            <a:r>
              <a:rPr sz="1800" spc="-5" dirty="0">
                <a:latin typeface="Arial"/>
                <a:cs typeface="Arial"/>
              </a:rPr>
              <a:t>elements equal to </a:t>
            </a:r>
            <a:r>
              <a:rPr sz="1800" b="1" i="1" dirty="0">
                <a:latin typeface="Times New Roman"/>
                <a:cs typeface="Times New Roman"/>
              </a:rPr>
              <a:t>x</a:t>
            </a:r>
            <a:endParaRPr sz="1800">
              <a:latin typeface="Times New Roman"/>
              <a:cs typeface="Times New Roman"/>
            </a:endParaRPr>
          </a:p>
          <a:p>
            <a:pPr marL="926465">
              <a:lnSpc>
                <a:spcPct val="100000"/>
              </a:lnSpc>
              <a:spcBef>
                <a:spcPts val="1040"/>
              </a:spcBef>
            </a:pPr>
            <a:r>
              <a:rPr sz="1800" spc="2590" dirty="0">
                <a:solidFill>
                  <a:srgbClr val="0E2FFF"/>
                </a:solidFill>
                <a:latin typeface="Wingdings"/>
                <a:cs typeface="Wingdings"/>
              </a:rPr>
              <a:t></a:t>
            </a:r>
            <a:r>
              <a:rPr sz="1800" spc="-320" dirty="0">
                <a:solidFill>
                  <a:srgbClr val="0E2FFF"/>
                </a:solidFill>
                <a:latin typeface="Times New Roman"/>
                <a:cs typeface="Times New Roman"/>
              </a:rPr>
              <a:t> </a:t>
            </a:r>
            <a:r>
              <a:rPr sz="1800" b="1" i="1" spc="-5" dirty="0">
                <a:latin typeface="Times New Roman"/>
                <a:cs typeface="Times New Roman"/>
              </a:rPr>
              <a:t>G </a:t>
            </a:r>
            <a:r>
              <a:rPr sz="1800" spc="-5" dirty="0">
                <a:latin typeface="Arial"/>
                <a:cs typeface="Arial"/>
              </a:rPr>
              <a:t>elements greater </a:t>
            </a:r>
            <a:r>
              <a:rPr sz="1800" spc="-90" dirty="0">
                <a:latin typeface="Arial"/>
                <a:cs typeface="Arial"/>
              </a:rPr>
              <a:t>than  </a:t>
            </a:r>
            <a:r>
              <a:rPr sz="1800" b="1" i="1" dirty="0">
                <a:latin typeface="Times New Roman"/>
                <a:cs typeface="Times New Roman"/>
              </a:rPr>
              <a:t>x</a:t>
            </a:r>
            <a:endParaRPr sz="1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60"/>
              </a:spcBef>
              <a:buClr>
                <a:srgbClr val="2F5C00"/>
              </a:buClr>
              <a:buFont typeface="Wingdings"/>
              <a:buChar char=""/>
              <a:tabLst>
                <a:tab pos="755650" algn="l"/>
              </a:tabLst>
            </a:pPr>
            <a:r>
              <a:rPr sz="2000" spc="-5" dirty="0">
                <a:solidFill>
                  <a:srgbClr val="941300"/>
                </a:solidFill>
                <a:latin typeface="Arial"/>
                <a:cs typeface="Arial"/>
              </a:rPr>
              <a:t>Recur</a:t>
            </a:r>
            <a:r>
              <a:rPr sz="2000" spc="-5" dirty="0">
                <a:latin typeface="Arial"/>
                <a:cs typeface="Arial"/>
              </a:rPr>
              <a:t>: </a:t>
            </a:r>
            <a:r>
              <a:rPr sz="2000" dirty="0">
                <a:latin typeface="Arial"/>
                <a:cs typeface="Arial"/>
              </a:rPr>
              <a:t>Quick-sort </a:t>
            </a:r>
            <a:r>
              <a:rPr sz="2000" b="1" i="1" dirty="0">
                <a:latin typeface="Times New Roman"/>
                <a:cs typeface="Times New Roman"/>
              </a:rPr>
              <a:t>L </a:t>
            </a:r>
            <a:r>
              <a:rPr sz="2000" spc="-5" dirty="0">
                <a:latin typeface="Arial"/>
                <a:cs typeface="Arial"/>
              </a:rPr>
              <a:t>and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G</a:t>
            </a:r>
            <a:endParaRPr sz="2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Clr>
                <a:srgbClr val="2F5C00"/>
              </a:buClr>
              <a:buFont typeface="Wingdings"/>
              <a:buChar char=""/>
              <a:tabLst>
                <a:tab pos="755650" algn="l"/>
              </a:tabLst>
            </a:pPr>
            <a:r>
              <a:rPr sz="2000" spc="-5" dirty="0">
                <a:solidFill>
                  <a:srgbClr val="941300"/>
                </a:solidFill>
                <a:latin typeface="Arial"/>
                <a:cs typeface="Arial"/>
              </a:rPr>
              <a:t>Conquer</a:t>
            </a:r>
            <a:r>
              <a:rPr sz="2000" spc="-5" dirty="0">
                <a:latin typeface="Arial"/>
                <a:cs typeface="Arial"/>
              </a:rPr>
              <a:t>: join </a:t>
            </a:r>
            <a:r>
              <a:rPr sz="2000" b="1" i="1" spc="-5" dirty="0">
                <a:latin typeface="Times New Roman"/>
                <a:cs typeface="Times New Roman"/>
              </a:rPr>
              <a:t>L</a:t>
            </a:r>
            <a:r>
              <a:rPr sz="2000" spc="-5" dirty="0">
                <a:latin typeface="Arial"/>
                <a:cs typeface="Arial"/>
              </a:rPr>
              <a:t>, </a:t>
            </a:r>
            <a:r>
              <a:rPr sz="2000" b="1" i="1" dirty="0">
                <a:latin typeface="Times New Roman"/>
                <a:cs typeface="Times New Roman"/>
              </a:rPr>
              <a:t>E </a:t>
            </a:r>
            <a:r>
              <a:rPr sz="2000" spc="-5" dirty="0">
                <a:latin typeface="Arial"/>
                <a:cs typeface="Arial"/>
              </a:rPr>
              <a:t>and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G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857862" y="1744916"/>
            <a:ext cx="247650" cy="1079500"/>
            <a:chOff x="5857862" y="1744916"/>
            <a:chExt cx="247650" cy="1079500"/>
          </a:xfrm>
        </p:grpSpPr>
        <p:sp>
          <p:nvSpPr>
            <p:cNvPr id="9" name="object 9"/>
            <p:cNvSpPr/>
            <p:nvPr/>
          </p:nvSpPr>
          <p:spPr>
            <a:xfrm>
              <a:off x="5867399" y="1754441"/>
              <a:ext cx="228600" cy="1060450"/>
            </a:xfrm>
            <a:custGeom>
              <a:avLst/>
              <a:gdLst/>
              <a:ahLst/>
              <a:cxnLst/>
              <a:rect l="l" t="t" r="r" b="b"/>
              <a:pathLst>
                <a:path w="228600" h="1060450">
                  <a:moveTo>
                    <a:pt x="0" y="0"/>
                  </a:moveTo>
                  <a:lnTo>
                    <a:pt x="0" y="1060450"/>
                  </a:lnTo>
                  <a:lnTo>
                    <a:pt x="228600" y="1060450"/>
                  </a:lnTo>
                  <a:lnTo>
                    <a:pt x="228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867387" y="1754441"/>
              <a:ext cx="228600" cy="1060450"/>
            </a:xfrm>
            <a:custGeom>
              <a:avLst/>
              <a:gdLst/>
              <a:ahLst/>
              <a:cxnLst/>
              <a:rect l="l" t="t" r="r" b="b"/>
              <a:pathLst>
                <a:path w="228600" h="1060450">
                  <a:moveTo>
                    <a:pt x="0" y="1060450"/>
                  </a:moveTo>
                  <a:lnTo>
                    <a:pt x="0" y="0"/>
                  </a:lnTo>
                  <a:lnTo>
                    <a:pt x="228600" y="0"/>
                  </a:lnTo>
                  <a:lnTo>
                    <a:pt x="228600" y="1060450"/>
                  </a:lnTo>
                  <a:lnTo>
                    <a:pt x="0" y="106045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6264262" y="2348166"/>
            <a:ext cx="247650" cy="476250"/>
            <a:chOff x="6264262" y="2348166"/>
            <a:chExt cx="247650" cy="476250"/>
          </a:xfrm>
        </p:grpSpPr>
        <p:sp>
          <p:nvSpPr>
            <p:cNvPr id="12" name="object 12"/>
            <p:cNvSpPr/>
            <p:nvPr/>
          </p:nvSpPr>
          <p:spPr>
            <a:xfrm>
              <a:off x="6273799" y="2357691"/>
              <a:ext cx="228600" cy="457200"/>
            </a:xfrm>
            <a:custGeom>
              <a:avLst/>
              <a:gdLst/>
              <a:ahLst/>
              <a:cxnLst/>
              <a:rect l="l" t="t" r="r" b="b"/>
              <a:pathLst>
                <a:path w="228600" h="457200">
                  <a:moveTo>
                    <a:pt x="0" y="0"/>
                  </a:moveTo>
                  <a:lnTo>
                    <a:pt x="0" y="457200"/>
                  </a:lnTo>
                  <a:lnTo>
                    <a:pt x="228600" y="457200"/>
                  </a:lnTo>
                  <a:lnTo>
                    <a:pt x="228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273787" y="2357691"/>
              <a:ext cx="228600" cy="457200"/>
            </a:xfrm>
            <a:custGeom>
              <a:avLst/>
              <a:gdLst/>
              <a:ahLst/>
              <a:cxnLst/>
              <a:rect l="l" t="t" r="r" b="b"/>
              <a:pathLst>
                <a:path w="228600" h="457200">
                  <a:moveTo>
                    <a:pt x="0" y="457200"/>
                  </a:moveTo>
                  <a:lnTo>
                    <a:pt x="0" y="0"/>
                  </a:lnTo>
                  <a:lnTo>
                    <a:pt x="228600" y="0"/>
                  </a:lnTo>
                  <a:lnTo>
                    <a:pt x="228600" y="457200"/>
                  </a:lnTo>
                  <a:lnTo>
                    <a:pt x="0" y="4572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7077062" y="2519616"/>
            <a:ext cx="247650" cy="304800"/>
            <a:chOff x="7077062" y="2519616"/>
            <a:chExt cx="247650" cy="304800"/>
          </a:xfrm>
        </p:grpSpPr>
        <p:sp>
          <p:nvSpPr>
            <p:cNvPr id="15" name="object 15"/>
            <p:cNvSpPr/>
            <p:nvPr/>
          </p:nvSpPr>
          <p:spPr>
            <a:xfrm>
              <a:off x="7086600" y="2529141"/>
              <a:ext cx="228600" cy="285750"/>
            </a:xfrm>
            <a:custGeom>
              <a:avLst/>
              <a:gdLst/>
              <a:ahLst/>
              <a:cxnLst/>
              <a:rect l="l" t="t" r="r" b="b"/>
              <a:pathLst>
                <a:path w="228600" h="285750">
                  <a:moveTo>
                    <a:pt x="0" y="0"/>
                  </a:moveTo>
                  <a:lnTo>
                    <a:pt x="0" y="285750"/>
                  </a:lnTo>
                  <a:lnTo>
                    <a:pt x="228600" y="285750"/>
                  </a:lnTo>
                  <a:lnTo>
                    <a:pt x="228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086587" y="2529141"/>
              <a:ext cx="228600" cy="285750"/>
            </a:xfrm>
            <a:custGeom>
              <a:avLst/>
              <a:gdLst/>
              <a:ahLst/>
              <a:cxnLst/>
              <a:rect l="l" t="t" r="r" b="b"/>
              <a:pathLst>
                <a:path w="228600" h="285750">
                  <a:moveTo>
                    <a:pt x="0" y="285750"/>
                  </a:moveTo>
                  <a:lnTo>
                    <a:pt x="0" y="0"/>
                  </a:lnTo>
                  <a:lnTo>
                    <a:pt x="228600" y="0"/>
                  </a:lnTo>
                  <a:lnTo>
                    <a:pt x="228600" y="285750"/>
                  </a:lnTo>
                  <a:lnTo>
                    <a:pt x="0" y="28575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492987" y="2186241"/>
            <a:ext cx="228600" cy="628650"/>
          </a:xfrm>
          <a:prstGeom prst="rect">
            <a:avLst/>
          </a:prstGeom>
          <a:solidFill>
            <a:srgbClr val="AA7900"/>
          </a:solidFill>
          <a:ln w="19050">
            <a:solidFill>
              <a:srgbClr val="000000"/>
            </a:solidFill>
          </a:ln>
        </p:spPr>
        <p:txBody>
          <a:bodyPr vert="horz" wrap="square" lIns="0" tIns="161925" rIns="0" bIns="0" rtlCol="0">
            <a:spAutoFit/>
          </a:bodyPr>
          <a:lstStyle/>
          <a:p>
            <a:pPr marL="53340">
              <a:lnSpc>
                <a:spcPct val="100000"/>
              </a:lnSpc>
              <a:spcBef>
                <a:spcPts val="1275"/>
              </a:spcBef>
            </a:pPr>
            <a:r>
              <a:rPr sz="2000" b="1" i="1" dirty="0">
                <a:latin typeface="Times New Roman"/>
                <a:cs typeface="Times New Roman"/>
              </a:rPr>
              <a:t>x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889862" y="1833816"/>
            <a:ext cx="247650" cy="990600"/>
            <a:chOff x="7889862" y="1833816"/>
            <a:chExt cx="247650" cy="990600"/>
          </a:xfrm>
        </p:grpSpPr>
        <p:sp>
          <p:nvSpPr>
            <p:cNvPr id="19" name="object 19"/>
            <p:cNvSpPr/>
            <p:nvPr/>
          </p:nvSpPr>
          <p:spPr>
            <a:xfrm>
              <a:off x="7899400" y="1843341"/>
              <a:ext cx="228600" cy="971550"/>
            </a:xfrm>
            <a:custGeom>
              <a:avLst/>
              <a:gdLst/>
              <a:ahLst/>
              <a:cxnLst/>
              <a:rect l="l" t="t" r="r" b="b"/>
              <a:pathLst>
                <a:path w="228600" h="971550">
                  <a:moveTo>
                    <a:pt x="0" y="0"/>
                  </a:moveTo>
                  <a:lnTo>
                    <a:pt x="0" y="971550"/>
                  </a:lnTo>
                  <a:lnTo>
                    <a:pt x="228600" y="971550"/>
                  </a:lnTo>
                  <a:lnTo>
                    <a:pt x="228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899387" y="1843341"/>
              <a:ext cx="228600" cy="971550"/>
            </a:xfrm>
            <a:custGeom>
              <a:avLst/>
              <a:gdLst/>
              <a:ahLst/>
              <a:cxnLst/>
              <a:rect l="l" t="t" r="r" b="b"/>
              <a:pathLst>
                <a:path w="228600" h="971550">
                  <a:moveTo>
                    <a:pt x="0" y="971550"/>
                  </a:moveTo>
                  <a:lnTo>
                    <a:pt x="0" y="0"/>
                  </a:lnTo>
                  <a:lnTo>
                    <a:pt x="228600" y="0"/>
                  </a:lnTo>
                  <a:lnTo>
                    <a:pt x="228600" y="971550"/>
                  </a:lnTo>
                  <a:lnTo>
                    <a:pt x="0" y="97155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8296262" y="2462466"/>
            <a:ext cx="247650" cy="361950"/>
            <a:chOff x="8296262" y="2462466"/>
            <a:chExt cx="247650" cy="361950"/>
          </a:xfrm>
        </p:grpSpPr>
        <p:sp>
          <p:nvSpPr>
            <p:cNvPr id="22" name="object 22"/>
            <p:cNvSpPr/>
            <p:nvPr/>
          </p:nvSpPr>
          <p:spPr>
            <a:xfrm>
              <a:off x="8305800" y="2471991"/>
              <a:ext cx="228600" cy="342900"/>
            </a:xfrm>
            <a:custGeom>
              <a:avLst/>
              <a:gdLst/>
              <a:ahLst/>
              <a:cxnLst/>
              <a:rect l="l" t="t" r="r" b="b"/>
              <a:pathLst>
                <a:path w="228600" h="342900">
                  <a:moveTo>
                    <a:pt x="0" y="0"/>
                  </a:moveTo>
                  <a:lnTo>
                    <a:pt x="0" y="342900"/>
                  </a:lnTo>
                  <a:lnTo>
                    <a:pt x="228600" y="342900"/>
                  </a:lnTo>
                  <a:lnTo>
                    <a:pt x="228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305787" y="2471991"/>
              <a:ext cx="228600" cy="342900"/>
            </a:xfrm>
            <a:custGeom>
              <a:avLst/>
              <a:gdLst/>
              <a:ahLst/>
              <a:cxnLst/>
              <a:rect l="l" t="t" r="r" b="b"/>
              <a:pathLst>
                <a:path w="228600" h="342900">
                  <a:moveTo>
                    <a:pt x="0" y="342900"/>
                  </a:moveTo>
                  <a:lnTo>
                    <a:pt x="0" y="0"/>
                  </a:lnTo>
                  <a:lnTo>
                    <a:pt x="228600" y="0"/>
                  </a:lnTo>
                  <a:lnTo>
                    <a:pt x="228600" y="342900"/>
                  </a:lnTo>
                  <a:lnTo>
                    <a:pt x="0" y="3429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6670662" y="2005266"/>
            <a:ext cx="247650" cy="819150"/>
            <a:chOff x="6670662" y="2005266"/>
            <a:chExt cx="247650" cy="819150"/>
          </a:xfrm>
        </p:grpSpPr>
        <p:sp>
          <p:nvSpPr>
            <p:cNvPr id="25" name="object 25"/>
            <p:cNvSpPr/>
            <p:nvPr/>
          </p:nvSpPr>
          <p:spPr>
            <a:xfrm>
              <a:off x="6680200" y="2014791"/>
              <a:ext cx="228600" cy="800100"/>
            </a:xfrm>
            <a:custGeom>
              <a:avLst/>
              <a:gdLst/>
              <a:ahLst/>
              <a:cxnLst/>
              <a:rect l="l" t="t" r="r" b="b"/>
              <a:pathLst>
                <a:path w="228600" h="800100">
                  <a:moveTo>
                    <a:pt x="0" y="0"/>
                  </a:moveTo>
                  <a:lnTo>
                    <a:pt x="0" y="800100"/>
                  </a:lnTo>
                  <a:lnTo>
                    <a:pt x="228600" y="800100"/>
                  </a:lnTo>
                  <a:lnTo>
                    <a:pt x="228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680187" y="2014791"/>
              <a:ext cx="228600" cy="800100"/>
            </a:xfrm>
            <a:custGeom>
              <a:avLst/>
              <a:gdLst/>
              <a:ahLst/>
              <a:cxnLst/>
              <a:rect l="l" t="t" r="r" b="b"/>
              <a:pathLst>
                <a:path w="228600" h="800100">
                  <a:moveTo>
                    <a:pt x="0" y="800100"/>
                  </a:moveTo>
                  <a:lnTo>
                    <a:pt x="0" y="0"/>
                  </a:lnTo>
                  <a:lnTo>
                    <a:pt x="228600" y="0"/>
                  </a:lnTo>
                  <a:lnTo>
                    <a:pt x="228600" y="800100"/>
                  </a:lnTo>
                  <a:lnTo>
                    <a:pt x="0" y="800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5476862" y="3815016"/>
            <a:ext cx="1238250" cy="762000"/>
            <a:chOff x="5476862" y="3815016"/>
            <a:chExt cx="1238250" cy="762000"/>
          </a:xfrm>
        </p:grpSpPr>
        <p:sp>
          <p:nvSpPr>
            <p:cNvPr id="28" name="object 28"/>
            <p:cNvSpPr/>
            <p:nvPr/>
          </p:nvSpPr>
          <p:spPr>
            <a:xfrm>
              <a:off x="5568949" y="3824541"/>
              <a:ext cx="228600" cy="457200"/>
            </a:xfrm>
            <a:custGeom>
              <a:avLst/>
              <a:gdLst/>
              <a:ahLst/>
              <a:cxnLst/>
              <a:rect l="l" t="t" r="r" b="b"/>
              <a:pathLst>
                <a:path w="228600" h="457200">
                  <a:moveTo>
                    <a:pt x="0" y="0"/>
                  </a:moveTo>
                  <a:lnTo>
                    <a:pt x="0" y="457200"/>
                  </a:lnTo>
                  <a:lnTo>
                    <a:pt x="228600" y="457200"/>
                  </a:lnTo>
                  <a:lnTo>
                    <a:pt x="228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568937" y="3824541"/>
              <a:ext cx="228600" cy="457200"/>
            </a:xfrm>
            <a:custGeom>
              <a:avLst/>
              <a:gdLst/>
              <a:ahLst/>
              <a:cxnLst/>
              <a:rect l="l" t="t" r="r" b="b"/>
              <a:pathLst>
                <a:path w="228600" h="457200">
                  <a:moveTo>
                    <a:pt x="0" y="457200"/>
                  </a:moveTo>
                  <a:lnTo>
                    <a:pt x="0" y="0"/>
                  </a:lnTo>
                  <a:lnTo>
                    <a:pt x="228600" y="0"/>
                  </a:lnTo>
                  <a:lnTo>
                    <a:pt x="228600" y="457200"/>
                  </a:lnTo>
                  <a:lnTo>
                    <a:pt x="0" y="4572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981699" y="3995991"/>
              <a:ext cx="228600" cy="285750"/>
            </a:xfrm>
            <a:custGeom>
              <a:avLst/>
              <a:gdLst/>
              <a:ahLst/>
              <a:cxnLst/>
              <a:rect l="l" t="t" r="r" b="b"/>
              <a:pathLst>
                <a:path w="228600" h="285750">
                  <a:moveTo>
                    <a:pt x="0" y="0"/>
                  </a:moveTo>
                  <a:lnTo>
                    <a:pt x="0" y="285750"/>
                  </a:lnTo>
                  <a:lnTo>
                    <a:pt x="228600" y="285750"/>
                  </a:lnTo>
                  <a:lnTo>
                    <a:pt x="228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981687" y="3995991"/>
              <a:ext cx="228600" cy="285750"/>
            </a:xfrm>
            <a:custGeom>
              <a:avLst/>
              <a:gdLst/>
              <a:ahLst/>
              <a:cxnLst/>
              <a:rect l="l" t="t" r="r" b="b"/>
              <a:pathLst>
                <a:path w="228600" h="285750">
                  <a:moveTo>
                    <a:pt x="0" y="285750"/>
                  </a:moveTo>
                  <a:lnTo>
                    <a:pt x="0" y="0"/>
                  </a:lnTo>
                  <a:lnTo>
                    <a:pt x="228600" y="0"/>
                  </a:lnTo>
                  <a:lnTo>
                    <a:pt x="228600" y="285750"/>
                  </a:lnTo>
                  <a:lnTo>
                    <a:pt x="0" y="28575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394449" y="3938841"/>
              <a:ext cx="228600" cy="342900"/>
            </a:xfrm>
            <a:custGeom>
              <a:avLst/>
              <a:gdLst/>
              <a:ahLst/>
              <a:cxnLst/>
              <a:rect l="l" t="t" r="r" b="b"/>
              <a:pathLst>
                <a:path w="228600" h="342900">
                  <a:moveTo>
                    <a:pt x="0" y="0"/>
                  </a:moveTo>
                  <a:lnTo>
                    <a:pt x="0" y="342900"/>
                  </a:lnTo>
                  <a:lnTo>
                    <a:pt x="228600" y="342900"/>
                  </a:lnTo>
                  <a:lnTo>
                    <a:pt x="228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394437" y="3938841"/>
              <a:ext cx="228600" cy="342900"/>
            </a:xfrm>
            <a:custGeom>
              <a:avLst/>
              <a:gdLst/>
              <a:ahLst/>
              <a:cxnLst/>
              <a:rect l="l" t="t" r="r" b="b"/>
              <a:pathLst>
                <a:path w="228600" h="342900">
                  <a:moveTo>
                    <a:pt x="0" y="342900"/>
                  </a:moveTo>
                  <a:lnTo>
                    <a:pt x="0" y="0"/>
                  </a:lnTo>
                  <a:lnTo>
                    <a:pt x="228600" y="0"/>
                  </a:lnTo>
                  <a:lnTo>
                    <a:pt x="228600" y="342900"/>
                  </a:lnTo>
                  <a:lnTo>
                    <a:pt x="0" y="3429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486387" y="4262691"/>
              <a:ext cx="1219200" cy="304800"/>
            </a:xfrm>
            <a:custGeom>
              <a:avLst/>
              <a:gdLst/>
              <a:ahLst/>
              <a:cxnLst/>
              <a:rect l="l" t="t" r="r" b="b"/>
              <a:pathLst>
                <a:path w="1219200" h="304800">
                  <a:moveTo>
                    <a:pt x="1219200" y="0"/>
                  </a:moveTo>
                  <a:lnTo>
                    <a:pt x="1211215" y="59318"/>
                  </a:lnTo>
                  <a:lnTo>
                    <a:pt x="1189440" y="107761"/>
                  </a:lnTo>
                  <a:lnTo>
                    <a:pt x="1157145" y="140422"/>
                  </a:lnTo>
                  <a:lnTo>
                    <a:pt x="1117600" y="152400"/>
                  </a:lnTo>
                  <a:lnTo>
                    <a:pt x="711200" y="152400"/>
                  </a:lnTo>
                  <a:lnTo>
                    <a:pt x="671654" y="164377"/>
                  </a:lnTo>
                  <a:lnTo>
                    <a:pt x="639359" y="197038"/>
                  </a:lnTo>
                  <a:lnTo>
                    <a:pt x="617584" y="245481"/>
                  </a:lnTo>
                  <a:lnTo>
                    <a:pt x="609600" y="304800"/>
                  </a:lnTo>
                  <a:lnTo>
                    <a:pt x="601615" y="245481"/>
                  </a:lnTo>
                  <a:lnTo>
                    <a:pt x="579840" y="197038"/>
                  </a:lnTo>
                  <a:lnTo>
                    <a:pt x="547545" y="164377"/>
                  </a:lnTo>
                  <a:lnTo>
                    <a:pt x="508000" y="152400"/>
                  </a:lnTo>
                  <a:lnTo>
                    <a:pt x="101600" y="152400"/>
                  </a:lnTo>
                  <a:lnTo>
                    <a:pt x="62054" y="140422"/>
                  </a:lnTo>
                  <a:lnTo>
                    <a:pt x="29759" y="107761"/>
                  </a:lnTo>
                  <a:lnTo>
                    <a:pt x="7984" y="59318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7915262" y="3205416"/>
            <a:ext cx="1238250" cy="1371600"/>
            <a:chOff x="7915262" y="3205416"/>
            <a:chExt cx="1238250" cy="1371600"/>
          </a:xfrm>
        </p:grpSpPr>
        <p:sp>
          <p:nvSpPr>
            <p:cNvPr id="36" name="object 36"/>
            <p:cNvSpPr/>
            <p:nvPr/>
          </p:nvSpPr>
          <p:spPr>
            <a:xfrm>
              <a:off x="8001000" y="3214941"/>
              <a:ext cx="228600" cy="1060450"/>
            </a:xfrm>
            <a:custGeom>
              <a:avLst/>
              <a:gdLst/>
              <a:ahLst/>
              <a:cxnLst/>
              <a:rect l="l" t="t" r="r" b="b"/>
              <a:pathLst>
                <a:path w="228600" h="1060450">
                  <a:moveTo>
                    <a:pt x="0" y="0"/>
                  </a:moveTo>
                  <a:lnTo>
                    <a:pt x="0" y="1060450"/>
                  </a:lnTo>
                  <a:lnTo>
                    <a:pt x="228600" y="1060450"/>
                  </a:lnTo>
                  <a:lnTo>
                    <a:pt x="228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5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000987" y="3214941"/>
              <a:ext cx="228600" cy="1060450"/>
            </a:xfrm>
            <a:custGeom>
              <a:avLst/>
              <a:gdLst/>
              <a:ahLst/>
              <a:cxnLst/>
              <a:rect l="l" t="t" r="r" b="b"/>
              <a:pathLst>
                <a:path w="228600" h="1060450">
                  <a:moveTo>
                    <a:pt x="0" y="1060450"/>
                  </a:moveTo>
                  <a:lnTo>
                    <a:pt x="0" y="0"/>
                  </a:lnTo>
                  <a:lnTo>
                    <a:pt x="228600" y="0"/>
                  </a:lnTo>
                  <a:lnTo>
                    <a:pt x="228600" y="1060450"/>
                  </a:lnTo>
                  <a:lnTo>
                    <a:pt x="0" y="106045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839200" y="3303841"/>
              <a:ext cx="228600" cy="971550"/>
            </a:xfrm>
            <a:custGeom>
              <a:avLst/>
              <a:gdLst/>
              <a:ahLst/>
              <a:cxnLst/>
              <a:rect l="l" t="t" r="r" b="b"/>
              <a:pathLst>
                <a:path w="228600" h="971550">
                  <a:moveTo>
                    <a:pt x="0" y="0"/>
                  </a:moveTo>
                  <a:lnTo>
                    <a:pt x="0" y="971550"/>
                  </a:lnTo>
                  <a:lnTo>
                    <a:pt x="228600" y="971550"/>
                  </a:lnTo>
                  <a:lnTo>
                    <a:pt x="228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5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839187" y="3303841"/>
              <a:ext cx="228600" cy="971550"/>
            </a:xfrm>
            <a:custGeom>
              <a:avLst/>
              <a:gdLst/>
              <a:ahLst/>
              <a:cxnLst/>
              <a:rect l="l" t="t" r="r" b="b"/>
              <a:pathLst>
                <a:path w="228600" h="971550">
                  <a:moveTo>
                    <a:pt x="0" y="971550"/>
                  </a:moveTo>
                  <a:lnTo>
                    <a:pt x="0" y="0"/>
                  </a:lnTo>
                  <a:lnTo>
                    <a:pt x="228600" y="0"/>
                  </a:lnTo>
                  <a:lnTo>
                    <a:pt x="228600" y="971550"/>
                  </a:lnTo>
                  <a:lnTo>
                    <a:pt x="0" y="97155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420100" y="3475291"/>
              <a:ext cx="228600" cy="800100"/>
            </a:xfrm>
            <a:custGeom>
              <a:avLst/>
              <a:gdLst/>
              <a:ahLst/>
              <a:cxnLst/>
              <a:rect l="l" t="t" r="r" b="b"/>
              <a:pathLst>
                <a:path w="228600" h="800100">
                  <a:moveTo>
                    <a:pt x="0" y="0"/>
                  </a:moveTo>
                  <a:lnTo>
                    <a:pt x="0" y="800100"/>
                  </a:lnTo>
                  <a:lnTo>
                    <a:pt x="228600" y="800100"/>
                  </a:lnTo>
                  <a:lnTo>
                    <a:pt x="228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5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420087" y="3475291"/>
              <a:ext cx="228600" cy="800100"/>
            </a:xfrm>
            <a:custGeom>
              <a:avLst/>
              <a:gdLst/>
              <a:ahLst/>
              <a:cxnLst/>
              <a:rect l="l" t="t" r="r" b="b"/>
              <a:pathLst>
                <a:path w="228600" h="800100">
                  <a:moveTo>
                    <a:pt x="0" y="800100"/>
                  </a:moveTo>
                  <a:lnTo>
                    <a:pt x="0" y="0"/>
                  </a:lnTo>
                  <a:lnTo>
                    <a:pt x="228600" y="0"/>
                  </a:lnTo>
                  <a:lnTo>
                    <a:pt x="228600" y="800100"/>
                  </a:lnTo>
                  <a:lnTo>
                    <a:pt x="0" y="800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924787" y="4262691"/>
              <a:ext cx="1219200" cy="304800"/>
            </a:xfrm>
            <a:custGeom>
              <a:avLst/>
              <a:gdLst/>
              <a:ahLst/>
              <a:cxnLst/>
              <a:rect l="l" t="t" r="r" b="b"/>
              <a:pathLst>
                <a:path w="1219200" h="304800">
                  <a:moveTo>
                    <a:pt x="1219200" y="0"/>
                  </a:moveTo>
                  <a:lnTo>
                    <a:pt x="1211215" y="59318"/>
                  </a:lnTo>
                  <a:lnTo>
                    <a:pt x="1189440" y="107761"/>
                  </a:lnTo>
                  <a:lnTo>
                    <a:pt x="1157145" y="140422"/>
                  </a:lnTo>
                  <a:lnTo>
                    <a:pt x="1117600" y="152400"/>
                  </a:lnTo>
                  <a:lnTo>
                    <a:pt x="711200" y="152400"/>
                  </a:lnTo>
                  <a:lnTo>
                    <a:pt x="671654" y="164377"/>
                  </a:lnTo>
                  <a:lnTo>
                    <a:pt x="639359" y="197038"/>
                  </a:lnTo>
                  <a:lnTo>
                    <a:pt x="617584" y="245481"/>
                  </a:lnTo>
                  <a:lnTo>
                    <a:pt x="609600" y="304800"/>
                  </a:lnTo>
                  <a:lnTo>
                    <a:pt x="601615" y="245481"/>
                  </a:lnTo>
                  <a:lnTo>
                    <a:pt x="579840" y="197038"/>
                  </a:lnTo>
                  <a:lnTo>
                    <a:pt x="547545" y="164377"/>
                  </a:lnTo>
                  <a:lnTo>
                    <a:pt x="508000" y="152400"/>
                  </a:lnTo>
                  <a:lnTo>
                    <a:pt x="101600" y="152400"/>
                  </a:lnTo>
                  <a:lnTo>
                    <a:pt x="62054" y="140422"/>
                  </a:lnTo>
                  <a:lnTo>
                    <a:pt x="29759" y="107761"/>
                  </a:lnTo>
                  <a:lnTo>
                    <a:pt x="7984" y="59318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7200887" y="3653091"/>
            <a:ext cx="228600" cy="628650"/>
          </a:xfrm>
          <a:prstGeom prst="rect">
            <a:avLst/>
          </a:prstGeom>
          <a:solidFill>
            <a:srgbClr val="AA7900"/>
          </a:solidFill>
          <a:ln w="19050">
            <a:solidFill>
              <a:srgbClr val="000000"/>
            </a:solidFill>
          </a:ln>
        </p:spPr>
        <p:txBody>
          <a:bodyPr vert="horz" wrap="square" lIns="0" tIns="161925" rIns="0" bIns="0" rtlCol="0">
            <a:spAutoFit/>
          </a:bodyPr>
          <a:lstStyle/>
          <a:p>
            <a:pPr marL="53340">
              <a:lnSpc>
                <a:spcPct val="100000"/>
              </a:lnSpc>
              <a:spcBef>
                <a:spcPts val="1275"/>
              </a:spcBef>
            </a:pPr>
            <a:r>
              <a:rPr sz="2000" b="1" i="1" dirty="0">
                <a:latin typeface="Times New Roman"/>
                <a:cs typeface="Times New Roman"/>
              </a:rPr>
              <a:t>x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011455" y="4532477"/>
            <a:ext cx="1809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latin typeface="Times New Roman"/>
                <a:cs typeface="Times New Roman"/>
              </a:rPr>
              <a:t>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386356" y="4532477"/>
            <a:ext cx="2089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-5" dirty="0">
                <a:latin typeface="Times New Roman"/>
                <a:cs typeface="Times New Roman"/>
              </a:rPr>
              <a:t>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7010387" y="4262691"/>
            <a:ext cx="609600" cy="304800"/>
          </a:xfrm>
          <a:custGeom>
            <a:avLst/>
            <a:gdLst/>
            <a:ahLst/>
            <a:cxnLst/>
            <a:rect l="l" t="t" r="r" b="b"/>
            <a:pathLst>
              <a:path w="609600" h="304800">
                <a:moveTo>
                  <a:pt x="609600" y="0"/>
                </a:moveTo>
                <a:lnTo>
                  <a:pt x="605607" y="59318"/>
                </a:lnTo>
                <a:lnTo>
                  <a:pt x="594720" y="107761"/>
                </a:lnTo>
                <a:lnTo>
                  <a:pt x="558800" y="152400"/>
                </a:lnTo>
                <a:lnTo>
                  <a:pt x="355600" y="152400"/>
                </a:lnTo>
                <a:lnTo>
                  <a:pt x="335827" y="164377"/>
                </a:lnTo>
                <a:lnTo>
                  <a:pt x="319679" y="197038"/>
                </a:lnTo>
                <a:lnTo>
                  <a:pt x="308792" y="245481"/>
                </a:lnTo>
                <a:lnTo>
                  <a:pt x="304800" y="304800"/>
                </a:lnTo>
                <a:lnTo>
                  <a:pt x="300807" y="245481"/>
                </a:lnTo>
                <a:lnTo>
                  <a:pt x="289920" y="197038"/>
                </a:lnTo>
                <a:lnTo>
                  <a:pt x="273772" y="164377"/>
                </a:lnTo>
                <a:lnTo>
                  <a:pt x="254000" y="152400"/>
                </a:lnTo>
                <a:lnTo>
                  <a:pt x="50800" y="152400"/>
                </a:lnTo>
                <a:lnTo>
                  <a:pt x="31027" y="140422"/>
                </a:lnTo>
                <a:lnTo>
                  <a:pt x="14879" y="107761"/>
                </a:lnTo>
                <a:lnTo>
                  <a:pt x="3992" y="59318"/>
                </a:ln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7203084" y="4532477"/>
            <a:ext cx="1949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7889862" y="5151678"/>
            <a:ext cx="247650" cy="990600"/>
            <a:chOff x="7889862" y="5151678"/>
            <a:chExt cx="247650" cy="990600"/>
          </a:xfrm>
        </p:grpSpPr>
        <p:sp>
          <p:nvSpPr>
            <p:cNvPr id="49" name="object 49"/>
            <p:cNvSpPr/>
            <p:nvPr/>
          </p:nvSpPr>
          <p:spPr>
            <a:xfrm>
              <a:off x="7899400" y="5161216"/>
              <a:ext cx="228600" cy="971550"/>
            </a:xfrm>
            <a:custGeom>
              <a:avLst/>
              <a:gdLst/>
              <a:ahLst/>
              <a:cxnLst/>
              <a:rect l="l" t="t" r="r" b="b"/>
              <a:pathLst>
                <a:path w="228600" h="971550">
                  <a:moveTo>
                    <a:pt x="0" y="0"/>
                  </a:moveTo>
                  <a:lnTo>
                    <a:pt x="0" y="971550"/>
                  </a:lnTo>
                  <a:lnTo>
                    <a:pt x="228599" y="971550"/>
                  </a:lnTo>
                  <a:lnTo>
                    <a:pt x="22859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899387" y="5161203"/>
              <a:ext cx="228600" cy="971550"/>
            </a:xfrm>
            <a:custGeom>
              <a:avLst/>
              <a:gdLst/>
              <a:ahLst/>
              <a:cxnLst/>
              <a:rect l="l" t="t" r="r" b="b"/>
              <a:pathLst>
                <a:path w="228600" h="971550">
                  <a:moveTo>
                    <a:pt x="0" y="971550"/>
                  </a:moveTo>
                  <a:lnTo>
                    <a:pt x="0" y="0"/>
                  </a:lnTo>
                  <a:lnTo>
                    <a:pt x="228600" y="0"/>
                  </a:lnTo>
                  <a:lnTo>
                    <a:pt x="228600" y="971550"/>
                  </a:lnTo>
                  <a:lnTo>
                    <a:pt x="0" y="97155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8296262" y="5062778"/>
            <a:ext cx="247650" cy="1079500"/>
            <a:chOff x="8296262" y="5062778"/>
            <a:chExt cx="247650" cy="1079500"/>
          </a:xfrm>
        </p:grpSpPr>
        <p:sp>
          <p:nvSpPr>
            <p:cNvPr id="52" name="object 52"/>
            <p:cNvSpPr/>
            <p:nvPr/>
          </p:nvSpPr>
          <p:spPr>
            <a:xfrm>
              <a:off x="8305800" y="5072316"/>
              <a:ext cx="228600" cy="1060450"/>
            </a:xfrm>
            <a:custGeom>
              <a:avLst/>
              <a:gdLst/>
              <a:ahLst/>
              <a:cxnLst/>
              <a:rect l="l" t="t" r="r" b="b"/>
              <a:pathLst>
                <a:path w="228600" h="1060450">
                  <a:moveTo>
                    <a:pt x="0" y="0"/>
                  </a:moveTo>
                  <a:lnTo>
                    <a:pt x="0" y="1060450"/>
                  </a:lnTo>
                  <a:lnTo>
                    <a:pt x="228599" y="1060450"/>
                  </a:lnTo>
                  <a:lnTo>
                    <a:pt x="22859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305787" y="5072303"/>
              <a:ext cx="228600" cy="1060450"/>
            </a:xfrm>
            <a:custGeom>
              <a:avLst/>
              <a:gdLst/>
              <a:ahLst/>
              <a:cxnLst/>
              <a:rect l="l" t="t" r="r" b="b"/>
              <a:pathLst>
                <a:path w="228600" h="1060450">
                  <a:moveTo>
                    <a:pt x="0" y="1060450"/>
                  </a:moveTo>
                  <a:lnTo>
                    <a:pt x="0" y="0"/>
                  </a:lnTo>
                  <a:lnTo>
                    <a:pt x="228600" y="0"/>
                  </a:lnTo>
                  <a:lnTo>
                    <a:pt x="228600" y="1060450"/>
                  </a:lnTo>
                  <a:lnTo>
                    <a:pt x="0" y="106045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4" name="object 54"/>
          <p:cNvGrpSpPr/>
          <p:nvPr/>
        </p:nvGrpSpPr>
        <p:grpSpPr>
          <a:xfrm>
            <a:off x="6670662" y="5666028"/>
            <a:ext cx="247650" cy="476250"/>
            <a:chOff x="6670662" y="5666028"/>
            <a:chExt cx="247650" cy="476250"/>
          </a:xfrm>
        </p:grpSpPr>
        <p:sp>
          <p:nvSpPr>
            <p:cNvPr id="55" name="object 55"/>
            <p:cNvSpPr/>
            <p:nvPr/>
          </p:nvSpPr>
          <p:spPr>
            <a:xfrm>
              <a:off x="6680200" y="5675566"/>
              <a:ext cx="228600" cy="457200"/>
            </a:xfrm>
            <a:custGeom>
              <a:avLst/>
              <a:gdLst/>
              <a:ahLst/>
              <a:cxnLst/>
              <a:rect l="l" t="t" r="r" b="b"/>
              <a:pathLst>
                <a:path w="228600" h="457200">
                  <a:moveTo>
                    <a:pt x="0" y="0"/>
                  </a:moveTo>
                  <a:lnTo>
                    <a:pt x="0" y="457200"/>
                  </a:lnTo>
                  <a:lnTo>
                    <a:pt x="228600" y="457200"/>
                  </a:lnTo>
                  <a:lnTo>
                    <a:pt x="228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680187" y="5675553"/>
              <a:ext cx="228600" cy="457200"/>
            </a:xfrm>
            <a:custGeom>
              <a:avLst/>
              <a:gdLst/>
              <a:ahLst/>
              <a:cxnLst/>
              <a:rect l="l" t="t" r="r" b="b"/>
              <a:pathLst>
                <a:path w="228600" h="457200">
                  <a:moveTo>
                    <a:pt x="0" y="457200"/>
                  </a:moveTo>
                  <a:lnTo>
                    <a:pt x="0" y="0"/>
                  </a:lnTo>
                  <a:lnTo>
                    <a:pt x="228600" y="0"/>
                  </a:lnTo>
                  <a:lnTo>
                    <a:pt x="228600" y="457200"/>
                  </a:lnTo>
                  <a:lnTo>
                    <a:pt x="0" y="4572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7086587" y="5504103"/>
            <a:ext cx="228600" cy="628650"/>
          </a:xfrm>
          <a:prstGeom prst="rect">
            <a:avLst/>
          </a:prstGeom>
          <a:solidFill>
            <a:srgbClr val="AA7900"/>
          </a:solidFill>
          <a:ln w="19050">
            <a:solidFill>
              <a:srgbClr val="000000"/>
            </a:solidFill>
          </a:ln>
        </p:spPr>
        <p:txBody>
          <a:bodyPr vert="horz" wrap="square" lIns="0" tIns="161925" rIns="0" bIns="0" rtlCol="0">
            <a:spAutoFit/>
          </a:bodyPr>
          <a:lstStyle/>
          <a:p>
            <a:pPr marL="53340">
              <a:lnSpc>
                <a:spcPct val="100000"/>
              </a:lnSpc>
              <a:spcBef>
                <a:spcPts val="1275"/>
              </a:spcBef>
            </a:pPr>
            <a:r>
              <a:rPr sz="2000" b="1" i="1" dirty="0">
                <a:latin typeface="Times New Roman"/>
                <a:cs typeface="Times New Roman"/>
              </a:rPr>
              <a:t>x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5857862" y="5837478"/>
            <a:ext cx="247650" cy="304800"/>
            <a:chOff x="5857862" y="5837478"/>
            <a:chExt cx="247650" cy="304800"/>
          </a:xfrm>
        </p:grpSpPr>
        <p:sp>
          <p:nvSpPr>
            <p:cNvPr id="59" name="object 59"/>
            <p:cNvSpPr/>
            <p:nvPr/>
          </p:nvSpPr>
          <p:spPr>
            <a:xfrm>
              <a:off x="5867399" y="5847016"/>
              <a:ext cx="228600" cy="285750"/>
            </a:xfrm>
            <a:custGeom>
              <a:avLst/>
              <a:gdLst/>
              <a:ahLst/>
              <a:cxnLst/>
              <a:rect l="l" t="t" r="r" b="b"/>
              <a:pathLst>
                <a:path w="228600" h="285750">
                  <a:moveTo>
                    <a:pt x="0" y="0"/>
                  </a:moveTo>
                  <a:lnTo>
                    <a:pt x="0" y="285750"/>
                  </a:lnTo>
                  <a:lnTo>
                    <a:pt x="228600" y="285750"/>
                  </a:lnTo>
                  <a:lnTo>
                    <a:pt x="228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867387" y="5847003"/>
              <a:ext cx="228600" cy="285750"/>
            </a:xfrm>
            <a:custGeom>
              <a:avLst/>
              <a:gdLst/>
              <a:ahLst/>
              <a:cxnLst/>
              <a:rect l="l" t="t" r="r" b="b"/>
              <a:pathLst>
                <a:path w="228600" h="285750">
                  <a:moveTo>
                    <a:pt x="0" y="285750"/>
                  </a:moveTo>
                  <a:lnTo>
                    <a:pt x="0" y="0"/>
                  </a:lnTo>
                  <a:lnTo>
                    <a:pt x="228600" y="0"/>
                  </a:lnTo>
                  <a:lnTo>
                    <a:pt x="228600" y="285750"/>
                  </a:lnTo>
                  <a:lnTo>
                    <a:pt x="0" y="28575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1" name="object 61"/>
          <p:cNvGrpSpPr/>
          <p:nvPr/>
        </p:nvGrpSpPr>
        <p:grpSpPr>
          <a:xfrm>
            <a:off x="7483462" y="5323128"/>
            <a:ext cx="247650" cy="819150"/>
            <a:chOff x="7483462" y="5323128"/>
            <a:chExt cx="247650" cy="819150"/>
          </a:xfrm>
        </p:grpSpPr>
        <p:sp>
          <p:nvSpPr>
            <p:cNvPr id="62" name="object 62"/>
            <p:cNvSpPr/>
            <p:nvPr/>
          </p:nvSpPr>
          <p:spPr>
            <a:xfrm>
              <a:off x="7493000" y="5332666"/>
              <a:ext cx="228600" cy="800100"/>
            </a:xfrm>
            <a:custGeom>
              <a:avLst/>
              <a:gdLst/>
              <a:ahLst/>
              <a:cxnLst/>
              <a:rect l="l" t="t" r="r" b="b"/>
              <a:pathLst>
                <a:path w="228600" h="800100">
                  <a:moveTo>
                    <a:pt x="0" y="0"/>
                  </a:moveTo>
                  <a:lnTo>
                    <a:pt x="0" y="800100"/>
                  </a:lnTo>
                  <a:lnTo>
                    <a:pt x="228599" y="800100"/>
                  </a:lnTo>
                  <a:lnTo>
                    <a:pt x="22859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492987" y="5332653"/>
              <a:ext cx="228600" cy="800100"/>
            </a:xfrm>
            <a:custGeom>
              <a:avLst/>
              <a:gdLst/>
              <a:ahLst/>
              <a:cxnLst/>
              <a:rect l="l" t="t" r="r" b="b"/>
              <a:pathLst>
                <a:path w="228600" h="800100">
                  <a:moveTo>
                    <a:pt x="0" y="800100"/>
                  </a:moveTo>
                  <a:lnTo>
                    <a:pt x="0" y="0"/>
                  </a:lnTo>
                  <a:lnTo>
                    <a:pt x="228600" y="0"/>
                  </a:lnTo>
                  <a:lnTo>
                    <a:pt x="228600" y="800100"/>
                  </a:lnTo>
                  <a:lnTo>
                    <a:pt x="0" y="800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39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38005" y="758520"/>
            <a:ext cx="45866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The Quick-Sort</a:t>
            </a:r>
            <a:r>
              <a:rPr spc="-4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40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3139" y="1473921"/>
            <a:ext cx="3963670" cy="3324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56260" indent="-343535">
              <a:lnSpc>
                <a:spcPct val="1507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Algorithm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941300"/>
                </a:solidFill>
                <a:latin typeface="Arial"/>
                <a:cs typeface="Arial"/>
              </a:rPr>
              <a:t>QuickSort</a:t>
            </a:r>
            <a:r>
              <a:rPr sz="2400" spc="-5" dirty="0">
                <a:latin typeface="Arial"/>
                <a:cs typeface="Arial"/>
              </a:rPr>
              <a:t>(S)  </a:t>
            </a:r>
            <a:r>
              <a:rPr sz="2400" dirty="0">
                <a:latin typeface="Arial"/>
                <a:cs typeface="Arial"/>
              </a:rPr>
              <a:t>if </a:t>
            </a:r>
            <a:r>
              <a:rPr sz="2400" spc="-5" dirty="0">
                <a:latin typeface="Arial"/>
                <a:cs typeface="Arial"/>
              </a:rPr>
              <a:t>S.size() &gt; 1</a:t>
            </a:r>
            <a:endParaRPr sz="2400">
              <a:latin typeface="Arial"/>
              <a:cs typeface="Arial"/>
            </a:endParaRPr>
          </a:p>
          <a:p>
            <a:pPr marL="927100" marR="5080">
              <a:lnSpc>
                <a:spcPct val="149300"/>
              </a:lnSpc>
            </a:pPr>
            <a:r>
              <a:rPr sz="2400" dirty="0">
                <a:latin typeface="Arial"/>
                <a:cs typeface="Arial"/>
              </a:rPr>
              <a:t>(L, E, G) =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Partition(S)  QuickSort(L)  QuickSort(G)</a:t>
            </a:r>
            <a:endParaRPr sz="24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1520"/>
              </a:spcBef>
            </a:pPr>
            <a:r>
              <a:rPr sz="2400" dirty="0">
                <a:latin typeface="Arial"/>
                <a:cs typeface="Arial"/>
              </a:rPr>
              <a:t>S = (L, E,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G)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73613" y="758520"/>
            <a:ext cx="151574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Partition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41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xfrm>
            <a:off x="767717" y="1295400"/>
            <a:ext cx="4060825" cy="5331459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55600" marR="716280" indent="-342900">
              <a:lnSpc>
                <a:spcPct val="100699"/>
              </a:lnSpc>
              <a:spcBef>
                <a:spcPts val="8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pc="-5" dirty="0"/>
              <a:t>Remove, in turn, </a:t>
            </a:r>
            <a:r>
              <a:rPr spc="-10" dirty="0"/>
              <a:t>each  </a:t>
            </a:r>
            <a:r>
              <a:rPr spc="-5" dirty="0"/>
              <a:t>element </a:t>
            </a:r>
            <a:r>
              <a:rPr b="1" i="1" dirty="0">
                <a:latin typeface="Times New Roman"/>
                <a:cs typeface="Times New Roman"/>
              </a:rPr>
              <a:t>y </a:t>
            </a:r>
            <a:r>
              <a:rPr dirty="0"/>
              <a:t>from </a:t>
            </a:r>
            <a:r>
              <a:rPr b="1" i="1" spc="-5" dirty="0">
                <a:latin typeface="Times New Roman"/>
                <a:cs typeface="Times New Roman"/>
              </a:rPr>
              <a:t>S</a:t>
            </a:r>
            <a:r>
              <a:rPr b="1" i="1" spc="75" dirty="0">
                <a:latin typeface="Times New Roman"/>
                <a:cs typeface="Times New Roman"/>
              </a:rPr>
              <a:t> </a:t>
            </a:r>
            <a:r>
              <a:rPr spc="-10" dirty="0"/>
              <a:t>and</a:t>
            </a:r>
          </a:p>
          <a:p>
            <a:pPr marL="354965" marR="88900" indent="-342900">
              <a:lnSpc>
                <a:spcPct val="99500"/>
              </a:lnSpc>
              <a:spcBef>
                <a:spcPts val="1475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dirty="0"/>
              <a:t>Insert </a:t>
            </a:r>
            <a:r>
              <a:rPr b="1" i="1" dirty="0">
                <a:latin typeface="Times New Roman"/>
                <a:cs typeface="Times New Roman"/>
              </a:rPr>
              <a:t>y </a:t>
            </a:r>
            <a:r>
              <a:rPr spc="-5" dirty="0"/>
              <a:t>into sequence </a:t>
            </a:r>
            <a:r>
              <a:rPr b="1" i="1" spc="-5" dirty="0">
                <a:latin typeface="Times New Roman"/>
                <a:cs typeface="Times New Roman"/>
              </a:rPr>
              <a:t>L</a:t>
            </a:r>
            <a:r>
              <a:rPr spc="-5" dirty="0"/>
              <a:t>, </a:t>
            </a:r>
            <a:r>
              <a:rPr b="1" i="1" dirty="0">
                <a:latin typeface="Times New Roman"/>
                <a:cs typeface="Times New Roman"/>
              </a:rPr>
              <a:t>E  </a:t>
            </a:r>
            <a:r>
              <a:rPr spc="-5" dirty="0"/>
              <a:t>or </a:t>
            </a:r>
            <a:r>
              <a:rPr b="1" i="1" dirty="0">
                <a:latin typeface="Times New Roman"/>
                <a:cs typeface="Times New Roman"/>
              </a:rPr>
              <a:t>G</a:t>
            </a:r>
            <a:r>
              <a:rPr dirty="0"/>
              <a:t>, </a:t>
            </a:r>
            <a:r>
              <a:rPr spc="-5" dirty="0"/>
              <a:t>depending on the  result of the </a:t>
            </a:r>
            <a:r>
              <a:rPr spc="-10" dirty="0"/>
              <a:t>comparison  </a:t>
            </a:r>
            <a:r>
              <a:rPr spc="-5" dirty="0"/>
              <a:t>with the pivot </a:t>
            </a:r>
            <a:r>
              <a:rPr b="1" i="1" dirty="0">
                <a:latin typeface="Times New Roman"/>
                <a:cs typeface="Times New Roman"/>
              </a:rPr>
              <a:t>x </a:t>
            </a:r>
            <a:r>
              <a:rPr dirty="0">
                <a:latin typeface="Times New Roman"/>
                <a:cs typeface="Times New Roman"/>
              </a:rPr>
              <a:t>(e.g., </a:t>
            </a:r>
            <a:r>
              <a:rPr spc="-5" dirty="0">
                <a:latin typeface="Times New Roman"/>
                <a:cs typeface="Times New Roman"/>
              </a:rPr>
              <a:t>last  </a:t>
            </a:r>
            <a:r>
              <a:rPr dirty="0">
                <a:latin typeface="Times New Roman"/>
                <a:cs typeface="Times New Roman"/>
              </a:rPr>
              <a:t>element in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b="1" i="1" spc="-5" dirty="0">
                <a:latin typeface="Times New Roman"/>
                <a:cs typeface="Times New Roman"/>
              </a:rPr>
              <a:t>S</a:t>
            </a:r>
            <a:r>
              <a:rPr spc="-5" dirty="0">
                <a:latin typeface="Times New Roman"/>
                <a:cs typeface="Times New Roman"/>
              </a:rPr>
              <a:t>)</a:t>
            </a:r>
          </a:p>
          <a:p>
            <a:pPr marL="355600" marR="5080" indent="-342900">
              <a:lnSpc>
                <a:spcPct val="100200"/>
              </a:lnSpc>
              <a:spcBef>
                <a:spcPts val="145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pc="-5" dirty="0"/>
              <a:t>Each insertion and </a:t>
            </a:r>
            <a:r>
              <a:rPr spc="-10" dirty="0"/>
              <a:t>removal  </a:t>
            </a:r>
            <a:r>
              <a:rPr spc="-5" dirty="0"/>
              <a:t>is at the beginning or at the  end of a sequence, </a:t>
            </a:r>
            <a:r>
              <a:rPr spc="-10" dirty="0"/>
              <a:t>and  </a:t>
            </a:r>
            <a:r>
              <a:rPr spc="-5" dirty="0"/>
              <a:t>hence takes </a:t>
            </a:r>
            <a:r>
              <a:rPr b="1" i="1" spc="-5" dirty="0">
                <a:latin typeface="Times New Roman"/>
                <a:cs typeface="Times New Roman"/>
              </a:rPr>
              <a:t>O</a:t>
            </a:r>
            <a:r>
              <a:rPr spc="-5" dirty="0">
                <a:latin typeface="Times New Roman"/>
                <a:cs typeface="Times New Roman"/>
              </a:rPr>
              <a:t>(1)</a:t>
            </a:r>
            <a:r>
              <a:rPr spc="55" dirty="0">
                <a:latin typeface="Times New Roman"/>
                <a:cs typeface="Times New Roman"/>
              </a:rPr>
              <a:t> </a:t>
            </a:r>
            <a:r>
              <a:rPr dirty="0"/>
              <a:t>time</a:t>
            </a:r>
          </a:p>
          <a:p>
            <a:pPr marL="355600" indent="-342900">
              <a:lnSpc>
                <a:spcPts val="2870"/>
              </a:lnSpc>
              <a:spcBef>
                <a:spcPts val="146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pc="-5" dirty="0"/>
              <a:t>Thus, partitioning</a:t>
            </a:r>
            <a:r>
              <a:rPr spc="-20" dirty="0"/>
              <a:t> </a:t>
            </a:r>
            <a:r>
              <a:rPr spc="-5" dirty="0"/>
              <a:t>takes</a:t>
            </a:r>
          </a:p>
          <a:p>
            <a:pPr marL="355600">
              <a:lnSpc>
                <a:spcPts val="2870"/>
              </a:lnSpc>
            </a:pPr>
            <a:r>
              <a:rPr b="1" i="1" spc="-5" dirty="0">
                <a:latin typeface="Times New Roman"/>
                <a:cs typeface="Times New Roman"/>
              </a:rPr>
              <a:t>O</a:t>
            </a:r>
            <a:r>
              <a:rPr spc="-5" dirty="0">
                <a:latin typeface="Times New Roman"/>
                <a:cs typeface="Times New Roman"/>
              </a:rPr>
              <a:t>(</a:t>
            </a:r>
            <a:r>
              <a:rPr b="1" i="1" spc="-5" dirty="0">
                <a:latin typeface="Times New Roman"/>
                <a:cs typeface="Times New Roman"/>
              </a:rPr>
              <a:t>n</a:t>
            </a:r>
            <a:r>
              <a:rPr spc="-5" dirty="0">
                <a:latin typeface="Times New Roman"/>
                <a:cs typeface="Times New Roman"/>
              </a:rPr>
              <a:t>)</a:t>
            </a:r>
            <a:r>
              <a:rPr spc="60" dirty="0">
                <a:latin typeface="Times New Roman"/>
                <a:cs typeface="Times New Roman"/>
              </a:rPr>
              <a:t> </a:t>
            </a:r>
            <a:r>
              <a:rPr dirty="0"/>
              <a:t>time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56872" y="1389062"/>
            <a:ext cx="4114800" cy="4786630"/>
          </a:xfrm>
          <a:prstGeom prst="rect">
            <a:avLst/>
          </a:prstGeom>
          <a:solidFill>
            <a:srgbClr val="FCF2DA"/>
          </a:solidFill>
          <a:ln w="9525">
            <a:solidFill>
              <a:srgbClr val="000000"/>
            </a:solidFill>
          </a:ln>
        </p:spPr>
        <p:txBody>
          <a:bodyPr vert="horz" wrap="square" lIns="0" tIns="22860" rIns="0" bIns="0" rtlCol="0">
            <a:spAutoFit/>
          </a:bodyPr>
          <a:lstStyle/>
          <a:p>
            <a:pPr marL="90805" algn="just">
              <a:lnSpc>
                <a:spcPct val="100000"/>
              </a:lnSpc>
              <a:spcBef>
                <a:spcPts val="180"/>
              </a:spcBef>
            </a:pPr>
            <a:r>
              <a:rPr sz="1800" b="1" spc="-5" dirty="0">
                <a:latin typeface="Times New Roman"/>
                <a:cs typeface="Times New Roman"/>
              </a:rPr>
              <a:t>Algorithm </a:t>
            </a:r>
            <a:r>
              <a:rPr sz="1800" b="1" i="1" spc="-5" dirty="0">
                <a:solidFill>
                  <a:srgbClr val="941300"/>
                </a:solidFill>
                <a:latin typeface="Times New Roman"/>
                <a:cs typeface="Times New Roman"/>
              </a:rPr>
              <a:t>Partition</a:t>
            </a:r>
            <a:r>
              <a:rPr sz="1800" spc="-5" dirty="0">
                <a:solidFill>
                  <a:srgbClr val="941300"/>
                </a:solidFill>
                <a:latin typeface="Times New Roman"/>
                <a:cs typeface="Times New Roman"/>
              </a:rPr>
              <a:t>(</a:t>
            </a:r>
            <a:r>
              <a:rPr sz="1800" b="1" i="1" spc="-5" dirty="0">
                <a:solidFill>
                  <a:srgbClr val="941300"/>
                </a:solidFill>
                <a:latin typeface="Times New Roman"/>
                <a:cs typeface="Times New Roman"/>
              </a:rPr>
              <a:t>S</a:t>
            </a:r>
            <a:r>
              <a:rPr sz="1800" spc="-5" dirty="0">
                <a:solidFill>
                  <a:srgbClr val="941300"/>
                </a:solidFill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  <a:p>
            <a:pPr marL="433705" algn="just">
              <a:lnSpc>
                <a:spcPct val="100000"/>
              </a:lnSpc>
              <a:spcBef>
                <a:spcPts val="170"/>
              </a:spcBef>
            </a:pPr>
            <a:r>
              <a:rPr sz="1800" b="1" spc="-5" dirty="0">
                <a:latin typeface="Times New Roman"/>
                <a:cs typeface="Times New Roman"/>
              </a:rPr>
              <a:t>Input </a:t>
            </a:r>
            <a:r>
              <a:rPr sz="1800" dirty="0">
                <a:solidFill>
                  <a:srgbClr val="2F5C00"/>
                </a:solidFill>
                <a:latin typeface="Times New Roman"/>
                <a:cs typeface="Times New Roman"/>
              </a:rPr>
              <a:t>sequence</a:t>
            </a:r>
            <a:r>
              <a:rPr sz="1800" spc="-5" dirty="0">
                <a:solidFill>
                  <a:srgbClr val="2F5C00"/>
                </a:solidFill>
                <a:latin typeface="Times New Roman"/>
                <a:cs typeface="Times New Roman"/>
              </a:rPr>
              <a:t> </a:t>
            </a:r>
            <a:r>
              <a:rPr sz="1800" b="1" i="1" spc="-5" dirty="0">
                <a:solidFill>
                  <a:srgbClr val="2F5C00"/>
                </a:solidFill>
                <a:latin typeface="Times New Roman"/>
                <a:cs typeface="Times New Roman"/>
              </a:rPr>
              <a:t>S</a:t>
            </a:r>
            <a:endParaRPr sz="1800">
              <a:latin typeface="Times New Roman"/>
              <a:cs typeface="Times New Roman"/>
            </a:endParaRPr>
          </a:p>
          <a:p>
            <a:pPr marL="777240" marR="332105" indent="-342900" algn="just">
              <a:lnSpc>
                <a:spcPct val="89500"/>
              </a:lnSpc>
              <a:spcBef>
                <a:spcPts val="465"/>
              </a:spcBef>
            </a:pPr>
            <a:r>
              <a:rPr sz="1800" b="1" spc="-5" dirty="0">
                <a:latin typeface="Times New Roman"/>
                <a:cs typeface="Times New Roman"/>
              </a:rPr>
              <a:t>Output </a:t>
            </a:r>
            <a:r>
              <a:rPr sz="1800" dirty="0">
                <a:solidFill>
                  <a:srgbClr val="2F5C00"/>
                </a:solidFill>
                <a:latin typeface="Times New Roman"/>
                <a:cs typeface="Times New Roman"/>
              </a:rPr>
              <a:t>subsequences </a:t>
            </a:r>
            <a:r>
              <a:rPr sz="1800" b="1" i="1" dirty="0">
                <a:solidFill>
                  <a:srgbClr val="2F5C00"/>
                </a:solidFill>
                <a:latin typeface="Times New Roman"/>
                <a:cs typeface="Times New Roman"/>
              </a:rPr>
              <a:t>L, E, </a:t>
            </a:r>
            <a:r>
              <a:rPr sz="1800" b="1" i="1" spc="-5" dirty="0">
                <a:solidFill>
                  <a:srgbClr val="2F5C00"/>
                </a:solidFill>
                <a:latin typeface="Times New Roman"/>
                <a:cs typeface="Times New Roman"/>
              </a:rPr>
              <a:t>G </a:t>
            </a:r>
            <a:r>
              <a:rPr sz="1800" dirty="0">
                <a:solidFill>
                  <a:srgbClr val="2F5C00"/>
                </a:solidFill>
                <a:latin typeface="Times New Roman"/>
                <a:cs typeface="Times New Roman"/>
              </a:rPr>
              <a:t>of</a:t>
            </a:r>
            <a:r>
              <a:rPr sz="1800" spc="-65" dirty="0">
                <a:solidFill>
                  <a:srgbClr val="2F5C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5C00"/>
                </a:solidFill>
                <a:latin typeface="Times New Roman"/>
                <a:cs typeface="Times New Roman"/>
              </a:rPr>
              <a:t>the  elements of </a:t>
            </a:r>
            <a:r>
              <a:rPr sz="1800" b="1" i="1" spc="-5" dirty="0">
                <a:solidFill>
                  <a:srgbClr val="2F5C00"/>
                </a:solidFill>
                <a:latin typeface="Times New Roman"/>
                <a:cs typeface="Times New Roman"/>
              </a:rPr>
              <a:t>S </a:t>
            </a:r>
            <a:r>
              <a:rPr sz="1800" spc="-5" dirty="0">
                <a:solidFill>
                  <a:srgbClr val="2F5C00"/>
                </a:solidFill>
                <a:latin typeface="Times New Roman"/>
                <a:cs typeface="Times New Roman"/>
              </a:rPr>
              <a:t>less </a:t>
            </a:r>
            <a:r>
              <a:rPr sz="1800" dirty="0">
                <a:solidFill>
                  <a:srgbClr val="2F5C00"/>
                </a:solidFill>
                <a:latin typeface="Times New Roman"/>
                <a:cs typeface="Times New Roman"/>
              </a:rPr>
              <a:t>than, equal</a:t>
            </a:r>
            <a:r>
              <a:rPr sz="1800" spc="-75" dirty="0">
                <a:solidFill>
                  <a:srgbClr val="2F5C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5C00"/>
                </a:solidFill>
                <a:latin typeface="Times New Roman"/>
                <a:cs typeface="Times New Roman"/>
              </a:rPr>
              <a:t>to,  or greater than the pivot,</a:t>
            </a:r>
            <a:r>
              <a:rPr sz="1800" spc="-55" dirty="0">
                <a:solidFill>
                  <a:srgbClr val="2F5C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5C00"/>
                </a:solidFill>
                <a:latin typeface="Times New Roman"/>
                <a:cs typeface="Times New Roman"/>
              </a:rPr>
              <a:t>resp.</a:t>
            </a:r>
            <a:endParaRPr sz="1800">
              <a:latin typeface="Times New Roman"/>
              <a:cs typeface="Times New Roman"/>
            </a:endParaRPr>
          </a:p>
          <a:p>
            <a:pPr marL="434340" marR="1072515">
              <a:lnSpc>
                <a:spcPct val="101899"/>
              </a:lnSpc>
              <a:spcBef>
                <a:spcPts val="234"/>
              </a:spcBef>
            </a:pPr>
            <a:r>
              <a:rPr sz="1800" b="1" i="1" dirty="0">
                <a:solidFill>
                  <a:srgbClr val="2F5C00"/>
                </a:solidFill>
                <a:latin typeface="Times New Roman"/>
                <a:cs typeface="Times New Roman"/>
              </a:rPr>
              <a:t>L, </a:t>
            </a:r>
            <a:r>
              <a:rPr sz="1800" b="1" i="1" spc="-5" dirty="0">
                <a:solidFill>
                  <a:srgbClr val="2F5C00"/>
                </a:solidFill>
                <a:latin typeface="Times New Roman"/>
                <a:cs typeface="Times New Roman"/>
              </a:rPr>
              <a:t>E, G </a:t>
            </a:r>
            <a:r>
              <a:rPr sz="1800" spc="3460" dirty="0">
                <a:latin typeface="Wingdings"/>
                <a:cs typeface="Wingdings"/>
              </a:rPr>
              <a:t>€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5C00"/>
                </a:solidFill>
                <a:latin typeface="Times New Roman"/>
                <a:cs typeface="Times New Roman"/>
              </a:rPr>
              <a:t>empty </a:t>
            </a:r>
            <a:r>
              <a:rPr sz="1800" spc="-375" dirty="0">
                <a:solidFill>
                  <a:srgbClr val="2F5C00"/>
                </a:solidFill>
                <a:latin typeface="Times New Roman"/>
                <a:cs typeface="Times New Roman"/>
              </a:rPr>
              <a:t>sequences  </a:t>
            </a:r>
            <a:r>
              <a:rPr sz="1800" b="1" i="1" dirty="0">
                <a:solidFill>
                  <a:srgbClr val="2F5C00"/>
                </a:solidFill>
                <a:latin typeface="Times New Roman"/>
                <a:cs typeface="Times New Roman"/>
              </a:rPr>
              <a:t>x </a:t>
            </a:r>
            <a:r>
              <a:rPr sz="1800" spc="3460" dirty="0">
                <a:latin typeface="Wingdings"/>
                <a:cs typeface="Wingdings"/>
              </a:rPr>
              <a:t>€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b="1" i="1" spc="-50" dirty="0">
                <a:solidFill>
                  <a:srgbClr val="2F5C00"/>
                </a:solidFill>
                <a:latin typeface="Times New Roman"/>
                <a:cs typeface="Times New Roman"/>
              </a:rPr>
              <a:t>S.getLast</a:t>
            </a:r>
            <a:r>
              <a:rPr sz="1800" spc="-50" dirty="0">
                <a:solidFill>
                  <a:srgbClr val="2F5C00"/>
                </a:solidFill>
                <a:latin typeface="Times New Roman"/>
                <a:cs typeface="Times New Roman"/>
              </a:rPr>
              <a:t>()</a:t>
            </a:r>
            <a:r>
              <a:rPr sz="1800" b="1" i="1" spc="-50" dirty="0">
                <a:solidFill>
                  <a:srgbClr val="2F5C00"/>
                </a:solidFill>
                <a:latin typeface="Times New Roman"/>
                <a:cs typeface="Times New Roman"/>
              </a:rPr>
              <a:t>.element  </a:t>
            </a:r>
            <a:r>
              <a:rPr sz="1800" b="1" spc="-5" dirty="0">
                <a:latin typeface="Times New Roman"/>
                <a:cs typeface="Times New Roman"/>
              </a:rPr>
              <a:t>while</a:t>
            </a:r>
            <a:r>
              <a:rPr sz="1800" b="1" spc="105" dirty="0">
                <a:latin typeface="Times New Roman"/>
                <a:cs typeface="Times New Roman"/>
              </a:rPr>
              <a:t> </a:t>
            </a:r>
            <a:r>
              <a:rPr sz="3150" spc="22" baseline="3968" dirty="0">
                <a:solidFill>
                  <a:srgbClr val="407700"/>
                </a:solidFill>
                <a:latin typeface="Symbol"/>
                <a:cs typeface="Symbol"/>
              </a:rPr>
              <a:t></a:t>
            </a:r>
            <a:r>
              <a:rPr sz="1800" b="1" i="1" spc="15" dirty="0">
                <a:solidFill>
                  <a:srgbClr val="2F5C00"/>
                </a:solidFill>
                <a:latin typeface="Times New Roman"/>
                <a:cs typeface="Times New Roman"/>
              </a:rPr>
              <a:t>S.isEmpty</a:t>
            </a:r>
            <a:r>
              <a:rPr sz="1800" spc="15" dirty="0">
                <a:solidFill>
                  <a:srgbClr val="2F5C00"/>
                </a:solidFill>
                <a:latin typeface="Times New Roman"/>
                <a:cs typeface="Times New Roman"/>
              </a:rPr>
              <a:t>()</a:t>
            </a:r>
            <a:endParaRPr sz="1800">
              <a:latin typeface="Times New Roman"/>
              <a:cs typeface="Times New Roman"/>
            </a:endParaRPr>
          </a:p>
          <a:p>
            <a:pPr marL="776605">
              <a:lnSpc>
                <a:spcPct val="100000"/>
              </a:lnSpc>
              <a:spcBef>
                <a:spcPts val="180"/>
              </a:spcBef>
            </a:pPr>
            <a:r>
              <a:rPr sz="1800" b="1" i="1" dirty="0">
                <a:solidFill>
                  <a:srgbClr val="2F5C00"/>
                </a:solidFill>
                <a:latin typeface="Times New Roman"/>
                <a:cs typeface="Times New Roman"/>
              </a:rPr>
              <a:t>y </a:t>
            </a:r>
            <a:r>
              <a:rPr sz="1800" spc="3460" dirty="0">
                <a:latin typeface="Wingdings"/>
                <a:cs typeface="Wingdings"/>
              </a:rPr>
              <a:t>€</a:t>
            </a:r>
            <a:r>
              <a:rPr sz="1800" spc="440" dirty="0">
                <a:latin typeface="Times New Roman"/>
                <a:cs typeface="Times New Roman"/>
              </a:rPr>
              <a:t> </a:t>
            </a:r>
            <a:r>
              <a:rPr sz="1800" b="1" i="1" spc="-5" dirty="0">
                <a:solidFill>
                  <a:srgbClr val="2F5C00"/>
                </a:solidFill>
                <a:latin typeface="Times New Roman"/>
                <a:cs typeface="Times New Roman"/>
              </a:rPr>
              <a:t>S.removeFirst</a:t>
            </a:r>
            <a:r>
              <a:rPr sz="1800" spc="-5" dirty="0">
                <a:solidFill>
                  <a:srgbClr val="2F5C00"/>
                </a:solidFill>
                <a:latin typeface="Times New Roman"/>
                <a:cs typeface="Times New Roman"/>
              </a:rPr>
              <a:t>(</a:t>
            </a:r>
            <a:r>
              <a:rPr sz="1800" b="1" i="1" spc="-5" dirty="0">
                <a:solidFill>
                  <a:srgbClr val="2F5C00"/>
                </a:solidFill>
                <a:latin typeface="Times New Roman"/>
                <a:cs typeface="Times New Roman"/>
              </a:rPr>
              <a:t>S</a:t>
            </a:r>
            <a:r>
              <a:rPr sz="1800" spc="-5" dirty="0">
                <a:solidFill>
                  <a:srgbClr val="2F5C00"/>
                </a:solidFill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  <a:p>
            <a:pPr marL="776605">
              <a:lnSpc>
                <a:spcPct val="100000"/>
              </a:lnSpc>
              <a:spcBef>
                <a:spcPts val="240"/>
              </a:spcBef>
            </a:pPr>
            <a:r>
              <a:rPr sz="1800" b="1" dirty="0">
                <a:latin typeface="Times New Roman"/>
                <a:cs typeface="Times New Roman"/>
              </a:rPr>
              <a:t>if </a:t>
            </a:r>
            <a:r>
              <a:rPr sz="1800" b="1" i="1" dirty="0">
                <a:solidFill>
                  <a:srgbClr val="2F5C00"/>
                </a:solidFill>
                <a:latin typeface="Times New Roman"/>
                <a:cs typeface="Times New Roman"/>
              </a:rPr>
              <a:t>y </a:t>
            </a:r>
            <a:r>
              <a:rPr sz="1800" dirty="0">
                <a:latin typeface="Times New Roman"/>
                <a:cs typeface="Times New Roman"/>
              </a:rPr>
              <a:t>&lt;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b="1" i="1" dirty="0">
                <a:solidFill>
                  <a:srgbClr val="2F5C00"/>
                </a:solidFill>
                <a:latin typeface="Times New Roman"/>
                <a:cs typeface="Times New Roman"/>
              </a:rPr>
              <a:t>x</a:t>
            </a:r>
            <a:endParaRPr sz="1800">
              <a:latin typeface="Times New Roman"/>
              <a:cs typeface="Times New Roman"/>
            </a:endParaRPr>
          </a:p>
          <a:p>
            <a:pPr marL="1119505">
              <a:lnSpc>
                <a:spcPct val="100000"/>
              </a:lnSpc>
              <a:spcBef>
                <a:spcPts val="240"/>
              </a:spcBef>
            </a:pPr>
            <a:r>
              <a:rPr sz="1800" b="1" i="1" spc="-5" dirty="0">
                <a:solidFill>
                  <a:srgbClr val="2F5C00"/>
                </a:solidFill>
                <a:latin typeface="Times New Roman"/>
                <a:cs typeface="Times New Roman"/>
              </a:rPr>
              <a:t>L.addLast</a:t>
            </a:r>
            <a:r>
              <a:rPr sz="1800" spc="-5" dirty="0">
                <a:solidFill>
                  <a:srgbClr val="2F5C00"/>
                </a:solidFill>
                <a:latin typeface="Times New Roman"/>
                <a:cs typeface="Times New Roman"/>
              </a:rPr>
              <a:t>(</a:t>
            </a:r>
            <a:r>
              <a:rPr sz="1800" b="1" i="1" spc="-5" dirty="0">
                <a:solidFill>
                  <a:srgbClr val="2F5C00"/>
                </a:solidFill>
                <a:latin typeface="Times New Roman"/>
                <a:cs typeface="Times New Roman"/>
              </a:rPr>
              <a:t>y</a:t>
            </a:r>
            <a:r>
              <a:rPr sz="1800" spc="-5" dirty="0">
                <a:solidFill>
                  <a:srgbClr val="2F5C00"/>
                </a:solidFill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  <a:p>
            <a:pPr marL="776605">
              <a:lnSpc>
                <a:spcPct val="100000"/>
              </a:lnSpc>
              <a:spcBef>
                <a:spcPts val="140"/>
              </a:spcBef>
            </a:pPr>
            <a:r>
              <a:rPr sz="1800" b="1" spc="-5" dirty="0">
                <a:latin typeface="Times New Roman"/>
                <a:cs typeface="Times New Roman"/>
              </a:rPr>
              <a:t>else </a:t>
            </a:r>
            <a:r>
              <a:rPr sz="1800" b="1" dirty="0">
                <a:latin typeface="Times New Roman"/>
                <a:cs typeface="Times New Roman"/>
              </a:rPr>
              <a:t>if </a:t>
            </a:r>
            <a:r>
              <a:rPr sz="1800" b="1" i="1" dirty="0">
                <a:solidFill>
                  <a:srgbClr val="2F5C00"/>
                </a:solidFill>
                <a:latin typeface="Times New Roman"/>
                <a:cs typeface="Times New Roman"/>
              </a:rPr>
              <a:t>y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b="1" i="1" dirty="0">
                <a:solidFill>
                  <a:srgbClr val="2F5C00"/>
                </a:solidFill>
                <a:latin typeface="Times New Roman"/>
                <a:cs typeface="Times New Roman"/>
              </a:rPr>
              <a:t>x</a:t>
            </a:r>
            <a:endParaRPr sz="1800">
              <a:latin typeface="Times New Roman"/>
              <a:cs typeface="Times New Roman"/>
            </a:endParaRPr>
          </a:p>
          <a:p>
            <a:pPr marL="1176655">
              <a:lnSpc>
                <a:spcPct val="100000"/>
              </a:lnSpc>
              <a:spcBef>
                <a:spcPts val="240"/>
              </a:spcBef>
            </a:pPr>
            <a:r>
              <a:rPr sz="1800" b="1" i="1" spc="-5" dirty="0">
                <a:solidFill>
                  <a:srgbClr val="2F5C00"/>
                </a:solidFill>
                <a:latin typeface="Times New Roman"/>
                <a:cs typeface="Times New Roman"/>
              </a:rPr>
              <a:t>E.addLast</a:t>
            </a:r>
            <a:r>
              <a:rPr sz="1800" spc="-5" dirty="0">
                <a:solidFill>
                  <a:srgbClr val="2F5C00"/>
                </a:solidFill>
                <a:latin typeface="Times New Roman"/>
                <a:cs typeface="Times New Roman"/>
              </a:rPr>
              <a:t>(</a:t>
            </a:r>
            <a:r>
              <a:rPr sz="1800" b="1" i="1" spc="-5" dirty="0">
                <a:solidFill>
                  <a:srgbClr val="2F5C00"/>
                </a:solidFill>
                <a:latin typeface="Times New Roman"/>
                <a:cs typeface="Times New Roman"/>
              </a:rPr>
              <a:t>y</a:t>
            </a:r>
            <a:r>
              <a:rPr sz="1800" spc="-5" dirty="0">
                <a:solidFill>
                  <a:srgbClr val="2F5C00"/>
                </a:solidFill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  <a:p>
            <a:pPr marL="776605">
              <a:lnSpc>
                <a:spcPct val="100000"/>
              </a:lnSpc>
              <a:spcBef>
                <a:spcPts val="240"/>
              </a:spcBef>
            </a:pPr>
            <a:r>
              <a:rPr sz="1800" b="1" spc="-5" dirty="0">
                <a:latin typeface="Times New Roman"/>
                <a:cs typeface="Times New Roman"/>
              </a:rPr>
              <a:t>else </a:t>
            </a:r>
            <a:r>
              <a:rPr sz="1800" dirty="0">
                <a:latin typeface="Times New Roman"/>
                <a:cs typeface="Times New Roman"/>
              </a:rPr>
              <a:t>{ </a:t>
            </a:r>
            <a:r>
              <a:rPr sz="1800" b="1" i="1" dirty="0">
                <a:latin typeface="Times New Roman"/>
                <a:cs typeface="Times New Roman"/>
              </a:rPr>
              <a:t>y </a:t>
            </a:r>
            <a:r>
              <a:rPr sz="1800" dirty="0">
                <a:latin typeface="Times New Roman"/>
                <a:cs typeface="Times New Roman"/>
              </a:rPr>
              <a:t>&gt; </a:t>
            </a:r>
            <a:r>
              <a:rPr sz="1800" b="1" i="1" dirty="0">
                <a:latin typeface="Times New Roman"/>
                <a:cs typeface="Times New Roman"/>
              </a:rPr>
              <a:t>x</a:t>
            </a:r>
            <a:r>
              <a:rPr sz="1800" b="1" i="1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  <a:p>
            <a:pPr marL="1119505">
              <a:lnSpc>
                <a:spcPct val="100000"/>
              </a:lnSpc>
              <a:spcBef>
                <a:spcPts val="240"/>
              </a:spcBef>
            </a:pPr>
            <a:r>
              <a:rPr sz="1800" b="1" i="1" spc="-5" dirty="0">
                <a:solidFill>
                  <a:srgbClr val="2F5C00"/>
                </a:solidFill>
                <a:latin typeface="Times New Roman"/>
                <a:cs typeface="Times New Roman"/>
              </a:rPr>
              <a:t>G.addLast</a:t>
            </a:r>
            <a:r>
              <a:rPr sz="1800" spc="-5" dirty="0">
                <a:solidFill>
                  <a:srgbClr val="2F5C00"/>
                </a:solidFill>
                <a:latin typeface="Times New Roman"/>
                <a:cs typeface="Times New Roman"/>
              </a:rPr>
              <a:t>(</a:t>
            </a:r>
            <a:r>
              <a:rPr sz="1800" b="1" i="1" spc="-5" dirty="0">
                <a:solidFill>
                  <a:srgbClr val="2F5C00"/>
                </a:solidFill>
                <a:latin typeface="Times New Roman"/>
                <a:cs typeface="Times New Roman"/>
              </a:rPr>
              <a:t>y</a:t>
            </a:r>
            <a:r>
              <a:rPr sz="1800" spc="-5" dirty="0">
                <a:solidFill>
                  <a:srgbClr val="2F5C00"/>
                </a:solidFill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  <a:p>
            <a:pPr marL="433705">
              <a:lnSpc>
                <a:spcPct val="100000"/>
              </a:lnSpc>
              <a:spcBef>
                <a:spcPts val="140"/>
              </a:spcBef>
            </a:pPr>
            <a:r>
              <a:rPr sz="1800" b="1" spc="-10" dirty="0">
                <a:latin typeface="Times New Roman"/>
                <a:cs typeface="Times New Roman"/>
              </a:rPr>
              <a:t>return </a:t>
            </a:r>
            <a:r>
              <a:rPr sz="1800" b="1" i="1" dirty="0">
                <a:solidFill>
                  <a:srgbClr val="2F5C00"/>
                </a:solidFill>
                <a:latin typeface="Times New Roman"/>
                <a:cs typeface="Times New Roman"/>
              </a:rPr>
              <a:t>L, </a:t>
            </a:r>
            <a:r>
              <a:rPr sz="1800" b="1" i="1" spc="-5" dirty="0">
                <a:solidFill>
                  <a:srgbClr val="2F5C00"/>
                </a:solidFill>
                <a:latin typeface="Times New Roman"/>
                <a:cs typeface="Times New Roman"/>
              </a:rPr>
              <a:t>E,</a:t>
            </a:r>
            <a:r>
              <a:rPr sz="1800" b="1" i="1" spc="-15" dirty="0">
                <a:solidFill>
                  <a:srgbClr val="2F5C00"/>
                </a:solidFill>
                <a:latin typeface="Times New Roman"/>
                <a:cs typeface="Times New Roman"/>
              </a:rPr>
              <a:t> </a:t>
            </a:r>
            <a:r>
              <a:rPr sz="1800" b="1" i="1" spc="-5" dirty="0">
                <a:solidFill>
                  <a:srgbClr val="2F5C00"/>
                </a:solidFill>
                <a:latin typeface="Times New Roman"/>
                <a:cs typeface="Times New Roman"/>
              </a:rPr>
              <a:t>G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73613" y="758520"/>
            <a:ext cx="151574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Partition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42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0094" y="1331302"/>
            <a:ext cx="4146550" cy="14833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55600" marR="5080" indent="-342900">
              <a:lnSpc>
                <a:spcPct val="99500"/>
              </a:lnSpc>
              <a:spcBef>
                <a:spcPts val="115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Since elements </a:t>
            </a:r>
            <a:r>
              <a:rPr sz="2400" spc="-10" dirty="0">
                <a:latin typeface="Arial"/>
                <a:cs typeface="Arial"/>
              </a:rPr>
              <a:t>are  </a:t>
            </a:r>
            <a:r>
              <a:rPr sz="2400" spc="-5" dirty="0">
                <a:latin typeface="Arial"/>
                <a:cs typeface="Arial"/>
              </a:rPr>
              <a:t>removed at the </a:t>
            </a:r>
            <a:r>
              <a:rPr sz="2400" spc="-10" dirty="0">
                <a:latin typeface="Arial"/>
                <a:cs typeface="Arial"/>
              </a:rPr>
              <a:t>beginning  </a:t>
            </a:r>
            <a:r>
              <a:rPr sz="2400" spc="-5" dirty="0">
                <a:latin typeface="Arial"/>
                <a:cs typeface="Arial"/>
              </a:rPr>
              <a:t>and added at the end, this  partition algorithm is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941300"/>
                </a:solidFill>
                <a:latin typeface="Arial"/>
                <a:cs typeface="Arial"/>
              </a:rPr>
              <a:t>stable</a:t>
            </a:r>
            <a:r>
              <a:rPr sz="2400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56872" y="1389062"/>
            <a:ext cx="4114800" cy="4786630"/>
          </a:xfrm>
          <a:prstGeom prst="rect">
            <a:avLst/>
          </a:prstGeom>
          <a:solidFill>
            <a:srgbClr val="FCF2DA"/>
          </a:solidFill>
          <a:ln w="9525">
            <a:solidFill>
              <a:srgbClr val="000000"/>
            </a:solidFill>
          </a:ln>
        </p:spPr>
        <p:txBody>
          <a:bodyPr vert="horz" wrap="square" lIns="0" tIns="22860" rIns="0" bIns="0" rtlCol="0">
            <a:spAutoFit/>
          </a:bodyPr>
          <a:lstStyle/>
          <a:p>
            <a:pPr marL="90805" algn="just">
              <a:lnSpc>
                <a:spcPct val="100000"/>
              </a:lnSpc>
              <a:spcBef>
                <a:spcPts val="180"/>
              </a:spcBef>
            </a:pPr>
            <a:r>
              <a:rPr sz="1800" b="1" spc="-5" dirty="0">
                <a:latin typeface="Times New Roman"/>
                <a:cs typeface="Times New Roman"/>
              </a:rPr>
              <a:t>Algorithm </a:t>
            </a:r>
            <a:r>
              <a:rPr sz="1800" b="1" i="1" spc="-5" dirty="0">
                <a:solidFill>
                  <a:srgbClr val="941300"/>
                </a:solidFill>
                <a:latin typeface="Times New Roman"/>
                <a:cs typeface="Times New Roman"/>
              </a:rPr>
              <a:t>Partition</a:t>
            </a:r>
            <a:r>
              <a:rPr sz="1800" spc="-5" dirty="0">
                <a:solidFill>
                  <a:srgbClr val="941300"/>
                </a:solidFill>
                <a:latin typeface="Times New Roman"/>
                <a:cs typeface="Times New Roman"/>
              </a:rPr>
              <a:t>(</a:t>
            </a:r>
            <a:r>
              <a:rPr sz="1800" b="1" i="1" spc="-5" dirty="0">
                <a:solidFill>
                  <a:srgbClr val="941300"/>
                </a:solidFill>
                <a:latin typeface="Times New Roman"/>
                <a:cs typeface="Times New Roman"/>
              </a:rPr>
              <a:t>S</a:t>
            </a:r>
            <a:r>
              <a:rPr sz="1800" spc="-5" dirty="0">
                <a:solidFill>
                  <a:srgbClr val="941300"/>
                </a:solidFill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  <a:p>
            <a:pPr marL="433705" algn="just">
              <a:lnSpc>
                <a:spcPct val="100000"/>
              </a:lnSpc>
              <a:spcBef>
                <a:spcPts val="170"/>
              </a:spcBef>
            </a:pPr>
            <a:r>
              <a:rPr sz="1800" b="1" spc="-5" dirty="0">
                <a:latin typeface="Times New Roman"/>
                <a:cs typeface="Times New Roman"/>
              </a:rPr>
              <a:t>Input </a:t>
            </a:r>
            <a:r>
              <a:rPr sz="1800" dirty="0">
                <a:solidFill>
                  <a:srgbClr val="2F5C00"/>
                </a:solidFill>
                <a:latin typeface="Times New Roman"/>
                <a:cs typeface="Times New Roman"/>
              </a:rPr>
              <a:t>sequence</a:t>
            </a:r>
            <a:r>
              <a:rPr sz="1800" spc="-5" dirty="0">
                <a:solidFill>
                  <a:srgbClr val="2F5C00"/>
                </a:solidFill>
                <a:latin typeface="Times New Roman"/>
                <a:cs typeface="Times New Roman"/>
              </a:rPr>
              <a:t> </a:t>
            </a:r>
            <a:r>
              <a:rPr sz="1800" b="1" i="1" spc="-5" dirty="0">
                <a:solidFill>
                  <a:srgbClr val="2F5C00"/>
                </a:solidFill>
                <a:latin typeface="Times New Roman"/>
                <a:cs typeface="Times New Roman"/>
              </a:rPr>
              <a:t>S</a:t>
            </a:r>
            <a:endParaRPr sz="1800">
              <a:latin typeface="Times New Roman"/>
              <a:cs typeface="Times New Roman"/>
            </a:endParaRPr>
          </a:p>
          <a:p>
            <a:pPr marL="777240" marR="332105" indent="-342900" algn="just">
              <a:lnSpc>
                <a:spcPct val="89500"/>
              </a:lnSpc>
              <a:spcBef>
                <a:spcPts val="465"/>
              </a:spcBef>
            </a:pPr>
            <a:r>
              <a:rPr sz="1800" b="1" spc="-5" dirty="0">
                <a:latin typeface="Times New Roman"/>
                <a:cs typeface="Times New Roman"/>
              </a:rPr>
              <a:t>Output </a:t>
            </a:r>
            <a:r>
              <a:rPr sz="1800" dirty="0">
                <a:solidFill>
                  <a:srgbClr val="2F5C00"/>
                </a:solidFill>
                <a:latin typeface="Times New Roman"/>
                <a:cs typeface="Times New Roman"/>
              </a:rPr>
              <a:t>subsequences </a:t>
            </a:r>
            <a:r>
              <a:rPr sz="1800" b="1" i="1" dirty="0">
                <a:solidFill>
                  <a:srgbClr val="2F5C00"/>
                </a:solidFill>
                <a:latin typeface="Times New Roman"/>
                <a:cs typeface="Times New Roman"/>
              </a:rPr>
              <a:t>L, E, </a:t>
            </a:r>
            <a:r>
              <a:rPr sz="1800" b="1" i="1" spc="-5" dirty="0">
                <a:solidFill>
                  <a:srgbClr val="2F5C00"/>
                </a:solidFill>
                <a:latin typeface="Times New Roman"/>
                <a:cs typeface="Times New Roman"/>
              </a:rPr>
              <a:t>G </a:t>
            </a:r>
            <a:r>
              <a:rPr sz="1800" dirty="0">
                <a:solidFill>
                  <a:srgbClr val="2F5C00"/>
                </a:solidFill>
                <a:latin typeface="Times New Roman"/>
                <a:cs typeface="Times New Roman"/>
              </a:rPr>
              <a:t>of</a:t>
            </a:r>
            <a:r>
              <a:rPr sz="1800" spc="-65" dirty="0">
                <a:solidFill>
                  <a:srgbClr val="2F5C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5C00"/>
                </a:solidFill>
                <a:latin typeface="Times New Roman"/>
                <a:cs typeface="Times New Roman"/>
              </a:rPr>
              <a:t>the  elements of </a:t>
            </a:r>
            <a:r>
              <a:rPr sz="1800" b="1" i="1" spc="-5" dirty="0">
                <a:solidFill>
                  <a:srgbClr val="2F5C00"/>
                </a:solidFill>
                <a:latin typeface="Times New Roman"/>
                <a:cs typeface="Times New Roman"/>
              </a:rPr>
              <a:t>S </a:t>
            </a:r>
            <a:r>
              <a:rPr sz="1800" spc="-5" dirty="0">
                <a:solidFill>
                  <a:srgbClr val="2F5C00"/>
                </a:solidFill>
                <a:latin typeface="Times New Roman"/>
                <a:cs typeface="Times New Roman"/>
              </a:rPr>
              <a:t>less </a:t>
            </a:r>
            <a:r>
              <a:rPr sz="1800" dirty="0">
                <a:solidFill>
                  <a:srgbClr val="2F5C00"/>
                </a:solidFill>
                <a:latin typeface="Times New Roman"/>
                <a:cs typeface="Times New Roman"/>
              </a:rPr>
              <a:t>than, equal</a:t>
            </a:r>
            <a:r>
              <a:rPr sz="1800" spc="-75" dirty="0">
                <a:solidFill>
                  <a:srgbClr val="2F5C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5C00"/>
                </a:solidFill>
                <a:latin typeface="Times New Roman"/>
                <a:cs typeface="Times New Roman"/>
              </a:rPr>
              <a:t>to,  or greater than the pivot,</a:t>
            </a:r>
            <a:r>
              <a:rPr sz="1800" spc="-55" dirty="0">
                <a:solidFill>
                  <a:srgbClr val="2F5C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5C00"/>
                </a:solidFill>
                <a:latin typeface="Times New Roman"/>
                <a:cs typeface="Times New Roman"/>
              </a:rPr>
              <a:t>resp.</a:t>
            </a:r>
            <a:endParaRPr sz="1800">
              <a:latin typeface="Times New Roman"/>
              <a:cs typeface="Times New Roman"/>
            </a:endParaRPr>
          </a:p>
          <a:p>
            <a:pPr marL="434340" marR="1072515">
              <a:lnSpc>
                <a:spcPct val="101899"/>
              </a:lnSpc>
              <a:spcBef>
                <a:spcPts val="234"/>
              </a:spcBef>
            </a:pPr>
            <a:r>
              <a:rPr sz="1800" b="1" i="1" dirty="0">
                <a:solidFill>
                  <a:srgbClr val="2F5C00"/>
                </a:solidFill>
                <a:latin typeface="Times New Roman"/>
                <a:cs typeface="Times New Roman"/>
              </a:rPr>
              <a:t>L, </a:t>
            </a:r>
            <a:r>
              <a:rPr sz="1800" b="1" i="1" spc="-5" dirty="0">
                <a:solidFill>
                  <a:srgbClr val="2F5C00"/>
                </a:solidFill>
                <a:latin typeface="Times New Roman"/>
                <a:cs typeface="Times New Roman"/>
              </a:rPr>
              <a:t>E, G </a:t>
            </a:r>
            <a:r>
              <a:rPr sz="1800" spc="3460" dirty="0">
                <a:latin typeface="Wingdings"/>
                <a:cs typeface="Wingdings"/>
              </a:rPr>
              <a:t>€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F5C00"/>
                </a:solidFill>
                <a:latin typeface="Times New Roman"/>
                <a:cs typeface="Times New Roman"/>
              </a:rPr>
              <a:t>empty </a:t>
            </a:r>
            <a:r>
              <a:rPr sz="1800" spc="-375" dirty="0">
                <a:solidFill>
                  <a:srgbClr val="2F5C00"/>
                </a:solidFill>
                <a:latin typeface="Times New Roman"/>
                <a:cs typeface="Times New Roman"/>
              </a:rPr>
              <a:t>sequences  </a:t>
            </a:r>
            <a:r>
              <a:rPr sz="1800" b="1" i="1" dirty="0">
                <a:solidFill>
                  <a:srgbClr val="2F5C00"/>
                </a:solidFill>
                <a:latin typeface="Times New Roman"/>
                <a:cs typeface="Times New Roman"/>
              </a:rPr>
              <a:t>x </a:t>
            </a:r>
            <a:r>
              <a:rPr sz="1800" spc="3460" dirty="0">
                <a:latin typeface="Wingdings"/>
                <a:cs typeface="Wingdings"/>
              </a:rPr>
              <a:t>€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b="1" i="1" spc="-50" dirty="0">
                <a:solidFill>
                  <a:srgbClr val="2F5C00"/>
                </a:solidFill>
                <a:latin typeface="Times New Roman"/>
                <a:cs typeface="Times New Roman"/>
              </a:rPr>
              <a:t>S.getLast</a:t>
            </a:r>
            <a:r>
              <a:rPr sz="1800" spc="-50" dirty="0">
                <a:solidFill>
                  <a:srgbClr val="2F5C00"/>
                </a:solidFill>
                <a:latin typeface="Times New Roman"/>
                <a:cs typeface="Times New Roman"/>
              </a:rPr>
              <a:t>()</a:t>
            </a:r>
            <a:r>
              <a:rPr sz="1800" b="1" i="1" spc="-50" dirty="0">
                <a:solidFill>
                  <a:srgbClr val="2F5C00"/>
                </a:solidFill>
                <a:latin typeface="Times New Roman"/>
                <a:cs typeface="Times New Roman"/>
              </a:rPr>
              <a:t>.element  </a:t>
            </a:r>
            <a:r>
              <a:rPr sz="1800" b="1" spc="-5" dirty="0">
                <a:latin typeface="Times New Roman"/>
                <a:cs typeface="Times New Roman"/>
              </a:rPr>
              <a:t>while</a:t>
            </a:r>
            <a:r>
              <a:rPr sz="1800" b="1" spc="105" dirty="0">
                <a:latin typeface="Times New Roman"/>
                <a:cs typeface="Times New Roman"/>
              </a:rPr>
              <a:t> </a:t>
            </a:r>
            <a:r>
              <a:rPr sz="3150" spc="22" baseline="3968" dirty="0">
                <a:solidFill>
                  <a:srgbClr val="407700"/>
                </a:solidFill>
                <a:latin typeface="Symbol"/>
                <a:cs typeface="Symbol"/>
              </a:rPr>
              <a:t></a:t>
            </a:r>
            <a:r>
              <a:rPr sz="1800" b="1" i="1" spc="15" dirty="0">
                <a:solidFill>
                  <a:srgbClr val="2F5C00"/>
                </a:solidFill>
                <a:latin typeface="Times New Roman"/>
                <a:cs typeface="Times New Roman"/>
              </a:rPr>
              <a:t>S.isEmpty</a:t>
            </a:r>
            <a:r>
              <a:rPr sz="1800" spc="15" dirty="0">
                <a:solidFill>
                  <a:srgbClr val="2F5C00"/>
                </a:solidFill>
                <a:latin typeface="Times New Roman"/>
                <a:cs typeface="Times New Roman"/>
              </a:rPr>
              <a:t>()</a:t>
            </a:r>
            <a:endParaRPr sz="1800">
              <a:latin typeface="Times New Roman"/>
              <a:cs typeface="Times New Roman"/>
            </a:endParaRPr>
          </a:p>
          <a:p>
            <a:pPr marL="776605">
              <a:lnSpc>
                <a:spcPct val="100000"/>
              </a:lnSpc>
              <a:spcBef>
                <a:spcPts val="180"/>
              </a:spcBef>
            </a:pPr>
            <a:r>
              <a:rPr sz="1800" b="1" i="1" dirty="0">
                <a:solidFill>
                  <a:srgbClr val="2F5C00"/>
                </a:solidFill>
                <a:latin typeface="Times New Roman"/>
                <a:cs typeface="Times New Roman"/>
              </a:rPr>
              <a:t>y </a:t>
            </a:r>
            <a:r>
              <a:rPr sz="1800" spc="3460" dirty="0">
                <a:latin typeface="Wingdings"/>
                <a:cs typeface="Wingdings"/>
              </a:rPr>
              <a:t>€</a:t>
            </a:r>
            <a:r>
              <a:rPr sz="1800" spc="440" dirty="0">
                <a:latin typeface="Times New Roman"/>
                <a:cs typeface="Times New Roman"/>
              </a:rPr>
              <a:t> </a:t>
            </a:r>
            <a:r>
              <a:rPr sz="1800" b="1" i="1" spc="-5" dirty="0">
                <a:solidFill>
                  <a:srgbClr val="2F5C00"/>
                </a:solidFill>
                <a:latin typeface="Times New Roman"/>
                <a:cs typeface="Times New Roman"/>
              </a:rPr>
              <a:t>S.removeFirst</a:t>
            </a:r>
            <a:r>
              <a:rPr sz="1800" spc="-5" dirty="0">
                <a:solidFill>
                  <a:srgbClr val="2F5C00"/>
                </a:solidFill>
                <a:latin typeface="Times New Roman"/>
                <a:cs typeface="Times New Roman"/>
              </a:rPr>
              <a:t>(</a:t>
            </a:r>
            <a:r>
              <a:rPr sz="1800" b="1" i="1" spc="-5" dirty="0">
                <a:solidFill>
                  <a:srgbClr val="2F5C00"/>
                </a:solidFill>
                <a:latin typeface="Times New Roman"/>
                <a:cs typeface="Times New Roman"/>
              </a:rPr>
              <a:t>S</a:t>
            </a:r>
            <a:r>
              <a:rPr sz="1800" spc="-5" dirty="0">
                <a:solidFill>
                  <a:srgbClr val="2F5C00"/>
                </a:solidFill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  <a:p>
            <a:pPr marL="776605">
              <a:lnSpc>
                <a:spcPct val="100000"/>
              </a:lnSpc>
              <a:spcBef>
                <a:spcPts val="240"/>
              </a:spcBef>
            </a:pPr>
            <a:r>
              <a:rPr sz="1800" b="1" dirty="0">
                <a:latin typeface="Times New Roman"/>
                <a:cs typeface="Times New Roman"/>
              </a:rPr>
              <a:t>if </a:t>
            </a:r>
            <a:r>
              <a:rPr sz="1800" b="1" i="1" dirty="0">
                <a:solidFill>
                  <a:srgbClr val="2F5C00"/>
                </a:solidFill>
                <a:latin typeface="Times New Roman"/>
                <a:cs typeface="Times New Roman"/>
              </a:rPr>
              <a:t>y </a:t>
            </a:r>
            <a:r>
              <a:rPr sz="1800" dirty="0">
                <a:latin typeface="Times New Roman"/>
                <a:cs typeface="Times New Roman"/>
              </a:rPr>
              <a:t>&lt;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b="1" i="1" dirty="0">
                <a:solidFill>
                  <a:srgbClr val="2F5C00"/>
                </a:solidFill>
                <a:latin typeface="Times New Roman"/>
                <a:cs typeface="Times New Roman"/>
              </a:rPr>
              <a:t>x</a:t>
            </a:r>
            <a:endParaRPr sz="1800">
              <a:latin typeface="Times New Roman"/>
              <a:cs typeface="Times New Roman"/>
            </a:endParaRPr>
          </a:p>
          <a:p>
            <a:pPr marL="1119505">
              <a:lnSpc>
                <a:spcPct val="100000"/>
              </a:lnSpc>
              <a:spcBef>
                <a:spcPts val="240"/>
              </a:spcBef>
            </a:pPr>
            <a:r>
              <a:rPr sz="1800" b="1" i="1" spc="-5" dirty="0">
                <a:solidFill>
                  <a:srgbClr val="2F5C00"/>
                </a:solidFill>
                <a:latin typeface="Times New Roman"/>
                <a:cs typeface="Times New Roman"/>
              </a:rPr>
              <a:t>L.addLast</a:t>
            </a:r>
            <a:r>
              <a:rPr sz="1800" spc="-5" dirty="0">
                <a:solidFill>
                  <a:srgbClr val="2F5C00"/>
                </a:solidFill>
                <a:latin typeface="Times New Roman"/>
                <a:cs typeface="Times New Roman"/>
              </a:rPr>
              <a:t>(</a:t>
            </a:r>
            <a:r>
              <a:rPr sz="1800" b="1" i="1" spc="-5" dirty="0">
                <a:solidFill>
                  <a:srgbClr val="2F5C00"/>
                </a:solidFill>
                <a:latin typeface="Times New Roman"/>
                <a:cs typeface="Times New Roman"/>
              </a:rPr>
              <a:t>y</a:t>
            </a:r>
            <a:r>
              <a:rPr sz="1800" spc="-5" dirty="0">
                <a:solidFill>
                  <a:srgbClr val="2F5C00"/>
                </a:solidFill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  <a:p>
            <a:pPr marL="776605">
              <a:lnSpc>
                <a:spcPct val="100000"/>
              </a:lnSpc>
              <a:spcBef>
                <a:spcPts val="140"/>
              </a:spcBef>
            </a:pPr>
            <a:r>
              <a:rPr sz="1800" b="1" spc="-5" dirty="0">
                <a:latin typeface="Times New Roman"/>
                <a:cs typeface="Times New Roman"/>
              </a:rPr>
              <a:t>else </a:t>
            </a:r>
            <a:r>
              <a:rPr sz="1800" b="1" dirty="0">
                <a:latin typeface="Times New Roman"/>
                <a:cs typeface="Times New Roman"/>
              </a:rPr>
              <a:t>if </a:t>
            </a:r>
            <a:r>
              <a:rPr sz="1800" b="1" i="1" dirty="0">
                <a:solidFill>
                  <a:srgbClr val="2F5C00"/>
                </a:solidFill>
                <a:latin typeface="Times New Roman"/>
                <a:cs typeface="Times New Roman"/>
              </a:rPr>
              <a:t>y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b="1" i="1" dirty="0">
                <a:solidFill>
                  <a:srgbClr val="2F5C00"/>
                </a:solidFill>
                <a:latin typeface="Times New Roman"/>
                <a:cs typeface="Times New Roman"/>
              </a:rPr>
              <a:t>x</a:t>
            </a:r>
            <a:endParaRPr sz="1800">
              <a:latin typeface="Times New Roman"/>
              <a:cs typeface="Times New Roman"/>
            </a:endParaRPr>
          </a:p>
          <a:p>
            <a:pPr marL="1176655">
              <a:lnSpc>
                <a:spcPct val="100000"/>
              </a:lnSpc>
              <a:spcBef>
                <a:spcPts val="240"/>
              </a:spcBef>
            </a:pPr>
            <a:r>
              <a:rPr sz="1800" b="1" i="1" spc="-5" dirty="0">
                <a:solidFill>
                  <a:srgbClr val="2F5C00"/>
                </a:solidFill>
                <a:latin typeface="Times New Roman"/>
                <a:cs typeface="Times New Roman"/>
              </a:rPr>
              <a:t>E.addLast</a:t>
            </a:r>
            <a:r>
              <a:rPr sz="1800" spc="-5" dirty="0">
                <a:solidFill>
                  <a:srgbClr val="2F5C00"/>
                </a:solidFill>
                <a:latin typeface="Times New Roman"/>
                <a:cs typeface="Times New Roman"/>
              </a:rPr>
              <a:t>(</a:t>
            </a:r>
            <a:r>
              <a:rPr sz="1800" b="1" i="1" spc="-5" dirty="0">
                <a:solidFill>
                  <a:srgbClr val="2F5C00"/>
                </a:solidFill>
                <a:latin typeface="Times New Roman"/>
                <a:cs typeface="Times New Roman"/>
              </a:rPr>
              <a:t>y</a:t>
            </a:r>
            <a:r>
              <a:rPr sz="1800" spc="-5" dirty="0">
                <a:solidFill>
                  <a:srgbClr val="2F5C00"/>
                </a:solidFill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  <a:p>
            <a:pPr marL="776605">
              <a:lnSpc>
                <a:spcPct val="100000"/>
              </a:lnSpc>
              <a:spcBef>
                <a:spcPts val="240"/>
              </a:spcBef>
            </a:pPr>
            <a:r>
              <a:rPr sz="1800" b="1" spc="-5" dirty="0">
                <a:latin typeface="Times New Roman"/>
                <a:cs typeface="Times New Roman"/>
              </a:rPr>
              <a:t>else </a:t>
            </a:r>
            <a:r>
              <a:rPr sz="1800" dirty="0">
                <a:latin typeface="Times New Roman"/>
                <a:cs typeface="Times New Roman"/>
              </a:rPr>
              <a:t>{ </a:t>
            </a:r>
            <a:r>
              <a:rPr sz="1800" b="1" i="1" dirty="0">
                <a:latin typeface="Times New Roman"/>
                <a:cs typeface="Times New Roman"/>
              </a:rPr>
              <a:t>y </a:t>
            </a:r>
            <a:r>
              <a:rPr sz="1800" dirty="0">
                <a:latin typeface="Times New Roman"/>
                <a:cs typeface="Times New Roman"/>
              </a:rPr>
              <a:t>&gt; </a:t>
            </a:r>
            <a:r>
              <a:rPr sz="1800" b="1" i="1" dirty="0">
                <a:latin typeface="Times New Roman"/>
                <a:cs typeface="Times New Roman"/>
              </a:rPr>
              <a:t>x</a:t>
            </a:r>
            <a:r>
              <a:rPr sz="1800" b="1" i="1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  <a:p>
            <a:pPr marL="1119505">
              <a:lnSpc>
                <a:spcPct val="100000"/>
              </a:lnSpc>
              <a:spcBef>
                <a:spcPts val="240"/>
              </a:spcBef>
            </a:pPr>
            <a:r>
              <a:rPr sz="1800" b="1" i="1" spc="-5" dirty="0">
                <a:solidFill>
                  <a:srgbClr val="2F5C00"/>
                </a:solidFill>
                <a:latin typeface="Times New Roman"/>
                <a:cs typeface="Times New Roman"/>
              </a:rPr>
              <a:t>G.addLast</a:t>
            </a:r>
            <a:r>
              <a:rPr sz="1800" spc="-5" dirty="0">
                <a:solidFill>
                  <a:srgbClr val="2F5C00"/>
                </a:solidFill>
                <a:latin typeface="Times New Roman"/>
                <a:cs typeface="Times New Roman"/>
              </a:rPr>
              <a:t>(</a:t>
            </a:r>
            <a:r>
              <a:rPr sz="1800" b="1" i="1" spc="-5" dirty="0">
                <a:solidFill>
                  <a:srgbClr val="2F5C00"/>
                </a:solidFill>
                <a:latin typeface="Times New Roman"/>
                <a:cs typeface="Times New Roman"/>
              </a:rPr>
              <a:t>y</a:t>
            </a:r>
            <a:r>
              <a:rPr sz="1800" spc="-5" dirty="0">
                <a:solidFill>
                  <a:srgbClr val="2F5C00"/>
                </a:solidFill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  <a:p>
            <a:pPr marL="433705">
              <a:lnSpc>
                <a:spcPct val="100000"/>
              </a:lnSpc>
              <a:spcBef>
                <a:spcPts val="140"/>
              </a:spcBef>
            </a:pPr>
            <a:r>
              <a:rPr sz="1800" b="1" spc="-10" dirty="0">
                <a:latin typeface="Times New Roman"/>
                <a:cs typeface="Times New Roman"/>
              </a:rPr>
              <a:t>return </a:t>
            </a:r>
            <a:r>
              <a:rPr sz="1800" b="1" i="1" dirty="0">
                <a:solidFill>
                  <a:srgbClr val="2F5C00"/>
                </a:solidFill>
                <a:latin typeface="Times New Roman"/>
                <a:cs typeface="Times New Roman"/>
              </a:rPr>
              <a:t>L, </a:t>
            </a:r>
            <a:r>
              <a:rPr sz="1800" b="1" i="1" spc="-5" dirty="0">
                <a:solidFill>
                  <a:srgbClr val="2F5C00"/>
                </a:solidFill>
                <a:latin typeface="Times New Roman"/>
                <a:cs typeface="Times New Roman"/>
              </a:rPr>
              <a:t>E,</a:t>
            </a:r>
            <a:r>
              <a:rPr sz="1800" b="1" i="1" spc="-15" dirty="0">
                <a:solidFill>
                  <a:srgbClr val="2F5C00"/>
                </a:solidFill>
                <a:latin typeface="Times New Roman"/>
                <a:cs typeface="Times New Roman"/>
              </a:rPr>
              <a:t> </a:t>
            </a:r>
            <a:r>
              <a:rPr sz="1800" b="1" i="1" spc="-5" dirty="0">
                <a:solidFill>
                  <a:srgbClr val="2F5C00"/>
                </a:solidFill>
                <a:latin typeface="Times New Roman"/>
                <a:cs typeface="Times New Roman"/>
              </a:rPr>
              <a:t>G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85032" y="758520"/>
            <a:ext cx="289369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Quick-Sort</a:t>
            </a:r>
            <a:r>
              <a:rPr spc="-95" dirty="0"/>
              <a:t> </a:t>
            </a:r>
            <a:r>
              <a:rPr dirty="0"/>
              <a:t>Tree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145374"/>
            <a:ext cx="7727315" cy="2776855"/>
          </a:xfrm>
          <a:prstGeom prst="rect">
            <a:avLst/>
          </a:prstGeom>
        </p:spPr>
        <p:txBody>
          <a:bodyPr vert="horz" wrap="square" lIns="0" tIns="19812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56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An execution of quick-sort is depicted by a binary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tree</a:t>
            </a:r>
            <a:endParaRPr sz="24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1220"/>
              </a:spcBef>
              <a:buClr>
                <a:srgbClr val="2F5C00"/>
              </a:buClr>
              <a:buFont typeface="Wingdings"/>
              <a:buChar char=""/>
              <a:tabLst>
                <a:tab pos="755650" algn="l"/>
              </a:tabLst>
            </a:pPr>
            <a:r>
              <a:rPr sz="2000" spc="-5" dirty="0">
                <a:latin typeface="Arial"/>
                <a:cs typeface="Arial"/>
              </a:rPr>
              <a:t>Each node represents a recursive call of quick-sort and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stores</a:t>
            </a:r>
            <a:endParaRPr sz="20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1085"/>
              </a:spcBef>
            </a:pPr>
            <a:r>
              <a:rPr sz="1800" spc="2590" dirty="0">
                <a:solidFill>
                  <a:srgbClr val="0E2FFF"/>
                </a:solidFill>
                <a:latin typeface="Wingdings"/>
                <a:cs typeface="Wingdings"/>
              </a:rPr>
              <a:t></a:t>
            </a:r>
            <a:r>
              <a:rPr sz="1800" spc="-240" dirty="0">
                <a:solidFill>
                  <a:srgbClr val="0E2FFF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Unsorted sequence before the execution and its </a:t>
            </a:r>
            <a:r>
              <a:rPr sz="1800" spc="-10" dirty="0">
                <a:latin typeface="Arial"/>
                <a:cs typeface="Arial"/>
              </a:rPr>
              <a:t>pivot</a:t>
            </a:r>
            <a:endParaRPr sz="18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1040"/>
              </a:spcBef>
            </a:pPr>
            <a:r>
              <a:rPr sz="1800" spc="2590" dirty="0">
                <a:solidFill>
                  <a:srgbClr val="0E2FFF"/>
                </a:solidFill>
                <a:latin typeface="Wingdings"/>
                <a:cs typeface="Wingdings"/>
              </a:rPr>
              <a:t></a:t>
            </a:r>
            <a:r>
              <a:rPr sz="1800" spc="-225" dirty="0">
                <a:solidFill>
                  <a:srgbClr val="0E2FFF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Sorted sequence at the end of the </a:t>
            </a:r>
            <a:r>
              <a:rPr sz="1800" spc="-10" dirty="0">
                <a:latin typeface="Arial"/>
                <a:cs typeface="Arial"/>
              </a:rPr>
              <a:t>execution</a:t>
            </a:r>
            <a:endParaRPr sz="18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1255"/>
              </a:spcBef>
              <a:buClr>
                <a:srgbClr val="2F5C00"/>
              </a:buClr>
              <a:buFont typeface="Wingdings"/>
              <a:buChar char=""/>
              <a:tabLst>
                <a:tab pos="755650" algn="l"/>
              </a:tabLst>
            </a:pPr>
            <a:r>
              <a:rPr sz="2000" spc="-5" dirty="0">
                <a:latin typeface="Arial"/>
                <a:cs typeface="Arial"/>
              </a:rPr>
              <a:t>The root is the initial</a:t>
            </a:r>
            <a:r>
              <a:rPr sz="2000" spc="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call</a:t>
            </a:r>
            <a:endParaRPr sz="20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Clr>
                <a:srgbClr val="2F5C00"/>
              </a:buClr>
              <a:buFont typeface="Wingdings"/>
              <a:buChar char=""/>
              <a:tabLst>
                <a:tab pos="755650" algn="l"/>
              </a:tabLst>
            </a:pPr>
            <a:r>
              <a:rPr sz="2000" spc="-5" dirty="0">
                <a:latin typeface="Arial"/>
                <a:cs typeface="Arial"/>
              </a:rPr>
              <a:t>The leaves are calls on subsequences of size 0 or</a:t>
            </a:r>
            <a:r>
              <a:rPr sz="2000" spc="2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47900" y="4229100"/>
            <a:ext cx="5562600" cy="2425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43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9635" y="758520"/>
            <a:ext cx="350329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Execution</a:t>
            </a:r>
            <a:r>
              <a:rPr spc="-55" dirty="0"/>
              <a:t>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97939" y="2166620"/>
            <a:ext cx="23329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Pivot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selection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57300" y="2819400"/>
            <a:ext cx="7543800" cy="3670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44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7314" y="758520"/>
            <a:ext cx="476821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Execution Example</a:t>
            </a:r>
            <a:r>
              <a:rPr spc="-80" dirty="0"/>
              <a:t> </a:t>
            </a:r>
            <a:r>
              <a:rPr spc="-5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4139" y="2166620"/>
            <a:ext cx="55340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Partition, recursive call, pivot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selection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46200" y="2895600"/>
            <a:ext cx="7366000" cy="3632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45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7314" y="758520"/>
            <a:ext cx="476821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Execution Example</a:t>
            </a:r>
            <a:r>
              <a:rPr spc="-80" dirty="0"/>
              <a:t> </a:t>
            </a:r>
            <a:r>
              <a:rPr spc="-5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4139" y="2166620"/>
            <a:ext cx="49923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Partition, recursive call, base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case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58900" y="2628900"/>
            <a:ext cx="7340600" cy="3644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46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7314" y="758520"/>
            <a:ext cx="476821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Execution Example</a:t>
            </a:r>
            <a:r>
              <a:rPr spc="-80" dirty="0"/>
              <a:t> </a:t>
            </a:r>
            <a:r>
              <a:rPr spc="-5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4139" y="2166620"/>
            <a:ext cx="49415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Recursive call, …, base case,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join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20800" y="2819400"/>
            <a:ext cx="7416800" cy="3657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47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Slide Zoom 9">
                <a:extLst>
                  <a:ext uri="{FF2B5EF4-FFF2-40B4-BE49-F238E27FC236}">
                    <a16:creationId xmlns:a16="http://schemas.microsoft.com/office/drawing/2014/main" id="{E1A084FF-676E-95AE-B388-68ABED70D46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25547425"/>
                  </p:ext>
                </p:extLst>
              </p:nvPr>
            </p:nvGraphicFramePr>
            <p:xfrm>
              <a:off x="1521186" y="2297167"/>
              <a:ext cx="7088749" cy="4648084"/>
            </p:xfrm>
            <a:graphic>
              <a:graphicData uri="http://schemas.microsoft.com/office/powerpoint/2016/slidezoom">
                <pslz:sldZm>
                  <pslz:sldZmObj sldId="311" cId="0">
                    <pslz:zmPr id="{A59EDFB0-C29A-4B19-B181-A9E6C18915E6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7088749" cy="464808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Slide Zoom 9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E1A084FF-676E-95AE-B388-68ABED70D46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21186" y="2297167"/>
                <a:ext cx="7088749" cy="464808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7314" y="758520"/>
            <a:ext cx="476821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Execution Example</a:t>
            </a:r>
            <a:r>
              <a:rPr spc="-80" dirty="0"/>
              <a:t> </a:t>
            </a:r>
            <a:r>
              <a:rPr spc="-5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4139" y="2242820"/>
            <a:ext cx="43656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Recursive call, pivot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selection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08100" y="2895600"/>
            <a:ext cx="7442200" cy="3657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48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7314" y="758520"/>
            <a:ext cx="476821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Execution Example</a:t>
            </a:r>
            <a:r>
              <a:rPr spc="-80" dirty="0"/>
              <a:t> </a:t>
            </a:r>
            <a:r>
              <a:rPr spc="-5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4139" y="2166620"/>
            <a:ext cx="54673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Partition, …, </a:t>
            </a:r>
            <a:r>
              <a:rPr sz="2400" spc="-5" dirty="0">
                <a:latin typeface="Arial"/>
                <a:cs typeface="Arial"/>
              </a:rPr>
              <a:t>recursive call, base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case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400" y="2895600"/>
            <a:ext cx="7467600" cy="3644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49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7314" y="758520"/>
            <a:ext cx="476821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Execution Example</a:t>
            </a:r>
            <a:r>
              <a:rPr spc="-80" dirty="0"/>
              <a:t> </a:t>
            </a:r>
            <a:r>
              <a:rPr spc="-5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4139" y="2166620"/>
            <a:ext cx="15709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Join,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join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46200" y="2819400"/>
            <a:ext cx="7366000" cy="3657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50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6740" y="758520"/>
            <a:ext cx="3910329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Quick-Sort</a:t>
            </a:r>
            <a:r>
              <a:rPr spc="-50" dirty="0"/>
              <a:t> </a:t>
            </a:r>
            <a:r>
              <a:rPr spc="-5" dirty="0"/>
              <a:t>Properties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51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3139" y="1659331"/>
            <a:ext cx="8040370" cy="258064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55600" marR="86360" indent="-342900">
              <a:lnSpc>
                <a:spcPct val="100699"/>
              </a:lnSpc>
              <a:spcBef>
                <a:spcPts val="8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The algorithm just described is </a:t>
            </a:r>
            <a:r>
              <a:rPr sz="2400" b="1" dirty="0">
                <a:solidFill>
                  <a:srgbClr val="941300"/>
                </a:solidFill>
                <a:latin typeface="Arial"/>
                <a:cs typeface="Arial"/>
              </a:rPr>
              <a:t>stable</a:t>
            </a:r>
            <a:r>
              <a:rPr sz="2400" dirty="0">
                <a:latin typeface="Arial"/>
                <a:cs typeface="Arial"/>
              </a:rPr>
              <a:t>, </a:t>
            </a:r>
            <a:r>
              <a:rPr sz="2400" spc="-5" dirty="0">
                <a:latin typeface="Arial"/>
                <a:cs typeface="Arial"/>
              </a:rPr>
              <a:t>since </a:t>
            </a:r>
            <a:r>
              <a:rPr sz="2400" spc="-10" dirty="0">
                <a:latin typeface="Arial"/>
                <a:cs typeface="Arial"/>
              </a:rPr>
              <a:t>elements  </a:t>
            </a:r>
            <a:r>
              <a:rPr sz="2400" spc="-5" dirty="0">
                <a:latin typeface="Arial"/>
                <a:cs typeface="Arial"/>
              </a:rPr>
              <a:t>are removed from the beginning of the input </a:t>
            </a:r>
            <a:r>
              <a:rPr sz="2400" spc="-10" dirty="0">
                <a:latin typeface="Arial"/>
                <a:cs typeface="Arial"/>
              </a:rPr>
              <a:t>sequence  </a:t>
            </a:r>
            <a:r>
              <a:rPr sz="2400" spc="-5" dirty="0">
                <a:latin typeface="Arial"/>
                <a:cs typeface="Arial"/>
              </a:rPr>
              <a:t>and placed on the end of the output sequences (L,E,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G).</a:t>
            </a:r>
            <a:endParaRPr sz="2400" dirty="0">
              <a:latin typeface="Arial"/>
              <a:cs typeface="Arial"/>
            </a:endParaRPr>
          </a:p>
          <a:p>
            <a:pPr marL="355600" marR="5080" indent="-343535">
              <a:lnSpc>
                <a:spcPct val="102800"/>
              </a:lnSpc>
              <a:spcBef>
                <a:spcPts val="128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  <a:tab pos="5283835" algn="l"/>
              </a:tabLst>
            </a:pPr>
            <a:r>
              <a:rPr sz="2400" spc="-5" dirty="0">
                <a:latin typeface="Arial"/>
                <a:cs typeface="Arial"/>
              </a:rPr>
              <a:t>However it </a:t>
            </a:r>
            <a:r>
              <a:rPr sz="2400" b="1" dirty="0">
                <a:solidFill>
                  <a:srgbClr val="941300"/>
                </a:solidFill>
                <a:latin typeface="Arial"/>
                <a:cs typeface="Arial"/>
              </a:rPr>
              <a:t>does not sort</a:t>
            </a:r>
            <a:r>
              <a:rPr sz="2400" b="1" spc="30" dirty="0">
                <a:solidFill>
                  <a:srgbClr val="9413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941300"/>
                </a:solidFill>
                <a:latin typeface="Arial"/>
                <a:cs typeface="Arial"/>
              </a:rPr>
              <a:t>in</a:t>
            </a:r>
            <a:r>
              <a:rPr sz="2400" b="1" spc="5" dirty="0">
                <a:solidFill>
                  <a:srgbClr val="941300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941300"/>
                </a:solidFill>
                <a:latin typeface="Arial"/>
                <a:cs typeface="Arial"/>
              </a:rPr>
              <a:t>place</a:t>
            </a:r>
            <a:r>
              <a:rPr sz="2400" spc="-5" dirty="0">
                <a:latin typeface="Arial"/>
                <a:cs typeface="Arial"/>
              </a:rPr>
              <a:t>:	O(n) new memory </a:t>
            </a:r>
            <a:r>
              <a:rPr sz="2400" spc="-10" dirty="0">
                <a:latin typeface="Arial"/>
                <a:cs typeface="Arial"/>
              </a:rPr>
              <a:t>is  </a:t>
            </a:r>
            <a:r>
              <a:rPr sz="2400" spc="-5" dirty="0">
                <a:latin typeface="Arial"/>
                <a:cs typeface="Arial"/>
              </a:rPr>
              <a:t>allocated for L, </a:t>
            </a:r>
            <a:r>
              <a:rPr sz="2400" dirty="0">
                <a:latin typeface="Arial"/>
                <a:cs typeface="Arial"/>
              </a:rPr>
              <a:t>E </a:t>
            </a:r>
            <a:r>
              <a:rPr sz="2400" spc="-5" dirty="0">
                <a:latin typeface="Arial"/>
                <a:cs typeface="Arial"/>
              </a:rPr>
              <a:t>and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</a:t>
            </a:r>
          </a:p>
          <a:p>
            <a:pPr marL="355600" indent="-343535">
              <a:lnSpc>
                <a:spcPct val="100000"/>
              </a:lnSpc>
              <a:spcBef>
                <a:spcPts val="1360"/>
              </a:spcBef>
              <a:buClr>
                <a:srgbClr val="941300"/>
              </a:buClr>
              <a:buFont typeface="Wingdings"/>
              <a:buChar char=""/>
              <a:tabLst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Is there an in-place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quick-sort?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57410" y="758520"/>
            <a:ext cx="3548379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In-Place</a:t>
            </a:r>
            <a:r>
              <a:rPr spc="-80" dirty="0"/>
              <a:t> </a:t>
            </a:r>
            <a:r>
              <a:rPr spc="-5" dirty="0"/>
              <a:t>Quick-Sort</a:t>
            </a:r>
          </a:p>
        </p:txBody>
      </p:sp>
      <p:sp>
        <p:nvSpPr>
          <p:cNvPr id="4" name="object 4"/>
          <p:cNvSpPr/>
          <p:nvPr/>
        </p:nvSpPr>
        <p:spPr>
          <a:xfrm>
            <a:off x="3113877" y="3520272"/>
            <a:ext cx="2830195" cy="1985645"/>
          </a:xfrm>
          <a:custGeom>
            <a:avLst/>
            <a:gdLst/>
            <a:ahLst/>
            <a:cxnLst/>
            <a:rect l="l" t="t" r="r" b="b"/>
            <a:pathLst>
              <a:path w="2830195" h="1985645">
                <a:moveTo>
                  <a:pt x="537360" y="348452"/>
                </a:moveTo>
                <a:lnTo>
                  <a:pt x="498790" y="376847"/>
                </a:lnTo>
                <a:lnTo>
                  <a:pt x="459502" y="408449"/>
                </a:lnTo>
                <a:lnTo>
                  <a:pt x="419823" y="442895"/>
                </a:lnTo>
                <a:lnTo>
                  <a:pt x="380083" y="479820"/>
                </a:lnTo>
                <a:lnTo>
                  <a:pt x="340609" y="518860"/>
                </a:lnTo>
                <a:lnTo>
                  <a:pt x="301730" y="559649"/>
                </a:lnTo>
                <a:lnTo>
                  <a:pt x="263775" y="601825"/>
                </a:lnTo>
                <a:lnTo>
                  <a:pt x="227073" y="645022"/>
                </a:lnTo>
                <a:lnTo>
                  <a:pt x="191952" y="688876"/>
                </a:lnTo>
                <a:lnTo>
                  <a:pt x="158741" y="733023"/>
                </a:lnTo>
                <a:lnTo>
                  <a:pt x="127768" y="777099"/>
                </a:lnTo>
                <a:lnTo>
                  <a:pt x="99362" y="820739"/>
                </a:lnTo>
                <a:lnTo>
                  <a:pt x="73852" y="863579"/>
                </a:lnTo>
                <a:lnTo>
                  <a:pt x="51565" y="905254"/>
                </a:lnTo>
                <a:lnTo>
                  <a:pt x="32832" y="945401"/>
                </a:lnTo>
                <a:lnTo>
                  <a:pt x="17980" y="983655"/>
                </a:lnTo>
                <a:lnTo>
                  <a:pt x="1235" y="1053025"/>
                </a:lnTo>
                <a:lnTo>
                  <a:pt x="0" y="1083414"/>
                </a:lnTo>
                <a:lnTo>
                  <a:pt x="3960" y="1110452"/>
                </a:lnTo>
                <a:lnTo>
                  <a:pt x="33322" y="1156962"/>
                </a:lnTo>
                <a:lnTo>
                  <a:pt x="89625" y="1191986"/>
                </a:lnTo>
                <a:lnTo>
                  <a:pt x="126140" y="1206020"/>
                </a:lnTo>
                <a:lnTo>
                  <a:pt x="167302" y="1218177"/>
                </a:lnTo>
                <a:lnTo>
                  <a:pt x="212417" y="1228791"/>
                </a:lnTo>
                <a:lnTo>
                  <a:pt x="260789" y="1238192"/>
                </a:lnTo>
                <a:lnTo>
                  <a:pt x="311721" y="1246713"/>
                </a:lnTo>
                <a:lnTo>
                  <a:pt x="364518" y="1254685"/>
                </a:lnTo>
                <a:lnTo>
                  <a:pt x="418484" y="1262441"/>
                </a:lnTo>
                <a:lnTo>
                  <a:pt x="472924" y="1270312"/>
                </a:lnTo>
                <a:lnTo>
                  <a:pt x="527142" y="1278630"/>
                </a:lnTo>
                <a:lnTo>
                  <a:pt x="580442" y="1287727"/>
                </a:lnTo>
                <a:lnTo>
                  <a:pt x="632128" y="1297935"/>
                </a:lnTo>
                <a:lnTo>
                  <a:pt x="681505" y="1309585"/>
                </a:lnTo>
                <a:lnTo>
                  <a:pt x="727877" y="1323011"/>
                </a:lnTo>
                <a:lnTo>
                  <a:pt x="770548" y="1338543"/>
                </a:lnTo>
                <a:lnTo>
                  <a:pt x="808822" y="1356514"/>
                </a:lnTo>
                <a:lnTo>
                  <a:pt x="852984" y="1382856"/>
                </a:lnTo>
                <a:lnTo>
                  <a:pt x="894865" y="1412604"/>
                </a:lnTo>
                <a:lnTo>
                  <a:pt x="934768" y="1445185"/>
                </a:lnTo>
                <a:lnTo>
                  <a:pt x="972994" y="1480028"/>
                </a:lnTo>
                <a:lnTo>
                  <a:pt x="1009847" y="1516558"/>
                </a:lnTo>
                <a:lnTo>
                  <a:pt x="1045626" y="1554202"/>
                </a:lnTo>
                <a:lnTo>
                  <a:pt x="1080635" y="1592389"/>
                </a:lnTo>
                <a:lnTo>
                  <a:pt x="1115176" y="1630544"/>
                </a:lnTo>
                <a:lnTo>
                  <a:pt x="1149550" y="1668096"/>
                </a:lnTo>
                <a:lnTo>
                  <a:pt x="1184060" y="1704470"/>
                </a:lnTo>
                <a:lnTo>
                  <a:pt x="1219007" y="1739095"/>
                </a:lnTo>
                <a:lnTo>
                  <a:pt x="1254694" y="1771398"/>
                </a:lnTo>
                <a:lnTo>
                  <a:pt x="1291422" y="1800804"/>
                </a:lnTo>
                <a:lnTo>
                  <a:pt x="1329493" y="1826742"/>
                </a:lnTo>
                <a:lnTo>
                  <a:pt x="1369210" y="1848639"/>
                </a:lnTo>
                <a:lnTo>
                  <a:pt x="1412859" y="1869612"/>
                </a:lnTo>
                <a:lnTo>
                  <a:pt x="1456763" y="1890071"/>
                </a:lnTo>
                <a:lnTo>
                  <a:pt x="1500978" y="1909600"/>
                </a:lnTo>
                <a:lnTo>
                  <a:pt x="1545565" y="1927783"/>
                </a:lnTo>
                <a:lnTo>
                  <a:pt x="1590583" y="1944201"/>
                </a:lnTo>
                <a:lnTo>
                  <a:pt x="1636090" y="1958440"/>
                </a:lnTo>
                <a:lnTo>
                  <a:pt x="1682145" y="1970083"/>
                </a:lnTo>
                <a:lnTo>
                  <a:pt x="1728808" y="1978712"/>
                </a:lnTo>
                <a:lnTo>
                  <a:pt x="1776138" y="1983912"/>
                </a:lnTo>
                <a:lnTo>
                  <a:pt x="1824193" y="1985266"/>
                </a:lnTo>
                <a:lnTo>
                  <a:pt x="1873032" y="1982357"/>
                </a:lnTo>
                <a:lnTo>
                  <a:pt x="1922715" y="1974769"/>
                </a:lnTo>
                <a:lnTo>
                  <a:pt x="1973300" y="1962085"/>
                </a:lnTo>
                <a:lnTo>
                  <a:pt x="2024847" y="1943889"/>
                </a:lnTo>
                <a:lnTo>
                  <a:pt x="2090158" y="1917097"/>
                </a:lnTo>
                <a:lnTo>
                  <a:pt x="2127434" y="1901392"/>
                </a:lnTo>
                <a:lnTo>
                  <a:pt x="2167220" y="1884209"/>
                </a:lnTo>
                <a:lnTo>
                  <a:pt x="2209086" y="1865594"/>
                </a:lnTo>
                <a:lnTo>
                  <a:pt x="2252604" y="1845591"/>
                </a:lnTo>
                <a:lnTo>
                  <a:pt x="2297345" y="1824247"/>
                </a:lnTo>
                <a:lnTo>
                  <a:pt x="2342882" y="1801608"/>
                </a:lnTo>
                <a:lnTo>
                  <a:pt x="2388785" y="1777720"/>
                </a:lnTo>
                <a:lnTo>
                  <a:pt x="2434625" y="1752627"/>
                </a:lnTo>
                <a:lnTo>
                  <a:pt x="2479975" y="1726376"/>
                </a:lnTo>
                <a:lnTo>
                  <a:pt x="2524406" y="1699013"/>
                </a:lnTo>
                <a:lnTo>
                  <a:pt x="2567488" y="1670582"/>
                </a:lnTo>
                <a:lnTo>
                  <a:pt x="2608795" y="1641131"/>
                </a:lnTo>
                <a:lnTo>
                  <a:pt x="2647896" y="1610705"/>
                </a:lnTo>
                <a:lnTo>
                  <a:pt x="2684364" y="1579348"/>
                </a:lnTo>
                <a:lnTo>
                  <a:pt x="2717770" y="1547108"/>
                </a:lnTo>
                <a:lnTo>
                  <a:pt x="2747686" y="1514030"/>
                </a:lnTo>
                <a:lnTo>
                  <a:pt x="2773682" y="1480159"/>
                </a:lnTo>
                <a:lnTo>
                  <a:pt x="2795331" y="1445541"/>
                </a:lnTo>
                <a:lnTo>
                  <a:pt x="2812203" y="1410222"/>
                </a:lnTo>
                <a:lnTo>
                  <a:pt x="2829905" y="1337665"/>
                </a:lnTo>
                <a:lnTo>
                  <a:pt x="2829877" y="1300517"/>
                </a:lnTo>
                <a:lnTo>
                  <a:pt x="2823360" y="1262852"/>
                </a:lnTo>
                <a:lnTo>
                  <a:pt x="2803595" y="1207973"/>
                </a:lnTo>
                <a:lnTo>
                  <a:pt x="2771831" y="1146448"/>
                </a:lnTo>
                <a:lnTo>
                  <a:pt x="2751805" y="1113499"/>
                </a:lnTo>
                <a:lnTo>
                  <a:pt x="2729206" y="1079256"/>
                </a:lnTo>
                <a:lnTo>
                  <a:pt x="2704176" y="1043841"/>
                </a:lnTo>
                <a:lnTo>
                  <a:pt x="2676857" y="1007377"/>
                </a:lnTo>
                <a:lnTo>
                  <a:pt x="2647391" y="969986"/>
                </a:lnTo>
                <a:lnTo>
                  <a:pt x="2615921" y="931789"/>
                </a:lnTo>
                <a:lnTo>
                  <a:pt x="2582588" y="892911"/>
                </a:lnTo>
                <a:lnTo>
                  <a:pt x="2547535" y="853473"/>
                </a:lnTo>
                <a:lnTo>
                  <a:pt x="2510904" y="813598"/>
                </a:lnTo>
                <a:lnTo>
                  <a:pt x="2472837" y="773407"/>
                </a:lnTo>
                <a:lnTo>
                  <a:pt x="2433476" y="733024"/>
                </a:lnTo>
                <a:lnTo>
                  <a:pt x="2392964" y="692571"/>
                </a:lnTo>
                <a:lnTo>
                  <a:pt x="2351442" y="652170"/>
                </a:lnTo>
                <a:lnTo>
                  <a:pt x="2309054" y="611944"/>
                </a:lnTo>
                <a:lnTo>
                  <a:pt x="2265940" y="572015"/>
                </a:lnTo>
                <a:lnTo>
                  <a:pt x="2222243" y="532505"/>
                </a:lnTo>
                <a:lnTo>
                  <a:pt x="2178105" y="493537"/>
                </a:lnTo>
                <a:lnTo>
                  <a:pt x="2133669" y="455234"/>
                </a:lnTo>
                <a:lnTo>
                  <a:pt x="2089076" y="417718"/>
                </a:lnTo>
                <a:lnTo>
                  <a:pt x="2044469" y="381110"/>
                </a:lnTo>
                <a:lnTo>
                  <a:pt x="1999989" y="345535"/>
                </a:lnTo>
                <a:lnTo>
                  <a:pt x="1955780" y="311113"/>
                </a:lnTo>
                <a:lnTo>
                  <a:pt x="1911983" y="277968"/>
                </a:lnTo>
                <a:lnTo>
                  <a:pt x="1868741" y="246221"/>
                </a:lnTo>
                <a:lnTo>
                  <a:pt x="1826195" y="215996"/>
                </a:lnTo>
                <a:lnTo>
                  <a:pt x="1784487" y="187415"/>
                </a:lnTo>
                <a:lnTo>
                  <a:pt x="1743760" y="160600"/>
                </a:lnTo>
                <a:lnTo>
                  <a:pt x="1704157" y="135673"/>
                </a:lnTo>
                <a:lnTo>
                  <a:pt x="1665818" y="112757"/>
                </a:lnTo>
                <a:lnTo>
                  <a:pt x="1628887" y="91975"/>
                </a:lnTo>
                <a:lnTo>
                  <a:pt x="1593506" y="73448"/>
                </a:lnTo>
                <a:lnTo>
                  <a:pt x="1527960" y="43652"/>
                </a:lnTo>
                <a:lnTo>
                  <a:pt x="1478414" y="26178"/>
                </a:lnTo>
                <a:lnTo>
                  <a:pt x="1429194" y="13339"/>
                </a:lnTo>
                <a:lnTo>
                  <a:pt x="1380338" y="4872"/>
                </a:lnTo>
                <a:lnTo>
                  <a:pt x="1331882" y="513"/>
                </a:lnTo>
                <a:lnTo>
                  <a:pt x="1283865" y="0"/>
                </a:lnTo>
                <a:lnTo>
                  <a:pt x="1236324" y="3068"/>
                </a:lnTo>
                <a:lnTo>
                  <a:pt x="1189296" y="9456"/>
                </a:lnTo>
                <a:lnTo>
                  <a:pt x="1142820" y="18901"/>
                </a:lnTo>
                <a:lnTo>
                  <a:pt x="1096932" y="31138"/>
                </a:lnTo>
                <a:lnTo>
                  <a:pt x="1051670" y="45906"/>
                </a:lnTo>
                <a:lnTo>
                  <a:pt x="1007073" y="62941"/>
                </a:lnTo>
                <a:lnTo>
                  <a:pt x="963176" y="81980"/>
                </a:lnTo>
                <a:lnTo>
                  <a:pt x="920019" y="102760"/>
                </a:lnTo>
                <a:lnTo>
                  <a:pt x="877639" y="125018"/>
                </a:lnTo>
                <a:lnTo>
                  <a:pt x="836072" y="148491"/>
                </a:lnTo>
                <a:lnTo>
                  <a:pt x="795357" y="172917"/>
                </a:lnTo>
                <a:lnTo>
                  <a:pt x="755532" y="198031"/>
                </a:lnTo>
                <a:lnTo>
                  <a:pt x="716633" y="223570"/>
                </a:lnTo>
                <a:lnTo>
                  <a:pt x="678699" y="249273"/>
                </a:lnTo>
                <a:lnTo>
                  <a:pt x="641767" y="274876"/>
                </a:lnTo>
                <a:lnTo>
                  <a:pt x="605875" y="300115"/>
                </a:lnTo>
                <a:lnTo>
                  <a:pt x="571060" y="324728"/>
                </a:lnTo>
                <a:lnTo>
                  <a:pt x="537360" y="348452"/>
                </a:lnTo>
                <a:close/>
              </a:path>
            </a:pathLst>
          </a:custGeom>
          <a:ln w="38100">
            <a:solidFill>
              <a:srgbClr val="0E2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853940" y="3977957"/>
            <a:ext cx="471170" cy="132715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700"/>
              </a:spcBef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14</a:t>
            </a:r>
            <a:endParaRPr sz="2000">
              <a:latin typeface="Tahoma"/>
              <a:cs typeface="Tahoma"/>
            </a:endParaRPr>
          </a:p>
          <a:p>
            <a:pPr marL="180975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30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50"/>
              </a:spcBef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79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87340" y="4663757"/>
            <a:ext cx="3028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23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14090" y="3852532"/>
            <a:ext cx="1376045" cy="114808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85750">
              <a:lnSpc>
                <a:spcPct val="100000"/>
              </a:lnSpc>
              <a:spcBef>
                <a:spcPts val="535"/>
              </a:spcBef>
              <a:tabLst>
                <a:tab pos="834390" algn="l"/>
              </a:tabLst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88	</a:t>
            </a:r>
            <a:r>
              <a:rPr sz="3000" baseline="1388" dirty="0">
                <a:solidFill>
                  <a:srgbClr val="37D142"/>
                </a:solidFill>
                <a:latin typeface="Tahoma"/>
                <a:cs typeface="Tahoma"/>
              </a:rPr>
              <a:t>52</a:t>
            </a:r>
            <a:endParaRPr sz="3000" baseline="1388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440"/>
              </a:spcBef>
              <a:tabLst>
                <a:tab pos="834390" algn="l"/>
              </a:tabLst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31</a:t>
            </a:r>
            <a:r>
              <a:rPr sz="2000" spc="-235" dirty="0">
                <a:solidFill>
                  <a:srgbClr val="37D142"/>
                </a:solidFill>
                <a:latin typeface="Tahoma"/>
                <a:cs typeface="Tahoma"/>
              </a:rPr>
              <a:t> </a:t>
            </a:r>
            <a:r>
              <a:rPr sz="3000" baseline="-36111" dirty="0">
                <a:solidFill>
                  <a:srgbClr val="37D142"/>
                </a:solidFill>
                <a:latin typeface="Tahoma"/>
                <a:cs typeface="Tahoma"/>
              </a:rPr>
              <a:t>25	</a:t>
            </a:r>
            <a:r>
              <a:rPr sz="3000" baseline="-19444" dirty="0">
                <a:solidFill>
                  <a:srgbClr val="37D142"/>
                </a:solidFill>
                <a:latin typeface="Tahoma"/>
                <a:cs typeface="Tahoma"/>
              </a:rPr>
              <a:t>98</a:t>
            </a:r>
            <a:endParaRPr sz="3000" baseline="-19444">
              <a:latin typeface="Tahoma"/>
              <a:cs typeface="Tahoma"/>
            </a:endParaRPr>
          </a:p>
          <a:p>
            <a:pPr marR="43180" algn="r">
              <a:lnSpc>
                <a:spcPct val="100000"/>
              </a:lnSpc>
              <a:spcBef>
                <a:spcPts val="760"/>
              </a:spcBef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62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667000" y="3886200"/>
            <a:ext cx="4451350" cy="3024505"/>
            <a:chOff x="2667000" y="3886200"/>
            <a:chExt cx="4451350" cy="3024505"/>
          </a:xfrm>
        </p:grpSpPr>
        <p:sp>
          <p:nvSpPr>
            <p:cNvPr id="9" name="object 9"/>
            <p:cNvSpPr/>
            <p:nvPr/>
          </p:nvSpPr>
          <p:spPr>
            <a:xfrm>
              <a:off x="2748749" y="3886200"/>
              <a:ext cx="227088" cy="19081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67000" y="4098607"/>
              <a:ext cx="457200" cy="702310"/>
            </a:xfrm>
            <a:custGeom>
              <a:avLst/>
              <a:gdLst/>
              <a:ahLst/>
              <a:cxnLst/>
              <a:rect l="l" t="t" r="r" b="b"/>
              <a:pathLst>
                <a:path w="457200" h="702310">
                  <a:moveTo>
                    <a:pt x="457200" y="136753"/>
                  </a:moveTo>
                  <a:lnTo>
                    <a:pt x="454418" y="122656"/>
                  </a:lnTo>
                  <a:lnTo>
                    <a:pt x="426656" y="82257"/>
                  </a:lnTo>
                  <a:lnTo>
                    <a:pt x="423887" y="79679"/>
                  </a:lnTo>
                  <a:lnTo>
                    <a:pt x="423887" y="141439"/>
                  </a:lnTo>
                  <a:lnTo>
                    <a:pt x="415556" y="156006"/>
                  </a:lnTo>
                  <a:lnTo>
                    <a:pt x="381685" y="172440"/>
                  </a:lnTo>
                  <a:lnTo>
                    <a:pt x="342265" y="181838"/>
                  </a:lnTo>
                  <a:lnTo>
                    <a:pt x="319811" y="189623"/>
                  </a:lnTo>
                  <a:lnTo>
                    <a:pt x="305612" y="145046"/>
                  </a:lnTo>
                  <a:lnTo>
                    <a:pt x="302844" y="99974"/>
                  </a:lnTo>
                  <a:lnTo>
                    <a:pt x="286613" y="44030"/>
                  </a:lnTo>
                  <a:lnTo>
                    <a:pt x="361696" y="63004"/>
                  </a:lnTo>
                  <a:lnTo>
                    <a:pt x="418338" y="115608"/>
                  </a:lnTo>
                  <a:lnTo>
                    <a:pt x="423887" y="141439"/>
                  </a:lnTo>
                  <a:lnTo>
                    <a:pt x="423887" y="79679"/>
                  </a:lnTo>
                  <a:lnTo>
                    <a:pt x="373354" y="32473"/>
                  </a:lnTo>
                  <a:lnTo>
                    <a:pt x="336715" y="8509"/>
                  </a:lnTo>
                  <a:lnTo>
                    <a:pt x="294513" y="6159"/>
                  </a:lnTo>
                  <a:lnTo>
                    <a:pt x="274523" y="13208"/>
                  </a:lnTo>
                  <a:lnTo>
                    <a:pt x="274523" y="24333"/>
                  </a:lnTo>
                  <a:lnTo>
                    <a:pt x="266306" y="12179"/>
                  </a:lnTo>
                  <a:lnTo>
                    <a:pt x="223672" y="444"/>
                  </a:lnTo>
                  <a:lnTo>
                    <a:pt x="181597" y="5143"/>
                  </a:lnTo>
                  <a:lnTo>
                    <a:pt x="180809" y="6400"/>
                  </a:lnTo>
                  <a:lnTo>
                    <a:pt x="162687" y="0"/>
                  </a:lnTo>
                  <a:lnTo>
                    <a:pt x="120484" y="2349"/>
                  </a:lnTo>
                  <a:lnTo>
                    <a:pt x="83845" y="26301"/>
                  </a:lnTo>
                  <a:lnTo>
                    <a:pt x="30543" y="76098"/>
                  </a:lnTo>
                  <a:lnTo>
                    <a:pt x="2781" y="116497"/>
                  </a:lnTo>
                  <a:lnTo>
                    <a:pt x="0" y="130581"/>
                  </a:lnTo>
                  <a:lnTo>
                    <a:pt x="13881" y="156895"/>
                  </a:lnTo>
                  <a:lnTo>
                    <a:pt x="44424" y="168630"/>
                  </a:lnTo>
                  <a:lnTo>
                    <a:pt x="83845" y="182727"/>
                  </a:lnTo>
                  <a:lnTo>
                    <a:pt x="114935" y="189776"/>
                  </a:lnTo>
                  <a:lnTo>
                    <a:pt x="128816" y="201980"/>
                  </a:lnTo>
                  <a:lnTo>
                    <a:pt x="120484" y="218427"/>
                  </a:lnTo>
                  <a:lnTo>
                    <a:pt x="98285" y="237680"/>
                  </a:lnTo>
                  <a:lnTo>
                    <a:pt x="69964" y="240030"/>
                  </a:lnTo>
                  <a:lnTo>
                    <a:pt x="50533" y="232524"/>
                  </a:lnTo>
                  <a:lnTo>
                    <a:pt x="38862" y="240030"/>
                  </a:lnTo>
                  <a:lnTo>
                    <a:pt x="41643" y="249428"/>
                  </a:lnTo>
                  <a:lnTo>
                    <a:pt x="64401" y="256476"/>
                  </a:lnTo>
                  <a:lnTo>
                    <a:pt x="98285" y="256476"/>
                  </a:lnTo>
                  <a:lnTo>
                    <a:pt x="128816" y="249428"/>
                  </a:lnTo>
                  <a:lnTo>
                    <a:pt x="146024" y="240030"/>
                  </a:lnTo>
                  <a:lnTo>
                    <a:pt x="157137" y="223126"/>
                  </a:lnTo>
                  <a:lnTo>
                    <a:pt x="162687" y="204330"/>
                  </a:lnTo>
                  <a:lnTo>
                    <a:pt x="148805" y="187426"/>
                  </a:lnTo>
                  <a:lnTo>
                    <a:pt x="114935" y="175679"/>
                  </a:lnTo>
                  <a:lnTo>
                    <a:pt x="75514" y="166281"/>
                  </a:lnTo>
                  <a:lnTo>
                    <a:pt x="41643" y="149847"/>
                  </a:lnTo>
                  <a:lnTo>
                    <a:pt x="33312" y="135280"/>
                  </a:lnTo>
                  <a:lnTo>
                    <a:pt x="38862" y="109448"/>
                  </a:lnTo>
                  <a:lnTo>
                    <a:pt x="64401" y="76098"/>
                  </a:lnTo>
                  <a:lnTo>
                    <a:pt x="95504" y="56845"/>
                  </a:lnTo>
                  <a:lnTo>
                    <a:pt x="143256" y="42748"/>
                  </a:lnTo>
                  <a:lnTo>
                    <a:pt x="162445" y="39319"/>
                  </a:lnTo>
                  <a:lnTo>
                    <a:pt x="164985" y="74155"/>
                  </a:lnTo>
                  <a:lnTo>
                    <a:pt x="176060" y="135661"/>
                  </a:lnTo>
                  <a:lnTo>
                    <a:pt x="176060" y="190119"/>
                  </a:lnTo>
                  <a:lnTo>
                    <a:pt x="162217" y="237528"/>
                  </a:lnTo>
                  <a:lnTo>
                    <a:pt x="153911" y="263829"/>
                  </a:lnTo>
                  <a:lnTo>
                    <a:pt x="159448" y="287769"/>
                  </a:lnTo>
                  <a:lnTo>
                    <a:pt x="160502" y="288442"/>
                  </a:lnTo>
                  <a:lnTo>
                    <a:pt x="168033" y="406285"/>
                  </a:lnTo>
                  <a:lnTo>
                    <a:pt x="168033" y="437324"/>
                  </a:lnTo>
                  <a:lnTo>
                    <a:pt x="156908" y="494677"/>
                  </a:lnTo>
                  <a:lnTo>
                    <a:pt x="154127" y="561428"/>
                  </a:lnTo>
                  <a:lnTo>
                    <a:pt x="159689" y="594804"/>
                  </a:lnTo>
                  <a:lnTo>
                    <a:pt x="154127" y="613613"/>
                  </a:lnTo>
                  <a:lnTo>
                    <a:pt x="114642" y="642289"/>
                  </a:lnTo>
                  <a:lnTo>
                    <a:pt x="97396" y="678014"/>
                  </a:lnTo>
                  <a:lnTo>
                    <a:pt x="100736" y="689775"/>
                  </a:lnTo>
                  <a:lnTo>
                    <a:pt x="131330" y="701992"/>
                  </a:lnTo>
                  <a:lnTo>
                    <a:pt x="139661" y="696823"/>
                  </a:lnTo>
                  <a:lnTo>
                    <a:pt x="143002" y="675665"/>
                  </a:lnTo>
                  <a:lnTo>
                    <a:pt x="151345" y="644639"/>
                  </a:lnTo>
                  <a:lnTo>
                    <a:pt x="165252" y="630529"/>
                  </a:lnTo>
                  <a:lnTo>
                    <a:pt x="181940" y="621131"/>
                  </a:lnTo>
                  <a:lnTo>
                    <a:pt x="196392" y="608914"/>
                  </a:lnTo>
                  <a:lnTo>
                    <a:pt x="199174" y="599503"/>
                  </a:lnTo>
                  <a:lnTo>
                    <a:pt x="190830" y="587756"/>
                  </a:lnTo>
                  <a:lnTo>
                    <a:pt x="181940" y="580707"/>
                  </a:lnTo>
                  <a:lnTo>
                    <a:pt x="176377" y="551561"/>
                  </a:lnTo>
                  <a:lnTo>
                    <a:pt x="181940" y="491858"/>
                  </a:lnTo>
                  <a:lnTo>
                    <a:pt x="201955" y="423214"/>
                  </a:lnTo>
                  <a:lnTo>
                    <a:pt x="221424" y="368211"/>
                  </a:lnTo>
                  <a:lnTo>
                    <a:pt x="226682" y="315937"/>
                  </a:lnTo>
                  <a:lnTo>
                    <a:pt x="229209" y="316407"/>
                  </a:lnTo>
                  <a:lnTo>
                    <a:pt x="247942" y="316407"/>
                  </a:lnTo>
                  <a:lnTo>
                    <a:pt x="275793" y="394576"/>
                  </a:lnTo>
                  <a:lnTo>
                    <a:pt x="292430" y="449110"/>
                  </a:lnTo>
                  <a:lnTo>
                    <a:pt x="297980" y="496608"/>
                  </a:lnTo>
                  <a:lnTo>
                    <a:pt x="297980" y="534682"/>
                  </a:lnTo>
                  <a:lnTo>
                    <a:pt x="289661" y="563841"/>
                  </a:lnTo>
                  <a:lnTo>
                    <a:pt x="281343" y="573239"/>
                  </a:lnTo>
                  <a:lnTo>
                    <a:pt x="281343" y="582650"/>
                  </a:lnTo>
                  <a:lnTo>
                    <a:pt x="292430" y="597230"/>
                  </a:lnTo>
                  <a:lnTo>
                    <a:pt x="311835" y="601929"/>
                  </a:lnTo>
                  <a:lnTo>
                    <a:pt x="342900" y="601929"/>
                  </a:lnTo>
                  <a:lnTo>
                    <a:pt x="398907" y="613676"/>
                  </a:lnTo>
                  <a:lnTo>
                    <a:pt x="415544" y="630605"/>
                  </a:lnTo>
                  <a:lnTo>
                    <a:pt x="441058" y="620737"/>
                  </a:lnTo>
                  <a:lnTo>
                    <a:pt x="452145" y="597230"/>
                  </a:lnTo>
                  <a:lnTo>
                    <a:pt x="441058" y="587819"/>
                  </a:lnTo>
                  <a:lnTo>
                    <a:pt x="393357" y="582650"/>
                  </a:lnTo>
                  <a:lnTo>
                    <a:pt x="340118" y="582650"/>
                  </a:lnTo>
                  <a:lnTo>
                    <a:pt x="317385" y="580301"/>
                  </a:lnTo>
                  <a:lnTo>
                    <a:pt x="311835" y="566191"/>
                  </a:lnTo>
                  <a:lnTo>
                    <a:pt x="317385" y="539394"/>
                  </a:lnTo>
                  <a:lnTo>
                    <a:pt x="320713" y="494245"/>
                  </a:lnTo>
                  <a:lnTo>
                    <a:pt x="306298" y="378117"/>
                  </a:lnTo>
                  <a:lnTo>
                    <a:pt x="309067" y="320751"/>
                  </a:lnTo>
                  <a:lnTo>
                    <a:pt x="309067" y="301942"/>
                  </a:lnTo>
                  <a:lnTo>
                    <a:pt x="305549" y="277520"/>
                  </a:lnTo>
                  <a:lnTo>
                    <a:pt x="320116" y="251079"/>
                  </a:lnTo>
                  <a:lnTo>
                    <a:pt x="328383" y="255587"/>
                  </a:lnTo>
                  <a:lnTo>
                    <a:pt x="358927" y="262636"/>
                  </a:lnTo>
                  <a:lnTo>
                    <a:pt x="392785" y="262636"/>
                  </a:lnTo>
                  <a:lnTo>
                    <a:pt x="415556" y="255587"/>
                  </a:lnTo>
                  <a:lnTo>
                    <a:pt x="418338" y="246189"/>
                  </a:lnTo>
                  <a:lnTo>
                    <a:pt x="406679" y="238683"/>
                  </a:lnTo>
                  <a:lnTo>
                    <a:pt x="387235" y="246189"/>
                  </a:lnTo>
                  <a:lnTo>
                    <a:pt x="358927" y="243840"/>
                  </a:lnTo>
                  <a:lnTo>
                    <a:pt x="336715" y="224586"/>
                  </a:lnTo>
                  <a:lnTo>
                    <a:pt x="328383" y="208140"/>
                  </a:lnTo>
                  <a:lnTo>
                    <a:pt x="342265" y="195935"/>
                  </a:lnTo>
                  <a:lnTo>
                    <a:pt x="373354" y="188887"/>
                  </a:lnTo>
                  <a:lnTo>
                    <a:pt x="412775" y="174790"/>
                  </a:lnTo>
                  <a:lnTo>
                    <a:pt x="443318" y="163055"/>
                  </a:lnTo>
                  <a:lnTo>
                    <a:pt x="457200" y="136753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548366" y="5533541"/>
              <a:ext cx="1550670" cy="1358265"/>
            </a:xfrm>
            <a:custGeom>
              <a:avLst/>
              <a:gdLst/>
              <a:ahLst/>
              <a:cxnLst/>
              <a:rect l="l" t="t" r="r" b="b"/>
              <a:pathLst>
                <a:path w="1550670" h="1358265">
                  <a:moveTo>
                    <a:pt x="126933" y="140170"/>
                  </a:moveTo>
                  <a:lnTo>
                    <a:pt x="96038" y="175457"/>
                  </a:lnTo>
                  <a:lnTo>
                    <a:pt x="69881" y="215667"/>
                  </a:lnTo>
                  <a:lnTo>
                    <a:pt x="48239" y="259741"/>
                  </a:lnTo>
                  <a:lnTo>
                    <a:pt x="30891" y="306621"/>
                  </a:lnTo>
                  <a:lnTo>
                    <a:pt x="17615" y="355246"/>
                  </a:lnTo>
                  <a:lnTo>
                    <a:pt x="8189" y="404559"/>
                  </a:lnTo>
                  <a:lnTo>
                    <a:pt x="2391" y="453500"/>
                  </a:lnTo>
                  <a:lnTo>
                    <a:pt x="0" y="501009"/>
                  </a:lnTo>
                  <a:lnTo>
                    <a:pt x="793" y="546028"/>
                  </a:lnTo>
                  <a:lnTo>
                    <a:pt x="4549" y="587497"/>
                  </a:lnTo>
                  <a:lnTo>
                    <a:pt x="24867" y="663085"/>
                  </a:lnTo>
                  <a:lnTo>
                    <a:pt x="46358" y="696521"/>
                  </a:lnTo>
                  <a:lnTo>
                    <a:pt x="74134" y="725958"/>
                  </a:lnTo>
                  <a:lnTo>
                    <a:pt x="106809" y="752691"/>
                  </a:lnTo>
                  <a:lnTo>
                    <a:pt x="142999" y="778012"/>
                  </a:lnTo>
                  <a:lnTo>
                    <a:pt x="181319" y="803216"/>
                  </a:lnTo>
                  <a:lnTo>
                    <a:pt x="220384" y="829596"/>
                  </a:lnTo>
                  <a:lnTo>
                    <a:pt x="258808" y="858446"/>
                  </a:lnTo>
                  <a:lnTo>
                    <a:pt x="295208" y="891058"/>
                  </a:lnTo>
                  <a:lnTo>
                    <a:pt x="327016" y="924770"/>
                  </a:lnTo>
                  <a:lnTo>
                    <a:pt x="359559" y="962254"/>
                  </a:lnTo>
                  <a:lnTo>
                    <a:pt x="392806" y="1002329"/>
                  </a:lnTo>
                  <a:lnTo>
                    <a:pt x="426729" y="1043814"/>
                  </a:lnTo>
                  <a:lnTo>
                    <a:pt x="461300" y="1085527"/>
                  </a:lnTo>
                  <a:lnTo>
                    <a:pt x="496490" y="1126287"/>
                  </a:lnTo>
                  <a:lnTo>
                    <a:pt x="532271" y="1164914"/>
                  </a:lnTo>
                  <a:lnTo>
                    <a:pt x="568613" y="1200227"/>
                  </a:lnTo>
                  <a:lnTo>
                    <a:pt x="605489" y="1231043"/>
                  </a:lnTo>
                  <a:lnTo>
                    <a:pt x="642870" y="1256183"/>
                  </a:lnTo>
                  <a:lnTo>
                    <a:pt x="685345" y="1280270"/>
                  </a:lnTo>
                  <a:lnTo>
                    <a:pt x="728199" y="1303063"/>
                  </a:lnTo>
                  <a:lnTo>
                    <a:pt x="771575" y="1323387"/>
                  </a:lnTo>
                  <a:lnTo>
                    <a:pt x="815618" y="1340066"/>
                  </a:lnTo>
                  <a:lnTo>
                    <a:pt x="860471" y="1351923"/>
                  </a:lnTo>
                  <a:lnTo>
                    <a:pt x="906278" y="1357783"/>
                  </a:lnTo>
                  <a:lnTo>
                    <a:pt x="953182" y="1356470"/>
                  </a:lnTo>
                  <a:lnTo>
                    <a:pt x="1001327" y="1346808"/>
                  </a:lnTo>
                  <a:lnTo>
                    <a:pt x="1050858" y="1327620"/>
                  </a:lnTo>
                  <a:lnTo>
                    <a:pt x="1112676" y="1296086"/>
                  </a:lnTo>
                  <a:lnTo>
                    <a:pt x="1149175" y="1276266"/>
                  </a:lnTo>
                  <a:lnTo>
                    <a:pt x="1188267" y="1253982"/>
                  </a:lnTo>
                  <a:lnTo>
                    <a:pt x="1229105" y="1229412"/>
                  </a:lnTo>
                  <a:lnTo>
                    <a:pt x="1270838" y="1202735"/>
                  </a:lnTo>
                  <a:lnTo>
                    <a:pt x="1312618" y="1174129"/>
                  </a:lnTo>
                  <a:lnTo>
                    <a:pt x="1353595" y="1143772"/>
                  </a:lnTo>
                  <a:lnTo>
                    <a:pt x="1392920" y="1111842"/>
                  </a:lnTo>
                  <a:lnTo>
                    <a:pt x="1429744" y="1078519"/>
                  </a:lnTo>
                  <a:lnTo>
                    <a:pt x="1463219" y="1043980"/>
                  </a:lnTo>
                  <a:lnTo>
                    <a:pt x="1492494" y="1008404"/>
                  </a:lnTo>
                  <a:lnTo>
                    <a:pt x="1516720" y="971969"/>
                  </a:lnTo>
                  <a:lnTo>
                    <a:pt x="1535049" y="934854"/>
                  </a:lnTo>
                  <a:lnTo>
                    <a:pt x="1546631" y="897236"/>
                  </a:lnTo>
                  <a:lnTo>
                    <a:pt x="1550617" y="859295"/>
                  </a:lnTo>
                  <a:lnTo>
                    <a:pt x="1546158" y="821208"/>
                  </a:lnTo>
                  <a:lnTo>
                    <a:pt x="1523013" y="759831"/>
                  </a:lnTo>
                  <a:lnTo>
                    <a:pt x="1504561" y="725780"/>
                  </a:lnTo>
                  <a:lnTo>
                    <a:pt x="1482001" y="689870"/>
                  </a:lnTo>
                  <a:lnTo>
                    <a:pt x="1455693" y="652387"/>
                  </a:lnTo>
                  <a:lnTo>
                    <a:pt x="1425996" y="613618"/>
                  </a:lnTo>
                  <a:lnTo>
                    <a:pt x="1393269" y="573850"/>
                  </a:lnTo>
                  <a:lnTo>
                    <a:pt x="1357872" y="533368"/>
                  </a:lnTo>
                  <a:lnTo>
                    <a:pt x="1320163" y="492459"/>
                  </a:lnTo>
                  <a:lnTo>
                    <a:pt x="1280504" y="451411"/>
                  </a:lnTo>
                  <a:lnTo>
                    <a:pt x="1239251" y="410508"/>
                  </a:lnTo>
                  <a:lnTo>
                    <a:pt x="1196766" y="370039"/>
                  </a:lnTo>
                  <a:lnTo>
                    <a:pt x="1153407" y="330289"/>
                  </a:lnTo>
                  <a:lnTo>
                    <a:pt x="1109534" y="291545"/>
                  </a:lnTo>
                  <a:lnTo>
                    <a:pt x="1065506" y="254094"/>
                  </a:lnTo>
                  <a:lnTo>
                    <a:pt x="1021682" y="218221"/>
                  </a:lnTo>
                  <a:lnTo>
                    <a:pt x="978422" y="184215"/>
                  </a:lnTo>
                  <a:lnTo>
                    <a:pt x="936085" y="152360"/>
                  </a:lnTo>
                  <a:lnTo>
                    <a:pt x="895030" y="122944"/>
                  </a:lnTo>
                  <a:lnTo>
                    <a:pt x="855617" y="96253"/>
                  </a:lnTo>
                  <a:lnTo>
                    <a:pt x="818204" y="72573"/>
                  </a:lnTo>
                  <a:lnTo>
                    <a:pt x="783153" y="52192"/>
                  </a:lnTo>
                  <a:lnTo>
                    <a:pt x="699872" y="15488"/>
                  </a:lnTo>
                  <a:lnTo>
                    <a:pt x="648614" y="4043"/>
                  </a:lnTo>
                  <a:lnTo>
                    <a:pt x="597370" y="0"/>
                  </a:lnTo>
                  <a:lnTo>
                    <a:pt x="546463" y="2294"/>
                  </a:lnTo>
                  <a:lnTo>
                    <a:pt x="496216" y="9865"/>
                  </a:lnTo>
                  <a:lnTo>
                    <a:pt x="446950" y="21649"/>
                  </a:lnTo>
                  <a:lnTo>
                    <a:pt x="398991" y="36586"/>
                  </a:lnTo>
                  <a:lnTo>
                    <a:pt x="352659" y="53612"/>
                  </a:lnTo>
                  <a:lnTo>
                    <a:pt x="308277" y="71666"/>
                  </a:lnTo>
                  <a:lnTo>
                    <a:pt x="266170" y="89685"/>
                  </a:lnTo>
                  <a:lnTo>
                    <a:pt x="226659" y="106607"/>
                  </a:lnTo>
                  <a:lnTo>
                    <a:pt x="190067" y="121370"/>
                  </a:lnTo>
                  <a:lnTo>
                    <a:pt x="156717" y="132912"/>
                  </a:lnTo>
                  <a:lnTo>
                    <a:pt x="126933" y="140170"/>
                  </a:lnTo>
                  <a:close/>
                </a:path>
              </a:pathLst>
            </a:custGeom>
            <a:ln w="38100">
              <a:solidFill>
                <a:srgbClr val="0E2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93139" y="1484706"/>
            <a:ext cx="8059420" cy="18897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55600" marR="5080" indent="-342900">
              <a:lnSpc>
                <a:spcPct val="100699"/>
              </a:lnSpc>
              <a:spcBef>
                <a:spcPts val="80"/>
              </a:spcBef>
              <a:buFont typeface="Wingdings"/>
              <a:buChar char=""/>
              <a:tabLst>
                <a:tab pos="355600" algn="l"/>
                <a:tab pos="1287145" algn="l"/>
              </a:tabLst>
            </a:pPr>
            <a:r>
              <a:rPr sz="2400" b="1" dirty="0">
                <a:solidFill>
                  <a:srgbClr val="941300"/>
                </a:solidFill>
                <a:latin typeface="Arial"/>
                <a:cs typeface="Arial"/>
              </a:rPr>
              <a:t>Note</a:t>
            </a:r>
            <a:r>
              <a:rPr sz="2400" dirty="0">
                <a:latin typeface="Arial"/>
                <a:cs typeface="Arial"/>
              </a:rPr>
              <a:t>:	</a:t>
            </a:r>
            <a:r>
              <a:rPr sz="2400" spc="-5" dirty="0">
                <a:latin typeface="Arial"/>
                <a:cs typeface="Arial"/>
              </a:rPr>
              <a:t>Use the lecture slides here instead of the textbook  implementation (Section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11.2.2)</a:t>
            </a:r>
            <a:endParaRPr sz="2400">
              <a:latin typeface="Arial"/>
              <a:cs typeface="Arial"/>
            </a:endParaRPr>
          </a:p>
          <a:p>
            <a:pPr marL="1840864" marR="2000250">
              <a:lnSpc>
                <a:spcPct val="101200"/>
              </a:lnSpc>
              <a:spcBef>
                <a:spcPts val="2095"/>
              </a:spcBef>
            </a:pPr>
            <a:r>
              <a:rPr sz="2800" spc="-5" dirty="0">
                <a:latin typeface="Arial"/>
                <a:cs typeface="Arial"/>
              </a:rPr>
              <a:t>Partition set into </a:t>
            </a:r>
            <a:r>
              <a:rPr sz="2800" b="1" dirty="0">
                <a:solidFill>
                  <a:srgbClr val="941300"/>
                </a:solidFill>
                <a:latin typeface="Arial"/>
                <a:cs typeface="Arial"/>
              </a:rPr>
              <a:t>two </a:t>
            </a:r>
            <a:r>
              <a:rPr sz="2800" spc="-10" dirty="0">
                <a:latin typeface="Arial"/>
                <a:cs typeface="Arial"/>
              </a:rPr>
              <a:t>using  </a:t>
            </a:r>
            <a:r>
              <a:rPr sz="2800" spc="-5" dirty="0">
                <a:latin typeface="Arial"/>
                <a:cs typeface="Arial"/>
              </a:rPr>
              <a:t>randomly chosen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pivot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856509" y="5653955"/>
            <a:ext cx="1646555" cy="1154430"/>
          </a:xfrm>
          <a:custGeom>
            <a:avLst/>
            <a:gdLst/>
            <a:ahLst/>
            <a:cxnLst/>
            <a:rect l="l" t="t" r="r" b="b"/>
            <a:pathLst>
              <a:path w="1646554" h="1154429">
                <a:moveTo>
                  <a:pt x="483590" y="54681"/>
                </a:moveTo>
                <a:lnTo>
                  <a:pt x="437434" y="68996"/>
                </a:lnTo>
                <a:lnTo>
                  <a:pt x="391112" y="86624"/>
                </a:lnTo>
                <a:lnTo>
                  <a:pt x="345170" y="107258"/>
                </a:lnTo>
                <a:lnTo>
                  <a:pt x="300151" y="130590"/>
                </a:lnTo>
                <a:lnTo>
                  <a:pt x="256599" y="156312"/>
                </a:lnTo>
                <a:lnTo>
                  <a:pt x="215058" y="184116"/>
                </a:lnTo>
                <a:lnTo>
                  <a:pt x="176072" y="213696"/>
                </a:lnTo>
                <a:lnTo>
                  <a:pt x="140185" y="244742"/>
                </a:lnTo>
                <a:lnTo>
                  <a:pt x="107940" y="276948"/>
                </a:lnTo>
                <a:lnTo>
                  <a:pt x="79881" y="310005"/>
                </a:lnTo>
                <a:lnTo>
                  <a:pt x="56553" y="343606"/>
                </a:lnTo>
                <a:lnTo>
                  <a:pt x="34398" y="388076"/>
                </a:lnTo>
                <a:lnTo>
                  <a:pt x="18305" y="437837"/>
                </a:lnTo>
                <a:lnTo>
                  <a:pt x="7634" y="491243"/>
                </a:lnTo>
                <a:lnTo>
                  <a:pt x="1746" y="546649"/>
                </a:lnTo>
                <a:lnTo>
                  <a:pt x="0" y="602408"/>
                </a:lnTo>
                <a:lnTo>
                  <a:pt x="1755" y="656873"/>
                </a:lnTo>
                <a:lnTo>
                  <a:pt x="6371" y="708398"/>
                </a:lnTo>
                <a:lnTo>
                  <a:pt x="13209" y="755337"/>
                </a:lnTo>
                <a:lnTo>
                  <a:pt x="21628" y="796043"/>
                </a:lnTo>
                <a:lnTo>
                  <a:pt x="36320" y="846888"/>
                </a:lnTo>
                <a:lnTo>
                  <a:pt x="55024" y="889530"/>
                </a:lnTo>
                <a:lnTo>
                  <a:pt x="80167" y="925822"/>
                </a:lnTo>
                <a:lnTo>
                  <a:pt x="114173" y="957616"/>
                </a:lnTo>
                <a:lnTo>
                  <a:pt x="159468" y="986764"/>
                </a:lnTo>
                <a:lnTo>
                  <a:pt x="218478" y="1015118"/>
                </a:lnTo>
                <a:lnTo>
                  <a:pt x="250955" y="1029276"/>
                </a:lnTo>
                <a:lnTo>
                  <a:pt x="286672" y="1044964"/>
                </a:lnTo>
                <a:lnTo>
                  <a:pt x="325371" y="1061571"/>
                </a:lnTo>
                <a:lnTo>
                  <a:pt x="366797" y="1078486"/>
                </a:lnTo>
                <a:lnTo>
                  <a:pt x="410694" y="1095097"/>
                </a:lnTo>
                <a:lnTo>
                  <a:pt x="456807" y="1110793"/>
                </a:lnTo>
                <a:lnTo>
                  <a:pt x="504879" y="1124964"/>
                </a:lnTo>
                <a:lnTo>
                  <a:pt x="554655" y="1136997"/>
                </a:lnTo>
                <a:lnTo>
                  <a:pt x="605879" y="1146281"/>
                </a:lnTo>
                <a:lnTo>
                  <a:pt x="658296" y="1152206"/>
                </a:lnTo>
                <a:lnTo>
                  <a:pt x="711648" y="1154159"/>
                </a:lnTo>
                <a:lnTo>
                  <a:pt x="765682" y="1151529"/>
                </a:lnTo>
                <a:lnTo>
                  <a:pt x="820140" y="1143706"/>
                </a:lnTo>
                <a:lnTo>
                  <a:pt x="857852" y="1135817"/>
                </a:lnTo>
                <a:lnTo>
                  <a:pt x="899617" y="1126028"/>
                </a:lnTo>
                <a:lnTo>
                  <a:pt x="944820" y="1114438"/>
                </a:lnTo>
                <a:lnTo>
                  <a:pt x="992848" y="1101148"/>
                </a:lnTo>
                <a:lnTo>
                  <a:pt x="1043085" y="1086258"/>
                </a:lnTo>
                <a:lnTo>
                  <a:pt x="1094918" y="1069868"/>
                </a:lnTo>
                <a:lnTo>
                  <a:pt x="1147731" y="1052078"/>
                </a:lnTo>
                <a:lnTo>
                  <a:pt x="1200912" y="1032987"/>
                </a:lnTo>
                <a:lnTo>
                  <a:pt x="1253845" y="1012697"/>
                </a:lnTo>
                <a:lnTo>
                  <a:pt x="1305915" y="991306"/>
                </a:lnTo>
                <a:lnTo>
                  <a:pt x="1356510" y="968915"/>
                </a:lnTo>
                <a:lnTo>
                  <a:pt x="1405013" y="945624"/>
                </a:lnTo>
                <a:lnTo>
                  <a:pt x="1450812" y="921533"/>
                </a:lnTo>
                <a:lnTo>
                  <a:pt x="1493291" y="896742"/>
                </a:lnTo>
                <a:lnTo>
                  <a:pt x="1531836" y="871351"/>
                </a:lnTo>
                <a:lnTo>
                  <a:pt x="1565834" y="845459"/>
                </a:lnTo>
                <a:lnTo>
                  <a:pt x="1594668" y="819168"/>
                </a:lnTo>
                <a:lnTo>
                  <a:pt x="1634392" y="765785"/>
                </a:lnTo>
                <a:lnTo>
                  <a:pt x="1646543" y="708987"/>
                </a:lnTo>
                <a:lnTo>
                  <a:pt x="1641888" y="676187"/>
                </a:lnTo>
                <a:lnTo>
                  <a:pt x="1613593" y="603522"/>
                </a:lnTo>
                <a:lnTo>
                  <a:pt x="1591179" y="564464"/>
                </a:lnTo>
                <a:lnTo>
                  <a:pt x="1564069" y="524129"/>
                </a:lnTo>
                <a:lnTo>
                  <a:pt x="1532876" y="482920"/>
                </a:lnTo>
                <a:lnTo>
                  <a:pt x="1498213" y="441242"/>
                </a:lnTo>
                <a:lnTo>
                  <a:pt x="1460692" y="399499"/>
                </a:lnTo>
                <a:lnTo>
                  <a:pt x="1420926" y="358095"/>
                </a:lnTo>
                <a:lnTo>
                  <a:pt x="1379526" y="317433"/>
                </a:lnTo>
                <a:lnTo>
                  <a:pt x="1337106" y="277919"/>
                </a:lnTo>
                <a:lnTo>
                  <a:pt x="1294277" y="239956"/>
                </a:lnTo>
                <a:lnTo>
                  <a:pt x="1251653" y="203948"/>
                </a:lnTo>
                <a:lnTo>
                  <a:pt x="1209845" y="170299"/>
                </a:lnTo>
                <a:lnTo>
                  <a:pt x="1169466" y="139414"/>
                </a:lnTo>
                <a:lnTo>
                  <a:pt x="1131129" y="111697"/>
                </a:lnTo>
                <a:lnTo>
                  <a:pt x="1095445" y="87551"/>
                </a:lnTo>
                <a:lnTo>
                  <a:pt x="1063028" y="67381"/>
                </a:lnTo>
                <a:lnTo>
                  <a:pt x="1014155" y="42241"/>
                </a:lnTo>
                <a:lnTo>
                  <a:pt x="964544" y="23556"/>
                </a:lnTo>
                <a:lnTo>
                  <a:pt x="914448" y="10702"/>
                </a:lnTo>
                <a:lnTo>
                  <a:pt x="864120" y="3058"/>
                </a:lnTo>
                <a:lnTo>
                  <a:pt x="813814" y="0"/>
                </a:lnTo>
                <a:lnTo>
                  <a:pt x="763784" y="904"/>
                </a:lnTo>
                <a:lnTo>
                  <a:pt x="714283" y="5150"/>
                </a:lnTo>
                <a:lnTo>
                  <a:pt x="665565" y="12112"/>
                </a:lnTo>
                <a:lnTo>
                  <a:pt x="617883" y="21170"/>
                </a:lnTo>
                <a:lnTo>
                  <a:pt x="571491" y="31699"/>
                </a:lnTo>
                <a:lnTo>
                  <a:pt x="526642" y="43077"/>
                </a:lnTo>
                <a:lnTo>
                  <a:pt x="483590" y="54681"/>
                </a:lnTo>
                <a:close/>
              </a:path>
            </a:pathLst>
          </a:custGeom>
          <a:ln w="38100">
            <a:solidFill>
              <a:srgbClr val="0E2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509327" y="5663882"/>
            <a:ext cx="3028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14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12477" y="6333807"/>
            <a:ext cx="3028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25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85527" y="6044882"/>
            <a:ext cx="66802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00"/>
              </a:lnSpc>
              <a:spcBef>
                <a:spcPts val="100"/>
              </a:spcBef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30</a:t>
            </a:r>
            <a:endParaRPr sz="2000">
              <a:latin typeface="Tahoma"/>
              <a:cs typeface="Tahoma"/>
            </a:endParaRPr>
          </a:p>
          <a:p>
            <a:pPr marL="377825">
              <a:lnSpc>
                <a:spcPts val="2100"/>
              </a:lnSpc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23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85452" y="6167107"/>
            <a:ext cx="3028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31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74677" y="5532120"/>
            <a:ext cx="480695" cy="927100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88</a:t>
            </a:r>
            <a:endParaRPr sz="2000">
              <a:latin typeface="Tahoma"/>
              <a:cs typeface="Tahoma"/>
            </a:endParaRPr>
          </a:p>
          <a:p>
            <a:pPr marL="190500">
              <a:lnSpc>
                <a:spcPct val="100000"/>
              </a:lnSpc>
              <a:spcBef>
                <a:spcPts val="1150"/>
              </a:spcBef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62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62077" y="5824220"/>
            <a:ext cx="379095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98</a:t>
            </a:r>
            <a:endParaRPr sz="2000">
              <a:latin typeface="Tahoma"/>
              <a:cs typeface="Tahoma"/>
            </a:endParaRPr>
          </a:p>
          <a:p>
            <a:pPr marL="88265">
              <a:lnSpc>
                <a:spcPct val="100000"/>
              </a:lnSpc>
              <a:spcBef>
                <a:spcPts val="1800"/>
              </a:spcBef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79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672977" y="6098844"/>
            <a:ext cx="7245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37D142"/>
                </a:solidFill>
                <a:latin typeface="Times New Roman"/>
                <a:cs typeface="Times New Roman"/>
              </a:rPr>
              <a:t>≤ </a:t>
            </a: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52</a:t>
            </a:r>
            <a:r>
              <a:rPr sz="2000" spc="-100" dirty="0">
                <a:solidFill>
                  <a:srgbClr val="37D142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7D142"/>
                </a:solidFill>
                <a:latin typeface="Times New Roman"/>
                <a:cs typeface="Times New Roman"/>
              </a:rPr>
              <a:t>≤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241787" y="3884612"/>
            <a:ext cx="457200" cy="382905"/>
          </a:xfrm>
          <a:custGeom>
            <a:avLst/>
            <a:gdLst/>
            <a:ahLst/>
            <a:cxnLst/>
            <a:rect l="l" t="t" r="r" b="b"/>
            <a:pathLst>
              <a:path w="457200" h="382904">
                <a:moveTo>
                  <a:pt x="0" y="191287"/>
                </a:moveTo>
                <a:lnTo>
                  <a:pt x="6037" y="147425"/>
                </a:lnTo>
                <a:lnTo>
                  <a:pt x="23235" y="107161"/>
                </a:lnTo>
                <a:lnTo>
                  <a:pt x="50221" y="71644"/>
                </a:lnTo>
                <a:lnTo>
                  <a:pt x="85623" y="42021"/>
                </a:lnTo>
                <a:lnTo>
                  <a:pt x="128068" y="19441"/>
                </a:lnTo>
                <a:lnTo>
                  <a:pt x="176184" y="5051"/>
                </a:lnTo>
                <a:lnTo>
                  <a:pt x="228599" y="0"/>
                </a:lnTo>
                <a:lnTo>
                  <a:pt x="281015" y="5051"/>
                </a:lnTo>
                <a:lnTo>
                  <a:pt x="329131" y="19441"/>
                </a:lnTo>
                <a:lnTo>
                  <a:pt x="371576" y="42021"/>
                </a:lnTo>
                <a:lnTo>
                  <a:pt x="406978" y="71644"/>
                </a:lnTo>
                <a:lnTo>
                  <a:pt x="433964" y="107161"/>
                </a:lnTo>
                <a:lnTo>
                  <a:pt x="451162" y="147425"/>
                </a:lnTo>
                <a:lnTo>
                  <a:pt x="457200" y="191287"/>
                </a:lnTo>
                <a:lnTo>
                  <a:pt x="451162" y="235150"/>
                </a:lnTo>
                <a:lnTo>
                  <a:pt x="433964" y="275415"/>
                </a:lnTo>
                <a:lnTo>
                  <a:pt x="406978" y="310935"/>
                </a:lnTo>
                <a:lnTo>
                  <a:pt x="371576" y="340560"/>
                </a:lnTo>
                <a:lnTo>
                  <a:pt x="329131" y="363143"/>
                </a:lnTo>
                <a:lnTo>
                  <a:pt x="281015" y="377535"/>
                </a:lnTo>
                <a:lnTo>
                  <a:pt x="228600" y="382587"/>
                </a:lnTo>
                <a:lnTo>
                  <a:pt x="176184" y="377535"/>
                </a:lnTo>
                <a:lnTo>
                  <a:pt x="128068" y="363143"/>
                </a:lnTo>
                <a:lnTo>
                  <a:pt x="85623" y="340560"/>
                </a:lnTo>
                <a:lnTo>
                  <a:pt x="50221" y="310935"/>
                </a:lnTo>
                <a:lnTo>
                  <a:pt x="23235" y="275415"/>
                </a:lnTo>
                <a:lnTo>
                  <a:pt x="6037" y="235150"/>
                </a:lnTo>
                <a:lnTo>
                  <a:pt x="0" y="191287"/>
                </a:lnTo>
                <a:close/>
              </a:path>
            </a:pathLst>
          </a:custGeom>
          <a:ln w="38100">
            <a:solidFill>
              <a:srgbClr val="D84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52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57410" y="924559"/>
            <a:ext cx="3548379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In-Place</a:t>
            </a:r>
            <a:r>
              <a:rPr spc="-80" dirty="0"/>
              <a:t> </a:t>
            </a:r>
            <a:r>
              <a:rPr spc="-5" dirty="0"/>
              <a:t>Quick-Sort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303462" y="2057400"/>
            <a:ext cx="457200" cy="914400"/>
            <a:chOff x="2303462" y="2057400"/>
            <a:chExt cx="457200" cy="914400"/>
          </a:xfrm>
        </p:grpSpPr>
        <p:sp>
          <p:nvSpPr>
            <p:cNvPr id="4" name="object 4"/>
            <p:cNvSpPr/>
            <p:nvPr/>
          </p:nvSpPr>
          <p:spPr>
            <a:xfrm>
              <a:off x="2385212" y="2057400"/>
              <a:ext cx="227088" cy="19081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303462" y="2269807"/>
              <a:ext cx="457200" cy="702310"/>
            </a:xfrm>
            <a:custGeom>
              <a:avLst/>
              <a:gdLst/>
              <a:ahLst/>
              <a:cxnLst/>
              <a:rect l="l" t="t" r="r" b="b"/>
              <a:pathLst>
                <a:path w="457200" h="702310">
                  <a:moveTo>
                    <a:pt x="457200" y="136753"/>
                  </a:moveTo>
                  <a:lnTo>
                    <a:pt x="454418" y="122656"/>
                  </a:lnTo>
                  <a:lnTo>
                    <a:pt x="426656" y="82257"/>
                  </a:lnTo>
                  <a:lnTo>
                    <a:pt x="423887" y="79679"/>
                  </a:lnTo>
                  <a:lnTo>
                    <a:pt x="423887" y="141439"/>
                  </a:lnTo>
                  <a:lnTo>
                    <a:pt x="415556" y="156006"/>
                  </a:lnTo>
                  <a:lnTo>
                    <a:pt x="381685" y="172453"/>
                  </a:lnTo>
                  <a:lnTo>
                    <a:pt x="342265" y="181838"/>
                  </a:lnTo>
                  <a:lnTo>
                    <a:pt x="319811" y="189623"/>
                  </a:lnTo>
                  <a:lnTo>
                    <a:pt x="305612" y="145046"/>
                  </a:lnTo>
                  <a:lnTo>
                    <a:pt x="302844" y="99974"/>
                  </a:lnTo>
                  <a:lnTo>
                    <a:pt x="286613" y="44030"/>
                  </a:lnTo>
                  <a:lnTo>
                    <a:pt x="361696" y="63004"/>
                  </a:lnTo>
                  <a:lnTo>
                    <a:pt x="418338" y="115608"/>
                  </a:lnTo>
                  <a:lnTo>
                    <a:pt x="423887" y="141439"/>
                  </a:lnTo>
                  <a:lnTo>
                    <a:pt x="423887" y="79679"/>
                  </a:lnTo>
                  <a:lnTo>
                    <a:pt x="373354" y="32473"/>
                  </a:lnTo>
                  <a:lnTo>
                    <a:pt x="336715" y="8509"/>
                  </a:lnTo>
                  <a:lnTo>
                    <a:pt x="294513" y="6159"/>
                  </a:lnTo>
                  <a:lnTo>
                    <a:pt x="274523" y="13208"/>
                  </a:lnTo>
                  <a:lnTo>
                    <a:pt x="274523" y="24333"/>
                  </a:lnTo>
                  <a:lnTo>
                    <a:pt x="266306" y="12179"/>
                  </a:lnTo>
                  <a:lnTo>
                    <a:pt x="223672" y="444"/>
                  </a:lnTo>
                  <a:lnTo>
                    <a:pt x="181597" y="5143"/>
                  </a:lnTo>
                  <a:lnTo>
                    <a:pt x="180809" y="6400"/>
                  </a:lnTo>
                  <a:lnTo>
                    <a:pt x="162687" y="0"/>
                  </a:lnTo>
                  <a:lnTo>
                    <a:pt x="120484" y="2349"/>
                  </a:lnTo>
                  <a:lnTo>
                    <a:pt x="83845" y="26314"/>
                  </a:lnTo>
                  <a:lnTo>
                    <a:pt x="30543" y="76098"/>
                  </a:lnTo>
                  <a:lnTo>
                    <a:pt x="2781" y="116497"/>
                  </a:lnTo>
                  <a:lnTo>
                    <a:pt x="0" y="130594"/>
                  </a:lnTo>
                  <a:lnTo>
                    <a:pt x="13881" y="156895"/>
                  </a:lnTo>
                  <a:lnTo>
                    <a:pt x="44424" y="168630"/>
                  </a:lnTo>
                  <a:lnTo>
                    <a:pt x="83845" y="182727"/>
                  </a:lnTo>
                  <a:lnTo>
                    <a:pt x="114935" y="189776"/>
                  </a:lnTo>
                  <a:lnTo>
                    <a:pt x="128816" y="201993"/>
                  </a:lnTo>
                  <a:lnTo>
                    <a:pt x="120484" y="218427"/>
                  </a:lnTo>
                  <a:lnTo>
                    <a:pt x="98285" y="237680"/>
                  </a:lnTo>
                  <a:lnTo>
                    <a:pt x="69964" y="240030"/>
                  </a:lnTo>
                  <a:lnTo>
                    <a:pt x="50533" y="232524"/>
                  </a:lnTo>
                  <a:lnTo>
                    <a:pt x="38862" y="240030"/>
                  </a:lnTo>
                  <a:lnTo>
                    <a:pt x="41643" y="249428"/>
                  </a:lnTo>
                  <a:lnTo>
                    <a:pt x="64401" y="256476"/>
                  </a:lnTo>
                  <a:lnTo>
                    <a:pt x="98285" y="256476"/>
                  </a:lnTo>
                  <a:lnTo>
                    <a:pt x="128816" y="249428"/>
                  </a:lnTo>
                  <a:lnTo>
                    <a:pt x="146037" y="240030"/>
                  </a:lnTo>
                  <a:lnTo>
                    <a:pt x="157137" y="223126"/>
                  </a:lnTo>
                  <a:lnTo>
                    <a:pt x="162687" y="204330"/>
                  </a:lnTo>
                  <a:lnTo>
                    <a:pt x="148805" y="187426"/>
                  </a:lnTo>
                  <a:lnTo>
                    <a:pt x="114935" y="175679"/>
                  </a:lnTo>
                  <a:lnTo>
                    <a:pt x="75514" y="166293"/>
                  </a:lnTo>
                  <a:lnTo>
                    <a:pt x="41643" y="149847"/>
                  </a:lnTo>
                  <a:lnTo>
                    <a:pt x="33312" y="135280"/>
                  </a:lnTo>
                  <a:lnTo>
                    <a:pt x="38862" y="109448"/>
                  </a:lnTo>
                  <a:lnTo>
                    <a:pt x="64401" y="76098"/>
                  </a:lnTo>
                  <a:lnTo>
                    <a:pt x="95504" y="56845"/>
                  </a:lnTo>
                  <a:lnTo>
                    <a:pt x="143256" y="42748"/>
                  </a:lnTo>
                  <a:lnTo>
                    <a:pt x="162445" y="39319"/>
                  </a:lnTo>
                  <a:lnTo>
                    <a:pt x="164985" y="74155"/>
                  </a:lnTo>
                  <a:lnTo>
                    <a:pt x="176060" y="135648"/>
                  </a:lnTo>
                  <a:lnTo>
                    <a:pt x="176060" y="190119"/>
                  </a:lnTo>
                  <a:lnTo>
                    <a:pt x="162217" y="237528"/>
                  </a:lnTo>
                  <a:lnTo>
                    <a:pt x="153911" y="263829"/>
                  </a:lnTo>
                  <a:lnTo>
                    <a:pt x="159448" y="287769"/>
                  </a:lnTo>
                  <a:lnTo>
                    <a:pt x="160489" y="288429"/>
                  </a:lnTo>
                  <a:lnTo>
                    <a:pt x="168021" y="406298"/>
                  </a:lnTo>
                  <a:lnTo>
                    <a:pt x="168021" y="437324"/>
                  </a:lnTo>
                  <a:lnTo>
                    <a:pt x="156895" y="494677"/>
                  </a:lnTo>
                  <a:lnTo>
                    <a:pt x="154114" y="561428"/>
                  </a:lnTo>
                  <a:lnTo>
                    <a:pt x="159677" y="594804"/>
                  </a:lnTo>
                  <a:lnTo>
                    <a:pt x="154114" y="613613"/>
                  </a:lnTo>
                  <a:lnTo>
                    <a:pt x="114630" y="642289"/>
                  </a:lnTo>
                  <a:lnTo>
                    <a:pt x="97383" y="678014"/>
                  </a:lnTo>
                  <a:lnTo>
                    <a:pt x="100723" y="689775"/>
                  </a:lnTo>
                  <a:lnTo>
                    <a:pt x="131318" y="701992"/>
                  </a:lnTo>
                  <a:lnTo>
                    <a:pt x="139649" y="696823"/>
                  </a:lnTo>
                  <a:lnTo>
                    <a:pt x="142989" y="675665"/>
                  </a:lnTo>
                  <a:lnTo>
                    <a:pt x="151333" y="644639"/>
                  </a:lnTo>
                  <a:lnTo>
                    <a:pt x="165239" y="630542"/>
                  </a:lnTo>
                  <a:lnTo>
                    <a:pt x="181927" y="621131"/>
                  </a:lnTo>
                  <a:lnTo>
                    <a:pt x="196380" y="608914"/>
                  </a:lnTo>
                  <a:lnTo>
                    <a:pt x="199161" y="599503"/>
                  </a:lnTo>
                  <a:lnTo>
                    <a:pt x="190817" y="587756"/>
                  </a:lnTo>
                  <a:lnTo>
                    <a:pt x="181927" y="580707"/>
                  </a:lnTo>
                  <a:lnTo>
                    <a:pt x="176364" y="551561"/>
                  </a:lnTo>
                  <a:lnTo>
                    <a:pt x="181927" y="491858"/>
                  </a:lnTo>
                  <a:lnTo>
                    <a:pt x="201942" y="423214"/>
                  </a:lnTo>
                  <a:lnTo>
                    <a:pt x="221411" y="368211"/>
                  </a:lnTo>
                  <a:lnTo>
                    <a:pt x="226669" y="315937"/>
                  </a:lnTo>
                  <a:lnTo>
                    <a:pt x="229209" y="316407"/>
                  </a:lnTo>
                  <a:lnTo>
                    <a:pt x="247954" y="316407"/>
                  </a:lnTo>
                  <a:lnTo>
                    <a:pt x="275805" y="394576"/>
                  </a:lnTo>
                  <a:lnTo>
                    <a:pt x="292442" y="449110"/>
                  </a:lnTo>
                  <a:lnTo>
                    <a:pt x="297992" y="496608"/>
                  </a:lnTo>
                  <a:lnTo>
                    <a:pt x="297992" y="534695"/>
                  </a:lnTo>
                  <a:lnTo>
                    <a:pt x="289674" y="563841"/>
                  </a:lnTo>
                  <a:lnTo>
                    <a:pt x="281355" y="573239"/>
                  </a:lnTo>
                  <a:lnTo>
                    <a:pt x="281355" y="582650"/>
                  </a:lnTo>
                  <a:lnTo>
                    <a:pt x="292442" y="597230"/>
                  </a:lnTo>
                  <a:lnTo>
                    <a:pt x="311848" y="601929"/>
                  </a:lnTo>
                  <a:lnTo>
                    <a:pt x="342912" y="601929"/>
                  </a:lnTo>
                  <a:lnTo>
                    <a:pt x="398919" y="613689"/>
                  </a:lnTo>
                  <a:lnTo>
                    <a:pt x="415556" y="630605"/>
                  </a:lnTo>
                  <a:lnTo>
                    <a:pt x="441071" y="620737"/>
                  </a:lnTo>
                  <a:lnTo>
                    <a:pt x="452158" y="597230"/>
                  </a:lnTo>
                  <a:lnTo>
                    <a:pt x="441071" y="587819"/>
                  </a:lnTo>
                  <a:lnTo>
                    <a:pt x="393369" y="582650"/>
                  </a:lnTo>
                  <a:lnTo>
                    <a:pt x="340131" y="582650"/>
                  </a:lnTo>
                  <a:lnTo>
                    <a:pt x="317398" y="580301"/>
                  </a:lnTo>
                  <a:lnTo>
                    <a:pt x="311848" y="566191"/>
                  </a:lnTo>
                  <a:lnTo>
                    <a:pt x="317398" y="539394"/>
                  </a:lnTo>
                  <a:lnTo>
                    <a:pt x="320725" y="494245"/>
                  </a:lnTo>
                  <a:lnTo>
                    <a:pt x="306311" y="378117"/>
                  </a:lnTo>
                  <a:lnTo>
                    <a:pt x="309079" y="320751"/>
                  </a:lnTo>
                  <a:lnTo>
                    <a:pt x="309079" y="301942"/>
                  </a:lnTo>
                  <a:lnTo>
                    <a:pt x="305549" y="277495"/>
                  </a:lnTo>
                  <a:lnTo>
                    <a:pt x="320116" y="251079"/>
                  </a:lnTo>
                  <a:lnTo>
                    <a:pt x="328383" y="255587"/>
                  </a:lnTo>
                  <a:lnTo>
                    <a:pt x="358927" y="262636"/>
                  </a:lnTo>
                  <a:lnTo>
                    <a:pt x="392785" y="262636"/>
                  </a:lnTo>
                  <a:lnTo>
                    <a:pt x="415556" y="255587"/>
                  </a:lnTo>
                  <a:lnTo>
                    <a:pt x="418338" y="246189"/>
                  </a:lnTo>
                  <a:lnTo>
                    <a:pt x="406679" y="238683"/>
                  </a:lnTo>
                  <a:lnTo>
                    <a:pt x="387235" y="246189"/>
                  </a:lnTo>
                  <a:lnTo>
                    <a:pt x="358927" y="243840"/>
                  </a:lnTo>
                  <a:lnTo>
                    <a:pt x="336715" y="224586"/>
                  </a:lnTo>
                  <a:lnTo>
                    <a:pt x="328383" y="208140"/>
                  </a:lnTo>
                  <a:lnTo>
                    <a:pt x="342265" y="195935"/>
                  </a:lnTo>
                  <a:lnTo>
                    <a:pt x="373354" y="188887"/>
                  </a:lnTo>
                  <a:lnTo>
                    <a:pt x="412788" y="174790"/>
                  </a:lnTo>
                  <a:lnTo>
                    <a:pt x="443318" y="163055"/>
                  </a:lnTo>
                  <a:lnTo>
                    <a:pt x="457200" y="136753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3102571" y="1920168"/>
            <a:ext cx="1646555" cy="1154430"/>
          </a:xfrm>
          <a:custGeom>
            <a:avLst/>
            <a:gdLst/>
            <a:ahLst/>
            <a:cxnLst/>
            <a:rect l="l" t="t" r="r" b="b"/>
            <a:pathLst>
              <a:path w="1646554" h="1154430">
                <a:moveTo>
                  <a:pt x="483590" y="54681"/>
                </a:moveTo>
                <a:lnTo>
                  <a:pt x="437434" y="68996"/>
                </a:lnTo>
                <a:lnTo>
                  <a:pt x="391112" y="86624"/>
                </a:lnTo>
                <a:lnTo>
                  <a:pt x="345170" y="107258"/>
                </a:lnTo>
                <a:lnTo>
                  <a:pt x="300151" y="130590"/>
                </a:lnTo>
                <a:lnTo>
                  <a:pt x="256599" y="156312"/>
                </a:lnTo>
                <a:lnTo>
                  <a:pt x="215058" y="184116"/>
                </a:lnTo>
                <a:lnTo>
                  <a:pt x="176072" y="213696"/>
                </a:lnTo>
                <a:lnTo>
                  <a:pt x="140185" y="244742"/>
                </a:lnTo>
                <a:lnTo>
                  <a:pt x="107940" y="276948"/>
                </a:lnTo>
                <a:lnTo>
                  <a:pt x="79881" y="310005"/>
                </a:lnTo>
                <a:lnTo>
                  <a:pt x="56553" y="343606"/>
                </a:lnTo>
                <a:lnTo>
                  <a:pt x="34398" y="388076"/>
                </a:lnTo>
                <a:lnTo>
                  <a:pt x="18305" y="437837"/>
                </a:lnTo>
                <a:lnTo>
                  <a:pt x="7634" y="491243"/>
                </a:lnTo>
                <a:lnTo>
                  <a:pt x="1746" y="546649"/>
                </a:lnTo>
                <a:lnTo>
                  <a:pt x="0" y="602408"/>
                </a:lnTo>
                <a:lnTo>
                  <a:pt x="1755" y="656873"/>
                </a:lnTo>
                <a:lnTo>
                  <a:pt x="6371" y="708398"/>
                </a:lnTo>
                <a:lnTo>
                  <a:pt x="13209" y="755337"/>
                </a:lnTo>
                <a:lnTo>
                  <a:pt x="21628" y="796043"/>
                </a:lnTo>
                <a:lnTo>
                  <a:pt x="36320" y="846888"/>
                </a:lnTo>
                <a:lnTo>
                  <a:pt x="55024" y="889530"/>
                </a:lnTo>
                <a:lnTo>
                  <a:pt x="80167" y="925822"/>
                </a:lnTo>
                <a:lnTo>
                  <a:pt x="114173" y="957616"/>
                </a:lnTo>
                <a:lnTo>
                  <a:pt x="159468" y="986764"/>
                </a:lnTo>
                <a:lnTo>
                  <a:pt x="218478" y="1015118"/>
                </a:lnTo>
                <a:lnTo>
                  <a:pt x="250955" y="1029276"/>
                </a:lnTo>
                <a:lnTo>
                  <a:pt x="286672" y="1044964"/>
                </a:lnTo>
                <a:lnTo>
                  <a:pt x="325371" y="1061571"/>
                </a:lnTo>
                <a:lnTo>
                  <a:pt x="366797" y="1078486"/>
                </a:lnTo>
                <a:lnTo>
                  <a:pt x="410694" y="1095097"/>
                </a:lnTo>
                <a:lnTo>
                  <a:pt x="456807" y="1110793"/>
                </a:lnTo>
                <a:lnTo>
                  <a:pt x="504879" y="1124964"/>
                </a:lnTo>
                <a:lnTo>
                  <a:pt x="554655" y="1136997"/>
                </a:lnTo>
                <a:lnTo>
                  <a:pt x="605879" y="1146281"/>
                </a:lnTo>
                <a:lnTo>
                  <a:pt x="658296" y="1152206"/>
                </a:lnTo>
                <a:lnTo>
                  <a:pt x="711648" y="1154159"/>
                </a:lnTo>
                <a:lnTo>
                  <a:pt x="765682" y="1151529"/>
                </a:lnTo>
                <a:lnTo>
                  <a:pt x="820140" y="1143706"/>
                </a:lnTo>
                <a:lnTo>
                  <a:pt x="857852" y="1135817"/>
                </a:lnTo>
                <a:lnTo>
                  <a:pt x="899617" y="1126028"/>
                </a:lnTo>
                <a:lnTo>
                  <a:pt x="944820" y="1114438"/>
                </a:lnTo>
                <a:lnTo>
                  <a:pt x="992848" y="1101148"/>
                </a:lnTo>
                <a:lnTo>
                  <a:pt x="1043085" y="1086258"/>
                </a:lnTo>
                <a:lnTo>
                  <a:pt x="1094918" y="1069868"/>
                </a:lnTo>
                <a:lnTo>
                  <a:pt x="1147731" y="1052078"/>
                </a:lnTo>
                <a:lnTo>
                  <a:pt x="1200912" y="1032987"/>
                </a:lnTo>
                <a:lnTo>
                  <a:pt x="1253845" y="1012697"/>
                </a:lnTo>
                <a:lnTo>
                  <a:pt x="1305915" y="991306"/>
                </a:lnTo>
                <a:lnTo>
                  <a:pt x="1356510" y="968915"/>
                </a:lnTo>
                <a:lnTo>
                  <a:pt x="1405013" y="945624"/>
                </a:lnTo>
                <a:lnTo>
                  <a:pt x="1450812" y="921533"/>
                </a:lnTo>
                <a:lnTo>
                  <a:pt x="1493291" y="896742"/>
                </a:lnTo>
                <a:lnTo>
                  <a:pt x="1531836" y="871351"/>
                </a:lnTo>
                <a:lnTo>
                  <a:pt x="1565834" y="845459"/>
                </a:lnTo>
                <a:lnTo>
                  <a:pt x="1594668" y="819168"/>
                </a:lnTo>
                <a:lnTo>
                  <a:pt x="1634392" y="765785"/>
                </a:lnTo>
                <a:lnTo>
                  <a:pt x="1646543" y="708987"/>
                </a:lnTo>
                <a:lnTo>
                  <a:pt x="1641888" y="676187"/>
                </a:lnTo>
                <a:lnTo>
                  <a:pt x="1613593" y="603522"/>
                </a:lnTo>
                <a:lnTo>
                  <a:pt x="1591179" y="564464"/>
                </a:lnTo>
                <a:lnTo>
                  <a:pt x="1564069" y="524129"/>
                </a:lnTo>
                <a:lnTo>
                  <a:pt x="1532876" y="482920"/>
                </a:lnTo>
                <a:lnTo>
                  <a:pt x="1498213" y="441242"/>
                </a:lnTo>
                <a:lnTo>
                  <a:pt x="1460692" y="399499"/>
                </a:lnTo>
                <a:lnTo>
                  <a:pt x="1420926" y="358095"/>
                </a:lnTo>
                <a:lnTo>
                  <a:pt x="1379526" y="317433"/>
                </a:lnTo>
                <a:lnTo>
                  <a:pt x="1337106" y="277919"/>
                </a:lnTo>
                <a:lnTo>
                  <a:pt x="1294277" y="239956"/>
                </a:lnTo>
                <a:lnTo>
                  <a:pt x="1251653" y="203948"/>
                </a:lnTo>
                <a:lnTo>
                  <a:pt x="1209845" y="170299"/>
                </a:lnTo>
                <a:lnTo>
                  <a:pt x="1169466" y="139414"/>
                </a:lnTo>
                <a:lnTo>
                  <a:pt x="1131129" y="111697"/>
                </a:lnTo>
                <a:lnTo>
                  <a:pt x="1095445" y="87551"/>
                </a:lnTo>
                <a:lnTo>
                  <a:pt x="1063028" y="67381"/>
                </a:lnTo>
                <a:lnTo>
                  <a:pt x="1014155" y="42241"/>
                </a:lnTo>
                <a:lnTo>
                  <a:pt x="964544" y="23556"/>
                </a:lnTo>
                <a:lnTo>
                  <a:pt x="914448" y="10702"/>
                </a:lnTo>
                <a:lnTo>
                  <a:pt x="864120" y="3058"/>
                </a:lnTo>
                <a:lnTo>
                  <a:pt x="813814" y="0"/>
                </a:lnTo>
                <a:lnTo>
                  <a:pt x="763784" y="904"/>
                </a:lnTo>
                <a:lnTo>
                  <a:pt x="714283" y="5150"/>
                </a:lnTo>
                <a:lnTo>
                  <a:pt x="665565" y="12112"/>
                </a:lnTo>
                <a:lnTo>
                  <a:pt x="617883" y="21170"/>
                </a:lnTo>
                <a:lnTo>
                  <a:pt x="571491" y="31699"/>
                </a:lnTo>
                <a:lnTo>
                  <a:pt x="526642" y="43077"/>
                </a:lnTo>
                <a:lnTo>
                  <a:pt x="483590" y="54681"/>
                </a:lnTo>
                <a:close/>
              </a:path>
            </a:pathLst>
          </a:custGeom>
          <a:ln w="38100">
            <a:solidFill>
              <a:srgbClr val="0E2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755390" y="1930082"/>
            <a:ext cx="3028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14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58540" y="2600007"/>
            <a:ext cx="3028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25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31590" y="2311082"/>
            <a:ext cx="66802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00"/>
              </a:lnSpc>
              <a:spcBef>
                <a:spcPts val="100"/>
              </a:spcBef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30</a:t>
            </a:r>
            <a:endParaRPr sz="2000">
              <a:latin typeface="Tahoma"/>
              <a:cs typeface="Tahoma"/>
            </a:endParaRPr>
          </a:p>
          <a:p>
            <a:pPr marL="377825">
              <a:lnSpc>
                <a:spcPts val="2100"/>
              </a:lnSpc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23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31514" y="2433332"/>
            <a:ext cx="3028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31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794429" y="1799754"/>
            <a:ext cx="1550670" cy="1358265"/>
          </a:xfrm>
          <a:custGeom>
            <a:avLst/>
            <a:gdLst/>
            <a:ahLst/>
            <a:cxnLst/>
            <a:rect l="l" t="t" r="r" b="b"/>
            <a:pathLst>
              <a:path w="1550670" h="1358264">
                <a:moveTo>
                  <a:pt x="126933" y="140170"/>
                </a:moveTo>
                <a:lnTo>
                  <a:pt x="96038" y="175457"/>
                </a:lnTo>
                <a:lnTo>
                  <a:pt x="69881" y="215667"/>
                </a:lnTo>
                <a:lnTo>
                  <a:pt x="48239" y="259741"/>
                </a:lnTo>
                <a:lnTo>
                  <a:pt x="30891" y="306621"/>
                </a:lnTo>
                <a:lnTo>
                  <a:pt x="17615" y="355246"/>
                </a:lnTo>
                <a:lnTo>
                  <a:pt x="8189" y="404559"/>
                </a:lnTo>
                <a:lnTo>
                  <a:pt x="2391" y="453500"/>
                </a:lnTo>
                <a:lnTo>
                  <a:pt x="0" y="501009"/>
                </a:lnTo>
                <a:lnTo>
                  <a:pt x="793" y="546028"/>
                </a:lnTo>
                <a:lnTo>
                  <a:pt x="4549" y="587497"/>
                </a:lnTo>
                <a:lnTo>
                  <a:pt x="24867" y="663085"/>
                </a:lnTo>
                <a:lnTo>
                  <a:pt x="46358" y="696521"/>
                </a:lnTo>
                <a:lnTo>
                  <a:pt x="74134" y="725958"/>
                </a:lnTo>
                <a:lnTo>
                  <a:pt x="106809" y="752691"/>
                </a:lnTo>
                <a:lnTo>
                  <a:pt x="142999" y="778012"/>
                </a:lnTo>
                <a:lnTo>
                  <a:pt x="181319" y="803216"/>
                </a:lnTo>
                <a:lnTo>
                  <a:pt x="220384" y="829596"/>
                </a:lnTo>
                <a:lnTo>
                  <a:pt x="258808" y="858446"/>
                </a:lnTo>
                <a:lnTo>
                  <a:pt x="295208" y="891058"/>
                </a:lnTo>
                <a:lnTo>
                  <a:pt x="327016" y="924770"/>
                </a:lnTo>
                <a:lnTo>
                  <a:pt x="359559" y="962254"/>
                </a:lnTo>
                <a:lnTo>
                  <a:pt x="392806" y="1002329"/>
                </a:lnTo>
                <a:lnTo>
                  <a:pt x="426729" y="1043814"/>
                </a:lnTo>
                <a:lnTo>
                  <a:pt x="461300" y="1085527"/>
                </a:lnTo>
                <a:lnTo>
                  <a:pt x="496490" y="1126287"/>
                </a:lnTo>
                <a:lnTo>
                  <a:pt x="532271" y="1164914"/>
                </a:lnTo>
                <a:lnTo>
                  <a:pt x="568613" y="1200227"/>
                </a:lnTo>
                <a:lnTo>
                  <a:pt x="605489" y="1231043"/>
                </a:lnTo>
                <a:lnTo>
                  <a:pt x="642870" y="1256183"/>
                </a:lnTo>
                <a:lnTo>
                  <a:pt x="685345" y="1280270"/>
                </a:lnTo>
                <a:lnTo>
                  <a:pt x="728199" y="1303063"/>
                </a:lnTo>
                <a:lnTo>
                  <a:pt x="771575" y="1323387"/>
                </a:lnTo>
                <a:lnTo>
                  <a:pt x="815618" y="1340066"/>
                </a:lnTo>
                <a:lnTo>
                  <a:pt x="860471" y="1351923"/>
                </a:lnTo>
                <a:lnTo>
                  <a:pt x="906278" y="1357783"/>
                </a:lnTo>
                <a:lnTo>
                  <a:pt x="953182" y="1356470"/>
                </a:lnTo>
                <a:lnTo>
                  <a:pt x="1001327" y="1346808"/>
                </a:lnTo>
                <a:lnTo>
                  <a:pt x="1050858" y="1327620"/>
                </a:lnTo>
                <a:lnTo>
                  <a:pt x="1112676" y="1296086"/>
                </a:lnTo>
                <a:lnTo>
                  <a:pt x="1149175" y="1276266"/>
                </a:lnTo>
                <a:lnTo>
                  <a:pt x="1188267" y="1253982"/>
                </a:lnTo>
                <a:lnTo>
                  <a:pt x="1229105" y="1229412"/>
                </a:lnTo>
                <a:lnTo>
                  <a:pt x="1270838" y="1202735"/>
                </a:lnTo>
                <a:lnTo>
                  <a:pt x="1312618" y="1174129"/>
                </a:lnTo>
                <a:lnTo>
                  <a:pt x="1353595" y="1143772"/>
                </a:lnTo>
                <a:lnTo>
                  <a:pt x="1392920" y="1111842"/>
                </a:lnTo>
                <a:lnTo>
                  <a:pt x="1429744" y="1078519"/>
                </a:lnTo>
                <a:lnTo>
                  <a:pt x="1463219" y="1043980"/>
                </a:lnTo>
                <a:lnTo>
                  <a:pt x="1492494" y="1008404"/>
                </a:lnTo>
                <a:lnTo>
                  <a:pt x="1516720" y="971969"/>
                </a:lnTo>
                <a:lnTo>
                  <a:pt x="1535049" y="934854"/>
                </a:lnTo>
                <a:lnTo>
                  <a:pt x="1546631" y="897236"/>
                </a:lnTo>
                <a:lnTo>
                  <a:pt x="1550617" y="859295"/>
                </a:lnTo>
                <a:lnTo>
                  <a:pt x="1546158" y="821208"/>
                </a:lnTo>
                <a:lnTo>
                  <a:pt x="1523013" y="759831"/>
                </a:lnTo>
                <a:lnTo>
                  <a:pt x="1504561" y="725780"/>
                </a:lnTo>
                <a:lnTo>
                  <a:pt x="1482001" y="689870"/>
                </a:lnTo>
                <a:lnTo>
                  <a:pt x="1455693" y="652387"/>
                </a:lnTo>
                <a:lnTo>
                  <a:pt x="1425996" y="613618"/>
                </a:lnTo>
                <a:lnTo>
                  <a:pt x="1393269" y="573850"/>
                </a:lnTo>
                <a:lnTo>
                  <a:pt x="1357872" y="533368"/>
                </a:lnTo>
                <a:lnTo>
                  <a:pt x="1320163" y="492459"/>
                </a:lnTo>
                <a:lnTo>
                  <a:pt x="1280504" y="451411"/>
                </a:lnTo>
                <a:lnTo>
                  <a:pt x="1239251" y="410508"/>
                </a:lnTo>
                <a:lnTo>
                  <a:pt x="1196766" y="370039"/>
                </a:lnTo>
                <a:lnTo>
                  <a:pt x="1153407" y="330289"/>
                </a:lnTo>
                <a:lnTo>
                  <a:pt x="1109534" y="291545"/>
                </a:lnTo>
                <a:lnTo>
                  <a:pt x="1065506" y="254094"/>
                </a:lnTo>
                <a:lnTo>
                  <a:pt x="1021682" y="218221"/>
                </a:lnTo>
                <a:lnTo>
                  <a:pt x="978422" y="184215"/>
                </a:lnTo>
                <a:lnTo>
                  <a:pt x="936085" y="152360"/>
                </a:lnTo>
                <a:lnTo>
                  <a:pt x="895030" y="122944"/>
                </a:lnTo>
                <a:lnTo>
                  <a:pt x="855617" y="96253"/>
                </a:lnTo>
                <a:lnTo>
                  <a:pt x="818204" y="72573"/>
                </a:lnTo>
                <a:lnTo>
                  <a:pt x="783153" y="52192"/>
                </a:lnTo>
                <a:lnTo>
                  <a:pt x="699872" y="15488"/>
                </a:lnTo>
                <a:lnTo>
                  <a:pt x="648614" y="4043"/>
                </a:lnTo>
                <a:lnTo>
                  <a:pt x="597370" y="0"/>
                </a:lnTo>
                <a:lnTo>
                  <a:pt x="546463" y="2294"/>
                </a:lnTo>
                <a:lnTo>
                  <a:pt x="496216" y="9865"/>
                </a:lnTo>
                <a:lnTo>
                  <a:pt x="446950" y="21649"/>
                </a:lnTo>
                <a:lnTo>
                  <a:pt x="398991" y="36586"/>
                </a:lnTo>
                <a:lnTo>
                  <a:pt x="352659" y="53612"/>
                </a:lnTo>
                <a:lnTo>
                  <a:pt x="308277" y="71666"/>
                </a:lnTo>
                <a:lnTo>
                  <a:pt x="266170" y="89685"/>
                </a:lnTo>
                <a:lnTo>
                  <a:pt x="226659" y="106607"/>
                </a:lnTo>
                <a:lnTo>
                  <a:pt x="190067" y="121370"/>
                </a:lnTo>
                <a:lnTo>
                  <a:pt x="156717" y="132912"/>
                </a:lnTo>
                <a:lnTo>
                  <a:pt x="126933" y="140170"/>
                </a:lnTo>
                <a:close/>
              </a:path>
            </a:pathLst>
          </a:custGeom>
          <a:ln w="38100">
            <a:solidFill>
              <a:srgbClr val="0E2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920740" y="1798320"/>
            <a:ext cx="480695" cy="927100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88</a:t>
            </a:r>
            <a:endParaRPr sz="2000">
              <a:latin typeface="Tahoma"/>
              <a:cs typeface="Tahoma"/>
            </a:endParaRPr>
          </a:p>
          <a:p>
            <a:pPr marL="190500">
              <a:lnSpc>
                <a:spcPct val="100000"/>
              </a:lnSpc>
              <a:spcBef>
                <a:spcPts val="1150"/>
              </a:spcBef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62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08140" y="2090420"/>
            <a:ext cx="379095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98</a:t>
            </a:r>
            <a:endParaRPr sz="2000">
              <a:latin typeface="Tahoma"/>
              <a:cs typeface="Tahoma"/>
            </a:endParaRPr>
          </a:p>
          <a:p>
            <a:pPr marL="88900">
              <a:lnSpc>
                <a:spcPct val="100000"/>
              </a:lnSpc>
              <a:spcBef>
                <a:spcPts val="1800"/>
              </a:spcBef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79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19040" y="2365044"/>
            <a:ext cx="7245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37D142"/>
                </a:solidFill>
                <a:latin typeface="Times New Roman"/>
                <a:cs typeface="Times New Roman"/>
              </a:rPr>
              <a:t>≤ </a:t>
            </a: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52</a:t>
            </a:r>
            <a:r>
              <a:rPr sz="2000" spc="-100" dirty="0">
                <a:solidFill>
                  <a:srgbClr val="37D142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7D142"/>
                </a:solidFill>
                <a:latin typeface="Times New Roman"/>
                <a:cs typeface="Times New Roman"/>
              </a:rPr>
              <a:t>≤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006475" y="4873625"/>
            <a:ext cx="381000" cy="993775"/>
            <a:chOff x="1006475" y="4873625"/>
            <a:chExt cx="381000" cy="993775"/>
          </a:xfrm>
        </p:grpSpPr>
        <p:sp>
          <p:nvSpPr>
            <p:cNvPr id="16" name="object 16"/>
            <p:cNvSpPr/>
            <p:nvPr/>
          </p:nvSpPr>
          <p:spPr>
            <a:xfrm>
              <a:off x="1126147" y="4961407"/>
              <a:ext cx="141655" cy="1875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90079" y="5159781"/>
              <a:ext cx="210820" cy="360045"/>
            </a:xfrm>
            <a:custGeom>
              <a:avLst/>
              <a:gdLst/>
              <a:ahLst/>
              <a:cxnLst/>
              <a:rect l="l" t="t" r="r" b="b"/>
              <a:pathLst>
                <a:path w="210819" h="360045">
                  <a:moveTo>
                    <a:pt x="210515" y="142290"/>
                  </a:moveTo>
                  <a:lnTo>
                    <a:pt x="164604" y="168592"/>
                  </a:lnTo>
                  <a:lnTo>
                    <a:pt x="147561" y="168592"/>
                  </a:lnTo>
                  <a:lnTo>
                    <a:pt x="136080" y="153123"/>
                  </a:lnTo>
                  <a:lnTo>
                    <a:pt x="128206" y="122186"/>
                  </a:lnTo>
                  <a:lnTo>
                    <a:pt x="141986" y="113296"/>
                  </a:lnTo>
                  <a:lnTo>
                    <a:pt x="204609" y="113296"/>
                  </a:lnTo>
                  <a:lnTo>
                    <a:pt x="197065" y="66890"/>
                  </a:lnTo>
                  <a:lnTo>
                    <a:pt x="157060" y="13525"/>
                  </a:lnTo>
                  <a:lnTo>
                    <a:pt x="134442" y="0"/>
                  </a:lnTo>
                  <a:lnTo>
                    <a:pt x="96075" y="1689"/>
                  </a:lnTo>
                  <a:lnTo>
                    <a:pt x="96075" y="160083"/>
                  </a:lnTo>
                  <a:lnTo>
                    <a:pt x="96075" y="213436"/>
                  </a:lnTo>
                  <a:lnTo>
                    <a:pt x="84607" y="246316"/>
                  </a:lnTo>
                  <a:lnTo>
                    <a:pt x="77381" y="254038"/>
                  </a:lnTo>
                  <a:lnTo>
                    <a:pt x="77381" y="233553"/>
                  </a:lnTo>
                  <a:lnTo>
                    <a:pt x="65913" y="209181"/>
                  </a:lnTo>
                  <a:lnTo>
                    <a:pt x="46558" y="193713"/>
                  </a:lnTo>
                  <a:lnTo>
                    <a:pt x="17386" y="169354"/>
                  </a:lnTo>
                  <a:lnTo>
                    <a:pt x="13449" y="140360"/>
                  </a:lnTo>
                  <a:lnTo>
                    <a:pt x="28854" y="100533"/>
                  </a:lnTo>
                  <a:lnTo>
                    <a:pt x="50863" y="72859"/>
                  </a:lnTo>
                  <a:lnTo>
                    <a:pt x="52146" y="80035"/>
                  </a:lnTo>
                  <a:lnTo>
                    <a:pt x="80670" y="108648"/>
                  </a:lnTo>
                  <a:lnTo>
                    <a:pt x="96075" y="160083"/>
                  </a:lnTo>
                  <a:lnTo>
                    <a:pt x="96075" y="1689"/>
                  </a:lnTo>
                  <a:lnTo>
                    <a:pt x="90500" y="1930"/>
                  </a:lnTo>
                  <a:lnTo>
                    <a:pt x="63169" y="15671"/>
                  </a:lnTo>
                  <a:lnTo>
                    <a:pt x="59677" y="13906"/>
                  </a:lnTo>
                  <a:lnTo>
                    <a:pt x="42633" y="15849"/>
                  </a:lnTo>
                  <a:lnTo>
                    <a:pt x="19354" y="55676"/>
                  </a:lnTo>
                  <a:lnTo>
                    <a:pt x="0" y="115989"/>
                  </a:lnTo>
                  <a:lnTo>
                    <a:pt x="0" y="162394"/>
                  </a:lnTo>
                  <a:lnTo>
                    <a:pt x="7874" y="186753"/>
                  </a:lnTo>
                  <a:lnTo>
                    <a:pt x="48209" y="215760"/>
                  </a:lnTo>
                  <a:lnTo>
                    <a:pt x="59677" y="235483"/>
                  </a:lnTo>
                  <a:lnTo>
                    <a:pt x="59677" y="249008"/>
                  </a:lnTo>
                  <a:lnTo>
                    <a:pt x="46558" y="266801"/>
                  </a:lnTo>
                  <a:lnTo>
                    <a:pt x="24917" y="293484"/>
                  </a:lnTo>
                  <a:lnTo>
                    <a:pt x="13449" y="328676"/>
                  </a:lnTo>
                  <a:lnTo>
                    <a:pt x="17386" y="359994"/>
                  </a:lnTo>
                  <a:lnTo>
                    <a:pt x="28854" y="353034"/>
                  </a:lnTo>
                  <a:lnTo>
                    <a:pt x="34759" y="309333"/>
                  </a:lnTo>
                  <a:lnTo>
                    <a:pt x="53771" y="282270"/>
                  </a:lnTo>
                  <a:lnTo>
                    <a:pt x="63614" y="277837"/>
                  </a:lnTo>
                  <a:lnTo>
                    <a:pt x="63614" y="295808"/>
                  </a:lnTo>
                  <a:lnTo>
                    <a:pt x="73126" y="309333"/>
                  </a:lnTo>
                  <a:lnTo>
                    <a:pt x="84607" y="315531"/>
                  </a:lnTo>
                  <a:lnTo>
                    <a:pt x="122631" y="320167"/>
                  </a:lnTo>
                  <a:lnTo>
                    <a:pt x="157060" y="288848"/>
                  </a:lnTo>
                  <a:lnTo>
                    <a:pt x="193128" y="221945"/>
                  </a:lnTo>
                  <a:lnTo>
                    <a:pt x="210515" y="142290"/>
                  </a:lnTo>
                  <a:close/>
                </a:path>
              </a:pathLst>
            </a:custGeom>
            <a:solidFill>
              <a:srgbClr val="2F5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16977" y="5153977"/>
              <a:ext cx="170497" cy="16819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73696" y="5417299"/>
              <a:ext cx="269875" cy="450215"/>
            </a:xfrm>
            <a:custGeom>
              <a:avLst/>
              <a:gdLst/>
              <a:ahLst/>
              <a:cxnLst/>
              <a:rect l="l" t="t" r="r" b="b"/>
              <a:pathLst>
                <a:path w="269875" h="450214">
                  <a:moveTo>
                    <a:pt x="269519" y="370827"/>
                  </a:moveTo>
                  <a:lnTo>
                    <a:pt x="252145" y="361937"/>
                  </a:lnTo>
                  <a:lnTo>
                    <a:pt x="208203" y="351104"/>
                  </a:lnTo>
                  <a:lnTo>
                    <a:pt x="183286" y="361937"/>
                  </a:lnTo>
                  <a:lnTo>
                    <a:pt x="166243" y="361937"/>
                  </a:lnTo>
                  <a:lnTo>
                    <a:pt x="167881" y="344144"/>
                  </a:lnTo>
                  <a:lnTo>
                    <a:pt x="184924" y="238201"/>
                  </a:lnTo>
                  <a:lnTo>
                    <a:pt x="196735" y="176326"/>
                  </a:lnTo>
                  <a:lnTo>
                    <a:pt x="194767" y="145389"/>
                  </a:lnTo>
                  <a:lnTo>
                    <a:pt x="177711" y="87782"/>
                  </a:lnTo>
                  <a:lnTo>
                    <a:pt x="160337" y="35191"/>
                  </a:lnTo>
                  <a:lnTo>
                    <a:pt x="131483" y="0"/>
                  </a:lnTo>
                  <a:lnTo>
                    <a:pt x="124828" y="6172"/>
                  </a:lnTo>
                  <a:lnTo>
                    <a:pt x="125577" y="1549"/>
                  </a:lnTo>
                  <a:lnTo>
                    <a:pt x="93116" y="8128"/>
                  </a:lnTo>
                  <a:lnTo>
                    <a:pt x="76073" y="41376"/>
                  </a:lnTo>
                  <a:lnTo>
                    <a:pt x="59016" y="100926"/>
                  </a:lnTo>
                  <a:lnTo>
                    <a:pt x="51473" y="175945"/>
                  </a:lnTo>
                  <a:lnTo>
                    <a:pt x="51473" y="218097"/>
                  </a:lnTo>
                  <a:lnTo>
                    <a:pt x="62953" y="270675"/>
                  </a:lnTo>
                  <a:lnTo>
                    <a:pt x="81648" y="343763"/>
                  </a:lnTo>
                  <a:lnTo>
                    <a:pt x="85572" y="363867"/>
                  </a:lnTo>
                  <a:lnTo>
                    <a:pt x="79997" y="374700"/>
                  </a:lnTo>
                  <a:lnTo>
                    <a:pt x="40005" y="390550"/>
                  </a:lnTo>
                  <a:lnTo>
                    <a:pt x="0" y="421487"/>
                  </a:lnTo>
                  <a:lnTo>
                    <a:pt x="1638" y="434251"/>
                  </a:lnTo>
                  <a:lnTo>
                    <a:pt x="30492" y="450100"/>
                  </a:lnTo>
                  <a:lnTo>
                    <a:pt x="41643" y="443141"/>
                  </a:lnTo>
                  <a:lnTo>
                    <a:pt x="62953" y="410273"/>
                  </a:lnTo>
                  <a:lnTo>
                    <a:pt x="87541" y="394423"/>
                  </a:lnTo>
                  <a:lnTo>
                    <a:pt x="114427" y="383590"/>
                  </a:lnTo>
                  <a:lnTo>
                    <a:pt x="116065" y="368122"/>
                  </a:lnTo>
                  <a:lnTo>
                    <a:pt x="108534" y="337185"/>
                  </a:lnTo>
                  <a:lnTo>
                    <a:pt x="87541" y="288848"/>
                  </a:lnTo>
                  <a:lnTo>
                    <a:pt x="74434" y="231241"/>
                  </a:lnTo>
                  <a:lnTo>
                    <a:pt x="74434" y="165112"/>
                  </a:lnTo>
                  <a:lnTo>
                    <a:pt x="85572" y="107505"/>
                  </a:lnTo>
                  <a:lnTo>
                    <a:pt x="110172" y="54140"/>
                  </a:lnTo>
                  <a:lnTo>
                    <a:pt x="118643" y="33286"/>
                  </a:lnTo>
                  <a:lnTo>
                    <a:pt x="118364" y="35191"/>
                  </a:lnTo>
                  <a:lnTo>
                    <a:pt x="125577" y="61480"/>
                  </a:lnTo>
                  <a:lnTo>
                    <a:pt x="144919" y="94742"/>
                  </a:lnTo>
                  <a:lnTo>
                    <a:pt x="166243" y="134569"/>
                  </a:lnTo>
                  <a:lnTo>
                    <a:pt x="173456" y="178650"/>
                  </a:lnTo>
                  <a:lnTo>
                    <a:pt x="167881" y="249415"/>
                  </a:lnTo>
                  <a:lnTo>
                    <a:pt x="154762" y="335635"/>
                  </a:lnTo>
                  <a:lnTo>
                    <a:pt x="144919" y="370827"/>
                  </a:lnTo>
                  <a:lnTo>
                    <a:pt x="148856" y="381660"/>
                  </a:lnTo>
                  <a:lnTo>
                    <a:pt x="171818" y="383590"/>
                  </a:lnTo>
                  <a:lnTo>
                    <a:pt x="200342" y="374700"/>
                  </a:lnTo>
                  <a:lnTo>
                    <a:pt x="225590" y="388226"/>
                  </a:lnTo>
                  <a:lnTo>
                    <a:pt x="240995" y="397129"/>
                  </a:lnTo>
                  <a:lnTo>
                    <a:pt x="252145" y="395185"/>
                  </a:lnTo>
                  <a:lnTo>
                    <a:pt x="269519" y="370827"/>
                  </a:lnTo>
                  <a:close/>
                </a:path>
              </a:pathLst>
            </a:custGeom>
            <a:solidFill>
              <a:srgbClr val="2F5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012050" y="4884064"/>
              <a:ext cx="271780" cy="217804"/>
            </a:xfrm>
            <a:custGeom>
              <a:avLst/>
              <a:gdLst/>
              <a:ahLst/>
              <a:cxnLst/>
              <a:rect l="l" t="t" r="r" b="b"/>
              <a:pathLst>
                <a:path w="271780" h="217804">
                  <a:moveTo>
                    <a:pt x="0" y="155054"/>
                  </a:moveTo>
                  <a:lnTo>
                    <a:pt x="13436" y="217703"/>
                  </a:lnTo>
                  <a:lnTo>
                    <a:pt x="56718" y="208800"/>
                  </a:lnTo>
                  <a:lnTo>
                    <a:pt x="101638" y="190626"/>
                  </a:lnTo>
                  <a:lnTo>
                    <a:pt x="137706" y="170522"/>
                  </a:lnTo>
                  <a:lnTo>
                    <a:pt x="177380" y="150418"/>
                  </a:lnTo>
                  <a:lnTo>
                    <a:pt x="218694" y="127990"/>
                  </a:lnTo>
                  <a:lnTo>
                    <a:pt x="252463" y="80810"/>
                  </a:lnTo>
                  <a:lnTo>
                    <a:pt x="271157" y="53746"/>
                  </a:lnTo>
                  <a:lnTo>
                    <a:pt x="235750" y="6959"/>
                  </a:lnTo>
                  <a:lnTo>
                    <a:pt x="218694" y="28994"/>
                  </a:lnTo>
                  <a:lnTo>
                    <a:pt x="201320" y="42532"/>
                  </a:lnTo>
                  <a:lnTo>
                    <a:pt x="182956" y="42532"/>
                  </a:lnTo>
                  <a:lnTo>
                    <a:pt x="163944" y="20104"/>
                  </a:lnTo>
                  <a:lnTo>
                    <a:pt x="141312" y="1930"/>
                  </a:lnTo>
                  <a:lnTo>
                    <a:pt x="86563" y="13538"/>
                  </a:lnTo>
                  <a:lnTo>
                    <a:pt x="58686" y="60705"/>
                  </a:lnTo>
                  <a:lnTo>
                    <a:pt x="56718" y="96278"/>
                  </a:lnTo>
                  <a:lnTo>
                    <a:pt x="51142" y="127990"/>
                  </a:lnTo>
                  <a:lnTo>
                    <a:pt x="35737" y="143459"/>
                  </a:lnTo>
                  <a:lnTo>
                    <a:pt x="17373" y="150418"/>
                  </a:lnTo>
                  <a:lnTo>
                    <a:pt x="0" y="155054"/>
                  </a:lnTo>
                  <a:close/>
                </a:path>
              </a:pathLst>
            </a:custGeom>
            <a:solidFill>
              <a:srgbClr val="0A57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06475" y="4873625"/>
              <a:ext cx="280670" cy="234950"/>
            </a:xfrm>
            <a:custGeom>
              <a:avLst/>
              <a:gdLst/>
              <a:ahLst/>
              <a:cxnLst/>
              <a:rect l="l" t="t" r="r" b="b"/>
              <a:pathLst>
                <a:path w="280669" h="234950">
                  <a:moveTo>
                    <a:pt x="17056" y="151968"/>
                  </a:moveTo>
                  <a:lnTo>
                    <a:pt x="17056" y="171691"/>
                  </a:lnTo>
                  <a:lnTo>
                    <a:pt x="41313" y="158534"/>
                  </a:lnTo>
                  <a:lnTo>
                    <a:pt x="62306" y="145008"/>
                  </a:lnTo>
                  <a:lnTo>
                    <a:pt x="69850" y="124904"/>
                  </a:lnTo>
                  <a:lnTo>
                    <a:pt x="69850" y="78498"/>
                  </a:lnTo>
                  <a:lnTo>
                    <a:pt x="79019" y="53365"/>
                  </a:lnTo>
                  <a:lnTo>
                    <a:pt x="96405" y="33642"/>
                  </a:lnTo>
                  <a:lnTo>
                    <a:pt x="115087" y="20497"/>
                  </a:lnTo>
                  <a:lnTo>
                    <a:pt x="135750" y="17792"/>
                  </a:lnTo>
                  <a:lnTo>
                    <a:pt x="160337" y="27063"/>
                  </a:lnTo>
                  <a:lnTo>
                    <a:pt x="169519" y="44856"/>
                  </a:lnTo>
                  <a:lnTo>
                    <a:pt x="186893" y="60324"/>
                  </a:lnTo>
                  <a:lnTo>
                    <a:pt x="197713" y="64960"/>
                  </a:lnTo>
                  <a:lnTo>
                    <a:pt x="213131" y="64960"/>
                  </a:lnTo>
                  <a:lnTo>
                    <a:pt x="224282" y="51434"/>
                  </a:lnTo>
                  <a:lnTo>
                    <a:pt x="241325" y="31318"/>
                  </a:lnTo>
                  <a:lnTo>
                    <a:pt x="270311" y="67826"/>
                  </a:lnTo>
                  <a:lnTo>
                    <a:pt x="273456" y="71539"/>
                  </a:lnTo>
                  <a:lnTo>
                    <a:pt x="273456" y="71787"/>
                  </a:lnTo>
                  <a:lnTo>
                    <a:pt x="275094" y="73850"/>
                  </a:lnTo>
                  <a:lnTo>
                    <a:pt x="279031" y="68833"/>
                  </a:lnTo>
                  <a:lnTo>
                    <a:pt x="280670" y="58000"/>
                  </a:lnTo>
                  <a:lnTo>
                    <a:pt x="273456" y="48087"/>
                  </a:lnTo>
                  <a:lnTo>
                    <a:pt x="273456" y="71539"/>
                  </a:lnTo>
                  <a:lnTo>
                    <a:pt x="273375" y="71685"/>
                  </a:lnTo>
                  <a:lnTo>
                    <a:pt x="273375" y="47976"/>
                  </a:lnTo>
                  <a:lnTo>
                    <a:pt x="246900" y="11595"/>
                  </a:lnTo>
                  <a:lnTo>
                    <a:pt x="237388" y="0"/>
                  </a:lnTo>
                  <a:lnTo>
                    <a:pt x="226250" y="24358"/>
                  </a:lnTo>
                  <a:lnTo>
                    <a:pt x="209194" y="44856"/>
                  </a:lnTo>
                  <a:lnTo>
                    <a:pt x="197713" y="46786"/>
                  </a:lnTo>
                  <a:lnTo>
                    <a:pt x="186893" y="37896"/>
                  </a:lnTo>
                  <a:lnTo>
                    <a:pt x="175425" y="20497"/>
                  </a:lnTo>
                  <a:lnTo>
                    <a:pt x="152476" y="4635"/>
                  </a:lnTo>
                  <a:lnTo>
                    <a:pt x="115087" y="0"/>
                  </a:lnTo>
                  <a:lnTo>
                    <a:pt x="84924" y="17792"/>
                  </a:lnTo>
                  <a:lnTo>
                    <a:pt x="64274" y="44856"/>
                  </a:lnTo>
                  <a:lnTo>
                    <a:pt x="52793" y="93967"/>
                  </a:lnTo>
                  <a:lnTo>
                    <a:pt x="52793" y="124904"/>
                  </a:lnTo>
                  <a:lnTo>
                    <a:pt x="33782" y="140360"/>
                  </a:lnTo>
                  <a:lnTo>
                    <a:pt x="17056" y="151968"/>
                  </a:lnTo>
                  <a:close/>
                </a:path>
                <a:path w="280669" h="234950">
                  <a:moveTo>
                    <a:pt x="0" y="151968"/>
                  </a:moveTo>
                  <a:lnTo>
                    <a:pt x="13119" y="234327"/>
                  </a:lnTo>
                  <a:lnTo>
                    <a:pt x="79019" y="218859"/>
                  </a:lnTo>
                  <a:lnTo>
                    <a:pt x="120332" y="198373"/>
                  </a:lnTo>
                  <a:lnTo>
                    <a:pt x="181000" y="165506"/>
                  </a:lnTo>
                  <a:lnTo>
                    <a:pt x="224282" y="140360"/>
                  </a:lnTo>
                  <a:lnTo>
                    <a:pt x="256082" y="102857"/>
                  </a:lnTo>
                  <a:lnTo>
                    <a:pt x="273375" y="71685"/>
                  </a:lnTo>
                  <a:lnTo>
                    <a:pt x="270311" y="67826"/>
                  </a:lnTo>
                  <a:lnTo>
                    <a:pt x="269519" y="66890"/>
                  </a:lnTo>
                  <a:lnTo>
                    <a:pt x="241325" y="102857"/>
                  </a:lnTo>
                  <a:lnTo>
                    <a:pt x="201650" y="140360"/>
                  </a:lnTo>
                  <a:lnTo>
                    <a:pt x="169519" y="160858"/>
                  </a:lnTo>
                  <a:lnTo>
                    <a:pt x="131813" y="174002"/>
                  </a:lnTo>
                  <a:lnTo>
                    <a:pt x="90500" y="194500"/>
                  </a:lnTo>
                  <a:lnTo>
                    <a:pt x="28206" y="214223"/>
                  </a:lnTo>
                  <a:lnTo>
                    <a:pt x="17056" y="171691"/>
                  </a:lnTo>
                  <a:lnTo>
                    <a:pt x="17056" y="151968"/>
                  </a:lnTo>
                  <a:lnTo>
                    <a:pt x="0" y="151968"/>
                  </a:lnTo>
                  <a:close/>
                </a:path>
              </a:pathLst>
            </a:custGeom>
            <a:solidFill>
              <a:srgbClr val="2F5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194363" y="5002072"/>
              <a:ext cx="23495" cy="52069"/>
            </a:xfrm>
            <a:custGeom>
              <a:avLst/>
              <a:gdLst/>
              <a:ahLst/>
              <a:cxnLst/>
              <a:rect l="l" t="t" r="r" b="b"/>
              <a:pathLst>
                <a:path w="23494" h="52070">
                  <a:moveTo>
                    <a:pt x="0" y="9409"/>
                  </a:moveTo>
                  <a:lnTo>
                    <a:pt x="12265" y="45959"/>
                  </a:lnTo>
                  <a:lnTo>
                    <a:pt x="20302" y="51688"/>
                  </a:lnTo>
                  <a:lnTo>
                    <a:pt x="22645" y="48644"/>
                  </a:lnTo>
                  <a:lnTo>
                    <a:pt x="23256" y="42275"/>
                  </a:lnTo>
                  <a:lnTo>
                    <a:pt x="22165" y="33501"/>
                  </a:lnTo>
                  <a:lnTo>
                    <a:pt x="2954" y="0"/>
                  </a:lnTo>
                  <a:lnTo>
                    <a:pt x="610" y="3043"/>
                  </a:lnTo>
                  <a:lnTo>
                    <a:pt x="0" y="9409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194363" y="5002060"/>
              <a:ext cx="23495" cy="52069"/>
            </a:xfrm>
            <a:custGeom>
              <a:avLst/>
              <a:gdLst/>
              <a:ahLst/>
              <a:cxnLst/>
              <a:rect l="l" t="t" r="r" b="b"/>
              <a:pathLst>
                <a:path w="23494" h="52070">
                  <a:moveTo>
                    <a:pt x="20302" y="51688"/>
                  </a:moveTo>
                  <a:lnTo>
                    <a:pt x="22645" y="48644"/>
                  </a:lnTo>
                  <a:lnTo>
                    <a:pt x="23256" y="42275"/>
                  </a:lnTo>
                  <a:lnTo>
                    <a:pt x="22165" y="33501"/>
                  </a:lnTo>
                  <a:lnTo>
                    <a:pt x="2954" y="0"/>
                  </a:lnTo>
                  <a:lnTo>
                    <a:pt x="610" y="3043"/>
                  </a:lnTo>
                  <a:lnTo>
                    <a:pt x="0" y="9409"/>
                  </a:lnTo>
                  <a:lnTo>
                    <a:pt x="1091" y="18182"/>
                  </a:lnTo>
                  <a:lnTo>
                    <a:pt x="20302" y="5168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202982" y="5016576"/>
              <a:ext cx="13335" cy="31115"/>
            </a:xfrm>
            <a:custGeom>
              <a:avLst/>
              <a:gdLst/>
              <a:ahLst/>
              <a:cxnLst/>
              <a:rect l="l" t="t" r="r" b="b"/>
              <a:pathLst>
                <a:path w="13334" h="31114">
                  <a:moveTo>
                    <a:pt x="0" y="1092"/>
                  </a:moveTo>
                  <a:lnTo>
                    <a:pt x="901" y="8178"/>
                  </a:lnTo>
                  <a:lnTo>
                    <a:pt x="6413" y="24587"/>
                  </a:lnTo>
                  <a:lnTo>
                    <a:pt x="9969" y="30784"/>
                  </a:lnTo>
                  <a:lnTo>
                    <a:pt x="13220" y="29692"/>
                  </a:lnTo>
                  <a:lnTo>
                    <a:pt x="12318" y="22606"/>
                  </a:lnTo>
                  <a:lnTo>
                    <a:pt x="6819" y="6197"/>
                  </a:lnTo>
                  <a:lnTo>
                    <a:pt x="3263" y="0"/>
                  </a:lnTo>
                  <a:close/>
                </a:path>
              </a:pathLst>
            </a:custGeom>
            <a:solidFill>
              <a:srgbClr val="A7A7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210759" y="5002072"/>
              <a:ext cx="23495" cy="52069"/>
            </a:xfrm>
            <a:custGeom>
              <a:avLst/>
              <a:gdLst/>
              <a:ahLst/>
              <a:cxnLst/>
              <a:rect l="l" t="t" r="r" b="b"/>
              <a:pathLst>
                <a:path w="23494" h="52070">
                  <a:moveTo>
                    <a:pt x="0" y="9409"/>
                  </a:moveTo>
                  <a:lnTo>
                    <a:pt x="12265" y="45959"/>
                  </a:lnTo>
                  <a:lnTo>
                    <a:pt x="20302" y="51688"/>
                  </a:lnTo>
                  <a:lnTo>
                    <a:pt x="22645" y="48644"/>
                  </a:lnTo>
                  <a:lnTo>
                    <a:pt x="23256" y="42275"/>
                  </a:lnTo>
                  <a:lnTo>
                    <a:pt x="22165" y="33501"/>
                  </a:lnTo>
                  <a:lnTo>
                    <a:pt x="2954" y="0"/>
                  </a:lnTo>
                  <a:lnTo>
                    <a:pt x="610" y="3043"/>
                  </a:lnTo>
                  <a:lnTo>
                    <a:pt x="0" y="9409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210759" y="5002060"/>
              <a:ext cx="23495" cy="52069"/>
            </a:xfrm>
            <a:custGeom>
              <a:avLst/>
              <a:gdLst/>
              <a:ahLst/>
              <a:cxnLst/>
              <a:rect l="l" t="t" r="r" b="b"/>
              <a:pathLst>
                <a:path w="23494" h="52070">
                  <a:moveTo>
                    <a:pt x="20302" y="51689"/>
                  </a:moveTo>
                  <a:lnTo>
                    <a:pt x="22645" y="48644"/>
                  </a:lnTo>
                  <a:lnTo>
                    <a:pt x="23256" y="42275"/>
                  </a:lnTo>
                  <a:lnTo>
                    <a:pt x="22165" y="33501"/>
                  </a:lnTo>
                  <a:lnTo>
                    <a:pt x="2954" y="0"/>
                  </a:lnTo>
                  <a:lnTo>
                    <a:pt x="610" y="3043"/>
                  </a:lnTo>
                  <a:lnTo>
                    <a:pt x="0" y="9409"/>
                  </a:lnTo>
                  <a:lnTo>
                    <a:pt x="1091" y="18182"/>
                  </a:lnTo>
                  <a:lnTo>
                    <a:pt x="20302" y="5168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19377" y="5016576"/>
              <a:ext cx="13335" cy="31115"/>
            </a:xfrm>
            <a:custGeom>
              <a:avLst/>
              <a:gdLst/>
              <a:ahLst/>
              <a:cxnLst/>
              <a:rect l="l" t="t" r="r" b="b"/>
              <a:pathLst>
                <a:path w="13334" h="31114">
                  <a:moveTo>
                    <a:pt x="0" y="1092"/>
                  </a:moveTo>
                  <a:lnTo>
                    <a:pt x="914" y="8178"/>
                  </a:lnTo>
                  <a:lnTo>
                    <a:pt x="6413" y="24587"/>
                  </a:lnTo>
                  <a:lnTo>
                    <a:pt x="9969" y="30784"/>
                  </a:lnTo>
                  <a:lnTo>
                    <a:pt x="13220" y="29692"/>
                  </a:lnTo>
                  <a:lnTo>
                    <a:pt x="12318" y="22606"/>
                  </a:lnTo>
                  <a:lnTo>
                    <a:pt x="6819" y="6197"/>
                  </a:lnTo>
                  <a:lnTo>
                    <a:pt x="3263" y="0"/>
                  </a:lnTo>
                  <a:close/>
                </a:path>
              </a:pathLst>
            </a:custGeom>
            <a:solidFill>
              <a:srgbClr val="A7A7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198283" y="5096357"/>
              <a:ext cx="65405" cy="33020"/>
            </a:xfrm>
            <a:custGeom>
              <a:avLst/>
              <a:gdLst/>
              <a:ahLst/>
              <a:cxnLst/>
              <a:rect l="l" t="t" r="r" b="b"/>
              <a:pathLst>
                <a:path w="65405" h="33020">
                  <a:moveTo>
                    <a:pt x="0" y="16433"/>
                  </a:moveTo>
                  <a:lnTo>
                    <a:pt x="2550" y="22832"/>
                  </a:lnTo>
                  <a:lnTo>
                    <a:pt x="9505" y="28055"/>
                  </a:lnTo>
                  <a:lnTo>
                    <a:pt x="19823" y="31576"/>
                  </a:lnTo>
                  <a:lnTo>
                    <a:pt x="32461" y="32867"/>
                  </a:lnTo>
                  <a:lnTo>
                    <a:pt x="45098" y="31576"/>
                  </a:lnTo>
                  <a:lnTo>
                    <a:pt x="55416" y="28055"/>
                  </a:lnTo>
                  <a:lnTo>
                    <a:pt x="62372" y="22832"/>
                  </a:lnTo>
                  <a:lnTo>
                    <a:pt x="64922" y="16433"/>
                  </a:lnTo>
                  <a:lnTo>
                    <a:pt x="62372" y="10035"/>
                  </a:lnTo>
                  <a:lnTo>
                    <a:pt x="55416" y="4811"/>
                  </a:lnTo>
                  <a:lnTo>
                    <a:pt x="45098" y="1290"/>
                  </a:lnTo>
                  <a:lnTo>
                    <a:pt x="32461" y="0"/>
                  </a:lnTo>
                  <a:lnTo>
                    <a:pt x="19823" y="1290"/>
                  </a:lnTo>
                  <a:lnTo>
                    <a:pt x="9505" y="4811"/>
                  </a:lnTo>
                  <a:lnTo>
                    <a:pt x="2550" y="10035"/>
                  </a:lnTo>
                  <a:lnTo>
                    <a:pt x="0" y="16433"/>
                  </a:lnTo>
                  <a:close/>
                </a:path>
              </a:pathLst>
            </a:custGeom>
            <a:solidFill>
              <a:srgbClr val="FCF2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616075" y="5029187"/>
            <a:ext cx="1905000" cy="533400"/>
          </a:xfrm>
          <a:prstGeom prst="rect">
            <a:avLst/>
          </a:prstGeom>
          <a:solidFill>
            <a:srgbClr val="FCF2DA"/>
          </a:solidFill>
          <a:ln w="38100">
            <a:solidFill>
              <a:srgbClr val="0E2FFF"/>
            </a:solidFill>
          </a:ln>
        </p:spPr>
        <p:txBody>
          <a:bodyPr vert="horz" wrap="square" lIns="0" tIns="121920" rIns="0" bIns="0" rtlCol="0">
            <a:spAutoFit/>
          </a:bodyPr>
          <a:lstStyle/>
          <a:p>
            <a:pPr marL="118110">
              <a:lnSpc>
                <a:spcPct val="100000"/>
              </a:lnSpc>
              <a:spcBef>
                <a:spcPts val="960"/>
              </a:spcBef>
            </a:pPr>
            <a:r>
              <a:rPr sz="2000" spc="-10" dirty="0">
                <a:solidFill>
                  <a:srgbClr val="37D142"/>
                </a:solidFill>
                <a:latin typeface="Tahoma"/>
                <a:cs typeface="Tahoma"/>
              </a:rPr>
              <a:t>14,23,25,30,31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40739" y="3557270"/>
            <a:ext cx="2825115" cy="99568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3800"/>
              </a:lnSpc>
              <a:spcBef>
                <a:spcPts val="260"/>
              </a:spcBef>
            </a:pPr>
            <a:r>
              <a:rPr sz="3200" spc="-5" dirty="0">
                <a:latin typeface="Times New Roman"/>
                <a:cs typeface="Times New Roman"/>
              </a:rPr>
              <a:t>Get </a:t>
            </a:r>
            <a:r>
              <a:rPr sz="3200" dirty="0">
                <a:latin typeface="Times New Roman"/>
                <a:cs typeface="Times New Roman"/>
              </a:rPr>
              <a:t>one friend to  </a:t>
            </a:r>
            <a:r>
              <a:rPr sz="3200" spc="-5" dirty="0">
                <a:latin typeface="Times New Roman"/>
                <a:cs typeface="Times New Roman"/>
              </a:rPr>
              <a:t>sort </a:t>
            </a:r>
            <a:r>
              <a:rPr sz="3200" dirty="0">
                <a:latin typeface="Times New Roman"/>
                <a:cs typeface="Times New Roman"/>
              </a:rPr>
              <a:t>the </a:t>
            </a:r>
            <a:r>
              <a:rPr sz="3200" spc="-5" dirty="0">
                <a:latin typeface="Times New Roman"/>
                <a:cs typeface="Times New Roman"/>
              </a:rPr>
              <a:t>first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half.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915137" y="5006962"/>
            <a:ext cx="1543050" cy="555625"/>
          </a:xfrm>
          <a:prstGeom prst="rect">
            <a:avLst/>
          </a:prstGeom>
          <a:solidFill>
            <a:srgbClr val="FCF2DA"/>
          </a:solidFill>
          <a:ln w="38100">
            <a:solidFill>
              <a:srgbClr val="0E2FFF"/>
            </a:solidFill>
          </a:ln>
        </p:spPr>
        <p:txBody>
          <a:bodyPr vert="horz" wrap="square" lIns="0" tIns="125095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985"/>
              </a:spcBef>
            </a:pPr>
            <a:r>
              <a:rPr sz="2000" spc="-5" dirty="0">
                <a:solidFill>
                  <a:srgbClr val="37D142"/>
                </a:solidFill>
                <a:latin typeface="Tahoma"/>
                <a:cs typeface="Tahoma"/>
              </a:rPr>
              <a:t>62,79,98,88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284912" y="4854575"/>
            <a:ext cx="381000" cy="993775"/>
            <a:chOff x="6284912" y="4854575"/>
            <a:chExt cx="381000" cy="993775"/>
          </a:xfrm>
        </p:grpSpPr>
        <p:sp>
          <p:nvSpPr>
            <p:cNvPr id="33" name="object 33"/>
            <p:cNvSpPr/>
            <p:nvPr/>
          </p:nvSpPr>
          <p:spPr>
            <a:xfrm>
              <a:off x="6404584" y="4942357"/>
              <a:ext cx="141643" cy="18754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368516" y="5140731"/>
              <a:ext cx="210820" cy="360045"/>
            </a:xfrm>
            <a:custGeom>
              <a:avLst/>
              <a:gdLst/>
              <a:ahLst/>
              <a:cxnLst/>
              <a:rect l="l" t="t" r="r" b="b"/>
              <a:pathLst>
                <a:path w="210820" h="360045">
                  <a:moveTo>
                    <a:pt x="210502" y="142290"/>
                  </a:moveTo>
                  <a:lnTo>
                    <a:pt x="164604" y="168592"/>
                  </a:lnTo>
                  <a:lnTo>
                    <a:pt x="147561" y="168592"/>
                  </a:lnTo>
                  <a:lnTo>
                    <a:pt x="136080" y="153123"/>
                  </a:lnTo>
                  <a:lnTo>
                    <a:pt x="128206" y="122186"/>
                  </a:lnTo>
                  <a:lnTo>
                    <a:pt x="141986" y="113296"/>
                  </a:lnTo>
                  <a:lnTo>
                    <a:pt x="204609" y="113296"/>
                  </a:lnTo>
                  <a:lnTo>
                    <a:pt x="197065" y="66890"/>
                  </a:lnTo>
                  <a:lnTo>
                    <a:pt x="157060" y="13525"/>
                  </a:lnTo>
                  <a:lnTo>
                    <a:pt x="134442" y="0"/>
                  </a:lnTo>
                  <a:lnTo>
                    <a:pt x="96075" y="1689"/>
                  </a:lnTo>
                  <a:lnTo>
                    <a:pt x="96075" y="160083"/>
                  </a:lnTo>
                  <a:lnTo>
                    <a:pt x="96075" y="213436"/>
                  </a:lnTo>
                  <a:lnTo>
                    <a:pt x="84607" y="246316"/>
                  </a:lnTo>
                  <a:lnTo>
                    <a:pt x="77381" y="254038"/>
                  </a:lnTo>
                  <a:lnTo>
                    <a:pt x="77381" y="233553"/>
                  </a:lnTo>
                  <a:lnTo>
                    <a:pt x="65913" y="209181"/>
                  </a:lnTo>
                  <a:lnTo>
                    <a:pt x="46558" y="193713"/>
                  </a:lnTo>
                  <a:lnTo>
                    <a:pt x="17386" y="169354"/>
                  </a:lnTo>
                  <a:lnTo>
                    <a:pt x="13449" y="140360"/>
                  </a:lnTo>
                  <a:lnTo>
                    <a:pt x="28854" y="100533"/>
                  </a:lnTo>
                  <a:lnTo>
                    <a:pt x="50863" y="72872"/>
                  </a:lnTo>
                  <a:lnTo>
                    <a:pt x="52146" y="80035"/>
                  </a:lnTo>
                  <a:lnTo>
                    <a:pt x="80670" y="108648"/>
                  </a:lnTo>
                  <a:lnTo>
                    <a:pt x="96075" y="160083"/>
                  </a:lnTo>
                  <a:lnTo>
                    <a:pt x="96075" y="1689"/>
                  </a:lnTo>
                  <a:lnTo>
                    <a:pt x="90500" y="1930"/>
                  </a:lnTo>
                  <a:lnTo>
                    <a:pt x="63169" y="15671"/>
                  </a:lnTo>
                  <a:lnTo>
                    <a:pt x="59677" y="13906"/>
                  </a:lnTo>
                  <a:lnTo>
                    <a:pt x="42633" y="15849"/>
                  </a:lnTo>
                  <a:lnTo>
                    <a:pt x="19354" y="55676"/>
                  </a:lnTo>
                  <a:lnTo>
                    <a:pt x="0" y="115989"/>
                  </a:lnTo>
                  <a:lnTo>
                    <a:pt x="0" y="162394"/>
                  </a:lnTo>
                  <a:lnTo>
                    <a:pt x="7874" y="186753"/>
                  </a:lnTo>
                  <a:lnTo>
                    <a:pt x="48209" y="215760"/>
                  </a:lnTo>
                  <a:lnTo>
                    <a:pt x="59677" y="235483"/>
                  </a:lnTo>
                  <a:lnTo>
                    <a:pt x="59677" y="249008"/>
                  </a:lnTo>
                  <a:lnTo>
                    <a:pt x="46558" y="266801"/>
                  </a:lnTo>
                  <a:lnTo>
                    <a:pt x="24917" y="293484"/>
                  </a:lnTo>
                  <a:lnTo>
                    <a:pt x="13449" y="328676"/>
                  </a:lnTo>
                  <a:lnTo>
                    <a:pt x="17386" y="359994"/>
                  </a:lnTo>
                  <a:lnTo>
                    <a:pt x="28854" y="353034"/>
                  </a:lnTo>
                  <a:lnTo>
                    <a:pt x="34759" y="309333"/>
                  </a:lnTo>
                  <a:lnTo>
                    <a:pt x="53784" y="282270"/>
                  </a:lnTo>
                  <a:lnTo>
                    <a:pt x="63614" y="277837"/>
                  </a:lnTo>
                  <a:lnTo>
                    <a:pt x="63614" y="295808"/>
                  </a:lnTo>
                  <a:lnTo>
                    <a:pt x="73126" y="309333"/>
                  </a:lnTo>
                  <a:lnTo>
                    <a:pt x="84607" y="315531"/>
                  </a:lnTo>
                  <a:lnTo>
                    <a:pt x="122631" y="320167"/>
                  </a:lnTo>
                  <a:lnTo>
                    <a:pt x="157060" y="288848"/>
                  </a:lnTo>
                  <a:lnTo>
                    <a:pt x="193128" y="221945"/>
                  </a:lnTo>
                  <a:lnTo>
                    <a:pt x="210502" y="142290"/>
                  </a:lnTo>
                  <a:close/>
                </a:path>
              </a:pathLst>
            </a:custGeom>
            <a:solidFill>
              <a:srgbClr val="2F5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495415" y="5134927"/>
              <a:ext cx="170497" cy="16819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352133" y="5398249"/>
              <a:ext cx="269875" cy="450215"/>
            </a:xfrm>
            <a:custGeom>
              <a:avLst/>
              <a:gdLst/>
              <a:ahLst/>
              <a:cxnLst/>
              <a:rect l="l" t="t" r="r" b="b"/>
              <a:pathLst>
                <a:path w="269875" h="450214">
                  <a:moveTo>
                    <a:pt x="269506" y="370827"/>
                  </a:moveTo>
                  <a:lnTo>
                    <a:pt x="252133" y="361937"/>
                  </a:lnTo>
                  <a:lnTo>
                    <a:pt x="208191" y="351104"/>
                  </a:lnTo>
                  <a:lnTo>
                    <a:pt x="183273" y="361937"/>
                  </a:lnTo>
                  <a:lnTo>
                    <a:pt x="166230" y="361937"/>
                  </a:lnTo>
                  <a:lnTo>
                    <a:pt x="167868" y="344144"/>
                  </a:lnTo>
                  <a:lnTo>
                    <a:pt x="184912" y="238201"/>
                  </a:lnTo>
                  <a:lnTo>
                    <a:pt x="196723" y="176326"/>
                  </a:lnTo>
                  <a:lnTo>
                    <a:pt x="194754" y="145389"/>
                  </a:lnTo>
                  <a:lnTo>
                    <a:pt x="177698" y="87782"/>
                  </a:lnTo>
                  <a:lnTo>
                    <a:pt x="160324" y="35191"/>
                  </a:lnTo>
                  <a:lnTo>
                    <a:pt x="131470" y="0"/>
                  </a:lnTo>
                  <a:lnTo>
                    <a:pt x="124828" y="6159"/>
                  </a:lnTo>
                  <a:lnTo>
                    <a:pt x="125577" y="1549"/>
                  </a:lnTo>
                  <a:lnTo>
                    <a:pt x="93116" y="8128"/>
                  </a:lnTo>
                  <a:lnTo>
                    <a:pt x="76073" y="41376"/>
                  </a:lnTo>
                  <a:lnTo>
                    <a:pt x="59016" y="100926"/>
                  </a:lnTo>
                  <a:lnTo>
                    <a:pt x="51473" y="175945"/>
                  </a:lnTo>
                  <a:lnTo>
                    <a:pt x="51473" y="218097"/>
                  </a:lnTo>
                  <a:lnTo>
                    <a:pt x="62953" y="270675"/>
                  </a:lnTo>
                  <a:lnTo>
                    <a:pt x="81635" y="343763"/>
                  </a:lnTo>
                  <a:lnTo>
                    <a:pt x="85572" y="363867"/>
                  </a:lnTo>
                  <a:lnTo>
                    <a:pt x="79997" y="374700"/>
                  </a:lnTo>
                  <a:lnTo>
                    <a:pt x="40005" y="390550"/>
                  </a:lnTo>
                  <a:lnTo>
                    <a:pt x="0" y="421487"/>
                  </a:lnTo>
                  <a:lnTo>
                    <a:pt x="1638" y="434251"/>
                  </a:lnTo>
                  <a:lnTo>
                    <a:pt x="30492" y="450100"/>
                  </a:lnTo>
                  <a:lnTo>
                    <a:pt x="41643" y="443141"/>
                  </a:lnTo>
                  <a:lnTo>
                    <a:pt x="62953" y="410273"/>
                  </a:lnTo>
                  <a:lnTo>
                    <a:pt x="87541" y="394423"/>
                  </a:lnTo>
                  <a:lnTo>
                    <a:pt x="114427" y="383590"/>
                  </a:lnTo>
                  <a:lnTo>
                    <a:pt x="116065" y="368122"/>
                  </a:lnTo>
                  <a:lnTo>
                    <a:pt x="108534" y="337185"/>
                  </a:lnTo>
                  <a:lnTo>
                    <a:pt x="87541" y="288848"/>
                  </a:lnTo>
                  <a:lnTo>
                    <a:pt x="74434" y="231241"/>
                  </a:lnTo>
                  <a:lnTo>
                    <a:pt x="74434" y="165112"/>
                  </a:lnTo>
                  <a:lnTo>
                    <a:pt x="85572" y="107505"/>
                  </a:lnTo>
                  <a:lnTo>
                    <a:pt x="110172" y="54140"/>
                  </a:lnTo>
                  <a:lnTo>
                    <a:pt x="118618" y="33337"/>
                  </a:lnTo>
                  <a:lnTo>
                    <a:pt x="118351" y="35191"/>
                  </a:lnTo>
                  <a:lnTo>
                    <a:pt x="125564" y="61480"/>
                  </a:lnTo>
                  <a:lnTo>
                    <a:pt x="144919" y="94742"/>
                  </a:lnTo>
                  <a:lnTo>
                    <a:pt x="166230" y="134569"/>
                  </a:lnTo>
                  <a:lnTo>
                    <a:pt x="173443" y="178650"/>
                  </a:lnTo>
                  <a:lnTo>
                    <a:pt x="167868" y="249415"/>
                  </a:lnTo>
                  <a:lnTo>
                    <a:pt x="154749" y="335635"/>
                  </a:lnTo>
                  <a:lnTo>
                    <a:pt x="144919" y="370827"/>
                  </a:lnTo>
                  <a:lnTo>
                    <a:pt x="148844" y="381660"/>
                  </a:lnTo>
                  <a:lnTo>
                    <a:pt x="171805" y="383590"/>
                  </a:lnTo>
                  <a:lnTo>
                    <a:pt x="200329" y="374700"/>
                  </a:lnTo>
                  <a:lnTo>
                    <a:pt x="225577" y="388226"/>
                  </a:lnTo>
                  <a:lnTo>
                    <a:pt x="240982" y="397129"/>
                  </a:lnTo>
                  <a:lnTo>
                    <a:pt x="252133" y="395185"/>
                  </a:lnTo>
                  <a:lnTo>
                    <a:pt x="269506" y="370827"/>
                  </a:lnTo>
                  <a:close/>
                </a:path>
              </a:pathLst>
            </a:custGeom>
            <a:solidFill>
              <a:srgbClr val="2F5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290487" y="4865014"/>
              <a:ext cx="271780" cy="217804"/>
            </a:xfrm>
            <a:custGeom>
              <a:avLst/>
              <a:gdLst/>
              <a:ahLst/>
              <a:cxnLst/>
              <a:rect l="l" t="t" r="r" b="b"/>
              <a:pathLst>
                <a:path w="271779" h="217804">
                  <a:moveTo>
                    <a:pt x="0" y="155054"/>
                  </a:moveTo>
                  <a:lnTo>
                    <a:pt x="13436" y="217703"/>
                  </a:lnTo>
                  <a:lnTo>
                    <a:pt x="56718" y="208800"/>
                  </a:lnTo>
                  <a:lnTo>
                    <a:pt x="101638" y="190627"/>
                  </a:lnTo>
                  <a:lnTo>
                    <a:pt x="137706" y="170522"/>
                  </a:lnTo>
                  <a:lnTo>
                    <a:pt x="177380" y="150418"/>
                  </a:lnTo>
                  <a:lnTo>
                    <a:pt x="218694" y="127990"/>
                  </a:lnTo>
                  <a:lnTo>
                    <a:pt x="252463" y="80810"/>
                  </a:lnTo>
                  <a:lnTo>
                    <a:pt x="271157" y="53746"/>
                  </a:lnTo>
                  <a:lnTo>
                    <a:pt x="235750" y="6959"/>
                  </a:lnTo>
                  <a:lnTo>
                    <a:pt x="218694" y="28994"/>
                  </a:lnTo>
                  <a:lnTo>
                    <a:pt x="201320" y="42532"/>
                  </a:lnTo>
                  <a:lnTo>
                    <a:pt x="182956" y="42532"/>
                  </a:lnTo>
                  <a:lnTo>
                    <a:pt x="163944" y="20104"/>
                  </a:lnTo>
                  <a:lnTo>
                    <a:pt x="141312" y="1930"/>
                  </a:lnTo>
                  <a:lnTo>
                    <a:pt x="86563" y="13538"/>
                  </a:lnTo>
                  <a:lnTo>
                    <a:pt x="58686" y="60706"/>
                  </a:lnTo>
                  <a:lnTo>
                    <a:pt x="56718" y="96278"/>
                  </a:lnTo>
                  <a:lnTo>
                    <a:pt x="51142" y="127990"/>
                  </a:lnTo>
                  <a:lnTo>
                    <a:pt x="35737" y="143459"/>
                  </a:lnTo>
                  <a:lnTo>
                    <a:pt x="17373" y="150418"/>
                  </a:lnTo>
                  <a:lnTo>
                    <a:pt x="0" y="155054"/>
                  </a:lnTo>
                  <a:close/>
                </a:path>
              </a:pathLst>
            </a:custGeom>
            <a:solidFill>
              <a:srgbClr val="0A57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284912" y="4854575"/>
              <a:ext cx="280670" cy="234950"/>
            </a:xfrm>
            <a:custGeom>
              <a:avLst/>
              <a:gdLst/>
              <a:ahLst/>
              <a:cxnLst/>
              <a:rect l="l" t="t" r="r" b="b"/>
              <a:pathLst>
                <a:path w="280670" h="234950">
                  <a:moveTo>
                    <a:pt x="17056" y="151968"/>
                  </a:moveTo>
                  <a:lnTo>
                    <a:pt x="17056" y="171691"/>
                  </a:lnTo>
                  <a:lnTo>
                    <a:pt x="41313" y="158534"/>
                  </a:lnTo>
                  <a:lnTo>
                    <a:pt x="62306" y="145008"/>
                  </a:lnTo>
                  <a:lnTo>
                    <a:pt x="69849" y="124904"/>
                  </a:lnTo>
                  <a:lnTo>
                    <a:pt x="69849" y="78498"/>
                  </a:lnTo>
                  <a:lnTo>
                    <a:pt x="79019" y="53365"/>
                  </a:lnTo>
                  <a:lnTo>
                    <a:pt x="96405" y="33642"/>
                  </a:lnTo>
                  <a:lnTo>
                    <a:pt x="115087" y="20497"/>
                  </a:lnTo>
                  <a:lnTo>
                    <a:pt x="135750" y="17792"/>
                  </a:lnTo>
                  <a:lnTo>
                    <a:pt x="160337" y="27063"/>
                  </a:lnTo>
                  <a:lnTo>
                    <a:pt x="169519" y="44856"/>
                  </a:lnTo>
                  <a:lnTo>
                    <a:pt x="186893" y="60325"/>
                  </a:lnTo>
                  <a:lnTo>
                    <a:pt x="197713" y="64960"/>
                  </a:lnTo>
                  <a:lnTo>
                    <a:pt x="213131" y="64960"/>
                  </a:lnTo>
                  <a:lnTo>
                    <a:pt x="224281" y="51435"/>
                  </a:lnTo>
                  <a:lnTo>
                    <a:pt x="241325" y="31318"/>
                  </a:lnTo>
                  <a:lnTo>
                    <a:pt x="270151" y="67624"/>
                  </a:lnTo>
                  <a:lnTo>
                    <a:pt x="273456" y="71539"/>
                  </a:lnTo>
                  <a:lnTo>
                    <a:pt x="273456" y="71787"/>
                  </a:lnTo>
                  <a:lnTo>
                    <a:pt x="275094" y="73850"/>
                  </a:lnTo>
                  <a:lnTo>
                    <a:pt x="279031" y="68834"/>
                  </a:lnTo>
                  <a:lnTo>
                    <a:pt x="280669" y="58000"/>
                  </a:lnTo>
                  <a:lnTo>
                    <a:pt x="273456" y="48087"/>
                  </a:lnTo>
                  <a:lnTo>
                    <a:pt x="273456" y="71539"/>
                  </a:lnTo>
                  <a:lnTo>
                    <a:pt x="273375" y="71685"/>
                  </a:lnTo>
                  <a:lnTo>
                    <a:pt x="273375" y="47976"/>
                  </a:lnTo>
                  <a:lnTo>
                    <a:pt x="246900" y="11595"/>
                  </a:lnTo>
                  <a:lnTo>
                    <a:pt x="237388" y="0"/>
                  </a:lnTo>
                  <a:lnTo>
                    <a:pt x="226250" y="24358"/>
                  </a:lnTo>
                  <a:lnTo>
                    <a:pt x="209194" y="44856"/>
                  </a:lnTo>
                  <a:lnTo>
                    <a:pt x="197713" y="46786"/>
                  </a:lnTo>
                  <a:lnTo>
                    <a:pt x="186893" y="37896"/>
                  </a:lnTo>
                  <a:lnTo>
                    <a:pt x="175425" y="20497"/>
                  </a:lnTo>
                  <a:lnTo>
                    <a:pt x="152476" y="4635"/>
                  </a:lnTo>
                  <a:lnTo>
                    <a:pt x="115087" y="0"/>
                  </a:lnTo>
                  <a:lnTo>
                    <a:pt x="84924" y="17792"/>
                  </a:lnTo>
                  <a:lnTo>
                    <a:pt x="64274" y="44856"/>
                  </a:lnTo>
                  <a:lnTo>
                    <a:pt x="52793" y="93967"/>
                  </a:lnTo>
                  <a:lnTo>
                    <a:pt x="52793" y="124904"/>
                  </a:lnTo>
                  <a:lnTo>
                    <a:pt x="33781" y="140360"/>
                  </a:lnTo>
                  <a:lnTo>
                    <a:pt x="17056" y="151968"/>
                  </a:lnTo>
                  <a:close/>
                </a:path>
                <a:path w="280670" h="234950">
                  <a:moveTo>
                    <a:pt x="0" y="151968"/>
                  </a:moveTo>
                  <a:lnTo>
                    <a:pt x="13119" y="234327"/>
                  </a:lnTo>
                  <a:lnTo>
                    <a:pt x="79019" y="218859"/>
                  </a:lnTo>
                  <a:lnTo>
                    <a:pt x="120332" y="198374"/>
                  </a:lnTo>
                  <a:lnTo>
                    <a:pt x="181000" y="165506"/>
                  </a:lnTo>
                  <a:lnTo>
                    <a:pt x="224281" y="140360"/>
                  </a:lnTo>
                  <a:lnTo>
                    <a:pt x="256082" y="102857"/>
                  </a:lnTo>
                  <a:lnTo>
                    <a:pt x="273375" y="71685"/>
                  </a:lnTo>
                  <a:lnTo>
                    <a:pt x="270151" y="67624"/>
                  </a:lnTo>
                  <a:lnTo>
                    <a:pt x="269532" y="66890"/>
                  </a:lnTo>
                  <a:lnTo>
                    <a:pt x="241325" y="102857"/>
                  </a:lnTo>
                  <a:lnTo>
                    <a:pt x="201650" y="140360"/>
                  </a:lnTo>
                  <a:lnTo>
                    <a:pt x="169519" y="160858"/>
                  </a:lnTo>
                  <a:lnTo>
                    <a:pt x="131813" y="174002"/>
                  </a:lnTo>
                  <a:lnTo>
                    <a:pt x="90500" y="194500"/>
                  </a:lnTo>
                  <a:lnTo>
                    <a:pt x="28206" y="214223"/>
                  </a:lnTo>
                  <a:lnTo>
                    <a:pt x="17056" y="171691"/>
                  </a:lnTo>
                  <a:lnTo>
                    <a:pt x="17056" y="151968"/>
                  </a:lnTo>
                  <a:lnTo>
                    <a:pt x="0" y="151968"/>
                  </a:lnTo>
                  <a:close/>
                </a:path>
              </a:pathLst>
            </a:custGeom>
            <a:solidFill>
              <a:srgbClr val="2F5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472801" y="4983022"/>
              <a:ext cx="23495" cy="52069"/>
            </a:xfrm>
            <a:custGeom>
              <a:avLst/>
              <a:gdLst/>
              <a:ahLst/>
              <a:cxnLst/>
              <a:rect l="l" t="t" r="r" b="b"/>
              <a:pathLst>
                <a:path w="23495" h="52070">
                  <a:moveTo>
                    <a:pt x="0" y="9409"/>
                  </a:moveTo>
                  <a:lnTo>
                    <a:pt x="12265" y="45959"/>
                  </a:lnTo>
                  <a:lnTo>
                    <a:pt x="20302" y="51688"/>
                  </a:lnTo>
                  <a:lnTo>
                    <a:pt x="22645" y="48644"/>
                  </a:lnTo>
                  <a:lnTo>
                    <a:pt x="23256" y="42275"/>
                  </a:lnTo>
                  <a:lnTo>
                    <a:pt x="22165" y="33501"/>
                  </a:lnTo>
                  <a:lnTo>
                    <a:pt x="2954" y="0"/>
                  </a:lnTo>
                  <a:lnTo>
                    <a:pt x="610" y="3043"/>
                  </a:lnTo>
                  <a:lnTo>
                    <a:pt x="0" y="9409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472788" y="4983010"/>
              <a:ext cx="23495" cy="52069"/>
            </a:xfrm>
            <a:custGeom>
              <a:avLst/>
              <a:gdLst/>
              <a:ahLst/>
              <a:cxnLst/>
              <a:rect l="l" t="t" r="r" b="b"/>
              <a:pathLst>
                <a:path w="23495" h="52070">
                  <a:moveTo>
                    <a:pt x="20302" y="51688"/>
                  </a:moveTo>
                  <a:lnTo>
                    <a:pt x="22645" y="48644"/>
                  </a:lnTo>
                  <a:lnTo>
                    <a:pt x="23256" y="42275"/>
                  </a:lnTo>
                  <a:lnTo>
                    <a:pt x="22165" y="33501"/>
                  </a:lnTo>
                  <a:lnTo>
                    <a:pt x="2954" y="0"/>
                  </a:lnTo>
                  <a:lnTo>
                    <a:pt x="610" y="3043"/>
                  </a:lnTo>
                  <a:lnTo>
                    <a:pt x="0" y="9409"/>
                  </a:lnTo>
                  <a:lnTo>
                    <a:pt x="1091" y="18182"/>
                  </a:lnTo>
                  <a:lnTo>
                    <a:pt x="20302" y="5168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481419" y="4997526"/>
              <a:ext cx="13335" cy="31115"/>
            </a:xfrm>
            <a:custGeom>
              <a:avLst/>
              <a:gdLst/>
              <a:ahLst/>
              <a:cxnLst/>
              <a:rect l="l" t="t" r="r" b="b"/>
              <a:pathLst>
                <a:path w="13335" h="31114">
                  <a:moveTo>
                    <a:pt x="0" y="1092"/>
                  </a:moveTo>
                  <a:lnTo>
                    <a:pt x="901" y="8178"/>
                  </a:lnTo>
                  <a:lnTo>
                    <a:pt x="6413" y="24587"/>
                  </a:lnTo>
                  <a:lnTo>
                    <a:pt x="9969" y="30784"/>
                  </a:lnTo>
                  <a:lnTo>
                    <a:pt x="13220" y="29692"/>
                  </a:lnTo>
                  <a:lnTo>
                    <a:pt x="12319" y="22606"/>
                  </a:lnTo>
                  <a:lnTo>
                    <a:pt x="6807" y="6197"/>
                  </a:lnTo>
                  <a:lnTo>
                    <a:pt x="3263" y="0"/>
                  </a:lnTo>
                  <a:close/>
                </a:path>
              </a:pathLst>
            </a:custGeom>
            <a:solidFill>
              <a:srgbClr val="A7A7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489196" y="4983022"/>
              <a:ext cx="23495" cy="52069"/>
            </a:xfrm>
            <a:custGeom>
              <a:avLst/>
              <a:gdLst/>
              <a:ahLst/>
              <a:cxnLst/>
              <a:rect l="l" t="t" r="r" b="b"/>
              <a:pathLst>
                <a:path w="23495" h="52070">
                  <a:moveTo>
                    <a:pt x="0" y="9409"/>
                  </a:moveTo>
                  <a:lnTo>
                    <a:pt x="12265" y="45959"/>
                  </a:lnTo>
                  <a:lnTo>
                    <a:pt x="20302" y="51688"/>
                  </a:lnTo>
                  <a:lnTo>
                    <a:pt x="22645" y="48644"/>
                  </a:lnTo>
                  <a:lnTo>
                    <a:pt x="23256" y="42275"/>
                  </a:lnTo>
                  <a:lnTo>
                    <a:pt x="22165" y="33501"/>
                  </a:lnTo>
                  <a:lnTo>
                    <a:pt x="2954" y="0"/>
                  </a:lnTo>
                  <a:lnTo>
                    <a:pt x="610" y="3043"/>
                  </a:lnTo>
                  <a:lnTo>
                    <a:pt x="0" y="9409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489184" y="4983010"/>
              <a:ext cx="23495" cy="52069"/>
            </a:xfrm>
            <a:custGeom>
              <a:avLst/>
              <a:gdLst/>
              <a:ahLst/>
              <a:cxnLst/>
              <a:rect l="l" t="t" r="r" b="b"/>
              <a:pathLst>
                <a:path w="23495" h="52070">
                  <a:moveTo>
                    <a:pt x="20302" y="51688"/>
                  </a:moveTo>
                  <a:lnTo>
                    <a:pt x="22645" y="48644"/>
                  </a:lnTo>
                  <a:lnTo>
                    <a:pt x="23256" y="42275"/>
                  </a:lnTo>
                  <a:lnTo>
                    <a:pt x="22165" y="33501"/>
                  </a:lnTo>
                  <a:lnTo>
                    <a:pt x="2954" y="0"/>
                  </a:lnTo>
                  <a:lnTo>
                    <a:pt x="610" y="3043"/>
                  </a:lnTo>
                  <a:lnTo>
                    <a:pt x="0" y="9409"/>
                  </a:lnTo>
                  <a:lnTo>
                    <a:pt x="1091" y="18182"/>
                  </a:lnTo>
                  <a:lnTo>
                    <a:pt x="20302" y="5168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497815" y="4997526"/>
              <a:ext cx="13335" cy="31115"/>
            </a:xfrm>
            <a:custGeom>
              <a:avLst/>
              <a:gdLst/>
              <a:ahLst/>
              <a:cxnLst/>
              <a:rect l="l" t="t" r="r" b="b"/>
              <a:pathLst>
                <a:path w="13334" h="31114">
                  <a:moveTo>
                    <a:pt x="0" y="1092"/>
                  </a:moveTo>
                  <a:lnTo>
                    <a:pt x="901" y="8178"/>
                  </a:lnTo>
                  <a:lnTo>
                    <a:pt x="6413" y="24587"/>
                  </a:lnTo>
                  <a:lnTo>
                    <a:pt x="9969" y="30784"/>
                  </a:lnTo>
                  <a:lnTo>
                    <a:pt x="13220" y="29692"/>
                  </a:lnTo>
                  <a:lnTo>
                    <a:pt x="12319" y="22606"/>
                  </a:lnTo>
                  <a:lnTo>
                    <a:pt x="6819" y="6197"/>
                  </a:lnTo>
                  <a:lnTo>
                    <a:pt x="3263" y="0"/>
                  </a:lnTo>
                  <a:close/>
                </a:path>
              </a:pathLst>
            </a:custGeom>
            <a:solidFill>
              <a:srgbClr val="A7A7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476720" y="5077307"/>
              <a:ext cx="65405" cy="33020"/>
            </a:xfrm>
            <a:custGeom>
              <a:avLst/>
              <a:gdLst/>
              <a:ahLst/>
              <a:cxnLst/>
              <a:rect l="l" t="t" r="r" b="b"/>
              <a:pathLst>
                <a:path w="65404" h="33020">
                  <a:moveTo>
                    <a:pt x="0" y="16433"/>
                  </a:moveTo>
                  <a:lnTo>
                    <a:pt x="2550" y="22832"/>
                  </a:lnTo>
                  <a:lnTo>
                    <a:pt x="9505" y="28055"/>
                  </a:lnTo>
                  <a:lnTo>
                    <a:pt x="19823" y="31576"/>
                  </a:lnTo>
                  <a:lnTo>
                    <a:pt x="32461" y="32867"/>
                  </a:lnTo>
                  <a:lnTo>
                    <a:pt x="45098" y="31576"/>
                  </a:lnTo>
                  <a:lnTo>
                    <a:pt x="55416" y="28055"/>
                  </a:lnTo>
                  <a:lnTo>
                    <a:pt x="62372" y="22832"/>
                  </a:lnTo>
                  <a:lnTo>
                    <a:pt x="64922" y="16433"/>
                  </a:lnTo>
                  <a:lnTo>
                    <a:pt x="62372" y="10035"/>
                  </a:lnTo>
                  <a:lnTo>
                    <a:pt x="55416" y="4811"/>
                  </a:lnTo>
                  <a:lnTo>
                    <a:pt x="45098" y="1290"/>
                  </a:lnTo>
                  <a:lnTo>
                    <a:pt x="32461" y="0"/>
                  </a:lnTo>
                  <a:lnTo>
                    <a:pt x="19823" y="1290"/>
                  </a:lnTo>
                  <a:lnTo>
                    <a:pt x="9505" y="4811"/>
                  </a:lnTo>
                  <a:lnTo>
                    <a:pt x="2550" y="10035"/>
                  </a:lnTo>
                  <a:lnTo>
                    <a:pt x="0" y="16433"/>
                  </a:lnTo>
                  <a:close/>
                </a:path>
              </a:pathLst>
            </a:custGeom>
            <a:solidFill>
              <a:srgbClr val="FCF2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6119177" y="3538220"/>
            <a:ext cx="3299460" cy="99568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3800"/>
              </a:lnSpc>
              <a:spcBef>
                <a:spcPts val="260"/>
              </a:spcBef>
            </a:pPr>
            <a:r>
              <a:rPr sz="3200" spc="-5" dirty="0">
                <a:latin typeface="Times New Roman"/>
                <a:cs typeface="Times New Roman"/>
              </a:rPr>
              <a:t>Get </a:t>
            </a:r>
            <a:r>
              <a:rPr sz="3200" dirty="0">
                <a:latin typeface="Times New Roman"/>
                <a:cs typeface="Times New Roman"/>
              </a:rPr>
              <a:t>one friend to  </a:t>
            </a:r>
            <a:r>
              <a:rPr sz="3200" spc="-5" dirty="0">
                <a:latin typeface="Times New Roman"/>
                <a:cs typeface="Times New Roman"/>
              </a:rPr>
              <a:t>sort </a:t>
            </a:r>
            <a:r>
              <a:rPr sz="3200" dirty="0">
                <a:latin typeface="Times New Roman"/>
                <a:cs typeface="Times New Roman"/>
              </a:rPr>
              <a:t>the second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half.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53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769100"/>
            <a:ext cx="1371600" cy="546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57410" y="924559"/>
            <a:ext cx="3548379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In-Place</a:t>
            </a:r>
            <a:r>
              <a:rPr spc="-80" dirty="0"/>
              <a:t> </a:t>
            </a:r>
            <a:r>
              <a:rPr spc="-5" dirty="0"/>
              <a:t>Quick-Sort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590800" y="2209800"/>
            <a:ext cx="457200" cy="914400"/>
            <a:chOff x="2590800" y="2209800"/>
            <a:chExt cx="457200" cy="914400"/>
          </a:xfrm>
        </p:grpSpPr>
        <p:sp>
          <p:nvSpPr>
            <p:cNvPr id="5" name="object 5"/>
            <p:cNvSpPr/>
            <p:nvPr/>
          </p:nvSpPr>
          <p:spPr>
            <a:xfrm>
              <a:off x="2672549" y="2209800"/>
              <a:ext cx="227088" cy="19081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90800" y="2422207"/>
              <a:ext cx="457200" cy="702310"/>
            </a:xfrm>
            <a:custGeom>
              <a:avLst/>
              <a:gdLst/>
              <a:ahLst/>
              <a:cxnLst/>
              <a:rect l="l" t="t" r="r" b="b"/>
              <a:pathLst>
                <a:path w="457200" h="702310">
                  <a:moveTo>
                    <a:pt x="457200" y="136753"/>
                  </a:moveTo>
                  <a:lnTo>
                    <a:pt x="454418" y="122656"/>
                  </a:lnTo>
                  <a:lnTo>
                    <a:pt x="426656" y="82257"/>
                  </a:lnTo>
                  <a:lnTo>
                    <a:pt x="423887" y="79679"/>
                  </a:lnTo>
                  <a:lnTo>
                    <a:pt x="423887" y="141439"/>
                  </a:lnTo>
                  <a:lnTo>
                    <a:pt x="415556" y="156006"/>
                  </a:lnTo>
                  <a:lnTo>
                    <a:pt x="381685" y="172453"/>
                  </a:lnTo>
                  <a:lnTo>
                    <a:pt x="342265" y="181838"/>
                  </a:lnTo>
                  <a:lnTo>
                    <a:pt x="319811" y="189623"/>
                  </a:lnTo>
                  <a:lnTo>
                    <a:pt x="305612" y="145046"/>
                  </a:lnTo>
                  <a:lnTo>
                    <a:pt x="302844" y="99974"/>
                  </a:lnTo>
                  <a:lnTo>
                    <a:pt x="286613" y="44030"/>
                  </a:lnTo>
                  <a:lnTo>
                    <a:pt x="361696" y="63004"/>
                  </a:lnTo>
                  <a:lnTo>
                    <a:pt x="418338" y="115608"/>
                  </a:lnTo>
                  <a:lnTo>
                    <a:pt x="423887" y="141439"/>
                  </a:lnTo>
                  <a:lnTo>
                    <a:pt x="423887" y="79679"/>
                  </a:lnTo>
                  <a:lnTo>
                    <a:pt x="373354" y="32473"/>
                  </a:lnTo>
                  <a:lnTo>
                    <a:pt x="336715" y="8509"/>
                  </a:lnTo>
                  <a:lnTo>
                    <a:pt x="294513" y="6159"/>
                  </a:lnTo>
                  <a:lnTo>
                    <a:pt x="274523" y="13208"/>
                  </a:lnTo>
                  <a:lnTo>
                    <a:pt x="274523" y="24333"/>
                  </a:lnTo>
                  <a:lnTo>
                    <a:pt x="266306" y="12179"/>
                  </a:lnTo>
                  <a:lnTo>
                    <a:pt x="223672" y="444"/>
                  </a:lnTo>
                  <a:lnTo>
                    <a:pt x="181597" y="5143"/>
                  </a:lnTo>
                  <a:lnTo>
                    <a:pt x="180809" y="6400"/>
                  </a:lnTo>
                  <a:lnTo>
                    <a:pt x="162687" y="0"/>
                  </a:lnTo>
                  <a:lnTo>
                    <a:pt x="120484" y="2349"/>
                  </a:lnTo>
                  <a:lnTo>
                    <a:pt x="83845" y="26314"/>
                  </a:lnTo>
                  <a:lnTo>
                    <a:pt x="30543" y="76098"/>
                  </a:lnTo>
                  <a:lnTo>
                    <a:pt x="2781" y="116497"/>
                  </a:lnTo>
                  <a:lnTo>
                    <a:pt x="0" y="130594"/>
                  </a:lnTo>
                  <a:lnTo>
                    <a:pt x="13881" y="156895"/>
                  </a:lnTo>
                  <a:lnTo>
                    <a:pt x="44424" y="168630"/>
                  </a:lnTo>
                  <a:lnTo>
                    <a:pt x="83845" y="182727"/>
                  </a:lnTo>
                  <a:lnTo>
                    <a:pt x="114935" y="189776"/>
                  </a:lnTo>
                  <a:lnTo>
                    <a:pt x="128816" y="201993"/>
                  </a:lnTo>
                  <a:lnTo>
                    <a:pt x="120484" y="218427"/>
                  </a:lnTo>
                  <a:lnTo>
                    <a:pt x="98285" y="237680"/>
                  </a:lnTo>
                  <a:lnTo>
                    <a:pt x="69964" y="240030"/>
                  </a:lnTo>
                  <a:lnTo>
                    <a:pt x="50533" y="232524"/>
                  </a:lnTo>
                  <a:lnTo>
                    <a:pt x="38862" y="240030"/>
                  </a:lnTo>
                  <a:lnTo>
                    <a:pt x="41643" y="249428"/>
                  </a:lnTo>
                  <a:lnTo>
                    <a:pt x="64401" y="256476"/>
                  </a:lnTo>
                  <a:lnTo>
                    <a:pt x="98285" y="256476"/>
                  </a:lnTo>
                  <a:lnTo>
                    <a:pt x="128816" y="249428"/>
                  </a:lnTo>
                  <a:lnTo>
                    <a:pt x="146024" y="240030"/>
                  </a:lnTo>
                  <a:lnTo>
                    <a:pt x="157137" y="223126"/>
                  </a:lnTo>
                  <a:lnTo>
                    <a:pt x="162687" y="204330"/>
                  </a:lnTo>
                  <a:lnTo>
                    <a:pt x="148805" y="187426"/>
                  </a:lnTo>
                  <a:lnTo>
                    <a:pt x="114935" y="175679"/>
                  </a:lnTo>
                  <a:lnTo>
                    <a:pt x="75514" y="166293"/>
                  </a:lnTo>
                  <a:lnTo>
                    <a:pt x="41643" y="149847"/>
                  </a:lnTo>
                  <a:lnTo>
                    <a:pt x="33312" y="135280"/>
                  </a:lnTo>
                  <a:lnTo>
                    <a:pt x="38862" y="109448"/>
                  </a:lnTo>
                  <a:lnTo>
                    <a:pt x="64401" y="76098"/>
                  </a:lnTo>
                  <a:lnTo>
                    <a:pt x="95504" y="56845"/>
                  </a:lnTo>
                  <a:lnTo>
                    <a:pt x="143256" y="42748"/>
                  </a:lnTo>
                  <a:lnTo>
                    <a:pt x="162445" y="39319"/>
                  </a:lnTo>
                  <a:lnTo>
                    <a:pt x="164985" y="74155"/>
                  </a:lnTo>
                  <a:lnTo>
                    <a:pt x="176060" y="135661"/>
                  </a:lnTo>
                  <a:lnTo>
                    <a:pt x="176060" y="190119"/>
                  </a:lnTo>
                  <a:lnTo>
                    <a:pt x="162217" y="237528"/>
                  </a:lnTo>
                  <a:lnTo>
                    <a:pt x="153911" y="263829"/>
                  </a:lnTo>
                  <a:lnTo>
                    <a:pt x="159448" y="287769"/>
                  </a:lnTo>
                  <a:lnTo>
                    <a:pt x="160489" y="288429"/>
                  </a:lnTo>
                  <a:lnTo>
                    <a:pt x="168021" y="406298"/>
                  </a:lnTo>
                  <a:lnTo>
                    <a:pt x="168021" y="437324"/>
                  </a:lnTo>
                  <a:lnTo>
                    <a:pt x="156895" y="494677"/>
                  </a:lnTo>
                  <a:lnTo>
                    <a:pt x="154114" y="561428"/>
                  </a:lnTo>
                  <a:lnTo>
                    <a:pt x="159677" y="594804"/>
                  </a:lnTo>
                  <a:lnTo>
                    <a:pt x="154114" y="613613"/>
                  </a:lnTo>
                  <a:lnTo>
                    <a:pt x="114630" y="642289"/>
                  </a:lnTo>
                  <a:lnTo>
                    <a:pt x="97383" y="678014"/>
                  </a:lnTo>
                  <a:lnTo>
                    <a:pt x="100723" y="689775"/>
                  </a:lnTo>
                  <a:lnTo>
                    <a:pt x="131318" y="701992"/>
                  </a:lnTo>
                  <a:lnTo>
                    <a:pt x="139649" y="696823"/>
                  </a:lnTo>
                  <a:lnTo>
                    <a:pt x="142989" y="675665"/>
                  </a:lnTo>
                  <a:lnTo>
                    <a:pt x="151333" y="644639"/>
                  </a:lnTo>
                  <a:lnTo>
                    <a:pt x="165239" y="630542"/>
                  </a:lnTo>
                  <a:lnTo>
                    <a:pt x="181927" y="621131"/>
                  </a:lnTo>
                  <a:lnTo>
                    <a:pt x="196380" y="608914"/>
                  </a:lnTo>
                  <a:lnTo>
                    <a:pt x="199161" y="599503"/>
                  </a:lnTo>
                  <a:lnTo>
                    <a:pt x="190817" y="587756"/>
                  </a:lnTo>
                  <a:lnTo>
                    <a:pt x="181927" y="580707"/>
                  </a:lnTo>
                  <a:lnTo>
                    <a:pt x="176364" y="551561"/>
                  </a:lnTo>
                  <a:lnTo>
                    <a:pt x="181927" y="491858"/>
                  </a:lnTo>
                  <a:lnTo>
                    <a:pt x="201942" y="423214"/>
                  </a:lnTo>
                  <a:lnTo>
                    <a:pt x="221411" y="368211"/>
                  </a:lnTo>
                  <a:lnTo>
                    <a:pt x="226669" y="315937"/>
                  </a:lnTo>
                  <a:lnTo>
                    <a:pt x="229209" y="316407"/>
                  </a:lnTo>
                  <a:lnTo>
                    <a:pt x="247942" y="316407"/>
                  </a:lnTo>
                  <a:lnTo>
                    <a:pt x="275793" y="394576"/>
                  </a:lnTo>
                  <a:lnTo>
                    <a:pt x="292430" y="449110"/>
                  </a:lnTo>
                  <a:lnTo>
                    <a:pt x="297980" y="496608"/>
                  </a:lnTo>
                  <a:lnTo>
                    <a:pt x="297980" y="534695"/>
                  </a:lnTo>
                  <a:lnTo>
                    <a:pt x="289661" y="563841"/>
                  </a:lnTo>
                  <a:lnTo>
                    <a:pt x="281343" y="573239"/>
                  </a:lnTo>
                  <a:lnTo>
                    <a:pt x="281343" y="582650"/>
                  </a:lnTo>
                  <a:lnTo>
                    <a:pt x="292430" y="597230"/>
                  </a:lnTo>
                  <a:lnTo>
                    <a:pt x="311835" y="601929"/>
                  </a:lnTo>
                  <a:lnTo>
                    <a:pt x="342900" y="601929"/>
                  </a:lnTo>
                  <a:lnTo>
                    <a:pt x="398907" y="613689"/>
                  </a:lnTo>
                  <a:lnTo>
                    <a:pt x="415544" y="630605"/>
                  </a:lnTo>
                  <a:lnTo>
                    <a:pt x="441058" y="620737"/>
                  </a:lnTo>
                  <a:lnTo>
                    <a:pt x="452145" y="597230"/>
                  </a:lnTo>
                  <a:lnTo>
                    <a:pt x="441058" y="587819"/>
                  </a:lnTo>
                  <a:lnTo>
                    <a:pt x="393357" y="582650"/>
                  </a:lnTo>
                  <a:lnTo>
                    <a:pt x="340118" y="582650"/>
                  </a:lnTo>
                  <a:lnTo>
                    <a:pt x="317385" y="580301"/>
                  </a:lnTo>
                  <a:lnTo>
                    <a:pt x="311835" y="566191"/>
                  </a:lnTo>
                  <a:lnTo>
                    <a:pt x="317385" y="539394"/>
                  </a:lnTo>
                  <a:lnTo>
                    <a:pt x="320713" y="494245"/>
                  </a:lnTo>
                  <a:lnTo>
                    <a:pt x="306298" y="378117"/>
                  </a:lnTo>
                  <a:lnTo>
                    <a:pt x="309067" y="320751"/>
                  </a:lnTo>
                  <a:lnTo>
                    <a:pt x="309067" y="301942"/>
                  </a:lnTo>
                  <a:lnTo>
                    <a:pt x="305549" y="277520"/>
                  </a:lnTo>
                  <a:lnTo>
                    <a:pt x="320116" y="251079"/>
                  </a:lnTo>
                  <a:lnTo>
                    <a:pt x="328383" y="255587"/>
                  </a:lnTo>
                  <a:lnTo>
                    <a:pt x="358927" y="262636"/>
                  </a:lnTo>
                  <a:lnTo>
                    <a:pt x="392785" y="262636"/>
                  </a:lnTo>
                  <a:lnTo>
                    <a:pt x="415556" y="255587"/>
                  </a:lnTo>
                  <a:lnTo>
                    <a:pt x="418338" y="246189"/>
                  </a:lnTo>
                  <a:lnTo>
                    <a:pt x="406679" y="238683"/>
                  </a:lnTo>
                  <a:lnTo>
                    <a:pt x="387235" y="246189"/>
                  </a:lnTo>
                  <a:lnTo>
                    <a:pt x="358927" y="243840"/>
                  </a:lnTo>
                  <a:lnTo>
                    <a:pt x="336715" y="224586"/>
                  </a:lnTo>
                  <a:lnTo>
                    <a:pt x="328383" y="208140"/>
                  </a:lnTo>
                  <a:lnTo>
                    <a:pt x="342265" y="195935"/>
                  </a:lnTo>
                  <a:lnTo>
                    <a:pt x="373354" y="188887"/>
                  </a:lnTo>
                  <a:lnTo>
                    <a:pt x="412775" y="174790"/>
                  </a:lnTo>
                  <a:lnTo>
                    <a:pt x="443318" y="163055"/>
                  </a:lnTo>
                  <a:lnTo>
                    <a:pt x="457200" y="136753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3181350" y="1792274"/>
            <a:ext cx="3638550" cy="1808480"/>
            <a:chOff x="3181350" y="1792274"/>
            <a:chExt cx="3638550" cy="1808480"/>
          </a:xfrm>
        </p:grpSpPr>
        <p:sp>
          <p:nvSpPr>
            <p:cNvPr id="8" name="object 8"/>
            <p:cNvSpPr/>
            <p:nvPr/>
          </p:nvSpPr>
          <p:spPr>
            <a:xfrm>
              <a:off x="4419587" y="1811324"/>
              <a:ext cx="977900" cy="1770380"/>
            </a:xfrm>
            <a:custGeom>
              <a:avLst/>
              <a:gdLst/>
              <a:ahLst/>
              <a:cxnLst/>
              <a:rect l="l" t="t" r="r" b="b"/>
              <a:pathLst>
                <a:path w="977900" h="1770379">
                  <a:moveTo>
                    <a:pt x="0" y="1770062"/>
                  </a:moveTo>
                  <a:lnTo>
                    <a:pt x="19063" y="1721104"/>
                  </a:lnTo>
                  <a:lnTo>
                    <a:pt x="38211" y="1672313"/>
                  </a:lnTo>
                  <a:lnTo>
                    <a:pt x="57524" y="1623855"/>
                  </a:lnTo>
                  <a:lnTo>
                    <a:pt x="77088" y="1575896"/>
                  </a:lnTo>
                  <a:lnTo>
                    <a:pt x="96985" y="1528605"/>
                  </a:lnTo>
                  <a:lnTo>
                    <a:pt x="117299" y="1482146"/>
                  </a:lnTo>
                  <a:lnTo>
                    <a:pt x="138112" y="1436687"/>
                  </a:lnTo>
                  <a:lnTo>
                    <a:pt x="159509" y="1392394"/>
                  </a:lnTo>
                  <a:lnTo>
                    <a:pt x="181572" y="1349435"/>
                  </a:lnTo>
                  <a:lnTo>
                    <a:pt x="204384" y="1307975"/>
                  </a:lnTo>
                  <a:lnTo>
                    <a:pt x="228030" y="1268181"/>
                  </a:lnTo>
                  <a:lnTo>
                    <a:pt x="252593" y="1230219"/>
                  </a:lnTo>
                  <a:lnTo>
                    <a:pt x="278154" y="1194258"/>
                  </a:lnTo>
                  <a:lnTo>
                    <a:pt x="304799" y="1160462"/>
                  </a:lnTo>
                  <a:lnTo>
                    <a:pt x="335625" y="1128536"/>
                  </a:lnTo>
                  <a:lnTo>
                    <a:pt x="369129" y="1102315"/>
                  </a:lnTo>
                  <a:lnTo>
                    <a:pt x="404779" y="1080629"/>
                  </a:lnTo>
                  <a:lnTo>
                    <a:pt x="442043" y="1062307"/>
                  </a:lnTo>
                  <a:lnTo>
                    <a:pt x="480386" y="1046179"/>
                  </a:lnTo>
                  <a:lnTo>
                    <a:pt x="519275" y="1031075"/>
                  </a:lnTo>
                  <a:lnTo>
                    <a:pt x="558177" y="1015822"/>
                  </a:lnTo>
                  <a:lnTo>
                    <a:pt x="596558" y="999252"/>
                  </a:lnTo>
                  <a:lnTo>
                    <a:pt x="633887" y="980194"/>
                  </a:lnTo>
                  <a:lnTo>
                    <a:pt x="669628" y="957476"/>
                  </a:lnTo>
                  <a:lnTo>
                    <a:pt x="703250" y="929928"/>
                  </a:lnTo>
                  <a:lnTo>
                    <a:pt x="734218" y="896381"/>
                  </a:lnTo>
                  <a:lnTo>
                    <a:pt x="761999" y="855662"/>
                  </a:lnTo>
                  <a:lnTo>
                    <a:pt x="780292" y="820795"/>
                  </a:lnTo>
                  <a:lnTo>
                    <a:pt x="797626" y="781163"/>
                  </a:lnTo>
                  <a:lnTo>
                    <a:pt x="814042" y="737379"/>
                  </a:lnTo>
                  <a:lnTo>
                    <a:pt x="829580" y="690057"/>
                  </a:lnTo>
                  <a:lnTo>
                    <a:pt x="844283" y="639812"/>
                  </a:lnTo>
                  <a:lnTo>
                    <a:pt x="858190" y="587257"/>
                  </a:lnTo>
                  <a:lnTo>
                    <a:pt x="871343" y="533007"/>
                  </a:lnTo>
                  <a:lnTo>
                    <a:pt x="883782" y="477676"/>
                  </a:lnTo>
                  <a:lnTo>
                    <a:pt x="895548" y="421878"/>
                  </a:lnTo>
                  <a:lnTo>
                    <a:pt x="906682" y="366226"/>
                  </a:lnTo>
                  <a:lnTo>
                    <a:pt x="917225" y="311336"/>
                  </a:lnTo>
                  <a:lnTo>
                    <a:pt x="927217" y="257821"/>
                  </a:lnTo>
                  <a:lnTo>
                    <a:pt x="936700" y="206296"/>
                  </a:lnTo>
                  <a:lnTo>
                    <a:pt x="945714" y="157373"/>
                  </a:lnTo>
                  <a:lnTo>
                    <a:pt x="954300" y="111668"/>
                  </a:lnTo>
                  <a:lnTo>
                    <a:pt x="962499" y="69795"/>
                  </a:lnTo>
                  <a:lnTo>
                    <a:pt x="970352" y="32367"/>
                  </a:lnTo>
                  <a:lnTo>
                    <a:pt x="977899" y="0"/>
                  </a:lnTo>
                </a:path>
              </a:pathLst>
            </a:custGeom>
            <a:ln w="38100">
              <a:solidFill>
                <a:srgbClr val="D84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00400" y="1981199"/>
              <a:ext cx="3600450" cy="1371600"/>
            </a:xfrm>
            <a:custGeom>
              <a:avLst/>
              <a:gdLst/>
              <a:ahLst/>
              <a:cxnLst/>
              <a:rect l="l" t="t" r="r" b="b"/>
              <a:pathLst>
                <a:path w="3600450" h="1371600">
                  <a:moveTo>
                    <a:pt x="0" y="533400"/>
                  </a:moveTo>
                  <a:lnTo>
                    <a:pt x="0" y="0"/>
                  </a:lnTo>
                  <a:lnTo>
                    <a:pt x="1905000" y="0"/>
                  </a:lnTo>
                  <a:lnTo>
                    <a:pt x="1905000" y="533400"/>
                  </a:lnTo>
                  <a:lnTo>
                    <a:pt x="0" y="533400"/>
                  </a:lnTo>
                  <a:close/>
                </a:path>
                <a:path w="3600450" h="1371600">
                  <a:moveTo>
                    <a:pt x="2057387" y="1371587"/>
                  </a:moveTo>
                  <a:lnTo>
                    <a:pt x="2057387" y="815962"/>
                  </a:lnTo>
                  <a:lnTo>
                    <a:pt x="3600437" y="815962"/>
                  </a:lnTo>
                  <a:lnTo>
                    <a:pt x="3600437" y="1371587"/>
                  </a:lnTo>
                  <a:lnTo>
                    <a:pt x="2057387" y="1371587"/>
                  </a:lnTo>
                  <a:close/>
                </a:path>
              </a:pathLst>
            </a:custGeom>
            <a:ln w="38100">
              <a:solidFill>
                <a:srgbClr val="0E2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305860" y="1957070"/>
            <a:ext cx="3413760" cy="12827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R="1687830" algn="ctr">
              <a:lnSpc>
                <a:spcPct val="100000"/>
              </a:lnSpc>
              <a:spcBef>
                <a:spcPts val="1150"/>
              </a:spcBef>
            </a:pPr>
            <a:r>
              <a:rPr sz="2000" spc="-5" dirty="0">
                <a:solidFill>
                  <a:srgbClr val="37D142"/>
                </a:solidFill>
                <a:latin typeface="Tahoma"/>
                <a:cs typeface="Tahoma"/>
              </a:rPr>
              <a:t>14,23,25,30,31</a:t>
            </a:r>
            <a:endParaRPr sz="2000">
              <a:latin typeface="Tahoma"/>
              <a:cs typeface="Tahoma"/>
            </a:endParaRPr>
          </a:p>
          <a:p>
            <a:pPr marL="334645" algn="ctr">
              <a:lnSpc>
                <a:spcPct val="100000"/>
              </a:lnSpc>
              <a:spcBef>
                <a:spcPts val="1050"/>
              </a:spcBef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52</a:t>
            </a:r>
            <a:endParaRPr sz="2000">
              <a:latin typeface="Tahoma"/>
              <a:cs typeface="Tahoma"/>
            </a:endParaRPr>
          </a:p>
          <a:p>
            <a:pPr marL="2052955" algn="ctr">
              <a:lnSpc>
                <a:spcPct val="100000"/>
              </a:lnSpc>
              <a:spcBef>
                <a:spcPts val="600"/>
              </a:spcBef>
            </a:pPr>
            <a:r>
              <a:rPr sz="2000" spc="-5" dirty="0">
                <a:solidFill>
                  <a:srgbClr val="37D142"/>
                </a:solidFill>
                <a:latin typeface="Tahoma"/>
                <a:cs typeface="Tahoma"/>
              </a:rPr>
              <a:t>62</a:t>
            </a:r>
            <a:r>
              <a:rPr sz="2000" spc="-55" dirty="0">
                <a:solidFill>
                  <a:srgbClr val="37D142"/>
                </a:solidFill>
                <a:latin typeface="Tahoma"/>
                <a:cs typeface="Tahoma"/>
              </a:rPr>
              <a:t>,</a:t>
            </a:r>
            <a:r>
              <a:rPr sz="2000" spc="-5" dirty="0">
                <a:solidFill>
                  <a:srgbClr val="37D142"/>
                </a:solidFill>
                <a:latin typeface="Tahoma"/>
                <a:cs typeface="Tahoma"/>
              </a:rPr>
              <a:t>79,98,88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964506" y="2416175"/>
            <a:ext cx="384175" cy="555625"/>
          </a:xfrm>
          <a:custGeom>
            <a:avLst/>
            <a:gdLst/>
            <a:ahLst/>
            <a:cxnLst/>
            <a:rect l="l" t="t" r="r" b="b"/>
            <a:pathLst>
              <a:path w="384175" h="555625">
                <a:moveTo>
                  <a:pt x="0" y="555625"/>
                </a:moveTo>
                <a:lnTo>
                  <a:pt x="0" y="0"/>
                </a:lnTo>
                <a:lnTo>
                  <a:pt x="383832" y="0"/>
                </a:lnTo>
                <a:lnTo>
                  <a:pt x="383832" y="555625"/>
                </a:lnTo>
                <a:lnTo>
                  <a:pt x="0" y="555625"/>
                </a:lnTo>
                <a:close/>
              </a:path>
            </a:pathLst>
          </a:custGeom>
          <a:ln w="38100">
            <a:solidFill>
              <a:srgbClr val="0E2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044064" y="4014470"/>
            <a:ext cx="3446145" cy="99568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215900" marR="5080" indent="-203200">
              <a:lnSpc>
                <a:spcPts val="3800"/>
              </a:lnSpc>
              <a:spcBef>
                <a:spcPts val="260"/>
              </a:spcBef>
            </a:pPr>
            <a:r>
              <a:rPr sz="3200" spc="-5" dirty="0">
                <a:latin typeface="Times New Roman"/>
                <a:cs typeface="Times New Roman"/>
              </a:rPr>
              <a:t>Glue pieces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together.  </a:t>
            </a:r>
            <a:r>
              <a:rPr sz="3200" spc="-5" dirty="0">
                <a:latin typeface="Times New Roman"/>
                <a:cs typeface="Times New Roman"/>
              </a:rPr>
              <a:t>(No real work)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54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733787" y="5257787"/>
            <a:ext cx="3733800" cy="533400"/>
          </a:xfrm>
          <a:prstGeom prst="rect">
            <a:avLst/>
          </a:prstGeom>
          <a:solidFill>
            <a:srgbClr val="FCF2DA"/>
          </a:solidFill>
          <a:ln w="38100">
            <a:solidFill>
              <a:srgbClr val="0E2FFF"/>
            </a:solidFill>
          </a:ln>
        </p:spPr>
        <p:txBody>
          <a:bodyPr vert="horz" wrap="square" lIns="0" tIns="121920" rIns="0" bIns="0" rtlCol="0">
            <a:spAutoFit/>
          </a:bodyPr>
          <a:lstStyle/>
          <a:p>
            <a:pPr marL="145415">
              <a:lnSpc>
                <a:spcPct val="100000"/>
              </a:lnSpc>
              <a:spcBef>
                <a:spcPts val="960"/>
              </a:spcBef>
            </a:pPr>
            <a:r>
              <a:rPr sz="2000" spc="-5" dirty="0">
                <a:solidFill>
                  <a:srgbClr val="37D142"/>
                </a:solidFill>
                <a:latin typeface="Tahoma"/>
                <a:cs typeface="Tahoma"/>
              </a:rPr>
              <a:t>14,23,25,30,31,52,62,79,88,98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80857" y="758520"/>
            <a:ext cx="610044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The In-Place Partitioning</a:t>
            </a:r>
            <a:r>
              <a:rPr spc="-45" dirty="0"/>
              <a:t> </a:t>
            </a:r>
            <a:r>
              <a:rPr spc="-10" dirty="0"/>
              <a:t>Problem</a:t>
            </a:r>
          </a:p>
        </p:txBody>
      </p:sp>
      <p:sp>
        <p:nvSpPr>
          <p:cNvPr id="4" name="object 4"/>
          <p:cNvSpPr/>
          <p:nvPr/>
        </p:nvSpPr>
        <p:spPr>
          <a:xfrm>
            <a:off x="685014" y="3355185"/>
            <a:ext cx="2830195" cy="1985645"/>
          </a:xfrm>
          <a:custGeom>
            <a:avLst/>
            <a:gdLst/>
            <a:ahLst/>
            <a:cxnLst/>
            <a:rect l="l" t="t" r="r" b="b"/>
            <a:pathLst>
              <a:path w="2830195" h="1985645">
                <a:moveTo>
                  <a:pt x="537360" y="348452"/>
                </a:moveTo>
                <a:lnTo>
                  <a:pt x="498790" y="376847"/>
                </a:lnTo>
                <a:lnTo>
                  <a:pt x="459502" y="408449"/>
                </a:lnTo>
                <a:lnTo>
                  <a:pt x="419823" y="442895"/>
                </a:lnTo>
                <a:lnTo>
                  <a:pt x="380083" y="479820"/>
                </a:lnTo>
                <a:lnTo>
                  <a:pt x="340609" y="518860"/>
                </a:lnTo>
                <a:lnTo>
                  <a:pt x="301730" y="559649"/>
                </a:lnTo>
                <a:lnTo>
                  <a:pt x="263775" y="601825"/>
                </a:lnTo>
                <a:lnTo>
                  <a:pt x="227073" y="645022"/>
                </a:lnTo>
                <a:lnTo>
                  <a:pt x="191952" y="688876"/>
                </a:lnTo>
                <a:lnTo>
                  <a:pt x="158741" y="733023"/>
                </a:lnTo>
                <a:lnTo>
                  <a:pt x="127768" y="777099"/>
                </a:lnTo>
                <a:lnTo>
                  <a:pt x="99362" y="820739"/>
                </a:lnTo>
                <a:lnTo>
                  <a:pt x="73852" y="863579"/>
                </a:lnTo>
                <a:lnTo>
                  <a:pt x="51565" y="905254"/>
                </a:lnTo>
                <a:lnTo>
                  <a:pt x="32832" y="945401"/>
                </a:lnTo>
                <a:lnTo>
                  <a:pt x="17980" y="983655"/>
                </a:lnTo>
                <a:lnTo>
                  <a:pt x="1235" y="1053025"/>
                </a:lnTo>
                <a:lnTo>
                  <a:pt x="0" y="1083414"/>
                </a:lnTo>
                <a:lnTo>
                  <a:pt x="3960" y="1110452"/>
                </a:lnTo>
                <a:lnTo>
                  <a:pt x="33322" y="1156962"/>
                </a:lnTo>
                <a:lnTo>
                  <a:pt x="89625" y="1191986"/>
                </a:lnTo>
                <a:lnTo>
                  <a:pt x="126140" y="1206020"/>
                </a:lnTo>
                <a:lnTo>
                  <a:pt x="167302" y="1218177"/>
                </a:lnTo>
                <a:lnTo>
                  <a:pt x="212417" y="1228791"/>
                </a:lnTo>
                <a:lnTo>
                  <a:pt x="260789" y="1238192"/>
                </a:lnTo>
                <a:lnTo>
                  <a:pt x="311721" y="1246713"/>
                </a:lnTo>
                <a:lnTo>
                  <a:pt x="364518" y="1254685"/>
                </a:lnTo>
                <a:lnTo>
                  <a:pt x="418484" y="1262441"/>
                </a:lnTo>
                <a:lnTo>
                  <a:pt x="472924" y="1270312"/>
                </a:lnTo>
                <a:lnTo>
                  <a:pt x="527142" y="1278630"/>
                </a:lnTo>
                <a:lnTo>
                  <a:pt x="580442" y="1287727"/>
                </a:lnTo>
                <a:lnTo>
                  <a:pt x="632128" y="1297935"/>
                </a:lnTo>
                <a:lnTo>
                  <a:pt x="681505" y="1309585"/>
                </a:lnTo>
                <a:lnTo>
                  <a:pt x="727877" y="1323011"/>
                </a:lnTo>
                <a:lnTo>
                  <a:pt x="770548" y="1338543"/>
                </a:lnTo>
                <a:lnTo>
                  <a:pt x="808822" y="1356514"/>
                </a:lnTo>
                <a:lnTo>
                  <a:pt x="852984" y="1382856"/>
                </a:lnTo>
                <a:lnTo>
                  <a:pt x="894865" y="1412604"/>
                </a:lnTo>
                <a:lnTo>
                  <a:pt x="934768" y="1445185"/>
                </a:lnTo>
                <a:lnTo>
                  <a:pt x="972994" y="1480028"/>
                </a:lnTo>
                <a:lnTo>
                  <a:pt x="1009847" y="1516558"/>
                </a:lnTo>
                <a:lnTo>
                  <a:pt x="1045626" y="1554202"/>
                </a:lnTo>
                <a:lnTo>
                  <a:pt x="1080635" y="1592389"/>
                </a:lnTo>
                <a:lnTo>
                  <a:pt x="1115176" y="1630544"/>
                </a:lnTo>
                <a:lnTo>
                  <a:pt x="1149550" y="1668096"/>
                </a:lnTo>
                <a:lnTo>
                  <a:pt x="1184060" y="1704470"/>
                </a:lnTo>
                <a:lnTo>
                  <a:pt x="1219007" y="1739095"/>
                </a:lnTo>
                <a:lnTo>
                  <a:pt x="1254694" y="1771398"/>
                </a:lnTo>
                <a:lnTo>
                  <a:pt x="1291422" y="1800804"/>
                </a:lnTo>
                <a:lnTo>
                  <a:pt x="1329493" y="1826742"/>
                </a:lnTo>
                <a:lnTo>
                  <a:pt x="1369210" y="1848639"/>
                </a:lnTo>
                <a:lnTo>
                  <a:pt x="1412859" y="1869612"/>
                </a:lnTo>
                <a:lnTo>
                  <a:pt x="1456763" y="1890071"/>
                </a:lnTo>
                <a:lnTo>
                  <a:pt x="1500978" y="1909600"/>
                </a:lnTo>
                <a:lnTo>
                  <a:pt x="1545565" y="1927783"/>
                </a:lnTo>
                <a:lnTo>
                  <a:pt x="1590583" y="1944201"/>
                </a:lnTo>
                <a:lnTo>
                  <a:pt x="1636090" y="1958440"/>
                </a:lnTo>
                <a:lnTo>
                  <a:pt x="1682145" y="1970083"/>
                </a:lnTo>
                <a:lnTo>
                  <a:pt x="1728808" y="1978712"/>
                </a:lnTo>
                <a:lnTo>
                  <a:pt x="1776138" y="1983912"/>
                </a:lnTo>
                <a:lnTo>
                  <a:pt x="1824193" y="1985266"/>
                </a:lnTo>
                <a:lnTo>
                  <a:pt x="1873032" y="1982357"/>
                </a:lnTo>
                <a:lnTo>
                  <a:pt x="1922715" y="1974769"/>
                </a:lnTo>
                <a:lnTo>
                  <a:pt x="1973300" y="1962085"/>
                </a:lnTo>
                <a:lnTo>
                  <a:pt x="2024847" y="1943889"/>
                </a:lnTo>
                <a:lnTo>
                  <a:pt x="2090158" y="1917097"/>
                </a:lnTo>
                <a:lnTo>
                  <a:pt x="2127434" y="1901392"/>
                </a:lnTo>
                <a:lnTo>
                  <a:pt x="2167220" y="1884209"/>
                </a:lnTo>
                <a:lnTo>
                  <a:pt x="2209086" y="1865594"/>
                </a:lnTo>
                <a:lnTo>
                  <a:pt x="2252604" y="1845591"/>
                </a:lnTo>
                <a:lnTo>
                  <a:pt x="2297345" y="1824247"/>
                </a:lnTo>
                <a:lnTo>
                  <a:pt x="2342882" y="1801608"/>
                </a:lnTo>
                <a:lnTo>
                  <a:pt x="2388785" y="1777720"/>
                </a:lnTo>
                <a:lnTo>
                  <a:pt x="2434625" y="1752627"/>
                </a:lnTo>
                <a:lnTo>
                  <a:pt x="2479975" y="1726376"/>
                </a:lnTo>
                <a:lnTo>
                  <a:pt x="2524406" y="1699013"/>
                </a:lnTo>
                <a:lnTo>
                  <a:pt x="2567488" y="1670582"/>
                </a:lnTo>
                <a:lnTo>
                  <a:pt x="2608795" y="1641131"/>
                </a:lnTo>
                <a:lnTo>
                  <a:pt x="2647896" y="1610705"/>
                </a:lnTo>
                <a:lnTo>
                  <a:pt x="2684364" y="1579348"/>
                </a:lnTo>
                <a:lnTo>
                  <a:pt x="2717770" y="1547108"/>
                </a:lnTo>
                <a:lnTo>
                  <a:pt x="2747686" y="1514030"/>
                </a:lnTo>
                <a:lnTo>
                  <a:pt x="2773682" y="1480159"/>
                </a:lnTo>
                <a:lnTo>
                  <a:pt x="2795331" y="1445541"/>
                </a:lnTo>
                <a:lnTo>
                  <a:pt x="2812203" y="1410222"/>
                </a:lnTo>
                <a:lnTo>
                  <a:pt x="2829905" y="1337665"/>
                </a:lnTo>
                <a:lnTo>
                  <a:pt x="2829877" y="1300517"/>
                </a:lnTo>
                <a:lnTo>
                  <a:pt x="2823360" y="1262852"/>
                </a:lnTo>
                <a:lnTo>
                  <a:pt x="2803595" y="1207973"/>
                </a:lnTo>
                <a:lnTo>
                  <a:pt x="2771831" y="1146448"/>
                </a:lnTo>
                <a:lnTo>
                  <a:pt x="2751805" y="1113499"/>
                </a:lnTo>
                <a:lnTo>
                  <a:pt x="2729206" y="1079256"/>
                </a:lnTo>
                <a:lnTo>
                  <a:pt x="2704176" y="1043841"/>
                </a:lnTo>
                <a:lnTo>
                  <a:pt x="2676857" y="1007377"/>
                </a:lnTo>
                <a:lnTo>
                  <a:pt x="2647391" y="969986"/>
                </a:lnTo>
                <a:lnTo>
                  <a:pt x="2615921" y="931789"/>
                </a:lnTo>
                <a:lnTo>
                  <a:pt x="2582588" y="892911"/>
                </a:lnTo>
                <a:lnTo>
                  <a:pt x="2547535" y="853473"/>
                </a:lnTo>
                <a:lnTo>
                  <a:pt x="2510904" y="813598"/>
                </a:lnTo>
                <a:lnTo>
                  <a:pt x="2472837" y="773407"/>
                </a:lnTo>
                <a:lnTo>
                  <a:pt x="2433476" y="733024"/>
                </a:lnTo>
                <a:lnTo>
                  <a:pt x="2392964" y="692571"/>
                </a:lnTo>
                <a:lnTo>
                  <a:pt x="2351442" y="652170"/>
                </a:lnTo>
                <a:lnTo>
                  <a:pt x="2309054" y="611944"/>
                </a:lnTo>
                <a:lnTo>
                  <a:pt x="2265940" y="572015"/>
                </a:lnTo>
                <a:lnTo>
                  <a:pt x="2222243" y="532505"/>
                </a:lnTo>
                <a:lnTo>
                  <a:pt x="2178105" y="493537"/>
                </a:lnTo>
                <a:lnTo>
                  <a:pt x="2133669" y="455234"/>
                </a:lnTo>
                <a:lnTo>
                  <a:pt x="2089076" y="417718"/>
                </a:lnTo>
                <a:lnTo>
                  <a:pt x="2044469" y="381110"/>
                </a:lnTo>
                <a:lnTo>
                  <a:pt x="1999989" y="345535"/>
                </a:lnTo>
                <a:lnTo>
                  <a:pt x="1955780" y="311113"/>
                </a:lnTo>
                <a:lnTo>
                  <a:pt x="1911983" y="277968"/>
                </a:lnTo>
                <a:lnTo>
                  <a:pt x="1868741" y="246221"/>
                </a:lnTo>
                <a:lnTo>
                  <a:pt x="1826195" y="215996"/>
                </a:lnTo>
                <a:lnTo>
                  <a:pt x="1784487" y="187415"/>
                </a:lnTo>
                <a:lnTo>
                  <a:pt x="1743760" y="160600"/>
                </a:lnTo>
                <a:lnTo>
                  <a:pt x="1704157" y="135673"/>
                </a:lnTo>
                <a:lnTo>
                  <a:pt x="1665818" y="112757"/>
                </a:lnTo>
                <a:lnTo>
                  <a:pt x="1628887" y="91975"/>
                </a:lnTo>
                <a:lnTo>
                  <a:pt x="1593506" y="73448"/>
                </a:lnTo>
                <a:lnTo>
                  <a:pt x="1527960" y="43652"/>
                </a:lnTo>
                <a:lnTo>
                  <a:pt x="1478414" y="26178"/>
                </a:lnTo>
                <a:lnTo>
                  <a:pt x="1429194" y="13339"/>
                </a:lnTo>
                <a:lnTo>
                  <a:pt x="1380338" y="4872"/>
                </a:lnTo>
                <a:lnTo>
                  <a:pt x="1331882" y="513"/>
                </a:lnTo>
                <a:lnTo>
                  <a:pt x="1283865" y="0"/>
                </a:lnTo>
                <a:lnTo>
                  <a:pt x="1236324" y="3068"/>
                </a:lnTo>
                <a:lnTo>
                  <a:pt x="1189296" y="9456"/>
                </a:lnTo>
                <a:lnTo>
                  <a:pt x="1142820" y="18901"/>
                </a:lnTo>
                <a:lnTo>
                  <a:pt x="1096932" y="31138"/>
                </a:lnTo>
                <a:lnTo>
                  <a:pt x="1051670" y="45906"/>
                </a:lnTo>
                <a:lnTo>
                  <a:pt x="1007073" y="62941"/>
                </a:lnTo>
                <a:lnTo>
                  <a:pt x="963176" y="81980"/>
                </a:lnTo>
                <a:lnTo>
                  <a:pt x="920019" y="102760"/>
                </a:lnTo>
                <a:lnTo>
                  <a:pt x="877639" y="125018"/>
                </a:lnTo>
                <a:lnTo>
                  <a:pt x="836072" y="148491"/>
                </a:lnTo>
                <a:lnTo>
                  <a:pt x="795357" y="172917"/>
                </a:lnTo>
                <a:lnTo>
                  <a:pt x="755532" y="198031"/>
                </a:lnTo>
                <a:lnTo>
                  <a:pt x="716633" y="223570"/>
                </a:lnTo>
                <a:lnTo>
                  <a:pt x="678699" y="249273"/>
                </a:lnTo>
                <a:lnTo>
                  <a:pt x="641767" y="274876"/>
                </a:lnTo>
                <a:lnTo>
                  <a:pt x="605875" y="300115"/>
                </a:lnTo>
                <a:lnTo>
                  <a:pt x="571060" y="324728"/>
                </a:lnTo>
                <a:lnTo>
                  <a:pt x="537360" y="348452"/>
                </a:lnTo>
                <a:close/>
              </a:path>
            </a:pathLst>
          </a:custGeom>
          <a:ln w="38100">
            <a:solidFill>
              <a:srgbClr val="0E2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425064" y="3812857"/>
            <a:ext cx="471170" cy="132715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700"/>
              </a:spcBef>
            </a:pPr>
            <a:r>
              <a:rPr sz="2000" dirty="0">
                <a:solidFill>
                  <a:srgbClr val="2F5C00"/>
                </a:solidFill>
                <a:latin typeface="Tahoma"/>
                <a:cs typeface="Tahoma"/>
              </a:rPr>
              <a:t>14</a:t>
            </a:r>
            <a:endParaRPr sz="2000">
              <a:latin typeface="Tahoma"/>
              <a:cs typeface="Tahoma"/>
            </a:endParaRPr>
          </a:p>
          <a:p>
            <a:pPr marL="180975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solidFill>
                  <a:srgbClr val="2F5C00"/>
                </a:solidFill>
                <a:latin typeface="Tahoma"/>
                <a:cs typeface="Tahoma"/>
              </a:rPr>
              <a:t>30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50"/>
              </a:spcBef>
            </a:pPr>
            <a:r>
              <a:rPr sz="2000" dirty="0">
                <a:solidFill>
                  <a:srgbClr val="2F5C00"/>
                </a:solidFill>
                <a:latin typeface="Tahoma"/>
                <a:cs typeface="Tahoma"/>
              </a:rPr>
              <a:t>79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58464" y="4498657"/>
            <a:ext cx="3028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F5C00"/>
                </a:solidFill>
                <a:latin typeface="Tahoma"/>
                <a:cs typeface="Tahoma"/>
              </a:rPr>
              <a:t>23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97914" y="4006558"/>
            <a:ext cx="1350645" cy="82867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60"/>
              </a:spcBef>
              <a:tabLst>
                <a:tab pos="821690" algn="l"/>
              </a:tabLst>
            </a:pPr>
            <a:r>
              <a:rPr sz="2000" dirty="0">
                <a:solidFill>
                  <a:srgbClr val="2F5C00"/>
                </a:solidFill>
                <a:latin typeface="Tahoma"/>
                <a:cs typeface="Tahoma"/>
              </a:rPr>
              <a:t>31</a:t>
            </a:r>
            <a:r>
              <a:rPr sz="2000" spc="-235" dirty="0">
                <a:solidFill>
                  <a:srgbClr val="2F5C00"/>
                </a:solidFill>
                <a:latin typeface="Tahoma"/>
                <a:cs typeface="Tahoma"/>
              </a:rPr>
              <a:t> </a:t>
            </a:r>
            <a:r>
              <a:rPr sz="3000" baseline="-36111" dirty="0">
                <a:solidFill>
                  <a:srgbClr val="2F5C00"/>
                </a:solidFill>
                <a:latin typeface="Tahoma"/>
                <a:cs typeface="Tahoma"/>
              </a:rPr>
              <a:t>25	</a:t>
            </a:r>
            <a:r>
              <a:rPr sz="3000" baseline="-19444" dirty="0">
                <a:solidFill>
                  <a:srgbClr val="2F5C00"/>
                </a:solidFill>
                <a:latin typeface="Tahoma"/>
                <a:cs typeface="Tahoma"/>
              </a:rPr>
              <a:t>98</a:t>
            </a:r>
            <a:endParaRPr sz="3000" baseline="-19444">
              <a:latin typeface="Tahoma"/>
              <a:cs typeface="Tahoma"/>
            </a:endParaRPr>
          </a:p>
          <a:p>
            <a:pPr marR="30480" algn="r">
              <a:lnSpc>
                <a:spcPct val="100000"/>
              </a:lnSpc>
              <a:spcBef>
                <a:spcPts val="765"/>
              </a:spcBef>
            </a:pPr>
            <a:r>
              <a:rPr sz="2000" dirty="0">
                <a:solidFill>
                  <a:srgbClr val="2F5C00"/>
                </a:solidFill>
                <a:latin typeface="Tahoma"/>
                <a:cs typeface="Tahoma"/>
              </a:rPr>
              <a:t>62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312359" y="3674355"/>
            <a:ext cx="1646555" cy="1154430"/>
          </a:xfrm>
          <a:custGeom>
            <a:avLst/>
            <a:gdLst/>
            <a:ahLst/>
            <a:cxnLst/>
            <a:rect l="l" t="t" r="r" b="b"/>
            <a:pathLst>
              <a:path w="1646554" h="1154429">
                <a:moveTo>
                  <a:pt x="483590" y="54681"/>
                </a:moveTo>
                <a:lnTo>
                  <a:pt x="437434" y="68996"/>
                </a:lnTo>
                <a:lnTo>
                  <a:pt x="391112" y="86624"/>
                </a:lnTo>
                <a:lnTo>
                  <a:pt x="345170" y="107258"/>
                </a:lnTo>
                <a:lnTo>
                  <a:pt x="300151" y="130590"/>
                </a:lnTo>
                <a:lnTo>
                  <a:pt x="256599" y="156312"/>
                </a:lnTo>
                <a:lnTo>
                  <a:pt x="215058" y="184116"/>
                </a:lnTo>
                <a:lnTo>
                  <a:pt x="176072" y="213696"/>
                </a:lnTo>
                <a:lnTo>
                  <a:pt x="140185" y="244742"/>
                </a:lnTo>
                <a:lnTo>
                  <a:pt x="107940" y="276948"/>
                </a:lnTo>
                <a:lnTo>
                  <a:pt x="79881" y="310005"/>
                </a:lnTo>
                <a:lnTo>
                  <a:pt x="56553" y="343606"/>
                </a:lnTo>
                <a:lnTo>
                  <a:pt x="34398" y="388076"/>
                </a:lnTo>
                <a:lnTo>
                  <a:pt x="18305" y="437837"/>
                </a:lnTo>
                <a:lnTo>
                  <a:pt x="7634" y="491243"/>
                </a:lnTo>
                <a:lnTo>
                  <a:pt x="1746" y="546649"/>
                </a:lnTo>
                <a:lnTo>
                  <a:pt x="0" y="602408"/>
                </a:lnTo>
                <a:lnTo>
                  <a:pt x="1755" y="656873"/>
                </a:lnTo>
                <a:lnTo>
                  <a:pt x="6371" y="708398"/>
                </a:lnTo>
                <a:lnTo>
                  <a:pt x="13209" y="755337"/>
                </a:lnTo>
                <a:lnTo>
                  <a:pt x="21628" y="796043"/>
                </a:lnTo>
                <a:lnTo>
                  <a:pt x="36320" y="846888"/>
                </a:lnTo>
                <a:lnTo>
                  <a:pt x="55024" y="889530"/>
                </a:lnTo>
                <a:lnTo>
                  <a:pt x="80167" y="925822"/>
                </a:lnTo>
                <a:lnTo>
                  <a:pt x="114173" y="957616"/>
                </a:lnTo>
                <a:lnTo>
                  <a:pt x="159468" y="986764"/>
                </a:lnTo>
                <a:lnTo>
                  <a:pt x="218478" y="1015118"/>
                </a:lnTo>
                <a:lnTo>
                  <a:pt x="250955" y="1029276"/>
                </a:lnTo>
                <a:lnTo>
                  <a:pt x="286672" y="1044964"/>
                </a:lnTo>
                <a:lnTo>
                  <a:pt x="325371" y="1061571"/>
                </a:lnTo>
                <a:lnTo>
                  <a:pt x="366797" y="1078486"/>
                </a:lnTo>
                <a:lnTo>
                  <a:pt x="410694" y="1095097"/>
                </a:lnTo>
                <a:lnTo>
                  <a:pt x="456807" y="1110793"/>
                </a:lnTo>
                <a:lnTo>
                  <a:pt x="504879" y="1124964"/>
                </a:lnTo>
                <a:lnTo>
                  <a:pt x="554655" y="1136997"/>
                </a:lnTo>
                <a:lnTo>
                  <a:pt x="605879" y="1146281"/>
                </a:lnTo>
                <a:lnTo>
                  <a:pt x="658296" y="1152206"/>
                </a:lnTo>
                <a:lnTo>
                  <a:pt x="711648" y="1154159"/>
                </a:lnTo>
                <a:lnTo>
                  <a:pt x="765682" y="1151529"/>
                </a:lnTo>
                <a:lnTo>
                  <a:pt x="820140" y="1143706"/>
                </a:lnTo>
                <a:lnTo>
                  <a:pt x="857852" y="1135817"/>
                </a:lnTo>
                <a:lnTo>
                  <a:pt x="899617" y="1126028"/>
                </a:lnTo>
                <a:lnTo>
                  <a:pt x="944820" y="1114438"/>
                </a:lnTo>
                <a:lnTo>
                  <a:pt x="992848" y="1101148"/>
                </a:lnTo>
                <a:lnTo>
                  <a:pt x="1043085" y="1086258"/>
                </a:lnTo>
                <a:lnTo>
                  <a:pt x="1094918" y="1069868"/>
                </a:lnTo>
                <a:lnTo>
                  <a:pt x="1147731" y="1052078"/>
                </a:lnTo>
                <a:lnTo>
                  <a:pt x="1200912" y="1032987"/>
                </a:lnTo>
                <a:lnTo>
                  <a:pt x="1253845" y="1012697"/>
                </a:lnTo>
                <a:lnTo>
                  <a:pt x="1305915" y="991306"/>
                </a:lnTo>
                <a:lnTo>
                  <a:pt x="1356510" y="968915"/>
                </a:lnTo>
                <a:lnTo>
                  <a:pt x="1405013" y="945624"/>
                </a:lnTo>
                <a:lnTo>
                  <a:pt x="1450812" y="921533"/>
                </a:lnTo>
                <a:lnTo>
                  <a:pt x="1493291" y="896742"/>
                </a:lnTo>
                <a:lnTo>
                  <a:pt x="1531836" y="871351"/>
                </a:lnTo>
                <a:lnTo>
                  <a:pt x="1565834" y="845459"/>
                </a:lnTo>
                <a:lnTo>
                  <a:pt x="1594668" y="819168"/>
                </a:lnTo>
                <a:lnTo>
                  <a:pt x="1634392" y="765785"/>
                </a:lnTo>
                <a:lnTo>
                  <a:pt x="1646543" y="708987"/>
                </a:lnTo>
                <a:lnTo>
                  <a:pt x="1641888" y="676187"/>
                </a:lnTo>
                <a:lnTo>
                  <a:pt x="1613593" y="603522"/>
                </a:lnTo>
                <a:lnTo>
                  <a:pt x="1591179" y="564464"/>
                </a:lnTo>
                <a:lnTo>
                  <a:pt x="1564069" y="524129"/>
                </a:lnTo>
                <a:lnTo>
                  <a:pt x="1532876" y="482920"/>
                </a:lnTo>
                <a:lnTo>
                  <a:pt x="1498213" y="441242"/>
                </a:lnTo>
                <a:lnTo>
                  <a:pt x="1460692" y="399499"/>
                </a:lnTo>
                <a:lnTo>
                  <a:pt x="1420926" y="358095"/>
                </a:lnTo>
                <a:lnTo>
                  <a:pt x="1379526" y="317433"/>
                </a:lnTo>
                <a:lnTo>
                  <a:pt x="1337106" y="277919"/>
                </a:lnTo>
                <a:lnTo>
                  <a:pt x="1294277" y="239956"/>
                </a:lnTo>
                <a:lnTo>
                  <a:pt x="1251653" y="203948"/>
                </a:lnTo>
                <a:lnTo>
                  <a:pt x="1209845" y="170299"/>
                </a:lnTo>
                <a:lnTo>
                  <a:pt x="1169466" y="139414"/>
                </a:lnTo>
                <a:lnTo>
                  <a:pt x="1131129" y="111697"/>
                </a:lnTo>
                <a:lnTo>
                  <a:pt x="1095445" y="87551"/>
                </a:lnTo>
                <a:lnTo>
                  <a:pt x="1063028" y="67381"/>
                </a:lnTo>
                <a:lnTo>
                  <a:pt x="1014155" y="42241"/>
                </a:lnTo>
                <a:lnTo>
                  <a:pt x="964544" y="23556"/>
                </a:lnTo>
                <a:lnTo>
                  <a:pt x="914448" y="10702"/>
                </a:lnTo>
                <a:lnTo>
                  <a:pt x="864120" y="3058"/>
                </a:lnTo>
                <a:lnTo>
                  <a:pt x="813814" y="0"/>
                </a:lnTo>
                <a:lnTo>
                  <a:pt x="763784" y="904"/>
                </a:lnTo>
                <a:lnTo>
                  <a:pt x="714283" y="5150"/>
                </a:lnTo>
                <a:lnTo>
                  <a:pt x="665565" y="12112"/>
                </a:lnTo>
                <a:lnTo>
                  <a:pt x="617883" y="21170"/>
                </a:lnTo>
                <a:lnTo>
                  <a:pt x="571491" y="31699"/>
                </a:lnTo>
                <a:lnTo>
                  <a:pt x="526642" y="43077"/>
                </a:lnTo>
                <a:lnTo>
                  <a:pt x="483590" y="54681"/>
                </a:lnTo>
                <a:close/>
              </a:path>
            </a:pathLst>
          </a:custGeom>
          <a:ln w="38100">
            <a:solidFill>
              <a:srgbClr val="0E2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965190" y="3684270"/>
            <a:ext cx="3028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F5C00"/>
                </a:solidFill>
                <a:latin typeface="Tahoma"/>
                <a:cs typeface="Tahoma"/>
              </a:rPr>
              <a:t>14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68340" y="4354195"/>
            <a:ext cx="3028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F5C00"/>
                </a:solidFill>
                <a:latin typeface="Tahoma"/>
                <a:cs typeface="Tahoma"/>
              </a:rPr>
              <a:t>25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41390" y="4065270"/>
            <a:ext cx="66802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00"/>
              </a:lnSpc>
              <a:spcBef>
                <a:spcPts val="100"/>
              </a:spcBef>
            </a:pPr>
            <a:r>
              <a:rPr sz="2000" dirty="0">
                <a:solidFill>
                  <a:srgbClr val="2F5C00"/>
                </a:solidFill>
                <a:latin typeface="Tahoma"/>
                <a:cs typeface="Tahoma"/>
              </a:rPr>
              <a:t>30</a:t>
            </a:r>
            <a:endParaRPr sz="2000">
              <a:latin typeface="Tahoma"/>
              <a:cs typeface="Tahoma"/>
            </a:endParaRPr>
          </a:p>
          <a:p>
            <a:pPr marL="377825">
              <a:lnSpc>
                <a:spcPts val="2100"/>
              </a:lnSpc>
            </a:pPr>
            <a:r>
              <a:rPr sz="2000" dirty="0">
                <a:solidFill>
                  <a:srgbClr val="2F5C00"/>
                </a:solidFill>
                <a:latin typeface="Tahoma"/>
                <a:cs typeface="Tahoma"/>
              </a:rPr>
              <a:t>23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41315" y="4187494"/>
            <a:ext cx="3028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F5C00"/>
                </a:solidFill>
                <a:latin typeface="Tahoma"/>
                <a:cs typeface="Tahoma"/>
              </a:rPr>
              <a:t>31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004229" y="3553941"/>
            <a:ext cx="1550670" cy="1358265"/>
          </a:xfrm>
          <a:custGeom>
            <a:avLst/>
            <a:gdLst/>
            <a:ahLst/>
            <a:cxnLst/>
            <a:rect l="l" t="t" r="r" b="b"/>
            <a:pathLst>
              <a:path w="1550670" h="1358264">
                <a:moveTo>
                  <a:pt x="126933" y="140170"/>
                </a:moveTo>
                <a:lnTo>
                  <a:pt x="96038" y="175457"/>
                </a:lnTo>
                <a:lnTo>
                  <a:pt x="69881" y="215667"/>
                </a:lnTo>
                <a:lnTo>
                  <a:pt x="48239" y="259741"/>
                </a:lnTo>
                <a:lnTo>
                  <a:pt x="30891" y="306621"/>
                </a:lnTo>
                <a:lnTo>
                  <a:pt x="17615" y="355246"/>
                </a:lnTo>
                <a:lnTo>
                  <a:pt x="8189" y="404559"/>
                </a:lnTo>
                <a:lnTo>
                  <a:pt x="2391" y="453500"/>
                </a:lnTo>
                <a:lnTo>
                  <a:pt x="0" y="501009"/>
                </a:lnTo>
                <a:lnTo>
                  <a:pt x="793" y="546028"/>
                </a:lnTo>
                <a:lnTo>
                  <a:pt x="4549" y="587497"/>
                </a:lnTo>
                <a:lnTo>
                  <a:pt x="24867" y="663085"/>
                </a:lnTo>
                <a:lnTo>
                  <a:pt x="46358" y="696521"/>
                </a:lnTo>
                <a:lnTo>
                  <a:pt x="74134" y="725958"/>
                </a:lnTo>
                <a:lnTo>
                  <a:pt x="106809" y="752691"/>
                </a:lnTo>
                <a:lnTo>
                  <a:pt x="142999" y="778012"/>
                </a:lnTo>
                <a:lnTo>
                  <a:pt x="181319" y="803216"/>
                </a:lnTo>
                <a:lnTo>
                  <a:pt x="220384" y="829596"/>
                </a:lnTo>
                <a:lnTo>
                  <a:pt x="258808" y="858446"/>
                </a:lnTo>
                <a:lnTo>
                  <a:pt x="295208" y="891058"/>
                </a:lnTo>
                <a:lnTo>
                  <a:pt x="327016" y="924770"/>
                </a:lnTo>
                <a:lnTo>
                  <a:pt x="359559" y="962254"/>
                </a:lnTo>
                <a:lnTo>
                  <a:pt x="392806" y="1002329"/>
                </a:lnTo>
                <a:lnTo>
                  <a:pt x="426729" y="1043814"/>
                </a:lnTo>
                <a:lnTo>
                  <a:pt x="461300" y="1085527"/>
                </a:lnTo>
                <a:lnTo>
                  <a:pt x="496490" y="1126287"/>
                </a:lnTo>
                <a:lnTo>
                  <a:pt x="532271" y="1164914"/>
                </a:lnTo>
                <a:lnTo>
                  <a:pt x="568613" y="1200227"/>
                </a:lnTo>
                <a:lnTo>
                  <a:pt x="605489" y="1231043"/>
                </a:lnTo>
                <a:lnTo>
                  <a:pt x="642870" y="1256183"/>
                </a:lnTo>
                <a:lnTo>
                  <a:pt x="685345" y="1280270"/>
                </a:lnTo>
                <a:lnTo>
                  <a:pt x="728199" y="1303063"/>
                </a:lnTo>
                <a:lnTo>
                  <a:pt x="771575" y="1323387"/>
                </a:lnTo>
                <a:lnTo>
                  <a:pt x="815618" y="1340066"/>
                </a:lnTo>
                <a:lnTo>
                  <a:pt x="860471" y="1351923"/>
                </a:lnTo>
                <a:lnTo>
                  <a:pt x="906278" y="1357783"/>
                </a:lnTo>
                <a:lnTo>
                  <a:pt x="953182" y="1356470"/>
                </a:lnTo>
                <a:lnTo>
                  <a:pt x="1001327" y="1346808"/>
                </a:lnTo>
                <a:lnTo>
                  <a:pt x="1050858" y="1327620"/>
                </a:lnTo>
                <a:lnTo>
                  <a:pt x="1112676" y="1296086"/>
                </a:lnTo>
                <a:lnTo>
                  <a:pt x="1149175" y="1276266"/>
                </a:lnTo>
                <a:lnTo>
                  <a:pt x="1188267" y="1253982"/>
                </a:lnTo>
                <a:lnTo>
                  <a:pt x="1229105" y="1229412"/>
                </a:lnTo>
                <a:lnTo>
                  <a:pt x="1270838" y="1202735"/>
                </a:lnTo>
                <a:lnTo>
                  <a:pt x="1312618" y="1174129"/>
                </a:lnTo>
                <a:lnTo>
                  <a:pt x="1353595" y="1143772"/>
                </a:lnTo>
                <a:lnTo>
                  <a:pt x="1392920" y="1111842"/>
                </a:lnTo>
                <a:lnTo>
                  <a:pt x="1429744" y="1078519"/>
                </a:lnTo>
                <a:lnTo>
                  <a:pt x="1463219" y="1043980"/>
                </a:lnTo>
                <a:lnTo>
                  <a:pt x="1492494" y="1008404"/>
                </a:lnTo>
                <a:lnTo>
                  <a:pt x="1516720" y="971969"/>
                </a:lnTo>
                <a:lnTo>
                  <a:pt x="1535049" y="934854"/>
                </a:lnTo>
                <a:lnTo>
                  <a:pt x="1546631" y="897236"/>
                </a:lnTo>
                <a:lnTo>
                  <a:pt x="1550617" y="859295"/>
                </a:lnTo>
                <a:lnTo>
                  <a:pt x="1546158" y="821208"/>
                </a:lnTo>
                <a:lnTo>
                  <a:pt x="1523013" y="759831"/>
                </a:lnTo>
                <a:lnTo>
                  <a:pt x="1504561" y="725780"/>
                </a:lnTo>
                <a:lnTo>
                  <a:pt x="1482001" y="689870"/>
                </a:lnTo>
                <a:lnTo>
                  <a:pt x="1455693" y="652387"/>
                </a:lnTo>
                <a:lnTo>
                  <a:pt x="1425996" y="613618"/>
                </a:lnTo>
                <a:lnTo>
                  <a:pt x="1393269" y="573850"/>
                </a:lnTo>
                <a:lnTo>
                  <a:pt x="1357872" y="533368"/>
                </a:lnTo>
                <a:lnTo>
                  <a:pt x="1320163" y="492459"/>
                </a:lnTo>
                <a:lnTo>
                  <a:pt x="1280504" y="451411"/>
                </a:lnTo>
                <a:lnTo>
                  <a:pt x="1239251" y="410508"/>
                </a:lnTo>
                <a:lnTo>
                  <a:pt x="1196766" y="370039"/>
                </a:lnTo>
                <a:lnTo>
                  <a:pt x="1153407" y="330289"/>
                </a:lnTo>
                <a:lnTo>
                  <a:pt x="1109534" y="291545"/>
                </a:lnTo>
                <a:lnTo>
                  <a:pt x="1065506" y="254094"/>
                </a:lnTo>
                <a:lnTo>
                  <a:pt x="1021682" y="218221"/>
                </a:lnTo>
                <a:lnTo>
                  <a:pt x="978422" y="184215"/>
                </a:lnTo>
                <a:lnTo>
                  <a:pt x="936085" y="152360"/>
                </a:lnTo>
                <a:lnTo>
                  <a:pt x="895030" y="122944"/>
                </a:lnTo>
                <a:lnTo>
                  <a:pt x="855617" y="96253"/>
                </a:lnTo>
                <a:lnTo>
                  <a:pt x="818204" y="72573"/>
                </a:lnTo>
                <a:lnTo>
                  <a:pt x="783153" y="52192"/>
                </a:lnTo>
                <a:lnTo>
                  <a:pt x="699872" y="15488"/>
                </a:lnTo>
                <a:lnTo>
                  <a:pt x="648614" y="4043"/>
                </a:lnTo>
                <a:lnTo>
                  <a:pt x="597370" y="0"/>
                </a:lnTo>
                <a:lnTo>
                  <a:pt x="546463" y="2294"/>
                </a:lnTo>
                <a:lnTo>
                  <a:pt x="496216" y="9865"/>
                </a:lnTo>
                <a:lnTo>
                  <a:pt x="446950" y="21649"/>
                </a:lnTo>
                <a:lnTo>
                  <a:pt x="398991" y="36586"/>
                </a:lnTo>
                <a:lnTo>
                  <a:pt x="352659" y="53612"/>
                </a:lnTo>
                <a:lnTo>
                  <a:pt x="308277" y="71666"/>
                </a:lnTo>
                <a:lnTo>
                  <a:pt x="266170" y="89685"/>
                </a:lnTo>
                <a:lnTo>
                  <a:pt x="226659" y="106607"/>
                </a:lnTo>
                <a:lnTo>
                  <a:pt x="190067" y="121370"/>
                </a:lnTo>
                <a:lnTo>
                  <a:pt x="156717" y="132912"/>
                </a:lnTo>
                <a:lnTo>
                  <a:pt x="126933" y="140170"/>
                </a:lnTo>
                <a:close/>
              </a:path>
            </a:pathLst>
          </a:custGeom>
          <a:ln w="38100">
            <a:solidFill>
              <a:srgbClr val="0E2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130540" y="3552507"/>
            <a:ext cx="480695" cy="927100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2000" dirty="0">
                <a:solidFill>
                  <a:srgbClr val="2F5C00"/>
                </a:solidFill>
                <a:latin typeface="Tahoma"/>
                <a:cs typeface="Tahoma"/>
              </a:rPr>
              <a:t>88</a:t>
            </a:r>
            <a:endParaRPr sz="2000">
              <a:latin typeface="Tahoma"/>
              <a:cs typeface="Tahoma"/>
            </a:endParaRPr>
          </a:p>
          <a:p>
            <a:pPr marL="190500">
              <a:lnSpc>
                <a:spcPct val="100000"/>
              </a:lnSpc>
              <a:spcBef>
                <a:spcPts val="1150"/>
              </a:spcBef>
            </a:pPr>
            <a:r>
              <a:rPr sz="2000" dirty="0">
                <a:solidFill>
                  <a:srgbClr val="2F5C00"/>
                </a:solidFill>
                <a:latin typeface="Tahoma"/>
                <a:cs typeface="Tahoma"/>
              </a:rPr>
              <a:t>62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917940" y="3844607"/>
            <a:ext cx="379095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F5C00"/>
                </a:solidFill>
                <a:latin typeface="Tahoma"/>
                <a:cs typeface="Tahoma"/>
              </a:rPr>
              <a:t>98</a:t>
            </a:r>
            <a:endParaRPr sz="2000">
              <a:latin typeface="Tahoma"/>
              <a:cs typeface="Tahoma"/>
            </a:endParaRPr>
          </a:p>
          <a:p>
            <a:pPr marL="88900">
              <a:lnSpc>
                <a:spcPct val="100000"/>
              </a:lnSpc>
              <a:spcBef>
                <a:spcPts val="1800"/>
              </a:spcBef>
            </a:pPr>
            <a:r>
              <a:rPr sz="2000" dirty="0">
                <a:solidFill>
                  <a:srgbClr val="2F5C00"/>
                </a:solidFill>
                <a:latin typeface="Tahoma"/>
                <a:cs typeface="Tahoma"/>
              </a:rPr>
              <a:t>79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28814" y="4119257"/>
            <a:ext cx="7283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F5C00"/>
                </a:solidFill>
                <a:latin typeface="Times New Roman"/>
                <a:cs typeface="Times New Roman"/>
              </a:rPr>
              <a:t>≤ </a:t>
            </a:r>
            <a:r>
              <a:rPr sz="2000" dirty="0">
                <a:solidFill>
                  <a:srgbClr val="D82000"/>
                </a:solidFill>
                <a:latin typeface="Tahoma"/>
                <a:cs typeface="Tahoma"/>
              </a:rPr>
              <a:t>52</a:t>
            </a:r>
            <a:r>
              <a:rPr sz="2000" spc="-100" dirty="0">
                <a:solidFill>
                  <a:srgbClr val="D8200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F5C00"/>
                </a:solidFill>
                <a:latin typeface="Times New Roman"/>
                <a:cs typeface="Times New Roman"/>
              </a:rPr>
              <a:t>&lt;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44465" y="2776220"/>
            <a:ext cx="126746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latin typeface="Times New Roman"/>
                <a:cs typeface="Times New Roman"/>
              </a:rPr>
              <a:t>Output: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2140" y="2623820"/>
            <a:ext cx="1598295" cy="1449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Input:</a:t>
            </a:r>
            <a:endParaRPr sz="3200">
              <a:latin typeface="Times New Roman"/>
              <a:cs typeface="Times New Roman"/>
            </a:endParaRPr>
          </a:p>
          <a:p>
            <a:pPr marL="66675">
              <a:lnSpc>
                <a:spcPct val="100000"/>
              </a:lnSpc>
              <a:spcBef>
                <a:spcPts val="1435"/>
              </a:spcBef>
            </a:pPr>
            <a:r>
              <a:rPr sz="2000" spc="-5" dirty="0">
                <a:solidFill>
                  <a:srgbClr val="D82000"/>
                </a:solidFill>
                <a:latin typeface="Tahoma"/>
                <a:cs typeface="Tahoma"/>
              </a:rPr>
              <a:t>x=52</a:t>
            </a:r>
            <a:endParaRPr sz="2000">
              <a:latin typeface="Tahoma"/>
              <a:cs typeface="Tahoma"/>
            </a:endParaRPr>
          </a:p>
          <a:p>
            <a:pPr marL="758825">
              <a:lnSpc>
                <a:spcPct val="100000"/>
              </a:lnSpc>
              <a:spcBef>
                <a:spcPts val="1135"/>
              </a:spcBef>
              <a:tabLst>
                <a:tab pos="1307465" algn="l"/>
              </a:tabLst>
            </a:pPr>
            <a:r>
              <a:rPr sz="2000" dirty="0">
                <a:solidFill>
                  <a:srgbClr val="2F5C00"/>
                </a:solidFill>
                <a:latin typeface="Tahoma"/>
                <a:cs typeface="Tahoma"/>
              </a:rPr>
              <a:t>88	</a:t>
            </a:r>
            <a:r>
              <a:rPr sz="3000" baseline="1388" dirty="0">
                <a:solidFill>
                  <a:srgbClr val="2F5C00"/>
                </a:solidFill>
                <a:latin typeface="Tahoma"/>
                <a:cs typeface="Tahoma"/>
              </a:rPr>
              <a:t>52</a:t>
            </a:r>
            <a:endParaRPr sz="3000" baseline="1388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356512" y="3427298"/>
            <a:ext cx="902969" cy="697230"/>
            <a:chOff x="1356512" y="3427298"/>
            <a:chExt cx="902969" cy="697230"/>
          </a:xfrm>
        </p:grpSpPr>
        <p:sp>
          <p:nvSpPr>
            <p:cNvPr id="20" name="object 20"/>
            <p:cNvSpPr/>
            <p:nvPr/>
          </p:nvSpPr>
          <p:spPr>
            <a:xfrm>
              <a:off x="1839912" y="3749662"/>
              <a:ext cx="409575" cy="365125"/>
            </a:xfrm>
            <a:custGeom>
              <a:avLst/>
              <a:gdLst/>
              <a:ahLst/>
              <a:cxnLst/>
              <a:rect l="l" t="t" r="r" b="b"/>
              <a:pathLst>
                <a:path w="409575" h="365125">
                  <a:moveTo>
                    <a:pt x="0" y="182562"/>
                  </a:moveTo>
                  <a:lnTo>
                    <a:pt x="5408" y="140702"/>
                  </a:lnTo>
                  <a:lnTo>
                    <a:pt x="20813" y="102276"/>
                  </a:lnTo>
                  <a:lnTo>
                    <a:pt x="44987" y="68379"/>
                  </a:lnTo>
                  <a:lnTo>
                    <a:pt x="76701" y="40107"/>
                  </a:lnTo>
                  <a:lnTo>
                    <a:pt x="114724" y="18556"/>
                  </a:lnTo>
                  <a:lnTo>
                    <a:pt x="157829" y="4821"/>
                  </a:lnTo>
                  <a:lnTo>
                    <a:pt x="204787" y="0"/>
                  </a:lnTo>
                  <a:lnTo>
                    <a:pt x="251745" y="4821"/>
                  </a:lnTo>
                  <a:lnTo>
                    <a:pt x="294850" y="18556"/>
                  </a:lnTo>
                  <a:lnTo>
                    <a:pt x="332873" y="40107"/>
                  </a:lnTo>
                  <a:lnTo>
                    <a:pt x="364587" y="68379"/>
                  </a:lnTo>
                  <a:lnTo>
                    <a:pt x="388761" y="102276"/>
                  </a:lnTo>
                  <a:lnTo>
                    <a:pt x="404166" y="140702"/>
                  </a:lnTo>
                  <a:lnTo>
                    <a:pt x="409575" y="182562"/>
                  </a:lnTo>
                  <a:lnTo>
                    <a:pt x="404166" y="224422"/>
                  </a:lnTo>
                  <a:lnTo>
                    <a:pt x="388761" y="262848"/>
                  </a:lnTo>
                  <a:lnTo>
                    <a:pt x="364587" y="296745"/>
                  </a:lnTo>
                  <a:lnTo>
                    <a:pt x="332873" y="325017"/>
                  </a:lnTo>
                  <a:lnTo>
                    <a:pt x="294850" y="346568"/>
                  </a:lnTo>
                  <a:lnTo>
                    <a:pt x="251745" y="360303"/>
                  </a:lnTo>
                  <a:lnTo>
                    <a:pt x="204787" y="365124"/>
                  </a:lnTo>
                  <a:lnTo>
                    <a:pt x="157829" y="360303"/>
                  </a:lnTo>
                  <a:lnTo>
                    <a:pt x="114724" y="346568"/>
                  </a:lnTo>
                  <a:lnTo>
                    <a:pt x="76701" y="325017"/>
                  </a:lnTo>
                  <a:lnTo>
                    <a:pt x="44987" y="296745"/>
                  </a:lnTo>
                  <a:lnTo>
                    <a:pt x="20813" y="262848"/>
                  </a:lnTo>
                  <a:lnTo>
                    <a:pt x="5408" y="224422"/>
                  </a:lnTo>
                  <a:lnTo>
                    <a:pt x="0" y="182562"/>
                  </a:lnTo>
                  <a:close/>
                </a:path>
              </a:pathLst>
            </a:custGeom>
            <a:ln w="19050">
              <a:solidFill>
                <a:srgbClr val="D82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81848" y="3461727"/>
              <a:ext cx="518159" cy="333375"/>
            </a:xfrm>
            <a:custGeom>
              <a:avLst/>
              <a:gdLst/>
              <a:ahLst/>
              <a:cxnLst/>
              <a:rect l="l" t="t" r="r" b="b"/>
              <a:pathLst>
                <a:path w="518160" h="333375">
                  <a:moveTo>
                    <a:pt x="517588" y="333184"/>
                  </a:moveTo>
                  <a:lnTo>
                    <a:pt x="500943" y="259679"/>
                  </a:lnTo>
                  <a:lnTo>
                    <a:pt x="477939" y="220248"/>
                  </a:lnTo>
                  <a:lnTo>
                    <a:pt x="448962" y="184500"/>
                  </a:lnTo>
                  <a:lnTo>
                    <a:pt x="417576" y="153797"/>
                  </a:lnTo>
                  <a:lnTo>
                    <a:pt x="347726" y="102997"/>
                  </a:lnTo>
                  <a:lnTo>
                    <a:pt x="265976" y="60134"/>
                  </a:lnTo>
                  <a:lnTo>
                    <a:pt x="173901" y="26797"/>
                  </a:lnTo>
                  <a:lnTo>
                    <a:pt x="76263" y="5372"/>
                  </a:lnTo>
                  <a:lnTo>
                    <a:pt x="0" y="0"/>
                  </a:lnTo>
                </a:path>
              </a:pathLst>
            </a:custGeom>
            <a:ln w="9525">
              <a:solidFill>
                <a:srgbClr val="D82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356512" y="3427298"/>
              <a:ext cx="78740" cy="76200"/>
            </a:xfrm>
            <a:custGeom>
              <a:avLst/>
              <a:gdLst/>
              <a:ahLst/>
              <a:cxnLst/>
              <a:rect l="l" t="t" r="r" b="b"/>
              <a:pathLst>
                <a:path w="78740" h="76200">
                  <a:moveTo>
                    <a:pt x="0" y="32664"/>
                  </a:moveTo>
                  <a:lnTo>
                    <a:pt x="73342" y="76009"/>
                  </a:lnTo>
                  <a:lnTo>
                    <a:pt x="78689" y="0"/>
                  </a:lnTo>
                  <a:lnTo>
                    <a:pt x="0" y="32664"/>
                  </a:lnTo>
                  <a:close/>
                </a:path>
              </a:pathLst>
            </a:custGeom>
            <a:solidFill>
              <a:srgbClr val="D82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161414" y="5694045"/>
            <a:ext cx="7623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54100" algn="l"/>
              </a:tabLst>
            </a:pPr>
            <a:r>
              <a:rPr sz="1800" spc="-5" dirty="0">
                <a:solidFill>
                  <a:srgbClr val="D82000"/>
                </a:solidFill>
                <a:latin typeface="Arial"/>
                <a:cs typeface="Arial"/>
              </a:rPr>
              <a:t>Problem:	Partition a list into a set of small values and a set of large</a:t>
            </a:r>
            <a:r>
              <a:rPr sz="1800" spc="60" dirty="0">
                <a:solidFill>
                  <a:srgbClr val="D8200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D82000"/>
                </a:solidFill>
                <a:latin typeface="Arial"/>
                <a:cs typeface="Arial"/>
              </a:rPr>
              <a:t>values.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55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2886" y="758520"/>
            <a:ext cx="379666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Precise</a:t>
            </a:r>
            <a:r>
              <a:rPr spc="-30" dirty="0"/>
              <a:t> </a:t>
            </a:r>
            <a:r>
              <a:rPr spc="-10" dirty="0"/>
              <a:t>Specification</a:t>
            </a:r>
          </a:p>
        </p:txBody>
      </p:sp>
      <p:sp>
        <p:nvSpPr>
          <p:cNvPr id="3" name="object 3"/>
          <p:cNvSpPr/>
          <p:nvPr/>
        </p:nvSpPr>
        <p:spPr>
          <a:xfrm>
            <a:off x="825233" y="1995487"/>
            <a:ext cx="1445488" cy="1968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82634" y="1993595"/>
            <a:ext cx="6597484" cy="2593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14039" y="2430145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p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14644" y="2457119"/>
            <a:ext cx="127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46683" y="4591888"/>
            <a:ext cx="963676" cy="20100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2456700" y="4241063"/>
            <a:ext cx="6533515" cy="249554"/>
            <a:chOff x="2456700" y="4241063"/>
            <a:chExt cx="6533515" cy="249554"/>
          </a:xfrm>
        </p:grpSpPr>
        <p:sp>
          <p:nvSpPr>
            <p:cNvPr id="9" name="object 9"/>
            <p:cNvSpPr/>
            <p:nvPr/>
          </p:nvSpPr>
          <p:spPr>
            <a:xfrm>
              <a:off x="6128931" y="4274553"/>
              <a:ext cx="2329180" cy="149860"/>
            </a:xfrm>
            <a:custGeom>
              <a:avLst/>
              <a:gdLst/>
              <a:ahLst/>
              <a:cxnLst/>
              <a:rect l="l" t="t" r="r" b="b"/>
              <a:pathLst>
                <a:path w="2329179" h="149860">
                  <a:moveTo>
                    <a:pt x="0" y="81622"/>
                  </a:moveTo>
                  <a:lnTo>
                    <a:pt x="0" y="94411"/>
                  </a:lnTo>
                  <a:lnTo>
                    <a:pt x="122516" y="94411"/>
                  </a:lnTo>
                  <a:lnTo>
                    <a:pt x="122516" y="81622"/>
                  </a:lnTo>
                  <a:lnTo>
                    <a:pt x="0" y="81622"/>
                  </a:lnTo>
                  <a:close/>
                </a:path>
                <a:path w="2329179" h="149860">
                  <a:moveTo>
                    <a:pt x="410222" y="53733"/>
                  </a:moveTo>
                  <a:lnTo>
                    <a:pt x="410222" y="68211"/>
                  </a:lnTo>
                  <a:lnTo>
                    <a:pt x="526643" y="121932"/>
                  </a:lnTo>
                  <a:lnTo>
                    <a:pt x="526643" y="107454"/>
                  </a:lnTo>
                  <a:lnTo>
                    <a:pt x="425208" y="61023"/>
                  </a:lnTo>
                  <a:lnTo>
                    <a:pt x="425208" y="46816"/>
                  </a:lnTo>
                  <a:lnTo>
                    <a:pt x="410222" y="53733"/>
                  </a:lnTo>
                  <a:close/>
                </a:path>
                <a:path w="2329179" h="149860">
                  <a:moveTo>
                    <a:pt x="425208" y="46816"/>
                  </a:moveTo>
                  <a:lnTo>
                    <a:pt x="425208" y="61023"/>
                  </a:lnTo>
                  <a:lnTo>
                    <a:pt x="526643" y="14490"/>
                  </a:lnTo>
                  <a:lnTo>
                    <a:pt x="526643" y="0"/>
                  </a:lnTo>
                  <a:lnTo>
                    <a:pt x="425208" y="46816"/>
                  </a:lnTo>
                  <a:close/>
                </a:path>
                <a:path w="2329179" h="149860">
                  <a:moveTo>
                    <a:pt x="410222" y="136436"/>
                  </a:moveTo>
                  <a:lnTo>
                    <a:pt x="410222" y="149237"/>
                  </a:lnTo>
                  <a:lnTo>
                    <a:pt x="526643" y="149237"/>
                  </a:lnTo>
                  <a:lnTo>
                    <a:pt x="526643" y="136436"/>
                  </a:lnTo>
                  <a:lnTo>
                    <a:pt x="410222" y="136436"/>
                  </a:lnTo>
                  <a:close/>
                </a:path>
                <a:path w="2329179" h="149860">
                  <a:moveTo>
                    <a:pt x="1133741" y="103555"/>
                  </a:moveTo>
                  <a:lnTo>
                    <a:pt x="1133741" y="116344"/>
                  </a:lnTo>
                  <a:lnTo>
                    <a:pt x="1256868" y="116344"/>
                  </a:lnTo>
                  <a:lnTo>
                    <a:pt x="1256868" y="103555"/>
                  </a:lnTo>
                  <a:lnTo>
                    <a:pt x="1133741" y="103555"/>
                  </a:lnTo>
                  <a:close/>
                </a:path>
                <a:path w="2329179" h="149860">
                  <a:moveTo>
                    <a:pt x="1133741" y="57873"/>
                  </a:moveTo>
                  <a:lnTo>
                    <a:pt x="1133741" y="70662"/>
                  </a:lnTo>
                  <a:lnTo>
                    <a:pt x="1256868" y="70662"/>
                  </a:lnTo>
                  <a:lnTo>
                    <a:pt x="1256868" y="57873"/>
                  </a:lnTo>
                  <a:lnTo>
                    <a:pt x="1133741" y="57873"/>
                  </a:lnTo>
                  <a:close/>
                </a:path>
                <a:path w="2329179" h="149860">
                  <a:moveTo>
                    <a:pt x="1572602" y="81089"/>
                  </a:moveTo>
                  <a:lnTo>
                    <a:pt x="1572602" y="95554"/>
                  </a:lnTo>
                  <a:lnTo>
                    <a:pt x="1689023" y="149237"/>
                  </a:lnTo>
                  <a:lnTo>
                    <a:pt x="1689023" y="134759"/>
                  </a:lnTo>
                  <a:lnTo>
                    <a:pt x="1587588" y="88264"/>
                  </a:lnTo>
                  <a:lnTo>
                    <a:pt x="1587588" y="74180"/>
                  </a:lnTo>
                  <a:lnTo>
                    <a:pt x="1572602" y="81089"/>
                  </a:lnTo>
                  <a:close/>
                </a:path>
                <a:path w="2329179" h="149860">
                  <a:moveTo>
                    <a:pt x="1587588" y="74180"/>
                  </a:moveTo>
                  <a:lnTo>
                    <a:pt x="1587588" y="88265"/>
                  </a:lnTo>
                  <a:lnTo>
                    <a:pt x="1689023" y="41884"/>
                  </a:lnTo>
                  <a:lnTo>
                    <a:pt x="1689023" y="27419"/>
                  </a:lnTo>
                  <a:lnTo>
                    <a:pt x="1587588" y="74180"/>
                  </a:lnTo>
                  <a:close/>
                </a:path>
                <a:path w="2329179" h="149860">
                  <a:moveTo>
                    <a:pt x="2273579" y="79794"/>
                  </a:moveTo>
                  <a:lnTo>
                    <a:pt x="2273579" y="92582"/>
                  </a:lnTo>
                  <a:lnTo>
                    <a:pt x="2329116" y="92582"/>
                  </a:lnTo>
                  <a:lnTo>
                    <a:pt x="2329116" y="79794"/>
                  </a:lnTo>
                  <a:lnTo>
                    <a:pt x="2273579" y="79794"/>
                  </a:lnTo>
                  <a:close/>
                </a:path>
                <a:path w="2329179" h="149860">
                  <a:moveTo>
                    <a:pt x="2260777" y="24371"/>
                  </a:moveTo>
                  <a:lnTo>
                    <a:pt x="2260777" y="149237"/>
                  </a:lnTo>
                  <a:lnTo>
                    <a:pt x="2273579" y="149237"/>
                  </a:lnTo>
                  <a:lnTo>
                    <a:pt x="2273579" y="24371"/>
                  </a:lnTo>
                  <a:lnTo>
                    <a:pt x="2260777" y="24371"/>
                  </a:lnTo>
                  <a:close/>
                </a:path>
                <a:path w="2329179" h="149860">
                  <a:moveTo>
                    <a:pt x="2205228" y="79794"/>
                  </a:moveTo>
                  <a:lnTo>
                    <a:pt x="2205228" y="92582"/>
                  </a:lnTo>
                  <a:lnTo>
                    <a:pt x="2260777" y="92582"/>
                  </a:lnTo>
                  <a:lnTo>
                    <a:pt x="2260777" y="79794"/>
                  </a:lnTo>
                  <a:lnTo>
                    <a:pt x="2205228" y="797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456700" y="4241063"/>
              <a:ext cx="6533387" cy="24911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1890814" y="4653407"/>
            <a:ext cx="159092" cy="18455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46061" y="4241672"/>
            <a:ext cx="1502511" cy="19003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11400" y="2794000"/>
            <a:ext cx="6400800" cy="10922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590800" y="5067300"/>
            <a:ext cx="6172200" cy="11557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156902" y="4697095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p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56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057507" y="4724069"/>
            <a:ext cx="127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98517" y="4681215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q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1689" y="2334895"/>
            <a:ext cx="7585709" cy="253492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00"/>
              </a:spcBef>
              <a:buClr>
                <a:srgbClr val="941300"/>
              </a:buClr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spc="-5" dirty="0">
                <a:latin typeface="Arial"/>
                <a:cs typeface="Arial"/>
              </a:rPr>
              <a:t>3 subsets are</a:t>
            </a:r>
            <a:r>
              <a:rPr sz="2000" spc="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maintained</a:t>
            </a:r>
            <a:endParaRPr sz="2000">
              <a:latin typeface="Arial"/>
              <a:cs typeface="Arial"/>
            </a:endParaRPr>
          </a:p>
          <a:p>
            <a:pPr marL="762000" marR="3119120" lvl="1" indent="-292100">
              <a:lnSpc>
                <a:spcPts val="2120"/>
              </a:lnSpc>
              <a:spcBef>
                <a:spcPts val="1180"/>
              </a:spcBef>
              <a:buClr>
                <a:srgbClr val="2F5C00"/>
              </a:buClr>
              <a:buFont typeface="Wingdings"/>
              <a:buChar char=""/>
              <a:tabLst>
                <a:tab pos="755650" algn="l"/>
                <a:tab pos="4457700" algn="l"/>
              </a:tabLst>
            </a:pPr>
            <a:r>
              <a:rPr sz="1800" spc="-5" dirty="0">
                <a:latin typeface="Arial"/>
                <a:cs typeface="Arial"/>
              </a:rPr>
              <a:t>One containing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values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less 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         </a:t>
            </a:r>
            <a:r>
              <a:rPr sz="1800" spc="4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than or equal to the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pivot</a:t>
            </a:r>
            <a:endParaRPr sz="1800">
              <a:latin typeface="Arial"/>
              <a:cs typeface="Arial"/>
            </a:endParaRPr>
          </a:p>
          <a:p>
            <a:pPr marL="762000" marR="4560570" lvl="1" indent="-292100">
              <a:lnSpc>
                <a:spcPts val="2120"/>
              </a:lnSpc>
              <a:spcBef>
                <a:spcPts val="1160"/>
              </a:spcBef>
              <a:buClr>
                <a:srgbClr val="2F5C00"/>
              </a:buClr>
              <a:buFont typeface="Wingdings"/>
              <a:buChar char=""/>
              <a:tabLst>
                <a:tab pos="755650" algn="l"/>
              </a:tabLst>
            </a:pPr>
            <a:r>
              <a:rPr sz="1800" spc="-5" dirty="0">
                <a:latin typeface="Arial"/>
                <a:cs typeface="Arial"/>
              </a:rPr>
              <a:t>One containing </a:t>
            </a:r>
            <a:r>
              <a:rPr sz="1800" spc="-10" dirty="0">
                <a:latin typeface="Arial"/>
                <a:cs typeface="Arial"/>
              </a:rPr>
              <a:t>values  </a:t>
            </a:r>
            <a:r>
              <a:rPr sz="1800" spc="-5" dirty="0">
                <a:latin typeface="Arial"/>
                <a:cs typeface="Arial"/>
              </a:rPr>
              <a:t>greater than the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pivot</a:t>
            </a:r>
            <a:endParaRPr sz="1800">
              <a:latin typeface="Arial"/>
              <a:cs typeface="Arial"/>
            </a:endParaRPr>
          </a:p>
          <a:p>
            <a:pPr marL="762000" marR="5080" lvl="1" indent="-292100">
              <a:lnSpc>
                <a:spcPts val="2120"/>
              </a:lnSpc>
              <a:spcBef>
                <a:spcPts val="1160"/>
              </a:spcBef>
              <a:buClr>
                <a:srgbClr val="2F5C00"/>
              </a:buClr>
              <a:buFont typeface="Wingdings"/>
              <a:buChar char=""/>
              <a:tabLst>
                <a:tab pos="755650" algn="l"/>
                <a:tab pos="3521075" algn="l"/>
                <a:tab pos="7572375" algn="l"/>
              </a:tabLst>
            </a:pPr>
            <a:r>
              <a:rPr sz="1800" spc="-5" dirty="0">
                <a:latin typeface="Arial"/>
                <a:cs typeface="Arial"/>
              </a:rPr>
              <a:t>One containing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values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yet 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                                                                </a:t>
            </a:r>
            <a:r>
              <a:rPr sz="1800" spc="3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to be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processed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31183" y="758520"/>
            <a:ext cx="260032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Loop</a:t>
            </a:r>
            <a:r>
              <a:rPr spc="-50" dirty="0"/>
              <a:t> </a:t>
            </a:r>
            <a:r>
              <a:rPr spc="-10" dirty="0"/>
              <a:t>Invariant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332274" y="1930400"/>
            <a:ext cx="5154930" cy="2018030"/>
            <a:chOff x="4332274" y="1930400"/>
            <a:chExt cx="5154930" cy="2018030"/>
          </a:xfrm>
        </p:grpSpPr>
        <p:sp>
          <p:nvSpPr>
            <p:cNvPr id="5" name="object 5"/>
            <p:cNvSpPr/>
            <p:nvPr/>
          </p:nvSpPr>
          <p:spPr>
            <a:xfrm>
              <a:off x="5241924" y="29368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76200"/>
                  </a:moveTo>
                  <a:lnTo>
                    <a:pt x="76200" y="76199"/>
                  </a:lnTo>
                  <a:lnTo>
                    <a:pt x="38099" y="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337037" y="2989249"/>
              <a:ext cx="2400300" cy="954405"/>
            </a:xfrm>
            <a:custGeom>
              <a:avLst/>
              <a:gdLst/>
              <a:ahLst/>
              <a:cxnLst/>
              <a:rect l="l" t="t" r="r" b="b"/>
              <a:pathLst>
                <a:path w="2400300" h="954404">
                  <a:moveTo>
                    <a:pt x="0" y="954087"/>
                  </a:moveTo>
                  <a:lnTo>
                    <a:pt x="2400300" y="954087"/>
                  </a:lnTo>
                  <a:lnTo>
                    <a:pt x="24003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99250" y="2963862"/>
              <a:ext cx="1733550" cy="100330"/>
            </a:xfrm>
            <a:custGeom>
              <a:avLst/>
              <a:gdLst/>
              <a:ahLst/>
              <a:cxnLst/>
              <a:rect l="l" t="t" r="r" b="b"/>
              <a:pathLst>
                <a:path w="1733550" h="100330">
                  <a:moveTo>
                    <a:pt x="76200" y="76200"/>
                  </a:moveTo>
                  <a:lnTo>
                    <a:pt x="38100" y="0"/>
                  </a:lnTo>
                  <a:lnTo>
                    <a:pt x="0" y="76200"/>
                  </a:lnTo>
                  <a:lnTo>
                    <a:pt x="76200" y="76200"/>
                  </a:lnTo>
                  <a:close/>
                </a:path>
                <a:path w="1733550" h="100330">
                  <a:moveTo>
                    <a:pt x="1733550" y="100012"/>
                  </a:moveTo>
                  <a:lnTo>
                    <a:pt x="1695450" y="23812"/>
                  </a:lnTo>
                  <a:lnTo>
                    <a:pt x="1657350" y="100012"/>
                  </a:lnTo>
                  <a:lnTo>
                    <a:pt x="1733550" y="100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81499" y="1930400"/>
              <a:ext cx="5105399" cy="10795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457200" y="5016500"/>
            <a:ext cx="6502400" cy="1816100"/>
            <a:chOff x="457200" y="5016500"/>
            <a:chExt cx="6502400" cy="1816100"/>
          </a:xfrm>
        </p:grpSpPr>
        <p:sp>
          <p:nvSpPr>
            <p:cNvPr id="10" name="object 10"/>
            <p:cNvSpPr/>
            <p:nvPr/>
          </p:nvSpPr>
          <p:spPr>
            <a:xfrm>
              <a:off x="1511300" y="5016500"/>
              <a:ext cx="5448300" cy="17526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7200" y="6769100"/>
              <a:ext cx="6502400" cy="635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57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35504" y="758520"/>
            <a:ext cx="47910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Maintaining Loop</a:t>
            </a:r>
            <a:r>
              <a:rPr spc="-45" dirty="0"/>
              <a:t> </a:t>
            </a:r>
            <a:r>
              <a:rPr spc="-10" dirty="0"/>
              <a:t>Invariant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096770"/>
            <a:ext cx="4032885" cy="115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Consider element at location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j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500">
              <a:latin typeface="Arial"/>
              <a:cs typeface="Arial"/>
            </a:endParaRPr>
          </a:p>
          <a:p>
            <a:pPr marL="762000" marR="5080" indent="-292735">
              <a:lnSpc>
                <a:spcPct val="100000"/>
              </a:lnSpc>
              <a:tabLst>
                <a:tab pos="755015" algn="l"/>
              </a:tabLst>
            </a:pPr>
            <a:r>
              <a:rPr sz="1600" spc="-5" dirty="0">
                <a:latin typeface="Arial"/>
                <a:cs typeface="Arial"/>
              </a:rPr>
              <a:t>–	</a:t>
            </a:r>
            <a:r>
              <a:rPr sz="1600" dirty="0">
                <a:latin typeface="Arial"/>
                <a:cs typeface="Arial"/>
              </a:rPr>
              <a:t>If </a:t>
            </a:r>
            <a:r>
              <a:rPr sz="1600" spc="-5" dirty="0">
                <a:latin typeface="Arial"/>
                <a:cs typeface="Arial"/>
              </a:rPr>
              <a:t>greater than </a:t>
            </a:r>
            <a:r>
              <a:rPr sz="1600" dirty="0">
                <a:latin typeface="Arial"/>
                <a:cs typeface="Arial"/>
              </a:rPr>
              <a:t>pivot, </a:t>
            </a:r>
            <a:r>
              <a:rPr sz="1600" spc="-5" dirty="0">
                <a:latin typeface="Arial"/>
                <a:cs typeface="Arial"/>
              </a:rPr>
              <a:t>incorporate into  ‘&gt; </a:t>
            </a:r>
            <a:r>
              <a:rPr sz="1600" dirty="0">
                <a:latin typeface="Arial"/>
                <a:cs typeface="Arial"/>
              </a:rPr>
              <a:t>set’ </a:t>
            </a:r>
            <a:r>
              <a:rPr sz="1600" spc="-5" dirty="0">
                <a:latin typeface="Arial"/>
                <a:cs typeface="Arial"/>
              </a:rPr>
              <a:t>by incrementing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j.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410200" y="2006600"/>
            <a:ext cx="3962399" cy="1828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35600" y="4457700"/>
            <a:ext cx="3962400" cy="1739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47102" y="4830440"/>
            <a:ext cx="4535805" cy="181102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50520" marR="1012190" indent="-292735">
              <a:lnSpc>
                <a:spcPct val="100699"/>
              </a:lnSpc>
              <a:spcBef>
                <a:spcPts val="85"/>
              </a:spcBef>
              <a:buChar char="–"/>
              <a:tabLst>
                <a:tab pos="344170" algn="l"/>
                <a:tab pos="344805" algn="l"/>
              </a:tabLst>
            </a:pPr>
            <a:r>
              <a:rPr sz="1600" dirty="0">
                <a:latin typeface="Arial"/>
                <a:cs typeface="Arial"/>
              </a:rPr>
              <a:t>If </a:t>
            </a:r>
            <a:r>
              <a:rPr sz="1600" spc="-5" dirty="0">
                <a:latin typeface="Arial"/>
                <a:cs typeface="Arial"/>
              </a:rPr>
              <a:t>less than or equal </a:t>
            </a:r>
            <a:r>
              <a:rPr sz="1600" dirty="0">
                <a:latin typeface="Arial"/>
                <a:cs typeface="Arial"/>
              </a:rPr>
              <a:t>to pivot,  </a:t>
            </a:r>
            <a:r>
              <a:rPr sz="1600" spc="-5" dirty="0">
                <a:latin typeface="Arial"/>
                <a:cs typeface="Arial"/>
              </a:rPr>
              <a:t>incorporate into </a:t>
            </a:r>
            <a:r>
              <a:rPr sz="1600" spc="-95" dirty="0">
                <a:latin typeface="Arial"/>
                <a:cs typeface="Arial"/>
              </a:rPr>
              <a:t>‘S </a:t>
            </a:r>
            <a:r>
              <a:rPr sz="1600" spc="-5" dirty="0">
                <a:latin typeface="Arial"/>
                <a:cs typeface="Arial"/>
              </a:rPr>
              <a:t>set’ by </a:t>
            </a:r>
            <a:r>
              <a:rPr sz="1600" spc="-10" dirty="0">
                <a:latin typeface="Arial"/>
                <a:cs typeface="Arial"/>
              </a:rPr>
              <a:t>swapping  </a:t>
            </a:r>
            <a:r>
              <a:rPr sz="1600" spc="-5" dirty="0">
                <a:latin typeface="Arial"/>
                <a:cs typeface="Arial"/>
              </a:rPr>
              <a:t>with element at location i+1 </a:t>
            </a:r>
            <a:r>
              <a:rPr sz="1600" spc="-10" dirty="0">
                <a:latin typeface="Arial"/>
                <a:cs typeface="Arial"/>
              </a:rPr>
              <a:t>and  </a:t>
            </a:r>
            <a:r>
              <a:rPr sz="1600" spc="-5" dirty="0">
                <a:latin typeface="Arial"/>
                <a:cs typeface="Arial"/>
              </a:rPr>
              <a:t>incrementing both i and j.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buChar char="–"/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har char="–"/>
            </a:pPr>
            <a:endParaRPr sz="2000">
              <a:latin typeface="Arial"/>
              <a:cs typeface="Arial"/>
            </a:endParaRPr>
          </a:p>
          <a:p>
            <a:pPr marL="298450" indent="-286385">
              <a:lnSpc>
                <a:spcPct val="100000"/>
              </a:lnSpc>
              <a:spcBef>
                <a:spcPts val="5"/>
              </a:spcBef>
              <a:buChar char="–"/>
              <a:tabLst>
                <a:tab pos="297815" algn="l"/>
                <a:tab pos="299085" algn="l"/>
              </a:tabLst>
            </a:pPr>
            <a:r>
              <a:rPr sz="1600" spc="-5" dirty="0">
                <a:solidFill>
                  <a:srgbClr val="D82000"/>
                </a:solidFill>
                <a:latin typeface="Arial"/>
                <a:cs typeface="Arial"/>
              </a:rPr>
              <a:t>Measure </a:t>
            </a:r>
            <a:r>
              <a:rPr sz="1600" dirty="0">
                <a:solidFill>
                  <a:srgbClr val="D82000"/>
                </a:solidFill>
                <a:latin typeface="Arial"/>
                <a:cs typeface="Arial"/>
              </a:rPr>
              <a:t>of </a:t>
            </a:r>
            <a:r>
              <a:rPr sz="1600" spc="-5" dirty="0">
                <a:solidFill>
                  <a:srgbClr val="D82000"/>
                </a:solidFill>
                <a:latin typeface="Arial"/>
                <a:cs typeface="Arial"/>
              </a:rPr>
              <a:t>progress: size </a:t>
            </a:r>
            <a:r>
              <a:rPr sz="1600" dirty="0">
                <a:solidFill>
                  <a:srgbClr val="D82000"/>
                </a:solidFill>
                <a:latin typeface="Arial"/>
                <a:cs typeface="Arial"/>
              </a:rPr>
              <a:t>of </a:t>
            </a:r>
            <a:r>
              <a:rPr sz="1600" spc="-5" dirty="0">
                <a:solidFill>
                  <a:srgbClr val="D82000"/>
                </a:solidFill>
                <a:latin typeface="Arial"/>
                <a:cs typeface="Arial"/>
              </a:rPr>
              <a:t>unprocessed</a:t>
            </a:r>
            <a:r>
              <a:rPr sz="1600" spc="65" dirty="0">
                <a:solidFill>
                  <a:srgbClr val="D820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D82000"/>
                </a:solidFill>
                <a:latin typeface="Arial"/>
                <a:cs typeface="Arial"/>
              </a:rPr>
              <a:t>set.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567349" y="5964237"/>
            <a:ext cx="3084830" cy="568325"/>
            <a:chOff x="5567349" y="5964237"/>
            <a:chExt cx="3084830" cy="568325"/>
          </a:xfrm>
        </p:grpSpPr>
        <p:sp>
          <p:nvSpPr>
            <p:cNvPr id="9" name="object 9"/>
            <p:cNvSpPr/>
            <p:nvPr/>
          </p:nvSpPr>
          <p:spPr>
            <a:xfrm>
              <a:off x="5581637" y="5992799"/>
              <a:ext cx="3027680" cy="525780"/>
            </a:xfrm>
            <a:custGeom>
              <a:avLst/>
              <a:gdLst/>
              <a:ahLst/>
              <a:cxnLst/>
              <a:rect l="l" t="t" r="r" b="b"/>
              <a:pathLst>
                <a:path w="3027679" h="525779">
                  <a:moveTo>
                    <a:pt x="0" y="525462"/>
                  </a:moveTo>
                  <a:lnTo>
                    <a:pt x="3027362" y="525462"/>
                  </a:lnTo>
                  <a:lnTo>
                    <a:pt x="3027362" y="0"/>
                  </a:lnTo>
                </a:path>
              </a:pathLst>
            </a:custGeom>
            <a:ln w="28575">
              <a:solidFill>
                <a:srgbClr val="D82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566150" y="5964237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85725"/>
                  </a:moveTo>
                  <a:lnTo>
                    <a:pt x="85725" y="85724"/>
                  </a:lnTo>
                  <a:lnTo>
                    <a:pt x="42862" y="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D82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58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35504" y="758520"/>
            <a:ext cx="47910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Maintaining Loop</a:t>
            </a:r>
            <a:r>
              <a:rPr spc="-45" dirty="0"/>
              <a:t> </a:t>
            </a:r>
            <a:r>
              <a:rPr spc="-10" dirty="0"/>
              <a:t>Invariant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1651000"/>
            <a:ext cx="9144000" cy="5664200"/>
            <a:chOff x="457200" y="1651000"/>
            <a:chExt cx="9144000" cy="5664200"/>
          </a:xfrm>
        </p:grpSpPr>
        <p:sp>
          <p:nvSpPr>
            <p:cNvPr id="4" name="object 4"/>
            <p:cNvSpPr/>
            <p:nvPr/>
          </p:nvSpPr>
          <p:spPr>
            <a:xfrm>
              <a:off x="635000" y="1651000"/>
              <a:ext cx="5105400" cy="355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35000" y="2006600"/>
              <a:ext cx="8940800" cy="18288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35000" y="3835400"/>
              <a:ext cx="5105400" cy="6223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35000" y="4457700"/>
              <a:ext cx="8966200" cy="3302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651500" y="4787900"/>
              <a:ext cx="3949699" cy="2286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9600" y="5016500"/>
              <a:ext cx="8991600" cy="11811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9600" y="6197600"/>
              <a:ext cx="5461000" cy="57150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7200" y="6769100"/>
              <a:ext cx="5613400" cy="6350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7200" y="6832600"/>
              <a:ext cx="1371600" cy="48260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59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79052" y="758520"/>
            <a:ext cx="49041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Establishing Loop</a:t>
            </a:r>
            <a:r>
              <a:rPr spc="-45" dirty="0"/>
              <a:t> </a:t>
            </a:r>
            <a:r>
              <a:rPr spc="-10" dirty="0"/>
              <a:t>Invariant</a:t>
            </a:r>
          </a:p>
        </p:txBody>
      </p:sp>
      <p:sp>
        <p:nvSpPr>
          <p:cNvPr id="3" name="object 3"/>
          <p:cNvSpPr/>
          <p:nvPr/>
        </p:nvSpPr>
        <p:spPr>
          <a:xfrm>
            <a:off x="6184900" y="2895600"/>
            <a:ext cx="3098799" cy="876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9600" y="2552700"/>
            <a:ext cx="5461000" cy="1828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60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6921" y="758520"/>
            <a:ext cx="476821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Establishing</a:t>
            </a:r>
            <a:r>
              <a:rPr spc="-30" dirty="0"/>
              <a:t> </a:t>
            </a:r>
            <a:r>
              <a:rPr spc="-10" dirty="0"/>
              <a:t>Postcondition</a:t>
            </a:r>
          </a:p>
        </p:txBody>
      </p:sp>
      <p:sp>
        <p:nvSpPr>
          <p:cNvPr id="3" name="object 3"/>
          <p:cNvSpPr/>
          <p:nvPr/>
        </p:nvSpPr>
        <p:spPr>
          <a:xfrm>
            <a:off x="8803182" y="3946156"/>
            <a:ext cx="615950" cy="154305"/>
          </a:xfrm>
          <a:custGeom>
            <a:avLst/>
            <a:gdLst/>
            <a:ahLst/>
            <a:cxnLst/>
            <a:rect l="l" t="t" r="r" b="b"/>
            <a:pathLst>
              <a:path w="615950" h="154304">
                <a:moveTo>
                  <a:pt x="0" y="96862"/>
                </a:moveTo>
                <a:lnTo>
                  <a:pt x="14173" y="139268"/>
                </a:lnTo>
                <a:lnTo>
                  <a:pt x="51346" y="153987"/>
                </a:lnTo>
                <a:lnTo>
                  <a:pt x="58378" y="153568"/>
                </a:lnTo>
                <a:lnTo>
                  <a:pt x="92721" y="134221"/>
                </a:lnTo>
                <a:lnTo>
                  <a:pt x="102590" y="95326"/>
                </a:lnTo>
                <a:lnTo>
                  <a:pt x="101695" y="83003"/>
                </a:lnTo>
                <a:lnTo>
                  <a:pt x="99009" y="72093"/>
                </a:lnTo>
                <a:lnTo>
                  <a:pt x="94532" y="62595"/>
                </a:lnTo>
                <a:lnTo>
                  <a:pt x="88264" y="54508"/>
                </a:lnTo>
                <a:lnTo>
                  <a:pt x="83845" y="50793"/>
                </a:lnTo>
                <a:lnTo>
                  <a:pt x="83845" y="96202"/>
                </a:lnTo>
                <a:lnTo>
                  <a:pt x="83262" y="106237"/>
                </a:lnTo>
                <a:lnTo>
                  <a:pt x="57989" y="137883"/>
                </a:lnTo>
                <a:lnTo>
                  <a:pt x="51346" y="138531"/>
                </a:lnTo>
                <a:lnTo>
                  <a:pt x="44616" y="137881"/>
                </a:lnTo>
                <a:lnTo>
                  <a:pt x="19336" y="106613"/>
                </a:lnTo>
                <a:lnTo>
                  <a:pt x="18757" y="50566"/>
                </a:lnTo>
                <a:lnTo>
                  <a:pt x="16916" y="51879"/>
                </a:lnTo>
                <a:lnTo>
                  <a:pt x="9515" y="60176"/>
                </a:lnTo>
                <a:lnTo>
                  <a:pt x="4229" y="70437"/>
                </a:lnTo>
                <a:lnTo>
                  <a:pt x="1057" y="82665"/>
                </a:lnTo>
                <a:lnTo>
                  <a:pt x="0" y="96862"/>
                </a:lnTo>
                <a:close/>
              </a:path>
              <a:path w="615950" h="154304">
                <a:moveTo>
                  <a:pt x="18757" y="50566"/>
                </a:moveTo>
                <a:lnTo>
                  <a:pt x="18757" y="96812"/>
                </a:lnTo>
                <a:lnTo>
                  <a:pt x="19336" y="87015"/>
                </a:lnTo>
                <a:lnTo>
                  <a:pt x="21074" y="78539"/>
                </a:lnTo>
                <a:lnTo>
                  <a:pt x="51346" y="55194"/>
                </a:lnTo>
                <a:lnTo>
                  <a:pt x="57989" y="55844"/>
                </a:lnTo>
                <a:lnTo>
                  <a:pt x="83264" y="86757"/>
                </a:lnTo>
                <a:lnTo>
                  <a:pt x="83845" y="96202"/>
                </a:lnTo>
                <a:lnTo>
                  <a:pt x="83845" y="50793"/>
                </a:lnTo>
                <a:lnTo>
                  <a:pt x="80580" y="48048"/>
                </a:lnTo>
                <a:lnTo>
                  <a:pt x="71867" y="43432"/>
                </a:lnTo>
                <a:lnTo>
                  <a:pt x="62124" y="40662"/>
                </a:lnTo>
                <a:lnTo>
                  <a:pt x="51346" y="39738"/>
                </a:lnTo>
                <a:lnTo>
                  <a:pt x="41578" y="40497"/>
                </a:lnTo>
                <a:lnTo>
                  <a:pt x="32583" y="42775"/>
                </a:lnTo>
                <a:lnTo>
                  <a:pt x="24362" y="46569"/>
                </a:lnTo>
                <a:lnTo>
                  <a:pt x="18757" y="50566"/>
                </a:lnTo>
                <a:close/>
              </a:path>
              <a:path w="615950" h="154304">
                <a:moveTo>
                  <a:pt x="126314" y="41948"/>
                </a:moveTo>
                <a:lnTo>
                  <a:pt x="126314" y="151777"/>
                </a:lnTo>
                <a:lnTo>
                  <a:pt x="145072" y="151777"/>
                </a:lnTo>
                <a:lnTo>
                  <a:pt x="145072" y="91897"/>
                </a:lnTo>
                <a:lnTo>
                  <a:pt x="145610" y="82207"/>
                </a:lnTo>
                <a:lnTo>
                  <a:pt x="179082" y="55753"/>
                </a:lnTo>
                <a:lnTo>
                  <a:pt x="183400" y="56857"/>
                </a:lnTo>
                <a:lnTo>
                  <a:pt x="190754" y="61341"/>
                </a:lnTo>
                <a:lnTo>
                  <a:pt x="193306" y="64338"/>
                </a:lnTo>
                <a:lnTo>
                  <a:pt x="196202" y="71843"/>
                </a:lnTo>
                <a:lnTo>
                  <a:pt x="196913" y="77508"/>
                </a:lnTo>
                <a:lnTo>
                  <a:pt x="196913" y="151777"/>
                </a:lnTo>
                <a:lnTo>
                  <a:pt x="215671" y="151777"/>
                </a:lnTo>
                <a:lnTo>
                  <a:pt x="215671" y="75819"/>
                </a:lnTo>
                <a:lnTo>
                  <a:pt x="215328" y="69799"/>
                </a:lnTo>
                <a:lnTo>
                  <a:pt x="184848" y="39738"/>
                </a:lnTo>
                <a:lnTo>
                  <a:pt x="178244" y="39738"/>
                </a:lnTo>
                <a:lnTo>
                  <a:pt x="167529" y="40852"/>
                </a:lnTo>
                <a:lnTo>
                  <a:pt x="158149" y="44196"/>
                </a:lnTo>
                <a:lnTo>
                  <a:pt x="150108" y="49768"/>
                </a:lnTo>
                <a:lnTo>
                  <a:pt x="143408" y="57569"/>
                </a:lnTo>
                <a:lnTo>
                  <a:pt x="143408" y="41948"/>
                </a:lnTo>
                <a:lnTo>
                  <a:pt x="126314" y="41948"/>
                </a:lnTo>
                <a:close/>
              </a:path>
              <a:path w="615950" h="154304">
                <a:moveTo>
                  <a:pt x="316611" y="51293"/>
                </a:moveTo>
                <a:lnTo>
                  <a:pt x="316611" y="101549"/>
                </a:lnTo>
                <a:lnTo>
                  <a:pt x="400342" y="101549"/>
                </a:lnTo>
                <a:lnTo>
                  <a:pt x="400456" y="97713"/>
                </a:lnTo>
                <a:lnTo>
                  <a:pt x="400456" y="96621"/>
                </a:lnTo>
                <a:lnTo>
                  <a:pt x="386308" y="54660"/>
                </a:lnTo>
                <a:lnTo>
                  <a:pt x="380593" y="49744"/>
                </a:lnTo>
                <a:lnTo>
                  <a:pt x="380593" y="86106"/>
                </a:lnTo>
                <a:lnTo>
                  <a:pt x="317157" y="86106"/>
                </a:lnTo>
                <a:lnTo>
                  <a:pt x="317157" y="50824"/>
                </a:lnTo>
                <a:lnTo>
                  <a:pt x="316611" y="51293"/>
                </a:lnTo>
                <a:close/>
              </a:path>
              <a:path w="615950" h="154304">
                <a:moveTo>
                  <a:pt x="297853" y="97790"/>
                </a:moveTo>
                <a:lnTo>
                  <a:pt x="312166" y="139217"/>
                </a:lnTo>
                <a:lnTo>
                  <a:pt x="350888" y="153987"/>
                </a:lnTo>
                <a:lnTo>
                  <a:pt x="360151" y="153408"/>
                </a:lnTo>
                <a:lnTo>
                  <a:pt x="393247" y="133569"/>
                </a:lnTo>
                <a:lnTo>
                  <a:pt x="399821" y="118668"/>
                </a:lnTo>
                <a:lnTo>
                  <a:pt x="380390" y="115900"/>
                </a:lnTo>
                <a:lnTo>
                  <a:pt x="377494" y="123786"/>
                </a:lnTo>
                <a:lnTo>
                  <a:pt x="373557" y="129540"/>
                </a:lnTo>
                <a:lnTo>
                  <a:pt x="363651" y="136728"/>
                </a:lnTo>
                <a:lnTo>
                  <a:pt x="357682" y="138531"/>
                </a:lnTo>
                <a:lnTo>
                  <a:pt x="349465" y="138425"/>
                </a:lnTo>
                <a:lnTo>
                  <a:pt x="317668" y="109993"/>
                </a:lnTo>
                <a:lnTo>
                  <a:pt x="316611" y="101549"/>
                </a:lnTo>
                <a:lnTo>
                  <a:pt x="316611" y="51293"/>
                </a:lnTo>
                <a:lnTo>
                  <a:pt x="312318" y="54978"/>
                </a:lnTo>
                <a:lnTo>
                  <a:pt x="305991" y="63362"/>
                </a:lnTo>
                <a:lnTo>
                  <a:pt x="301471" y="73293"/>
                </a:lnTo>
                <a:lnTo>
                  <a:pt x="298757" y="84769"/>
                </a:lnTo>
                <a:lnTo>
                  <a:pt x="297853" y="97790"/>
                </a:lnTo>
                <a:close/>
              </a:path>
              <a:path w="615950" h="154304">
                <a:moveTo>
                  <a:pt x="317157" y="50824"/>
                </a:moveTo>
                <a:lnTo>
                  <a:pt x="317157" y="86106"/>
                </a:lnTo>
                <a:lnTo>
                  <a:pt x="317804" y="76708"/>
                </a:lnTo>
                <a:lnTo>
                  <a:pt x="321144" y="69215"/>
                </a:lnTo>
                <a:lnTo>
                  <a:pt x="333184" y="58000"/>
                </a:lnTo>
                <a:lnTo>
                  <a:pt x="340626" y="55194"/>
                </a:lnTo>
                <a:lnTo>
                  <a:pt x="349834" y="55228"/>
                </a:lnTo>
                <a:lnTo>
                  <a:pt x="380593" y="86106"/>
                </a:lnTo>
                <a:lnTo>
                  <a:pt x="380593" y="49744"/>
                </a:lnTo>
                <a:lnTo>
                  <a:pt x="349465" y="39770"/>
                </a:lnTo>
                <a:lnTo>
                  <a:pt x="338844" y="40690"/>
                </a:lnTo>
                <a:lnTo>
                  <a:pt x="328928" y="43548"/>
                </a:lnTo>
                <a:lnTo>
                  <a:pt x="320085" y="48310"/>
                </a:lnTo>
                <a:lnTo>
                  <a:pt x="317157" y="50824"/>
                </a:lnTo>
                <a:close/>
              </a:path>
              <a:path w="615950" h="154304">
                <a:moveTo>
                  <a:pt x="410933" y="151777"/>
                </a:moveTo>
                <a:lnTo>
                  <a:pt x="433793" y="151777"/>
                </a:lnTo>
                <a:lnTo>
                  <a:pt x="463105" y="110401"/>
                </a:lnTo>
                <a:lnTo>
                  <a:pt x="467906" y="118237"/>
                </a:lnTo>
                <a:lnTo>
                  <a:pt x="490791" y="151777"/>
                </a:lnTo>
                <a:lnTo>
                  <a:pt x="513524" y="151777"/>
                </a:lnTo>
                <a:lnTo>
                  <a:pt x="473837" y="95237"/>
                </a:lnTo>
                <a:lnTo>
                  <a:pt x="473837" y="62947"/>
                </a:lnTo>
                <a:lnTo>
                  <a:pt x="461772" y="79984"/>
                </a:lnTo>
                <a:lnTo>
                  <a:pt x="459968" y="76758"/>
                </a:lnTo>
                <a:lnTo>
                  <a:pt x="457390" y="72758"/>
                </a:lnTo>
                <a:lnTo>
                  <a:pt x="454050" y="67970"/>
                </a:lnTo>
                <a:lnTo>
                  <a:pt x="451040" y="63520"/>
                </a:lnTo>
                <a:lnTo>
                  <a:pt x="451040" y="95148"/>
                </a:lnTo>
                <a:lnTo>
                  <a:pt x="410933" y="151777"/>
                </a:lnTo>
                <a:close/>
              </a:path>
              <a:path w="615950" h="154304">
                <a:moveTo>
                  <a:pt x="473837" y="62947"/>
                </a:moveTo>
                <a:lnTo>
                  <a:pt x="473837" y="95237"/>
                </a:lnTo>
                <a:lnTo>
                  <a:pt x="511568" y="41948"/>
                </a:lnTo>
                <a:lnTo>
                  <a:pt x="488708" y="41948"/>
                </a:lnTo>
                <a:lnTo>
                  <a:pt x="473837" y="62947"/>
                </a:lnTo>
                <a:close/>
              </a:path>
              <a:path w="615950" h="154304">
                <a:moveTo>
                  <a:pt x="413689" y="41948"/>
                </a:moveTo>
                <a:lnTo>
                  <a:pt x="451040" y="95148"/>
                </a:lnTo>
                <a:lnTo>
                  <a:pt x="451040" y="63520"/>
                </a:lnTo>
                <a:lnTo>
                  <a:pt x="436448" y="41948"/>
                </a:lnTo>
                <a:lnTo>
                  <a:pt x="413689" y="41948"/>
                </a:lnTo>
                <a:close/>
              </a:path>
              <a:path w="615950" h="154304">
                <a:moveTo>
                  <a:pt x="526770" y="0"/>
                </a:moveTo>
                <a:lnTo>
                  <a:pt x="526770" y="20980"/>
                </a:lnTo>
                <a:lnTo>
                  <a:pt x="545515" y="20980"/>
                </a:lnTo>
                <a:lnTo>
                  <a:pt x="545515" y="0"/>
                </a:lnTo>
                <a:lnTo>
                  <a:pt x="526770" y="0"/>
                </a:lnTo>
                <a:close/>
              </a:path>
              <a:path w="615950" h="154304">
                <a:moveTo>
                  <a:pt x="526770" y="41948"/>
                </a:moveTo>
                <a:lnTo>
                  <a:pt x="526770" y="151777"/>
                </a:lnTo>
                <a:lnTo>
                  <a:pt x="545515" y="151777"/>
                </a:lnTo>
                <a:lnTo>
                  <a:pt x="545515" y="41948"/>
                </a:lnTo>
                <a:lnTo>
                  <a:pt x="526770" y="41948"/>
                </a:lnTo>
                <a:close/>
              </a:path>
              <a:path w="615950" h="154304">
                <a:moveTo>
                  <a:pt x="575856" y="14732"/>
                </a:moveTo>
                <a:lnTo>
                  <a:pt x="575856" y="130911"/>
                </a:lnTo>
                <a:lnTo>
                  <a:pt x="576618" y="138264"/>
                </a:lnTo>
                <a:lnTo>
                  <a:pt x="605701" y="153428"/>
                </a:lnTo>
                <a:lnTo>
                  <a:pt x="610362" y="152869"/>
                </a:lnTo>
                <a:lnTo>
                  <a:pt x="615569" y="151739"/>
                </a:lnTo>
                <a:lnTo>
                  <a:pt x="612813" y="135293"/>
                </a:lnTo>
                <a:lnTo>
                  <a:pt x="609523" y="135610"/>
                </a:lnTo>
                <a:lnTo>
                  <a:pt x="606882" y="135775"/>
                </a:lnTo>
                <a:lnTo>
                  <a:pt x="602183" y="135775"/>
                </a:lnTo>
                <a:lnTo>
                  <a:pt x="600125" y="135318"/>
                </a:lnTo>
                <a:lnTo>
                  <a:pt x="597242" y="133527"/>
                </a:lnTo>
                <a:lnTo>
                  <a:pt x="596201" y="132321"/>
                </a:lnTo>
                <a:lnTo>
                  <a:pt x="594931" y="129286"/>
                </a:lnTo>
                <a:lnTo>
                  <a:pt x="594614" y="125869"/>
                </a:lnTo>
                <a:lnTo>
                  <a:pt x="594614" y="3556"/>
                </a:lnTo>
                <a:lnTo>
                  <a:pt x="575856" y="14732"/>
                </a:lnTo>
                <a:close/>
              </a:path>
              <a:path w="615950" h="154304">
                <a:moveTo>
                  <a:pt x="594614" y="41948"/>
                </a:moveTo>
                <a:lnTo>
                  <a:pt x="594614" y="56299"/>
                </a:lnTo>
                <a:lnTo>
                  <a:pt x="612813" y="56299"/>
                </a:lnTo>
                <a:lnTo>
                  <a:pt x="612813" y="41948"/>
                </a:lnTo>
                <a:lnTo>
                  <a:pt x="594614" y="41948"/>
                </a:lnTo>
                <a:close/>
              </a:path>
              <a:path w="615950" h="154304">
                <a:moveTo>
                  <a:pt x="562076" y="41948"/>
                </a:moveTo>
                <a:lnTo>
                  <a:pt x="562076" y="56299"/>
                </a:lnTo>
                <a:lnTo>
                  <a:pt x="575856" y="56299"/>
                </a:lnTo>
                <a:lnTo>
                  <a:pt x="575856" y="41948"/>
                </a:lnTo>
                <a:lnTo>
                  <a:pt x="562076" y="419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57200" y="1651000"/>
            <a:ext cx="8280400" cy="5143500"/>
            <a:chOff x="457200" y="1651000"/>
            <a:chExt cx="8280400" cy="5143500"/>
          </a:xfrm>
        </p:grpSpPr>
        <p:sp>
          <p:nvSpPr>
            <p:cNvPr id="5" name="object 5"/>
            <p:cNvSpPr/>
            <p:nvPr/>
          </p:nvSpPr>
          <p:spPr>
            <a:xfrm>
              <a:off x="8635504" y="3946169"/>
              <a:ext cx="82562" cy="19536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460651" y="4015142"/>
              <a:ext cx="111760" cy="53340"/>
            </a:xfrm>
            <a:custGeom>
              <a:avLst/>
              <a:gdLst/>
              <a:ahLst/>
              <a:cxnLst/>
              <a:rect l="l" t="t" r="r" b="b"/>
              <a:pathLst>
                <a:path w="111759" h="53339">
                  <a:moveTo>
                    <a:pt x="111417" y="41389"/>
                  </a:moveTo>
                  <a:lnTo>
                    <a:pt x="0" y="41389"/>
                  </a:lnTo>
                  <a:lnTo>
                    <a:pt x="0" y="52984"/>
                  </a:lnTo>
                  <a:lnTo>
                    <a:pt x="111417" y="52984"/>
                  </a:lnTo>
                  <a:lnTo>
                    <a:pt x="111417" y="41389"/>
                  </a:lnTo>
                  <a:close/>
                </a:path>
                <a:path w="111759" h="53339">
                  <a:moveTo>
                    <a:pt x="111417" y="0"/>
                  </a:moveTo>
                  <a:lnTo>
                    <a:pt x="0" y="0"/>
                  </a:lnTo>
                  <a:lnTo>
                    <a:pt x="0" y="11595"/>
                  </a:lnTo>
                  <a:lnTo>
                    <a:pt x="111417" y="11595"/>
                  </a:lnTo>
                  <a:lnTo>
                    <a:pt x="1114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35000" y="1651000"/>
              <a:ext cx="5105400" cy="22479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35000" y="3898900"/>
              <a:ext cx="8102600" cy="8890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375387" y="4764074"/>
              <a:ext cx="815975" cy="1276350"/>
            </a:xfrm>
            <a:custGeom>
              <a:avLst/>
              <a:gdLst/>
              <a:ahLst/>
              <a:cxnLst/>
              <a:rect l="l" t="t" r="r" b="b"/>
              <a:pathLst>
                <a:path w="815975" h="1276350">
                  <a:moveTo>
                    <a:pt x="0" y="1276350"/>
                  </a:moveTo>
                  <a:lnTo>
                    <a:pt x="815975" y="1276349"/>
                  </a:lnTo>
                  <a:lnTo>
                    <a:pt x="815974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153275" y="473868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76200"/>
                  </a:moveTo>
                  <a:lnTo>
                    <a:pt x="76200" y="76199"/>
                  </a:lnTo>
                  <a:lnTo>
                    <a:pt x="38099" y="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7200" y="4978400"/>
              <a:ext cx="5613400" cy="18161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43574" y="5468924"/>
              <a:ext cx="532130" cy="1141730"/>
            </a:xfrm>
            <a:custGeom>
              <a:avLst/>
              <a:gdLst/>
              <a:ahLst/>
              <a:cxnLst/>
              <a:rect l="l" t="t" r="r" b="b"/>
              <a:pathLst>
                <a:path w="532129" h="1141729">
                  <a:moveTo>
                    <a:pt x="0" y="0"/>
                  </a:moveTo>
                  <a:lnTo>
                    <a:pt x="70685" y="3397"/>
                  </a:lnTo>
                  <a:lnTo>
                    <a:pt x="134203" y="12985"/>
                  </a:lnTo>
                  <a:lnTo>
                    <a:pt x="188018" y="27859"/>
                  </a:lnTo>
                  <a:lnTo>
                    <a:pt x="229596" y="47110"/>
                  </a:lnTo>
                  <a:lnTo>
                    <a:pt x="265899" y="95122"/>
                  </a:lnTo>
                  <a:lnTo>
                    <a:pt x="265899" y="475589"/>
                  </a:lnTo>
                  <a:lnTo>
                    <a:pt x="275399" y="500873"/>
                  </a:lnTo>
                  <a:lnTo>
                    <a:pt x="343787" y="542842"/>
                  </a:lnTo>
                  <a:lnTo>
                    <a:pt x="397605" y="557714"/>
                  </a:lnTo>
                  <a:lnTo>
                    <a:pt x="461125" y="567302"/>
                  </a:lnTo>
                  <a:lnTo>
                    <a:pt x="531812" y="570699"/>
                  </a:lnTo>
                  <a:lnTo>
                    <a:pt x="461125" y="574098"/>
                  </a:lnTo>
                  <a:lnTo>
                    <a:pt x="397605" y="583688"/>
                  </a:lnTo>
                  <a:lnTo>
                    <a:pt x="343787" y="598563"/>
                  </a:lnTo>
                  <a:lnTo>
                    <a:pt x="302206" y="617815"/>
                  </a:lnTo>
                  <a:lnTo>
                    <a:pt x="265899" y="665822"/>
                  </a:lnTo>
                  <a:lnTo>
                    <a:pt x="265899" y="1046289"/>
                  </a:lnTo>
                  <a:lnTo>
                    <a:pt x="256401" y="1071578"/>
                  </a:lnTo>
                  <a:lnTo>
                    <a:pt x="229596" y="1094302"/>
                  </a:lnTo>
                  <a:lnTo>
                    <a:pt x="188018" y="1113553"/>
                  </a:lnTo>
                  <a:lnTo>
                    <a:pt x="134203" y="1128426"/>
                  </a:lnTo>
                  <a:lnTo>
                    <a:pt x="70685" y="1138014"/>
                  </a:lnTo>
                  <a:lnTo>
                    <a:pt x="0" y="114141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327265" y="5354320"/>
            <a:ext cx="14681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Exhaustive on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exit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61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6921" y="758520"/>
            <a:ext cx="476821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Establishing</a:t>
            </a:r>
            <a:r>
              <a:rPr spc="-30" dirty="0"/>
              <a:t> </a:t>
            </a:r>
            <a:r>
              <a:rPr spc="-10" dirty="0"/>
              <a:t>Postcondition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35000" y="1651000"/>
            <a:ext cx="7188200" cy="4940300"/>
            <a:chOff x="635000" y="1651000"/>
            <a:chExt cx="7188200" cy="4940300"/>
          </a:xfrm>
        </p:grpSpPr>
        <p:sp>
          <p:nvSpPr>
            <p:cNvPr id="5" name="object 5"/>
            <p:cNvSpPr/>
            <p:nvPr/>
          </p:nvSpPr>
          <p:spPr>
            <a:xfrm>
              <a:off x="6412319" y="4419587"/>
              <a:ext cx="962025" cy="259079"/>
            </a:xfrm>
            <a:custGeom>
              <a:avLst/>
              <a:gdLst/>
              <a:ahLst/>
              <a:cxnLst/>
              <a:rect l="l" t="t" r="r" b="b"/>
              <a:pathLst>
                <a:path w="962025" h="259079">
                  <a:moveTo>
                    <a:pt x="0" y="258800"/>
                  </a:moveTo>
                  <a:lnTo>
                    <a:pt x="108318" y="175425"/>
                  </a:lnTo>
                  <a:lnTo>
                    <a:pt x="173405" y="128587"/>
                  </a:lnTo>
                  <a:lnTo>
                    <a:pt x="238493" y="87312"/>
                  </a:lnTo>
                  <a:lnTo>
                    <a:pt x="303580" y="51600"/>
                  </a:lnTo>
                  <a:lnTo>
                    <a:pt x="367880" y="24612"/>
                  </a:lnTo>
                  <a:lnTo>
                    <a:pt x="431380" y="6350"/>
                  </a:lnTo>
                  <a:lnTo>
                    <a:pt x="494880" y="0"/>
                  </a:lnTo>
                  <a:lnTo>
                    <a:pt x="557580" y="5562"/>
                  </a:lnTo>
                  <a:lnTo>
                    <a:pt x="619493" y="22225"/>
                  </a:lnTo>
                  <a:lnTo>
                    <a:pt x="681405" y="48425"/>
                  </a:lnTo>
                  <a:lnTo>
                    <a:pt x="742530" y="83350"/>
                  </a:lnTo>
                  <a:lnTo>
                    <a:pt x="802855" y="123825"/>
                  </a:lnTo>
                  <a:lnTo>
                    <a:pt x="863180" y="169075"/>
                  </a:lnTo>
                  <a:lnTo>
                    <a:pt x="961758" y="250139"/>
                  </a:lnTo>
                </a:path>
              </a:pathLst>
            </a:custGeom>
            <a:ln w="28575">
              <a:solidFill>
                <a:srgbClr val="D82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389687" y="4600333"/>
              <a:ext cx="1006475" cy="95885"/>
            </a:xfrm>
            <a:custGeom>
              <a:avLst/>
              <a:gdLst/>
              <a:ahLst/>
              <a:cxnLst/>
              <a:rect l="l" t="t" r="r" b="b"/>
              <a:pathLst>
                <a:path w="1006475" h="95885">
                  <a:moveTo>
                    <a:pt x="94081" y="77165"/>
                  </a:moveTo>
                  <a:lnTo>
                    <a:pt x="41795" y="9232"/>
                  </a:lnTo>
                  <a:lnTo>
                    <a:pt x="0" y="95491"/>
                  </a:lnTo>
                  <a:lnTo>
                    <a:pt x="94081" y="77165"/>
                  </a:lnTo>
                  <a:close/>
                </a:path>
                <a:path w="1006475" h="95885">
                  <a:moveTo>
                    <a:pt x="1006475" y="87553"/>
                  </a:moveTo>
                  <a:lnTo>
                    <a:pt x="967486" y="0"/>
                  </a:lnTo>
                  <a:lnTo>
                    <a:pt x="913041" y="66205"/>
                  </a:lnTo>
                  <a:lnTo>
                    <a:pt x="1006475" y="87553"/>
                  </a:lnTo>
                  <a:close/>
                </a:path>
              </a:pathLst>
            </a:custGeom>
            <a:solidFill>
              <a:srgbClr val="D82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398949" y="3914736"/>
              <a:ext cx="2465705" cy="499109"/>
            </a:xfrm>
            <a:custGeom>
              <a:avLst/>
              <a:gdLst/>
              <a:ahLst/>
              <a:cxnLst/>
              <a:rect l="l" t="t" r="r" b="b"/>
              <a:pathLst>
                <a:path w="2465704" h="499110">
                  <a:moveTo>
                    <a:pt x="0" y="349276"/>
                  </a:moveTo>
                  <a:lnTo>
                    <a:pt x="56006" y="351937"/>
                  </a:lnTo>
                  <a:lnTo>
                    <a:pt x="111981" y="354568"/>
                  </a:lnTo>
                  <a:lnTo>
                    <a:pt x="167878" y="357137"/>
                  </a:lnTo>
                  <a:lnTo>
                    <a:pt x="223649" y="359612"/>
                  </a:lnTo>
                  <a:lnTo>
                    <a:pt x="279247" y="361963"/>
                  </a:lnTo>
                  <a:lnTo>
                    <a:pt x="334626" y="364158"/>
                  </a:lnTo>
                  <a:lnTo>
                    <a:pt x="389739" y="366167"/>
                  </a:lnTo>
                  <a:lnTo>
                    <a:pt x="444538" y="367959"/>
                  </a:lnTo>
                  <a:lnTo>
                    <a:pt x="498977" y="369501"/>
                  </a:lnTo>
                  <a:lnTo>
                    <a:pt x="553008" y="370764"/>
                  </a:lnTo>
                  <a:lnTo>
                    <a:pt x="606586" y="371716"/>
                  </a:lnTo>
                  <a:lnTo>
                    <a:pt x="659662" y="372326"/>
                  </a:lnTo>
                  <a:lnTo>
                    <a:pt x="712191" y="372563"/>
                  </a:lnTo>
                  <a:lnTo>
                    <a:pt x="764124" y="372395"/>
                  </a:lnTo>
                  <a:lnTo>
                    <a:pt x="815416" y="371793"/>
                  </a:lnTo>
                  <a:lnTo>
                    <a:pt x="866018" y="370724"/>
                  </a:lnTo>
                  <a:lnTo>
                    <a:pt x="915885" y="369157"/>
                  </a:lnTo>
                  <a:lnTo>
                    <a:pt x="964969" y="367063"/>
                  </a:lnTo>
                  <a:lnTo>
                    <a:pt x="1013224" y="364408"/>
                  </a:lnTo>
                  <a:lnTo>
                    <a:pt x="1060602" y="361163"/>
                  </a:lnTo>
                  <a:lnTo>
                    <a:pt x="1107056" y="357296"/>
                  </a:lnTo>
                  <a:lnTo>
                    <a:pt x="1152540" y="352776"/>
                  </a:lnTo>
                  <a:lnTo>
                    <a:pt x="1197007" y="347572"/>
                  </a:lnTo>
                  <a:lnTo>
                    <a:pt x="1240409" y="341653"/>
                  </a:lnTo>
                  <a:lnTo>
                    <a:pt x="1282700" y="334988"/>
                  </a:lnTo>
                  <a:lnTo>
                    <a:pt x="1336833" y="323779"/>
                  </a:lnTo>
                  <a:lnTo>
                    <a:pt x="1389466" y="309032"/>
                  </a:lnTo>
                  <a:lnTo>
                    <a:pt x="1440626" y="291249"/>
                  </a:lnTo>
                  <a:lnTo>
                    <a:pt x="1490344" y="270928"/>
                  </a:lnTo>
                  <a:lnTo>
                    <a:pt x="1538648" y="248570"/>
                  </a:lnTo>
                  <a:lnTo>
                    <a:pt x="1585568" y="224675"/>
                  </a:lnTo>
                  <a:lnTo>
                    <a:pt x="1631132" y="199743"/>
                  </a:lnTo>
                  <a:lnTo>
                    <a:pt x="1675370" y="174273"/>
                  </a:lnTo>
                  <a:lnTo>
                    <a:pt x="1718311" y="148765"/>
                  </a:lnTo>
                  <a:lnTo>
                    <a:pt x="1759984" y="123720"/>
                  </a:lnTo>
                  <a:lnTo>
                    <a:pt x="1800418" y="99638"/>
                  </a:lnTo>
                  <a:lnTo>
                    <a:pt x="1839643" y="77017"/>
                  </a:lnTo>
                  <a:lnTo>
                    <a:pt x="1877688" y="56359"/>
                  </a:lnTo>
                  <a:lnTo>
                    <a:pt x="1914581" y="38163"/>
                  </a:lnTo>
                  <a:lnTo>
                    <a:pt x="1950352" y="22929"/>
                  </a:lnTo>
                  <a:lnTo>
                    <a:pt x="2018645" y="3348"/>
                  </a:lnTo>
                  <a:lnTo>
                    <a:pt x="2051225" y="0"/>
                  </a:lnTo>
                  <a:lnTo>
                    <a:pt x="2082800" y="1613"/>
                  </a:lnTo>
                  <a:lnTo>
                    <a:pt x="2123417" y="10504"/>
                  </a:lnTo>
                  <a:lnTo>
                    <a:pt x="2161059" y="25305"/>
                  </a:lnTo>
                  <a:lnTo>
                    <a:pt x="2195959" y="45564"/>
                  </a:lnTo>
                  <a:lnTo>
                    <a:pt x="2228350" y="70824"/>
                  </a:lnTo>
                  <a:lnTo>
                    <a:pt x="2258463" y="100632"/>
                  </a:lnTo>
                  <a:lnTo>
                    <a:pt x="2286532" y="134533"/>
                  </a:lnTo>
                  <a:lnTo>
                    <a:pt x="2312789" y="172071"/>
                  </a:lnTo>
                  <a:lnTo>
                    <a:pt x="2337466" y="212792"/>
                  </a:lnTo>
                  <a:lnTo>
                    <a:pt x="2360797" y="256242"/>
                  </a:lnTo>
                  <a:lnTo>
                    <a:pt x="2383013" y="301965"/>
                  </a:lnTo>
                  <a:lnTo>
                    <a:pt x="2404348" y="349508"/>
                  </a:lnTo>
                  <a:lnTo>
                    <a:pt x="2425033" y="398414"/>
                  </a:lnTo>
                  <a:lnTo>
                    <a:pt x="2445302" y="448230"/>
                  </a:lnTo>
                  <a:lnTo>
                    <a:pt x="2465387" y="498501"/>
                  </a:lnTo>
                </a:path>
              </a:pathLst>
            </a:custGeom>
            <a:ln w="28575">
              <a:solidFill>
                <a:srgbClr val="D82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35000" y="1651000"/>
              <a:ext cx="5105400" cy="3022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35000" y="4673600"/>
              <a:ext cx="7162800" cy="1143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699000" y="4787900"/>
              <a:ext cx="3098799" cy="7239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686300" y="5727700"/>
              <a:ext cx="3136900" cy="8636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697162" y="4492612"/>
              <a:ext cx="3891279" cy="1489075"/>
            </a:xfrm>
            <a:custGeom>
              <a:avLst/>
              <a:gdLst/>
              <a:ahLst/>
              <a:cxnLst/>
              <a:rect l="l" t="t" r="r" b="b"/>
              <a:pathLst>
                <a:path w="3891279" h="1489075">
                  <a:moveTo>
                    <a:pt x="0" y="90487"/>
                  </a:moveTo>
                  <a:lnTo>
                    <a:pt x="104775" y="61912"/>
                  </a:lnTo>
                  <a:lnTo>
                    <a:pt x="208749" y="35712"/>
                  </a:lnTo>
                  <a:lnTo>
                    <a:pt x="310349" y="15074"/>
                  </a:lnTo>
                  <a:lnTo>
                    <a:pt x="409575" y="2374"/>
                  </a:lnTo>
                  <a:lnTo>
                    <a:pt x="504825" y="0"/>
                  </a:lnTo>
                  <a:lnTo>
                    <a:pt x="596099" y="11112"/>
                  </a:lnTo>
                  <a:lnTo>
                    <a:pt x="681037" y="38099"/>
                  </a:lnTo>
                  <a:lnTo>
                    <a:pt x="720725" y="57937"/>
                  </a:lnTo>
                  <a:lnTo>
                    <a:pt x="758825" y="82549"/>
                  </a:lnTo>
                  <a:lnTo>
                    <a:pt x="791362" y="115087"/>
                  </a:lnTo>
                  <a:lnTo>
                    <a:pt x="814387" y="155574"/>
                  </a:lnTo>
                  <a:lnTo>
                    <a:pt x="828880" y="201122"/>
                  </a:lnTo>
                  <a:lnTo>
                    <a:pt x="839701" y="247462"/>
                  </a:lnTo>
                  <a:lnTo>
                    <a:pt x="847635" y="294427"/>
                  </a:lnTo>
                  <a:lnTo>
                    <a:pt x="853465" y="341850"/>
                  </a:lnTo>
                  <a:lnTo>
                    <a:pt x="857974" y="389562"/>
                  </a:lnTo>
                  <a:lnTo>
                    <a:pt x="861945" y="437395"/>
                  </a:lnTo>
                  <a:lnTo>
                    <a:pt x="866163" y="485183"/>
                  </a:lnTo>
                  <a:lnTo>
                    <a:pt x="871410" y="532756"/>
                  </a:lnTo>
                  <a:lnTo>
                    <a:pt x="878470" y="579947"/>
                  </a:lnTo>
                  <a:lnTo>
                    <a:pt x="888126" y="626588"/>
                  </a:lnTo>
                  <a:lnTo>
                    <a:pt x="901163" y="672512"/>
                  </a:lnTo>
                  <a:lnTo>
                    <a:pt x="918362" y="717549"/>
                  </a:lnTo>
                  <a:lnTo>
                    <a:pt x="948524" y="779462"/>
                  </a:lnTo>
                  <a:lnTo>
                    <a:pt x="989799" y="836612"/>
                  </a:lnTo>
                  <a:lnTo>
                    <a:pt x="1042187" y="888199"/>
                  </a:lnTo>
                  <a:lnTo>
                    <a:pt x="1108862" y="932649"/>
                  </a:lnTo>
                  <a:lnTo>
                    <a:pt x="1190625" y="968374"/>
                  </a:lnTo>
                  <a:lnTo>
                    <a:pt x="1238250" y="983449"/>
                  </a:lnTo>
                  <a:lnTo>
                    <a:pt x="1292225" y="996149"/>
                  </a:lnTo>
                  <a:lnTo>
                    <a:pt x="1340418" y="1005825"/>
                  </a:lnTo>
                  <a:lnTo>
                    <a:pt x="1389199" y="1014192"/>
                  </a:lnTo>
                  <a:lnTo>
                    <a:pt x="1438465" y="1021372"/>
                  </a:lnTo>
                  <a:lnTo>
                    <a:pt x="1488112" y="1027486"/>
                  </a:lnTo>
                  <a:lnTo>
                    <a:pt x="1538039" y="1032655"/>
                  </a:lnTo>
                  <a:lnTo>
                    <a:pt x="1588142" y="1036999"/>
                  </a:lnTo>
                  <a:lnTo>
                    <a:pt x="1638320" y="1040639"/>
                  </a:lnTo>
                  <a:lnTo>
                    <a:pt x="1688470" y="1043696"/>
                  </a:lnTo>
                  <a:lnTo>
                    <a:pt x="1738489" y="1046291"/>
                  </a:lnTo>
                  <a:lnTo>
                    <a:pt x="1788275" y="1048545"/>
                  </a:lnTo>
                  <a:lnTo>
                    <a:pt x="1837725" y="1050578"/>
                  </a:lnTo>
                  <a:lnTo>
                    <a:pt x="1886737" y="1052512"/>
                  </a:lnTo>
                  <a:lnTo>
                    <a:pt x="2065337" y="1056474"/>
                  </a:lnTo>
                  <a:lnTo>
                    <a:pt x="2249487" y="1058062"/>
                  </a:lnTo>
                  <a:lnTo>
                    <a:pt x="2299328" y="1058230"/>
                  </a:lnTo>
                  <a:lnTo>
                    <a:pt x="2349186" y="1058255"/>
                  </a:lnTo>
                  <a:lnTo>
                    <a:pt x="2399060" y="1058156"/>
                  </a:lnTo>
                  <a:lnTo>
                    <a:pt x="2448947" y="1057956"/>
                  </a:lnTo>
                  <a:lnTo>
                    <a:pt x="2498846" y="1057673"/>
                  </a:lnTo>
                  <a:lnTo>
                    <a:pt x="2548755" y="1057330"/>
                  </a:lnTo>
                  <a:lnTo>
                    <a:pt x="2598672" y="1056946"/>
                  </a:lnTo>
                  <a:lnTo>
                    <a:pt x="2648594" y="1056542"/>
                  </a:lnTo>
                  <a:lnTo>
                    <a:pt x="2698520" y="1056139"/>
                  </a:lnTo>
                  <a:lnTo>
                    <a:pt x="2748449" y="1055757"/>
                  </a:lnTo>
                  <a:lnTo>
                    <a:pt x="2798377" y="1055417"/>
                  </a:lnTo>
                  <a:lnTo>
                    <a:pt x="2848303" y="1055140"/>
                  </a:lnTo>
                  <a:lnTo>
                    <a:pt x="2898225" y="1054946"/>
                  </a:lnTo>
                  <a:lnTo>
                    <a:pt x="2948141" y="1054856"/>
                  </a:lnTo>
                  <a:lnTo>
                    <a:pt x="2998050" y="1054890"/>
                  </a:lnTo>
                  <a:lnTo>
                    <a:pt x="3047948" y="1055069"/>
                  </a:lnTo>
                  <a:lnTo>
                    <a:pt x="3097835" y="1055414"/>
                  </a:lnTo>
                  <a:lnTo>
                    <a:pt x="3147708" y="1055945"/>
                  </a:lnTo>
                  <a:lnTo>
                    <a:pt x="3197565" y="1056683"/>
                  </a:lnTo>
                  <a:lnTo>
                    <a:pt x="3247404" y="1057649"/>
                  </a:lnTo>
                  <a:lnTo>
                    <a:pt x="3297224" y="1058862"/>
                  </a:lnTo>
                  <a:lnTo>
                    <a:pt x="3367074" y="1061237"/>
                  </a:lnTo>
                  <a:lnTo>
                    <a:pt x="3431374" y="1064412"/>
                  </a:lnTo>
                  <a:lnTo>
                    <a:pt x="3491699" y="1069174"/>
                  </a:lnTo>
                  <a:lnTo>
                    <a:pt x="3555445" y="1076373"/>
                  </a:lnTo>
                  <a:lnTo>
                    <a:pt x="3628547" y="1087909"/>
                  </a:lnTo>
                  <a:lnTo>
                    <a:pt x="3666436" y="1095659"/>
                  </a:lnTo>
                  <a:lnTo>
                    <a:pt x="3704059" y="1104922"/>
                  </a:lnTo>
                  <a:lnTo>
                    <a:pt x="3775034" y="1128552"/>
                  </a:lnTo>
                  <a:lnTo>
                    <a:pt x="3834526" y="1159941"/>
                  </a:lnTo>
                  <a:lnTo>
                    <a:pt x="3875587" y="1200229"/>
                  </a:lnTo>
                  <a:lnTo>
                    <a:pt x="3891272" y="1250556"/>
                  </a:lnTo>
                  <a:lnTo>
                    <a:pt x="3887427" y="1279840"/>
                  </a:lnTo>
                  <a:lnTo>
                    <a:pt x="3874633" y="1312061"/>
                  </a:lnTo>
                  <a:lnTo>
                    <a:pt x="3852022" y="1347363"/>
                  </a:lnTo>
                  <a:lnTo>
                    <a:pt x="3818724" y="1385887"/>
                  </a:lnTo>
                  <a:lnTo>
                    <a:pt x="3759187" y="1446212"/>
                  </a:lnTo>
                  <a:lnTo>
                    <a:pt x="3713454" y="1488681"/>
                  </a:lnTo>
                </a:path>
              </a:pathLst>
            </a:custGeom>
            <a:ln w="28575">
              <a:solidFill>
                <a:srgbClr val="D82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389687" y="5911011"/>
              <a:ext cx="92075" cy="90170"/>
            </a:xfrm>
            <a:custGeom>
              <a:avLst/>
              <a:gdLst/>
              <a:ahLst/>
              <a:cxnLst/>
              <a:rect l="l" t="t" r="r" b="b"/>
              <a:pathLst>
                <a:path w="92075" h="90170">
                  <a:moveTo>
                    <a:pt x="0" y="89738"/>
                  </a:moveTo>
                  <a:lnTo>
                    <a:pt x="91986" y="62814"/>
                  </a:lnTo>
                  <a:lnTo>
                    <a:pt x="33654" y="0"/>
                  </a:lnTo>
                  <a:lnTo>
                    <a:pt x="0" y="89738"/>
                  </a:lnTo>
                  <a:close/>
                </a:path>
              </a:pathLst>
            </a:custGeom>
            <a:solidFill>
              <a:srgbClr val="D82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62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3461" y="584834"/>
            <a:ext cx="221615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An</a:t>
            </a:r>
            <a:r>
              <a:rPr spc="-55" dirty="0"/>
              <a:t>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/>
          <p:nvPr/>
        </p:nvSpPr>
        <p:spPr>
          <a:xfrm>
            <a:off x="3378200" y="1079500"/>
            <a:ext cx="4318000" cy="5740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63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6252" y="758520"/>
            <a:ext cx="6531609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88435" algn="l"/>
              </a:tabLst>
            </a:pPr>
            <a:r>
              <a:rPr spc="-5" dirty="0"/>
              <a:t>In-Place</a:t>
            </a:r>
            <a:r>
              <a:rPr spc="30" dirty="0"/>
              <a:t> </a:t>
            </a:r>
            <a:r>
              <a:rPr spc="-5" dirty="0"/>
              <a:t>Partitioning:	Running</a:t>
            </a:r>
            <a:r>
              <a:rPr spc="-60" dirty="0"/>
              <a:t> </a:t>
            </a:r>
            <a:r>
              <a:rPr dirty="0"/>
              <a:t>Time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64283" y="1751647"/>
            <a:ext cx="60401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Each iteration takes </a:t>
            </a:r>
            <a:r>
              <a:rPr sz="2000" spc="-5" dirty="0">
                <a:latin typeface="Arial"/>
                <a:cs typeface="Arial"/>
              </a:rPr>
              <a:t>O</a:t>
            </a:r>
            <a:r>
              <a:rPr sz="2400" spc="-5" dirty="0">
                <a:latin typeface="Arial"/>
                <a:cs typeface="Arial"/>
              </a:rPr>
              <a:t>(1) time </a:t>
            </a:r>
            <a:r>
              <a:rPr sz="2400" spc="670" dirty="0">
                <a:latin typeface="Wingdings"/>
                <a:cs typeface="Wingdings"/>
              </a:rPr>
              <a:t>€</a:t>
            </a:r>
            <a:r>
              <a:rPr sz="2400" spc="670" dirty="0">
                <a:latin typeface="Arial"/>
                <a:cs typeface="Arial"/>
              </a:rPr>
              <a:t>Total </a:t>
            </a:r>
            <a:r>
              <a:rPr sz="2800" spc="-5" dirty="0">
                <a:latin typeface="Arial"/>
                <a:cs typeface="Arial"/>
              </a:rPr>
              <a:t>=  </a:t>
            </a:r>
            <a:r>
              <a:rPr sz="2000" spc="-894" dirty="0">
                <a:latin typeface="Arial"/>
                <a:cs typeface="Arial"/>
              </a:rPr>
              <a:t>O</a:t>
            </a:r>
            <a:r>
              <a:rPr sz="2400" spc="-894" dirty="0">
                <a:latin typeface="Arial"/>
                <a:cs typeface="Arial"/>
              </a:rPr>
              <a:t>(n)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14700" y="2311400"/>
            <a:ext cx="3949700" cy="1841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40100" y="4457700"/>
            <a:ext cx="3949700" cy="1739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571114" y="4017645"/>
            <a:ext cx="2514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D82000"/>
                </a:solidFill>
                <a:latin typeface="Arial"/>
                <a:cs typeface="Arial"/>
              </a:rPr>
              <a:t>or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64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79358" y="758520"/>
            <a:ext cx="630491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solidFill>
                  <a:srgbClr val="941300"/>
                </a:solidFill>
                <a:latin typeface="Arial"/>
                <a:cs typeface="Arial"/>
              </a:rPr>
              <a:t>In-Place Partitioning is </a:t>
            </a:r>
            <a:r>
              <a:rPr sz="3200" dirty="0">
                <a:solidFill>
                  <a:srgbClr val="941300"/>
                </a:solidFill>
                <a:latin typeface="Arial"/>
                <a:cs typeface="Arial"/>
              </a:rPr>
              <a:t>NOT</a:t>
            </a:r>
            <a:r>
              <a:rPr sz="3200" spc="45" dirty="0">
                <a:solidFill>
                  <a:srgbClr val="941300"/>
                </a:solidFill>
                <a:latin typeface="Arial"/>
                <a:cs typeface="Arial"/>
              </a:rPr>
              <a:t> </a:t>
            </a:r>
            <a:r>
              <a:rPr sz="3200" spc="-5" dirty="0">
                <a:solidFill>
                  <a:srgbClr val="941300"/>
                </a:solidFill>
                <a:latin typeface="Arial"/>
                <a:cs typeface="Arial"/>
              </a:rPr>
              <a:t>Stable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87600" y="1295400"/>
            <a:ext cx="5118100" cy="2362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413000" y="4318000"/>
            <a:ext cx="5118100" cy="2247900"/>
            <a:chOff x="2413000" y="4318000"/>
            <a:chExt cx="5118100" cy="2247900"/>
          </a:xfrm>
        </p:grpSpPr>
        <p:sp>
          <p:nvSpPr>
            <p:cNvPr id="6" name="object 6"/>
            <p:cNvSpPr/>
            <p:nvPr/>
          </p:nvSpPr>
          <p:spPr>
            <a:xfrm>
              <a:off x="2413000" y="4318000"/>
              <a:ext cx="5118100" cy="22479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68382" y="4619066"/>
              <a:ext cx="295275" cy="295275"/>
            </a:xfrm>
            <a:custGeom>
              <a:avLst/>
              <a:gdLst/>
              <a:ahLst/>
              <a:cxnLst/>
              <a:rect l="l" t="t" r="r" b="b"/>
              <a:pathLst>
                <a:path w="295275" h="295275">
                  <a:moveTo>
                    <a:pt x="0" y="0"/>
                  </a:moveTo>
                  <a:lnTo>
                    <a:pt x="0" y="294843"/>
                  </a:lnTo>
                  <a:lnTo>
                    <a:pt x="294843" y="294843"/>
                  </a:lnTo>
                  <a:lnTo>
                    <a:pt x="2948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53671" y="5826099"/>
              <a:ext cx="295275" cy="295275"/>
            </a:xfrm>
            <a:custGeom>
              <a:avLst/>
              <a:gdLst/>
              <a:ahLst/>
              <a:cxnLst/>
              <a:rect l="l" t="t" r="r" b="b"/>
              <a:pathLst>
                <a:path w="295275" h="295275">
                  <a:moveTo>
                    <a:pt x="0" y="0"/>
                  </a:moveTo>
                  <a:lnTo>
                    <a:pt x="0" y="294843"/>
                  </a:lnTo>
                  <a:lnTo>
                    <a:pt x="294843" y="294843"/>
                  </a:lnTo>
                  <a:lnTo>
                    <a:pt x="2948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5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933968" y="3688892"/>
            <a:ext cx="2514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D82000"/>
                </a:solidFill>
                <a:latin typeface="Arial"/>
                <a:cs typeface="Arial"/>
              </a:rPr>
              <a:t>or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65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36114" y="758520"/>
            <a:ext cx="618998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The In-Place Quick-Sort</a:t>
            </a:r>
            <a:r>
              <a:rPr spc="-35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66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3139" y="1473921"/>
            <a:ext cx="4022090" cy="2766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507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Algorithm </a:t>
            </a:r>
            <a:r>
              <a:rPr sz="2400" b="1" spc="-5" dirty="0">
                <a:solidFill>
                  <a:srgbClr val="941300"/>
                </a:solidFill>
                <a:latin typeface="Arial"/>
                <a:cs typeface="Arial"/>
              </a:rPr>
              <a:t>QuickSort</a:t>
            </a:r>
            <a:r>
              <a:rPr sz="2400" spc="-5" dirty="0">
                <a:latin typeface="Arial"/>
                <a:cs typeface="Arial"/>
              </a:rPr>
              <a:t>(A, </a:t>
            </a:r>
            <a:r>
              <a:rPr sz="2400" dirty="0">
                <a:latin typeface="Arial"/>
                <a:cs typeface="Arial"/>
              </a:rPr>
              <a:t>p,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r)  if </a:t>
            </a:r>
            <a:r>
              <a:rPr sz="2400" spc="-5" dirty="0">
                <a:latin typeface="Arial"/>
                <a:cs typeface="Arial"/>
              </a:rPr>
              <a:t>p </a:t>
            </a:r>
            <a:r>
              <a:rPr sz="2400" dirty="0">
                <a:latin typeface="Arial"/>
                <a:cs typeface="Arial"/>
              </a:rPr>
              <a:t>&lt;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  <a:p>
            <a:pPr marL="927100" marR="215265">
              <a:lnSpc>
                <a:spcPct val="149300"/>
              </a:lnSpc>
            </a:pPr>
            <a:r>
              <a:rPr sz="2400" spc="-5" dirty="0">
                <a:latin typeface="Arial"/>
                <a:cs typeface="Arial"/>
              </a:rPr>
              <a:t>q </a:t>
            </a:r>
            <a:r>
              <a:rPr sz="2400" dirty="0">
                <a:latin typeface="Arial"/>
                <a:cs typeface="Arial"/>
              </a:rPr>
              <a:t>= Partition(A, p, r)  QuickSort(A, p, </a:t>
            </a:r>
            <a:r>
              <a:rPr sz="2400" spc="-5" dirty="0">
                <a:latin typeface="Arial"/>
                <a:cs typeface="Arial"/>
              </a:rPr>
              <a:t>q </a:t>
            </a:r>
            <a:r>
              <a:rPr sz="2400" dirty="0">
                <a:latin typeface="Arial"/>
                <a:cs typeface="Arial"/>
              </a:rPr>
              <a:t>-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1)  </a:t>
            </a:r>
            <a:r>
              <a:rPr sz="2400" dirty="0">
                <a:latin typeface="Arial"/>
                <a:cs typeface="Arial"/>
              </a:rPr>
              <a:t>QuickSort(A, </a:t>
            </a:r>
            <a:r>
              <a:rPr sz="2400" spc="-5" dirty="0">
                <a:latin typeface="Arial"/>
                <a:cs typeface="Arial"/>
              </a:rPr>
              <a:t>q </a:t>
            </a:r>
            <a:r>
              <a:rPr sz="2400" dirty="0">
                <a:latin typeface="Arial"/>
                <a:cs typeface="Arial"/>
              </a:rPr>
              <a:t>+ 1,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r)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11983" y="3066097"/>
            <a:ext cx="503872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Running Time of</a:t>
            </a:r>
            <a:r>
              <a:rPr spc="-75" dirty="0"/>
              <a:t> </a:t>
            </a:r>
            <a:r>
              <a:rPr spc="-5" dirty="0"/>
              <a:t>Quick-Sort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67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37904" y="483882"/>
            <a:ext cx="45866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Quick-Sort Running</a:t>
            </a:r>
            <a:r>
              <a:rPr spc="-80" dirty="0"/>
              <a:t> </a:t>
            </a:r>
            <a:r>
              <a:rPr spc="-5" dirty="0"/>
              <a:t>Time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775437" y="5199608"/>
            <a:ext cx="868680" cy="736600"/>
            <a:chOff x="6775437" y="5199608"/>
            <a:chExt cx="868680" cy="736600"/>
          </a:xfrm>
        </p:grpSpPr>
        <p:sp>
          <p:nvSpPr>
            <p:cNvPr id="5" name="object 5"/>
            <p:cNvSpPr/>
            <p:nvPr/>
          </p:nvSpPr>
          <p:spPr>
            <a:xfrm>
              <a:off x="6824662" y="5205971"/>
              <a:ext cx="762000" cy="217804"/>
            </a:xfrm>
            <a:custGeom>
              <a:avLst/>
              <a:gdLst/>
              <a:ahLst/>
              <a:cxnLst/>
              <a:rect l="l" t="t" r="r" b="b"/>
              <a:pathLst>
                <a:path w="762000" h="217804">
                  <a:moveTo>
                    <a:pt x="0" y="36245"/>
                  </a:moveTo>
                  <a:lnTo>
                    <a:pt x="0" y="181241"/>
                  </a:lnTo>
                  <a:lnTo>
                    <a:pt x="22138" y="214638"/>
                  </a:lnTo>
                  <a:lnTo>
                    <a:pt x="36245" y="217487"/>
                  </a:lnTo>
                  <a:lnTo>
                    <a:pt x="725754" y="217487"/>
                  </a:lnTo>
                  <a:lnTo>
                    <a:pt x="739861" y="214638"/>
                  </a:lnTo>
                  <a:lnTo>
                    <a:pt x="751382" y="206870"/>
                  </a:lnTo>
                  <a:lnTo>
                    <a:pt x="759151" y="195349"/>
                  </a:lnTo>
                  <a:lnTo>
                    <a:pt x="762000" y="181241"/>
                  </a:lnTo>
                  <a:lnTo>
                    <a:pt x="762000" y="36245"/>
                  </a:lnTo>
                  <a:lnTo>
                    <a:pt x="759151" y="22138"/>
                  </a:lnTo>
                  <a:lnTo>
                    <a:pt x="751382" y="10617"/>
                  </a:lnTo>
                  <a:lnTo>
                    <a:pt x="739861" y="2848"/>
                  </a:lnTo>
                  <a:lnTo>
                    <a:pt x="725754" y="0"/>
                  </a:lnTo>
                  <a:lnTo>
                    <a:pt x="36245" y="0"/>
                  </a:lnTo>
                  <a:lnTo>
                    <a:pt x="22138" y="2848"/>
                  </a:lnTo>
                  <a:lnTo>
                    <a:pt x="10617" y="10617"/>
                  </a:lnTo>
                  <a:lnTo>
                    <a:pt x="2848" y="22138"/>
                  </a:lnTo>
                  <a:lnTo>
                    <a:pt x="0" y="36245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24650" y="5205958"/>
              <a:ext cx="762000" cy="217804"/>
            </a:xfrm>
            <a:custGeom>
              <a:avLst/>
              <a:gdLst/>
              <a:ahLst/>
              <a:cxnLst/>
              <a:rect l="l" t="t" r="r" b="b"/>
              <a:pathLst>
                <a:path w="762000" h="217804">
                  <a:moveTo>
                    <a:pt x="0" y="36245"/>
                  </a:moveTo>
                  <a:lnTo>
                    <a:pt x="22138" y="2848"/>
                  </a:lnTo>
                  <a:lnTo>
                    <a:pt x="725754" y="0"/>
                  </a:lnTo>
                  <a:lnTo>
                    <a:pt x="739861" y="2848"/>
                  </a:lnTo>
                  <a:lnTo>
                    <a:pt x="751382" y="10617"/>
                  </a:lnTo>
                  <a:lnTo>
                    <a:pt x="759151" y="22138"/>
                  </a:lnTo>
                  <a:lnTo>
                    <a:pt x="762000" y="36245"/>
                  </a:lnTo>
                  <a:lnTo>
                    <a:pt x="762000" y="181229"/>
                  </a:lnTo>
                  <a:lnTo>
                    <a:pt x="739861" y="214638"/>
                  </a:lnTo>
                  <a:lnTo>
                    <a:pt x="36245" y="217487"/>
                  </a:lnTo>
                  <a:lnTo>
                    <a:pt x="22138" y="214638"/>
                  </a:lnTo>
                  <a:lnTo>
                    <a:pt x="10617" y="206868"/>
                  </a:lnTo>
                  <a:lnTo>
                    <a:pt x="2848" y="195343"/>
                  </a:lnTo>
                  <a:lnTo>
                    <a:pt x="0" y="181229"/>
                  </a:lnTo>
                  <a:lnTo>
                    <a:pt x="0" y="3624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781800" y="5712383"/>
              <a:ext cx="358775" cy="217804"/>
            </a:xfrm>
            <a:custGeom>
              <a:avLst/>
              <a:gdLst/>
              <a:ahLst/>
              <a:cxnLst/>
              <a:rect l="l" t="t" r="r" b="b"/>
              <a:pathLst>
                <a:path w="358775" h="217804">
                  <a:moveTo>
                    <a:pt x="0" y="36245"/>
                  </a:moveTo>
                  <a:lnTo>
                    <a:pt x="0" y="181241"/>
                  </a:lnTo>
                  <a:lnTo>
                    <a:pt x="22138" y="214638"/>
                  </a:lnTo>
                  <a:lnTo>
                    <a:pt x="36245" y="217487"/>
                  </a:lnTo>
                  <a:lnTo>
                    <a:pt x="322529" y="217487"/>
                  </a:lnTo>
                  <a:lnTo>
                    <a:pt x="336636" y="214638"/>
                  </a:lnTo>
                  <a:lnTo>
                    <a:pt x="348157" y="206870"/>
                  </a:lnTo>
                  <a:lnTo>
                    <a:pt x="355926" y="195349"/>
                  </a:lnTo>
                  <a:lnTo>
                    <a:pt x="358775" y="181241"/>
                  </a:lnTo>
                  <a:lnTo>
                    <a:pt x="358775" y="36245"/>
                  </a:lnTo>
                  <a:lnTo>
                    <a:pt x="355926" y="22138"/>
                  </a:lnTo>
                  <a:lnTo>
                    <a:pt x="348157" y="10617"/>
                  </a:lnTo>
                  <a:lnTo>
                    <a:pt x="336636" y="2848"/>
                  </a:lnTo>
                  <a:lnTo>
                    <a:pt x="322529" y="0"/>
                  </a:lnTo>
                  <a:lnTo>
                    <a:pt x="36245" y="0"/>
                  </a:lnTo>
                  <a:lnTo>
                    <a:pt x="22138" y="2848"/>
                  </a:lnTo>
                  <a:lnTo>
                    <a:pt x="10617" y="10617"/>
                  </a:lnTo>
                  <a:lnTo>
                    <a:pt x="2848" y="22138"/>
                  </a:lnTo>
                  <a:lnTo>
                    <a:pt x="0" y="36245"/>
                  </a:lnTo>
                  <a:close/>
                </a:path>
              </a:pathLst>
            </a:custGeom>
            <a:solidFill>
              <a:srgbClr val="AA7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781787" y="5712371"/>
              <a:ext cx="358775" cy="217804"/>
            </a:xfrm>
            <a:custGeom>
              <a:avLst/>
              <a:gdLst/>
              <a:ahLst/>
              <a:cxnLst/>
              <a:rect l="l" t="t" r="r" b="b"/>
              <a:pathLst>
                <a:path w="358775" h="217804">
                  <a:moveTo>
                    <a:pt x="0" y="36245"/>
                  </a:moveTo>
                  <a:lnTo>
                    <a:pt x="22138" y="2848"/>
                  </a:lnTo>
                  <a:lnTo>
                    <a:pt x="322529" y="0"/>
                  </a:lnTo>
                  <a:lnTo>
                    <a:pt x="336636" y="2848"/>
                  </a:lnTo>
                  <a:lnTo>
                    <a:pt x="348157" y="10617"/>
                  </a:lnTo>
                  <a:lnTo>
                    <a:pt x="355926" y="22138"/>
                  </a:lnTo>
                  <a:lnTo>
                    <a:pt x="358775" y="36245"/>
                  </a:lnTo>
                  <a:lnTo>
                    <a:pt x="358775" y="181229"/>
                  </a:lnTo>
                  <a:lnTo>
                    <a:pt x="355926" y="195343"/>
                  </a:lnTo>
                  <a:lnTo>
                    <a:pt x="348157" y="206868"/>
                  </a:lnTo>
                  <a:lnTo>
                    <a:pt x="336636" y="214638"/>
                  </a:lnTo>
                  <a:lnTo>
                    <a:pt x="322529" y="217487"/>
                  </a:lnTo>
                  <a:lnTo>
                    <a:pt x="36245" y="217487"/>
                  </a:lnTo>
                  <a:lnTo>
                    <a:pt x="22138" y="214638"/>
                  </a:lnTo>
                  <a:lnTo>
                    <a:pt x="10617" y="206868"/>
                  </a:lnTo>
                  <a:lnTo>
                    <a:pt x="2848" y="195343"/>
                  </a:lnTo>
                  <a:lnTo>
                    <a:pt x="0" y="181229"/>
                  </a:lnTo>
                  <a:lnTo>
                    <a:pt x="0" y="3624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286625" y="5712383"/>
              <a:ext cx="351155" cy="217804"/>
            </a:xfrm>
            <a:custGeom>
              <a:avLst/>
              <a:gdLst/>
              <a:ahLst/>
              <a:cxnLst/>
              <a:rect l="l" t="t" r="r" b="b"/>
              <a:pathLst>
                <a:path w="351154" h="217804">
                  <a:moveTo>
                    <a:pt x="0" y="36245"/>
                  </a:moveTo>
                  <a:lnTo>
                    <a:pt x="0" y="181241"/>
                  </a:lnTo>
                  <a:lnTo>
                    <a:pt x="22138" y="214638"/>
                  </a:lnTo>
                  <a:lnTo>
                    <a:pt x="36245" y="217487"/>
                  </a:lnTo>
                  <a:lnTo>
                    <a:pt x="314591" y="217487"/>
                  </a:lnTo>
                  <a:lnTo>
                    <a:pt x="328699" y="214638"/>
                  </a:lnTo>
                  <a:lnTo>
                    <a:pt x="340220" y="206870"/>
                  </a:lnTo>
                  <a:lnTo>
                    <a:pt x="347988" y="195349"/>
                  </a:lnTo>
                  <a:lnTo>
                    <a:pt x="350837" y="181241"/>
                  </a:lnTo>
                  <a:lnTo>
                    <a:pt x="350837" y="36245"/>
                  </a:lnTo>
                  <a:lnTo>
                    <a:pt x="347988" y="22138"/>
                  </a:lnTo>
                  <a:lnTo>
                    <a:pt x="340220" y="10617"/>
                  </a:lnTo>
                  <a:lnTo>
                    <a:pt x="328699" y="2848"/>
                  </a:lnTo>
                  <a:lnTo>
                    <a:pt x="314591" y="0"/>
                  </a:lnTo>
                  <a:lnTo>
                    <a:pt x="36245" y="0"/>
                  </a:lnTo>
                  <a:lnTo>
                    <a:pt x="22138" y="2848"/>
                  </a:lnTo>
                  <a:lnTo>
                    <a:pt x="10617" y="10617"/>
                  </a:lnTo>
                  <a:lnTo>
                    <a:pt x="2848" y="22138"/>
                  </a:lnTo>
                  <a:lnTo>
                    <a:pt x="0" y="36245"/>
                  </a:lnTo>
                  <a:close/>
                </a:path>
              </a:pathLst>
            </a:custGeom>
            <a:solidFill>
              <a:srgbClr val="AA7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286612" y="5712371"/>
              <a:ext cx="351155" cy="217804"/>
            </a:xfrm>
            <a:custGeom>
              <a:avLst/>
              <a:gdLst/>
              <a:ahLst/>
              <a:cxnLst/>
              <a:rect l="l" t="t" r="r" b="b"/>
              <a:pathLst>
                <a:path w="351154" h="217804">
                  <a:moveTo>
                    <a:pt x="0" y="36245"/>
                  </a:moveTo>
                  <a:lnTo>
                    <a:pt x="22138" y="2848"/>
                  </a:lnTo>
                  <a:lnTo>
                    <a:pt x="314591" y="0"/>
                  </a:lnTo>
                  <a:lnTo>
                    <a:pt x="328699" y="2848"/>
                  </a:lnTo>
                  <a:lnTo>
                    <a:pt x="340220" y="10617"/>
                  </a:lnTo>
                  <a:lnTo>
                    <a:pt x="347988" y="22138"/>
                  </a:lnTo>
                  <a:lnTo>
                    <a:pt x="350837" y="36245"/>
                  </a:lnTo>
                  <a:lnTo>
                    <a:pt x="350837" y="181228"/>
                  </a:lnTo>
                  <a:lnTo>
                    <a:pt x="347988" y="195343"/>
                  </a:lnTo>
                  <a:lnTo>
                    <a:pt x="340220" y="206868"/>
                  </a:lnTo>
                  <a:lnTo>
                    <a:pt x="328699" y="214638"/>
                  </a:lnTo>
                  <a:lnTo>
                    <a:pt x="314591" y="217487"/>
                  </a:lnTo>
                  <a:lnTo>
                    <a:pt x="36245" y="217487"/>
                  </a:lnTo>
                  <a:lnTo>
                    <a:pt x="22138" y="214638"/>
                  </a:lnTo>
                  <a:lnTo>
                    <a:pt x="10617" y="206868"/>
                  </a:lnTo>
                  <a:lnTo>
                    <a:pt x="2848" y="195343"/>
                  </a:lnTo>
                  <a:lnTo>
                    <a:pt x="0" y="181228"/>
                  </a:lnTo>
                  <a:lnTo>
                    <a:pt x="0" y="3624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61175" y="5423446"/>
              <a:ext cx="501650" cy="288925"/>
            </a:xfrm>
            <a:custGeom>
              <a:avLst/>
              <a:gdLst/>
              <a:ahLst/>
              <a:cxnLst/>
              <a:rect l="l" t="t" r="r" b="b"/>
              <a:pathLst>
                <a:path w="501650" h="288925">
                  <a:moveTo>
                    <a:pt x="0" y="288924"/>
                  </a:moveTo>
                  <a:lnTo>
                    <a:pt x="244474" y="0"/>
                  </a:lnTo>
                  <a:lnTo>
                    <a:pt x="501650" y="28892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3760787" y="3866108"/>
            <a:ext cx="3027680" cy="1073150"/>
            <a:chOff x="3760787" y="3866108"/>
            <a:chExt cx="3027680" cy="1073150"/>
          </a:xfrm>
        </p:grpSpPr>
        <p:sp>
          <p:nvSpPr>
            <p:cNvPr id="13" name="object 13"/>
            <p:cNvSpPr/>
            <p:nvPr/>
          </p:nvSpPr>
          <p:spPr>
            <a:xfrm>
              <a:off x="5314950" y="4396346"/>
              <a:ext cx="1466850" cy="217804"/>
            </a:xfrm>
            <a:custGeom>
              <a:avLst/>
              <a:gdLst/>
              <a:ahLst/>
              <a:cxnLst/>
              <a:rect l="l" t="t" r="r" b="b"/>
              <a:pathLst>
                <a:path w="1466850" h="217804">
                  <a:moveTo>
                    <a:pt x="0" y="36245"/>
                  </a:moveTo>
                  <a:lnTo>
                    <a:pt x="0" y="181241"/>
                  </a:lnTo>
                  <a:lnTo>
                    <a:pt x="22138" y="214638"/>
                  </a:lnTo>
                  <a:lnTo>
                    <a:pt x="36245" y="217487"/>
                  </a:lnTo>
                  <a:lnTo>
                    <a:pt x="1430604" y="217487"/>
                  </a:lnTo>
                  <a:lnTo>
                    <a:pt x="1444711" y="214638"/>
                  </a:lnTo>
                  <a:lnTo>
                    <a:pt x="1456232" y="206870"/>
                  </a:lnTo>
                  <a:lnTo>
                    <a:pt x="1464001" y="195349"/>
                  </a:lnTo>
                  <a:lnTo>
                    <a:pt x="1466850" y="181241"/>
                  </a:lnTo>
                  <a:lnTo>
                    <a:pt x="1466850" y="36245"/>
                  </a:lnTo>
                  <a:lnTo>
                    <a:pt x="1464001" y="22138"/>
                  </a:lnTo>
                  <a:lnTo>
                    <a:pt x="1456232" y="10617"/>
                  </a:lnTo>
                  <a:lnTo>
                    <a:pt x="1444711" y="2848"/>
                  </a:lnTo>
                  <a:lnTo>
                    <a:pt x="1430604" y="0"/>
                  </a:lnTo>
                  <a:lnTo>
                    <a:pt x="36245" y="0"/>
                  </a:lnTo>
                  <a:lnTo>
                    <a:pt x="22138" y="2848"/>
                  </a:lnTo>
                  <a:lnTo>
                    <a:pt x="10617" y="10617"/>
                  </a:lnTo>
                  <a:lnTo>
                    <a:pt x="2848" y="22138"/>
                  </a:lnTo>
                  <a:lnTo>
                    <a:pt x="0" y="36245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14937" y="4396333"/>
              <a:ext cx="1466850" cy="217804"/>
            </a:xfrm>
            <a:custGeom>
              <a:avLst/>
              <a:gdLst/>
              <a:ahLst/>
              <a:cxnLst/>
              <a:rect l="l" t="t" r="r" b="b"/>
              <a:pathLst>
                <a:path w="1466850" h="217804">
                  <a:moveTo>
                    <a:pt x="0" y="36245"/>
                  </a:moveTo>
                  <a:lnTo>
                    <a:pt x="22138" y="2848"/>
                  </a:lnTo>
                  <a:lnTo>
                    <a:pt x="1430604" y="0"/>
                  </a:lnTo>
                  <a:lnTo>
                    <a:pt x="1444711" y="2848"/>
                  </a:lnTo>
                  <a:lnTo>
                    <a:pt x="1456232" y="10617"/>
                  </a:lnTo>
                  <a:lnTo>
                    <a:pt x="1464001" y="22138"/>
                  </a:lnTo>
                  <a:lnTo>
                    <a:pt x="1466850" y="36245"/>
                  </a:lnTo>
                  <a:lnTo>
                    <a:pt x="1466850" y="181241"/>
                  </a:lnTo>
                  <a:lnTo>
                    <a:pt x="1444711" y="214638"/>
                  </a:lnTo>
                  <a:lnTo>
                    <a:pt x="36245" y="217487"/>
                  </a:lnTo>
                  <a:lnTo>
                    <a:pt x="22138" y="214638"/>
                  </a:lnTo>
                  <a:lnTo>
                    <a:pt x="10617" y="206870"/>
                  </a:lnTo>
                  <a:lnTo>
                    <a:pt x="2848" y="195349"/>
                  </a:lnTo>
                  <a:lnTo>
                    <a:pt x="0" y="181241"/>
                  </a:lnTo>
                  <a:lnTo>
                    <a:pt x="0" y="3624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603862" y="4613821"/>
              <a:ext cx="444500" cy="319405"/>
            </a:xfrm>
            <a:custGeom>
              <a:avLst/>
              <a:gdLst/>
              <a:ahLst/>
              <a:cxnLst/>
              <a:rect l="l" t="t" r="r" b="b"/>
              <a:pathLst>
                <a:path w="444500" h="319404">
                  <a:moveTo>
                    <a:pt x="0" y="319087"/>
                  </a:moveTo>
                  <a:lnTo>
                    <a:pt x="444499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48362" y="4613821"/>
              <a:ext cx="675005" cy="278130"/>
            </a:xfrm>
            <a:custGeom>
              <a:avLst/>
              <a:gdLst/>
              <a:ahLst/>
              <a:cxnLst/>
              <a:rect l="l" t="t" r="r" b="b"/>
              <a:pathLst>
                <a:path w="675004" h="278129">
                  <a:moveTo>
                    <a:pt x="674687" y="277812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767137" y="3872471"/>
              <a:ext cx="2482850" cy="219075"/>
            </a:xfrm>
            <a:custGeom>
              <a:avLst/>
              <a:gdLst/>
              <a:ahLst/>
              <a:cxnLst/>
              <a:rect l="l" t="t" r="r" b="b"/>
              <a:pathLst>
                <a:path w="2482850" h="219075">
                  <a:moveTo>
                    <a:pt x="0" y="36512"/>
                  </a:moveTo>
                  <a:lnTo>
                    <a:pt x="0" y="182562"/>
                  </a:lnTo>
                  <a:lnTo>
                    <a:pt x="22299" y="216205"/>
                  </a:lnTo>
                  <a:lnTo>
                    <a:pt x="36512" y="219075"/>
                  </a:lnTo>
                  <a:lnTo>
                    <a:pt x="2446337" y="219075"/>
                  </a:lnTo>
                  <a:lnTo>
                    <a:pt x="2460550" y="216205"/>
                  </a:lnTo>
                  <a:lnTo>
                    <a:pt x="2472156" y="208381"/>
                  </a:lnTo>
                  <a:lnTo>
                    <a:pt x="2479980" y="196775"/>
                  </a:lnTo>
                  <a:lnTo>
                    <a:pt x="2482850" y="182562"/>
                  </a:lnTo>
                  <a:lnTo>
                    <a:pt x="2482850" y="36512"/>
                  </a:lnTo>
                  <a:lnTo>
                    <a:pt x="2479980" y="22299"/>
                  </a:lnTo>
                  <a:lnTo>
                    <a:pt x="2472156" y="10693"/>
                  </a:lnTo>
                  <a:lnTo>
                    <a:pt x="2460550" y="2869"/>
                  </a:lnTo>
                  <a:lnTo>
                    <a:pt x="2446337" y="0"/>
                  </a:lnTo>
                  <a:lnTo>
                    <a:pt x="36512" y="0"/>
                  </a:lnTo>
                  <a:lnTo>
                    <a:pt x="22299" y="2869"/>
                  </a:lnTo>
                  <a:lnTo>
                    <a:pt x="10693" y="10693"/>
                  </a:lnTo>
                  <a:lnTo>
                    <a:pt x="2869" y="22299"/>
                  </a:lnTo>
                  <a:lnTo>
                    <a:pt x="0" y="36512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767137" y="3872458"/>
              <a:ext cx="2482850" cy="219075"/>
            </a:xfrm>
            <a:custGeom>
              <a:avLst/>
              <a:gdLst/>
              <a:ahLst/>
              <a:cxnLst/>
              <a:rect l="l" t="t" r="r" b="b"/>
              <a:pathLst>
                <a:path w="2482850" h="219075">
                  <a:moveTo>
                    <a:pt x="0" y="36512"/>
                  </a:moveTo>
                  <a:lnTo>
                    <a:pt x="22299" y="2869"/>
                  </a:lnTo>
                  <a:lnTo>
                    <a:pt x="2446337" y="0"/>
                  </a:lnTo>
                  <a:lnTo>
                    <a:pt x="2460545" y="2869"/>
                  </a:lnTo>
                  <a:lnTo>
                    <a:pt x="2472151" y="10693"/>
                  </a:lnTo>
                  <a:lnTo>
                    <a:pt x="2479979" y="22299"/>
                  </a:lnTo>
                  <a:lnTo>
                    <a:pt x="2482850" y="36512"/>
                  </a:lnTo>
                  <a:lnTo>
                    <a:pt x="2482850" y="182562"/>
                  </a:lnTo>
                  <a:lnTo>
                    <a:pt x="2460545" y="216205"/>
                  </a:lnTo>
                  <a:lnTo>
                    <a:pt x="36512" y="219075"/>
                  </a:lnTo>
                  <a:lnTo>
                    <a:pt x="22299" y="216205"/>
                  </a:lnTo>
                  <a:lnTo>
                    <a:pt x="10693" y="208381"/>
                  </a:lnTo>
                  <a:lnTo>
                    <a:pt x="2869" y="196775"/>
                  </a:lnTo>
                  <a:lnTo>
                    <a:pt x="0" y="182562"/>
                  </a:lnTo>
                  <a:lnTo>
                    <a:pt x="0" y="3651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56037" y="4091533"/>
              <a:ext cx="1152525" cy="304800"/>
            </a:xfrm>
            <a:custGeom>
              <a:avLst/>
              <a:gdLst/>
              <a:ahLst/>
              <a:cxnLst/>
              <a:rect l="l" t="t" r="r" b="b"/>
              <a:pathLst>
                <a:path w="1152525" h="304800">
                  <a:moveTo>
                    <a:pt x="0" y="304800"/>
                  </a:moveTo>
                  <a:lnTo>
                    <a:pt x="115252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008562" y="4091533"/>
              <a:ext cx="1040130" cy="304800"/>
            </a:xfrm>
            <a:custGeom>
              <a:avLst/>
              <a:gdLst/>
              <a:ahLst/>
              <a:cxnLst/>
              <a:rect l="l" t="t" r="r" b="b"/>
              <a:pathLst>
                <a:path w="1040129" h="304800">
                  <a:moveTo>
                    <a:pt x="1039812" y="3048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929639" y="1082040"/>
            <a:ext cx="8185150" cy="4860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9100" marR="502920" indent="-342900">
              <a:lnSpc>
                <a:spcPct val="100000"/>
              </a:lnSpc>
              <a:spcBef>
                <a:spcPts val="100"/>
              </a:spcBef>
              <a:buClr>
                <a:srgbClr val="941300"/>
              </a:buClr>
              <a:buFont typeface="Wingdings"/>
              <a:buChar char=""/>
              <a:tabLst>
                <a:tab pos="418465" algn="l"/>
                <a:tab pos="419100" algn="l"/>
              </a:tabLst>
            </a:pPr>
            <a:r>
              <a:rPr sz="2000" spc="-5" dirty="0">
                <a:latin typeface="Arial"/>
                <a:cs typeface="Arial"/>
              </a:rPr>
              <a:t>We can analyze the running time of Quick-Sort using a </a:t>
            </a:r>
            <a:r>
              <a:rPr sz="2000" spc="-10" dirty="0">
                <a:latin typeface="Arial"/>
                <a:cs typeface="Arial"/>
              </a:rPr>
              <a:t>recursion  </a:t>
            </a:r>
            <a:r>
              <a:rPr sz="2000" dirty="0">
                <a:latin typeface="Arial"/>
                <a:cs typeface="Arial"/>
              </a:rPr>
              <a:t>tree.</a:t>
            </a:r>
            <a:endParaRPr sz="2000">
              <a:latin typeface="Arial"/>
              <a:cs typeface="Arial"/>
            </a:endParaRPr>
          </a:p>
          <a:p>
            <a:pPr marL="419100" indent="-342900">
              <a:lnSpc>
                <a:spcPct val="100000"/>
              </a:lnSpc>
              <a:spcBef>
                <a:spcPts val="1200"/>
              </a:spcBef>
              <a:buClr>
                <a:srgbClr val="941300"/>
              </a:buClr>
              <a:buFont typeface="Wingdings"/>
              <a:buChar char=""/>
              <a:tabLst>
                <a:tab pos="418465" algn="l"/>
                <a:tab pos="419100" algn="l"/>
              </a:tabLst>
            </a:pPr>
            <a:r>
              <a:rPr sz="2000" spc="-5" dirty="0">
                <a:latin typeface="Arial"/>
                <a:cs typeface="Arial"/>
              </a:rPr>
              <a:t>At depth i of the tree, the problem is partitioned into </a:t>
            </a:r>
            <a:r>
              <a:rPr sz="2000" spc="5" dirty="0">
                <a:latin typeface="Arial"/>
                <a:cs typeface="Arial"/>
              </a:rPr>
              <a:t>2</a:t>
            </a:r>
            <a:r>
              <a:rPr sz="1950" spc="7" baseline="25641" dirty="0">
                <a:latin typeface="Arial"/>
                <a:cs typeface="Arial"/>
              </a:rPr>
              <a:t>i</a:t>
            </a:r>
            <a:r>
              <a:rPr sz="1950" spc="390" baseline="25641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sub-problems.</a:t>
            </a:r>
            <a:endParaRPr sz="2000">
              <a:latin typeface="Arial"/>
              <a:cs typeface="Arial"/>
            </a:endParaRPr>
          </a:p>
          <a:p>
            <a:pPr marL="419100" marR="1066800" indent="-342900">
              <a:lnSpc>
                <a:spcPct val="100000"/>
              </a:lnSpc>
              <a:spcBef>
                <a:spcPts val="1200"/>
              </a:spcBef>
              <a:buClr>
                <a:srgbClr val="941300"/>
              </a:buClr>
              <a:buFont typeface="Wingdings"/>
              <a:buChar char=""/>
              <a:tabLst>
                <a:tab pos="418465" algn="l"/>
                <a:tab pos="419100" algn="l"/>
              </a:tabLst>
            </a:pPr>
            <a:r>
              <a:rPr sz="2000" spc="-5" dirty="0">
                <a:latin typeface="Arial"/>
                <a:cs typeface="Arial"/>
              </a:rPr>
              <a:t>The running time will be determined by how balanced </a:t>
            </a:r>
            <a:r>
              <a:rPr sz="2000" spc="-10" dirty="0">
                <a:latin typeface="Arial"/>
                <a:cs typeface="Arial"/>
              </a:rPr>
              <a:t>these  </a:t>
            </a:r>
            <a:r>
              <a:rPr sz="2000" spc="-5" dirty="0">
                <a:latin typeface="Arial"/>
                <a:cs typeface="Arial"/>
              </a:rPr>
              <a:t>partitions </a:t>
            </a:r>
            <a:r>
              <a:rPr sz="2000" dirty="0">
                <a:latin typeface="Arial"/>
                <a:cs typeface="Arial"/>
              </a:rPr>
              <a:t>are.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200">
              <a:latin typeface="Arial"/>
              <a:cs typeface="Arial"/>
            </a:endParaRPr>
          </a:p>
          <a:p>
            <a:pPr marL="1736089">
              <a:lnSpc>
                <a:spcPct val="100000"/>
              </a:lnSpc>
              <a:spcBef>
                <a:spcPts val="1340"/>
              </a:spcBef>
            </a:pPr>
            <a:r>
              <a:rPr sz="1800" spc="-5" dirty="0">
                <a:latin typeface="Tahoma"/>
                <a:cs typeface="Tahoma"/>
              </a:rPr>
              <a:t>depth</a:t>
            </a:r>
            <a:endParaRPr sz="1800">
              <a:latin typeface="Tahoma"/>
              <a:cs typeface="Tahoma"/>
            </a:endParaRPr>
          </a:p>
          <a:p>
            <a:pPr marL="1967230">
              <a:lnSpc>
                <a:spcPct val="100000"/>
              </a:lnSpc>
              <a:spcBef>
                <a:spcPts val="1205"/>
              </a:spcBef>
            </a:pPr>
            <a:r>
              <a:rPr sz="1800" dirty="0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/>
              <a:cs typeface="Times New Roman"/>
            </a:endParaRPr>
          </a:p>
          <a:p>
            <a:pPr marL="196723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  <a:p>
            <a:pPr marL="1960880" marR="6038215" indent="-50800">
              <a:lnSpc>
                <a:spcPct val="222200"/>
              </a:lnSpc>
              <a:spcBef>
                <a:spcPts val="484"/>
              </a:spcBef>
            </a:pPr>
            <a:r>
              <a:rPr sz="1800" b="1" i="1" dirty="0">
                <a:latin typeface="Times New Roman"/>
                <a:cs typeface="Times New Roman"/>
              </a:rPr>
              <a:t>…  </a:t>
            </a:r>
            <a:r>
              <a:rPr sz="1800" b="1" i="1" spc="-5" dirty="0">
                <a:latin typeface="Times New Roman"/>
                <a:cs typeface="Times New Roman"/>
              </a:rPr>
              <a:t>h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845287" y="4929276"/>
            <a:ext cx="151383" cy="1267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3663937" y="4389983"/>
            <a:ext cx="831850" cy="230504"/>
            <a:chOff x="3663937" y="4389983"/>
            <a:chExt cx="831850" cy="230504"/>
          </a:xfrm>
        </p:grpSpPr>
        <p:sp>
          <p:nvSpPr>
            <p:cNvPr id="24" name="object 24"/>
            <p:cNvSpPr/>
            <p:nvPr/>
          </p:nvSpPr>
          <p:spPr>
            <a:xfrm>
              <a:off x="3670299" y="4396346"/>
              <a:ext cx="819150" cy="217804"/>
            </a:xfrm>
            <a:custGeom>
              <a:avLst/>
              <a:gdLst/>
              <a:ahLst/>
              <a:cxnLst/>
              <a:rect l="l" t="t" r="r" b="b"/>
              <a:pathLst>
                <a:path w="819150" h="217804">
                  <a:moveTo>
                    <a:pt x="0" y="36245"/>
                  </a:moveTo>
                  <a:lnTo>
                    <a:pt x="0" y="181241"/>
                  </a:lnTo>
                  <a:lnTo>
                    <a:pt x="22138" y="214638"/>
                  </a:lnTo>
                  <a:lnTo>
                    <a:pt x="36245" y="217487"/>
                  </a:lnTo>
                  <a:lnTo>
                    <a:pt x="782904" y="217487"/>
                  </a:lnTo>
                  <a:lnTo>
                    <a:pt x="797011" y="214638"/>
                  </a:lnTo>
                  <a:lnTo>
                    <a:pt x="808532" y="206870"/>
                  </a:lnTo>
                  <a:lnTo>
                    <a:pt x="816301" y="195349"/>
                  </a:lnTo>
                  <a:lnTo>
                    <a:pt x="819150" y="181241"/>
                  </a:lnTo>
                  <a:lnTo>
                    <a:pt x="819150" y="36245"/>
                  </a:lnTo>
                  <a:lnTo>
                    <a:pt x="816301" y="22138"/>
                  </a:lnTo>
                  <a:lnTo>
                    <a:pt x="808532" y="10617"/>
                  </a:lnTo>
                  <a:lnTo>
                    <a:pt x="797011" y="2848"/>
                  </a:lnTo>
                  <a:lnTo>
                    <a:pt x="782904" y="0"/>
                  </a:lnTo>
                  <a:lnTo>
                    <a:pt x="36245" y="0"/>
                  </a:lnTo>
                  <a:lnTo>
                    <a:pt x="22138" y="2848"/>
                  </a:lnTo>
                  <a:lnTo>
                    <a:pt x="10617" y="10617"/>
                  </a:lnTo>
                  <a:lnTo>
                    <a:pt x="2848" y="22138"/>
                  </a:lnTo>
                  <a:lnTo>
                    <a:pt x="0" y="36245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670287" y="4396333"/>
              <a:ext cx="819150" cy="217804"/>
            </a:xfrm>
            <a:custGeom>
              <a:avLst/>
              <a:gdLst/>
              <a:ahLst/>
              <a:cxnLst/>
              <a:rect l="l" t="t" r="r" b="b"/>
              <a:pathLst>
                <a:path w="819150" h="217804">
                  <a:moveTo>
                    <a:pt x="0" y="36245"/>
                  </a:moveTo>
                  <a:lnTo>
                    <a:pt x="22138" y="2848"/>
                  </a:lnTo>
                  <a:lnTo>
                    <a:pt x="782904" y="0"/>
                  </a:lnTo>
                  <a:lnTo>
                    <a:pt x="797011" y="2848"/>
                  </a:lnTo>
                  <a:lnTo>
                    <a:pt x="808532" y="10617"/>
                  </a:lnTo>
                  <a:lnTo>
                    <a:pt x="816301" y="22138"/>
                  </a:lnTo>
                  <a:lnTo>
                    <a:pt x="819150" y="36245"/>
                  </a:lnTo>
                  <a:lnTo>
                    <a:pt x="819150" y="181241"/>
                  </a:lnTo>
                  <a:lnTo>
                    <a:pt x="797011" y="214638"/>
                  </a:lnTo>
                  <a:lnTo>
                    <a:pt x="36245" y="217487"/>
                  </a:lnTo>
                  <a:lnTo>
                    <a:pt x="22138" y="214638"/>
                  </a:lnTo>
                  <a:lnTo>
                    <a:pt x="10617" y="206870"/>
                  </a:lnTo>
                  <a:lnTo>
                    <a:pt x="2848" y="195349"/>
                  </a:lnTo>
                  <a:lnTo>
                    <a:pt x="0" y="181241"/>
                  </a:lnTo>
                  <a:lnTo>
                    <a:pt x="0" y="3624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68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70515" y="924559"/>
            <a:ext cx="192278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Quick</a:t>
            </a:r>
            <a:r>
              <a:rPr spc="-55" dirty="0"/>
              <a:t> </a:t>
            </a:r>
            <a:r>
              <a:rPr spc="-5" dirty="0"/>
              <a:t>Sort</a:t>
            </a:r>
          </a:p>
        </p:txBody>
      </p:sp>
      <p:sp>
        <p:nvSpPr>
          <p:cNvPr id="4" name="object 4"/>
          <p:cNvSpPr/>
          <p:nvPr/>
        </p:nvSpPr>
        <p:spPr>
          <a:xfrm>
            <a:off x="3113877" y="1691485"/>
            <a:ext cx="2830195" cy="1985645"/>
          </a:xfrm>
          <a:custGeom>
            <a:avLst/>
            <a:gdLst/>
            <a:ahLst/>
            <a:cxnLst/>
            <a:rect l="l" t="t" r="r" b="b"/>
            <a:pathLst>
              <a:path w="2830195" h="1985645">
                <a:moveTo>
                  <a:pt x="537360" y="348452"/>
                </a:moveTo>
                <a:lnTo>
                  <a:pt x="498790" y="376847"/>
                </a:lnTo>
                <a:lnTo>
                  <a:pt x="459502" y="408449"/>
                </a:lnTo>
                <a:lnTo>
                  <a:pt x="419823" y="442895"/>
                </a:lnTo>
                <a:lnTo>
                  <a:pt x="380083" y="479820"/>
                </a:lnTo>
                <a:lnTo>
                  <a:pt x="340609" y="518860"/>
                </a:lnTo>
                <a:lnTo>
                  <a:pt x="301730" y="559649"/>
                </a:lnTo>
                <a:lnTo>
                  <a:pt x="263775" y="601825"/>
                </a:lnTo>
                <a:lnTo>
                  <a:pt x="227073" y="645022"/>
                </a:lnTo>
                <a:lnTo>
                  <a:pt x="191952" y="688876"/>
                </a:lnTo>
                <a:lnTo>
                  <a:pt x="158741" y="733023"/>
                </a:lnTo>
                <a:lnTo>
                  <a:pt x="127768" y="777099"/>
                </a:lnTo>
                <a:lnTo>
                  <a:pt x="99362" y="820739"/>
                </a:lnTo>
                <a:lnTo>
                  <a:pt x="73852" y="863579"/>
                </a:lnTo>
                <a:lnTo>
                  <a:pt x="51565" y="905254"/>
                </a:lnTo>
                <a:lnTo>
                  <a:pt x="32832" y="945401"/>
                </a:lnTo>
                <a:lnTo>
                  <a:pt x="17980" y="983655"/>
                </a:lnTo>
                <a:lnTo>
                  <a:pt x="1235" y="1053025"/>
                </a:lnTo>
                <a:lnTo>
                  <a:pt x="0" y="1083414"/>
                </a:lnTo>
                <a:lnTo>
                  <a:pt x="3960" y="1110452"/>
                </a:lnTo>
                <a:lnTo>
                  <a:pt x="33322" y="1156962"/>
                </a:lnTo>
                <a:lnTo>
                  <a:pt x="89625" y="1191986"/>
                </a:lnTo>
                <a:lnTo>
                  <a:pt x="126140" y="1206020"/>
                </a:lnTo>
                <a:lnTo>
                  <a:pt x="167302" y="1218177"/>
                </a:lnTo>
                <a:lnTo>
                  <a:pt x="212417" y="1228791"/>
                </a:lnTo>
                <a:lnTo>
                  <a:pt x="260789" y="1238192"/>
                </a:lnTo>
                <a:lnTo>
                  <a:pt x="311721" y="1246713"/>
                </a:lnTo>
                <a:lnTo>
                  <a:pt x="364518" y="1254685"/>
                </a:lnTo>
                <a:lnTo>
                  <a:pt x="418484" y="1262441"/>
                </a:lnTo>
                <a:lnTo>
                  <a:pt x="472924" y="1270312"/>
                </a:lnTo>
                <a:lnTo>
                  <a:pt x="527142" y="1278630"/>
                </a:lnTo>
                <a:lnTo>
                  <a:pt x="580442" y="1287727"/>
                </a:lnTo>
                <a:lnTo>
                  <a:pt x="632128" y="1297935"/>
                </a:lnTo>
                <a:lnTo>
                  <a:pt x="681505" y="1309585"/>
                </a:lnTo>
                <a:lnTo>
                  <a:pt x="727877" y="1323011"/>
                </a:lnTo>
                <a:lnTo>
                  <a:pt x="770548" y="1338543"/>
                </a:lnTo>
                <a:lnTo>
                  <a:pt x="808822" y="1356514"/>
                </a:lnTo>
                <a:lnTo>
                  <a:pt x="852984" y="1382856"/>
                </a:lnTo>
                <a:lnTo>
                  <a:pt x="894865" y="1412604"/>
                </a:lnTo>
                <a:lnTo>
                  <a:pt x="934768" y="1445185"/>
                </a:lnTo>
                <a:lnTo>
                  <a:pt x="972994" y="1480028"/>
                </a:lnTo>
                <a:lnTo>
                  <a:pt x="1009847" y="1516558"/>
                </a:lnTo>
                <a:lnTo>
                  <a:pt x="1045626" y="1554202"/>
                </a:lnTo>
                <a:lnTo>
                  <a:pt x="1080635" y="1592389"/>
                </a:lnTo>
                <a:lnTo>
                  <a:pt x="1115176" y="1630544"/>
                </a:lnTo>
                <a:lnTo>
                  <a:pt x="1149550" y="1668096"/>
                </a:lnTo>
                <a:lnTo>
                  <a:pt x="1184060" y="1704470"/>
                </a:lnTo>
                <a:lnTo>
                  <a:pt x="1219007" y="1739095"/>
                </a:lnTo>
                <a:lnTo>
                  <a:pt x="1254694" y="1771398"/>
                </a:lnTo>
                <a:lnTo>
                  <a:pt x="1291422" y="1800804"/>
                </a:lnTo>
                <a:lnTo>
                  <a:pt x="1329493" y="1826742"/>
                </a:lnTo>
                <a:lnTo>
                  <a:pt x="1369210" y="1848639"/>
                </a:lnTo>
                <a:lnTo>
                  <a:pt x="1412859" y="1869612"/>
                </a:lnTo>
                <a:lnTo>
                  <a:pt x="1456763" y="1890071"/>
                </a:lnTo>
                <a:lnTo>
                  <a:pt x="1500978" y="1909600"/>
                </a:lnTo>
                <a:lnTo>
                  <a:pt x="1545565" y="1927783"/>
                </a:lnTo>
                <a:lnTo>
                  <a:pt x="1590583" y="1944201"/>
                </a:lnTo>
                <a:lnTo>
                  <a:pt x="1636090" y="1958440"/>
                </a:lnTo>
                <a:lnTo>
                  <a:pt x="1682145" y="1970083"/>
                </a:lnTo>
                <a:lnTo>
                  <a:pt x="1728808" y="1978712"/>
                </a:lnTo>
                <a:lnTo>
                  <a:pt x="1776138" y="1983912"/>
                </a:lnTo>
                <a:lnTo>
                  <a:pt x="1824193" y="1985266"/>
                </a:lnTo>
                <a:lnTo>
                  <a:pt x="1873032" y="1982357"/>
                </a:lnTo>
                <a:lnTo>
                  <a:pt x="1922715" y="1974769"/>
                </a:lnTo>
                <a:lnTo>
                  <a:pt x="1973300" y="1962085"/>
                </a:lnTo>
                <a:lnTo>
                  <a:pt x="2024847" y="1943889"/>
                </a:lnTo>
                <a:lnTo>
                  <a:pt x="2090158" y="1917097"/>
                </a:lnTo>
                <a:lnTo>
                  <a:pt x="2127434" y="1901392"/>
                </a:lnTo>
                <a:lnTo>
                  <a:pt x="2167220" y="1884209"/>
                </a:lnTo>
                <a:lnTo>
                  <a:pt x="2209086" y="1865594"/>
                </a:lnTo>
                <a:lnTo>
                  <a:pt x="2252604" y="1845591"/>
                </a:lnTo>
                <a:lnTo>
                  <a:pt x="2297345" y="1824247"/>
                </a:lnTo>
                <a:lnTo>
                  <a:pt x="2342882" y="1801608"/>
                </a:lnTo>
                <a:lnTo>
                  <a:pt x="2388785" y="1777720"/>
                </a:lnTo>
                <a:lnTo>
                  <a:pt x="2434625" y="1752627"/>
                </a:lnTo>
                <a:lnTo>
                  <a:pt x="2479975" y="1726376"/>
                </a:lnTo>
                <a:lnTo>
                  <a:pt x="2524406" y="1699013"/>
                </a:lnTo>
                <a:lnTo>
                  <a:pt x="2567488" y="1670582"/>
                </a:lnTo>
                <a:lnTo>
                  <a:pt x="2608795" y="1641131"/>
                </a:lnTo>
                <a:lnTo>
                  <a:pt x="2647896" y="1610705"/>
                </a:lnTo>
                <a:lnTo>
                  <a:pt x="2684364" y="1579348"/>
                </a:lnTo>
                <a:lnTo>
                  <a:pt x="2717770" y="1547108"/>
                </a:lnTo>
                <a:lnTo>
                  <a:pt x="2747686" y="1514030"/>
                </a:lnTo>
                <a:lnTo>
                  <a:pt x="2773682" y="1480159"/>
                </a:lnTo>
                <a:lnTo>
                  <a:pt x="2795331" y="1445541"/>
                </a:lnTo>
                <a:lnTo>
                  <a:pt x="2812203" y="1410222"/>
                </a:lnTo>
                <a:lnTo>
                  <a:pt x="2829905" y="1337665"/>
                </a:lnTo>
                <a:lnTo>
                  <a:pt x="2829877" y="1300517"/>
                </a:lnTo>
                <a:lnTo>
                  <a:pt x="2823360" y="1262852"/>
                </a:lnTo>
                <a:lnTo>
                  <a:pt x="2803595" y="1207973"/>
                </a:lnTo>
                <a:lnTo>
                  <a:pt x="2771831" y="1146448"/>
                </a:lnTo>
                <a:lnTo>
                  <a:pt x="2751805" y="1113499"/>
                </a:lnTo>
                <a:lnTo>
                  <a:pt x="2729206" y="1079256"/>
                </a:lnTo>
                <a:lnTo>
                  <a:pt x="2704176" y="1043841"/>
                </a:lnTo>
                <a:lnTo>
                  <a:pt x="2676857" y="1007377"/>
                </a:lnTo>
                <a:lnTo>
                  <a:pt x="2647391" y="969986"/>
                </a:lnTo>
                <a:lnTo>
                  <a:pt x="2615921" y="931789"/>
                </a:lnTo>
                <a:lnTo>
                  <a:pt x="2582588" y="892911"/>
                </a:lnTo>
                <a:lnTo>
                  <a:pt x="2547535" y="853473"/>
                </a:lnTo>
                <a:lnTo>
                  <a:pt x="2510904" y="813598"/>
                </a:lnTo>
                <a:lnTo>
                  <a:pt x="2472837" y="773407"/>
                </a:lnTo>
                <a:lnTo>
                  <a:pt x="2433476" y="733024"/>
                </a:lnTo>
                <a:lnTo>
                  <a:pt x="2392964" y="692571"/>
                </a:lnTo>
                <a:lnTo>
                  <a:pt x="2351442" y="652170"/>
                </a:lnTo>
                <a:lnTo>
                  <a:pt x="2309054" y="611944"/>
                </a:lnTo>
                <a:lnTo>
                  <a:pt x="2265940" y="572015"/>
                </a:lnTo>
                <a:lnTo>
                  <a:pt x="2222243" y="532505"/>
                </a:lnTo>
                <a:lnTo>
                  <a:pt x="2178105" y="493537"/>
                </a:lnTo>
                <a:lnTo>
                  <a:pt x="2133669" y="455234"/>
                </a:lnTo>
                <a:lnTo>
                  <a:pt x="2089076" y="417718"/>
                </a:lnTo>
                <a:lnTo>
                  <a:pt x="2044469" y="381110"/>
                </a:lnTo>
                <a:lnTo>
                  <a:pt x="1999989" y="345535"/>
                </a:lnTo>
                <a:lnTo>
                  <a:pt x="1955780" y="311113"/>
                </a:lnTo>
                <a:lnTo>
                  <a:pt x="1911983" y="277968"/>
                </a:lnTo>
                <a:lnTo>
                  <a:pt x="1868741" y="246221"/>
                </a:lnTo>
                <a:lnTo>
                  <a:pt x="1826195" y="215996"/>
                </a:lnTo>
                <a:lnTo>
                  <a:pt x="1784487" y="187415"/>
                </a:lnTo>
                <a:lnTo>
                  <a:pt x="1743760" y="160600"/>
                </a:lnTo>
                <a:lnTo>
                  <a:pt x="1704157" y="135673"/>
                </a:lnTo>
                <a:lnTo>
                  <a:pt x="1665818" y="112757"/>
                </a:lnTo>
                <a:lnTo>
                  <a:pt x="1628887" y="91975"/>
                </a:lnTo>
                <a:lnTo>
                  <a:pt x="1593506" y="73448"/>
                </a:lnTo>
                <a:lnTo>
                  <a:pt x="1527960" y="43652"/>
                </a:lnTo>
                <a:lnTo>
                  <a:pt x="1478414" y="26178"/>
                </a:lnTo>
                <a:lnTo>
                  <a:pt x="1429194" y="13339"/>
                </a:lnTo>
                <a:lnTo>
                  <a:pt x="1380338" y="4872"/>
                </a:lnTo>
                <a:lnTo>
                  <a:pt x="1331882" y="513"/>
                </a:lnTo>
                <a:lnTo>
                  <a:pt x="1283865" y="0"/>
                </a:lnTo>
                <a:lnTo>
                  <a:pt x="1236324" y="3068"/>
                </a:lnTo>
                <a:lnTo>
                  <a:pt x="1189296" y="9456"/>
                </a:lnTo>
                <a:lnTo>
                  <a:pt x="1142820" y="18901"/>
                </a:lnTo>
                <a:lnTo>
                  <a:pt x="1096932" y="31138"/>
                </a:lnTo>
                <a:lnTo>
                  <a:pt x="1051670" y="45906"/>
                </a:lnTo>
                <a:lnTo>
                  <a:pt x="1007073" y="62941"/>
                </a:lnTo>
                <a:lnTo>
                  <a:pt x="963176" y="81980"/>
                </a:lnTo>
                <a:lnTo>
                  <a:pt x="920019" y="102760"/>
                </a:lnTo>
                <a:lnTo>
                  <a:pt x="877639" y="125018"/>
                </a:lnTo>
                <a:lnTo>
                  <a:pt x="836072" y="148491"/>
                </a:lnTo>
                <a:lnTo>
                  <a:pt x="795357" y="172917"/>
                </a:lnTo>
                <a:lnTo>
                  <a:pt x="755532" y="198031"/>
                </a:lnTo>
                <a:lnTo>
                  <a:pt x="716633" y="223570"/>
                </a:lnTo>
                <a:lnTo>
                  <a:pt x="678699" y="249273"/>
                </a:lnTo>
                <a:lnTo>
                  <a:pt x="641767" y="274876"/>
                </a:lnTo>
                <a:lnTo>
                  <a:pt x="605875" y="300115"/>
                </a:lnTo>
                <a:lnTo>
                  <a:pt x="571060" y="324728"/>
                </a:lnTo>
                <a:lnTo>
                  <a:pt x="537360" y="348452"/>
                </a:lnTo>
                <a:close/>
              </a:path>
            </a:pathLst>
          </a:custGeom>
          <a:ln w="38100">
            <a:solidFill>
              <a:srgbClr val="0E2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853940" y="2149157"/>
            <a:ext cx="471170" cy="132715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700"/>
              </a:spcBef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14</a:t>
            </a:r>
            <a:endParaRPr sz="2000">
              <a:latin typeface="Tahoma"/>
              <a:cs typeface="Tahoma"/>
            </a:endParaRPr>
          </a:p>
          <a:p>
            <a:pPr marL="180975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30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50"/>
              </a:spcBef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79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87340" y="2834957"/>
            <a:ext cx="3028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23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26790" y="2342858"/>
            <a:ext cx="1350645" cy="82867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60"/>
              </a:spcBef>
              <a:tabLst>
                <a:tab pos="821690" algn="l"/>
              </a:tabLst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31</a:t>
            </a:r>
            <a:r>
              <a:rPr sz="2000" spc="-235" dirty="0">
                <a:solidFill>
                  <a:srgbClr val="37D142"/>
                </a:solidFill>
                <a:latin typeface="Tahoma"/>
                <a:cs typeface="Tahoma"/>
              </a:rPr>
              <a:t> </a:t>
            </a:r>
            <a:r>
              <a:rPr sz="3000" baseline="-36111" dirty="0">
                <a:solidFill>
                  <a:srgbClr val="37D142"/>
                </a:solidFill>
                <a:latin typeface="Tahoma"/>
                <a:cs typeface="Tahoma"/>
              </a:rPr>
              <a:t>25	</a:t>
            </a:r>
            <a:r>
              <a:rPr sz="3000" baseline="-19444" dirty="0">
                <a:solidFill>
                  <a:srgbClr val="37D142"/>
                </a:solidFill>
                <a:latin typeface="Tahoma"/>
                <a:cs typeface="Tahoma"/>
              </a:rPr>
              <a:t>98</a:t>
            </a:r>
            <a:endParaRPr sz="3000" baseline="-19444">
              <a:latin typeface="Tahoma"/>
              <a:cs typeface="Tahoma"/>
            </a:endParaRPr>
          </a:p>
          <a:p>
            <a:pPr marR="30480" algn="r">
              <a:lnSpc>
                <a:spcPct val="100000"/>
              </a:lnSpc>
              <a:spcBef>
                <a:spcPts val="765"/>
              </a:spcBef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62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667000" y="2057400"/>
            <a:ext cx="457200" cy="914400"/>
            <a:chOff x="2667000" y="2057400"/>
            <a:chExt cx="457200" cy="914400"/>
          </a:xfrm>
        </p:grpSpPr>
        <p:sp>
          <p:nvSpPr>
            <p:cNvPr id="9" name="object 9"/>
            <p:cNvSpPr/>
            <p:nvPr/>
          </p:nvSpPr>
          <p:spPr>
            <a:xfrm>
              <a:off x="2748749" y="2057400"/>
              <a:ext cx="227088" cy="19081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67000" y="2269807"/>
              <a:ext cx="457200" cy="702310"/>
            </a:xfrm>
            <a:custGeom>
              <a:avLst/>
              <a:gdLst/>
              <a:ahLst/>
              <a:cxnLst/>
              <a:rect l="l" t="t" r="r" b="b"/>
              <a:pathLst>
                <a:path w="457200" h="702310">
                  <a:moveTo>
                    <a:pt x="457200" y="136753"/>
                  </a:moveTo>
                  <a:lnTo>
                    <a:pt x="454418" y="122656"/>
                  </a:lnTo>
                  <a:lnTo>
                    <a:pt x="426656" y="82257"/>
                  </a:lnTo>
                  <a:lnTo>
                    <a:pt x="423887" y="79679"/>
                  </a:lnTo>
                  <a:lnTo>
                    <a:pt x="423887" y="141439"/>
                  </a:lnTo>
                  <a:lnTo>
                    <a:pt x="415556" y="156006"/>
                  </a:lnTo>
                  <a:lnTo>
                    <a:pt x="381685" y="172453"/>
                  </a:lnTo>
                  <a:lnTo>
                    <a:pt x="342265" y="181838"/>
                  </a:lnTo>
                  <a:lnTo>
                    <a:pt x="319811" y="189623"/>
                  </a:lnTo>
                  <a:lnTo>
                    <a:pt x="305612" y="145046"/>
                  </a:lnTo>
                  <a:lnTo>
                    <a:pt x="302844" y="99974"/>
                  </a:lnTo>
                  <a:lnTo>
                    <a:pt x="286613" y="44030"/>
                  </a:lnTo>
                  <a:lnTo>
                    <a:pt x="361696" y="63004"/>
                  </a:lnTo>
                  <a:lnTo>
                    <a:pt x="418338" y="115608"/>
                  </a:lnTo>
                  <a:lnTo>
                    <a:pt x="423887" y="141439"/>
                  </a:lnTo>
                  <a:lnTo>
                    <a:pt x="423887" y="79679"/>
                  </a:lnTo>
                  <a:lnTo>
                    <a:pt x="373354" y="32473"/>
                  </a:lnTo>
                  <a:lnTo>
                    <a:pt x="336715" y="8509"/>
                  </a:lnTo>
                  <a:lnTo>
                    <a:pt x="294513" y="6159"/>
                  </a:lnTo>
                  <a:lnTo>
                    <a:pt x="274523" y="13208"/>
                  </a:lnTo>
                  <a:lnTo>
                    <a:pt x="274523" y="24333"/>
                  </a:lnTo>
                  <a:lnTo>
                    <a:pt x="266306" y="12179"/>
                  </a:lnTo>
                  <a:lnTo>
                    <a:pt x="223672" y="444"/>
                  </a:lnTo>
                  <a:lnTo>
                    <a:pt x="181597" y="5143"/>
                  </a:lnTo>
                  <a:lnTo>
                    <a:pt x="180809" y="6400"/>
                  </a:lnTo>
                  <a:lnTo>
                    <a:pt x="162687" y="0"/>
                  </a:lnTo>
                  <a:lnTo>
                    <a:pt x="120484" y="2349"/>
                  </a:lnTo>
                  <a:lnTo>
                    <a:pt x="83845" y="26314"/>
                  </a:lnTo>
                  <a:lnTo>
                    <a:pt x="30543" y="76098"/>
                  </a:lnTo>
                  <a:lnTo>
                    <a:pt x="2781" y="116497"/>
                  </a:lnTo>
                  <a:lnTo>
                    <a:pt x="0" y="130594"/>
                  </a:lnTo>
                  <a:lnTo>
                    <a:pt x="13881" y="156895"/>
                  </a:lnTo>
                  <a:lnTo>
                    <a:pt x="44424" y="168630"/>
                  </a:lnTo>
                  <a:lnTo>
                    <a:pt x="83845" y="182727"/>
                  </a:lnTo>
                  <a:lnTo>
                    <a:pt x="114935" y="189776"/>
                  </a:lnTo>
                  <a:lnTo>
                    <a:pt x="128816" y="201993"/>
                  </a:lnTo>
                  <a:lnTo>
                    <a:pt x="120484" y="218427"/>
                  </a:lnTo>
                  <a:lnTo>
                    <a:pt x="98285" y="237680"/>
                  </a:lnTo>
                  <a:lnTo>
                    <a:pt x="69964" y="240030"/>
                  </a:lnTo>
                  <a:lnTo>
                    <a:pt x="50533" y="232524"/>
                  </a:lnTo>
                  <a:lnTo>
                    <a:pt x="38862" y="240030"/>
                  </a:lnTo>
                  <a:lnTo>
                    <a:pt x="41643" y="249428"/>
                  </a:lnTo>
                  <a:lnTo>
                    <a:pt x="64401" y="256476"/>
                  </a:lnTo>
                  <a:lnTo>
                    <a:pt x="98285" y="256476"/>
                  </a:lnTo>
                  <a:lnTo>
                    <a:pt x="128816" y="249428"/>
                  </a:lnTo>
                  <a:lnTo>
                    <a:pt x="146024" y="240030"/>
                  </a:lnTo>
                  <a:lnTo>
                    <a:pt x="157137" y="223126"/>
                  </a:lnTo>
                  <a:lnTo>
                    <a:pt x="162687" y="204330"/>
                  </a:lnTo>
                  <a:lnTo>
                    <a:pt x="148805" y="187426"/>
                  </a:lnTo>
                  <a:lnTo>
                    <a:pt x="114935" y="175679"/>
                  </a:lnTo>
                  <a:lnTo>
                    <a:pt x="75514" y="166293"/>
                  </a:lnTo>
                  <a:lnTo>
                    <a:pt x="41643" y="149847"/>
                  </a:lnTo>
                  <a:lnTo>
                    <a:pt x="33312" y="135280"/>
                  </a:lnTo>
                  <a:lnTo>
                    <a:pt x="38862" y="109448"/>
                  </a:lnTo>
                  <a:lnTo>
                    <a:pt x="64401" y="76098"/>
                  </a:lnTo>
                  <a:lnTo>
                    <a:pt x="95504" y="56845"/>
                  </a:lnTo>
                  <a:lnTo>
                    <a:pt x="143256" y="42748"/>
                  </a:lnTo>
                  <a:lnTo>
                    <a:pt x="162445" y="39319"/>
                  </a:lnTo>
                  <a:lnTo>
                    <a:pt x="164985" y="74155"/>
                  </a:lnTo>
                  <a:lnTo>
                    <a:pt x="176060" y="135648"/>
                  </a:lnTo>
                  <a:lnTo>
                    <a:pt x="176060" y="190119"/>
                  </a:lnTo>
                  <a:lnTo>
                    <a:pt x="162217" y="237528"/>
                  </a:lnTo>
                  <a:lnTo>
                    <a:pt x="153911" y="263829"/>
                  </a:lnTo>
                  <a:lnTo>
                    <a:pt x="159448" y="287769"/>
                  </a:lnTo>
                  <a:lnTo>
                    <a:pt x="160489" y="288429"/>
                  </a:lnTo>
                  <a:lnTo>
                    <a:pt x="168021" y="406298"/>
                  </a:lnTo>
                  <a:lnTo>
                    <a:pt x="168021" y="437324"/>
                  </a:lnTo>
                  <a:lnTo>
                    <a:pt x="156895" y="494677"/>
                  </a:lnTo>
                  <a:lnTo>
                    <a:pt x="154114" y="561428"/>
                  </a:lnTo>
                  <a:lnTo>
                    <a:pt x="159677" y="594804"/>
                  </a:lnTo>
                  <a:lnTo>
                    <a:pt x="154114" y="613613"/>
                  </a:lnTo>
                  <a:lnTo>
                    <a:pt x="114630" y="642289"/>
                  </a:lnTo>
                  <a:lnTo>
                    <a:pt x="97383" y="678014"/>
                  </a:lnTo>
                  <a:lnTo>
                    <a:pt x="100723" y="689775"/>
                  </a:lnTo>
                  <a:lnTo>
                    <a:pt x="131318" y="701992"/>
                  </a:lnTo>
                  <a:lnTo>
                    <a:pt x="139649" y="696823"/>
                  </a:lnTo>
                  <a:lnTo>
                    <a:pt x="142989" y="675665"/>
                  </a:lnTo>
                  <a:lnTo>
                    <a:pt x="151333" y="644639"/>
                  </a:lnTo>
                  <a:lnTo>
                    <a:pt x="165239" y="630542"/>
                  </a:lnTo>
                  <a:lnTo>
                    <a:pt x="181927" y="621131"/>
                  </a:lnTo>
                  <a:lnTo>
                    <a:pt x="196380" y="608914"/>
                  </a:lnTo>
                  <a:lnTo>
                    <a:pt x="199161" y="599503"/>
                  </a:lnTo>
                  <a:lnTo>
                    <a:pt x="190817" y="587756"/>
                  </a:lnTo>
                  <a:lnTo>
                    <a:pt x="181927" y="580707"/>
                  </a:lnTo>
                  <a:lnTo>
                    <a:pt x="176364" y="551561"/>
                  </a:lnTo>
                  <a:lnTo>
                    <a:pt x="181927" y="491858"/>
                  </a:lnTo>
                  <a:lnTo>
                    <a:pt x="201942" y="423214"/>
                  </a:lnTo>
                  <a:lnTo>
                    <a:pt x="221411" y="368211"/>
                  </a:lnTo>
                  <a:lnTo>
                    <a:pt x="226669" y="315937"/>
                  </a:lnTo>
                  <a:lnTo>
                    <a:pt x="229209" y="316407"/>
                  </a:lnTo>
                  <a:lnTo>
                    <a:pt x="247942" y="316407"/>
                  </a:lnTo>
                  <a:lnTo>
                    <a:pt x="275793" y="394576"/>
                  </a:lnTo>
                  <a:lnTo>
                    <a:pt x="292430" y="449110"/>
                  </a:lnTo>
                  <a:lnTo>
                    <a:pt x="297980" y="496608"/>
                  </a:lnTo>
                  <a:lnTo>
                    <a:pt x="297980" y="534695"/>
                  </a:lnTo>
                  <a:lnTo>
                    <a:pt x="289661" y="563841"/>
                  </a:lnTo>
                  <a:lnTo>
                    <a:pt x="281343" y="573239"/>
                  </a:lnTo>
                  <a:lnTo>
                    <a:pt x="281343" y="582650"/>
                  </a:lnTo>
                  <a:lnTo>
                    <a:pt x="292430" y="597230"/>
                  </a:lnTo>
                  <a:lnTo>
                    <a:pt x="311835" y="601929"/>
                  </a:lnTo>
                  <a:lnTo>
                    <a:pt x="342900" y="601929"/>
                  </a:lnTo>
                  <a:lnTo>
                    <a:pt x="398907" y="613689"/>
                  </a:lnTo>
                  <a:lnTo>
                    <a:pt x="415544" y="630605"/>
                  </a:lnTo>
                  <a:lnTo>
                    <a:pt x="441058" y="620737"/>
                  </a:lnTo>
                  <a:lnTo>
                    <a:pt x="452145" y="597230"/>
                  </a:lnTo>
                  <a:lnTo>
                    <a:pt x="441058" y="587819"/>
                  </a:lnTo>
                  <a:lnTo>
                    <a:pt x="393357" y="582650"/>
                  </a:lnTo>
                  <a:lnTo>
                    <a:pt x="340118" y="582650"/>
                  </a:lnTo>
                  <a:lnTo>
                    <a:pt x="317385" y="580301"/>
                  </a:lnTo>
                  <a:lnTo>
                    <a:pt x="311835" y="566191"/>
                  </a:lnTo>
                  <a:lnTo>
                    <a:pt x="317385" y="539394"/>
                  </a:lnTo>
                  <a:lnTo>
                    <a:pt x="320713" y="494245"/>
                  </a:lnTo>
                  <a:lnTo>
                    <a:pt x="306298" y="378117"/>
                  </a:lnTo>
                  <a:lnTo>
                    <a:pt x="309067" y="320751"/>
                  </a:lnTo>
                  <a:lnTo>
                    <a:pt x="309067" y="301942"/>
                  </a:lnTo>
                  <a:lnTo>
                    <a:pt x="305549" y="277520"/>
                  </a:lnTo>
                  <a:lnTo>
                    <a:pt x="320116" y="251079"/>
                  </a:lnTo>
                  <a:lnTo>
                    <a:pt x="328383" y="255587"/>
                  </a:lnTo>
                  <a:lnTo>
                    <a:pt x="358927" y="262636"/>
                  </a:lnTo>
                  <a:lnTo>
                    <a:pt x="392785" y="262636"/>
                  </a:lnTo>
                  <a:lnTo>
                    <a:pt x="415556" y="255587"/>
                  </a:lnTo>
                  <a:lnTo>
                    <a:pt x="418338" y="246189"/>
                  </a:lnTo>
                  <a:lnTo>
                    <a:pt x="406679" y="238683"/>
                  </a:lnTo>
                  <a:lnTo>
                    <a:pt x="387235" y="246189"/>
                  </a:lnTo>
                  <a:lnTo>
                    <a:pt x="358927" y="243840"/>
                  </a:lnTo>
                  <a:lnTo>
                    <a:pt x="336715" y="224586"/>
                  </a:lnTo>
                  <a:lnTo>
                    <a:pt x="328383" y="208140"/>
                  </a:lnTo>
                  <a:lnTo>
                    <a:pt x="342265" y="195935"/>
                  </a:lnTo>
                  <a:lnTo>
                    <a:pt x="373354" y="188887"/>
                  </a:lnTo>
                  <a:lnTo>
                    <a:pt x="412775" y="174790"/>
                  </a:lnTo>
                  <a:lnTo>
                    <a:pt x="443318" y="163055"/>
                  </a:lnTo>
                  <a:lnTo>
                    <a:pt x="457200" y="136753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787140" y="1501648"/>
            <a:ext cx="5427345" cy="90805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095500">
              <a:lnSpc>
                <a:spcPct val="100000"/>
              </a:lnSpc>
              <a:spcBef>
                <a:spcPts val="535"/>
              </a:spcBef>
            </a:pPr>
            <a:r>
              <a:rPr sz="3200" dirty="0">
                <a:latin typeface="Times New Roman"/>
                <a:cs typeface="Times New Roman"/>
              </a:rPr>
              <a:t>Let pivot be the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first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  <a:tabLst>
                <a:tab pos="561340" algn="l"/>
              </a:tabLst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88	</a:t>
            </a:r>
            <a:r>
              <a:rPr sz="3000" baseline="1388" dirty="0">
                <a:solidFill>
                  <a:srgbClr val="37D142"/>
                </a:solidFill>
                <a:latin typeface="Tahoma"/>
                <a:cs typeface="Tahoma"/>
              </a:rPr>
              <a:t>52</a:t>
            </a:r>
            <a:endParaRPr sz="3000" baseline="1388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69940" y="2039620"/>
            <a:ext cx="310832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element in the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list?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856509" y="3825155"/>
            <a:ext cx="1646555" cy="1154430"/>
          </a:xfrm>
          <a:custGeom>
            <a:avLst/>
            <a:gdLst/>
            <a:ahLst/>
            <a:cxnLst/>
            <a:rect l="l" t="t" r="r" b="b"/>
            <a:pathLst>
              <a:path w="1646554" h="1154429">
                <a:moveTo>
                  <a:pt x="483590" y="54681"/>
                </a:moveTo>
                <a:lnTo>
                  <a:pt x="437434" y="68996"/>
                </a:lnTo>
                <a:lnTo>
                  <a:pt x="391112" y="86624"/>
                </a:lnTo>
                <a:lnTo>
                  <a:pt x="345170" y="107258"/>
                </a:lnTo>
                <a:lnTo>
                  <a:pt x="300151" y="130590"/>
                </a:lnTo>
                <a:lnTo>
                  <a:pt x="256599" y="156312"/>
                </a:lnTo>
                <a:lnTo>
                  <a:pt x="215058" y="184116"/>
                </a:lnTo>
                <a:lnTo>
                  <a:pt x="176072" y="213696"/>
                </a:lnTo>
                <a:lnTo>
                  <a:pt x="140185" y="244742"/>
                </a:lnTo>
                <a:lnTo>
                  <a:pt x="107940" y="276948"/>
                </a:lnTo>
                <a:lnTo>
                  <a:pt x="79881" y="310005"/>
                </a:lnTo>
                <a:lnTo>
                  <a:pt x="56553" y="343606"/>
                </a:lnTo>
                <a:lnTo>
                  <a:pt x="34398" y="388076"/>
                </a:lnTo>
                <a:lnTo>
                  <a:pt x="18305" y="437837"/>
                </a:lnTo>
                <a:lnTo>
                  <a:pt x="7634" y="491243"/>
                </a:lnTo>
                <a:lnTo>
                  <a:pt x="1746" y="546649"/>
                </a:lnTo>
                <a:lnTo>
                  <a:pt x="0" y="602408"/>
                </a:lnTo>
                <a:lnTo>
                  <a:pt x="1755" y="656873"/>
                </a:lnTo>
                <a:lnTo>
                  <a:pt x="6371" y="708398"/>
                </a:lnTo>
                <a:lnTo>
                  <a:pt x="13209" y="755337"/>
                </a:lnTo>
                <a:lnTo>
                  <a:pt x="21628" y="796043"/>
                </a:lnTo>
                <a:lnTo>
                  <a:pt x="36320" y="846888"/>
                </a:lnTo>
                <a:lnTo>
                  <a:pt x="55024" y="889530"/>
                </a:lnTo>
                <a:lnTo>
                  <a:pt x="80167" y="925822"/>
                </a:lnTo>
                <a:lnTo>
                  <a:pt x="114173" y="957616"/>
                </a:lnTo>
                <a:lnTo>
                  <a:pt x="159468" y="986764"/>
                </a:lnTo>
                <a:lnTo>
                  <a:pt x="218478" y="1015118"/>
                </a:lnTo>
                <a:lnTo>
                  <a:pt x="250955" y="1029276"/>
                </a:lnTo>
                <a:lnTo>
                  <a:pt x="286672" y="1044964"/>
                </a:lnTo>
                <a:lnTo>
                  <a:pt x="325371" y="1061571"/>
                </a:lnTo>
                <a:lnTo>
                  <a:pt x="366797" y="1078486"/>
                </a:lnTo>
                <a:lnTo>
                  <a:pt x="410694" y="1095097"/>
                </a:lnTo>
                <a:lnTo>
                  <a:pt x="456807" y="1110793"/>
                </a:lnTo>
                <a:lnTo>
                  <a:pt x="504879" y="1124964"/>
                </a:lnTo>
                <a:lnTo>
                  <a:pt x="554655" y="1136997"/>
                </a:lnTo>
                <a:lnTo>
                  <a:pt x="605879" y="1146281"/>
                </a:lnTo>
                <a:lnTo>
                  <a:pt x="658296" y="1152206"/>
                </a:lnTo>
                <a:lnTo>
                  <a:pt x="711648" y="1154159"/>
                </a:lnTo>
                <a:lnTo>
                  <a:pt x="765682" y="1151529"/>
                </a:lnTo>
                <a:lnTo>
                  <a:pt x="820140" y="1143706"/>
                </a:lnTo>
                <a:lnTo>
                  <a:pt x="857852" y="1135817"/>
                </a:lnTo>
                <a:lnTo>
                  <a:pt x="899617" y="1126028"/>
                </a:lnTo>
                <a:lnTo>
                  <a:pt x="944820" y="1114438"/>
                </a:lnTo>
                <a:lnTo>
                  <a:pt x="992848" y="1101148"/>
                </a:lnTo>
                <a:lnTo>
                  <a:pt x="1043085" y="1086258"/>
                </a:lnTo>
                <a:lnTo>
                  <a:pt x="1094918" y="1069868"/>
                </a:lnTo>
                <a:lnTo>
                  <a:pt x="1147731" y="1052078"/>
                </a:lnTo>
                <a:lnTo>
                  <a:pt x="1200912" y="1032987"/>
                </a:lnTo>
                <a:lnTo>
                  <a:pt x="1253845" y="1012697"/>
                </a:lnTo>
                <a:lnTo>
                  <a:pt x="1305915" y="991306"/>
                </a:lnTo>
                <a:lnTo>
                  <a:pt x="1356510" y="968915"/>
                </a:lnTo>
                <a:lnTo>
                  <a:pt x="1405013" y="945624"/>
                </a:lnTo>
                <a:lnTo>
                  <a:pt x="1450812" y="921533"/>
                </a:lnTo>
                <a:lnTo>
                  <a:pt x="1493291" y="896742"/>
                </a:lnTo>
                <a:lnTo>
                  <a:pt x="1531836" y="871351"/>
                </a:lnTo>
                <a:lnTo>
                  <a:pt x="1565834" y="845459"/>
                </a:lnTo>
                <a:lnTo>
                  <a:pt x="1594668" y="819168"/>
                </a:lnTo>
                <a:lnTo>
                  <a:pt x="1634392" y="765785"/>
                </a:lnTo>
                <a:lnTo>
                  <a:pt x="1646543" y="708987"/>
                </a:lnTo>
                <a:lnTo>
                  <a:pt x="1641888" y="676187"/>
                </a:lnTo>
                <a:lnTo>
                  <a:pt x="1613593" y="603522"/>
                </a:lnTo>
                <a:lnTo>
                  <a:pt x="1591179" y="564464"/>
                </a:lnTo>
                <a:lnTo>
                  <a:pt x="1564069" y="524129"/>
                </a:lnTo>
                <a:lnTo>
                  <a:pt x="1532876" y="482920"/>
                </a:lnTo>
                <a:lnTo>
                  <a:pt x="1498213" y="441242"/>
                </a:lnTo>
                <a:lnTo>
                  <a:pt x="1460692" y="399499"/>
                </a:lnTo>
                <a:lnTo>
                  <a:pt x="1420926" y="358095"/>
                </a:lnTo>
                <a:lnTo>
                  <a:pt x="1379526" y="317433"/>
                </a:lnTo>
                <a:lnTo>
                  <a:pt x="1337106" y="277919"/>
                </a:lnTo>
                <a:lnTo>
                  <a:pt x="1294277" y="239956"/>
                </a:lnTo>
                <a:lnTo>
                  <a:pt x="1251653" y="203948"/>
                </a:lnTo>
                <a:lnTo>
                  <a:pt x="1209845" y="170299"/>
                </a:lnTo>
                <a:lnTo>
                  <a:pt x="1169466" y="139414"/>
                </a:lnTo>
                <a:lnTo>
                  <a:pt x="1131129" y="111697"/>
                </a:lnTo>
                <a:lnTo>
                  <a:pt x="1095445" y="87551"/>
                </a:lnTo>
                <a:lnTo>
                  <a:pt x="1063028" y="67381"/>
                </a:lnTo>
                <a:lnTo>
                  <a:pt x="1014155" y="42241"/>
                </a:lnTo>
                <a:lnTo>
                  <a:pt x="964544" y="23556"/>
                </a:lnTo>
                <a:lnTo>
                  <a:pt x="914448" y="10702"/>
                </a:lnTo>
                <a:lnTo>
                  <a:pt x="864120" y="3058"/>
                </a:lnTo>
                <a:lnTo>
                  <a:pt x="813814" y="0"/>
                </a:lnTo>
                <a:lnTo>
                  <a:pt x="763784" y="904"/>
                </a:lnTo>
                <a:lnTo>
                  <a:pt x="714283" y="5150"/>
                </a:lnTo>
                <a:lnTo>
                  <a:pt x="665565" y="12112"/>
                </a:lnTo>
                <a:lnTo>
                  <a:pt x="617883" y="21170"/>
                </a:lnTo>
                <a:lnTo>
                  <a:pt x="571491" y="31699"/>
                </a:lnTo>
                <a:lnTo>
                  <a:pt x="526642" y="43077"/>
                </a:lnTo>
                <a:lnTo>
                  <a:pt x="483590" y="54681"/>
                </a:lnTo>
                <a:close/>
              </a:path>
            </a:pathLst>
          </a:custGeom>
          <a:ln w="38100">
            <a:solidFill>
              <a:srgbClr val="0E2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509327" y="3835082"/>
            <a:ext cx="3028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14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12477" y="4505007"/>
            <a:ext cx="3028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25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85527" y="4216082"/>
            <a:ext cx="66802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00"/>
              </a:lnSpc>
              <a:spcBef>
                <a:spcPts val="100"/>
              </a:spcBef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30</a:t>
            </a:r>
            <a:endParaRPr sz="2000">
              <a:latin typeface="Tahoma"/>
              <a:cs typeface="Tahoma"/>
            </a:endParaRPr>
          </a:p>
          <a:p>
            <a:pPr marL="377825">
              <a:lnSpc>
                <a:spcPts val="2100"/>
              </a:lnSpc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23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548366" y="3704741"/>
            <a:ext cx="1550670" cy="1358265"/>
          </a:xfrm>
          <a:custGeom>
            <a:avLst/>
            <a:gdLst/>
            <a:ahLst/>
            <a:cxnLst/>
            <a:rect l="l" t="t" r="r" b="b"/>
            <a:pathLst>
              <a:path w="1550670" h="1358264">
                <a:moveTo>
                  <a:pt x="126933" y="140170"/>
                </a:moveTo>
                <a:lnTo>
                  <a:pt x="96038" y="175457"/>
                </a:lnTo>
                <a:lnTo>
                  <a:pt x="69881" y="215667"/>
                </a:lnTo>
                <a:lnTo>
                  <a:pt x="48239" y="259741"/>
                </a:lnTo>
                <a:lnTo>
                  <a:pt x="30891" y="306621"/>
                </a:lnTo>
                <a:lnTo>
                  <a:pt x="17615" y="355246"/>
                </a:lnTo>
                <a:lnTo>
                  <a:pt x="8189" y="404559"/>
                </a:lnTo>
                <a:lnTo>
                  <a:pt x="2391" y="453500"/>
                </a:lnTo>
                <a:lnTo>
                  <a:pt x="0" y="501009"/>
                </a:lnTo>
                <a:lnTo>
                  <a:pt x="793" y="546028"/>
                </a:lnTo>
                <a:lnTo>
                  <a:pt x="4549" y="587497"/>
                </a:lnTo>
                <a:lnTo>
                  <a:pt x="24867" y="663085"/>
                </a:lnTo>
                <a:lnTo>
                  <a:pt x="46358" y="696521"/>
                </a:lnTo>
                <a:lnTo>
                  <a:pt x="74134" y="725958"/>
                </a:lnTo>
                <a:lnTo>
                  <a:pt x="106809" y="752691"/>
                </a:lnTo>
                <a:lnTo>
                  <a:pt x="142999" y="778012"/>
                </a:lnTo>
                <a:lnTo>
                  <a:pt x="181319" y="803216"/>
                </a:lnTo>
                <a:lnTo>
                  <a:pt x="220384" y="829596"/>
                </a:lnTo>
                <a:lnTo>
                  <a:pt x="258808" y="858446"/>
                </a:lnTo>
                <a:lnTo>
                  <a:pt x="295208" y="891058"/>
                </a:lnTo>
                <a:lnTo>
                  <a:pt x="327016" y="924770"/>
                </a:lnTo>
                <a:lnTo>
                  <a:pt x="359559" y="962254"/>
                </a:lnTo>
                <a:lnTo>
                  <a:pt x="392806" y="1002329"/>
                </a:lnTo>
                <a:lnTo>
                  <a:pt x="426729" y="1043814"/>
                </a:lnTo>
                <a:lnTo>
                  <a:pt x="461300" y="1085527"/>
                </a:lnTo>
                <a:lnTo>
                  <a:pt x="496490" y="1126287"/>
                </a:lnTo>
                <a:lnTo>
                  <a:pt x="532271" y="1164914"/>
                </a:lnTo>
                <a:lnTo>
                  <a:pt x="568613" y="1200227"/>
                </a:lnTo>
                <a:lnTo>
                  <a:pt x="605489" y="1231043"/>
                </a:lnTo>
                <a:lnTo>
                  <a:pt x="642870" y="1256183"/>
                </a:lnTo>
                <a:lnTo>
                  <a:pt x="685345" y="1280270"/>
                </a:lnTo>
                <a:lnTo>
                  <a:pt x="728199" y="1303063"/>
                </a:lnTo>
                <a:lnTo>
                  <a:pt x="771575" y="1323387"/>
                </a:lnTo>
                <a:lnTo>
                  <a:pt x="815618" y="1340066"/>
                </a:lnTo>
                <a:lnTo>
                  <a:pt x="860471" y="1351923"/>
                </a:lnTo>
                <a:lnTo>
                  <a:pt x="906278" y="1357783"/>
                </a:lnTo>
                <a:lnTo>
                  <a:pt x="953182" y="1356470"/>
                </a:lnTo>
                <a:lnTo>
                  <a:pt x="1001327" y="1346808"/>
                </a:lnTo>
                <a:lnTo>
                  <a:pt x="1050858" y="1327620"/>
                </a:lnTo>
                <a:lnTo>
                  <a:pt x="1112676" y="1296086"/>
                </a:lnTo>
                <a:lnTo>
                  <a:pt x="1149175" y="1276266"/>
                </a:lnTo>
                <a:lnTo>
                  <a:pt x="1188267" y="1253982"/>
                </a:lnTo>
                <a:lnTo>
                  <a:pt x="1229105" y="1229412"/>
                </a:lnTo>
                <a:lnTo>
                  <a:pt x="1270838" y="1202735"/>
                </a:lnTo>
                <a:lnTo>
                  <a:pt x="1312618" y="1174129"/>
                </a:lnTo>
                <a:lnTo>
                  <a:pt x="1353595" y="1143772"/>
                </a:lnTo>
                <a:lnTo>
                  <a:pt x="1392920" y="1111842"/>
                </a:lnTo>
                <a:lnTo>
                  <a:pt x="1429744" y="1078519"/>
                </a:lnTo>
                <a:lnTo>
                  <a:pt x="1463219" y="1043980"/>
                </a:lnTo>
                <a:lnTo>
                  <a:pt x="1492494" y="1008404"/>
                </a:lnTo>
                <a:lnTo>
                  <a:pt x="1516720" y="971969"/>
                </a:lnTo>
                <a:lnTo>
                  <a:pt x="1535049" y="934854"/>
                </a:lnTo>
                <a:lnTo>
                  <a:pt x="1546631" y="897236"/>
                </a:lnTo>
                <a:lnTo>
                  <a:pt x="1550617" y="859295"/>
                </a:lnTo>
                <a:lnTo>
                  <a:pt x="1546158" y="821208"/>
                </a:lnTo>
                <a:lnTo>
                  <a:pt x="1523013" y="759831"/>
                </a:lnTo>
                <a:lnTo>
                  <a:pt x="1504561" y="725780"/>
                </a:lnTo>
                <a:lnTo>
                  <a:pt x="1482001" y="689870"/>
                </a:lnTo>
                <a:lnTo>
                  <a:pt x="1455693" y="652387"/>
                </a:lnTo>
                <a:lnTo>
                  <a:pt x="1425996" y="613618"/>
                </a:lnTo>
                <a:lnTo>
                  <a:pt x="1393269" y="573850"/>
                </a:lnTo>
                <a:lnTo>
                  <a:pt x="1357872" y="533368"/>
                </a:lnTo>
                <a:lnTo>
                  <a:pt x="1320163" y="492459"/>
                </a:lnTo>
                <a:lnTo>
                  <a:pt x="1280504" y="451411"/>
                </a:lnTo>
                <a:lnTo>
                  <a:pt x="1239251" y="410508"/>
                </a:lnTo>
                <a:lnTo>
                  <a:pt x="1196766" y="370039"/>
                </a:lnTo>
                <a:lnTo>
                  <a:pt x="1153407" y="330289"/>
                </a:lnTo>
                <a:lnTo>
                  <a:pt x="1109534" y="291545"/>
                </a:lnTo>
                <a:lnTo>
                  <a:pt x="1065506" y="254094"/>
                </a:lnTo>
                <a:lnTo>
                  <a:pt x="1021682" y="218221"/>
                </a:lnTo>
                <a:lnTo>
                  <a:pt x="978422" y="184215"/>
                </a:lnTo>
                <a:lnTo>
                  <a:pt x="936085" y="152360"/>
                </a:lnTo>
                <a:lnTo>
                  <a:pt x="895030" y="122944"/>
                </a:lnTo>
                <a:lnTo>
                  <a:pt x="855617" y="96253"/>
                </a:lnTo>
                <a:lnTo>
                  <a:pt x="818204" y="72573"/>
                </a:lnTo>
                <a:lnTo>
                  <a:pt x="783153" y="52192"/>
                </a:lnTo>
                <a:lnTo>
                  <a:pt x="699872" y="15488"/>
                </a:lnTo>
                <a:lnTo>
                  <a:pt x="648614" y="4043"/>
                </a:lnTo>
                <a:lnTo>
                  <a:pt x="597370" y="0"/>
                </a:lnTo>
                <a:lnTo>
                  <a:pt x="546463" y="2294"/>
                </a:lnTo>
                <a:lnTo>
                  <a:pt x="496216" y="9865"/>
                </a:lnTo>
                <a:lnTo>
                  <a:pt x="446950" y="21649"/>
                </a:lnTo>
                <a:lnTo>
                  <a:pt x="398991" y="36586"/>
                </a:lnTo>
                <a:lnTo>
                  <a:pt x="352659" y="53612"/>
                </a:lnTo>
                <a:lnTo>
                  <a:pt x="308277" y="71666"/>
                </a:lnTo>
                <a:lnTo>
                  <a:pt x="266170" y="89685"/>
                </a:lnTo>
                <a:lnTo>
                  <a:pt x="226659" y="106607"/>
                </a:lnTo>
                <a:lnTo>
                  <a:pt x="190067" y="121370"/>
                </a:lnTo>
                <a:lnTo>
                  <a:pt x="156717" y="132912"/>
                </a:lnTo>
                <a:lnTo>
                  <a:pt x="126933" y="140170"/>
                </a:lnTo>
                <a:close/>
              </a:path>
            </a:pathLst>
          </a:custGeom>
          <a:ln w="38100">
            <a:solidFill>
              <a:srgbClr val="0E2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674677" y="3703320"/>
            <a:ext cx="480695" cy="927100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88</a:t>
            </a:r>
            <a:endParaRPr sz="2000">
              <a:latin typeface="Tahoma"/>
              <a:cs typeface="Tahoma"/>
            </a:endParaRPr>
          </a:p>
          <a:p>
            <a:pPr marL="190500">
              <a:lnSpc>
                <a:spcPct val="100000"/>
              </a:lnSpc>
              <a:spcBef>
                <a:spcPts val="1150"/>
              </a:spcBef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62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72952" y="4270044"/>
            <a:ext cx="7245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37D142"/>
                </a:solidFill>
                <a:latin typeface="Times New Roman"/>
                <a:cs typeface="Times New Roman"/>
              </a:rPr>
              <a:t>≤ </a:t>
            </a: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31</a:t>
            </a:r>
            <a:r>
              <a:rPr sz="2000" spc="-100" dirty="0">
                <a:solidFill>
                  <a:srgbClr val="37D142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7D142"/>
                </a:solidFill>
                <a:latin typeface="Times New Roman"/>
                <a:cs typeface="Times New Roman"/>
              </a:rPr>
              <a:t>≤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429000" y="2438400"/>
            <a:ext cx="457200" cy="382905"/>
          </a:xfrm>
          <a:custGeom>
            <a:avLst/>
            <a:gdLst/>
            <a:ahLst/>
            <a:cxnLst/>
            <a:rect l="l" t="t" r="r" b="b"/>
            <a:pathLst>
              <a:path w="457200" h="382905">
                <a:moveTo>
                  <a:pt x="0" y="191287"/>
                </a:moveTo>
                <a:lnTo>
                  <a:pt x="6037" y="147425"/>
                </a:lnTo>
                <a:lnTo>
                  <a:pt x="23235" y="107161"/>
                </a:lnTo>
                <a:lnTo>
                  <a:pt x="50221" y="71644"/>
                </a:lnTo>
                <a:lnTo>
                  <a:pt x="85623" y="42021"/>
                </a:lnTo>
                <a:lnTo>
                  <a:pt x="128068" y="19441"/>
                </a:lnTo>
                <a:lnTo>
                  <a:pt x="176184" y="5051"/>
                </a:lnTo>
                <a:lnTo>
                  <a:pt x="228599" y="0"/>
                </a:lnTo>
                <a:lnTo>
                  <a:pt x="281015" y="5051"/>
                </a:lnTo>
                <a:lnTo>
                  <a:pt x="329131" y="19441"/>
                </a:lnTo>
                <a:lnTo>
                  <a:pt x="371576" y="42021"/>
                </a:lnTo>
                <a:lnTo>
                  <a:pt x="406978" y="71644"/>
                </a:lnTo>
                <a:lnTo>
                  <a:pt x="433964" y="107161"/>
                </a:lnTo>
                <a:lnTo>
                  <a:pt x="451162" y="147425"/>
                </a:lnTo>
                <a:lnTo>
                  <a:pt x="457200" y="191287"/>
                </a:lnTo>
                <a:lnTo>
                  <a:pt x="451162" y="235150"/>
                </a:lnTo>
                <a:lnTo>
                  <a:pt x="433964" y="275415"/>
                </a:lnTo>
                <a:lnTo>
                  <a:pt x="406978" y="310935"/>
                </a:lnTo>
                <a:lnTo>
                  <a:pt x="371576" y="340560"/>
                </a:lnTo>
                <a:lnTo>
                  <a:pt x="329131" y="363143"/>
                </a:lnTo>
                <a:lnTo>
                  <a:pt x="281015" y="377535"/>
                </a:lnTo>
                <a:lnTo>
                  <a:pt x="228600" y="382587"/>
                </a:lnTo>
                <a:lnTo>
                  <a:pt x="176184" y="377535"/>
                </a:lnTo>
                <a:lnTo>
                  <a:pt x="128068" y="363143"/>
                </a:lnTo>
                <a:lnTo>
                  <a:pt x="85623" y="340560"/>
                </a:lnTo>
                <a:lnTo>
                  <a:pt x="50221" y="310935"/>
                </a:lnTo>
                <a:lnTo>
                  <a:pt x="23235" y="275415"/>
                </a:lnTo>
                <a:lnTo>
                  <a:pt x="6037" y="235150"/>
                </a:lnTo>
                <a:lnTo>
                  <a:pt x="0" y="191287"/>
                </a:lnTo>
                <a:close/>
              </a:path>
            </a:pathLst>
          </a:custGeom>
          <a:ln w="38100">
            <a:solidFill>
              <a:srgbClr val="D84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158865" y="3995420"/>
            <a:ext cx="682625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81280" algn="r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98</a:t>
            </a:r>
            <a:endParaRPr sz="2000">
              <a:latin typeface="Tahoma"/>
              <a:cs typeface="Tahoma"/>
            </a:endParaRPr>
          </a:p>
          <a:p>
            <a:pPr marR="5080" algn="r">
              <a:lnSpc>
                <a:spcPct val="100000"/>
              </a:lnSpc>
              <a:spcBef>
                <a:spcPts val="1800"/>
              </a:spcBef>
            </a:pP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52</a:t>
            </a:r>
            <a:r>
              <a:rPr sz="2000" spc="75" dirty="0">
                <a:solidFill>
                  <a:srgbClr val="37D142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79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69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70515" y="924559"/>
            <a:ext cx="192278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Quick</a:t>
            </a:r>
            <a:r>
              <a:rPr spc="-55" dirty="0"/>
              <a:t> </a:t>
            </a:r>
            <a:r>
              <a:rPr spc="-5" dirty="0"/>
              <a:t>Sort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667000" y="2057400"/>
            <a:ext cx="457200" cy="914400"/>
            <a:chOff x="2667000" y="2057400"/>
            <a:chExt cx="457200" cy="914400"/>
          </a:xfrm>
        </p:grpSpPr>
        <p:sp>
          <p:nvSpPr>
            <p:cNvPr id="5" name="object 5"/>
            <p:cNvSpPr/>
            <p:nvPr/>
          </p:nvSpPr>
          <p:spPr>
            <a:xfrm>
              <a:off x="2748749" y="2057400"/>
              <a:ext cx="227088" cy="19081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667000" y="2269807"/>
              <a:ext cx="457200" cy="702310"/>
            </a:xfrm>
            <a:custGeom>
              <a:avLst/>
              <a:gdLst/>
              <a:ahLst/>
              <a:cxnLst/>
              <a:rect l="l" t="t" r="r" b="b"/>
              <a:pathLst>
                <a:path w="457200" h="702310">
                  <a:moveTo>
                    <a:pt x="457200" y="136753"/>
                  </a:moveTo>
                  <a:lnTo>
                    <a:pt x="454418" y="122656"/>
                  </a:lnTo>
                  <a:lnTo>
                    <a:pt x="426656" y="82257"/>
                  </a:lnTo>
                  <a:lnTo>
                    <a:pt x="423887" y="79679"/>
                  </a:lnTo>
                  <a:lnTo>
                    <a:pt x="423887" y="141439"/>
                  </a:lnTo>
                  <a:lnTo>
                    <a:pt x="415556" y="156006"/>
                  </a:lnTo>
                  <a:lnTo>
                    <a:pt x="381685" y="172453"/>
                  </a:lnTo>
                  <a:lnTo>
                    <a:pt x="342265" y="181838"/>
                  </a:lnTo>
                  <a:lnTo>
                    <a:pt x="319811" y="189623"/>
                  </a:lnTo>
                  <a:lnTo>
                    <a:pt x="305612" y="145046"/>
                  </a:lnTo>
                  <a:lnTo>
                    <a:pt x="302844" y="99974"/>
                  </a:lnTo>
                  <a:lnTo>
                    <a:pt x="286613" y="44030"/>
                  </a:lnTo>
                  <a:lnTo>
                    <a:pt x="361696" y="63004"/>
                  </a:lnTo>
                  <a:lnTo>
                    <a:pt x="418338" y="115608"/>
                  </a:lnTo>
                  <a:lnTo>
                    <a:pt x="423887" y="141439"/>
                  </a:lnTo>
                  <a:lnTo>
                    <a:pt x="423887" y="79679"/>
                  </a:lnTo>
                  <a:lnTo>
                    <a:pt x="373354" y="32473"/>
                  </a:lnTo>
                  <a:lnTo>
                    <a:pt x="336715" y="8509"/>
                  </a:lnTo>
                  <a:lnTo>
                    <a:pt x="294513" y="6159"/>
                  </a:lnTo>
                  <a:lnTo>
                    <a:pt x="274523" y="13208"/>
                  </a:lnTo>
                  <a:lnTo>
                    <a:pt x="274523" y="24333"/>
                  </a:lnTo>
                  <a:lnTo>
                    <a:pt x="266306" y="12179"/>
                  </a:lnTo>
                  <a:lnTo>
                    <a:pt x="223672" y="444"/>
                  </a:lnTo>
                  <a:lnTo>
                    <a:pt x="181597" y="5143"/>
                  </a:lnTo>
                  <a:lnTo>
                    <a:pt x="180809" y="6400"/>
                  </a:lnTo>
                  <a:lnTo>
                    <a:pt x="162687" y="0"/>
                  </a:lnTo>
                  <a:lnTo>
                    <a:pt x="120484" y="2349"/>
                  </a:lnTo>
                  <a:lnTo>
                    <a:pt x="83845" y="26314"/>
                  </a:lnTo>
                  <a:lnTo>
                    <a:pt x="30543" y="76098"/>
                  </a:lnTo>
                  <a:lnTo>
                    <a:pt x="2781" y="116497"/>
                  </a:lnTo>
                  <a:lnTo>
                    <a:pt x="0" y="130594"/>
                  </a:lnTo>
                  <a:lnTo>
                    <a:pt x="13881" y="156895"/>
                  </a:lnTo>
                  <a:lnTo>
                    <a:pt x="44424" y="168630"/>
                  </a:lnTo>
                  <a:lnTo>
                    <a:pt x="83845" y="182727"/>
                  </a:lnTo>
                  <a:lnTo>
                    <a:pt x="114935" y="189776"/>
                  </a:lnTo>
                  <a:lnTo>
                    <a:pt x="128816" y="201993"/>
                  </a:lnTo>
                  <a:lnTo>
                    <a:pt x="120484" y="218427"/>
                  </a:lnTo>
                  <a:lnTo>
                    <a:pt x="98285" y="237680"/>
                  </a:lnTo>
                  <a:lnTo>
                    <a:pt x="69964" y="240030"/>
                  </a:lnTo>
                  <a:lnTo>
                    <a:pt x="50533" y="232524"/>
                  </a:lnTo>
                  <a:lnTo>
                    <a:pt x="38862" y="240030"/>
                  </a:lnTo>
                  <a:lnTo>
                    <a:pt x="41643" y="249428"/>
                  </a:lnTo>
                  <a:lnTo>
                    <a:pt x="64401" y="256476"/>
                  </a:lnTo>
                  <a:lnTo>
                    <a:pt x="98285" y="256476"/>
                  </a:lnTo>
                  <a:lnTo>
                    <a:pt x="128816" y="249428"/>
                  </a:lnTo>
                  <a:lnTo>
                    <a:pt x="146024" y="240030"/>
                  </a:lnTo>
                  <a:lnTo>
                    <a:pt x="157137" y="223126"/>
                  </a:lnTo>
                  <a:lnTo>
                    <a:pt x="162687" y="204330"/>
                  </a:lnTo>
                  <a:lnTo>
                    <a:pt x="148805" y="187426"/>
                  </a:lnTo>
                  <a:lnTo>
                    <a:pt x="114935" y="175679"/>
                  </a:lnTo>
                  <a:lnTo>
                    <a:pt x="75514" y="166293"/>
                  </a:lnTo>
                  <a:lnTo>
                    <a:pt x="41643" y="149847"/>
                  </a:lnTo>
                  <a:lnTo>
                    <a:pt x="33312" y="135280"/>
                  </a:lnTo>
                  <a:lnTo>
                    <a:pt x="38862" y="109448"/>
                  </a:lnTo>
                  <a:lnTo>
                    <a:pt x="64401" y="76098"/>
                  </a:lnTo>
                  <a:lnTo>
                    <a:pt x="95504" y="56845"/>
                  </a:lnTo>
                  <a:lnTo>
                    <a:pt x="143256" y="42748"/>
                  </a:lnTo>
                  <a:lnTo>
                    <a:pt x="162445" y="39319"/>
                  </a:lnTo>
                  <a:lnTo>
                    <a:pt x="164985" y="74155"/>
                  </a:lnTo>
                  <a:lnTo>
                    <a:pt x="176060" y="135648"/>
                  </a:lnTo>
                  <a:lnTo>
                    <a:pt x="176060" y="190119"/>
                  </a:lnTo>
                  <a:lnTo>
                    <a:pt x="162217" y="237528"/>
                  </a:lnTo>
                  <a:lnTo>
                    <a:pt x="153911" y="263829"/>
                  </a:lnTo>
                  <a:lnTo>
                    <a:pt x="159448" y="287769"/>
                  </a:lnTo>
                  <a:lnTo>
                    <a:pt x="160489" y="288429"/>
                  </a:lnTo>
                  <a:lnTo>
                    <a:pt x="168021" y="406298"/>
                  </a:lnTo>
                  <a:lnTo>
                    <a:pt x="168021" y="437324"/>
                  </a:lnTo>
                  <a:lnTo>
                    <a:pt x="156895" y="494677"/>
                  </a:lnTo>
                  <a:lnTo>
                    <a:pt x="154114" y="561428"/>
                  </a:lnTo>
                  <a:lnTo>
                    <a:pt x="159677" y="594804"/>
                  </a:lnTo>
                  <a:lnTo>
                    <a:pt x="154114" y="613613"/>
                  </a:lnTo>
                  <a:lnTo>
                    <a:pt x="114630" y="642289"/>
                  </a:lnTo>
                  <a:lnTo>
                    <a:pt x="97383" y="678014"/>
                  </a:lnTo>
                  <a:lnTo>
                    <a:pt x="100723" y="689775"/>
                  </a:lnTo>
                  <a:lnTo>
                    <a:pt x="131318" y="701992"/>
                  </a:lnTo>
                  <a:lnTo>
                    <a:pt x="139649" y="696823"/>
                  </a:lnTo>
                  <a:lnTo>
                    <a:pt x="142989" y="675665"/>
                  </a:lnTo>
                  <a:lnTo>
                    <a:pt x="151333" y="644639"/>
                  </a:lnTo>
                  <a:lnTo>
                    <a:pt x="165239" y="630542"/>
                  </a:lnTo>
                  <a:lnTo>
                    <a:pt x="181927" y="621131"/>
                  </a:lnTo>
                  <a:lnTo>
                    <a:pt x="196380" y="608914"/>
                  </a:lnTo>
                  <a:lnTo>
                    <a:pt x="199161" y="599503"/>
                  </a:lnTo>
                  <a:lnTo>
                    <a:pt x="190817" y="587756"/>
                  </a:lnTo>
                  <a:lnTo>
                    <a:pt x="181927" y="580707"/>
                  </a:lnTo>
                  <a:lnTo>
                    <a:pt x="176364" y="551561"/>
                  </a:lnTo>
                  <a:lnTo>
                    <a:pt x="181927" y="491858"/>
                  </a:lnTo>
                  <a:lnTo>
                    <a:pt x="201942" y="423214"/>
                  </a:lnTo>
                  <a:lnTo>
                    <a:pt x="221411" y="368211"/>
                  </a:lnTo>
                  <a:lnTo>
                    <a:pt x="226669" y="315937"/>
                  </a:lnTo>
                  <a:lnTo>
                    <a:pt x="229209" y="316407"/>
                  </a:lnTo>
                  <a:lnTo>
                    <a:pt x="247942" y="316407"/>
                  </a:lnTo>
                  <a:lnTo>
                    <a:pt x="275793" y="394576"/>
                  </a:lnTo>
                  <a:lnTo>
                    <a:pt x="292430" y="449110"/>
                  </a:lnTo>
                  <a:lnTo>
                    <a:pt x="297980" y="496608"/>
                  </a:lnTo>
                  <a:lnTo>
                    <a:pt x="297980" y="534695"/>
                  </a:lnTo>
                  <a:lnTo>
                    <a:pt x="289661" y="563841"/>
                  </a:lnTo>
                  <a:lnTo>
                    <a:pt x="281343" y="573239"/>
                  </a:lnTo>
                  <a:lnTo>
                    <a:pt x="281343" y="582650"/>
                  </a:lnTo>
                  <a:lnTo>
                    <a:pt x="292430" y="597230"/>
                  </a:lnTo>
                  <a:lnTo>
                    <a:pt x="311835" y="601929"/>
                  </a:lnTo>
                  <a:lnTo>
                    <a:pt x="342900" y="601929"/>
                  </a:lnTo>
                  <a:lnTo>
                    <a:pt x="398907" y="613689"/>
                  </a:lnTo>
                  <a:lnTo>
                    <a:pt x="415544" y="630605"/>
                  </a:lnTo>
                  <a:lnTo>
                    <a:pt x="441058" y="620737"/>
                  </a:lnTo>
                  <a:lnTo>
                    <a:pt x="452145" y="597230"/>
                  </a:lnTo>
                  <a:lnTo>
                    <a:pt x="441058" y="587819"/>
                  </a:lnTo>
                  <a:lnTo>
                    <a:pt x="393357" y="582650"/>
                  </a:lnTo>
                  <a:lnTo>
                    <a:pt x="340118" y="582650"/>
                  </a:lnTo>
                  <a:lnTo>
                    <a:pt x="317385" y="580301"/>
                  </a:lnTo>
                  <a:lnTo>
                    <a:pt x="311835" y="566191"/>
                  </a:lnTo>
                  <a:lnTo>
                    <a:pt x="317385" y="539394"/>
                  </a:lnTo>
                  <a:lnTo>
                    <a:pt x="320713" y="494245"/>
                  </a:lnTo>
                  <a:lnTo>
                    <a:pt x="306298" y="378117"/>
                  </a:lnTo>
                  <a:lnTo>
                    <a:pt x="309067" y="320751"/>
                  </a:lnTo>
                  <a:lnTo>
                    <a:pt x="309067" y="301942"/>
                  </a:lnTo>
                  <a:lnTo>
                    <a:pt x="305549" y="277520"/>
                  </a:lnTo>
                  <a:lnTo>
                    <a:pt x="320116" y="251079"/>
                  </a:lnTo>
                  <a:lnTo>
                    <a:pt x="328383" y="255587"/>
                  </a:lnTo>
                  <a:lnTo>
                    <a:pt x="358927" y="262636"/>
                  </a:lnTo>
                  <a:lnTo>
                    <a:pt x="392785" y="262636"/>
                  </a:lnTo>
                  <a:lnTo>
                    <a:pt x="415556" y="255587"/>
                  </a:lnTo>
                  <a:lnTo>
                    <a:pt x="418338" y="246189"/>
                  </a:lnTo>
                  <a:lnTo>
                    <a:pt x="406679" y="238683"/>
                  </a:lnTo>
                  <a:lnTo>
                    <a:pt x="387235" y="246189"/>
                  </a:lnTo>
                  <a:lnTo>
                    <a:pt x="358927" y="243840"/>
                  </a:lnTo>
                  <a:lnTo>
                    <a:pt x="336715" y="224586"/>
                  </a:lnTo>
                  <a:lnTo>
                    <a:pt x="328383" y="208140"/>
                  </a:lnTo>
                  <a:lnTo>
                    <a:pt x="342265" y="195935"/>
                  </a:lnTo>
                  <a:lnTo>
                    <a:pt x="373354" y="188887"/>
                  </a:lnTo>
                  <a:lnTo>
                    <a:pt x="412775" y="174790"/>
                  </a:lnTo>
                  <a:lnTo>
                    <a:pt x="443318" y="163055"/>
                  </a:lnTo>
                  <a:lnTo>
                    <a:pt x="457200" y="136753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2856509" y="3825155"/>
            <a:ext cx="1646555" cy="1154430"/>
          </a:xfrm>
          <a:custGeom>
            <a:avLst/>
            <a:gdLst/>
            <a:ahLst/>
            <a:cxnLst/>
            <a:rect l="l" t="t" r="r" b="b"/>
            <a:pathLst>
              <a:path w="1646554" h="1154429">
                <a:moveTo>
                  <a:pt x="483590" y="54681"/>
                </a:moveTo>
                <a:lnTo>
                  <a:pt x="437434" y="68996"/>
                </a:lnTo>
                <a:lnTo>
                  <a:pt x="391112" y="86624"/>
                </a:lnTo>
                <a:lnTo>
                  <a:pt x="345170" y="107258"/>
                </a:lnTo>
                <a:lnTo>
                  <a:pt x="300151" y="130590"/>
                </a:lnTo>
                <a:lnTo>
                  <a:pt x="256599" y="156312"/>
                </a:lnTo>
                <a:lnTo>
                  <a:pt x="215058" y="184116"/>
                </a:lnTo>
                <a:lnTo>
                  <a:pt x="176072" y="213696"/>
                </a:lnTo>
                <a:lnTo>
                  <a:pt x="140185" y="244742"/>
                </a:lnTo>
                <a:lnTo>
                  <a:pt x="107940" y="276948"/>
                </a:lnTo>
                <a:lnTo>
                  <a:pt x="79881" y="310005"/>
                </a:lnTo>
                <a:lnTo>
                  <a:pt x="56553" y="343606"/>
                </a:lnTo>
                <a:lnTo>
                  <a:pt x="34398" y="388076"/>
                </a:lnTo>
                <a:lnTo>
                  <a:pt x="18305" y="437837"/>
                </a:lnTo>
                <a:lnTo>
                  <a:pt x="7634" y="491243"/>
                </a:lnTo>
                <a:lnTo>
                  <a:pt x="1746" y="546649"/>
                </a:lnTo>
                <a:lnTo>
                  <a:pt x="0" y="602408"/>
                </a:lnTo>
                <a:lnTo>
                  <a:pt x="1755" y="656873"/>
                </a:lnTo>
                <a:lnTo>
                  <a:pt x="6371" y="708398"/>
                </a:lnTo>
                <a:lnTo>
                  <a:pt x="13209" y="755337"/>
                </a:lnTo>
                <a:lnTo>
                  <a:pt x="21628" y="796043"/>
                </a:lnTo>
                <a:lnTo>
                  <a:pt x="36320" y="846888"/>
                </a:lnTo>
                <a:lnTo>
                  <a:pt x="55024" y="889530"/>
                </a:lnTo>
                <a:lnTo>
                  <a:pt x="80167" y="925822"/>
                </a:lnTo>
                <a:lnTo>
                  <a:pt x="114173" y="957616"/>
                </a:lnTo>
                <a:lnTo>
                  <a:pt x="159468" y="986764"/>
                </a:lnTo>
                <a:lnTo>
                  <a:pt x="218478" y="1015118"/>
                </a:lnTo>
                <a:lnTo>
                  <a:pt x="250955" y="1029276"/>
                </a:lnTo>
                <a:lnTo>
                  <a:pt x="286672" y="1044964"/>
                </a:lnTo>
                <a:lnTo>
                  <a:pt x="325371" y="1061571"/>
                </a:lnTo>
                <a:lnTo>
                  <a:pt x="366797" y="1078486"/>
                </a:lnTo>
                <a:lnTo>
                  <a:pt x="410694" y="1095097"/>
                </a:lnTo>
                <a:lnTo>
                  <a:pt x="456807" y="1110793"/>
                </a:lnTo>
                <a:lnTo>
                  <a:pt x="504879" y="1124964"/>
                </a:lnTo>
                <a:lnTo>
                  <a:pt x="554655" y="1136997"/>
                </a:lnTo>
                <a:lnTo>
                  <a:pt x="605879" y="1146281"/>
                </a:lnTo>
                <a:lnTo>
                  <a:pt x="658296" y="1152206"/>
                </a:lnTo>
                <a:lnTo>
                  <a:pt x="711648" y="1154159"/>
                </a:lnTo>
                <a:lnTo>
                  <a:pt x="765682" y="1151529"/>
                </a:lnTo>
                <a:lnTo>
                  <a:pt x="820140" y="1143706"/>
                </a:lnTo>
                <a:lnTo>
                  <a:pt x="857852" y="1135817"/>
                </a:lnTo>
                <a:lnTo>
                  <a:pt x="899617" y="1126028"/>
                </a:lnTo>
                <a:lnTo>
                  <a:pt x="944820" y="1114438"/>
                </a:lnTo>
                <a:lnTo>
                  <a:pt x="992848" y="1101148"/>
                </a:lnTo>
                <a:lnTo>
                  <a:pt x="1043085" y="1086258"/>
                </a:lnTo>
                <a:lnTo>
                  <a:pt x="1094918" y="1069868"/>
                </a:lnTo>
                <a:lnTo>
                  <a:pt x="1147731" y="1052078"/>
                </a:lnTo>
                <a:lnTo>
                  <a:pt x="1200912" y="1032987"/>
                </a:lnTo>
                <a:lnTo>
                  <a:pt x="1253845" y="1012697"/>
                </a:lnTo>
                <a:lnTo>
                  <a:pt x="1305915" y="991306"/>
                </a:lnTo>
                <a:lnTo>
                  <a:pt x="1356510" y="968915"/>
                </a:lnTo>
                <a:lnTo>
                  <a:pt x="1405013" y="945624"/>
                </a:lnTo>
                <a:lnTo>
                  <a:pt x="1450812" y="921533"/>
                </a:lnTo>
                <a:lnTo>
                  <a:pt x="1493291" y="896742"/>
                </a:lnTo>
                <a:lnTo>
                  <a:pt x="1531836" y="871351"/>
                </a:lnTo>
                <a:lnTo>
                  <a:pt x="1565834" y="845459"/>
                </a:lnTo>
                <a:lnTo>
                  <a:pt x="1594668" y="819168"/>
                </a:lnTo>
                <a:lnTo>
                  <a:pt x="1634392" y="765785"/>
                </a:lnTo>
                <a:lnTo>
                  <a:pt x="1646543" y="708987"/>
                </a:lnTo>
                <a:lnTo>
                  <a:pt x="1641888" y="676187"/>
                </a:lnTo>
                <a:lnTo>
                  <a:pt x="1613593" y="603522"/>
                </a:lnTo>
                <a:lnTo>
                  <a:pt x="1591179" y="564464"/>
                </a:lnTo>
                <a:lnTo>
                  <a:pt x="1564069" y="524129"/>
                </a:lnTo>
                <a:lnTo>
                  <a:pt x="1532876" y="482920"/>
                </a:lnTo>
                <a:lnTo>
                  <a:pt x="1498213" y="441242"/>
                </a:lnTo>
                <a:lnTo>
                  <a:pt x="1460692" y="399499"/>
                </a:lnTo>
                <a:lnTo>
                  <a:pt x="1420926" y="358095"/>
                </a:lnTo>
                <a:lnTo>
                  <a:pt x="1379526" y="317433"/>
                </a:lnTo>
                <a:lnTo>
                  <a:pt x="1337106" y="277919"/>
                </a:lnTo>
                <a:lnTo>
                  <a:pt x="1294277" y="239956"/>
                </a:lnTo>
                <a:lnTo>
                  <a:pt x="1251653" y="203948"/>
                </a:lnTo>
                <a:lnTo>
                  <a:pt x="1209845" y="170299"/>
                </a:lnTo>
                <a:lnTo>
                  <a:pt x="1169466" y="139414"/>
                </a:lnTo>
                <a:lnTo>
                  <a:pt x="1131129" y="111697"/>
                </a:lnTo>
                <a:lnTo>
                  <a:pt x="1095445" y="87551"/>
                </a:lnTo>
                <a:lnTo>
                  <a:pt x="1063028" y="67381"/>
                </a:lnTo>
                <a:lnTo>
                  <a:pt x="1014155" y="42241"/>
                </a:lnTo>
                <a:lnTo>
                  <a:pt x="964544" y="23556"/>
                </a:lnTo>
                <a:lnTo>
                  <a:pt x="914448" y="10702"/>
                </a:lnTo>
                <a:lnTo>
                  <a:pt x="864120" y="3058"/>
                </a:lnTo>
                <a:lnTo>
                  <a:pt x="813814" y="0"/>
                </a:lnTo>
                <a:lnTo>
                  <a:pt x="763784" y="904"/>
                </a:lnTo>
                <a:lnTo>
                  <a:pt x="714283" y="5150"/>
                </a:lnTo>
                <a:lnTo>
                  <a:pt x="665565" y="12112"/>
                </a:lnTo>
                <a:lnTo>
                  <a:pt x="617883" y="21170"/>
                </a:lnTo>
                <a:lnTo>
                  <a:pt x="571491" y="31699"/>
                </a:lnTo>
                <a:lnTo>
                  <a:pt x="526642" y="43077"/>
                </a:lnTo>
                <a:lnTo>
                  <a:pt x="483590" y="54681"/>
                </a:lnTo>
                <a:close/>
              </a:path>
            </a:pathLst>
          </a:custGeom>
          <a:ln w="38100">
            <a:solidFill>
              <a:srgbClr val="0E2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76600" y="2438400"/>
            <a:ext cx="457200" cy="382905"/>
          </a:xfrm>
          <a:custGeom>
            <a:avLst/>
            <a:gdLst/>
            <a:ahLst/>
            <a:cxnLst/>
            <a:rect l="l" t="t" r="r" b="b"/>
            <a:pathLst>
              <a:path w="457200" h="382905">
                <a:moveTo>
                  <a:pt x="0" y="191287"/>
                </a:moveTo>
                <a:lnTo>
                  <a:pt x="6037" y="147425"/>
                </a:lnTo>
                <a:lnTo>
                  <a:pt x="23235" y="107161"/>
                </a:lnTo>
                <a:lnTo>
                  <a:pt x="50221" y="71644"/>
                </a:lnTo>
                <a:lnTo>
                  <a:pt x="85623" y="42021"/>
                </a:lnTo>
                <a:lnTo>
                  <a:pt x="128068" y="19441"/>
                </a:lnTo>
                <a:lnTo>
                  <a:pt x="176184" y="5051"/>
                </a:lnTo>
                <a:lnTo>
                  <a:pt x="228599" y="0"/>
                </a:lnTo>
                <a:lnTo>
                  <a:pt x="281015" y="5051"/>
                </a:lnTo>
                <a:lnTo>
                  <a:pt x="329131" y="19441"/>
                </a:lnTo>
                <a:lnTo>
                  <a:pt x="371576" y="42021"/>
                </a:lnTo>
                <a:lnTo>
                  <a:pt x="406978" y="71644"/>
                </a:lnTo>
                <a:lnTo>
                  <a:pt x="433964" y="107161"/>
                </a:lnTo>
                <a:lnTo>
                  <a:pt x="451162" y="147425"/>
                </a:lnTo>
                <a:lnTo>
                  <a:pt x="457200" y="191287"/>
                </a:lnTo>
                <a:lnTo>
                  <a:pt x="451162" y="235150"/>
                </a:lnTo>
                <a:lnTo>
                  <a:pt x="433964" y="275415"/>
                </a:lnTo>
                <a:lnTo>
                  <a:pt x="406978" y="310935"/>
                </a:lnTo>
                <a:lnTo>
                  <a:pt x="371576" y="340560"/>
                </a:lnTo>
                <a:lnTo>
                  <a:pt x="329131" y="363143"/>
                </a:lnTo>
                <a:lnTo>
                  <a:pt x="281015" y="377535"/>
                </a:lnTo>
                <a:lnTo>
                  <a:pt x="228600" y="382587"/>
                </a:lnTo>
                <a:lnTo>
                  <a:pt x="176184" y="377535"/>
                </a:lnTo>
                <a:lnTo>
                  <a:pt x="128068" y="363143"/>
                </a:lnTo>
                <a:lnTo>
                  <a:pt x="85623" y="340560"/>
                </a:lnTo>
                <a:lnTo>
                  <a:pt x="50221" y="310935"/>
                </a:lnTo>
                <a:lnTo>
                  <a:pt x="23235" y="275415"/>
                </a:lnTo>
                <a:lnTo>
                  <a:pt x="6037" y="235150"/>
                </a:lnTo>
                <a:lnTo>
                  <a:pt x="0" y="191287"/>
                </a:lnTo>
                <a:close/>
              </a:path>
            </a:pathLst>
          </a:custGeom>
          <a:ln w="38100">
            <a:solidFill>
              <a:srgbClr val="D84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200400" y="2362200"/>
            <a:ext cx="3733800" cy="533400"/>
          </a:xfrm>
          <a:prstGeom prst="rect">
            <a:avLst/>
          </a:prstGeom>
          <a:solidFill>
            <a:srgbClr val="FCF2DA"/>
          </a:solidFill>
          <a:ln w="38100">
            <a:solidFill>
              <a:srgbClr val="0E2FFF"/>
            </a:solidFill>
          </a:ln>
        </p:spPr>
        <p:txBody>
          <a:bodyPr vert="horz" wrap="square" lIns="0" tIns="121920" rIns="0" bIns="0" rtlCol="0">
            <a:spAutoFit/>
          </a:bodyPr>
          <a:lstStyle/>
          <a:p>
            <a:pPr marL="145415">
              <a:lnSpc>
                <a:spcPct val="100000"/>
              </a:lnSpc>
              <a:spcBef>
                <a:spcPts val="960"/>
              </a:spcBef>
            </a:pPr>
            <a:r>
              <a:rPr sz="2000" spc="-5" dirty="0">
                <a:solidFill>
                  <a:srgbClr val="37D142"/>
                </a:solidFill>
                <a:latin typeface="Tahoma"/>
                <a:cs typeface="Tahoma"/>
              </a:rPr>
              <a:t>14,23,25,30,31,52,62,79,88,98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70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672965" y="4270057"/>
            <a:ext cx="40906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41069" algn="l"/>
              </a:tabLst>
            </a:pPr>
            <a:r>
              <a:rPr sz="2000" dirty="0">
                <a:solidFill>
                  <a:srgbClr val="37D142"/>
                </a:solidFill>
                <a:latin typeface="Times New Roman"/>
                <a:cs typeface="Times New Roman"/>
              </a:rPr>
              <a:t>≤</a:t>
            </a:r>
            <a:r>
              <a:rPr sz="2000" spc="-5" dirty="0">
                <a:solidFill>
                  <a:srgbClr val="37D142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7D142"/>
                </a:solidFill>
                <a:latin typeface="Tahoma"/>
                <a:cs typeface="Tahoma"/>
              </a:rPr>
              <a:t>14 </a:t>
            </a:r>
            <a:r>
              <a:rPr sz="2000" dirty="0">
                <a:solidFill>
                  <a:srgbClr val="37D142"/>
                </a:solidFill>
                <a:latin typeface="Times New Roman"/>
                <a:cs typeface="Times New Roman"/>
              </a:rPr>
              <a:t>≤	</a:t>
            </a:r>
            <a:r>
              <a:rPr sz="3000" spc="-7" baseline="1388" dirty="0">
                <a:solidFill>
                  <a:srgbClr val="37D142"/>
                </a:solidFill>
                <a:latin typeface="Tahoma"/>
                <a:cs typeface="Tahoma"/>
              </a:rPr>
              <a:t>23,25,30,31,52,62,79,88,98</a:t>
            </a:r>
            <a:endParaRPr sz="3000" baseline="1388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93339" y="5367020"/>
            <a:ext cx="6155690" cy="995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82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If the </a:t>
            </a:r>
            <a:r>
              <a:rPr sz="3200" spc="-5" dirty="0">
                <a:latin typeface="Times New Roman"/>
                <a:cs typeface="Times New Roman"/>
              </a:rPr>
              <a:t>list is </a:t>
            </a:r>
            <a:r>
              <a:rPr sz="3200" dirty="0">
                <a:latin typeface="Times New Roman"/>
                <a:cs typeface="Times New Roman"/>
              </a:rPr>
              <a:t>already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sorted,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ts val="3820"/>
              </a:lnSpc>
            </a:pPr>
            <a:r>
              <a:rPr sz="3200" dirty="0">
                <a:latin typeface="Times New Roman"/>
                <a:cs typeface="Times New Roman"/>
              </a:rPr>
              <a:t>then the </a:t>
            </a:r>
            <a:r>
              <a:rPr sz="3200" spc="-5" dirty="0">
                <a:latin typeface="Times New Roman"/>
                <a:cs typeface="Times New Roman"/>
              </a:rPr>
              <a:t>list is worst </a:t>
            </a:r>
            <a:r>
              <a:rPr sz="3200" dirty="0">
                <a:latin typeface="Times New Roman"/>
                <a:cs typeface="Times New Roman"/>
              </a:rPr>
              <a:t>case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unbalanced.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51925" y="758520"/>
            <a:ext cx="556006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35505" algn="l"/>
              </a:tabLst>
            </a:pPr>
            <a:r>
              <a:rPr dirty="0"/>
              <a:t>QuickSort:	</a:t>
            </a:r>
            <a:r>
              <a:rPr spc="-5" dirty="0"/>
              <a:t>Choosing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Pivot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71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3139" y="1473403"/>
            <a:ext cx="5186680" cy="1951355"/>
          </a:xfrm>
          <a:prstGeom prst="rect">
            <a:avLst/>
          </a:prstGeom>
        </p:spPr>
        <p:txBody>
          <a:bodyPr vert="horz" wrap="square" lIns="0" tIns="19812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56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Common choices are:</a:t>
            </a:r>
            <a:endParaRPr sz="24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1220"/>
              </a:spcBef>
              <a:buClr>
                <a:srgbClr val="2F5C00"/>
              </a:buClr>
              <a:buFont typeface="Wingdings"/>
              <a:buChar char=""/>
              <a:tabLst>
                <a:tab pos="755650" algn="l"/>
              </a:tabLst>
            </a:pPr>
            <a:r>
              <a:rPr sz="2000" spc="-5" dirty="0">
                <a:latin typeface="Arial"/>
                <a:cs typeface="Arial"/>
              </a:rPr>
              <a:t>random </a:t>
            </a:r>
            <a:r>
              <a:rPr sz="2000" spc="-10" dirty="0">
                <a:latin typeface="Arial"/>
                <a:cs typeface="Arial"/>
              </a:rPr>
              <a:t>element</a:t>
            </a:r>
            <a:endParaRPr sz="20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Clr>
                <a:srgbClr val="2F5C00"/>
              </a:buClr>
              <a:buFont typeface="Wingdings"/>
              <a:buChar char=""/>
              <a:tabLst>
                <a:tab pos="755650" algn="l"/>
              </a:tabLst>
            </a:pPr>
            <a:r>
              <a:rPr sz="2000" spc="-5" dirty="0">
                <a:latin typeface="Arial"/>
                <a:cs typeface="Arial"/>
              </a:rPr>
              <a:t>middle </a:t>
            </a:r>
            <a:r>
              <a:rPr sz="2000" spc="-10" dirty="0">
                <a:latin typeface="Arial"/>
                <a:cs typeface="Arial"/>
              </a:rPr>
              <a:t>element</a:t>
            </a:r>
            <a:endParaRPr sz="20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Clr>
                <a:srgbClr val="2F5C00"/>
              </a:buClr>
              <a:buFont typeface="Wingdings"/>
              <a:buChar char=""/>
              <a:tabLst>
                <a:tab pos="755650" algn="l"/>
              </a:tabLst>
            </a:pPr>
            <a:r>
              <a:rPr sz="2000" spc="-5" dirty="0">
                <a:latin typeface="Arial"/>
                <a:cs typeface="Arial"/>
              </a:rPr>
              <a:t>median of first, middle and last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element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49016" y="758520"/>
            <a:ext cx="456438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Best-Case Running</a:t>
            </a:r>
            <a:r>
              <a:rPr spc="-85" dirty="0"/>
              <a:t> </a:t>
            </a:r>
            <a:r>
              <a:rPr spc="-5" dirty="0"/>
              <a:t>Time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97939" y="1643659"/>
            <a:ext cx="7750809" cy="3076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941300"/>
              </a:buClr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spc="-5" dirty="0">
                <a:latin typeface="Arial"/>
                <a:cs typeface="Arial"/>
              </a:rPr>
              <a:t>The best case for quick-sort occurs when each pivot partitions the  array in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half.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Clr>
                <a:srgbClr val="941300"/>
              </a:buClr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spc="-5" dirty="0">
                <a:latin typeface="Arial"/>
                <a:cs typeface="Arial"/>
              </a:rPr>
              <a:t>Then there are O(log n)</a:t>
            </a:r>
            <a:r>
              <a:rPr sz="2000" spc="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levels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Clr>
                <a:srgbClr val="941300"/>
              </a:buClr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spc="-5" dirty="0">
                <a:latin typeface="Arial"/>
                <a:cs typeface="Arial"/>
              </a:rPr>
              <a:t>There is O(n) work at each</a:t>
            </a:r>
            <a:r>
              <a:rPr sz="2000" spc="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level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Clr>
                <a:srgbClr val="941300"/>
              </a:buClr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spc="-5" dirty="0">
                <a:latin typeface="Arial"/>
                <a:cs typeface="Arial"/>
              </a:rPr>
              <a:t>Thus total running time is O(n log</a:t>
            </a:r>
            <a:r>
              <a:rPr sz="2000" spc="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n)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800">
              <a:latin typeface="Arial"/>
              <a:cs typeface="Arial"/>
            </a:endParaRPr>
          </a:p>
          <a:p>
            <a:pPr marL="1654810">
              <a:lnSpc>
                <a:spcPct val="100000"/>
              </a:lnSpc>
              <a:tabLst>
                <a:tab pos="2408555" algn="l"/>
              </a:tabLst>
            </a:pPr>
            <a:r>
              <a:rPr sz="1800" spc="-5" dirty="0">
                <a:latin typeface="Tahoma"/>
                <a:cs typeface="Tahoma"/>
              </a:rPr>
              <a:t>depth	</a:t>
            </a:r>
            <a:r>
              <a:rPr sz="1800" dirty="0">
                <a:latin typeface="Tahoma"/>
                <a:cs typeface="Tahoma"/>
              </a:rPr>
              <a:t>time</a:t>
            </a:r>
            <a:endParaRPr sz="1800">
              <a:latin typeface="Tahoma"/>
              <a:cs typeface="Tahoma"/>
            </a:endParaRPr>
          </a:p>
          <a:p>
            <a:pPr marL="1886585">
              <a:lnSpc>
                <a:spcPct val="100000"/>
              </a:lnSpc>
              <a:spcBef>
                <a:spcPts val="865"/>
              </a:spcBef>
              <a:tabLst>
                <a:tab pos="2565400" algn="l"/>
              </a:tabLst>
            </a:pPr>
            <a:r>
              <a:rPr sz="1800" dirty="0">
                <a:latin typeface="Times New Roman"/>
                <a:cs typeface="Times New Roman"/>
              </a:rPr>
              <a:t>0	</a:t>
            </a:r>
            <a:r>
              <a:rPr sz="1800" b="1" i="1" spc="-5" dirty="0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90786" y="4906063"/>
            <a:ext cx="1064260" cy="1649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675">
              <a:lnSpc>
                <a:spcPct val="100000"/>
              </a:lnSpc>
              <a:spcBef>
                <a:spcPts val="100"/>
              </a:spcBef>
              <a:tabLst>
                <a:tab pos="872490" algn="l"/>
              </a:tabLst>
            </a:pPr>
            <a:r>
              <a:rPr sz="1800" dirty="0">
                <a:latin typeface="Times New Roman"/>
                <a:cs typeface="Times New Roman"/>
              </a:rPr>
              <a:t>1	</a:t>
            </a:r>
            <a:r>
              <a:rPr sz="1800" b="1" i="1" spc="-5" dirty="0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  <a:p>
            <a:pPr marL="136525">
              <a:lnSpc>
                <a:spcPct val="100000"/>
              </a:lnSpc>
              <a:spcBef>
                <a:spcPts val="1530"/>
              </a:spcBef>
              <a:tabLst>
                <a:tab pos="822325" algn="l"/>
              </a:tabLst>
            </a:pPr>
            <a:r>
              <a:rPr sz="1800" b="1" i="1" dirty="0">
                <a:latin typeface="Times New Roman"/>
                <a:cs typeface="Times New Roman"/>
              </a:rPr>
              <a:t>…	…</a:t>
            </a:r>
            <a:endParaRPr sz="1800">
              <a:latin typeface="Times New Roman"/>
              <a:cs typeface="Times New Roman"/>
            </a:endParaRPr>
          </a:p>
          <a:p>
            <a:pPr marL="219075">
              <a:lnSpc>
                <a:spcPct val="100000"/>
              </a:lnSpc>
              <a:spcBef>
                <a:spcPts val="155"/>
              </a:spcBef>
              <a:tabLst>
                <a:tab pos="872490" algn="l"/>
              </a:tabLst>
            </a:pPr>
            <a:r>
              <a:rPr sz="1800" b="1" i="1" dirty="0">
                <a:latin typeface="Times New Roman"/>
                <a:cs typeface="Times New Roman"/>
              </a:rPr>
              <a:t>i	</a:t>
            </a:r>
            <a:r>
              <a:rPr sz="1800" b="1" i="1" spc="-5" dirty="0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  <a:p>
            <a:pPr marL="136525">
              <a:lnSpc>
                <a:spcPct val="100000"/>
              </a:lnSpc>
              <a:spcBef>
                <a:spcPts val="5"/>
              </a:spcBef>
              <a:tabLst>
                <a:tab pos="822325" algn="l"/>
              </a:tabLst>
            </a:pPr>
            <a:r>
              <a:rPr sz="1800" b="1" i="1" dirty="0">
                <a:latin typeface="Times New Roman"/>
                <a:cs typeface="Times New Roman"/>
              </a:rPr>
              <a:t>…	…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  <a:tabLst>
                <a:tab pos="872490" algn="l"/>
              </a:tabLst>
            </a:pPr>
            <a:r>
              <a:rPr sz="1800" b="1" i="1" dirty="0">
                <a:latin typeface="Times New Roman"/>
                <a:cs typeface="Times New Roman"/>
              </a:rPr>
              <a:t>log </a:t>
            </a:r>
            <a:r>
              <a:rPr sz="1800" b="1" i="1" spc="-5" dirty="0">
                <a:latin typeface="Times New Roman"/>
                <a:cs typeface="Times New Roman"/>
              </a:rPr>
              <a:t>n	n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213337" y="4497933"/>
            <a:ext cx="3348354" cy="754380"/>
            <a:chOff x="5213337" y="4497933"/>
            <a:chExt cx="3348354" cy="754380"/>
          </a:xfrm>
        </p:grpSpPr>
        <p:sp>
          <p:nvSpPr>
            <p:cNvPr id="7" name="object 7"/>
            <p:cNvSpPr/>
            <p:nvPr/>
          </p:nvSpPr>
          <p:spPr>
            <a:xfrm>
              <a:off x="7377112" y="5028171"/>
              <a:ext cx="1177925" cy="217804"/>
            </a:xfrm>
            <a:custGeom>
              <a:avLst/>
              <a:gdLst/>
              <a:ahLst/>
              <a:cxnLst/>
              <a:rect l="l" t="t" r="r" b="b"/>
              <a:pathLst>
                <a:path w="1177925" h="217804">
                  <a:moveTo>
                    <a:pt x="0" y="36245"/>
                  </a:moveTo>
                  <a:lnTo>
                    <a:pt x="0" y="181241"/>
                  </a:lnTo>
                  <a:lnTo>
                    <a:pt x="22138" y="214638"/>
                  </a:lnTo>
                  <a:lnTo>
                    <a:pt x="36245" y="217487"/>
                  </a:lnTo>
                  <a:lnTo>
                    <a:pt x="1141679" y="217487"/>
                  </a:lnTo>
                  <a:lnTo>
                    <a:pt x="1155786" y="214638"/>
                  </a:lnTo>
                  <a:lnTo>
                    <a:pt x="1167307" y="206870"/>
                  </a:lnTo>
                  <a:lnTo>
                    <a:pt x="1175076" y="195349"/>
                  </a:lnTo>
                  <a:lnTo>
                    <a:pt x="1177925" y="181241"/>
                  </a:lnTo>
                  <a:lnTo>
                    <a:pt x="1177925" y="36245"/>
                  </a:lnTo>
                  <a:lnTo>
                    <a:pt x="1175076" y="22138"/>
                  </a:lnTo>
                  <a:lnTo>
                    <a:pt x="1167307" y="10617"/>
                  </a:lnTo>
                  <a:lnTo>
                    <a:pt x="1155786" y="2848"/>
                  </a:lnTo>
                  <a:lnTo>
                    <a:pt x="1141679" y="0"/>
                  </a:lnTo>
                  <a:lnTo>
                    <a:pt x="36245" y="0"/>
                  </a:lnTo>
                  <a:lnTo>
                    <a:pt x="22138" y="2848"/>
                  </a:lnTo>
                  <a:lnTo>
                    <a:pt x="10617" y="10617"/>
                  </a:lnTo>
                  <a:lnTo>
                    <a:pt x="2848" y="22138"/>
                  </a:lnTo>
                  <a:lnTo>
                    <a:pt x="0" y="36245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377099" y="5028158"/>
              <a:ext cx="1177925" cy="217804"/>
            </a:xfrm>
            <a:custGeom>
              <a:avLst/>
              <a:gdLst/>
              <a:ahLst/>
              <a:cxnLst/>
              <a:rect l="l" t="t" r="r" b="b"/>
              <a:pathLst>
                <a:path w="1177925" h="217804">
                  <a:moveTo>
                    <a:pt x="0" y="36245"/>
                  </a:moveTo>
                  <a:lnTo>
                    <a:pt x="22138" y="2848"/>
                  </a:lnTo>
                  <a:lnTo>
                    <a:pt x="1141679" y="0"/>
                  </a:lnTo>
                  <a:lnTo>
                    <a:pt x="1155786" y="2848"/>
                  </a:lnTo>
                  <a:lnTo>
                    <a:pt x="1167307" y="10617"/>
                  </a:lnTo>
                  <a:lnTo>
                    <a:pt x="1175076" y="22138"/>
                  </a:lnTo>
                  <a:lnTo>
                    <a:pt x="1177925" y="36245"/>
                  </a:lnTo>
                  <a:lnTo>
                    <a:pt x="1177925" y="181241"/>
                  </a:lnTo>
                  <a:lnTo>
                    <a:pt x="1155786" y="214638"/>
                  </a:lnTo>
                  <a:lnTo>
                    <a:pt x="36245" y="217487"/>
                  </a:lnTo>
                  <a:lnTo>
                    <a:pt x="22138" y="214638"/>
                  </a:lnTo>
                  <a:lnTo>
                    <a:pt x="10617" y="206870"/>
                  </a:lnTo>
                  <a:lnTo>
                    <a:pt x="2848" y="195349"/>
                  </a:lnTo>
                  <a:lnTo>
                    <a:pt x="0" y="181241"/>
                  </a:lnTo>
                  <a:lnTo>
                    <a:pt x="0" y="3624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540374" y="4504296"/>
              <a:ext cx="2482850" cy="219075"/>
            </a:xfrm>
            <a:custGeom>
              <a:avLst/>
              <a:gdLst/>
              <a:ahLst/>
              <a:cxnLst/>
              <a:rect l="l" t="t" r="r" b="b"/>
              <a:pathLst>
                <a:path w="2482850" h="219075">
                  <a:moveTo>
                    <a:pt x="0" y="36512"/>
                  </a:moveTo>
                  <a:lnTo>
                    <a:pt x="0" y="182562"/>
                  </a:lnTo>
                  <a:lnTo>
                    <a:pt x="22299" y="216205"/>
                  </a:lnTo>
                  <a:lnTo>
                    <a:pt x="36512" y="219075"/>
                  </a:lnTo>
                  <a:lnTo>
                    <a:pt x="2446337" y="219075"/>
                  </a:lnTo>
                  <a:lnTo>
                    <a:pt x="2460550" y="216205"/>
                  </a:lnTo>
                  <a:lnTo>
                    <a:pt x="2472156" y="208381"/>
                  </a:lnTo>
                  <a:lnTo>
                    <a:pt x="2479980" y="196775"/>
                  </a:lnTo>
                  <a:lnTo>
                    <a:pt x="2482850" y="182562"/>
                  </a:lnTo>
                  <a:lnTo>
                    <a:pt x="2482850" y="36512"/>
                  </a:lnTo>
                  <a:lnTo>
                    <a:pt x="2479980" y="22299"/>
                  </a:lnTo>
                  <a:lnTo>
                    <a:pt x="2472156" y="10693"/>
                  </a:lnTo>
                  <a:lnTo>
                    <a:pt x="2460550" y="2869"/>
                  </a:lnTo>
                  <a:lnTo>
                    <a:pt x="2446337" y="0"/>
                  </a:lnTo>
                  <a:lnTo>
                    <a:pt x="36512" y="0"/>
                  </a:lnTo>
                  <a:lnTo>
                    <a:pt x="22299" y="2869"/>
                  </a:lnTo>
                  <a:lnTo>
                    <a:pt x="10693" y="10693"/>
                  </a:lnTo>
                  <a:lnTo>
                    <a:pt x="2869" y="22299"/>
                  </a:lnTo>
                  <a:lnTo>
                    <a:pt x="0" y="36512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540362" y="4504283"/>
              <a:ext cx="2482850" cy="219075"/>
            </a:xfrm>
            <a:custGeom>
              <a:avLst/>
              <a:gdLst/>
              <a:ahLst/>
              <a:cxnLst/>
              <a:rect l="l" t="t" r="r" b="b"/>
              <a:pathLst>
                <a:path w="2482850" h="219075">
                  <a:moveTo>
                    <a:pt x="0" y="36512"/>
                  </a:moveTo>
                  <a:lnTo>
                    <a:pt x="22299" y="2869"/>
                  </a:lnTo>
                  <a:lnTo>
                    <a:pt x="2446337" y="0"/>
                  </a:lnTo>
                  <a:lnTo>
                    <a:pt x="2460545" y="2869"/>
                  </a:lnTo>
                  <a:lnTo>
                    <a:pt x="2472151" y="10693"/>
                  </a:lnTo>
                  <a:lnTo>
                    <a:pt x="2479979" y="22299"/>
                  </a:lnTo>
                  <a:lnTo>
                    <a:pt x="2482850" y="36512"/>
                  </a:lnTo>
                  <a:lnTo>
                    <a:pt x="2482850" y="182562"/>
                  </a:lnTo>
                  <a:lnTo>
                    <a:pt x="2460545" y="216205"/>
                  </a:lnTo>
                  <a:lnTo>
                    <a:pt x="36512" y="219075"/>
                  </a:lnTo>
                  <a:lnTo>
                    <a:pt x="22299" y="216205"/>
                  </a:lnTo>
                  <a:lnTo>
                    <a:pt x="10693" y="208381"/>
                  </a:lnTo>
                  <a:lnTo>
                    <a:pt x="2869" y="196775"/>
                  </a:lnTo>
                  <a:lnTo>
                    <a:pt x="0" y="182562"/>
                  </a:lnTo>
                  <a:lnTo>
                    <a:pt x="0" y="3651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629262" y="4723358"/>
              <a:ext cx="1152525" cy="304800"/>
            </a:xfrm>
            <a:custGeom>
              <a:avLst/>
              <a:gdLst/>
              <a:ahLst/>
              <a:cxnLst/>
              <a:rect l="l" t="t" r="r" b="b"/>
              <a:pathLst>
                <a:path w="1152525" h="304800">
                  <a:moveTo>
                    <a:pt x="0" y="304800"/>
                  </a:moveTo>
                  <a:lnTo>
                    <a:pt x="115252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781787" y="4723358"/>
              <a:ext cx="1184275" cy="304800"/>
            </a:xfrm>
            <a:custGeom>
              <a:avLst/>
              <a:gdLst/>
              <a:ahLst/>
              <a:cxnLst/>
              <a:rect l="l" t="t" r="r" b="b"/>
              <a:pathLst>
                <a:path w="1184275" h="304800">
                  <a:moveTo>
                    <a:pt x="1184275" y="304800"/>
                  </a:moveTo>
                  <a:lnTo>
                    <a:pt x="0" y="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19699" y="5028171"/>
              <a:ext cx="1172845" cy="217804"/>
            </a:xfrm>
            <a:custGeom>
              <a:avLst/>
              <a:gdLst/>
              <a:ahLst/>
              <a:cxnLst/>
              <a:rect l="l" t="t" r="r" b="b"/>
              <a:pathLst>
                <a:path w="1172845" h="217804">
                  <a:moveTo>
                    <a:pt x="0" y="36245"/>
                  </a:moveTo>
                  <a:lnTo>
                    <a:pt x="0" y="181241"/>
                  </a:lnTo>
                  <a:lnTo>
                    <a:pt x="22138" y="214638"/>
                  </a:lnTo>
                  <a:lnTo>
                    <a:pt x="36245" y="217487"/>
                  </a:lnTo>
                  <a:lnTo>
                    <a:pt x="1136383" y="217487"/>
                  </a:lnTo>
                  <a:lnTo>
                    <a:pt x="1150490" y="214638"/>
                  </a:lnTo>
                  <a:lnTo>
                    <a:pt x="1162011" y="206870"/>
                  </a:lnTo>
                  <a:lnTo>
                    <a:pt x="1169780" y="195349"/>
                  </a:lnTo>
                  <a:lnTo>
                    <a:pt x="1172629" y="181241"/>
                  </a:lnTo>
                  <a:lnTo>
                    <a:pt x="1172629" y="36245"/>
                  </a:lnTo>
                  <a:lnTo>
                    <a:pt x="1169780" y="22138"/>
                  </a:lnTo>
                  <a:lnTo>
                    <a:pt x="1162011" y="10617"/>
                  </a:lnTo>
                  <a:lnTo>
                    <a:pt x="1150490" y="2848"/>
                  </a:lnTo>
                  <a:lnTo>
                    <a:pt x="1136383" y="0"/>
                  </a:lnTo>
                  <a:lnTo>
                    <a:pt x="36245" y="0"/>
                  </a:lnTo>
                  <a:lnTo>
                    <a:pt x="22138" y="2848"/>
                  </a:lnTo>
                  <a:lnTo>
                    <a:pt x="10617" y="10617"/>
                  </a:lnTo>
                  <a:lnTo>
                    <a:pt x="2848" y="22138"/>
                  </a:lnTo>
                  <a:lnTo>
                    <a:pt x="0" y="36245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219687" y="5028158"/>
              <a:ext cx="1172845" cy="217804"/>
            </a:xfrm>
            <a:custGeom>
              <a:avLst/>
              <a:gdLst/>
              <a:ahLst/>
              <a:cxnLst/>
              <a:rect l="l" t="t" r="r" b="b"/>
              <a:pathLst>
                <a:path w="1172845" h="217804">
                  <a:moveTo>
                    <a:pt x="0" y="36245"/>
                  </a:moveTo>
                  <a:lnTo>
                    <a:pt x="22138" y="2848"/>
                  </a:lnTo>
                  <a:lnTo>
                    <a:pt x="1136383" y="0"/>
                  </a:lnTo>
                  <a:lnTo>
                    <a:pt x="1150490" y="2848"/>
                  </a:lnTo>
                  <a:lnTo>
                    <a:pt x="1162011" y="10617"/>
                  </a:lnTo>
                  <a:lnTo>
                    <a:pt x="1169780" y="22138"/>
                  </a:lnTo>
                  <a:lnTo>
                    <a:pt x="1172629" y="36245"/>
                  </a:lnTo>
                  <a:lnTo>
                    <a:pt x="1172629" y="181241"/>
                  </a:lnTo>
                  <a:lnTo>
                    <a:pt x="1150490" y="214638"/>
                  </a:lnTo>
                  <a:lnTo>
                    <a:pt x="36245" y="217487"/>
                  </a:lnTo>
                  <a:lnTo>
                    <a:pt x="22138" y="214638"/>
                  </a:lnTo>
                  <a:lnTo>
                    <a:pt x="10617" y="206870"/>
                  </a:lnTo>
                  <a:lnTo>
                    <a:pt x="2848" y="195349"/>
                  </a:lnTo>
                  <a:lnTo>
                    <a:pt x="0" y="181241"/>
                  </a:lnTo>
                  <a:lnTo>
                    <a:pt x="0" y="3624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5087518" y="5847308"/>
            <a:ext cx="636905" cy="736600"/>
            <a:chOff x="5087518" y="5847308"/>
            <a:chExt cx="636905" cy="736600"/>
          </a:xfrm>
        </p:grpSpPr>
        <p:sp>
          <p:nvSpPr>
            <p:cNvPr id="16" name="object 16"/>
            <p:cNvSpPr/>
            <p:nvPr/>
          </p:nvSpPr>
          <p:spPr>
            <a:xfrm>
              <a:off x="5132387" y="5853671"/>
              <a:ext cx="534670" cy="217804"/>
            </a:xfrm>
            <a:custGeom>
              <a:avLst/>
              <a:gdLst/>
              <a:ahLst/>
              <a:cxnLst/>
              <a:rect l="l" t="t" r="r" b="b"/>
              <a:pathLst>
                <a:path w="534670" h="217804">
                  <a:moveTo>
                    <a:pt x="0" y="36245"/>
                  </a:moveTo>
                  <a:lnTo>
                    <a:pt x="0" y="181241"/>
                  </a:lnTo>
                  <a:lnTo>
                    <a:pt x="22138" y="214638"/>
                  </a:lnTo>
                  <a:lnTo>
                    <a:pt x="36245" y="217487"/>
                  </a:lnTo>
                  <a:lnTo>
                    <a:pt x="498208" y="217487"/>
                  </a:lnTo>
                  <a:lnTo>
                    <a:pt x="512315" y="214638"/>
                  </a:lnTo>
                  <a:lnTo>
                    <a:pt x="523836" y="206870"/>
                  </a:lnTo>
                  <a:lnTo>
                    <a:pt x="531605" y="195349"/>
                  </a:lnTo>
                  <a:lnTo>
                    <a:pt x="534454" y="181241"/>
                  </a:lnTo>
                  <a:lnTo>
                    <a:pt x="534454" y="36245"/>
                  </a:lnTo>
                  <a:lnTo>
                    <a:pt x="531605" y="22138"/>
                  </a:lnTo>
                  <a:lnTo>
                    <a:pt x="523836" y="10617"/>
                  </a:lnTo>
                  <a:lnTo>
                    <a:pt x="512315" y="2848"/>
                  </a:lnTo>
                  <a:lnTo>
                    <a:pt x="498208" y="0"/>
                  </a:lnTo>
                  <a:lnTo>
                    <a:pt x="36245" y="0"/>
                  </a:lnTo>
                  <a:lnTo>
                    <a:pt x="22138" y="2848"/>
                  </a:lnTo>
                  <a:lnTo>
                    <a:pt x="10617" y="10617"/>
                  </a:lnTo>
                  <a:lnTo>
                    <a:pt x="2848" y="22138"/>
                  </a:lnTo>
                  <a:lnTo>
                    <a:pt x="0" y="36245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32374" y="5853658"/>
              <a:ext cx="534670" cy="217804"/>
            </a:xfrm>
            <a:custGeom>
              <a:avLst/>
              <a:gdLst/>
              <a:ahLst/>
              <a:cxnLst/>
              <a:rect l="l" t="t" r="r" b="b"/>
              <a:pathLst>
                <a:path w="534670" h="217804">
                  <a:moveTo>
                    <a:pt x="0" y="36245"/>
                  </a:moveTo>
                  <a:lnTo>
                    <a:pt x="22138" y="2848"/>
                  </a:lnTo>
                  <a:lnTo>
                    <a:pt x="498208" y="0"/>
                  </a:lnTo>
                  <a:lnTo>
                    <a:pt x="512315" y="2848"/>
                  </a:lnTo>
                  <a:lnTo>
                    <a:pt x="523836" y="10617"/>
                  </a:lnTo>
                  <a:lnTo>
                    <a:pt x="531605" y="22138"/>
                  </a:lnTo>
                  <a:lnTo>
                    <a:pt x="534454" y="36245"/>
                  </a:lnTo>
                  <a:lnTo>
                    <a:pt x="534454" y="181229"/>
                  </a:lnTo>
                  <a:lnTo>
                    <a:pt x="512315" y="214638"/>
                  </a:lnTo>
                  <a:lnTo>
                    <a:pt x="36245" y="217487"/>
                  </a:lnTo>
                  <a:lnTo>
                    <a:pt x="22138" y="214638"/>
                  </a:lnTo>
                  <a:lnTo>
                    <a:pt x="10617" y="206868"/>
                  </a:lnTo>
                  <a:lnTo>
                    <a:pt x="2848" y="195343"/>
                  </a:lnTo>
                  <a:lnTo>
                    <a:pt x="0" y="181229"/>
                  </a:lnTo>
                  <a:lnTo>
                    <a:pt x="0" y="3624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93881" y="6360083"/>
              <a:ext cx="251637" cy="2174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093868" y="6360071"/>
              <a:ext cx="252095" cy="217804"/>
            </a:xfrm>
            <a:custGeom>
              <a:avLst/>
              <a:gdLst/>
              <a:ahLst/>
              <a:cxnLst/>
              <a:rect l="l" t="t" r="r" b="b"/>
              <a:pathLst>
                <a:path w="252095" h="217804">
                  <a:moveTo>
                    <a:pt x="0" y="36245"/>
                  </a:moveTo>
                  <a:lnTo>
                    <a:pt x="22138" y="2848"/>
                  </a:lnTo>
                  <a:lnTo>
                    <a:pt x="215392" y="0"/>
                  </a:lnTo>
                  <a:lnTo>
                    <a:pt x="229499" y="2848"/>
                  </a:lnTo>
                  <a:lnTo>
                    <a:pt x="241020" y="10617"/>
                  </a:lnTo>
                  <a:lnTo>
                    <a:pt x="248789" y="22138"/>
                  </a:lnTo>
                  <a:lnTo>
                    <a:pt x="251637" y="36245"/>
                  </a:lnTo>
                  <a:lnTo>
                    <a:pt x="251637" y="181228"/>
                  </a:lnTo>
                  <a:lnTo>
                    <a:pt x="248789" y="195343"/>
                  </a:lnTo>
                  <a:lnTo>
                    <a:pt x="241020" y="206868"/>
                  </a:lnTo>
                  <a:lnTo>
                    <a:pt x="229499" y="214638"/>
                  </a:lnTo>
                  <a:lnTo>
                    <a:pt x="215392" y="217487"/>
                  </a:lnTo>
                  <a:lnTo>
                    <a:pt x="36245" y="217487"/>
                  </a:lnTo>
                  <a:lnTo>
                    <a:pt x="22138" y="214638"/>
                  </a:lnTo>
                  <a:lnTo>
                    <a:pt x="10617" y="206868"/>
                  </a:lnTo>
                  <a:lnTo>
                    <a:pt x="2848" y="195343"/>
                  </a:lnTo>
                  <a:lnTo>
                    <a:pt x="0" y="181228"/>
                  </a:lnTo>
                  <a:lnTo>
                    <a:pt x="0" y="3624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219700" y="6071146"/>
              <a:ext cx="180340" cy="288925"/>
            </a:xfrm>
            <a:custGeom>
              <a:avLst/>
              <a:gdLst/>
              <a:ahLst/>
              <a:cxnLst/>
              <a:rect l="l" t="t" r="r" b="b"/>
              <a:pathLst>
                <a:path w="180339" h="288925">
                  <a:moveTo>
                    <a:pt x="0" y="288925"/>
                  </a:moveTo>
                  <a:lnTo>
                    <a:pt x="17992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471566" y="6360083"/>
              <a:ext cx="246075" cy="21748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471566" y="6360071"/>
              <a:ext cx="246379" cy="217804"/>
            </a:xfrm>
            <a:custGeom>
              <a:avLst/>
              <a:gdLst/>
              <a:ahLst/>
              <a:cxnLst/>
              <a:rect l="l" t="t" r="r" b="b"/>
              <a:pathLst>
                <a:path w="246379" h="217804">
                  <a:moveTo>
                    <a:pt x="0" y="36245"/>
                  </a:moveTo>
                  <a:lnTo>
                    <a:pt x="22138" y="2848"/>
                  </a:lnTo>
                  <a:lnTo>
                    <a:pt x="209829" y="0"/>
                  </a:lnTo>
                  <a:lnTo>
                    <a:pt x="223936" y="2848"/>
                  </a:lnTo>
                  <a:lnTo>
                    <a:pt x="235458" y="10617"/>
                  </a:lnTo>
                  <a:lnTo>
                    <a:pt x="243226" y="22138"/>
                  </a:lnTo>
                  <a:lnTo>
                    <a:pt x="246075" y="36245"/>
                  </a:lnTo>
                  <a:lnTo>
                    <a:pt x="246075" y="181228"/>
                  </a:lnTo>
                  <a:lnTo>
                    <a:pt x="243226" y="195343"/>
                  </a:lnTo>
                  <a:lnTo>
                    <a:pt x="235458" y="206868"/>
                  </a:lnTo>
                  <a:lnTo>
                    <a:pt x="223936" y="214638"/>
                  </a:lnTo>
                  <a:lnTo>
                    <a:pt x="209829" y="217487"/>
                  </a:lnTo>
                  <a:lnTo>
                    <a:pt x="36245" y="217487"/>
                  </a:lnTo>
                  <a:lnTo>
                    <a:pt x="22138" y="214638"/>
                  </a:lnTo>
                  <a:lnTo>
                    <a:pt x="10617" y="206868"/>
                  </a:lnTo>
                  <a:lnTo>
                    <a:pt x="2848" y="195343"/>
                  </a:lnTo>
                  <a:lnTo>
                    <a:pt x="0" y="181228"/>
                  </a:lnTo>
                  <a:lnTo>
                    <a:pt x="0" y="3624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399621" y="6071146"/>
              <a:ext cx="195580" cy="288925"/>
            </a:xfrm>
            <a:custGeom>
              <a:avLst/>
              <a:gdLst/>
              <a:ahLst/>
              <a:cxnLst/>
              <a:rect l="l" t="t" r="r" b="b"/>
              <a:pathLst>
                <a:path w="195579" h="288925">
                  <a:moveTo>
                    <a:pt x="0" y="0"/>
                  </a:moveTo>
                  <a:lnTo>
                    <a:pt x="194995" y="28892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5914606" y="5847308"/>
            <a:ext cx="636905" cy="736600"/>
            <a:chOff x="5914606" y="5847308"/>
            <a:chExt cx="636905" cy="736600"/>
          </a:xfrm>
        </p:grpSpPr>
        <p:sp>
          <p:nvSpPr>
            <p:cNvPr id="25" name="object 25"/>
            <p:cNvSpPr/>
            <p:nvPr/>
          </p:nvSpPr>
          <p:spPr>
            <a:xfrm>
              <a:off x="5959475" y="5853671"/>
              <a:ext cx="534670" cy="217804"/>
            </a:xfrm>
            <a:custGeom>
              <a:avLst/>
              <a:gdLst/>
              <a:ahLst/>
              <a:cxnLst/>
              <a:rect l="l" t="t" r="r" b="b"/>
              <a:pathLst>
                <a:path w="534670" h="217804">
                  <a:moveTo>
                    <a:pt x="0" y="36245"/>
                  </a:moveTo>
                  <a:lnTo>
                    <a:pt x="0" y="181229"/>
                  </a:lnTo>
                  <a:lnTo>
                    <a:pt x="22138" y="214638"/>
                  </a:lnTo>
                  <a:lnTo>
                    <a:pt x="36245" y="217487"/>
                  </a:lnTo>
                  <a:lnTo>
                    <a:pt x="498208" y="217487"/>
                  </a:lnTo>
                  <a:lnTo>
                    <a:pt x="512315" y="214638"/>
                  </a:lnTo>
                  <a:lnTo>
                    <a:pt x="523836" y="206868"/>
                  </a:lnTo>
                  <a:lnTo>
                    <a:pt x="531605" y="195343"/>
                  </a:lnTo>
                  <a:lnTo>
                    <a:pt x="534454" y="181229"/>
                  </a:lnTo>
                  <a:lnTo>
                    <a:pt x="534454" y="36245"/>
                  </a:lnTo>
                  <a:lnTo>
                    <a:pt x="531605" y="22138"/>
                  </a:lnTo>
                  <a:lnTo>
                    <a:pt x="523836" y="10617"/>
                  </a:lnTo>
                  <a:lnTo>
                    <a:pt x="512315" y="2848"/>
                  </a:lnTo>
                  <a:lnTo>
                    <a:pt x="498208" y="0"/>
                  </a:lnTo>
                  <a:lnTo>
                    <a:pt x="36245" y="0"/>
                  </a:lnTo>
                  <a:lnTo>
                    <a:pt x="22138" y="2848"/>
                  </a:lnTo>
                  <a:lnTo>
                    <a:pt x="10617" y="10617"/>
                  </a:lnTo>
                  <a:lnTo>
                    <a:pt x="2848" y="22138"/>
                  </a:lnTo>
                  <a:lnTo>
                    <a:pt x="0" y="36245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959462" y="5853658"/>
              <a:ext cx="534670" cy="217804"/>
            </a:xfrm>
            <a:custGeom>
              <a:avLst/>
              <a:gdLst/>
              <a:ahLst/>
              <a:cxnLst/>
              <a:rect l="l" t="t" r="r" b="b"/>
              <a:pathLst>
                <a:path w="534670" h="217804">
                  <a:moveTo>
                    <a:pt x="0" y="36245"/>
                  </a:moveTo>
                  <a:lnTo>
                    <a:pt x="22138" y="2848"/>
                  </a:lnTo>
                  <a:lnTo>
                    <a:pt x="498208" y="0"/>
                  </a:lnTo>
                  <a:lnTo>
                    <a:pt x="512315" y="2848"/>
                  </a:lnTo>
                  <a:lnTo>
                    <a:pt x="523836" y="10617"/>
                  </a:lnTo>
                  <a:lnTo>
                    <a:pt x="531605" y="22138"/>
                  </a:lnTo>
                  <a:lnTo>
                    <a:pt x="534454" y="36245"/>
                  </a:lnTo>
                  <a:lnTo>
                    <a:pt x="534454" y="181241"/>
                  </a:lnTo>
                  <a:lnTo>
                    <a:pt x="512315" y="214638"/>
                  </a:lnTo>
                  <a:lnTo>
                    <a:pt x="36245" y="217487"/>
                  </a:lnTo>
                  <a:lnTo>
                    <a:pt x="22138" y="214638"/>
                  </a:lnTo>
                  <a:lnTo>
                    <a:pt x="10617" y="206870"/>
                  </a:lnTo>
                  <a:lnTo>
                    <a:pt x="2848" y="195349"/>
                  </a:lnTo>
                  <a:lnTo>
                    <a:pt x="0" y="181241"/>
                  </a:lnTo>
                  <a:lnTo>
                    <a:pt x="0" y="3624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920968" y="6360083"/>
              <a:ext cx="251637" cy="21748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920956" y="6360071"/>
              <a:ext cx="252095" cy="217804"/>
            </a:xfrm>
            <a:custGeom>
              <a:avLst/>
              <a:gdLst/>
              <a:ahLst/>
              <a:cxnLst/>
              <a:rect l="l" t="t" r="r" b="b"/>
              <a:pathLst>
                <a:path w="252095" h="217804">
                  <a:moveTo>
                    <a:pt x="0" y="36245"/>
                  </a:moveTo>
                  <a:lnTo>
                    <a:pt x="22138" y="2848"/>
                  </a:lnTo>
                  <a:lnTo>
                    <a:pt x="215392" y="0"/>
                  </a:lnTo>
                  <a:lnTo>
                    <a:pt x="229499" y="2848"/>
                  </a:lnTo>
                  <a:lnTo>
                    <a:pt x="241020" y="10617"/>
                  </a:lnTo>
                  <a:lnTo>
                    <a:pt x="248789" y="22138"/>
                  </a:lnTo>
                  <a:lnTo>
                    <a:pt x="251637" y="36245"/>
                  </a:lnTo>
                  <a:lnTo>
                    <a:pt x="251637" y="181229"/>
                  </a:lnTo>
                  <a:lnTo>
                    <a:pt x="248789" y="195343"/>
                  </a:lnTo>
                  <a:lnTo>
                    <a:pt x="241020" y="206868"/>
                  </a:lnTo>
                  <a:lnTo>
                    <a:pt x="229499" y="214638"/>
                  </a:lnTo>
                  <a:lnTo>
                    <a:pt x="215392" y="217487"/>
                  </a:lnTo>
                  <a:lnTo>
                    <a:pt x="36245" y="217487"/>
                  </a:lnTo>
                  <a:lnTo>
                    <a:pt x="22138" y="214638"/>
                  </a:lnTo>
                  <a:lnTo>
                    <a:pt x="10617" y="206868"/>
                  </a:lnTo>
                  <a:lnTo>
                    <a:pt x="2848" y="195343"/>
                  </a:lnTo>
                  <a:lnTo>
                    <a:pt x="0" y="181229"/>
                  </a:lnTo>
                  <a:lnTo>
                    <a:pt x="0" y="3624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046787" y="6071146"/>
              <a:ext cx="180340" cy="288925"/>
            </a:xfrm>
            <a:custGeom>
              <a:avLst/>
              <a:gdLst/>
              <a:ahLst/>
              <a:cxnLst/>
              <a:rect l="l" t="t" r="r" b="b"/>
              <a:pathLst>
                <a:path w="180339" h="288925">
                  <a:moveTo>
                    <a:pt x="0" y="288925"/>
                  </a:moveTo>
                  <a:lnTo>
                    <a:pt x="17992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298666" y="6360083"/>
              <a:ext cx="246075" cy="21748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298654" y="6360071"/>
              <a:ext cx="246379" cy="217804"/>
            </a:xfrm>
            <a:custGeom>
              <a:avLst/>
              <a:gdLst/>
              <a:ahLst/>
              <a:cxnLst/>
              <a:rect l="l" t="t" r="r" b="b"/>
              <a:pathLst>
                <a:path w="246379" h="217804">
                  <a:moveTo>
                    <a:pt x="0" y="36245"/>
                  </a:moveTo>
                  <a:lnTo>
                    <a:pt x="22138" y="2848"/>
                  </a:lnTo>
                  <a:lnTo>
                    <a:pt x="209829" y="0"/>
                  </a:lnTo>
                  <a:lnTo>
                    <a:pt x="223936" y="2848"/>
                  </a:lnTo>
                  <a:lnTo>
                    <a:pt x="235458" y="10617"/>
                  </a:lnTo>
                  <a:lnTo>
                    <a:pt x="243226" y="22138"/>
                  </a:lnTo>
                  <a:lnTo>
                    <a:pt x="246075" y="36245"/>
                  </a:lnTo>
                  <a:lnTo>
                    <a:pt x="246075" y="181229"/>
                  </a:lnTo>
                  <a:lnTo>
                    <a:pt x="243226" y="195343"/>
                  </a:lnTo>
                  <a:lnTo>
                    <a:pt x="235458" y="206868"/>
                  </a:lnTo>
                  <a:lnTo>
                    <a:pt x="223936" y="214638"/>
                  </a:lnTo>
                  <a:lnTo>
                    <a:pt x="209829" y="217487"/>
                  </a:lnTo>
                  <a:lnTo>
                    <a:pt x="36245" y="217487"/>
                  </a:lnTo>
                  <a:lnTo>
                    <a:pt x="22138" y="214638"/>
                  </a:lnTo>
                  <a:lnTo>
                    <a:pt x="10617" y="206868"/>
                  </a:lnTo>
                  <a:lnTo>
                    <a:pt x="2848" y="195343"/>
                  </a:lnTo>
                  <a:lnTo>
                    <a:pt x="0" y="181229"/>
                  </a:lnTo>
                  <a:lnTo>
                    <a:pt x="0" y="3624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226708" y="6071146"/>
              <a:ext cx="195580" cy="288925"/>
            </a:xfrm>
            <a:custGeom>
              <a:avLst/>
              <a:gdLst/>
              <a:ahLst/>
              <a:cxnLst/>
              <a:rect l="l" t="t" r="r" b="b"/>
              <a:pathLst>
                <a:path w="195579" h="288925">
                  <a:moveTo>
                    <a:pt x="0" y="0"/>
                  </a:moveTo>
                  <a:lnTo>
                    <a:pt x="194995" y="28892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698718" y="5266296"/>
            <a:ext cx="177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95" dirty="0">
                <a:latin typeface="Arial"/>
                <a:cs typeface="Arial"/>
              </a:rPr>
              <a:t> </a:t>
            </a:r>
            <a:endParaRPr sz="36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7370750" y="5890971"/>
            <a:ext cx="636905" cy="736600"/>
            <a:chOff x="7370750" y="5890971"/>
            <a:chExt cx="636905" cy="736600"/>
          </a:xfrm>
        </p:grpSpPr>
        <p:sp>
          <p:nvSpPr>
            <p:cNvPr id="35" name="object 35"/>
            <p:cNvSpPr/>
            <p:nvPr/>
          </p:nvSpPr>
          <p:spPr>
            <a:xfrm>
              <a:off x="7415619" y="5897333"/>
              <a:ext cx="534670" cy="217804"/>
            </a:xfrm>
            <a:custGeom>
              <a:avLst/>
              <a:gdLst/>
              <a:ahLst/>
              <a:cxnLst/>
              <a:rect l="l" t="t" r="r" b="b"/>
              <a:pathLst>
                <a:path w="534670" h="217804">
                  <a:moveTo>
                    <a:pt x="0" y="36245"/>
                  </a:moveTo>
                  <a:lnTo>
                    <a:pt x="0" y="181229"/>
                  </a:lnTo>
                  <a:lnTo>
                    <a:pt x="22138" y="214638"/>
                  </a:lnTo>
                  <a:lnTo>
                    <a:pt x="36245" y="217487"/>
                  </a:lnTo>
                  <a:lnTo>
                    <a:pt x="498208" y="217487"/>
                  </a:lnTo>
                  <a:lnTo>
                    <a:pt x="512315" y="214638"/>
                  </a:lnTo>
                  <a:lnTo>
                    <a:pt x="523836" y="206868"/>
                  </a:lnTo>
                  <a:lnTo>
                    <a:pt x="531605" y="195343"/>
                  </a:lnTo>
                  <a:lnTo>
                    <a:pt x="534454" y="181229"/>
                  </a:lnTo>
                  <a:lnTo>
                    <a:pt x="534454" y="36245"/>
                  </a:lnTo>
                  <a:lnTo>
                    <a:pt x="531605" y="22138"/>
                  </a:lnTo>
                  <a:lnTo>
                    <a:pt x="523836" y="10617"/>
                  </a:lnTo>
                  <a:lnTo>
                    <a:pt x="512315" y="2848"/>
                  </a:lnTo>
                  <a:lnTo>
                    <a:pt x="498208" y="0"/>
                  </a:lnTo>
                  <a:lnTo>
                    <a:pt x="36245" y="0"/>
                  </a:lnTo>
                  <a:lnTo>
                    <a:pt x="22138" y="2848"/>
                  </a:lnTo>
                  <a:lnTo>
                    <a:pt x="10617" y="10617"/>
                  </a:lnTo>
                  <a:lnTo>
                    <a:pt x="2848" y="22138"/>
                  </a:lnTo>
                  <a:lnTo>
                    <a:pt x="0" y="36245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415606" y="5897321"/>
              <a:ext cx="534670" cy="217804"/>
            </a:xfrm>
            <a:custGeom>
              <a:avLst/>
              <a:gdLst/>
              <a:ahLst/>
              <a:cxnLst/>
              <a:rect l="l" t="t" r="r" b="b"/>
              <a:pathLst>
                <a:path w="534670" h="217804">
                  <a:moveTo>
                    <a:pt x="0" y="36245"/>
                  </a:moveTo>
                  <a:lnTo>
                    <a:pt x="22138" y="2848"/>
                  </a:lnTo>
                  <a:lnTo>
                    <a:pt x="498208" y="0"/>
                  </a:lnTo>
                  <a:lnTo>
                    <a:pt x="512315" y="2848"/>
                  </a:lnTo>
                  <a:lnTo>
                    <a:pt x="523836" y="10617"/>
                  </a:lnTo>
                  <a:lnTo>
                    <a:pt x="531605" y="22138"/>
                  </a:lnTo>
                  <a:lnTo>
                    <a:pt x="534454" y="36245"/>
                  </a:lnTo>
                  <a:lnTo>
                    <a:pt x="534454" y="181241"/>
                  </a:lnTo>
                  <a:lnTo>
                    <a:pt x="512315" y="214638"/>
                  </a:lnTo>
                  <a:lnTo>
                    <a:pt x="36245" y="217487"/>
                  </a:lnTo>
                  <a:lnTo>
                    <a:pt x="22138" y="214638"/>
                  </a:lnTo>
                  <a:lnTo>
                    <a:pt x="10617" y="206870"/>
                  </a:lnTo>
                  <a:lnTo>
                    <a:pt x="2848" y="195349"/>
                  </a:lnTo>
                  <a:lnTo>
                    <a:pt x="0" y="181241"/>
                  </a:lnTo>
                  <a:lnTo>
                    <a:pt x="0" y="3624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377112" y="6403746"/>
              <a:ext cx="251637" cy="21748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377100" y="6403733"/>
              <a:ext cx="252095" cy="217804"/>
            </a:xfrm>
            <a:custGeom>
              <a:avLst/>
              <a:gdLst/>
              <a:ahLst/>
              <a:cxnLst/>
              <a:rect l="l" t="t" r="r" b="b"/>
              <a:pathLst>
                <a:path w="252095" h="217804">
                  <a:moveTo>
                    <a:pt x="0" y="36245"/>
                  </a:moveTo>
                  <a:lnTo>
                    <a:pt x="22138" y="2848"/>
                  </a:lnTo>
                  <a:lnTo>
                    <a:pt x="215392" y="0"/>
                  </a:lnTo>
                  <a:lnTo>
                    <a:pt x="229499" y="2848"/>
                  </a:lnTo>
                  <a:lnTo>
                    <a:pt x="241020" y="10617"/>
                  </a:lnTo>
                  <a:lnTo>
                    <a:pt x="248789" y="22138"/>
                  </a:lnTo>
                  <a:lnTo>
                    <a:pt x="251637" y="36245"/>
                  </a:lnTo>
                  <a:lnTo>
                    <a:pt x="251637" y="181229"/>
                  </a:lnTo>
                  <a:lnTo>
                    <a:pt x="248789" y="195343"/>
                  </a:lnTo>
                  <a:lnTo>
                    <a:pt x="241020" y="206868"/>
                  </a:lnTo>
                  <a:lnTo>
                    <a:pt x="229499" y="214638"/>
                  </a:lnTo>
                  <a:lnTo>
                    <a:pt x="215392" y="217487"/>
                  </a:lnTo>
                  <a:lnTo>
                    <a:pt x="36245" y="217487"/>
                  </a:lnTo>
                  <a:lnTo>
                    <a:pt x="22138" y="214638"/>
                  </a:lnTo>
                  <a:lnTo>
                    <a:pt x="10617" y="206868"/>
                  </a:lnTo>
                  <a:lnTo>
                    <a:pt x="2848" y="195343"/>
                  </a:lnTo>
                  <a:lnTo>
                    <a:pt x="0" y="181229"/>
                  </a:lnTo>
                  <a:lnTo>
                    <a:pt x="0" y="3624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502931" y="6114808"/>
              <a:ext cx="180340" cy="288925"/>
            </a:xfrm>
            <a:custGeom>
              <a:avLst/>
              <a:gdLst/>
              <a:ahLst/>
              <a:cxnLst/>
              <a:rect l="l" t="t" r="r" b="b"/>
              <a:pathLst>
                <a:path w="180340" h="288925">
                  <a:moveTo>
                    <a:pt x="0" y="288925"/>
                  </a:moveTo>
                  <a:lnTo>
                    <a:pt x="17992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754810" y="6403746"/>
              <a:ext cx="246075" cy="217487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754798" y="6403733"/>
              <a:ext cx="246379" cy="217804"/>
            </a:xfrm>
            <a:custGeom>
              <a:avLst/>
              <a:gdLst/>
              <a:ahLst/>
              <a:cxnLst/>
              <a:rect l="l" t="t" r="r" b="b"/>
              <a:pathLst>
                <a:path w="246379" h="217804">
                  <a:moveTo>
                    <a:pt x="0" y="36245"/>
                  </a:moveTo>
                  <a:lnTo>
                    <a:pt x="22138" y="2848"/>
                  </a:lnTo>
                  <a:lnTo>
                    <a:pt x="209816" y="0"/>
                  </a:lnTo>
                  <a:lnTo>
                    <a:pt x="223931" y="2848"/>
                  </a:lnTo>
                  <a:lnTo>
                    <a:pt x="235456" y="10617"/>
                  </a:lnTo>
                  <a:lnTo>
                    <a:pt x="243226" y="22138"/>
                  </a:lnTo>
                  <a:lnTo>
                    <a:pt x="246075" y="36245"/>
                  </a:lnTo>
                  <a:lnTo>
                    <a:pt x="246075" y="181228"/>
                  </a:lnTo>
                  <a:lnTo>
                    <a:pt x="243226" y="195343"/>
                  </a:lnTo>
                  <a:lnTo>
                    <a:pt x="235456" y="206868"/>
                  </a:lnTo>
                  <a:lnTo>
                    <a:pt x="223931" y="214638"/>
                  </a:lnTo>
                  <a:lnTo>
                    <a:pt x="209816" y="217487"/>
                  </a:lnTo>
                  <a:lnTo>
                    <a:pt x="36245" y="217487"/>
                  </a:lnTo>
                  <a:lnTo>
                    <a:pt x="22138" y="214638"/>
                  </a:lnTo>
                  <a:lnTo>
                    <a:pt x="10617" y="206868"/>
                  </a:lnTo>
                  <a:lnTo>
                    <a:pt x="2848" y="195343"/>
                  </a:lnTo>
                  <a:lnTo>
                    <a:pt x="0" y="181229"/>
                  </a:lnTo>
                  <a:lnTo>
                    <a:pt x="0" y="3624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682852" y="6114808"/>
              <a:ext cx="195580" cy="288925"/>
            </a:xfrm>
            <a:custGeom>
              <a:avLst/>
              <a:gdLst/>
              <a:ahLst/>
              <a:cxnLst/>
              <a:rect l="l" t="t" r="r" b="b"/>
              <a:pathLst>
                <a:path w="195579" h="288925">
                  <a:moveTo>
                    <a:pt x="0" y="0"/>
                  </a:moveTo>
                  <a:lnTo>
                    <a:pt x="194995" y="28892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8197837" y="5890971"/>
            <a:ext cx="636905" cy="736600"/>
            <a:chOff x="8197837" y="5890971"/>
            <a:chExt cx="636905" cy="736600"/>
          </a:xfrm>
        </p:grpSpPr>
        <p:sp>
          <p:nvSpPr>
            <p:cNvPr id="44" name="object 44"/>
            <p:cNvSpPr/>
            <p:nvPr/>
          </p:nvSpPr>
          <p:spPr>
            <a:xfrm>
              <a:off x="8242706" y="5897321"/>
              <a:ext cx="534670" cy="217804"/>
            </a:xfrm>
            <a:custGeom>
              <a:avLst/>
              <a:gdLst/>
              <a:ahLst/>
              <a:cxnLst/>
              <a:rect l="l" t="t" r="r" b="b"/>
              <a:pathLst>
                <a:path w="534670" h="217804">
                  <a:moveTo>
                    <a:pt x="0" y="36245"/>
                  </a:moveTo>
                  <a:lnTo>
                    <a:pt x="0" y="181241"/>
                  </a:lnTo>
                  <a:lnTo>
                    <a:pt x="22138" y="214638"/>
                  </a:lnTo>
                  <a:lnTo>
                    <a:pt x="36245" y="217487"/>
                  </a:lnTo>
                  <a:lnTo>
                    <a:pt x="498208" y="217487"/>
                  </a:lnTo>
                  <a:lnTo>
                    <a:pt x="512315" y="214638"/>
                  </a:lnTo>
                  <a:lnTo>
                    <a:pt x="523836" y="206870"/>
                  </a:lnTo>
                  <a:lnTo>
                    <a:pt x="531605" y="195349"/>
                  </a:lnTo>
                  <a:lnTo>
                    <a:pt x="534454" y="181241"/>
                  </a:lnTo>
                  <a:lnTo>
                    <a:pt x="534454" y="36245"/>
                  </a:lnTo>
                  <a:lnTo>
                    <a:pt x="531605" y="22138"/>
                  </a:lnTo>
                  <a:lnTo>
                    <a:pt x="523836" y="10617"/>
                  </a:lnTo>
                  <a:lnTo>
                    <a:pt x="512315" y="2848"/>
                  </a:lnTo>
                  <a:lnTo>
                    <a:pt x="498208" y="0"/>
                  </a:lnTo>
                  <a:lnTo>
                    <a:pt x="36245" y="0"/>
                  </a:lnTo>
                  <a:lnTo>
                    <a:pt x="22138" y="2848"/>
                  </a:lnTo>
                  <a:lnTo>
                    <a:pt x="10617" y="10617"/>
                  </a:lnTo>
                  <a:lnTo>
                    <a:pt x="2848" y="22138"/>
                  </a:lnTo>
                  <a:lnTo>
                    <a:pt x="0" y="36245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242693" y="5897321"/>
              <a:ext cx="534670" cy="217804"/>
            </a:xfrm>
            <a:custGeom>
              <a:avLst/>
              <a:gdLst/>
              <a:ahLst/>
              <a:cxnLst/>
              <a:rect l="l" t="t" r="r" b="b"/>
              <a:pathLst>
                <a:path w="534670" h="217804">
                  <a:moveTo>
                    <a:pt x="0" y="36245"/>
                  </a:moveTo>
                  <a:lnTo>
                    <a:pt x="22138" y="2848"/>
                  </a:lnTo>
                  <a:lnTo>
                    <a:pt x="498208" y="0"/>
                  </a:lnTo>
                  <a:lnTo>
                    <a:pt x="512315" y="2848"/>
                  </a:lnTo>
                  <a:lnTo>
                    <a:pt x="523836" y="10617"/>
                  </a:lnTo>
                  <a:lnTo>
                    <a:pt x="531605" y="22138"/>
                  </a:lnTo>
                  <a:lnTo>
                    <a:pt x="534454" y="36245"/>
                  </a:lnTo>
                  <a:lnTo>
                    <a:pt x="534454" y="181229"/>
                  </a:lnTo>
                  <a:lnTo>
                    <a:pt x="512315" y="214638"/>
                  </a:lnTo>
                  <a:lnTo>
                    <a:pt x="36245" y="217487"/>
                  </a:lnTo>
                  <a:lnTo>
                    <a:pt x="22138" y="214638"/>
                  </a:lnTo>
                  <a:lnTo>
                    <a:pt x="10617" y="206868"/>
                  </a:lnTo>
                  <a:lnTo>
                    <a:pt x="2848" y="195343"/>
                  </a:lnTo>
                  <a:lnTo>
                    <a:pt x="0" y="181229"/>
                  </a:lnTo>
                  <a:lnTo>
                    <a:pt x="0" y="3624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204200" y="6403746"/>
              <a:ext cx="251637" cy="21748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204187" y="6403733"/>
              <a:ext cx="252095" cy="217804"/>
            </a:xfrm>
            <a:custGeom>
              <a:avLst/>
              <a:gdLst/>
              <a:ahLst/>
              <a:cxnLst/>
              <a:rect l="l" t="t" r="r" b="b"/>
              <a:pathLst>
                <a:path w="252095" h="217804">
                  <a:moveTo>
                    <a:pt x="0" y="36245"/>
                  </a:moveTo>
                  <a:lnTo>
                    <a:pt x="22138" y="2848"/>
                  </a:lnTo>
                  <a:lnTo>
                    <a:pt x="215392" y="0"/>
                  </a:lnTo>
                  <a:lnTo>
                    <a:pt x="229499" y="2848"/>
                  </a:lnTo>
                  <a:lnTo>
                    <a:pt x="241020" y="10617"/>
                  </a:lnTo>
                  <a:lnTo>
                    <a:pt x="248789" y="22138"/>
                  </a:lnTo>
                  <a:lnTo>
                    <a:pt x="251637" y="36245"/>
                  </a:lnTo>
                  <a:lnTo>
                    <a:pt x="251637" y="181228"/>
                  </a:lnTo>
                  <a:lnTo>
                    <a:pt x="248789" y="195343"/>
                  </a:lnTo>
                  <a:lnTo>
                    <a:pt x="241020" y="206868"/>
                  </a:lnTo>
                  <a:lnTo>
                    <a:pt x="229499" y="214638"/>
                  </a:lnTo>
                  <a:lnTo>
                    <a:pt x="215392" y="217487"/>
                  </a:lnTo>
                  <a:lnTo>
                    <a:pt x="36245" y="217487"/>
                  </a:lnTo>
                  <a:lnTo>
                    <a:pt x="22138" y="214638"/>
                  </a:lnTo>
                  <a:lnTo>
                    <a:pt x="10617" y="206868"/>
                  </a:lnTo>
                  <a:lnTo>
                    <a:pt x="2848" y="195343"/>
                  </a:lnTo>
                  <a:lnTo>
                    <a:pt x="0" y="181229"/>
                  </a:lnTo>
                  <a:lnTo>
                    <a:pt x="0" y="3624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330006" y="6114808"/>
              <a:ext cx="180340" cy="288925"/>
            </a:xfrm>
            <a:custGeom>
              <a:avLst/>
              <a:gdLst/>
              <a:ahLst/>
              <a:cxnLst/>
              <a:rect l="l" t="t" r="r" b="b"/>
              <a:pathLst>
                <a:path w="180340" h="288925">
                  <a:moveTo>
                    <a:pt x="0" y="288925"/>
                  </a:moveTo>
                  <a:lnTo>
                    <a:pt x="17992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581898" y="6403746"/>
              <a:ext cx="246075" cy="217487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581872" y="6403733"/>
              <a:ext cx="246379" cy="217804"/>
            </a:xfrm>
            <a:custGeom>
              <a:avLst/>
              <a:gdLst/>
              <a:ahLst/>
              <a:cxnLst/>
              <a:rect l="l" t="t" r="r" b="b"/>
              <a:pathLst>
                <a:path w="246379" h="217804">
                  <a:moveTo>
                    <a:pt x="0" y="36245"/>
                  </a:moveTo>
                  <a:lnTo>
                    <a:pt x="22138" y="2848"/>
                  </a:lnTo>
                  <a:lnTo>
                    <a:pt x="209829" y="0"/>
                  </a:lnTo>
                  <a:lnTo>
                    <a:pt x="223936" y="2848"/>
                  </a:lnTo>
                  <a:lnTo>
                    <a:pt x="235458" y="10617"/>
                  </a:lnTo>
                  <a:lnTo>
                    <a:pt x="243226" y="22138"/>
                  </a:lnTo>
                  <a:lnTo>
                    <a:pt x="246075" y="36245"/>
                  </a:lnTo>
                  <a:lnTo>
                    <a:pt x="246075" y="181228"/>
                  </a:lnTo>
                  <a:lnTo>
                    <a:pt x="243226" y="195343"/>
                  </a:lnTo>
                  <a:lnTo>
                    <a:pt x="235458" y="206868"/>
                  </a:lnTo>
                  <a:lnTo>
                    <a:pt x="223936" y="214638"/>
                  </a:lnTo>
                  <a:lnTo>
                    <a:pt x="209829" y="217487"/>
                  </a:lnTo>
                  <a:lnTo>
                    <a:pt x="36245" y="217487"/>
                  </a:lnTo>
                  <a:lnTo>
                    <a:pt x="22138" y="214638"/>
                  </a:lnTo>
                  <a:lnTo>
                    <a:pt x="10617" y="206868"/>
                  </a:lnTo>
                  <a:lnTo>
                    <a:pt x="2848" y="195343"/>
                  </a:lnTo>
                  <a:lnTo>
                    <a:pt x="0" y="181229"/>
                  </a:lnTo>
                  <a:lnTo>
                    <a:pt x="0" y="3624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8509927" y="6114808"/>
              <a:ext cx="195580" cy="288925"/>
            </a:xfrm>
            <a:custGeom>
              <a:avLst/>
              <a:gdLst/>
              <a:ahLst/>
              <a:cxnLst/>
              <a:rect l="l" t="t" r="r" b="b"/>
              <a:pathLst>
                <a:path w="195579" h="288925">
                  <a:moveTo>
                    <a:pt x="0" y="0"/>
                  </a:moveTo>
                  <a:lnTo>
                    <a:pt x="194995" y="28892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7981950" y="5309946"/>
            <a:ext cx="177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95" dirty="0">
                <a:latin typeface="Arial"/>
                <a:cs typeface="Arial"/>
              </a:rPr>
              <a:t> </a:t>
            </a:r>
            <a:endParaRPr sz="3600">
              <a:latin typeface="Arial"/>
              <a:cs typeface="Arial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72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00627" y="833120"/>
            <a:ext cx="246253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17650" algn="l"/>
              </a:tabLst>
            </a:pPr>
            <a:r>
              <a:rPr sz="4400" spc="-5" dirty="0">
                <a:latin typeface="Times New Roman"/>
                <a:cs typeface="Times New Roman"/>
              </a:rPr>
              <a:t>Quick	Sort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2471420"/>
            <a:ext cx="180022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latin typeface="Times New Roman"/>
                <a:cs typeface="Times New Roman"/>
              </a:rPr>
              <a:t>Best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Time: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3766820"/>
            <a:ext cx="2590800" cy="1808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5" dirty="0">
                <a:latin typeface="Times New Roman"/>
                <a:cs typeface="Times New Roman"/>
              </a:rPr>
              <a:t>Worst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Time: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335"/>
              </a:spcBef>
            </a:pPr>
            <a:r>
              <a:rPr sz="3200" dirty="0">
                <a:latin typeface="Times New Roman"/>
                <a:cs typeface="Times New Roman"/>
              </a:rPr>
              <a:t>Expected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Time: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885950" y="1504950"/>
            <a:ext cx="6362700" cy="876300"/>
            <a:chOff x="1885950" y="1504950"/>
            <a:chExt cx="6362700" cy="876300"/>
          </a:xfrm>
        </p:grpSpPr>
        <p:sp>
          <p:nvSpPr>
            <p:cNvPr id="7" name="object 7"/>
            <p:cNvSpPr/>
            <p:nvPr/>
          </p:nvSpPr>
          <p:spPr>
            <a:xfrm>
              <a:off x="1905000" y="1758950"/>
              <a:ext cx="6324600" cy="381000"/>
            </a:xfrm>
            <a:custGeom>
              <a:avLst/>
              <a:gdLst/>
              <a:ahLst/>
              <a:cxnLst/>
              <a:rect l="l" t="t" r="r" b="b"/>
              <a:pathLst>
                <a:path w="6324600" h="381000">
                  <a:moveTo>
                    <a:pt x="0" y="380619"/>
                  </a:moveTo>
                  <a:lnTo>
                    <a:pt x="0" y="0"/>
                  </a:lnTo>
                  <a:lnTo>
                    <a:pt x="6324587" y="0"/>
                  </a:lnTo>
                  <a:lnTo>
                    <a:pt x="6324587" y="380619"/>
                  </a:lnTo>
                  <a:lnTo>
                    <a:pt x="0" y="380619"/>
                  </a:lnTo>
                  <a:close/>
                </a:path>
              </a:pathLst>
            </a:custGeom>
            <a:ln w="38100">
              <a:solidFill>
                <a:srgbClr val="0E2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29187" y="1524000"/>
              <a:ext cx="76200" cy="838200"/>
            </a:xfrm>
            <a:custGeom>
              <a:avLst/>
              <a:gdLst/>
              <a:ahLst/>
              <a:cxnLst/>
              <a:rect l="l" t="t" r="r" b="b"/>
              <a:pathLst>
                <a:path w="76200" h="838200">
                  <a:moveTo>
                    <a:pt x="76200" y="0"/>
                  </a:moveTo>
                  <a:lnTo>
                    <a:pt x="0" y="838200"/>
                  </a:lnTo>
                </a:path>
              </a:pathLst>
            </a:custGeom>
            <a:ln w="38100">
              <a:solidFill>
                <a:srgbClr val="D84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687127" y="2471420"/>
            <a:ext cx="3629025" cy="995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3820"/>
              </a:lnSpc>
              <a:spcBef>
                <a:spcPts val="100"/>
              </a:spcBef>
            </a:pPr>
            <a:r>
              <a:rPr sz="3200" dirty="0">
                <a:solidFill>
                  <a:srgbClr val="2F5C00"/>
                </a:solidFill>
                <a:latin typeface="Times New Roman"/>
                <a:cs typeface="Times New Roman"/>
              </a:rPr>
              <a:t>T(n) = 2T(n/2) +</a:t>
            </a:r>
            <a:r>
              <a:rPr sz="3200" spc="-90" dirty="0">
                <a:solidFill>
                  <a:srgbClr val="2F5C00"/>
                </a:solidFill>
                <a:latin typeface="Times New Roman"/>
                <a:cs typeface="Times New Roman"/>
              </a:rPr>
              <a:t> </a:t>
            </a:r>
            <a:r>
              <a:rPr sz="3200" spc="-200" dirty="0">
                <a:solidFill>
                  <a:srgbClr val="2F5C00"/>
                </a:solidFill>
                <a:latin typeface="Symbol"/>
                <a:cs typeface="Symbol"/>
              </a:rPr>
              <a:t></a:t>
            </a:r>
            <a:r>
              <a:rPr sz="3200" spc="-200" dirty="0">
                <a:solidFill>
                  <a:srgbClr val="2F5C00"/>
                </a:solidFill>
                <a:latin typeface="Times New Roman"/>
                <a:cs typeface="Times New Roman"/>
              </a:rPr>
              <a:t>(n)</a:t>
            </a:r>
            <a:endParaRPr sz="3200">
              <a:latin typeface="Times New Roman"/>
              <a:cs typeface="Times New Roman"/>
            </a:endParaRPr>
          </a:p>
          <a:p>
            <a:pPr marL="53340" algn="ctr">
              <a:lnSpc>
                <a:spcPts val="3820"/>
              </a:lnSpc>
            </a:pPr>
            <a:r>
              <a:rPr sz="3200" dirty="0">
                <a:solidFill>
                  <a:srgbClr val="2F5C00"/>
                </a:solidFill>
                <a:latin typeface="Times New Roman"/>
                <a:cs typeface="Times New Roman"/>
              </a:rPr>
              <a:t>= </a:t>
            </a:r>
            <a:r>
              <a:rPr sz="3200" spc="-265" dirty="0">
                <a:solidFill>
                  <a:srgbClr val="2F5C00"/>
                </a:solidFill>
                <a:latin typeface="Symbol"/>
                <a:cs typeface="Symbol"/>
              </a:rPr>
              <a:t></a:t>
            </a:r>
            <a:r>
              <a:rPr sz="3200" spc="-265" dirty="0">
                <a:solidFill>
                  <a:srgbClr val="2F5C00"/>
                </a:solidFill>
                <a:latin typeface="Times New Roman"/>
                <a:cs typeface="Times New Roman"/>
              </a:rPr>
              <a:t>(n </a:t>
            </a:r>
            <a:r>
              <a:rPr sz="3200" dirty="0">
                <a:solidFill>
                  <a:srgbClr val="2F5C00"/>
                </a:solidFill>
                <a:latin typeface="Times New Roman"/>
                <a:cs typeface="Times New Roman"/>
              </a:rPr>
              <a:t>log</a:t>
            </a:r>
            <a:r>
              <a:rPr sz="3200" spc="-305" dirty="0">
                <a:solidFill>
                  <a:srgbClr val="2F5C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2F5C00"/>
                </a:solidFill>
                <a:latin typeface="Times New Roman"/>
                <a:cs typeface="Times New Roman"/>
              </a:rPr>
              <a:t>n)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73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70238" y="758520"/>
            <a:ext cx="472249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Worst-case Running</a:t>
            </a:r>
            <a:r>
              <a:rPr spc="-80" dirty="0"/>
              <a:t> </a:t>
            </a:r>
            <a:r>
              <a:rPr spc="-5" dirty="0"/>
              <a:t>Time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748575" y="6051537"/>
            <a:ext cx="868680" cy="736600"/>
            <a:chOff x="7748575" y="6051537"/>
            <a:chExt cx="868680" cy="736600"/>
          </a:xfrm>
        </p:grpSpPr>
        <p:sp>
          <p:nvSpPr>
            <p:cNvPr id="5" name="object 5"/>
            <p:cNvSpPr/>
            <p:nvPr/>
          </p:nvSpPr>
          <p:spPr>
            <a:xfrm>
              <a:off x="7797800" y="6057899"/>
              <a:ext cx="762000" cy="217804"/>
            </a:xfrm>
            <a:custGeom>
              <a:avLst/>
              <a:gdLst/>
              <a:ahLst/>
              <a:cxnLst/>
              <a:rect l="l" t="t" r="r" b="b"/>
              <a:pathLst>
                <a:path w="762000" h="217804">
                  <a:moveTo>
                    <a:pt x="0" y="36245"/>
                  </a:moveTo>
                  <a:lnTo>
                    <a:pt x="0" y="181241"/>
                  </a:lnTo>
                  <a:lnTo>
                    <a:pt x="22138" y="214638"/>
                  </a:lnTo>
                  <a:lnTo>
                    <a:pt x="36245" y="217487"/>
                  </a:lnTo>
                  <a:lnTo>
                    <a:pt x="725754" y="217487"/>
                  </a:lnTo>
                  <a:lnTo>
                    <a:pt x="739861" y="214638"/>
                  </a:lnTo>
                  <a:lnTo>
                    <a:pt x="751382" y="206870"/>
                  </a:lnTo>
                  <a:lnTo>
                    <a:pt x="759151" y="195349"/>
                  </a:lnTo>
                  <a:lnTo>
                    <a:pt x="762000" y="181241"/>
                  </a:lnTo>
                  <a:lnTo>
                    <a:pt x="762000" y="36245"/>
                  </a:lnTo>
                  <a:lnTo>
                    <a:pt x="759151" y="22138"/>
                  </a:lnTo>
                  <a:lnTo>
                    <a:pt x="751382" y="10617"/>
                  </a:lnTo>
                  <a:lnTo>
                    <a:pt x="739861" y="2848"/>
                  </a:lnTo>
                  <a:lnTo>
                    <a:pt x="725754" y="0"/>
                  </a:lnTo>
                  <a:lnTo>
                    <a:pt x="36245" y="0"/>
                  </a:lnTo>
                  <a:lnTo>
                    <a:pt x="22138" y="2848"/>
                  </a:lnTo>
                  <a:lnTo>
                    <a:pt x="10617" y="10617"/>
                  </a:lnTo>
                  <a:lnTo>
                    <a:pt x="2848" y="22138"/>
                  </a:lnTo>
                  <a:lnTo>
                    <a:pt x="0" y="36245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97787" y="6057887"/>
              <a:ext cx="762000" cy="217804"/>
            </a:xfrm>
            <a:custGeom>
              <a:avLst/>
              <a:gdLst/>
              <a:ahLst/>
              <a:cxnLst/>
              <a:rect l="l" t="t" r="r" b="b"/>
              <a:pathLst>
                <a:path w="762000" h="217804">
                  <a:moveTo>
                    <a:pt x="0" y="36245"/>
                  </a:moveTo>
                  <a:lnTo>
                    <a:pt x="22138" y="2848"/>
                  </a:lnTo>
                  <a:lnTo>
                    <a:pt x="725754" y="0"/>
                  </a:lnTo>
                  <a:lnTo>
                    <a:pt x="739861" y="2848"/>
                  </a:lnTo>
                  <a:lnTo>
                    <a:pt x="751382" y="10617"/>
                  </a:lnTo>
                  <a:lnTo>
                    <a:pt x="759151" y="22138"/>
                  </a:lnTo>
                  <a:lnTo>
                    <a:pt x="762000" y="36245"/>
                  </a:lnTo>
                  <a:lnTo>
                    <a:pt x="762000" y="181241"/>
                  </a:lnTo>
                  <a:lnTo>
                    <a:pt x="739861" y="214638"/>
                  </a:lnTo>
                  <a:lnTo>
                    <a:pt x="36245" y="217487"/>
                  </a:lnTo>
                  <a:lnTo>
                    <a:pt x="22138" y="214638"/>
                  </a:lnTo>
                  <a:lnTo>
                    <a:pt x="10617" y="206870"/>
                  </a:lnTo>
                  <a:lnTo>
                    <a:pt x="2848" y="195349"/>
                  </a:lnTo>
                  <a:lnTo>
                    <a:pt x="0" y="181241"/>
                  </a:lnTo>
                  <a:lnTo>
                    <a:pt x="0" y="3624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54937" y="6564312"/>
              <a:ext cx="358775" cy="217804"/>
            </a:xfrm>
            <a:custGeom>
              <a:avLst/>
              <a:gdLst/>
              <a:ahLst/>
              <a:cxnLst/>
              <a:rect l="l" t="t" r="r" b="b"/>
              <a:pathLst>
                <a:path w="358775" h="217804">
                  <a:moveTo>
                    <a:pt x="0" y="36245"/>
                  </a:moveTo>
                  <a:lnTo>
                    <a:pt x="0" y="181229"/>
                  </a:lnTo>
                  <a:lnTo>
                    <a:pt x="22138" y="214638"/>
                  </a:lnTo>
                  <a:lnTo>
                    <a:pt x="36245" y="217487"/>
                  </a:lnTo>
                  <a:lnTo>
                    <a:pt x="322529" y="217487"/>
                  </a:lnTo>
                  <a:lnTo>
                    <a:pt x="336636" y="214638"/>
                  </a:lnTo>
                  <a:lnTo>
                    <a:pt x="348157" y="206868"/>
                  </a:lnTo>
                  <a:lnTo>
                    <a:pt x="355926" y="195343"/>
                  </a:lnTo>
                  <a:lnTo>
                    <a:pt x="358775" y="181228"/>
                  </a:lnTo>
                  <a:lnTo>
                    <a:pt x="358775" y="36245"/>
                  </a:lnTo>
                  <a:lnTo>
                    <a:pt x="355926" y="22138"/>
                  </a:lnTo>
                  <a:lnTo>
                    <a:pt x="348157" y="10617"/>
                  </a:lnTo>
                  <a:lnTo>
                    <a:pt x="336636" y="2848"/>
                  </a:lnTo>
                  <a:lnTo>
                    <a:pt x="322529" y="0"/>
                  </a:lnTo>
                  <a:lnTo>
                    <a:pt x="36245" y="0"/>
                  </a:lnTo>
                  <a:lnTo>
                    <a:pt x="22138" y="2848"/>
                  </a:lnTo>
                  <a:lnTo>
                    <a:pt x="10617" y="10617"/>
                  </a:lnTo>
                  <a:lnTo>
                    <a:pt x="2848" y="22138"/>
                  </a:lnTo>
                  <a:lnTo>
                    <a:pt x="0" y="36245"/>
                  </a:lnTo>
                  <a:close/>
                </a:path>
              </a:pathLst>
            </a:custGeom>
            <a:solidFill>
              <a:srgbClr val="AA7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4925" y="6564299"/>
              <a:ext cx="358775" cy="217804"/>
            </a:xfrm>
            <a:custGeom>
              <a:avLst/>
              <a:gdLst/>
              <a:ahLst/>
              <a:cxnLst/>
              <a:rect l="l" t="t" r="r" b="b"/>
              <a:pathLst>
                <a:path w="358775" h="217804">
                  <a:moveTo>
                    <a:pt x="0" y="36245"/>
                  </a:moveTo>
                  <a:lnTo>
                    <a:pt x="22138" y="2848"/>
                  </a:lnTo>
                  <a:lnTo>
                    <a:pt x="322529" y="0"/>
                  </a:lnTo>
                  <a:lnTo>
                    <a:pt x="336636" y="2848"/>
                  </a:lnTo>
                  <a:lnTo>
                    <a:pt x="348157" y="10617"/>
                  </a:lnTo>
                  <a:lnTo>
                    <a:pt x="355926" y="22138"/>
                  </a:lnTo>
                  <a:lnTo>
                    <a:pt x="358775" y="36245"/>
                  </a:lnTo>
                  <a:lnTo>
                    <a:pt x="358775" y="181228"/>
                  </a:lnTo>
                  <a:lnTo>
                    <a:pt x="355926" y="195343"/>
                  </a:lnTo>
                  <a:lnTo>
                    <a:pt x="348157" y="206868"/>
                  </a:lnTo>
                  <a:lnTo>
                    <a:pt x="336636" y="214638"/>
                  </a:lnTo>
                  <a:lnTo>
                    <a:pt x="322529" y="217487"/>
                  </a:lnTo>
                  <a:lnTo>
                    <a:pt x="36245" y="217487"/>
                  </a:lnTo>
                  <a:lnTo>
                    <a:pt x="22138" y="214638"/>
                  </a:lnTo>
                  <a:lnTo>
                    <a:pt x="10617" y="206868"/>
                  </a:lnTo>
                  <a:lnTo>
                    <a:pt x="2848" y="195343"/>
                  </a:lnTo>
                  <a:lnTo>
                    <a:pt x="0" y="181228"/>
                  </a:lnTo>
                  <a:lnTo>
                    <a:pt x="0" y="3624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59762" y="6564312"/>
              <a:ext cx="351155" cy="217804"/>
            </a:xfrm>
            <a:custGeom>
              <a:avLst/>
              <a:gdLst/>
              <a:ahLst/>
              <a:cxnLst/>
              <a:rect l="l" t="t" r="r" b="b"/>
              <a:pathLst>
                <a:path w="351154" h="217804">
                  <a:moveTo>
                    <a:pt x="0" y="36245"/>
                  </a:moveTo>
                  <a:lnTo>
                    <a:pt x="0" y="181229"/>
                  </a:lnTo>
                  <a:lnTo>
                    <a:pt x="22138" y="214638"/>
                  </a:lnTo>
                  <a:lnTo>
                    <a:pt x="36245" y="217487"/>
                  </a:lnTo>
                  <a:lnTo>
                    <a:pt x="314591" y="217487"/>
                  </a:lnTo>
                  <a:lnTo>
                    <a:pt x="328699" y="214638"/>
                  </a:lnTo>
                  <a:lnTo>
                    <a:pt x="340220" y="206868"/>
                  </a:lnTo>
                  <a:lnTo>
                    <a:pt x="347988" y="195343"/>
                  </a:lnTo>
                  <a:lnTo>
                    <a:pt x="350837" y="181228"/>
                  </a:lnTo>
                  <a:lnTo>
                    <a:pt x="350837" y="36245"/>
                  </a:lnTo>
                  <a:lnTo>
                    <a:pt x="347988" y="22138"/>
                  </a:lnTo>
                  <a:lnTo>
                    <a:pt x="340220" y="10617"/>
                  </a:lnTo>
                  <a:lnTo>
                    <a:pt x="328699" y="2848"/>
                  </a:lnTo>
                  <a:lnTo>
                    <a:pt x="314591" y="0"/>
                  </a:lnTo>
                  <a:lnTo>
                    <a:pt x="36245" y="0"/>
                  </a:lnTo>
                  <a:lnTo>
                    <a:pt x="22138" y="2848"/>
                  </a:lnTo>
                  <a:lnTo>
                    <a:pt x="10617" y="10617"/>
                  </a:lnTo>
                  <a:lnTo>
                    <a:pt x="2848" y="22138"/>
                  </a:lnTo>
                  <a:lnTo>
                    <a:pt x="0" y="36245"/>
                  </a:lnTo>
                  <a:close/>
                </a:path>
              </a:pathLst>
            </a:custGeom>
            <a:solidFill>
              <a:srgbClr val="AA7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259750" y="6564299"/>
              <a:ext cx="351155" cy="217804"/>
            </a:xfrm>
            <a:custGeom>
              <a:avLst/>
              <a:gdLst/>
              <a:ahLst/>
              <a:cxnLst/>
              <a:rect l="l" t="t" r="r" b="b"/>
              <a:pathLst>
                <a:path w="351154" h="217804">
                  <a:moveTo>
                    <a:pt x="0" y="36245"/>
                  </a:moveTo>
                  <a:lnTo>
                    <a:pt x="22138" y="2848"/>
                  </a:lnTo>
                  <a:lnTo>
                    <a:pt x="314591" y="0"/>
                  </a:lnTo>
                  <a:lnTo>
                    <a:pt x="328699" y="2848"/>
                  </a:lnTo>
                  <a:lnTo>
                    <a:pt x="340220" y="10617"/>
                  </a:lnTo>
                  <a:lnTo>
                    <a:pt x="347988" y="22138"/>
                  </a:lnTo>
                  <a:lnTo>
                    <a:pt x="350837" y="36245"/>
                  </a:lnTo>
                  <a:lnTo>
                    <a:pt x="350837" y="181228"/>
                  </a:lnTo>
                  <a:lnTo>
                    <a:pt x="347988" y="195343"/>
                  </a:lnTo>
                  <a:lnTo>
                    <a:pt x="340220" y="206868"/>
                  </a:lnTo>
                  <a:lnTo>
                    <a:pt x="328699" y="214638"/>
                  </a:lnTo>
                  <a:lnTo>
                    <a:pt x="314591" y="217487"/>
                  </a:lnTo>
                  <a:lnTo>
                    <a:pt x="36245" y="217487"/>
                  </a:lnTo>
                  <a:lnTo>
                    <a:pt x="22138" y="214638"/>
                  </a:lnTo>
                  <a:lnTo>
                    <a:pt x="10617" y="206868"/>
                  </a:lnTo>
                  <a:lnTo>
                    <a:pt x="2848" y="195343"/>
                  </a:lnTo>
                  <a:lnTo>
                    <a:pt x="0" y="181228"/>
                  </a:lnTo>
                  <a:lnTo>
                    <a:pt x="0" y="3624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934312" y="6275374"/>
              <a:ext cx="501650" cy="288925"/>
            </a:xfrm>
            <a:custGeom>
              <a:avLst/>
              <a:gdLst/>
              <a:ahLst/>
              <a:cxnLst/>
              <a:rect l="l" t="t" r="r" b="b"/>
              <a:pathLst>
                <a:path w="501650" h="288925">
                  <a:moveTo>
                    <a:pt x="0" y="288924"/>
                  </a:moveTo>
                  <a:lnTo>
                    <a:pt x="244474" y="0"/>
                  </a:lnTo>
                  <a:lnTo>
                    <a:pt x="501650" y="28892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641837" y="4718037"/>
            <a:ext cx="3119755" cy="1290955"/>
            <a:chOff x="4641837" y="4718037"/>
            <a:chExt cx="3119755" cy="1290955"/>
          </a:xfrm>
        </p:grpSpPr>
        <p:sp>
          <p:nvSpPr>
            <p:cNvPr id="13" name="object 13"/>
            <p:cNvSpPr/>
            <p:nvPr/>
          </p:nvSpPr>
          <p:spPr>
            <a:xfrm>
              <a:off x="6450012" y="5248274"/>
              <a:ext cx="1304925" cy="217804"/>
            </a:xfrm>
            <a:custGeom>
              <a:avLst/>
              <a:gdLst/>
              <a:ahLst/>
              <a:cxnLst/>
              <a:rect l="l" t="t" r="r" b="b"/>
              <a:pathLst>
                <a:path w="1304925" h="217804">
                  <a:moveTo>
                    <a:pt x="0" y="36245"/>
                  </a:moveTo>
                  <a:lnTo>
                    <a:pt x="0" y="181241"/>
                  </a:lnTo>
                  <a:lnTo>
                    <a:pt x="22138" y="214638"/>
                  </a:lnTo>
                  <a:lnTo>
                    <a:pt x="36245" y="217487"/>
                  </a:lnTo>
                  <a:lnTo>
                    <a:pt x="1268679" y="217487"/>
                  </a:lnTo>
                  <a:lnTo>
                    <a:pt x="1282786" y="214638"/>
                  </a:lnTo>
                  <a:lnTo>
                    <a:pt x="1294307" y="206870"/>
                  </a:lnTo>
                  <a:lnTo>
                    <a:pt x="1302076" y="195349"/>
                  </a:lnTo>
                  <a:lnTo>
                    <a:pt x="1304925" y="181241"/>
                  </a:lnTo>
                  <a:lnTo>
                    <a:pt x="1304925" y="36245"/>
                  </a:lnTo>
                  <a:lnTo>
                    <a:pt x="1302076" y="22138"/>
                  </a:lnTo>
                  <a:lnTo>
                    <a:pt x="1294307" y="10617"/>
                  </a:lnTo>
                  <a:lnTo>
                    <a:pt x="1282786" y="2848"/>
                  </a:lnTo>
                  <a:lnTo>
                    <a:pt x="1268679" y="0"/>
                  </a:lnTo>
                  <a:lnTo>
                    <a:pt x="36245" y="0"/>
                  </a:lnTo>
                  <a:lnTo>
                    <a:pt x="22138" y="2848"/>
                  </a:lnTo>
                  <a:lnTo>
                    <a:pt x="10617" y="10617"/>
                  </a:lnTo>
                  <a:lnTo>
                    <a:pt x="2848" y="22138"/>
                  </a:lnTo>
                  <a:lnTo>
                    <a:pt x="0" y="36245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449999" y="5248262"/>
              <a:ext cx="1304925" cy="217804"/>
            </a:xfrm>
            <a:custGeom>
              <a:avLst/>
              <a:gdLst/>
              <a:ahLst/>
              <a:cxnLst/>
              <a:rect l="l" t="t" r="r" b="b"/>
              <a:pathLst>
                <a:path w="1304925" h="217804">
                  <a:moveTo>
                    <a:pt x="0" y="36245"/>
                  </a:moveTo>
                  <a:lnTo>
                    <a:pt x="22138" y="2848"/>
                  </a:lnTo>
                  <a:lnTo>
                    <a:pt x="1268679" y="0"/>
                  </a:lnTo>
                  <a:lnTo>
                    <a:pt x="1282786" y="2848"/>
                  </a:lnTo>
                  <a:lnTo>
                    <a:pt x="1294307" y="10617"/>
                  </a:lnTo>
                  <a:lnTo>
                    <a:pt x="1302076" y="22138"/>
                  </a:lnTo>
                  <a:lnTo>
                    <a:pt x="1304925" y="36245"/>
                  </a:lnTo>
                  <a:lnTo>
                    <a:pt x="1304925" y="181241"/>
                  </a:lnTo>
                  <a:lnTo>
                    <a:pt x="1282786" y="214638"/>
                  </a:lnTo>
                  <a:lnTo>
                    <a:pt x="36245" y="217487"/>
                  </a:lnTo>
                  <a:lnTo>
                    <a:pt x="22138" y="214638"/>
                  </a:lnTo>
                  <a:lnTo>
                    <a:pt x="10617" y="206870"/>
                  </a:lnTo>
                  <a:lnTo>
                    <a:pt x="2848" y="195349"/>
                  </a:lnTo>
                  <a:lnTo>
                    <a:pt x="0" y="181241"/>
                  </a:lnTo>
                  <a:lnTo>
                    <a:pt x="0" y="3624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400800" y="5784849"/>
              <a:ext cx="352425" cy="217804"/>
            </a:xfrm>
            <a:custGeom>
              <a:avLst/>
              <a:gdLst/>
              <a:ahLst/>
              <a:cxnLst/>
              <a:rect l="l" t="t" r="r" b="b"/>
              <a:pathLst>
                <a:path w="352425" h="217804">
                  <a:moveTo>
                    <a:pt x="0" y="36245"/>
                  </a:moveTo>
                  <a:lnTo>
                    <a:pt x="0" y="181241"/>
                  </a:lnTo>
                  <a:lnTo>
                    <a:pt x="22138" y="214638"/>
                  </a:lnTo>
                  <a:lnTo>
                    <a:pt x="36245" y="217487"/>
                  </a:lnTo>
                  <a:lnTo>
                    <a:pt x="316179" y="217487"/>
                  </a:lnTo>
                  <a:lnTo>
                    <a:pt x="330286" y="214638"/>
                  </a:lnTo>
                  <a:lnTo>
                    <a:pt x="341807" y="206870"/>
                  </a:lnTo>
                  <a:lnTo>
                    <a:pt x="349576" y="195349"/>
                  </a:lnTo>
                  <a:lnTo>
                    <a:pt x="352425" y="181241"/>
                  </a:lnTo>
                  <a:lnTo>
                    <a:pt x="352425" y="36245"/>
                  </a:lnTo>
                  <a:lnTo>
                    <a:pt x="349576" y="22138"/>
                  </a:lnTo>
                  <a:lnTo>
                    <a:pt x="341807" y="10617"/>
                  </a:lnTo>
                  <a:lnTo>
                    <a:pt x="330286" y="2848"/>
                  </a:lnTo>
                  <a:lnTo>
                    <a:pt x="316179" y="0"/>
                  </a:lnTo>
                  <a:lnTo>
                    <a:pt x="36245" y="0"/>
                  </a:lnTo>
                  <a:lnTo>
                    <a:pt x="22138" y="2848"/>
                  </a:lnTo>
                  <a:lnTo>
                    <a:pt x="10617" y="10617"/>
                  </a:lnTo>
                  <a:lnTo>
                    <a:pt x="2848" y="22138"/>
                  </a:lnTo>
                  <a:lnTo>
                    <a:pt x="0" y="36245"/>
                  </a:lnTo>
                  <a:close/>
                </a:path>
              </a:pathLst>
            </a:custGeom>
            <a:solidFill>
              <a:srgbClr val="AA7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400787" y="5784837"/>
              <a:ext cx="352425" cy="217804"/>
            </a:xfrm>
            <a:custGeom>
              <a:avLst/>
              <a:gdLst/>
              <a:ahLst/>
              <a:cxnLst/>
              <a:rect l="l" t="t" r="r" b="b"/>
              <a:pathLst>
                <a:path w="352425" h="217804">
                  <a:moveTo>
                    <a:pt x="0" y="36245"/>
                  </a:moveTo>
                  <a:lnTo>
                    <a:pt x="22138" y="2848"/>
                  </a:lnTo>
                  <a:lnTo>
                    <a:pt x="316179" y="0"/>
                  </a:lnTo>
                  <a:lnTo>
                    <a:pt x="330286" y="2848"/>
                  </a:lnTo>
                  <a:lnTo>
                    <a:pt x="341807" y="10617"/>
                  </a:lnTo>
                  <a:lnTo>
                    <a:pt x="349576" y="22138"/>
                  </a:lnTo>
                  <a:lnTo>
                    <a:pt x="352425" y="36245"/>
                  </a:lnTo>
                  <a:lnTo>
                    <a:pt x="352425" y="181241"/>
                  </a:lnTo>
                  <a:lnTo>
                    <a:pt x="349576" y="195349"/>
                  </a:lnTo>
                  <a:lnTo>
                    <a:pt x="341807" y="206870"/>
                  </a:lnTo>
                  <a:lnTo>
                    <a:pt x="330286" y="214638"/>
                  </a:lnTo>
                  <a:lnTo>
                    <a:pt x="316179" y="217487"/>
                  </a:lnTo>
                  <a:lnTo>
                    <a:pt x="36245" y="217487"/>
                  </a:lnTo>
                  <a:lnTo>
                    <a:pt x="22138" y="214638"/>
                  </a:lnTo>
                  <a:lnTo>
                    <a:pt x="10617" y="206870"/>
                  </a:lnTo>
                  <a:lnTo>
                    <a:pt x="2848" y="195349"/>
                  </a:lnTo>
                  <a:lnTo>
                    <a:pt x="0" y="181241"/>
                  </a:lnTo>
                  <a:lnTo>
                    <a:pt x="0" y="3624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576999" y="5465749"/>
              <a:ext cx="525780" cy="319405"/>
            </a:xfrm>
            <a:custGeom>
              <a:avLst/>
              <a:gdLst/>
              <a:ahLst/>
              <a:cxnLst/>
              <a:rect l="l" t="t" r="r" b="b"/>
              <a:pathLst>
                <a:path w="525779" h="319404">
                  <a:moveTo>
                    <a:pt x="0" y="319087"/>
                  </a:moveTo>
                  <a:lnTo>
                    <a:pt x="52546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102462" y="5465749"/>
              <a:ext cx="593725" cy="278130"/>
            </a:xfrm>
            <a:custGeom>
              <a:avLst/>
              <a:gdLst/>
              <a:ahLst/>
              <a:cxnLst/>
              <a:rect l="l" t="t" r="r" b="b"/>
              <a:pathLst>
                <a:path w="593725" h="278129">
                  <a:moveTo>
                    <a:pt x="593725" y="277812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648199" y="5248274"/>
              <a:ext cx="360680" cy="217804"/>
            </a:xfrm>
            <a:custGeom>
              <a:avLst/>
              <a:gdLst/>
              <a:ahLst/>
              <a:cxnLst/>
              <a:rect l="l" t="t" r="r" b="b"/>
              <a:pathLst>
                <a:path w="360679" h="217804">
                  <a:moveTo>
                    <a:pt x="0" y="36245"/>
                  </a:moveTo>
                  <a:lnTo>
                    <a:pt x="0" y="181241"/>
                  </a:lnTo>
                  <a:lnTo>
                    <a:pt x="22138" y="214638"/>
                  </a:lnTo>
                  <a:lnTo>
                    <a:pt x="36245" y="217487"/>
                  </a:lnTo>
                  <a:lnTo>
                    <a:pt x="324116" y="217487"/>
                  </a:lnTo>
                  <a:lnTo>
                    <a:pt x="338224" y="214638"/>
                  </a:lnTo>
                  <a:lnTo>
                    <a:pt x="349745" y="206870"/>
                  </a:lnTo>
                  <a:lnTo>
                    <a:pt x="357513" y="195349"/>
                  </a:lnTo>
                  <a:lnTo>
                    <a:pt x="360362" y="181241"/>
                  </a:lnTo>
                  <a:lnTo>
                    <a:pt x="360362" y="36245"/>
                  </a:lnTo>
                  <a:lnTo>
                    <a:pt x="357513" y="22138"/>
                  </a:lnTo>
                  <a:lnTo>
                    <a:pt x="349745" y="10617"/>
                  </a:lnTo>
                  <a:lnTo>
                    <a:pt x="338224" y="2848"/>
                  </a:lnTo>
                  <a:lnTo>
                    <a:pt x="324116" y="0"/>
                  </a:lnTo>
                  <a:lnTo>
                    <a:pt x="36245" y="0"/>
                  </a:lnTo>
                  <a:lnTo>
                    <a:pt x="22138" y="2848"/>
                  </a:lnTo>
                  <a:lnTo>
                    <a:pt x="10617" y="10617"/>
                  </a:lnTo>
                  <a:lnTo>
                    <a:pt x="2848" y="22138"/>
                  </a:lnTo>
                  <a:lnTo>
                    <a:pt x="0" y="36245"/>
                  </a:lnTo>
                  <a:close/>
                </a:path>
              </a:pathLst>
            </a:custGeom>
            <a:solidFill>
              <a:srgbClr val="AA7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48187" y="5248262"/>
              <a:ext cx="360680" cy="217804"/>
            </a:xfrm>
            <a:custGeom>
              <a:avLst/>
              <a:gdLst/>
              <a:ahLst/>
              <a:cxnLst/>
              <a:rect l="l" t="t" r="r" b="b"/>
              <a:pathLst>
                <a:path w="360679" h="217804">
                  <a:moveTo>
                    <a:pt x="0" y="36245"/>
                  </a:moveTo>
                  <a:lnTo>
                    <a:pt x="22138" y="2848"/>
                  </a:lnTo>
                  <a:lnTo>
                    <a:pt x="324116" y="0"/>
                  </a:lnTo>
                  <a:lnTo>
                    <a:pt x="338224" y="2848"/>
                  </a:lnTo>
                  <a:lnTo>
                    <a:pt x="349745" y="10617"/>
                  </a:lnTo>
                  <a:lnTo>
                    <a:pt x="357513" y="22138"/>
                  </a:lnTo>
                  <a:lnTo>
                    <a:pt x="360362" y="36245"/>
                  </a:lnTo>
                  <a:lnTo>
                    <a:pt x="360362" y="181241"/>
                  </a:lnTo>
                  <a:lnTo>
                    <a:pt x="357513" y="195349"/>
                  </a:lnTo>
                  <a:lnTo>
                    <a:pt x="349745" y="206870"/>
                  </a:lnTo>
                  <a:lnTo>
                    <a:pt x="338224" y="214638"/>
                  </a:lnTo>
                  <a:lnTo>
                    <a:pt x="324116" y="217487"/>
                  </a:lnTo>
                  <a:lnTo>
                    <a:pt x="36245" y="217487"/>
                  </a:lnTo>
                  <a:lnTo>
                    <a:pt x="22138" y="214638"/>
                  </a:lnTo>
                  <a:lnTo>
                    <a:pt x="10617" y="206870"/>
                  </a:lnTo>
                  <a:lnTo>
                    <a:pt x="2848" y="195349"/>
                  </a:lnTo>
                  <a:lnTo>
                    <a:pt x="0" y="181241"/>
                  </a:lnTo>
                  <a:lnTo>
                    <a:pt x="0" y="3624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740274" y="4724399"/>
              <a:ext cx="2482850" cy="219075"/>
            </a:xfrm>
            <a:custGeom>
              <a:avLst/>
              <a:gdLst/>
              <a:ahLst/>
              <a:cxnLst/>
              <a:rect l="l" t="t" r="r" b="b"/>
              <a:pathLst>
                <a:path w="2482850" h="219075">
                  <a:moveTo>
                    <a:pt x="0" y="36512"/>
                  </a:moveTo>
                  <a:lnTo>
                    <a:pt x="0" y="182562"/>
                  </a:lnTo>
                  <a:lnTo>
                    <a:pt x="22299" y="216205"/>
                  </a:lnTo>
                  <a:lnTo>
                    <a:pt x="36512" y="219075"/>
                  </a:lnTo>
                  <a:lnTo>
                    <a:pt x="2446337" y="219075"/>
                  </a:lnTo>
                  <a:lnTo>
                    <a:pt x="2460550" y="216205"/>
                  </a:lnTo>
                  <a:lnTo>
                    <a:pt x="2472156" y="208381"/>
                  </a:lnTo>
                  <a:lnTo>
                    <a:pt x="2479980" y="196775"/>
                  </a:lnTo>
                  <a:lnTo>
                    <a:pt x="2482850" y="182562"/>
                  </a:lnTo>
                  <a:lnTo>
                    <a:pt x="2482850" y="36512"/>
                  </a:lnTo>
                  <a:lnTo>
                    <a:pt x="2479980" y="22299"/>
                  </a:lnTo>
                  <a:lnTo>
                    <a:pt x="2472156" y="10693"/>
                  </a:lnTo>
                  <a:lnTo>
                    <a:pt x="2460550" y="2869"/>
                  </a:lnTo>
                  <a:lnTo>
                    <a:pt x="2446337" y="0"/>
                  </a:lnTo>
                  <a:lnTo>
                    <a:pt x="36512" y="0"/>
                  </a:lnTo>
                  <a:lnTo>
                    <a:pt x="22299" y="2869"/>
                  </a:lnTo>
                  <a:lnTo>
                    <a:pt x="10693" y="10693"/>
                  </a:lnTo>
                  <a:lnTo>
                    <a:pt x="2869" y="22299"/>
                  </a:lnTo>
                  <a:lnTo>
                    <a:pt x="0" y="36512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740262" y="4724387"/>
              <a:ext cx="2482850" cy="219075"/>
            </a:xfrm>
            <a:custGeom>
              <a:avLst/>
              <a:gdLst/>
              <a:ahLst/>
              <a:cxnLst/>
              <a:rect l="l" t="t" r="r" b="b"/>
              <a:pathLst>
                <a:path w="2482850" h="219075">
                  <a:moveTo>
                    <a:pt x="0" y="36512"/>
                  </a:moveTo>
                  <a:lnTo>
                    <a:pt x="22299" y="2869"/>
                  </a:lnTo>
                  <a:lnTo>
                    <a:pt x="2446337" y="0"/>
                  </a:lnTo>
                  <a:lnTo>
                    <a:pt x="2460545" y="2869"/>
                  </a:lnTo>
                  <a:lnTo>
                    <a:pt x="2472151" y="10693"/>
                  </a:lnTo>
                  <a:lnTo>
                    <a:pt x="2479979" y="22299"/>
                  </a:lnTo>
                  <a:lnTo>
                    <a:pt x="2482850" y="36512"/>
                  </a:lnTo>
                  <a:lnTo>
                    <a:pt x="2482850" y="182562"/>
                  </a:lnTo>
                  <a:lnTo>
                    <a:pt x="2460545" y="216205"/>
                  </a:lnTo>
                  <a:lnTo>
                    <a:pt x="36512" y="219075"/>
                  </a:lnTo>
                  <a:lnTo>
                    <a:pt x="22299" y="216205"/>
                  </a:lnTo>
                  <a:lnTo>
                    <a:pt x="10693" y="208381"/>
                  </a:lnTo>
                  <a:lnTo>
                    <a:pt x="2869" y="196775"/>
                  </a:lnTo>
                  <a:lnTo>
                    <a:pt x="0" y="182562"/>
                  </a:lnTo>
                  <a:lnTo>
                    <a:pt x="0" y="3651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829162" y="4943462"/>
              <a:ext cx="1152525" cy="304800"/>
            </a:xfrm>
            <a:custGeom>
              <a:avLst/>
              <a:gdLst/>
              <a:ahLst/>
              <a:cxnLst/>
              <a:rect l="l" t="t" r="r" b="b"/>
              <a:pathLst>
                <a:path w="1152525" h="304800">
                  <a:moveTo>
                    <a:pt x="0" y="304800"/>
                  </a:moveTo>
                  <a:lnTo>
                    <a:pt x="115252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981687" y="4943462"/>
              <a:ext cx="1120775" cy="304800"/>
            </a:xfrm>
            <a:custGeom>
              <a:avLst/>
              <a:gdLst/>
              <a:ahLst/>
              <a:cxnLst/>
              <a:rect l="l" t="t" r="r" b="b"/>
              <a:pathLst>
                <a:path w="1120775" h="304800">
                  <a:moveTo>
                    <a:pt x="1120775" y="3048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247139" y="1643659"/>
            <a:ext cx="7767955" cy="3869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0" marR="55880" indent="-342900">
              <a:lnSpc>
                <a:spcPct val="100000"/>
              </a:lnSpc>
              <a:spcBef>
                <a:spcPts val="100"/>
              </a:spcBef>
              <a:buClr>
                <a:srgbClr val="941300"/>
              </a:buClr>
              <a:buFont typeface="Wingdings"/>
              <a:buChar char=""/>
              <a:tabLst>
                <a:tab pos="405765" algn="l"/>
                <a:tab pos="406400" algn="l"/>
              </a:tabLst>
            </a:pPr>
            <a:r>
              <a:rPr sz="2000" spc="-5" dirty="0">
                <a:latin typeface="Arial"/>
                <a:cs typeface="Arial"/>
              </a:rPr>
              <a:t>The worst case for quick-sort occurs when the pivot is the </a:t>
            </a:r>
            <a:r>
              <a:rPr sz="2000" spc="-10" dirty="0">
                <a:latin typeface="Arial"/>
                <a:cs typeface="Arial"/>
              </a:rPr>
              <a:t>unique  </a:t>
            </a:r>
            <a:r>
              <a:rPr sz="2000" spc="-5" dirty="0">
                <a:latin typeface="Arial"/>
                <a:cs typeface="Arial"/>
              </a:rPr>
              <a:t>minimum or maximum</a:t>
            </a:r>
            <a:r>
              <a:rPr sz="2000" spc="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element</a:t>
            </a:r>
            <a:endParaRPr sz="2000">
              <a:latin typeface="Arial"/>
              <a:cs typeface="Arial"/>
            </a:endParaRPr>
          </a:p>
          <a:p>
            <a:pPr marL="406400" indent="-342900">
              <a:lnSpc>
                <a:spcPct val="100000"/>
              </a:lnSpc>
              <a:spcBef>
                <a:spcPts val="1200"/>
              </a:spcBef>
              <a:buClr>
                <a:srgbClr val="941300"/>
              </a:buClr>
              <a:buFont typeface="Wingdings"/>
              <a:buChar char=""/>
              <a:tabLst>
                <a:tab pos="405765" algn="l"/>
                <a:tab pos="406400" algn="l"/>
              </a:tabLst>
            </a:pPr>
            <a:r>
              <a:rPr sz="2000" spc="-5" dirty="0">
                <a:latin typeface="Arial"/>
                <a:cs typeface="Arial"/>
              </a:rPr>
              <a:t>One of </a:t>
            </a:r>
            <a:r>
              <a:rPr sz="2000" b="1" i="1" dirty="0">
                <a:latin typeface="Times New Roman"/>
                <a:cs typeface="Times New Roman"/>
              </a:rPr>
              <a:t>L </a:t>
            </a:r>
            <a:r>
              <a:rPr sz="2000" spc="-5" dirty="0">
                <a:latin typeface="Arial"/>
                <a:cs typeface="Arial"/>
              </a:rPr>
              <a:t>and </a:t>
            </a:r>
            <a:r>
              <a:rPr sz="2000" b="1" i="1" spc="-5" dirty="0">
                <a:latin typeface="Times New Roman"/>
                <a:cs typeface="Times New Roman"/>
              </a:rPr>
              <a:t>G </a:t>
            </a:r>
            <a:r>
              <a:rPr sz="2000" spc="-5" dirty="0">
                <a:latin typeface="Arial"/>
                <a:cs typeface="Arial"/>
              </a:rPr>
              <a:t>has size </a:t>
            </a:r>
            <a:r>
              <a:rPr sz="2000" b="1" i="1" spc="-5" dirty="0">
                <a:latin typeface="Times New Roman"/>
                <a:cs typeface="Times New Roman"/>
              </a:rPr>
              <a:t>n </a:t>
            </a:r>
            <a:r>
              <a:rPr sz="2000" dirty="0">
                <a:latin typeface="AoyagiKouzanFontT"/>
                <a:cs typeface="AoyagiKouzanFontT"/>
              </a:rPr>
              <a:t>–</a:t>
            </a:r>
            <a:r>
              <a:rPr sz="2000" spc="-605" dirty="0">
                <a:latin typeface="AoyagiKouzanFontT"/>
                <a:cs typeface="AoyagiKouzanFontT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 </a:t>
            </a:r>
            <a:r>
              <a:rPr sz="2000" spc="-5" dirty="0">
                <a:latin typeface="Arial"/>
                <a:cs typeface="Arial"/>
              </a:rPr>
              <a:t>and the other has size </a:t>
            </a:r>
            <a:r>
              <a:rPr sz="2000" dirty="0"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  <a:p>
            <a:pPr marL="406400" indent="-343535">
              <a:lnSpc>
                <a:spcPct val="100000"/>
              </a:lnSpc>
              <a:spcBef>
                <a:spcPts val="1200"/>
              </a:spcBef>
              <a:buClr>
                <a:srgbClr val="941300"/>
              </a:buClr>
              <a:buFont typeface="Wingdings"/>
              <a:buChar char=""/>
              <a:tabLst>
                <a:tab pos="405765" algn="l"/>
                <a:tab pos="407034" algn="l"/>
              </a:tabLst>
            </a:pPr>
            <a:r>
              <a:rPr sz="2000" spc="-5" dirty="0">
                <a:latin typeface="Arial"/>
                <a:cs typeface="Arial"/>
              </a:rPr>
              <a:t>The running time is proportional to the</a:t>
            </a:r>
            <a:r>
              <a:rPr sz="2000" spc="1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sum</a:t>
            </a:r>
            <a:endParaRPr sz="2000">
              <a:latin typeface="Arial"/>
              <a:cs typeface="Arial"/>
            </a:endParaRPr>
          </a:p>
          <a:p>
            <a:pPr marL="182245" algn="ctr">
              <a:lnSpc>
                <a:spcPct val="100000"/>
              </a:lnSpc>
              <a:spcBef>
                <a:spcPts val="1200"/>
              </a:spcBef>
            </a:pPr>
            <a:r>
              <a:rPr sz="2000" b="1" i="1" spc="-5" dirty="0">
                <a:latin typeface="Times New Roman"/>
                <a:cs typeface="Times New Roman"/>
              </a:rPr>
              <a:t>n </a:t>
            </a:r>
            <a:r>
              <a:rPr sz="2000" dirty="0">
                <a:latin typeface="Symbol"/>
                <a:cs typeface="Symbol"/>
              </a:rPr>
              <a:t></a:t>
            </a:r>
            <a:r>
              <a:rPr sz="2000" spc="-5" dirty="0">
                <a:latin typeface="Times New Roman"/>
                <a:cs typeface="Times New Roman"/>
              </a:rPr>
              <a:t> (</a:t>
            </a:r>
            <a:r>
              <a:rPr sz="2000" b="1" i="1" spc="-5" dirty="0">
                <a:latin typeface="Times New Roman"/>
                <a:cs typeface="Times New Roman"/>
              </a:rPr>
              <a:t>n </a:t>
            </a:r>
            <a:r>
              <a:rPr sz="2000" dirty="0">
                <a:latin typeface="AoyagiKouzanFontT"/>
                <a:cs typeface="AoyagiKouzanFontT"/>
              </a:rPr>
              <a:t>–</a:t>
            </a:r>
            <a:r>
              <a:rPr sz="2000" spc="-500" dirty="0">
                <a:latin typeface="AoyagiKouzanFontT"/>
                <a:cs typeface="AoyagiKouzanFontT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1) </a:t>
            </a:r>
            <a:r>
              <a:rPr sz="2000" dirty="0">
                <a:latin typeface="Symbol"/>
                <a:cs typeface="Symbol"/>
              </a:rPr>
              <a:t></a:t>
            </a:r>
            <a:r>
              <a:rPr sz="2000" spc="-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…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Symbol"/>
                <a:cs typeface="Symbol"/>
              </a:rPr>
              <a:t>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 </a:t>
            </a:r>
            <a:r>
              <a:rPr sz="2000" dirty="0">
                <a:latin typeface="Symbol"/>
                <a:cs typeface="Symbol"/>
              </a:rPr>
              <a:t></a:t>
            </a:r>
            <a:r>
              <a:rPr sz="2000" spc="-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Symbol"/>
                <a:cs typeface="Symbol"/>
              </a:rPr>
              <a:t></a:t>
            </a:r>
            <a:endParaRPr sz="2000">
              <a:latin typeface="Symbol"/>
              <a:cs typeface="Symbol"/>
            </a:endParaRPr>
          </a:p>
          <a:p>
            <a:pPr marL="406400" indent="-343535">
              <a:lnSpc>
                <a:spcPct val="100000"/>
              </a:lnSpc>
              <a:spcBef>
                <a:spcPts val="1200"/>
              </a:spcBef>
              <a:buClr>
                <a:srgbClr val="941300"/>
              </a:buClr>
              <a:buFont typeface="Wingdings"/>
              <a:buChar char=""/>
              <a:tabLst>
                <a:tab pos="405765" algn="l"/>
                <a:tab pos="407034" algn="l"/>
              </a:tabLst>
            </a:pPr>
            <a:r>
              <a:rPr sz="2000" dirty="0">
                <a:latin typeface="Arial"/>
                <a:cs typeface="Arial"/>
              </a:rPr>
              <a:t>Thus, the worst-case </a:t>
            </a:r>
            <a:r>
              <a:rPr sz="2000" spc="-5" dirty="0">
                <a:latin typeface="Arial"/>
                <a:cs typeface="Arial"/>
              </a:rPr>
              <a:t>running </a:t>
            </a:r>
            <a:r>
              <a:rPr sz="2000" dirty="0">
                <a:latin typeface="Arial"/>
                <a:cs typeface="Arial"/>
              </a:rPr>
              <a:t>time of </a:t>
            </a:r>
            <a:r>
              <a:rPr sz="2000" spc="-5" dirty="0">
                <a:latin typeface="Arial"/>
                <a:cs typeface="Arial"/>
              </a:rPr>
              <a:t>quick-sort is</a:t>
            </a:r>
            <a:r>
              <a:rPr sz="2000" spc="5" dirty="0">
                <a:latin typeface="Arial"/>
                <a:cs typeface="Arial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b="1" i="1" dirty="0">
                <a:latin typeface="Times New Roman"/>
                <a:cs typeface="Times New Roman"/>
              </a:rPr>
              <a:t>n</a:t>
            </a:r>
            <a:r>
              <a:rPr sz="1950" baseline="25641" dirty="0">
                <a:latin typeface="Times New Roman"/>
                <a:cs typeface="Times New Roman"/>
              </a:rPr>
              <a:t>2</a:t>
            </a:r>
            <a:r>
              <a:rPr sz="2000" dirty="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 marL="1705610">
              <a:lnSpc>
                <a:spcPct val="100000"/>
              </a:lnSpc>
              <a:spcBef>
                <a:spcPts val="1355"/>
              </a:spcBef>
              <a:tabLst>
                <a:tab pos="2459355" algn="l"/>
              </a:tabLst>
            </a:pPr>
            <a:r>
              <a:rPr sz="1800" spc="-5" dirty="0">
                <a:latin typeface="Tahoma"/>
                <a:cs typeface="Tahoma"/>
              </a:rPr>
              <a:t>depth	</a:t>
            </a:r>
            <a:r>
              <a:rPr sz="1800" dirty="0">
                <a:latin typeface="Tahoma"/>
                <a:cs typeface="Tahoma"/>
              </a:rPr>
              <a:t>time</a:t>
            </a:r>
            <a:endParaRPr sz="1800">
              <a:latin typeface="Tahoma"/>
              <a:cs typeface="Tahoma"/>
            </a:endParaRPr>
          </a:p>
          <a:p>
            <a:pPr marL="1937385">
              <a:lnSpc>
                <a:spcPct val="100000"/>
              </a:lnSpc>
              <a:spcBef>
                <a:spcPts val="1205"/>
              </a:spcBef>
              <a:tabLst>
                <a:tab pos="2616200" algn="l"/>
              </a:tabLst>
            </a:pPr>
            <a:r>
              <a:rPr sz="1800" dirty="0">
                <a:latin typeface="Times New Roman"/>
                <a:cs typeface="Times New Roman"/>
              </a:rPr>
              <a:t>0	</a:t>
            </a:r>
            <a:r>
              <a:rPr sz="1800" b="1" i="1" spc="-5" dirty="0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/>
              <a:cs typeface="Times New Roman"/>
            </a:endParaRPr>
          </a:p>
          <a:p>
            <a:pPr marL="1937385">
              <a:lnSpc>
                <a:spcPct val="100000"/>
              </a:lnSpc>
              <a:tabLst>
                <a:tab pos="2444750" algn="l"/>
              </a:tabLst>
            </a:pPr>
            <a:r>
              <a:rPr sz="1800" dirty="0">
                <a:latin typeface="Times New Roman"/>
                <a:cs typeface="Times New Roman"/>
              </a:rPr>
              <a:t>1	</a:t>
            </a:r>
            <a:r>
              <a:rPr sz="1800" b="1" i="1" spc="-5" dirty="0">
                <a:latin typeface="Times New Roman"/>
                <a:cs typeface="Times New Roman"/>
              </a:rPr>
              <a:t>n </a:t>
            </a:r>
            <a:r>
              <a:rPr sz="1800" dirty="0">
                <a:latin typeface="AoyagiKouzanFontT"/>
                <a:cs typeface="AoyagiKouzanFontT"/>
              </a:rPr>
              <a:t>–</a:t>
            </a:r>
            <a:r>
              <a:rPr sz="1800" spc="-450" dirty="0">
                <a:latin typeface="AoyagiKouzanFontT"/>
                <a:cs typeface="AoyagiKouzanFontT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114687" y="5885035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Times New Roman"/>
                <a:cs typeface="Times New Roman"/>
              </a:rPr>
              <a:t>…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800487" y="5885035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Times New Roman"/>
                <a:cs typeface="Times New Roman"/>
              </a:rPr>
              <a:t>…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993963" y="6494642"/>
            <a:ext cx="1003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76300" algn="l"/>
              </a:tabLst>
            </a:pPr>
            <a:r>
              <a:rPr sz="1800" b="1" i="1" spc="-5" dirty="0">
                <a:latin typeface="Times New Roman"/>
                <a:cs typeface="Times New Roman"/>
              </a:rPr>
              <a:t>n </a:t>
            </a:r>
            <a:r>
              <a:rPr sz="1800" spc="-5" dirty="0">
                <a:latin typeface="AoyagiKouzanFontT"/>
                <a:cs typeface="AoyagiKouzanFontT"/>
              </a:rPr>
              <a:t>–</a:t>
            </a:r>
            <a:r>
              <a:rPr sz="1800" spc="-450" dirty="0">
                <a:latin typeface="AoyagiKouzanFontT"/>
                <a:cs typeface="AoyagiKouzanFontT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	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818425" y="5781217"/>
            <a:ext cx="151383" cy="1267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74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98776" y="758520"/>
            <a:ext cx="52647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Average-Case Running</a:t>
            </a:r>
            <a:r>
              <a:rPr spc="-85" dirty="0"/>
              <a:t> </a:t>
            </a:r>
            <a:r>
              <a:rPr spc="-5" dirty="0"/>
              <a:t>Time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370750" y="5766904"/>
            <a:ext cx="868680" cy="736600"/>
            <a:chOff x="7370750" y="5766904"/>
            <a:chExt cx="868680" cy="736600"/>
          </a:xfrm>
        </p:grpSpPr>
        <p:sp>
          <p:nvSpPr>
            <p:cNvPr id="5" name="object 5"/>
            <p:cNvSpPr/>
            <p:nvPr/>
          </p:nvSpPr>
          <p:spPr>
            <a:xfrm>
              <a:off x="7419975" y="5773267"/>
              <a:ext cx="762000" cy="217804"/>
            </a:xfrm>
            <a:custGeom>
              <a:avLst/>
              <a:gdLst/>
              <a:ahLst/>
              <a:cxnLst/>
              <a:rect l="l" t="t" r="r" b="b"/>
              <a:pathLst>
                <a:path w="762000" h="217804">
                  <a:moveTo>
                    <a:pt x="0" y="36245"/>
                  </a:moveTo>
                  <a:lnTo>
                    <a:pt x="0" y="181241"/>
                  </a:lnTo>
                  <a:lnTo>
                    <a:pt x="22138" y="214638"/>
                  </a:lnTo>
                  <a:lnTo>
                    <a:pt x="36245" y="217487"/>
                  </a:lnTo>
                  <a:lnTo>
                    <a:pt x="725754" y="217487"/>
                  </a:lnTo>
                  <a:lnTo>
                    <a:pt x="739861" y="214638"/>
                  </a:lnTo>
                  <a:lnTo>
                    <a:pt x="751382" y="206870"/>
                  </a:lnTo>
                  <a:lnTo>
                    <a:pt x="759151" y="195349"/>
                  </a:lnTo>
                  <a:lnTo>
                    <a:pt x="762000" y="181241"/>
                  </a:lnTo>
                  <a:lnTo>
                    <a:pt x="762000" y="36245"/>
                  </a:lnTo>
                  <a:lnTo>
                    <a:pt x="759151" y="22138"/>
                  </a:lnTo>
                  <a:lnTo>
                    <a:pt x="751382" y="10617"/>
                  </a:lnTo>
                  <a:lnTo>
                    <a:pt x="739861" y="2848"/>
                  </a:lnTo>
                  <a:lnTo>
                    <a:pt x="725754" y="0"/>
                  </a:lnTo>
                  <a:lnTo>
                    <a:pt x="36245" y="0"/>
                  </a:lnTo>
                  <a:lnTo>
                    <a:pt x="22138" y="2848"/>
                  </a:lnTo>
                  <a:lnTo>
                    <a:pt x="10617" y="10617"/>
                  </a:lnTo>
                  <a:lnTo>
                    <a:pt x="2848" y="22138"/>
                  </a:lnTo>
                  <a:lnTo>
                    <a:pt x="0" y="36245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419962" y="5773254"/>
              <a:ext cx="762000" cy="217804"/>
            </a:xfrm>
            <a:custGeom>
              <a:avLst/>
              <a:gdLst/>
              <a:ahLst/>
              <a:cxnLst/>
              <a:rect l="l" t="t" r="r" b="b"/>
              <a:pathLst>
                <a:path w="762000" h="217804">
                  <a:moveTo>
                    <a:pt x="0" y="36245"/>
                  </a:moveTo>
                  <a:lnTo>
                    <a:pt x="22138" y="2848"/>
                  </a:lnTo>
                  <a:lnTo>
                    <a:pt x="725741" y="0"/>
                  </a:lnTo>
                  <a:lnTo>
                    <a:pt x="739856" y="2848"/>
                  </a:lnTo>
                  <a:lnTo>
                    <a:pt x="751381" y="10617"/>
                  </a:lnTo>
                  <a:lnTo>
                    <a:pt x="759151" y="22138"/>
                  </a:lnTo>
                  <a:lnTo>
                    <a:pt x="762000" y="36245"/>
                  </a:lnTo>
                  <a:lnTo>
                    <a:pt x="762000" y="181241"/>
                  </a:lnTo>
                  <a:lnTo>
                    <a:pt x="739856" y="214638"/>
                  </a:lnTo>
                  <a:lnTo>
                    <a:pt x="36245" y="217487"/>
                  </a:lnTo>
                  <a:lnTo>
                    <a:pt x="22138" y="214638"/>
                  </a:lnTo>
                  <a:lnTo>
                    <a:pt x="10617" y="206870"/>
                  </a:lnTo>
                  <a:lnTo>
                    <a:pt x="2848" y="195349"/>
                  </a:lnTo>
                  <a:lnTo>
                    <a:pt x="0" y="181241"/>
                  </a:lnTo>
                  <a:lnTo>
                    <a:pt x="0" y="3624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377112" y="6279680"/>
              <a:ext cx="358775" cy="217804"/>
            </a:xfrm>
            <a:custGeom>
              <a:avLst/>
              <a:gdLst/>
              <a:ahLst/>
              <a:cxnLst/>
              <a:rect l="l" t="t" r="r" b="b"/>
              <a:pathLst>
                <a:path w="358775" h="217804">
                  <a:moveTo>
                    <a:pt x="0" y="36245"/>
                  </a:moveTo>
                  <a:lnTo>
                    <a:pt x="0" y="181228"/>
                  </a:lnTo>
                  <a:lnTo>
                    <a:pt x="22138" y="214638"/>
                  </a:lnTo>
                  <a:lnTo>
                    <a:pt x="36245" y="217487"/>
                  </a:lnTo>
                  <a:lnTo>
                    <a:pt x="322529" y="217487"/>
                  </a:lnTo>
                  <a:lnTo>
                    <a:pt x="336636" y="214638"/>
                  </a:lnTo>
                  <a:lnTo>
                    <a:pt x="348157" y="206868"/>
                  </a:lnTo>
                  <a:lnTo>
                    <a:pt x="355926" y="195343"/>
                  </a:lnTo>
                  <a:lnTo>
                    <a:pt x="358775" y="181228"/>
                  </a:lnTo>
                  <a:lnTo>
                    <a:pt x="358775" y="36245"/>
                  </a:lnTo>
                  <a:lnTo>
                    <a:pt x="355926" y="22138"/>
                  </a:lnTo>
                  <a:lnTo>
                    <a:pt x="348157" y="10617"/>
                  </a:lnTo>
                  <a:lnTo>
                    <a:pt x="336636" y="2848"/>
                  </a:lnTo>
                  <a:lnTo>
                    <a:pt x="322529" y="0"/>
                  </a:lnTo>
                  <a:lnTo>
                    <a:pt x="36245" y="0"/>
                  </a:lnTo>
                  <a:lnTo>
                    <a:pt x="22138" y="2848"/>
                  </a:lnTo>
                  <a:lnTo>
                    <a:pt x="10617" y="10617"/>
                  </a:lnTo>
                  <a:lnTo>
                    <a:pt x="2848" y="22138"/>
                  </a:lnTo>
                  <a:lnTo>
                    <a:pt x="0" y="36245"/>
                  </a:lnTo>
                  <a:close/>
                </a:path>
              </a:pathLst>
            </a:custGeom>
            <a:solidFill>
              <a:srgbClr val="AA7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377100" y="6279667"/>
              <a:ext cx="358775" cy="217804"/>
            </a:xfrm>
            <a:custGeom>
              <a:avLst/>
              <a:gdLst/>
              <a:ahLst/>
              <a:cxnLst/>
              <a:rect l="l" t="t" r="r" b="b"/>
              <a:pathLst>
                <a:path w="358775" h="217804">
                  <a:moveTo>
                    <a:pt x="0" y="36245"/>
                  </a:moveTo>
                  <a:lnTo>
                    <a:pt x="22138" y="2848"/>
                  </a:lnTo>
                  <a:lnTo>
                    <a:pt x="322529" y="0"/>
                  </a:lnTo>
                  <a:lnTo>
                    <a:pt x="336636" y="2848"/>
                  </a:lnTo>
                  <a:lnTo>
                    <a:pt x="348157" y="10617"/>
                  </a:lnTo>
                  <a:lnTo>
                    <a:pt x="355926" y="22138"/>
                  </a:lnTo>
                  <a:lnTo>
                    <a:pt x="358775" y="36245"/>
                  </a:lnTo>
                  <a:lnTo>
                    <a:pt x="358775" y="181229"/>
                  </a:lnTo>
                  <a:lnTo>
                    <a:pt x="355926" y="195343"/>
                  </a:lnTo>
                  <a:lnTo>
                    <a:pt x="348157" y="206868"/>
                  </a:lnTo>
                  <a:lnTo>
                    <a:pt x="336636" y="214638"/>
                  </a:lnTo>
                  <a:lnTo>
                    <a:pt x="322529" y="217487"/>
                  </a:lnTo>
                  <a:lnTo>
                    <a:pt x="36245" y="217487"/>
                  </a:lnTo>
                  <a:lnTo>
                    <a:pt x="22138" y="214638"/>
                  </a:lnTo>
                  <a:lnTo>
                    <a:pt x="10617" y="206868"/>
                  </a:lnTo>
                  <a:lnTo>
                    <a:pt x="2848" y="195343"/>
                  </a:lnTo>
                  <a:lnTo>
                    <a:pt x="0" y="181229"/>
                  </a:lnTo>
                  <a:lnTo>
                    <a:pt x="0" y="3624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881937" y="6279680"/>
              <a:ext cx="351155" cy="217804"/>
            </a:xfrm>
            <a:custGeom>
              <a:avLst/>
              <a:gdLst/>
              <a:ahLst/>
              <a:cxnLst/>
              <a:rect l="l" t="t" r="r" b="b"/>
              <a:pathLst>
                <a:path w="351154" h="217804">
                  <a:moveTo>
                    <a:pt x="0" y="36245"/>
                  </a:moveTo>
                  <a:lnTo>
                    <a:pt x="0" y="181229"/>
                  </a:lnTo>
                  <a:lnTo>
                    <a:pt x="22138" y="214638"/>
                  </a:lnTo>
                  <a:lnTo>
                    <a:pt x="36245" y="217487"/>
                  </a:lnTo>
                  <a:lnTo>
                    <a:pt x="314591" y="217487"/>
                  </a:lnTo>
                  <a:lnTo>
                    <a:pt x="328699" y="214638"/>
                  </a:lnTo>
                  <a:lnTo>
                    <a:pt x="340220" y="206868"/>
                  </a:lnTo>
                  <a:lnTo>
                    <a:pt x="347988" y="195343"/>
                  </a:lnTo>
                  <a:lnTo>
                    <a:pt x="350837" y="181229"/>
                  </a:lnTo>
                  <a:lnTo>
                    <a:pt x="350837" y="36245"/>
                  </a:lnTo>
                  <a:lnTo>
                    <a:pt x="347988" y="22138"/>
                  </a:lnTo>
                  <a:lnTo>
                    <a:pt x="340220" y="10617"/>
                  </a:lnTo>
                  <a:lnTo>
                    <a:pt x="328699" y="2848"/>
                  </a:lnTo>
                  <a:lnTo>
                    <a:pt x="314591" y="0"/>
                  </a:lnTo>
                  <a:lnTo>
                    <a:pt x="36245" y="0"/>
                  </a:lnTo>
                  <a:lnTo>
                    <a:pt x="22138" y="2848"/>
                  </a:lnTo>
                  <a:lnTo>
                    <a:pt x="10617" y="10617"/>
                  </a:lnTo>
                  <a:lnTo>
                    <a:pt x="2848" y="22138"/>
                  </a:lnTo>
                  <a:lnTo>
                    <a:pt x="0" y="36245"/>
                  </a:lnTo>
                  <a:close/>
                </a:path>
              </a:pathLst>
            </a:custGeom>
            <a:solidFill>
              <a:srgbClr val="AA7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881925" y="6279667"/>
              <a:ext cx="351155" cy="217804"/>
            </a:xfrm>
            <a:custGeom>
              <a:avLst/>
              <a:gdLst/>
              <a:ahLst/>
              <a:cxnLst/>
              <a:rect l="l" t="t" r="r" b="b"/>
              <a:pathLst>
                <a:path w="351154" h="217804">
                  <a:moveTo>
                    <a:pt x="0" y="36245"/>
                  </a:moveTo>
                  <a:lnTo>
                    <a:pt x="22138" y="2848"/>
                  </a:lnTo>
                  <a:lnTo>
                    <a:pt x="314591" y="0"/>
                  </a:lnTo>
                  <a:lnTo>
                    <a:pt x="328699" y="2848"/>
                  </a:lnTo>
                  <a:lnTo>
                    <a:pt x="340220" y="10617"/>
                  </a:lnTo>
                  <a:lnTo>
                    <a:pt x="347988" y="22138"/>
                  </a:lnTo>
                  <a:lnTo>
                    <a:pt x="350837" y="36245"/>
                  </a:lnTo>
                  <a:lnTo>
                    <a:pt x="350837" y="181229"/>
                  </a:lnTo>
                  <a:lnTo>
                    <a:pt x="347988" y="195343"/>
                  </a:lnTo>
                  <a:lnTo>
                    <a:pt x="340220" y="206868"/>
                  </a:lnTo>
                  <a:lnTo>
                    <a:pt x="328699" y="214638"/>
                  </a:lnTo>
                  <a:lnTo>
                    <a:pt x="314591" y="217487"/>
                  </a:lnTo>
                  <a:lnTo>
                    <a:pt x="36245" y="217487"/>
                  </a:lnTo>
                  <a:lnTo>
                    <a:pt x="22138" y="214638"/>
                  </a:lnTo>
                  <a:lnTo>
                    <a:pt x="10617" y="206868"/>
                  </a:lnTo>
                  <a:lnTo>
                    <a:pt x="2848" y="195343"/>
                  </a:lnTo>
                  <a:lnTo>
                    <a:pt x="0" y="181229"/>
                  </a:lnTo>
                  <a:lnTo>
                    <a:pt x="0" y="3624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556487" y="5990742"/>
              <a:ext cx="501650" cy="288925"/>
            </a:xfrm>
            <a:custGeom>
              <a:avLst/>
              <a:gdLst/>
              <a:ahLst/>
              <a:cxnLst/>
              <a:rect l="l" t="t" r="r" b="b"/>
              <a:pathLst>
                <a:path w="501650" h="288925">
                  <a:moveTo>
                    <a:pt x="0" y="288925"/>
                  </a:moveTo>
                  <a:lnTo>
                    <a:pt x="244474" y="0"/>
                  </a:lnTo>
                  <a:lnTo>
                    <a:pt x="501650" y="28892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356087" y="4433404"/>
            <a:ext cx="3027680" cy="1073150"/>
            <a:chOff x="4356087" y="4433404"/>
            <a:chExt cx="3027680" cy="1073150"/>
          </a:xfrm>
        </p:grpSpPr>
        <p:sp>
          <p:nvSpPr>
            <p:cNvPr id="13" name="object 13"/>
            <p:cNvSpPr/>
            <p:nvPr/>
          </p:nvSpPr>
          <p:spPr>
            <a:xfrm>
              <a:off x="5910262" y="4963642"/>
              <a:ext cx="1466850" cy="217804"/>
            </a:xfrm>
            <a:custGeom>
              <a:avLst/>
              <a:gdLst/>
              <a:ahLst/>
              <a:cxnLst/>
              <a:rect l="l" t="t" r="r" b="b"/>
              <a:pathLst>
                <a:path w="1466850" h="217804">
                  <a:moveTo>
                    <a:pt x="0" y="36245"/>
                  </a:moveTo>
                  <a:lnTo>
                    <a:pt x="0" y="181241"/>
                  </a:lnTo>
                  <a:lnTo>
                    <a:pt x="22138" y="214638"/>
                  </a:lnTo>
                  <a:lnTo>
                    <a:pt x="36245" y="217487"/>
                  </a:lnTo>
                  <a:lnTo>
                    <a:pt x="1430604" y="217487"/>
                  </a:lnTo>
                  <a:lnTo>
                    <a:pt x="1444711" y="214638"/>
                  </a:lnTo>
                  <a:lnTo>
                    <a:pt x="1456232" y="206870"/>
                  </a:lnTo>
                  <a:lnTo>
                    <a:pt x="1464001" y="195349"/>
                  </a:lnTo>
                  <a:lnTo>
                    <a:pt x="1466850" y="181241"/>
                  </a:lnTo>
                  <a:lnTo>
                    <a:pt x="1466850" y="36245"/>
                  </a:lnTo>
                  <a:lnTo>
                    <a:pt x="1464001" y="22138"/>
                  </a:lnTo>
                  <a:lnTo>
                    <a:pt x="1456232" y="10617"/>
                  </a:lnTo>
                  <a:lnTo>
                    <a:pt x="1444711" y="2848"/>
                  </a:lnTo>
                  <a:lnTo>
                    <a:pt x="1430604" y="0"/>
                  </a:lnTo>
                  <a:lnTo>
                    <a:pt x="36245" y="0"/>
                  </a:lnTo>
                  <a:lnTo>
                    <a:pt x="22138" y="2848"/>
                  </a:lnTo>
                  <a:lnTo>
                    <a:pt x="10617" y="10617"/>
                  </a:lnTo>
                  <a:lnTo>
                    <a:pt x="2848" y="22138"/>
                  </a:lnTo>
                  <a:lnTo>
                    <a:pt x="0" y="36245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10249" y="4963629"/>
              <a:ext cx="1466850" cy="217804"/>
            </a:xfrm>
            <a:custGeom>
              <a:avLst/>
              <a:gdLst/>
              <a:ahLst/>
              <a:cxnLst/>
              <a:rect l="l" t="t" r="r" b="b"/>
              <a:pathLst>
                <a:path w="1466850" h="217804">
                  <a:moveTo>
                    <a:pt x="0" y="36245"/>
                  </a:moveTo>
                  <a:lnTo>
                    <a:pt x="22138" y="2848"/>
                  </a:lnTo>
                  <a:lnTo>
                    <a:pt x="1430604" y="0"/>
                  </a:lnTo>
                  <a:lnTo>
                    <a:pt x="1444711" y="2848"/>
                  </a:lnTo>
                  <a:lnTo>
                    <a:pt x="1456232" y="10617"/>
                  </a:lnTo>
                  <a:lnTo>
                    <a:pt x="1464001" y="22138"/>
                  </a:lnTo>
                  <a:lnTo>
                    <a:pt x="1466850" y="36245"/>
                  </a:lnTo>
                  <a:lnTo>
                    <a:pt x="1466850" y="181241"/>
                  </a:lnTo>
                  <a:lnTo>
                    <a:pt x="1444711" y="214638"/>
                  </a:lnTo>
                  <a:lnTo>
                    <a:pt x="36245" y="217487"/>
                  </a:lnTo>
                  <a:lnTo>
                    <a:pt x="22138" y="214638"/>
                  </a:lnTo>
                  <a:lnTo>
                    <a:pt x="10617" y="206870"/>
                  </a:lnTo>
                  <a:lnTo>
                    <a:pt x="2848" y="195349"/>
                  </a:lnTo>
                  <a:lnTo>
                    <a:pt x="0" y="181241"/>
                  </a:lnTo>
                  <a:lnTo>
                    <a:pt x="0" y="3624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99174" y="5181117"/>
              <a:ext cx="444500" cy="319405"/>
            </a:xfrm>
            <a:custGeom>
              <a:avLst/>
              <a:gdLst/>
              <a:ahLst/>
              <a:cxnLst/>
              <a:rect l="l" t="t" r="r" b="b"/>
              <a:pathLst>
                <a:path w="444500" h="319404">
                  <a:moveTo>
                    <a:pt x="0" y="319087"/>
                  </a:moveTo>
                  <a:lnTo>
                    <a:pt x="444499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643674" y="5181117"/>
              <a:ext cx="675005" cy="278130"/>
            </a:xfrm>
            <a:custGeom>
              <a:avLst/>
              <a:gdLst/>
              <a:ahLst/>
              <a:cxnLst/>
              <a:rect l="l" t="t" r="r" b="b"/>
              <a:pathLst>
                <a:path w="675004" h="278129">
                  <a:moveTo>
                    <a:pt x="674687" y="277812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362449" y="4439767"/>
              <a:ext cx="2482850" cy="219075"/>
            </a:xfrm>
            <a:custGeom>
              <a:avLst/>
              <a:gdLst/>
              <a:ahLst/>
              <a:cxnLst/>
              <a:rect l="l" t="t" r="r" b="b"/>
              <a:pathLst>
                <a:path w="2482850" h="219075">
                  <a:moveTo>
                    <a:pt x="0" y="36512"/>
                  </a:moveTo>
                  <a:lnTo>
                    <a:pt x="0" y="182562"/>
                  </a:lnTo>
                  <a:lnTo>
                    <a:pt x="22299" y="216205"/>
                  </a:lnTo>
                  <a:lnTo>
                    <a:pt x="36512" y="219075"/>
                  </a:lnTo>
                  <a:lnTo>
                    <a:pt x="2446337" y="219075"/>
                  </a:lnTo>
                  <a:lnTo>
                    <a:pt x="2460550" y="216205"/>
                  </a:lnTo>
                  <a:lnTo>
                    <a:pt x="2472156" y="208381"/>
                  </a:lnTo>
                  <a:lnTo>
                    <a:pt x="2479980" y="196775"/>
                  </a:lnTo>
                  <a:lnTo>
                    <a:pt x="2482850" y="182562"/>
                  </a:lnTo>
                  <a:lnTo>
                    <a:pt x="2482850" y="36512"/>
                  </a:lnTo>
                  <a:lnTo>
                    <a:pt x="2479980" y="22299"/>
                  </a:lnTo>
                  <a:lnTo>
                    <a:pt x="2472156" y="10693"/>
                  </a:lnTo>
                  <a:lnTo>
                    <a:pt x="2460550" y="2869"/>
                  </a:lnTo>
                  <a:lnTo>
                    <a:pt x="2446337" y="0"/>
                  </a:lnTo>
                  <a:lnTo>
                    <a:pt x="36512" y="0"/>
                  </a:lnTo>
                  <a:lnTo>
                    <a:pt x="22299" y="2869"/>
                  </a:lnTo>
                  <a:lnTo>
                    <a:pt x="10693" y="10693"/>
                  </a:lnTo>
                  <a:lnTo>
                    <a:pt x="2869" y="22299"/>
                  </a:lnTo>
                  <a:lnTo>
                    <a:pt x="0" y="36512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362437" y="4439754"/>
              <a:ext cx="2482850" cy="219075"/>
            </a:xfrm>
            <a:custGeom>
              <a:avLst/>
              <a:gdLst/>
              <a:ahLst/>
              <a:cxnLst/>
              <a:rect l="l" t="t" r="r" b="b"/>
              <a:pathLst>
                <a:path w="2482850" h="219075">
                  <a:moveTo>
                    <a:pt x="0" y="36512"/>
                  </a:moveTo>
                  <a:lnTo>
                    <a:pt x="22299" y="2869"/>
                  </a:lnTo>
                  <a:lnTo>
                    <a:pt x="2446337" y="0"/>
                  </a:lnTo>
                  <a:lnTo>
                    <a:pt x="2460545" y="2869"/>
                  </a:lnTo>
                  <a:lnTo>
                    <a:pt x="2472151" y="10693"/>
                  </a:lnTo>
                  <a:lnTo>
                    <a:pt x="2479979" y="22299"/>
                  </a:lnTo>
                  <a:lnTo>
                    <a:pt x="2482850" y="36512"/>
                  </a:lnTo>
                  <a:lnTo>
                    <a:pt x="2482850" y="182562"/>
                  </a:lnTo>
                  <a:lnTo>
                    <a:pt x="2460545" y="216205"/>
                  </a:lnTo>
                  <a:lnTo>
                    <a:pt x="36512" y="219075"/>
                  </a:lnTo>
                  <a:lnTo>
                    <a:pt x="22299" y="216205"/>
                  </a:lnTo>
                  <a:lnTo>
                    <a:pt x="10693" y="208381"/>
                  </a:lnTo>
                  <a:lnTo>
                    <a:pt x="2869" y="196775"/>
                  </a:lnTo>
                  <a:lnTo>
                    <a:pt x="0" y="182562"/>
                  </a:lnTo>
                  <a:lnTo>
                    <a:pt x="0" y="3651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51337" y="4658829"/>
              <a:ext cx="1152525" cy="304800"/>
            </a:xfrm>
            <a:custGeom>
              <a:avLst/>
              <a:gdLst/>
              <a:ahLst/>
              <a:cxnLst/>
              <a:rect l="l" t="t" r="r" b="b"/>
              <a:pathLst>
                <a:path w="1152525" h="304800">
                  <a:moveTo>
                    <a:pt x="0" y="304800"/>
                  </a:moveTo>
                  <a:lnTo>
                    <a:pt x="115252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603862" y="4658829"/>
              <a:ext cx="1040130" cy="304800"/>
            </a:xfrm>
            <a:custGeom>
              <a:avLst/>
              <a:gdLst/>
              <a:ahLst/>
              <a:cxnLst/>
              <a:rect l="l" t="t" r="r" b="b"/>
              <a:pathLst>
                <a:path w="1040129" h="304800">
                  <a:moveTo>
                    <a:pt x="1039812" y="304799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297939" y="1643659"/>
            <a:ext cx="7807325" cy="4866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14960" indent="-342900">
              <a:lnSpc>
                <a:spcPct val="100000"/>
              </a:lnSpc>
              <a:spcBef>
                <a:spcPts val="100"/>
              </a:spcBef>
              <a:buClr>
                <a:srgbClr val="941300"/>
              </a:buClr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spc="-5" dirty="0">
                <a:latin typeface="Arial"/>
                <a:cs typeface="Arial"/>
              </a:rPr>
              <a:t>If the pivot is selected randomly, the average-case running time  </a:t>
            </a:r>
            <a:r>
              <a:rPr sz="2000" dirty="0">
                <a:latin typeface="Arial"/>
                <a:cs typeface="Arial"/>
              </a:rPr>
              <a:t>for Quick Sort </a:t>
            </a:r>
            <a:r>
              <a:rPr sz="2000" spc="-5" dirty="0">
                <a:latin typeface="Arial"/>
                <a:cs typeface="Arial"/>
              </a:rPr>
              <a:t>is </a:t>
            </a:r>
            <a:r>
              <a:rPr sz="2000" dirty="0">
                <a:latin typeface="Arial"/>
                <a:cs typeface="Arial"/>
              </a:rPr>
              <a:t>O(n </a:t>
            </a:r>
            <a:r>
              <a:rPr sz="2000" spc="-5" dirty="0">
                <a:latin typeface="Arial"/>
                <a:cs typeface="Arial"/>
              </a:rPr>
              <a:t>log </a:t>
            </a:r>
            <a:r>
              <a:rPr sz="2000" dirty="0">
                <a:latin typeface="Arial"/>
                <a:cs typeface="Arial"/>
              </a:rPr>
              <a:t>n).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Clr>
                <a:srgbClr val="941300"/>
              </a:buClr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spc="-5" dirty="0">
                <a:latin typeface="Arial"/>
                <a:cs typeface="Arial"/>
              </a:rPr>
              <a:t>Proving this requires a probabilistic</a:t>
            </a:r>
            <a:r>
              <a:rPr sz="2000" spc="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analysis.</a:t>
            </a:r>
            <a:endParaRPr sz="20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1200"/>
              </a:spcBef>
              <a:buClr>
                <a:srgbClr val="941300"/>
              </a:buClr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spc="-5" dirty="0">
                <a:latin typeface="Arial"/>
                <a:cs typeface="Arial"/>
              </a:rPr>
              <a:t>We will simply provide an intution for why average-case O(n log </a:t>
            </a:r>
            <a:r>
              <a:rPr sz="2000" spc="-10" dirty="0">
                <a:latin typeface="Arial"/>
                <a:cs typeface="Arial"/>
              </a:rPr>
              <a:t>n)  </a:t>
            </a:r>
            <a:r>
              <a:rPr sz="2000" spc="-5" dirty="0">
                <a:latin typeface="Arial"/>
                <a:cs typeface="Arial"/>
              </a:rPr>
              <a:t>is </a:t>
            </a:r>
            <a:r>
              <a:rPr sz="2000" spc="-10" dirty="0">
                <a:latin typeface="Arial"/>
                <a:cs typeface="Arial"/>
              </a:rPr>
              <a:t>reasonable.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200">
              <a:latin typeface="Arial"/>
              <a:cs typeface="Arial"/>
            </a:endParaRPr>
          </a:p>
          <a:p>
            <a:pPr marL="1962785">
              <a:lnSpc>
                <a:spcPct val="100000"/>
              </a:lnSpc>
              <a:spcBef>
                <a:spcPts val="1385"/>
              </a:spcBef>
            </a:pPr>
            <a:r>
              <a:rPr sz="1800" spc="-5" dirty="0">
                <a:latin typeface="Tahoma"/>
                <a:cs typeface="Tahoma"/>
              </a:rPr>
              <a:t>depth</a:t>
            </a:r>
            <a:endParaRPr sz="1800">
              <a:latin typeface="Tahoma"/>
              <a:cs typeface="Tahoma"/>
            </a:endParaRPr>
          </a:p>
          <a:p>
            <a:pPr marL="2194560">
              <a:lnSpc>
                <a:spcPct val="100000"/>
              </a:lnSpc>
              <a:spcBef>
                <a:spcPts val="1205"/>
              </a:spcBef>
            </a:pPr>
            <a:r>
              <a:rPr sz="1800" dirty="0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/>
              <a:cs typeface="Times New Roman"/>
            </a:endParaRPr>
          </a:p>
          <a:p>
            <a:pPr marL="219456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  <a:p>
            <a:pPr marL="2187575" marR="5433060" indent="-50800">
              <a:lnSpc>
                <a:spcPct val="222200"/>
              </a:lnSpc>
              <a:spcBef>
                <a:spcPts val="484"/>
              </a:spcBef>
            </a:pPr>
            <a:r>
              <a:rPr sz="1800" b="1" i="1" dirty="0">
                <a:latin typeface="Times New Roman"/>
                <a:cs typeface="Times New Roman"/>
              </a:rPr>
              <a:t>…  </a:t>
            </a:r>
            <a:r>
              <a:rPr sz="1800" b="1" i="1" spc="-5" dirty="0">
                <a:latin typeface="Times New Roman"/>
                <a:cs typeface="Times New Roman"/>
              </a:rPr>
              <a:t>h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440600" y="5496572"/>
            <a:ext cx="151383" cy="1267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4259249" y="4957279"/>
            <a:ext cx="831850" cy="230504"/>
            <a:chOff x="4259249" y="4957279"/>
            <a:chExt cx="831850" cy="230504"/>
          </a:xfrm>
        </p:grpSpPr>
        <p:sp>
          <p:nvSpPr>
            <p:cNvPr id="24" name="object 24"/>
            <p:cNvSpPr/>
            <p:nvPr/>
          </p:nvSpPr>
          <p:spPr>
            <a:xfrm>
              <a:off x="4265612" y="4963642"/>
              <a:ext cx="819150" cy="217804"/>
            </a:xfrm>
            <a:custGeom>
              <a:avLst/>
              <a:gdLst/>
              <a:ahLst/>
              <a:cxnLst/>
              <a:rect l="l" t="t" r="r" b="b"/>
              <a:pathLst>
                <a:path w="819150" h="217804">
                  <a:moveTo>
                    <a:pt x="0" y="36245"/>
                  </a:moveTo>
                  <a:lnTo>
                    <a:pt x="0" y="181241"/>
                  </a:lnTo>
                  <a:lnTo>
                    <a:pt x="22138" y="214638"/>
                  </a:lnTo>
                  <a:lnTo>
                    <a:pt x="36245" y="217487"/>
                  </a:lnTo>
                  <a:lnTo>
                    <a:pt x="782904" y="217487"/>
                  </a:lnTo>
                  <a:lnTo>
                    <a:pt x="797011" y="214638"/>
                  </a:lnTo>
                  <a:lnTo>
                    <a:pt x="808532" y="206870"/>
                  </a:lnTo>
                  <a:lnTo>
                    <a:pt x="816301" y="195349"/>
                  </a:lnTo>
                  <a:lnTo>
                    <a:pt x="819150" y="181241"/>
                  </a:lnTo>
                  <a:lnTo>
                    <a:pt x="819150" y="36245"/>
                  </a:lnTo>
                  <a:lnTo>
                    <a:pt x="816301" y="22138"/>
                  </a:lnTo>
                  <a:lnTo>
                    <a:pt x="808532" y="10617"/>
                  </a:lnTo>
                  <a:lnTo>
                    <a:pt x="797011" y="2848"/>
                  </a:lnTo>
                  <a:lnTo>
                    <a:pt x="782904" y="0"/>
                  </a:lnTo>
                  <a:lnTo>
                    <a:pt x="36245" y="0"/>
                  </a:lnTo>
                  <a:lnTo>
                    <a:pt x="22138" y="2848"/>
                  </a:lnTo>
                  <a:lnTo>
                    <a:pt x="10617" y="10617"/>
                  </a:lnTo>
                  <a:lnTo>
                    <a:pt x="2848" y="22138"/>
                  </a:lnTo>
                  <a:lnTo>
                    <a:pt x="0" y="36245"/>
                  </a:lnTo>
                  <a:close/>
                </a:path>
              </a:pathLst>
            </a:custGeom>
            <a:solidFill>
              <a:srgbClr val="941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265599" y="4963629"/>
              <a:ext cx="819150" cy="217804"/>
            </a:xfrm>
            <a:custGeom>
              <a:avLst/>
              <a:gdLst/>
              <a:ahLst/>
              <a:cxnLst/>
              <a:rect l="l" t="t" r="r" b="b"/>
              <a:pathLst>
                <a:path w="819150" h="217804">
                  <a:moveTo>
                    <a:pt x="0" y="36245"/>
                  </a:moveTo>
                  <a:lnTo>
                    <a:pt x="22138" y="2848"/>
                  </a:lnTo>
                  <a:lnTo>
                    <a:pt x="782904" y="0"/>
                  </a:lnTo>
                  <a:lnTo>
                    <a:pt x="797011" y="2848"/>
                  </a:lnTo>
                  <a:lnTo>
                    <a:pt x="808532" y="10617"/>
                  </a:lnTo>
                  <a:lnTo>
                    <a:pt x="816301" y="22138"/>
                  </a:lnTo>
                  <a:lnTo>
                    <a:pt x="819150" y="36245"/>
                  </a:lnTo>
                  <a:lnTo>
                    <a:pt x="819150" y="181241"/>
                  </a:lnTo>
                  <a:lnTo>
                    <a:pt x="797011" y="214638"/>
                  </a:lnTo>
                  <a:lnTo>
                    <a:pt x="36245" y="217487"/>
                  </a:lnTo>
                  <a:lnTo>
                    <a:pt x="22138" y="214638"/>
                  </a:lnTo>
                  <a:lnTo>
                    <a:pt x="10617" y="206870"/>
                  </a:lnTo>
                  <a:lnTo>
                    <a:pt x="2848" y="195349"/>
                  </a:lnTo>
                  <a:lnTo>
                    <a:pt x="0" y="181241"/>
                  </a:lnTo>
                  <a:lnTo>
                    <a:pt x="0" y="3624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75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03794" y="758520"/>
            <a:ext cx="74549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Expected Time Complexity for Quick</a:t>
            </a:r>
            <a:r>
              <a:rPr spc="-55" dirty="0"/>
              <a:t> </a:t>
            </a:r>
            <a:r>
              <a:rPr spc="-5" dirty="0"/>
              <a:t>Sort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40358" y="2017269"/>
            <a:ext cx="6594475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00" spc="15" dirty="0">
                <a:solidFill>
                  <a:srgbClr val="D31F00"/>
                </a:solidFill>
                <a:latin typeface="Comic Sans MS"/>
                <a:cs typeface="Comic Sans MS"/>
              </a:rPr>
              <a:t>Q:</a:t>
            </a:r>
            <a:r>
              <a:rPr sz="1800" spc="-20" dirty="0">
                <a:solidFill>
                  <a:srgbClr val="D31F00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Why</a:t>
            </a:r>
            <a:r>
              <a:rPr sz="1800" spc="-35" dirty="0">
                <a:latin typeface="Comic Sans MS"/>
                <a:cs typeface="Comic Sans MS"/>
              </a:rPr>
              <a:t> </a:t>
            </a:r>
            <a:r>
              <a:rPr sz="1800" spc="5" dirty="0">
                <a:latin typeface="Comic Sans MS"/>
                <a:cs typeface="Comic Sans MS"/>
              </a:rPr>
              <a:t>is</a:t>
            </a:r>
            <a:r>
              <a:rPr sz="1800" spc="-15" dirty="0">
                <a:latin typeface="Comic Sans MS"/>
                <a:cs typeface="Comic Sans MS"/>
              </a:rPr>
              <a:t> </a:t>
            </a:r>
            <a:r>
              <a:rPr sz="1800" spc="5" dirty="0">
                <a:latin typeface="Comic Sans MS"/>
                <a:cs typeface="Comic Sans MS"/>
              </a:rPr>
              <a:t>it</a:t>
            </a:r>
            <a:r>
              <a:rPr sz="1800" spc="-2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reasonable</a:t>
            </a:r>
            <a:r>
              <a:rPr sz="1800" spc="-1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to</a:t>
            </a:r>
            <a:r>
              <a:rPr sz="1800" spc="-1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expect</a:t>
            </a:r>
            <a:r>
              <a:rPr sz="1800" spc="-40" dirty="0">
                <a:latin typeface="Comic Sans MS"/>
                <a:cs typeface="Comic Sans MS"/>
              </a:rPr>
              <a:t> </a:t>
            </a:r>
            <a:r>
              <a:rPr sz="1850" i="1" spc="-15" dirty="0">
                <a:latin typeface="Comic Sans MS"/>
                <a:cs typeface="Comic Sans MS"/>
              </a:rPr>
              <a:t>O</a:t>
            </a:r>
            <a:r>
              <a:rPr sz="1850" i="1" spc="-38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(</a:t>
            </a:r>
            <a:r>
              <a:rPr sz="1850" i="1" dirty="0">
                <a:latin typeface="Comic Sans MS"/>
                <a:cs typeface="Comic Sans MS"/>
              </a:rPr>
              <a:t>n</a:t>
            </a:r>
            <a:r>
              <a:rPr sz="1850" i="1" spc="-330" dirty="0">
                <a:latin typeface="Comic Sans MS"/>
                <a:cs typeface="Comic Sans MS"/>
              </a:rPr>
              <a:t> </a:t>
            </a:r>
            <a:r>
              <a:rPr sz="1800" spc="5" dirty="0">
                <a:latin typeface="Comic Sans MS"/>
                <a:cs typeface="Comic Sans MS"/>
              </a:rPr>
              <a:t>log</a:t>
            </a:r>
            <a:r>
              <a:rPr sz="1800" spc="-370" dirty="0">
                <a:latin typeface="Comic Sans MS"/>
                <a:cs typeface="Comic Sans MS"/>
              </a:rPr>
              <a:t> </a:t>
            </a:r>
            <a:r>
              <a:rPr sz="1850" i="1" spc="10" dirty="0">
                <a:latin typeface="Comic Sans MS"/>
                <a:cs typeface="Comic Sans MS"/>
              </a:rPr>
              <a:t>n</a:t>
            </a:r>
            <a:r>
              <a:rPr sz="1800" spc="10" dirty="0">
                <a:latin typeface="Comic Sans MS"/>
                <a:cs typeface="Comic Sans MS"/>
              </a:rPr>
              <a:t>)</a:t>
            </a:r>
            <a:r>
              <a:rPr sz="1800" spc="12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time</a:t>
            </a:r>
            <a:r>
              <a:rPr sz="1800" spc="-1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complexity?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80273" y="2594482"/>
            <a:ext cx="6019774" cy="2492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64945" y="2609646"/>
            <a:ext cx="203149" cy="1715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82572" y="3126181"/>
            <a:ext cx="4446981" cy="2362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480261" y="3478034"/>
            <a:ext cx="5915329" cy="23630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486636" y="3830524"/>
            <a:ext cx="6543090" cy="23568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1382712" y="4324337"/>
            <a:ext cx="6362700" cy="876300"/>
            <a:chOff x="1382712" y="4324337"/>
            <a:chExt cx="6362700" cy="876300"/>
          </a:xfrm>
        </p:grpSpPr>
        <p:sp>
          <p:nvSpPr>
            <p:cNvPr id="11" name="object 11"/>
            <p:cNvSpPr/>
            <p:nvPr/>
          </p:nvSpPr>
          <p:spPr>
            <a:xfrm>
              <a:off x="1401762" y="4578337"/>
              <a:ext cx="6324600" cy="381000"/>
            </a:xfrm>
            <a:custGeom>
              <a:avLst/>
              <a:gdLst/>
              <a:ahLst/>
              <a:cxnLst/>
              <a:rect l="l" t="t" r="r" b="b"/>
              <a:pathLst>
                <a:path w="6324600" h="381000">
                  <a:moveTo>
                    <a:pt x="0" y="380619"/>
                  </a:moveTo>
                  <a:lnTo>
                    <a:pt x="0" y="0"/>
                  </a:lnTo>
                  <a:lnTo>
                    <a:pt x="6324587" y="0"/>
                  </a:lnTo>
                  <a:lnTo>
                    <a:pt x="6324587" y="380618"/>
                  </a:lnTo>
                  <a:lnTo>
                    <a:pt x="0" y="380619"/>
                  </a:lnTo>
                  <a:close/>
                </a:path>
              </a:pathLst>
            </a:custGeom>
            <a:ln w="38100">
              <a:solidFill>
                <a:srgbClr val="0E2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54362" y="4343387"/>
              <a:ext cx="76200" cy="838200"/>
            </a:xfrm>
            <a:custGeom>
              <a:avLst/>
              <a:gdLst/>
              <a:ahLst/>
              <a:cxnLst/>
              <a:rect l="l" t="t" r="r" b="b"/>
              <a:pathLst>
                <a:path w="76200" h="838200">
                  <a:moveTo>
                    <a:pt x="76200" y="0"/>
                  </a:moveTo>
                  <a:lnTo>
                    <a:pt x="0" y="838200"/>
                  </a:lnTo>
                </a:path>
              </a:pathLst>
            </a:custGeom>
            <a:ln w="38100">
              <a:solidFill>
                <a:srgbClr val="D84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1921141" y="5767616"/>
            <a:ext cx="792480" cy="260350"/>
          </a:xfrm>
          <a:custGeom>
            <a:avLst/>
            <a:gdLst/>
            <a:ahLst/>
            <a:cxnLst/>
            <a:rect l="l" t="t" r="r" b="b"/>
            <a:pathLst>
              <a:path w="792480" h="260350">
                <a:moveTo>
                  <a:pt x="135877" y="109537"/>
                </a:moveTo>
                <a:lnTo>
                  <a:pt x="123723" y="73266"/>
                </a:lnTo>
                <a:lnTo>
                  <a:pt x="111912" y="68808"/>
                </a:lnTo>
                <a:lnTo>
                  <a:pt x="111912" y="108750"/>
                </a:lnTo>
                <a:lnTo>
                  <a:pt x="111696" y="116166"/>
                </a:lnTo>
                <a:lnTo>
                  <a:pt x="99529" y="154914"/>
                </a:lnTo>
                <a:lnTo>
                  <a:pt x="61341" y="171145"/>
                </a:lnTo>
                <a:lnTo>
                  <a:pt x="53149" y="169481"/>
                </a:lnTo>
                <a:lnTo>
                  <a:pt x="45389" y="166154"/>
                </a:lnTo>
                <a:lnTo>
                  <a:pt x="48983" y="151460"/>
                </a:lnTo>
                <a:lnTo>
                  <a:pt x="52336" y="137096"/>
                </a:lnTo>
                <a:lnTo>
                  <a:pt x="55435" y="123088"/>
                </a:lnTo>
                <a:lnTo>
                  <a:pt x="58305" y="109410"/>
                </a:lnTo>
                <a:lnTo>
                  <a:pt x="66192" y="103301"/>
                </a:lnTo>
                <a:lnTo>
                  <a:pt x="72504" y="99085"/>
                </a:lnTo>
                <a:lnTo>
                  <a:pt x="83858" y="93535"/>
                </a:lnTo>
                <a:lnTo>
                  <a:pt x="90779" y="91909"/>
                </a:lnTo>
                <a:lnTo>
                  <a:pt x="105067" y="91909"/>
                </a:lnTo>
                <a:lnTo>
                  <a:pt x="109448" y="95504"/>
                </a:lnTo>
                <a:lnTo>
                  <a:pt x="111137" y="102679"/>
                </a:lnTo>
                <a:lnTo>
                  <a:pt x="111912" y="108750"/>
                </a:lnTo>
                <a:lnTo>
                  <a:pt x="111912" y="68808"/>
                </a:lnTo>
                <a:lnTo>
                  <a:pt x="104025" y="67830"/>
                </a:lnTo>
                <a:lnTo>
                  <a:pt x="97624" y="67945"/>
                </a:lnTo>
                <a:lnTo>
                  <a:pt x="91909" y="68999"/>
                </a:lnTo>
                <a:lnTo>
                  <a:pt x="78079" y="73672"/>
                </a:lnTo>
                <a:lnTo>
                  <a:pt x="70637" y="77177"/>
                </a:lnTo>
                <a:lnTo>
                  <a:pt x="62661" y="81851"/>
                </a:lnTo>
                <a:lnTo>
                  <a:pt x="63347" y="79794"/>
                </a:lnTo>
                <a:lnTo>
                  <a:pt x="64211" y="77533"/>
                </a:lnTo>
                <a:lnTo>
                  <a:pt x="65239" y="75069"/>
                </a:lnTo>
                <a:lnTo>
                  <a:pt x="65963" y="73177"/>
                </a:lnTo>
                <a:lnTo>
                  <a:pt x="66421" y="71869"/>
                </a:lnTo>
                <a:lnTo>
                  <a:pt x="67398" y="67945"/>
                </a:lnTo>
                <a:lnTo>
                  <a:pt x="67017" y="65227"/>
                </a:lnTo>
                <a:lnTo>
                  <a:pt x="63881" y="60706"/>
                </a:lnTo>
                <a:lnTo>
                  <a:pt x="62661" y="60134"/>
                </a:lnTo>
                <a:lnTo>
                  <a:pt x="61531" y="59588"/>
                </a:lnTo>
                <a:lnTo>
                  <a:pt x="53822" y="59588"/>
                </a:lnTo>
                <a:lnTo>
                  <a:pt x="49733" y="61925"/>
                </a:lnTo>
                <a:lnTo>
                  <a:pt x="46151" y="66611"/>
                </a:lnTo>
                <a:lnTo>
                  <a:pt x="45389" y="67589"/>
                </a:lnTo>
                <a:lnTo>
                  <a:pt x="43091" y="70510"/>
                </a:lnTo>
                <a:lnTo>
                  <a:pt x="40855" y="75285"/>
                </a:lnTo>
                <a:lnTo>
                  <a:pt x="39446" y="80924"/>
                </a:lnTo>
                <a:lnTo>
                  <a:pt x="35293" y="105130"/>
                </a:lnTo>
                <a:lnTo>
                  <a:pt x="33223" y="116154"/>
                </a:lnTo>
                <a:lnTo>
                  <a:pt x="13423" y="200279"/>
                </a:lnTo>
                <a:lnTo>
                  <a:pt x="876" y="247967"/>
                </a:lnTo>
                <a:lnTo>
                  <a:pt x="0" y="251472"/>
                </a:lnTo>
                <a:lnTo>
                  <a:pt x="406" y="254330"/>
                </a:lnTo>
                <a:lnTo>
                  <a:pt x="3797" y="258787"/>
                </a:lnTo>
                <a:lnTo>
                  <a:pt x="6400" y="259892"/>
                </a:lnTo>
                <a:lnTo>
                  <a:pt x="13449" y="259892"/>
                </a:lnTo>
                <a:lnTo>
                  <a:pt x="16624" y="258787"/>
                </a:lnTo>
                <a:lnTo>
                  <a:pt x="22225" y="254368"/>
                </a:lnTo>
                <a:lnTo>
                  <a:pt x="24066" y="251523"/>
                </a:lnTo>
                <a:lnTo>
                  <a:pt x="39319" y="191439"/>
                </a:lnTo>
                <a:lnTo>
                  <a:pt x="48120" y="193967"/>
                </a:lnTo>
                <a:lnTo>
                  <a:pt x="55435" y="195084"/>
                </a:lnTo>
                <a:lnTo>
                  <a:pt x="65239" y="195160"/>
                </a:lnTo>
                <a:lnTo>
                  <a:pt x="76073" y="194144"/>
                </a:lnTo>
                <a:lnTo>
                  <a:pt x="115646" y="168643"/>
                </a:lnTo>
                <a:lnTo>
                  <a:pt x="134531" y="121602"/>
                </a:lnTo>
                <a:lnTo>
                  <a:pt x="135877" y="109537"/>
                </a:lnTo>
                <a:close/>
              </a:path>
              <a:path w="792480" h="260350">
                <a:moveTo>
                  <a:pt x="228701" y="8191"/>
                </a:moveTo>
                <a:lnTo>
                  <a:pt x="227634" y="5638"/>
                </a:lnTo>
                <a:lnTo>
                  <a:pt x="223367" y="1130"/>
                </a:lnTo>
                <a:lnTo>
                  <a:pt x="220865" y="0"/>
                </a:lnTo>
                <a:lnTo>
                  <a:pt x="216103" y="50"/>
                </a:lnTo>
                <a:lnTo>
                  <a:pt x="183718" y="34010"/>
                </a:lnTo>
                <a:lnTo>
                  <a:pt x="180365" y="39458"/>
                </a:lnTo>
                <a:lnTo>
                  <a:pt x="162864" y="89382"/>
                </a:lnTo>
                <a:lnTo>
                  <a:pt x="159639" y="121780"/>
                </a:lnTo>
                <a:lnTo>
                  <a:pt x="162775" y="162687"/>
                </a:lnTo>
                <a:lnTo>
                  <a:pt x="187909" y="221500"/>
                </a:lnTo>
                <a:lnTo>
                  <a:pt x="216103" y="242150"/>
                </a:lnTo>
                <a:lnTo>
                  <a:pt x="221399" y="242062"/>
                </a:lnTo>
                <a:lnTo>
                  <a:pt x="223558" y="241173"/>
                </a:lnTo>
                <a:lnTo>
                  <a:pt x="227672" y="237286"/>
                </a:lnTo>
                <a:lnTo>
                  <a:pt x="228701" y="235013"/>
                </a:lnTo>
                <a:lnTo>
                  <a:pt x="228701" y="228828"/>
                </a:lnTo>
                <a:lnTo>
                  <a:pt x="226415" y="225234"/>
                </a:lnTo>
                <a:lnTo>
                  <a:pt x="221856" y="221589"/>
                </a:lnTo>
                <a:lnTo>
                  <a:pt x="218147" y="218744"/>
                </a:lnTo>
                <a:lnTo>
                  <a:pt x="210870" y="213029"/>
                </a:lnTo>
                <a:lnTo>
                  <a:pt x="198983" y="196951"/>
                </a:lnTo>
                <a:lnTo>
                  <a:pt x="190500" y="176834"/>
                </a:lnTo>
                <a:lnTo>
                  <a:pt x="185407" y="152692"/>
                </a:lnTo>
                <a:lnTo>
                  <a:pt x="183718" y="124510"/>
                </a:lnTo>
                <a:lnTo>
                  <a:pt x="184111" y="112763"/>
                </a:lnTo>
                <a:lnTo>
                  <a:pt x="194246" y="63766"/>
                </a:lnTo>
                <a:lnTo>
                  <a:pt x="217779" y="26809"/>
                </a:lnTo>
                <a:lnTo>
                  <a:pt x="221399" y="23164"/>
                </a:lnTo>
                <a:lnTo>
                  <a:pt x="226263" y="17856"/>
                </a:lnTo>
                <a:lnTo>
                  <a:pt x="228701" y="13817"/>
                </a:lnTo>
                <a:lnTo>
                  <a:pt x="228701" y="8191"/>
                </a:lnTo>
                <a:close/>
              </a:path>
              <a:path w="792480" h="260350">
                <a:moveTo>
                  <a:pt x="359625" y="86956"/>
                </a:moveTo>
                <a:lnTo>
                  <a:pt x="336181" y="64020"/>
                </a:lnTo>
                <a:lnTo>
                  <a:pt x="335483" y="64135"/>
                </a:lnTo>
                <a:lnTo>
                  <a:pt x="325158" y="65697"/>
                </a:lnTo>
                <a:lnTo>
                  <a:pt x="313448" y="70688"/>
                </a:lnTo>
                <a:lnTo>
                  <a:pt x="301040" y="79006"/>
                </a:lnTo>
                <a:lnTo>
                  <a:pt x="287947" y="90639"/>
                </a:lnTo>
                <a:lnTo>
                  <a:pt x="291045" y="76822"/>
                </a:lnTo>
                <a:lnTo>
                  <a:pt x="292874" y="66598"/>
                </a:lnTo>
                <a:lnTo>
                  <a:pt x="290131" y="61480"/>
                </a:lnTo>
                <a:lnTo>
                  <a:pt x="287947" y="61480"/>
                </a:lnTo>
                <a:lnTo>
                  <a:pt x="279438" y="61480"/>
                </a:lnTo>
                <a:lnTo>
                  <a:pt x="264693" y="89319"/>
                </a:lnTo>
                <a:lnTo>
                  <a:pt x="263893" y="93065"/>
                </a:lnTo>
                <a:lnTo>
                  <a:pt x="249974" y="139636"/>
                </a:lnTo>
                <a:lnTo>
                  <a:pt x="247218" y="148678"/>
                </a:lnTo>
                <a:lnTo>
                  <a:pt x="240626" y="178625"/>
                </a:lnTo>
                <a:lnTo>
                  <a:pt x="239991" y="182181"/>
                </a:lnTo>
                <a:lnTo>
                  <a:pt x="238518" y="188099"/>
                </a:lnTo>
                <a:lnTo>
                  <a:pt x="238861" y="190969"/>
                </a:lnTo>
                <a:lnTo>
                  <a:pt x="242049" y="195402"/>
                </a:lnTo>
                <a:lnTo>
                  <a:pt x="244589" y="196507"/>
                </a:lnTo>
                <a:lnTo>
                  <a:pt x="251498" y="196507"/>
                </a:lnTo>
                <a:lnTo>
                  <a:pt x="265391" y="169138"/>
                </a:lnTo>
                <a:lnTo>
                  <a:pt x="266039" y="165582"/>
                </a:lnTo>
                <a:lnTo>
                  <a:pt x="267563" y="159499"/>
                </a:lnTo>
                <a:lnTo>
                  <a:pt x="268757" y="155676"/>
                </a:lnTo>
                <a:lnTo>
                  <a:pt x="271945" y="147066"/>
                </a:lnTo>
                <a:lnTo>
                  <a:pt x="273278" y="143192"/>
                </a:lnTo>
                <a:lnTo>
                  <a:pt x="300443" y="103860"/>
                </a:lnTo>
                <a:lnTo>
                  <a:pt x="329920" y="88112"/>
                </a:lnTo>
                <a:lnTo>
                  <a:pt x="333692" y="89712"/>
                </a:lnTo>
                <a:lnTo>
                  <a:pt x="335483" y="94500"/>
                </a:lnTo>
                <a:lnTo>
                  <a:pt x="335267" y="102489"/>
                </a:lnTo>
                <a:lnTo>
                  <a:pt x="333082" y="113652"/>
                </a:lnTo>
                <a:lnTo>
                  <a:pt x="332536" y="115862"/>
                </a:lnTo>
                <a:lnTo>
                  <a:pt x="331457" y="119608"/>
                </a:lnTo>
                <a:lnTo>
                  <a:pt x="328256" y="130162"/>
                </a:lnTo>
                <a:lnTo>
                  <a:pt x="327190" y="133921"/>
                </a:lnTo>
                <a:lnTo>
                  <a:pt x="317169" y="195338"/>
                </a:lnTo>
                <a:lnTo>
                  <a:pt x="320192" y="199047"/>
                </a:lnTo>
                <a:lnTo>
                  <a:pt x="330708" y="199047"/>
                </a:lnTo>
                <a:lnTo>
                  <a:pt x="333895" y="197954"/>
                </a:lnTo>
                <a:lnTo>
                  <a:pt x="347243" y="154609"/>
                </a:lnTo>
                <a:lnTo>
                  <a:pt x="348221" y="147904"/>
                </a:lnTo>
                <a:lnTo>
                  <a:pt x="349288" y="141909"/>
                </a:lnTo>
                <a:lnTo>
                  <a:pt x="350469" y="136626"/>
                </a:lnTo>
                <a:lnTo>
                  <a:pt x="353339" y="125603"/>
                </a:lnTo>
                <a:lnTo>
                  <a:pt x="356323" y="113639"/>
                </a:lnTo>
                <a:lnTo>
                  <a:pt x="358330" y="103416"/>
                </a:lnTo>
                <a:lnTo>
                  <a:pt x="359435" y="94513"/>
                </a:lnTo>
                <a:lnTo>
                  <a:pt x="359625" y="86956"/>
                </a:lnTo>
                <a:close/>
              </a:path>
              <a:path w="792480" h="260350">
                <a:moveTo>
                  <a:pt x="565162" y="120446"/>
                </a:moveTo>
                <a:lnTo>
                  <a:pt x="437794" y="120446"/>
                </a:lnTo>
                <a:lnTo>
                  <a:pt x="437794" y="133756"/>
                </a:lnTo>
                <a:lnTo>
                  <a:pt x="565162" y="133756"/>
                </a:lnTo>
                <a:lnTo>
                  <a:pt x="565162" y="120446"/>
                </a:lnTo>
                <a:close/>
              </a:path>
              <a:path w="792480" h="260350">
                <a:moveTo>
                  <a:pt x="681761" y="8737"/>
                </a:moveTo>
                <a:lnTo>
                  <a:pt x="680491" y="7277"/>
                </a:lnTo>
                <a:lnTo>
                  <a:pt x="680491" y="29235"/>
                </a:lnTo>
                <a:lnTo>
                  <a:pt x="680707" y="26530"/>
                </a:lnTo>
                <a:lnTo>
                  <a:pt x="681545" y="19342"/>
                </a:lnTo>
                <a:lnTo>
                  <a:pt x="681761" y="16637"/>
                </a:lnTo>
                <a:lnTo>
                  <a:pt x="681761" y="8737"/>
                </a:lnTo>
                <a:close/>
              </a:path>
              <a:path w="792480" h="260350">
                <a:moveTo>
                  <a:pt x="702030" y="175983"/>
                </a:moveTo>
                <a:lnTo>
                  <a:pt x="700938" y="173240"/>
                </a:lnTo>
                <a:lnTo>
                  <a:pt x="696569" y="168846"/>
                </a:lnTo>
                <a:lnTo>
                  <a:pt x="693813" y="167741"/>
                </a:lnTo>
                <a:lnTo>
                  <a:pt x="690473" y="167741"/>
                </a:lnTo>
                <a:lnTo>
                  <a:pt x="677964" y="167982"/>
                </a:lnTo>
                <a:lnTo>
                  <a:pt x="677887" y="163791"/>
                </a:lnTo>
                <a:lnTo>
                  <a:pt x="677545" y="158419"/>
                </a:lnTo>
                <a:lnTo>
                  <a:pt x="676351" y="145313"/>
                </a:lnTo>
                <a:lnTo>
                  <a:pt x="676059" y="139750"/>
                </a:lnTo>
                <a:lnTo>
                  <a:pt x="676059" y="135166"/>
                </a:lnTo>
                <a:lnTo>
                  <a:pt x="676211" y="127647"/>
                </a:lnTo>
                <a:lnTo>
                  <a:pt x="676681" y="118440"/>
                </a:lnTo>
                <a:lnTo>
                  <a:pt x="677468" y="107569"/>
                </a:lnTo>
                <a:lnTo>
                  <a:pt x="679691" y="82461"/>
                </a:lnTo>
                <a:lnTo>
                  <a:pt x="680491" y="71539"/>
                </a:lnTo>
                <a:lnTo>
                  <a:pt x="680961" y="62318"/>
                </a:lnTo>
                <a:lnTo>
                  <a:pt x="681126" y="54737"/>
                </a:lnTo>
                <a:lnTo>
                  <a:pt x="681126" y="52133"/>
                </a:lnTo>
                <a:lnTo>
                  <a:pt x="681024" y="48183"/>
                </a:lnTo>
                <a:lnTo>
                  <a:pt x="680593" y="37604"/>
                </a:lnTo>
                <a:lnTo>
                  <a:pt x="680491" y="33655"/>
                </a:lnTo>
                <a:lnTo>
                  <a:pt x="680478" y="7277"/>
                </a:lnTo>
                <a:lnTo>
                  <a:pt x="679132" y="5702"/>
                </a:lnTo>
                <a:lnTo>
                  <a:pt x="676059" y="5702"/>
                </a:lnTo>
                <a:lnTo>
                  <a:pt x="667600" y="5702"/>
                </a:lnTo>
                <a:lnTo>
                  <a:pt x="661009" y="9245"/>
                </a:lnTo>
                <a:lnTo>
                  <a:pt x="657682" y="12674"/>
                </a:lnTo>
                <a:lnTo>
                  <a:pt x="654100" y="16357"/>
                </a:lnTo>
                <a:lnTo>
                  <a:pt x="646341" y="23050"/>
                </a:lnTo>
                <a:lnTo>
                  <a:pt x="640346" y="27901"/>
                </a:lnTo>
                <a:lnTo>
                  <a:pt x="636117" y="30937"/>
                </a:lnTo>
                <a:lnTo>
                  <a:pt x="629373" y="36283"/>
                </a:lnTo>
                <a:lnTo>
                  <a:pt x="625995" y="40830"/>
                </a:lnTo>
                <a:lnTo>
                  <a:pt x="625995" y="47675"/>
                </a:lnTo>
                <a:lnTo>
                  <a:pt x="627151" y="50431"/>
                </a:lnTo>
                <a:lnTo>
                  <a:pt x="631761" y="55219"/>
                </a:lnTo>
                <a:lnTo>
                  <a:pt x="634479" y="56413"/>
                </a:lnTo>
                <a:lnTo>
                  <a:pt x="640511" y="56413"/>
                </a:lnTo>
                <a:lnTo>
                  <a:pt x="647204" y="52184"/>
                </a:lnTo>
                <a:lnTo>
                  <a:pt x="657682" y="43738"/>
                </a:lnTo>
                <a:lnTo>
                  <a:pt x="657567" y="52451"/>
                </a:lnTo>
                <a:lnTo>
                  <a:pt x="657136" y="62992"/>
                </a:lnTo>
                <a:lnTo>
                  <a:pt x="656361" y="75336"/>
                </a:lnTo>
                <a:lnTo>
                  <a:pt x="654507" y="98894"/>
                </a:lnTo>
                <a:lnTo>
                  <a:pt x="654100" y="103847"/>
                </a:lnTo>
                <a:lnTo>
                  <a:pt x="653275" y="116230"/>
                </a:lnTo>
                <a:lnTo>
                  <a:pt x="652767" y="126669"/>
                </a:lnTo>
                <a:lnTo>
                  <a:pt x="652614" y="135140"/>
                </a:lnTo>
                <a:lnTo>
                  <a:pt x="652614" y="138849"/>
                </a:lnTo>
                <a:lnTo>
                  <a:pt x="652932" y="144411"/>
                </a:lnTo>
                <a:lnTo>
                  <a:pt x="654189" y="159232"/>
                </a:lnTo>
                <a:lnTo>
                  <a:pt x="654507" y="164833"/>
                </a:lnTo>
                <a:lnTo>
                  <a:pt x="654507" y="168617"/>
                </a:lnTo>
                <a:lnTo>
                  <a:pt x="649655" y="168376"/>
                </a:lnTo>
                <a:lnTo>
                  <a:pt x="631444" y="168338"/>
                </a:lnTo>
                <a:lnTo>
                  <a:pt x="625360" y="172313"/>
                </a:lnTo>
                <a:lnTo>
                  <a:pt x="625360" y="185089"/>
                </a:lnTo>
                <a:lnTo>
                  <a:pt x="693813" y="190804"/>
                </a:lnTo>
                <a:lnTo>
                  <a:pt x="696569" y="189712"/>
                </a:lnTo>
                <a:lnTo>
                  <a:pt x="700938" y="185394"/>
                </a:lnTo>
                <a:lnTo>
                  <a:pt x="702030" y="182626"/>
                </a:lnTo>
                <a:lnTo>
                  <a:pt x="702030" y="175983"/>
                </a:lnTo>
                <a:close/>
              </a:path>
              <a:path w="792480" h="260350">
                <a:moveTo>
                  <a:pt x="792010" y="121780"/>
                </a:moveTo>
                <a:lnTo>
                  <a:pt x="784669" y="73025"/>
                </a:lnTo>
                <a:lnTo>
                  <a:pt x="767930" y="34353"/>
                </a:lnTo>
                <a:lnTo>
                  <a:pt x="740587" y="3302"/>
                </a:lnTo>
                <a:lnTo>
                  <a:pt x="735037" y="101"/>
                </a:lnTo>
                <a:lnTo>
                  <a:pt x="729716" y="177"/>
                </a:lnTo>
                <a:lnTo>
                  <a:pt x="727595" y="1130"/>
                </a:lnTo>
                <a:lnTo>
                  <a:pt x="723353" y="5676"/>
                </a:lnTo>
                <a:lnTo>
                  <a:pt x="722312" y="8191"/>
                </a:lnTo>
                <a:lnTo>
                  <a:pt x="722312" y="13817"/>
                </a:lnTo>
                <a:lnTo>
                  <a:pt x="724776" y="17856"/>
                </a:lnTo>
                <a:lnTo>
                  <a:pt x="729716" y="23164"/>
                </a:lnTo>
                <a:lnTo>
                  <a:pt x="733298" y="26809"/>
                </a:lnTo>
                <a:lnTo>
                  <a:pt x="740638" y="34175"/>
                </a:lnTo>
                <a:lnTo>
                  <a:pt x="746810" y="42392"/>
                </a:lnTo>
                <a:lnTo>
                  <a:pt x="764235" y="88938"/>
                </a:lnTo>
                <a:lnTo>
                  <a:pt x="767930" y="124510"/>
                </a:lnTo>
                <a:lnTo>
                  <a:pt x="766203" y="152692"/>
                </a:lnTo>
                <a:lnTo>
                  <a:pt x="761034" y="176834"/>
                </a:lnTo>
                <a:lnTo>
                  <a:pt x="752436" y="196951"/>
                </a:lnTo>
                <a:lnTo>
                  <a:pt x="740397" y="213029"/>
                </a:lnTo>
                <a:lnTo>
                  <a:pt x="736638" y="215887"/>
                </a:lnTo>
                <a:lnTo>
                  <a:pt x="729259" y="221589"/>
                </a:lnTo>
                <a:lnTo>
                  <a:pt x="724623" y="225234"/>
                </a:lnTo>
                <a:lnTo>
                  <a:pt x="722312" y="228828"/>
                </a:lnTo>
                <a:lnTo>
                  <a:pt x="722312" y="235013"/>
                </a:lnTo>
                <a:lnTo>
                  <a:pt x="723366" y="237299"/>
                </a:lnTo>
                <a:lnTo>
                  <a:pt x="727506" y="241173"/>
                </a:lnTo>
                <a:lnTo>
                  <a:pt x="729716" y="242074"/>
                </a:lnTo>
                <a:lnTo>
                  <a:pt x="735037" y="242150"/>
                </a:lnTo>
                <a:lnTo>
                  <a:pt x="737870" y="241236"/>
                </a:lnTo>
                <a:lnTo>
                  <a:pt x="741146" y="239407"/>
                </a:lnTo>
                <a:lnTo>
                  <a:pt x="763397" y="221500"/>
                </a:lnTo>
                <a:lnTo>
                  <a:pt x="779284" y="195935"/>
                </a:lnTo>
                <a:lnTo>
                  <a:pt x="788822" y="162687"/>
                </a:lnTo>
                <a:lnTo>
                  <a:pt x="792010" y="1217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1408899" y="5271287"/>
            <a:ext cx="6349365" cy="727710"/>
            <a:chOff x="1408899" y="5271287"/>
            <a:chExt cx="6349365" cy="727710"/>
          </a:xfrm>
        </p:grpSpPr>
        <p:sp>
          <p:nvSpPr>
            <p:cNvPr id="15" name="object 15"/>
            <p:cNvSpPr/>
            <p:nvPr/>
          </p:nvSpPr>
          <p:spPr>
            <a:xfrm>
              <a:off x="1413662" y="5276050"/>
              <a:ext cx="1798955" cy="425450"/>
            </a:xfrm>
            <a:custGeom>
              <a:avLst/>
              <a:gdLst/>
              <a:ahLst/>
              <a:cxnLst/>
              <a:rect l="l" t="t" r="r" b="b"/>
              <a:pathLst>
                <a:path w="1798955" h="425450">
                  <a:moveTo>
                    <a:pt x="1798637" y="0"/>
                  </a:moveTo>
                  <a:lnTo>
                    <a:pt x="1793283" y="56551"/>
                  </a:lnTo>
                  <a:lnTo>
                    <a:pt x="1778173" y="107367"/>
                  </a:lnTo>
                  <a:lnTo>
                    <a:pt x="1754736" y="150420"/>
                  </a:lnTo>
                  <a:lnTo>
                    <a:pt x="1724401" y="183682"/>
                  </a:lnTo>
                  <a:lnTo>
                    <a:pt x="1688597" y="205126"/>
                  </a:lnTo>
                  <a:lnTo>
                    <a:pt x="1648752" y="212725"/>
                  </a:lnTo>
                  <a:lnTo>
                    <a:pt x="1049210" y="212725"/>
                  </a:lnTo>
                  <a:lnTo>
                    <a:pt x="1009365" y="220323"/>
                  </a:lnTo>
                  <a:lnTo>
                    <a:pt x="973560" y="241767"/>
                  </a:lnTo>
                  <a:lnTo>
                    <a:pt x="943225" y="275029"/>
                  </a:lnTo>
                  <a:lnTo>
                    <a:pt x="919789" y="318082"/>
                  </a:lnTo>
                  <a:lnTo>
                    <a:pt x="904679" y="368898"/>
                  </a:lnTo>
                  <a:lnTo>
                    <a:pt x="899325" y="425450"/>
                  </a:lnTo>
                  <a:lnTo>
                    <a:pt x="893970" y="368898"/>
                  </a:lnTo>
                  <a:lnTo>
                    <a:pt x="878861" y="318082"/>
                  </a:lnTo>
                  <a:lnTo>
                    <a:pt x="855424" y="275029"/>
                  </a:lnTo>
                  <a:lnTo>
                    <a:pt x="825089" y="241767"/>
                  </a:lnTo>
                  <a:lnTo>
                    <a:pt x="789284" y="220323"/>
                  </a:lnTo>
                  <a:lnTo>
                    <a:pt x="749439" y="212725"/>
                  </a:lnTo>
                  <a:lnTo>
                    <a:pt x="149885" y="212725"/>
                  </a:lnTo>
                  <a:lnTo>
                    <a:pt x="110040" y="205126"/>
                  </a:lnTo>
                  <a:lnTo>
                    <a:pt x="74235" y="183682"/>
                  </a:lnTo>
                  <a:lnTo>
                    <a:pt x="43900" y="150420"/>
                  </a:lnTo>
                  <a:lnTo>
                    <a:pt x="20463" y="107367"/>
                  </a:lnTo>
                  <a:lnTo>
                    <a:pt x="5354" y="56551"/>
                  </a:ln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241675" y="5284787"/>
              <a:ext cx="4511675" cy="425450"/>
            </a:xfrm>
            <a:custGeom>
              <a:avLst/>
              <a:gdLst/>
              <a:ahLst/>
              <a:cxnLst/>
              <a:rect l="l" t="t" r="r" b="b"/>
              <a:pathLst>
                <a:path w="4511675" h="425450">
                  <a:moveTo>
                    <a:pt x="4511662" y="0"/>
                  </a:moveTo>
                  <a:lnTo>
                    <a:pt x="4492495" y="67238"/>
                  </a:lnTo>
                  <a:lnTo>
                    <a:pt x="4439122" y="125633"/>
                  </a:lnTo>
                  <a:lnTo>
                    <a:pt x="4401543" y="150420"/>
                  </a:lnTo>
                  <a:lnTo>
                    <a:pt x="4357735" y="171682"/>
                  </a:lnTo>
                  <a:lnTo>
                    <a:pt x="4308472" y="188981"/>
                  </a:lnTo>
                  <a:lnTo>
                    <a:pt x="4254528" y="201880"/>
                  </a:lnTo>
                  <a:lnTo>
                    <a:pt x="4196676" y="209940"/>
                  </a:lnTo>
                  <a:lnTo>
                    <a:pt x="4135691" y="212725"/>
                  </a:lnTo>
                  <a:lnTo>
                    <a:pt x="2631808" y="212725"/>
                  </a:lnTo>
                  <a:lnTo>
                    <a:pt x="2570823" y="215509"/>
                  </a:lnTo>
                  <a:lnTo>
                    <a:pt x="2512970" y="223569"/>
                  </a:lnTo>
                  <a:lnTo>
                    <a:pt x="2459024" y="236468"/>
                  </a:lnTo>
                  <a:lnTo>
                    <a:pt x="2409759" y="253767"/>
                  </a:lnTo>
                  <a:lnTo>
                    <a:pt x="2365949" y="275029"/>
                  </a:lnTo>
                  <a:lnTo>
                    <a:pt x="2328369" y="299816"/>
                  </a:lnTo>
                  <a:lnTo>
                    <a:pt x="2297792" y="327689"/>
                  </a:lnTo>
                  <a:lnTo>
                    <a:pt x="2260745" y="390944"/>
                  </a:lnTo>
                  <a:lnTo>
                    <a:pt x="2255824" y="425450"/>
                  </a:lnTo>
                  <a:lnTo>
                    <a:pt x="2250904" y="390944"/>
                  </a:lnTo>
                  <a:lnTo>
                    <a:pt x="2213860" y="327689"/>
                  </a:lnTo>
                  <a:lnTo>
                    <a:pt x="2183284" y="299816"/>
                  </a:lnTo>
                  <a:lnTo>
                    <a:pt x="2145706" y="275029"/>
                  </a:lnTo>
                  <a:lnTo>
                    <a:pt x="2101898" y="253767"/>
                  </a:lnTo>
                  <a:lnTo>
                    <a:pt x="2052635" y="236468"/>
                  </a:lnTo>
                  <a:lnTo>
                    <a:pt x="1998690" y="223569"/>
                  </a:lnTo>
                  <a:lnTo>
                    <a:pt x="1940838" y="215509"/>
                  </a:lnTo>
                  <a:lnTo>
                    <a:pt x="1879854" y="212725"/>
                  </a:lnTo>
                  <a:lnTo>
                    <a:pt x="375970" y="212725"/>
                  </a:lnTo>
                  <a:lnTo>
                    <a:pt x="314985" y="209940"/>
                  </a:lnTo>
                  <a:lnTo>
                    <a:pt x="257134" y="201880"/>
                  </a:lnTo>
                  <a:lnTo>
                    <a:pt x="203189" y="188981"/>
                  </a:lnTo>
                  <a:lnTo>
                    <a:pt x="153926" y="171682"/>
                  </a:lnTo>
                  <a:lnTo>
                    <a:pt x="110118" y="150420"/>
                  </a:lnTo>
                  <a:lnTo>
                    <a:pt x="72539" y="125633"/>
                  </a:lnTo>
                  <a:lnTo>
                    <a:pt x="41964" y="97760"/>
                  </a:lnTo>
                  <a:lnTo>
                    <a:pt x="4920" y="34505"/>
                  </a:ln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33060" y="5742216"/>
              <a:ext cx="780415" cy="257175"/>
            </a:xfrm>
            <a:custGeom>
              <a:avLst/>
              <a:gdLst/>
              <a:ahLst/>
              <a:cxnLst/>
              <a:rect l="l" t="t" r="r" b="b"/>
              <a:pathLst>
                <a:path w="780414" h="257175">
                  <a:moveTo>
                    <a:pt x="123913" y="74498"/>
                  </a:moveTo>
                  <a:lnTo>
                    <a:pt x="123469" y="71602"/>
                  </a:lnTo>
                  <a:lnTo>
                    <a:pt x="120053" y="66548"/>
                  </a:lnTo>
                  <a:lnTo>
                    <a:pt x="117614" y="65290"/>
                  </a:lnTo>
                  <a:lnTo>
                    <a:pt x="111810" y="65290"/>
                  </a:lnTo>
                  <a:lnTo>
                    <a:pt x="108419" y="66789"/>
                  </a:lnTo>
                  <a:lnTo>
                    <a:pt x="104254" y="69799"/>
                  </a:lnTo>
                  <a:lnTo>
                    <a:pt x="102895" y="66370"/>
                  </a:lnTo>
                  <a:lnTo>
                    <a:pt x="100025" y="64655"/>
                  </a:lnTo>
                  <a:lnTo>
                    <a:pt x="99072" y="64655"/>
                  </a:lnTo>
                  <a:lnTo>
                    <a:pt x="99072" y="85217"/>
                  </a:lnTo>
                  <a:lnTo>
                    <a:pt x="89496" y="116890"/>
                  </a:lnTo>
                  <a:lnTo>
                    <a:pt x="76593" y="154292"/>
                  </a:lnTo>
                  <a:lnTo>
                    <a:pt x="54610" y="174256"/>
                  </a:lnTo>
                  <a:lnTo>
                    <a:pt x="48869" y="174142"/>
                  </a:lnTo>
                  <a:lnTo>
                    <a:pt x="23583" y="151612"/>
                  </a:lnTo>
                  <a:lnTo>
                    <a:pt x="25908" y="142278"/>
                  </a:lnTo>
                  <a:lnTo>
                    <a:pt x="43675" y="107403"/>
                  </a:lnTo>
                  <a:lnTo>
                    <a:pt x="82296" y="85217"/>
                  </a:lnTo>
                  <a:lnTo>
                    <a:pt x="86410" y="85090"/>
                  </a:lnTo>
                  <a:lnTo>
                    <a:pt x="90652" y="85572"/>
                  </a:lnTo>
                  <a:lnTo>
                    <a:pt x="94551" y="85890"/>
                  </a:lnTo>
                  <a:lnTo>
                    <a:pt x="97358" y="85763"/>
                  </a:lnTo>
                  <a:lnTo>
                    <a:pt x="99072" y="85217"/>
                  </a:lnTo>
                  <a:lnTo>
                    <a:pt x="99072" y="64655"/>
                  </a:lnTo>
                  <a:lnTo>
                    <a:pt x="48869" y="76606"/>
                  </a:lnTo>
                  <a:lnTo>
                    <a:pt x="23583" y="98171"/>
                  </a:lnTo>
                  <a:lnTo>
                    <a:pt x="14681" y="110566"/>
                  </a:lnTo>
                  <a:lnTo>
                    <a:pt x="7289" y="125399"/>
                  </a:lnTo>
                  <a:lnTo>
                    <a:pt x="1930" y="141960"/>
                  </a:lnTo>
                  <a:lnTo>
                    <a:pt x="0" y="154000"/>
                  </a:lnTo>
                  <a:lnTo>
                    <a:pt x="596" y="164642"/>
                  </a:lnTo>
                  <a:lnTo>
                    <a:pt x="36004" y="194398"/>
                  </a:lnTo>
                  <a:lnTo>
                    <a:pt x="51028" y="195237"/>
                  </a:lnTo>
                  <a:lnTo>
                    <a:pt x="56095" y="194322"/>
                  </a:lnTo>
                  <a:lnTo>
                    <a:pt x="63411" y="192506"/>
                  </a:lnTo>
                  <a:lnTo>
                    <a:pt x="54610" y="218605"/>
                  </a:lnTo>
                  <a:lnTo>
                    <a:pt x="47828" y="236969"/>
                  </a:lnTo>
                  <a:lnTo>
                    <a:pt x="46532" y="241338"/>
                  </a:lnTo>
                  <a:lnTo>
                    <a:pt x="45910" y="244805"/>
                  </a:lnTo>
                  <a:lnTo>
                    <a:pt x="44399" y="252755"/>
                  </a:lnTo>
                  <a:lnTo>
                    <a:pt x="47307" y="256717"/>
                  </a:lnTo>
                  <a:lnTo>
                    <a:pt x="58166" y="256717"/>
                  </a:lnTo>
                  <a:lnTo>
                    <a:pt x="61264" y="255612"/>
                  </a:lnTo>
                  <a:lnTo>
                    <a:pt x="66675" y="251180"/>
                  </a:lnTo>
                  <a:lnTo>
                    <a:pt x="68465" y="248335"/>
                  </a:lnTo>
                  <a:lnTo>
                    <a:pt x="69342" y="244856"/>
                  </a:lnTo>
                  <a:lnTo>
                    <a:pt x="72148" y="234302"/>
                  </a:lnTo>
                  <a:lnTo>
                    <a:pt x="75476" y="223126"/>
                  </a:lnTo>
                  <a:lnTo>
                    <a:pt x="79311" y="211353"/>
                  </a:lnTo>
                  <a:lnTo>
                    <a:pt x="83667" y="198958"/>
                  </a:lnTo>
                  <a:lnTo>
                    <a:pt x="100304" y="153416"/>
                  </a:lnTo>
                  <a:lnTo>
                    <a:pt x="106997" y="133438"/>
                  </a:lnTo>
                  <a:lnTo>
                    <a:pt x="113030" y="114160"/>
                  </a:lnTo>
                  <a:lnTo>
                    <a:pt x="118402" y="95592"/>
                  </a:lnTo>
                  <a:lnTo>
                    <a:pt x="123113" y="77736"/>
                  </a:lnTo>
                  <a:lnTo>
                    <a:pt x="123913" y="74498"/>
                  </a:lnTo>
                  <a:close/>
                </a:path>
                <a:path w="780414" h="257175">
                  <a:moveTo>
                    <a:pt x="217119" y="8191"/>
                  </a:moveTo>
                  <a:lnTo>
                    <a:pt x="216052" y="5638"/>
                  </a:lnTo>
                  <a:lnTo>
                    <a:pt x="211785" y="1130"/>
                  </a:lnTo>
                  <a:lnTo>
                    <a:pt x="209296" y="0"/>
                  </a:lnTo>
                  <a:lnTo>
                    <a:pt x="204520" y="50"/>
                  </a:lnTo>
                  <a:lnTo>
                    <a:pt x="172148" y="34023"/>
                  </a:lnTo>
                  <a:lnTo>
                    <a:pt x="168808" y="39458"/>
                  </a:lnTo>
                  <a:lnTo>
                    <a:pt x="151307" y="89382"/>
                  </a:lnTo>
                  <a:lnTo>
                    <a:pt x="148082" y="121780"/>
                  </a:lnTo>
                  <a:lnTo>
                    <a:pt x="151218" y="162687"/>
                  </a:lnTo>
                  <a:lnTo>
                    <a:pt x="176352" y="221500"/>
                  </a:lnTo>
                  <a:lnTo>
                    <a:pt x="204520" y="242150"/>
                  </a:lnTo>
                  <a:lnTo>
                    <a:pt x="209816" y="242062"/>
                  </a:lnTo>
                  <a:lnTo>
                    <a:pt x="211975" y="241173"/>
                  </a:lnTo>
                  <a:lnTo>
                    <a:pt x="216090" y="237286"/>
                  </a:lnTo>
                  <a:lnTo>
                    <a:pt x="217119" y="235013"/>
                  </a:lnTo>
                  <a:lnTo>
                    <a:pt x="217119" y="228828"/>
                  </a:lnTo>
                  <a:lnTo>
                    <a:pt x="214833" y="225234"/>
                  </a:lnTo>
                  <a:lnTo>
                    <a:pt x="210273" y="221589"/>
                  </a:lnTo>
                  <a:lnTo>
                    <a:pt x="206578" y="218744"/>
                  </a:lnTo>
                  <a:lnTo>
                    <a:pt x="199288" y="213029"/>
                  </a:lnTo>
                  <a:lnTo>
                    <a:pt x="187413" y="196951"/>
                  </a:lnTo>
                  <a:lnTo>
                    <a:pt x="178930" y="176834"/>
                  </a:lnTo>
                  <a:lnTo>
                    <a:pt x="173837" y="152692"/>
                  </a:lnTo>
                  <a:lnTo>
                    <a:pt x="172148" y="124510"/>
                  </a:lnTo>
                  <a:lnTo>
                    <a:pt x="172542" y="112763"/>
                  </a:lnTo>
                  <a:lnTo>
                    <a:pt x="182676" y="63766"/>
                  </a:lnTo>
                  <a:lnTo>
                    <a:pt x="206209" y="26809"/>
                  </a:lnTo>
                  <a:lnTo>
                    <a:pt x="209816" y="23164"/>
                  </a:lnTo>
                  <a:lnTo>
                    <a:pt x="214680" y="17856"/>
                  </a:lnTo>
                  <a:lnTo>
                    <a:pt x="217119" y="13817"/>
                  </a:lnTo>
                  <a:lnTo>
                    <a:pt x="217119" y="8191"/>
                  </a:lnTo>
                  <a:close/>
                </a:path>
                <a:path w="780414" h="257175">
                  <a:moveTo>
                    <a:pt x="347992" y="86956"/>
                  </a:moveTo>
                  <a:lnTo>
                    <a:pt x="324561" y="64020"/>
                  </a:lnTo>
                  <a:lnTo>
                    <a:pt x="323850" y="64135"/>
                  </a:lnTo>
                  <a:lnTo>
                    <a:pt x="313537" y="65697"/>
                  </a:lnTo>
                  <a:lnTo>
                    <a:pt x="301840" y="70688"/>
                  </a:lnTo>
                  <a:lnTo>
                    <a:pt x="289433" y="79006"/>
                  </a:lnTo>
                  <a:lnTo>
                    <a:pt x="276339" y="90639"/>
                  </a:lnTo>
                  <a:lnTo>
                    <a:pt x="279438" y="76822"/>
                  </a:lnTo>
                  <a:lnTo>
                    <a:pt x="281266" y="66598"/>
                  </a:lnTo>
                  <a:lnTo>
                    <a:pt x="278523" y="61480"/>
                  </a:lnTo>
                  <a:lnTo>
                    <a:pt x="276339" y="61480"/>
                  </a:lnTo>
                  <a:lnTo>
                    <a:pt x="267843" y="61480"/>
                  </a:lnTo>
                  <a:lnTo>
                    <a:pt x="253098" y="89319"/>
                  </a:lnTo>
                  <a:lnTo>
                    <a:pt x="252298" y="93065"/>
                  </a:lnTo>
                  <a:lnTo>
                    <a:pt x="238379" y="139636"/>
                  </a:lnTo>
                  <a:lnTo>
                    <a:pt x="235623" y="148678"/>
                  </a:lnTo>
                  <a:lnTo>
                    <a:pt x="229031" y="178625"/>
                  </a:lnTo>
                  <a:lnTo>
                    <a:pt x="228409" y="182168"/>
                  </a:lnTo>
                  <a:lnTo>
                    <a:pt x="226936" y="188087"/>
                  </a:lnTo>
                  <a:lnTo>
                    <a:pt x="227279" y="190969"/>
                  </a:lnTo>
                  <a:lnTo>
                    <a:pt x="230466" y="195402"/>
                  </a:lnTo>
                  <a:lnTo>
                    <a:pt x="233006" y="196507"/>
                  </a:lnTo>
                  <a:lnTo>
                    <a:pt x="239903" y="196507"/>
                  </a:lnTo>
                  <a:lnTo>
                    <a:pt x="253796" y="169138"/>
                  </a:lnTo>
                  <a:lnTo>
                    <a:pt x="254444" y="165582"/>
                  </a:lnTo>
                  <a:lnTo>
                    <a:pt x="255968" y="159499"/>
                  </a:lnTo>
                  <a:lnTo>
                    <a:pt x="257162" y="155676"/>
                  </a:lnTo>
                  <a:lnTo>
                    <a:pt x="260350" y="147066"/>
                  </a:lnTo>
                  <a:lnTo>
                    <a:pt x="261670" y="143192"/>
                  </a:lnTo>
                  <a:lnTo>
                    <a:pt x="288836" y="103860"/>
                  </a:lnTo>
                  <a:lnTo>
                    <a:pt x="318300" y="88099"/>
                  </a:lnTo>
                  <a:lnTo>
                    <a:pt x="322072" y="89700"/>
                  </a:lnTo>
                  <a:lnTo>
                    <a:pt x="323850" y="94500"/>
                  </a:lnTo>
                  <a:lnTo>
                    <a:pt x="323646" y="102476"/>
                  </a:lnTo>
                  <a:lnTo>
                    <a:pt x="321449" y="113652"/>
                  </a:lnTo>
                  <a:lnTo>
                    <a:pt x="320903" y="115849"/>
                  </a:lnTo>
                  <a:lnTo>
                    <a:pt x="319836" y="119595"/>
                  </a:lnTo>
                  <a:lnTo>
                    <a:pt x="316636" y="130162"/>
                  </a:lnTo>
                  <a:lnTo>
                    <a:pt x="315569" y="133908"/>
                  </a:lnTo>
                  <a:lnTo>
                    <a:pt x="305549" y="195338"/>
                  </a:lnTo>
                  <a:lnTo>
                    <a:pt x="308571" y="199034"/>
                  </a:lnTo>
                  <a:lnTo>
                    <a:pt x="319074" y="199034"/>
                  </a:lnTo>
                  <a:lnTo>
                    <a:pt x="322262" y="197954"/>
                  </a:lnTo>
                  <a:lnTo>
                    <a:pt x="335610" y="154609"/>
                  </a:lnTo>
                  <a:lnTo>
                    <a:pt x="336588" y="147891"/>
                  </a:lnTo>
                  <a:lnTo>
                    <a:pt x="337654" y="141897"/>
                  </a:lnTo>
                  <a:lnTo>
                    <a:pt x="338836" y="136613"/>
                  </a:lnTo>
                  <a:lnTo>
                    <a:pt x="341706" y="125603"/>
                  </a:lnTo>
                  <a:lnTo>
                    <a:pt x="344690" y="113639"/>
                  </a:lnTo>
                  <a:lnTo>
                    <a:pt x="346697" y="103416"/>
                  </a:lnTo>
                  <a:lnTo>
                    <a:pt x="347802" y="94513"/>
                  </a:lnTo>
                  <a:lnTo>
                    <a:pt x="347992" y="86956"/>
                  </a:lnTo>
                  <a:close/>
                </a:path>
                <a:path w="780414" h="257175">
                  <a:moveTo>
                    <a:pt x="553440" y="120446"/>
                  </a:moveTo>
                  <a:lnTo>
                    <a:pt x="426123" y="120446"/>
                  </a:lnTo>
                  <a:lnTo>
                    <a:pt x="426123" y="133756"/>
                  </a:lnTo>
                  <a:lnTo>
                    <a:pt x="553440" y="133756"/>
                  </a:lnTo>
                  <a:lnTo>
                    <a:pt x="553440" y="120446"/>
                  </a:lnTo>
                  <a:close/>
                </a:path>
                <a:path w="780414" h="257175">
                  <a:moveTo>
                    <a:pt x="690257" y="175983"/>
                  </a:moveTo>
                  <a:lnTo>
                    <a:pt x="689165" y="173240"/>
                  </a:lnTo>
                  <a:lnTo>
                    <a:pt x="684796" y="168846"/>
                  </a:lnTo>
                  <a:lnTo>
                    <a:pt x="682040" y="167741"/>
                  </a:lnTo>
                  <a:lnTo>
                    <a:pt x="678700" y="167741"/>
                  </a:lnTo>
                  <a:lnTo>
                    <a:pt x="666191" y="167982"/>
                  </a:lnTo>
                  <a:lnTo>
                    <a:pt x="666115" y="163791"/>
                  </a:lnTo>
                  <a:lnTo>
                    <a:pt x="665784" y="158419"/>
                  </a:lnTo>
                  <a:lnTo>
                    <a:pt x="664591" y="145313"/>
                  </a:lnTo>
                  <a:lnTo>
                    <a:pt x="664286" y="139750"/>
                  </a:lnTo>
                  <a:lnTo>
                    <a:pt x="664286" y="135166"/>
                  </a:lnTo>
                  <a:lnTo>
                    <a:pt x="664438" y="127647"/>
                  </a:lnTo>
                  <a:lnTo>
                    <a:pt x="664921" y="118440"/>
                  </a:lnTo>
                  <a:lnTo>
                    <a:pt x="665708" y="107569"/>
                  </a:lnTo>
                  <a:lnTo>
                    <a:pt x="667931" y="82461"/>
                  </a:lnTo>
                  <a:lnTo>
                    <a:pt x="668718" y="71564"/>
                  </a:lnTo>
                  <a:lnTo>
                    <a:pt x="669188" y="62318"/>
                  </a:lnTo>
                  <a:lnTo>
                    <a:pt x="669353" y="54737"/>
                  </a:lnTo>
                  <a:lnTo>
                    <a:pt x="669353" y="52133"/>
                  </a:lnTo>
                  <a:lnTo>
                    <a:pt x="669251" y="48183"/>
                  </a:lnTo>
                  <a:lnTo>
                    <a:pt x="668832" y="37604"/>
                  </a:lnTo>
                  <a:lnTo>
                    <a:pt x="668718" y="33655"/>
                  </a:lnTo>
                  <a:lnTo>
                    <a:pt x="668718" y="29235"/>
                  </a:lnTo>
                  <a:lnTo>
                    <a:pt x="668934" y="26530"/>
                  </a:lnTo>
                  <a:lnTo>
                    <a:pt x="669772" y="19342"/>
                  </a:lnTo>
                  <a:lnTo>
                    <a:pt x="669988" y="16637"/>
                  </a:lnTo>
                  <a:lnTo>
                    <a:pt x="669988" y="8737"/>
                  </a:lnTo>
                  <a:lnTo>
                    <a:pt x="668718" y="7277"/>
                  </a:lnTo>
                  <a:lnTo>
                    <a:pt x="667359" y="5702"/>
                  </a:lnTo>
                  <a:lnTo>
                    <a:pt x="664286" y="5702"/>
                  </a:lnTo>
                  <a:lnTo>
                    <a:pt x="655840" y="5702"/>
                  </a:lnTo>
                  <a:lnTo>
                    <a:pt x="649249" y="9245"/>
                  </a:lnTo>
                  <a:lnTo>
                    <a:pt x="624370" y="30937"/>
                  </a:lnTo>
                  <a:lnTo>
                    <a:pt x="617626" y="36283"/>
                  </a:lnTo>
                  <a:lnTo>
                    <a:pt x="614248" y="40830"/>
                  </a:lnTo>
                  <a:lnTo>
                    <a:pt x="614248" y="47675"/>
                  </a:lnTo>
                  <a:lnTo>
                    <a:pt x="615403" y="50431"/>
                  </a:lnTo>
                  <a:lnTo>
                    <a:pt x="620014" y="55219"/>
                  </a:lnTo>
                  <a:lnTo>
                    <a:pt x="622731" y="56413"/>
                  </a:lnTo>
                  <a:lnTo>
                    <a:pt x="628751" y="56413"/>
                  </a:lnTo>
                  <a:lnTo>
                    <a:pt x="635444" y="52184"/>
                  </a:lnTo>
                  <a:lnTo>
                    <a:pt x="645922" y="43738"/>
                  </a:lnTo>
                  <a:lnTo>
                    <a:pt x="645807" y="52451"/>
                  </a:lnTo>
                  <a:lnTo>
                    <a:pt x="645375" y="62992"/>
                  </a:lnTo>
                  <a:lnTo>
                    <a:pt x="644601" y="75336"/>
                  </a:lnTo>
                  <a:lnTo>
                    <a:pt x="642759" y="98780"/>
                  </a:lnTo>
                  <a:lnTo>
                    <a:pt x="642340" y="103847"/>
                  </a:lnTo>
                  <a:lnTo>
                    <a:pt x="641515" y="116230"/>
                  </a:lnTo>
                  <a:lnTo>
                    <a:pt x="641019" y="126669"/>
                  </a:lnTo>
                  <a:lnTo>
                    <a:pt x="640854" y="135140"/>
                  </a:lnTo>
                  <a:lnTo>
                    <a:pt x="640854" y="138849"/>
                  </a:lnTo>
                  <a:lnTo>
                    <a:pt x="641172" y="144411"/>
                  </a:lnTo>
                  <a:lnTo>
                    <a:pt x="642442" y="159232"/>
                  </a:lnTo>
                  <a:lnTo>
                    <a:pt x="642759" y="164833"/>
                  </a:lnTo>
                  <a:lnTo>
                    <a:pt x="642759" y="168617"/>
                  </a:lnTo>
                  <a:lnTo>
                    <a:pt x="637895" y="168376"/>
                  </a:lnTo>
                  <a:lnTo>
                    <a:pt x="619696" y="168338"/>
                  </a:lnTo>
                  <a:lnTo>
                    <a:pt x="613613" y="172313"/>
                  </a:lnTo>
                  <a:lnTo>
                    <a:pt x="613613" y="185089"/>
                  </a:lnTo>
                  <a:lnTo>
                    <a:pt x="682040" y="190804"/>
                  </a:lnTo>
                  <a:lnTo>
                    <a:pt x="684796" y="189712"/>
                  </a:lnTo>
                  <a:lnTo>
                    <a:pt x="689165" y="185394"/>
                  </a:lnTo>
                  <a:lnTo>
                    <a:pt x="690257" y="182626"/>
                  </a:lnTo>
                  <a:lnTo>
                    <a:pt x="690257" y="175983"/>
                  </a:lnTo>
                  <a:close/>
                </a:path>
                <a:path w="780414" h="257175">
                  <a:moveTo>
                    <a:pt x="780199" y="121780"/>
                  </a:moveTo>
                  <a:lnTo>
                    <a:pt x="772858" y="73025"/>
                  </a:lnTo>
                  <a:lnTo>
                    <a:pt x="756132" y="34366"/>
                  </a:lnTo>
                  <a:lnTo>
                    <a:pt x="728789" y="3302"/>
                  </a:lnTo>
                  <a:lnTo>
                    <a:pt x="723239" y="101"/>
                  </a:lnTo>
                  <a:lnTo>
                    <a:pt x="717931" y="177"/>
                  </a:lnTo>
                  <a:lnTo>
                    <a:pt x="715810" y="1130"/>
                  </a:lnTo>
                  <a:lnTo>
                    <a:pt x="711568" y="5676"/>
                  </a:lnTo>
                  <a:lnTo>
                    <a:pt x="710526" y="8191"/>
                  </a:lnTo>
                  <a:lnTo>
                    <a:pt x="710526" y="13817"/>
                  </a:lnTo>
                  <a:lnTo>
                    <a:pt x="712990" y="17856"/>
                  </a:lnTo>
                  <a:lnTo>
                    <a:pt x="717931" y="23164"/>
                  </a:lnTo>
                  <a:lnTo>
                    <a:pt x="721512" y="26809"/>
                  </a:lnTo>
                  <a:lnTo>
                    <a:pt x="728840" y="34175"/>
                  </a:lnTo>
                  <a:lnTo>
                    <a:pt x="735012" y="42392"/>
                  </a:lnTo>
                  <a:lnTo>
                    <a:pt x="752436" y="88938"/>
                  </a:lnTo>
                  <a:lnTo>
                    <a:pt x="756132" y="124510"/>
                  </a:lnTo>
                  <a:lnTo>
                    <a:pt x="754405" y="152692"/>
                  </a:lnTo>
                  <a:lnTo>
                    <a:pt x="749236" y="176834"/>
                  </a:lnTo>
                  <a:lnTo>
                    <a:pt x="740638" y="196951"/>
                  </a:lnTo>
                  <a:lnTo>
                    <a:pt x="728599" y="213029"/>
                  </a:lnTo>
                  <a:lnTo>
                    <a:pt x="724852" y="215887"/>
                  </a:lnTo>
                  <a:lnTo>
                    <a:pt x="717461" y="221589"/>
                  </a:lnTo>
                  <a:lnTo>
                    <a:pt x="712838" y="225234"/>
                  </a:lnTo>
                  <a:lnTo>
                    <a:pt x="710526" y="228828"/>
                  </a:lnTo>
                  <a:lnTo>
                    <a:pt x="710526" y="235013"/>
                  </a:lnTo>
                  <a:lnTo>
                    <a:pt x="711581" y="237299"/>
                  </a:lnTo>
                  <a:lnTo>
                    <a:pt x="715721" y="241173"/>
                  </a:lnTo>
                  <a:lnTo>
                    <a:pt x="717931" y="242074"/>
                  </a:lnTo>
                  <a:lnTo>
                    <a:pt x="723239" y="242150"/>
                  </a:lnTo>
                  <a:lnTo>
                    <a:pt x="726071" y="241236"/>
                  </a:lnTo>
                  <a:lnTo>
                    <a:pt x="729348" y="239407"/>
                  </a:lnTo>
                  <a:lnTo>
                    <a:pt x="751586" y="221500"/>
                  </a:lnTo>
                  <a:lnTo>
                    <a:pt x="767473" y="195935"/>
                  </a:lnTo>
                  <a:lnTo>
                    <a:pt x="777011" y="162687"/>
                  </a:lnTo>
                  <a:lnTo>
                    <a:pt x="780199" y="1217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76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03794" y="758520"/>
            <a:ext cx="74549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Expected Time Complexity for Quick</a:t>
            </a:r>
            <a:r>
              <a:rPr spc="-55" dirty="0"/>
              <a:t> </a:t>
            </a:r>
            <a:r>
              <a:rPr spc="-5" dirty="0"/>
              <a:t>Sort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382712" y="4324337"/>
            <a:ext cx="6362700" cy="876300"/>
            <a:chOff x="1382712" y="4324337"/>
            <a:chExt cx="6362700" cy="876300"/>
          </a:xfrm>
        </p:grpSpPr>
        <p:sp>
          <p:nvSpPr>
            <p:cNvPr id="5" name="object 5"/>
            <p:cNvSpPr/>
            <p:nvPr/>
          </p:nvSpPr>
          <p:spPr>
            <a:xfrm>
              <a:off x="1401762" y="4578337"/>
              <a:ext cx="6324600" cy="381000"/>
            </a:xfrm>
            <a:custGeom>
              <a:avLst/>
              <a:gdLst/>
              <a:ahLst/>
              <a:cxnLst/>
              <a:rect l="l" t="t" r="r" b="b"/>
              <a:pathLst>
                <a:path w="6324600" h="381000">
                  <a:moveTo>
                    <a:pt x="0" y="380619"/>
                  </a:moveTo>
                  <a:lnTo>
                    <a:pt x="0" y="0"/>
                  </a:lnTo>
                  <a:lnTo>
                    <a:pt x="6324587" y="0"/>
                  </a:lnTo>
                  <a:lnTo>
                    <a:pt x="6324587" y="380618"/>
                  </a:lnTo>
                  <a:lnTo>
                    <a:pt x="0" y="380619"/>
                  </a:lnTo>
                  <a:close/>
                </a:path>
              </a:pathLst>
            </a:custGeom>
            <a:ln w="38100">
              <a:solidFill>
                <a:srgbClr val="0E2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154362" y="4343387"/>
              <a:ext cx="76200" cy="838200"/>
            </a:xfrm>
            <a:custGeom>
              <a:avLst/>
              <a:gdLst/>
              <a:ahLst/>
              <a:cxnLst/>
              <a:rect l="l" t="t" r="r" b="b"/>
              <a:pathLst>
                <a:path w="76200" h="838200">
                  <a:moveTo>
                    <a:pt x="76200" y="0"/>
                  </a:moveTo>
                  <a:lnTo>
                    <a:pt x="0" y="838200"/>
                  </a:lnTo>
                </a:path>
              </a:pathLst>
            </a:custGeom>
            <a:ln w="38100">
              <a:solidFill>
                <a:srgbClr val="D84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1921141" y="5767616"/>
            <a:ext cx="792480" cy="260350"/>
          </a:xfrm>
          <a:custGeom>
            <a:avLst/>
            <a:gdLst/>
            <a:ahLst/>
            <a:cxnLst/>
            <a:rect l="l" t="t" r="r" b="b"/>
            <a:pathLst>
              <a:path w="792480" h="260350">
                <a:moveTo>
                  <a:pt x="135877" y="109537"/>
                </a:moveTo>
                <a:lnTo>
                  <a:pt x="123723" y="73266"/>
                </a:lnTo>
                <a:lnTo>
                  <a:pt x="111912" y="68808"/>
                </a:lnTo>
                <a:lnTo>
                  <a:pt x="111912" y="108750"/>
                </a:lnTo>
                <a:lnTo>
                  <a:pt x="111696" y="116166"/>
                </a:lnTo>
                <a:lnTo>
                  <a:pt x="99529" y="154914"/>
                </a:lnTo>
                <a:lnTo>
                  <a:pt x="61341" y="171145"/>
                </a:lnTo>
                <a:lnTo>
                  <a:pt x="53149" y="169481"/>
                </a:lnTo>
                <a:lnTo>
                  <a:pt x="45389" y="166154"/>
                </a:lnTo>
                <a:lnTo>
                  <a:pt x="48983" y="151460"/>
                </a:lnTo>
                <a:lnTo>
                  <a:pt x="52336" y="137096"/>
                </a:lnTo>
                <a:lnTo>
                  <a:pt x="55435" y="123088"/>
                </a:lnTo>
                <a:lnTo>
                  <a:pt x="58305" y="109410"/>
                </a:lnTo>
                <a:lnTo>
                  <a:pt x="66192" y="103301"/>
                </a:lnTo>
                <a:lnTo>
                  <a:pt x="72504" y="99085"/>
                </a:lnTo>
                <a:lnTo>
                  <a:pt x="83858" y="93535"/>
                </a:lnTo>
                <a:lnTo>
                  <a:pt x="90779" y="91909"/>
                </a:lnTo>
                <a:lnTo>
                  <a:pt x="105067" y="91909"/>
                </a:lnTo>
                <a:lnTo>
                  <a:pt x="109448" y="95504"/>
                </a:lnTo>
                <a:lnTo>
                  <a:pt x="111137" y="102679"/>
                </a:lnTo>
                <a:lnTo>
                  <a:pt x="111912" y="108750"/>
                </a:lnTo>
                <a:lnTo>
                  <a:pt x="111912" y="68808"/>
                </a:lnTo>
                <a:lnTo>
                  <a:pt x="104025" y="67830"/>
                </a:lnTo>
                <a:lnTo>
                  <a:pt x="97624" y="67945"/>
                </a:lnTo>
                <a:lnTo>
                  <a:pt x="91909" y="68999"/>
                </a:lnTo>
                <a:lnTo>
                  <a:pt x="78079" y="73672"/>
                </a:lnTo>
                <a:lnTo>
                  <a:pt x="70637" y="77177"/>
                </a:lnTo>
                <a:lnTo>
                  <a:pt x="62661" y="81851"/>
                </a:lnTo>
                <a:lnTo>
                  <a:pt x="63347" y="79794"/>
                </a:lnTo>
                <a:lnTo>
                  <a:pt x="64211" y="77533"/>
                </a:lnTo>
                <a:lnTo>
                  <a:pt x="65239" y="75069"/>
                </a:lnTo>
                <a:lnTo>
                  <a:pt x="65963" y="73177"/>
                </a:lnTo>
                <a:lnTo>
                  <a:pt x="66421" y="71869"/>
                </a:lnTo>
                <a:lnTo>
                  <a:pt x="67398" y="67945"/>
                </a:lnTo>
                <a:lnTo>
                  <a:pt x="67017" y="65227"/>
                </a:lnTo>
                <a:lnTo>
                  <a:pt x="63881" y="60706"/>
                </a:lnTo>
                <a:lnTo>
                  <a:pt x="62661" y="60134"/>
                </a:lnTo>
                <a:lnTo>
                  <a:pt x="61531" y="59588"/>
                </a:lnTo>
                <a:lnTo>
                  <a:pt x="53822" y="59588"/>
                </a:lnTo>
                <a:lnTo>
                  <a:pt x="49733" y="61925"/>
                </a:lnTo>
                <a:lnTo>
                  <a:pt x="46151" y="66611"/>
                </a:lnTo>
                <a:lnTo>
                  <a:pt x="45389" y="67589"/>
                </a:lnTo>
                <a:lnTo>
                  <a:pt x="43091" y="70510"/>
                </a:lnTo>
                <a:lnTo>
                  <a:pt x="40855" y="75285"/>
                </a:lnTo>
                <a:lnTo>
                  <a:pt x="39446" y="80924"/>
                </a:lnTo>
                <a:lnTo>
                  <a:pt x="35293" y="105130"/>
                </a:lnTo>
                <a:lnTo>
                  <a:pt x="33223" y="116154"/>
                </a:lnTo>
                <a:lnTo>
                  <a:pt x="13423" y="200279"/>
                </a:lnTo>
                <a:lnTo>
                  <a:pt x="876" y="247967"/>
                </a:lnTo>
                <a:lnTo>
                  <a:pt x="0" y="251472"/>
                </a:lnTo>
                <a:lnTo>
                  <a:pt x="406" y="254330"/>
                </a:lnTo>
                <a:lnTo>
                  <a:pt x="3797" y="258787"/>
                </a:lnTo>
                <a:lnTo>
                  <a:pt x="6400" y="259892"/>
                </a:lnTo>
                <a:lnTo>
                  <a:pt x="13449" y="259892"/>
                </a:lnTo>
                <a:lnTo>
                  <a:pt x="16624" y="258787"/>
                </a:lnTo>
                <a:lnTo>
                  <a:pt x="22225" y="254368"/>
                </a:lnTo>
                <a:lnTo>
                  <a:pt x="24066" y="251523"/>
                </a:lnTo>
                <a:lnTo>
                  <a:pt x="39319" y="191439"/>
                </a:lnTo>
                <a:lnTo>
                  <a:pt x="48120" y="193967"/>
                </a:lnTo>
                <a:lnTo>
                  <a:pt x="55435" y="195084"/>
                </a:lnTo>
                <a:lnTo>
                  <a:pt x="65239" y="195160"/>
                </a:lnTo>
                <a:lnTo>
                  <a:pt x="76073" y="194144"/>
                </a:lnTo>
                <a:lnTo>
                  <a:pt x="115646" y="168643"/>
                </a:lnTo>
                <a:lnTo>
                  <a:pt x="134531" y="121602"/>
                </a:lnTo>
                <a:lnTo>
                  <a:pt x="135877" y="109537"/>
                </a:lnTo>
                <a:close/>
              </a:path>
              <a:path w="792480" h="260350">
                <a:moveTo>
                  <a:pt x="228701" y="8191"/>
                </a:moveTo>
                <a:lnTo>
                  <a:pt x="227634" y="5638"/>
                </a:lnTo>
                <a:lnTo>
                  <a:pt x="223367" y="1130"/>
                </a:lnTo>
                <a:lnTo>
                  <a:pt x="220865" y="0"/>
                </a:lnTo>
                <a:lnTo>
                  <a:pt x="216103" y="50"/>
                </a:lnTo>
                <a:lnTo>
                  <a:pt x="183718" y="34010"/>
                </a:lnTo>
                <a:lnTo>
                  <a:pt x="180365" y="39458"/>
                </a:lnTo>
                <a:lnTo>
                  <a:pt x="162864" y="89382"/>
                </a:lnTo>
                <a:lnTo>
                  <a:pt x="159639" y="121780"/>
                </a:lnTo>
                <a:lnTo>
                  <a:pt x="162775" y="162687"/>
                </a:lnTo>
                <a:lnTo>
                  <a:pt x="187909" y="221500"/>
                </a:lnTo>
                <a:lnTo>
                  <a:pt x="216103" y="242150"/>
                </a:lnTo>
                <a:lnTo>
                  <a:pt x="221399" y="242062"/>
                </a:lnTo>
                <a:lnTo>
                  <a:pt x="223558" y="241173"/>
                </a:lnTo>
                <a:lnTo>
                  <a:pt x="227672" y="237286"/>
                </a:lnTo>
                <a:lnTo>
                  <a:pt x="228701" y="235013"/>
                </a:lnTo>
                <a:lnTo>
                  <a:pt x="228701" y="228828"/>
                </a:lnTo>
                <a:lnTo>
                  <a:pt x="226415" y="225234"/>
                </a:lnTo>
                <a:lnTo>
                  <a:pt x="221856" y="221589"/>
                </a:lnTo>
                <a:lnTo>
                  <a:pt x="218147" y="218744"/>
                </a:lnTo>
                <a:lnTo>
                  <a:pt x="210870" y="213029"/>
                </a:lnTo>
                <a:lnTo>
                  <a:pt x="198983" y="196951"/>
                </a:lnTo>
                <a:lnTo>
                  <a:pt x="190500" y="176834"/>
                </a:lnTo>
                <a:lnTo>
                  <a:pt x="185407" y="152692"/>
                </a:lnTo>
                <a:lnTo>
                  <a:pt x="183718" y="124510"/>
                </a:lnTo>
                <a:lnTo>
                  <a:pt x="184111" y="112763"/>
                </a:lnTo>
                <a:lnTo>
                  <a:pt x="194246" y="63766"/>
                </a:lnTo>
                <a:lnTo>
                  <a:pt x="217779" y="26809"/>
                </a:lnTo>
                <a:lnTo>
                  <a:pt x="221399" y="23164"/>
                </a:lnTo>
                <a:lnTo>
                  <a:pt x="226263" y="17856"/>
                </a:lnTo>
                <a:lnTo>
                  <a:pt x="228701" y="13817"/>
                </a:lnTo>
                <a:lnTo>
                  <a:pt x="228701" y="8191"/>
                </a:lnTo>
                <a:close/>
              </a:path>
              <a:path w="792480" h="260350">
                <a:moveTo>
                  <a:pt x="359625" y="86956"/>
                </a:moveTo>
                <a:lnTo>
                  <a:pt x="336181" y="64020"/>
                </a:lnTo>
                <a:lnTo>
                  <a:pt x="335483" y="64135"/>
                </a:lnTo>
                <a:lnTo>
                  <a:pt x="325158" y="65697"/>
                </a:lnTo>
                <a:lnTo>
                  <a:pt x="313448" y="70688"/>
                </a:lnTo>
                <a:lnTo>
                  <a:pt x="301040" y="79006"/>
                </a:lnTo>
                <a:lnTo>
                  <a:pt x="287947" y="90639"/>
                </a:lnTo>
                <a:lnTo>
                  <a:pt x="291045" y="76822"/>
                </a:lnTo>
                <a:lnTo>
                  <a:pt x="292874" y="66598"/>
                </a:lnTo>
                <a:lnTo>
                  <a:pt x="290131" y="61480"/>
                </a:lnTo>
                <a:lnTo>
                  <a:pt x="287947" y="61480"/>
                </a:lnTo>
                <a:lnTo>
                  <a:pt x="279438" y="61480"/>
                </a:lnTo>
                <a:lnTo>
                  <a:pt x="264693" y="89319"/>
                </a:lnTo>
                <a:lnTo>
                  <a:pt x="263893" y="93065"/>
                </a:lnTo>
                <a:lnTo>
                  <a:pt x="249974" y="139636"/>
                </a:lnTo>
                <a:lnTo>
                  <a:pt x="247218" y="148678"/>
                </a:lnTo>
                <a:lnTo>
                  <a:pt x="240626" y="178625"/>
                </a:lnTo>
                <a:lnTo>
                  <a:pt x="239991" y="182181"/>
                </a:lnTo>
                <a:lnTo>
                  <a:pt x="238518" y="188099"/>
                </a:lnTo>
                <a:lnTo>
                  <a:pt x="238861" y="190969"/>
                </a:lnTo>
                <a:lnTo>
                  <a:pt x="242049" y="195402"/>
                </a:lnTo>
                <a:lnTo>
                  <a:pt x="244589" y="196507"/>
                </a:lnTo>
                <a:lnTo>
                  <a:pt x="251498" y="196507"/>
                </a:lnTo>
                <a:lnTo>
                  <a:pt x="265391" y="169138"/>
                </a:lnTo>
                <a:lnTo>
                  <a:pt x="266039" y="165582"/>
                </a:lnTo>
                <a:lnTo>
                  <a:pt x="267563" y="159499"/>
                </a:lnTo>
                <a:lnTo>
                  <a:pt x="268757" y="155676"/>
                </a:lnTo>
                <a:lnTo>
                  <a:pt x="271945" y="147066"/>
                </a:lnTo>
                <a:lnTo>
                  <a:pt x="273278" y="143192"/>
                </a:lnTo>
                <a:lnTo>
                  <a:pt x="300443" y="103860"/>
                </a:lnTo>
                <a:lnTo>
                  <a:pt x="329920" y="88112"/>
                </a:lnTo>
                <a:lnTo>
                  <a:pt x="333692" y="89712"/>
                </a:lnTo>
                <a:lnTo>
                  <a:pt x="335483" y="94500"/>
                </a:lnTo>
                <a:lnTo>
                  <a:pt x="335267" y="102489"/>
                </a:lnTo>
                <a:lnTo>
                  <a:pt x="333082" y="113652"/>
                </a:lnTo>
                <a:lnTo>
                  <a:pt x="332536" y="115862"/>
                </a:lnTo>
                <a:lnTo>
                  <a:pt x="331457" y="119608"/>
                </a:lnTo>
                <a:lnTo>
                  <a:pt x="328256" y="130162"/>
                </a:lnTo>
                <a:lnTo>
                  <a:pt x="327190" y="133921"/>
                </a:lnTo>
                <a:lnTo>
                  <a:pt x="317169" y="195338"/>
                </a:lnTo>
                <a:lnTo>
                  <a:pt x="320192" y="199047"/>
                </a:lnTo>
                <a:lnTo>
                  <a:pt x="330708" y="199047"/>
                </a:lnTo>
                <a:lnTo>
                  <a:pt x="333895" y="197954"/>
                </a:lnTo>
                <a:lnTo>
                  <a:pt x="347243" y="154609"/>
                </a:lnTo>
                <a:lnTo>
                  <a:pt x="348221" y="147904"/>
                </a:lnTo>
                <a:lnTo>
                  <a:pt x="349288" y="141909"/>
                </a:lnTo>
                <a:lnTo>
                  <a:pt x="350469" y="136626"/>
                </a:lnTo>
                <a:lnTo>
                  <a:pt x="353339" y="125603"/>
                </a:lnTo>
                <a:lnTo>
                  <a:pt x="356323" y="113639"/>
                </a:lnTo>
                <a:lnTo>
                  <a:pt x="358330" y="103416"/>
                </a:lnTo>
                <a:lnTo>
                  <a:pt x="359435" y="94513"/>
                </a:lnTo>
                <a:lnTo>
                  <a:pt x="359625" y="86956"/>
                </a:lnTo>
                <a:close/>
              </a:path>
              <a:path w="792480" h="260350">
                <a:moveTo>
                  <a:pt x="565162" y="120446"/>
                </a:moveTo>
                <a:lnTo>
                  <a:pt x="437794" y="120446"/>
                </a:lnTo>
                <a:lnTo>
                  <a:pt x="437794" y="133756"/>
                </a:lnTo>
                <a:lnTo>
                  <a:pt x="565162" y="133756"/>
                </a:lnTo>
                <a:lnTo>
                  <a:pt x="565162" y="120446"/>
                </a:lnTo>
                <a:close/>
              </a:path>
              <a:path w="792480" h="260350">
                <a:moveTo>
                  <a:pt x="681761" y="8737"/>
                </a:moveTo>
                <a:lnTo>
                  <a:pt x="680491" y="7277"/>
                </a:lnTo>
                <a:lnTo>
                  <a:pt x="680491" y="29235"/>
                </a:lnTo>
                <a:lnTo>
                  <a:pt x="680707" y="26530"/>
                </a:lnTo>
                <a:lnTo>
                  <a:pt x="681545" y="19342"/>
                </a:lnTo>
                <a:lnTo>
                  <a:pt x="681761" y="16637"/>
                </a:lnTo>
                <a:lnTo>
                  <a:pt x="681761" y="8737"/>
                </a:lnTo>
                <a:close/>
              </a:path>
              <a:path w="792480" h="260350">
                <a:moveTo>
                  <a:pt x="702030" y="175983"/>
                </a:moveTo>
                <a:lnTo>
                  <a:pt x="700938" y="173240"/>
                </a:lnTo>
                <a:lnTo>
                  <a:pt x="696569" y="168846"/>
                </a:lnTo>
                <a:lnTo>
                  <a:pt x="693813" y="167741"/>
                </a:lnTo>
                <a:lnTo>
                  <a:pt x="690473" y="167741"/>
                </a:lnTo>
                <a:lnTo>
                  <a:pt x="677964" y="167982"/>
                </a:lnTo>
                <a:lnTo>
                  <a:pt x="677887" y="163791"/>
                </a:lnTo>
                <a:lnTo>
                  <a:pt x="677545" y="158419"/>
                </a:lnTo>
                <a:lnTo>
                  <a:pt x="676351" y="145313"/>
                </a:lnTo>
                <a:lnTo>
                  <a:pt x="676059" y="139750"/>
                </a:lnTo>
                <a:lnTo>
                  <a:pt x="676059" y="135166"/>
                </a:lnTo>
                <a:lnTo>
                  <a:pt x="676211" y="127647"/>
                </a:lnTo>
                <a:lnTo>
                  <a:pt x="676681" y="118440"/>
                </a:lnTo>
                <a:lnTo>
                  <a:pt x="677468" y="107569"/>
                </a:lnTo>
                <a:lnTo>
                  <a:pt x="679691" y="82461"/>
                </a:lnTo>
                <a:lnTo>
                  <a:pt x="680491" y="71539"/>
                </a:lnTo>
                <a:lnTo>
                  <a:pt x="680961" y="62318"/>
                </a:lnTo>
                <a:lnTo>
                  <a:pt x="681126" y="54737"/>
                </a:lnTo>
                <a:lnTo>
                  <a:pt x="681126" y="52133"/>
                </a:lnTo>
                <a:lnTo>
                  <a:pt x="681024" y="48183"/>
                </a:lnTo>
                <a:lnTo>
                  <a:pt x="680593" y="37604"/>
                </a:lnTo>
                <a:lnTo>
                  <a:pt x="680491" y="33655"/>
                </a:lnTo>
                <a:lnTo>
                  <a:pt x="680478" y="7277"/>
                </a:lnTo>
                <a:lnTo>
                  <a:pt x="679132" y="5702"/>
                </a:lnTo>
                <a:lnTo>
                  <a:pt x="676059" y="5702"/>
                </a:lnTo>
                <a:lnTo>
                  <a:pt x="667600" y="5702"/>
                </a:lnTo>
                <a:lnTo>
                  <a:pt x="661009" y="9245"/>
                </a:lnTo>
                <a:lnTo>
                  <a:pt x="657682" y="12674"/>
                </a:lnTo>
                <a:lnTo>
                  <a:pt x="654100" y="16357"/>
                </a:lnTo>
                <a:lnTo>
                  <a:pt x="646341" y="23050"/>
                </a:lnTo>
                <a:lnTo>
                  <a:pt x="640346" y="27901"/>
                </a:lnTo>
                <a:lnTo>
                  <a:pt x="636117" y="30937"/>
                </a:lnTo>
                <a:lnTo>
                  <a:pt x="629373" y="36283"/>
                </a:lnTo>
                <a:lnTo>
                  <a:pt x="625995" y="40830"/>
                </a:lnTo>
                <a:lnTo>
                  <a:pt x="625995" y="47675"/>
                </a:lnTo>
                <a:lnTo>
                  <a:pt x="627151" y="50431"/>
                </a:lnTo>
                <a:lnTo>
                  <a:pt x="631761" y="55219"/>
                </a:lnTo>
                <a:lnTo>
                  <a:pt x="634479" y="56413"/>
                </a:lnTo>
                <a:lnTo>
                  <a:pt x="640511" y="56413"/>
                </a:lnTo>
                <a:lnTo>
                  <a:pt x="647204" y="52184"/>
                </a:lnTo>
                <a:lnTo>
                  <a:pt x="657682" y="43738"/>
                </a:lnTo>
                <a:lnTo>
                  <a:pt x="657567" y="52451"/>
                </a:lnTo>
                <a:lnTo>
                  <a:pt x="657136" y="62992"/>
                </a:lnTo>
                <a:lnTo>
                  <a:pt x="656361" y="75336"/>
                </a:lnTo>
                <a:lnTo>
                  <a:pt x="654507" y="98894"/>
                </a:lnTo>
                <a:lnTo>
                  <a:pt x="654100" y="103847"/>
                </a:lnTo>
                <a:lnTo>
                  <a:pt x="653275" y="116230"/>
                </a:lnTo>
                <a:lnTo>
                  <a:pt x="652767" y="126669"/>
                </a:lnTo>
                <a:lnTo>
                  <a:pt x="652614" y="135140"/>
                </a:lnTo>
                <a:lnTo>
                  <a:pt x="652614" y="138849"/>
                </a:lnTo>
                <a:lnTo>
                  <a:pt x="652932" y="144411"/>
                </a:lnTo>
                <a:lnTo>
                  <a:pt x="654189" y="159232"/>
                </a:lnTo>
                <a:lnTo>
                  <a:pt x="654507" y="164833"/>
                </a:lnTo>
                <a:lnTo>
                  <a:pt x="654507" y="168617"/>
                </a:lnTo>
                <a:lnTo>
                  <a:pt x="649655" y="168376"/>
                </a:lnTo>
                <a:lnTo>
                  <a:pt x="631444" y="168338"/>
                </a:lnTo>
                <a:lnTo>
                  <a:pt x="625360" y="172313"/>
                </a:lnTo>
                <a:lnTo>
                  <a:pt x="625360" y="185089"/>
                </a:lnTo>
                <a:lnTo>
                  <a:pt x="693813" y="190804"/>
                </a:lnTo>
                <a:lnTo>
                  <a:pt x="696569" y="189712"/>
                </a:lnTo>
                <a:lnTo>
                  <a:pt x="700938" y="185394"/>
                </a:lnTo>
                <a:lnTo>
                  <a:pt x="702030" y="182626"/>
                </a:lnTo>
                <a:lnTo>
                  <a:pt x="702030" y="175983"/>
                </a:lnTo>
                <a:close/>
              </a:path>
              <a:path w="792480" h="260350">
                <a:moveTo>
                  <a:pt x="792010" y="121780"/>
                </a:moveTo>
                <a:lnTo>
                  <a:pt x="784669" y="73025"/>
                </a:lnTo>
                <a:lnTo>
                  <a:pt x="767930" y="34353"/>
                </a:lnTo>
                <a:lnTo>
                  <a:pt x="740587" y="3302"/>
                </a:lnTo>
                <a:lnTo>
                  <a:pt x="735037" y="101"/>
                </a:lnTo>
                <a:lnTo>
                  <a:pt x="729716" y="177"/>
                </a:lnTo>
                <a:lnTo>
                  <a:pt x="727595" y="1130"/>
                </a:lnTo>
                <a:lnTo>
                  <a:pt x="723353" y="5676"/>
                </a:lnTo>
                <a:lnTo>
                  <a:pt x="722312" y="8191"/>
                </a:lnTo>
                <a:lnTo>
                  <a:pt x="722312" y="13817"/>
                </a:lnTo>
                <a:lnTo>
                  <a:pt x="724776" y="17856"/>
                </a:lnTo>
                <a:lnTo>
                  <a:pt x="729716" y="23164"/>
                </a:lnTo>
                <a:lnTo>
                  <a:pt x="733298" y="26809"/>
                </a:lnTo>
                <a:lnTo>
                  <a:pt x="740638" y="34175"/>
                </a:lnTo>
                <a:lnTo>
                  <a:pt x="746810" y="42392"/>
                </a:lnTo>
                <a:lnTo>
                  <a:pt x="764235" y="88938"/>
                </a:lnTo>
                <a:lnTo>
                  <a:pt x="767930" y="124510"/>
                </a:lnTo>
                <a:lnTo>
                  <a:pt x="766203" y="152692"/>
                </a:lnTo>
                <a:lnTo>
                  <a:pt x="761034" y="176834"/>
                </a:lnTo>
                <a:lnTo>
                  <a:pt x="752436" y="196951"/>
                </a:lnTo>
                <a:lnTo>
                  <a:pt x="740397" y="213029"/>
                </a:lnTo>
                <a:lnTo>
                  <a:pt x="736638" y="215887"/>
                </a:lnTo>
                <a:lnTo>
                  <a:pt x="729259" y="221589"/>
                </a:lnTo>
                <a:lnTo>
                  <a:pt x="724623" y="225234"/>
                </a:lnTo>
                <a:lnTo>
                  <a:pt x="722312" y="228828"/>
                </a:lnTo>
                <a:lnTo>
                  <a:pt x="722312" y="235013"/>
                </a:lnTo>
                <a:lnTo>
                  <a:pt x="723366" y="237299"/>
                </a:lnTo>
                <a:lnTo>
                  <a:pt x="727506" y="241173"/>
                </a:lnTo>
                <a:lnTo>
                  <a:pt x="729716" y="242074"/>
                </a:lnTo>
                <a:lnTo>
                  <a:pt x="735037" y="242150"/>
                </a:lnTo>
                <a:lnTo>
                  <a:pt x="737870" y="241236"/>
                </a:lnTo>
                <a:lnTo>
                  <a:pt x="741146" y="239407"/>
                </a:lnTo>
                <a:lnTo>
                  <a:pt x="763397" y="221500"/>
                </a:lnTo>
                <a:lnTo>
                  <a:pt x="779284" y="195935"/>
                </a:lnTo>
                <a:lnTo>
                  <a:pt x="788822" y="162687"/>
                </a:lnTo>
                <a:lnTo>
                  <a:pt x="792010" y="1217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1408112" y="5272074"/>
            <a:ext cx="6350000" cy="727075"/>
            <a:chOff x="1408112" y="5272074"/>
            <a:chExt cx="6350000" cy="727075"/>
          </a:xfrm>
        </p:grpSpPr>
        <p:sp>
          <p:nvSpPr>
            <p:cNvPr id="9" name="object 9"/>
            <p:cNvSpPr/>
            <p:nvPr/>
          </p:nvSpPr>
          <p:spPr>
            <a:xfrm>
              <a:off x="1412875" y="5276837"/>
              <a:ext cx="1798955" cy="425450"/>
            </a:xfrm>
            <a:custGeom>
              <a:avLst/>
              <a:gdLst/>
              <a:ahLst/>
              <a:cxnLst/>
              <a:rect l="l" t="t" r="r" b="b"/>
              <a:pathLst>
                <a:path w="1798955" h="425450">
                  <a:moveTo>
                    <a:pt x="1798637" y="0"/>
                  </a:moveTo>
                  <a:lnTo>
                    <a:pt x="1793283" y="56551"/>
                  </a:lnTo>
                  <a:lnTo>
                    <a:pt x="1778173" y="107367"/>
                  </a:lnTo>
                  <a:lnTo>
                    <a:pt x="1754736" y="150420"/>
                  </a:lnTo>
                  <a:lnTo>
                    <a:pt x="1724401" y="183682"/>
                  </a:lnTo>
                  <a:lnTo>
                    <a:pt x="1688597" y="205126"/>
                  </a:lnTo>
                  <a:lnTo>
                    <a:pt x="1648752" y="212725"/>
                  </a:lnTo>
                  <a:lnTo>
                    <a:pt x="1049210" y="212725"/>
                  </a:lnTo>
                  <a:lnTo>
                    <a:pt x="1009365" y="220323"/>
                  </a:lnTo>
                  <a:lnTo>
                    <a:pt x="973560" y="241767"/>
                  </a:lnTo>
                  <a:lnTo>
                    <a:pt x="943225" y="275029"/>
                  </a:lnTo>
                  <a:lnTo>
                    <a:pt x="919789" y="318082"/>
                  </a:lnTo>
                  <a:lnTo>
                    <a:pt x="904679" y="368898"/>
                  </a:lnTo>
                  <a:lnTo>
                    <a:pt x="899325" y="425450"/>
                  </a:lnTo>
                  <a:lnTo>
                    <a:pt x="893970" y="368898"/>
                  </a:lnTo>
                  <a:lnTo>
                    <a:pt x="878861" y="318082"/>
                  </a:lnTo>
                  <a:lnTo>
                    <a:pt x="855424" y="275029"/>
                  </a:lnTo>
                  <a:lnTo>
                    <a:pt x="825089" y="241767"/>
                  </a:lnTo>
                  <a:lnTo>
                    <a:pt x="789284" y="220323"/>
                  </a:lnTo>
                  <a:lnTo>
                    <a:pt x="749439" y="212725"/>
                  </a:lnTo>
                  <a:lnTo>
                    <a:pt x="149885" y="212725"/>
                  </a:lnTo>
                  <a:lnTo>
                    <a:pt x="110040" y="205126"/>
                  </a:lnTo>
                  <a:lnTo>
                    <a:pt x="74235" y="183682"/>
                  </a:lnTo>
                  <a:lnTo>
                    <a:pt x="43900" y="150420"/>
                  </a:lnTo>
                  <a:lnTo>
                    <a:pt x="20463" y="107367"/>
                  </a:lnTo>
                  <a:lnTo>
                    <a:pt x="5354" y="56551"/>
                  </a:ln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41675" y="5284774"/>
              <a:ext cx="4511675" cy="425450"/>
            </a:xfrm>
            <a:custGeom>
              <a:avLst/>
              <a:gdLst/>
              <a:ahLst/>
              <a:cxnLst/>
              <a:rect l="l" t="t" r="r" b="b"/>
              <a:pathLst>
                <a:path w="4511675" h="425450">
                  <a:moveTo>
                    <a:pt x="4511662" y="0"/>
                  </a:moveTo>
                  <a:lnTo>
                    <a:pt x="4492495" y="67238"/>
                  </a:lnTo>
                  <a:lnTo>
                    <a:pt x="4439122" y="125633"/>
                  </a:lnTo>
                  <a:lnTo>
                    <a:pt x="4401543" y="150420"/>
                  </a:lnTo>
                  <a:lnTo>
                    <a:pt x="4357735" y="171682"/>
                  </a:lnTo>
                  <a:lnTo>
                    <a:pt x="4308472" y="188981"/>
                  </a:lnTo>
                  <a:lnTo>
                    <a:pt x="4254528" y="201880"/>
                  </a:lnTo>
                  <a:lnTo>
                    <a:pt x="4196676" y="209940"/>
                  </a:lnTo>
                  <a:lnTo>
                    <a:pt x="4135691" y="212724"/>
                  </a:lnTo>
                  <a:lnTo>
                    <a:pt x="2631808" y="212725"/>
                  </a:lnTo>
                  <a:lnTo>
                    <a:pt x="2570823" y="215509"/>
                  </a:lnTo>
                  <a:lnTo>
                    <a:pt x="2512970" y="223569"/>
                  </a:lnTo>
                  <a:lnTo>
                    <a:pt x="2459024" y="236468"/>
                  </a:lnTo>
                  <a:lnTo>
                    <a:pt x="2409759" y="253767"/>
                  </a:lnTo>
                  <a:lnTo>
                    <a:pt x="2365949" y="275029"/>
                  </a:lnTo>
                  <a:lnTo>
                    <a:pt x="2328369" y="299816"/>
                  </a:lnTo>
                  <a:lnTo>
                    <a:pt x="2297792" y="327689"/>
                  </a:lnTo>
                  <a:lnTo>
                    <a:pt x="2260745" y="390944"/>
                  </a:lnTo>
                  <a:lnTo>
                    <a:pt x="2255824" y="425450"/>
                  </a:lnTo>
                  <a:lnTo>
                    <a:pt x="2250904" y="390944"/>
                  </a:lnTo>
                  <a:lnTo>
                    <a:pt x="2213860" y="327689"/>
                  </a:lnTo>
                  <a:lnTo>
                    <a:pt x="2183284" y="299816"/>
                  </a:lnTo>
                  <a:lnTo>
                    <a:pt x="2145706" y="275029"/>
                  </a:lnTo>
                  <a:lnTo>
                    <a:pt x="2101898" y="253767"/>
                  </a:lnTo>
                  <a:lnTo>
                    <a:pt x="2052635" y="236468"/>
                  </a:lnTo>
                  <a:lnTo>
                    <a:pt x="1998690" y="223569"/>
                  </a:lnTo>
                  <a:lnTo>
                    <a:pt x="1940838" y="215509"/>
                  </a:lnTo>
                  <a:lnTo>
                    <a:pt x="1879854" y="212725"/>
                  </a:lnTo>
                  <a:lnTo>
                    <a:pt x="375970" y="212725"/>
                  </a:lnTo>
                  <a:lnTo>
                    <a:pt x="314985" y="209940"/>
                  </a:lnTo>
                  <a:lnTo>
                    <a:pt x="257134" y="201880"/>
                  </a:lnTo>
                  <a:lnTo>
                    <a:pt x="203189" y="188981"/>
                  </a:lnTo>
                  <a:lnTo>
                    <a:pt x="153926" y="171682"/>
                  </a:lnTo>
                  <a:lnTo>
                    <a:pt x="110118" y="150420"/>
                  </a:lnTo>
                  <a:lnTo>
                    <a:pt x="72539" y="125633"/>
                  </a:lnTo>
                  <a:lnTo>
                    <a:pt x="41964" y="97760"/>
                  </a:lnTo>
                  <a:lnTo>
                    <a:pt x="4920" y="34505"/>
                  </a:ln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33060" y="5742215"/>
              <a:ext cx="780415" cy="257175"/>
            </a:xfrm>
            <a:custGeom>
              <a:avLst/>
              <a:gdLst/>
              <a:ahLst/>
              <a:cxnLst/>
              <a:rect l="l" t="t" r="r" b="b"/>
              <a:pathLst>
                <a:path w="780414" h="257175">
                  <a:moveTo>
                    <a:pt x="123913" y="74498"/>
                  </a:moveTo>
                  <a:lnTo>
                    <a:pt x="123469" y="71602"/>
                  </a:lnTo>
                  <a:lnTo>
                    <a:pt x="120053" y="66548"/>
                  </a:lnTo>
                  <a:lnTo>
                    <a:pt x="117614" y="65290"/>
                  </a:lnTo>
                  <a:lnTo>
                    <a:pt x="111810" y="65290"/>
                  </a:lnTo>
                  <a:lnTo>
                    <a:pt x="108419" y="66789"/>
                  </a:lnTo>
                  <a:lnTo>
                    <a:pt x="104254" y="69799"/>
                  </a:lnTo>
                  <a:lnTo>
                    <a:pt x="102895" y="66370"/>
                  </a:lnTo>
                  <a:lnTo>
                    <a:pt x="100025" y="64655"/>
                  </a:lnTo>
                  <a:lnTo>
                    <a:pt x="99072" y="64655"/>
                  </a:lnTo>
                  <a:lnTo>
                    <a:pt x="99072" y="85217"/>
                  </a:lnTo>
                  <a:lnTo>
                    <a:pt x="89496" y="116890"/>
                  </a:lnTo>
                  <a:lnTo>
                    <a:pt x="76593" y="154292"/>
                  </a:lnTo>
                  <a:lnTo>
                    <a:pt x="54610" y="174256"/>
                  </a:lnTo>
                  <a:lnTo>
                    <a:pt x="48869" y="174142"/>
                  </a:lnTo>
                  <a:lnTo>
                    <a:pt x="23583" y="151612"/>
                  </a:lnTo>
                  <a:lnTo>
                    <a:pt x="25908" y="142278"/>
                  </a:lnTo>
                  <a:lnTo>
                    <a:pt x="43675" y="107403"/>
                  </a:lnTo>
                  <a:lnTo>
                    <a:pt x="82296" y="85217"/>
                  </a:lnTo>
                  <a:lnTo>
                    <a:pt x="86410" y="85090"/>
                  </a:lnTo>
                  <a:lnTo>
                    <a:pt x="90652" y="85572"/>
                  </a:lnTo>
                  <a:lnTo>
                    <a:pt x="94551" y="85890"/>
                  </a:lnTo>
                  <a:lnTo>
                    <a:pt x="97358" y="85763"/>
                  </a:lnTo>
                  <a:lnTo>
                    <a:pt x="99072" y="85217"/>
                  </a:lnTo>
                  <a:lnTo>
                    <a:pt x="99072" y="64655"/>
                  </a:lnTo>
                  <a:lnTo>
                    <a:pt x="48869" y="76606"/>
                  </a:lnTo>
                  <a:lnTo>
                    <a:pt x="23583" y="98171"/>
                  </a:lnTo>
                  <a:lnTo>
                    <a:pt x="14681" y="110566"/>
                  </a:lnTo>
                  <a:lnTo>
                    <a:pt x="7289" y="125399"/>
                  </a:lnTo>
                  <a:lnTo>
                    <a:pt x="1930" y="141960"/>
                  </a:lnTo>
                  <a:lnTo>
                    <a:pt x="0" y="154000"/>
                  </a:lnTo>
                  <a:lnTo>
                    <a:pt x="596" y="164642"/>
                  </a:lnTo>
                  <a:lnTo>
                    <a:pt x="36004" y="194398"/>
                  </a:lnTo>
                  <a:lnTo>
                    <a:pt x="51028" y="195237"/>
                  </a:lnTo>
                  <a:lnTo>
                    <a:pt x="56095" y="194322"/>
                  </a:lnTo>
                  <a:lnTo>
                    <a:pt x="63411" y="192506"/>
                  </a:lnTo>
                  <a:lnTo>
                    <a:pt x="54610" y="218605"/>
                  </a:lnTo>
                  <a:lnTo>
                    <a:pt x="47828" y="236969"/>
                  </a:lnTo>
                  <a:lnTo>
                    <a:pt x="46532" y="241338"/>
                  </a:lnTo>
                  <a:lnTo>
                    <a:pt x="45910" y="244805"/>
                  </a:lnTo>
                  <a:lnTo>
                    <a:pt x="44399" y="252755"/>
                  </a:lnTo>
                  <a:lnTo>
                    <a:pt x="47307" y="256717"/>
                  </a:lnTo>
                  <a:lnTo>
                    <a:pt x="58166" y="256717"/>
                  </a:lnTo>
                  <a:lnTo>
                    <a:pt x="61264" y="255612"/>
                  </a:lnTo>
                  <a:lnTo>
                    <a:pt x="66675" y="251180"/>
                  </a:lnTo>
                  <a:lnTo>
                    <a:pt x="68465" y="248335"/>
                  </a:lnTo>
                  <a:lnTo>
                    <a:pt x="69342" y="244856"/>
                  </a:lnTo>
                  <a:lnTo>
                    <a:pt x="72148" y="234302"/>
                  </a:lnTo>
                  <a:lnTo>
                    <a:pt x="75476" y="223126"/>
                  </a:lnTo>
                  <a:lnTo>
                    <a:pt x="79311" y="211353"/>
                  </a:lnTo>
                  <a:lnTo>
                    <a:pt x="83667" y="198958"/>
                  </a:lnTo>
                  <a:lnTo>
                    <a:pt x="100304" y="153416"/>
                  </a:lnTo>
                  <a:lnTo>
                    <a:pt x="106997" y="133438"/>
                  </a:lnTo>
                  <a:lnTo>
                    <a:pt x="113030" y="114160"/>
                  </a:lnTo>
                  <a:lnTo>
                    <a:pt x="118402" y="95592"/>
                  </a:lnTo>
                  <a:lnTo>
                    <a:pt x="123113" y="77736"/>
                  </a:lnTo>
                  <a:lnTo>
                    <a:pt x="123913" y="74498"/>
                  </a:lnTo>
                  <a:close/>
                </a:path>
                <a:path w="780414" h="257175">
                  <a:moveTo>
                    <a:pt x="217119" y="8191"/>
                  </a:moveTo>
                  <a:lnTo>
                    <a:pt x="216052" y="5638"/>
                  </a:lnTo>
                  <a:lnTo>
                    <a:pt x="211785" y="1130"/>
                  </a:lnTo>
                  <a:lnTo>
                    <a:pt x="209296" y="0"/>
                  </a:lnTo>
                  <a:lnTo>
                    <a:pt x="204520" y="50"/>
                  </a:lnTo>
                  <a:lnTo>
                    <a:pt x="172148" y="34023"/>
                  </a:lnTo>
                  <a:lnTo>
                    <a:pt x="168808" y="39458"/>
                  </a:lnTo>
                  <a:lnTo>
                    <a:pt x="151307" y="89382"/>
                  </a:lnTo>
                  <a:lnTo>
                    <a:pt x="148082" y="121780"/>
                  </a:lnTo>
                  <a:lnTo>
                    <a:pt x="151218" y="162687"/>
                  </a:lnTo>
                  <a:lnTo>
                    <a:pt x="176352" y="221500"/>
                  </a:lnTo>
                  <a:lnTo>
                    <a:pt x="204520" y="242150"/>
                  </a:lnTo>
                  <a:lnTo>
                    <a:pt x="209816" y="242062"/>
                  </a:lnTo>
                  <a:lnTo>
                    <a:pt x="211975" y="241173"/>
                  </a:lnTo>
                  <a:lnTo>
                    <a:pt x="216090" y="237286"/>
                  </a:lnTo>
                  <a:lnTo>
                    <a:pt x="217119" y="235013"/>
                  </a:lnTo>
                  <a:lnTo>
                    <a:pt x="217119" y="228828"/>
                  </a:lnTo>
                  <a:lnTo>
                    <a:pt x="214833" y="225234"/>
                  </a:lnTo>
                  <a:lnTo>
                    <a:pt x="210273" y="221589"/>
                  </a:lnTo>
                  <a:lnTo>
                    <a:pt x="206578" y="218744"/>
                  </a:lnTo>
                  <a:lnTo>
                    <a:pt x="199288" y="213029"/>
                  </a:lnTo>
                  <a:lnTo>
                    <a:pt x="187413" y="196951"/>
                  </a:lnTo>
                  <a:lnTo>
                    <a:pt x="178930" y="176834"/>
                  </a:lnTo>
                  <a:lnTo>
                    <a:pt x="173837" y="152692"/>
                  </a:lnTo>
                  <a:lnTo>
                    <a:pt x="172148" y="124510"/>
                  </a:lnTo>
                  <a:lnTo>
                    <a:pt x="172542" y="112763"/>
                  </a:lnTo>
                  <a:lnTo>
                    <a:pt x="182676" y="63766"/>
                  </a:lnTo>
                  <a:lnTo>
                    <a:pt x="206209" y="26809"/>
                  </a:lnTo>
                  <a:lnTo>
                    <a:pt x="209816" y="23164"/>
                  </a:lnTo>
                  <a:lnTo>
                    <a:pt x="214680" y="17856"/>
                  </a:lnTo>
                  <a:lnTo>
                    <a:pt x="217119" y="13817"/>
                  </a:lnTo>
                  <a:lnTo>
                    <a:pt x="217119" y="8191"/>
                  </a:lnTo>
                  <a:close/>
                </a:path>
                <a:path w="780414" h="257175">
                  <a:moveTo>
                    <a:pt x="347992" y="86956"/>
                  </a:moveTo>
                  <a:lnTo>
                    <a:pt x="324561" y="64020"/>
                  </a:lnTo>
                  <a:lnTo>
                    <a:pt x="323850" y="64135"/>
                  </a:lnTo>
                  <a:lnTo>
                    <a:pt x="313537" y="65697"/>
                  </a:lnTo>
                  <a:lnTo>
                    <a:pt x="301840" y="70688"/>
                  </a:lnTo>
                  <a:lnTo>
                    <a:pt x="289433" y="79006"/>
                  </a:lnTo>
                  <a:lnTo>
                    <a:pt x="276339" y="90639"/>
                  </a:lnTo>
                  <a:lnTo>
                    <a:pt x="279438" y="76822"/>
                  </a:lnTo>
                  <a:lnTo>
                    <a:pt x="281266" y="66598"/>
                  </a:lnTo>
                  <a:lnTo>
                    <a:pt x="278523" y="61480"/>
                  </a:lnTo>
                  <a:lnTo>
                    <a:pt x="276339" y="61480"/>
                  </a:lnTo>
                  <a:lnTo>
                    <a:pt x="267843" y="61480"/>
                  </a:lnTo>
                  <a:lnTo>
                    <a:pt x="253098" y="89319"/>
                  </a:lnTo>
                  <a:lnTo>
                    <a:pt x="252298" y="93065"/>
                  </a:lnTo>
                  <a:lnTo>
                    <a:pt x="238379" y="139636"/>
                  </a:lnTo>
                  <a:lnTo>
                    <a:pt x="235623" y="148678"/>
                  </a:lnTo>
                  <a:lnTo>
                    <a:pt x="229031" y="178625"/>
                  </a:lnTo>
                  <a:lnTo>
                    <a:pt x="228409" y="182168"/>
                  </a:lnTo>
                  <a:lnTo>
                    <a:pt x="226936" y="188087"/>
                  </a:lnTo>
                  <a:lnTo>
                    <a:pt x="227279" y="190969"/>
                  </a:lnTo>
                  <a:lnTo>
                    <a:pt x="230466" y="195402"/>
                  </a:lnTo>
                  <a:lnTo>
                    <a:pt x="233006" y="196507"/>
                  </a:lnTo>
                  <a:lnTo>
                    <a:pt x="239903" y="196507"/>
                  </a:lnTo>
                  <a:lnTo>
                    <a:pt x="253796" y="169138"/>
                  </a:lnTo>
                  <a:lnTo>
                    <a:pt x="254444" y="165582"/>
                  </a:lnTo>
                  <a:lnTo>
                    <a:pt x="255968" y="159499"/>
                  </a:lnTo>
                  <a:lnTo>
                    <a:pt x="257162" y="155676"/>
                  </a:lnTo>
                  <a:lnTo>
                    <a:pt x="260350" y="147066"/>
                  </a:lnTo>
                  <a:lnTo>
                    <a:pt x="261670" y="143192"/>
                  </a:lnTo>
                  <a:lnTo>
                    <a:pt x="288836" y="103860"/>
                  </a:lnTo>
                  <a:lnTo>
                    <a:pt x="318300" y="88099"/>
                  </a:lnTo>
                  <a:lnTo>
                    <a:pt x="322072" y="89700"/>
                  </a:lnTo>
                  <a:lnTo>
                    <a:pt x="323850" y="94500"/>
                  </a:lnTo>
                  <a:lnTo>
                    <a:pt x="323646" y="102476"/>
                  </a:lnTo>
                  <a:lnTo>
                    <a:pt x="321449" y="113652"/>
                  </a:lnTo>
                  <a:lnTo>
                    <a:pt x="320903" y="115849"/>
                  </a:lnTo>
                  <a:lnTo>
                    <a:pt x="319836" y="119595"/>
                  </a:lnTo>
                  <a:lnTo>
                    <a:pt x="316636" y="130162"/>
                  </a:lnTo>
                  <a:lnTo>
                    <a:pt x="315569" y="133908"/>
                  </a:lnTo>
                  <a:lnTo>
                    <a:pt x="305549" y="195338"/>
                  </a:lnTo>
                  <a:lnTo>
                    <a:pt x="308571" y="199034"/>
                  </a:lnTo>
                  <a:lnTo>
                    <a:pt x="319074" y="199034"/>
                  </a:lnTo>
                  <a:lnTo>
                    <a:pt x="322262" y="197954"/>
                  </a:lnTo>
                  <a:lnTo>
                    <a:pt x="335610" y="154609"/>
                  </a:lnTo>
                  <a:lnTo>
                    <a:pt x="336588" y="147891"/>
                  </a:lnTo>
                  <a:lnTo>
                    <a:pt x="337654" y="141897"/>
                  </a:lnTo>
                  <a:lnTo>
                    <a:pt x="338836" y="136613"/>
                  </a:lnTo>
                  <a:lnTo>
                    <a:pt x="341706" y="125603"/>
                  </a:lnTo>
                  <a:lnTo>
                    <a:pt x="344690" y="113639"/>
                  </a:lnTo>
                  <a:lnTo>
                    <a:pt x="346697" y="103416"/>
                  </a:lnTo>
                  <a:lnTo>
                    <a:pt x="347802" y="94513"/>
                  </a:lnTo>
                  <a:lnTo>
                    <a:pt x="347992" y="86956"/>
                  </a:lnTo>
                  <a:close/>
                </a:path>
                <a:path w="780414" h="257175">
                  <a:moveTo>
                    <a:pt x="553440" y="120446"/>
                  </a:moveTo>
                  <a:lnTo>
                    <a:pt x="426123" y="120446"/>
                  </a:lnTo>
                  <a:lnTo>
                    <a:pt x="426123" y="133756"/>
                  </a:lnTo>
                  <a:lnTo>
                    <a:pt x="553440" y="133756"/>
                  </a:lnTo>
                  <a:lnTo>
                    <a:pt x="553440" y="120446"/>
                  </a:lnTo>
                  <a:close/>
                </a:path>
                <a:path w="780414" h="257175">
                  <a:moveTo>
                    <a:pt x="690257" y="175983"/>
                  </a:moveTo>
                  <a:lnTo>
                    <a:pt x="689165" y="173240"/>
                  </a:lnTo>
                  <a:lnTo>
                    <a:pt x="684796" y="168846"/>
                  </a:lnTo>
                  <a:lnTo>
                    <a:pt x="682040" y="167741"/>
                  </a:lnTo>
                  <a:lnTo>
                    <a:pt x="678700" y="167741"/>
                  </a:lnTo>
                  <a:lnTo>
                    <a:pt x="666191" y="167982"/>
                  </a:lnTo>
                  <a:lnTo>
                    <a:pt x="666115" y="163791"/>
                  </a:lnTo>
                  <a:lnTo>
                    <a:pt x="665784" y="158419"/>
                  </a:lnTo>
                  <a:lnTo>
                    <a:pt x="664591" y="145313"/>
                  </a:lnTo>
                  <a:lnTo>
                    <a:pt x="664286" y="139750"/>
                  </a:lnTo>
                  <a:lnTo>
                    <a:pt x="664286" y="135166"/>
                  </a:lnTo>
                  <a:lnTo>
                    <a:pt x="664438" y="127647"/>
                  </a:lnTo>
                  <a:lnTo>
                    <a:pt x="664921" y="118440"/>
                  </a:lnTo>
                  <a:lnTo>
                    <a:pt x="665708" y="107569"/>
                  </a:lnTo>
                  <a:lnTo>
                    <a:pt x="667931" y="82461"/>
                  </a:lnTo>
                  <a:lnTo>
                    <a:pt x="668718" y="71564"/>
                  </a:lnTo>
                  <a:lnTo>
                    <a:pt x="669188" y="62318"/>
                  </a:lnTo>
                  <a:lnTo>
                    <a:pt x="669353" y="54737"/>
                  </a:lnTo>
                  <a:lnTo>
                    <a:pt x="669353" y="52133"/>
                  </a:lnTo>
                  <a:lnTo>
                    <a:pt x="669251" y="48183"/>
                  </a:lnTo>
                  <a:lnTo>
                    <a:pt x="668832" y="37604"/>
                  </a:lnTo>
                  <a:lnTo>
                    <a:pt x="668718" y="33655"/>
                  </a:lnTo>
                  <a:lnTo>
                    <a:pt x="668718" y="29235"/>
                  </a:lnTo>
                  <a:lnTo>
                    <a:pt x="668934" y="26530"/>
                  </a:lnTo>
                  <a:lnTo>
                    <a:pt x="669772" y="19342"/>
                  </a:lnTo>
                  <a:lnTo>
                    <a:pt x="669988" y="16637"/>
                  </a:lnTo>
                  <a:lnTo>
                    <a:pt x="669988" y="8737"/>
                  </a:lnTo>
                  <a:lnTo>
                    <a:pt x="668718" y="7277"/>
                  </a:lnTo>
                  <a:lnTo>
                    <a:pt x="667359" y="5702"/>
                  </a:lnTo>
                  <a:lnTo>
                    <a:pt x="664286" y="5702"/>
                  </a:lnTo>
                  <a:lnTo>
                    <a:pt x="655840" y="5702"/>
                  </a:lnTo>
                  <a:lnTo>
                    <a:pt x="649249" y="9245"/>
                  </a:lnTo>
                  <a:lnTo>
                    <a:pt x="624370" y="30937"/>
                  </a:lnTo>
                  <a:lnTo>
                    <a:pt x="617626" y="36283"/>
                  </a:lnTo>
                  <a:lnTo>
                    <a:pt x="614248" y="40830"/>
                  </a:lnTo>
                  <a:lnTo>
                    <a:pt x="614248" y="47675"/>
                  </a:lnTo>
                  <a:lnTo>
                    <a:pt x="615403" y="50431"/>
                  </a:lnTo>
                  <a:lnTo>
                    <a:pt x="620014" y="55219"/>
                  </a:lnTo>
                  <a:lnTo>
                    <a:pt x="622731" y="56413"/>
                  </a:lnTo>
                  <a:lnTo>
                    <a:pt x="628751" y="56413"/>
                  </a:lnTo>
                  <a:lnTo>
                    <a:pt x="635444" y="52184"/>
                  </a:lnTo>
                  <a:lnTo>
                    <a:pt x="645922" y="43738"/>
                  </a:lnTo>
                  <a:lnTo>
                    <a:pt x="645807" y="52451"/>
                  </a:lnTo>
                  <a:lnTo>
                    <a:pt x="645375" y="62992"/>
                  </a:lnTo>
                  <a:lnTo>
                    <a:pt x="644601" y="75336"/>
                  </a:lnTo>
                  <a:lnTo>
                    <a:pt x="642759" y="98780"/>
                  </a:lnTo>
                  <a:lnTo>
                    <a:pt x="642340" y="103847"/>
                  </a:lnTo>
                  <a:lnTo>
                    <a:pt x="641515" y="116230"/>
                  </a:lnTo>
                  <a:lnTo>
                    <a:pt x="641019" y="126669"/>
                  </a:lnTo>
                  <a:lnTo>
                    <a:pt x="640854" y="135140"/>
                  </a:lnTo>
                  <a:lnTo>
                    <a:pt x="640854" y="138849"/>
                  </a:lnTo>
                  <a:lnTo>
                    <a:pt x="641172" y="144411"/>
                  </a:lnTo>
                  <a:lnTo>
                    <a:pt x="642442" y="159232"/>
                  </a:lnTo>
                  <a:lnTo>
                    <a:pt x="642759" y="164833"/>
                  </a:lnTo>
                  <a:lnTo>
                    <a:pt x="642759" y="168617"/>
                  </a:lnTo>
                  <a:lnTo>
                    <a:pt x="637895" y="168376"/>
                  </a:lnTo>
                  <a:lnTo>
                    <a:pt x="619696" y="168338"/>
                  </a:lnTo>
                  <a:lnTo>
                    <a:pt x="613613" y="172313"/>
                  </a:lnTo>
                  <a:lnTo>
                    <a:pt x="613613" y="185089"/>
                  </a:lnTo>
                  <a:lnTo>
                    <a:pt x="682040" y="190804"/>
                  </a:lnTo>
                  <a:lnTo>
                    <a:pt x="684796" y="189712"/>
                  </a:lnTo>
                  <a:lnTo>
                    <a:pt x="689165" y="185394"/>
                  </a:lnTo>
                  <a:lnTo>
                    <a:pt x="690257" y="182626"/>
                  </a:lnTo>
                  <a:lnTo>
                    <a:pt x="690257" y="175983"/>
                  </a:lnTo>
                  <a:close/>
                </a:path>
                <a:path w="780414" h="257175">
                  <a:moveTo>
                    <a:pt x="780199" y="121780"/>
                  </a:moveTo>
                  <a:lnTo>
                    <a:pt x="772858" y="73025"/>
                  </a:lnTo>
                  <a:lnTo>
                    <a:pt x="756132" y="34366"/>
                  </a:lnTo>
                  <a:lnTo>
                    <a:pt x="728789" y="3302"/>
                  </a:lnTo>
                  <a:lnTo>
                    <a:pt x="723239" y="101"/>
                  </a:lnTo>
                  <a:lnTo>
                    <a:pt x="717931" y="177"/>
                  </a:lnTo>
                  <a:lnTo>
                    <a:pt x="715810" y="1130"/>
                  </a:lnTo>
                  <a:lnTo>
                    <a:pt x="711568" y="5676"/>
                  </a:lnTo>
                  <a:lnTo>
                    <a:pt x="710526" y="8191"/>
                  </a:lnTo>
                  <a:lnTo>
                    <a:pt x="710526" y="13817"/>
                  </a:lnTo>
                  <a:lnTo>
                    <a:pt x="712990" y="17856"/>
                  </a:lnTo>
                  <a:lnTo>
                    <a:pt x="717931" y="23164"/>
                  </a:lnTo>
                  <a:lnTo>
                    <a:pt x="721512" y="26809"/>
                  </a:lnTo>
                  <a:lnTo>
                    <a:pt x="728840" y="34175"/>
                  </a:lnTo>
                  <a:lnTo>
                    <a:pt x="735012" y="42392"/>
                  </a:lnTo>
                  <a:lnTo>
                    <a:pt x="752436" y="88938"/>
                  </a:lnTo>
                  <a:lnTo>
                    <a:pt x="756132" y="124510"/>
                  </a:lnTo>
                  <a:lnTo>
                    <a:pt x="754405" y="152692"/>
                  </a:lnTo>
                  <a:lnTo>
                    <a:pt x="749236" y="176834"/>
                  </a:lnTo>
                  <a:lnTo>
                    <a:pt x="740638" y="196951"/>
                  </a:lnTo>
                  <a:lnTo>
                    <a:pt x="728599" y="213029"/>
                  </a:lnTo>
                  <a:lnTo>
                    <a:pt x="724852" y="215887"/>
                  </a:lnTo>
                  <a:lnTo>
                    <a:pt x="717461" y="221589"/>
                  </a:lnTo>
                  <a:lnTo>
                    <a:pt x="712838" y="225234"/>
                  </a:lnTo>
                  <a:lnTo>
                    <a:pt x="710526" y="228828"/>
                  </a:lnTo>
                  <a:lnTo>
                    <a:pt x="710526" y="235013"/>
                  </a:lnTo>
                  <a:lnTo>
                    <a:pt x="711581" y="237299"/>
                  </a:lnTo>
                  <a:lnTo>
                    <a:pt x="715721" y="241173"/>
                  </a:lnTo>
                  <a:lnTo>
                    <a:pt x="717931" y="242074"/>
                  </a:lnTo>
                  <a:lnTo>
                    <a:pt x="723239" y="242150"/>
                  </a:lnTo>
                  <a:lnTo>
                    <a:pt x="726071" y="241236"/>
                  </a:lnTo>
                  <a:lnTo>
                    <a:pt x="729348" y="239407"/>
                  </a:lnTo>
                  <a:lnTo>
                    <a:pt x="751586" y="221500"/>
                  </a:lnTo>
                  <a:lnTo>
                    <a:pt x="767473" y="195935"/>
                  </a:lnTo>
                  <a:lnTo>
                    <a:pt x="777011" y="162687"/>
                  </a:lnTo>
                  <a:lnTo>
                    <a:pt x="780199" y="1217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330820" y="1841518"/>
            <a:ext cx="4669790" cy="2205990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5"/>
              </a:spcBef>
            </a:pPr>
            <a:r>
              <a:rPr sz="1700" spc="-10" dirty="0">
                <a:latin typeface="Comic Sans MS"/>
                <a:cs typeface="Comic Sans MS"/>
              </a:rPr>
              <a:t>Then</a:t>
            </a:r>
            <a:r>
              <a:rPr sz="1700" spc="-20" dirty="0">
                <a:latin typeface="Comic Sans MS"/>
                <a:cs typeface="Comic Sans MS"/>
              </a:rPr>
              <a:t> </a:t>
            </a:r>
            <a:r>
              <a:rPr sz="1750" i="1" spc="-25" dirty="0">
                <a:latin typeface="Comic Sans MS"/>
                <a:cs typeface="Comic Sans MS"/>
              </a:rPr>
              <a:t>T</a:t>
            </a:r>
            <a:r>
              <a:rPr sz="1750" i="1" spc="-200" dirty="0">
                <a:latin typeface="Comic Sans MS"/>
                <a:cs typeface="Comic Sans MS"/>
              </a:rPr>
              <a:t> </a:t>
            </a:r>
            <a:r>
              <a:rPr sz="1700" spc="5" dirty="0">
                <a:latin typeface="Comic Sans MS"/>
                <a:cs typeface="Comic Sans MS"/>
              </a:rPr>
              <a:t>(</a:t>
            </a:r>
            <a:r>
              <a:rPr sz="1750" i="1" spc="5" dirty="0">
                <a:latin typeface="Comic Sans MS"/>
                <a:cs typeface="Comic Sans MS"/>
              </a:rPr>
              <a:t>n</a:t>
            </a:r>
            <a:r>
              <a:rPr sz="1700" spc="5" dirty="0">
                <a:latin typeface="Comic Sans MS"/>
                <a:cs typeface="Comic Sans MS"/>
              </a:rPr>
              <a:t>) </a:t>
            </a:r>
            <a:r>
              <a:rPr sz="1700" spc="5" dirty="0">
                <a:latin typeface="Symbol"/>
                <a:cs typeface="Symbol"/>
              </a:rPr>
              <a:t></a:t>
            </a:r>
            <a:r>
              <a:rPr sz="1700" spc="-225" dirty="0">
                <a:latin typeface="Times New Roman"/>
                <a:cs typeface="Times New Roman"/>
              </a:rPr>
              <a:t> </a:t>
            </a:r>
            <a:r>
              <a:rPr sz="1750" i="1" spc="-25" dirty="0">
                <a:latin typeface="Comic Sans MS"/>
                <a:cs typeface="Comic Sans MS"/>
              </a:rPr>
              <a:t>T</a:t>
            </a:r>
            <a:r>
              <a:rPr sz="1750" i="1" spc="-204" dirty="0">
                <a:latin typeface="Comic Sans MS"/>
                <a:cs typeface="Comic Sans MS"/>
              </a:rPr>
              <a:t> </a:t>
            </a:r>
            <a:r>
              <a:rPr sz="1700" spc="30" dirty="0">
                <a:latin typeface="Comic Sans MS"/>
                <a:cs typeface="Comic Sans MS"/>
              </a:rPr>
              <a:t>(</a:t>
            </a:r>
            <a:r>
              <a:rPr sz="1750" i="1" spc="30" dirty="0">
                <a:latin typeface="Comic Sans MS"/>
                <a:cs typeface="Comic Sans MS"/>
              </a:rPr>
              <a:t>p</a:t>
            </a:r>
            <a:r>
              <a:rPr sz="1700" spc="30" dirty="0">
                <a:latin typeface="Comic Sans MS"/>
                <a:cs typeface="Comic Sans MS"/>
              </a:rPr>
              <a:t>(</a:t>
            </a:r>
            <a:r>
              <a:rPr sz="1750" i="1" spc="30" dirty="0">
                <a:latin typeface="Comic Sans MS"/>
                <a:cs typeface="Comic Sans MS"/>
              </a:rPr>
              <a:t>n</a:t>
            </a:r>
            <a:r>
              <a:rPr sz="1750" i="1" spc="-65" dirty="0">
                <a:latin typeface="Comic Sans MS"/>
                <a:cs typeface="Comic Sans MS"/>
              </a:rPr>
              <a:t> </a:t>
            </a:r>
            <a:r>
              <a:rPr sz="1700" spc="5" dirty="0">
                <a:latin typeface="Symbol"/>
                <a:cs typeface="Symbol"/>
              </a:rPr>
              <a:t>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Comic Sans MS"/>
                <a:cs typeface="Comic Sans MS"/>
              </a:rPr>
              <a:t>1))</a:t>
            </a:r>
            <a:r>
              <a:rPr sz="1700" spc="-65" dirty="0">
                <a:latin typeface="Comic Sans MS"/>
                <a:cs typeface="Comic Sans MS"/>
              </a:rPr>
              <a:t> </a:t>
            </a:r>
            <a:r>
              <a:rPr sz="1700" spc="55" dirty="0">
                <a:latin typeface="Symbol"/>
                <a:cs typeface="Symbol"/>
              </a:rPr>
              <a:t></a:t>
            </a:r>
            <a:r>
              <a:rPr sz="1750" i="1" spc="55" dirty="0">
                <a:latin typeface="Comic Sans MS"/>
                <a:cs typeface="Comic Sans MS"/>
              </a:rPr>
              <a:t>T</a:t>
            </a:r>
            <a:r>
              <a:rPr sz="1750" i="1" spc="-204" dirty="0">
                <a:latin typeface="Comic Sans MS"/>
                <a:cs typeface="Comic Sans MS"/>
              </a:rPr>
              <a:t> </a:t>
            </a:r>
            <a:r>
              <a:rPr sz="1700" spc="10" dirty="0">
                <a:latin typeface="Comic Sans MS"/>
                <a:cs typeface="Comic Sans MS"/>
              </a:rPr>
              <a:t>(</a:t>
            </a:r>
            <a:r>
              <a:rPr sz="1750" i="1" spc="10" dirty="0">
                <a:latin typeface="Comic Sans MS"/>
                <a:cs typeface="Comic Sans MS"/>
              </a:rPr>
              <a:t>q</a:t>
            </a:r>
            <a:r>
              <a:rPr sz="1700" spc="10" dirty="0">
                <a:latin typeface="Comic Sans MS"/>
                <a:cs typeface="Comic Sans MS"/>
              </a:rPr>
              <a:t>(</a:t>
            </a:r>
            <a:r>
              <a:rPr sz="1750" i="1" spc="10" dirty="0">
                <a:latin typeface="Comic Sans MS"/>
                <a:cs typeface="Comic Sans MS"/>
              </a:rPr>
              <a:t>n</a:t>
            </a:r>
            <a:r>
              <a:rPr sz="1750" i="1" spc="-65" dirty="0">
                <a:latin typeface="Comic Sans MS"/>
                <a:cs typeface="Comic Sans MS"/>
              </a:rPr>
              <a:t> </a:t>
            </a:r>
            <a:r>
              <a:rPr sz="1700" spc="5" dirty="0">
                <a:latin typeface="Symbol"/>
                <a:cs typeface="Symbol"/>
              </a:rPr>
              <a:t>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Comic Sans MS"/>
                <a:cs typeface="Comic Sans MS"/>
              </a:rPr>
              <a:t>1))</a:t>
            </a:r>
            <a:r>
              <a:rPr sz="1700" spc="-65" dirty="0">
                <a:latin typeface="Comic Sans MS"/>
                <a:cs typeface="Comic Sans MS"/>
              </a:rPr>
              <a:t> </a:t>
            </a:r>
            <a:r>
              <a:rPr sz="1700" spc="5" dirty="0">
                <a:latin typeface="Symbol"/>
                <a:cs typeface="Symbol"/>
              </a:rPr>
              <a:t></a:t>
            </a:r>
            <a:r>
              <a:rPr sz="1700" spc="-120" dirty="0">
                <a:latin typeface="Times New Roman"/>
                <a:cs typeface="Times New Roman"/>
              </a:rPr>
              <a:t> </a:t>
            </a:r>
            <a:r>
              <a:rPr sz="1750" i="1" spc="-30" dirty="0">
                <a:latin typeface="Comic Sans MS"/>
                <a:cs typeface="Comic Sans MS"/>
              </a:rPr>
              <a:t>O</a:t>
            </a:r>
            <a:r>
              <a:rPr sz="1750" i="1" spc="-370" dirty="0">
                <a:latin typeface="Comic Sans MS"/>
                <a:cs typeface="Comic Sans MS"/>
              </a:rPr>
              <a:t> </a:t>
            </a:r>
            <a:r>
              <a:rPr sz="1700" spc="5" dirty="0">
                <a:latin typeface="Comic Sans MS"/>
                <a:cs typeface="Comic Sans MS"/>
              </a:rPr>
              <a:t>(</a:t>
            </a:r>
            <a:r>
              <a:rPr sz="1750" i="1" spc="5" dirty="0">
                <a:latin typeface="Comic Sans MS"/>
                <a:cs typeface="Comic Sans MS"/>
              </a:rPr>
              <a:t>n</a:t>
            </a:r>
            <a:r>
              <a:rPr sz="1700" spc="5" dirty="0">
                <a:latin typeface="Comic Sans MS"/>
                <a:cs typeface="Comic Sans MS"/>
              </a:rPr>
              <a:t>)</a:t>
            </a:r>
            <a:endParaRPr sz="1700">
              <a:latin typeface="Comic Sans MS"/>
              <a:cs typeface="Comic Sans MS"/>
            </a:endParaRPr>
          </a:p>
          <a:p>
            <a:pPr marL="196215">
              <a:lnSpc>
                <a:spcPct val="100000"/>
              </a:lnSpc>
              <a:spcBef>
                <a:spcPts val="910"/>
              </a:spcBef>
            </a:pPr>
            <a:r>
              <a:rPr sz="1700" spc="-10" dirty="0">
                <a:latin typeface="Comic Sans MS"/>
                <a:cs typeface="Comic Sans MS"/>
              </a:rPr>
              <a:t>wlog, suppose that </a:t>
            </a:r>
            <a:r>
              <a:rPr sz="1750" i="1" spc="-20" dirty="0">
                <a:latin typeface="Comic Sans MS"/>
                <a:cs typeface="Comic Sans MS"/>
              </a:rPr>
              <a:t>q </a:t>
            </a:r>
            <a:r>
              <a:rPr sz="1700" spc="5" dirty="0">
                <a:latin typeface="Symbol"/>
                <a:cs typeface="Symbol"/>
              </a:rPr>
              <a:t>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50" i="1" spc="25" dirty="0">
                <a:latin typeface="Comic Sans MS"/>
                <a:cs typeface="Comic Sans MS"/>
              </a:rPr>
              <a:t>p</a:t>
            </a:r>
            <a:r>
              <a:rPr sz="1700" spc="25" dirty="0">
                <a:latin typeface="Comic Sans MS"/>
                <a:cs typeface="Comic Sans MS"/>
              </a:rPr>
              <a:t>.</a:t>
            </a:r>
            <a:endParaRPr sz="1700">
              <a:latin typeface="Comic Sans MS"/>
              <a:cs typeface="Comic Sans MS"/>
            </a:endParaRPr>
          </a:p>
          <a:p>
            <a:pPr marL="191770" marR="396875" indent="4445">
              <a:lnSpc>
                <a:spcPct val="124100"/>
              </a:lnSpc>
              <a:spcBef>
                <a:spcPts val="40"/>
              </a:spcBef>
            </a:pPr>
            <a:r>
              <a:rPr sz="1700" spc="-5" dirty="0">
                <a:latin typeface="Comic Sans MS"/>
                <a:cs typeface="Comic Sans MS"/>
              </a:rPr>
              <a:t>Let </a:t>
            </a:r>
            <a:r>
              <a:rPr sz="1700" spc="5" dirty="0">
                <a:latin typeface="Comic Sans MS"/>
                <a:cs typeface="Comic Sans MS"/>
              </a:rPr>
              <a:t>k </a:t>
            </a:r>
            <a:r>
              <a:rPr sz="1700" spc="-5" dirty="0">
                <a:latin typeface="Comic Sans MS"/>
                <a:cs typeface="Comic Sans MS"/>
              </a:rPr>
              <a:t>be </a:t>
            </a:r>
            <a:r>
              <a:rPr sz="1700" spc="-10" dirty="0">
                <a:latin typeface="Comic Sans MS"/>
                <a:cs typeface="Comic Sans MS"/>
              </a:rPr>
              <a:t>the depth </a:t>
            </a:r>
            <a:r>
              <a:rPr sz="1700" dirty="0">
                <a:latin typeface="Comic Sans MS"/>
                <a:cs typeface="Comic Sans MS"/>
              </a:rPr>
              <a:t>of </a:t>
            </a:r>
            <a:r>
              <a:rPr sz="1700" spc="-10" dirty="0">
                <a:latin typeface="Comic Sans MS"/>
                <a:cs typeface="Comic Sans MS"/>
              </a:rPr>
              <a:t>the recursion</a:t>
            </a:r>
            <a:r>
              <a:rPr sz="1700" spc="-180" dirty="0">
                <a:latin typeface="Comic Sans MS"/>
                <a:cs typeface="Comic Sans MS"/>
              </a:rPr>
              <a:t> </a:t>
            </a:r>
            <a:r>
              <a:rPr sz="1700" spc="-5" dirty="0">
                <a:latin typeface="Comic Sans MS"/>
                <a:cs typeface="Comic Sans MS"/>
              </a:rPr>
              <a:t>tree  </a:t>
            </a:r>
            <a:r>
              <a:rPr sz="1700" spc="-10" dirty="0">
                <a:latin typeface="Comic Sans MS"/>
                <a:cs typeface="Comic Sans MS"/>
              </a:rPr>
              <a:t>Then</a:t>
            </a:r>
            <a:r>
              <a:rPr sz="1700" spc="-20" dirty="0">
                <a:latin typeface="Comic Sans MS"/>
                <a:cs typeface="Comic Sans MS"/>
              </a:rPr>
              <a:t> </a:t>
            </a:r>
            <a:r>
              <a:rPr sz="1750" i="1" spc="45" dirty="0">
                <a:latin typeface="Comic Sans MS"/>
                <a:cs typeface="Comic Sans MS"/>
              </a:rPr>
              <a:t>q</a:t>
            </a:r>
            <a:r>
              <a:rPr sz="1500" i="1" spc="67" baseline="41666" dirty="0">
                <a:latin typeface="Comic Sans MS"/>
                <a:cs typeface="Comic Sans MS"/>
              </a:rPr>
              <a:t>k</a:t>
            </a:r>
            <a:r>
              <a:rPr sz="1750" i="1" spc="45" dirty="0">
                <a:latin typeface="Comic Sans MS"/>
                <a:cs typeface="Comic Sans MS"/>
              </a:rPr>
              <a:t>n</a:t>
            </a:r>
            <a:r>
              <a:rPr sz="1750" i="1" spc="5" dirty="0">
                <a:latin typeface="Comic Sans MS"/>
                <a:cs typeface="Comic Sans MS"/>
              </a:rPr>
              <a:t> </a:t>
            </a:r>
            <a:r>
              <a:rPr sz="1700" spc="5" dirty="0">
                <a:latin typeface="Symbol"/>
                <a:cs typeface="Symbol"/>
              </a:rPr>
              <a:t>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Comic Sans MS"/>
                <a:cs typeface="Comic Sans MS"/>
              </a:rPr>
              <a:t>1</a:t>
            </a:r>
            <a:r>
              <a:rPr sz="1700" spc="-140" dirty="0">
                <a:latin typeface="Comic Sans MS"/>
                <a:cs typeface="Comic Sans MS"/>
              </a:rPr>
              <a:t> </a:t>
            </a:r>
            <a:r>
              <a:rPr sz="1700" spc="15" dirty="0">
                <a:latin typeface="Symbol"/>
                <a:cs typeface="Symbol"/>
              </a:rPr>
              <a:t>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50" i="1" spc="-20" dirty="0">
                <a:latin typeface="Comic Sans MS"/>
                <a:cs typeface="Comic Sans MS"/>
              </a:rPr>
              <a:t>k</a:t>
            </a:r>
            <a:r>
              <a:rPr sz="1750" i="1" spc="80" dirty="0">
                <a:latin typeface="Comic Sans MS"/>
                <a:cs typeface="Comic Sans MS"/>
              </a:rPr>
              <a:t> </a:t>
            </a:r>
            <a:r>
              <a:rPr sz="1700" spc="5" dirty="0">
                <a:latin typeface="Symbol"/>
                <a:cs typeface="Symbol"/>
              </a:rPr>
              <a:t>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Comic Sans MS"/>
                <a:cs typeface="Comic Sans MS"/>
              </a:rPr>
              <a:t>log</a:t>
            </a:r>
            <a:r>
              <a:rPr sz="1700" spc="-350" dirty="0">
                <a:latin typeface="Comic Sans MS"/>
                <a:cs typeface="Comic Sans MS"/>
              </a:rPr>
              <a:t> </a:t>
            </a:r>
            <a:r>
              <a:rPr sz="1750" i="1" spc="-20" dirty="0">
                <a:latin typeface="Comic Sans MS"/>
                <a:cs typeface="Comic Sans MS"/>
              </a:rPr>
              <a:t>n</a:t>
            </a:r>
            <a:r>
              <a:rPr sz="1750" i="1" spc="-100" dirty="0">
                <a:latin typeface="Comic Sans MS"/>
                <a:cs typeface="Comic Sans MS"/>
              </a:rPr>
              <a:t> </a:t>
            </a:r>
            <a:r>
              <a:rPr sz="1700" spc="5" dirty="0">
                <a:latin typeface="Comic Sans MS"/>
                <a:cs typeface="Comic Sans MS"/>
              </a:rPr>
              <a:t>/</a:t>
            </a:r>
            <a:r>
              <a:rPr sz="1700" spc="-210" dirty="0">
                <a:latin typeface="Comic Sans MS"/>
                <a:cs typeface="Comic Sans MS"/>
              </a:rPr>
              <a:t> </a:t>
            </a:r>
            <a:r>
              <a:rPr sz="1700" spc="-10" dirty="0">
                <a:latin typeface="Comic Sans MS"/>
                <a:cs typeface="Comic Sans MS"/>
              </a:rPr>
              <a:t>log(1</a:t>
            </a:r>
            <a:r>
              <a:rPr sz="1700" spc="-175" dirty="0">
                <a:latin typeface="Comic Sans MS"/>
                <a:cs typeface="Comic Sans MS"/>
              </a:rPr>
              <a:t> </a:t>
            </a:r>
            <a:r>
              <a:rPr sz="1700" spc="5" dirty="0">
                <a:latin typeface="Comic Sans MS"/>
                <a:cs typeface="Comic Sans MS"/>
              </a:rPr>
              <a:t>/</a:t>
            </a:r>
            <a:r>
              <a:rPr sz="1700" spc="-180" dirty="0">
                <a:latin typeface="Comic Sans MS"/>
                <a:cs typeface="Comic Sans MS"/>
              </a:rPr>
              <a:t> </a:t>
            </a:r>
            <a:r>
              <a:rPr sz="1750" i="1" spc="20" dirty="0">
                <a:latin typeface="Comic Sans MS"/>
                <a:cs typeface="Comic Sans MS"/>
              </a:rPr>
              <a:t>q</a:t>
            </a:r>
            <a:r>
              <a:rPr sz="1700" spc="20" dirty="0">
                <a:latin typeface="Comic Sans MS"/>
                <a:cs typeface="Comic Sans MS"/>
              </a:rPr>
              <a:t>)</a:t>
            </a:r>
            <a:endParaRPr sz="1700">
              <a:latin typeface="Comic Sans MS"/>
              <a:cs typeface="Comic Sans MS"/>
            </a:endParaRPr>
          </a:p>
          <a:p>
            <a:pPr marL="191770">
              <a:lnSpc>
                <a:spcPct val="100000"/>
              </a:lnSpc>
              <a:spcBef>
                <a:spcPts val="480"/>
              </a:spcBef>
            </a:pPr>
            <a:r>
              <a:rPr sz="1700" spc="-15" dirty="0">
                <a:latin typeface="Comic Sans MS"/>
                <a:cs typeface="Comic Sans MS"/>
              </a:rPr>
              <a:t>Thus</a:t>
            </a:r>
            <a:r>
              <a:rPr sz="1700" spc="-25" dirty="0">
                <a:latin typeface="Comic Sans MS"/>
                <a:cs typeface="Comic Sans MS"/>
              </a:rPr>
              <a:t> </a:t>
            </a:r>
            <a:r>
              <a:rPr sz="1700" spc="5" dirty="0">
                <a:latin typeface="Comic Sans MS"/>
                <a:cs typeface="Comic Sans MS"/>
              </a:rPr>
              <a:t>k</a:t>
            </a:r>
            <a:r>
              <a:rPr sz="1700" spc="-80" dirty="0">
                <a:latin typeface="Comic Sans MS"/>
                <a:cs typeface="Comic Sans MS"/>
              </a:rPr>
              <a:t> </a:t>
            </a:r>
            <a:r>
              <a:rPr sz="1700" spc="140" dirty="0">
                <a:latin typeface="Symbol"/>
                <a:cs typeface="Symbol"/>
              </a:rPr>
              <a:t></a:t>
            </a:r>
            <a:r>
              <a:rPr sz="1750" i="1" spc="140" dirty="0">
                <a:latin typeface="Comic Sans MS"/>
                <a:cs typeface="Comic Sans MS"/>
              </a:rPr>
              <a:t>O</a:t>
            </a:r>
            <a:r>
              <a:rPr sz="1750" i="1" spc="-365" dirty="0">
                <a:latin typeface="Comic Sans MS"/>
                <a:cs typeface="Comic Sans MS"/>
              </a:rPr>
              <a:t> </a:t>
            </a:r>
            <a:r>
              <a:rPr sz="1700" spc="-5" dirty="0">
                <a:latin typeface="Comic Sans MS"/>
                <a:cs typeface="Comic Sans MS"/>
              </a:rPr>
              <a:t>(log</a:t>
            </a:r>
            <a:r>
              <a:rPr sz="1700" spc="-350" dirty="0">
                <a:latin typeface="Comic Sans MS"/>
                <a:cs typeface="Comic Sans MS"/>
              </a:rPr>
              <a:t> </a:t>
            </a:r>
            <a:r>
              <a:rPr sz="1750" i="1" spc="135" dirty="0">
                <a:latin typeface="Comic Sans MS"/>
                <a:cs typeface="Comic Sans MS"/>
              </a:rPr>
              <a:t>n</a:t>
            </a:r>
            <a:r>
              <a:rPr sz="1700" spc="135" dirty="0">
                <a:latin typeface="Comic Sans MS"/>
                <a:cs typeface="Comic Sans MS"/>
              </a:rPr>
              <a:t>):</a:t>
            </a:r>
            <a:r>
              <a:rPr sz="1700" spc="-100" dirty="0">
                <a:latin typeface="Comic Sans MS"/>
                <a:cs typeface="Comic Sans MS"/>
              </a:rPr>
              <a:t> </a:t>
            </a:r>
            <a:endParaRPr sz="1700">
              <a:latin typeface="Comic Sans MS"/>
              <a:cs typeface="Comic Sans MS"/>
            </a:endParaRPr>
          </a:p>
          <a:p>
            <a:pPr marL="116205">
              <a:lnSpc>
                <a:spcPct val="100000"/>
              </a:lnSpc>
              <a:spcBef>
                <a:spcPts val="1305"/>
              </a:spcBef>
            </a:pPr>
            <a:r>
              <a:rPr sz="1750" i="1" spc="-30" dirty="0">
                <a:latin typeface="Comic Sans MS"/>
                <a:cs typeface="Comic Sans MS"/>
              </a:rPr>
              <a:t>O</a:t>
            </a:r>
            <a:r>
              <a:rPr sz="1750" i="1" spc="-370" dirty="0">
                <a:latin typeface="Comic Sans MS"/>
                <a:cs typeface="Comic Sans MS"/>
              </a:rPr>
              <a:t> </a:t>
            </a:r>
            <a:r>
              <a:rPr sz="1700" spc="5" dirty="0">
                <a:latin typeface="Comic Sans MS"/>
                <a:cs typeface="Comic Sans MS"/>
              </a:rPr>
              <a:t>(</a:t>
            </a:r>
            <a:r>
              <a:rPr sz="1750" i="1" spc="5" dirty="0">
                <a:latin typeface="Comic Sans MS"/>
                <a:cs typeface="Comic Sans MS"/>
              </a:rPr>
              <a:t>n</a:t>
            </a:r>
            <a:r>
              <a:rPr sz="1700" spc="5" dirty="0">
                <a:latin typeface="Comic Sans MS"/>
                <a:cs typeface="Comic Sans MS"/>
              </a:rPr>
              <a:t>)</a:t>
            </a:r>
            <a:r>
              <a:rPr sz="1700" spc="105" dirty="0">
                <a:latin typeface="Comic Sans MS"/>
                <a:cs typeface="Comic Sans MS"/>
              </a:rPr>
              <a:t> </a:t>
            </a:r>
            <a:r>
              <a:rPr sz="1700" spc="-5" dirty="0">
                <a:latin typeface="Comic Sans MS"/>
                <a:cs typeface="Comic Sans MS"/>
              </a:rPr>
              <a:t>work</a:t>
            </a:r>
            <a:r>
              <a:rPr sz="1700" spc="-5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done</a:t>
            </a:r>
            <a:r>
              <a:rPr sz="1700" spc="-20" dirty="0">
                <a:latin typeface="Comic Sans MS"/>
                <a:cs typeface="Comic Sans MS"/>
              </a:rPr>
              <a:t> </a:t>
            </a:r>
            <a:r>
              <a:rPr sz="1700" spc="-5" dirty="0">
                <a:latin typeface="Comic Sans MS"/>
                <a:cs typeface="Comic Sans MS"/>
              </a:rPr>
              <a:t>per</a:t>
            </a:r>
            <a:r>
              <a:rPr sz="1700" spc="-15" dirty="0">
                <a:latin typeface="Comic Sans MS"/>
                <a:cs typeface="Comic Sans MS"/>
              </a:rPr>
              <a:t> </a:t>
            </a:r>
            <a:r>
              <a:rPr sz="1700" spc="-5" dirty="0">
                <a:latin typeface="Comic Sans MS"/>
                <a:cs typeface="Comic Sans MS"/>
              </a:rPr>
              <a:t>level</a:t>
            </a:r>
            <a:r>
              <a:rPr sz="1700" spc="440" dirty="0">
                <a:latin typeface="Comic Sans MS"/>
                <a:cs typeface="Comic Sans MS"/>
              </a:rPr>
              <a:t> </a:t>
            </a:r>
            <a:r>
              <a:rPr sz="1700" spc="15" dirty="0">
                <a:latin typeface="Symbol"/>
                <a:cs typeface="Symbol"/>
              </a:rPr>
              <a:t></a:t>
            </a:r>
            <a:r>
              <a:rPr sz="1700" spc="-260" dirty="0">
                <a:latin typeface="Times New Roman"/>
                <a:cs typeface="Times New Roman"/>
              </a:rPr>
              <a:t> </a:t>
            </a:r>
            <a:r>
              <a:rPr sz="1750" i="1" spc="-25" dirty="0">
                <a:latin typeface="Comic Sans MS"/>
                <a:cs typeface="Comic Sans MS"/>
              </a:rPr>
              <a:t>T</a:t>
            </a:r>
            <a:r>
              <a:rPr sz="1750" i="1" spc="-200" dirty="0">
                <a:latin typeface="Comic Sans MS"/>
                <a:cs typeface="Comic Sans MS"/>
              </a:rPr>
              <a:t> </a:t>
            </a:r>
            <a:r>
              <a:rPr sz="1700" spc="5" dirty="0">
                <a:latin typeface="Comic Sans MS"/>
                <a:cs typeface="Comic Sans MS"/>
              </a:rPr>
              <a:t>(</a:t>
            </a:r>
            <a:r>
              <a:rPr sz="1750" i="1" spc="5" dirty="0">
                <a:latin typeface="Comic Sans MS"/>
                <a:cs typeface="Comic Sans MS"/>
              </a:rPr>
              <a:t>n</a:t>
            </a:r>
            <a:r>
              <a:rPr sz="1700" spc="5" dirty="0">
                <a:latin typeface="Comic Sans MS"/>
                <a:cs typeface="Comic Sans MS"/>
              </a:rPr>
              <a:t>)</a:t>
            </a:r>
            <a:r>
              <a:rPr sz="1700" dirty="0">
                <a:latin typeface="Comic Sans MS"/>
                <a:cs typeface="Comic Sans MS"/>
              </a:rPr>
              <a:t> </a:t>
            </a:r>
            <a:r>
              <a:rPr sz="1700" spc="5" dirty="0">
                <a:latin typeface="Symbol"/>
                <a:cs typeface="Symbol"/>
              </a:rPr>
              <a:t>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50" i="1" spc="-30" dirty="0">
                <a:latin typeface="Comic Sans MS"/>
                <a:cs typeface="Comic Sans MS"/>
              </a:rPr>
              <a:t>O</a:t>
            </a:r>
            <a:r>
              <a:rPr sz="1750" i="1" spc="-365" dirty="0">
                <a:latin typeface="Comic Sans MS"/>
                <a:cs typeface="Comic Sans MS"/>
              </a:rPr>
              <a:t> </a:t>
            </a:r>
            <a:r>
              <a:rPr sz="1700" spc="-5" dirty="0">
                <a:latin typeface="Comic Sans MS"/>
                <a:cs typeface="Comic Sans MS"/>
              </a:rPr>
              <a:t>(</a:t>
            </a:r>
            <a:r>
              <a:rPr sz="1750" i="1" spc="-5" dirty="0">
                <a:latin typeface="Comic Sans MS"/>
                <a:cs typeface="Comic Sans MS"/>
              </a:rPr>
              <a:t>n</a:t>
            </a:r>
            <a:r>
              <a:rPr sz="1750" i="1" spc="-32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log</a:t>
            </a:r>
            <a:r>
              <a:rPr sz="1700" spc="-350" dirty="0">
                <a:latin typeface="Comic Sans MS"/>
                <a:cs typeface="Comic Sans MS"/>
              </a:rPr>
              <a:t> </a:t>
            </a:r>
            <a:r>
              <a:rPr sz="1750" i="1" spc="-15" dirty="0">
                <a:latin typeface="Comic Sans MS"/>
                <a:cs typeface="Comic Sans MS"/>
              </a:rPr>
              <a:t>n</a:t>
            </a:r>
            <a:r>
              <a:rPr sz="1700" spc="-15" dirty="0">
                <a:latin typeface="Comic Sans MS"/>
                <a:cs typeface="Comic Sans MS"/>
              </a:rPr>
              <a:t>).</a:t>
            </a:r>
            <a:endParaRPr sz="1700">
              <a:latin typeface="Comic Sans MS"/>
              <a:cs typeface="Comic Sans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77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18485" y="758520"/>
            <a:ext cx="422656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Properties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QuickSort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3139" y="1473921"/>
            <a:ext cx="1621790" cy="1673860"/>
          </a:xfrm>
          <a:prstGeom prst="rect">
            <a:avLst/>
          </a:prstGeom>
        </p:spPr>
        <p:txBody>
          <a:bodyPr vert="horz" wrap="square" lIns="0" tIns="19812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56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-10" dirty="0">
                <a:latin typeface="Arial"/>
                <a:cs typeface="Arial"/>
              </a:rPr>
              <a:t>In-place?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46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-10" dirty="0">
                <a:latin typeface="Arial"/>
                <a:cs typeface="Arial"/>
              </a:rPr>
              <a:t>Stable?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42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Fast?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50339" y="3119831"/>
            <a:ext cx="2104390" cy="13970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300"/>
              </a:spcBef>
              <a:buClr>
                <a:srgbClr val="2F5C00"/>
              </a:buClr>
              <a:buFont typeface="Wingdings"/>
              <a:buChar char=""/>
              <a:tabLst>
                <a:tab pos="298450" algn="l"/>
              </a:tabLst>
            </a:pPr>
            <a:r>
              <a:rPr sz="2000" spc="-10" dirty="0">
                <a:latin typeface="Arial"/>
                <a:cs typeface="Arial"/>
              </a:rPr>
              <a:t>Depends.</a:t>
            </a:r>
            <a:endParaRPr sz="20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1200"/>
              </a:spcBef>
              <a:buClr>
                <a:srgbClr val="2F5C00"/>
              </a:buClr>
              <a:buFont typeface="Wingdings"/>
              <a:buChar char=""/>
              <a:tabLst>
                <a:tab pos="298450" algn="l"/>
              </a:tabLst>
            </a:pPr>
            <a:r>
              <a:rPr sz="2000" dirty="0">
                <a:latin typeface="Arial"/>
                <a:cs typeface="Arial"/>
              </a:rPr>
              <a:t>Worst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Case:</a:t>
            </a:r>
            <a:endParaRPr sz="20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1200"/>
              </a:spcBef>
              <a:buClr>
                <a:srgbClr val="2F5C00"/>
              </a:buClr>
              <a:buFont typeface="Wingdings"/>
              <a:buChar char=""/>
              <a:tabLst>
                <a:tab pos="298450" algn="l"/>
              </a:tabLst>
            </a:pPr>
            <a:r>
              <a:rPr sz="2000" spc="-5" dirty="0">
                <a:latin typeface="Arial"/>
                <a:cs typeface="Arial"/>
              </a:rPr>
              <a:t>Expected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Case: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85402" y="1573410"/>
            <a:ext cx="287655" cy="101028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34925">
              <a:lnSpc>
                <a:spcPct val="100000"/>
              </a:lnSpc>
              <a:spcBef>
                <a:spcPts val="1095"/>
              </a:spcBef>
            </a:pPr>
            <a:r>
              <a:rPr sz="2400" dirty="0">
                <a:solidFill>
                  <a:srgbClr val="00A500"/>
                </a:solidFill>
                <a:latin typeface="Wingdings"/>
                <a:cs typeface="Wingdings"/>
              </a:rPr>
              <a:t></a:t>
            </a:r>
            <a:endParaRPr sz="24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2400" dirty="0">
                <a:solidFill>
                  <a:srgbClr val="00A500"/>
                </a:solidFill>
                <a:latin typeface="Wingdings"/>
                <a:cs typeface="Wingdings"/>
              </a:rPr>
              <a:t></a:t>
            </a:r>
            <a:endParaRPr sz="2400">
              <a:latin typeface="Wingdings"/>
              <a:cs typeface="Wingding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321773" y="3747427"/>
            <a:ext cx="695325" cy="312420"/>
            <a:chOff x="3321773" y="3747427"/>
            <a:chExt cx="695325" cy="312420"/>
          </a:xfrm>
        </p:grpSpPr>
        <p:sp>
          <p:nvSpPr>
            <p:cNvPr id="8" name="object 8"/>
            <p:cNvSpPr/>
            <p:nvPr/>
          </p:nvSpPr>
          <p:spPr>
            <a:xfrm>
              <a:off x="3805809" y="3747427"/>
              <a:ext cx="78155" cy="12051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536950" y="3786085"/>
              <a:ext cx="480059" cy="273685"/>
            </a:xfrm>
            <a:custGeom>
              <a:avLst/>
              <a:gdLst/>
              <a:ahLst/>
              <a:cxnLst/>
              <a:rect l="l" t="t" r="r" b="b"/>
              <a:pathLst>
                <a:path w="480060" h="273685">
                  <a:moveTo>
                    <a:pt x="0" y="136664"/>
                  </a:moveTo>
                  <a:lnTo>
                    <a:pt x="8154" y="192877"/>
                  </a:lnTo>
                  <a:lnTo>
                    <a:pt x="22164" y="228338"/>
                  </a:lnTo>
                  <a:lnTo>
                    <a:pt x="49999" y="273608"/>
                  </a:lnTo>
                  <a:lnTo>
                    <a:pt x="68186" y="273608"/>
                  </a:lnTo>
                  <a:lnTo>
                    <a:pt x="49624" y="239433"/>
                  </a:lnTo>
                  <a:lnTo>
                    <a:pt x="36364" y="205239"/>
                  </a:lnTo>
                  <a:lnTo>
                    <a:pt x="28408" y="171029"/>
                  </a:lnTo>
                  <a:lnTo>
                    <a:pt x="25755" y="136804"/>
                  </a:lnTo>
                  <a:lnTo>
                    <a:pt x="25755" y="38237"/>
                  </a:lnTo>
                  <a:lnTo>
                    <a:pt x="18044" y="53749"/>
                  </a:lnTo>
                  <a:lnTo>
                    <a:pt x="10845" y="71742"/>
                  </a:lnTo>
                  <a:lnTo>
                    <a:pt x="6097" y="87437"/>
                  </a:lnTo>
                  <a:lnTo>
                    <a:pt x="2708" y="103489"/>
                  </a:lnTo>
                  <a:lnTo>
                    <a:pt x="676" y="119898"/>
                  </a:lnTo>
                  <a:lnTo>
                    <a:pt x="0" y="136664"/>
                  </a:lnTo>
                  <a:close/>
                </a:path>
                <a:path w="480060" h="273685">
                  <a:moveTo>
                    <a:pt x="25755" y="38237"/>
                  </a:moveTo>
                  <a:lnTo>
                    <a:pt x="25755" y="136804"/>
                  </a:lnTo>
                  <a:lnTo>
                    <a:pt x="26136" y="123366"/>
                  </a:lnTo>
                  <a:lnTo>
                    <a:pt x="27279" y="109967"/>
                  </a:lnTo>
                  <a:lnTo>
                    <a:pt x="37745" y="62347"/>
                  </a:lnTo>
                  <a:lnTo>
                    <a:pt x="53927" y="25373"/>
                  </a:lnTo>
                  <a:lnTo>
                    <a:pt x="68186" y="0"/>
                  </a:lnTo>
                  <a:lnTo>
                    <a:pt x="49999" y="0"/>
                  </a:lnTo>
                  <a:lnTo>
                    <a:pt x="37622" y="17878"/>
                  </a:lnTo>
                  <a:lnTo>
                    <a:pt x="26970" y="35794"/>
                  </a:lnTo>
                  <a:lnTo>
                    <a:pt x="25755" y="38237"/>
                  </a:lnTo>
                  <a:close/>
                </a:path>
                <a:path w="480060" h="273685">
                  <a:moveTo>
                    <a:pt x="411416" y="273608"/>
                  </a:moveTo>
                  <a:lnTo>
                    <a:pt x="429590" y="273608"/>
                  </a:lnTo>
                  <a:lnTo>
                    <a:pt x="439627" y="259657"/>
                  </a:lnTo>
                  <a:lnTo>
                    <a:pt x="465023" y="210972"/>
                  </a:lnTo>
                  <a:lnTo>
                    <a:pt x="475956" y="174461"/>
                  </a:lnTo>
                  <a:lnTo>
                    <a:pt x="479602" y="136664"/>
                  </a:lnTo>
                  <a:lnTo>
                    <a:pt x="478924" y="119898"/>
                  </a:lnTo>
                  <a:lnTo>
                    <a:pt x="468757" y="71742"/>
                  </a:lnTo>
                  <a:lnTo>
                    <a:pt x="453834" y="38224"/>
                  </a:lnTo>
                  <a:lnTo>
                    <a:pt x="453834" y="136804"/>
                  </a:lnTo>
                  <a:lnTo>
                    <a:pt x="451183" y="171029"/>
                  </a:lnTo>
                  <a:lnTo>
                    <a:pt x="443231" y="205239"/>
                  </a:lnTo>
                  <a:lnTo>
                    <a:pt x="429976" y="239433"/>
                  </a:lnTo>
                  <a:lnTo>
                    <a:pt x="411416" y="273608"/>
                  </a:lnTo>
                  <a:close/>
                </a:path>
                <a:path w="480060" h="273685">
                  <a:moveTo>
                    <a:pt x="411416" y="0"/>
                  </a:moveTo>
                  <a:lnTo>
                    <a:pt x="430756" y="35227"/>
                  </a:lnTo>
                  <a:lnTo>
                    <a:pt x="445088" y="73135"/>
                  </a:lnTo>
                  <a:lnTo>
                    <a:pt x="453455" y="123448"/>
                  </a:lnTo>
                  <a:lnTo>
                    <a:pt x="453834" y="136804"/>
                  </a:lnTo>
                  <a:lnTo>
                    <a:pt x="453834" y="38224"/>
                  </a:lnTo>
                  <a:lnTo>
                    <a:pt x="452626" y="35794"/>
                  </a:lnTo>
                  <a:lnTo>
                    <a:pt x="441958" y="17856"/>
                  </a:lnTo>
                  <a:lnTo>
                    <a:pt x="429590" y="0"/>
                  </a:lnTo>
                  <a:lnTo>
                    <a:pt x="4114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33177" y="3844442"/>
              <a:ext cx="145275" cy="15386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321773" y="3798963"/>
              <a:ext cx="195478" cy="20463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3721798" y="4255592"/>
            <a:ext cx="3988955" cy="27311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78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41118" y="758520"/>
            <a:ext cx="558038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Summary of Comparison</a:t>
            </a:r>
            <a:r>
              <a:rPr spc="-75" dirty="0"/>
              <a:t> </a:t>
            </a:r>
            <a:r>
              <a:rPr spc="-5" dirty="0"/>
              <a:t>Sorts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79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22998" y="1959114"/>
          <a:ext cx="8698863" cy="36372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5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10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86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3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910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600" b="1" dirty="0">
                          <a:solidFill>
                            <a:srgbClr val="FCF2DA"/>
                          </a:solidFill>
                          <a:latin typeface="Arial"/>
                          <a:cs typeface="Arial"/>
                        </a:rPr>
                        <a:t>Algorithm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FCF2DA"/>
                      </a:solidFill>
                      <a:prstDash val="solid"/>
                    </a:lnL>
                    <a:lnR w="19050">
                      <a:solidFill>
                        <a:srgbClr val="FCF2DA"/>
                      </a:solidFill>
                      <a:prstDash val="solid"/>
                    </a:lnR>
                    <a:lnT w="19050">
                      <a:solidFill>
                        <a:srgbClr val="FCF2DA"/>
                      </a:solidFill>
                      <a:prstDash val="solid"/>
                    </a:lnT>
                    <a:lnB w="53975">
                      <a:solidFill>
                        <a:srgbClr val="FCF2DA"/>
                      </a:solidFill>
                      <a:prstDash val="solid"/>
                    </a:lnB>
                    <a:solidFill>
                      <a:srgbClr val="941300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43204">
                        <a:lnSpc>
                          <a:spcPts val="1900"/>
                        </a:lnSpc>
                        <a:spcBef>
                          <a:spcPts val="439"/>
                        </a:spcBef>
                      </a:pPr>
                      <a:r>
                        <a:rPr sz="1600" b="1" spc="-10" dirty="0">
                          <a:solidFill>
                            <a:srgbClr val="FCF2DA"/>
                          </a:solidFill>
                          <a:latin typeface="Arial"/>
                          <a:cs typeface="Arial"/>
                        </a:rPr>
                        <a:t>Best  </a:t>
                      </a:r>
                      <a:r>
                        <a:rPr sz="1600" b="1" spc="-5" dirty="0">
                          <a:solidFill>
                            <a:srgbClr val="FCF2DA"/>
                          </a:solidFill>
                          <a:latin typeface="Arial"/>
                          <a:cs typeface="Arial"/>
                        </a:rPr>
                        <a:t>Case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5879" marB="0">
                    <a:lnL w="19050">
                      <a:solidFill>
                        <a:srgbClr val="FCF2DA"/>
                      </a:solidFill>
                      <a:prstDash val="solid"/>
                    </a:lnL>
                    <a:lnR w="19050">
                      <a:solidFill>
                        <a:srgbClr val="FCF2DA"/>
                      </a:solidFill>
                      <a:prstDash val="solid"/>
                    </a:lnR>
                    <a:lnT w="19050">
                      <a:solidFill>
                        <a:srgbClr val="FCF2DA"/>
                      </a:solidFill>
                      <a:prstDash val="solid"/>
                    </a:lnT>
                    <a:lnB w="53975">
                      <a:solidFill>
                        <a:srgbClr val="FCF2DA"/>
                      </a:solidFill>
                      <a:prstDash val="solid"/>
                    </a:lnB>
                    <a:solidFill>
                      <a:srgbClr val="941300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56210">
                        <a:lnSpc>
                          <a:spcPts val="1900"/>
                        </a:lnSpc>
                        <a:spcBef>
                          <a:spcPts val="439"/>
                        </a:spcBef>
                      </a:pPr>
                      <a:r>
                        <a:rPr sz="1600" b="1" spc="-30" dirty="0">
                          <a:solidFill>
                            <a:srgbClr val="FCF2DA"/>
                          </a:solidFill>
                          <a:latin typeface="Arial"/>
                          <a:cs typeface="Arial"/>
                        </a:rPr>
                        <a:t>W</a:t>
                      </a:r>
                      <a:r>
                        <a:rPr sz="1600" b="1" dirty="0">
                          <a:solidFill>
                            <a:srgbClr val="FCF2DA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1600" b="1" spc="-5" dirty="0">
                          <a:solidFill>
                            <a:srgbClr val="FCF2DA"/>
                          </a:solidFill>
                          <a:latin typeface="Arial"/>
                          <a:cs typeface="Arial"/>
                        </a:rPr>
                        <a:t>rst  </a:t>
                      </a:r>
                      <a:r>
                        <a:rPr sz="1600" b="1" spc="-10" dirty="0">
                          <a:solidFill>
                            <a:srgbClr val="FCF2DA"/>
                          </a:solidFill>
                          <a:latin typeface="Arial"/>
                          <a:cs typeface="Arial"/>
                        </a:rPr>
                        <a:t>Case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5879" marB="0">
                    <a:lnL w="19050">
                      <a:solidFill>
                        <a:srgbClr val="FCF2DA"/>
                      </a:solidFill>
                      <a:prstDash val="solid"/>
                    </a:lnL>
                    <a:lnR w="19050">
                      <a:solidFill>
                        <a:srgbClr val="FCF2DA"/>
                      </a:solidFill>
                      <a:prstDash val="solid"/>
                    </a:lnR>
                    <a:lnT w="19050">
                      <a:solidFill>
                        <a:srgbClr val="FCF2DA"/>
                      </a:solidFill>
                      <a:prstDash val="solid"/>
                    </a:lnT>
                    <a:lnB w="53975">
                      <a:solidFill>
                        <a:srgbClr val="FCF2DA"/>
                      </a:solidFill>
                      <a:prstDash val="solid"/>
                    </a:lnB>
                    <a:solidFill>
                      <a:srgbClr val="941300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27000">
                        <a:lnSpc>
                          <a:spcPts val="1900"/>
                        </a:lnSpc>
                        <a:spcBef>
                          <a:spcPts val="439"/>
                        </a:spcBef>
                      </a:pPr>
                      <a:r>
                        <a:rPr sz="1600" b="1" spc="-60" dirty="0">
                          <a:solidFill>
                            <a:srgbClr val="FCF2DA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600" b="1" spc="-5" dirty="0">
                          <a:solidFill>
                            <a:srgbClr val="FCF2DA"/>
                          </a:solidFill>
                          <a:latin typeface="Arial"/>
                          <a:cs typeface="Arial"/>
                        </a:rPr>
                        <a:t>verage  </a:t>
                      </a:r>
                      <a:r>
                        <a:rPr sz="1600" b="1" spc="-10" dirty="0">
                          <a:solidFill>
                            <a:srgbClr val="FCF2DA"/>
                          </a:solidFill>
                          <a:latin typeface="Arial"/>
                          <a:cs typeface="Arial"/>
                        </a:rPr>
                        <a:t>Case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5879" marB="0">
                    <a:lnL w="19050">
                      <a:solidFill>
                        <a:srgbClr val="FCF2DA"/>
                      </a:solidFill>
                      <a:prstDash val="solid"/>
                    </a:lnL>
                    <a:lnR w="19050">
                      <a:solidFill>
                        <a:srgbClr val="FCF2DA"/>
                      </a:solidFill>
                      <a:prstDash val="solid"/>
                    </a:lnR>
                    <a:lnT w="19050">
                      <a:solidFill>
                        <a:srgbClr val="FCF2DA"/>
                      </a:solidFill>
                      <a:prstDash val="solid"/>
                    </a:lnT>
                    <a:lnB w="53975">
                      <a:solidFill>
                        <a:srgbClr val="FCF2DA"/>
                      </a:solidFill>
                      <a:prstDash val="solid"/>
                    </a:lnB>
                    <a:solidFill>
                      <a:srgbClr val="941300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18110">
                        <a:lnSpc>
                          <a:spcPts val="1900"/>
                        </a:lnSpc>
                        <a:spcBef>
                          <a:spcPts val="439"/>
                        </a:spcBef>
                      </a:pPr>
                      <a:r>
                        <a:rPr sz="1600" b="1" dirty="0">
                          <a:solidFill>
                            <a:srgbClr val="FCF2DA"/>
                          </a:solidFill>
                          <a:latin typeface="Arial"/>
                          <a:cs typeface="Arial"/>
                        </a:rPr>
                        <a:t>In  </a:t>
                      </a:r>
                      <a:r>
                        <a:rPr sz="1600" b="1" spc="-5" dirty="0">
                          <a:solidFill>
                            <a:srgbClr val="FCF2DA"/>
                          </a:solidFill>
                          <a:latin typeface="Arial"/>
                          <a:cs typeface="Arial"/>
                        </a:rPr>
                        <a:t>Place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5879" marB="0">
                    <a:lnL w="19050">
                      <a:solidFill>
                        <a:srgbClr val="FCF2DA"/>
                      </a:solidFill>
                      <a:prstDash val="solid"/>
                    </a:lnL>
                    <a:lnR w="19050">
                      <a:solidFill>
                        <a:srgbClr val="FCF2DA"/>
                      </a:solidFill>
                      <a:prstDash val="solid"/>
                    </a:lnR>
                    <a:lnT w="19050">
                      <a:solidFill>
                        <a:srgbClr val="FCF2DA"/>
                      </a:solidFill>
                      <a:prstDash val="solid"/>
                    </a:lnT>
                    <a:lnB w="53975">
                      <a:solidFill>
                        <a:srgbClr val="FCF2DA"/>
                      </a:solidFill>
                      <a:prstDash val="solid"/>
                    </a:lnB>
                    <a:solidFill>
                      <a:srgbClr val="94130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600" b="1" dirty="0">
                          <a:solidFill>
                            <a:srgbClr val="FCF2DA"/>
                          </a:solidFill>
                          <a:latin typeface="Arial"/>
                          <a:cs typeface="Arial"/>
                        </a:rPr>
                        <a:t>Stable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FCF2DA"/>
                      </a:solidFill>
                      <a:prstDash val="solid"/>
                    </a:lnL>
                    <a:lnR w="19050">
                      <a:solidFill>
                        <a:srgbClr val="FCF2DA"/>
                      </a:solidFill>
                      <a:prstDash val="solid"/>
                    </a:lnR>
                    <a:lnT w="19050">
                      <a:solidFill>
                        <a:srgbClr val="FCF2DA"/>
                      </a:solidFill>
                      <a:prstDash val="solid"/>
                    </a:lnT>
                    <a:lnB w="53975">
                      <a:solidFill>
                        <a:srgbClr val="FCF2DA"/>
                      </a:solidFill>
                      <a:prstDash val="solid"/>
                    </a:lnB>
                    <a:solidFill>
                      <a:srgbClr val="94130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600" b="1" spc="-5" dirty="0">
                          <a:solidFill>
                            <a:srgbClr val="FCF2DA"/>
                          </a:solidFill>
                          <a:latin typeface="Arial"/>
                          <a:cs typeface="Arial"/>
                        </a:rPr>
                        <a:t>Comments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FCF2DA"/>
                      </a:solidFill>
                      <a:prstDash val="solid"/>
                    </a:lnL>
                    <a:lnR w="12700">
                      <a:solidFill>
                        <a:srgbClr val="FCF2DA"/>
                      </a:solidFill>
                      <a:prstDash val="solid"/>
                    </a:lnR>
                    <a:lnT w="19050">
                      <a:solidFill>
                        <a:srgbClr val="FCF2DA"/>
                      </a:solidFill>
                      <a:prstDash val="solid"/>
                    </a:lnT>
                    <a:lnB w="53975">
                      <a:solidFill>
                        <a:srgbClr val="FCF2DA"/>
                      </a:solidFill>
                      <a:prstDash val="solid"/>
                    </a:lnB>
                    <a:solidFill>
                      <a:srgbClr val="941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1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Selection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FCF2DA"/>
                      </a:solidFill>
                      <a:prstDash val="solid"/>
                    </a:lnL>
                    <a:lnR w="19050">
                      <a:solidFill>
                        <a:srgbClr val="FCF2DA"/>
                      </a:solidFill>
                      <a:prstDash val="solid"/>
                    </a:lnR>
                    <a:lnT w="53975">
                      <a:solidFill>
                        <a:srgbClr val="FCF2DA"/>
                      </a:solidFill>
                      <a:prstDash val="solid"/>
                    </a:lnT>
                    <a:lnB w="19050">
                      <a:solidFill>
                        <a:srgbClr val="FCF2DA"/>
                      </a:solidFill>
                      <a:prstDash val="solid"/>
                    </a:lnB>
                    <a:solidFill>
                      <a:srgbClr val="E0D5D5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1800"/>
                        </a:lnSpc>
                      </a:pPr>
                      <a:r>
                        <a:rPr sz="2400" baseline="-1736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FCF2DA"/>
                      </a:solidFill>
                      <a:prstDash val="solid"/>
                    </a:lnL>
                    <a:lnR w="19050">
                      <a:solidFill>
                        <a:srgbClr val="FCF2DA"/>
                      </a:solidFill>
                      <a:prstDash val="solid"/>
                    </a:lnR>
                    <a:lnT w="53975">
                      <a:solidFill>
                        <a:srgbClr val="FCF2DA"/>
                      </a:solidFill>
                      <a:prstDash val="solid"/>
                    </a:lnT>
                    <a:lnB w="19050">
                      <a:solidFill>
                        <a:srgbClr val="FCF2DA"/>
                      </a:solidFill>
                      <a:prstDash val="solid"/>
                    </a:lnB>
                    <a:solidFill>
                      <a:srgbClr val="E0D5D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1800"/>
                        </a:lnSpc>
                      </a:pPr>
                      <a:r>
                        <a:rPr sz="2400" baseline="-1736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FCF2DA"/>
                      </a:solidFill>
                      <a:prstDash val="solid"/>
                    </a:lnL>
                    <a:lnR w="19050">
                      <a:solidFill>
                        <a:srgbClr val="FCF2DA"/>
                      </a:solidFill>
                      <a:prstDash val="solid"/>
                    </a:lnR>
                    <a:lnT w="53975">
                      <a:solidFill>
                        <a:srgbClr val="FCF2DA"/>
                      </a:solidFill>
                      <a:prstDash val="solid"/>
                    </a:lnT>
                    <a:lnB w="19050">
                      <a:solidFill>
                        <a:srgbClr val="FCF2DA"/>
                      </a:solidFill>
                      <a:prstDash val="solid"/>
                    </a:lnB>
                    <a:solidFill>
                      <a:srgbClr val="E0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CF2DA"/>
                      </a:solidFill>
                      <a:prstDash val="solid"/>
                    </a:lnL>
                    <a:lnR w="19050">
                      <a:solidFill>
                        <a:srgbClr val="FCF2DA"/>
                      </a:solidFill>
                      <a:prstDash val="solid"/>
                    </a:lnR>
                    <a:lnT w="53975">
                      <a:solidFill>
                        <a:srgbClr val="FCF2DA"/>
                      </a:solidFill>
                      <a:prstDash val="solid"/>
                    </a:lnT>
                    <a:lnB w="19050">
                      <a:solidFill>
                        <a:srgbClr val="FCF2DA"/>
                      </a:solidFill>
                      <a:prstDash val="solid"/>
                    </a:lnB>
                    <a:solidFill>
                      <a:srgbClr val="E0D5D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600" spc="-55" dirty="0">
                          <a:latin typeface="Arial"/>
                          <a:cs typeface="Arial"/>
                        </a:rPr>
                        <a:t>Yes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FCF2DA"/>
                      </a:solidFill>
                      <a:prstDash val="solid"/>
                    </a:lnL>
                    <a:lnR w="19050">
                      <a:solidFill>
                        <a:srgbClr val="FCF2DA"/>
                      </a:solidFill>
                      <a:prstDash val="solid"/>
                    </a:lnR>
                    <a:lnT w="53975">
                      <a:solidFill>
                        <a:srgbClr val="FCF2DA"/>
                      </a:solidFill>
                      <a:prstDash val="solid"/>
                    </a:lnT>
                    <a:lnB w="19050">
                      <a:solidFill>
                        <a:srgbClr val="FCF2DA"/>
                      </a:solidFill>
                      <a:prstDash val="solid"/>
                    </a:lnB>
                    <a:solidFill>
                      <a:srgbClr val="E0D5D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600" spc="-55" dirty="0">
                          <a:latin typeface="Arial"/>
                          <a:cs typeface="Arial"/>
                        </a:rPr>
                        <a:t>Yes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FCF2DA"/>
                      </a:solidFill>
                      <a:prstDash val="solid"/>
                    </a:lnL>
                    <a:lnR w="19050">
                      <a:solidFill>
                        <a:srgbClr val="FCF2DA"/>
                      </a:solidFill>
                      <a:prstDash val="solid"/>
                    </a:lnR>
                    <a:lnT w="53975">
                      <a:solidFill>
                        <a:srgbClr val="FCF2DA"/>
                      </a:solidFill>
                      <a:prstDash val="solid"/>
                    </a:lnT>
                    <a:lnB w="19050">
                      <a:solidFill>
                        <a:srgbClr val="FCF2DA"/>
                      </a:solidFill>
                      <a:prstDash val="solid"/>
                    </a:lnB>
                    <a:solidFill>
                      <a:srgbClr val="E0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CF2DA"/>
                      </a:solidFill>
                      <a:prstDash val="solid"/>
                    </a:lnL>
                    <a:lnR w="12700">
                      <a:solidFill>
                        <a:srgbClr val="FCF2DA"/>
                      </a:solidFill>
                      <a:prstDash val="solid"/>
                    </a:lnR>
                    <a:lnT w="53975">
                      <a:solidFill>
                        <a:srgbClr val="FCF2DA"/>
                      </a:solidFill>
                      <a:prstDash val="solid"/>
                    </a:lnT>
                    <a:lnB w="19050">
                      <a:solidFill>
                        <a:srgbClr val="FCF2DA"/>
                      </a:solidFill>
                      <a:prstDash val="solid"/>
                    </a:lnB>
                    <a:solidFill>
                      <a:srgbClr val="E0D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Bubble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FCF2DA"/>
                      </a:solidFill>
                      <a:prstDash val="solid"/>
                    </a:lnL>
                    <a:lnR w="19050">
                      <a:solidFill>
                        <a:srgbClr val="FCF2DA"/>
                      </a:solidFill>
                      <a:prstDash val="solid"/>
                    </a:lnR>
                    <a:lnT w="19050">
                      <a:solidFill>
                        <a:srgbClr val="FCF2DA"/>
                      </a:solidFill>
                      <a:prstDash val="solid"/>
                    </a:lnT>
                    <a:lnB w="19050">
                      <a:solidFill>
                        <a:srgbClr val="FCF2DA"/>
                      </a:solidFill>
                      <a:prstDash val="solid"/>
                    </a:lnB>
                    <a:solidFill>
                      <a:srgbClr val="F1ECEC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FCF2DA"/>
                      </a:solidFill>
                      <a:prstDash val="solid"/>
                    </a:lnL>
                    <a:lnR w="19050">
                      <a:solidFill>
                        <a:srgbClr val="FCF2DA"/>
                      </a:solidFill>
                      <a:prstDash val="solid"/>
                    </a:lnR>
                    <a:lnT w="19050">
                      <a:solidFill>
                        <a:srgbClr val="FCF2DA"/>
                      </a:solidFill>
                      <a:prstDash val="solid"/>
                    </a:lnT>
                    <a:lnB w="19050">
                      <a:solidFill>
                        <a:srgbClr val="FCF2DA"/>
                      </a:solidFill>
                      <a:prstDash val="solid"/>
                    </a:lnB>
                    <a:solidFill>
                      <a:srgbClr val="F1ECEC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1800"/>
                        </a:lnSpc>
                      </a:pPr>
                      <a:r>
                        <a:rPr sz="2400" baseline="-1736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FCF2DA"/>
                      </a:solidFill>
                      <a:prstDash val="solid"/>
                    </a:lnL>
                    <a:lnR w="19050">
                      <a:solidFill>
                        <a:srgbClr val="FCF2DA"/>
                      </a:solidFill>
                      <a:prstDash val="solid"/>
                    </a:lnR>
                    <a:lnT w="19050">
                      <a:solidFill>
                        <a:srgbClr val="FCF2DA"/>
                      </a:solidFill>
                      <a:prstDash val="solid"/>
                    </a:lnT>
                    <a:lnB w="19050">
                      <a:solidFill>
                        <a:srgbClr val="FCF2DA"/>
                      </a:solidFill>
                      <a:prstDash val="solid"/>
                    </a:lnB>
                    <a:solidFill>
                      <a:srgbClr val="F1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CF2DA"/>
                      </a:solidFill>
                      <a:prstDash val="solid"/>
                    </a:lnL>
                    <a:lnR w="19050">
                      <a:solidFill>
                        <a:srgbClr val="FCF2DA"/>
                      </a:solidFill>
                      <a:prstDash val="solid"/>
                    </a:lnR>
                    <a:lnT w="19050">
                      <a:solidFill>
                        <a:srgbClr val="FCF2DA"/>
                      </a:solidFill>
                      <a:prstDash val="solid"/>
                    </a:lnT>
                    <a:lnB w="19050">
                      <a:solidFill>
                        <a:srgbClr val="FCF2DA"/>
                      </a:solidFill>
                      <a:prstDash val="solid"/>
                    </a:lnB>
                    <a:solidFill>
                      <a:srgbClr val="F1EC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600" spc="-55" dirty="0">
                          <a:latin typeface="Arial"/>
                          <a:cs typeface="Arial"/>
                        </a:rPr>
                        <a:t>Yes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FCF2DA"/>
                      </a:solidFill>
                      <a:prstDash val="solid"/>
                    </a:lnL>
                    <a:lnR w="19050">
                      <a:solidFill>
                        <a:srgbClr val="FCF2DA"/>
                      </a:solidFill>
                      <a:prstDash val="solid"/>
                    </a:lnR>
                    <a:lnT w="19050">
                      <a:solidFill>
                        <a:srgbClr val="FCF2DA"/>
                      </a:solidFill>
                      <a:prstDash val="solid"/>
                    </a:lnT>
                    <a:lnB w="19050">
                      <a:solidFill>
                        <a:srgbClr val="FCF2DA"/>
                      </a:solidFill>
                      <a:prstDash val="solid"/>
                    </a:lnB>
                    <a:solidFill>
                      <a:srgbClr val="F1EC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600" spc="-55" dirty="0">
                          <a:latin typeface="Arial"/>
                          <a:cs typeface="Arial"/>
                        </a:rPr>
                        <a:t>Yes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FCF2DA"/>
                      </a:solidFill>
                      <a:prstDash val="solid"/>
                    </a:lnL>
                    <a:lnR w="19050">
                      <a:solidFill>
                        <a:srgbClr val="FCF2DA"/>
                      </a:solidFill>
                      <a:prstDash val="solid"/>
                    </a:lnR>
                    <a:lnT w="19050">
                      <a:solidFill>
                        <a:srgbClr val="FCF2DA"/>
                      </a:solidFill>
                      <a:prstDash val="solid"/>
                    </a:lnT>
                    <a:lnB w="19050">
                      <a:solidFill>
                        <a:srgbClr val="FCF2DA"/>
                      </a:solidFill>
                      <a:prstDash val="solid"/>
                    </a:lnB>
                    <a:solidFill>
                      <a:srgbClr val="F1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CF2DA"/>
                      </a:solidFill>
                      <a:prstDash val="solid"/>
                    </a:lnL>
                    <a:lnR w="12700">
                      <a:solidFill>
                        <a:srgbClr val="FCF2DA"/>
                      </a:solidFill>
                      <a:prstDash val="solid"/>
                    </a:lnR>
                    <a:lnT w="19050">
                      <a:solidFill>
                        <a:srgbClr val="FCF2DA"/>
                      </a:solidFill>
                      <a:prstDash val="solid"/>
                    </a:lnT>
                    <a:lnB w="19050">
                      <a:solidFill>
                        <a:srgbClr val="FCF2DA"/>
                      </a:solidFill>
                      <a:prstDash val="solid"/>
                    </a:lnB>
                    <a:solidFill>
                      <a:srgbClr val="F1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Insertion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19050">
                      <a:solidFill>
                        <a:srgbClr val="FCF2DA"/>
                      </a:solidFill>
                      <a:prstDash val="solid"/>
                    </a:lnL>
                    <a:lnR w="19050">
                      <a:solidFill>
                        <a:srgbClr val="FCF2DA"/>
                      </a:solidFill>
                      <a:prstDash val="solid"/>
                    </a:lnR>
                    <a:lnT w="19050">
                      <a:solidFill>
                        <a:srgbClr val="FCF2DA"/>
                      </a:solidFill>
                      <a:prstDash val="solid"/>
                    </a:lnT>
                    <a:lnB w="19050">
                      <a:solidFill>
                        <a:srgbClr val="FCF2DA"/>
                      </a:solidFill>
                      <a:prstDash val="solid"/>
                    </a:lnB>
                    <a:solidFill>
                      <a:srgbClr val="E0D5D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19050">
                      <a:solidFill>
                        <a:srgbClr val="FCF2DA"/>
                      </a:solidFill>
                      <a:prstDash val="solid"/>
                    </a:lnL>
                    <a:lnR w="19050">
                      <a:solidFill>
                        <a:srgbClr val="FCF2DA"/>
                      </a:solidFill>
                      <a:prstDash val="solid"/>
                    </a:lnR>
                    <a:lnT w="19050">
                      <a:solidFill>
                        <a:srgbClr val="FCF2DA"/>
                      </a:solidFill>
                      <a:prstDash val="solid"/>
                    </a:lnT>
                    <a:lnB w="19050">
                      <a:solidFill>
                        <a:srgbClr val="FCF2DA"/>
                      </a:solidFill>
                      <a:prstDash val="solid"/>
                    </a:lnB>
                    <a:solidFill>
                      <a:srgbClr val="E0D5D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1800"/>
                        </a:lnSpc>
                      </a:pPr>
                      <a:r>
                        <a:rPr sz="2400" baseline="-1736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FCF2DA"/>
                      </a:solidFill>
                      <a:prstDash val="solid"/>
                    </a:lnL>
                    <a:lnR w="19050">
                      <a:solidFill>
                        <a:srgbClr val="FCF2DA"/>
                      </a:solidFill>
                      <a:prstDash val="solid"/>
                    </a:lnR>
                    <a:lnT w="19050">
                      <a:solidFill>
                        <a:srgbClr val="FCF2DA"/>
                      </a:solidFill>
                      <a:prstDash val="solid"/>
                    </a:lnT>
                    <a:lnB w="19050">
                      <a:solidFill>
                        <a:srgbClr val="FCF2DA"/>
                      </a:solidFill>
                      <a:prstDash val="solid"/>
                    </a:lnB>
                    <a:solidFill>
                      <a:srgbClr val="E0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CF2DA"/>
                      </a:solidFill>
                      <a:prstDash val="solid"/>
                    </a:lnL>
                    <a:lnR w="19050">
                      <a:solidFill>
                        <a:srgbClr val="FCF2DA"/>
                      </a:solidFill>
                      <a:prstDash val="solid"/>
                    </a:lnR>
                    <a:lnT w="19050">
                      <a:solidFill>
                        <a:srgbClr val="FCF2DA"/>
                      </a:solidFill>
                      <a:prstDash val="solid"/>
                    </a:lnT>
                    <a:lnB w="19050">
                      <a:solidFill>
                        <a:srgbClr val="FCF2DA"/>
                      </a:solidFill>
                      <a:prstDash val="solid"/>
                    </a:lnB>
                    <a:solidFill>
                      <a:srgbClr val="E0D5D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spc="-55" dirty="0">
                          <a:latin typeface="Arial"/>
                          <a:cs typeface="Arial"/>
                        </a:rPr>
                        <a:t>Yes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19050">
                      <a:solidFill>
                        <a:srgbClr val="FCF2DA"/>
                      </a:solidFill>
                      <a:prstDash val="solid"/>
                    </a:lnL>
                    <a:lnR w="19050">
                      <a:solidFill>
                        <a:srgbClr val="FCF2DA"/>
                      </a:solidFill>
                      <a:prstDash val="solid"/>
                    </a:lnR>
                    <a:lnT w="19050">
                      <a:solidFill>
                        <a:srgbClr val="FCF2DA"/>
                      </a:solidFill>
                      <a:prstDash val="solid"/>
                    </a:lnT>
                    <a:lnB w="19050">
                      <a:solidFill>
                        <a:srgbClr val="FCF2DA"/>
                      </a:solidFill>
                      <a:prstDash val="solid"/>
                    </a:lnB>
                    <a:solidFill>
                      <a:srgbClr val="E0D5D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spc="-55" dirty="0">
                          <a:latin typeface="Arial"/>
                          <a:cs typeface="Arial"/>
                        </a:rPr>
                        <a:t>Yes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19050">
                      <a:solidFill>
                        <a:srgbClr val="FCF2DA"/>
                      </a:solidFill>
                      <a:prstDash val="solid"/>
                    </a:lnL>
                    <a:lnR w="19050">
                      <a:solidFill>
                        <a:srgbClr val="FCF2DA"/>
                      </a:solidFill>
                      <a:prstDash val="solid"/>
                    </a:lnR>
                    <a:lnT w="19050">
                      <a:solidFill>
                        <a:srgbClr val="FCF2DA"/>
                      </a:solidFill>
                      <a:prstDash val="solid"/>
                    </a:lnT>
                    <a:lnB w="19050">
                      <a:solidFill>
                        <a:srgbClr val="FCF2DA"/>
                      </a:solidFill>
                      <a:prstDash val="solid"/>
                    </a:lnB>
                    <a:solidFill>
                      <a:srgbClr val="E0D5D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Good if often almost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sorted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19050">
                      <a:solidFill>
                        <a:srgbClr val="FCF2DA"/>
                      </a:solidFill>
                      <a:prstDash val="solid"/>
                    </a:lnL>
                    <a:lnR w="12700">
                      <a:solidFill>
                        <a:srgbClr val="FCF2DA"/>
                      </a:solidFill>
                      <a:prstDash val="solid"/>
                    </a:lnR>
                    <a:lnT w="19050">
                      <a:solidFill>
                        <a:srgbClr val="FCF2DA"/>
                      </a:solidFill>
                      <a:prstDash val="solid"/>
                    </a:lnT>
                    <a:lnB w="19050">
                      <a:solidFill>
                        <a:srgbClr val="FCF2DA"/>
                      </a:solidFill>
                      <a:prstDash val="solid"/>
                    </a:lnB>
                    <a:solidFill>
                      <a:srgbClr val="E0D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1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Merge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FCF2DA"/>
                      </a:solidFill>
                      <a:prstDash val="solid"/>
                    </a:lnL>
                    <a:lnR w="19050">
                      <a:solidFill>
                        <a:srgbClr val="FCF2DA"/>
                      </a:solidFill>
                      <a:prstDash val="solid"/>
                    </a:lnR>
                    <a:lnT w="19050">
                      <a:solidFill>
                        <a:srgbClr val="FCF2DA"/>
                      </a:solidFill>
                      <a:prstDash val="solid"/>
                    </a:lnT>
                    <a:lnB w="19050">
                      <a:solidFill>
                        <a:srgbClr val="FCF2DA"/>
                      </a:solidFill>
                      <a:prstDash val="solid"/>
                    </a:lnB>
                    <a:solidFill>
                      <a:srgbClr val="F1ECEC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n log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FCF2DA"/>
                      </a:solidFill>
                      <a:prstDash val="solid"/>
                    </a:lnL>
                    <a:lnR w="19050">
                      <a:solidFill>
                        <a:srgbClr val="FCF2DA"/>
                      </a:solidFill>
                      <a:prstDash val="solid"/>
                    </a:lnR>
                    <a:lnT w="19050">
                      <a:solidFill>
                        <a:srgbClr val="FCF2DA"/>
                      </a:solidFill>
                      <a:prstDash val="solid"/>
                    </a:lnT>
                    <a:lnB w="19050">
                      <a:solidFill>
                        <a:srgbClr val="FCF2DA"/>
                      </a:solidFill>
                      <a:prstDash val="solid"/>
                    </a:lnB>
                    <a:solidFill>
                      <a:srgbClr val="F1EC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n log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FCF2DA"/>
                      </a:solidFill>
                      <a:prstDash val="solid"/>
                    </a:lnL>
                    <a:lnR w="19050">
                      <a:solidFill>
                        <a:srgbClr val="FCF2DA"/>
                      </a:solidFill>
                      <a:prstDash val="solid"/>
                    </a:lnR>
                    <a:lnT w="19050">
                      <a:solidFill>
                        <a:srgbClr val="FCF2DA"/>
                      </a:solidFill>
                      <a:prstDash val="solid"/>
                    </a:lnT>
                    <a:lnB w="19050">
                      <a:solidFill>
                        <a:srgbClr val="FCF2DA"/>
                      </a:solidFill>
                      <a:prstDash val="solid"/>
                    </a:lnB>
                    <a:solidFill>
                      <a:srgbClr val="F1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CF2DA"/>
                      </a:solidFill>
                      <a:prstDash val="solid"/>
                    </a:lnL>
                    <a:lnR w="19050">
                      <a:solidFill>
                        <a:srgbClr val="FCF2DA"/>
                      </a:solidFill>
                      <a:prstDash val="solid"/>
                    </a:lnR>
                    <a:lnT w="19050">
                      <a:solidFill>
                        <a:srgbClr val="FCF2DA"/>
                      </a:solidFill>
                      <a:prstDash val="solid"/>
                    </a:lnT>
                    <a:lnB w="19050">
                      <a:solidFill>
                        <a:srgbClr val="FCF2DA"/>
                      </a:solidFill>
                      <a:prstDash val="solid"/>
                    </a:lnB>
                    <a:solidFill>
                      <a:srgbClr val="F1EC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No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FCF2DA"/>
                      </a:solidFill>
                      <a:prstDash val="solid"/>
                    </a:lnL>
                    <a:lnR w="19050">
                      <a:solidFill>
                        <a:srgbClr val="FCF2DA"/>
                      </a:solidFill>
                      <a:prstDash val="solid"/>
                    </a:lnR>
                    <a:lnT w="19050">
                      <a:solidFill>
                        <a:srgbClr val="FCF2DA"/>
                      </a:solidFill>
                      <a:prstDash val="solid"/>
                    </a:lnT>
                    <a:lnB w="19050">
                      <a:solidFill>
                        <a:srgbClr val="FCF2DA"/>
                      </a:solidFill>
                      <a:prstDash val="solid"/>
                    </a:lnB>
                    <a:solidFill>
                      <a:srgbClr val="F1EC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600" spc="-55" dirty="0">
                          <a:latin typeface="Arial"/>
                          <a:cs typeface="Arial"/>
                        </a:rPr>
                        <a:t>Yes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FCF2DA"/>
                      </a:solidFill>
                      <a:prstDash val="solid"/>
                    </a:lnL>
                    <a:lnR w="19050">
                      <a:solidFill>
                        <a:srgbClr val="FCF2DA"/>
                      </a:solidFill>
                      <a:prstDash val="solid"/>
                    </a:lnR>
                    <a:lnT w="19050">
                      <a:solidFill>
                        <a:srgbClr val="FCF2DA"/>
                      </a:solidFill>
                      <a:prstDash val="solid"/>
                    </a:lnT>
                    <a:lnB w="19050">
                      <a:solidFill>
                        <a:srgbClr val="FCF2DA"/>
                      </a:solidFill>
                      <a:prstDash val="solid"/>
                    </a:lnB>
                    <a:solidFill>
                      <a:srgbClr val="F1ECEC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75590" indent="-635">
                        <a:lnSpc>
                          <a:spcPts val="1900"/>
                        </a:lnSpc>
                        <a:spcBef>
                          <a:spcPts val="439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Good for very large datasets that  require swapping to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disk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5879" marB="0">
                    <a:lnL w="19050">
                      <a:solidFill>
                        <a:srgbClr val="FCF2DA"/>
                      </a:solidFill>
                      <a:prstDash val="solid"/>
                    </a:lnL>
                    <a:lnR w="12700">
                      <a:solidFill>
                        <a:srgbClr val="FCF2DA"/>
                      </a:solidFill>
                      <a:prstDash val="solid"/>
                    </a:lnR>
                    <a:lnT w="19050">
                      <a:solidFill>
                        <a:srgbClr val="FCF2DA"/>
                      </a:solidFill>
                      <a:prstDash val="solid"/>
                    </a:lnT>
                    <a:lnB w="19050">
                      <a:solidFill>
                        <a:srgbClr val="FCF2DA"/>
                      </a:solidFill>
                      <a:prstDash val="solid"/>
                    </a:lnB>
                    <a:solidFill>
                      <a:srgbClr val="F1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Heap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19050">
                      <a:solidFill>
                        <a:srgbClr val="FCF2DA"/>
                      </a:solidFill>
                      <a:prstDash val="solid"/>
                    </a:lnL>
                    <a:lnR w="19050">
                      <a:solidFill>
                        <a:srgbClr val="FCF2DA"/>
                      </a:solidFill>
                      <a:prstDash val="solid"/>
                    </a:lnR>
                    <a:lnT w="19050">
                      <a:solidFill>
                        <a:srgbClr val="FCF2DA"/>
                      </a:solidFill>
                      <a:prstDash val="solid"/>
                    </a:lnT>
                    <a:lnB w="19050">
                      <a:solidFill>
                        <a:srgbClr val="FCF2DA"/>
                      </a:solidFill>
                      <a:prstDash val="solid"/>
                    </a:lnB>
                    <a:solidFill>
                      <a:srgbClr val="E0D5D5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n log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19050">
                      <a:solidFill>
                        <a:srgbClr val="FCF2DA"/>
                      </a:solidFill>
                      <a:prstDash val="solid"/>
                    </a:lnL>
                    <a:lnR w="19050">
                      <a:solidFill>
                        <a:srgbClr val="FCF2DA"/>
                      </a:solidFill>
                      <a:prstDash val="solid"/>
                    </a:lnR>
                    <a:lnT w="19050">
                      <a:solidFill>
                        <a:srgbClr val="FCF2DA"/>
                      </a:solidFill>
                      <a:prstDash val="solid"/>
                    </a:lnT>
                    <a:lnB w="19050">
                      <a:solidFill>
                        <a:srgbClr val="FCF2DA"/>
                      </a:solidFill>
                      <a:prstDash val="solid"/>
                    </a:lnB>
                    <a:solidFill>
                      <a:srgbClr val="E0D5D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n log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19050">
                      <a:solidFill>
                        <a:srgbClr val="FCF2DA"/>
                      </a:solidFill>
                      <a:prstDash val="solid"/>
                    </a:lnL>
                    <a:lnR w="19050">
                      <a:solidFill>
                        <a:srgbClr val="FCF2DA"/>
                      </a:solidFill>
                      <a:prstDash val="solid"/>
                    </a:lnR>
                    <a:lnT w="19050">
                      <a:solidFill>
                        <a:srgbClr val="FCF2DA"/>
                      </a:solidFill>
                      <a:prstDash val="solid"/>
                    </a:lnT>
                    <a:lnB w="19050">
                      <a:solidFill>
                        <a:srgbClr val="FCF2DA"/>
                      </a:solidFill>
                      <a:prstDash val="solid"/>
                    </a:lnB>
                    <a:solidFill>
                      <a:srgbClr val="E0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CF2DA"/>
                      </a:solidFill>
                      <a:prstDash val="solid"/>
                    </a:lnL>
                    <a:lnR w="19050">
                      <a:solidFill>
                        <a:srgbClr val="FCF2DA"/>
                      </a:solidFill>
                      <a:prstDash val="solid"/>
                    </a:lnR>
                    <a:lnT w="19050">
                      <a:solidFill>
                        <a:srgbClr val="FCF2DA"/>
                      </a:solidFill>
                      <a:prstDash val="solid"/>
                    </a:lnT>
                    <a:lnB w="19050">
                      <a:solidFill>
                        <a:srgbClr val="FCF2DA"/>
                      </a:solidFill>
                      <a:prstDash val="solid"/>
                    </a:lnB>
                    <a:solidFill>
                      <a:srgbClr val="E0D5D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spc="-55" dirty="0">
                          <a:latin typeface="Arial"/>
                          <a:cs typeface="Arial"/>
                        </a:rPr>
                        <a:t>Yes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19050">
                      <a:solidFill>
                        <a:srgbClr val="FCF2DA"/>
                      </a:solidFill>
                      <a:prstDash val="solid"/>
                    </a:lnL>
                    <a:lnR w="19050">
                      <a:solidFill>
                        <a:srgbClr val="FCF2DA"/>
                      </a:solidFill>
                      <a:prstDash val="solid"/>
                    </a:lnR>
                    <a:lnT w="19050">
                      <a:solidFill>
                        <a:srgbClr val="FCF2DA"/>
                      </a:solidFill>
                      <a:prstDash val="solid"/>
                    </a:lnT>
                    <a:lnB w="19050">
                      <a:solidFill>
                        <a:srgbClr val="FCF2DA"/>
                      </a:solidFill>
                      <a:prstDash val="solid"/>
                    </a:lnB>
                    <a:solidFill>
                      <a:srgbClr val="E0D5D5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No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19050">
                      <a:solidFill>
                        <a:srgbClr val="FCF2DA"/>
                      </a:solidFill>
                      <a:prstDash val="solid"/>
                    </a:lnL>
                    <a:lnR w="19050">
                      <a:solidFill>
                        <a:srgbClr val="FCF2DA"/>
                      </a:solidFill>
                      <a:prstDash val="solid"/>
                    </a:lnR>
                    <a:lnT w="19050">
                      <a:solidFill>
                        <a:srgbClr val="FCF2DA"/>
                      </a:solidFill>
                      <a:prstDash val="solid"/>
                    </a:lnT>
                    <a:lnB w="19050">
                      <a:solidFill>
                        <a:srgbClr val="FCF2DA"/>
                      </a:solidFill>
                      <a:prstDash val="solid"/>
                    </a:lnB>
                    <a:solidFill>
                      <a:srgbClr val="E0D5D5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Best if guaranteed n log n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required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19050">
                      <a:solidFill>
                        <a:srgbClr val="FCF2DA"/>
                      </a:solidFill>
                      <a:prstDash val="solid"/>
                    </a:lnL>
                    <a:lnR w="12700">
                      <a:solidFill>
                        <a:srgbClr val="FCF2DA"/>
                      </a:solidFill>
                      <a:prstDash val="solid"/>
                    </a:lnR>
                    <a:lnT w="19050">
                      <a:solidFill>
                        <a:srgbClr val="FCF2DA"/>
                      </a:solidFill>
                      <a:prstDash val="solid"/>
                    </a:lnT>
                    <a:lnB w="19050">
                      <a:solidFill>
                        <a:srgbClr val="FCF2DA"/>
                      </a:solidFill>
                      <a:prstDash val="solid"/>
                    </a:lnB>
                    <a:solidFill>
                      <a:srgbClr val="E0D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Quick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FCF2DA"/>
                      </a:solidFill>
                      <a:prstDash val="solid"/>
                    </a:lnL>
                    <a:lnR w="19050">
                      <a:solidFill>
                        <a:srgbClr val="FCF2DA"/>
                      </a:solidFill>
                      <a:prstDash val="solid"/>
                    </a:lnR>
                    <a:lnT w="19050">
                      <a:solidFill>
                        <a:srgbClr val="FCF2DA"/>
                      </a:solidFill>
                      <a:prstDash val="solid"/>
                    </a:lnT>
                    <a:lnB w="19050">
                      <a:solidFill>
                        <a:srgbClr val="FCF2DA"/>
                      </a:solidFill>
                      <a:prstDash val="solid"/>
                    </a:lnB>
                    <a:solidFill>
                      <a:srgbClr val="F1EC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n log</a:t>
                      </a:r>
                      <a:r>
                        <a:rPr sz="16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FCF2DA"/>
                      </a:solidFill>
                      <a:prstDash val="solid"/>
                    </a:lnL>
                    <a:lnR w="19050">
                      <a:solidFill>
                        <a:srgbClr val="FCF2DA"/>
                      </a:solidFill>
                      <a:prstDash val="solid"/>
                    </a:lnR>
                    <a:lnT w="19050">
                      <a:solidFill>
                        <a:srgbClr val="FCF2DA"/>
                      </a:solidFill>
                      <a:prstDash val="solid"/>
                    </a:lnT>
                    <a:lnB w="19050">
                      <a:solidFill>
                        <a:srgbClr val="FCF2DA"/>
                      </a:solidFill>
                      <a:prstDash val="solid"/>
                    </a:lnB>
                    <a:solidFill>
                      <a:srgbClr val="F1EC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1800"/>
                        </a:lnSpc>
                      </a:pPr>
                      <a:r>
                        <a:rPr sz="2400" baseline="-1736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FCF2DA"/>
                      </a:solidFill>
                      <a:prstDash val="solid"/>
                    </a:lnL>
                    <a:lnR w="19050">
                      <a:solidFill>
                        <a:srgbClr val="FCF2DA"/>
                      </a:solidFill>
                      <a:prstDash val="solid"/>
                    </a:lnR>
                    <a:lnT w="19050">
                      <a:solidFill>
                        <a:srgbClr val="FCF2DA"/>
                      </a:solidFill>
                      <a:prstDash val="solid"/>
                    </a:lnT>
                    <a:lnB w="19050">
                      <a:solidFill>
                        <a:srgbClr val="FCF2DA"/>
                      </a:solidFill>
                      <a:prstDash val="solid"/>
                    </a:lnB>
                    <a:solidFill>
                      <a:srgbClr val="F1EC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n log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FCF2DA"/>
                      </a:solidFill>
                      <a:prstDash val="solid"/>
                    </a:lnL>
                    <a:lnR w="19050">
                      <a:solidFill>
                        <a:srgbClr val="FCF2DA"/>
                      </a:solidFill>
                      <a:prstDash val="solid"/>
                    </a:lnR>
                    <a:lnT w="19050">
                      <a:solidFill>
                        <a:srgbClr val="FCF2DA"/>
                      </a:solidFill>
                      <a:prstDash val="solid"/>
                    </a:lnT>
                    <a:lnB w="19050">
                      <a:solidFill>
                        <a:srgbClr val="FCF2DA"/>
                      </a:solidFill>
                      <a:prstDash val="solid"/>
                    </a:lnB>
                    <a:solidFill>
                      <a:srgbClr val="F1ECEC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600" spc="-55" dirty="0">
                          <a:latin typeface="Arial"/>
                          <a:cs typeface="Arial"/>
                        </a:rPr>
                        <a:t>Yes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FCF2DA"/>
                      </a:solidFill>
                      <a:prstDash val="solid"/>
                    </a:lnL>
                    <a:lnR w="19050">
                      <a:solidFill>
                        <a:srgbClr val="FCF2DA"/>
                      </a:solidFill>
                      <a:prstDash val="solid"/>
                    </a:lnR>
                    <a:lnT w="19050">
                      <a:solidFill>
                        <a:srgbClr val="FCF2DA"/>
                      </a:solidFill>
                      <a:prstDash val="solid"/>
                    </a:lnT>
                    <a:lnB w="19050">
                      <a:solidFill>
                        <a:srgbClr val="FCF2DA"/>
                      </a:solidFill>
                      <a:prstDash val="solid"/>
                    </a:lnB>
                    <a:solidFill>
                      <a:srgbClr val="F1ECEC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No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FCF2DA"/>
                      </a:solidFill>
                      <a:prstDash val="solid"/>
                    </a:lnL>
                    <a:lnR w="19050">
                      <a:solidFill>
                        <a:srgbClr val="FCF2DA"/>
                      </a:solidFill>
                      <a:prstDash val="solid"/>
                    </a:lnR>
                    <a:lnT w="19050">
                      <a:solidFill>
                        <a:srgbClr val="FCF2DA"/>
                      </a:solidFill>
                      <a:prstDash val="solid"/>
                    </a:lnT>
                    <a:lnB w="19050">
                      <a:solidFill>
                        <a:srgbClr val="FCF2DA"/>
                      </a:solidFill>
                      <a:prstDash val="solid"/>
                    </a:lnB>
                    <a:solidFill>
                      <a:srgbClr val="F1ECEC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Usually fastest in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practice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FCF2DA"/>
                      </a:solidFill>
                      <a:prstDash val="solid"/>
                    </a:lnL>
                    <a:lnR w="12700">
                      <a:solidFill>
                        <a:srgbClr val="FCF2DA"/>
                      </a:solidFill>
                      <a:prstDash val="solid"/>
                    </a:lnR>
                    <a:lnT w="19050">
                      <a:solidFill>
                        <a:srgbClr val="FCF2DA"/>
                      </a:solidFill>
                      <a:prstDash val="solid"/>
                    </a:lnT>
                    <a:lnB w="19050">
                      <a:solidFill>
                        <a:srgbClr val="FCF2DA"/>
                      </a:solidFill>
                      <a:prstDash val="solid"/>
                    </a:lnB>
                    <a:solidFill>
                      <a:srgbClr val="F1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27605" y="758520"/>
            <a:ext cx="58070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99790" algn="l"/>
              </a:tabLst>
            </a:pPr>
            <a:r>
              <a:rPr spc="-5" dirty="0"/>
              <a:t>Comparison</a:t>
            </a:r>
            <a:r>
              <a:rPr dirty="0"/>
              <a:t> </a:t>
            </a:r>
            <a:r>
              <a:rPr spc="-5" dirty="0"/>
              <a:t>Sort:	Lower</a:t>
            </a:r>
            <a:r>
              <a:rPr spc="-65" dirty="0"/>
              <a:t> </a:t>
            </a:r>
            <a:r>
              <a:rPr spc="-10" dirty="0"/>
              <a:t>Bound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80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37132" y="2674295"/>
            <a:ext cx="7205980" cy="1012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spc="-40" dirty="0">
                <a:latin typeface="Arial"/>
                <a:cs typeface="Arial"/>
              </a:rPr>
              <a:t>MergeSort</a:t>
            </a:r>
            <a:r>
              <a:rPr sz="2300" spc="-30" dirty="0">
                <a:latin typeface="Arial"/>
                <a:cs typeface="Arial"/>
              </a:rPr>
              <a:t> and</a:t>
            </a:r>
            <a:r>
              <a:rPr sz="2300" spc="-45" dirty="0">
                <a:latin typeface="Arial"/>
                <a:cs typeface="Arial"/>
              </a:rPr>
              <a:t> </a:t>
            </a:r>
            <a:r>
              <a:rPr sz="2300" spc="-35" dirty="0">
                <a:latin typeface="Arial"/>
                <a:cs typeface="Arial"/>
              </a:rPr>
              <a:t>HeapSort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spc="-35" dirty="0">
                <a:latin typeface="Arial"/>
                <a:cs typeface="Arial"/>
              </a:rPr>
              <a:t>are</a:t>
            </a:r>
            <a:r>
              <a:rPr sz="2300" spc="-45" dirty="0">
                <a:latin typeface="Arial"/>
                <a:cs typeface="Arial"/>
              </a:rPr>
              <a:t> </a:t>
            </a:r>
            <a:r>
              <a:rPr sz="2300" spc="-30" dirty="0">
                <a:latin typeface="Arial"/>
                <a:cs typeface="Arial"/>
              </a:rPr>
              <a:t>both</a:t>
            </a:r>
            <a:r>
              <a:rPr sz="2300" spc="-40" dirty="0">
                <a:latin typeface="Arial"/>
                <a:cs typeface="Arial"/>
              </a:rPr>
              <a:t> </a:t>
            </a:r>
            <a:r>
              <a:rPr sz="2350" i="1" spc="40" dirty="0">
                <a:latin typeface="Symbol"/>
                <a:cs typeface="Symbol"/>
              </a:rPr>
              <a:t></a:t>
            </a:r>
            <a:r>
              <a:rPr sz="2300" spc="40" dirty="0">
                <a:latin typeface="Arial"/>
                <a:cs typeface="Arial"/>
              </a:rPr>
              <a:t>(</a:t>
            </a:r>
            <a:r>
              <a:rPr sz="2300" i="1" spc="40" dirty="0">
                <a:latin typeface="Arial"/>
                <a:cs typeface="Arial"/>
              </a:rPr>
              <a:t>n</a:t>
            </a:r>
            <a:r>
              <a:rPr sz="2300" i="1" spc="-385" dirty="0">
                <a:latin typeface="Arial"/>
                <a:cs typeface="Arial"/>
              </a:rPr>
              <a:t> </a:t>
            </a:r>
            <a:r>
              <a:rPr sz="2300" spc="-30" dirty="0">
                <a:latin typeface="Arial"/>
                <a:cs typeface="Arial"/>
              </a:rPr>
              <a:t>log</a:t>
            </a:r>
            <a:r>
              <a:rPr sz="2300" spc="-380" dirty="0">
                <a:latin typeface="Arial"/>
                <a:cs typeface="Arial"/>
              </a:rPr>
              <a:t> </a:t>
            </a:r>
            <a:r>
              <a:rPr sz="2300" i="1" spc="-5" dirty="0">
                <a:latin typeface="Arial"/>
                <a:cs typeface="Arial"/>
              </a:rPr>
              <a:t>n</a:t>
            </a:r>
            <a:r>
              <a:rPr sz="2300" spc="-5" dirty="0">
                <a:latin typeface="Arial"/>
                <a:cs typeface="Arial"/>
              </a:rPr>
              <a:t>)</a:t>
            </a:r>
            <a:r>
              <a:rPr sz="2300" spc="30" dirty="0">
                <a:latin typeface="Arial"/>
                <a:cs typeface="Arial"/>
              </a:rPr>
              <a:t> </a:t>
            </a:r>
            <a:r>
              <a:rPr sz="2300" spc="-35" dirty="0">
                <a:latin typeface="Arial"/>
                <a:cs typeface="Arial"/>
              </a:rPr>
              <a:t>(worst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spc="-45" dirty="0">
                <a:latin typeface="Arial"/>
                <a:cs typeface="Arial"/>
              </a:rPr>
              <a:t>case).</a:t>
            </a:r>
            <a:endParaRPr sz="2300">
              <a:latin typeface="Arial"/>
              <a:cs typeface="Arial"/>
            </a:endParaRPr>
          </a:p>
          <a:p>
            <a:pPr marL="79375">
              <a:lnSpc>
                <a:spcPct val="100000"/>
              </a:lnSpc>
              <a:spcBef>
                <a:spcPts val="2075"/>
              </a:spcBef>
            </a:pPr>
            <a:r>
              <a:rPr sz="2400" spc="-5" dirty="0">
                <a:solidFill>
                  <a:srgbClr val="941300"/>
                </a:solidFill>
                <a:latin typeface="Arial"/>
                <a:cs typeface="Arial"/>
              </a:rPr>
              <a:t>Can we do</a:t>
            </a:r>
            <a:r>
              <a:rPr sz="2400" spc="5" dirty="0">
                <a:solidFill>
                  <a:srgbClr val="9413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941300"/>
                </a:solidFill>
                <a:latin typeface="Arial"/>
                <a:cs typeface="Arial"/>
              </a:rPr>
              <a:t>better?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9947" y="758520"/>
            <a:ext cx="612267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99790" algn="l"/>
              </a:tabLst>
            </a:pPr>
            <a:r>
              <a:rPr spc="-5" dirty="0"/>
              <a:t>Comparison</a:t>
            </a:r>
            <a:r>
              <a:rPr dirty="0"/>
              <a:t> </a:t>
            </a:r>
            <a:r>
              <a:rPr spc="-5" dirty="0"/>
              <a:t>Sort:	Decision</a:t>
            </a:r>
            <a:r>
              <a:rPr spc="-85" dirty="0"/>
              <a:t> </a:t>
            </a:r>
            <a:r>
              <a:rPr spc="-5" dirty="0"/>
              <a:t>Trees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2090420"/>
            <a:ext cx="6213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5600" algn="l"/>
                <a:tab pos="1795145" algn="l"/>
              </a:tabLst>
            </a:pPr>
            <a:r>
              <a:rPr sz="2400" spc="-5" dirty="0">
                <a:solidFill>
                  <a:srgbClr val="941300"/>
                </a:solidFill>
                <a:latin typeface="Arial"/>
                <a:cs typeface="Arial"/>
              </a:rPr>
              <a:t>Example:	Sorting a 3-element array</a:t>
            </a:r>
            <a:r>
              <a:rPr sz="2400" spc="20" dirty="0">
                <a:solidFill>
                  <a:srgbClr val="9413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941300"/>
                </a:solidFill>
                <a:latin typeface="Arial"/>
                <a:cs typeface="Arial"/>
              </a:rPr>
              <a:t>A[1..3]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04800" y="2730500"/>
            <a:ext cx="9055100" cy="3594100"/>
            <a:chOff x="304800" y="2730500"/>
            <a:chExt cx="9055100" cy="3594100"/>
          </a:xfrm>
        </p:grpSpPr>
        <p:sp>
          <p:nvSpPr>
            <p:cNvPr id="6" name="object 6"/>
            <p:cNvSpPr/>
            <p:nvPr/>
          </p:nvSpPr>
          <p:spPr>
            <a:xfrm>
              <a:off x="304800" y="2730500"/>
              <a:ext cx="9055100" cy="35941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323137" y="3524250"/>
              <a:ext cx="1612900" cy="508000"/>
            </a:xfrm>
            <a:custGeom>
              <a:avLst/>
              <a:gdLst/>
              <a:ahLst/>
              <a:cxnLst/>
              <a:rect l="l" t="t" r="r" b="b"/>
              <a:pathLst>
                <a:path w="1612900" h="508000">
                  <a:moveTo>
                    <a:pt x="0" y="0"/>
                  </a:moveTo>
                  <a:lnTo>
                    <a:pt x="0" y="508000"/>
                  </a:lnTo>
                  <a:lnTo>
                    <a:pt x="1612900" y="508000"/>
                  </a:lnTo>
                  <a:lnTo>
                    <a:pt x="16129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F2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81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9947" y="758520"/>
            <a:ext cx="612267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99790" algn="l"/>
              </a:tabLst>
            </a:pPr>
            <a:r>
              <a:rPr spc="-5" dirty="0"/>
              <a:t>Comparison</a:t>
            </a:r>
            <a:r>
              <a:rPr dirty="0"/>
              <a:t> </a:t>
            </a:r>
            <a:r>
              <a:rPr spc="-5" dirty="0"/>
              <a:t>Sort:	Decision</a:t>
            </a:r>
            <a:r>
              <a:rPr spc="-85" dirty="0"/>
              <a:t> </a:t>
            </a:r>
            <a:r>
              <a:rPr spc="-5" dirty="0"/>
              <a:t>Trees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04800" y="2730500"/>
            <a:ext cx="9055100" cy="3594100"/>
            <a:chOff x="304800" y="2730500"/>
            <a:chExt cx="9055100" cy="3594100"/>
          </a:xfrm>
        </p:grpSpPr>
        <p:sp>
          <p:nvSpPr>
            <p:cNvPr id="5" name="object 5"/>
            <p:cNvSpPr/>
            <p:nvPr/>
          </p:nvSpPr>
          <p:spPr>
            <a:xfrm>
              <a:off x="304800" y="2730500"/>
              <a:ext cx="9055100" cy="35941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323137" y="3524250"/>
              <a:ext cx="1612900" cy="508000"/>
            </a:xfrm>
            <a:custGeom>
              <a:avLst/>
              <a:gdLst/>
              <a:ahLst/>
              <a:cxnLst/>
              <a:rect l="l" t="t" r="r" b="b"/>
              <a:pathLst>
                <a:path w="1612900" h="508000">
                  <a:moveTo>
                    <a:pt x="0" y="0"/>
                  </a:moveTo>
                  <a:lnTo>
                    <a:pt x="0" y="508000"/>
                  </a:lnTo>
                  <a:lnTo>
                    <a:pt x="1612900" y="508000"/>
                  </a:lnTo>
                  <a:lnTo>
                    <a:pt x="16129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F2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93139" y="1320033"/>
            <a:ext cx="7364095" cy="1106805"/>
          </a:xfrm>
          <a:prstGeom prst="rect">
            <a:avLst/>
          </a:prstGeom>
        </p:spPr>
        <p:txBody>
          <a:bodyPr vert="horz" wrap="square" lIns="0" tIns="1733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65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For a 3-element array, there are 6 external </a:t>
            </a:r>
            <a:r>
              <a:rPr sz="2400" spc="-10" dirty="0">
                <a:latin typeface="Arial"/>
                <a:cs typeface="Arial"/>
              </a:rPr>
              <a:t>nodes.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360"/>
              </a:spcBef>
              <a:buClr>
                <a:srgbClr val="941300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For an n-element array, there are </a:t>
            </a:r>
            <a:r>
              <a:rPr sz="3750" i="1" spc="135" baseline="1111" dirty="0">
                <a:latin typeface="Arial"/>
                <a:cs typeface="Arial"/>
              </a:rPr>
              <a:t>n</a:t>
            </a:r>
            <a:r>
              <a:rPr sz="3750" spc="135" baseline="1111" dirty="0">
                <a:latin typeface="Arial"/>
                <a:cs typeface="Arial"/>
              </a:rPr>
              <a:t>! </a:t>
            </a:r>
            <a:r>
              <a:rPr sz="2400" spc="-5" dirty="0">
                <a:latin typeface="Arial"/>
                <a:cs typeface="Arial"/>
              </a:rPr>
              <a:t>external</a:t>
            </a:r>
            <a:r>
              <a:rPr sz="2400" spc="-40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nodes.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82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00812" y="4449129"/>
            <a:ext cx="126364" cy="243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00" i="1" spc="15" dirty="0">
                <a:latin typeface="Arial"/>
                <a:cs typeface="Arial"/>
              </a:rPr>
              <a:t>n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- </a:t>
            </a:r>
            <a:fld id="{81D60167-4931-47E6-BA6A-407CBD079E47}" type="slidenum">
              <a:rPr spc="-5" dirty="0"/>
              <a:t>83</a:t>
            </a:fld>
            <a:r>
              <a:rPr spc="-75" dirty="0"/>
              <a:t> </a:t>
            </a:r>
            <a:r>
              <a:rPr dirty="0"/>
              <a:t>-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98905" y="4390198"/>
            <a:ext cx="523240" cy="243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100" spc="-157" baseline="3968" dirty="0">
                <a:latin typeface="Symbol"/>
                <a:cs typeface="Symbol"/>
              </a:rPr>
              <a:t></a:t>
            </a:r>
            <a:r>
              <a:rPr sz="2100" spc="-157" baseline="-19841" dirty="0">
                <a:latin typeface="Symbol"/>
                <a:cs typeface="Symbol"/>
              </a:rPr>
              <a:t>⎝</a:t>
            </a:r>
            <a:r>
              <a:rPr sz="1400" i="1" spc="-105" dirty="0">
                <a:latin typeface="Arial"/>
                <a:cs typeface="Arial"/>
              </a:rPr>
              <a:t>n</a:t>
            </a:r>
            <a:r>
              <a:rPr sz="1400" i="1" spc="-26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/</a:t>
            </a:r>
            <a:r>
              <a:rPr sz="1400" spc="-220" dirty="0">
                <a:latin typeface="Arial"/>
                <a:cs typeface="Arial"/>
              </a:rPr>
              <a:t> </a:t>
            </a:r>
            <a:r>
              <a:rPr sz="1400" spc="-45" dirty="0">
                <a:latin typeface="Arial"/>
                <a:cs typeface="Arial"/>
              </a:rPr>
              <a:t>2</a:t>
            </a:r>
            <a:r>
              <a:rPr sz="2100" spc="-67" baseline="3968" dirty="0">
                <a:latin typeface="Symbol"/>
                <a:cs typeface="Symbol"/>
              </a:rPr>
              <a:t></a:t>
            </a:r>
            <a:r>
              <a:rPr sz="2100" spc="-67" baseline="-19841" dirty="0">
                <a:latin typeface="Symbol"/>
                <a:cs typeface="Symbol"/>
              </a:rPr>
              <a:t></a:t>
            </a:r>
            <a:endParaRPr sz="2100" baseline="-19841">
              <a:latin typeface="Symbol"/>
              <a:cs typeface="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2499" y="4495800"/>
            <a:ext cx="6585584" cy="591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3237230" algn="l"/>
              </a:tabLst>
            </a:pPr>
            <a:r>
              <a:rPr sz="2450" spc="-25" dirty="0">
                <a:latin typeface="Arial"/>
                <a:cs typeface="Arial"/>
              </a:rPr>
              <a:t>where</a:t>
            </a:r>
            <a:r>
              <a:rPr sz="2450" spc="-409" dirty="0">
                <a:latin typeface="Arial"/>
                <a:cs typeface="Arial"/>
              </a:rPr>
              <a:t> </a:t>
            </a:r>
            <a:r>
              <a:rPr sz="2450" spc="-20" dirty="0">
                <a:latin typeface="Arial"/>
                <a:cs typeface="Arial"/>
              </a:rPr>
              <a:t>log</a:t>
            </a:r>
            <a:r>
              <a:rPr sz="2450" spc="-400" dirty="0">
                <a:latin typeface="Arial"/>
                <a:cs typeface="Arial"/>
              </a:rPr>
              <a:t> </a:t>
            </a:r>
            <a:r>
              <a:rPr sz="2450" i="1" spc="90" dirty="0">
                <a:latin typeface="Arial"/>
                <a:cs typeface="Arial"/>
              </a:rPr>
              <a:t>n</a:t>
            </a:r>
            <a:r>
              <a:rPr sz="2450" spc="90" dirty="0">
                <a:latin typeface="Arial"/>
                <a:cs typeface="Arial"/>
              </a:rPr>
              <a:t>!</a:t>
            </a:r>
            <a:r>
              <a:rPr sz="2450" spc="-229" dirty="0">
                <a:latin typeface="Arial"/>
                <a:cs typeface="Arial"/>
              </a:rPr>
              <a:t> </a:t>
            </a:r>
            <a:r>
              <a:rPr sz="2450" spc="10" dirty="0">
                <a:latin typeface="Symbol"/>
                <a:cs typeface="Symbol"/>
              </a:rPr>
              <a:t></a:t>
            </a:r>
            <a:r>
              <a:rPr sz="2450" spc="15" dirty="0">
                <a:latin typeface="Times New Roman"/>
                <a:cs typeface="Times New Roman"/>
              </a:rPr>
              <a:t> </a:t>
            </a:r>
            <a:r>
              <a:rPr sz="5550" spc="-127" baseline="-7507" dirty="0">
                <a:latin typeface="Symbol"/>
                <a:cs typeface="Symbol"/>
              </a:rPr>
              <a:t></a:t>
            </a:r>
            <a:r>
              <a:rPr sz="2450" spc="-85" dirty="0">
                <a:latin typeface="Arial"/>
                <a:cs typeface="Arial"/>
              </a:rPr>
              <a:t>log</a:t>
            </a:r>
            <a:r>
              <a:rPr sz="2450" spc="-350" dirty="0">
                <a:latin typeface="Arial"/>
                <a:cs typeface="Arial"/>
              </a:rPr>
              <a:t> </a:t>
            </a:r>
            <a:r>
              <a:rPr sz="2450" i="1" dirty="0">
                <a:latin typeface="Arial"/>
                <a:cs typeface="Arial"/>
              </a:rPr>
              <a:t>i</a:t>
            </a:r>
            <a:r>
              <a:rPr sz="2450" i="1" spc="65" dirty="0">
                <a:latin typeface="Arial"/>
                <a:cs typeface="Arial"/>
              </a:rPr>
              <a:t> </a:t>
            </a:r>
            <a:r>
              <a:rPr sz="2450" spc="-95" dirty="0">
                <a:latin typeface="Symbol"/>
                <a:cs typeface="Symbol"/>
              </a:rPr>
              <a:t></a:t>
            </a:r>
            <a:r>
              <a:rPr sz="2450" spc="-95" dirty="0">
                <a:latin typeface="Times New Roman"/>
                <a:cs typeface="Times New Roman"/>
              </a:rPr>
              <a:t>	</a:t>
            </a:r>
            <a:r>
              <a:rPr sz="5550" spc="-825" baseline="-7507" dirty="0">
                <a:latin typeface="Symbol"/>
                <a:cs typeface="Symbol"/>
              </a:rPr>
              <a:t></a:t>
            </a:r>
            <a:r>
              <a:rPr sz="5550" spc="-817" baseline="-7507" dirty="0">
                <a:latin typeface="Times New Roman"/>
                <a:cs typeface="Times New Roman"/>
              </a:rPr>
              <a:t> </a:t>
            </a:r>
            <a:r>
              <a:rPr sz="2450" spc="-20" dirty="0">
                <a:latin typeface="Arial"/>
                <a:cs typeface="Arial"/>
              </a:rPr>
              <a:t>log</a:t>
            </a:r>
            <a:r>
              <a:rPr sz="2450" spc="-310" dirty="0">
                <a:latin typeface="Arial"/>
                <a:cs typeface="Arial"/>
              </a:rPr>
              <a:t> </a:t>
            </a:r>
            <a:r>
              <a:rPr sz="3675" spc="-277" baseline="3401" dirty="0">
                <a:latin typeface="Symbol"/>
                <a:cs typeface="Symbol"/>
              </a:rPr>
              <a:t></a:t>
            </a:r>
            <a:r>
              <a:rPr sz="3675" spc="-277" baseline="-19274" dirty="0">
                <a:latin typeface="Symbol"/>
                <a:cs typeface="Symbol"/>
              </a:rPr>
              <a:t>⎝</a:t>
            </a:r>
            <a:r>
              <a:rPr sz="2450" i="1" spc="-185" dirty="0">
                <a:latin typeface="Arial"/>
                <a:cs typeface="Arial"/>
              </a:rPr>
              <a:t>n</a:t>
            </a:r>
            <a:r>
              <a:rPr sz="2450" i="1" spc="-155" dirty="0">
                <a:latin typeface="Arial"/>
                <a:cs typeface="Arial"/>
              </a:rPr>
              <a:t> </a:t>
            </a:r>
            <a:r>
              <a:rPr sz="2450" spc="5" dirty="0">
                <a:latin typeface="Arial"/>
                <a:cs typeface="Arial"/>
              </a:rPr>
              <a:t>/</a:t>
            </a:r>
            <a:r>
              <a:rPr sz="2450" spc="-85" dirty="0">
                <a:latin typeface="Arial"/>
                <a:cs typeface="Arial"/>
              </a:rPr>
              <a:t> 2</a:t>
            </a:r>
            <a:r>
              <a:rPr sz="3675" spc="-127" baseline="3401" dirty="0">
                <a:latin typeface="Symbol"/>
                <a:cs typeface="Symbol"/>
              </a:rPr>
              <a:t></a:t>
            </a:r>
            <a:r>
              <a:rPr sz="3675" spc="-127" baseline="-19274" dirty="0">
                <a:latin typeface="Symbol"/>
                <a:cs typeface="Symbol"/>
              </a:rPr>
              <a:t></a:t>
            </a:r>
            <a:r>
              <a:rPr sz="3675" spc="-120" baseline="-19274" dirty="0">
                <a:latin typeface="Times New Roman"/>
                <a:cs typeface="Times New Roman"/>
              </a:rPr>
              <a:t> </a:t>
            </a:r>
            <a:r>
              <a:rPr sz="2450" spc="40" dirty="0">
                <a:latin typeface="Symbol"/>
                <a:cs typeface="Symbol"/>
              </a:rPr>
              <a:t></a:t>
            </a:r>
            <a:r>
              <a:rPr sz="2450" spc="40" dirty="0">
                <a:latin typeface="Arial"/>
                <a:cs typeface="Arial"/>
              </a:rPr>
              <a:t>(</a:t>
            </a:r>
            <a:r>
              <a:rPr sz="2450" i="1" spc="40" dirty="0">
                <a:latin typeface="Arial"/>
                <a:cs typeface="Arial"/>
              </a:rPr>
              <a:t>n</a:t>
            </a:r>
            <a:r>
              <a:rPr sz="2450" i="1" spc="-409" dirty="0">
                <a:latin typeface="Arial"/>
                <a:cs typeface="Arial"/>
              </a:rPr>
              <a:t> </a:t>
            </a:r>
            <a:r>
              <a:rPr sz="2450" spc="-20" dirty="0">
                <a:latin typeface="Arial"/>
                <a:cs typeface="Arial"/>
              </a:rPr>
              <a:t>log</a:t>
            </a:r>
            <a:r>
              <a:rPr sz="2450" spc="-415" dirty="0">
                <a:latin typeface="Arial"/>
                <a:cs typeface="Arial"/>
              </a:rPr>
              <a:t> </a:t>
            </a:r>
            <a:r>
              <a:rPr sz="2450" i="1" spc="5" dirty="0">
                <a:latin typeface="Arial"/>
                <a:cs typeface="Arial"/>
              </a:rPr>
              <a:t>n</a:t>
            </a:r>
            <a:r>
              <a:rPr sz="2450" spc="5" dirty="0"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71395" y="5062994"/>
            <a:ext cx="8133715" cy="145859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970405">
              <a:lnSpc>
                <a:spcPct val="100000"/>
              </a:lnSpc>
              <a:spcBef>
                <a:spcPts val="380"/>
              </a:spcBef>
              <a:tabLst>
                <a:tab pos="3263265" algn="l"/>
              </a:tabLst>
            </a:pP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spc="-175" dirty="0">
                <a:latin typeface="Arial"/>
                <a:cs typeface="Arial"/>
              </a:rPr>
              <a:t> </a:t>
            </a:r>
            <a:r>
              <a:rPr sz="1400" spc="35" dirty="0">
                <a:latin typeface="Symbol"/>
                <a:cs typeface="Symbol"/>
              </a:rPr>
              <a:t></a:t>
            </a:r>
            <a:r>
              <a:rPr sz="1400" spc="35" dirty="0">
                <a:latin typeface="Arial"/>
                <a:cs typeface="Arial"/>
              </a:rPr>
              <a:t>1	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spc="-175" dirty="0">
                <a:latin typeface="Arial"/>
                <a:cs typeface="Arial"/>
              </a:rPr>
              <a:t> </a:t>
            </a:r>
            <a:r>
              <a:rPr sz="1400" spc="35" dirty="0">
                <a:latin typeface="Symbol"/>
                <a:cs typeface="Symbol"/>
              </a:rPr>
              <a:t></a:t>
            </a:r>
            <a:r>
              <a:rPr sz="1400" spc="35" dirty="0">
                <a:latin typeface="Arial"/>
                <a:cs typeface="Arial"/>
              </a:rPr>
              <a:t>1</a:t>
            </a:r>
            <a:endParaRPr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2450" spc="-15" dirty="0">
                <a:latin typeface="Arial"/>
                <a:cs typeface="Arial"/>
              </a:rPr>
              <a:t>Thus</a:t>
            </a:r>
            <a:r>
              <a:rPr sz="2450" spc="-20" dirty="0">
                <a:latin typeface="Arial"/>
                <a:cs typeface="Arial"/>
              </a:rPr>
              <a:t> </a:t>
            </a:r>
            <a:r>
              <a:rPr sz="2450" i="1" spc="10" dirty="0">
                <a:latin typeface="Arial"/>
                <a:cs typeface="Arial"/>
              </a:rPr>
              <a:t>T</a:t>
            </a:r>
            <a:r>
              <a:rPr sz="2450" i="1" spc="-455" dirty="0">
                <a:latin typeface="Arial"/>
                <a:cs typeface="Arial"/>
              </a:rPr>
              <a:t> </a:t>
            </a:r>
            <a:r>
              <a:rPr sz="2450" dirty="0">
                <a:latin typeface="Arial"/>
                <a:cs typeface="Arial"/>
              </a:rPr>
              <a:t>(</a:t>
            </a:r>
            <a:r>
              <a:rPr sz="2450" i="1" dirty="0">
                <a:latin typeface="Arial"/>
                <a:cs typeface="Arial"/>
              </a:rPr>
              <a:t>n</a:t>
            </a:r>
            <a:r>
              <a:rPr sz="2450" dirty="0">
                <a:latin typeface="Arial"/>
                <a:cs typeface="Arial"/>
              </a:rPr>
              <a:t>)</a:t>
            </a:r>
            <a:r>
              <a:rPr sz="2450" spc="-215" dirty="0">
                <a:latin typeface="Arial"/>
                <a:cs typeface="Arial"/>
              </a:rPr>
              <a:t> </a:t>
            </a:r>
            <a:r>
              <a:rPr sz="2450" spc="40" dirty="0">
                <a:latin typeface="Symbol"/>
                <a:cs typeface="Symbol"/>
              </a:rPr>
              <a:t></a:t>
            </a:r>
            <a:r>
              <a:rPr sz="2450" spc="40" dirty="0">
                <a:latin typeface="Arial"/>
                <a:cs typeface="Arial"/>
              </a:rPr>
              <a:t>(</a:t>
            </a:r>
            <a:r>
              <a:rPr sz="2450" i="1" spc="40" dirty="0">
                <a:latin typeface="Arial"/>
                <a:cs typeface="Arial"/>
              </a:rPr>
              <a:t>n</a:t>
            </a:r>
            <a:r>
              <a:rPr sz="2450" i="1" spc="-409" dirty="0">
                <a:latin typeface="Arial"/>
                <a:cs typeface="Arial"/>
              </a:rPr>
              <a:t> </a:t>
            </a:r>
            <a:r>
              <a:rPr sz="2450" spc="-20" dirty="0">
                <a:latin typeface="Arial"/>
                <a:cs typeface="Arial"/>
              </a:rPr>
              <a:t>log</a:t>
            </a:r>
            <a:r>
              <a:rPr sz="2450" spc="-409" dirty="0">
                <a:latin typeface="Arial"/>
                <a:cs typeface="Arial"/>
              </a:rPr>
              <a:t> </a:t>
            </a:r>
            <a:r>
              <a:rPr sz="2450" i="1" spc="5" dirty="0">
                <a:latin typeface="Arial"/>
                <a:cs typeface="Arial"/>
              </a:rPr>
              <a:t>n</a:t>
            </a:r>
            <a:r>
              <a:rPr sz="2450" spc="5" dirty="0">
                <a:latin typeface="Arial"/>
                <a:cs typeface="Arial"/>
              </a:rPr>
              <a:t>)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600" dirty="0">
              <a:latin typeface="Arial"/>
              <a:cs typeface="Arial"/>
            </a:endParaRPr>
          </a:p>
          <a:p>
            <a:pPr marL="57785">
              <a:lnSpc>
                <a:spcPct val="100000"/>
              </a:lnSpc>
            </a:pPr>
            <a:r>
              <a:rPr sz="2400" b="1" dirty="0">
                <a:solidFill>
                  <a:srgbClr val="941300"/>
                </a:solidFill>
                <a:latin typeface="Arial"/>
                <a:cs typeface="Arial"/>
              </a:rPr>
              <a:t>Thus MergeSort </a:t>
            </a:r>
            <a:r>
              <a:rPr sz="2400" b="1" spc="-5" dirty="0">
                <a:solidFill>
                  <a:srgbClr val="941300"/>
                </a:solidFill>
                <a:latin typeface="Arial"/>
                <a:cs typeface="Arial"/>
              </a:rPr>
              <a:t>&amp; </a:t>
            </a:r>
            <a:r>
              <a:rPr sz="2400" b="1" dirty="0">
                <a:solidFill>
                  <a:srgbClr val="941300"/>
                </a:solidFill>
                <a:latin typeface="Arial"/>
                <a:cs typeface="Arial"/>
              </a:rPr>
              <a:t>HeapSort </a:t>
            </a:r>
            <a:r>
              <a:rPr sz="2400" b="1" spc="-5" dirty="0">
                <a:solidFill>
                  <a:srgbClr val="941300"/>
                </a:solidFill>
                <a:latin typeface="Arial"/>
                <a:cs typeface="Arial"/>
              </a:rPr>
              <a:t>are </a:t>
            </a:r>
            <a:r>
              <a:rPr sz="2400" b="1" dirty="0">
                <a:solidFill>
                  <a:srgbClr val="941300"/>
                </a:solidFill>
                <a:latin typeface="Arial"/>
                <a:cs typeface="Arial"/>
              </a:rPr>
              <a:t>asymptotically</a:t>
            </a:r>
            <a:r>
              <a:rPr sz="2400" b="1" spc="-70" dirty="0">
                <a:solidFill>
                  <a:srgbClr val="9413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941300"/>
                </a:solidFill>
                <a:latin typeface="Arial"/>
                <a:cs typeface="Arial"/>
              </a:rPr>
              <a:t>optimal.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5039" y="758520"/>
            <a:ext cx="7880984" cy="3504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1145" algn="ctr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solidFill>
                  <a:srgbClr val="941300"/>
                </a:solidFill>
                <a:latin typeface="Arial"/>
                <a:cs typeface="Arial"/>
              </a:rPr>
              <a:t>Comparison Sort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4650">
              <a:latin typeface="Arial"/>
              <a:cs typeface="Arial"/>
            </a:endParaRPr>
          </a:p>
          <a:p>
            <a:pPr marL="393700" marR="43180" indent="-342900">
              <a:lnSpc>
                <a:spcPct val="100699"/>
              </a:lnSpc>
              <a:buClr>
                <a:srgbClr val="941300"/>
              </a:buClr>
              <a:buFont typeface="Wingdings"/>
              <a:buChar char=""/>
              <a:tabLst>
                <a:tab pos="393700" algn="l"/>
              </a:tabLst>
            </a:pPr>
            <a:r>
              <a:rPr sz="2400" spc="-5" dirty="0">
                <a:latin typeface="Arial"/>
                <a:cs typeface="Arial"/>
              </a:rPr>
              <a:t>To store n! external nodes, a decision tree must have a  height </a:t>
            </a:r>
            <a:r>
              <a:rPr sz="2400" dirty="0">
                <a:latin typeface="Arial"/>
                <a:cs typeface="Arial"/>
              </a:rPr>
              <a:t>of at </a:t>
            </a:r>
            <a:r>
              <a:rPr sz="2400" spc="-5" dirty="0">
                <a:latin typeface="Arial"/>
                <a:cs typeface="Arial"/>
              </a:rPr>
              <a:t>least </a:t>
            </a:r>
            <a:r>
              <a:rPr sz="3450" spc="-307" baseline="3623" dirty="0">
                <a:latin typeface="Symbol"/>
                <a:cs typeface="Symbol"/>
              </a:rPr>
              <a:t></a:t>
            </a:r>
            <a:r>
              <a:rPr sz="3450" spc="-307" baseline="-18115" dirty="0">
                <a:latin typeface="Symbol"/>
                <a:cs typeface="Symbol"/>
              </a:rPr>
              <a:t></a:t>
            </a:r>
            <a:r>
              <a:rPr sz="3450" spc="-307" baseline="1207" dirty="0">
                <a:latin typeface="Arial"/>
                <a:cs typeface="Arial"/>
              </a:rPr>
              <a:t>log</a:t>
            </a:r>
            <a:r>
              <a:rPr sz="3450" spc="-427" baseline="1207" dirty="0">
                <a:latin typeface="Arial"/>
                <a:cs typeface="Arial"/>
              </a:rPr>
              <a:t> </a:t>
            </a:r>
            <a:r>
              <a:rPr sz="3450" i="1" spc="-44" baseline="1207" dirty="0">
                <a:latin typeface="Arial"/>
                <a:cs typeface="Arial"/>
              </a:rPr>
              <a:t>n</a:t>
            </a:r>
            <a:r>
              <a:rPr sz="3450" spc="-44" baseline="1207" dirty="0">
                <a:latin typeface="Arial"/>
                <a:cs typeface="Arial"/>
              </a:rPr>
              <a:t>!</a:t>
            </a:r>
            <a:r>
              <a:rPr sz="3450" spc="-44" baseline="3623" dirty="0">
                <a:latin typeface="Symbol"/>
                <a:cs typeface="Symbol"/>
              </a:rPr>
              <a:t></a:t>
            </a:r>
            <a:r>
              <a:rPr sz="3450" spc="-44" baseline="-18115" dirty="0">
                <a:latin typeface="Symbol"/>
                <a:cs typeface="Symbol"/>
              </a:rPr>
              <a:t></a:t>
            </a:r>
            <a:endParaRPr sz="3450" baseline="-18115">
              <a:latin typeface="Symbol"/>
              <a:cs typeface="Symbol"/>
            </a:endParaRPr>
          </a:p>
          <a:p>
            <a:pPr marL="393700" marR="619125" indent="-342900">
              <a:lnSpc>
                <a:spcPts val="2860"/>
              </a:lnSpc>
              <a:spcBef>
                <a:spcPts val="1575"/>
              </a:spcBef>
              <a:buClr>
                <a:srgbClr val="941300"/>
              </a:buClr>
              <a:buFont typeface="Wingdings"/>
              <a:buChar char=""/>
              <a:tabLst>
                <a:tab pos="393700" algn="l"/>
              </a:tabLst>
            </a:pPr>
            <a:r>
              <a:rPr sz="2400" spc="-5" dirty="0">
                <a:latin typeface="Arial"/>
                <a:cs typeface="Arial"/>
              </a:rPr>
              <a:t>Worst-case time is equal to the height of the </a:t>
            </a:r>
            <a:r>
              <a:rPr sz="2400" spc="-10" dirty="0">
                <a:latin typeface="Arial"/>
                <a:cs typeface="Arial"/>
              </a:rPr>
              <a:t>binary  </a:t>
            </a:r>
            <a:r>
              <a:rPr sz="2400" spc="-5" dirty="0">
                <a:latin typeface="Arial"/>
                <a:cs typeface="Arial"/>
              </a:rPr>
              <a:t>decision tree.</a:t>
            </a:r>
            <a:endParaRPr sz="2400">
              <a:latin typeface="Arial"/>
              <a:cs typeface="Arial"/>
            </a:endParaRPr>
          </a:p>
          <a:p>
            <a:pPr marL="428625">
              <a:lnSpc>
                <a:spcPct val="100000"/>
              </a:lnSpc>
              <a:spcBef>
                <a:spcPts val="229"/>
              </a:spcBef>
            </a:pPr>
            <a:r>
              <a:rPr sz="2450" spc="-15" dirty="0">
                <a:latin typeface="Arial"/>
                <a:cs typeface="Arial"/>
              </a:rPr>
              <a:t>Thus</a:t>
            </a:r>
            <a:r>
              <a:rPr sz="2450" spc="-20" dirty="0">
                <a:latin typeface="Arial"/>
                <a:cs typeface="Arial"/>
              </a:rPr>
              <a:t> </a:t>
            </a:r>
            <a:r>
              <a:rPr sz="2450" i="1" spc="10" dirty="0">
                <a:latin typeface="Arial"/>
                <a:cs typeface="Arial"/>
              </a:rPr>
              <a:t>T</a:t>
            </a:r>
            <a:r>
              <a:rPr sz="2450" i="1" spc="-455" dirty="0">
                <a:latin typeface="Arial"/>
                <a:cs typeface="Arial"/>
              </a:rPr>
              <a:t> </a:t>
            </a:r>
            <a:r>
              <a:rPr sz="2450" dirty="0">
                <a:latin typeface="Arial"/>
                <a:cs typeface="Arial"/>
              </a:rPr>
              <a:t>(</a:t>
            </a:r>
            <a:r>
              <a:rPr sz="2450" i="1" dirty="0">
                <a:latin typeface="Arial"/>
                <a:cs typeface="Arial"/>
              </a:rPr>
              <a:t>n</a:t>
            </a:r>
            <a:r>
              <a:rPr sz="2450" dirty="0">
                <a:latin typeface="Arial"/>
                <a:cs typeface="Arial"/>
              </a:rPr>
              <a:t>)</a:t>
            </a:r>
            <a:r>
              <a:rPr sz="2450" spc="-215" dirty="0">
                <a:latin typeface="Arial"/>
                <a:cs typeface="Arial"/>
              </a:rPr>
              <a:t> </a:t>
            </a:r>
            <a:r>
              <a:rPr sz="2450" spc="5" dirty="0">
                <a:latin typeface="Symbol"/>
                <a:cs typeface="Symbol"/>
              </a:rPr>
              <a:t></a:t>
            </a:r>
            <a:r>
              <a:rPr sz="6075" spc="7" baseline="-4115" dirty="0">
                <a:latin typeface="Symbol"/>
                <a:cs typeface="Symbol"/>
              </a:rPr>
              <a:t></a:t>
            </a:r>
            <a:r>
              <a:rPr sz="2450" spc="5" dirty="0">
                <a:latin typeface="Arial"/>
                <a:cs typeface="Arial"/>
              </a:rPr>
              <a:t>log</a:t>
            </a:r>
            <a:r>
              <a:rPr sz="2450" spc="-409" dirty="0">
                <a:latin typeface="Arial"/>
                <a:cs typeface="Arial"/>
              </a:rPr>
              <a:t> </a:t>
            </a:r>
            <a:r>
              <a:rPr sz="2450" i="1" spc="-125" dirty="0">
                <a:latin typeface="Arial"/>
                <a:cs typeface="Arial"/>
              </a:rPr>
              <a:t>n</a:t>
            </a:r>
            <a:r>
              <a:rPr sz="2450" spc="-125" dirty="0">
                <a:latin typeface="Arial"/>
                <a:cs typeface="Arial"/>
              </a:rPr>
              <a:t>!</a:t>
            </a:r>
            <a:r>
              <a:rPr sz="6075" spc="-187" baseline="-4115" dirty="0">
                <a:latin typeface="Symbol"/>
                <a:cs typeface="Symbol"/>
              </a:rPr>
              <a:t></a:t>
            </a:r>
            <a:endParaRPr sz="6075" baseline="-4115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8AA96CE8-0D8A-71BD-A8B7-DB278E9F0A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A4F6D6-2E60-431B-865F-E1C4E6A85C61}" type="slidenum">
              <a:rPr lang="en-US" altLang="en-US"/>
              <a:pPr/>
              <a:t>84</a:t>
            </a:fld>
            <a:endParaRPr lang="en-US" altLang="en-US"/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A2C1CA4B-CD95-612F-D597-E98A17348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© 2006 Pearson Addison-Wesley. All rights reserved</a:t>
            </a:r>
          </a:p>
        </p:txBody>
      </p:sp>
      <p:sp>
        <p:nvSpPr>
          <p:cNvPr id="162818" name="Rectangle 2">
            <a:extLst>
              <a:ext uri="{FF2B5EF4-FFF2-40B4-BE49-F238E27FC236}">
                <a16:creationId xmlns:a16="http://schemas.microsoft.com/office/drawing/2014/main" id="{1AAD9AE5-5E0E-2B4B-0E16-96956DF4D6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901" y="776235"/>
            <a:ext cx="8298180" cy="492443"/>
          </a:xfrm>
        </p:spPr>
        <p:txBody>
          <a:bodyPr/>
          <a:lstStyle/>
          <a:p>
            <a:r>
              <a:rPr lang="en-US" altLang="en-US" dirty="0"/>
              <a:t>Searching and Sorting</a:t>
            </a:r>
          </a:p>
        </p:txBody>
      </p:sp>
      <p:sp>
        <p:nvSpPr>
          <p:cNvPr id="162819" name="Rectangle 3">
            <a:extLst>
              <a:ext uri="{FF2B5EF4-FFF2-40B4-BE49-F238E27FC236}">
                <a16:creationId xmlns:a16="http://schemas.microsoft.com/office/drawing/2014/main" id="{F2561D87-70FE-B1F1-1A69-9FC58462F64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86740" y="2107823"/>
            <a:ext cx="8884920" cy="1461297"/>
          </a:xfrm>
        </p:spPr>
        <p:txBody>
          <a:bodyPr/>
          <a:lstStyle/>
          <a:p>
            <a:pPr>
              <a:lnSpc>
                <a:spcPct val="105000"/>
              </a:lnSpc>
            </a:pPr>
            <a:r>
              <a:rPr lang="en-US" altLang="en-US" sz="3080" b="1" dirty="0"/>
              <a:t>Linear Search      </a:t>
            </a:r>
          </a:p>
          <a:p>
            <a:pPr>
              <a:lnSpc>
                <a:spcPct val="105000"/>
              </a:lnSpc>
            </a:pPr>
            <a:r>
              <a:rPr lang="en-US" altLang="en-US" sz="3080" b="1" dirty="0"/>
              <a:t>Binary Search</a:t>
            </a:r>
            <a:br>
              <a:rPr lang="en-US" altLang="en-US" sz="3080" b="1" dirty="0"/>
            </a:br>
            <a:endParaRPr lang="en-US" altLang="en-US" sz="3080" b="1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F86F74F8-C399-0F18-941B-A137A14711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D7E5DA-B090-4529-BB9B-1BA2EA3D48F7}" type="slidenum">
              <a:rPr lang="en-US" altLang="en-US"/>
              <a:pPr/>
              <a:t>85</a:t>
            </a:fld>
            <a:endParaRPr lang="en-US" altLang="en-US"/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310C2F3D-B611-52C0-0689-EFBD89FF9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© 2006 Pearson Addison-Wesley. All rights reserved</a:t>
            </a:r>
          </a:p>
        </p:txBody>
      </p:sp>
      <p:sp>
        <p:nvSpPr>
          <p:cNvPr id="163842" name="Rectangle 2">
            <a:extLst>
              <a:ext uri="{FF2B5EF4-FFF2-40B4-BE49-F238E27FC236}">
                <a16:creationId xmlns:a16="http://schemas.microsoft.com/office/drawing/2014/main" id="{65BE0A49-12C1-D1D4-425E-8676EB2671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9153" y="560993"/>
            <a:ext cx="8298180" cy="492443"/>
          </a:xfrm>
        </p:spPr>
        <p:txBody>
          <a:bodyPr/>
          <a:lstStyle/>
          <a:p>
            <a:r>
              <a:rPr lang="en-US" altLang="en-US" dirty="0"/>
              <a:t>Linear Search</a:t>
            </a:r>
          </a:p>
        </p:txBody>
      </p:sp>
      <p:sp>
        <p:nvSpPr>
          <p:cNvPr id="163843" name="Rectangle 3">
            <a:extLst>
              <a:ext uri="{FF2B5EF4-FFF2-40B4-BE49-F238E27FC236}">
                <a16:creationId xmlns:a16="http://schemas.microsoft.com/office/drawing/2014/main" id="{16A89A3D-264E-7E9D-83E0-EAC1AAB7B7F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25333" y="1600200"/>
            <a:ext cx="8465820" cy="4137799"/>
          </a:xfrm>
        </p:spPr>
        <p:txBody>
          <a:bodyPr/>
          <a:lstStyle/>
          <a:p>
            <a:pPr>
              <a:lnSpc>
                <a:spcPct val="115000"/>
              </a:lnSpc>
            </a:pPr>
            <a:r>
              <a:rPr lang="en-US" altLang="en-US" sz="2640" dirty="0">
                <a:solidFill>
                  <a:srgbClr val="000000"/>
                </a:solidFill>
                <a:cs typeface="Arial" panose="020B0604020202020204" pitchFamily="34" charset="0"/>
              </a:rPr>
              <a:t>Searching is the process of determining whether or not a given value exists in a data structure or a storage media.</a:t>
            </a:r>
          </a:p>
          <a:p>
            <a:pPr>
              <a:lnSpc>
                <a:spcPct val="115000"/>
              </a:lnSpc>
            </a:pPr>
            <a:r>
              <a:rPr lang="en-US" altLang="en-US" sz="2640" dirty="0">
                <a:solidFill>
                  <a:srgbClr val="000000"/>
                </a:solidFill>
              </a:rPr>
              <a:t> </a:t>
            </a:r>
            <a:r>
              <a:rPr lang="en-US" altLang="en-US" sz="2640" dirty="0">
                <a:solidFill>
                  <a:srgbClr val="000000"/>
                </a:solidFill>
                <a:cs typeface="Arial" panose="020B0604020202020204" pitchFamily="34" charset="0"/>
              </a:rPr>
              <a:t>We discuss two searching methods on one-dimensional arrays: linear search and binary search.</a:t>
            </a:r>
          </a:p>
          <a:p>
            <a:pPr>
              <a:lnSpc>
                <a:spcPct val="115000"/>
              </a:lnSpc>
            </a:pPr>
            <a:r>
              <a:rPr lang="en-US" altLang="en-US" sz="2640" dirty="0">
                <a:solidFill>
                  <a:srgbClr val="000000"/>
                </a:solidFill>
                <a:cs typeface="Arial" panose="020B0604020202020204" pitchFamily="34" charset="0"/>
              </a:rPr>
              <a:t>The linear (or sequential) search algorithm on an array is:</a:t>
            </a:r>
          </a:p>
          <a:p>
            <a:pPr lvl="1">
              <a:lnSpc>
                <a:spcPct val="115000"/>
              </a:lnSpc>
            </a:pPr>
            <a:r>
              <a:rPr lang="en-US" altLang="en-US" sz="1760" dirty="0">
                <a:solidFill>
                  <a:srgbClr val="000000"/>
                </a:solidFill>
                <a:cs typeface="Arial" panose="020B0604020202020204" pitchFamily="34" charset="0"/>
              </a:rPr>
              <a:t>Sequentially scan the array, comparing each array item with the searched value.</a:t>
            </a:r>
          </a:p>
          <a:p>
            <a:pPr lvl="1">
              <a:lnSpc>
                <a:spcPct val="115000"/>
              </a:lnSpc>
            </a:pPr>
            <a:r>
              <a:rPr lang="en-US" altLang="en-US" sz="1760" dirty="0">
                <a:solidFill>
                  <a:srgbClr val="000000"/>
                </a:solidFill>
                <a:cs typeface="Arial" panose="020B0604020202020204" pitchFamily="34" charset="0"/>
              </a:rPr>
              <a:t>If a match is found; return the index of the matched element; otherwise return –1.</a:t>
            </a:r>
          </a:p>
          <a:p>
            <a:pPr>
              <a:lnSpc>
                <a:spcPct val="115000"/>
              </a:lnSpc>
            </a:pPr>
            <a:r>
              <a:rPr lang="en-US" altLang="en-US" sz="2420" dirty="0">
                <a:solidFill>
                  <a:srgbClr val="000000"/>
                </a:solidFill>
                <a:cs typeface="Arial" panose="020B0604020202020204" pitchFamily="34" charset="0"/>
              </a:rPr>
              <a:t>Note: linear search can be applied to both sorted and unsorted arrays.</a:t>
            </a:r>
          </a:p>
          <a:p>
            <a:pPr>
              <a:lnSpc>
                <a:spcPct val="115000"/>
              </a:lnSpc>
            </a:pPr>
            <a:endParaRPr lang="en-US" altLang="en-US" sz="198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E3062B2F-1DD6-F73A-A088-167FD74A0F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C37A98-C531-4609-AE76-BA3CA1146AEA}" type="slidenum">
              <a:rPr lang="en-US" altLang="en-US"/>
              <a:pPr/>
              <a:t>86</a:t>
            </a:fld>
            <a:endParaRPr lang="en-US" altLang="en-US"/>
          </a:p>
        </p:txBody>
      </p:sp>
      <p:sp>
        <p:nvSpPr>
          <p:cNvPr id="261122" name="Rectangle 2">
            <a:extLst>
              <a:ext uri="{FF2B5EF4-FFF2-40B4-BE49-F238E27FC236}">
                <a16:creationId xmlns:a16="http://schemas.microsoft.com/office/drawing/2014/main" id="{A797FB77-87F6-6472-7CCD-D110FCA29F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15779" y="516837"/>
            <a:ext cx="8298180" cy="492443"/>
          </a:xfrm>
        </p:spPr>
        <p:txBody>
          <a:bodyPr/>
          <a:lstStyle/>
          <a:p>
            <a:r>
              <a:rPr lang="en-US" altLang="en-US" dirty="0"/>
              <a:t>Linear Search</a:t>
            </a:r>
          </a:p>
        </p:txBody>
      </p:sp>
      <p:sp>
        <p:nvSpPr>
          <p:cNvPr id="261123" name="Rectangle 3">
            <a:extLst>
              <a:ext uri="{FF2B5EF4-FFF2-40B4-BE49-F238E27FC236}">
                <a16:creationId xmlns:a16="http://schemas.microsoft.com/office/drawing/2014/main" id="{76B1E8A2-980C-CA5E-79EE-5AC9F7E7429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036320"/>
            <a:ext cx="8968740" cy="6503127"/>
          </a:xfrm>
        </p:spPr>
        <p:txBody>
          <a:bodyPr/>
          <a:lstStyle/>
          <a:p>
            <a:pPr>
              <a:lnSpc>
                <a:spcPct val="115000"/>
              </a:lnSpc>
            </a:pPr>
            <a:r>
              <a:rPr lang="en-US" altLang="en-US" sz="2640" dirty="0">
                <a:solidFill>
                  <a:srgbClr val="000000"/>
                </a:solidFill>
                <a:cs typeface="Arial" panose="020B0604020202020204" pitchFamily="34" charset="0"/>
              </a:rPr>
              <a:t>The algorithm translates to the following C method:</a:t>
            </a:r>
          </a:p>
          <a:p>
            <a:pPr>
              <a:lnSpc>
                <a:spcPct val="115000"/>
              </a:lnSpc>
            </a:pPr>
            <a:r>
              <a:rPr lang="en-US" altLang="en-US" sz="2640" dirty="0">
                <a:solidFill>
                  <a:srgbClr val="000000"/>
                </a:solidFill>
              </a:rPr>
              <a:t>// Linear Search in C</a:t>
            </a:r>
          </a:p>
          <a:p>
            <a:pPr>
              <a:lnSpc>
                <a:spcPct val="115000"/>
              </a:lnSpc>
            </a:pPr>
            <a:endParaRPr lang="en-US" altLang="en-US" sz="2640" dirty="0">
              <a:solidFill>
                <a:srgbClr val="000000"/>
              </a:solidFill>
            </a:endParaRPr>
          </a:p>
          <a:p>
            <a:pPr>
              <a:lnSpc>
                <a:spcPct val="115000"/>
              </a:lnSpc>
            </a:pPr>
            <a:r>
              <a:rPr lang="en-US" altLang="en-US" sz="2640" dirty="0">
                <a:solidFill>
                  <a:srgbClr val="000000"/>
                </a:solidFill>
              </a:rPr>
              <a:t>#include &lt;</a:t>
            </a:r>
            <a:r>
              <a:rPr lang="en-US" altLang="en-US" sz="2640" dirty="0" err="1">
                <a:solidFill>
                  <a:srgbClr val="000000"/>
                </a:solidFill>
              </a:rPr>
              <a:t>stdio.h</a:t>
            </a:r>
            <a:r>
              <a:rPr lang="en-US" altLang="en-US" sz="2640" dirty="0">
                <a:solidFill>
                  <a:srgbClr val="000000"/>
                </a:solidFill>
              </a:rPr>
              <a:t>&gt;</a:t>
            </a:r>
          </a:p>
          <a:p>
            <a:pPr>
              <a:lnSpc>
                <a:spcPct val="115000"/>
              </a:lnSpc>
            </a:pPr>
            <a:endParaRPr lang="en-US" altLang="en-US" sz="2640" dirty="0">
              <a:solidFill>
                <a:srgbClr val="000000"/>
              </a:solidFill>
            </a:endParaRPr>
          </a:p>
          <a:p>
            <a:pPr>
              <a:lnSpc>
                <a:spcPct val="115000"/>
              </a:lnSpc>
            </a:pPr>
            <a:r>
              <a:rPr lang="en-US" altLang="en-US" sz="2640" dirty="0">
                <a:solidFill>
                  <a:srgbClr val="000000"/>
                </a:solidFill>
              </a:rPr>
              <a:t>int search(int array[], int n, int x) {</a:t>
            </a:r>
          </a:p>
          <a:p>
            <a:pPr>
              <a:lnSpc>
                <a:spcPct val="115000"/>
              </a:lnSpc>
            </a:pPr>
            <a:r>
              <a:rPr lang="en-US" altLang="en-US" sz="2640" dirty="0">
                <a:solidFill>
                  <a:srgbClr val="000000"/>
                </a:solidFill>
              </a:rPr>
              <a:t>  </a:t>
            </a:r>
          </a:p>
          <a:p>
            <a:pPr>
              <a:lnSpc>
                <a:spcPct val="115000"/>
              </a:lnSpc>
            </a:pPr>
            <a:r>
              <a:rPr lang="en-US" altLang="en-US" sz="2640" dirty="0">
                <a:solidFill>
                  <a:srgbClr val="000000"/>
                </a:solidFill>
              </a:rPr>
              <a:t>  // Going through array </a:t>
            </a:r>
            <a:r>
              <a:rPr lang="en-US" altLang="en-US" sz="2640" dirty="0" err="1">
                <a:solidFill>
                  <a:srgbClr val="000000"/>
                </a:solidFill>
              </a:rPr>
              <a:t>sequencially</a:t>
            </a:r>
            <a:endParaRPr lang="en-US" altLang="en-US" sz="2640" dirty="0">
              <a:solidFill>
                <a:srgbClr val="000000"/>
              </a:solidFill>
            </a:endParaRPr>
          </a:p>
          <a:p>
            <a:pPr>
              <a:lnSpc>
                <a:spcPct val="115000"/>
              </a:lnSpc>
            </a:pPr>
            <a:r>
              <a:rPr lang="en-US" altLang="en-US" sz="2640" dirty="0">
                <a:solidFill>
                  <a:srgbClr val="000000"/>
                </a:solidFill>
              </a:rPr>
              <a:t>  for (int </a:t>
            </a:r>
            <a:r>
              <a:rPr lang="en-US" altLang="en-US" sz="2640" dirty="0" err="1">
                <a:solidFill>
                  <a:srgbClr val="000000"/>
                </a:solidFill>
              </a:rPr>
              <a:t>i</a:t>
            </a:r>
            <a:r>
              <a:rPr lang="en-US" altLang="en-US" sz="2640" dirty="0">
                <a:solidFill>
                  <a:srgbClr val="000000"/>
                </a:solidFill>
              </a:rPr>
              <a:t> = 0; </a:t>
            </a:r>
            <a:r>
              <a:rPr lang="en-US" altLang="en-US" sz="2640" dirty="0" err="1">
                <a:solidFill>
                  <a:srgbClr val="000000"/>
                </a:solidFill>
              </a:rPr>
              <a:t>i</a:t>
            </a:r>
            <a:r>
              <a:rPr lang="en-US" altLang="en-US" sz="2640" dirty="0">
                <a:solidFill>
                  <a:srgbClr val="000000"/>
                </a:solidFill>
              </a:rPr>
              <a:t> &lt; n; </a:t>
            </a:r>
            <a:r>
              <a:rPr lang="en-US" altLang="en-US" sz="2640" dirty="0" err="1">
                <a:solidFill>
                  <a:srgbClr val="000000"/>
                </a:solidFill>
              </a:rPr>
              <a:t>i</a:t>
            </a:r>
            <a:r>
              <a:rPr lang="en-US" altLang="en-US" sz="2640" dirty="0">
                <a:solidFill>
                  <a:srgbClr val="000000"/>
                </a:solidFill>
              </a:rPr>
              <a:t>++)</a:t>
            </a:r>
          </a:p>
          <a:p>
            <a:pPr>
              <a:lnSpc>
                <a:spcPct val="115000"/>
              </a:lnSpc>
            </a:pPr>
            <a:r>
              <a:rPr lang="en-US" altLang="en-US" sz="2640" dirty="0">
                <a:solidFill>
                  <a:srgbClr val="000000"/>
                </a:solidFill>
              </a:rPr>
              <a:t>    if (array[</a:t>
            </a:r>
            <a:r>
              <a:rPr lang="en-US" altLang="en-US" sz="2640" dirty="0" err="1">
                <a:solidFill>
                  <a:srgbClr val="000000"/>
                </a:solidFill>
              </a:rPr>
              <a:t>i</a:t>
            </a:r>
            <a:r>
              <a:rPr lang="en-US" altLang="en-US" sz="2640" dirty="0">
                <a:solidFill>
                  <a:srgbClr val="000000"/>
                </a:solidFill>
              </a:rPr>
              <a:t>] == x)</a:t>
            </a:r>
          </a:p>
          <a:p>
            <a:pPr>
              <a:lnSpc>
                <a:spcPct val="115000"/>
              </a:lnSpc>
            </a:pPr>
            <a:r>
              <a:rPr lang="en-US" altLang="en-US" sz="2640" dirty="0">
                <a:solidFill>
                  <a:srgbClr val="000000"/>
                </a:solidFill>
              </a:rPr>
              <a:t>      return </a:t>
            </a:r>
            <a:r>
              <a:rPr lang="en-US" altLang="en-US" sz="2640" dirty="0" err="1">
                <a:solidFill>
                  <a:srgbClr val="000000"/>
                </a:solidFill>
              </a:rPr>
              <a:t>i</a:t>
            </a:r>
            <a:r>
              <a:rPr lang="en-US" altLang="en-US" sz="2640" dirty="0">
                <a:solidFill>
                  <a:srgbClr val="000000"/>
                </a:solidFill>
              </a:rPr>
              <a:t>;</a:t>
            </a:r>
          </a:p>
          <a:p>
            <a:pPr>
              <a:lnSpc>
                <a:spcPct val="115000"/>
              </a:lnSpc>
            </a:pPr>
            <a:r>
              <a:rPr lang="en-US" altLang="en-US" sz="2640" dirty="0">
                <a:solidFill>
                  <a:srgbClr val="000000"/>
                </a:solidFill>
              </a:rPr>
              <a:t>  return -1;</a:t>
            </a:r>
          </a:p>
          <a:p>
            <a:pPr>
              <a:lnSpc>
                <a:spcPct val="115000"/>
              </a:lnSpc>
            </a:pPr>
            <a:r>
              <a:rPr lang="en-US" altLang="en-US" sz="2640" dirty="0">
                <a:solidFill>
                  <a:srgbClr val="000000"/>
                </a:solidFill>
              </a:rPr>
              <a:t>}</a:t>
            </a:r>
          </a:p>
          <a:p>
            <a:pPr>
              <a:lnSpc>
                <a:spcPct val="115000"/>
              </a:lnSpc>
            </a:pPr>
            <a:endParaRPr lang="en-US" altLang="en-US" sz="264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E3062B2F-1DD6-F73A-A088-167FD74A0F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C37A98-C531-4609-AE76-BA3CA1146AEA}" type="slidenum">
              <a:rPr lang="en-US" altLang="en-US"/>
              <a:pPr/>
              <a:t>87</a:t>
            </a:fld>
            <a:endParaRPr lang="en-US" altLang="en-US"/>
          </a:p>
        </p:txBody>
      </p:sp>
      <p:sp>
        <p:nvSpPr>
          <p:cNvPr id="261122" name="Rectangle 2">
            <a:extLst>
              <a:ext uri="{FF2B5EF4-FFF2-40B4-BE49-F238E27FC236}">
                <a16:creationId xmlns:a16="http://schemas.microsoft.com/office/drawing/2014/main" id="{A797FB77-87F6-6472-7CCD-D110FCA29F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5840" y="654264"/>
            <a:ext cx="8298180" cy="492443"/>
          </a:xfrm>
        </p:spPr>
        <p:txBody>
          <a:bodyPr/>
          <a:lstStyle/>
          <a:p>
            <a:r>
              <a:rPr lang="en-US" altLang="en-US" dirty="0"/>
              <a:t>Linear Search</a:t>
            </a:r>
          </a:p>
        </p:txBody>
      </p:sp>
      <p:sp>
        <p:nvSpPr>
          <p:cNvPr id="261123" name="Rectangle 3">
            <a:extLst>
              <a:ext uri="{FF2B5EF4-FFF2-40B4-BE49-F238E27FC236}">
                <a16:creationId xmlns:a16="http://schemas.microsoft.com/office/drawing/2014/main" id="{76B1E8A2-980C-CA5E-79EE-5AC9F7E7429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54380" y="1849755"/>
            <a:ext cx="8968740" cy="5420138"/>
          </a:xfrm>
        </p:spPr>
        <p:txBody>
          <a:bodyPr/>
          <a:lstStyle/>
          <a:p>
            <a:pPr>
              <a:lnSpc>
                <a:spcPct val="115000"/>
              </a:lnSpc>
            </a:pPr>
            <a:r>
              <a:rPr lang="en-US" altLang="en-US" sz="2640" dirty="0">
                <a:solidFill>
                  <a:srgbClr val="000000"/>
                </a:solidFill>
              </a:rPr>
              <a:t>int main() {</a:t>
            </a:r>
          </a:p>
          <a:p>
            <a:pPr>
              <a:lnSpc>
                <a:spcPct val="115000"/>
              </a:lnSpc>
            </a:pPr>
            <a:r>
              <a:rPr lang="en-US" altLang="en-US" sz="2640" dirty="0">
                <a:solidFill>
                  <a:srgbClr val="000000"/>
                </a:solidFill>
              </a:rPr>
              <a:t>  int array[] = {2, 4, 0, 1, 9};</a:t>
            </a:r>
          </a:p>
          <a:p>
            <a:pPr>
              <a:lnSpc>
                <a:spcPct val="115000"/>
              </a:lnSpc>
            </a:pPr>
            <a:r>
              <a:rPr lang="en-US" altLang="en-US" sz="2640" dirty="0">
                <a:solidFill>
                  <a:srgbClr val="000000"/>
                </a:solidFill>
              </a:rPr>
              <a:t>  int x = 1;</a:t>
            </a:r>
          </a:p>
          <a:p>
            <a:pPr>
              <a:lnSpc>
                <a:spcPct val="115000"/>
              </a:lnSpc>
            </a:pPr>
            <a:r>
              <a:rPr lang="en-US" altLang="en-US" sz="2640" dirty="0">
                <a:solidFill>
                  <a:srgbClr val="000000"/>
                </a:solidFill>
              </a:rPr>
              <a:t>  int n = </a:t>
            </a:r>
            <a:r>
              <a:rPr lang="en-US" altLang="en-US" sz="2640" dirty="0" err="1">
                <a:solidFill>
                  <a:srgbClr val="000000"/>
                </a:solidFill>
              </a:rPr>
              <a:t>sizeof</a:t>
            </a:r>
            <a:r>
              <a:rPr lang="en-US" altLang="en-US" sz="2640" dirty="0">
                <a:solidFill>
                  <a:srgbClr val="000000"/>
                </a:solidFill>
              </a:rPr>
              <a:t>(array) / </a:t>
            </a:r>
            <a:r>
              <a:rPr lang="en-US" altLang="en-US" sz="2640" dirty="0" err="1">
                <a:solidFill>
                  <a:srgbClr val="000000"/>
                </a:solidFill>
              </a:rPr>
              <a:t>sizeof</a:t>
            </a:r>
            <a:r>
              <a:rPr lang="en-US" altLang="en-US" sz="2640" dirty="0">
                <a:solidFill>
                  <a:srgbClr val="000000"/>
                </a:solidFill>
              </a:rPr>
              <a:t>(array[0]);</a:t>
            </a:r>
          </a:p>
          <a:p>
            <a:pPr>
              <a:lnSpc>
                <a:spcPct val="115000"/>
              </a:lnSpc>
            </a:pPr>
            <a:endParaRPr lang="en-US" altLang="en-US" sz="2640" dirty="0">
              <a:solidFill>
                <a:srgbClr val="000000"/>
              </a:solidFill>
            </a:endParaRPr>
          </a:p>
          <a:p>
            <a:pPr>
              <a:lnSpc>
                <a:spcPct val="115000"/>
              </a:lnSpc>
            </a:pPr>
            <a:r>
              <a:rPr lang="en-US" altLang="en-US" sz="2640" dirty="0">
                <a:solidFill>
                  <a:srgbClr val="000000"/>
                </a:solidFill>
              </a:rPr>
              <a:t>  int result = search(array, n, x);</a:t>
            </a:r>
          </a:p>
          <a:p>
            <a:pPr>
              <a:lnSpc>
                <a:spcPct val="115000"/>
              </a:lnSpc>
            </a:pPr>
            <a:endParaRPr lang="en-US" altLang="en-US" sz="2640" dirty="0">
              <a:solidFill>
                <a:srgbClr val="000000"/>
              </a:solidFill>
            </a:endParaRPr>
          </a:p>
          <a:p>
            <a:pPr>
              <a:lnSpc>
                <a:spcPct val="115000"/>
              </a:lnSpc>
            </a:pPr>
            <a:r>
              <a:rPr lang="en-US" altLang="en-US" sz="2640" dirty="0">
                <a:solidFill>
                  <a:srgbClr val="000000"/>
                </a:solidFill>
              </a:rPr>
              <a:t>  (result == -1) ? </a:t>
            </a:r>
            <a:r>
              <a:rPr lang="en-US" altLang="en-US" sz="2640" dirty="0" err="1">
                <a:solidFill>
                  <a:srgbClr val="000000"/>
                </a:solidFill>
              </a:rPr>
              <a:t>printf</a:t>
            </a:r>
            <a:r>
              <a:rPr lang="en-US" altLang="en-US" sz="2640" dirty="0">
                <a:solidFill>
                  <a:srgbClr val="000000"/>
                </a:solidFill>
              </a:rPr>
              <a:t>("Element not found") : </a:t>
            </a:r>
            <a:r>
              <a:rPr lang="en-US" altLang="en-US" sz="2640" dirty="0" err="1">
                <a:solidFill>
                  <a:srgbClr val="000000"/>
                </a:solidFill>
              </a:rPr>
              <a:t>printf</a:t>
            </a:r>
            <a:r>
              <a:rPr lang="en-US" altLang="en-US" sz="2640" dirty="0">
                <a:solidFill>
                  <a:srgbClr val="000000"/>
                </a:solidFill>
              </a:rPr>
              <a:t>("Element found at index: %d", result);</a:t>
            </a:r>
          </a:p>
          <a:p>
            <a:pPr>
              <a:lnSpc>
                <a:spcPct val="115000"/>
              </a:lnSpc>
            </a:pPr>
            <a:r>
              <a:rPr lang="en-US" altLang="en-US" sz="2640" dirty="0">
                <a:solidFill>
                  <a:srgbClr val="000000"/>
                </a:solidFill>
              </a:rPr>
              <a:t>}</a:t>
            </a:r>
          </a:p>
          <a:p>
            <a:pPr lvl="1" algn="just">
              <a:lnSpc>
                <a:spcPct val="115000"/>
              </a:lnSpc>
              <a:buFontTx/>
              <a:buNone/>
            </a:pPr>
            <a:endParaRPr lang="en-US" altLang="en-US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pPr>
              <a:lnSpc>
                <a:spcPct val="115000"/>
              </a:lnSpc>
            </a:pPr>
            <a:endParaRPr lang="en-US" altLang="en-US" sz="264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568538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5233B15-6531-136C-07EC-B697F3958C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034CA1"/>
                </a:solidFill>
                <a:latin typeface="+mj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9pPr>
          </a:lstStyle>
          <a:p>
            <a:fld id="{C1C0529C-EEB9-4F63-9670-6D9946A41E95}" type="slidenum">
              <a:rPr lang="en-US" altLang="en-US" smtClean="0"/>
              <a:pPr/>
              <a:t>88</a:t>
            </a:fld>
            <a:endParaRPr lang="en-US" altLang="en-US"/>
          </a:p>
        </p:txBody>
      </p:sp>
      <p:sp>
        <p:nvSpPr>
          <p:cNvPr id="201730" name="Rectangle 2">
            <a:extLst>
              <a:ext uri="{FF2B5EF4-FFF2-40B4-BE49-F238E27FC236}">
                <a16:creationId xmlns:a16="http://schemas.microsoft.com/office/drawing/2014/main" id="{208DAB36-3286-270F-8DCF-CCDE763970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28300" y="637222"/>
            <a:ext cx="3486900" cy="984885"/>
          </a:xfrm>
        </p:spPr>
        <p:txBody>
          <a:bodyPr/>
          <a:lstStyle/>
          <a:p>
            <a:r>
              <a:rPr lang="en-US" altLang="en-US" dirty="0"/>
              <a:t>Binary Search</a:t>
            </a:r>
          </a:p>
        </p:txBody>
      </p:sp>
      <p:sp>
        <p:nvSpPr>
          <p:cNvPr id="201731" name="Rectangle 3">
            <a:extLst>
              <a:ext uri="{FF2B5EF4-FFF2-40B4-BE49-F238E27FC236}">
                <a16:creationId xmlns:a16="http://schemas.microsoft.com/office/drawing/2014/main" id="{17F57992-2663-A43B-90B8-F5BCA97435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828800"/>
            <a:ext cx="7359395" cy="371736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3080" dirty="0"/>
              <a:t>Binary search uses a recursive method to search an array to find a specified value</a:t>
            </a:r>
          </a:p>
          <a:p>
            <a:pPr>
              <a:lnSpc>
                <a:spcPct val="90000"/>
              </a:lnSpc>
            </a:pPr>
            <a:r>
              <a:rPr lang="en-US" altLang="en-US" sz="3080" dirty="0"/>
              <a:t>The array must be a sorted array: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640" b="1" dirty="0">
                <a:solidFill>
                  <a:srgbClr val="034CA1"/>
                </a:solidFill>
                <a:latin typeface="Courier New" panose="02070309020205020404" pitchFamily="49" charset="0"/>
              </a:rPr>
              <a:t>a[0]</a:t>
            </a:r>
            <a:r>
              <a:rPr lang="en-US" altLang="en-US" sz="2640" b="1" dirty="0">
                <a:solidFill>
                  <a:srgbClr val="034CA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≤</a:t>
            </a:r>
            <a:r>
              <a:rPr lang="en-US" altLang="en-US" sz="2640" b="1" dirty="0">
                <a:solidFill>
                  <a:srgbClr val="034CA1"/>
                </a:solidFill>
                <a:latin typeface="Courier New" panose="02070309020205020404" pitchFamily="49" charset="0"/>
              </a:rPr>
              <a:t>a[1]</a:t>
            </a:r>
            <a:r>
              <a:rPr lang="en-US" altLang="en-US" sz="2640" b="1" dirty="0">
                <a:solidFill>
                  <a:srgbClr val="034CA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≤</a:t>
            </a:r>
            <a:r>
              <a:rPr lang="en-US" altLang="en-US" sz="2640" b="1" dirty="0">
                <a:solidFill>
                  <a:srgbClr val="034CA1"/>
                </a:solidFill>
                <a:latin typeface="Courier New" panose="02070309020205020404" pitchFamily="49" charset="0"/>
              </a:rPr>
              <a:t>a[2]</a:t>
            </a:r>
            <a:r>
              <a:rPr lang="en-US" altLang="en-US" sz="2640" b="1" dirty="0">
                <a:solidFill>
                  <a:srgbClr val="034CA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≤</a:t>
            </a:r>
            <a:r>
              <a:rPr lang="en-US" altLang="en-US" sz="2640" b="1" dirty="0">
                <a:solidFill>
                  <a:srgbClr val="034CA1"/>
                </a:solidFill>
                <a:latin typeface="Courier New" panose="02070309020205020404" pitchFamily="49" charset="0"/>
              </a:rPr>
              <a:t>. . . </a:t>
            </a:r>
            <a:r>
              <a:rPr lang="en-US" altLang="en-US" sz="2640" b="1" dirty="0">
                <a:solidFill>
                  <a:srgbClr val="034CA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≤</a:t>
            </a:r>
            <a:r>
              <a:rPr lang="en-US" altLang="en-US" sz="2640" b="1" dirty="0">
                <a:solidFill>
                  <a:srgbClr val="034CA1"/>
                </a:solidFill>
                <a:latin typeface="Courier New" panose="02070309020205020404" pitchFamily="49" charset="0"/>
              </a:rPr>
              <a:t>  a[</a:t>
            </a:r>
            <a:r>
              <a:rPr lang="en-US" altLang="en-US" sz="2640" b="1" dirty="0" err="1">
                <a:solidFill>
                  <a:srgbClr val="034CA1"/>
                </a:solidFill>
                <a:latin typeface="Courier New" panose="02070309020205020404" pitchFamily="49" charset="0"/>
              </a:rPr>
              <a:t>finalIndex</a:t>
            </a:r>
            <a:r>
              <a:rPr lang="en-US" altLang="en-US" sz="2640" b="1" dirty="0">
                <a:solidFill>
                  <a:srgbClr val="034CA1"/>
                </a:solidFill>
                <a:latin typeface="Courier New" panose="02070309020205020404" pitchFamily="49" charset="0"/>
              </a:rPr>
              <a:t>]</a:t>
            </a:r>
            <a:endParaRPr lang="en-US" altLang="en-US" sz="2640" b="1" dirty="0"/>
          </a:p>
          <a:p>
            <a:pPr>
              <a:lnSpc>
                <a:spcPct val="90000"/>
              </a:lnSpc>
            </a:pPr>
            <a:r>
              <a:rPr lang="en-US" altLang="en-US" sz="3080" dirty="0"/>
              <a:t>If the value is found, its index is returned</a:t>
            </a:r>
          </a:p>
          <a:p>
            <a:pPr>
              <a:lnSpc>
                <a:spcPct val="90000"/>
              </a:lnSpc>
            </a:pPr>
            <a:r>
              <a:rPr lang="en-US" altLang="en-US" sz="3080" dirty="0"/>
              <a:t>If the value is not found, -1 is returned</a:t>
            </a:r>
          </a:p>
          <a:p>
            <a:pPr>
              <a:lnSpc>
                <a:spcPct val="90000"/>
              </a:lnSpc>
            </a:pPr>
            <a:r>
              <a:rPr lang="en-US" altLang="en-US" sz="3080" dirty="0"/>
              <a:t>Note:  Each execution of the recursive method reduces the search space by about a half</a:t>
            </a:r>
          </a:p>
        </p:txBody>
      </p:sp>
    </p:spTree>
  </p:cSld>
  <p:clrMapOvr>
    <a:masterClrMapping/>
  </p:clrMapOvr>
  <p:transition spd="med">
    <p:wipe dir="r"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04B4D53F-D80F-FA59-CC72-6BC15693A4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034CA1"/>
                </a:solidFill>
                <a:latin typeface="+mj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9pPr>
          </a:lstStyle>
          <a:p>
            <a:fld id="{C1C0529C-EEB9-4F63-9670-6D9946A41E95}" type="slidenum">
              <a:rPr lang="en-US" altLang="en-US" smtClean="0"/>
              <a:pPr/>
              <a:t>89</a:t>
            </a:fld>
            <a:endParaRPr lang="en-US" altLang="en-US"/>
          </a:p>
        </p:txBody>
      </p:sp>
      <p:sp>
        <p:nvSpPr>
          <p:cNvPr id="203778" name="Rectangle 2">
            <a:extLst>
              <a:ext uri="{FF2B5EF4-FFF2-40B4-BE49-F238E27FC236}">
                <a16:creationId xmlns:a16="http://schemas.microsoft.com/office/drawing/2014/main" id="{8185542E-217D-AC11-087F-C0D056787B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28300" y="637222"/>
            <a:ext cx="3029700" cy="984885"/>
          </a:xfrm>
        </p:spPr>
        <p:txBody>
          <a:bodyPr/>
          <a:lstStyle/>
          <a:p>
            <a:r>
              <a:rPr lang="en-US" altLang="en-US" dirty="0" err="1"/>
              <a:t>BinarySearch</a:t>
            </a:r>
            <a:endParaRPr lang="en-US" altLang="en-US" dirty="0"/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04E07B3C-FB02-3F2A-97AE-AE24CAB46B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640087"/>
            <a:ext cx="7359395" cy="3520964"/>
          </a:xfrm>
        </p:spPr>
        <p:txBody>
          <a:bodyPr/>
          <a:lstStyle/>
          <a:p>
            <a:r>
              <a:rPr lang="en-US" altLang="en-US" sz="3080" dirty="0"/>
              <a:t>An algorithm to solve this task looks at the middle of the array or array segment first</a:t>
            </a:r>
          </a:p>
          <a:p>
            <a:r>
              <a:rPr lang="en-US" altLang="en-US" sz="3080" dirty="0"/>
              <a:t>If the value looked for is smaller than the value in the middle of the array</a:t>
            </a:r>
          </a:p>
          <a:p>
            <a:pPr lvl="1"/>
            <a:r>
              <a:rPr lang="en-US" altLang="en-US" sz="2640" dirty="0"/>
              <a:t>Then the second half of the array or array segment can be ignored</a:t>
            </a:r>
          </a:p>
          <a:p>
            <a:pPr lvl="1"/>
            <a:r>
              <a:rPr lang="en-US" altLang="en-US" sz="2640" dirty="0"/>
              <a:t>This strategy is then applied to the first half of the array or array segment</a:t>
            </a:r>
          </a:p>
        </p:txBody>
      </p:sp>
    </p:spTree>
  </p:cSld>
  <p:clrMapOvr>
    <a:masterClrMapping/>
  </p:clrMapOvr>
  <p:transition spd="med">
    <p:wipe dir="r"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F4C4352-5F45-9DD1-D57A-52870BE217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034CA1"/>
                </a:solidFill>
                <a:latin typeface="+mj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9pPr>
          </a:lstStyle>
          <a:p>
            <a:fld id="{C1C0529C-EEB9-4F63-9670-6D9946A41E95}" type="slidenum">
              <a:rPr lang="en-US" altLang="en-US" smtClean="0"/>
              <a:pPr/>
              <a:t>90</a:t>
            </a:fld>
            <a:endParaRPr lang="en-US" altLang="en-US"/>
          </a:p>
        </p:txBody>
      </p:sp>
      <p:sp>
        <p:nvSpPr>
          <p:cNvPr id="205826" name="Rectangle 2">
            <a:extLst>
              <a:ext uri="{FF2B5EF4-FFF2-40B4-BE49-F238E27FC236}">
                <a16:creationId xmlns:a16="http://schemas.microsoft.com/office/drawing/2014/main" id="{224E66E0-5432-D62F-4413-D79C662211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28300" y="637222"/>
            <a:ext cx="3791700" cy="984885"/>
          </a:xfrm>
        </p:spPr>
        <p:txBody>
          <a:bodyPr/>
          <a:lstStyle/>
          <a:p>
            <a:r>
              <a:rPr lang="en-US" altLang="en-US" dirty="0"/>
              <a:t>Binary Search</a:t>
            </a:r>
          </a:p>
        </p:txBody>
      </p:sp>
      <p:sp>
        <p:nvSpPr>
          <p:cNvPr id="205827" name="Rectangle 3">
            <a:extLst>
              <a:ext uri="{FF2B5EF4-FFF2-40B4-BE49-F238E27FC236}">
                <a16:creationId xmlns:a16="http://schemas.microsoft.com/office/drawing/2014/main" id="{1B9B1E55-9192-39FC-0E13-6F3A0C002C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2137699"/>
            <a:ext cx="7359395" cy="3778086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640" dirty="0"/>
              <a:t>If the value looked for is larger than the value in the middle of the array or array segment</a:t>
            </a:r>
          </a:p>
          <a:p>
            <a:pPr lvl="1">
              <a:lnSpc>
                <a:spcPct val="90000"/>
              </a:lnSpc>
            </a:pPr>
            <a:r>
              <a:rPr lang="en-US" altLang="en-US" sz="2200" dirty="0"/>
              <a:t>Then the first half of the array or array segment can be ignored</a:t>
            </a:r>
          </a:p>
          <a:p>
            <a:pPr lvl="1">
              <a:lnSpc>
                <a:spcPct val="90000"/>
              </a:lnSpc>
            </a:pPr>
            <a:r>
              <a:rPr lang="en-US" altLang="en-US" sz="2200" dirty="0"/>
              <a:t>This strategy is then applied to the second half of the array or array segment</a:t>
            </a:r>
          </a:p>
          <a:p>
            <a:pPr>
              <a:lnSpc>
                <a:spcPct val="90000"/>
              </a:lnSpc>
            </a:pPr>
            <a:r>
              <a:rPr lang="en-US" altLang="en-US" sz="2640" dirty="0"/>
              <a:t>If the value looked for is at the middle of the array or array segment, then it has been found</a:t>
            </a:r>
          </a:p>
          <a:p>
            <a:pPr>
              <a:lnSpc>
                <a:spcPct val="90000"/>
              </a:lnSpc>
            </a:pPr>
            <a:r>
              <a:rPr lang="en-US" altLang="en-US" sz="2640" dirty="0"/>
              <a:t>If the entire array (or array segment) has been searched in this way without finding the value, then it is not in the array</a:t>
            </a:r>
          </a:p>
        </p:txBody>
      </p:sp>
    </p:spTree>
  </p:cSld>
  <p:clrMapOvr>
    <a:masterClrMapping/>
  </p:clrMapOvr>
  <p:transition spd="med">
    <p:wipe dir="r"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7A9A74B-09A0-E08B-4F11-2C7289BFED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034CA1"/>
                </a:solidFill>
                <a:latin typeface="+mj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9pPr>
          </a:lstStyle>
          <a:p>
            <a:fld id="{C1C0529C-EEB9-4F63-9670-6D9946A41E95}" type="slidenum">
              <a:rPr lang="en-US" altLang="en-US" smtClean="0"/>
              <a:pPr/>
              <a:t>91</a:t>
            </a:fld>
            <a:endParaRPr lang="en-US" altLang="en-US"/>
          </a:p>
        </p:txBody>
      </p:sp>
      <p:sp>
        <p:nvSpPr>
          <p:cNvPr id="207874" name="Rectangle 2">
            <a:extLst>
              <a:ext uri="{FF2B5EF4-FFF2-40B4-BE49-F238E27FC236}">
                <a16:creationId xmlns:a16="http://schemas.microsoft.com/office/drawing/2014/main" id="{0FC1D4B9-640B-3C45-82F9-F14DF98687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43200" y="637222"/>
            <a:ext cx="6477000" cy="1477328"/>
          </a:xfrm>
        </p:spPr>
        <p:txBody>
          <a:bodyPr/>
          <a:lstStyle/>
          <a:p>
            <a:r>
              <a:rPr lang="en-US" altLang="en-US" dirty="0"/>
              <a:t>Pseudocode for Binary Search</a:t>
            </a:r>
          </a:p>
        </p:txBody>
      </p:sp>
      <p:pic>
        <p:nvPicPr>
          <p:cNvPr id="207875" name="Picture 3">
            <a:extLst>
              <a:ext uri="{FF2B5EF4-FFF2-40B4-BE49-F238E27FC236}">
                <a16:creationId xmlns:a16="http://schemas.microsoft.com/office/drawing/2014/main" id="{55D7679F-FAE2-13CB-9268-733FC3C61E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660" y="1382078"/>
            <a:ext cx="8245793" cy="5605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wipe dir="r"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A24DC9D-4B79-75FD-BA34-08B5BA727C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034CA1"/>
                </a:solidFill>
                <a:latin typeface="+mj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9pPr>
          </a:lstStyle>
          <a:p>
            <a:fld id="{C1C0529C-EEB9-4F63-9670-6D9946A41E95}" type="slidenum">
              <a:rPr lang="en-US" altLang="en-US" smtClean="0"/>
              <a:pPr/>
              <a:t>92</a:t>
            </a:fld>
            <a:endParaRPr lang="en-US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F6BA4C0-1C60-5B50-3FE8-32171192A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28600" y="6497638"/>
            <a:ext cx="6019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34CA1"/>
                </a:solidFill>
                <a:latin typeface="Times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/>
              <a:t>© 2006 Pearson Addison-Wesley. All rights reserved</a:t>
            </a:r>
          </a:p>
        </p:txBody>
      </p:sp>
      <p:sp>
        <p:nvSpPr>
          <p:cNvPr id="209922" name="Rectangle 2">
            <a:extLst>
              <a:ext uri="{FF2B5EF4-FFF2-40B4-BE49-F238E27FC236}">
                <a16:creationId xmlns:a16="http://schemas.microsoft.com/office/drawing/2014/main" id="{E013AB5A-D45B-1FF9-1855-10C300CA33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637222"/>
            <a:ext cx="7391400" cy="1039178"/>
          </a:xfrm>
        </p:spPr>
        <p:txBody>
          <a:bodyPr/>
          <a:lstStyle/>
          <a:p>
            <a:r>
              <a:rPr lang="en-US" altLang="en-US" dirty="0"/>
              <a:t>Recursive Method for Binary Search</a:t>
            </a:r>
          </a:p>
        </p:txBody>
      </p:sp>
      <p:pic>
        <p:nvPicPr>
          <p:cNvPr id="209923" name="Picture 3">
            <a:extLst>
              <a:ext uri="{FF2B5EF4-FFF2-40B4-BE49-F238E27FC236}">
                <a16:creationId xmlns:a16="http://schemas.microsoft.com/office/drawing/2014/main" id="{92E50075-341D-AD0A-41ED-F46FAAC8C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660" y="1175862"/>
            <a:ext cx="8134033" cy="629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BD0876E7-6311-D656-95AB-C947EC33A8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034CA1"/>
                </a:solidFill>
                <a:latin typeface="+mj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9pPr>
          </a:lstStyle>
          <a:p>
            <a:fld id="{C1C0529C-EEB9-4F63-9670-6D9946A41E95}" type="slidenum">
              <a:rPr lang="en-US" altLang="en-US" smtClean="0"/>
              <a:pPr/>
              <a:t>93</a:t>
            </a:fld>
            <a:endParaRPr lang="en-US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299C484-A843-8FF7-54C8-AF7909412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28600" y="6497638"/>
            <a:ext cx="6019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34CA1"/>
                </a:solidFill>
                <a:latin typeface="Times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/>
              <a:t>© 2006 Pearson Addison-Wesley. All rights reserved</a:t>
            </a:r>
          </a:p>
        </p:txBody>
      </p:sp>
      <p:sp>
        <p:nvSpPr>
          <p:cNvPr id="211970" name="Rectangle 2">
            <a:extLst>
              <a:ext uri="{FF2B5EF4-FFF2-40B4-BE49-F238E27FC236}">
                <a16:creationId xmlns:a16="http://schemas.microsoft.com/office/drawing/2014/main" id="{CEC9D412-141C-5B20-2915-2993746607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11130" y="815244"/>
            <a:ext cx="2641978" cy="2166747"/>
          </a:xfrm>
        </p:spPr>
        <p:txBody>
          <a:bodyPr/>
          <a:lstStyle/>
          <a:p>
            <a:r>
              <a:rPr lang="en-US" altLang="en-US" sz="3520"/>
              <a:t>Execution of the Method </a:t>
            </a:r>
            <a:r>
              <a:rPr lang="en-US" altLang="en-US" sz="3520" b="1">
                <a:latin typeface="Courier New" panose="02070309020205020404" pitchFamily="49" charset="0"/>
              </a:rPr>
              <a:t>search</a:t>
            </a:r>
            <a:r>
              <a:rPr lang="en-US" altLang="en-US" sz="3520" b="1"/>
              <a:t> </a:t>
            </a:r>
            <a:br>
              <a:rPr lang="en-US" altLang="en-US" sz="3520"/>
            </a:br>
            <a:r>
              <a:rPr lang="en-US" altLang="en-US" sz="3520"/>
              <a:t>(Part 1 of 2)</a:t>
            </a:r>
            <a:endParaRPr lang="en-US" altLang="en-US" sz="3520">
              <a:latin typeface="Courier New" panose="02070309020205020404" pitchFamily="49" charset="0"/>
            </a:endParaRPr>
          </a:p>
        </p:txBody>
      </p:sp>
      <p:pic>
        <p:nvPicPr>
          <p:cNvPr id="211971" name="Picture 3">
            <a:extLst>
              <a:ext uri="{FF2B5EF4-FFF2-40B4-BE49-F238E27FC236}">
                <a16:creationId xmlns:a16="http://schemas.microsoft.com/office/drawing/2014/main" id="{8ABABF3A-4193-A35C-DA94-3529A0531E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660" y="1455420"/>
            <a:ext cx="8287703" cy="5186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wipe dir="r"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51CE637-9B6E-3BC5-270E-3012F03085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034CA1"/>
                </a:solidFill>
                <a:latin typeface="+mj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9pPr>
          </a:lstStyle>
          <a:p>
            <a:fld id="{C1C0529C-EEB9-4F63-9670-6D9946A41E95}" type="slidenum">
              <a:rPr lang="en-US" altLang="en-US" smtClean="0"/>
              <a:pPr/>
              <a:t>94</a:t>
            </a:fld>
            <a:endParaRPr lang="en-US" altLang="en-US"/>
          </a:p>
        </p:txBody>
      </p:sp>
      <p:sp>
        <p:nvSpPr>
          <p:cNvPr id="214018" name="Rectangle 2">
            <a:extLst>
              <a:ext uri="{FF2B5EF4-FFF2-40B4-BE49-F238E27FC236}">
                <a16:creationId xmlns:a16="http://schemas.microsoft.com/office/drawing/2014/main" id="{D22CCFF4-F5F3-BEF2-38DA-E8B9FAC5E7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62200" y="815245"/>
            <a:ext cx="6705600" cy="784956"/>
          </a:xfrm>
        </p:spPr>
        <p:txBody>
          <a:bodyPr/>
          <a:lstStyle/>
          <a:p>
            <a:r>
              <a:rPr lang="en-US" altLang="en-US" sz="3520" dirty="0"/>
              <a:t>Execution of the Method </a:t>
            </a:r>
            <a:r>
              <a:rPr lang="en-US" altLang="en-US" sz="3520" b="1" dirty="0">
                <a:latin typeface="Courier New" panose="02070309020205020404" pitchFamily="49" charset="0"/>
              </a:rPr>
              <a:t>search</a:t>
            </a:r>
            <a:br>
              <a:rPr lang="en-US" altLang="en-US" sz="3520" dirty="0"/>
            </a:br>
            <a:r>
              <a:rPr lang="en-US" altLang="en-US" sz="3520" dirty="0"/>
              <a:t>(Part 1 of 2)</a:t>
            </a:r>
          </a:p>
        </p:txBody>
      </p:sp>
      <p:pic>
        <p:nvPicPr>
          <p:cNvPr id="214019" name="Picture 3">
            <a:extLst>
              <a:ext uri="{FF2B5EF4-FFF2-40B4-BE49-F238E27FC236}">
                <a16:creationId xmlns:a16="http://schemas.microsoft.com/office/drawing/2014/main" id="{C7C2758A-A864-ADB8-14C8-62B152A87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660" y="1455420"/>
            <a:ext cx="8266748" cy="5416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wipe dir="r"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A8C39A55-91F1-C37F-41BC-8D525ABB67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034CA1"/>
                </a:solidFill>
                <a:latin typeface="+mj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9pPr>
          </a:lstStyle>
          <a:p>
            <a:fld id="{C1C0529C-EEB9-4F63-9670-6D9946A41E95}" type="slidenum">
              <a:rPr lang="en-US" altLang="en-US" smtClean="0"/>
              <a:pPr/>
              <a:t>95</a:t>
            </a:fld>
            <a:endParaRPr lang="en-US" altLang="en-US"/>
          </a:p>
        </p:txBody>
      </p:sp>
      <p:sp>
        <p:nvSpPr>
          <p:cNvPr id="216066" name="Rectangle 2">
            <a:extLst>
              <a:ext uri="{FF2B5EF4-FFF2-40B4-BE49-F238E27FC236}">
                <a16:creationId xmlns:a16="http://schemas.microsoft.com/office/drawing/2014/main" id="{1398A0E2-7F74-9FF4-AD3A-4CDFA6063F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7400" y="637222"/>
            <a:ext cx="7010400" cy="1267778"/>
          </a:xfrm>
        </p:spPr>
        <p:txBody>
          <a:bodyPr/>
          <a:lstStyle/>
          <a:p>
            <a:r>
              <a:rPr lang="en-US" altLang="en-US" dirty="0"/>
              <a:t>Checking the </a:t>
            </a:r>
            <a:r>
              <a:rPr lang="en-US" altLang="en-US" b="1" dirty="0">
                <a:latin typeface="Courier New" panose="02070309020205020404" pitchFamily="49" charset="0"/>
              </a:rPr>
              <a:t>search</a:t>
            </a:r>
            <a:r>
              <a:rPr lang="en-US" altLang="en-US" dirty="0"/>
              <a:t> Method</a:t>
            </a:r>
          </a:p>
        </p:txBody>
      </p:sp>
      <p:sp>
        <p:nvSpPr>
          <p:cNvPr id="216067" name="Rectangle 3">
            <a:extLst>
              <a:ext uri="{FF2B5EF4-FFF2-40B4-BE49-F238E27FC236}">
                <a16:creationId xmlns:a16="http://schemas.microsoft.com/office/drawing/2014/main" id="{B40F1827-6C70-3249-CAD6-DDFF38FE21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0600" y="2133600"/>
            <a:ext cx="7359395" cy="3674852"/>
          </a:xfrm>
        </p:spPr>
        <p:txBody>
          <a:bodyPr/>
          <a:lstStyle/>
          <a:p>
            <a:pPr marL="670560" indent="-670560">
              <a:buFontTx/>
              <a:buAutoNum type="arabicPeriod"/>
            </a:pPr>
            <a:r>
              <a:rPr lang="en-US" altLang="en-US" dirty="0"/>
              <a:t>There is no infinite recursion</a:t>
            </a:r>
          </a:p>
          <a:p>
            <a:pPr marL="1089660" lvl="1" indent="-586740">
              <a:buFontTx/>
              <a:buChar char="•"/>
            </a:pPr>
            <a:r>
              <a:rPr lang="en-US" altLang="en-US" dirty="0"/>
              <a:t>On each recursive call, the value of </a:t>
            </a:r>
            <a:r>
              <a:rPr lang="en-US" altLang="en-US" b="1" dirty="0">
                <a:solidFill>
                  <a:srgbClr val="034CA1"/>
                </a:solidFill>
                <a:latin typeface="Courier New" panose="02070309020205020404" pitchFamily="49" charset="0"/>
              </a:rPr>
              <a:t>first</a:t>
            </a:r>
            <a:r>
              <a:rPr lang="en-US" altLang="en-US" dirty="0"/>
              <a:t> is increased, or the value of </a:t>
            </a:r>
            <a:r>
              <a:rPr lang="en-US" altLang="en-US" b="1" dirty="0">
                <a:solidFill>
                  <a:srgbClr val="034CA1"/>
                </a:solidFill>
                <a:latin typeface="Courier New" panose="02070309020205020404" pitchFamily="49" charset="0"/>
              </a:rPr>
              <a:t>last</a:t>
            </a:r>
            <a:r>
              <a:rPr lang="en-US" altLang="en-US" dirty="0"/>
              <a:t> is decreased</a:t>
            </a:r>
          </a:p>
          <a:p>
            <a:pPr marL="1089660" lvl="1" indent="-586740">
              <a:buFontTx/>
              <a:buChar char="•"/>
            </a:pPr>
            <a:r>
              <a:rPr lang="en-US" altLang="en-US" dirty="0"/>
              <a:t>If the chain of recursive calls does not end in some other way, then eventually the method will be called with </a:t>
            </a:r>
            <a:r>
              <a:rPr lang="en-US" altLang="en-US" b="1" dirty="0">
                <a:solidFill>
                  <a:srgbClr val="034CA1"/>
                </a:solidFill>
                <a:latin typeface="Courier New" panose="02070309020205020404" pitchFamily="49" charset="0"/>
              </a:rPr>
              <a:t>first</a:t>
            </a:r>
            <a:r>
              <a:rPr lang="en-US" altLang="en-US" b="1" dirty="0"/>
              <a:t> </a:t>
            </a:r>
            <a:r>
              <a:rPr lang="en-US" altLang="en-US" dirty="0"/>
              <a:t>larger than </a:t>
            </a:r>
            <a:r>
              <a:rPr lang="en-US" altLang="en-US" b="1" dirty="0">
                <a:solidFill>
                  <a:srgbClr val="034CA1"/>
                </a:solidFill>
                <a:latin typeface="Courier New" panose="02070309020205020404" pitchFamily="49" charset="0"/>
              </a:rPr>
              <a:t>last</a:t>
            </a:r>
          </a:p>
          <a:p>
            <a:pPr marL="670560" indent="-670560">
              <a:lnSpc>
                <a:spcPct val="90000"/>
              </a:lnSpc>
              <a:buFontTx/>
              <a:buAutoNum type="arabicPeriod" startAt="2"/>
            </a:pPr>
            <a:r>
              <a:rPr lang="en-US" altLang="en-US" dirty="0"/>
              <a:t>Each stopping case performs the correct action for that case</a:t>
            </a:r>
          </a:p>
          <a:p>
            <a:pPr marL="1089660" lvl="1" indent="-586740">
              <a:lnSpc>
                <a:spcPct val="90000"/>
              </a:lnSpc>
              <a:buFontTx/>
              <a:buChar char="•"/>
            </a:pPr>
            <a:r>
              <a:rPr lang="en-US" altLang="en-US" dirty="0"/>
              <a:t>If </a:t>
            </a:r>
            <a:r>
              <a:rPr lang="en-US" altLang="en-US" b="1" dirty="0">
                <a:solidFill>
                  <a:srgbClr val="034CA1"/>
                </a:solidFill>
                <a:latin typeface="Courier New" panose="02070309020205020404" pitchFamily="49" charset="0"/>
              </a:rPr>
              <a:t>first &gt; last</a:t>
            </a:r>
            <a:r>
              <a:rPr lang="en-US" altLang="en-US" dirty="0"/>
              <a:t>, there are no array elements between </a:t>
            </a:r>
            <a:r>
              <a:rPr lang="en-US" altLang="en-US" b="1" dirty="0">
                <a:solidFill>
                  <a:srgbClr val="034CA1"/>
                </a:solidFill>
                <a:latin typeface="Courier New" panose="02070309020205020404" pitchFamily="49" charset="0"/>
              </a:rPr>
              <a:t>a[first]</a:t>
            </a:r>
            <a:r>
              <a:rPr lang="en-US" altLang="en-US" dirty="0"/>
              <a:t> and </a:t>
            </a:r>
            <a:r>
              <a:rPr lang="en-US" altLang="en-US" b="1" dirty="0">
                <a:solidFill>
                  <a:srgbClr val="034CA1"/>
                </a:solidFill>
                <a:latin typeface="Courier New" panose="02070309020205020404" pitchFamily="49" charset="0"/>
              </a:rPr>
              <a:t>a[last</a:t>
            </a:r>
            <a:r>
              <a:rPr lang="en-US" altLang="en-US" dirty="0">
                <a:solidFill>
                  <a:srgbClr val="034CA1"/>
                </a:solidFill>
                <a:latin typeface="Courier New" panose="02070309020205020404" pitchFamily="49" charset="0"/>
              </a:rPr>
              <a:t>]</a:t>
            </a:r>
            <a:r>
              <a:rPr lang="en-US" altLang="en-US" dirty="0"/>
              <a:t>, so </a:t>
            </a:r>
            <a:r>
              <a:rPr lang="en-US" altLang="en-US" b="1" dirty="0">
                <a:solidFill>
                  <a:srgbClr val="034CA1"/>
                </a:solidFill>
                <a:latin typeface="Courier New" panose="02070309020205020404" pitchFamily="49" charset="0"/>
              </a:rPr>
              <a:t>key</a:t>
            </a:r>
            <a:r>
              <a:rPr lang="en-US" altLang="en-US" dirty="0"/>
              <a:t> is not in this segment of the array, and </a:t>
            </a:r>
            <a:r>
              <a:rPr lang="en-US" altLang="en-US" b="1" dirty="0">
                <a:solidFill>
                  <a:srgbClr val="034CA1"/>
                </a:solidFill>
                <a:latin typeface="Courier New" panose="02070309020205020404" pitchFamily="49" charset="0"/>
              </a:rPr>
              <a:t>result </a:t>
            </a:r>
            <a:r>
              <a:rPr lang="en-US" altLang="en-US" dirty="0"/>
              <a:t>is correctly set to </a:t>
            </a:r>
            <a:r>
              <a:rPr lang="en-US" altLang="en-US" b="1" dirty="0">
                <a:solidFill>
                  <a:srgbClr val="034CA1"/>
                </a:solidFill>
                <a:latin typeface="Courier New" panose="02070309020205020404" pitchFamily="49" charset="0"/>
              </a:rPr>
              <a:t>-1</a:t>
            </a:r>
          </a:p>
          <a:p>
            <a:pPr marL="1089660" lvl="1" indent="-586740">
              <a:lnSpc>
                <a:spcPct val="90000"/>
              </a:lnSpc>
              <a:buFontTx/>
              <a:buChar char="•"/>
            </a:pPr>
            <a:r>
              <a:rPr lang="en-US" altLang="en-US" dirty="0"/>
              <a:t>If </a:t>
            </a:r>
            <a:r>
              <a:rPr lang="en-US" altLang="en-US" b="1" dirty="0">
                <a:solidFill>
                  <a:srgbClr val="034CA1"/>
                </a:solidFill>
                <a:latin typeface="Courier New" panose="02070309020205020404" pitchFamily="49" charset="0"/>
              </a:rPr>
              <a:t>key == a[mid]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rgbClr val="034CA1"/>
                </a:solidFill>
                <a:latin typeface="Courier New" panose="02070309020205020404" pitchFamily="49" charset="0"/>
              </a:rPr>
              <a:t>result</a:t>
            </a:r>
            <a:r>
              <a:rPr lang="en-US" altLang="en-US" dirty="0"/>
              <a:t> is correctly set to </a:t>
            </a:r>
            <a:r>
              <a:rPr lang="en-US" altLang="en-US" b="1" dirty="0">
                <a:solidFill>
                  <a:srgbClr val="034CA1"/>
                </a:solidFill>
                <a:latin typeface="Courier New" panose="02070309020205020404" pitchFamily="49" charset="0"/>
              </a:rPr>
              <a:t>mid</a:t>
            </a:r>
          </a:p>
          <a:p>
            <a:pPr marL="502920" lvl="1"/>
            <a:endParaRPr lang="en-US" altLang="en-US" b="1" dirty="0">
              <a:solidFill>
                <a:srgbClr val="034CA1"/>
              </a:solidFill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5A4BBA3-32E3-F5A5-CA8C-C93767A228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034CA1"/>
                </a:solidFill>
                <a:latin typeface="+mj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9pPr>
          </a:lstStyle>
          <a:p>
            <a:fld id="{C1C0529C-EEB9-4F63-9670-6D9946A41E95}" type="slidenum">
              <a:rPr lang="en-US" altLang="en-US" smtClean="0"/>
              <a:pPr/>
              <a:t>96</a:t>
            </a:fld>
            <a:endParaRPr lang="en-US" altLang="en-US"/>
          </a:p>
        </p:txBody>
      </p:sp>
      <p:sp>
        <p:nvSpPr>
          <p:cNvPr id="220162" name="Rectangle 2">
            <a:extLst>
              <a:ext uri="{FF2B5EF4-FFF2-40B4-BE49-F238E27FC236}">
                <a16:creationId xmlns:a16="http://schemas.microsoft.com/office/drawing/2014/main" id="{F45604FA-F270-F209-51F7-F9323ED020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0" y="637222"/>
            <a:ext cx="6781800" cy="1477328"/>
          </a:xfrm>
        </p:spPr>
        <p:txBody>
          <a:bodyPr/>
          <a:lstStyle/>
          <a:p>
            <a:r>
              <a:rPr lang="en-US" altLang="en-US" dirty="0"/>
              <a:t>Checking the </a:t>
            </a:r>
            <a:r>
              <a:rPr lang="en-US" altLang="en-US" b="1" dirty="0">
                <a:latin typeface="Courier New" panose="02070309020205020404" pitchFamily="49" charset="0"/>
              </a:rPr>
              <a:t>search</a:t>
            </a:r>
            <a:r>
              <a:rPr lang="en-US" altLang="en-US" dirty="0"/>
              <a:t> Method</a:t>
            </a:r>
          </a:p>
        </p:txBody>
      </p:sp>
      <p:sp>
        <p:nvSpPr>
          <p:cNvPr id="220163" name="Rectangle 3">
            <a:extLst>
              <a:ext uri="{FF2B5EF4-FFF2-40B4-BE49-F238E27FC236}">
                <a16:creationId xmlns:a16="http://schemas.microsoft.com/office/drawing/2014/main" id="{76974943-269C-2AFD-E3AC-C33B8CE55D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870960"/>
            <a:ext cx="7359395" cy="3800143"/>
          </a:xfrm>
        </p:spPr>
        <p:txBody>
          <a:bodyPr/>
          <a:lstStyle/>
          <a:p>
            <a:pPr marL="670560" indent="-670560">
              <a:lnSpc>
                <a:spcPct val="80000"/>
              </a:lnSpc>
              <a:buFontTx/>
              <a:buAutoNum type="arabicPeriod" startAt="3"/>
            </a:pPr>
            <a:r>
              <a:rPr lang="en-US" altLang="en-US" sz="3080" dirty="0"/>
              <a:t>For each of the cases that involve recursion, </a:t>
            </a:r>
            <a:r>
              <a:rPr lang="en-US" altLang="en-US" sz="3080" i="1" dirty="0"/>
              <a:t>if</a:t>
            </a:r>
            <a:r>
              <a:rPr lang="en-US" altLang="en-US" sz="3080" dirty="0"/>
              <a:t> all recursive calls perform their actions correctly, </a:t>
            </a:r>
            <a:r>
              <a:rPr lang="en-US" altLang="en-US" sz="3080" i="1" dirty="0"/>
              <a:t>then</a:t>
            </a:r>
            <a:r>
              <a:rPr lang="en-US" altLang="en-US" sz="3080" dirty="0"/>
              <a:t> the entire case performs correctly</a:t>
            </a:r>
          </a:p>
          <a:p>
            <a:pPr marL="1089660" lvl="1" indent="-586740">
              <a:lnSpc>
                <a:spcPct val="80000"/>
              </a:lnSpc>
              <a:buFontTx/>
              <a:buChar char="•"/>
            </a:pPr>
            <a:r>
              <a:rPr lang="en-US" altLang="en-US" sz="2640" dirty="0"/>
              <a:t>If </a:t>
            </a:r>
            <a:r>
              <a:rPr lang="en-US" altLang="en-US" sz="2640" b="1" dirty="0">
                <a:solidFill>
                  <a:srgbClr val="034CA1"/>
                </a:solidFill>
                <a:latin typeface="Courier New" panose="02070309020205020404" pitchFamily="49" charset="0"/>
              </a:rPr>
              <a:t>key &lt; a[mid]</a:t>
            </a:r>
            <a:r>
              <a:rPr lang="en-US" altLang="en-US" sz="2640" dirty="0"/>
              <a:t>, then </a:t>
            </a:r>
            <a:r>
              <a:rPr lang="en-US" altLang="en-US" sz="2640" b="1" dirty="0">
                <a:solidFill>
                  <a:srgbClr val="034CA1"/>
                </a:solidFill>
                <a:latin typeface="Courier New" panose="02070309020205020404" pitchFamily="49" charset="0"/>
              </a:rPr>
              <a:t>key</a:t>
            </a:r>
            <a:r>
              <a:rPr lang="en-US" altLang="en-US" sz="2640" dirty="0"/>
              <a:t> must be one of the elements </a:t>
            </a:r>
            <a:r>
              <a:rPr lang="en-US" altLang="en-US" sz="2640" b="1" dirty="0">
                <a:solidFill>
                  <a:srgbClr val="034CA1"/>
                </a:solidFill>
                <a:latin typeface="Courier New" panose="02070309020205020404" pitchFamily="49" charset="0"/>
              </a:rPr>
              <a:t>a[first]</a:t>
            </a:r>
            <a:r>
              <a:rPr lang="en-US" altLang="en-US" sz="2640" dirty="0"/>
              <a:t> through </a:t>
            </a:r>
            <a:r>
              <a:rPr lang="en-US" altLang="en-US" sz="2640" b="1" dirty="0">
                <a:solidFill>
                  <a:srgbClr val="034CA1"/>
                </a:solidFill>
                <a:latin typeface="Courier New" panose="02070309020205020404" pitchFamily="49" charset="0"/>
              </a:rPr>
              <a:t>a[mid-1]</a:t>
            </a:r>
            <a:r>
              <a:rPr lang="en-US" altLang="en-US" sz="2640" dirty="0"/>
              <a:t>, or it is not in the array</a:t>
            </a:r>
          </a:p>
          <a:p>
            <a:pPr marL="1089660" lvl="1" indent="-586740">
              <a:lnSpc>
                <a:spcPct val="80000"/>
              </a:lnSpc>
              <a:buFontTx/>
              <a:buChar char="•"/>
            </a:pPr>
            <a:r>
              <a:rPr lang="en-US" altLang="en-US" sz="2640" dirty="0"/>
              <a:t>The method should then search only those elements, which it does</a:t>
            </a:r>
          </a:p>
          <a:p>
            <a:pPr marL="1089660" lvl="1" indent="-586740">
              <a:lnSpc>
                <a:spcPct val="80000"/>
              </a:lnSpc>
              <a:buFontTx/>
              <a:buChar char="•"/>
            </a:pPr>
            <a:r>
              <a:rPr lang="en-US" altLang="en-US" sz="2640" dirty="0"/>
              <a:t>The recursive call is correct, therefore the entire action is correct</a:t>
            </a:r>
          </a:p>
        </p:txBody>
      </p:sp>
    </p:spTree>
  </p:cSld>
  <p:clrMapOvr>
    <a:masterClrMapping/>
  </p:clrMapOvr>
  <p:transition spd="med">
    <p:wipe dir="r"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633F1AF7-61C2-1FE5-9A88-C25B0579D6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034CA1"/>
                </a:solidFill>
                <a:latin typeface="+mj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9pPr>
          </a:lstStyle>
          <a:p>
            <a:fld id="{C1C0529C-EEB9-4F63-9670-6D9946A41E95}" type="slidenum">
              <a:rPr lang="en-US" altLang="en-US" smtClean="0"/>
              <a:pPr/>
              <a:t>97</a:t>
            </a:fld>
            <a:endParaRPr lang="en-US" altLang="en-US"/>
          </a:p>
        </p:txBody>
      </p:sp>
      <p:sp>
        <p:nvSpPr>
          <p:cNvPr id="222210" name="Rectangle 2">
            <a:extLst>
              <a:ext uri="{FF2B5EF4-FFF2-40B4-BE49-F238E27FC236}">
                <a16:creationId xmlns:a16="http://schemas.microsoft.com/office/drawing/2014/main" id="{F77D6682-C3C5-E3C0-73F9-FD9E3C9B87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637222"/>
            <a:ext cx="7010400" cy="1477328"/>
          </a:xfrm>
        </p:spPr>
        <p:txBody>
          <a:bodyPr/>
          <a:lstStyle/>
          <a:p>
            <a:r>
              <a:rPr lang="en-US" altLang="en-US" dirty="0"/>
              <a:t>Checking the </a:t>
            </a:r>
            <a:r>
              <a:rPr lang="en-US" altLang="en-US" b="1" dirty="0">
                <a:latin typeface="Courier New" panose="02070309020205020404" pitchFamily="49" charset="0"/>
              </a:rPr>
              <a:t>search</a:t>
            </a:r>
            <a:r>
              <a:rPr lang="en-US" altLang="en-US" dirty="0"/>
              <a:t> Method</a:t>
            </a:r>
          </a:p>
        </p:txBody>
      </p:sp>
      <p:sp>
        <p:nvSpPr>
          <p:cNvPr id="222211" name="Rectangle 3">
            <a:extLst>
              <a:ext uri="{FF2B5EF4-FFF2-40B4-BE49-F238E27FC236}">
                <a16:creationId xmlns:a16="http://schemas.microsoft.com/office/drawing/2014/main" id="{145D1035-E129-15E0-B404-327911B70A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2091359"/>
            <a:ext cx="7359395" cy="3839064"/>
          </a:xfrm>
        </p:spPr>
        <p:txBody>
          <a:bodyPr/>
          <a:lstStyle/>
          <a:p>
            <a:pPr marL="1089660" lvl="1" indent="-586740">
              <a:lnSpc>
                <a:spcPct val="90000"/>
              </a:lnSpc>
              <a:buFontTx/>
              <a:buChar char="•"/>
            </a:pPr>
            <a:r>
              <a:rPr lang="en-US" altLang="en-US" sz="2640" dirty="0"/>
              <a:t>If </a:t>
            </a:r>
            <a:r>
              <a:rPr lang="en-US" altLang="en-US" sz="2640" b="1" dirty="0">
                <a:solidFill>
                  <a:srgbClr val="034CA1"/>
                </a:solidFill>
                <a:latin typeface="Courier New" panose="02070309020205020404" pitchFamily="49" charset="0"/>
              </a:rPr>
              <a:t>key &gt; a[mid]</a:t>
            </a:r>
            <a:r>
              <a:rPr lang="en-US" altLang="en-US" sz="2640" dirty="0"/>
              <a:t>, then </a:t>
            </a:r>
            <a:r>
              <a:rPr lang="en-US" altLang="en-US" sz="2640" b="1" dirty="0">
                <a:solidFill>
                  <a:srgbClr val="034CA1"/>
                </a:solidFill>
                <a:latin typeface="Courier New" panose="02070309020205020404" pitchFamily="49" charset="0"/>
              </a:rPr>
              <a:t>key</a:t>
            </a:r>
            <a:r>
              <a:rPr lang="en-US" altLang="en-US" sz="2640" dirty="0"/>
              <a:t> must be one of the elements </a:t>
            </a:r>
            <a:r>
              <a:rPr lang="en-US" altLang="en-US" sz="2640" b="1" dirty="0">
                <a:solidFill>
                  <a:srgbClr val="034CA1"/>
                </a:solidFill>
                <a:latin typeface="Courier New" panose="02070309020205020404" pitchFamily="49" charset="0"/>
              </a:rPr>
              <a:t>a[mid+1]</a:t>
            </a:r>
            <a:r>
              <a:rPr lang="en-US" altLang="en-US" sz="2640" dirty="0"/>
              <a:t> through </a:t>
            </a:r>
            <a:r>
              <a:rPr lang="en-US" altLang="en-US" sz="2640" b="1" dirty="0">
                <a:solidFill>
                  <a:srgbClr val="034CA1"/>
                </a:solidFill>
                <a:latin typeface="Courier New" panose="02070309020205020404" pitchFamily="49" charset="0"/>
              </a:rPr>
              <a:t>a[last]</a:t>
            </a:r>
            <a:r>
              <a:rPr lang="en-US" altLang="en-US" sz="2640" dirty="0"/>
              <a:t>, or it is not in the array</a:t>
            </a:r>
          </a:p>
          <a:p>
            <a:pPr marL="1089660" lvl="1" indent="-586740">
              <a:lnSpc>
                <a:spcPct val="90000"/>
              </a:lnSpc>
              <a:buFontTx/>
              <a:buChar char="•"/>
            </a:pPr>
            <a:r>
              <a:rPr lang="en-US" altLang="en-US" sz="2640" dirty="0"/>
              <a:t>The method should then search only those elements, which it does</a:t>
            </a:r>
          </a:p>
          <a:p>
            <a:pPr marL="1089660" lvl="1" indent="-586740">
              <a:lnSpc>
                <a:spcPct val="90000"/>
              </a:lnSpc>
              <a:buFontTx/>
              <a:buChar char="•"/>
            </a:pPr>
            <a:r>
              <a:rPr lang="en-US" altLang="en-US" sz="2640" dirty="0"/>
              <a:t>The recursive call is correct, therefore the entire action is correct</a:t>
            </a:r>
          </a:p>
          <a:p>
            <a:pPr marL="670560" indent="-670560">
              <a:lnSpc>
                <a:spcPct val="90000"/>
              </a:lnSpc>
            </a:pPr>
            <a:r>
              <a:rPr lang="en-US" altLang="en-US" sz="3080" dirty="0"/>
              <a:t>The method </a:t>
            </a:r>
            <a:r>
              <a:rPr lang="en-US" altLang="en-US" sz="3080" b="1" dirty="0">
                <a:solidFill>
                  <a:srgbClr val="034CA1"/>
                </a:solidFill>
                <a:latin typeface="Courier New" panose="02070309020205020404" pitchFamily="49" charset="0"/>
              </a:rPr>
              <a:t>search</a:t>
            </a:r>
            <a:r>
              <a:rPr lang="en-US" altLang="en-US" sz="3080" dirty="0"/>
              <a:t> passes all three tests:</a:t>
            </a:r>
          </a:p>
          <a:p>
            <a:pPr marL="670560" indent="-670560">
              <a:lnSpc>
                <a:spcPct val="90000"/>
              </a:lnSpc>
            </a:pPr>
            <a:r>
              <a:rPr lang="en-US" altLang="en-US" sz="3080" dirty="0"/>
              <a:t>Therefore, it is a good recursive method definition</a:t>
            </a:r>
          </a:p>
        </p:txBody>
      </p:sp>
    </p:spTree>
  </p:cSld>
  <p:clrMapOvr>
    <a:masterClrMapping/>
  </p:clrMapOvr>
  <p:transition spd="med">
    <p:wipe dir="r"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3E3C39E-1E2C-5E3E-9EC7-C4238C996A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034CA1"/>
                </a:solidFill>
                <a:latin typeface="+mj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9pPr>
          </a:lstStyle>
          <a:p>
            <a:fld id="{C1C0529C-EEB9-4F63-9670-6D9946A41E95}" type="slidenum">
              <a:rPr lang="en-US" altLang="en-US" smtClean="0"/>
              <a:pPr/>
              <a:t>98</a:t>
            </a:fld>
            <a:endParaRPr lang="en-US" altLang="en-US"/>
          </a:p>
        </p:txBody>
      </p:sp>
      <p:sp>
        <p:nvSpPr>
          <p:cNvPr id="224258" name="Rectangle 2">
            <a:extLst>
              <a:ext uri="{FF2B5EF4-FFF2-40B4-BE49-F238E27FC236}">
                <a16:creationId xmlns:a16="http://schemas.microsoft.com/office/drawing/2014/main" id="{606B1D2E-35A0-B492-88B8-803865115C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52600" y="637222"/>
            <a:ext cx="6705600" cy="1477328"/>
          </a:xfrm>
        </p:spPr>
        <p:txBody>
          <a:bodyPr/>
          <a:lstStyle/>
          <a:p>
            <a:r>
              <a:rPr lang="en-US" altLang="en-US" dirty="0"/>
              <a:t>Efficiency of Binary Search</a:t>
            </a:r>
          </a:p>
        </p:txBody>
      </p:sp>
      <p:sp>
        <p:nvSpPr>
          <p:cNvPr id="224259" name="Rectangle 3">
            <a:extLst>
              <a:ext uri="{FF2B5EF4-FFF2-40B4-BE49-F238E27FC236}">
                <a16:creationId xmlns:a16="http://schemas.microsoft.com/office/drawing/2014/main" id="{88FD261B-D592-A68A-1658-63908B4008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5341" y="1813104"/>
            <a:ext cx="6690359" cy="2492990"/>
          </a:xfrm>
        </p:spPr>
        <p:txBody>
          <a:bodyPr/>
          <a:lstStyle/>
          <a:p>
            <a:r>
              <a:rPr lang="en-US" altLang="en-US" dirty="0"/>
              <a:t>The binary search algorithm is extremely fast compared to an algorithm that tries all array elements in order</a:t>
            </a:r>
          </a:p>
          <a:p>
            <a:pPr lvl="1"/>
            <a:r>
              <a:rPr lang="en-US" altLang="en-US" dirty="0"/>
              <a:t>About half the array is eliminated from consideration right at the start</a:t>
            </a:r>
          </a:p>
          <a:p>
            <a:pPr lvl="1"/>
            <a:r>
              <a:rPr lang="en-US" altLang="en-US" dirty="0"/>
              <a:t>Then a quarter of the array, then an eighth of the array, and so forth</a:t>
            </a:r>
          </a:p>
        </p:txBody>
      </p:sp>
    </p:spTree>
  </p:cSld>
  <p:clrMapOvr>
    <a:masterClrMapping/>
  </p:clrMapOvr>
  <p:transition spd="med">
    <p:wipe dir="r"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1A35193-37A2-2F67-5963-2EB10D7C33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034CA1"/>
                </a:solidFill>
                <a:latin typeface="+mj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9pPr>
          </a:lstStyle>
          <a:p>
            <a:fld id="{C1C0529C-EEB9-4F63-9670-6D9946A41E95}" type="slidenum">
              <a:rPr lang="en-US" altLang="en-US" smtClean="0"/>
              <a:pPr/>
              <a:t>99</a:t>
            </a:fld>
            <a:endParaRPr lang="en-US" altLang="en-US"/>
          </a:p>
        </p:txBody>
      </p:sp>
      <p:sp>
        <p:nvSpPr>
          <p:cNvPr id="226306" name="Rectangle 2">
            <a:extLst>
              <a:ext uri="{FF2B5EF4-FFF2-40B4-BE49-F238E27FC236}">
                <a16:creationId xmlns:a16="http://schemas.microsoft.com/office/drawing/2014/main" id="{6A2530B0-6E0E-A301-62AE-BFC652B5F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90800" y="637222"/>
            <a:ext cx="6324600" cy="1477328"/>
          </a:xfrm>
        </p:spPr>
        <p:txBody>
          <a:bodyPr/>
          <a:lstStyle/>
          <a:p>
            <a:r>
              <a:rPr lang="en-US" altLang="en-US" dirty="0"/>
              <a:t>Efficiency of Binary Search</a:t>
            </a:r>
          </a:p>
        </p:txBody>
      </p:sp>
      <p:sp>
        <p:nvSpPr>
          <p:cNvPr id="226307" name="Rectangle 3">
            <a:extLst>
              <a:ext uri="{FF2B5EF4-FFF2-40B4-BE49-F238E27FC236}">
                <a16:creationId xmlns:a16="http://schemas.microsoft.com/office/drawing/2014/main" id="{FF3FB10F-9375-C296-7D83-D5B6869826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2031294"/>
            <a:ext cx="7359395" cy="359521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640" dirty="0"/>
              <a:t>Given an array with 1,000 elements, the binary search will only need to compare about 10 array elements to the key value, as compared to an average of 500 for a serial search algorithm</a:t>
            </a:r>
          </a:p>
          <a:p>
            <a:pPr>
              <a:lnSpc>
                <a:spcPct val="90000"/>
              </a:lnSpc>
            </a:pPr>
            <a:r>
              <a:rPr lang="en-US" altLang="en-US" sz="2640" dirty="0"/>
              <a:t>The binary search algorithm has a worst-case running time that is logarithmic:    O(log </a:t>
            </a:r>
            <a:r>
              <a:rPr lang="en-US" altLang="en-US" sz="2640" i="1" dirty="0"/>
              <a:t>n</a:t>
            </a:r>
            <a:r>
              <a:rPr lang="en-US" altLang="en-US" sz="2640" dirty="0"/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en-US" sz="2200" dirty="0"/>
              <a:t>A serial search algorithm is linear:  O(</a:t>
            </a:r>
            <a:r>
              <a:rPr lang="en-US" altLang="en-US" sz="2200" i="1" dirty="0"/>
              <a:t>n</a:t>
            </a:r>
            <a:r>
              <a:rPr lang="en-US" altLang="en-US" sz="2200" dirty="0"/>
              <a:t>)</a:t>
            </a:r>
          </a:p>
          <a:p>
            <a:pPr>
              <a:lnSpc>
                <a:spcPct val="90000"/>
              </a:lnSpc>
            </a:pPr>
            <a:r>
              <a:rPr lang="en-US" altLang="en-US" sz="2640" dirty="0"/>
              <a:t>If desired, the recursive version of the method </a:t>
            </a:r>
            <a:r>
              <a:rPr lang="en-US" altLang="en-US" sz="2640" b="1" dirty="0">
                <a:solidFill>
                  <a:srgbClr val="034CA1"/>
                </a:solidFill>
                <a:latin typeface="Courier New" panose="02070309020205020404" pitchFamily="49" charset="0"/>
              </a:rPr>
              <a:t>search</a:t>
            </a:r>
            <a:r>
              <a:rPr lang="en-US" altLang="en-US" sz="2640" dirty="0"/>
              <a:t> can be converted to an iterative version that will run more efficiently</a:t>
            </a:r>
          </a:p>
        </p:txBody>
      </p:sp>
    </p:spTree>
  </p:cSld>
  <p:clrMapOvr>
    <a:masterClrMapping/>
  </p:clrMapOvr>
  <p:transition spd="med">
    <p:wipe dir="r"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BFA2D3F-EFDF-F396-7B3F-E85AFE730A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034CA1"/>
                </a:solidFill>
                <a:latin typeface="+mj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9pPr>
          </a:lstStyle>
          <a:p>
            <a:fld id="{C1C0529C-EEB9-4F63-9670-6D9946A41E95}" type="slidenum">
              <a:rPr lang="en-US" altLang="en-US" smtClean="0"/>
              <a:pPr/>
              <a:t>100</a:t>
            </a:fld>
            <a:endParaRPr lang="en-US" altLang="en-US"/>
          </a:p>
        </p:txBody>
      </p:sp>
      <p:sp>
        <p:nvSpPr>
          <p:cNvPr id="228354" name="Rectangle 2">
            <a:extLst>
              <a:ext uri="{FF2B5EF4-FFF2-40B4-BE49-F238E27FC236}">
                <a16:creationId xmlns:a16="http://schemas.microsoft.com/office/drawing/2014/main" id="{2CC04E37-B8B1-FCE4-484B-79B842DA6A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5840" y="281940"/>
            <a:ext cx="8717280" cy="1083374"/>
          </a:xfrm>
        </p:spPr>
        <p:txBody>
          <a:bodyPr/>
          <a:lstStyle/>
          <a:p>
            <a:r>
              <a:rPr lang="en-US" altLang="en-US" sz="3520"/>
              <a:t>Iterative Version of Binary Search</a:t>
            </a:r>
            <a:br>
              <a:rPr lang="en-US" altLang="en-US" sz="3520"/>
            </a:br>
            <a:r>
              <a:rPr lang="en-US" altLang="en-US" sz="3520"/>
              <a:t>(Part 1 of 2)</a:t>
            </a:r>
          </a:p>
        </p:txBody>
      </p:sp>
      <p:pic>
        <p:nvPicPr>
          <p:cNvPr id="228355" name="Picture 3">
            <a:extLst>
              <a:ext uri="{FF2B5EF4-FFF2-40B4-BE49-F238E27FC236}">
                <a16:creationId xmlns:a16="http://schemas.microsoft.com/office/drawing/2014/main" id="{D10B2838-96F7-918D-DA6A-033EBCC4E8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840" y="1706880"/>
            <a:ext cx="8811578" cy="4442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wipe dir="r"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385F96A-AFF3-1B64-77DE-D57FF7F96D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034CA1"/>
                </a:solidFill>
                <a:latin typeface="+mj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9pPr>
          </a:lstStyle>
          <a:p>
            <a:fld id="{C1C0529C-EEB9-4F63-9670-6D9946A41E95}" type="slidenum">
              <a:rPr lang="en-US" altLang="en-US" smtClean="0"/>
              <a:pPr/>
              <a:t>101</a:t>
            </a:fld>
            <a:endParaRPr lang="en-US" altLang="en-US"/>
          </a:p>
        </p:txBody>
      </p:sp>
      <p:sp>
        <p:nvSpPr>
          <p:cNvPr id="230402" name="Rectangle 2">
            <a:extLst>
              <a:ext uri="{FF2B5EF4-FFF2-40B4-BE49-F238E27FC236}">
                <a16:creationId xmlns:a16="http://schemas.microsoft.com/office/drawing/2014/main" id="{58DF2FAE-1A51-926B-1F5A-BFF6656203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6857" y="576484"/>
            <a:ext cx="7696200" cy="490316"/>
          </a:xfrm>
        </p:spPr>
        <p:txBody>
          <a:bodyPr/>
          <a:lstStyle/>
          <a:p>
            <a:r>
              <a:rPr lang="en-US" altLang="en-US" sz="3520" dirty="0"/>
              <a:t>Iterative Version of Binary Search</a:t>
            </a:r>
            <a:br>
              <a:rPr lang="en-US" altLang="en-US" sz="3520" dirty="0"/>
            </a:br>
            <a:r>
              <a:rPr lang="en-US" altLang="en-US" sz="3520" dirty="0"/>
              <a:t>(Part 2 of 2)</a:t>
            </a:r>
          </a:p>
        </p:txBody>
      </p:sp>
      <p:pic>
        <p:nvPicPr>
          <p:cNvPr id="230403" name="Picture 3">
            <a:extLst>
              <a:ext uri="{FF2B5EF4-FFF2-40B4-BE49-F238E27FC236}">
                <a16:creationId xmlns:a16="http://schemas.microsoft.com/office/drawing/2014/main" id="{5AA67339-0232-EB6D-5E1E-3D1138F59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839" y="1600200"/>
            <a:ext cx="8738235" cy="5668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578D521D34234794A0BEF439DD08C7" ma:contentTypeVersion="5" ma:contentTypeDescription="Create a new document." ma:contentTypeScope="" ma:versionID="844a31cd96530d064601193802289880">
  <xsd:schema xmlns:xsd="http://www.w3.org/2001/XMLSchema" xmlns:xs="http://www.w3.org/2001/XMLSchema" xmlns:p="http://schemas.microsoft.com/office/2006/metadata/properties" xmlns:ns2="7da9531d-be9b-4989-9ef7-f115a5c12971" xmlns:ns3="782bb293-e802-45b6-84ac-a57f7e6ad7e3" targetNamespace="http://schemas.microsoft.com/office/2006/metadata/properties" ma:root="true" ma:fieldsID="3ad62623ab693673e1d7e99ef532f112" ns2:_="" ns3:_="">
    <xsd:import namespace="7da9531d-be9b-4989-9ef7-f115a5c12971"/>
    <xsd:import namespace="782bb293-e802-45b6-84ac-a57f7e6ad7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a9531d-be9b-4989-9ef7-f115a5c129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2bb293-e802-45b6-84ac-a57f7e6ad7e3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DF28A7B-B927-40A0-9C69-807D0C3B5AE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E644D89-73C3-4CAF-B9DC-05FC74906B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da9531d-be9b-4989-9ef7-f115a5c12971"/>
    <ds:schemaRef ds:uri="782bb293-e802-45b6-84ac-a57f7e6ad7e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115D4A4-D734-4FCD-A3A5-378A66BB7FB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289</TotalTime>
  <Words>4759</Words>
  <Application>Microsoft Office PowerPoint</Application>
  <PresentationFormat>Custom</PresentationFormat>
  <Paragraphs>790</Paragraphs>
  <Slides>101</Slides>
  <Notes>19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101</vt:i4>
      </vt:variant>
    </vt:vector>
  </HeadingPairs>
  <TitlesOfParts>
    <vt:vector size="102" baseType="lpstr">
      <vt:lpstr>Office Theme</vt:lpstr>
      <vt:lpstr>PowerPoint Presentation</vt:lpstr>
      <vt:lpstr>Sorting and Searching Algorithms</vt:lpstr>
      <vt:lpstr>Sorting Algorithms and Memory</vt:lpstr>
      <vt:lpstr>Selection Sort</vt:lpstr>
      <vt:lpstr>Bubble Sort</vt:lpstr>
      <vt:lpstr>Bubble Sort</vt:lpstr>
      <vt:lpstr>Comparison</vt:lpstr>
      <vt:lpstr>Example: Insertion Sort</vt:lpstr>
      <vt:lpstr>Example: Insertion Sort</vt:lpstr>
      <vt:lpstr>Example: Insertion Sort</vt:lpstr>
      <vt:lpstr>Comparison</vt:lpstr>
      <vt:lpstr>Merge Sort</vt:lpstr>
      <vt:lpstr>Merge Sort</vt:lpstr>
      <vt:lpstr>Divide-and-Conquer</vt:lpstr>
      <vt:lpstr>Merge Sort</vt:lpstr>
      <vt:lpstr>Merge-Sort</vt:lpstr>
      <vt:lpstr>Merging Two Sorted Sequences</vt:lpstr>
      <vt:lpstr>Merging Two Sorted Sequences (As Arrays)</vt:lpstr>
      <vt:lpstr>Merging Two Sorted Sequences (As Linked Lists)</vt:lpstr>
      <vt:lpstr>Merge-Sort Tree</vt:lpstr>
      <vt:lpstr>Execution Example</vt:lpstr>
      <vt:lpstr>Execution Example (cont.)</vt:lpstr>
      <vt:lpstr>Execution Example (cont.)</vt:lpstr>
      <vt:lpstr>Execution Example (cont.)</vt:lpstr>
      <vt:lpstr>Execution Example (cont.)</vt:lpstr>
      <vt:lpstr>Execution Example (cont.)</vt:lpstr>
      <vt:lpstr>Execution Example (cont.)</vt:lpstr>
      <vt:lpstr>Execution Example (cont.)</vt:lpstr>
      <vt:lpstr>Execution Example (cont.)</vt:lpstr>
      <vt:lpstr>Execution Example (cont.)</vt:lpstr>
      <vt:lpstr>Analysis of Merge-Sort</vt:lpstr>
      <vt:lpstr>Heapsort</vt:lpstr>
      <vt:lpstr>Selection Sort</vt:lpstr>
      <vt:lpstr>Heap-Sort Algorithm</vt:lpstr>
      <vt:lpstr>Heap-Sort Algorithm</vt:lpstr>
      <vt:lpstr>Heap-Sort Running Time</vt:lpstr>
      <vt:lpstr>Quick-Sort</vt:lpstr>
      <vt:lpstr>QuickSort</vt:lpstr>
      <vt:lpstr>Quick-Sort</vt:lpstr>
      <vt:lpstr>The Quick-Sort Algorithm</vt:lpstr>
      <vt:lpstr>Partition</vt:lpstr>
      <vt:lpstr>Partition</vt:lpstr>
      <vt:lpstr>Quick-Sort Tree</vt:lpstr>
      <vt:lpstr>Execution Example</vt:lpstr>
      <vt:lpstr>Execution Example (cont.)</vt:lpstr>
      <vt:lpstr>Execution Example (cont.)</vt:lpstr>
      <vt:lpstr>Execution Example (cont.)</vt:lpstr>
      <vt:lpstr>Execution Example (cont.)</vt:lpstr>
      <vt:lpstr>Execution Example (cont.)</vt:lpstr>
      <vt:lpstr>Execution Example (cont.)</vt:lpstr>
      <vt:lpstr>Quick-Sort Properties</vt:lpstr>
      <vt:lpstr>In-Place Quick-Sort</vt:lpstr>
      <vt:lpstr>In-Place Quick-Sort</vt:lpstr>
      <vt:lpstr>In-Place Quick-Sort</vt:lpstr>
      <vt:lpstr>The In-Place Partitioning Problem</vt:lpstr>
      <vt:lpstr>Precise Specification</vt:lpstr>
      <vt:lpstr>Loop Invariant</vt:lpstr>
      <vt:lpstr>Maintaining Loop Invariant</vt:lpstr>
      <vt:lpstr>Maintaining Loop Invariant</vt:lpstr>
      <vt:lpstr>Establishing Loop Invariant</vt:lpstr>
      <vt:lpstr>Establishing Postcondition</vt:lpstr>
      <vt:lpstr>Establishing Postcondition</vt:lpstr>
      <vt:lpstr>An Example</vt:lpstr>
      <vt:lpstr>In-Place Partitioning: Running Time</vt:lpstr>
      <vt:lpstr>PowerPoint Presentation</vt:lpstr>
      <vt:lpstr>The In-Place Quick-Sort Algorithm</vt:lpstr>
      <vt:lpstr>Running Time of Quick-Sort</vt:lpstr>
      <vt:lpstr>Quick-Sort Running Time</vt:lpstr>
      <vt:lpstr>Quick Sort</vt:lpstr>
      <vt:lpstr>Quick Sort</vt:lpstr>
      <vt:lpstr>QuickSort: Choosing the Pivot</vt:lpstr>
      <vt:lpstr>Best-Case Running Time</vt:lpstr>
      <vt:lpstr>Quick Sort</vt:lpstr>
      <vt:lpstr>Worst-case Running Time</vt:lpstr>
      <vt:lpstr>Average-Case Running Time</vt:lpstr>
      <vt:lpstr>Expected Time Complexity for Quick Sort</vt:lpstr>
      <vt:lpstr>Expected Time Complexity for Quick Sort</vt:lpstr>
      <vt:lpstr>Properties of QuickSort</vt:lpstr>
      <vt:lpstr>Summary of Comparison Sorts</vt:lpstr>
      <vt:lpstr>Comparison Sort: Lower Bound</vt:lpstr>
      <vt:lpstr>Comparison Sort: Decision Trees</vt:lpstr>
      <vt:lpstr>Comparison Sort: Decision Trees</vt:lpstr>
      <vt:lpstr>PowerPoint Presentation</vt:lpstr>
      <vt:lpstr>Searching and Sorting</vt:lpstr>
      <vt:lpstr>Linear Search</vt:lpstr>
      <vt:lpstr>Linear Search</vt:lpstr>
      <vt:lpstr>Linear Search</vt:lpstr>
      <vt:lpstr>Binary Search</vt:lpstr>
      <vt:lpstr>BinarySearch</vt:lpstr>
      <vt:lpstr>Binary Search</vt:lpstr>
      <vt:lpstr>Pseudocode for Binary Search</vt:lpstr>
      <vt:lpstr>Recursive Method for Binary Search</vt:lpstr>
      <vt:lpstr>Execution of the Method search  (Part 1 of 2)</vt:lpstr>
      <vt:lpstr>Execution of the Method search (Part 1 of 2)</vt:lpstr>
      <vt:lpstr>Checking the search Method</vt:lpstr>
      <vt:lpstr>Checking the search Method</vt:lpstr>
      <vt:lpstr>Checking the search Method</vt:lpstr>
      <vt:lpstr>Efficiency of Binary Search</vt:lpstr>
      <vt:lpstr>Efficiency of Binary Search</vt:lpstr>
      <vt:lpstr>Iterative Version of Binary Search (Part 1 of 2)</vt:lpstr>
      <vt:lpstr>Iterative Version of Binary Search (Part 2 of 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 Sorting.pptx</dc:title>
  <dc:creator>James Elder</dc:creator>
  <cp:lastModifiedBy>suresh m</cp:lastModifiedBy>
  <cp:revision>20</cp:revision>
  <dcterms:created xsi:type="dcterms:W3CDTF">2023-08-03T06:23:10Z</dcterms:created>
  <dcterms:modified xsi:type="dcterms:W3CDTF">2023-09-18T09:46:30Z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2010-04-01T00:00:00Z</vt:filetime>
  </property>
  <property fmtid="{D5CDD505-2E9C-101B-9397-08002B2CF9AE}" pid="3" name="Creator">
    <vt:lpwstr>Microsoft PowerPoint: cgpdftops CUPS filter</vt:lpwstr>
  </property>
  <property fmtid="{D5CDD505-2E9C-101B-9397-08002B2CF9AE}" pid="4" name="LastSaved">
    <vt:filetime>2023-08-03T00:00:00Z</vt:filetime>
  </property>
  <property fmtid="{D5CDD505-2E9C-101B-9397-08002B2CF9AE}" pid="5" name="ContentTypeId">
    <vt:lpwstr>0x010100E6578D521D34234794A0BEF439DD08C7</vt:lpwstr>
  </property>
</Properties>
</file>