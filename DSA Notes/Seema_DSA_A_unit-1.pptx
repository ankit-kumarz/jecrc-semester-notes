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94.xml" ContentType="application/vnd.openxmlformats-officedocument.presentationml.slide+xml"/>
  <Override PartName="/ppt/slides/slide14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slides/slide83.xml" ContentType="application/vnd.openxmlformats-officedocument.presentationml.slide+xml"/>
  <Override PartName="/ppt/slides/slide120.xml" ContentType="application/vnd.openxmlformats-officedocument.presentationml.slide+xml"/>
  <Override PartName="/ppt/slides/slide131.xml" ContentType="application/vnd.openxmlformats-officedocument.presentationml.slide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72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63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30.xml" ContentType="application/vnd.openxmlformats-officedocument.presentationml.notesSlide+xml"/>
  <Override PartName="/ppt/slides/slide99.xml" ContentType="application/vnd.openxmlformats-officedocument.presentationml.slide+xml"/>
  <Override PartName="/ppt/slides/slide13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25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66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68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39.xml" ContentType="application/vnd.openxmlformats-officedocument.presentationml.notesSlide+xml"/>
  <Override PartName="/ppt/notesSlides/notesSlide57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64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71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60.xml" ContentType="application/vnd.openxmlformats-officedocument.presentationml.notesSlide+xml"/>
  <Override PartName="/ppt/slides/slide119.xml" ContentType="application/vnd.openxmlformats-officedocument.presentationml.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Default Extension="vml" ContentType="application/vnd.openxmlformats-officedocument.vmlDrawing"/>
  <Override PartName="/ppt/notesSlides/notesSlide31.xml" ContentType="application/vnd.openxmlformats-officedocument.presentationml.notesSlide+xml"/>
  <Override PartName="/ppt/slides/slide89.xml" ContentType="application/vnd.openxmlformats-officedocument.presentationml.slide+xml"/>
  <Override PartName="/ppt/slides/slide108.xml" ContentType="application/vnd.openxmlformats-officedocument.presentationml.slide+xml"/>
  <Override PartName="/ppt/slides/slide126.xml" ContentType="application/vnd.openxmlformats-officedocument.presentationml.slide+xml"/>
  <Override PartName="/ppt/slides/slide137.xml" ContentType="application/vnd.openxmlformats-officedocument.presentationml.slide+xml"/>
  <Override PartName="/ppt/slides/slide49.xml" ContentType="application/vnd.openxmlformats-officedocument.presentationml.slide+xml"/>
  <Override PartName="/ppt/slides/slide78.xml" ContentType="application/vnd.openxmlformats-officedocument.presentationml.slide+xml"/>
  <Override PartName="/ppt/slides/slide96.xml" ContentType="application/vnd.openxmlformats-officedocument.presentationml.slide+xml"/>
  <Override PartName="/ppt/slides/slide115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s/slide122.xml" ContentType="application/vnd.openxmlformats-officedocument.presentationml.slide+xml"/>
  <Override PartName="/ppt/slides/slide133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69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s/slide140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wmf" ContentType="image/x-wmf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65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1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127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116.xml" ContentType="application/vnd.openxmlformats-officedocument.presentationml.slide+xml"/>
  <Override PartName="/ppt/slides/slide134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slides/slide123.xml" ContentType="application/vnd.openxmlformats-officedocument.presentationml.slide+xml"/>
  <Override PartName="/ppt/slides/slide14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s/slide130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66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Override PartName="/ppt/notesSlides/notesSlide37.xml" ContentType="application/vnd.openxmlformats-officedocument.presentationml.notesSlide+xml"/>
  <Override PartName="/ppt/notesSlides/notesSlide55.xml" ContentType="application/vnd.openxmlformats-officedocument.presentationml.notesSlide+xml"/>
  <Default Extension="jpeg" ContentType="image/jpeg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62.xml" ContentType="application/vnd.openxmlformats-officedocument.presentationml.notes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40.xml" ContentType="application/vnd.openxmlformats-officedocument.presentationml.notesSlide+xml"/>
  <Override PartName="/ppt/slides/slide98.xml" ContentType="application/vnd.openxmlformats-officedocument.presentationml.slide+xml"/>
  <Override PartName="/ppt/slides/slide117.xml" ContentType="application/vnd.openxmlformats-officedocument.presentationml.slide+xml"/>
  <Override PartName="/ppt/slides/slide128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87.xml" ContentType="application/vnd.openxmlformats-officedocument.presentationml.slide+xml"/>
  <Override PartName="/ppt/slides/slide106.xml" ContentType="application/vnd.openxmlformats-officedocument.presentationml.slide+xml"/>
  <Override PartName="/ppt/slides/slide124.xml" ContentType="application/vnd.openxmlformats-officedocument.presentationml.slide+xml"/>
  <Override PartName="/ppt/slides/slide135.xml" ContentType="application/vnd.openxmlformats-officedocument.presentationml.slide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slides/slide113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67.xml" ContentType="application/vnd.openxmlformats-officedocument.presentationml.notesSlide+xml"/>
  <Override PartName="/ppt/slides/slide43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notesSlides/notesSlide23.xml" ContentType="application/vnd.openxmlformats-officedocument.presentationml.notesSlide+xml"/>
  <Override PartName="/ppt/notesSlides/notesSlide70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18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107.xml" ContentType="application/vnd.openxmlformats-officedocument.presentationml.slide+xml"/>
  <Override PartName="/ppt/slides/slide143.xml" ContentType="application/vnd.openxmlformats-officedocument.presentationml.slide+xml"/>
  <Override PartName="/ppt/viewProps.xml" ContentType="application/vnd.openxmlformats-officedocument.presentationml.viewProps+xml"/>
  <Override PartName="/ppt/slides/slide48.xml" ContentType="application/vnd.openxmlformats-officedocument.presentationml.slide+xml"/>
  <Override PartName="/ppt/slides/slide95.xml" ContentType="application/vnd.openxmlformats-officedocument.presentationml.slide+xml"/>
  <Override PartName="/ppt/slides/slide132.xml" ContentType="application/vnd.openxmlformats-officedocument.presentationml.slide+xml"/>
  <Override PartName="/ppt/notesSlides/notesSlide3.xml" ContentType="application/vnd.openxmlformats-officedocument.presentationml.notesSlide+xml"/>
  <Default Extension="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5"/>
  </p:notesMasterIdLst>
  <p:sldIdLst>
    <p:sldId id="398" r:id="rId2"/>
    <p:sldId id="39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  <p:sldId id="370" r:id="rId117"/>
    <p:sldId id="371" r:id="rId118"/>
    <p:sldId id="372" r:id="rId119"/>
    <p:sldId id="373" r:id="rId120"/>
    <p:sldId id="374" r:id="rId121"/>
    <p:sldId id="375" r:id="rId122"/>
    <p:sldId id="376" r:id="rId123"/>
    <p:sldId id="377" r:id="rId124"/>
    <p:sldId id="378" r:id="rId125"/>
    <p:sldId id="379" r:id="rId126"/>
    <p:sldId id="380" r:id="rId127"/>
    <p:sldId id="381" r:id="rId128"/>
    <p:sldId id="382" r:id="rId129"/>
    <p:sldId id="383" r:id="rId130"/>
    <p:sldId id="384" r:id="rId131"/>
    <p:sldId id="385" r:id="rId132"/>
    <p:sldId id="386" r:id="rId133"/>
    <p:sldId id="387" r:id="rId134"/>
    <p:sldId id="388" r:id="rId135"/>
    <p:sldId id="389" r:id="rId136"/>
    <p:sldId id="390" r:id="rId137"/>
    <p:sldId id="391" r:id="rId138"/>
    <p:sldId id="392" r:id="rId139"/>
    <p:sldId id="393" r:id="rId140"/>
    <p:sldId id="394" r:id="rId141"/>
    <p:sldId id="395" r:id="rId142"/>
    <p:sldId id="396" r:id="rId143"/>
    <p:sldId id="397" r:id="rId1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1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40" Type="http://schemas.openxmlformats.org/officeDocument/2006/relationships/slide" Target="slides/slide139.xml"/><Relationship Id="rId14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21.wmf"/><Relationship Id="rId1" Type="http://schemas.openxmlformats.org/officeDocument/2006/relationships/image" Target="../media/image14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png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png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png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png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png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png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png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png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png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png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png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png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png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png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png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png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png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png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png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08E249-EB88-4ECA-B224-A6693F3A3870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3C715C-7E4C-491F-BC16-2F19AB19E99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IN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93F9CC5-C023-4385-98A4-81546A647076}" type="slidenum">
              <a:rPr lang="fr-FR" smtClean="0">
                <a:latin typeface="Arial" pitchFamily="34" charset="0"/>
                <a:cs typeface="Arial" pitchFamily="34" charset="0"/>
              </a:rPr>
              <a:pPr/>
              <a:t>1</a:t>
            </a:fld>
            <a:endParaRPr lang="fr-FR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84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48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BAD459B-422D-4308-9A5E-2445FB79417C}" type="slidenum">
              <a:rPr lang="en-US" smtClean="0"/>
              <a:pPr/>
              <a:t>6</a:t>
            </a:fld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92E38FD-7829-42E2-BC92-4D41242B0AE9}" type="slidenum">
              <a:rPr lang="en-US" smtClean="0"/>
              <a:pPr/>
              <a:t>54</a:t>
            </a:fld>
            <a:endParaRPr lang="en-US" smtClean="0"/>
          </a:p>
        </p:txBody>
      </p:sp>
      <p:sp>
        <p:nvSpPr>
          <p:cNvPr id="158723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E7F7C98-38D1-4110-8AB7-BC7A6B66FAFF}" type="slidenum">
              <a:rPr lang="en-US" smtClean="0"/>
              <a:pPr/>
              <a:t>55</a:t>
            </a:fld>
            <a:endParaRPr lang="en-US" smtClean="0"/>
          </a:p>
        </p:txBody>
      </p:sp>
      <p:sp>
        <p:nvSpPr>
          <p:cNvPr id="159747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31A49EC-C13A-4F6B-8946-AD9CEDB14D46}" type="slidenum">
              <a:rPr lang="en-US" smtClean="0"/>
              <a:pPr/>
              <a:t>56</a:t>
            </a:fld>
            <a:endParaRPr lang="en-US" smtClean="0"/>
          </a:p>
        </p:txBody>
      </p:sp>
      <p:sp>
        <p:nvSpPr>
          <p:cNvPr id="160771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2A711F7-377A-400B-8BD8-4119FA79E1D3}" type="slidenum">
              <a:rPr lang="en-US" smtClean="0"/>
              <a:pPr/>
              <a:t>57</a:t>
            </a:fld>
            <a:endParaRPr lang="en-US" smtClean="0"/>
          </a:p>
        </p:txBody>
      </p:sp>
      <p:sp>
        <p:nvSpPr>
          <p:cNvPr id="161795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18CEA97-88B7-4435-B8F9-04E5F907F2B0}" type="slidenum">
              <a:rPr lang="en-US" smtClean="0"/>
              <a:pPr/>
              <a:t>58</a:t>
            </a:fld>
            <a:endParaRPr lang="en-US" smtClean="0"/>
          </a:p>
        </p:txBody>
      </p:sp>
      <p:sp>
        <p:nvSpPr>
          <p:cNvPr id="162819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1F7D78B-39ED-4766-ACDD-8C7508824C04}" type="slidenum">
              <a:rPr lang="en-US" smtClean="0"/>
              <a:pPr/>
              <a:t>59</a:t>
            </a:fld>
            <a:endParaRPr lang="en-US" smtClean="0"/>
          </a:p>
        </p:txBody>
      </p:sp>
      <p:sp>
        <p:nvSpPr>
          <p:cNvPr id="163843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263C1EC-D70E-438D-AB23-F15D5AF87098}" type="slidenum">
              <a:rPr lang="en-US" smtClean="0"/>
              <a:pPr/>
              <a:t>60</a:t>
            </a:fld>
            <a:endParaRPr lang="en-US" smtClean="0"/>
          </a:p>
        </p:txBody>
      </p:sp>
      <p:sp>
        <p:nvSpPr>
          <p:cNvPr id="164867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FA22EA2-B1E0-43A0-AF56-4B36C0BAB3A7}" type="slidenum">
              <a:rPr lang="en-US" smtClean="0"/>
              <a:pPr/>
              <a:t>61</a:t>
            </a:fld>
            <a:endParaRPr lang="en-US" smtClean="0"/>
          </a:p>
        </p:txBody>
      </p:sp>
      <p:sp>
        <p:nvSpPr>
          <p:cNvPr id="165891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F788DD6-761E-49FB-8F62-E5B1EE3E75F1}" type="slidenum">
              <a:rPr lang="en-US" smtClean="0"/>
              <a:pPr/>
              <a:t>62</a:t>
            </a:fld>
            <a:endParaRPr lang="en-US" smtClean="0"/>
          </a:p>
        </p:txBody>
      </p:sp>
      <p:sp>
        <p:nvSpPr>
          <p:cNvPr id="166915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25A7D99-72E7-452E-9B04-0C64780133F5}" type="slidenum">
              <a:rPr lang="en-US" smtClean="0"/>
              <a:pPr/>
              <a:t>63</a:t>
            </a:fld>
            <a:endParaRPr lang="en-US" smtClean="0"/>
          </a:p>
        </p:txBody>
      </p:sp>
      <p:sp>
        <p:nvSpPr>
          <p:cNvPr id="167939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2595718-4D37-4064-AEA4-1C27DAEC59CD}" type="slidenum">
              <a:rPr lang="en-US" smtClean="0"/>
              <a:pPr/>
              <a:t>64</a:t>
            </a:fld>
            <a:endParaRPr lang="en-US" smtClean="0"/>
          </a:p>
        </p:txBody>
      </p:sp>
      <p:sp>
        <p:nvSpPr>
          <p:cNvPr id="168963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7FC16F1-54FB-4C8A-83CD-63AA45FE72CA}" type="slidenum">
              <a:rPr lang="en-US" smtClean="0"/>
              <a:pPr/>
              <a:t>65</a:t>
            </a:fld>
            <a:endParaRPr lang="en-US" smtClean="0"/>
          </a:p>
        </p:txBody>
      </p:sp>
      <p:sp>
        <p:nvSpPr>
          <p:cNvPr id="169987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D70D6E1-FC25-422C-AC0F-C40AD127FBF5}" type="slidenum">
              <a:rPr lang="en-US" smtClean="0"/>
              <a:pPr/>
              <a:t>66</a:t>
            </a:fld>
            <a:endParaRPr lang="en-US" smtClean="0"/>
          </a:p>
        </p:txBody>
      </p:sp>
      <p:sp>
        <p:nvSpPr>
          <p:cNvPr id="171011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DD9C5D9-A631-4000-91E0-C06DFE3082A2}" type="slidenum">
              <a:rPr lang="en-US" smtClean="0"/>
              <a:pPr/>
              <a:t>67</a:t>
            </a:fld>
            <a:endParaRPr lang="en-US" smtClean="0"/>
          </a:p>
        </p:txBody>
      </p:sp>
      <p:sp>
        <p:nvSpPr>
          <p:cNvPr id="172035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B1E5376-7AFE-4270-BD28-EF809C9F2795}" type="slidenum">
              <a:rPr lang="en-US" smtClean="0"/>
              <a:pPr/>
              <a:t>68</a:t>
            </a:fld>
            <a:endParaRPr lang="en-US" smtClean="0"/>
          </a:p>
        </p:txBody>
      </p:sp>
      <p:sp>
        <p:nvSpPr>
          <p:cNvPr id="173059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B350E43-3521-4B57-8619-CFCAE856A578}" type="slidenum">
              <a:rPr lang="en-US" smtClean="0"/>
              <a:pPr/>
              <a:t>69</a:t>
            </a:fld>
            <a:endParaRPr lang="en-US" smtClean="0"/>
          </a:p>
        </p:txBody>
      </p:sp>
      <p:sp>
        <p:nvSpPr>
          <p:cNvPr id="174083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8B3E52A-4F2E-4489-AD7D-80C444A763B9}" type="slidenum">
              <a:rPr lang="en-US" smtClean="0"/>
              <a:pPr/>
              <a:t>70</a:t>
            </a:fld>
            <a:endParaRPr lang="en-US" smtClean="0"/>
          </a:p>
        </p:txBody>
      </p:sp>
      <p:sp>
        <p:nvSpPr>
          <p:cNvPr id="175107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baseline="-25000" smtClean="0"/>
              <a:t>7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048360D-B6BA-494F-B878-AD3E283D7BED}" type="slidenum">
              <a:rPr lang="en-US" smtClean="0"/>
              <a:pPr/>
              <a:t>71</a:t>
            </a:fld>
            <a:endParaRPr lang="en-US" smtClean="0"/>
          </a:p>
        </p:txBody>
      </p:sp>
      <p:sp>
        <p:nvSpPr>
          <p:cNvPr id="176131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61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AFD135C-E73C-43D8-BA3F-BCC2CFFA5DF9}" type="slidenum">
              <a:rPr lang="en-US" smtClean="0"/>
              <a:pPr/>
              <a:t>72</a:t>
            </a:fld>
            <a:endParaRPr lang="en-US" smtClean="0"/>
          </a:p>
        </p:txBody>
      </p:sp>
      <p:sp>
        <p:nvSpPr>
          <p:cNvPr id="177155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AD4597F-B4B8-4E4E-927C-DCCABE090BF8}" type="slidenum">
              <a:rPr lang="en-US" smtClean="0"/>
              <a:pPr/>
              <a:t>73</a:t>
            </a:fld>
            <a:endParaRPr lang="en-US" smtClean="0"/>
          </a:p>
        </p:txBody>
      </p:sp>
      <p:sp>
        <p:nvSpPr>
          <p:cNvPr id="178179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81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A789673-CCE1-412F-B4CA-2907465D559F}" type="slidenum">
              <a:rPr lang="en-US" smtClean="0"/>
              <a:pPr/>
              <a:t>74</a:t>
            </a:fld>
            <a:endParaRPr lang="en-US" smtClean="0"/>
          </a:p>
        </p:txBody>
      </p:sp>
      <p:sp>
        <p:nvSpPr>
          <p:cNvPr id="179203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92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34AE94D-5970-4451-8F84-D4F9A6067625}" type="slidenum">
              <a:rPr lang="en-US" smtClean="0"/>
              <a:pPr/>
              <a:t>75</a:t>
            </a:fld>
            <a:endParaRPr lang="en-US" smtClean="0"/>
          </a:p>
        </p:txBody>
      </p:sp>
      <p:sp>
        <p:nvSpPr>
          <p:cNvPr id="180227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04BECC4-DDAB-4A1A-B8FE-607640AB75F4}" type="slidenum">
              <a:rPr lang="en-US" smtClean="0"/>
              <a:pPr/>
              <a:t>76</a:t>
            </a:fld>
            <a:endParaRPr lang="en-US" smtClean="0"/>
          </a:p>
        </p:txBody>
      </p:sp>
      <p:sp>
        <p:nvSpPr>
          <p:cNvPr id="181251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12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0ECB55C-C154-48B9-9A9A-27371BA8F0DD}" type="slidenum">
              <a:rPr lang="en-US" smtClean="0"/>
              <a:pPr/>
              <a:t>77</a:t>
            </a:fld>
            <a:endParaRPr lang="en-US" smtClean="0"/>
          </a:p>
        </p:txBody>
      </p:sp>
      <p:sp>
        <p:nvSpPr>
          <p:cNvPr id="182275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22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1630604-0A40-446E-A2C1-D6D1C0462368}" type="slidenum">
              <a:rPr lang="en-US" smtClean="0"/>
              <a:pPr/>
              <a:t>78</a:t>
            </a:fld>
            <a:endParaRPr lang="en-US" smtClean="0"/>
          </a:p>
        </p:txBody>
      </p:sp>
      <p:sp>
        <p:nvSpPr>
          <p:cNvPr id="183299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33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C80D4EB-E15B-439C-8EDD-A38E44629889}" type="slidenum">
              <a:rPr lang="en-US" smtClean="0"/>
              <a:pPr/>
              <a:t>79</a:t>
            </a:fld>
            <a:endParaRPr lang="en-US" smtClean="0"/>
          </a:p>
        </p:txBody>
      </p:sp>
      <p:sp>
        <p:nvSpPr>
          <p:cNvPr id="184323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A860D99-FD3D-43AE-956D-7C11F88571B3}" type="slidenum">
              <a:rPr lang="en-US" smtClean="0"/>
              <a:pPr/>
              <a:t>80</a:t>
            </a:fld>
            <a:endParaRPr lang="en-US" smtClean="0"/>
          </a:p>
        </p:txBody>
      </p:sp>
      <p:sp>
        <p:nvSpPr>
          <p:cNvPr id="185347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53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23E4C89-50D3-4DA4-80CB-162B2C883473}" type="slidenum">
              <a:rPr lang="en-US" smtClean="0"/>
              <a:pPr/>
              <a:t>81</a:t>
            </a:fld>
            <a:endParaRPr lang="en-US" smtClean="0"/>
          </a:p>
        </p:txBody>
      </p:sp>
      <p:sp>
        <p:nvSpPr>
          <p:cNvPr id="186371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9A5611E-2E49-4274-8FE0-64840382388E}" type="slidenum">
              <a:rPr lang="en-CA" smtClean="0"/>
              <a:pPr/>
              <a:t>82</a:t>
            </a:fld>
            <a:endParaRPr lang="en-CA" smtClean="0"/>
          </a:p>
        </p:txBody>
      </p:sp>
      <p:sp>
        <p:nvSpPr>
          <p:cNvPr id="187395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739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3629A68-D717-4576-9BEA-67DB27312ACD}" type="slidenum">
              <a:rPr lang="en-CA" smtClean="0"/>
              <a:pPr/>
              <a:t>83</a:t>
            </a:fld>
            <a:endParaRPr lang="en-CA" smtClean="0"/>
          </a:p>
        </p:txBody>
      </p:sp>
      <p:sp>
        <p:nvSpPr>
          <p:cNvPr id="188419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5556A36-1869-4CE4-B899-6DFA19FB299F}" type="slidenum">
              <a:rPr lang="en-CA" smtClean="0"/>
              <a:pPr/>
              <a:t>84</a:t>
            </a:fld>
            <a:endParaRPr lang="en-CA" smtClean="0"/>
          </a:p>
        </p:txBody>
      </p:sp>
      <p:sp>
        <p:nvSpPr>
          <p:cNvPr id="189443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8A9C8B4-7662-40D7-8BD2-97FAE535A39B}" type="slidenum">
              <a:rPr lang="en-CA" smtClean="0"/>
              <a:pPr/>
              <a:t>85</a:t>
            </a:fld>
            <a:endParaRPr lang="en-CA" smtClean="0"/>
          </a:p>
        </p:txBody>
      </p:sp>
      <p:sp>
        <p:nvSpPr>
          <p:cNvPr id="190467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046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96DC07D-6E1C-4401-A00D-9831DCD5C549}" type="slidenum">
              <a:rPr lang="en-CA" smtClean="0"/>
              <a:pPr/>
              <a:t>86</a:t>
            </a:fld>
            <a:endParaRPr lang="en-CA" smtClean="0"/>
          </a:p>
        </p:txBody>
      </p:sp>
      <p:sp>
        <p:nvSpPr>
          <p:cNvPr id="191491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B774CE8-E078-43D9-968A-A711EB305A4B}" type="slidenum">
              <a:rPr lang="en-CA" smtClean="0"/>
              <a:pPr/>
              <a:t>87</a:t>
            </a:fld>
            <a:endParaRPr lang="en-CA" smtClean="0"/>
          </a:p>
        </p:txBody>
      </p:sp>
      <p:sp>
        <p:nvSpPr>
          <p:cNvPr id="192515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251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C2B433D-589E-4FAB-86F2-DFC228E21C5A}" type="slidenum">
              <a:rPr lang="en-CA" smtClean="0"/>
              <a:pPr/>
              <a:t>88</a:t>
            </a:fld>
            <a:endParaRPr lang="en-CA" smtClean="0"/>
          </a:p>
        </p:txBody>
      </p:sp>
      <p:sp>
        <p:nvSpPr>
          <p:cNvPr id="193539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354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F18CF14-F1D3-43EC-8FC9-8ED6B5BFBE52}" type="slidenum">
              <a:rPr lang="en-CA" smtClean="0"/>
              <a:pPr/>
              <a:t>89</a:t>
            </a:fld>
            <a:endParaRPr lang="en-CA" smtClean="0"/>
          </a:p>
        </p:txBody>
      </p:sp>
      <p:sp>
        <p:nvSpPr>
          <p:cNvPr id="194563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6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223DB39-3AA0-4150-BD3F-30E28B8A7EE9}" type="slidenum">
              <a:rPr lang="en-CA" smtClean="0"/>
              <a:pPr/>
              <a:t>90</a:t>
            </a:fld>
            <a:endParaRPr lang="en-CA" smtClean="0"/>
          </a:p>
        </p:txBody>
      </p:sp>
      <p:sp>
        <p:nvSpPr>
          <p:cNvPr id="195587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55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73C1177-94F0-41CC-A505-183F8CFDBC77}" type="slidenum">
              <a:rPr lang="en-CA" smtClean="0"/>
              <a:pPr/>
              <a:t>91</a:t>
            </a:fld>
            <a:endParaRPr lang="en-CA" smtClean="0"/>
          </a:p>
        </p:txBody>
      </p:sp>
      <p:sp>
        <p:nvSpPr>
          <p:cNvPr id="196611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661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3B103E9-FB75-490B-8BCF-799B5243A1DB}" type="slidenum">
              <a:rPr lang="en-CA" smtClean="0"/>
              <a:pPr/>
              <a:t>92</a:t>
            </a:fld>
            <a:endParaRPr lang="en-CA" smtClean="0"/>
          </a:p>
        </p:txBody>
      </p:sp>
      <p:sp>
        <p:nvSpPr>
          <p:cNvPr id="197635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763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276897F-48D8-4598-B08F-1796F5AE6DD2}" type="slidenum">
              <a:rPr lang="en-CA" smtClean="0"/>
              <a:pPr/>
              <a:t>93</a:t>
            </a:fld>
            <a:endParaRPr lang="en-CA" smtClean="0"/>
          </a:p>
        </p:txBody>
      </p:sp>
      <p:sp>
        <p:nvSpPr>
          <p:cNvPr id="198659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866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A148B95-5C98-473B-B5B7-7C61BC135418}" type="slidenum">
              <a:rPr lang="en-CA" smtClean="0"/>
              <a:pPr/>
              <a:t>94</a:t>
            </a:fld>
            <a:endParaRPr lang="en-CA" smtClean="0"/>
          </a:p>
        </p:txBody>
      </p:sp>
      <p:sp>
        <p:nvSpPr>
          <p:cNvPr id="199683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968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F060AC1-8152-4542-9334-849A3A74783A}" type="slidenum">
              <a:rPr lang="en-CA" smtClean="0"/>
              <a:pPr/>
              <a:t>95</a:t>
            </a:fld>
            <a:endParaRPr lang="en-CA" smtClean="0"/>
          </a:p>
        </p:txBody>
      </p:sp>
      <p:sp>
        <p:nvSpPr>
          <p:cNvPr id="200707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070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3EA0CF0-15B3-44C6-AFAD-AC0976905B14}" type="slidenum">
              <a:rPr lang="en-CA" smtClean="0"/>
              <a:pPr/>
              <a:t>96</a:t>
            </a:fld>
            <a:endParaRPr lang="en-CA" smtClean="0"/>
          </a:p>
        </p:txBody>
      </p:sp>
      <p:sp>
        <p:nvSpPr>
          <p:cNvPr id="201731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B6B6E3A-D204-4AB5-9599-4D39EFF0F961}" type="slidenum">
              <a:rPr lang="en-CA" smtClean="0"/>
              <a:pPr/>
              <a:t>97</a:t>
            </a:fld>
            <a:endParaRPr lang="en-CA" smtClean="0"/>
          </a:p>
        </p:txBody>
      </p:sp>
      <p:sp>
        <p:nvSpPr>
          <p:cNvPr id="202755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275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AEC0AE8-FD16-45DA-AC4C-4CDF226AFC84}" type="slidenum">
              <a:rPr lang="en-CA" smtClean="0"/>
              <a:pPr/>
              <a:t>98</a:t>
            </a:fld>
            <a:endParaRPr lang="en-CA" smtClean="0"/>
          </a:p>
        </p:txBody>
      </p:sp>
      <p:sp>
        <p:nvSpPr>
          <p:cNvPr id="203779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378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AC66D69-8739-434B-86A6-683CFA0BB28B}" type="slidenum">
              <a:rPr lang="en-CA" smtClean="0"/>
              <a:pPr/>
              <a:t>99</a:t>
            </a:fld>
            <a:endParaRPr lang="en-CA" smtClean="0"/>
          </a:p>
        </p:txBody>
      </p:sp>
      <p:sp>
        <p:nvSpPr>
          <p:cNvPr id="204803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0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3B22482-791F-4AEB-BA3F-8FD9B2C51C25}" type="slidenum">
              <a:rPr lang="en-CA" smtClean="0"/>
              <a:pPr/>
              <a:t>100</a:t>
            </a:fld>
            <a:endParaRPr lang="en-CA" smtClean="0"/>
          </a:p>
        </p:txBody>
      </p:sp>
      <p:sp>
        <p:nvSpPr>
          <p:cNvPr id="205827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8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C3F323B-9768-4773-8458-3A41080342BB}" type="slidenum">
              <a:rPr lang="en-CA" smtClean="0"/>
              <a:pPr/>
              <a:t>101</a:t>
            </a:fld>
            <a:endParaRPr lang="en-CA" smtClean="0"/>
          </a:p>
        </p:txBody>
      </p:sp>
      <p:sp>
        <p:nvSpPr>
          <p:cNvPr id="206851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68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FAB7886-0E02-49EF-AA71-0FAAC4382865}" type="slidenum">
              <a:rPr lang="en-CA" smtClean="0"/>
              <a:pPr/>
              <a:t>102</a:t>
            </a:fld>
            <a:endParaRPr lang="en-CA" smtClean="0"/>
          </a:p>
        </p:txBody>
      </p:sp>
      <p:sp>
        <p:nvSpPr>
          <p:cNvPr id="207875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787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A08E9EF-5061-446C-A206-52B1544920A0}" type="slidenum">
              <a:rPr lang="en-CA" smtClean="0"/>
              <a:pPr/>
              <a:t>103</a:t>
            </a:fld>
            <a:endParaRPr lang="en-CA" smtClean="0"/>
          </a:p>
        </p:txBody>
      </p:sp>
      <p:sp>
        <p:nvSpPr>
          <p:cNvPr id="208899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890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86C8961-B8D2-4CBB-BBFB-4DBB555512A3}" type="slidenum">
              <a:rPr lang="en-CA" smtClean="0"/>
              <a:pPr/>
              <a:t>104</a:t>
            </a:fld>
            <a:endParaRPr lang="en-CA" smtClean="0"/>
          </a:p>
        </p:txBody>
      </p:sp>
      <p:sp>
        <p:nvSpPr>
          <p:cNvPr id="209923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65225" y="703263"/>
            <a:ext cx="4529138" cy="33972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99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0225"/>
            <a:ext cx="5029200" cy="4106863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5B43070-12BF-4FE4-985E-29E24E2637D5}" type="slidenum">
              <a:rPr lang="en-CA" smtClean="0"/>
              <a:pPr/>
              <a:t>105</a:t>
            </a:fld>
            <a:endParaRPr lang="en-CA" smtClean="0"/>
          </a:p>
        </p:txBody>
      </p:sp>
      <p:sp>
        <p:nvSpPr>
          <p:cNvPr id="210947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65225" y="703263"/>
            <a:ext cx="4529138" cy="33972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094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0225"/>
            <a:ext cx="5029200" cy="4106863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86828CF-1468-4436-9D5B-AE42D13BF1BA}" type="slidenum">
              <a:rPr lang="en-CA" smtClean="0"/>
              <a:pPr/>
              <a:t>106</a:t>
            </a:fld>
            <a:endParaRPr lang="en-CA" smtClean="0"/>
          </a:p>
        </p:txBody>
      </p:sp>
      <p:sp>
        <p:nvSpPr>
          <p:cNvPr id="211971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65225" y="703263"/>
            <a:ext cx="4529138" cy="33972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197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0225"/>
            <a:ext cx="5029200" cy="4106863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C34A29F-633C-4219-8673-CAF9CDB22E17}" type="slidenum">
              <a:rPr lang="en-CA" smtClean="0"/>
              <a:pPr/>
              <a:t>107</a:t>
            </a:fld>
            <a:endParaRPr lang="en-CA" smtClean="0"/>
          </a:p>
        </p:txBody>
      </p:sp>
      <p:sp>
        <p:nvSpPr>
          <p:cNvPr id="212995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65225" y="703263"/>
            <a:ext cx="4529138" cy="33972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299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0225"/>
            <a:ext cx="5029200" cy="4106863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8E0A119-B38D-43B3-AAF5-1C49BA588DE7}" type="slidenum">
              <a:rPr lang="en-CA" smtClean="0"/>
              <a:pPr/>
              <a:t>108</a:t>
            </a:fld>
            <a:endParaRPr lang="en-CA" smtClean="0"/>
          </a:p>
        </p:txBody>
      </p:sp>
      <p:sp>
        <p:nvSpPr>
          <p:cNvPr id="214019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65225" y="703263"/>
            <a:ext cx="4529138" cy="33972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402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0225"/>
            <a:ext cx="5029200" cy="4106863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4765C9E-FA38-41F3-BB02-F94691A3D62D}" type="slidenum">
              <a:rPr lang="en-CA" smtClean="0"/>
              <a:pPr/>
              <a:t>109</a:t>
            </a:fld>
            <a:endParaRPr lang="en-CA" smtClean="0"/>
          </a:p>
        </p:txBody>
      </p:sp>
      <p:sp>
        <p:nvSpPr>
          <p:cNvPr id="215043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65225" y="703263"/>
            <a:ext cx="4529138" cy="33972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4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0225"/>
            <a:ext cx="5029200" cy="4106863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E0C57BF-5EF6-4BF4-A96F-D0A345913DCA}" type="slidenum">
              <a:rPr lang="en-CA" smtClean="0"/>
              <a:pPr/>
              <a:t>110</a:t>
            </a:fld>
            <a:endParaRPr lang="en-CA" smtClean="0"/>
          </a:p>
        </p:txBody>
      </p:sp>
      <p:sp>
        <p:nvSpPr>
          <p:cNvPr id="216067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65225" y="703263"/>
            <a:ext cx="4529138" cy="33972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606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0225"/>
            <a:ext cx="5029200" cy="4106863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E969171-23E1-4878-B66B-9C451251CEED}" type="slidenum">
              <a:rPr lang="en-CA" smtClean="0"/>
              <a:pPr/>
              <a:t>111</a:t>
            </a:fld>
            <a:endParaRPr lang="en-CA" smtClean="0"/>
          </a:p>
        </p:txBody>
      </p:sp>
      <p:sp>
        <p:nvSpPr>
          <p:cNvPr id="217091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65225" y="703263"/>
            <a:ext cx="4529138" cy="33972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709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0225"/>
            <a:ext cx="5029200" cy="4106863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2CB8DA2-2BE6-4069-B7F4-561874EC5A8B}" type="slidenum">
              <a:rPr lang="en-CA" smtClean="0"/>
              <a:pPr/>
              <a:t>112</a:t>
            </a:fld>
            <a:endParaRPr lang="en-CA" smtClean="0"/>
          </a:p>
        </p:txBody>
      </p:sp>
      <p:sp>
        <p:nvSpPr>
          <p:cNvPr id="218115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65225" y="703263"/>
            <a:ext cx="4529138" cy="33972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811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0225"/>
            <a:ext cx="5029200" cy="4106863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949C43D-865B-48F9-95E6-2EC9361F1F12}" type="slidenum">
              <a:rPr lang="en-CA" smtClean="0"/>
              <a:pPr/>
              <a:t>113</a:t>
            </a:fld>
            <a:endParaRPr lang="en-CA" smtClean="0"/>
          </a:p>
        </p:txBody>
      </p:sp>
      <p:sp>
        <p:nvSpPr>
          <p:cNvPr id="219139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65225" y="703263"/>
            <a:ext cx="4529138" cy="33972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914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0225"/>
            <a:ext cx="5029200" cy="4106863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FDA5E-5A6E-43DC-8A1F-FC24AC002683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0FDCF-FC13-4982-AEEC-13EE9D57FD8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FDA5E-5A6E-43DC-8A1F-FC24AC002683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0FDCF-FC13-4982-AEEC-13EE9D57FD8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FDA5E-5A6E-43DC-8A1F-FC24AC002683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0FDCF-FC13-4982-AEEC-13EE9D57FD8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FDA5E-5A6E-43DC-8A1F-FC24AC002683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0FDCF-FC13-4982-AEEC-13EE9D57FD8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FDA5E-5A6E-43DC-8A1F-FC24AC002683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0FDCF-FC13-4982-AEEC-13EE9D57FD8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FDA5E-5A6E-43DC-8A1F-FC24AC002683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0FDCF-FC13-4982-AEEC-13EE9D57FD8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FDA5E-5A6E-43DC-8A1F-FC24AC002683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0FDCF-FC13-4982-AEEC-13EE9D57FD8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FDA5E-5A6E-43DC-8A1F-FC24AC002683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0FDCF-FC13-4982-AEEC-13EE9D57FD8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FDA5E-5A6E-43DC-8A1F-FC24AC002683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0FDCF-FC13-4982-AEEC-13EE9D57FD8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FDA5E-5A6E-43DC-8A1F-FC24AC002683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0FDCF-FC13-4982-AEEC-13EE9D57FD8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FDA5E-5A6E-43DC-8A1F-FC24AC002683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0FDCF-FC13-4982-AEEC-13EE9D57FD8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/>
              <a:t>Comp 122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100AC2-EA30-49A8-939E-5D93B14DA858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41838" y="1214438"/>
            <a:ext cx="4038600" cy="2462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41838" y="3829050"/>
            <a:ext cx="4038600" cy="24622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E58E5-12DC-4688-9863-4EA5356716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FDA5E-5A6E-43DC-8A1F-FC24AC002683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0FDCF-FC13-4982-AEEC-13EE9D57FD8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21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oleObject" Target="../embeddings/oleObject1.bin"/><Relationship Id="rId4" Type="http://schemas.openxmlformats.org/officeDocument/2006/relationships/image" Target="../media/image7.wmf"/><Relationship Id="rId9" Type="http://schemas.openxmlformats.org/officeDocument/2006/relationships/oleObject" Target="../embeddings/oleObject5.bin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6.bin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7.bin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oleObject" Target="../embeddings/oleObject9.bin"/><Relationship Id="rId4" Type="http://schemas.openxmlformats.org/officeDocument/2006/relationships/oleObject" Target="../embeddings/oleObject8.bin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oleObject11.bin"/><Relationship Id="rId4" Type="http://schemas.openxmlformats.org/officeDocument/2006/relationships/oleObject" Target="../embeddings/oleObject10.bin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4.bin"/><Relationship Id="rId5" Type="http://schemas.openxmlformats.org/officeDocument/2006/relationships/oleObject" Target="../embeddings/oleObject13.bin"/><Relationship Id="rId4" Type="http://schemas.openxmlformats.org/officeDocument/2006/relationships/oleObject" Target="../embeddings/oleObject12.bin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oleObject16.bin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9.bin"/><Relationship Id="rId5" Type="http://schemas.openxmlformats.org/officeDocument/2006/relationships/oleObject" Target="../embeddings/oleObject18.bin"/><Relationship Id="rId4" Type="http://schemas.openxmlformats.org/officeDocument/2006/relationships/oleObject" Target="../embeddings/oleObject17.bin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3.bin"/><Relationship Id="rId5" Type="http://schemas.openxmlformats.org/officeDocument/2006/relationships/oleObject" Target="../embeddings/oleObject22.bin"/><Relationship Id="rId4" Type="http://schemas.openxmlformats.org/officeDocument/2006/relationships/oleObject" Target="../embeddings/oleObject21.bin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notesSlide" Target="../notesSlides/notesSlide36.xml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6.bin"/><Relationship Id="rId5" Type="http://schemas.openxmlformats.org/officeDocument/2006/relationships/oleObject" Target="../embeddings/oleObject25.bin"/><Relationship Id="rId4" Type="http://schemas.openxmlformats.org/officeDocument/2006/relationships/oleObject" Target="../embeddings/oleObject24.bin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oleObject" Target="../embeddings/oleObject29.bin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oleObject" Target="../embeddings/oleObject30.bin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oleObject" Target="../embeddings/oleObject31.bin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oleObject" Target="../embeddings/oleObject32.bin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oleObject" Target="../embeddings/oleObject33.bin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oleObject" Target="../embeddings/oleObject34.bin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oleObject" Target="../embeddings/oleObject35.bin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oleObject" Target="../embeddings/oleObject36.bin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oleObject" Target="../embeddings/oleObject37.bin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oleObject" Target="../embeddings/oleObject38.bin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oleObject" Target="../embeddings/oleObject39.bin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4" Type="http://schemas.openxmlformats.org/officeDocument/2006/relationships/oleObject" Target="../embeddings/oleObject40.bin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4" Type="http://schemas.openxmlformats.org/officeDocument/2006/relationships/oleObject" Target="../embeddings/oleObject41.bin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4" Type="http://schemas.openxmlformats.org/officeDocument/2006/relationships/oleObject" Target="../embeddings/oleObject42.bin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4" Type="http://schemas.openxmlformats.org/officeDocument/2006/relationships/oleObject" Target="../embeddings/oleObject43.bin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4" Type="http://schemas.openxmlformats.org/officeDocument/2006/relationships/oleObject" Target="../embeddings/oleObject44.bin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4" Type="http://schemas.openxmlformats.org/officeDocument/2006/relationships/oleObject" Target="../embeddings/oleObject45.bin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4" Type="http://schemas.openxmlformats.org/officeDocument/2006/relationships/oleObject" Target="../embeddings/oleObject46.bin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4" Type="http://schemas.openxmlformats.org/officeDocument/2006/relationships/oleObject" Target="../embeddings/oleObject47.bin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4" Type="http://schemas.openxmlformats.org/officeDocument/2006/relationships/oleObject" Target="../embeddings/oleObject48.bin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4" Type="http://schemas.openxmlformats.org/officeDocument/2006/relationships/oleObject" Target="../embeddings/oleObject49.bin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4" Type="http://schemas.openxmlformats.org/officeDocument/2006/relationships/oleObject" Target="../embeddings/oleObject50.bin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955925" y="1219200"/>
            <a:ext cx="6188075" cy="2303462"/>
          </a:xfrm>
        </p:spPr>
        <p:txBody>
          <a:bodyPr/>
          <a:lstStyle/>
          <a:p>
            <a:pPr eaLnBrk="1" hangingPunct="1"/>
            <a:r>
              <a:rPr lang="fr-FR" sz="3600" b="1" i="1" dirty="0" smtClean="0">
                <a:latin typeface="Times New Roman" pitchFamily="18" charset="0"/>
                <a:cs typeface="Times New Roman" pitchFamily="18" charset="0"/>
              </a:rPr>
              <a:t>Data Structure &amp; </a:t>
            </a:r>
            <a:r>
              <a:rPr lang="fr-FR" sz="3600" b="1" i="1" dirty="0" err="1" smtClean="0">
                <a:latin typeface="Times New Roman" pitchFamily="18" charset="0"/>
                <a:cs typeface="Times New Roman" pitchFamily="18" charset="0"/>
              </a:rPr>
              <a:t>Algorithms</a:t>
            </a:r>
            <a:r>
              <a:rPr lang="fr-FR" sz="2400" b="1" i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400" b="1" i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fr-FR" sz="2400" b="1" i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400" b="1" i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fr-FR" sz="2400" b="1" i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400" b="1" i="1" dirty="0" smtClean="0">
                <a:latin typeface="Times New Roman" pitchFamily="18" charset="0"/>
                <a:cs typeface="Times New Roman" pitchFamily="18" charset="0"/>
              </a:rPr>
            </a:br>
            <a:endParaRPr lang="fr-FR" sz="2400" b="1" i="1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435" name="Picture 6" descr="logoHom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2667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6" name="Subtitle 7"/>
          <p:cNvSpPr>
            <a:spLocks noGrp="1"/>
          </p:cNvSpPr>
          <p:nvPr>
            <p:ph type="subTitle" idx="1"/>
          </p:nvPr>
        </p:nvSpPr>
        <p:spPr>
          <a:xfrm>
            <a:off x="2268538" y="3068638"/>
            <a:ext cx="6400800" cy="1752600"/>
          </a:xfrm>
        </p:spPr>
        <p:txBody>
          <a:bodyPr/>
          <a:lstStyle/>
          <a:p>
            <a:pPr eaLnBrk="1" hangingPunct="1"/>
            <a:r>
              <a:rPr lang="en-US" sz="2800" b="1" dirty="0" smtClean="0"/>
              <a:t>Submitted By:-</a:t>
            </a:r>
          </a:p>
          <a:p>
            <a:pPr eaLnBrk="1" hangingPunct="1"/>
            <a:endParaRPr lang="en-US" sz="1800" dirty="0" smtClean="0"/>
          </a:p>
          <a:p>
            <a:pPr eaLnBrk="1" hangingPunct="1"/>
            <a:r>
              <a:rPr lang="en-US" sz="1800" dirty="0" err="1" smtClean="0"/>
              <a:t>Seema</a:t>
            </a:r>
            <a:r>
              <a:rPr lang="en-US" sz="1800" dirty="0" smtClean="0"/>
              <a:t> Sharma</a:t>
            </a:r>
            <a:endParaRPr lang="en-US" sz="1800" dirty="0" smtClean="0"/>
          </a:p>
          <a:p>
            <a:pPr eaLnBrk="1" hangingPunct="1"/>
            <a:r>
              <a:rPr lang="en-US" sz="1800" dirty="0" smtClean="0"/>
              <a:t>Assistant Prof - CSE</a:t>
            </a:r>
            <a:endParaRPr lang="en-IN" sz="1800" dirty="0" smtClean="0"/>
          </a:p>
        </p:txBody>
      </p:sp>
      <p:sp>
        <p:nvSpPr>
          <p:cNvPr id="18437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IN" smtClean="0">
                <a:latin typeface="Arial" pitchFamily="34" charset="0"/>
                <a:cs typeface="Arial" pitchFamily="34" charset="0"/>
              </a:rPr>
              <a:t>JECRC UNIVERSITY</a:t>
            </a:r>
            <a:endParaRPr lang="fr-FR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438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78423BC-B8E4-4656-A618-E1E367E7955D}" type="slidenum">
              <a:rPr lang="fr-FR" smtClean="0">
                <a:latin typeface="Arial" pitchFamily="34" charset="0"/>
                <a:cs typeface="Arial" pitchFamily="34" charset="0"/>
              </a:rPr>
              <a:pPr/>
              <a:t>1</a:t>
            </a:fld>
            <a:endParaRPr lang="fr-FR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439" name="TextBox 11"/>
          <p:cNvSpPr txBox="1">
            <a:spLocks noChangeArrowheads="1"/>
          </p:cNvSpPr>
          <p:nvPr/>
        </p:nvSpPr>
        <p:spPr bwMode="auto">
          <a:xfrm>
            <a:off x="4211638" y="5876925"/>
            <a:ext cx="18573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39975" y="1557338"/>
            <a:ext cx="6188075" cy="2303462"/>
          </a:xfrm>
        </p:spPr>
        <p:txBody>
          <a:bodyPr/>
          <a:lstStyle/>
          <a:p>
            <a:pPr eaLnBrk="1" hangingPunct="1"/>
            <a:r>
              <a:rPr lang="fr-FR" sz="3600" b="1" i="1" smtClean="0">
                <a:latin typeface="Times New Roman" pitchFamily="18" charset="0"/>
                <a:cs typeface="Times New Roman" pitchFamily="18" charset="0"/>
              </a:rPr>
              <a:t>Data Structure &amp; Algorithms </a:t>
            </a:r>
            <a:r>
              <a:rPr lang="fr-FR" sz="2400" b="1" i="1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400" b="1" i="1" smtClean="0">
                <a:latin typeface="Times New Roman" pitchFamily="18" charset="0"/>
                <a:cs typeface="Times New Roman" pitchFamily="18" charset="0"/>
              </a:rPr>
            </a:br>
            <a:endParaRPr lang="fr-FR" sz="2400" b="1" i="1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9459" name="Picture 6" descr="logoHom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0510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0" name="Subtitle 7"/>
          <p:cNvSpPr>
            <a:spLocks noGrp="1"/>
          </p:cNvSpPr>
          <p:nvPr>
            <p:ph type="subTitle" idx="1"/>
          </p:nvPr>
        </p:nvSpPr>
        <p:spPr>
          <a:xfrm>
            <a:off x="2268538" y="3068638"/>
            <a:ext cx="6400800" cy="1752600"/>
          </a:xfrm>
        </p:spPr>
        <p:txBody>
          <a:bodyPr/>
          <a:lstStyle/>
          <a:p>
            <a:pPr eaLnBrk="1" hangingPunct="1"/>
            <a:r>
              <a:rPr lang="en-US" sz="4000" b="1" smtClean="0"/>
              <a:t>Unit I</a:t>
            </a:r>
          </a:p>
          <a:p>
            <a:pPr eaLnBrk="1" hangingPunct="1"/>
            <a:r>
              <a:rPr lang="en-US" sz="2800" b="1" smtClean="0"/>
              <a:t>Introduction</a:t>
            </a:r>
            <a:endParaRPr lang="en-IN" sz="2800" b="1" smtClean="0"/>
          </a:p>
        </p:txBody>
      </p:sp>
      <p:sp>
        <p:nvSpPr>
          <p:cNvPr id="19461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IN" smtClean="0">
                <a:latin typeface="Arial" pitchFamily="34" charset="0"/>
                <a:cs typeface="Arial" pitchFamily="34" charset="0"/>
              </a:rPr>
              <a:t>JECRC UNIVERSITY</a:t>
            </a:r>
            <a:endParaRPr lang="fr-FR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462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A95C8CB-6E7F-422F-B6CC-8F2EC3B1DDAC}" type="slidenum">
              <a:rPr lang="fr-FR" smtClean="0">
                <a:latin typeface="Arial" pitchFamily="34" charset="0"/>
                <a:cs typeface="Arial" pitchFamily="34" charset="0"/>
              </a:rPr>
              <a:pPr/>
              <a:t>2</a:t>
            </a:fld>
            <a:endParaRPr lang="fr-FR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00113" y="1679575"/>
            <a:ext cx="8243887" cy="1462088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AU" sz="6000" b="1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br>
              <a:rPr lang="en-AU" sz="6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AU" sz="6000" b="1" dirty="0" smtClean="0">
                <a:latin typeface="Times New Roman" pitchFamily="18" charset="0"/>
                <a:cs typeface="Times New Roman" pitchFamily="18" charset="0"/>
              </a:rPr>
              <a:t> to </a:t>
            </a:r>
            <a:br>
              <a:rPr lang="en-AU" sz="6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AU" sz="6000" b="1" dirty="0" smtClean="0">
                <a:latin typeface="Times New Roman" pitchFamily="18" charset="0"/>
                <a:cs typeface="Times New Roman" pitchFamily="18" charset="0"/>
              </a:rPr>
              <a:t>Data Structures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Definition</a:t>
            </a:r>
          </a:p>
        </p:txBody>
      </p:sp>
      <p:sp>
        <p:nvSpPr>
          <p:cNvPr id="36867" name="Rectangle 8"/>
          <p:cNvSpPr>
            <a:spLocks noGrp="1" noChangeArrowheads="1"/>
          </p:cNvSpPr>
          <p:nvPr>
            <p:ph idx="1"/>
          </p:nvPr>
        </p:nvSpPr>
        <p:spPr>
          <a:xfrm>
            <a:off x="971550" y="1989138"/>
            <a:ext cx="7988300" cy="4114800"/>
          </a:xfrm>
        </p:spPr>
        <p:txBody>
          <a:bodyPr/>
          <a:lstStyle/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Data structure is representation of the logical relationship existing between individual elements of data.</a:t>
            </a:r>
          </a:p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In other words, a data structure is a way of organizing all data items that considers not only the elements stored but also their relationship to each other.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827088" y="1989138"/>
            <a:ext cx="8132762" cy="4114800"/>
          </a:xfrm>
        </p:spPr>
        <p:txBody>
          <a:bodyPr/>
          <a:lstStyle/>
          <a:p>
            <a:pPr eaLnBrk="1" hangingPunct="1"/>
            <a:r>
              <a:rPr lang="en-AU" dirty="0" smtClean="0">
                <a:latin typeface="Times New Roman" pitchFamily="18" charset="0"/>
                <a:cs typeface="Times New Roman" pitchFamily="18" charset="0"/>
              </a:rPr>
              <a:t>Data structure affects the design of both structural &amp; functional aspects of a program.</a:t>
            </a:r>
          </a:p>
          <a:p>
            <a:pPr eaLnBrk="1" hangingPunct="1">
              <a:buFont typeface="Wingdings" pitchFamily="2" charset="2"/>
              <a:buNone/>
            </a:pPr>
            <a:r>
              <a:rPr lang="en-AU" dirty="0" smtClean="0">
                <a:latin typeface="Times New Roman" pitchFamily="18" charset="0"/>
                <a:cs typeface="Times New Roman" pitchFamily="18" charset="0"/>
              </a:rPr>
              <a:t>  Program=algorithm + Data Structure</a:t>
            </a:r>
          </a:p>
          <a:p>
            <a:pPr eaLnBrk="1" hangingPunct="1"/>
            <a:r>
              <a:rPr lang="en-AU" dirty="0" smtClean="0">
                <a:latin typeface="Times New Roman" pitchFamily="18" charset="0"/>
                <a:cs typeface="Times New Roman" pitchFamily="18" charset="0"/>
              </a:rPr>
              <a:t>You know that a algorithm is a step by step procedure to solve a particular function.</a:t>
            </a:r>
          </a:p>
          <a:p>
            <a:pPr eaLnBrk="1" hangingPunct="1">
              <a:buFont typeface="Wingdings" pitchFamily="2" charset="2"/>
              <a:buNone/>
            </a:pPr>
            <a:endParaRPr lang="en-AU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AU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1042988" y="1700213"/>
            <a:ext cx="7921625" cy="4897437"/>
          </a:xfrm>
        </p:spPr>
        <p:txBody>
          <a:bodyPr/>
          <a:lstStyle/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That means, algorithm is a set of instruction written to carry out certain tasks &amp; the data structure is the way of organizing the data with their logical relationship retained.</a:t>
            </a:r>
          </a:p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To develop a program of an algorithm, we should select an appropriate data structure for that algorithm.</a:t>
            </a:r>
          </a:p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Therefore algorithm and its associated data structures from a program.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Classification of Data Structure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Data structure are normally divided into two broad categories:</a:t>
            </a:r>
          </a:p>
          <a:p>
            <a:pPr lvl="1" eaLnBrk="1" hangingPunct="1"/>
            <a:r>
              <a:rPr lang="en-AU" sz="3200" smtClean="0">
                <a:latin typeface="Times New Roman" pitchFamily="18" charset="0"/>
                <a:cs typeface="Times New Roman" pitchFamily="18" charset="0"/>
              </a:rPr>
              <a:t>Primitive Data Structure</a:t>
            </a:r>
          </a:p>
          <a:p>
            <a:pPr lvl="1" eaLnBrk="1" hangingPunct="1"/>
            <a:r>
              <a:rPr lang="en-AU" sz="3200" smtClean="0">
                <a:latin typeface="Times New Roman" pitchFamily="18" charset="0"/>
                <a:cs typeface="Times New Roman" pitchFamily="18" charset="0"/>
              </a:rPr>
              <a:t>Non-Primitive Data Structure</a:t>
            </a:r>
          </a:p>
          <a:p>
            <a:pPr lvl="1" eaLnBrk="1" hangingPunct="1"/>
            <a:endParaRPr lang="en-AU" sz="3200" smtClean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>
              <a:buFont typeface="Wingdings" pitchFamily="2" charset="2"/>
              <a:buNone/>
            </a:pPr>
            <a:endParaRPr lang="en-AU" sz="320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Classification of Data Structure</a:t>
            </a:r>
          </a:p>
        </p:txBody>
      </p:sp>
      <p:sp>
        <p:nvSpPr>
          <p:cNvPr id="40963" name="Rectangle 4"/>
          <p:cNvSpPr>
            <a:spLocks noChangeArrowheads="1"/>
          </p:cNvSpPr>
          <p:nvPr/>
        </p:nvSpPr>
        <p:spPr bwMode="auto">
          <a:xfrm>
            <a:off x="3059113" y="1844675"/>
            <a:ext cx="3095625" cy="5762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AU" sz="3200">
                <a:latin typeface="Times New Roman" pitchFamily="18" charset="0"/>
              </a:rPr>
              <a:t>Data structure</a:t>
            </a:r>
          </a:p>
        </p:txBody>
      </p:sp>
      <p:sp>
        <p:nvSpPr>
          <p:cNvPr id="40964" name="Line 5"/>
          <p:cNvSpPr>
            <a:spLocks noChangeShapeType="1"/>
          </p:cNvSpPr>
          <p:nvPr/>
        </p:nvSpPr>
        <p:spPr bwMode="auto">
          <a:xfrm>
            <a:off x="4643438" y="2420938"/>
            <a:ext cx="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65" name="Line 6"/>
          <p:cNvSpPr>
            <a:spLocks noChangeShapeType="1"/>
          </p:cNvSpPr>
          <p:nvPr/>
        </p:nvSpPr>
        <p:spPr bwMode="auto">
          <a:xfrm>
            <a:off x="2555875" y="2708275"/>
            <a:ext cx="4032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66" name="Line 8"/>
          <p:cNvSpPr>
            <a:spLocks noChangeShapeType="1"/>
          </p:cNvSpPr>
          <p:nvPr/>
        </p:nvSpPr>
        <p:spPr bwMode="auto">
          <a:xfrm>
            <a:off x="2555875" y="2708275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967" name="Line 9"/>
          <p:cNvSpPr>
            <a:spLocks noChangeShapeType="1"/>
          </p:cNvSpPr>
          <p:nvPr/>
        </p:nvSpPr>
        <p:spPr bwMode="auto">
          <a:xfrm>
            <a:off x="6588125" y="2708275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968" name="Rectangle 10"/>
          <p:cNvSpPr>
            <a:spLocks noChangeArrowheads="1"/>
          </p:cNvSpPr>
          <p:nvPr/>
        </p:nvSpPr>
        <p:spPr bwMode="auto">
          <a:xfrm>
            <a:off x="1116013" y="3068638"/>
            <a:ext cx="3095625" cy="5762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AU" sz="3200">
                <a:latin typeface="Times New Roman" pitchFamily="18" charset="0"/>
              </a:rPr>
              <a:t>Primitive DS</a:t>
            </a:r>
          </a:p>
        </p:txBody>
      </p:sp>
      <p:sp>
        <p:nvSpPr>
          <p:cNvPr id="40969" name="Rectangle 11"/>
          <p:cNvSpPr>
            <a:spLocks noChangeArrowheads="1"/>
          </p:cNvSpPr>
          <p:nvPr/>
        </p:nvSpPr>
        <p:spPr bwMode="auto">
          <a:xfrm>
            <a:off x="5076825" y="3068638"/>
            <a:ext cx="3095625" cy="5762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AU" sz="3200">
                <a:latin typeface="Times New Roman" pitchFamily="18" charset="0"/>
              </a:rPr>
              <a:t>Non-Primitive DS</a:t>
            </a:r>
          </a:p>
        </p:txBody>
      </p:sp>
      <p:sp>
        <p:nvSpPr>
          <p:cNvPr id="40970" name="Rectangle 12"/>
          <p:cNvSpPr>
            <a:spLocks noChangeArrowheads="1"/>
          </p:cNvSpPr>
          <p:nvPr/>
        </p:nvSpPr>
        <p:spPr bwMode="auto">
          <a:xfrm>
            <a:off x="179388" y="4940300"/>
            <a:ext cx="1223962" cy="5762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AU" sz="3200">
                <a:latin typeface="Times New Roman" pitchFamily="18" charset="0"/>
              </a:rPr>
              <a:t>Integer</a:t>
            </a:r>
          </a:p>
        </p:txBody>
      </p:sp>
      <p:sp>
        <p:nvSpPr>
          <p:cNvPr id="40971" name="Rectangle 13"/>
          <p:cNvSpPr>
            <a:spLocks noChangeArrowheads="1"/>
          </p:cNvSpPr>
          <p:nvPr/>
        </p:nvSpPr>
        <p:spPr bwMode="auto">
          <a:xfrm>
            <a:off x="1547813" y="4940300"/>
            <a:ext cx="1223962" cy="5762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AU" sz="3200">
                <a:latin typeface="Times New Roman" pitchFamily="18" charset="0"/>
              </a:rPr>
              <a:t>Float</a:t>
            </a:r>
          </a:p>
        </p:txBody>
      </p:sp>
      <p:sp>
        <p:nvSpPr>
          <p:cNvPr id="40972" name="Rectangle 14"/>
          <p:cNvSpPr>
            <a:spLocks noChangeArrowheads="1"/>
          </p:cNvSpPr>
          <p:nvPr/>
        </p:nvSpPr>
        <p:spPr bwMode="auto">
          <a:xfrm>
            <a:off x="3132138" y="4940300"/>
            <a:ext cx="1655762" cy="5762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AU" sz="3200">
                <a:latin typeface="Times New Roman" pitchFamily="18" charset="0"/>
              </a:rPr>
              <a:t>Character</a:t>
            </a:r>
          </a:p>
        </p:txBody>
      </p:sp>
      <p:sp>
        <p:nvSpPr>
          <p:cNvPr id="40973" name="Rectangle 15"/>
          <p:cNvSpPr>
            <a:spLocks noChangeArrowheads="1"/>
          </p:cNvSpPr>
          <p:nvPr/>
        </p:nvSpPr>
        <p:spPr bwMode="auto">
          <a:xfrm>
            <a:off x="5076825" y="4940300"/>
            <a:ext cx="1655763" cy="5762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AU" sz="3200">
                <a:latin typeface="Times New Roman" pitchFamily="18" charset="0"/>
              </a:rPr>
              <a:t>Pointer</a:t>
            </a:r>
          </a:p>
        </p:txBody>
      </p:sp>
      <p:sp>
        <p:nvSpPr>
          <p:cNvPr id="40974" name="Line 16"/>
          <p:cNvSpPr>
            <a:spLocks noChangeShapeType="1"/>
          </p:cNvSpPr>
          <p:nvPr/>
        </p:nvSpPr>
        <p:spPr bwMode="auto">
          <a:xfrm>
            <a:off x="2555875" y="3644900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5" name="Line 17"/>
          <p:cNvSpPr>
            <a:spLocks noChangeShapeType="1"/>
          </p:cNvSpPr>
          <p:nvPr/>
        </p:nvSpPr>
        <p:spPr bwMode="auto">
          <a:xfrm>
            <a:off x="827088" y="4365625"/>
            <a:ext cx="4968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6" name="Line 18"/>
          <p:cNvSpPr>
            <a:spLocks noChangeShapeType="1"/>
          </p:cNvSpPr>
          <p:nvPr/>
        </p:nvSpPr>
        <p:spPr bwMode="auto">
          <a:xfrm>
            <a:off x="827088" y="4365625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977" name="Line 19"/>
          <p:cNvSpPr>
            <a:spLocks noChangeShapeType="1"/>
          </p:cNvSpPr>
          <p:nvPr/>
        </p:nvSpPr>
        <p:spPr bwMode="auto">
          <a:xfrm>
            <a:off x="2051050" y="4365625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978" name="Line 20"/>
          <p:cNvSpPr>
            <a:spLocks noChangeShapeType="1"/>
          </p:cNvSpPr>
          <p:nvPr/>
        </p:nvSpPr>
        <p:spPr bwMode="auto">
          <a:xfrm>
            <a:off x="3924300" y="4365625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979" name="Line 21"/>
          <p:cNvSpPr>
            <a:spLocks noChangeShapeType="1"/>
          </p:cNvSpPr>
          <p:nvPr/>
        </p:nvSpPr>
        <p:spPr bwMode="auto">
          <a:xfrm>
            <a:off x="5795963" y="4365625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980" name="Line 22"/>
          <p:cNvSpPr>
            <a:spLocks noChangeShapeType="1"/>
          </p:cNvSpPr>
          <p:nvPr/>
        </p:nvSpPr>
        <p:spPr bwMode="auto">
          <a:xfrm>
            <a:off x="2555875" y="3644900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81" name="Line 23"/>
          <p:cNvSpPr>
            <a:spLocks noChangeShapeType="1"/>
          </p:cNvSpPr>
          <p:nvPr/>
        </p:nvSpPr>
        <p:spPr bwMode="auto">
          <a:xfrm>
            <a:off x="827088" y="4365625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982" name="Line 24"/>
          <p:cNvSpPr>
            <a:spLocks noChangeShapeType="1"/>
          </p:cNvSpPr>
          <p:nvPr/>
        </p:nvSpPr>
        <p:spPr bwMode="auto">
          <a:xfrm>
            <a:off x="2555875" y="3644900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83" name="Line 25"/>
          <p:cNvSpPr>
            <a:spLocks noChangeShapeType="1"/>
          </p:cNvSpPr>
          <p:nvPr/>
        </p:nvSpPr>
        <p:spPr bwMode="auto">
          <a:xfrm>
            <a:off x="2051050" y="4365625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984" name="Line 26"/>
          <p:cNvSpPr>
            <a:spLocks noChangeShapeType="1"/>
          </p:cNvSpPr>
          <p:nvPr/>
        </p:nvSpPr>
        <p:spPr bwMode="auto">
          <a:xfrm>
            <a:off x="827088" y="4365625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985" name="Line 27"/>
          <p:cNvSpPr>
            <a:spLocks noChangeShapeType="1"/>
          </p:cNvSpPr>
          <p:nvPr/>
        </p:nvSpPr>
        <p:spPr bwMode="auto">
          <a:xfrm>
            <a:off x="2555875" y="3644900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86" name="Rectangle 28"/>
          <p:cNvSpPr>
            <a:spLocks noChangeArrowheads="1"/>
          </p:cNvSpPr>
          <p:nvPr/>
        </p:nvSpPr>
        <p:spPr bwMode="auto">
          <a:xfrm>
            <a:off x="1547813" y="4941888"/>
            <a:ext cx="1223962" cy="5762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AU" sz="3200">
                <a:latin typeface="Times New Roman" pitchFamily="18" charset="0"/>
              </a:rPr>
              <a:t>Float</a:t>
            </a:r>
          </a:p>
        </p:txBody>
      </p:sp>
      <p:sp>
        <p:nvSpPr>
          <p:cNvPr id="40987" name="Line 29"/>
          <p:cNvSpPr>
            <a:spLocks noChangeShapeType="1"/>
          </p:cNvSpPr>
          <p:nvPr/>
        </p:nvSpPr>
        <p:spPr bwMode="auto">
          <a:xfrm>
            <a:off x="2051050" y="4367213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988" name="Line 30"/>
          <p:cNvSpPr>
            <a:spLocks noChangeShapeType="1"/>
          </p:cNvSpPr>
          <p:nvPr/>
        </p:nvSpPr>
        <p:spPr bwMode="auto">
          <a:xfrm>
            <a:off x="827088" y="4367213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989" name="Line 31"/>
          <p:cNvSpPr>
            <a:spLocks noChangeShapeType="1"/>
          </p:cNvSpPr>
          <p:nvPr/>
        </p:nvSpPr>
        <p:spPr bwMode="auto">
          <a:xfrm>
            <a:off x="2555875" y="3646488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90" name="Rectangle 32"/>
          <p:cNvSpPr>
            <a:spLocks noChangeArrowheads="1"/>
          </p:cNvSpPr>
          <p:nvPr/>
        </p:nvSpPr>
        <p:spPr bwMode="auto">
          <a:xfrm>
            <a:off x="179388" y="4941888"/>
            <a:ext cx="1223962" cy="5762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AU" sz="3200">
                <a:latin typeface="Times New Roman" pitchFamily="18" charset="0"/>
              </a:rPr>
              <a:t>Integer</a:t>
            </a:r>
          </a:p>
        </p:txBody>
      </p:sp>
      <p:sp>
        <p:nvSpPr>
          <p:cNvPr id="40991" name="Rectangle 33"/>
          <p:cNvSpPr>
            <a:spLocks noChangeArrowheads="1"/>
          </p:cNvSpPr>
          <p:nvPr/>
        </p:nvSpPr>
        <p:spPr bwMode="auto">
          <a:xfrm>
            <a:off x="1547813" y="4943475"/>
            <a:ext cx="1223962" cy="5762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AU" sz="3200">
                <a:latin typeface="Times New Roman" pitchFamily="18" charset="0"/>
              </a:rPr>
              <a:t>Float</a:t>
            </a:r>
          </a:p>
        </p:txBody>
      </p:sp>
      <p:sp>
        <p:nvSpPr>
          <p:cNvPr id="40992" name="Line 34"/>
          <p:cNvSpPr>
            <a:spLocks noChangeShapeType="1"/>
          </p:cNvSpPr>
          <p:nvPr/>
        </p:nvSpPr>
        <p:spPr bwMode="auto">
          <a:xfrm>
            <a:off x="2051050" y="4368800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993" name="Line 35"/>
          <p:cNvSpPr>
            <a:spLocks noChangeShapeType="1"/>
          </p:cNvSpPr>
          <p:nvPr/>
        </p:nvSpPr>
        <p:spPr bwMode="auto">
          <a:xfrm>
            <a:off x="827088" y="4368800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994" name="Line 36"/>
          <p:cNvSpPr>
            <a:spLocks noChangeShapeType="1"/>
          </p:cNvSpPr>
          <p:nvPr/>
        </p:nvSpPr>
        <p:spPr bwMode="auto">
          <a:xfrm>
            <a:off x="2555875" y="3648075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Classification of Data Structure</a:t>
            </a:r>
          </a:p>
        </p:txBody>
      </p:sp>
      <p:sp>
        <p:nvSpPr>
          <p:cNvPr id="41987" name="Rectangle 4"/>
          <p:cNvSpPr>
            <a:spLocks noChangeArrowheads="1"/>
          </p:cNvSpPr>
          <p:nvPr/>
        </p:nvSpPr>
        <p:spPr bwMode="auto">
          <a:xfrm>
            <a:off x="3059113" y="1844675"/>
            <a:ext cx="3095625" cy="5762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AU" sz="3200">
                <a:latin typeface="Times New Roman" pitchFamily="18" charset="0"/>
              </a:rPr>
              <a:t>Non-Primitive DS</a:t>
            </a:r>
          </a:p>
        </p:txBody>
      </p:sp>
      <p:sp>
        <p:nvSpPr>
          <p:cNvPr id="41988" name="Rectangle 5"/>
          <p:cNvSpPr>
            <a:spLocks noChangeArrowheads="1"/>
          </p:cNvSpPr>
          <p:nvPr/>
        </p:nvSpPr>
        <p:spPr bwMode="auto">
          <a:xfrm>
            <a:off x="1116013" y="3213100"/>
            <a:ext cx="1871662" cy="5762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AU" sz="3200">
                <a:latin typeface="Times New Roman" pitchFamily="18" charset="0"/>
              </a:rPr>
              <a:t>Linear List</a:t>
            </a:r>
          </a:p>
        </p:txBody>
      </p:sp>
      <p:sp>
        <p:nvSpPr>
          <p:cNvPr id="41989" name="Rectangle 6"/>
          <p:cNvSpPr>
            <a:spLocks noChangeArrowheads="1"/>
          </p:cNvSpPr>
          <p:nvPr/>
        </p:nvSpPr>
        <p:spPr bwMode="auto">
          <a:xfrm>
            <a:off x="5435600" y="3141663"/>
            <a:ext cx="2736850" cy="5746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AU" sz="3200">
                <a:latin typeface="Times New Roman" pitchFamily="18" charset="0"/>
              </a:rPr>
              <a:t>Non-Linear List</a:t>
            </a:r>
          </a:p>
        </p:txBody>
      </p:sp>
      <p:sp>
        <p:nvSpPr>
          <p:cNvPr id="41990" name="Line 7"/>
          <p:cNvSpPr>
            <a:spLocks noChangeShapeType="1"/>
          </p:cNvSpPr>
          <p:nvPr/>
        </p:nvSpPr>
        <p:spPr bwMode="auto">
          <a:xfrm>
            <a:off x="7019925" y="2781300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1991" name="Line 8"/>
          <p:cNvSpPr>
            <a:spLocks noChangeShapeType="1"/>
          </p:cNvSpPr>
          <p:nvPr/>
        </p:nvSpPr>
        <p:spPr bwMode="auto">
          <a:xfrm>
            <a:off x="2124075" y="2781300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1992" name="Line 9"/>
          <p:cNvSpPr>
            <a:spLocks noChangeShapeType="1"/>
          </p:cNvSpPr>
          <p:nvPr/>
        </p:nvSpPr>
        <p:spPr bwMode="auto">
          <a:xfrm>
            <a:off x="4572000" y="2420938"/>
            <a:ext cx="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3" name="Line 10"/>
          <p:cNvSpPr>
            <a:spLocks noChangeShapeType="1"/>
          </p:cNvSpPr>
          <p:nvPr/>
        </p:nvSpPr>
        <p:spPr bwMode="auto">
          <a:xfrm>
            <a:off x="2124075" y="2781300"/>
            <a:ext cx="4895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4" name="Rectangle 11"/>
          <p:cNvSpPr>
            <a:spLocks noChangeArrowheads="1"/>
          </p:cNvSpPr>
          <p:nvPr/>
        </p:nvSpPr>
        <p:spPr bwMode="auto">
          <a:xfrm>
            <a:off x="179388" y="4941888"/>
            <a:ext cx="1079500" cy="5762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AU" sz="3200">
                <a:latin typeface="Times New Roman" pitchFamily="18" charset="0"/>
              </a:rPr>
              <a:t>Array</a:t>
            </a:r>
          </a:p>
        </p:txBody>
      </p:sp>
      <p:sp>
        <p:nvSpPr>
          <p:cNvPr id="41995" name="Rectangle 12"/>
          <p:cNvSpPr>
            <a:spLocks noChangeArrowheads="1"/>
          </p:cNvSpPr>
          <p:nvPr/>
        </p:nvSpPr>
        <p:spPr bwMode="auto">
          <a:xfrm>
            <a:off x="827088" y="5734050"/>
            <a:ext cx="1512887" cy="5032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AU" sz="3200">
                <a:latin typeface="Times New Roman" pitchFamily="18" charset="0"/>
              </a:rPr>
              <a:t>Link List</a:t>
            </a:r>
          </a:p>
        </p:txBody>
      </p:sp>
      <p:sp>
        <p:nvSpPr>
          <p:cNvPr id="41996" name="Rectangle 13"/>
          <p:cNvSpPr>
            <a:spLocks noChangeArrowheads="1"/>
          </p:cNvSpPr>
          <p:nvPr/>
        </p:nvSpPr>
        <p:spPr bwMode="auto">
          <a:xfrm>
            <a:off x="2555875" y="5734050"/>
            <a:ext cx="1079500" cy="5762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AU" sz="3200">
                <a:latin typeface="Times New Roman" pitchFamily="18" charset="0"/>
              </a:rPr>
              <a:t>Stack</a:t>
            </a:r>
          </a:p>
        </p:txBody>
      </p:sp>
      <p:sp>
        <p:nvSpPr>
          <p:cNvPr id="41997" name="Rectangle 14"/>
          <p:cNvSpPr>
            <a:spLocks noChangeArrowheads="1"/>
          </p:cNvSpPr>
          <p:nvPr/>
        </p:nvSpPr>
        <p:spPr bwMode="auto">
          <a:xfrm>
            <a:off x="3563938" y="4941888"/>
            <a:ext cx="1152525" cy="5762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AU" sz="3200">
                <a:latin typeface="Times New Roman" pitchFamily="18" charset="0"/>
              </a:rPr>
              <a:t>Queue</a:t>
            </a:r>
          </a:p>
        </p:txBody>
      </p:sp>
      <p:sp>
        <p:nvSpPr>
          <p:cNvPr id="41998" name="Line 15"/>
          <p:cNvSpPr>
            <a:spLocks noChangeShapeType="1"/>
          </p:cNvSpPr>
          <p:nvPr/>
        </p:nvSpPr>
        <p:spPr bwMode="auto">
          <a:xfrm>
            <a:off x="684213" y="4365625"/>
            <a:ext cx="3382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9" name="Line 16"/>
          <p:cNvSpPr>
            <a:spLocks noChangeShapeType="1"/>
          </p:cNvSpPr>
          <p:nvPr/>
        </p:nvSpPr>
        <p:spPr bwMode="auto">
          <a:xfrm>
            <a:off x="2124075" y="3789363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2000" name="Line 17"/>
          <p:cNvSpPr>
            <a:spLocks noChangeShapeType="1"/>
          </p:cNvSpPr>
          <p:nvPr/>
        </p:nvSpPr>
        <p:spPr bwMode="auto">
          <a:xfrm>
            <a:off x="1692275" y="4365625"/>
            <a:ext cx="0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2001" name="Line 18"/>
          <p:cNvSpPr>
            <a:spLocks noChangeShapeType="1"/>
          </p:cNvSpPr>
          <p:nvPr/>
        </p:nvSpPr>
        <p:spPr bwMode="auto">
          <a:xfrm>
            <a:off x="3132138" y="4365625"/>
            <a:ext cx="0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2002" name="Line 19"/>
          <p:cNvSpPr>
            <a:spLocks noChangeShapeType="1"/>
          </p:cNvSpPr>
          <p:nvPr/>
        </p:nvSpPr>
        <p:spPr bwMode="auto">
          <a:xfrm>
            <a:off x="684213" y="4365625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2003" name="Line 20"/>
          <p:cNvSpPr>
            <a:spLocks noChangeShapeType="1"/>
          </p:cNvSpPr>
          <p:nvPr/>
        </p:nvSpPr>
        <p:spPr bwMode="auto">
          <a:xfrm>
            <a:off x="4067175" y="4365625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2004" name="Line 21"/>
          <p:cNvSpPr>
            <a:spLocks noChangeShapeType="1"/>
          </p:cNvSpPr>
          <p:nvPr/>
        </p:nvSpPr>
        <p:spPr bwMode="auto">
          <a:xfrm>
            <a:off x="684213" y="4365625"/>
            <a:ext cx="3382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05" name="Line 22"/>
          <p:cNvSpPr>
            <a:spLocks noChangeShapeType="1"/>
          </p:cNvSpPr>
          <p:nvPr/>
        </p:nvSpPr>
        <p:spPr bwMode="auto">
          <a:xfrm>
            <a:off x="2124075" y="3789363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2006" name="Line 23"/>
          <p:cNvSpPr>
            <a:spLocks noChangeShapeType="1"/>
          </p:cNvSpPr>
          <p:nvPr/>
        </p:nvSpPr>
        <p:spPr bwMode="auto">
          <a:xfrm>
            <a:off x="5940425" y="4292600"/>
            <a:ext cx="2160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07" name="Line 24"/>
          <p:cNvSpPr>
            <a:spLocks noChangeShapeType="1"/>
          </p:cNvSpPr>
          <p:nvPr/>
        </p:nvSpPr>
        <p:spPr bwMode="auto">
          <a:xfrm>
            <a:off x="7019925" y="3716338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2008" name="Line 25"/>
          <p:cNvSpPr>
            <a:spLocks noChangeShapeType="1"/>
          </p:cNvSpPr>
          <p:nvPr/>
        </p:nvSpPr>
        <p:spPr bwMode="auto">
          <a:xfrm>
            <a:off x="5940425" y="4292600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2009" name="Line 26"/>
          <p:cNvSpPr>
            <a:spLocks noChangeShapeType="1"/>
          </p:cNvSpPr>
          <p:nvPr/>
        </p:nvSpPr>
        <p:spPr bwMode="auto">
          <a:xfrm>
            <a:off x="8101013" y="4292600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2010" name="Rectangle 27"/>
          <p:cNvSpPr>
            <a:spLocks noChangeArrowheads="1"/>
          </p:cNvSpPr>
          <p:nvPr/>
        </p:nvSpPr>
        <p:spPr bwMode="auto">
          <a:xfrm>
            <a:off x="5508625" y="4868863"/>
            <a:ext cx="1152525" cy="5762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AU" sz="3200">
                <a:latin typeface="Times New Roman" pitchFamily="18" charset="0"/>
              </a:rPr>
              <a:t>Graph</a:t>
            </a:r>
          </a:p>
        </p:txBody>
      </p:sp>
      <p:sp>
        <p:nvSpPr>
          <p:cNvPr id="42011" name="Rectangle 28"/>
          <p:cNvSpPr>
            <a:spLocks noChangeArrowheads="1"/>
          </p:cNvSpPr>
          <p:nvPr/>
        </p:nvSpPr>
        <p:spPr bwMode="auto">
          <a:xfrm>
            <a:off x="7524750" y="4868863"/>
            <a:ext cx="1152525" cy="5762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AU" sz="3200">
                <a:latin typeface="Times New Roman" pitchFamily="18" charset="0"/>
              </a:rPr>
              <a:t>Trees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Primitive Data Structure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smtClean="0">
                <a:latin typeface="Times New Roman" pitchFamily="18" charset="0"/>
                <a:cs typeface="Times New Roman" pitchFamily="18" charset="0"/>
              </a:rPr>
              <a:t>There are basic structures and directly operated upon by the machine instructions.</a:t>
            </a:r>
          </a:p>
          <a:p>
            <a:pPr eaLnBrk="1" hangingPunct="1">
              <a:lnSpc>
                <a:spcPct val="90000"/>
              </a:lnSpc>
            </a:pPr>
            <a:r>
              <a:rPr lang="en-AU" smtClean="0">
                <a:latin typeface="Times New Roman" pitchFamily="18" charset="0"/>
                <a:cs typeface="Times New Roman" pitchFamily="18" charset="0"/>
              </a:rPr>
              <a:t>In general, there are different representation on different computers.</a:t>
            </a:r>
          </a:p>
          <a:p>
            <a:pPr eaLnBrk="1" hangingPunct="1">
              <a:lnSpc>
                <a:spcPct val="90000"/>
              </a:lnSpc>
            </a:pPr>
            <a:r>
              <a:rPr lang="en-AU" smtClean="0">
                <a:latin typeface="Times New Roman" pitchFamily="18" charset="0"/>
                <a:cs typeface="Times New Roman" pitchFamily="18" charset="0"/>
              </a:rPr>
              <a:t>Integer, Floating-point number, Character constants, string constants, pointers etc, fall in this category.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Non-Primitive Data Structure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There are more sophisticated data structures.</a:t>
            </a:r>
          </a:p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These are derived from the primitive data structures.</a:t>
            </a:r>
          </a:p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The non-primitive data structures emphasize on structuring of a group of homogeneous (same type) or heterogeneous (different type) data items.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Non-Primitive Data Structure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Lists, Stack, Queue, Tree, Graph are example of non-primitive data structures.</a:t>
            </a:r>
          </a:p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The design of an efficient data structure must take operations to be performed on the data structure.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Non-Primitive Data Structure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1187450" y="2017713"/>
            <a:ext cx="7767638" cy="48402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smtClean="0">
                <a:latin typeface="Times New Roman" pitchFamily="18" charset="0"/>
                <a:cs typeface="Times New Roman" pitchFamily="18" charset="0"/>
              </a:rPr>
              <a:t>The most commonly used operation on data structure are broadly categorized into following types:</a:t>
            </a:r>
          </a:p>
          <a:p>
            <a:pPr lvl="1" eaLnBrk="1" hangingPunct="1">
              <a:lnSpc>
                <a:spcPct val="90000"/>
              </a:lnSpc>
            </a:pPr>
            <a:r>
              <a:rPr lang="en-AU" smtClean="0">
                <a:latin typeface="Times New Roman" pitchFamily="18" charset="0"/>
                <a:cs typeface="Times New Roman" pitchFamily="18" charset="0"/>
              </a:rPr>
              <a:t>Create</a:t>
            </a:r>
          </a:p>
          <a:p>
            <a:pPr lvl="1" eaLnBrk="1" hangingPunct="1">
              <a:lnSpc>
                <a:spcPct val="90000"/>
              </a:lnSpc>
            </a:pPr>
            <a:r>
              <a:rPr lang="en-AU" smtClean="0">
                <a:latin typeface="Times New Roman" pitchFamily="18" charset="0"/>
                <a:cs typeface="Times New Roman" pitchFamily="18" charset="0"/>
              </a:rPr>
              <a:t>Selection</a:t>
            </a:r>
          </a:p>
          <a:p>
            <a:pPr lvl="1" eaLnBrk="1" hangingPunct="1">
              <a:lnSpc>
                <a:spcPct val="90000"/>
              </a:lnSpc>
            </a:pPr>
            <a:r>
              <a:rPr lang="en-AU" smtClean="0">
                <a:latin typeface="Times New Roman" pitchFamily="18" charset="0"/>
                <a:cs typeface="Times New Roman" pitchFamily="18" charset="0"/>
              </a:rPr>
              <a:t>Updating</a:t>
            </a:r>
          </a:p>
          <a:p>
            <a:pPr lvl="1" eaLnBrk="1" hangingPunct="1">
              <a:lnSpc>
                <a:spcPct val="90000"/>
              </a:lnSpc>
            </a:pPr>
            <a:r>
              <a:rPr lang="en-AU" smtClean="0">
                <a:latin typeface="Times New Roman" pitchFamily="18" charset="0"/>
                <a:cs typeface="Times New Roman" pitchFamily="18" charset="0"/>
              </a:rPr>
              <a:t>Searching</a:t>
            </a:r>
          </a:p>
          <a:p>
            <a:pPr lvl="1" eaLnBrk="1" hangingPunct="1">
              <a:lnSpc>
                <a:spcPct val="90000"/>
              </a:lnSpc>
            </a:pPr>
            <a:r>
              <a:rPr lang="en-AU" smtClean="0">
                <a:latin typeface="Times New Roman" pitchFamily="18" charset="0"/>
                <a:cs typeface="Times New Roman" pitchFamily="18" charset="0"/>
              </a:rPr>
              <a:t>Sorting</a:t>
            </a:r>
          </a:p>
          <a:p>
            <a:pPr lvl="1" eaLnBrk="1" hangingPunct="1">
              <a:lnSpc>
                <a:spcPct val="90000"/>
              </a:lnSpc>
            </a:pPr>
            <a:r>
              <a:rPr lang="en-AU" smtClean="0">
                <a:latin typeface="Times New Roman" pitchFamily="18" charset="0"/>
                <a:cs typeface="Times New Roman" pitchFamily="18" charset="0"/>
              </a:rPr>
              <a:t>Merging</a:t>
            </a:r>
          </a:p>
          <a:p>
            <a:pPr lvl="1" eaLnBrk="1" hangingPunct="1">
              <a:lnSpc>
                <a:spcPct val="90000"/>
              </a:lnSpc>
            </a:pPr>
            <a:r>
              <a:rPr lang="en-AU" smtClean="0">
                <a:latin typeface="Times New Roman" pitchFamily="18" charset="0"/>
                <a:cs typeface="Times New Roman" pitchFamily="18" charset="0"/>
              </a:rPr>
              <a:t>Destroy or Delete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Different between them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A primitive data structure is generally a basic structure that is usually built into the language, such as an integer, a float.</a:t>
            </a:r>
          </a:p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A non-primitive data structure is built out of primitive data structures linked together in meaningful ways, such as a or a linked-list, binary search tree, AVL Tree, graph etc. </a:t>
            </a:r>
            <a:br>
              <a:rPr lang="en-AU" smtClean="0">
                <a:latin typeface="Times New Roman" pitchFamily="18" charset="0"/>
                <a:cs typeface="Times New Roman" pitchFamily="18" charset="0"/>
              </a:rPr>
            </a:br>
            <a:endParaRPr lang="en-AU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Description of various</a:t>
            </a:r>
            <a:br>
              <a:rPr lang="en-AU" sz="4000" b="1" smtClean="0">
                <a:latin typeface="Times New Roman" pitchFamily="18" charset="0"/>
                <a:cs typeface="Times New Roman" pitchFamily="18" charset="0"/>
              </a:rPr>
            </a:br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Data Structures : Arrays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An array is defined as a set of finite number of homogeneous elements or same data items.</a:t>
            </a:r>
          </a:p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It means an array can contain one type of data only, either all  integer, all float-point number or all character.</a:t>
            </a:r>
          </a:p>
          <a:p>
            <a:pPr eaLnBrk="1" hangingPunct="1"/>
            <a:endParaRPr lang="en-AU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AU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971550" y="2060575"/>
            <a:ext cx="7961313" cy="4114800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AU" smtClean="0">
                <a:latin typeface="Times New Roman" pitchFamily="18" charset="0"/>
                <a:cs typeface="Times New Roman" pitchFamily="18" charset="0"/>
              </a:rPr>
              <a:t>Simply, declaration of array is as follows:</a:t>
            </a:r>
          </a:p>
          <a:p>
            <a:pPr lvl="2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AU" sz="3200" smtClean="0">
                <a:latin typeface="Times New Roman" pitchFamily="18" charset="0"/>
                <a:cs typeface="Times New Roman" pitchFamily="18" charset="0"/>
              </a:rPr>
              <a:t>  int arr[10]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AU" smtClean="0">
                <a:latin typeface="Times New Roman" pitchFamily="18" charset="0"/>
                <a:cs typeface="Times New Roman" pitchFamily="18" charset="0"/>
              </a:rPr>
              <a:t>Where int specifies the data type or type of elements arrays stores.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AU" smtClean="0">
                <a:latin typeface="Times New Roman" pitchFamily="18" charset="0"/>
                <a:cs typeface="Times New Roman" pitchFamily="18" charset="0"/>
              </a:rPr>
              <a:t>“arr” is the name of array &amp; the number specified inside the square brackets is the number of elements an array can store, this is also called sized or length of array.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AU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smtClean="0"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AU" smtClean="0">
                <a:latin typeface="Times New Roman" pitchFamily="18" charset="0"/>
                <a:cs typeface="Times New Roman" pitchFamily="18" charset="0"/>
              </a:rPr>
              <a:t>Following are some of the concepts to be remembered about arrays:</a:t>
            </a:r>
          </a:p>
          <a:p>
            <a:pPr lvl="1" eaLnBrk="1" hangingPunct="1">
              <a:lnSpc>
                <a:spcPct val="80000"/>
              </a:lnSpc>
            </a:pPr>
            <a:r>
              <a:rPr lang="en-AU" sz="3200" smtClean="0">
                <a:latin typeface="Times New Roman" pitchFamily="18" charset="0"/>
                <a:cs typeface="Times New Roman" pitchFamily="18" charset="0"/>
              </a:rPr>
              <a:t>The individual element of an array can be accessed by specifying name of the array, following by index or subscript inside square brackets.</a:t>
            </a:r>
          </a:p>
          <a:p>
            <a:pPr lvl="1" eaLnBrk="1" hangingPunct="1">
              <a:lnSpc>
                <a:spcPct val="80000"/>
              </a:lnSpc>
            </a:pPr>
            <a:r>
              <a:rPr lang="en-AU" sz="3200" smtClean="0">
                <a:latin typeface="Times New Roman" pitchFamily="18" charset="0"/>
                <a:cs typeface="Times New Roman" pitchFamily="18" charset="0"/>
              </a:rPr>
              <a:t>The first element of the array has index zero[0]. It means the first element and last element will be specified as:arr[0] &amp; arr[9]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AU" sz="3200" smtClean="0">
                <a:latin typeface="Times New Roman" pitchFamily="18" charset="0"/>
                <a:cs typeface="Times New Roman" pitchFamily="18" charset="0"/>
              </a:rPr>
              <a:t>	Respectively.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971550" y="2017713"/>
            <a:ext cx="7983538" cy="4114800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</a:pPr>
            <a:r>
              <a:rPr lang="en-AU" sz="3200" smtClean="0">
                <a:latin typeface="Times New Roman" pitchFamily="18" charset="0"/>
                <a:cs typeface="Times New Roman" pitchFamily="18" charset="0"/>
              </a:rPr>
              <a:t>The elements of array will always be stored in the consecutive (continues) memory location.</a:t>
            </a:r>
          </a:p>
          <a:p>
            <a:pPr lvl="1" eaLnBrk="1" hangingPunct="1">
              <a:lnSpc>
                <a:spcPct val="90000"/>
              </a:lnSpc>
            </a:pPr>
            <a:r>
              <a:rPr lang="en-AU" sz="3200" smtClean="0">
                <a:latin typeface="Times New Roman" pitchFamily="18" charset="0"/>
                <a:cs typeface="Times New Roman" pitchFamily="18" charset="0"/>
              </a:rPr>
              <a:t>The number of elements that can be stored in an array, that is the size of array or its length is given by the following equation: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AU" sz="3200" smtClean="0">
                <a:latin typeface="Times New Roman" pitchFamily="18" charset="0"/>
                <a:cs typeface="Times New Roman" pitchFamily="18" charset="0"/>
              </a:rPr>
              <a:t>(Upperbound-lowerbound)+1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>
              <a:lnSpc>
                <a:spcPct val="90000"/>
              </a:lnSpc>
            </a:pPr>
            <a:r>
              <a:rPr lang="en-AU" sz="3200" smtClean="0">
                <a:latin typeface="Times New Roman" pitchFamily="18" charset="0"/>
                <a:cs typeface="Times New Roman" pitchFamily="18" charset="0"/>
              </a:rPr>
              <a:t>For the above array it would be 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AU" sz="3200" smtClean="0">
                <a:latin typeface="Times New Roman" pitchFamily="18" charset="0"/>
                <a:cs typeface="Times New Roman" pitchFamily="18" charset="0"/>
              </a:rPr>
              <a:t>(9-0)+1=10,where 0 is the lower bound of array and 9 is the upper bound of array.</a:t>
            </a:r>
          </a:p>
          <a:p>
            <a:pPr lvl="1" eaLnBrk="1" hangingPunct="1">
              <a:lnSpc>
                <a:spcPct val="90000"/>
              </a:lnSpc>
            </a:pPr>
            <a:r>
              <a:rPr lang="en-AU" sz="3200" smtClean="0">
                <a:latin typeface="Times New Roman" pitchFamily="18" charset="0"/>
                <a:cs typeface="Times New Roman" pitchFamily="18" charset="0"/>
              </a:rPr>
              <a:t>Array can always be read or written through loop. If we read a one-dimensional array it require one loop for reading and other for writing the array.</a:t>
            </a:r>
          </a:p>
          <a:p>
            <a:pPr lvl="1" eaLnBrk="1" hangingPunct="1">
              <a:lnSpc>
                <a:spcPct val="90000"/>
              </a:lnSpc>
            </a:pPr>
            <a:endParaRPr lang="en-AU" sz="3200" smtClean="0">
              <a:latin typeface="Times New Roman" pitchFamily="18" charset="0"/>
              <a:cs typeface="Times New Roman" pitchFamily="18" charset="0"/>
            </a:endParaRP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endParaRPr lang="en-AU" sz="32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AU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AU" sz="3200" smtClean="0">
                <a:latin typeface="Times New Roman" pitchFamily="18" charset="0"/>
                <a:cs typeface="Times New Roman" pitchFamily="18" charset="0"/>
              </a:rPr>
              <a:t>For example: Reading an array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AU" sz="3200" smtClean="0">
                <a:latin typeface="Times New Roman" pitchFamily="18" charset="0"/>
                <a:cs typeface="Times New Roman" pitchFamily="18" charset="0"/>
              </a:rPr>
              <a:t>For(i=0;i&lt;=9;i++)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AU" sz="3200" smtClean="0">
                <a:latin typeface="Times New Roman" pitchFamily="18" charset="0"/>
                <a:cs typeface="Times New Roman" pitchFamily="18" charset="0"/>
              </a:rPr>
              <a:t>	  scanf(“%d”,&amp;arr[i]);</a:t>
            </a:r>
          </a:p>
          <a:p>
            <a:pPr lvl="1" eaLnBrk="1" hangingPunct="1"/>
            <a:r>
              <a:rPr lang="en-AU" sz="3200" smtClean="0">
                <a:latin typeface="Times New Roman" pitchFamily="18" charset="0"/>
                <a:cs typeface="Times New Roman" pitchFamily="18" charset="0"/>
              </a:rPr>
              <a:t>For example: Writing an array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AU" sz="3200" smtClean="0">
                <a:latin typeface="Times New Roman" pitchFamily="18" charset="0"/>
                <a:cs typeface="Times New Roman" pitchFamily="18" charset="0"/>
              </a:rPr>
              <a:t>For(i=0;i&lt;=9;i++)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AU" sz="3200" smtClean="0">
                <a:latin typeface="Times New Roman" pitchFamily="18" charset="0"/>
                <a:cs typeface="Times New Roman" pitchFamily="18" charset="0"/>
              </a:rPr>
              <a:t>	  printf(“%d”,arr[i]);</a:t>
            </a:r>
          </a:p>
          <a:p>
            <a:pPr lvl="1" eaLnBrk="1" hangingPunct="1"/>
            <a:endParaRPr lang="en-AU" sz="3200" smtClean="0">
              <a:latin typeface="Times New Roman" pitchFamily="18" charset="0"/>
              <a:cs typeface="Times New Roman" pitchFamily="18" charset="0"/>
            </a:endParaRPr>
          </a:p>
          <a:p>
            <a:pPr lvl="2" eaLnBrk="1" hangingPunct="1">
              <a:buFont typeface="Wingdings" pitchFamily="2" charset="2"/>
              <a:buNone/>
            </a:pPr>
            <a:endParaRPr lang="en-AU" sz="3200" smtClean="0">
              <a:latin typeface="Times New Roman" pitchFamily="18" charset="0"/>
              <a:cs typeface="Times New Roman" pitchFamily="18" charset="0"/>
            </a:endParaRPr>
          </a:p>
          <a:p>
            <a:pPr lvl="2" eaLnBrk="1" hangingPunct="1">
              <a:buFont typeface="Wingdings" pitchFamily="2" charset="2"/>
              <a:buNone/>
            </a:pPr>
            <a:endParaRPr lang="en-AU" sz="3200" smtClean="0">
              <a:latin typeface="Times New Roman" pitchFamily="18" charset="0"/>
              <a:cs typeface="Times New Roman" pitchFamily="18" charset="0"/>
            </a:endParaRPr>
          </a:p>
          <a:p>
            <a:pPr lvl="2" eaLnBrk="1" hangingPunct="1">
              <a:buFont typeface="Wingdings" pitchFamily="2" charset="2"/>
              <a:buNone/>
            </a:pPr>
            <a:endParaRPr lang="en-AU" sz="3200" smtClean="0">
              <a:latin typeface="Times New Roman" pitchFamily="18" charset="0"/>
              <a:cs typeface="Times New Roman" pitchFamily="18" charset="0"/>
            </a:endParaRPr>
          </a:p>
          <a:p>
            <a:pPr lvl="2" eaLnBrk="1" hangingPunct="1">
              <a:buFont typeface="Wingdings" pitchFamily="2" charset="2"/>
              <a:buNone/>
            </a:pPr>
            <a:endParaRPr lang="en-AU" sz="320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AU" sz="3200" smtClean="0">
                <a:latin typeface="Times New Roman" pitchFamily="18" charset="0"/>
                <a:cs typeface="Times New Roman" pitchFamily="18" charset="0"/>
              </a:rPr>
              <a:t>If we are reading or writing two-dimensional array it would require two loops. And similarly the array of a N dimension would required N loops.</a:t>
            </a:r>
          </a:p>
          <a:p>
            <a:pPr lvl="1" eaLnBrk="1" hangingPunct="1"/>
            <a:r>
              <a:rPr lang="en-AU" sz="3200" smtClean="0">
                <a:latin typeface="Times New Roman" pitchFamily="18" charset="0"/>
                <a:cs typeface="Times New Roman" pitchFamily="18" charset="0"/>
              </a:rPr>
              <a:t>Some common operation performed on array are:</a:t>
            </a:r>
          </a:p>
          <a:p>
            <a:pPr lvl="2" eaLnBrk="1" hangingPunct="1"/>
            <a:r>
              <a:rPr lang="en-AU" sz="2800" smtClean="0">
                <a:latin typeface="Times New Roman" pitchFamily="18" charset="0"/>
                <a:cs typeface="Times New Roman" pitchFamily="18" charset="0"/>
              </a:rPr>
              <a:t>Creation of an array</a:t>
            </a:r>
          </a:p>
          <a:p>
            <a:pPr lvl="2" eaLnBrk="1" hangingPunct="1"/>
            <a:r>
              <a:rPr lang="en-AU" sz="2800" smtClean="0">
                <a:latin typeface="Times New Roman" pitchFamily="18" charset="0"/>
                <a:cs typeface="Times New Roman" pitchFamily="18" charset="0"/>
              </a:rPr>
              <a:t>Traversing an array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AU" sz="3200" smtClean="0">
                <a:latin typeface="Times New Roman" pitchFamily="18" charset="0"/>
                <a:cs typeface="Times New Roman" pitchFamily="18" charset="0"/>
              </a:rPr>
              <a:t>Insertion of new element</a:t>
            </a:r>
          </a:p>
          <a:p>
            <a:pPr lvl="1" eaLnBrk="1" hangingPunct="1"/>
            <a:r>
              <a:rPr lang="en-AU" sz="3200" smtClean="0">
                <a:latin typeface="Times New Roman" pitchFamily="18" charset="0"/>
                <a:cs typeface="Times New Roman" pitchFamily="18" charset="0"/>
              </a:rPr>
              <a:t>Deletion of required element</a:t>
            </a:r>
          </a:p>
          <a:p>
            <a:pPr lvl="1" eaLnBrk="1" hangingPunct="1"/>
            <a:r>
              <a:rPr lang="en-AU" sz="3200" smtClean="0">
                <a:latin typeface="Times New Roman" pitchFamily="18" charset="0"/>
                <a:cs typeface="Times New Roman" pitchFamily="18" charset="0"/>
              </a:rPr>
              <a:t>Modification of an element</a:t>
            </a:r>
          </a:p>
          <a:p>
            <a:pPr lvl="1" eaLnBrk="1" hangingPunct="1"/>
            <a:r>
              <a:rPr lang="en-AU" sz="3200" smtClean="0">
                <a:latin typeface="Times New Roman" pitchFamily="18" charset="0"/>
                <a:cs typeface="Times New Roman" pitchFamily="18" charset="0"/>
              </a:rPr>
              <a:t>Merging of arrays</a:t>
            </a:r>
          </a:p>
          <a:p>
            <a:pPr lvl="1" eaLnBrk="1" hangingPunct="1"/>
            <a:endParaRPr lang="en-AU" sz="320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Lists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755650" y="2017713"/>
            <a:ext cx="8199438" cy="4114800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AU" smtClean="0">
                <a:latin typeface="Times New Roman" pitchFamily="18" charset="0"/>
                <a:cs typeface="Times New Roman" pitchFamily="18" charset="0"/>
              </a:rPr>
              <a:t>A lists (Linear linked list) can be defined as a collection of variable number of data items.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AU" smtClean="0">
                <a:latin typeface="Times New Roman" pitchFamily="18" charset="0"/>
                <a:cs typeface="Times New Roman" pitchFamily="18" charset="0"/>
              </a:rPr>
              <a:t>Lists are the most commonly used non-primitive data structures.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AU" smtClean="0">
                <a:latin typeface="Times New Roman" pitchFamily="18" charset="0"/>
                <a:cs typeface="Times New Roman" pitchFamily="18" charset="0"/>
              </a:rPr>
              <a:t>An element of list must contain at least two fields, one for storing data or information and other for storing address of next element.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AU" smtClean="0">
                <a:latin typeface="Times New Roman" pitchFamily="18" charset="0"/>
                <a:cs typeface="Times New Roman" pitchFamily="18" charset="0"/>
              </a:rPr>
              <a:t>As you know for storing address we have a special data structure of list the address must be pointer type.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Lists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Technically each such element is referred to as a node, therefore a list can be defined as a collection of nodes as show bellow:</a:t>
            </a:r>
          </a:p>
        </p:txBody>
      </p:sp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1547813" y="4149725"/>
            <a:ext cx="1008062" cy="5032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AU" sz="3200">
                <a:latin typeface="Times New Roman" pitchFamily="18" charset="0"/>
              </a:rPr>
              <a:t>Head</a:t>
            </a:r>
          </a:p>
        </p:txBody>
      </p:sp>
      <p:sp>
        <p:nvSpPr>
          <p:cNvPr id="57349" name="Rectangle 5"/>
          <p:cNvSpPr>
            <a:spLocks noChangeArrowheads="1"/>
          </p:cNvSpPr>
          <p:nvPr/>
        </p:nvSpPr>
        <p:spPr bwMode="auto">
          <a:xfrm>
            <a:off x="2843213" y="5300663"/>
            <a:ext cx="1008062" cy="5032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AU" sz="3200">
                <a:latin typeface="Times New Roman" pitchFamily="18" charset="0"/>
              </a:rPr>
              <a:t>AAA</a:t>
            </a:r>
          </a:p>
        </p:txBody>
      </p:sp>
      <p:sp>
        <p:nvSpPr>
          <p:cNvPr id="57350" name="Rectangle 6"/>
          <p:cNvSpPr>
            <a:spLocks noChangeArrowheads="1"/>
          </p:cNvSpPr>
          <p:nvPr/>
        </p:nvSpPr>
        <p:spPr bwMode="auto">
          <a:xfrm>
            <a:off x="5076825" y="5300663"/>
            <a:ext cx="1008063" cy="5032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AU" sz="3200">
                <a:latin typeface="Times New Roman" pitchFamily="18" charset="0"/>
              </a:rPr>
              <a:t>BBB</a:t>
            </a:r>
          </a:p>
        </p:txBody>
      </p:sp>
      <p:sp>
        <p:nvSpPr>
          <p:cNvPr id="57351" name="Rectangle 7"/>
          <p:cNvSpPr>
            <a:spLocks noChangeArrowheads="1"/>
          </p:cNvSpPr>
          <p:nvPr/>
        </p:nvSpPr>
        <p:spPr bwMode="auto">
          <a:xfrm>
            <a:off x="6948488" y="5300663"/>
            <a:ext cx="1008062" cy="5032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AU" sz="3200">
                <a:latin typeface="Times New Roman" pitchFamily="18" charset="0"/>
              </a:rPr>
              <a:t>CCC</a:t>
            </a:r>
          </a:p>
        </p:txBody>
      </p:sp>
      <p:sp>
        <p:nvSpPr>
          <p:cNvPr id="57352" name="Rectangle 8"/>
          <p:cNvSpPr>
            <a:spLocks noChangeArrowheads="1"/>
          </p:cNvSpPr>
          <p:nvPr/>
        </p:nvSpPr>
        <p:spPr bwMode="auto">
          <a:xfrm>
            <a:off x="3851275" y="5300663"/>
            <a:ext cx="288925" cy="5048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53" name="Rectangle 9"/>
          <p:cNvSpPr>
            <a:spLocks noChangeArrowheads="1"/>
          </p:cNvSpPr>
          <p:nvPr/>
        </p:nvSpPr>
        <p:spPr bwMode="auto">
          <a:xfrm>
            <a:off x="6084888" y="5300663"/>
            <a:ext cx="288925" cy="5048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54" name="Rectangle 10"/>
          <p:cNvSpPr>
            <a:spLocks noChangeArrowheads="1"/>
          </p:cNvSpPr>
          <p:nvPr/>
        </p:nvSpPr>
        <p:spPr bwMode="auto">
          <a:xfrm>
            <a:off x="7956550" y="5300663"/>
            <a:ext cx="288925" cy="5048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55" name="Line 11"/>
          <p:cNvSpPr>
            <a:spLocks noChangeShapeType="1"/>
          </p:cNvSpPr>
          <p:nvPr/>
        </p:nvSpPr>
        <p:spPr bwMode="auto">
          <a:xfrm>
            <a:off x="7956550" y="5300663"/>
            <a:ext cx="287338" cy="433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356" name="Line 12"/>
          <p:cNvSpPr>
            <a:spLocks noChangeShapeType="1"/>
          </p:cNvSpPr>
          <p:nvPr/>
        </p:nvSpPr>
        <p:spPr bwMode="auto">
          <a:xfrm flipH="1">
            <a:off x="7956550" y="5300663"/>
            <a:ext cx="287338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357" name="Line 13"/>
          <p:cNvSpPr>
            <a:spLocks noChangeShapeType="1"/>
          </p:cNvSpPr>
          <p:nvPr/>
        </p:nvSpPr>
        <p:spPr bwMode="auto">
          <a:xfrm>
            <a:off x="1979613" y="4652963"/>
            <a:ext cx="0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358" name="Line 14"/>
          <p:cNvSpPr>
            <a:spLocks noChangeShapeType="1"/>
          </p:cNvSpPr>
          <p:nvPr/>
        </p:nvSpPr>
        <p:spPr bwMode="auto">
          <a:xfrm>
            <a:off x="1979613" y="5589588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7359" name="Line 15"/>
          <p:cNvSpPr>
            <a:spLocks noChangeShapeType="1"/>
          </p:cNvSpPr>
          <p:nvPr/>
        </p:nvSpPr>
        <p:spPr bwMode="auto">
          <a:xfrm>
            <a:off x="4067175" y="5589588"/>
            <a:ext cx="1009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7360" name="Line 16"/>
          <p:cNvSpPr>
            <a:spLocks noChangeShapeType="1"/>
          </p:cNvSpPr>
          <p:nvPr/>
        </p:nvSpPr>
        <p:spPr bwMode="auto">
          <a:xfrm>
            <a:off x="6156325" y="5589588"/>
            <a:ext cx="7921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7361" name="Line 17"/>
          <p:cNvSpPr>
            <a:spLocks noChangeShapeType="1"/>
          </p:cNvSpPr>
          <p:nvPr/>
        </p:nvSpPr>
        <p:spPr bwMode="auto">
          <a:xfrm>
            <a:off x="2916238" y="5805488"/>
            <a:ext cx="0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7362" name="Rectangle 18"/>
          <p:cNvSpPr>
            <a:spLocks noChangeArrowheads="1"/>
          </p:cNvSpPr>
          <p:nvPr/>
        </p:nvSpPr>
        <p:spPr bwMode="auto">
          <a:xfrm>
            <a:off x="539750" y="6308725"/>
            <a:ext cx="2590800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AU" sz="3200">
                <a:latin typeface="Times New Roman" pitchFamily="18" charset="0"/>
              </a:rPr>
              <a:t>Information field</a:t>
            </a:r>
          </a:p>
        </p:txBody>
      </p:sp>
      <p:sp>
        <p:nvSpPr>
          <p:cNvPr id="57363" name="Line 19"/>
          <p:cNvSpPr>
            <a:spLocks noChangeShapeType="1"/>
          </p:cNvSpPr>
          <p:nvPr/>
        </p:nvSpPr>
        <p:spPr bwMode="auto">
          <a:xfrm>
            <a:off x="3995738" y="5805488"/>
            <a:ext cx="0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7364" name="Rectangle 20"/>
          <p:cNvSpPr>
            <a:spLocks noChangeArrowheads="1"/>
          </p:cNvSpPr>
          <p:nvPr/>
        </p:nvSpPr>
        <p:spPr bwMode="auto">
          <a:xfrm>
            <a:off x="3635375" y="6308725"/>
            <a:ext cx="20875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AU" sz="3200">
                <a:latin typeface="Times New Roman" pitchFamily="18" charset="0"/>
              </a:rPr>
              <a:t>Pointer field</a:t>
            </a:r>
          </a:p>
        </p:txBody>
      </p:sp>
      <p:sp>
        <p:nvSpPr>
          <p:cNvPr id="57365" name="Text Box 21"/>
          <p:cNvSpPr txBox="1">
            <a:spLocks noChangeArrowheads="1"/>
          </p:cNvSpPr>
          <p:nvPr/>
        </p:nvSpPr>
        <p:spPr bwMode="auto">
          <a:xfrm>
            <a:off x="4140200" y="3573463"/>
            <a:ext cx="360203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[Linear Liked List]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Lists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>
          <a:xfrm>
            <a:off x="755650" y="2017713"/>
            <a:ext cx="8199438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AU" smtClean="0">
                <a:latin typeface="Times New Roman" pitchFamily="18" charset="0"/>
                <a:cs typeface="Times New Roman" pitchFamily="18" charset="0"/>
              </a:rPr>
              <a:t>Types of linked lists:</a:t>
            </a:r>
          </a:p>
          <a:p>
            <a:pPr lvl="1" eaLnBrk="1" hangingPunct="1">
              <a:lnSpc>
                <a:spcPct val="80000"/>
              </a:lnSpc>
            </a:pPr>
            <a:r>
              <a:rPr lang="en-AU" smtClean="0">
                <a:latin typeface="Times New Roman" pitchFamily="18" charset="0"/>
                <a:cs typeface="Times New Roman" pitchFamily="18" charset="0"/>
              </a:rPr>
              <a:t>Single linked list</a:t>
            </a:r>
          </a:p>
          <a:p>
            <a:pPr lvl="1" eaLnBrk="1" hangingPunct="1">
              <a:lnSpc>
                <a:spcPct val="80000"/>
              </a:lnSpc>
            </a:pPr>
            <a:r>
              <a:rPr lang="en-AU" smtClean="0">
                <a:latin typeface="Times New Roman" pitchFamily="18" charset="0"/>
                <a:cs typeface="Times New Roman" pitchFamily="18" charset="0"/>
              </a:rPr>
              <a:t>Doubly linked list</a:t>
            </a:r>
          </a:p>
          <a:p>
            <a:pPr lvl="1" eaLnBrk="1" hangingPunct="1">
              <a:lnSpc>
                <a:spcPct val="80000"/>
              </a:lnSpc>
            </a:pPr>
            <a:r>
              <a:rPr lang="en-AU" smtClean="0">
                <a:latin typeface="Times New Roman" pitchFamily="18" charset="0"/>
                <a:cs typeface="Times New Roman" pitchFamily="18" charset="0"/>
              </a:rPr>
              <a:t>Single circular linked list</a:t>
            </a:r>
          </a:p>
          <a:p>
            <a:pPr lvl="1" eaLnBrk="1" hangingPunct="1">
              <a:lnSpc>
                <a:spcPct val="80000"/>
              </a:lnSpc>
            </a:pPr>
            <a:r>
              <a:rPr lang="en-AU" smtClean="0">
                <a:latin typeface="Times New Roman" pitchFamily="18" charset="0"/>
                <a:cs typeface="Times New Roman" pitchFamily="18" charset="0"/>
              </a:rPr>
              <a:t>Doubly circular linked list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A stack is also an ordered collection of elements like arrays, but it has a special feature that deletion and insertion of elements can be done only from one end called the top of the stack (TOP)</a:t>
            </a:r>
          </a:p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Due to this property it is also called as last in first out type of data structure (LIFO).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2017713"/>
            <a:ext cx="8486775" cy="4114800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AU" smtClean="0">
                <a:latin typeface="Times New Roman" pitchFamily="18" charset="0"/>
                <a:cs typeface="Times New Roman" pitchFamily="18" charset="0"/>
              </a:rPr>
              <a:t>It could be through of just like a stack of plates placed on table in a party, a guest always takes off a fresh plate from the top and the new plates are placed on to the stack at the top.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AU" smtClean="0">
                <a:latin typeface="Times New Roman" pitchFamily="18" charset="0"/>
                <a:cs typeface="Times New Roman" pitchFamily="18" charset="0"/>
              </a:rPr>
              <a:t>It is a non-primitive data structure.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AU" smtClean="0">
                <a:latin typeface="Times New Roman" pitchFamily="18" charset="0"/>
                <a:cs typeface="Times New Roman" pitchFamily="18" charset="0"/>
              </a:rPr>
              <a:t>When an element is inserted into a stack or removed from the stack, its base remains fixed where the top of stack changes.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Insertion of element into stack is called PUSH and deletion of element from stack is called POP.</a:t>
            </a:r>
          </a:p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The bellow show figure how the operations take place on a stack:</a:t>
            </a:r>
          </a:p>
        </p:txBody>
      </p:sp>
      <p:sp>
        <p:nvSpPr>
          <p:cNvPr id="61444" name="Line 4"/>
          <p:cNvSpPr>
            <a:spLocks noChangeShapeType="1"/>
          </p:cNvSpPr>
          <p:nvPr/>
        </p:nvSpPr>
        <p:spPr bwMode="auto">
          <a:xfrm>
            <a:off x="3635375" y="5013325"/>
            <a:ext cx="0" cy="1655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445" name="Line 5"/>
          <p:cNvSpPr>
            <a:spLocks noChangeShapeType="1"/>
          </p:cNvSpPr>
          <p:nvPr/>
        </p:nvSpPr>
        <p:spPr bwMode="auto">
          <a:xfrm>
            <a:off x="4932363" y="5013325"/>
            <a:ext cx="0" cy="1655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446" name="Line 6"/>
          <p:cNvSpPr>
            <a:spLocks noChangeShapeType="1"/>
          </p:cNvSpPr>
          <p:nvPr/>
        </p:nvSpPr>
        <p:spPr bwMode="auto">
          <a:xfrm>
            <a:off x="3635375" y="6669088"/>
            <a:ext cx="1296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447" name="Line 7"/>
          <p:cNvSpPr>
            <a:spLocks noChangeShapeType="1"/>
          </p:cNvSpPr>
          <p:nvPr/>
        </p:nvSpPr>
        <p:spPr bwMode="auto">
          <a:xfrm>
            <a:off x="3851275" y="5157788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448" name="Line 8"/>
          <p:cNvSpPr>
            <a:spLocks noChangeShapeType="1"/>
          </p:cNvSpPr>
          <p:nvPr/>
        </p:nvSpPr>
        <p:spPr bwMode="auto">
          <a:xfrm>
            <a:off x="3851275" y="5373688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449" name="Line 9"/>
          <p:cNvSpPr>
            <a:spLocks noChangeShapeType="1"/>
          </p:cNvSpPr>
          <p:nvPr/>
        </p:nvSpPr>
        <p:spPr bwMode="auto">
          <a:xfrm>
            <a:off x="3851275" y="5589588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450" name="Line 10"/>
          <p:cNvSpPr>
            <a:spLocks noChangeShapeType="1"/>
          </p:cNvSpPr>
          <p:nvPr/>
        </p:nvSpPr>
        <p:spPr bwMode="auto">
          <a:xfrm>
            <a:off x="3851275" y="5805488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451" name="Line 11"/>
          <p:cNvSpPr>
            <a:spLocks noChangeShapeType="1"/>
          </p:cNvSpPr>
          <p:nvPr/>
        </p:nvSpPr>
        <p:spPr bwMode="auto">
          <a:xfrm>
            <a:off x="3851275" y="6021388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452" name="Line 12"/>
          <p:cNvSpPr>
            <a:spLocks noChangeShapeType="1"/>
          </p:cNvSpPr>
          <p:nvPr/>
        </p:nvSpPr>
        <p:spPr bwMode="auto">
          <a:xfrm>
            <a:off x="3851275" y="6237288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453" name="Line 13"/>
          <p:cNvSpPr>
            <a:spLocks noChangeShapeType="1"/>
          </p:cNvSpPr>
          <p:nvPr/>
        </p:nvSpPr>
        <p:spPr bwMode="auto">
          <a:xfrm>
            <a:off x="3851275" y="6453188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454" name="Line 14"/>
          <p:cNvSpPr>
            <a:spLocks noChangeShapeType="1"/>
          </p:cNvSpPr>
          <p:nvPr/>
        </p:nvSpPr>
        <p:spPr bwMode="auto">
          <a:xfrm flipV="1">
            <a:off x="4067175" y="4797425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455" name="Line 15"/>
          <p:cNvSpPr>
            <a:spLocks noChangeShapeType="1"/>
          </p:cNvSpPr>
          <p:nvPr/>
        </p:nvSpPr>
        <p:spPr bwMode="auto">
          <a:xfrm flipV="1">
            <a:off x="4572000" y="4797425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456" name="Line 16"/>
          <p:cNvSpPr>
            <a:spLocks noChangeShapeType="1"/>
          </p:cNvSpPr>
          <p:nvPr/>
        </p:nvSpPr>
        <p:spPr bwMode="auto">
          <a:xfrm flipH="1">
            <a:off x="2916238" y="4797425"/>
            <a:ext cx="1150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1457" name="Line 17"/>
          <p:cNvSpPr>
            <a:spLocks noChangeShapeType="1"/>
          </p:cNvSpPr>
          <p:nvPr/>
        </p:nvSpPr>
        <p:spPr bwMode="auto">
          <a:xfrm>
            <a:off x="4572000" y="4797425"/>
            <a:ext cx="1368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1458" name="Text Box 18"/>
          <p:cNvSpPr txBox="1">
            <a:spLocks noChangeArrowheads="1"/>
          </p:cNvSpPr>
          <p:nvPr/>
        </p:nvSpPr>
        <p:spPr bwMode="auto">
          <a:xfrm>
            <a:off x="2124075" y="4868863"/>
            <a:ext cx="143986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PUSH</a:t>
            </a:r>
          </a:p>
        </p:txBody>
      </p:sp>
      <p:sp>
        <p:nvSpPr>
          <p:cNvPr id="61459" name="Text Box 19"/>
          <p:cNvSpPr txBox="1">
            <a:spLocks noChangeArrowheads="1"/>
          </p:cNvSpPr>
          <p:nvPr/>
        </p:nvSpPr>
        <p:spPr bwMode="auto">
          <a:xfrm>
            <a:off x="5076825" y="4868863"/>
            <a:ext cx="122396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POP</a:t>
            </a:r>
          </a:p>
        </p:txBody>
      </p:sp>
      <p:sp>
        <p:nvSpPr>
          <p:cNvPr id="61460" name="Text Box 20"/>
          <p:cNvSpPr txBox="1">
            <a:spLocks noChangeArrowheads="1"/>
          </p:cNvSpPr>
          <p:nvPr/>
        </p:nvSpPr>
        <p:spPr bwMode="auto">
          <a:xfrm>
            <a:off x="5076825" y="6092825"/>
            <a:ext cx="23034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[STACK]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The stack can be implemented into two ways:</a:t>
            </a:r>
          </a:p>
          <a:p>
            <a:pPr lvl="1" eaLnBrk="1" hangingPunct="1"/>
            <a:r>
              <a:rPr lang="en-AU" sz="3200" smtClean="0">
                <a:latin typeface="Times New Roman" pitchFamily="18" charset="0"/>
                <a:cs typeface="Times New Roman" pitchFamily="18" charset="0"/>
              </a:rPr>
              <a:t>Using arrays (Static implementation)</a:t>
            </a:r>
          </a:p>
          <a:p>
            <a:pPr lvl="1" eaLnBrk="1" hangingPunct="1"/>
            <a:r>
              <a:rPr lang="en-AU" sz="3200" smtClean="0">
                <a:latin typeface="Times New Roman" pitchFamily="18" charset="0"/>
                <a:cs typeface="Times New Roman" pitchFamily="18" charset="0"/>
              </a:rPr>
              <a:t>Using pointer (Dynamic implementation)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Queue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971550" y="2017713"/>
            <a:ext cx="7983538" cy="4114800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AU" smtClean="0">
                <a:latin typeface="Times New Roman" pitchFamily="18" charset="0"/>
                <a:cs typeface="Times New Roman" pitchFamily="18" charset="0"/>
              </a:rPr>
              <a:t>Queue are first in first out type of data structure (i.e. FIFO)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AU" smtClean="0">
                <a:latin typeface="Times New Roman" pitchFamily="18" charset="0"/>
                <a:cs typeface="Times New Roman" pitchFamily="18" charset="0"/>
              </a:rPr>
              <a:t>In a queue new elements are added to the queue from one end called REAR end and the element are always removed from other end called the FRONT end.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AU" smtClean="0">
                <a:latin typeface="Times New Roman" pitchFamily="18" charset="0"/>
                <a:cs typeface="Times New Roman" pitchFamily="18" charset="0"/>
              </a:rPr>
              <a:t>The people standing in a railway reservation row are an example of queue.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Queue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82688" y="2017713"/>
            <a:ext cx="7493000" cy="3211512"/>
          </a:xfrm>
        </p:spPr>
        <p:txBody>
          <a:bodyPr/>
          <a:lstStyle/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Each new person comes and stands at the end of the row and person getting their reservation confirmed get out of the row from the front end.</a:t>
            </a:r>
          </a:p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The bellow show figure how the operations take place on a stack:</a:t>
            </a:r>
          </a:p>
          <a:p>
            <a:pPr eaLnBrk="1" hangingPunct="1"/>
            <a:endParaRPr lang="en-AU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AU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5861" name="Group 21"/>
          <p:cNvGraphicFramePr>
            <a:graphicFrameLocks noGrp="1"/>
          </p:cNvGraphicFramePr>
          <p:nvPr>
            <p:ph sz="half" idx="2"/>
          </p:nvPr>
        </p:nvGraphicFramePr>
        <p:xfrm>
          <a:off x="2843213" y="5084763"/>
          <a:ext cx="3883025" cy="720725"/>
        </p:xfrm>
        <a:graphic>
          <a:graphicData uri="http://schemas.openxmlformats.org/drawingml/2006/table">
            <a:tbl>
              <a:tblPr/>
              <a:tblGrid>
                <a:gridCol w="776287"/>
                <a:gridCol w="776288"/>
                <a:gridCol w="777875"/>
                <a:gridCol w="776287"/>
                <a:gridCol w="776288"/>
              </a:tblGrid>
              <a:tr h="720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4530" name="Line 22"/>
          <p:cNvSpPr>
            <a:spLocks noChangeShapeType="1"/>
          </p:cNvSpPr>
          <p:nvPr/>
        </p:nvSpPr>
        <p:spPr bwMode="auto">
          <a:xfrm flipV="1">
            <a:off x="3203575" y="5805488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4531" name="Line 23"/>
          <p:cNvSpPr>
            <a:spLocks noChangeShapeType="1"/>
          </p:cNvSpPr>
          <p:nvPr/>
        </p:nvSpPr>
        <p:spPr bwMode="auto">
          <a:xfrm flipV="1">
            <a:off x="6300788" y="5805488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4532" name="Text Box 24"/>
          <p:cNvSpPr txBox="1">
            <a:spLocks noChangeArrowheads="1"/>
          </p:cNvSpPr>
          <p:nvPr/>
        </p:nvSpPr>
        <p:spPr bwMode="auto">
          <a:xfrm>
            <a:off x="2700338" y="6092825"/>
            <a:ext cx="100806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front</a:t>
            </a:r>
          </a:p>
        </p:txBody>
      </p:sp>
      <p:sp>
        <p:nvSpPr>
          <p:cNvPr id="64533" name="Text Box 25"/>
          <p:cNvSpPr txBox="1">
            <a:spLocks noChangeArrowheads="1"/>
          </p:cNvSpPr>
          <p:nvPr/>
        </p:nvSpPr>
        <p:spPr bwMode="auto">
          <a:xfrm>
            <a:off x="5940425" y="6165850"/>
            <a:ext cx="863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rear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Queue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The queue can be implemented into two ways:</a:t>
            </a:r>
          </a:p>
          <a:p>
            <a:pPr lvl="1" eaLnBrk="1" hangingPunct="1"/>
            <a:r>
              <a:rPr lang="en-AU" sz="3200" smtClean="0">
                <a:latin typeface="Times New Roman" pitchFamily="18" charset="0"/>
                <a:cs typeface="Times New Roman" pitchFamily="18" charset="0"/>
              </a:rPr>
              <a:t>Using arrays (Static implementation)</a:t>
            </a:r>
          </a:p>
          <a:p>
            <a:pPr lvl="1" eaLnBrk="1" hangingPunct="1"/>
            <a:r>
              <a:rPr lang="en-AU" sz="3200" smtClean="0">
                <a:latin typeface="Times New Roman" pitchFamily="18" charset="0"/>
                <a:cs typeface="Times New Roman" pitchFamily="18" charset="0"/>
              </a:rPr>
              <a:t>Using pointer (Dynamic implementation)</a:t>
            </a:r>
          </a:p>
          <a:p>
            <a:pPr eaLnBrk="1" hangingPunct="1"/>
            <a:endParaRPr lang="en-AU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Trees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A tree can be defined as finite set of data items (nodes).</a:t>
            </a:r>
          </a:p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Tree is non-linear type of data structure in which data items are arranged or stored in a sorted sequence.</a:t>
            </a:r>
          </a:p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Tree represent the hierarchical relationship between various elements.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Trees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971550" y="2017713"/>
            <a:ext cx="7921625" cy="48402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smtClean="0">
                <a:latin typeface="Times New Roman" pitchFamily="18" charset="0"/>
                <a:cs typeface="Times New Roman" pitchFamily="18" charset="0"/>
              </a:rPr>
              <a:t>In trees:</a:t>
            </a:r>
          </a:p>
          <a:p>
            <a:pPr eaLnBrk="1" hangingPunct="1">
              <a:lnSpc>
                <a:spcPct val="90000"/>
              </a:lnSpc>
            </a:pPr>
            <a:r>
              <a:rPr lang="en-AU" smtClean="0">
                <a:latin typeface="Times New Roman" pitchFamily="18" charset="0"/>
                <a:cs typeface="Times New Roman" pitchFamily="18" charset="0"/>
              </a:rPr>
              <a:t>There is a special data item at the top of hierarchy called the Root of the tree.</a:t>
            </a:r>
          </a:p>
          <a:p>
            <a:pPr eaLnBrk="1" hangingPunct="1">
              <a:lnSpc>
                <a:spcPct val="90000"/>
              </a:lnSpc>
            </a:pPr>
            <a:r>
              <a:rPr lang="en-AU" smtClean="0">
                <a:latin typeface="Times New Roman" pitchFamily="18" charset="0"/>
                <a:cs typeface="Times New Roman" pitchFamily="18" charset="0"/>
              </a:rPr>
              <a:t>The remaining data items are partitioned into number of mutually exclusive subset, each of which is itself, a tree which is called the sub tree.</a:t>
            </a:r>
          </a:p>
          <a:p>
            <a:pPr eaLnBrk="1" hangingPunct="1">
              <a:lnSpc>
                <a:spcPct val="90000"/>
              </a:lnSpc>
            </a:pPr>
            <a:r>
              <a:rPr lang="en-AU" smtClean="0">
                <a:latin typeface="Times New Roman" pitchFamily="18" charset="0"/>
                <a:cs typeface="Times New Roman" pitchFamily="18" charset="0"/>
              </a:rPr>
              <a:t>The tree always grows in length towards bottom in data structures, unlike natural trees which grows upwards.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Trees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The tree structure organizes the data into branches, which related the information.</a:t>
            </a:r>
          </a:p>
          <a:p>
            <a:pPr eaLnBrk="1" hangingPunct="1"/>
            <a:endParaRPr lang="en-AU" smtClean="0"/>
          </a:p>
        </p:txBody>
      </p:sp>
      <p:sp>
        <p:nvSpPr>
          <p:cNvPr id="68612" name="Oval 4"/>
          <p:cNvSpPr>
            <a:spLocks noChangeArrowheads="1"/>
          </p:cNvSpPr>
          <p:nvPr/>
        </p:nvSpPr>
        <p:spPr bwMode="auto">
          <a:xfrm>
            <a:off x="4427538" y="3500438"/>
            <a:ext cx="576262" cy="57626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8613" name="Text Box 5"/>
          <p:cNvSpPr txBox="1">
            <a:spLocks noChangeArrowheads="1"/>
          </p:cNvSpPr>
          <p:nvPr/>
        </p:nvSpPr>
        <p:spPr bwMode="auto">
          <a:xfrm>
            <a:off x="4572000" y="3500438"/>
            <a:ext cx="3603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2400"/>
              <a:t>A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3203575" y="4365625"/>
            <a:ext cx="576263" cy="576263"/>
            <a:chOff x="2562" y="2251"/>
            <a:chExt cx="363" cy="363"/>
          </a:xfrm>
        </p:grpSpPr>
        <p:sp>
          <p:nvSpPr>
            <p:cNvPr id="68638" name="Oval 10"/>
            <p:cNvSpPr>
              <a:spLocks noChangeArrowheads="1"/>
            </p:cNvSpPr>
            <p:nvPr/>
          </p:nvSpPr>
          <p:spPr bwMode="auto">
            <a:xfrm>
              <a:off x="2562" y="2251"/>
              <a:ext cx="363" cy="36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39" name="Text Box 11"/>
            <p:cNvSpPr txBox="1">
              <a:spLocks noChangeArrowheads="1"/>
            </p:cNvSpPr>
            <p:nvPr/>
          </p:nvSpPr>
          <p:spPr bwMode="auto">
            <a:xfrm>
              <a:off x="2653" y="2280"/>
              <a:ext cx="22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AU" sz="2400"/>
                <a:t>B</a:t>
              </a:r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5508625" y="4365625"/>
            <a:ext cx="576263" cy="576263"/>
            <a:chOff x="2562" y="2251"/>
            <a:chExt cx="363" cy="363"/>
          </a:xfrm>
        </p:grpSpPr>
        <p:sp>
          <p:nvSpPr>
            <p:cNvPr id="68636" name="Oval 13"/>
            <p:cNvSpPr>
              <a:spLocks noChangeArrowheads="1"/>
            </p:cNvSpPr>
            <p:nvPr/>
          </p:nvSpPr>
          <p:spPr bwMode="auto">
            <a:xfrm>
              <a:off x="2562" y="2251"/>
              <a:ext cx="363" cy="36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37" name="Text Box 14"/>
            <p:cNvSpPr txBox="1">
              <a:spLocks noChangeArrowheads="1"/>
            </p:cNvSpPr>
            <p:nvPr/>
          </p:nvSpPr>
          <p:spPr bwMode="auto">
            <a:xfrm>
              <a:off x="2653" y="2280"/>
              <a:ext cx="22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AU" sz="2400"/>
                <a:t>C</a:t>
              </a:r>
            </a:p>
          </p:txBody>
        </p:sp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2339975" y="5373688"/>
            <a:ext cx="576263" cy="576262"/>
            <a:chOff x="2562" y="2251"/>
            <a:chExt cx="363" cy="363"/>
          </a:xfrm>
        </p:grpSpPr>
        <p:sp>
          <p:nvSpPr>
            <p:cNvPr id="68634" name="Oval 16"/>
            <p:cNvSpPr>
              <a:spLocks noChangeArrowheads="1"/>
            </p:cNvSpPr>
            <p:nvPr/>
          </p:nvSpPr>
          <p:spPr bwMode="auto">
            <a:xfrm>
              <a:off x="2562" y="2251"/>
              <a:ext cx="363" cy="36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35" name="Text Box 17"/>
            <p:cNvSpPr txBox="1">
              <a:spLocks noChangeArrowheads="1"/>
            </p:cNvSpPr>
            <p:nvPr/>
          </p:nvSpPr>
          <p:spPr bwMode="auto">
            <a:xfrm>
              <a:off x="2653" y="2280"/>
              <a:ext cx="22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AU" sz="2400"/>
                <a:t>D</a:t>
              </a:r>
            </a:p>
          </p:txBody>
        </p:sp>
      </p:grp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3924300" y="5373688"/>
            <a:ext cx="576263" cy="576262"/>
            <a:chOff x="2562" y="2251"/>
            <a:chExt cx="363" cy="363"/>
          </a:xfrm>
        </p:grpSpPr>
        <p:sp>
          <p:nvSpPr>
            <p:cNvPr id="68632" name="Oval 19"/>
            <p:cNvSpPr>
              <a:spLocks noChangeArrowheads="1"/>
            </p:cNvSpPr>
            <p:nvPr/>
          </p:nvSpPr>
          <p:spPr bwMode="auto">
            <a:xfrm>
              <a:off x="2562" y="2251"/>
              <a:ext cx="363" cy="36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33" name="Text Box 20"/>
            <p:cNvSpPr txBox="1">
              <a:spLocks noChangeArrowheads="1"/>
            </p:cNvSpPr>
            <p:nvPr/>
          </p:nvSpPr>
          <p:spPr bwMode="auto">
            <a:xfrm>
              <a:off x="2653" y="2280"/>
              <a:ext cx="22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AU" sz="2400"/>
                <a:t>E</a:t>
              </a:r>
            </a:p>
          </p:txBody>
        </p:sp>
      </p:grpSp>
      <p:grpSp>
        <p:nvGrpSpPr>
          <p:cNvPr id="6" name="Group 21"/>
          <p:cNvGrpSpPr>
            <a:grpSpLocks/>
          </p:cNvGrpSpPr>
          <p:nvPr/>
        </p:nvGrpSpPr>
        <p:grpSpPr bwMode="auto">
          <a:xfrm>
            <a:off x="4932363" y="5373688"/>
            <a:ext cx="576262" cy="576262"/>
            <a:chOff x="2562" y="2251"/>
            <a:chExt cx="363" cy="363"/>
          </a:xfrm>
        </p:grpSpPr>
        <p:sp>
          <p:nvSpPr>
            <p:cNvPr id="68630" name="Oval 22"/>
            <p:cNvSpPr>
              <a:spLocks noChangeArrowheads="1"/>
            </p:cNvSpPr>
            <p:nvPr/>
          </p:nvSpPr>
          <p:spPr bwMode="auto">
            <a:xfrm>
              <a:off x="2562" y="2251"/>
              <a:ext cx="363" cy="36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31" name="Text Box 23"/>
            <p:cNvSpPr txBox="1">
              <a:spLocks noChangeArrowheads="1"/>
            </p:cNvSpPr>
            <p:nvPr/>
          </p:nvSpPr>
          <p:spPr bwMode="auto">
            <a:xfrm>
              <a:off x="2653" y="2280"/>
              <a:ext cx="22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AU" sz="2400"/>
                <a:t>F</a:t>
              </a:r>
            </a:p>
          </p:txBody>
        </p:sp>
      </p:grpSp>
      <p:grpSp>
        <p:nvGrpSpPr>
          <p:cNvPr id="7" name="Group 24"/>
          <p:cNvGrpSpPr>
            <a:grpSpLocks/>
          </p:cNvGrpSpPr>
          <p:nvPr/>
        </p:nvGrpSpPr>
        <p:grpSpPr bwMode="auto">
          <a:xfrm>
            <a:off x="6300788" y="5373688"/>
            <a:ext cx="576262" cy="576262"/>
            <a:chOff x="2562" y="2251"/>
            <a:chExt cx="363" cy="363"/>
          </a:xfrm>
        </p:grpSpPr>
        <p:sp>
          <p:nvSpPr>
            <p:cNvPr id="68628" name="Oval 25"/>
            <p:cNvSpPr>
              <a:spLocks noChangeArrowheads="1"/>
            </p:cNvSpPr>
            <p:nvPr/>
          </p:nvSpPr>
          <p:spPr bwMode="auto">
            <a:xfrm>
              <a:off x="2562" y="2251"/>
              <a:ext cx="363" cy="36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29" name="Text Box 26"/>
            <p:cNvSpPr txBox="1">
              <a:spLocks noChangeArrowheads="1"/>
            </p:cNvSpPr>
            <p:nvPr/>
          </p:nvSpPr>
          <p:spPr bwMode="auto">
            <a:xfrm>
              <a:off x="2653" y="2280"/>
              <a:ext cx="22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AU" sz="2400"/>
                <a:t>G</a:t>
              </a:r>
            </a:p>
          </p:txBody>
        </p:sp>
      </p:grpSp>
      <p:sp>
        <p:nvSpPr>
          <p:cNvPr id="68620" name="Line 27"/>
          <p:cNvSpPr>
            <a:spLocks noChangeShapeType="1"/>
          </p:cNvSpPr>
          <p:nvPr/>
        </p:nvSpPr>
        <p:spPr bwMode="auto">
          <a:xfrm flipH="1">
            <a:off x="3708400" y="3933825"/>
            <a:ext cx="719138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8621" name="Line 28"/>
          <p:cNvSpPr>
            <a:spLocks noChangeShapeType="1"/>
          </p:cNvSpPr>
          <p:nvPr/>
        </p:nvSpPr>
        <p:spPr bwMode="auto">
          <a:xfrm>
            <a:off x="4932363" y="3860800"/>
            <a:ext cx="719137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8622" name="Line 29"/>
          <p:cNvSpPr>
            <a:spLocks noChangeShapeType="1"/>
          </p:cNvSpPr>
          <p:nvPr/>
        </p:nvSpPr>
        <p:spPr bwMode="auto">
          <a:xfrm flipH="1">
            <a:off x="2843213" y="4868863"/>
            <a:ext cx="504825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8623" name="Line 30"/>
          <p:cNvSpPr>
            <a:spLocks noChangeShapeType="1"/>
          </p:cNvSpPr>
          <p:nvPr/>
        </p:nvSpPr>
        <p:spPr bwMode="auto">
          <a:xfrm>
            <a:off x="3708400" y="4868863"/>
            <a:ext cx="358775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8624" name="Line 31"/>
          <p:cNvSpPr>
            <a:spLocks noChangeShapeType="1"/>
          </p:cNvSpPr>
          <p:nvPr/>
        </p:nvSpPr>
        <p:spPr bwMode="auto">
          <a:xfrm flipH="1">
            <a:off x="5364163" y="4868863"/>
            <a:ext cx="287337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8625" name="Line 32"/>
          <p:cNvSpPr>
            <a:spLocks noChangeShapeType="1"/>
          </p:cNvSpPr>
          <p:nvPr/>
        </p:nvSpPr>
        <p:spPr bwMode="auto">
          <a:xfrm>
            <a:off x="6011863" y="4797425"/>
            <a:ext cx="504825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8626" name="Line 33"/>
          <p:cNvSpPr>
            <a:spLocks noChangeShapeType="1"/>
          </p:cNvSpPr>
          <p:nvPr/>
        </p:nvSpPr>
        <p:spPr bwMode="auto">
          <a:xfrm flipH="1" flipV="1">
            <a:off x="5003800" y="3716338"/>
            <a:ext cx="1152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8627" name="Text Box 34"/>
          <p:cNvSpPr txBox="1">
            <a:spLocks noChangeArrowheads="1"/>
          </p:cNvSpPr>
          <p:nvPr/>
        </p:nvSpPr>
        <p:spPr bwMode="auto">
          <a:xfrm>
            <a:off x="6084888" y="3429000"/>
            <a:ext cx="10080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/>
              <a:t>root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Graph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Graph is a mathematical non-linear data structure capable of representing many kind of physical structures.</a:t>
            </a:r>
          </a:p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It has found application in Geography, Chemistry and Engineering sciences.</a:t>
            </a:r>
          </a:p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Definition: A graph G(V,E) is a set of vertices V and a set of edges 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Graph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An edge connects a pair of vertices and many have weight such as length, cost and another measuring instrument for according the graph.</a:t>
            </a:r>
          </a:p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Vertices on the graph are shown as point or circles and edges are drawn as arcs or line segment.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Graph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1187450" y="1989138"/>
            <a:ext cx="7772400" cy="4114800"/>
          </a:xfrm>
        </p:spPr>
        <p:txBody>
          <a:bodyPr/>
          <a:lstStyle/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Example of graph:</a:t>
            </a:r>
          </a:p>
        </p:txBody>
      </p:sp>
      <p:sp>
        <p:nvSpPr>
          <p:cNvPr id="71684" name="Oval 4"/>
          <p:cNvSpPr>
            <a:spLocks noChangeArrowheads="1"/>
          </p:cNvSpPr>
          <p:nvPr/>
        </p:nvSpPr>
        <p:spPr bwMode="auto">
          <a:xfrm>
            <a:off x="1835150" y="2852738"/>
            <a:ext cx="504825" cy="57626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685" name="Text Box 5"/>
          <p:cNvSpPr txBox="1">
            <a:spLocks noChangeArrowheads="1"/>
          </p:cNvSpPr>
          <p:nvPr/>
        </p:nvSpPr>
        <p:spPr bwMode="auto">
          <a:xfrm>
            <a:off x="1979613" y="3068638"/>
            <a:ext cx="2889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IN"/>
          </a:p>
        </p:txBody>
      </p:sp>
      <p:sp>
        <p:nvSpPr>
          <p:cNvPr id="71686" name="Text Box 6"/>
          <p:cNvSpPr txBox="1">
            <a:spLocks noChangeArrowheads="1"/>
          </p:cNvSpPr>
          <p:nvPr/>
        </p:nvSpPr>
        <p:spPr bwMode="auto">
          <a:xfrm>
            <a:off x="1835150" y="2924175"/>
            <a:ext cx="5048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2000"/>
              <a:t>v2</a:t>
            </a:r>
          </a:p>
        </p:txBody>
      </p:sp>
      <p:sp>
        <p:nvSpPr>
          <p:cNvPr id="71687" name="Text Box 7"/>
          <p:cNvSpPr txBox="1">
            <a:spLocks noChangeArrowheads="1"/>
          </p:cNvSpPr>
          <p:nvPr/>
        </p:nvSpPr>
        <p:spPr bwMode="auto">
          <a:xfrm>
            <a:off x="1979613" y="3068638"/>
            <a:ext cx="2889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IN"/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684213" y="4005263"/>
            <a:ext cx="504825" cy="684212"/>
            <a:chOff x="1156" y="1797"/>
            <a:chExt cx="318" cy="431"/>
          </a:xfrm>
        </p:grpSpPr>
        <p:sp>
          <p:nvSpPr>
            <p:cNvPr id="71723" name="Oval 12"/>
            <p:cNvSpPr>
              <a:spLocks noChangeArrowheads="1"/>
            </p:cNvSpPr>
            <p:nvPr/>
          </p:nvSpPr>
          <p:spPr bwMode="auto">
            <a:xfrm>
              <a:off x="1156" y="1797"/>
              <a:ext cx="318" cy="36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13"/>
            <p:cNvGrpSpPr>
              <a:grpSpLocks/>
            </p:cNvGrpSpPr>
            <p:nvPr/>
          </p:nvGrpSpPr>
          <p:grpSpPr bwMode="auto">
            <a:xfrm>
              <a:off x="1156" y="1842"/>
              <a:ext cx="318" cy="386"/>
              <a:chOff x="1156" y="1842"/>
              <a:chExt cx="318" cy="591"/>
            </a:xfrm>
          </p:grpSpPr>
          <p:sp>
            <p:nvSpPr>
              <p:cNvPr id="71725" name="Text Box 14"/>
              <p:cNvSpPr txBox="1">
                <a:spLocks noChangeArrowheads="1"/>
              </p:cNvSpPr>
              <p:nvPr/>
            </p:nvSpPr>
            <p:spPr bwMode="auto">
              <a:xfrm>
                <a:off x="1156" y="1842"/>
                <a:ext cx="318" cy="38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AU" sz="2000"/>
                  <a:t>v1</a:t>
                </a:r>
              </a:p>
            </p:txBody>
          </p:sp>
          <p:sp>
            <p:nvSpPr>
              <p:cNvPr id="71726" name="Text Box 15"/>
              <p:cNvSpPr txBox="1">
                <a:spLocks noChangeArrowheads="1"/>
              </p:cNvSpPr>
              <p:nvPr/>
            </p:nvSpPr>
            <p:spPr bwMode="auto">
              <a:xfrm>
                <a:off x="1247" y="1932"/>
                <a:ext cx="182" cy="5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IN"/>
              </a:p>
            </p:txBody>
          </p:sp>
        </p:grpSp>
      </p:grpSp>
      <p:sp>
        <p:nvSpPr>
          <p:cNvPr id="71689" name="Oval 37"/>
          <p:cNvSpPr>
            <a:spLocks noChangeArrowheads="1"/>
          </p:cNvSpPr>
          <p:nvPr/>
        </p:nvSpPr>
        <p:spPr bwMode="auto">
          <a:xfrm>
            <a:off x="3635375" y="5013325"/>
            <a:ext cx="576263" cy="6477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690" name="Text Box 38"/>
          <p:cNvSpPr txBox="1">
            <a:spLocks noChangeArrowheads="1"/>
          </p:cNvSpPr>
          <p:nvPr/>
        </p:nvSpPr>
        <p:spPr bwMode="auto">
          <a:xfrm>
            <a:off x="3708400" y="5084763"/>
            <a:ext cx="5032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2000"/>
              <a:t>v4</a:t>
            </a:r>
          </a:p>
        </p:txBody>
      </p:sp>
      <p:sp>
        <p:nvSpPr>
          <p:cNvPr id="71691" name="Oval 39"/>
          <p:cNvSpPr>
            <a:spLocks noChangeArrowheads="1"/>
          </p:cNvSpPr>
          <p:nvPr/>
        </p:nvSpPr>
        <p:spPr bwMode="auto">
          <a:xfrm>
            <a:off x="3562350" y="2852738"/>
            <a:ext cx="576263" cy="6477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692" name="Text Box 40"/>
          <p:cNvSpPr txBox="1">
            <a:spLocks noChangeArrowheads="1"/>
          </p:cNvSpPr>
          <p:nvPr/>
        </p:nvSpPr>
        <p:spPr bwMode="auto">
          <a:xfrm>
            <a:off x="3635375" y="2924175"/>
            <a:ext cx="5032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2000"/>
              <a:t>v5</a:t>
            </a:r>
          </a:p>
        </p:txBody>
      </p:sp>
      <p:sp>
        <p:nvSpPr>
          <p:cNvPr id="71693" name="Oval 41"/>
          <p:cNvSpPr>
            <a:spLocks noChangeArrowheads="1"/>
          </p:cNvSpPr>
          <p:nvPr/>
        </p:nvSpPr>
        <p:spPr bwMode="auto">
          <a:xfrm>
            <a:off x="1835150" y="5013325"/>
            <a:ext cx="576263" cy="6477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694" name="Text Box 42"/>
          <p:cNvSpPr txBox="1">
            <a:spLocks noChangeArrowheads="1"/>
          </p:cNvSpPr>
          <p:nvPr/>
        </p:nvSpPr>
        <p:spPr bwMode="auto">
          <a:xfrm>
            <a:off x="1906588" y="5084763"/>
            <a:ext cx="5032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2000"/>
              <a:t>v3</a:t>
            </a:r>
          </a:p>
        </p:txBody>
      </p:sp>
      <p:sp>
        <p:nvSpPr>
          <p:cNvPr id="71695" name="Line 43"/>
          <p:cNvSpPr>
            <a:spLocks noChangeShapeType="1"/>
          </p:cNvSpPr>
          <p:nvPr/>
        </p:nvSpPr>
        <p:spPr bwMode="auto">
          <a:xfrm flipV="1">
            <a:off x="1116013" y="3357563"/>
            <a:ext cx="719137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1696" name="Line 44"/>
          <p:cNvSpPr>
            <a:spLocks noChangeShapeType="1"/>
          </p:cNvSpPr>
          <p:nvPr/>
        </p:nvSpPr>
        <p:spPr bwMode="auto">
          <a:xfrm>
            <a:off x="1042988" y="4581525"/>
            <a:ext cx="792162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1697" name="Line 45"/>
          <p:cNvSpPr>
            <a:spLocks noChangeShapeType="1"/>
          </p:cNvSpPr>
          <p:nvPr/>
        </p:nvSpPr>
        <p:spPr bwMode="auto">
          <a:xfrm flipV="1">
            <a:off x="2124075" y="3429000"/>
            <a:ext cx="0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1698" name="Line 46"/>
          <p:cNvSpPr>
            <a:spLocks noChangeShapeType="1"/>
          </p:cNvSpPr>
          <p:nvPr/>
        </p:nvSpPr>
        <p:spPr bwMode="auto">
          <a:xfrm>
            <a:off x="2339975" y="3141663"/>
            <a:ext cx="1223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1699" name="Line 47"/>
          <p:cNvSpPr>
            <a:spLocks noChangeShapeType="1"/>
          </p:cNvSpPr>
          <p:nvPr/>
        </p:nvSpPr>
        <p:spPr bwMode="auto">
          <a:xfrm>
            <a:off x="3851275" y="3500438"/>
            <a:ext cx="73025" cy="1512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1700" name="Line 48"/>
          <p:cNvSpPr>
            <a:spLocks noChangeShapeType="1"/>
          </p:cNvSpPr>
          <p:nvPr/>
        </p:nvSpPr>
        <p:spPr bwMode="auto">
          <a:xfrm flipH="1" flipV="1">
            <a:off x="2411413" y="5300663"/>
            <a:ext cx="1223962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1701" name="Text Box 49"/>
          <p:cNvSpPr txBox="1">
            <a:spLocks noChangeArrowheads="1"/>
          </p:cNvSpPr>
          <p:nvPr/>
        </p:nvSpPr>
        <p:spPr bwMode="auto">
          <a:xfrm>
            <a:off x="1042988" y="3429000"/>
            <a:ext cx="5048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2000"/>
              <a:t>10</a:t>
            </a:r>
          </a:p>
        </p:txBody>
      </p:sp>
      <p:sp>
        <p:nvSpPr>
          <p:cNvPr id="71702" name="Text Box 50"/>
          <p:cNvSpPr txBox="1">
            <a:spLocks noChangeArrowheads="1"/>
          </p:cNvSpPr>
          <p:nvPr/>
        </p:nvSpPr>
        <p:spPr bwMode="auto">
          <a:xfrm>
            <a:off x="1258888" y="4437063"/>
            <a:ext cx="5048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2000"/>
              <a:t>15</a:t>
            </a:r>
          </a:p>
        </p:txBody>
      </p:sp>
      <p:sp>
        <p:nvSpPr>
          <p:cNvPr id="71703" name="Text Box 51"/>
          <p:cNvSpPr txBox="1">
            <a:spLocks noChangeArrowheads="1"/>
          </p:cNvSpPr>
          <p:nvPr/>
        </p:nvSpPr>
        <p:spPr bwMode="auto">
          <a:xfrm>
            <a:off x="2051050" y="4005263"/>
            <a:ext cx="5048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2000"/>
              <a:t>8</a:t>
            </a:r>
          </a:p>
        </p:txBody>
      </p:sp>
      <p:sp>
        <p:nvSpPr>
          <p:cNvPr id="71704" name="Text Box 52"/>
          <p:cNvSpPr txBox="1">
            <a:spLocks noChangeArrowheads="1"/>
          </p:cNvSpPr>
          <p:nvPr/>
        </p:nvSpPr>
        <p:spPr bwMode="auto">
          <a:xfrm>
            <a:off x="2627313" y="2781300"/>
            <a:ext cx="5048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2000"/>
              <a:t>6</a:t>
            </a:r>
          </a:p>
        </p:txBody>
      </p:sp>
      <p:sp>
        <p:nvSpPr>
          <p:cNvPr id="71705" name="Text Box 53"/>
          <p:cNvSpPr txBox="1">
            <a:spLocks noChangeArrowheads="1"/>
          </p:cNvSpPr>
          <p:nvPr/>
        </p:nvSpPr>
        <p:spPr bwMode="auto">
          <a:xfrm>
            <a:off x="3851275" y="4005263"/>
            <a:ext cx="5048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2000"/>
              <a:t>11</a:t>
            </a:r>
          </a:p>
        </p:txBody>
      </p:sp>
      <p:sp>
        <p:nvSpPr>
          <p:cNvPr id="71706" name="Text Box 54"/>
          <p:cNvSpPr txBox="1">
            <a:spLocks noChangeArrowheads="1"/>
          </p:cNvSpPr>
          <p:nvPr/>
        </p:nvSpPr>
        <p:spPr bwMode="auto">
          <a:xfrm>
            <a:off x="2700338" y="4941888"/>
            <a:ext cx="5048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2000"/>
              <a:t>9</a:t>
            </a:r>
          </a:p>
        </p:txBody>
      </p:sp>
      <p:sp>
        <p:nvSpPr>
          <p:cNvPr id="71707" name="Oval 55"/>
          <p:cNvSpPr>
            <a:spLocks noChangeArrowheads="1"/>
          </p:cNvSpPr>
          <p:nvPr/>
        </p:nvSpPr>
        <p:spPr bwMode="auto">
          <a:xfrm>
            <a:off x="3635375" y="5013325"/>
            <a:ext cx="576263" cy="6477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08" name="Text Box 56"/>
          <p:cNvSpPr txBox="1">
            <a:spLocks noChangeArrowheads="1"/>
          </p:cNvSpPr>
          <p:nvPr/>
        </p:nvSpPr>
        <p:spPr bwMode="auto">
          <a:xfrm>
            <a:off x="3708400" y="5084763"/>
            <a:ext cx="5032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2000"/>
              <a:t>v4</a:t>
            </a:r>
          </a:p>
        </p:txBody>
      </p:sp>
      <p:sp>
        <p:nvSpPr>
          <p:cNvPr id="71709" name="Oval 57"/>
          <p:cNvSpPr>
            <a:spLocks noChangeArrowheads="1"/>
          </p:cNvSpPr>
          <p:nvPr/>
        </p:nvSpPr>
        <p:spPr bwMode="auto">
          <a:xfrm>
            <a:off x="5507038" y="2997200"/>
            <a:ext cx="576262" cy="6477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10" name="Text Box 58"/>
          <p:cNvSpPr txBox="1">
            <a:spLocks noChangeArrowheads="1"/>
          </p:cNvSpPr>
          <p:nvPr/>
        </p:nvSpPr>
        <p:spPr bwMode="auto">
          <a:xfrm>
            <a:off x="5580063" y="3068638"/>
            <a:ext cx="5032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2000"/>
              <a:t>v1</a:t>
            </a:r>
          </a:p>
        </p:txBody>
      </p:sp>
      <p:sp>
        <p:nvSpPr>
          <p:cNvPr id="71711" name="Oval 59"/>
          <p:cNvSpPr>
            <a:spLocks noChangeArrowheads="1"/>
          </p:cNvSpPr>
          <p:nvPr/>
        </p:nvSpPr>
        <p:spPr bwMode="auto">
          <a:xfrm>
            <a:off x="6011863" y="4797425"/>
            <a:ext cx="576262" cy="6477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12" name="Text Box 60"/>
          <p:cNvSpPr txBox="1">
            <a:spLocks noChangeArrowheads="1"/>
          </p:cNvSpPr>
          <p:nvPr/>
        </p:nvSpPr>
        <p:spPr bwMode="auto">
          <a:xfrm>
            <a:off x="6084888" y="4868863"/>
            <a:ext cx="5032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2000"/>
              <a:t>v2</a:t>
            </a:r>
          </a:p>
        </p:txBody>
      </p:sp>
      <p:sp>
        <p:nvSpPr>
          <p:cNvPr id="71713" name="Oval 61"/>
          <p:cNvSpPr>
            <a:spLocks noChangeArrowheads="1"/>
          </p:cNvSpPr>
          <p:nvPr/>
        </p:nvSpPr>
        <p:spPr bwMode="auto">
          <a:xfrm>
            <a:off x="8170863" y="4941888"/>
            <a:ext cx="576262" cy="6477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14" name="Text Box 62"/>
          <p:cNvSpPr txBox="1">
            <a:spLocks noChangeArrowheads="1"/>
          </p:cNvSpPr>
          <p:nvPr/>
        </p:nvSpPr>
        <p:spPr bwMode="auto">
          <a:xfrm>
            <a:off x="8243888" y="5013325"/>
            <a:ext cx="5032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2000"/>
              <a:t>v4</a:t>
            </a:r>
          </a:p>
        </p:txBody>
      </p:sp>
      <p:sp>
        <p:nvSpPr>
          <p:cNvPr id="71715" name="Oval 63"/>
          <p:cNvSpPr>
            <a:spLocks noChangeArrowheads="1"/>
          </p:cNvSpPr>
          <p:nvPr/>
        </p:nvSpPr>
        <p:spPr bwMode="auto">
          <a:xfrm>
            <a:off x="7667625" y="2997200"/>
            <a:ext cx="576263" cy="6477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16" name="Text Box 64"/>
          <p:cNvSpPr txBox="1">
            <a:spLocks noChangeArrowheads="1"/>
          </p:cNvSpPr>
          <p:nvPr/>
        </p:nvSpPr>
        <p:spPr bwMode="auto">
          <a:xfrm>
            <a:off x="7740650" y="3068638"/>
            <a:ext cx="5032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2000"/>
              <a:t>v3</a:t>
            </a:r>
          </a:p>
        </p:txBody>
      </p:sp>
      <p:sp>
        <p:nvSpPr>
          <p:cNvPr id="71717" name="Line 65"/>
          <p:cNvSpPr>
            <a:spLocks noChangeShapeType="1"/>
          </p:cNvSpPr>
          <p:nvPr/>
        </p:nvSpPr>
        <p:spPr bwMode="auto">
          <a:xfrm>
            <a:off x="6084888" y="3284538"/>
            <a:ext cx="1582737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18" name="Line 66"/>
          <p:cNvSpPr>
            <a:spLocks noChangeShapeType="1"/>
          </p:cNvSpPr>
          <p:nvPr/>
        </p:nvSpPr>
        <p:spPr bwMode="auto">
          <a:xfrm>
            <a:off x="6588125" y="5229225"/>
            <a:ext cx="1512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19" name="Line 67"/>
          <p:cNvSpPr>
            <a:spLocks noChangeShapeType="1"/>
          </p:cNvSpPr>
          <p:nvPr/>
        </p:nvSpPr>
        <p:spPr bwMode="auto">
          <a:xfrm>
            <a:off x="5795963" y="3644900"/>
            <a:ext cx="576262" cy="1223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20" name="Line 68"/>
          <p:cNvSpPr>
            <a:spLocks noChangeShapeType="1"/>
          </p:cNvSpPr>
          <p:nvPr/>
        </p:nvSpPr>
        <p:spPr bwMode="auto">
          <a:xfrm>
            <a:off x="8027988" y="3644900"/>
            <a:ext cx="431800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21" name="Text Box 70"/>
          <p:cNvSpPr txBox="1">
            <a:spLocks noChangeArrowheads="1"/>
          </p:cNvSpPr>
          <p:nvPr/>
        </p:nvSpPr>
        <p:spPr bwMode="auto">
          <a:xfrm>
            <a:off x="1042988" y="5734050"/>
            <a:ext cx="3744912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/>
              <a:t>[a] Directed &amp; Weighted Graph</a:t>
            </a:r>
          </a:p>
        </p:txBody>
      </p:sp>
      <p:sp>
        <p:nvSpPr>
          <p:cNvPr id="71722" name="Text Box 71"/>
          <p:cNvSpPr txBox="1">
            <a:spLocks noChangeArrowheads="1"/>
          </p:cNvSpPr>
          <p:nvPr/>
        </p:nvSpPr>
        <p:spPr bwMode="auto">
          <a:xfrm>
            <a:off x="5148263" y="5734050"/>
            <a:ext cx="37449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/>
              <a:t>[b] Undirected Graph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4000" b="1" smtClean="0">
                <a:latin typeface="Times New Roman" pitchFamily="18" charset="0"/>
                <a:cs typeface="Times New Roman" pitchFamily="18" charset="0"/>
              </a:rPr>
              <a:t>Graph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smtClean="0">
                <a:latin typeface="Times New Roman" pitchFamily="18" charset="0"/>
                <a:cs typeface="Times New Roman" pitchFamily="18" charset="0"/>
              </a:rPr>
              <a:t>Types of Graphs:</a:t>
            </a:r>
          </a:p>
          <a:p>
            <a:pPr lvl="1" eaLnBrk="1" hangingPunct="1"/>
            <a:r>
              <a:rPr lang="en-AU" sz="3200" smtClean="0">
                <a:latin typeface="Times New Roman" pitchFamily="18" charset="0"/>
                <a:cs typeface="Times New Roman" pitchFamily="18" charset="0"/>
              </a:rPr>
              <a:t>Directed graph</a:t>
            </a:r>
          </a:p>
          <a:p>
            <a:pPr lvl="1" eaLnBrk="1" hangingPunct="1"/>
            <a:r>
              <a:rPr lang="en-AU" sz="3200" smtClean="0">
                <a:latin typeface="Times New Roman" pitchFamily="18" charset="0"/>
                <a:cs typeface="Times New Roman" pitchFamily="18" charset="0"/>
              </a:rPr>
              <a:t>Undirected graph</a:t>
            </a:r>
          </a:p>
          <a:p>
            <a:pPr lvl="1" eaLnBrk="1" hangingPunct="1"/>
            <a:r>
              <a:rPr lang="en-AU" sz="3200" smtClean="0">
                <a:latin typeface="Times New Roman" pitchFamily="18" charset="0"/>
                <a:cs typeface="Times New Roman" pitchFamily="18" charset="0"/>
              </a:rPr>
              <a:t>Simple graph</a:t>
            </a:r>
          </a:p>
          <a:p>
            <a:pPr lvl="1" eaLnBrk="1" hangingPunct="1"/>
            <a:r>
              <a:rPr lang="en-AU" sz="3200" smtClean="0">
                <a:latin typeface="Times New Roman" pitchFamily="18" charset="0"/>
                <a:cs typeface="Times New Roman" pitchFamily="18" charset="0"/>
              </a:rPr>
              <a:t>Weighted graph</a:t>
            </a:r>
          </a:p>
          <a:p>
            <a:pPr lvl="1" eaLnBrk="1" hangingPunct="1"/>
            <a:r>
              <a:rPr lang="en-AU" sz="3200" smtClean="0">
                <a:latin typeface="Times New Roman" pitchFamily="18" charset="0"/>
                <a:cs typeface="Times New Roman" pitchFamily="18" charset="0"/>
              </a:rPr>
              <a:t>Connected graph</a:t>
            </a:r>
          </a:p>
          <a:p>
            <a:pPr lvl="1" eaLnBrk="1" hangingPunct="1"/>
            <a:r>
              <a:rPr lang="en-AU" sz="3200" smtClean="0">
                <a:latin typeface="Times New Roman" pitchFamily="18" charset="0"/>
                <a:cs typeface="Times New Roman" pitchFamily="18" charset="0"/>
              </a:rPr>
              <a:t>Non-connected graph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737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Asymptotic Complexity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Running time of an algorithm as a function of input size </a:t>
            </a:r>
            <a:r>
              <a:rPr lang="en-US" i="1" smtClean="0"/>
              <a:t>n</a:t>
            </a:r>
            <a:r>
              <a:rPr lang="en-US" b="1" smtClean="0"/>
              <a:t> for large </a:t>
            </a:r>
            <a:r>
              <a:rPr lang="en-US" b="1" i="1" smtClean="0"/>
              <a:t>n</a:t>
            </a:r>
            <a:r>
              <a:rPr lang="en-US" smtClean="0"/>
              <a:t>.</a:t>
            </a:r>
          </a:p>
          <a:p>
            <a:pPr eaLnBrk="1" hangingPunct="1"/>
            <a:r>
              <a:rPr lang="en-US" smtClean="0"/>
              <a:t>Expressed using only the </a:t>
            </a:r>
            <a:r>
              <a:rPr lang="en-US" b="1" smtClean="0"/>
              <a:t>highest-order term</a:t>
            </a:r>
            <a:r>
              <a:rPr lang="en-US" smtClean="0"/>
              <a:t> in the expression for the exact running time.</a:t>
            </a:r>
          </a:p>
          <a:p>
            <a:pPr lvl="1" eaLnBrk="1" hangingPunct="1"/>
            <a:r>
              <a:rPr lang="en-US" sz="3000" smtClean="0"/>
              <a:t>Instead of exact running time, say </a:t>
            </a:r>
            <a:r>
              <a:rPr lang="en-US" sz="3000" smtClean="0">
                <a:latin typeface="Symbol" pitchFamily="18" charset="2"/>
              </a:rPr>
              <a:t>Q</a:t>
            </a:r>
            <a:r>
              <a:rPr lang="en-US" sz="3000" smtClean="0"/>
              <a:t>(</a:t>
            </a:r>
            <a:r>
              <a:rPr lang="en-US" sz="3000" i="1" smtClean="0"/>
              <a:t>n</a:t>
            </a:r>
            <a:r>
              <a:rPr lang="en-US" sz="3000" baseline="30000" smtClean="0"/>
              <a:t>2</a:t>
            </a:r>
            <a:r>
              <a:rPr lang="en-US" sz="3000" smtClean="0"/>
              <a:t>).</a:t>
            </a:r>
            <a:endParaRPr lang="en-US" smtClean="0"/>
          </a:p>
          <a:p>
            <a:pPr eaLnBrk="1" hangingPunct="1"/>
            <a:r>
              <a:rPr lang="en-US" sz="2800" smtClean="0"/>
              <a:t>Describes behavior of function in the limit.</a:t>
            </a:r>
          </a:p>
          <a:p>
            <a:pPr eaLnBrk="1" hangingPunct="1"/>
            <a:r>
              <a:rPr lang="en-US" smtClean="0"/>
              <a:t>Written using </a:t>
            </a:r>
            <a:r>
              <a:rPr lang="en-US" b="1" i="1" smtClean="0"/>
              <a:t>Asymptotic Notation</a:t>
            </a:r>
            <a:r>
              <a:rPr lang="en-US" i="1" smtClean="0"/>
              <a:t>.</a:t>
            </a:r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Asymptotic Notation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>
          <a:xfrm>
            <a:off x="704850" y="1220788"/>
            <a:ext cx="8259763" cy="5149850"/>
          </a:xfrm>
        </p:spPr>
        <p:txBody>
          <a:bodyPr/>
          <a:lstStyle/>
          <a:p>
            <a:pPr eaLnBrk="1" hangingPunct="1"/>
            <a:r>
              <a:rPr lang="en-US" sz="2800" b="1" smtClean="0"/>
              <a:t> </a:t>
            </a:r>
            <a:r>
              <a:rPr lang="en-US" sz="2800" b="1" smtClean="0">
                <a:latin typeface="Symbol" pitchFamily="18" charset="2"/>
              </a:rPr>
              <a:t>Q</a:t>
            </a:r>
            <a:r>
              <a:rPr lang="en-US" sz="2800" b="1" smtClean="0"/>
              <a:t>, </a:t>
            </a:r>
            <a:r>
              <a:rPr lang="en-US" sz="2800" b="1" i="1" smtClean="0"/>
              <a:t>O</a:t>
            </a:r>
            <a:r>
              <a:rPr lang="en-US" sz="2800" b="1" smtClean="0"/>
              <a:t>, </a:t>
            </a:r>
            <a:r>
              <a:rPr lang="en-US" sz="2800" b="1" smtClean="0">
                <a:latin typeface="Symbol" pitchFamily="18" charset="2"/>
              </a:rPr>
              <a:t>W</a:t>
            </a:r>
            <a:r>
              <a:rPr lang="en-US" sz="2800" b="1" smtClean="0"/>
              <a:t>, </a:t>
            </a:r>
            <a:r>
              <a:rPr lang="en-US" sz="2800" b="1" i="1" smtClean="0"/>
              <a:t>o</a:t>
            </a:r>
            <a:r>
              <a:rPr lang="en-US" sz="2800" b="1" smtClean="0"/>
              <a:t>, </a:t>
            </a:r>
            <a:r>
              <a:rPr lang="en-US" sz="2800" b="1" smtClean="0">
                <a:latin typeface="Symbol" pitchFamily="18" charset="2"/>
              </a:rPr>
              <a:t>w</a:t>
            </a:r>
            <a:endParaRPr lang="en-US" sz="2800" b="1" smtClean="0"/>
          </a:p>
          <a:p>
            <a:pPr eaLnBrk="1" hangingPunct="1"/>
            <a:r>
              <a:rPr lang="en-US" sz="2800" smtClean="0"/>
              <a:t>Defined for functions over the natural numbers.</a:t>
            </a:r>
          </a:p>
          <a:p>
            <a:pPr lvl="1" eaLnBrk="1" hangingPunct="1"/>
            <a:r>
              <a:rPr lang="en-US" b="1" u="sng" smtClean="0"/>
              <a:t>Ex:</a:t>
            </a:r>
            <a:r>
              <a:rPr lang="en-US" smtClean="0"/>
              <a:t> </a:t>
            </a:r>
            <a:r>
              <a:rPr lang="en-US" i="1" smtClean="0"/>
              <a:t>f</a:t>
            </a:r>
            <a:r>
              <a:rPr lang="en-US" smtClean="0"/>
              <a:t>(</a:t>
            </a:r>
            <a:r>
              <a:rPr lang="en-US" i="1" smtClean="0"/>
              <a:t>n</a:t>
            </a:r>
            <a:r>
              <a:rPr lang="en-US" smtClean="0"/>
              <a:t>)  =  </a:t>
            </a:r>
            <a:r>
              <a:rPr lang="en-US" smtClean="0">
                <a:latin typeface="Symbol" pitchFamily="18" charset="2"/>
              </a:rPr>
              <a:t>Q</a:t>
            </a:r>
            <a:r>
              <a:rPr lang="en-US" smtClean="0"/>
              <a:t>(</a:t>
            </a:r>
            <a:r>
              <a:rPr lang="en-US" i="1" smtClean="0"/>
              <a:t>n</a:t>
            </a:r>
            <a:r>
              <a:rPr lang="en-US" baseline="30000" smtClean="0"/>
              <a:t>2</a:t>
            </a:r>
            <a:r>
              <a:rPr lang="en-US" smtClean="0"/>
              <a:t>).</a:t>
            </a:r>
          </a:p>
          <a:p>
            <a:pPr lvl="1" eaLnBrk="1" hangingPunct="1"/>
            <a:r>
              <a:rPr lang="en-US" smtClean="0"/>
              <a:t>Describes how </a:t>
            </a:r>
            <a:r>
              <a:rPr lang="en-US" i="1" smtClean="0"/>
              <a:t>f</a:t>
            </a:r>
            <a:r>
              <a:rPr lang="en-US" smtClean="0"/>
              <a:t>(</a:t>
            </a:r>
            <a:r>
              <a:rPr lang="en-US" i="1" smtClean="0"/>
              <a:t>n</a:t>
            </a:r>
            <a:r>
              <a:rPr lang="en-US" smtClean="0"/>
              <a:t>) grows in comparison to </a:t>
            </a:r>
            <a:r>
              <a:rPr lang="en-US" i="1" smtClean="0"/>
              <a:t>n</a:t>
            </a:r>
            <a:r>
              <a:rPr lang="en-US" baseline="30000" smtClean="0"/>
              <a:t>2</a:t>
            </a:r>
            <a:r>
              <a:rPr lang="en-US" smtClean="0"/>
              <a:t>.</a:t>
            </a:r>
          </a:p>
          <a:p>
            <a:pPr eaLnBrk="1" hangingPunct="1"/>
            <a:r>
              <a:rPr lang="en-US" sz="2800" smtClean="0"/>
              <a:t>Define a </a:t>
            </a:r>
            <a:r>
              <a:rPr lang="en-US" sz="2800" b="1" i="1" smtClean="0"/>
              <a:t>set</a:t>
            </a:r>
            <a:r>
              <a:rPr lang="en-US" sz="2800" smtClean="0"/>
              <a:t> of functions; in practice used to compare two function sizes.</a:t>
            </a:r>
          </a:p>
          <a:p>
            <a:pPr eaLnBrk="1" hangingPunct="1"/>
            <a:r>
              <a:rPr lang="en-US" sz="2800" smtClean="0"/>
              <a:t>The notations describe different rate-of-growth relations between the defining function and the defined set of functions.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sym typeface="Symbol" pitchFamily="18" charset="2"/>
              </a:rPr>
              <a:t>-notation</a:t>
            </a:r>
          </a:p>
        </p:txBody>
      </p:sp>
      <p:pic>
        <p:nvPicPr>
          <p:cNvPr id="76803" name="Picture 21" descr="graph_the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41900" y="1387475"/>
            <a:ext cx="4030663" cy="417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6804" name="Rectangle 22"/>
          <p:cNvSpPr>
            <a:spLocks noChangeArrowheads="1"/>
          </p:cNvSpPr>
          <p:nvPr/>
        </p:nvSpPr>
        <p:spPr bwMode="auto">
          <a:xfrm>
            <a:off x="285750" y="1954213"/>
            <a:ext cx="4835525" cy="2455862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2400" b="1">
                <a:sym typeface="Symbol" pitchFamily="18" charset="2"/>
              </a:rPr>
              <a:t></a:t>
            </a:r>
            <a:r>
              <a:rPr kumimoji="1" lang="en-US" sz="2400" b="1"/>
              <a:t>(</a:t>
            </a:r>
            <a:r>
              <a:rPr kumimoji="1" lang="en-US" sz="2400" b="1" i="1"/>
              <a:t>g</a:t>
            </a:r>
            <a:r>
              <a:rPr kumimoji="1" lang="en-US" sz="2400" b="1"/>
              <a:t>(</a:t>
            </a:r>
            <a:r>
              <a:rPr kumimoji="1" lang="en-US" sz="2400" b="1" i="1"/>
              <a:t>n</a:t>
            </a:r>
            <a:r>
              <a:rPr kumimoji="1" lang="en-US" sz="2400" b="1"/>
              <a:t>)) = {</a:t>
            </a:r>
            <a:r>
              <a:rPr kumimoji="1" lang="en-US" sz="2400" b="1" i="1"/>
              <a:t>f</a:t>
            </a:r>
            <a:r>
              <a:rPr kumimoji="1" lang="en-US" sz="2400" b="1"/>
              <a:t>(</a:t>
            </a:r>
            <a:r>
              <a:rPr kumimoji="1" lang="en-US" sz="2400" b="1" i="1"/>
              <a:t>n</a:t>
            </a:r>
            <a:r>
              <a:rPr kumimoji="1" lang="en-US" sz="2400" b="1"/>
              <a:t>) : </a:t>
            </a:r>
            <a:br>
              <a:rPr kumimoji="1" lang="en-US" sz="2400" b="1"/>
            </a:br>
            <a:r>
              <a:rPr kumimoji="1" lang="en-US" sz="2400" b="1">
                <a:sym typeface="Symbol" pitchFamily="18" charset="2"/>
              </a:rPr>
              <a:t> </a:t>
            </a:r>
            <a:r>
              <a:rPr kumimoji="1" lang="en-US" sz="2400" b="1"/>
              <a:t>positive constants </a:t>
            </a:r>
            <a:r>
              <a:rPr kumimoji="1" lang="en-US" sz="2400" b="1" i="1"/>
              <a:t>c</a:t>
            </a:r>
            <a:r>
              <a:rPr kumimoji="1" lang="en-US" sz="2400" b="1" baseline="-25000"/>
              <a:t>1</a:t>
            </a:r>
            <a:r>
              <a:rPr kumimoji="1" lang="en-US" sz="2400" b="1"/>
              <a:t>, </a:t>
            </a:r>
            <a:r>
              <a:rPr kumimoji="1" lang="en-US" sz="2400" b="1" i="1"/>
              <a:t>c</a:t>
            </a:r>
            <a:r>
              <a:rPr kumimoji="1" lang="en-US" sz="2400" b="1" baseline="-25000"/>
              <a:t>2</a:t>
            </a:r>
            <a:r>
              <a:rPr kumimoji="1" lang="en-US" sz="2400" b="1"/>
              <a:t>, and </a:t>
            </a:r>
            <a:r>
              <a:rPr kumimoji="1" lang="en-US" sz="2400" b="1" i="1"/>
              <a:t>n</a:t>
            </a:r>
            <a:r>
              <a:rPr kumimoji="1" lang="en-US" sz="2400" b="1" baseline="-25000"/>
              <a:t>0,</a:t>
            </a:r>
            <a:r>
              <a:rPr kumimoji="1" lang="en-US" sz="2400" b="1"/>
              <a:t> such that </a:t>
            </a:r>
            <a:r>
              <a:rPr kumimoji="1" lang="en-US" sz="2400" b="1">
                <a:sym typeface="Symbol" pitchFamily="18" charset="2"/>
              </a:rPr>
              <a:t></a:t>
            </a:r>
            <a:r>
              <a:rPr kumimoji="1" lang="en-US" sz="2400" b="1" i="1"/>
              <a:t>n </a:t>
            </a:r>
            <a:r>
              <a:rPr kumimoji="1" lang="en-US" sz="2400" b="1">
                <a:sym typeface="Symbol" pitchFamily="18" charset="2"/>
              </a:rPr>
              <a:t></a:t>
            </a:r>
            <a:r>
              <a:rPr kumimoji="1" lang="en-US" sz="2400" b="1" i="1"/>
              <a:t>  n</a:t>
            </a:r>
            <a:r>
              <a:rPr kumimoji="1" lang="en-US" sz="2400" b="1" baseline="-25000"/>
              <a:t>0</a:t>
            </a:r>
            <a:r>
              <a:rPr kumimoji="1" lang="en-US" sz="2400"/>
              <a:t>,</a:t>
            </a:r>
            <a:endParaRPr kumimoji="1" lang="en-US" sz="2400" b="1"/>
          </a:p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1600" b="1"/>
              <a:t>we</a:t>
            </a:r>
            <a:r>
              <a:rPr kumimoji="1" lang="en-US" sz="2400" b="1"/>
              <a:t> have 0 </a:t>
            </a:r>
            <a:r>
              <a:rPr kumimoji="1" lang="en-US" sz="2400" b="1">
                <a:sym typeface="Symbol" pitchFamily="18" charset="2"/>
              </a:rPr>
              <a:t></a:t>
            </a:r>
            <a:r>
              <a:rPr kumimoji="1" lang="en-US" sz="2400" b="1"/>
              <a:t> </a:t>
            </a:r>
            <a:r>
              <a:rPr kumimoji="1" lang="en-US" sz="2400" b="1" i="1"/>
              <a:t>c</a:t>
            </a:r>
            <a:r>
              <a:rPr kumimoji="1" lang="en-US" sz="2400" b="1" baseline="-25000"/>
              <a:t>1</a:t>
            </a:r>
            <a:r>
              <a:rPr kumimoji="1" lang="en-US" sz="2400" b="1" i="1"/>
              <a:t>g</a:t>
            </a:r>
            <a:r>
              <a:rPr kumimoji="1" lang="en-US" sz="2400" b="1"/>
              <a:t>(</a:t>
            </a:r>
            <a:r>
              <a:rPr kumimoji="1" lang="en-US" sz="2400" b="1" i="1"/>
              <a:t>n</a:t>
            </a:r>
            <a:r>
              <a:rPr kumimoji="1" lang="en-US" sz="2400" b="1"/>
              <a:t>) </a:t>
            </a:r>
            <a:r>
              <a:rPr kumimoji="1" lang="en-US" sz="2400" b="1">
                <a:sym typeface="Symbol" pitchFamily="18" charset="2"/>
              </a:rPr>
              <a:t> </a:t>
            </a:r>
            <a:r>
              <a:rPr kumimoji="1" lang="en-US" sz="2400" b="1"/>
              <a:t> </a:t>
            </a:r>
            <a:r>
              <a:rPr kumimoji="1" lang="en-US" sz="2400" b="1" i="1"/>
              <a:t>f</a:t>
            </a:r>
            <a:r>
              <a:rPr kumimoji="1" lang="en-US" sz="2400" b="1"/>
              <a:t>(</a:t>
            </a:r>
            <a:r>
              <a:rPr kumimoji="1" lang="en-US" sz="2400" b="1" i="1"/>
              <a:t>n</a:t>
            </a:r>
            <a:r>
              <a:rPr kumimoji="1" lang="en-US" sz="2400" b="1"/>
              <a:t>)</a:t>
            </a:r>
            <a:r>
              <a:rPr kumimoji="1" lang="en-US" sz="2400" b="1" i="1"/>
              <a:t> </a:t>
            </a:r>
            <a:r>
              <a:rPr kumimoji="1" lang="en-US" sz="2400" b="1">
                <a:sym typeface="Symbol" pitchFamily="18" charset="2"/>
              </a:rPr>
              <a:t></a:t>
            </a:r>
            <a:r>
              <a:rPr kumimoji="1" lang="en-US" sz="2400" b="1"/>
              <a:t> c</a:t>
            </a:r>
            <a:r>
              <a:rPr kumimoji="1" lang="en-US" sz="2400" b="1" baseline="-25000"/>
              <a:t>2</a:t>
            </a:r>
            <a:r>
              <a:rPr kumimoji="1" lang="en-US" sz="2400" b="1" i="1"/>
              <a:t>g</a:t>
            </a:r>
            <a:r>
              <a:rPr kumimoji="1" lang="en-US" sz="2400" b="1"/>
              <a:t>(</a:t>
            </a:r>
            <a:r>
              <a:rPr kumimoji="1" lang="en-US" sz="2400" b="1" i="1"/>
              <a:t>n</a:t>
            </a:r>
            <a:r>
              <a:rPr kumimoji="1" lang="en-US" sz="2400" b="1"/>
              <a:t>)</a:t>
            </a:r>
          </a:p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2400" b="1"/>
              <a:t>}</a:t>
            </a:r>
          </a:p>
        </p:txBody>
      </p:sp>
      <p:sp>
        <p:nvSpPr>
          <p:cNvPr id="76805" name="Rectangle 23"/>
          <p:cNvSpPr>
            <a:spLocks noChangeArrowheads="1"/>
          </p:cNvSpPr>
          <p:nvPr/>
        </p:nvSpPr>
        <p:spPr bwMode="auto">
          <a:xfrm>
            <a:off x="263525" y="1068388"/>
            <a:ext cx="5197475" cy="708025"/>
          </a:xfrm>
          <a:prstGeom prst="rect">
            <a:avLst/>
          </a:prstGeom>
          <a:noFill/>
          <a:ln w="28575" cap="sq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2000"/>
              <a:t>For function </a:t>
            </a:r>
            <a:r>
              <a:rPr kumimoji="1" lang="en-US" sz="2000" i="1"/>
              <a:t>g</a:t>
            </a:r>
            <a:r>
              <a:rPr kumimoji="1" lang="en-US" sz="2000"/>
              <a:t>(</a:t>
            </a:r>
            <a:r>
              <a:rPr kumimoji="1" lang="en-US" sz="2000" i="1"/>
              <a:t>n</a:t>
            </a:r>
            <a:r>
              <a:rPr kumimoji="1" lang="en-US" sz="2000"/>
              <a:t>), we define </a:t>
            </a:r>
            <a:r>
              <a:rPr kumimoji="1" lang="en-US" sz="2000">
                <a:sym typeface="Symbol" pitchFamily="18" charset="2"/>
              </a:rPr>
              <a:t></a:t>
            </a:r>
            <a:r>
              <a:rPr kumimoji="1" lang="en-US" sz="2000"/>
              <a:t>(</a:t>
            </a:r>
            <a:r>
              <a:rPr kumimoji="1" lang="en-US" sz="2000" i="1"/>
              <a:t>g</a:t>
            </a:r>
            <a:r>
              <a:rPr kumimoji="1" lang="en-US" sz="2000"/>
              <a:t>(</a:t>
            </a:r>
            <a:r>
              <a:rPr kumimoji="1" lang="en-US" sz="2000" i="1"/>
              <a:t>n</a:t>
            </a:r>
            <a:r>
              <a:rPr kumimoji="1" lang="en-US" sz="2000"/>
              <a:t>)), big-Theta of </a:t>
            </a:r>
            <a:r>
              <a:rPr kumimoji="1" lang="en-US" sz="2000" i="1"/>
              <a:t>n</a:t>
            </a:r>
            <a:r>
              <a:rPr kumimoji="1" lang="en-US" sz="2000"/>
              <a:t>, as the set:</a:t>
            </a:r>
          </a:p>
        </p:txBody>
      </p:sp>
      <p:sp>
        <p:nvSpPr>
          <p:cNvPr id="76806" name="Rectangle 24"/>
          <p:cNvSpPr>
            <a:spLocks noChangeArrowheads="1"/>
          </p:cNvSpPr>
          <p:nvPr/>
        </p:nvSpPr>
        <p:spPr bwMode="auto">
          <a:xfrm>
            <a:off x="263525" y="5567363"/>
            <a:ext cx="7800975" cy="492125"/>
          </a:xfrm>
          <a:prstGeom prst="rect">
            <a:avLst/>
          </a:prstGeom>
          <a:noFill/>
          <a:ln w="28575" cap="sq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sz="2600" b="1" i="1"/>
              <a:t>g</a:t>
            </a:r>
            <a:r>
              <a:rPr kumimoji="1" lang="en-US" sz="2600" b="1"/>
              <a:t>(</a:t>
            </a:r>
            <a:r>
              <a:rPr kumimoji="1" lang="en-US" sz="2600" b="1" i="1"/>
              <a:t>n</a:t>
            </a:r>
            <a:r>
              <a:rPr kumimoji="1" lang="en-US" sz="2600" b="1"/>
              <a:t>) is an </a:t>
            </a:r>
            <a:r>
              <a:rPr kumimoji="1" lang="en-US" sz="2600" b="1" i="1"/>
              <a:t>asymptotically tight bound</a:t>
            </a:r>
            <a:r>
              <a:rPr kumimoji="1" lang="en-US" sz="2600" b="1"/>
              <a:t> for </a:t>
            </a:r>
            <a:r>
              <a:rPr kumimoji="1" lang="en-US" sz="2600" b="1" i="1"/>
              <a:t>f</a:t>
            </a:r>
            <a:r>
              <a:rPr kumimoji="1" lang="en-US" sz="2600" b="1"/>
              <a:t>(</a:t>
            </a:r>
            <a:r>
              <a:rPr kumimoji="1" lang="en-US" sz="2600" b="1" i="1"/>
              <a:t>n</a:t>
            </a:r>
            <a:r>
              <a:rPr kumimoji="1" lang="en-US" sz="2600" b="1"/>
              <a:t>).</a:t>
            </a:r>
          </a:p>
        </p:txBody>
      </p:sp>
      <p:sp>
        <p:nvSpPr>
          <p:cNvPr id="76807" name="Text Box 25"/>
          <p:cNvSpPr txBox="1">
            <a:spLocks noChangeArrowheads="1"/>
          </p:cNvSpPr>
          <p:nvPr/>
        </p:nvSpPr>
        <p:spPr bwMode="auto">
          <a:xfrm>
            <a:off x="184150" y="4405313"/>
            <a:ext cx="6246813" cy="9540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b="1" i="1"/>
              <a:t>Intuitively</a:t>
            </a:r>
            <a:r>
              <a:rPr lang="en-US"/>
              <a:t>: Set of all functions that</a:t>
            </a:r>
          </a:p>
          <a:p>
            <a:r>
              <a:rPr lang="en-US"/>
              <a:t>have the same </a:t>
            </a:r>
            <a:r>
              <a:rPr lang="en-US" i="1"/>
              <a:t>rate of growth</a:t>
            </a:r>
            <a:r>
              <a:rPr lang="en-US"/>
              <a:t> as </a:t>
            </a:r>
            <a:r>
              <a:rPr lang="en-US" i="1"/>
              <a:t>g</a:t>
            </a:r>
            <a:r>
              <a:rPr lang="en-US"/>
              <a:t>(</a:t>
            </a:r>
            <a:r>
              <a:rPr lang="en-US" i="1"/>
              <a:t>n</a:t>
            </a:r>
            <a:r>
              <a:rPr lang="en-US"/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sym typeface="Symbol" pitchFamily="18" charset="2"/>
              </a:rPr>
              <a:t>-notation</a:t>
            </a:r>
          </a:p>
        </p:txBody>
      </p:sp>
      <p:pic>
        <p:nvPicPr>
          <p:cNvPr id="77827" name="Picture 3" descr="graph_the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41900" y="1387475"/>
            <a:ext cx="4030663" cy="417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500063" y="2357438"/>
            <a:ext cx="4621212" cy="1754187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2000" b="1">
                <a:sym typeface="Symbol" pitchFamily="18" charset="2"/>
              </a:rPr>
              <a:t></a:t>
            </a:r>
            <a:r>
              <a:rPr kumimoji="1" lang="en-US" sz="2000" b="1"/>
              <a:t>(</a:t>
            </a:r>
            <a:r>
              <a:rPr kumimoji="1" lang="en-US" sz="2000" b="1" i="1"/>
              <a:t>g</a:t>
            </a:r>
            <a:r>
              <a:rPr kumimoji="1" lang="en-US" sz="2000" b="1"/>
              <a:t>(</a:t>
            </a:r>
            <a:r>
              <a:rPr kumimoji="1" lang="en-US" sz="2000" b="1" i="1"/>
              <a:t>n</a:t>
            </a:r>
            <a:r>
              <a:rPr kumimoji="1" lang="en-US" sz="2000" b="1"/>
              <a:t>)) = {</a:t>
            </a:r>
            <a:r>
              <a:rPr kumimoji="1" lang="en-US" sz="2000" b="1" i="1"/>
              <a:t>f</a:t>
            </a:r>
            <a:r>
              <a:rPr kumimoji="1" lang="en-US" sz="2000" b="1"/>
              <a:t>(</a:t>
            </a:r>
            <a:r>
              <a:rPr kumimoji="1" lang="en-US" sz="2000" b="1" i="1"/>
              <a:t>n</a:t>
            </a:r>
            <a:r>
              <a:rPr kumimoji="1" lang="en-US" sz="2000" b="1"/>
              <a:t>) : </a:t>
            </a:r>
            <a:br>
              <a:rPr kumimoji="1" lang="en-US" sz="2000" b="1"/>
            </a:br>
            <a:r>
              <a:rPr kumimoji="1" lang="en-US" sz="2000" b="1">
                <a:sym typeface="Symbol" pitchFamily="18" charset="2"/>
              </a:rPr>
              <a:t> </a:t>
            </a:r>
            <a:r>
              <a:rPr kumimoji="1" lang="en-US" sz="2000" b="1"/>
              <a:t>positive constants </a:t>
            </a:r>
            <a:r>
              <a:rPr kumimoji="1" lang="en-US" sz="2000" b="1" i="1"/>
              <a:t>c</a:t>
            </a:r>
            <a:r>
              <a:rPr kumimoji="1" lang="en-US" sz="2000" b="1" baseline="-25000"/>
              <a:t>1</a:t>
            </a:r>
            <a:r>
              <a:rPr kumimoji="1" lang="en-US" sz="2000" b="1"/>
              <a:t>, </a:t>
            </a:r>
            <a:r>
              <a:rPr kumimoji="1" lang="en-US" sz="2000" b="1" i="1"/>
              <a:t>c</a:t>
            </a:r>
            <a:r>
              <a:rPr kumimoji="1" lang="en-US" sz="2000" b="1" baseline="-25000"/>
              <a:t>2</a:t>
            </a:r>
            <a:r>
              <a:rPr kumimoji="1" lang="en-US" sz="2000" b="1"/>
              <a:t>, and </a:t>
            </a:r>
            <a:r>
              <a:rPr kumimoji="1" lang="en-US" sz="2000" b="1" i="1"/>
              <a:t>n</a:t>
            </a:r>
            <a:r>
              <a:rPr kumimoji="1" lang="en-US" sz="2000" b="1" baseline="-25000"/>
              <a:t>0,</a:t>
            </a:r>
            <a:r>
              <a:rPr kumimoji="1" lang="en-US" sz="2000" b="1"/>
              <a:t> such that </a:t>
            </a:r>
            <a:r>
              <a:rPr kumimoji="1" lang="en-US" sz="2000" b="1">
                <a:sym typeface="Symbol" pitchFamily="18" charset="2"/>
              </a:rPr>
              <a:t></a:t>
            </a:r>
            <a:r>
              <a:rPr kumimoji="1" lang="en-US" sz="2000" b="1" i="1"/>
              <a:t>n </a:t>
            </a:r>
            <a:r>
              <a:rPr kumimoji="1" lang="en-US" sz="2000" b="1">
                <a:sym typeface="Symbol" pitchFamily="18" charset="2"/>
              </a:rPr>
              <a:t></a:t>
            </a:r>
            <a:r>
              <a:rPr kumimoji="1" lang="en-US" sz="2000" b="1" i="1"/>
              <a:t>  n</a:t>
            </a:r>
            <a:r>
              <a:rPr kumimoji="1" lang="en-US" sz="2000" b="1" baseline="-25000"/>
              <a:t>0</a:t>
            </a:r>
            <a:r>
              <a:rPr kumimoji="1" lang="en-US" sz="2000"/>
              <a:t>,</a:t>
            </a:r>
            <a:endParaRPr kumimoji="1" lang="en-US" sz="2000" b="1"/>
          </a:p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2000" b="1"/>
              <a:t>we have 0 </a:t>
            </a:r>
            <a:r>
              <a:rPr kumimoji="1" lang="en-US" sz="2000" b="1">
                <a:sym typeface="Symbol" pitchFamily="18" charset="2"/>
              </a:rPr>
              <a:t></a:t>
            </a:r>
            <a:r>
              <a:rPr kumimoji="1" lang="en-US" sz="2000" b="1"/>
              <a:t> </a:t>
            </a:r>
            <a:r>
              <a:rPr kumimoji="1" lang="en-US" sz="2000" b="1" i="1"/>
              <a:t>c</a:t>
            </a:r>
            <a:r>
              <a:rPr kumimoji="1" lang="en-US" sz="2000" b="1" baseline="-25000"/>
              <a:t>1</a:t>
            </a:r>
            <a:r>
              <a:rPr kumimoji="1" lang="en-US" sz="2000" b="1" i="1"/>
              <a:t>g</a:t>
            </a:r>
            <a:r>
              <a:rPr kumimoji="1" lang="en-US" sz="2000" b="1"/>
              <a:t>(</a:t>
            </a:r>
            <a:r>
              <a:rPr kumimoji="1" lang="en-US" sz="2000" b="1" i="1"/>
              <a:t>n</a:t>
            </a:r>
            <a:r>
              <a:rPr kumimoji="1" lang="en-US" sz="2000" b="1"/>
              <a:t>) </a:t>
            </a:r>
            <a:r>
              <a:rPr kumimoji="1" lang="en-US" sz="2000" b="1">
                <a:sym typeface="Symbol" pitchFamily="18" charset="2"/>
              </a:rPr>
              <a:t> </a:t>
            </a:r>
            <a:r>
              <a:rPr kumimoji="1" lang="en-US" sz="2000" b="1"/>
              <a:t> </a:t>
            </a:r>
            <a:r>
              <a:rPr kumimoji="1" lang="en-US" sz="2000" b="1" i="1"/>
              <a:t>f</a:t>
            </a:r>
            <a:r>
              <a:rPr kumimoji="1" lang="en-US" sz="2000" b="1"/>
              <a:t>(</a:t>
            </a:r>
            <a:r>
              <a:rPr kumimoji="1" lang="en-US" sz="2000" b="1" i="1"/>
              <a:t>n</a:t>
            </a:r>
            <a:r>
              <a:rPr kumimoji="1" lang="en-US" sz="2000" b="1"/>
              <a:t>)</a:t>
            </a:r>
            <a:r>
              <a:rPr kumimoji="1" lang="en-US" sz="2000" b="1" i="1"/>
              <a:t> </a:t>
            </a:r>
            <a:r>
              <a:rPr kumimoji="1" lang="en-US" sz="2000" b="1">
                <a:sym typeface="Symbol" pitchFamily="18" charset="2"/>
              </a:rPr>
              <a:t></a:t>
            </a:r>
            <a:r>
              <a:rPr kumimoji="1" lang="en-US" sz="2000" b="1"/>
              <a:t> c</a:t>
            </a:r>
            <a:r>
              <a:rPr kumimoji="1" lang="en-US" sz="2000" b="1" baseline="-25000"/>
              <a:t>2</a:t>
            </a:r>
            <a:r>
              <a:rPr kumimoji="1" lang="en-US" sz="2000" b="1" i="1"/>
              <a:t>g</a:t>
            </a:r>
            <a:r>
              <a:rPr kumimoji="1" lang="en-US" sz="2000" b="1"/>
              <a:t>(</a:t>
            </a:r>
            <a:r>
              <a:rPr kumimoji="1" lang="en-US" sz="2000" b="1" i="1"/>
              <a:t>n</a:t>
            </a:r>
            <a:r>
              <a:rPr kumimoji="1" lang="en-US" sz="2000" b="1"/>
              <a:t>)</a:t>
            </a:r>
          </a:p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2000" b="1"/>
              <a:t>}</a:t>
            </a:r>
          </a:p>
        </p:txBody>
      </p:sp>
      <p:sp>
        <p:nvSpPr>
          <p:cNvPr id="77829" name="Rectangle 5"/>
          <p:cNvSpPr>
            <a:spLocks noChangeArrowheads="1"/>
          </p:cNvSpPr>
          <p:nvPr/>
        </p:nvSpPr>
        <p:spPr bwMode="auto">
          <a:xfrm>
            <a:off x="263525" y="1068388"/>
            <a:ext cx="5197475" cy="885825"/>
          </a:xfrm>
          <a:prstGeom prst="rect">
            <a:avLst/>
          </a:prstGeom>
          <a:noFill/>
          <a:ln w="28575" cap="sq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2600"/>
              <a:t>For function </a:t>
            </a:r>
            <a:r>
              <a:rPr kumimoji="1" lang="en-US" sz="2600" i="1"/>
              <a:t>g</a:t>
            </a:r>
            <a:r>
              <a:rPr kumimoji="1" lang="en-US" sz="2600"/>
              <a:t>(</a:t>
            </a:r>
            <a:r>
              <a:rPr kumimoji="1" lang="en-US" sz="2600" i="1"/>
              <a:t>n</a:t>
            </a:r>
            <a:r>
              <a:rPr kumimoji="1" lang="en-US" sz="2600"/>
              <a:t>), we define </a:t>
            </a:r>
            <a:r>
              <a:rPr kumimoji="1" lang="en-US" sz="2600">
                <a:sym typeface="Symbol" pitchFamily="18" charset="2"/>
              </a:rPr>
              <a:t></a:t>
            </a:r>
            <a:r>
              <a:rPr kumimoji="1" lang="en-US" sz="2600"/>
              <a:t>(</a:t>
            </a:r>
            <a:r>
              <a:rPr kumimoji="1" lang="en-US" sz="2600" i="1"/>
              <a:t>g</a:t>
            </a:r>
            <a:r>
              <a:rPr kumimoji="1" lang="en-US" sz="2600"/>
              <a:t>(</a:t>
            </a:r>
            <a:r>
              <a:rPr kumimoji="1" lang="en-US" sz="2600" i="1"/>
              <a:t>n</a:t>
            </a:r>
            <a:r>
              <a:rPr kumimoji="1" lang="en-US" sz="2600"/>
              <a:t>)), big-Theta of </a:t>
            </a:r>
            <a:r>
              <a:rPr kumimoji="1" lang="en-US" sz="2600" i="1"/>
              <a:t>n</a:t>
            </a:r>
            <a:r>
              <a:rPr kumimoji="1" lang="en-US" sz="2600"/>
              <a:t>, as the set:</a:t>
            </a:r>
          </a:p>
        </p:txBody>
      </p:sp>
      <p:sp>
        <p:nvSpPr>
          <p:cNvPr id="77830" name="Text Box 8"/>
          <p:cNvSpPr txBox="1">
            <a:spLocks noChangeArrowheads="1"/>
          </p:cNvSpPr>
          <p:nvPr/>
        </p:nvSpPr>
        <p:spPr bwMode="auto">
          <a:xfrm>
            <a:off x="184150" y="4591050"/>
            <a:ext cx="3897313" cy="10160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sz="2000"/>
              <a:t>Technically, </a:t>
            </a:r>
            <a:r>
              <a:rPr lang="en-US" sz="2000" i="1"/>
              <a:t>f</a:t>
            </a:r>
            <a:r>
              <a:rPr lang="en-US" sz="2000"/>
              <a:t>(</a:t>
            </a:r>
            <a:r>
              <a:rPr lang="en-US" sz="2000" i="1"/>
              <a:t>n</a:t>
            </a:r>
            <a:r>
              <a:rPr lang="en-US" sz="2000"/>
              <a:t>) </a:t>
            </a:r>
            <a:r>
              <a:rPr lang="en-US" sz="2000">
                <a:sym typeface="Symbol" pitchFamily="18" charset="2"/>
              </a:rPr>
              <a:t> (</a:t>
            </a:r>
            <a:r>
              <a:rPr lang="en-US" sz="2000" i="1">
                <a:sym typeface="Symbol" pitchFamily="18" charset="2"/>
              </a:rPr>
              <a:t>g</a:t>
            </a:r>
            <a:r>
              <a:rPr lang="en-US" sz="2000">
                <a:sym typeface="Symbol" pitchFamily="18" charset="2"/>
              </a:rPr>
              <a:t>(</a:t>
            </a:r>
            <a:r>
              <a:rPr lang="en-US" sz="2000" i="1">
                <a:sym typeface="Symbol" pitchFamily="18" charset="2"/>
              </a:rPr>
              <a:t>n</a:t>
            </a:r>
            <a:r>
              <a:rPr lang="en-US" sz="2000">
                <a:sym typeface="Symbol" pitchFamily="18" charset="2"/>
              </a:rPr>
              <a:t>)).</a:t>
            </a:r>
          </a:p>
          <a:p>
            <a:r>
              <a:rPr lang="en-US" sz="2000">
                <a:sym typeface="Symbol" pitchFamily="18" charset="2"/>
              </a:rPr>
              <a:t>Older usage,  </a:t>
            </a:r>
            <a:r>
              <a:rPr lang="en-US" sz="2000" i="1"/>
              <a:t>f</a:t>
            </a:r>
            <a:r>
              <a:rPr lang="en-US" sz="2000"/>
              <a:t>(</a:t>
            </a:r>
            <a:r>
              <a:rPr lang="en-US" sz="2000" i="1"/>
              <a:t>n</a:t>
            </a:r>
            <a:r>
              <a:rPr lang="en-US" sz="2000"/>
              <a:t>) </a:t>
            </a:r>
            <a:r>
              <a:rPr lang="en-US" sz="2000">
                <a:sym typeface="Symbol" pitchFamily="18" charset="2"/>
              </a:rPr>
              <a:t>= (</a:t>
            </a:r>
            <a:r>
              <a:rPr lang="en-US" sz="2000" i="1">
                <a:sym typeface="Symbol" pitchFamily="18" charset="2"/>
              </a:rPr>
              <a:t>g</a:t>
            </a:r>
            <a:r>
              <a:rPr lang="en-US" sz="2000">
                <a:sym typeface="Symbol" pitchFamily="18" charset="2"/>
              </a:rPr>
              <a:t>(</a:t>
            </a:r>
            <a:r>
              <a:rPr lang="en-US" sz="2000" i="1">
                <a:sym typeface="Symbol" pitchFamily="18" charset="2"/>
              </a:rPr>
              <a:t>n</a:t>
            </a:r>
            <a:r>
              <a:rPr lang="en-US" sz="2000">
                <a:sym typeface="Symbol" pitchFamily="18" charset="2"/>
              </a:rPr>
              <a:t>)).</a:t>
            </a:r>
          </a:p>
          <a:p>
            <a:r>
              <a:rPr lang="en-US" sz="2000">
                <a:sym typeface="Symbol" pitchFamily="18" charset="2"/>
              </a:rPr>
              <a:t>I’ll accept either… </a:t>
            </a:r>
          </a:p>
        </p:txBody>
      </p:sp>
      <p:sp>
        <p:nvSpPr>
          <p:cNvPr id="77831" name="Text Box 9"/>
          <p:cNvSpPr txBox="1">
            <a:spLocks noChangeArrowheads="1"/>
          </p:cNvSpPr>
          <p:nvPr/>
        </p:nvSpPr>
        <p:spPr bwMode="auto">
          <a:xfrm>
            <a:off x="285750" y="6000750"/>
            <a:ext cx="5538788" cy="7080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sz="2000" b="1" i="1"/>
              <a:t>f</a:t>
            </a:r>
            <a:r>
              <a:rPr lang="en-US" sz="2000" b="1"/>
              <a:t>(</a:t>
            </a:r>
            <a:r>
              <a:rPr lang="en-US" sz="2000" b="1" i="1"/>
              <a:t>n</a:t>
            </a:r>
            <a:r>
              <a:rPr lang="en-US" sz="2000" b="1"/>
              <a:t>) and </a:t>
            </a:r>
            <a:r>
              <a:rPr lang="en-US" sz="2000" b="1" i="1"/>
              <a:t>g</a:t>
            </a:r>
            <a:r>
              <a:rPr lang="en-US" sz="2000" b="1"/>
              <a:t>(</a:t>
            </a:r>
            <a:r>
              <a:rPr lang="en-US" sz="2000" b="1" i="1"/>
              <a:t>n</a:t>
            </a:r>
            <a:r>
              <a:rPr lang="en-US" sz="2000" b="1"/>
              <a:t>) are nonnegative, for large </a:t>
            </a:r>
            <a:r>
              <a:rPr lang="en-US" sz="2000" b="1" i="1"/>
              <a:t>n</a:t>
            </a:r>
            <a:r>
              <a:rPr lang="en-US" sz="2000" b="1"/>
              <a:t>. </a:t>
            </a:r>
            <a:endParaRPr lang="en-US" sz="2000" b="1" i="1" u="sng">
              <a:solidFill>
                <a:srgbClr val="CC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400" smtClean="0"/>
              <a:t>Example</a:t>
            </a:r>
          </a:p>
        </p:txBody>
      </p:sp>
      <p:sp>
        <p:nvSpPr>
          <p:cNvPr id="402435" name="Rectangle 3"/>
          <p:cNvSpPr>
            <a:spLocks noGrp="1" noChangeArrowheads="1"/>
          </p:cNvSpPr>
          <p:nvPr>
            <p:ph idx="1"/>
          </p:nvPr>
        </p:nvSpPr>
        <p:spPr>
          <a:xfrm>
            <a:off x="704850" y="2468563"/>
            <a:ext cx="7989888" cy="38766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smtClean="0"/>
              <a:t>10</a:t>
            </a:r>
            <a:r>
              <a:rPr lang="en-US" sz="2400" i="1" smtClean="0"/>
              <a:t>n</a:t>
            </a:r>
            <a:r>
              <a:rPr lang="en-US" sz="2400" baseline="30000" smtClean="0"/>
              <a:t>2</a:t>
            </a:r>
            <a:r>
              <a:rPr lang="en-US" sz="2400" i="1" smtClean="0"/>
              <a:t> </a:t>
            </a:r>
            <a:r>
              <a:rPr lang="en-US" sz="2400" smtClean="0"/>
              <a:t>-</a:t>
            </a:r>
            <a:r>
              <a:rPr lang="en-US" sz="2400" i="1" smtClean="0"/>
              <a:t> </a:t>
            </a:r>
            <a:r>
              <a:rPr lang="en-US" sz="2400" smtClean="0"/>
              <a:t>3</a:t>
            </a:r>
            <a:r>
              <a:rPr lang="en-US" sz="2400" i="1" smtClean="0"/>
              <a:t>n = </a:t>
            </a:r>
            <a:r>
              <a:rPr lang="en-US" sz="2400" smtClean="0">
                <a:latin typeface="Symbol" pitchFamily="18" charset="2"/>
              </a:rPr>
              <a:t>Q</a:t>
            </a:r>
            <a:r>
              <a:rPr lang="en-US" sz="2400" smtClean="0"/>
              <a:t>(</a:t>
            </a:r>
            <a:r>
              <a:rPr lang="en-US" sz="2400" i="1" smtClean="0"/>
              <a:t>n</a:t>
            </a:r>
            <a:r>
              <a:rPr lang="en-US" sz="2400" baseline="30000" smtClean="0"/>
              <a:t>2</a:t>
            </a:r>
            <a:r>
              <a:rPr lang="en-US" sz="2400" smtClean="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What constants for </a:t>
            </a:r>
            <a:r>
              <a:rPr lang="en-US" sz="2400" i="1" smtClean="0"/>
              <a:t>n</a:t>
            </a:r>
            <a:r>
              <a:rPr lang="en-US" sz="2400" baseline="-25000" smtClean="0"/>
              <a:t>0</a:t>
            </a:r>
            <a:r>
              <a:rPr lang="en-US" sz="2400" smtClean="0"/>
              <a:t>, </a:t>
            </a:r>
            <a:r>
              <a:rPr lang="en-US" sz="2400" i="1" smtClean="0"/>
              <a:t>c</a:t>
            </a:r>
            <a:r>
              <a:rPr lang="en-US" sz="2400" baseline="-25000" smtClean="0"/>
              <a:t>1</a:t>
            </a:r>
            <a:r>
              <a:rPr lang="en-US" sz="2400" smtClean="0"/>
              <a:t>, and </a:t>
            </a:r>
            <a:r>
              <a:rPr lang="en-US" sz="2400" i="1" smtClean="0"/>
              <a:t>c</a:t>
            </a:r>
            <a:r>
              <a:rPr lang="en-US" sz="2400" baseline="-25000" smtClean="0"/>
              <a:t>2</a:t>
            </a:r>
            <a:r>
              <a:rPr lang="en-US" sz="2400" smtClean="0"/>
              <a:t> will work?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Make </a:t>
            </a:r>
            <a:r>
              <a:rPr lang="en-US" sz="2400" i="1" smtClean="0"/>
              <a:t>c</a:t>
            </a:r>
            <a:r>
              <a:rPr lang="en-US" sz="2400" baseline="-25000" smtClean="0"/>
              <a:t>1</a:t>
            </a:r>
            <a:r>
              <a:rPr lang="en-US" sz="2400" smtClean="0"/>
              <a:t> a little smaller than the leading coefficient, and </a:t>
            </a:r>
            <a:r>
              <a:rPr lang="en-US" sz="2400" i="1" smtClean="0"/>
              <a:t>c</a:t>
            </a:r>
            <a:r>
              <a:rPr lang="en-US" sz="2400" baseline="-25000" smtClean="0"/>
              <a:t>2</a:t>
            </a:r>
            <a:r>
              <a:rPr lang="en-US" sz="2400" smtClean="0"/>
              <a:t> a little bigger.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b="1" i="1" smtClean="0"/>
              <a:t>To compare orders of growth, look at the leading term.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u="sng" smtClean="0"/>
              <a:t>Exercise:</a:t>
            </a:r>
            <a:r>
              <a:rPr lang="en-US" sz="2400" smtClean="0"/>
              <a:t> Prove that </a:t>
            </a:r>
            <a:r>
              <a:rPr lang="en-US" sz="2400" i="1" smtClean="0"/>
              <a:t>n</a:t>
            </a:r>
            <a:r>
              <a:rPr lang="en-US" sz="2400" baseline="30000" smtClean="0"/>
              <a:t>2</a:t>
            </a:r>
            <a:r>
              <a:rPr lang="en-US" sz="2400" smtClean="0"/>
              <a:t>/2-3</a:t>
            </a:r>
            <a:r>
              <a:rPr lang="en-US" sz="2400" i="1" smtClean="0"/>
              <a:t>n</a:t>
            </a:r>
            <a:r>
              <a:rPr lang="en-US" sz="2400" smtClean="0"/>
              <a:t>= </a:t>
            </a:r>
            <a:r>
              <a:rPr lang="en-US" sz="2400" smtClean="0">
                <a:latin typeface="Symbol" pitchFamily="18" charset="2"/>
              </a:rPr>
              <a:t>Q</a:t>
            </a:r>
            <a:r>
              <a:rPr lang="en-US" sz="2400" smtClean="0"/>
              <a:t>(</a:t>
            </a:r>
            <a:r>
              <a:rPr lang="en-US" sz="2400" i="1" smtClean="0"/>
              <a:t>n</a:t>
            </a:r>
            <a:r>
              <a:rPr lang="en-US" sz="2400" baseline="30000" smtClean="0"/>
              <a:t>2</a:t>
            </a:r>
            <a:r>
              <a:rPr lang="en-US" sz="2400" smtClean="0"/>
              <a:t>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400" b="1" i="1" smtClean="0"/>
          </a:p>
        </p:txBody>
      </p:sp>
      <p:sp>
        <p:nvSpPr>
          <p:cNvPr id="78852" name="Rectangle 4"/>
          <p:cNvSpPr>
            <a:spLocks noChangeArrowheads="1"/>
          </p:cNvSpPr>
          <p:nvPr/>
        </p:nvSpPr>
        <p:spPr bwMode="auto">
          <a:xfrm>
            <a:off x="944563" y="1200150"/>
            <a:ext cx="7270750" cy="1200150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sz="2400" b="1">
                <a:sym typeface="Symbol" pitchFamily="18" charset="2"/>
              </a:rPr>
              <a:t></a:t>
            </a:r>
            <a:r>
              <a:rPr kumimoji="1" lang="en-US" sz="2400" b="1"/>
              <a:t>(</a:t>
            </a:r>
            <a:r>
              <a:rPr kumimoji="1" lang="en-US" sz="2400" b="1" i="1"/>
              <a:t>g</a:t>
            </a:r>
            <a:r>
              <a:rPr kumimoji="1" lang="en-US" sz="2400" b="1"/>
              <a:t>(</a:t>
            </a:r>
            <a:r>
              <a:rPr kumimoji="1" lang="en-US" sz="2400" b="1" i="1"/>
              <a:t>n</a:t>
            </a:r>
            <a:r>
              <a:rPr kumimoji="1" lang="en-US" sz="2400" b="1"/>
              <a:t>)) = {</a:t>
            </a:r>
            <a:r>
              <a:rPr kumimoji="1" lang="en-US" sz="2400" b="1" i="1"/>
              <a:t>f</a:t>
            </a:r>
            <a:r>
              <a:rPr kumimoji="1" lang="en-US" sz="2400" b="1"/>
              <a:t>(</a:t>
            </a:r>
            <a:r>
              <a:rPr kumimoji="1" lang="en-US" sz="2400" b="1" i="1"/>
              <a:t>n</a:t>
            </a:r>
            <a:r>
              <a:rPr kumimoji="1" lang="en-US" sz="2400" b="1"/>
              <a:t>) : </a:t>
            </a:r>
            <a:r>
              <a:rPr kumimoji="1" lang="en-US" sz="2400" b="1">
                <a:sym typeface="Symbol" pitchFamily="18" charset="2"/>
              </a:rPr>
              <a:t> </a:t>
            </a:r>
            <a:r>
              <a:rPr kumimoji="1" lang="en-US" sz="2400" b="1"/>
              <a:t>positive constants </a:t>
            </a:r>
            <a:r>
              <a:rPr kumimoji="1" lang="en-US" sz="2400" b="1" i="1"/>
              <a:t>c</a:t>
            </a:r>
            <a:r>
              <a:rPr kumimoji="1" lang="en-US" sz="2400" b="1" baseline="-25000"/>
              <a:t>1</a:t>
            </a:r>
            <a:r>
              <a:rPr kumimoji="1" lang="en-US" sz="2400" b="1"/>
              <a:t>, </a:t>
            </a:r>
            <a:r>
              <a:rPr kumimoji="1" lang="en-US" sz="2400" b="1" i="1"/>
              <a:t>c</a:t>
            </a:r>
            <a:r>
              <a:rPr kumimoji="1" lang="en-US" sz="2400" b="1" baseline="-25000"/>
              <a:t>2</a:t>
            </a:r>
            <a:r>
              <a:rPr kumimoji="1" lang="en-US" sz="2400" b="1"/>
              <a:t>, and </a:t>
            </a:r>
            <a:r>
              <a:rPr kumimoji="1" lang="en-US" sz="2400" b="1" i="1"/>
              <a:t>n</a:t>
            </a:r>
            <a:r>
              <a:rPr kumimoji="1" lang="en-US" sz="2400" b="1" baseline="-25000"/>
              <a:t>0</a:t>
            </a:r>
            <a:r>
              <a:rPr kumimoji="1" lang="en-US" sz="2400" b="1"/>
              <a:t>, such that </a:t>
            </a:r>
            <a:r>
              <a:rPr kumimoji="1" lang="en-US" sz="2400" b="1">
                <a:sym typeface="Symbol" pitchFamily="18" charset="2"/>
              </a:rPr>
              <a:t></a:t>
            </a:r>
            <a:r>
              <a:rPr kumimoji="1" lang="en-US" sz="2400" b="1" i="1"/>
              <a:t>n </a:t>
            </a:r>
            <a:r>
              <a:rPr kumimoji="1" lang="en-US" sz="2400" b="1">
                <a:sym typeface="Symbol" pitchFamily="18" charset="2"/>
              </a:rPr>
              <a:t></a:t>
            </a:r>
            <a:r>
              <a:rPr kumimoji="1" lang="en-US" sz="2400" b="1" i="1"/>
              <a:t>  n</a:t>
            </a:r>
            <a:r>
              <a:rPr kumimoji="1" lang="en-US" sz="2400" b="1" baseline="-25000"/>
              <a:t>0</a:t>
            </a:r>
            <a:r>
              <a:rPr kumimoji="1" lang="en-US" sz="2400"/>
              <a:t>,    </a:t>
            </a:r>
            <a:r>
              <a:rPr kumimoji="1" lang="en-US" sz="2400" b="1"/>
              <a:t>0 </a:t>
            </a:r>
            <a:r>
              <a:rPr kumimoji="1" lang="en-US" sz="2400" b="1">
                <a:sym typeface="Symbol" pitchFamily="18" charset="2"/>
              </a:rPr>
              <a:t></a:t>
            </a:r>
            <a:r>
              <a:rPr kumimoji="1" lang="en-US" sz="2400" b="1"/>
              <a:t> </a:t>
            </a:r>
            <a:r>
              <a:rPr kumimoji="1" lang="en-US" sz="2400" b="1" i="1"/>
              <a:t>c</a:t>
            </a:r>
            <a:r>
              <a:rPr kumimoji="1" lang="en-US" sz="2400" b="1" baseline="-25000"/>
              <a:t>1</a:t>
            </a:r>
            <a:r>
              <a:rPr kumimoji="1" lang="en-US" sz="2400" b="1" i="1"/>
              <a:t>g</a:t>
            </a:r>
            <a:r>
              <a:rPr kumimoji="1" lang="en-US" sz="2400" b="1"/>
              <a:t>(</a:t>
            </a:r>
            <a:r>
              <a:rPr kumimoji="1" lang="en-US" sz="2400" b="1" i="1"/>
              <a:t>n</a:t>
            </a:r>
            <a:r>
              <a:rPr kumimoji="1" lang="en-US" sz="2400" b="1"/>
              <a:t>) </a:t>
            </a:r>
            <a:r>
              <a:rPr kumimoji="1" lang="en-US" sz="2400" b="1">
                <a:sym typeface="Symbol" pitchFamily="18" charset="2"/>
              </a:rPr>
              <a:t> </a:t>
            </a:r>
            <a:r>
              <a:rPr kumimoji="1" lang="en-US" sz="2400" b="1"/>
              <a:t> </a:t>
            </a:r>
            <a:r>
              <a:rPr kumimoji="1" lang="en-US" sz="2400" b="1" i="1"/>
              <a:t>f</a:t>
            </a:r>
            <a:r>
              <a:rPr kumimoji="1" lang="en-US" sz="2400" b="1"/>
              <a:t>(</a:t>
            </a:r>
            <a:r>
              <a:rPr kumimoji="1" lang="en-US" sz="2400" b="1" i="1"/>
              <a:t>n</a:t>
            </a:r>
            <a:r>
              <a:rPr kumimoji="1" lang="en-US" sz="2400" b="1"/>
              <a:t>)</a:t>
            </a:r>
            <a:r>
              <a:rPr kumimoji="1" lang="en-US" sz="2400" b="1" i="1"/>
              <a:t> </a:t>
            </a:r>
            <a:r>
              <a:rPr kumimoji="1" lang="en-US" sz="2400" b="1">
                <a:sym typeface="Symbol" pitchFamily="18" charset="2"/>
              </a:rPr>
              <a:t></a:t>
            </a:r>
            <a:r>
              <a:rPr kumimoji="1" lang="en-US" sz="2400" b="1"/>
              <a:t> c</a:t>
            </a:r>
            <a:r>
              <a:rPr kumimoji="1" lang="en-US" sz="2400" b="1" baseline="-25000"/>
              <a:t>2</a:t>
            </a:r>
            <a:r>
              <a:rPr kumimoji="1" lang="en-US" sz="2400" b="1" i="1"/>
              <a:t>g</a:t>
            </a:r>
            <a:r>
              <a:rPr kumimoji="1" lang="en-US" sz="2400" b="1"/>
              <a:t>(</a:t>
            </a:r>
            <a:r>
              <a:rPr kumimoji="1" lang="en-US" sz="2400" b="1" i="1"/>
              <a:t>n</a:t>
            </a:r>
            <a:r>
              <a:rPr kumimoji="1" lang="en-US" sz="2400" b="1"/>
              <a:t>)}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35" grpId="0" build="p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</a:t>
            </a:r>
          </a:p>
        </p:txBody>
      </p:sp>
      <p:sp>
        <p:nvSpPr>
          <p:cNvPr id="479235" name="Rectangle 3"/>
          <p:cNvSpPr>
            <a:spLocks noGrp="1" noChangeArrowheads="1"/>
          </p:cNvSpPr>
          <p:nvPr>
            <p:ph idx="1"/>
          </p:nvPr>
        </p:nvSpPr>
        <p:spPr>
          <a:xfrm>
            <a:off x="704850" y="2468563"/>
            <a:ext cx="7989888" cy="3535362"/>
          </a:xfrm>
        </p:spPr>
        <p:txBody>
          <a:bodyPr/>
          <a:lstStyle/>
          <a:p>
            <a:pPr eaLnBrk="1" hangingPunct="1"/>
            <a:r>
              <a:rPr lang="en-US" smtClean="0"/>
              <a:t>Is 3</a:t>
            </a:r>
            <a:r>
              <a:rPr lang="en-US" i="1" smtClean="0"/>
              <a:t>n</a:t>
            </a:r>
            <a:r>
              <a:rPr lang="en-US" baseline="30000" smtClean="0"/>
              <a:t>3 </a:t>
            </a:r>
            <a:r>
              <a:rPr lang="en-US" smtClean="0">
                <a:sym typeface="Symbol" pitchFamily="18" charset="2"/>
              </a:rPr>
              <a:t></a:t>
            </a:r>
            <a:r>
              <a:rPr lang="en-US" smtClean="0"/>
              <a:t> </a:t>
            </a:r>
            <a:r>
              <a:rPr lang="en-US" smtClean="0">
                <a:latin typeface="Symbol" pitchFamily="18" charset="2"/>
              </a:rPr>
              <a:t>Q</a:t>
            </a:r>
            <a:r>
              <a:rPr lang="en-US" smtClean="0"/>
              <a:t>(</a:t>
            </a:r>
            <a:r>
              <a:rPr lang="en-US" i="1" smtClean="0"/>
              <a:t>n</a:t>
            </a:r>
            <a:r>
              <a:rPr lang="en-US" baseline="30000" smtClean="0"/>
              <a:t>4</a:t>
            </a:r>
            <a:r>
              <a:rPr lang="en-US" smtClean="0"/>
              <a:t>) ??</a:t>
            </a:r>
          </a:p>
          <a:p>
            <a:pPr eaLnBrk="1" hangingPunct="1"/>
            <a:r>
              <a:rPr lang="en-US" smtClean="0"/>
              <a:t>How about 2</a:t>
            </a:r>
            <a:r>
              <a:rPr lang="en-US" baseline="30000" smtClean="0"/>
              <a:t>2</a:t>
            </a:r>
            <a:r>
              <a:rPr lang="en-US" i="1" baseline="30000" smtClean="0"/>
              <a:t>n</a:t>
            </a:r>
            <a:r>
              <a:rPr lang="en-US" smtClean="0">
                <a:sym typeface="Symbol" pitchFamily="18" charset="2"/>
              </a:rPr>
              <a:t> </a:t>
            </a:r>
            <a:r>
              <a:rPr lang="en-US" smtClean="0">
                <a:latin typeface="Symbol" pitchFamily="18" charset="2"/>
              </a:rPr>
              <a:t>Q</a:t>
            </a:r>
            <a:r>
              <a:rPr lang="en-US" smtClean="0"/>
              <a:t>(2</a:t>
            </a:r>
            <a:r>
              <a:rPr lang="en-US" i="1" baseline="30000" smtClean="0"/>
              <a:t>n</a:t>
            </a:r>
            <a:r>
              <a:rPr lang="en-US" smtClean="0"/>
              <a:t>)??</a:t>
            </a:r>
          </a:p>
          <a:p>
            <a:pPr eaLnBrk="1" hangingPunct="1">
              <a:buFont typeface="Wingdings" pitchFamily="2" charset="2"/>
              <a:buNone/>
            </a:pPr>
            <a:endParaRPr lang="en-US" b="1" i="1" smtClean="0">
              <a:solidFill>
                <a:srgbClr val="CC0000"/>
              </a:solidFill>
            </a:endParaRPr>
          </a:p>
        </p:txBody>
      </p:sp>
      <p:sp>
        <p:nvSpPr>
          <p:cNvPr id="79876" name="Rectangle 5"/>
          <p:cNvSpPr>
            <a:spLocks noChangeArrowheads="1"/>
          </p:cNvSpPr>
          <p:nvPr/>
        </p:nvSpPr>
        <p:spPr bwMode="auto">
          <a:xfrm>
            <a:off x="944563" y="1200150"/>
            <a:ext cx="7567612" cy="1025525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sz="2600" b="1">
                <a:solidFill>
                  <a:schemeClr val="accent1"/>
                </a:solidFill>
                <a:sym typeface="Symbol" pitchFamily="18" charset="2"/>
              </a:rPr>
              <a:t></a:t>
            </a:r>
            <a:r>
              <a:rPr kumimoji="1" lang="en-US" sz="2600" b="1">
                <a:solidFill>
                  <a:schemeClr val="accent1"/>
                </a:solidFill>
              </a:rPr>
              <a:t>(</a:t>
            </a:r>
            <a:r>
              <a:rPr kumimoji="1" lang="en-US" sz="2600" b="1" i="1">
                <a:solidFill>
                  <a:schemeClr val="accent1"/>
                </a:solidFill>
              </a:rPr>
              <a:t>g</a:t>
            </a:r>
            <a:r>
              <a:rPr kumimoji="1" lang="en-US" sz="2600" b="1">
                <a:solidFill>
                  <a:schemeClr val="accent1"/>
                </a:solidFill>
              </a:rPr>
              <a:t>(</a:t>
            </a:r>
            <a:r>
              <a:rPr kumimoji="1" lang="en-US" sz="2600" b="1" i="1">
                <a:solidFill>
                  <a:schemeClr val="accent1"/>
                </a:solidFill>
              </a:rPr>
              <a:t>n</a:t>
            </a:r>
            <a:r>
              <a:rPr kumimoji="1" lang="en-US" sz="2600" b="1">
                <a:solidFill>
                  <a:schemeClr val="accent1"/>
                </a:solidFill>
              </a:rPr>
              <a:t>)) =</a:t>
            </a:r>
            <a:r>
              <a:rPr kumimoji="1" lang="en-US" sz="2600" b="1">
                <a:solidFill>
                  <a:schemeClr val="hlink"/>
                </a:solidFill>
              </a:rPr>
              <a:t> </a:t>
            </a:r>
            <a:r>
              <a:rPr kumimoji="1" lang="en-US" sz="3000" b="1">
                <a:solidFill>
                  <a:schemeClr val="hlink"/>
                </a:solidFill>
              </a:rPr>
              <a:t>{</a:t>
            </a:r>
            <a:r>
              <a:rPr kumimoji="1" lang="en-US" sz="2600" b="1" i="1">
                <a:solidFill>
                  <a:schemeClr val="hlink"/>
                </a:solidFill>
              </a:rPr>
              <a:t>f</a:t>
            </a:r>
            <a:r>
              <a:rPr kumimoji="1" lang="en-US" sz="2600" b="1">
                <a:solidFill>
                  <a:schemeClr val="hlink"/>
                </a:solidFill>
              </a:rPr>
              <a:t>(</a:t>
            </a:r>
            <a:r>
              <a:rPr kumimoji="1" lang="en-US" sz="2600" b="1" i="1">
                <a:solidFill>
                  <a:schemeClr val="hlink"/>
                </a:solidFill>
              </a:rPr>
              <a:t>n</a:t>
            </a:r>
            <a:r>
              <a:rPr kumimoji="1" lang="en-US" sz="2600" b="1">
                <a:solidFill>
                  <a:schemeClr val="hlink"/>
                </a:solidFill>
              </a:rPr>
              <a:t>) : </a:t>
            </a:r>
            <a:r>
              <a:rPr kumimoji="1" lang="en-US" sz="2600" b="1">
                <a:solidFill>
                  <a:srgbClr val="FF3300"/>
                </a:solidFill>
                <a:sym typeface="Symbol" pitchFamily="18" charset="2"/>
              </a:rPr>
              <a:t> </a:t>
            </a:r>
            <a:r>
              <a:rPr kumimoji="1" lang="en-US" sz="2600" b="1">
                <a:solidFill>
                  <a:srgbClr val="FF3300"/>
                </a:solidFill>
              </a:rPr>
              <a:t>positive constants </a:t>
            </a:r>
            <a:r>
              <a:rPr kumimoji="1" lang="en-US" sz="2600" b="1" i="1">
                <a:solidFill>
                  <a:srgbClr val="FF3300"/>
                </a:solidFill>
              </a:rPr>
              <a:t>c</a:t>
            </a:r>
            <a:r>
              <a:rPr kumimoji="1" lang="en-US" sz="2600" b="1" baseline="-25000">
                <a:solidFill>
                  <a:srgbClr val="FF3300"/>
                </a:solidFill>
              </a:rPr>
              <a:t>1</a:t>
            </a:r>
            <a:r>
              <a:rPr kumimoji="1" lang="en-US" sz="2600" b="1">
                <a:solidFill>
                  <a:srgbClr val="FF3300"/>
                </a:solidFill>
              </a:rPr>
              <a:t>, </a:t>
            </a:r>
            <a:r>
              <a:rPr kumimoji="1" lang="en-US" sz="2600" b="1" i="1">
                <a:solidFill>
                  <a:srgbClr val="FF3300"/>
                </a:solidFill>
              </a:rPr>
              <a:t>c</a:t>
            </a:r>
            <a:r>
              <a:rPr kumimoji="1" lang="en-US" sz="2600" b="1" baseline="-25000">
                <a:solidFill>
                  <a:srgbClr val="FF3300"/>
                </a:solidFill>
              </a:rPr>
              <a:t>2</a:t>
            </a:r>
            <a:r>
              <a:rPr kumimoji="1" lang="en-US" sz="2600" b="1">
                <a:solidFill>
                  <a:srgbClr val="FF3300"/>
                </a:solidFill>
              </a:rPr>
              <a:t>, and </a:t>
            </a:r>
            <a:r>
              <a:rPr kumimoji="1" lang="en-US" sz="2600" b="1" i="1">
                <a:solidFill>
                  <a:srgbClr val="FF3300"/>
                </a:solidFill>
              </a:rPr>
              <a:t>n</a:t>
            </a:r>
            <a:r>
              <a:rPr kumimoji="1" lang="en-US" sz="2600" b="1" baseline="-25000">
                <a:solidFill>
                  <a:srgbClr val="FF3300"/>
                </a:solidFill>
              </a:rPr>
              <a:t>0</a:t>
            </a:r>
            <a:r>
              <a:rPr kumimoji="1" lang="en-US" sz="2600" b="1">
                <a:solidFill>
                  <a:srgbClr val="FF3300"/>
                </a:solidFill>
              </a:rPr>
              <a:t>,</a:t>
            </a:r>
            <a:r>
              <a:rPr kumimoji="1" lang="en-US" sz="2600" b="1">
                <a:solidFill>
                  <a:schemeClr val="hlink"/>
                </a:solidFill>
              </a:rPr>
              <a:t> </a:t>
            </a:r>
            <a:r>
              <a:rPr kumimoji="1" lang="en-US" sz="2600" b="1">
                <a:solidFill>
                  <a:srgbClr val="CC0000"/>
                </a:solidFill>
              </a:rPr>
              <a:t>such that </a:t>
            </a:r>
            <a:r>
              <a:rPr kumimoji="1" lang="en-US" sz="2600" b="1">
                <a:solidFill>
                  <a:srgbClr val="CC0000"/>
                </a:solidFill>
                <a:sym typeface="Symbol" pitchFamily="18" charset="2"/>
              </a:rPr>
              <a:t></a:t>
            </a:r>
            <a:r>
              <a:rPr kumimoji="1" lang="en-US" sz="2600" b="1" i="1">
                <a:solidFill>
                  <a:srgbClr val="CC0000"/>
                </a:solidFill>
              </a:rPr>
              <a:t>n </a:t>
            </a:r>
            <a:r>
              <a:rPr kumimoji="1" lang="en-US" sz="2600" b="1">
                <a:solidFill>
                  <a:srgbClr val="CC0000"/>
                </a:solidFill>
                <a:sym typeface="Symbol" pitchFamily="18" charset="2"/>
              </a:rPr>
              <a:t></a:t>
            </a:r>
            <a:r>
              <a:rPr kumimoji="1" lang="en-US" sz="2600" b="1" i="1">
                <a:solidFill>
                  <a:srgbClr val="CC0000"/>
                </a:solidFill>
              </a:rPr>
              <a:t>  n</a:t>
            </a:r>
            <a:r>
              <a:rPr kumimoji="1" lang="en-US" sz="2600" b="1" baseline="-25000">
                <a:solidFill>
                  <a:srgbClr val="CC0000"/>
                </a:solidFill>
              </a:rPr>
              <a:t>0</a:t>
            </a:r>
            <a:r>
              <a:rPr kumimoji="1" lang="en-US" sz="2600">
                <a:solidFill>
                  <a:srgbClr val="CC0000"/>
                </a:solidFill>
              </a:rPr>
              <a:t>,    </a:t>
            </a:r>
            <a:r>
              <a:rPr kumimoji="1" lang="en-US" sz="2600" b="1">
                <a:solidFill>
                  <a:schemeClr val="hlink"/>
                </a:solidFill>
              </a:rPr>
              <a:t>0 </a:t>
            </a:r>
            <a:r>
              <a:rPr kumimoji="1" lang="en-US" sz="2600" b="1">
                <a:solidFill>
                  <a:schemeClr val="hlink"/>
                </a:solidFill>
                <a:sym typeface="Symbol" pitchFamily="18" charset="2"/>
              </a:rPr>
              <a:t></a:t>
            </a:r>
            <a:r>
              <a:rPr kumimoji="1" lang="en-US" sz="2600" b="1">
                <a:solidFill>
                  <a:schemeClr val="hlink"/>
                </a:solidFill>
              </a:rPr>
              <a:t> </a:t>
            </a:r>
            <a:r>
              <a:rPr kumimoji="1" lang="en-US" sz="2600" b="1" i="1">
                <a:solidFill>
                  <a:schemeClr val="hlink"/>
                </a:solidFill>
              </a:rPr>
              <a:t>c</a:t>
            </a:r>
            <a:r>
              <a:rPr kumimoji="1" lang="en-US" sz="2600" b="1" baseline="-25000">
                <a:solidFill>
                  <a:schemeClr val="hlink"/>
                </a:solidFill>
              </a:rPr>
              <a:t>1</a:t>
            </a:r>
            <a:r>
              <a:rPr kumimoji="1" lang="en-US" sz="2600" b="1" i="1">
                <a:solidFill>
                  <a:schemeClr val="hlink"/>
                </a:solidFill>
              </a:rPr>
              <a:t>g</a:t>
            </a:r>
            <a:r>
              <a:rPr kumimoji="1" lang="en-US" sz="2600" b="1">
                <a:solidFill>
                  <a:schemeClr val="hlink"/>
                </a:solidFill>
              </a:rPr>
              <a:t>(</a:t>
            </a:r>
            <a:r>
              <a:rPr kumimoji="1" lang="en-US" sz="2600" b="1" i="1">
                <a:solidFill>
                  <a:schemeClr val="hlink"/>
                </a:solidFill>
              </a:rPr>
              <a:t>n</a:t>
            </a:r>
            <a:r>
              <a:rPr kumimoji="1" lang="en-US" sz="2600" b="1">
                <a:solidFill>
                  <a:schemeClr val="hlink"/>
                </a:solidFill>
              </a:rPr>
              <a:t>) </a:t>
            </a:r>
            <a:r>
              <a:rPr kumimoji="1" lang="en-US" sz="2600" b="1">
                <a:solidFill>
                  <a:schemeClr val="hlink"/>
                </a:solidFill>
                <a:sym typeface="Symbol" pitchFamily="18" charset="2"/>
              </a:rPr>
              <a:t> </a:t>
            </a:r>
            <a:r>
              <a:rPr kumimoji="1" lang="en-US" sz="2600" b="1">
                <a:solidFill>
                  <a:schemeClr val="hlink"/>
                </a:solidFill>
              </a:rPr>
              <a:t> </a:t>
            </a:r>
            <a:r>
              <a:rPr kumimoji="1" lang="en-US" sz="2600" b="1" i="1">
                <a:solidFill>
                  <a:schemeClr val="hlink"/>
                </a:solidFill>
              </a:rPr>
              <a:t>f</a:t>
            </a:r>
            <a:r>
              <a:rPr kumimoji="1" lang="en-US" sz="2600" b="1">
                <a:solidFill>
                  <a:schemeClr val="hlink"/>
                </a:solidFill>
              </a:rPr>
              <a:t>(</a:t>
            </a:r>
            <a:r>
              <a:rPr kumimoji="1" lang="en-US" sz="2600" b="1" i="1">
                <a:solidFill>
                  <a:schemeClr val="hlink"/>
                </a:solidFill>
              </a:rPr>
              <a:t>n</a:t>
            </a:r>
            <a:r>
              <a:rPr kumimoji="1" lang="en-US" sz="2600" b="1">
                <a:solidFill>
                  <a:schemeClr val="hlink"/>
                </a:solidFill>
              </a:rPr>
              <a:t>)</a:t>
            </a:r>
            <a:r>
              <a:rPr kumimoji="1" lang="en-US" sz="2600" b="1" i="1">
                <a:solidFill>
                  <a:schemeClr val="hlink"/>
                </a:solidFill>
              </a:rPr>
              <a:t> </a:t>
            </a:r>
            <a:r>
              <a:rPr kumimoji="1" lang="en-US" sz="2600" b="1">
                <a:solidFill>
                  <a:schemeClr val="hlink"/>
                </a:solidFill>
                <a:sym typeface="Symbol" pitchFamily="18" charset="2"/>
              </a:rPr>
              <a:t></a:t>
            </a:r>
            <a:r>
              <a:rPr kumimoji="1" lang="en-US" sz="2600" b="1">
                <a:solidFill>
                  <a:schemeClr val="hlink"/>
                </a:solidFill>
              </a:rPr>
              <a:t> c</a:t>
            </a:r>
            <a:r>
              <a:rPr kumimoji="1" lang="en-US" sz="2600" b="1" baseline="-25000">
                <a:solidFill>
                  <a:schemeClr val="hlink"/>
                </a:solidFill>
              </a:rPr>
              <a:t>2</a:t>
            </a:r>
            <a:r>
              <a:rPr kumimoji="1" lang="en-US" sz="2600" b="1" i="1">
                <a:solidFill>
                  <a:schemeClr val="hlink"/>
                </a:solidFill>
              </a:rPr>
              <a:t>g</a:t>
            </a:r>
            <a:r>
              <a:rPr kumimoji="1" lang="en-US" sz="2600" b="1">
                <a:solidFill>
                  <a:schemeClr val="hlink"/>
                </a:solidFill>
              </a:rPr>
              <a:t>(</a:t>
            </a:r>
            <a:r>
              <a:rPr kumimoji="1" lang="en-US" sz="2600" b="1" i="1">
                <a:solidFill>
                  <a:schemeClr val="hlink"/>
                </a:solidFill>
              </a:rPr>
              <a:t>n</a:t>
            </a:r>
            <a:r>
              <a:rPr kumimoji="1" lang="en-US" sz="2600" b="1">
                <a:solidFill>
                  <a:schemeClr val="hlink"/>
                </a:solidFill>
              </a:rPr>
              <a:t>)</a:t>
            </a:r>
            <a:r>
              <a:rPr kumimoji="1" lang="en-US" sz="3000" b="1">
                <a:solidFill>
                  <a:schemeClr val="hlink"/>
                </a:solidFill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235" grpId="0" build="p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000" i="1" smtClean="0">
                <a:sym typeface="Symbol" pitchFamily="18" charset="2"/>
              </a:rPr>
              <a:t>O</a:t>
            </a:r>
            <a:r>
              <a:rPr lang="en-US" sz="2000" smtClean="0">
                <a:sym typeface="Symbol" pitchFamily="18" charset="2"/>
              </a:rPr>
              <a:t>-notation</a:t>
            </a:r>
          </a:p>
        </p:txBody>
      </p:sp>
      <p:pic>
        <p:nvPicPr>
          <p:cNvPr id="80899" name="Picture 8" descr="graph_O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5219700" y="1387475"/>
            <a:ext cx="3819525" cy="3840163"/>
          </a:xfrm>
          <a:noFill/>
        </p:spPr>
      </p:pic>
      <p:sp>
        <p:nvSpPr>
          <p:cNvPr id="80900" name="Rectangle 4"/>
          <p:cNvSpPr>
            <a:spLocks noChangeArrowheads="1"/>
          </p:cNvSpPr>
          <p:nvPr/>
        </p:nvSpPr>
        <p:spPr bwMode="auto">
          <a:xfrm>
            <a:off x="250825" y="1954213"/>
            <a:ext cx="4870450" cy="1384300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2000" b="1" i="1">
                <a:sym typeface="Symbol" pitchFamily="18" charset="2"/>
              </a:rPr>
              <a:t>O</a:t>
            </a:r>
            <a:r>
              <a:rPr kumimoji="1" lang="en-US" sz="2000" b="1"/>
              <a:t>(</a:t>
            </a:r>
            <a:r>
              <a:rPr kumimoji="1" lang="en-US" sz="2000" b="1" i="1"/>
              <a:t>g</a:t>
            </a:r>
            <a:r>
              <a:rPr kumimoji="1" lang="en-US" sz="2000" b="1"/>
              <a:t>(</a:t>
            </a:r>
            <a:r>
              <a:rPr kumimoji="1" lang="en-US" sz="2000" b="1" i="1"/>
              <a:t>n</a:t>
            </a:r>
            <a:r>
              <a:rPr kumimoji="1" lang="en-US" sz="2000" b="1"/>
              <a:t>)) = {</a:t>
            </a:r>
            <a:r>
              <a:rPr kumimoji="1" lang="en-US" sz="2000" b="1" i="1"/>
              <a:t>f</a:t>
            </a:r>
            <a:r>
              <a:rPr kumimoji="1" lang="en-US" sz="2000" b="1"/>
              <a:t>(</a:t>
            </a:r>
            <a:r>
              <a:rPr kumimoji="1" lang="en-US" sz="2000" b="1" i="1"/>
              <a:t>n</a:t>
            </a:r>
            <a:r>
              <a:rPr kumimoji="1" lang="en-US" sz="2000" b="1"/>
              <a:t>) : </a:t>
            </a:r>
            <a:br>
              <a:rPr kumimoji="1" lang="en-US" sz="2000" b="1"/>
            </a:br>
            <a:r>
              <a:rPr kumimoji="1" lang="en-US" sz="2000" b="1">
                <a:sym typeface="Symbol" pitchFamily="18" charset="2"/>
              </a:rPr>
              <a:t> </a:t>
            </a:r>
            <a:r>
              <a:rPr kumimoji="1" lang="en-US" sz="2000" b="1"/>
              <a:t>positive constants </a:t>
            </a:r>
            <a:r>
              <a:rPr kumimoji="1" lang="en-US" sz="2000" b="1" i="1"/>
              <a:t>c</a:t>
            </a:r>
            <a:r>
              <a:rPr kumimoji="1" lang="en-US" sz="2000" b="1"/>
              <a:t> and </a:t>
            </a:r>
            <a:r>
              <a:rPr kumimoji="1" lang="en-US" sz="2000" b="1" i="1"/>
              <a:t>n</a:t>
            </a:r>
            <a:r>
              <a:rPr kumimoji="1" lang="en-US" sz="2000" b="1" baseline="-25000"/>
              <a:t>0,</a:t>
            </a:r>
            <a:r>
              <a:rPr kumimoji="1" lang="en-US" sz="2000" b="1"/>
              <a:t> such that </a:t>
            </a:r>
            <a:r>
              <a:rPr kumimoji="1" lang="en-US" sz="2000" b="1">
                <a:sym typeface="Symbol" pitchFamily="18" charset="2"/>
              </a:rPr>
              <a:t></a:t>
            </a:r>
            <a:r>
              <a:rPr kumimoji="1" lang="en-US" sz="2000" b="1" i="1"/>
              <a:t>n </a:t>
            </a:r>
            <a:r>
              <a:rPr kumimoji="1" lang="en-US" sz="2000" b="1">
                <a:sym typeface="Symbol" pitchFamily="18" charset="2"/>
              </a:rPr>
              <a:t></a:t>
            </a:r>
            <a:r>
              <a:rPr kumimoji="1" lang="en-US" sz="2000" b="1" i="1"/>
              <a:t>  n</a:t>
            </a:r>
            <a:r>
              <a:rPr kumimoji="1" lang="en-US" sz="2000" b="1" baseline="-25000"/>
              <a:t>0</a:t>
            </a:r>
            <a:r>
              <a:rPr kumimoji="1" lang="en-US" sz="2000"/>
              <a:t>,</a:t>
            </a:r>
            <a:endParaRPr kumimoji="1" lang="en-US" sz="2000" b="1"/>
          </a:p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2000" b="1"/>
              <a:t>we have 0 </a:t>
            </a:r>
            <a:r>
              <a:rPr kumimoji="1" lang="en-US" sz="2000" b="1">
                <a:sym typeface="Symbol" pitchFamily="18" charset="2"/>
              </a:rPr>
              <a:t></a:t>
            </a:r>
            <a:r>
              <a:rPr kumimoji="1" lang="en-US" sz="2000" b="1"/>
              <a:t>  </a:t>
            </a:r>
            <a:r>
              <a:rPr kumimoji="1" lang="en-US" sz="2000" b="1" i="1"/>
              <a:t>f</a:t>
            </a:r>
            <a:r>
              <a:rPr kumimoji="1" lang="en-US" sz="2000" b="1"/>
              <a:t>(</a:t>
            </a:r>
            <a:r>
              <a:rPr kumimoji="1" lang="en-US" sz="2000" b="1" i="1"/>
              <a:t>n</a:t>
            </a:r>
            <a:r>
              <a:rPr kumimoji="1" lang="en-US" sz="2000" b="1"/>
              <a:t>)</a:t>
            </a:r>
            <a:r>
              <a:rPr kumimoji="1" lang="en-US" sz="2000" b="1" i="1"/>
              <a:t> </a:t>
            </a:r>
            <a:r>
              <a:rPr kumimoji="1" lang="en-US" sz="2000" b="1">
                <a:sym typeface="Symbol" pitchFamily="18" charset="2"/>
              </a:rPr>
              <a:t></a:t>
            </a:r>
            <a:r>
              <a:rPr kumimoji="1" lang="en-US" sz="2000" b="1"/>
              <a:t> c</a:t>
            </a:r>
            <a:r>
              <a:rPr kumimoji="1" lang="en-US" sz="2000" b="1" i="1"/>
              <a:t>g</a:t>
            </a:r>
            <a:r>
              <a:rPr kumimoji="1" lang="en-US" sz="2000" b="1"/>
              <a:t>(</a:t>
            </a:r>
            <a:r>
              <a:rPr kumimoji="1" lang="en-US" sz="2000" b="1" i="1"/>
              <a:t>n</a:t>
            </a:r>
            <a:r>
              <a:rPr kumimoji="1" lang="en-US" sz="2000" b="1"/>
              <a:t>) }</a:t>
            </a:r>
          </a:p>
        </p:txBody>
      </p:sp>
      <p:sp>
        <p:nvSpPr>
          <p:cNvPr id="80901" name="Rectangle 5"/>
          <p:cNvSpPr>
            <a:spLocks noChangeArrowheads="1"/>
          </p:cNvSpPr>
          <p:nvPr/>
        </p:nvSpPr>
        <p:spPr bwMode="auto">
          <a:xfrm>
            <a:off x="263525" y="1068388"/>
            <a:ext cx="5197475" cy="708025"/>
          </a:xfrm>
          <a:prstGeom prst="rect">
            <a:avLst/>
          </a:prstGeom>
          <a:noFill/>
          <a:ln w="28575" cap="sq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2000"/>
              <a:t>For function </a:t>
            </a:r>
            <a:r>
              <a:rPr kumimoji="1" lang="en-US" sz="2000" i="1"/>
              <a:t>g</a:t>
            </a:r>
            <a:r>
              <a:rPr kumimoji="1" lang="en-US" sz="2000"/>
              <a:t>(</a:t>
            </a:r>
            <a:r>
              <a:rPr kumimoji="1" lang="en-US" sz="2000" i="1"/>
              <a:t>n</a:t>
            </a:r>
            <a:r>
              <a:rPr kumimoji="1" lang="en-US" sz="2000"/>
              <a:t>), we define </a:t>
            </a:r>
            <a:r>
              <a:rPr kumimoji="1" lang="en-US" sz="2000" i="1">
                <a:sym typeface="Symbol" pitchFamily="18" charset="2"/>
              </a:rPr>
              <a:t>O</a:t>
            </a:r>
            <a:r>
              <a:rPr kumimoji="1" lang="en-US" sz="2000"/>
              <a:t>(</a:t>
            </a:r>
            <a:r>
              <a:rPr kumimoji="1" lang="en-US" sz="2000" i="1"/>
              <a:t>g</a:t>
            </a:r>
            <a:r>
              <a:rPr kumimoji="1" lang="en-US" sz="2000"/>
              <a:t>(</a:t>
            </a:r>
            <a:r>
              <a:rPr kumimoji="1" lang="en-US" sz="2000" i="1"/>
              <a:t>n</a:t>
            </a:r>
            <a:r>
              <a:rPr kumimoji="1" lang="en-US" sz="2000"/>
              <a:t>)), big-O of </a:t>
            </a:r>
            <a:r>
              <a:rPr kumimoji="1" lang="en-US" sz="2000" i="1"/>
              <a:t>n</a:t>
            </a:r>
            <a:r>
              <a:rPr kumimoji="1" lang="en-US" sz="2000"/>
              <a:t>, as the set:</a:t>
            </a:r>
          </a:p>
        </p:txBody>
      </p:sp>
      <p:sp>
        <p:nvSpPr>
          <p:cNvPr id="80902" name="Rectangle 10"/>
          <p:cNvSpPr>
            <a:spLocks noChangeArrowheads="1"/>
          </p:cNvSpPr>
          <p:nvPr/>
        </p:nvSpPr>
        <p:spPr bwMode="auto">
          <a:xfrm>
            <a:off x="171450" y="5160963"/>
            <a:ext cx="5721350" cy="400050"/>
          </a:xfrm>
          <a:prstGeom prst="rect">
            <a:avLst/>
          </a:prstGeom>
          <a:noFill/>
          <a:ln w="28575" cap="sq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sz="2000" b="1" i="1"/>
              <a:t>g</a:t>
            </a:r>
            <a:r>
              <a:rPr kumimoji="1" lang="en-US" sz="2000" b="1"/>
              <a:t>(</a:t>
            </a:r>
            <a:r>
              <a:rPr kumimoji="1" lang="en-US" sz="2000" b="1" i="1"/>
              <a:t>n</a:t>
            </a:r>
            <a:r>
              <a:rPr kumimoji="1" lang="en-US" sz="2000" b="1"/>
              <a:t>) is an </a:t>
            </a:r>
            <a:r>
              <a:rPr kumimoji="1" lang="en-US" sz="2000" b="1" i="1"/>
              <a:t>asymptotic upper bound</a:t>
            </a:r>
            <a:r>
              <a:rPr kumimoji="1" lang="en-US" sz="2000" b="1"/>
              <a:t> for </a:t>
            </a:r>
            <a:r>
              <a:rPr kumimoji="1" lang="en-US" sz="2000" b="1" i="1"/>
              <a:t>f</a:t>
            </a:r>
            <a:r>
              <a:rPr kumimoji="1" lang="en-US" sz="2000" b="1"/>
              <a:t>(</a:t>
            </a:r>
            <a:r>
              <a:rPr kumimoji="1" lang="en-US" sz="2000" b="1" i="1"/>
              <a:t>n</a:t>
            </a:r>
            <a:r>
              <a:rPr kumimoji="1" lang="en-US" sz="2000" b="1"/>
              <a:t>).</a:t>
            </a:r>
          </a:p>
        </p:txBody>
      </p:sp>
      <p:sp>
        <p:nvSpPr>
          <p:cNvPr id="80903" name="Text Box 11"/>
          <p:cNvSpPr txBox="1">
            <a:spLocks noChangeArrowheads="1"/>
          </p:cNvSpPr>
          <p:nvPr/>
        </p:nvSpPr>
        <p:spPr bwMode="auto">
          <a:xfrm>
            <a:off x="171450" y="3905250"/>
            <a:ext cx="4549775" cy="10160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sz="2000" b="1" i="1"/>
              <a:t>Intuitively</a:t>
            </a:r>
            <a:r>
              <a:rPr lang="en-US" sz="2000"/>
              <a:t>: Set of all functions whose </a:t>
            </a:r>
            <a:r>
              <a:rPr lang="en-US" sz="2000" i="1"/>
              <a:t>rate of growth</a:t>
            </a:r>
            <a:r>
              <a:rPr lang="en-US" sz="2000"/>
              <a:t> is the same as or lower than that of </a:t>
            </a:r>
            <a:r>
              <a:rPr lang="en-US" sz="2000" i="1"/>
              <a:t>g</a:t>
            </a:r>
            <a:r>
              <a:rPr lang="en-US" sz="2000"/>
              <a:t>(</a:t>
            </a:r>
            <a:r>
              <a:rPr lang="en-US" sz="2000" i="1"/>
              <a:t>n</a:t>
            </a:r>
            <a:r>
              <a:rPr lang="en-US" sz="2000"/>
              <a:t>).</a:t>
            </a:r>
          </a:p>
        </p:txBody>
      </p:sp>
      <p:sp>
        <p:nvSpPr>
          <p:cNvPr id="80904" name="Text Box 12"/>
          <p:cNvSpPr txBox="1">
            <a:spLocks noChangeArrowheads="1"/>
          </p:cNvSpPr>
          <p:nvPr/>
        </p:nvSpPr>
        <p:spPr bwMode="auto">
          <a:xfrm>
            <a:off x="263525" y="5649913"/>
            <a:ext cx="4549775" cy="7080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sz="2000" b="1" i="1"/>
              <a:t>f</a:t>
            </a:r>
            <a:r>
              <a:rPr lang="en-US" sz="2000" b="1"/>
              <a:t>(</a:t>
            </a:r>
            <a:r>
              <a:rPr lang="en-US" sz="2000" b="1" i="1"/>
              <a:t>n</a:t>
            </a:r>
            <a:r>
              <a:rPr lang="en-US" sz="2000" b="1"/>
              <a:t>) = </a:t>
            </a:r>
            <a:r>
              <a:rPr lang="en-US" sz="2000" b="1">
                <a:sym typeface="Symbol" pitchFamily="18" charset="2"/>
              </a:rPr>
              <a:t>(</a:t>
            </a:r>
            <a:r>
              <a:rPr lang="en-US" sz="2000" b="1" i="1">
                <a:sym typeface="Symbol" pitchFamily="18" charset="2"/>
              </a:rPr>
              <a:t>g</a:t>
            </a:r>
            <a:r>
              <a:rPr lang="en-US" sz="2000" b="1">
                <a:sym typeface="Symbol" pitchFamily="18" charset="2"/>
              </a:rPr>
              <a:t>(</a:t>
            </a:r>
            <a:r>
              <a:rPr lang="en-US" sz="2000" b="1" i="1">
                <a:sym typeface="Symbol" pitchFamily="18" charset="2"/>
              </a:rPr>
              <a:t>n</a:t>
            </a:r>
            <a:r>
              <a:rPr lang="en-US" sz="2000" b="1">
                <a:sym typeface="Symbol" pitchFamily="18" charset="2"/>
              </a:rPr>
              <a:t>))  </a:t>
            </a:r>
            <a:r>
              <a:rPr lang="en-US" sz="2000" b="1" i="1"/>
              <a:t>f</a:t>
            </a:r>
            <a:r>
              <a:rPr lang="en-US" sz="2000" b="1"/>
              <a:t>(</a:t>
            </a:r>
            <a:r>
              <a:rPr lang="en-US" sz="2000" b="1" i="1"/>
              <a:t>n</a:t>
            </a:r>
            <a:r>
              <a:rPr lang="en-US" sz="2000" b="1"/>
              <a:t>) = </a:t>
            </a:r>
            <a:r>
              <a:rPr lang="en-US" sz="2000" b="1" i="1">
                <a:sym typeface="Symbol" pitchFamily="18" charset="2"/>
              </a:rPr>
              <a:t>O</a:t>
            </a:r>
            <a:r>
              <a:rPr lang="en-US" sz="2000" b="1">
                <a:sym typeface="Symbol" pitchFamily="18" charset="2"/>
              </a:rPr>
              <a:t>(</a:t>
            </a:r>
            <a:r>
              <a:rPr lang="en-US" sz="2000" b="1" i="1">
                <a:sym typeface="Symbol" pitchFamily="18" charset="2"/>
              </a:rPr>
              <a:t>g</a:t>
            </a:r>
            <a:r>
              <a:rPr lang="en-US" sz="2000" b="1">
                <a:sym typeface="Symbol" pitchFamily="18" charset="2"/>
              </a:rPr>
              <a:t>(</a:t>
            </a:r>
            <a:r>
              <a:rPr lang="en-US" sz="2000" b="1" i="1">
                <a:sym typeface="Symbol" pitchFamily="18" charset="2"/>
              </a:rPr>
              <a:t>n</a:t>
            </a:r>
            <a:r>
              <a:rPr lang="en-US" sz="2000" b="1">
                <a:sym typeface="Symbol" pitchFamily="18" charset="2"/>
              </a:rPr>
              <a:t>)).</a:t>
            </a:r>
          </a:p>
          <a:p>
            <a:r>
              <a:rPr lang="en-US" sz="2000" b="1">
                <a:sym typeface="Symbol" pitchFamily="18" charset="2"/>
              </a:rPr>
              <a:t>(</a:t>
            </a:r>
            <a:r>
              <a:rPr lang="en-US" sz="2000" b="1" i="1">
                <a:sym typeface="Symbol" pitchFamily="18" charset="2"/>
              </a:rPr>
              <a:t>g</a:t>
            </a:r>
            <a:r>
              <a:rPr lang="en-US" sz="2000" b="1">
                <a:sym typeface="Symbol" pitchFamily="18" charset="2"/>
              </a:rPr>
              <a:t>(</a:t>
            </a:r>
            <a:r>
              <a:rPr lang="en-US" sz="2000" b="1" i="1">
                <a:sym typeface="Symbol" pitchFamily="18" charset="2"/>
              </a:rPr>
              <a:t>n</a:t>
            </a:r>
            <a:r>
              <a:rPr lang="en-US" sz="2000" b="1">
                <a:sym typeface="Symbol" pitchFamily="18" charset="2"/>
              </a:rPr>
              <a:t>))   </a:t>
            </a:r>
            <a:r>
              <a:rPr lang="en-US" sz="2000" b="1" i="1">
                <a:sym typeface="Symbol" pitchFamily="18" charset="2"/>
              </a:rPr>
              <a:t>O</a:t>
            </a:r>
            <a:r>
              <a:rPr lang="en-US" sz="2000" b="1">
                <a:sym typeface="Symbol" pitchFamily="18" charset="2"/>
              </a:rPr>
              <a:t>(</a:t>
            </a:r>
            <a:r>
              <a:rPr lang="en-US" sz="2000" b="1" i="1">
                <a:sym typeface="Symbol" pitchFamily="18" charset="2"/>
              </a:rPr>
              <a:t>g</a:t>
            </a:r>
            <a:r>
              <a:rPr lang="en-US" sz="2000" b="1">
                <a:sym typeface="Symbol" pitchFamily="18" charset="2"/>
              </a:rPr>
              <a:t>(</a:t>
            </a:r>
            <a:r>
              <a:rPr lang="en-US" sz="2000" b="1" i="1">
                <a:sym typeface="Symbol" pitchFamily="18" charset="2"/>
              </a:rPr>
              <a:t>n</a:t>
            </a:r>
            <a:r>
              <a:rPr lang="en-US" sz="2000" b="1">
                <a:sym typeface="Symbol" pitchFamily="18" charset="2"/>
              </a:rPr>
              <a:t>)).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400" smtClean="0">
                <a:sym typeface="Symbol" pitchFamily="18" charset="2"/>
              </a:rPr>
              <a:t>Examples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2422525"/>
            <a:ext cx="8458200" cy="3673475"/>
          </a:xfrm>
        </p:spPr>
        <p:txBody>
          <a:bodyPr/>
          <a:lstStyle/>
          <a:p>
            <a:pPr eaLnBrk="1" hangingPunct="1"/>
            <a:r>
              <a:rPr lang="en-US" sz="2400" smtClean="0"/>
              <a:t>Any linear </a:t>
            </a:r>
            <a:r>
              <a:rPr lang="en-US" sz="2400" i="1" smtClean="0"/>
              <a:t>function</a:t>
            </a:r>
            <a:r>
              <a:rPr lang="en-US" sz="2400" smtClean="0"/>
              <a:t> </a:t>
            </a:r>
            <a:r>
              <a:rPr lang="en-US" sz="2400" i="1" smtClean="0"/>
              <a:t>an</a:t>
            </a:r>
            <a:r>
              <a:rPr lang="en-US" sz="2400" smtClean="0"/>
              <a:t> + </a:t>
            </a:r>
            <a:r>
              <a:rPr lang="en-US" sz="2400" i="1" smtClean="0"/>
              <a:t>b</a:t>
            </a:r>
            <a:r>
              <a:rPr lang="en-US" sz="2400" smtClean="0"/>
              <a:t> is in </a:t>
            </a:r>
            <a:r>
              <a:rPr lang="en-US" sz="2400" i="1" smtClean="0"/>
              <a:t>O</a:t>
            </a:r>
            <a:r>
              <a:rPr lang="en-US" sz="2400" smtClean="0"/>
              <a:t>(</a:t>
            </a:r>
            <a:r>
              <a:rPr lang="en-US" sz="2400" i="1" smtClean="0"/>
              <a:t>n</a:t>
            </a:r>
            <a:r>
              <a:rPr lang="en-US" sz="2400" baseline="30000" smtClean="0"/>
              <a:t>2</a:t>
            </a:r>
            <a:r>
              <a:rPr lang="en-US" sz="2400" smtClean="0"/>
              <a:t>). </a:t>
            </a:r>
            <a:r>
              <a:rPr lang="en-US" sz="2400" b="1" u="sng" smtClean="0"/>
              <a:t>How?</a:t>
            </a:r>
            <a:endParaRPr lang="en-US" sz="2400" u="sng" smtClean="0"/>
          </a:p>
          <a:p>
            <a:pPr eaLnBrk="1" hangingPunct="1"/>
            <a:r>
              <a:rPr lang="en-US" sz="2400" smtClean="0"/>
              <a:t>Show that 3</a:t>
            </a:r>
            <a:r>
              <a:rPr lang="en-US" sz="2400" i="1" smtClean="0"/>
              <a:t>n</a:t>
            </a:r>
            <a:r>
              <a:rPr lang="en-US" sz="2400" baseline="30000" smtClean="0"/>
              <a:t>3</a:t>
            </a:r>
            <a:r>
              <a:rPr lang="en-US" sz="2400" smtClean="0"/>
              <a:t>=</a:t>
            </a:r>
            <a:r>
              <a:rPr lang="en-US" sz="2400" i="1" smtClean="0"/>
              <a:t>O</a:t>
            </a:r>
            <a:r>
              <a:rPr lang="en-US" sz="2400" smtClean="0"/>
              <a:t>(</a:t>
            </a:r>
            <a:r>
              <a:rPr lang="en-US" sz="2400" i="1" smtClean="0"/>
              <a:t>n</a:t>
            </a:r>
            <a:r>
              <a:rPr lang="en-US" sz="2400" baseline="30000" smtClean="0"/>
              <a:t>4</a:t>
            </a:r>
            <a:r>
              <a:rPr lang="en-US" sz="2400" smtClean="0"/>
              <a:t>) for appropriate </a:t>
            </a:r>
            <a:r>
              <a:rPr lang="en-US" sz="2400" i="1" smtClean="0"/>
              <a:t>c </a:t>
            </a:r>
            <a:r>
              <a:rPr lang="en-US" sz="2400" smtClean="0"/>
              <a:t>and </a:t>
            </a:r>
            <a:r>
              <a:rPr lang="en-US" sz="2400" i="1" smtClean="0"/>
              <a:t>n</a:t>
            </a:r>
            <a:r>
              <a:rPr lang="en-US" sz="2400" baseline="-25000" smtClean="0"/>
              <a:t>0</a:t>
            </a:r>
            <a:r>
              <a:rPr lang="en-US" sz="2400" smtClean="0"/>
              <a:t>.</a:t>
            </a:r>
          </a:p>
          <a:p>
            <a:pPr eaLnBrk="1" hangingPunct="1"/>
            <a:endParaRPr lang="en-US" sz="2400" smtClean="0"/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690563" y="1219200"/>
            <a:ext cx="7645400" cy="830263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sz="2400" b="1" i="1">
                <a:sym typeface="Symbol" pitchFamily="18" charset="2"/>
              </a:rPr>
              <a:t>O</a:t>
            </a:r>
            <a:r>
              <a:rPr kumimoji="1" lang="en-US" sz="2400" b="1"/>
              <a:t>(</a:t>
            </a:r>
            <a:r>
              <a:rPr kumimoji="1" lang="en-US" sz="2400" b="1" i="1"/>
              <a:t>g</a:t>
            </a:r>
            <a:r>
              <a:rPr kumimoji="1" lang="en-US" sz="2400" b="1"/>
              <a:t>(</a:t>
            </a:r>
            <a:r>
              <a:rPr kumimoji="1" lang="en-US" sz="2400" b="1" i="1"/>
              <a:t>n</a:t>
            </a:r>
            <a:r>
              <a:rPr kumimoji="1" lang="en-US" sz="2400" b="1"/>
              <a:t>)) = {</a:t>
            </a:r>
            <a:r>
              <a:rPr kumimoji="1" lang="en-US" sz="2400" b="1" i="1"/>
              <a:t>f</a:t>
            </a:r>
            <a:r>
              <a:rPr kumimoji="1" lang="en-US" sz="2400" b="1"/>
              <a:t>(</a:t>
            </a:r>
            <a:r>
              <a:rPr kumimoji="1" lang="en-US" sz="2400" b="1" i="1"/>
              <a:t>n</a:t>
            </a:r>
            <a:r>
              <a:rPr kumimoji="1" lang="en-US" sz="2400" b="1"/>
              <a:t>) : </a:t>
            </a:r>
            <a:r>
              <a:rPr kumimoji="1" lang="en-US" sz="2400" b="1">
                <a:sym typeface="Symbol" pitchFamily="18" charset="2"/>
              </a:rPr>
              <a:t> </a:t>
            </a:r>
            <a:r>
              <a:rPr kumimoji="1" lang="en-US" sz="2400" b="1"/>
              <a:t>positive constants </a:t>
            </a:r>
            <a:r>
              <a:rPr kumimoji="1" lang="en-US" sz="2400" b="1" i="1"/>
              <a:t>c</a:t>
            </a:r>
            <a:r>
              <a:rPr kumimoji="1" lang="en-US" sz="2400" b="1"/>
              <a:t> and </a:t>
            </a:r>
            <a:r>
              <a:rPr kumimoji="1" lang="en-US" sz="2400" b="1" i="1"/>
              <a:t>n</a:t>
            </a:r>
            <a:r>
              <a:rPr kumimoji="1" lang="en-US" sz="2400" b="1" baseline="-25000"/>
              <a:t>0</a:t>
            </a:r>
            <a:r>
              <a:rPr kumimoji="1" lang="en-US" sz="2400" b="1"/>
              <a:t>, such that </a:t>
            </a:r>
            <a:r>
              <a:rPr kumimoji="1" lang="en-US" sz="2400" b="1">
                <a:sym typeface="Symbol" pitchFamily="18" charset="2"/>
              </a:rPr>
              <a:t></a:t>
            </a:r>
            <a:r>
              <a:rPr kumimoji="1" lang="en-US" sz="2400" b="1" i="1"/>
              <a:t>n </a:t>
            </a:r>
            <a:r>
              <a:rPr kumimoji="1" lang="en-US" sz="2400" b="1">
                <a:sym typeface="Symbol" pitchFamily="18" charset="2"/>
              </a:rPr>
              <a:t></a:t>
            </a:r>
            <a:r>
              <a:rPr kumimoji="1" lang="en-US" sz="2400" b="1" i="1"/>
              <a:t>  n</a:t>
            </a:r>
            <a:r>
              <a:rPr kumimoji="1" lang="en-US" sz="2400" b="1" baseline="-25000"/>
              <a:t>0</a:t>
            </a:r>
            <a:r>
              <a:rPr kumimoji="1" lang="en-US" sz="2400"/>
              <a:t>, </a:t>
            </a:r>
            <a:r>
              <a:rPr kumimoji="1" lang="en-US" sz="2400" b="1"/>
              <a:t>we have 0 </a:t>
            </a:r>
            <a:r>
              <a:rPr kumimoji="1" lang="en-US" sz="2400" b="1">
                <a:sym typeface="Symbol" pitchFamily="18" charset="2"/>
              </a:rPr>
              <a:t></a:t>
            </a:r>
            <a:r>
              <a:rPr kumimoji="1" lang="en-US" sz="2400" b="1"/>
              <a:t>  </a:t>
            </a:r>
            <a:r>
              <a:rPr kumimoji="1" lang="en-US" sz="2400" b="1" i="1"/>
              <a:t>f</a:t>
            </a:r>
            <a:r>
              <a:rPr kumimoji="1" lang="en-US" sz="2400" b="1"/>
              <a:t>(</a:t>
            </a:r>
            <a:r>
              <a:rPr kumimoji="1" lang="en-US" sz="2400" b="1" i="1"/>
              <a:t>n</a:t>
            </a:r>
            <a:r>
              <a:rPr kumimoji="1" lang="en-US" sz="2400" b="1"/>
              <a:t>)</a:t>
            </a:r>
            <a:r>
              <a:rPr kumimoji="1" lang="en-US" sz="2400" b="1" i="1"/>
              <a:t> </a:t>
            </a:r>
            <a:r>
              <a:rPr kumimoji="1" lang="en-US" sz="2400" b="1">
                <a:sym typeface="Symbol" pitchFamily="18" charset="2"/>
              </a:rPr>
              <a:t></a:t>
            </a:r>
            <a:r>
              <a:rPr kumimoji="1" lang="en-US" sz="2400" b="1"/>
              <a:t> c</a:t>
            </a:r>
            <a:r>
              <a:rPr kumimoji="1" lang="en-US" sz="2400" b="1" i="1"/>
              <a:t>g</a:t>
            </a:r>
            <a:r>
              <a:rPr kumimoji="1" lang="en-US" sz="2400" b="1"/>
              <a:t>(</a:t>
            </a:r>
            <a:r>
              <a:rPr kumimoji="1" lang="en-US" sz="2400" b="1" i="1"/>
              <a:t>n</a:t>
            </a:r>
            <a:r>
              <a:rPr kumimoji="1" lang="en-US" sz="2400" b="1"/>
              <a:t>) }</a:t>
            </a:r>
            <a:endParaRPr kumimoji="1" lang="en-US" sz="24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000" smtClean="0">
                <a:sym typeface="Symbol" pitchFamily="18" charset="2"/>
              </a:rPr>
              <a:t> -notation</a:t>
            </a:r>
          </a:p>
        </p:txBody>
      </p:sp>
      <p:sp>
        <p:nvSpPr>
          <p:cNvPr id="82947" name="Rectangle 6"/>
          <p:cNvSpPr>
            <a:spLocks noChangeArrowheads="1"/>
          </p:cNvSpPr>
          <p:nvPr/>
        </p:nvSpPr>
        <p:spPr bwMode="auto">
          <a:xfrm>
            <a:off x="263525" y="5106988"/>
            <a:ext cx="5697538" cy="400050"/>
          </a:xfrm>
          <a:prstGeom prst="rect">
            <a:avLst/>
          </a:prstGeom>
          <a:noFill/>
          <a:ln w="28575" cap="sq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sz="2000" b="1" i="1"/>
              <a:t>g</a:t>
            </a:r>
            <a:r>
              <a:rPr kumimoji="1" lang="en-US" sz="2000" b="1"/>
              <a:t>(</a:t>
            </a:r>
            <a:r>
              <a:rPr kumimoji="1" lang="en-US" sz="2000" b="1" i="1"/>
              <a:t>n</a:t>
            </a:r>
            <a:r>
              <a:rPr kumimoji="1" lang="en-US" sz="2000" b="1"/>
              <a:t>) is an </a:t>
            </a:r>
            <a:r>
              <a:rPr kumimoji="1" lang="en-US" sz="2000" b="1" i="1"/>
              <a:t>asymptotic lower bound</a:t>
            </a:r>
            <a:r>
              <a:rPr kumimoji="1" lang="en-US" sz="2000" b="1"/>
              <a:t> for </a:t>
            </a:r>
            <a:r>
              <a:rPr kumimoji="1" lang="en-US" sz="2000" b="1" i="1"/>
              <a:t>f</a:t>
            </a:r>
            <a:r>
              <a:rPr kumimoji="1" lang="en-US" sz="2000" b="1"/>
              <a:t>(</a:t>
            </a:r>
            <a:r>
              <a:rPr kumimoji="1" lang="en-US" sz="2000" b="1" i="1"/>
              <a:t>n</a:t>
            </a:r>
            <a:r>
              <a:rPr kumimoji="1" lang="en-US" sz="2000" b="1"/>
              <a:t>).</a:t>
            </a:r>
          </a:p>
        </p:txBody>
      </p:sp>
      <p:sp>
        <p:nvSpPr>
          <p:cNvPr id="82948" name="Text Box 7"/>
          <p:cNvSpPr txBox="1">
            <a:spLocks noChangeArrowheads="1"/>
          </p:cNvSpPr>
          <p:nvPr/>
        </p:nvSpPr>
        <p:spPr bwMode="auto">
          <a:xfrm>
            <a:off x="250825" y="3852863"/>
            <a:ext cx="4394200" cy="10160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sz="2000" b="1" i="1"/>
              <a:t>Intuitively</a:t>
            </a:r>
            <a:r>
              <a:rPr lang="en-US" sz="2000"/>
              <a:t>: Set of all functions whose </a:t>
            </a:r>
            <a:r>
              <a:rPr lang="en-US" sz="2000" i="1"/>
              <a:t>rate of growth</a:t>
            </a:r>
            <a:r>
              <a:rPr lang="en-US" sz="2000"/>
              <a:t> is the same as or higher than that of </a:t>
            </a:r>
            <a:r>
              <a:rPr lang="en-US" sz="2000" i="1"/>
              <a:t>g</a:t>
            </a:r>
            <a:r>
              <a:rPr lang="en-US" sz="2000"/>
              <a:t>(</a:t>
            </a:r>
            <a:r>
              <a:rPr lang="en-US" sz="2000" i="1"/>
              <a:t>n</a:t>
            </a:r>
            <a:r>
              <a:rPr lang="en-US" sz="2000"/>
              <a:t>).</a:t>
            </a:r>
          </a:p>
        </p:txBody>
      </p:sp>
      <p:pic>
        <p:nvPicPr>
          <p:cNvPr id="82949" name="Picture 10" descr="graph_Omeg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59375" y="1096963"/>
            <a:ext cx="3800475" cy="401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950" name="Text Box 11"/>
          <p:cNvSpPr txBox="1">
            <a:spLocks noChangeArrowheads="1"/>
          </p:cNvSpPr>
          <p:nvPr/>
        </p:nvSpPr>
        <p:spPr bwMode="auto">
          <a:xfrm>
            <a:off x="804863" y="5595938"/>
            <a:ext cx="4549775" cy="7080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sz="2000" b="1" i="1"/>
              <a:t>f</a:t>
            </a:r>
            <a:r>
              <a:rPr lang="en-US" sz="2000" b="1"/>
              <a:t>(</a:t>
            </a:r>
            <a:r>
              <a:rPr lang="en-US" sz="2000" b="1" i="1"/>
              <a:t>n</a:t>
            </a:r>
            <a:r>
              <a:rPr lang="en-US" sz="2000" b="1"/>
              <a:t>) = </a:t>
            </a:r>
            <a:r>
              <a:rPr lang="en-US" sz="2000" b="1">
                <a:sym typeface="Symbol" pitchFamily="18" charset="2"/>
              </a:rPr>
              <a:t>(</a:t>
            </a:r>
            <a:r>
              <a:rPr lang="en-US" sz="2000" b="1" i="1">
                <a:sym typeface="Symbol" pitchFamily="18" charset="2"/>
              </a:rPr>
              <a:t>g</a:t>
            </a:r>
            <a:r>
              <a:rPr lang="en-US" sz="2000" b="1">
                <a:sym typeface="Symbol" pitchFamily="18" charset="2"/>
              </a:rPr>
              <a:t>(</a:t>
            </a:r>
            <a:r>
              <a:rPr lang="en-US" sz="2000" b="1" i="1">
                <a:sym typeface="Symbol" pitchFamily="18" charset="2"/>
              </a:rPr>
              <a:t>n</a:t>
            </a:r>
            <a:r>
              <a:rPr lang="en-US" sz="2000" b="1">
                <a:sym typeface="Symbol" pitchFamily="18" charset="2"/>
              </a:rPr>
              <a:t>))  </a:t>
            </a:r>
            <a:r>
              <a:rPr lang="en-US" sz="2000" b="1" i="1"/>
              <a:t>f</a:t>
            </a:r>
            <a:r>
              <a:rPr lang="en-US" sz="2000" b="1"/>
              <a:t>(</a:t>
            </a:r>
            <a:r>
              <a:rPr lang="en-US" sz="2000" b="1" i="1"/>
              <a:t>n</a:t>
            </a:r>
            <a:r>
              <a:rPr lang="en-US" sz="2000" b="1"/>
              <a:t>) = </a:t>
            </a:r>
            <a:r>
              <a:rPr lang="en-US" sz="2000" b="1">
                <a:sym typeface="Symbol" pitchFamily="18" charset="2"/>
              </a:rPr>
              <a:t>(</a:t>
            </a:r>
            <a:r>
              <a:rPr lang="en-US" sz="2000" b="1" i="1">
                <a:sym typeface="Symbol" pitchFamily="18" charset="2"/>
              </a:rPr>
              <a:t>g</a:t>
            </a:r>
            <a:r>
              <a:rPr lang="en-US" sz="2000" b="1">
                <a:sym typeface="Symbol" pitchFamily="18" charset="2"/>
              </a:rPr>
              <a:t>(</a:t>
            </a:r>
            <a:r>
              <a:rPr lang="en-US" sz="2000" b="1" i="1">
                <a:sym typeface="Symbol" pitchFamily="18" charset="2"/>
              </a:rPr>
              <a:t>n</a:t>
            </a:r>
            <a:r>
              <a:rPr lang="en-US" sz="2000" b="1">
                <a:sym typeface="Symbol" pitchFamily="18" charset="2"/>
              </a:rPr>
              <a:t>)).</a:t>
            </a:r>
          </a:p>
          <a:p>
            <a:r>
              <a:rPr lang="en-US" sz="2000" b="1">
                <a:sym typeface="Symbol" pitchFamily="18" charset="2"/>
              </a:rPr>
              <a:t>(</a:t>
            </a:r>
            <a:r>
              <a:rPr lang="en-US" sz="2000" b="1" i="1">
                <a:sym typeface="Symbol" pitchFamily="18" charset="2"/>
              </a:rPr>
              <a:t>g</a:t>
            </a:r>
            <a:r>
              <a:rPr lang="en-US" sz="2000" b="1">
                <a:sym typeface="Symbol" pitchFamily="18" charset="2"/>
              </a:rPr>
              <a:t>(</a:t>
            </a:r>
            <a:r>
              <a:rPr lang="en-US" sz="2000" b="1" i="1">
                <a:sym typeface="Symbol" pitchFamily="18" charset="2"/>
              </a:rPr>
              <a:t>n</a:t>
            </a:r>
            <a:r>
              <a:rPr lang="en-US" sz="2000" b="1">
                <a:sym typeface="Symbol" pitchFamily="18" charset="2"/>
              </a:rPr>
              <a:t>))   (</a:t>
            </a:r>
            <a:r>
              <a:rPr lang="en-US" sz="2000" b="1" i="1">
                <a:sym typeface="Symbol" pitchFamily="18" charset="2"/>
              </a:rPr>
              <a:t>g</a:t>
            </a:r>
            <a:r>
              <a:rPr lang="en-US" sz="2000" b="1">
                <a:sym typeface="Symbol" pitchFamily="18" charset="2"/>
              </a:rPr>
              <a:t>(</a:t>
            </a:r>
            <a:r>
              <a:rPr lang="en-US" sz="2000" b="1" i="1">
                <a:sym typeface="Symbol" pitchFamily="18" charset="2"/>
              </a:rPr>
              <a:t>n</a:t>
            </a:r>
            <a:r>
              <a:rPr lang="en-US" sz="2000" b="1">
                <a:sym typeface="Symbol" pitchFamily="18" charset="2"/>
              </a:rPr>
              <a:t>)).</a:t>
            </a:r>
          </a:p>
        </p:txBody>
      </p:sp>
      <p:sp>
        <p:nvSpPr>
          <p:cNvPr id="82951" name="Rectangle 12"/>
          <p:cNvSpPr>
            <a:spLocks noChangeArrowheads="1"/>
          </p:cNvSpPr>
          <p:nvPr/>
        </p:nvSpPr>
        <p:spPr bwMode="auto">
          <a:xfrm>
            <a:off x="250825" y="1954213"/>
            <a:ext cx="4870450" cy="1384300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2000" b="1">
                <a:sym typeface="Symbol" pitchFamily="18" charset="2"/>
              </a:rPr>
              <a:t></a:t>
            </a:r>
            <a:r>
              <a:rPr kumimoji="1" lang="en-US" sz="2000" b="1"/>
              <a:t>(</a:t>
            </a:r>
            <a:r>
              <a:rPr kumimoji="1" lang="en-US" sz="2000" b="1" i="1"/>
              <a:t>g</a:t>
            </a:r>
            <a:r>
              <a:rPr kumimoji="1" lang="en-US" sz="2000" b="1"/>
              <a:t>(</a:t>
            </a:r>
            <a:r>
              <a:rPr kumimoji="1" lang="en-US" sz="2000" b="1" i="1"/>
              <a:t>n</a:t>
            </a:r>
            <a:r>
              <a:rPr kumimoji="1" lang="en-US" sz="2000" b="1"/>
              <a:t>)) = {</a:t>
            </a:r>
            <a:r>
              <a:rPr kumimoji="1" lang="en-US" sz="2000" b="1" i="1"/>
              <a:t>f</a:t>
            </a:r>
            <a:r>
              <a:rPr kumimoji="1" lang="en-US" sz="2000" b="1"/>
              <a:t>(</a:t>
            </a:r>
            <a:r>
              <a:rPr kumimoji="1" lang="en-US" sz="2000" b="1" i="1"/>
              <a:t>n</a:t>
            </a:r>
            <a:r>
              <a:rPr kumimoji="1" lang="en-US" sz="2000" b="1"/>
              <a:t>) : </a:t>
            </a:r>
            <a:br>
              <a:rPr kumimoji="1" lang="en-US" sz="2000" b="1"/>
            </a:br>
            <a:r>
              <a:rPr kumimoji="1" lang="en-US" sz="2000" b="1">
                <a:sym typeface="Symbol" pitchFamily="18" charset="2"/>
              </a:rPr>
              <a:t> </a:t>
            </a:r>
            <a:r>
              <a:rPr kumimoji="1" lang="en-US" sz="2000" b="1"/>
              <a:t>positive constants </a:t>
            </a:r>
            <a:r>
              <a:rPr kumimoji="1" lang="en-US" sz="2000" b="1" i="1"/>
              <a:t>c</a:t>
            </a:r>
            <a:r>
              <a:rPr kumimoji="1" lang="en-US" sz="2000" b="1"/>
              <a:t> and </a:t>
            </a:r>
            <a:r>
              <a:rPr kumimoji="1" lang="en-US" sz="2000" b="1" i="1"/>
              <a:t>n</a:t>
            </a:r>
            <a:r>
              <a:rPr kumimoji="1" lang="en-US" sz="2000" b="1" baseline="-25000"/>
              <a:t>0,</a:t>
            </a:r>
            <a:r>
              <a:rPr kumimoji="1" lang="en-US" sz="2000" b="1"/>
              <a:t> such that </a:t>
            </a:r>
            <a:r>
              <a:rPr kumimoji="1" lang="en-US" sz="2000" b="1">
                <a:sym typeface="Symbol" pitchFamily="18" charset="2"/>
              </a:rPr>
              <a:t></a:t>
            </a:r>
            <a:r>
              <a:rPr kumimoji="1" lang="en-US" sz="2000" b="1" i="1"/>
              <a:t>n </a:t>
            </a:r>
            <a:r>
              <a:rPr kumimoji="1" lang="en-US" sz="2000" b="1">
                <a:sym typeface="Symbol" pitchFamily="18" charset="2"/>
              </a:rPr>
              <a:t></a:t>
            </a:r>
            <a:r>
              <a:rPr kumimoji="1" lang="en-US" sz="2000" b="1" i="1"/>
              <a:t>  n</a:t>
            </a:r>
            <a:r>
              <a:rPr kumimoji="1" lang="en-US" sz="2000" b="1" baseline="-25000"/>
              <a:t>0</a:t>
            </a:r>
            <a:r>
              <a:rPr kumimoji="1" lang="en-US" sz="2000"/>
              <a:t>,</a:t>
            </a:r>
            <a:endParaRPr kumimoji="1" lang="en-US" sz="2000" b="1"/>
          </a:p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2000" b="1"/>
              <a:t>we have 0 </a:t>
            </a:r>
            <a:r>
              <a:rPr kumimoji="1" lang="en-US" sz="2000" b="1">
                <a:sym typeface="Symbol" pitchFamily="18" charset="2"/>
              </a:rPr>
              <a:t></a:t>
            </a:r>
            <a:r>
              <a:rPr kumimoji="1" lang="en-US" sz="2000" b="1"/>
              <a:t> c</a:t>
            </a:r>
            <a:r>
              <a:rPr kumimoji="1" lang="en-US" sz="2000" b="1" i="1"/>
              <a:t>g</a:t>
            </a:r>
            <a:r>
              <a:rPr kumimoji="1" lang="en-US" sz="2000" b="1"/>
              <a:t>(</a:t>
            </a:r>
            <a:r>
              <a:rPr kumimoji="1" lang="en-US" sz="2000" b="1" i="1"/>
              <a:t>n</a:t>
            </a:r>
            <a:r>
              <a:rPr kumimoji="1" lang="en-US" sz="2000" b="1"/>
              <a:t>)</a:t>
            </a:r>
            <a:r>
              <a:rPr kumimoji="1" lang="en-US" sz="2000"/>
              <a:t> </a:t>
            </a:r>
            <a:r>
              <a:rPr kumimoji="1" lang="en-US" sz="2000" b="1">
                <a:sym typeface="Symbol" pitchFamily="18" charset="2"/>
              </a:rPr>
              <a:t> </a:t>
            </a:r>
            <a:r>
              <a:rPr kumimoji="1" lang="en-US" sz="2000" b="1" i="1"/>
              <a:t>f</a:t>
            </a:r>
            <a:r>
              <a:rPr kumimoji="1" lang="en-US" sz="2000" b="1"/>
              <a:t>(</a:t>
            </a:r>
            <a:r>
              <a:rPr kumimoji="1" lang="en-US" sz="2000" b="1" i="1"/>
              <a:t>n</a:t>
            </a:r>
            <a:r>
              <a:rPr kumimoji="1" lang="en-US" sz="2000" b="1"/>
              <a:t>)}</a:t>
            </a:r>
          </a:p>
        </p:txBody>
      </p:sp>
      <p:sp>
        <p:nvSpPr>
          <p:cNvPr id="82952" name="Rectangle 13"/>
          <p:cNvSpPr>
            <a:spLocks noChangeArrowheads="1"/>
          </p:cNvSpPr>
          <p:nvPr/>
        </p:nvSpPr>
        <p:spPr bwMode="auto">
          <a:xfrm>
            <a:off x="263525" y="1068388"/>
            <a:ext cx="5197475" cy="708025"/>
          </a:xfrm>
          <a:prstGeom prst="rect">
            <a:avLst/>
          </a:prstGeom>
          <a:noFill/>
          <a:ln w="28575" cap="sq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2000"/>
              <a:t>For function </a:t>
            </a:r>
            <a:r>
              <a:rPr kumimoji="1" lang="en-US" sz="2000" i="1"/>
              <a:t>g</a:t>
            </a:r>
            <a:r>
              <a:rPr kumimoji="1" lang="en-US" sz="2000"/>
              <a:t>(</a:t>
            </a:r>
            <a:r>
              <a:rPr kumimoji="1" lang="en-US" sz="2000" i="1"/>
              <a:t>n</a:t>
            </a:r>
            <a:r>
              <a:rPr kumimoji="1" lang="en-US" sz="2000"/>
              <a:t>), we define </a:t>
            </a:r>
            <a:r>
              <a:rPr lang="en-US" sz="2000">
                <a:sym typeface="Symbol" pitchFamily="18" charset="2"/>
              </a:rPr>
              <a:t></a:t>
            </a:r>
            <a:r>
              <a:rPr kumimoji="1" lang="en-US" sz="2000"/>
              <a:t>(</a:t>
            </a:r>
            <a:r>
              <a:rPr kumimoji="1" lang="en-US" sz="2000" i="1"/>
              <a:t>g</a:t>
            </a:r>
            <a:r>
              <a:rPr kumimoji="1" lang="en-US" sz="2000"/>
              <a:t>(</a:t>
            </a:r>
            <a:r>
              <a:rPr kumimoji="1" lang="en-US" sz="2000" i="1"/>
              <a:t>n</a:t>
            </a:r>
            <a:r>
              <a:rPr kumimoji="1" lang="en-US" sz="2000"/>
              <a:t>)), big-Omega of </a:t>
            </a:r>
            <a:r>
              <a:rPr kumimoji="1" lang="en-US" sz="2000" i="1"/>
              <a:t>n</a:t>
            </a:r>
            <a:r>
              <a:rPr kumimoji="1" lang="en-US" sz="2000"/>
              <a:t>, as the set: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smtClean="0">
              <a:sym typeface="Symbol" pitchFamily="18" charset="2"/>
            </a:endParaRPr>
          </a:p>
          <a:p>
            <a:pPr eaLnBrk="1" hangingPunct="1"/>
            <a:endParaRPr lang="en-US" smtClean="0">
              <a:sym typeface="Symbol" pitchFamily="18" charset="2"/>
            </a:endParaRPr>
          </a:p>
          <a:p>
            <a:pPr eaLnBrk="1" hangingPunct="1"/>
            <a:r>
              <a:rPr lang="en-US" smtClean="0">
                <a:sym typeface="Symbol" pitchFamily="18" charset="2"/>
              </a:rPr>
              <a:t>n = </a:t>
            </a:r>
            <a:r>
              <a:rPr lang="el-GR" smtClean="0">
                <a:sym typeface="Symbol" pitchFamily="18" charset="2"/>
              </a:rPr>
              <a:t></a:t>
            </a:r>
            <a:r>
              <a:rPr lang="en-US" smtClean="0">
                <a:sym typeface="Symbol" pitchFamily="18" charset="2"/>
              </a:rPr>
              <a:t>(lg </a:t>
            </a:r>
            <a:r>
              <a:rPr lang="en-US" i="1" smtClean="0">
                <a:sym typeface="Symbol" pitchFamily="18" charset="2"/>
              </a:rPr>
              <a:t>n</a:t>
            </a:r>
            <a:r>
              <a:rPr lang="en-US" smtClean="0">
                <a:sym typeface="Symbol" pitchFamily="18" charset="2"/>
              </a:rPr>
              <a:t>). Choose </a:t>
            </a:r>
            <a:r>
              <a:rPr lang="en-US" i="1" smtClean="0">
                <a:sym typeface="Symbol" pitchFamily="18" charset="2"/>
              </a:rPr>
              <a:t>c</a:t>
            </a:r>
            <a:r>
              <a:rPr lang="en-US" smtClean="0">
                <a:sym typeface="Symbol" pitchFamily="18" charset="2"/>
              </a:rPr>
              <a:t> and </a:t>
            </a:r>
            <a:r>
              <a:rPr lang="en-US" i="1" smtClean="0"/>
              <a:t>n</a:t>
            </a:r>
            <a:r>
              <a:rPr lang="en-US" baseline="-25000" smtClean="0"/>
              <a:t>0</a:t>
            </a:r>
            <a:r>
              <a:rPr lang="en-US" smtClean="0"/>
              <a:t>.</a:t>
            </a:r>
            <a:endParaRPr lang="el-GR" smtClean="0"/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660400" y="1219200"/>
            <a:ext cx="8102600" cy="965200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>
                <a:solidFill>
                  <a:schemeClr val="accent1"/>
                </a:solidFill>
                <a:sym typeface="Symbol" pitchFamily="18" charset="2"/>
              </a:rPr>
              <a:t></a:t>
            </a:r>
            <a:r>
              <a:rPr kumimoji="1" lang="en-US">
                <a:solidFill>
                  <a:schemeClr val="accent1"/>
                </a:solidFill>
              </a:rPr>
              <a:t>(</a:t>
            </a:r>
            <a:r>
              <a:rPr kumimoji="1" lang="en-US" i="1">
                <a:solidFill>
                  <a:schemeClr val="accent1"/>
                </a:solidFill>
              </a:rPr>
              <a:t>g</a:t>
            </a:r>
            <a:r>
              <a:rPr kumimoji="1" lang="en-US">
                <a:solidFill>
                  <a:schemeClr val="accent1"/>
                </a:solidFill>
              </a:rPr>
              <a:t>(</a:t>
            </a:r>
            <a:r>
              <a:rPr kumimoji="1" lang="en-US" i="1">
                <a:solidFill>
                  <a:schemeClr val="accent1"/>
                </a:solidFill>
              </a:rPr>
              <a:t>n</a:t>
            </a:r>
            <a:r>
              <a:rPr kumimoji="1" lang="en-US">
                <a:solidFill>
                  <a:schemeClr val="accent1"/>
                </a:solidFill>
              </a:rPr>
              <a:t>)) =</a:t>
            </a:r>
            <a:r>
              <a:rPr kumimoji="1" lang="en-US">
                <a:solidFill>
                  <a:schemeClr val="hlink"/>
                </a:solidFill>
              </a:rPr>
              <a:t> {</a:t>
            </a:r>
            <a:r>
              <a:rPr kumimoji="1" lang="en-US" i="1">
                <a:solidFill>
                  <a:schemeClr val="hlink"/>
                </a:solidFill>
              </a:rPr>
              <a:t>f</a:t>
            </a:r>
            <a:r>
              <a:rPr kumimoji="1" lang="en-US">
                <a:solidFill>
                  <a:schemeClr val="hlink"/>
                </a:solidFill>
              </a:rPr>
              <a:t>(</a:t>
            </a:r>
            <a:r>
              <a:rPr kumimoji="1" lang="en-US" i="1">
                <a:solidFill>
                  <a:schemeClr val="hlink"/>
                </a:solidFill>
              </a:rPr>
              <a:t>n</a:t>
            </a:r>
            <a:r>
              <a:rPr kumimoji="1" lang="en-US">
                <a:solidFill>
                  <a:schemeClr val="hlink"/>
                </a:solidFill>
              </a:rPr>
              <a:t>) : </a:t>
            </a:r>
            <a:r>
              <a:rPr kumimoji="1" lang="en-US">
                <a:solidFill>
                  <a:srgbClr val="FF3300"/>
                </a:solidFill>
                <a:sym typeface="Symbol" pitchFamily="18" charset="2"/>
              </a:rPr>
              <a:t> </a:t>
            </a:r>
            <a:r>
              <a:rPr kumimoji="1" lang="en-US">
                <a:solidFill>
                  <a:srgbClr val="FF3300"/>
                </a:solidFill>
              </a:rPr>
              <a:t>positive constants </a:t>
            </a:r>
            <a:r>
              <a:rPr kumimoji="1" lang="en-US" i="1">
                <a:solidFill>
                  <a:srgbClr val="FF3300"/>
                </a:solidFill>
              </a:rPr>
              <a:t>c</a:t>
            </a:r>
            <a:r>
              <a:rPr kumimoji="1" lang="en-US">
                <a:solidFill>
                  <a:srgbClr val="FF3300"/>
                </a:solidFill>
              </a:rPr>
              <a:t> and </a:t>
            </a:r>
            <a:r>
              <a:rPr kumimoji="1" lang="en-US" i="1">
                <a:solidFill>
                  <a:srgbClr val="FF3300"/>
                </a:solidFill>
              </a:rPr>
              <a:t>n</a:t>
            </a:r>
            <a:r>
              <a:rPr kumimoji="1" lang="en-US" baseline="-25000">
                <a:solidFill>
                  <a:srgbClr val="FF3300"/>
                </a:solidFill>
              </a:rPr>
              <a:t>0</a:t>
            </a:r>
            <a:r>
              <a:rPr kumimoji="1" lang="en-US">
                <a:solidFill>
                  <a:srgbClr val="FF3300"/>
                </a:solidFill>
              </a:rPr>
              <a:t>,</a:t>
            </a:r>
            <a:r>
              <a:rPr kumimoji="1" lang="en-US">
                <a:solidFill>
                  <a:schemeClr val="hlink"/>
                </a:solidFill>
              </a:rPr>
              <a:t> </a:t>
            </a:r>
            <a:r>
              <a:rPr kumimoji="1" lang="en-US">
                <a:solidFill>
                  <a:srgbClr val="CC0000"/>
                </a:solidFill>
              </a:rPr>
              <a:t>such that </a:t>
            </a:r>
            <a:r>
              <a:rPr kumimoji="1" lang="en-US">
                <a:solidFill>
                  <a:srgbClr val="CC0000"/>
                </a:solidFill>
                <a:sym typeface="Symbol" pitchFamily="18" charset="2"/>
              </a:rPr>
              <a:t></a:t>
            </a:r>
            <a:r>
              <a:rPr kumimoji="1" lang="en-US" i="1">
                <a:solidFill>
                  <a:srgbClr val="CC0000"/>
                </a:solidFill>
              </a:rPr>
              <a:t>n </a:t>
            </a:r>
            <a:r>
              <a:rPr kumimoji="1" lang="en-US">
                <a:solidFill>
                  <a:srgbClr val="CC0000"/>
                </a:solidFill>
                <a:sym typeface="Symbol" pitchFamily="18" charset="2"/>
              </a:rPr>
              <a:t></a:t>
            </a:r>
            <a:r>
              <a:rPr kumimoji="1" lang="en-US" i="1">
                <a:solidFill>
                  <a:srgbClr val="CC0000"/>
                </a:solidFill>
              </a:rPr>
              <a:t> n</a:t>
            </a:r>
            <a:r>
              <a:rPr kumimoji="1" lang="en-US" baseline="-25000">
                <a:solidFill>
                  <a:srgbClr val="CC0000"/>
                </a:solidFill>
              </a:rPr>
              <a:t>0</a:t>
            </a:r>
            <a:r>
              <a:rPr kumimoji="1" lang="en-US">
                <a:solidFill>
                  <a:srgbClr val="CC0000"/>
                </a:solidFill>
              </a:rPr>
              <a:t>, </a:t>
            </a:r>
            <a:r>
              <a:rPr kumimoji="1" lang="en-US">
                <a:solidFill>
                  <a:schemeClr val="hlink"/>
                </a:solidFill>
              </a:rPr>
              <a:t>we have 0 </a:t>
            </a:r>
            <a:r>
              <a:rPr kumimoji="1" lang="en-US">
                <a:solidFill>
                  <a:schemeClr val="hlink"/>
                </a:solidFill>
                <a:sym typeface="Symbol" pitchFamily="18" charset="2"/>
              </a:rPr>
              <a:t></a:t>
            </a:r>
            <a:r>
              <a:rPr kumimoji="1" lang="en-US">
                <a:solidFill>
                  <a:schemeClr val="hlink"/>
                </a:solidFill>
              </a:rPr>
              <a:t> c</a:t>
            </a:r>
            <a:r>
              <a:rPr kumimoji="1" lang="en-US" i="1">
                <a:solidFill>
                  <a:schemeClr val="hlink"/>
                </a:solidFill>
              </a:rPr>
              <a:t>g</a:t>
            </a:r>
            <a:r>
              <a:rPr kumimoji="1" lang="en-US">
                <a:solidFill>
                  <a:schemeClr val="hlink"/>
                </a:solidFill>
              </a:rPr>
              <a:t>(</a:t>
            </a:r>
            <a:r>
              <a:rPr kumimoji="1" lang="en-US" i="1">
                <a:solidFill>
                  <a:schemeClr val="hlink"/>
                </a:solidFill>
              </a:rPr>
              <a:t>n</a:t>
            </a:r>
            <a:r>
              <a:rPr kumimoji="1" lang="en-US">
                <a:solidFill>
                  <a:schemeClr val="hlink"/>
                </a:solidFill>
              </a:rPr>
              <a:t>)</a:t>
            </a:r>
            <a:r>
              <a:rPr kumimoji="1" lang="en-US"/>
              <a:t> </a:t>
            </a:r>
            <a:r>
              <a:rPr kumimoji="1" lang="en-US">
                <a:solidFill>
                  <a:schemeClr val="hlink"/>
                </a:solidFill>
                <a:sym typeface="Symbol" pitchFamily="18" charset="2"/>
              </a:rPr>
              <a:t> </a:t>
            </a:r>
            <a:r>
              <a:rPr kumimoji="1" lang="en-US" i="1">
                <a:solidFill>
                  <a:schemeClr val="hlink"/>
                </a:solidFill>
              </a:rPr>
              <a:t>f</a:t>
            </a:r>
            <a:r>
              <a:rPr kumimoji="1" lang="en-US">
                <a:solidFill>
                  <a:schemeClr val="hlink"/>
                </a:solidFill>
              </a:rPr>
              <a:t>(</a:t>
            </a:r>
            <a:r>
              <a:rPr kumimoji="1" lang="en-US" i="1">
                <a:solidFill>
                  <a:schemeClr val="hlink"/>
                </a:solidFill>
              </a:rPr>
              <a:t>n</a:t>
            </a:r>
            <a:r>
              <a:rPr kumimoji="1" lang="en-US">
                <a:solidFill>
                  <a:schemeClr val="hlink"/>
                </a:solidFill>
              </a:rPr>
              <a:t>)}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Relations Between </a:t>
            </a:r>
            <a:r>
              <a:rPr lang="en-US" smtClean="0">
                <a:latin typeface="Symbol" pitchFamily="18" charset="2"/>
              </a:rPr>
              <a:t>Q</a:t>
            </a:r>
            <a:r>
              <a:rPr lang="en-US" smtClean="0"/>
              <a:t>, </a:t>
            </a:r>
            <a:r>
              <a:rPr lang="en-US" i="1" smtClean="0"/>
              <a:t>O, </a:t>
            </a:r>
            <a:r>
              <a:rPr lang="en-US" smtClean="0">
                <a:latin typeface="Symbol" pitchFamily="18" charset="2"/>
              </a:rPr>
              <a:t>W</a:t>
            </a:r>
            <a:endParaRPr lang="en-US" smtClean="0"/>
          </a:p>
        </p:txBody>
      </p:sp>
      <p:pic>
        <p:nvPicPr>
          <p:cNvPr id="84995" name="Picture 3" descr="graph_the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5425" y="1524000"/>
            <a:ext cx="2654300" cy="298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4996" name="Picture 4" descr="graph_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05150" y="1524000"/>
            <a:ext cx="2654300" cy="298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4997" name="Picture 5" descr="graph_Omega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07113" y="1524000"/>
            <a:ext cx="2654300" cy="298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Running Times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>
          <a:xfrm>
            <a:off x="704850" y="1173163"/>
            <a:ext cx="7772400" cy="48625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sz="2800" smtClean="0"/>
              <a:t>“Running time is </a:t>
            </a:r>
            <a:r>
              <a:rPr lang="en-US" sz="2800" i="1" smtClean="0"/>
              <a:t>O</a:t>
            </a:r>
            <a:r>
              <a:rPr lang="en-US" sz="2800" smtClean="0"/>
              <a:t>(</a:t>
            </a:r>
            <a:r>
              <a:rPr lang="en-US" sz="2800" i="1" smtClean="0"/>
              <a:t>f</a:t>
            </a:r>
            <a:r>
              <a:rPr lang="en-US" sz="2800" smtClean="0"/>
              <a:t>(</a:t>
            </a:r>
            <a:r>
              <a:rPr lang="en-US" sz="2800" i="1" smtClean="0"/>
              <a:t>n</a:t>
            </a:r>
            <a:r>
              <a:rPr lang="en-US" sz="2800" smtClean="0"/>
              <a:t>))” </a:t>
            </a:r>
            <a:r>
              <a:rPr lang="en-US" sz="2800" smtClean="0">
                <a:latin typeface="Symbol" pitchFamily="18" charset="2"/>
              </a:rPr>
              <a:t>Þ</a:t>
            </a:r>
            <a:r>
              <a:rPr lang="en-US" sz="2800" smtClean="0"/>
              <a:t> Worst case is </a:t>
            </a:r>
            <a:r>
              <a:rPr lang="en-US" sz="2800" i="1" smtClean="0"/>
              <a:t>O</a:t>
            </a:r>
            <a:r>
              <a:rPr lang="en-US" sz="2800" smtClean="0"/>
              <a:t>(</a:t>
            </a:r>
            <a:r>
              <a:rPr lang="en-US" sz="2800" i="1" smtClean="0"/>
              <a:t>f</a:t>
            </a:r>
            <a:r>
              <a:rPr lang="en-US" sz="2800" smtClean="0"/>
              <a:t>(</a:t>
            </a:r>
            <a:r>
              <a:rPr lang="en-US" sz="2800" i="1" smtClean="0"/>
              <a:t>n</a:t>
            </a:r>
            <a:r>
              <a:rPr lang="en-US" sz="2800" smtClean="0"/>
              <a:t>))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sz="2800" i="1" smtClean="0"/>
              <a:t>O</a:t>
            </a:r>
            <a:r>
              <a:rPr lang="en-US" sz="2800" smtClean="0"/>
              <a:t>(</a:t>
            </a:r>
            <a:r>
              <a:rPr lang="en-US" sz="2800" i="1" smtClean="0"/>
              <a:t>f</a:t>
            </a:r>
            <a:r>
              <a:rPr lang="en-US" sz="2800" smtClean="0"/>
              <a:t>(</a:t>
            </a:r>
            <a:r>
              <a:rPr lang="en-US" sz="2800" i="1" smtClean="0"/>
              <a:t>n</a:t>
            </a:r>
            <a:r>
              <a:rPr lang="en-US" sz="2800" smtClean="0"/>
              <a:t>)) bound on the worst-case running time </a:t>
            </a:r>
            <a:r>
              <a:rPr lang="en-US" sz="2800" smtClean="0">
                <a:sym typeface="Symbol" pitchFamily="18" charset="2"/>
              </a:rPr>
              <a:t> </a:t>
            </a:r>
            <a:r>
              <a:rPr lang="en-US" sz="2800" i="1" smtClean="0">
                <a:sym typeface="Symbol" pitchFamily="18" charset="2"/>
              </a:rPr>
              <a:t>O</a:t>
            </a:r>
            <a:r>
              <a:rPr lang="en-US" sz="2800" smtClean="0">
                <a:sym typeface="Symbol" pitchFamily="18" charset="2"/>
              </a:rPr>
              <a:t>(</a:t>
            </a:r>
            <a:r>
              <a:rPr lang="en-US" sz="2800" i="1" smtClean="0">
                <a:sym typeface="Symbol" pitchFamily="18" charset="2"/>
              </a:rPr>
              <a:t>f</a:t>
            </a:r>
            <a:r>
              <a:rPr lang="en-US" sz="2800" smtClean="0">
                <a:sym typeface="Symbol" pitchFamily="18" charset="2"/>
              </a:rPr>
              <a:t>(</a:t>
            </a:r>
            <a:r>
              <a:rPr lang="en-US" sz="2800" i="1" smtClean="0">
                <a:sym typeface="Symbol" pitchFamily="18" charset="2"/>
              </a:rPr>
              <a:t>n</a:t>
            </a:r>
            <a:r>
              <a:rPr lang="en-US" sz="2800" smtClean="0">
                <a:sym typeface="Symbol" pitchFamily="18" charset="2"/>
              </a:rPr>
              <a:t>)) bound on the running time of every input.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>
                <a:latin typeface="Symbol" pitchFamily="18" charset="2"/>
              </a:rPr>
              <a:t>Q</a:t>
            </a:r>
            <a:r>
              <a:rPr lang="en-US" sz="2800" smtClean="0"/>
              <a:t>(</a:t>
            </a:r>
            <a:r>
              <a:rPr lang="en-US" sz="2800" i="1" smtClean="0"/>
              <a:t>f</a:t>
            </a:r>
            <a:r>
              <a:rPr lang="en-US" sz="2800" smtClean="0"/>
              <a:t>(</a:t>
            </a:r>
            <a:r>
              <a:rPr lang="en-US" sz="2800" i="1" smtClean="0"/>
              <a:t>n</a:t>
            </a:r>
            <a:r>
              <a:rPr lang="en-US" sz="2800" smtClean="0"/>
              <a:t>)) bound on the worst-case running time </a:t>
            </a:r>
            <a:r>
              <a:rPr lang="en-US" sz="2800" b="1" smtClean="0">
                <a:sym typeface="Symbol" pitchFamily="18" charset="2"/>
              </a:rPr>
              <a:t></a:t>
            </a:r>
            <a:r>
              <a:rPr lang="en-US" sz="2800" smtClean="0">
                <a:sym typeface="Symbol" pitchFamily="18" charset="2"/>
              </a:rPr>
              <a:t> </a:t>
            </a:r>
            <a:r>
              <a:rPr lang="en-US" sz="2800" smtClean="0">
                <a:latin typeface="Symbol" pitchFamily="18" charset="2"/>
              </a:rPr>
              <a:t>Q</a:t>
            </a:r>
            <a:r>
              <a:rPr lang="en-US" sz="2800" smtClean="0">
                <a:sym typeface="Symbol" pitchFamily="18" charset="2"/>
              </a:rPr>
              <a:t>(</a:t>
            </a:r>
            <a:r>
              <a:rPr lang="en-US" sz="2800" i="1" smtClean="0">
                <a:sym typeface="Symbol" pitchFamily="18" charset="2"/>
              </a:rPr>
              <a:t>f</a:t>
            </a:r>
            <a:r>
              <a:rPr lang="en-US" sz="2800" smtClean="0">
                <a:sym typeface="Symbol" pitchFamily="18" charset="2"/>
              </a:rPr>
              <a:t>(</a:t>
            </a:r>
            <a:r>
              <a:rPr lang="en-US" sz="2800" i="1" smtClean="0">
                <a:sym typeface="Symbol" pitchFamily="18" charset="2"/>
              </a:rPr>
              <a:t>n</a:t>
            </a:r>
            <a:r>
              <a:rPr lang="en-US" sz="2800" smtClean="0">
                <a:sym typeface="Symbol" pitchFamily="18" charset="2"/>
              </a:rPr>
              <a:t>)) bound on the running time of every input.</a:t>
            </a:r>
            <a:endParaRPr lang="en-US" sz="2800" smtClean="0"/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sz="2800" smtClean="0"/>
              <a:t>“Running time is </a:t>
            </a:r>
            <a:r>
              <a:rPr lang="en-US" sz="2800" smtClean="0">
                <a:latin typeface="Symbol" pitchFamily="18" charset="2"/>
              </a:rPr>
              <a:t>W</a:t>
            </a:r>
            <a:r>
              <a:rPr lang="en-US" sz="2800" smtClean="0"/>
              <a:t>(</a:t>
            </a:r>
            <a:r>
              <a:rPr lang="en-US" sz="2800" i="1" smtClean="0"/>
              <a:t>f</a:t>
            </a:r>
            <a:r>
              <a:rPr lang="en-US" sz="2800" smtClean="0"/>
              <a:t>(</a:t>
            </a:r>
            <a:r>
              <a:rPr lang="en-US" sz="2800" i="1" smtClean="0"/>
              <a:t>n</a:t>
            </a:r>
            <a:r>
              <a:rPr lang="en-US" sz="2800" smtClean="0"/>
              <a:t>))” </a:t>
            </a:r>
            <a:r>
              <a:rPr lang="en-US" sz="2800" smtClean="0">
                <a:latin typeface="Symbol" pitchFamily="18" charset="2"/>
              </a:rPr>
              <a:t>Þ</a:t>
            </a:r>
            <a:r>
              <a:rPr lang="en-US" sz="2800" smtClean="0"/>
              <a:t> Best case is </a:t>
            </a:r>
            <a:r>
              <a:rPr lang="en-US" sz="2800" smtClean="0">
                <a:latin typeface="Symbol" pitchFamily="18" charset="2"/>
              </a:rPr>
              <a:t>W</a:t>
            </a:r>
            <a:r>
              <a:rPr lang="en-US" sz="2800" smtClean="0"/>
              <a:t>(</a:t>
            </a:r>
            <a:r>
              <a:rPr lang="en-US" sz="2800" i="1" smtClean="0"/>
              <a:t>f</a:t>
            </a:r>
            <a:r>
              <a:rPr lang="en-US" sz="2800" smtClean="0"/>
              <a:t>(</a:t>
            </a:r>
            <a:r>
              <a:rPr lang="en-US" sz="2800" i="1" smtClean="0"/>
              <a:t>n</a:t>
            </a:r>
            <a:r>
              <a:rPr lang="en-US" sz="2800" smtClean="0"/>
              <a:t>))</a:t>
            </a:r>
            <a:r>
              <a:rPr lang="en-US" sz="2800" i="1" smtClean="0"/>
              <a:t> 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sz="2800" smtClean="0"/>
              <a:t>Can still say “Worst-case running time is </a:t>
            </a:r>
            <a:r>
              <a:rPr lang="en-US" sz="2800" smtClean="0">
                <a:latin typeface="Symbol" pitchFamily="18" charset="2"/>
              </a:rPr>
              <a:t>W</a:t>
            </a:r>
            <a:r>
              <a:rPr lang="en-US" sz="2800" smtClean="0"/>
              <a:t>(</a:t>
            </a:r>
            <a:r>
              <a:rPr lang="en-US" sz="2800" i="1" smtClean="0"/>
              <a:t>f</a:t>
            </a:r>
            <a:r>
              <a:rPr lang="en-US" sz="2800" smtClean="0"/>
              <a:t>(</a:t>
            </a:r>
            <a:r>
              <a:rPr lang="en-US" sz="2800" i="1" smtClean="0"/>
              <a:t>n</a:t>
            </a:r>
            <a:r>
              <a:rPr lang="en-US" sz="2800" smtClean="0"/>
              <a:t>))”</a:t>
            </a:r>
          </a:p>
          <a:p>
            <a:pPr lvl="1"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sz="2400" smtClean="0"/>
              <a:t>Means worst-case running time is given by some unspecified function </a:t>
            </a:r>
            <a:r>
              <a:rPr lang="en-US" sz="2400" i="1" smtClean="0"/>
              <a:t>g</a:t>
            </a:r>
            <a:r>
              <a:rPr lang="en-US" sz="2400" smtClean="0"/>
              <a:t>(</a:t>
            </a:r>
            <a:r>
              <a:rPr lang="en-US" sz="2400" i="1" smtClean="0"/>
              <a:t>n</a:t>
            </a:r>
            <a:r>
              <a:rPr lang="en-US" sz="2400" smtClean="0"/>
              <a:t>) </a:t>
            </a:r>
            <a:r>
              <a:rPr lang="en-US" sz="2400" smtClean="0">
                <a:latin typeface="Symbol" pitchFamily="18" charset="2"/>
              </a:rPr>
              <a:t>Î</a:t>
            </a:r>
            <a:r>
              <a:rPr lang="en-US" sz="2400" smtClean="0"/>
              <a:t> </a:t>
            </a:r>
            <a:r>
              <a:rPr lang="en-US" sz="2400" smtClean="0">
                <a:latin typeface="Symbol" pitchFamily="18" charset="2"/>
              </a:rPr>
              <a:t>W</a:t>
            </a:r>
            <a:r>
              <a:rPr lang="en-US" sz="2400" smtClean="0"/>
              <a:t>(</a:t>
            </a:r>
            <a:r>
              <a:rPr lang="en-US" sz="2400" i="1" smtClean="0"/>
              <a:t>f</a:t>
            </a:r>
            <a:r>
              <a:rPr lang="en-US" sz="2400" smtClean="0"/>
              <a:t>(</a:t>
            </a:r>
            <a:r>
              <a:rPr lang="en-US" sz="2400" i="1" smtClean="0"/>
              <a:t>n</a:t>
            </a:r>
            <a:r>
              <a:rPr lang="en-US" sz="2400" smtClean="0"/>
              <a:t>)).</a:t>
            </a:r>
          </a:p>
        </p:txBody>
      </p:sp>
      <p:sp>
        <p:nvSpPr>
          <p:cNvPr id="86020" name="Line 4"/>
          <p:cNvSpPr>
            <a:spLocks noChangeShapeType="1"/>
          </p:cNvSpPr>
          <p:nvPr/>
        </p:nvSpPr>
        <p:spPr bwMode="auto">
          <a:xfrm flipH="1">
            <a:off x="7726363" y="2820988"/>
            <a:ext cx="228600" cy="2143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</a:t>
            </a:r>
          </a:p>
        </p:txBody>
      </p:sp>
      <p:sp>
        <p:nvSpPr>
          <p:cNvPr id="400387" name="Rectangle 1027"/>
          <p:cNvSpPr>
            <a:spLocks noGrp="1" noChangeArrowheads="1"/>
          </p:cNvSpPr>
          <p:nvPr>
            <p:ph idx="1"/>
          </p:nvPr>
        </p:nvSpPr>
        <p:spPr>
          <a:xfrm>
            <a:off x="592138" y="1127125"/>
            <a:ext cx="7772400" cy="4710113"/>
          </a:xfrm>
        </p:spPr>
        <p:txBody>
          <a:bodyPr/>
          <a:lstStyle/>
          <a:p>
            <a:pPr eaLnBrk="1" hangingPunct="1">
              <a:spcBef>
                <a:spcPct val="100000"/>
              </a:spcBef>
            </a:pPr>
            <a:r>
              <a:rPr lang="en-US" sz="2800" b="1" i="1" smtClean="0"/>
              <a:t>Insertion sort</a:t>
            </a:r>
            <a:r>
              <a:rPr lang="en-US" sz="2800" smtClean="0"/>
              <a:t> takes </a:t>
            </a:r>
            <a:r>
              <a:rPr lang="en-US" sz="2800" smtClean="0">
                <a:latin typeface="Symbol" pitchFamily="18" charset="2"/>
              </a:rPr>
              <a:t>Q</a:t>
            </a:r>
            <a:r>
              <a:rPr lang="en-US" sz="2800" smtClean="0"/>
              <a:t>(</a:t>
            </a:r>
            <a:r>
              <a:rPr lang="en-US" sz="2800" i="1" smtClean="0"/>
              <a:t>n</a:t>
            </a:r>
            <a:r>
              <a:rPr lang="en-US" sz="2800" baseline="30000" smtClean="0"/>
              <a:t>2</a:t>
            </a:r>
            <a:r>
              <a:rPr lang="en-US" sz="2800" smtClean="0"/>
              <a:t>) in the worst case, so sorting (as a </a:t>
            </a:r>
            <a:r>
              <a:rPr lang="en-US" sz="2800" i="1" smtClean="0"/>
              <a:t>problem</a:t>
            </a:r>
            <a:r>
              <a:rPr lang="en-US" sz="2800" smtClean="0"/>
              <a:t>) is </a:t>
            </a:r>
            <a:r>
              <a:rPr lang="en-US" sz="2800" i="1" smtClean="0"/>
              <a:t>O</a:t>
            </a:r>
            <a:r>
              <a:rPr lang="en-US" sz="2800" smtClean="0"/>
              <a:t>(</a:t>
            </a:r>
            <a:r>
              <a:rPr lang="en-US" sz="2800" i="1" smtClean="0"/>
              <a:t>n</a:t>
            </a:r>
            <a:r>
              <a:rPr lang="en-US" sz="2800" baseline="30000" smtClean="0"/>
              <a:t>2</a:t>
            </a:r>
            <a:r>
              <a:rPr lang="en-US" sz="2800" smtClean="0"/>
              <a:t>).  </a:t>
            </a:r>
            <a:r>
              <a:rPr lang="en-US" sz="2800" b="1" u="sng" smtClean="0"/>
              <a:t>Why?</a:t>
            </a:r>
          </a:p>
          <a:p>
            <a:pPr eaLnBrk="1" hangingPunct="1">
              <a:spcBef>
                <a:spcPct val="100000"/>
              </a:spcBef>
            </a:pPr>
            <a:r>
              <a:rPr lang="en-US" sz="2800" smtClean="0"/>
              <a:t>Any sort algorithm must look at each item, so sorting is </a:t>
            </a:r>
            <a:r>
              <a:rPr lang="en-US" sz="2800" smtClean="0">
                <a:latin typeface="Symbol" pitchFamily="18" charset="2"/>
              </a:rPr>
              <a:t>W</a:t>
            </a:r>
            <a:r>
              <a:rPr lang="en-US" sz="2800" smtClean="0"/>
              <a:t>(</a:t>
            </a:r>
            <a:r>
              <a:rPr lang="en-US" sz="2800" i="1" smtClean="0"/>
              <a:t>n</a:t>
            </a:r>
            <a:r>
              <a:rPr lang="en-US" sz="2800" smtClean="0"/>
              <a:t>).</a:t>
            </a:r>
          </a:p>
          <a:p>
            <a:pPr eaLnBrk="1" hangingPunct="1">
              <a:spcBef>
                <a:spcPct val="100000"/>
              </a:spcBef>
            </a:pPr>
            <a:r>
              <a:rPr lang="en-US" sz="2800" smtClean="0"/>
              <a:t>In fact, using (e.g.) merge sort, sorting is </a:t>
            </a:r>
            <a:r>
              <a:rPr lang="en-US" sz="2800" smtClean="0">
                <a:latin typeface="Symbol" pitchFamily="18" charset="2"/>
              </a:rPr>
              <a:t>Q</a:t>
            </a:r>
            <a:r>
              <a:rPr lang="en-US" sz="2800" smtClean="0"/>
              <a:t>(</a:t>
            </a:r>
            <a:r>
              <a:rPr lang="en-US" sz="2800" i="1" smtClean="0"/>
              <a:t>n </a:t>
            </a:r>
            <a:r>
              <a:rPr lang="en-US" sz="2800" smtClean="0"/>
              <a:t>lg</a:t>
            </a:r>
            <a:r>
              <a:rPr lang="en-US" sz="2800" i="1" smtClean="0"/>
              <a:t> n</a:t>
            </a:r>
            <a:r>
              <a:rPr lang="en-US" sz="2800" smtClean="0"/>
              <a:t>) in the worst case.</a:t>
            </a:r>
          </a:p>
          <a:p>
            <a:pPr lvl="1" eaLnBrk="1" hangingPunct="1">
              <a:spcBef>
                <a:spcPct val="100000"/>
              </a:spcBef>
            </a:pPr>
            <a:r>
              <a:rPr lang="en-US" sz="2400" smtClean="0"/>
              <a:t>Later, we will prove that we cannot hope that any comparison sort to do better in the worst case.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7" grpId="0" build="p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Sorting Problem</a:t>
            </a:r>
          </a:p>
        </p:txBody>
      </p:sp>
      <p:sp>
        <p:nvSpPr>
          <p:cNvPr id="265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 fontScale="92500" lnSpcReduction="10000"/>
          </a:bodyPr>
          <a:lstStyle/>
          <a:p>
            <a:pPr eaLnBrk="1" fontAlgn="auto" hangingPunct="1">
              <a:lnSpc>
                <a:spcPct val="200000"/>
              </a:lnSpc>
              <a:spcAft>
                <a:spcPts val="0"/>
              </a:spcAft>
              <a:defRPr/>
            </a:pPr>
            <a:r>
              <a:rPr lang="en-US" b="1" smtClean="0"/>
              <a:t>Input: </a:t>
            </a:r>
          </a:p>
          <a:p>
            <a:pPr lvl="1" eaLnBrk="1" fontAlgn="auto" hangingPunct="1">
              <a:lnSpc>
                <a:spcPct val="200000"/>
              </a:lnSpc>
              <a:spcAft>
                <a:spcPts val="0"/>
              </a:spcAft>
              <a:defRPr/>
            </a:pPr>
            <a:r>
              <a:rPr lang="en-US" smtClean="0"/>
              <a:t>A sequence of </a:t>
            </a:r>
            <a:r>
              <a:rPr lang="en-US" smtClean="0">
                <a:latin typeface="Comic Sans MS" pitchFamily="66" charset="0"/>
              </a:rPr>
              <a:t>n</a:t>
            </a:r>
            <a:r>
              <a:rPr lang="en-US" i="1" smtClean="0"/>
              <a:t> </a:t>
            </a:r>
            <a:r>
              <a:rPr lang="en-US" smtClean="0"/>
              <a:t>numbers </a:t>
            </a:r>
            <a:r>
              <a:rPr lang="en-US" smtClean="0">
                <a:latin typeface="Comic Sans MS" pitchFamily="66" charset="0"/>
              </a:rPr>
              <a:t>a</a:t>
            </a:r>
            <a:r>
              <a:rPr lang="en-US" baseline="-25000" smtClean="0">
                <a:latin typeface="Comic Sans MS" pitchFamily="66" charset="0"/>
              </a:rPr>
              <a:t>1</a:t>
            </a:r>
            <a:r>
              <a:rPr lang="en-US" smtClean="0">
                <a:latin typeface="Comic Sans MS" pitchFamily="66" charset="0"/>
              </a:rPr>
              <a:t>, a</a:t>
            </a:r>
            <a:r>
              <a:rPr lang="en-US" baseline="-25000" smtClean="0">
                <a:latin typeface="Comic Sans MS" pitchFamily="66" charset="0"/>
              </a:rPr>
              <a:t>2</a:t>
            </a:r>
            <a:r>
              <a:rPr lang="en-US" smtClean="0">
                <a:latin typeface="Comic Sans MS" pitchFamily="66" charset="0"/>
              </a:rPr>
              <a:t>, . . . , a</a:t>
            </a:r>
            <a:r>
              <a:rPr lang="en-US" baseline="-25000" smtClean="0">
                <a:latin typeface="Comic Sans MS" pitchFamily="66" charset="0"/>
              </a:rPr>
              <a:t>n</a:t>
            </a:r>
            <a:endParaRPr lang="en-US" smtClean="0">
              <a:latin typeface="Comic Sans MS" pitchFamily="66" charset="0"/>
            </a:endParaRPr>
          </a:p>
          <a:p>
            <a:pPr eaLnBrk="1" fontAlgn="auto" hangingPunct="1">
              <a:lnSpc>
                <a:spcPct val="200000"/>
              </a:lnSpc>
              <a:spcAft>
                <a:spcPts val="0"/>
              </a:spcAft>
              <a:defRPr/>
            </a:pPr>
            <a:r>
              <a:rPr lang="en-US" b="1" smtClean="0"/>
              <a:t>Output: </a:t>
            </a:r>
          </a:p>
          <a:p>
            <a:pPr lvl="1" eaLnBrk="1" fontAlgn="auto" hangingPunct="1">
              <a:lnSpc>
                <a:spcPct val="200000"/>
              </a:lnSpc>
              <a:spcAft>
                <a:spcPts val="0"/>
              </a:spcAft>
              <a:defRPr/>
            </a:pPr>
            <a:r>
              <a:rPr lang="en-US" smtClean="0"/>
              <a:t>A permutation (reordering) </a:t>
            </a:r>
            <a:r>
              <a:rPr lang="en-US" smtClean="0">
                <a:latin typeface="Comic Sans MS" pitchFamily="66" charset="0"/>
              </a:rPr>
              <a:t>a</a:t>
            </a:r>
            <a:r>
              <a:rPr lang="en-US" baseline="-25000" smtClean="0">
                <a:latin typeface="Comic Sans MS" pitchFamily="66" charset="0"/>
              </a:rPr>
              <a:t>1</a:t>
            </a:r>
            <a:r>
              <a:rPr lang="en-US" smtClean="0">
                <a:latin typeface="Comic Sans MS" pitchFamily="66" charset="0"/>
              </a:rPr>
              <a:t>’, a</a:t>
            </a:r>
            <a:r>
              <a:rPr lang="en-US" baseline="-25000" smtClean="0">
                <a:latin typeface="Comic Sans MS" pitchFamily="66" charset="0"/>
              </a:rPr>
              <a:t>2</a:t>
            </a:r>
            <a:r>
              <a:rPr lang="en-US" smtClean="0">
                <a:latin typeface="Comic Sans MS" pitchFamily="66" charset="0"/>
              </a:rPr>
              <a:t>’, . . . , a</a:t>
            </a:r>
            <a:r>
              <a:rPr lang="en-US" baseline="-25000" smtClean="0">
                <a:latin typeface="Comic Sans MS" pitchFamily="66" charset="0"/>
              </a:rPr>
              <a:t>n</a:t>
            </a:r>
            <a:r>
              <a:rPr lang="en-US" smtClean="0">
                <a:latin typeface="Comic Sans MS" pitchFamily="66" charset="0"/>
              </a:rPr>
              <a:t>’</a:t>
            </a:r>
            <a:r>
              <a:rPr lang="en-US" smtClean="0"/>
              <a:t> of the input sequence such that </a:t>
            </a:r>
            <a:r>
              <a:rPr lang="en-US" smtClean="0">
                <a:latin typeface="Comic Sans MS" pitchFamily="66" charset="0"/>
              </a:rPr>
              <a:t>a</a:t>
            </a:r>
            <a:r>
              <a:rPr lang="en-US" baseline="-25000" smtClean="0">
                <a:latin typeface="Comic Sans MS" pitchFamily="66" charset="0"/>
              </a:rPr>
              <a:t>1</a:t>
            </a:r>
            <a:r>
              <a:rPr lang="en-US" smtClean="0">
                <a:latin typeface="Comic Sans MS" pitchFamily="66" charset="0"/>
              </a:rPr>
              <a:t>’ ≤ a</a:t>
            </a:r>
            <a:r>
              <a:rPr lang="en-US" baseline="-25000" smtClean="0">
                <a:latin typeface="Comic Sans MS" pitchFamily="66" charset="0"/>
              </a:rPr>
              <a:t>2</a:t>
            </a:r>
            <a:r>
              <a:rPr lang="en-US" smtClean="0">
                <a:latin typeface="Comic Sans MS" pitchFamily="66" charset="0"/>
              </a:rPr>
              <a:t>’ ≤ · · · ≤ a</a:t>
            </a:r>
            <a:r>
              <a:rPr lang="en-US" baseline="-25000" smtClean="0">
                <a:latin typeface="Comic Sans MS" pitchFamily="66" charset="0"/>
              </a:rPr>
              <a:t>n</a:t>
            </a:r>
            <a:r>
              <a:rPr lang="en-US" smtClean="0">
                <a:latin typeface="Comic Sans MS" pitchFamily="66" charset="0"/>
              </a:rPr>
              <a:t>’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Structure of data</a:t>
            </a:r>
          </a:p>
        </p:txBody>
      </p:sp>
      <p:pic>
        <p:nvPicPr>
          <p:cNvPr id="89091" name="Picture 4"/>
          <p:cNvPicPr>
            <a:picLocks noChangeAspect="1" noChangeArrowheads="1"/>
          </p:cNvPicPr>
          <p:nvPr>
            <p:ph type="body" idx="1"/>
          </p:nvPr>
        </p:nvPicPr>
        <p:blipFill>
          <a:blip r:embed="rId3"/>
          <a:srcRect l="5884" t="11195" r="4456" b="5849"/>
          <a:stretch>
            <a:fillRect/>
          </a:stretch>
        </p:blipFill>
        <p:spPr>
          <a:xfrm>
            <a:off x="692150" y="1927225"/>
            <a:ext cx="7854950" cy="3906838"/>
          </a:xfrm>
          <a:noFill/>
        </p:spPr>
      </p:pic>
      <p:sp>
        <p:nvSpPr>
          <p:cNvPr id="89092" name="Text Box 5"/>
          <p:cNvSpPr txBox="1">
            <a:spLocks noChangeArrowheads="1"/>
          </p:cNvSpPr>
          <p:nvPr/>
        </p:nvSpPr>
        <p:spPr bwMode="auto">
          <a:xfrm>
            <a:off x="730250" y="3060700"/>
            <a:ext cx="3486150" cy="3667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                                                    </a:t>
            </a:r>
          </a:p>
        </p:txBody>
      </p:sp>
      <p:sp>
        <p:nvSpPr>
          <p:cNvPr id="89093" name="Text Box 6"/>
          <p:cNvSpPr txBox="1">
            <a:spLocks noChangeArrowheads="1"/>
          </p:cNvSpPr>
          <p:nvPr/>
        </p:nvSpPr>
        <p:spPr bwMode="auto">
          <a:xfrm>
            <a:off x="7918450" y="2759075"/>
            <a:ext cx="565150" cy="3667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Why Study Sorting Algorithms?</a:t>
            </a:r>
          </a:p>
        </p:txBody>
      </p:sp>
      <p:sp>
        <p:nvSpPr>
          <p:cNvPr id="271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There are a variety of situations that we can encounter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mtClean="0"/>
              <a:t>Do we have randomly ordered keys?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mtClean="0"/>
              <a:t>Are all keys distinct?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mtClean="0"/>
              <a:t>How large is the set of keys to be ordered?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mtClean="0"/>
              <a:t>Need guaranteed performance?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Various algorithms are better suited to some of these situations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Some Definitions</a:t>
            </a:r>
          </a:p>
        </p:txBody>
      </p:sp>
      <p:sp>
        <p:nvSpPr>
          <p:cNvPr id="26726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Internal Sort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mtClean="0"/>
              <a:t>The data to be sorted is all stored in the computer’s main memory.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External Sort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mtClean="0"/>
              <a:t>Some of the data to be sorted might be stored in some external, slower, device.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In Place Sort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mtClean="0"/>
              <a:t>The amount of extra space required to sort the data is constant with the input size.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Insertion Sort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 fontScale="92500" lnSpcReduction="10000"/>
          </a:bodyPr>
          <a:lstStyle/>
          <a:p>
            <a:pPr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en-US" smtClean="0"/>
              <a:t>Idea: like sorting a hand of playing cards</a:t>
            </a:r>
          </a:p>
          <a:p>
            <a:pPr lvl="1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en-US" smtClean="0"/>
              <a:t>Start with an empty left hand and the cards facing down on the table.</a:t>
            </a:r>
          </a:p>
          <a:p>
            <a:pPr lvl="1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en-US" smtClean="0"/>
              <a:t>Remove one card at a time from the table, and insert it into the correct position in the left hand</a:t>
            </a:r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en-US" smtClean="0"/>
              <a:t>compare it with each of the cards already in the hand, from right to left</a:t>
            </a:r>
          </a:p>
          <a:p>
            <a:pPr lvl="1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en-US" smtClean="0"/>
              <a:t>The cards held in the left hand are sorted</a:t>
            </a:r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en-US" smtClean="0"/>
              <a:t>these cards were originally the top cards of the pile on the table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4398963" y="1989138"/>
            <a:ext cx="4259262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lang="en-US" altLang="en-US" sz="2400" b="1">
                <a:solidFill>
                  <a:srgbClr val="990033"/>
                </a:solidFill>
              </a:rPr>
              <a:t>To insert 12, we need to make room for it by moving first 36 and then 24.</a:t>
            </a:r>
          </a:p>
        </p:txBody>
      </p:sp>
      <p:sp>
        <p:nvSpPr>
          <p:cNvPr id="310275" name="Rectangle 3"/>
          <p:cNvSpPr>
            <a:spLocks noGrp="1" noChangeArrowheads="1"/>
          </p:cNvSpPr>
          <p:nvPr>
            <p:ph type="title"/>
          </p:nvPr>
        </p:nvSpPr>
        <p:spPr>
          <a:xfrm>
            <a:off x="508000" y="617538"/>
            <a:ext cx="6327775" cy="258762"/>
          </a:xfrm>
        </p:spPr>
        <p:txBody>
          <a:bodyPr lIns="92075" tIns="46038" rIns="92075" bIns="46038" rtlCol="0" anchor="b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/>
              <a:t>Insertion Sort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79463" y="2933700"/>
            <a:ext cx="2087562" cy="1235075"/>
            <a:chOff x="491" y="1848"/>
            <a:chExt cx="1315" cy="778"/>
          </a:xfrm>
        </p:grpSpPr>
        <p:sp>
          <p:nvSpPr>
            <p:cNvPr id="93193" name="AutoShape 5"/>
            <p:cNvSpPr>
              <a:spLocks noChangeArrowheads="1"/>
            </p:cNvSpPr>
            <p:nvPr/>
          </p:nvSpPr>
          <p:spPr bwMode="auto">
            <a:xfrm rot="-1200000">
              <a:off x="491" y="1941"/>
              <a:ext cx="459" cy="685"/>
            </a:xfrm>
            <a:prstGeom prst="roundRect">
              <a:avLst>
                <a:gd name="adj" fmla="val 12495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194" name="AutoShape 6"/>
            <p:cNvSpPr>
              <a:spLocks noChangeArrowheads="1"/>
            </p:cNvSpPr>
            <p:nvPr/>
          </p:nvSpPr>
          <p:spPr bwMode="auto">
            <a:xfrm rot="-420000">
              <a:off x="931" y="1848"/>
              <a:ext cx="458" cy="684"/>
            </a:xfrm>
            <a:prstGeom prst="roundRect">
              <a:avLst>
                <a:gd name="adj" fmla="val 12495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195" name="AutoShape 7"/>
            <p:cNvSpPr>
              <a:spLocks noChangeArrowheads="1"/>
            </p:cNvSpPr>
            <p:nvPr/>
          </p:nvSpPr>
          <p:spPr bwMode="auto">
            <a:xfrm rot="720000">
              <a:off x="1341" y="1849"/>
              <a:ext cx="459" cy="684"/>
            </a:xfrm>
            <a:prstGeom prst="roundRect">
              <a:avLst>
                <a:gd name="adj" fmla="val 12495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196" name="Rectangle 8"/>
            <p:cNvSpPr>
              <a:spLocks noChangeArrowheads="1"/>
            </p:cNvSpPr>
            <p:nvPr/>
          </p:nvSpPr>
          <p:spPr bwMode="auto">
            <a:xfrm rot="-1140000">
              <a:off x="556" y="1981"/>
              <a:ext cx="25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3200" b="1"/>
                <a:t>6</a:t>
              </a:r>
            </a:p>
          </p:txBody>
        </p:sp>
        <p:sp>
          <p:nvSpPr>
            <p:cNvPr id="93197" name="Rectangle 9"/>
            <p:cNvSpPr>
              <a:spLocks noChangeArrowheads="1"/>
            </p:cNvSpPr>
            <p:nvPr/>
          </p:nvSpPr>
          <p:spPr bwMode="auto">
            <a:xfrm rot="-420000">
              <a:off x="938" y="1934"/>
              <a:ext cx="401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3200" b="1"/>
                <a:t>10</a:t>
              </a:r>
            </a:p>
          </p:txBody>
        </p:sp>
        <p:sp>
          <p:nvSpPr>
            <p:cNvPr id="93198" name="Rectangle 10"/>
            <p:cNvSpPr>
              <a:spLocks noChangeArrowheads="1"/>
            </p:cNvSpPr>
            <p:nvPr/>
          </p:nvSpPr>
          <p:spPr bwMode="auto">
            <a:xfrm rot="480000">
              <a:off x="1405" y="1921"/>
              <a:ext cx="401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3200" b="1"/>
                <a:t>24</a:t>
              </a:r>
            </a:p>
          </p:txBody>
        </p:sp>
      </p:grpSp>
      <p:sp>
        <p:nvSpPr>
          <p:cNvPr id="93189" name="AutoShape 11"/>
          <p:cNvSpPr>
            <a:spLocks noChangeArrowheads="1"/>
          </p:cNvSpPr>
          <p:nvPr/>
        </p:nvSpPr>
        <p:spPr bwMode="auto">
          <a:xfrm rot="1740000" flipH="1">
            <a:off x="3019425" y="4705350"/>
            <a:ext cx="730250" cy="1085850"/>
          </a:xfrm>
          <a:prstGeom prst="roundRect">
            <a:avLst>
              <a:gd name="adj" fmla="val 12495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3190" name="Rectangle 12"/>
          <p:cNvSpPr>
            <a:spLocks noChangeArrowheads="1"/>
          </p:cNvSpPr>
          <p:nvPr/>
        </p:nvSpPr>
        <p:spPr bwMode="auto">
          <a:xfrm rot="1800000">
            <a:off x="3084513" y="4832350"/>
            <a:ext cx="63658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3200" b="1"/>
              <a:t>12</a:t>
            </a:r>
          </a:p>
        </p:txBody>
      </p:sp>
      <p:sp>
        <p:nvSpPr>
          <p:cNvPr id="93191" name="AutoShape 13"/>
          <p:cNvSpPr>
            <a:spLocks noChangeArrowheads="1"/>
          </p:cNvSpPr>
          <p:nvPr/>
        </p:nvSpPr>
        <p:spPr bwMode="auto">
          <a:xfrm rot="1740000" flipH="1">
            <a:off x="2784475" y="3149600"/>
            <a:ext cx="730250" cy="1085850"/>
          </a:xfrm>
          <a:prstGeom prst="roundRect">
            <a:avLst>
              <a:gd name="adj" fmla="val 12495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3192" name="Rectangle 14"/>
          <p:cNvSpPr>
            <a:spLocks noChangeArrowheads="1"/>
          </p:cNvSpPr>
          <p:nvPr/>
        </p:nvSpPr>
        <p:spPr bwMode="auto">
          <a:xfrm rot="1500000">
            <a:off x="2913063" y="3317875"/>
            <a:ext cx="63658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3200" b="1"/>
              <a:t>36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79463" y="2933700"/>
            <a:ext cx="2087562" cy="1235075"/>
            <a:chOff x="491" y="1848"/>
            <a:chExt cx="1315" cy="778"/>
          </a:xfrm>
        </p:grpSpPr>
        <p:sp>
          <p:nvSpPr>
            <p:cNvPr id="94216" name="AutoShape 3"/>
            <p:cNvSpPr>
              <a:spLocks noChangeArrowheads="1"/>
            </p:cNvSpPr>
            <p:nvPr/>
          </p:nvSpPr>
          <p:spPr bwMode="auto">
            <a:xfrm rot="-1200000">
              <a:off x="491" y="1941"/>
              <a:ext cx="459" cy="685"/>
            </a:xfrm>
            <a:prstGeom prst="roundRect">
              <a:avLst>
                <a:gd name="adj" fmla="val 12495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217" name="AutoShape 4"/>
            <p:cNvSpPr>
              <a:spLocks noChangeArrowheads="1"/>
            </p:cNvSpPr>
            <p:nvPr/>
          </p:nvSpPr>
          <p:spPr bwMode="auto">
            <a:xfrm rot="-420000">
              <a:off x="931" y="1848"/>
              <a:ext cx="458" cy="684"/>
            </a:xfrm>
            <a:prstGeom prst="roundRect">
              <a:avLst>
                <a:gd name="adj" fmla="val 12495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218" name="AutoShape 5"/>
            <p:cNvSpPr>
              <a:spLocks noChangeArrowheads="1"/>
            </p:cNvSpPr>
            <p:nvPr/>
          </p:nvSpPr>
          <p:spPr bwMode="auto">
            <a:xfrm rot="720000">
              <a:off x="1341" y="1849"/>
              <a:ext cx="459" cy="684"/>
            </a:xfrm>
            <a:prstGeom prst="roundRect">
              <a:avLst>
                <a:gd name="adj" fmla="val 12495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219" name="Rectangle 6"/>
            <p:cNvSpPr>
              <a:spLocks noChangeArrowheads="1"/>
            </p:cNvSpPr>
            <p:nvPr/>
          </p:nvSpPr>
          <p:spPr bwMode="auto">
            <a:xfrm rot="-1140000">
              <a:off x="556" y="1981"/>
              <a:ext cx="25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3200" b="1"/>
                <a:t>6</a:t>
              </a:r>
            </a:p>
          </p:txBody>
        </p:sp>
        <p:sp>
          <p:nvSpPr>
            <p:cNvPr id="94220" name="Rectangle 7"/>
            <p:cNvSpPr>
              <a:spLocks noChangeArrowheads="1"/>
            </p:cNvSpPr>
            <p:nvPr/>
          </p:nvSpPr>
          <p:spPr bwMode="auto">
            <a:xfrm rot="-420000">
              <a:off x="938" y="1934"/>
              <a:ext cx="401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3200" b="1"/>
                <a:t>10</a:t>
              </a:r>
            </a:p>
          </p:txBody>
        </p:sp>
        <p:sp>
          <p:nvSpPr>
            <p:cNvPr id="94221" name="Rectangle 8"/>
            <p:cNvSpPr>
              <a:spLocks noChangeArrowheads="1"/>
            </p:cNvSpPr>
            <p:nvPr/>
          </p:nvSpPr>
          <p:spPr bwMode="auto">
            <a:xfrm rot="480000">
              <a:off x="1405" y="1921"/>
              <a:ext cx="401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3200" b="1"/>
                <a:t>24</a:t>
              </a:r>
            </a:p>
          </p:txBody>
        </p:sp>
      </p:grpSp>
      <p:sp>
        <p:nvSpPr>
          <p:cNvPr id="312330" name="Rectangle 10"/>
          <p:cNvSpPr>
            <a:spLocks noGrp="1" noChangeArrowheads="1"/>
          </p:cNvSpPr>
          <p:nvPr>
            <p:ph type="title"/>
          </p:nvPr>
        </p:nvSpPr>
        <p:spPr>
          <a:xfrm>
            <a:off x="423863" y="358775"/>
            <a:ext cx="6424612" cy="388938"/>
          </a:xfrm>
        </p:spPr>
        <p:txBody>
          <a:bodyPr lIns="92075" tIns="46038" rIns="92075" bIns="46038" rtlCol="0" anchor="b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/>
              <a:t>Insertion Sort</a:t>
            </a:r>
          </a:p>
        </p:txBody>
      </p:sp>
      <p:sp>
        <p:nvSpPr>
          <p:cNvPr id="94212" name="AutoShape 11"/>
          <p:cNvSpPr>
            <a:spLocks noChangeArrowheads="1"/>
          </p:cNvSpPr>
          <p:nvPr/>
        </p:nvSpPr>
        <p:spPr bwMode="auto">
          <a:xfrm rot="1740000" flipH="1">
            <a:off x="3506788" y="3149600"/>
            <a:ext cx="730250" cy="1085850"/>
          </a:xfrm>
          <a:prstGeom prst="roundRect">
            <a:avLst>
              <a:gd name="adj" fmla="val 12495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213" name="Rectangle 12"/>
          <p:cNvSpPr>
            <a:spLocks noChangeArrowheads="1"/>
          </p:cNvSpPr>
          <p:nvPr/>
        </p:nvSpPr>
        <p:spPr bwMode="auto">
          <a:xfrm rot="1500000">
            <a:off x="3635375" y="3317875"/>
            <a:ext cx="63658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3200" b="1"/>
              <a:t>36</a:t>
            </a:r>
          </a:p>
        </p:txBody>
      </p:sp>
      <p:sp>
        <p:nvSpPr>
          <p:cNvPr id="94214" name="AutoShape 13"/>
          <p:cNvSpPr>
            <a:spLocks noChangeArrowheads="1"/>
          </p:cNvSpPr>
          <p:nvPr/>
        </p:nvSpPr>
        <p:spPr bwMode="auto">
          <a:xfrm rot="1740000" flipH="1">
            <a:off x="3019425" y="4705350"/>
            <a:ext cx="730250" cy="1085850"/>
          </a:xfrm>
          <a:prstGeom prst="roundRect">
            <a:avLst>
              <a:gd name="adj" fmla="val 12495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215" name="Rectangle 14"/>
          <p:cNvSpPr>
            <a:spLocks noChangeArrowheads="1"/>
          </p:cNvSpPr>
          <p:nvPr/>
        </p:nvSpPr>
        <p:spPr bwMode="auto">
          <a:xfrm rot="1800000">
            <a:off x="3084513" y="4832350"/>
            <a:ext cx="63658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3200" b="1"/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1" name="Rectangle 3"/>
          <p:cNvSpPr>
            <a:spLocks noGrp="1" noChangeArrowheads="1"/>
          </p:cNvSpPr>
          <p:nvPr>
            <p:ph type="title"/>
          </p:nvPr>
        </p:nvSpPr>
        <p:spPr>
          <a:xfrm>
            <a:off x="341313" y="230188"/>
            <a:ext cx="6494462" cy="517525"/>
          </a:xfrm>
        </p:spPr>
        <p:txBody>
          <a:bodyPr lIns="92075" tIns="46038" rIns="92075" bIns="46038" rtlCol="0" anchor="b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mtClean="0"/>
              <a:t>Insertion Sort</a:t>
            </a:r>
          </a:p>
        </p:txBody>
      </p:sp>
      <p:sp>
        <p:nvSpPr>
          <p:cNvPr id="95235" name="AutoShape 4"/>
          <p:cNvSpPr>
            <a:spLocks noChangeArrowheads="1"/>
          </p:cNvSpPr>
          <p:nvPr/>
        </p:nvSpPr>
        <p:spPr bwMode="auto">
          <a:xfrm rot="-1200000">
            <a:off x="779463" y="3081338"/>
            <a:ext cx="728662" cy="1087437"/>
          </a:xfrm>
          <a:prstGeom prst="roundRect">
            <a:avLst>
              <a:gd name="adj" fmla="val 12495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5236" name="AutoShape 5"/>
          <p:cNvSpPr>
            <a:spLocks noChangeArrowheads="1"/>
          </p:cNvSpPr>
          <p:nvPr/>
        </p:nvSpPr>
        <p:spPr bwMode="auto">
          <a:xfrm rot="-420000">
            <a:off x="1477963" y="2933700"/>
            <a:ext cx="727075" cy="1085850"/>
          </a:xfrm>
          <a:prstGeom prst="roundRect">
            <a:avLst>
              <a:gd name="adj" fmla="val 12495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5237" name="Rectangle 6"/>
          <p:cNvSpPr>
            <a:spLocks noChangeArrowheads="1"/>
          </p:cNvSpPr>
          <p:nvPr/>
        </p:nvSpPr>
        <p:spPr bwMode="auto">
          <a:xfrm rot="-1140000">
            <a:off x="882650" y="3144838"/>
            <a:ext cx="40957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3200" b="1"/>
              <a:t>6</a:t>
            </a:r>
          </a:p>
        </p:txBody>
      </p:sp>
      <p:sp>
        <p:nvSpPr>
          <p:cNvPr id="95238" name="Rectangle 7"/>
          <p:cNvSpPr>
            <a:spLocks noChangeArrowheads="1"/>
          </p:cNvSpPr>
          <p:nvPr/>
        </p:nvSpPr>
        <p:spPr bwMode="auto">
          <a:xfrm rot="-420000">
            <a:off x="1489075" y="3070225"/>
            <a:ext cx="63658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3200" b="1"/>
              <a:t>10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2851150" y="2935288"/>
            <a:ext cx="1420813" cy="1300162"/>
            <a:chOff x="1796" y="1849"/>
            <a:chExt cx="895" cy="819"/>
          </a:xfrm>
        </p:grpSpPr>
        <p:sp>
          <p:nvSpPr>
            <p:cNvPr id="95242" name="AutoShape 9"/>
            <p:cNvSpPr>
              <a:spLocks noChangeArrowheads="1"/>
            </p:cNvSpPr>
            <p:nvPr/>
          </p:nvSpPr>
          <p:spPr bwMode="auto">
            <a:xfrm rot="720000">
              <a:off x="1796" y="1849"/>
              <a:ext cx="459" cy="684"/>
            </a:xfrm>
            <a:prstGeom prst="roundRect">
              <a:avLst>
                <a:gd name="adj" fmla="val 12495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5243" name="AutoShape 10"/>
            <p:cNvSpPr>
              <a:spLocks noChangeArrowheads="1"/>
            </p:cNvSpPr>
            <p:nvPr/>
          </p:nvSpPr>
          <p:spPr bwMode="auto">
            <a:xfrm rot="1740000" flipH="1">
              <a:off x="2209" y="1984"/>
              <a:ext cx="460" cy="684"/>
            </a:xfrm>
            <a:prstGeom prst="roundRect">
              <a:avLst>
                <a:gd name="adj" fmla="val 12495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5244" name="Rectangle 11"/>
            <p:cNvSpPr>
              <a:spLocks noChangeArrowheads="1"/>
            </p:cNvSpPr>
            <p:nvPr/>
          </p:nvSpPr>
          <p:spPr bwMode="auto">
            <a:xfrm rot="480000">
              <a:off x="1860" y="1921"/>
              <a:ext cx="401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3200" b="1"/>
                <a:t>24</a:t>
              </a:r>
            </a:p>
          </p:txBody>
        </p:sp>
        <p:sp>
          <p:nvSpPr>
            <p:cNvPr id="95245" name="Rectangle 12"/>
            <p:cNvSpPr>
              <a:spLocks noChangeArrowheads="1"/>
            </p:cNvSpPr>
            <p:nvPr/>
          </p:nvSpPr>
          <p:spPr bwMode="auto">
            <a:xfrm rot="1500000">
              <a:off x="2290" y="2090"/>
              <a:ext cx="401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3200" b="1"/>
                <a:t>36</a:t>
              </a:r>
            </a:p>
          </p:txBody>
        </p:sp>
      </p:grpSp>
      <p:sp>
        <p:nvSpPr>
          <p:cNvPr id="95240" name="AutoShape 13"/>
          <p:cNvSpPr>
            <a:spLocks noChangeArrowheads="1"/>
          </p:cNvSpPr>
          <p:nvPr/>
        </p:nvSpPr>
        <p:spPr bwMode="auto">
          <a:xfrm rot="1740000" flipH="1">
            <a:off x="3019425" y="4705350"/>
            <a:ext cx="730250" cy="1085850"/>
          </a:xfrm>
          <a:prstGeom prst="roundRect">
            <a:avLst>
              <a:gd name="adj" fmla="val 12495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5241" name="Rectangle 14"/>
          <p:cNvSpPr>
            <a:spLocks noChangeArrowheads="1"/>
          </p:cNvSpPr>
          <p:nvPr/>
        </p:nvSpPr>
        <p:spPr bwMode="auto">
          <a:xfrm rot="1800000">
            <a:off x="3084513" y="4832350"/>
            <a:ext cx="63658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3200" b="1"/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Insertion Sort</a:t>
            </a:r>
          </a:p>
        </p:txBody>
      </p:sp>
      <p:pic>
        <p:nvPicPr>
          <p:cNvPr id="96259" name="Picture 3"/>
          <p:cNvPicPr>
            <a:picLocks noChangeAspect="1" noChangeArrowheads="1"/>
          </p:cNvPicPr>
          <p:nvPr>
            <p:ph type="body" idx="1"/>
          </p:nvPr>
        </p:nvPicPr>
        <p:blipFill>
          <a:blip r:embed="rId3"/>
          <a:srcRect l="1018" t="18683" r="5267" b="65454"/>
          <a:stretch>
            <a:fillRect/>
          </a:stretch>
        </p:blipFill>
        <p:spPr>
          <a:xfrm>
            <a:off x="1992313" y="3756025"/>
            <a:ext cx="5068887" cy="855663"/>
          </a:xfrm>
          <a:noFill/>
        </p:spPr>
      </p:pic>
      <p:sp>
        <p:nvSpPr>
          <p:cNvPr id="96260" name="Line 11"/>
          <p:cNvSpPr>
            <a:spLocks noChangeShapeType="1"/>
          </p:cNvSpPr>
          <p:nvPr/>
        </p:nvSpPr>
        <p:spPr bwMode="auto">
          <a:xfrm>
            <a:off x="3644900" y="3611563"/>
            <a:ext cx="0" cy="831850"/>
          </a:xfrm>
          <a:prstGeom prst="line">
            <a:avLst/>
          </a:prstGeom>
          <a:noFill/>
          <a:ln w="57150">
            <a:solidFill>
              <a:srgbClr val="DD011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6261" name="Text Box 14"/>
          <p:cNvSpPr txBox="1">
            <a:spLocks noChangeArrowheads="1"/>
          </p:cNvSpPr>
          <p:nvPr/>
        </p:nvSpPr>
        <p:spPr bwMode="auto">
          <a:xfrm>
            <a:off x="2311400" y="1960563"/>
            <a:ext cx="43354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5      2      4      6      1      3</a:t>
            </a:r>
          </a:p>
        </p:txBody>
      </p:sp>
      <p:sp>
        <p:nvSpPr>
          <p:cNvPr id="96262" name="Text Box 15"/>
          <p:cNvSpPr txBox="1">
            <a:spLocks noChangeArrowheads="1"/>
          </p:cNvSpPr>
          <p:nvPr/>
        </p:nvSpPr>
        <p:spPr bwMode="auto">
          <a:xfrm>
            <a:off x="3867150" y="1495425"/>
            <a:ext cx="1327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input array </a:t>
            </a:r>
          </a:p>
        </p:txBody>
      </p:sp>
      <p:sp>
        <p:nvSpPr>
          <p:cNvPr id="96263" name="Text Box 16"/>
          <p:cNvSpPr txBox="1">
            <a:spLocks noChangeArrowheads="1"/>
          </p:cNvSpPr>
          <p:nvPr/>
        </p:nvSpPr>
        <p:spPr bwMode="auto">
          <a:xfrm>
            <a:off x="1809750" y="3306763"/>
            <a:ext cx="1517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left sub-array</a:t>
            </a:r>
          </a:p>
        </p:txBody>
      </p:sp>
      <p:sp>
        <p:nvSpPr>
          <p:cNvPr id="96264" name="Text Box 17"/>
          <p:cNvSpPr txBox="1">
            <a:spLocks noChangeArrowheads="1"/>
          </p:cNvSpPr>
          <p:nvPr/>
        </p:nvSpPr>
        <p:spPr bwMode="auto">
          <a:xfrm>
            <a:off x="4705350" y="3322638"/>
            <a:ext cx="1657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right sub-array</a:t>
            </a:r>
          </a:p>
        </p:txBody>
      </p:sp>
      <p:sp>
        <p:nvSpPr>
          <p:cNvPr id="96265" name="Text Box 18"/>
          <p:cNvSpPr txBox="1">
            <a:spLocks noChangeArrowheads="1"/>
          </p:cNvSpPr>
          <p:nvPr/>
        </p:nvSpPr>
        <p:spPr bwMode="auto">
          <a:xfrm>
            <a:off x="1717675" y="2832100"/>
            <a:ext cx="64754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at each iteration, the array is divided in two sub-arrays:</a:t>
            </a:r>
          </a:p>
        </p:txBody>
      </p:sp>
      <p:sp>
        <p:nvSpPr>
          <p:cNvPr id="96266" name="Text Box 19"/>
          <p:cNvSpPr txBox="1">
            <a:spLocks noChangeArrowheads="1"/>
          </p:cNvSpPr>
          <p:nvPr/>
        </p:nvSpPr>
        <p:spPr bwMode="auto">
          <a:xfrm>
            <a:off x="2586038" y="4587875"/>
            <a:ext cx="819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sorted</a:t>
            </a:r>
          </a:p>
        </p:txBody>
      </p:sp>
      <p:sp>
        <p:nvSpPr>
          <p:cNvPr id="96267" name="Text Box 20"/>
          <p:cNvSpPr txBox="1">
            <a:spLocks noChangeArrowheads="1"/>
          </p:cNvSpPr>
          <p:nvPr/>
        </p:nvSpPr>
        <p:spPr bwMode="auto">
          <a:xfrm>
            <a:off x="4841875" y="4491038"/>
            <a:ext cx="1073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unsorted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Insertion Sort</a:t>
            </a:r>
          </a:p>
        </p:txBody>
      </p:sp>
      <p:pic>
        <p:nvPicPr>
          <p:cNvPr id="1032" name="Picture 4"/>
          <p:cNvPicPr>
            <a:picLocks noChangeAspect="1" noChangeArrowheads="1"/>
          </p:cNvPicPr>
          <p:nvPr>
            <p:ph type="body" idx="1"/>
          </p:nvPr>
        </p:nvPicPr>
        <p:blipFill>
          <a:blip r:embed="rId4"/>
          <a:srcRect l="1018" t="4437" r="5267" b="9506"/>
          <a:stretch>
            <a:fillRect/>
          </a:stretch>
        </p:blipFill>
        <p:spPr>
          <a:xfrm>
            <a:off x="501650" y="1552575"/>
            <a:ext cx="5068888" cy="4641850"/>
          </a:xfrm>
          <a:noFill/>
        </p:spPr>
      </p:pic>
      <p:graphicFrame>
        <p:nvGraphicFramePr>
          <p:cNvPr id="279557" name="Object 2"/>
          <p:cNvGraphicFramePr>
            <a:graphicFrameLocks noChangeAspect="1"/>
          </p:cNvGraphicFramePr>
          <p:nvPr/>
        </p:nvGraphicFramePr>
        <p:xfrm>
          <a:off x="5683250" y="1290638"/>
          <a:ext cx="1989138" cy="865187"/>
        </p:xfrm>
        <a:graphic>
          <a:graphicData uri="http://schemas.openxmlformats.org/presentationml/2006/ole">
            <p:oleObj spid="_x0000_s1026" name="Paint Shop Pro Image" r:id="rId5" imgW="2526829" imgH="1395500" progId="PaintShopPro">
              <p:embed/>
            </p:oleObj>
          </a:graphicData>
        </a:graphic>
      </p:graphicFrame>
      <p:graphicFrame>
        <p:nvGraphicFramePr>
          <p:cNvPr id="279558" name="Object 3"/>
          <p:cNvGraphicFramePr>
            <a:graphicFrameLocks noChangeAspect="1"/>
          </p:cNvGraphicFramePr>
          <p:nvPr/>
        </p:nvGraphicFramePr>
        <p:xfrm>
          <a:off x="5637213" y="2127250"/>
          <a:ext cx="2108200" cy="912813"/>
        </p:xfrm>
        <a:graphic>
          <a:graphicData uri="http://schemas.openxmlformats.org/presentationml/2006/ole">
            <p:oleObj spid="_x0000_s1027" name="Paint Shop Pro Image" r:id="rId6" imgW="2575610" imgH="1385741" progId="PaintShopPro">
              <p:embed/>
            </p:oleObj>
          </a:graphicData>
        </a:graphic>
      </p:graphicFrame>
      <p:graphicFrame>
        <p:nvGraphicFramePr>
          <p:cNvPr id="279559" name="Object 4"/>
          <p:cNvGraphicFramePr>
            <a:graphicFrameLocks noChangeAspect="1"/>
          </p:cNvGraphicFramePr>
          <p:nvPr/>
        </p:nvGraphicFramePr>
        <p:xfrm>
          <a:off x="5557838" y="3032125"/>
          <a:ext cx="2138362" cy="974725"/>
        </p:xfrm>
        <a:graphic>
          <a:graphicData uri="http://schemas.openxmlformats.org/presentationml/2006/ole">
            <p:oleObj spid="_x0000_s1028" name="Paint Shop Pro Image" r:id="rId7" imgW="2526829" imgH="1414634" progId="PaintShopPro">
              <p:embed/>
            </p:oleObj>
          </a:graphicData>
        </a:graphic>
      </p:graphicFrame>
      <p:graphicFrame>
        <p:nvGraphicFramePr>
          <p:cNvPr id="279560" name="Object 5"/>
          <p:cNvGraphicFramePr>
            <a:graphicFrameLocks noChangeAspect="1"/>
          </p:cNvGraphicFramePr>
          <p:nvPr/>
        </p:nvGraphicFramePr>
        <p:xfrm>
          <a:off x="5526088" y="3976688"/>
          <a:ext cx="2271712" cy="917575"/>
        </p:xfrm>
        <a:graphic>
          <a:graphicData uri="http://schemas.openxmlformats.org/presentationml/2006/ole">
            <p:oleObj spid="_x0000_s1029" name="Paint Shop Pro Image" r:id="rId8" imgW="2712195" imgH="1453659" progId="PaintShopPro">
              <p:embed/>
            </p:oleObj>
          </a:graphicData>
        </a:graphic>
      </p:graphicFrame>
      <p:graphicFrame>
        <p:nvGraphicFramePr>
          <p:cNvPr id="279561" name="Object 6"/>
          <p:cNvGraphicFramePr>
            <a:graphicFrameLocks noChangeAspect="1"/>
          </p:cNvGraphicFramePr>
          <p:nvPr/>
        </p:nvGraphicFramePr>
        <p:xfrm>
          <a:off x="5603875" y="4879975"/>
          <a:ext cx="2108200" cy="942975"/>
        </p:xfrm>
        <a:graphic>
          <a:graphicData uri="http://schemas.openxmlformats.org/presentationml/2006/ole">
            <p:oleObj spid="_x0000_s1030" name="Paint Shop Pro Image" r:id="rId9" imgW="2546341" imgH="1424390" progId="PaintShopPro">
              <p:embed/>
            </p:oleObj>
          </a:graphicData>
        </a:graphic>
      </p:graphicFrame>
      <p:sp>
        <p:nvSpPr>
          <p:cNvPr id="1033" name="Line 10"/>
          <p:cNvSpPr>
            <a:spLocks noChangeShapeType="1"/>
          </p:cNvSpPr>
          <p:nvPr/>
        </p:nvSpPr>
        <p:spPr bwMode="auto">
          <a:xfrm>
            <a:off x="1298575" y="1325563"/>
            <a:ext cx="0" cy="831850"/>
          </a:xfrm>
          <a:prstGeom prst="line">
            <a:avLst/>
          </a:prstGeom>
          <a:noFill/>
          <a:ln w="57150">
            <a:solidFill>
              <a:srgbClr val="DD011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4" name="Line 11"/>
          <p:cNvSpPr>
            <a:spLocks noChangeShapeType="1"/>
          </p:cNvSpPr>
          <p:nvPr/>
        </p:nvSpPr>
        <p:spPr bwMode="auto">
          <a:xfrm>
            <a:off x="2173288" y="2209800"/>
            <a:ext cx="0" cy="831850"/>
          </a:xfrm>
          <a:prstGeom prst="line">
            <a:avLst/>
          </a:prstGeom>
          <a:noFill/>
          <a:ln w="57150">
            <a:solidFill>
              <a:srgbClr val="DD011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5" name="Line 12"/>
          <p:cNvSpPr>
            <a:spLocks noChangeShapeType="1"/>
          </p:cNvSpPr>
          <p:nvPr/>
        </p:nvSpPr>
        <p:spPr bwMode="auto">
          <a:xfrm>
            <a:off x="3095625" y="2987675"/>
            <a:ext cx="0" cy="831850"/>
          </a:xfrm>
          <a:prstGeom prst="line">
            <a:avLst/>
          </a:prstGeom>
          <a:noFill/>
          <a:ln w="57150">
            <a:solidFill>
              <a:srgbClr val="DD011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6" name="Line 13"/>
          <p:cNvSpPr>
            <a:spLocks noChangeShapeType="1"/>
          </p:cNvSpPr>
          <p:nvPr/>
        </p:nvSpPr>
        <p:spPr bwMode="auto">
          <a:xfrm>
            <a:off x="3919538" y="3863975"/>
            <a:ext cx="0" cy="831850"/>
          </a:xfrm>
          <a:prstGeom prst="line">
            <a:avLst/>
          </a:prstGeom>
          <a:noFill/>
          <a:ln w="57150">
            <a:solidFill>
              <a:srgbClr val="DD011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7" name="Line 14"/>
          <p:cNvSpPr>
            <a:spLocks noChangeShapeType="1"/>
          </p:cNvSpPr>
          <p:nvPr/>
        </p:nvSpPr>
        <p:spPr bwMode="auto">
          <a:xfrm>
            <a:off x="4714875" y="4714875"/>
            <a:ext cx="0" cy="831850"/>
          </a:xfrm>
          <a:prstGeom prst="line">
            <a:avLst/>
          </a:prstGeom>
          <a:noFill/>
          <a:ln w="57150">
            <a:solidFill>
              <a:srgbClr val="DD011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INSERTION-SORT</a:t>
            </a:r>
          </a:p>
        </p:txBody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838" y="1214438"/>
            <a:ext cx="8229600" cy="5411787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dirty="0" smtClean="0">
                <a:latin typeface="Monotype Corsiva" pitchFamily="66" charset="0"/>
              </a:rPr>
              <a:t>Alg.:</a:t>
            </a:r>
            <a:r>
              <a:rPr lang="en-US" dirty="0" smtClean="0"/>
              <a:t> INSERTION-SORT</a:t>
            </a:r>
            <a:r>
              <a:rPr lang="en-US" i="1" dirty="0" smtClean="0"/>
              <a:t>(A)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b="1" dirty="0" smtClean="0"/>
              <a:t>	for </a:t>
            </a:r>
            <a:r>
              <a:rPr lang="en-US" dirty="0" smtClean="0">
                <a:latin typeface="Comic Sans MS" pitchFamily="66" charset="0"/>
              </a:rPr>
              <a:t>j ← 2</a:t>
            </a:r>
            <a:r>
              <a:rPr lang="en-US" dirty="0" smtClean="0"/>
              <a:t> </a:t>
            </a:r>
            <a:r>
              <a:rPr lang="en-US" b="1" dirty="0" smtClean="0"/>
              <a:t>to </a:t>
            </a:r>
            <a:r>
              <a:rPr lang="en-US" dirty="0" smtClean="0"/>
              <a:t>n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b="1" dirty="0" smtClean="0"/>
              <a:t>		do </a:t>
            </a:r>
            <a:r>
              <a:rPr lang="en-US" dirty="0" smtClean="0">
                <a:latin typeface="Comic Sans MS" pitchFamily="66" charset="0"/>
              </a:rPr>
              <a:t>key</a:t>
            </a:r>
            <a:r>
              <a:rPr lang="en-US" dirty="0" smtClean="0"/>
              <a:t> ← </a:t>
            </a:r>
            <a:r>
              <a:rPr lang="en-US" dirty="0" smtClean="0">
                <a:latin typeface="Comic Sans MS" pitchFamily="66" charset="0"/>
              </a:rPr>
              <a:t>A[ j ]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dirty="0" smtClean="0"/>
              <a:t>	</a:t>
            </a:r>
            <a:r>
              <a:rPr lang="en-US" sz="2000" dirty="0" smtClean="0"/>
              <a:t>	      Insert </a:t>
            </a:r>
            <a:r>
              <a:rPr lang="en-US" sz="2000" dirty="0" smtClean="0">
                <a:latin typeface="Comic Sans MS" pitchFamily="66" charset="0"/>
              </a:rPr>
              <a:t>A[ j ]</a:t>
            </a:r>
            <a:r>
              <a:rPr lang="en-US" sz="2000" dirty="0" smtClean="0"/>
              <a:t> into the sorted sequence </a:t>
            </a:r>
            <a:r>
              <a:rPr lang="en-US" sz="2000" dirty="0" smtClean="0">
                <a:latin typeface="Comic Sans MS" pitchFamily="66" charset="0"/>
              </a:rPr>
              <a:t>A[1 . . j -1]</a:t>
            </a:r>
            <a:endParaRPr lang="en-US" sz="2000" dirty="0" smtClean="0"/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dirty="0" smtClean="0"/>
              <a:t>		     </a:t>
            </a:r>
            <a:r>
              <a:rPr lang="en-US" dirty="0" err="1" smtClean="0">
                <a:latin typeface="Comic Sans MS" pitchFamily="66" charset="0"/>
              </a:rPr>
              <a:t>i</a:t>
            </a:r>
            <a:r>
              <a:rPr lang="en-US" dirty="0" smtClean="0">
                <a:latin typeface="Comic Sans MS" pitchFamily="66" charset="0"/>
              </a:rPr>
              <a:t> ← j - 1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b="1" dirty="0" smtClean="0"/>
              <a:t>		     while </a:t>
            </a:r>
            <a:r>
              <a:rPr lang="en-US" dirty="0" err="1" smtClean="0">
                <a:latin typeface="Comic Sans MS" pitchFamily="66" charset="0"/>
              </a:rPr>
              <a:t>i</a:t>
            </a:r>
            <a:r>
              <a:rPr lang="en-US" dirty="0" smtClean="0">
                <a:latin typeface="Comic Sans MS" pitchFamily="66" charset="0"/>
              </a:rPr>
              <a:t> &gt; 0</a:t>
            </a:r>
            <a:r>
              <a:rPr lang="en-US" dirty="0" smtClean="0"/>
              <a:t> and </a:t>
            </a:r>
            <a:r>
              <a:rPr lang="en-US" dirty="0" smtClean="0">
                <a:latin typeface="Comic Sans MS" pitchFamily="66" charset="0"/>
              </a:rPr>
              <a:t>A[</a:t>
            </a:r>
            <a:r>
              <a:rPr lang="en-US" dirty="0" err="1" smtClean="0">
                <a:latin typeface="Comic Sans MS" pitchFamily="66" charset="0"/>
              </a:rPr>
              <a:t>i</a:t>
            </a:r>
            <a:r>
              <a:rPr lang="en-US" dirty="0" smtClean="0">
                <a:latin typeface="Comic Sans MS" pitchFamily="66" charset="0"/>
              </a:rPr>
              <a:t>] &gt; key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dirty="0" smtClean="0"/>
              <a:t>			</a:t>
            </a:r>
            <a:r>
              <a:rPr lang="en-US" b="1" dirty="0" smtClean="0"/>
              <a:t>do </a:t>
            </a:r>
            <a:r>
              <a:rPr lang="en-US" dirty="0" smtClean="0">
                <a:latin typeface="Comic Sans MS" pitchFamily="66" charset="0"/>
              </a:rPr>
              <a:t>A[</a:t>
            </a:r>
            <a:r>
              <a:rPr lang="en-US" dirty="0" err="1" smtClean="0">
                <a:latin typeface="Comic Sans MS" pitchFamily="66" charset="0"/>
              </a:rPr>
              <a:t>i</a:t>
            </a:r>
            <a:r>
              <a:rPr lang="en-US" dirty="0" smtClean="0">
                <a:latin typeface="Comic Sans MS" pitchFamily="66" charset="0"/>
              </a:rPr>
              <a:t> + 1] ← A[</a:t>
            </a:r>
            <a:r>
              <a:rPr lang="en-US" dirty="0" err="1" smtClean="0">
                <a:latin typeface="Comic Sans MS" pitchFamily="66" charset="0"/>
              </a:rPr>
              <a:t>i</a:t>
            </a:r>
            <a:r>
              <a:rPr lang="en-US" dirty="0" smtClean="0">
                <a:latin typeface="Comic Sans MS" pitchFamily="66" charset="0"/>
              </a:rPr>
              <a:t>]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dirty="0" smtClean="0"/>
              <a:t>			      </a:t>
            </a:r>
            <a:r>
              <a:rPr lang="en-US" dirty="0" err="1" smtClean="0">
                <a:latin typeface="Comic Sans MS" pitchFamily="66" charset="0"/>
              </a:rPr>
              <a:t>i</a:t>
            </a:r>
            <a:r>
              <a:rPr lang="en-US" dirty="0" smtClean="0">
                <a:latin typeface="Comic Sans MS" pitchFamily="66" charset="0"/>
              </a:rPr>
              <a:t> ← </a:t>
            </a:r>
            <a:r>
              <a:rPr lang="en-US" dirty="0" err="1" smtClean="0">
                <a:latin typeface="Comic Sans MS" pitchFamily="66" charset="0"/>
              </a:rPr>
              <a:t>i</a:t>
            </a:r>
            <a:r>
              <a:rPr lang="en-US" dirty="0" smtClean="0">
                <a:latin typeface="Comic Sans MS" pitchFamily="66" charset="0"/>
              </a:rPr>
              <a:t> – 1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dirty="0" smtClean="0"/>
              <a:t>		     </a:t>
            </a:r>
            <a:r>
              <a:rPr lang="en-US" dirty="0" smtClean="0">
                <a:latin typeface="Comic Sans MS" pitchFamily="66" charset="0"/>
              </a:rPr>
              <a:t>A[</a:t>
            </a:r>
            <a:r>
              <a:rPr lang="en-US" dirty="0" err="1" smtClean="0">
                <a:latin typeface="Comic Sans MS" pitchFamily="66" charset="0"/>
              </a:rPr>
              <a:t>i</a:t>
            </a:r>
            <a:r>
              <a:rPr lang="en-US" dirty="0" smtClean="0">
                <a:latin typeface="Comic Sans MS" pitchFamily="66" charset="0"/>
              </a:rPr>
              <a:t> + 1] ← key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Insertion sort – sorts the elements in place</a:t>
            </a:r>
            <a:endParaRPr lang="en-US" dirty="0" smtClean="0">
              <a:latin typeface="Comic Sans MS" pitchFamily="66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686300" y="1328738"/>
            <a:ext cx="4267200" cy="762000"/>
            <a:chOff x="528" y="1392"/>
            <a:chExt cx="2688" cy="480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528" y="1584"/>
              <a:ext cx="2688" cy="288"/>
              <a:chOff x="528" y="1440"/>
              <a:chExt cx="2688" cy="288"/>
            </a:xfrm>
          </p:grpSpPr>
          <p:sp>
            <p:nvSpPr>
              <p:cNvPr id="97299" name="Rectangle 6"/>
              <p:cNvSpPr>
                <a:spLocks noChangeArrowheads="1"/>
              </p:cNvSpPr>
              <p:nvPr/>
            </p:nvSpPr>
            <p:spPr bwMode="auto">
              <a:xfrm>
                <a:off x="2880" y="1440"/>
                <a:ext cx="33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sz="2400"/>
                  <a:t>a</a:t>
                </a:r>
                <a:r>
                  <a:rPr lang="en-US" sz="2400" baseline="-25000"/>
                  <a:t>8</a:t>
                </a:r>
              </a:p>
            </p:txBody>
          </p:sp>
          <p:sp>
            <p:nvSpPr>
              <p:cNvPr id="97300" name="Rectangle 7"/>
              <p:cNvSpPr>
                <a:spLocks noChangeArrowheads="1"/>
              </p:cNvSpPr>
              <p:nvPr/>
            </p:nvSpPr>
            <p:spPr bwMode="auto">
              <a:xfrm>
                <a:off x="2544" y="1440"/>
                <a:ext cx="33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sz="2400"/>
                  <a:t>a</a:t>
                </a:r>
                <a:r>
                  <a:rPr lang="en-US" sz="2400" baseline="-25000"/>
                  <a:t>7</a:t>
                </a:r>
              </a:p>
            </p:txBody>
          </p:sp>
          <p:sp>
            <p:nvSpPr>
              <p:cNvPr id="97301" name="Rectangle 8"/>
              <p:cNvSpPr>
                <a:spLocks noChangeArrowheads="1"/>
              </p:cNvSpPr>
              <p:nvPr/>
            </p:nvSpPr>
            <p:spPr bwMode="auto">
              <a:xfrm>
                <a:off x="2208" y="1440"/>
                <a:ext cx="33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sz="2400"/>
                  <a:t>a</a:t>
                </a:r>
                <a:r>
                  <a:rPr lang="en-US" sz="2400" baseline="-25000"/>
                  <a:t>6</a:t>
                </a:r>
              </a:p>
            </p:txBody>
          </p:sp>
          <p:sp>
            <p:nvSpPr>
              <p:cNvPr id="97302" name="Rectangle 9"/>
              <p:cNvSpPr>
                <a:spLocks noChangeArrowheads="1"/>
              </p:cNvSpPr>
              <p:nvPr/>
            </p:nvSpPr>
            <p:spPr bwMode="auto">
              <a:xfrm>
                <a:off x="1872" y="1440"/>
                <a:ext cx="33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sz="2400"/>
                  <a:t>a</a:t>
                </a:r>
                <a:r>
                  <a:rPr lang="en-US" sz="2400" baseline="-25000"/>
                  <a:t>5</a:t>
                </a:r>
              </a:p>
            </p:txBody>
          </p:sp>
          <p:sp>
            <p:nvSpPr>
              <p:cNvPr id="97303" name="Rectangle 10"/>
              <p:cNvSpPr>
                <a:spLocks noChangeArrowheads="1"/>
              </p:cNvSpPr>
              <p:nvPr/>
            </p:nvSpPr>
            <p:spPr bwMode="auto">
              <a:xfrm>
                <a:off x="1536" y="1440"/>
                <a:ext cx="33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sz="2400"/>
                  <a:t>a</a:t>
                </a:r>
                <a:r>
                  <a:rPr lang="en-US" sz="2400" baseline="-25000"/>
                  <a:t>4</a:t>
                </a:r>
              </a:p>
            </p:txBody>
          </p:sp>
          <p:sp>
            <p:nvSpPr>
              <p:cNvPr id="97304" name="Rectangle 11"/>
              <p:cNvSpPr>
                <a:spLocks noChangeArrowheads="1"/>
              </p:cNvSpPr>
              <p:nvPr/>
            </p:nvSpPr>
            <p:spPr bwMode="auto">
              <a:xfrm>
                <a:off x="1200" y="1440"/>
                <a:ext cx="33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sz="2400"/>
                  <a:t>a</a:t>
                </a:r>
                <a:r>
                  <a:rPr lang="en-US" sz="2400" baseline="-25000"/>
                  <a:t>3</a:t>
                </a:r>
              </a:p>
            </p:txBody>
          </p:sp>
          <p:sp>
            <p:nvSpPr>
              <p:cNvPr id="97305" name="Rectangle 12"/>
              <p:cNvSpPr>
                <a:spLocks noChangeArrowheads="1"/>
              </p:cNvSpPr>
              <p:nvPr/>
            </p:nvSpPr>
            <p:spPr bwMode="auto">
              <a:xfrm>
                <a:off x="864" y="1440"/>
                <a:ext cx="33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sz="2400"/>
                  <a:t>a</a:t>
                </a:r>
                <a:r>
                  <a:rPr lang="en-US" sz="2400" baseline="-25000"/>
                  <a:t>2</a:t>
                </a:r>
              </a:p>
            </p:txBody>
          </p:sp>
          <p:sp>
            <p:nvSpPr>
              <p:cNvPr id="97306" name="Rectangle 13"/>
              <p:cNvSpPr>
                <a:spLocks noChangeArrowheads="1"/>
              </p:cNvSpPr>
              <p:nvPr/>
            </p:nvSpPr>
            <p:spPr bwMode="auto">
              <a:xfrm>
                <a:off x="528" y="1440"/>
                <a:ext cx="33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sz="2400"/>
                  <a:t>a</a:t>
                </a:r>
                <a:r>
                  <a:rPr lang="en-US" sz="2400" baseline="-25000"/>
                  <a:t>1</a:t>
                </a:r>
              </a:p>
            </p:txBody>
          </p:sp>
          <p:sp>
            <p:nvSpPr>
              <p:cNvPr id="97307" name="Line 14"/>
              <p:cNvSpPr>
                <a:spLocks noChangeShapeType="1"/>
              </p:cNvSpPr>
              <p:nvPr/>
            </p:nvSpPr>
            <p:spPr bwMode="auto">
              <a:xfrm>
                <a:off x="528" y="1440"/>
                <a:ext cx="2688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 anchorCtr="1"/>
              <a:lstStyle/>
              <a:p>
                <a:endParaRPr lang="en-US"/>
              </a:p>
            </p:txBody>
          </p:sp>
          <p:sp>
            <p:nvSpPr>
              <p:cNvPr id="97308" name="Line 15"/>
              <p:cNvSpPr>
                <a:spLocks noChangeShapeType="1"/>
              </p:cNvSpPr>
              <p:nvPr/>
            </p:nvSpPr>
            <p:spPr bwMode="auto">
              <a:xfrm>
                <a:off x="528" y="1728"/>
                <a:ext cx="2688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 anchorCtr="1"/>
              <a:lstStyle/>
              <a:p>
                <a:endParaRPr lang="en-US"/>
              </a:p>
            </p:txBody>
          </p:sp>
          <p:sp>
            <p:nvSpPr>
              <p:cNvPr id="97309" name="Line 16"/>
              <p:cNvSpPr>
                <a:spLocks noChangeShapeType="1"/>
              </p:cNvSpPr>
              <p:nvPr/>
            </p:nvSpPr>
            <p:spPr bwMode="auto">
              <a:xfrm>
                <a:off x="528" y="1440"/>
                <a:ext cx="0" cy="28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 anchorCtr="1"/>
              <a:lstStyle/>
              <a:p>
                <a:endParaRPr lang="en-US"/>
              </a:p>
            </p:txBody>
          </p:sp>
          <p:sp>
            <p:nvSpPr>
              <p:cNvPr id="97310" name="Line 17"/>
              <p:cNvSpPr>
                <a:spLocks noChangeShapeType="1"/>
              </p:cNvSpPr>
              <p:nvPr/>
            </p:nvSpPr>
            <p:spPr bwMode="auto">
              <a:xfrm>
                <a:off x="864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 anchorCtr="1"/>
              <a:lstStyle/>
              <a:p>
                <a:endParaRPr lang="en-US"/>
              </a:p>
            </p:txBody>
          </p:sp>
          <p:sp>
            <p:nvSpPr>
              <p:cNvPr id="97311" name="Line 18"/>
              <p:cNvSpPr>
                <a:spLocks noChangeShapeType="1"/>
              </p:cNvSpPr>
              <p:nvPr/>
            </p:nvSpPr>
            <p:spPr bwMode="auto">
              <a:xfrm>
                <a:off x="1200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 anchorCtr="1"/>
              <a:lstStyle/>
              <a:p>
                <a:endParaRPr lang="en-US"/>
              </a:p>
            </p:txBody>
          </p:sp>
          <p:sp>
            <p:nvSpPr>
              <p:cNvPr id="97312" name="Line 19"/>
              <p:cNvSpPr>
                <a:spLocks noChangeShapeType="1"/>
              </p:cNvSpPr>
              <p:nvPr/>
            </p:nvSpPr>
            <p:spPr bwMode="auto">
              <a:xfrm>
                <a:off x="1536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 anchorCtr="1"/>
              <a:lstStyle/>
              <a:p>
                <a:endParaRPr lang="en-US"/>
              </a:p>
            </p:txBody>
          </p:sp>
          <p:sp>
            <p:nvSpPr>
              <p:cNvPr id="97313" name="Line 20"/>
              <p:cNvSpPr>
                <a:spLocks noChangeShapeType="1"/>
              </p:cNvSpPr>
              <p:nvPr/>
            </p:nvSpPr>
            <p:spPr bwMode="auto">
              <a:xfrm>
                <a:off x="1872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 anchorCtr="1"/>
              <a:lstStyle/>
              <a:p>
                <a:endParaRPr lang="en-US"/>
              </a:p>
            </p:txBody>
          </p:sp>
          <p:sp>
            <p:nvSpPr>
              <p:cNvPr id="97314" name="Line 21"/>
              <p:cNvSpPr>
                <a:spLocks noChangeShapeType="1"/>
              </p:cNvSpPr>
              <p:nvPr/>
            </p:nvSpPr>
            <p:spPr bwMode="auto">
              <a:xfrm>
                <a:off x="2208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 anchorCtr="1"/>
              <a:lstStyle/>
              <a:p>
                <a:endParaRPr lang="en-US"/>
              </a:p>
            </p:txBody>
          </p:sp>
          <p:sp>
            <p:nvSpPr>
              <p:cNvPr id="97315" name="Line 22"/>
              <p:cNvSpPr>
                <a:spLocks noChangeShapeType="1"/>
              </p:cNvSpPr>
              <p:nvPr/>
            </p:nvSpPr>
            <p:spPr bwMode="auto">
              <a:xfrm>
                <a:off x="2544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 anchorCtr="1"/>
              <a:lstStyle/>
              <a:p>
                <a:endParaRPr lang="en-US"/>
              </a:p>
            </p:txBody>
          </p:sp>
          <p:sp>
            <p:nvSpPr>
              <p:cNvPr id="97316" name="Line 23"/>
              <p:cNvSpPr>
                <a:spLocks noChangeShapeType="1"/>
              </p:cNvSpPr>
              <p:nvPr/>
            </p:nvSpPr>
            <p:spPr bwMode="auto">
              <a:xfrm>
                <a:off x="2880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 anchorCtr="1"/>
              <a:lstStyle/>
              <a:p>
                <a:endParaRPr lang="en-US"/>
              </a:p>
            </p:txBody>
          </p:sp>
          <p:sp>
            <p:nvSpPr>
              <p:cNvPr id="97317" name="Line 24"/>
              <p:cNvSpPr>
                <a:spLocks noChangeShapeType="1"/>
              </p:cNvSpPr>
              <p:nvPr/>
            </p:nvSpPr>
            <p:spPr bwMode="auto">
              <a:xfrm>
                <a:off x="3216" y="1440"/>
                <a:ext cx="0" cy="28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 anchorCtr="1"/>
              <a:lstStyle/>
              <a:p>
                <a:endParaRPr lang="en-US"/>
              </a:p>
            </p:txBody>
          </p:sp>
        </p:grpSp>
        <p:sp>
          <p:nvSpPr>
            <p:cNvPr id="97291" name="Text Box 25"/>
            <p:cNvSpPr txBox="1">
              <a:spLocks noChangeArrowheads="1"/>
            </p:cNvSpPr>
            <p:nvPr/>
          </p:nvSpPr>
          <p:spPr bwMode="auto">
            <a:xfrm>
              <a:off x="624" y="1392"/>
              <a:ext cx="1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1</a:t>
              </a:r>
            </a:p>
          </p:txBody>
        </p:sp>
        <p:sp>
          <p:nvSpPr>
            <p:cNvPr id="97292" name="Text Box 26"/>
            <p:cNvSpPr txBox="1">
              <a:spLocks noChangeArrowheads="1"/>
            </p:cNvSpPr>
            <p:nvPr/>
          </p:nvSpPr>
          <p:spPr bwMode="auto">
            <a:xfrm>
              <a:off x="960" y="1392"/>
              <a:ext cx="1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97293" name="Text Box 27"/>
            <p:cNvSpPr txBox="1">
              <a:spLocks noChangeArrowheads="1"/>
            </p:cNvSpPr>
            <p:nvPr/>
          </p:nvSpPr>
          <p:spPr bwMode="auto">
            <a:xfrm>
              <a:off x="1296" y="1392"/>
              <a:ext cx="1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3</a:t>
              </a:r>
            </a:p>
          </p:txBody>
        </p:sp>
        <p:sp>
          <p:nvSpPr>
            <p:cNvPr id="97294" name="Text Box 28"/>
            <p:cNvSpPr txBox="1">
              <a:spLocks noChangeArrowheads="1"/>
            </p:cNvSpPr>
            <p:nvPr/>
          </p:nvSpPr>
          <p:spPr bwMode="auto">
            <a:xfrm>
              <a:off x="1632" y="1392"/>
              <a:ext cx="1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97295" name="Text Box 29"/>
            <p:cNvSpPr txBox="1">
              <a:spLocks noChangeArrowheads="1"/>
            </p:cNvSpPr>
            <p:nvPr/>
          </p:nvSpPr>
          <p:spPr bwMode="auto">
            <a:xfrm>
              <a:off x="1968" y="1392"/>
              <a:ext cx="1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97296" name="Text Box 30"/>
            <p:cNvSpPr txBox="1">
              <a:spLocks noChangeArrowheads="1"/>
            </p:cNvSpPr>
            <p:nvPr/>
          </p:nvSpPr>
          <p:spPr bwMode="auto">
            <a:xfrm>
              <a:off x="2304" y="1392"/>
              <a:ext cx="1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6</a:t>
              </a:r>
            </a:p>
          </p:txBody>
        </p:sp>
        <p:sp>
          <p:nvSpPr>
            <p:cNvPr id="97297" name="Text Box 31"/>
            <p:cNvSpPr txBox="1">
              <a:spLocks noChangeArrowheads="1"/>
            </p:cNvSpPr>
            <p:nvPr/>
          </p:nvSpPr>
          <p:spPr bwMode="auto">
            <a:xfrm>
              <a:off x="2640" y="1392"/>
              <a:ext cx="1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7</a:t>
              </a:r>
            </a:p>
          </p:txBody>
        </p:sp>
        <p:sp>
          <p:nvSpPr>
            <p:cNvPr id="97298" name="Text Box 32"/>
            <p:cNvSpPr txBox="1">
              <a:spLocks noChangeArrowheads="1"/>
            </p:cNvSpPr>
            <p:nvPr/>
          </p:nvSpPr>
          <p:spPr bwMode="auto">
            <a:xfrm>
              <a:off x="2976" y="1392"/>
              <a:ext cx="1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8</a:t>
              </a:r>
            </a:p>
          </p:txBody>
        </p:sp>
      </p:grp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5476875" y="2243138"/>
            <a:ext cx="1277938" cy="752475"/>
            <a:chOff x="3936" y="2448"/>
            <a:chExt cx="805" cy="474"/>
          </a:xfrm>
        </p:grpSpPr>
        <p:sp>
          <p:nvSpPr>
            <p:cNvPr id="97287" name="Text Box 34"/>
            <p:cNvSpPr txBox="1">
              <a:spLocks noChangeArrowheads="1"/>
            </p:cNvSpPr>
            <p:nvPr/>
          </p:nvSpPr>
          <p:spPr bwMode="auto">
            <a:xfrm>
              <a:off x="4224" y="2592"/>
              <a:ext cx="517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key</a:t>
              </a:r>
            </a:p>
          </p:txBody>
        </p:sp>
        <p:sp>
          <p:nvSpPr>
            <p:cNvPr id="97288" name="Line 35"/>
            <p:cNvSpPr>
              <a:spLocks noChangeShapeType="1"/>
            </p:cNvSpPr>
            <p:nvPr/>
          </p:nvSpPr>
          <p:spPr bwMode="auto">
            <a:xfrm flipH="1">
              <a:off x="3936" y="273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289" name="Line 36"/>
            <p:cNvSpPr>
              <a:spLocks noChangeShapeType="1"/>
            </p:cNvSpPr>
            <p:nvPr/>
          </p:nvSpPr>
          <p:spPr bwMode="auto">
            <a:xfrm flipV="1">
              <a:off x="3936" y="244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7286" name="AutoShape 37"/>
          <p:cNvSpPr>
            <a:spLocks noChangeArrowheads="1"/>
          </p:cNvSpPr>
          <p:nvPr/>
        </p:nvSpPr>
        <p:spPr bwMode="auto">
          <a:xfrm rot="-8014074">
            <a:off x="1583531" y="2988469"/>
            <a:ext cx="131763" cy="123825"/>
          </a:xfrm>
          <a:prstGeom prst="rtTriangl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AutoShape 2"/>
          <p:cNvSpPr>
            <a:spLocks noChangeArrowheads="1"/>
          </p:cNvSpPr>
          <p:nvPr/>
        </p:nvSpPr>
        <p:spPr bwMode="auto">
          <a:xfrm>
            <a:off x="508000" y="1892300"/>
            <a:ext cx="2484438" cy="4714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Loop Invariant for Insertion Sort</a:t>
            </a:r>
          </a:p>
        </p:txBody>
      </p:sp>
      <p:sp>
        <p:nvSpPr>
          <p:cNvPr id="205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50838" y="1066800"/>
            <a:ext cx="8229600" cy="5903913"/>
          </a:xfrm>
        </p:spPr>
        <p:txBody>
          <a:bodyPr/>
          <a:lstStyle/>
          <a:p>
            <a:pPr eaLnBrk="1" hangingPunct="1"/>
            <a:endParaRPr lang="en-US" sz="2000" smtClean="0"/>
          </a:p>
          <a:p>
            <a:pPr eaLnBrk="1" hangingPunct="1">
              <a:buFontTx/>
              <a:buNone/>
            </a:pPr>
            <a:r>
              <a:rPr lang="en-US" sz="2400" smtClean="0">
                <a:solidFill>
                  <a:srgbClr val="DD0111"/>
                </a:solidFill>
                <a:latin typeface="Monotype Corsiva" pitchFamily="66" charset="0"/>
              </a:rPr>
              <a:t>Alg.:</a:t>
            </a:r>
            <a:r>
              <a:rPr lang="en-US" sz="2400" smtClean="0"/>
              <a:t> INSERTION-SORT</a:t>
            </a:r>
            <a:r>
              <a:rPr lang="en-US" sz="2400" i="1" smtClean="0"/>
              <a:t>(A)</a:t>
            </a:r>
          </a:p>
          <a:p>
            <a:pPr eaLnBrk="1" hangingPunct="1">
              <a:buFontTx/>
              <a:buNone/>
            </a:pPr>
            <a:r>
              <a:rPr lang="en-US" sz="2400" b="1" smtClean="0"/>
              <a:t>	for </a:t>
            </a:r>
            <a:r>
              <a:rPr lang="en-US" sz="2400" smtClean="0">
                <a:latin typeface="Comic Sans MS" pitchFamily="66" charset="0"/>
              </a:rPr>
              <a:t>j ← 2</a:t>
            </a:r>
            <a:r>
              <a:rPr lang="en-US" sz="2400" smtClean="0"/>
              <a:t> </a:t>
            </a:r>
            <a:r>
              <a:rPr lang="en-US" sz="2400" b="1" smtClean="0"/>
              <a:t>to </a:t>
            </a:r>
            <a:r>
              <a:rPr lang="en-US" sz="2400" smtClean="0"/>
              <a:t>n</a:t>
            </a:r>
          </a:p>
          <a:p>
            <a:pPr eaLnBrk="1" hangingPunct="1">
              <a:buFontTx/>
              <a:buNone/>
            </a:pPr>
            <a:r>
              <a:rPr lang="en-US" sz="2400" b="1" smtClean="0"/>
              <a:t>		do </a:t>
            </a:r>
            <a:r>
              <a:rPr lang="en-US" sz="2400" smtClean="0">
                <a:latin typeface="Comic Sans MS" pitchFamily="66" charset="0"/>
              </a:rPr>
              <a:t>key</a:t>
            </a:r>
            <a:r>
              <a:rPr lang="en-US" sz="2400" smtClean="0"/>
              <a:t> ← </a:t>
            </a:r>
            <a:r>
              <a:rPr lang="en-US" sz="2400" smtClean="0">
                <a:latin typeface="Comic Sans MS" pitchFamily="66" charset="0"/>
              </a:rPr>
              <a:t>A[ j ]</a:t>
            </a:r>
          </a:p>
          <a:p>
            <a:pPr eaLnBrk="1" hangingPunct="1">
              <a:buFontTx/>
              <a:buNone/>
            </a:pPr>
            <a:r>
              <a:rPr lang="en-US" smtClean="0"/>
              <a:t>	</a:t>
            </a:r>
            <a:r>
              <a:rPr lang="en-US" sz="2000" smtClean="0"/>
              <a:t>	      Insert </a:t>
            </a:r>
            <a:r>
              <a:rPr lang="en-US" sz="2000" smtClean="0">
                <a:latin typeface="Comic Sans MS" pitchFamily="66" charset="0"/>
              </a:rPr>
              <a:t>A[ j ]</a:t>
            </a:r>
            <a:r>
              <a:rPr lang="en-US" sz="2000" smtClean="0"/>
              <a:t> into the sorted sequence </a:t>
            </a:r>
            <a:r>
              <a:rPr lang="en-US" sz="2000" smtClean="0">
                <a:latin typeface="Comic Sans MS" pitchFamily="66" charset="0"/>
              </a:rPr>
              <a:t>A[1 . . j -1]</a:t>
            </a:r>
            <a:endParaRPr lang="en-US" sz="2000" smtClean="0"/>
          </a:p>
          <a:p>
            <a:pPr eaLnBrk="1" hangingPunct="1">
              <a:buFontTx/>
              <a:buNone/>
            </a:pPr>
            <a:r>
              <a:rPr lang="en-US" smtClean="0"/>
              <a:t>		     </a:t>
            </a:r>
            <a:r>
              <a:rPr lang="en-US" sz="2400" smtClean="0">
                <a:latin typeface="Comic Sans MS" pitchFamily="66" charset="0"/>
              </a:rPr>
              <a:t>i ← j - 1</a:t>
            </a:r>
          </a:p>
          <a:p>
            <a:pPr eaLnBrk="1" hangingPunct="1">
              <a:buFontTx/>
              <a:buNone/>
            </a:pPr>
            <a:r>
              <a:rPr lang="en-US" sz="2400" b="1" smtClean="0"/>
              <a:t>		     while </a:t>
            </a:r>
            <a:r>
              <a:rPr lang="en-US" sz="2400" smtClean="0">
                <a:latin typeface="Comic Sans MS" pitchFamily="66" charset="0"/>
              </a:rPr>
              <a:t>i &gt; 0</a:t>
            </a:r>
            <a:r>
              <a:rPr lang="en-US" sz="2400" smtClean="0"/>
              <a:t> and </a:t>
            </a:r>
            <a:r>
              <a:rPr lang="en-US" sz="2400" smtClean="0">
                <a:latin typeface="Comic Sans MS" pitchFamily="66" charset="0"/>
              </a:rPr>
              <a:t>A[i] &gt; key</a:t>
            </a:r>
          </a:p>
          <a:p>
            <a:pPr eaLnBrk="1" hangingPunct="1">
              <a:buFontTx/>
              <a:buNone/>
            </a:pPr>
            <a:r>
              <a:rPr lang="en-US" sz="2400" smtClean="0"/>
              <a:t>			</a:t>
            </a:r>
            <a:r>
              <a:rPr lang="en-US" sz="2400" b="1" smtClean="0"/>
              <a:t>do </a:t>
            </a:r>
            <a:r>
              <a:rPr lang="en-US" sz="2400" smtClean="0">
                <a:latin typeface="Comic Sans MS" pitchFamily="66" charset="0"/>
              </a:rPr>
              <a:t>A[i + 1] ← A[i]</a:t>
            </a:r>
          </a:p>
          <a:p>
            <a:pPr eaLnBrk="1" hangingPunct="1">
              <a:buFontTx/>
              <a:buNone/>
            </a:pPr>
            <a:r>
              <a:rPr lang="en-US" sz="2400" smtClean="0"/>
              <a:t>			      </a:t>
            </a:r>
            <a:r>
              <a:rPr lang="en-US" sz="2400" smtClean="0">
                <a:latin typeface="Comic Sans MS" pitchFamily="66" charset="0"/>
              </a:rPr>
              <a:t>i ← i – 1</a:t>
            </a:r>
          </a:p>
          <a:p>
            <a:pPr eaLnBrk="1" hangingPunct="1">
              <a:buFontTx/>
              <a:buNone/>
            </a:pPr>
            <a:r>
              <a:rPr lang="en-US" sz="2400" smtClean="0"/>
              <a:t>		     </a:t>
            </a:r>
            <a:r>
              <a:rPr lang="en-US" sz="2400" smtClean="0">
                <a:latin typeface="Comic Sans MS" pitchFamily="66" charset="0"/>
              </a:rPr>
              <a:t>A[i + 1] ← key</a:t>
            </a:r>
            <a:endParaRPr lang="en-US" sz="2400" smtClean="0"/>
          </a:p>
        </p:txBody>
      </p:sp>
      <p:sp>
        <p:nvSpPr>
          <p:cNvPr id="214021" name="Rectangle 5"/>
          <p:cNvSpPr>
            <a:spLocks noChangeArrowheads="1"/>
          </p:cNvSpPr>
          <p:nvPr/>
        </p:nvSpPr>
        <p:spPr bwMode="auto">
          <a:xfrm>
            <a:off x="573088" y="5773738"/>
            <a:ext cx="75755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 b="1"/>
              <a:t>Invariant</a:t>
            </a:r>
            <a:r>
              <a:rPr lang="en-US" sz="2000"/>
              <a:t>: at the start of the </a:t>
            </a:r>
            <a:r>
              <a:rPr lang="en-US" sz="2000" b="1"/>
              <a:t>for</a:t>
            </a:r>
            <a:r>
              <a:rPr lang="en-US" sz="2000"/>
              <a:t> loop the elements in </a:t>
            </a:r>
            <a:r>
              <a:rPr lang="en-US" sz="2000">
                <a:latin typeface="Comic Sans MS" pitchFamily="66" charset="0"/>
              </a:rPr>
              <a:t>A[1 . . j-1] </a:t>
            </a:r>
            <a:r>
              <a:rPr lang="en-US" sz="2000"/>
              <a:t>are</a:t>
            </a:r>
            <a:r>
              <a:rPr lang="en-US" sz="2000">
                <a:latin typeface="Comic Sans MS" pitchFamily="66" charset="0"/>
              </a:rPr>
              <a:t> </a:t>
            </a:r>
            <a:r>
              <a:rPr lang="en-US" sz="2000"/>
              <a:t>in sorted order</a:t>
            </a: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5683250" y="1258888"/>
          <a:ext cx="2711450" cy="1454150"/>
        </p:xfrm>
        <a:graphic>
          <a:graphicData uri="http://schemas.openxmlformats.org/presentationml/2006/ole">
            <p:oleObj spid="_x0000_s2050" name="Paint Shop Pro Image" r:id="rId4" imgW="2712195" imgH="1453659" progId="PaintShopPro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Proving Loop Invariants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838" y="1214438"/>
            <a:ext cx="8229600" cy="551656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sz="2400" smtClean="0"/>
              <a:t>Proving loop invariants works like induction</a:t>
            </a:r>
          </a:p>
          <a:p>
            <a:pPr eaLnBrk="1" hangingPunct="1">
              <a:lnSpc>
                <a:spcPct val="120000"/>
              </a:lnSpc>
            </a:pPr>
            <a:r>
              <a:rPr lang="en-US" sz="2400" b="1" smtClean="0"/>
              <a:t>Initialization (base case):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sz="2000" smtClean="0"/>
              <a:t>It is true prior to the first iteration of the loop</a:t>
            </a:r>
          </a:p>
          <a:p>
            <a:pPr eaLnBrk="1" hangingPunct="1">
              <a:lnSpc>
                <a:spcPct val="120000"/>
              </a:lnSpc>
            </a:pPr>
            <a:r>
              <a:rPr lang="en-US" sz="2400" b="1" smtClean="0"/>
              <a:t>Maintenance (inductive step):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sz="2000" smtClean="0"/>
              <a:t>If it is true before an iteration of the loop, it remains true before the next iteration</a:t>
            </a:r>
          </a:p>
          <a:p>
            <a:pPr eaLnBrk="1" hangingPunct="1">
              <a:lnSpc>
                <a:spcPct val="120000"/>
              </a:lnSpc>
            </a:pPr>
            <a:r>
              <a:rPr lang="en-US" sz="2400" b="1" smtClean="0"/>
              <a:t>Termination: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sz="2000" smtClean="0"/>
              <a:t>When the loop terminates, the invariant gives us a useful property that helps show that the algorithm is correct</a:t>
            </a:r>
          </a:p>
          <a:p>
            <a:pPr lvl="1" eaLnBrk="1" hangingPunct="1">
              <a:lnSpc>
                <a:spcPct val="120000"/>
              </a:lnSpc>
            </a:pPr>
            <a:r>
              <a:rPr lang="en-US" sz="2000" smtClean="0"/>
              <a:t>Stop the induction when the loop terminates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Loop Invariant for Insertion Sort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838" y="1143000"/>
            <a:ext cx="5694362" cy="4833938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b="1" smtClean="0"/>
              <a:t>Initialization: </a:t>
            </a:r>
          </a:p>
          <a:p>
            <a:pPr lvl="1" eaLnBrk="1" hangingPunct="1">
              <a:lnSpc>
                <a:spcPct val="130000"/>
              </a:lnSpc>
            </a:pPr>
            <a:r>
              <a:rPr lang="en-US" smtClean="0"/>
              <a:t>Just before the first iteration, </a:t>
            </a:r>
            <a:r>
              <a:rPr lang="en-US" smtClean="0">
                <a:latin typeface="Comic Sans MS" pitchFamily="66" charset="0"/>
              </a:rPr>
              <a:t>j = 2</a:t>
            </a:r>
            <a:r>
              <a:rPr lang="en-US" smtClean="0"/>
              <a:t>:</a:t>
            </a:r>
          </a:p>
          <a:p>
            <a:pPr lvl="1" eaLnBrk="1" hangingPunct="1">
              <a:lnSpc>
                <a:spcPct val="130000"/>
              </a:lnSpc>
              <a:buFontTx/>
              <a:buNone/>
            </a:pPr>
            <a:r>
              <a:rPr lang="en-US" smtClean="0">
                <a:solidFill>
                  <a:schemeClr val="accent2"/>
                </a:solidFill>
              </a:rPr>
              <a:t>	</a:t>
            </a:r>
            <a:r>
              <a:rPr lang="en-US" smtClean="0"/>
              <a:t>the subarray </a:t>
            </a:r>
            <a:r>
              <a:rPr lang="en-US" smtClean="0">
                <a:latin typeface="Comic Sans MS" pitchFamily="66" charset="0"/>
              </a:rPr>
              <a:t>A[1 . . j-1]</a:t>
            </a:r>
            <a:r>
              <a:rPr lang="en-US" smtClean="0"/>
              <a:t>  = </a:t>
            </a:r>
            <a:r>
              <a:rPr lang="en-US" smtClean="0">
                <a:latin typeface="Comic Sans MS" pitchFamily="66" charset="0"/>
              </a:rPr>
              <a:t>A[1],</a:t>
            </a:r>
            <a:r>
              <a:rPr lang="en-US" smtClean="0"/>
              <a:t> (the element originally in </a:t>
            </a:r>
            <a:r>
              <a:rPr lang="en-US" smtClean="0">
                <a:latin typeface="Comic Sans MS" pitchFamily="66" charset="0"/>
              </a:rPr>
              <a:t>A[1]</a:t>
            </a:r>
            <a:r>
              <a:rPr lang="en-US" smtClean="0"/>
              <a:t>) – is sorted</a:t>
            </a:r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6065838" y="1341438"/>
          <a:ext cx="2527300" cy="1395412"/>
        </p:xfrm>
        <a:graphic>
          <a:graphicData uri="http://schemas.openxmlformats.org/presentationml/2006/ole">
            <p:oleObj spid="_x0000_s3074" name="Paint Shop Pro Image" r:id="rId4" imgW="2526829" imgH="1395500" progId="PaintShopPro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Loop Invariant for Insertion Sort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838" y="1143000"/>
            <a:ext cx="8378825" cy="5562600"/>
          </a:xfrm>
        </p:spPr>
        <p:txBody>
          <a:bodyPr/>
          <a:lstStyle/>
          <a:p>
            <a:pPr eaLnBrk="1" hangingPunct="1"/>
            <a:r>
              <a:rPr lang="en-US" b="1" smtClean="0"/>
              <a:t>Maintenance: </a:t>
            </a:r>
          </a:p>
          <a:p>
            <a:pPr lvl="1" eaLnBrk="1" hangingPunct="1"/>
            <a:r>
              <a:rPr lang="en-US" smtClean="0"/>
              <a:t>the </a:t>
            </a:r>
            <a:r>
              <a:rPr lang="en-US" b="1" smtClean="0"/>
              <a:t>while </a:t>
            </a:r>
            <a:r>
              <a:rPr lang="en-US" smtClean="0"/>
              <a:t>inner loop moves </a:t>
            </a:r>
            <a:r>
              <a:rPr lang="en-US" smtClean="0">
                <a:latin typeface="Comic Sans MS" pitchFamily="66" charset="0"/>
              </a:rPr>
              <a:t>A[j -1], A[j -2], A[j -3],</a:t>
            </a:r>
            <a:r>
              <a:rPr lang="en-US" smtClean="0"/>
              <a:t> and so on, by one position to the right until the proper position for </a:t>
            </a:r>
            <a:r>
              <a:rPr lang="en-US" smtClean="0">
                <a:latin typeface="Comic Sans MS" pitchFamily="66" charset="0"/>
              </a:rPr>
              <a:t>key</a:t>
            </a:r>
            <a:r>
              <a:rPr lang="en-US" i="1" smtClean="0"/>
              <a:t> </a:t>
            </a:r>
            <a:r>
              <a:rPr lang="en-US" smtClean="0"/>
              <a:t>(which has the value that started out in </a:t>
            </a:r>
            <a:r>
              <a:rPr lang="en-US" smtClean="0">
                <a:latin typeface="Comic Sans MS" pitchFamily="66" charset="0"/>
              </a:rPr>
              <a:t>A[j]</a:t>
            </a:r>
            <a:r>
              <a:rPr lang="en-US" smtClean="0"/>
              <a:t>) is found  </a:t>
            </a:r>
          </a:p>
          <a:p>
            <a:pPr lvl="1" eaLnBrk="1" hangingPunct="1"/>
            <a:r>
              <a:rPr lang="en-US" smtClean="0"/>
              <a:t>At that point, the value of </a:t>
            </a:r>
            <a:r>
              <a:rPr lang="en-US" smtClean="0">
                <a:latin typeface="Comic Sans MS" pitchFamily="66" charset="0"/>
              </a:rPr>
              <a:t>key</a:t>
            </a:r>
            <a:r>
              <a:rPr lang="en-US" i="1" smtClean="0"/>
              <a:t> </a:t>
            </a:r>
            <a:r>
              <a:rPr lang="en-US" smtClean="0"/>
              <a:t>is placed into this position.</a:t>
            </a:r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2398713" y="4014788"/>
          <a:ext cx="2574925" cy="1385887"/>
        </p:xfrm>
        <a:graphic>
          <a:graphicData uri="http://schemas.openxmlformats.org/presentationml/2006/ole">
            <p:oleObj spid="_x0000_s4098" name="Paint Shop Pro Image" r:id="rId4" imgW="2575610" imgH="1385741" progId="PaintShopPro">
              <p:embed/>
            </p:oleObj>
          </a:graphicData>
        </a:graphic>
      </p:graphicFrame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5065713" y="3998913"/>
          <a:ext cx="2527300" cy="1414462"/>
        </p:xfrm>
        <a:graphic>
          <a:graphicData uri="http://schemas.openxmlformats.org/presentationml/2006/ole">
            <p:oleObj spid="_x0000_s4099" name="Paint Shop Pro Image" r:id="rId5" imgW="2526829" imgH="1414634" progId="PaintShopPro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Loop Invariant for Insertion Sort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838" y="1143000"/>
            <a:ext cx="8378825" cy="5562600"/>
          </a:xfrm>
        </p:spPr>
        <p:txBody>
          <a:bodyPr/>
          <a:lstStyle/>
          <a:p>
            <a:pPr eaLnBrk="1" hangingPunct="1"/>
            <a:r>
              <a:rPr lang="en-US" b="1" smtClean="0"/>
              <a:t>Termination: </a:t>
            </a:r>
          </a:p>
          <a:p>
            <a:pPr lvl="1" eaLnBrk="1" hangingPunct="1"/>
            <a:r>
              <a:rPr lang="en-US" smtClean="0"/>
              <a:t>The outer </a:t>
            </a:r>
            <a:r>
              <a:rPr lang="en-US" b="1" smtClean="0"/>
              <a:t>for </a:t>
            </a:r>
            <a:r>
              <a:rPr lang="en-US" smtClean="0"/>
              <a:t>loop ends when </a:t>
            </a:r>
            <a:r>
              <a:rPr lang="en-US" smtClean="0">
                <a:latin typeface="Comic Sans MS" pitchFamily="66" charset="0"/>
              </a:rPr>
              <a:t>j = n + 1</a:t>
            </a:r>
            <a:r>
              <a:rPr lang="en-US" smtClean="0">
                <a:sym typeface="Symbol" pitchFamily="18" charset="2"/>
              </a:rPr>
              <a:t>  </a:t>
            </a:r>
            <a:r>
              <a:rPr lang="en-US" smtClean="0">
                <a:latin typeface="Comic Sans MS" pitchFamily="66" charset="0"/>
              </a:rPr>
              <a:t>j-1 = n</a:t>
            </a:r>
            <a:endParaRPr lang="en-US" smtClean="0">
              <a:latin typeface="Comic Sans MS" pitchFamily="66" charset="0"/>
              <a:sym typeface="Symbol" pitchFamily="18" charset="2"/>
            </a:endParaRPr>
          </a:p>
          <a:p>
            <a:pPr lvl="1" eaLnBrk="1" hangingPunct="1"/>
            <a:r>
              <a:rPr lang="en-US" smtClean="0"/>
              <a:t>Replace </a:t>
            </a:r>
            <a:r>
              <a:rPr lang="en-US" smtClean="0">
                <a:latin typeface="Comic Sans MS" pitchFamily="66" charset="0"/>
              </a:rPr>
              <a:t>n</a:t>
            </a:r>
            <a:r>
              <a:rPr lang="en-US" i="1" smtClean="0"/>
              <a:t> </a:t>
            </a:r>
            <a:r>
              <a:rPr lang="en-US" smtClean="0"/>
              <a:t>with </a:t>
            </a:r>
            <a:r>
              <a:rPr lang="en-US" smtClean="0">
                <a:latin typeface="Comic Sans MS" pitchFamily="66" charset="0"/>
              </a:rPr>
              <a:t>j-1</a:t>
            </a:r>
            <a:r>
              <a:rPr lang="en-US" smtClean="0"/>
              <a:t> in the loop invariant: </a:t>
            </a:r>
          </a:p>
          <a:p>
            <a:pPr lvl="2" eaLnBrk="1" hangingPunct="1"/>
            <a:r>
              <a:rPr lang="en-US" smtClean="0"/>
              <a:t>the subarray </a:t>
            </a:r>
            <a:r>
              <a:rPr lang="en-US" smtClean="0">
                <a:latin typeface="Comic Sans MS" pitchFamily="66" charset="0"/>
              </a:rPr>
              <a:t>A[1 . . n]</a:t>
            </a:r>
            <a:r>
              <a:rPr lang="en-US" smtClean="0"/>
              <a:t> consists of the elements originally in </a:t>
            </a:r>
            <a:r>
              <a:rPr lang="en-US" smtClean="0">
                <a:latin typeface="Comic Sans MS" pitchFamily="66" charset="0"/>
              </a:rPr>
              <a:t>A[1 . . n],</a:t>
            </a:r>
            <a:r>
              <a:rPr lang="en-US" smtClean="0"/>
              <a:t> but in sorted order</a:t>
            </a:r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The entire array is sorted!	</a:t>
            </a:r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1824038" y="3246438"/>
          <a:ext cx="2546350" cy="1423987"/>
        </p:xfrm>
        <a:graphic>
          <a:graphicData uri="http://schemas.openxmlformats.org/presentationml/2006/ole">
            <p:oleObj spid="_x0000_s5122" name="Paint Shop Pro Image" r:id="rId4" imgW="2546341" imgH="1424390" progId="PaintShopPro">
              <p:embed/>
            </p:oleObj>
          </a:graphicData>
        </a:graphic>
      </p:graphicFrame>
      <p:graphicFrame>
        <p:nvGraphicFramePr>
          <p:cNvPr id="5123" name="Object 3"/>
          <p:cNvGraphicFramePr>
            <a:graphicFrameLocks noChangeAspect="1"/>
          </p:cNvGraphicFramePr>
          <p:nvPr/>
        </p:nvGraphicFramePr>
        <p:xfrm>
          <a:off x="4491038" y="3506788"/>
          <a:ext cx="2643187" cy="946150"/>
        </p:xfrm>
        <a:graphic>
          <a:graphicData uri="http://schemas.openxmlformats.org/presentationml/2006/ole">
            <p:oleObj spid="_x0000_s5123" name="Paint Shop Pro Image" r:id="rId5" imgW="2643902" imgH="946341" progId="PaintShopPro">
              <p:embed/>
            </p:oleObj>
          </a:graphicData>
        </a:graphic>
      </p:graphicFrame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7173913" y="3257550"/>
            <a:ext cx="234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j</a:t>
            </a:r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6546850" y="3257550"/>
            <a:ext cx="565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j - 1</a:t>
            </a:r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573088" y="5773738"/>
            <a:ext cx="75755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 b="1"/>
              <a:t>Invariant</a:t>
            </a:r>
            <a:r>
              <a:rPr lang="en-US" sz="2000"/>
              <a:t>: at the start of the </a:t>
            </a:r>
            <a:r>
              <a:rPr lang="en-US" sz="2000" b="1"/>
              <a:t>for</a:t>
            </a:r>
            <a:r>
              <a:rPr lang="en-US" sz="2000"/>
              <a:t> loop the elements in </a:t>
            </a:r>
            <a:r>
              <a:rPr lang="en-US" sz="2000">
                <a:latin typeface="Comic Sans MS" pitchFamily="66" charset="0"/>
              </a:rPr>
              <a:t>A[1 . . j-1] </a:t>
            </a:r>
            <a:r>
              <a:rPr lang="en-US" sz="2000"/>
              <a:t>are</a:t>
            </a:r>
            <a:r>
              <a:rPr lang="en-US" sz="2000">
                <a:latin typeface="Comic Sans MS" pitchFamily="66" charset="0"/>
              </a:rPr>
              <a:t> </a:t>
            </a:r>
            <a:r>
              <a:rPr lang="en-US" sz="2000"/>
              <a:t>in sorted order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Analysis of Insertion Sort</a:t>
            </a:r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6596063" y="1184275"/>
            <a:ext cx="2133600" cy="507682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mtClean="0"/>
              <a:t>cost	 times</a:t>
            </a:r>
          </a:p>
          <a:p>
            <a:pPr eaLnBrk="1" hangingPunct="1">
              <a:buFontTx/>
              <a:buNone/>
            </a:pPr>
            <a:r>
              <a:rPr lang="en-US" sz="2400" smtClean="0"/>
              <a:t> </a:t>
            </a:r>
            <a:r>
              <a:rPr lang="en-US" sz="2400" smtClean="0">
                <a:latin typeface="Comic Sans MS" pitchFamily="66" charset="0"/>
              </a:rPr>
              <a:t> c</a:t>
            </a:r>
            <a:r>
              <a:rPr lang="en-US" sz="2400" baseline="-25000" smtClean="0">
                <a:latin typeface="Comic Sans MS" pitchFamily="66" charset="0"/>
              </a:rPr>
              <a:t>1</a:t>
            </a:r>
            <a:r>
              <a:rPr lang="en-US" sz="2400" smtClean="0">
                <a:latin typeface="Comic Sans MS" pitchFamily="66" charset="0"/>
              </a:rPr>
              <a:t>          n</a:t>
            </a:r>
          </a:p>
          <a:p>
            <a:pPr eaLnBrk="1" hangingPunct="1">
              <a:buFontTx/>
              <a:buNone/>
            </a:pPr>
            <a:r>
              <a:rPr lang="en-US" sz="2400" smtClean="0">
                <a:latin typeface="Comic Sans MS" pitchFamily="66" charset="0"/>
              </a:rPr>
              <a:t>  c</a:t>
            </a:r>
            <a:r>
              <a:rPr lang="en-US" sz="2400" baseline="-25000" smtClean="0">
                <a:latin typeface="Comic Sans MS" pitchFamily="66" charset="0"/>
              </a:rPr>
              <a:t>2</a:t>
            </a:r>
            <a:r>
              <a:rPr lang="en-US" sz="2400" smtClean="0">
                <a:latin typeface="Comic Sans MS" pitchFamily="66" charset="0"/>
              </a:rPr>
              <a:t> 	   n-1</a:t>
            </a:r>
          </a:p>
          <a:p>
            <a:pPr eaLnBrk="1" hangingPunct="1">
              <a:buFontTx/>
              <a:buNone/>
            </a:pPr>
            <a:r>
              <a:rPr lang="en-US" sz="2400" smtClean="0">
                <a:latin typeface="Comic Sans MS" pitchFamily="66" charset="0"/>
              </a:rPr>
              <a:t>  0	   n-1</a:t>
            </a:r>
          </a:p>
          <a:p>
            <a:pPr eaLnBrk="1" hangingPunct="1">
              <a:buFontTx/>
              <a:buNone/>
            </a:pPr>
            <a:r>
              <a:rPr lang="en-US" sz="2400" smtClean="0">
                <a:latin typeface="Comic Sans MS" pitchFamily="66" charset="0"/>
              </a:rPr>
              <a:t>  c</a:t>
            </a:r>
            <a:r>
              <a:rPr lang="en-US" sz="2400" baseline="-25000" smtClean="0">
                <a:latin typeface="Comic Sans MS" pitchFamily="66" charset="0"/>
              </a:rPr>
              <a:t>4</a:t>
            </a:r>
            <a:r>
              <a:rPr lang="en-US" sz="2400" smtClean="0">
                <a:latin typeface="Comic Sans MS" pitchFamily="66" charset="0"/>
              </a:rPr>
              <a:t>	   n-1</a:t>
            </a:r>
          </a:p>
          <a:p>
            <a:pPr eaLnBrk="1" hangingPunct="1">
              <a:buFontTx/>
              <a:buNone/>
            </a:pPr>
            <a:r>
              <a:rPr lang="en-US" sz="2400" smtClean="0">
                <a:latin typeface="Comic Sans MS" pitchFamily="66" charset="0"/>
              </a:rPr>
              <a:t>  c</a:t>
            </a:r>
            <a:r>
              <a:rPr lang="en-US" sz="2400" baseline="-25000" smtClean="0">
                <a:latin typeface="Comic Sans MS" pitchFamily="66" charset="0"/>
              </a:rPr>
              <a:t>5</a:t>
            </a:r>
            <a:r>
              <a:rPr lang="en-US" sz="2400" smtClean="0">
                <a:latin typeface="Comic Sans MS" pitchFamily="66" charset="0"/>
              </a:rPr>
              <a:t>	</a:t>
            </a:r>
          </a:p>
          <a:p>
            <a:pPr eaLnBrk="1" hangingPunct="1">
              <a:buFontTx/>
              <a:buNone/>
            </a:pPr>
            <a:r>
              <a:rPr lang="en-US" sz="2400" smtClean="0">
                <a:latin typeface="Comic Sans MS" pitchFamily="66" charset="0"/>
              </a:rPr>
              <a:t>  c</a:t>
            </a:r>
            <a:r>
              <a:rPr lang="en-US" sz="2400" baseline="-25000" smtClean="0">
                <a:latin typeface="Comic Sans MS" pitchFamily="66" charset="0"/>
              </a:rPr>
              <a:t>6</a:t>
            </a:r>
            <a:r>
              <a:rPr lang="en-US" sz="2400" smtClean="0">
                <a:latin typeface="Comic Sans MS" pitchFamily="66" charset="0"/>
              </a:rPr>
              <a:t> </a:t>
            </a:r>
          </a:p>
          <a:p>
            <a:pPr eaLnBrk="1" hangingPunct="1">
              <a:buFontTx/>
              <a:buNone/>
            </a:pPr>
            <a:r>
              <a:rPr lang="en-US" sz="2400" smtClean="0">
                <a:latin typeface="Comic Sans MS" pitchFamily="66" charset="0"/>
              </a:rPr>
              <a:t>  c</a:t>
            </a:r>
            <a:r>
              <a:rPr lang="en-US" sz="2400" baseline="-25000" smtClean="0">
                <a:latin typeface="Comic Sans MS" pitchFamily="66" charset="0"/>
              </a:rPr>
              <a:t>7 </a:t>
            </a:r>
            <a:endParaRPr lang="en-US" sz="2400" smtClean="0">
              <a:latin typeface="Comic Sans MS" pitchFamily="66" charset="0"/>
            </a:endParaRPr>
          </a:p>
          <a:p>
            <a:pPr eaLnBrk="1" hangingPunct="1">
              <a:buFontTx/>
              <a:buNone/>
            </a:pPr>
            <a:r>
              <a:rPr lang="en-US" sz="2400" smtClean="0">
                <a:latin typeface="Comic Sans MS" pitchFamily="66" charset="0"/>
              </a:rPr>
              <a:t>  c</a:t>
            </a:r>
            <a:r>
              <a:rPr lang="en-US" sz="2400" baseline="-25000" smtClean="0">
                <a:latin typeface="Comic Sans MS" pitchFamily="66" charset="0"/>
              </a:rPr>
              <a:t>8</a:t>
            </a:r>
            <a:r>
              <a:rPr lang="en-US" sz="2400" smtClean="0">
                <a:latin typeface="Comic Sans MS" pitchFamily="66" charset="0"/>
              </a:rPr>
              <a:t>	    n-1	</a:t>
            </a:r>
            <a:r>
              <a:rPr lang="en-US" sz="2400" smtClean="0"/>
              <a:t>   </a:t>
            </a:r>
            <a:endParaRPr lang="en-US" sz="2400" baseline="-25000" smtClean="0"/>
          </a:p>
        </p:txBody>
      </p:sp>
      <p:graphicFrame>
        <p:nvGraphicFramePr>
          <p:cNvPr id="220164" name="Object 2"/>
          <p:cNvGraphicFramePr>
            <a:graphicFrameLocks noChangeAspect="1"/>
          </p:cNvGraphicFramePr>
          <p:nvPr/>
        </p:nvGraphicFramePr>
        <p:xfrm>
          <a:off x="7789863" y="3367088"/>
          <a:ext cx="833437" cy="539750"/>
        </p:xfrm>
        <a:graphic>
          <a:graphicData uri="http://schemas.openxmlformats.org/presentationml/2006/ole">
            <p:oleObj spid="_x0000_s6146" name="Equation" r:id="rId4" imgW="469800" imgH="304560" progId="Equation.3">
              <p:embed/>
            </p:oleObj>
          </a:graphicData>
        </a:graphic>
      </p:graphicFrame>
      <p:graphicFrame>
        <p:nvGraphicFramePr>
          <p:cNvPr id="220165" name="Object 3"/>
          <p:cNvGraphicFramePr>
            <a:graphicFrameLocks noChangeAspect="1"/>
          </p:cNvGraphicFramePr>
          <p:nvPr/>
        </p:nvGraphicFramePr>
        <p:xfrm>
          <a:off x="7789863" y="3827463"/>
          <a:ext cx="1354137" cy="531812"/>
        </p:xfrm>
        <a:graphic>
          <a:graphicData uri="http://schemas.openxmlformats.org/presentationml/2006/ole">
            <p:oleObj spid="_x0000_s6147" name="Equation" r:id="rId5" imgW="774360" imgH="304560" progId="Equation.3">
              <p:embed/>
            </p:oleObj>
          </a:graphicData>
        </a:graphic>
      </p:graphicFrame>
      <p:graphicFrame>
        <p:nvGraphicFramePr>
          <p:cNvPr id="220166" name="Object 4"/>
          <p:cNvGraphicFramePr>
            <a:graphicFrameLocks noChangeAspect="1"/>
          </p:cNvGraphicFramePr>
          <p:nvPr/>
        </p:nvGraphicFramePr>
        <p:xfrm>
          <a:off x="7789863" y="4281488"/>
          <a:ext cx="1354137" cy="531812"/>
        </p:xfrm>
        <a:graphic>
          <a:graphicData uri="http://schemas.openxmlformats.org/presentationml/2006/ole">
            <p:oleObj spid="_x0000_s6148" name="Equation" r:id="rId6" imgW="774360" imgH="304560" progId="Equation.3">
              <p:embed/>
            </p:oleObj>
          </a:graphicData>
        </a:graphic>
      </p:graphicFrame>
      <p:graphicFrame>
        <p:nvGraphicFramePr>
          <p:cNvPr id="220167" name="Object 5"/>
          <p:cNvGraphicFramePr>
            <a:graphicFrameLocks noChangeAspect="1"/>
          </p:cNvGraphicFramePr>
          <p:nvPr/>
        </p:nvGraphicFramePr>
        <p:xfrm>
          <a:off x="246063" y="5711825"/>
          <a:ext cx="8707437" cy="819150"/>
        </p:xfrm>
        <a:graphic>
          <a:graphicData uri="http://schemas.openxmlformats.org/presentationml/2006/ole">
            <p:oleObj spid="_x0000_s6149" name="Equation" r:id="rId7" imgW="4724280" imgH="444240" progId="Equation.3">
              <p:embed/>
            </p:oleObj>
          </a:graphicData>
        </a:graphic>
      </p:graphicFrame>
      <p:sp>
        <p:nvSpPr>
          <p:cNvPr id="6152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263525" y="1155700"/>
            <a:ext cx="8229600" cy="5076825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en-US" smtClean="0"/>
              <a:t>INSERTION-SORT</a:t>
            </a:r>
            <a:r>
              <a:rPr lang="en-US" i="1" smtClean="0"/>
              <a:t>(A)</a:t>
            </a:r>
          </a:p>
          <a:p>
            <a:pPr eaLnBrk="1" hangingPunct="1">
              <a:buFontTx/>
              <a:buNone/>
            </a:pPr>
            <a:r>
              <a:rPr lang="en-US" b="1" smtClean="0"/>
              <a:t>	</a:t>
            </a:r>
            <a:r>
              <a:rPr lang="en-US" sz="2400" b="1" smtClean="0"/>
              <a:t>for </a:t>
            </a:r>
            <a:r>
              <a:rPr lang="en-US" sz="2400" smtClean="0"/>
              <a:t>j ← 2 </a:t>
            </a:r>
            <a:r>
              <a:rPr lang="en-US" sz="2400" b="1" smtClean="0"/>
              <a:t>to </a:t>
            </a:r>
            <a:r>
              <a:rPr lang="en-US" sz="2400" smtClean="0"/>
              <a:t>n</a:t>
            </a:r>
          </a:p>
          <a:p>
            <a:pPr eaLnBrk="1" hangingPunct="1">
              <a:buFontTx/>
              <a:buNone/>
            </a:pPr>
            <a:r>
              <a:rPr lang="en-US" sz="2400" b="1" smtClean="0"/>
              <a:t>		do </a:t>
            </a:r>
            <a:r>
              <a:rPr lang="en-US" sz="2400" smtClean="0"/>
              <a:t>key ← A[ j ]</a:t>
            </a:r>
          </a:p>
          <a:p>
            <a:pPr eaLnBrk="1" hangingPunct="1">
              <a:buFontTx/>
              <a:buNone/>
            </a:pPr>
            <a:r>
              <a:rPr lang="en-US" sz="2000" smtClean="0"/>
              <a:t>		  Insert A[ j ] into the sorted sequence A[1 . . j -1]</a:t>
            </a:r>
          </a:p>
          <a:p>
            <a:pPr eaLnBrk="1" hangingPunct="1">
              <a:buFontTx/>
              <a:buNone/>
            </a:pPr>
            <a:r>
              <a:rPr lang="en-US" smtClean="0"/>
              <a:t>		     </a:t>
            </a:r>
            <a:r>
              <a:rPr lang="en-US" sz="2400" smtClean="0"/>
              <a:t>i ← j - 1</a:t>
            </a:r>
          </a:p>
          <a:p>
            <a:pPr eaLnBrk="1" hangingPunct="1">
              <a:buFontTx/>
              <a:buNone/>
            </a:pPr>
            <a:r>
              <a:rPr lang="en-US" sz="2400" b="1" smtClean="0"/>
              <a:t>		     while </a:t>
            </a:r>
            <a:r>
              <a:rPr lang="en-US" sz="2400" smtClean="0"/>
              <a:t>i &gt; 0 and A[i] &gt; key</a:t>
            </a:r>
          </a:p>
          <a:p>
            <a:pPr eaLnBrk="1" hangingPunct="1">
              <a:buFontTx/>
              <a:buNone/>
            </a:pPr>
            <a:r>
              <a:rPr lang="en-US" sz="2400" smtClean="0"/>
              <a:t>			</a:t>
            </a:r>
            <a:r>
              <a:rPr lang="en-US" sz="2400" b="1" smtClean="0"/>
              <a:t>do </a:t>
            </a:r>
            <a:r>
              <a:rPr lang="en-US" sz="2400" smtClean="0"/>
              <a:t>A[i + 1] ← A[i]</a:t>
            </a:r>
          </a:p>
          <a:p>
            <a:pPr eaLnBrk="1" hangingPunct="1">
              <a:buFontTx/>
              <a:buNone/>
            </a:pPr>
            <a:r>
              <a:rPr lang="en-US" sz="2400" smtClean="0"/>
              <a:t>			      i ← i – 1</a:t>
            </a:r>
          </a:p>
          <a:p>
            <a:pPr eaLnBrk="1" hangingPunct="1">
              <a:buFontTx/>
              <a:buNone/>
            </a:pPr>
            <a:r>
              <a:rPr lang="en-US" sz="2400" smtClean="0"/>
              <a:t>		     A[i + 1] ← key</a:t>
            </a:r>
          </a:p>
        </p:txBody>
      </p:sp>
      <p:sp>
        <p:nvSpPr>
          <p:cNvPr id="6153" name="AutoShape 9"/>
          <p:cNvSpPr>
            <a:spLocks noChangeArrowheads="1"/>
          </p:cNvSpPr>
          <p:nvPr/>
        </p:nvSpPr>
        <p:spPr bwMode="auto">
          <a:xfrm rot="-8014074">
            <a:off x="1223170" y="2717006"/>
            <a:ext cx="131762" cy="123825"/>
          </a:xfrm>
          <a:prstGeom prst="rtTriangl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54" name="Text Box 10"/>
          <p:cNvSpPr txBox="1">
            <a:spLocks noChangeArrowheads="1"/>
          </p:cNvSpPr>
          <p:nvPr/>
        </p:nvSpPr>
        <p:spPr bwMode="auto">
          <a:xfrm>
            <a:off x="1243013" y="5391150"/>
            <a:ext cx="68897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t</a:t>
            </a:r>
            <a:r>
              <a:rPr lang="en-US" sz="2000" baseline="-25000"/>
              <a:t>j</a:t>
            </a:r>
            <a:r>
              <a:rPr lang="en-US" sz="2000"/>
              <a:t>: # of times the while statement is executed at iteration j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Best Case Analysis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838" y="1062038"/>
            <a:ext cx="8478837" cy="5643562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smtClean="0"/>
              <a:t>The array is already sorted</a:t>
            </a:r>
          </a:p>
          <a:p>
            <a:pPr lvl="1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smtClean="0">
                <a:latin typeface="Comic Sans MS" pitchFamily="66" charset="0"/>
              </a:rPr>
              <a:t>A[i] ≤ key </a:t>
            </a:r>
            <a:r>
              <a:rPr lang="en-US" smtClean="0"/>
              <a:t>upon the first time the </a:t>
            </a:r>
            <a:r>
              <a:rPr lang="en-US" b="1" smtClean="0"/>
              <a:t>while </a:t>
            </a:r>
            <a:r>
              <a:rPr lang="en-US" smtClean="0"/>
              <a:t>loop test is run (when </a:t>
            </a:r>
            <a:r>
              <a:rPr lang="en-US" i="1" smtClean="0"/>
              <a:t>i </a:t>
            </a:r>
            <a:r>
              <a:rPr lang="en-US" smtClean="0"/>
              <a:t>= </a:t>
            </a:r>
            <a:r>
              <a:rPr lang="en-US" i="1" smtClean="0"/>
              <a:t>j </a:t>
            </a:r>
            <a:r>
              <a:rPr lang="en-US" smtClean="0"/>
              <a:t>-1)</a:t>
            </a:r>
          </a:p>
          <a:p>
            <a:pPr lvl="1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smtClean="0"/>
              <a:t>t</a:t>
            </a:r>
            <a:r>
              <a:rPr lang="en-US" baseline="-25000" smtClean="0">
                <a:latin typeface="Comic Sans MS" pitchFamily="66" charset="0"/>
              </a:rPr>
              <a:t>j</a:t>
            </a:r>
            <a:r>
              <a:rPr lang="en-US" i="1" smtClean="0"/>
              <a:t> </a:t>
            </a:r>
            <a:r>
              <a:rPr lang="en-US" smtClean="0"/>
              <a:t>= 1</a:t>
            </a: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smtClean="0">
                <a:latin typeface="Comic Sans MS" pitchFamily="66" charset="0"/>
              </a:rPr>
              <a:t>T(n) = c</a:t>
            </a:r>
            <a:r>
              <a:rPr lang="en-US" baseline="-25000" smtClean="0">
                <a:latin typeface="Comic Sans MS" pitchFamily="66" charset="0"/>
              </a:rPr>
              <a:t>1</a:t>
            </a:r>
            <a:r>
              <a:rPr lang="en-US" smtClean="0">
                <a:latin typeface="Comic Sans MS" pitchFamily="66" charset="0"/>
              </a:rPr>
              <a:t>n + c</a:t>
            </a:r>
            <a:r>
              <a:rPr lang="en-US" baseline="-25000" smtClean="0">
                <a:latin typeface="Comic Sans MS" pitchFamily="66" charset="0"/>
              </a:rPr>
              <a:t>2</a:t>
            </a:r>
            <a:r>
              <a:rPr lang="en-US" smtClean="0">
                <a:latin typeface="Comic Sans MS" pitchFamily="66" charset="0"/>
              </a:rPr>
              <a:t>(n -1) + c</a:t>
            </a:r>
            <a:r>
              <a:rPr lang="en-US" baseline="-25000" smtClean="0">
                <a:latin typeface="Comic Sans MS" pitchFamily="66" charset="0"/>
              </a:rPr>
              <a:t>4</a:t>
            </a:r>
            <a:r>
              <a:rPr lang="en-US" smtClean="0">
                <a:latin typeface="Comic Sans MS" pitchFamily="66" charset="0"/>
              </a:rPr>
              <a:t>(n -1) + c</a:t>
            </a:r>
            <a:r>
              <a:rPr lang="en-US" baseline="-25000" smtClean="0">
                <a:latin typeface="Comic Sans MS" pitchFamily="66" charset="0"/>
              </a:rPr>
              <a:t>5</a:t>
            </a:r>
            <a:r>
              <a:rPr lang="en-US" smtClean="0">
                <a:latin typeface="Comic Sans MS" pitchFamily="66" charset="0"/>
              </a:rPr>
              <a:t>(n -1) + c</a:t>
            </a:r>
            <a:r>
              <a:rPr lang="en-US" baseline="-25000" smtClean="0">
                <a:latin typeface="Comic Sans MS" pitchFamily="66" charset="0"/>
              </a:rPr>
              <a:t>8</a:t>
            </a:r>
            <a:r>
              <a:rPr lang="en-US" smtClean="0">
                <a:latin typeface="Comic Sans MS" pitchFamily="66" charset="0"/>
              </a:rPr>
              <a:t>(n-1) = (c</a:t>
            </a:r>
            <a:r>
              <a:rPr lang="en-US" baseline="-25000" smtClean="0">
                <a:latin typeface="Comic Sans MS" pitchFamily="66" charset="0"/>
              </a:rPr>
              <a:t>1</a:t>
            </a:r>
            <a:r>
              <a:rPr lang="en-US" smtClean="0">
                <a:latin typeface="Comic Sans MS" pitchFamily="66" charset="0"/>
              </a:rPr>
              <a:t> + c</a:t>
            </a:r>
            <a:r>
              <a:rPr lang="en-US" baseline="-25000" smtClean="0">
                <a:latin typeface="Comic Sans MS" pitchFamily="66" charset="0"/>
              </a:rPr>
              <a:t>2</a:t>
            </a:r>
            <a:r>
              <a:rPr lang="en-US" smtClean="0">
                <a:latin typeface="Comic Sans MS" pitchFamily="66" charset="0"/>
              </a:rPr>
              <a:t> + c</a:t>
            </a:r>
            <a:r>
              <a:rPr lang="en-US" baseline="-25000" smtClean="0">
                <a:latin typeface="Comic Sans MS" pitchFamily="66" charset="0"/>
              </a:rPr>
              <a:t>4</a:t>
            </a:r>
            <a:r>
              <a:rPr lang="en-US" smtClean="0">
                <a:latin typeface="Comic Sans MS" pitchFamily="66" charset="0"/>
              </a:rPr>
              <a:t> + c</a:t>
            </a:r>
            <a:r>
              <a:rPr lang="en-US" baseline="-25000" smtClean="0">
                <a:latin typeface="Comic Sans MS" pitchFamily="66" charset="0"/>
              </a:rPr>
              <a:t>5</a:t>
            </a:r>
            <a:r>
              <a:rPr lang="en-US" smtClean="0">
                <a:latin typeface="Comic Sans MS" pitchFamily="66" charset="0"/>
              </a:rPr>
              <a:t> + c</a:t>
            </a:r>
            <a:r>
              <a:rPr lang="en-US" baseline="-25000" smtClean="0">
                <a:latin typeface="Comic Sans MS" pitchFamily="66" charset="0"/>
              </a:rPr>
              <a:t>8</a:t>
            </a:r>
            <a:r>
              <a:rPr lang="en-US" smtClean="0">
                <a:latin typeface="Comic Sans MS" pitchFamily="66" charset="0"/>
              </a:rPr>
              <a:t>)n + (c</a:t>
            </a:r>
            <a:r>
              <a:rPr lang="en-US" baseline="-25000" smtClean="0">
                <a:latin typeface="Comic Sans MS" pitchFamily="66" charset="0"/>
              </a:rPr>
              <a:t>2</a:t>
            </a:r>
            <a:r>
              <a:rPr lang="en-US" smtClean="0">
                <a:latin typeface="Comic Sans MS" pitchFamily="66" charset="0"/>
              </a:rPr>
              <a:t> + c</a:t>
            </a:r>
            <a:r>
              <a:rPr lang="en-US" baseline="-25000" smtClean="0">
                <a:latin typeface="Comic Sans MS" pitchFamily="66" charset="0"/>
              </a:rPr>
              <a:t>4</a:t>
            </a:r>
            <a:r>
              <a:rPr lang="en-US" smtClean="0">
                <a:latin typeface="Comic Sans MS" pitchFamily="66" charset="0"/>
              </a:rPr>
              <a:t> + c</a:t>
            </a:r>
            <a:r>
              <a:rPr lang="en-US" baseline="-25000" smtClean="0">
                <a:latin typeface="Comic Sans MS" pitchFamily="66" charset="0"/>
              </a:rPr>
              <a:t>5</a:t>
            </a:r>
            <a:r>
              <a:rPr lang="en-US" smtClean="0">
                <a:latin typeface="Comic Sans MS" pitchFamily="66" charset="0"/>
              </a:rPr>
              <a:t> + c</a:t>
            </a:r>
            <a:r>
              <a:rPr lang="en-US" baseline="-25000" smtClean="0">
                <a:latin typeface="Comic Sans MS" pitchFamily="66" charset="0"/>
              </a:rPr>
              <a:t>8</a:t>
            </a:r>
            <a:r>
              <a:rPr lang="en-US" smtClean="0">
                <a:latin typeface="Comic Sans MS" pitchFamily="66" charset="0"/>
              </a:rPr>
              <a:t>)</a:t>
            </a: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buFontTx/>
              <a:buNone/>
              <a:defRPr/>
            </a:pPr>
            <a:r>
              <a:rPr lang="en-US" smtClean="0"/>
              <a:t>	</a:t>
            </a:r>
            <a:r>
              <a:rPr lang="en-US" smtClean="0">
                <a:latin typeface="Comic Sans MS" pitchFamily="66" charset="0"/>
              </a:rPr>
              <a:t>= an + b = </a:t>
            </a:r>
            <a:r>
              <a:rPr lang="en-US" smtClean="0">
                <a:latin typeface="Comic Sans MS" pitchFamily="66" charset="0"/>
                <a:sym typeface="Symbol" pitchFamily="18" charset="2"/>
              </a:rPr>
              <a:t></a:t>
            </a:r>
            <a:r>
              <a:rPr lang="en-US" smtClean="0">
                <a:latin typeface="Comic Sans MS" pitchFamily="66" charset="0"/>
              </a:rPr>
              <a:t>(n)	</a:t>
            </a:r>
            <a:endParaRPr lang="en-US" baseline="30000" smtClean="0">
              <a:latin typeface="Comic Sans MS" pitchFamily="66" charset="0"/>
            </a:endParaRPr>
          </a:p>
        </p:txBody>
      </p:sp>
      <p:sp>
        <p:nvSpPr>
          <p:cNvPr id="7173" name="Rectangle 4"/>
          <p:cNvSpPr>
            <a:spLocks noChangeArrowheads="1"/>
          </p:cNvSpPr>
          <p:nvPr/>
        </p:nvSpPr>
        <p:spPr bwMode="auto">
          <a:xfrm>
            <a:off x="5181600" y="1266825"/>
            <a:ext cx="38465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 b="1"/>
              <a:t>“while </a:t>
            </a:r>
            <a:r>
              <a:rPr lang="en-US" sz="2000"/>
              <a:t>i &gt; 0 and A[i] &gt; key”</a:t>
            </a:r>
          </a:p>
        </p:txBody>
      </p:sp>
      <p:graphicFrame>
        <p:nvGraphicFramePr>
          <p:cNvPr id="7170" name="Object 2"/>
          <p:cNvGraphicFramePr>
            <a:graphicFrameLocks noChangeAspect="1"/>
          </p:cNvGraphicFramePr>
          <p:nvPr/>
        </p:nvGraphicFramePr>
        <p:xfrm>
          <a:off x="317500" y="5675313"/>
          <a:ext cx="8707438" cy="819150"/>
        </p:xfrm>
        <a:graphic>
          <a:graphicData uri="http://schemas.openxmlformats.org/presentationml/2006/ole">
            <p:oleObj spid="_x0000_s7170" name="Equation" r:id="rId4" imgW="4724280" imgH="4442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Worst Case Analysis</a:t>
            </a:r>
          </a:p>
        </p:txBody>
      </p:sp>
      <p:sp>
        <p:nvSpPr>
          <p:cNvPr id="81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50838" y="1214438"/>
            <a:ext cx="8232775" cy="564356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sz="2400" smtClean="0"/>
              <a:t>The array is in reverse sorted order</a:t>
            </a:r>
          </a:p>
          <a:p>
            <a:pPr lvl="1" eaLnBrk="1" hangingPunct="1">
              <a:lnSpc>
                <a:spcPct val="120000"/>
              </a:lnSpc>
            </a:pPr>
            <a:r>
              <a:rPr lang="en-US" sz="2000" smtClean="0"/>
              <a:t>Always </a:t>
            </a:r>
            <a:r>
              <a:rPr lang="en-US" sz="2000" smtClean="0">
                <a:latin typeface="Comic Sans MS" pitchFamily="66" charset="0"/>
              </a:rPr>
              <a:t>A[i] &gt; key</a:t>
            </a:r>
            <a:r>
              <a:rPr lang="en-US" sz="2000" smtClean="0"/>
              <a:t> in </a:t>
            </a:r>
            <a:r>
              <a:rPr lang="en-US" sz="2000" b="1" smtClean="0"/>
              <a:t>while</a:t>
            </a:r>
            <a:r>
              <a:rPr lang="en-US" sz="2000" smtClean="0"/>
              <a:t> loop test</a:t>
            </a:r>
          </a:p>
          <a:p>
            <a:pPr lvl="1" eaLnBrk="1" hangingPunct="1">
              <a:lnSpc>
                <a:spcPct val="120000"/>
              </a:lnSpc>
            </a:pPr>
            <a:r>
              <a:rPr lang="en-US" sz="2000" smtClean="0"/>
              <a:t>Have to compare </a:t>
            </a:r>
            <a:r>
              <a:rPr lang="en-US" sz="2000" smtClean="0">
                <a:latin typeface="Comic Sans MS" pitchFamily="66" charset="0"/>
              </a:rPr>
              <a:t>key</a:t>
            </a:r>
            <a:r>
              <a:rPr lang="en-US" sz="2000" i="1" smtClean="0"/>
              <a:t> </a:t>
            </a:r>
            <a:r>
              <a:rPr lang="en-US" sz="2000" smtClean="0"/>
              <a:t>with all elements to the left of the </a:t>
            </a:r>
            <a:r>
              <a:rPr lang="en-US" sz="2000" smtClean="0">
                <a:latin typeface="Comic Sans MS" pitchFamily="66" charset="0"/>
              </a:rPr>
              <a:t>j</a:t>
            </a:r>
            <a:r>
              <a:rPr lang="en-US" sz="2000" i="1" smtClean="0"/>
              <a:t>-</a:t>
            </a:r>
            <a:r>
              <a:rPr lang="en-US" sz="2000" smtClean="0"/>
              <a:t>th position </a:t>
            </a:r>
            <a:r>
              <a:rPr lang="en-US" sz="2000" smtClean="0">
                <a:sym typeface="Symbol" pitchFamily="18" charset="2"/>
              </a:rPr>
              <a:t> </a:t>
            </a:r>
            <a:r>
              <a:rPr lang="en-US" sz="2000" smtClean="0"/>
              <a:t>compare with</a:t>
            </a:r>
            <a:r>
              <a:rPr lang="en-US" sz="2000" smtClean="0">
                <a:latin typeface="Comic Sans MS" pitchFamily="66" charset="0"/>
              </a:rPr>
              <a:t> j-1</a:t>
            </a:r>
            <a:r>
              <a:rPr lang="en-US" sz="2000" smtClean="0"/>
              <a:t> elements </a:t>
            </a:r>
            <a:r>
              <a:rPr lang="en-US" sz="2000" smtClean="0">
                <a:sym typeface="Symbol" pitchFamily="18" charset="2"/>
              </a:rPr>
              <a:t> </a:t>
            </a:r>
            <a:r>
              <a:rPr lang="en-US" sz="2000" smtClean="0"/>
              <a:t>t</a:t>
            </a:r>
            <a:r>
              <a:rPr lang="en-US" sz="2000" baseline="-25000" smtClean="0">
                <a:latin typeface="Comic Sans MS" pitchFamily="66" charset="0"/>
              </a:rPr>
              <a:t>j</a:t>
            </a:r>
            <a:r>
              <a:rPr lang="en-US" sz="2000" smtClean="0">
                <a:latin typeface="Comic Sans MS" pitchFamily="66" charset="0"/>
              </a:rPr>
              <a:t> = j</a:t>
            </a:r>
            <a:r>
              <a:rPr lang="en-US" sz="2000" i="1" smtClean="0"/>
              <a:t> </a:t>
            </a:r>
            <a:endParaRPr lang="en-US" sz="2000" smtClean="0"/>
          </a:p>
          <a:p>
            <a:pPr eaLnBrk="1" hangingPunct="1"/>
            <a:endParaRPr lang="en-US" smtClean="0"/>
          </a:p>
          <a:p>
            <a:pPr eaLnBrk="1" hangingPunct="1"/>
            <a:endParaRPr lang="en-US" sz="2400" smtClean="0"/>
          </a:p>
          <a:p>
            <a:pPr eaLnBrk="1" hangingPunct="1"/>
            <a:endParaRPr lang="en-US" sz="2400" smtClean="0"/>
          </a:p>
          <a:p>
            <a:pPr lvl="1" eaLnBrk="1" hangingPunct="1">
              <a:buFontTx/>
              <a:buNone/>
            </a:pPr>
            <a:r>
              <a:rPr lang="en-US" sz="2000" smtClean="0">
                <a:latin typeface="Comic Sans MS" pitchFamily="66" charset="0"/>
              </a:rPr>
              <a:t> 				</a:t>
            </a:r>
          </a:p>
          <a:p>
            <a:pPr lvl="1" eaLnBrk="1" hangingPunct="1">
              <a:buFontTx/>
              <a:buNone/>
            </a:pPr>
            <a:r>
              <a:rPr lang="en-US" sz="2000" smtClean="0">
                <a:latin typeface="Comic Sans MS" pitchFamily="66" charset="0"/>
              </a:rPr>
              <a:t>					</a:t>
            </a:r>
            <a:r>
              <a:rPr lang="en-US" sz="2000" smtClean="0"/>
              <a:t>a quadratic function of n</a:t>
            </a:r>
          </a:p>
          <a:p>
            <a:pPr eaLnBrk="1" hangingPunct="1"/>
            <a:endParaRPr lang="en-US" sz="1600" smtClean="0">
              <a:latin typeface="Comic Sans MS" pitchFamily="66" charset="0"/>
            </a:endParaRPr>
          </a:p>
          <a:p>
            <a:pPr eaLnBrk="1" hangingPunct="1"/>
            <a:r>
              <a:rPr lang="en-US" sz="2400" smtClean="0">
                <a:latin typeface="Comic Sans MS" pitchFamily="66" charset="0"/>
              </a:rPr>
              <a:t>T(n) = </a:t>
            </a:r>
            <a:r>
              <a:rPr lang="en-US" sz="2400" smtClean="0">
                <a:latin typeface="Comic Sans MS" pitchFamily="66" charset="0"/>
                <a:sym typeface="Symbol" pitchFamily="18" charset="2"/>
              </a:rPr>
              <a:t></a:t>
            </a:r>
            <a:r>
              <a:rPr lang="en-US" sz="2400" smtClean="0">
                <a:latin typeface="Comic Sans MS" pitchFamily="66" charset="0"/>
              </a:rPr>
              <a:t>(n</a:t>
            </a:r>
            <a:r>
              <a:rPr lang="en-US" sz="2400" baseline="30000" smtClean="0">
                <a:latin typeface="Comic Sans MS" pitchFamily="66" charset="0"/>
              </a:rPr>
              <a:t>2</a:t>
            </a:r>
            <a:r>
              <a:rPr lang="en-US" sz="2400" smtClean="0">
                <a:latin typeface="Comic Sans MS" pitchFamily="66" charset="0"/>
              </a:rPr>
              <a:t>)</a:t>
            </a:r>
            <a:r>
              <a:rPr lang="en-US" sz="2400" smtClean="0"/>
              <a:t>  		order of growth in </a:t>
            </a:r>
            <a:r>
              <a:rPr lang="en-US" sz="2400" smtClean="0">
                <a:latin typeface="Comic Sans MS" pitchFamily="66" charset="0"/>
              </a:rPr>
              <a:t>n</a:t>
            </a:r>
            <a:r>
              <a:rPr lang="en-US" sz="2400" baseline="30000" smtClean="0">
                <a:latin typeface="Comic Sans MS" pitchFamily="66" charset="0"/>
              </a:rPr>
              <a:t>2</a:t>
            </a:r>
            <a:endParaRPr lang="en-US" sz="2400" smtClean="0">
              <a:latin typeface="Comic Sans MS" pitchFamily="66" charset="0"/>
            </a:endParaRPr>
          </a:p>
        </p:txBody>
      </p:sp>
      <p:graphicFrame>
        <p:nvGraphicFramePr>
          <p:cNvPr id="8194" name="Object 2"/>
          <p:cNvGraphicFramePr>
            <a:graphicFrameLocks noChangeAspect="1"/>
          </p:cNvGraphicFramePr>
          <p:nvPr>
            <p:ph sz="quarter" idx="2"/>
          </p:nvPr>
        </p:nvGraphicFramePr>
        <p:xfrm>
          <a:off x="1878013" y="3160713"/>
          <a:ext cx="4549775" cy="519112"/>
        </p:xfrm>
        <a:graphic>
          <a:graphicData uri="http://schemas.openxmlformats.org/presentationml/2006/ole">
            <p:oleObj spid="_x0000_s8194" name="Equation" r:id="rId4" imgW="3898800" imgH="444240" progId="Equation.DSMT4">
              <p:embed/>
            </p:oleObj>
          </a:graphicData>
        </a:graphic>
      </p:graphicFrame>
      <p:graphicFrame>
        <p:nvGraphicFramePr>
          <p:cNvPr id="8195" name="Object 3"/>
          <p:cNvGraphicFramePr>
            <a:graphicFrameLocks noChangeAspect="1"/>
          </p:cNvGraphicFramePr>
          <p:nvPr>
            <p:ph sz="quarter" idx="3"/>
          </p:nvPr>
        </p:nvGraphicFramePr>
        <p:xfrm>
          <a:off x="601663" y="3886200"/>
          <a:ext cx="7986712" cy="658813"/>
        </p:xfrm>
        <a:graphic>
          <a:graphicData uri="http://schemas.openxmlformats.org/presentationml/2006/ole">
            <p:oleObj spid="_x0000_s8195" name="Equation" r:id="rId5" imgW="5232240" imgH="431640" progId="Equation.3">
              <p:embed/>
            </p:oleObj>
          </a:graphicData>
        </a:graphic>
      </p:graphicFrame>
      <p:graphicFrame>
        <p:nvGraphicFramePr>
          <p:cNvPr id="8196" name="Object 4"/>
          <p:cNvGraphicFramePr>
            <a:graphicFrameLocks noChangeAspect="1"/>
          </p:cNvGraphicFramePr>
          <p:nvPr/>
        </p:nvGraphicFramePr>
        <p:xfrm>
          <a:off x="1139825" y="4702175"/>
          <a:ext cx="1897063" cy="428625"/>
        </p:xfrm>
        <a:graphic>
          <a:graphicData uri="http://schemas.openxmlformats.org/presentationml/2006/ole">
            <p:oleObj spid="_x0000_s8196" name="Equation" r:id="rId6" imgW="901440" imgH="203040" progId="Equation.3">
              <p:embed/>
            </p:oleObj>
          </a:graphicData>
        </a:graphic>
      </p:graphicFrame>
      <p:sp>
        <p:nvSpPr>
          <p:cNvPr id="8200" name="Rectangle 7"/>
          <p:cNvSpPr>
            <a:spLocks noChangeArrowheads="1"/>
          </p:cNvSpPr>
          <p:nvPr/>
        </p:nvSpPr>
        <p:spPr bwMode="auto">
          <a:xfrm>
            <a:off x="5464175" y="1258888"/>
            <a:ext cx="38322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sz="1800" b="1"/>
              <a:t>“while </a:t>
            </a:r>
            <a:r>
              <a:rPr lang="en-US" sz="1800"/>
              <a:t>i &gt; 0 and A[i] &gt; key”</a:t>
            </a:r>
          </a:p>
        </p:txBody>
      </p:sp>
      <p:graphicFrame>
        <p:nvGraphicFramePr>
          <p:cNvPr id="8197" name="Object 5"/>
          <p:cNvGraphicFramePr>
            <a:graphicFrameLocks noChangeAspect="1"/>
          </p:cNvGraphicFramePr>
          <p:nvPr/>
        </p:nvGraphicFramePr>
        <p:xfrm>
          <a:off x="211138" y="5819775"/>
          <a:ext cx="8707437" cy="819150"/>
        </p:xfrm>
        <a:graphic>
          <a:graphicData uri="http://schemas.openxmlformats.org/presentationml/2006/ole">
            <p:oleObj spid="_x0000_s8197" name="Equation" r:id="rId7" imgW="4724280" imgH="444240" progId="Equation.3">
              <p:embed/>
            </p:oleObj>
          </a:graphicData>
        </a:graphic>
      </p:graphicFrame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901700" y="3189288"/>
            <a:ext cx="730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using</a:t>
            </a:r>
          </a:p>
        </p:txBody>
      </p:sp>
      <p:sp>
        <p:nvSpPr>
          <p:cNvPr id="8202" name="Text Box 10"/>
          <p:cNvSpPr txBox="1">
            <a:spLocks noChangeArrowheads="1"/>
          </p:cNvSpPr>
          <p:nvPr/>
        </p:nvSpPr>
        <p:spPr bwMode="auto">
          <a:xfrm>
            <a:off x="6800850" y="3209925"/>
            <a:ext cx="1098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we have:</a:t>
            </a:r>
          </a:p>
        </p:txBody>
      </p:sp>
      <p:sp>
        <p:nvSpPr>
          <p:cNvPr id="8203" name="Line 11"/>
          <p:cNvSpPr>
            <a:spLocks noChangeShapeType="1"/>
          </p:cNvSpPr>
          <p:nvPr/>
        </p:nvSpPr>
        <p:spPr bwMode="auto">
          <a:xfrm>
            <a:off x="3735388" y="3570288"/>
            <a:ext cx="506412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204" name="Line 12"/>
          <p:cNvSpPr>
            <a:spLocks noChangeShapeType="1"/>
          </p:cNvSpPr>
          <p:nvPr/>
        </p:nvSpPr>
        <p:spPr bwMode="auto">
          <a:xfrm flipH="1">
            <a:off x="5808663" y="3587750"/>
            <a:ext cx="130175" cy="331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205" name="Line 13"/>
          <p:cNvSpPr>
            <a:spLocks noChangeShapeType="1"/>
          </p:cNvSpPr>
          <p:nvPr/>
        </p:nvSpPr>
        <p:spPr bwMode="auto">
          <a:xfrm>
            <a:off x="6313488" y="3570288"/>
            <a:ext cx="819150" cy="349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AutoShape 2"/>
          <p:cNvSpPr>
            <a:spLocks noChangeArrowheads="1"/>
          </p:cNvSpPr>
          <p:nvPr/>
        </p:nvSpPr>
        <p:spPr bwMode="auto">
          <a:xfrm>
            <a:off x="1422400" y="4729163"/>
            <a:ext cx="7597775" cy="488950"/>
          </a:xfrm>
          <a:prstGeom prst="roundRect">
            <a:avLst>
              <a:gd name="adj" fmla="val 16667"/>
            </a:avLst>
          </a:prstGeom>
          <a:solidFill>
            <a:srgbClr val="CC0000">
              <a:alpha val="3098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224259" name="AutoShape 3"/>
          <p:cNvSpPr>
            <a:spLocks noChangeArrowheads="1"/>
          </p:cNvSpPr>
          <p:nvPr/>
        </p:nvSpPr>
        <p:spPr bwMode="auto">
          <a:xfrm>
            <a:off x="1377950" y="4143375"/>
            <a:ext cx="7597775" cy="504825"/>
          </a:xfrm>
          <a:prstGeom prst="roundRect">
            <a:avLst>
              <a:gd name="adj" fmla="val 16667"/>
            </a:avLst>
          </a:prstGeom>
          <a:solidFill>
            <a:schemeClr val="accent1">
              <a:alpha val="5294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9223" name="Rectangle 4"/>
          <p:cNvSpPr>
            <a:spLocks noGrp="1" noChangeArrowheads="1"/>
          </p:cNvSpPr>
          <p:nvPr>
            <p:ph type="title"/>
          </p:nvPr>
        </p:nvSpPr>
        <p:spPr>
          <a:xfrm>
            <a:off x="341313" y="71438"/>
            <a:ext cx="8229600" cy="906462"/>
          </a:xfrm>
        </p:spPr>
        <p:txBody>
          <a:bodyPr/>
          <a:lstStyle/>
          <a:p>
            <a:pPr eaLnBrk="1" hangingPunct="1"/>
            <a:r>
              <a:rPr lang="en-US" sz="2000" smtClean="0"/>
              <a:t>Comparisons and Exchanges in Insertion Sort</a:t>
            </a:r>
          </a:p>
        </p:txBody>
      </p:sp>
      <p:sp>
        <p:nvSpPr>
          <p:cNvPr id="9224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8438" y="1214438"/>
            <a:ext cx="6624637" cy="5418137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Tx/>
              <a:buNone/>
            </a:pPr>
            <a:r>
              <a:rPr lang="en-US" sz="2000" smtClean="0"/>
              <a:t>INSERTION-SORT</a:t>
            </a:r>
            <a:r>
              <a:rPr lang="en-US" sz="2000" i="1" smtClean="0"/>
              <a:t>(A)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en-US" sz="2000" b="1" smtClean="0"/>
              <a:t>	for </a:t>
            </a:r>
            <a:r>
              <a:rPr lang="en-US" sz="2000" smtClean="0"/>
              <a:t>j ← 2 </a:t>
            </a:r>
            <a:r>
              <a:rPr lang="en-US" sz="2000" b="1" smtClean="0"/>
              <a:t>to </a:t>
            </a:r>
            <a:r>
              <a:rPr lang="en-US" sz="2000" smtClean="0"/>
              <a:t>n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en-US" sz="2000" b="1" smtClean="0"/>
              <a:t>		do </a:t>
            </a:r>
            <a:r>
              <a:rPr lang="en-US" sz="2000" smtClean="0"/>
              <a:t>key ← A[ j ]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en-US" sz="2000" smtClean="0"/>
              <a:t>		  Insert A[ j ] into the sorted sequence A[1 . . j -1]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en-US" sz="2000" smtClean="0"/>
              <a:t>		     i ← j - 1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en-US" sz="2000" b="1" smtClean="0"/>
              <a:t>		     while </a:t>
            </a:r>
            <a:r>
              <a:rPr lang="en-US" sz="2000" smtClean="0"/>
              <a:t>i &gt; 0 and A[i] &gt; key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en-US" sz="2000" smtClean="0"/>
              <a:t>			</a:t>
            </a:r>
            <a:r>
              <a:rPr lang="en-US" sz="2000" b="1" smtClean="0"/>
              <a:t>do </a:t>
            </a:r>
            <a:r>
              <a:rPr lang="en-US" sz="2000" smtClean="0"/>
              <a:t>A[i + 1] ← A[i]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en-US" sz="2000" smtClean="0"/>
              <a:t>			      i ← i – 1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en-US" sz="2000" smtClean="0"/>
              <a:t>		     A[i + 1] ← key</a:t>
            </a:r>
          </a:p>
        </p:txBody>
      </p:sp>
      <p:sp>
        <p:nvSpPr>
          <p:cNvPr id="9225" name="Rectangle 6"/>
          <p:cNvSpPr>
            <a:spLocks noChangeArrowheads="1"/>
          </p:cNvSpPr>
          <p:nvPr/>
        </p:nvSpPr>
        <p:spPr bwMode="auto">
          <a:xfrm>
            <a:off x="6462713" y="1250950"/>
            <a:ext cx="2133600" cy="50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en-US" sz="2000"/>
              <a:t>cost	 times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en-US" sz="2000"/>
              <a:t> </a:t>
            </a:r>
            <a:r>
              <a:rPr lang="en-US" sz="2000">
                <a:latin typeface="Comic Sans MS" pitchFamily="66" charset="0"/>
              </a:rPr>
              <a:t> c</a:t>
            </a:r>
            <a:r>
              <a:rPr lang="en-US" sz="2000" baseline="-25000">
                <a:latin typeface="Comic Sans MS" pitchFamily="66" charset="0"/>
              </a:rPr>
              <a:t>1</a:t>
            </a:r>
            <a:r>
              <a:rPr lang="en-US" sz="2000">
                <a:latin typeface="Comic Sans MS" pitchFamily="66" charset="0"/>
              </a:rPr>
              <a:t>          n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en-US" sz="2000">
                <a:latin typeface="Comic Sans MS" pitchFamily="66" charset="0"/>
              </a:rPr>
              <a:t>  c</a:t>
            </a:r>
            <a:r>
              <a:rPr lang="en-US" sz="2000" baseline="-25000">
                <a:latin typeface="Comic Sans MS" pitchFamily="66" charset="0"/>
              </a:rPr>
              <a:t>2</a:t>
            </a:r>
            <a:r>
              <a:rPr lang="en-US" sz="2000">
                <a:latin typeface="Comic Sans MS" pitchFamily="66" charset="0"/>
              </a:rPr>
              <a:t> 	   n-1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en-US" sz="2000">
                <a:latin typeface="Comic Sans MS" pitchFamily="66" charset="0"/>
              </a:rPr>
              <a:t>  0	   n-1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en-US" sz="2000">
                <a:latin typeface="Comic Sans MS" pitchFamily="66" charset="0"/>
              </a:rPr>
              <a:t>  c</a:t>
            </a:r>
            <a:r>
              <a:rPr lang="en-US" sz="2000" baseline="-25000">
                <a:latin typeface="Comic Sans MS" pitchFamily="66" charset="0"/>
              </a:rPr>
              <a:t>4</a:t>
            </a:r>
            <a:r>
              <a:rPr lang="en-US" sz="2000">
                <a:latin typeface="Comic Sans MS" pitchFamily="66" charset="0"/>
              </a:rPr>
              <a:t>	   n-1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en-US" sz="2000">
                <a:latin typeface="Comic Sans MS" pitchFamily="66" charset="0"/>
              </a:rPr>
              <a:t>  c</a:t>
            </a:r>
            <a:r>
              <a:rPr lang="en-US" sz="2000" baseline="-25000">
                <a:latin typeface="Comic Sans MS" pitchFamily="66" charset="0"/>
              </a:rPr>
              <a:t>5</a:t>
            </a:r>
            <a:r>
              <a:rPr lang="en-US" sz="2000">
                <a:latin typeface="Comic Sans MS" pitchFamily="66" charset="0"/>
              </a:rPr>
              <a:t>	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en-US" sz="2000">
                <a:latin typeface="Comic Sans MS" pitchFamily="66" charset="0"/>
              </a:rPr>
              <a:t>  c</a:t>
            </a:r>
            <a:r>
              <a:rPr lang="en-US" sz="2000" baseline="-25000">
                <a:latin typeface="Comic Sans MS" pitchFamily="66" charset="0"/>
              </a:rPr>
              <a:t>6</a:t>
            </a:r>
            <a:r>
              <a:rPr lang="en-US" sz="2000">
                <a:latin typeface="Comic Sans MS" pitchFamily="66" charset="0"/>
              </a:rPr>
              <a:t> 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en-US" sz="2000">
                <a:latin typeface="Comic Sans MS" pitchFamily="66" charset="0"/>
              </a:rPr>
              <a:t>  c</a:t>
            </a:r>
            <a:r>
              <a:rPr lang="en-US" sz="2000" baseline="-25000">
                <a:latin typeface="Comic Sans MS" pitchFamily="66" charset="0"/>
              </a:rPr>
              <a:t>7 </a:t>
            </a:r>
            <a:endParaRPr lang="en-US" sz="2000">
              <a:latin typeface="Comic Sans MS" pitchFamily="66" charset="0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en-US" sz="2000">
                <a:latin typeface="Comic Sans MS" pitchFamily="66" charset="0"/>
              </a:rPr>
              <a:t>  c</a:t>
            </a:r>
            <a:r>
              <a:rPr lang="en-US" sz="2000" baseline="-25000">
                <a:latin typeface="Comic Sans MS" pitchFamily="66" charset="0"/>
              </a:rPr>
              <a:t>8</a:t>
            </a:r>
            <a:r>
              <a:rPr lang="en-US" sz="2000">
                <a:latin typeface="Comic Sans MS" pitchFamily="66" charset="0"/>
              </a:rPr>
              <a:t>	    n-1	</a:t>
            </a:r>
            <a:r>
              <a:rPr lang="en-US" sz="2000"/>
              <a:t>   </a:t>
            </a:r>
            <a:endParaRPr lang="en-US" sz="2000" baseline="-25000"/>
          </a:p>
        </p:txBody>
      </p:sp>
      <p:graphicFrame>
        <p:nvGraphicFramePr>
          <p:cNvPr id="9218" name="Object 2"/>
          <p:cNvGraphicFramePr>
            <a:graphicFrameLocks noChangeAspect="1"/>
          </p:cNvGraphicFramePr>
          <p:nvPr/>
        </p:nvGraphicFramePr>
        <p:xfrm>
          <a:off x="7694613" y="4084638"/>
          <a:ext cx="833437" cy="539750"/>
        </p:xfrm>
        <a:graphic>
          <a:graphicData uri="http://schemas.openxmlformats.org/presentationml/2006/ole">
            <p:oleObj spid="_x0000_s9218" name="Equation" r:id="rId4" imgW="469800" imgH="304560" progId="Equation.3">
              <p:embed/>
            </p:oleObj>
          </a:graphicData>
        </a:graphic>
      </p:graphicFrame>
      <p:graphicFrame>
        <p:nvGraphicFramePr>
          <p:cNvPr id="9219" name="Object 3"/>
          <p:cNvGraphicFramePr>
            <a:graphicFrameLocks noChangeAspect="1"/>
          </p:cNvGraphicFramePr>
          <p:nvPr/>
        </p:nvGraphicFramePr>
        <p:xfrm>
          <a:off x="7694613" y="4667250"/>
          <a:ext cx="1354137" cy="531813"/>
        </p:xfrm>
        <a:graphic>
          <a:graphicData uri="http://schemas.openxmlformats.org/presentationml/2006/ole">
            <p:oleObj spid="_x0000_s9219" name="Equation" r:id="rId5" imgW="774360" imgH="304560" progId="Equation.3">
              <p:embed/>
            </p:oleObj>
          </a:graphicData>
        </a:graphic>
      </p:graphicFrame>
      <p:graphicFrame>
        <p:nvGraphicFramePr>
          <p:cNvPr id="9220" name="Object 4"/>
          <p:cNvGraphicFramePr>
            <a:graphicFrameLocks noChangeAspect="1"/>
          </p:cNvGraphicFramePr>
          <p:nvPr/>
        </p:nvGraphicFramePr>
        <p:xfrm>
          <a:off x="7694613" y="5243513"/>
          <a:ext cx="1354137" cy="531812"/>
        </p:xfrm>
        <a:graphic>
          <a:graphicData uri="http://schemas.openxmlformats.org/presentationml/2006/ole">
            <p:oleObj spid="_x0000_s9220" name="Equation" r:id="rId6" imgW="774360" imgH="304560" progId="Equation.3">
              <p:embed/>
            </p:oleObj>
          </a:graphicData>
        </a:graphic>
      </p:graphicFrame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3633788" y="3565525"/>
            <a:ext cx="2459037" cy="831850"/>
            <a:chOff x="2289" y="2246"/>
            <a:chExt cx="1549" cy="524"/>
          </a:xfrm>
        </p:grpSpPr>
        <p:sp>
          <p:nvSpPr>
            <p:cNvPr id="9230" name="Text Box 11"/>
            <p:cNvSpPr txBox="1">
              <a:spLocks noChangeArrowheads="1"/>
            </p:cNvSpPr>
            <p:nvPr/>
          </p:nvSpPr>
          <p:spPr bwMode="auto">
            <a:xfrm>
              <a:off x="2289" y="2246"/>
              <a:ext cx="1549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sym typeface="Symbol" pitchFamily="18" charset="2"/>
                </a:rPr>
                <a:t> </a:t>
              </a:r>
              <a:r>
                <a:rPr lang="en-US" sz="2000">
                  <a:latin typeface="Comic Sans MS" pitchFamily="66" charset="0"/>
                  <a:sym typeface="Symbol" pitchFamily="18" charset="2"/>
                </a:rPr>
                <a:t>n</a:t>
              </a:r>
              <a:r>
                <a:rPr lang="en-US" sz="2000" baseline="30000">
                  <a:latin typeface="Comic Sans MS" pitchFamily="66" charset="0"/>
                  <a:sym typeface="Symbol" pitchFamily="18" charset="2"/>
                </a:rPr>
                <a:t>2</a:t>
              </a:r>
              <a:r>
                <a:rPr lang="en-US" sz="2000">
                  <a:latin typeface="Comic Sans MS" pitchFamily="66" charset="0"/>
                  <a:sym typeface="Symbol" pitchFamily="18" charset="2"/>
                </a:rPr>
                <a:t>/2 comparisons</a:t>
              </a:r>
            </a:p>
          </p:txBody>
        </p:sp>
        <p:sp>
          <p:nvSpPr>
            <p:cNvPr id="9231" name="Freeform 12"/>
            <p:cNvSpPr>
              <a:spLocks/>
            </p:cNvSpPr>
            <p:nvPr/>
          </p:nvSpPr>
          <p:spPr bwMode="auto">
            <a:xfrm>
              <a:off x="3536" y="2500"/>
              <a:ext cx="208" cy="270"/>
            </a:xfrm>
            <a:custGeom>
              <a:avLst/>
              <a:gdLst>
                <a:gd name="T0" fmla="*/ 0 w 208"/>
                <a:gd name="T1" fmla="*/ 0 h 270"/>
                <a:gd name="T2" fmla="*/ 171 w 208"/>
                <a:gd name="T3" fmla="*/ 110 h 270"/>
                <a:gd name="T4" fmla="*/ 208 w 208"/>
                <a:gd name="T5" fmla="*/ 270 h 270"/>
                <a:gd name="T6" fmla="*/ 0 60000 65536"/>
                <a:gd name="T7" fmla="*/ 0 60000 65536"/>
                <a:gd name="T8" fmla="*/ 0 60000 65536"/>
                <a:gd name="T9" fmla="*/ 0 w 208"/>
                <a:gd name="T10" fmla="*/ 0 h 270"/>
                <a:gd name="T11" fmla="*/ 208 w 208"/>
                <a:gd name="T12" fmla="*/ 270 h 2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8" h="270">
                  <a:moveTo>
                    <a:pt x="0" y="0"/>
                  </a:moveTo>
                  <a:cubicBezTo>
                    <a:pt x="68" y="32"/>
                    <a:pt x="136" y="65"/>
                    <a:pt x="171" y="110"/>
                  </a:cubicBezTo>
                  <a:cubicBezTo>
                    <a:pt x="206" y="155"/>
                    <a:pt x="207" y="212"/>
                    <a:pt x="208" y="27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2000"/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3913188" y="5016500"/>
            <a:ext cx="2427287" cy="658813"/>
            <a:chOff x="2465" y="3160"/>
            <a:chExt cx="1529" cy="415"/>
          </a:xfrm>
        </p:grpSpPr>
        <p:sp>
          <p:nvSpPr>
            <p:cNvPr id="9228" name="Text Box 14"/>
            <p:cNvSpPr txBox="1">
              <a:spLocks noChangeArrowheads="1"/>
            </p:cNvSpPr>
            <p:nvPr/>
          </p:nvSpPr>
          <p:spPr bwMode="auto">
            <a:xfrm>
              <a:off x="2465" y="3323"/>
              <a:ext cx="1417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sym typeface="Symbol" pitchFamily="18" charset="2"/>
                </a:rPr>
                <a:t> </a:t>
              </a:r>
              <a:r>
                <a:rPr lang="en-US" sz="2000">
                  <a:latin typeface="Comic Sans MS" pitchFamily="66" charset="0"/>
                  <a:sym typeface="Symbol" pitchFamily="18" charset="2"/>
                </a:rPr>
                <a:t>n</a:t>
              </a:r>
              <a:r>
                <a:rPr lang="en-US" sz="2000" baseline="30000">
                  <a:latin typeface="Comic Sans MS" pitchFamily="66" charset="0"/>
                  <a:sym typeface="Symbol" pitchFamily="18" charset="2"/>
                </a:rPr>
                <a:t>2</a:t>
              </a:r>
              <a:r>
                <a:rPr lang="en-US" sz="2000">
                  <a:latin typeface="Comic Sans MS" pitchFamily="66" charset="0"/>
                  <a:sym typeface="Symbol" pitchFamily="18" charset="2"/>
                </a:rPr>
                <a:t>/2 exchanges</a:t>
              </a:r>
            </a:p>
          </p:txBody>
        </p:sp>
        <p:sp>
          <p:nvSpPr>
            <p:cNvPr id="9229" name="Freeform 15"/>
            <p:cNvSpPr>
              <a:spLocks/>
            </p:cNvSpPr>
            <p:nvPr/>
          </p:nvSpPr>
          <p:spPr bwMode="auto">
            <a:xfrm rot="7371790" flipH="1">
              <a:off x="3755" y="3129"/>
              <a:ext cx="208" cy="270"/>
            </a:xfrm>
            <a:custGeom>
              <a:avLst/>
              <a:gdLst>
                <a:gd name="T0" fmla="*/ 0 w 208"/>
                <a:gd name="T1" fmla="*/ 0 h 270"/>
                <a:gd name="T2" fmla="*/ 171 w 208"/>
                <a:gd name="T3" fmla="*/ 110 h 270"/>
                <a:gd name="T4" fmla="*/ 208 w 208"/>
                <a:gd name="T5" fmla="*/ 270 h 270"/>
                <a:gd name="T6" fmla="*/ 0 60000 65536"/>
                <a:gd name="T7" fmla="*/ 0 60000 65536"/>
                <a:gd name="T8" fmla="*/ 0 60000 65536"/>
                <a:gd name="T9" fmla="*/ 0 w 208"/>
                <a:gd name="T10" fmla="*/ 0 h 270"/>
                <a:gd name="T11" fmla="*/ 208 w 208"/>
                <a:gd name="T12" fmla="*/ 270 h 2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8" h="270">
                  <a:moveTo>
                    <a:pt x="0" y="0"/>
                  </a:moveTo>
                  <a:cubicBezTo>
                    <a:pt x="68" y="32"/>
                    <a:pt x="136" y="65"/>
                    <a:pt x="171" y="110"/>
                  </a:cubicBezTo>
                  <a:cubicBezTo>
                    <a:pt x="206" y="155"/>
                    <a:pt x="207" y="212"/>
                    <a:pt x="208" y="27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2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58" grpId="0" animBg="1"/>
      <p:bldP spid="22425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Insertion Sort - Summary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Advantages</a:t>
            </a:r>
          </a:p>
          <a:p>
            <a:pPr lvl="1" eaLnBrk="1" hangingPunct="1"/>
            <a:r>
              <a:rPr lang="en-US" smtClean="0"/>
              <a:t>Good running time for “almost sorted” arrays </a:t>
            </a:r>
            <a:r>
              <a:rPr lang="en-US" smtClean="0">
                <a:sym typeface="Symbol" pitchFamily="18" charset="2"/>
              </a:rPr>
              <a:t>(n)</a:t>
            </a:r>
          </a:p>
          <a:p>
            <a:pPr eaLnBrk="1" hangingPunct="1"/>
            <a:r>
              <a:rPr lang="en-US" smtClean="0">
                <a:sym typeface="Symbol" pitchFamily="18" charset="2"/>
              </a:rPr>
              <a:t>Disadvantages</a:t>
            </a:r>
          </a:p>
          <a:p>
            <a:pPr lvl="1" eaLnBrk="1" hangingPunct="1"/>
            <a:r>
              <a:rPr lang="en-US" smtClean="0">
                <a:latin typeface="Comic Sans MS" pitchFamily="66" charset="0"/>
                <a:sym typeface="Symbol" pitchFamily="18" charset="2"/>
              </a:rPr>
              <a:t>(n</a:t>
            </a:r>
            <a:r>
              <a:rPr lang="en-US" baseline="30000" smtClean="0">
                <a:latin typeface="Comic Sans MS" pitchFamily="66" charset="0"/>
                <a:sym typeface="Symbol" pitchFamily="18" charset="2"/>
              </a:rPr>
              <a:t>2</a:t>
            </a:r>
            <a:r>
              <a:rPr lang="en-US" smtClean="0">
                <a:latin typeface="Comic Sans MS" pitchFamily="66" charset="0"/>
                <a:sym typeface="Symbol" pitchFamily="18" charset="2"/>
              </a:rPr>
              <a:t>)</a:t>
            </a:r>
            <a:r>
              <a:rPr lang="en-US" smtClean="0">
                <a:sym typeface="Symbol" pitchFamily="18" charset="2"/>
              </a:rPr>
              <a:t> running time in worst and average case</a:t>
            </a:r>
          </a:p>
          <a:p>
            <a:pPr lvl="1" eaLnBrk="1" hangingPunct="1"/>
            <a:r>
              <a:rPr lang="en-US" smtClean="0">
                <a:sym typeface="Symbol" pitchFamily="18" charset="2"/>
              </a:rPr>
              <a:t> n</a:t>
            </a:r>
            <a:r>
              <a:rPr lang="en-US" baseline="30000" smtClean="0">
                <a:sym typeface="Symbol" pitchFamily="18" charset="2"/>
              </a:rPr>
              <a:t>2</a:t>
            </a:r>
            <a:r>
              <a:rPr lang="en-US" smtClean="0">
                <a:sym typeface="Symbol" pitchFamily="18" charset="2"/>
              </a:rPr>
              <a:t>/2 comparisons and exchanges</a:t>
            </a:r>
            <a:endParaRPr lang="en-US" baseline="30000" smtClean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Bubble Sort (Ex. 2-2, page 38)</a:t>
            </a:r>
          </a:p>
        </p:txBody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Idea: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mtClean="0"/>
              <a:t>Repeatedly pass through the array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mtClean="0"/>
              <a:t>Swaps adjacent elements that are out of order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Easier to implement, but slower than Insertion sort</a:t>
            </a:r>
          </a:p>
        </p:txBody>
      </p:sp>
      <p:sp>
        <p:nvSpPr>
          <p:cNvPr id="100356" name="Text Box 4"/>
          <p:cNvSpPr txBox="1">
            <a:spLocks noChangeArrowheads="1"/>
          </p:cNvSpPr>
          <p:nvPr/>
        </p:nvSpPr>
        <p:spPr bwMode="auto">
          <a:xfrm>
            <a:off x="2271713" y="3349625"/>
            <a:ext cx="228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000"/>
              <a:t>1</a:t>
            </a:r>
          </a:p>
        </p:txBody>
      </p:sp>
      <p:sp>
        <p:nvSpPr>
          <p:cNvPr id="100357" name="Text Box 5"/>
          <p:cNvSpPr txBox="1">
            <a:spLocks noChangeArrowheads="1"/>
          </p:cNvSpPr>
          <p:nvPr/>
        </p:nvSpPr>
        <p:spPr bwMode="auto">
          <a:xfrm>
            <a:off x="2757488" y="3349625"/>
            <a:ext cx="228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000"/>
              <a:t>2</a:t>
            </a:r>
          </a:p>
        </p:txBody>
      </p:sp>
      <p:sp>
        <p:nvSpPr>
          <p:cNvPr id="100358" name="Text Box 6"/>
          <p:cNvSpPr txBox="1">
            <a:spLocks noChangeArrowheads="1"/>
          </p:cNvSpPr>
          <p:nvPr/>
        </p:nvSpPr>
        <p:spPr bwMode="auto">
          <a:xfrm>
            <a:off x="3179763" y="3349625"/>
            <a:ext cx="228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000"/>
              <a:t>3</a:t>
            </a:r>
          </a:p>
        </p:txBody>
      </p:sp>
      <p:sp>
        <p:nvSpPr>
          <p:cNvPr id="100359" name="Text Box 7"/>
          <p:cNvSpPr txBox="1">
            <a:spLocks noChangeArrowheads="1"/>
          </p:cNvSpPr>
          <p:nvPr/>
        </p:nvSpPr>
        <p:spPr bwMode="auto">
          <a:xfrm>
            <a:off x="4989513" y="3349625"/>
            <a:ext cx="228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000"/>
              <a:t>n</a:t>
            </a:r>
          </a:p>
        </p:txBody>
      </p:sp>
      <p:sp>
        <p:nvSpPr>
          <p:cNvPr id="100360" name="Text Box 8"/>
          <p:cNvSpPr txBox="1">
            <a:spLocks noChangeArrowheads="1"/>
          </p:cNvSpPr>
          <p:nvPr/>
        </p:nvSpPr>
        <p:spPr bwMode="auto">
          <a:xfrm>
            <a:off x="2273300" y="3032125"/>
            <a:ext cx="2667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i</a:t>
            </a:r>
          </a:p>
        </p:txBody>
      </p:sp>
      <p:sp>
        <p:nvSpPr>
          <p:cNvPr id="100361" name="Line 9"/>
          <p:cNvSpPr>
            <a:spLocks noChangeShapeType="1"/>
          </p:cNvSpPr>
          <p:nvPr/>
        </p:nvSpPr>
        <p:spPr bwMode="auto">
          <a:xfrm>
            <a:off x="2633663" y="3224213"/>
            <a:ext cx="2520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2219325" y="3630613"/>
            <a:ext cx="3154363" cy="423862"/>
            <a:chOff x="221" y="912"/>
            <a:chExt cx="1987" cy="267"/>
          </a:xfrm>
        </p:grpSpPr>
        <p:sp>
          <p:nvSpPr>
            <p:cNvPr id="100365" name="Rectangle 11"/>
            <p:cNvSpPr>
              <a:spLocks noChangeArrowheads="1"/>
            </p:cNvSpPr>
            <p:nvPr/>
          </p:nvSpPr>
          <p:spPr bwMode="auto">
            <a:xfrm>
              <a:off x="1924" y="912"/>
              <a:ext cx="284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100366" name="Rectangle 12"/>
            <p:cNvSpPr>
              <a:spLocks noChangeArrowheads="1"/>
            </p:cNvSpPr>
            <p:nvPr/>
          </p:nvSpPr>
          <p:spPr bwMode="auto">
            <a:xfrm>
              <a:off x="1641" y="912"/>
              <a:ext cx="283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100367" name="Rectangle 13"/>
            <p:cNvSpPr>
              <a:spLocks noChangeArrowheads="1"/>
            </p:cNvSpPr>
            <p:nvPr/>
          </p:nvSpPr>
          <p:spPr bwMode="auto">
            <a:xfrm>
              <a:off x="1357" y="912"/>
              <a:ext cx="284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100368" name="Rectangle 14"/>
            <p:cNvSpPr>
              <a:spLocks noChangeArrowheads="1"/>
            </p:cNvSpPr>
            <p:nvPr/>
          </p:nvSpPr>
          <p:spPr bwMode="auto">
            <a:xfrm>
              <a:off x="1072" y="912"/>
              <a:ext cx="285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9</a:t>
              </a:r>
            </a:p>
          </p:txBody>
        </p:sp>
        <p:sp>
          <p:nvSpPr>
            <p:cNvPr id="100369" name="Rectangle 15"/>
            <p:cNvSpPr>
              <a:spLocks noChangeArrowheads="1"/>
            </p:cNvSpPr>
            <p:nvPr/>
          </p:nvSpPr>
          <p:spPr bwMode="auto">
            <a:xfrm>
              <a:off x="788" y="912"/>
              <a:ext cx="284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6</a:t>
              </a:r>
            </a:p>
          </p:txBody>
        </p:sp>
        <p:sp>
          <p:nvSpPr>
            <p:cNvPr id="100370" name="Rectangle 16"/>
            <p:cNvSpPr>
              <a:spLocks noChangeArrowheads="1"/>
            </p:cNvSpPr>
            <p:nvPr/>
          </p:nvSpPr>
          <p:spPr bwMode="auto">
            <a:xfrm>
              <a:off x="505" y="912"/>
              <a:ext cx="283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4</a:t>
              </a:r>
            </a:p>
          </p:txBody>
        </p:sp>
        <p:sp>
          <p:nvSpPr>
            <p:cNvPr id="100371" name="Rectangle 17"/>
            <p:cNvSpPr>
              <a:spLocks noChangeArrowheads="1"/>
            </p:cNvSpPr>
            <p:nvPr/>
          </p:nvSpPr>
          <p:spPr bwMode="auto">
            <a:xfrm>
              <a:off x="221" y="912"/>
              <a:ext cx="284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8</a:t>
              </a:r>
            </a:p>
          </p:txBody>
        </p:sp>
        <p:sp>
          <p:nvSpPr>
            <p:cNvPr id="100372" name="Line 18"/>
            <p:cNvSpPr>
              <a:spLocks noChangeShapeType="1"/>
            </p:cNvSpPr>
            <p:nvPr/>
          </p:nvSpPr>
          <p:spPr bwMode="auto">
            <a:xfrm>
              <a:off x="221" y="912"/>
              <a:ext cx="1987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0373" name="Line 19"/>
            <p:cNvSpPr>
              <a:spLocks noChangeShapeType="1"/>
            </p:cNvSpPr>
            <p:nvPr/>
          </p:nvSpPr>
          <p:spPr bwMode="auto">
            <a:xfrm>
              <a:off x="221" y="1179"/>
              <a:ext cx="1987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0374" name="Line 20"/>
            <p:cNvSpPr>
              <a:spLocks noChangeShapeType="1"/>
            </p:cNvSpPr>
            <p:nvPr/>
          </p:nvSpPr>
          <p:spPr bwMode="auto">
            <a:xfrm>
              <a:off x="221" y="912"/>
              <a:ext cx="0" cy="26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0375" name="Line 21"/>
            <p:cNvSpPr>
              <a:spLocks noChangeShapeType="1"/>
            </p:cNvSpPr>
            <p:nvPr/>
          </p:nvSpPr>
          <p:spPr bwMode="auto">
            <a:xfrm>
              <a:off x="505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0376" name="Line 22"/>
            <p:cNvSpPr>
              <a:spLocks noChangeShapeType="1"/>
            </p:cNvSpPr>
            <p:nvPr/>
          </p:nvSpPr>
          <p:spPr bwMode="auto">
            <a:xfrm>
              <a:off x="788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0377" name="Line 23"/>
            <p:cNvSpPr>
              <a:spLocks noChangeShapeType="1"/>
            </p:cNvSpPr>
            <p:nvPr/>
          </p:nvSpPr>
          <p:spPr bwMode="auto">
            <a:xfrm>
              <a:off x="1072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0378" name="Line 24"/>
            <p:cNvSpPr>
              <a:spLocks noChangeShapeType="1"/>
            </p:cNvSpPr>
            <p:nvPr/>
          </p:nvSpPr>
          <p:spPr bwMode="auto">
            <a:xfrm>
              <a:off x="1357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0379" name="Line 25"/>
            <p:cNvSpPr>
              <a:spLocks noChangeShapeType="1"/>
            </p:cNvSpPr>
            <p:nvPr/>
          </p:nvSpPr>
          <p:spPr bwMode="auto">
            <a:xfrm>
              <a:off x="1641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0380" name="Line 26"/>
            <p:cNvSpPr>
              <a:spLocks noChangeShapeType="1"/>
            </p:cNvSpPr>
            <p:nvPr/>
          </p:nvSpPr>
          <p:spPr bwMode="auto">
            <a:xfrm>
              <a:off x="1924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0381" name="Line 27"/>
            <p:cNvSpPr>
              <a:spLocks noChangeShapeType="1"/>
            </p:cNvSpPr>
            <p:nvPr/>
          </p:nvSpPr>
          <p:spPr bwMode="auto">
            <a:xfrm>
              <a:off x="2208" y="912"/>
              <a:ext cx="0" cy="26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</p:grpSp>
      <p:sp>
        <p:nvSpPr>
          <p:cNvPr id="100363" name="Text Box 28"/>
          <p:cNvSpPr txBox="1">
            <a:spLocks noChangeArrowheads="1"/>
          </p:cNvSpPr>
          <p:nvPr/>
        </p:nvSpPr>
        <p:spPr bwMode="auto">
          <a:xfrm>
            <a:off x="5068888" y="4138613"/>
            <a:ext cx="24288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j</a:t>
            </a:r>
          </a:p>
        </p:txBody>
      </p:sp>
      <p:sp>
        <p:nvSpPr>
          <p:cNvPr id="100364" name="Line 29"/>
          <p:cNvSpPr>
            <a:spLocks noChangeShapeType="1"/>
          </p:cNvSpPr>
          <p:nvPr/>
        </p:nvSpPr>
        <p:spPr bwMode="auto">
          <a:xfrm flipH="1">
            <a:off x="2859088" y="4291013"/>
            <a:ext cx="2209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04800" y="1219200"/>
            <a:ext cx="3200400" cy="719138"/>
            <a:chOff x="192" y="768"/>
            <a:chExt cx="2016" cy="453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221" y="768"/>
              <a:ext cx="1987" cy="267"/>
              <a:chOff x="221" y="912"/>
              <a:chExt cx="1987" cy="267"/>
            </a:xfrm>
          </p:grpSpPr>
          <p:sp>
            <p:nvSpPr>
              <p:cNvPr id="101640" name="Rectangle 5"/>
              <p:cNvSpPr>
                <a:spLocks noChangeArrowheads="1"/>
              </p:cNvSpPr>
              <p:nvPr/>
            </p:nvSpPr>
            <p:spPr bwMode="auto">
              <a:xfrm>
                <a:off x="1924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1</a:t>
                </a:r>
              </a:p>
            </p:txBody>
          </p:sp>
          <p:sp>
            <p:nvSpPr>
              <p:cNvPr id="101641" name="Rectangle 6"/>
              <p:cNvSpPr>
                <a:spLocks noChangeArrowheads="1"/>
              </p:cNvSpPr>
              <p:nvPr/>
            </p:nvSpPr>
            <p:spPr bwMode="auto">
              <a:xfrm>
                <a:off x="1641" y="912"/>
                <a:ext cx="283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3</a:t>
                </a:r>
              </a:p>
            </p:txBody>
          </p:sp>
          <p:sp>
            <p:nvSpPr>
              <p:cNvPr id="101642" name="Rectangle 7"/>
              <p:cNvSpPr>
                <a:spLocks noChangeArrowheads="1"/>
              </p:cNvSpPr>
              <p:nvPr/>
            </p:nvSpPr>
            <p:spPr bwMode="auto">
              <a:xfrm>
                <a:off x="1357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2</a:t>
                </a:r>
              </a:p>
            </p:txBody>
          </p:sp>
          <p:sp>
            <p:nvSpPr>
              <p:cNvPr id="101643" name="Rectangle 8"/>
              <p:cNvSpPr>
                <a:spLocks noChangeArrowheads="1"/>
              </p:cNvSpPr>
              <p:nvPr/>
            </p:nvSpPr>
            <p:spPr bwMode="auto">
              <a:xfrm>
                <a:off x="1072" y="912"/>
                <a:ext cx="285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9</a:t>
                </a:r>
              </a:p>
            </p:txBody>
          </p:sp>
          <p:sp>
            <p:nvSpPr>
              <p:cNvPr id="101644" name="Rectangle 9"/>
              <p:cNvSpPr>
                <a:spLocks noChangeArrowheads="1"/>
              </p:cNvSpPr>
              <p:nvPr/>
            </p:nvSpPr>
            <p:spPr bwMode="auto">
              <a:xfrm>
                <a:off x="788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6</a:t>
                </a:r>
              </a:p>
            </p:txBody>
          </p:sp>
          <p:sp>
            <p:nvSpPr>
              <p:cNvPr id="101645" name="Rectangle 10"/>
              <p:cNvSpPr>
                <a:spLocks noChangeArrowheads="1"/>
              </p:cNvSpPr>
              <p:nvPr/>
            </p:nvSpPr>
            <p:spPr bwMode="auto">
              <a:xfrm>
                <a:off x="505" y="912"/>
                <a:ext cx="283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4</a:t>
                </a:r>
              </a:p>
            </p:txBody>
          </p:sp>
          <p:sp>
            <p:nvSpPr>
              <p:cNvPr id="101646" name="Rectangle 11"/>
              <p:cNvSpPr>
                <a:spLocks noChangeArrowheads="1"/>
              </p:cNvSpPr>
              <p:nvPr/>
            </p:nvSpPr>
            <p:spPr bwMode="auto">
              <a:xfrm>
                <a:off x="221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8</a:t>
                </a:r>
              </a:p>
            </p:txBody>
          </p:sp>
          <p:sp>
            <p:nvSpPr>
              <p:cNvPr id="101647" name="Line 12"/>
              <p:cNvSpPr>
                <a:spLocks noChangeShapeType="1"/>
              </p:cNvSpPr>
              <p:nvPr/>
            </p:nvSpPr>
            <p:spPr bwMode="auto">
              <a:xfrm>
                <a:off x="221" y="912"/>
                <a:ext cx="198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648" name="Line 13"/>
              <p:cNvSpPr>
                <a:spLocks noChangeShapeType="1"/>
              </p:cNvSpPr>
              <p:nvPr/>
            </p:nvSpPr>
            <p:spPr bwMode="auto">
              <a:xfrm>
                <a:off x="221" y="1179"/>
                <a:ext cx="198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649" name="Line 14"/>
              <p:cNvSpPr>
                <a:spLocks noChangeShapeType="1"/>
              </p:cNvSpPr>
              <p:nvPr/>
            </p:nvSpPr>
            <p:spPr bwMode="auto">
              <a:xfrm>
                <a:off x="221" y="912"/>
                <a:ext cx="0" cy="26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650" name="Line 15"/>
              <p:cNvSpPr>
                <a:spLocks noChangeShapeType="1"/>
              </p:cNvSpPr>
              <p:nvPr/>
            </p:nvSpPr>
            <p:spPr bwMode="auto">
              <a:xfrm>
                <a:off x="505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651" name="Line 16"/>
              <p:cNvSpPr>
                <a:spLocks noChangeShapeType="1"/>
              </p:cNvSpPr>
              <p:nvPr/>
            </p:nvSpPr>
            <p:spPr bwMode="auto">
              <a:xfrm>
                <a:off x="788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652" name="Line 17"/>
              <p:cNvSpPr>
                <a:spLocks noChangeShapeType="1"/>
              </p:cNvSpPr>
              <p:nvPr/>
            </p:nvSpPr>
            <p:spPr bwMode="auto">
              <a:xfrm>
                <a:off x="1072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653" name="Line 18"/>
              <p:cNvSpPr>
                <a:spLocks noChangeShapeType="1"/>
              </p:cNvSpPr>
              <p:nvPr/>
            </p:nvSpPr>
            <p:spPr bwMode="auto">
              <a:xfrm>
                <a:off x="1357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654" name="Line 19"/>
              <p:cNvSpPr>
                <a:spLocks noChangeShapeType="1"/>
              </p:cNvSpPr>
              <p:nvPr/>
            </p:nvSpPr>
            <p:spPr bwMode="auto">
              <a:xfrm>
                <a:off x="1641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655" name="Line 20"/>
              <p:cNvSpPr>
                <a:spLocks noChangeShapeType="1"/>
              </p:cNvSpPr>
              <p:nvPr/>
            </p:nvSpPr>
            <p:spPr bwMode="auto">
              <a:xfrm>
                <a:off x="1924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656" name="Line 21"/>
              <p:cNvSpPr>
                <a:spLocks noChangeShapeType="1"/>
              </p:cNvSpPr>
              <p:nvPr/>
            </p:nvSpPr>
            <p:spPr bwMode="auto">
              <a:xfrm>
                <a:off x="2208" y="912"/>
                <a:ext cx="0" cy="26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</p:grpSp>
        <p:sp>
          <p:nvSpPr>
            <p:cNvPr id="101637" name="Text Box 22"/>
            <p:cNvSpPr txBox="1">
              <a:spLocks noChangeArrowheads="1"/>
            </p:cNvSpPr>
            <p:nvPr/>
          </p:nvSpPr>
          <p:spPr bwMode="auto">
            <a:xfrm>
              <a:off x="192" y="1008"/>
              <a:ext cx="39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i = 1</a:t>
              </a:r>
            </a:p>
          </p:txBody>
        </p:sp>
        <p:sp>
          <p:nvSpPr>
            <p:cNvPr id="101638" name="Text Box 23"/>
            <p:cNvSpPr txBox="1">
              <a:spLocks noChangeArrowheads="1"/>
            </p:cNvSpPr>
            <p:nvPr/>
          </p:nvSpPr>
          <p:spPr bwMode="auto">
            <a:xfrm>
              <a:off x="2016" y="1008"/>
              <a:ext cx="153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j</a:t>
              </a:r>
            </a:p>
          </p:txBody>
        </p:sp>
        <p:sp>
          <p:nvSpPr>
            <p:cNvPr id="101639" name="Line 24"/>
            <p:cNvSpPr>
              <a:spLocks noChangeShapeType="1"/>
            </p:cNvSpPr>
            <p:nvPr/>
          </p:nvSpPr>
          <p:spPr bwMode="auto">
            <a:xfrm flipH="1">
              <a:off x="624" y="1104"/>
              <a:ext cx="13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25"/>
          <p:cNvGrpSpPr>
            <a:grpSpLocks/>
          </p:cNvGrpSpPr>
          <p:nvPr/>
        </p:nvGrpSpPr>
        <p:grpSpPr bwMode="auto">
          <a:xfrm>
            <a:off x="304800" y="2025650"/>
            <a:ext cx="3230563" cy="719138"/>
            <a:chOff x="192" y="1344"/>
            <a:chExt cx="2035" cy="453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240" y="1344"/>
              <a:ext cx="1987" cy="267"/>
              <a:chOff x="221" y="912"/>
              <a:chExt cx="1987" cy="267"/>
            </a:xfrm>
          </p:grpSpPr>
          <p:sp>
            <p:nvSpPr>
              <p:cNvPr id="101619" name="Rectangle 27"/>
              <p:cNvSpPr>
                <a:spLocks noChangeArrowheads="1"/>
              </p:cNvSpPr>
              <p:nvPr/>
            </p:nvSpPr>
            <p:spPr bwMode="auto">
              <a:xfrm>
                <a:off x="1924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3</a:t>
                </a:r>
              </a:p>
            </p:txBody>
          </p:sp>
          <p:sp>
            <p:nvSpPr>
              <p:cNvPr id="101620" name="Rectangle 28"/>
              <p:cNvSpPr>
                <a:spLocks noChangeArrowheads="1"/>
              </p:cNvSpPr>
              <p:nvPr/>
            </p:nvSpPr>
            <p:spPr bwMode="auto">
              <a:xfrm>
                <a:off x="1641" y="912"/>
                <a:ext cx="283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1</a:t>
                </a:r>
              </a:p>
            </p:txBody>
          </p:sp>
          <p:sp>
            <p:nvSpPr>
              <p:cNvPr id="101621" name="Rectangle 29"/>
              <p:cNvSpPr>
                <a:spLocks noChangeArrowheads="1"/>
              </p:cNvSpPr>
              <p:nvPr/>
            </p:nvSpPr>
            <p:spPr bwMode="auto">
              <a:xfrm>
                <a:off x="1357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2</a:t>
                </a:r>
              </a:p>
            </p:txBody>
          </p:sp>
          <p:sp>
            <p:nvSpPr>
              <p:cNvPr id="101622" name="Rectangle 30"/>
              <p:cNvSpPr>
                <a:spLocks noChangeArrowheads="1"/>
              </p:cNvSpPr>
              <p:nvPr/>
            </p:nvSpPr>
            <p:spPr bwMode="auto">
              <a:xfrm>
                <a:off x="1072" y="912"/>
                <a:ext cx="285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9</a:t>
                </a:r>
              </a:p>
            </p:txBody>
          </p:sp>
          <p:sp>
            <p:nvSpPr>
              <p:cNvPr id="101623" name="Rectangle 31"/>
              <p:cNvSpPr>
                <a:spLocks noChangeArrowheads="1"/>
              </p:cNvSpPr>
              <p:nvPr/>
            </p:nvSpPr>
            <p:spPr bwMode="auto">
              <a:xfrm>
                <a:off x="788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6</a:t>
                </a:r>
              </a:p>
            </p:txBody>
          </p:sp>
          <p:sp>
            <p:nvSpPr>
              <p:cNvPr id="101624" name="Rectangle 32"/>
              <p:cNvSpPr>
                <a:spLocks noChangeArrowheads="1"/>
              </p:cNvSpPr>
              <p:nvPr/>
            </p:nvSpPr>
            <p:spPr bwMode="auto">
              <a:xfrm>
                <a:off x="505" y="912"/>
                <a:ext cx="283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4</a:t>
                </a:r>
              </a:p>
            </p:txBody>
          </p:sp>
          <p:sp>
            <p:nvSpPr>
              <p:cNvPr id="101625" name="Rectangle 33"/>
              <p:cNvSpPr>
                <a:spLocks noChangeArrowheads="1"/>
              </p:cNvSpPr>
              <p:nvPr/>
            </p:nvSpPr>
            <p:spPr bwMode="auto">
              <a:xfrm>
                <a:off x="221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8</a:t>
                </a:r>
              </a:p>
            </p:txBody>
          </p:sp>
          <p:sp>
            <p:nvSpPr>
              <p:cNvPr id="101626" name="Line 34"/>
              <p:cNvSpPr>
                <a:spLocks noChangeShapeType="1"/>
              </p:cNvSpPr>
              <p:nvPr/>
            </p:nvSpPr>
            <p:spPr bwMode="auto">
              <a:xfrm>
                <a:off x="221" y="912"/>
                <a:ext cx="198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627" name="Line 35"/>
              <p:cNvSpPr>
                <a:spLocks noChangeShapeType="1"/>
              </p:cNvSpPr>
              <p:nvPr/>
            </p:nvSpPr>
            <p:spPr bwMode="auto">
              <a:xfrm>
                <a:off x="221" y="1179"/>
                <a:ext cx="198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628" name="Line 36"/>
              <p:cNvSpPr>
                <a:spLocks noChangeShapeType="1"/>
              </p:cNvSpPr>
              <p:nvPr/>
            </p:nvSpPr>
            <p:spPr bwMode="auto">
              <a:xfrm>
                <a:off x="221" y="912"/>
                <a:ext cx="0" cy="26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629" name="Line 37"/>
              <p:cNvSpPr>
                <a:spLocks noChangeShapeType="1"/>
              </p:cNvSpPr>
              <p:nvPr/>
            </p:nvSpPr>
            <p:spPr bwMode="auto">
              <a:xfrm>
                <a:off x="505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630" name="Line 38"/>
              <p:cNvSpPr>
                <a:spLocks noChangeShapeType="1"/>
              </p:cNvSpPr>
              <p:nvPr/>
            </p:nvSpPr>
            <p:spPr bwMode="auto">
              <a:xfrm>
                <a:off x="788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631" name="Line 39"/>
              <p:cNvSpPr>
                <a:spLocks noChangeShapeType="1"/>
              </p:cNvSpPr>
              <p:nvPr/>
            </p:nvSpPr>
            <p:spPr bwMode="auto">
              <a:xfrm>
                <a:off x="1072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632" name="Line 40"/>
              <p:cNvSpPr>
                <a:spLocks noChangeShapeType="1"/>
              </p:cNvSpPr>
              <p:nvPr/>
            </p:nvSpPr>
            <p:spPr bwMode="auto">
              <a:xfrm>
                <a:off x="1357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633" name="Line 41"/>
              <p:cNvSpPr>
                <a:spLocks noChangeShapeType="1"/>
              </p:cNvSpPr>
              <p:nvPr/>
            </p:nvSpPr>
            <p:spPr bwMode="auto">
              <a:xfrm>
                <a:off x="1641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634" name="Line 42"/>
              <p:cNvSpPr>
                <a:spLocks noChangeShapeType="1"/>
              </p:cNvSpPr>
              <p:nvPr/>
            </p:nvSpPr>
            <p:spPr bwMode="auto">
              <a:xfrm>
                <a:off x="1924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635" name="Line 43"/>
              <p:cNvSpPr>
                <a:spLocks noChangeShapeType="1"/>
              </p:cNvSpPr>
              <p:nvPr/>
            </p:nvSpPr>
            <p:spPr bwMode="auto">
              <a:xfrm>
                <a:off x="2208" y="912"/>
                <a:ext cx="0" cy="26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</p:grpSp>
        <p:sp>
          <p:nvSpPr>
            <p:cNvPr id="101616" name="Text Box 44"/>
            <p:cNvSpPr txBox="1">
              <a:spLocks noChangeArrowheads="1"/>
            </p:cNvSpPr>
            <p:nvPr/>
          </p:nvSpPr>
          <p:spPr bwMode="auto">
            <a:xfrm>
              <a:off x="192" y="1584"/>
              <a:ext cx="39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i = 1</a:t>
              </a:r>
            </a:p>
          </p:txBody>
        </p:sp>
        <p:sp>
          <p:nvSpPr>
            <p:cNvPr id="101617" name="Text Box 45"/>
            <p:cNvSpPr txBox="1">
              <a:spLocks noChangeArrowheads="1"/>
            </p:cNvSpPr>
            <p:nvPr/>
          </p:nvSpPr>
          <p:spPr bwMode="auto">
            <a:xfrm>
              <a:off x="1728" y="1584"/>
              <a:ext cx="153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j</a:t>
              </a:r>
            </a:p>
          </p:txBody>
        </p:sp>
        <p:sp>
          <p:nvSpPr>
            <p:cNvPr id="101618" name="Line 46"/>
            <p:cNvSpPr>
              <a:spLocks noChangeShapeType="1"/>
            </p:cNvSpPr>
            <p:nvPr/>
          </p:nvSpPr>
          <p:spPr bwMode="auto">
            <a:xfrm flipH="1">
              <a:off x="624" y="1680"/>
              <a:ext cx="10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47"/>
          <p:cNvGrpSpPr>
            <a:grpSpLocks/>
          </p:cNvGrpSpPr>
          <p:nvPr/>
        </p:nvGrpSpPr>
        <p:grpSpPr bwMode="auto">
          <a:xfrm>
            <a:off x="304800" y="2832100"/>
            <a:ext cx="3230563" cy="750888"/>
            <a:chOff x="192" y="1900"/>
            <a:chExt cx="2035" cy="473"/>
          </a:xfrm>
        </p:grpSpPr>
        <p:grpSp>
          <p:nvGrpSpPr>
            <p:cNvPr id="7" name="Group 48"/>
            <p:cNvGrpSpPr>
              <a:grpSpLocks/>
            </p:cNvGrpSpPr>
            <p:nvPr/>
          </p:nvGrpSpPr>
          <p:grpSpPr bwMode="auto">
            <a:xfrm>
              <a:off x="240" y="1900"/>
              <a:ext cx="1987" cy="267"/>
              <a:chOff x="221" y="912"/>
              <a:chExt cx="1987" cy="267"/>
            </a:xfrm>
          </p:grpSpPr>
          <p:sp>
            <p:nvSpPr>
              <p:cNvPr id="101598" name="Rectangle 49"/>
              <p:cNvSpPr>
                <a:spLocks noChangeArrowheads="1"/>
              </p:cNvSpPr>
              <p:nvPr/>
            </p:nvSpPr>
            <p:spPr bwMode="auto">
              <a:xfrm>
                <a:off x="1924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3</a:t>
                </a:r>
              </a:p>
            </p:txBody>
          </p:sp>
          <p:sp>
            <p:nvSpPr>
              <p:cNvPr id="101599" name="Rectangle 50"/>
              <p:cNvSpPr>
                <a:spLocks noChangeArrowheads="1"/>
              </p:cNvSpPr>
              <p:nvPr/>
            </p:nvSpPr>
            <p:spPr bwMode="auto">
              <a:xfrm>
                <a:off x="1641" y="912"/>
                <a:ext cx="283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2</a:t>
                </a:r>
              </a:p>
            </p:txBody>
          </p:sp>
          <p:sp>
            <p:nvSpPr>
              <p:cNvPr id="101600" name="Rectangle 51"/>
              <p:cNvSpPr>
                <a:spLocks noChangeArrowheads="1"/>
              </p:cNvSpPr>
              <p:nvPr/>
            </p:nvSpPr>
            <p:spPr bwMode="auto">
              <a:xfrm>
                <a:off x="1357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1</a:t>
                </a:r>
              </a:p>
            </p:txBody>
          </p:sp>
          <p:sp>
            <p:nvSpPr>
              <p:cNvPr id="101601" name="Rectangle 52"/>
              <p:cNvSpPr>
                <a:spLocks noChangeArrowheads="1"/>
              </p:cNvSpPr>
              <p:nvPr/>
            </p:nvSpPr>
            <p:spPr bwMode="auto">
              <a:xfrm>
                <a:off x="1072" y="912"/>
                <a:ext cx="285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9</a:t>
                </a:r>
              </a:p>
            </p:txBody>
          </p:sp>
          <p:sp>
            <p:nvSpPr>
              <p:cNvPr id="101602" name="Rectangle 53"/>
              <p:cNvSpPr>
                <a:spLocks noChangeArrowheads="1"/>
              </p:cNvSpPr>
              <p:nvPr/>
            </p:nvSpPr>
            <p:spPr bwMode="auto">
              <a:xfrm>
                <a:off x="788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6</a:t>
                </a:r>
              </a:p>
            </p:txBody>
          </p:sp>
          <p:sp>
            <p:nvSpPr>
              <p:cNvPr id="101603" name="Rectangle 54"/>
              <p:cNvSpPr>
                <a:spLocks noChangeArrowheads="1"/>
              </p:cNvSpPr>
              <p:nvPr/>
            </p:nvSpPr>
            <p:spPr bwMode="auto">
              <a:xfrm>
                <a:off x="505" y="912"/>
                <a:ext cx="283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4</a:t>
                </a:r>
              </a:p>
            </p:txBody>
          </p:sp>
          <p:sp>
            <p:nvSpPr>
              <p:cNvPr id="101604" name="Rectangle 55"/>
              <p:cNvSpPr>
                <a:spLocks noChangeArrowheads="1"/>
              </p:cNvSpPr>
              <p:nvPr/>
            </p:nvSpPr>
            <p:spPr bwMode="auto">
              <a:xfrm>
                <a:off x="221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8</a:t>
                </a:r>
              </a:p>
            </p:txBody>
          </p:sp>
          <p:sp>
            <p:nvSpPr>
              <p:cNvPr id="101605" name="Line 56"/>
              <p:cNvSpPr>
                <a:spLocks noChangeShapeType="1"/>
              </p:cNvSpPr>
              <p:nvPr/>
            </p:nvSpPr>
            <p:spPr bwMode="auto">
              <a:xfrm>
                <a:off x="221" y="912"/>
                <a:ext cx="198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606" name="Line 57"/>
              <p:cNvSpPr>
                <a:spLocks noChangeShapeType="1"/>
              </p:cNvSpPr>
              <p:nvPr/>
            </p:nvSpPr>
            <p:spPr bwMode="auto">
              <a:xfrm>
                <a:off x="221" y="1179"/>
                <a:ext cx="198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607" name="Line 58"/>
              <p:cNvSpPr>
                <a:spLocks noChangeShapeType="1"/>
              </p:cNvSpPr>
              <p:nvPr/>
            </p:nvSpPr>
            <p:spPr bwMode="auto">
              <a:xfrm>
                <a:off x="221" y="912"/>
                <a:ext cx="0" cy="26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608" name="Line 59"/>
              <p:cNvSpPr>
                <a:spLocks noChangeShapeType="1"/>
              </p:cNvSpPr>
              <p:nvPr/>
            </p:nvSpPr>
            <p:spPr bwMode="auto">
              <a:xfrm>
                <a:off x="505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609" name="Line 60"/>
              <p:cNvSpPr>
                <a:spLocks noChangeShapeType="1"/>
              </p:cNvSpPr>
              <p:nvPr/>
            </p:nvSpPr>
            <p:spPr bwMode="auto">
              <a:xfrm>
                <a:off x="788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610" name="Line 61"/>
              <p:cNvSpPr>
                <a:spLocks noChangeShapeType="1"/>
              </p:cNvSpPr>
              <p:nvPr/>
            </p:nvSpPr>
            <p:spPr bwMode="auto">
              <a:xfrm>
                <a:off x="1072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611" name="Line 62"/>
              <p:cNvSpPr>
                <a:spLocks noChangeShapeType="1"/>
              </p:cNvSpPr>
              <p:nvPr/>
            </p:nvSpPr>
            <p:spPr bwMode="auto">
              <a:xfrm>
                <a:off x="1357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612" name="Line 63"/>
              <p:cNvSpPr>
                <a:spLocks noChangeShapeType="1"/>
              </p:cNvSpPr>
              <p:nvPr/>
            </p:nvSpPr>
            <p:spPr bwMode="auto">
              <a:xfrm>
                <a:off x="1641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613" name="Line 64"/>
              <p:cNvSpPr>
                <a:spLocks noChangeShapeType="1"/>
              </p:cNvSpPr>
              <p:nvPr/>
            </p:nvSpPr>
            <p:spPr bwMode="auto">
              <a:xfrm>
                <a:off x="1924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614" name="Line 65"/>
              <p:cNvSpPr>
                <a:spLocks noChangeShapeType="1"/>
              </p:cNvSpPr>
              <p:nvPr/>
            </p:nvSpPr>
            <p:spPr bwMode="auto">
              <a:xfrm>
                <a:off x="2208" y="912"/>
                <a:ext cx="0" cy="26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</p:grpSp>
        <p:sp>
          <p:nvSpPr>
            <p:cNvPr id="101595" name="Text Box 66"/>
            <p:cNvSpPr txBox="1">
              <a:spLocks noChangeArrowheads="1"/>
            </p:cNvSpPr>
            <p:nvPr/>
          </p:nvSpPr>
          <p:spPr bwMode="auto">
            <a:xfrm>
              <a:off x="192" y="2160"/>
              <a:ext cx="39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i = 1</a:t>
              </a:r>
            </a:p>
          </p:txBody>
        </p:sp>
        <p:sp>
          <p:nvSpPr>
            <p:cNvPr id="101596" name="Text Box 67"/>
            <p:cNvSpPr txBox="1">
              <a:spLocks noChangeArrowheads="1"/>
            </p:cNvSpPr>
            <p:nvPr/>
          </p:nvSpPr>
          <p:spPr bwMode="auto">
            <a:xfrm>
              <a:off x="1440" y="2160"/>
              <a:ext cx="153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j</a:t>
              </a:r>
            </a:p>
          </p:txBody>
        </p:sp>
        <p:sp>
          <p:nvSpPr>
            <p:cNvPr id="101597" name="Line 68"/>
            <p:cNvSpPr>
              <a:spLocks noChangeShapeType="1"/>
            </p:cNvSpPr>
            <p:nvPr/>
          </p:nvSpPr>
          <p:spPr bwMode="auto">
            <a:xfrm flipH="1">
              <a:off x="624" y="2256"/>
              <a:ext cx="8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69"/>
          <p:cNvGrpSpPr>
            <a:grpSpLocks/>
          </p:cNvGrpSpPr>
          <p:nvPr/>
        </p:nvGrpSpPr>
        <p:grpSpPr bwMode="auto">
          <a:xfrm>
            <a:off x="304800" y="3657600"/>
            <a:ext cx="3230563" cy="719138"/>
            <a:chOff x="192" y="2304"/>
            <a:chExt cx="2035" cy="453"/>
          </a:xfrm>
        </p:grpSpPr>
        <p:grpSp>
          <p:nvGrpSpPr>
            <p:cNvPr id="9" name="Group 70"/>
            <p:cNvGrpSpPr>
              <a:grpSpLocks/>
            </p:cNvGrpSpPr>
            <p:nvPr/>
          </p:nvGrpSpPr>
          <p:grpSpPr bwMode="auto">
            <a:xfrm>
              <a:off x="240" y="2304"/>
              <a:ext cx="1987" cy="267"/>
              <a:chOff x="221" y="912"/>
              <a:chExt cx="1987" cy="267"/>
            </a:xfrm>
          </p:grpSpPr>
          <p:sp>
            <p:nvSpPr>
              <p:cNvPr id="101577" name="Rectangle 71"/>
              <p:cNvSpPr>
                <a:spLocks noChangeArrowheads="1"/>
              </p:cNvSpPr>
              <p:nvPr/>
            </p:nvSpPr>
            <p:spPr bwMode="auto">
              <a:xfrm>
                <a:off x="1924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3</a:t>
                </a:r>
              </a:p>
            </p:txBody>
          </p:sp>
          <p:sp>
            <p:nvSpPr>
              <p:cNvPr id="101578" name="Rectangle 72"/>
              <p:cNvSpPr>
                <a:spLocks noChangeArrowheads="1"/>
              </p:cNvSpPr>
              <p:nvPr/>
            </p:nvSpPr>
            <p:spPr bwMode="auto">
              <a:xfrm>
                <a:off x="1641" y="912"/>
                <a:ext cx="283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2</a:t>
                </a:r>
              </a:p>
            </p:txBody>
          </p:sp>
          <p:sp>
            <p:nvSpPr>
              <p:cNvPr id="101579" name="Rectangle 73"/>
              <p:cNvSpPr>
                <a:spLocks noChangeArrowheads="1"/>
              </p:cNvSpPr>
              <p:nvPr/>
            </p:nvSpPr>
            <p:spPr bwMode="auto">
              <a:xfrm>
                <a:off x="1357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9</a:t>
                </a:r>
              </a:p>
            </p:txBody>
          </p:sp>
          <p:sp>
            <p:nvSpPr>
              <p:cNvPr id="101580" name="Rectangle 74"/>
              <p:cNvSpPr>
                <a:spLocks noChangeArrowheads="1"/>
              </p:cNvSpPr>
              <p:nvPr/>
            </p:nvSpPr>
            <p:spPr bwMode="auto">
              <a:xfrm>
                <a:off x="1072" y="912"/>
                <a:ext cx="285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1</a:t>
                </a:r>
              </a:p>
            </p:txBody>
          </p:sp>
          <p:sp>
            <p:nvSpPr>
              <p:cNvPr id="101581" name="Rectangle 75"/>
              <p:cNvSpPr>
                <a:spLocks noChangeArrowheads="1"/>
              </p:cNvSpPr>
              <p:nvPr/>
            </p:nvSpPr>
            <p:spPr bwMode="auto">
              <a:xfrm>
                <a:off x="788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6</a:t>
                </a:r>
              </a:p>
            </p:txBody>
          </p:sp>
          <p:sp>
            <p:nvSpPr>
              <p:cNvPr id="101582" name="Rectangle 76"/>
              <p:cNvSpPr>
                <a:spLocks noChangeArrowheads="1"/>
              </p:cNvSpPr>
              <p:nvPr/>
            </p:nvSpPr>
            <p:spPr bwMode="auto">
              <a:xfrm>
                <a:off x="505" y="912"/>
                <a:ext cx="283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4</a:t>
                </a:r>
              </a:p>
            </p:txBody>
          </p:sp>
          <p:sp>
            <p:nvSpPr>
              <p:cNvPr id="101583" name="Rectangle 77"/>
              <p:cNvSpPr>
                <a:spLocks noChangeArrowheads="1"/>
              </p:cNvSpPr>
              <p:nvPr/>
            </p:nvSpPr>
            <p:spPr bwMode="auto">
              <a:xfrm>
                <a:off x="221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8</a:t>
                </a:r>
              </a:p>
            </p:txBody>
          </p:sp>
          <p:sp>
            <p:nvSpPr>
              <p:cNvPr id="101584" name="Line 78"/>
              <p:cNvSpPr>
                <a:spLocks noChangeShapeType="1"/>
              </p:cNvSpPr>
              <p:nvPr/>
            </p:nvSpPr>
            <p:spPr bwMode="auto">
              <a:xfrm>
                <a:off x="221" y="912"/>
                <a:ext cx="198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85" name="Line 79"/>
              <p:cNvSpPr>
                <a:spLocks noChangeShapeType="1"/>
              </p:cNvSpPr>
              <p:nvPr/>
            </p:nvSpPr>
            <p:spPr bwMode="auto">
              <a:xfrm>
                <a:off x="221" y="1179"/>
                <a:ext cx="198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86" name="Line 80"/>
              <p:cNvSpPr>
                <a:spLocks noChangeShapeType="1"/>
              </p:cNvSpPr>
              <p:nvPr/>
            </p:nvSpPr>
            <p:spPr bwMode="auto">
              <a:xfrm>
                <a:off x="221" y="912"/>
                <a:ext cx="0" cy="26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87" name="Line 81"/>
              <p:cNvSpPr>
                <a:spLocks noChangeShapeType="1"/>
              </p:cNvSpPr>
              <p:nvPr/>
            </p:nvSpPr>
            <p:spPr bwMode="auto">
              <a:xfrm>
                <a:off x="505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88" name="Line 82"/>
              <p:cNvSpPr>
                <a:spLocks noChangeShapeType="1"/>
              </p:cNvSpPr>
              <p:nvPr/>
            </p:nvSpPr>
            <p:spPr bwMode="auto">
              <a:xfrm>
                <a:off x="788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89" name="Line 83"/>
              <p:cNvSpPr>
                <a:spLocks noChangeShapeType="1"/>
              </p:cNvSpPr>
              <p:nvPr/>
            </p:nvSpPr>
            <p:spPr bwMode="auto">
              <a:xfrm>
                <a:off x="1072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90" name="Line 84"/>
              <p:cNvSpPr>
                <a:spLocks noChangeShapeType="1"/>
              </p:cNvSpPr>
              <p:nvPr/>
            </p:nvSpPr>
            <p:spPr bwMode="auto">
              <a:xfrm>
                <a:off x="1357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91" name="Line 85"/>
              <p:cNvSpPr>
                <a:spLocks noChangeShapeType="1"/>
              </p:cNvSpPr>
              <p:nvPr/>
            </p:nvSpPr>
            <p:spPr bwMode="auto">
              <a:xfrm>
                <a:off x="1641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92" name="Line 86"/>
              <p:cNvSpPr>
                <a:spLocks noChangeShapeType="1"/>
              </p:cNvSpPr>
              <p:nvPr/>
            </p:nvSpPr>
            <p:spPr bwMode="auto">
              <a:xfrm>
                <a:off x="1924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93" name="Line 87"/>
              <p:cNvSpPr>
                <a:spLocks noChangeShapeType="1"/>
              </p:cNvSpPr>
              <p:nvPr/>
            </p:nvSpPr>
            <p:spPr bwMode="auto">
              <a:xfrm>
                <a:off x="2208" y="912"/>
                <a:ext cx="0" cy="26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</p:grpSp>
        <p:sp>
          <p:nvSpPr>
            <p:cNvPr id="101574" name="Text Box 88"/>
            <p:cNvSpPr txBox="1">
              <a:spLocks noChangeArrowheads="1"/>
            </p:cNvSpPr>
            <p:nvPr/>
          </p:nvSpPr>
          <p:spPr bwMode="auto">
            <a:xfrm>
              <a:off x="192" y="2544"/>
              <a:ext cx="39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i = 1</a:t>
              </a:r>
            </a:p>
          </p:txBody>
        </p:sp>
        <p:sp>
          <p:nvSpPr>
            <p:cNvPr id="101575" name="Text Box 89"/>
            <p:cNvSpPr txBox="1">
              <a:spLocks noChangeArrowheads="1"/>
            </p:cNvSpPr>
            <p:nvPr/>
          </p:nvSpPr>
          <p:spPr bwMode="auto">
            <a:xfrm>
              <a:off x="1152" y="2544"/>
              <a:ext cx="153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j</a:t>
              </a:r>
            </a:p>
          </p:txBody>
        </p:sp>
        <p:sp>
          <p:nvSpPr>
            <p:cNvPr id="101576" name="Line 90"/>
            <p:cNvSpPr>
              <a:spLocks noChangeShapeType="1"/>
            </p:cNvSpPr>
            <p:nvPr/>
          </p:nvSpPr>
          <p:spPr bwMode="auto">
            <a:xfrm flipH="1">
              <a:off x="624" y="2640"/>
              <a:ext cx="5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1"/>
          <p:cNvGrpSpPr>
            <a:grpSpLocks/>
          </p:cNvGrpSpPr>
          <p:nvPr/>
        </p:nvGrpSpPr>
        <p:grpSpPr bwMode="auto">
          <a:xfrm>
            <a:off x="304800" y="4495800"/>
            <a:ext cx="3230563" cy="719138"/>
            <a:chOff x="192" y="2832"/>
            <a:chExt cx="2035" cy="453"/>
          </a:xfrm>
        </p:grpSpPr>
        <p:grpSp>
          <p:nvGrpSpPr>
            <p:cNvPr id="11" name="Group 92"/>
            <p:cNvGrpSpPr>
              <a:grpSpLocks/>
            </p:cNvGrpSpPr>
            <p:nvPr/>
          </p:nvGrpSpPr>
          <p:grpSpPr bwMode="auto">
            <a:xfrm>
              <a:off x="240" y="2832"/>
              <a:ext cx="1987" cy="267"/>
              <a:chOff x="221" y="912"/>
              <a:chExt cx="1987" cy="267"/>
            </a:xfrm>
          </p:grpSpPr>
          <p:sp>
            <p:nvSpPr>
              <p:cNvPr id="101556" name="Rectangle 93"/>
              <p:cNvSpPr>
                <a:spLocks noChangeArrowheads="1"/>
              </p:cNvSpPr>
              <p:nvPr/>
            </p:nvSpPr>
            <p:spPr bwMode="auto">
              <a:xfrm>
                <a:off x="1924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3</a:t>
                </a:r>
              </a:p>
            </p:txBody>
          </p:sp>
          <p:sp>
            <p:nvSpPr>
              <p:cNvPr id="101557" name="Rectangle 94"/>
              <p:cNvSpPr>
                <a:spLocks noChangeArrowheads="1"/>
              </p:cNvSpPr>
              <p:nvPr/>
            </p:nvSpPr>
            <p:spPr bwMode="auto">
              <a:xfrm>
                <a:off x="1641" y="912"/>
                <a:ext cx="283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2</a:t>
                </a:r>
              </a:p>
            </p:txBody>
          </p:sp>
          <p:sp>
            <p:nvSpPr>
              <p:cNvPr id="101558" name="Rectangle 95"/>
              <p:cNvSpPr>
                <a:spLocks noChangeArrowheads="1"/>
              </p:cNvSpPr>
              <p:nvPr/>
            </p:nvSpPr>
            <p:spPr bwMode="auto">
              <a:xfrm>
                <a:off x="1357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9</a:t>
                </a:r>
              </a:p>
            </p:txBody>
          </p:sp>
          <p:sp>
            <p:nvSpPr>
              <p:cNvPr id="101559" name="Rectangle 96"/>
              <p:cNvSpPr>
                <a:spLocks noChangeArrowheads="1"/>
              </p:cNvSpPr>
              <p:nvPr/>
            </p:nvSpPr>
            <p:spPr bwMode="auto">
              <a:xfrm>
                <a:off x="1072" y="912"/>
                <a:ext cx="285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6</a:t>
                </a:r>
              </a:p>
            </p:txBody>
          </p:sp>
          <p:sp>
            <p:nvSpPr>
              <p:cNvPr id="101560" name="Rectangle 97"/>
              <p:cNvSpPr>
                <a:spLocks noChangeArrowheads="1"/>
              </p:cNvSpPr>
              <p:nvPr/>
            </p:nvSpPr>
            <p:spPr bwMode="auto">
              <a:xfrm>
                <a:off x="788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1</a:t>
                </a:r>
              </a:p>
            </p:txBody>
          </p:sp>
          <p:sp>
            <p:nvSpPr>
              <p:cNvPr id="101561" name="Rectangle 98"/>
              <p:cNvSpPr>
                <a:spLocks noChangeArrowheads="1"/>
              </p:cNvSpPr>
              <p:nvPr/>
            </p:nvSpPr>
            <p:spPr bwMode="auto">
              <a:xfrm>
                <a:off x="505" y="912"/>
                <a:ext cx="283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4</a:t>
                </a:r>
              </a:p>
            </p:txBody>
          </p:sp>
          <p:sp>
            <p:nvSpPr>
              <p:cNvPr id="101562" name="Rectangle 99"/>
              <p:cNvSpPr>
                <a:spLocks noChangeArrowheads="1"/>
              </p:cNvSpPr>
              <p:nvPr/>
            </p:nvSpPr>
            <p:spPr bwMode="auto">
              <a:xfrm>
                <a:off x="221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8</a:t>
                </a:r>
              </a:p>
            </p:txBody>
          </p:sp>
          <p:sp>
            <p:nvSpPr>
              <p:cNvPr id="101563" name="Line 100"/>
              <p:cNvSpPr>
                <a:spLocks noChangeShapeType="1"/>
              </p:cNvSpPr>
              <p:nvPr/>
            </p:nvSpPr>
            <p:spPr bwMode="auto">
              <a:xfrm>
                <a:off x="221" y="912"/>
                <a:ext cx="198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64" name="Line 101"/>
              <p:cNvSpPr>
                <a:spLocks noChangeShapeType="1"/>
              </p:cNvSpPr>
              <p:nvPr/>
            </p:nvSpPr>
            <p:spPr bwMode="auto">
              <a:xfrm>
                <a:off x="221" y="1179"/>
                <a:ext cx="198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65" name="Line 102"/>
              <p:cNvSpPr>
                <a:spLocks noChangeShapeType="1"/>
              </p:cNvSpPr>
              <p:nvPr/>
            </p:nvSpPr>
            <p:spPr bwMode="auto">
              <a:xfrm>
                <a:off x="221" y="912"/>
                <a:ext cx="0" cy="26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66" name="Line 103"/>
              <p:cNvSpPr>
                <a:spLocks noChangeShapeType="1"/>
              </p:cNvSpPr>
              <p:nvPr/>
            </p:nvSpPr>
            <p:spPr bwMode="auto">
              <a:xfrm>
                <a:off x="505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67" name="Line 104"/>
              <p:cNvSpPr>
                <a:spLocks noChangeShapeType="1"/>
              </p:cNvSpPr>
              <p:nvPr/>
            </p:nvSpPr>
            <p:spPr bwMode="auto">
              <a:xfrm>
                <a:off x="788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68" name="Line 105"/>
              <p:cNvSpPr>
                <a:spLocks noChangeShapeType="1"/>
              </p:cNvSpPr>
              <p:nvPr/>
            </p:nvSpPr>
            <p:spPr bwMode="auto">
              <a:xfrm>
                <a:off x="1072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69" name="Line 106"/>
              <p:cNvSpPr>
                <a:spLocks noChangeShapeType="1"/>
              </p:cNvSpPr>
              <p:nvPr/>
            </p:nvSpPr>
            <p:spPr bwMode="auto">
              <a:xfrm>
                <a:off x="1357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70" name="Line 107"/>
              <p:cNvSpPr>
                <a:spLocks noChangeShapeType="1"/>
              </p:cNvSpPr>
              <p:nvPr/>
            </p:nvSpPr>
            <p:spPr bwMode="auto">
              <a:xfrm>
                <a:off x="1641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71" name="Line 108"/>
              <p:cNvSpPr>
                <a:spLocks noChangeShapeType="1"/>
              </p:cNvSpPr>
              <p:nvPr/>
            </p:nvSpPr>
            <p:spPr bwMode="auto">
              <a:xfrm>
                <a:off x="1924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72" name="Line 109"/>
              <p:cNvSpPr>
                <a:spLocks noChangeShapeType="1"/>
              </p:cNvSpPr>
              <p:nvPr/>
            </p:nvSpPr>
            <p:spPr bwMode="auto">
              <a:xfrm>
                <a:off x="2208" y="912"/>
                <a:ext cx="0" cy="26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</p:grpSp>
        <p:sp>
          <p:nvSpPr>
            <p:cNvPr id="101553" name="Text Box 110"/>
            <p:cNvSpPr txBox="1">
              <a:spLocks noChangeArrowheads="1"/>
            </p:cNvSpPr>
            <p:nvPr/>
          </p:nvSpPr>
          <p:spPr bwMode="auto">
            <a:xfrm>
              <a:off x="192" y="3072"/>
              <a:ext cx="39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i = 1</a:t>
              </a:r>
            </a:p>
          </p:txBody>
        </p:sp>
        <p:sp>
          <p:nvSpPr>
            <p:cNvPr id="101554" name="Text Box 111"/>
            <p:cNvSpPr txBox="1">
              <a:spLocks noChangeArrowheads="1"/>
            </p:cNvSpPr>
            <p:nvPr/>
          </p:nvSpPr>
          <p:spPr bwMode="auto">
            <a:xfrm>
              <a:off x="912" y="3072"/>
              <a:ext cx="153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j</a:t>
              </a:r>
            </a:p>
          </p:txBody>
        </p:sp>
        <p:sp>
          <p:nvSpPr>
            <p:cNvPr id="101555" name="Line 112"/>
            <p:cNvSpPr>
              <a:spLocks noChangeShapeType="1"/>
            </p:cNvSpPr>
            <p:nvPr/>
          </p:nvSpPr>
          <p:spPr bwMode="auto">
            <a:xfrm flipH="1">
              <a:off x="624" y="3168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13"/>
          <p:cNvGrpSpPr>
            <a:grpSpLocks/>
          </p:cNvGrpSpPr>
          <p:nvPr/>
        </p:nvGrpSpPr>
        <p:grpSpPr bwMode="auto">
          <a:xfrm>
            <a:off x="304800" y="5302250"/>
            <a:ext cx="3230563" cy="750888"/>
            <a:chOff x="192" y="3340"/>
            <a:chExt cx="2035" cy="473"/>
          </a:xfrm>
        </p:grpSpPr>
        <p:grpSp>
          <p:nvGrpSpPr>
            <p:cNvPr id="13" name="Group 114"/>
            <p:cNvGrpSpPr>
              <a:grpSpLocks/>
            </p:cNvGrpSpPr>
            <p:nvPr/>
          </p:nvGrpSpPr>
          <p:grpSpPr bwMode="auto">
            <a:xfrm>
              <a:off x="240" y="3340"/>
              <a:ext cx="1987" cy="267"/>
              <a:chOff x="221" y="912"/>
              <a:chExt cx="1987" cy="267"/>
            </a:xfrm>
          </p:grpSpPr>
          <p:sp>
            <p:nvSpPr>
              <p:cNvPr id="101535" name="Rectangle 115"/>
              <p:cNvSpPr>
                <a:spLocks noChangeArrowheads="1"/>
              </p:cNvSpPr>
              <p:nvPr/>
            </p:nvSpPr>
            <p:spPr bwMode="auto">
              <a:xfrm>
                <a:off x="1924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3</a:t>
                </a:r>
              </a:p>
            </p:txBody>
          </p:sp>
          <p:sp>
            <p:nvSpPr>
              <p:cNvPr id="101536" name="Rectangle 116"/>
              <p:cNvSpPr>
                <a:spLocks noChangeArrowheads="1"/>
              </p:cNvSpPr>
              <p:nvPr/>
            </p:nvSpPr>
            <p:spPr bwMode="auto">
              <a:xfrm>
                <a:off x="1641" y="912"/>
                <a:ext cx="283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2</a:t>
                </a:r>
              </a:p>
            </p:txBody>
          </p:sp>
          <p:sp>
            <p:nvSpPr>
              <p:cNvPr id="101537" name="Rectangle 117"/>
              <p:cNvSpPr>
                <a:spLocks noChangeArrowheads="1"/>
              </p:cNvSpPr>
              <p:nvPr/>
            </p:nvSpPr>
            <p:spPr bwMode="auto">
              <a:xfrm>
                <a:off x="1357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9</a:t>
                </a:r>
              </a:p>
            </p:txBody>
          </p:sp>
          <p:sp>
            <p:nvSpPr>
              <p:cNvPr id="101538" name="Rectangle 118"/>
              <p:cNvSpPr>
                <a:spLocks noChangeArrowheads="1"/>
              </p:cNvSpPr>
              <p:nvPr/>
            </p:nvSpPr>
            <p:spPr bwMode="auto">
              <a:xfrm>
                <a:off x="1072" y="912"/>
                <a:ext cx="285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6</a:t>
                </a:r>
              </a:p>
            </p:txBody>
          </p:sp>
          <p:sp>
            <p:nvSpPr>
              <p:cNvPr id="101539" name="Rectangle 119"/>
              <p:cNvSpPr>
                <a:spLocks noChangeArrowheads="1"/>
              </p:cNvSpPr>
              <p:nvPr/>
            </p:nvSpPr>
            <p:spPr bwMode="auto">
              <a:xfrm>
                <a:off x="788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4</a:t>
                </a:r>
              </a:p>
            </p:txBody>
          </p:sp>
          <p:sp>
            <p:nvSpPr>
              <p:cNvPr id="101540" name="Rectangle 120"/>
              <p:cNvSpPr>
                <a:spLocks noChangeArrowheads="1"/>
              </p:cNvSpPr>
              <p:nvPr/>
            </p:nvSpPr>
            <p:spPr bwMode="auto">
              <a:xfrm>
                <a:off x="505" y="912"/>
                <a:ext cx="283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1</a:t>
                </a:r>
              </a:p>
            </p:txBody>
          </p:sp>
          <p:sp>
            <p:nvSpPr>
              <p:cNvPr id="101541" name="Rectangle 121"/>
              <p:cNvSpPr>
                <a:spLocks noChangeArrowheads="1"/>
              </p:cNvSpPr>
              <p:nvPr/>
            </p:nvSpPr>
            <p:spPr bwMode="auto">
              <a:xfrm>
                <a:off x="221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8</a:t>
                </a:r>
              </a:p>
            </p:txBody>
          </p:sp>
          <p:sp>
            <p:nvSpPr>
              <p:cNvPr id="101542" name="Line 122"/>
              <p:cNvSpPr>
                <a:spLocks noChangeShapeType="1"/>
              </p:cNvSpPr>
              <p:nvPr/>
            </p:nvSpPr>
            <p:spPr bwMode="auto">
              <a:xfrm>
                <a:off x="221" y="912"/>
                <a:ext cx="198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43" name="Line 123"/>
              <p:cNvSpPr>
                <a:spLocks noChangeShapeType="1"/>
              </p:cNvSpPr>
              <p:nvPr/>
            </p:nvSpPr>
            <p:spPr bwMode="auto">
              <a:xfrm>
                <a:off x="221" y="1179"/>
                <a:ext cx="198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44" name="Line 124"/>
              <p:cNvSpPr>
                <a:spLocks noChangeShapeType="1"/>
              </p:cNvSpPr>
              <p:nvPr/>
            </p:nvSpPr>
            <p:spPr bwMode="auto">
              <a:xfrm>
                <a:off x="221" y="912"/>
                <a:ext cx="0" cy="26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45" name="Line 125"/>
              <p:cNvSpPr>
                <a:spLocks noChangeShapeType="1"/>
              </p:cNvSpPr>
              <p:nvPr/>
            </p:nvSpPr>
            <p:spPr bwMode="auto">
              <a:xfrm>
                <a:off x="505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46" name="Line 126"/>
              <p:cNvSpPr>
                <a:spLocks noChangeShapeType="1"/>
              </p:cNvSpPr>
              <p:nvPr/>
            </p:nvSpPr>
            <p:spPr bwMode="auto">
              <a:xfrm>
                <a:off x="788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47" name="Line 127"/>
              <p:cNvSpPr>
                <a:spLocks noChangeShapeType="1"/>
              </p:cNvSpPr>
              <p:nvPr/>
            </p:nvSpPr>
            <p:spPr bwMode="auto">
              <a:xfrm>
                <a:off x="1072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48" name="Line 128"/>
              <p:cNvSpPr>
                <a:spLocks noChangeShapeType="1"/>
              </p:cNvSpPr>
              <p:nvPr/>
            </p:nvSpPr>
            <p:spPr bwMode="auto">
              <a:xfrm>
                <a:off x="1357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49" name="Line 129"/>
              <p:cNvSpPr>
                <a:spLocks noChangeShapeType="1"/>
              </p:cNvSpPr>
              <p:nvPr/>
            </p:nvSpPr>
            <p:spPr bwMode="auto">
              <a:xfrm>
                <a:off x="1641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50" name="Line 130"/>
              <p:cNvSpPr>
                <a:spLocks noChangeShapeType="1"/>
              </p:cNvSpPr>
              <p:nvPr/>
            </p:nvSpPr>
            <p:spPr bwMode="auto">
              <a:xfrm>
                <a:off x="1924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51" name="Line 131"/>
              <p:cNvSpPr>
                <a:spLocks noChangeShapeType="1"/>
              </p:cNvSpPr>
              <p:nvPr/>
            </p:nvSpPr>
            <p:spPr bwMode="auto">
              <a:xfrm>
                <a:off x="2208" y="912"/>
                <a:ext cx="0" cy="26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</p:grpSp>
        <p:sp>
          <p:nvSpPr>
            <p:cNvPr id="101533" name="Text Box 132"/>
            <p:cNvSpPr txBox="1">
              <a:spLocks noChangeArrowheads="1"/>
            </p:cNvSpPr>
            <p:nvPr/>
          </p:nvSpPr>
          <p:spPr bwMode="auto">
            <a:xfrm>
              <a:off x="192" y="3600"/>
              <a:ext cx="39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i = 1</a:t>
              </a:r>
            </a:p>
          </p:txBody>
        </p:sp>
        <p:sp>
          <p:nvSpPr>
            <p:cNvPr id="101534" name="Text Box 133"/>
            <p:cNvSpPr txBox="1">
              <a:spLocks noChangeArrowheads="1"/>
            </p:cNvSpPr>
            <p:nvPr/>
          </p:nvSpPr>
          <p:spPr bwMode="auto">
            <a:xfrm>
              <a:off x="576" y="3600"/>
              <a:ext cx="153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j</a:t>
              </a:r>
            </a:p>
          </p:txBody>
        </p:sp>
      </p:grpSp>
      <p:grpSp>
        <p:nvGrpSpPr>
          <p:cNvPr id="14" name="Group 134"/>
          <p:cNvGrpSpPr>
            <a:grpSpLocks/>
          </p:cNvGrpSpPr>
          <p:nvPr/>
        </p:nvGrpSpPr>
        <p:grpSpPr bwMode="auto">
          <a:xfrm>
            <a:off x="304800" y="6108700"/>
            <a:ext cx="3230563" cy="750888"/>
            <a:chOff x="192" y="3340"/>
            <a:chExt cx="2035" cy="473"/>
          </a:xfrm>
        </p:grpSpPr>
        <p:grpSp>
          <p:nvGrpSpPr>
            <p:cNvPr id="15" name="Group 135"/>
            <p:cNvGrpSpPr>
              <a:grpSpLocks/>
            </p:cNvGrpSpPr>
            <p:nvPr/>
          </p:nvGrpSpPr>
          <p:grpSpPr bwMode="auto">
            <a:xfrm>
              <a:off x="240" y="3340"/>
              <a:ext cx="1987" cy="267"/>
              <a:chOff x="221" y="912"/>
              <a:chExt cx="1987" cy="267"/>
            </a:xfrm>
          </p:grpSpPr>
          <p:sp>
            <p:nvSpPr>
              <p:cNvPr id="101515" name="Rectangle 136"/>
              <p:cNvSpPr>
                <a:spLocks noChangeArrowheads="1"/>
              </p:cNvSpPr>
              <p:nvPr/>
            </p:nvSpPr>
            <p:spPr bwMode="auto">
              <a:xfrm>
                <a:off x="1924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3</a:t>
                </a:r>
              </a:p>
            </p:txBody>
          </p:sp>
          <p:sp>
            <p:nvSpPr>
              <p:cNvPr id="101516" name="Rectangle 137"/>
              <p:cNvSpPr>
                <a:spLocks noChangeArrowheads="1"/>
              </p:cNvSpPr>
              <p:nvPr/>
            </p:nvSpPr>
            <p:spPr bwMode="auto">
              <a:xfrm>
                <a:off x="1641" y="912"/>
                <a:ext cx="283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2</a:t>
                </a:r>
              </a:p>
            </p:txBody>
          </p:sp>
          <p:sp>
            <p:nvSpPr>
              <p:cNvPr id="101517" name="Rectangle 138"/>
              <p:cNvSpPr>
                <a:spLocks noChangeArrowheads="1"/>
              </p:cNvSpPr>
              <p:nvPr/>
            </p:nvSpPr>
            <p:spPr bwMode="auto">
              <a:xfrm>
                <a:off x="1357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9</a:t>
                </a:r>
              </a:p>
            </p:txBody>
          </p:sp>
          <p:sp>
            <p:nvSpPr>
              <p:cNvPr id="101518" name="Rectangle 139"/>
              <p:cNvSpPr>
                <a:spLocks noChangeArrowheads="1"/>
              </p:cNvSpPr>
              <p:nvPr/>
            </p:nvSpPr>
            <p:spPr bwMode="auto">
              <a:xfrm>
                <a:off x="1072" y="912"/>
                <a:ext cx="285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6</a:t>
                </a:r>
              </a:p>
            </p:txBody>
          </p:sp>
          <p:sp>
            <p:nvSpPr>
              <p:cNvPr id="101519" name="Rectangle 140"/>
              <p:cNvSpPr>
                <a:spLocks noChangeArrowheads="1"/>
              </p:cNvSpPr>
              <p:nvPr/>
            </p:nvSpPr>
            <p:spPr bwMode="auto">
              <a:xfrm>
                <a:off x="788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4</a:t>
                </a:r>
              </a:p>
            </p:txBody>
          </p:sp>
          <p:sp>
            <p:nvSpPr>
              <p:cNvPr id="101520" name="Rectangle 141"/>
              <p:cNvSpPr>
                <a:spLocks noChangeArrowheads="1"/>
              </p:cNvSpPr>
              <p:nvPr/>
            </p:nvSpPr>
            <p:spPr bwMode="auto">
              <a:xfrm>
                <a:off x="505" y="912"/>
                <a:ext cx="283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8</a:t>
                </a:r>
              </a:p>
            </p:txBody>
          </p:sp>
          <p:sp>
            <p:nvSpPr>
              <p:cNvPr id="101521" name="Rectangle 142"/>
              <p:cNvSpPr>
                <a:spLocks noChangeArrowheads="1"/>
              </p:cNvSpPr>
              <p:nvPr/>
            </p:nvSpPr>
            <p:spPr bwMode="auto">
              <a:xfrm>
                <a:off x="221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1</a:t>
                </a:r>
              </a:p>
            </p:txBody>
          </p:sp>
          <p:sp>
            <p:nvSpPr>
              <p:cNvPr id="101522" name="Line 143"/>
              <p:cNvSpPr>
                <a:spLocks noChangeShapeType="1"/>
              </p:cNvSpPr>
              <p:nvPr/>
            </p:nvSpPr>
            <p:spPr bwMode="auto">
              <a:xfrm>
                <a:off x="221" y="912"/>
                <a:ext cx="198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23" name="Line 144"/>
              <p:cNvSpPr>
                <a:spLocks noChangeShapeType="1"/>
              </p:cNvSpPr>
              <p:nvPr/>
            </p:nvSpPr>
            <p:spPr bwMode="auto">
              <a:xfrm>
                <a:off x="221" y="1179"/>
                <a:ext cx="198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24" name="Line 145"/>
              <p:cNvSpPr>
                <a:spLocks noChangeShapeType="1"/>
              </p:cNvSpPr>
              <p:nvPr/>
            </p:nvSpPr>
            <p:spPr bwMode="auto">
              <a:xfrm>
                <a:off x="221" y="912"/>
                <a:ext cx="0" cy="26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25" name="Line 146"/>
              <p:cNvSpPr>
                <a:spLocks noChangeShapeType="1"/>
              </p:cNvSpPr>
              <p:nvPr/>
            </p:nvSpPr>
            <p:spPr bwMode="auto">
              <a:xfrm>
                <a:off x="505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26" name="Line 147"/>
              <p:cNvSpPr>
                <a:spLocks noChangeShapeType="1"/>
              </p:cNvSpPr>
              <p:nvPr/>
            </p:nvSpPr>
            <p:spPr bwMode="auto">
              <a:xfrm>
                <a:off x="788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27" name="Line 148"/>
              <p:cNvSpPr>
                <a:spLocks noChangeShapeType="1"/>
              </p:cNvSpPr>
              <p:nvPr/>
            </p:nvSpPr>
            <p:spPr bwMode="auto">
              <a:xfrm>
                <a:off x="1072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28" name="Line 149"/>
              <p:cNvSpPr>
                <a:spLocks noChangeShapeType="1"/>
              </p:cNvSpPr>
              <p:nvPr/>
            </p:nvSpPr>
            <p:spPr bwMode="auto">
              <a:xfrm>
                <a:off x="1357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29" name="Line 150"/>
              <p:cNvSpPr>
                <a:spLocks noChangeShapeType="1"/>
              </p:cNvSpPr>
              <p:nvPr/>
            </p:nvSpPr>
            <p:spPr bwMode="auto">
              <a:xfrm>
                <a:off x="1641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30" name="Line 151"/>
              <p:cNvSpPr>
                <a:spLocks noChangeShapeType="1"/>
              </p:cNvSpPr>
              <p:nvPr/>
            </p:nvSpPr>
            <p:spPr bwMode="auto">
              <a:xfrm>
                <a:off x="1924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31" name="Line 152"/>
              <p:cNvSpPr>
                <a:spLocks noChangeShapeType="1"/>
              </p:cNvSpPr>
              <p:nvPr/>
            </p:nvSpPr>
            <p:spPr bwMode="auto">
              <a:xfrm>
                <a:off x="2208" y="912"/>
                <a:ext cx="0" cy="26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</p:grpSp>
        <p:sp>
          <p:nvSpPr>
            <p:cNvPr id="101513" name="Text Box 153"/>
            <p:cNvSpPr txBox="1">
              <a:spLocks noChangeArrowheads="1"/>
            </p:cNvSpPr>
            <p:nvPr/>
          </p:nvSpPr>
          <p:spPr bwMode="auto">
            <a:xfrm>
              <a:off x="192" y="3600"/>
              <a:ext cx="39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i = 1</a:t>
              </a:r>
            </a:p>
          </p:txBody>
        </p:sp>
        <p:sp>
          <p:nvSpPr>
            <p:cNvPr id="101514" name="Text Box 154"/>
            <p:cNvSpPr txBox="1">
              <a:spLocks noChangeArrowheads="1"/>
            </p:cNvSpPr>
            <p:nvPr/>
          </p:nvSpPr>
          <p:spPr bwMode="auto">
            <a:xfrm>
              <a:off x="576" y="3600"/>
              <a:ext cx="153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j</a:t>
              </a:r>
            </a:p>
          </p:txBody>
        </p:sp>
      </p:grpSp>
      <p:grpSp>
        <p:nvGrpSpPr>
          <p:cNvPr id="16" name="Group 155"/>
          <p:cNvGrpSpPr>
            <a:grpSpLocks/>
          </p:cNvGrpSpPr>
          <p:nvPr/>
        </p:nvGrpSpPr>
        <p:grpSpPr bwMode="auto">
          <a:xfrm>
            <a:off x="4922838" y="1219200"/>
            <a:ext cx="3154362" cy="750888"/>
            <a:chOff x="3101" y="768"/>
            <a:chExt cx="1987" cy="473"/>
          </a:xfrm>
        </p:grpSpPr>
        <p:grpSp>
          <p:nvGrpSpPr>
            <p:cNvPr id="17" name="Group 156"/>
            <p:cNvGrpSpPr>
              <a:grpSpLocks/>
            </p:cNvGrpSpPr>
            <p:nvPr/>
          </p:nvGrpSpPr>
          <p:grpSpPr bwMode="auto">
            <a:xfrm>
              <a:off x="3101" y="768"/>
              <a:ext cx="1987" cy="267"/>
              <a:chOff x="221" y="912"/>
              <a:chExt cx="1987" cy="267"/>
            </a:xfrm>
          </p:grpSpPr>
          <p:sp>
            <p:nvSpPr>
              <p:cNvPr id="101495" name="Rectangle 157"/>
              <p:cNvSpPr>
                <a:spLocks noChangeArrowheads="1"/>
              </p:cNvSpPr>
              <p:nvPr/>
            </p:nvSpPr>
            <p:spPr bwMode="auto">
              <a:xfrm>
                <a:off x="1924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3</a:t>
                </a:r>
              </a:p>
            </p:txBody>
          </p:sp>
          <p:sp>
            <p:nvSpPr>
              <p:cNvPr id="101496" name="Rectangle 158"/>
              <p:cNvSpPr>
                <a:spLocks noChangeArrowheads="1"/>
              </p:cNvSpPr>
              <p:nvPr/>
            </p:nvSpPr>
            <p:spPr bwMode="auto">
              <a:xfrm>
                <a:off x="1641" y="912"/>
                <a:ext cx="283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2</a:t>
                </a:r>
              </a:p>
            </p:txBody>
          </p:sp>
          <p:sp>
            <p:nvSpPr>
              <p:cNvPr id="101497" name="Rectangle 159"/>
              <p:cNvSpPr>
                <a:spLocks noChangeArrowheads="1"/>
              </p:cNvSpPr>
              <p:nvPr/>
            </p:nvSpPr>
            <p:spPr bwMode="auto">
              <a:xfrm>
                <a:off x="1357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9</a:t>
                </a:r>
              </a:p>
            </p:txBody>
          </p:sp>
          <p:sp>
            <p:nvSpPr>
              <p:cNvPr id="101498" name="Rectangle 160"/>
              <p:cNvSpPr>
                <a:spLocks noChangeArrowheads="1"/>
              </p:cNvSpPr>
              <p:nvPr/>
            </p:nvSpPr>
            <p:spPr bwMode="auto">
              <a:xfrm>
                <a:off x="1072" y="912"/>
                <a:ext cx="285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6</a:t>
                </a:r>
              </a:p>
            </p:txBody>
          </p:sp>
          <p:sp>
            <p:nvSpPr>
              <p:cNvPr id="101499" name="Rectangle 161"/>
              <p:cNvSpPr>
                <a:spLocks noChangeArrowheads="1"/>
              </p:cNvSpPr>
              <p:nvPr/>
            </p:nvSpPr>
            <p:spPr bwMode="auto">
              <a:xfrm>
                <a:off x="788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4</a:t>
                </a:r>
              </a:p>
            </p:txBody>
          </p:sp>
          <p:sp>
            <p:nvSpPr>
              <p:cNvPr id="101500" name="Rectangle 162"/>
              <p:cNvSpPr>
                <a:spLocks noChangeArrowheads="1"/>
              </p:cNvSpPr>
              <p:nvPr/>
            </p:nvSpPr>
            <p:spPr bwMode="auto">
              <a:xfrm>
                <a:off x="505" y="912"/>
                <a:ext cx="283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8</a:t>
                </a:r>
              </a:p>
            </p:txBody>
          </p:sp>
          <p:sp>
            <p:nvSpPr>
              <p:cNvPr id="101501" name="Rectangle 163"/>
              <p:cNvSpPr>
                <a:spLocks noChangeArrowheads="1"/>
              </p:cNvSpPr>
              <p:nvPr/>
            </p:nvSpPr>
            <p:spPr bwMode="auto">
              <a:xfrm>
                <a:off x="221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1</a:t>
                </a:r>
              </a:p>
            </p:txBody>
          </p:sp>
          <p:sp>
            <p:nvSpPr>
              <p:cNvPr id="101502" name="Line 164"/>
              <p:cNvSpPr>
                <a:spLocks noChangeShapeType="1"/>
              </p:cNvSpPr>
              <p:nvPr/>
            </p:nvSpPr>
            <p:spPr bwMode="auto">
              <a:xfrm>
                <a:off x="221" y="912"/>
                <a:ext cx="198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03" name="Line 165"/>
              <p:cNvSpPr>
                <a:spLocks noChangeShapeType="1"/>
              </p:cNvSpPr>
              <p:nvPr/>
            </p:nvSpPr>
            <p:spPr bwMode="auto">
              <a:xfrm>
                <a:off x="221" y="1179"/>
                <a:ext cx="198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04" name="Line 166"/>
              <p:cNvSpPr>
                <a:spLocks noChangeShapeType="1"/>
              </p:cNvSpPr>
              <p:nvPr/>
            </p:nvSpPr>
            <p:spPr bwMode="auto">
              <a:xfrm>
                <a:off x="221" y="912"/>
                <a:ext cx="0" cy="26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05" name="Line 167"/>
              <p:cNvSpPr>
                <a:spLocks noChangeShapeType="1"/>
              </p:cNvSpPr>
              <p:nvPr/>
            </p:nvSpPr>
            <p:spPr bwMode="auto">
              <a:xfrm>
                <a:off x="505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06" name="Line 168"/>
              <p:cNvSpPr>
                <a:spLocks noChangeShapeType="1"/>
              </p:cNvSpPr>
              <p:nvPr/>
            </p:nvSpPr>
            <p:spPr bwMode="auto">
              <a:xfrm>
                <a:off x="788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07" name="Line 169"/>
              <p:cNvSpPr>
                <a:spLocks noChangeShapeType="1"/>
              </p:cNvSpPr>
              <p:nvPr/>
            </p:nvSpPr>
            <p:spPr bwMode="auto">
              <a:xfrm>
                <a:off x="1072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08" name="Line 170"/>
              <p:cNvSpPr>
                <a:spLocks noChangeShapeType="1"/>
              </p:cNvSpPr>
              <p:nvPr/>
            </p:nvSpPr>
            <p:spPr bwMode="auto">
              <a:xfrm>
                <a:off x="1357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09" name="Line 171"/>
              <p:cNvSpPr>
                <a:spLocks noChangeShapeType="1"/>
              </p:cNvSpPr>
              <p:nvPr/>
            </p:nvSpPr>
            <p:spPr bwMode="auto">
              <a:xfrm>
                <a:off x="1641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10" name="Line 172"/>
              <p:cNvSpPr>
                <a:spLocks noChangeShapeType="1"/>
              </p:cNvSpPr>
              <p:nvPr/>
            </p:nvSpPr>
            <p:spPr bwMode="auto">
              <a:xfrm>
                <a:off x="1924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511" name="Line 173"/>
              <p:cNvSpPr>
                <a:spLocks noChangeShapeType="1"/>
              </p:cNvSpPr>
              <p:nvPr/>
            </p:nvSpPr>
            <p:spPr bwMode="auto">
              <a:xfrm>
                <a:off x="2208" y="912"/>
                <a:ext cx="0" cy="26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</p:grpSp>
        <p:sp>
          <p:nvSpPr>
            <p:cNvPr id="101493" name="Text Box 174"/>
            <p:cNvSpPr txBox="1">
              <a:spLocks noChangeArrowheads="1"/>
            </p:cNvSpPr>
            <p:nvPr/>
          </p:nvSpPr>
          <p:spPr bwMode="auto">
            <a:xfrm>
              <a:off x="3334" y="1028"/>
              <a:ext cx="39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i = 2</a:t>
              </a:r>
            </a:p>
          </p:txBody>
        </p:sp>
        <p:sp>
          <p:nvSpPr>
            <p:cNvPr id="101494" name="Text Box 175"/>
            <p:cNvSpPr txBox="1">
              <a:spLocks noChangeArrowheads="1"/>
            </p:cNvSpPr>
            <p:nvPr/>
          </p:nvSpPr>
          <p:spPr bwMode="auto">
            <a:xfrm>
              <a:off x="4896" y="1028"/>
              <a:ext cx="153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j</a:t>
              </a:r>
            </a:p>
          </p:txBody>
        </p:sp>
      </p:grpSp>
      <p:grpSp>
        <p:nvGrpSpPr>
          <p:cNvPr id="18" name="Group 176"/>
          <p:cNvGrpSpPr>
            <a:grpSpLocks/>
          </p:cNvGrpSpPr>
          <p:nvPr/>
        </p:nvGrpSpPr>
        <p:grpSpPr bwMode="auto">
          <a:xfrm>
            <a:off x="4922838" y="2025650"/>
            <a:ext cx="3154362" cy="750888"/>
            <a:chOff x="3101" y="1400"/>
            <a:chExt cx="1987" cy="473"/>
          </a:xfrm>
        </p:grpSpPr>
        <p:grpSp>
          <p:nvGrpSpPr>
            <p:cNvPr id="19" name="Group 177"/>
            <p:cNvGrpSpPr>
              <a:grpSpLocks/>
            </p:cNvGrpSpPr>
            <p:nvPr/>
          </p:nvGrpSpPr>
          <p:grpSpPr bwMode="auto">
            <a:xfrm>
              <a:off x="3101" y="1400"/>
              <a:ext cx="1987" cy="267"/>
              <a:chOff x="221" y="912"/>
              <a:chExt cx="1987" cy="267"/>
            </a:xfrm>
          </p:grpSpPr>
          <p:sp>
            <p:nvSpPr>
              <p:cNvPr id="101475" name="Rectangle 178"/>
              <p:cNvSpPr>
                <a:spLocks noChangeArrowheads="1"/>
              </p:cNvSpPr>
              <p:nvPr/>
            </p:nvSpPr>
            <p:spPr bwMode="auto">
              <a:xfrm>
                <a:off x="1924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3</a:t>
                </a:r>
              </a:p>
            </p:txBody>
          </p:sp>
          <p:sp>
            <p:nvSpPr>
              <p:cNvPr id="101476" name="Rectangle 179"/>
              <p:cNvSpPr>
                <a:spLocks noChangeArrowheads="1"/>
              </p:cNvSpPr>
              <p:nvPr/>
            </p:nvSpPr>
            <p:spPr bwMode="auto">
              <a:xfrm>
                <a:off x="1641" y="912"/>
                <a:ext cx="283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9</a:t>
                </a:r>
              </a:p>
            </p:txBody>
          </p:sp>
          <p:sp>
            <p:nvSpPr>
              <p:cNvPr id="101477" name="Rectangle 180"/>
              <p:cNvSpPr>
                <a:spLocks noChangeArrowheads="1"/>
              </p:cNvSpPr>
              <p:nvPr/>
            </p:nvSpPr>
            <p:spPr bwMode="auto">
              <a:xfrm>
                <a:off x="1357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6</a:t>
                </a:r>
              </a:p>
            </p:txBody>
          </p:sp>
          <p:sp>
            <p:nvSpPr>
              <p:cNvPr id="101478" name="Rectangle 181"/>
              <p:cNvSpPr>
                <a:spLocks noChangeArrowheads="1"/>
              </p:cNvSpPr>
              <p:nvPr/>
            </p:nvSpPr>
            <p:spPr bwMode="auto">
              <a:xfrm>
                <a:off x="1072" y="912"/>
                <a:ext cx="285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4</a:t>
                </a:r>
              </a:p>
            </p:txBody>
          </p:sp>
          <p:sp>
            <p:nvSpPr>
              <p:cNvPr id="101479" name="Rectangle 182"/>
              <p:cNvSpPr>
                <a:spLocks noChangeArrowheads="1"/>
              </p:cNvSpPr>
              <p:nvPr/>
            </p:nvSpPr>
            <p:spPr bwMode="auto">
              <a:xfrm>
                <a:off x="788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8</a:t>
                </a:r>
              </a:p>
            </p:txBody>
          </p:sp>
          <p:sp>
            <p:nvSpPr>
              <p:cNvPr id="101480" name="Rectangle 183"/>
              <p:cNvSpPr>
                <a:spLocks noChangeArrowheads="1"/>
              </p:cNvSpPr>
              <p:nvPr/>
            </p:nvSpPr>
            <p:spPr bwMode="auto">
              <a:xfrm>
                <a:off x="505" y="912"/>
                <a:ext cx="283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2</a:t>
                </a:r>
              </a:p>
            </p:txBody>
          </p:sp>
          <p:sp>
            <p:nvSpPr>
              <p:cNvPr id="101481" name="Rectangle 184"/>
              <p:cNvSpPr>
                <a:spLocks noChangeArrowheads="1"/>
              </p:cNvSpPr>
              <p:nvPr/>
            </p:nvSpPr>
            <p:spPr bwMode="auto">
              <a:xfrm>
                <a:off x="221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1</a:t>
                </a:r>
              </a:p>
            </p:txBody>
          </p:sp>
          <p:sp>
            <p:nvSpPr>
              <p:cNvPr id="101482" name="Line 185"/>
              <p:cNvSpPr>
                <a:spLocks noChangeShapeType="1"/>
              </p:cNvSpPr>
              <p:nvPr/>
            </p:nvSpPr>
            <p:spPr bwMode="auto">
              <a:xfrm>
                <a:off x="221" y="912"/>
                <a:ext cx="198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83" name="Line 186"/>
              <p:cNvSpPr>
                <a:spLocks noChangeShapeType="1"/>
              </p:cNvSpPr>
              <p:nvPr/>
            </p:nvSpPr>
            <p:spPr bwMode="auto">
              <a:xfrm>
                <a:off x="221" y="1179"/>
                <a:ext cx="198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84" name="Line 187"/>
              <p:cNvSpPr>
                <a:spLocks noChangeShapeType="1"/>
              </p:cNvSpPr>
              <p:nvPr/>
            </p:nvSpPr>
            <p:spPr bwMode="auto">
              <a:xfrm>
                <a:off x="221" y="912"/>
                <a:ext cx="0" cy="26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85" name="Line 188"/>
              <p:cNvSpPr>
                <a:spLocks noChangeShapeType="1"/>
              </p:cNvSpPr>
              <p:nvPr/>
            </p:nvSpPr>
            <p:spPr bwMode="auto">
              <a:xfrm>
                <a:off x="505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86" name="Line 189"/>
              <p:cNvSpPr>
                <a:spLocks noChangeShapeType="1"/>
              </p:cNvSpPr>
              <p:nvPr/>
            </p:nvSpPr>
            <p:spPr bwMode="auto">
              <a:xfrm>
                <a:off x="788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87" name="Line 190"/>
              <p:cNvSpPr>
                <a:spLocks noChangeShapeType="1"/>
              </p:cNvSpPr>
              <p:nvPr/>
            </p:nvSpPr>
            <p:spPr bwMode="auto">
              <a:xfrm>
                <a:off x="1072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88" name="Line 191"/>
              <p:cNvSpPr>
                <a:spLocks noChangeShapeType="1"/>
              </p:cNvSpPr>
              <p:nvPr/>
            </p:nvSpPr>
            <p:spPr bwMode="auto">
              <a:xfrm>
                <a:off x="1357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89" name="Line 192"/>
              <p:cNvSpPr>
                <a:spLocks noChangeShapeType="1"/>
              </p:cNvSpPr>
              <p:nvPr/>
            </p:nvSpPr>
            <p:spPr bwMode="auto">
              <a:xfrm>
                <a:off x="1641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90" name="Line 193"/>
              <p:cNvSpPr>
                <a:spLocks noChangeShapeType="1"/>
              </p:cNvSpPr>
              <p:nvPr/>
            </p:nvSpPr>
            <p:spPr bwMode="auto">
              <a:xfrm>
                <a:off x="1924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91" name="Line 194"/>
              <p:cNvSpPr>
                <a:spLocks noChangeShapeType="1"/>
              </p:cNvSpPr>
              <p:nvPr/>
            </p:nvSpPr>
            <p:spPr bwMode="auto">
              <a:xfrm>
                <a:off x="2208" y="912"/>
                <a:ext cx="0" cy="26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</p:grpSp>
        <p:sp>
          <p:nvSpPr>
            <p:cNvPr id="101473" name="Text Box 195"/>
            <p:cNvSpPr txBox="1">
              <a:spLocks noChangeArrowheads="1"/>
            </p:cNvSpPr>
            <p:nvPr/>
          </p:nvSpPr>
          <p:spPr bwMode="auto">
            <a:xfrm>
              <a:off x="3622" y="1660"/>
              <a:ext cx="39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i = 3</a:t>
              </a:r>
            </a:p>
          </p:txBody>
        </p:sp>
        <p:sp>
          <p:nvSpPr>
            <p:cNvPr id="101474" name="Text Box 196"/>
            <p:cNvSpPr txBox="1">
              <a:spLocks noChangeArrowheads="1"/>
            </p:cNvSpPr>
            <p:nvPr/>
          </p:nvSpPr>
          <p:spPr bwMode="auto">
            <a:xfrm>
              <a:off x="4896" y="1660"/>
              <a:ext cx="153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j</a:t>
              </a:r>
            </a:p>
          </p:txBody>
        </p:sp>
      </p:grpSp>
      <p:grpSp>
        <p:nvGrpSpPr>
          <p:cNvPr id="20" name="Group 197"/>
          <p:cNvGrpSpPr>
            <a:grpSpLocks/>
          </p:cNvGrpSpPr>
          <p:nvPr/>
        </p:nvGrpSpPr>
        <p:grpSpPr bwMode="auto">
          <a:xfrm>
            <a:off x="4922838" y="2832100"/>
            <a:ext cx="3154362" cy="750888"/>
            <a:chOff x="3101" y="2024"/>
            <a:chExt cx="1987" cy="473"/>
          </a:xfrm>
        </p:grpSpPr>
        <p:grpSp>
          <p:nvGrpSpPr>
            <p:cNvPr id="21" name="Group 198"/>
            <p:cNvGrpSpPr>
              <a:grpSpLocks/>
            </p:cNvGrpSpPr>
            <p:nvPr/>
          </p:nvGrpSpPr>
          <p:grpSpPr bwMode="auto">
            <a:xfrm>
              <a:off x="3101" y="2024"/>
              <a:ext cx="1987" cy="267"/>
              <a:chOff x="221" y="912"/>
              <a:chExt cx="1987" cy="267"/>
            </a:xfrm>
          </p:grpSpPr>
          <p:sp>
            <p:nvSpPr>
              <p:cNvPr id="101455" name="Rectangle 199"/>
              <p:cNvSpPr>
                <a:spLocks noChangeArrowheads="1"/>
              </p:cNvSpPr>
              <p:nvPr/>
            </p:nvSpPr>
            <p:spPr bwMode="auto">
              <a:xfrm>
                <a:off x="1924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9</a:t>
                </a:r>
              </a:p>
            </p:txBody>
          </p:sp>
          <p:sp>
            <p:nvSpPr>
              <p:cNvPr id="101456" name="Rectangle 200"/>
              <p:cNvSpPr>
                <a:spLocks noChangeArrowheads="1"/>
              </p:cNvSpPr>
              <p:nvPr/>
            </p:nvSpPr>
            <p:spPr bwMode="auto">
              <a:xfrm>
                <a:off x="1641" y="912"/>
                <a:ext cx="283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6</a:t>
                </a:r>
              </a:p>
            </p:txBody>
          </p:sp>
          <p:sp>
            <p:nvSpPr>
              <p:cNvPr id="101457" name="Rectangle 201"/>
              <p:cNvSpPr>
                <a:spLocks noChangeArrowheads="1"/>
              </p:cNvSpPr>
              <p:nvPr/>
            </p:nvSpPr>
            <p:spPr bwMode="auto">
              <a:xfrm>
                <a:off x="1357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4</a:t>
                </a:r>
              </a:p>
            </p:txBody>
          </p:sp>
          <p:sp>
            <p:nvSpPr>
              <p:cNvPr id="101458" name="Rectangle 202"/>
              <p:cNvSpPr>
                <a:spLocks noChangeArrowheads="1"/>
              </p:cNvSpPr>
              <p:nvPr/>
            </p:nvSpPr>
            <p:spPr bwMode="auto">
              <a:xfrm>
                <a:off x="1072" y="912"/>
                <a:ext cx="285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8</a:t>
                </a:r>
              </a:p>
            </p:txBody>
          </p:sp>
          <p:sp>
            <p:nvSpPr>
              <p:cNvPr id="101459" name="Rectangle 203"/>
              <p:cNvSpPr>
                <a:spLocks noChangeArrowheads="1"/>
              </p:cNvSpPr>
              <p:nvPr/>
            </p:nvSpPr>
            <p:spPr bwMode="auto">
              <a:xfrm>
                <a:off x="788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3</a:t>
                </a:r>
              </a:p>
            </p:txBody>
          </p:sp>
          <p:sp>
            <p:nvSpPr>
              <p:cNvPr id="101460" name="Rectangle 204"/>
              <p:cNvSpPr>
                <a:spLocks noChangeArrowheads="1"/>
              </p:cNvSpPr>
              <p:nvPr/>
            </p:nvSpPr>
            <p:spPr bwMode="auto">
              <a:xfrm>
                <a:off x="505" y="912"/>
                <a:ext cx="283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2</a:t>
                </a:r>
              </a:p>
            </p:txBody>
          </p:sp>
          <p:sp>
            <p:nvSpPr>
              <p:cNvPr id="101461" name="Rectangle 205"/>
              <p:cNvSpPr>
                <a:spLocks noChangeArrowheads="1"/>
              </p:cNvSpPr>
              <p:nvPr/>
            </p:nvSpPr>
            <p:spPr bwMode="auto">
              <a:xfrm>
                <a:off x="221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1</a:t>
                </a:r>
              </a:p>
            </p:txBody>
          </p:sp>
          <p:sp>
            <p:nvSpPr>
              <p:cNvPr id="101462" name="Line 206"/>
              <p:cNvSpPr>
                <a:spLocks noChangeShapeType="1"/>
              </p:cNvSpPr>
              <p:nvPr/>
            </p:nvSpPr>
            <p:spPr bwMode="auto">
              <a:xfrm>
                <a:off x="221" y="912"/>
                <a:ext cx="198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63" name="Line 207"/>
              <p:cNvSpPr>
                <a:spLocks noChangeShapeType="1"/>
              </p:cNvSpPr>
              <p:nvPr/>
            </p:nvSpPr>
            <p:spPr bwMode="auto">
              <a:xfrm>
                <a:off x="221" y="1179"/>
                <a:ext cx="198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64" name="Line 208"/>
              <p:cNvSpPr>
                <a:spLocks noChangeShapeType="1"/>
              </p:cNvSpPr>
              <p:nvPr/>
            </p:nvSpPr>
            <p:spPr bwMode="auto">
              <a:xfrm>
                <a:off x="221" y="912"/>
                <a:ext cx="0" cy="26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65" name="Line 209"/>
              <p:cNvSpPr>
                <a:spLocks noChangeShapeType="1"/>
              </p:cNvSpPr>
              <p:nvPr/>
            </p:nvSpPr>
            <p:spPr bwMode="auto">
              <a:xfrm>
                <a:off x="505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66" name="Line 210"/>
              <p:cNvSpPr>
                <a:spLocks noChangeShapeType="1"/>
              </p:cNvSpPr>
              <p:nvPr/>
            </p:nvSpPr>
            <p:spPr bwMode="auto">
              <a:xfrm>
                <a:off x="788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67" name="Line 211"/>
              <p:cNvSpPr>
                <a:spLocks noChangeShapeType="1"/>
              </p:cNvSpPr>
              <p:nvPr/>
            </p:nvSpPr>
            <p:spPr bwMode="auto">
              <a:xfrm>
                <a:off x="1072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68" name="Line 212"/>
              <p:cNvSpPr>
                <a:spLocks noChangeShapeType="1"/>
              </p:cNvSpPr>
              <p:nvPr/>
            </p:nvSpPr>
            <p:spPr bwMode="auto">
              <a:xfrm>
                <a:off x="1357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69" name="Line 213"/>
              <p:cNvSpPr>
                <a:spLocks noChangeShapeType="1"/>
              </p:cNvSpPr>
              <p:nvPr/>
            </p:nvSpPr>
            <p:spPr bwMode="auto">
              <a:xfrm>
                <a:off x="1641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70" name="Line 214"/>
              <p:cNvSpPr>
                <a:spLocks noChangeShapeType="1"/>
              </p:cNvSpPr>
              <p:nvPr/>
            </p:nvSpPr>
            <p:spPr bwMode="auto">
              <a:xfrm>
                <a:off x="1924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71" name="Line 215"/>
              <p:cNvSpPr>
                <a:spLocks noChangeShapeType="1"/>
              </p:cNvSpPr>
              <p:nvPr/>
            </p:nvSpPr>
            <p:spPr bwMode="auto">
              <a:xfrm>
                <a:off x="2208" y="912"/>
                <a:ext cx="0" cy="26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</p:grpSp>
        <p:sp>
          <p:nvSpPr>
            <p:cNvPr id="101453" name="Text Box 216"/>
            <p:cNvSpPr txBox="1">
              <a:spLocks noChangeArrowheads="1"/>
            </p:cNvSpPr>
            <p:nvPr/>
          </p:nvSpPr>
          <p:spPr bwMode="auto">
            <a:xfrm>
              <a:off x="3910" y="2284"/>
              <a:ext cx="39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i = 4</a:t>
              </a:r>
            </a:p>
          </p:txBody>
        </p:sp>
        <p:sp>
          <p:nvSpPr>
            <p:cNvPr id="101454" name="Text Box 217"/>
            <p:cNvSpPr txBox="1">
              <a:spLocks noChangeArrowheads="1"/>
            </p:cNvSpPr>
            <p:nvPr/>
          </p:nvSpPr>
          <p:spPr bwMode="auto">
            <a:xfrm>
              <a:off x="4896" y="2284"/>
              <a:ext cx="153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j</a:t>
              </a:r>
            </a:p>
          </p:txBody>
        </p:sp>
      </p:grpSp>
      <p:grpSp>
        <p:nvGrpSpPr>
          <p:cNvPr id="22" name="Group 218"/>
          <p:cNvGrpSpPr>
            <a:grpSpLocks/>
          </p:cNvGrpSpPr>
          <p:nvPr/>
        </p:nvGrpSpPr>
        <p:grpSpPr bwMode="auto">
          <a:xfrm>
            <a:off x="4922838" y="3657600"/>
            <a:ext cx="3154362" cy="750888"/>
            <a:chOff x="3101" y="2688"/>
            <a:chExt cx="1987" cy="473"/>
          </a:xfrm>
        </p:grpSpPr>
        <p:grpSp>
          <p:nvGrpSpPr>
            <p:cNvPr id="23" name="Group 219"/>
            <p:cNvGrpSpPr>
              <a:grpSpLocks/>
            </p:cNvGrpSpPr>
            <p:nvPr/>
          </p:nvGrpSpPr>
          <p:grpSpPr bwMode="auto">
            <a:xfrm>
              <a:off x="3101" y="2688"/>
              <a:ext cx="1987" cy="267"/>
              <a:chOff x="221" y="912"/>
              <a:chExt cx="1987" cy="267"/>
            </a:xfrm>
          </p:grpSpPr>
          <p:sp>
            <p:nvSpPr>
              <p:cNvPr id="101435" name="Rectangle 220"/>
              <p:cNvSpPr>
                <a:spLocks noChangeArrowheads="1"/>
              </p:cNvSpPr>
              <p:nvPr/>
            </p:nvSpPr>
            <p:spPr bwMode="auto">
              <a:xfrm>
                <a:off x="1924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9</a:t>
                </a:r>
              </a:p>
            </p:txBody>
          </p:sp>
          <p:sp>
            <p:nvSpPr>
              <p:cNvPr id="101436" name="Rectangle 221"/>
              <p:cNvSpPr>
                <a:spLocks noChangeArrowheads="1"/>
              </p:cNvSpPr>
              <p:nvPr/>
            </p:nvSpPr>
            <p:spPr bwMode="auto">
              <a:xfrm>
                <a:off x="1641" y="912"/>
                <a:ext cx="283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6</a:t>
                </a:r>
              </a:p>
            </p:txBody>
          </p:sp>
          <p:sp>
            <p:nvSpPr>
              <p:cNvPr id="101437" name="Rectangle 222"/>
              <p:cNvSpPr>
                <a:spLocks noChangeArrowheads="1"/>
              </p:cNvSpPr>
              <p:nvPr/>
            </p:nvSpPr>
            <p:spPr bwMode="auto">
              <a:xfrm>
                <a:off x="1357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8</a:t>
                </a:r>
              </a:p>
            </p:txBody>
          </p:sp>
          <p:sp>
            <p:nvSpPr>
              <p:cNvPr id="101438" name="Rectangle 223"/>
              <p:cNvSpPr>
                <a:spLocks noChangeArrowheads="1"/>
              </p:cNvSpPr>
              <p:nvPr/>
            </p:nvSpPr>
            <p:spPr bwMode="auto">
              <a:xfrm>
                <a:off x="1072" y="912"/>
                <a:ext cx="285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4</a:t>
                </a:r>
              </a:p>
            </p:txBody>
          </p:sp>
          <p:sp>
            <p:nvSpPr>
              <p:cNvPr id="101439" name="Rectangle 224"/>
              <p:cNvSpPr>
                <a:spLocks noChangeArrowheads="1"/>
              </p:cNvSpPr>
              <p:nvPr/>
            </p:nvSpPr>
            <p:spPr bwMode="auto">
              <a:xfrm>
                <a:off x="788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3</a:t>
                </a:r>
              </a:p>
            </p:txBody>
          </p:sp>
          <p:sp>
            <p:nvSpPr>
              <p:cNvPr id="101440" name="Rectangle 225"/>
              <p:cNvSpPr>
                <a:spLocks noChangeArrowheads="1"/>
              </p:cNvSpPr>
              <p:nvPr/>
            </p:nvSpPr>
            <p:spPr bwMode="auto">
              <a:xfrm>
                <a:off x="505" y="912"/>
                <a:ext cx="283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2</a:t>
                </a:r>
              </a:p>
            </p:txBody>
          </p:sp>
          <p:sp>
            <p:nvSpPr>
              <p:cNvPr id="101441" name="Rectangle 226"/>
              <p:cNvSpPr>
                <a:spLocks noChangeArrowheads="1"/>
              </p:cNvSpPr>
              <p:nvPr/>
            </p:nvSpPr>
            <p:spPr bwMode="auto">
              <a:xfrm>
                <a:off x="221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1</a:t>
                </a:r>
              </a:p>
            </p:txBody>
          </p:sp>
          <p:sp>
            <p:nvSpPr>
              <p:cNvPr id="101442" name="Line 227"/>
              <p:cNvSpPr>
                <a:spLocks noChangeShapeType="1"/>
              </p:cNvSpPr>
              <p:nvPr/>
            </p:nvSpPr>
            <p:spPr bwMode="auto">
              <a:xfrm>
                <a:off x="221" y="912"/>
                <a:ext cx="198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43" name="Line 228"/>
              <p:cNvSpPr>
                <a:spLocks noChangeShapeType="1"/>
              </p:cNvSpPr>
              <p:nvPr/>
            </p:nvSpPr>
            <p:spPr bwMode="auto">
              <a:xfrm>
                <a:off x="221" y="1179"/>
                <a:ext cx="198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44" name="Line 229"/>
              <p:cNvSpPr>
                <a:spLocks noChangeShapeType="1"/>
              </p:cNvSpPr>
              <p:nvPr/>
            </p:nvSpPr>
            <p:spPr bwMode="auto">
              <a:xfrm>
                <a:off x="221" y="912"/>
                <a:ext cx="0" cy="26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45" name="Line 230"/>
              <p:cNvSpPr>
                <a:spLocks noChangeShapeType="1"/>
              </p:cNvSpPr>
              <p:nvPr/>
            </p:nvSpPr>
            <p:spPr bwMode="auto">
              <a:xfrm>
                <a:off x="505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46" name="Line 231"/>
              <p:cNvSpPr>
                <a:spLocks noChangeShapeType="1"/>
              </p:cNvSpPr>
              <p:nvPr/>
            </p:nvSpPr>
            <p:spPr bwMode="auto">
              <a:xfrm>
                <a:off x="788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47" name="Line 232"/>
              <p:cNvSpPr>
                <a:spLocks noChangeShapeType="1"/>
              </p:cNvSpPr>
              <p:nvPr/>
            </p:nvSpPr>
            <p:spPr bwMode="auto">
              <a:xfrm>
                <a:off x="1072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48" name="Line 233"/>
              <p:cNvSpPr>
                <a:spLocks noChangeShapeType="1"/>
              </p:cNvSpPr>
              <p:nvPr/>
            </p:nvSpPr>
            <p:spPr bwMode="auto">
              <a:xfrm>
                <a:off x="1357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49" name="Line 234"/>
              <p:cNvSpPr>
                <a:spLocks noChangeShapeType="1"/>
              </p:cNvSpPr>
              <p:nvPr/>
            </p:nvSpPr>
            <p:spPr bwMode="auto">
              <a:xfrm>
                <a:off x="1641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50" name="Line 235"/>
              <p:cNvSpPr>
                <a:spLocks noChangeShapeType="1"/>
              </p:cNvSpPr>
              <p:nvPr/>
            </p:nvSpPr>
            <p:spPr bwMode="auto">
              <a:xfrm>
                <a:off x="1924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51" name="Line 236"/>
              <p:cNvSpPr>
                <a:spLocks noChangeShapeType="1"/>
              </p:cNvSpPr>
              <p:nvPr/>
            </p:nvSpPr>
            <p:spPr bwMode="auto">
              <a:xfrm>
                <a:off x="2208" y="912"/>
                <a:ext cx="0" cy="26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</p:grpSp>
        <p:sp>
          <p:nvSpPr>
            <p:cNvPr id="101433" name="Text Box 237"/>
            <p:cNvSpPr txBox="1">
              <a:spLocks noChangeArrowheads="1"/>
            </p:cNvSpPr>
            <p:nvPr/>
          </p:nvSpPr>
          <p:spPr bwMode="auto">
            <a:xfrm>
              <a:off x="4198" y="2948"/>
              <a:ext cx="39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i = 5</a:t>
              </a:r>
            </a:p>
          </p:txBody>
        </p:sp>
        <p:sp>
          <p:nvSpPr>
            <p:cNvPr id="101434" name="Text Box 238"/>
            <p:cNvSpPr txBox="1">
              <a:spLocks noChangeArrowheads="1"/>
            </p:cNvSpPr>
            <p:nvPr/>
          </p:nvSpPr>
          <p:spPr bwMode="auto">
            <a:xfrm>
              <a:off x="4896" y="2948"/>
              <a:ext cx="153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j</a:t>
              </a:r>
            </a:p>
          </p:txBody>
        </p:sp>
      </p:grpSp>
      <p:grpSp>
        <p:nvGrpSpPr>
          <p:cNvPr id="24" name="Group 239"/>
          <p:cNvGrpSpPr>
            <a:grpSpLocks/>
          </p:cNvGrpSpPr>
          <p:nvPr/>
        </p:nvGrpSpPr>
        <p:grpSpPr bwMode="auto">
          <a:xfrm>
            <a:off x="4922838" y="4495800"/>
            <a:ext cx="3154362" cy="750888"/>
            <a:chOff x="3101" y="3312"/>
            <a:chExt cx="1987" cy="473"/>
          </a:xfrm>
        </p:grpSpPr>
        <p:grpSp>
          <p:nvGrpSpPr>
            <p:cNvPr id="25" name="Group 240"/>
            <p:cNvGrpSpPr>
              <a:grpSpLocks/>
            </p:cNvGrpSpPr>
            <p:nvPr/>
          </p:nvGrpSpPr>
          <p:grpSpPr bwMode="auto">
            <a:xfrm>
              <a:off x="3101" y="3312"/>
              <a:ext cx="1987" cy="267"/>
              <a:chOff x="221" y="912"/>
              <a:chExt cx="1987" cy="267"/>
            </a:xfrm>
          </p:grpSpPr>
          <p:sp>
            <p:nvSpPr>
              <p:cNvPr id="101415" name="Rectangle 241"/>
              <p:cNvSpPr>
                <a:spLocks noChangeArrowheads="1"/>
              </p:cNvSpPr>
              <p:nvPr/>
            </p:nvSpPr>
            <p:spPr bwMode="auto">
              <a:xfrm>
                <a:off x="1924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9</a:t>
                </a:r>
              </a:p>
            </p:txBody>
          </p:sp>
          <p:sp>
            <p:nvSpPr>
              <p:cNvPr id="101416" name="Rectangle 242"/>
              <p:cNvSpPr>
                <a:spLocks noChangeArrowheads="1"/>
              </p:cNvSpPr>
              <p:nvPr/>
            </p:nvSpPr>
            <p:spPr bwMode="auto">
              <a:xfrm>
                <a:off x="1641" y="912"/>
                <a:ext cx="283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8</a:t>
                </a:r>
              </a:p>
            </p:txBody>
          </p:sp>
          <p:sp>
            <p:nvSpPr>
              <p:cNvPr id="101417" name="Rectangle 243"/>
              <p:cNvSpPr>
                <a:spLocks noChangeArrowheads="1"/>
              </p:cNvSpPr>
              <p:nvPr/>
            </p:nvSpPr>
            <p:spPr bwMode="auto">
              <a:xfrm>
                <a:off x="1357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6</a:t>
                </a:r>
              </a:p>
            </p:txBody>
          </p:sp>
          <p:sp>
            <p:nvSpPr>
              <p:cNvPr id="101418" name="Rectangle 244"/>
              <p:cNvSpPr>
                <a:spLocks noChangeArrowheads="1"/>
              </p:cNvSpPr>
              <p:nvPr/>
            </p:nvSpPr>
            <p:spPr bwMode="auto">
              <a:xfrm>
                <a:off x="1072" y="912"/>
                <a:ext cx="285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4</a:t>
                </a:r>
              </a:p>
            </p:txBody>
          </p:sp>
          <p:sp>
            <p:nvSpPr>
              <p:cNvPr id="101419" name="Rectangle 245"/>
              <p:cNvSpPr>
                <a:spLocks noChangeArrowheads="1"/>
              </p:cNvSpPr>
              <p:nvPr/>
            </p:nvSpPr>
            <p:spPr bwMode="auto">
              <a:xfrm>
                <a:off x="788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3</a:t>
                </a:r>
              </a:p>
            </p:txBody>
          </p:sp>
          <p:sp>
            <p:nvSpPr>
              <p:cNvPr id="101420" name="Rectangle 246"/>
              <p:cNvSpPr>
                <a:spLocks noChangeArrowheads="1"/>
              </p:cNvSpPr>
              <p:nvPr/>
            </p:nvSpPr>
            <p:spPr bwMode="auto">
              <a:xfrm>
                <a:off x="505" y="912"/>
                <a:ext cx="283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2</a:t>
                </a:r>
              </a:p>
            </p:txBody>
          </p:sp>
          <p:sp>
            <p:nvSpPr>
              <p:cNvPr id="101421" name="Rectangle 247"/>
              <p:cNvSpPr>
                <a:spLocks noChangeArrowheads="1"/>
              </p:cNvSpPr>
              <p:nvPr/>
            </p:nvSpPr>
            <p:spPr bwMode="auto">
              <a:xfrm>
                <a:off x="221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1</a:t>
                </a:r>
              </a:p>
            </p:txBody>
          </p:sp>
          <p:sp>
            <p:nvSpPr>
              <p:cNvPr id="101422" name="Line 248"/>
              <p:cNvSpPr>
                <a:spLocks noChangeShapeType="1"/>
              </p:cNvSpPr>
              <p:nvPr/>
            </p:nvSpPr>
            <p:spPr bwMode="auto">
              <a:xfrm>
                <a:off x="221" y="912"/>
                <a:ext cx="198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23" name="Line 249"/>
              <p:cNvSpPr>
                <a:spLocks noChangeShapeType="1"/>
              </p:cNvSpPr>
              <p:nvPr/>
            </p:nvSpPr>
            <p:spPr bwMode="auto">
              <a:xfrm>
                <a:off x="221" y="1179"/>
                <a:ext cx="198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24" name="Line 250"/>
              <p:cNvSpPr>
                <a:spLocks noChangeShapeType="1"/>
              </p:cNvSpPr>
              <p:nvPr/>
            </p:nvSpPr>
            <p:spPr bwMode="auto">
              <a:xfrm>
                <a:off x="221" y="912"/>
                <a:ext cx="0" cy="26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25" name="Line 251"/>
              <p:cNvSpPr>
                <a:spLocks noChangeShapeType="1"/>
              </p:cNvSpPr>
              <p:nvPr/>
            </p:nvSpPr>
            <p:spPr bwMode="auto">
              <a:xfrm>
                <a:off x="505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26" name="Line 252"/>
              <p:cNvSpPr>
                <a:spLocks noChangeShapeType="1"/>
              </p:cNvSpPr>
              <p:nvPr/>
            </p:nvSpPr>
            <p:spPr bwMode="auto">
              <a:xfrm>
                <a:off x="788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27" name="Line 253"/>
              <p:cNvSpPr>
                <a:spLocks noChangeShapeType="1"/>
              </p:cNvSpPr>
              <p:nvPr/>
            </p:nvSpPr>
            <p:spPr bwMode="auto">
              <a:xfrm>
                <a:off x="1072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28" name="Line 254"/>
              <p:cNvSpPr>
                <a:spLocks noChangeShapeType="1"/>
              </p:cNvSpPr>
              <p:nvPr/>
            </p:nvSpPr>
            <p:spPr bwMode="auto">
              <a:xfrm>
                <a:off x="1357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29" name="Line 255"/>
              <p:cNvSpPr>
                <a:spLocks noChangeShapeType="1"/>
              </p:cNvSpPr>
              <p:nvPr/>
            </p:nvSpPr>
            <p:spPr bwMode="auto">
              <a:xfrm>
                <a:off x="1641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30" name="Line 256"/>
              <p:cNvSpPr>
                <a:spLocks noChangeShapeType="1"/>
              </p:cNvSpPr>
              <p:nvPr/>
            </p:nvSpPr>
            <p:spPr bwMode="auto">
              <a:xfrm>
                <a:off x="1924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31" name="Line 257"/>
              <p:cNvSpPr>
                <a:spLocks noChangeShapeType="1"/>
              </p:cNvSpPr>
              <p:nvPr/>
            </p:nvSpPr>
            <p:spPr bwMode="auto">
              <a:xfrm>
                <a:off x="2208" y="912"/>
                <a:ext cx="0" cy="26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</p:grpSp>
        <p:sp>
          <p:nvSpPr>
            <p:cNvPr id="101413" name="Text Box 258"/>
            <p:cNvSpPr txBox="1">
              <a:spLocks noChangeArrowheads="1"/>
            </p:cNvSpPr>
            <p:nvPr/>
          </p:nvSpPr>
          <p:spPr bwMode="auto">
            <a:xfrm>
              <a:off x="4486" y="3572"/>
              <a:ext cx="39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i = 6</a:t>
              </a:r>
            </a:p>
          </p:txBody>
        </p:sp>
        <p:sp>
          <p:nvSpPr>
            <p:cNvPr id="101414" name="Text Box 259"/>
            <p:cNvSpPr txBox="1">
              <a:spLocks noChangeArrowheads="1"/>
            </p:cNvSpPr>
            <p:nvPr/>
          </p:nvSpPr>
          <p:spPr bwMode="auto">
            <a:xfrm>
              <a:off x="4896" y="3572"/>
              <a:ext cx="153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j</a:t>
              </a:r>
            </a:p>
          </p:txBody>
        </p:sp>
      </p:grpSp>
      <p:grpSp>
        <p:nvGrpSpPr>
          <p:cNvPr id="26" name="Group 260"/>
          <p:cNvGrpSpPr>
            <a:grpSpLocks/>
          </p:cNvGrpSpPr>
          <p:nvPr/>
        </p:nvGrpSpPr>
        <p:grpSpPr bwMode="auto">
          <a:xfrm>
            <a:off x="4922838" y="5302250"/>
            <a:ext cx="3276600" cy="1023938"/>
            <a:chOff x="3101" y="3340"/>
            <a:chExt cx="2064" cy="645"/>
          </a:xfrm>
        </p:grpSpPr>
        <p:grpSp>
          <p:nvGrpSpPr>
            <p:cNvPr id="27" name="Group 261"/>
            <p:cNvGrpSpPr>
              <a:grpSpLocks/>
            </p:cNvGrpSpPr>
            <p:nvPr/>
          </p:nvGrpSpPr>
          <p:grpSpPr bwMode="auto">
            <a:xfrm>
              <a:off x="3101" y="3340"/>
              <a:ext cx="1987" cy="267"/>
              <a:chOff x="221" y="912"/>
              <a:chExt cx="1987" cy="267"/>
            </a:xfrm>
          </p:grpSpPr>
          <p:sp>
            <p:nvSpPr>
              <p:cNvPr id="101395" name="Rectangle 262"/>
              <p:cNvSpPr>
                <a:spLocks noChangeArrowheads="1"/>
              </p:cNvSpPr>
              <p:nvPr/>
            </p:nvSpPr>
            <p:spPr bwMode="auto">
              <a:xfrm>
                <a:off x="1924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9</a:t>
                </a:r>
              </a:p>
            </p:txBody>
          </p:sp>
          <p:sp>
            <p:nvSpPr>
              <p:cNvPr id="101396" name="Rectangle 263"/>
              <p:cNvSpPr>
                <a:spLocks noChangeArrowheads="1"/>
              </p:cNvSpPr>
              <p:nvPr/>
            </p:nvSpPr>
            <p:spPr bwMode="auto">
              <a:xfrm>
                <a:off x="1641" y="912"/>
                <a:ext cx="283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8</a:t>
                </a:r>
              </a:p>
            </p:txBody>
          </p:sp>
          <p:sp>
            <p:nvSpPr>
              <p:cNvPr id="101397" name="Rectangle 264"/>
              <p:cNvSpPr>
                <a:spLocks noChangeArrowheads="1"/>
              </p:cNvSpPr>
              <p:nvPr/>
            </p:nvSpPr>
            <p:spPr bwMode="auto">
              <a:xfrm>
                <a:off x="1357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6</a:t>
                </a:r>
              </a:p>
            </p:txBody>
          </p:sp>
          <p:sp>
            <p:nvSpPr>
              <p:cNvPr id="101398" name="Rectangle 265"/>
              <p:cNvSpPr>
                <a:spLocks noChangeArrowheads="1"/>
              </p:cNvSpPr>
              <p:nvPr/>
            </p:nvSpPr>
            <p:spPr bwMode="auto">
              <a:xfrm>
                <a:off x="1072" y="912"/>
                <a:ext cx="285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4</a:t>
                </a:r>
              </a:p>
            </p:txBody>
          </p:sp>
          <p:sp>
            <p:nvSpPr>
              <p:cNvPr id="101399" name="Rectangle 266"/>
              <p:cNvSpPr>
                <a:spLocks noChangeArrowheads="1"/>
              </p:cNvSpPr>
              <p:nvPr/>
            </p:nvSpPr>
            <p:spPr bwMode="auto">
              <a:xfrm>
                <a:off x="788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3</a:t>
                </a:r>
              </a:p>
            </p:txBody>
          </p:sp>
          <p:sp>
            <p:nvSpPr>
              <p:cNvPr id="101400" name="Rectangle 267"/>
              <p:cNvSpPr>
                <a:spLocks noChangeArrowheads="1"/>
              </p:cNvSpPr>
              <p:nvPr/>
            </p:nvSpPr>
            <p:spPr bwMode="auto">
              <a:xfrm>
                <a:off x="505" y="912"/>
                <a:ext cx="283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2</a:t>
                </a:r>
              </a:p>
            </p:txBody>
          </p:sp>
          <p:sp>
            <p:nvSpPr>
              <p:cNvPr id="101401" name="Rectangle 268"/>
              <p:cNvSpPr>
                <a:spLocks noChangeArrowheads="1"/>
              </p:cNvSpPr>
              <p:nvPr/>
            </p:nvSpPr>
            <p:spPr bwMode="auto">
              <a:xfrm>
                <a:off x="221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1</a:t>
                </a:r>
              </a:p>
            </p:txBody>
          </p:sp>
          <p:sp>
            <p:nvSpPr>
              <p:cNvPr id="101402" name="Line 269"/>
              <p:cNvSpPr>
                <a:spLocks noChangeShapeType="1"/>
              </p:cNvSpPr>
              <p:nvPr/>
            </p:nvSpPr>
            <p:spPr bwMode="auto">
              <a:xfrm>
                <a:off x="221" y="912"/>
                <a:ext cx="198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03" name="Line 270"/>
              <p:cNvSpPr>
                <a:spLocks noChangeShapeType="1"/>
              </p:cNvSpPr>
              <p:nvPr/>
            </p:nvSpPr>
            <p:spPr bwMode="auto">
              <a:xfrm>
                <a:off x="221" y="1179"/>
                <a:ext cx="198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04" name="Line 271"/>
              <p:cNvSpPr>
                <a:spLocks noChangeShapeType="1"/>
              </p:cNvSpPr>
              <p:nvPr/>
            </p:nvSpPr>
            <p:spPr bwMode="auto">
              <a:xfrm>
                <a:off x="221" y="912"/>
                <a:ext cx="0" cy="26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05" name="Line 272"/>
              <p:cNvSpPr>
                <a:spLocks noChangeShapeType="1"/>
              </p:cNvSpPr>
              <p:nvPr/>
            </p:nvSpPr>
            <p:spPr bwMode="auto">
              <a:xfrm>
                <a:off x="505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06" name="Line 273"/>
              <p:cNvSpPr>
                <a:spLocks noChangeShapeType="1"/>
              </p:cNvSpPr>
              <p:nvPr/>
            </p:nvSpPr>
            <p:spPr bwMode="auto">
              <a:xfrm>
                <a:off x="788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07" name="Line 274"/>
              <p:cNvSpPr>
                <a:spLocks noChangeShapeType="1"/>
              </p:cNvSpPr>
              <p:nvPr/>
            </p:nvSpPr>
            <p:spPr bwMode="auto">
              <a:xfrm>
                <a:off x="1072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08" name="Line 275"/>
              <p:cNvSpPr>
                <a:spLocks noChangeShapeType="1"/>
              </p:cNvSpPr>
              <p:nvPr/>
            </p:nvSpPr>
            <p:spPr bwMode="auto">
              <a:xfrm>
                <a:off x="1357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09" name="Line 276"/>
              <p:cNvSpPr>
                <a:spLocks noChangeShapeType="1"/>
              </p:cNvSpPr>
              <p:nvPr/>
            </p:nvSpPr>
            <p:spPr bwMode="auto">
              <a:xfrm>
                <a:off x="1641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10" name="Line 277"/>
              <p:cNvSpPr>
                <a:spLocks noChangeShapeType="1"/>
              </p:cNvSpPr>
              <p:nvPr/>
            </p:nvSpPr>
            <p:spPr bwMode="auto">
              <a:xfrm>
                <a:off x="1924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1411" name="Line 278"/>
              <p:cNvSpPr>
                <a:spLocks noChangeShapeType="1"/>
              </p:cNvSpPr>
              <p:nvPr/>
            </p:nvSpPr>
            <p:spPr bwMode="auto">
              <a:xfrm>
                <a:off x="2208" y="912"/>
                <a:ext cx="0" cy="26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</p:grpSp>
        <p:sp>
          <p:nvSpPr>
            <p:cNvPr id="101393" name="Text Box 279"/>
            <p:cNvSpPr txBox="1">
              <a:spLocks noChangeArrowheads="1"/>
            </p:cNvSpPr>
            <p:nvPr/>
          </p:nvSpPr>
          <p:spPr bwMode="auto">
            <a:xfrm>
              <a:off x="4774" y="3600"/>
              <a:ext cx="39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i = 7</a:t>
              </a:r>
            </a:p>
          </p:txBody>
        </p:sp>
        <p:sp>
          <p:nvSpPr>
            <p:cNvPr id="101394" name="Text Box 280"/>
            <p:cNvSpPr txBox="1">
              <a:spLocks noChangeArrowheads="1"/>
            </p:cNvSpPr>
            <p:nvPr/>
          </p:nvSpPr>
          <p:spPr bwMode="auto">
            <a:xfrm>
              <a:off x="4848" y="3772"/>
              <a:ext cx="153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j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Bubble Sort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sz="2400" smtClean="0">
                <a:latin typeface="Monotype Corsiva" pitchFamily="66" charset="0"/>
              </a:rPr>
              <a:t>Alg.:</a:t>
            </a:r>
            <a:r>
              <a:rPr lang="en-US" sz="2400" smtClean="0"/>
              <a:t> BUBBLESORT(A)</a:t>
            </a:r>
          </a:p>
          <a:p>
            <a:pPr eaLnBrk="1" hangingPunct="1">
              <a:buFontTx/>
              <a:buNone/>
            </a:pPr>
            <a:r>
              <a:rPr lang="en-US" sz="2400" smtClean="0"/>
              <a:t>	</a:t>
            </a:r>
            <a:r>
              <a:rPr lang="en-US" sz="2400" b="1" smtClean="0"/>
              <a:t>for</a:t>
            </a:r>
            <a:r>
              <a:rPr lang="en-US" sz="2400" smtClean="0"/>
              <a:t> </a:t>
            </a:r>
            <a:r>
              <a:rPr lang="en-US" sz="2400" smtClean="0">
                <a:latin typeface="Comic Sans MS" pitchFamily="66" charset="0"/>
              </a:rPr>
              <a:t>i </a:t>
            </a:r>
            <a:r>
              <a:rPr lang="en-US" sz="2400" smtClean="0">
                <a:latin typeface="Comic Sans MS" pitchFamily="66" charset="0"/>
                <a:sym typeface="Symbol" pitchFamily="18" charset="2"/>
              </a:rPr>
              <a:t> 1</a:t>
            </a:r>
            <a:r>
              <a:rPr lang="en-US" sz="2400" smtClean="0">
                <a:sym typeface="Symbol" pitchFamily="18" charset="2"/>
              </a:rPr>
              <a:t> </a:t>
            </a:r>
            <a:r>
              <a:rPr lang="en-US" sz="2400" b="1" smtClean="0">
                <a:sym typeface="Symbol" pitchFamily="18" charset="2"/>
              </a:rPr>
              <a:t>to</a:t>
            </a:r>
            <a:r>
              <a:rPr lang="en-US" sz="2400" smtClean="0">
                <a:sym typeface="Symbol" pitchFamily="18" charset="2"/>
              </a:rPr>
              <a:t> </a:t>
            </a:r>
            <a:r>
              <a:rPr lang="en-US" sz="2400" smtClean="0">
                <a:latin typeface="Comic Sans MS" pitchFamily="66" charset="0"/>
                <a:sym typeface="Symbol" pitchFamily="18" charset="2"/>
              </a:rPr>
              <a:t>length[A]</a:t>
            </a:r>
          </a:p>
          <a:p>
            <a:pPr eaLnBrk="1" hangingPunct="1">
              <a:buFontTx/>
              <a:buNone/>
            </a:pPr>
            <a:r>
              <a:rPr lang="en-US" sz="2400" smtClean="0">
                <a:sym typeface="Symbol" pitchFamily="18" charset="2"/>
              </a:rPr>
              <a:t>		</a:t>
            </a:r>
            <a:r>
              <a:rPr lang="en-US" sz="2400" b="1" smtClean="0">
                <a:sym typeface="Symbol" pitchFamily="18" charset="2"/>
              </a:rPr>
              <a:t>do for</a:t>
            </a:r>
            <a:r>
              <a:rPr lang="en-US" sz="2400" smtClean="0">
                <a:sym typeface="Symbol" pitchFamily="18" charset="2"/>
              </a:rPr>
              <a:t> </a:t>
            </a:r>
            <a:r>
              <a:rPr lang="en-US" sz="2400" smtClean="0">
                <a:latin typeface="Comic Sans MS" pitchFamily="66" charset="0"/>
                <a:sym typeface="Symbol" pitchFamily="18" charset="2"/>
              </a:rPr>
              <a:t>j  length[A]</a:t>
            </a:r>
            <a:r>
              <a:rPr lang="en-US" sz="2400" smtClean="0">
                <a:sym typeface="Symbol" pitchFamily="18" charset="2"/>
              </a:rPr>
              <a:t> </a:t>
            </a:r>
            <a:r>
              <a:rPr lang="en-US" sz="2400" b="1" smtClean="0">
                <a:sym typeface="Symbol" pitchFamily="18" charset="2"/>
              </a:rPr>
              <a:t>downto</a:t>
            </a:r>
            <a:r>
              <a:rPr lang="en-US" sz="2400" smtClean="0">
                <a:sym typeface="Symbol" pitchFamily="18" charset="2"/>
              </a:rPr>
              <a:t> </a:t>
            </a:r>
            <a:r>
              <a:rPr lang="en-US" sz="2400" smtClean="0">
                <a:latin typeface="Comic Sans MS" pitchFamily="66" charset="0"/>
                <a:sym typeface="Symbol" pitchFamily="18" charset="2"/>
              </a:rPr>
              <a:t>i + 1</a:t>
            </a:r>
          </a:p>
          <a:p>
            <a:pPr eaLnBrk="1" hangingPunct="1">
              <a:buFontTx/>
              <a:buNone/>
            </a:pPr>
            <a:r>
              <a:rPr lang="en-US" sz="2400" smtClean="0">
                <a:sym typeface="Symbol" pitchFamily="18" charset="2"/>
              </a:rPr>
              <a:t>		          </a:t>
            </a:r>
            <a:r>
              <a:rPr lang="en-US" sz="2400" b="1" smtClean="0">
                <a:sym typeface="Symbol" pitchFamily="18" charset="2"/>
              </a:rPr>
              <a:t>do if</a:t>
            </a:r>
            <a:r>
              <a:rPr lang="en-US" sz="2400" smtClean="0">
                <a:sym typeface="Symbol" pitchFamily="18" charset="2"/>
              </a:rPr>
              <a:t> </a:t>
            </a:r>
            <a:r>
              <a:rPr lang="en-US" sz="2400" smtClean="0">
                <a:latin typeface="Comic Sans MS" pitchFamily="66" charset="0"/>
                <a:sym typeface="Symbol" pitchFamily="18" charset="2"/>
              </a:rPr>
              <a:t>A[j] &lt; A[j -1]</a:t>
            </a:r>
          </a:p>
          <a:p>
            <a:pPr eaLnBrk="1" hangingPunct="1">
              <a:buFontTx/>
              <a:buNone/>
            </a:pPr>
            <a:r>
              <a:rPr lang="en-US" sz="2400" smtClean="0">
                <a:sym typeface="Symbol" pitchFamily="18" charset="2"/>
              </a:rPr>
              <a:t>			        </a:t>
            </a:r>
            <a:r>
              <a:rPr lang="en-US" sz="2400" b="1" smtClean="0">
                <a:sym typeface="Symbol" pitchFamily="18" charset="2"/>
              </a:rPr>
              <a:t>then</a:t>
            </a:r>
            <a:r>
              <a:rPr lang="en-US" sz="2400" smtClean="0">
                <a:sym typeface="Symbol" pitchFamily="18" charset="2"/>
              </a:rPr>
              <a:t> exchange </a:t>
            </a:r>
            <a:r>
              <a:rPr lang="en-US" sz="2400" smtClean="0">
                <a:latin typeface="Comic Sans MS" pitchFamily="66" charset="0"/>
                <a:sym typeface="Symbol" pitchFamily="18" charset="2"/>
              </a:rPr>
              <a:t>A[j]  A[j-1]</a:t>
            </a:r>
          </a:p>
          <a:p>
            <a:pPr eaLnBrk="1" hangingPunct="1">
              <a:buFontTx/>
              <a:buNone/>
            </a:pPr>
            <a:endParaRPr lang="en-US" sz="2400" smtClean="0">
              <a:latin typeface="Comic Sans MS" pitchFamily="66" charset="0"/>
              <a:sym typeface="Symbol" pitchFamily="18" charset="2"/>
            </a:endParaRPr>
          </a:p>
          <a:p>
            <a:pPr eaLnBrk="1" hangingPunct="1">
              <a:buFontTx/>
              <a:buNone/>
            </a:pPr>
            <a:endParaRPr lang="en-US" sz="2400" smtClean="0">
              <a:latin typeface="Comic Sans MS" pitchFamily="66" charset="0"/>
              <a:sym typeface="Symbol" pitchFamily="18" charset="2"/>
            </a:endParaRPr>
          </a:p>
          <a:p>
            <a:pPr eaLnBrk="1" hangingPunct="1">
              <a:buFontTx/>
              <a:buNone/>
            </a:pPr>
            <a:r>
              <a:rPr lang="en-US" sz="2400" smtClean="0">
                <a:sym typeface="Symbol" pitchFamily="18" charset="2"/>
              </a:rPr>
              <a:t>	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605088" y="3833813"/>
            <a:ext cx="3200400" cy="719137"/>
            <a:chOff x="192" y="768"/>
            <a:chExt cx="2016" cy="453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221" y="768"/>
              <a:ext cx="1987" cy="267"/>
              <a:chOff x="221" y="912"/>
              <a:chExt cx="1987" cy="267"/>
            </a:xfrm>
          </p:grpSpPr>
          <p:sp>
            <p:nvSpPr>
              <p:cNvPr id="102411" name="Rectangle 6"/>
              <p:cNvSpPr>
                <a:spLocks noChangeArrowheads="1"/>
              </p:cNvSpPr>
              <p:nvPr/>
            </p:nvSpPr>
            <p:spPr bwMode="auto">
              <a:xfrm>
                <a:off x="1924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1</a:t>
                </a:r>
              </a:p>
            </p:txBody>
          </p:sp>
          <p:sp>
            <p:nvSpPr>
              <p:cNvPr id="102412" name="Rectangle 7"/>
              <p:cNvSpPr>
                <a:spLocks noChangeArrowheads="1"/>
              </p:cNvSpPr>
              <p:nvPr/>
            </p:nvSpPr>
            <p:spPr bwMode="auto">
              <a:xfrm>
                <a:off x="1641" y="912"/>
                <a:ext cx="283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3</a:t>
                </a:r>
              </a:p>
            </p:txBody>
          </p:sp>
          <p:sp>
            <p:nvSpPr>
              <p:cNvPr id="102413" name="Rectangle 8"/>
              <p:cNvSpPr>
                <a:spLocks noChangeArrowheads="1"/>
              </p:cNvSpPr>
              <p:nvPr/>
            </p:nvSpPr>
            <p:spPr bwMode="auto">
              <a:xfrm>
                <a:off x="1357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2</a:t>
                </a:r>
              </a:p>
            </p:txBody>
          </p:sp>
          <p:sp>
            <p:nvSpPr>
              <p:cNvPr id="102414" name="Rectangle 9"/>
              <p:cNvSpPr>
                <a:spLocks noChangeArrowheads="1"/>
              </p:cNvSpPr>
              <p:nvPr/>
            </p:nvSpPr>
            <p:spPr bwMode="auto">
              <a:xfrm>
                <a:off x="1072" y="912"/>
                <a:ext cx="285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9</a:t>
                </a:r>
              </a:p>
            </p:txBody>
          </p:sp>
          <p:sp>
            <p:nvSpPr>
              <p:cNvPr id="102415" name="Rectangle 10"/>
              <p:cNvSpPr>
                <a:spLocks noChangeArrowheads="1"/>
              </p:cNvSpPr>
              <p:nvPr/>
            </p:nvSpPr>
            <p:spPr bwMode="auto">
              <a:xfrm>
                <a:off x="788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6</a:t>
                </a:r>
              </a:p>
            </p:txBody>
          </p:sp>
          <p:sp>
            <p:nvSpPr>
              <p:cNvPr id="102416" name="Rectangle 11"/>
              <p:cNvSpPr>
                <a:spLocks noChangeArrowheads="1"/>
              </p:cNvSpPr>
              <p:nvPr/>
            </p:nvSpPr>
            <p:spPr bwMode="auto">
              <a:xfrm>
                <a:off x="505" y="912"/>
                <a:ext cx="283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4</a:t>
                </a:r>
              </a:p>
            </p:txBody>
          </p:sp>
          <p:sp>
            <p:nvSpPr>
              <p:cNvPr id="102417" name="Rectangle 12"/>
              <p:cNvSpPr>
                <a:spLocks noChangeArrowheads="1"/>
              </p:cNvSpPr>
              <p:nvPr/>
            </p:nvSpPr>
            <p:spPr bwMode="auto">
              <a:xfrm>
                <a:off x="221" y="912"/>
                <a:ext cx="284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b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8</a:t>
                </a:r>
              </a:p>
            </p:txBody>
          </p:sp>
          <p:sp>
            <p:nvSpPr>
              <p:cNvPr id="102418" name="Line 13"/>
              <p:cNvSpPr>
                <a:spLocks noChangeShapeType="1"/>
              </p:cNvSpPr>
              <p:nvPr/>
            </p:nvSpPr>
            <p:spPr bwMode="auto">
              <a:xfrm>
                <a:off x="221" y="912"/>
                <a:ext cx="198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2419" name="Line 14"/>
              <p:cNvSpPr>
                <a:spLocks noChangeShapeType="1"/>
              </p:cNvSpPr>
              <p:nvPr/>
            </p:nvSpPr>
            <p:spPr bwMode="auto">
              <a:xfrm>
                <a:off x="221" y="1179"/>
                <a:ext cx="198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2420" name="Line 15"/>
              <p:cNvSpPr>
                <a:spLocks noChangeShapeType="1"/>
              </p:cNvSpPr>
              <p:nvPr/>
            </p:nvSpPr>
            <p:spPr bwMode="auto">
              <a:xfrm>
                <a:off x="221" y="912"/>
                <a:ext cx="0" cy="26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2421" name="Line 16"/>
              <p:cNvSpPr>
                <a:spLocks noChangeShapeType="1"/>
              </p:cNvSpPr>
              <p:nvPr/>
            </p:nvSpPr>
            <p:spPr bwMode="auto">
              <a:xfrm>
                <a:off x="505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2422" name="Line 17"/>
              <p:cNvSpPr>
                <a:spLocks noChangeShapeType="1"/>
              </p:cNvSpPr>
              <p:nvPr/>
            </p:nvSpPr>
            <p:spPr bwMode="auto">
              <a:xfrm>
                <a:off x="788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2423" name="Line 18"/>
              <p:cNvSpPr>
                <a:spLocks noChangeShapeType="1"/>
              </p:cNvSpPr>
              <p:nvPr/>
            </p:nvSpPr>
            <p:spPr bwMode="auto">
              <a:xfrm>
                <a:off x="1072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2424" name="Line 19"/>
              <p:cNvSpPr>
                <a:spLocks noChangeShapeType="1"/>
              </p:cNvSpPr>
              <p:nvPr/>
            </p:nvSpPr>
            <p:spPr bwMode="auto">
              <a:xfrm>
                <a:off x="1357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2425" name="Line 20"/>
              <p:cNvSpPr>
                <a:spLocks noChangeShapeType="1"/>
              </p:cNvSpPr>
              <p:nvPr/>
            </p:nvSpPr>
            <p:spPr bwMode="auto">
              <a:xfrm>
                <a:off x="1641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2426" name="Line 21"/>
              <p:cNvSpPr>
                <a:spLocks noChangeShapeType="1"/>
              </p:cNvSpPr>
              <p:nvPr/>
            </p:nvSpPr>
            <p:spPr bwMode="auto">
              <a:xfrm>
                <a:off x="1924" y="912"/>
                <a:ext cx="0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  <p:sp>
            <p:nvSpPr>
              <p:cNvPr id="102427" name="Line 22"/>
              <p:cNvSpPr>
                <a:spLocks noChangeShapeType="1"/>
              </p:cNvSpPr>
              <p:nvPr/>
            </p:nvSpPr>
            <p:spPr bwMode="auto">
              <a:xfrm>
                <a:off x="2208" y="912"/>
                <a:ext cx="0" cy="26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b" anchorCtr="1"/>
              <a:lstStyle/>
              <a:p>
                <a:endParaRPr lang="en-US"/>
              </a:p>
            </p:txBody>
          </p:sp>
        </p:grpSp>
        <p:sp>
          <p:nvSpPr>
            <p:cNvPr id="102408" name="Text Box 23"/>
            <p:cNvSpPr txBox="1">
              <a:spLocks noChangeArrowheads="1"/>
            </p:cNvSpPr>
            <p:nvPr/>
          </p:nvSpPr>
          <p:spPr bwMode="auto">
            <a:xfrm>
              <a:off x="192" y="1008"/>
              <a:ext cx="39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i = 1</a:t>
              </a:r>
            </a:p>
          </p:txBody>
        </p:sp>
        <p:sp>
          <p:nvSpPr>
            <p:cNvPr id="102409" name="Text Box 24"/>
            <p:cNvSpPr txBox="1">
              <a:spLocks noChangeArrowheads="1"/>
            </p:cNvSpPr>
            <p:nvPr/>
          </p:nvSpPr>
          <p:spPr bwMode="auto">
            <a:xfrm>
              <a:off x="2016" y="1008"/>
              <a:ext cx="153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j</a:t>
              </a:r>
            </a:p>
          </p:txBody>
        </p:sp>
        <p:sp>
          <p:nvSpPr>
            <p:cNvPr id="102410" name="Line 25"/>
            <p:cNvSpPr>
              <a:spLocks noChangeShapeType="1"/>
            </p:cNvSpPr>
            <p:nvPr/>
          </p:nvSpPr>
          <p:spPr bwMode="auto">
            <a:xfrm flipH="1">
              <a:off x="624" y="1104"/>
              <a:ext cx="13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405" name="Text Box 26"/>
          <p:cNvSpPr txBox="1">
            <a:spLocks noChangeArrowheads="1"/>
          </p:cNvSpPr>
          <p:nvPr/>
        </p:nvSpPr>
        <p:spPr bwMode="auto">
          <a:xfrm>
            <a:off x="2736850" y="3459163"/>
            <a:ext cx="234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i</a:t>
            </a:r>
          </a:p>
        </p:txBody>
      </p:sp>
      <p:sp>
        <p:nvSpPr>
          <p:cNvPr id="102406" name="Line 27"/>
          <p:cNvSpPr>
            <a:spLocks noChangeShapeType="1"/>
          </p:cNvSpPr>
          <p:nvPr/>
        </p:nvSpPr>
        <p:spPr bwMode="auto">
          <a:xfrm>
            <a:off x="3097213" y="3651250"/>
            <a:ext cx="2527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AutoShape 2"/>
          <p:cNvSpPr>
            <a:spLocks noChangeArrowheads="1"/>
          </p:cNvSpPr>
          <p:nvPr/>
        </p:nvSpPr>
        <p:spPr bwMode="auto">
          <a:xfrm>
            <a:off x="3970338" y="2825750"/>
            <a:ext cx="4289425" cy="474663"/>
          </a:xfrm>
          <a:prstGeom prst="roundRect">
            <a:avLst>
              <a:gd name="adj" fmla="val 16667"/>
            </a:avLst>
          </a:prstGeom>
          <a:solidFill>
            <a:srgbClr val="CC0000">
              <a:alpha val="27843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9379" name="AutoShape 3"/>
          <p:cNvSpPr>
            <a:spLocks noChangeArrowheads="1"/>
          </p:cNvSpPr>
          <p:nvPr/>
        </p:nvSpPr>
        <p:spPr bwMode="auto">
          <a:xfrm>
            <a:off x="3217863" y="2373313"/>
            <a:ext cx="2822575" cy="49688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Bubble-Sort Running Time</a:t>
            </a:r>
          </a:p>
        </p:txBody>
      </p:sp>
      <p:sp>
        <p:nvSpPr>
          <p:cNvPr id="229381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957263" y="6084888"/>
            <a:ext cx="2754312" cy="628650"/>
          </a:xfrm>
        </p:spPr>
        <p:txBody>
          <a:bodyPr rtlCol="0">
            <a:normAutofit fontScale="70000" lnSpcReduction="20000"/>
          </a:bodyPr>
          <a:lstStyle/>
          <a:p>
            <a:pPr eaLnBrk="1" fontAlgn="auto" hangingPunct="1">
              <a:lnSpc>
                <a:spcPct val="120000"/>
              </a:lnSpc>
              <a:spcAft>
                <a:spcPts val="0"/>
              </a:spcAft>
              <a:buFontTx/>
              <a:buNone/>
              <a:defRPr/>
            </a:pPr>
            <a:r>
              <a:rPr lang="en-US" sz="2400" smtClean="0">
                <a:latin typeface="Comic Sans MS" pitchFamily="66" charset="0"/>
              </a:rPr>
              <a:t>Thus,T(n) = </a:t>
            </a:r>
            <a:r>
              <a:rPr lang="en-US" sz="2400" smtClean="0">
                <a:latin typeface="Comic Sans MS" pitchFamily="66" charset="0"/>
                <a:sym typeface="Symbol" pitchFamily="18" charset="2"/>
              </a:rPr>
              <a:t>(n</a:t>
            </a:r>
            <a:r>
              <a:rPr lang="en-US" sz="2400" baseline="30000" smtClean="0">
                <a:latin typeface="Comic Sans MS" pitchFamily="66" charset="0"/>
                <a:sym typeface="Symbol" pitchFamily="18" charset="2"/>
              </a:rPr>
              <a:t>2</a:t>
            </a:r>
            <a:r>
              <a:rPr lang="en-US" sz="2400" smtClean="0">
                <a:latin typeface="Comic Sans MS" pitchFamily="66" charset="0"/>
                <a:sym typeface="Symbol" pitchFamily="18" charset="2"/>
              </a:rPr>
              <a:t>)</a:t>
            </a:r>
            <a:r>
              <a:rPr lang="en-US" sz="2400" smtClean="0">
                <a:sym typeface="Symbol" pitchFamily="18" charset="2"/>
              </a:rPr>
              <a:t>	</a:t>
            </a:r>
          </a:p>
        </p:txBody>
      </p:sp>
      <p:graphicFrame>
        <p:nvGraphicFramePr>
          <p:cNvPr id="10242" name="Object 2"/>
          <p:cNvGraphicFramePr>
            <a:graphicFrameLocks noChangeAspect="1"/>
          </p:cNvGraphicFramePr>
          <p:nvPr>
            <p:ph sz="half" idx="2"/>
          </p:nvPr>
        </p:nvGraphicFramePr>
        <p:xfrm>
          <a:off x="649288" y="5027613"/>
          <a:ext cx="6786562" cy="931862"/>
        </p:xfrm>
        <a:graphic>
          <a:graphicData uri="http://schemas.openxmlformats.org/presentationml/2006/ole">
            <p:oleObj spid="_x0000_s10242" name="Equation" r:id="rId4" imgW="3238200" imgH="444240" progId="Equation.DSMT4">
              <p:embed/>
            </p:oleObj>
          </a:graphicData>
        </a:graphic>
      </p:graphicFrame>
      <p:sp>
        <p:nvSpPr>
          <p:cNvPr id="10251" name="Rectangle 7"/>
          <p:cNvSpPr>
            <a:spLocks noChangeArrowheads="1"/>
          </p:cNvSpPr>
          <p:nvPr/>
        </p:nvSpPr>
        <p:spPr bwMode="auto">
          <a:xfrm>
            <a:off x="534988" y="1000125"/>
            <a:ext cx="7696200" cy="228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>
                <a:solidFill>
                  <a:srgbClr val="DD0111"/>
                </a:solidFill>
                <a:latin typeface="Monotype Corsiva" pitchFamily="66" charset="0"/>
              </a:rPr>
              <a:t>Alg.:</a:t>
            </a:r>
            <a:r>
              <a:rPr lang="en-US" sz="2400"/>
              <a:t> BUBBLESORT(A)</a:t>
            </a:r>
          </a:p>
          <a:p>
            <a:pPr>
              <a:lnSpc>
                <a:spcPct val="120000"/>
              </a:lnSpc>
            </a:pPr>
            <a:r>
              <a:rPr lang="en-US" sz="2400"/>
              <a:t>	</a:t>
            </a:r>
            <a:r>
              <a:rPr lang="en-US" sz="2400" b="1"/>
              <a:t>for</a:t>
            </a:r>
            <a:r>
              <a:rPr lang="en-US" sz="2400"/>
              <a:t> </a:t>
            </a:r>
            <a:r>
              <a:rPr lang="en-US" sz="2400">
                <a:latin typeface="Comic Sans MS" pitchFamily="66" charset="0"/>
              </a:rPr>
              <a:t>i </a:t>
            </a:r>
            <a:r>
              <a:rPr lang="en-US" sz="2400">
                <a:latin typeface="Comic Sans MS" pitchFamily="66" charset="0"/>
                <a:sym typeface="Symbol" pitchFamily="18" charset="2"/>
              </a:rPr>
              <a:t> 1</a:t>
            </a:r>
            <a:r>
              <a:rPr lang="en-US" sz="2400">
                <a:sym typeface="Symbol" pitchFamily="18" charset="2"/>
              </a:rPr>
              <a:t> </a:t>
            </a:r>
            <a:r>
              <a:rPr lang="en-US" sz="2400" b="1">
                <a:sym typeface="Symbol" pitchFamily="18" charset="2"/>
              </a:rPr>
              <a:t>to</a:t>
            </a:r>
            <a:r>
              <a:rPr lang="en-US" sz="2400">
                <a:sym typeface="Symbol" pitchFamily="18" charset="2"/>
              </a:rPr>
              <a:t> </a:t>
            </a:r>
            <a:r>
              <a:rPr lang="en-US" sz="2400">
                <a:latin typeface="Comic Sans MS" pitchFamily="66" charset="0"/>
                <a:sym typeface="Symbol" pitchFamily="18" charset="2"/>
              </a:rPr>
              <a:t>length[A]</a:t>
            </a:r>
          </a:p>
          <a:p>
            <a:pPr>
              <a:lnSpc>
                <a:spcPct val="120000"/>
              </a:lnSpc>
            </a:pPr>
            <a:r>
              <a:rPr lang="en-US" sz="2400">
                <a:sym typeface="Symbol" pitchFamily="18" charset="2"/>
              </a:rPr>
              <a:t>		</a:t>
            </a:r>
            <a:r>
              <a:rPr lang="en-US" sz="2400" b="1">
                <a:sym typeface="Symbol" pitchFamily="18" charset="2"/>
              </a:rPr>
              <a:t>do for</a:t>
            </a:r>
            <a:r>
              <a:rPr lang="en-US" sz="2400">
                <a:sym typeface="Symbol" pitchFamily="18" charset="2"/>
              </a:rPr>
              <a:t> </a:t>
            </a:r>
            <a:r>
              <a:rPr lang="en-US" sz="2400">
                <a:latin typeface="Comic Sans MS" pitchFamily="66" charset="0"/>
                <a:sym typeface="Symbol" pitchFamily="18" charset="2"/>
              </a:rPr>
              <a:t>j  length[A]</a:t>
            </a:r>
            <a:r>
              <a:rPr lang="en-US" sz="2400">
                <a:sym typeface="Symbol" pitchFamily="18" charset="2"/>
              </a:rPr>
              <a:t> </a:t>
            </a:r>
            <a:r>
              <a:rPr lang="en-US" sz="2400" b="1">
                <a:sym typeface="Symbol" pitchFamily="18" charset="2"/>
              </a:rPr>
              <a:t>downto</a:t>
            </a:r>
            <a:r>
              <a:rPr lang="en-US" sz="2400">
                <a:sym typeface="Symbol" pitchFamily="18" charset="2"/>
              </a:rPr>
              <a:t> </a:t>
            </a:r>
            <a:r>
              <a:rPr lang="en-US" sz="2400">
                <a:latin typeface="Comic Sans MS" pitchFamily="66" charset="0"/>
                <a:sym typeface="Symbol" pitchFamily="18" charset="2"/>
              </a:rPr>
              <a:t>i + 1</a:t>
            </a:r>
          </a:p>
          <a:p>
            <a:pPr>
              <a:lnSpc>
                <a:spcPct val="120000"/>
              </a:lnSpc>
            </a:pPr>
            <a:r>
              <a:rPr lang="en-US" sz="2400">
                <a:sym typeface="Symbol" pitchFamily="18" charset="2"/>
              </a:rPr>
              <a:t>		          </a:t>
            </a:r>
            <a:r>
              <a:rPr lang="en-US" sz="2400" b="1">
                <a:sym typeface="Symbol" pitchFamily="18" charset="2"/>
              </a:rPr>
              <a:t>do if</a:t>
            </a:r>
            <a:r>
              <a:rPr lang="en-US" sz="2400">
                <a:sym typeface="Symbol" pitchFamily="18" charset="2"/>
              </a:rPr>
              <a:t> </a:t>
            </a:r>
            <a:r>
              <a:rPr lang="en-US" sz="2400">
                <a:latin typeface="Comic Sans MS" pitchFamily="66" charset="0"/>
                <a:sym typeface="Symbol" pitchFamily="18" charset="2"/>
              </a:rPr>
              <a:t>A[j] &lt; A[j -1]</a:t>
            </a:r>
          </a:p>
          <a:p>
            <a:pPr>
              <a:lnSpc>
                <a:spcPct val="120000"/>
              </a:lnSpc>
            </a:pPr>
            <a:r>
              <a:rPr lang="en-US" sz="2400">
                <a:sym typeface="Symbol" pitchFamily="18" charset="2"/>
              </a:rPr>
              <a:t>			        </a:t>
            </a:r>
            <a:r>
              <a:rPr lang="en-US" sz="2400" b="1">
                <a:sym typeface="Symbol" pitchFamily="18" charset="2"/>
              </a:rPr>
              <a:t>then</a:t>
            </a:r>
            <a:r>
              <a:rPr lang="en-US" sz="2400">
                <a:sym typeface="Symbol" pitchFamily="18" charset="2"/>
              </a:rPr>
              <a:t> exchange </a:t>
            </a:r>
            <a:r>
              <a:rPr lang="en-US" sz="2400">
                <a:latin typeface="Comic Sans MS" pitchFamily="66" charset="0"/>
                <a:sym typeface="Symbol" pitchFamily="18" charset="2"/>
              </a:rPr>
              <a:t>A[j]  A[j-1]</a:t>
            </a:r>
          </a:p>
        </p:txBody>
      </p:sp>
      <p:sp>
        <p:nvSpPr>
          <p:cNvPr id="10252" name="Rectangle 8"/>
          <p:cNvSpPr>
            <a:spLocks noChangeArrowheads="1"/>
          </p:cNvSpPr>
          <p:nvPr/>
        </p:nvSpPr>
        <p:spPr bwMode="auto">
          <a:xfrm>
            <a:off x="322263" y="3536950"/>
            <a:ext cx="126523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Comic Sans MS" pitchFamily="66" charset="0"/>
              </a:rPr>
              <a:t>T(n) = </a:t>
            </a:r>
          </a:p>
        </p:txBody>
      </p:sp>
      <p:sp>
        <p:nvSpPr>
          <p:cNvPr id="10253" name="Rectangle 9"/>
          <p:cNvSpPr>
            <a:spLocks noChangeArrowheads="1"/>
          </p:cNvSpPr>
          <p:nvPr/>
        </p:nvSpPr>
        <p:spPr bwMode="auto">
          <a:xfrm>
            <a:off x="1511300" y="3536950"/>
            <a:ext cx="1530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Comic Sans MS" pitchFamily="66" charset="0"/>
                <a:sym typeface="Symbol" pitchFamily="18" charset="2"/>
              </a:rPr>
              <a:t>c</a:t>
            </a:r>
            <a:r>
              <a:rPr lang="en-US" baseline="-25000">
                <a:latin typeface="Comic Sans MS" pitchFamily="66" charset="0"/>
                <a:sym typeface="Symbol" pitchFamily="18" charset="2"/>
              </a:rPr>
              <a:t>1</a:t>
            </a:r>
            <a:r>
              <a:rPr lang="en-US">
                <a:latin typeface="Comic Sans MS" pitchFamily="66" charset="0"/>
                <a:sym typeface="Symbol" pitchFamily="18" charset="2"/>
              </a:rPr>
              <a:t>(n+1) +</a:t>
            </a:r>
          </a:p>
        </p:txBody>
      </p:sp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3463925" y="3330575"/>
          <a:ext cx="1920875" cy="931863"/>
        </p:xfrm>
        <a:graphic>
          <a:graphicData uri="http://schemas.openxmlformats.org/presentationml/2006/ole">
            <p:oleObj spid="_x0000_s10243" name="Equation" r:id="rId5" imgW="888840" imgH="431640" progId="Equation.3">
              <p:embed/>
            </p:oleObj>
          </a:graphicData>
        </a:graphic>
      </p:graphicFrame>
      <p:sp>
        <p:nvSpPr>
          <p:cNvPr id="10254" name="Rectangle 11"/>
          <p:cNvSpPr>
            <a:spLocks noChangeArrowheads="1"/>
          </p:cNvSpPr>
          <p:nvPr/>
        </p:nvSpPr>
        <p:spPr bwMode="auto">
          <a:xfrm>
            <a:off x="3027363" y="3536950"/>
            <a:ext cx="514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Comic Sans MS" pitchFamily="66" charset="0"/>
                <a:sym typeface="Symbol" pitchFamily="18" charset="2"/>
              </a:rPr>
              <a:t>c</a:t>
            </a:r>
            <a:r>
              <a:rPr lang="en-US" baseline="-25000">
                <a:latin typeface="Comic Sans MS" pitchFamily="66" charset="0"/>
                <a:sym typeface="Symbol" pitchFamily="18" charset="2"/>
              </a:rPr>
              <a:t>2</a:t>
            </a:r>
          </a:p>
        </p:txBody>
      </p:sp>
      <p:sp>
        <p:nvSpPr>
          <p:cNvPr id="10255" name="Text Box 12"/>
          <p:cNvSpPr txBox="1">
            <a:spLocks noChangeArrowheads="1"/>
          </p:cNvSpPr>
          <p:nvPr/>
        </p:nvSpPr>
        <p:spPr bwMode="auto">
          <a:xfrm>
            <a:off x="5307013" y="3536950"/>
            <a:ext cx="514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Comic Sans MS" pitchFamily="66" charset="0"/>
              </a:rPr>
              <a:t>c</a:t>
            </a:r>
            <a:r>
              <a:rPr lang="en-US" baseline="-25000">
                <a:latin typeface="Comic Sans MS" pitchFamily="66" charset="0"/>
              </a:rPr>
              <a:t>3</a:t>
            </a:r>
            <a:endParaRPr lang="en-US">
              <a:latin typeface="Comic Sans MS" pitchFamily="66" charset="0"/>
            </a:endParaRP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5743575" y="3335338"/>
          <a:ext cx="1495425" cy="923925"/>
        </p:xfrm>
        <a:graphic>
          <a:graphicData uri="http://schemas.openxmlformats.org/presentationml/2006/ole">
            <p:oleObj spid="_x0000_s10244" name="Equation" r:id="rId6" imgW="698400" imgH="431640" progId="Equation.3">
              <p:embed/>
            </p:oleObj>
          </a:graphicData>
        </a:graphic>
      </p:graphicFrame>
      <p:sp>
        <p:nvSpPr>
          <p:cNvPr id="10256" name="Text Box 14"/>
          <p:cNvSpPr txBox="1">
            <a:spLocks noChangeArrowheads="1"/>
          </p:cNvSpPr>
          <p:nvPr/>
        </p:nvSpPr>
        <p:spPr bwMode="auto">
          <a:xfrm>
            <a:off x="7161213" y="3536950"/>
            <a:ext cx="514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Comic Sans MS" pitchFamily="66" charset="0"/>
              </a:rPr>
              <a:t>c</a:t>
            </a:r>
            <a:r>
              <a:rPr lang="en-US" baseline="-25000">
                <a:latin typeface="Comic Sans MS" pitchFamily="66" charset="0"/>
              </a:rPr>
              <a:t>4</a:t>
            </a:r>
            <a:endParaRPr lang="en-US">
              <a:latin typeface="Comic Sans MS" pitchFamily="66" charset="0"/>
            </a:endParaRPr>
          </a:p>
        </p:txBody>
      </p:sp>
      <p:graphicFrame>
        <p:nvGraphicFramePr>
          <p:cNvPr id="10245" name="Object 5"/>
          <p:cNvGraphicFramePr>
            <a:graphicFrameLocks noChangeAspect="1"/>
          </p:cNvGraphicFramePr>
          <p:nvPr/>
        </p:nvGraphicFramePr>
        <p:xfrm>
          <a:off x="7764463" y="3259138"/>
          <a:ext cx="1319212" cy="974725"/>
        </p:xfrm>
        <a:graphic>
          <a:graphicData uri="http://schemas.openxmlformats.org/presentationml/2006/ole">
            <p:oleObj spid="_x0000_s10245" name="Equation" r:id="rId7" imgW="583920" imgH="431640" progId="Equation.3">
              <p:embed/>
            </p:oleObj>
          </a:graphicData>
        </a:graphic>
      </p:graphicFrame>
      <p:sp>
        <p:nvSpPr>
          <p:cNvPr id="10257" name="Rectangle 16"/>
          <p:cNvSpPr>
            <a:spLocks noChangeArrowheads="1"/>
          </p:cNvSpPr>
          <p:nvPr/>
        </p:nvSpPr>
        <p:spPr bwMode="auto">
          <a:xfrm>
            <a:off x="1109663" y="4394200"/>
            <a:ext cx="25447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omic Sans MS" pitchFamily="66" charset="0"/>
                <a:sym typeface="Symbol" pitchFamily="18" charset="2"/>
              </a:rPr>
              <a:t>= (n) +</a:t>
            </a:r>
          </a:p>
        </p:txBody>
      </p:sp>
      <p:sp>
        <p:nvSpPr>
          <p:cNvPr id="10258" name="Rectangle 17"/>
          <p:cNvSpPr>
            <a:spLocks noChangeArrowheads="1"/>
          </p:cNvSpPr>
          <p:nvPr/>
        </p:nvSpPr>
        <p:spPr bwMode="auto">
          <a:xfrm>
            <a:off x="2522538" y="4392613"/>
            <a:ext cx="22844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omic Sans MS" pitchFamily="66" charset="0"/>
                <a:sym typeface="Symbol" pitchFamily="18" charset="2"/>
              </a:rPr>
              <a:t>(c</a:t>
            </a:r>
            <a:r>
              <a:rPr lang="en-US" baseline="-25000">
                <a:latin typeface="Comic Sans MS" pitchFamily="66" charset="0"/>
                <a:sym typeface="Symbol" pitchFamily="18" charset="2"/>
              </a:rPr>
              <a:t>2</a:t>
            </a:r>
            <a:r>
              <a:rPr lang="en-US">
                <a:latin typeface="Comic Sans MS" pitchFamily="66" charset="0"/>
                <a:sym typeface="Symbol" pitchFamily="18" charset="2"/>
              </a:rPr>
              <a:t> + c</a:t>
            </a:r>
            <a:r>
              <a:rPr lang="en-US" baseline="-25000">
                <a:latin typeface="Comic Sans MS" pitchFamily="66" charset="0"/>
                <a:sym typeface="Symbol" pitchFamily="18" charset="2"/>
              </a:rPr>
              <a:t>2</a:t>
            </a:r>
            <a:r>
              <a:rPr lang="en-US">
                <a:latin typeface="Comic Sans MS" pitchFamily="66" charset="0"/>
                <a:sym typeface="Symbol" pitchFamily="18" charset="2"/>
              </a:rPr>
              <a:t> + c</a:t>
            </a:r>
            <a:r>
              <a:rPr lang="en-US" baseline="-25000">
                <a:latin typeface="Comic Sans MS" pitchFamily="66" charset="0"/>
                <a:sym typeface="Symbol" pitchFamily="18" charset="2"/>
              </a:rPr>
              <a:t>4</a:t>
            </a:r>
            <a:r>
              <a:rPr lang="en-US">
                <a:latin typeface="Comic Sans MS" pitchFamily="66" charset="0"/>
                <a:sym typeface="Symbol" pitchFamily="18" charset="2"/>
              </a:rPr>
              <a:t>) </a:t>
            </a:r>
            <a:endParaRPr lang="en-US" baseline="-25000">
              <a:latin typeface="Comic Sans MS" pitchFamily="66" charset="0"/>
              <a:sym typeface="Symbol" pitchFamily="18" charset="2"/>
            </a:endParaRPr>
          </a:p>
        </p:txBody>
      </p:sp>
      <p:graphicFrame>
        <p:nvGraphicFramePr>
          <p:cNvPr id="10246" name="Object 6"/>
          <p:cNvGraphicFramePr>
            <a:graphicFrameLocks noChangeAspect="1"/>
          </p:cNvGraphicFramePr>
          <p:nvPr/>
        </p:nvGraphicFramePr>
        <p:xfrm>
          <a:off x="4695825" y="4191000"/>
          <a:ext cx="1250950" cy="923925"/>
        </p:xfrm>
        <a:graphic>
          <a:graphicData uri="http://schemas.openxmlformats.org/presentationml/2006/ole">
            <p:oleObj spid="_x0000_s10246" name="Equation" r:id="rId8" imgW="583920" imgH="431640" progId="Equation.3">
              <p:embed/>
            </p:oleObj>
          </a:graphicData>
        </a:graphic>
      </p:graphicFrame>
      <p:sp>
        <p:nvSpPr>
          <p:cNvPr id="229395" name="Rectangle 19"/>
          <p:cNvSpPr>
            <a:spLocks noChangeArrowheads="1"/>
          </p:cNvSpPr>
          <p:nvPr/>
        </p:nvSpPr>
        <p:spPr bwMode="auto">
          <a:xfrm>
            <a:off x="587375" y="2384425"/>
            <a:ext cx="25860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sz="2000">
                <a:solidFill>
                  <a:schemeClr val="accent2"/>
                </a:solidFill>
                <a:sym typeface="Symbol" pitchFamily="18" charset="2"/>
              </a:rPr>
              <a:t>Comparisons: </a:t>
            </a:r>
            <a:r>
              <a:rPr lang="en-US" sz="2000">
                <a:solidFill>
                  <a:schemeClr val="accent2"/>
                </a:solidFill>
                <a:latin typeface="Comic Sans MS" pitchFamily="66" charset="0"/>
                <a:sym typeface="Symbol" pitchFamily="18" charset="2"/>
              </a:rPr>
              <a:t> n</a:t>
            </a:r>
            <a:r>
              <a:rPr lang="en-US" sz="2000" baseline="30000">
                <a:solidFill>
                  <a:schemeClr val="accent2"/>
                </a:solidFill>
                <a:latin typeface="Comic Sans MS" pitchFamily="66" charset="0"/>
                <a:sym typeface="Symbol" pitchFamily="18" charset="2"/>
              </a:rPr>
              <a:t>2</a:t>
            </a:r>
            <a:r>
              <a:rPr lang="en-US" sz="2000">
                <a:solidFill>
                  <a:schemeClr val="accent2"/>
                </a:solidFill>
                <a:latin typeface="Comic Sans MS" pitchFamily="66" charset="0"/>
                <a:sym typeface="Symbol" pitchFamily="18" charset="2"/>
              </a:rPr>
              <a:t>/2</a:t>
            </a:r>
          </a:p>
        </p:txBody>
      </p:sp>
      <p:sp>
        <p:nvSpPr>
          <p:cNvPr id="229396" name="Rectangle 20"/>
          <p:cNvSpPr>
            <a:spLocks noChangeArrowheads="1"/>
          </p:cNvSpPr>
          <p:nvPr/>
        </p:nvSpPr>
        <p:spPr bwMode="auto">
          <a:xfrm>
            <a:off x="1681163" y="2944813"/>
            <a:ext cx="23161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sz="2000">
                <a:solidFill>
                  <a:srgbClr val="CC0000"/>
                </a:solidFill>
                <a:sym typeface="Symbol" pitchFamily="18" charset="2"/>
              </a:rPr>
              <a:t>Exchanges: </a:t>
            </a:r>
            <a:r>
              <a:rPr lang="en-US" sz="2000">
                <a:solidFill>
                  <a:srgbClr val="CC0000"/>
                </a:solidFill>
                <a:latin typeface="Comic Sans MS" pitchFamily="66" charset="0"/>
                <a:sym typeface="Symbol" pitchFamily="18" charset="2"/>
              </a:rPr>
              <a:t> n</a:t>
            </a:r>
            <a:r>
              <a:rPr lang="en-US" sz="2000" baseline="30000">
                <a:solidFill>
                  <a:srgbClr val="CC0000"/>
                </a:solidFill>
                <a:latin typeface="Comic Sans MS" pitchFamily="66" charset="0"/>
                <a:sym typeface="Symbol" pitchFamily="18" charset="2"/>
              </a:rPr>
              <a:t>2</a:t>
            </a:r>
            <a:r>
              <a:rPr lang="en-US" sz="2000">
                <a:solidFill>
                  <a:srgbClr val="CC0000"/>
                </a:solidFill>
                <a:latin typeface="Comic Sans MS" pitchFamily="66" charset="0"/>
                <a:sym typeface="Symbol" pitchFamily="18" charset="2"/>
              </a:rPr>
              <a:t>/2</a:t>
            </a:r>
          </a:p>
        </p:txBody>
      </p:sp>
      <p:sp>
        <p:nvSpPr>
          <p:cNvPr id="10261" name="Rectangle 24"/>
          <p:cNvSpPr>
            <a:spLocks noChangeArrowheads="1"/>
          </p:cNvSpPr>
          <p:nvPr/>
        </p:nvSpPr>
        <p:spPr bwMode="auto">
          <a:xfrm>
            <a:off x="4843463" y="1347788"/>
            <a:ext cx="531812" cy="557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en-US" sz="2400">
                <a:latin typeface="Comic Sans MS" pitchFamily="66" charset="0"/>
              </a:rPr>
              <a:t>c</a:t>
            </a:r>
            <a:r>
              <a:rPr lang="en-US" sz="2400" baseline="-25000">
                <a:latin typeface="Comic Sans MS" pitchFamily="66" charset="0"/>
              </a:rPr>
              <a:t>1</a:t>
            </a:r>
            <a:r>
              <a:rPr lang="en-US" sz="2400">
                <a:latin typeface="Comic Sans MS" pitchFamily="66" charset="0"/>
              </a:rPr>
              <a:t>          	</a:t>
            </a:r>
            <a:r>
              <a:rPr lang="en-US" sz="2400"/>
              <a:t>   </a:t>
            </a:r>
            <a:endParaRPr lang="en-US" sz="2400" baseline="-25000"/>
          </a:p>
        </p:txBody>
      </p:sp>
      <p:sp>
        <p:nvSpPr>
          <p:cNvPr id="10262" name="Rectangle 25"/>
          <p:cNvSpPr>
            <a:spLocks noChangeArrowheads="1"/>
          </p:cNvSpPr>
          <p:nvPr/>
        </p:nvSpPr>
        <p:spPr bwMode="auto">
          <a:xfrm>
            <a:off x="7312025" y="1760538"/>
            <a:ext cx="531813" cy="557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en-US" sz="2400">
                <a:latin typeface="Comic Sans MS" pitchFamily="66" charset="0"/>
              </a:rPr>
              <a:t>c</a:t>
            </a:r>
            <a:r>
              <a:rPr lang="en-US" sz="2400" baseline="-25000">
                <a:latin typeface="Comic Sans MS" pitchFamily="66" charset="0"/>
              </a:rPr>
              <a:t>2</a:t>
            </a:r>
            <a:r>
              <a:rPr lang="en-US" sz="2400">
                <a:latin typeface="Comic Sans MS" pitchFamily="66" charset="0"/>
              </a:rPr>
              <a:t>          	</a:t>
            </a:r>
            <a:r>
              <a:rPr lang="en-US" sz="2400"/>
              <a:t>   </a:t>
            </a:r>
            <a:endParaRPr lang="en-US" sz="2400" baseline="-25000"/>
          </a:p>
        </p:txBody>
      </p:sp>
      <p:sp>
        <p:nvSpPr>
          <p:cNvPr id="10263" name="Rectangle 26"/>
          <p:cNvSpPr>
            <a:spLocks noChangeArrowheads="1"/>
          </p:cNvSpPr>
          <p:nvPr/>
        </p:nvSpPr>
        <p:spPr bwMode="auto">
          <a:xfrm>
            <a:off x="6280150" y="2270125"/>
            <a:ext cx="531813" cy="55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en-US" sz="2400">
                <a:latin typeface="Comic Sans MS" pitchFamily="66" charset="0"/>
              </a:rPr>
              <a:t>c</a:t>
            </a:r>
            <a:r>
              <a:rPr lang="en-US" sz="2400" baseline="-25000">
                <a:latin typeface="Comic Sans MS" pitchFamily="66" charset="0"/>
              </a:rPr>
              <a:t>3</a:t>
            </a:r>
            <a:r>
              <a:rPr lang="en-US" sz="2400">
                <a:latin typeface="Comic Sans MS" pitchFamily="66" charset="0"/>
              </a:rPr>
              <a:t>          	</a:t>
            </a:r>
            <a:r>
              <a:rPr lang="en-US" sz="2400"/>
              <a:t>   </a:t>
            </a:r>
            <a:endParaRPr lang="en-US" sz="2400" baseline="-25000"/>
          </a:p>
        </p:txBody>
      </p:sp>
      <p:sp>
        <p:nvSpPr>
          <p:cNvPr id="10264" name="Rectangle 27"/>
          <p:cNvSpPr>
            <a:spLocks noChangeArrowheads="1"/>
          </p:cNvSpPr>
          <p:nvPr/>
        </p:nvSpPr>
        <p:spPr bwMode="auto">
          <a:xfrm>
            <a:off x="8421688" y="2732088"/>
            <a:ext cx="531812" cy="557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en-US" sz="2400">
                <a:latin typeface="Comic Sans MS" pitchFamily="66" charset="0"/>
              </a:rPr>
              <a:t>c</a:t>
            </a:r>
            <a:r>
              <a:rPr lang="en-US" sz="2400" baseline="-25000">
                <a:latin typeface="Comic Sans MS" pitchFamily="66" charset="0"/>
              </a:rPr>
              <a:t>4</a:t>
            </a:r>
            <a:r>
              <a:rPr lang="en-US" sz="2400">
                <a:latin typeface="Comic Sans MS" pitchFamily="66" charset="0"/>
              </a:rPr>
              <a:t>          	</a:t>
            </a:r>
            <a:r>
              <a:rPr lang="en-US" sz="2400"/>
              <a:t>   </a:t>
            </a:r>
            <a:endParaRPr lang="en-US" sz="2400" baseline="-25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78" grpId="0" animBg="1"/>
      <p:bldP spid="229379" grpId="0" animBg="1"/>
      <p:bldP spid="229395" grpId="0"/>
      <p:bldP spid="229396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mtClean="0"/>
              <a:t>Selection Sort (Ex. 2.2-2, page 27)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8775" y="1157288"/>
            <a:ext cx="8340725" cy="5465762"/>
          </a:xfrm>
        </p:spPr>
        <p:txBody>
          <a:bodyPr/>
          <a:lstStyle/>
          <a:p>
            <a:pPr eaLnBrk="1" hangingPunct="1"/>
            <a:r>
              <a:rPr lang="en-US" smtClean="0"/>
              <a:t>Idea:</a:t>
            </a:r>
          </a:p>
          <a:p>
            <a:pPr lvl="1" eaLnBrk="1" hangingPunct="1"/>
            <a:r>
              <a:rPr lang="en-US" smtClean="0"/>
              <a:t>Find the smallest element in the array</a:t>
            </a:r>
          </a:p>
          <a:p>
            <a:pPr lvl="1" eaLnBrk="1" hangingPunct="1"/>
            <a:r>
              <a:rPr lang="en-US" smtClean="0"/>
              <a:t>Exchange it with the element in the first position</a:t>
            </a:r>
          </a:p>
          <a:p>
            <a:pPr lvl="1" eaLnBrk="1" hangingPunct="1"/>
            <a:r>
              <a:rPr lang="en-US" smtClean="0"/>
              <a:t>Find the second smallest element and exchange it with the element in the second position</a:t>
            </a:r>
          </a:p>
          <a:p>
            <a:pPr lvl="1" eaLnBrk="1" hangingPunct="1"/>
            <a:r>
              <a:rPr lang="en-US" smtClean="0"/>
              <a:t>Continue until the array is sorted</a:t>
            </a:r>
          </a:p>
          <a:p>
            <a:pPr eaLnBrk="1" hangingPunct="1"/>
            <a:r>
              <a:rPr lang="en-US" smtClean="0"/>
              <a:t>Disadvantage:</a:t>
            </a:r>
          </a:p>
          <a:p>
            <a:pPr lvl="1" eaLnBrk="1" hangingPunct="1"/>
            <a:r>
              <a:rPr lang="en-US" smtClean="0"/>
              <a:t>Running time depends only slightly on the amount of order in the file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04825" y="1379538"/>
            <a:ext cx="3154363" cy="423862"/>
            <a:chOff x="221" y="912"/>
            <a:chExt cx="1987" cy="267"/>
          </a:xfrm>
        </p:grpSpPr>
        <p:sp>
          <p:nvSpPr>
            <p:cNvPr id="104585" name="Rectangle 4"/>
            <p:cNvSpPr>
              <a:spLocks noChangeArrowheads="1"/>
            </p:cNvSpPr>
            <p:nvPr/>
          </p:nvSpPr>
          <p:spPr bwMode="auto">
            <a:xfrm>
              <a:off x="1924" y="912"/>
              <a:ext cx="284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104586" name="Rectangle 5"/>
            <p:cNvSpPr>
              <a:spLocks noChangeArrowheads="1"/>
            </p:cNvSpPr>
            <p:nvPr/>
          </p:nvSpPr>
          <p:spPr bwMode="auto">
            <a:xfrm>
              <a:off x="1641" y="912"/>
              <a:ext cx="283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104587" name="Rectangle 6"/>
            <p:cNvSpPr>
              <a:spLocks noChangeArrowheads="1"/>
            </p:cNvSpPr>
            <p:nvPr/>
          </p:nvSpPr>
          <p:spPr bwMode="auto">
            <a:xfrm>
              <a:off x="1357" y="912"/>
              <a:ext cx="284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104588" name="Rectangle 7"/>
            <p:cNvSpPr>
              <a:spLocks noChangeArrowheads="1"/>
            </p:cNvSpPr>
            <p:nvPr/>
          </p:nvSpPr>
          <p:spPr bwMode="auto">
            <a:xfrm>
              <a:off x="1072" y="912"/>
              <a:ext cx="285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9</a:t>
              </a:r>
            </a:p>
          </p:txBody>
        </p:sp>
        <p:sp>
          <p:nvSpPr>
            <p:cNvPr id="104589" name="Rectangle 8"/>
            <p:cNvSpPr>
              <a:spLocks noChangeArrowheads="1"/>
            </p:cNvSpPr>
            <p:nvPr/>
          </p:nvSpPr>
          <p:spPr bwMode="auto">
            <a:xfrm>
              <a:off x="788" y="912"/>
              <a:ext cx="284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6</a:t>
              </a:r>
            </a:p>
          </p:txBody>
        </p:sp>
        <p:sp>
          <p:nvSpPr>
            <p:cNvPr id="104590" name="Rectangle 9"/>
            <p:cNvSpPr>
              <a:spLocks noChangeArrowheads="1"/>
            </p:cNvSpPr>
            <p:nvPr/>
          </p:nvSpPr>
          <p:spPr bwMode="auto">
            <a:xfrm>
              <a:off x="505" y="912"/>
              <a:ext cx="283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4</a:t>
              </a:r>
            </a:p>
          </p:txBody>
        </p:sp>
        <p:sp>
          <p:nvSpPr>
            <p:cNvPr id="104591" name="Rectangle 10"/>
            <p:cNvSpPr>
              <a:spLocks noChangeArrowheads="1"/>
            </p:cNvSpPr>
            <p:nvPr/>
          </p:nvSpPr>
          <p:spPr bwMode="auto">
            <a:xfrm>
              <a:off x="221" y="912"/>
              <a:ext cx="284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8</a:t>
              </a:r>
            </a:p>
          </p:txBody>
        </p:sp>
        <p:sp>
          <p:nvSpPr>
            <p:cNvPr id="104592" name="Line 11"/>
            <p:cNvSpPr>
              <a:spLocks noChangeShapeType="1"/>
            </p:cNvSpPr>
            <p:nvPr/>
          </p:nvSpPr>
          <p:spPr bwMode="auto">
            <a:xfrm>
              <a:off x="221" y="912"/>
              <a:ext cx="1987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93" name="Line 12"/>
            <p:cNvSpPr>
              <a:spLocks noChangeShapeType="1"/>
            </p:cNvSpPr>
            <p:nvPr/>
          </p:nvSpPr>
          <p:spPr bwMode="auto">
            <a:xfrm>
              <a:off x="221" y="1179"/>
              <a:ext cx="1987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94" name="Line 13"/>
            <p:cNvSpPr>
              <a:spLocks noChangeShapeType="1"/>
            </p:cNvSpPr>
            <p:nvPr/>
          </p:nvSpPr>
          <p:spPr bwMode="auto">
            <a:xfrm>
              <a:off x="221" y="912"/>
              <a:ext cx="0" cy="26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95" name="Line 14"/>
            <p:cNvSpPr>
              <a:spLocks noChangeShapeType="1"/>
            </p:cNvSpPr>
            <p:nvPr/>
          </p:nvSpPr>
          <p:spPr bwMode="auto">
            <a:xfrm>
              <a:off x="505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96" name="Line 15"/>
            <p:cNvSpPr>
              <a:spLocks noChangeShapeType="1"/>
            </p:cNvSpPr>
            <p:nvPr/>
          </p:nvSpPr>
          <p:spPr bwMode="auto">
            <a:xfrm>
              <a:off x="788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97" name="Line 16"/>
            <p:cNvSpPr>
              <a:spLocks noChangeShapeType="1"/>
            </p:cNvSpPr>
            <p:nvPr/>
          </p:nvSpPr>
          <p:spPr bwMode="auto">
            <a:xfrm>
              <a:off x="1072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98" name="Line 17"/>
            <p:cNvSpPr>
              <a:spLocks noChangeShapeType="1"/>
            </p:cNvSpPr>
            <p:nvPr/>
          </p:nvSpPr>
          <p:spPr bwMode="auto">
            <a:xfrm>
              <a:off x="1357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99" name="Line 18"/>
            <p:cNvSpPr>
              <a:spLocks noChangeShapeType="1"/>
            </p:cNvSpPr>
            <p:nvPr/>
          </p:nvSpPr>
          <p:spPr bwMode="auto">
            <a:xfrm>
              <a:off x="1641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600" name="Line 19"/>
            <p:cNvSpPr>
              <a:spLocks noChangeShapeType="1"/>
            </p:cNvSpPr>
            <p:nvPr/>
          </p:nvSpPr>
          <p:spPr bwMode="auto">
            <a:xfrm>
              <a:off x="1924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601" name="Line 20"/>
            <p:cNvSpPr>
              <a:spLocks noChangeShapeType="1"/>
            </p:cNvSpPr>
            <p:nvPr/>
          </p:nvSpPr>
          <p:spPr bwMode="auto">
            <a:xfrm>
              <a:off x="2208" y="912"/>
              <a:ext cx="0" cy="26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</p:grpSp>
      <p:sp>
        <p:nvSpPr>
          <p:cNvPr id="232469" name="Oval 21"/>
          <p:cNvSpPr>
            <a:spLocks noChangeArrowheads="1"/>
          </p:cNvSpPr>
          <p:nvPr/>
        </p:nvSpPr>
        <p:spPr bwMode="auto">
          <a:xfrm>
            <a:off x="3221038" y="1382713"/>
            <a:ext cx="425450" cy="393700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504825" y="2032000"/>
            <a:ext cx="3154363" cy="423863"/>
            <a:chOff x="221" y="912"/>
            <a:chExt cx="1987" cy="267"/>
          </a:xfrm>
        </p:grpSpPr>
        <p:sp>
          <p:nvSpPr>
            <p:cNvPr id="104568" name="Rectangle 23"/>
            <p:cNvSpPr>
              <a:spLocks noChangeArrowheads="1"/>
            </p:cNvSpPr>
            <p:nvPr/>
          </p:nvSpPr>
          <p:spPr bwMode="auto">
            <a:xfrm>
              <a:off x="1924" y="912"/>
              <a:ext cx="284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8</a:t>
              </a:r>
            </a:p>
          </p:txBody>
        </p:sp>
        <p:sp>
          <p:nvSpPr>
            <p:cNvPr id="104569" name="Rectangle 24"/>
            <p:cNvSpPr>
              <a:spLocks noChangeArrowheads="1"/>
            </p:cNvSpPr>
            <p:nvPr/>
          </p:nvSpPr>
          <p:spPr bwMode="auto">
            <a:xfrm>
              <a:off x="1641" y="912"/>
              <a:ext cx="283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104570" name="Rectangle 25"/>
            <p:cNvSpPr>
              <a:spLocks noChangeArrowheads="1"/>
            </p:cNvSpPr>
            <p:nvPr/>
          </p:nvSpPr>
          <p:spPr bwMode="auto">
            <a:xfrm>
              <a:off x="1357" y="912"/>
              <a:ext cx="284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104571" name="Rectangle 26"/>
            <p:cNvSpPr>
              <a:spLocks noChangeArrowheads="1"/>
            </p:cNvSpPr>
            <p:nvPr/>
          </p:nvSpPr>
          <p:spPr bwMode="auto">
            <a:xfrm>
              <a:off x="1072" y="912"/>
              <a:ext cx="285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9</a:t>
              </a:r>
            </a:p>
          </p:txBody>
        </p:sp>
        <p:sp>
          <p:nvSpPr>
            <p:cNvPr id="104572" name="Rectangle 27"/>
            <p:cNvSpPr>
              <a:spLocks noChangeArrowheads="1"/>
            </p:cNvSpPr>
            <p:nvPr/>
          </p:nvSpPr>
          <p:spPr bwMode="auto">
            <a:xfrm>
              <a:off x="788" y="912"/>
              <a:ext cx="284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6</a:t>
              </a:r>
            </a:p>
          </p:txBody>
        </p:sp>
        <p:sp>
          <p:nvSpPr>
            <p:cNvPr id="104573" name="Rectangle 28"/>
            <p:cNvSpPr>
              <a:spLocks noChangeArrowheads="1"/>
            </p:cNvSpPr>
            <p:nvPr/>
          </p:nvSpPr>
          <p:spPr bwMode="auto">
            <a:xfrm>
              <a:off x="505" y="912"/>
              <a:ext cx="283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4</a:t>
              </a:r>
            </a:p>
          </p:txBody>
        </p:sp>
        <p:sp>
          <p:nvSpPr>
            <p:cNvPr id="104574" name="Rectangle 29"/>
            <p:cNvSpPr>
              <a:spLocks noChangeArrowheads="1"/>
            </p:cNvSpPr>
            <p:nvPr/>
          </p:nvSpPr>
          <p:spPr bwMode="auto">
            <a:xfrm>
              <a:off x="221" y="912"/>
              <a:ext cx="284" cy="267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104575" name="Line 30"/>
            <p:cNvSpPr>
              <a:spLocks noChangeShapeType="1"/>
            </p:cNvSpPr>
            <p:nvPr/>
          </p:nvSpPr>
          <p:spPr bwMode="auto">
            <a:xfrm>
              <a:off x="221" y="912"/>
              <a:ext cx="1987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76" name="Line 31"/>
            <p:cNvSpPr>
              <a:spLocks noChangeShapeType="1"/>
            </p:cNvSpPr>
            <p:nvPr/>
          </p:nvSpPr>
          <p:spPr bwMode="auto">
            <a:xfrm>
              <a:off x="221" y="1179"/>
              <a:ext cx="1987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77" name="Line 32"/>
            <p:cNvSpPr>
              <a:spLocks noChangeShapeType="1"/>
            </p:cNvSpPr>
            <p:nvPr/>
          </p:nvSpPr>
          <p:spPr bwMode="auto">
            <a:xfrm>
              <a:off x="221" y="912"/>
              <a:ext cx="0" cy="26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78" name="Line 33"/>
            <p:cNvSpPr>
              <a:spLocks noChangeShapeType="1"/>
            </p:cNvSpPr>
            <p:nvPr/>
          </p:nvSpPr>
          <p:spPr bwMode="auto">
            <a:xfrm>
              <a:off x="505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79" name="Line 34"/>
            <p:cNvSpPr>
              <a:spLocks noChangeShapeType="1"/>
            </p:cNvSpPr>
            <p:nvPr/>
          </p:nvSpPr>
          <p:spPr bwMode="auto">
            <a:xfrm>
              <a:off x="788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80" name="Line 35"/>
            <p:cNvSpPr>
              <a:spLocks noChangeShapeType="1"/>
            </p:cNvSpPr>
            <p:nvPr/>
          </p:nvSpPr>
          <p:spPr bwMode="auto">
            <a:xfrm>
              <a:off x="1072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81" name="Line 36"/>
            <p:cNvSpPr>
              <a:spLocks noChangeShapeType="1"/>
            </p:cNvSpPr>
            <p:nvPr/>
          </p:nvSpPr>
          <p:spPr bwMode="auto">
            <a:xfrm>
              <a:off x="1357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82" name="Line 37"/>
            <p:cNvSpPr>
              <a:spLocks noChangeShapeType="1"/>
            </p:cNvSpPr>
            <p:nvPr/>
          </p:nvSpPr>
          <p:spPr bwMode="auto">
            <a:xfrm>
              <a:off x="1641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83" name="Line 38"/>
            <p:cNvSpPr>
              <a:spLocks noChangeShapeType="1"/>
            </p:cNvSpPr>
            <p:nvPr/>
          </p:nvSpPr>
          <p:spPr bwMode="auto">
            <a:xfrm>
              <a:off x="1924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84" name="Line 39"/>
            <p:cNvSpPr>
              <a:spLocks noChangeShapeType="1"/>
            </p:cNvSpPr>
            <p:nvPr/>
          </p:nvSpPr>
          <p:spPr bwMode="auto">
            <a:xfrm>
              <a:off x="2208" y="912"/>
              <a:ext cx="0" cy="26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</p:grpSp>
      <p:sp>
        <p:nvSpPr>
          <p:cNvPr id="232488" name="Oval 40"/>
          <p:cNvSpPr>
            <a:spLocks noChangeArrowheads="1"/>
          </p:cNvSpPr>
          <p:nvPr/>
        </p:nvSpPr>
        <p:spPr bwMode="auto">
          <a:xfrm>
            <a:off x="2309813" y="2044700"/>
            <a:ext cx="425450" cy="393700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41"/>
          <p:cNvGrpSpPr>
            <a:grpSpLocks/>
          </p:cNvGrpSpPr>
          <p:nvPr/>
        </p:nvGrpSpPr>
        <p:grpSpPr bwMode="auto">
          <a:xfrm>
            <a:off x="504825" y="2693988"/>
            <a:ext cx="3154363" cy="423862"/>
            <a:chOff x="221" y="912"/>
            <a:chExt cx="1987" cy="267"/>
          </a:xfrm>
        </p:grpSpPr>
        <p:sp>
          <p:nvSpPr>
            <p:cNvPr id="104551" name="Rectangle 42"/>
            <p:cNvSpPr>
              <a:spLocks noChangeArrowheads="1"/>
            </p:cNvSpPr>
            <p:nvPr/>
          </p:nvSpPr>
          <p:spPr bwMode="auto">
            <a:xfrm>
              <a:off x="1924" y="912"/>
              <a:ext cx="284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8</a:t>
              </a:r>
            </a:p>
          </p:txBody>
        </p:sp>
        <p:sp>
          <p:nvSpPr>
            <p:cNvPr id="104552" name="Rectangle 43"/>
            <p:cNvSpPr>
              <a:spLocks noChangeArrowheads="1"/>
            </p:cNvSpPr>
            <p:nvPr/>
          </p:nvSpPr>
          <p:spPr bwMode="auto">
            <a:xfrm>
              <a:off x="1641" y="912"/>
              <a:ext cx="283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104553" name="Rectangle 44"/>
            <p:cNvSpPr>
              <a:spLocks noChangeArrowheads="1"/>
            </p:cNvSpPr>
            <p:nvPr/>
          </p:nvSpPr>
          <p:spPr bwMode="auto">
            <a:xfrm>
              <a:off x="1357" y="912"/>
              <a:ext cx="284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4</a:t>
              </a:r>
            </a:p>
          </p:txBody>
        </p:sp>
        <p:sp>
          <p:nvSpPr>
            <p:cNvPr id="104554" name="Rectangle 45"/>
            <p:cNvSpPr>
              <a:spLocks noChangeArrowheads="1"/>
            </p:cNvSpPr>
            <p:nvPr/>
          </p:nvSpPr>
          <p:spPr bwMode="auto">
            <a:xfrm>
              <a:off x="1072" y="912"/>
              <a:ext cx="285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9</a:t>
              </a:r>
            </a:p>
          </p:txBody>
        </p:sp>
        <p:sp>
          <p:nvSpPr>
            <p:cNvPr id="104555" name="Rectangle 46"/>
            <p:cNvSpPr>
              <a:spLocks noChangeArrowheads="1"/>
            </p:cNvSpPr>
            <p:nvPr/>
          </p:nvSpPr>
          <p:spPr bwMode="auto">
            <a:xfrm>
              <a:off x="788" y="912"/>
              <a:ext cx="284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6</a:t>
              </a:r>
            </a:p>
          </p:txBody>
        </p:sp>
        <p:sp>
          <p:nvSpPr>
            <p:cNvPr id="104556" name="Rectangle 47"/>
            <p:cNvSpPr>
              <a:spLocks noChangeArrowheads="1"/>
            </p:cNvSpPr>
            <p:nvPr/>
          </p:nvSpPr>
          <p:spPr bwMode="auto">
            <a:xfrm>
              <a:off x="505" y="912"/>
              <a:ext cx="283" cy="267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104557" name="Rectangle 48"/>
            <p:cNvSpPr>
              <a:spLocks noChangeArrowheads="1"/>
            </p:cNvSpPr>
            <p:nvPr/>
          </p:nvSpPr>
          <p:spPr bwMode="auto">
            <a:xfrm>
              <a:off x="221" y="912"/>
              <a:ext cx="284" cy="267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104558" name="Line 49"/>
            <p:cNvSpPr>
              <a:spLocks noChangeShapeType="1"/>
            </p:cNvSpPr>
            <p:nvPr/>
          </p:nvSpPr>
          <p:spPr bwMode="auto">
            <a:xfrm>
              <a:off x="221" y="912"/>
              <a:ext cx="1987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59" name="Line 50"/>
            <p:cNvSpPr>
              <a:spLocks noChangeShapeType="1"/>
            </p:cNvSpPr>
            <p:nvPr/>
          </p:nvSpPr>
          <p:spPr bwMode="auto">
            <a:xfrm>
              <a:off x="221" y="1179"/>
              <a:ext cx="1987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60" name="Line 51"/>
            <p:cNvSpPr>
              <a:spLocks noChangeShapeType="1"/>
            </p:cNvSpPr>
            <p:nvPr/>
          </p:nvSpPr>
          <p:spPr bwMode="auto">
            <a:xfrm>
              <a:off x="221" y="912"/>
              <a:ext cx="0" cy="26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61" name="Line 52"/>
            <p:cNvSpPr>
              <a:spLocks noChangeShapeType="1"/>
            </p:cNvSpPr>
            <p:nvPr/>
          </p:nvSpPr>
          <p:spPr bwMode="auto">
            <a:xfrm>
              <a:off x="505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62" name="Line 53"/>
            <p:cNvSpPr>
              <a:spLocks noChangeShapeType="1"/>
            </p:cNvSpPr>
            <p:nvPr/>
          </p:nvSpPr>
          <p:spPr bwMode="auto">
            <a:xfrm>
              <a:off x="788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63" name="Line 54"/>
            <p:cNvSpPr>
              <a:spLocks noChangeShapeType="1"/>
            </p:cNvSpPr>
            <p:nvPr/>
          </p:nvSpPr>
          <p:spPr bwMode="auto">
            <a:xfrm>
              <a:off x="1072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64" name="Line 55"/>
            <p:cNvSpPr>
              <a:spLocks noChangeShapeType="1"/>
            </p:cNvSpPr>
            <p:nvPr/>
          </p:nvSpPr>
          <p:spPr bwMode="auto">
            <a:xfrm>
              <a:off x="1357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65" name="Line 56"/>
            <p:cNvSpPr>
              <a:spLocks noChangeShapeType="1"/>
            </p:cNvSpPr>
            <p:nvPr/>
          </p:nvSpPr>
          <p:spPr bwMode="auto">
            <a:xfrm>
              <a:off x="1641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66" name="Line 57"/>
            <p:cNvSpPr>
              <a:spLocks noChangeShapeType="1"/>
            </p:cNvSpPr>
            <p:nvPr/>
          </p:nvSpPr>
          <p:spPr bwMode="auto">
            <a:xfrm>
              <a:off x="1924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67" name="Line 58"/>
            <p:cNvSpPr>
              <a:spLocks noChangeShapeType="1"/>
            </p:cNvSpPr>
            <p:nvPr/>
          </p:nvSpPr>
          <p:spPr bwMode="auto">
            <a:xfrm>
              <a:off x="2208" y="912"/>
              <a:ext cx="0" cy="26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</p:grpSp>
      <p:sp>
        <p:nvSpPr>
          <p:cNvPr id="232507" name="Oval 59"/>
          <p:cNvSpPr>
            <a:spLocks noChangeArrowheads="1"/>
          </p:cNvSpPr>
          <p:nvPr/>
        </p:nvSpPr>
        <p:spPr bwMode="auto">
          <a:xfrm>
            <a:off x="2765425" y="2700338"/>
            <a:ext cx="425450" cy="393700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504825" y="3367088"/>
            <a:ext cx="3154363" cy="423862"/>
            <a:chOff x="221" y="912"/>
            <a:chExt cx="1987" cy="267"/>
          </a:xfrm>
        </p:grpSpPr>
        <p:sp>
          <p:nvSpPr>
            <p:cNvPr id="104534" name="Rectangle 61"/>
            <p:cNvSpPr>
              <a:spLocks noChangeArrowheads="1"/>
            </p:cNvSpPr>
            <p:nvPr/>
          </p:nvSpPr>
          <p:spPr bwMode="auto">
            <a:xfrm>
              <a:off x="1924" y="912"/>
              <a:ext cx="284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8</a:t>
              </a:r>
            </a:p>
          </p:txBody>
        </p:sp>
        <p:sp>
          <p:nvSpPr>
            <p:cNvPr id="104535" name="Rectangle 62"/>
            <p:cNvSpPr>
              <a:spLocks noChangeArrowheads="1"/>
            </p:cNvSpPr>
            <p:nvPr/>
          </p:nvSpPr>
          <p:spPr bwMode="auto">
            <a:xfrm>
              <a:off x="1641" y="912"/>
              <a:ext cx="283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6</a:t>
              </a:r>
            </a:p>
          </p:txBody>
        </p:sp>
        <p:sp>
          <p:nvSpPr>
            <p:cNvPr id="104536" name="Rectangle 63"/>
            <p:cNvSpPr>
              <a:spLocks noChangeArrowheads="1"/>
            </p:cNvSpPr>
            <p:nvPr/>
          </p:nvSpPr>
          <p:spPr bwMode="auto">
            <a:xfrm>
              <a:off x="1357" y="912"/>
              <a:ext cx="284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4</a:t>
              </a:r>
            </a:p>
          </p:txBody>
        </p:sp>
        <p:sp>
          <p:nvSpPr>
            <p:cNvPr id="104537" name="Rectangle 64"/>
            <p:cNvSpPr>
              <a:spLocks noChangeArrowheads="1"/>
            </p:cNvSpPr>
            <p:nvPr/>
          </p:nvSpPr>
          <p:spPr bwMode="auto">
            <a:xfrm>
              <a:off x="1072" y="912"/>
              <a:ext cx="285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9</a:t>
              </a:r>
            </a:p>
          </p:txBody>
        </p:sp>
        <p:sp>
          <p:nvSpPr>
            <p:cNvPr id="104538" name="Rectangle 65"/>
            <p:cNvSpPr>
              <a:spLocks noChangeArrowheads="1"/>
            </p:cNvSpPr>
            <p:nvPr/>
          </p:nvSpPr>
          <p:spPr bwMode="auto">
            <a:xfrm>
              <a:off x="788" y="912"/>
              <a:ext cx="284" cy="267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104539" name="Rectangle 66"/>
            <p:cNvSpPr>
              <a:spLocks noChangeArrowheads="1"/>
            </p:cNvSpPr>
            <p:nvPr/>
          </p:nvSpPr>
          <p:spPr bwMode="auto">
            <a:xfrm>
              <a:off x="505" y="912"/>
              <a:ext cx="283" cy="267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104540" name="Rectangle 67"/>
            <p:cNvSpPr>
              <a:spLocks noChangeArrowheads="1"/>
            </p:cNvSpPr>
            <p:nvPr/>
          </p:nvSpPr>
          <p:spPr bwMode="auto">
            <a:xfrm>
              <a:off x="221" y="912"/>
              <a:ext cx="284" cy="267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104541" name="Line 68"/>
            <p:cNvSpPr>
              <a:spLocks noChangeShapeType="1"/>
            </p:cNvSpPr>
            <p:nvPr/>
          </p:nvSpPr>
          <p:spPr bwMode="auto">
            <a:xfrm>
              <a:off x="221" y="912"/>
              <a:ext cx="1987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42" name="Line 69"/>
            <p:cNvSpPr>
              <a:spLocks noChangeShapeType="1"/>
            </p:cNvSpPr>
            <p:nvPr/>
          </p:nvSpPr>
          <p:spPr bwMode="auto">
            <a:xfrm>
              <a:off x="221" y="1179"/>
              <a:ext cx="1987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43" name="Line 70"/>
            <p:cNvSpPr>
              <a:spLocks noChangeShapeType="1"/>
            </p:cNvSpPr>
            <p:nvPr/>
          </p:nvSpPr>
          <p:spPr bwMode="auto">
            <a:xfrm>
              <a:off x="221" y="912"/>
              <a:ext cx="0" cy="26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44" name="Line 71"/>
            <p:cNvSpPr>
              <a:spLocks noChangeShapeType="1"/>
            </p:cNvSpPr>
            <p:nvPr/>
          </p:nvSpPr>
          <p:spPr bwMode="auto">
            <a:xfrm>
              <a:off x="505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45" name="Line 72"/>
            <p:cNvSpPr>
              <a:spLocks noChangeShapeType="1"/>
            </p:cNvSpPr>
            <p:nvPr/>
          </p:nvSpPr>
          <p:spPr bwMode="auto">
            <a:xfrm>
              <a:off x="788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46" name="Line 73"/>
            <p:cNvSpPr>
              <a:spLocks noChangeShapeType="1"/>
            </p:cNvSpPr>
            <p:nvPr/>
          </p:nvSpPr>
          <p:spPr bwMode="auto">
            <a:xfrm>
              <a:off x="1072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47" name="Line 74"/>
            <p:cNvSpPr>
              <a:spLocks noChangeShapeType="1"/>
            </p:cNvSpPr>
            <p:nvPr/>
          </p:nvSpPr>
          <p:spPr bwMode="auto">
            <a:xfrm>
              <a:off x="1357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48" name="Line 75"/>
            <p:cNvSpPr>
              <a:spLocks noChangeShapeType="1"/>
            </p:cNvSpPr>
            <p:nvPr/>
          </p:nvSpPr>
          <p:spPr bwMode="auto">
            <a:xfrm>
              <a:off x="1641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49" name="Line 76"/>
            <p:cNvSpPr>
              <a:spLocks noChangeShapeType="1"/>
            </p:cNvSpPr>
            <p:nvPr/>
          </p:nvSpPr>
          <p:spPr bwMode="auto">
            <a:xfrm>
              <a:off x="1924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50" name="Line 77"/>
            <p:cNvSpPr>
              <a:spLocks noChangeShapeType="1"/>
            </p:cNvSpPr>
            <p:nvPr/>
          </p:nvSpPr>
          <p:spPr bwMode="auto">
            <a:xfrm>
              <a:off x="2208" y="912"/>
              <a:ext cx="0" cy="26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</p:grpSp>
      <p:sp>
        <p:nvSpPr>
          <p:cNvPr id="232526" name="Oval 78"/>
          <p:cNvSpPr>
            <a:spLocks noChangeArrowheads="1"/>
          </p:cNvSpPr>
          <p:nvPr/>
        </p:nvSpPr>
        <p:spPr bwMode="auto">
          <a:xfrm>
            <a:off x="2312988" y="3371850"/>
            <a:ext cx="425450" cy="393700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79"/>
          <p:cNvGrpSpPr>
            <a:grpSpLocks/>
          </p:cNvGrpSpPr>
          <p:nvPr/>
        </p:nvGrpSpPr>
        <p:grpSpPr bwMode="auto">
          <a:xfrm>
            <a:off x="4856163" y="2032000"/>
            <a:ext cx="3154362" cy="423863"/>
            <a:chOff x="221" y="912"/>
            <a:chExt cx="1987" cy="267"/>
          </a:xfrm>
        </p:grpSpPr>
        <p:sp>
          <p:nvSpPr>
            <p:cNvPr id="104517" name="Rectangle 80"/>
            <p:cNvSpPr>
              <a:spLocks noChangeArrowheads="1"/>
            </p:cNvSpPr>
            <p:nvPr/>
          </p:nvSpPr>
          <p:spPr bwMode="auto">
            <a:xfrm>
              <a:off x="1924" y="912"/>
              <a:ext cx="284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8</a:t>
              </a:r>
            </a:p>
          </p:txBody>
        </p:sp>
        <p:sp>
          <p:nvSpPr>
            <p:cNvPr id="104518" name="Rectangle 81"/>
            <p:cNvSpPr>
              <a:spLocks noChangeArrowheads="1"/>
            </p:cNvSpPr>
            <p:nvPr/>
          </p:nvSpPr>
          <p:spPr bwMode="auto">
            <a:xfrm>
              <a:off x="1641" y="912"/>
              <a:ext cx="283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9</a:t>
              </a:r>
            </a:p>
          </p:txBody>
        </p:sp>
        <p:sp>
          <p:nvSpPr>
            <p:cNvPr id="104519" name="Rectangle 82"/>
            <p:cNvSpPr>
              <a:spLocks noChangeArrowheads="1"/>
            </p:cNvSpPr>
            <p:nvPr/>
          </p:nvSpPr>
          <p:spPr bwMode="auto">
            <a:xfrm>
              <a:off x="1357" y="912"/>
              <a:ext cx="284" cy="267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6</a:t>
              </a:r>
            </a:p>
          </p:txBody>
        </p:sp>
        <p:sp>
          <p:nvSpPr>
            <p:cNvPr id="104520" name="Rectangle 83"/>
            <p:cNvSpPr>
              <a:spLocks noChangeArrowheads="1"/>
            </p:cNvSpPr>
            <p:nvPr/>
          </p:nvSpPr>
          <p:spPr bwMode="auto">
            <a:xfrm>
              <a:off x="1072" y="912"/>
              <a:ext cx="285" cy="267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4</a:t>
              </a:r>
            </a:p>
          </p:txBody>
        </p:sp>
        <p:sp>
          <p:nvSpPr>
            <p:cNvPr id="104521" name="Rectangle 84"/>
            <p:cNvSpPr>
              <a:spLocks noChangeArrowheads="1"/>
            </p:cNvSpPr>
            <p:nvPr/>
          </p:nvSpPr>
          <p:spPr bwMode="auto">
            <a:xfrm>
              <a:off x="788" y="912"/>
              <a:ext cx="284" cy="267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104522" name="Rectangle 85"/>
            <p:cNvSpPr>
              <a:spLocks noChangeArrowheads="1"/>
            </p:cNvSpPr>
            <p:nvPr/>
          </p:nvSpPr>
          <p:spPr bwMode="auto">
            <a:xfrm>
              <a:off x="505" y="912"/>
              <a:ext cx="283" cy="267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104523" name="Rectangle 86"/>
            <p:cNvSpPr>
              <a:spLocks noChangeArrowheads="1"/>
            </p:cNvSpPr>
            <p:nvPr/>
          </p:nvSpPr>
          <p:spPr bwMode="auto">
            <a:xfrm>
              <a:off x="221" y="912"/>
              <a:ext cx="284" cy="267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104524" name="Line 87"/>
            <p:cNvSpPr>
              <a:spLocks noChangeShapeType="1"/>
            </p:cNvSpPr>
            <p:nvPr/>
          </p:nvSpPr>
          <p:spPr bwMode="auto">
            <a:xfrm>
              <a:off x="221" y="912"/>
              <a:ext cx="1987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25" name="Line 88"/>
            <p:cNvSpPr>
              <a:spLocks noChangeShapeType="1"/>
            </p:cNvSpPr>
            <p:nvPr/>
          </p:nvSpPr>
          <p:spPr bwMode="auto">
            <a:xfrm>
              <a:off x="221" y="1179"/>
              <a:ext cx="1987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26" name="Line 89"/>
            <p:cNvSpPr>
              <a:spLocks noChangeShapeType="1"/>
            </p:cNvSpPr>
            <p:nvPr/>
          </p:nvSpPr>
          <p:spPr bwMode="auto">
            <a:xfrm>
              <a:off x="221" y="912"/>
              <a:ext cx="0" cy="26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27" name="Line 90"/>
            <p:cNvSpPr>
              <a:spLocks noChangeShapeType="1"/>
            </p:cNvSpPr>
            <p:nvPr/>
          </p:nvSpPr>
          <p:spPr bwMode="auto">
            <a:xfrm>
              <a:off x="505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28" name="Line 91"/>
            <p:cNvSpPr>
              <a:spLocks noChangeShapeType="1"/>
            </p:cNvSpPr>
            <p:nvPr/>
          </p:nvSpPr>
          <p:spPr bwMode="auto">
            <a:xfrm>
              <a:off x="788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29" name="Line 92"/>
            <p:cNvSpPr>
              <a:spLocks noChangeShapeType="1"/>
            </p:cNvSpPr>
            <p:nvPr/>
          </p:nvSpPr>
          <p:spPr bwMode="auto">
            <a:xfrm>
              <a:off x="1072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30" name="Line 93"/>
            <p:cNvSpPr>
              <a:spLocks noChangeShapeType="1"/>
            </p:cNvSpPr>
            <p:nvPr/>
          </p:nvSpPr>
          <p:spPr bwMode="auto">
            <a:xfrm>
              <a:off x="1357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31" name="Line 94"/>
            <p:cNvSpPr>
              <a:spLocks noChangeShapeType="1"/>
            </p:cNvSpPr>
            <p:nvPr/>
          </p:nvSpPr>
          <p:spPr bwMode="auto">
            <a:xfrm>
              <a:off x="1641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32" name="Line 95"/>
            <p:cNvSpPr>
              <a:spLocks noChangeShapeType="1"/>
            </p:cNvSpPr>
            <p:nvPr/>
          </p:nvSpPr>
          <p:spPr bwMode="auto">
            <a:xfrm>
              <a:off x="1924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33" name="Line 96"/>
            <p:cNvSpPr>
              <a:spLocks noChangeShapeType="1"/>
            </p:cNvSpPr>
            <p:nvPr/>
          </p:nvSpPr>
          <p:spPr bwMode="auto">
            <a:xfrm>
              <a:off x="2208" y="912"/>
              <a:ext cx="0" cy="26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</p:grpSp>
      <p:sp>
        <p:nvSpPr>
          <p:cNvPr id="232545" name="Oval 97"/>
          <p:cNvSpPr>
            <a:spLocks noChangeArrowheads="1"/>
          </p:cNvSpPr>
          <p:nvPr/>
        </p:nvSpPr>
        <p:spPr bwMode="auto">
          <a:xfrm>
            <a:off x="7115175" y="1387475"/>
            <a:ext cx="425450" cy="393700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2546" name="Oval 98"/>
          <p:cNvSpPr>
            <a:spLocks noChangeArrowheads="1"/>
          </p:cNvSpPr>
          <p:nvPr/>
        </p:nvSpPr>
        <p:spPr bwMode="auto">
          <a:xfrm>
            <a:off x="7583488" y="2055813"/>
            <a:ext cx="425450" cy="393700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99"/>
          <p:cNvGrpSpPr>
            <a:grpSpLocks/>
          </p:cNvGrpSpPr>
          <p:nvPr/>
        </p:nvGrpSpPr>
        <p:grpSpPr bwMode="auto">
          <a:xfrm>
            <a:off x="4856163" y="1379538"/>
            <a:ext cx="3154362" cy="423862"/>
            <a:chOff x="221" y="912"/>
            <a:chExt cx="1987" cy="267"/>
          </a:xfrm>
        </p:grpSpPr>
        <p:sp>
          <p:nvSpPr>
            <p:cNvPr id="104500" name="Rectangle 100"/>
            <p:cNvSpPr>
              <a:spLocks noChangeArrowheads="1"/>
            </p:cNvSpPr>
            <p:nvPr/>
          </p:nvSpPr>
          <p:spPr bwMode="auto">
            <a:xfrm>
              <a:off x="1924" y="912"/>
              <a:ext cx="284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8</a:t>
              </a:r>
            </a:p>
          </p:txBody>
        </p:sp>
        <p:sp>
          <p:nvSpPr>
            <p:cNvPr id="104501" name="Rectangle 101"/>
            <p:cNvSpPr>
              <a:spLocks noChangeArrowheads="1"/>
            </p:cNvSpPr>
            <p:nvPr/>
          </p:nvSpPr>
          <p:spPr bwMode="auto">
            <a:xfrm>
              <a:off x="1641" y="912"/>
              <a:ext cx="283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6</a:t>
              </a:r>
            </a:p>
          </p:txBody>
        </p:sp>
        <p:sp>
          <p:nvSpPr>
            <p:cNvPr id="104502" name="Rectangle 102"/>
            <p:cNvSpPr>
              <a:spLocks noChangeArrowheads="1"/>
            </p:cNvSpPr>
            <p:nvPr/>
          </p:nvSpPr>
          <p:spPr bwMode="auto">
            <a:xfrm>
              <a:off x="1357" y="912"/>
              <a:ext cx="284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9</a:t>
              </a:r>
            </a:p>
          </p:txBody>
        </p:sp>
        <p:sp>
          <p:nvSpPr>
            <p:cNvPr id="104503" name="Rectangle 103"/>
            <p:cNvSpPr>
              <a:spLocks noChangeArrowheads="1"/>
            </p:cNvSpPr>
            <p:nvPr/>
          </p:nvSpPr>
          <p:spPr bwMode="auto">
            <a:xfrm>
              <a:off x="1072" y="912"/>
              <a:ext cx="285" cy="267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4</a:t>
              </a:r>
            </a:p>
          </p:txBody>
        </p:sp>
        <p:sp>
          <p:nvSpPr>
            <p:cNvPr id="104504" name="Rectangle 104"/>
            <p:cNvSpPr>
              <a:spLocks noChangeArrowheads="1"/>
            </p:cNvSpPr>
            <p:nvPr/>
          </p:nvSpPr>
          <p:spPr bwMode="auto">
            <a:xfrm>
              <a:off x="788" y="912"/>
              <a:ext cx="284" cy="267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104505" name="Rectangle 105"/>
            <p:cNvSpPr>
              <a:spLocks noChangeArrowheads="1"/>
            </p:cNvSpPr>
            <p:nvPr/>
          </p:nvSpPr>
          <p:spPr bwMode="auto">
            <a:xfrm>
              <a:off x="505" y="912"/>
              <a:ext cx="283" cy="267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104506" name="Rectangle 106"/>
            <p:cNvSpPr>
              <a:spLocks noChangeArrowheads="1"/>
            </p:cNvSpPr>
            <p:nvPr/>
          </p:nvSpPr>
          <p:spPr bwMode="auto">
            <a:xfrm>
              <a:off x="221" y="912"/>
              <a:ext cx="284" cy="267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104507" name="Line 107"/>
            <p:cNvSpPr>
              <a:spLocks noChangeShapeType="1"/>
            </p:cNvSpPr>
            <p:nvPr/>
          </p:nvSpPr>
          <p:spPr bwMode="auto">
            <a:xfrm>
              <a:off x="221" y="912"/>
              <a:ext cx="1987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08" name="Line 108"/>
            <p:cNvSpPr>
              <a:spLocks noChangeShapeType="1"/>
            </p:cNvSpPr>
            <p:nvPr/>
          </p:nvSpPr>
          <p:spPr bwMode="auto">
            <a:xfrm>
              <a:off x="221" y="1179"/>
              <a:ext cx="1987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09" name="Line 109"/>
            <p:cNvSpPr>
              <a:spLocks noChangeShapeType="1"/>
            </p:cNvSpPr>
            <p:nvPr/>
          </p:nvSpPr>
          <p:spPr bwMode="auto">
            <a:xfrm>
              <a:off x="221" y="912"/>
              <a:ext cx="0" cy="26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10" name="Line 110"/>
            <p:cNvSpPr>
              <a:spLocks noChangeShapeType="1"/>
            </p:cNvSpPr>
            <p:nvPr/>
          </p:nvSpPr>
          <p:spPr bwMode="auto">
            <a:xfrm>
              <a:off x="505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11" name="Line 111"/>
            <p:cNvSpPr>
              <a:spLocks noChangeShapeType="1"/>
            </p:cNvSpPr>
            <p:nvPr/>
          </p:nvSpPr>
          <p:spPr bwMode="auto">
            <a:xfrm>
              <a:off x="788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12" name="Line 112"/>
            <p:cNvSpPr>
              <a:spLocks noChangeShapeType="1"/>
            </p:cNvSpPr>
            <p:nvPr/>
          </p:nvSpPr>
          <p:spPr bwMode="auto">
            <a:xfrm>
              <a:off x="1072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13" name="Line 113"/>
            <p:cNvSpPr>
              <a:spLocks noChangeShapeType="1"/>
            </p:cNvSpPr>
            <p:nvPr/>
          </p:nvSpPr>
          <p:spPr bwMode="auto">
            <a:xfrm>
              <a:off x="1357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14" name="Line 114"/>
            <p:cNvSpPr>
              <a:spLocks noChangeShapeType="1"/>
            </p:cNvSpPr>
            <p:nvPr/>
          </p:nvSpPr>
          <p:spPr bwMode="auto">
            <a:xfrm>
              <a:off x="1641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15" name="Line 115"/>
            <p:cNvSpPr>
              <a:spLocks noChangeShapeType="1"/>
            </p:cNvSpPr>
            <p:nvPr/>
          </p:nvSpPr>
          <p:spPr bwMode="auto">
            <a:xfrm>
              <a:off x="1924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516" name="Line 116"/>
            <p:cNvSpPr>
              <a:spLocks noChangeShapeType="1"/>
            </p:cNvSpPr>
            <p:nvPr/>
          </p:nvSpPr>
          <p:spPr bwMode="auto">
            <a:xfrm>
              <a:off x="2208" y="912"/>
              <a:ext cx="0" cy="26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</p:grpSp>
      <p:grpSp>
        <p:nvGrpSpPr>
          <p:cNvPr id="8" name="Group 117"/>
          <p:cNvGrpSpPr>
            <a:grpSpLocks/>
          </p:cNvGrpSpPr>
          <p:nvPr/>
        </p:nvGrpSpPr>
        <p:grpSpPr bwMode="auto">
          <a:xfrm>
            <a:off x="4856163" y="2693988"/>
            <a:ext cx="3154362" cy="423862"/>
            <a:chOff x="221" y="912"/>
            <a:chExt cx="1987" cy="267"/>
          </a:xfrm>
        </p:grpSpPr>
        <p:sp>
          <p:nvSpPr>
            <p:cNvPr id="104483" name="Rectangle 118"/>
            <p:cNvSpPr>
              <a:spLocks noChangeArrowheads="1"/>
            </p:cNvSpPr>
            <p:nvPr/>
          </p:nvSpPr>
          <p:spPr bwMode="auto">
            <a:xfrm>
              <a:off x="1924" y="912"/>
              <a:ext cx="284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9</a:t>
              </a:r>
            </a:p>
          </p:txBody>
        </p:sp>
        <p:sp>
          <p:nvSpPr>
            <p:cNvPr id="104484" name="Rectangle 119"/>
            <p:cNvSpPr>
              <a:spLocks noChangeArrowheads="1"/>
            </p:cNvSpPr>
            <p:nvPr/>
          </p:nvSpPr>
          <p:spPr bwMode="auto">
            <a:xfrm>
              <a:off x="1641" y="912"/>
              <a:ext cx="283" cy="267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8</a:t>
              </a:r>
            </a:p>
          </p:txBody>
        </p:sp>
        <p:sp>
          <p:nvSpPr>
            <p:cNvPr id="104485" name="Rectangle 120"/>
            <p:cNvSpPr>
              <a:spLocks noChangeArrowheads="1"/>
            </p:cNvSpPr>
            <p:nvPr/>
          </p:nvSpPr>
          <p:spPr bwMode="auto">
            <a:xfrm>
              <a:off x="1357" y="912"/>
              <a:ext cx="284" cy="267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6</a:t>
              </a:r>
            </a:p>
          </p:txBody>
        </p:sp>
        <p:sp>
          <p:nvSpPr>
            <p:cNvPr id="104486" name="Rectangle 121"/>
            <p:cNvSpPr>
              <a:spLocks noChangeArrowheads="1"/>
            </p:cNvSpPr>
            <p:nvPr/>
          </p:nvSpPr>
          <p:spPr bwMode="auto">
            <a:xfrm>
              <a:off x="1072" y="912"/>
              <a:ext cx="285" cy="267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4</a:t>
              </a:r>
            </a:p>
          </p:txBody>
        </p:sp>
        <p:sp>
          <p:nvSpPr>
            <p:cNvPr id="104487" name="Rectangle 122"/>
            <p:cNvSpPr>
              <a:spLocks noChangeArrowheads="1"/>
            </p:cNvSpPr>
            <p:nvPr/>
          </p:nvSpPr>
          <p:spPr bwMode="auto">
            <a:xfrm>
              <a:off x="788" y="912"/>
              <a:ext cx="284" cy="267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104488" name="Rectangle 123"/>
            <p:cNvSpPr>
              <a:spLocks noChangeArrowheads="1"/>
            </p:cNvSpPr>
            <p:nvPr/>
          </p:nvSpPr>
          <p:spPr bwMode="auto">
            <a:xfrm>
              <a:off x="505" y="912"/>
              <a:ext cx="283" cy="267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104489" name="Rectangle 124"/>
            <p:cNvSpPr>
              <a:spLocks noChangeArrowheads="1"/>
            </p:cNvSpPr>
            <p:nvPr/>
          </p:nvSpPr>
          <p:spPr bwMode="auto">
            <a:xfrm>
              <a:off x="221" y="912"/>
              <a:ext cx="284" cy="267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104490" name="Line 125"/>
            <p:cNvSpPr>
              <a:spLocks noChangeShapeType="1"/>
            </p:cNvSpPr>
            <p:nvPr/>
          </p:nvSpPr>
          <p:spPr bwMode="auto">
            <a:xfrm>
              <a:off x="221" y="912"/>
              <a:ext cx="1987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491" name="Line 126"/>
            <p:cNvSpPr>
              <a:spLocks noChangeShapeType="1"/>
            </p:cNvSpPr>
            <p:nvPr/>
          </p:nvSpPr>
          <p:spPr bwMode="auto">
            <a:xfrm>
              <a:off x="221" y="1179"/>
              <a:ext cx="1987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492" name="Line 127"/>
            <p:cNvSpPr>
              <a:spLocks noChangeShapeType="1"/>
            </p:cNvSpPr>
            <p:nvPr/>
          </p:nvSpPr>
          <p:spPr bwMode="auto">
            <a:xfrm>
              <a:off x="221" y="912"/>
              <a:ext cx="0" cy="26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493" name="Line 128"/>
            <p:cNvSpPr>
              <a:spLocks noChangeShapeType="1"/>
            </p:cNvSpPr>
            <p:nvPr/>
          </p:nvSpPr>
          <p:spPr bwMode="auto">
            <a:xfrm>
              <a:off x="505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494" name="Line 129"/>
            <p:cNvSpPr>
              <a:spLocks noChangeShapeType="1"/>
            </p:cNvSpPr>
            <p:nvPr/>
          </p:nvSpPr>
          <p:spPr bwMode="auto">
            <a:xfrm>
              <a:off x="788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495" name="Line 130"/>
            <p:cNvSpPr>
              <a:spLocks noChangeShapeType="1"/>
            </p:cNvSpPr>
            <p:nvPr/>
          </p:nvSpPr>
          <p:spPr bwMode="auto">
            <a:xfrm>
              <a:off x="1072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496" name="Line 131"/>
            <p:cNvSpPr>
              <a:spLocks noChangeShapeType="1"/>
            </p:cNvSpPr>
            <p:nvPr/>
          </p:nvSpPr>
          <p:spPr bwMode="auto">
            <a:xfrm>
              <a:off x="1357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497" name="Line 132"/>
            <p:cNvSpPr>
              <a:spLocks noChangeShapeType="1"/>
            </p:cNvSpPr>
            <p:nvPr/>
          </p:nvSpPr>
          <p:spPr bwMode="auto">
            <a:xfrm>
              <a:off x="1641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498" name="Line 133"/>
            <p:cNvSpPr>
              <a:spLocks noChangeShapeType="1"/>
            </p:cNvSpPr>
            <p:nvPr/>
          </p:nvSpPr>
          <p:spPr bwMode="auto">
            <a:xfrm>
              <a:off x="1924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499" name="Line 134"/>
            <p:cNvSpPr>
              <a:spLocks noChangeShapeType="1"/>
            </p:cNvSpPr>
            <p:nvPr/>
          </p:nvSpPr>
          <p:spPr bwMode="auto">
            <a:xfrm>
              <a:off x="2208" y="912"/>
              <a:ext cx="0" cy="26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</p:grpSp>
      <p:sp>
        <p:nvSpPr>
          <p:cNvPr id="232583" name="Oval 135"/>
          <p:cNvSpPr>
            <a:spLocks noChangeArrowheads="1"/>
          </p:cNvSpPr>
          <p:nvPr/>
        </p:nvSpPr>
        <p:spPr bwMode="auto">
          <a:xfrm>
            <a:off x="7569200" y="2706688"/>
            <a:ext cx="425450" cy="393700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" name="Group 136"/>
          <p:cNvGrpSpPr>
            <a:grpSpLocks/>
          </p:cNvGrpSpPr>
          <p:nvPr/>
        </p:nvGrpSpPr>
        <p:grpSpPr bwMode="auto">
          <a:xfrm>
            <a:off x="4856163" y="3367088"/>
            <a:ext cx="3154362" cy="423862"/>
            <a:chOff x="221" y="912"/>
            <a:chExt cx="1987" cy="267"/>
          </a:xfrm>
        </p:grpSpPr>
        <p:sp>
          <p:nvSpPr>
            <p:cNvPr id="104466" name="Rectangle 137"/>
            <p:cNvSpPr>
              <a:spLocks noChangeArrowheads="1"/>
            </p:cNvSpPr>
            <p:nvPr/>
          </p:nvSpPr>
          <p:spPr bwMode="auto">
            <a:xfrm>
              <a:off x="1924" y="912"/>
              <a:ext cx="284" cy="267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9</a:t>
              </a:r>
            </a:p>
          </p:txBody>
        </p:sp>
        <p:sp>
          <p:nvSpPr>
            <p:cNvPr id="104467" name="Rectangle 138"/>
            <p:cNvSpPr>
              <a:spLocks noChangeArrowheads="1"/>
            </p:cNvSpPr>
            <p:nvPr/>
          </p:nvSpPr>
          <p:spPr bwMode="auto">
            <a:xfrm>
              <a:off x="1641" y="912"/>
              <a:ext cx="283" cy="267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8</a:t>
              </a:r>
            </a:p>
          </p:txBody>
        </p:sp>
        <p:sp>
          <p:nvSpPr>
            <p:cNvPr id="104468" name="Rectangle 139"/>
            <p:cNvSpPr>
              <a:spLocks noChangeArrowheads="1"/>
            </p:cNvSpPr>
            <p:nvPr/>
          </p:nvSpPr>
          <p:spPr bwMode="auto">
            <a:xfrm>
              <a:off x="1357" y="912"/>
              <a:ext cx="284" cy="267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6</a:t>
              </a:r>
            </a:p>
          </p:txBody>
        </p:sp>
        <p:sp>
          <p:nvSpPr>
            <p:cNvPr id="104469" name="Rectangle 140"/>
            <p:cNvSpPr>
              <a:spLocks noChangeArrowheads="1"/>
            </p:cNvSpPr>
            <p:nvPr/>
          </p:nvSpPr>
          <p:spPr bwMode="auto">
            <a:xfrm>
              <a:off x="1072" y="912"/>
              <a:ext cx="285" cy="267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4</a:t>
              </a:r>
            </a:p>
          </p:txBody>
        </p:sp>
        <p:sp>
          <p:nvSpPr>
            <p:cNvPr id="104470" name="Rectangle 141"/>
            <p:cNvSpPr>
              <a:spLocks noChangeArrowheads="1"/>
            </p:cNvSpPr>
            <p:nvPr/>
          </p:nvSpPr>
          <p:spPr bwMode="auto">
            <a:xfrm>
              <a:off x="788" y="912"/>
              <a:ext cx="284" cy="267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104471" name="Rectangle 142"/>
            <p:cNvSpPr>
              <a:spLocks noChangeArrowheads="1"/>
            </p:cNvSpPr>
            <p:nvPr/>
          </p:nvSpPr>
          <p:spPr bwMode="auto">
            <a:xfrm>
              <a:off x="505" y="912"/>
              <a:ext cx="283" cy="267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104472" name="Rectangle 143"/>
            <p:cNvSpPr>
              <a:spLocks noChangeArrowheads="1"/>
            </p:cNvSpPr>
            <p:nvPr/>
          </p:nvSpPr>
          <p:spPr bwMode="auto">
            <a:xfrm>
              <a:off x="221" y="912"/>
              <a:ext cx="284" cy="267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104473" name="Line 144"/>
            <p:cNvSpPr>
              <a:spLocks noChangeShapeType="1"/>
            </p:cNvSpPr>
            <p:nvPr/>
          </p:nvSpPr>
          <p:spPr bwMode="auto">
            <a:xfrm>
              <a:off x="221" y="912"/>
              <a:ext cx="1987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474" name="Line 145"/>
            <p:cNvSpPr>
              <a:spLocks noChangeShapeType="1"/>
            </p:cNvSpPr>
            <p:nvPr/>
          </p:nvSpPr>
          <p:spPr bwMode="auto">
            <a:xfrm>
              <a:off x="221" y="1179"/>
              <a:ext cx="1987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475" name="Line 146"/>
            <p:cNvSpPr>
              <a:spLocks noChangeShapeType="1"/>
            </p:cNvSpPr>
            <p:nvPr/>
          </p:nvSpPr>
          <p:spPr bwMode="auto">
            <a:xfrm>
              <a:off x="221" y="912"/>
              <a:ext cx="0" cy="26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476" name="Line 147"/>
            <p:cNvSpPr>
              <a:spLocks noChangeShapeType="1"/>
            </p:cNvSpPr>
            <p:nvPr/>
          </p:nvSpPr>
          <p:spPr bwMode="auto">
            <a:xfrm>
              <a:off x="505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477" name="Line 148"/>
            <p:cNvSpPr>
              <a:spLocks noChangeShapeType="1"/>
            </p:cNvSpPr>
            <p:nvPr/>
          </p:nvSpPr>
          <p:spPr bwMode="auto">
            <a:xfrm>
              <a:off x="788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478" name="Line 149"/>
            <p:cNvSpPr>
              <a:spLocks noChangeShapeType="1"/>
            </p:cNvSpPr>
            <p:nvPr/>
          </p:nvSpPr>
          <p:spPr bwMode="auto">
            <a:xfrm>
              <a:off x="1072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479" name="Line 150"/>
            <p:cNvSpPr>
              <a:spLocks noChangeShapeType="1"/>
            </p:cNvSpPr>
            <p:nvPr/>
          </p:nvSpPr>
          <p:spPr bwMode="auto">
            <a:xfrm>
              <a:off x="1357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480" name="Line 151"/>
            <p:cNvSpPr>
              <a:spLocks noChangeShapeType="1"/>
            </p:cNvSpPr>
            <p:nvPr/>
          </p:nvSpPr>
          <p:spPr bwMode="auto">
            <a:xfrm>
              <a:off x="1641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481" name="Line 152"/>
            <p:cNvSpPr>
              <a:spLocks noChangeShapeType="1"/>
            </p:cNvSpPr>
            <p:nvPr/>
          </p:nvSpPr>
          <p:spPr bwMode="auto">
            <a:xfrm>
              <a:off x="1924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4482" name="Line 153"/>
            <p:cNvSpPr>
              <a:spLocks noChangeShapeType="1"/>
            </p:cNvSpPr>
            <p:nvPr/>
          </p:nvSpPr>
          <p:spPr bwMode="auto">
            <a:xfrm>
              <a:off x="2208" y="912"/>
              <a:ext cx="0" cy="26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69" grpId="0" animBg="1"/>
      <p:bldP spid="232488" grpId="0" animBg="1"/>
      <p:bldP spid="232507" grpId="0" animBg="1"/>
      <p:bldP spid="232526" grpId="0" animBg="1"/>
      <p:bldP spid="232545" grpId="0" animBg="1"/>
      <p:bldP spid="232546" grpId="0" animBg="1"/>
      <p:bldP spid="232583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Selection Sort</a:t>
            </a:r>
          </a:p>
        </p:txBody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mtClean="0">
                <a:latin typeface="Monotype Corsiva" pitchFamily="66" charset="0"/>
              </a:rPr>
              <a:t>Alg.:</a:t>
            </a:r>
            <a:r>
              <a:rPr lang="en-US" smtClean="0"/>
              <a:t> SELECTION-SORT</a:t>
            </a:r>
            <a:r>
              <a:rPr lang="en-US" i="1" smtClean="0"/>
              <a:t>(A)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i="1" smtClean="0"/>
              <a:t>	</a:t>
            </a:r>
            <a:r>
              <a:rPr lang="en-US" smtClean="0">
                <a:latin typeface="Comic Sans MS" pitchFamily="66" charset="0"/>
              </a:rPr>
              <a:t>n ← length[A]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b="1" smtClean="0"/>
              <a:t>	for </a:t>
            </a:r>
            <a:r>
              <a:rPr lang="en-US" smtClean="0">
                <a:latin typeface="Comic Sans MS" pitchFamily="66" charset="0"/>
              </a:rPr>
              <a:t>j ← 1</a:t>
            </a:r>
            <a:r>
              <a:rPr lang="en-US" smtClean="0"/>
              <a:t> </a:t>
            </a:r>
            <a:r>
              <a:rPr lang="en-US" b="1" smtClean="0"/>
              <a:t>to </a:t>
            </a:r>
            <a:r>
              <a:rPr lang="en-US" smtClean="0">
                <a:latin typeface="Comic Sans MS" pitchFamily="66" charset="0"/>
              </a:rPr>
              <a:t>n - 1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b="1" smtClean="0"/>
              <a:t>		do </a:t>
            </a:r>
            <a:r>
              <a:rPr lang="en-US" smtClean="0">
                <a:latin typeface="Comic Sans MS" pitchFamily="66" charset="0"/>
              </a:rPr>
              <a:t>smallest</a:t>
            </a:r>
            <a:r>
              <a:rPr lang="en-US" smtClean="0"/>
              <a:t> ← </a:t>
            </a:r>
            <a:r>
              <a:rPr lang="en-US" smtClean="0">
                <a:latin typeface="Comic Sans MS" pitchFamily="66" charset="0"/>
              </a:rPr>
              <a:t>j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b="1" smtClean="0"/>
              <a:t>		      for </a:t>
            </a:r>
            <a:r>
              <a:rPr lang="en-US" smtClean="0">
                <a:latin typeface="Comic Sans MS" pitchFamily="66" charset="0"/>
              </a:rPr>
              <a:t>i ← j + 1</a:t>
            </a:r>
            <a:r>
              <a:rPr lang="en-US" smtClean="0"/>
              <a:t> </a:t>
            </a:r>
            <a:r>
              <a:rPr lang="en-US" b="1" smtClean="0"/>
              <a:t>to </a:t>
            </a:r>
            <a:r>
              <a:rPr lang="en-US" smtClean="0">
                <a:latin typeface="Comic Sans MS" pitchFamily="66" charset="0"/>
              </a:rPr>
              <a:t>n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b="1" smtClean="0"/>
              <a:t>			   do if </a:t>
            </a:r>
            <a:r>
              <a:rPr lang="en-US" smtClean="0">
                <a:latin typeface="Comic Sans MS" pitchFamily="66" charset="0"/>
              </a:rPr>
              <a:t>A[i] &lt; A[smallest]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b="1" smtClean="0"/>
              <a:t>				   then </a:t>
            </a:r>
            <a:r>
              <a:rPr lang="en-US" smtClean="0">
                <a:latin typeface="Comic Sans MS" pitchFamily="66" charset="0"/>
              </a:rPr>
              <a:t>smallest ← i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mtClean="0"/>
              <a:t>		      exchange </a:t>
            </a:r>
            <a:r>
              <a:rPr lang="en-US" smtClean="0">
                <a:latin typeface="Comic Sans MS" pitchFamily="66" charset="0"/>
              </a:rPr>
              <a:t>A[j] ↔ A[smallest]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endParaRPr lang="en-US" smtClean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413375" y="1808163"/>
            <a:ext cx="3154363" cy="423862"/>
            <a:chOff x="221" y="912"/>
            <a:chExt cx="1987" cy="267"/>
          </a:xfrm>
        </p:grpSpPr>
        <p:sp>
          <p:nvSpPr>
            <p:cNvPr id="105478" name="Rectangle 5"/>
            <p:cNvSpPr>
              <a:spLocks noChangeArrowheads="1"/>
            </p:cNvSpPr>
            <p:nvPr/>
          </p:nvSpPr>
          <p:spPr bwMode="auto">
            <a:xfrm>
              <a:off x="1924" y="912"/>
              <a:ext cx="284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105479" name="Rectangle 6"/>
            <p:cNvSpPr>
              <a:spLocks noChangeArrowheads="1"/>
            </p:cNvSpPr>
            <p:nvPr/>
          </p:nvSpPr>
          <p:spPr bwMode="auto">
            <a:xfrm>
              <a:off x="1641" y="912"/>
              <a:ext cx="283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105480" name="Rectangle 7"/>
            <p:cNvSpPr>
              <a:spLocks noChangeArrowheads="1"/>
            </p:cNvSpPr>
            <p:nvPr/>
          </p:nvSpPr>
          <p:spPr bwMode="auto">
            <a:xfrm>
              <a:off x="1357" y="912"/>
              <a:ext cx="284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105481" name="Rectangle 8"/>
            <p:cNvSpPr>
              <a:spLocks noChangeArrowheads="1"/>
            </p:cNvSpPr>
            <p:nvPr/>
          </p:nvSpPr>
          <p:spPr bwMode="auto">
            <a:xfrm>
              <a:off x="1072" y="912"/>
              <a:ext cx="285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9</a:t>
              </a:r>
            </a:p>
          </p:txBody>
        </p:sp>
        <p:sp>
          <p:nvSpPr>
            <p:cNvPr id="105482" name="Rectangle 9"/>
            <p:cNvSpPr>
              <a:spLocks noChangeArrowheads="1"/>
            </p:cNvSpPr>
            <p:nvPr/>
          </p:nvSpPr>
          <p:spPr bwMode="auto">
            <a:xfrm>
              <a:off x="788" y="912"/>
              <a:ext cx="284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6</a:t>
              </a:r>
            </a:p>
          </p:txBody>
        </p:sp>
        <p:sp>
          <p:nvSpPr>
            <p:cNvPr id="105483" name="Rectangle 10"/>
            <p:cNvSpPr>
              <a:spLocks noChangeArrowheads="1"/>
            </p:cNvSpPr>
            <p:nvPr/>
          </p:nvSpPr>
          <p:spPr bwMode="auto">
            <a:xfrm>
              <a:off x="505" y="912"/>
              <a:ext cx="283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4</a:t>
              </a:r>
            </a:p>
          </p:txBody>
        </p:sp>
        <p:sp>
          <p:nvSpPr>
            <p:cNvPr id="105484" name="Rectangle 11"/>
            <p:cNvSpPr>
              <a:spLocks noChangeArrowheads="1"/>
            </p:cNvSpPr>
            <p:nvPr/>
          </p:nvSpPr>
          <p:spPr bwMode="auto">
            <a:xfrm>
              <a:off x="221" y="912"/>
              <a:ext cx="284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8</a:t>
              </a:r>
            </a:p>
          </p:txBody>
        </p:sp>
        <p:sp>
          <p:nvSpPr>
            <p:cNvPr id="105485" name="Line 12"/>
            <p:cNvSpPr>
              <a:spLocks noChangeShapeType="1"/>
            </p:cNvSpPr>
            <p:nvPr/>
          </p:nvSpPr>
          <p:spPr bwMode="auto">
            <a:xfrm>
              <a:off x="221" y="912"/>
              <a:ext cx="1987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5486" name="Line 13"/>
            <p:cNvSpPr>
              <a:spLocks noChangeShapeType="1"/>
            </p:cNvSpPr>
            <p:nvPr/>
          </p:nvSpPr>
          <p:spPr bwMode="auto">
            <a:xfrm>
              <a:off x="221" y="1179"/>
              <a:ext cx="1987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5487" name="Line 14"/>
            <p:cNvSpPr>
              <a:spLocks noChangeShapeType="1"/>
            </p:cNvSpPr>
            <p:nvPr/>
          </p:nvSpPr>
          <p:spPr bwMode="auto">
            <a:xfrm>
              <a:off x="221" y="912"/>
              <a:ext cx="0" cy="26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5488" name="Line 15"/>
            <p:cNvSpPr>
              <a:spLocks noChangeShapeType="1"/>
            </p:cNvSpPr>
            <p:nvPr/>
          </p:nvSpPr>
          <p:spPr bwMode="auto">
            <a:xfrm>
              <a:off x="505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5489" name="Line 16"/>
            <p:cNvSpPr>
              <a:spLocks noChangeShapeType="1"/>
            </p:cNvSpPr>
            <p:nvPr/>
          </p:nvSpPr>
          <p:spPr bwMode="auto">
            <a:xfrm>
              <a:off x="788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5490" name="Line 17"/>
            <p:cNvSpPr>
              <a:spLocks noChangeShapeType="1"/>
            </p:cNvSpPr>
            <p:nvPr/>
          </p:nvSpPr>
          <p:spPr bwMode="auto">
            <a:xfrm>
              <a:off x="1072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5491" name="Line 18"/>
            <p:cNvSpPr>
              <a:spLocks noChangeShapeType="1"/>
            </p:cNvSpPr>
            <p:nvPr/>
          </p:nvSpPr>
          <p:spPr bwMode="auto">
            <a:xfrm>
              <a:off x="1357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5492" name="Line 19"/>
            <p:cNvSpPr>
              <a:spLocks noChangeShapeType="1"/>
            </p:cNvSpPr>
            <p:nvPr/>
          </p:nvSpPr>
          <p:spPr bwMode="auto">
            <a:xfrm>
              <a:off x="1641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5493" name="Line 20"/>
            <p:cNvSpPr>
              <a:spLocks noChangeShapeType="1"/>
            </p:cNvSpPr>
            <p:nvPr/>
          </p:nvSpPr>
          <p:spPr bwMode="auto">
            <a:xfrm>
              <a:off x="1924" y="912"/>
              <a:ext cx="0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  <p:sp>
          <p:nvSpPr>
            <p:cNvPr id="105494" name="Line 21"/>
            <p:cNvSpPr>
              <a:spLocks noChangeShapeType="1"/>
            </p:cNvSpPr>
            <p:nvPr/>
          </p:nvSpPr>
          <p:spPr bwMode="auto">
            <a:xfrm>
              <a:off x="2208" y="912"/>
              <a:ext cx="0" cy="26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b" anchorCtr="1"/>
            <a:lstStyle/>
            <a:p>
              <a:endParaRPr lang="en-US"/>
            </a:p>
          </p:txBody>
        </p:sp>
      </p:grpSp>
      <p:sp>
        <p:nvSpPr>
          <p:cNvPr id="105477" name="Oval 22"/>
          <p:cNvSpPr>
            <a:spLocks noChangeArrowheads="1"/>
          </p:cNvSpPr>
          <p:nvPr/>
        </p:nvSpPr>
        <p:spPr bwMode="auto">
          <a:xfrm>
            <a:off x="8129588" y="1811338"/>
            <a:ext cx="425450" cy="393700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MergeSort (Example) - 1</a:t>
            </a:r>
          </a:p>
        </p:txBody>
      </p:sp>
      <p:graphicFrame>
        <p:nvGraphicFramePr>
          <p:cNvPr id="11266" name="Object 2"/>
          <p:cNvGraphicFramePr>
            <a:graphicFrameLocks noChangeAspect="1"/>
          </p:cNvGraphicFramePr>
          <p:nvPr/>
        </p:nvGraphicFramePr>
        <p:xfrm>
          <a:off x="1628775" y="1965325"/>
          <a:ext cx="6175375" cy="3597275"/>
        </p:xfrm>
        <a:graphic>
          <a:graphicData uri="http://schemas.openxmlformats.org/presentationml/2006/ole">
            <p:oleObj spid="_x0000_s11266" name="Photo Editor Photo" r:id="rId4" imgW="4723810" imgH="2752381" progId="MSPhotoEd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0" name="Object 2"/>
          <p:cNvGraphicFramePr>
            <a:graphicFrameLocks noChangeAspect="1"/>
          </p:cNvGraphicFramePr>
          <p:nvPr/>
        </p:nvGraphicFramePr>
        <p:xfrm>
          <a:off x="1643063" y="1971675"/>
          <a:ext cx="6200775" cy="3600450"/>
        </p:xfrm>
        <a:graphic>
          <a:graphicData uri="http://schemas.openxmlformats.org/presentationml/2006/ole">
            <p:oleObj spid="_x0000_s12290" name="Photo Editor Photo" r:id="rId4" imgW="4723810" imgH="2742857" progId="MSPhotoEd.3">
              <p:embed/>
            </p:oleObj>
          </a:graphicData>
        </a:graphic>
      </p:graphicFrame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MergeSort (Example) - 2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1643063" y="1984375"/>
          <a:ext cx="6200775" cy="3600450"/>
        </p:xfrm>
        <a:graphic>
          <a:graphicData uri="http://schemas.openxmlformats.org/presentationml/2006/ole">
            <p:oleObj spid="_x0000_s13314" name="Photo Editor Photo" r:id="rId4" imgW="4723810" imgH="2742857" progId="MSPhotoEd.3">
              <p:embed/>
            </p:oleObj>
          </a:graphicData>
        </a:graphic>
      </p:graphicFrame>
      <p:sp>
        <p:nvSpPr>
          <p:cNvPr id="1331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MergeSort (Example) - 3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2"/>
          <p:cNvGraphicFramePr>
            <a:graphicFrameLocks noChangeAspect="1"/>
          </p:cNvGraphicFramePr>
          <p:nvPr/>
        </p:nvGraphicFramePr>
        <p:xfrm>
          <a:off x="1633538" y="1970088"/>
          <a:ext cx="6186487" cy="3600450"/>
        </p:xfrm>
        <a:graphic>
          <a:graphicData uri="http://schemas.openxmlformats.org/presentationml/2006/ole">
            <p:oleObj spid="_x0000_s14338" name="Photo Editor Photo" r:id="rId4" imgW="4715533" imgH="2742857" progId="MSPhotoEd.3">
              <p:embed/>
            </p:oleObj>
          </a:graphicData>
        </a:graphic>
      </p:graphicFrame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MergeSort (Example) - 4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2"/>
          <p:cNvGraphicFramePr>
            <a:graphicFrameLocks noChangeAspect="1"/>
          </p:cNvGraphicFramePr>
          <p:nvPr/>
        </p:nvGraphicFramePr>
        <p:xfrm>
          <a:off x="1643063" y="1970088"/>
          <a:ext cx="6200775" cy="3600450"/>
        </p:xfrm>
        <a:graphic>
          <a:graphicData uri="http://schemas.openxmlformats.org/presentationml/2006/ole">
            <p:oleObj spid="_x0000_s15362" name="Photo Editor Photo" r:id="rId4" imgW="4723810" imgH="2742857" progId="MSPhotoEd.3">
              <p:embed/>
            </p:oleObj>
          </a:graphicData>
        </a:graphic>
      </p:graphicFrame>
      <p:sp>
        <p:nvSpPr>
          <p:cNvPr id="1536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MergeSort (Example) - 5</a:t>
            </a:r>
            <a:endParaRPr lang="en-US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1633538" y="1989138"/>
          <a:ext cx="6203950" cy="3597275"/>
        </p:xfrm>
        <a:graphic>
          <a:graphicData uri="http://schemas.openxmlformats.org/presentationml/2006/ole">
            <p:oleObj spid="_x0000_s16386" name="Photo Editor Photo" r:id="rId4" imgW="4715533" imgH="2734057" progId="MSPhotoEd.3">
              <p:embed/>
            </p:oleObj>
          </a:graphicData>
        </a:graphic>
      </p:graphicFrame>
      <p:sp>
        <p:nvSpPr>
          <p:cNvPr id="1638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MergeSort (Example) - 6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2"/>
          <p:cNvGraphicFramePr>
            <a:graphicFrameLocks noChangeAspect="1"/>
          </p:cNvGraphicFramePr>
          <p:nvPr/>
        </p:nvGraphicFramePr>
        <p:xfrm>
          <a:off x="1644650" y="1984375"/>
          <a:ext cx="6200775" cy="3600450"/>
        </p:xfrm>
        <a:graphic>
          <a:graphicData uri="http://schemas.openxmlformats.org/presentationml/2006/ole">
            <p:oleObj spid="_x0000_s17410" name="Photo Editor Photo" r:id="rId4" imgW="4723810" imgH="2742857" progId="MSPhotoEd.3">
              <p:embed/>
            </p:oleObj>
          </a:graphicData>
        </a:graphic>
      </p:graphicFrame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MergeSort (Example) - 7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2"/>
          <p:cNvGraphicFramePr>
            <a:graphicFrameLocks noChangeAspect="1"/>
          </p:cNvGraphicFramePr>
          <p:nvPr/>
        </p:nvGraphicFramePr>
        <p:xfrm>
          <a:off x="1619250" y="1979613"/>
          <a:ext cx="6229350" cy="3598862"/>
        </p:xfrm>
        <a:graphic>
          <a:graphicData uri="http://schemas.openxmlformats.org/presentationml/2006/ole">
            <p:oleObj spid="_x0000_s18434" name="Photo Editor Photo" r:id="rId4" imgW="4715533" imgH="2723810" progId="MSPhotoEd.3">
              <p:embed/>
            </p:oleObj>
          </a:graphicData>
        </a:graphic>
      </p:graphicFrame>
      <p:sp>
        <p:nvSpPr>
          <p:cNvPr id="1843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MergeSort (Example) - 8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1657350" y="1970088"/>
          <a:ext cx="6200775" cy="3600450"/>
        </p:xfrm>
        <a:graphic>
          <a:graphicData uri="http://schemas.openxmlformats.org/presentationml/2006/ole">
            <p:oleObj spid="_x0000_s19458" name="Photo Editor Photo" r:id="rId4" imgW="4723810" imgH="2742857" progId="MSPhotoEd.3">
              <p:embed/>
            </p:oleObj>
          </a:graphicData>
        </a:graphic>
      </p:graphicFrame>
      <p:sp>
        <p:nvSpPr>
          <p:cNvPr id="1945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MergeSort (Example) - 9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2"/>
          <p:cNvGraphicFramePr>
            <a:graphicFrameLocks noChangeAspect="1"/>
          </p:cNvGraphicFramePr>
          <p:nvPr/>
        </p:nvGraphicFramePr>
        <p:xfrm>
          <a:off x="1643063" y="1990725"/>
          <a:ext cx="6218237" cy="3597275"/>
        </p:xfrm>
        <a:graphic>
          <a:graphicData uri="http://schemas.openxmlformats.org/presentationml/2006/ole">
            <p:oleObj spid="_x0000_s20482" name="Photo Editor Photo" r:id="rId4" imgW="4723810" imgH="2734057" progId="MSPhotoEd.3">
              <p:embed/>
            </p:oleObj>
          </a:graphicData>
        </a:graphic>
      </p:graphicFrame>
      <p:sp>
        <p:nvSpPr>
          <p:cNvPr id="2048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MergeSort (Example) - 10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/>
          <p:cNvGraphicFramePr>
            <a:graphicFrameLocks noChangeAspect="1"/>
          </p:cNvGraphicFramePr>
          <p:nvPr/>
        </p:nvGraphicFramePr>
        <p:xfrm>
          <a:off x="1660525" y="1971675"/>
          <a:ext cx="6186488" cy="3598863"/>
        </p:xfrm>
        <a:graphic>
          <a:graphicData uri="http://schemas.openxmlformats.org/presentationml/2006/ole">
            <p:oleObj spid="_x0000_s21506" name="Photo Editor Photo" r:id="rId4" imgW="5009524" imgH="2914286" progId="MSPhotoEd.3">
              <p:embed/>
            </p:oleObj>
          </a:graphicData>
        </a:graphic>
      </p:graphicFrame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MergeSort (Example) - 11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Object 2"/>
          <p:cNvGraphicFramePr>
            <a:graphicFrameLocks noChangeAspect="1"/>
          </p:cNvGraphicFramePr>
          <p:nvPr/>
        </p:nvGraphicFramePr>
        <p:xfrm>
          <a:off x="1641475" y="1992313"/>
          <a:ext cx="6223000" cy="3602037"/>
        </p:xfrm>
        <a:graphic>
          <a:graphicData uri="http://schemas.openxmlformats.org/presentationml/2006/ole">
            <p:oleObj spid="_x0000_s22530" name="Photo Editor Photo" r:id="rId4" imgW="5020376" imgH="2905531" progId="MSPhotoEd.3">
              <p:embed/>
            </p:oleObj>
          </a:graphicData>
        </a:graphic>
      </p:graphicFrame>
      <p:sp>
        <p:nvSpPr>
          <p:cNvPr id="2253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MergeSort (Example) - 12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2"/>
          <p:cNvGraphicFramePr>
            <a:graphicFrameLocks noChangeAspect="1"/>
          </p:cNvGraphicFramePr>
          <p:nvPr/>
        </p:nvGraphicFramePr>
        <p:xfrm>
          <a:off x="1611313" y="1990725"/>
          <a:ext cx="6223000" cy="3602038"/>
        </p:xfrm>
        <a:graphic>
          <a:graphicData uri="http://schemas.openxmlformats.org/presentationml/2006/ole">
            <p:oleObj spid="_x0000_s23554" name="Photo Editor Photo" r:id="rId4" imgW="5020376" imgH="2905531" progId="MSPhotoEd.3">
              <p:embed/>
            </p:oleObj>
          </a:graphicData>
        </a:graphic>
      </p:graphicFrame>
      <p:sp>
        <p:nvSpPr>
          <p:cNvPr id="2355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MergeSort (Example) - 13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Object 2"/>
          <p:cNvGraphicFramePr>
            <a:graphicFrameLocks noChangeAspect="1"/>
          </p:cNvGraphicFramePr>
          <p:nvPr/>
        </p:nvGraphicFramePr>
        <p:xfrm>
          <a:off x="1625600" y="1976438"/>
          <a:ext cx="6223000" cy="3602037"/>
        </p:xfrm>
        <a:graphic>
          <a:graphicData uri="http://schemas.openxmlformats.org/presentationml/2006/ole">
            <p:oleObj spid="_x0000_s24578" name="Photo Editor Photo" r:id="rId4" imgW="5020376" imgH="2905531" progId="MSPhotoEd.3">
              <p:embed/>
            </p:oleObj>
          </a:graphicData>
        </a:graphic>
      </p:graphicFrame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MergeSort (Example) - 14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2" name="Object 2"/>
          <p:cNvGraphicFramePr>
            <a:graphicFrameLocks noChangeAspect="1"/>
          </p:cNvGraphicFramePr>
          <p:nvPr/>
        </p:nvGraphicFramePr>
        <p:xfrm>
          <a:off x="1617663" y="1985963"/>
          <a:ext cx="6229350" cy="3560762"/>
        </p:xfrm>
        <a:graphic>
          <a:graphicData uri="http://schemas.openxmlformats.org/presentationml/2006/ole">
            <p:oleObj spid="_x0000_s25602" name="Photo Editor Photo" r:id="rId4" imgW="5095238" imgH="2914286" progId="MSPhotoEd.3">
              <p:embed/>
            </p:oleObj>
          </a:graphicData>
        </a:graphic>
      </p:graphicFrame>
      <p:sp>
        <p:nvSpPr>
          <p:cNvPr id="2560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MergeSort (Example) - 15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6" name="Object 2"/>
          <p:cNvGraphicFramePr>
            <a:graphicFrameLocks noChangeAspect="1"/>
          </p:cNvGraphicFramePr>
          <p:nvPr/>
        </p:nvGraphicFramePr>
        <p:xfrm>
          <a:off x="1641475" y="1990725"/>
          <a:ext cx="6186488" cy="3600450"/>
        </p:xfrm>
        <a:graphic>
          <a:graphicData uri="http://schemas.openxmlformats.org/presentationml/2006/ole">
            <p:oleObj spid="_x0000_s26626" name="Photo Editor Photo" r:id="rId4" imgW="4990476" imgH="2905531" progId="MSPhotoEd.3">
              <p:embed/>
            </p:oleObj>
          </a:graphicData>
        </a:graphic>
      </p:graphicFrame>
      <p:sp>
        <p:nvSpPr>
          <p:cNvPr id="2662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MergeSort (Example) - 16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2"/>
          <p:cNvGraphicFramePr>
            <a:graphicFrameLocks noChangeAspect="1"/>
          </p:cNvGraphicFramePr>
          <p:nvPr/>
        </p:nvGraphicFramePr>
        <p:xfrm>
          <a:off x="1646238" y="1976438"/>
          <a:ext cx="6208712" cy="3600450"/>
        </p:xfrm>
        <a:graphic>
          <a:graphicData uri="http://schemas.openxmlformats.org/presentationml/2006/ole">
            <p:oleObj spid="_x0000_s27650" name="Photo Editor Photo" r:id="rId4" imgW="5009524" imgH="2905531" progId="MSPhotoEd.3">
              <p:embed/>
            </p:oleObj>
          </a:graphicData>
        </a:graphic>
      </p:graphicFrame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MergeSort (Example) - 17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4" name="Object 2"/>
          <p:cNvGraphicFramePr>
            <a:graphicFrameLocks noChangeAspect="1"/>
          </p:cNvGraphicFramePr>
          <p:nvPr/>
        </p:nvGraphicFramePr>
        <p:xfrm>
          <a:off x="1616075" y="1976438"/>
          <a:ext cx="6208713" cy="3600450"/>
        </p:xfrm>
        <a:graphic>
          <a:graphicData uri="http://schemas.openxmlformats.org/presentationml/2006/ole">
            <p:oleObj spid="_x0000_s28674" name="Photo Editor Photo" r:id="rId4" imgW="5009524" imgH="2905531" progId="MSPhotoEd.3">
              <p:embed/>
            </p:oleObj>
          </a:graphicData>
        </a:graphic>
      </p:graphicFrame>
      <p:sp>
        <p:nvSpPr>
          <p:cNvPr id="2867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MergeSort (Example) - 18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98" name="Object 2"/>
          <p:cNvGraphicFramePr>
            <a:graphicFrameLocks noChangeAspect="1"/>
          </p:cNvGraphicFramePr>
          <p:nvPr/>
        </p:nvGraphicFramePr>
        <p:xfrm>
          <a:off x="1631950" y="2000250"/>
          <a:ext cx="6208713" cy="3540125"/>
        </p:xfrm>
        <a:graphic>
          <a:graphicData uri="http://schemas.openxmlformats.org/presentationml/2006/ole">
            <p:oleObj spid="_x0000_s29698" name="Photo Editor Photo" r:id="rId4" imgW="5009524" imgH="2857899" progId="MSPhotoEd.3">
              <p:embed/>
            </p:oleObj>
          </a:graphicData>
        </a:graphic>
      </p:graphicFrame>
      <p:sp>
        <p:nvSpPr>
          <p:cNvPr id="2969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MergeSort (Example) - 19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2"/>
          <p:cNvGraphicFramePr>
            <a:graphicFrameLocks noChangeAspect="1"/>
          </p:cNvGraphicFramePr>
          <p:nvPr/>
        </p:nvGraphicFramePr>
        <p:xfrm>
          <a:off x="1616075" y="1966913"/>
          <a:ext cx="6223000" cy="3595687"/>
        </p:xfrm>
        <a:graphic>
          <a:graphicData uri="http://schemas.openxmlformats.org/presentationml/2006/ole">
            <p:oleObj spid="_x0000_s30722" name="Photo Editor Photo" r:id="rId4" imgW="5009524" imgH="2895238" progId="MSPhotoEd.3">
              <p:embed/>
            </p:oleObj>
          </a:graphicData>
        </a:graphic>
      </p:graphicFrame>
      <p:sp>
        <p:nvSpPr>
          <p:cNvPr id="3072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MergeSort (Example) - 20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6" name="Object 2"/>
          <p:cNvGraphicFramePr>
            <a:graphicFrameLocks noChangeAspect="1"/>
          </p:cNvGraphicFramePr>
          <p:nvPr/>
        </p:nvGraphicFramePr>
        <p:xfrm>
          <a:off x="1641475" y="1995488"/>
          <a:ext cx="6186488" cy="3567112"/>
        </p:xfrm>
        <a:graphic>
          <a:graphicData uri="http://schemas.openxmlformats.org/presentationml/2006/ole">
            <p:oleObj spid="_x0000_s31746" name="Photo Editor Photo" r:id="rId4" imgW="5020376" imgH="2895238" progId="MSPhotoEd.3">
              <p:embed/>
            </p:oleObj>
          </a:graphicData>
        </a:graphic>
      </p:graphicFrame>
      <p:sp>
        <p:nvSpPr>
          <p:cNvPr id="3174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MergeSort (Example) - 21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0" name="Object 2"/>
          <p:cNvGraphicFramePr>
            <a:graphicFrameLocks noChangeAspect="1"/>
          </p:cNvGraphicFramePr>
          <p:nvPr/>
        </p:nvGraphicFramePr>
        <p:xfrm>
          <a:off x="1620838" y="1992313"/>
          <a:ext cx="6154737" cy="3575050"/>
        </p:xfrm>
        <a:graphic>
          <a:graphicData uri="http://schemas.openxmlformats.org/presentationml/2006/ole">
            <p:oleObj spid="_x0000_s32770" name="Photo Editor Photo" r:id="rId4" imgW="5001323" imgH="2905531" progId="MSPhotoEd.3">
              <p:embed/>
            </p:oleObj>
          </a:graphicData>
        </a:graphic>
      </p:graphicFrame>
      <p:sp>
        <p:nvSpPr>
          <p:cNvPr id="3277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MergeSort (Example) - 22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ext Box 2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14</a:t>
            </a:r>
          </a:p>
        </p:txBody>
      </p:sp>
      <p:sp>
        <p:nvSpPr>
          <p:cNvPr id="106499" name="Text Box 3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23</a:t>
            </a:r>
          </a:p>
        </p:txBody>
      </p:sp>
      <p:sp>
        <p:nvSpPr>
          <p:cNvPr id="106500" name="Text Box 4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45</a:t>
            </a:r>
          </a:p>
        </p:txBody>
      </p:sp>
      <p:sp>
        <p:nvSpPr>
          <p:cNvPr id="106501" name="Text Box 5"/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98</a:t>
            </a:r>
          </a:p>
        </p:txBody>
      </p:sp>
      <p:sp>
        <p:nvSpPr>
          <p:cNvPr id="106502" name="Text Box 6"/>
          <p:cNvSpPr txBox="1">
            <a:spLocks noChangeArrowheads="1"/>
          </p:cNvSpPr>
          <p:nvPr/>
        </p:nvSpPr>
        <p:spPr bwMode="auto"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algn="ctr" eaLnBrk="0" hangingPunct="0"/>
            <a:r>
              <a:rPr lang="en-US" sz="2400" b="1">
                <a:latin typeface="Courier New" pitchFamily="49" charset="0"/>
              </a:rPr>
              <a:t>6</a:t>
            </a:r>
          </a:p>
        </p:txBody>
      </p:sp>
      <p:sp>
        <p:nvSpPr>
          <p:cNvPr id="106503" name="Text Box 7"/>
          <p:cNvSpPr txBox="1">
            <a:spLocks noChangeArrowheads="1"/>
          </p:cNvSpPr>
          <p:nvPr/>
        </p:nvSpPr>
        <p:spPr bwMode="auto"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33</a:t>
            </a:r>
          </a:p>
        </p:txBody>
      </p:sp>
      <p:sp>
        <p:nvSpPr>
          <p:cNvPr id="106504" name="Text Box 8"/>
          <p:cNvSpPr txBox="1">
            <a:spLocks noChangeArrowheads="1"/>
          </p:cNvSpPr>
          <p:nvPr/>
        </p:nvSpPr>
        <p:spPr bwMode="auto"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42</a:t>
            </a:r>
          </a:p>
        </p:txBody>
      </p:sp>
      <p:sp>
        <p:nvSpPr>
          <p:cNvPr id="106505" name="Text Box 9"/>
          <p:cNvSpPr txBox="1">
            <a:spLocks noChangeArrowheads="1"/>
          </p:cNvSpPr>
          <p:nvPr/>
        </p:nvSpPr>
        <p:spPr bwMode="auto"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67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ext Box 2"/>
          <p:cNvSpPr txBox="1">
            <a:spLocks noChangeArrowheads="1"/>
          </p:cNvSpPr>
          <p:nvPr/>
        </p:nvSpPr>
        <p:spPr bwMode="auto">
          <a:xfrm>
            <a:off x="1692275" y="5905500"/>
            <a:ext cx="588962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sz="2400" b="1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107523" name="Text Box 3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23</a:t>
            </a:r>
          </a:p>
        </p:txBody>
      </p:sp>
      <p:sp>
        <p:nvSpPr>
          <p:cNvPr id="107524" name="Text Box 4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45</a:t>
            </a:r>
          </a:p>
        </p:txBody>
      </p:sp>
      <p:sp>
        <p:nvSpPr>
          <p:cNvPr id="107525" name="Text Box 5"/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98</a:t>
            </a:r>
          </a:p>
        </p:txBody>
      </p:sp>
      <p:sp>
        <p:nvSpPr>
          <p:cNvPr id="107526" name="Text Box 6"/>
          <p:cNvSpPr txBox="1">
            <a:spLocks noChangeArrowheads="1"/>
          </p:cNvSpPr>
          <p:nvPr/>
        </p:nvSpPr>
        <p:spPr bwMode="auto"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33</a:t>
            </a:r>
          </a:p>
        </p:txBody>
      </p:sp>
      <p:sp>
        <p:nvSpPr>
          <p:cNvPr id="107527" name="Text Box 7"/>
          <p:cNvSpPr txBox="1">
            <a:spLocks noChangeArrowheads="1"/>
          </p:cNvSpPr>
          <p:nvPr/>
        </p:nvSpPr>
        <p:spPr bwMode="auto"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42</a:t>
            </a:r>
          </a:p>
        </p:txBody>
      </p:sp>
      <p:sp>
        <p:nvSpPr>
          <p:cNvPr id="107528" name="Text Box 8"/>
          <p:cNvSpPr txBox="1">
            <a:spLocks noChangeArrowheads="1"/>
          </p:cNvSpPr>
          <p:nvPr/>
        </p:nvSpPr>
        <p:spPr bwMode="auto"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67</a:t>
            </a:r>
          </a:p>
        </p:txBody>
      </p:sp>
      <p:sp>
        <p:nvSpPr>
          <p:cNvPr id="107529" name="Text Box 9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14</a:t>
            </a:r>
          </a:p>
        </p:txBody>
      </p:sp>
      <p:sp>
        <p:nvSpPr>
          <p:cNvPr id="107530" name="Text Box 10"/>
          <p:cNvSpPr txBox="1">
            <a:spLocks noChangeArrowheads="1"/>
          </p:cNvSpPr>
          <p:nvPr/>
        </p:nvSpPr>
        <p:spPr bwMode="auto"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algn="ctr" eaLnBrk="0" hangingPunct="0"/>
            <a:r>
              <a:rPr lang="en-US" sz="2400" b="1">
                <a:latin typeface="Courier New" pitchFamily="49" charset="0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ext Box 2"/>
          <p:cNvSpPr txBox="1">
            <a:spLocks noChangeArrowheads="1"/>
          </p:cNvSpPr>
          <p:nvPr/>
        </p:nvSpPr>
        <p:spPr bwMode="auto">
          <a:xfrm>
            <a:off x="1692275" y="5905500"/>
            <a:ext cx="588962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sz="2400" b="1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108547" name="Text Box 3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23</a:t>
            </a:r>
          </a:p>
        </p:txBody>
      </p:sp>
      <p:sp>
        <p:nvSpPr>
          <p:cNvPr id="108548" name="Text Box 4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45</a:t>
            </a:r>
          </a:p>
        </p:txBody>
      </p:sp>
      <p:sp>
        <p:nvSpPr>
          <p:cNvPr id="108549" name="Text Box 5"/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98</a:t>
            </a:r>
          </a:p>
        </p:txBody>
      </p:sp>
      <p:sp>
        <p:nvSpPr>
          <p:cNvPr id="108550" name="Text Box 6"/>
          <p:cNvSpPr txBox="1">
            <a:spLocks noChangeArrowheads="1"/>
          </p:cNvSpPr>
          <p:nvPr/>
        </p:nvSpPr>
        <p:spPr bwMode="auto"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algn="ctr" eaLnBrk="0" hangingPunct="0"/>
            <a:r>
              <a:rPr lang="en-US" sz="2400" b="1">
                <a:latin typeface="Courier New" pitchFamily="49" charset="0"/>
              </a:rPr>
              <a:t>6</a:t>
            </a:r>
          </a:p>
        </p:txBody>
      </p:sp>
      <p:sp>
        <p:nvSpPr>
          <p:cNvPr id="108551" name="Text Box 7"/>
          <p:cNvSpPr txBox="1">
            <a:spLocks noChangeArrowheads="1"/>
          </p:cNvSpPr>
          <p:nvPr/>
        </p:nvSpPr>
        <p:spPr bwMode="auto"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42</a:t>
            </a:r>
          </a:p>
        </p:txBody>
      </p:sp>
      <p:sp>
        <p:nvSpPr>
          <p:cNvPr id="108552" name="Text Box 8"/>
          <p:cNvSpPr txBox="1">
            <a:spLocks noChangeArrowheads="1"/>
          </p:cNvSpPr>
          <p:nvPr/>
        </p:nvSpPr>
        <p:spPr bwMode="auto"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67</a:t>
            </a:r>
          </a:p>
        </p:txBody>
      </p:sp>
      <p:sp>
        <p:nvSpPr>
          <p:cNvPr id="108553" name="Text Box 9"/>
          <p:cNvSpPr txBox="1">
            <a:spLocks noChangeArrowheads="1"/>
          </p:cNvSpPr>
          <p:nvPr/>
        </p:nvSpPr>
        <p:spPr bwMode="auto"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algn="ctr" eaLnBrk="0" hangingPunct="0"/>
            <a:r>
              <a:rPr lang="en-US" sz="2400" b="1">
                <a:latin typeface="Courier New" pitchFamily="49" charset="0"/>
              </a:rPr>
              <a:t>6</a:t>
            </a:r>
          </a:p>
        </p:txBody>
      </p:sp>
      <p:sp>
        <p:nvSpPr>
          <p:cNvPr id="108554" name="Text Box 10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14</a:t>
            </a:r>
          </a:p>
        </p:txBody>
      </p:sp>
      <p:sp>
        <p:nvSpPr>
          <p:cNvPr id="108555" name="Text Box 11"/>
          <p:cNvSpPr txBox="1">
            <a:spLocks noChangeArrowheads="1"/>
          </p:cNvSpPr>
          <p:nvPr/>
        </p:nvSpPr>
        <p:spPr bwMode="auto"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33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ext Box 2"/>
          <p:cNvSpPr txBox="1">
            <a:spLocks noChangeArrowheads="1"/>
          </p:cNvSpPr>
          <p:nvPr/>
        </p:nvSpPr>
        <p:spPr bwMode="auto">
          <a:xfrm>
            <a:off x="1692275" y="5905500"/>
            <a:ext cx="588962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sz="2400" b="1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109571" name="Text Box 3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14</a:t>
            </a:r>
          </a:p>
        </p:txBody>
      </p:sp>
      <p:sp>
        <p:nvSpPr>
          <p:cNvPr id="109572" name="Text Box 4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45</a:t>
            </a:r>
          </a:p>
        </p:txBody>
      </p:sp>
      <p:sp>
        <p:nvSpPr>
          <p:cNvPr id="109573" name="Text Box 5"/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98</a:t>
            </a:r>
          </a:p>
        </p:txBody>
      </p:sp>
      <p:sp>
        <p:nvSpPr>
          <p:cNvPr id="109574" name="Text Box 6"/>
          <p:cNvSpPr txBox="1">
            <a:spLocks noChangeArrowheads="1"/>
          </p:cNvSpPr>
          <p:nvPr/>
        </p:nvSpPr>
        <p:spPr bwMode="auto"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algn="ctr" eaLnBrk="0" hangingPunct="0"/>
            <a:r>
              <a:rPr lang="en-US" sz="2400" b="1">
                <a:latin typeface="Courier New" pitchFamily="49" charset="0"/>
              </a:rPr>
              <a:t>6</a:t>
            </a:r>
          </a:p>
        </p:txBody>
      </p:sp>
      <p:sp>
        <p:nvSpPr>
          <p:cNvPr id="109575" name="Text Box 7"/>
          <p:cNvSpPr txBox="1">
            <a:spLocks noChangeArrowheads="1"/>
          </p:cNvSpPr>
          <p:nvPr/>
        </p:nvSpPr>
        <p:spPr bwMode="auto"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42</a:t>
            </a:r>
          </a:p>
        </p:txBody>
      </p:sp>
      <p:sp>
        <p:nvSpPr>
          <p:cNvPr id="109576" name="Text Box 8"/>
          <p:cNvSpPr txBox="1">
            <a:spLocks noChangeArrowheads="1"/>
          </p:cNvSpPr>
          <p:nvPr/>
        </p:nvSpPr>
        <p:spPr bwMode="auto"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67</a:t>
            </a:r>
          </a:p>
        </p:txBody>
      </p:sp>
      <p:sp>
        <p:nvSpPr>
          <p:cNvPr id="109577" name="Text Box 9"/>
          <p:cNvSpPr txBox="1">
            <a:spLocks noChangeArrowheads="1"/>
          </p:cNvSpPr>
          <p:nvPr/>
        </p:nvSpPr>
        <p:spPr bwMode="auto"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algn="ctr" eaLnBrk="0" hangingPunct="0"/>
            <a:r>
              <a:rPr lang="en-US" sz="2400" b="1">
                <a:latin typeface="Courier New" pitchFamily="49" charset="0"/>
              </a:rPr>
              <a:t>6</a:t>
            </a:r>
          </a:p>
        </p:txBody>
      </p:sp>
      <p:sp>
        <p:nvSpPr>
          <p:cNvPr id="109578" name="Text Box 10"/>
          <p:cNvSpPr txBox="1">
            <a:spLocks noChangeArrowheads="1"/>
          </p:cNvSpPr>
          <p:nvPr/>
        </p:nvSpPr>
        <p:spPr bwMode="auto">
          <a:xfrm>
            <a:off x="282257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14</a:t>
            </a:r>
          </a:p>
        </p:txBody>
      </p:sp>
      <p:sp>
        <p:nvSpPr>
          <p:cNvPr id="109579" name="Text Box 11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23</a:t>
            </a:r>
          </a:p>
        </p:txBody>
      </p:sp>
      <p:sp>
        <p:nvSpPr>
          <p:cNvPr id="109580" name="Text Box 12"/>
          <p:cNvSpPr txBox="1">
            <a:spLocks noChangeArrowheads="1"/>
          </p:cNvSpPr>
          <p:nvPr/>
        </p:nvSpPr>
        <p:spPr bwMode="auto"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33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ext Box 2"/>
          <p:cNvSpPr txBox="1">
            <a:spLocks noChangeArrowheads="1"/>
          </p:cNvSpPr>
          <p:nvPr/>
        </p:nvSpPr>
        <p:spPr bwMode="auto">
          <a:xfrm>
            <a:off x="1692275" y="5905500"/>
            <a:ext cx="588962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sz="2400" b="1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110595" name="Text Box 3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14</a:t>
            </a:r>
          </a:p>
        </p:txBody>
      </p:sp>
      <p:sp>
        <p:nvSpPr>
          <p:cNvPr id="110596" name="Text Box 4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23</a:t>
            </a:r>
          </a:p>
        </p:txBody>
      </p:sp>
      <p:sp>
        <p:nvSpPr>
          <p:cNvPr id="110597" name="Text Box 5"/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98</a:t>
            </a:r>
          </a:p>
        </p:txBody>
      </p:sp>
      <p:sp>
        <p:nvSpPr>
          <p:cNvPr id="110598" name="Text Box 6"/>
          <p:cNvSpPr txBox="1">
            <a:spLocks noChangeArrowheads="1"/>
          </p:cNvSpPr>
          <p:nvPr/>
        </p:nvSpPr>
        <p:spPr bwMode="auto"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algn="ctr" eaLnBrk="0" hangingPunct="0"/>
            <a:r>
              <a:rPr lang="en-US" sz="2400" b="1">
                <a:latin typeface="Courier New" pitchFamily="49" charset="0"/>
              </a:rPr>
              <a:t>6</a:t>
            </a:r>
          </a:p>
        </p:txBody>
      </p:sp>
      <p:sp>
        <p:nvSpPr>
          <p:cNvPr id="110599" name="Text Box 7"/>
          <p:cNvSpPr txBox="1">
            <a:spLocks noChangeArrowheads="1"/>
          </p:cNvSpPr>
          <p:nvPr/>
        </p:nvSpPr>
        <p:spPr bwMode="auto"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42</a:t>
            </a:r>
          </a:p>
        </p:txBody>
      </p:sp>
      <p:sp>
        <p:nvSpPr>
          <p:cNvPr id="110600" name="Text Box 8"/>
          <p:cNvSpPr txBox="1">
            <a:spLocks noChangeArrowheads="1"/>
          </p:cNvSpPr>
          <p:nvPr/>
        </p:nvSpPr>
        <p:spPr bwMode="auto"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67</a:t>
            </a:r>
          </a:p>
        </p:txBody>
      </p:sp>
      <p:sp>
        <p:nvSpPr>
          <p:cNvPr id="110601" name="Text Box 9"/>
          <p:cNvSpPr txBox="1">
            <a:spLocks noChangeArrowheads="1"/>
          </p:cNvSpPr>
          <p:nvPr/>
        </p:nvSpPr>
        <p:spPr bwMode="auto"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algn="ctr" eaLnBrk="0" hangingPunct="0"/>
            <a:r>
              <a:rPr lang="en-US" sz="2400" b="1">
                <a:latin typeface="Courier New" pitchFamily="49" charset="0"/>
              </a:rPr>
              <a:t>6</a:t>
            </a:r>
          </a:p>
        </p:txBody>
      </p:sp>
      <p:sp>
        <p:nvSpPr>
          <p:cNvPr id="110602" name="Text Box 10"/>
          <p:cNvSpPr txBox="1">
            <a:spLocks noChangeArrowheads="1"/>
          </p:cNvSpPr>
          <p:nvPr/>
        </p:nvSpPr>
        <p:spPr bwMode="auto">
          <a:xfrm>
            <a:off x="282257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14</a:t>
            </a:r>
          </a:p>
        </p:txBody>
      </p:sp>
      <p:sp>
        <p:nvSpPr>
          <p:cNvPr id="110603" name="Text Box 11"/>
          <p:cNvSpPr txBox="1">
            <a:spLocks noChangeArrowheads="1"/>
          </p:cNvSpPr>
          <p:nvPr/>
        </p:nvSpPr>
        <p:spPr bwMode="auto">
          <a:xfrm>
            <a:off x="340995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23</a:t>
            </a:r>
          </a:p>
        </p:txBody>
      </p:sp>
      <p:sp>
        <p:nvSpPr>
          <p:cNvPr id="110604" name="Text Box 12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45</a:t>
            </a:r>
          </a:p>
        </p:txBody>
      </p:sp>
      <p:sp>
        <p:nvSpPr>
          <p:cNvPr id="110605" name="Text Box 13"/>
          <p:cNvSpPr txBox="1">
            <a:spLocks noChangeArrowheads="1"/>
          </p:cNvSpPr>
          <p:nvPr/>
        </p:nvSpPr>
        <p:spPr bwMode="auto"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33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Text Box 2"/>
          <p:cNvSpPr txBox="1">
            <a:spLocks noChangeArrowheads="1"/>
          </p:cNvSpPr>
          <p:nvPr/>
        </p:nvSpPr>
        <p:spPr bwMode="auto">
          <a:xfrm>
            <a:off x="1692275" y="5905500"/>
            <a:ext cx="588962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sz="2400" b="1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111619" name="Text Box 3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14</a:t>
            </a:r>
          </a:p>
        </p:txBody>
      </p:sp>
      <p:sp>
        <p:nvSpPr>
          <p:cNvPr id="111620" name="Text Box 4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23</a:t>
            </a:r>
          </a:p>
        </p:txBody>
      </p:sp>
      <p:sp>
        <p:nvSpPr>
          <p:cNvPr id="111621" name="Text Box 5"/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98</a:t>
            </a:r>
          </a:p>
        </p:txBody>
      </p:sp>
      <p:sp>
        <p:nvSpPr>
          <p:cNvPr id="111622" name="Text Box 6"/>
          <p:cNvSpPr txBox="1">
            <a:spLocks noChangeArrowheads="1"/>
          </p:cNvSpPr>
          <p:nvPr/>
        </p:nvSpPr>
        <p:spPr bwMode="auto"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algn="ctr" eaLnBrk="0" hangingPunct="0"/>
            <a:r>
              <a:rPr lang="en-US" sz="2400" b="1">
                <a:latin typeface="Courier New" pitchFamily="49" charset="0"/>
              </a:rPr>
              <a:t>6</a:t>
            </a:r>
          </a:p>
        </p:txBody>
      </p:sp>
      <p:sp>
        <p:nvSpPr>
          <p:cNvPr id="111623" name="Text Box 7"/>
          <p:cNvSpPr txBox="1">
            <a:spLocks noChangeArrowheads="1"/>
          </p:cNvSpPr>
          <p:nvPr/>
        </p:nvSpPr>
        <p:spPr bwMode="auto"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33</a:t>
            </a:r>
          </a:p>
        </p:txBody>
      </p:sp>
      <p:sp>
        <p:nvSpPr>
          <p:cNvPr id="111624" name="Text Box 8"/>
          <p:cNvSpPr txBox="1">
            <a:spLocks noChangeArrowheads="1"/>
          </p:cNvSpPr>
          <p:nvPr/>
        </p:nvSpPr>
        <p:spPr bwMode="auto"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67</a:t>
            </a:r>
          </a:p>
        </p:txBody>
      </p:sp>
      <p:sp>
        <p:nvSpPr>
          <p:cNvPr id="111625" name="Text Box 9"/>
          <p:cNvSpPr txBox="1">
            <a:spLocks noChangeArrowheads="1"/>
          </p:cNvSpPr>
          <p:nvPr/>
        </p:nvSpPr>
        <p:spPr bwMode="auto"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algn="ctr" eaLnBrk="0" hangingPunct="0"/>
            <a:r>
              <a:rPr lang="en-US" sz="2400" b="1">
                <a:latin typeface="Courier New" pitchFamily="49" charset="0"/>
              </a:rPr>
              <a:t>6</a:t>
            </a:r>
          </a:p>
        </p:txBody>
      </p:sp>
      <p:sp>
        <p:nvSpPr>
          <p:cNvPr id="111626" name="Text Box 10"/>
          <p:cNvSpPr txBox="1">
            <a:spLocks noChangeArrowheads="1"/>
          </p:cNvSpPr>
          <p:nvPr/>
        </p:nvSpPr>
        <p:spPr bwMode="auto">
          <a:xfrm>
            <a:off x="282257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14</a:t>
            </a:r>
          </a:p>
        </p:txBody>
      </p:sp>
      <p:sp>
        <p:nvSpPr>
          <p:cNvPr id="111627" name="Text Box 11"/>
          <p:cNvSpPr txBox="1">
            <a:spLocks noChangeArrowheads="1"/>
          </p:cNvSpPr>
          <p:nvPr/>
        </p:nvSpPr>
        <p:spPr bwMode="auto">
          <a:xfrm>
            <a:off x="340995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23</a:t>
            </a:r>
          </a:p>
        </p:txBody>
      </p:sp>
      <p:sp>
        <p:nvSpPr>
          <p:cNvPr id="111628" name="Text Box 12"/>
          <p:cNvSpPr txBox="1">
            <a:spLocks noChangeArrowheads="1"/>
          </p:cNvSpPr>
          <p:nvPr/>
        </p:nvSpPr>
        <p:spPr bwMode="auto">
          <a:xfrm>
            <a:off x="39973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33</a:t>
            </a:r>
          </a:p>
        </p:txBody>
      </p:sp>
      <p:sp>
        <p:nvSpPr>
          <p:cNvPr id="111629" name="Text Box 13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45</a:t>
            </a:r>
          </a:p>
        </p:txBody>
      </p:sp>
      <p:sp>
        <p:nvSpPr>
          <p:cNvPr id="111630" name="Text Box 14"/>
          <p:cNvSpPr txBox="1">
            <a:spLocks noChangeArrowheads="1"/>
          </p:cNvSpPr>
          <p:nvPr/>
        </p:nvSpPr>
        <p:spPr bwMode="auto"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42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2"/>
          <p:cNvSpPr txBox="1">
            <a:spLocks noChangeArrowheads="1"/>
          </p:cNvSpPr>
          <p:nvPr/>
        </p:nvSpPr>
        <p:spPr bwMode="auto">
          <a:xfrm>
            <a:off x="1692275" y="5905500"/>
            <a:ext cx="588962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sz="2400" b="1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112643" name="Text Box 3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14</a:t>
            </a:r>
          </a:p>
        </p:txBody>
      </p:sp>
      <p:sp>
        <p:nvSpPr>
          <p:cNvPr id="112644" name="Text Box 4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23</a:t>
            </a:r>
          </a:p>
        </p:txBody>
      </p:sp>
      <p:sp>
        <p:nvSpPr>
          <p:cNvPr id="112645" name="Text Box 5"/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98</a:t>
            </a:r>
          </a:p>
        </p:txBody>
      </p:sp>
      <p:sp>
        <p:nvSpPr>
          <p:cNvPr id="112646" name="Text Box 6"/>
          <p:cNvSpPr txBox="1">
            <a:spLocks noChangeArrowheads="1"/>
          </p:cNvSpPr>
          <p:nvPr/>
        </p:nvSpPr>
        <p:spPr bwMode="auto"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algn="ctr" eaLnBrk="0" hangingPunct="0"/>
            <a:r>
              <a:rPr lang="en-US" sz="2400" b="1">
                <a:latin typeface="Courier New" pitchFamily="49" charset="0"/>
              </a:rPr>
              <a:t>6</a:t>
            </a:r>
          </a:p>
        </p:txBody>
      </p:sp>
      <p:sp>
        <p:nvSpPr>
          <p:cNvPr id="112647" name="Text Box 7"/>
          <p:cNvSpPr txBox="1">
            <a:spLocks noChangeArrowheads="1"/>
          </p:cNvSpPr>
          <p:nvPr/>
        </p:nvSpPr>
        <p:spPr bwMode="auto"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33</a:t>
            </a:r>
          </a:p>
        </p:txBody>
      </p:sp>
      <p:sp>
        <p:nvSpPr>
          <p:cNvPr id="112648" name="Text Box 8"/>
          <p:cNvSpPr txBox="1">
            <a:spLocks noChangeArrowheads="1"/>
          </p:cNvSpPr>
          <p:nvPr/>
        </p:nvSpPr>
        <p:spPr bwMode="auto"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42</a:t>
            </a:r>
          </a:p>
        </p:txBody>
      </p:sp>
      <p:sp>
        <p:nvSpPr>
          <p:cNvPr id="112649" name="Text Box 9"/>
          <p:cNvSpPr txBox="1">
            <a:spLocks noChangeArrowheads="1"/>
          </p:cNvSpPr>
          <p:nvPr/>
        </p:nvSpPr>
        <p:spPr bwMode="auto"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algn="ctr" eaLnBrk="0" hangingPunct="0"/>
            <a:r>
              <a:rPr lang="en-US" sz="2400" b="1">
                <a:latin typeface="Courier New" pitchFamily="49" charset="0"/>
              </a:rPr>
              <a:t>6</a:t>
            </a:r>
          </a:p>
        </p:txBody>
      </p:sp>
      <p:sp>
        <p:nvSpPr>
          <p:cNvPr id="112650" name="Text Box 10"/>
          <p:cNvSpPr txBox="1">
            <a:spLocks noChangeArrowheads="1"/>
          </p:cNvSpPr>
          <p:nvPr/>
        </p:nvSpPr>
        <p:spPr bwMode="auto">
          <a:xfrm>
            <a:off x="282257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14</a:t>
            </a:r>
          </a:p>
        </p:txBody>
      </p:sp>
      <p:sp>
        <p:nvSpPr>
          <p:cNvPr id="112651" name="Text Box 11"/>
          <p:cNvSpPr txBox="1">
            <a:spLocks noChangeArrowheads="1"/>
          </p:cNvSpPr>
          <p:nvPr/>
        </p:nvSpPr>
        <p:spPr bwMode="auto">
          <a:xfrm>
            <a:off x="340995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23</a:t>
            </a:r>
          </a:p>
        </p:txBody>
      </p:sp>
      <p:sp>
        <p:nvSpPr>
          <p:cNvPr id="112652" name="Text Box 12"/>
          <p:cNvSpPr txBox="1">
            <a:spLocks noChangeArrowheads="1"/>
          </p:cNvSpPr>
          <p:nvPr/>
        </p:nvSpPr>
        <p:spPr bwMode="auto">
          <a:xfrm>
            <a:off x="39973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33</a:t>
            </a:r>
          </a:p>
        </p:txBody>
      </p:sp>
      <p:sp>
        <p:nvSpPr>
          <p:cNvPr id="112653" name="Text Box 13"/>
          <p:cNvSpPr txBox="1">
            <a:spLocks noChangeArrowheads="1"/>
          </p:cNvSpPr>
          <p:nvPr/>
        </p:nvSpPr>
        <p:spPr bwMode="auto">
          <a:xfrm>
            <a:off x="458470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42</a:t>
            </a:r>
          </a:p>
        </p:txBody>
      </p:sp>
      <p:sp>
        <p:nvSpPr>
          <p:cNvPr id="112654" name="Text Box 14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45</a:t>
            </a:r>
          </a:p>
        </p:txBody>
      </p:sp>
      <p:sp>
        <p:nvSpPr>
          <p:cNvPr id="112655" name="Text Box 15"/>
          <p:cNvSpPr txBox="1">
            <a:spLocks noChangeArrowheads="1"/>
          </p:cNvSpPr>
          <p:nvPr/>
        </p:nvSpPr>
        <p:spPr bwMode="auto"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67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ext Box 2"/>
          <p:cNvSpPr txBox="1">
            <a:spLocks noChangeArrowheads="1"/>
          </p:cNvSpPr>
          <p:nvPr/>
        </p:nvSpPr>
        <p:spPr bwMode="auto">
          <a:xfrm>
            <a:off x="1692275" y="5905500"/>
            <a:ext cx="588962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sz="2400" b="1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113667" name="Text Box 3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14</a:t>
            </a:r>
          </a:p>
        </p:txBody>
      </p:sp>
      <p:sp>
        <p:nvSpPr>
          <p:cNvPr id="113668" name="Text Box 4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23</a:t>
            </a:r>
          </a:p>
        </p:txBody>
      </p:sp>
      <p:sp>
        <p:nvSpPr>
          <p:cNvPr id="113669" name="Text Box 5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45</a:t>
            </a:r>
          </a:p>
        </p:txBody>
      </p:sp>
      <p:sp>
        <p:nvSpPr>
          <p:cNvPr id="113670" name="Text Box 6"/>
          <p:cNvSpPr txBox="1">
            <a:spLocks noChangeArrowheads="1"/>
          </p:cNvSpPr>
          <p:nvPr/>
        </p:nvSpPr>
        <p:spPr bwMode="auto"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algn="ctr" eaLnBrk="0" hangingPunct="0"/>
            <a:r>
              <a:rPr lang="en-US" sz="2400" b="1">
                <a:latin typeface="Courier New" pitchFamily="49" charset="0"/>
              </a:rPr>
              <a:t>6</a:t>
            </a:r>
          </a:p>
        </p:txBody>
      </p:sp>
      <p:sp>
        <p:nvSpPr>
          <p:cNvPr id="113671" name="Text Box 7"/>
          <p:cNvSpPr txBox="1">
            <a:spLocks noChangeArrowheads="1"/>
          </p:cNvSpPr>
          <p:nvPr/>
        </p:nvSpPr>
        <p:spPr bwMode="auto"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33</a:t>
            </a:r>
          </a:p>
        </p:txBody>
      </p:sp>
      <p:sp>
        <p:nvSpPr>
          <p:cNvPr id="113672" name="Text Box 8"/>
          <p:cNvSpPr txBox="1">
            <a:spLocks noChangeArrowheads="1"/>
          </p:cNvSpPr>
          <p:nvPr/>
        </p:nvSpPr>
        <p:spPr bwMode="auto"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42</a:t>
            </a:r>
          </a:p>
        </p:txBody>
      </p:sp>
      <p:sp>
        <p:nvSpPr>
          <p:cNvPr id="113673" name="Text Box 9"/>
          <p:cNvSpPr txBox="1">
            <a:spLocks noChangeArrowheads="1"/>
          </p:cNvSpPr>
          <p:nvPr/>
        </p:nvSpPr>
        <p:spPr bwMode="auto"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algn="ctr" eaLnBrk="0" hangingPunct="0"/>
            <a:r>
              <a:rPr lang="en-US" sz="2400" b="1">
                <a:latin typeface="Courier New" pitchFamily="49" charset="0"/>
              </a:rPr>
              <a:t>6</a:t>
            </a:r>
          </a:p>
        </p:txBody>
      </p:sp>
      <p:sp>
        <p:nvSpPr>
          <p:cNvPr id="113674" name="Text Box 10"/>
          <p:cNvSpPr txBox="1">
            <a:spLocks noChangeArrowheads="1"/>
          </p:cNvSpPr>
          <p:nvPr/>
        </p:nvSpPr>
        <p:spPr bwMode="auto">
          <a:xfrm>
            <a:off x="282257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14</a:t>
            </a:r>
          </a:p>
        </p:txBody>
      </p:sp>
      <p:sp>
        <p:nvSpPr>
          <p:cNvPr id="113675" name="Text Box 11"/>
          <p:cNvSpPr txBox="1">
            <a:spLocks noChangeArrowheads="1"/>
          </p:cNvSpPr>
          <p:nvPr/>
        </p:nvSpPr>
        <p:spPr bwMode="auto">
          <a:xfrm>
            <a:off x="340995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23</a:t>
            </a:r>
          </a:p>
        </p:txBody>
      </p:sp>
      <p:sp>
        <p:nvSpPr>
          <p:cNvPr id="113676" name="Text Box 12"/>
          <p:cNvSpPr txBox="1">
            <a:spLocks noChangeArrowheads="1"/>
          </p:cNvSpPr>
          <p:nvPr/>
        </p:nvSpPr>
        <p:spPr bwMode="auto">
          <a:xfrm>
            <a:off x="39973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33</a:t>
            </a:r>
          </a:p>
        </p:txBody>
      </p:sp>
      <p:sp>
        <p:nvSpPr>
          <p:cNvPr id="113677" name="Text Box 13"/>
          <p:cNvSpPr txBox="1">
            <a:spLocks noChangeArrowheads="1"/>
          </p:cNvSpPr>
          <p:nvPr/>
        </p:nvSpPr>
        <p:spPr bwMode="auto">
          <a:xfrm>
            <a:off x="458470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42</a:t>
            </a:r>
          </a:p>
        </p:txBody>
      </p:sp>
      <p:sp>
        <p:nvSpPr>
          <p:cNvPr id="113678" name="Text Box 14"/>
          <p:cNvSpPr txBox="1">
            <a:spLocks noChangeArrowheads="1"/>
          </p:cNvSpPr>
          <p:nvPr/>
        </p:nvSpPr>
        <p:spPr bwMode="auto">
          <a:xfrm>
            <a:off x="5173663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45</a:t>
            </a:r>
          </a:p>
        </p:txBody>
      </p:sp>
      <p:sp>
        <p:nvSpPr>
          <p:cNvPr id="113679" name="Text Box 15"/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98</a:t>
            </a:r>
          </a:p>
        </p:txBody>
      </p:sp>
      <p:sp>
        <p:nvSpPr>
          <p:cNvPr id="113680" name="Text Box 16"/>
          <p:cNvSpPr txBox="1">
            <a:spLocks noChangeArrowheads="1"/>
          </p:cNvSpPr>
          <p:nvPr/>
        </p:nvSpPr>
        <p:spPr bwMode="auto"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67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2"/>
          <p:cNvSpPr txBox="1">
            <a:spLocks noChangeArrowheads="1"/>
          </p:cNvSpPr>
          <p:nvPr/>
        </p:nvSpPr>
        <p:spPr bwMode="auto">
          <a:xfrm>
            <a:off x="1692275" y="5905500"/>
            <a:ext cx="588962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sz="2400" b="1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114691" name="Text Box 3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14</a:t>
            </a:r>
          </a:p>
        </p:txBody>
      </p:sp>
      <p:sp>
        <p:nvSpPr>
          <p:cNvPr id="114692" name="Text Box 4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23</a:t>
            </a:r>
          </a:p>
        </p:txBody>
      </p:sp>
      <p:sp>
        <p:nvSpPr>
          <p:cNvPr id="114693" name="Text Box 5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45</a:t>
            </a:r>
          </a:p>
        </p:txBody>
      </p:sp>
      <p:sp>
        <p:nvSpPr>
          <p:cNvPr id="114694" name="Text Box 6"/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98</a:t>
            </a:r>
          </a:p>
        </p:txBody>
      </p:sp>
      <p:sp>
        <p:nvSpPr>
          <p:cNvPr id="114695" name="Text Box 7"/>
          <p:cNvSpPr txBox="1">
            <a:spLocks noChangeArrowheads="1"/>
          </p:cNvSpPr>
          <p:nvPr/>
        </p:nvSpPr>
        <p:spPr bwMode="auto"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algn="ctr" eaLnBrk="0" hangingPunct="0"/>
            <a:r>
              <a:rPr lang="en-US" sz="2400" b="1">
                <a:latin typeface="Courier New" pitchFamily="49" charset="0"/>
              </a:rPr>
              <a:t>6</a:t>
            </a:r>
          </a:p>
        </p:txBody>
      </p:sp>
      <p:sp>
        <p:nvSpPr>
          <p:cNvPr id="114696" name="Text Box 8"/>
          <p:cNvSpPr txBox="1">
            <a:spLocks noChangeArrowheads="1"/>
          </p:cNvSpPr>
          <p:nvPr/>
        </p:nvSpPr>
        <p:spPr bwMode="auto"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33</a:t>
            </a:r>
          </a:p>
        </p:txBody>
      </p:sp>
      <p:sp>
        <p:nvSpPr>
          <p:cNvPr id="114697" name="Text Box 9"/>
          <p:cNvSpPr txBox="1">
            <a:spLocks noChangeArrowheads="1"/>
          </p:cNvSpPr>
          <p:nvPr/>
        </p:nvSpPr>
        <p:spPr bwMode="auto"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42</a:t>
            </a:r>
          </a:p>
        </p:txBody>
      </p:sp>
      <p:sp>
        <p:nvSpPr>
          <p:cNvPr id="114698" name="Text Box 10"/>
          <p:cNvSpPr txBox="1">
            <a:spLocks noChangeArrowheads="1"/>
          </p:cNvSpPr>
          <p:nvPr/>
        </p:nvSpPr>
        <p:spPr bwMode="auto"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67</a:t>
            </a:r>
          </a:p>
        </p:txBody>
      </p:sp>
      <p:sp>
        <p:nvSpPr>
          <p:cNvPr id="114699" name="Text Box 11"/>
          <p:cNvSpPr txBox="1">
            <a:spLocks noChangeArrowheads="1"/>
          </p:cNvSpPr>
          <p:nvPr/>
        </p:nvSpPr>
        <p:spPr bwMode="auto"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algn="ctr" eaLnBrk="0" hangingPunct="0"/>
            <a:r>
              <a:rPr lang="en-US" sz="2400" b="1">
                <a:latin typeface="Courier New" pitchFamily="49" charset="0"/>
              </a:rPr>
              <a:t>6</a:t>
            </a:r>
          </a:p>
        </p:txBody>
      </p:sp>
      <p:sp>
        <p:nvSpPr>
          <p:cNvPr id="114700" name="Text Box 12"/>
          <p:cNvSpPr txBox="1">
            <a:spLocks noChangeArrowheads="1"/>
          </p:cNvSpPr>
          <p:nvPr/>
        </p:nvSpPr>
        <p:spPr bwMode="auto">
          <a:xfrm>
            <a:off x="282257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14</a:t>
            </a:r>
          </a:p>
        </p:txBody>
      </p:sp>
      <p:sp>
        <p:nvSpPr>
          <p:cNvPr id="114701" name="Text Box 13"/>
          <p:cNvSpPr txBox="1">
            <a:spLocks noChangeArrowheads="1"/>
          </p:cNvSpPr>
          <p:nvPr/>
        </p:nvSpPr>
        <p:spPr bwMode="auto">
          <a:xfrm>
            <a:off x="340995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23</a:t>
            </a:r>
          </a:p>
        </p:txBody>
      </p:sp>
      <p:sp>
        <p:nvSpPr>
          <p:cNvPr id="114702" name="Text Box 14"/>
          <p:cNvSpPr txBox="1">
            <a:spLocks noChangeArrowheads="1"/>
          </p:cNvSpPr>
          <p:nvPr/>
        </p:nvSpPr>
        <p:spPr bwMode="auto">
          <a:xfrm>
            <a:off x="39973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33</a:t>
            </a:r>
          </a:p>
        </p:txBody>
      </p:sp>
      <p:sp>
        <p:nvSpPr>
          <p:cNvPr id="114703" name="Text Box 15"/>
          <p:cNvSpPr txBox="1">
            <a:spLocks noChangeArrowheads="1"/>
          </p:cNvSpPr>
          <p:nvPr/>
        </p:nvSpPr>
        <p:spPr bwMode="auto">
          <a:xfrm>
            <a:off x="458470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42</a:t>
            </a:r>
          </a:p>
        </p:txBody>
      </p:sp>
      <p:sp>
        <p:nvSpPr>
          <p:cNvPr id="114704" name="Text Box 16"/>
          <p:cNvSpPr txBox="1">
            <a:spLocks noChangeArrowheads="1"/>
          </p:cNvSpPr>
          <p:nvPr/>
        </p:nvSpPr>
        <p:spPr bwMode="auto">
          <a:xfrm>
            <a:off x="5173663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45</a:t>
            </a:r>
          </a:p>
        </p:txBody>
      </p:sp>
      <p:sp>
        <p:nvSpPr>
          <p:cNvPr id="114705" name="Text Box 17"/>
          <p:cNvSpPr txBox="1">
            <a:spLocks noChangeArrowheads="1"/>
          </p:cNvSpPr>
          <p:nvPr/>
        </p:nvSpPr>
        <p:spPr bwMode="auto">
          <a:xfrm>
            <a:off x="5761038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67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ext Box 2"/>
          <p:cNvSpPr txBox="1">
            <a:spLocks noChangeArrowheads="1"/>
          </p:cNvSpPr>
          <p:nvPr/>
        </p:nvSpPr>
        <p:spPr bwMode="auto">
          <a:xfrm>
            <a:off x="1692275" y="5905500"/>
            <a:ext cx="588962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sz="2400" b="1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115715" name="Text Box 3"/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14</a:t>
            </a:r>
          </a:p>
        </p:txBody>
      </p:sp>
      <p:sp>
        <p:nvSpPr>
          <p:cNvPr id="115716" name="Text Box 4"/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23</a:t>
            </a:r>
          </a:p>
        </p:txBody>
      </p:sp>
      <p:sp>
        <p:nvSpPr>
          <p:cNvPr id="115717" name="Text Box 5"/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45</a:t>
            </a:r>
          </a:p>
        </p:txBody>
      </p:sp>
      <p:sp>
        <p:nvSpPr>
          <p:cNvPr id="115718" name="Text Box 6"/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98</a:t>
            </a:r>
          </a:p>
        </p:txBody>
      </p:sp>
      <p:sp>
        <p:nvSpPr>
          <p:cNvPr id="115719" name="Text Box 7"/>
          <p:cNvSpPr txBox="1">
            <a:spLocks noChangeArrowheads="1"/>
          </p:cNvSpPr>
          <p:nvPr/>
        </p:nvSpPr>
        <p:spPr bwMode="auto"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algn="ctr" eaLnBrk="0" hangingPunct="0"/>
            <a:r>
              <a:rPr lang="en-US" sz="2400" b="1">
                <a:latin typeface="Courier New" pitchFamily="49" charset="0"/>
              </a:rPr>
              <a:t>6</a:t>
            </a:r>
          </a:p>
        </p:txBody>
      </p:sp>
      <p:sp>
        <p:nvSpPr>
          <p:cNvPr id="115720" name="Text Box 8"/>
          <p:cNvSpPr txBox="1">
            <a:spLocks noChangeArrowheads="1"/>
          </p:cNvSpPr>
          <p:nvPr/>
        </p:nvSpPr>
        <p:spPr bwMode="auto"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33</a:t>
            </a:r>
          </a:p>
        </p:txBody>
      </p:sp>
      <p:sp>
        <p:nvSpPr>
          <p:cNvPr id="115721" name="Text Box 9"/>
          <p:cNvSpPr txBox="1">
            <a:spLocks noChangeArrowheads="1"/>
          </p:cNvSpPr>
          <p:nvPr/>
        </p:nvSpPr>
        <p:spPr bwMode="auto"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42</a:t>
            </a:r>
          </a:p>
        </p:txBody>
      </p:sp>
      <p:sp>
        <p:nvSpPr>
          <p:cNvPr id="115722" name="Text Box 10"/>
          <p:cNvSpPr txBox="1">
            <a:spLocks noChangeArrowheads="1"/>
          </p:cNvSpPr>
          <p:nvPr/>
        </p:nvSpPr>
        <p:spPr bwMode="auto"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67</a:t>
            </a:r>
          </a:p>
        </p:txBody>
      </p:sp>
      <p:sp>
        <p:nvSpPr>
          <p:cNvPr id="115723" name="Text Box 11"/>
          <p:cNvSpPr txBox="1">
            <a:spLocks noChangeArrowheads="1"/>
          </p:cNvSpPr>
          <p:nvPr/>
        </p:nvSpPr>
        <p:spPr bwMode="auto"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algn="ctr" eaLnBrk="0" hangingPunct="0"/>
            <a:r>
              <a:rPr lang="en-US" sz="2400" b="1">
                <a:latin typeface="Courier New" pitchFamily="49" charset="0"/>
              </a:rPr>
              <a:t>6</a:t>
            </a:r>
          </a:p>
        </p:txBody>
      </p:sp>
      <p:sp>
        <p:nvSpPr>
          <p:cNvPr id="115724" name="Text Box 12"/>
          <p:cNvSpPr txBox="1">
            <a:spLocks noChangeArrowheads="1"/>
          </p:cNvSpPr>
          <p:nvPr/>
        </p:nvSpPr>
        <p:spPr bwMode="auto">
          <a:xfrm>
            <a:off x="282257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14</a:t>
            </a:r>
          </a:p>
        </p:txBody>
      </p:sp>
      <p:sp>
        <p:nvSpPr>
          <p:cNvPr id="115725" name="Text Box 13"/>
          <p:cNvSpPr txBox="1">
            <a:spLocks noChangeArrowheads="1"/>
          </p:cNvSpPr>
          <p:nvPr/>
        </p:nvSpPr>
        <p:spPr bwMode="auto">
          <a:xfrm>
            <a:off x="340995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23</a:t>
            </a:r>
          </a:p>
        </p:txBody>
      </p:sp>
      <p:sp>
        <p:nvSpPr>
          <p:cNvPr id="115726" name="Text Box 14"/>
          <p:cNvSpPr txBox="1">
            <a:spLocks noChangeArrowheads="1"/>
          </p:cNvSpPr>
          <p:nvPr/>
        </p:nvSpPr>
        <p:spPr bwMode="auto">
          <a:xfrm>
            <a:off x="39973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33</a:t>
            </a:r>
          </a:p>
        </p:txBody>
      </p:sp>
      <p:sp>
        <p:nvSpPr>
          <p:cNvPr id="115727" name="Text Box 15"/>
          <p:cNvSpPr txBox="1">
            <a:spLocks noChangeArrowheads="1"/>
          </p:cNvSpPr>
          <p:nvPr/>
        </p:nvSpPr>
        <p:spPr bwMode="auto">
          <a:xfrm>
            <a:off x="458470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42</a:t>
            </a:r>
          </a:p>
        </p:txBody>
      </p:sp>
      <p:sp>
        <p:nvSpPr>
          <p:cNvPr id="115728" name="Text Box 16"/>
          <p:cNvSpPr txBox="1">
            <a:spLocks noChangeArrowheads="1"/>
          </p:cNvSpPr>
          <p:nvPr/>
        </p:nvSpPr>
        <p:spPr bwMode="auto">
          <a:xfrm>
            <a:off x="5173663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45</a:t>
            </a:r>
          </a:p>
        </p:txBody>
      </p:sp>
      <p:sp>
        <p:nvSpPr>
          <p:cNvPr id="115729" name="Text Box 17"/>
          <p:cNvSpPr txBox="1">
            <a:spLocks noChangeArrowheads="1"/>
          </p:cNvSpPr>
          <p:nvPr/>
        </p:nvSpPr>
        <p:spPr bwMode="auto">
          <a:xfrm>
            <a:off x="5761038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67</a:t>
            </a:r>
          </a:p>
        </p:txBody>
      </p:sp>
      <p:sp>
        <p:nvSpPr>
          <p:cNvPr id="115730" name="Text Box 18"/>
          <p:cNvSpPr txBox="1">
            <a:spLocks noChangeArrowheads="1"/>
          </p:cNvSpPr>
          <p:nvPr/>
        </p:nvSpPr>
        <p:spPr bwMode="auto">
          <a:xfrm>
            <a:off x="6348413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98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Quicksort Algorithm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sz="2800" smtClean="0"/>
              <a:t>Given an array of </a:t>
            </a:r>
            <a:r>
              <a:rPr lang="en-US" sz="2800" i="1" smtClean="0"/>
              <a:t>n</a:t>
            </a:r>
            <a:r>
              <a:rPr lang="en-US" sz="2800" smtClean="0"/>
              <a:t> elements (e.g., integers):</a:t>
            </a:r>
          </a:p>
          <a:p>
            <a:pPr eaLnBrk="1" hangingPunct="1"/>
            <a:r>
              <a:rPr lang="en-US" sz="2800" smtClean="0"/>
              <a:t>If array only contains one element, return</a:t>
            </a:r>
          </a:p>
          <a:p>
            <a:pPr eaLnBrk="1" hangingPunct="1"/>
            <a:r>
              <a:rPr lang="en-US" sz="2800" smtClean="0"/>
              <a:t>Else</a:t>
            </a:r>
          </a:p>
          <a:p>
            <a:pPr lvl="1" eaLnBrk="1" hangingPunct="1"/>
            <a:r>
              <a:rPr lang="en-US" sz="2400" smtClean="0"/>
              <a:t>pick one element to use as </a:t>
            </a:r>
            <a:r>
              <a:rPr lang="en-US" sz="2400" i="1" smtClean="0"/>
              <a:t>pivot.</a:t>
            </a:r>
          </a:p>
          <a:p>
            <a:pPr lvl="1" eaLnBrk="1" hangingPunct="1"/>
            <a:r>
              <a:rPr lang="en-US" sz="2400" smtClean="0"/>
              <a:t>Partition elements into two sub-arrays:</a:t>
            </a:r>
          </a:p>
          <a:p>
            <a:pPr lvl="2" eaLnBrk="1" hangingPunct="1"/>
            <a:r>
              <a:rPr lang="en-US" sz="2000" smtClean="0"/>
              <a:t>Elements less than or equal to pivot</a:t>
            </a:r>
          </a:p>
          <a:p>
            <a:pPr lvl="2" eaLnBrk="1" hangingPunct="1"/>
            <a:r>
              <a:rPr lang="en-US" sz="2000" smtClean="0"/>
              <a:t>Elements greater than pivot</a:t>
            </a:r>
          </a:p>
          <a:p>
            <a:pPr lvl="1" eaLnBrk="1" hangingPunct="1"/>
            <a:r>
              <a:rPr lang="en-US" sz="2400" smtClean="0"/>
              <a:t>Quicksort two sub-arrays</a:t>
            </a:r>
          </a:p>
          <a:p>
            <a:pPr lvl="1" eaLnBrk="1" hangingPunct="1"/>
            <a:r>
              <a:rPr lang="en-US" sz="2400" smtClean="0"/>
              <a:t>Return results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/>
              <a:t>Example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mtClean="0"/>
              <a:t>We are given array of n integers to sort:</a:t>
            </a:r>
          </a:p>
        </p:txBody>
      </p:sp>
      <p:sp>
        <p:nvSpPr>
          <p:cNvPr id="117764" name="Rectangle 4"/>
          <p:cNvSpPr>
            <a:spLocks noChangeArrowheads="1"/>
          </p:cNvSpPr>
          <p:nvPr/>
        </p:nvSpPr>
        <p:spPr bwMode="auto">
          <a:xfrm>
            <a:off x="1447800" y="20574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17765" name="Rectangle 5"/>
          <p:cNvSpPr>
            <a:spLocks noChangeArrowheads="1"/>
          </p:cNvSpPr>
          <p:nvPr/>
        </p:nvSpPr>
        <p:spPr bwMode="auto">
          <a:xfrm>
            <a:off x="2057400" y="20574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17766" name="Rectangle 6"/>
          <p:cNvSpPr>
            <a:spLocks noChangeArrowheads="1"/>
          </p:cNvSpPr>
          <p:nvPr/>
        </p:nvSpPr>
        <p:spPr bwMode="auto">
          <a:xfrm>
            <a:off x="2667000" y="20574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17767" name="Rectangle 7"/>
          <p:cNvSpPr>
            <a:spLocks noChangeArrowheads="1"/>
          </p:cNvSpPr>
          <p:nvPr/>
        </p:nvSpPr>
        <p:spPr bwMode="auto">
          <a:xfrm>
            <a:off x="3276600" y="20574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17768" name="Rectangle 8"/>
          <p:cNvSpPr>
            <a:spLocks noChangeArrowheads="1"/>
          </p:cNvSpPr>
          <p:nvPr/>
        </p:nvSpPr>
        <p:spPr bwMode="auto">
          <a:xfrm>
            <a:off x="3886200" y="20574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17769" name="Rectangle 9"/>
          <p:cNvSpPr>
            <a:spLocks noChangeArrowheads="1"/>
          </p:cNvSpPr>
          <p:nvPr/>
        </p:nvSpPr>
        <p:spPr bwMode="auto">
          <a:xfrm>
            <a:off x="4495800" y="20574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17770" name="Rectangle 10"/>
          <p:cNvSpPr>
            <a:spLocks noChangeArrowheads="1"/>
          </p:cNvSpPr>
          <p:nvPr/>
        </p:nvSpPr>
        <p:spPr bwMode="auto">
          <a:xfrm>
            <a:off x="5105400" y="20574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17771" name="Rectangle 11"/>
          <p:cNvSpPr>
            <a:spLocks noChangeArrowheads="1"/>
          </p:cNvSpPr>
          <p:nvPr/>
        </p:nvSpPr>
        <p:spPr bwMode="auto">
          <a:xfrm>
            <a:off x="5715000" y="20574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17772" name="Rectangle 12"/>
          <p:cNvSpPr>
            <a:spLocks noChangeArrowheads="1"/>
          </p:cNvSpPr>
          <p:nvPr/>
        </p:nvSpPr>
        <p:spPr bwMode="auto">
          <a:xfrm>
            <a:off x="6324600" y="20574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/>
              <a:t>Pick Pivot Element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400" smtClean="0"/>
              <a:t>There are a number of ways to pick the pivot element.  In this example, we will use the first element in the array:</a:t>
            </a:r>
          </a:p>
        </p:txBody>
      </p:sp>
      <p:sp>
        <p:nvSpPr>
          <p:cNvPr id="118788" name="Rectangle 4"/>
          <p:cNvSpPr>
            <a:spLocks noChangeArrowheads="1"/>
          </p:cNvSpPr>
          <p:nvPr/>
        </p:nvSpPr>
        <p:spPr bwMode="auto">
          <a:xfrm>
            <a:off x="1447800" y="23622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18789" name="Rectangle 5"/>
          <p:cNvSpPr>
            <a:spLocks noChangeArrowheads="1"/>
          </p:cNvSpPr>
          <p:nvPr/>
        </p:nvSpPr>
        <p:spPr bwMode="auto">
          <a:xfrm>
            <a:off x="2057400" y="23622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18790" name="Rectangle 6"/>
          <p:cNvSpPr>
            <a:spLocks noChangeArrowheads="1"/>
          </p:cNvSpPr>
          <p:nvPr/>
        </p:nvSpPr>
        <p:spPr bwMode="auto">
          <a:xfrm>
            <a:off x="2667000" y="23622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18791" name="Rectangle 7"/>
          <p:cNvSpPr>
            <a:spLocks noChangeArrowheads="1"/>
          </p:cNvSpPr>
          <p:nvPr/>
        </p:nvSpPr>
        <p:spPr bwMode="auto">
          <a:xfrm>
            <a:off x="3276600" y="23622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18792" name="Rectangle 8"/>
          <p:cNvSpPr>
            <a:spLocks noChangeArrowheads="1"/>
          </p:cNvSpPr>
          <p:nvPr/>
        </p:nvSpPr>
        <p:spPr bwMode="auto">
          <a:xfrm>
            <a:off x="3886200" y="23622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18793" name="Rectangle 9"/>
          <p:cNvSpPr>
            <a:spLocks noChangeArrowheads="1"/>
          </p:cNvSpPr>
          <p:nvPr/>
        </p:nvSpPr>
        <p:spPr bwMode="auto">
          <a:xfrm>
            <a:off x="4495800" y="23622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18794" name="Rectangle 10"/>
          <p:cNvSpPr>
            <a:spLocks noChangeArrowheads="1"/>
          </p:cNvSpPr>
          <p:nvPr/>
        </p:nvSpPr>
        <p:spPr bwMode="auto">
          <a:xfrm>
            <a:off x="5105400" y="23622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18795" name="Rectangle 11"/>
          <p:cNvSpPr>
            <a:spLocks noChangeArrowheads="1"/>
          </p:cNvSpPr>
          <p:nvPr/>
        </p:nvSpPr>
        <p:spPr bwMode="auto">
          <a:xfrm>
            <a:off x="5715000" y="23622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18796" name="Rectangle 12"/>
          <p:cNvSpPr>
            <a:spLocks noChangeArrowheads="1"/>
          </p:cNvSpPr>
          <p:nvPr/>
        </p:nvSpPr>
        <p:spPr bwMode="auto">
          <a:xfrm>
            <a:off x="6324600" y="23622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/>
              <a:t>Partitioning Array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114800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800" smtClean="0"/>
              <a:t>Given a pivot, partition the elements of the array such that the resulting array consists of: </a:t>
            </a:r>
          </a:p>
          <a:p>
            <a:pPr marL="990600" lvl="1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n-US" sz="2400" smtClean="0"/>
              <a:t>One sub-array that contains elements &gt;= pivot </a:t>
            </a:r>
          </a:p>
          <a:p>
            <a:pPr marL="990600" lvl="1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n-US" sz="2400" smtClean="0"/>
              <a:t>Another sub-array that contains elements &lt; pivot</a:t>
            </a:r>
          </a:p>
          <a:p>
            <a:pPr marL="990600" lvl="1" indent="-533400" eaLnBrk="1" hangingPunct="1">
              <a:lnSpc>
                <a:spcPct val="90000"/>
              </a:lnSpc>
              <a:buFontTx/>
              <a:buAutoNum type="arabicPeriod"/>
            </a:pPr>
            <a:endParaRPr lang="en-US" sz="2400" smtClean="0"/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800" smtClean="0"/>
              <a:t>The sub-arrays are stored in the original data array.  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en-US" sz="2800" smtClean="0"/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800" smtClean="0"/>
              <a:t>Partitioning loops through, swapping elements below/above pivot.</a:t>
            </a:r>
          </a:p>
          <a:p>
            <a:pPr marL="609600" indent="-609600" eaLnBrk="1" hangingPunct="1">
              <a:lnSpc>
                <a:spcPct val="90000"/>
              </a:lnSpc>
            </a:pPr>
            <a:endParaRPr lang="en-US" sz="2800" smtClean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20835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20836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20837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20838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20839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20840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20841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20842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20843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pivot_index = 0</a:t>
            </a:r>
          </a:p>
        </p:txBody>
      </p:sp>
      <p:sp>
        <p:nvSpPr>
          <p:cNvPr id="120844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[0]    [1]   [2]    [3]   [4]   [5]    [6]   [7]   [8]</a:t>
            </a:r>
          </a:p>
        </p:txBody>
      </p:sp>
      <p:sp>
        <p:nvSpPr>
          <p:cNvPr id="120845" name="Text Box 18"/>
          <p:cNvSpPr txBox="1">
            <a:spLocks noChangeArrowheads="1"/>
          </p:cNvSpPr>
          <p:nvPr/>
        </p:nvSpPr>
        <p:spPr bwMode="auto">
          <a:xfrm>
            <a:off x="22098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too_big_index</a:t>
            </a:r>
          </a:p>
        </p:txBody>
      </p:sp>
      <p:sp>
        <p:nvSpPr>
          <p:cNvPr id="120846" name="Text Box 19"/>
          <p:cNvSpPr txBox="1">
            <a:spLocks noChangeArrowheads="1"/>
          </p:cNvSpPr>
          <p:nvPr/>
        </p:nvSpPr>
        <p:spPr bwMode="auto">
          <a:xfrm>
            <a:off x="6553200" y="5576888"/>
            <a:ext cx="2133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too_small_index</a:t>
            </a:r>
          </a:p>
        </p:txBody>
      </p:sp>
      <p:sp>
        <p:nvSpPr>
          <p:cNvPr id="120847" name="Line 20"/>
          <p:cNvSpPr>
            <a:spLocks noChangeShapeType="1"/>
          </p:cNvSpPr>
          <p:nvPr/>
        </p:nvSpPr>
        <p:spPr bwMode="auto">
          <a:xfrm flipV="1">
            <a:off x="7239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0848" name="Line 21"/>
          <p:cNvSpPr>
            <a:spLocks noChangeShapeType="1"/>
          </p:cNvSpPr>
          <p:nvPr/>
        </p:nvSpPr>
        <p:spPr bwMode="auto">
          <a:xfrm flipV="1">
            <a:off x="29718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21859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21860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21861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21862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21863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21864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21865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21866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21867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pivot_index = 0</a:t>
            </a:r>
          </a:p>
        </p:txBody>
      </p:sp>
      <p:sp>
        <p:nvSpPr>
          <p:cNvPr id="121868" name="Text Box 12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[0]    [1]   [2]    [3]   [4]   [5]    [6]   [7]   [8]</a:t>
            </a:r>
          </a:p>
        </p:txBody>
      </p:sp>
      <p:sp>
        <p:nvSpPr>
          <p:cNvPr id="121869" name="Text Box 13"/>
          <p:cNvSpPr txBox="1">
            <a:spLocks noChangeArrowheads="1"/>
          </p:cNvSpPr>
          <p:nvPr/>
        </p:nvSpPr>
        <p:spPr bwMode="auto">
          <a:xfrm>
            <a:off x="22098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too_big_index</a:t>
            </a:r>
          </a:p>
        </p:txBody>
      </p:sp>
      <p:sp>
        <p:nvSpPr>
          <p:cNvPr id="121870" name="Text Box 14"/>
          <p:cNvSpPr txBox="1">
            <a:spLocks noChangeArrowheads="1"/>
          </p:cNvSpPr>
          <p:nvPr/>
        </p:nvSpPr>
        <p:spPr bwMode="auto">
          <a:xfrm>
            <a:off x="6553200" y="5576888"/>
            <a:ext cx="2133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too_small_index</a:t>
            </a:r>
          </a:p>
        </p:txBody>
      </p:sp>
      <p:sp>
        <p:nvSpPr>
          <p:cNvPr id="121871" name="Line 15"/>
          <p:cNvSpPr>
            <a:spLocks noChangeShapeType="1"/>
          </p:cNvSpPr>
          <p:nvPr/>
        </p:nvSpPr>
        <p:spPr bwMode="auto">
          <a:xfrm flipV="1">
            <a:off x="7239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1872" name="Line 16"/>
          <p:cNvSpPr>
            <a:spLocks noChangeShapeType="1"/>
          </p:cNvSpPr>
          <p:nvPr/>
        </p:nvSpPr>
        <p:spPr bwMode="auto">
          <a:xfrm flipV="1">
            <a:off x="29718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1873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575945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/>
              <a:t>While data[too_big_index] &lt;= data[pivot]</a:t>
            </a:r>
          </a:p>
          <a:p>
            <a:pPr marL="457200" indent="-457200"/>
            <a:r>
              <a:rPr lang="en-US"/>
              <a:t>		++too_big_index</a:t>
            </a:r>
          </a:p>
          <a:p>
            <a:pPr marL="457200" indent="-457200"/>
            <a:endParaRPr lang="en-US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22883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22884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22885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22886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22887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22888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22889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22890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22891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pivot_index = 0</a:t>
            </a:r>
          </a:p>
        </p:txBody>
      </p:sp>
      <p:sp>
        <p:nvSpPr>
          <p:cNvPr id="122892" name="Text Box 12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[0]    [1]   [2]    [3]   [4]   [5]    [6]   [7]   [8]</a:t>
            </a:r>
          </a:p>
        </p:txBody>
      </p:sp>
      <p:sp>
        <p:nvSpPr>
          <p:cNvPr id="122893" name="Text Box 13"/>
          <p:cNvSpPr txBox="1">
            <a:spLocks noChangeArrowheads="1"/>
          </p:cNvSpPr>
          <p:nvPr/>
        </p:nvSpPr>
        <p:spPr bwMode="auto">
          <a:xfrm>
            <a:off x="27432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too_big_index</a:t>
            </a:r>
          </a:p>
        </p:txBody>
      </p:sp>
      <p:sp>
        <p:nvSpPr>
          <p:cNvPr id="122894" name="Text Box 14"/>
          <p:cNvSpPr txBox="1">
            <a:spLocks noChangeArrowheads="1"/>
          </p:cNvSpPr>
          <p:nvPr/>
        </p:nvSpPr>
        <p:spPr bwMode="auto">
          <a:xfrm>
            <a:off x="6553200" y="5576888"/>
            <a:ext cx="2133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too_small_index</a:t>
            </a:r>
          </a:p>
        </p:txBody>
      </p:sp>
      <p:sp>
        <p:nvSpPr>
          <p:cNvPr id="122895" name="Line 15"/>
          <p:cNvSpPr>
            <a:spLocks noChangeShapeType="1"/>
          </p:cNvSpPr>
          <p:nvPr/>
        </p:nvSpPr>
        <p:spPr bwMode="auto">
          <a:xfrm flipV="1">
            <a:off x="7239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2896" name="Line 16"/>
          <p:cNvSpPr>
            <a:spLocks noChangeShapeType="1"/>
          </p:cNvSpPr>
          <p:nvPr/>
        </p:nvSpPr>
        <p:spPr bwMode="auto">
          <a:xfrm flipV="1">
            <a:off x="35052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2897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575945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/>
              <a:t>While data[too_big_index] &lt;= data[pivot]</a:t>
            </a:r>
          </a:p>
          <a:p>
            <a:pPr marL="457200" indent="-457200"/>
            <a:r>
              <a:rPr lang="en-US"/>
              <a:t>		++too_big_index</a:t>
            </a:r>
          </a:p>
          <a:p>
            <a:pPr marL="457200" indent="-457200"/>
            <a:endParaRPr lang="en-US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23907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23908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23909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23910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23911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23912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23913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23914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23915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pivot_index = 0</a:t>
            </a:r>
          </a:p>
        </p:txBody>
      </p:sp>
      <p:sp>
        <p:nvSpPr>
          <p:cNvPr id="123916" name="Text Box 12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[0]    [1]   [2]    [3]   [4]   [5]    [6]   [7]   [8]</a:t>
            </a:r>
          </a:p>
        </p:txBody>
      </p:sp>
      <p:sp>
        <p:nvSpPr>
          <p:cNvPr id="123917" name="Text Box 13"/>
          <p:cNvSpPr txBox="1">
            <a:spLocks noChangeArrowheads="1"/>
          </p:cNvSpPr>
          <p:nvPr/>
        </p:nvSpPr>
        <p:spPr bwMode="auto">
          <a:xfrm>
            <a:off x="34290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too_big_index</a:t>
            </a:r>
          </a:p>
        </p:txBody>
      </p:sp>
      <p:sp>
        <p:nvSpPr>
          <p:cNvPr id="123918" name="Text Box 14"/>
          <p:cNvSpPr txBox="1">
            <a:spLocks noChangeArrowheads="1"/>
          </p:cNvSpPr>
          <p:nvPr/>
        </p:nvSpPr>
        <p:spPr bwMode="auto">
          <a:xfrm>
            <a:off x="6553200" y="5576888"/>
            <a:ext cx="2133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too_small_index</a:t>
            </a:r>
          </a:p>
        </p:txBody>
      </p:sp>
      <p:sp>
        <p:nvSpPr>
          <p:cNvPr id="123919" name="Line 15"/>
          <p:cNvSpPr>
            <a:spLocks noChangeShapeType="1"/>
          </p:cNvSpPr>
          <p:nvPr/>
        </p:nvSpPr>
        <p:spPr bwMode="auto">
          <a:xfrm flipV="1">
            <a:off x="7239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3920" name="Line 16"/>
          <p:cNvSpPr>
            <a:spLocks noChangeShapeType="1"/>
          </p:cNvSpPr>
          <p:nvPr/>
        </p:nvSpPr>
        <p:spPr bwMode="auto">
          <a:xfrm flipV="1">
            <a:off x="4191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3921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575945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/>
              <a:t>While data[too_big_index] &lt;= data[pivot]</a:t>
            </a:r>
          </a:p>
          <a:p>
            <a:pPr marL="457200" indent="-457200"/>
            <a:r>
              <a:rPr lang="en-US"/>
              <a:t>		++too_big_index</a:t>
            </a:r>
          </a:p>
          <a:p>
            <a:pPr marL="457200" indent="-457200"/>
            <a:endParaRPr lang="en-US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24931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24932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24933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24934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24935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24936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24937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24938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24939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pivot_index = 0</a:t>
            </a:r>
          </a:p>
        </p:txBody>
      </p:sp>
      <p:sp>
        <p:nvSpPr>
          <p:cNvPr id="124940" name="Text Box 12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[0]    [1]   [2]    [3]   [4]   [5]    [6]   [7]   [8]</a:t>
            </a:r>
          </a:p>
        </p:txBody>
      </p:sp>
      <p:sp>
        <p:nvSpPr>
          <p:cNvPr id="124941" name="Text Box 13"/>
          <p:cNvSpPr txBox="1">
            <a:spLocks noChangeArrowheads="1"/>
          </p:cNvSpPr>
          <p:nvPr/>
        </p:nvSpPr>
        <p:spPr bwMode="auto">
          <a:xfrm>
            <a:off x="34290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too_big_index</a:t>
            </a:r>
          </a:p>
        </p:txBody>
      </p:sp>
      <p:sp>
        <p:nvSpPr>
          <p:cNvPr id="124942" name="Text Box 14"/>
          <p:cNvSpPr txBox="1">
            <a:spLocks noChangeArrowheads="1"/>
          </p:cNvSpPr>
          <p:nvPr/>
        </p:nvSpPr>
        <p:spPr bwMode="auto">
          <a:xfrm>
            <a:off x="6553200" y="5576888"/>
            <a:ext cx="2133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too_small_index</a:t>
            </a:r>
          </a:p>
        </p:txBody>
      </p:sp>
      <p:sp>
        <p:nvSpPr>
          <p:cNvPr id="124943" name="Line 15"/>
          <p:cNvSpPr>
            <a:spLocks noChangeShapeType="1"/>
          </p:cNvSpPr>
          <p:nvPr/>
        </p:nvSpPr>
        <p:spPr bwMode="auto">
          <a:xfrm flipV="1">
            <a:off x="7239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4944" name="Line 16"/>
          <p:cNvSpPr>
            <a:spLocks noChangeShapeType="1"/>
          </p:cNvSpPr>
          <p:nvPr/>
        </p:nvSpPr>
        <p:spPr bwMode="auto">
          <a:xfrm flipV="1">
            <a:off x="4191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4945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5857875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/>
              <a:t>While data[too_big_index] &lt;= data[pivot]</a:t>
            </a:r>
          </a:p>
          <a:p>
            <a:pPr marL="914400" lvl="1" indent="-457200"/>
            <a:r>
              <a:rPr lang="en-US"/>
              <a:t>	++too_big_index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data[too_small_index] &gt; data[pivot]</a:t>
            </a:r>
          </a:p>
          <a:p>
            <a:pPr marL="914400" lvl="1" indent="-457200"/>
            <a:r>
              <a:rPr lang="en-US"/>
              <a:t>	--too_small_index</a:t>
            </a:r>
          </a:p>
          <a:p>
            <a:pPr marL="457200" indent="-457200"/>
            <a:endParaRPr lang="en-US"/>
          </a:p>
          <a:p>
            <a:pPr marL="914400" lvl="1" indent="-457200">
              <a:buFontTx/>
              <a:buAutoNum type="arabicPeriod"/>
            </a:pPr>
            <a:endParaRPr lang="en-US"/>
          </a:p>
          <a:p>
            <a:pPr marL="457200" indent="-457200"/>
            <a:endParaRPr lang="en-US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25955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25956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25957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25958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25959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25960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25961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25962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25963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pivot_index = 0</a:t>
            </a:r>
          </a:p>
        </p:txBody>
      </p:sp>
      <p:sp>
        <p:nvSpPr>
          <p:cNvPr id="125964" name="Text Box 12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[0]    [1]   [2]    [3]   [4]   [5]    [6]   [7]   [8]</a:t>
            </a:r>
          </a:p>
        </p:txBody>
      </p:sp>
      <p:sp>
        <p:nvSpPr>
          <p:cNvPr id="125965" name="Text Box 13"/>
          <p:cNvSpPr txBox="1">
            <a:spLocks noChangeArrowheads="1"/>
          </p:cNvSpPr>
          <p:nvPr/>
        </p:nvSpPr>
        <p:spPr bwMode="auto">
          <a:xfrm>
            <a:off x="34290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too_big_index</a:t>
            </a:r>
          </a:p>
        </p:txBody>
      </p:sp>
      <p:sp>
        <p:nvSpPr>
          <p:cNvPr id="125966" name="Text Box 14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too_small_index</a:t>
            </a:r>
          </a:p>
        </p:txBody>
      </p:sp>
      <p:sp>
        <p:nvSpPr>
          <p:cNvPr id="125967" name="Line 15"/>
          <p:cNvSpPr>
            <a:spLocks noChangeShapeType="1"/>
          </p:cNvSpPr>
          <p:nvPr/>
        </p:nvSpPr>
        <p:spPr bwMode="auto">
          <a:xfrm flipV="1">
            <a:off x="65532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5968" name="Line 16"/>
          <p:cNvSpPr>
            <a:spLocks noChangeShapeType="1"/>
          </p:cNvSpPr>
          <p:nvPr/>
        </p:nvSpPr>
        <p:spPr bwMode="auto">
          <a:xfrm flipV="1">
            <a:off x="4191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5969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5857875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/>
              <a:t>While data[too_big_index] &lt;= data[pivot]</a:t>
            </a:r>
          </a:p>
          <a:p>
            <a:pPr marL="914400" lvl="1" indent="-457200"/>
            <a:r>
              <a:rPr lang="en-US"/>
              <a:t>	++too_big_index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data[too_small_index] &gt; data[pivot]</a:t>
            </a:r>
          </a:p>
          <a:p>
            <a:pPr marL="914400" lvl="1" indent="-457200"/>
            <a:r>
              <a:rPr lang="en-US"/>
              <a:t>	--too_small_index</a:t>
            </a:r>
          </a:p>
          <a:p>
            <a:pPr marL="457200" indent="-457200"/>
            <a:endParaRPr lang="en-US"/>
          </a:p>
          <a:p>
            <a:pPr marL="914400" lvl="1" indent="-457200">
              <a:buFontTx/>
              <a:buAutoNum type="arabicPeriod"/>
            </a:pPr>
            <a:endParaRPr lang="en-US"/>
          </a:p>
          <a:p>
            <a:pPr marL="457200" indent="-457200"/>
            <a:endParaRPr lang="en-US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26979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26980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26981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26982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26983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26984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26985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26986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26987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pivot_index = 0</a:t>
            </a:r>
          </a:p>
        </p:txBody>
      </p:sp>
      <p:sp>
        <p:nvSpPr>
          <p:cNvPr id="126988" name="Text Box 12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[0]    [1]   [2]    [3]   [4]   [5]    [6]   [7]   [8]</a:t>
            </a:r>
          </a:p>
        </p:txBody>
      </p:sp>
      <p:sp>
        <p:nvSpPr>
          <p:cNvPr id="126989" name="Text Box 13"/>
          <p:cNvSpPr txBox="1">
            <a:spLocks noChangeArrowheads="1"/>
          </p:cNvSpPr>
          <p:nvPr/>
        </p:nvSpPr>
        <p:spPr bwMode="auto">
          <a:xfrm>
            <a:off x="34290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too_big_index</a:t>
            </a:r>
          </a:p>
        </p:txBody>
      </p:sp>
      <p:sp>
        <p:nvSpPr>
          <p:cNvPr id="126990" name="Text Box 14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too_small_index</a:t>
            </a:r>
          </a:p>
        </p:txBody>
      </p:sp>
      <p:sp>
        <p:nvSpPr>
          <p:cNvPr id="126991" name="Line 15"/>
          <p:cNvSpPr>
            <a:spLocks noChangeShapeType="1"/>
          </p:cNvSpPr>
          <p:nvPr/>
        </p:nvSpPr>
        <p:spPr bwMode="auto">
          <a:xfrm flipV="1">
            <a:off x="65532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6992" name="Line 16"/>
          <p:cNvSpPr>
            <a:spLocks noChangeShapeType="1"/>
          </p:cNvSpPr>
          <p:nvPr/>
        </p:nvSpPr>
        <p:spPr bwMode="auto">
          <a:xfrm flipV="1">
            <a:off x="4191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6993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7600950" cy="337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/>
              <a:t>While data[too_big_index] &lt;= data[pivot]</a:t>
            </a:r>
          </a:p>
          <a:p>
            <a:pPr marL="914400" lvl="1" indent="-457200"/>
            <a:r>
              <a:rPr lang="en-US"/>
              <a:t>	++too_big_index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data[too_small_index] &gt; data[pivot]</a:t>
            </a:r>
          </a:p>
          <a:p>
            <a:pPr marL="914400" lvl="1" indent="-457200"/>
            <a:r>
              <a:rPr lang="en-US"/>
              <a:t>	--too_small_index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If too_big_index &lt; too_small_index</a:t>
            </a:r>
          </a:p>
          <a:p>
            <a:pPr marL="914400" lvl="1" indent="-457200"/>
            <a:r>
              <a:rPr lang="en-US"/>
              <a:t>	swap data[too_big_index] and data[too_small_index]</a:t>
            </a:r>
          </a:p>
          <a:p>
            <a:pPr marL="457200" indent="-457200"/>
            <a:endParaRPr lang="en-US"/>
          </a:p>
          <a:p>
            <a:pPr marL="914400" lvl="1" indent="-457200">
              <a:buFontTx/>
              <a:buAutoNum type="arabicPeriod"/>
            </a:pPr>
            <a:endParaRPr lang="en-US"/>
          </a:p>
          <a:p>
            <a:pPr marL="457200" indent="-457200"/>
            <a:endParaRPr lang="en-US"/>
          </a:p>
        </p:txBody>
      </p:sp>
      <p:sp>
        <p:nvSpPr>
          <p:cNvPr id="126994" name="Freeform 20"/>
          <p:cNvSpPr>
            <a:spLocks/>
          </p:cNvSpPr>
          <p:nvPr/>
        </p:nvSpPr>
        <p:spPr bwMode="auto">
          <a:xfrm>
            <a:off x="4343400" y="3733800"/>
            <a:ext cx="2527300" cy="457200"/>
          </a:xfrm>
          <a:custGeom>
            <a:avLst/>
            <a:gdLst>
              <a:gd name="T0" fmla="*/ 0 w 1592"/>
              <a:gd name="T1" fmla="*/ 457200 h 560"/>
              <a:gd name="T2" fmla="*/ 609600 w 1592"/>
              <a:gd name="T3" fmla="*/ 65314 h 560"/>
              <a:gd name="T4" fmla="*/ 2209800 w 1592"/>
              <a:gd name="T5" fmla="*/ 65314 h 560"/>
              <a:gd name="T6" fmla="*/ 2514600 w 1592"/>
              <a:gd name="T7" fmla="*/ 457200 h 560"/>
              <a:gd name="T8" fmla="*/ 0 60000 65536"/>
              <a:gd name="T9" fmla="*/ 0 60000 65536"/>
              <a:gd name="T10" fmla="*/ 0 60000 65536"/>
              <a:gd name="T11" fmla="*/ 0 60000 65536"/>
              <a:gd name="T12" fmla="*/ 0 w 1592"/>
              <a:gd name="T13" fmla="*/ 0 h 560"/>
              <a:gd name="T14" fmla="*/ 1592 w 1592"/>
              <a:gd name="T15" fmla="*/ 560 h 5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92" h="560">
                <a:moveTo>
                  <a:pt x="0" y="560"/>
                </a:moveTo>
                <a:cubicBezTo>
                  <a:pt x="76" y="360"/>
                  <a:pt x="152" y="160"/>
                  <a:pt x="384" y="80"/>
                </a:cubicBezTo>
                <a:cubicBezTo>
                  <a:pt x="616" y="0"/>
                  <a:pt x="1192" y="0"/>
                  <a:pt x="1392" y="80"/>
                </a:cubicBezTo>
                <a:cubicBezTo>
                  <a:pt x="1592" y="160"/>
                  <a:pt x="1588" y="360"/>
                  <a:pt x="1584" y="560"/>
                </a:cubicBezTo>
              </a:path>
            </a:pathLst>
          </a:custGeom>
          <a:noFill/>
          <a:ln w="38100">
            <a:solidFill>
              <a:srgbClr val="FF33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28003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28004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28005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28006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28007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28008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28009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28010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28011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pivot_index = 0</a:t>
            </a:r>
          </a:p>
        </p:txBody>
      </p:sp>
      <p:sp>
        <p:nvSpPr>
          <p:cNvPr id="128012" name="Text Box 12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[0]    [1]   [2]    [3]   [4]   [5]    [6]   [7]   [8]</a:t>
            </a:r>
          </a:p>
        </p:txBody>
      </p:sp>
      <p:sp>
        <p:nvSpPr>
          <p:cNvPr id="128013" name="Text Box 13"/>
          <p:cNvSpPr txBox="1">
            <a:spLocks noChangeArrowheads="1"/>
          </p:cNvSpPr>
          <p:nvPr/>
        </p:nvSpPr>
        <p:spPr bwMode="auto">
          <a:xfrm>
            <a:off x="34290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too_big_index</a:t>
            </a:r>
          </a:p>
        </p:txBody>
      </p:sp>
      <p:sp>
        <p:nvSpPr>
          <p:cNvPr id="128014" name="Text Box 14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too_small_index</a:t>
            </a:r>
          </a:p>
        </p:txBody>
      </p:sp>
      <p:sp>
        <p:nvSpPr>
          <p:cNvPr id="128015" name="Line 15"/>
          <p:cNvSpPr>
            <a:spLocks noChangeShapeType="1"/>
          </p:cNvSpPr>
          <p:nvPr/>
        </p:nvSpPr>
        <p:spPr bwMode="auto">
          <a:xfrm flipV="1">
            <a:off x="65532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8016" name="Line 16"/>
          <p:cNvSpPr>
            <a:spLocks noChangeShapeType="1"/>
          </p:cNvSpPr>
          <p:nvPr/>
        </p:nvSpPr>
        <p:spPr bwMode="auto">
          <a:xfrm flipV="1">
            <a:off x="4191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8017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7600950" cy="337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/>
              <a:t>While data[too_big_index] &lt;= data[pivot]</a:t>
            </a:r>
          </a:p>
          <a:p>
            <a:pPr marL="914400" lvl="1" indent="-457200"/>
            <a:r>
              <a:rPr lang="en-US"/>
              <a:t>	++too_big_index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data[too_small_index] &gt; data[pivot]</a:t>
            </a:r>
          </a:p>
          <a:p>
            <a:pPr marL="914400" lvl="1" indent="-457200"/>
            <a:r>
              <a:rPr lang="en-US"/>
              <a:t>	--too_small_index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If too_big_index &lt; too_small_index</a:t>
            </a:r>
          </a:p>
          <a:p>
            <a:pPr marL="914400" lvl="1" indent="-457200"/>
            <a:r>
              <a:rPr lang="en-US"/>
              <a:t>	swap data[too_big_index] and data[too_small_index]</a:t>
            </a:r>
          </a:p>
          <a:p>
            <a:pPr marL="457200" indent="-457200"/>
            <a:endParaRPr lang="en-US"/>
          </a:p>
          <a:p>
            <a:pPr marL="914400" lvl="1" indent="-457200">
              <a:buFontTx/>
              <a:buAutoNum type="arabicPeriod"/>
            </a:pPr>
            <a:endParaRPr lang="en-US"/>
          </a:p>
          <a:p>
            <a:pPr marL="457200" indent="-457200"/>
            <a:endParaRPr lang="en-US"/>
          </a:p>
        </p:txBody>
      </p:sp>
      <p:sp>
        <p:nvSpPr>
          <p:cNvPr id="128018" name="Freeform 18"/>
          <p:cNvSpPr>
            <a:spLocks/>
          </p:cNvSpPr>
          <p:nvPr/>
        </p:nvSpPr>
        <p:spPr bwMode="auto">
          <a:xfrm>
            <a:off x="4343400" y="3733800"/>
            <a:ext cx="2527300" cy="457200"/>
          </a:xfrm>
          <a:custGeom>
            <a:avLst/>
            <a:gdLst>
              <a:gd name="T0" fmla="*/ 0 w 1592"/>
              <a:gd name="T1" fmla="*/ 457200 h 560"/>
              <a:gd name="T2" fmla="*/ 609600 w 1592"/>
              <a:gd name="T3" fmla="*/ 65314 h 560"/>
              <a:gd name="T4" fmla="*/ 2209800 w 1592"/>
              <a:gd name="T5" fmla="*/ 65314 h 560"/>
              <a:gd name="T6" fmla="*/ 2514600 w 1592"/>
              <a:gd name="T7" fmla="*/ 457200 h 560"/>
              <a:gd name="T8" fmla="*/ 0 60000 65536"/>
              <a:gd name="T9" fmla="*/ 0 60000 65536"/>
              <a:gd name="T10" fmla="*/ 0 60000 65536"/>
              <a:gd name="T11" fmla="*/ 0 60000 65536"/>
              <a:gd name="T12" fmla="*/ 0 w 1592"/>
              <a:gd name="T13" fmla="*/ 0 h 560"/>
              <a:gd name="T14" fmla="*/ 1592 w 1592"/>
              <a:gd name="T15" fmla="*/ 560 h 5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92" h="560">
                <a:moveTo>
                  <a:pt x="0" y="560"/>
                </a:moveTo>
                <a:cubicBezTo>
                  <a:pt x="76" y="360"/>
                  <a:pt x="152" y="160"/>
                  <a:pt x="384" y="80"/>
                </a:cubicBezTo>
                <a:cubicBezTo>
                  <a:pt x="616" y="0"/>
                  <a:pt x="1192" y="0"/>
                  <a:pt x="1392" y="80"/>
                </a:cubicBezTo>
                <a:cubicBezTo>
                  <a:pt x="1592" y="160"/>
                  <a:pt x="1588" y="360"/>
                  <a:pt x="1584" y="560"/>
                </a:cubicBezTo>
              </a:path>
            </a:pathLst>
          </a:custGeom>
          <a:noFill/>
          <a:ln w="38100">
            <a:solidFill>
              <a:srgbClr val="FF33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29028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29029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29030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29031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29032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29033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29034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29035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pivot_index = 0</a:t>
            </a:r>
          </a:p>
        </p:txBody>
      </p:sp>
      <p:sp>
        <p:nvSpPr>
          <p:cNvPr id="129036" name="Text Box 12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[0]    [1]   [2]    [3]   [4]   [5]    [6]   [7]   [8]</a:t>
            </a:r>
          </a:p>
        </p:txBody>
      </p:sp>
      <p:sp>
        <p:nvSpPr>
          <p:cNvPr id="129037" name="Text Box 13"/>
          <p:cNvSpPr txBox="1">
            <a:spLocks noChangeArrowheads="1"/>
          </p:cNvSpPr>
          <p:nvPr/>
        </p:nvSpPr>
        <p:spPr bwMode="auto">
          <a:xfrm>
            <a:off x="34290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too_big_index</a:t>
            </a:r>
          </a:p>
        </p:txBody>
      </p:sp>
      <p:sp>
        <p:nvSpPr>
          <p:cNvPr id="129038" name="Text Box 14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too_small_index</a:t>
            </a:r>
          </a:p>
        </p:txBody>
      </p:sp>
      <p:sp>
        <p:nvSpPr>
          <p:cNvPr id="129039" name="Line 15"/>
          <p:cNvSpPr>
            <a:spLocks noChangeShapeType="1"/>
          </p:cNvSpPr>
          <p:nvPr/>
        </p:nvSpPr>
        <p:spPr bwMode="auto">
          <a:xfrm flipV="1">
            <a:off x="65532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9040" name="Line 16"/>
          <p:cNvSpPr>
            <a:spLocks noChangeShapeType="1"/>
          </p:cNvSpPr>
          <p:nvPr/>
        </p:nvSpPr>
        <p:spPr bwMode="auto">
          <a:xfrm flipV="1">
            <a:off x="4191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9041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7600950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/>
              <a:t>While data[too_big_index] &lt;= data[pivot]</a:t>
            </a:r>
          </a:p>
          <a:p>
            <a:pPr marL="914400" lvl="1" indent="-457200"/>
            <a:r>
              <a:rPr lang="en-US"/>
              <a:t>	++too_big_index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data[too_small_index] &gt; data[pivot]</a:t>
            </a:r>
          </a:p>
          <a:p>
            <a:pPr marL="914400" lvl="1" indent="-457200"/>
            <a:r>
              <a:rPr lang="en-US"/>
              <a:t>	--too_small_index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If too_big_index &lt; too_small_index</a:t>
            </a:r>
          </a:p>
          <a:p>
            <a:pPr marL="914400" lvl="1" indent="-457200"/>
            <a:r>
              <a:rPr lang="en-US"/>
              <a:t>	swap data[too_big_index] and data[too_small_index]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too_small_index &gt; too_big_index, go to 1.</a:t>
            </a:r>
          </a:p>
          <a:p>
            <a:pPr marL="457200" indent="-457200"/>
            <a:endParaRPr lang="en-US"/>
          </a:p>
          <a:p>
            <a:pPr marL="914400" lvl="1" indent="-457200">
              <a:buFontTx/>
              <a:buAutoNum type="arabicPeriod"/>
            </a:pPr>
            <a:endParaRPr lang="en-US"/>
          </a:p>
          <a:p>
            <a:pPr marL="457200" indent="-457200"/>
            <a:endParaRPr lang="en-US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30051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30052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30053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30054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30055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30056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30057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30058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30059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pivot_index = 0</a:t>
            </a:r>
          </a:p>
        </p:txBody>
      </p:sp>
      <p:sp>
        <p:nvSpPr>
          <p:cNvPr id="130060" name="Text Box 12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[0]    [1]   [2]    [3]   [4]   [5]    [6]   [7]   [8]</a:t>
            </a:r>
          </a:p>
        </p:txBody>
      </p:sp>
      <p:sp>
        <p:nvSpPr>
          <p:cNvPr id="130061" name="Text Box 13"/>
          <p:cNvSpPr txBox="1">
            <a:spLocks noChangeArrowheads="1"/>
          </p:cNvSpPr>
          <p:nvPr/>
        </p:nvSpPr>
        <p:spPr bwMode="auto">
          <a:xfrm>
            <a:off x="34290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too_big_index</a:t>
            </a:r>
          </a:p>
        </p:txBody>
      </p:sp>
      <p:sp>
        <p:nvSpPr>
          <p:cNvPr id="130062" name="Text Box 14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too_small_index</a:t>
            </a:r>
          </a:p>
        </p:txBody>
      </p:sp>
      <p:sp>
        <p:nvSpPr>
          <p:cNvPr id="130063" name="Line 15"/>
          <p:cNvSpPr>
            <a:spLocks noChangeShapeType="1"/>
          </p:cNvSpPr>
          <p:nvPr/>
        </p:nvSpPr>
        <p:spPr bwMode="auto">
          <a:xfrm flipV="1">
            <a:off x="65532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0064" name="Line 16"/>
          <p:cNvSpPr>
            <a:spLocks noChangeShapeType="1"/>
          </p:cNvSpPr>
          <p:nvPr/>
        </p:nvSpPr>
        <p:spPr bwMode="auto">
          <a:xfrm flipV="1">
            <a:off x="4191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0065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7600950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/>
              <a:t>While data[too_big_index] &lt;= data[pivot]</a:t>
            </a:r>
          </a:p>
          <a:p>
            <a:pPr marL="914400" lvl="1" indent="-457200"/>
            <a:r>
              <a:rPr lang="en-US"/>
              <a:t>	++too_big_index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data[too_small_index] &gt; data[pivot]</a:t>
            </a:r>
          </a:p>
          <a:p>
            <a:pPr marL="914400" lvl="1" indent="-457200"/>
            <a:r>
              <a:rPr lang="en-US"/>
              <a:t>	--too_small_index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If too_big_index &lt; too_small_index</a:t>
            </a:r>
          </a:p>
          <a:p>
            <a:pPr marL="914400" lvl="1" indent="-457200"/>
            <a:r>
              <a:rPr lang="en-US"/>
              <a:t>	swap data[too_big_index] and data[too_small_index]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too_small_index &gt; too_big_index, go to 1.</a:t>
            </a:r>
          </a:p>
          <a:p>
            <a:pPr marL="457200" indent="-457200"/>
            <a:endParaRPr lang="en-US"/>
          </a:p>
          <a:p>
            <a:pPr marL="914400" lvl="1" indent="-457200">
              <a:buFontTx/>
              <a:buAutoNum type="arabicPeriod"/>
            </a:pPr>
            <a:endParaRPr lang="en-US"/>
          </a:p>
          <a:p>
            <a:pPr marL="457200" indent="-457200"/>
            <a:endParaRPr lang="en-US"/>
          </a:p>
        </p:txBody>
      </p:sp>
      <p:sp>
        <p:nvSpPr>
          <p:cNvPr id="130066" name="Line 18"/>
          <p:cNvSpPr>
            <a:spLocks noChangeShapeType="1"/>
          </p:cNvSpPr>
          <p:nvPr/>
        </p:nvSpPr>
        <p:spPr bwMode="auto">
          <a:xfrm>
            <a:off x="609600" y="1143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31075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31076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31077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31078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31079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31080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31081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31082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31083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pivot_index = 0</a:t>
            </a:r>
          </a:p>
        </p:txBody>
      </p:sp>
      <p:sp>
        <p:nvSpPr>
          <p:cNvPr id="131084" name="Text Box 12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[0]    [1]   [2]    [3]   [4]   [5]    [6]   [7]   [8]</a:t>
            </a:r>
          </a:p>
        </p:txBody>
      </p:sp>
      <p:sp>
        <p:nvSpPr>
          <p:cNvPr id="131085" name="Text Box 13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too_big_index</a:t>
            </a:r>
          </a:p>
        </p:txBody>
      </p:sp>
      <p:sp>
        <p:nvSpPr>
          <p:cNvPr id="131086" name="Text Box 14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too_small_index</a:t>
            </a:r>
          </a:p>
        </p:txBody>
      </p:sp>
      <p:sp>
        <p:nvSpPr>
          <p:cNvPr id="131087" name="Line 15"/>
          <p:cNvSpPr>
            <a:spLocks noChangeShapeType="1"/>
          </p:cNvSpPr>
          <p:nvPr/>
        </p:nvSpPr>
        <p:spPr bwMode="auto">
          <a:xfrm flipV="1">
            <a:off x="65532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1088" name="Line 16"/>
          <p:cNvSpPr>
            <a:spLocks noChangeShapeType="1"/>
          </p:cNvSpPr>
          <p:nvPr/>
        </p:nvSpPr>
        <p:spPr bwMode="auto">
          <a:xfrm flipV="1">
            <a:off x="47244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1089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7600950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/>
              <a:t>While data[too_big_index] &lt;= data[pivot]</a:t>
            </a:r>
          </a:p>
          <a:p>
            <a:pPr marL="914400" lvl="1" indent="-457200"/>
            <a:r>
              <a:rPr lang="en-US"/>
              <a:t>	++too_big_index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data[too_small_index] &gt; data[pivot]</a:t>
            </a:r>
          </a:p>
          <a:p>
            <a:pPr marL="914400" lvl="1" indent="-457200"/>
            <a:r>
              <a:rPr lang="en-US"/>
              <a:t>	--too_small_index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If too_big_index &lt; too_small_index</a:t>
            </a:r>
          </a:p>
          <a:p>
            <a:pPr marL="914400" lvl="1" indent="-457200"/>
            <a:r>
              <a:rPr lang="en-US"/>
              <a:t>	swap data[too_big_index] and data[too_small_index]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too_small_index &gt; too_big_index, go to 1.</a:t>
            </a:r>
          </a:p>
          <a:p>
            <a:pPr marL="457200" indent="-457200"/>
            <a:endParaRPr lang="en-US"/>
          </a:p>
          <a:p>
            <a:pPr marL="914400" lvl="1" indent="-457200">
              <a:buFontTx/>
              <a:buAutoNum type="arabicPeriod"/>
            </a:pPr>
            <a:endParaRPr lang="en-US"/>
          </a:p>
          <a:p>
            <a:pPr marL="457200" indent="-457200"/>
            <a:endParaRPr lang="en-US"/>
          </a:p>
        </p:txBody>
      </p:sp>
      <p:sp>
        <p:nvSpPr>
          <p:cNvPr id="131090" name="Line 18"/>
          <p:cNvSpPr>
            <a:spLocks noChangeShapeType="1"/>
          </p:cNvSpPr>
          <p:nvPr/>
        </p:nvSpPr>
        <p:spPr bwMode="auto">
          <a:xfrm>
            <a:off x="609600" y="1143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32099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32100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32101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32102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32103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32104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32105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32106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32107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pivot_index = 0</a:t>
            </a:r>
          </a:p>
        </p:txBody>
      </p:sp>
      <p:sp>
        <p:nvSpPr>
          <p:cNvPr id="132108" name="Text Box 12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[0]    [1]   [2]    [3]   [4]   [5]    [6]   [7]   [8]</a:t>
            </a:r>
          </a:p>
        </p:txBody>
      </p:sp>
      <p:sp>
        <p:nvSpPr>
          <p:cNvPr id="132109" name="Text Box 13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too_big_index</a:t>
            </a:r>
          </a:p>
        </p:txBody>
      </p:sp>
      <p:sp>
        <p:nvSpPr>
          <p:cNvPr id="132110" name="Text Box 14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too_small_index</a:t>
            </a:r>
          </a:p>
        </p:txBody>
      </p:sp>
      <p:sp>
        <p:nvSpPr>
          <p:cNvPr id="132111" name="Line 15"/>
          <p:cNvSpPr>
            <a:spLocks noChangeShapeType="1"/>
          </p:cNvSpPr>
          <p:nvPr/>
        </p:nvSpPr>
        <p:spPr bwMode="auto">
          <a:xfrm flipV="1">
            <a:off x="65532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2112" name="Line 16"/>
          <p:cNvSpPr>
            <a:spLocks noChangeShapeType="1"/>
          </p:cNvSpPr>
          <p:nvPr/>
        </p:nvSpPr>
        <p:spPr bwMode="auto">
          <a:xfrm flipV="1">
            <a:off x="47244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2113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7600950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/>
              <a:t>While data[too_big_index] &lt;= data[pivot]</a:t>
            </a:r>
          </a:p>
          <a:p>
            <a:pPr marL="914400" lvl="1" indent="-457200"/>
            <a:r>
              <a:rPr lang="en-US"/>
              <a:t>	++too_big_index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data[too_small_index] &gt; data[pivot]</a:t>
            </a:r>
          </a:p>
          <a:p>
            <a:pPr marL="914400" lvl="1" indent="-457200"/>
            <a:r>
              <a:rPr lang="en-US"/>
              <a:t>	--too_small_index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If too_big_index &lt; too_small_index</a:t>
            </a:r>
          </a:p>
          <a:p>
            <a:pPr marL="914400" lvl="1" indent="-457200"/>
            <a:r>
              <a:rPr lang="en-US"/>
              <a:t>	swap data[too_big_index] and data[too_small_index]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too_small_index &gt; too_big_index, go to 1.</a:t>
            </a:r>
          </a:p>
          <a:p>
            <a:pPr marL="457200" indent="-457200"/>
            <a:endParaRPr lang="en-US"/>
          </a:p>
          <a:p>
            <a:pPr marL="914400" lvl="1" indent="-457200">
              <a:buFontTx/>
              <a:buAutoNum type="arabicPeriod"/>
            </a:pPr>
            <a:endParaRPr lang="en-US"/>
          </a:p>
          <a:p>
            <a:pPr marL="457200" indent="-457200"/>
            <a:endParaRPr lang="en-US"/>
          </a:p>
        </p:txBody>
      </p:sp>
      <p:sp>
        <p:nvSpPr>
          <p:cNvPr id="132114" name="Line 18"/>
          <p:cNvSpPr>
            <a:spLocks noChangeShapeType="1"/>
          </p:cNvSpPr>
          <p:nvPr/>
        </p:nvSpPr>
        <p:spPr bwMode="auto">
          <a:xfrm>
            <a:off x="609600" y="1905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33123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33124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33125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33126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33127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33128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33129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33130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33131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pivot_index = 0</a:t>
            </a:r>
          </a:p>
        </p:txBody>
      </p:sp>
      <p:sp>
        <p:nvSpPr>
          <p:cNvPr id="133132" name="Text Box 12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[0]    [1]   [2]    [3]   [4]   [5]    [6]   [7]   [8]</a:t>
            </a:r>
          </a:p>
        </p:txBody>
      </p:sp>
      <p:sp>
        <p:nvSpPr>
          <p:cNvPr id="133133" name="Text Box 13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too_big_index</a:t>
            </a:r>
          </a:p>
        </p:txBody>
      </p:sp>
      <p:sp>
        <p:nvSpPr>
          <p:cNvPr id="133134" name="Text Box 14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too_small_index</a:t>
            </a:r>
          </a:p>
        </p:txBody>
      </p:sp>
      <p:sp>
        <p:nvSpPr>
          <p:cNvPr id="133135" name="Line 15"/>
          <p:cNvSpPr>
            <a:spLocks noChangeShapeType="1"/>
          </p:cNvSpPr>
          <p:nvPr/>
        </p:nvSpPr>
        <p:spPr bwMode="auto">
          <a:xfrm flipH="1" flipV="1">
            <a:off x="6248400" y="5257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3136" name="Line 16"/>
          <p:cNvSpPr>
            <a:spLocks noChangeShapeType="1"/>
          </p:cNvSpPr>
          <p:nvPr/>
        </p:nvSpPr>
        <p:spPr bwMode="auto">
          <a:xfrm flipV="1">
            <a:off x="47244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3137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7600950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/>
              <a:t>While data[too_big_index] &lt;= data[pivot]</a:t>
            </a:r>
          </a:p>
          <a:p>
            <a:pPr marL="914400" lvl="1" indent="-457200"/>
            <a:r>
              <a:rPr lang="en-US"/>
              <a:t>	++too_big_index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data[too_small_index] &gt; data[pivot]</a:t>
            </a:r>
          </a:p>
          <a:p>
            <a:pPr marL="914400" lvl="1" indent="-457200"/>
            <a:r>
              <a:rPr lang="en-US"/>
              <a:t>	--too_small_index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If too_big_index &lt; too_small_index</a:t>
            </a:r>
          </a:p>
          <a:p>
            <a:pPr marL="914400" lvl="1" indent="-457200"/>
            <a:r>
              <a:rPr lang="en-US"/>
              <a:t>	swap data[too_big_index] and data[too_small_index]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too_small_index &gt; too_big_index, go to 1.</a:t>
            </a:r>
          </a:p>
          <a:p>
            <a:pPr marL="457200" indent="-457200"/>
            <a:endParaRPr lang="en-US"/>
          </a:p>
          <a:p>
            <a:pPr marL="914400" lvl="1" indent="-457200">
              <a:buFontTx/>
              <a:buAutoNum type="arabicPeriod"/>
            </a:pPr>
            <a:endParaRPr lang="en-US"/>
          </a:p>
          <a:p>
            <a:pPr marL="457200" indent="-457200"/>
            <a:endParaRPr lang="en-US"/>
          </a:p>
        </p:txBody>
      </p:sp>
      <p:sp>
        <p:nvSpPr>
          <p:cNvPr id="133138" name="Line 18"/>
          <p:cNvSpPr>
            <a:spLocks noChangeShapeType="1"/>
          </p:cNvSpPr>
          <p:nvPr/>
        </p:nvSpPr>
        <p:spPr bwMode="auto">
          <a:xfrm>
            <a:off x="609600" y="1905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34147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34148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34149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34150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34151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34152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34153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34154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34155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pivot_index = 0</a:t>
            </a:r>
          </a:p>
        </p:txBody>
      </p:sp>
      <p:sp>
        <p:nvSpPr>
          <p:cNvPr id="134156" name="Text Box 12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[0]    [1]   [2]    [3]   [4]   [5]    [6]   [7]   [8]</a:t>
            </a:r>
          </a:p>
        </p:txBody>
      </p:sp>
      <p:sp>
        <p:nvSpPr>
          <p:cNvPr id="134157" name="Text Box 13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too_big_index</a:t>
            </a:r>
          </a:p>
        </p:txBody>
      </p:sp>
      <p:sp>
        <p:nvSpPr>
          <p:cNvPr id="134158" name="Text Box 14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too_small_index</a:t>
            </a:r>
          </a:p>
        </p:txBody>
      </p:sp>
      <p:sp>
        <p:nvSpPr>
          <p:cNvPr id="134159" name="Line 15"/>
          <p:cNvSpPr>
            <a:spLocks noChangeShapeType="1"/>
          </p:cNvSpPr>
          <p:nvPr/>
        </p:nvSpPr>
        <p:spPr bwMode="auto">
          <a:xfrm flipH="1" flipV="1">
            <a:off x="6248400" y="5257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4160" name="Line 16"/>
          <p:cNvSpPr>
            <a:spLocks noChangeShapeType="1"/>
          </p:cNvSpPr>
          <p:nvPr/>
        </p:nvSpPr>
        <p:spPr bwMode="auto">
          <a:xfrm flipV="1">
            <a:off x="47244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4161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7600950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/>
              <a:t>While data[too_big_index] &lt;= data[pivot]</a:t>
            </a:r>
          </a:p>
          <a:p>
            <a:pPr marL="914400" lvl="1" indent="-457200"/>
            <a:r>
              <a:rPr lang="en-US"/>
              <a:t>	++too_big_index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data[too_small_index] &gt; data[pivot]</a:t>
            </a:r>
          </a:p>
          <a:p>
            <a:pPr marL="914400" lvl="1" indent="-457200"/>
            <a:r>
              <a:rPr lang="en-US"/>
              <a:t>	--too_small_index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If too_big_index &lt; too_small_index</a:t>
            </a:r>
          </a:p>
          <a:p>
            <a:pPr marL="914400" lvl="1" indent="-457200"/>
            <a:r>
              <a:rPr lang="en-US"/>
              <a:t>	swap data[too_big_index] and data[too_small_index]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too_small_index &gt; too_big_index, go to 1.</a:t>
            </a:r>
          </a:p>
          <a:p>
            <a:pPr marL="457200" indent="-457200"/>
            <a:endParaRPr lang="en-US"/>
          </a:p>
          <a:p>
            <a:pPr marL="914400" lvl="1" indent="-457200">
              <a:buFontTx/>
              <a:buAutoNum type="arabicPeriod"/>
            </a:pPr>
            <a:endParaRPr lang="en-US"/>
          </a:p>
          <a:p>
            <a:pPr marL="457200" indent="-457200"/>
            <a:endParaRPr lang="en-US"/>
          </a:p>
        </p:txBody>
      </p:sp>
      <p:sp>
        <p:nvSpPr>
          <p:cNvPr id="134162" name="Line 18"/>
          <p:cNvSpPr>
            <a:spLocks noChangeShapeType="1"/>
          </p:cNvSpPr>
          <p:nvPr/>
        </p:nvSpPr>
        <p:spPr bwMode="auto">
          <a:xfrm>
            <a:off x="609600" y="25908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4163" name="Freeform 19"/>
          <p:cNvSpPr>
            <a:spLocks/>
          </p:cNvSpPr>
          <p:nvPr/>
        </p:nvSpPr>
        <p:spPr bwMode="auto">
          <a:xfrm>
            <a:off x="4953000" y="3733800"/>
            <a:ext cx="1219200" cy="457200"/>
          </a:xfrm>
          <a:custGeom>
            <a:avLst/>
            <a:gdLst>
              <a:gd name="T0" fmla="*/ 0 w 1592"/>
              <a:gd name="T1" fmla="*/ 457200 h 560"/>
              <a:gd name="T2" fmla="*/ 294078 w 1592"/>
              <a:gd name="T3" fmla="*/ 65314 h 560"/>
              <a:gd name="T4" fmla="*/ 1066034 w 1592"/>
              <a:gd name="T5" fmla="*/ 65314 h 560"/>
              <a:gd name="T6" fmla="*/ 1213073 w 1592"/>
              <a:gd name="T7" fmla="*/ 457200 h 560"/>
              <a:gd name="T8" fmla="*/ 0 60000 65536"/>
              <a:gd name="T9" fmla="*/ 0 60000 65536"/>
              <a:gd name="T10" fmla="*/ 0 60000 65536"/>
              <a:gd name="T11" fmla="*/ 0 60000 65536"/>
              <a:gd name="T12" fmla="*/ 0 w 1592"/>
              <a:gd name="T13" fmla="*/ 0 h 560"/>
              <a:gd name="T14" fmla="*/ 1592 w 1592"/>
              <a:gd name="T15" fmla="*/ 560 h 5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92" h="560">
                <a:moveTo>
                  <a:pt x="0" y="560"/>
                </a:moveTo>
                <a:cubicBezTo>
                  <a:pt x="76" y="360"/>
                  <a:pt x="152" y="160"/>
                  <a:pt x="384" y="80"/>
                </a:cubicBezTo>
                <a:cubicBezTo>
                  <a:pt x="616" y="0"/>
                  <a:pt x="1192" y="0"/>
                  <a:pt x="1392" y="80"/>
                </a:cubicBezTo>
                <a:cubicBezTo>
                  <a:pt x="1592" y="160"/>
                  <a:pt x="1588" y="360"/>
                  <a:pt x="1584" y="560"/>
                </a:cubicBezTo>
              </a:path>
            </a:pathLst>
          </a:custGeom>
          <a:noFill/>
          <a:ln w="38100">
            <a:solidFill>
              <a:srgbClr val="FF33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7600950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/>
              <a:t>While data[too_big_index] &lt;= data[pivot]</a:t>
            </a:r>
          </a:p>
          <a:p>
            <a:pPr marL="914400" lvl="1" indent="-457200"/>
            <a:r>
              <a:rPr lang="en-US"/>
              <a:t>	++too_big_index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data[too_small_index] &gt; data[pivot]</a:t>
            </a:r>
          </a:p>
          <a:p>
            <a:pPr marL="914400" lvl="1" indent="-457200"/>
            <a:r>
              <a:rPr lang="en-US"/>
              <a:t>	--too_small_index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If too_big_index &lt; too_small_index</a:t>
            </a:r>
          </a:p>
          <a:p>
            <a:pPr marL="914400" lvl="1" indent="-457200"/>
            <a:r>
              <a:rPr lang="en-US"/>
              <a:t>	swap data[too_big_index] and data[too_small_index]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too_small_index &gt; too_big_index, go to 1.</a:t>
            </a:r>
          </a:p>
          <a:p>
            <a:pPr marL="457200" indent="-457200"/>
            <a:endParaRPr lang="en-US"/>
          </a:p>
          <a:p>
            <a:pPr marL="914400" lvl="1" indent="-457200">
              <a:buFontTx/>
              <a:buAutoNum type="arabicPeriod"/>
            </a:pPr>
            <a:endParaRPr lang="en-US"/>
          </a:p>
          <a:p>
            <a:pPr marL="457200" indent="-457200"/>
            <a:endParaRPr lang="en-US"/>
          </a:p>
        </p:txBody>
      </p:sp>
      <p:sp>
        <p:nvSpPr>
          <p:cNvPr id="135171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35172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35173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35174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35175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35176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35177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35178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35179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35180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pivot_index = 0</a:t>
            </a:r>
          </a:p>
        </p:txBody>
      </p:sp>
      <p:sp>
        <p:nvSpPr>
          <p:cNvPr id="135181" name="Text Box 12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[0]    [1]   [2]    [3]   [4]   [5]    [6]   [7]   [8]</a:t>
            </a:r>
          </a:p>
        </p:txBody>
      </p:sp>
      <p:sp>
        <p:nvSpPr>
          <p:cNvPr id="135182" name="Text Box 13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too_big_index</a:t>
            </a:r>
          </a:p>
        </p:txBody>
      </p:sp>
      <p:sp>
        <p:nvSpPr>
          <p:cNvPr id="135183" name="Text Box 14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too_small_index</a:t>
            </a:r>
          </a:p>
        </p:txBody>
      </p:sp>
      <p:sp>
        <p:nvSpPr>
          <p:cNvPr id="135184" name="Line 15"/>
          <p:cNvSpPr>
            <a:spLocks noChangeShapeType="1"/>
          </p:cNvSpPr>
          <p:nvPr/>
        </p:nvSpPr>
        <p:spPr bwMode="auto">
          <a:xfrm flipH="1" flipV="1">
            <a:off x="6248400" y="5257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5185" name="Line 16"/>
          <p:cNvSpPr>
            <a:spLocks noChangeShapeType="1"/>
          </p:cNvSpPr>
          <p:nvPr/>
        </p:nvSpPr>
        <p:spPr bwMode="auto">
          <a:xfrm flipV="1">
            <a:off x="47244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5186" name="Line 18"/>
          <p:cNvSpPr>
            <a:spLocks noChangeShapeType="1"/>
          </p:cNvSpPr>
          <p:nvPr/>
        </p:nvSpPr>
        <p:spPr bwMode="auto">
          <a:xfrm>
            <a:off x="609600" y="25908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5187" name="Freeform 19"/>
          <p:cNvSpPr>
            <a:spLocks/>
          </p:cNvSpPr>
          <p:nvPr/>
        </p:nvSpPr>
        <p:spPr bwMode="auto">
          <a:xfrm>
            <a:off x="4953000" y="3733800"/>
            <a:ext cx="1219200" cy="457200"/>
          </a:xfrm>
          <a:custGeom>
            <a:avLst/>
            <a:gdLst>
              <a:gd name="T0" fmla="*/ 0 w 1592"/>
              <a:gd name="T1" fmla="*/ 457200 h 560"/>
              <a:gd name="T2" fmla="*/ 294078 w 1592"/>
              <a:gd name="T3" fmla="*/ 65314 h 560"/>
              <a:gd name="T4" fmla="*/ 1066034 w 1592"/>
              <a:gd name="T5" fmla="*/ 65314 h 560"/>
              <a:gd name="T6" fmla="*/ 1213073 w 1592"/>
              <a:gd name="T7" fmla="*/ 457200 h 560"/>
              <a:gd name="T8" fmla="*/ 0 60000 65536"/>
              <a:gd name="T9" fmla="*/ 0 60000 65536"/>
              <a:gd name="T10" fmla="*/ 0 60000 65536"/>
              <a:gd name="T11" fmla="*/ 0 60000 65536"/>
              <a:gd name="T12" fmla="*/ 0 w 1592"/>
              <a:gd name="T13" fmla="*/ 0 h 560"/>
              <a:gd name="T14" fmla="*/ 1592 w 1592"/>
              <a:gd name="T15" fmla="*/ 560 h 5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92" h="560">
                <a:moveTo>
                  <a:pt x="0" y="560"/>
                </a:moveTo>
                <a:cubicBezTo>
                  <a:pt x="76" y="360"/>
                  <a:pt x="152" y="160"/>
                  <a:pt x="384" y="80"/>
                </a:cubicBezTo>
                <a:cubicBezTo>
                  <a:pt x="616" y="0"/>
                  <a:pt x="1192" y="0"/>
                  <a:pt x="1392" y="80"/>
                </a:cubicBezTo>
                <a:cubicBezTo>
                  <a:pt x="1592" y="160"/>
                  <a:pt x="1588" y="360"/>
                  <a:pt x="1584" y="560"/>
                </a:cubicBezTo>
              </a:path>
            </a:pathLst>
          </a:custGeom>
          <a:noFill/>
          <a:ln w="38100">
            <a:solidFill>
              <a:srgbClr val="FF33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7600950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/>
              <a:t>While data[too_big_index] &lt;= data[pivot]</a:t>
            </a:r>
          </a:p>
          <a:p>
            <a:pPr marL="914400" lvl="1" indent="-457200"/>
            <a:r>
              <a:rPr lang="en-US"/>
              <a:t>	++too_big_index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data[too_small_index] &gt; data[pivot]</a:t>
            </a:r>
          </a:p>
          <a:p>
            <a:pPr marL="914400" lvl="1" indent="-457200"/>
            <a:r>
              <a:rPr lang="en-US"/>
              <a:t>	--too_small_index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If too_big_index &lt; too_small_index</a:t>
            </a:r>
          </a:p>
          <a:p>
            <a:pPr marL="914400" lvl="1" indent="-457200"/>
            <a:r>
              <a:rPr lang="en-US"/>
              <a:t>	swap data[too_big_index] and data[too_small_index]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too_small_index &gt; too_big_index, go to 1.</a:t>
            </a:r>
          </a:p>
          <a:p>
            <a:pPr marL="457200" indent="-457200"/>
            <a:endParaRPr lang="en-US"/>
          </a:p>
          <a:p>
            <a:pPr marL="914400" lvl="1" indent="-457200">
              <a:buFontTx/>
              <a:buAutoNum type="arabicPeriod"/>
            </a:pPr>
            <a:endParaRPr lang="en-US"/>
          </a:p>
          <a:p>
            <a:pPr marL="457200" indent="-457200"/>
            <a:endParaRPr lang="en-US"/>
          </a:p>
        </p:txBody>
      </p:sp>
      <p:sp>
        <p:nvSpPr>
          <p:cNvPr id="136195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36196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36197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36198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36199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36200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36201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36202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36203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36204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pivot_index = 0</a:t>
            </a:r>
          </a:p>
        </p:txBody>
      </p:sp>
      <p:sp>
        <p:nvSpPr>
          <p:cNvPr id="136205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[0]    [1]   [2]    [3]   [4]   [5]    [6]   [7]   [8]</a:t>
            </a:r>
          </a:p>
        </p:txBody>
      </p:sp>
      <p:sp>
        <p:nvSpPr>
          <p:cNvPr id="136206" name="Text Box 14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too_big_index</a:t>
            </a:r>
          </a:p>
        </p:txBody>
      </p:sp>
      <p:sp>
        <p:nvSpPr>
          <p:cNvPr id="136207" name="Text Box 15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too_small_index</a:t>
            </a:r>
          </a:p>
        </p:txBody>
      </p:sp>
      <p:sp>
        <p:nvSpPr>
          <p:cNvPr id="136208" name="Line 16"/>
          <p:cNvSpPr>
            <a:spLocks noChangeShapeType="1"/>
          </p:cNvSpPr>
          <p:nvPr/>
        </p:nvSpPr>
        <p:spPr bwMode="auto">
          <a:xfrm flipH="1" flipV="1">
            <a:off x="6248400" y="5257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6209" name="Line 17"/>
          <p:cNvSpPr>
            <a:spLocks noChangeShapeType="1"/>
          </p:cNvSpPr>
          <p:nvPr/>
        </p:nvSpPr>
        <p:spPr bwMode="auto">
          <a:xfrm flipV="1">
            <a:off x="47244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6210" name="Line 18"/>
          <p:cNvSpPr>
            <a:spLocks noChangeShapeType="1"/>
          </p:cNvSpPr>
          <p:nvPr/>
        </p:nvSpPr>
        <p:spPr bwMode="auto">
          <a:xfrm>
            <a:off x="609600" y="33528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7600950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/>
              <a:t>While data[too_big_index] &lt;= data[pivot]</a:t>
            </a:r>
          </a:p>
          <a:p>
            <a:pPr marL="914400" lvl="1" indent="-457200"/>
            <a:r>
              <a:rPr lang="en-US"/>
              <a:t>	++too_big_index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data[too_small_index] &gt; data[pivot]</a:t>
            </a:r>
          </a:p>
          <a:p>
            <a:pPr marL="914400" lvl="1" indent="-457200"/>
            <a:r>
              <a:rPr lang="en-US"/>
              <a:t>	--too_small_index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If too_big_index &lt; too_small_index</a:t>
            </a:r>
          </a:p>
          <a:p>
            <a:pPr marL="914400" lvl="1" indent="-457200"/>
            <a:r>
              <a:rPr lang="en-US"/>
              <a:t>	swap data[too_big_index] and data[too_small_index]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too_small_index &gt; too_big_index, go to 1.</a:t>
            </a:r>
          </a:p>
          <a:p>
            <a:pPr marL="457200" indent="-457200"/>
            <a:endParaRPr lang="en-US"/>
          </a:p>
          <a:p>
            <a:pPr marL="914400" lvl="1" indent="-457200">
              <a:buFontTx/>
              <a:buAutoNum type="arabicPeriod"/>
            </a:pPr>
            <a:endParaRPr lang="en-US"/>
          </a:p>
          <a:p>
            <a:pPr marL="457200" indent="-457200"/>
            <a:endParaRPr lang="en-US"/>
          </a:p>
        </p:txBody>
      </p:sp>
      <p:sp>
        <p:nvSpPr>
          <p:cNvPr id="137219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37220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37221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37222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37223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37224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37225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37226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37227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37228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pivot_index = 0</a:t>
            </a:r>
          </a:p>
        </p:txBody>
      </p:sp>
      <p:sp>
        <p:nvSpPr>
          <p:cNvPr id="13722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[0]    [1]   [2]    [3]   [4]   [5]    [6]   [7]   [8]</a:t>
            </a:r>
          </a:p>
        </p:txBody>
      </p:sp>
      <p:sp>
        <p:nvSpPr>
          <p:cNvPr id="137230" name="Text Box 14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too_big_index</a:t>
            </a:r>
          </a:p>
        </p:txBody>
      </p:sp>
      <p:sp>
        <p:nvSpPr>
          <p:cNvPr id="137231" name="Text Box 15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too_small_index</a:t>
            </a:r>
          </a:p>
        </p:txBody>
      </p:sp>
      <p:sp>
        <p:nvSpPr>
          <p:cNvPr id="137232" name="Line 16"/>
          <p:cNvSpPr>
            <a:spLocks noChangeShapeType="1"/>
          </p:cNvSpPr>
          <p:nvPr/>
        </p:nvSpPr>
        <p:spPr bwMode="auto">
          <a:xfrm flipH="1" flipV="1">
            <a:off x="6248400" y="5257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7233" name="Line 17"/>
          <p:cNvSpPr>
            <a:spLocks noChangeShapeType="1"/>
          </p:cNvSpPr>
          <p:nvPr/>
        </p:nvSpPr>
        <p:spPr bwMode="auto">
          <a:xfrm flipV="1">
            <a:off x="47244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7234" name="Line 18"/>
          <p:cNvSpPr>
            <a:spLocks noChangeShapeType="1"/>
          </p:cNvSpPr>
          <p:nvPr/>
        </p:nvSpPr>
        <p:spPr bwMode="auto">
          <a:xfrm>
            <a:off x="609600" y="1143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7600950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/>
              <a:t>While data[too_big_index] &lt;= data[pivot]</a:t>
            </a:r>
          </a:p>
          <a:p>
            <a:pPr marL="914400" lvl="1" indent="-457200"/>
            <a:r>
              <a:rPr lang="en-US"/>
              <a:t>	++too_big_index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data[too_small_index] &gt; data[pivot]</a:t>
            </a:r>
          </a:p>
          <a:p>
            <a:pPr marL="914400" lvl="1" indent="-457200"/>
            <a:r>
              <a:rPr lang="en-US"/>
              <a:t>	--too_small_index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If too_big_index &lt; too_small_index</a:t>
            </a:r>
          </a:p>
          <a:p>
            <a:pPr marL="914400" lvl="1" indent="-457200"/>
            <a:r>
              <a:rPr lang="en-US"/>
              <a:t>	swap data[too_big_index] and data[too_small_index]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too_small_index &gt; too_big_index, go to 1.</a:t>
            </a:r>
          </a:p>
          <a:p>
            <a:pPr marL="457200" indent="-457200"/>
            <a:endParaRPr lang="en-US"/>
          </a:p>
          <a:p>
            <a:pPr marL="914400" lvl="1" indent="-457200">
              <a:buFontTx/>
              <a:buAutoNum type="arabicPeriod"/>
            </a:pPr>
            <a:endParaRPr lang="en-US"/>
          </a:p>
          <a:p>
            <a:pPr marL="457200" indent="-457200"/>
            <a:endParaRPr lang="en-US"/>
          </a:p>
        </p:txBody>
      </p:sp>
      <p:sp>
        <p:nvSpPr>
          <p:cNvPr id="138243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38244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38245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38246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38247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38248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38249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38250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38251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38252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pivot_index = 0</a:t>
            </a:r>
          </a:p>
        </p:txBody>
      </p:sp>
      <p:sp>
        <p:nvSpPr>
          <p:cNvPr id="138253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[0]    [1]   [2]    [3]   [4]   [5]    [6]   [7]   [8]</a:t>
            </a:r>
          </a:p>
        </p:txBody>
      </p:sp>
      <p:sp>
        <p:nvSpPr>
          <p:cNvPr id="138254" name="Text Box 14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too_big_index</a:t>
            </a:r>
          </a:p>
        </p:txBody>
      </p:sp>
      <p:sp>
        <p:nvSpPr>
          <p:cNvPr id="138255" name="Text Box 15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too_small_index</a:t>
            </a:r>
          </a:p>
        </p:txBody>
      </p:sp>
      <p:sp>
        <p:nvSpPr>
          <p:cNvPr id="138256" name="Line 16"/>
          <p:cNvSpPr>
            <a:spLocks noChangeShapeType="1"/>
          </p:cNvSpPr>
          <p:nvPr/>
        </p:nvSpPr>
        <p:spPr bwMode="auto">
          <a:xfrm flipH="1" flipV="1">
            <a:off x="6248400" y="5257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8257" name="Line 17"/>
          <p:cNvSpPr>
            <a:spLocks noChangeShapeType="1"/>
          </p:cNvSpPr>
          <p:nvPr/>
        </p:nvSpPr>
        <p:spPr bwMode="auto">
          <a:xfrm flipV="1">
            <a:off x="4724400" y="52578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8258" name="Line 18"/>
          <p:cNvSpPr>
            <a:spLocks noChangeShapeType="1"/>
          </p:cNvSpPr>
          <p:nvPr/>
        </p:nvSpPr>
        <p:spPr bwMode="auto">
          <a:xfrm>
            <a:off x="609600" y="1143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7600950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/>
              <a:t>While data[too_big_index] &lt;= data[pivot]</a:t>
            </a:r>
          </a:p>
          <a:p>
            <a:pPr marL="914400" lvl="1" indent="-457200"/>
            <a:r>
              <a:rPr lang="en-US"/>
              <a:t>	++too_big_index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data[too_small_index] &gt; data[pivot]</a:t>
            </a:r>
          </a:p>
          <a:p>
            <a:pPr marL="914400" lvl="1" indent="-457200"/>
            <a:r>
              <a:rPr lang="en-US"/>
              <a:t>	--too_small_index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If too_big_index &lt; too_small_index</a:t>
            </a:r>
          </a:p>
          <a:p>
            <a:pPr marL="914400" lvl="1" indent="-457200"/>
            <a:r>
              <a:rPr lang="en-US"/>
              <a:t>	swap data[too_big_index] and data[too_small_index]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too_small_index &gt; too_big_index, go to 1.</a:t>
            </a:r>
          </a:p>
          <a:p>
            <a:pPr marL="457200" indent="-457200"/>
            <a:endParaRPr lang="en-US"/>
          </a:p>
          <a:p>
            <a:pPr marL="914400" lvl="1" indent="-457200">
              <a:buFontTx/>
              <a:buAutoNum type="arabicPeriod"/>
            </a:pPr>
            <a:endParaRPr lang="en-US"/>
          </a:p>
          <a:p>
            <a:pPr marL="457200" indent="-457200"/>
            <a:endParaRPr lang="en-US"/>
          </a:p>
        </p:txBody>
      </p:sp>
      <p:sp>
        <p:nvSpPr>
          <p:cNvPr id="139267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39268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39269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39270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39271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39272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39273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39274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39275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39276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pivot_index = 0</a:t>
            </a:r>
          </a:p>
        </p:txBody>
      </p:sp>
      <p:sp>
        <p:nvSpPr>
          <p:cNvPr id="139277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[0]    [1]   [2]    [3]   [4]   [5]    [6]   [7]   [8]</a:t>
            </a:r>
          </a:p>
        </p:txBody>
      </p:sp>
      <p:sp>
        <p:nvSpPr>
          <p:cNvPr id="139278" name="Text Box 14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too_big_index</a:t>
            </a:r>
          </a:p>
        </p:txBody>
      </p:sp>
      <p:sp>
        <p:nvSpPr>
          <p:cNvPr id="139279" name="Text Box 15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too_small_index</a:t>
            </a:r>
          </a:p>
        </p:txBody>
      </p:sp>
      <p:sp>
        <p:nvSpPr>
          <p:cNvPr id="139280" name="Line 16"/>
          <p:cNvSpPr>
            <a:spLocks noChangeShapeType="1"/>
          </p:cNvSpPr>
          <p:nvPr/>
        </p:nvSpPr>
        <p:spPr bwMode="auto">
          <a:xfrm flipH="1" flipV="1">
            <a:off x="6248400" y="5257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9281" name="Line 17"/>
          <p:cNvSpPr>
            <a:spLocks noChangeShapeType="1"/>
          </p:cNvSpPr>
          <p:nvPr/>
        </p:nvSpPr>
        <p:spPr bwMode="auto">
          <a:xfrm flipV="1">
            <a:off x="4724400" y="52578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9282" name="Line 18"/>
          <p:cNvSpPr>
            <a:spLocks noChangeShapeType="1"/>
          </p:cNvSpPr>
          <p:nvPr/>
        </p:nvSpPr>
        <p:spPr bwMode="auto">
          <a:xfrm>
            <a:off x="609600" y="1905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7600950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/>
              <a:t>While data[too_big_index] &lt;= data[pivot]</a:t>
            </a:r>
          </a:p>
          <a:p>
            <a:pPr marL="914400" lvl="1" indent="-457200"/>
            <a:r>
              <a:rPr lang="en-US"/>
              <a:t>	++too_big_index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data[too_small_index] &gt; data[pivot]</a:t>
            </a:r>
          </a:p>
          <a:p>
            <a:pPr marL="914400" lvl="1" indent="-457200"/>
            <a:r>
              <a:rPr lang="en-US"/>
              <a:t>	--too_small_index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If too_big_index &lt; too_small_index</a:t>
            </a:r>
          </a:p>
          <a:p>
            <a:pPr marL="914400" lvl="1" indent="-457200"/>
            <a:r>
              <a:rPr lang="en-US"/>
              <a:t>	swap data[too_big_index] and data[too_small_index]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too_small_index &gt; too_big_index, go to 1.</a:t>
            </a:r>
          </a:p>
          <a:p>
            <a:pPr marL="457200" indent="-457200"/>
            <a:endParaRPr lang="en-US"/>
          </a:p>
          <a:p>
            <a:pPr marL="914400" lvl="1" indent="-457200">
              <a:buFontTx/>
              <a:buAutoNum type="arabicPeriod"/>
            </a:pPr>
            <a:endParaRPr lang="en-US"/>
          </a:p>
          <a:p>
            <a:pPr marL="457200" indent="-457200"/>
            <a:endParaRPr lang="en-US"/>
          </a:p>
        </p:txBody>
      </p:sp>
      <p:sp>
        <p:nvSpPr>
          <p:cNvPr id="140291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40292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40293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40294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40295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40296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40297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40298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40299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40300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pivot_index = 0</a:t>
            </a:r>
          </a:p>
        </p:txBody>
      </p:sp>
      <p:sp>
        <p:nvSpPr>
          <p:cNvPr id="140301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[0]    [1]   [2]    [3]   [4]   [5]    [6]   [7]   [8]</a:t>
            </a:r>
          </a:p>
        </p:txBody>
      </p:sp>
      <p:sp>
        <p:nvSpPr>
          <p:cNvPr id="140302" name="Text Box 14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too_big_index</a:t>
            </a:r>
          </a:p>
        </p:txBody>
      </p:sp>
      <p:sp>
        <p:nvSpPr>
          <p:cNvPr id="140303" name="Text Box 15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too_small_index</a:t>
            </a:r>
          </a:p>
        </p:txBody>
      </p:sp>
      <p:sp>
        <p:nvSpPr>
          <p:cNvPr id="140304" name="Line 16"/>
          <p:cNvSpPr>
            <a:spLocks noChangeShapeType="1"/>
          </p:cNvSpPr>
          <p:nvPr/>
        </p:nvSpPr>
        <p:spPr bwMode="auto">
          <a:xfrm flipH="1" flipV="1">
            <a:off x="5638800" y="5257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0305" name="Line 17"/>
          <p:cNvSpPr>
            <a:spLocks noChangeShapeType="1"/>
          </p:cNvSpPr>
          <p:nvPr/>
        </p:nvSpPr>
        <p:spPr bwMode="auto">
          <a:xfrm flipV="1">
            <a:off x="4724400" y="52578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0306" name="Line 18"/>
          <p:cNvSpPr>
            <a:spLocks noChangeShapeType="1"/>
          </p:cNvSpPr>
          <p:nvPr/>
        </p:nvSpPr>
        <p:spPr bwMode="auto">
          <a:xfrm>
            <a:off x="609600" y="1905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7600950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/>
              <a:t>While data[too_big_index] &lt;= data[pivot]</a:t>
            </a:r>
          </a:p>
          <a:p>
            <a:pPr marL="914400" lvl="1" indent="-457200"/>
            <a:r>
              <a:rPr lang="en-US"/>
              <a:t>	++too_big_index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data[too_small_index] &gt; data[pivot]</a:t>
            </a:r>
          </a:p>
          <a:p>
            <a:pPr marL="914400" lvl="1" indent="-457200"/>
            <a:r>
              <a:rPr lang="en-US"/>
              <a:t>	--too_small_index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If too_big_index &lt; too_small_index</a:t>
            </a:r>
          </a:p>
          <a:p>
            <a:pPr marL="914400" lvl="1" indent="-457200"/>
            <a:r>
              <a:rPr lang="en-US"/>
              <a:t>	swap data[too_big_index] and data[too_small_index]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too_small_index &gt; too_big_index, go to 1.</a:t>
            </a:r>
          </a:p>
          <a:p>
            <a:pPr marL="457200" indent="-457200"/>
            <a:endParaRPr lang="en-US"/>
          </a:p>
          <a:p>
            <a:pPr marL="914400" lvl="1" indent="-457200">
              <a:buFontTx/>
              <a:buAutoNum type="arabicPeriod"/>
            </a:pPr>
            <a:endParaRPr lang="en-US"/>
          </a:p>
          <a:p>
            <a:pPr marL="457200" indent="-457200"/>
            <a:endParaRPr lang="en-US"/>
          </a:p>
        </p:txBody>
      </p:sp>
      <p:sp>
        <p:nvSpPr>
          <p:cNvPr id="141315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41316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41317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41318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41319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41320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41321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41322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41323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41324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pivot_index = 0</a:t>
            </a:r>
          </a:p>
        </p:txBody>
      </p:sp>
      <p:sp>
        <p:nvSpPr>
          <p:cNvPr id="141325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[0]    [1]   [2]    [3]   [4]   [5]    [6]   [7]   [8]</a:t>
            </a:r>
          </a:p>
        </p:txBody>
      </p:sp>
      <p:sp>
        <p:nvSpPr>
          <p:cNvPr id="141326" name="Text Box 14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too_big_index</a:t>
            </a:r>
          </a:p>
        </p:txBody>
      </p:sp>
      <p:sp>
        <p:nvSpPr>
          <p:cNvPr id="141327" name="Text Box 15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too_small_index</a:t>
            </a:r>
          </a:p>
        </p:txBody>
      </p:sp>
      <p:sp>
        <p:nvSpPr>
          <p:cNvPr id="141328" name="Line 16"/>
          <p:cNvSpPr>
            <a:spLocks noChangeShapeType="1"/>
          </p:cNvSpPr>
          <p:nvPr/>
        </p:nvSpPr>
        <p:spPr bwMode="auto">
          <a:xfrm flipH="1" flipV="1">
            <a:off x="5029200" y="52578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1329" name="Line 17"/>
          <p:cNvSpPr>
            <a:spLocks noChangeShapeType="1"/>
          </p:cNvSpPr>
          <p:nvPr/>
        </p:nvSpPr>
        <p:spPr bwMode="auto">
          <a:xfrm flipV="1">
            <a:off x="4724400" y="52578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1330" name="Line 18"/>
          <p:cNvSpPr>
            <a:spLocks noChangeShapeType="1"/>
          </p:cNvSpPr>
          <p:nvPr/>
        </p:nvSpPr>
        <p:spPr bwMode="auto">
          <a:xfrm>
            <a:off x="609600" y="1905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7600950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/>
              <a:t>While data[too_big_index] &lt;= data[pivot]</a:t>
            </a:r>
          </a:p>
          <a:p>
            <a:pPr marL="914400" lvl="1" indent="-457200"/>
            <a:r>
              <a:rPr lang="en-US"/>
              <a:t>	++too_big_index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data[too_small_index] &gt; data[pivot]</a:t>
            </a:r>
          </a:p>
          <a:p>
            <a:pPr marL="914400" lvl="1" indent="-457200"/>
            <a:r>
              <a:rPr lang="en-US"/>
              <a:t>	--too_small_index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If too_big_index &lt; too_small_index</a:t>
            </a:r>
          </a:p>
          <a:p>
            <a:pPr marL="914400" lvl="1" indent="-457200"/>
            <a:r>
              <a:rPr lang="en-US"/>
              <a:t>	swap data[too_big_index] and data[too_small_index]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too_small_index &gt; too_big_index, go to 1.</a:t>
            </a:r>
          </a:p>
          <a:p>
            <a:pPr marL="457200" indent="-457200"/>
            <a:endParaRPr lang="en-US"/>
          </a:p>
          <a:p>
            <a:pPr marL="914400" lvl="1" indent="-457200">
              <a:buFontTx/>
              <a:buAutoNum type="arabicPeriod"/>
            </a:pPr>
            <a:endParaRPr lang="en-US"/>
          </a:p>
          <a:p>
            <a:pPr marL="457200" indent="-457200"/>
            <a:endParaRPr lang="en-US"/>
          </a:p>
        </p:txBody>
      </p:sp>
      <p:sp>
        <p:nvSpPr>
          <p:cNvPr id="142339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42340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42341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42342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42343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42344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42345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42346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42347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42348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pivot_index = 0</a:t>
            </a:r>
          </a:p>
        </p:txBody>
      </p:sp>
      <p:sp>
        <p:nvSpPr>
          <p:cNvPr id="14234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[0]    [1]   [2]    [3]   [4]   [5]    [6]   [7]   [8]</a:t>
            </a:r>
          </a:p>
        </p:txBody>
      </p:sp>
      <p:sp>
        <p:nvSpPr>
          <p:cNvPr id="142350" name="Text Box 14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too_big_index</a:t>
            </a:r>
          </a:p>
        </p:txBody>
      </p:sp>
      <p:sp>
        <p:nvSpPr>
          <p:cNvPr id="142351" name="Text Box 15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too_small_index</a:t>
            </a:r>
          </a:p>
        </p:txBody>
      </p:sp>
      <p:sp>
        <p:nvSpPr>
          <p:cNvPr id="142352" name="Line 16"/>
          <p:cNvSpPr>
            <a:spLocks noChangeShapeType="1"/>
          </p:cNvSpPr>
          <p:nvPr/>
        </p:nvSpPr>
        <p:spPr bwMode="auto">
          <a:xfrm flipH="1" flipV="1">
            <a:off x="5029200" y="52578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2353" name="Line 17"/>
          <p:cNvSpPr>
            <a:spLocks noChangeShapeType="1"/>
          </p:cNvSpPr>
          <p:nvPr/>
        </p:nvSpPr>
        <p:spPr bwMode="auto">
          <a:xfrm flipV="1">
            <a:off x="4724400" y="52578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2354" name="Line 18"/>
          <p:cNvSpPr>
            <a:spLocks noChangeShapeType="1"/>
          </p:cNvSpPr>
          <p:nvPr/>
        </p:nvSpPr>
        <p:spPr bwMode="auto">
          <a:xfrm>
            <a:off x="609600" y="25908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7600950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/>
              <a:t>While data[too_big_index] &lt;= data[pivot]</a:t>
            </a:r>
          </a:p>
          <a:p>
            <a:pPr marL="914400" lvl="1" indent="-457200"/>
            <a:r>
              <a:rPr lang="en-US"/>
              <a:t>	++too_big_index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data[too_small_index] &gt; data[pivot]</a:t>
            </a:r>
          </a:p>
          <a:p>
            <a:pPr marL="914400" lvl="1" indent="-457200"/>
            <a:r>
              <a:rPr lang="en-US"/>
              <a:t>	--too_small_index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If too_big_index &lt; too_small_index</a:t>
            </a:r>
          </a:p>
          <a:p>
            <a:pPr marL="914400" lvl="1" indent="-457200"/>
            <a:r>
              <a:rPr lang="en-US"/>
              <a:t>	swap data[too_big_index] and data[too_small_index]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too_small_index &gt; too_big_index, go to 1.</a:t>
            </a:r>
          </a:p>
          <a:p>
            <a:pPr marL="457200" indent="-457200"/>
            <a:endParaRPr lang="en-US"/>
          </a:p>
          <a:p>
            <a:pPr marL="914400" lvl="1" indent="-457200">
              <a:buFontTx/>
              <a:buAutoNum type="arabicPeriod"/>
            </a:pPr>
            <a:endParaRPr lang="en-US"/>
          </a:p>
          <a:p>
            <a:pPr marL="457200" indent="-457200"/>
            <a:endParaRPr lang="en-US"/>
          </a:p>
        </p:txBody>
      </p:sp>
      <p:sp>
        <p:nvSpPr>
          <p:cNvPr id="143363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43364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43365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43366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43367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43368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43369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43370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43371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43372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pivot_index = 0</a:t>
            </a:r>
          </a:p>
        </p:txBody>
      </p:sp>
      <p:sp>
        <p:nvSpPr>
          <p:cNvPr id="143373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[0]    [1]   [2]    [3]   [4]   [5]    [6]   [7]   [8]</a:t>
            </a:r>
          </a:p>
        </p:txBody>
      </p:sp>
      <p:sp>
        <p:nvSpPr>
          <p:cNvPr id="143374" name="Text Box 14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too_big_index</a:t>
            </a:r>
          </a:p>
        </p:txBody>
      </p:sp>
      <p:sp>
        <p:nvSpPr>
          <p:cNvPr id="143375" name="Text Box 15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too_small_index</a:t>
            </a:r>
          </a:p>
        </p:txBody>
      </p:sp>
      <p:sp>
        <p:nvSpPr>
          <p:cNvPr id="143376" name="Line 16"/>
          <p:cNvSpPr>
            <a:spLocks noChangeShapeType="1"/>
          </p:cNvSpPr>
          <p:nvPr/>
        </p:nvSpPr>
        <p:spPr bwMode="auto">
          <a:xfrm flipH="1" flipV="1">
            <a:off x="5029200" y="52578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3377" name="Line 17"/>
          <p:cNvSpPr>
            <a:spLocks noChangeShapeType="1"/>
          </p:cNvSpPr>
          <p:nvPr/>
        </p:nvSpPr>
        <p:spPr bwMode="auto">
          <a:xfrm flipV="1">
            <a:off x="4724400" y="52578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3378" name="Line 18"/>
          <p:cNvSpPr>
            <a:spLocks noChangeShapeType="1"/>
          </p:cNvSpPr>
          <p:nvPr/>
        </p:nvSpPr>
        <p:spPr bwMode="auto">
          <a:xfrm>
            <a:off x="609600" y="33528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7600950" cy="410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/>
              <a:t>While data[too_big_index] &lt;= data[pivot]</a:t>
            </a:r>
          </a:p>
          <a:p>
            <a:pPr marL="914400" lvl="1" indent="-457200"/>
            <a:r>
              <a:rPr lang="en-US"/>
              <a:t>	++too_big_index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data[too_small_index] &gt; data[pivot]</a:t>
            </a:r>
          </a:p>
          <a:p>
            <a:pPr marL="914400" lvl="1" indent="-457200"/>
            <a:r>
              <a:rPr lang="en-US"/>
              <a:t>	--too_small_index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If too_big_index &lt; too_small_index</a:t>
            </a:r>
          </a:p>
          <a:p>
            <a:pPr marL="914400" lvl="1" indent="-457200"/>
            <a:r>
              <a:rPr lang="en-US"/>
              <a:t>	swap data[too_big_index] and data[too_small_index]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too_small_index &gt; too_big_index, go to 1.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Swap data[too_small_index] and data[pivot_index]</a:t>
            </a:r>
          </a:p>
          <a:p>
            <a:pPr marL="457200" indent="-457200"/>
            <a:endParaRPr lang="en-US"/>
          </a:p>
          <a:p>
            <a:pPr marL="914400" lvl="1" indent="-457200">
              <a:buFontTx/>
              <a:buAutoNum type="arabicPeriod"/>
            </a:pPr>
            <a:endParaRPr lang="en-US"/>
          </a:p>
          <a:p>
            <a:pPr marL="457200" indent="-457200"/>
            <a:endParaRPr lang="en-US"/>
          </a:p>
        </p:txBody>
      </p:sp>
      <p:sp>
        <p:nvSpPr>
          <p:cNvPr id="144387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44388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44389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44390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44391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44392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44393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44394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44395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44396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pivot_index = 0</a:t>
            </a:r>
          </a:p>
        </p:txBody>
      </p:sp>
      <p:sp>
        <p:nvSpPr>
          <p:cNvPr id="144397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[0]    [1]   [2]    [3]   [4]   [5]    [6]   [7]   [8]</a:t>
            </a:r>
          </a:p>
        </p:txBody>
      </p:sp>
      <p:sp>
        <p:nvSpPr>
          <p:cNvPr id="144398" name="Text Box 14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too_big_index</a:t>
            </a:r>
          </a:p>
        </p:txBody>
      </p:sp>
      <p:sp>
        <p:nvSpPr>
          <p:cNvPr id="144399" name="Text Box 15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too_small_index</a:t>
            </a:r>
          </a:p>
        </p:txBody>
      </p:sp>
      <p:sp>
        <p:nvSpPr>
          <p:cNvPr id="144400" name="Line 16"/>
          <p:cNvSpPr>
            <a:spLocks noChangeShapeType="1"/>
          </p:cNvSpPr>
          <p:nvPr/>
        </p:nvSpPr>
        <p:spPr bwMode="auto">
          <a:xfrm flipH="1" flipV="1">
            <a:off x="5029200" y="52578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4401" name="Line 17"/>
          <p:cNvSpPr>
            <a:spLocks noChangeShapeType="1"/>
          </p:cNvSpPr>
          <p:nvPr/>
        </p:nvSpPr>
        <p:spPr bwMode="auto">
          <a:xfrm flipV="1">
            <a:off x="4724400" y="52578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4402" name="Line 18"/>
          <p:cNvSpPr>
            <a:spLocks noChangeShapeType="1"/>
          </p:cNvSpPr>
          <p:nvPr/>
        </p:nvSpPr>
        <p:spPr bwMode="auto">
          <a:xfrm>
            <a:off x="609600" y="37338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7600950" cy="410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/>
              <a:t>While data[too_big_index] &lt;= data[pivot]</a:t>
            </a:r>
          </a:p>
          <a:p>
            <a:pPr marL="914400" lvl="1" indent="-457200"/>
            <a:r>
              <a:rPr lang="en-US"/>
              <a:t>	++too_big_index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data[too_small_index] &gt; data[pivot]</a:t>
            </a:r>
          </a:p>
          <a:p>
            <a:pPr marL="914400" lvl="1" indent="-457200"/>
            <a:r>
              <a:rPr lang="en-US"/>
              <a:t>	--too_small_index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If too_big_index &lt; too_small_index</a:t>
            </a:r>
          </a:p>
          <a:p>
            <a:pPr marL="914400" lvl="1" indent="-457200"/>
            <a:r>
              <a:rPr lang="en-US"/>
              <a:t>	swap data[too_big_index] and data[too_small_index]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While too_small_index &gt; too_big_index, go to 1.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Swap data[too_small_index] and data[pivot_index]</a:t>
            </a:r>
          </a:p>
          <a:p>
            <a:pPr marL="457200" indent="-457200"/>
            <a:endParaRPr lang="en-US"/>
          </a:p>
          <a:p>
            <a:pPr marL="914400" lvl="1" indent="-457200">
              <a:buFontTx/>
              <a:buAutoNum type="arabicPeriod"/>
            </a:pPr>
            <a:endParaRPr lang="en-US"/>
          </a:p>
          <a:p>
            <a:pPr marL="457200" indent="-457200"/>
            <a:endParaRPr lang="en-US"/>
          </a:p>
        </p:txBody>
      </p:sp>
      <p:sp>
        <p:nvSpPr>
          <p:cNvPr id="145411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45412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45413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45414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45415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45416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45417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45418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45419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45420" name="Text Box 12"/>
          <p:cNvSpPr txBox="1">
            <a:spLocks noChangeArrowheads="1"/>
          </p:cNvSpPr>
          <p:nvPr/>
        </p:nvSpPr>
        <p:spPr bwMode="auto">
          <a:xfrm>
            <a:off x="381000" y="4343400"/>
            <a:ext cx="1792288" cy="369888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pivot_index = 4</a:t>
            </a:r>
          </a:p>
        </p:txBody>
      </p:sp>
      <p:sp>
        <p:nvSpPr>
          <p:cNvPr id="145421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[0]    [1]   [2]    [3]   [4]   [5]    [6]   [7]   [8]</a:t>
            </a:r>
          </a:p>
        </p:txBody>
      </p:sp>
      <p:sp>
        <p:nvSpPr>
          <p:cNvPr id="145422" name="Text Box 14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too_big_index</a:t>
            </a:r>
          </a:p>
        </p:txBody>
      </p:sp>
      <p:sp>
        <p:nvSpPr>
          <p:cNvPr id="145423" name="Text Box 15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too_small_index</a:t>
            </a:r>
          </a:p>
        </p:txBody>
      </p:sp>
      <p:sp>
        <p:nvSpPr>
          <p:cNvPr id="145424" name="Line 16"/>
          <p:cNvSpPr>
            <a:spLocks noChangeShapeType="1"/>
          </p:cNvSpPr>
          <p:nvPr/>
        </p:nvSpPr>
        <p:spPr bwMode="auto">
          <a:xfrm flipH="1" flipV="1">
            <a:off x="5029200" y="52578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5425" name="Line 17"/>
          <p:cNvSpPr>
            <a:spLocks noChangeShapeType="1"/>
          </p:cNvSpPr>
          <p:nvPr/>
        </p:nvSpPr>
        <p:spPr bwMode="auto">
          <a:xfrm flipV="1">
            <a:off x="4724400" y="52578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5426" name="Line 18"/>
          <p:cNvSpPr>
            <a:spLocks noChangeShapeType="1"/>
          </p:cNvSpPr>
          <p:nvPr/>
        </p:nvSpPr>
        <p:spPr bwMode="auto">
          <a:xfrm>
            <a:off x="609600" y="37338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Partition Result</a:t>
            </a:r>
          </a:p>
        </p:txBody>
      </p:sp>
      <p:sp>
        <p:nvSpPr>
          <p:cNvPr id="146435" name="Rectangle 3"/>
          <p:cNvSpPr>
            <a:spLocks noChangeArrowheads="1"/>
          </p:cNvSpPr>
          <p:nvPr/>
        </p:nvSpPr>
        <p:spPr bwMode="auto">
          <a:xfrm>
            <a:off x="18288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46436" name="Rectangle 4"/>
          <p:cNvSpPr>
            <a:spLocks noChangeArrowheads="1"/>
          </p:cNvSpPr>
          <p:nvPr/>
        </p:nvSpPr>
        <p:spPr bwMode="auto">
          <a:xfrm>
            <a:off x="24384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46437" name="Rectangle 5"/>
          <p:cNvSpPr>
            <a:spLocks noChangeArrowheads="1"/>
          </p:cNvSpPr>
          <p:nvPr/>
        </p:nvSpPr>
        <p:spPr bwMode="auto">
          <a:xfrm>
            <a:off x="30480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46438" name="Rectangle 6"/>
          <p:cNvSpPr>
            <a:spLocks noChangeArrowheads="1"/>
          </p:cNvSpPr>
          <p:nvPr/>
        </p:nvSpPr>
        <p:spPr bwMode="auto">
          <a:xfrm>
            <a:off x="36576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46439" name="Rectangle 7"/>
          <p:cNvSpPr>
            <a:spLocks noChangeArrowheads="1"/>
          </p:cNvSpPr>
          <p:nvPr/>
        </p:nvSpPr>
        <p:spPr bwMode="auto">
          <a:xfrm>
            <a:off x="4267200" y="25908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46440" name="Rectangle 8"/>
          <p:cNvSpPr>
            <a:spLocks noChangeArrowheads="1"/>
          </p:cNvSpPr>
          <p:nvPr/>
        </p:nvSpPr>
        <p:spPr bwMode="auto">
          <a:xfrm>
            <a:off x="48768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46441" name="Rectangle 9"/>
          <p:cNvSpPr>
            <a:spLocks noChangeArrowheads="1"/>
          </p:cNvSpPr>
          <p:nvPr/>
        </p:nvSpPr>
        <p:spPr bwMode="auto">
          <a:xfrm>
            <a:off x="54864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46442" name="Rectangle 10"/>
          <p:cNvSpPr>
            <a:spLocks noChangeArrowheads="1"/>
          </p:cNvSpPr>
          <p:nvPr/>
        </p:nvSpPr>
        <p:spPr bwMode="auto">
          <a:xfrm>
            <a:off x="60960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46443" name="Rectangle 11"/>
          <p:cNvSpPr>
            <a:spLocks noChangeArrowheads="1"/>
          </p:cNvSpPr>
          <p:nvPr/>
        </p:nvSpPr>
        <p:spPr bwMode="auto">
          <a:xfrm>
            <a:off x="67056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46444" name="Text Box 12"/>
          <p:cNvSpPr txBox="1">
            <a:spLocks noChangeArrowheads="1"/>
          </p:cNvSpPr>
          <p:nvPr/>
        </p:nvSpPr>
        <p:spPr bwMode="auto">
          <a:xfrm>
            <a:off x="1873250" y="3200400"/>
            <a:ext cx="544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[0]    [1]   [2]    [3]   [4]   [5]    [6]   [7]   [8]</a:t>
            </a:r>
          </a:p>
        </p:txBody>
      </p:sp>
      <p:sp>
        <p:nvSpPr>
          <p:cNvPr id="146445" name="Line 13"/>
          <p:cNvSpPr>
            <a:spLocks noChangeShapeType="1"/>
          </p:cNvSpPr>
          <p:nvPr/>
        </p:nvSpPr>
        <p:spPr bwMode="auto">
          <a:xfrm>
            <a:off x="4267200" y="25908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446" name="Line 14"/>
          <p:cNvSpPr>
            <a:spLocks noChangeShapeType="1"/>
          </p:cNvSpPr>
          <p:nvPr/>
        </p:nvSpPr>
        <p:spPr bwMode="auto">
          <a:xfrm>
            <a:off x="4876800" y="25908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447" name="Line 15"/>
          <p:cNvSpPr>
            <a:spLocks noChangeShapeType="1"/>
          </p:cNvSpPr>
          <p:nvPr/>
        </p:nvSpPr>
        <p:spPr bwMode="auto">
          <a:xfrm flipH="1">
            <a:off x="2209800" y="4114800"/>
            <a:ext cx="1981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6448" name="Line 16"/>
          <p:cNvSpPr>
            <a:spLocks noChangeShapeType="1"/>
          </p:cNvSpPr>
          <p:nvPr/>
        </p:nvSpPr>
        <p:spPr bwMode="auto">
          <a:xfrm>
            <a:off x="4953000" y="4114800"/>
            <a:ext cx="1752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6449" name="Text Box 17"/>
          <p:cNvSpPr txBox="1">
            <a:spLocks noChangeArrowheads="1"/>
          </p:cNvSpPr>
          <p:nvPr/>
        </p:nvSpPr>
        <p:spPr bwMode="auto">
          <a:xfrm>
            <a:off x="2286000" y="4191000"/>
            <a:ext cx="19383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&lt;= data[pivot]</a:t>
            </a:r>
          </a:p>
        </p:txBody>
      </p:sp>
      <p:sp>
        <p:nvSpPr>
          <p:cNvPr id="146450" name="Text Box 18"/>
          <p:cNvSpPr txBox="1">
            <a:spLocks noChangeArrowheads="1"/>
          </p:cNvSpPr>
          <p:nvPr/>
        </p:nvSpPr>
        <p:spPr bwMode="auto">
          <a:xfrm>
            <a:off x="4953000" y="4191000"/>
            <a:ext cx="1766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&gt; data[pivot]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5282</Words>
  <Application>Microsoft Office PowerPoint</Application>
  <PresentationFormat>On-screen Show (4:3)</PresentationFormat>
  <Paragraphs>1513</Paragraphs>
  <Slides>143</Slides>
  <Notes>71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143</vt:i4>
      </vt:variant>
    </vt:vector>
  </HeadingPairs>
  <TitlesOfParts>
    <vt:vector size="148" baseType="lpstr">
      <vt:lpstr>Office Theme</vt:lpstr>
      <vt:lpstr>Paint Shop Pro Image</vt:lpstr>
      <vt:lpstr>Microsoft Equation 3.0</vt:lpstr>
      <vt:lpstr>MathType 5.0 Equation</vt:lpstr>
      <vt:lpstr>Microsoft Photo Editor 3.0 Photo</vt:lpstr>
      <vt:lpstr>Data Structure &amp; Algorithms   </vt:lpstr>
      <vt:lpstr>Data Structure &amp; Algorithms  </vt:lpstr>
      <vt:lpstr>Introduction  to  Data Structures</vt:lpstr>
      <vt:lpstr>Definition</vt:lpstr>
      <vt:lpstr>Introduction</vt:lpstr>
      <vt:lpstr>Introduction</vt:lpstr>
      <vt:lpstr>Classification of Data Structure</vt:lpstr>
      <vt:lpstr>Classification of Data Structure</vt:lpstr>
      <vt:lpstr>Classification of Data Structure</vt:lpstr>
      <vt:lpstr>Primitive Data Structure</vt:lpstr>
      <vt:lpstr>Non-Primitive Data Structure</vt:lpstr>
      <vt:lpstr>Non-Primitive Data Structure</vt:lpstr>
      <vt:lpstr>Non-Primitive Data Structure</vt:lpstr>
      <vt:lpstr>Different between them</vt:lpstr>
      <vt:lpstr>Description of various Data Structures : Arrays</vt:lpstr>
      <vt:lpstr>Arrays</vt:lpstr>
      <vt:lpstr>Arrays</vt:lpstr>
      <vt:lpstr>Arrays</vt:lpstr>
      <vt:lpstr>Arrays</vt:lpstr>
      <vt:lpstr>Arrays</vt:lpstr>
      <vt:lpstr>Arrays</vt:lpstr>
      <vt:lpstr>Arrays</vt:lpstr>
      <vt:lpstr>Lists</vt:lpstr>
      <vt:lpstr>Lists</vt:lpstr>
      <vt:lpstr>Lists</vt:lpstr>
      <vt:lpstr>Stack</vt:lpstr>
      <vt:lpstr>Stack</vt:lpstr>
      <vt:lpstr>Stack</vt:lpstr>
      <vt:lpstr>Stack</vt:lpstr>
      <vt:lpstr>Queue</vt:lpstr>
      <vt:lpstr>Queue</vt:lpstr>
      <vt:lpstr>Queue</vt:lpstr>
      <vt:lpstr>Trees</vt:lpstr>
      <vt:lpstr>Trees</vt:lpstr>
      <vt:lpstr>Trees</vt:lpstr>
      <vt:lpstr>Graph</vt:lpstr>
      <vt:lpstr>Graph</vt:lpstr>
      <vt:lpstr>Graph</vt:lpstr>
      <vt:lpstr>Graph</vt:lpstr>
      <vt:lpstr>Slide 40</vt:lpstr>
      <vt:lpstr>Asymptotic Complexity</vt:lpstr>
      <vt:lpstr>Asymptotic Notation</vt:lpstr>
      <vt:lpstr>-notation</vt:lpstr>
      <vt:lpstr>-notation</vt:lpstr>
      <vt:lpstr>Example</vt:lpstr>
      <vt:lpstr>Example</vt:lpstr>
      <vt:lpstr>O-notation</vt:lpstr>
      <vt:lpstr>Examples</vt:lpstr>
      <vt:lpstr> -notation</vt:lpstr>
      <vt:lpstr>Example</vt:lpstr>
      <vt:lpstr>Relations Between Q, O, W</vt:lpstr>
      <vt:lpstr>Running Times</vt:lpstr>
      <vt:lpstr>Example</vt:lpstr>
      <vt:lpstr>The Sorting Problem</vt:lpstr>
      <vt:lpstr>Structure of data</vt:lpstr>
      <vt:lpstr>Why Study Sorting Algorithms?</vt:lpstr>
      <vt:lpstr>Some Definitions</vt:lpstr>
      <vt:lpstr>Insertion Sort</vt:lpstr>
      <vt:lpstr>Insertion Sort</vt:lpstr>
      <vt:lpstr>Insertion Sort</vt:lpstr>
      <vt:lpstr>Insertion Sort</vt:lpstr>
      <vt:lpstr>Insertion Sort</vt:lpstr>
      <vt:lpstr>Insertion Sort</vt:lpstr>
      <vt:lpstr>INSERTION-SORT</vt:lpstr>
      <vt:lpstr>Loop Invariant for Insertion Sort</vt:lpstr>
      <vt:lpstr>Proving Loop Invariants</vt:lpstr>
      <vt:lpstr>Loop Invariant for Insertion Sort</vt:lpstr>
      <vt:lpstr>Loop Invariant for Insertion Sort</vt:lpstr>
      <vt:lpstr>Loop Invariant for Insertion Sort</vt:lpstr>
      <vt:lpstr>Analysis of Insertion Sort</vt:lpstr>
      <vt:lpstr>Best Case Analysis</vt:lpstr>
      <vt:lpstr>Worst Case Analysis</vt:lpstr>
      <vt:lpstr>Comparisons and Exchanges in Insertion Sort</vt:lpstr>
      <vt:lpstr>Insertion Sort - Summary</vt:lpstr>
      <vt:lpstr>Bubble Sort (Ex. 2-2, page 38)</vt:lpstr>
      <vt:lpstr>Example</vt:lpstr>
      <vt:lpstr>Bubble Sort</vt:lpstr>
      <vt:lpstr>Bubble-Sort Running Time</vt:lpstr>
      <vt:lpstr>Selection Sort (Ex. 2.2-2, page 27)</vt:lpstr>
      <vt:lpstr>Example</vt:lpstr>
      <vt:lpstr>Selection Sort</vt:lpstr>
      <vt:lpstr>MergeSort (Example) - 1</vt:lpstr>
      <vt:lpstr>MergeSort (Example) - 2</vt:lpstr>
      <vt:lpstr>MergeSort (Example) - 3</vt:lpstr>
      <vt:lpstr>MergeSort (Example) - 4</vt:lpstr>
      <vt:lpstr>MergeSort (Example) - 5</vt:lpstr>
      <vt:lpstr>MergeSort (Example) - 6</vt:lpstr>
      <vt:lpstr>MergeSort (Example) - 7</vt:lpstr>
      <vt:lpstr>MergeSort (Example) - 8</vt:lpstr>
      <vt:lpstr>MergeSort (Example) - 9</vt:lpstr>
      <vt:lpstr>MergeSort (Example) - 10</vt:lpstr>
      <vt:lpstr>MergeSort (Example) - 11</vt:lpstr>
      <vt:lpstr>MergeSort (Example) - 12</vt:lpstr>
      <vt:lpstr>MergeSort (Example) - 13</vt:lpstr>
      <vt:lpstr>MergeSort (Example) - 14</vt:lpstr>
      <vt:lpstr>MergeSort (Example) - 15</vt:lpstr>
      <vt:lpstr>MergeSort (Example) - 16</vt:lpstr>
      <vt:lpstr>MergeSort (Example) - 17</vt:lpstr>
      <vt:lpstr>MergeSort (Example) - 18</vt:lpstr>
      <vt:lpstr>MergeSort (Example) - 19</vt:lpstr>
      <vt:lpstr>MergeSort (Example) - 20</vt:lpstr>
      <vt:lpstr>MergeSort (Example) - 21</vt:lpstr>
      <vt:lpstr>MergeSort (Example) - 22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Quicksort Algorithm</vt:lpstr>
      <vt:lpstr>Example</vt:lpstr>
      <vt:lpstr>Pick Pivot Element</vt:lpstr>
      <vt:lpstr>Partitioning Array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Partition Result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 &amp; Algorithms   </dc:title>
  <dc:creator>HP</dc:creator>
  <cp:lastModifiedBy>HP</cp:lastModifiedBy>
  <cp:revision>1</cp:revision>
  <dcterms:created xsi:type="dcterms:W3CDTF">2021-11-12T07:16:46Z</dcterms:created>
  <dcterms:modified xsi:type="dcterms:W3CDTF">2021-11-12T07:26:08Z</dcterms:modified>
</cp:coreProperties>
</file>