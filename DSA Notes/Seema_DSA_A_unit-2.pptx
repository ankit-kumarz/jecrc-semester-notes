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92" r:id="rId3"/>
    <p:sldId id="29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536C3-7FE7-4024-B00D-FEF0138344AB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BD2BB-0974-43F1-B811-F66DBD72EC5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I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17179-6A4D-44B7-A79B-E173C370968C}" type="slidenum">
              <a:rPr lang="fr-FR" smtClean="0">
                <a:latin typeface="Arial" pitchFamily="34" charset="0"/>
                <a:cs typeface="Arial" pitchFamily="34" charset="0"/>
              </a:rPr>
              <a:pPr/>
              <a:t>2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126CBC-EC2B-499C-A32F-D5565116F593}" type="slidenum">
              <a:rPr lang="zh-TW" altLang="en-US"/>
              <a:pPr/>
              <a:t>18</a:t>
            </a:fld>
            <a:endParaRPr lang="en-US" altLang="zh-TW"/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5250" rIns="95250"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3AA16-1D87-4D27-908F-4BF8B9D77B9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F898B-BA49-4021-8DCC-C165A767512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557338"/>
            <a:ext cx="6188075" cy="2303462"/>
          </a:xfrm>
        </p:spPr>
        <p:txBody>
          <a:bodyPr/>
          <a:lstStyle/>
          <a:p>
            <a:pPr eaLnBrk="1" hangingPunct="1"/>
            <a:r>
              <a:rPr lang="fr-FR" sz="3600" b="1" i="1" smtClean="0">
                <a:latin typeface="Times New Roman" pitchFamily="18" charset="0"/>
                <a:cs typeface="Times New Roman" pitchFamily="18" charset="0"/>
              </a:rPr>
              <a:t>Data Structure &amp; Algorithms</a:t>
            </a: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endParaRPr lang="fr-FR" sz="2400" b="1" i="1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5" name="Picture 6" descr="logoHom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2051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Subtitle 7"/>
          <p:cNvSpPr>
            <a:spLocks noGrp="1"/>
          </p:cNvSpPr>
          <p:nvPr>
            <p:ph type="subTitle" idx="1"/>
          </p:nvPr>
        </p:nvSpPr>
        <p:spPr>
          <a:xfrm>
            <a:off x="2268538" y="3068638"/>
            <a:ext cx="6400800" cy="1752600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Submitted By:-</a:t>
            </a:r>
          </a:p>
          <a:p>
            <a:pPr eaLnBrk="1" hangingPunct="1"/>
            <a:endParaRPr lang="en-US" sz="1800" dirty="0" smtClean="0"/>
          </a:p>
          <a:p>
            <a:pPr eaLnBrk="1" hangingPunct="1"/>
            <a:r>
              <a:rPr lang="en-US" sz="1800" dirty="0" err="1" smtClean="0"/>
              <a:t>Seema</a:t>
            </a:r>
            <a:r>
              <a:rPr lang="en-US" sz="1800" dirty="0" smtClean="0"/>
              <a:t> Sharma</a:t>
            </a:r>
            <a:endParaRPr lang="en-US" sz="1800" dirty="0" smtClean="0"/>
          </a:p>
          <a:p>
            <a:pPr eaLnBrk="1" hangingPunct="1"/>
            <a:r>
              <a:rPr lang="en-US" sz="1800" dirty="0" smtClean="0"/>
              <a:t>Assistant Prof - CSE</a:t>
            </a:r>
            <a:endParaRPr lang="en-IN" sz="1800" dirty="0" smtClean="0"/>
          </a:p>
        </p:txBody>
      </p:sp>
      <p:sp>
        <p:nvSpPr>
          <p:cNvPr id="18437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>
                <a:latin typeface="Arial" pitchFamily="34" charset="0"/>
                <a:cs typeface="Arial" pitchFamily="34" charset="0"/>
              </a:rPr>
              <a:t>JECRC UNIVERSITY</a:t>
            </a:r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3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7577F5-6199-4C87-A411-01903DF63B2A}" type="slidenum">
              <a:rPr lang="fr-FR" smtClean="0">
                <a:latin typeface="Arial" pitchFamily="34" charset="0"/>
                <a:cs typeface="Arial" pitchFamily="34" charset="0"/>
              </a:rPr>
              <a:pPr/>
              <a:t>2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39" name="TextBox 11"/>
          <p:cNvSpPr txBox="1">
            <a:spLocks noChangeArrowheads="1"/>
          </p:cNvSpPr>
          <p:nvPr/>
        </p:nvSpPr>
        <p:spPr bwMode="auto">
          <a:xfrm>
            <a:off x="4211638" y="5876925"/>
            <a:ext cx="1857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557338"/>
            <a:ext cx="6188075" cy="2303462"/>
          </a:xfrm>
        </p:spPr>
        <p:txBody>
          <a:bodyPr/>
          <a:lstStyle/>
          <a:p>
            <a:r>
              <a:rPr lang="en-US" sz="3600" b="1" dirty="0" smtClean="0"/>
              <a:t>Unit 2 </a:t>
            </a:r>
            <a:br>
              <a:rPr lang="en-US" sz="3600" b="1" dirty="0" smtClean="0"/>
            </a:br>
            <a:r>
              <a:rPr lang="en-US" sz="3600" b="1" dirty="0" smtClean="0"/>
              <a:t> Stack &amp; Recursion </a:t>
            </a:r>
            <a:endParaRPr lang="en-US" sz="3600" b="1" dirty="0"/>
          </a:p>
        </p:txBody>
      </p:sp>
      <p:pic>
        <p:nvPicPr>
          <p:cNvPr id="19459" name="Picture 6" descr="logoHom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051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1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>
                <a:latin typeface="Arial" pitchFamily="34" charset="0"/>
                <a:cs typeface="Arial" pitchFamily="34" charset="0"/>
              </a:rPr>
              <a:t>JECRC UNIVERSITY</a:t>
            </a:r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46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F4805C-629F-4791-B241-2EA23FF0BA16}" type="slidenum">
              <a:rPr lang="fr-FR" smtClean="0">
                <a:latin typeface="Arial" pitchFamily="34" charset="0"/>
                <a:cs typeface="Arial" pitchFamily="34" charset="0"/>
              </a:rPr>
              <a:pPr/>
              <a:t>3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stack is a data structure that stores data in such a way that the last piece of data stored, is the first one retrieved</a:t>
            </a:r>
          </a:p>
          <a:p>
            <a:pPr lvl="1"/>
            <a:r>
              <a:rPr lang="en-US"/>
              <a:t>also called last-in, first-out</a:t>
            </a:r>
          </a:p>
          <a:p>
            <a:r>
              <a:rPr lang="en-US"/>
              <a:t>Only access to the stack is the top element</a:t>
            </a:r>
          </a:p>
          <a:p>
            <a:pPr lvl="1"/>
            <a:r>
              <a:rPr lang="en-US"/>
              <a:t>consider trays in a cafeteria</a:t>
            </a:r>
          </a:p>
          <a:p>
            <a:pPr lvl="2"/>
            <a:r>
              <a:rPr lang="en-US"/>
              <a:t>to get the bottom tray out, you must first remove all of the elements above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/>
              <a:t>Push</a:t>
            </a:r>
            <a:endParaRPr lang="en-US"/>
          </a:p>
          <a:p>
            <a:pPr lvl="1"/>
            <a:r>
              <a:rPr lang="en-US"/>
              <a:t>the operation to place a new item at the top of the stack</a:t>
            </a:r>
          </a:p>
          <a:p>
            <a:r>
              <a:rPr lang="en-US" i="1"/>
              <a:t>Pop</a:t>
            </a:r>
          </a:p>
          <a:p>
            <a:pPr lvl="1"/>
            <a:r>
              <a:rPr lang="en-US"/>
              <a:t>the operation to remove the next item from the top of the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</a:t>
            </a:r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219200" y="22098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3" name="Line 7"/>
          <p:cNvSpPr>
            <a:spLocks noChangeShapeType="1"/>
          </p:cNvSpPr>
          <p:nvPr/>
        </p:nvSpPr>
        <p:spPr bwMode="auto">
          <a:xfrm>
            <a:off x="1219200" y="5562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2286000" y="22098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>
            <a:off x="1219200" y="5105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>
            <a:off x="1219200" y="4648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>
            <a:off x="1219200" y="4191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8" name="Line 12"/>
          <p:cNvSpPr>
            <a:spLocks noChangeShapeType="1"/>
          </p:cNvSpPr>
          <p:nvPr/>
        </p:nvSpPr>
        <p:spPr bwMode="auto">
          <a:xfrm>
            <a:off x="1219200" y="3733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1600200" y="5105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1600200" y="46482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X</a:t>
            </a:r>
          </a:p>
        </p:txBody>
      </p:sp>
      <p:sp>
        <p:nvSpPr>
          <p:cNvPr id="4113" name="Text Box 17"/>
          <p:cNvSpPr txBox="1">
            <a:spLocks noChangeArrowheads="1"/>
          </p:cNvSpPr>
          <p:nvPr/>
        </p:nvSpPr>
        <p:spPr bwMode="auto">
          <a:xfrm>
            <a:off x="1600200" y="41910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R</a:t>
            </a:r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1600200" y="37338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C</a:t>
            </a:r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2590800" y="38100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16" name="Text Box 20"/>
          <p:cNvSpPr txBox="1">
            <a:spLocks noChangeArrowheads="1"/>
          </p:cNvSpPr>
          <p:nvPr/>
        </p:nvSpPr>
        <p:spPr bwMode="auto">
          <a:xfrm>
            <a:off x="2574925" y="4151313"/>
            <a:ext cx="1022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push(M)</a:t>
            </a:r>
          </a:p>
        </p:txBody>
      </p:sp>
      <p:sp>
        <p:nvSpPr>
          <p:cNvPr id="4117" name="Line 21"/>
          <p:cNvSpPr>
            <a:spLocks noChangeShapeType="1"/>
          </p:cNvSpPr>
          <p:nvPr/>
        </p:nvSpPr>
        <p:spPr bwMode="auto">
          <a:xfrm>
            <a:off x="40386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8" name="Line 22"/>
          <p:cNvSpPr>
            <a:spLocks noChangeShapeType="1"/>
          </p:cNvSpPr>
          <p:nvPr/>
        </p:nvSpPr>
        <p:spPr bwMode="auto">
          <a:xfrm>
            <a:off x="4038600" y="5638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>
            <a:off x="51054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0" name="Line 24"/>
          <p:cNvSpPr>
            <a:spLocks noChangeShapeType="1"/>
          </p:cNvSpPr>
          <p:nvPr/>
        </p:nvSpPr>
        <p:spPr bwMode="auto">
          <a:xfrm>
            <a:off x="4038600" y="518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1" name="Line 25"/>
          <p:cNvSpPr>
            <a:spLocks noChangeShapeType="1"/>
          </p:cNvSpPr>
          <p:nvPr/>
        </p:nvSpPr>
        <p:spPr bwMode="auto">
          <a:xfrm>
            <a:off x="4038600" y="4724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2" name="Line 26"/>
          <p:cNvSpPr>
            <a:spLocks noChangeShapeType="1"/>
          </p:cNvSpPr>
          <p:nvPr/>
        </p:nvSpPr>
        <p:spPr bwMode="auto">
          <a:xfrm>
            <a:off x="4038600" y="4267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3" name="Line 27"/>
          <p:cNvSpPr>
            <a:spLocks noChangeShapeType="1"/>
          </p:cNvSpPr>
          <p:nvPr/>
        </p:nvSpPr>
        <p:spPr bwMode="auto">
          <a:xfrm>
            <a:off x="4038600" y="3810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4" name="Text Box 28"/>
          <p:cNvSpPr txBox="1">
            <a:spLocks noChangeArrowheads="1"/>
          </p:cNvSpPr>
          <p:nvPr/>
        </p:nvSpPr>
        <p:spPr bwMode="auto">
          <a:xfrm>
            <a:off x="4419600" y="51816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4125" name="Text Box 29"/>
          <p:cNvSpPr txBox="1">
            <a:spLocks noChangeArrowheads="1"/>
          </p:cNvSpPr>
          <p:nvPr/>
        </p:nvSpPr>
        <p:spPr bwMode="auto">
          <a:xfrm>
            <a:off x="4419600" y="4724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X</a:t>
            </a:r>
          </a:p>
        </p:txBody>
      </p:sp>
      <p:sp>
        <p:nvSpPr>
          <p:cNvPr id="4126" name="Text Box 30"/>
          <p:cNvSpPr txBox="1">
            <a:spLocks noChangeArrowheads="1"/>
          </p:cNvSpPr>
          <p:nvPr/>
        </p:nvSpPr>
        <p:spPr bwMode="auto">
          <a:xfrm>
            <a:off x="4419600" y="4267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R</a:t>
            </a:r>
          </a:p>
        </p:txBody>
      </p:sp>
      <p:sp>
        <p:nvSpPr>
          <p:cNvPr id="4127" name="Text Box 31"/>
          <p:cNvSpPr txBox="1">
            <a:spLocks noChangeArrowheads="1"/>
          </p:cNvSpPr>
          <p:nvPr/>
        </p:nvSpPr>
        <p:spPr bwMode="auto">
          <a:xfrm>
            <a:off x="4419600" y="38100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C</a:t>
            </a:r>
          </a:p>
        </p:txBody>
      </p:sp>
      <p:sp>
        <p:nvSpPr>
          <p:cNvPr id="4128" name="Line 32"/>
          <p:cNvSpPr>
            <a:spLocks noChangeShapeType="1"/>
          </p:cNvSpPr>
          <p:nvPr/>
        </p:nvSpPr>
        <p:spPr bwMode="auto">
          <a:xfrm>
            <a:off x="4038600" y="3352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9" name="Text Box 33"/>
          <p:cNvSpPr txBox="1">
            <a:spLocks noChangeArrowheads="1"/>
          </p:cNvSpPr>
          <p:nvPr/>
        </p:nvSpPr>
        <p:spPr bwMode="auto">
          <a:xfrm>
            <a:off x="4419600" y="335280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M</a:t>
            </a:r>
          </a:p>
        </p:txBody>
      </p:sp>
      <p:sp>
        <p:nvSpPr>
          <p:cNvPr id="4130" name="AutoShape 34"/>
          <p:cNvSpPr>
            <a:spLocks noChangeArrowheads="1"/>
          </p:cNvSpPr>
          <p:nvPr/>
        </p:nvSpPr>
        <p:spPr bwMode="auto">
          <a:xfrm>
            <a:off x="5638800" y="38100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1" name="Text Box 35"/>
          <p:cNvSpPr txBox="1">
            <a:spLocks noChangeArrowheads="1"/>
          </p:cNvSpPr>
          <p:nvPr/>
        </p:nvSpPr>
        <p:spPr bwMode="auto">
          <a:xfrm>
            <a:off x="5486400" y="4191000"/>
            <a:ext cx="14097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item = pop()</a:t>
            </a:r>
          </a:p>
          <a:p>
            <a:r>
              <a:rPr lang="en-US" i="0"/>
              <a:t>item = M</a:t>
            </a:r>
          </a:p>
        </p:txBody>
      </p:sp>
      <p:sp>
        <p:nvSpPr>
          <p:cNvPr id="4132" name="Line 36"/>
          <p:cNvSpPr>
            <a:spLocks noChangeShapeType="1"/>
          </p:cNvSpPr>
          <p:nvPr/>
        </p:nvSpPr>
        <p:spPr bwMode="auto">
          <a:xfrm>
            <a:off x="71628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3" name="Line 37"/>
          <p:cNvSpPr>
            <a:spLocks noChangeShapeType="1"/>
          </p:cNvSpPr>
          <p:nvPr/>
        </p:nvSpPr>
        <p:spPr bwMode="auto">
          <a:xfrm>
            <a:off x="7162800" y="5638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4" name="Line 38"/>
          <p:cNvSpPr>
            <a:spLocks noChangeShapeType="1"/>
          </p:cNvSpPr>
          <p:nvPr/>
        </p:nvSpPr>
        <p:spPr bwMode="auto">
          <a:xfrm>
            <a:off x="82296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5" name="Line 39"/>
          <p:cNvSpPr>
            <a:spLocks noChangeShapeType="1"/>
          </p:cNvSpPr>
          <p:nvPr/>
        </p:nvSpPr>
        <p:spPr bwMode="auto">
          <a:xfrm>
            <a:off x="7162800" y="518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6" name="Line 40"/>
          <p:cNvSpPr>
            <a:spLocks noChangeShapeType="1"/>
          </p:cNvSpPr>
          <p:nvPr/>
        </p:nvSpPr>
        <p:spPr bwMode="auto">
          <a:xfrm>
            <a:off x="7162800" y="4724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7" name="Line 41"/>
          <p:cNvSpPr>
            <a:spLocks noChangeShapeType="1"/>
          </p:cNvSpPr>
          <p:nvPr/>
        </p:nvSpPr>
        <p:spPr bwMode="auto">
          <a:xfrm>
            <a:off x="7162800" y="4267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8" name="Line 42"/>
          <p:cNvSpPr>
            <a:spLocks noChangeShapeType="1"/>
          </p:cNvSpPr>
          <p:nvPr/>
        </p:nvSpPr>
        <p:spPr bwMode="auto">
          <a:xfrm>
            <a:off x="7162800" y="3810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9" name="Text Box 43"/>
          <p:cNvSpPr txBox="1">
            <a:spLocks noChangeArrowheads="1"/>
          </p:cNvSpPr>
          <p:nvPr/>
        </p:nvSpPr>
        <p:spPr bwMode="auto">
          <a:xfrm>
            <a:off x="7543800" y="51816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4140" name="Text Box 44"/>
          <p:cNvSpPr txBox="1">
            <a:spLocks noChangeArrowheads="1"/>
          </p:cNvSpPr>
          <p:nvPr/>
        </p:nvSpPr>
        <p:spPr bwMode="auto">
          <a:xfrm>
            <a:off x="7543800" y="4724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X</a:t>
            </a:r>
          </a:p>
        </p:txBody>
      </p:sp>
      <p:sp>
        <p:nvSpPr>
          <p:cNvPr id="4141" name="Text Box 45"/>
          <p:cNvSpPr txBox="1">
            <a:spLocks noChangeArrowheads="1"/>
          </p:cNvSpPr>
          <p:nvPr/>
        </p:nvSpPr>
        <p:spPr bwMode="auto">
          <a:xfrm>
            <a:off x="7543800" y="4267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R</a:t>
            </a:r>
          </a:p>
        </p:txBody>
      </p:sp>
      <p:sp>
        <p:nvSpPr>
          <p:cNvPr id="4142" name="Text Box 46"/>
          <p:cNvSpPr txBox="1">
            <a:spLocks noChangeArrowheads="1"/>
          </p:cNvSpPr>
          <p:nvPr/>
        </p:nvSpPr>
        <p:spPr bwMode="auto">
          <a:xfrm>
            <a:off x="7543800" y="38100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Implementing a Stack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At least three different ways to implement a stack</a:t>
            </a:r>
          </a:p>
          <a:p>
            <a:pPr lvl="1">
              <a:lnSpc>
                <a:spcPct val="90000"/>
              </a:lnSpc>
            </a:pPr>
            <a:r>
              <a:rPr lang="en-US"/>
              <a:t>array</a:t>
            </a:r>
          </a:p>
          <a:p>
            <a:pPr lvl="1">
              <a:lnSpc>
                <a:spcPct val="90000"/>
              </a:lnSpc>
            </a:pPr>
            <a:r>
              <a:rPr lang="en-US"/>
              <a:t>vector</a:t>
            </a:r>
          </a:p>
          <a:p>
            <a:pPr lvl="1">
              <a:lnSpc>
                <a:spcPct val="90000"/>
              </a:lnSpc>
            </a:pPr>
            <a:r>
              <a:rPr lang="en-US"/>
              <a:t>linked list</a:t>
            </a:r>
          </a:p>
          <a:p>
            <a:pPr>
              <a:lnSpc>
                <a:spcPct val="90000"/>
              </a:lnSpc>
            </a:pPr>
            <a:r>
              <a:rPr lang="en-US"/>
              <a:t>Which method to use depends on the application</a:t>
            </a:r>
          </a:p>
          <a:p>
            <a:pPr lvl="1">
              <a:lnSpc>
                <a:spcPct val="90000"/>
              </a:lnSpc>
            </a:pPr>
            <a:r>
              <a:rPr lang="en-US"/>
              <a:t>what advantages and disadvantages does each implementation have?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/>
              <a:t>Implementing Stacks: Array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r>
              <a:rPr lang="en-US" sz="2800"/>
              <a:t>Advantages</a:t>
            </a:r>
          </a:p>
          <a:p>
            <a:pPr lvl="1"/>
            <a:r>
              <a:rPr lang="en-US" sz="2400"/>
              <a:t>best performance</a:t>
            </a:r>
          </a:p>
          <a:p>
            <a:r>
              <a:rPr lang="en-US" sz="2800"/>
              <a:t>Disadvantage</a:t>
            </a:r>
          </a:p>
          <a:p>
            <a:pPr lvl="1"/>
            <a:r>
              <a:rPr lang="en-US" sz="2400"/>
              <a:t>fixed size</a:t>
            </a:r>
          </a:p>
          <a:p>
            <a:r>
              <a:rPr lang="en-US" sz="2800"/>
              <a:t>Basic implementation</a:t>
            </a:r>
          </a:p>
          <a:p>
            <a:pPr lvl="1"/>
            <a:r>
              <a:rPr lang="en-US" sz="2400"/>
              <a:t>initially empty array</a:t>
            </a:r>
          </a:p>
          <a:p>
            <a:pPr lvl="1"/>
            <a:r>
              <a:rPr lang="en-US" sz="2400"/>
              <a:t>field to record where the next data gets placed into</a:t>
            </a:r>
          </a:p>
          <a:p>
            <a:pPr lvl="1"/>
            <a:r>
              <a:rPr lang="en-US" sz="2400"/>
              <a:t>if array is full, push() returns false</a:t>
            </a:r>
          </a:p>
          <a:p>
            <a:pPr lvl="2"/>
            <a:r>
              <a:rPr lang="en-US" sz="2000"/>
              <a:t>otherwise adds it into the correct spot</a:t>
            </a:r>
          </a:p>
          <a:p>
            <a:pPr lvl="1"/>
            <a:r>
              <a:rPr lang="en-US" sz="2400"/>
              <a:t>if array is empty, pop() returns null</a:t>
            </a:r>
          </a:p>
          <a:p>
            <a:pPr lvl="2"/>
            <a:r>
              <a:rPr lang="en-US" sz="2000"/>
              <a:t>otherwise removes the next item in the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push()</a:t>
            </a:r>
            <a:r>
              <a:rPr lang="en-US"/>
              <a:t> Method (array based)</a:t>
            </a:r>
            <a:endParaRPr lang="en-US" i="1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000"/>
              <a:t>public boolean push(Object data) {</a:t>
            </a:r>
          </a:p>
          <a:p>
            <a:pPr>
              <a:buFontTx/>
              <a:buNone/>
            </a:pPr>
            <a:r>
              <a:rPr lang="en-US" sz="2000"/>
              <a:t>	if(nextIn == stack.length) { return false; }   // stack is full</a:t>
            </a:r>
          </a:p>
          <a:p>
            <a:pPr>
              <a:buFontTx/>
              <a:buNone/>
            </a:pPr>
            <a:r>
              <a:rPr lang="en-US" sz="2000"/>
              <a:t>	</a:t>
            </a:r>
          </a:p>
          <a:p>
            <a:pPr>
              <a:buFontTx/>
              <a:buNone/>
            </a:pPr>
            <a:r>
              <a:rPr lang="en-US" sz="2000"/>
              <a:t>	// add the element and then increment nextIn</a:t>
            </a:r>
          </a:p>
          <a:p>
            <a:pPr>
              <a:buFontTx/>
              <a:buNone/>
            </a:pPr>
            <a:r>
              <a:rPr lang="en-US" sz="2000"/>
              <a:t>	stack[nextIn] = data;</a:t>
            </a:r>
          </a:p>
          <a:p>
            <a:pPr>
              <a:buFontTx/>
              <a:buNone/>
            </a:pPr>
            <a:r>
              <a:rPr lang="en-US" sz="2000"/>
              <a:t>	nextIn++;</a:t>
            </a:r>
          </a:p>
          <a:p>
            <a:pPr>
              <a:buFontTx/>
              <a:buNone/>
            </a:pPr>
            <a:r>
              <a:rPr lang="en-US" sz="2000"/>
              <a:t>	return true;</a:t>
            </a:r>
          </a:p>
          <a:p>
            <a:pPr>
              <a:buFontTx/>
              <a:buNone/>
            </a:pPr>
            <a:r>
              <a:rPr lang="en-US" sz="200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pop() </a:t>
            </a:r>
            <a:r>
              <a:rPr lang="en-US"/>
              <a:t>Method (array based)</a:t>
            </a:r>
            <a:endParaRPr lang="en-US" i="1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000"/>
              <a:t>public Object pop() {</a:t>
            </a:r>
          </a:p>
          <a:p>
            <a:pPr>
              <a:buFontTx/>
              <a:buNone/>
            </a:pPr>
            <a:r>
              <a:rPr lang="en-US" sz="2000"/>
              <a:t>	if(nextIn == 0) { return null; }   // stack is empty</a:t>
            </a:r>
          </a:p>
          <a:p>
            <a:pPr>
              <a:buFontTx/>
              <a:buNone/>
            </a:pPr>
            <a:r>
              <a:rPr lang="en-US" sz="2000"/>
              <a:t>	</a:t>
            </a:r>
          </a:p>
          <a:p>
            <a:pPr>
              <a:buFontTx/>
              <a:buNone/>
            </a:pPr>
            <a:r>
              <a:rPr lang="en-US" sz="2000"/>
              <a:t>	// decrement nextIn and return the data</a:t>
            </a:r>
          </a:p>
          <a:p>
            <a:pPr>
              <a:buFontTx/>
              <a:buNone/>
            </a:pPr>
            <a:r>
              <a:rPr lang="en-US" sz="2000"/>
              <a:t>	 nextIn--;</a:t>
            </a:r>
          </a:p>
          <a:p>
            <a:pPr>
              <a:buFontTx/>
              <a:buNone/>
            </a:pPr>
            <a:r>
              <a:rPr lang="en-US" sz="2000"/>
              <a:t>	Object data = stack[nextIn];</a:t>
            </a:r>
          </a:p>
          <a:p>
            <a:pPr>
              <a:buFontTx/>
              <a:buNone/>
            </a:pPr>
            <a:r>
              <a:rPr lang="en-US" sz="2000"/>
              <a:t>	return data;</a:t>
            </a:r>
          </a:p>
          <a:p>
            <a:pPr>
              <a:buFontTx/>
              <a:buNone/>
            </a:pPr>
            <a:r>
              <a:rPr lang="en-US" sz="200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 on </a:t>
            </a:r>
            <a:r>
              <a:rPr lang="en-US" i="1"/>
              <a:t>push()</a:t>
            </a:r>
            <a:r>
              <a:rPr lang="en-US"/>
              <a:t> and </a:t>
            </a:r>
            <a:r>
              <a:rPr lang="en-US" i="1"/>
              <a:t>pop()</a:t>
            </a: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Other ways to do this even if using arrays</a:t>
            </a:r>
          </a:p>
          <a:p>
            <a:pPr lvl="1">
              <a:lnSpc>
                <a:spcPct val="90000"/>
              </a:lnSpc>
            </a:pPr>
            <a:r>
              <a:rPr lang="en-US"/>
              <a:t>may want to keep a </a:t>
            </a:r>
            <a:r>
              <a:rPr lang="en-US" i="1"/>
              <a:t>size</a:t>
            </a:r>
            <a:r>
              <a:rPr lang="en-US"/>
              <a:t> variable that tracks how many items in the list</a:t>
            </a:r>
          </a:p>
          <a:p>
            <a:pPr lvl="1">
              <a:lnSpc>
                <a:spcPct val="90000"/>
              </a:lnSpc>
            </a:pPr>
            <a:r>
              <a:rPr lang="en-US"/>
              <a:t>may want to keep a </a:t>
            </a:r>
            <a:r>
              <a:rPr lang="en-US" i="1"/>
              <a:t>maxSize</a:t>
            </a:r>
            <a:r>
              <a:rPr lang="en-US"/>
              <a:t> variable that stores the maximum number of elements the stack can hold (size of the array)</a:t>
            </a:r>
          </a:p>
          <a:p>
            <a:pPr lvl="2">
              <a:lnSpc>
                <a:spcPct val="90000"/>
              </a:lnSpc>
            </a:pPr>
            <a:r>
              <a:rPr lang="en-US"/>
              <a:t>you would have to do this in a language like C++</a:t>
            </a:r>
          </a:p>
          <a:p>
            <a:pPr lvl="1">
              <a:lnSpc>
                <a:spcPct val="90000"/>
              </a:lnSpc>
            </a:pPr>
            <a:r>
              <a:rPr lang="en-US"/>
              <a:t>could add things in the opposite direction</a:t>
            </a:r>
          </a:p>
          <a:p>
            <a:pPr lvl="2">
              <a:lnSpc>
                <a:spcPct val="90000"/>
              </a:lnSpc>
            </a:pPr>
            <a:r>
              <a:rPr lang="en-US"/>
              <a:t>keep track of </a:t>
            </a:r>
            <a:r>
              <a:rPr lang="en-US" i="1"/>
              <a:t>nextOut</a:t>
            </a:r>
            <a:r>
              <a:rPr lang="en-US"/>
              <a:t> and decrement it on every push; increment it on every pop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pop()</a:t>
            </a:r>
            <a:r>
              <a:rPr lang="en-US"/>
              <a:t> Method (vector based)</a:t>
            </a:r>
            <a:endParaRPr lang="en-US" i="1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000"/>
              <a:t>public Object pop() {</a:t>
            </a:r>
          </a:p>
          <a:p>
            <a:pPr>
              <a:buFontTx/>
              <a:buNone/>
            </a:pPr>
            <a:r>
              <a:rPr lang="en-US" sz="2000"/>
              <a:t>	if(nextIn == 0) { return null; }   // stack empty</a:t>
            </a:r>
          </a:p>
          <a:p>
            <a:pPr>
              <a:buFontTx/>
              <a:buNone/>
            </a:pPr>
            <a:r>
              <a:rPr lang="en-US" sz="2000"/>
              <a:t>	</a:t>
            </a:r>
          </a:p>
          <a:p>
            <a:pPr>
              <a:buFontTx/>
              <a:buNone/>
            </a:pPr>
            <a:r>
              <a:rPr lang="en-US" sz="2000"/>
              <a:t>	// decrement nextIn, get the data, and return it</a:t>
            </a:r>
          </a:p>
          <a:p>
            <a:pPr>
              <a:buFontTx/>
              <a:buNone/>
            </a:pPr>
            <a:r>
              <a:rPr lang="en-US" sz="2000"/>
              <a:t>	nextIn--;</a:t>
            </a:r>
          </a:p>
          <a:p>
            <a:pPr>
              <a:buFontTx/>
              <a:buNone/>
            </a:pPr>
            <a:r>
              <a:rPr lang="en-US" sz="2000"/>
              <a:t>	Object data = stack[nextIn];</a:t>
            </a:r>
          </a:p>
          <a:p>
            <a:pPr>
              <a:buFontTx/>
              <a:buNone/>
            </a:pPr>
            <a:r>
              <a:rPr lang="en-US" sz="2000"/>
              <a:t>	return data;</a:t>
            </a:r>
          </a:p>
          <a:p>
            <a:pPr>
              <a:buFontTx/>
              <a:buNone/>
            </a:pPr>
            <a:r>
              <a:rPr lang="en-US" sz="2000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/>
              <a:t>Notes on </a:t>
            </a:r>
            <a:r>
              <a:rPr lang="en-US" i="1"/>
              <a:t>push()</a:t>
            </a:r>
            <a:r>
              <a:rPr lang="en-US"/>
              <a:t> and </a:t>
            </a:r>
            <a:r>
              <a:rPr lang="en-US" i="1"/>
              <a:t>pop()</a:t>
            </a: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/>
              <a:t>Notice that the </a:t>
            </a:r>
            <a:r>
              <a:rPr lang="en-US" i="1"/>
              <a:t>pop()</a:t>
            </a:r>
            <a:r>
              <a:rPr lang="en-US"/>
              <a:t> method is identical to that for an array based version</a:t>
            </a:r>
          </a:p>
          <a:p>
            <a:r>
              <a:rPr lang="en-US"/>
              <a:t>Only difference is in </a:t>
            </a:r>
            <a:r>
              <a:rPr lang="en-US" i="1"/>
              <a:t>push()</a:t>
            </a:r>
            <a:r>
              <a:rPr lang="en-US"/>
              <a:t> method</a:t>
            </a:r>
          </a:p>
          <a:p>
            <a:pPr lvl="1"/>
            <a:r>
              <a:rPr lang="en-US"/>
              <a:t>doesn’t return a boolean because it cannot fail</a:t>
            </a:r>
          </a:p>
          <a:p>
            <a:pPr lvl="2"/>
            <a:r>
              <a:rPr lang="en-US"/>
              <a:t>unless we run out of memory </a:t>
            </a:r>
            <a:r>
              <a:rPr lang="en-US">
                <a:sym typeface="Wingdings" pitchFamily="2" charset="2"/>
              </a:rPr>
              <a:t></a:t>
            </a:r>
          </a:p>
          <a:p>
            <a:pPr lvl="1"/>
            <a:r>
              <a:rPr lang="en-US"/>
              <a:t>first checks if the push will exceed the current array</a:t>
            </a:r>
          </a:p>
          <a:p>
            <a:pPr lvl="2"/>
            <a:r>
              <a:rPr lang="en-US"/>
              <a:t>if so, create a new array that’s 2x as big, copy data, and make that the new stack</a:t>
            </a:r>
          </a:p>
          <a:p>
            <a:pPr lvl="2"/>
            <a:r>
              <a:rPr lang="en-US"/>
              <a:t>this is the case that’s very slow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Implementing a Stack: Linked List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Advantages: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always constant time to push or pop an element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can grow to an infinite size</a:t>
            </a:r>
          </a:p>
          <a:p>
            <a:pPr>
              <a:lnSpc>
                <a:spcPct val="80000"/>
              </a:lnSpc>
            </a:pPr>
            <a:r>
              <a:rPr lang="en-US" sz="2800"/>
              <a:t>Disadvantages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the common case is the slowest of all the implementations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can grow to an infinite size</a:t>
            </a:r>
          </a:p>
          <a:p>
            <a:pPr>
              <a:lnSpc>
                <a:spcPct val="80000"/>
              </a:lnSpc>
            </a:pPr>
            <a:r>
              <a:rPr lang="en-US" sz="2800"/>
              <a:t>Basic implementation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list is initially empty</a:t>
            </a:r>
          </a:p>
          <a:p>
            <a:pPr lvl="1">
              <a:lnSpc>
                <a:spcPct val="80000"/>
              </a:lnSpc>
            </a:pPr>
            <a:r>
              <a:rPr lang="en-US" sz="2400" i="1"/>
              <a:t>push()</a:t>
            </a:r>
            <a:r>
              <a:rPr lang="en-US" sz="2400"/>
              <a:t> method adds a new item to the head of the list</a:t>
            </a:r>
          </a:p>
          <a:p>
            <a:pPr lvl="1">
              <a:lnSpc>
                <a:spcPct val="80000"/>
              </a:lnSpc>
            </a:pPr>
            <a:r>
              <a:rPr lang="en-US" sz="2400" i="1"/>
              <a:t>pop()</a:t>
            </a:r>
            <a:r>
              <a:rPr lang="en-US" sz="2400"/>
              <a:t> method removes the head of the list</a:t>
            </a:r>
            <a:endParaRPr lang="en-US" sz="2400"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/>
              <a:t>Additional Notes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It should appear obvious that linked lists are very well suited for stacks</a:t>
            </a:r>
          </a:p>
          <a:p>
            <a:pPr lvl="1">
              <a:lnSpc>
                <a:spcPct val="90000"/>
              </a:lnSpc>
            </a:pPr>
            <a:r>
              <a:rPr lang="en-US" i="1"/>
              <a:t>addHead()</a:t>
            </a:r>
            <a:r>
              <a:rPr lang="en-US"/>
              <a:t> and </a:t>
            </a:r>
            <a:r>
              <a:rPr lang="en-US" i="1"/>
              <a:t>deleteHead()</a:t>
            </a:r>
            <a:r>
              <a:rPr lang="en-US"/>
              <a:t> are basically the </a:t>
            </a:r>
            <a:r>
              <a:rPr lang="en-US" i="1"/>
              <a:t>push()</a:t>
            </a:r>
            <a:r>
              <a:rPr lang="en-US"/>
              <a:t> and </a:t>
            </a:r>
            <a:r>
              <a:rPr lang="en-US" i="1"/>
              <a:t>pop()</a:t>
            </a:r>
            <a:r>
              <a:rPr lang="en-US"/>
              <a:t> methods</a:t>
            </a:r>
          </a:p>
          <a:p>
            <a:pPr>
              <a:lnSpc>
                <a:spcPct val="90000"/>
              </a:lnSpc>
            </a:pPr>
            <a:r>
              <a:rPr lang="en-US"/>
              <a:t>Our original list implementation did not have a </a:t>
            </a:r>
            <a:r>
              <a:rPr lang="en-US" i="1"/>
              <a:t>clear()</a:t>
            </a:r>
            <a:r>
              <a:rPr lang="en-US"/>
              <a:t> method</a:t>
            </a:r>
          </a:p>
          <a:p>
            <a:pPr lvl="1">
              <a:lnSpc>
                <a:spcPct val="90000"/>
              </a:lnSpc>
            </a:pPr>
            <a:r>
              <a:rPr lang="en-US"/>
              <a:t>it’s very simple to do</a:t>
            </a:r>
          </a:p>
          <a:p>
            <a:pPr lvl="1">
              <a:lnSpc>
                <a:spcPct val="90000"/>
              </a:lnSpc>
            </a:pPr>
            <a:r>
              <a:rPr lang="en-US"/>
              <a:t>how would you do it?</a:t>
            </a:r>
          </a:p>
          <a:p>
            <a:pPr>
              <a:lnSpc>
                <a:spcPct val="90000"/>
              </a:lnSpc>
            </a:pPr>
            <a:r>
              <a:rPr lang="en-US"/>
              <a:t>Again, no need for the </a:t>
            </a:r>
            <a:r>
              <a:rPr lang="en-US" i="1"/>
              <a:t>isFull()</a:t>
            </a:r>
            <a:r>
              <a:rPr lang="en-US"/>
              <a:t> method</a:t>
            </a:r>
          </a:p>
          <a:p>
            <a:pPr lvl="1">
              <a:lnSpc>
                <a:spcPct val="90000"/>
              </a:lnSpc>
            </a:pPr>
            <a:r>
              <a:rPr lang="en-US"/>
              <a:t>list can grow to an infinite size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/>
              <a:t>Stack Applications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r>
              <a:rPr lang="en-US"/>
              <a:t>Stacks are a very common data structure</a:t>
            </a:r>
          </a:p>
          <a:p>
            <a:pPr lvl="1"/>
            <a:r>
              <a:rPr lang="en-US"/>
              <a:t>compilers</a:t>
            </a:r>
          </a:p>
          <a:p>
            <a:pPr lvl="2"/>
            <a:r>
              <a:rPr lang="en-US"/>
              <a:t>parsing data between delimiters (brackets)</a:t>
            </a:r>
          </a:p>
          <a:p>
            <a:pPr lvl="1"/>
            <a:r>
              <a:rPr lang="en-US"/>
              <a:t>operating systems</a:t>
            </a:r>
          </a:p>
          <a:p>
            <a:pPr lvl="2"/>
            <a:r>
              <a:rPr lang="en-US"/>
              <a:t>program stack</a:t>
            </a:r>
          </a:p>
          <a:p>
            <a:pPr lvl="1"/>
            <a:r>
              <a:rPr lang="en-US"/>
              <a:t>virtual machines</a:t>
            </a:r>
          </a:p>
          <a:p>
            <a:pPr lvl="2"/>
            <a:r>
              <a:rPr lang="en-US"/>
              <a:t>manipulating numbers</a:t>
            </a:r>
          </a:p>
          <a:p>
            <a:pPr lvl="3"/>
            <a:r>
              <a:rPr lang="en-US"/>
              <a:t>pop 2 numbers off stack, do work (such as add)</a:t>
            </a:r>
          </a:p>
          <a:p>
            <a:pPr lvl="3"/>
            <a:r>
              <a:rPr lang="en-US"/>
              <a:t>push result back on stack and repeat</a:t>
            </a:r>
          </a:p>
          <a:p>
            <a:pPr lvl="1"/>
            <a:r>
              <a:rPr lang="en-US"/>
              <a:t>artificial intelligence</a:t>
            </a:r>
          </a:p>
          <a:p>
            <a:pPr lvl="2"/>
            <a:r>
              <a:rPr lang="en-US"/>
              <a:t>finding a path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4000"/>
              <a:t>Reverse Polish Notation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2362200"/>
          </a:xfrm>
        </p:spPr>
        <p:txBody>
          <a:bodyPr/>
          <a:lstStyle/>
          <a:p>
            <a:r>
              <a:rPr lang="en-US" sz="2800"/>
              <a:t>Way of inputting numbers to a calculator</a:t>
            </a:r>
          </a:p>
          <a:p>
            <a:pPr lvl="1"/>
            <a:r>
              <a:rPr lang="en-US" sz="2400"/>
              <a:t>(5 + 3) * 6 becomes 5 3 + 6 *</a:t>
            </a:r>
          </a:p>
          <a:p>
            <a:pPr lvl="1"/>
            <a:r>
              <a:rPr lang="en-US" sz="2400"/>
              <a:t>5 + 3 * 6 becomes 5 3 6 * +</a:t>
            </a:r>
          </a:p>
          <a:p>
            <a:r>
              <a:rPr lang="en-US" sz="2800"/>
              <a:t>We can use a stack to implement this</a:t>
            </a:r>
          </a:p>
          <a:p>
            <a:pPr lvl="1"/>
            <a:r>
              <a:rPr lang="en-US" sz="2400"/>
              <a:t>consider 5 3 + 6 *</a:t>
            </a:r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13716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21336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>
            <a:off x="1371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>
            <a:off x="1371600" y="4800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1600200" y="518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5</a:t>
            </a:r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1600200" y="4800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3</a:t>
            </a:r>
          </a:p>
        </p:txBody>
      </p:sp>
      <p:sp>
        <p:nvSpPr>
          <p:cNvPr id="26636" name="AutoShape 12"/>
          <p:cNvSpPr>
            <a:spLocks noChangeArrowheads="1"/>
          </p:cNvSpPr>
          <p:nvPr/>
        </p:nvSpPr>
        <p:spPr bwMode="auto">
          <a:xfrm>
            <a:off x="2286000" y="46482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31242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>
            <a:off x="3124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>
            <a:off x="38862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3124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2" name="Text Box 18"/>
          <p:cNvSpPr txBox="1">
            <a:spLocks noChangeArrowheads="1"/>
          </p:cNvSpPr>
          <p:nvPr/>
        </p:nvSpPr>
        <p:spPr bwMode="auto">
          <a:xfrm>
            <a:off x="3352800" y="518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8</a:t>
            </a:r>
          </a:p>
        </p:txBody>
      </p:sp>
      <p:sp>
        <p:nvSpPr>
          <p:cNvPr id="26644" name="AutoShape 20"/>
          <p:cNvSpPr>
            <a:spLocks noChangeArrowheads="1"/>
          </p:cNvSpPr>
          <p:nvPr/>
        </p:nvSpPr>
        <p:spPr bwMode="auto">
          <a:xfrm>
            <a:off x="4038600" y="46482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2438400" y="4343400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+</a:t>
            </a:r>
          </a:p>
        </p:txBody>
      </p:sp>
      <p:sp>
        <p:nvSpPr>
          <p:cNvPr id="26646" name="Line 22"/>
          <p:cNvSpPr>
            <a:spLocks noChangeShapeType="1"/>
          </p:cNvSpPr>
          <p:nvPr/>
        </p:nvSpPr>
        <p:spPr bwMode="auto">
          <a:xfrm>
            <a:off x="48768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7" name="Line 23"/>
          <p:cNvSpPr>
            <a:spLocks noChangeShapeType="1"/>
          </p:cNvSpPr>
          <p:nvPr/>
        </p:nvSpPr>
        <p:spPr bwMode="auto">
          <a:xfrm>
            <a:off x="48768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8" name="Line 24"/>
          <p:cNvSpPr>
            <a:spLocks noChangeShapeType="1"/>
          </p:cNvSpPr>
          <p:nvPr/>
        </p:nvSpPr>
        <p:spPr bwMode="auto">
          <a:xfrm>
            <a:off x="56388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9" name="Line 25"/>
          <p:cNvSpPr>
            <a:spLocks noChangeShapeType="1"/>
          </p:cNvSpPr>
          <p:nvPr/>
        </p:nvSpPr>
        <p:spPr bwMode="auto">
          <a:xfrm>
            <a:off x="48768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0" name="Line 26"/>
          <p:cNvSpPr>
            <a:spLocks noChangeShapeType="1"/>
          </p:cNvSpPr>
          <p:nvPr/>
        </p:nvSpPr>
        <p:spPr bwMode="auto">
          <a:xfrm>
            <a:off x="4876800" y="4800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1" name="Text Box 27"/>
          <p:cNvSpPr txBox="1">
            <a:spLocks noChangeArrowheads="1"/>
          </p:cNvSpPr>
          <p:nvPr/>
        </p:nvSpPr>
        <p:spPr bwMode="auto">
          <a:xfrm>
            <a:off x="5105400" y="518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8</a:t>
            </a:r>
          </a:p>
        </p:txBody>
      </p:sp>
      <p:sp>
        <p:nvSpPr>
          <p:cNvPr id="26652" name="Text Box 28"/>
          <p:cNvSpPr txBox="1">
            <a:spLocks noChangeArrowheads="1"/>
          </p:cNvSpPr>
          <p:nvPr/>
        </p:nvSpPr>
        <p:spPr bwMode="auto">
          <a:xfrm>
            <a:off x="5105400" y="4800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6</a:t>
            </a:r>
          </a:p>
        </p:txBody>
      </p:sp>
      <p:sp>
        <p:nvSpPr>
          <p:cNvPr id="26653" name="AutoShape 29"/>
          <p:cNvSpPr>
            <a:spLocks noChangeArrowheads="1"/>
          </p:cNvSpPr>
          <p:nvPr/>
        </p:nvSpPr>
        <p:spPr bwMode="auto">
          <a:xfrm>
            <a:off x="5791200" y="46482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54" name="Text Box 30"/>
          <p:cNvSpPr txBox="1">
            <a:spLocks noChangeArrowheads="1"/>
          </p:cNvSpPr>
          <p:nvPr/>
        </p:nvSpPr>
        <p:spPr bwMode="auto">
          <a:xfrm>
            <a:off x="5943600" y="4419600"/>
            <a:ext cx="273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*</a:t>
            </a:r>
          </a:p>
        </p:txBody>
      </p:sp>
      <p:sp>
        <p:nvSpPr>
          <p:cNvPr id="26655" name="Text Box 31"/>
          <p:cNvSpPr txBox="1">
            <a:spLocks noChangeArrowheads="1"/>
          </p:cNvSpPr>
          <p:nvPr/>
        </p:nvSpPr>
        <p:spPr bwMode="auto">
          <a:xfrm>
            <a:off x="4191000" y="43434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6</a:t>
            </a:r>
          </a:p>
        </p:txBody>
      </p:sp>
      <p:sp>
        <p:nvSpPr>
          <p:cNvPr id="26656" name="Line 32"/>
          <p:cNvSpPr>
            <a:spLocks noChangeShapeType="1"/>
          </p:cNvSpPr>
          <p:nvPr/>
        </p:nvSpPr>
        <p:spPr bwMode="auto">
          <a:xfrm>
            <a:off x="67056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7" name="Line 33"/>
          <p:cNvSpPr>
            <a:spLocks noChangeShapeType="1"/>
          </p:cNvSpPr>
          <p:nvPr/>
        </p:nvSpPr>
        <p:spPr bwMode="auto">
          <a:xfrm>
            <a:off x="67056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8" name="Line 34"/>
          <p:cNvSpPr>
            <a:spLocks noChangeShapeType="1"/>
          </p:cNvSpPr>
          <p:nvPr/>
        </p:nvSpPr>
        <p:spPr bwMode="auto">
          <a:xfrm>
            <a:off x="74676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9" name="Line 35"/>
          <p:cNvSpPr>
            <a:spLocks noChangeShapeType="1"/>
          </p:cNvSpPr>
          <p:nvPr/>
        </p:nvSpPr>
        <p:spPr bwMode="auto">
          <a:xfrm>
            <a:off x="6705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60" name="Text Box 36"/>
          <p:cNvSpPr txBox="1">
            <a:spLocks noChangeArrowheads="1"/>
          </p:cNvSpPr>
          <p:nvPr/>
        </p:nvSpPr>
        <p:spPr bwMode="auto">
          <a:xfrm>
            <a:off x="6934200" y="51816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48</a:t>
            </a:r>
          </a:p>
        </p:txBody>
      </p:sp>
      <p:sp>
        <p:nvSpPr>
          <p:cNvPr id="26661" name="Rectangle 37"/>
          <p:cNvSpPr>
            <a:spLocks noChangeArrowheads="1"/>
          </p:cNvSpPr>
          <p:nvPr/>
        </p:nvSpPr>
        <p:spPr bwMode="auto">
          <a:xfrm>
            <a:off x="533400" y="5867400"/>
            <a:ext cx="8077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i="0"/>
              <a:t>try doing 5 3 6 * +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"/>
            <a:ext cx="5334000" cy="21336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TW" sz="3600" dirty="0">
              <a:solidFill>
                <a:schemeClr val="folHlink"/>
              </a:solidFill>
              <a:ea typeface="PMingLiU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3600" dirty="0">
              <a:solidFill>
                <a:schemeClr val="folHlink"/>
              </a:solidFill>
              <a:ea typeface="PMingLiU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5400" dirty="0">
                <a:solidFill>
                  <a:schemeClr val="tx1"/>
                </a:solidFill>
                <a:ea typeface="PMingLiU" pitchFamily="18" charset="-120"/>
              </a:rPr>
              <a:t>Recursion</a:t>
            </a:r>
          </a:p>
          <a:p>
            <a:pPr>
              <a:lnSpc>
                <a:spcPct val="90000"/>
              </a:lnSpc>
            </a:pPr>
            <a:endParaRPr lang="zh-TW" altLang="en-US" sz="5400" dirty="0">
              <a:solidFill>
                <a:schemeClr val="folHlink"/>
              </a:solidFill>
              <a:ea typeface="PMingLiU" pitchFamily="18" charset="-120"/>
            </a:endParaRPr>
          </a:p>
        </p:txBody>
      </p:sp>
      <p:sp>
        <p:nvSpPr>
          <p:cNvPr id="5141" name="Text Box 21"/>
          <p:cNvSpPr txBox="1">
            <a:spLocks noChangeArrowheads="1"/>
          </p:cNvSpPr>
          <p:nvPr/>
        </p:nvSpPr>
        <p:spPr bwMode="auto">
          <a:xfrm>
            <a:off x="8656638" y="176213"/>
            <a:ext cx="241300" cy="6302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r">
              <a:buFont typeface="Monotype Sorts" pitchFamily="2" charset="2"/>
              <a:buNone/>
            </a:pPr>
            <a:r>
              <a:rPr lang="en-US" altLang="zh-TW" sz="1600" b="0">
                <a:ea typeface="PMingLiU" pitchFamily="18" charset="-120"/>
              </a:rPr>
              <a:t> </a:t>
            </a:r>
          </a:p>
          <a:p>
            <a:pPr algn="r">
              <a:buFont typeface="Monotype Sorts" pitchFamily="2" charset="2"/>
              <a:buNone/>
            </a:pPr>
            <a:r>
              <a:rPr lang="en-US" altLang="zh-TW" sz="1600" b="0">
                <a:ea typeface="PMingLiU" pitchFamily="18" charset="-12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Recursion</a:t>
            </a:r>
          </a:p>
        </p:txBody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848600" cy="4495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 some problems, it may be natural to define the problem in terms of the problem itself.</a:t>
            </a:r>
          </a:p>
          <a:p>
            <a:pPr>
              <a:lnSpc>
                <a:spcPct val="90000"/>
              </a:lnSpc>
            </a:pPr>
            <a:r>
              <a:rPr lang="en-US" dirty="0"/>
              <a:t>Recursion is useful for problems that can be represented by a simpler version of the same problem.</a:t>
            </a:r>
          </a:p>
          <a:p>
            <a:pPr>
              <a:lnSpc>
                <a:spcPct val="90000"/>
              </a:lnSpc>
            </a:pPr>
            <a:r>
              <a:rPr lang="en-US" dirty="0"/>
              <a:t>Example: the factorial function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dirty="0"/>
              <a:t>		</a:t>
            </a:r>
            <a:r>
              <a:rPr lang="en-US" sz="2000" b="1" dirty="0">
                <a:latin typeface="Courier New" pitchFamily="49" charset="0"/>
              </a:rPr>
              <a:t>6! = 6 * 5 * 4 * 3 * 2 * 1</a:t>
            </a:r>
            <a:endParaRPr lang="en-US" sz="20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dirty="0"/>
              <a:t>	We could write: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dirty="0"/>
              <a:t>		</a:t>
            </a:r>
            <a:r>
              <a:rPr lang="en-US" sz="2000" b="1" dirty="0">
                <a:latin typeface="Courier New" pitchFamily="49" charset="0"/>
              </a:rPr>
              <a:t>6! = 6 * 5!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dirty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factorial function</a:t>
            </a:r>
          </a:p>
        </p:txBody>
      </p:sp>
      <p:sp>
        <p:nvSpPr>
          <p:cNvPr id="50688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7848600" cy="4343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In general, we can express the factorial function as follows: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 sz="2000" b="1">
                <a:latin typeface="Courier New" pitchFamily="49" charset="0"/>
              </a:rPr>
              <a:t>n! = n * (n-1)!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Is this correct? Well… almost.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    The factorial function is only defined for </a:t>
            </a:r>
            <a:r>
              <a:rPr lang="en-US" i="1"/>
              <a:t>positive</a:t>
            </a:r>
            <a:r>
              <a:rPr lang="en-US"/>
              <a:t> integers. So we should be a bit more precise: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 sz="2000" b="1">
                <a:latin typeface="Courier New" pitchFamily="49" charset="0"/>
              </a:rPr>
              <a:t>n! = 1		(if n is equal to 1)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		n! = n * (n-1)! 	(if n is larger than 1)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848600" cy="44196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400"/>
              <a:t>	</a:t>
            </a:r>
          </a:p>
          <a:p>
            <a:pPr>
              <a:buFont typeface="Monotype Sorts" pitchFamily="2" charset="2"/>
              <a:buNone/>
            </a:pPr>
            <a:r>
              <a:rPr lang="en-US" sz="2400"/>
              <a:t>    We have to pay a price for recursion:</a:t>
            </a:r>
          </a:p>
          <a:p>
            <a:pPr lvl="1"/>
            <a:r>
              <a:rPr lang="en-US" sz="2000"/>
              <a:t>calling a function consumes more time and memory than adjusting a loop counter. </a:t>
            </a:r>
          </a:p>
          <a:p>
            <a:pPr lvl="1"/>
            <a:r>
              <a:rPr lang="en-US" sz="2000"/>
              <a:t>high performance applications (graphic action games, simulations of nuclear explosions) hardly ever use recursion.</a:t>
            </a:r>
          </a:p>
          <a:p>
            <a:pPr>
              <a:buFont typeface="Monotype Sorts" pitchFamily="2" charset="2"/>
              <a:buNone/>
            </a:pPr>
            <a:endParaRPr lang="en-US" sz="2400"/>
          </a:p>
          <a:p>
            <a:pPr>
              <a:buFont typeface="Monotype Sorts" pitchFamily="2" charset="2"/>
              <a:buNone/>
            </a:pPr>
            <a:r>
              <a:rPr lang="en-US" sz="2400"/>
              <a:t>	In less demanding applications recursion is an attractive alternative for iteration (for the right problems!)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512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848600" cy="4495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If we use iteration, we must be careful not to create an infinite loop by accident: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</a:t>
            </a:r>
            <a:r>
              <a:rPr lang="en-US" sz="2400" b="1">
                <a:latin typeface="Courier New" pitchFamily="49" charset="0"/>
              </a:rPr>
              <a:t>for(int incr=1; incr!=10;incr+=2)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>
                <a:latin typeface="Courier New" pitchFamily="49" charset="0"/>
              </a:rPr>
              <a:t>	  ...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>
                <a:latin typeface="Courier New" pitchFamily="49" charset="0"/>
              </a:rPr>
              <a:t>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400">
              <a:latin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>
                <a:latin typeface="Courier New" pitchFamily="49" charset="0"/>
              </a:rPr>
              <a:t>  </a:t>
            </a:r>
            <a:r>
              <a:rPr lang="en-US" sz="2400" b="1">
                <a:latin typeface="Courier New" pitchFamily="49" charset="0"/>
              </a:rPr>
              <a:t>int result = 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>
                <a:latin typeface="Courier New" pitchFamily="49" charset="0"/>
              </a:rPr>
              <a:t>	</a:t>
            </a:r>
            <a:r>
              <a:rPr lang="en-US" sz="2400" b="1">
                <a:latin typeface="Courier New" pitchFamily="49" charset="0"/>
              </a:rPr>
              <a:t>while(result &gt;0){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>
                <a:latin typeface="Courier New" pitchFamily="49" charset="0"/>
              </a:rPr>
              <a:t>	  ...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>
                <a:latin typeface="Courier New" pitchFamily="49" charset="0"/>
              </a:rPr>
              <a:t>	  result++;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>
                <a:latin typeface="Courier New" pitchFamily="49" charset="0"/>
              </a:rPr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dirty="0"/>
              <a:t>	We must always make sure that the recursion </a:t>
            </a:r>
            <a:r>
              <a:rPr lang="en-US" i="1" dirty="0"/>
              <a:t>bottoms out</a:t>
            </a:r>
            <a:r>
              <a:rPr lang="en-US" dirty="0"/>
              <a:t>:</a:t>
            </a:r>
          </a:p>
          <a:p>
            <a:pPr>
              <a:buFont typeface="Monotype Sorts" pitchFamily="2" charset="2"/>
              <a:buNone/>
            </a:pPr>
            <a:endParaRPr lang="en-US" dirty="0"/>
          </a:p>
          <a:p>
            <a:r>
              <a:rPr lang="en-US" dirty="0"/>
              <a:t>A recursive function must contain at least one non-recursive branch.</a:t>
            </a:r>
          </a:p>
          <a:p>
            <a:r>
              <a:rPr lang="en-US" dirty="0"/>
              <a:t>The recursive calls must eventually lead to a non-recursive branch.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Recursion</a:t>
            </a:r>
          </a:p>
        </p:txBody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Similarly, if we use recursion we must be careful not to create an infinite chain of function calls: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 sz="2000" b="1">
                <a:latin typeface="Courier New" pitchFamily="49" charset="0"/>
              </a:rPr>
              <a:t>int fac(int numb){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		   return numb * fac(numb-1);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		}</a:t>
            </a:r>
            <a:endParaRPr lang="en-US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Or: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   		</a:t>
            </a:r>
            <a:r>
              <a:rPr lang="en-US" sz="2000" b="1">
                <a:latin typeface="Courier New" pitchFamily="49" charset="0"/>
              </a:rPr>
              <a:t>int fac(int numb){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		   if (numb&lt;=1)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		      return 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		   else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		      return numb * fac(numb+1);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		}</a:t>
            </a:r>
            <a:endParaRPr lang="en-US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TW">
                <a:ea typeface="PMingLiU" pitchFamily="18" charset="-120"/>
              </a:rPr>
              <a:t>Recursion</a:t>
            </a:r>
            <a:endParaRPr lang="en-US" altLang="zh-TW" sz="4000">
              <a:ea typeface="PMingLiU" pitchFamily="18" charset="-120"/>
            </a:endParaRPr>
          </a:p>
        </p:txBody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229600" cy="4724400"/>
          </a:xfrm>
          <a:noFill/>
          <a:ln/>
        </p:spPr>
        <p:txBody>
          <a:bodyPr/>
          <a:lstStyle/>
          <a:p>
            <a:endParaRPr lang="en-US" altLang="zh-TW">
              <a:ea typeface="PMingLiU" pitchFamily="18" charset="-120"/>
            </a:endParaRPr>
          </a:p>
          <a:p>
            <a:r>
              <a:rPr lang="en-US" altLang="zh-TW">
                <a:ea typeface="PMingLiU" pitchFamily="18" charset="-120"/>
              </a:rPr>
              <a:t>Recursion is one way to decompose a task into smaller subtasks. At least one of the subtasks is a smaller example of the same task.</a:t>
            </a:r>
          </a:p>
          <a:p>
            <a:r>
              <a:rPr lang="en-US" altLang="zh-TW">
                <a:ea typeface="PMingLiU" pitchFamily="18" charset="-120"/>
              </a:rPr>
              <a:t>The smallest example of the same task has a non-recursive solution.</a:t>
            </a:r>
          </a:p>
          <a:p>
            <a:endParaRPr lang="en-US" altLang="zh-TW">
              <a:ea typeface="PMingLiU" pitchFamily="18" charset="-120"/>
            </a:endParaRPr>
          </a:p>
          <a:p>
            <a:pPr lvl="1">
              <a:buFont typeface="Monotype Sorts" pitchFamily="2" charset="2"/>
              <a:buNone/>
            </a:pPr>
            <a:r>
              <a:rPr lang="en-US" altLang="zh-TW" sz="2000" u="sng">
                <a:ea typeface="PMingLiU" pitchFamily="18" charset="-120"/>
              </a:rPr>
              <a:t>	Example: The factorial function</a:t>
            </a:r>
            <a:endParaRPr lang="en-US" altLang="zh-TW" sz="2000">
              <a:ea typeface="PMingLiU" pitchFamily="18" charset="-120"/>
            </a:endParaRPr>
          </a:p>
          <a:p>
            <a:pPr lvl="1">
              <a:buFont typeface="Monotype Sorts" pitchFamily="2" charset="2"/>
              <a:buNone/>
            </a:pPr>
            <a:r>
              <a:rPr lang="en-US" altLang="zh-TW" sz="2000">
                <a:latin typeface="Courier" pitchFamily="49" charset="0"/>
                <a:ea typeface="PMingLiU" pitchFamily="18" charset="-120"/>
              </a:rPr>
              <a:t>	</a:t>
            </a:r>
            <a:r>
              <a:rPr lang="en-US" altLang="zh-TW" sz="2000">
                <a:latin typeface="Courier New" pitchFamily="49" charset="0"/>
                <a:ea typeface="PMingLiU" pitchFamily="18" charset="-120"/>
              </a:rPr>
              <a:t>n! = n * (n-1)! and 1! =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4800" dirty="0" smtClean="0"/>
              <a:t>Fibonacci </a:t>
            </a:r>
            <a:r>
              <a:rPr lang="en-US" sz="4800" dirty="0"/>
              <a:t>numbers</a:t>
            </a:r>
          </a:p>
        </p:txBody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915400" cy="4800600"/>
          </a:xfrm>
          <a:noFill/>
          <a:ln/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//Calculate Fibonacci numbers using recursive function.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//A very inefficient way, but illustrates recursion well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>
                <a:latin typeface="Courier New" pitchFamily="49" charset="0"/>
              </a:rPr>
              <a:t>int fib(int number)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>
                <a:latin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>
                <a:latin typeface="Courier New" pitchFamily="49" charset="0"/>
              </a:rPr>
              <a:t>	if (number == 0) return 0;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>
                <a:latin typeface="Courier New" pitchFamily="49" charset="0"/>
              </a:rPr>
              <a:t>	if (number == 1) return 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>
                <a:latin typeface="Courier New" pitchFamily="49" charset="0"/>
              </a:rPr>
              <a:t>	return (fib(number-1) + fib(number-2));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>
                <a:latin typeface="Courier New" pitchFamily="49" charset="0"/>
              </a:rPr>
              <a:t>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1400" b="1">
              <a:latin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400" b="1">
                <a:latin typeface="Courier New" pitchFamily="49" charset="0"/>
              </a:rPr>
              <a:t>int main(){	// driver function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400" b="1">
                <a:latin typeface="Courier New" pitchFamily="49" charset="0"/>
              </a:rPr>
              <a:t>	int inp_number;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400" b="1">
                <a:latin typeface="Courier New" pitchFamily="49" charset="0"/>
              </a:rPr>
              <a:t>	cout &lt;&lt; "Please enter an integer: ";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400" b="1">
                <a:latin typeface="Courier New" pitchFamily="49" charset="0"/>
              </a:rPr>
              <a:t>	cin &gt;&gt; inp_number;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400" b="1">
                <a:latin typeface="Courier New" pitchFamily="49" charset="0"/>
              </a:rPr>
              <a:t>	cout &lt;&lt; "The Fibonacci number for "&lt;&lt; inp_number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400" b="1">
                <a:latin typeface="Courier New" pitchFamily="49" charset="0"/>
              </a:rPr>
              <a:t>		 &lt;&lt; " is "&lt;&lt; fib(inp_number)&lt;&lt;endl;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400" b="1">
                <a:latin typeface="Courier New" pitchFamily="49" charset="0"/>
              </a:rPr>
              <a:t>  return 0;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400" b="1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950" y="481013"/>
            <a:ext cx="8401050" cy="5767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Trace a </a:t>
            </a:r>
            <a:r>
              <a:rPr lang="en-US" sz="4800" dirty="0"/>
              <a:t>Fibonacci Number</a:t>
            </a:r>
            <a:r>
              <a:rPr lang="en-US" sz="4000" dirty="0"/>
              <a:t> </a:t>
            </a:r>
          </a:p>
        </p:txBody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8229600" cy="4724400"/>
          </a:xfrm>
          <a:noFill/>
          <a:ln/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000"/>
              <a:t>Assume the input number is 4, that is, num=4: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fib(4):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4 == 0 ? No;   4 == 1?	No.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fib(4) = fib(3) + fib(2)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fib(3):</a:t>
            </a:r>
            <a:endParaRPr lang="en-US" sz="2000" b="1">
              <a:latin typeface="Courier New" pitchFamily="49" charset="0"/>
            </a:endParaRP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>
                <a:latin typeface="Courier New" pitchFamily="49" charset="0"/>
              </a:rPr>
              <a:t>3 == 0 ? No; 3 == 1? No.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>
                <a:latin typeface="Courier New" pitchFamily="49" charset="0"/>
              </a:rPr>
              <a:t>fib(3) = fib(2) + fib(1)  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>
                <a:latin typeface="Courier New" pitchFamily="49" charset="0"/>
              </a:rPr>
              <a:t>fib(2):</a:t>
            </a:r>
          </a:p>
          <a:p>
            <a:pPr lvl="3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2 == 0? No; 2==1? No.</a:t>
            </a:r>
          </a:p>
          <a:p>
            <a:pPr lvl="3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fib(2)</a:t>
            </a:r>
            <a:r>
              <a:rPr lang="en-US" sz="1200" b="1">
                <a:latin typeface="Courier New" pitchFamily="49" charset="0"/>
              </a:rPr>
              <a:t> </a:t>
            </a:r>
            <a:r>
              <a:rPr lang="en-US" sz="1800" b="1">
                <a:latin typeface="Courier New" pitchFamily="49" charset="0"/>
              </a:rPr>
              <a:t>= fib(1)+fib(0) 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>
                <a:latin typeface="Courier New" pitchFamily="49" charset="0"/>
              </a:rPr>
              <a:t>   fib(1):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>
                <a:latin typeface="Courier New" pitchFamily="49" charset="0"/>
              </a:rPr>
              <a:t>      1== 0 ? No; 1 == 1? Yes.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>
                <a:latin typeface="Courier New" pitchFamily="49" charset="0"/>
              </a:rPr>
              <a:t>   	fib(1) = 1;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>
                <a:latin typeface="Courier New" pitchFamily="49" charset="0"/>
              </a:rPr>
              <a:t>		return fib(1)</a:t>
            </a:r>
            <a:r>
              <a:rPr lang="en-US" sz="1200" b="1">
                <a:latin typeface="Courier New" pitchFamily="49" charset="0"/>
              </a:rPr>
              <a:t>;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200" b="1">
                <a:latin typeface="Courier" pitchFamily="49" charset="0"/>
              </a:rPr>
              <a:t>    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>
                <a:latin typeface="Courier" pitchFamily="49" charset="0"/>
              </a:rPr>
              <a:t> </a:t>
            </a:r>
          </a:p>
        </p:txBody>
      </p:sp>
      <p:sp>
        <p:nvSpPr>
          <p:cNvPr id="551940" name="Text Box 4"/>
          <p:cNvSpPr txBox="1">
            <a:spLocks noChangeArrowheads="1"/>
          </p:cNvSpPr>
          <p:nvPr/>
        </p:nvSpPr>
        <p:spPr bwMode="auto">
          <a:xfrm>
            <a:off x="5791200" y="1295400"/>
            <a:ext cx="3352800" cy="145501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400">
                <a:latin typeface="Courier New" pitchFamily="49" charset="0"/>
              </a:rPr>
              <a:t>int fib(int num)</a:t>
            </a:r>
          </a:p>
          <a:p>
            <a:pPr marL="342900" indent="-342900" algn="l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400">
                <a:latin typeface="Courier New" pitchFamily="49" charset="0"/>
              </a:rPr>
              <a:t>{</a:t>
            </a:r>
          </a:p>
          <a:p>
            <a:pPr marL="342900" indent="-342900" algn="l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400">
                <a:latin typeface="Courier New" pitchFamily="49" charset="0"/>
              </a:rPr>
              <a:t>	if (num == 0) return 0;</a:t>
            </a:r>
          </a:p>
          <a:p>
            <a:pPr marL="342900" indent="-342900" algn="l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400">
                <a:latin typeface="Courier New" pitchFamily="49" charset="0"/>
              </a:rPr>
              <a:t>	if (num == 1) return 1;</a:t>
            </a:r>
          </a:p>
          <a:p>
            <a:pPr marL="342900" indent="-342900" algn="l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400">
                <a:latin typeface="Courier New" pitchFamily="49" charset="0"/>
              </a:rPr>
              <a:t>	return </a:t>
            </a:r>
          </a:p>
          <a:p>
            <a:pPr marL="342900" indent="-342900" algn="l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400">
                <a:latin typeface="Courier New" pitchFamily="49" charset="0"/>
              </a:rPr>
              <a:t>     (fib(num-1)+fib(num-2));</a:t>
            </a:r>
          </a:p>
          <a:p>
            <a:pPr marL="342900" indent="-342900" algn="l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400">
                <a:latin typeface="Courier New" pitchFamily="49" charset="0"/>
              </a:rPr>
              <a:t>}</a:t>
            </a:r>
            <a:endParaRPr lang="en-US" sz="1600"/>
          </a:p>
        </p:txBody>
      </p:sp>
      <p:pic>
        <p:nvPicPr>
          <p:cNvPr id="551943" name="Picture 7"/>
          <p:cNvPicPr>
            <a:picLocks noChangeAspect="1" noChangeArrowheads="1"/>
          </p:cNvPicPr>
          <p:nvPr/>
        </p:nvPicPr>
        <p:blipFill>
          <a:blip r:embed="rId2"/>
          <a:srcRect l="51927" t="3551" r="3629" b="13213"/>
          <a:stretch>
            <a:fillRect/>
          </a:stretch>
        </p:blipFill>
        <p:spPr bwMode="auto">
          <a:xfrm>
            <a:off x="5867400" y="2895600"/>
            <a:ext cx="3081338" cy="3962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551944" name="Line 8"/>
          <p:cNvSpPr>
            <a:spLocks noChangeShapeType="1"/>
          </p:cNvSpPr>
          <p:nvPr/>
        </p:nvSpPr>
        <p:spPr bwMode="auto">
          <a:xfrm flipH="1">
            <a:off x="7010400" y="3124200"/>
            <a:ext cx="609600" cy="7620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1945" name="Line 9"/>
          <p:cNvSpPr>
            <a:spLocks noChangeShapeType="1"/>
          </p:cNvSpPr>
          <p:nvPr/>
        </p:nvSpPr>
        <p:spPr bwMode="auto">
          <a:xfrm flipH="1">
            <a:off x="6629400" y="4267200"/>
            <a:ext cx="304800" cy="7620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1946" name="Line 10"/>
          <p:cNvSpPr>
            <a:spLocks noChangeShapeType="1"/>
          </p:cNvSpPr>
          <p:nvPr/>
        </p:nvSpPr>
        <p:spPr bwMode="auto">
          <a:xfrm flipH="1">
            <a:off x="6248400" y="5410200"/>
            <a:ext cx="304800" cy="7620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1976" name="Line 40"/>
          <p:cNvSpPr>
            <a:spLocks noChangeShapeType="1"/>
          </p:cNvSpPr>
          <p:nvPr/>
        </p:nvSpPr>
        <p:spPr bwMode="auto">
          <a:xfrm flipH="1">
            <a:off x="6172200" y="5410200"/>
            <a:ext cx="304800" cy="762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arrow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1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1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1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1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51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51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44" grpId="0" animBg="1"/>
      <p:bldP spid="551945" grpId="0" animBg="1"/>
      <p:bldP spid="551946" grpId="0" animBg="1"/>
      <p:bldP spid="55197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Trace a </a:t>
            </a:r>
            <a:r>
              <a:rPr lang="en-US" sz="4800"/>
              <a:t>Fibonacci Number</a:t>
            </a:r>
            <a:r>
              <a:rPr lang="en-US" sz="4000"/>
              <a:t> </a:t>
            </a:r>
          </a:p>
        </p:txBody>
      </p:sp>
      <p:sp>
        <p:nvSpPr>
          <p:cNvPr id="552963" name="Rectangle 3"/>
          <p:cNvSpPr>
            <a:spLocks noChangeArrowheads="1"/>
          </p:cNvSpPr>
          <p:nvPr/>
        </p:nvSpPr>
        <p:spPr bwMode="auto">
          <a:xfrm>
            <a:off x="-152400" y="1828800"/>
            <a:ext cx="57912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algn="l">
              <a:lnSpc>
                <a:spcPct val="90000"/>
              </a:lnSpc>
              <a:buClr>
                <a:schemeClr val="folHlink"/>
              </a:buClr>
              <a:buFont typeface="Monotype Sorts" pitchFamily="2" charset="2"/>
              <a:buNone/>
            </a:pPr>
            <a:r>
              <a:rPr lang="en-US" sz="2800">
                <a:latin typeface="Courier" pitchFamily="49" charset="0"/>
              </a:rPr>
              <a:t>  </a:t>
            </a:r>
            <a:r>
              <a:rPr lang="en-US" sz="2800">
                <a:latin typeface="Courier New" pitchFamily="49" charset="0"/>
              </a:rPr>
              <a:t>	      </a:t>
            </a:r>
            <a:r>
              <a:rPr lang="en-US" sz="1800">
                <a:latin typeface="Courier New" pitchFamily="49" charset="0"/>
              </a:rPr>
              <a:t>fib(0):</a:t>
            </a:r>
          </a:p>
          <a:p>
            <a:pPr marL="1143000" lvl="2" indent="-228600" algn="l">
              <a:lnSpc>
                <a:spcPct val="90000"/>
              </a:lnSpc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en-US" sz="1800">
                <a:latin typeface="Courier New" pitchFamily="49" charset="0"/>
              </a:rPr>
              <a:t>         	0 == 0 ?  Yes.</a:t>
            </a:r>
          </a:p>
          <a:p>
            <a:pPr marL="1143000" lvl="2" indent="-228600" algn="l">
              <a:lnSpc>
                <a:spcPct val="90000"/>
              </a:lnSpc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en-US" sz="1800">
                <a:latin typeface="Courier New" pitchFamily="49" charset="0"/>
              </a:rPr>
              <a:t>   	   	fib(0) = 0; </a:t>
            </a:r>
          </a:p>
          <a:p>
            <a:pPr marL="1143000" lvl="2" indent="-228600" algn="l">
              <a:lnSpc>
                <a:spcPct val="90000"/>
              </a:lnSpc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en-US" sz="1800">
                <a:latin typeface="Courier New" pitchFamily="49" charset="0"/>
              </a:rPr>
              <a:t>	  	   	return fib(0);</a:t>
            </a:r>
          </a:p>
          <a:p>
            <a:pPr marL="1143000" lvl="2" indent="-228600" algn="l">
              <a:lnSpc>
                <a:spcPct val="90000"/>
              </a:lnSpc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en-US" sz="1400">
                <a:latin typeface="Courier New" pitchFamily="49" charset="0"/>
              </a:rPr>
              <a:t>     </a:t>
            </a:r>
            <a:r>
              <a:rPr lang="en-US" sz="1800">
                <a:latin typeface="Courier New" pitchFamily="49" charset="0"/>
              </a:rPr>
              <a:t>fib(2) = 1 + 0 = 1;</a:t>
            </a:r>
          </a:p>
          <a:p>
            <a:pPr marL="1143000" lvl="2" indent="-228600" algn="l">
              <a:lnSpc>
                <a:spcPct val="90000"/>
              </a:lnSpc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en-US" sz="1800">
                <a:latin typeface="Courier New" pitchFamily="49" charset="0"/>
              </a:rPr>
              <a:t>    return fib(2);</a:t>
            </a:r>
            <a:r>
              <a:rPr lang="en-US" sz="1400">
                <a:latin typeface="Courier New" pitchFamily="49" charset="0"/>
              </a:rPr>
              <a:t>   </a:t>
            </a:r>
          </a:p>
          <a:p>
            <a:pPr marL="742950" lvl="1" indent="-285750" algn="l">
              <a:lnSpc>
                <a:spcPct val="90000"/>
              </a:lnSpc>
              <a:buClr>
                <a:schemeClr val="folHlink"/>
              </a:buClr>
              <a:buSzPct val="80000"/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    fib(3) = 1 + fib(1)</a:t>
            </a:r>
          </a:p>
          <a:p>
            <a:pPr marL="342900" indent="-342900" algn="l">
              <a:lnSpc>
                <a:spcPct val="90000"/>
              </a:lnSpc>
              <a:buClr>
                <a:schemeClr val="folHlink"/>
              </a:buClr>
              <a:buFont typeface="Monotype Sorts" pitchFamily="2" charset="2"/>
              <a:buNone/>
            </a:pPr>
            <a:r>
              <a:rPr lang="en-US" sz="1800">
                <a:latin typeface="Courier New" pitchFamily="49" charset="0"/>
              </a:rPr>
              <a:t>		     </a:t>
            </a:r>
            <a:r>
              <a:rPr lang="en-US">
                <a:latin typeface="Courier New" pitchFamily="49" charset="0"/>
              </a:rPr>
              <a:t>fib(1):</a:t>
            </a:r>
          </a:p>
          <a:p>
            <a:pPr marL="1143000" lvl="2" indent="-228600" algn="l">
              <a:lnSpc>
                <a:spcPct val="90000"/>
              </a:lnSpc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en-US">
                <a:latin typeface="Courier New" pitchFamily="49" charset="0"/>
              </a:rPr>
              <a:t>     1 == 0 ? No; 1 == 1? Yes</a:t>
            </a:r>
          </a:p>
          <a:p>
            <a:pPr marL="1143000" lvl="2" indent="-228600" algn="l">
              <a:lnSpc>
                <a:spcPct val="90000"/>
              </a:lnSpc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en-US">
                <a:latin typeface="Courier New" pitchFamily="49" charset="0"/>
              </a:rPr>
              <a:t>     fib</a:t>
            </a:r>
            <a:r>
              <a:rPr lang="en-US" sz="1600">
                <a:latin typeface="Courier New" pitchFamily="49" charset="0"/>
              </a:rPr>
              <a:t>(1)</a:t>
            </a:r>
            <a:r>
              <a:rPr lang="en-US">
                <a:latin typeface="Courier New" pitchFamily="49" charset="0"/>
              </a:rPr>
              <a:t> = 1;</a:t>
            </a:r>
          </a:p>
          <a:p>
            <a:pPr marL="1143000" lvl="2" indent="-228600" algn="l">
              <a:lnSpc>
                <a:spcPct val="90000"/>
              </a:lnSpc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en-US">
                <a:latin typeface="Courier New" pitchFamily="49" charset="0"/>
              </a:rPr>
              <a:t>	    return fib</a:t>
            </a:r>
            <a:r>
              <a:rPr lang="en-US" sz="1800">
                <a:latin typeface="Courier New" pitchFamily="49" charset="0"/>
              </a:rPr>
              <a:t>(1)</a:t>
            </a:r>
            <a:r>
              <a:rPr lang="en-US" sz="1400">
                <a:latin typeface="Courier New" pitchFamily="49" charset="0"/>
              </a:rPr>
              <a:t>;</a:t>
            </a:r>
          </a:p>
          <a:p>
            <a:pPr marL="742950" lvl="1" indent="-285750" algn="l">
              <a:lnSpc>
                <a:spcPct val="90000"/>
              </a:lnSpc>
              <a:buClr>
                <a:schemeClr val="folHlink"/>
              </a:buClr>
              <a:buSzPct val="80000"/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 fib(3) = 1 + 1 = 2;</a:t>
            </a:r>
          </a:p>
          <a:p>
            <a:pPr marL="742950" lvl="1" indent="-285750" algn="l">
              <a:lnSpc>
                <a:spcPct val="90000"/>
              </a:lnSpc>
              <a:buClr>
                <a:schemeClr val="folHlink"/>
              </a:buClr>
              <a:buSzPct val="80000"/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    return fib(3)</a:t>
            </a:r>
          </a:p>
        </p:txBody>
      </p:sp>
      <p:pic>
        <p:nvPicPr>
          <p:cNvPr id="552966" name="Picture 6"/>
          <p:cNvPicPr>
            <a:picLocks noChangeAspect="1" noChangeArrowheads="1"/>
          </p:cNvPicPr>
          <p:nvPr/>
        </p:nvPicPr>
        <p:blipFill>
          <a:blip r:embed="rId2"/>
          <a:srcRect l="51927" t="3551" r="3629" b="13213"/>
          <a:stretch>
            <a:fillRect/>
          </a:stretch>
        </p:blipFill>
        <p:spPr bwMode="auto">
          <a:xfrm>
            <a:off x="5638800" y="1905000"/>
            <a:ext cx="3317875" cy="426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552967" name="Line 7"/>
          <p:cNvSpPr>
            <a:spLocks noChangeShapeType="1"/>
          </p:cNvSpPr>
          <p:nvPr/>
        </p:nvSpPr>
        <p:spPr bwMode="auto">
          <a:xfrm>
            <a:off x="6400800" y="4648200"/>
            <a:ext cx="304800" cy="838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68" name="Line 8"/>
          <p:cNvSpPr>
            <a:spLocks noChangeShapeType="1"/>
          </p:cNvSpPr>
          <p:nvPr/>
        </p:nvSpPr>
        <p:spPr bwMode="auto">
          <a:xfrm>
            <a:off x="6781800" y="3352800"/>
            <a:ext cx="304800" cy="838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83" name="Line 23"/>
          <p:cNvSpPr>
            <a:spLocks noChangeShapeType="1"/>
          </p:cNvSpPr>
          <p:nvPr/>
        </p:nvSpPr>
        <p:spPr bwMode="auto">
          <a:xfrm>
            <a:off x="6477000" y="4572000"/>
            <a:ext cx="304800" cy="838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arrow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84" name="Line 24"/>
          <p:cNvSpPr>
            <a:spLocks noChangeShapeType="1"/>
          </p:cNvSpPr>
          <p:nvPr/>
        </p:nvSpPr>
        <p:spPr bwMode="auto">
          <a:xfrm flipH="1">
            <a:off x="6324600" y="3352800"/>
            <a:ext cx="381000" cy="838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arrow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85" name="Line 25"/>
          <p:cNvSpPr>
            <a:spLocks noChangeShapeType="1"/>
          </p:cNvSpPr>
          <p:nvPr/>
        </p:nvSpPr>
        <p:spPr bwMode="auto">
          <a:xfrm>
            <a:off x="6934200" y="3352800"/>
            <a:ext cx="304800" cy="838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arrow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86" name="Line 26"/>
          <p:cNvSpPr>
            <a:spLocks noChangeShapeType="1"/>
          </p:cNvSpPr>
          <p:nvPr/>
        </p:nvSpPr>
        <p:spPr bwMode="auto">
          <a:xfrm flipH="1">
            <a:off x="6781800" y="2209800"/>
            <a:ext cx="609600" cy="685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arrow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87" name="Line 27"/>
          <p:cNvSpPr>
            <a:spLocks noChangeShapeType="1"/>
          </p:cNvSpPr>
          <p:nvPr/>
        </p:nvSpPr>
        <p:spPr bwMode="auto">
          <a:xfrm flipH="1">
            <a:off x="6934200" y="2209800"/>
            <a:ext cx="609600" cy="6858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88" name="Line 28"/>
          <p:cNvSpPr>
            <a:spLocks noChangeShapeType="1"/>
          </p:cNvSpPr>
          <p:nvPr/>
        </p:nvSpPr>
        <p:spPr bwMode="auto">
          <a:xfrm flipH="1">
            <a:off x="6477000" y="3352800"/>
            <a:ext cx="304800" cy="838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89" name="Line 29"/>
          <p:cNvSpPr>
            <a:spLocks noChangeShapeType="1"/>
          </p:cNvSpPr>
          <p:nvPr/>
        </p:nvSpPr>
        <p:spPr bwMode="auto">
          <a:xfrm flipH="1">
            <a:off x="6019800" y="4648200"/>
            <a:ext cx="304800" cy="838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90" name="Line 30"/>
          <p:cNvSpPr>
            <a:spLocks noChangeShapeType="1"/>
          </p:cNvSpPr>
          <p:nvPr/>
        </p:nvSpPr>
        <p:spPr bwMode="auto">
          <a:xfrm flipV="1">
            <a:off x="5943600" y="4724400"/>
            <a:ext cx="3048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91" name="Line 31"/>
          <p:cNvSpPr>
            <a:spLocks noChangeShapeType="1"/>
          </p:cNvSpPr>
          <p:nvPr/>
        </p:nvSpPr>
        <p:spPr bwMode="auto">
          <a:xfrm flipV="1">
            <a:off x="5867400" y="4724400"/>
            <a:ext cx="304800" cy="685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2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2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2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2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2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2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52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52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52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52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7" grpId="0" animBg="1"/>
      <p:bldP spid="552968" grpId="0" animBg="1"/>
      <p:bldP spid="552983" grpId="0" animBg="1"/>
      <p:bldP spid="552984" grpId="0" animBg="1"/>
      <p:bldP spid="552985" grpId="0" animBg="1"/>
      <p:bldP spid="55298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102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Trace a </a:t>
            </a:r>
            <a:r>
              <a:rPr lang="en-US" sz="4800"/>
              <a:t>Fibonacci Number</a:t>
            </a:r>
          </a:p>
        </p:txBody>
      </p:sp>
      <p:sp>
        <p:nvSpPr>
          <p:cNvPr id="523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7848600" cy="4724400"/>
          </a:xfrm>
          <a:noFill/>
          <a:ln/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		fib(2):</a:t>
            </a:r>
          </a:p>
          <a:p>
            <a:pPr lvl="3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2 == 0 ? No; 2 == 1?	No.</a:t>
            </a:r>
          </a:p>
          <a:p>
            <a:pPr lvl="3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fib(2) = fib(1) + fib(0)</a:t>
            </a:r>
          </a:p>
          <a:p>
            <a:pPr lvl="3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fib(1):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  1== 0 ? No; 1 == 1?  Yes.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	fib(1) = 1;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		return fib(1);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fib(0):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   0 == 0 ?   Yes.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	fib(0) = 0; 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	  	return fib(0);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fib(2) = 1 + 0 = 1;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return fib(2);  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fib(4) = fib(3) + fib(2)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       = 2 + 1 = 3;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return fib(4);</a:t>
            </a:r>
          </a:p>
        </p:txBody>
      </p:sp>
      <p:pic>
        <p:nvPicPr>
          <p:cNvPr id="523269" name="Picture 1029"/>
          <p:cNvPicPr>
            <a:picLocks noChangeAspect="1" noChangeArrowheads="1"/>
          </p:cNvPicPr>
          <p:nvPr/>
        </p:nvPicPr>
        <p:blipFill>
          <a:blip r:embed="rId2"/>
          <a:srcRect l="51927" t="3551" r="3629" b="13213"/>
          <a:stretch>
            <a:fillRect/>
          </a:stretch>
        </p:blipFill>
        <p:spPr bwMode="auto">
          <a:xfrm>
            <a:off x="5673725" y="1905000"/>
            <a:ext cx="3317875" cy="426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523271" name="Line 1031"/>
          <p:cNvSpPr>
            <a:spLocks noChangeShapeType="1"/>
          </p:cNvSpPr>
          <p:nvPr/>
        </p:nvSpPr>
        <p:spPr bwMode="auto">
          <a:xfrm>
            <a:off x="8340725" y="3352800"/>
            <a:ext cx="304800" cy="838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3272" name="Line 1032"/>
          <p:cNvSpPr>
            <a:spLocks noChangeShapeType="1"/>
          </p:cNvSpPr>
          <p:nvPr/>
        </p:nvSpPr>
        <p:spPr bwMode="auto">
          <a:xfrm flipH="1">
            <a:off x="7883525" y="3352800"/>
            <a:ext cx="381000" cy="9144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3283" name="Line 1043"/>
          <p:cNvSpPr>
            <a:spLocks noChangeShapeType="1"/>
          </p:cNvSpPr>
          <p:nvPr/>
        </p:nvSpPr>
        <p:spPr bwMode="auto">
          <a:xfrm>
            <a:off x="7543800" y="2133600"/>
            <a:ext cx="685800" cy="838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Fibonacci Numbers</a:t>
            </a: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Fibonacci numbers can also be represented by the following formula.</a:t>
            </a:r>
          </a:p>
          <a:p>
            <a:pPr lvl="1">
              <a:buFont typeface="Monotype Sorts" pitchFamily="2" charset="2"/>
              <a:buNone/>
            </a:pPr>
            <a:endParaRPr lang="en-US"/>
          </a:p>
          <a:p>
            <a:endParaRPr lang="en-US"/>
          </a:p>
        </p:txBody>
      </p:sp>
      <p:pic>
        <p:nvPicPr>
          <p:cNvPr id="577540" name="Picture 4" descr="fibonacc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3200400"/>
            <a:ext cx="8105775" cy="1562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Binary </a:t>
            </a:r>
            <a:r>
              <a:rPr lang="en-US" dirty="0"/>
              <a:t>Search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229600" cy="4724400"/>
          </a:xfrm>
          <a:noFill/>
          <a:ln/>
        </p:spPr>
        <p:txBody>
          <a:bodyPr/>
          <a:lstStyle/>
          <a:p>
            <a:pPr lvl="1"/>
            <a:r>
              <a:rPr lang="en-US" sz="3200"/>
              <a:t>Search for an element in an array</a:t>
            </a:r>
          </a:p>
          <a:p>
            <a:pPr lvl="2"/>
            <a:r>
              <a:rPr lang="en-US" sz="2800"/>
              <a:t>Sequential search</a:t>
            </a:r>
          </a:p>
          <a:p>
            <a:pPr lvl="2"/>
            <a:r>
              <a:rPr lang="en-US" sz="2800"/>
              <a:t>Binary search</a:t>
            </a:r>
          </a:p>
          <a:p>
            <a:pPr lvl="1"/>
            <a:r>
              <a:rPr lang="en-US" sz="3200"/>
              <a:t>Binary search</a:t>
            </a:r>
          </a:p>
          <a:p>
            <a:pPr lvl="2"/>
            <a:r>
              <a:rPr lang="en-US" sz="2800"/>
              <a:t>Compare the search element with the middle element of the array</a:t>
            </a:r>
          </a:p>
          <a:p>
            <a:pPr lvl="2"/>
            <a:r>
              <a:rPr lang="en-US" sz="2800"/>
              <a:t>If not equal, then apply binary search to half of the array (if not empty) where the search element would be.</a:t>
            </a:r>
            <a:r>
              <a:rPr lang="en-US">
                <a:latin typeface="Courier" pitchFamily="49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Binary Search with Recursion</a:t>
            </a:r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52600"/>
            <a:ext cx="8610600" cy="48768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200" b="1">
                <a:latin typeface="Courier New" pitchFamily="49" charset="0"/>
              </a:rPr>
              <a:t>// Searches an ordered array of integers using recursion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200" b="1">
                <a:latin typeface="Courier New" pitchFamily="49" charset="0"/>
              </a:rPr>
              <a:t>int bsearchr(const int data[], // input: array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200" b="1">
                <a:latin typeface="Courier New" pitchFamily="49" charset="0"/>
              </a:rPr>
              <a:t>             int first,        // input: lower bound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200" b="1">
                <a:latin typeface="Courier New" pitchFamily="49" charset="0"/>
              </a:rPr>
              <a:t>             int last,        // input: upper bound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200" b="1">
                <a:latin typeface="Courier New" pitchFamily="49" charset="0"/>
              </a:rPr>
              <a:t>             int value         // input: value to find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200" b="1">
                <a:latin typeface="Courier New" pitchFamily="49" charset="0"/>
              </a:rPr>
              <a:t>        )// output: index if found,  otherwise return –1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1600" b="1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{  </a:t>
            </a:r>
            <a:r>
              <a:rPr lang="en-US" sz="1400" b="1">
                <a:latin typeface="Courier New" pitchFamily="49" charset="0"/>
              </a:rPr>
              <a:t>//cout &lt;&lt; "bsearch(data, "&lt;&lt;first&lt;&lt; ", last "&lt;&lt; ", "&lt;&lt;value &lt;&lt; "); "&lt;&lt;endl;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   int middle = (first + last) / 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   if (data[middle] == value)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      return middle;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   else if (first &gt;= last)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      return -1;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   else if (value &lt; data[middle])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      return bsearchr(data, first, middle-1, value);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   else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      return bsearchr(data, middle+1, last, value);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763000" cy="4724400"/>
          </a:xfrm>
          <a:noFill/>
          <a:ln/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int main() {</a:t>
            </a:r>
          </a:p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	  const int array_size = 8;</a:t>
            </a:r>
          </a:p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    int list[array_size]={1, 2, 3, 5, 7, 10, 14, 17};</a:t>
            </a:r>
          </a:p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    int search_value;</a:t>
            </a:r>
          </a:p>
          <a:p>
            <a:pPr>
              <a:buFont typeface="Monotype Sorts" pitchFamily="2" charset="2"/>
              <a:buNone/>
            </a:pPr>
            <a:endParaRPr lang="en-US" sz="2000" b="1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    cout &lt;&lt; "Enter search value: ";</a:t>
            </a:r>
          </a:p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    cin &gt;&gt; search_value;</a:t>
            </a:r>
          </a:p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    cout &lt;&lt; bsearchr(list,0,array_size-1,search_value)</a:t>
            </a:r>
          </a:p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         &lt;&lt; endl;</a:t>
            </a:r>
          </a:p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    </a:t>
            </a:r>
          </a:p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    return 0;	</a:t>
            </a:r>
          </a:p>
          <a:p>
            <a:pPr>
              <a:buFont typeface="Monotype Sorts" pitchFamily="2" charset="2"/>
              <a:buNone/>
            </a:pPr>
            <a:r>
              <a:rPr lang="en-US" sz="2000" b="1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Towers </a:t>
            </a:r>
            <a:r>
              <a:rPr lang="en-US" dirty="0"/>
              <a:t>of Hanoi</a:t>
            </a:r>
          </a:p>
        </p:txBody>
      </p:sp>
      <p:sp>
        <p:nvSpPr>
          <p:cNvPr id="55399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Only one disc could be moved at a time</a:t>
            </a:r>
          </a:p>
          <a:p>
            <a:pPr lvl="1"/>
            <a:r>
              <a:rPr lang="en-US" sz="2800" dirty="0"/>
              <a:t>A larger disc must never be stacked above a smaller one</a:t>
            </a:r>
          </a:p>
          <a:p>
            <a:pPr lvl="1"/>
            <a:r>
              <a:rPr lang="en-US" sz="2800" dirty="0"/>
              <a:t>One and only one extra needle could be used for intermediate storage of discs</a:t>
            </a:r>
          </a:p>
          <a:p>
            <a:endParaRPr lang="en-US" dirty="0"/>
          </a:p>
        </p:txBody>
      </p:sp>
      <p:graphicFrame>
        <p:nvGraphicFramePr>
          <p:cNvPr id="553988" name="Object 4"/>
          <p:cNvGraphicFramePr>
            <a:graphicFrameLocks noChangeAspect="1"/>
          </p:cNvGraphicFramePr>
          <p:nvPr>
            <p:ph idx="4294967295"/>
          </p:nvPr>
        </p:nvGraphicFramePr>
        <p:xfrm>
          <a:off x="1447800" y="1371600"/>
          <a:ext cx="4267200" cy="1371600"/>
        </p:xfrm>
        <a:graphic>
          <a:graphicData uri="http://schemas.openxmlformats.org/presentationml/2006/ole">
            <p:oleObj spid="_x0000_s1026" name="CorelPhotoPaint.Image.9" r:id="rId3" imgW="7301587" imgH="3669841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Towers of Hanoi</a:t>
            </a:r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void </a:t>
            </a:r>
            <a:r>
              <a:rPr lang="en-US" sz="1800" b="1" dirty="0" err="1">
                <a:latin typeface="Courier New" pitchFamily="49" charset="0"/>
              </a:rPr>
              <a:t>hanoi</a:t>
            </a:r>
            <a:r>
              <a:rPr lang="en-US" sz="1800" b="1" dirty="0">
                <a:latin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from,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to,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num)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temp = 6 - from - to; //find the temporary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                          //storage column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if (num == 1){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    </a:t>
            </a:r>
            <a:r>
              <a:rPr lang="en-US" sz="1800" b="1" dirty="0" err="1">
                <a:latin typeface="Courier New" pitchFamily="49" charset="0"/>
              </a:rPr>
              <a:t>cout</a:t>
            </a:r>
            <a:r>
              <a:rPr lang="en-US" sz="1800" b="1" dirty="0">
                <a:latin typeface="Courier New" pitchFamily="49" charset="0"/>
              </a:rPr>
              <a:t> &lt;&lt; "move disc 1 from " &lt;&lt; from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         &lt;&lt; " to " &lt;&lt; to &lt;&lt; </a:t>
            </a:r>
            <a:r>
              <a:rPr lang="en-US" sz="1800" b="1" dirty="0" err="1">
                <a:latin typeface="Courier New" pitchFamily="49" charset="0"/>
              </a:rPr>
              <a:t>endl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else {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    </a:t>
            </a:r>
            <a:r>
              <a:rPr lang="en-US" sz="1800" b="1" dirty="0" err="1">
                <a:latin typeface="Courier New" pitchFamily="49" charset="0"/>
              </a:rPr>
              <a:t>hanoi</a:t>
            </a:r>
            <a:r>
              <a:rPr lang="en-US" sz="1800" b="1" dirty="0">
                <a:latin typeface="Courier New" pitchFamily="49" charset="0"/>
              </a:rPr>
              <a:t>(from, temp, num - 1);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    </a:t>
            </a:r>
            <a:r>
              <a:rPr lang="en-US" sz="1800" b="1" dirty="0" err="1">
                <a:latin typeface="Courier New" pitchFamily="49" charset="0"/>
              </a:rPr>
              <a:t>cout</a:t>
            </a:r>
            <a:r>
              <a:rPr lang="en-US" sz="1800" b="1" dirty="0">
                <a:latin typeface="Courier New" pitchFamily="49" charset="0"/>
              </a:rPr>
              <a:t> &lt;&lt; "move disc " &lt;&lt; num &lt;&lt; " from " &lt;&lt; from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         &lt;&lt; " to " &lt;&lt; to &lt;&lt; </a:t>
            </a:r>
            <a:r>
              <a:rPr lang="en-US" sz="1800" b="1" dirty="0" err="1">
                <a:latin typeface="Courier New" pitchFamily="49" charset="0"/>
              </a:rPr>
              <a:t>endl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    </a:t>
            </a:r>
            <a:r>
              <a:rPr lang="en-US" sz="1800" b="1" dirty="0" err="1">
                <a:latin typeface="Courier New" pitchFamily="49" charset="0"/>
              </a:rPr>
              <a:t>hanoi</a:t>
            </a:r>
            <a:r>
              <a:rPr lang="en-US" sz="1800" b="1" dirty="0">
                <a:latin typeface="Courier New" pitchFamily="49" charset="0"/>
              </a:rPr>
              <a:t>(temp, to, num - 1);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    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800" b="1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Towers of Hanoi</a:t>
            </a:r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915400" cy="4953000"/>
          </a:xfrm>
          <a:noFill/>
          <a:ln/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main() {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</a:t>
            </a: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num_disc</a:t>
            </a:r>
            <a:r>
              <a:rPr lang="en-US" sz="2000" b="1" dirty="0">
                <a:latin typeface="Courier New" pitchFamily="49" charset="0"/>
              </a:rPr>
              <a:t>;  //number of discs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</a:t>
            </a:r>
            <a:r>
              <a:rPr lang="en-US" sz="2000" b="1" dirty="0" err="1">
                <a:latin typeface="Courier New" pitchFamily="49" charset="0"/>
              </a:rPr>
              <a:t>cout</a:t>
            </a:r>
            <a:r>
              <a:rPr lang="en-US" sz="2000" b="1" dirty="0">
                <a:latin typeface="Courier New" pitchFamily="49" charset="0"/>
              </a:rPr>
              <a:t> &lt;&lt; "Please enter a positive number (0 to quit)";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</a:t>
            </a:r>
            <a:r>
              <a:rPr lang="en-US" sz="2000" b="1" dirty="0" err="1">
                <a:latin typeface="Courier New" pitchFamily="49" charset="0"/>
              </a:rPr>
              <a:t>cin</a:t>
            </a:r>
            <a:r>
              <a:rPr lang="en-US" sz="2000" b="1" dirty="0">
                <a:latin typeface="Courier New" pitchFamily="49" charset="0"/>
              </a:rPr>
              <a:t> &gt;&gt; </a:t>
            </a:r>
            <a:r>
              <a:rPr lang="en-US" sz="2000" b="1" dirty="0" err="1">
                <a:latin typeface="Courier New" pitchFamily="49" charset="0"/>
              </a:rPr>
              <a:t>num_disc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while (</a:t>
            </a:r>
            <a:r>
              <a:rPr lang="en-US" sz="2000" b="1" dirty="0" err="1">
                <a:latin typeface="Courier New" pitchFamily="49" charset="0"/>
              </a:rPr>
              <a:t>num_disc</a:t>
            </a:r>
            <a:r>
              <a:rPr lang="en-US" sz="2000" b="1" dirty="0">
                <a:latin typeface="Courier New" pitchFamily="49" charset="0"/>
              </a:rPr>
              <a:t> &gt; 0){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    </a:t>
            </a:r>
            <a:r>
              <a:rPr lang="en-US" sz="2000" b="1" dirty="0" err="1">
                <a:latin typeface="Courier New" pitchFamily="49" charset="0"/>
              </a:rPr>
              <a:t>hanoi</a:t>
            </a:r>
            <a:r>
              <a:rPr lang="en-US" sz="2000" b="1" dirty="0">
                <a:latin typeface="Courier New" pitchFamily="49" charset="0"/>
              </a:rPr>
              <a:t>(1, 3, </a:t>
            </a:r>
            <a:r>
              <a:rPr lang="en-US" sz="2000" b="1" dirty="0" err="1">
                <a:latin typeface="Courier New" pitchFamily="49" charset="0"/>
              </a:rPr>
              <a:t>num_disc</a:t>
            </a:r>
            <a:r>
              <a:rPr lang="en-US" sz="2000" b="1" dirty="0">
                <a:latin typeface="Courier New" pitchFamily="49" charset="0"/>
              </a:rPr>
              <a:t>);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    </a:t>
            </a:r>
            <a:r>
              <a:rPr lang="en-US" sz="2000" b="1" dirty="0" err="1">
                <a:latin typeface="Courier New" pitchFamily="49" charset="0"/>
              </a:rPr>
              <a:t>cout</a:t>
            </a:r>
            <a:r>
              <a:rPr lang="en-US" sz="2000" b="1" dirty="0">
                <a:latin typeface="Courier New" pitchFamily="49" charset="0"/>
              </a:rPr>
              <a:t> &lt;&lt; "Please enter a positive number ";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    </a:t>
            </a:r>
            <a:r>
              <a:rPr lang="en-US" sz="2000" b="1" dirty="0" err="1">
                <a:latin typeface="Courier New" pitchFamily="49" charset="0"/>
              </a:rPr>
              <a:t>cin</a:t>
            </a:r>
            <a:r>
              <a:rPr lang="en-US" sz="2000" b="1" dirty="0">
                <a:latin typeface="Courier New" pitchFamily="49" charset="0"/>
              </a:rPr>
              <a:t> &gt;&gt; </a:t>
            </a:r>
            <a:r>
              <a:rPr lang="en-US" sz="2000" b="1" dirty="0" err="1">
                <a:latin typeface="Courier New" pitchFamily="49" charset="0"/>
              </a:rPr>
              <a:t>num_disc</a:t>
            </a:r>
            <a:r>
              <a:rPr lang="en-US" sz="2000" b="1" dirty="0">
                <a:latin typeface="Courier New" pitchFamily="49" charset="0"/>
              </a:rPr>
              <a:t>;    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}    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return 0;	</a:t>
            </a:r>
          </a:p>
          <a:p>
            <a:pPr>
              <a:buFont typeface="Monotype Sort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1236</Words>
  <Application>Microsoft Office PowerPoint</Application>
  <PresentationFormat>On-screen Show (4:3)</PresentationFormat>
  <Paragraphs>363</Paragraphs>
  <Slides>37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Office Theme</vt:lpstr>
      <vt:lpstr>CorelPhotoPaint.Image.9</vt:lpstr>
      <vt:lpstr>Slide 1</vt:lpstr>
      <vt:lpstr>Data Structure &amp; Algorithms   </vt:lpstr>
      <vt:lpstr>Unit 2   Stack &amp; Recursion </vt:lpstr>
      <vt:lpstr>Stack</vt:lpstr>
      <vt:lpstr>Stack</vt:lpstr>
      <vt:lpstr>Stack</vt:lpstr>
      <vt:lpstr>Implementing a Stack</vt:lpstr>
      <vt:lpstr>Implementing Stacks: Array</vt:lpstr>
      <vt:lpstr>push() Method (array based)</vt:lpstr>
      <vt:lpstr>pop() Method (array based)</vt:lpstr>
      <vt:lpstr>Notes on push() and pop()</vt:lpstr>
      <vt:lpstr>pop() Method (vector based)</vt:lpstr>
      <vt:lpstr>Notes on push() and pop()</vt:lpstr>
      <vt:lpstr>Implementing a Stack: Linked List</vt:lpstr>
      <vt:lpstr>Additional Notes</vt:lpstr>
      <vt:lpstr>Stack Applications</vt:lpstr>
      <vt:lpstr>Reverse Polish Notation</vt:lpstr>
      <vt:lpstr>Slide 18</vt:lpstr>
      <vt:lpstr>Recursion</vt:lpstr>
      <vt:lpstr>Example 2: factorial function</vt:lpstr>
      <vt:lpstr>Recursion</vt:lpstr>
      <vt:lpstr>Recursion</vt:lpstr>
      <vt:lpstr>Recursion</vt:lpstr>
      <vt:lpstr>Recursion</vt:lpstr>
      <vt:lpstr>Recursion</vt:lpstr>
      <vt:lpstr>Fibonacci numbers</vt:lpstr>
      <vt:lpstr>Slide 27</vt:lpstr>
      <vt:lpstr>Trace a Fibonacci Number </vt:lpstr>
      <vt:lpstr>Trace a Fibonacci Number </vt:lpstr>
      <vt:lpstr>Trace a Fibonacci Number</vt:lpstr>
      <vt:lpstr>Fibonacci Numbers</vt:lpstr>
      <vt:lpstr>Binary Search</vt:lpstr>
      <vt:lpstr>Binary Search with Recursion</vt:lpstr>
      <vt:lpstr>Binary Search</vt:lpstr>
      <vt:lpstr>Towers of Hanoi</vt:lpstr>
      <vt:lpstr>Towers of Hanoi</vt:lpstr>
      <vt:lpstr>Towers of Hanoi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2</cp:revision>
  <dcterms:created xsi:type="dcterms:W3CDTF">2021-11-12T07:28:19Z</dcterms:created>
  <dcterms:modified xsi:type="dcterms:W3CDTF">2021-11-12T07:31:20Z</dcterms:modified>
</cp:coreProperties>
</file>