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12A3A-198F-47A8-ABE4-E949DC49454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F5C64-0381-4E09-BA69-F1F006CA78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17179-6A4D-44B7-A79B-E173C370968C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789E2C-8A27-4C96-B9CF-19FAA5AD5D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AA052-F51A-4546-8E8A-7AA483A92EC5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E3470-C992-4327-A5B2-27800566748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pPr eaLnBrk="1" hangingPunct="1"/>
            <a:r>
              <a:rPr lang="fr-FR" sz="3600" b="1" i="1" smtClean="0">
                <a:latin typeface="Times New Roman" pitchFamily="18" charset="0"/>
                <a:cs typeface="Times New Roman" pitchFamily="18" charset="0"/>
              </a:rPr>
              <a:t>Data Structure &amp; Algorithms</a:t>
            </a: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endParaRPr lang="fr-FR" sz="2400" b="1" i="1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6" descr="logo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Subtitle 7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6400800" cy="17526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Submitted By:-</a:t>
            </a:r>
          </a:p>
          <a:p>
            <a:pPr eaLnBrk="1" hangingPunct="1"/>
            <a:endParaRPr lang="en-US" sz="1800" dirty="0" smtClean="0"/>
          </a:p>
          <a:p>
            <a:pPr eaLnBrk="1" hangingPunct="1"/>
            <a:r>
              <a:rPr lang="en-US" sz="1800" dirty="0" err="1" smtClean="0"/>
              <a:t>Seema</a:t>
            </a:r>
            <a:r>
              <a:rPr lang="en-US" sz="1800" dirty="0" smtClean="0"/>
              <a:t> Sharma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Assistant Prof - CSE</a:t>
            </a:r>
            <a:endParaRPr lang="en-IN" sz="1800" dirty="0" smtClean="0"/>
          </a:p>
        </p:txBody>
      </p:sp>
      <p:sp>
        <p:nvSpPr>
          <p:cNvPr id="18437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7577F5-6199-4C87-A411-01903DF63B2A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4211638" y="5876925"/>
            <a:ext cx="185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r>
              <a:rPr lang="en-US" sz="3600" b="1" dirty="0" smtClean="0"/>
              <a:t>Unit 3</a:t>
            </a:r>
            <a:br>
              <a:rPr lang="en-US" sz="3600" b="1" dirty="0" smtClean="0"/>
            </a:br>
            <a:r>
              <a:rPr lang="en-US" sz="3600" b="1" dirty="0" smtClean="0"/>
              <a:t>Queues &amp; Linked List</a:t>
            </a:r>
            <a:endParaRPr lang="en-US" sz="3600" b="1" dirty="0"/>
          </a:p>
        </p:txBody>
      </p:sp>
      <p:pic>
        <p:nvPicPr>
          <p:cNvPr id="19459" name="Picture 6" descr="logo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F4805C-629F-4791-B241-2EA23FF0BA16}" type="slidenum">
              <a:rPr 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r>
              <a:rPr lang="en-US"/>
              <a:t>What is a queue?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14400"/>
            <a:ext cx="7772400" cy="4114800"/>
          </a:xfrm>
        </p:spPr>
        <p:txBody>
          <a:bodyPr/>
          <a:lstStyle/>
          <a:p>
            <a:r>
              <a:rPr lang="en-US" sz="2800">
                <a:ea typeface="MS Mincho" charset="-128"/>
              </a:rPr>
              <a:t>It is an ordered group of homogeneous items of elements.</a:t>
            </a:r>
            <a:endParaRPr lang="en-US" sz="2800">
              <a:cs typeface="Courier New" pitchFamily="49" charset="0"/>
            </a:endParaRPr>
          </a:p>
          <a:p>
            <a:r>
              <a:rPr lang="en-US" sz="2800">
                <a:ea typeface="MS Mincho" charset="-128"/>
              </a:rPr>
              <a:t>Queues have two ends: </a:t>
            </a:r>
            <a:endParaRPr lang="en-US" sz="2800">
              <a:cs typeface="Courier New" pitchFamily="49" charset="0"/>
            </a:endParaRPr>
          </a:p>
          <a:p>
            <a:pPr lvl="1"/>
            <a:r>
              <a:rPr lang="en-US" sz="2400">
                <a:ea typeface="MS Mincho" charset="-128"/>
              </a:rPr>
              <a:t>Elements are added at one end. </a:t>
            </a:r>
            <a:endParaRPr lang="en-US" sz="2400">
              <a:cs typeface="Courier New" pitchFamily="49" charset="0"/>
            </a:endParaRPr>
          </a:p>
          <a:p>
            <a:pPr lvl="1"/>
            <a:r>
              <a:rPr lang="en-US" sz="2400">
                <a:ea typeface="MS Mincho" charset="-128"/>
              </a:rPr>
              <a:t>Elements are removed from the other end.</a:t>
            </a:r>
          </a:p>
          <a:p>
            <a:r>
              <a:rPr lang="en-US" sz="2800">
                <a:ea typeface="MS Mincho" charset="-128"/>
              </a:rPr>
              <a:t>The element added first is also removed first (</a:t>
            </a:r>
            <a:r>
              <a:rPr lang="en-US" sz="2800" b="1">
                <a:ea typeface="MS Mincho" charset="-128"/>
              </a:rPr>
              <a:t>FIFO</a:t>
            </a:r>
            <a:r>
              <a:rPr lang="en-US" sz="2800">
                <a:ea typeface="MS Mincho" charset="-128"/>
              </a:rPr>
              <a:t>: First In, First Out).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914400"/>
          </a:xfrm>
        </p:spPr>
        <p:txBody>
          <a:bodyPr/>
          <a:lstStyle/>
          <a:p>
            <a:r>
              <a:rPr lang="en-US">
                <a:ea typeface="MS Mincho" charset="-128"/>
              </a:rPr>
              <a:t>Queue Specification</a:t>
            </a:r>
            <a:r>
              <a:rPr lang="en-US"/>
              <a:t>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066800"/>
            <a:ext cx="7772400" cy="2819400"/>
          </a:xfrm>
        </p:spPr>
        <p:txBody>
          <a:bodyPr/>
          <a:lstStyle/>
          <a:p>
            <a:r>
              <a:rPr lang="en-US" u="sng">
                <a:cs typeface="Times New Roman" charset="0"/>
              </a:rPr>
              <a:t>Definitions</a:t>
            </a:r>
            <a:r>
              <a:rPr lang="en-US">
                <a:cs typeface="Times New Roman" charset="0"/>
              </a:rPr>
              <a:t>:  (provided by the user)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400" i="1">
                <a:cs typeface="Times New Roman" charset="0"/>
              </a:rPr>
              <a:t>MAX_ITEMS</a:t>
            </a:r>
            <a:r>
              <a:rPr lang="en-US" sz="2400">
                <a:cs typeface="Times New Roman" charset="0"/>
              </a:rPr>
              <a:t>: Max number of items that might be on the queue</a:t>
            </a:r>
            <a:endParaRPr lang="en-US" sz="240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400" i="1">
                <a:cs typeface="Times New Roman" charset="0"/>
              </a:rPr>
              <a:t>ItemType</a:t>
            </a:r>
            <a:r>
              <a:rPr lang="en-US" sz="2400">
                <a:cs typeface="Times New Roman" charset="0"/>
              </a:rPr>
              <a:t>: Data type of the items on the queue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1143000"/>
          </a:xfrm>
        </p:spPr>
        <p:txBody>
          <a:bodyPr/>
          <a:lstStyle/>
          <a:p>
            <a:r>
              <a:rPr lang="en-US">
                <a:ea typeface="MS Mincho" charset="-128"/>
              </a:rPr>
              <a:t>Enqueue (ItemType newItem)</a:t>
            </a:r>
            <a:r>
              <a:rPr lang="en-US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667000"/>
            <a:ext cx="7772400" cy="3429000"/>
          </a:xfrm>
        </p:spPr>
        <p:txBody>
          <a:bodyPr/>
          <a:lstStyle/>
          <a:p>
            <a:r>
              <a:rPr lang="en-US" i="1">
                <a:cs typeface="Times New Roman" charset="0"/>
              </a:rPr>
              <a:t>Function</a:t>
            </a:r>
            <a:r>
              <a:rPr lang="en-US">
                <a:cs typeface="Times New Roman" charset="0"/>
              </a:rPr>
              <a:t>: Adds newItem to the rear of the queue.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r>
              <a:rPr lang="en-US" i="1">
                <a:cs typeface="Times New Roman" charset="0"/>
              </a:rPr>
              <a:t>Preconditions</a:t>
            </a:r>
            <a:r>
              <a:rPr lang="en-US">
                <a:cs typeface="Times New Roman" charset="0"/>
              </a:rPr>
              <a:t>: Queue has been initialized and is not full.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r>
              <a:rPr lang="en-US" i="1">
                <a:ea typeface="MS Mincho" charset="-128"/>
              </a:rPr>
              <a:t>Postconditions</a:t>
            </a:r>
            <a:r>
              <a:rPr lang="en-US">
                <a:ea typeface="MS Mincho" charset="-128"/>
              </a:rPr>
              <a:t>: newItem is at rear of queue.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S Mincho" charset="-128"/>
              </a:rPr>
              <a:t>Dequeue (ItemType&amp; item)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cs typeface="Times New Roman" charset="0"/>
              </a:rPr>
              <a:t>Function</a:t>
            </a:r>
            <a:r>
              <a:rPr lang="en-US">
                <a:cs typeface="Times New Roman" charset="0"/>
              </a:rPr>
              <a:t>: Removes front item from queue and returns it in item.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r>
              <a:rPr lang="en-US" i="1">
                <a:cs typeface="Times New Roman" charset="0"/>
              </a:rPr>
              <a:t>Preconditions</a:t>
            </a:r>
            <a:r>
              <a:rPr lang="en-US">
                <a:cs typeface="Times New Roman" charset="0"/>
              </a:rPr>
              <a:t>: Queue has been initialized and is not empty.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r>
              <a:rPr lang="en-US" i="1">
                <a:cs typeface="Times New Roman" charset="0"/>
              </a:rPr>
              <a:t>Postconditions</a:t>
            </a:r>
            <a:r>
              <a:rPr lang="en-US">
                <a:cs typeface="Times New Roman" charset="0"/>
              </a:rPr>
              <a:t>: Front element has been removed from queue and item </a:t>
            </a:r>
            <a:r>
              <a:rPr lang="en-US">
                <a:ea typeface="MS Mincho" charset="-128"/>
              </a:rPr>
              <a:t>is a copy of removed element.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MS Mincho" charset="-128"/>
              </a:rPr>
              <a:t>Implementation issues</a:t>
            </a: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Times New Roman" charset="0"/>
              </a:rPr>
              <a:t>Implement the queue as a </a:t>
            </a:r>
            <a:r>
              <a:rPr lang="en-US" i="1">
                <a:cs typeface="Times New Roman" charset="0"/>
              </a:rPr>
              <a:t>circular structure</a:t>
            </a:r>
            <a:r>
              <a:rPr lang="en-US">
                <a:cs typeface="Times New Roman" charset="0"/>
              </a:rPr>
              <a:t>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>
                <a:cs typeface="Times New Roman" charset="0"/>
              </a:rPr>
              <a:t>How do we know if a queue is full or empty?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>
                <a:cs typeface="Times New Roman" charset="0"/>
              </a:rPr>
              <a:t>Initialization of </a:t>
            </a:r>
            <a:r>
              <a:rPr lang="en-US" i="1">
                <a:cs typeface="Times New Roman" charset="0"/>
              </a:rPr>
              <a:t>front</a:t>
            </a:r>
            <a:r>
              <a:rPr lang="en-US">
                <a:cs typeface="Times New Roman" charset="0"/>
              </a:rPr>
              <a:t> and </a:t>
            </a:r>
            <a:r>
              <a:rPr lang="en-US" i="1">
                <a:cs typeface="Times New Roman" charset="0"/>
              </a:rPr>
              <a:t>rear</a:t>
            </a:r>
            <a:r>
              <a:rPr lang="en-US">
                <a:cs typeface="Times New Roman" charset="0"/>
              </a:rPr>
              <a:t>. 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>
                <a:cs typeface="Times New Roman" charset="0"/>
              </a:rPr>
              <a:t>Testing for a </a:t>
            </a:r>
            <a:r>
              <a:rPr lang="en-US" i="1">
                <a:cs typeface="Times New Roman" charset="0"/>
              </a:rPr>
              <a:t>full</a:t>
            </a:r>
            <a:r>
              <a:rPr lang="en-US">
                <a:cs typeface="Times New Roman" charset="0"/>
              </a:rPr>
              <a:t> or </a:t>
            </a:r>
            <a:r>
              <a:rPr lang="en-US" i="1">
                <a:cs typeface="Times New Roman" charset="0"/>
              </a:rPr>
              <a:t>empty</a:t>
            </a:r>
            <a:r>
              <a:rPr lang="en-US">
                <a:cs typeface="Times New Roman" charset="0"/>
              </a:rPr>
              <a:t> queue.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:\queues_fig1.jpg"/>
          <p:cNvPicPr>
            <a:picLocks noChangeAspect="1" noChangeArrowheads="1"/>
          </p:cNvPicPr>
          <p:nvPr/>
        </p:nvPicPr>
        <p:blipFill>
          <a:blip r:embed="rId2">
            <a:lum bright="-24000"/>
          </a:blip>
          <a:srcRect/>
          <a:stretch>
            <a:fillRect/>
          </a:stretch>
        </p:blipFill>
        <p:spPr bwMode="auto">
          <a:xfrm>
            <a:off x="304800" y="609600"/>
            <a:ext cx="8434388" cy="5616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 descr="\\PINON\bebis\Courses\CS308\Notes\Figures\queues_fig2.jpg"/>
          <p:cNvPicPr>
            <a:picLocks noChangeAspect="1" noChangeArrowheads="1"/>
          </p:cNvPicPr>
          <p:nvPr/>
        </p:nvPicPr>
        <p:blipFill>
          <a:blip r:embed="rId2">
            <a:lum bright="-18000"/>
          </a:blip>
          <a:srcRect/>
          <a:stretch>
            <a:fillRect/>
          </a:stretch>
        </p:blipFill>
        <p:spPr bwMode="auto">
          <a:xfrm>
            <a:off x="228600" y="685800"/>
            <a:ext cx="8915400" cy="53292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 descr="\\Pinon\bebis\Courses\CS308\Notes\Figures\queues_fig3.jpg"/>
          <p:cNvPicPr>
            <a:picLocks noChangeAspect="1" noChangeArrowheads="1"/>
          </p:cNvPicPr>
          <p:nvPr/>
        </p:nvPicPr>
        <p:blipFill>
          <a:blip r:embed="rId2">
            <a:lum bright="-12000"/>
          </a:blip>
          <a:srcRect/>
          <a:stretch>
            <a:fillRect/>
          </a:stretch>
        </p:blipFill>
        <p:spPr bwMode="auto">
          <a:xfrm>
            <a:off x="304800" y="1746250"/>
            <a:ext cx="8839200" cy="5111750"/>
          </a:xfrm>
          <a:prstGeom prst="rect">
            <a:avLst/>
          </a:prstGeom>
          <a:noFill/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762000" y="381000"/>
            <a:ext cx="7924800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chemeClr val="bg1"/>
                </a:solidFill>
                <a:cs typeface="Times New Roman" charset="0"/>
              </a:rPr>
              <a:t>Make </a:t>
            </a:r>
            <a:r>
              <a:rPr lang="en-US" sz="2600" i="1">
                <a:solidFill>
                  <a:schemeClr val="bg1"/>
                </a:solidFill>
                <a:cs typeface="Times New Roman" charset="0"/>
              </a:rPr>
              <a:t>front</a:t>
            </a:r>
            <a:r>
              <a:rPr lang="en-US" sz="2600">
                <a:solidFill>
                  <a:schemeClr val="bg1"/>
                </a:solidFill>
                <a:cs typeface="Times New Roman" charset="0"/>
              </a:rPr>
              <a:t> point to the element </a:t>
            </a:r>
            <a:r>
              <a:rPr lang="en-US" sz="2600" b="1">
                <a:solidFill>
                  <a:schemeClr val="bg1"/>
                </a:solidFill>
                <a:cs typeface="Times New Roman" charset="0"/>
              </a:rPr>
              <a:t>preceding</a:t>
            </a:r>
            <a:r>
              <a:rPr lang="en-US" sz="2600">
                <a:solidFill>
                  <a:schemeClr val="bg1"/>
                </a:solidFill>
                <a:cs typeface="Times New Roman" charset="0"/>
              </a:rPr>
              <a:t> the front element in the queue (one memory location will be wasted).</a:t>
            </a:r>
            <a:endParaRPr lang="en-US" sz="2600">
              <a:cs typeface="Times New Roman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A:\queues_fig4.jpg"/>
          <p:cNvPicPr>
            <a:picLocks noChangeAspect="1" noChangeArrowheads="1"/>
          </p:cNvPicPr>
          <p:nvPr/>
        </p:nvPicPr>
        <p:blipFill>
          <a:blip r:embed="rId2">
            <a:lum bright="-12000"/>
          </a:blip>
          <a:srcRect/>
          <a:stretch>
            <a:fillRect/>
          </a:stretch>
        </p:blipFill>
        <p:spPr bwMode="auto">
          <a:xfrm>
            <a:off x="304800" y="1828800"/>
            <a:ext cx="8534400" cy="3857625"/>
          </a:xfrm>
          <a:prstGeom prst="rect">
            <a:avLst/>
          </a:prstGeom>
          <a:noFill/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286000" y="533400"/>
            <a:ext cx="533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Initialize </a:t>
            </a:r>
            <a:r>
              <a:rPr lang="en-US" sz="3600" i="1">
                <a:solidFill>
                  <a:schemeClr val="bg1"/>
                </a:solidFill>
              </a:rPr>
              <a:t>front</a:t>
            </a:r>
            <a:r>
              <a:rPr lang="en-US" sz="3600">
                <a:solidFill>
                  <a:schemeClr val="bg1"/>
                </a:solidFill>
              </a:rPr>
              <a:t> and </a:t>
            </a:r>
            <a:r>
              <a:rPr lang="en-US" sz="3600" i="1">
                <a:solidFill>
                  <a:schemeClr val="bg1"/>
                </a:solidFill>
              </a:rPr>
              <a:t>rear</a:t>
            </a:r>
            <a:endParaRPr 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:\queues_fig5.jpg"/>
          <p:cNvPicPr>
            <a:picLocks noChangeAspect="1" noChangeArrowheads="1"/>
          </p:cNvPicPr>
          <p:nvPr/>
        </p:nvPicPr>
        <p:blipFill>
          <a:blip r:embed="rId2"/>
          <a:srcRect r="22728"/>
          <a:stretch>
            <a:fillRect/>
          </a:stretch>
        </p:blipFill>
        <p:spPr bwMode="auto">
          <a:xfrm>
            <a:off x="609600" y="1752600"/>
            <a:ext cx="7772400" cy="2143125"/>
          </a:xfrm>
          <a:prstGeom prst="rect">
            <a:avLst/>
          </a:prstGeom>
          <a:noFill/>
        </p:spPr>
      </p:pic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85800" y="4267200"/>
            <a:ext cx="3810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>
                <a:solidFill>
                  <a:schemeClr val="bg1"/>
                </a:solidFill>
              </a:rPr>
              <a:t>Queue is empty now!!</a:t>
            </a:r>
          </a:p>
          <a:p>
            <a:pPr>
              <a:spcBef>
                <a:spcPct val="50000"/>
              </a:spcBef>
            </a:pPr>
            <a:r>
              <a:rPr lang="en-US" sz="3200">
                <a:solidFill>
                  <a:schemeClr val="bg1"/>
                </a:solidFill>
              </a:rPr>
              <a:t>     </a:t>
            </a:r>
            <a:r>
              <a:rPr lang="en-US" sz="3200">
                <a:solidFill>
                  <a:schemeClr val="bg1"/>
                </a:solidFill>
                <a:latin typeface="Arial" charset="0"/>
              </a:rPr>
              <a:t>rear == front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90600"/>
            <a:ext cx="7772400" cy="1143000"/>
          </a:xfrm>
        </p:spPr>
        <p:txBody>
          <a:bodyPr/>
          <a:lstStyle/>
          <a:p>
            <a:r>
              <a:rPr lang="en-US">
                <a:ea typeface="MS Mincho" charset="-128"/>
              </a:rPr>
              <a:t>Queue overflow</a:t>
            </a:r>
            <a:r>
              <a:rPr lang="en-US"/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14600"/>
            <a:ext cx="7772400" cy="3581400"/>
          </a:xfrm>
        </p:spPr>
        <p:txBody>
          <a:bodyPr/>
          <a:lstStyle/>
          <a:p>
            <a:r>
              <a:rPr lang="en-US">
                <a:cs typeface="Times New Roman" charset="0"/>
              </a:rPr>
              <a:t>The condition resulting from trying to add an element onto a full queue.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cs typeface="Times New Roman" charset="0"/>
              </a:rPr>
              <a:t> 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cs typeface="Times New Roman" charset="0"/>
              </a:rPr>
              <a:t>		</a:t>
            </a:r>
            <a:r>
              <a:rPr lang="en-US">
                <a:latin typeface="Arial" charset="0"/>
                <a:cs typeface="Times New Roman" charset="0"/>
              </a:rPr>
              <a:t>if(!q.IsFull())</a:t>
            </a:r>
            <a:endParaRPr lang="en-US">
              <a:latin typeface="Arial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latin typeface="Arial" charset="0"/>
                <a:cs typeface="Times New Roman" charset="0"/>
              </a:rPr>
              <a:t>  		  q.Enqueue(item);</a:t>
            </a:r>
            <a:endParaRPr lang="en-US">
              <a:latin typeface="Arial" charset="0"/>
              <a:cs typeface="Courier New" pitchFamily="49" charset="0"/>
            </a:endParaRPr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143000"/>
          </a:xfrm>
        </p:spPr>
        <p:txBody>
          <a:bodyPr/>
          <a:lstStyle/>
          <a:p>
            <a:r>
              <a:rPr lang="en-US">
                <a:cs typeface="Times New Roman" charset="0"/>
              </a:rPr>
              <a:t>Queue underflow</a:t>
            </a:r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7772400" cy="3505200"/>
          </a:xfrm>
        </p:spPr>
        <p:txBody>
          <a:bodyPr/>
          <a:lstStyle/>
          <a:p>
            <a:r>
              <a:rPr lang="en-US">
                <a:cs typeface="Times New Roman" charset="0"/>
              </a:rPr>
              <a:t>The condition resulting from trying to remove an element from an empty queue.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cs typeface="Times New Roman" charset="0"/>
              </a:rPr>
              <a:t> </a:t>
            </a: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cs typeface="Times New Roman" charset="0"/>
              </a:rPr>
              <a:t>			</a:t>
            </a:r>
            <a:r>
              <a:rPr lang="en-US">
                <a:latin typeface="Arial" charset="0"/>
                <a:cs typeface="Times New Roman" charset="0"/>
              </a:rPr>
              <a:t>if(!q.IsEmpty())</a:t>
            </a:r>
            <a:endParaRPr lang="en-US">
              <a:latin typeface="Arial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latin typeface="Arial" charset="0"/>
                <a:cs typeface="Times New Roman" charset="0"/>
              </a:rPr>
              <a:t>			  q.Dequeue(item);</a:t>
            </a:r>
            <a:endParaRPr lang="en-US">
              <a:latin typeface="Arial" charset="0"/>
              <a:cs typeface="Courier New" pitchFamily="49" charset="0"/>
            </a:endParaRPr>
          </a:p>
          <a:p>
            <a:pPr>
              <a:buFontTx/>
              <a:buNone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Definitions</a:t>
            </a:r>
          </a:p>
          <a:p>
            <a:pPr lvl="1"/>
            <a:r>
              <a:rPr lang="en-US"/>
              <a:t>Lists and arrays</a:t>
            </a:r>
          </a:p>
          <a:p>
            <a:pPr lvl="1"/>
            <a:r>
              <a:rPr lang="en-US"/>
              <a:t>Nodes and pointers</a:t>
            </a:r>
          </a:p>
          <a:p>
            <a:pPr lvl="1"/>
            <a:r>
              <a:rPr lang="en-US"/>
              <a:t>Single Linked Lists</a:t>
            </a:r>
          </a:p>
          <a:p>
            <a:pPr lvl="1"/>
            <a:r>
              <a:rPr lang="en-US"/>
              <a:t>Double Linked Lists</a:t>
            </a:r>
          </a:p>
          <a:p>
            <a:pPr lvl="1"/>
            <a:r>
              <a:rPr lang="en-US"/>
              <a:t>Circular Lists</a:t>
            </a:r>
          </a:p>
          <a:p>
            <a:r>
              <a:rPr lang="en-US"/>
              <a:t>Advantages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Definitions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Lists and arrays</a:t>
            </a:r>
          </a:p>
          <a:p>
            <a:pPr lvl="1"/>
            <a:r>
              <a:rPr lang="en-US"/>
              <a:t>Nodes and pointers</a:t>
            </a:r>
          </a:p>
          <a:p>
            <a:pPr lvl="1"/>
            <a:r>
              <a:rPr lang="en-US"/>
              <a:t>Single Linked Lists</a:t>
            </a:r>
          </a:p>
          <a:p>
            <a:pPr lvl="1"/>
            <a:r>
              <a:rPr lang="en-US"/>
              <a:t>Double Linked Lists</a:t>
            </a:r>
          </a:p>
          <a:p>
            <a:pPr lvl="1"/>
            <a:r>
              <a:rPr lang="en-US"/>
              <a:t>Circular Lists</a:t>
            </a:r>
          </a:p>
          <a:p>
            <a:r>
              <a:rPr lang="en-US"/>
              <a:t>Advantages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 and arrays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2971800"/>
          </a:xfrm>
        </p:spPr>
        <p:txBody>
          <a:bodyPr/>
          <a:lstStyle/>
          <a:p>
            <a:r>
              <a:rPr lang="en-US" sz="2800"/>
              <a:t>Lists:</a:t>
            </a:r>
          </a:p>
          <a:p>
            <a:pPr>
              <a:buFontTx/>
              <a:buNone/>
            </a:pPr>
            <a:endParaRPr lang="en-US" sz="2800"/>
          </a:p>
        </p:txBody>
      </p:sp>
      <p:pic>
        <p:nvPicPr>
          <p:cNvPr id="7210" name="Picture 42" descr="Singly_linked_lis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676400" y="3581400"/>
            <a:ext cx="4991100" cy="566738"/>
          </a:xfrm>
          <a:noFill/>
          <a:ln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 and arrays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1447800"/>
          </a:xfrm>
        </p:spPr>
        <p:txBody>
          <a:bodyPr/>
          <a:lstStyle/>
          <a:p>
            <a:r>
              <a:rPr lang="en-US" sz="2800"/>
              <a:t>Arrays: </a:t>
            </a:r>
          </a:p>
          <a:p>
            <a:pPr>
              <a:buFontTx/>
              <a:buNone/>
            </a:pPr>
            <a:r>
              <a:rPr lang="en-US" sz="2000"/>
              <a:t>{Size of the following array is = 4}</a:t>
            </a:r>
          </a:p>
          <a:p>
            <a:pPr>
              <a:buFontTx/>
              <a:buNone/>
            </a:pPr>
            <a:endParaRPr lang="en-US" sz="2800"/>
          </a:p>
        </p:txBody>
      </p:sp>
      <p:graphicFrame>
        <p:nvGraphicFramePr>
          <p:cNvPr id="9220" name="Group 4"/>
          <p:cNvGraphicFramePr>
            <a:graphicFrameLocks noGrp="1"/>
          </p:cNvGraphicFramePr>
          <p:nvPr>
            <p:ph sz="half" idx="2"/>
          </p:nvPr>
        </p:nvGraphicFramePr>
        <p:xfrm>
          <a:off x="609600" y="3276600"/>
          <a:ext cx="7772400" cy="1036320"/>
        </p:xfrm>
        <a:graphic>
          <a:graphicData uri="http://schemas.openxmlformats.org/drawingml/2006/table">
            <a:tbl>
              <a:tblPr/>
              <a:tblGrid>
                <a:gridCol w="1555750"/>
                <a:gridCol w="1554163"/>
                <a:gridCol w="1552575"/>
                <a:gridCol w="1554162"/>
                <a:gridCol w="1555750"/>
              </a:tblGrid>
              <a:tr h="150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Definitions</a:t>
            </a:r>
          </a:p>
          <a:p>
            <a:pPr lvl="1"/>
            <a:r>
              <a:rPr lang="en-US"/>
              <a:t>Lists and arrays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Nodes and pointers</a:t>
            </a:r>
          </a:p>
          <a:p>
            <a:pPr lvl="1"/>
            <a:r>
              <a:rPr lang="en-US"/>
              <a:t>Single Linked Lists</a:t>
            </a:r>
          </a:p>
          <a:p>
            <a:pPr lvl="1"/>
            <a:r>
              <a:rPr lang="en-US"/>
              <a:t>Double Linked Lists</a:t>
            </a:r>
          </a:p>
          <a:p>
            <a:pPr lvl="1"/>
            <a:r>
              <a:rPr lang="en-US"/>
              <a:t>Circular Lists</a:t>
            </a:r>
          </a:p>
          <a:p>
            <a:r>
              <a:rPr lang="en-US"/>
              <a:t>Advantages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Nodes and pointers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2971800"/>
            <a:ext cx="1333500" cy="6365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Definitions</a:t>
            </a:r>
          </a:p>
          <a:p>
            <a:pPr lvl="1"/>
            <a:r>
              <a:rPr lang="en-US"/>
              <a:t>Lists and arrays</a:t>
            </a:r>
          </a:p>
          <a:p>
            <a:pPr lvl="1"/>
            <a:r>
              <a:rPr lang="en-US"/>
              <a:t>Nodes and pointers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Single Linked Lists</a:t>
            </a:r>
          </a:p>
          <a:p>
            <a:pPr lvl="1"/>
            <a:r>
              <a:rPr lang="en-US"/>
              <a:t>Double Linked Lists</a:t>
            </a:r>
          </a:p>
          <a:p>
            <a:pPr lvl="1"/>
            <a:r>
              <a:rPr lang="en-US"/>
              <a:t>Circular Lists</a:t>
            </a:r>
          </a:p>
          <a:p>
            <a:r>
              <a:rPr lang="en-US"/>
              <a:t>Advantages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linked lists</a:t>
            </a:r>
          </a:p>
        </p:txBody>
      </p:sp>
      <p:pic>
        <p:nvPicPr>
          <p:cNvPr id="13316" name="Picture 4" descr="Singly_linked_li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273425"/>
            <a:ext cx="2743200" cy="311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Definitions</a:t>
            </a:r>
          </a:p>
          <a:p>
            <a:pPr lvl="1"/>
            <a:r>
              <a:rPr lang="en-US"/>
              <a:t>Lists and arrays</a:t>
            </a:r>
          </a:p>
          <a:p>
            <a:pPr lvl="1"/>
            <a:r>
              <a:rPr lang="en-US"/>
              <a:t>Nodes and pointers</a:t>
            </a:r>
          </a:p>
          <a:p>
            <a:pPr lvl="1"/>
            <a:r>
              <a:rPr lang="en-US"/>
              <a:t>Single Linked Lists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Double Linked Lists</a:t>
            </a:r>
          </a:p>
          <a:p>
            <a:pPr lvl="1"/>
            <a:r>
              <a:rPr lang="en-US"/>
              <a:t>Circular Lists</a:t>
            </a:r>
          </a:p>
          <a:p>
            <a:r>
              <a:rPr lang="en-US"/>
              <a:t>Advantages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 Linked Lists</a:t>
            </a:r>
          </a:p>
        </p:txBody>
      </p:sp>
      <p:pic>
        <p:nvPicPr>
          <p:cNvPr id="15364" name="Picture 4" descr="Doublylinkedli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971800"/>
            <a:ext cx="7618413" cy="76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Definitions</a:t>
            </a:r>
          </a:p>
          <a:p>
            <a:pPr lvl="1"/>
            <a:r>
              <a:rPr lang="en-US"/>
              <a:t>Lists and arrays</a:t>
            </a:r>
          </a:p>
          <a:p>
            <a:pPr lvl="1"/>
            <a:r>
              <a:rPr lang="en-US"/>
              <a:t>Nodes and pointers</a:t>
            </a:r>
          </a:p>
          <a:p>
            <a:pPr lvl="1"/>
            <a:r>
              <a:rPr lang="en-US"/>
              <a:t>Single Linked Lists</a:t>
            </a:r>
          </a:p>
          <a:p>
            <a:pPr lvl="1"/>
            <a:r>
              <a:rPr lang="en-US"/>
              <a:t>Double Linked Lists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Circular Lists</a:t>
            </a:r>
          </a:p>
          <a:p>
            <a:r>
              <a:rPr lang="en-US"/>
              <a:t>Advantages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Lists</a:t>
            </a:r>
          </a:p>
        </p:txBody>
      </p:sp>
      <p:pic>
        <p:nvPicPr>
          <p:cNvPr id="17412" name="Picture 4" descr="dcirc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0263" y="2724150"/>
            <a:ext cx="4943475" cy="1409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Definitions</a:t>
            </a:r>
          </a:p>
          <a:p>
            <a:pPr lvl="1"/>
            <a:r>
              <a:rPr lang="en-US"/>
              <a:t>Lists and arrays</a:t>
            </a:r>
          </a:p>
          <a:p>
            <a:pPr lvl="1"/>
            <a:r>
              <a:rPr lang="en-US"/>
              <a:t>Nodes and pointers</a:t>
            </a:r>
          </a:p>
          <a:p>
            <a:pPr lvl="1"/>
            <a:r>
              <a:rPr lang="en-US"/>
              <a:t>Single Linked Lists</a:t>
            </a:r>
          </a:p>
          <a:p>
            <a:pPr lvl="1"/>
            <a:r>
              <a:rPr lang="en-US"/>
              <a:t>Double Linked Lists</a:t>
            </a:r>
          </a:p>
          <a:p>
            <a:pPr lvl="1"/>
            <a:r>
              <a:rPr lang="en-US"/>
              <a:t>Circular Lists</a:t>
            </a:r>
          </a:p>
          <a:p>
            <a:r>
              <a:rPr lang="en-US">
                <a:solidFill>
                  <a:srgbClr val="FF0000"/>
                </a:solidFill>
              </a:rPr>
              <a:t>Advantages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US" sz="2400"/>
              <a:t>The Linked List advantages are collected because of the array disadvantages, array disadvantages are:</a:t>
            </a:r>
          </a:p>
          <a:p>
            <a:pPr marL="609600" indent="-609600">
              <a:buFontTx/>
              <a:buAutoNum type="arabicPeriod"/>
            </a:pPr>
            <a:r>
              <a:rPr lang="en-US" sz="2400"/>
              <a:t>Array Size</a:t>
            </a:r>
          </a:p>
          <a:p>
            <a:pPr marL="609600" indent="-609600">
              <a:buFontTx/>
              <a:buAutoNum type="arabicPeriod"/>
            </a:pPr>
            <a:r>
              <a:rPr lang="en-US" sz="2400"/>
              <a:t>Memory allocation</a:t>
            </a:r>
          </a:p>
          <a:p>
            <a:pPr marL="609600" indent="-609600">
              <a:buFontTx/>
              <a:buAutoNum type="arabicPeriod"/>
            </a:pPr>
            <a:r>
              <a:rPr lang="en-US" sz="2400"/>
              <a:t>Insertion and Deletion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Insertion at the top of the list</a:t>
            </a:r>
          </a:p>
          <a:p>
            <a:r>
              <a:rPr lang="en-US"/>
              <a:t>Insertion at the end of the list</a:t>
            </a:r>
          </a:p>
          <a:p>
            <a:r>
              <a:rPr lang="en-US"/>
              <a:t>Insertion in the middle of the list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Insertion at the top of the list</a:t>
            </a:r>
          </a:p>
          <a:p>
            <a:r>
              <a:rPr lang="en-US"/>
              <a:t>Insertion at the end of the list</a:t>
            </a:r>
          </a:p>
          <a:p>
            <a:r>
              <a:rPr lang="en-US"/>
              <a:t>Insertion in the middle of the list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at the top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Steps:</a:t>
            </a:r>
          </a:p>
          <a:p>
            <a:r>
              <a:rPr lang="en-US"/>
              <a:t>Create a Node</a:t>
            </a:r>
          </a:p>
          <a:p>
            <a:r>
              <a:rPr lang="en-US"/>
              <a:t>Set the node data Values</a:t>
            </a:r>
          </a:p>
          <a:p>
            <a:r>
              <a:rPr lang="en-US"/>
              <a:t>Connect the pointers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2590800"/>
            <a:ext cx="8229600" cy="685800"/>
          </a:xfrm>
        </p:spPr>
        <p:txBody>
          <a:bodyPr/>
          <a:lstStyle/>
          <a:p>
            <a:r>
              <a:rPr lang="en-US"/>
              <a:t>Follow the previous steps and we get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38200" y="1524000"/>
            <a:ext cx="6410325" cy="587375"/>
            <a:chOff x="572" y="3248"/>
            <a:chExt cx="4038" cy="37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480" y="3248"/>
              <a:ext cx="928" cy="366"/>
              <a:chOff x="600" y="1356"/>
              <a:chExt cx="1099" cy="444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600" y="1356"/>
                <a:ext cx="818" cy="444"/>
                <a:chOff x="600" y="1356"/>
                <a:chExt cx="818" cy="444"/>
              </a:xfrm>
            </p:grpSpPr>
            <p:sp>
              <p:nvSpPr>
                <p:cNvPr id="24584" name="Rectangle 8"/>
                <p:cNvSpPr>
                  <a:spLocks noChangeArrowheads="1"/>
                </p:cNvSpPr>
                <p:nvPr/>
              </p:nvSpPr>
              <p:spPr bwMode="auto">
                <a:xfrm>
                  <a:off x="600" y="1356"/>
                  <a:ext cx="818" cy="44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585" name="Line 9"/>
                <p:cNvSpPr>
                  <a:spLocks noChangeShapeType="1"/>
                </p:cNvSpPr>
                <p:nvPr/>
              </p:nvSpPr>
              <p:spPr bwMode="auto">
                <a:xfrm>
                  <a:off x="1200" y="1356"/>
                  <a:ext cx="0" cy="4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586" name="Line 10"/>
              <p:cNvSpPr>
                <a:spLocks noChangeShapeType="1"/>
              </p:cNvSpPr>
              <p:nvPr/>
            </p:nvSpPr>
            <p:spPr bwMode="auto">
              <a:xfrm>
                <a:off x="1309" y="157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2442" y="3248"/>
              <a:ext cx="928" cy="366"/>
              <a:chOff x="600" y="1356"/>
              <a:chExt cx="1099" cy="444"/>
            </a:xfrm>
          </p:grpSpPr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600" y="1356"/>
                <a:ext cx="818" cy="444"/>
                <a:chOff x="600" y="1356"/>
                <a:chExt cx="818" cy="444"/>
              </a:xfrm>
            </p:grpSpPr>
            <p:sp>
              <p:nvSpPr>
                <p:cNvPr id="24589" name="Rectangle 13"/>
                <p:cNvSpPr>
                  <a:spLocks noChangeArrowheads="1"/>
                </p:cNvSpPr>
                <p:nvPr/>
              </p:nvSpPr>
              <p:spPr bwMode="auto">
                <a:xfrm>
                  <a:off x="600" y="1356"/>
                  <a:ext cx="818" cy="44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590" name="Line 14"/>
                <p:cNvSpPr>
                  <a:spLocks noChangeShapeType="1"/>
                </p:cNvSpPr>
                <p:nvPr/>
              </p:nvSpPr>
              <p:spPr bwMode="auto">
                <a:xfrm>
                  <a:off x="1200" y="1356"/>
                  <a:ext cx="0" cy="4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591" name="Line 15"/>
              <p:cNvSpPr>
                <a:spLocks noChangeShapeType="1"/>
              </p:cNvSpPr>
              <p:nvPr/>
            </p:nvSpPr>
            <p:spPr bwMode="auto">
              <a:xfrm>
                <a:off x="1309" y="157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6"/>
            <p:cNvGrpSpPr>
              <a:grpSpLocks/>
            </p:cNvGrpSpPr>
            <p:nvPr/>
          </p:nvGrpSpPr>
          <p:grpSpPr bwMode="auto">
            <a:xfrm>
              <a:off x="3405" y="3248"/>
              <a:ext cx="691" cy="366"/>
              <a:chOff x="600" y="1356"/>
              <a:chExt cx="818" cy="444"/>
            </a:xfrm>
          </p:grpSpPr>
          <p:sp>
            <p:nvSpPr>
              <p:cNvPr id="24593" name="Rectangle 17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4" name="Line 18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595" name="Text Box 19"/>
            <p:cNvSpPr txBox="1">
              <a:spLocks noChangeArrowheads="1"/>
            </p:cNvSpPr>
            <p:nvPr/>
          </p:nvSpPr>
          <p:spPr bwMode="auto">
            <a:xfrm>
              <a:off x="1625" y="3287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48</a:t>
              </a:r>
              <a:endParaRPr lang="en-US"/>
            </a:p>
          </p:txBody>
        </p:sp>
        <p:sp>
          <p:nvSpPr>
            <p:cNvPr id="24596" name="Text Box 20"/>
            <p:cNvSpPr txBox="1">
              <a:spLocks noChangeArrowheads="1"/>
            </p:cNvSpPr>
            <p:nvPr/>
          </p:nvSpPr>
          <p:spPr bwMode="auto">
            <a:xfrm>
              <a:off x="2530" y="3287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17</a:t>
              </a:r>
              <a:endParaRPr lang="en-US"/>
            </a:p>
          </p:txBody>
        </p:sp>
        <p:sp>
          <p:nvSpPr>
            <p:cNvPr id="24597" name="Rectangle 21"/>
            <p:cNvSpPr>
              <a:spLocks noChangeArrowheads="1"/>
            </p:cNvSpPr>
            <p:nvPr/>
          </p:nvSpPr>
          <p:spPr bwMode="auto">
            <a:xfrm>
              <a:off x="3462" y="3287"/>
              <a:ext cx="4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142</a:t>
              </a:r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572" y="3275"/>
              <a:ext cx="5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head</a:t>
              </a:r>
            </a:p>
          </p:txBody>
        </p:sp>
        <p:sp>
          <p:nvSpPr>
            <p:cNvPr id="24599" name="Line 23"/>
            <p:cNvSpPr>
              <a:spLocks noChangeShapeType="1"/>
            </p:cNvSpPr>
            <p:nvPr/>
          </p:nvSpPr>
          <p:spPr bwMode="auto">
            <a:xfrm>
              <a:off x="1196" y="3447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Line 24"/>
            <p:cNvSpPr>
              <a:spLocks noChangeShapeType="1"/>
            </p:cNvSpPr>
            <p:nvPr/>
          </p:nvSpPr>
          <p:spPr bwMode="auto">
            <a:xfrm>
              <a:off x="4005" y="3438"/>
              <a:ext cx="3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Text Box 25"/>
            <p:cNvSpPr txBox="1">
              <a:spLocks noChangeArrowheads="1"/>
            </p:cNvSpPr>
            <p:nvPr/>
          </p:nvSpPr>
          <p:spPr bwMode="auto">
            <a:xfrm>
              <a:off x="4352" y="3253"/>
              <a:ext cx="258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3200" b="1"/>
                <a:t>//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482600" y="5362575"/>
            <a:ext cx="2794000" cy="581025"/>
            <a:chOff x="374" y="1181"/>
            <a:chExt cx="1760" cy="366"/>
          </a:xfrm>
        </p:grpSpPr>
        <p:sp>
          <p:nvSpPr>
            <p:cNvPr id="24603" name="Rectangle 27"/>
            <p:cNvSpPr>
              <a:spLocks noChangeArrowheads="1"/>
            </p:cNvSpPr>
            <p:nvPr/>
          </p:nvSpPr>
          <p:spPr bwMode="auto">
            <a:xfrm>
              <a:off x="374" y="1197"/>
              <a:ext cx="564" cy="288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head</a:t>
              </a:r>
            </a:p>
          </p:txBody>
        </p:sp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923" y="1181"/>
              <a:ext cx="1211" cy="366"/>
              <a:chOff x="923" y="1181"/>
              <a:chExt cx="1211" cy="366"/>
            </a:xfrm>
          </p:grpSpPr>
          <p:grpSp>
            <p:nvGrpSpPr>
              <p:cNvPr id="10" name="Group 29"/>
              <p:cNvGrpSpPr>
                <a:grpSpLocks/>
              </p:cNvGrpSpPr>
              <p:nvPr/>
            </p:nvGrpSpPr>
            <p:grpSpPr bwMode="auto">
              <a:xfrm>
                <a:off x="1206" y="1181"/>
                <a:ext cx="928" cy="366"/>
                <a:chOff x="1641" y="1653"/>
                <a:chExt cx="928" cy="366"/>
              </a:xfrm>
            </p:grpSpPr>
            <p:grpSp>
              <p:nvGrpSpPr>
                <p:cNvPr id="11" name="Group 30"/>
                <p:cNvGrpSpPr>
                  <a:grpSpLocks/>
                </p:cNvGrpSpPr>
                <p:nvPr/>
              </p:nvGrpSpPr>
              <p:grpSpPr bwMode="auto">
                <a:xfrm>
                  <a:off x="1641" y="1653"/>
                  <a:ext cx="928" cy="366"/>
                  <a:chOff x="600" y="1356"/>
                  <a:chExt cx="1099" cy="444"/>
                </a:xfrm>
              </p:grpSpPr>
              <p:grpSp>
                <p:nvGrpSpPr>
                  <p:cNvPr id="12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600" y="1356"/>
                    <a:ext cx="818" cy="444"/>
                    <a:chOff x="600" y="1356"/>
                    <a:chExt cx="818" cy="444"/>
                  </a:xfrm>
                </p:grpSpPr>
                <p:sp>
                  <p:nvSpPr>
                    <p:cNvPr id="24608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0" y="1356"/>
                      <a:ext cx="818" cy="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609" name="Line 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00" y="1356"/>
                      <a:ext cx="0" cy="44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610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309" y="1574"/>
                    <a:ext cx="39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61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786" y="1692"/>
                  <a:ext cx="330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1"/>
                    <a:t>93</a:t>
                  </a:r>
                  <a:endParaRPr lang="en-US"/>
                </a:p>
              </p:txBody>
            </p:sp>
          </p:grpSp>
          <p:sp>
            <p:nvSpPr>
              <p:cNvPr id="24612" name="Line 36"/>
              <p:cNvSpPr>
                <a:spLocks noChangeShapeType="1"/>
              </p:cNvSpPr>
              <p:nvPr/>
            </p:nvSpPr>
            <p:spPr bwMode="auto">
              <a:xfrm>
                <a:off x="923" y="1360"/>
                <a:ext cx="298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3" name="Group 59"/>
          <p:cNvGrpSpPr>
            <a:grpSpLocks/>
          </p:cNvGrpSpPr>
          <p:nvPr/>
        </p:nvGrpSpPr>
        <p:grpSpPr bwMode="auto">
          <a:xfrm>
            <a:off x="990600" y="3886200"/>
            <a:ext cx="1473200" cy="581025"/>
            <a:chOff x="600" y="1356"/>
            <a:chExt cx="1099" cy="444"/>
          </a:xfrm>
        </p:grpSpPr>
        <p:grpSp>
          <p:nvGrpSpPr>
            <p:cNvPr id="14" name="Group 60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24637" name="Rectangle 61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8" name="Line 62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9" name="Line 63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1127125" y="3389313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1</a:t>
            </a:r>
          </a:p>
        </p:txBody>
      </p:sp>
      <p:sp>
        <p:nvSpPr>
          <p:cNvPr id="24641" name="Text Box 65"/>
          <p:cNvSpPr txBox="1">
            <a:spLocks noChangeArrowheads="1"/>
          </p:cNvSpPr>
          <p:nvPr/>
        </p:nvSpPr>
        <p:spPr bwMode="auto">
          <a:xfrm>
            <a:off x="3336925" y="3443288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2</a:t>
            </a:r>
          </a:p>
        </p:txBody>
      </p:sp>
      <p:pic>
        <p:nvPicPr>
          <p:cNvPr id="24642" name="Picture 6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886200"/>
            <a:ext cx="1533525" cy="628650"/>
          </a:xfrm>
          <a:prstGeom prst="rect">
            <a:avLst/>
          </a:prstGeom>
          <a:noFill/>
        </p:spPr>
      </p:pic>
      <p:sp>
        <p:nvSpPr>
          <p:cNvPr id="24643" name="Text Box 67"/>
          <p:cNvSpPr txBox="1">
            <a:spLocks noChangeArrowheads="1"/>
          </p:cNvSpPr>
          <p:nvPr/>
        </p:nvSpPr>
        <p:spPr bwMode="auto">
          <a:xfrm>
            <a:off x="4419600" y="4738688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3</a:t>
            </a:r>
          </a:p>
        </p:txBody>
      </p:sp>
      <p:pic>
        <p:nvPicPr>
          <p:cNvPr id="24645" name="Picture 6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5334000"/>
            <a:ext cx="5667375" cy="638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Insertion at the top of the list</a:t>
            </a:r>
          </a:p>
          <a:p>
            <a:r>
              <a:rPr lang="en-US">
                <a:solidFill>
                  <a:srgbClr val="FF0000"/>
                </a:solidFill>
              </a:rPr>
              <a:t>Insertion at the end of the list</a:t>
            </a:r>
          </a:p>
          <a:p>
            <a:r>
              <a:rPr lang="en-US"/>
              <a:t>Insertion in the middle of the list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at the end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Steps:</a:t>
            </a:r>
          </a:p>
          <a:p>
            <a:r>
              <a:rPr lang="en-US"/>
              <a:t>Create a Node</a:t>
            </a:r>
          </a:p>
          <a:p>
            <a:r>
              <a:rPr lang="en-US"/>
              <a:t>Set the node data Values</a:t>
            </a:r>
          </a:p>
          <a:p>
            <a:r>
              <a:rPr lang="en-US"/>
              <a:t>Connect the pointers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590800"/>
            <a:ext cx="8229600" cy="685800"/>
          </a:xfrm>
        </p:spPr>
        <p:txBody>
          <a:bodyPr/>
          <a:lstStyle/>
          <a:p>
            <a:r>
              <a:rPr lang="en-US"/>
              <a:t>Follow the previous steps and we get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1524000"/>
            <a:ext cx="6410325" cy="587375"/>
            <a:chOff x="572" y="3248"/>
            <a:chExt cx="4038" cy="37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80" y="3248"/>
              <a:ext cx="928" cy="366"/>
              <a:chOff x="600" y="1356"/>
              <a:chExt cx="1099" cy="444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600" y="1356"/>
                <a:ext cx="818" cy="444"/>
                <a:chOff x="600" y="1356"/>
                <a:chExt cx="818" cy="444"/>
              </a:xfrm>
            </p:grpSpPr>
            <p:sp>
              <p:nvSpPr>
                <p:cNvPr id="27655" name="Rectangle 7"/>
                <p:cNvSpPr>
                  <a:spLocks noChangeArrowheads="1"/>
                </p:cNvSpPr>
                <p:nvPr/>
              </p:nvSpPr>
              <p:spPr bwMode="auto">
                <a:xfrm>
                  <a:off x="600" y="1356"/>
                  <a:ext cx="818" cy="44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56" name="Line 8"/>
                <p:cNvSpPr>
                  <a:spLocks noChangeShapeType="1"/>
                </p:cNvSpPr>
                <p:nvPr/>
              </p:nvSpPr>
              <p:spPr bwMode="auto">
                <a:xfrm>
                  <a:off x="1200" y="1356"/>
                  <a:ext cx="0" cy="4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657" name="Line 9"/>
              <p:cNvSpPr>
                <a:spLocks noChangeShapeType="1"/>
              </p:cNvSpPr>
              <p:nvPr/>
            </p:nvSpPr>
            <p:spPr bwMode="auto">
              <a:xfrm>
                <a:off x="1309" y="157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2442" y="3248"/>
              <a:ext cx="928" cy="366"/>
              <a:chOff x="600" y="1356"/>
              <a:chExt cx="1099" cy="444"/>
            </a:xfrm>
          </p:grpSpPr>
          <p:grpSp>
            <p:nvGrpSpPr>
              <p:cNvPr id="6" name="Group 11"/>
              <p:cNvGrpSpPr>
                <a:grpSpLocks/>
              </p:cNvGrpSpPr>
              <p:nvPr/>
            </p:nvGrpSpPr>
            <p:grpSpPr bwMode="auto">
              <a:xfrm>
                <a:off x="600" y="1356"/>
                <a:ext cx="818" cy="444"/>
                <a:chOff x="600" y="1356"/>
                <a:chExt cx="818" cy="444"/>
              </a:xfrm>
            </p:grpSpPr>
            <p:sp>
              <p:nvSpPr>
                <p:cNvPr id="27660" name="Rectangle 12"/>
                <p:cNvSpPr>
                  <a:spLocks noChangeArrowheads="1"/>
                </p:cNvSpPr>
                <p:nvPr/>
              </p:nvSpPr>
              <p:spPr bwMode="auto">
                <a:xfrm>
                  <a:off x="600" y="1356"/>
                  <a:ext cx="818" cy="44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61" name="Line 13"/>
                <p:cNvSpPr>
                  <a:spLocks noChangeShapeType="1"/>
                </p:cNvSpPr>
                <p:nvPr/>
              </p:nvSpPr>
              <p:spPr bwMode="auto">
                <a:xfrm>
                  <a:off x="1200" y="1356"/>
                  <a:ext cx="0" cy="4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662" name="Line 14"/>
              <p:cNvSpPr>
                <a:spLocks noChangeShapeType="1"/>
              </p:cNvSpPr>
              <p:nvPr/>
            </p:nvSpPr>
            <p:spPr bwMode="auto">
              <a:xfrm>
                <a:off x="1309" y="157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5"/>
            <p:cNvGrpSpPr>
              <a:grpSpLocks/>
            </p:cNvGrpSpPr>
            <p:nvPr/>
          </p:nvGrpSpPr>
          <p:grpSpPr bwMode="auto">
            <a:xfrm>
              <a:off x="3405" y="3248"/>
              <a:ext cx="691" cy="366"/>
              <a:chOff x="600" y="1356"/>
              <a:chExt cx="818" cy="444"/>
            </a:xfrm>
          </p:grpSpPr>
          <p:sp>
            <p:nvSpPr>
              <p:cNvPr id="27664" name="Rectangle 16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Line 17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66" name="Text Box 18"/>
            <p:cNvSpPr txBox="1">
              <a:spLocks noChangeArrowheads="1"/>
            </p:cNvSpPr>
            <p:nvPr/>
          </p:nvSpPr>
          <p:spPr bwMode="auto">
            <a:xfrm>
              <a:off x="1625" y="3287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48</a:t>
              </a:r>
              <a:endParaRPr lang="en-US"/>
            </a:p>
          </p:txBody>
        </p:sp>
        <p:sp>
          <p:nvSpPr>
            <p:cNvPr id="27667" name="Text Box 19"/>
            <p:cNvSpPr txBox="1">
              <a:spLocks noChangeArrowheads="1"/>
            </p:cNvSpPr>
            <p:nvPr/>
          </p:nvSpPr>
          <p:spPr bwMode="auto">
            <a:xfrm>
              <a:off x="2530" y="3287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17</a:t>
              </a:r>
              <a:endParaRPr lang="en-US"/>
            </a:p>
          </p:txBody>
        </p:sp>
        <p:sp>
          <p:nvSpPr>
            <p:cNvPr id="27668" name="Rectangle 20"/>
            <p:cNvSpPr>
              <a:spLocks noChangeArrowheads="1"/>
            </p:cNvSpPr>
            <p:nvPr/>
          </p:nvSpPr>
          <p:spPr bwMode="auto">
            <a:xfrm>
              <a:off x="3462" y="3287"/>
              <a:ext cx="4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142</a:t>
              </a:r>
            </a:p>
          </p:txBody>
        </p:sp>
        <p:sp>
          <p:nvSpPr>
            <p:cNvPr id="27669" name="Rectangle 21"/>
            <p:cNvSpPr>
              <a:spLocks noChangeArrowheads="1"/>
            </p:cNvSpPr>
            <p:nvPr/>
          </p:nvSpPr>
          <p:spPr bwMode="auto">
            <a:xfrm>
              <a:off x="572" y="3275"/>
              <a:ext cx="56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head</a:t>
              </a:r>
            </a:p>
          </p:txBody>
        </p:sp>
        <p:sp>
          <p:nvSpPr>
            <p:cNvPr id="27670" name="Line 22"/>
            <p:cNvSpPr>
              <a:spLocks noChangeShapeType="1"/>
            </p:cNvSpPr>
            <p:nvPr/>
          </p:nvSpPr>
          <p:spPr bwMode="auto">
            <a:xfrm>
              <a:off x="1196" y="3447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1" name="Line 23"/>
            <p:cNvSpPr>
              <a:spLocks noChangeShapeType="1"/>
            </p:cNvSpPr>
            <p:nvPr/>
          </p:nvSpPr>
          <p:spPr bwMode="auto">
            <a:xfrm>
              <a:off x="4005" y="3438"/>
              <a:ext cx="3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2" name="Text Box 24"/>
            <p:cNvSpPr txBox="1">
              <a:spLocks noChangeArrowheads="1"/>
            </p:cNvSpPr>
            <p:nvPr/>
          </p:nvSpPr>
          <p:spPr bwMode="auto">
            <a:xfrm>
              <a:off x="4352" y="3253"/>
              <a:ext cx="258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3200" b="1"/>
                <a:t>//</a:t>
              </a:r>
            </a:p>
          </p:txBody>
        </p:sp>
      </p:grp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990600" y="3886200"/>
            <a:ext cx="1473200" cy="581025"/>
            <a:chOff x="600" y="1356"/>
            <a:chExt cx="1099" cy="444"/>
          </a:xfrm>
        </p:grpSpPr>
        <p:grpSp>
          <p:nvGrpSpPr>
            <p:cNvPr id="9" name="Group 37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27686" name="Rectangle 38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Line 39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8" name="Line 40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89" name="Text Box 41"/>
          <p:cNvSpPr txBox="1">
            <a:spLocks noChangeArrowheads="1"/>
          </p:cNvSpPr>
          <p:nvPr/>
        </p:nvSpPr>
        <p:spPr bwMode="auto">
          <a:xfrm>
            <a:off x="1127125" y="3389313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1</a:t>
            </a:r>
          </a:p>
        </p:txBody>
      </p:sp>
      <p:sp>
        <p:nvSpPr>
          <p:cNvPr id="27690" name="Text Box 42"/>
          <p:cNvSpPr txBox="1">
            <a:spLocks noChangeArrowheads="1"/>
          </p:cNvSpPr>
          <p:nvPr/>
        </p:nvSpPr>
        <p:spPr bwMode="auto">
          <a:xfrm>
            <a:off x="3336925" y="3443288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2</a:t>
            </a:r>
          </a:p>
        </p:txBody>
      </p:sp>
      <p:pic>
        <p:nvPicPr>
          <p:cNvPr id="27691" name="Picture 4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886200"/>
            <a:ext cx="1533525" cy="628650"/>
          </a:xfrm>
          <a:prstGeom prst="rect">
            <a:avLst/>
          </a:prstGeom>
          <a:noFill/>
        </p:spPr>
      </p:pic>
      <p:sp>
        <p:nvSpPr>
          <p:cNvPr id="27692" name="Text Box 44"/>
          <p:cNvSpPr txBox="1">
            <a:spLocks noChangeArrowheads="1"/>
          </p:cNvSpPr>
          <p:nvPr/>
        </p:nvSpPr>
        <p:spPr bwMode="auto">
          <a:xfrm>
            <a:off x="4419600" y="4738688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3</a:t>
            </a:r>
          </a:p>
        </p:txBody>
      </p:sp>
      <p:pic>
        <p:nvPicPr>
          <p:cNvPr id="27694" name="Picture 4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5334000"/>
            <a:ext cx="5983288" cy="657225"/>
          </a:xfrm>
          <a:prstGeom prst="rect">
            <a:avLst/>
          </a:prstGeom>
          <a:noFill/>
        </p:spPr>
      </p:pic>
      <p:pic>
        <p:nvPicPr>
          <p:cNvPr id="27695" name="Picture 4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800" y="5229225"/>
            <a:ext cx="1619250" cy="866775"/>
          </a:xfrm>
          <a:prstGeom prst="rect">
            <a:avLst/>
          </a:prstGeom>
          <a:noFill/>
        </p:spPr>
      </p:pic>
      <p:pic>
        <p:nvPicPr>
          <p:cNvPr id="27696" name="Picture 4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24800" y="5467350"/>
            <a:ext cx="495300" cy="628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Insertion at the top of the list</a:t>
            </a:r>
          </a:p>
          <a:p>
            <a:r>
              <a:rPr lang="en-US"/>
              <a:t>Insertion at the end of the list</a:t>
            </a:r>
          </a:p>
          <a:p>
            <a:r>
              <a:rPr lang="en-US">
                <a:solidFill>
                  <a:srgbClr val="FF0000"/>
                </a:solidFill>
              </a:rPr>
              <a:t>Insertion in the middle of the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in the middle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Steps:</a:t>
            </a:r>
          </a:p>
          <a:p>
            <a:r>
              <a:rPr lang="en-US"/>
              <a:t>Create a Node</a:t>
            </a:r>
          </a:p>
          <a:p>
            <a:r>
              <a:rPr lang="en-US"/>
              <a:t>Set the node data Values</a:t>
            </a:r>
          </a:p>
          <a:p>
            <a:r>
              <a:rPr lang="en-US"/>
              <a:t>Break pointer connection</a:t>
            </a:r>
          </a:p>
          <a:p>
            <a:r>
              <a:rPr lang="en-US"/>
              <a:t>Re-connect the pointers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Description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457325"/>
            <a:ext cx="7078663" cy="904875"/>
          </a:xfrm>
          <a:prstGeom prst="rect">
            <a:avLst/>
          </a:prstGeom>
          <a:noFill/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38200" y="2935288"/>
            <a:ext cx="1473200" cy="581025"/>
            <a:chOff x="600" y="1356"/>
            <a:chExt cx="1099" cy="444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1752" name="Rectangle 8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53" name="Line 9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754" name="Line 10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974725" y="2438400"/>
            <a:ext cx="84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1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184525" y="2492375"/>
            <a:ext cx="84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2</a:t>
            </a:r>
          </a:p>
        </p:txBody>
      </p:sp>
      <p:pic>
        <p:nvPicPr>
          <p:cNvPr id="31757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2935288"/>
            <a:ext cx="1533525" cy="628650"/>
          </a:xfrm>
          <a:prstGeom prst="rect">
            <a:avLst/>
          </a:prstGeom>
          <a:noFill/>
        </p:spPr>
      </p:pic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838200" y="3900488"/>
            <a:ext cx="844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3</a:t>
            </a:r>
          </a:p>
        </p:txBody>
      </p:sp>
      <p:pic>
        <p:nvPicPr>
          <p:cNvPr id="31759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1050" y="4248150"/>
            <a:ext cx="4476750" cy="628650"/>
          </a:xfrm>
          <a:prstGeom prst="rect">
            <a:avLst/>
          </a:prstGeom>
          <a:noFill/>
        </p:spPr>
      </p:pic>
      <p:pic>
        <p:nvPicPr>
          <p:cNvPr id="31760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7800" y="4352925"/>
            <a:ext cx="476250" cy="523875"/>
          </a:xfrm>
          <a:prstGeom prst="rect">
            <a:avLst/>
          </a:prstGeom>
          <a:noFill/>
        </p:spPr>
      </p:pic>
      <p:pic>
        <p:nvPicPr>
          <p:cNvPr id="31761" name="Picture 1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10275" y="4238625"/>
            <a:ext cx="2371725" cy="638175"/>
          </a:xfrm>
          <a:prstGeom prst="rect">
            <a:avLst/>
          </a:prstGeom>
          <a:noFill/>
        </p:spPr>
      </p:pic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822325" y="5029200"/>
            <a:ext cx="84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Step 4</a:t>
            </a:r>
          </a:p>
        </p:txBody>
      </p:sp>
      <p:pic>
        <p:nvPicPr>
          <p:cNvPr id="31763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5543550"/>
            <a:ext cx="4476750" cy="628650"/>
          </a:xfrm>
          <a:prstGeom prst="rect">
            <a:avLst/>
          </a:prstGeom>
          <a:noFill/>
        </p:spPr>
      </p:pic>
      <p:pic>
        <p:nvPicPr>
          <p:cNvPr id="31764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5543550"/>
            <a:ext cx="1533525" cy="628650"/>
          </a:xfrm>
          <a:prstGeom prst="rect">
            <a:avLst/>
          </a:prstGeom>
          <a:noFill/>
        </p:spPr>
      </p:pic>
      <p:pic>
        <p:nvPicPr>
          <p:cNvPr id="31765" name="Picture 2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67475" y="5534025"/>
            <a:ext cx="2371725" cy="638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from the top of the list</a:t>
            </a:r>
          </a:p>
          <a:p>
            <a:r>
              <a:rPr lang="en-US"/>
              <a:t>Deleting from the end of the list</a:t>
            </a:r>
          </a:p>
          <a:p>
            <a:r>
              <a:rPr lang="en-US"/>
              <a:t>Deleting from the middle of the list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Deleting from the top of the list</a:t>
            </a:r>
          </a:p>
          <a:p>
            <a:r>
              <a:rPr lang="en-US"/>
              <a:t>Deleting from the end of the list</a:t>
            </a:r>
          </a:p>
          <a:p>
            <a:r>
              <a:rPr lang="en-US"/>
              <a:t>Deleting from the middle of the list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from the top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Steps</a:t>
            </a:r>
          </a:p>
          <a:p>
            <a:r>
              <a:rPr lang="en-US"/>
              <a:t>Break the pointer connection</a:t>
            </a:r>
          </a:p>
          <a:p>
            <a:r>
              <a:rPr lang="en-US"/>
              <a:t>Re-connect the nodes</a:t>
            </a:r>
          </a:p>
          <a:p>
            <a:r>
              <a:rPr lang="en-US"/>
              <a:t>Delete the node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60788" y="2352675"/>
            <a:ext cx="1473200" cy="581025"/>
            <a:chOff x="600" y="1356"/>
            <a:chExt cx="1099" cy="444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4822" name="Rectangle 6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23" name="Line 7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24" name="Line 8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5287963" y="2352675"/>
            <a:ext cx="1473200" cy="581025"/>
            <a:chOff x="600" y="1356"/>
            <a:chExt cx="1099" cy="444"/>
          </a:xfrm>
        </p:grpSpPr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4827" name="Rectangle 11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28" name="Line 12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29" name="Line 13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3990975" y="24145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5427663" y="2414588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533400" y="16002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1447800" y="19050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6816725" y="2346325"/>
            <a:ext cx="1612900" cy="593725"/>
            <a:chOff x="4161" y="1314"/>
            <a:chExt cx="1016" cy="374"/>
          </a:xfrm>
        </p:grpSpPr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6" name="Rectangle 20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34838" name="Rectangle 22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" name="Group 23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34840" name="Line 24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25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34842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843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3160713" y="2643188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2222500" y="2354263"/>
            <a:ext cx="1100138" cy="576262"/>
            <a:chOff x="1344" y="1212"/>
            <a:chExt cx="693" cy="363"/>
          </a:xfrm>
        </p:grpSpPr>
        <p:sp>
          <p:nvSpPr>
            <p:cNvPr id="34846" name="Rectangle 30"/>
            <p:cNvSpPr>
              <a:spLocks noChangeArrowheads="1"/>
            </p:cNvSpPr>
            <p:nvPr/>
          </p:nvSpPr>
          <p:spPr bwMode="auto">
            <a:xfrm>
              <a:off x="1344" y="1212"/>
              <a:ext cx="504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/>
                <a:t>6</a:t>
              </a:r>
              <a:endParaRPr lang="en-US" sz="2400" b="1">
                <a:latin typeface="Times New Roman" charset="0"/>
              </a:endParaRPr>
            </a:p>
          </p:txBody>
        </p:sp>
        <p:sp>
          <p:nvSpPr>
            <p:cNvPr id="34847" name="Rectangle 31"/>
            <p:cNvSpPr>
              <a:spLocks noChangeArrowheads="1"/>
            </p:cNvSpPr>
            <p:nvPr/>
          </p:nvSpPr>
          <p:spPr bwMode="auto">
            <a:xfrm>
              <a:off x="1848" y="1212"/>
              <a:ext cx="189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63"/>
          <p:cNvGrpSpPr>
            <a:grpSpLocks/>
          </p:cNvGrpSpPr>
          <p:nvPr/>
        </p:nvGrpSpPr>
        <p:grpSpPr bwMode="auto">
          <a:xfrm>
            <a:off x="3836988" y="3876675"/>
            <a:ext cx="1473200" cy="581025"/>
            <a:chOff x="600" y="1356"/>
            <a:chExt cx="1099" cy="444"/>
          </a:xfrm>
        </p:grpSpPr>
        <p:grpSp>
          <p:nvGrpSpPr>
            <p:cNvPr id="12" name="Group 64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4881" name="Rectangle 65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82" name="Line 66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83" name="Line 67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68"/>
          <p:cNvGrpSpPr>
            <a:grpSpLocks/>
          </p:cNvGrpSpPr>
          <p:nvPr/>
        </p:nvGrpSpPr>
        <p:grpSpPr bwMode="auto">
          <a:xfrm>
            <a:off x="5364163" y="3876675"/>
            <a:ext cx="1473200" cy="581025"/>
            <a:chOff x="600" y="1356"/>
            <a:chExt cx="1099" cy="444"/>
          </a:xfrm>
        </p:grpSpPr>
        <p:grpSp>
          <p:nvGrpSpPr>
            <p:cNvPr id="14" name="Group 69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4886" name="Rectangle 70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87" name="Line 71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88" name="Line 72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89" name="Text Box 73"/>
          <p:cNvSpPr txBox="1">
            <a:spLocks noChangeArrowheads="1"/>
          </p:cNvSpPr>
          <p:nvPr/>
        </p:nvSpPr>
        <p:spPr bwMode="auto">
          <a:xfrm>
            <a:off x="4067175" y="39385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34890" name="Text Box 74"/>
          <p:cNvSpPr txBox="1">
            <a:spLocks noChangeArrowheads="1"/>
          </p:cNvSpPr>
          <p:nvPr/>
        </p:nvSpPr>
        <p:spPr bwMode="auto">
          <a:xfrm>
            <a:off x="5503863" y="3938588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34891" name="Text Box 75"/>
          <p:cNvSpPr txBox="1">
            <a:spLocks noChangeArrowheads="1"/>
          </p:cNvSpPr>
          <p:nvPr/>
        </p:nvSpPr>
        <p:spPr bwMode="auto">
          <a:xfrm>
            <a:off x="609600" y="31242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34892" name="Line 76"/>
          <p:cNvSpPr>
            <a:spLocks noChangeShapeType="1"/>
          </p:cNvSpPr>
          <p:nvPr/>
        </p:nvSpPr>
        <p:spPr bwMode="auto">
          <a:xfrm>
            <a:off x="3124200" y="3276600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77"/>
          <p:cNvGrpSpPr>
            <a:grpSpLocks/>
          </p:cNvGrpSpPr>
          <p:nvPr/>
        </p:nvGrpSpPr>
        <p:grpSpPr bwMode="auto">
          <a:xfrm>
            <a:off x="6892925" y="3870325"/>
            <a:ext cx="1612900" cy="593725"/>
            <a:chOff x="4161" y="1314"/>
            <a:chExt cx="1016" cy="374"/>
          </a:xfrm>
        </p:grpSpPr>
        <p:sp>
          <p:nvSpPr>
            <p:cNvPr id="34894" name="Line 78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95" name="Rectangle 79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16" name="Group 80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34897" name="Rectangle 81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7" name="Group 82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34899" name="Line 83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8" name="Group 84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34901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902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34903" name="Line 87"/>
          <p:cNvSpPr>
            <a:spLocks noChangeShapeType="1"/>
          </p:cNvSpPr>
          <p:nvPr/>
        </p:nvSpPr>
        <p:spPr bwMode="auto">
          <a:xfrm>
            <a:off x="3236913" y="4167188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88"/>
          <p:cNvGrpSpPr>
            <a:grpSpLocks/>
          </p:cNvGrpSpPr>
          <p:nvPr/>
        </p:nvGrpSpPr>
        <p:grpSpPr bwMode="auto">
          <a:xfrm>
            <a:off x="2298700" y="3878263"/>
            <a:ext cx="1100138" cy="576262"/>
            <a:chOff x="1344" y="1212"/>
            <a:chExt cx="693" cy="363"/>
          </a:xfrm>
        </p:grpSpPr>
        <p:sp>
          <p:nvSpPr>
            <p:cNvPr id="34905" name="Rectangle 89"/>
            <p:cNvSpPr>
              <a:spLocks noChangeArrowheads="1"/>
            </p:cNvSpPr>
            <p:nvPr/>
          </p:nvSpPr>
          <p:spPr bwMode="auto">
            <a:xfrm>
              <a:off x="1344" y="1212"/>
              <a:ext cx="504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/>
                <a:t>6</a:t>
              </a:r>
              <a:endParaRPr lang="en-US" sz="2400" b="1">
                <a:latin typeface="Times New Roman" charset="0"/>
              </a:endParaRPr>
            </a:p>
          </p:txBody>
        </p:sp>
        <p:sp>
          <p:nvSpPr>
            <p:cNvPr id="34906" name="Rectangle 90"/>
            <p:cNvSpPr>
              <a:spLocks noChangeArrowheads="1"/>
            </p:cNvSpPr>
            <p:nvPr/>
          </p:nvSpPr>
          <p:spPr bwMode="auto">
            <a:xfrm>
              <a:off x="1848" y="1212"/>
              <a:ext cx="189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907" name="Line 91"/>
          <p:cNvSpPr>
            <a:spLocks noChangeShapeType="1"/>
          </p:cNvSpPr>
          <p:nvPr/>
        </p:nvSpPr>
        <p:spPr bwMode="auto">
          <a:xfrm flipH="1">
            <a:off x="1538288" y="327660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908" name="Line 92"/>
          <p:cNvSpPr>
            <a:spLocks noChangeShapeType="1"/>
          </p:cNvSpPr>
          <p:nvPr/>
        </p:nvSpPr>
        <p:spPr bwMode="auto">
          <a:xfrm>
            <a:off x="2057400" y="3657600"/>
            <a:ext cx="1295400" cy="1066800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909" name="Line 93"/>
          <p:cNvSpPr>
            <a:spLocks noChangeShapeType="1"/>
          </p:cNvSpPr>
          <p:nvPr/>
        </p:nvSpPr>
        <p:spPr bwMode="auto">
          <a:xfrm flipH="1">
            <a:off x="2057400" y="3657600"/>
            <a:ext cx="1295400" cy="1066800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0" name="Group 94"/>
          <p:cNvGrpSpPr>
            <a:grpSpLocks/>
          </p:cNvGrpSpPr>
          <p:nvPr/>
        </p:nvGrpSpPr>
        <p:grpSpPr bwMode="auto">
          <a:xfrm>
            <a:off x="2341563" y="5203825"/>
            <a:ext cx="1096962" cy="581025"/>
            <a:chOff x="600" y="1356"/>
            <a:chExt cx="818" cy="444"/>
          </a:xfrm>
        </p:grpSpPr>
        <p:sp>
          <p:nvSpPr>
            <p:cNvPr id="34911" name="Rectangle 95"/>
            <p:cNvSpPr>
              <a:spLocks noChangeArrowheads="1"/>
            </p:cNvSpPr>
            <p:nvPr/>
          </p:nvSpPr>
          <p:spPr bwMode="auto">
            <a:xfrm>
              <a:off x="600" y="1356"/>
              <a:ext cx="818" cy="4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2" name="Line 96"/>
            <p:cNvSpPr>
              <a:spLocks noChangeShapeType="1"/>
            </p:cNvSpPr>
            <p:nvPr/>
          </p:nvSpPr>
          <p:spPr bwMode="auto">
            <a:xfrm>
              <a:off x="1200" y="1356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913" name="Line 97"/>
          <p:cNvSpPr>
            <a:spLocks noChangeShapeType="1"/>
          </p:cNvSpPr>
          <p:nvPr/>
        </p:nvSpPr>
        <p:spPr bwMode="auto">
          <a:xfrm>
            <a:off x="3332163" y="5508625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" name="Group 98"/>
          <p:cNvGrpSpPr>
            <a:grpSpLocks/>
          </p:cNvGrpSpPr>
          <p:nvPr/>
        </p:nvGrpSpPr>
        <p:grpSpPr bwMode="auto">
          <a:xfrm>
            <a:off x="3868738" y="5203825"/>
            <a:ext cx="1473200" cy="581025"/>
            <a:chOff x="600" y="1356"/>
            <a:chExt cx="1099" cy="444"/>
          </a:xfrm>
        </p:grpSpPr>
        <p:grpSp>
          <p:nvGrpSpPr>
            <p:cNvPr id="22" name="Group 99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4916" name="Rectangle 100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7" name="Line 101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918" name="Line 102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919" name="Text Box 103"/>
          <p:cNvSpPr txBox="1">
            <a:spLocks noChangeArrowheads="1"/>
          </p:cNvSpPr>
          <p:nvPr/>
        </p:nvSpPr>
        <p:spPr bwMode="auto">
          <a:xfrm>
            <a:off x="2571750" y="52657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34920" name="Text Box 104"/>
          <p:cNvSpPr txBox="1">
            <a:spLocks noChangeArrowheads="1"/>
          </p:cNvSpPr>
          <p:nvPr/>
        </p:nvSpPr>
        <p:spPr bwMode="auto">
          <a:xfrm>
            <a:off x="4008438" y="5265738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34921" name="Text Box 105"/>
          <p:cNvSpPr txBox="1">
            <a:spLocks noChangeArrowheads="1"/>
          </p:cNvSpPr>
          <p:nvPr/>
        </p:nvSpPr>
        <p:spPr bwMode="auto">
          <a:xfrm>
            <a:off x="665163" y="4441825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34922" name="Line 106"/>
          <p:cNvSpPr>
            <a:spLocks noChangeShapeType="1"/>
          </p:cNvSpPr>
          <p:nvPr/>
        </p:nvSpPr>
        <p:spPr bwMode="auto">
          <a:xfrm>
            <a:off x="1579563" y="4670425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Group 107"/>
          <p:cNvGrpSpPr>
            <a:grpSpLocks/>
          </p:cNvGrpSpPr>
          <p:nvPr/>
        </p:nvGrpSpPr>
        <p:grpSpPr bwMode="auto">
          <a:xfrm>
            <a:off x="5397500" y="5197475"/>
            <a:ext cx="1612900" cy="593725"/>
            <a:chOff x="4161" y="1314"/>
            <a:chExt cx="1016" cy="374"/>
          </a:xfrm>
        </p:grpSpPr>
        <p:sp>
          <p:nvSpPr>
            <p:cNvPr id="34924" name="Line 108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25" name="Rectangle 109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24" name="Group 110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34927" name="Rectangle 111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" name="Group 112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34929" name="Line 113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6" name="Group 114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34931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932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from the top of the list</a:t>
            </a:r>
          </a:p>
          <a:p>
            <a:r>
              <a:rPr lang="en-US">
                <a:solidFill>
                  <a:srgbClr val="FF0000"/>
                </a:solidFill>
              </a:rPr>
              <a:t>Deleting from the end of the list</a:t>
            </a:r>
          </a:p>
          <a:p>
            <a:r>
              <a:rPr lang="en-US"/>
              <a:t>Deleting from the middle of the list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from the end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Steps</a:t>
            </a:r>
          </a:p>
          <a:p>
            <a:r>
              <a:rPr lang="en-US"/>
              <a:t>Break the pointer connection</a:t>
            </a:r>
          </a:p>
          <a:p>
            <a:r>
              <a:rPr lang="en-US"/>
              <a:t>Set previous node pointer to NULL</a:t>
            </a:r>
          </a:p>
          <a:p>
            <a:r>
              <a:rPr lang="en-US"/>
              <a:t>Delete the node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60788" y="2352675"/>
            <a:ext cx="1473200" cy="581025"/>
            <a:chOff x="600" y="1356"/>
            <a:chExt cx="1099" cy="444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9942" name="Rectangle 6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43" name="Line 7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4" name="Line 8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5287963" y="2352675"/>
            <a:ext cx="1473200" cy="581025"/>
            <a:chOff x="600" y="1356"/>
            <a:chExt cx="1099" cy="444"/>
          </a:xfrm>
        </p:grpSpPr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39947" name="Rectangle 11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48" name="Line 12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9" name="Line 13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3990975" y="24145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5427663" y="2414588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533400" y="16002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>
            <a:off x="1447800" y="19050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6816725" y="2346325"/>
            <a:ext cx="1612900" cy="593725"/>
            <a:chOff x="4161" y="1314"/>
            <a:chExt cx="1016" cy="374"/>
          </a:xfrm>
        </p:grpSpPr>
        <p:sp>
          <p:nvSpPr>
            <p:cNvPr id="39955" name="Line 19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6" name="Rectangle 20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39958" name="Rectangle 22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" name="Group 23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39960" name="Line 24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25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39962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963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39964" name="Line 28"/>
          <p:cNvSpPr>
            <a:spLocks noChangeShapeType="1"/>
          </p:cNvSpPr>
          <p:nvPr/>
        </p:nvSpPr>
        <p:spPr bwMode="auto">
          <a:xfrm>
            <a:off x="3160713" y="2643188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2222500" y="2354263"/>
            <a:ext cx="1100138" cy="576262"/>
            <a:chOff x="1344" y="1212"/>
            <a:chExt cx="693" cy="363"/>
          </a:xfrm>
        </p:grpSpPr>
        <p:sp>
          <p:nvSpPr>
            <p:cNvPr id="39966" name="Rectangle 30"/>
            <p:cNvSpPr>
              <a:spLocks noChangeArrowheads="1"/>
            </p:cNvSpPr>
            <p:nvPr/>
          </p:nvSpPr>
          <p:spPr bwMode="auto">
            <a:xfrm>
              <a:off x="1344" y="1212"/>
              <a:ext cx="504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/>
                <a:t>6</a:t>
              </a:r>
              <a:endParaRPr lang="en-US" sz="2400" b="1">
                <a:latin typeface="Times New Roman" charset="0"/>
              </a:endParaRPr>
            </a:p>
          </p:txBody>
        </p:sp>
        <p:sp>
          <p:nvSpPr>
            <p:cNvPr id="39967" name="Rectangle 31"/>
            <p:cNvSpPr>
              <a:spLocks noChangeArrowheads="1"/>
            </p:cNvSpPr>
            <p:nvPr/>
          </p:nvSpPr>
          <p:spPr bwMode="auto">
            <a:xfrm>
              <a:off x="1848" y="1212"/>
              <a:ext cx="189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97" name="Line 61"/>
          <p:cNvSpPr>
            <a:spLocks noChangeShapeType="1"/>
          </p:cNvSpPr>
          <p:nvPr/>
        </p:nvSpPr>
        <p:spPr bwMode="auto">
          <a:xfrm>
            <a:off x="6477000" y="3276600"/>
            <a:ext cx="1295400" cy="1066800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98" name="Line 62"/>
          <p:cNvSpPr>
            <a:spLocks noChangeShapeType="1"/>
          </p:cNvSpPr>
          <p:nvPr/>
        </p:nvSpPr>
        <p:spPr bwMode="auto">
          <a:xfrm flipH="1">
            <a:off x="6477000" y="3298825"/>
            <a:ext cx="1295400" cy="1066800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1" name="Group 86"/>
          <p:cNvGrpSpPr>
            <a:grpSpLocks/>
          </p:cNvGrpSpPr>
          <p:nvPr/>
        </p:nvGrpSpPr>
        <p:grpSpPr bwMode="auto">
          <a:xfrm>
            <a:off x="3608388" y="3495675"/>
            <a:ext cx="1473200" cy="581025"/>
            <a:chOff x="600" y="1356"/>
            <a:chExt cx="1099" cy="444"/>
          </a:xfrm>
        </p:grpSpPr>
        <p:grpSp>
          <p:nvGrpSpPr>
            <p:cNvPr id="12" name="Group 87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40024" name="Rectangle 88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5" name="Line 89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26" name="Line 90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91"/>
          <p:cNvGrpSpPr>
            <a:grpSpLocks/>
          </p:cNvGrpSpPr>
          <p:nvPr/>
        </p:nvGrpSpPr>
        <p:grpSpPr bwMode="auto">
          <a:xfrm>
            <a:off x="5135563" y="3495675"/>
            <a:ext cx="1473200" cy="581025"/>
            <a:chOff x="600" y="1356"/>
            <a:chExt cx="1099" cy="444"/>
          </a:xfrm>
        </p:grpSpPr>
        <p:grpSp>
          <p:nvGrpSpPr>
            <p:cNvPr id="14" name="Group 92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40029" name="Rectangle 93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30" name="Line 94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31" name="Line 95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032" name="Text Box 96"/>
          <p:cNvSpPr txBox="1">
            <a:spLocks noChangeArrowheads="1"/>
          </p:cNvSpPr>
          <p:nvPr/>
        </p:nvSpPr>
        <p:spPr bwMode="auto">
          <a:xfrm>
            <a:off x="3838575" y="35575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40033" name="Text Box 97"/>
          <p:cNvSpPr txBox="1">
            <a:spLocks noChangeArrowheads="1"/>
          </p:cNvSpPr>
          <p:nvPr/>
        </p:nvSpPr>
        <p:spPr bwMode="auto">
          <a:xfrm>
            <a:off x="5275263" y="3557588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40034" name="Text Box 98"/>
          <p:cNvSpPr txBox="1">
            <a:spLocks noChangeArrowheads="1"/>
          </p:cNvSpPr>
          <p:nvPr/>
        </p:nvSpPr>
        <p:spPr bwMode="auto">
          <a:xfrm>
            <a:off x="381000" y="27432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40035" name="Line 99"/>
          <p:cNvSpPr>
            <a:spLocks noChangeShapeType="1"/>
          </p:cNvSpPr>
          <p:nvPr/>
        </p:nvSpPr>
        <p:spPr bwMode="auto">
          <a:xfrm>
            <a:off x="1295400" y="30480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100"/>
          <p:cNvGrpSpPr>
            <a:grpSpLocks/>
          </p:cNvGrpSpPr>
          <p:nvPr/>
        </p:nvGrpSpPr>
        <p:grpSpPr bwMode="auto">
          <a:xfrm>
            <a:off x="6664325" y="3489325"/>
            <a:ext cx="1612900" cy="593725"/>
            <a:chOff x="4161" y="1314"/>
            <a:chExt cx="1016" cy="374"/>
          </a:xfrm>
        </p:grpSpPr>
        <p:sp>
          <p:nvSpPr>
            <p:cNvPr id="40037" name="Line 101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038" name="Rectangle 102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16" name="Group 103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40040" name="Rectangle 104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7" name="Group 105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40042" name="Line 106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8" name="Group 107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40044" name="Line 108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045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40046" name="Line 110"/>
          <p:cNvSpPr>
            <a:spLocks noChangeShapeType="1"/>
          </p:cNvSpPr>
          <p:nvPr/>
        </p:nvSpPr>
        <p:spPr bwMode="auto">
          <a:xfrm>
            <a:off x="3008313" y="3786188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111"/>
          <p:cNvGrpSpPr>
            <a:grpSpLocks/>
          </p:cNvGrpSpPr>
          <p:nvPr/>
        </p:nvGrpSpPr>
        <p:grpSpPr bwMode="auto">
          <a:xfrm>
            <a:off x="2070100" y="3497263"/>
            <a:ext cx="1100138" cy="576262"/>
            <a:chOff x="1344" y="1212"/>
            <a:chExt cx="693" cy="363"/>
          </a:xfrm>
        </p:grpSpPr>
        <p:sp>
          <p:nvSpPr>
            <p:cNvPr id="40048" name="Rectangle 112"/>
            <p:cNvSpPr>
              <a:spLocks noChangeArrowheads="1"/>
            </p:cNvSpPr>
            <p:nvPr/>
          </p:nvSpPr>
          <p:spPr bwMode="auto">
            <a:xfrm>
              <a:off x="1344" y="1212"/>
              <a:ext cx="504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/>
                <a:t>6</a:t>
              </a:r>
              <a:endParaRPr lang="en-US" sz="2400" b="1">
                <a:latin typeface="Times New Roman" charset="0"/>
              </a:endParaRPr>
            </a:p>
          </p:txBody>
        </p:sp>
        <p:sp>
          <p:nvSpPr>
            <p:cNvPr id="40049" name="Rectangle 113"/>
            <p:cNvSpPr>
              <a:spLocks noChangeArrowheads="1"/>
            </p:cNvSpPr>
            <p:nvPr/>
          </p:nvSpPr>
          <p:spPr bwMode="auto">
            <a:xfrm>
              <a:off x="1848" y="1212"/>
              <a:ext cx="189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116"/>
          <p:cNvGrpSpPr>
            <a:grpSpLocks/>
          </p:cNvGrpSpPr>
          <p:nvPr/>
        </p:nvGrpSpPr>
        <p:grpSpPr bwMode="auto">
          <a:xfrm>
            <a:off x="3532188" y="5073650"/>
            <a:ext cx="1473200" cy="581025"/>
            <a:chOff x="600" y="1356"/>
            <a:chExt cx="1099" cy="444"/>
          </a:xfrm>
        </p:grpSpPr>
        <p:grpSp>
          <p:nvGrpSpPr>
            <p:cNvPr id="21" name="Group 117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40054" name="Rectangle 118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55" name="Line 119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56" name="Line 120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121"/>
          <p:cNvGrpSpPr>
            <a:grpSpLocks/>
          </p:cNvGrpSpPr>
          <p:nvPr/>
        </p:nvGrpSpPr>
        <p:grpSpPr bwMode="auto">
          <a:xfrm>
            <a:off x="5059363" y="5073650"/>
            <a:ext cx="1473200" cy="581025"/>
            <a:chOff x="600" y="1356"/>
            <a:chExt cx="1099" cy="444"/>
          </a:xfrm>
        </p:grpSpPr>
        <p:grpSp>
          <p:nvGrpSpPr>
            <p:cNvPr id="23" name="Group 122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40059" name="Rectangle 123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60" name="Line 124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61" name="Line 125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062" name="Text Box 126"/>
          <p:cNvSpPr txBox="1">
            <a:spLocks noChangeArrowheads="1"/>
          </p:cNvSpPr>
          <p:nvPr/>
        </p:nvSpPr>
        <p:spPr bwMode="auto">
          <a:xfrm>
            <a:off x="3762375" y="513556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40063" name="Text Box 127"/>
          <p:cNvSpPr txBox="1">
            <a:spLocks noChangeArrowheads="1"/>
          </p:cNvSpPr>
          <p:nvPr/>
        </p:nvSpPr>
        <p:spPr bwMode="auto">
          <a:xfrm>
            <a:off x="5199063" y="5135563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40064" name="Line 128"/>
          <p:cNvSpPr>
            <a:spLocks noChangeShapeType="1"/>
          </p:cNvSpPr>
          <p:nvPr/>
        </p:nvSpPr>
        <p:spPr bwMode="auto">
          <a:xfrm>
            <a:off x="1219200" y="4625975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075" name="Line 139"/>
          <p:cNvSpPr>
            <a:spLocks noChangeShapeType="1"/>
          </p:cNvSpPr>
          <p:nvPr/>
        </p:nvSpPr>
        <p:spPr bwMode="auto">
          <a:xfrm>
            <a:off x="2932113" y="5364163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" name="Group 140"/>
          <p:cNvGrpSpPr>
            <a:grpSpLocks/>
          </p:cNvGrpSpPr>
          <p:nvPr/>
        </p:nvGrpSpPr>
        <p:grpSpPr bwMode="auto">
          <a:xfrm>
            <a:off x="1993900" y="5075238"/>
            <a:ext cx="1100138" cy="576262"/>
            <a:chOff x="1344" y="1212"/>
            <a:chExt cx="693" cy="363"/>
          </a:xfrm>
        </p:grpSpPr>
        <p:sp>
          <p:nvSpPr>
            <p:cNvPr id="40077" name="Rectangle 141"/>
            <p:cNvSpPr>
              <a:spLocks noChangeArrowheads="1"/>
            </p:cNvSpPr>
            <p:nvPr/>
          </p:nvSpPr>
          <p:spPr bwMode="auto">
            <a:xfrm>
              <a:off x="1344" y="1212"/>
              <a:ext cx="504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/>
                <a:t>6</a:t>
              </a:r>
              <a:endParaRPr lang="en-US" sz="2400" b="1">
                <a:latin typeface="Times New Roman" charset="0"/>
              </a:endParaRPr>
            </a:p>
          </p:txBody>
        </p:sp>
        <p:sp>
          <p:nvSpPr>
            <p:cNvPr id="40078" name="Rectangle 142"/>
            <p:cNvSpPr>
              <a:spLocks noChangeArrowheads="1"/>
            </p:cNvSpPr>
            <p:nvPr/>
          </p:nvSpPr>
          <p:spPr bwMode="auto">
            <a:xfrm>
              <a:off x="1848" y="1212"/>
              <a:ext cx="189" cy="3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079" name="Text Box 143"/>
          <p:cNvSpPr txBox="1">
            <a:spLocks noChangeArrowheads="1"/>
          </p:cNvSpPr>
          <p:nvPr/>
        </p:nvSpPr>
        <p:spPr bwMode="auto">
          <a:xfrm>
            <a:off x="381000" y="41910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pic>
        <p:nvPicPr>
          <p:cNvPr id="40080" name="Picture 14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5191125"/>
            <a:ext cx="476250" cy="523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Deleting from the top of the list</a:t>
            </a:r>
          </a:p>
          <a:p>
            <a:r>
              <a:rPr lang="en-US"/>
              <a:t>Deleting from the end of the list</a:t>
            </a:r>
          </a:p>
          <a:p>
            <a:r>
              <a:rPr lang="en-US">
                <a:solidFill>
                  <a:srgbClr val="FF0000"/>
                </a:solidFill>
              </a:rPr>
              <a:t>Deleting from the middle of the list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from the Middle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Steps</a:t>
            </a:r>
          </a:p>
          <a:p>
            <a:r>
              <a:rPr lang="en-US"/>
              <a:t>Set previous Node pointer to next node</a:t>
            </a:r>
          </a:p>
          <a:p>
            <a:r>
              <a:rPr lang="en-US"/>
              <a:t>Break Node pointer connection</a:t>
            </a:r>
          </a:p>
          <a:p>
            <a:r>
              <a:rPr lang="en-US"/>
              <a:t>Delete the node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Deletion Description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09800" y="2362200"/>
            <a:ext cx="1096963" cy="581025"/>
            <a:chOff x="600" y="1356"/>
            <a:chExt cx="818" cy="444"/>
          </a:xfrm>
        </p:grpSpPr>
        <p:sp>
          <p:nvSpPr>
            <p:cNvPr id="43013" name="Rectangle 5"/>
            <p:cNvSpPr>
              <a:spLocks noChangeArrowheads="1"/>
            </p:cNvSpPr>
            <p:nvPr/>
          </p:nvSpPr>
          <p:spPr bwMode="auto">
            <a:xfrm>
              <a:off x="600" y="1356"/>
              <a:ext cx="818" cy="4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1200" y="1356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15" name="Line 7"/>
          <p:cNvSpPr>
            <a:spLocks noChangeShapeType="1"/>
          </p:cNvSpPr>
          <p:nvPr/>
        </p:nvSpPr>
        <p:spPr bwMode="auto">
          <a:xfrm>
            <a:off x="3200400" y="26670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736975" y="2362200"/>
            <a:ext cx="1473200" cy="581025"/>
            <a:chOff x="600" y="1356"/>
            <a:chExt cx="1099" cy="444"/>
          </a:xfrm>
        </p:grpSpPr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43018" name="Rectangle 10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19" name="Line 11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2439988" y="2424113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3876675" y="2424113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43023" name="Line 15"/>
          <p:cNvSpPr>
            <a:spLocks noChangeShapeType="1"/>
          </p:cNvSpPr>
          <p:nvPr/>
        </p:nvSpPr>
        <p:spPr bwMode="auto">
          <a:xfrm>
            <a:off x="1447800" y="1828800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265738" y="2355850"/>
            <a:ext cx="1612900" cy="593725"/>
            <a:chOff x="4161" y="1314"/>
            <a:chExt cx="1016" cy="374"/>
          </a:xfrm>
        </p:grpSpPr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6" name="Rectangle 18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43028" name="Rectangle 20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" name="Group 21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43030" name="Line 22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8" name="Group 23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43032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303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533400" y="14478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2362200" y="3975100"/>
            <a:ext cx="1096963" cy="581025"/>
            <a:chOff x="600" y="1356"/>
            <a:chExt cx="818" cy="444"/>
          </a:xfrm>
        </p:grpSpPr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600" y="1356"/>
              <a:ext cx="818" cy="4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7" name="Line 29"/>
            <p:cNvSpPr>
              <a:spLocks noChangeShapeType="1"/>
            </p:cNvSpPr>
            <p:nvPr/>
          </p:nvSpPr>
          <p:spPr bwMode="auto">
            <a:xfrm>
              <a:off x="1200" y="1356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38" name="Line 30"/>
          <p:cNvSpPr>
            <a:spLocks noChangeShapeType="1"/>
          </p:cNvSpPr>
          <p:nvPr/>
        </p:nvSpPr>
        <p:spPr bwMode="auto">
          <a:xfrm>
            <a:off x="4876800" y="3365500"/>
            <a:ext cx="573088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3889375" y="3975100"/>
            <a:ext cx="1473200" cy="581025"/>
            <a:chOff x="600" y="1356"/>
            <a:chExt cx="1099" cy="444"/>
          </a:xfrm>
        </p:grpSpPr>
        <p:grpSp>
          <p:nvGrpSpPr>
            <p:cNvPr id="11" name="Group 32"/>
            <p:cNvGrpSpPr>
              <a:grpSpLocks/>
            </p:cNvGrpSpPr>
            <p:nvPr/>
          </p:nvGrpSpPr>
          <p:grpSpPr bwMode="auto">
            <a:xfrm>
              <a:off x="600" y="1356"/>
              <a:ext cx="818" cy="444"/>
              <a:chOff x="600" y="1356"/>
              <a:chExt cx="818" cy="444"/>
            </a:xfrm>
          </p:grpSpPr>
          <p:sp>
            <p:nvSpPr>
              <p:cNvPr id="43041" name="Rectangle 33"/>
              <p:cNvSpPr>
                <a:spLocks noChangeArrowheads="1"/>
              </p:cNvSpPr>
              <p:nvPr/>
            </p:nvSpPr>
            <p:spPr bwMode="auto">
              <a:xfrm>
                <a:off x="600" y="1356"/>
                <a:ext cx="818" cy="4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42" name="Line 34"/>
              <p:cNvSpPr>
                <a:spLocks noChangeShapeType="1"/>
              </p:cNvSpPr>
              <p:nvPr/>
            </p:nvSpPr>
            <p:spPr bwMode="auto">
              <a:xfrm>
                <a:off x="1200" y="1356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43" name="Line 35"/>
            <p:cNvSpPr>
              <a:spLocks noChangeShapeType="1"/>
            </p:cNvSpPr>
            <p:nvPr/>
          </p:nvSpPr>
          <p:spPr bwMode="auto">
            <a:xfrm>
              <a:off x="1309" y="1574"/>
              <a:ext cx="3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44" name="Text Box 36"/>
          <p:cNvSpPr txBox="1">
            <a:spLocks noChangeArrowheads="1"/>
          </p:cNvSpPr>
          <p:nvPr/>
        </p:nvSpPr>
        <p:spPr bwMode="auto">
          <a:xfrm>
            <a:off x="2592388" y="4037013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43045" name="Text Box 37"/>
          <p:cNvSpPr txBox="1">
            <a:spLocks noChangeArrowheads="1"/>
          </p:cNvSpPr>
          <p:nvPr/>
        </p:nvSpPr>
        <p:spPr bwMode="auto">
          <a:xfrm>
            <a:off x="4029075" y="4037013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17</a:t>
            </a:r>
            <a:endParaRPr lang="en-US"/>
          </a:p>
        </p:txBody>
      </p:sp>
      <p:sp>
        <p:nvSpPr>
          <p:cNvPr id="43046" name="Text Box 38"/>
          <p:cNvSpPr txBox="1">
            <a:spLocks noChangeArrowheads="1"/>
          </p:cNvSpPr>
          <p:nvPr/>
        </p:nvSpPr>
        <p:spPr bwMode="auto">
          <a:xfrm>
            <a:off x="685800" y="3213100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>
            <a:off x="1600200" y="3441700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" name="Group 40"/>
          <p:cNvGrpSpPr>
            <a:grpSpLocks/>
          </p:cNvGrpSpPr>
          <p:nvPr/>
        </p:nvGrpSpPr>
        <p:grpSpPr bwMode="auto">
          <a:xfrm>
            <a:off x="5418138" y="3968750"/>
            <a:ext cx="1612900" cy="593725"/>
            <a:chOff x="4161" y="1314"/>
            <a:chExt cx="1016" cy="374"/>
          </a:xfrm>
        </p:grpSpPr>
        <p:sp>
          <p:nvSpPr>
            <p:cNvPr id="43049" name="Line 41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0" name="Rectangle 42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13" name="Group 43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43052" name="Rectangle 44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" name="Group 45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43054" name="Line 46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5" name="Group 47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43056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3057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43058" name="Line 50"/>
          <p:cNvSpPr>
            <a:spLocks noChangeShapeType="1"/>
          </p:cNvSpPr>
          <p:nvPr/>
        </p:nvSpPr>
        <p:spPr bwMode="auto">
          <a:xfrm>
            <a:off x="3733800" y="3746500"/>
            <a:ext cx="1295400" cy="1066800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59" name="Line 51"/>
          <p:cNvSpPr>
            <a:spLocks noChangeShapeType="1"/>
          </p:cNvSpPr>
          <p:nvPr/>
        </p:nvSpPr>
        <p:spPr bwMode="auto">
          <a:xfrm flipH="1">
            <a:off x="3706813" y="3756025"/>
            <a:ext cx="1295400" cy="1066800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60" name="Freeform 52"/>
          <p:cNvSpPr>
            <a:spLocks/>
          </p:cNvSpPr>
          <p:nvPr/>
        </p:nvSpPr>
        <p:spPr bwMode="auto">
          <a:xfrm>
            <a:off x="3225800" y="3200400"/>
            <a:ext cx="1651000" cy="1079500"/>
          </a:xfrm>
          <a:custGeom>
            <a:avLst/>
            <a:gdLst/>
            <a:ahLst/>
            <a:cxnLst>
              <a:cxn ang="0">
                <a:pos x="80" y="680"/>
              </a:cxn>
              <a:cxn ang="0">
                <a:pos x="80" y="152"/>
              </a:cxn>
              <a:cxn ang="0">
                <a:pos x="560" y="8"/>
              </a:cxn>
              <a:cxn ang="0">
                <a:pos x="1040" y="104"/>
              </a:cxn>
            </a:cxnLst>
            <a:rect l="0" t="0" r="r" b="b"/>
            <a:pathLst>
              <a:path w="1040" h="680">
                <a:moveTo>
                  <a:pt x="80" y="680"/>
                </a:moveTo>
                <a:cubicBezTo>
                  <a:pt x="40" y="472"/>
                  <a:pt x="0" y="264"/>
                  <a:pt x="80" y="152"/>
                </a:cubicBezTo>
                <a:cubicBezTo>
                  <a:pt x="160" y="40"/>
                  <a:pt x="400" y="16"/>
                  <a:pt x="560" y="8"/>
                </a:cubicBezTo>
                <a:cubicBezTo>
                  <a:pt x="720" y="0"/>
                  <a:pt x="880" y="52"/>
                  <a:pt x="1040" y="10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2362200" y="5362575"/>
            <a:ext cx="1096963" cy="581025"/>
            <a:chOff x="600" y="1356"/>
            <a:chExt cx="818" cy="444"/>
          </a:xfrm>
        </p:grpSpPr>
        <p:sp>
          <p:nvSpPr>
            <p:cNvPr id="43062" name="Rectangle 54"/>
            <p:cNvSpPr>
              <a:spLocks noChangeArrowheads="1"/>
            </p:cNvSpPr>
            <p:nvPr/>
          </p:nvSpPr>
          <p:spPr bwMode="auto">
            <a:xfrm>
              <a:off x="600" y="1356"/>
              <a:ext cx="818" cy="4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3" name="Line 55"/>
            <p:cNvSpPr>
              <a:spLocks noChangeShapeType="1"/>
            </p:cNvSpPr>
            <p:nvPr/>
          </p:nvSpPr>
          <p:spPr bwMode="auto">
            <a:xfrm>
              <a:off x="1200" y="1356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64" name="Text Box 56"/>
          <p:cNvSpPr txBox="1">
            <a:spLocks noChangeArrowheads="1"/>
          </p:cNvSpPr>
          <p:nvPr/>
        </p:nvSpPr>
        <p:spPr bwMode="auto">
          <a:xfrm>
            <a:off x="2592388" y="5424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4</a:t>
            </a:r>
          </a:p>
        </p:txBody>
      </p:sp>
      <p:sp>
        <p:nvSpPr>
          <p:cNvPr id="43065" name="Line 57"/>
          <p:cNvSpPr>
            <a:spLocks noChangeShapeType="1"/>
          </p:cNvSpPr>
          <p:nvPr/>
        </p:nvSpPr>
        <p:spPr bwMode="auto">
          <a:xfrm>
            <a:off x="1600200" y="4829175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66" name="Text Box 58"/>
          <p:cNvSpPr txBox="1">
            <a:spLocks noChangeArrowheads="1"/>
          </p:cNvSpPr>
          <p:nvPr/>
        </p:nvSpPr>
        <p:spPr bwMode="auto">
          <a:xfrm>
            <a:off x="685800" y="4448175"/>
            <a:ext cx="895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head</a:t>
            </a:r>
            <a:endParaRPr lang="en-US" b="1"/>
          </a:p>
        </p:txBody>
      </p:sp>
      <p:sp>
        <p:nvSpPr>
          <p:cNvPr id="43067" name="Line 59"/>
          <p:cNvSpPr>
            <a:spLocks noChangeShapeType="1"/>
          </p:cNvSpPr>
          <p:nvPr/>
        </p:nvSpPr>
        <p:spPr bwMode="auto">
          <a:xfrm>
            <a:off x="3505200" y="5638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" name="Group 60"/>
          <p:cNvGrpSpPr>
            <a:grpSpLocks/>
          </p:cNvGrpSpPr>
          <p:nvPr/>
        </p:nvGrpSpPr>
        <p:grpSpPr bwMode="auto">
          <a:xfrm>
            <a:off x="4038600" y="5349875"/>
            <a:ext cx="1612900" cy="593725"/>
            <a:chOff x="4161" y="1314"/>
            <a:chExt cx="1016" cy="374"/>
          </a:xfrm>
        </p:grpSpPr>
        <p:sp>
          <p:nvSpPr>
            <p:cNvPr id="43069" name="Line 61"/>
            <p:cNvSpPr>
              <a:spLocks noChangeShapeType="1"/>
            </p:cNvSpPr>
            <p:nvPr/>
          </p:nvSpPr>
          <p:spPr bwMode="auto">
            <a:xfrm>
              <a:off x="4672" y="1322"/>
              <a:ext cx="0" cy="3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0" name="Rectangle 62"/>
            <p:cNvSpPr>
              <a:spLocks noChangeArrowheads="1"/>
            </p:cNvSpPr>
            <p:nvPr/>
          </p:nvSpPr>
          <p:spPr bwMode="auto">
            <a:xfrm>
              <a:off x="4218" y="1355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42</a:t>
              </a:r>
            </a:p>
          </p:txBody>
        </p:sp>
        <p:grpSp>
          <p:nvGrpSpPr>
            <p:cNvPr id="18" name="Group 63"/>
            <p:cNvGrpSpPr>
              <a:grpSpLocks/>
            </p:cNvGrpSpPr>
            <p:nvPr/>
          </p:nvGrpSpPr>
          <p:grpSpPr bwMode="auto">
            <a:xfrm>
              <a:off x="4161" y="1314"/>
              <a:ext cx="1016" cy="366"/>
              <a:chOff x="4161" y="1314"/>
              <a:chExt cx="1016" cy="366"/>
            </a:xfrm>
          </p:grpSpPr>
          <p:sp>
            <p:nvSpPr>
              <p:cNvPr id="43072" name="Rectangle 64"/>
              <p:cNvSpPr>
                <a:spLocks noChangeArrowheads="1"/>
              </p:cNvSpPr>
              <p:nvPr/>
            </p:nvSpPr>
            <p:spPr bwMode="auto">
              <a:xfrm>
                <a:off x="4161" y="1314"/>
                <a:ext cx="691" cy="36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" name="Group 65"/>
              <p:cNvGrpSpPr>
                <a:grpSpLocks/>
              </p:cNvGrpSpPr>
              <p:nvPr/>
            </p:nvGrpSpPr>
            <p:grpSpPr bwMode="auto">
              <a:xfrm>
                <a:off x="4760" y="1377"/>
                <a:ext cx="417" cy="257"/>
                <a:chOff x="4760" y="1377"/>
                <a:chExt cx="417" cy="257"/>
              </a:xfrm>
            </p:grpSpPr>
            <p:sp>
              <p:nvSpPr>
                <p:cNvPr id="43074" name="Line 66"/>
                <p:cNvSpPr>
                  <a:spLocks noChangeShapeType="1"/>
                </p:cNvSpPr>
                <p:nvPr/>
              </p:nvSpPr>
              <p:spPr bwMode="auto">
                <a:xfrm>
                  <a:off x="4760" y="1494"/>
                  <a:ext cx="417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0" name="Group 67"/>
                <p:cNvGrpSpPr>
                  <a:grpSpLocks/>
                </p:cNvGrpSpPr>
                <p:nvPr/>
              </p:nvGrpSpPr>
              <p:grpSpPr bwMode="auto">
                <a:xfrm>
                  <a:off x="5112" y="1377"/>
                  <a:ext cx="56" cy="257"/>
                  <a:chOff x="4434" y="2159"/>
                  <a:chExt cx="56" cy="257"/>
                </a:xfrm>
              </p:grpSpPr>
              <p:sp>
                <p:nvSpPr>
                  <p:cNvPr id="43076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3077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4490" y="2159"/>
                    <a:ext cx="0" cy="25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Node Implementation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/>
              <a:t>The following code is written in C++:</a:t>
            </a:r>
          </a:p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r>
              <a:rPr lang="en-US" sz="2400"/>
              <a:t>Struct Node</a:t>
            </a:r>
          </a:p>
          <a:p>
            <a:pPr>
              <a:buFontTx/>
              <a:buNone/>
            </a:pPr>
            <a:r>
              <a:rPr lang="en-US" sz="2400"/>
              <a:t>{</a:t>
            </a:r>
          </a:p>
          <a:p>
            <a:pPr>
              <a:buFontTx/>
              <a:buNone/>
            </a:pPr>
            <a:r>
              <a:rPr lang="en-US" sz="2400"/>
              <a:t>	int data;			</a:t>
            </a:r>
            <a:r>
              <a:rPr lang="en-US" sz="1800"/>
              <a:t>//any type of data could be another struct</a:t>
            </a:r>
          </a:p>
          <a:p>
            <a:pPr>
              <a:buFontTx/>
              <a:buNone/>
            </a:pPr>
            <a:r>
              <a:rPr lang="en-US" sz="2400"/>
              <a:t>	Node *next;		</a:t>
            </a:r>
            <a:r>
              <a:rPr lang="en-US" sz="1800"/>
              <a:t>//this is an important piece of code “pointer”</a:t>
            </a:r>
          </a:p>
          <a:p>
            <a:pPr>
              <a:buFontTx/>
              <a:buNone/>
            </a:pPr>
            <a:r>
              <a:rPr lang="en-US" sz="2400"/>
              <a:t>};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Office PowerPoint</Application>
  <PresentationFormat>On-screen Show (4:3)</PresentationFormat>
  <Paragraphs>269</Paragraphs>
  <Slides>50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Data Structure &amp; Algorithms   </vt:lpstr>
      <vt:lpstr>Unit 3 Queues &amp; Linked List</vt:lpstr>
      <vt:lpstr>What is a queue?</vt:lpstr>
      <vt:lpstr>Queue Specification </vt:lpstr>
      <vt:lpstr>Enqueue (ItemType newItem) </vt:lpstr>
      <vt:lpstr>Dequeue (ItemType&amp; item)</vt:lpstr>
      <vt:lpstr>Implementation issues</vt:lpstr>
      <vt:lpstr>Slide 8</vt:lpstr>
      <vt:lpstr>Slide 9</vt:lpstr>
      <vt:lpstr>Slide 10</vt:lpstr>
      <vt:lpstr>Slide 11</vt:lpstr>
      <vt:lpstr>Slide 12</vt:lpstr>
      <vt:lpstr>Queue overflow </vt:lpstr>
      <vt:lpstr>Queue underflow</vt:lpstr>
      <vt:lpstr>Linked Lists</vt:lpstr>
      <vt:lpstr>Introduction</vt:lpstr>
      <vt:lpstr>Introduction</vt:lpstr>
      <vt:lpstr>Lists and arrays</vt:lpstr>
      <vt:lpstr>Lists and arrays</vt:lpstr>
      <vt:lpstr>Introduction</vt:lpstr>
      <vt:lpstr>Nodes and pointers</vt:lpstr>
      <vt:lpstr>Introduction</vt:lpstr>
      <vt:lpstr>Single linked lists</vt:lpstr>
      <vt:lpstr>Introduction</vt:lpstr>
      <vt:lpstr>Double Linked Lists</vt:lpstr>
      <vt:lpstr>Introduction</vt:lpstr>
      <vt:lpstr>Circular Lists</vt:lpstr>
      <vt:lpstr>Introduction</vt:lpstr>
      <vt:lpstr>Advantages</vt:lpstr>
      <vt:lpstr>Insertion Description</vt:lpstr>
      <vt:lpstr>Insertion Description</vt:lpstr>
      <vt:lpstr>Insertion at the top</vt:lpstr>
      <vt:lpstr>Insertion Description</vt:lpstr>
      <vt:lpstr>Insertion Description</vt:lpstr>
      <vt:lpstr>Insertion at the end</vt:lpstr>
      <vt:lpstr>Insertion Description</vt:lpstr>
      <vt:lpstr>Insertion Description</vt:lpstr>
      <vt:lpstr>Insertion in the middle</vt:lpstr>
      <vt:lpstr>Insertion Description</vt:lpstr>
      <vt:lpstr>Deletion Description</vt:lpstr>
      <vt:lpstr>Deletion Description</vt:lpstr>
      <vt:lpstr>Deleting from the top</vt:lpstr>
      <vt:lpstr>Deletion Description</vt:lpstr>
      <vt:lpstr>Deletion Description</vt:lpstr>
      <vt:lpstr>Deleting from the end</vt:lpstr>
      <vt:lpstr>Deletion Description</vt:lpstr>
      <vt:lpstr>Deletion Description</vt:lpstr>
      <vt:lpstr>Deleting from the Middle</vt:lpstr>
      <vt:lpstr>Deletion Description</vt:lpstr>
      <vt:lpstr>Basic Node Implementation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   </dc:title>
  <dc:creator>HP</dc:creator>
  <cp:lastModifiedBy>HP</cp:lastModifiedBy>
  <cp:revision>1</cp:revision>
  <dcterms:created xsi:type="dcterms:W3CDTF">2021-11-12T07:31:53Z</dcterms:created>
  <dcterms:modified xsi:type="dcterms:W3CDTF">2021-11-12T07:33:36Z</dcterms:modified>
</cp:coreProperties>
</file>