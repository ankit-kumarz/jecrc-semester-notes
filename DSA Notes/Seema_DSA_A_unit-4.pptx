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94.xml" ContentType="application/vnd.openxmlformats-officedocument.presentationml.slide+xml"/>
  <Override PartName="/ppt/tags/tag8.xml" ContentType="application/vnd.openxmlformats-officedocument.presentationml.tags+xml"/>
  <Override PartName="/ppt/tags/tag140.xml" ContentType="application/vnd.openxmlformats-officedocument.presentationml.tags+xml"/>
  <Override PartName="/ppt/tags/tag238.xml" ContentType="application/vnd.openxmlformats-officedocument.presentationml.tags+xml"/>
  <Override PartName="/ppt/tags/tag285.xml" ContentType="application/vnd.openxmlformats-officedocument.presentationml.tags+xml"/>
  <Override PartName="/ppt/notesSlides/notesSlide38.xml" ContentType="application/vnd.openxmlformats-officedocument.presentationml.notesSlide+xml"/>
  <Override PartName="/ppt/tags/tag424.xml" ContentType="application/vnd.openxmlformats-officedocument.presentationml.tags+xml"/>
  <Override PartName="/ppt/tags/tag471.xml" ContentType="application/vnd.openxmlformats-officedocument.presentationml.tags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Layouts/slideLayout2.xml" ContentType="application/vnd.openxmlformats-officedocument.presentationml.slideLayout+xml"/>
  <Override PartName="/ppt/tags/tag216.xml" ContentType="application/vnd.openxmlformats-officedocument.presentationml.tags+xml"/>
  <Override PartName="/ppt/tags/tag263.xml" ContentType="application/vnd.openxmlformats-officedocument.presentationml.tags+xml"/>
  <Override PartName="/ppt/tags/tag402.xml" ContentType="application/vnd.openxmlformats-officedocument.presentationml.tags+xml"/>
  <Default Extension="xml" ContentType="application/xml"/>
  <Override PartName="/ppt/slides/slide50.xml" ContentType="application/vnd.openxmlformats-officedocument.presentationml.slide+xml"/>
  <Override PartName="/ppt/notesSlides/notesSlide16.xml" ContentType="application/vnd.openxmlformats-officedocument.presentationml.notesSlide+xml"/>
  <Override PartName="/ppt/notesSlides/notesSlide63.xml" ContentType="application/vnd.openxmlformats-officedocument.presentationml.notesSlide+xml"/>
  <Override PartName="/ppt/tags/tag38.xml" ContentType="application/vnd.openxmlformats-officedocument.presentationml.tags+xml"/>
  <Override PartName="/ppt/tags/tag85.xml" ContentType="application/vnd.openxmlformats-officedocument.presentationml.tags+xml"/>
  <Override PartName="/ppt/tags/tag241.xml" ContentType="application/vnd.openxmlformats-officedocument.presentationml.tags+xml"/>
  <Override PartName="/ppt/tags/tag339.xml" ContentType="application/vnd.openxmlformats-officedocument.presentationml.tags+xml"/>
  <Override PartName="/ppt/tags/tag386.xml" ContentType="application/vnd.openxmlformats-officedocument.presentationml.tags+xml"/>
  <Override PartName="/ppt/notesSlides/notesSlide41.xml" ContentType="application/vnd.openxmlformats-officedocument.presentationml.notesSlide+xml"/>
  <Override PartName="/ppt/tags/tag16.xml" ContentType="application/vnd.openxmlformats-officedocument.presentationml.tags+xml"/>
  <Override PartName="/ppt/tags/tag63.xml" ContentType="application/vnd.openxmlformats-officedocument.presentationml.tags+xml"/>
  <Override PartName="/ppt/tags/tag178.xml" ContentType="application/vnd.openxmlformats-officedocument.presentationml.tags+xml"/>
  <Override PartName="/ppt/tags/tag317.xml" ContentType="application/vnd.openxmlformats-officedocument.presentationml.tags+xml"/>
  <Override PartName="/ppt/tags/tag364.xml" ContentType="application/vnd.openxmlformats-officedocument.presentationml.tags+xml"/>
  <Override PartName="/ppt/tags/tag109.xml" ContentType="application/vnd.openxmlformats-officedocument.presentationml.tags+xml"/>
  <Override PartName="/ppt/tags/tag156.xml" ContentType="application/vnd.openxmlformats-officedocument.presentationml.tags+xml"/>
  <Override PartName="/ppt/notesSlides/notesSlide7.xml" ContentType="application/vnd.openxmlformats-officedocument.presentationml.notesSlide+xml"/>
  <Override PartName="/ppt/tags/tag41.xml" ContentType="application/vnd.openxmlformats-officedocument.presentationml.tags+xml"/>
  <Override PartName="/ppt/tags/tag279.xml" ContentType="application/vnd.openxmlformats-officedocument.presentationml.tags+xml"/>
  <Override PartName="/ppt/tags/tag342.xml" ContentType="application/vnd.openxmlformats-officedocument.presentationml.tags+xml"/>
  <Override PartName="/ppt/slides/slide88.xml" ContentType="application/vnd.openxmlformats-officedocument.presentationml.slide+xml"/>
  <Override PartName="/ppt/tags/tag134.xml" ContentType="application/vnd.openxmlformats-officedocument.presentationml.tags+xml"/>
  <Override PartName="/ppt/tags/tag181.xml" ContentType="application/vnd.openxmlformats-officedocument.presentationml.tags+xml"/>
  <Override PartName="/ppt/tags/tag320.xml" ContentType="application/vnd.openxmlformats-officedocument.presentationml.tags+xml"/>
  <Override PartName="/ppt/tags/tag418.xml" ContentType="application/vnd.openxmlformats-officedocument.presentationml.tags+xml"/>
  <Override PartName="/ppt/tags/tag465.xml" ContentType="application/vnd.openxmlformats-officedocument.presentationml.tags+xml"/>
  <Override PartName="/ppt/slides/slide19.xml" ContentType="application/vnd.openxmlformats-officedocument.presentationml.slide+xml"/>
  <Override PartName="/ppt/slides/slide66.xml" ContentType="application/vnd.openxmlformats-officedocument.presentationml.slide+xml"/>
  <Default Extension="png" ContentType="image/png"/>
  <Override PartName="/ppt/tags/tag112.xml" ContentType="application/vnd.openxmlformats-officedocument.presentationml.tags+xml"/>
  <Override PartName="/ppt/tags/tag257.xml" ContentType="application/vnd.openxmlformats-officedocument.presentationml.tags+xml"/>
  <Override PartName="/ppt/theme/theme2.xml" ContentType="application/vnd.openxmlformats-officedocument.theme+xml"/>
  <Override PartName="/ppt/notesSlides/notesSlide57.xml" ContentType="application/vnd.openxmlformats-officedocument.presentationml.notesSlide+xml"/>
  <Override PartName="/ppt/tags/tag5.xml" ContentType="application/vnd.openxmlformats-officedocument.presentationml.tags+xml"/>
  <Override PartName="/ppt/tags/tag79.xml" ContentType="application/vnd.openxmlformats-officedocument.presentationml.tags+xml"/>
  <Override PartName="/ppt/tags/tag443.xml" ContentType="application/vnd.openxmlformats-officedocument.presentationml.tags+xml"/>
  <Override PartName="/ppt/slides/slide44.xml" ContentType="application/vnd.openxmlformats-officedocument.presentationml.slide+xml"/>
  <Override PartName="/ppt/slides/slide91.xml" ContentType="application/vnd.openxmlformats-officedocument.presentationml.slide+xml"/>
  <Override PartName="/ppt/tags/tag235.xml" ContentType="application/vnd.openxmlformats-officedocument.presentationml.tags+xml"/>
  <Override PartName="/ppt/tags/tag282.xml" ContentType="application/vnd.openxmlformats-officedocument.presentationml.tags+xml"/>
  <Override PartName="/ppt/tags/tag421.xml" ContentType="application/vnd.openxmlformats-officedocument.presentationml.tags+xml"/>
  <Override PartName="/ppt/slides/slide22.xml" ContentType="application/vnd.openxmlformats-officedocument.presentationml.slide+xml"/>
  <Override PartName="/ppt/notesSlides/notesSlide35.xml" ContentType="application/vnd.openxmlformats-officedocument.presentationml.notesSlide+xml"/>
  <Override PartName="/ppt/tags/tag57.xml" ContentType="application/vnd.openxmlformats-officedocument.presentationml.tags+xml"/>
  <Override PartName="/ppt/tags/tag213.xml" ContentType="application/vnd.openxmlformats-officedocument.presentationml.tags+xml"/>
  <Override PartName="/ppt/tags/tag260.xml" ContentType="application/vnd.openxmlformats-officedocument.presentationml.tags+xml"/>
  <Override PartName="/ppt/tags/tag358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60.xml" ContentType="application/vnd.openxmlformats-officedocument.presentationml.notesSlide+xml"/>
  <Override PartName="/ppt/tags/tag35.xml" ContentType="application/vnd.openxmlformats-officedocument.presentationml.tags+xml"/>
  <Override PartName="/ppt/tags/tag82.xml" ContentType="application/vnd.openxmlformats-officedocument.presentationml.tags+xml"/>
  <Override PartName="/ppt/tags/tag197.xml" ContentType="application/vnd.openxmlformats-officedocument.presentationml.tags+xml"/>
  <Override PartName="/ppt/tags/tag336.xml" ContentType="application/vnd.openxmlformats-officedocument.presentationml.tags+xml"/>
  <Override PartName="/ppt/tags/tag383.xml" ContentType="application/vnd.openxmlformats-officedocument.presentationml.tags+xml"/>
  <Override PartName="/ppt/tags/tag128.xml" ContentType="application/vnd.openxmlformats-officedocument.presentationml.tags+xml"/>
  <Override PartName="/ppt/tags/tag175.xml" ContentType="application/vnd.openxmlformats-officedocument.presentationml.tags+xml"/>
  <Override PartName="/ppt/tags/tag459.xml" ContentType="application/vnd.openxmlformats-officedocument.presentationml.tags+xml"/>
  <Override PartName="/ppt/tags/tag13.xml" ContentType="application/vnd.openxmlformats-officedocument.presentationml.tags+xml"/>
  <Override PartName="/ppt/tags/tag60.xml" ContentType="application/vnd.openxmlformats-officedocument.presentationml.tags+xml"/>
  <Override PartName="/ppt/tags/tag298.xml" ContentType="application/vnd.openxmlformats-officedocument.presentationml.tags+xml"/>
  <Override PartName="/ppt/tags/tag314.xml" ContentType="application/vnd.openxmlformats-officedocument.presentationml.tags+xml"/>
  <Override PartName="/ppt/tags/tag361.xml" ContentType="application/vnd.openxmlformats-officedocument.presentationml.tags+xml"/>
  <Override PartName="/ppt/notesSlides/notesSlide4.xml" ContentType="application/vnd.openxmlformats-officedocument.presentationml.notesSlide+xml"/>
  <Override PartName="/ppt/tags/tag106.xml" ContentType="application/vnd.openxmlformats-officedocument.presentationml.tags+xml"/>
  <Override PartName="/ppt/tags/tag153.xml" ContentType="application/vnd.openxmlformats-officedocument.presentationml.tags+xml"/>
  <Override PartName="/ppt/tags/tag437.xml" ContentType="application/vnd.openxmlformats-officedocument.presentationml.tags+xml"/>
  <Override PartName="/ppt/tags/tag484.xml" ContentType="application/vnd.openxmlformats-officedocument.presentationml.tags+xml"/>
  <Override PartName="/ppt/slides/slide38.xml" ContentType="application/vnd.openxmlformats-officedocument.presentationml.slide+xml"/>
  <Override PartName="/ppt/slides/slide85.xml" ContentType="application/vnd.openxmlformats-officedocument.presentationml.slide+xml"/>
  <Override PartName="/ppt/tags/tag131.xml" ContentType="application/vnd.openxmlformats-officedocument.presentationml.tags+xml"/>
  <Override PartName="/ppt/tags/tag229.xml" ContentType="application/vnd.openxmlformats-officedocument.presentationml.tags+xml"/>
  <Override PartName="/ppt/tags/tag276.xml" ContentType="application/vnd.openxmlformats-officedocument.presentationml.tags+xml"/>
  <Override PartName="/ppt/tags/tag415.xml" ContentType="application/vnd.openxmlformats-officedocument.presentationml.tags+xml"/>
  <Override PartName="/ppt/tags/tag462.xml" ContentType="application/vnd.openxmlformats-officedocument.presentationml.tags+xml"/>
  <Override PartName="/ppt/notesSlides/notesSlide29.xml" ContentType="application/vnd.openxmlformats-officedocument.presentationml.notesSlide+xml"/>
  <Override PartName="/ppt/tags/tag98.xml" ContentType="application/vnd.openxmlformats-officedocument.presentationml.tags+xml"/>
  <Override PartName="/ppt/tags/tag207.xml" ContentType="application/vnd.openxmlformats-officedocument.presentationml.tags+xml"/>
  <Override PartName="/ppt/tags/tag254.xml" ContentType="application/vnd.openxmlformats-officedocument.presentationml.tags+xml"/>
  <Override PartName="/ppt/tags/tag399.xml" ContentType="application/vnd.openxmlformats-officedocument.presentationml.tags+xml"/>
  <Override PartName="/ppt/slides/slide16.xml" ContentType="application/vnd.openxmlformats-officedocument.presentationml.slide+xml"/>
  <Override PartName="/ppt/slides/slide63.xml" ContentType="application/vnd.openxmlformats-officedocument.presentationml.slide+xml"/>
  <Override PartName="/ppt/tags/tag2.xml" ContentType="application/vnd.openxmlformats-officedocument.presentationml.tags+xml"/>
  <Override PartName="/ppt/tags/tag440.xml" ContentType="application/vnd.openxmlformats-officedocument.presentationml.tags+xml"/>
  <Override PartName="/ppt/slides/slide41.xml" ContentType="application/vnd.openxmlformats-officedocument.presentationml.slide+xml"/>
  <Override PartName="/ppt/notesSlides/notesSlide54.xml" ContentType="application/vnd.openxmlformats-officedocument.presentationml.notesSlide+xml"/>
  <Override PartName="/ppt/tags/tag29.xml" ContentType="application/vnd.openxmlformats-officedocument.presentationml.tags+xml"/>
  <Override PartName="/ppt/tags/tag76.xml" ContentType="application/vnd.openxmlformats-officedocument.presentationml.tags+xml"/>
  <Override PartName="/ppt/tags/tag232.xml" ContentType="application/vnd.openxmlformats-officedocument.presentationml.tags+xml"/>
  <Override PartName="/ppt/tags/tag377.xml" ContentType="application/vnd.openxmlformats-officedocument.presentationml.tags+xml"/>
  <Override PartName="/ppt/notesSlides/notesSlide32.xml" ContentType="application/vnd.openxmlformats-officedocument.presentationml.notesSlide+xml"/>
  <Override PartName="/ppt/tags/tag54.xml" ContentType="application/vnd.openxmlformats-officedocument.presentationml.tags+xml"/>
  <Override PartName="/ppt/tags/tag169.xml" ContentType="application/vnd.openxmlformats-officedocument.presentationml.tags+xml"/>
  <Override PartName="/ppt/tags/tag210.xml" ContentType="application/vnd.openxmlformats-officedocument.presentationml.tags+xml"/>
  <Override PartName="/ppt/tags/tag308.xml" ContentType="application/vnd.openxmlformats-officedocument.presentationml.tags+xml"/>
  <Override PartName="/ppt/tags/tag355.xml" ContentType="application/vnd.openxmlformats-officedocument.presentationml.tags+xml"/>
  <Override PartName="/ppt/tags/tag147.xml" ContentType="application/vnd.openxmlformats-officedocument.presentationml.tags+xml"/>
  <Override PartName="/ppt/tags/tag194.xml" ContentType="application/vnd.openxmlformats-officedocument.presentationml.tags+xml"/>
  <Override PartName="/ppt/tags/tag478.xml" ContentType="application/vnd.openxmlformats-officedocument.presentationml.tags+xml"/>
  <Override PartName="/ppt/slides/slide79.xml" ContentType="application/vnd.openxmlformats-officedocument.presentationml.slide+xml"/>
  <Override PartName="/ppt/notesSlides/notesSlide10.xml" ContentType="application/vnd.openxmlformats-officedocument.presentationml.notesSlide+xml"/>
  <Override PartName="/ppt/tags/tag32.xml" ContentType="application/vnd.openxmlformats-officedocument.presentationml.tags+xml"/>
  <Override PartName="/ppt/tags/tag333.xml" ContentType="application/vnd.openxmlformats-officedocument.presentationml.tags+xml"/>
  <Override PartName="/ppt/tags/tag380.xml" ContentType="application/vnd.openxmlformats-officedocument.presentationml.tags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tags/tag10.xml" ContentType="application/vnd.openxmlformats-officedocument.presentationml.tags+xml"/>
  <Override PartName="/ppt/tags/tag125.xml" ContentType="application/vnd.openxmlformats-officedocument.presentationml.tags+xml"/>
  <Override PartName="/ppt/tags/tag172.xml" ContentType="application/vnd.openxmlformats-officedocument.presentationml.tags+xml"/>
  <Override PartName="/ppt/tags/tag311.xml" ContentType="application/vnd.openxmlformats-officedocument.presentationml.tags+xml"/>
  <Override PartName="/ppt/tags/tag409.xml" ContentType="application/vnd.openxmlformats-officedocument.presentationml.tags+xml"/>
  <Override PartName="/ppt/tags/tag456.xml" ContentType="application/vnd.openxmlformats-officedocument.presentationml.tags+xml"/>
  <Override PartName="/ppt/slides/slide57.xml" ContentType="application/vnd.openxmlformats-officedocument.presentationml.slide+xml"/>
  <Override PartName="/ppt/slides/slide105.xml" ContentType="application/vnd.openxmlformats-officedocument.presentationml.slide+xml"/>
  <Override PartName="/ppt/notesSlides/notesSlide1.xml" ContentType="application/vnd.openxmlformats-officedocument.presentationml.notesSlide+xml"/>
  <Override PartName="/ppt/tags/tag103.xml" ContentType="application/vnd.openxmlformats-officedocument.presentationml.tags+xml"/>
  <Override PartName="/ppt/tags/tag150.xml" ContentType="application/vnd.openxmlformats-officedocument.presentationml.tags+xml"/>
  <Override PartName="/ppt/tags/tag248.xml" ContentType="application/vnd.openxmlformats-officedocument.presentationml.tags+xml"/>
  <Override PartName="/ppt/tags/tag295.xml" ContentType="application/vnd.openxmlformats-officedocument.presentationml.tags+xml"/>
  <Override PartName="/ppt/tags/tag434.xml" ContentType="application/vnd.openxmlformats-officedocument.presentationml.tags+xml"/>
  <Override PartName="/ppt/tags/tag481.xml" ContentType="application/vnd.openxmlformats-officedocument.presentationml.tags+xml"/>
  <Override PartName="/ppt/notesSlides/notesSlide48.xml" ContentType="application/vnd.openxmlformats-officedocument.presentationml.notesSlide+xml"/>
  <Override PartName="/ppt/tags/tag226.xml" ContentType="application/vnd.openxmlformats-officedocument.presentationml.tags+xml"/>
  <Override PartName="/ppt/tags/tag273.xml" ContentType="application/vnd.openxmlformats-officedocument.presentationml.tags+xml"/>
  <Override PartName="/ppt/slides/slide35.xml" ContentType="application/vnd.openxmlformats-officedocument.presentationml.slide+xml"/>
  <Override PartName="/ppt/slides/slide82.xml" ContentType="application/vnd.openxmlformats-officedocument.presentationml.slide+xml"/>
  <Override PartName="/ppt/tags/tag412.xml" ContentType="application/vnd.openxmlformats-officedocument.presentationml.tags+xml"/>
  <Override PartName="/ppt/slides/slide13.xml" ContentType="application/vnd.openxmlformats-officedocument.presentationml.slide+xml"/>
  <Override PartName="/ppt/slides/slide60.xml" ContentType="application/vnd.openxmlformats-officedocument.presentationml.slide+xml"/>
  <Override PartName="/ppt/notesSlides/notesSlide26.xml" ContentType="application/vnd.openxmlformats-officedocument.presentationml.notesSlide+xml"/>
  <Override PartName="/ppt/tags/tag48.xml" ContentType="application/vnd.openxmlformats-officedocument.presentationml.tags+xml"/>
  <Override PartName="/ppt/tags/tag95.xml" ContentType="application/vnd.openxmlformats-officedocument.presentationml.tags+xml"/>
  <Override PartName="/ppt/tags/tag188.xml" ContentType="application/vnd.openxmlformats-officedocument.presentationml.tags+xml"/>
  <Override PartName="/ppt/tags/tag204.xml" ContentType="application/vnd.openxmlformats-officedocument.presentationml.tags+xml"/>
  <Override PartName="/ppt/tags/tag251.xml" ContentType="application/vnd.openxmlformats-officedocument.presentationml.tags+xml"/>
  <Override PartName="/ppt/tags/tag349.xml" ContentType="application/vnd.openxmlformats-officedocument.presentationml.tags+xml"/>
  <Override PartName="/ppt/tags/tag396.xml" ContentType="application/vnd.openxmlformats-officedocument.presentationml.tags+xml"/>
  <Override PartName="/ppt/notesSlides/notesSlide51.xml" ContentType="application/vnd.openxmlformats-officedocument.presentationml.notesSlide+xml"/>
  <Override PartName="/ppt/tags/tag26.xml" ContentType="application/vnd.openxmlformats-officedocument.presentationml.tags+xml"/>
  <Override PartName="/ppt/tags/tag73.xml" ContentType="application/vnd.openxmlformats-officedocument.presentationml.tags+xml"/>
  <Override PartName="/ppt/tags/tag327.xml" ContentType="application/vnd.openxmlformats-officedocument.presentationml.tags+xml"/>
  <Override PartName="/ppt/tags/tag374.xml" ContentType="application/vnd.openxmlformats-officedocument.presentationml.tags+xml"/>
  <Override PartName="/ppt/tags/tag119.xml" ContentType="application/vnd.openxmlformats-officedocument.presentationml.tags+xml"/>
  <Override PartName="/ppt/tags/tag166.xml" ContentType="application/vnd.openxmlformats-officedocument.presentationml.tags+xml"/>
  <Override PartName="/ppt/slides/slide98.xml" ContentType="application/vnd.openxmlformats-officedocument.presentationml.slide+xml"/>
  <Override PartName="/ppt/tags/tag51.xml" ContentType="application/vnd.openxmlformats-officedocument.presentationml.tags+xml"/>
  <Override PartName="/ppt/tags/tag289.xml" ContentType="application/vnd.openxmlformats-officedocument.presentationml.tags+xml"/>
  <Override PartName="/ppt/tags/tag305.xml" ContentType="application/vnd.openxmlformats-officedocument.presentationml.tags+xml"/>
  <Override PartName="/ppt/tags/tag352.xml" ContentType="application/vnd.openxmlformats-officedocument.presentationml.tags+xml"/>
  <Override PartName="/ppt/tags/tag144.xml" ContentType="application/vnd.openxmlformats-officedocument.presentationml.tags+xml"/>
  <Override PartName="/ppt/tags/tag191.xml" ContentType="application/vnd.openxmlformats-officedocument.presentationml.tags+xml"/>
  <Override PartName="/ppt/tags/tag330.xml" ContentType="application/vnd.openxmlformats-officedocument.presentationml.tags+xml"/>
  <Override PartName="/ppt/tags/tag428.xml" ContentType="application/vnd.openxmlformats-officedocument.presentationml.tags+xml"/>
  <Override PartName="/ppt/tags/tag475.xml" ContentType="application/vnd.openxmlformats-officedocument.presentationml.tags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tags/tag122.xml" ContentType="application/vnd.openxmlformats-officedocument.presentationml.tags+xml"/>
  <Override PartName="/ppt/tags/tag267.xml" ContentType="application/vnd.openxmlformats-officedocument.presentationml.tags+xml"/>
  <Override PartName="/ppt/tags/tag406.xml" ContentType="application/vnd.openxmlformats-officedocument.presentationml.tags+xml"/>
  <Override PartName="/ppt/tags/tag453.xml" ContentType="application/vnd.openxmlformats-officedocument.presentationml.tags+xml"/>
  <Override PartName="/ppt/slides/slide4.xml" ContentType="application/vnd.openxmlformats-officedocument.presentationml.slide+xml"/>
  <Override PartName="/ppt/slides/slide54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67.xml" ContentType="application/vnd.openxmlformats-officedocument.presentationml.notesSlide+xml"/>
  <Override PartName="/ppt/tags/tag89.xml" ContentType="application/vnd.openxmlformats-officedocument.presentationml.tags+xml"/>
  <Override PartName="/ppt/tags/tag245.xml" ContentType="application/vnd.openxmlformats-officedocument.presentationml.tags+xml"/>
  <Override PartName="/ppt/tags/tag292.xml" ContentType="application/vnd.openxmlformats-officedocument.presentationml.tags+xml"/>
  <Override PartName="/ppt/notesSlides/notesSlide45.xml" ContentType="application/vnd.openxmlformats-officedocument.presentationml.notesSlide+xml"/>
  <Override PartName="/ppt/tags/tag100.xml" ContentType="application/vnd.openxmlformats-officedocument.presentationml.tags+xml"/>
  <Override PartName="/ppt/tags/tag368.xml" ContentType="application/vnd.openxmlformats-officedocument.presentationml.tags+xml"/>
  <Override PartName="/ppt/tags/tag431.xml" ContentType="application/vnd.openxmlformats-officedocument.presentationml.tags+xml"/>
  <Override PartName="/ppt/slides/slide32.xml" ContentType="application/vnd.openxmlformats-officedocument.presentationml.slide+xml"/>
  <Override PartName="/ppt/tags/tag67.xml" ContentType="application/vnd.openxmlformats-officedocument.presentationml.tags+xml"/>
  <Override PartName="/ppt/tags/tag223.xml" ContentType="application/vnd.openxmlformats-officedocument.presentationml.tags+xml"/>
  <Override PartName="/ppt/tags/tag270.xml" ContentType="application/vnd.openxmlformats-officedocument.presentationml.tags+xml"/>
  <Override PartName="/ppt/slides/slide10.xml" ContentType="application/vnd.openxmlformats-officedocument.presentationml.slide+xml"/>
  <Override PartName="/ppt/notesSlides/notesSlide23.xml" ContentType="application/vnd.openxmlformats-officedocument.presentationml.notesSlide+xml"/>
  <Override PartName="/ppt/notesSlides/notesSlide70.xml" ContentType="application/vnd.openxmlformats-officedocument.presentationml.notesSlide+xml"/>
  <Override PartName="/ppt/tags/tag45.xml" ContentType="application/vnd.openxmlformats-officedocument.presentationml.tags+xml"/>
  <Override PartName="/ppt/tags/tag92.xml" ContentType="application/vnd.openxmlformats-officedocument.presentationml.tags+xml"/>
  <Override PartName="/ppt/tags/tag201.xml" ContentType="application/vnd.openxmlformats-officedocument.presentationml.tags+xml"/>
  <Override PartName="/ppt/tags/tag346.xml" ContentType="application/vnd.openxmlformats-officedocument.presentationml.tags+xml"/>
  <Override PartName="/ppt/tags/tag393.xml" ContentType="application/vnd.openxmlformats-officedocument.presentationml.tags+xml"/>
  <Override PartName="/ppt/tags/tag138.xml" ContentType="application/vnd.openxmlformats-officedocument.presentationml.tags+xml"/>
  <Override PartName="/ppt/tags/tag185.xml" ContentType="application/vnd.openxmlformats-officedocument.presentationml.tags+xml"/>
  <Override PartName="/ppt/tags/tag324.xml" ContentType="application/vnd.openxmlformats-officedocument.presentationml.tags+xml"/>
  <Override PartName="/ppt/tags/tag371.xml" ContentType="application/vnd.openxmlformats-officedocument.presentationml.tags+xml"/>
  <Override PartName="/ppt/tags/tag469.xml" ContentType="application/vnd.openxmlformats-officedocument.presentationml.tags+xml"/>
  <Override PartName="/ppt/tags/tag23.xml" ContentType="application/vnd.openxmlformats-officedocument.presentationml.tags+xml"/>
  <Override PartName="/ppt/tags/tag70.xml" ContentType="application/vnd.openxmlformats-officedocument.presentationml.tags+xml"/>
  <Override PartName="/ppt/tags/tag116.xml" ContentType="application/vnd.openxmlformats-officedocument.presentationml.tags+xml"/>
  <Override PartName="/ppt/tags/tag163.xml" ContentType="application/vnd.openxmlformats-officedocument.presentationml.tags+xml"/>
  <Override PartName="/ppt/tags/tag9.xml" ContentType="application/vnd.openxmlformats-officedocument.presentationml.tags+xml"/>
  <Override PartName="/ppt/tags/tag302.xml" ContentType="application/vnd.openxmlformats-officedocument.presentationml.tags+xml"/>
  <Override PartName="/ppt/tags/tag447.xml" ContentType="application/vnd.openxmlformats-officedocument.presentationml.tags+xml"/>
  <Override PartName="/ppt/slides/slide48.xml" ContentType="application/vnd.openxmlformats-officedocument.presentationml.slide+xml"/>
  <Override PartName="/ppt/slides/slide95.xml" ContentType="application/vnd.openxmlformats-officedocument.presentationml.slide+xml"/>
  <Default Extension="bin" ContentType="application/vnd.openxmlformats-officedocument.oleObject"/>
  <Override PartName="/ppt/tags/tag141.xml" ContentType="application/vnd.openxmlformats-officedocument.presentationml.tags+xml"/>
  <Override PartName="/ppt/tags/tag239.xml" ContentType="application/vnd.openxmlformats-officedocument.presentationml.tags+xml"/>
  <Override PartName="/ppt/tags/tag286.xml" ContentType="application/vnd.openxmlformats-officedocument.presentationml.tags+xml"/>
  <Override PartName="/ppt/tags/tag425.xml" ContentType="application/vnd.openxmlformats-officedocument.presentationml.tags+xml"/>
  <Override PartName="/ppt/tags/tag472.xml" ContentType="application/vnd.openxmlformats-officedocument.presentationml.tags+xml"/>
  <Override PartName="/ppt/slides/slide26.xml" ContentType="application/vnd.openxmlformats-officedocument.presentationml.slide+xml"/>
  <Override PartName="/ppt/slides/slide73.xml" ContentType="application/vnd.openxmlformats-officedocument.presentationml.slide+xml"/>
  <Override PartName="/ppt/notesSlides/notesSlide39.xml" ContentType="application/vnd.openxmlformats-officedocument.presentationml.notesSlide+xml"/>
  <Override PartName="/ppt/tags/tag217.xml" ContentType="application/vnd.openxmlformats-officedocument.presentationml.tags+xml"/>
  <Override PartName="/ppt/tags/tag264.xml" ContentType="application/vnd.openxmlformats-officedocument.presentationml.tags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64.xml" ContentType="application/vnd.openxmlformats-officedocument.presentationml.notesSlide+xml"/>
  <Override PartName="/ppt/tags/tag39.xml" ContentType="application/vnd.openxmlformats-officedocument.presentationml.tags+xml"/>
  <Override PartName="/ppt/tags/tag86.xml" ContentType="application/vnd.openxmlformats-officedocument.presentationml.tags+xml"/>
  <Override PartName="/ppt/tags/tag387.xml" ContentType="application/vnd.openxmlformats-officedocument.presentationml.tags+xml"/>
  <Override PartName="/ppt/tags/tag403.xml" ContentType="application/vnd.openxmlformats-officedocument.presentationml.tags+xml"/>
  <Override PartName="/ppt/tags/tag450.xml" ContentType="application/vnd.openxmlformats-officedocument.presentationml.tags+xml"/>
  <Override PartName="/ppt/slides/slide51.xml" ContentType="application/vnd.openxmlformats-officedocument.presentationml.slide+xml"/>
  <Override PartName="/ppt/tags/tag179.xml" ContentType="application/vnd.openxmlformats-officedocument.presentationml.tags+xml"/>
  <Override PartName="/ppt/tags/tag242.xml" ContentType="application/vnd.openxmlformats-officedocument.presentationml.tags+xml"/>
  <Override PartName="/ppt/notesSlides/notesSlide42.xml" ContentType="application/vnd.openxmlformats-officedocument.presentationml.notesSlide+xml"/>
  <Override PartName="/ppt/tags/tag17.xml" ContentType="application/vnd.openxmlformats-officedocument.presentationml.tags+xml"/>
  <Override PartName="/ppt/tags/tag64.xml" ContentType="application/vnd.openxmlformats-officedocument.presentationml.tags+xml"/>
  <Override PartName="/ppt/tags/tag220.xml" ContentType="application/vnd.openxmlformats-officedocument.presentationml.tags+xml"/>
  <Override PartName="/ppt/tags/tag318.xml" ContentType="application/vnd.openxmlformats-officedocument.presentationml.tags+xml"/>
  <Override PartName="/ppt/tags/tag365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57.xml" ContentType="application/vnd.openxmlformats-officedocument.presentationml.tags+xml"/>
  <Override PartName="/ppt/tags/tag343.xml" ContentType="application/vnd.openxmlformats-officedocument.presentationml.tags+xml"/>
  <Override PartName="/ppt/tags/tag390.xml" ContentType="application/vnd.openxmlformats-officedocument.presentationml.tags+xml"/>
  <Override PartName="/ppt/slides/slide89.xml" ContentType="application/vnd.openxmlformats-officedocument.presentationml.slide+xml"/>
  <Override PartName="/ppt/tags/tag42.xml" ContentType="application/vnd.openxmlformats-officedocument.presentationml.tags+xml"/>
  <Override PartName="/ppt/tags/tag135.xml" ContentType="application/vnd.openxmlformats-officedocument.presentationml.tags+xml"/>
  <Override PartName="/ppt/tags/tag182.xml" ContentType="application/vnd.openxmlformats-officedocument.presentationml.tags+xml"/>
  <Override PartName="/ppt/tags/tag20.xml" ContentType="application/vnd.openxmlformats-officedocument.presentationml.tags+xml"/>
  <Override PartName="/ppt/tags/tag321.xml" ContentType="application/vnd.openxmlformats-officedocument.presentationml.tags+xml"/>
  <Override PartName="/ppt/tags/tag419.xml" ContentType="application/vnd.openxmlformats-officedocument.presentationml.tags+xml"/>
  <Override PartName="/ppt/tags/tag466.xml" ContentType="application/vnd.openxmlformats-officedocument.presentationml.tags+xml"/>
  <Override PartName="/ppt/slides/slide67.xml" ContentType="application/vnd.openxmlformats-officedocument.presentationml.slide+xml"/>
  <Override PartName="/ppt/tags/tag6.xml" ContentType="application/vnd.openxmlformats-officedocument.presentationml.tags+xml"/>
  <Override PartName="/ppt/tags/tag113.xml" ContentType="application/vnd.openxmlformats-officedocument.presentationml.tags+xml"/>
  <Override PartName="/ppt/tags/tag160.xml" ContentType="application/vnd.openxmlformats-officedocument.presentationml.tags+xml"/>
  <Override PartName="/ppt/tags/tag258.xml" ContentType="application/vnd.openxmlformats-officedocument.presentationml.tags+xml"/>
  <Override PartName="/ppt/tags/tag444.xml" ContentType="application/vnd.openxmlformats-officedocument.presentationml.tags+xml"/>
  <Override PartName="/ppt/slides/slide45.xml" ContentType="application/vnd.openxmlformats-officedocument.presentationml.slide+xml"/>
  <Override PartName="/ppt/slides/slide92.xml" ContentType="application/vnd.openxmlformats-officedocument.presentationml.slide+xml"/>
  <Override PartName="/ppt/notesSlides/notesSlide58.xml" ContentType="application/vnd.openxmlformats-officedocument.presentationml.notesSlide+xml"/>
  <Override PartName="/ppt/tags/tag236.xml" ContentType="application/vnd.openxmlformats-officedocument.presentationml.tags+xml"/>
  <Override PartName="/ppt/tags/tag283.xml" ContentType="application/vnd.openxmlformats-officedocument.presentationml.tags+xml"/>
  <Override PartName="/ppt/notesSlides/notesSlide36.xml" ContentType="application/vnd.openxmlformats-officedocument.presentationml.notesSlide+xml"/>
  <Override PartName="/ppt/tags/tag58.xml" ContentType="application/vnd.openxmlformats-officedocument.presentationml.tags+xml"/>
  <Override PartName="/ppt/tags/tag359.xml" ContentType="application/vnd.openxmlformats-officedocument.presentationml.tags+xml"/>
  <Override PartName="/ppt/tags/tag422.xml" ContentType="application/vnd.openxmlformats-officedocument.presentationml.tags+xml"/>
  <Override PartName="/ppt/slides/slide23.xml" ContentType="application/vnd.openxmlformats-officedocument.presentationml.slide+xml"/>
  <Override PartName="/ppt/slides/slide70.xml" ContentType="application/vnd.openxmlformats-officedocument.presentationml.slide+xml"/>
  <Override PartName="/ppt/notesSlides/notesSlide25.xml" ContentType="application/vnd.openxmlformats-officedocument.presentationml.notesSlide+xml"/>
  <Override PartName="/ppt/tags/tag47.xml" ContentType="application/vnd.openxmlformats-officedocument.presentationml.tags+xml"/>
  <Override PartName="/ppt/tags/tag94.xml" ContentType="application/vnd.openxmlformats-officedocument.presentationml.tags+xml"/>
  <Override PartName="/ppt/tags/tag198.xml" ContentType="application/vnd.openxmlformats-officedocument.presentationml.tags+xml"/>
  <Override PartName="/ppt/tags/tag203.xml" ContentType="application/vnd.openxmlformats-officedocument.presentationml.tags+xml"/>
  <Override PartName="/ppt/tags/tag214.xml" ContentType="application/vnd.openxmlformats-officedocument.presentationml.tags+xml"/>
  <Override PartName="/ppt/tags/tag250.xml" ContentType="application/vnd.openxmlformats-officedocument.presentationml.tags+xml"/>
  <Override PartName="/ppt/tags/tag261.xml" ContentType="application/vnd.openxmlformats-officedocument.presentationml.tags+xml"/>
  <Override PartName="/ppt/tags/tag348.xml" ContentType="application/vnd.openxmlformats-officedocument.presentationml.tags+xml"/>
  <Override PartName="/ppt/tags/tag395.xml" ContentType="application/vnd.openxmlformats-officedocument.presentationml.tags+xml"/>
  <Override PartName="/ppt/tags/tag400.xml" ContentType="application/vnd.openxmlformats-officedocument.presentationml.tags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61.xml" ContentType="application/vnd.openxmlformats-officedocument.presentationml.notesSlide+xml"/>
  <Override PartName="/ppt/tags/tag36.xml" ContentType="application/vnd.openxmlformats-officedocument.presentationml.tags+xml"/>
  <Override PartName="/ppt/tags/tag83.xml" ContentType="application/vnd.openxmlformats-officedocument.presentationml.tags+xml"/>
  <Override PartName="/ppt/tags/tag187.xml" ContentType="application/vnd.openxmlformats-officedocument.presentationml.tags+xml"/>
  <Override PartName="/ppt/tags/tag337.xml" ContentType="application/vnd.openxmlformats-officedocument.presentationml.tags+xml"/>
  <Override PartName="/ppt/tags/tag384.xml" ContentType="application/vnd.openxmlformats-officedocument.presentationml.tags+xml"/>
  <Override PartName="/ppt/notesSlides/notesSlide50.xml" ContentType="application/vnd.openxmlformats-officedocument.presentationml.notesSlide+xml"/>
  <Override PartName="/ppt/tags/tag14.xml" ContentType="application/vnd.openxmlformats-officedocument.presentationml.tags+xml"/>
  <Override PartName="/ppt/tags/tag25.xml" ContentType="application/vnd.openxmlformats-officedocument.presentationml.tags+xml"/>
  <Override PartName="/ppt/tags/tag61.xml" ContentType="application/vnd.openxmlformats-officedocument.presentationml.tags+xml"/>
  <Override PartName="/ppt/tags/tag72.xml" ContentType="application/vnd.openxmlformats-officedocument.presentationml.tags+xml"/>
  <Override PartName="/ppt/tags/tag118.xml" ContentType="application/vnd.openxmlformats-officedocument.presentationml.tags+xml"/>
  <Override PartName="/ppt/tags/tag129.xml" ContentType="application/vnd.openxmlformats-officedocument.presentationml.tags+xml"/>
  <Override PartName="/ppt/tags/tag165.xml" ContentType="application/vnd.openxmlformats-officedocument.presentationml.tags+xml"/>
  <Override PartName="/ppt/tags/tag176.xml" ContentType="application/vnd.openxmlformats-officedocument.presentationml.tags+xml"/>
  <Override PartName="/ppt/tags/tag315.xml" ContentType="application/vnd.openxmlformats-officedocument.presentationml.tags+xml"/>
  <Override PartName="/ppt/tags/tag326.xml" ContentType="application/vnd.openxmlformats-officedocument.presentationml.tags+xml"/>
  <Override PartName="/ppt/tags/tag362.xml" ContentType="application/vnd.openxmlformats-officedocument.presentationml.tags+xml"/>
  <Override PartName="/ppt/tags/tag373.xml" ContentType="application/vnd.openxmlformats-officedocument.presentationml.tags+xml"/>
  <Override PartName="/ppt/tags/tag50.xml" ContentType="application/vnd.openxmlformats-officedocument.presentationml.tags+xml"/>
  <Override PartName="/ppt/tags/tag107.xml" ContentType="application/vnd.openxmlformats-officedocument.presentationml.tags+xml"/>
  <Override PartName="/ppt/tags/tag154.xml" ContentType="application/vnd.openxmlformats-officedocument.presentationml.tags+xml"/>
  <Override PartName="/ppt/tags/tag299.xml" ContentType="application/vnd.openxmlformats-officedocument.presentationml.tags+xml"/>
  <Override PartName="/ppt/tags/tag304.xml" ContentType="application/vnd.openxmlformats-officedocument.presentationml.tags+xml"/>
  <Override PartName="/ppt/tags/tag351.xml" ContentType="application/vnd.openxmlformats-officedocument.presentationml.tags+xml"/>
  <Override PartName="/ppt/tags/tag438.xml" ContentType="application/vnd.openxmlformats-officedocument.presentationml.tags+xml"/>
  <Override PartName="/ppt/tags/tag449.xml" ContentType="application/vnd.openxmlformats-officedocument.presentationml.tags+xml"/>
  <Override PartName="/ppt/slides/slide97.xml" ContentType="application/vnd.openxmlformats-officedocument.presentationml.slide+xml"/>
  <Override PartName="/ppt/notesSlides/notesSlide5.xml" ContentType="application/vnd.openxmlformats-officedocument.presentationml.notesSlide+xml"/>
  <Override PartName="/ppt/tags/tag143.xml" ContentType="application/vnd.openxmlformats-officedocument.presentationml.tags+xml"/>
  <Override PartName="/ppt/tags/tag190.xml" ContentType="application/vnd.openxmlformats-officedocument.presentationml.tags+xml"/>
  <Override PartName="/ppt/tags/tag277.xml" ContentType="application/vnd.openxmlformats-officedocument.presentationml.tags+xml"/>
  <Override PartName="/ppt/tags/tag288.xml" ContentType="application/vnd.openxmlformats-officedocument.presentationml.tags+xml"/>
  <Override PartName="/ppt/tags/tag340.xml" ContentType="application/vnd.openxmlformats-officedocument.presentationml.tags+xml"/>
  <Override PartName="/ppt/tags/tag427.xml" ContentType="application/vnd.openxmlformats-officedocument.presentationml.tags+xml"/>
  <Override PartName="/ppt/tags/tag474.xml" ContentType="application/vnd.openxmlformats-officedocument.presentationml.tags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tags/tag132.xml" ContentType="application/vnd.openxmlformats-officedocument.presentationml.tags+xml"/>
  <Override PartName="/ppt/tags/tag219.xml" ContentType="application/vnd.openxmlformats-officedocument.presentationml.tags+xml"/>
  <Override PartName="/ppt/tags/tag266.xml" ContentType="application/vnd.openxmlformats-officedocument.presentationml.tags+xml"/>
  <Override PartName="/ppt/tags/tag416.xml" ContentType="application/vnd.openxmlformats-officedocument.presentationml.tags+xml"/>
  <Override PartName="/ppt/tags/tag463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64.xml" ContentType="application/vnd.openxmlformats-officedocument.presentationml.slide+xml"/>
  <Override PartName="/ppt/slides/slide101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66.xml" ContentType="application/vnd.openxmlformats-officedocument.presentationml.notesSlide+xml"/>
  <Override PartName="/ppt/tags/tag99.xml" ContentType="application/vnd.openxmlformats-officedocument.presentationml.tags+xml"/>
  <Override PartName="/ppt/tags/tag110.xml" ContentType="application/vnd.openxmlformats-officedocument.presentationml.tags+xml"/>
  <Override PartName="/ppt/tags/tag121.xml" ContentType="application/vnd.openxmlformats-officedocument.presentationml.tags+xml"/>
  <Override PartName="/ppt/tags/tag208.xml" ContentType="application/vnd.openxmlformats-officedocument.presentationml.tags+xml"/>
  <Override PartName="/ppt/tags/tag255.xml" ContentType="application/vnd.openxmlformats-officedocument.presentationml.tags+xml"/>
  <Override PartName="/ppt/tags/tag389.xml" ContentType="application/vnd.openxmlformats-officedocument.presentationml.tags+xml"/>
  <Override PartName="/ppt/tags/tag405.xml" ContentType="application/vnd.openxmlformats-officedocument.presentationml.tags+xml"/>
  <Override PartName="/ppt/tags/tag452.xml" ContentType="application/vnd.openxmlformats-officedocument.presentationml.tags+xml"/>
  <Override PartName="/ppt/slides/slide53.xml" ContentType="application/vnd.openxmlformats-officedocument.presentationml.slide+xml"/>
  <Override PartName="/ppt/notesSlides/notesSlide55.xml" ContentType="application/vnd.openxmlformats-officedocument.presentationml.notesSlide+xml"/>
  <Override PartName="/ppt/tags/tag3.xml" ContentType="application/vnd.openxmlformats-officedocument.presentationml.tags+xml"/>
  <Override PartName="/ppt/tags/tag77.xml" ContentType="application/vnd.openxmlformats-officedocument.presentationml.tags+xml"/>
  <Override PartName="/ppt/tags/tag88.xml" ContentType="application/vnd.openxmlformats-officedocument.presentationml.tags+xml"/>
  <Override PartName="/ppt/tags/tag233.xml" ContentType="application/vnd.openxmlformats-officedocument.presentationml.tags+xml"/>
  <Override PartName="/ppt/tags/tag244.xml" ContentType="application/vnd.openxmlformats-officedocument.presentationml.tags+xml"/>
  <Override PartName="/ppt/tags/tag280.xml" ContentType="application/vnd.openxmlformats-officedocument.presentationml.tags+xml"/>
  <Override PartName="/ppt/tags/tag291.xml" ContentType="application/vnd.openxmlformats-officedocument.presentationml.tags+xml"/>
  <Override PartName="/ppt/tags/tag378.xml" ContentType="application/vnd.openxmlformats-officedocument.presentationml.tags+xml"/>
  <Override PartName="/ppt/tags/tag430.xml" ContentType="application/vnd.openxmlformats-officedocument.presentationml.tags+xml"/>
  <Override PartName="/ppt/tags/tag441.xml" ContentType="application/vnd.openxmlformats-officedocument.presentationml.tags+xml"/>
  <Default Extension="jpeg" ContentType="image/jpeg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notesSlides/notesSlide44.xml" ContentType="application/vnd.openxmlformats-officedocument.presentationml.notesSlide+xml"/>
  <Override PartName="/ppt/tags/tag19.xml" ContentType="application/vnd.openxmlformats-officedocument.presentationml.tags+xml"/>
  <Override PartName="/ppt/tags/tag66.xml" ContentType="application/vnd.openxmlformats-officedocument.presentationml.tags+xml"/>
  <Override PartName="/ppt/tags/tag222.xml" ContentType="application/vnd.openxmlformats-officedocument.presentationml.tags+xml"/>
  <Override PartName="/ppt/tags/tag367.xml" ContentType="application/vnd.openxmlformats-officedocument.presentationml.tags+xml"/>
  <Override PartName="/ppt/slides/slide20.xml" ContentType="application/vnd.openxmlformats-officedocument.presentationml.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tags/tag55.xml" ContentType="application/vnd.openxmlformats-officedocument.presentationml.tags+xml"/>
  <Override PartName="/ppt/tags/tag159.xml" ContentType="application/vnd.openxmlformats-officedocument.presentationml.tags+xml"/>
  <Override PartName="/ppt/tags/tag211.xml" ContentType="application/vnd.openxmlformats-officedocument.presentationml.tags+xml"/>
  <Override PartName="/ppt/tags/tag309.xml" ContentType="application/vnd.openxmlformats-officedocument.presentationml.tags+xml"/>
  <Override PartName="/ppt/tags/tag345.xml" ContentType="application/vnd.openxmlformats-officedocument.presentationml.tags+xml"/>
  <Override PartName="/ppt/tags/tag356.xml" ContentType="application/vnd.openxmlformats-officedocument.presentationml.tags+xml"/>
  <Override PartName="/ppt/tags/tag392.xml" ContentType="application/vnd.openxmlformats-officedocument.presentationml.tags+xml"/>
  <Override PartName="/ppt/notesSlides/notesSlide11.xml" ContentType="application/vnd.openxmlformats-officedocument.presentationml.notesSlide+xml"/>
  <Override PartName="/ppt/tags/tag33.xml" ContentType="application/vnd.openxmlformats-officedocument.presentationml.tags+xml"/>
  <Override PartName="/ppt/tags/tag44.xml" ContentType="application/vnd.openxmlformats-officedocument.presentationml.tags+xml"/>
  <Override PartName="/ppt/tags/tag80.xml" ContentType="application/vnd.openxmlformats-officedocument.presentationml.tags+xml"/>
  <Override PartName="/ppt/tags/tag91.xml" ContentType="application/vnd.openxmlformats-officedocument.presentationml.tags+xml"/>
  <Override PartName="/ppt/tags/tag137.xml" ContentType="application/vnd.openxmlformats-officedocument.presentationml.tags+xml"/>
  <Override PartName="/ppt/tags/tag148.xml" ContentType="application/vnd.openxmlformats-officedocument.presentationml.tags+xml"/>
  <Override PartName="/ppt/tags/tag184.xml" ContentType="application/vnd.openxmlformats-officedocument.presentationml.tags+xml"/>
  <Override PartName="/ppt/tags/tag195.xml" ContentType="application/vnd.openxmlformats-officedocument.presentationml.tags+xml"/>
  <Override PartName="/ppt/tags/tag200.xml" ContentType="application/vnd.openxmlformats-officedocument.presentationml.tags+xml"/>
  <Override PartName="/ppt/tags/tag334.xml" ContentType="application/vnd.openxmlformats-officedocument.presentationml.tags+xml"/>
  <Override PartName="/ppt/tags/tag381.xml" ContentType="application/vnd.openxmlformats-officedocument.presentationml.tags+xml"/>
  <Override PartName="/ppt/tags/tag479.xml" ContentType="application/vnd.openxmlformats-officedocument.presentationml.tags+xml"/>
  <Override PartName="/ppt/tags/tag22.xml" ContentType="application/vnd.openxmlformats-officedocument.presentationml.tags+xml"/>
  <Override PartName="/ppt/tags/tag126.xml" ContentType="application/vnd.openxmlformats-officedocument.presentationml.tags+xml"/>
  <Override PartName="/ppt/tags/tag173.xml" ContentType="application/vnd.openxmlformats-officedocument.presentationml.tags+xml"/>
  <Override PartName="/ppt/tags/tag323.xml" ContentType="application/vnd.openxmlformats-officedocument.presentationml.tags+xml"/>
  <Override PartName="/ppt/tags/tag370.xml" ContentType="application/vnd.openxmlformats-officedocument.presentationml.tags+xml"/>
  <Override PartName="/ppt/tags/tag457.xml" ContentType="application/vnd.openxmlformats-officedocument.presentationml.tags+xml"/>
  <Override PartName="/ppt/tags/tag468.xml" ContentType="application/vnd.openxmlformats-officedocument.presentationml.tags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106.xml" ContentType="application/vnd.openxmlformats-officedocument.presentationml.slide+xml"/>
  <Override PartName="/ppt/tags/tag11.xml" ContentType="application/vnd.openxmlformats-officedocument.presentationml.tags+xml"/>
  <Override PartName="/ppt/tags/tag115.xml" ContentType="application/vnd.openxmlformats-officedocument.presentationml.tags+xml"/>
  <Override PartName="/ppt/tags/tag162.xml" ContentType="application/vnd.openxmlformats-officedocument.presentationml.tags+xml"/>
  <Override PartName="/ppt/tags/tag249.xml" ContentType="application/vnd.openxmlformats-officedocument.presentationml.tags+xml"/>
  <Override PartName="/ppt/tags/tag296.xml" ContentType="application/vnd.openxmlformats-officedocument.presentationml.tags+xml"/>
  <Override PartName="/ppt/tags/tag301.xml" ContentType="application/vnd.openxmlformats-officedocument.presentationml.tags+xml"/>
  <Override PartName="/ppt/tags/tag312.xml" ContentType="application/vnd.openxmlformats-officedocument.presentationml.tags+xml"/>
  <Override PartName="/ppt/tags/tag446.xml" ContentType="application/vnd.openxmlformats-officedocument.presentationml.tags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tags/tag104.xml" ContentType="application/vnd.openxmlformats-officedocument.presentationml.tags+xml"/>
  <Override PartName="/ppt/tags/tag151.xml" ContentType="application/vnd.openxmlformats-officedocument.presentationml.tags+xml"/>
  <Override PartName="/ppt/tags/tag435.xml" ContentType="application/vnd.openxmlformats-officedocument.presentationml.tags+xml"/>
  <Override PartName="/ppt/tags/tag482.xml" ContentType="application/vnd.openxmlformats-officedocument.presentationml.tags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notesSlides/notesSlide49.xml" ContentType="application/vnd.openxmlformats-officedocument.presentationml.notesSlide+xml"/>
  <Override PartName="/ppt/tags/tag227.xml" ContentType="application/vnd.openxmlformats-officedocument.presentationml.tags+xml"/>
  <Override PartName="/ppt/tags/tag274.xml" ContentType="application/vnd.openxmlformats-officedocument.presentationml.tags+xml"/>
  <Override PartName="/ppt/tags/tag413.xml" ContentType="application/vnd.openxmlformats-officedocument.presentationml.tags+xml"/>
  <Override PartName="/ppt/tags/tag460.xml" ContentType="application/vnd.openxmlformats-officedocument.presentationml.tags+xml"/>
  <Override PartName="/ppt/notesSlides/notesSlide27.xml" ContentType="application/vnd.openxmlformats-officedocument.presentationml.notesSlide+xml"/>
  <Override PartName="/ppt/tags/tag49.xml" ContentType="application/vnd.openxmlformats-officedocument.presentationml.tags+xml"/>
  <Override PartName="/ppt/tags/tag96.xml" ContentType="application/vnd.openxmlformats-officedocument.presentationml.tags+xml"/>
  <Override PartName="/ppt/tags/tag205.xml" ContentType="application/vnd.openxmlformats-officedocument.presentationml.tags+xml"/>
  <Override PartName="/ppt/tags/tag252.xml" ContentType="application/vnd.openxmlformats-officedocument.presentationml.tags+xml"/>
  <Override PartName="/ppt/tags/tag397.xml" ContentType="application/vnd.openxmlformats-officedocument.presentationml.tags+xml"/>
  <Override PartName="/ppt/slides/slide14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89.xml" ContentType="application/vnd.openxmlformats-officedocument.presentationml.tags+xml"/>
  <Override PartName="/ppt/tableStyles.xml" ContentType="application/vnd.openxmlformats-officedocument.presentationml.tableStyles+xml"/>
  <Override PartName="/ppt/notesSlides/notesSlide52.xml" ContentType="application/vnd.openxmlformats-officedocument.presentationml.notesSlide+xml"/>
  <Override PartName="/ppt/tags/tag27.xml" ContentType="application/vnd.openxmlformats-officedocument.presentationml.tags+xml"/>
  <Override PartName="/ppt/tags/tag74.xml" ContentType="application/vnd.openxmlformats-officedocument.presentationml.tags+xml"/>
  <Override PartName="/ppt/tags/tag230.xml" ContentType="application/vnd.openxmlformats-officedocument.presentationml.tags+xml"/>
  <Override PartName="/ppt/tags/tag328.xml" ContentType="application/vnd.openxmlformats-officedocument.presentationml.tags+xml"/>
  <Override PartName="/ppt/tags/tag375.xml" ContentType="application/vnd.openxmlformats-officedocument.presentationml.tags+xml"/>
  <Override PartName="/ppt/notesSlides/notesSlide30.xml" ContentType="application/vnd.openxmlformats-officedocument.presentationml.notesSlide+xml"/>
  <Override PartName="/ppt/tags/tag52.xml" ContentType="application/vnd.openxmlformats-officedocument.presentationml.tags+xml"/>
  <Override PartName="/ppt/tags/tag167.xml" ContentType="application/vnd.openxmlformats-officedocument.presentationml.tags+xml"/>
  <Override PartName="/ppt/tags/tag306.xml" ContentType="application/vnd.openxmlformats-officedocument.presentationml.tags+xml"/>
  <Override PartName="/ppt/tags/tag353.xml" ContentType="application/vnd.openxmlformats-officedocument.presentationml.tags+xml"/>
  <Override PartName="/ppt/slides/slide99.xml" ContentType="application/vnd.openxmlformats-officedocument.presentationml.slide+xml"/>
  <Override PartName="/ppt/tags/tag145.xml" ContentType="application/vnd.openxmlformats-officedocument.presentationml.tags+xml"/>
  <Override PartName="/ppt/tags/tag192.xml" ContentType="application/vnd.openxmlformats-officedocument.presentationml.tags+xml"/>
  <Override PartName="/ppt/tags/tag429.xml" ContentType="application/vnd.openxmlformats-officedocument.presentationml.tags+xml"/>
  <Override PartName="/ppt/tags/tag476.xml" ContentType="application/vnd.openxmlformats-officedocument.presentationml.tags+xml"/>
  <Override PartName="/ppt/slides/slide77.xml" ContentType="application/vnd.openxmlformats-officedocument.presentationml.slide+xml"/>
  <Override PartName="/ppt/tags/tag30.xml" ContentType="application/vnd.openxmlformats-officedocument.presentationml.tags+xml"/>
  <Override PartName="/ppt/tags/tag268.xml" ContentType="application/vnd.openxmlformats-officedocument.presentationml.tags+xml"/>
  <Override PartName="/ppt/tags/tag331.xml" ContentType="application/vnd.openxmlformats-officedocument.presentationml.tags+xml"/>
  <Override PartName="/ppt/slides/slide5.xml" ContentType="application/vnd.openxmlformats-officedocument.presentationml.slide+xml"/>
  <Override PartName="/ppt/slides/slide103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68.xml" ContentType="application/vnd.openxmlformats-officedocument.presentationml.notesSlide+xml"/>
  <Override PartName="/ppt/tags/tag123.xml" ContentType="application/vnd.openxmlformats-officedocument.presentationml.tags+xml"/>
  <Override PartName="/ppt/tags/tag170.xml" ContentType="application/vnd.openxmlformats-officedocument.presentationml.tags+xml"/>
  <Override PartName="/ppt/tags/tag407.xml" ContentType="application/vnd.openxmlformats-officedocument.presentationml.tags+xml"/>
  <Override PartName="/ppt/tags/tag454.xml" ContentType="application/vnd.openxmlformats-officedocument.presentationml.tags+xml"/>
  <Override PartName="/ppt/slides/slide55.xml" ContentType="application/vnd.openxmlformats-officedocument.presentationml.slide+xml"/>
  <Override PartName="/ppt/tags/tag101.xml" ContentType="application/vnd.openxmlformats-officedocument.presentationml.tags+xml"/>
  <Override PartName="/ppt/tags/tag246.xml" ContentType="application/vnd.openxmlformats-officedocument.presentationml.tags+xml"/>
  <Override PartName="/ppt/tags/tag293.xml" ContentType="application/vnd.openxmlformats-officedocument.presentationml.tags+xml"/>
  <Override PartName="/ppt/tags/tag432.xml" ContentType="application/vnd.openxmlformats-officedocument.presentationml.tags+xml"/>
  <Override PartName="/ppt/slides/slide33.xml" ContentType="application/vnd.openxmlformats-officedocument.presentationml.slide+xml"/>
  <Override PartName="/ppt/slides/slide80.xml" ContentType="application/vnd.openxmlformats-officedocument.presentationml.slide+xml"/>
  <Override PartName="/ppt/notesSlides/notesSlide46.xml" ContentType="application/vnd.openxmlformats-officedocument.presentationml.notesSlide+xml"/>
  <Override PartName="/ppt/tags/tag68.xml" ContentType="application/vnd.openxmlformats-officedocument.presentationml.tags+xml"/>
  <Override PartName="/ppt/tags/tag224.xml" ContentType="application/vnd.openxmlformats-officedocument.presentationml.tags+xml"/>
  <Override PartName="/ppt/tags/tag271.xml" ContentType="application/vnd.openxmlformats-officedocument.presentationml.tags+xml"/>
  <Override PartName="/ppt/tags/tag369.xml" ContentType="application/vnd.openxmlformats-officedocument.presentationml.tags+xml"/>
  <Override PartName="/ppt/presentation.xml" ContentType="application/vnd.openxmlformats-officedocument.presentationml.presentation.main+xml"/>
  <Override PartName="/ppt/notesSlides/notesSlide24.xml" ContentType="application/vnd.openxmlformats-officedocument.presentationml.notesSlide+xml"/>
  <Override PartName="/ppt/tags/tag347.xml" ContentType="application/vnd.openxmlformats-officedocument.presentationml.tags+xml"/>
  <Override PartName="/ppt/tags/tag394.xml" ContentType="application/vnd.openxmlformats-officedocument.presentationml.tags+xml"/>
  <Override PartName="/ppt/tags/tag410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tags/tag46.xml" ContentType="application/vnd.openxmlformats-officedocument.presentationml.tags+xml"/>
  <Override PartName="/ppt/tags/tag93.xml" ContentType="application/vnd.openxmlformats-officedocument.presentationml.tags+xml"/>
  <Override PartName="/ppt/tags/tag139.xml" ContentType="application/vnd.openxmlformats-officedocument.presentationml.tags+xml"/>
  <Override PartName="/ppt/tags/tag186.xml" ContentType="application/vnd.openxmlformats-officedocument.presentationml.tags+xml"/>
  <Override PartName="/ppt/tags/tag202.xml" ContentType="application/vnd.openxmlformats-officedocument.presentationml.tags+xml"/>
  <Override PartName="/ppt/slideLayouts/slideLayout10.xml" ContentType="application/vnd.openxmlformats-officedocument.presentationml.slideLayout+xml"/>
  <Override PartName="/ppt/tags/tag24.xml" ContentType="application/vnd.openxmlformats-officedocument.presentationml.tags+xml"/>
  <Override PartName="/ppt/tags/tag71.xml" ContentType="application/vnd.openxmlformats-officedocument.presentationml.tags+xml"/>
  <Override PartName="/ppt/tags/tag325.xml" ContentType="application/vnd.openxmlformats-officedocument.presentationml.tags+xml"/>
  <Override PartName="/ppt/tags/tag372.xml" ContentType="application/vnd.openxmlformats-officedocument.presentationml.tags+xml"/>
  <Override PartName="/ppt/tags/tag117.xml" ContentType="application/vnd.openxmlformats-officedocument.presentationml.tags+xml"/>
  <Override PartName="/ppt/tags/tag164.xml" ContentType="application/vnd.openxmlformats-officedocument.presentationml.tags+xml"/>
  <Override PartName="/ppt/tags/tag448.xml" ContentType="application/vnd.openxmlformats-officedocument.presentationml.tags+xml"/>
  <Override PartName="/ppt/slides/slide49.xml" ContentType="application/vnd.openxmlformats-officedocument.presentationml.slide+xml"/>
  <Override PartName="/ppt/slides/slide96.xml" ContentType="application/vnd.openxmlformats-officedocument.presentationml.slide+xml"/>
  <Override PartName="/ppt/tags/tag142.xml" ContentType="application/vnd.openxmlformats-officedocument.presentationml.tags+xml"/>
  <Override PartName="/ppt/tags/tag287.xml" ContentType="application/vnd.openxmlformats-officedocument.presentationml.tags+xml"/>
  <Override PartName="/ppt/tags/tag303.xml" ContentType="application/vnd.openxmlformats-officedocument.presentationml.tags+xml"/>
  <Override PartName="/ppt/tags/tag350.xml" ContentType="application/vnd.openxmlformats-officedocument.presentationml.tags+xml"/>
  <Override PartName="/ppt/tags/tag426.xml" ContentType="application/vnd.openxmlformats-officedocument.presentationml.tags+xml"/>
  <Override PartName="/ppt/tags/tag473.xml" ContentType="application/vnd.openxmlformats-officedocument.presentationml.tags+xml"/>
  <Override PartName="/ppt/slides/slide27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tags/tag120.xml" ContentType="application/vnd.openxmlformats-officedocument.presentationml.tags+xml"/>
  <Override PartName="/ppt/tags/tag218.xml" ContentType="application/vnd.openxmlformats-officedocument.presentationml.tags+xml"/>
  <Override PartName="/ppt/tags/tag265.xml" ContentType="application/vnd.openxmlformats-officedocument.presentationml.tags+xml"/>
  <Override PartName="/ppt/tags/tag404.xml" ContentType="application/vnd.openxmlformats-officedocument.presentationml.tags+xml"/>
  <Override PartName="/ppt/tags/tag451.xml" ContentType="application/vnd.openxmlformats-officedocument.presentationml.tags+xml"/>
  <Override PartName="/ppt/slides/slide2.xml" ContentType="application/vnd.openxmlformats-officedocument.presentationml.slide+xml"/>
  <Override PartName="/ppt/slides/slide52.xml" ContentType="application/vnd.openxmlformats-officedocument.presentationml.slide+xml"/>
  <Override PartName="/ppt/slides/slide100.xml" ContentType="application/vnd.openxmlformats-officedocument.presentationml.slide+xml"/>
  <Override PartName="/ppt/notesSlides/notesSlide18.xml" ContentType="application/vnd.openxmlformats-officedocument.presentationml.notesSlide+xml"/>
  <Default Extension="wmf" ContentType="image/x-wmf"/>
  <Override PartName="/ppt/notesSlides/notesSlide65.xml" ContentType="application/vnd.openxmlformats-officedocument.presentationml.notesSlide+xml"/>
  <Override PartName="/ppt/tags/tag87.xml" ContentType="application/vnd.openxmlformats-officedocument.presentationml.tags+xml"/>
  <Override PartName="/ppt/tags/tag243.xml" ContentType="application/vnd.openxmlformats-officedocument.presentationml.tags+xml"/>
  <Override PartName="/ppt/tags/tag290.xml" ContentType="application/vnd.openxmlformats-officedocument.presentationml.tags+xml"/>
  <Override PartName="/ppt/tags/tag388.xml" ContentType="application/vnd.openxmlformats-officedocument.presentationml.tags+xml"/>
  <Override PartName="/ppt/notesSlides/notesSlide43.xml" ContentType="application/vnd.openxmlformats-officedocument.presentationml.notesSlide+xml"/>
  <Override PartName="/ppt/tags/tag319.xml" ContentType="application/vnd.openxmlformats-officedocument.presentationml.tags+xml"/>
  <Override PartName="/ppt/tags/tag366.xml" ContentType="application/vnd.openxmlformats-officedocument.presentationml.tags+xml"/>
  <Override PartName="/ppt/slides/slide30.xml" ContentType="application/vnd.openxmlformats-officedocument.presentationml.slide+xml"/>
  <Override PartName="/ppt/tags/tag18.xml" ContentType="application/vnd.openxmlformats-officedocument.presentationml.tags+xml"/>
  <Override PartName="/ppt/tags/tag65.xml" ContentType="application/vnd.openxmlformats-officedocument.presentationml.tags+xml"/>
  <Override PartName="/ppt/tags/tag158.xml" ContentType="application/vnd.openxmlformats-officedocument.presentationml.tags+xml"/>
  <Override PartName="/ppt/tags/tag221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43.xml" ContentType="application/vnd.openxmlformats-officedocument.presentationml.tags+xml"/>
  <Override PartName="/ppt/tags/tag90.xml" ContentType="application/vnd.openxmlformats-officedocument.presentationml.tags+xml"/>
  <Override PartName="/ppt/tags/tag344.xml" ContentType="application/vnd.openxmlformats-officedocument.presentationml.tags+xml"/>
  <Override PartName="/ppt/tags/tag391.xml" ContentType="application/vnd.openxmlformats-officedocument.presentationml.tags+xml"/>
  <Override PartName="/ppt/tags/tag136.xml" ContentType="application/vnd.openxmlformats-officedocument.presentationml.tags+xml"/>
  <Override PartName="/ppt/tags/tag183.xml" ContentType="application/vnd.openxmlformats-officedocument.presentationml.tags+xml"/>
  <Override PartName="/ppt/tags/tag322.xml" ContentType="application/vnd.openxmlformats-officedocument.presentationml.tags+xml"/>
  <Override PartName="/ppt/tags/tag467.xml" ContentType="application/vnd.openxmlformats-officedocument.presentationml.tags+xml"/>
  <Override PartName="/ppt/slides/slide68.xml" ContentType="application/vnd.openxmlformats-officedocument.presentationml.slide+xml"/>
  <Override PartName="/ppt/tags/tag21.xml" ContentType="application/vnd.openxmlformats-officedocument.presentationml.tags+xml"/>
  <Override PartName="/ppt/tags/tag114.xml" ContentType="application/vnd.openxmlformats-officedocument.presentationml.tags+xml"/>
  <Override PartName="/ppt/tags/tag161.xml" ContentType="application/vnd.openxmlformats-officedocument.presentationml.tags+xml"/>
  <Override PartName="/ppt/tags/tag259.xml" ContentType="application/vnd.openxmlformats-officedocument.presentationml.tags+xml"/>
  <Override PartName="/ppt/notesSlides/notesSlide59.xml" ContentType="application/vnd.openxmlformats-officedocument.presentationml.notesSlide+xml"/>
  <Override PartName="/ppt/tags/tag7.xml" ContentType="application/vnd.openxmlformats-officedocument.presentationml.tags+xml"/>
  <Override PartName="/ppt/tags/tag300.xml" ContentType="application/vnd.openxmlformats-officedocument.presentationml.tags+xml"/>
  <Override PartName="/ppt/tags/tag445.xml" ContentType="application/vnd.openxmlformats-officedocument.presentationml.tags+xml"/>
  <Override PartName="/ppt/slides/slide46.xml" ContentType="application/vnd.openxmlformats-officedocument.presentationml.slide+xml"/>
  <Override PartName="/ppt/slides/slide93.xml" ContentType="application/vnd.openxmlformats-officedocument.presentationml.slide+xml"/>
  <Override PartName="/ppt/tags/tag237.xml" ContentType="application/vnd.openxmlformats-officedocument.presentationml.tags+xml"/>
  <Override PartName="/ppt/tags/tag284.xml" ContentType="application/vnd.openxmlformats-officedocument.presentationml.tags+xml"/>
  <Override PartName="/ppt/tags/tag423.xml" ContentType="application/vnd.openxmlformats-officedocument.presentationml.tags+xml"/>
  <Override PartName="/ppt/tags/tag470.xml" ContentType="application/vnd.openxmlformats-officedocument.presentationml.tags+xml"/>
  <Override PartName="/ppt/slides/slide24.xml" ContentType="application/vnd.openxmlformats-officedocument.presentationml.slide+xml"/>
  <Override PartName="/ppt/slides/slide71.xml" ContentType="application/vnd.openxmlformats-officedocument.presentationml.slide+xml"/>
  <Override PartName="/ppt/notesSlides/notesSlide37.xml" ContentType="application/vnd.openxmlformats-officedocument.presentationml.notesSlide+xml"/>
  <Override PartName="/ppt/tags/tag59.xml" ContentType="application/vnd.openxmlformats-officedocument.presentationml.tags+xml"/>
  <Override PartName="/ppt/tags/tag215.xml" ContentType="application/vnd.openxmlformats-officedocument.presentationml.tags+xml"/>
  <Override PartName="/ppt/tags/tag262.xml" ContentType="application/vnd.openxmlformats-officedocument.presentationml.tags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62.xml" ContentType="application/vnd.openxmlformats-officedocument.presentationml.notesSlide+xml"/>
  <Override PartName="/ppt/tags/tag37.xml" ContentType="application/vnd.openxmlformats-officedocument.presentationml.tags+xml"/>
  <Override PartName="/ppt/tags/tag84.xml" ContentType="application/vnd.openxmlformats-officedocument.presentationml.tags+xml"/>
  <Override PartName="/ppt/tags/tag199.xml" ContentType="application/vnd.openxmlformats-officedocument.presentationml.tags+xml"/>
  <Override PartName="/ppt/tags/tag338.xml" ContentType="application/vnd.openxmlformats-officedocument.presentationml.tags+xml"/>
  <Override PartName="/ppt/tags/tag385.xml" ContentType="application/vnd.openxmlformats-officedocument.presentationml.tags+xml"/>
  <Override PartName="/ppt/tags/tag401.xml" ContentType="application/vnd.openxmlformats-officedocument.presentationml.tags+xml"/>
  <Override PartName="/ppt/tags/tag177.xml" ContentType="application/vnd.openxmlformats-officedocument.presentationml.tags+xml"/>
  <Override PartName="/ppt/tags/tag240.xml" ContentType="application/vnd.openxmlformats-officedocument.presentationml.tags+xml"/>
  <Override PartName="/ppt/notesSlides/notesSlide40.xml" ContentType="application/vnd.openxmlformats-officedocument.presentationml.notesSlide+xml"/>
  <Override PartName="/ppt/tags/tag15.xml" ContentType="application/vnd.openxmlformats-officedocument.presentationml.tags+xml"/>
  <Override PartName="/ppt/tags/tag62.xml" ContentType="application/vnd.openxmlformats-officedocument.presentationml.tags+xml"/>
  <Override PartName="/ppt/tags/tag316.xml" ContentType="application/vnd.openxmlformats-officedocument.presentationml.tags+xml"/>
  <Override PartName="/ppt/tags/tag363.xml" ContentType="application/vnd.openxmlformats-officedocument.presentationml.tags+xml"/>
  <Override PartName="/ppt/notesSlides/notesSlide6.xml" ContentType="application/vnd.openxmlformats-officedocument.presentationml.notesSlide+xml"/>
  <Override PartName="/ppt/tags/tag40.xml" ContentType="application/vnd.openxmlformats-officedocument.presentationml.tags+xml"/>
  <Override PartName="/ppt/tags/tag108.xml" ContentType="application/vnd.openxmlformats-officedocument.presentationml.tags+xml"/>
  <Override PartName="/ppt/tags/tag155.xml" ContentType="application/vnd.openxmlformats-officedocument.presentationml.tags+xml"/>
  <Override PartName="/ppt/tags/tag341.xml" ContentType="application/vnd.openxmlformats-officedocument.presentationml.tags+xml"/>
  <Override PartName="/ppt/tags/tag439.xml" ContentType="application/vnd.openxmlformats-officedocument.presentationml.tags+xml"/>
  <Override PartName="/ppt/slides/slide87.xml" ContentType="application/vnd.openxmlformats-officedocument.presentationml.slide+xml"/>
  <Override PartName="/ppt/tags/tag133.xml" ContentType="application/vnd.openxmlformats-officedocument.presentationml.tags+xml"/>
  <Override PartName="/ppt/tags/tag180.xml" ContentType="application/vnd.openxmlformats-officedocument.presentationml.tags+xml"/>
  <Override PartName="/ppt/tags/tag278.xml" ContentType="application/vnd.openxmlformats-officedocument.presentationml.tags+xml"/>
  <Override PartName="/ppt/tags/tag417.xml" ContentType="application/vnd.openxmlformats-officedocument.presentationml.tags+xml"/>
  <Override PartName="/ppt/tags/tag209.xml" ContentType="application/vnd.openxmlformats-officedocument.presentationml.tags+xml"/>
  <Override PartName="/ppt/tags/tag256.xml" ContentType="application/vnd.openxmlformats-officedocument.presentationml.tags+xml"/>
  <Override PartName="/ppt/tags/tag464.xml" ContentType="application/vnd.openxmlformats-officedocument.presentationml.tags+xml"/>
  <Override PartName="/ppt/slides/slide18.xml" ContentType="application/vnd.openxmlformats-officedocument.presentationml.slide+xml"/>
  <Override PartName="/ppt/slides/slide65.xml" ContentType="application/vnd.openxmlformats-officedocument.presentationml.slide+xml"/>
  <Override PartName="/ppt/tags/tag4.xml" ContentType="application/vnd.openxmlformats-officedocument.presentationml.tags+xml"/>
  <Override PartName="/ppt/tags/tag111.xml" ContentType="application/vnd.openxmlformats-officedocument.presentationml.tags+xml"/>
  <Override PartName="/ppt/tags/tag442.xml" ContentType="application/vnd.openxmlformats-officedocument.presentationml.tags+xml"/>
  <Override PartName="/ppt/slides/slide43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notesSlides/notesSlide56.xml" ContentType="application/vnd.openxmlformats-officedocument.presentationml.notesSlide+xml"/>
  <Override PartName="/ppt/tags/tag78.xml" ContentType="application/vnd.openxmlformats-officedocument.presentationml.tags+xml"/>
  <Override PartName="/ppt/tags/tag234.xml" ContentType="application/vnd.openxmlformats-officedocument.presentationml.tags+xml"/>
  <Override PartName="/ppt/tags/tag281.xml" ContentType="application/vnd.openxmlformats-officedocument.presentationml.tags+xml"/>
  <Override PartName="/ppt/tags/tag379.xml" ContentType="application/vnd.openxmlformats-officedocument.presentationml.tags+xml"/>
  <Override PartName="/ppt/notesSlides/notesSlide34.xml" ContentType="application/vnd.openxmlformats-officedocument.presentationml.notesSlide+xml"/>
  <Override PartName="/ppt/tags/tag56.xml" ContentType="application/vnd.openxmlformats-officedocument.presentationml.tags+xml"/>
  <Override PartName="/ppt/tags/tag357.xml" ContentType="application/vnd.openxmlformats-officedocument.presentationml.tags+xml"/>
  <Override PartName="/ppt/tags/tag420.xml" ContentType="application/vnd.openxmlformats-officedocument.presentationml.tags+xml"/>
  <Override PartName="/ppt/slides/slide21.xml" ContentType="application/vnd.openxmlformats-officedocument.presentationml.slide+xml"/>
  <Override PartName="/ppt/tags/tag149.xml" ContentType="application/vnd.openxmlformats-officedocument.presentationml.tags+xml"/>
  <Override PartName="/ppt/tags/tag196.xml" ContentType="application/vnd.openxmlformats-officedocument.presentationml.tags+xml"/>
  <Override PartName="/ppt/tags/tag212.xml" ContentType="application/vnd.openxmlformats-officedocument.presentationml.tags+xml"/>
  <Override PartName="/ppt/notesSlides/notesSlide12.xml" ContentType="application/vnd.openxmlformats-officedocument.presentationml.notesSlide+xml"/>
  <Override PartName="/ppt/tags/tag34.xml" ContentType="application/vnd.openxmlformats-officedocument.presentationml.tags+xml"/>
  <Override PartName="/ppt/tags/tag81.xml" ContentType="application/vnd.openxmlformats-officedocument.presentationml.tags+xml"/>
  <Override PartName="/ppt/tags/tag335.xml" ContentType="application/vnd.openxmlformats-officedocument.presentationml.tags+xml"/>
  <Override PartName="/ppt/tags/tag382.xml" ContentType="application/vnd.openxmlformats-officedocument.presentationml.tags+xml"/>
  <Override PartName="/ppt/tags/tag12.xml" ContentType="application/vnd.openxmlformats-officedocument.presentationml.tags+xml"/>
  <Override PartName="/ppt/tags/tag127.xml" ContentType="application/vnd.openxmlformats-officedocument.presentationml.tags+xml"/>
  <Override PartName="/ppt/tags/tag174.xml" ContentType="application/vnd.openxmlformats-officedocument.presentationml.tags+xml"/>
  <Override PartName="/ppt/tags/tag313.xml" ContentType="application/vnd.openxmlformats-officedocument.presentationml.tags+xml"/>
  <Override PartName="/ppt/tags/tag360.xml" ContentType="application/vnd.openxmlformats-officedocument.presentationml.tags+xml"/>
  <Override PartName="/ppt/tags/tag458.xml" ContentType="application/vnd.openxmlformats-officedocument.presentationml.tags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tags/tag105.xml" ContentType="application/vnd.openxmlformats-officedocument.presentationml.tags+xml"/>
  <Override PartName="/ppt/tags/tag152.xml" ContentType="application/vnd.openxmlformats-officedocument.presentationml.tags+xml"/>
  <Override PartName="/ppt/tags/tag297.xml" ContentType="application/vnd.openxmlformats-officedocument.presentationml.tags+xml"/>
  <Override PartName="/ppt/tags/tag436.xml" ContentType="application/vnd.openxmlformats-officedocument.presentationml.tags+xml"/>
  <Override PartName="/ppt/tags/tag483.xml" ContentType="application/vnd.openxmlformats-officedocument.presentationml.tags+xml"/>
  <Override PartName="/ppt/notesSlides/notesSlide3.xml" ContentType="application/vnd.openxmlformats-officedocument.presentationml.notesSlide+xml"/>
  <Override PartName="/ppt/tags/tag228.xml" ContentType="application/vnd.openxmlformats-officedocument.presentationml.tags+xml"/>
  <Override PartName="/ppt/tags/tag275.xml" ContentType="application/vnd.openxmlformats-officedocument.presentationml.tags+xml"/>
  <Override PartName="/ppt/slides/slide37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tags/tag130.xml" ContentType="application/vnd.openxmlformats-officedocument.presentationml.tags+xml"/>
  <Override PartName="/ppt/tags/tag414.xml" ContentType="application/vnd.openxmlformats-officedocument.presentationml.tags+xml"/>
  <Override PartName="/ppt/tags/tag461.xml" ContentType="application/vnd.openxmlformats-officedocument.presentationml.tags+xml"/>
  <Override PartName="/ppt/slides/slide15.xml" ContentType="application/vnd.openxmlformats-officedocument.presentationml.slide+xml"/>
  <Override PartName="/ppt/slides/slide62.xml" ContentType="application/vnd.openxmlformats-officedocument.presentationml.slide+xml"/>
  <Override PartName="/ppt/notesSlides/notesSlide28.xml" ContentType="application/vnd.openxmlformats-officedocument.presentationml.notesSlide+xml"/>
  <Override PartName="/ppt/tags/tag97.xml" ContentType="application/vnd.openxmlformats-officedocument.presentationml.tags+xml"/>
  <Override PartName="/ppt/tags/tag206.xml" ContentType="application/vnd.openxmlformats-officedocument.presentationml.tags+xml"/>
  <Override PartName="/ppt/tags/tag253.xml" ContentType="application/vnd.openxmlformats-officedocument.presentationml.tags+xml"/>
  <Override PartName="/ppt/tags/tag398.xml" ContentType="application/vnd.openxmlformats-officedocument.presentationml.tags+xml"/>
  <Override PartName="/ppt/notesSlides/notesSlide53.xml" ContentType="application/vnd.openxmlformats-officedocument.presentationml.notesSlide+xml"/>
  <Override PartName="/ppt/tags/tag1.xml" ContentType="application/vnd.openxmlformats-officedocument.presentationml.tags+xml"/>
  <Override PartName="/ppt/tags/tag28.xml" ContentType="application/vnd.openxmlformats-officedocument.presentationml.tags+xml"/>
  <Override PartName="/ppt/tags/tag75.xml" ContentType="application/vnd.openxmlformats-officedocument.presentationml.tags+xml"/>
  <Override PartName="/ppt/tags/tag231.xml" ContentType="application/vnd.openxmlformats-officedocument.presentationml.tags+xml"/>
  <Override PartName="/ppt/tags/tag329.xml" ContentType="application/vnd.openxmlformats-officedocument.presentationml.tags+xml"/>
  <Override PartName="/ppt/tags/tag376.xml" ContentType="application/vnd.openxmlformats-officedocument.presentationml.tags+xml"/>
  <Override PartName="/ppt/slides/slide40.xml" ContentType="application/vnd.openxmlformats-officedocument.presentationml.slide+xml"/>
  <Override PartName="/ppt/tags/tag168.xml" ContentType="application/vnd.openxmlformats-officedocument.presentationml.tags+xml"/>
  <Default Extension="vml" ContentType="application/vnd.openxmlformats-officedocument.vmlDrawing"/>
  <Override PartName="/ppt/notesSlides/notesSlide31.xml" ContentType="application/vnd.openxmlformats-officedocument.presentationml.notesSlide+xml"/>
  <Override PartName="/ppt/tags/tag53.xml" ContentType="application/vnd.openxmlformats-officedocument.presentationml.tags+xml"/>
  <Override PartName="/ppt/tags/tag307.xml" ContentType="application/vnd.openxmlformats-officedocument.presentationml.tags+xml"/>
  <Override PartName="/ppt/tags/tag354.xml" ContentType="application/vnd.openxmlformats-officedocument.presentationml.tags+xml"/>
  <Override PartName="/ppt/tags/tag31.xml" ContentType="application/vnd.openxmlformats-officedocument.presentationml.tags+xml"/>
  <Override PartName="/ppt/tags/tag146.xml" ContentType="application/vnd.openxmlformats-officedocument.presentationml.tags+xml"/>
  <Override PartName="/ppt/tags/tag193.xml" ContentType="application/vnd.openxmlformats-officedocument.presentationml.tags+xml"/>
  <Override PartName="/ppt/tags/tag332.xml" ContentType="application/vnd.openxmlformats-officedocument.presentationml.tags+xml"/>
  <Override PartName="/ppt/tags/tag477.xml" ContentType="application/vnd.openxmlformats-officedocument.presentationml.tags+xml"/>
  <Override PartName="/ppt/slides/slide78.xml" ContentType="application/vnd.openxmlformats-officedocument.presentationml.slide+xml"/>
  <Override PartName="/ppt/tags/tag124.xml" ContentType="application/vnd.openxmlformats-officedocument.presentationml.tags+xml"/>
  <Override PartName="/ppt/tags/tag171.xml" ContentType="application/vnd.openxmlformats-officedocument.presentationml.tags+xml"/>
  <Override PartName="/ppt/tags/tag269.xml" ContentType="application/vnd.openxmlformats-officedocument.presentationml.tags+xml"/>
  <Override PartName="/ppt/tags/tag408.xml" ContentType="application/vnd.openxmlformats-officedocument.presentationml.tags+xml"/>
  <Override PartName="/ppt/tags/tag455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56.xml" ContentType="application/vnd.openxmlformats-officedocument.presentationml.slide+xml"/>
  <Override PartName="/ppt/slides/slide104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69.xml" ContentType="application/vnd.openxmlformats-officedocument.presentationml.notesSlide+xml"/>
  <Override PartName="/ppt/tags/tag247.xml" ContentType="application/vnd.openxmlformats-officedocument.presentationml.tags+xml"/>
  <Override PartName="/ppt/tags/tag294.xml" ContentType="application/vnd.openxmlformats-officedocument.presentationml.tags+xml"/>
  <Override PartName="/ppt/tags/tag310.xml" ContentType="application/vnd.openxmlformats-officedocument.presentationml.tags+xml"/>
  <Override PartName="/ppt/slideMasters/slideMaster1.xml" ContentType="application/vnd.openxmlformats-officedocument.presentationml.slideMaster+xml"/>
  <Override PartName="/ppt/notesSlides/notesSlide47.xml" ContentType="application/vnd.openxmlformats-officedocument.presentationml.notesSlide+xml"/>
  <Override PartName="/ppt/tags/tag102.xml" ContentType="application/vnd.openxmlformats-officedocument.presentationml.tags+xml"/>
  <Override PartName="/ppt/tags/tag433.xml" ContentType="application/vnd.openxmlformats-officedocument.presentationml.tags+xml"/>
  <Override PartName="/ppt/tags/tag480.xml" ContentType="application/vnd.openxmlformats-officedocument.presentationml.tags+xml"/>
  <Override PartName="/ppt/slides/slide34.xml" ContentType="application/vnd.openxmlformats-officedocument.presentationml.slide+xml"/>
  <Override PartName="/ppt/slides/slide81.xml" ContentType="application/vnd.openxmlformats-officedocument.presentationml.slide+xml"/>
  <Override PartName="/ppt/tags/tag69.xml" ContentType="application/vnd.openxmlformats-officedocument.presentationml.tags+xml"/>
  <Override PartName="/ppt/tags/tag225.xml" ContentType="application/vnd.openxmlformats-officedocument.presentationml.tags+xml"/>
  <Override PartName="/ppt/tags/tag272.xml" ContentType="application/vnd.openxmlformats-officedocument.presentationml.tags+xml"/>
  <Override PartName="/ppt/tags/tag411.xml" ContentType="application/vnd.openxmlformats-officedocument.presentationml.tags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8"/>
  </p:notesMasterIdLst>
  <p:sldIdLst>
    <p:sldId id="257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336" r:id="rId79"/>
    <p:sldId id="337" r:id="rId80"/>
    <p:sldId id="338" r:id="rId81"/>
    <p:sldId id="339" r:id="rId82"/>
    <p:sldId id="340" r:id="rId83"/>
    <p:sldId id="341" r:id="rId84"/>
    <p:sldId id="342" r:id="rId85"/>
    <p:sldId id="343" r:id="rId86"/>
    <p:sldId id="344" r:id="rId87"/>
    <p:sldId id="345" r:id="rId88"/>
    <p:sldId id="346" r:id="rId89"/>
    <p:sldId id="347" r:id="rId90"/>
    <p:sldId id="348" r:id="rId91"/>
    <p:sldId id="349" r:id="rId92"/>
    <p:sldId id="350" r:id="rId93"/>
    <p:sldId id="351" r:id="rId94"/>
    <p:sldId id="352" r:id="rId95"/>
    <p:sldId id="353" r:id="rId96"/>
    <p:sldId id="354" r:id="rId97"/>
    <p:sldId id="355" r:id="rId98"/>
    <p:sldId id="356" r:id="rId99"/>
    <p:sldId id="357" r:id="rId100"/>
    <p:sldId id="358" r:id="rId101"/>
    <p:sldId id="359" r:id="rId102"/>
    <p:sldId id="360" r:id="rId103"/>
    <p:sldId id="361" r:id="rId104"/>
    <p:sldId id="362" r:id="rId105"/>
    <p:sldId id="363" r:id="rId106"/>
    <p:sldId id="364" r:id="rId10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1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693BC-1E1B-4DA0-A2C9-CE3AB28C5C94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B3E288-3424-4EA6-9DDB-5C00F921C9B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IN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E17179-6A4D-44B7-A79B-E173C370968C}" type="slidenum">
              <a:rPr lang="fr-FR" smtClean="0">
                <a:latin typeface="Arial" pitchFamily="34" charset="0"/>
                <a:cs typeface="Arial" pitchFamily="34" charset="0"/>
              </a:rPr>
              <a:pPr/>
              <a:t>1</a:t>
            </a:fld>
            <a:endParaRPr lang="fr-FR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AB0F36-DBB1-4CBF-B311-EEBAA455525C}" type="slidenum">
              <a:rPr lang="en-US"/>
              <a:pPr/>
              <a:t>3</a:t>
            </a:fld>
            <a:endParaRPr lang="en-US"/>
          </a:p>
        </p:txBody>
      </p:sp>
      <p:sp>
        <p:nvSpPr>
          <p:cNvPr id="406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6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B14DC5-E1D4-4755-92D5-BEE9B85CAAEB}" type="slidenum">
              <a:rPr lang="en-US"/>
              <a:pPr/>
              <a:t>4</a:t>
            </a:fld>
            <a:endParaRPr lang="en-US"/>
          </a:p>
        </p:txBody>
      </p:sp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C8C403-F7A0-48FE-A6FA-9CDC2AEC4746}" type="slidenum">
              <a:rPr lang="en-US"/>
              <a:pPr/>
              <a:t>5</a:t>
            </a:fld>
            <a:endParaRPr lang="en-US"/>
          </a:p>
        </p:txBody>
      </p:sp>
      <p:sp>
        <p:nvSpPr>
          <p:cNvPr id="40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8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525A07-0D65-43D8-A2B0-3AF72FFFF603}" type="slidenum">
              <a:rPr lang="en-US"/>
              <a:pPr/>
              <a:t>6</a:t>
            </a:fld>
            <a:endParaRPr lang="en-US"/>
          </a:p>
        </p:txBody>
      </p:sp>
      <p:sp>
        <p:nvSpPr>
          <p:cNvPr id="409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ACE478-6165-4DEC-8ACB-3D8F1ADB4B48}" type="slidenum">
              <a:rPr lang="en-US"/>
              <a:pPr/>
              <a:t>7</a:t>
            </a:fld>
            <a:endParaRPr lang="en-US"/>
          </a:p>
        </p:txBody>
      </p:sp>
      <p:sp>
        <p:nvSpPr>
          <p:cNvPr id="410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9E3B6F-E56A-410F-A5F5-705F75DBA1E6}" type="slidenum">
              <a:rPr lang="en-US"/>
              <a:pPr/>
              <a:t>8</a:t>
            </a:fld>
            <a:endParaRPr lang="en-US"/>
          </a:p>
        </p:txBody>
      </p:sp>
      <p:sp>
        <p:nvSpPr>
          <p:cNvPr id="411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8378F7-D57E-4950-AC61-F0210FC43686}" type="slidenum">
              <a:rPr lang="en-US"/>
              <a:pPr/>
              <a:t>9</a:t>
            </a:fld>
            <a:endParaRPr lang="en-US"/>
          </a:p>
        </p:txBody>
      </p:sp>
      <p:sp>
        <p:nvSpPr>
          <p:cNvPr id="412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DE37E9-E328-4950-8346-DD78AD7B0503}" type="slidenum">
              <a:rPr lang="en-US"/>
              <a:pPr/>
              <a:t>10</a:t>
            </a:fld>
            <a:endParaRPr lang="en-US"/>
          </a:p>
        </p:txBody>
      </p:sp>
      <p:sp>
        <p:nvSpPr>
          <p:cNvPr id="413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3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A1A8A5-D94D-4AE0-91FF-2C1F729EE1D5}" type="slidenum">
              <a:rPr lang="en-US"/>
              <a:pPr/>
              <a:t>11</a:t>
            </a:fld>
            <a:endParaRPr lang="en-US"/>
          </a:p>
        </p:txBody>
      </p:sp>
      <p:sp>
        <p:nvSpPr>
          <p:cNvPr id="414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4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F351CA-C80B-486F-9A5F-9E9E5BE0E750}" type="slidenum">
              <a:rPr lang="en-US"/>
              <a:pPr/>
              <a:t>12</a:t>
            </a:fld>
            <a:endParaRPr lang="en-US"/>
          </a:p>
        </p:txBody>
      </p:sp>
      <p:sp>
        <p:nvSpPr>
          <p:cNvPr id="415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5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834731-1C2D-46C1-857D-4DFB0EC7C449}" type="slidenum">
              <a:rPr lang="en-US"/>
              <a:pPr/>
              <a:t>13</a:t>
            </a:fld>
            <a:endParaRPr lang="en-US"/>
          </a:p>
        </p:txBody>
      </p:sp>
      <p:sp>
        <p:nvSpPr>
          <p:cNvPr id="416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6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3CB809-6E52-4FE4-8EB6-9919089F8A24}" type="slidenum">
              <a:rPr lang="en-US"/>
              <a:pPr/>
              <a:t>14</a:t>
            </a:fld>
            <a:endParaRPr lang="en-US"/>
          </a:p>
        </p:txBody>
      </p:sp>
      <p:sp>
        <p:nvSpPr>
          <p:cNvPr id="417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7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EA3F23-AD29-4F30-9FA1-909EEF929373}" type="slidenum">
              <a:rPr lang="en-US"/>
              <a:pPr/>
              <a:t>15</a:t>
            </a:fld>
            <a:endParaRPr lang="en-US"/>
          </a:p>
        </p:txBody>
      </p:sp>
      <p:sp>
        <p:nvSpPr>
          <p:cNvPr id="418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8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758F82-BC0F-4F40-B540-D11AFDD69A3A}" type="slidenum">
              <a:rPr lang="en-US"/>
              <a:pPr/>
              <a:t>16</a:t>
            </a:fld>
            <a:endParaRPr lang="en-US"/>
          </a:p>
        </p:txBody>
      </p:sp>
      <p:sp>
        <p:nvSpPr>
          <p:cNvPr id="419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347B43-3460-4007-BFFC-2F78A1F6E94C}" type="slidenum">
              <a:rPr lang="en-US"/>
              <a:pPr/>
              <a:t>17</a:t>
            </a:fld>
            <a:endParaRPr lang="en-US"/>
          </a:p>
        </p:txBody>
      </p:sp>
      <p:sp>
        <p:nvSpPr>
          <p:cNvPr id="420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0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F3A4B5-5062-4C87-A208-C249CACF3500}" type="slidenum">
              <a:rPr lang="en-US"/>
              <a:pPr/>
              <a:t>18</a:t>
            </a:fld>
            <a:endParaRPr lang="en-US"/>
          </a:p>
        </p:txBody>
      </p:sp>
      <p:sp>
        <p:nvSpPr>
          <p:cNvPr id="421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1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1D2C43-22C4-4395-9F42-FE319B5CC729}" type="slidenum">
              <a:rPr lang="en-US"/>
              <a:pPr/>
              <a:t>19</a:t>
            </a:fld>
            <a:endParaRPr lang="en-US"/>
          </a:p>
        </p:txBody>
      </p:sp>
      <p:sp>
        <p:nvSpPr>
          <p:cNvPr id="422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2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23D1EF-7203-4BBF-8659-E5828157E97D}" type="slidenum">
              <a:rPr lang="en-US"/>
              <a:pPr/>
              <a:t>20</a:t>
            </a:fld>
            <a:endParaRPr lang="en-US"/>
          </a:p>
        </p:txBody>
      </p:sp>
      <p:sp>
        <p:nvSpPr>
          <p:cNvPr id="424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4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0CF996-B1BA-4116-BBF1-49FEB21601F8}" type="slidenum">
              <a:rPr lang="en-US"/>
              <a:pPr/>
              <a:t>21</a:t>
            </a:fld>
            <a:endParaRPr lang="en-US"/>
          </a:p>
        </p:txBody>
      </p:sp>
      <p:sp>
        <p:nvSpPr>
          <p:cNvPr id="427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7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5175C4-E1C9-4F81-A5EB-919D2E68DE9A}" type="slidenum">
              <a:rPr lang="en-US"/>
              <a:pPr/>
              <a:t>22</a:t>
            </a:fld>
            <a:endParaRPr lang="en-US"/>
          </a:p>
        </p:txBody>
      </p:sp>
      <p:sp>
        <p:nvSpPr>
          <p:cNvPr id="428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8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E76A2E-3052-4A36-938E-746302A291E9}" type="slidenum">
              <a:rPr lang="en-US"/>
              <a:pPr/>
              <a:t>23</a:t>
            </a:fld>
            <a:endParaRPr lang="en-US"/>
          </a:p>
        </p:txBody>
      </p:sp>
      <p:sp>
        <p:nvSpPr>
          <p:cNvPr id="429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9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998CA7-F07E-4B1A-A98F-488390CE2D7C}" type="slidenum">
              <a:rPr lang="en-US"/>
              <a:pPr/>
              <a:t>24</a:t>
            </a:fld>
            <a:endParaRPr lang="en-US"/>
          </a:p>
        </p:txBody>
      </p:sp>
      <p:sp>
        <p:nvSpPr>
          <p:cNvPr id="430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675304E-1DEA-45D7-A3AB-AAA34B8E6929}" type="slidenum">
              <a:rPr lang="en-US"/>
              <a:pPr/>
              <a:t>25</a:t>
            </a:fld>
            <a:endParaRPr lang="en-US"/>
          </a:p>
        </p:txBody>
      </p:sp>
      <p:sp>
        <p:nvSpPr>
          <p:cNvPr id="431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1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DB4BE8-891A-44CA-A069-7EDCEBD3DBEA}" type="slidenum">
              <a:rPr lang="en-US"/>
              <a:pPr/>
              <a:t>26</a:t>
            </a:fld>
            <a:endParaRPr lang="en-US"/>
          </a:p>
        </p:txBody>
      </p:sp>
      <p:sp>
        <p:nvSpPr>
          <p:cNvPr id="432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2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6D0D7C-627F-4122-9E70-F4EBB620EDB1}" type="slidenum">
              <a:rPr lang="en-US"/>
              <a:pPr/>
              <a:t>27</a:t>
            </a:fld>
            <a:endParaRPr lang="en-US"/>
          </a:p>
        </p:txBody>
      </p:sp>
      <p:sp>
        <p:nvSpPr>
          <p:cNvPr id="434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4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C9966F-027B-44CB-94A2-65E3F6258E65}" type="slidenum">
              <a:rPr lang="en-US"/>
              <a:pPr/>
              <a:t>28</a:t>
            </a:fld>
            <a:endParaRPr lang="en-US"/>
          </a:p>
        </p:txBody>
      </p:sp>
      <p:sp>
        <p:nvSpPr>
          <p:cNvPr id="435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A9D4C0-7078-446E-B3D5-AC97952B97DB}" type="slidenum">
              <a:rPr lang="en-US"/>
              <a:pPr/>
              <a:t>29</a:t>
            </a:fld>
            <a:endParaRPr lang="en-US"/>
          </a:p>
        </p:txBody>
      </p:sp>
      <p:sp>
        <p:nvSpPr>
          <p:cNvPr id="436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6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EC3FDA-56D8-4AF0-A84C-72E67C8107F4}" type="slidenum">
              <a:rPr lang="en-US"/>
              <a:pPr/>
              <a:t>30</a:t>
            </a:fld>
            <a:endParaRPr lang="en-US"/>
          </a:p>
        </p:txBody>
      </p:sp>
      <p:sp>
        <p:nvSpPr>
          <p:cNvPr id="437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7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7F12E18-BB14-404F-B4C9-69DC1BFE2DD9}" type="slidenum">
              <a:rPr lang="en-US"/>
              <a:pPr/>
              <a:t>47</a:t>
            </a:fld>
            <a:endParaRPr lang="en-US"/>
          </a:p>
        </p:txBody>
      </p:sp>
      <p:sp>
        <p:nvSpPr>
          <p:cNvPr id="4915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113F02C-D136-42F0-897E-023A03C682D5}" type="slidenum">
              <a:rPr lang="en-US"/>
              <a:pPr/>
              <a:t>48</a:t>
            </a:fld>
            <a:endParaRPr lang="en-US"/>
          </a:p>
        </p:txBody>
      </p:sp>
      <p:sp>
        <p:nvSpPr>
          <p:cNvPr id="501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16A6142-7249-4B42-B38E-884D19B80965}" type="slidenum">
              <a:rPr lang="en-US"/>
              <a:pPr/>
              <a:t>49</a:t>
            </a:fld>
            <a:endParaRPr lang="en-US"/>
          </a:p>
        </p:txBody>
      </p:sp>
      <p:sp>
        <p:nvSpPr>
          <p:cNvPr id="5120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645033E-D638-401A-AA86-4217FDA889A8}" type="slidenum">
              <a:rPr lang="en-US"/>
              <a:pPr/>
              <a:t>50</a:t>
            </a:fld>
            <a:endParaRPr lang="en-US"/>
          </a:p>
        </p:txBody>
      </p:sp>
      <p:sp>
        <p:nvSpPr>
          <p:cNvPr id="5222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081993A-A7FD-45F7-BA89-F2E7D7A50638}" type="slidenum">
              <a:rPr lang="en-US"/>
              <a:pPr/>
              <a:t>51</a:t>
            </a:fld>
            <a:endParaRPr lang="en-US"/>
          </a:p>
        </p:txBody>
      </p:sp>
      <p:sp>
        <p:nvSpPr>
          <p:cNvPr id="5324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ED5B746-88D1-4117-997D-67327E139CBD}" type="slidenum">
              <a:rPr lang="en-US"/>
              <a:pPr/>
              <a:t>52</a:t>
            </a:fld>
            <a:endParaRPr lang="en-US"/>
          </a:p>
        </p:txBody>
      </p:sp>
      <p:sp>
        <p:nvSpPr>
          <p:cNvPr id="5427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B9ED9F8-E452-4070-BD24-552E3C68F828}" type="slidenum">
              <a:rPr lang="en-US"/>
              <a:pPr/>
              <a:t>53</a:t>
            </a:fld>
            <a:endParaRPr lang="en-US"/>
          </a:p>
        </p:txBody>
      </p:sp>
      <p:sp>
        <p:nvSpPr>
          <p:cNvPr id="552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D4458B3-5FCA-4A00-97B2-04C9868DAD8B}" type="slidenum">
              <a:rPr lang="en-US"/>
              <a:pPr/>
              <a:t>54</a:t>
            </a:fld>
            <a:endParaRPr lang="en-US"/>
          </a:p>
        </p:txBody>
      </p:sp>
      <p:sp>
        <p:nvSpPr>
          <p:cNvPr id="5632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37D3841-757B-4B70-8D8E-1800CD5FA157}" type="slidenum">
              <a:rPr lang="en-US"/>
              <a:pPr/>
              <a:t>55</a:t>
            </a:fld>
            <a:endParaRPr lang="en-US"/>
          </a:p>
        </p:txBody>
      </p:sp>
      <p:sp>
        <p:nvSpPr>
          <p:cNvPr id="5734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05B25A0-4872-428D-A164-80F46B131F16}" type="slidenum">
              <a:rPr lang="en-US"/>
              <a:pPr/>
              <a:t>56</a:t>
            </a:fld>
            <a:endParaRPr lang="en-US"/>
          </a:p>
        </p:txBody>
      </p:sp>
      <p:sp>
        <p:nvSpPr>
          <p:cNvPr id="5836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D61A6D8-E2F6-491E-8878-11C4991EE29F}" type="slidenum">
              <a:rPr lang="en-US"/>
              <a:pPr/>
              <a:t>57</a:t>
            </a:fld>
            <a:endParaRPr lang="en-US"/>
          </a:p>
        </p:txBody>
      </p:sp>
      <p:sp>
        <p:nvSpPr>
          <p:cNvPr id="5939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C0F5402-3C1C-4E5C-8238-5B01AA8277CF}" type="slidenum">
              <a:rPr lang="en-US"/>
              <a:pPr/>
              <a:t>58</a:t>
            </a:fld>
            <a:endParaRPr lang="en-US"/>
          </a:p>
        </p:txBody>
      </p:sp>
      <p:sp>
        <p:nvSpPr>
          <p:cNvPr id="6041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EE05E09-A6C9-4649-B937-E2EACF3049F3}" type="slidenum">
              <a:rPr lang="en-US"/>
              <a:pPr/>
              <a:t>59</a:t>
            </a:fld>
            <a:endParaRPr lang="en-US"/>
          </a:p>
        </p:txBody>
      </p:sp>
      <p:sp>
        <p:nvSpPr>
          <p:cNvPr id="6144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0274B05-CEFD-4420-AE7B-A01124BE57E3}" type="slidenum">
              <a:rPr lang="en-US"/>
              <a:pPr/>
              <a:t>60</a:t>
            </a:fld>
            <a:endParaRPr lang="en-US"/>
          </a:p>
        </p:txBody>
      </p:sp>
      <p:sp>
        <p:nvSpPr>
          <p:cNvPr id="6246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8279271-3435-4932-9B1E-806FA9E77DF2}" type="slidenum">
              <a:rPr lang="en-US"/>
              <a:pPr/>
              <a:t>61</a:t>
            </a:fld>
            <a:endParaRPr lang="en-US"/>
          </a:p>
        </p:txBody>
      </p:sp>
      <p:sp>
        <p:nvSpPr>
          <p:cNvPr id="6348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C6AA0EE-5E2D-4F7E-8067-A2BC85FD4EBD}" type="slidenum">
              <a:rPr lang="en-US"/>
              <a:pPr/>
              <a:t>62</a:t>
            </a:fld>
            <a:endParaRPr lang="en-US"/>
          </a:p>
        </p:txBody>
      </p:sp>
      <p:sp>
        <p:nvSpPr>
          <p:cNvPr id="6451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887E848-9C5B-4620-A19A-CC668F0EB8DF}" type="slidenum">
              <a:rPr lang="en-US"/>
              <a:pPr/>
              <a:t>63</a:t>
            </a:fld>
            <a:endParaRPr lang="en-US"/>
          </a:p>
        </p:txBody>
      </p:sp>
      <p:sp>
        <p:nvSpPr>
          <p:cNvPr id="6553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34CF944-A761-42C2-A90C-EA2B7E0B3792}" type="slidenum">
              <a:rPr lang="en-US"/>
              <a:pPr/>
              <a:t>64</a:t>
            </a:fld>
            <a:endParaRPr lang="en-US"/>
          </a:p>
        </p:txBody>
      </p:sp>
      <p:sp>
        <p:nvSpPr>
          <p:cNvPr id="6656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3E5319F-C6C5-4326-9C76-859A6F7F7C0A}" type="slidenum">
              <a:rPr lang="en-US"/>
              <a:pPr/>
              <a:t>65</a:t>
            </a:fld>
            <a:endParaRPr lang="en-US"/>
          </a:p>
        </p:txBody>
      </p:sp>
      <p:sp>
        <p:nvSpPr>
          <p:cNvPr id="675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155D495-FF2E-4265-9E68-C38DE5F77E88}" type="slidenum">
              <a:rPr lang="en-US"/>
              <a:pPr/>
              <a:t>66</a:t>
            </a:fld>
            <a:endParaRPr lang="en-US"/>
          </a:p>
        </p:txBody>
      </p:sp>
      <p:sp>
        <p:nvSpPr>
          <p:cNvPr id="6860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527B513-CEBB-4BE2-A67C-F4403D6C5D1A}" type="slidenum">
              <a:rPr lang="en-US"/>
              <a:pPr/>
              <a:t>67</a:t>
            </a:fld>
            <a:endParaRPr lang="en-US"/>
          </a:p>
        </p:txBody>
      </p:sp>
      <p:sp>
        <p:nvSpPr>
          <p:cNvPr id="6963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60F00C5-2103-47E9-B8DA-2CE934C78452}" type="slidenum">
              <a:rPr lang="en-US"/>
              <a:pPr/>
              <a:t>68</a:t>
            </a:fld>
            <a:endParaRPr lang="en-US"/>
          </a:p>
        </p:txBody>
      </p:sp>
      <p:sp>
        <p:nvSpPr>
          <p:cNvPr id="7065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46476BB-262F-4474-9247-556E373A4C5B}" type="slidenum">
              <a:rPr lang="en-US"/>
              <a:pPr/>
              <a:t>69</a:t>
            </a:fld>
            <a:endParaRPr lang="en-US"/>
          </a:p>
        </p:txBody>
      </p:sp>
      <p:sp>
        <p:nvSpPr>
          <p:cNvPr id="7168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206DD9B-6153-4EBD-B386-4BD45C5E33BA}" type="slidenum">
              <a:rPr lang="en-US"/>
              <a:pPr/>
              <a:t>70</a:t>
            </a:fld>
            <a:endParaRPr lang="en-US"/>
          </a:p>
        </p:txBody>
      </p:sp>
      <p:sp>
        <p:nvSpPr>
          <p:cNvPr id="7270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BB456A1-66D2-45B5-BFCF-40901AB98B7B}" type="slidenum">
              <a:rPr lang="en-US"/>
              <a:pPr/>
              <a:t>71</a:t>
            </a:fld>
            <a:endParaRPr lang="en-US"/>
          </a:p>
        </p:txBody>
      </p:sp>
      <p:sp>
        <p:nvSpPr>
          <p:cNvPr id="7372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D786EFD-A1C9-4AE1-A1F6-EB8A7AA647D2}" type="slidenum">
              <a:rPr lang="en-US"/>
              <a:pPr/>
              <a:t>72</a:t>
            </a:fld>
            <a:endParaRPr lang="en-US"/>
          </a:p>
        </p:txBody>
      </p:sp>
      <p:sp>
        <p:nvSpPr>
          <p:cNvPr id="7475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FA36296-FB46-49BE-A818-CB7E3270404C}" type="slidenum">
              <a:rPr lang="en-US"/>
              <a:pPr/>
              <a:t>73</a:t>
            </a:fld>
            <a:endParaRPr lang="en-US"/>
          </a:p>
        </p:txBody>
      </p:sp>
      <p:sp>
        <p:nvSpPr>
          <p:cNvPr id="757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B786752-5771-430D-84C6-BEF42D871815}" type="slidenum">
              <a:rPr lang="en-US"/>
              <a:pPr/>
              <a:t>74</a:t>
            </a:fld>
            <a:endParaRPr lang="en-US"/>
          </a:p>
        </p:txBody>
      </p:sp>
      <p:sp>
        <p:nvSpPr>
          <p:cNvPr id="7680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9E8015C-31DF-4338-A22F-F59E1DBC8607}" type="slidenum">
              <a:rPr lang="en-US"/>
              <a:pPr/>
              <a:t>75</a:t>
            </a:fld>
            <a:endParaRPr lang="en-US"/>
          </a:p>
        </p:txBody>
      </p:sp>
      <p:sp>
        <p:nvSpPr>
          <p:cNvPr id="7782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EAA028D-67C9-4021-A74F-6280A5E4A8E5}" type="slidenum">
              <a:rPr lang="en-US"/>
              <a:pPr/>
              <a:t>76</a:t>
            </a:fld>
            <a:endParaRPr lang="en-US"/>
          </a:p>
        </p:txBody>
      </p:sp>
      <p:sp>
        <p:nvSpPr>
          <p:cNvPr id="7884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8A83529-69B5-4CEA-A028-04F8D0B425D8}" type="slidenum">
              <a:rPr lang="en-US"/>
              <a:pPr/>
              <a:t>77</a:t>
            </a:fld>
            <a:endParaRPr lang="en-US"/>
          </a:p>
        </p:txBody>
      </p:sp>
      <p:sp>
        <p:nvSpPr>
          <p:cNvPr id="7987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1BE67E4-1B39-4E65-B69E-60BE67F5FB6A}" type="slidenum">
              <a:rPr lang="en-US"/>
              <a:pPr/>
              <a:t>78</a:t>
            </a:fld>
            <a:endParaRPr lang="en-US"/>
          </a:p>
        </p:txBody>
      </p:sp>
      <p:sp>
        <p:nvSpPr>
          <p:cNvPr id="808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FEA56C7-33D8-4029-AF53-9ABF32ED77E4}" type="slidenum">
              <a:rPr lang="en-US"/>
              <a:pPr/>
              <a:t>79</a:t>
            </a:fld>
            <a:endParaRPr lang="en-US"/>
          </a:p>
        </p:txBody>
      </p:sp>
      <p:sp>
        <p:nvSpPr>
          <p:cNvPr id="8192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5E11734-846C-46A0-A75E-C12E13F58D31}" type="slidenum">
              <a:rPr lang="en-US"/>
              <a:pPr/>
              <a:t>80</a:t>
            </a:fld>
            <a:endParaRPr lang="en-US"/>
          </a:p>
        </p:txBody>
      </p:sp>
      <p:sp>
        <p:nvSpPr>
          <p:cNvPr id="8294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2969ADA-D267-4D2D-B665-AFE16491486F}" type="slidenum">
              <a:rPr lang="en-US"/>
              <a:pPr/>
              <a:t>81</a:t>
            </a:fld>
            <a:endParaRPr lang="en-US"/>
          </a:p>
        </p:txBody>
      </p:sp>
      <p:sp>
        <p:nvSpPr>
          <p:cNvPr id="8396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3F813BC-33AC-4B4C-B8E9-BE3980D795AE}" type="slidenum">
              <a:rPr lang="en-US"/>
              <a:pPr/>
              <a:t>82</a:t>
            </a:fld>
            <a:endParaRPr lang="en-US"/>
          </a:p>
        </p:txBody>
      </p:sp>
      <p:sp>
        <p:nvSpPr>
          <p:cNvPr id="8499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CCCA34F-5F82-4333-9B7C-7F1631A9E871}" type="slidenum">
              <a:rPr lang="en-US"/>
              <a:pPr/>
              <a:t>83</a:t>
            </a:fld>
            <a:endParaRPr lang="en-US"/>
          </a:p>
        </p:txBody>
      </p:sp>
      <p:sp>
        <p:nvSpPr>
          <p:cNvPr id="8601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19F533C-DB88-46BB-B58C-47CC2D22AA4F}" type="slidenum">
              <a:rPr lang="en-US"/>
              <a:pPr/>
              <a:t>84</a:t>
            </a:fld>
            <a:endParaRPr lang="en-US"/>
          </a:p>
        </p:txBody>
      </p:sp>
      <p:sp>
        <p:nvSpPr>
          <p:cNvPr id="8704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F47128E-F730-43A0-AA09-80CF692D3E88}" type="slidenum">
              <a:rPr lang="en-US"/>
              <a:pPr/>
              <a:t>85</a:t>
            </a:fld>
            <a:endParaRPr lang="en-US"/>
          </a:p>
        </p:txBody>
      </p:sp>
      <p:sp>
        <p:nvSpPr>
          <p:cNvPr id="8806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652D62C-20BB-42A8-8821-16D3F9E5828C}" type="slidenum">
              <a:rPr lang="en-US"/>
              <a:pPr/>
              <a:t>86</a:t>
            </a:fld>
            <a:endParaRPr lang="en-US"/>
          </a:p>
        </p:txBody>
      </p:sp>
      <p:sp>
        <p:nvSpPr>
          <p:cNvPr id="8908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1A940C-CFF0-4343-B435-1ABF3A455F43}" type="slidenum">
              <a:rPr lang="en-US"/>
              <a:pPr/>
              <a:t>87</a:t>
            </a:fld>
            <a:endParaRPr lang="en-US"/>
          </a:p>
        </p:txBody>
      </p:sp>
      <p:sp>
        <p:nvSpPr>
          <p:cNvPr id="9011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011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3772" y="4343716"/>
            <a:ext cx="5030456" cy="41154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4A8D-66BD-475F-853D-564E0D1347B0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839D7-262E-4F74-B18A-4B1961F878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4A8D-66BD-475F-853D-564E0D1347B0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839D7-262E-4F74-B18A-4B1961F878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4A8D-66BD-475F-853D-564E0D1347B0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839D7-262E-4F74-B18A-4B1961F878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4A8D-66BD-475F-853D-564E0D1347B0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839D7-262E-4F74-B18A-4B1961F878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4A8D-66BD-475F-853D-564E0D1347B0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839D7-262E-4F74-B18A-4B1961F878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4A8D-66BD-475F-853D-564E0D1347B0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839D7-262E-4F74-B18A-4B1961F878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4A8D-66BD-475F-853D-564E0D1347B0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839D7-262E-4F74-B18A-4B1961F878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4A8D-66BD-475F-853D-564E0D1347B0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839D7-262E-4F74-B18A-4B1961F878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4A8D-66BD-475F-853D-564E0D1347B0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839D7-262E-4F74-B18A-4B1961F878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4A8D-66BD-475F-853D-564E0D1347B0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839D7-262E-4F74-B18A-4B1961F878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4A8D-66BD-475F-853D-564E0D1347B0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839D7-262E-4F74-B18A-4B1961F878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B4A8D-66BD-475F-853D-564E0D1347B0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839D7-262E-4F74-B18A-4B1961F8786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2.bin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13" Type="http://schemas.openxmlformats.org/officeDocument/2006/relationships/tags" Target="../tags/tag18.xml"/><Relationship Id="rId18" Type="http://schemas.openxmlformats.org/officeDocument/2006/relationships/tags" Target="../tags/tag23.xml"/><Relationship Id="rId26" Type="http://schemas.openxmlformats.org/officeDocument/2006/relationships/slideLayout" Target="../slideLayouts/slideLayout2.xml"/><Relationship Id="rId3" Type="http://schemas.openxmlformats.org/officeDocument/2006/relationships/tags" Target="../tags/tag8.xml"/><Relationship Id="rId21" Type="http://schemas.openxmlformats.org/officeDocument/2006/relationships/tags" Target="../tags/tag26.xml"/><Relationship Id="rId7" Type="http://schemas.openxmlformats.org/officeDocument/2006/relationships/tags" Target="../tags/tag12.xml"/><Relationship Id="rId12" Type="http://schemas.openxmlformats.org/officeDocument/2006/relationships/tags" Target="../tags/tag17.xml"/><Relationship Id="rId17" Type="http://schemas.openxmlformats.org/officeDocument/2006/relationships/tags" Target="../tags/tag22.xml"/><Relationship Id="rId25" Type="http://schemas.openxmlformats.org/officeDocument/2006/relationships/tags" Target="../tags/tag30.xml"/><Relationship Id="rId2" Type="http://schemas.openxmlformats.org/officeDocument/2006/relationships/tags" Target="../tags/tag7.xml"/><Relationship Id="rId16" Type="http://schemas.openxmlformats.org/officeDocument/2006/relationships/tags" Target="../tags/tag21.xml"/><Relationship Id="rId20" Type="http://schemas.openxmlformats.org/officeDocument/2006/relationships/tags" Target="../tags/tag25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tags" Target="../tags/tag16.xml"/><Relationship Id="rId24" Type="http://schemas.openxmlformats.org/officeDocument/2006/relationships/tags" Target="../tags/tag29.xml"/><Relationship Id="rId5" Type="http://schemas.openxmlformats.org/officeDocument/2006/relationships/tags" Target="../tags/tag10.xml"/><Relationship Id="rId15" Type="http://schemas.openxmlformats.org/officeDocument/2006/relationships/tags" Target="../tags/tag20.xml"/><Relationship Id="rId23" Type="http://schemas.openxmlformats.org/officeDocument/2006/relationships/tags" Target="../tags/tag28.xml"/><Relationship Id="rId10" Type="http://schemas.openxmlformats.org/officeDocument/2006/relationships/tags" Target="../tags/tag15.xml"/><Relationship Id="rId19" Type="http://schemas.openxmlformats.org/officeDocument/2006/relationships/tags" Target="../tags/tag24.xml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4" Type="http://schemas.openxmlformats.org/officeDocument/2006/relationships/tags" Target="../tags/tag19.xml"/><Relationship Id="rId22" Type="http://schemas.openxmlformats.org/officeDocument/2006/relationships/tags" Target="../tags/tag27.xml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9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13" Type="http://schemas.openxmlformats.org/officeDocument/2006/relationships/tags" Target="../tags/tag51.xml"/><Relationship Id="rId18" Type="http://schemas.openxmlformats.org/officeDocument/2006/relationships/tags" Target="../tags/tag56.xml"/><Relationship Id="rId26" Type="http://schemas.openxmlformats.org/officeDocument/2006/relationships/tags" Target="../tags/tag64.xml"/><Relationship Id="rId3" Type="http://schemas.openxmlformats.org/officeDocument/2006/relationships/tags" Target="../tags/tag41.xml"/><Relationship Id="rId21" Type="http://schemas.openxmlformats.org/officeDocument/2006/relationships/tags" Target="../tags/tag59.xml"/><Relationship Id="rId7" Type="http://schemas.openxmlformats.org/officeDocument/2006/relationships/tags" Target="../tags/tag45.xml"/><Relationship Id="rId12" Type="http://schemas.openxmlformats.org/officeDocument/2006/relationships/tags" Target="../tags/tag50.xml"/><Relationship Id="rId17" Type="http://schemas.openxmlformats.org/officeDocument/2006/relationships/tags" Target="../tags/tag55.xml"/><Relationship Id="rId25" Type="http://schemas.openxmlformats.org/officeDocument/2006/relationships/tags" Target="../tags/tag63.xml"/><Relationship Id="rId2" Type="http://schemas.openxmlformats.org/officeDocument/2006/relationships/tags" Target="../tags/tag40.xml"/><Relationship Id="rId16" Type="http://schemas.openxmlformats.org/officeDocument/2006/relationships/tags" Target="../tags/tag54.xml"/><Relationship Id="rId20" Type="http://schemas.openxmlformats.org/officeDocument/2006/relationships/tags" Target="../tags/tag58.xml"/><Relationship Id="rId29" Type="http://schemas.openxmlformats.org/officeDocument/2006/relationships/tags" Target="../tags/tag67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tags" Target="../tags/tag49.xml"/><Relationship Id="rId24" Type="http://schemas.openxmlformats.org/officeDocument/2006/relationships/tags" Target="../tags/tag62.xml"/><Relationship Id="rId5" Type="http://schemas.openxmlformats.org/officeDocument/2006/relationships/tags" Target="../tags/tag43.xml"/><Relationship Id="rId15" Type="http://schemas.openxmlformats.org/officeDocument/2006/relationships/tags" Target="../tags/tag53.xml"/><Relationship Id="rId23" Type="http://schemas.openxmlformats.org/officeDocument/2006/relationships/tags" Target="../tags/tag61.xml"/><Relationship Id="rId28" Type="http://schemas.openxmlformats.org/officeDocument/2006/relationships/tags" Target="../tags/tag66.xml"/><Relationship Id="rId10" Type="http://schemas.openxmlformats.org/officeDocument/2006/relationships/tags" Target="../tags/tag48.xml"/><Relationship Id="rId19" Type="http://schemas.openxmlformats.org/officeDocument/2006/relationships/tags" Target="../tags/tag57.xml"/><Relationship Id="rId31" Type="http://schemas.openxmlformats.org/officeDocument/2006/relationships/slideLayout" Target="../slideLayouts/slideLayout2.xml"/><Relationship Id="rId4" Type="http://schemas.openxmlformats.org/officeDocument/2006/relationships/tags" Target="../tags/tag42.xml"/><Relationship Id="rId9" Type="http://schemas.openxmlformats.org/officeDocument/2006/relationships/tags" Target="../tags/tag47.xml"/><Relationship Id="rId14" Type="http://schemas.openxmlformats.org/officeDocument/2006/relationships/tags" Target="../tags/tag52.xml"/><Relationship Id="rId22" Type="http://schemas.openxmlformats.org/officeDocument/2006/relationships/tags" Target="../tags/tag60.xml"/><Relationship Id="rId27" Type="http://schemas.openxmlformats.org/officeDocument/2006/relationships/tags" Target="../tags/tag65.xml"/><Relationship Id="rId30" Type="http://schemas.openxmlformats.org/officeDocument/2006/relationships/tags" Target="../tags/tag68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tags" Target="../tags/tag86.xml"/><Relationship Id="rId26" Type="http://schemas.openxmlformats.org/officeDocument/2006/relationships/tags" Target="../tags/tag94.xml"/><Relationship Id="rId3" Type="http://schemas.openxmlformats.org/officeDocument/2006/relationships/tags" Target="../tags/tag71.xml"/><Relationship Id="rId21" Type="http://schemas.openxmlformats.org/officeDocument/2006/relationships/tags" Target="../tags/tag89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5" Type="http://schemas.openxmlformats.org/officeDocument/2006/relationships/tags" Target="../tags/tag93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20" Type="http://schemas.openxmlformats.org/officeDocument/2006/relationships/tags" Target="../tags/tag88.xml"/><Relationship Id="rId29" Type="http://schemas.openxmlformats.org/officeDocument/2006/relationships/tags" Target="../tags/tag97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24" Type="http://schemas.openxmlformats.org/officeDocument/2006/relationships/tags" Target="../tags/tag92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23" Type="http://schemas.openxmlformats.org/officeDocument/2006/relationships/tags" Target="../tags/tag91.xml"/><Relationship Id="rId28" Type="http://schemas.openxmlformats.org/officeDocument/2006/relationships/tags" Target="../tags/tag96.xml"/><Relationship Id="rId10" Type="http://schemas.openxmlformats.org/officeDocument/2006/relationships/tags" Target="../tags/tag78.xml"/><Relationship Id="rId19" Type="http://schemas.openxmlformats.org/officeDocument/2006/relationships/tags" Target="../tags/tag87.xml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Relationship Id="rId22" Type="http://schemas.openxmlformats.org/officeDocument/2006/relationships/tags" Target="../tags/tag90.xml"/><Relationship Id="rId27" Type="http://schemas.openxmlformats.org/officeDocument/2006/relationships/tags" Target="../tags/tag95.xml"/><Relationship Id="rId30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tags" Target="../tags/tag105.xml"/><Relationship Id="rId13" Type="http://schemas.openxmlformats.org/officeDocument/2006/relationships/tags" Target="../tags/tag110.xml"/><Relationship Id="rId18" Type="http://schemas.openxmlformats.org/officeDocument/2006/relationships/tags" Target="../tags/tag115.xml"/><Relationship Id="rId26" Type="http://schemas.openxmlformats.org/officeDocument/2006/relationships/tags" Target="../tags/tag123.xml"/><Relationship Id="rId3" Type="http://schemas.openxmlformats.org/officeDocument/2006/relationships/tags" Target="../tags/tag100.xml"/><Relationship Id="rId21" Type="http://schemas.openxmlformats.org/officeDocument/2006/relationships/tags" Target="../tags/tag118.xml"/><Relationship Id="rId7" Type="http://schemas.openxmlformats.org/officeDocument/2006/relationships/tags" Target="../tags/tag104.xml"/><Relationship Id="rId12" Type="http://schemas.openxmlformats.org/officeDocument/2006/relationships/tags" Target="../tags/tag109.xml"/><Relationship Id="rId17" Type="http://schemas.openxmlformats.org/officeDocument/2006/relationships/tags" Target="../tags/tag114.xml"/><Relationship Id="rId25" Type="http://schemas.openxmlformats.org/officeDocument/2006/relationships/tags" Target="../tags/tag122.xml"/><Relationship Id="rId2" Type="http://schemas.openxmlformats.org/officeDocument/2006/relationships/tags" Target="../tags/tag99.xml"/><Relationship Id="rId16" Type="http://schemas.openxmlformats.org/officeDocument/2006/relationships/tags" Target="../tags/tag113.xml"/><Relationship Id="rId20" Type="http://schemas.openxmlformats.org/officeDocument/2006/relationships/tags" Target="../tags/tag117.xml"/><Relationship Id="rId29" Type="http://schemas.openxmlformats.org/officeDocument/2006/relationships/tags" Target="../tags/tag126.xml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11" Type="http://schemas.openxmlformats.org/officeDocument/2006/relationships/tags" Target="../tags/tag108.xml"/><Relationship Id="rId24" Type="http://schemas.openxmlformats.org/officeDocument/2006/relationships/tags" Target="../tags/tag121.xml"/><Relationship Id="rId5" Type="http://schemas.openxmlformats.org/officeDocument/2006/relationships/tags" Target="../tags/tag102.xml"/><Relationship Id="rId15" Type="http://schemas.openxmlformats.org/officeDocument/2006/relationships/tags" Target="../tags/tag112.xml"/><Relationship Id="rId23" Type="http://schemas.openxmlformats.org/officeDocument/2006/relationships/tags" Target="../tags/tag120.xml"/><Relationship Id="rId28" Type="http://schemas.openxmlformats.org/officeDocument/2006/relationships/tags" Target="../tags/tag125.xml"/><Relationship Id="rId10" Type="http://schemas.openxmlformats.org/officeDocument/2006/relationships/tags" Target="../tags/tag107.xml"/><Relationship Id="rId19" Type="http://schemas.openxmlformats.org/officeDocument/2006/relationships/tags" Target="../tags/tag116.xml"/><Relationship Id="rId31" Type="http://schemas.openxmlformats.org/officeDocument/2006/relationships/slideLayout" Target="../slideLayouts/slideLayout7.xml"/><Relationship Id="rId4" Type="http://schemas.openxmlformats.org/officeDocument/2006/relationships/tags" Target="../tags/tag101.xml"/><Relationship Id="rId9" Type="http://schemas.openxmlformats.org/officeDocument/2006/relationships/tags" Target="../tags/tag106.xml"/><Relationship Id="rId14" Type="http://schemas.openxmlformats.org/officeDocument/2006/relationships/tags" Target="../tags/tag111.xml"/><Relationship Id="rId22" Type="http://schemas.openxmlformats.org/officeDocument/2006/relationships/tags" Target="../tags/tag119.xml"/><Relationship Id="rId27" Type="http://schemas.openxmlformats.org/officeDocument/2006/relationships/tags" Target="../tags/tag124.xml"/><Relationship Id="rId30" Type="http://schemas.openxmlformats.org/officeDocument/2006/relationships/tags" Target="../tags/tag127.xml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tags" Target="../tags/tag135.xml"/><Relationship Id="rId13" Type="http://schemas.openxmlformats.org/officeDocument/2006/relationships/tags" Target="../tags/tag140.xml"/><Relationship Id="rId18" Type="http://schemas.openxmlformats.org/officeDocument/2006/relationships/tags" Target="../tags/tag145.xml"/><Relationship Id="rId26" Type="http://schemas.openxmlformats.org/officeDocument/2006/relationships/tags" Target="../tags/tag153.xml"/><Relationship Id="rId3" Type="http://schemas.openxmlformats.org/officeDocument/2006/relationships/tags" Target="../tags/tag130.xml"/><Relationship Id="rId21" Type="http://schemas.openxmlformats.org/officeDocument/2006/relationships/tags" Target="../tags/tag148.xml"/><Relationship Id="rId7" Type="http://schemas.openxmlformats.org/officeDocument/2006/relationships/tags" Target="../tags/tag134.xml"/><Relationship Id="rId12" Type="http://schemas.openxmlformats.org/officeDocument/2006/relationships/tags" Target="../tags/tag139.xml"/><Relationship Id="rId17" Type="http://schemas.openxmlformats.org/officeDocument/2006/relationships/tags" Target="../tags/tag144.xml"/><Relationship Id="rId25" Type="http://schemas.openxmlformats.org/officeDocument/2006/relationships/tags" Target="../tags/tag152.xml"/><Relationship Id="rId2" Type="http://schemas.openxmlformats.org/officeDocument/2006/relationships/tags" Target="../tags/tag129.xml"/><Relationship Id="rId16" Type="http://schemas.openxmlformats.org/officeDocument/2006/relationships/tags" Target="../tags/tag143.xml"/><Relationship Id="rId20" Type="http://schemas.openxmlformats.org/officeDocument/2006/relationships/tags" Target="../tags/tag147.xml"/><Relationship Id="rId29" Type="http://schemas.openxmlformats.org/officeDocument/2006/relationships/tags" Target="../tags/tag156.xml"/><Relationship Id="rId1" Type="http://schemas.openxmlformats.org/officeDocument/2006/relationships/tags" Target="../tags/tag128.xml"/><Relationship Id="rId6" Type="http://schemas.openxmlformats.org/officeDocument/2006/relationships/tags" Target="../tags/tag133.xml"/><Relationship Id="rId11" Type="http://schemas.openxmlformats.org/officeDocument/2006/relationships/tags" Target="../tags/tag138.xml"/><Relationship Id="rId24" Type="http://schemas.openxmlformats.org/officeDocument/2006/relationships/tags" Target="../tags/tag151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2.xml"/><Relationship Id="rId15" Type="http://schemas.openxmlformats.org/officeDocument/2006/relationships/tags" Target="../tags/tag142.xml"/><Relationship Id="rId23" Type="http://schemas.openxmlformats.org/officeDocument/2006/relationships/tags" Target="../tags/tag150.xml"/><Relationship Id="rId28" Type="http://schemas.openxmlformats.org/officeDocument/2006/relationships/tags" Target="../tags/tag155.xml"/><Relationship Id="rId10" Type="http://schemas.openxmlformats.org/officeDocument/2006/relationships/tags" Target="../tags/tag137.xml"/><Relationship Id="rId19" Type="http://schemas.openxmlformats.org/officeDocument/2006/relationships/tags" Target="../tags/tag146.xml"/><Relationship Id="rId31" Type="http://schemas.openxmlformats.org/officeDocument/2006/relationships/tags" Target="../tags/tag158.xml"/><Relationship Id="rId4" Type="http://schemas.openxmlformats.org/officeDocument/2006/relationships/tags" Target="../tags/tag131.xml"/><Relationship Id="rId9" Type="http://schemas.openxmlformats.org/officeDocument/2006/relationships/tags" Target="../tags/tag136.xml"/><Relationship Id="rId14" Type="http://schemas.openxmlformats.org/officeDocument/2006/relationships/tags" Target="../tags/tag141.xml"/><Relationship Id="rId22" Type="http://schemas.openxmlformats.org/officeDocument/2006/relationships/tags" Target="../tags/tag149.xml"/><Relationship Id="rId27" Type="http://schemas.openxmlformats.org/officeDocument/2006/relationships/tags" Target="../tags/tag154.xml"/><Relationship Id="rId30" Type="http://schemas.openxmlformats.org/officeDocument/2006/relationships/tags" Target="../tags/tag157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tags" Target="../tags/tag166.xml"/><Relationship Id="rId13" Type="http://schemas.openxmlformats.org/officeDocument/2006/relationships/tags" Target="../tags/tag171.xml"/><Relationship Id="rId18" Type="http://schemas.openxmlformats.org/officeDocument/2006/relationships/tags" Target="../tags/tag176.xml"/><Relationship Id="rId26" Type="http://schemas.openxmlformats.org/officeDocument/2006/relationships/tags" Target="../tags/tag184.xml"/><Relationship Id="rId3" Type="http://schemas.openxmlformats.org/officeDocument/2006/relationships/tags" Target="../tags/tag161.xml"/><Relationship Id="rId21" Type="http://schemas.openxmlformats.org/officeDocument/2006/relationships/tags" Target="../tags/tag179.xml"/><Relationship Id="rId7" Type="http://schemas.openxmlformats.org/officeDocument/2006/relationships/tags" Target="../tags/tag165.xml"/><Relationship Id="rId12" Type="http://schemas.openxmlformats.org/officeDocument/2006/relationships/tags" Target="../tags/tag170.xml"/><Relationship Id="rId17" Type="http://schemas.openxmlformats.org/officeDocument/2006/relationships/tags" Target="../tags/tag175.xml"/><Relationship Id="rId25" Type="http://schemas.openxmlformats.org/officeDocument/2006/relationships/tags" Target="../tags/tag183.xml"/><Relationship Id="rId2" Type="http://schemas.openxmlformats.org/officeDocument/2006/relationships/tags" Target="../tags/tag160.xml"/><Relationship Id="rId16" Type="http://schemas.openxmlformats.org/officeDocument/2006/relationships/tags" Target="../tags/tag174.xml"/><Relationship Id="rId20" Type="http://schemas.openxmlformats.org/officeDocument/2006/relationships/tags" Target="../tags/tag178.xml"/><Relationship Id="rId29" Type="http://schemas.openxmlformats.org/officeDocument/2006/relationships/tags" Target="../tags/tag187.xml"/><Relationship Id="rId1" Type="http://schemas.openxmlformats.org/officeDocument/2006/relationships/tags" Target="../tags/tag159.xml"/><Relationship Id="rId6" Type="http://schemas.openxmlformats.org/officeDocument/2006/relationships/tags" Target="../tags/tag164.xml"/><Relationship Id="rId11" Type="http://schemas.openxmlformats.org/officeDocument/2006/relationships/tags" Target="../tags/tag169.xml"/><Relationship Id="rId24" Type="http://schemas.openxmlformats.org/officeDocument/2006/relationships/tags" Target="../tags/tag18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63.xml"/><Relationship Id="rId15" Type="http://schemas.openxmlformats.org/officeDocument/2006/relationships/tags" Target="../tags/tag173.xml"/><Relationship Id="rId23" Type="http://schemas.openxmlformats.org/officeDocument/2006/relationships/tags" Target="../tags/tag181.xml"/><Relationship Id="rId28" Type="http://schemas.openxmlformats.org/officeDocument/2006/relationships/tags" Target="../tags/tag186.xml"/><Relationship Id="rId10" Type="http://schemas.openxmlformats.org/officeDocument/2006/relationships/tags" Target="../tags/tag168.xml"/><Relationship Id="rId19" Type="http://schemas.openxmlformats.org/officeDocument/2006/relationships/tags" Target="../tags/tag177.xml"/><Relationship Id="rId31" Type="http://schemas.openxmlformats.org/officeDocument/2006/relationships/tags" Target="../tags/tag189.xml"/><Relationship Id="rId4" Type="http://schemas.openxmlformats.org/officeDocument/2006/relationships/tags" Target="../tags/tag162.xml"/><Relationship Id="rId9" Type="http://schemas.openxmlformats.org/officeDocument/2006/relationships/tags" Target="../tags/tag167.xml"/><Relationship Id="rId14" Type="http://schemas.openxmlformats.org/officeDocument/2006/relationships/tags" Target="../tags/tag172.xml"/><Relationship Id="rId22" Type="http://schemas.openxmlformats.org/officeDocument/2006/relationships/tags" Target="../tags/tag180.xml"/><Relationship Id="rId27" Type="http://schemas.openxmlformats.org/officeDocument/2006/relationships/tags" Target="../tags/tag185.xml"/><Relationship Id="rId30" Type="http://schemas.openxmlformats.org/officeDocument/2006/relationships/tags" Target="../tags/tag188.xml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tags" Target="../tags/tag197.xml"/><Relationship Id="rId13" Type="http://schemas.openxmlformats.org/officeDocument/2006/relationships/tags" Target="../tags/tag202.xml"/><Relationship Id="rId18" Type="http://schemas.openxmlformats.org/officeDocument/2006/relationships/tags" Target="../tags/tag207.xml"/><Relationship Id="rId26" Type="http://schemas.openxmlformats.org/officeDocument/2006/relationships/tags" Target="../tags/tag215.xml"/><Relationship Id="rId3" Type="http://schemas.openxmlformats.org/officeDocument/2006/relationships/tags" Target="../tags/tag192.xml"/><Relationship Id="rId21" Type="http://schemas.openxmlformats.org/officeDocument/2006/relationships/tags" Target="../tags/tag210.xml"/><Relationship Id="rId7" Type="http://schemas.openxmlformats.org/officeDocument/2006/relationships/tags" Target="../tags/tag196.xml"/><Relationship Id="rId12" Type="http://schemas.openxmlformats.org/officeDocument/2006/relationships/tags" Target="../tags/tag201.xml"/><Relationship Id="rId17" Type="http://schemas.openxmlformats.org/officeDocument/2006/relationships/tags" Target="../tags/tag206.xml"/><Relationship Id="rId25" Type="http://schemas.openxmlformats.org/officeDocument/2006/relationships/tags" Target="../tags/tag214.xml"/><Relationship Id="rId2" Type="http://schemas.openxmlformats.org/officeDocument/2006/relationships/tags" Target="../tags/tag191.xml"/><Relationship Id="rId16" Type="http://schemas.openxmlformats.org/officeDocument/2006/relationships/tags" Target="../tags/tag205.xml"/><Relationship Id="rId20" Type="http://schemas.openxmlformats.org/officeDocument/2006/relationships/tags" Target="../tags/tag209.xml"/><Relationship Id="rId29" Type="http://schemas.openxmlformats.org/officeDocument/2006/relationships/slideLayout" Target="../slideLayouts/slideLayout7.xml"/><Relationship Id="rId1" Type="http://schemas.openxmlformats.org/officeDocument/2006/relationships/tags" Target="../tags/tag190.xml"/><Relationship Id="rId6" Type="http://schemas.openxmlformats.org/officeDocument/2006/relationships/tags" Target="../tags/tag195.xml"/><Relationship Id="rId11" Type="http://schemas.openxmlformats.org/officeDocument/2006/relationships/tags" Target="../tags/tag200.xml"/><Relationship Id="rId24" Type="http://schemas.openxmlformats.org/officeDocument/2006/relationships/tags" Target="../tags/tag213.xml"/><Relationship Id="rId5" Type="http://schemas.openxmlformats.org/officeDocument/2006/relationships/tags" Target="../tags/tag194.xml"/><Relationship Id="rId15" Type="http://schemas.openxmlformats.org/officeDocument/2006/relationships/tags" Target="../tags/tag204.xml"/><Relationship Id="rId23" Type="http://schemas.openxmlformats.org/officeDocument/2006/relationships/tags" Target="../tags/tag212.xml"/><Relationship Id="rId28" Type="http://schemas.openxmlformats.org/officeDocument/2006/relationships/tags" Target="../tags/tag217.xml"/><Relationship Id="rId10" Type="http://schemas.openxmlformats.org/officeDocument/2006/relationships/tags" Target="../tags/tag199.xml"/><Relationship Id="rId19" Type="http://schemas.openxmlformats.org/officeDocument/2006/relationships/tags" Target="../tags/tag208.xml"/><Relationship Id="rId4" Type="http://schemas.openxmlformats.org/officeDocument/2006/relationships/tags" Target="../tags/tag193.xml"/><Relationship Id="rId9" Type="http://schemas.openxmlformats.org/officeDocument/2006/relationships/tags" Target="../tags/tag198.xml"/><Relationship Id="rId14" Type="http://schemas.openxmlformats.org/officeDocument/2006/relationships/tags" Target="../tags/tag203.xml"/><Relationship Id="rId22" Type="http://schemas.openxmlformats.org/officeDocument/2006/relationships/tags" Target="../tags/tag211.xml"/><Relationship Id="rId27" Type="http://schemas.openxmlformats.org/officeDocument/2006/relationships/tags" Target="../tags/tag216.xml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tags" Target="../tags/tag225.xml"/><Relationship Id="rId13" Type="http://schemas.openxmlformats.org/officeDocument/2006/relationships/tags" Target="../tags/tag230.xml"/><Relationship Id="rId18" Type="http://schemas.openxmlformats.org/officeDocument/2006/relationships/tags" Target="../tags/tag235.xml"/><Relationship Id="rId26" Type="http://schemas.openxmlformats.org/officeDocument/2006/relationships/tags" Target="../tags/tag243.xml"/><Relationship Id="rId3" Type="http://schemas.openxmlformats.org/officeDocument/2006/relationships/tags" Target="../tags/tag220.xml"/><Relationship Id="rId21" Type="http://schemas.openxmlformats.org/officeDocument/2006/relationships/tags" Target="../tags/tag238.xml"/><Relationship Id="rId7" Type="http://schemas.openxmlformats.org/officeDocument/2006/relationships/tags" Target="../tags/tag224.xml"/><Relationship Id="rId12" Type="http://schemas.openxmlformats.org/officeDocument/2006/relationships/tags" Target="../tags/tag229.xml"/><Relationship Id="rId17" Type="http://schemas.openxmlformats.org/officeDocument/2006/relationships/tags" Target="../tags/tag234.xml"/><Relationship Id="rId25" Type="http://schemas.openxmlformats.org/officeDocument/2006/relationships/tags" Target="../tags/tag242.xml"/><Relationship Id="rId2" Type="http://schemas.openxmlformats.org/officeDocument/2006/relationships/tags" Target="../tags/tag219.xml"/><Relationship Id="rId16" Type="http://schemas.openxmlformats.org/officeDocument/2006/relationships/tags" Target="../tags/tag233.xml"/><Relationship Id="rId20" Type="http://schemas.openxmlformats.org/officeDocument/2006/relationships/tags" Target="../tags/tag237.xml"/><Relationship Id="rId1" Type="http://schemas.openxmlformats.org/officeDocument/2006/relationships/tags" Target="../tags/tag218.xml"/><Relationship Id="rId6" Type="http://schemas.openxmlformats.org/officeDocument/2006/relationships/tags" Target="../tags/tag223.xml"/><Relationship Id="rId11" Type="http://schemas.openxmlformats.org/officeDocument/2006/relationships/tags" Target="../tags/tag228.xml"/><Relationship Id="rId24" Type="http://schemas.openxmlformats.org/officeDocument/2006/relationships/tags" Target="../tags/tag241.xml"/><Relationship Id="rId5" Type="http://schemas.openxmlformats.org/officeDocument/2006/relationships/tags" Target="../tags/tag222.xml"/><Relationship Id="rId15" Type="http://schemas.openxmlformats.org/officeDocument/2006/relationships/tags" Target="../tags/tag232.xml"/><Relationship Id="rId23" Type="http://schemas.openxmlformats.org/officeDocument/2006/relationships/tags" Target="../tags/tag240.xml"/><Relationship Id="rId10" Type="http://schemas.openxmlformats.org/officeDocument/2006/relationships/tags" Target="../tags/tag227.xml"/><Relationship Id="rId19" Type="http://schemas.openxmlformats.org/officeDocument/2006/relationships/tags" Target="../tags/tag236.xml"/><Relationship Id="rId4" Type="http://schemas.openxmlformats.org/officeDocument/2006/relationships/tags" Target="../tags/tag221.xml"/><Relationship Id="rId9" Type="http://schemas.openxmlformats.org/officeDocument/2006/relationships/tags" Target="../tags/tag226.xml"/><Relationship Id="rId14" Type="http://schemas.openxmlformats.org/officeDocument/2006/relationships/tags" Target="../tags/tag231.xml"/><Relationship Id="rId22" Type="http://schemas.openxmlformats.org/officeDocument/2006/relationships/tags" Target="../tags/tag239.xml"/><Relationship Id="rId27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tags" Target="../tags/tag251.xml"/><Relationship Id="rId13" Type="http://schemas.openxmlformats.org/officeDocument/2006/relationships/tags" Target="../tags/tag256.xml"/><Relationship Id="rId18" Type="http://schemas.openxmlformats.org/officeDocument/2006/relationships/tags" Target="../tags/tag261.xml"/><Relationship Id="rId26" Type="http://schemas.openxmlformats.org/officeDocument/2006/relationships/tags" Target="../tags/tag269.xml"/><Relationship Id="rId3" Type="http://schemas.openxmlformats.org/officeDocument/2006/relationships/tags" Target="../tags/tag246.xml"/><Relationship Id="rId21" Type="http://schemas.openxmlformats.org/officeDocument/2006/relationships/tags" Target="../tags/tag264.xml"/><Relationship Id="rId7" Type="http://schemas.openxmlformats.org/officeDocument/2006/relationships/tags" Target="../tags/tag250.xml"/><Relationship Id="rId12" Type="http://schemas.openxmlformats.org/officeDocument/2006/relationships/tags" Target="../tags/tag255.xml"/><Relationship Id="rId17" Type="http://schemas.openxmlformats.org/officeDocument/2006/relationships/tags" Target="../tags/tag260.xml"/><Relationship Id="rId25" Type="http://schemas.openxmlformats.org/officeDocument/2006/relationships/tags" Target="../tags/tag268.xml"/><Relationship Id="rId2" Type="http://schemas.openxmlformats.org/officeDocument/2006/relationships/tags" Target="../tags/tag245.xml"/><Relationship Id="rId16" Type="http://schemas.openxmlformats.org/officeDocument/2006/relationships/tags" Target="../tags/tag259.xml"/><Relationship Id="rId20" Type="http://schemas.openxmlformats.org/officeDocument/2006/relationships/tags" Target="../tags/tag263.xml"/><Relationship Id="rId1" Type="http://schemas.openxmlformats.org/officeDocument/2006/relationships/tags" Target="../tags/tag244.xml"/><Relationship Id="rId6" Type="http://schemas.openxmlformats.org/officeDocument/2006/relationships/tags" Target="../tags/tag249.xml"/><Relationship Id="rId11" Type="http://schemas.openxmlformats.org/officeDocument/2006/relationships/tags" Target="../tags/tag254.xml"/><Relationship Id="rId24" Type="http://schemas.openxmlformats.org/officeDocument/2006/relationships/tags" Target="../tags/tag267.xml"/><Relationship Id="rId5" Type="http://schemas.openxmlformats.org/officeDocument/2006/relationships/tags" Target="../tags/tag248.xml"/><Relationship Id="rId15" Type="http://schemas.openxmlformats.org/officeDocument/2006/relationships/tags" Target="../tags/tag258.xml"/><Relationship Id="rId23" Type="http://schemas.openxmlformats.org/officeDocument/2006/relationships/tags" Target="../tags/tag266.xml"/><Relationship Id="rId28" Type="http://schemas.openxmlformats.org/officeDocument/2006/relationships/slideLayout" Target="../slideLayouts/slideLayout7.xml"/><Relationship Id="rId10" Type="http://schemas.openxmlformats.org/officeDocument/2006/relationships/tags" Target="../tags/tag253.xml"/><Relationship Id="rId19" Type="http://schemas.openxmlformats.org/officeDocument/2006/relationships/tags" Target="../tags/tag262.xml"/><Relationship Id="rId4" Type="http://schemas.openxmlformats.org/officeDocument/2006/relationships/tags" Target="../tags/tag247.xml"/><Relationship Id="rId9" Type="http://schemas.openxmlformats.org/officeDocument/2006/relationships/tags" Target="../tags/tag252.xml"/><Relationship Id="rId14" Type="http://schemas.openxmlformats.org/officeDocument/2006/relationships/tags" Target="../tags/tag257.xml"/><Relationship Id="rId22" Type="http://schemas.openxmlformats.org/officeDocument/2006/relationships/tags" Target="../tags/tag265.xml"/><Relationship Id="rId27" Type="http://schemas.openxmlformats.org/officeDocument/2006/relationships/tags" Target="../tags/tag270.xml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tags" Target="../tags/tag278.xml"/><Relationship Id="rId13" Type="http://schemas.openxmlformats.org/officeDocument/2006/relationships/tags" Target="../tags/tag283.xml"/><Relationship Id="rId18" Type="http://schemas.openxmlformats.org/officeDocument/2006/relationships/tags" Target="../tags/tag288.xml"/><Relationship Id="rId26" Type="http://schemas.openxmlformats.org/officeDocument/2006/relationships/tags" Target="../tags/tag296.xml"/><Relationship Id="rId3" Type="http://schemas.openxmlformats.org/officeDocument/2006/relationships/tags" Target="../tags/tag273.xml"/><Relationship Id="rId21" Type="http://schemas.openxmlformats.org/officeDocument/2006/relationships/tags" Target="../tags/tag291.xml"/><Relationship Id="rId7" Type="http://schemas.openxmlformats.org/officeDocument/2006/relationships/tags" Target="../tags/tag277.xml"/><Relationship Id="rId12" Type="http://schemas.openxmlformats.org/officeDocument/2006/relationships/tags" Target="../tags/tag282.xml"/><Relationship Id="rId17" Type="http://schemas.openxmlformats.org/officeDocument/2006/relationships/tags" Target="../tags/tag287.xml"/><Relationship Id="rId25" Type="http://schemas.openxmlformats.org/officeDocument/2006/relationships/tags" Target="../tags/tag295.xml"/><Relationship Id="rId2" Type="http://schemas.openxmlformats.org/officeDocument/2006/relationships/tags" Target="../tags/tag272.xml"/><Relationship Id="rId16" Type="http://schemas.openxmlformats.org/officeDocument/2006/relationships/tags" Target="../tags/tag286.xml"/><Relationship Id="rId20" Type="http://schemas.openxmlformats.org/officeDocument/2006/relationships/tags" Target="../tags/tag290.xml"/><Relationship Id="rId29" Type="http://schemas.openxmlformats.org/officeDocument/2006/relationships/tags" Target="../tags/tag299.xml"/><Relationship Id="rId1" Type="http://schemas.openxmlformats.org/officeDocument/2006/relationships/tags" Target="../tags/tag271.xml"/><Relationship Id="rId6" Type="http://schemas.openxmlformats.org/officeDocument/2006/relationships/tags" Target="../tags/tag276.xml"/><Relationship Id="rId11" Type="http://schemas.openxmlformats.org/officeDocument/2006/relationships/tags" Target="../tags/tag281.xml"/><Relationship Id="rId24" Type="http://schemas.openxmlformats.org/officeDocument/2006/relationships/tags" Target="../tags/tag294.xml"/><Relationship Id="rId5" Type="http://schemas.openxmlformats.org/officeDocument/2006/relationships/tags" Target="../tags/tag275.xml"/><Relationship Id="rId15" Type="http://schemas.openxmlformats.org/officeDocument/2006/relationships/tags" Target="../tags/tag285.xml"/><Relationship Id="rId23" Type="http://schemas.openxmlformats.org/officeDocument/2006/relationships/tags" Target="../tags/tag293.xml"/><Relationship Id="rId28" Type="http://schemas.openxmlformats.org/officeDocument/2006/relationships/tags" Target="../tags/tag298.xml"/><Relationship Id="rId10" Type="http://schemas.openxmlformats.org/officeDocument/2006/relationships/tags" Target="../tags/tag280.xml"/><Relationship Id="rId19" Type="http://schemas.openxmlformats.org/officeDocument/2006/relationships/tags" Target="../tags/tag289.xml"/><Relationship Id="rId4" Type="http://schemas.openxmlformats.org/officeDocument/2006/relationships/tags" Target="../tags/tag274.xml"/><Relationship Id="rId9" Type="http://schemas.openxmlformats.org/officeDocument/2006/relationships/tags" Target="../tags/tag279.xml"/><Relationship Id="rId14" Type="http://schemas.openxmlformats.org/officeDocument/2006/relationships/tags" Target="../tags/tag284.xml"/><Relationship Id="rId22" Type="http://schemas.openxmlformats.org/officeDocument/2006/relationships/tags" Target="../tags/tag292.xml"/><Relationship Id="rId27" Type="http://schemas.openxmlformats.org/officeDocument/2006/relationships/tags" Target="../tags/tag297.xml"/><Relationship Id="rId30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tags" Target="../tags/tag307.xml"/><Relationship Id="rId13" Type="http://schemas.openxmlformats.org/officeDocument/2006/relationships/tags" Target="../tags/tag312.xml"/><Relationship Id="rId18" Type="http://schemas.openxmlformats.org/officeDocument/2006/relationships/tags" Target="../tags/tag317.xml"/><Relationship Id="rId26" Type="http://schemas.openxmlformats.org/officeDocument/2006/relationships/tags" Target="../tags/tag325.xml"/><Relationship Id="rId3" Type="http://schemas.openxmlformats.org/officeDocument/2006/relationships/tags" Target="../tags/tag302.xml"/><Relationship Id="rId21" Type="http://schemas.openxmlformats.org/officeDocument/2006/relationships/tags" Target="../tags/tag320.xml"/><Relationship Id="rId7" Type="http://schemas.openxmlformats.org/officeDocument/2006/relationships/tags" Target="../tags/tag306.xml"/><Relationship Id="rId12" Type="http://schemas.openxmlformats.org/officeDocument/2006/relationships/tags" Target="../tags/tag311.xml"/><Relationship Id="rId17" Type="http://schemas.openxmlformats.org/officeDocument/2006/relationships/tags" Target="../tags/tag316.xml"/><Relationship Id="rId25" Type="http://schemas.openxmlformats.org/officeDocument/2006/relationships/tags" Target="../tags/tag324.xml"/><Relationship Id="rId33" Type="http://schemas.openxmlformats.org/officeDocument/2006/relationships/slideLayout" Target="../slideLayouts/slideLayout7.xml"/><Relationship Id="rId2" Type="http://schemas.openxmlformats.org/officeDocument/2006/relationships/tags" Target="../tags/tag301.xml"/><Relationship Id="rId16" Type="http://schemas.openxmlformats.org/officeDocument/2006/relationships/tags" Target="../tags/tag315.xml"/><Relationship Id="rId20" Type="http://schemas.openxmlformats.org/officeDocument/2006/relationships/tags" Target="../tags/tag319.xml"/><Relationship Id="rId29" Type="http://schemas.openxmlformats.org/officeDocument/2006/relationships/tags" Target="../tags/tag328.xml"/><Relationship Id="rId1" Type="http://schemas.openxmlformats.org/officeDocument/2006/relationships/tags" Target="../tags/tag300.xml"/><Relationship Id="rId6" Type="http://schemas.openxmlformats.org/officeDocument/2006/relationships/tags" Target="../tags/tag305.xml"/><Relationship Id="rId11" Type="http://schemas.openxmlformats.org/officeDocument/2006/relationships/tags" Target="../tags/tag310.xml"/><Relationship Id="rId24" Type="http://schemas.openxmlformats.org/officeDocument/2006/relationships/tags" Target="../tags/tag323.xml"/><Relationship Id="rId32" Type="http://schemas.openxmlformats.org/officeDocument/2006/relationships/tags" Target="../tags/tag331.xml"/><Relationship Id="rId5" Type="http://schemas.openxmlformats.org/officeDocument/2006/relationships/tags" Target="../tags/tag304.xml"/><Relationship Id="rId15" Type="http://schemas.openxmlformats.org/officeDocument/2006/relationships/tags" Target="../tags/tag314.xml"/><Relationship Id="rId23" Type="http://schemas.openxmlformats.org/officeDocument/2006/relationships/tags" Target="../tags/tag322.xml"/><Relationship Id="rId28" Type="http://schemas.openxmlformats.org/officeDocument/2006/relationships/tags" Target="../tags/tag327.xml"/><Relationship Id="rId10" Type="http://schemas.openxmlformats.org/officeDocument/2006/relationships/tags" Target="../tags/tag309.xml"/><Relationship Id="rId19" Type="http://schemas.openxmlformats.org/officeDocument/2006/relationships/tags" Target="../tags/tag318.xml"/><Relationship Id="rId31" Type="http://schemas.openxmlformats.org/officeDocument/2006/relationships/tags" Target="../tags/tag330.xml"/><Relationship Id="rId4" Type="http://schemas.openxmlformats.org/officeDocument/2006/relationships/tags" Target="../tags/tag303.xml"/><Relationship Id="rId9" Type="http://schemas.openxmlformats.org/officeDocument/2006/relationships/tags" Target="../tags/tag308.xml"/><Relationship Id="rId14" Type="http://schemas.openxmlformats.org/officeDocument/2006/relationships/tags" Target="../tags/tag313.xml"/><Relationship Id="rId22" Type="http://schemas.openxmlformats.org/officeDocument/2006/relationships/tags" Target="../tags/tag321.xml"/><Relationship Id="rId27" Type="http://schemas.openxmlformats.org/officeDocument/2006/relationships/tags" Target="../tags/tag326.xml"/><Relationship Id="rId30" Type="http://schemas.openxmlformats.org/officeDocument/2006/relationships/tags" Target="../tags/tag329.xml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tags" Target="../tags/tag339.xml"/><Relationship Id="rId13" Type="http://schemas.openxmlformats.org/officeDocument/2006/relationships/tags" Target="../tags/tag344.xml"/><Relationship Id="rId18" Type="http://schemas.openxmlformats.org/officeDocument/2006/relationships/tags" Target="../tags/tag349.xml"/><Relationship Id="rId26" Type="http://schemas.openxmlformats.org/officeDocument/2006/relationships/tags" Target="../tags/tag357.xml"/><Relationship Id="rId3" Type="http://schemas.openxmlformats.org/officeDocument/2006/relationships/tags" Target="../tags/tag334.xml"/><Relationship Id="rId21" Type="http://schemas.openxmlformats.org/officeDocument/2006/relationships/tags" Target="../tags/tag352.xml"/><Relationship Id="rId7" Type="http://schemas.openxmlformats.org/officeDocument/2006/relationships/tags" Target="../tags/tag338.xml"/><Relationship Id="rId12" Type="http://schemas.openxmlformats.org/officeDocument/2006/relationships/tags" Target="../tags/tag343.xml"/><Relationship Id="rId17" Type="http://schemas.openxmlformats.org/officeDocument/2006/relationships/tags" Target="../tags/tag348.xml"/><Relationship Id="rId25" Type="http://schemas.openxmlformats.org/officeDocument/2006/relationships/tags" Target="../tags/tag356.xml"/><Relationship Id="rId33" Type="http://schemas.openxmlformats.org/officeDocument/2006/relationships/slideLayout" Target="../slideLayouts/slideLayout7.xml"/><Relationship Id="rId2" Type="http://schemas.openxmlformats.org/officeDocument/2006/relationships/tags" Target="../tags/tag333.xml"/><Relationship Id="rId16" Type="http://schemas.openxmlformats.org/officeDocument/2006/relationships/tags" Target="../tags/tag347.xml"/><Relationship Id="rId20" Type="http://schemas.openxmlformats.org/officeDocument/2006/relationships/tags" Target="../tags/tag351.xml"/><Relationship Id="rId29" Type="http://schemas.openxmlformats.org/officeDocument/2006/relationships/tags" Target="../tags/tag360.xml"/><Relationship Id="rId1" Type="http://schemas.openxmlformats.org/officeDocument/2006/relationships/tags" Target="../tags/tag332.xml"/><Relationship Id="rId6" Type="http://schemas.openxmlformats.org/officeDocument/2006/relationships/tags" Target="../tags/tag337.xml"/><Relationship Id="rId11" Type="http://schemas.openxmlformats.org/officeDocument/2006/relationships/tags" Target="../tags/tag342.xml"/><Relationship Id="rId24" Type="http://schemas.openxmlformats.org/officeDocument/2006/relationships/tags" Target="../tags/tag355.xml"/><Relationship Id="rId32" Type="http://schemas.openxmlformats.org/officeDocument/2006/relationships/tags" Target="../tags/tag363.xml"/><Relationship Id="rId5" Type="http://schemas.openxmlformats.org/officeDocument/2006/relationships/tags" Target="../tags/tag336.xml"/><Relationship Id="rId15" Type="http://schemas.openxmlformats.org/officeDocument/2006/relationships/tags" Target="../tags/tag346.xml"/><Relationship Id="rId23" Type="http://schemas.openxmlformats.org/officeDocument/2006/relationships/tags" Target="../tags/tag354.xml"/><Relationship Id="rId28" Type="http://schemas.openxmlformats.org/officeDocument/2006/relationships/tags" Target="../tags/tag359.xml"/><Relationship Id="rId10" Type="http://schemas.openxmlformats.org/officeDocument/2006/relationships/tags" Target="../tags/tag341.xml"/><Relationship Id="rId19" Type="http://schemas.openxmlformats.org/officeDocument/2006/relationships/tags" Target="../tags/tag350.xml"/><Relationship Id="rId31" Type="http://schemas.openxmlformats.org/officeDocument/2006/relationships/tags" Target="../tags/tag362.xml"/><Relationship Id="rId4" Type="http://schemas.openxmlformats.org/officeDocument/2006/relationships/tags" Target="../tags/tag335.xml"/><Relationship Id="rId9" Type="http://schemas.openxmlformats.org/officeDocument/2006/relationships/tags" Target="../tags/tag340.xml"/><Relationship Id="rId14" Type="http://schemas.openxmlformats.org/officeDocument/2006/relationships/tags" Target="../tags/tag345.xml"/><Relationship Id="rId22" Type="http://schemas.openxmlformats.org/officeDocument/2006/relationships/tags" Target="../tags/tag353.xml"/><Relationship Id="rId27" Type="http://schemas.openxmlformats.org/officeDocument/2006/relationships/tags" Target="../tags/tag358.xml"/><Relationship Id="rId30" Type="http://schemas.openxmlformats.org/officeDocument/2006/relationships/tags" Target="../tags/tag361.xml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tags" Target="../tags/tag371.xml"/><Relationship Id="rId13" Type="http://schemas.openxmlformats.org/officeDocument/2006/relationships/tags" Target="../tags/tag376.xml"/><Relationship Id="rId18" Type="http://schemas.openxmlformats.org/officeDocument/2006/relationships/tags" Target="../tags/tag381.xml"/><Relationship Id="rId26" Type="http://schemas.openxmlformats.org/officeDocument/2006/relationships/tags" Target="../tags/tag389.xml"/><Relationship Id="rId3" Type="http://schemas.openxmlformats.org/officeDocument/2006/relationships/tags" Target="../tags/tag366.xml"/><Relationship Id="rId21" Type="http://schemas.openxmlformats.org/officeDocument/2006/relationships/tags" Target="../tags/tag384.xml"/><Relationship Id="rId7" Type="http://schemas.openxmlformats.org/officeDocument/2006/relationships/tags" Target="../tags/tag370.xml"/><Relationship Id="rId12" Type="http://schemas.openxmlformats.org/officeDocument/2006/relationships/tags" Target="../tags/tag375.xml"/><Relationship Id="rId17" Type="http://schemas.openxmlformats.org/officeDocument/2006/relationships/tags" Target="../tags/tag380.xml"/><Relationship Id="rId25" Type="http://schemas.openxmlformats.org/officeDocument/2006/relationships/tags" Target="../tags/tag388.xml"/><Relationship Id="rId2" Type="http://schemas.openxmlformats.org/officeDocument/2006/relationships/tags" Target="../tags/tag365.xml"/><Relationship Id="rId16" Type="http://schemas.openxmlformats.org/officeDocument/2006/relationships/tags" Target="../tags/tag379.xml"/><Relationship Id="rId20" Type="http://schemas.openxmlformats.org/officeDocument/2006/relationships/tags" Target="../tags/tag383.xml"/><Relationship Id="rId29" Type="http://schemas.openxmlformats.org/officeDocument/2006/relationships/tags" Target="../tags/tag392.xml"/><Relationship Id="rId1" Type="http://schemas.openxmlformats.org/officeDocument/2006/relationships/tags" Target="../tags/tag364.xml"/><Relationship Id="rId6" Type="http://schemas.openxmlformats.org/officeDocument/2006/relationships/tags" Target="../tags/tag369.xml"/><Relationship Id="rId11" Type="http://schemas.openxmlformats.org/officeDocument/2006/relationships/tags" Target="../tags/tag374.xml"/><Relationship Id="rId24" Type="http://schemas.openxmlformats.org/officeDocument/2006/relationships/tags" Target="../tags/tag387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368.xml"/><Relationship Id="rId15" Type="http://schemas.openxmlformats.org/officeDocument/2006/relationships/tags" Target="../tags/tag378.xml"/><Relationship Id="rId23" Type="http://schemas.openxmlformats.org/officeDocument/2006/relationships/tags" Target="../tags/tag386.xml"/><Relationship Id="rId28" Type="http://schemas.openxmlformats.org/officeDocument/2006/relationships/tags" Target="../tags/tag391.xml"/><Relationship Id="rId10" Type="http://schemas.openxmlformats.org/officeDocument/2006/relationships/tags" Target="../tags/tag373.xml"/><Relationship Id="rId19" Type="http://schemas.openxmlformats.org/officeDocument/2006/relationships/tags" Target="../tags/tag382.xml"/><Relationship Id="rId31" Type="http://schemas.openxmlformats.org/officeDocument/2006/relationships/tags" Target="../tags/tag394.xml"/><Relationship Id="rId4" Type="http://schemas.openxmlformats.org/officeDocument/2006/relationships/tags" Target="../tags/tag367.xml"/><Relationship Id="rId9" Type="http://schemas.openxmlformats.org/officeDocument/2006/relationships/tags" Target="../tags/tag372.xml"/><Relationship Id="rId14" Type="http://schemas.openxmlformats.org/officeDocument/2006/relationships/tags" Target="../tags/tag377.xml"/><Relationship Id="rId22" Type="http://schemas.openxmlformats.org/officeDocument/2006/relationships/tags" Target="../tags/tag385.xml"/><Relationship Id="rId27" Type="http://schemas.openxmlformats.org/officeDocument/2006/relationships/tags" Target="../tags/tag390.xml"/><Relationship Id="rId30" Type="http://schemas.openxmlformats.org/officeDocument/2006/relationships/tags" Target="../tags/tag393.xml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tags" Target="../tags/tag402.xml"/><Relationship Id="rId13" Type="http://schemas.openxmlformats.org/officeDocument/2006/relationships/tags" Target="../tags/tag407.xml"/><Relationship Id="rId18" Type="http://schemas.openxmlformats.org/officeDocument/2006/relationships/tags" Target="../tags/tag412.xml"/><Relationship Id="rId26" Type="http://schemas.openxmlformats.org/officeDocument/2006/relationships/tags" Target="../tags/tag420.xml"/><Relationship Id="rId3" Type="http://schemas.openxmlformats.org/officeDocument/2006/relationships/tags" Target="../tags/tag397.xml"/><Relationship Id="rId21" Type="http://schemas.openxmlformats.org/officeDocument/2006/relationships/tags" Target="../tags/tag415.xml"/><Relationship Id="rId34" Type="http://schemas.openxmlformats.org/officeDocument/2006/relationships/slideLayout" Target="../slideLayouts/slideLayout7.xml"/><Relationship Id="rId7" Type="http://schemas.openxmlformats.org/officeDocument/2006/relationships/tags" Target="../tags/tag401.xml"/><Relationship Id="rId12" Type="http://schemas.openxmlformats.org/officeDocument/2006/relationships/tags" Target="../tags/tag406.xml"/><Relationship Id="rId17" Type="http://schemas.openxmlformats.org/officeDocument/2006/relationships/tags" Target="../tags/tag411.xml"/><Relationship Id="rId25" Type="http://schemas.openxmlformats.org/officeDocument/2006/relationships/tags" Target="../tags/tag419.xml"/><Relationship Id="rId33" Type="http://schemas.openxmlformats.org/officeDocument/2006/relationships/tags" Target="../tags/tag427.xml"/><Relationship Id="rId2" Type="http://schemas.openxmlformats.org/officeDocument/2006/relationships/tags" Target="../tags/tag396.xml"/><Relationship Id="rId16" Type="http://schemas.openxmlformats.org/officeDocument/2006/relationships/tags" Target="../tags/tag410.xml"/><Relationship Id="rId20" Type="http://schemas.openxmlformats.org/officeDocument/2006/relationships/tags" Target="../tags/tag414.xml"/><Relationship Id="rId29" Type="http://schemas.openxmlformats.org/officeDocument/2006/relationships/tags" Target="../tags/tag423.xml"/><Relationship Id="rId1" Type="http://schemas.openxmlformats.org/officeDocument/2006/relationships/tags" Target="../tags/tag395.xml"/><Relationship Id="rId6" Type="http://schemas.openxmlformats.org/officeDocument/2006/relationships/tags" Target="../tags/tag400.xml"/><Relationship Id="rId11" Type="http://schemas.openxmlformats.org/officeDocument/2006/relationships/tags" Target="../tags/tag405.xml"/><Relationship Id="rId24" Type="http://schemas.openxmlformats.org/officeDocument/2006/relationships/tags" Target="../tags/tag418.xml"/><Relationship Id="rId32" Type="http://schemas.openxmlformats.org/officeDocument/2006/relationships/tags" Target="../tags/tag426.xml"/><Relationship Id="rId5" Type="http://schemas.openxmlformats.org/officeDocument/2006/relationships/tags" Target="../tags/tag399.xml"/><Relationship Id="rId15" Type="http://schemas.openxmlformats.org/officeDocument/2006/relationships/tags" Target="../tags/tag409.xml"/><Relationship Id="rId23" Type="http://schemas.openxmlformats.org/officeDocument/2006/relationships/tags" Target="../tags/tag417.xml"/><Relationship Id="rId28" Type="http://schemas.openxmlformats.org/officeDocument/2006/relationships/tags" Target="../tags/tag422.xml"/><Relationship Id="rId10" Type="http://schemas.openxmlformats.org/officeDocument/2006/relationships/tags" Target="../tags/tag404.xml"/><Relationship Id="rId19" Type="http://schemas.openxmlformats.org/officeDocument/2006/relationships/tags" Target="../tags/tag413.xml"/><Relationship Id="rId31" Type="http://schemas.openxmlformats.org/officeDocument/2006/relationships/tags" Target="../tags/tag425.xml"/><Relationship Id="rId4" Type="http://schemas.openxmlformats.org/officeDocument/2006/relationships/tags" Target="../tags/tag398.xml"/><Relationship Id="rId9" Type="http://schemas.openxmlformats.org/officeDocument/2006/relationships/tags" Target="../tags/tag403.xml"/><Relationship Id="rId14" Type="http://schemas.openxmlformats.org/officeDocument/2006/relationships/tags" Target="../tags/tag408.xml"/><Relationship Id="rId22" Type="http://schemas.openxmlformats.org/officeDocument/2006/relationships/tags" Target="../tags/tag416.xml"/><Relationship Id="rId27" Type="http://schemas.openxmlformats.org/officeDocument/2006/relationships/tags" Target="../tags/tag421.xml"/><Relationship Id="rId30" Type="http://schemas.openxmlformats.org/officeDocument/2006/relationships/tags" Target="../tags/tag424.xml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tags" Target="../tags/tag435.xml"/><Relationship Id="rId13" Type="http://schemas.openxmlformats.org/officeDocument/2006/relationships/tags" Target="../tags/tag440.xml"/><Relationship Id="rId18" Type="http://schemas.openxmlformats.org/officeDocument/2006/relationships/tags" Target="../tags/tag445.xml"/><Relationship Id="rId26" Type="http://schemas.openxmlformats.org/officeDocument/2006/relationships/tags" Target="../tags/tag453.xml"/><Relationship Id="rId3" Type="http://schemas.openxmlformats.org/officeDocument/2006/relationships/tags" Target="../tags/tag430.xml"/><Relationship Id="rId21" Type="http://schemas.openxmlformats.org/officeDocument/2006/relationships/tags" Target="../tags/tag448.xml"/><Relationship Id="rId7" Type="http://schemas.openxmlformats.org/officeDocument/2006/relationships/tags" Target="../tags/tag434.xml"/><Relationship Id="rId12" Type="http://schemas.openxmlformats.org/officeDocument/2006/relationships/tags" Target="../tags/tag439.xml"/><Relationship Id="rId17" Type="http://schemas.openxmlformats.org/officeDocument/2006/relationships/tags" Target="../tags/tag444.xml"/><Relationship Id="rId25" Type="http://schemas.openxmlformats.org/officeDocument/2006/relationships/tags" Target="../tags/tag452.xml"/><Relationship Id="rId2" Type="http://schemas.openxmlformats.org/officeDocument/2006/relationships/tags" Target="../tags/tag429.xml"/><Relationship Id="rId16" Type="http://schemas.openxmlformats.org/officeDocument/2006/relationships/tags" Target="../tags/tag443.xml"/><Relationship Id="rId20" Type="http://schemas.openxmlformats.org/officeDocument/2006/relationships/tags" Target="../tags/tag447.xml"/><Relationship Id="rId29" Type="http://schemas.openxmlformats.org/officeDocument/2006/relationships/tags" Target="../tags/tag456.xml"/><Relationship Id="rId1" Type="http://schemas.openxmlformats.org/officeDocument/2006/relationships/tags" Target="../tags/tag428.xml"/><Relationship Id="rId6" Type="http://schemas.openxmlformats.org/officeDocument/2006/relationships/tags" Target="../tags/tag433.xml"/><Relationship Id="rId11" Type="http://schemas.openxmlformats.org/officeDocument/2006/relationships/tags" Target="../tags/tag438.xml"/><Relationship Id="rId24" Type="http://schemas.openxmlformats.org/officeDocument/2006/relationships/tags" Target="../tags/tag451.xml"/><Relationship Id="rId5" Type="http://schemas.openxmlformats.org/officeDocument/2006/relationships/tags" Target="../tags/tag432.xml"/><Relationship Id="rId15" Type="http://schemas.openxmlformats.org/officeDocument/2006/relationships/tags" Target="../tags/tag442.xml"/><Relationship Id="rId23" Type="http://schemas.openxmlformats.org/officeDocument/2006/relationships/tags" Target="../tags/tag450.xml"/><Relationship Id="rId28" Type="http://schemas.openxmlformats.org/officeDocument/2006/relationships/tags" Target="../tags/tag455.xml"/><Relationship Id="rId10" Type="http://schemas.openxmlformats.org/officeDocument/2006/relationships/tags" Target="../tags/tag437.xml"/><Relationship Id="rId19" Type="http://schemas.openxmlformats.org/officeDocument/2006/relationships/tags" Target="../tags/tag446.xml"/><Relationship Id="rId31" Type="http://schemas.openxmlformats.org/officeDocument/2006/relationships/slideLayout" Target="../slideLayouts/slideLayout7.xml"/><Relationship Id="rId4" Type="http://schemas.openxmlformats.org/officeDocument/2006/relationships/tags" Target="../tags/tag431.xml"/><Relationship Id="rId9" Type="http://schemas.openxmlformats.org/officeDocument/2006/relationships/tags" Target="../tags/tag436.xml"/><Relationship Id="rId14" Type="http://schemas.openxmlformats.org/officeDocument/2006/relationships/tags" Target="../tags/tag441.xml"/><Relationship Id="rId22" Type="http://schemas.openxmlformats.org/officeDocument/2006/relationships/tags" Target="../tags/tag449.xml"/><Relationship Id="rId27" Type="http://schemas.openxmlformats.org/officeDocument/2006/relationships/tags" Target="../tags/tag454.xml"/><Relationship Id="rId30" Type="http://schemas.openxmlformats.org/officeDocument/2006/relationships/tags" Target="../tags/tag457.xml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tags" Target="../tags/tag465.xml"/><Relationship Id="rId13" Type="http://schemas.openxmlformats.org/officeDocument/2006/relationships/tags" Target="../tags/tag470.xml"/><Relationship Id="rId18" Type="http://schemas.openxmlformats.org/officeDocument/2006/relationships/tags" Target="../tags/tag475.xml"/><Relationship Id="rId26" Type="http://schemas.openxmlformats.org/officeDocument/2006/relationships/tags" Target="../tags/tag483.xml"/><Relationship Id="rId3" Type="http://schemas.openxmlformats.org/officeDocument/2006/relationships/tags" Target="../tags/tag460.xml"/><Relationship Id="rId21" Type="http://schemas.openxmlformats.org/officeDocument/2006/relationships/tags" Target="../tags/tag478.xml"/><Relationship Id="rId7" Type="http://schemas.openxmlformats.org/officeDocument/2006/relationships/tags" Target="../tags/tag464.xml"/><Relationship Id="rId12" Type="http://schemas.openxmlformats.org/officeDocument/2006/relationships/tags" Target="../tags/tag469.xml"/><Relationship Id="rId17" Type="http://schemas.openxmlformats.org/officeDocument/2006/relationships/tags" Target="../tags/tag474.xml"/><Relationship Id="rId25" Type="http://schemas.openxmlformats.org/officeDocument/2006/relationships/tags" Target="../tags/tag482.xml"/><Relationship Id="rId2" Type="http://schemas.openxmlformats.org/officeDocument/2006/relationships/tags" Target="../tags/tag459.xml"/><Relationship Id="rId16" Type="http://schemas.openxmlformats.org/officeDocument/2006/relationships/tags" Target="../tags/tag473.xml"/><Relationship Id="rId20" Type="http://schemas.openxmlformats.org/officeDocument/2006/relationships/tags" Target="../tags/tag477.xml"/><Relationship Id="rId1" Type="http://schemas.openxmlformats.org/officeDocument/2006/relationships/tags" Target="../tags/tag458.xml"/><Relationship Id="rId6" Type="http://schemas.openxmlformats.org/officeDocument/2006/relationships/tags" Target="../tags/tag463.xml"/><Relationship Id="rId11" Type="http://schemas.openxmlformats.org/officeDocument/2006/relationships/tags" Target="../tags/tag468.xml"/><Relationship Id="rId24" Type="http://schemas.openxmlformats.org/officeDocument/2006/relationships/tags" Target="../tags/tag481.xml"/><Relationship Id="rId5" Type="http://schemas.openxmlformats.org/officeDocument/2006/relationships/tags" Target="../tags/tag462.xml"/><Relationship Id="rId15" Type="http://schemas.openxmlformats.org/officeDocument/2006/relationships/tags" Target="../tags/tag472.xml"/><Relationship Id="rId23" Type="http://schemas.openxmlformats.org/officeDocument/2006/relationships/tags" Target="../tags/tag480.xml"/><Relationship Id="rId28" Type="http://schemas.openxmlformats.org/officeDocument/2006/relationships/slideLayout" Target="../slideLayouts/slideLayout7.xml"/><Relationship Id="rId10" Type="http://schemas.openxmlformats.org/officeDocument/2006/relationships/tags" Target="../tags/tag467.xml"/><Relationship Id="rId19" Type="http://schemas.openxmlformats.org/officeDocument/2006/relationships/tags" Target="../tags/tag476.xml"/><Relationship Id="rId4" Type="http://schemas.openxmlformats.org/officeDocument/2006/relationships/tags" Target="../tags/tag461.xml"/><Relationship Id="rId9" Type="http://schemas.openxmlformats.org/officeDocument/2006/relationships/tags" Target="../tags/tag466.xml"/><Relationship Id="rId14" Type="http://schemas.openxmlformats.org/officeDocument/2006/relationships/tags" Target="../tags/tag471.xml"/><Relationship Id="rId22" Type="http://schemas.openxmlformats.org/officeDocument/2006/relationships/tags" Target="../tags/tag479.xml"/><Relationship Id="rId27" Type="http://schemas.openxmlformats.org/officeDocument/2006/relationships/tags" Target="../tags/tag4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39975" y="1557338"/>
            <a:ext cx="6188075" cy="2303462"/>
          </a:xfrm>
        </p:spPr>
        <p:txBody>
          <a:bodyPr/>
          <a:lstStyle/>
          <a:p>
            <a:pPr eaLnBrk="1" hangingPunct="1"/>
            <a:r>
              <a:rPr lang="fr-FR" sz="3600" b="1" i="1" smtClean="0">
                <a:latin typeface="Times New Roman" pitchFamily="18" charset="0"/>
                <a:cs typeface="Times New Roman" pitchFamily="18" charset="0"/>
              </a:rPr>
              <a:t>Data Structure &amp; Algorithms</a:t>
            </a:r>
            <a:r>
              <a:rPr lang="fr-FR" sz="2400" b="1" i="1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400" b="1" i="1" smtClean="0">
                <a:latin typeface="Times New Roman" pitchFamily="18" charset="0"/>
                <a:cs typeface="Times New Roman" pitchFamily="18" charset="0"/>
              </a:rPr>
            </a:br>
            <a:r>
              <a:rPr lang="fr-FR" sz="2400" b="1" i="1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400" b="1" i="1" smtClean="0">
                <a:latin typeface="Times New Roman" pitchFamily="18" charset="0"/>
                <a:cs typeface="Times New Roman" pitchFamily="18" charset="0"/>
              </a:rPr>
            </a:br>
            <a:r>
              <a:rPr lang="fr-FR" sz="2400" b="1" i="1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400" b="1" i="1" smtClean="0">
                <a:latin typeface="Times New Roman" pitchFamily="18" charset="0"/>
                <a:cs typeface="Times New Roman" pitchFamily="18" charset="0"/>
              </a:rPr>
            </a:br>
            <a:endParaRPr lang="fr-FR" sz="2400" b="1" i="1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435" name="Picture 6" descr="logoHom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20510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6" name="Subtitle 7"/>
          <p:cNvSpPr>
            <a:spLocks noGrp="1"/>
          </p:cNvSpPr>
          <p:nvPr>
            <p:ph type="subTitle" idx="1"/>
          </p:nvPr>
        </p:nvSpPr>
        <p:spPr>
          <a:xfrm>
            <a:off x="2268538" y="3068638"/>
            <a:ext cx="6400800" cy="1752600"/>
          </a:xfrm>
        </p:spPr>
        <p:txBody>
          <a:bodyPr/>
          <a:lstStyle/>
          <a:p>
            <a:pPr eaLnBrk="1" hangingPunct="1"/>
            <a:r>
              <a:rPr lang="en-US" sz="2800" b="1" dirty="0" smtClean="0"/>
              <a:t>Submitted By:-</a:t>
            </a:r>
          </a:p>
          <a:p>
            <a:pPr eaLnBrk="1" hangingPunct="1"/>
            <a:endParaRPr lang="en-US" sz="1800" dirty="0" smtClean="0"/>
          </a:p>
          <a:p>
            <a:pPr eaLnBrk="1" hangingPunct="1"/>
            <a:r>
              <a:rPr lang="en-US" sz="1800" dirty="0" err="1" smtClean="0"/>
              <a:t>Seema</a:t>
            </a:r>
            <a:r>
              <a:rPr lang="en-US" sz="1800" dirty="0" smtClean="0"/>
              <a:t> Sharma</a:t>
            </a:r>
            <a:endParaRPr lang="en-US" sz="1800" dirty="0" smtClean="0"/>
          </a:p>
          <a:p>
            <a:pPr eaLnBrk="1" hangingPunct="1"/>
            <a:r>
              <a:rPr lang="en-US" sz="1800" dirty="0" smtClean="0"/>
              <a:t>Assistant Prof - CSE</a:t>
            </a:r>
            <a:endParaRPr lang="en-IN" sz="1800" dirty="0" smtClean="0"/>
          </a:p>
        </p:txBody>
      </p:sp>
      <p:sp>
        <p:nvSpPr>
          <p:cNvPr id="18437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IN" smtClean="0">
                <a:latin typeface="Arial" pitchFamily="34" charset="0"/>
                <a:cs typeface="Arial" pitchFamily="34" charset="0"/>
              </a:rPr>
              <a:t>JECRC UNIVERSITY</a:t>
            </a:r>
            <a:endParaRPr lang="fr-FR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438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47577F5-6199-4C87-A411-01903DF63B2A}" type="slidenum">
              <a:rPr lang="fr-FR" smtClean="0">
                <a:latin typeface="Arial" pitchFamily="34" charset="0"/>
                <a:cs typeface="Arial" pitchFamily="34" charset="0"/>
              </a:rPr>
              <a:pPr/>
              <a:t>1</a:t>
            </a:fld>
            <a:endParaRPr lang="fr-FR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439" name="TextBox 11"/>
          <p:cNvSpPr txBox="1">
            <a:spLocks noChangeArrowheads="1"/>
          </p:cNvSpPr>
          <p:nvPr/>
        </p:nvSpPr>
        <p:spPr bwMode="auto">
          <a:xfrm>
            <a:off x="4211638" y="5876925"/>
            <a:ext cx="1857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39975" y="1557338"/>
            <a:ext cx="6188075" cy="2303462"/>
          </a:xfrm>
        </p:spPr>
        <p:txBody>
          <a:bodyPr/>
          <a:lstStyle/>
          <a:p>
            <a:r>
              <a:rPr lang="en-US" sz="3600" b="1" dirty="0" smtClean="0"/>
              <a:t>Unit 4</a:t>
            </a:r>
            <a:br>
              <a:rPr lang="en-US" sz="3600" b="1" dirty="0" smtClean="0"/>
            </a:br>
            <a:r>
              <a:rPr lang="en-US" sz="3600" b="1" dirty="0" smtClean="0"/>
              <a:t>Tree and Its Types</a:t>
            </a:r>
            <a:endParaRPr lang="en-US" sz="3600" b="1" dirty="0"/>
          </a:p>
        </p:txBody>
      </p:sp>
      <p:pic>
        <p:nvPicPr>
          <p:cNvPr id="19459" name="Picture 6" descr="logoHom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0510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1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IN" smtClean="0">
                <a:latin typeface="Arial" pitchFamily="34" charset="0"/>
                <a:cs typeface="Arial" pitchFamily="34" charset="0"/>
              </a:rPr>
              <a:t>JECRC UNIVERSITY</a:t>
            </a:r>
            <a:endParaRPr lang="fr-FR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462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5F4805C-629F-4791-B241-2EA23FF0BA16}" type="slidenum">
              <a:rPr lang="fr-FR" smtClean="0">
                <a:latin typeface="Arial" pitchFamily="34" charset="0"/>
                <a:cs typeface="Arial" pitchFamily="34" charset="0"/>
              </a:rPr>
              <a:pPr/>
              <a:t>2</a:t>
            </a:fld>
            <a:endParaRPr lang="fr-FR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Tree</a:t>
            </a:r>
          </a:p>
        </p:txBody>
      </p:sp>
      <p:sp>
        <p:nvSpPr>
          <p:cNvPr id="369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7238" y="1371600"/>
            <a:ext cx="3311525" cy="431641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800"/>
              <a:t>A tree is a finite nonempty set of elements.</a:t>
            </a:r>
          </a:p>
          <a:p>
            <a:pPr>
              <a:lnSpc>
                <a:spcPct val="80000"/>
              </a:lnSpc>
            </a:pPr>
            <a:r>
              <a:rPr lang="en-US" sz="1800"/>
              <a:t>It is an abstract model of a hierarchical structure.</a:t>
            </a:r>
          </a:p>
          <a:p>
            <a:pPr>
              <a:lnSpc>
                <a:spcPct val="80000"/>
              </a:lnSpc>
            </a:pPr>
            <a:r>
              <a:rPr lang="en-US" sz="1800"/>
              <a:t>consists of nodes with a parent-child relation.</a:t>
            </a:r>
          </a:p>
          <a:p>
            <a:pPr>
              <a:lnSpc>
                <a:spcPct val="80000"/>
              </a:lnSpc>
            </a:pPr>
            <a:r>
              <a:rPr lang="en-US" sz="1800"/>
              <a:t>Applications:</a:t>
            </a:r>
          </a:p>
          <a:p>
            <a:pPr lvl="1">
              <a:lnSpc>
                <a:spcPct val="80000"/>
              </a:lnSpc>
            </a:pPr>
            <a:r>
              <a:rPr lang="en-US" sz="1600"/>
              <a:t>Organization charts</a:t>
            </a:r>
          </a:p>
          <a:p>
            <a:pPr lvl="1">
              <a:lnSpc>
                <a:spcPct val="80000"/>
              </a:lnSpc>
            </a:pPr>
            <a:r>
              <a:rPr lang="en-US" sz="1600"/>
              <a:t>File systems</a:t>
            </a:r>
          </a:p>
          <a:p>
            <a:pPr lvl="1">
              <a:lnSpc>
                <a:spcPct val="80000"/>
              </a:lnSpc>
            </a:pPr>
            <a:r>
              <a:rPr lang="en-US" sz="1600"/>
              <a:t>Programming environments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657600" y="1981200"/>
            <a:ext cx="5240338" cy="3132138"/>
            <a:chOff x="2180" y="957"/>
            <a:chExt cx="3301" cy="1973"/>
          </a:xfrm>
        </p:grpSpPr>
        <p:sp>
          <p:nvSpPr>
            <p:cNvPr id="369669" name="AutoShape 5"/>
            <p:cNvSpPr>
              <a:spLocks noChangeAspect="1" noChangeArrowheads="1"/>
            </p:cNvSpPr>
            <p:nvPr/>
          </p:nvSpPr>
          <p:spPr bwMode="auto">
            <a:xfrm>
              <a:off x="3333" y="957"/>
              <a:ext cx="1082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Computers”R”Us</a:t>
              </a:r>
            </a:p>
          </p:txBody>
        </p:sp>
        <p:sp>
          <p:nvSpPr>
            <p:cNvPr id="369670" name="AutoShape 6"/>
            <p:cNvSpPr>
              <a:spLocks noChangeAspect="1" noChangeArrowheads="1"/>
            </p:cNvSpPr>
            <p:nvPr/>
          </p:nvSpPr>
          <p:spPr bwMode="auto">
            <a:xfrm>
              <a:off x="2604" y="1533"/>
              <a:ext cx="437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Sales</a:t>
              </a:r>
            </a:p>
          </p:txBody>
        </p:sp>
        <p:sp>
          <p:nvSpPr>
            <p:cNvPr id="369671" name="AutoShape 7"/>
            <p:cNvSpPr>
              <a:spLocks noChangeAspect="1" noChangeArrowheads="1"/>
            </p:cNvSpPr>
            <p:nvPr/>
          </p:nvSpPr>
          <p:spPr bwMode="auto">
            <a:xfrm>
              <a:off x="5085" y="1533"/>
              <a:ext cx="396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R&amp;D</a:t>
              </a:r>
            </a:p>
          </p:txBody>
        </p:sp>
        <p:sp>
          <p:nvSpPr>
            <p:cNvPr id="369672" name="AutoShape 8"/>
            <p:cNvSpPr>
              <a:spLocks noChangeAspect="1" noChangeArrowheads="1"/>
            </p:cNvSpPr>
            <p:nvPr/>
          </p:nvSpPr>
          <p:spPr bwMode="auto">
            <a:xfrm>
              <a:off x="3977" y="1533"/>
              <a:ext cx="956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Manufacturing</a:t>
              </a:r>
            </a:p>
          </p:txBody>
        </p:sp>
        <p:sp>
          <p:nvSpPr>
            <p:cNvPr id="369673" name="AutoShape 9"/>
            <p:cNvSpPr>
              <a:spLocks noChangeAspect="1" noChangeArrowheads="1"/>
            </p:cNvSpPr>
            <p:nvPr/>
          </p:nvSpPr>
          <p:spPr bwMode="auto">
            <a:xfrm>
              <a:off x="3787" y="2109"/>
              <a:ext cx="591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Laptops</a:t>
              </a:r>
            </a:p>
          </p:txBody>
        </p:sp>
        <p:sp>
          <p:nvSpPr>
            <p:cNvPr id="369674" name="AutoShape 10"/>
            <p:cNvSpPr>
              <a:spLocks noChangeAspect="1" noChangeArrowheads="1"/>
            </p:cNvSpPr>
            <p:nvPr/>
          </p:nvSpPr>
          <p:spPr bwMode="auto">
            <a:xfrm>
              <a:off x="4512" y="2109"/>
              <a:ext cx="664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Desktops</a:t>
              </a:r>
            </a:p>
          </p:txBody>
        </p:sp>
        <p:sp>
          <p:nvSpPr>
            <p:cNvPr id="369675" name="AutoShape 11"/>
            <p:cNvSpPr>
              <a:spLocks noChangeAspect="1" noChangeArrowheads="1"/>
            </p:cNvSpPr>
            <p:nvPr/>
          </p:nvSpPr>
          <p:spPr bwMode="auto">
            <a:xfrm>
              <a:off x="2351" y="2108"/>
              <a:ext cx="297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US</a:t>
              </a:r>
            </a:p>
          </p:txBody>
        </p:sp>
        <p:sp>
          <p:nvSpPr>
            <p:cNvPr id="369676" name="AutoShape 12"/>
            <p:cNvSpPr>
              <a:spLocks noChangeAspect="1" noChangeArrowheads="1"/>
            </p:cNvSpPr>
            <p:nvPr/>
          </p:nvSpPr>
          <p:spPr bwMode="auto">
            <a:xfrm>
              <a:off x="2783" y="2109"/>
              <a:ext cx="870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International</a:t>
              </a:r>
            </a:p>
          </p:txBody>
        </p:sp>
        <p:cxnSp>
          <p:nvCxnSpPr>
            <p:cNvPr id="369677" name="AutoShape 13"/>
            <p:cNvCxnSpPr>
              <a:cxnSpLocks noChangeShapeType="1"/>
              <a:stCxn id="369669" idx="2"/>
              <a:endCxn id="369670" idx="0"/>
            </p:cNvCxnSpPr>
            <p:nvPr/>
          </p:nvCxnSpPr>
          <p:spPr bwMode="auto">
            <a:xfrm flipH="1">
              <a:off x="2823" y="1205"/>
              <a:ext cx="1051" cy="3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69678" name="AutoShape 14"/>
            <p:cNvCxnSpPr>
              <a:cxnSpLocks noChangeShapeType="1"/>
              <a:stCxn id="369669" idx="2"/>
              <a:endCxn id="369672" idx="0"/>
            </p:cNvCxnSpPr>
            <p:nvPr/>
          </p:nvCxnSpPr>
          <p:spPr bwMode="auto">
            <a:xfrm>
              <a:off x="3874" y="1205"/>
              <a:ext cx="581" cy="3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69679" name="AutoShape 15"/>
            <p:cNvCxnSpPr>
              <a:cxnSpLocks noChangeShapeType="1"/>
              <a:stCxn id="369669" idx="2"/>
              <a:endCxn id="369671" idx="0"/>
            </p:cNvCxnSpPr>
            <p:nvPr/>
          </p:nvCxnSpPr>
          <p:spPr bwMode="auto">
            <a:xfrm>
              <a:off x="3874" y="1205"/>
              <a:ext cx="1409" cy="3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69680" name="AutoShape 16"/>
            <p:cNvCxnSpPr>
              <a:cxnSpLocks noChangeShapeType="1"/>
              <a:stCxn id="369672" idx="2"/>
              <a:endCxn id="369674" idx="0"/>
            </p:cNvCxnSpPr>
            <p:nvPr/>
          </p:nvCxnSpPr>
          <p:spPr bwMode="auto">
            <a:xfrm>
              <a:off x="4455" y="1781"/>
              <a:ext cx="389" cy="3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69681" name="AutoShape 17"/>
            <p:cNvCxnSpPr>
              <a:cxnSpLocks noChangeShapeType="1"/>
              <a:stCxn id="369672" idx="2"/>
              <a:endCxn id="369673" idx="0"/>
            </p:cNvCxnSpPr>
            <p:nvPr/>
          </p:nvCxnSpPr>
          <p:spPr bwMode="auto">
            <a:xfrm flipH="1">
              <a:off x="4083" y="1781"/>
              <a:ext cx="372" cy="3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69682" name="AutoShape 18"/>
            <p:cNvCxnSpPr>
              <a:cxnSpLocks noChangeShapeType="1"/>
              <a:stCxn id="369670" idx="2"/>
              <a:endCxn id="369676" idx="0"/>
            </p:cNvCxnSpPr>
            <p:nvPr/>
          </p:nvCxnSpPr>
          <p:spPr bwMode="auto">
            <a:xfrm>
              <a:off x="2823" y="1781"/>
              <a:ext cx="395" cy="3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69683" name="AutoShape 19"/>
            <p:cNvCxnSpPr>
              <a:cxnSpLocks noChangeShapeType="1"/>
              <a:stCxn id="369670" idx="2"/>
              <a:endCxn id="369675" idx="0"/>
            </p:cNvCxnSpPr>
            <p:nvPr/>
          </p:nvCxnSpPr>
          <p:spPr bwMode="auto">
            <a:xfrm flipH="1">
              <a:off x="2500" y="1781"/>
              <a:ext cx="323" cy="32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369684" name="AutoShape 20"/>
            <p:cNvSpPr>
              <a:spLocks noChangeAspect="1" noChangeArrowheads="1"/>
            </p:cNvSpPr>
            <p:nvPr/>
          </p:nvSpPr>
          <p:spPr bwMode="auto">
            <a:xfrm>
              <a:off x="2180" y="2688"/>
              <a:ext cx="547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Europe</a:t>
              </a:r>
            </a:p>
          </p:txBody>
        </p:sp>
        <p:sp>
          <p:nvSpPr>
            <p:cNvPr id="369685" name="AutoShape 21"/>
            <p:cNvSpPr>
              <a:spLocks noChangeAspect="1" noChangeArrowheads="1"/>
            </p:cNvSpPr>
            <p:nvPr/>
          </p:nvSpPr>
          <p:spPr bwMode="auto">
            <a:xfrm>
              <a:off x="3023" y="2688"/>
              <a:ext cx="374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Asia</a:t>
              </a:r>
            </a:p>
          </p:txBody>
        </p:sp>
        <p:cxnSp>
          <p:nvCxnSpPr>
            <p:cNvPr id="369686" name="AutoShape 22"/>
            <p:cNvCxnSpPr>
              <a:cxnSpLocks noChangeShapeType="1"/>
              <a:stCxn id="369676" idx="2"/>
              <a:endCxn id="369685" idx="0"/>
            </p:cNvCxnSpPr>
            <p:nvPr/>
          </p:nvCxnSpPr>
          <p:spPr bwMode="auto">
            <a:xfrm flipH="1">
              <a:off x="3210" y="2357"/>
              <a:ext cx="8" cy="3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69687" name="AutoShape 23"/>
            <p:cNvCxnSpPr>
              <a:cxnSpLocks noChangeShapeType="1"/>
              <a:stCxn id="369676" idx="2"/>
              <a:endCxn id="369684" idx="0"/>
            </p:cNvCxnSpPr>
            <p:nvPr/>
          </p:nvCxnSpPr>
          <p:spPr bwMode="auto">
            <a:xfrm flipH="1">
              <a:off x="2454" y="2357"/>
              <a:ext cx="764" cy="3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369688" name="AutoShape 24"/>
            <p:cNvSpPr>
              <a:spLocks noChangeAspect="1" noChangeArrowheads="1"/>
            </p:cNvSpPr>
            <p:nvPr/>
          </p:nvSpPr>
          <p:spPr bwMode="auto">
            <a:xfrm>
              <a:off x="3698" y="2688"/>
              <a:ext cx="570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Canada</a:t>
              </a:r>
            </a:p>
          </p:txBody>
        </p:sp>
        <p:cxnSp>
          <p:nvCxnSpPr>
            <p:cNvPr id="369689" name="AutoShape 25"/>
            <p:cNvCxnSpPr>
              <a:cxnSpLocks noChangeShapeType="1"/>
              <a:stCxn id="369676" idx="2"/>
              <a:endCxn id="369688" idx="0"/>
            </p:cNvCxnSpPr>
            <p:nvPr/>
          </p:nvCxnSpPr>
          <p:spPr bwMode="auto">
            <a:xfrm>
              <a:off x="3218" y="2357"/>
              <a:ext cx="765" cy="3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AutoShape 2"/>
          <p:cNvSpPr>
            <a:spLocks noChangeArrowheads="1"/>
          </p:cNvSpPr>
          <p:nvPr/>
        </p:nvSpPr>
        <p:spPr bwMode="auto">
          <a:xfrm>
            <a:off x="6772275" y="3270250"/>
            <a:ext cx="1981200" cy="1828800"/>
          </a:xfrm>
          <a:prstGeom prst="triangle">
            <a:avLst>
              <a:gd name="adj" fmla="val 50000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tIns="2651760" bIns="0" anchor="b" anchorCtr="1"/>
          <a:lstStyle/>
          <a:p>
            <a:pPr algn="ctr"/>
            <a:r>
              <a:rPr lang="en-US">
                <a:latin typeface="Tahoma" pitchFamily="34" charset="0"/>
              </a:rPr>
              <a:t>subtree</a:t>
            </a:r>
          </a:p>
        </p:txBody>
      </p:sp>
      <p:sp>
        <p:nvSpPr>
          <p:cNvPr id="3706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Tree Terminology</a:t>
            </a:r>
          </a:p>
        </p:txBody>
      </p:sp>
      <p:sp>
        <p:nvSpPr>
          <p:cNvPr id="37069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4191000" cy="4724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600" b="1"/>
              <a:t>Root</a:t>
            </a:r>
            <a:r>
              <a:rPr lang="en-US" sz="1600"/>
              <a:t>: node without parent (A)</a:t>
            </a:r>
          </a:p>
          <a:p>
            <a:pPr>
              <a:lnSpc>
                <a:spcPct val="80000"/>
              </a:lnSpc>
            </a:pPr>
            <a:r>
              <a:rPr lang="en-US" sz="1600" b="1"/>
              <a:t>Siblings</a:t>
            </a:r>
            <a:r>
              <a:rPr lang="en-US" sz="1600"/>
              <a:t>: nodes share the same parent</a:t>
            </a:r>
          </a:p>
          <a:p>
            <a:pPr>
              <a:lnSpc>
                <a:spcPct val="80000"/>
              </a:lnSpc>
            </a:pPr>
            <a:r>
              <a:rPr lang="en-US" sz="1600" b="1"/>
              <a:t>Internal node</a:t>
            </a:r>
            <a:r>
              <a:rPr lang="en-US" sz="1600"/>
              <a:t>: node with at least one child (A, B, C, F)</a:t>
            </a:r>
          </a:p>
          <a:p>
            <a:pPr>
              <a:lnSpc>
                <a:spcPct val="80000"/>
              </a:lnSpc>
            </a:pPr>
            <a:r>
              <a:rPr lang="en-US" sz="1600" b="1"/>
              <a:t>External node</a:t>
            </a:r>
            <a:r>
              <a:rPr lang="en-US" sz="1600"/>
              <a:t> (leaf ): node without children (E, I, J, K, G, H, D)</a:t>
            </a:r>
          </a:p>
          <a:p>
            <a:pPr>
              <a:lnSpc>
                <a:spcPct val="80000"/>
              </a:lnSpc>
            </a:pPr>
            <a:r>
              <a:rPr lang="en-US" sz="1600" b="1"/>
              <a:t>Ancestors</a:t>
            </a:r>
            <a:r>
              <a:rPr lang="en-US" sz="1600"/>
              <a:t> of a node: parent, grandparent, grand-grandparent, etc.</a:t>
            </a:r>
          </a:p>
          <a:p>
            <a:pPr>
              <a:lnSpc>
                <a:spcPct val="80000"/>
              </a:lnSpc>
            </a:pPr>
            <a:r>
              <a:rPr lang="en-US" sz="1600" b="1"/>
              <a:t>Descendant</a:t>
            </a:r>
            <a:r>
              <a:rPr lang="en-US" sz="1600"/>
              <a:t> of a node: child, grandchild, grand-grandchild, etc.</a:t>
            </a:r>
          </a:p>
          <a:p>
            <a:pPr>
              <a:lnSpc>
                <a:spcPct val="80000"/>
              </a:lnSpc>
            </a:pPr>
            <a:r>
              <a:rPr lang="en-US" sz="1600" b="1"/>
              <a:t>Depth</a:t>
            </a:r>
            <a:r>
              <a:rPr lang="en-US" sz="1600"/>
              <a:t> of a node: number of ancestors</a:t>
            </a:r>
          </a:p>
          <a:p>
            <a:pPr>
              <a:lnSpc>
                <a:spcPct val="80000"/>
              </a:lnSpc>
            </a:pPr>
            <a:r>
              <a:rPr lang="en-US" sz="1600" b="1"/>
              <a:t>Height</a:t>
            </a:r>
            <a:r>
              <a:rPr lang="en-US" sz="1600"/>
              <a:t> of a tree: maximum depth of any node (3)</a:t>
            </a:r>
          </a:p>
          <a:p>
            <a:pPr>
              <a:lnSpc>
                <a:spcPct val="80000"/>
              </a:lnSpc>
            </a:pPr>
            <a:r>
              <a:rPr lang="en-US" sz="1600" b="1"/>
              <a:t>Degree</a:t>
            </a:r>
            <a:r>
              <a:rPr lang="en-US" sz="1600"/>
              <a:t> of a node: the number of its children</a:t>
            </a:r>
          </a:p>
          <a:p>
            <a:pPr>
              <a:lnSpc>
                <a:spcPct val="80000"/>
              </a:lnSpc>
            </a:pPr>
            <a:r>
              <a:rPr lang="en-US" sz="1600" b="1"/>
              <a:t>Degree</a:t>
            </a:r>
            <a:r>
              <a:rPr lang="en-US" sz="1600"/>
              <a:t> of a tree: the maximum number of its node.</a:t>
            </a:r>
          </a:p>
          <a:p>
            <a:pPr>
              <a:lnSpc>
                <a:spcPct val="80000"/>
              </a:lnSpc>
            </a:pPr>
            <a:endParaRPr lang="en-US" sz="1600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029200" y="2751138"/>
            <a:ext cx="3708400" cy="3116262"/>
            <a:chOff x="3135" y="1253"/>
            <a:chExt cx="2336" cy="1963"/>
          </a:xfrm>
        </p:grpSpPr>
        <p:sp>
          <p:nvSpPr>
            <p:cNvPr id="370694" name="AutoShape 6"/>
            <p:cNvSpPr>
              <a:spLocks noChangeAspect="1" noChangeArrowheads="1"/>
            </p:cNvSpPr>
            <p:nvPr/>
          </p:nvSpPr>
          <p:spPr bwMode="auto">
            <a:xfrm>
              <a:off x="4217" y="1253"/>
              <a:ext cx="213" cy="23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A</a:t>
              </a:r>
            </a:p>
          </p:txBody>
        </p:sp>
        <p:sp>
          <p:nvSpPr>
            <p:cNvPr id="370695" name="AutoShape 7"/>
            <p:cNvSpPr>
              <a:spLocks noChangeAspect="1" noChangeArrowheads="1"/>
            </p:cNvSpPr>
            <p:nvPr/>
          </p:nvSpPr>
          <p:spPr bwMode="auto">
            <a:xfrm>
              <a:off x="3385" y="1829"/>
              <a:ext cx="211" cy="23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B</a:t>
              </a:r>
            </a:p>
          </p:txBody>
        </p:sp>
        <p:sp>
          <p:nvSpPr>
            <p:cNvPr id="370696" name="AutoShape 8"/>
            <p:cNvSpPr>
              <a:spLocks noChangeAspect="1" noChangeArrowheads="1"/>
            </p:cNvSpPr>
            <p:nvPr/>
          </p:nvSpPr>
          <p:spPr bwMode="auto">
            <a:xfrm>
              <a:off x="5247" y="1828"/>
              <a:ext cx="224" cy="233"/>
            </a:xfrm>
            <a:prstGeom prst="roundRect">
              <a:avLst>
                <a:gd name="adj" fmla="val 16667"/>
              </a:avLst>
            </a:prstGeom>
            <a:solidFill>
              <a:srgbClr val="99CC00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D</a:t>
              </a:r>
            </a:p>
          </p:txBody>
        </p:sp>
        <p:sp>
          <p:nvSpPr>
            <p:cNvPr id="370697" name="AutoShape 9"/>
            <p:cNvSpPr>
              <a:spLocks noChangeAspect="1" noChangeArrowheads="1"/>
            </p:cNvSpPr>
            <p:nvPr/>
          </p:nvSpPr>
          <p:spPr bwMode="auto">
            <a:xfrm>
              <a:off x="4755" y="1829"/>
              <a:ext cx="213" cy="23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C</a:t>
              </a:r>
            </a:p>
          </p:txBody>
        </p:sp>
        <p:sp>
          <p:nvSpPr>
            <p:cNvPr id="370698" name="AutoShape 10"/>
            <p:cNvSpPr>
              <a:spLocks noChangeAspect="1" noChangeArrowheads="1"/>
            </p:cNvSpPr>
            <p:nvPr/>
          </p:nvSpPr>
          <p:spPr bwMode="auto">
            <a:xfrm>
              <a:off x="4494" y="2404"/>
              <a:ext cx="222" cy="233"/>
            </a:xfrm>
            <a:prstGeom prst="roundRect">
              <a:avLst>
                <a:gd name="adj" fmla="val 16667"/>
              </a:avLst>
            </a:prstGeom>
            <a:solidFill>
              <a:srgbClr val="99CC00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G</a:t>
              </a:r>
            </a:p>
          </p:txBody>
        </p:sp>
        <p:sp>
          <p:nvSpPr>
            <p:cNvPr id="370699" name="AutoShape 11"/>
            <p:cNvSpPr>
              <a:spLocks noChangeAspect="1" noChangeArrowheads="1"/>
            </p:cNvSpPr>
            <p:nvPr/>
          </p:nvSpPr>
          <p:spPr bwMode="auto">
            <a:xfrm>
              <a:off x="5007" y="2404"/>
              <a:ext cx="223" cy="233"/>
            </a:xfrm>
            <a:prstGeom prst="roundRect">
              <a:avLst>
                <a:gd name="adj" fmla="val 16667"/>
              </a:avLst>
            </a:prstGeom>
            <a:solidFill>
              <a:srgbClr val="99CC00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H</a:t>
              </a:r>
            </a:p>
          </p:txBody>
        </p:sp>
        <p:sp>
          <p:nvSpPr>
            <p:cNvPr id="370700" name="AutoShape 12"/>
            <p:cNvSpPr>
              <a:spLocks noChangeAspect="1" noChangeArrowheads="1"/>
            </p:cNvSpPr>
            <p:nvPr/>
          </p:nvSpPr>
          <p:spPr bwMode="auto">
            <a:xfrm>
              <a:off x="3135" y="2404"/>
              <a:ext cx="208" cy="232"/>
            </a:xfrm>
            <a:prstGeom prst="roundRect">
              <a:avLst>
                <a:gd name="adj" fmla="val 16667"/>
              </a:avLst>
            </a:prstGeom>
            <a:solidFill>
              <a:srgbClr val="99CC00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E</a:t>
              </a:r>
            </a:p>
          </p:txBody>
        </p:sp>
        <p:sp>
          <p:nvSpPr>
            <p:cNvPr id="370701" name="AutoShape 13"/>
            <p:cNvSpPr>
              <a:spLocks noChangeAspect="1" noChangeArrowheads="1"/>
            </p:cNvSpPr>
            <p:nvPr/>
          </p:nvSpPr>
          <p:spPr bwMode="auto">
            <a:xfrm>
              <a:off x="3639" y="2405"/>
              <a:ext cx="202" cy="23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F</a:t>
              </a:r>
            </a:p>
          </p:txBody>
        </p:sp>
        <p:cxnSp>
          <p:nvCxnSpPr>
            <p:cNvPr id="370702" name="AutoShape 14"/>
            <p:cNvCxnSpPr>
              <a:cxnSpLocks noChangeShapeType="1"/>
              <a:stCxn id="370694" idx="2"/>
              <a:endCxn id="370695" idx="0"/>
            </p:cNvCxnSpPr>
            <p:nvPr/>
          </p:nvCxnSpPr>
          <p:spPr bwMode="auto">
            <a:xfrm flipH="1">
              <a:off x="3491" y="1494"/>
              <a:ext cx="833" cy="32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70703" name="AutoShape 15"/>
            <p:cNvCxnSpPr>
              <a:cxnSpLocks noChangeShapeType="1"/>
              <a:stCxn id="370694" idx="2"/>
              <a:endCxn id="370697" idx="0"/>
            </p:cNvCxnSpPr>
            <p:nvPr/>
          </p:nvCxnSpPr>
          <p:spPr bwMode="auto">
            <a:xfrm>
              <a:off x="4324" y="1494"/>
              <a:ext cx="538" cy="3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70704" name="AutoShape 16"/>
            <p:cNvCxnSpPr>
              <a:cxnSpLocks noChangeShapeType="1"/>
              <a:stCxn id="370694" idx="2"/>
              <a:endCxn id="370696" idx="0"/>
            </p:cNvCxnSpPr>
            <p:nvPr/>
          </p:nvCxnSpPr>
          <p:spPr bwMode="auto">
            <a:xfrm>
              <a:off x="4324" y="1494"/>
              <a:ext cx="1036" cy="3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70705" name="AutoShape 17"/>
            <p:cNvCxnSpPr>
              <a:cxnSpLocks noChangeShapeType="1"/>
              <a:stCxn id="370697" idx="2"/>
              <a:endCxn id="370699" idx="0"/>
            </p:cNvCxnSpPr>
            <p:nvPr/>
          </p:nvCxnSpPr>
          <p:spPr bwMode="auto">
            <a:xfrm>
              <a:off x="4862" y="2071"/>
              <a:ext cx="257" cy="32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70706" name="AutoShape 18"/>
            <p:cNvCxnSpPr>
              <a:cxnSpLocks noChangeShapeType="1"/>
              <a:stCxn id="370697" idx="2"/>
              <a:endCxn id="370698" idx="0"/>
            </p:cNvCxnSpPr>
            <p:nvPr/>
          </p:nvCxnSpPr>
          <p:spPr bwMode="auto">
            <a:xfrm flipH="1">
              <a:off x="4606" y="2071"/>
              <a:ext cx="256" cy="32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70707" name="AutoShape 19"/>
            <p:cNvCxnSpPr>
              <a:cxnSpLocks noChangeShapeType="1"/>
              <a:stCxn id="370695" idx="2"/>
              <a:endCxn id="370701" idx="0"/>
            </p:cNvCxnSpPr>
            <p:nvPr/>
          </p:nvCxnSpPr>
          <p:spPr bwMode="auto">
            <a:xfrm>
              <a:off x="3491" y="2070"/>
              <a:ext cx="250" cy="32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70708" name="AutoShape 20"/>
            <p:cNvCxnSpPr>
              <a:cxnSpLocks noChangeShapeType="1"/>
              <a:stCxn id="370695" idx="2"/>
              <a:endCxn id="370700" idx="0"/>
            </p:cNvCxnSpPr>
            <p:nvPr/>
          </p:nvCxnSpPr>
          <p:spPr bwMode="auto">
            <a:xfrm flipH="1">
              <a:off x="3239" y="2070"/>
              <a:ext cx="252" cy="32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370709" name="AutoShape 21"/>
            <p:cNvSpPr>
              <a:spLocks noChangeAspect="1" noChangeArrowheads="1"/>
            </p:cNvSpPr>
            <p:nvPr/>
          </p:nvSpPr>
          <p:spPr bwMode="auto">
            <a:xfrm>
              <a:off x="3289" y="2985"/>
              <a:ext cx="181" cy="229"/>
            </a:xfrm>
            <a:prstGeom prst="roundRect">
              <a:avLst>
                <a:gd name="adj" fmla="val 16667"/>
              </a:avLst>
            </a:prstGeom>
            <a:solidFill>
              <a:srgbClr val="99CC00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I</a:t>
              </a:r>
            </a:p>
          </p:txBody>
        </p:sp>
        <p:sp>
          <p:nvSpPr>
            <p:cNvPr id="370710" name="AutoShape 22"/>
            <p:cNvSpPr>
              <a:spLocks noChangeAspect="1" noChangeArrowheads="1"/>
            </p:cNvSpPr>
            <p:nvPr/>
          </p:nvSpPr>
          <p:spPr bwMode="auto">
            <a:xfrm>
              <a:off x="3655" y="2985"/>
              <a:ext cx="187" cy="230"/>
            </a:xfrm>
            <a:prstGeom prst="roundRect">
              <a:avLst>
                <a:gd name="adj" fmla="val 16667"/>
              </a:avLst>
            </a:prstGeom>
            <a:solidFill>
              <a:srgbClr val="99CC00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J</a:t>
              </a:r>
            </a:p>
          </p:txBody>
        </p:sp>
        <p:cxnSp>
          <p:nvCxnSpPr>
            <p:cNvPr id="370711" name="AutoShape 23"/>
            <p:cNvCxnSpPr>
              <a:cxnSpLocks noChangeShapeType="1"/>
              <a:stCxn id="370701" idx="2"/>
              <a:endCxn id="370710" idx="0"/>
            </p:cNvCxnSpPr>
            <p:nvPr/>
          </p:nvCxnSpPr>
          <p:spPr bwMode="auto">
            <a:xfrm>
              <a:off x="3741" y="2646"/>
              <a:ext cx="8" cy="32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70712" name="AutoShape 24"/>
            <p:cNvCxnSpPr>
              <a:cxnSpLocks noChangeShapeType="1"/>
              <a:stCxn id="370701" idx="2"/>
              <a:endCxn id="370709" idx="0"/>
            </p:cNvCxnSpPr>
            <p:nvPr/>
          </p:nvCxnSpPr>
          <p:spPr bwMode="auto">
            <a:xfrm flipH="1">
              <a:off x="3380" y="2646"/>
              <a:ext cx="361" cy="32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370713" name="AutoShape 25"/>
            <p:cNvSpPr>
              <a:spLocks noChangeAspect="1" noChangeArrowheads="1"/>
            </p:cNvSpPr>
            <p:nvPr/>
          </p:nvSpPr>
          <p:spPr bwMode="auto">
            <a:xfrm>
              <a:off x="4027" y="2984"/>
              <a:ext cx="211" cy="232"/>
            </a:xfrm>
            <a:prstGeom prst="roundRect">
              <a:avLst>
                <a:gd name="adj" fmla="val 16667"/>
              </a:avLst>
            </a:prstGeom>
            <a:solidFill>
              <a:srgbClr val="99CC00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K</a:t>
              </a:r>
            </a:p>
          </p:txBody>
        </p:sp>
        <p:cxnSp>
          <p:nvCxnSpPr>
            <p:cNvPr id="370714" name="AutoShape 26"/>
            <p:cNvCxnSpPr>
              <a:cxnSpLocks noChangeShapeType="1"/>
              <a:stCxn id="370701" idx="2"/>
              <a:endCxn id="370713" idx="0"/>
            </p:cNvCxnSpPr>
            <p:nvPr/>
          </p:nvCxnSpPr>
          <p:spPr bwMode="auto">
            <a:xfrm>
              <a:off x="3741" y="2646"/>
              <a:ext cx="392" cy="3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370715" name="Rectangle 27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5181600" y="1600200"/>
            <a:ext cx="35052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Blip>
                <a:blip r:embed="rId3"/>
              </a:buBlip>
            </a:pPr>
            <a:r>
              <a:rPr lang="en-US" sz="1600" b="1">
                <a:latin typeface="Georgia" pitchFamily="18" charset="0"/>
              </a:rPr>
              <a:t>Subtree</a:t>
            </a:r>
            <a:r>
              <a:rPr lang="en-US" sz="1600">
                <a:latin typeface="Georgia" pitchFamily="18" charset="0"/>
              </a:rPr>
              <a:t>: tree consisting of a node and its descendants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69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838200"/>
          </a:xfrm>
        </p:spPr>
        <p:txBody>
          <a:bodyPr/>
          <a:lstStyle/>
          <a:p>
            <a:r>
              <a:rPr lang="en-US"/>
              <a:t>Tree Properties</a:t>
            </a:r>
          </a:p>
        </p:txBody>
      </p:sp>
      <p:sp>
        <p:nvSpPr>
          <p:cNvPr id="371715" name="Freeform 3"/>
          <p:cNvSpPr>
            <a:spLocks/>
          </p:cNvSpPr>
          <p:nvPr/>
        </p:nvSpPr>
        <p:spPr bwMode="auto">
          <a:xfrm>
            <a:off x="6473825" y="2689225"/>
            <a:ext cx="2335213" cy="2574925"/>
          </a:xfrm>
          <a:custGeom>
            <a:avLst/>
            <a:gdLst/>
            <a:ahLst/>
            <a:cxnLst>
              <a:cxn ang="0">
                <a:pos x="666" y="33"/>
              </a:cxn>
              <a:cxn ang="0">
                <a:pos x="576" y="41"/>
              </a:cxn>
              <a:cxn ang="0">
                <a:pos x="487" y="130"/>
              </a:cxn>
              <a:cxn ang="0">
                <a:pos x="317" y="300"/>
              </a:cxn>
              <a:cxn ang="0">
                <a:pos x="131" y="527"/>
              </a:cxn>
              <a:cxn ang="0">
                <a:pos x="74" y="657"/>
              </a:cxn>
              <a:cxn ang="0">
                <a:pos x="41" y="730"/>
              </a:cxn>
              <a:cxn ang="0">
                <a:pos x="1" y="892"/>
              </a:cxn>
              <a:cxn ang="0">
                <a:pos x="41" y="1200"/>
              </a:cxn>
              <a:cxn ang="0">
                <a:pos x="122" y="1314"/>
              </a:cxn>
              <a:cxn ang="0">
                <a:pos x="236" y="1436"/>
              </a:cxn>
              <a:cxn ang="0">
                <a:pos x="390" y="1517"/>
              </a:cxn>
              <a:cxn ang="0">
                <a:pos x="447" y="1533"/>
              </a:cxn>
              <a:cxn ang="0">
                <a:pos x="747" y="1622"/>
              </a:cxn>
              <a:cxn ang="0">
                <a:pos x="941" y="1614"/>
              </a:cxn>
              <a:cxn ang="0">
                <a:pos x="1104" y="1533"/>
              </a:cxn>
              <a:cxn ang="0">
                <a:pos x="1168" y="1476"/>
              </a:cxn>
              <a:cxn ang="0">
                <a:pos x="1225" y="1419"/>
              </a:cxn>
              <a:cxn ang="0">
                <a:pos x="1258" y="1371"/>
              </a:cxn>
              <a:cxn ang="0">
                <a:pos x="1323" y="1257"/>
              </a:cxn>
              <a:cxn ang="0">
                <a:pos x="1412" y="1006"/>
              </a:cxn>
              <a:cxn ang="0">
                <a:pos x="1444" y="836"/>
              </a:cxn>
              <a:cxn ang="0">
                <a:pos x="1436" y="406"/>
              </a:cxn>
              <a:cxn ang="0">
                <a:pos x="1274" y="98"/>
              </a:cxn>
              <a:cxn ang="0">
                <a:pos x="1241" y="73"/>
              </a:cxn>
              <a:cxn ang="0">
                <a:pos x="1225" y="49"/>
              </a:cxn>
              <a:cxn ang="0">
                <a:pos x="1120" y="25"/>
              </a:cxn>
              <a:cxn ang="0">
                <a:pos x="925" y="0"/>
              </a:cxn>
              <a:cxn ang="0">
                <a:pos x="714" y="9"/>
              </a:cxn>
              <a:cxn ang="0">
                <a:pos x="666" y="33"/>
              </a:cxn>
            </a:cxnLst>
            <a:rect l="0" t="0" r="r" b="b"/>
            <a:pathLst>
              <a:path w="1471" h="1622">
                <a:moveTo>
                  <a:pt x="666" y="33"/>
                </a:moveTo>
                <a:cubicBezTo>
                  <a:pt x="636" y="36"/>
                  <a:pt x="605" y="35"/>
                  <a:pt x="576" y="41"/>
                </a:cubicBezTo>
                <a:cubicBezTo>
                  <a:pt x="547" y="47"/>
                  <a:pt x="518" y="110"/>
                  <a:pt x="487" y="130"/>
                </a:cubicBezTo>
                <a:cubicBezTo>
                  <a:pt x="444" y="198"/>
                  <a:pt x="372" y="244"/>
                  <a:pt x="317" y="300"/>
                </a:cubicBezTo>
                <a:cubicBezTo>
                  <a:pt x="248" y="370"/>
                  <a:pt x="190" y="449"/>
                  <a:pt x="131" y="527"/>
                </a:cubicBezTo>
                <a:cubicBezTo>
                  <a:pt x="115" y="571"/>
                  <a:pt x="100" y="618"/>
                  <a:pt x="74" y="657"/>
                </a:cubicBezTo>
                <a:cubicBezTo>
                  <a:pt x="65" y="686"/>
                  <a:pt x="64" y="709"/>
                  <a:pt x="41" y="730"/>
                </a:cubicBezTo>
                <a:cubicBezTo>
                  <a:pt x="28" y="784"/>
                  <a:pt x="12" y="837"/>
                  <a:pt x="1" y="892"/>
                </a:cubicBezTo>
                <a:cubicBezTo>
                  <a:pt x="7" y="1062"/>
                  <a:pt x="0" y="1077"/>
                  <a:pt x="41" y="1200"/>
                </a:cubicBezTo>
                <a:cubicBezTo>
                  <a:pt x="56" y="1246"/>
                  <a:pt x="91" y="1279"/>
                  <a:pt x="122" y="1314"/>
                </a:cubicBezTo>
                <a:cubicBezTo>
                  <a:pt x="139" y="1333"/>
                  <a:pt x="218" y="1430"/>
                  <a:pt x="236" y="1436"/>
                </a:cubicBezTo>
                <a:cubicBezTo>
                  <a:pt x="291" y="1454"/>
                  <a:pt x="338" y="1493"/>
                  <a:pt x="390" y="1517"/>
                </a:cubicBezTo>
                <a:cubicBezTo>
                  <a:pt x="408" y="1525"/>
                  <a:pt x="429" y="1525"/>
                  <a:pt x="447" y="1533"/>
                </a:cubicBezTo>
                <a:cubicBezTo>
                  <a:pt x="544" y="1576"/>
                  <a:pt x="643" y="1602"/>
                  <a:pt x="747" y="1622"/>
                </a:cubicBezTo>
                <a:cubicBezTo>
                  <a:pt x="812" y="1619"/>
                  <a:pt x="877" y="1621"/>
                  <a:pt x="941" y="1614"/>
                </a:cubicBezTo>
                <a:cubicBezTo>
                  <a:pt x="1004" y="1608"/>
                  <a:pt x="1048" y="1551"/>
                  <a:pt x="1104" y="1533"/>
                </a:cubicBezTo>
                <a:cubicBezTo>
                  <a:pt x="1131" y="1493"/>
                  <a:pt x="1112" y="1514"/>
                  <a:pt x="1168" y="1476"/>
                </a:cubicBezTo>
                <a:cubicBezTo>
                  <a:pt x="1190" y="1461"/>
                  <a:pt x="1225" y="1419"/>
                  <a:pt x="1225" y="1419"/>
                </a:cubicBezTo>
                <a:cubicBezTo>
                  <a:pt x="1243" y="1366"/>
                  <a:pt x="1219" y="1426"/>
                  <a:pt x="1258" y="1371"/>
                </a:cubicBezTo>
                <a:cubicBezTo>
                  <a:pt x="1283" y="1336"/>
                  <a:pt x="1298" y="1293"/>
                  <a:pt x="1323" y="1257"/>
                </a:cubicBezTo>
                <a:cubicBezTo>
                  <a:pt x="1351" y="1172"/>
                  <a:pt x="1388" y="1093"/>
                  <a:pt x="1412" y="1006"/>
                </a:cubicBezTo>
                <a:cubicBezTo>
                  <a:pt x="1428" y="950"/>
                  <a:pt x="1430" y="892"/>
                  <a:pt x="1444" y="836"/>
                </a:cubicBezTo>
                <a:cubicBezTo>
                  <a:pt x="1462" y="694"/>
                  <a:pt x="1471" y="546"/>
                  <a:pt x="1436" y="406"/>
                </a:cubicBezTo>
                <a:cubicBezTo>
                  <a:pt x="1424" y="298"/>
                  <a:pt x="1394" y="138"/>
                  <a:pt x="1274" y="98"/>
                </a:cubicBezTo>
                <a:cubicBezTo>
                  <a:pt x="1263" y="90"/>
                  <a:pt x="1251" y="83"/>
                  <a:pt x="1241" y="73"/>
                </a:cubicBezTo>
                <a:cubicBezTo>
                  <a:pt x="1234" y="66"/>
                  <a:pt x="1233" y="55"/>
                  <a:pt x="1225" y="49"/>
                </a:cubicBezTo>
                <a:cubicBezTo>
                  <a:pt x="1197" y="27"/>
                  <a:pt x="1155" y="32"/>
                  <a:pt x="1120" y="25"/>
                </a:cubicBezTo>
                <a:cubicBezTo>
                  <a:pt x="1055" y="12"/>
                  <a:pt x="992" y="6"/>
                  <a:pt x="925" y="0"/>
                </a:cubicBezTo>
                <a:cubicBezTo>
                  <a:pt x="855" y="3"/>
                  <a:pt x="784" y="4"/>
                  <a:pt x="714" y="9"/>
                </a:cubicBezTo>
                <a:cubicBezTo>
                  <a:pt x="703" y="10"/>
                  <a:pt x="647" y="14"/>
                  <a:pt x="666" y="33"/>
                </a:cubicBezTo>
                <a:close/>
              </a:path>
            </a:pathLst>
          </a:custGeom>
          <a:noFill/>
          <a:ln w="9525" cap="flat" cmpd="sng">
            <a:noFill/>
            <a:prstDash val="solid"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1716" name="Oval 4"/>
          <p:cNvSpPr>
            <a:spLocks noChangeArrowheads="1"/>
          </p:cNvSpPr>
          <p:nvPr/>
        </p:nvSpPr>
        <p:spPr bwMode="auto">
          <a:xfrm>
            <a:off x="6400800" y="2743200"/>
            <a:ext cx="2438400" cy="2438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1717" name="Freeform 5"/>
          <p:cNvSpPr>
            <a:spLocks/>
          </p:cNvSpPr>
          <p:nvPr/>
        </p:nvSpPr>
        <p:spPr bwMode="auto">
          <a:xfrm>
            <a:off x="4416425" y="2765425"/>
            <a:ext cx="2335213" cy="2574925"/>
          </a:xfrm>
          <a:custGeom>
            <a:avLst/>
            <a:gdLst/>
            <a:ahLst/>
            <a:cxnLst>
              <a:cxn ang="0">
                <a:pos x="666" y="33"/>
              </a:cxn>
              <a:cxn ang="0">
                <a:pos x="576" y="41"/>
              </a:cxn>
              <a:cxn ang="0">
                <a:pos x="487" y="130"/>
              </a:cxn>
              <a:cxn ang="0">
                <a:pos x="317" y="300"/>
              </a:cxn>
              <a:cxn ang="0">
                <a:pos x="131" y="527"/>
              </a:cxn>
              <a:cxn ang="0">
                <a:pos x="74" y="657"/>
              </a:cxn>
              <a:cxn ang="0">
                <a:pos x="41" y="730"/>
              </a:cxn>
              <a:cxn ang="0">
                <a:pos x="1" y="892"/>
              </a:cxn>
              <a:cxn ang="0">
                <a:pos x="41" y="1200"/>
              </a:cxn>
              <a:cxn ang="0">
                <a:pos x="122" y="1314"/>
              </a:cxn>
              <a:cxn ang="0">
                <a:pos x="236" y="1436"/>
              </a:cxn>
              <a:cxn ang="0">
                <a:pos x="390" y="1517"/>
              </a:cxn>
              <a:cxn ang="0">
                <a:pos x="447" y="1533"/>
              </a:cxn>
              <a:cxn ang="0">
                <a:pos x="747" y="1622"/>
              </a:cxn>
              <a:cxn ang="0">
                <a:pos x="941" y="1614"/>
              </a:cxn>
              <a:cxn ang="0">
                <a:pos x="1104" y="1533"/>
              </a:cxn>
              <a:cxn ang="0">
                <a:pos x="1168" y="1476"/>
              </a:cxn>
              <a:cxn ang="0">
                <a:pos x="1225" y="1419"/>
              </a:cxn>
              <a:cxn ang="0">
                <a:pos x="1258" y="1371"/>
              </a:cxn>
              <a:cxn ang="0">
                <a:pos x="1323" y="1257"/>
              </a:cxn>
              <a:cxn ang="0">
                <a:pos x="1412" y="1006"/>
              </a:cxn>
              <a:cxn ang="0">
                <a:pos x="1444" y="836"/>
              </a:cxn>
              <a:cxn ang="0">
                <a:pos x="1436" y="406"/>
              </a:cxn>
              <a:cxn ang="0">
                <a:pos x="1274" y="98"/>
              </a:cxn>
              <a:cxn ang="0">
                <a:pos x="1241" y="73"/>
              </a:cxn>
              <a:cxn ang="0">
                <a:pos x="1225" y="49"/>
              </a:cxn>
              <a:cxn ang="0">
                <a:pos x="1120" y="25"/>
              </a:cxn>
              <a:cxn ang="0">
                <a:pos x="925" y="0"/>
              </a:cxn>
              <a:cxn ang="0">
                <a:pos x="714" y="9"/>
              </a:cxn>
              <a:cxn ang="0">
                <a:pos x="666" y="33"/>
              </a:cxn>
            </a:cxnLst>
            <a:rect l="0" t="0" r="r" b="b"/>
            <a:pathLst>
              <a:path w="1471" h="1622">
                <a:moveTo>
                  <a:pt x="666" y="33"/>
                </a:moveTo>
                <a:cubicBezTo>
                  <a:pt x="636" y="36"/>
                  <a:pt x="605" y="35"/>
                  <a:pt x="576" y="41"/>
                </a:cubicBezTo>
                <a:cubicBezTo>
                  <a:pt x="547" y="47"/>
                  <a:pt x="518" y="110"/>
                  <a:pt x="487" y="130"/>
                </a:cubicBezTo>
                <a:cubicBezTo>
                  <a:pt x="444" y="198"/>
                  <a:pt x="372" y="244"/>
                  <a:pt x="317" y="300"/>
                </a:cubicBezTo>
                <a:cubicBezTo>
                  <a:pt x="248" y="370"/>
                  <a:pt x="190" y="449"/>
                  <a:pt x="131" y="527"/>
                </a:cubicBezTo>
                <a:cubicBezTo>
                  <a:pt x="115" y="571"/>
                  <a:pt x="100" y="618"/>
                  <a:pt x="74" y="657"/>
                </a:cubicBezTo>
                <a:cubicBezTo>
                  <a:pt x="65" y="686"/>
                  <a:pt x="64" y="709"/>
                  <a:pt x="41" y="730"/>
                </a:cubicBezTo>
                <a:cubicBezTo>
                  <a:pt x="28" y="784"/>
                  <a:pt x="12" y="837"/>
                  <a:pt x="1" y="892"/>
                </a:cubicBezTo>
                <a:cubicBezTo>
                  <a:pt x="7" y="1062"/>
                  <a:pt x="0" y="1077"/>
                  <a:pt x="41" y="1200"/>
                </a:cubicBezTo>
                <a:cubicBezTo>
                  <a:pt x="56" y="1246"/>
                  <a:pt x="91" y="1279"/>
                  <a:pt x="122" y="1314"/>
                </a:cubicBezTo>
                <a:cubicBezTo>
                  <a:pt x="139" y="1333"/>
                  <a:pt x="218" y="1430"/>
                  <a:pt x="236" y="1436"/>
                </a:cubicBezTo>
                <a:cubicBezTo>
                  <a:pt x="291" y="1454"/>
                  <a:pt x="338" y="1493"/>
                  <a:pt x="390" y="1517"/>
                </a:cubicBezTo>
                <a:cubicBezTo>
                  <a:pt x="408" y="1525"/>
                  <a:pt x="429" y="1525"/>
                  <a:pt x="447" y="1533"/>
                </a:cubicBezTo>
                <a:cubicBezTo>
                  <a:pt x="544" y="1576"/>
                  <a:pt x="643" y="1602"/>
                  <a:pt x="747" y="1622"/>
                </a:cubicBezTo>
                <a:cubicBezTo>
                  <a:pt x="812" y="1619"/>
                  <a:pt x="877" y="1621"/>
                  <a:pt x="941" y="1614"/>
                </a:cubicBezTo>
                <a:cubicBezTo>
                  <a:pt x="1004" y="1608"/>
                  <a:pt x="1048" y="1551"/>
                  <a:pt x="1104" y="1533"/>
                </a:cubicBezTo>
                <a:cubicBezTo>
                  <a:pt x="1131" y="1493"/>
                  <a:pt x="1112" y="1514"/>
                  <a:pt x="1168" y="1476"/>
                </a:cubicBezTo>
                <a:cubicBezTo>
                  <a:pt x="1190" y="1461"/>
                  <a:pt x="1225" y="1419"/>
                  <a:pt x="1225" y="1419"/>
                </a:cubicBezTo>
                <a:cubicBezTo>
                  <a:pt x="1243" y="1366"/>
                  <a:pt x="1219" y="1426"/>
                  <a:pt x="1258" y="1371"/>
                </a:cubicBezTo>
                <a:cubicBezTo>
                  <a:pt x="1283" y="1336"/>
                  <a:pt x="1298" y="1293"/>
                  <a:pt x="1323" y="1257"/>
                </a:cubicBezTo>
                <a:cubicBezTo>
                  <a:pt x="1351" y="1172"/>
                  <a:pt x="1388" y="1093"/>
                  <a:pt x="1412" y="1006"/>
                </a:cubicBezTo>
                <a:cubicBezTo>
                  <a:pt x="1428" y="950"/>
                  <a:pt x="1430" y="892"/>
                  <a:pt x="1444" y="836"/>
                </a:cubicBezTo>
                <a:cubicBezTo>
                  <a:pt x="1462" y="694"/>
                  <a:pt x="1471" y="546"/>
                  <a:pt x="1436" y="406"/>
                </a:cubicBezTo>
                <a:cubicBezTo>
                  <a:pt x="1424" y="298"/>
                  <a:pt x="1394" y="138"/>
                  <a:pt x="1274" y="98"/>
                </a:cubicBezTo>
                <a:cubicBezTo>
                  <a:pt x="1263" y="90"/>
                  <a:pt x="1251" y="83"/>
                  <a:pt x="1241" y="73"/>
                </a:cubicBezTo>
                <a:cubicBezTo>
                  <a:pt x="1234" y="66"/>
                  <a:pt x="1233" y="55"/>
                  <a:pt x="1225" y="49"/>
                </a:cubicBezTo>
                <a:cubicBezTo>
                  <a:pt x="1197" y="27"/>
                  <a:pt x="1155" y="32"/>
                  <a:pt x="1120" y="25"/>
                </a:cubicBezTo>
                <a:cubicBezTo>
                  <a:pt x="1055" y="12"/>
                  <a:pt x="992" y="6"/>
                  <a:pt x="925" y="0"/>
                </a:cubicBezTo>
                <a:cubicBezTo>
                  <a:pt x="855" y="3"/>
                  <a:pt x="784" y="4"/>
                  <a:pt x="714" y="9"/>
                </a:cubicBezTo>
                <a:cubicBezTo>
                  <a:pt x="703" y="10"/>
                  <a:pt x="647" y="14"/>
                  <a:pt x="666" y="33"/>
                </a:cubicBezTo>
                <a:close/>
              </a:path>
            </a:pathLst>
          </a:custGeom>
          <a:noFill/>
          <a:ln w="9525" cap="flat" cmpd="sng">
            <a:noFill/>
            <a:prstDash val="solid"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1718" name="Freeform 6"/>
          <p:cNvSpPr>
            <a:spLocks/>
          </p:cNvSpPr>
          <p:nvPr/>
        </p:nvSpPr>
        <p:spPr bwMode="auto">
          <a:xfrm>
            <a:off x="4672013" y="2800350"/>
            <a:ext cx="2073275" cy="2332038"/>
          </a:xfrm>
          <a:custGeom>
            <a:avLst/>
            <a:gdLst/>
            <a:ahLst/>
            <a:cxnLst>
              <a:cxn ang="0">
                <a:pos x="543" y="68"/>
              </a:cxn>
              <a:cxn ang="0">
                <a:pos x="454" y="108"/>
              </a:cxn>
              <a:cxn ang="0">
                <a:pos x="341" y="181"/>
              </a:cxn>
              <a:cxn ang="0">
                <a:pos x="227" y="287"/>
              </a:cxn>
              <a:cxn ang="0">
                <a:pos x="195" y="335"/>
              </a:cxn>
              <a:cxn ang="0">
                <a:pos x="130" y="416"/>
              </a:cxn>
              <a:cxn ang="0">
                <a:pos x="97" y="465"/>
              </a:cxn>
              <a:cxn ang="0">
                <a:pos x="65" y="538"/>
              </a:cxn>
              <a:cxn ang="0">
                <a:pos x="32" y="587"/>
              </a:cxn>
              <a:cxn ang="0">
                <a:pos x="0" y="716"/>
              </a:cxn>
              <a:cxn ang="0">
                <a:pos x="8" y="887"/>
              </a:cxn>
              <a:cxn ang="0">
                <a:pos x="73" y="1057"/>
              </a:cxn>
              <a:cxn ang="0">
                <a:pos x="308" y="1308"/>
              </a:cxn>
              <a:cxn ang="0">
                <a:pos x="430" y="1373"/>
              </a:cxn>
              <a:cxn ang="0">
                <a:pos x="600" y="1438"/>
              </a:cxn>
              <a:cxn ang="0">
                <a:pos x="714" y="1462"/>
              </a:cxn>
              <a:cxn ang="0">
                <a:pos x="892" y="1446"/>
              </a:cxn>
              <a:cxn ang="0">
                <a:pos x="1038" y="1300"/>
              </a:cxn>
              <a:cxn ang="0">
                <a:pos x="1200" y="1097"/>
              </a:cxn>
              <a:cxn ang="0">
                <a:pos x="1281" y="919"/>
              </a:cxn>
              <a:cxn ang="0">
                <a:pos x="1306" y="757"/>
              </a:cxn>
              <a:cxn ang="0">
                <a:pos x="1233" y="392"/>
              </a:cxn>
              <a:cxn ang="0">
                <a:pos x="1070" y="165"/>
              </a:cxn>
              <a:cxn ang="0">
                <a:pos x="908" y="51"/>
              </a:cxn>
              <a:cxn ang="0">
                <a:pos x="730" y="27"/>
              </a:cxn>
              <a:cxn ang="0">
                <a:pos x="527" y="43"/>
              </a:cxn>
              <a:cxn ang="0">
                <a:pos x="511" y="68"/>
              </a:cxn>
              <a:cxn ang="0">
                <a:pos x="430" y="116"/>
              </a:cxn>
              <a:cxn ang="0">
                <a:pos x="465" y="60"/>
              </a:cxn>
            </a:cxnLst>
            <a:rect l="0" t="0" r="r" b="b"/>
            <a:pathLst>
              <a:path w="1306" h="1469">
                <a:moveTo>
                  <a:pt x="543" y="68"/>
                </a:moveTo>
                <a:cubicBezTo>
                  <a:pt x="502" y="82"/>
                  <a:pt x="490" y="96"/>
                  <a:pt x="454" y="108"/>
                </a:cubicBezTo>
                <a:cubicBezTo>
                  <a:pt x="418" y="136"/>
                  <a:pt x="378" y="152"/>
                  <a:pt x="341" y="181"/>
                </a:cubicBezTo>
                <a:cubicBezTo>
                  <a:pt x="300" y="213"/>
                  <a:pt x="264" y="250"/>
                  <a:pt x="227" y="287"/>
                </a:cubicBezTo>
                <a:cubicBezTo>
                  <a:pt x="213" y="301"/>
                  <a:pt x="206" y="319"/>
                  <a:pt x="195" y="335"/>
                </a:cubicBezTo>
                <a:cubicBezTo>
                  <a:pt x="176" y="363"/>
                  <a:pt x="148" y="386"/>
                  <a:pt x="130" y="416"/>
                </a:cubicBezTo>
                <a:cubicBezTo>
                  <a:pt x="98" y="468"/>
                  <a:pt x="131" y="433"/>
                  <a:pt x="97" y="465"/>
                </a:cubicBezTo>
                <a:cubicBezTo>
                  <a:pt x="90" y="493"/>
                  <a:pt x="79" y="514"/>
                  <a:pt x="65" y="538"/>
                </a:cubicBezTo>
                <a:cubicBezTo>
                  <a:pt x="55" y="555"/>
                  <a:pt x="32" y="587"/>
                  <a:pt x="32" y="587"/>
                </a:cubicBezTo>
                <a:cubicBezTo>
                  <a:pt x="23" y="631"/>
                  <a:pt x="11" y="673"/>
                  <a:pt x="0" y="716"/>
                </a:cubicBezTo>
                <a:cubicBezTo>
                  <a:pt x="3" y="773"/>
                  <a:pt x="4" y="830"/>
                  <a:pt x="8" y="887"/>
                </a:cubicBezTo>
                <a:cubicBezTo>
                  <a:pt x="13" y="947"/>
                  <a:pt x="48" y="1005"/>
                  <a:pt x="73" y="1057"/>
                </a:cubicBezTo>
                <a:cubicBezTo>
                  <a:pt x="135" y="1183"/>
                  <a:pt x="185" y="1232"/>
                  <a:pt x="308" y="1308"/>
                </a:cubicBezTo>
                <a:cubicBezTo>
                  <a:pt x="348" y="1333"/>
                  <a:pt x="384" y="1362"/>
                  <a:pt x="430" y="1373"/>
                </a:cubicBezTo>
                <a:cubicBezTo>
                  <a:pt x="484" y="1400"/>
                  <a:pt x="540" y="1426"/>
                  <a:pt x="600" y="1438"/>
                </a:cubicBezTo>
                <a:cubicBezTo>
                  <a:pt x="639" y="1446"/>
                  <a:pt x="676" y="1450"/>
                  <a:pt x="714" y="1462"/>
                </a:cubicBezTo>
                <a:cubicBezTo>
                  <a:pt x="764" y="1459"/>
                  <a:pt x="838" y="1469"/>
                  <a:pt x="892" y="1446"/>
                </a:cubicBezTo>
                <a:cubicBezTo>
                  <a:pt x="955" y="1419"/>
                  <a:pt x="995" y="1350"/>
                  <a:pt x="1038" y="1300"/>
                </a:cubicBezTo>
                <a:cubicBezTo>
                  <a:pt x="1094" y="1234"/>
                  <a:pt x="1158" y="1174"/>
                  <a:pt x="1200" y="1097"/>
                </a:cubicBezTo>
                <a:cubicBezTo>
                  <a:pt x="1231" y="1039"/>
                  <a:pt x="1252" y="978"/>
                  <a:pt x="1281" y="919"/>
                </a:cubicBezTo>
                <a:cubicBezTo>
                  <a:pt x="1292" y="865"/>
                  <a:pt x="1299" y="812"/>
                  <a:pt x="1306" y="757"/>
                </a:cubicBezTo>
                <a:cubicBezTo>
                  <a:pt x="1300" y="649"/>
                  <a:pt x="1299" y="491"/>
                  <a:pt x="1233" y="392"/>
                </a:cubicBezTo>
                <a:cubicBezTo>
                  <a:pt x="1207" y="299"/>
                  <a:pt x="1138" y="231"/>
                  <a:pt x="1070" y="165"/>
                </a:cubicBezTo>
                <a:cubicBezTo>
                  <a:pt x="1022" y="118"/>
                  <a:pt x="975" y="73"/>
                  <a:pt x="908" y="51"/>
                </a:cubicBezTo>
                <a:cubicBezTo>
                  <a:pt x="850" y="32"/>
                  <a:pt x="791" y="32"/>
                  <a:pt x="730" y="27"/>
                </a:cubicBezTo>
                <a:cubicBezTo>
                  <a:pt x="662" y="30"/>
                  <a:pt x="579" y="0"/>
                  <a:pt x="527" y="43"/>
                </a:cubicBezTo>
                <a:cubicBezTo>
                  <a:pt x="519" y="49"/>
                  <a:pt x="518" y="61"/>
                  <a:pt x="511" y="68"/>
                </a:cubicBezTo>
                <a:cubicBezTo>
                  <a:pt x="503" y="75"/>
                  <a:pt x="451" y="116"/>
                  <a:pt x="430" y="116"/>
                </a:cubicBezTo>
                <a:lnTo>
                  <a:pt x="465" y="60"/>
                </a:lnTo>
              </a:path>
            </a:pathLst>
          </a:custGeom>
          <a:noFill/>
          <a:ln w="9525" cap="flat" cmpd="sng">
            <a:noFill/>
            <a:prstDash val="solid"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1719" name="Freeform 7"/>
          <p:cNvSpPr>
            <a:spLocks/>
          </p:cNvSpPr>
          <p:nvPr/>
        </p:nvSpPr>
        <p:spPr bwMode="auto">
          <a:xfrm>
            <a:off x="6669088" y="3119438"/>
            <a:ext cx="2124075" cy="2393950"/>
          </a:xfrm>
          <a:custGeom>
            <a:avLst/>
            <a:gdLst/>
            <a:ahLst/>
            <a:cxnLst>
              <a:cxn ang="0">
                <a:pos x="697" y="8"/>
              </a:cxn>
              <a:cxn ang="0">
                <a:pos x="608" y="64"/>
              </a:cxn>
              <a:cxn ang="0">
                <a:pos x="543" y="129"/>
              </a:cxn>
              <a:cxn ang="0">
                <a:pos x="478" y="186"/>
              </a:cxn>
              <a:cxn ang="0">
                <a:pos x="414" y="251"/>
              </a:cxn>
              <a:cxn ang="0">
                <a:pos x="349" y="316"/>
              </a:cxn>
              <a:cxn ang="0">
                <a:pos x="227" y="437"/>
              </a:cxn>
              <a:cxn ang="0">
                <a:pos x="154" y="527"/>
              </a:cxn>
              <a:cxn ang="0">
                <a:pos x="105" y="591"/>
              </a:cxn>
              <a:cxn ang="0">
                <a:pos x="57" y="689"/>
              </a:cxn>
              <a:cxn ang="0">
                <a:pos x="24" y="762"/>
              </a:cxn>
              <a:cxn ang="0">
                <a:pos x="0" y="908"/>
              </a:cxn>
              <a:cxn ang="0">
                <a:pos x="49" y="1135"/>
              </a:cxn>
              <a:cxn ang="0">
                <a:pos x="357" y="1378"/>
              </a:cxn>
              <a:cxn ang="0">
                <a:pos x="430" y="1402"/>
              </a:cxn>
              <a:cxn ang="0">
                <a:pos x="778" y="1508"/>
              </a:cxn>
              <a:cxn ang="0">
                <a:pos x="949" y="1483"/>
              </a:cxn>
              <a:cxn ang="0">
                <a:pos x="1022" y="1443"/>
              </a:cxn>
              <a:cxn ang="0">
                <a:pos x="1168" y="1305"/>
              </a:cxn>
              <a:cxn ang="0">
                <a:pos x="1241" y="1208"/>
              </a:cxn>
              <a:cxn ang="0">
                <a:pos x="1273" y="1151"/>
              </a:cxn>
              <a:cxn ang="0">
                <a:pos x="1314" y="1070"/>
              </a:cxn>
              <a:cxn ang="0">
                <a:pos x="1338" y="932"/>
              </a:cxn>
              <a:cxn ang="0">
                <a:pos x="1330" y="729"/>
              </a:cxn>
              <a:cxn ang="0">
                <a:pos x="1297" y="518"/>
              </a:cxn>
              <a:cxn ang="0">
                <a:pos x="1176" y="137"/>
              </a:cxn>
              <a:cxn ang="0">
                <a:pos x="1095" y="56"/>
              </a:cxn>
              <a:cxn ang="0">
                <a:pos x="997" y="32"/>
              </a:cxn>
              <a:cxn ang="0">
                <a:pos x="860" y="0"/>
              </a:cxn>
              <a:cxn ang="0">
                <a:pos x="697" y="8"/>
              </a:cxn>
            </a:cxnLst>
            <a:rect l="0" t="0" r="r" b="b"/>
            <a:pathLst>
              <a:path w="1338" h="1508">
                <a:moveTo>
                  <a:pt x="697" y="8"/>
                </a:moveTo>
                <a:cubicBezTo>
                  <a:pt x="661" y="20"/>
                  <a:pt x="639" y="43"/>
                  <a:pt x="608" y="64"/>
                </a:cubicBezTo>
                <a:cubicBezTo>
                  <a:pt x="589" y="94"/>
                  <a:pt x="569" y="106"/>
                  <a:pt x="543" y="129"/>
                </a:cubicBezTo>
                <a:cubicBezTo>
                  <a:pt x="467" y="196"/>
                  <a:pt x="534" y="150"/>
                  <a:pt x="478" y="186"/>
                </a:cubicBezTo>
                <a:cubicBezTo>
                  <a:pt x="458" y="216"/>
                  <a:pt x="442" y="227"/>
                  <a:pt x="414" y="251"/>
                </a:cubicBezTo>
                <a:cubicBezTo>
                  <a:pt x="388" y="273"/>
                  <a:pt x="377" y="297"/>
                  <a:pt x="349" y="316"/>
                </a:cubicBezTo>
                <a:cubicBezTo>
                  <a:pt x="324" y="352"/>
                  <a:pt x="262" y="411"/>
                  <a:pt x="227" y="437"/>
                </a:cubicBezTo>
                <a:cubicBezTo>
                  <a:pt x="206" y="470"/>
                  <a:pt x="177" y="496"/>
                  <a:pt x="154" y="527"/>
                </a:cubicBezTo>
                <a:cubicBezTo>
                  <a:pt x="105" y="594"/>
                  <a:pt x="141" y="557"/>
                  <a:pt x="105" y="591"/>
                </a:cubicBezTo>
                <a:cubicBezTo>
                  <a:pt x="94" y="625"/>
                  <a:pt x="76" y="659"/>
                  <a:pt x="57" y="689"/>
                </a:cubicBezTo>
                <a:cubicBezTo>
                  <a:pt x="49" y="720"/>
                  <a:pt x="47" y="739"/>
                  <a:pt x="24" y="762"/>
                </a:cubicBezTo>
                <a:cubicBezTo>
                  <a:pt x="12" y="811"/>
                  <a:pt x="6" y="857"/>
                  <a:pt x="0" y="908"/>
                </a:cubicBezTo>
                <a:cubicBezTo>
                  <a:pt x="6" y="988"/>
                  <a:pt x="10" y="1064"/>
                  <a:pt x="49" y="1135"/>
                </a:cubicBezTo>
                <a:cubicBezTo>
                  <a:pt x="109" y="1244"/>
                  <a:pt x="244" y="1332"/>
                  <a:pt x="357" y="1378"/>
                </a:cubicBezTo>
                <a:cubicBezTo>
                  <a:pt x="381" y="1388"/>
                  <a:pt x="407" y="1391"/>
                  <a:pt x="430" y="1402"/>
                </a:cubicBezTo>
                <a:cubicBezTo>
                  <a:pt x="538" y="1456"/>
                  <a:pt x="659" y="1488"/>
                  <a:pt x="778" y="1508"/>
                </a:cubicBezTo>
                <a:cubicBezTo>
                  <a:pt x="871" y="1502"/>
                  <a:pt x="882" y="1504"/>
                  <a:pt x="949" y="1483"/>
                </a:cubicBezTo>
                <a:cubicBezTo>
                  <a:pt x="1004" y="1446"/>
                  <a:pt x="979" y="1457"/>
                  <a:pt x="1022" y="1443"/>
                </a:cubicBezTo>
                <a:cubicBezTo>
                  <a:pt x="1080" y="1404"/>
                  <a:pt x="1119" y="1353"/>
                  <a:pt x="1168" y="1305"/>
                </a:cubicBezTo>
                <a:cubicBezTo>
                  <a:pt x="1197" y="1277"/>
                  <a:pt x="1211" y="1237"/>
                  <a:pt x="1241" y="1208"/>
                </a:cubicBezTo>
                <a:cubicBezTo>
                  <a:pt x="1258" y="1139"/>
                  <a:pt x="1235" y="1208"/>
                  <a:pt x="1273" y="1151"/>
                </a:cubicBezTo>
                <a:cubicBezTo>
                  <a:pt x="1288" y="1128"/>
                  <a:pt x="1301" y="1095"/>
                  <a:pt x="1314" y="1070"/>
                </a:cubicBezTo>
                <a:cubicBezTo>
                  <a:pt x="1323" y="1023"/>
                  <a:pt x="1332" y="980"/>
                  <a:pt x="1338" y="932"/>
                </a:cubicBezTo>
                <a:cubicBezTo>
                  <a:pt x="1335" y="864"/>
                  <a:pt x="1335" y="797"/>
                  <a:pt x="1330" y="729"/>
                </a:cubicBezTo>
                <a:cubicBezTo>
                  <a:pt x="1325" y="662"/>
                  <a:pt x="1314" y="584"/>
                  <a:pt x="1297" y="518"/>
                </a:cubicBezTo>
                <a:cubicBezTo>
                  <a:pt x="1262" y="383"/>
                  <a:pt x="1267" y="249"/>
                  <a:pt x="1176" y="137"/>
                </a:cubicBezTo>
                <a:cubicBezTo>
                  <a:pt x="1152" y="108"/>
                  <a:pt x="1130" y="74"/>
                  <a:pt x="1095" y="56"/>
                </a:cubicBezTo>
                <a:cubicBezTo>
                  <a:pt x="1066" y="41"/>
                  <a:pt x="1028" y="39"/>
                  <a:pt x="997" y="32"/>
                </a:cubicBezTo>
                <a:cubicBezTo>
                  <a:pt x="951" y="22"/>
                  <a:pt x="906" y="9"/>
                  <a:pt x="860" y="0"/>
                </a:cubicBezTo>
                <a:cubicBezTo>
                  <a:pt x="665" y="8"/>
                  <a:pt x="611" y="8"/>
                  <a:pt x="697" y="8"/>
                </a:cubicBezTo>
                <a:close/>
              </a:path>
            </a:pathLst>
          </a:custGeom>
          <a:noFill/>
          <a:ln w="9525" cap="flat" cmpd="sng">
            <a:noFill/>
            <a:prstDash val="solid"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1720" name="Freeform 8"/>
          <p:cNvSpPr>
            <a:spLocks/>
          </p:cNvSpPr>
          <p:nvPr/>
        </p:nvSpPr>
        <p:spPr bwMode="auto">
          <a:xfrm>
            <a:off x="4929188" y="2908300"/>
            <a:ext cx="579437" cy="771525"/>
          </a:xfrm>
          <a:custGeom>
            <a:avLst/>
            <a:gdLst/>
            <a:ahLst/>
            <a:cxnLst>
              <a:cxn ang="0">
                <a:pos x="365" y="0"/>
              </a:cxn>
              <a:cxn ang="0">
                <a:pos x="292" y="48"/>
              </a:cxn>
              <a:cxn ang="0">
                <a:pos x="203" y="121"/>
              </a:cxn>
              <a:cxn ang="0">
                <a:pos x="187" y="146"/>
              </a:cxn>
              <a:cxn ang="0">
                <a:pos x="162" y="162"/>
              </a:cxn>
              <a:cxn ang="0">
                <a:pos x="154" y="186"/>
              </a:cxn>
              <a:cxn ang="0">
                <a:pos x="65" y="348"/>
              </a:cxn>
              <a:cxn ang="0">
                <a:pos x="33" y="437"/>
              </a:cxn>
              <a:cxn ang="0">
                <a:pos x="0" y="486"/>
              </a:cxn>
              <a:cxn ang="0">
                <a:pos x="8" y="446"/>
              </a:cxn>
              <a:cxn ang="0">
                <a:pos x="24" y="397"/>
              </a:cxn>
            </a:cxnLst>
            <a:rect l="0" t="0" r="r" b="b"/>
            <a:pathLst>
              <a:path w="365" h="486">
                <a:moveTo>
                  <a:pt x="365" y="0"/>
                </a:moveTo>
                <a:cubicBezTo>
                  <a:pt x="341" y="24"/>
                  <a:pt x="324" y="37"/>
                  <a:pt x="292" y="48"/>
                </a:cubicBezTo>
                <a:cubicBezTo>
                  <a:pt x="266" y="75"/>
                  <a:pt x="233" y="98"/>
                  <a:pt x="203" y="121"/>
                </a:cubicBezTo>
                <a:cubicBezTo>
                  <a:pt x="198" y="129"/>
                  <a:pt x="194" y="139"/>
                  <a:pt x="187" y="146"/>
                </a:cubicBezTo>
                <a:cubicBezTo>
                  <a:pt x="180" y="153"/>
                  <a:pt x="168" y="154"/>
                  <a:pt x="162" y="162"/>
                </a:cubicBezTo>
                <a:cubicBezTo>
                  <a:pt x="157" y="169"/>
                  <a:pt x="158" y="179"/>
                  <a:pt x="154" y="186"/>
                </a:cubicBezTo>
                <a:cubicBezTo>
                  <a:pt x="125" y="238"/>
                  <a:pt x="84" y="290"/>
                  <a:pt x="65" y="348"/>
                </a:cubicBezTo>
                <a:cubicBezTo>
                  <a:pt x="56" y="376"/>
                  <a:pt x="46" y="411"/>
                  <a:pt x="33" y="437"/>
                </a:cubicBezTo>
                <a:cubicBezTo>
                  <a:pt x="24" y="455"/>
                  <a:pt x="0" y="486"/>
                  <a:pt x="0" y="486"/>
                </a:cubicBezTo>
                <a:cubicBezTo>
                  <a:pt x="3" y="473"/>
                  <a:pt x="4" y="459"/>
                  <a:pt x="8" y="446"/>
                </a:cubicBezTo>
                <a:cubicBezTo>
                  <a:pt x="12" y="429"/>
                  <a:pt x="24" y="397"/>
                  <a:pt x="24" y="397"/>
                </a:cubicBezTo>
              </a:path>
            </a:pathLst>
          </a:custGeom>
          <a:noFill/>
          <a:ln w="9525" cap="flat" cmpd="sng">
            <a:noFill/>
            <a:prstDash val="solid"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1721" name="Freeform 9"/>
          <p:cNvSpPr>
            <a:spLocks/>
          </p:cNvSpPr>
          <p:nvPr/>
        </p:nvSpPr>
        <p:spPr bwMode="auto">
          <a:xfrm>
            <a:off x="4621213" y="2674938"/>
            <a:ext cx="2128837" cy="2486025"/>
          </a:xfrm>
          <a:custGeom>
            <a:avLst/>
            <a:gdLst/>
            <a:ahLst/>
            <a:cxnLst>
              <a:cxn ang="0">
                <a:pos x="632" y="82"/>
              </a:cxn>
              <a:cxn ang="0">
                <a:pos x="502" y="98"/>
              </a:cxn>
              <a:cxn ang="0">
                <a:pos x="316" y="244"/>
              </a:cxn>
              <a:cxn ang="0">
                <a:pos x="291" y="260"/>
              </a:cxn>
              <a:cxn ang="0">
                <a:pos x="178" y="382"/>
              </a:cxn>
              <a:cxn ang="0">
                <a:pos x="81" y="520"/>
              </a:cxn>
              <a:cxn ang="0">
                <a:pos x="48" y="584"/>
              </a:cxn>
              <a:cxn ang="0">
                <a:pos x="16" y="698"/>
              </a:cxn>
              <a:cxn ang="0">
                <a:pos x="16" y="966"/>
              </a:cxn>
              <a:cxn ang="0">
                <a:pos x="32" y="1014"/>
              </a:cxn>
              <a:cxn ang="0">
                <a:pos x="89" y="1152"/>
              </a:cxn>
              <a:cxn ang="0">
                <a:pos x="413" y="1484"/>
              </a:cxn>
              <a:cxn ang="0">
                <a:pos x="583" y="1549"/>
              </a:cxn>
              <a:cxn ang="0">
                <a:pos x="673" y="1566"/>
              </a:cxn>
              <a:cxn ang="0">
                <a:pos x="851" y="1557"/>
              </a:cxn>
              <a:cxn ang="0">
                <a:pos x="916" y="1541"/>
              </a:cxn>
              <a:cxn ang="0">
                <a:pos x="1029" y="1493"/>
              </a:cxn>
              <a:cxn ang="0">
                <a:pos x="1200" y="1330"/>
              </a:cxn>
              <a:cxn ang="0">
                <a:pos x="1305" y="1079"/>
              </a:cxn>
              <a:cxn ang="0">
                <a:pos x="1329" y="909"/>
              </a:cxn>
              <a:cxn ang="0">
                <a:pos x="1248" y="414"/>
              </a:cxn>
              <a:cxn ang="0">
                <a:pos x="1200" y="301"/>
              </a:cxn>
              <a:cxn ang="0">
                <a:pos x="1167" y="252"/>
              </a:cxn>
              <a:cxn ang="0">
                <a:pos x="1151" y="228"/>
              </a:cxn>
              <a:cxn ang="0">
                <a:pos x="1054" y="82"/>
              </a:cxn>
              <a:cxn ang="0">
                <a:pos x="932" y="9"/>
              </a:cxn>
              <a:cxn ang="0">
                <a:pos x="567" y="57"/>
              </a:cxn>
              <a:cxn ang="0">
                <a:pos x="535" y="90"/>
              </a:cxn>
              <a:cxn ang="0">
                <a:pos x="545" y="43"/>
              </a:cxn>
              <a:cxn ang="0">
                <a:pos x="497" y="43"/>
              </a:cxn>
              <a:cxn ang="0">
                <a:pos x="545" y="43"/>
              </a:cxn>
              <a:cxn ang="0">
                <a:pos x="545" y="91"/>
              </a:cxn>
            </a:cxnLst>
            <a:rect l="0" t="0" r="r" b="b"/>
            <a:pathLst>
              <a:path w="1341" h="1566">
                <a:moveTo>
                  <a:pt x="632" y="82"/>
                </a:moveTo>
                <a:cubicBezTo>
                  <a:pt x="587" y="85"/>
                  <a:pt x="543" y="81"/>
                  <a:pt x="502" y="98"/>
                </a:cubicBezTo>
                <a:cubicBezTo>
                  <a:pt x="432" y="128"/>
                  <a:pt x="369" y="190"/>
                  <a:pt x="316" y="244"/>
                </a:cubicBezTo>
                <a:cubicBezTo>
                  <a:pt x="309" y="251"/>
                  <a:pt x="298" y="253"/>
                  <a:pt x="291" y="260"/>
                </a:cubicBezTo>
                <a:cubicBezTo>
                  <a:pt x="249" y="297"/>
                  <a:pt x="213" y="339"/>
                  <a:pt x="178" y="382"/>
                </a:cubicBezTo>
                <a:cubicBezTo>
                  <a:pt x="143" y="425"/>
                  <a:pt x="118" y="480"/>
                  <a:pt x="81" y="520"/>
                </a:cubicBezTo>
                <a:cubicBezTo>
                  <a:pt x="61" y="600"/>
                  <a:pt x="91" y="500"/>
                  <a:pt x="48" y="584"/>
                </a:cubicBezTo>
                <a:cubicBezTo>
                  <a:pt x="31" y="617"/>
                  <a:pt x="28" y="663"/>
                  <a:pt x="16" y="698"/>
                </a:cubicBezTo>
                <a:cubicBezTo>
                  <a:pt x="0" y="810"/>
                  <a:pt x="0" y="790"/>
                  <a:pt x="16" y="966"/>
                </a:cubicBezTo>
                <a:cubicBezTo>
                  <a:pt x="18" y="983"/>
                  <a:pt x="32" y="1014"/>
                  <a:pt x="32" y="1014"/>
                </a:cubicBezTo>
                <a:cubicBezTo>
                  <a:pt x="41" y="1068"/>
                  <a:pt x="65" y="1103"/>
                  <a:pt x="89" y="1152"/>
                </a:cubicBezTo>
                <a:cubicBezTo>
                  <a:pt x="166" y="1309"/>
                  <a:pt x="253" y="1402"/>
                  <a:pt x="413" y="1484"/>
                </a:cubicBezTo>
                <a:cubicBezTo>
                  <a:pt x="462" y="1509"/>
                  <a:pt x="528" y="1538"/>
                  <a:pt x="583" y="1549"/>
                </a:cubicBezTo>
                <a:cubicBezTo>
                  <a:pt x="613" y="1555"/>
                  <a:pt x="673" y="1566"/>
                  <a:pt x="673" y="1566"/>
                </a:cubicBezTo>
                <a:cubicBezTo>
                  <a:pt x="732" y="1563"/>
                  <a:pt x="792" y="1563"/>
                  <a:pt x="851" y="1557"/>
                </a:cubicBezTo>
                <a:cubicBezTo>
                  <a:pt x="873" y="1555"/>
                  <a:pt x="916" y="1541"/>
                  <a:pt x="916" y="1541"/>
                </a:cubicBezTo>
                <a:cubicBezTo>
                  <a:pt x="952" y="1523"/>
                  <a:pt x="991" y="1506"/>
                  <a:pt x="1029" y="1493"/>
                </a:cubicBezTo>
                <a:cubicBezTo>
                  <a:pt x="1085" y="1437"/>
                  <a:pt x="1152" y="1397"/>
                  <a:pt x="1200" y="1330"/>
                </a:cubicBezTo>
                <a:cubicBezTo>
                  <a:pt x="1254" y="1255"/>
                  <a:pt x="1276" y="1165"/>
                  <a:pt x="1305" y="1079"/>
                </a:cubicBezTo>
                <a:cubicBezTo>
                  <a:pt x="1325" y="958"/>
                  <a:pt x="1317" y="1015"/>
                  <a:pt x="1329" y="909"/>
                </a:cubicBezTo>
                <a:cubicBezTo>
                  <a:pt x="1325" y="763"/>
                  <a:pt x="1341" y="550"/>
                  <a:pt x="1248" y="414"/>
                </a:cubicBezTo>
                <a:cubicBezTo>
                  <a:pt x="1224" y="343"/>
                  <a:pt x="1239" y="381"/>
                  <a:pt x="1200" y="301"/>
                </a:cubicBezTo>
                <a:cubicBezTo>
                  <a:pt x="1191" y="283"/>
                  <a:pt x="1178" y="268"/>
                  <a:pt x="1167" y="252"/>
                </a:cubicBezTo>
                <a:cubicBezTo>
                  <a:pt x="1162" y="244"/>
                  <a:pt x="1151" y="228"/>
                  <a:pt x="1151" y="228"/>
                </a:cubicBezTo>
                <a:cubicBezTo>
                  <a:pt x="1133" y="173"/>
                  <a:pt x="1095" y="123"/>
                  <a:pt x="1054" y="82"/>
                </a:cubicBezTo>
                <a:cubicBezTo>
                  <a:pt x="1032" y="15"/>
                  <a:pt x="993" y="19"/>
                  <a:pt x="932" y="9"/>
                </a:cubicBezTo>
                <a:cubicBezTo>
                  <a:pt x="794" y="13"/>
                  <a:pt x="685" y="0"/>
                  <a:pt x="567" y="57"/>
                </a:cubicBezTo>
                <a:cubicBezTo>
                  <a:pt x="546" y="79"/>
                  <a:pt x="557" y="68"/>
                  <a:pt x="535" y="90"/>
                </a:cubicBezTo>
                <a:lnTo>
                  <a:pt x="545" y="43"/>
                </a:lnTo>
                <a:lnTo>
                  <a:pt x="497" y="43"/>
                </a:lnTo>
                <a:lnTo>
                  <a:pt x="545" y="43"/>
                </a:lnTo>
                <a:lnTo>
                  <a:pt x="545" y="91"/>
                </a:lnTo>
              </a:path>
            </a:pathLst>
          </a:custGeom>
          <a:noFill/>
          <a:ln w="9525" cap="flat" cmpd="sng">
            <a:noFill/>
            <a:prstDash val="solid"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1722" name="Oval 10"/>
          <p:cNvSpPr>
            <a:spLocks noChangeArrowheads="1"/>
          </p:cNvSpPr>
          <p:nvPr/>
        </p:nvSpPr>
        <p:spPr bwMode="auto">
          <a:xfrm>
            <a:off x="4343400" y="2819400"/>
            <a:ext cx="2438400" cy="2438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990600" y="1752600"/>
            <a:ext cx="2819400" cy="4343400"/>
            <a:chOff x="288" y="1392"/>
            <a:chExt cx="1776" cy="2736"/>
          </a:xfrm>
        </p:grpSpPr>
        <p:sp>
          <p:nvSpPr>
            <p:cNvPr id="371724" name="Rectangle 12"/>
            <p:cNvSpPr>
              <a:spLocks noChangeArrowheads="1"/>
            </p:cNvSpPr>
            <p:nvPr/>
          </p:nvSpPr>
          <p:spPr bwMode="auto">
            <a:xfrm>
              <a:off x="1344" y="1392"/>
              <a:ext cx="240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/>
                <a:t>A</a:t>
              </a:r>
            </a:p>
          </p:txBody>
        </p:sp>
        <p:sp>
          <p:nvSpPr>
            <p:cNvPr id="371725" name="Rectangle 13"/>
            <p:cNvSpPr>
              <a:spLocks noChangeArrowheads="1"/>
            </p:cNvSpPr>
            <p:nvPr/>
          </p:nvSpPr>
          <p:spPr bwMode="auto">
            <a:xfrm>
              <a:off x="912" y="1920"/>
              <a:ext cx="240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/>
                <a:t>B</a:t>
              </a:r>
            </a:p>
          </p:txBody>
        </p:sp>
        <p:sp>
          <p:nvSpPr>
            <p:cNvPr id="371726" name="Rectangle 14"/>
            <p:cNvSpPr>
              <a:spLocks noChangeArrowheads="1"/>
            </p:cNvSpPr>
            <p:nvPr/>
          </p:nvSpPr>
          <p:spPr bwMode="auto">
            <a:xfrm>
              <a:off x="1824" y="1920"/>
              <a:ext cx="240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/>
                <a:t>C</a:t>
              </a:r>
            </a:p>
          </p:txBody>
        </p:sp>
        <p:sp>
          <p:nvSpPr>
            <p:cNvPr id="371727" name="Rectangle 15"/>
            <p:cNvSpPr>
              <a:spLocks noChangeArrowheads="1"/>
            </p:cNvSpPr>
            <p:nvPr/>
          </p:nvSpPr>
          <p:spPr bwMode="auto">
            <a:xfrm>
              <a:off x="288" y="2592"/>
              <a:ext cx="240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/>
                <a:t>D</a:t>
              </a:r>
            </a:p>
          </p:txBody>
        </p:sp>
        <p:sp>
          <p:nvSpPr>
            <p:cNvPr id="371728" name="Rectangle 16"/>
            <p:cNvSpPr>
              <a:spLocks noChangeArrowheads="1"/>
            </p:cNvSpPr>
            <p:nvPr/>
          </p:nvSpPr>
          <p:spPr bwMode="auto">
            <a:xfrm>
              <a:off x="912" y="3360"/>
              <a:ext cx="240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/>
                <a:t>G</a:t>
              </a:r>
            </a:p>
          </p:txBody>
        </p:sp>
        <p:sp>
          <p:nvSpPr>
            <p:cNvPr id="371729" name="Rectangle 17"/>
            <p:cNvSpPr>
              <a:spLocks noChangeArrowheads="1"/>
            </p:cNvSpPr>
            <p:nvPr/>
          </p:nvSpPr>
          <p:spPr bwMode="auto">
            <a:xfrm>
              <a:off x="912" y="2592"/>
              <a:ext cx="240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/>
                <a:t>E</a:t>
              </a:r>
            </a:p>
          </p:txBody>
        </p:sp>
        <p:sp>
          <p:nvSpPr>
            <p:cNvPr id="371730" name="Rectangle 18"/>
            <p:cNvSpPr>
              <a:spLocks noChangeArrowheads="1"/>
            </p:cNvSpPr>
            <p:nvPr/>
          </p:nvSpPr>
          <p:spPr bwMode="auto">
            <a:xfrm>
              <a:off x="1584" y="2592"/>
              <a:ext cx="240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/>
                <a:t>F</a:t>
              </a:r>
            </a:p>
          </p:txBody>
        </p:sp>
        <p:sp>
          <p:nvSpPr>
            <p:cNvPr id="371731" name="Line 19"/>
            <p:cNvSpPr>
              <a:spLocks noChangeShapeType="1"/>
            </p:cNvSpPr>
            <p:nvPr/>
          </p:nvSpPr>
          <p:spPr bwMode="auto">
            <a:xfrm>
              <a:off x="1584" y="1633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71732" name="Line 20"/>
            <p:cNvSpPr>
              <a:spLocks noChangeShapeType="1"/>
            </p:cNvSpPr>
            <p:nvPr/>
          </p:nvSpPr>
          <p:spPr bwMode="auto">
            <a:xfrm flipH="1">
              <a:off x="1056" y="1632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71733" name="Line 21"/>
            <p:cNvSpPr>
              <a:spLocks noChangeShapeType="1"/>
            </p:cNvSpPr>
            <p:nvPr/>
          </p:nvSpPr>
          <p:spPr bwMode="auto">
            <a:xfrm>
              <a:off x="1008" y="220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71734" name="Line 22"/>
            <p:cNvSpPr>
              <a:spLocks noChangeShapeType="1"/>
            </p:cNvSpPr>
            <p:nvPr/>
          </p:nvSpPr>
          <p:spPr bwMode="auto">
            <a:xfrm flipH="1">
              <a:off x="528" y="2208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71735" name="Line 23"/>
            <p:cNvSpPr>
              <a:spLocks noChangeShapeType="1"/>
            </p:cNvSpPr>
            <p:nvPr/>
          </p:nvSpPr>
          <p:spPr bwMode="auto">
            <a:xfrm>
              <a:off x="1152" y="2208"/>
              <a:ext cx="43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71736" name="Line 24"/>
            <p:cNvSpPr>
              <a:spLocks noChangeShapeType="1"/>
            </p:cNvSpPr>
            <p:nvPr/>
          </p:nvSpPr>
          <p:spPr bwMode="auto">
            <a:xfrm>
              <a:off x="1056" y="2832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71737" name="Rectangle 25"/>
            <p:cNvSpPr>
              <a:spLocks noChangeArrowheads="1"/>
            </p:cNvSpPr>
            <p:nvPr/>
          </p:nvSpPr>
          <p:spPr bwMode="auto">
            <a:xfrm>
              <a:off x="1344" y="3888"/>
              <a:ext cx="240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/>
                <a:t>I</a:t>
              </a:r>
            </a:p>
          </p:txBody>
        </p:sp>
        <p:sp>
          <p:nvSpPr>
            <p:cNvPr id="371738" name="Line 26"/>
            <p:cNvSpPr>
              <a:spLocks noChangeShapeType="1"/>
            </p:cNvSpPr>
            <p:nvPr/>
          </p:nvSpPr>
          <p:spPr bwMode="auto">
            <a:xfrm>
              <a:off x="1152" y="3600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71739" name="Rectangle 27"/>
            <p:cNvSpPr>
              <a:spLocks noChangeArrowheads="1"/>
            </p:cNvSpPr>
            <p:nvPr/>
          </p:nvSpPr>
          <p:spPr bwMode="auto">
            <a:xfrm>
              <a:off x="336" y="3888"/>
              <a:ext cx="240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/>
                <a:t>H</a:t>
              </a:r>
            </a:p>
          </p:txBody>
        </p:sp>
        <p:sp>
          <p:nvSpPr>
            <p:cNvPr id="371740" name="Line 28"/>
            <p:cNvSpPr>
              <a:spLocks noChangeShapeType="1"/>
            </p:cNvSpPr>
            <p:nvPr/>
          </p:nvSpPr>
          <p:spPr bwMode="auto">
            <a:xfrm flipH="1">
              <a:off x="576" y="3600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371741" name="Text Box 29"/>
          <p:cNvSpPr txBox="1">
            <a:spLocks noChangeArrowheads="1"/>
          </p:cNvSpPr>
          <p:nvPr/>
        </p:nvSpPr>
        <p:spPr bwMode="auto">
          <a:xfrm>
            <a:off x="4419600" y="1524000"/>
            <a:ext cx="4114800" cy="466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Property</a:t>
            </a:r>
            <a:r>
              <a:rPr lang="en-US"/>
              <a:t>		</a:t>
            </a:r>
            <a:r>
              <a:rPr lang="en-US" b="1"/>
              <a:t>Value</a:t>
            </a:r>
          </a:p>
          <a:p>
            <a:pPr eaLnBrk="0" hangingPunct="0">
              <a:lnSpc>
                <a:spcPct val="60000"/>
              </a:lnSpc>
              <a:spcBef>
                <a:spcPct val="55000"/>
              </a:spcBef>
            </a:pPr>
            <a:r>
              <a:rPr lang="en-US"/>
              <a:t>Number of nodes</a:t>
            </a:r>
          </a:p>
          <a:p>
            <a:pPr eaLnBrk="0" hangingPunct="0">
              <a:lnSpc>
                <a:spcPct val="60000"/>
              </a:lnSpc>
              <a:spcBef>
                <a:spcPct val="55000"/>
              </a:spcBef>
            </a:pPr>
            <a:r>
              <a:rPr lang="en-US"/>
              <a:t>Height</a:t>
            </a:r>
          </a:p>
          <a:p>
            <a:pPr eaLnBrk="0" hangingPunct="0">
              <a:lnSpc>
                <a:spcPct val="60000"/>
              </a:lnSpc>
              <a:spcBef>
                <a:spcPct val="55000"/>
              </a:spcBef>
            </a:pPr>
            <a:r>
              <a:rPr lang="en-US"/>
              <a:t>Root Node</a:t>
            </a:r>
          </a:p>
          <a:p>
            <a:pPr eaLnBrk="0" hangingPunct="0">
              <a:lnSpc>
                <a:spcPct val="60000"/>
              </a:lnSpc>
              <a:spcBef>
                <a:spcPct val="55000"/>
              </a:spcBef>
            </a:pPr>
            <a:r>
              <a:rPr lang="en-US"/>
              <a:t>Leaves</a:t>
            </a:r>
          </a:p>
          <a:p>
            <a:pPr eaLnBrk="0" hangingPunct="0">
              <a:lnSpc>
                <a:spcPct val="60000"/>
              </a:lnSpc>
              <a:spcBef>
                <a:spcPct val="55000"/>
              </a:spcBef>
            </a:pPr>
            <a:r>
              <a:rPr lang="en-US"/>
              <a:t>Interior nodes</a:t>
            </a:r>
          </a:p>
          <a:p>
            <a:pPr eaLnBrk="0" hangingPunct="0">
              <a:lnSpc>
                <a:spcPct val="60000"/>
              </a:lnSpc>
              <a:spcBef>
                <a:spcPct val="55000"/>
              </a:spcBef>
            </a:pPr>
            <a:r>
              <a:rPr lang="en-US"/>
              <a:t>Ancestors of  H</a:t>
            </a:r>
          </a:p>
          <a:p>
            <a:pPr eaLnBrk="0" hangingPunct="0">
              <a:lnSpc>
                <a:spcPct val="60000"/>
              </a:lnSpc>
              <a:spcBef>
                <a:spcPct val="55000"/>
              </a:spcBef>
            </a:pPr>
            <a:r>
              <a:rPr lang="en-US"/>
              <a:t>Descendants of  B</a:t>
            </a:r>
          </a:p>
          <a:p>
            <a:pPr eaLnBrk="0" hangingPunct="0">
              <a:lnSpc>
                <a:spcPct val="60000"/>
              </a:lnSpc>
              <a:spcBef>
                <a:spcPct val="55000"/>
              </a:spcBef>
            </a:pPr>
            <a:r>
              <a:rPr lang="en-US"/>
              <a:t>Siblings of  E</a:t>
            </a:r>
          </a:p>
          <a:p>
            <a:pPr eaLnBrk="0" hangingPunct="0">
              <a:lnSpc>
                <a:spcPct val="60000"/>
              </a:lnSpc>
              <a:spcBef>
                <a:spcPct val="55000"/>
              </a:spcBef>
            </a:pPr>
            <a:r>
              <a:rPr lang="en-US"/>
              <a:t>Right subtree of A</a:t>
            </a:r>
          </a:p>
          <a:p>
            <a:pPr eaLnBrk="0" hangingPunct="0">
              <a:lnSpc>
                <a:spcPct val="60000"/>
              </a:lnSpc>
              <a:spcBef>
                <a:spcPct val="55000"/>
              </a:spcBef>
            </a:pPr>
            <a:r>
              <a:rPr lang="en-US"/>
              <a:t>Degree of this tree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Tree ADT</a:t>
            </a:r>
          </a:p>
        </p:txBody>
      </p:sp>
      <p:sp>
        <p:nvSpPr>
          <p:cNvPr id="372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828800"/>
            <a:ext cx="3733800" cy="4114800"/>
          </a:xfrm>
        </p:spPr>
        <p:txBody>
          <a:bodyPr/>
          <a:lstStyle/>
          <a:p>
            <a:r>
              <a:rPr lang="en-US" sz="1800"/>
              <a:t>We use positions to abstract nodes</a:t>
            </a:r>
          </a:p>
          <a:p>
            <a:r>
              <a:rPr lang="en-US" sz="1800"/>
              <a:t>Generic methods:</a:t>
            </a:r>
          </a:p>
          <a:p>
            <a:pPr lvl="1"/>
            <a:r>
              <a:rPr lang="en-US" sz="1600"/>
              <a:t>integer </a:t>
            </a:r>
            <a:r>
              <a:rPr lang="en-US" sz="1600" b="1">
                <a:solidFill>
                  <a:schemeClr val="tx2"/>
                </a:solidFill>
              </a:rPr>
              <a:t>size</a:t>
            </a:r>
            <a:r>
              <a:rPr lang="en-US" sz="1600"/>
              <a:t>()</a:t>
            </a:r>
          </a:p>
          <a:p>
            <a:pPr lvl="1"/>
            <a:r>
              <a:rPr lang="en-US" sz="1600"/>
              <a:t>boolean </a:t>
            </a:r>
            <a:r>
              <a:rPr lang="en-US" sz="1600" b="1">
                <a:solidFill>
                  <a:schemeClr val="tx2"/>
                </a:solidFill>
              </a:rPr>
              <a:t>isEmpty</a:t>
            </a:r>
            <a:r>
              <a:rPr lang="en-US" sz="1600"/>
              <a:t>()</a:t>
            </a:r>
          </a:p>
          <a:p>
            <a:pPr lvl="1"/>
            <a:r>
              <a:rPr lang="en-US" sz="1600"/>
              <a:t>objectIterator </a:t>
            </a:r>
            <a:r>
              <a:rPr lang="en-US" sz="1600" b="1">
                <a:solidFill>
                  <a:schemeClr val="tx2"/>
                </a:solidFill>
              </a:rPr>
              <a:t>elements</a:t>
            </a:r>
            <a:r>
              <a:rPr lang="en-US" sz="1600"/>
              <a:t>()</a:t>
            </a:r>
          </a:p>
          <a:p>
            <a:pPr lvl="1"/>
            <a:r>
              <a:rPr lang="en-US" sz="1600"/>
              <a:t>positionIterator </a:t>
            </a:r>
            <a:r>
              <a:rPr lang="en-US" sz="1600" b="1">
                <a:solidFill>
                  <a:schemeClr val="tx2"/>
                </a:solidFill>
              </a:rPr>
              <a:t>positions</a:t>
            </a:r>
            <a:r>
              <a:rPr lang="en-US" sz="1600"/>
              <a:t>()</a:t>
            </a:r>
          </a:p>
          <a:p>
            <a:r>
              <a:rPr lang="en-US" sz="1800"/>
              <a:t>Accessor methods:</a:t>
            </a:r>
          </a:p>
          <a:p>
            <a:pPr lvl="1"/>
            <a:r>
              <a:rPr lang="en-US" sz="1600"/>
              <a:t>position </a:t>
            </a:r>
            <a:r>
              <a:rPr lang="en-US" sz="1600" b="1">
                <a:solidFill>
                  <a:schemeClr val="tx2"/>
                </a:solidFill>
              </a:rPr>
              <a:t>root</a:t>
            </a:r>
            <a:r>
              <a:rPr lang="en-US" sz="1600"/>
              <a:t>()</a:t>
            </a:r>
          </a:p>
          <a:p>
            <a:pPr lvl="1"/>
            <a:r>
              <a:rPr lang="en-US" sz="1600"/>
              <a:t>position </a:t>
            </a:r>
            <a:r>
              <a:rPr lang="en-US" sz="1600" b="1">
                <a:solidFill>
                  <a:schemeClr val="tx2"/>
                </a:solidFill>
              </a:rPr>
              <a:t>parent</a:t>
            </a:r>
            <a:r>
              <a:rPr lang="en-US" sz="1600"/>
              <a:t>(p)</a:t>
            </a:r>
          </a:p>
          <a:p>
            <a:pPr lvl="1"/>
            <a:r>
              <a:rPr lang="en-US" sz="1600"/>
              <a:t>positionIterator </a:t>
            </a:r>
            <a:r>
              <a:rPr lang="en-US" sz="1600" b="1">
                <a:solidFill>
                  <a:schemeClr val="tx2"/>
                </a:solidFill>
              </a:rPr>
              <a:t>children</a:t>
            </a:r>
            <a:r>
              <a:rPr lang="en-US" sz="1600"/>
              <a:t>(p)</a:t>
            </a:r>
          </a:p>
        </p:txBody>
      </p:sp>
      <p:sp>
        <p:nvSpPr>
          <p:cNvPr id="372740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4724400" y="1828800"/>
            <a:ext cx="3886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en-US" sz="1800">
                <a:latin typeface="Georgia" pitchFamily="18" charset="0"/>
              </a:rPr>
              <a:t>Query methods:</a:t>
            </a:r>
          </a:p>
          <a:p>
            <a:pPr marL="742950" lvl="1" indent="-285750">
              <a:spcBef>
                <a:spcPct val="20000"/>
              </a:spcBef>
              <a:buSzPct val="75000"/>
              <a:buFontTx/>
              <a:buBlip>
                <a:blip r:embed="rId4"/>
              </a:buBlip>
            </a:pPr>
            <a:r>
              <a:rPr lang="en-US" sz="1600">
                <a:latin typeface="Georgia" pitchFamily="18" charset="0"/>
              </a:rPr>
              <a:t>boolean </a:t>
            </a:r>
            <a:r>
              <a:rPr lang="en-US" sz="1600" b="1">
                <a:solidFill>
                  <a:schemeClr val="tx2"/>
                </a:solidFill>
                <a:latin typeface="Georgia" pitchFamily="18" charset="0"/>
              </a:rPr>
              <a:t>isInternal</a:t>
            </a:r>
            <a:r>
              <a:rPr lang="en-US" sz="1600">
                <a:latin typeface="Georgia" pitchFamily="18" charset="0"/>
              </a:rPr>
              <a:t>(p)</a:t>
            </a:r>
          </a:p>
          <a:p>
            <a:pPr marL="742950" lvl="1" indent="-285750">
              <a:spcBef>
                <a:spcPct val="20000"/>
              </a:spcBef>
              <a:buSzPct val="75000"/>
              <a:buFontTx/>
              <a:buBlip>
                <a:blip r:embed="rId4"/>
              </a:buBlip>
            </a:pPr>
            <a:r>
              <a:rPr lang="en-US" sz="1600">
                <a:latin typeface="Georgia" pitchFamily="18" charset="0"/>
              </a:rPr>
              <a:t>boolean </a:t>
            </a:r>
            <a:r>
              <a:rPr lang="en-US" sz="1600" b="1">
                <a:solidFill>
                  <a:schemeClr val="tx2"/>
                </a:solidFill>
                <a:latin typeface="Georgia" pitchFamily="18" charset="0"/>
              </a:rPr>
              <a:t>isExternal</a:t>
            </a:r>
            <a:r>
              <a:rPr lang="en-US" sz="1600">
                <a:latin typeface="Georgia" pitchFamily="18" charset="0"/>
              </a:rPr>
              <a:t>(p)</a:t>
            </a:r>
          </a:p>
          <a:p>
            <a:pPr marL="742950" lvl="1" indent="-285750">
              <a:spcBef>
                <a:spcPct val="20000"/>
              </a:spcBef>
              <a:buSzPct val="75000"/>
              <a:buFontTx/>
              <a:buBlip>
                <a:blip r:embed="rId4"/>
              </a:buBlip>
            </a:pPr>
            <a:r>
              <a:rPr lang="en-US" sz="1600">
                <a:latin typeface="Georgia" pitchFamily="18" charset="0"/>
              </a:rPr>
              <a:t>boolean </a:t>
            </a:r>
            <a:r>
              <a:rPr lang="en-US" sz="1600" b="1">
                <a:solidFill>
                  <a:schemeClr val="tx2"/>
                </a:solidFill>
                <a:latin typeface="Georgia" pitchFamily="18" charset="0"/>
              </a:rPr>
              <a:t>isRoot</a:t>
            </a:r>
            <a:r>
              <a:rPr lang="en-US" sz="1600">
                <a:latin typeface="Georgia" pitchFamily="18" charset="0"/>
              </a:rPr>
              <a:t>(p)</a:t>
            </a:r>
          </a:p>
          <a:p>
            <a:pPr marL="342900" indent="-342900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en-US" sz="1800">
                <a:latin typeface="Georgia" pitchFamily="18" charset="0"/>
              </a:rPr>
              <a:t>Update methods:</a:t>
            </a:r>
          </a:p>
          <a:p>
            <a:pPr marL="742950" lvl="1" indent="-285750">
              <a:spcBef>
                <a:spcPct val="20000"/>
              </a:spcBef>
              <a:buSzPct val="75000"/>
              <a:buFontTx/>
              <a:buBlip>
                <a:blip r:embed="rId4"/>
              </a:buBlip>
            </a:pPr>
            <a:r>
              <a:rPr lang="en-US" sz="1600" b="1">
                <a:solidFill>
                  <a:schemeClr val="tx2"/>
                </a:solidFill>
                <a:latin typeface="Georgia" pitchFamily="18" charset="0"/>
              </a:rPr>
              <a:t>swapElements</a:t>
            </a:r>
            <a:r>
              <a:rPr lang="en-US" sz="1600">
                <a:latin typeface="Georgia" pitchFamily="18" charset="0"/>
              </a:rPr>
              <a:t>(p, q)</a:t>
            </a:r>
          </a:p>
          <a:p>
            <a:pPr marL="742950" lvl="1" indent="-285750">
              <a:spcBef>
                <a:spcPct val="20000"/>
              </a:spcBef>
              <a:buSzPct val="75000"/>
              <a:buFontTx/>
              <a:buBlip>
                <a:blip r:embed="rId4"/>
              </a:buBlip>
            </a:pPr>
            <a:r>
              <a:rPr lang="en-US" sz="1600">
                <a:latin typeface="Georgia" pitchFamily="18" charset="0"/>
              </a:rPr>
              <a:t>object </a:t>
            </a:r>
            <a:r>
              <a:rPr lang="en-US" sz="1600" b="1">
                <a:solidFill>
                  <a:schemeClr val="tx2"/>
                </a:solidFill>
                <a:latin typeface="Georgia" pitchFamily="18" charset="0"/>
              </a:rPr>
              <a:t>replaceElement</a:t>
            </a:r>
            <a:r>
              <a:rPr lang="en-US" sz="1600">
                <a:latin typeface="Georgia" pitchFamily="18" charset="0"/>
              </a:rPr>
              <a:t>(p, o)</a:t>
            </a:r>
          </a:p>
          <a:p>
            <a:pPr marL="342900" indent="-342900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en-US" sz="1800">
                <a:latin typeface="Georgia" pitchFamily="18" charset="0"/>
              </a:rPr>
              <a:t>Additional update methods may be defined by data structures implementing the Tree ADT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457200"/>
            <a:ext cx="7486650" cy="698500"/>
          </a:xfrm>
          <a:noFill/>
          <a:ln/>
        </p:spPr>
        <p:txBody>
          <a:bodyPr lIns="92075" tIns="46038" rIns="92075" bIns="46038"/>
          <a:lstStyle/>
          <a:p>
            <a:r>
              <a:rPr lang="en-US" altLang="zh-TW" sz="3200">
                <a:ea typeface="新細明體" pitchFamily="18" charset="-120"/>
              </a:rPr>
              <a:t>Intuitive Representation of Tree Node</a:t>
            </a:r>
          </a:p>
        </p:txBody>
      </p:sp>
      <p:sp>
        <p:nvSpPr>
          <p:cNvPr id="373763" name="Rectangle 3"/>
          <p:cNvSpPr>
            <a:spLocks noChangeArrowheads="1"/>
          </p:cNvSpPr>
          <p:nvPr/>
        </p:nvSpPr>
        <p:spPr bwMode="auto">
          <a:xfrm>
            <a:off x="457200" y="17526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en-US" altLang="zh-TW">
                <a:latin typeface="Georgia" pitchFamily="18" charset="0"/>
                <a:ea typeface="新細明體" pitchFamily="18" charset="-120"/>
              </a:rPr>
              <a:t>List Representation</a:t>
            </a:r>
          </a:p>
          <a:p>
            <a:pPr marL="742950" lvl="1" indent="-285750">
              <a:spcBef>
                <a:spcPct val="20000"/>
              </a:spcBef>
              <a:buSzPct val="75000"/>
              <a:buFontTx/>
              <a:buBlip>
                <a:blip r:embed="rId4"/>
              </a:buBlip>
            </a:pPr>
            <a:r>
              <a:rPr lang="en-US" altLang="zh-TW" sz="2000">
                <a:latin typeface="Georgia" pitchFamily="18" charset="0"/>
                <a:ea typeface="新細明體" pitchFamily="18" charset="-120"/>
              </a:rPr>
              <a:t>( A ( B ( E ( K, L ), F ), C ( G ), D ( H ( M ), I, J ) ) )</a:t>
            </a:r>
          </a:p>
          <a:p>
            <a:pPr marL="742950" lvl="1" indent="-285750">
              <a:spcBef>
                <a:spcPct val="20000"/>
              </a:spcBef>
              <a:buSzPct val="75000"/>
              <a:buFontTx/>
              <a:buBlip>
                <a:blip r:embed="rId4"/>
              </a:buBlip>
            </a:pPr>
            <a:r>
              <a:rPr lang="en-US" altLang="zh-TW" sz="2000">
                <a:latin typeface="Georgia" pitchFamily="18" charset="0"/>
                <a:ea typeface="新細明體" pitchFamily="18" charset="-120"/>
              </a:rPr>
              <a:t>The root comes first, followed by a list of links to sub-trees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905000" y="4714875"/>
            <a:ext cx="3810000" cy="314325"/>
            <a:chOff x="816" y="2352"/>
            <a:chExt cx="2400" cy="198"/>
          </a:xfrm>
        </p:grpSpPr>
        <p:sp>
          <p:nvSpPr>
            <p:cNvPr id="373765" name="Text Box 5"/>
            <p:cNvSpPr txBox="1">
              <a:spLocks noChangeArrowheads="1"/>
            </p:cNvSpPr>
            <p:nvPr/>
          </p:nvSpPr>
          <p:spPr bwMode="auto">
            <a:xfrm>
              <a:off x="816" y="2352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</a:rPr>
                <a:t>Data</a:t>
              </a:r>
            </a:p>
          </p:txBody>
        </p:sp>
        <p:sp>
          <p:nvSpPr>
            <p:cNvPr id="373766" name="Text Box 6"/>
            <p:cNvSpPr txBox="1">
              <a:spLocks noChangeArrowheads="1"/>
            </p:cNvSpPr>
            <p:nvPr/>
          </p:nvSpPr>
          <p:spPr bwMode="auto">
            <a:xfrm>
              <a:off x="1296" y="2352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</a:rPr>
                <a:t>Link 1</a:t>
              </a:r>
            </a:p>
          </p:txBody>
        </p:sp>
        <p:sp>
          <p:nvSpPr>
            <p:cNvPr id="373767" name="Text Box 7"/>
            <p:cNvSpPr txBox="1">
              <a:spLocks noChangeArrowheads="1"/>
            </p:cNvSpPr>
            <p:nvPr/>
          </p:nvSpPr>
          <p:spPr bwMode="auto">
            <a:xfrm>
              <a:off x="1776" y="2352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</a:rPr>
                <a:t>Link 2</a:t>
              </a:r>
            </a:p>
          </p:txBody>
        </p:sp>
        <p:sp>
          <p:nvSpPr>
            <p:cNvPr id="373768" name="Text Box 8"/>
            <p:cNvSpPr txBox="1">
              <a:spLocks noChangeArrowheads="1"/>
            </p:cNvSpPr>
            <p:nvPr/>
          </p:nvSpPr>
          <p:spPr bwMode="auto">
            <a:xfrm>
              <a:off x="2256" y="2352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</a:rPr>
                <a:t>…</a:t>
              </a:r>
            </a:p>
          </p:txBody>
        </p:sp>
        <p:sp>
          <p:nvSpPr>
            <p:cNvPr id="373769" name="Text Box 9"/>
            <p:cNvSpPr txBox="1">
              <a:spLocks noChangeArrowheads="1"/>
            </p:cNvSpPr>
            <p:nvPr/>
          </p:nvSpPr>
          <p:spPr bwMode="auto">
            <a:xfrm>
              <a:off x="2736" y="2352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</a:rPr>
                <a:t>Link n</a:t>
              </a:r>
            </a:p>
          </p:txBody>
        </p:sp>
      </p:grpSp>
      <p:sp>
        <p:nvSpPr>
          <p:cNvPr id="373770" name="AutoShape 10"/>
          <p:cNvSpPr>
            <a:spLocks noChangeArrowheads="1"/>
          </p:cNvSpPr>
          <p:nvPr/>
        </p:nvSpPr>
        <p:spPr bwMode="auto">
          <a:xfrm>
            <a:off x="3886200" y="3724275"/>
            <a:ext cx="4114800" cy="762000"/>
          </a:xfrm>
          <a:prstGeom prst="cloudCallout">
            <a:avLst>
              <a:gd name="adj1" fmla="val -35185"/>
              <a:gd name="adj2" fmla="val 70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/>
          <a:lstStyle/>
          <a:p>
            <a:pPr eaLnBrk="0" hangingPunct="0"/>
            <a:r>
              <a:rPr kumimoji="1" lang="en-US" altLang="zh-TW" sz="1600">
                <a:latin typeface="Arial" charset="0"/>
                <a:ea typeface="新細明體" pitchFamily="18" charset="-120"/>
              </a:rPr>
              <a:t>How many link fields are needed in </a:t>
            </a:r>
          </a:p>
          <a:p>
            <a:pPr eaLnBrk="0" hangingPunct="0"/>
            <a:r>
              <a:rPr kumimoji="1" lang="en-US" altLang="zh-TW" sz="1600">
                <a:latin typeface="Arial" charset="0"/>
                <a:ea typeface="新細明體" pitchFamily="18" charset="-120"/>
              </a:rPr>
              <a:t>such a representation?</a:t>
            </a:r>
            <a:endParaRPr kumimoji="1" lang="en-US" sz="160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77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0"/>
            <a:ext cx="7772400" cy="952500"/>
          </a:xfrm>
        </p:spPr>
        <p:txBody>
          <a:bodyPr/>
          <a:lstStyle/>
          <a:p>
            <a:r>
              <a:rPr lang="en-US" sz="3600"/>
              <a:t>Trees</a:t>
            </a:r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3886200"/>
          </a:xfrm>
        </p:spPr>
        <p:txBody>
          <a:bodyPr/>
          <a:lstStyle/>
          <a:p>
            <a:r>
              <a:rPr lang="en-US" sz="2400"/>
              <a:t>Every tree node:</a:t>
            </a:r>
          </a:p>
          <a:p>
            <a:pPr lvl="1"/>
            <a:r>
              <a:rPr lang="en-US" sz="2000"/>
              <a:t>object – useful information</a:t>
            </a:r>
          </a:p>
          <a:p>
            <a:pPr lvl="1"/>
            <a:r>
              <a:rPr lang="en-US" sz="2000"/>
              <a:t>children – pointers to its children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905000" y="3648075"/>
            <a:ext cx="1905000" cy="314325"/>
            <a:chOff x="1200" y="2298"/>
            <a:chExt cx="1200" cy="198"/>
          </a:xfrm>
        </p:grpSpPr>
        <p:sp>
          <p:nvSpPr>
            <p:cNvPr id="374789" name="Text Box 5"/>
            <p:cNvSpPr txBox="1">
              <a:spLocks noChangeArrowheads="1"/>
            </p:cNvSpPr>
            <p:nvPr/>
          </p:nvSpPr>
          <p:spPr bwMode="auto">
            <a:xfrm>
              <a:off x="1200" y="2298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</a:rPr>
                <a:t>Data</a:t>
              </a:r>
            </a:p>
          </p:txBody>
        </p:sp>
        <p:sp>
          <p:nvSpPr>
            <p:cNvPr id="374790" name="Text Box 6"/>
            <p:cNvSpPr txBox="1">
              <a:spLocks noChangeArrowheads="1"/>
            </p:cNvSpPr>
            <p:nvPr/>
          </p:nvSpPr>
          <p:spPr bwMode="auto">
            <a:xfrm>
              <a:off x="1680" y="2298"/>
              <a:ext cx="24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  <p:sp>
          <p:nvSpPr>
            <p:cNvPr id="374791" name="Text Box 7"/>
            <p:cNvSpPr txBox="1">
              <a:spLocks noChangeArrowheads="1"/>
            </p:cNvSpPr>
            <p:nvPr/>
          </p:nvSpPr>
          <p:spPr bwMode="auto">
            <a:xfrm>
              <a:off x="1920" y="2298"/>
              <a:ext cx="24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  <p:sp>
          <p:nvSpPr>
            <p:cNvPr id="374792" name="Text Box 8"/>
            <p:cNvSpPr txBox="1">
              <a:spLocks noChangeArrowheads="1"/>
            </p:cNvSpPr>
            <p:nvPr/>
          </p:nvSpPr>
          <p:spPr bwMode="auto">
            <a:xfrm>
              <a:off x="2160" y="2298"/>
              <a:ext cx="24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838200" y="4572000"/>
            <a:ext cx="1905000" cy="314325"/>
            <a:chOff x="1200" y="2298"/>
            <a:chExt cx="1200" cy="198"/>
          </a:xfrm>
        </p:grpSpPr>
        <p:sp>
          <p:nvSpPr>
            <p:cNvPr id="374794" name="Text Box 10"/>
            <p:cNvSpPr txBox="1">
              <a:spLocks noChangeArrowheads="1"/>
            </p:cNvSpPr>
            <p:nvPr/>
          </p:nvSpPr>
          <p:spPr bwMode="auto">
            <a:xfrm>
              <a:off x="1200" y="2298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</a:rPr>
                <a:t>Data</a:t>
              </a:r>
            </a:p>
          </p:txBody>
        </p:sp>
        <p:sp>
          <p:nvSpPr>
            <p:cNvPr id="374795" name="Text Box 11"/>
            <p:cNvSpPr txBox="1">
              <a:spLocks noChangeArrowheads="1"/>
            </p:cNvSpPr>
            <p:nvPr/>
          </p:nvSpPr>
          <p:spPr bwMode="auto">
            <a:xfrm>
              <a:off x="1680" y="2298"/>
              <a:ext cx="24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  <p:sp>
          <p:nvSpPr>
            <p:cNvPr id="374796" name="Text Box 12"/>
            <p:cNvSpPr txBox="1">
              <a:spLocks noChangeArrowheads="1"/>
            </p:cNvSpPr>
            <p:nvPr/>
          </p:nvSpPr>
          <p:spPr bwMode="auto">
            <a:xfrm>
              <a:off x="1920" y="2298"/>
              <a:ext cx="24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  <a:sym typeface="Symbol" pitchFamily="18" charset="2"/>
                </a:rPr>
                <a:t></a:t>
              </a:r>
            </a:p>
          </p:txBody>
        </p:sp>
        <p:sp>
          <p:nvSpPr>
            <p:cNvPr id="374797" name="Text Box 13"/>
            <p:cNvSpPr txBox="1">
              <a:spLocks noChangeArrowheads="1"/>
            </p:cNvSpPr>
            <p:nvPr/>
          </p:nvSpPr>
          <p:spPr bwMode="auto">
            <a:xfrm>
              <a:off x="2160" y="2298"/>
              <a:ext cx="24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  <a:sym typeface="Symbol" pitchFamily="18" charset="2"/>
                </a:rPr>
                <a:t></a:t>
              </a:r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3657600" y="4572000"/>
            <a:ext cx="1905000" cy="314325"/>
            <a:chOff x="1200" y="2298"/>
            <a:chExt cx="1200" cy="198"/>
          </a:xfrm>
        </p:grpSpPr>
        <p:sp>
          <p:nvSpPr>
            <p:cNvPr id="374799" name="Text Box 15"/>
            <p:cNvSpPr txBox="1">
              <a:spLocks noChangeArrowheads="1"/>
            </p:cNvSpPr>
            <p:nvPr/>
          </p:nvSpPr>
          <p:spPr bwMode="auto">
            <a:xfrm>
              <a:off x="1200" y="2298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</a:rPr>
                <a:t>Data</a:t>
              </a:r>
            </a:p>
          </p:txBody>
        </p:sp>
        <p:sp>
          <p:nvSpPr>
            <p:cNvPr id="374800" name="Text Box 16"/>
            <p:cNvSpPr txBox="1">
              <a:spLocks noChangeArrowheads="1"/>
            </p:cNvSpPr>
            <p:nvPr/>
          </p:nvSpPr>
          <p:spPr bwMode="auto">
            <a:xfrm>
              <a:off x="1680" y="2298"/>
              <a:ext cx="24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  <p:sp>
          <p:nvSpPr>
            <p:cNvPr id="374801" name="Text Box 17"/>
            <p:cNvSpPr txBox="1">
              <a:spLocks noChangeArrowheads="1"/>
            </p:cNvSpPr>
            <p:nvPr/>
          </p:nvSpPr>
          <p:spPr bwMode="auto">
            <a:xfrm>
              <a:off x="1920" y="2298"/>
              <a:ext cx="24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  <p:sp>
          <p:nvSpPr>
            <p:cNvPr id="374802" name="Text Box 18"/>
            <p:cNvSpPr txBox="1">
              <a:spLocks noChangeArrowheads="1"/>
            </p:cNvSpPr>
            <p:nvPr/>
          </p:nvSpPr>
          <p:spPr bwMode="auto">
            <a:xfrm>
              <a:off x="2160" y="2298"/>
              <a:ext cx="24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  <a:sym typeface="Symbol" pitchFamily="18" charset="2"/>
                </a:rPr>
                <a:t></a:t>
              </a:r>
            </a:p>
          </p:txBody>
        </p: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6324600" y="4572000"/>
            <a:ext cx="1905000" cy="314325"/>
            <a:chOff x="1200" y="2298"/>
            <a:chExt cx="1200" cy="198"/>
          </a:xfrm>
        </p:grpSpPr>
        <p:sp>
          <p:nvSpPr>
            <p:cNvPr id="374804" name="Text Box 20"/>
            <p:cNvSpPr txBox="1">
              <a:spLocks noChangeArrowheads="1"/>
            </p:cNvSpPr>
            <p:nvPr/>
          </p:nvSpPr>
          <p:spPr bwMode="auto">
            <a:xfrm>
              <a:off x="1200" y="2298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</a:rPr>
                <a:t>Data</a:t>
              </a:r>
            </a:p>
          </p:txBody>
        </p:sp>
        <p:sp>
          <p:nvSpPr>
            <p:cNvPr id="374805" name="Text Box 21"/>
            <p:cNvSpPr txBox="1">
              <a:spLocks noChangeArrowheads="1"/>
            </p:cNvSpPr>
            <p:nvPr/>
          </p:nvSpPr>
          <p:spPr bwMode="auto">
            <a:xfrm>
              <a:off x="1680" y="2298"/>
              <a:ext cx="24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  <p:sp>
          <p:nvSpPr>
            <p:cNvPr id="374806" name="Text Box 22"/>
            <p:cNvSpPr txBox="1">
              <a:spLocks noChangeArrowheads="1"/>
            </p:cNvSpPr>
            <p:nvPr/>
          </p:nvSpPr>
          <p:spPr bwMode="auto">
            <a:xfrm>
              <a:off x="1920" y="2298"/>
              <a:ext cx="24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  <a:sym typeface="Symbol" pitchFamily="18" charset="2"/>
                </a:rPr>
                <a:t></a:t>
              </a:r>
            </a:p>
          </p:txBody>
        </p:sp>
        <p:sp>
          <p:nvSpPr>
            <p:cNvPr id="374807" name="Text Box 23"/>
            <p:cNvSpPr txBox="1">
              <a:spLocks noChangeArrowheads="1"/>
            </p:cNvSpPr>
            <p:nvPr/>
          </p:nvSpPr>
          <p:spPr bwMode="auto">
            <a:xfrm>
              <a:off x="2160" y="2298"/>
              <a:ext cx="24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  <a:sym typeface="Symbol" pitchFamily="18" charset="2"/>
                </a:rPr>
                <a:t></a:t>
              </a:r>
            </a:p>
          </p:txBody>
        </p:sp>
      </p:grpSp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1828800" y="5553075"/>
            <a:ext cx="1905000" cy="314325"/>
            <a:chOff x="1200" y="2298"/>
            <a:chExt cx="1200" cy="198"/>
          </a:xfrm>
        </p:grpSpPr>
        <p:sp>
          <p:nvSpPr>
            <p:cNvPr id="374809" name="Text Box 25"/>
            <p:cNvSpPr txBox="1">
              <a:spLocks noChangeArrowheads="1"/>
            </p:cNvSpPr>
            <p:nvPr/>
          </p:nvSpPr>
          <p:spPr bwMode="auto">
            <a:xfrm>
              <a:off x="1200" y="2298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</a:rPr>
                <a:t>Data</a:t>
              </a:r>
            </a:p>
          </p:txBody>
        </p:sp>
        <p:sp>
          <p:nvSpPr>
            <p:cNvPr id="374810" name="Text Box 26"/>
            <p:cNvSpPr txBox="1">
              <a:spLocks noChangeArrowheads="1"/>
            </p:cNvSpPr>
            <p:nvPr/>
          </p:nvSpPr>
          <p:spPr bwMode="auto">
            <a:xfrm>
              <a:off x="1680" y="2298"/>
              <a:ext cx="24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  <p:sp>
          <p:nvSpPr>
            <p:cNvPr id="374811" name="Text Box 27"/>
            <p:cNvSpPr txBox="1">
              <a:spLocks noChangeArrowheads="1"/>
            </p:cNvSpPr>
            <p:nvPr/>
          </p:nvSpPr>
          <p:spPr bwMode="auto">
            <a:xfrm>
              <a:off x="1920" y="2298"/>
              <a:ext cx="24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  <a:sym typeface="Symbol" pitchFamily="18" charset="2"/>
                </a:rPr>
                <a:t></a:t>
              </a:r>
            </a:p>
          </p:txBody>
        </p:sp>
        <p:sp>
          <p:nvSpPr>
            <p:cNvPr id="374812" name="Text Box 28"/>
            <p:cNvSpPr txBox="1">
              <a:spLocks noChangeArrowheads="1"/>
            </p:cNvSpPr>
            <p:nvPr/>
          </p:nvSpPr>
          <p:spPr bwMode="auto">
            <a:xfrm>
              <a:off x="2160" y="2298"/>
              <a:ext cx="24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  <a:sym typeface="Symbol" pitchFamily="18" charset="2"/>
                </a:rPr>
                <a:t></a:t>
              </a:r>
            </a:p>
          </p:txBody>
        </p:sp>
      </p:grpSp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4343400" y="5553075"/>
            <a:ext cx="1905000" cy="314325"/>
            <a:chOff x="1200" y="2298"/>
            <a:chExt cx="1200" cy="198"/>
          </a:xfrm>
        </p:grpSpPr>
        <p:sp>
          <p:nvSpPr>
            <p:cNvPr id="374814" name="Text Box 30"/>
            <p:cNvSpPr txBox="1">
              <a:spLocks noChangeArrowheads="1"/>
            </p:cNvSpPr>
            <p:nvPr/>
          </p:nvSpPr>
          <p:spPr bwMode="auto">
            <a:xfrm>
              <a:off x="1200" y="2298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</a:rPr>
                <a:t>Data</a:t>
              </a:r>
            </a:p>
          </p:txBody>
        </p:sp>
        <p:sp>
          <p:nvSpPr>
            <p:cNvPr id="374815" name="Text Box 31"/>
            <p:cNvSpPr txBox="1">
              <a:spLocks noChangeArrowheads="1"/>
            </p:cNvSpPr>
            <p:nvPr/>
          </p:nvSpPr>
          <p:spPr bwMode="auto">
            <a:xfrm>
              <a:off x="1680" y="2298"/>
              <a:ext cx="24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  <p:sp>
          <p:nvSpPr>
            <p:cNvPr id="374816" name="Text Box 32"/>
            <p:cNvSpPr txBox="1">
              <a:spLocks noChangeArrowheads="1"/>
            </p:cNvSpPr>
            <p:nvPr/>
          </p:nvSpPr>
          <p:spPr bwMode="auto">
            <a:xfrm>
              <a:off x="1920" y="2298"/>
              <a:ext cx="24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  <a:sym typeface="Symbol" pitchFamily="18" charset="2"/>
                </a:rPr>
                <a:t></a:t>
              </a:r>
            </a:p>
          </p:txBody>
        </p:sp>
        <p:sp>
          <p:nvSpPr>
            <p:cNvPr id="374817" name="Text Box 33"/>
            <p:cNvSpPr txBox="1">
              <a:spLocks noChangeArrowheads="1"/>
            </p:cNvSpPr>
            <p:nvPr/>
          </p:nvSpPr>
          <p:spPr bwMode="auto">
            <a:xfrm>
              <a:off x="2160" y="2298"/>
              <a:ext cx="24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  <a:sym typeface="Symbol" pitchFamily="18" charset="2"/>
                </a:rPr>
                <a:t></a:t>
              </a:r>
            </a:p>
          </p:txBody>
        </p:sp>
      </p:grpSp>
      <p:grpSp>
        <p:nvGrpSpPr>
          <p:cNvPr id="8" name="Group 34"/>
          <p:cNvGrpSpPr>
            <a:grpSpLocks/>
          </p:cNvGrpSpPr>
          <p:nvPr/>
        </p:nvGrpSpPr>
        <p:grpSpPr bwMode="auto">
          <a:xfrm>
            <a:off x="6781800" y="5553075"/>
            <a:ext cx="1905000" cy="314325"/>
            <a:chOff x="1200" y="2298"/>
            <a:chExt cx="1200" cy="198"/>
          </a:xfrm>
        </p:grpSpPr>
        <p:sp>
          <p:nvSpPr>
            <p:cNvPr id="374819" name="Text Box 35"/>
            <p:cNvSpPr txBox="1">
              <a:spLocks noChangeArrowheads="1"/>
            </p:cNvSpPr>
            <p:nvPr/>
          </p:nvSpPr>
          <p:spPr bwMode="auto">
            <a:xfrm>
              <a:off x="1200" y="2298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</a:rPr>
                <a:t>Data</a:t>
              </a:r>
            </a:p>
          </p:txBody>
        </p:sp>
        <p:sp>
          <p:nvSpPr>
            <p:cNvPr id="374820" name="Text Box 36"/>
            <p:cNvSpPr txBox="1">
              <a:spLocks noChangeArrowheads="1"/>
            </p:cNvSpPr>
            <p:nvPr/>
          </p:nvSpPr>
          <p:spPr bwMode="auto">
            <a:xfrm>
              <a:off x="1680" y="2298"/>
              <a:ext cx="24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  <p:sp>
          <p:nvSpPr>
            <p:cNvPr id="374821" name="Text Box 37"/>
            <p:cNvSpPr txBox="1">
              <a:spLocks noChangeArrowheads="1"/>
            </p:cNvSpPr>
            <p:nvPr/>
          </p:nvSpPr>
          <p:spPr bwMode="auto">
            <a:xfrm>
              <a:off x="1920" y="2298"/>
              <a:ext cx="24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  <a:sym typeface="Symbol" pitchFamily="18" charset="2"/>
                </a:rPr>
                <a:t></a:t>
              </a:r>
            </a:p>
          </p:txBody>
        </p:sp>
        <p:sp>
          <p:nvSpPr>
            <p:cNvPr id="374822" name="Text Box 38"/>
            <p:cNvSpPr txBox="1">
              <a:spLocks noChangeArrowheads="1"/>
            </p:cNvSpPr>
            <p:nvPr/>
          </p:nvSpPr>
          <p:spPr bwMode="auto">
            <a:xfrm>
              <a:off x="2160" y="2298"/>
              <a:ext cx="24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  <a:sym typeface="Symbol" pitchFamily="18" charset="2"/>
                </a:rPr>
                <a:t></a:t>
              </a:r>
            </a:p>
          </p:txBody>
        </p:sp>
      </p:grpSp>
      <p:cxnSp>
        <p:nvCxnSpPr>
          <p:cNvPr id="374823" name="AutoShape 39"/>
          <p:cNvCxnSpPr>
            <a:cxnSpLocks noChangeShapeType="1"/>
            <a:stCxn id="374790" idx="2"/>
            <a:endCxn id="374795" idx="0"/>
          </p:cNvCxnSpPr>
          <p:nvPr/>
        </p:nvCxnSpPr>
        <p:spPr bwMode="auto">
          <a:xfrm flipH="1">
            <a:off x="1790700" y="3962400"/>
            <a:ext cx="106680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74824" name="AutoShape 40"/>
          <p:cNvCxnSpPr>
            <a:cxnSpLocks noChangeShapeType="1"/>
            <a:stCxn id="374791" idx="2"/>
            <a:endCxn id="374800" idx="0"/>
          </p:cNvCxnSpPr>
          <p:nvPr/>
        </p:nvCxnSpPr>
        <p:spPr bwMode="auto">
          <a:xfrm>
            <a:off x="3238500" y="3962400"/>
            <a:ext cx="137160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74825" name="AutoShape 41"/>
          <p:cNvCxnSpPr>
            <a:cxnSpLocks noChangeShapeType="1"/>
            <a:stCxn id="374792" idx="2"/>
            <a:endCxn id="374805" idx="0"/>
          </p:cNvCxnSpPr>
          <p:nvPr/>
        </p:nvCxnSpPr>
        <p:spPr bwMode="auto">
          <a:xfrm>
            <a:off x="3619500" y="3962400"/>
            <a:ext cx="365760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74826" name="AutoShape 42"/>
          <p:cNvCxnSpPr>
            <a:cxnSpLocks noChangeShapeType="1"/>
            <a:stCxn id="374800" idx="2"/>
            <a:endCxn id="374810" idx="0"/>
          </p:cNvCxnSpPr>
          <p:nvPr/>
        </p:nvCxnSpPr>
        <p:spPr bwMode="auto">
          <a:xfrm flipH="1">
            <a:off x="2781300" y="4886325"/>
            <a:ext cx="1828800" cy="666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74827" name="AutoShape 43"/>
          <p:cNvCxnSpPr>
            <a:cxnSpLocks noChangeShapeType="1"/>
            <a:stCxn id="374801" idx="2"/>
            <a:endCxn id="374815" idx="0"/>
          </p:cNvCxnSpPr>
          <p:nvPr/>
        </p:nvCxnSpPr>
        <p:spPr bwMode="auto">
          <a:xfrm>
            <a:off x="4991100" y="4886325"/>
            <a:ext cx="304800" cy="666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74828" name="AutoShape 44"/>
          <p:cNvCxnSpPr>
            <a:cxnSpLocks noChangeShapeType="1"/>
            <a:stCxn id="374805" idx="2"/>
            <a:endCxn id="374820" idx="0"/>
          </p:cNvCxnSpPr>
          <p:nvPr/>
        </p:nvCxnSpPr>
        <p:spPr bwMode="auto">
          <a:xfrm>
            <a:off x="7277100" y="4886325"/>
            <a:ext cx="457200" cy="666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0"/>
            <a:ext cx="7772400" cy="952500"/>
          </a:xfrm>
        </p:spPr>
        <p:txBody>
          <a:bodyPr/>
          <a:lstStyle/>
          <a:p>
            <a:r>
              <a:rPr lang="en-US" sz="3600"/>
              <a:t>A Tree Representation</a:t>
            </a:r>
          </a:p>
        </p:txBody>
      </p:sp>
      <p:sp>
        <p:nvSpPr>
          <p:cNvPr id="375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3581400" cy="18319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/>
              <a:t>A node is represented by an object storing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Element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Parent node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Sequence of children nodes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133475" y="4071938"/>
            <a:ext cx="2752725" cy="2176462"/>
            <a:chOff x="714" y="2496"/>
            <a:chExt cx="1734" cy="1371"/>
          </a:xfrm>
        </p:grpSpPr>
        <p:sp>
          <p:nvSpPr>
            <p:cNvPr id="375813" name="Oval 5"/>
            <p:cNvSpPr>
              <a:spLocks noChangeArrowheads="1"/>
            </p:cNvSpPr>
            <p:nvPr/>
          </p:nvSpPr>
          <p:spPr bwMode="auto">
            <a:xfrm>
              <a:off x="1431" y="2496"/>
              <a:ext cx="316" cy="315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anchor="ctr" anchorCtr="1"/>
            <a:lstStyle/>
            <a:p>
              <a:r>
                <a:rPr lang="en-US">
                  <a:solidFill>
                    <a:schemeClr val="tx2"/>
                  </a:solidFill>
                  <a:latin typeface="Tahoma" pitchFamily="34" charset="0"/>
                  <a:sym typeface="Symbol" pitchFamily="18" charset="2"/>
                </a:rPr>
                <a:t>B</a:t>
              </a:r>
              <a:endParaRPr lang="en-US">
                <a:solidFill>
                  <a:schemeClr val="tx2"/>
                </a:solidFill>
                <a:latin typeface="Tahoma" pitchFamily="34" charset="0"/>
              </a:endParaRPr>
            </a:p>
          </p:txBody>
        </p:sp>
        <p:sp>
          <p:nvSpPr>
            <p:cNvPr id="375814" name="Oval 6"/>
            <p:cNvSpPr>
              <a:spLocks noChangeArrowheads="1"/>
            </p:cNvSpPr>
            <p:nvPr/>
          </p:nvSpPr>
          <p:spPr bwMode="auto">
            <a:xfrm>
              <a:off x="1436" y="3010"/>
              <a:ext cx="316" cy="315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anchor="ctr" anchorCtr="1"/>
            <a:lstStyle/>
            <a:p>
              <a:pPr algn="ctr"/>
              <a:r>
                <a:rPr lang="en-US">
                  <a:solidFill>
                    <a:schemeClr val="tx2"/>
                  </a:solidFill>
                  <a:latin typeface="Tahoma" pitchFamily="34" charset="0"/>
                </a:rPr>
                <a:t>D</a:t>
              </a:r>
            </a:p>
          </p:txBody>
        </p:sp>
        <p:sp>
          <p:nvSpPr>
            <p:cNvPr id="375815" name="Rectangle 7"/>
            <p:cNvSpPr>
              <a:spLocks noChangeArrowheads="1"/>
            </p:cNvSpPr>
            <p:nvPr/>
          </p:nvSpPr>
          <p:spPr bwMode="auto">
            <a:xfrm>
              <a:off x="714" y="3010"/>
              <a:ext cx="315" cy="31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tx2"/>
                  </a:solidFill>
                  <a:latin typeface="Tahoma" pitchFamily="34" charset="0"/>
                </a:rPr>
                <a:t>A</a:t>
              </a:r>
            </a:p>
          </p:txBody>
        </p:sp>
        <p:sp>
          <p:nvSpPr>
            <p:cNvPr id="375816" name="Rectangle 8"/>
            <p:cNvSpPr>
              <a:spLocks noChangeArrowheads="1"/>
            </p:cNvSpPr>
            <p:nvPr/>
          </p:nvSpPr>
          <p:spPr bwMode="auto">
            <a:xfrm>
              <a:off x="1132" y="3552"/>
              <a:ext cx="315" cy="31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tx2"/>
                  </a:solidFill>
                  <a:latin typeface="Tahoma" pitchFamily="34" charset="0"/>
                </a:rPr>
                <a:t>C</a:t>
              </a:r>
            </a:p>
          </p:txBody>
        </p:sp>
        <p:sp>
          <p:nvSpPr>
            <p:cNvPr id="375817" name="Rectangle 9"/>
            <p:cNvSpPr>
              <a:spLocks noChangeArrowheads="1"/>
            </p:cNvSpPr>
            <p:nvPr/>
          </p:nvSpPr>
          <p:spPr bwMode="auto">
            <a:xfrm>
              <a:off x="1763" y="3552"/>
              <a:ext cx="315" cy="31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tx2"/>
                  </a:solidFill>
                  <a:latin typeface="Tahoma" pitchFamily="34" charset="0"/>
                </a:rPr>
                <a:t>E</a:t>
              </a:r>
            </a:p>
          </p:txBody>
        </p:sp>
        <p:cxnSp>
          <p:nvCxnSpPr>
            <p:cNvPr id="375818" name="AutoShape 10"/>
            <p:cNvCxnSpPr>
              <a:cxnSpLocks noChangeShapeType="1"/>
              <a:stCxn id="375817" idx="0"/>
              <a:endCxn id="375814" idx="5"/>
            </p:cNvCxnSpPr>
            <p:nvPr/>
          </p:nvCxnSpPr>
          <p:spPr bwMode="auto">
            <a:xfrm flipH="1" flipV="1">
              <a:off x="1706" y="3285"/>
              <a:ext cx="215" cy="26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75819" name="AutoShape 11"/>
            <p:cNvCxnSpPr>
              <a:cxnSpLocks noChangeShapeType="1"/>
              <a:stCxn id="375816" idx="0"/>
              <a:endCxn id="375814" idx="3"/>
            </p:cNvCxnSpPr>
            <p:nvPr/>
          </p:nvCxnSpPr>
          <p:spPr bwMode="auto">
            <a:xfrm flipV="1">
              <a:off x="1290" y="3285"/>
              <a:ext cx="192" cy="26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75820" name="AutoShape 12"/>
            <p:cNvCxnSpPr>
              <a:cxnSpLocks noChangeShapeType="1"/>
              <a:stCxn id="375815" idx="0"/>
              <a:endCxn id="375813" idx="3"/>
            </p:cNvCxnSpPr>
            <p:nvPr/>
          </p:nvCxnSpPr>
          <p:spPr bwMode="auto">
            <a:xfrm flipV="1">
              <a:off x="872" y="2771"/>
              <a:ext cx="605" cy="23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75821" name="AutoShape 13"/>
            <p:cNvCxnSpPr>
              <a:cxnSpLocks noChangeShapeType="1"/>
              <a:stCxn id="375814" idx="0"/>
              <a:endCxn id="375813" idx="4"/>
            </p:cNvCxnSpPr>
            <p:nvPr/>
          </p:nvCxnSpPr>
          <p:spPr bwMode="auto">
            <a:xfrm flipH="1" flipV="1">
              <a:off x="1589" y="2817"/>
              <a:ext cx="5" cy="18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375822" name="Rectangle 14"/>
            <p:cNvSpPr>
              <a:spLocks noChangeArrowheads="1"/>
            </p:cNvSpPr>
            <p:nvPr/>
          </p:nvSpPr>
          <p:spPr bwMode="auto">
            <a:xfrm>
              <a:off x="2133" y="3011"/>
              <a:ext cx="315" cy="31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tx2"/>
                  </a:solidFill>
                  <a:latin typeface="Tahoma" pitchFamily="34" charset="0"/>
                </a:rPr>
                <a:t>F</a:t>
              </a:r>
            </a:p>
          </p:txBody>
        </p:sp>
        <p:cxnSp>
          <p:nvCxnSpPr>
            <p:cNvPr id="375823" name="AutoShape 15"/>
            <p:cNvCxnSpPr>
              <a:cxnSpLocks noChangeShapeType="1"/>
              <a:stCxn id="375822" idx="0"/>
              <a:endCxn id="375813" idx="5"/>
            </p:cNvCxnSpPr>
            <p:nvPr/>
          </p:nvCxnSpPr>
          <p:spPr bwMode="auto">
            <a:xfrm flipH="1" flipV="1">
              <a:off x="1701" y="2771"/>
              <a:ext cx="590" cy="23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4114800" y="1905000"/>
            <a:ext cx="4684713" cy="4543425"/>
            <a:chOff x="2592" y="1200"/>
            <a:chExt cx="2951" cy="2862"/>
          </a:xfrm>
        </p:grpSpPr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2592" y="1200"/>
              <a:ext cx="648" cy="216"/>
              <a:chOff x="2232" y="2244"/>
              <a:chExt cx="648" cy="216"/>
            </a:xfrm>
          </p:grpSpPr>
          <p:sp>
            <p:nvSpPr>
              <p:cNvPr id="375826" name="Rectangle 18"/>
              <p:cNvSpPr>
                <a:spLocks noChangeArrowheads="1"/>
              </p:cNvSpPr>
              <p:nvPr/>
            </p:nvSpPr>
            <p:spPr bwMode="auto">
              <a:xfrm>
                <a:off x="2232" y="2244"/>
                <a:ext cx="216" cy="216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5827" name="Rectangle 19"/>
              <p:cNvSpPr>
                <a:spLocks noChangeArrowheads="1"/>
              </p:cNvSpPr>
              <p:nvPr/>
            </p:nvSpPr>
            <p:spPr bwMode="auto">
              <a:xfrm>
                <a:off x="2664" y="2244"/>
                <a:ext cx="216" cy="216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5828" name="Rectangle 20"/>
              <p:cNvSpPr>
                <a:spLocks noChangeArrowheads="1"/>
              </p:cNvSpPr>
              <p:nvPr/>
            </p:nvSpPr>
            <p:spPr bwMode="auto">
              <a:xfrm>
                <a:off x="2448" y="2244"/>
                <a:ext cx="216" cy="216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>
                    <a:latin typeface="Tahoma" pitchFamily="34" charset="0"/>
                    <a:sym typeface="Symbol" pitchFamily="18" charset="2"/>
                  </a:rPr>
                  <a:t></a:t>
                </a:r>
              </a:p>
            </p:txBody>
          </p:sp>
        </p:grpSp>
        <p:sp>
          <p:nvSpPr>
            <p:cNvPr id="375829" name="AutoShape 21"/>
            <p:cNvSpPr>
              <a:spLocks noChangeArrowheads="1"/>
            </p:cNvSpPr>
            <p:nvPr/>
          </p:nvSpPr>
          <p:spPr bwMode="auto">
            <a:xfrm>
              <a:off x="3432" y="1246"/>
              <a:ext cx="864" cy="262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375830" name="AutoShape 22"/>
            <p:cNvCxnSpPr>
              <a:cxnSpLocks noChangeShapeType="1"/>
              <a:stCxn id="375833" idx="2"/>
              <a:endCxn id="375831" idx="6"/>
            </p:cNvCxnSpPr>
            <p:nvPr/>
          </p:nvCxnSpPr>
          <p:spPr bwMode="auto">
            <a:xfrm flipH="1">
              <a:off x="3673" y="1377"/>
              <a:ext cx="382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375831" name="Oval 23"/>
            <p:cNvSpPr>
              <a:spLocks noChangeArrowheads="1"/>
            </p:cNvSpPr>
            <p:nvPr/>
          </p:nvSpPr>
          <p:spPr bwMode="auto">
            <a:xfrm>
              <a:off x="3471" y="1279"/>
              <a:ext cx="197" cy="196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5832" name="Oval 24"/>
            <p:cNvSpPr>
              <a:spLocks noChangeArrowheads="1"/>
            </p:cNvSpPr>
            <p:nvPr/>
          </p:nvSpPr>
          <p:spPr bwMode="auto">
            <a:xfrm>
              <a:off x="3766" y="1279"/>
              <a:ext cx="196" cy="196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5833" name="Oval 25"/>
            <p:cNvSpPr>
              <a:spLocks noChangeArrowheads="1"/>
            </p:cNvSpPr>
            <p:nvPr/>
          </p:nvSpPr>
          <p:spPr bwMode="auto">
            <a:xfrm>
              <a:off x="4060" y="1279"/>
              <a:ext cx="197" cy="196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4368" y="2950"/>
              <a:ext cx="576" cy="314"/>
              <a:chOff x="4560" y="3216"/>
              <a:chExt cx="576" cy="314"/>
            </a:xfrm>
          </p:grpSpPr>
          <p:sp>
            <p:nvSpPr>
              <p:cNvPr id="375835" name="AutoShape 27"/>
              <p:cNvSpPr>
                <a:spLocks noChangeArrowheads="1"/>
              </p:cNvSpPr>
              <p:nvPr/>
            </p:nvSpPr>
            <p:spPr bwMode="auto">
              <a:xfrm>
                <a:off x="4560" y="3216"/>
                <a:ext cx="576" cy="314"/>
              </a:xfrm>
              <a:prstGeom prst="roundRect">
                <a:avLst>
                  <a:gd name="adj" fmla="val 16667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375836" name="AutoShape 28"/>
              <p:cNvCxnSpPr>
                <a:cxnSpLocks noChangeShapeType="1"/>
                <a:stCxn id="375838" idx="2"/>
                <a:endCxn id="375837" idx="6"/>
              </p:cNvCxnSpPr>
              <p:nvPr/>
            </p:nvCxnSpPr>
            <p:spPr bwMode="auto">
              <a:xfrm flipH="1">
                <a:off x="4802" y="3373"/>
                <a:ext cx="86" cy="0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sp>
            <p:nvSpPr>
              <p:cNvPr id="375837" name="Oval 29"/>
              <p:cNvSpPr>
                <a:spLocks noChangeArrowheads="1"/>
              </p:cNvSpPr>
              <p:nvPr/>
            </p:nvSpPr>
            <p:spPr bwMode="auto">
              <a:xfrm>
                <a:off x="4599" y="3275"/>
                <a:ext cx="197" cy="19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5838" name="Oval 30"/>
              <p:cNvSpPr>
                <a:spLocks noChangeArrowheads="1"/>
              </p:cNvSpPr>
              <p:nvPr/>
            </p:nvSpPr>
            <p:spPr bwMode="auto">
              <a:xfrm>
                <a:off x="4894" y="3275"/>
                <a:ext cx="196" cy="19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cxnSp>
          <p:nvCxnSpPr>
            <p:cNvPr id="375839" name="AutoShape 31"/>
            <p:cNvCxnSpPr>
              <a:cxnSpLocks noChangeShapeType="1"/>
              <a:endCxn id="375840" idx="0"/>
            </p:cNvCxnSpPr>
            <p:nvPr/>
          </p:nvCxnSpPr>
          <p:spPr bwMode="auto">
            <a:xfrm rot="16200000" flipH="1">
              <a:off x="2549" y="1435"/>
              <a:ext cx="288" cy="9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ffectLst/>
          </p:spPr>
        </p:cxnSp>
        <p:sp>
          <p:nvSpPr>
            <p:cNvPr id="375840" name="Text Box 32"/>
            <p:cNvSpPr txBox="1">
              <a:spLocks noChangeArrowheads="1"/>
            </p:cNvSpPr>
            <p:nvPr/>
          </p:nvSpPr>
          <p:spPr bwMode="auto">
            <a:xfrm>
              <a:off x="2592" y="1584"/>
              <a:ext cx="21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B</a:t>
              </a:r>
            </a:p>
          </p:txBody>
        </p:sp>
        <p:cxnSp>
          <p:nvCxnSpPr>
            <p:cNvPr id="375841" name="AutoShape 33"/>
            <p:cNvCxnSpPr>
              <a:cxnSpLocks noChangeShapeType="1"/>
            </p:cNvCxnSpPr>
            <p:nvPr/>
          </p:nvCxnSpPr>
          <p:spPr bwMode="auto">
            <a:xfrm>
              <a:off x="3150" y="1310"/>
              <a:ext cx="282" cy="61"/>
            </a:xfrm>
            <a:prstGeom prst="curvedConnector3">
              <a:avLst>
                <a:gd name="adj1" fmla="val 51065"/>
              </a:avLst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</p:spPr>
        </p:cxnSp>
        <p:sp>
          <p:nvSpPr>
            <p:cNvPr id="375842" name="Oval 34"/>
            <p:cNvSpPr>
              <a:spLocks noChangeArrowheads="1"/>
            </p:cNvSpPr>
            <p:nvPr/>
          </p:nvSpPr>
          <p:spPr bwMode="auto">
            <a:xfrm>
              <a:off x="3540" y="1328"/>
              <a:ext cx="48" cy="48"/>
            </a:xfrm>
            <a:prstGeom prst="ellipse">
              <a:avLst/>
            </a:prstGeom>
            <a:noFill/>
            <a:ln w="31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5843" name="Oval 35"/>
            <p:cNvSpPr>
              <a:spLocks noChangeArrowheads="1"/>
            </p:cNvSpPr>
            <p:nvPr/>
          </p:nvSpPr>
          <p:spPr bwMode="auto">
            <a:xfrm>
              <a:off x="3837" y="1328"/>
              <a:ext cx="48" cy="48"/>
            </a:xfrm>
            <a:prstGeom prst="ellipse">
              <a:avLst/>
            </a:prstGeom>
            <a:noFill/>
            <a:ln w="31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5844" name="Oval 36"/>
            <p:cNvSpPr>
              <a:spLocks noChangeArrowheads="1"/>
            </p:cNvSpPr>
            <p:nvPr/>
          </p:nvSpPr>
          <p:spPr bwMode="auto">
            <a:xfrm>
              <a:off x="4134" y="1328"/>
              <a:ext cx="48" cy="48"/>
            </a:xfrm>
            <a:prstGeom prst="ellipse">
              <a:avLst/>
            </a:prstGeom>
            <a:noFill/>
            <a:ln w="31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375845" name="AutoShape 37"/>
            <p:cNvCxnSpPr>
              <a:cxnSpLocks noChangeShapeType="1"/>
              <a:stCxn id="375843" idx="4"/>
              <a:endCxn id="375852" idx="0"/>
            </p:cNvCxnSpPr>
            <p:nvPr/>
          </p:nvCxnSpPr>
          <p:spPr bwMode="auto">
            <a:xfrm rot="16200000" flipH="1">
              <a:off x="3806" y="1431"/>
              <a:ext cx="622" cy="511"/>
            </a:xfrm>
            <a:prstGeom prst="curvedConnector3">
              <a:avLst>
                <a:gd name="adj1" fmla="val 50481"/>
              </a:avLst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</p:spPr>
        </p:cxnSp>
        <p:cxnSp>
          <p:nvCxnSpPr>
            <p:cNvPr id="375846" name="AutoShape 38"/>
            <p:cNvCxnSpPr>
              <a:cxnSpLocks noChangeShapeType="1"/>
              <a:stCxn id="375844" idx="4"/>
              <a:endCxn id="375855" idx="0"/>
            </p:cNvCxnSpPr>
            <p:nvPr/>
          </p:nvCxnSpPr>
          <p:spPr bwMode="auto">
            <a:xfrm rot="16200000" flipH="1">
              <a:off x="4345" y="1189"/>
              <a:ext cx="622" cy="996"/>
            </a:xfrm>
            <a:prstGeom prst="curvedConnector3">
              <a:avLst>
                <a:gd name="adj1" fmla="val 50481"/>
              </a:avLst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</p:spPr>
        </p:cxnSp>
        <p:sp>
          <p:nvSpPr>
            <p:cNvPr id="375847" name="Rectangle 39"/>
            <p:cNvSpPr>
              <a:spLocks noChangeArrowheads="1"/>
            </p:cNvSpPr>
            <p:nvPr/>
          </p:nvSpPr>
          <p:spPr bwMode="auto">
            <a:xfrm>
              <a:off x="3266" y="2004"/>
              <a:ext cx="216" cy="216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5848" name="Rectangle 40"/>
            <p:cNvSpPr>
              <a:spLocks noChangeArrowheads="1"/>
            </p:cNvSpPr>
            <p:nvPr/>
          </p:nvSpPr>
          <p:spPr bwMode="auto">
            <a:xfrm>
              <a:off x="3698" y="2004"/>
              <a:ext cx="216" cy="216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latin typeface="Tahoma" pitchFamily="34" charset="0"/>
                  <a:sym typeface="Symbol" pitchFamily="18" charset="2"/>
                </a:rPr>
                <a:t></a:t>
              </a:r>
            </a:p>
          </p:txBody>
        </p:sp>
        <p:sp>
          <p:nvSpPr>
            <p:cNvPr id="375849" name="Rectangle 41"/>
            <p:cNvSpPr>
              <a:spLocks noChangeArrowheads="1"/>
            </p:cNvSpPr>
            <p:nvPr/>
          </p:nvSpPr>
          <p:spPr bwMode="auto">
            <a:xfrm>
              <a:off x="3482" y="2004"/>
              <a:ext cx="216" cy="216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>
                <a:latin typeface="Tahoma" pitchFamily="34" charset="0"/>
                <a:sym typeface="Symbol" pitchFamily="18" charset="2"/>
              </a:endParaRPr>
            </a:p>
          </p:txBody>
        </p:sp>
        <p:sp>
          <p:nvSpPr>
            <p:cNvPr id="375850" name="Rectangle 42"/>
            <p:cNvSpPr>
              <a:spLocks noChangeArrowheads="1"/>
            </p:cNvSpPr>
            <p:nvPr/>
          </p:nvSpPr>
          <p:spPr bwMode="auto">
            <a:xfrm>
              <a:off x="4048" y="2004"/>
              <a:ext cx="216" cy="21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5851" name="Rectangle 43"/>
            <p:cNvSpPr>
              <a:spLocks noChangeArrowheads="1"/>
            </p:cNvSpPr>
            <p:nvPr/>
          </p:nvSpPr>
          <p:spPr bwMode="auto">
            <a:xfrm>
              <a:off x="4480" y="2004"/>
              <a:ext cx="216" cy="21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>
                <a:latin typeface="Tahoma" pitchFamily="34" charset="0"/>
                <a:sym typeface="Symbol" pitchFamily="18" charset="2"/>
              </a:endParaRPr>
            </a:p>
          </p:txBody>
        </p:sp>
        <p:sp>
          <p:nvSpPr>
            <p:cNvPr id="375852" name="Rectangle 44"/>
            <p:cNvSpPr>
              <a:spLocks noChangeArrowheads="1"/>
            </p:cNvSpPr>
            <p:nvPr/>
          </p:nvSpPr>
          <p:spPr bwMode="auto">
            <a:xfrm>
              <a:off x="4264" y="2004"/>
              <a:ext cx="216" cy="21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>
                <a:latin typeface="Tahoma" pitchFamily="34" charset="0"/>
                <a:sym typeface="Symbol" pitchFamily="18" charset="2"/>
              </a:endParaRPr>
            </a:p>
          </p:txBody>
        </p:sp>
        <p:sp>
          <p:nvSpPr>
            <p:cNvPr id="375853" name="Rectangle 45"/>
            <p:cNvSpPr>
              <a:spLocks noChangeArrowheads="1"/>
            </p:cNvSpPr>
            <p:nvPr/>
          </p:nvSpPr>
          <p:spPr bwMode="auto">
            <a:xfrm>
              <a:off x="4830" y="2004"/>
              <a:ext cx="216" cy="216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5854" name="Rectangle 46"/>
            <p:cNvSpPr>
              <a:spLocks noChangeArrowheads="1"/>
            </p:cNvSpPr>
            <p:nvPr/>
          </p:nvSpPr>
          <p:spPr bwMode="auto">
            <a:xfrm>
              <a:off x="5262" y="2004"/>
              <a:ext cx="216" cy="216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latin typeface="Tahoma" pitchFamily="34" charset="0"/>
                  <a:sym typeface="Symbol" pitchFamily="18" charset="2"/>
                </a:rPr>
                <a:t></a:t>
              </a:r>
            </a:p>
          </p:txBody>
        </p:sp>
        <p:sp>
          <p:nvSpPr>
            <p:cNvPr id="375855" name="Rectangle 47"/>
            <p:cNvSpPr>
              <a:spLocks noChangeArrowheads="1"/>
            </p:cNvSpPr>
            <p:nvPr/>
          </p:nvSpPr>
          <p:spPr bwMode="auto">
            <a:xfrm>
              <a:off x="5046" y="2004"/>
              <a:ext cx="216" cy="216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>
                <a:latin typeface="Tahoma" pitchFamily="34" charset="0"/>
                <a:sym typeface="Symbol" pitchFamily="18" charset="2"/>
              </a:endParaRPr>
            </a:p>
          </p:txBody>
        </p:sp>
        <p:cxnSp>
          <p:nvCxnSpPr>
            <p:cNvPr id="375856" name="AutoShape 48"/>
            <p:cNvCxnSpPr>
              <a:cxnSpLocks noChangeShapeType="1"/>
              <a:endCxn id="375857" idx="0"/>
            </p:cNvCxnSpPr>
            <p:nvPr/>
          </p:nvCxnSpPr>
          <p:spPr bwMode="auto">
            <a:xfrm rot="16200000" flipH="1">
              <a:off x="3284" y="2200"/>
              <a:ext cx="276" cy="87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ffectLst/>
          </p:spPr>
        </p:cxnSp>
        <p:sp>
          <p:nvSpPr>
            <p:cNvPr id="375857" name="Text Box 49"/>
            <p:cNvSpPr txBox="1">
              <a:spLocks noChangeArrowheads="1"/>
            </p:cNvSpPr>
            <p:nvPr/>
          </p:nvSpPr>
          <p:spPr bwMode="auto">
            <a:xfrm>
              <a:off x="3360" y="2382"/>
              <a:ext cx="21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A</a:t>
              </a:r>
            </a:p>
          </p:txBody>
        </p:sp>
        <p:cxnSp>
          <p:nvCxnSpPr>
            <p:cNvPr id="375858" name="AutoShape 50"/>
            <p:cNvCxnSpPr>
              <a:cxnSpLocks noChangeShapeType="1"/>
              <a:endCxn id="375859" idx="0"/>
            </p:cNvCxnSpPr>
            <p:nvPr/>
          </p:nvCxnSpPr>
          <p:spPr bwMode="auto">
            <a:xfrm rot="16200000" flipH="1">
              <a:off x="4071" y="2200"/>
              <a:ext cx="276" cy="87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ffectLst/>
          </p:spPr>
        </p:cxnSp>
        <p:sp>
          <p:nvSpPr>
            <p:cNvPr id="375859" name="Text Box 51"/>
            <p:cNvSpPr txBox="1">
              <a:spLocks noChangeArrowheads="1"/>
            </p:cNvSpPr>
            <p:nvPr/>
          </p:nvSpPr>
          <p:spPr bwMode="auto">
            <a:xfrm>
              <a:off x="4139" y="2382"/>
              <a:ext cx="22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D</a:t>
              </a:r>
            </a:p>
          </p:txBody>
        </p:sp>
        <p:sp>
          <p:nvSpPr>
            <p:cNvPr id="375860" name="Text Box 52"/>
            <p:cNvSpPr txBox="1">
              <a:spLocks noChangeArrowheads="1"/>
            </p:cNvSpPr>
            <p:nvPr/>
          </p:nvSpPr>
          <p:spPr bwMode="auto">
            <a:xfrm>
              <a:off x="4925" y="2382"/>
              <a:ext cx="19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F</a:t>
              </a:r>
            </a:p>
          </p:txBody>
        </p:sp>
        <p:cxnSp>
          <p:nvCxnSpPr>
            <p:cNvPr id="375861" name="AutoShape 53"/>
            <p:cNvCxnSpPr>
              <a:cxnSpLocks noChangeShapeType="1"/>
              <a:endCxn id="375860" idx="0"/>
            </p:cNvCxnSpPr>
            <p:nvPr/>
          </p:nvCxnSpPr>
          <p:spPr bwMode="auto">
            <a:xfrm rot="16200000" flipH="1">
              <a:off x="4844" y="2200"/>
              <a:ext cx="276" cy="87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ffectLst/>
          </p:spPr>
        </p:cxnSp>
        <p:sp>
          <p:nvSpPr>
            <p:cNvPr id="375862" name="Oval 54"/>
            <p:cNvSpPr>
              <a:spLocks noChangeArrowheads="1"/>
            </p:cNvSpPr>
            <p:nvPr/>
          </p:nvSpPr>
          <p:spPr bwMode="auto">
            <a:xfrm>
              <a:off x="3588" y="2085"/>
              <a:ext cx="48" cy="48"/>
            </a:xfrm>
            <a:prstGeom prst="ellipse">
              <a:avLst/>
            </a:prstGeom>
            <a:noFill/>
            <a:ln w="31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5863" name="Oval 55"/>
            <p:cNvSpPr>
              <a:spLocks noChangeArrowheads="1"/>
            </p:cNvSpPr>
            <p:nvPr/>
          </p:nvSpPr>
          <p:spPr bwMode="auto">
            <a:xfrm>
              <a:off x="4364" y="2085"/>
              <a:ext cx="48" cy="48"/>
            </a:xfrm>
            <a:prstGeom prst="ellipse">
              <a:avLst/>
            </a:prstGeom>
            <a:noFill/>
            <a:ln w="31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5864" name="Oval 56"/>
            <p:cNvSpPr>
              <a:spLocks noChangeArrowheads="1"/>
            </p:cNvSpPr>
            <p:nvPr/>
          </p:nvSpPr>
          <p:spPr bwMode="auto">
            <a:xfrm>
              <a:off x="5140" y="2085"/>
              <a:ext cx="48" cy="48"/>
            </a:xfrm>
            <a:prstGeom prst="ellipse">
              <a:avLst/>
            </a:prstGeom>
            <a:noFill/>
            <a:ln w="317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5865" name="Freeform 57"/>
            <p:cNvSpPr>
              <a:spLocks/>
            </p:cNvSpPr>
            <p:nvPr/>
          </p:nvSpPr>
          <p:spPr bwMode="auto">
            <a:xfrm>
              <a:off x="3102" y="1422"/>
              <a:ext cx="578" cy="1245"/>
            </a:xfrm>
            <a:custGeom>
              <a:avLst/>
              <a:gdLst/>
              <a:ahLst/>
              <a:cxnLst>
                <a:cxn ang="0">
                  <a:pos x="486" y="684"/>
                </a:cxn>
                <a:cxn ang="0">
                  <a:pos x="528" y="852"/>
                </a:cxn>
                <a:cxn ang="0">
                  <a:pos x="552" y="1116"/>
                </a:cxn>
                <a:cxn ang="0">
                  <a:pos x="372" y="1206"/>
                </a:cxn>
                <a:cxn ang="0">
                  <a:pos x="174" y="1044"/>
                </a:cxn>
                <a:cxn ang="0">
                  <a:pos x="0" y="0"/>
                </a:cxn>
              </a:cxnLst>
              <a:rect l="0" t="0" r="r" b="b"/>
              <a:pathLst>
                <a:path w="578" h="1245">
                  <a:moveTo>
                    <a:pt x="486" y="684"/>
                  </a:moveTo>
                  <a:cubicBezTo>
                    <a:pt x="492" y="712"/>
                    <a:pt x="517" y="780"/>
                    <a:pt x="528" y="852"/>
                  </a:cubicBezTo>
                  <a:cubicBezTo>
                    <a:pt x="539" y="924"/>
                    <a:pt x="578" y="1057"/>
                    <a:pt x="552" y="1116"/>
                  </a:cubicBezTo>
                  <a:cubicBezTo>
                    <a:pt x="526" y="1175"/>
                    <a:pt x="435" y="1218"/>
                    <a:pt x="372" y="1206"/>
                  </a:cubicBezTo>
                  <a:cubicBezTo>
                    <a:pt x="309" y="1194"/>
                    <a:pt x="236" y="1245"/>
                    <a:pt x="174" y="1044"/>
                  </a:cubicBezTo>
                  <a:cubicBezTo>
                    <a:pt x="112" y="843"/>
                    <a:pt x="36" y="217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5866" name="Freeform 58"/>
            <p:cNvSpPr>
              <a:spLocks/>
            </p:cNvSpPr>
            <p:nvPr/>
          </p:nvSpPr>
          <p:spPr bwMode="auto">
            <a:xfrm>
              <a:off x="2982" y="1422"/>
              <a:ext cx="1515" cy="1360"/>
            </a:xfrm>
            <a:custGeom>
              <a:avLst/>
              <a:gdLst/>
              <a:ahLst/>
              <a:cxnLst>
                <a:cxn ang="0">
                  <a:pos x="1398" y="684"/>
                </a:cxn>
                <a:cxn ang="0">
                  <a:pos x="1344" y="1260"/>
                </a:cxn>
                <a:cxn ang="0">
                  <a:pos x="372" y="1284"/>
                </a:cxn>
                <a:cxn ang="0">
                  <a:pos x="150" y="864"/>
                </a:cxn>
                <a:cxn ang="0">
                  <a:pos x="0" y="0"/>
                </a:cxn>
              </a:cxnLst>
              <a:rect l="0" t="0" r="r" b="b"/>
              <a:pathLst>
                <a:path w="1515" h="1360">
                  <a:moveTo>
                    <a:pt x="1398" y="684"/>
                  </a:moveTo>
                  <a:cubicBezTo>
                    <a:pt x="1389" y="779"/>
                    <a:pt x="1515" y="1160"/>
                    <a:pt x="1344" y="1260"/>
                  </a:cubicBezTo>
                  <a:cubicBezTo>
                    <a:pt x="1173" y="1360"/>
                    <a:pt x="571" y="1350"/>
                    <a:pt x="372" y="1284"/>
                  </a:cubicBezTo>
                  <a:cubicBezTo>
                    <a:pt x="173" y="1218"/>
                    <a:pt x="212" y="1078"/>
                    <a:pt x="150" y="864"/>
                  </a:cubicBezTo>
                  <a:cubicBezTo>
                    <a:pt x="88" y="650"/>
                    <a:pt x="31" y="180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5867" name="Freeform 59"/>
            <p:cNvSpPr>
              <a:spLocks/>
            </p:cNvSpPr>
            <p:nvPr/>
          </p:nvSpPr>
          <p:spPr bwMode="auto">
            <a:xfrm>
              <a:off x="2845" y="1428"/>
              <a:ext cx="2409" cy="1478"/>
            </a:xfrm>
            <a:custGeom>
              <a:avLst/>
              <a:gdLst/>
              <a:ahLst/>
              <a:cxnLst>
                <a:cxn ang="0">
                  <a:pos x="2309" y="684"/>
                </a:cxn>
                <a:cxn ang="0">
                  <a:pos x="2291" y="1170"/>
                </a:cxn>
                <a:cxn ang="0">
                  <a:pos x="1601" y="1380"/>
                </a:cxn>
                <a:cxn ang="0">
                  <a:pos x="263" y="1248"/>
                </a:cxn>
                <a:cxn ang="0">
                  <a:pos x="23" y="0"/>
                </a:cxn>
              </a:cxnLst>
              <a:rect l="0" t="0" r="r" b="b"/>
              <a:pathLst>
                <a:path w="2409" h="1478">
                  <a:moveTo>
                    <a:pt x="2309" y="684"/>
                  </a:moveTo>
                  <a:cubicBezTo>
                    <a:pt x="2306" y="765"/>
                    <a:pt x="2409" y="1054"/>
                    <a:pt x="2291" y="1170"/>
                  </a:cubicBezTo>
                  <a:cubicBezTo>
                    <a:pt x="2173" y="1286"/>
                    <a:pt x="1939" y="1367"/>
                    <a:pt x="1601" y="1380"/>
                  </a:cubicBezTo>
                  <a:cubicBezTo>
                    <a:pt x="1263" y="1393"/>
                    <a:pt x="526" y="1478"/>
                    <a:pt x="263" y="1248"/>
                  </a:cubicBezTo>
                  <a:cubicBezTo>
                    <a:pt x="0" y="1018"/>
                    <a:pt x="73" y="260"/>
                    <a:pt x="23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5868" name="Rectangle 60"/>
            <p:cNvSpPr>
              <a:spLocks noChangeArrowheads="1"/>
            </p:cNvSpPr>
            <p:nvPr/>
          </p:nvSpPr>
          <p:spPr bwMode="auto">
            <a:xfrm>
              <a:off x="3900" y="3510"/>
              <a:ext cx="216" cy="216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5869" name="Rectangle 61"/>
            <p:cNvSpPr>
              <a:spLocks noChangeArrowheads="1"/>
            </p:cNvSpPr>
            <p:nvPr/>
          </p:nvSpPr>
          <p:spPr bwMode="auto">
            <a:xfrm>
              <a:off x="4332" y="3510"/>
              <a:ext cx="216" cy="216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latin typeface="Tahoma" pitchFamily="34" charset="0"/>
                  <a:sym typeface="Symbol" pitchFamily="18" charset="2"/>
                </a:rPr>
                <a:t></a:t>
              </a:r>
            </a:p>
          </p:txBody>
        </p:sp>
        <p:sp>
          <p:nvSpPr>
            <p:cNvPr id="375870" name="Rectangle 62"/>
            <p:cNvSpPr>
              <a:spLocks noChangeArrowheads="1"/>
            </p:cNvSpPr>
            <p:nvPr/>
          </p:nvSpPr>
          <p:spPr bwMode="auto">
            <a:xfrm>
              <a:off x="4116" y="3510"/>
              <a:ext cx="216" cy="216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>
                <a:latin typeface="Tahoma" pitchFamily="34" charset="0"/>
                <a:sym typeface="Symbol" pitchFamily="18" charset="2"/>
              </a:endParaRPr>
            </a:p>
          </p:txBody>
        </p:sp>
        <p:sp>
          <p:nvSpPr>
            <p:cNvPr id="375871" name="Text Box 63"/>
            <p:cNvSpPr txBox="1">
              <a:spLocks noChangeArrowheads="1"/>
            </p:cNvSpPr>
            <p:nvPr/>
          </p:nvSpPr>
          <p:spPr bwMode="auto">
            <a:xfrm>
              <a:off x="3984" y="3804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C</a:t>
              </a:r>
            </a:p>
          </p:txBody>
        </p:sp>
        <p:cxnSp>
          <p:nvCxnSpPr>
            <p:cNvPr id="375872" name="AutoShape 64"/>
            <p:cNvCxnSpPr>
              <a:cxnSpLocks noChangeShapeType="1"/>
            </p:cNvCxnSpPr>
            <p:nvPr/>
          </p:nvCxnSpPr>
          <p:spPr bwMode="auto">
            <a:xfrm rot="16200000" flipH="1">
              <a:off x="3938" y="3682"/>
              <a:ext cx="228" cy="88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ffectLst/>
          </p:spPr>
        </p:cxnSp>
        <p:sp>
          <p:nvSpPr>
            <p:cNvPr id="375873" name="Freeform 65"/>
            <p:cNvSpPr>
              <a:spLocks/>
            </p:cNvSpPr>
            <p:nvPr/>
          </p:nvSpPr>
          <p:spPr bwMode="auto">
            <a:xfrm>
              <a:off x="4485" y="2100"/>
              <a:ext cx="183" cy="846"/>
            </a:xfrm>
            <a:custGeom>
              <a:avLst/>
              <a:gdLst/>
              <a:ahLst/>
              <a:cxnLst>
                <a:cxn ang="0">
                  <a:pos x="93" y="0"/>
                </a:cxn>
                <a:cxn ang="0">
                  <a:pos x="3" y="240"/>
                </a:cxn>
                <a:cxn ang="0">
                  <a:pos x="111" y="546"/>
                </a:cxn>
                <a:cxn ang="0">
                  <a:pos x="183" y="846"/>
                </a:cxn>
              </a:cxnLst>
              <a:rect l="0" t="0" r="r" b="b"/>
              <a:pathLst>
                <a:path w="183" h="846">
                  <a:moveTo>
                    <a:pt x="93" y="0"/>
                  </a:moveTo>
                  <a:cubicBezTo>
                    <a:pt x="78" y="40"/>
                    <a:pt x="0" y="149"/>
                    <a:pt x="3" y="240"/>
                  </a:cubicBezTo>
                  <a:cubicBezTo>
                    <a:pt x="6" y="331"/>
                    <a:pt x="81" y="445"/>
                    <a:pt x="111" y="546"/>
                  </a:cubicBezTo>
                  <a:cubicBezTo>
                    <a:pt x="141" y="647"/>
                    <a:pt x="168" y="784"/>
                    <a:pt x="183" y="846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5874" name="Rectangle 66"/>
            <p:cNvSpPr>
              <a:spLocks noChangeArrowheads="1"/>
            </p:cNvSpPr>
            <p:nvPr/>
          </p:nvSpPr>
          <p:spPr bwMode="auto">
            <a:xfrm>
              <a:off x="4752" y="3510"/>
              <a:ext cx="216" cy="216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5875" name="Rectangle 67"/>
            <p:cNvSpPr>
              <a:spLocks noChangeArrowheads="1"/>
            </p:cNvSpPr>
            <p:nvPr/>
          </p:nvSpPr>
          <p:spPr bwMode="auto">
            <a:xfrm>
              <a:off x="5184" y="3510"/>
              <a:ext cx="216" cy="216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latin typeface="Tahoma" pitchFamily="34" charset="0"/>
                  <a:sym typeface="Symbol" pitchFamily="18" charset="2"/>
                </a:rPr>
                <a:t></a:t>
              </a:r>
            </a:p>
          </p:txBody>
        </p:sp>
        <p:sp>
          <p:nvSpPr>
            <p:cNvPr id="375876" name="Rectangle 68"/>
            <p:cNvSpPr>
              <a:spLocks noChangeArrowheads="1"/>
            </p:cNvSpPr>
            <p:nvPr/>
          </p:nvSpPr>
          <p:spPr bwMode="auto">
            <a:xfrm>
              <a:off x="4968" y="3510"/>
              <a:ext cx="216" cy="216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>
                <a:latin typeface="Tahoma" pitchFamily="34" charset="0"/>
                <a:sym typeface="Symbol" pitchFamily="18" charset="2"/>
              </a:endParaRPr>
            </a:p>
          </p:txBody>
        </p:sp>
        <p:sp>
          <p:nvSpPr>
            <p:cNvPr id="375877" name="Text Box 69"/>
            <p:cNvSpPr txBox="1">
              <a:spLocks noChangeArrowheads="1"/>
            </p:cNvSpPr>
            <p:nvPr/>
          </p:nvSpPr>
          <p:spPr bwMode="auto">
            <a:xfrm>
              <a:off x="4845" y="3804"/>
              <a:ext cx="20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E</a:t>
              </a:r>
            </a:p>
          </p:txBody>
        </p:sp>
        <p:cxnSp>
          <p:nvCxnSpPr>
            <p:cNvPr id="375878" name="AutoShape 70"/>
            <p:cNvCxnSpPr>
              <a:cxnSpLocks noChangeShapeType="1"/>
            </p:cNvCxnSpPr>
            <p:nvPr/>
          </p:nvCxnSpPr>
          <p:spPr bwMode="auto">
            <a:xfrm rot="16200000" flipH="1">
              <a:off x="4793" y="3679"/>
              <a:ext cx="228" cy="94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ffectLst/>
          </p:spPr>
        </p:cxnSp>
        <p:sp>
          <p:nvSpPr>
            <p:cNvPr id="375879" name="Freeform 71"/>
            <p:cNvSpPr>
              <a:spLocks/>
            </p:cNvSpPr>
            <p:nvPr/>
          </p:nvSpPr>
          <p:spPr bwMode="auto">
            <a:xfrm>
              <a:off x="4800" y="3108"/>
              <a:ext cx="282" cy="39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4" y="180"/>
                </a:cxn>
                <a:cxn ang="0">
                  <a:pos x="234" y="252"/>
                </a:cxn>
                <a:cxn ang="0">
                  <a:pos x="282" y="390"/>
                </a:cxn>
              </a:cxnLst>
              <a:rect l="0" t="0" r="r" b="b"/>
              <a:pathLst>
                <a:path w="282" h="390">
                  <a:moveTo>
                    <a:pt x="0" y="0"/>
                  </a:moveTo>
                  <a:cubicBezTo>
                    <a:pt x="9" y="30"/>
                    <a:pt x="15" y="138"/>
                    <a:pt x="54" y="180"/>
                  </a:cubicBezTo>
                  <a:cubicBezTo>
                    <a:pt x="93" y="222"/>
                    <a:pt x="196" y="217"/>
                    <a:pt x="234" y="252"/>
                  </a:cubicBezTo>
                  <a:cubicBezTo>
                    <a:pt x="272" y="287"/>
                    <a:pt x="272" y="361"/>
                    <a:pt x="282" y="39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5880" name="Freeform 72"/>
            <p:cNvSpPr>
              <a:spLocks/>
            </p:cNvSpPr>
            <p:nvPr/>
          </p:nvSpPr>
          <p:spPr bwMode="auto">
            <a:xfrm>
              <a:off x="4224" y="3102"/>
              <a:ext cx="290" cy="408"/>
            </a:xfrm>
            <a:custGeom>
              <a:avLst/>
              <a:gdLst/>
              <a:ahLst/>
              <a:cxnLst>
                <a:cxn ang="0">
                  <a:pos x="288" y="0"/>
                </a:cxn>
                <a:cxn ang="0">
                  <a:pos x="258" y="174"/>
                </a:cxn>
                <a:cxn ang="0">
                  <a:pos x="96" y="216"/>
                </a:cxn>
                <a:cxn ang="0">
                  <a:pos x="0" y="408"/>
                </a:cxn>
              </a:cxnLst>
              <a:rect l="0" t="0" r="r" b="b"/>
              <a:pathLst>
                <a:path w="290" h="408">
                  <a:moveTo>
                    <a:pt x="288" y="0"/>
                  </a:moveTo>
                  <a:cubicBezTo>
                    <a:pt x="283" y="29"/>
                    <a:pt x="290" y="138"/>
                    <a:pt x="258" y="174"/>
                  </a:cubicBezTo>
                  <a:cubicBezTo>
                    <a:pt x="226" y="210"/>
                    <a:pt x="139" y="177"/>
                    <a:pt x="96" y="216"/>
                  </a:cubicBezTo>
                  <a:cubicBezTo>
                    <a:pt x="53" y="255"/>
                    <a:pt x="20" y="368"/>
                    <a:pt x="0" y="408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5881" name="Freeform 73"/>
            <p:cNvSpPr>
              <a:spLocks/>
            </p:cNvSpPr>
            <p:nvPr/>
          </p:nvSpPr>
          <p:spPr bwMode="auto">
            <a:xfrm>
              <a:off x="3566" y="1374"/>
              <a:ext cx="82" cy="630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82" y="222"/>
                </a:cxn>
                <a:cxn ang="0">
                  <a:pos x="10" y="414"/>
                </a:cxn>
                <a:cxn ang="0">
                  <a:pos x="22" y="630"/>
                </a:cxn>
              </a:cxnLst>
              <a:rect l="0" t="0" r="r" b="b"/>
              <a:pathLst>
                <a:path w="82" h="630">
                  <a:moveTo>
                    <a:pt x="10" y="0"/>
                  </a:moveTo>
                  <a:cubicBezTo>
                    <a:pt x="21" y="37"/>
                    <a:pt x="82" y="153"/>
                    <a:pt x="82" y="222"/>
                  </a:cubicBezTo>
                  <a:cubicBezTo>
                    <a:pt x="82" y="291"/>
                    <a:pt x="20" y="346"/>
                    <a:pt x="10" y="414"/>
                  </a:cubicBezTo>
                  <a:cubicBezTo>
                    <a:pt x="0" y="482"/>
                    <a:pt x="20" y="585"/>
                    <a:pt x="22" y="63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5882" name="Freeform 74"/>
            <p:cNvSpPr>
              <a:spLocks/>
            </p:cNvSpPr>
            <p:nvPr/>
          </p:nvSpPr>
          <p:spPr bwMode="auto">
            <a:xfrm>
              <a:off x="3748" y="2208"/>
              <a:ext cx="546" cy="1854"/>
            </a:xfrm>
            <a:custGeom>
              <a:avLst/>
              <a:gdLst/>
              <a:ahLst/>
              <a:cxnLst>
                <a:cxn ang="0">
                  <a:pos x="482" y="1404"/>
                </a:cxn>
                <a:cxn ang="0">
                  <a:pos x="488" y="1782"/>
                </a:cxn>
                <a:cxn ang="0">
                  <a:pos x="134" y="1728"/>
                </a:cxn>
                <a:cxn ang="0">
                  <a:pos x="32" y="1026"/>
                </a:cxn>
                <a:cxn ang="0">
                  <a:pos x="326" y="390"/>
                </a:cxn>
                <a:cxn ang="0">
                  <a:pos x="362" y="0"/>
                </a:cxn>
              </a:cxnLst>
              <a:rect l="0" t="0" r="r" b="b"/>
              <a:pathLst>
                <a:path w="546" h="1854">
                  <a:moveTo>
                    <a:pt x="482" y="1404"/>
                  </a:moveTo>
                  <a:cubicBezTo>
                    <a:pt x="483" y="1467"/>
                    <a:pt x="546" y="1728"/>
                    <a:pt x="488" y="1782"/>
                  </a:cubicBezTo>
                  <a:cubicBezTo>
                    <a:pt x="430" y="1836"/>
                    <a:pt x="210" y="1854"/>
                    <a:pt x="134" y="1728"/>
                  </a:cubicBezTo>
                  <a:cubicBezTo>
                    <a:pt x="58" y="1602"/>
                    <a:pt x="0" y="1249"/>
                    <a:pt x="32" y="1026"/>
                  </a:cubicBezTo>
                  <a:cubicBezTo>
                    <a:pt x="64" y="803"/>
                    <a:pt x="271" y="561"/>
                    <a:pt x="326" y="390"/>
                  </a:cubicBezTo>
                  <a:cubicBezTo>
                    <a:pt x="381" y="219"/>
                    <a:pt x="354" y="81"/>
                    <a:pt x="36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5883" name="Freeform 75"/>
            <p:cNvSpPr>
              <a:spLocks/>
            </p:cNvSpPr>
            <p:nvPr/>
          </p:nvSpPr>
          <p:spPr bwMode="auto">
            <a:xfrm>
              <a:off x="4602" y="2220"/>
              <a:ext cx="941" cy="1660"/>
            </a:xfrm>
            <a:custGeom>
              <a:avLst/>
              <a:gdLst/>
              <a:ahLst/>
              <a:cxnLst>
                <a:cxn ang="0">
                  <a:pos x="478" y="1392"/>
                </a:cxn>
                <a:cxn ang="0">
                  <a:pos x="690" y="1656"/>
                </a:cxn>
                <a:cxn ang="0">
                  <a:pos x="936" y="1416"/>
                </a:cxn>
                <a:cxn ang="0">
                  <a:pos x="720" y="954"/>
                </a:cxn>
                <a:cxn ang="0">
                  <a:pos x="222" y="570"/>
                </a:cxn>
                <a:cxn ang="0">
                  <a:pos x="0" y="0"/>
                </a:cxn>
              </a:cxnLst>
              <a:rect l="0" t="0" r="r" b="b"/>
              <a:pathLst>
                <a:path w="941" h="1660">
                  <a:moveTo>
                    <a:pt x="478" y="1392"/>
                  </a:moveTo>
                  <a:cubicBezTo>
                    <a:pt x="513" y="1436"/>
                    <a:pt x="614" y="1652"/>
                    <a:pt x="690" y="1656"/>
                  </a:cubicBezTo>
                  <a:cubicBezTo>
                    <a:pt x="766" y="1660"/>
                    <a:pt x="931" y="1533"/>
                    <a:pt x="936" y="1416"/>
                  </a:cubicBezTo>
                  <a:cubicBezTo>
                    <a:pt x="941" y="1299"/>
                    <a:pt x="839" y="1095"/>
                    <a:pt x="720" y="954"/>
                  </a:cubicBezTo>
                  <a:cubicBezTo>
                    <a:pt x="601" y="813"/>
                    <a:pt x="342" y="729"/>
                    <a:pt x="222" y="570"/>
                  </a:cubicBezTo>
                  <a:cubicBezTo>
                    <a:pt x="102" y="411"/>
                    <a:pt x="46" y="119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8382000" cy="1143000"/>
          </a:xfrm>
          <a:noFill/>
          <a:ln/>
        </p:spPr>
        <p:txBody>
          <a:bodyPr lIns="92075" tIns="46038" rIns="92075" bIns="46038"/>
          <a:lstStyle/>
          <a:p>
            <a:r>
              <a:rPr lang="en-US" altLang="zh-TW" sz="3200">
                <a:ea typeface="新細明體" pitchFamily="18" charset="-120"/>
              </a:rPr>
              <a:t>Left Child, Right Sibling Representation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219200" y="2133600"/>
            <a:ext cx="1524000" cy="831850"/>
            <a:chOff x="432" y="1968"/>
            <a:chExt cx="960" cy="524"/>
          </a:xfrm>
        </p:grpSpPr>
        <p:sp>
          <p:nvSpPr>
            <p:cNvPr id="376836" name="Text Box 4"/>
            <p:cNvSpPr txBox="1">
              <a:spLocks noChangeArrowheads="1"/>
            </p:cNvSpPr>
            <p:nvPr/>
          </p:nvSpPr>
          <p:spPr bwMode="auto">
            <a:xfrm>
              <a:off x="432" y="1968"/>
              <a:ext cx="96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</a:rPr>
                <a:t>Data</a:t>
              </a:r>
            </a:p>
          </p:txBody>
        </p:sp>
        <p:sp>
          <p:nvSpPr>
            <p:cNvPr id="376837" name="Text Box 5"/>
            <p:cNvSpPr txBox="1">
              <a:spLocks noChangeArrowheads="1"/>
            </p:cNvSpPr>
            <p:nvPr/>
          </p:nvSpPr>
          <p:spPr bwMode="auto">
            <a:xfrm>
              <a:off x="432" y="2160"/>
              <a:ext cx="480" cy="3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</a:rPr>
                <a:t>Left Child</a:t>
              </a:r>
            </a:p>
          </p:txBody>
        </p:sp>
        <p:sp>
          <p:nvSpPr>
            <p:cNvPr id="376838" name="Text Box 6"/>
            <p:cNvSpPr txBox="1">
              <a:spLocks noChangeArrowheads="1"/>
            </p:cNvSpPr>
            <p:nvPr/>
          </p:nvSpPr>
          <p:spPr bwMode="auto">
            <a:xfrm>
              <a:off x="912" y="2160"/>
              <a:ext cx="480" cy="3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</a:rPr>
                <a:t>Right Sibling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5181600" y="2590800"/>
            <a:ext cx="685800" cy="619125"/>
            <a:chOff x="432" y="1968"/>
            <a:chExt cx="960" cy="390"/>
          </a:xfrm>
        </p:grpSpPr>
        <p:sp>
          <p:nvSpPr>
            <p:cNvPr id="376840" name="Text Box 8"/>
            <p:cNvSpPr txBox="1">
              <a:spLocks noChangeArrowheads="1"/>
            </p:cNvSpPr>
            <p:nvPr/>
          </p:nvSpPr>
          <p:spPr bwMode="auto">
            <a:xfrm>
              <a:off x="432" y="1968"/>
              <a:ext cx="96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</a:rPr>
                <a:t>A</a:t>
              </a:r>
            </a:p>
          </p:txBody>
        </p:sp>
        <p:sp>
          <p:nvSpPr>
            <p:cNvPr id="376841" name="Text Box 9"/>
            <p:cNvSpPr txBox="1">
              <a:spLocks noChangeArrowheads="1"/>
            </p:cNvSpPr>
            <p:nvPr/>
          </p:nvSpPr>
          <p:spPr bwMode="auto">
            <a:xfrm>
              <a:off x="432" y="2160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  <p:sp>
          <p:nvSpPr>
            <p:cNvPr id="376842" name="Text Box 10"/>
            <p:cNvSpPr txBox="1">
              <a:spLocks noChangeArrowheads="1"/>
            </p:cNvSpPr>
            <p:nvPr/>
          </p:nvSpPr>
          <p:spPr bwMode="auto">
            <a:xfrm>
              <a:off x="912" y="2160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4114800" y="3429000"/>
            <a:ext cx="685800" cy="619125"/>
            <a:chOff x="432" y="1968"/>
            <a:chExt cx="960" cy="390"/>
          </a:xfrm>
        </p:grpSpPr>
        <p:sp>
          <p:nvSpPr>
            <p:cNvPr id="376844" name="Text Box 12"/>
            <p:cNvSpPr txBox="1">
              <a:spLocks noChangeArrowheads="1"/>
            </p:cNvSpPr>
            <p:nvPr/>
          </p:nvSpPr>
          <p:spPr bwMode="auto">
            <a:xfrm>
              <a:off x="432" y="1968"/>
              <a:ext cx="96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</a:rPr>
                <a:t>B</a:t>
              </a:r>
            </a:p>
          </p:txBody>
        </p:sp>
        <p:sp>
          <p:nvSpPr>
            <p:cNvPr id="376845" name="Text Box 13"/>
            <p:cNvSpPr txBox="1">
              <a:spLocks noChangeArrowheads="1"/>
            </p:cNvSpPr>
            <p:nvPr/>
          </p:nvSpPr>
          <p:spPr bwMode="auto">
            <a:xfrm>
              <a:off x="432" y="2160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  <p:sp>
          <p:nvSpPr>
            <p:cNvPr id="376846" name="Text Box 14"/>
            <p:cNvSpPr txBox="1">
              <a:spLocks noChangeArrowheads="1"/>
            </p:cNvSpPr>
            <p:nvPr/>
          </p:nvSpPr>
          <p:spPr bwMode="auto">
            <a:xfrm>
              <a:off x="912" y="2160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5181600" y="3429000"/>
            <a:ext cx="685800" cy="619125"/>
            <a:chOff x="432" y="1968"/>
            <a:chExt cx="960" cy="390"/>
          </a:xfrm>
        </p:grpSpPr>
        <p:sp>
          <p:nvSpPr>
            <p:cNvPr id="376848" name="Text Box 16"/>
            <p:cNvSpPr txBox="1">
              <a:spLocks noChangeArrowheads="1"/>
            </p:cNvSpPr>
            <p:nvPr/>
          </p:nvSpPr>
          <p:spPr bwMode="auto">
            <a:xfrm>
              <a:off x="432" y="1968"/>
              <a:ext cx="96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</a:rPr>
                <a:t>C</a:t>
              </a:r>
            </a:p>
          </p:txBody>
        </p:sp>
        <p:sp>
          <p:nvSpPr>
            <p:cNvPr id="376849" name="Text Box 17"/>
            <p:cNvSpPr txBox="1">
              <a:spLocks noChangeArrowheads="1"/>
            </p:cNvSpPr>
            <p:nvPr/>
          </p:nvSpPr>
          <p:spPr bwMode="auto">
            <a:xfrm>
              <a:off x="432" y="2160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  <p:sp>
          <p:nvSpPr>
            <p:cNvPr id="376850" name="Text Box 18"/>
            <p:cNvSpPr txBox="1">
              <a:spLocks noChangeArrowheads="1"/>
            </p:cNvSpPr>
            <p:nvPr/>
          </p:nvSpPr>
          <p:spPr bwMode="auto">
            <a:xfrm>
              <a:off x="912" y="2160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</p:grpSp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6324600" y="3429000"/>
            <a:ext cx="685800" cy="619125"/>
            <a:chOff x="432" y="1968"/>
            <a:chExt cx="960" cy="390"/>
          </a:xfrm>
        </p:grpSpPr>
        <p:sp>
          <p:nvSpPr>
            <p:cNvPr id="376852" name="Text Box 20"/>
            <p:cNvSpPr txBox="1">
              <a:spLocks noChangeArrowheads="1"/>
            </p:cNvSpPr>
            <p:nvPr/>
          </p:nvSpPr>
          <p:spPr bwMode="auto">
            <a:xfrm>
              <a:off x="432" y="1968"/>
              <a:ext cx="96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</a:rPr>
                <a:t>D</a:t>
              </a:r>
            </a:p>
          </p:txBody>
        </p:sp>
        <p:sp>
          <p:nvSpPr>
            <p:cNvPr id="376853" name="Text Box 21"/>
            <p:cNvSpPr txBox="1">
              <a:spLocks noChangeArrowheads="1"/>
            </p:cNvSpPr>
            <p:nvPr/>
          </p:nvSpPr>
          <p:spPr bwMode="auto">
            <a:xfrm>
              <a:off x="432" y="2160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  <p:sp>
          <p:nvSpPr>
            <p:cNvPr id="376854" name="Text Box 22"/>
            <p:cNvSpPr txBox="1">
              <a:spLocks noChangeArrowheads="1"/>
            </p:cNvSpPr>
            <p:nvPr/>
          </p:nvSpPr>
          <p:spPr bwMode="auto">
            <a:xfrm>
              <a:off x="912" y="2160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</p:grpSp>
      <p:grpSp>
        <p:nvGrpSpPr>
          <p:cNvPr id="7" name="Group 23"/>
          <p:cNvGrpSpPr>
            <a:grpSpLocks/>
          </p:cNvGrpSpPr>
          <p:nvPr/>
        </p:nvGrpSpPr>
        <p:grpSpPr bwMode="auto">
          <a:xfrm>
            <a:off x="7315200" y="4419600"/>
            <a:ext cx="685800" cy="619125"/>
            <a:chOff x="432" y="1968"/>
            <a:chExt cx="960" cy="390"/>
          </a:xfrm>
        </p:grpSpPr>
        <p:sp>
          <p:nvSpPr>
            <p:cNvPr id="376856" name="Text Box 24"/>
            <p:cNvSpPr txBox="1">
              <a:spLocks noChangeArrowheads="1"/>
            </p:cNvSpPr>
            <p:nvPr/>
          </p:nvSpPr>
          <p:spPr bwMode="auto">
            <a:xfrm>
              <a:off x="432" y="1968"/>
              <a:ext cx="96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</a:rPr>
                <a:t>I</a:t>
              </a:r>
            </a:p>
          </p:txBody>
        </p:sp>
        <p:sp>
          <p:nvSpPr>
            <p:cNvPr id="376857" name="Text Box 25"/>
            <p:cNvSpPr txBox="1">
              <a:spLocks noChangeArrowheads="1"/>
            </p:cNvSpPr>
            <p:nvPr/>
          </p:nvSpPr>
          <p:spPr bwMode="auto">
            <a:xfrm>
              <a:off x="432" y="2160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  <p:sp>
          <p:nvSpPr>
            <p:cNvPr id="376858" name="Text Box 26"/>
            <p:cNvSpPr txBox="1">
              <a:spLocks noChangeArrowheads="1"/>
            </p:cNvSpPr>
            <p:nvPr/>
          </p:nvSpPr>
          <p:spPr bwMode="auto">
            <a:xfrm>
              <a:off x="912" y="2160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</p:grpSp>
      <p:grpSp>
        <p:nvGrpSpPr>
          <p:cNvPr id="8" name="Group 27"/>
          <p:cNvGrpSpPr>
            <a:grpSpLocks/>
          </p:cNvGrpSpPr>
          <p:nvPr/>
        </p:nvGrpSpPr>
        <p:grpSpPr bwMode="auto">
          <a:xfrm>
            <a:off x="6172200" y="4419600"/>
            <a:ext cx="685800" cy="619125"/>
            <a:chOff x="432" y="1968"/>
            <a:chExt cx="960" cy="390"/>
          </a:xfrm>
        </p:grpSpPr>
        <p:sp>
          <p:nvSpPr>
            <p:cNvPr id="376860" name="Text Box 28"/>
            <p:cNvSpPr txBox="1">
              <a:spLocks noChangeArrowheads="1"/>
            </p:cNvSpPr>
            <p:nvPr/>
          </p:nvSpPr>
          <p:spPr bwMode="auto">
            <a:xfrm>
              <a:off x="432" y="1968"/>
              <a:ext cx="96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</a:rPr>
                <a:t>H</a:t>
              </a:r>
            </a:p>
          </p:txBody>
        </p:sp>
        <p:sp>
          <p:nvSpPr>
            <p:cNvPr id="376861" name="Text Box 29"/>
            <p:cNvSpPr txBox="1">
              <a:spLocks noChangeArrowheads="1"/>
            </p:cNvSpPr>
            <p:nvPr/>
          </p:nvSpPr>
          <p:spPr bwMode="auto">
            <a:xfrm>
              <a:off x="432" y="2160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  <p:sp>
          <p:nvSpPr>
            <p:cNvPr id="376862" name="Text Box 30"/>
            <p:cNvSpPr txBox="1">
              <a:spLocks noChangeArrowheads="1"/>
            </p:cNvSpPr>
            <p:nvPr/>
          </p:nvSpPr>
          <p:spPr bwMode="auto">
            <a:xfrm>
              <a:off x="912" y="2160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</p:grpSp>
      <p:grpSp>
        <p:nvGrpSpPr>
          <p:cNvPr id="9" name="Group 31"/>
          <p:cNvGrpSpPr>
            <a:grpSpLocks/>
          </p:cNvGrpSpPr>
          <p:nvPr/>
        </p:nvGrpSpPr>
        <p:grpSpPr bwMode="auto">
          <a:xfrm>
            <a:off x="5029200" y="4419600"/>
            <a:ext cx="685800" cy="619125"/>
            <a:chOff x="432" y="1968"/>
            <a:chExt cx="960" cy="390"/>
          </a:xfrm>
        </p:grpSpPr>
        <p:sp>
          <p:nvSpPr>
            <p:cNvPr id="376864" name="Text Box 32"/>
            <p:cNvSpPr txBox="1">
              <a:spLocks noChangeArrowheads="1"/>
            </p:cNvSpPr>
            <p:nvPr/>
          </p:nvSpPr>
          <p:spPr bwMode="auto">
            <a:xfrm>
              <a:off x="432" y="1968"/>
              <a:ext cx="96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</a:rPr>
                <a:t>G</a:t>
              </a:r>
            </a:p>
          </p:txBody>
        </p:sp>
        <p:sp>
          <p:nvSpPr>
            <p:cNvPr id="376865" name="Text Box 33"/>
            <p:cNvSpPr txBox="1">
              <a:spLocks noChangeArrowheads="1"/>
            </p:cNvSpPr>
            <p:nvPr/>
          </p:nvSpPr>
          <p:spPr bwMode="auto">
            <a:xfrm>
              <a:off x="432" y="2160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  <p:sp>
          <p:nvSpPr>
            <p:cNvPr id="376866" name="Text Box 34"/>
            <p:cNvSpPr txBox="1">
              <a:spLocks noChangeArrowheads="1"/>
            </p:cNvSpPr>
            <p:nvPr/>
          </p:nvSpPr>
          <p:spPr bwMode="auto">
            <a:xfrm>
              <a:off x="912" y="2160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</p:grpSp>
      <p:grpSp>
        <p:nvGrpSpPr>
          <p:cNvPr id="10" name="Group 35"/>
          <p:cNvGrpSpPr>
            <a:grpSpLocks/>
          </p:cNvGrpSpPr>
          <p:nvPr/>
        </p:nvGrpSpPr>
        <p:grpSpPr bwMode="auto">
          <a:xfrm>
            <a:off x="4114800" y="4419600"/>
            <a:ext cx="685800" cy="619125"/>
            <a:chOff x="432" y="1968"/>
            <a:chExt cx="960" cy="390"/>
          </a:xfrm>
        </p:grpSpPr>
        <p:sp>
          <p:nvSpPr>
            <p:cNvPr id="376868" name="Text Box 36"/>
            <p:cNvSpPr txBox="1">
              <a:spLocks noChangeArrowheads="1"/>
            </p:cNvSpPr>
            <p:nvPr/>
          </p:nvSpPr>
          <p:spPr bwMode="auto">
            <a:xfrm>
              <a:off x="432" y="1968"/>
              <a:ext cx="96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</a:rPr>
                <a:t>F</a:t>
              </a:r>
            </a:p>
          </p:txBody>
        </p:sp>
        <p:sp>
          <p:nvSpPr>
            <p:cNvPr id="376869" name="Text Box 37"/>
            <p:cNvSpPr txBox="1">
              <a:spLocks noChangeArrowheads="1"/>
            </p:cNvSpPr>
            <p:nvPr/>
          </p:nvSpPr>
          <p:spPr bwMode="auto">
            <a:xfrm>
              <a:off x="432" y="2160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  <p:sp>
          <p:nvSpPr>
            <p:cNvPr id="376870" name="Text Box 38"/>
            <p:cNvSpPr txBox="1">
              <a:spLocks noChangeArrowheads="1"/>
            </p:cNvSpPr>
            <p:nvPr/>
          </p:nvSpPr>
          <p:spPr bwMode="auto">
            <a:xfrm>
              <a:off x="912" y="2160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</p:grpSp>
      <p:grpSp>
        <p:nvGrpSpPr>
          <p:cNvPr id="11" name="Group 39"/>
          <p:cNvGrpSpPr>
            <a:grpSpLocks/>
          </p:cNvGrpSpPr>
          <p:nvPr/>
        </p:nvGrpSpPr>
        <p:grpSpPr bwMode="auto">
          <a:xfrm>
            <a:off x="3124200" y="4419600"/>
            <a:ext cx="685800" cy="619125"/>
            <a:chOff x="432" y="1968"/>
            <a:chExt cx="960" cy="390"/>
          </a:xfrm>
        </p:grpSpPr>
        <p:sp>
          <p:nvSpPr>
            <p:cNvPr id="376872" name="Text Box 40"/>
            <p:cNvSpPr txBox="1">
              <a:spLocks noChangeArrowheads="1"/>
            </p:cNvSpPr>
            <p:nvPr/>
          </p:nvSpPr>
          <p:spPr bwMode="auto">
            <a:xfrm>
              <a:off x="432" y="1968"/>
              <a:ext cx="96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</a:rPr>
                <a:t>E</a:t>
              </a:r>
            </a:p>
          </p:txBody>
        </p:sp>
        <p:sp>
          <p:nvSpPr>
            <p:cNvPr id="376873" name="Text Box 41"/>
            <p:cNvSpPr txBox="1">
              <a:spLocks noChangeArrowheads="1"/>
            </p:cNvSpPr>
            <p:nvPr/>
          </p:nvSpPr>
          <p:spPr bwMode="auto">
            <a:xfrm>
              <a:off x="432" y="2160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  <p:sp>
          <p:nvSpPr>
            <p:cNvPr id="376874" name="Text Box 42"/>
            <p:cNvSpPr txBox="1">
              <a:spLocks noChangeArrowheads="1"/>
            </p:cNvSpPr>
            <p:nvPr/>
          </p:nvSpPr>
          <p:spPr bwMode="auto">
            <a:xfrm>
              <a:off x="912" y="2160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</p:grpSp>
      <p:grpSp>
        <p:nvGrpSpPr>
          <p:cNvPr id="12" name="Group 43"/>
          <p:cNvGrpSpPr>
            <a:grpSpLocks/>
          </p:cNvGrpSpPr>
          <p:nvPr/>
        </p:nvGrpSpPr>
        <p:grpSpPr bwMode="auto">
          <a:xfrm>
            <a:off x="2590800" y="5486400"/>
            <a:ext cx="685800" cy="619125"/>
            <a:chOff x="432" y="1968"/>
            <a:chExt cx="960" cy="390"/>
          </a:xfrm>
        </p:grpSpPr>
        <p:sp>
          <p:nvSpPr>
            <p:cNvPr id="376876" name="Text Box 44"/>
            <p:cNvSpPr txBox="1">
              <a:spLocks noChangeArrowheads="1"/>
            </p:cNvSpPr>
            <p:nvPr/>
          </p:nvSpPr>
          <p:spPr bwMode="auto">
            <a:xfrm>
              <a:off x="432" y="1968"/>
              <a:ext cx="96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</a:rPr>
                <a:t>J</a:t>
              </a:r>
            </a:p>
          </p:txBody>
        </p:sp>
        <p:sp>
          <p:nvSpPr>
            <p:cNvPr id="376877" name="Text Box 45"/>
            <p:cNvSpPr txBox="1">
              <a:spLocks noChangeArrowheads="1"/>
            </p:cNvSpPr>
            <p:nvPr/>
          </p:nvSpPr>
          <p:spPr bwMode="auto">
            <a:xfrm>
              <a:off x="432" y="2160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  <p:sp>
          <p:nvSpPr>
            <p:cNvPr id="376878" name="Text Box 46"/>
            <p:cNvSpPr txBox="1">
              <a:spLocks noChangeArrowheads="1"/>
            </p:cNvSpPr>
            <p:nvPr/>
          </p:nvSpPr>
          <p:spPr bwMode="auto">
            <a:xfrm>
              <a:off x="912" y="2160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</p:grpSp>
      <p:grpSp>
        <p:nvGrpSpPr>
          <p:cNvPr id="13" name="Group 47"/>
          <p:cNvGrpSpPr>
            <a:grpSpLocks/>
          </p:cNvGrpSpPr>
          <p:nvPr/>
        </p:nvGrpSpPr>
        <p:grpSpPr bwMode="auto">
          <a:xfrm>
            <a:off x="3581400" y="5486400"/>
            <a:ext cx="685800" cy="619125"/>
            <a:chOff x="432" y="1968"/>
            <a:chExt cx="960" cy="390"/>
          </a:xfrm>
        </p:grpSpPr>
        <p:sp>
          <p:nvSpPr>
            <p:cNvPr id="376880" name="Text Box 48"/>
            <p:cNvSpPr txBox="1">
              <a:spLocks noChangeArrowheads="1"/>
            </p:cNvSpPr>
            <p:nvPr/>
          </p:nvSpPr>
          <p:spPr bwMode="auto">
            <a:xfrm>
              <a:off x="432" y="1968"/>
              <a:ext cx="96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</a:rPr>
                <a:t>K</a:t>
              </a:r>
            </a:p>
          </p:txBody>
        </p:sp>
        <p:sp>
          <p:nvSpPr>
            <p:cNvPr id="376881" name="Text Box 49"/>
            <p:cNvSpPr txBox="1">
              <a:spLocks noChangeArrowheads="1"/>
            </p:cNvSpPr>
            <p:nvPr/>
          </p:nvSpPr>
          <p:spPr bwMode="auto">
            <a:xfrm>
              <a:off x="432" y="2160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  <p:sp>
          <p:nvSpPr>
            <p:cNvPr id="376882" name="Text Box 50"/>
            <p:cNvSpPr txBox="1">
              <a:spLocks noChangeArrowheads="1"/>
            </p:cNvSpPr>
            <p:nvPr/>
          </p:nvSpPr>
          <p:spPr bwMode="auto">
            <a:xfrm>
              <a:off x="912" y="2160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</p:grpSp>
      <p:grpSp>
        <p:nvGrpSpPr>
          <p:cNvPr id="14" name="Group 51"/>
          <p:cNvGrpSpPr>
            <a:grpSpLocks/>
          </p:cNvGrpSpPr>
          <p:nvPr/>
        </p:nvGrpSpPr>
        <p:grpSpPr bwMode="auto">
          <a:xfrm>
            <a:off x="5995988" y="5486400"/>
            <a:ext cx="685800" cy="619125"/>
            <a:chOff x="432" y="1968"/>
            <a:chExt cx="960" cy="390"/>
          </a:xfrm>
        </p:grpSpPr>
        <p:sp>
          <p:nvSpPr>
            <p:cNvPr id="376884" name="Text Box 52"/>
            <p:cNvSpPr txBox="1">
              <a:spLocks noChangeArrowheads="1"/>
            </p:cNvSpPr>
            <p:nvPr/>
          </p:nvSpPr>
          <p:spPr bwMode="auto">
            <a:xfrm>
              <a:off x="432" y="1968"/>
              <a:ext cx="96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>
                  <a:latin typeface="Arial" charset="0"/>
                </a:rPr>
                <a:t>L</a:t>
              </a:r>
            </a:p>
          </p:txBody>
        </p:sp>
        <p:sp>
          <p:nvSpPr>
            <p:cNvPr id="376885" name="Text Box 53"/>
            <p:cNvSpPr txBox="1">
              <a:spLocks noChangeArrowheads="1"/>
            </p:cNvSpPr>
            <p:nvPr/>
          </p:nvSpPr>
          <p:spPr bwMode="auto">
            <a:xfrm>
              <a:off x="432" y="2160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  <p:sp>
          <p:nvSpPr>
            <p:cNvPr id="376886" name="Text Box 54"/>
            <p:cNvSpPr txBox="1">
              <a:spLocks noChangeArrowheads="1"/>
            </p:cNvSpPr>
            <p:nvPr/>
          </p:nvSpPr>
          <p:spPr bwMode="auto">
            <a:xfrm>
              <a:off x="912" y="2160"/>
              <a:ext cx="480" cy="1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sz="1400">
                <a:latin typeface="Arial" charset="0"/>
              </a:endParaRPr>
            </a:p>
          </p:txBody>
        </p:sp>
      </p:grpSp>
      <p:cxnSp>
        <p:nvCxnSpPr>
          <p:cNvPr id="376887" name="AutoShape 55"/>
          <p:cNvCxnSpPr>
            <a:cxnSpLocks noChangeShapeType="1"/>
            <a:stCxn id="376841" idx="2"/>
            <a:endCxn id="376844" idx="0"/>
          </p:cNvCxnSpPr>
          <p:nvPr/>
        </p:nvCxnSpPr>
        <p:spPr bwMode="auto">
          <a:xfrm flipH="1">
            <a:off x="4457700" y="3209925"/>
            <a:ext cx="895350" cy="2190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76888" name="AutoShape 56"/>
          <p:cNvCxnSpPr>
            <a:cxnSpLocks noChangeShapeType="1"/>
            <a:stCxn id="376845" idx="2"/>
            <a:endCxn id="376872" idx="0"/>
          </p:cNvCxnSpPr>
          <p:nvPr/>
        </p:nvCxnSpPr>
        <p:spPr bwMode="auto">
          <a:xfrm flipH="1">
            <a:off x="3467100" y="4048125"/>
            <a:ext cx="819150" cy="3714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76889" name="AutoShape 57"/>
          <p:cNvCxnSpPr>
            <a:cxnSpLocks noChangeShapeType="1"/>
            <a:stCxn id="376873" idx="2"/>
            <a:endCxn id="376876" idx="0"/>
          </p:cNvCxnSpPr>
          <p:nvPr/>
        </p:nvCxnSpPr>
        <p:spPr bwMode="auto">
          <a:xfrm flipH="1">
            <a:off x="2933700" y="5038725"/>
            <a:ext cx="361950" cy="4476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76890" name="AutoShape 58"/>
          <p:cNvCxnSpPr>
            <a:cxnSpLocks noChangeShapeType="1"/>
            <a:stCxn id="376846" idx="3"/>
            <a:endCxn id="376849" idx="1"/>
          </p:cNvCxnSpPr>
          <p:nvPr/>
        </p:nvCxnSpPr>
        <p:spPr bwMode="auto">
          <a:xfrm>
            <a:off x="4800600" y="3890963"/>
            <a:ext cx="381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76891" name="AutoShape 59"/>
          <p:cNvCxnSpPr>
            <a:cxnSpLocks noChangeShapeType="1"/>
            <a:stCxn id="376850" idx="3"/>
            <a:endCxn id="376853" idx="1"/>
          </p:cNvCxnSpPr>
          <p:nvPr/>
        </p:nvCxnSpPr>
        <p:spPr bwMode="auto">
          <a:xfrm>
            <a:off x="5867400" y="3890963"/>
            <a:ext cx="4572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76892" name="AutoShape 60"/>
          <p:cNvCxnSpPr>
            <a:cxnSpLocks noChangeShapeType="1"/>
            <a:stCxn id="376874" idx="3"/>
            <a:endCxn id="376869" idx="1"/>
          </p:cNvCxnSpPr>
          <p:nvPr/>
        </p:nvCxnSpPr>
        <p:spPr bwMode="auto">
          <a:xfrm>
            <a:off x="3810000" y="4881563"/>
            <a:ext cx="304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76893" name="AutoShape 61"/>
          <p:cNvCxnSpPr>
            <a:cxnSpLocks noChangeShapeType="1"/>
            <a:stCxn id="376878" idx="3"/>
            <a:endCxn id="376881" idx="1"/>
          </p:cNvCxnSpPr>
          <p:nvPr/>
        </p:nvCxnSpPr>
        <p:spPr bwMode="auto">
          <a:xfrm>
            <a:off x="3276600" y="5948363"/>
            <a:ext cx="304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76894" name="AutoShape 62"/>
          <p:cNvCxnSpPr>
            <a:cxnSpLocks noChangeShapeType="1"/>
            <a:stCxn id="376870" idx="3"/>
            <a:endCxn id="376865" idx="1"/>
          </p:cNvCxnSpPr>
          <p:nvPr/>
        </p:nvCxnSpPr>
        <p:spPr bwMode="auto">
          <a:xfrm>
            <a:off x="4800600" y="4881563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76895" name="AutoShape 63"/>
          <p:cNvCxnSpPr>
            <a:cxnSpLocks noChangeShapeType="1"/>
            <a:stCxn id="376853" idx="2"/>
            <a:endCxn id="376860" idx="0"/>
          </p:cNvCxnSpPr>
          <p:nvPr/>
        </p:nvCxnSpPr>
        <p:spPr bwMode="auto">
          <a:xfrm>
            <a:off x="6496050" y="4048125"/>
            <a:ext cx="19050" cy="3714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76896" name="AutoShape 64"/>
          <p:cNvCxnSpPr>
            <a:cxnSpLocks noChangeShapeType="1"/>
            <a:stCxn id="376861" idx="2"/>
            <a:endCxn id="376884" idx="0"/>
          </p:cNvCxnSpPr>
          <p:nvPr/>
        </p:nvCxnSpPr>
        <p:spPr bwMode="auto">
          <a:xfrm flipH="1">
            <a:off x="6338888" y="5038725"/>
            <a:ext cx="4762" cy="4476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76897" name="AutoShape 65"/>
          <p:cNvCxnSpPr>
            <a:cxnSpLocks noChangeShapeType="1"/>
            <a:stCxn id="376862" idx="3"/>
            <a:endCxn id="376857" idx="1"/>
          </p:cNvCxnSpPr>
          <p:nvPr/>
        </p:nvCxnSpPr>
        <p:spPr bwMode="auto">
          <a:xfrm>
            <a:off x="6858000" y="4881563"/>
            <a:ext cx="4572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Tree Traversal</a:t>
            </a:r>
          </a:p>
        </p:txBody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752600"/>
            <a:ext cx="7239000" cy="3886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/>
              <a:t>Two main methods:</a:t>
            </a:r>
          </a:p>
          <a:p>
            <a:pPr lvl="1">
              <a:lnSpc>
                <a:spcPct val="90000"/>
              </a:lnSpc>
            </a:pPr>
            <a:r>
              <a:rPr lang="en-US" sz="1800">
                <a:solidFill>
                  <a:srgbClr val="FF3300"/>
                </a:solidFill>
              </a:rPr>
              <a:t>Pre</a:t>
            </a:r>
            <a:r>
              <a:rPr lang="en-US" sz="1800"/>
              <a:t>order</a:t>
            </a:r>
          </a:p>
          <a:p>
            <a:pPr lvl="1">
              <a:lnSpc>
                <a:spcPct val="90000"/>
              </a:lnSpc>
            </a:pPr>
            <a:r>
              <a:rPr lang="en-US" sz="1800">
                <a:solidFill>
                  <a:srgbClr val="FF3300"/>
                </a:solidFill>
              </a:rPr>
              <a:t>Post</a:t>
            </a:r>
            <a:r>
              <a:rPr lang="en-US" sz="1800"/>
              <a:t>order</a:t>
            </a:r>
          </a:p>
          <a:p>
            <a:pPr>
              <a:lnSpc>
                <a:spcPct val="90000"/>
              </a:lnSpc>
            </a:pPr>
            <a:r>
              <a:rPr lang="en-US" sz="2000"/>
              <a:t>Recursive definition</a:t>
            </a:r>
          </a:p>
          <a:p>
            <a:pPr>
              <a:lnSpc>
                <a:spcPct val="90000"/>
              </a:lnSpc>
            </a:pPr>
            <a:endParaRPr lang="en-US" sz="2000"/>
          </a:p>
          <a:p>
            <a:pPr>
              <a:lnSpc>
                <a:spcPct val="90000"/>
              </a:lnSpc>
            </a:pPr>
            <a:r>
              <a:rPr lang="en-US" sz="2000">
                <a:solidFill>
                  <a:srgbClr val="FF3300"/>
                </a:solidFill>
              </a:rPr>
              <a:t>Pre</a:t>
            </a:r>
            <a:r>
              <a:rPr lang="en-US" sz="2000"/>
              <a:t>order: 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visit the root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traverse in preorder the children (subtrees)</a:t>
            </a:r>
          </a:p>
          <a:p>
            <a:pPr lvl="1">
              <a:lnSpc>
                <a:spcPct val="90000"/>
              </a:lnSpc>
            </a:pPr>
            <a:endParaRPr lang="en-US" sz="1800"/>
          </a:p>
          <a:p>
            <a:pPr>
              <a:lnSpc>
                <a:spcPct val="90000"/>
              </a:lnSpc>
            </a:pPr>
            <a:r>
              <a:rPr lang="en-US" sz="2000">
                <a:solidFill>
                  <a:srgbClr val="FF3300"/>
                </a:solidFill>
              </a:rPr>
              <a:t>Post</a:t>
            </a:r>
            <a:r>
              <a:rPr lang="en-US" sz="2000"/>
              <a:t>order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traverse in postorder the children (subtrees)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visit the root</a:t>
            </a:r>
          </a:p>
          <a:p>
            <a:pPr lvl="1">
              <a:lnSpc>
                <a:spcPct val="90000"/>
              </a:lnSpc>
            </a:pPr>
            <a:endParaRPr 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Preorder Traversal</a:t>
            </a:r>
          </a:p>
        </p:txBody>
      </p:sp>
      <p:sp>
        <p:nvSpPr>
          <p:cNvPr id="378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4267200" cy="1962150"/>
          </a:xfrm>
        </p:spPr>
        <p:txBody>
          <a:bodyPr/>
          <a:lstStyle/>
          <a:p>
            <a:r>
              <a:rPr lang="en-US" sz="1800"/>
              <a:t>A traversal visits the nodes of a tree in a systematic manner</a:t>
            </a:r>
          </a:p>
          <a:p>
            <a:r>
              <a:rPr lang="en-US" sz="1800"/>
              <a:t>In a preorder traversal, a node is visited before its descendants </a:t>
            </a:r>
          </a:p>
          <a:p>
            <a:r>
              <a:rPr lang="en-US" sz="1800"/>
              <a:t>Application: print a structured document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57200" y="3733800"/>
            <a:ext cx="8267700" cy="2590800"/>
            <a:chOff x="288" y="2352"/>
            <a:chExt cx="5208" cy="1632"/>
          </a:xfrm>
        </p:grpSpPr>
        <p:sp>
          <p:nvSpPr>
            <p:cNvPr id="378885" name="AutoShape 5"/>
            <p:cNvSpPr>
              <a:spLocks noChangeAspect="1" noChangeArrowheads="1"/>
            </p:cNvSpPr>
            <p:nvPr/>
          </p:nvSpPr>
          <p:spPr bwMode="auto">
            <a:xfrm>
              <a:off x="2573" y="2496"/>
              <a:ext cx="869" cy="24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Become Rich</a:t>
              </a:r>
            </a:p>
          </p:txBody>
        </p:sp>
        <p:sp>
          <p:nvSpPr>
            <p:cNvPr id="378886" name="AutoShape 6"/>
            <p:cNvSpPr>
              <a:spLocks noChangeAspect="1" noChangeArrowheads="1"/>
            </p:cNvSpPr>
            <p:nvPr/>
          </p:nvSpPr>
          <p:spPr bwMode="auto">
            <a:xfrm>
              <a:off x="747" y="3072"/>
              <a:ext cx="936" cy="24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1. Motivations</a:t>
              </a:r>
            </a:p>
          </p:txBody>
        </p:sp>
        <p:sp>
          <p:nvSpPr>
            <p:cNvPr id="378887" name="AutoShape 7"/>
            <p:cNvSpPr>
              <a:spLocks noChangeAspect="1" noChangeArrowheads="1"/>
            </p:cNvSpPr>
            <p:nvPr/>
          </p:nvSpPr>
          <p:spPr bwMode="auto">
            <a:xfrm>
              <a:off x="4338" y="3072"/>
              <a:ext cx="1158" cy="24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3. Success Stories</a:t>
              </a:r>
            </a:p>
          </p:txBody>
        </p:sp>
        <p:sp>
          <p:nvSpPr>
            <p:cNvPr id="378888" name="AutoShape 8"/>
            <p:cNvSpPr>
              <a:spLocks noChangeAspect="1" noChangeArrowheads="1"/>
            </p:cNvSpPr>
            <p:nvPr/>
          </p:nvSpPr>
          <p:spPr bwMode="auto">
            <a:xfrm>
              <a:off x="3306" y="3072"/>
              <a:ext cx="772" cy="24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2. Methods</a:t>
              </a:r>
            </a:p>
          </p:txBody>
        </p:sp>
        <p:sp>
          <p:nvSpPr>
            <p:cNvPr id="378889" name="AutoShape 9"/>
            <p:cNvSpPr>
              <a:spLocks noChangeAspect="1" noChangeArrowheads="1"/>
            </p:cNvSpPr>
            <p:nvPr/>
          </p:nvSpPr>
          <p:spPr bwMode="auto">
            <a:xfrm>
              <a:off x="2322" y="3573"/>
              <a:ext cx="864" cy="41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2.1 Get a CS PhD</a:t>
              </a:r>
            </a:p>
          </p:txBody>
        </p:sp>
        <p:sp>
          <p:nvSpPr>
            <p:cNvPr id="378890" name="AutoShape 10"/>
            <p:cNvSpPr>
              <a:spLocks noChangeAspect="1" noChangeArrowheads="1"/>
            </p:cNvSpPr>
            <p:nvPr/>
          </p:nvSpPr>
          <p:spPr bwMode="auto">
            <a:xfrm>
              <a:off x="3297" y="3573"/>
              <a:ext cx="801" cy="41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2.2 </a:t>
              </a:r>
              <a:r>
                <a:rPr lang="en-US" sz="1600">
                  <a:latin typeface="Arial" charset="0"/>
                </a:rPr>
                <a:t>Start a Web Site </a:t>
              </a:r>
            </a:p>
          </p:txBody>
        </p:sp>
        <p:sp>
          <p:nvSpPr>
            <p:cNvPr id="378891" name="AutoShape 11"/>
            <p:cNvSpPr>
              <a:spLocks noChangeAspect="1" noChangeArrowheads="1"/>
            </p:cNvSpPr>
            <p:nvPr/>
          </p:nvSpPr>
          <p:spPr bwMode="auto">
            <a:xfrm>
              <a:off x="288" y="3558"/>
              <a:ext cx="746" cy="41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1.1 Enjoy Life</a:t>
              </a:r>
            </a:p>
          </p:txBody>
        </p:sp>
        <p:sp>
          <p:nvSpPr>
            <p:cNvPr id="378892" name="AutoShape 12"/>
            <p:cNvSpPr>
              <a:spLocks noChangeAspect="1" noChangeArrowheads="1"/>
            </p:cNvSpPr>
            <p:nvPr/>
          </p:nvSpPr>
          <p:spPr bwMode="auto">
            <a:xfrm>
              <a:off x="1266" y="3573"/>
              <a:ext cx="912" cy="41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1.2 Help Poor Friends</a:t>
              </a:r>
            </a:p>
          </p:txBody>
        </p:sp>
        <p:cxnSp>
          <p:nvCxnSpPr>
            <p:cNvPr id="378893" name="AutoShape 13"/>
            <p:cNvCxnSpPr>
              <a:cxnSpLocks noChangeShapeType="1"/>
              <a:stCxn id="378885" idx="2"/>
              <a:endCxn id="378886" idx="0"/>
            </p:cNvCxnSpPr>
            <p:nvPr/>
          </p:nvCxnSpPr>
          <p:spPr bwMode="auto">
            <a:xfrm flipH="1">
              <a:off x="1215" y="2743"/>
              <a:ext cx="1793" cy="32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78894" name="AutoShape 14"/>
            <p:cNvCxnSpPr>
              <a:cxnSpLocks noChangeShapeType="1"/>
              <a:stCxn id="378885" idx="2"/>
              <a:endCxn id="378888" idx="0"/>
            </p:cNvCxnSpPr>
            <p:nvPr/>
          </p:nvCxnSpPr>
          <p:spPr bwMode="auto">
            <a:xfrm>
              <a:off x="3008" y="2743"/>
              <a:ext cx="684" cy="32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78895" name="AutoShape 15"/>
            <p:cNvCxnSpPr>
              <a:cxnSpLocks noChangeShapeType="1"/>
              <a:stCxn id="378885" idx="2"/>
              <a:endCxn id="378887" idx="0"/>
            </p:cNvCxnSpPr>
            <p:nvPr/>
          </p:nvCxnSpPr>
          <p:spPr bwMode="auto">
            <a:xfrm>
              <a:off x="3008" y="2743"/>
              <a:ext cx="1909" cy="32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78896" name="AutoShape 16"/>
            <p:cNvCxnSpPr>
              <a:cxnSpLocks noChangeShapeType="1"/>
              <a:stCxn id="378888" idx="2"/>
              <a:endCxn id="378890" idx="0"/>
            </p:cNvCxnSpPr>
            <p:nvPr/>
          </p:nvCxnSpPr>
          <p:spPr bwMode="auto">
            <a:xfrm>
              <a:off x="3692" y="3319"/>
              <a:ext cx="6" cy="24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78897" name="AutoShape 17"/>
            <p:cNvCxnSpPr>
              <a:cxnSpLocks noChangeShapeType="1"/>
              <a:stCxn id="378888" idx="2"/>
              <a:endCxn id="378889" idx="0"/>
            </p:cNvCxnSpPr>
            <p:nvPr/>
          </p:nvCxnSpPr>
          <p:spPr bwMode="auto">
            <a:xfrm flipH="1">
              <a:off x="2754" y="3319"/>
              <a:ext cx="938" cy="24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78898" name="AutoShape 18"/>
            <p:cNvCxnSpPr>
              <a:cxnSpLocks noChangeShapeType="1"/>
              <a:stCxn id="378886" idx="2"/>
              <a:endCxn id="378892" idx="0"/>
            </p:cNvCxnSpPr>
            <p:nvPr/>
          </p:nvCxnSpPr>
          <p:spPr bwMode="auto">
            <a:xfrm>
              <a:off x="1215" y="3319"/>
              <a:ext cx="507" cy="24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78899" name="AutoShape 19"/>
            <p:cNvCxnSpPr>
              <a:cxnSpLocks noChangeShapeType="1"/>
              <a:stCxn id="378886" idx="2"/>
              <a:endCxn id="378891" idx="0"/>
            </p:cNvCxnSpPr>
            <p:nvPr/>
          </p:nvCxnSpPr>
          <p:spPr bwMode="auto">
            <a:xfrm flipH="1">
              <a:off x="661" y="3319"/>
              <a:ext cx="554" cy="23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378900" name="AutoShape 20"/>
            <p:cNvSpPr>
              <a:spLocks noChangeAspect="1" noChangeArrowheads="1"/>
            </p:cNvSpPr>
            <p:nvPr/>
          </p:nvSpPr>
          <p:spPr bwMode="auto">
            <a:xfrm>
              <a:off x="4186" y="3573"/>
              <a:ext cx="968" cy="41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2.3 </a:t>
              </a:r>
              <a:r>
                <a:rPr lang="en-US" sz="1600">
                  <a:latin typeface="Arial" charset="0"/>
                </a:rPr>
                <a:t>Acquired by Google</a:t>
              </a:r>
            </a:p>
          </p:txBody>
        </p:sp>
        <p:cxnSp>
          <p:nvCxnSpPr>
            <p:cNvPr id="378901" name="AutoShape 21"/>
            <p:cNvCxnSpPr>
              <a:cxnSpLocks noChangeShapeType="1"/>
              <a:stCxn id="378888" idx="2"/>
              <a:endCxn id="378900" idx="0"/>
            </p:cNvCxnSpPr>
            <p:nvPr/>
          </p:nvCxnSpPr>
          <p:spPr bwMode="auto">
            <a:xfrm>
              <a:off x="3692" y="3319"/>
              <a:ext cx="978" cy="24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378902" name="Text Box 22"/>
            <p:cNvSpPr txBox="1">
              <a:spLocks noChangeArrowheads="1"/>
            </p:cNvSpPr>
            <p:nvPr/>
          </p:nvSpPr>
          <p:spPr bwMode="auto">
            <a:xfrm>
              <a:off x="2322" y="2352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1</a:t>
              </a:r>
            </a:p>
          </p:txBody>
        </p:sp>
        <p:sp>
          <p:nvSpPr>
            <p:cNvPr id="378903" name="Text Box 23"/>
            <p:cNvSpPr txBox="1">
              <a:spLocks noChangeArrowheads="1"/>
            </p:cNvSpPr>
            <p:nvPr/>
          </p:nvSpPr>
          <p:spPr bwMode="auto">
            <a:xfrm>
              <a:off x="1093" y="2864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2</a:t>
              </a:r>
            </a:p>
          </p:txBody>
        </p:sp>
        <p:sp>
          <p:nvSpPr>
            <p:cNvPr id="378904" name="Text Box 24"/>
            <p:cNvSpPr txBox="1">
              <a:spLocks noChangeArrowheads="1"/>
            </p:cNvSpPr>
            <p:nvPr/>
          </p:nvSpPr>
          <p:spPr bwMode="auto">
            <a:xfrm>
              <a:off x="546" y="3312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3</a:t>
              </a:r>
            </a:p>
          </p:txBody>
        </p:sp>
        <p:sp>
          <p:nvSpPr>
            <p:cNvPr id="378905" name="Text Box 25"/>
            <p:cNvSpPr txBox="1">
              <a:spLocks noChangeArrowheads="1"/>
            </p:cNvSpPr>
            <p:nvPr/>
          </p:nvSpPr>
          <p:spPr bwMode="auto">
            <a:xfrm>
              <a:off x="3157" y="2864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5</a:t>
              </a:r>
            </a:p>
          </p:txBody>
        </p:sp>
        <p:sp>
          <p:nvSpPr>
            <p:cNvPr id="378906" name="Text Box 26"/>
            <p:cNvSpPr txBox="1">
              <a:spLocks noChangeArrowheads="1"/>
            </p:cNvSpPr>
            <p:nvPr/>
          </p:nvSpPr>
          <p:spPr bwMode="auto">
            <a:xfrm>
              <a:off x="1639" y="3360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4</a:t>
              </a:r>
            </a:p>
          </p:txBody>
        </p:sp>
        <p:sp>
          <p:nvSpPr>
            <p:cNvPr id="378907" name="Text Box 27"/>
            <p:cNvSpPr txBox="1">
              <a:spLocks noChangeArrowheads="1"/>
            </p:cNvSpPr>
            <p:nvPr/>
          </p:nvSpPr>
          <p:spPr bwMode="auto">
            <a:xfrm>
              <a:off x="2461" y="3332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6</a:t>
              </a:r>
            </a:p>
          </p:txBody>
        </p:sp>
        <p:sp>
          <p:nvSpPr>
            <p:cNvPr id="378908" name="Text Box 28"/>
            <p:cNvSpPr txBox="1">
              <a:spLocks noChangeArrowheads="1"/>
            </p:cNvSpPr>
            <p:nvPr/>
          </p:nvSpPr>
          <p:spPr bwMode="auto">
            <a:xfrm>
              <a:off x="3469" y="3332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7</a:t>
              </a:r>
            </a:p>
          </p:txBody>
        </p:sp>
        <p:sp>
          <p:nvSpPr>
            <p:cNvPr id="378909" name="Text Box 29"/>
            <p:cNvSpPr txBox="1">
              <a:spLocks noChangeArrowheads="1"/>
            </p:cNvSpPr>
            <p:nvPr/>
          </p:nvSpPr>
          <p:spPr bwMode="auto">
            <a:xfrm>
              <a:off x="4477" y="3332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8</a:t>
              </a:r>
            </a:p>
          </p:txBody>
        </p:sp>
        <p:sp>
          <p:nvSpPr>
            <p:cNvPr id="378910" name="Text Box 30"/>
            <p:cNvSpPr txBox="1">
              <a:spLocks noChangeArrowheads="1"/>
            </p:cNvSpPr>
            <p:nvPr/>
          </p:nvSpPr>
          <p:spPr bwMode="auto">
            <a:xfrm>
              <a:off x="4981" y="2864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9</a:t>
              </a:r>
            </a:p>
          </p:txBody>
        </p:sp>
      </p:grpSp>
      <p:sp>
        <p:nvSpPr>
          <p:cNvPr id="378911" name="Text Box 31"/>
          <p:cNvSpPr txBox="1">
            <a:spLocks noChangeArrowheads="1"/>
          </p:cNvSpPr>
          <p:nvPr/>
        </p:nvSpPr>
        <p:spPr bwMode="auto">
          <a:xfrm>
            <a:off x="5181600" y="1743075"/>
            <a:ext cx="3352800" cy="1381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000" b="1"/>
              <a:t>Algorithm</a:t>
            </a:r>
            <a:r>
              <a:rPr lang="en-US" sz="2000"/>
              <a:t> </a:t>
            </a:r>
            <a:r>
              <a:rPr lang="en-US" sz="2000" b="1" i="1"/>
              <a:t>preOrder</a:t>
            </a:r>
            <a:r>
              <a:rPr lang="en-US" sz="2000"/>
              <a:t>(</a:t>
            </a:r>
            <a:r>
              <a:rPr lang="en-US" sz="2000" b="1" i="1"/>
              <a:t>v</a:t>
            </a:r>
            <a:r>
              <a:rPr lang="en-US" sz="2000"/>
              <a:t>)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000" b="1" i="1"/>
              <a:t>visit</a:t>
            </a:r>
            <a:r>
              <a:rPr lang="en-US" sz="2000"/>
              <a:t>(</a:t>
            </a:r>
            <a:r>
              <a:rPr lang="en-US" sz="2000" b="1" i="1"/>
              <a:t>v</a:t>
            </a:r>
            <a:r>
              <a:rPr lang="en-US" sz="2000"/>
              <a:t>)</a:t>
            </a:r>
            <a:endParaRPr lang="en-US" sz="2000" b="1" i="1"/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000" b="1"/>
              <a:t>for</a:t>
            </a:r>
            <a:r>
              <a:rPr lang="en-US" sz="2000"/>
              <a:t> </a:t>
            </a:r>
            <a:r>
              <a:rPr lang="en-US" sz="2000" b="1"/>
              <a:t>each</a:t>
            </a:r>
            <a:r>
              <a:rPr lang="en-US" sz="2000"/>
              <a:t> child </a:t>
            </a:r>
            <a:r>
              <a:rPr lang="en-US" sz="2000" b="1" i="1"/>
              <a:t>w</a:t>
            </a:r>
            <a:r>
              <a:rPr lang="en-US" sz="2000"/>
              <a:t> of </a:t>
            </a:r>
            <a:r>
              <a:rPr lang="en-US" sz="2000" b="1" i="1"/>
              <a:t>v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000" b="1" i="1"/>
              <a:t>	preorder</a:t>
            </a:r>
            <a:r>
              <a:rPr lang="en-US" sz="2000"/>
              <a:t> (</a:t>
            </a:r>
            <a:r>
              <a:rPr lang="en-US" sz="2000" b="1" i="1"/>
              <a:t>w</a:t>
            </a:r>
            <a:r>
              <a:rPr lang="en-US" sz="200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Postorder Traversal</a:t>
            </a:r>
          </a:p>
        </p:txBody>
      </p:sp>
      <p:sp>
        <p:nvSpPr>
          <p:cNvPr id="379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4038600" cy="1831975"/>
          </a:xfrm>
        </p:spPr>
        <p:txBody>
          <a:bodyPr/>
          <a:lstStyle/>
          <a:p>
            <a:r>
              <a:rPr lang="en-US" sz="1800"/>
              <a:t>In a postorder traversal, a node is visited after its descendants</a:t>
            </a:r>
          </a:p>
          <a:p>
            <a:r>
              <a:rPr lang="en-US" sz="1800"/>
              <a:t>Application: compute space used by files in a directory and its subdirectories</a:t>
            </a:r>
          </a:p>
        </p:txBody>
      </p:sp>
      <p:sp>
        <p:nvSpPr>
          <p:cNvPr id="379908" name="Text Box 4"/>
          <p:cNvSpPr txBox="1">
            <a:spLocks noChangeArrowheads="1"/>
          </p:cNvSpPr>
          <p:nvPr/>
        </p:nvSpPr>
        <p:spPr bwMode="auto">
          <a:xfrm>
            <a:off x="5181600" y="1819275"/>
            <a:ext cx="3352800" cy="1381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000" b="1"/>
              <a:t>Algorithm</a:t>
            </a:r>
            <a:r>
              <a:rPr lang="en-US" sz="2000"/>
              <a:t> </a:t>
            </a:r>
            <a:r>
              <a:rPr lang="en-US" sz="2000" b="1" i="1"/>
              <a:t>postOrder</a:t>
            </a:r>
            <a:r>
              <a:rPr lang="en-US" sz="2000"/>
              <a:t>(</a:t>
            </a:r>
            <a:r>
              <a:rPr lang="en-US" sz="2000" b="1" i="1"/>
              <a:t>v</a:t>
            </a:r>
            <a:r>
              <a:rPr lang="en-US" sz="2000"/>
              <a:t>)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000" b="1"/>
              <a:t>for</a:t>
            </a:r>
            <a:r>
              <a:rPr lang="en-US" sz="2000"/>
              <a:t> </a:t>
            </a:r>
            <a:r>
              <a:rPr lang="en-US" sz="2000" b="1"/>
              <a:t>each</a:t>
            </a:r>
            <a:r>
              <a:rPr lang="en-US" sz="2000"/>
              <a:t> child </a:t>
            </a:r>
            <a:r>
              <a:rPr lang="en-US" sz="2000" b="1" i="1"/>
              <a:t>w</a:t>
            </a:r>
            <a:r>
              <a:rPr lang="en-US" sz="2000"/>
              <a:t> of </a:t>
            </a:r>
            <a:r>
              <a:rPr lang="en-US" sz="2000" b="1" i="1"/>
              <a:t>v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000" b="1" i="1"/>
              <a:t>	postOrder</a:t>
            </a:r>
            <a:r>
              <a:rPr lang="en-US" sz="2000"/>
              <a:t> (</a:t>
            </a:r>
            <a:r>
              <a:rPr lang="en-US" sz="2000" b="1" i="1"/>
              <a:t>w</a:t>
            </a:r>
            <a:r>
              <a:rPr lang="en-US" sz="2000"/>
              <a:t>)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000" b="1" i="1"/>
              <a:t>visit</a:t>
            </a:r>
            <a:r>
              <a:rPr lang="en-US" sz="2000"/>
              <a:t>(</a:t>
            </a:r>
            <a:r>
              <a:rPr lang="en-US" sz="2000" b="1" i="1"/>
              <a:t>v</a:t>
            </a:r>
            <a:r>
              <a:rPr lang="en-US" sz="2000"/>
              <a:t>)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846138" y="3505200"/>
            <a:ext cx="7793037" cy="2713038"/>
            <a:chOff x="533" y="2208"/>
            <a:chExt cx="4909" cy="1709"/>
          </a:xfrm>
        </p:grpSpPr>
        <p:sp>
          <p:nvSpPr>
            <p:cNvPr id="379910" name="AutoShape 6"/>
            <p:cNvSpPr>
              <a:spLocks noChangeAspect="1" noChangeArrowheads="1"/>
            </p:cNvSpPr>
            <p:nvPr/>
          </p:nvSpPr>
          <p:spPr bwMode="auto">
            <a:xfrm>
              <a:off x="2860" y="2352"/>
              <a:ext cx="451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cs16/</a:t>
              </a:r>
            </a:p>
          </p:txBody>
        </p:sp>
        <p:sp>
          <p:nvSpPr>
            <p:cNvPr id="379911" name="AutoShape 7"/>
            <p:cNvSpPr>
              <a:spLocks noChangeAspect="1" noChangeArrowheads="1"/>
            </p:cNvSpPr>
            <p:nvPr/>
          </p:nvSpPr>
          <p:spPr bwMode="auto">
            <a:xfrm>
              <a:off x="872" y="2928"/>
              <a:ext cx="847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homeworks/</a:t>
              </a:r>
            </a:p>
          </p:txBody>
        </p:sp>
        <p:sp>
          <p:nvSpPr>
            <p:cNvPr id="379912" name="AutoShape 8"/>
            <p:cNvSpPr>
              <a:spLocks noChangeAspect="1" noChangeArrowheads="1"/>
            </p:cNvSpPr>
            <p:nvPr/>
          </p:nvSpPr>
          <p:spPr bwMode="auto">
            <a:xfrm>
              <a:off x="4838" y="2843"/>
              <a:ext cx="604" cy="412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todo.txt</a:t>
              </a:r>
              <a:br>
                <a:rPr lang="en-US" sz="1600">
                  <a:latin typeface="Tahoma" pitchFamily="34" charset="0"/>
                </a:rPr>
              </a:br>
              <a:r>
                <a:rPr lang="en-US" sz="1600">
                  <a:latin typeface="Tahoma" pitchFamily="34" charset="0"/>
                </a:rPr>
                <a:t>1K</a:t>
              </a:r>
            </a:p>
          </p:txBody>
        </p:sp>
        <p:sp>
          <p:nvSpPr>
            <p:cNvPr id="379913" name="AutoShape 9"/>
            <p:cNvSpPr>
              <a:spLocks noChangeAspect="1" noChangeArrowheads="1"/>
            </p:cNvSpPr>
            <p:nvPr/>
          </p:nvSpPr>
          <p:spPr bwMode="auto">
            <a:xfrm>
              <a:off x="3405" y="2928"/>
              <a:ext cx="735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programs/</a:t>
              </a:r>
            </a:p>
          </p:txBody>
        </p:sp>
        <p:sp>
          <p:nvSpPr>
            <p:cNvPr id="379914" name="AutoShape 10"/>
            <p:cNvSpPr>
              <a:spLocks noChangeAspect="1" noChangeArrowheads="1"/>
            </p:cNvSpPr>
            <p:nvPr/>
          </p:nvSpPr>
          <p:spPr bwMode="auto">
            <a:xfrm>
              <a:off x="2448" y="3505"/>
              <a:ext cx="692" cy="412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DDR.java</a:t>
              </a:r>
              <a:br>
                <a:rPr lang="en-US" sz="1600">
                  <a:latin typeface="Tahoma" pitchFamily="34" charset="0"/>
                </a:rPr>
              </a:br>
              <a:r>
                <a:rPr lang="en-US" sz="1600">
                  <a:latin typeface="Tahoma" pitchFamily="34" charset="0"/>
                </a:rPr>
                <a:t>10K</a:t>
              </a:r>
            </a:p>
          </p:txBody>
        </p:sp>
        <p:sp>
          <p:nvSpPr>
            <p:cNvPr id="379915" name="AutoShape 11"/>
            <p:cNvSpPr>
              <a:spLocks noChangeAspect="1" noChangeArrowheads="1"/>
            </p:cNvSpPr>
            <p:nvPr/>
          </p:nvSpPr>
          <p:spPr bwMode="auto">
            <a:xfrm>
              <a:off x="3376" y="3505"/>
              <a:ext cx="803" cy="412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Stocks.java</a:t>
              </a:r>
              <a:br>
                <a:rPr lang="en-US" sz="1600">
                  <a:latin typeface="Tahoma" pitchFamily="34" charset="0"/>
                </a:rPr>
              </a:br>
              <a:r>
                <a:rPr lang="en-US" sz="1600">
                  <a:latin typeface="Tahoma" pitchFamily="34" charset="0"/>
                </a:rPr>
                <a:t>25K</a:t>
              </a:r>
            </a:p>
          </p:txBody>
        </p:sp>
        <p:sp>
          <p:nvSpPr>
            <p:cNvPr id="379916" name="AutoShape 12"/>
            <p:cNvSpPr>
              <a:spLocks noChangeAspect="1" noChangeArrowheads="1"/>
            </p:cNvSpPr>
            <p:nvPr/>
          </p:nvSpPr>
          <p:spPr bwMode="auto">
            <a:xfrm>
              <a:off x="533" y="3505"/>
              <a:ext cx="603" cy="412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h1c.doc</a:t>
              </a:r>
              <a:br>
                <a:rPr lang="en-US" sz="1600">
                  <a:latin typeface="Tahoma" pitchFamily="34" charset="0"/>
                </a:rPr>
              </a:br>
              <a:r>
                <a:rPr lang="en-US" sz="1600">
                  <a:latin typeface="Tahoma" pitchFamily="34" charset="0"/>
                </a:rPr>
                <a:t>3K</a:t>
              </a:r>
            </a:p>
          </p:txBody>
        </p:sp>
        <p:sp>
          <p:nvSpPr>
            <p:cNvPr id="379917" name="AutoShape 13"/>
            <p:cNvSpPr>
              <a:spLocks noChangeAspect="1" noChangeArrowheads="1"/>
            </p:cNvSpPr>
            <p:nvPr/>
          </p:nvSpPr>
          <p:spPr bwMode="auto">
            <a:xfrm>
              <a:off x="1466" y="3505"/>
              <a:ext cx="674" cy="412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h1nc.doc</a:t>
              </a:r>
              <a:br>
                <a:rPr lang="en-US" sz="1600">
                  <a:latin typeface="Tahoma" pitchFamily="34" charset="0"/>
                </a:rPr>
              </a:br>
              <a:r>
                <a:rPr lang="en-US" sz="1600">
                  <a:latin typeface="Tahoma" pitchFamily="34" charset="0"/>
                </a:rPr>
                <a:t>2K</a:t>
              </a:r>
            </a:p>
          </p:txBody>
        </p:sp>
        <p:cxnSp>
          <p:nvCxnSpPr>
            <p:cNvPr id="379918" name="AutoShape 14"/>
            <p:cNvCxnSpPr>
              <a:cxnSpLocks noChangeShapeType="1"/>
              <a:stCxn id="379910" idx="2"/>
              <a:endCxn id="379911" idx="0"/>
            </p:cNvCxnSpPr>
            <p:nvPr/>
          </p:nvCxnSpPr>
          <p:spPr bwMode="auto">
            <a:xfrm flipH="1">
              <a:off x="1296" y="2600"/>
              <a:ext cx="1790" cy="3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79919" name="AutoShape 15"/>
            <p:cNvCxnSpPr>
              <a:cxnSpLocks noChangeShapeType="1"/>
              <a:stCxn id="379910" idx="2"/>
              <a:endCxn id="379913" idx="0"/>
            </p:cNvCxnSpPr>
            <p:nvPr/>
          </p:nvCxnSpPr>
          <p:spPr bwMode="auto">
            <a:xfrm>
              <a:off x="3086" y="2600"/>
              <a:ext cx="687" cy="3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79920" name="AutoShape 16"/>
            <p:cNvCxnSpPr>
              <a:cxnSpLocks noChangeShapeType="1"/>
              <a:stCxn id="379910" idx="2"/>
              <a:endCxn id="379912" idx="0"/>
            </p:cNvCxnSpPr>
            <p:nvPr/>
          </p:nvCxnSpPr>
          <p:spPr bwMode="auto">
            <a:xfrm>
              <a:off x="3086" y="2600"/>
              <a:ext cx="2054" cy="23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79921" name="AutoShape 17"/>
            <p:cNvCxnSpPr>
              <a:cxnSpLocks noChangeShapeType="1"/>
              <a:stCxn id="379913" idx="2"/>
              <a:endCxn id="379915" idx="0"/>
            </p:cNvCxnSpPr>
            <p:nvPr/>
          </p:nvCxnSpPr>
          <p:spPr bwMode="auto">
            <a:xfrm>
              <a:off x="3773" y="3176"/>
              <a:ext cx="5" cy="32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79922" name="AutoShape 18"/>
            <p:cNvCxnSpPr>
              <a:cxnSpLocks noChangeShapeType="1"/>
              <a:stCxn id="379913" idx="2"/>
              <a:endCxn id="379914" idx="0"/>
            </p:cNvCxnSpPr>
            <p:nvPr/>
          </p:nvCxnSpPr>
          <p:spPr bwMode="auto">
            <a:xfrm flipH="1">
              <a:off x="2794" y="3176"/>
              <a:ext cx="979" cy="32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79923" name="AutoShape 19"/>
            <p:cNvCxnSpPr>
              <a:cxnSpLocks noChangeShapeType="1"/>
              <a:stCxn id="379911" idx="2"/>
              <a:endCxn id="379917" idx="0"/>
            </p:cNvCxnSpPr>
            <p:nvPr/>
          </p:nvCxnSpPr>
          <p:spPr bwMode="auto">
            <a:xfrm>
              <a:off x="1296" y="3176"/>
              <a:ext cx="507" cy="32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79924" name="AutoShape 20"/>
            <p:cNvCxnSpPr>
              <a:cxnSpLocks noChangeShapeType="1"/>
              <a:stCxn id="379911" idx="2"/>
              <a:endCxn id="379916" idx="0"/>
            </p:cNvCxnSpPr>
            <p:nvPr/>
          </p:nvCxnSpPr>
          <p:spPr bwMode="auto">
            <a:xfrm flipH="1">
              <a:off x="835" y="3176"/>
              <a:ext cx="461" cy="32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379925" name="AutoShape 21"/>
            <p:cNvSpPr>
              <a:spLocks noChangeAspect="1" noChangeArrowheads="1"/>
            </p:cNvSpPr>
            <p:nvPr/>
          </p:nvSpPr>
          <p:spPr bwMode="auto">
            <a:xfrm>
              <a:off x="4416" y="3504"/>
              <a:ext cx="768" cy="412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Tahoma" pitchFamily="34" charset="0"/>
                </a:rPr>
                <a:t>Robot.java</a:t>
              </a:r>
              <a:br>
                <a:rPr lang="en-US" sz="1600">
                  <a:latin typeface="Tahoma" pitchFamily="34" charset="0"/>
                </a:rPr>
              </a:br>
              <a:r>
                <a:rPr lang="en-US" sz="1600">
                  <a:latin typeface="Tahoma" pitchFamily="34" charset="0"/>
                </a:rPr>
                <a:t>20K</a:t>
              </a:r>
            </a:p>
          </p:txBody>
        </p:sp>
        <p:cxnSp>
          <p:nvCxnSpPr>
            <p:cNvPr id="379926" name="AutoShape 22"/>
            <p:cNvCxnSpPr>
              <a:cxnSpLocks noChangeShapeType="1"/>
              <a:stCxn id="379913" idx="2"/>
              <a:endCxn id="379925" idx="0"/>
            </p:cNvCxnSpPr>
            <p:nvPr/>
          </p:nvCxnSpPr>
          <p:spPr bwMode="auto">
            <a:xfrm>
              <a:off x="3773" y="3176"/>
              <a:ext cx="1027" cy="3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379927" name="Text Box 23"/>
            <p:cNvSpPr txBox="1">
              <a:spLocks noChangeArrowheads="1"/>
            </p:cNvSpPr>
            <p:nvPr/>
          </p:nvSpPr>
          <p:spPr bwMode="auto">
            <a:xfrm>
              <a:off x="2640" y="2208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9</a:t>
              </a:r>
            </a:p>
          </p:txBody>
        </p:sp>
        <p:sp>
          <p:nvSpPr>
            <p:cNvPr id="379928" name="Text Box 24"/>
            <p:cNvSpPr txBox="1">
              <a:spLocks noChangeArrowheads="1"/>
            </p:cNvSpPr>
            <p:nvPr/>
          </p:nvSpPr>
          <p:spPr bwMode="auto">
            <a:xfrm>
              <a:off x="1171" y="2720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3</a:t>
              </a:r>
            </a:p>
          </p:txBody>
        </p:sp>
        <p:sp>
          <p:nvSpPr>
            <p:cNvPr id="379929" name="Text Box 25"/>
            <p:cNvSpPr txBox="1">
              <a:spLocks noChangeArrowheads="1"/>
            </p:cNvSpPr>
            <p:nvPr/>
          </p:nvSpPr>
          <p:spPr bwMode="auto">
            <a:xfrm>
              <a:off x="709" y="3272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1</a:t>
              </a:r>
            </a:p>
          </p:txBody>
        </p:sp>
        <p:sp>
          <p:nvSpPr>
            <p:cNvPr id="379930" name="Text Box 26"/>
            <p:cNvSpPr txBox="1">
              <a:spLocks noChangeArrowheads="1"/>
            </p:cNvSpPr>
            <p:nvPr/>
          </p:nvSpPr>
          <p:spPr bwMode="auto">
            <a:xfrm>
              <a:off x="3264" y="2720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7</a:t>
              </a:r>
            </a:p>
          </p:txBody>
        </p:sp>
        <p:sp>
          <p:nvSpPr>
            <p:cNvPr id="379931" name="Text Box 27"/>
            <p:cNvSpPr txBox="1">
              <a:spLocks noChangeArrowheads="1"/>
            </p:cNvSpPr>
            <p:nvPr/>
          </p:nvSpPr>
          <p:spPr bwMode="auto">
            <a:xfrm>
              <a:off x="1717" y="3272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2</a:t>
              </a:r>
            </a:p>
          </p:txBody>
        </p:sp>
        <p:sp>
          <p:nvSpPr>
            <p:cNvPr id="379932" name="Text Box 28"/>
            <p:cNvSpPr txBox="1">
              <a:spLocks noChangeArrowheads="1"/>
            </p:cNvSpPr>
            <p:nvPr/>
          </p:nvSpPr>
          <p:spPr bwMode="auto">
            <a:xfrm>
              <a:off x="2539" y="3264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4</a:t>
              </a:r>
            </a:p>
          </p:txBody>
        </p:sp>
        <p:sp>
          <p:nvSpPr>
            <p:cNvPr id="379933" name="Text Box 29"/>
            <p:cNvSpPr txBox="1">
              <a:spLocks noChangeArrowheads="1"/>
            </p:cNvSpPr>
            <p:nvPr/>
          </p:nvSpPr>
          <p:spPr bwMode="auto">
            <a:xfrm>
              <a:off x="3547" y="3264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5</a:t>
              </a:r>
            </a:p>
          </p:txBody>
        </p:sp>
        <p:sp>
          <p:nvSpPr>
            <p:cNvPr id="379934" name="Text Box 30"/>
            <p:cNvSpPr txBox="1">
              <a:spLocks noChangeArrowheads="1"/>
            </p:cNvSpPr>
            <p:nvPr/>
          </p:nvSpPr>
          <p:spPr bwMode="auto">
            <a:xfrm>
              <a:off x="4716" y="3264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6</a:t>
              </a:r>
            </a:p>
          </p:txBody>
        </p:sp>
        <p:sp>
          <p:nvSpPr>
            <p:cNvPr id="379935" name="Text Box 31"/>
            <p:cNvSpPr txBox="1">
              <a:spLocks noChangeArrowheads="1"/>
            </p:cNvSpPr>
            <p:nvPr/>
          </p:nvSpPr>
          <p:spPr bwMode="auto">
            <a:xfrm>
              <a:off x="5059" y="2592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8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Tree</a:t>
            </a:r>
          </a:p>
        </p:txBody>
      </p:sp>
      <p:sp>
        <p:nvSpPr>
          <p:cNvPr id="380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4495800" cy="42672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800"/>
              <a:t>A binary tree is a tree with the following properties:</a:t>
            </a:r>
          </a:p>
          <a:p>
            <a:pPr lvl="1">
              <a:lnSpc>
                <a:spcPct val="80000"/>
              </a:lnSpc>
            </a:pPr>
            <a:r>
              <a:rPr lang="en-US" sz="1600"/>
              <a:t>Each internal node has at most two children (degree of two)</a:t>
            </a:r>
          </a:p>
          <a:p>
            <a:pPr lvl="1">
              <a:lnSpc>
                <a:spcPct val="80000"/>
              </a:lnSpc>
            </a:pPr>
            <a:r>
              <a:rPr lang="en-US" sz="1600"/>
              <a:t>The children of a node are an ordered pair</a:t>
            </a:r>
          </a:p>
          <a:p>
            <a:pPr lvl="1">
              <a:lnSpc>
                <a:spcPct val="80000"/>
              </a:lnSpc>
            </a:pPr>
            <a:endParaRPr lang="en-US" sz="1000"/>
          </a:p>
          <a:p>
            <a:pPr>
              <a:lnSpc>
                <a:spcPct val="80000"/>
              </a:lnSpc>
            </a:pPr>
            <a:r>
              <a:rPr lang="en-US" sz="1800"/>
              <a:t>We call the children of an internal node left child and right child</a:t>
            </a:r>
          </a:p>
          <a:p>
            <a:pPr>
              <a:lnSpc>
                <a:spcPct val="80000"/>
              </a:lnSpc>
            </a:pPr>
            <a:endParaRPr lang="en-US" sz="1000"/>
          </a:p>
          <a:p>
            <a:pPr>
              <a:lnSpc>
                <a:spcPct val="80000"/>
              </a:lnSpc>
            </a:pPr>
            <a:r>
              <a:rPr lang="en-US" sz="1800"/>
              <a:t>Alternative recursive definition: a binary tree is either</a:t>
            </a:r>
          </a:p>
          <a:p>
            <a:pPr lvl="1">
              <a:lnSpc>
                <a:spcPct val="80000"/>
              </a:lnSpc>
            </a:pPr>
            <a:r>
              <a:rPr lang="en-US" sz="1600"/>
              <a:t>a tree consisting of a single node, OR</a:t>
            </a:r>
          </a:p>
          <a:p>
            <a:pPr lvl="1">
              <a:lnSpc>
                <a:spcPct val="80000"/>
              </a:lnSpc>
            </a:pPr>
            <a:r>
              <a:rPr lang="en-US" sz="1600"/>
              <a:t>a tree whose root has an ordered pair of children, each of which is a binary tree</a:t>
            </a:r>
          </a:p>
        </p:txBody>
      </p:sp>
      <p:sp>
        <p:nvSpPr>
          <p:cNvPr id="380932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5181600" y="1752600"/>
            <a:ext cx="32766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Blip>
                <a:blip r:embed="rId3"/>
              </a:buBlip>
            </a:pPr>
            <a:r>
              <a:rPr lang="en-US" sz="1800">
                <a:latin typeface="Georgia" pitchFamily="18" charset="0"/>
              </a:rPr>
              <a:t>Applications: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SzPct val="75000"/>
              <a:buFontTx/>
              <a:buBlip>
                <a:blip r:embed="rId4"/>
              </a:buBlip>
            </a:pPr>
            <a:r>
              <a:rPr lang="en-US" sz="1600">
                <a:latin typeface="Georgia" pitchFamily="18" charset="0"/>
              </a:rPr>
              <a:t>arithmetic expressions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SzPct val="75000"/>
              <a:buFontTx/>
              <a:buBlip>
                <a:blip r:embed="rId4"/>
              </a:buBlip>
            </a:pPr>
            <a:r>
              <a:rPr lang="en-US" sz="1600">
                <a:latin typeface="Georgia" pitchFamily="18" charset="0"/>
              </a:rPr>
              <a:t>decision processes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SzPct val="75000"/>
              <a:buFontTx/>
              <a:buBlip>
                <a:blip r:embed="rId4"/>
              </a:buBlip>
            </a:pPr>
            <a:r>
              <a:rPr lang="en-US" sz="1600">
                <a:latin typeface="Georgia" pitchFamily="18" charset="0"/>
              </a:rPr>
              <a:t>searching</a:t>
            </a:r>
          </a:p>
        </p:txBody>
      </p:sp>
      <p:sp>
        <p:nvSpPr>
          <p:cNvPr id="380933" name="AutoShape 5"/>
          <p:cNvSpPr>
            <a:spLocks noChangeAspect="1" noChangeArrowheads="1"/>
          </p:cNvSpPr>
          <p:nvPr/>
        </p:nvSpPr>
        <p:spPr bwMode="auto">
          <a:xfrm>
            <a:off x="6924675" y="3117850"/>
            <a:ext cx="341313" cy="3778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Tahoma" pitchFamily="34" charset="0"/>
              </a:rPr>
              <a:t>A</a:t>
            </a:r>
          </a:p>
        </p:txBody>
      </p:sp>
      <p:sp>
        <p:nvSpPr>
          <p:cNvPr id="380934" name="AutoShape 6"/>
          <p:cNvSpPr>
            <a:spLocks noChangeAspect="1" noChangeArrowheads="1"/>
          </p:cNvSpPr>
          <p:nvPr/>
        </p:nvSpPr>
        <p:spPr bwMode="auto">
          <a:xfrm>
            <a:off x="5938838" y="4032250"/>
            <a:ext cx="338137" cy="3778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Tahoma" pitchFamily="34" charset="0"/>
              </a:rPr>
              <a:t>B</a:t>
            </a:r>
          </a:p>
        </p:txBody>
      </p:sp>
      <p:sp>
        <p:nvSpPr>
          <p:cNvPr id="380935" name="AutoShape 7"/>
          <p:cNvSpPr>
            <a:spLocks noChangeAspect="1" noChangeArrowheads="1"/>
          </p:cNvSpPr>
          <p:nvPr/>
        </p:nvSpPr>
        <p:spPr bwMode="auto">
          <a:xfrm>
            <a:off x="7905750" y="4030663"/>
            <a:ext cx="341313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Tahoma" pitchFamily="34" charset="0"/>
              </a:rPr>
              <a:t>C</a:t>
            </a:r>
          </a:p>
        </p:txBody>
      </p:sp>
      <p:sp>
        <p:nvSpPr>
          <p:cNvPr id="380936" name="AutoShape 8"/>
          <p:cNvSpPr>
            <a:spLocks noChangeAspect="1" noChangeArrowheads="1"/>
          </p:cNvSpPr>
          <p:nvPr/>
        </p:nvSpPr>
        <p:spPr bwMode="auto">
          <a:xfrm>
            <a:off x="7424738" y="4945063"/>
            <a:ext cx="322262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Tahoma" pitchFamily="34" charset="0"/>
              </a:rPr>
              <a:t>F</a:t>
            </a:r>
          </a:p>
        </p:txBody>
      </p:sp>
      <p:sp>
        <p:nvSpPr>
          <p:cNvPr id="380937" name="AutoShape 9"/>
          <p:cNvSpPr>
            <a:spLocks noChangeAspect="1" noChangeArrowheads="1"/>
          </p:cNvSpPr>
          <p:nvPr/>
        </p:nvSpPr>
        <p:spPr bwMode="auto">
          <a:xfrm>
            <a:off x="8407400" y="4945063"/>
            <a:ext cx="355600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Tahoma" pitchFamily="34" charset="0"/>
              </a:rPr>
              <a:t>G</a:t>
            </a:r>
          </a:p>
        </p:txBody>
      </p:sp>
      <p:sp>
        <p:nvSpPr>
          <p:cNvPr id="380938" name="AutoShape 10"/>
          <p:cNvSpPr>
            <a:spLocks noChangeAspect="1" noChangeArrowheads="1"/>
          </p:cNvSpPr>
          <p:nvPr/>
        </p:nvSpPr>
        <p:spPr bwMode="auto">
          <a:xfrm>
            <a:off x="5422900" y="4943475"/>
            <a:ext cx="357188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Tahoma" pitchFamily="34" charset="0"/>
              </a:rPr>
              <a:t>D</a:t>
            </a:r>
          </a:p>
        </p:txBody>
      </p:sp>
      <p:sp>
        <p:nvSpPr>
          <p:cNvPr id="380939" name="AutoShape 11"/>
          <p:cNvSpPr>
            <a:spLocks noChangeAspect="1" noChangeArrowheads="1"/>
          </p:cNvSpPr>
          <p:nvPr/>
        </p:nvSpPr>
        <p:spPr bwMode="auto">
          <a:xfrm>
            <a:off x="6450013" y="4945063"/>
            <a:ext cx="330200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Tahoma" pitchFamily="34" charset="0"/>
              </a:rPr>
              <a:t>E</a:t>
            </a:r>
          </a:p>
        </p:txBody>
      </p:sp>
      <p:cxnSp>
        <p:nvCxnSpPr>
          <p:cNvPr id="380940" name="AutoShape 12"/>
          <p:cNvCxnSpPr>
            <a:cxnSpLocks noChangeShapeType="1"/>
            <a:stCxn id="380933" idx="2"/>
            <a:endCxn id="380934" idx="0"/>
          </p:cNvCxnSpPr>
          <p:nvPr/>
        </p:nvCxnSpPr>
        <p:spPr bwMode="auto">
          <a:xfrm flipH="1">
            <a:off x="6108700" y="3505200"/>
            <a:ext cx="987425" cy="5175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380941" name="AutoShape 13"/>
          <p:cNvCxnSpPr>
            <a:cxnSpLocks noChangeShapeType="1"/>
            <a:stCxn id="380933" idx="2"/>
            <a:endCxn id="380935" idx="0"/>
          </p:cNvCxnSpPr>
          <p:nvPr/>
        </p:nvCxnSpPr>
        <p:spPr bwMode="auto">
          <a:xfrm>
            <a:off x="7096125" y="3505200"/>
            <a:ext cx="981075" cy="515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380942" name="AutoShape 14"/>
          <p:cNvCxnSpPr>
            <a:cxnSpLocks noChangeShapeType="1"/>
            <a:stCxn id="380935" idx="2"/>
            <a:endCxn id="380937" idx="0"/>
          </p:cNvCxnSpPr>
          <p:nvPr/>
        </p:nvCxnSpPr>
        <p:spPr bwMode="auto">
          <a:xfrm>
            <a:off x="8077200" y="4421188"/>
            <a:ext cx="508000" cy="514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380943" name="AutoShape 15"/>
          <p:cNvCxnSpPr>
            <a:cxnSpLocks noChangeShapeType="1"/>
            <a:stCxn id="380935" idx="2"/>
            <a:endCxn id="380936" idx="0"/>
          </p:cNvCxnSpPr>
          <p:nvPr/>
        </p:nvCxnSpPr>
        <p:spPr bwMode="auto">
          <a:xfrm flipH="1">
            <a:off x="7586663" y="4421188"/>
            <a:ext cx="490537" cy="514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380944" name="AutoShape 16"/>
          <p:cNvCxnSpPr>
            <a:cxnSpLocks noChangeShapeType="1"/>
            <a:stCxn id="380934" idx="2"/>
            <a:endCxn id="380939" idx="0"/>
          </p:cNvCxnSpPr>
          <p:nvPr/>
        </p:nvCxnSpPr>
        <p:spPr bwMode="auto">
          <a:xfrm>
            <a:off x="6108700" y="4419600"/>
            <a:ext cx="506413" cy="515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380945" name="AutoShape 17"/>
          <p:cNvCxnSpPr>
            <a:cxnSpLocks noChangeShapeType="1"/>
            <a:stCxn id="380934" idx="2"/>
            <a:endCxn id="380938" idx="0"/>
          </p:cNvCxnSpPr>
          <p:nvPr/>
        </p:nvCxnSpPr>
        <p:spPr bwMode="auto">
          <a:xfrm flipH="1">
            <a:off x="5602288" y="4419600"/>
            <a:ext cx="506412" cy="514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380946" name="AutoShape 18"/>
          <p:cNvSpPr>
            <a:spLocks noChangeAspect="1" noChangeArrowheads="1"/>
          </p:cNvSpPr>
          <p:nvPr/>
        </p:nvSpPr>
        <p:spPr bwMode="auto">
          <a:xfrm>
            <a:off x="6069013" y="5865813"/>
            <a:ext cx="355600" cy="3778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Tahoma" pitchFamily="34" charset="0"/>
              </a:rPr>
              <a:t>H</a:t>
            </a:r>
          </a:p>
        </p:txBody>
      </p:sp>
      <p:cxnSp>
        <p:nvCxnSpPr>
          <p:cNvPr id="380947" name="AutoShape 19"/>
          <p:cNvCxnSpPr>
            <a:cxnSpLocks noChangeShapeType="1"/>
            <a:stCxn id="380939" idx="2"/>
            <a:endCxn id="380946" idx="0"/>
          </p:cNvCxnSpPr>
          <p:nvPr/>
        </p:nvCxnSpPr>
        <p:spPr bwMode="auto">
          <a:xfrm flipH="1">
            <a:off x="6246813" y="5335588"/>
            <a:ext cx="368300" cy="5207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380948" name="AutoShape 20"/>
          <p:cNvSpPr>
            <a:spLocks noChangeAspect="1" noChangeArrowheads="1"/>
          </p:cNvSpPr>
          <p:nvPr/>
        </p:nvSpPr>
        <p:spPr bwMode="auto">
          <a:xfrm>
            <a:off x="6805613" y="5864225"/>
            <a:ext cx="288925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Tahoma" pitchFamily="34" charset="0"/>
              </a:rPr>
              <a:t>I</a:t>
            </a:r>
          </a:p>
        </p:txBody>
      </p:sp>
      <p:cxnSp>
        <p:nvCxnSpPr>
          <p:cNvPr id="380949" name="AutoShape 21"/>
          <p:cNvCxnSpPr>
            <a:cxnSpLocks noChangeShapeType="1"/>
            <a:stCxn id="380939" idx="2"/>
            <a:endCxn id="380948" idx="0"/>
          </p:cNvCxnSpPr>
          <p:nvPr/>
        </p:nvCxnSpPr>
        <p:spPr bwMode="auto">
          <a:xfrm>
            <a:off x="6615113" y="5335588"/>
            <a:ext cx="334962" cy="519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BinaryTree ADT</a:t>
            </a:r>
          </a:p>
        </p:txBody>
      </p:sp>
      <p:sp>
        <p:nvSpPr>
          <p:cNvPr id="3819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73138" y="1371600"/>
            <a:ext cx="3598862" cy="4445000"/>
          </a:xfrm>
        </p:spPr>
        <p:txBody>
          <a:bodyPr/>
          <a:lstStyle/>
          <a:p>
            <a:r>
              <a:rPr lang="en-US" sz="2000"/>
              <a:t>The BinaryTree ADT extends the Tree ADT, i.e., it inherits all the methods of the Tree ADT</a:t>
            </a:r>
          </a:p>
          <a:p>
            <a:r>
              <a:rPr lang="en-US" sz="2000"/>
              <a:t>Additional methods:</a:t>
            </a:r>
          </a:p>
          <a:p>
            <a:pPr lvl="1"/>
            <a:r>
              <a:rPr lang="en-US" sz="1800"/>
              <a:t>position </a:t>
            </a:r>
            <a:r>
              <a:rPr lang="en-US" sz="1800">
                <a:solidFill>
                  <a:schemeClr val="tx2"/>
                </a:solidFill>
              </a:rPr>
              <a:t>leftChild</a:t>
            </a:r>
            <a:r>
              <a:rPr lang="en-US" sz="1800"/>
              <a:t>(p)</a:t>
            </a:r>
          </a:p>
          <a:p>
            <a:pPr lvl="1"/>
            <a:r>
              <a:rPr lang="en-US" sz="1800"/>
              <a:t>position </a:t>
            </a:r>
            <a:r>
              <a:rPr lang="en-US" sz="1800">
                <a:solidFill>
                  <a:schemeClr val="tx2"/>
                </a:solidFill>
              </a:rPr>
              <a:t>rightChild</a:t>
            </a:r>
            <a:r>
              <a:rPr lang="en-US" sz="1800"/>
              <a:t>(p)</a:t>
            </a:r>
          </a:p>
          <a:p>
            <a:pPr lvl="1"/>
            <a:r>
              <a:rPr lang="en-US" sz="1800"/>
              <a:t>position </a:t>
            </a:r>
            <a:r>
              <a:rPr lang="en-US" sz="1800">
                <a:solidFill>
                  <a:schemeClr val="tx2"/>
                </a:solidFill>
              </a:rPr>
              <a:t>sibling</a:t>
            </a:r>
            <a:r>
              <a:rPr lang="en-US" sz="1800"/>
              <a:t>(p)</a:t>
            </a:r>
          </a:p>
        </p:txBody>
      </p:sp>
      <p:sp>
        <p:nvSpPr>
          <p:cNvPr id="38195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716463" y="1371600"/>
            <a:ext cx="3597275" cy="4445000"/>
          </a:xfrm>
        </p:spPr>
        <p:txBody>
          <a:bodyPr/>
          <a:lstStyle/>
          <a:p>
            <a:r>
              <a:rPr lang="en-US" sz="2000"/>
              <a:t>Update methods may be defined by data structures implementing the BinaryTree ADT</a:t>
            </a:r>
          </a:p>
          <a:p>
            <a:endParaRPr lang="en-US" sz="2000"/>
          </a:p>
          <a:p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/>
          <p:cNvSpPr>
            <a:spLocks noChangeArrowheads="1"/>
          </p:cNvSpPr>
          <p:nvPr/>
        </p:nvSpPr>
        <p:spPr bwMode="auto">
          <a:xfrm>
            <a:off x="533400" y="381000"/>
            <a:ext cx="7620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r>
              <a:rPr lang="en-US" altLang="zh-TW" sz="4000" i="1" dirty="0">
                <a:latin typeface="Georgia" pitchFamily="18" charset="0"/>
                <a:ea typeface="新細明體" pitchFamily="18" charset="-120"/>
              </a:rPr>
              <a:t>Examples of the Binary Tree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343400" y="1676400"/>
            <a:ext cx="4425950" cy="4495800"/>
            <a:chOff x="2688" y="1350"/>
            <a:chExt cx="2836" cy="2897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4263" y="1680"/>
              <a:ext cx="360" cy="359"/>
              <a:chOff x="4229" y="1348"/>
              <a:chExt cx="360" cy="359"/>
            </a:xfrm>
          </p:grpSpPr>
          <p:sp>
            <p:nvSpPr>
              <p:cNvPr id="382981" name="Oval 5"/>
              <p:cNvSpPr>
                <a:spLocks noChangeArrowheads="1"/>
              </p:cNvSpPr>
              <p:nvPr/>
            </p:nvSpPr>
            <p:spPr bwMode="auto">
              <a:xfrm>
                <a:off x="4229" y="1348"/>
                <a:ext cx="360" cy="359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2982" name="Rectangle 6"/>
              <p:cNvSpPr>
                <a:spLocks noChangeArrowheads="1"/>
              </p:cNvSpPr>
              <p:nvPr/>
            </p:nvSpPr>
            <p:spPr bwMode="auto">
              <a:xfrm>
                <a:off x="4298" y="1401"/>
                <a:ext cx="204" cy="2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kumimoji="1" lang="en-US" altLang="zh-TW">
                    <a:ea typeface="新細明體" pitchFamily="18" charset="-120"/>
                  </a:rPr>
                  <a:t>A</a:t>
                </a:r>
              </a:p>
            </p:txBody>
          </p:sp>
        </p:grpSp>
        <p:grpSp>
          <p:nvGrpSpPr>
            <p:cNvPr id="4" name="Group 7"/>
            <p:cNvGrpSpPr>
              <a:grpSpLocks/>
            </p:cNvGrpSpPr>
            <p:nvPr/>
          </p:nvGrpSpPr>
          <p:grpSpPr bwMode="auto">
            <a:xfrm>
              <a:off x="3652" y="2399"/>
              <a:ext cx="360" cy="359"/>
              <a:chOff x="3618" y="2067"/>
              <a:chExt cx="360" cy="359"/>
            </a:xfrm>
          </p:grpSpPr>
          <p:sp>
            <p:nvSpPr>
              <p:cNvPr id="382984" name="Oval 8"/>
              <p:cNvSpPr>
                <a:spLocks noChangeArrowheads="1"/>
              </p:cNvSpPr>
              <p:nvPr/>
            </p:nvSpPr>
            <p:spPr bwMode="auto">
              <a:xfrm>
                <a:off x="3618" y="2067"/>
                <a:ext cx="360" cy="359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2985" name="Rectangle 9"/>
              <p:cNvSpPr>
                <a:spLocks noChangeArrowheads="1"/>
              </p:cNvSpPr>
              <p:nvPr/>
            </p:nvSpPr>
            <p:spPr bwMode="auto">
              <a:xfrm>
                <a:off x="3687" y="2120"/>
                <a:ext cx="199" cy="2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kumimoji="1" lang="en-US" altLang="zh-TW">
                    <a:ea typeface="新細明體" pitchFamily="18" charset="-120"/>
                  </a:rPr>
                  <a:t>B</a:t>
                </a:r>
              </a:p>
            </p:txBody>
          </p:sp>
        </p:grpSp>
        <p:sp>
          <p:nvSpPr>
            <p:cNvPr id="382986" name="Line 10"/>
            <p:cNvSpPr>
              <a:spLocks noChangeShapeType="1"/>
            </p:cNvSpPr>
            <p:nvPr/>
          </p:nvSpPr>
          <p:spPr bwMode="auto">
            <a:xfrm flipH="1">
              <a:off x="3840" y="1989"/>
              <a:ext cx="482" cy="4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4843" y="2420"/>
              <a:ext cx="360" cy="359"/>
              <a:chOff x="4809" y="2088"/>
              <a:chExt cx="360" cy="359"/>
            </a:xfrm>
          </p:grpSpPr>
          <p:sp>
            <p:nvSpPr>
              <p:cNvPr id="382988" name="Oval 12"/>
              <p:cNvSpPr>
                <a:spLocks noChangeArrowheads="1"/>
              </p:cNvSpPr>
              <p:nvPr/>
            </p:nvSpPr>
            <p:spPr bwMode="auto">
              <a:xfrm>
                <a:off x="4809" y="2088"/>
                <a:ext cx="360" cy="359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2989" name="Rectangle 13"/>
              <p:cNvSpPr>
                <a:spLocks noChangeArrowheads="1"/>
              </p:cNvSpPr>
              <p:nvPr/>
            </p:nvSpPr>
            <p:spPr bwMode="auto">
              <a:xfrm>
                <a:off x="4878" y="2141"/>
                <a:ext cx="198" cy="2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kumimoji="1" lang="en-US" altLang="zh-TW">
                    <a:ea typeface="新細明體" pitchFamily="18" charset="-120"/>
                  </a:rPr>
                  <a:t>C</a:t>
                </a:r>
              </a:p>
            </p:txBody>
          </p:sp>
        </p:grpSp>
        <p:grpSp>
          <p:nvGrpSpPr>
            <p:cNvPr id="6" name="Group 14"/>
            <p:cNvGrpSpPr>
              <a:grpSpLocks/>
            </p:cNvGrpSpPr>
            <p:nvPr/>
          </p:nvGrpSpPr>
          <p:grpSpPr bwMode="auto">
            <a:xfrm>
              <a:off x="5164" y="3096"/>
              <a:ext cx="360" cy="359"/>
              <a:chOff x="5130" y="2764"/>
              <a:chExt cx="360" cy="359"/>
            </a:xfrm>
          </p:grpSpPr>
          <p:sp>
            <p:nvSpPr>
              <p:cNvPr id="382991" name="Oval 15"/>
              <p:cNvSpPr>
                <a:spLocks noChangeArrowheads="1"/>
              </p:cNvSpPr>
              <p:nvPr/>
            </p:nvSpPr>
            <p:spPr bwMode="auto">
              <a:xfrm>
                <a:off x="5130" y="2764"/>
                <a:ext cx="360" cy="359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2992" name="Rectangle 16"/>
              <p:cNvSpPr>
                <a:spLocks noChangeArrowheads="1"/>
              </p:cNvSpPr>
              <p:nvPr/>
            </p:nvSpPr>
            <p:spPr bwMode="auto">
              <a:xfrm>
                <a:off x="5199" y="2817"/>
                <a:ext cx="213" cy="2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kumimoji="1" lang="en-US" altLang="zh-TW">
                    <a:ea typeface="新細明體" pitchFamily="18" charset="-120"/>
                  </a:rPr>
                  <a:t>G</a:t>
                </a:r>
              </a:p>
            </p:txBody>
          </p:sp>
        </p:grpSp>
        <p:sp>
          <p:nvSpPr>
            <p:cNvPr id="382993" name="Line 17"/>
            <p:cNvSpPr>
              <a:spLocks noChangeShapeType="1"/>
            </p:cNvSpPr>
            <p:nvPr/>
          </p:nvSpPr>
          <p:spPr bwMode="auto">
            <a:xfrm>
              <a:off x="5127" y="2772"/>
              <a:ext cx="181" cy="3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" name="Group 18"/>
            <p:cNvGrpSpPr>
              <a:grpSpLocks/>
            </p:cNvGrpSpPr>
            <p:nvPr/>
          </p:nvGrpSpPr>
          <p:grpSpPr bwMode="auto">
            <a:xfrm>
              <a:off x="3985" y="3127"/>
              <a:ext cx="360" cy="359"/>
              <a:chOff x="3951" y="2795"/>
              <a:chExt cx="360" cy="359"/>
            </a:xfrm>
          </p:grpSpPr>
          <p:sp>
            <p:nvSpPr>
              <p:cNvPr id="382995" name="Oval 19"/>
              <p:cNvSpPr>
                <a:spLocks noChangeArrowheads="1"/>
              </p:cNvSpPr>
              <p:nvPr/>
            </p:nvSpPr>
            <p:spPr bwMode="auto">
              <a:xfrm>
                <a:off x="3951" y="2795"/>
                <a:ext cx="360" cy="359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2996" name="Rectangle 20"/>
              <p:cNvSpPr>
                <a:spLocks noChangeArrowheads="1"/>
              </p:cNvSpPr>
              <p:nvPr/>
            </p:nvSpPr>
            <p:spPr bwMode="auto">
              <a:xfrm>
                <a:off x="4020" y="2848"/>
                <a:ext cx="191" cy="2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kumimoji="1" lang="en-US" altLang="zh-TW">
                    <a:ea typeface="新細明體" pitchFamily="18" charset="-120"/>
                  </a:rPr>
                  <a:t>E</a:t>
                </a:r>
              </a:p>
            </p:txBody>
          </p:sp>
        </p:grpSp>
        <p:grpSp>
          <p:nvGrpSpPr>
            <p:cNvPr id="8" name="Group 21"/>
            <p:cNvGrpSpPr>
              <a:grpSpLocks/>
            </p:cNvGrpSpPr>
            <p:nvPr/>
          </p:nvGrpSpPr>
          <p:grpSpPr bwMode="auto">
            <a:xfrm>
              <a:off x="3696" y="3888"/>
              <a:ext cx="360" cy="359"/>
              <a:chOff x="3662" y="3556"/>
              <a:chExt cx="360" cy="359"/>
            </a:xfrm>
          </p:grpSpPr>
          <p:sp>
            <p:nvSpPr>
              <p:cNvPr id="382998" name="Oval 22"/>
              <p:cNvSpPr>
                <a:spLocks noChangeArrowheads="1"/>
              </p:cNvSpPr>
              <p:nvPr/>
            </p:nvSpPr>
            <p:spPr bwMode="auto">
              <a:xfrm>
                <a:off x="3662" y="3556"/>
                <a:ext cx="360" cy="359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2999" name="Rectangle 23"/>
              <p:cNvSpPr>
                <a:spLocks noChangeArrowheads="1"/>
              </p:cNvSpPr>
              <p:nvPr/>
            </p:nvSpPr>
            <p:spPr bwMode="auto">
              <a:xfrm>
                <a:off x="3731" y="3609"/>
                <a:ext cx="156" cy="2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kumimoji="1" lang="en-US" altLang="zh-TW">
                    <a:ea typeface="新細明體" pitchFamily="18" charset="-120"/>
                  </a:rPr>
                  <a:t>I</a:t>
                </a:r>
              </a:p>
            </p:txBody>
          </p:sp>
        </p:grpSp>
        <p:sp>
          <p:nvSpPr>
            <p:cNvPr id="383000" name="Line 24"/>
            <p:cNvSpPr>
              <a:spLocks noChangeShapeType="1"/>
            </p:cNvSpPr>
            <p:nvPr/>
          </p:nvSpPr>
          <p:spPr bwMode="auto">
            <a:xfrm>
              <a:off x="3605" y="3499"/>
              <a:ext cx="267" cy="3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9" name="Group 25"/>
            <p:cNvGrpSpPr>
              <a:grpSpLocks/>
            </p:cNvGrpSpPr>
            <p:nvPr/>
          </p:nvGrpSpPr>
          <p:grpSpPr bwMode="auto">
            <a:xfrm>
              <a:off x="3362" y="3116"/>
              <a:ext cx="360" cy="359"/>
              <a:chOff x="3328" y="2784"/>
              <a:chExt cx="360" cy="359"/>
            </a:xfrm>
          </p:grpSpPr>
          <p:sp>
            <p:nvSpPr>
              <p:cNvPr id="383002" name="Oval 26"/>
              <p:cNvSpPr>
                <a:spLocks noChangeArrowheads="1"/>
              </p:cNvSpPr>
              <p:nvPr/>
            </p:nvSpPr>
            <p:spPr bwMode="auto">
              <a:xfrm>
                <a:off x="3328" y="2784"/>
                <a:ext cx="360" cy="359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3003" name="Rectangle 27"/>
              <p:cNvSpPr>
                <a:spLocks noChangeArrowheads="1"/>
              </p:cNvSpPr>
              <p:nvPr/>
            </p:nvSpPr>
            <p:spPr bwMode="auto">
              <a:xfrm>
                <a:off x="3397" y="2837"/>
                <a:ext cx="211" cy="2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kumimoji="1" lang="en-US" altLang="zh-TW">
                    <a:ea typeface="新細明體" pitchFamily="18" charset="-120"/>
                  </a:rPr>
                  <a:t>D</a:t>
                </a:r>
              </a:p>
            </p:txBody>
          </p:sp>
        </p:grpSp>
        <p:grpSp>
          <p:nvGrpSpPr>
            <p:cNvPr id="10" name="Group 28"/>
            <p:cNvGrpSpPr>
              <a:grpSpLocks/>
            </p:cNvGrpSpPr>
            <p:nvPr/>
          </p:nvGrpSpPr>
          <p:grpSpPr bwMode="auto">
            <a:xfrm>
              <a:off x="3009" y="3865"/>
              <a:ext cx="360" cy="359"/>
              <a:chOff x="2975" y="3533"/>
              <a:chExt cx="360" cy="359"/>
            </a:xfrm>
          </p:grpSpPr>
          <p:sp>
            <p:nvSpPr>
              <p:cNvPr id="383005" name="Oval 29"/>
              <p:cNvSpPr>
                <a:spLocks noChangeArrowheads="1"/>
              </p:cNvSpPr>
              <p:nvPr/>
            </p:nvSpPr>
            <p:spPr bwMode="auto">
              <a:xfrm>
                <a:off x="2975" y="3533"/>
                <a:ext cx="360" cy="359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3006" name="Rectangle 30"/>
              <p:cNvSpPr>
                <a:spLocks noChangeArrowheads="1"/>
              </p:cNvSpPr>
              <p:nvPr/>
            </p:nvSpPr>
            <p:spPr bwMode="auto">
              <a:xfrm>
                <a:off x="3044" y="3586"/>
                <a:ext cx="255" cy="2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/>
                <a:r>
                  <a:rPr kumimoji="1" lang="en-US" altLang="zh-TW">
                    <a:ea typeface="新細明體" pitchFamily="18" charset="-120"/>
                  </a:rPr>
                  <a:t>H</a:t>
                </a:r>
              </a:p>
            </p:txBody>
          </p:sp>
        </p:grpSp>
        <p:grpSp>
          <p:nvGrpSpPr>
            <p:cNvPr id="11" name="Group 31"/>
            <p:cNvGrpSpPr>
              <a:grpSpLocks/>
            </p:cNvGrpSpPr>
            <p:nvPr/>
          </p:nvGrpSpPr>
          <p:grpSpPr bwMode="auto">
            <a:xfrm>
              <a:off x="4552" y="3095"/>
              <a:ext cx="360" cy="359"/>
              <a:chOff x="4518" y="2763"/>
              <a:chExt cx="360" cy="359"/>
            </a:xfrm>
          </p:grpSpPr>
          <p:sp>
            <p:nvSpPr>
              <p:cNvPr id="383008" name="Oval 32"/>
              <p:cNvSpPr>
                <a:spLocks noChangeArrowheads="1"/>
              </p:cNvSpPr>
              <p:nvPr/>
            </p:nvSpPr>
            <p:spPr bwMode="auto">
              <a:xfrm>
                <a:off x="4518" y="2763"/>
                <a:ext cx="360" cy="359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3009" name="Rectangle 33"/>
              <p:cNvSpPr>
                <a:spLocks noChangeArrowheads="1"/>
              </p:cNvSpPr>
              <p:nvPr/>
            </p:nvSpPr>
            <p:spPr bwMode="auto">
              <a:xfrm>
                <a:off x="4587" y="2816"/>
                <a:ext cx="187" cy="2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kumimoji="1" lang="en-US" altLang="zh-TW">
                    <a:ea typeface="新細明體" pitchFamily="18" charset="-120"/>
                  </a:rPr>
                  <a:t>F</a:t>
                </a:r>
              </a:p>
            </p:txBody>
          </p:sp>
        </p:grpSp>
        <p:sp>
          <p:nvSpPr>
            <p:cNvPr id="383010" name="Line 34"/>
            <p:cNvSpPr>
              <a:spLocks noChangeShapeType="1"/>
            </p:cNvSpPr>
            <p:nvPr/>
          </p:nvSpPr>
          <p:spPr bwMode="auto">
            <a:xfrm flipH="1">
              <a:off x="4719" y="2771"/>
              <a:ext cx="203" cy="3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3011" name="Line 35"/>
            <p:cNvSpPr>
              <a:spLocks noChangeShapeType="1"/>
            </p:cNvSpPr>
            <p:nvPr/>
          </p:nvSpPr>
          <p:spPr bwMode="auto">
            <a:xfrm>
              <a:off x="3894" y="2739"/>
              <a:ext cx="235" cy="3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3012" name="Line 36"/>
            <p:cNvSpPr>
              <a:spLocks noChangeShapeType="1"/>
            </p:cNvSpPr>
            <p:nvPr/>
          </p:nvSpPr>
          <p:spPr bwMode="auto">
            <a:xfrm flipH="1">
              <a:off x="3529" y="2728"/>
              <a:ext cx="204" cy="3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3013" name="Line 37"/>
            <p:cNvSpPr>
              <a:spLocks noChangeShapeType="1"/>
            </p:cNvSpPr>
            <p:nvPr/>
          </p:nvSpPr>
          <p:spPr bwMode="auto">
            <a:xfrm flipH="1">
              <a:off x="3186" y="3488"/>
              <a:ext cx="268" cy="3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3014" name="Line 38"/>
            <p:cNvSpPr>
              <a:spLocks noChangeShapeType="1"/>
            </p:cNvSpPr>
            <p:nvPr/>
          </p:nvSpPr>
          <p:spPr bwMode="auto">
            <a:xfrm>
              <a:off x="4558" y="2000"/>
              <a:ext cx="450" cy="4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3015" name="Rectangle 39"/>
            <p:cNvSpPr>
              <a:spLocks noChangeArrowheads="1"/>
            </p:cNvSpPr>
            <p:nvPr/>
          </p:nvSpPr>
          <p:spPr bwMode="auto">
            <a:xfrm>
              <a:off x="3568" y="1350"/>
              <a:ext cx="1411" cy="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en-US" altLang="zh-TW">
                  <a:ea typeface="新細明體" pitchFamily="18" charset="-120"/>
                </a:rPr>
                <a:t>Complete Binary Tree</a:t>
              </a:r>
            </a:p>
          </p:txBody>
        </p:sp>
        <p:sp>
          <p:nvSpPr>
            <p:cNvPr id="383016" name="Text Box 40"/>
            <p:cNvSpPr txBox="1">
              <a:spLocks noChangeArrowheads="1"/>
            </p:cNvSpPr>
            <p:nvPr/>
          </p:nvSpPr>
          <p:spPr bwMode="auto">
            <a:xfrm>
              <a:off x="3052" y="1726"/>
              <a:ext cx="193" cy="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TW">
                  <a:ea typeface="新細明體" pitchFamily="18" charset="-120"/>
                </a:rPr>
                <a:t>1</a:t>
              </a:r>
            </a:p>
          </p:txBody>
        </p:sp>
        <p:sp>
          <p:nvSpPr>
            <p:cNvPr id="383017" name="Text Box 41"/>
            <p:cNvSpPr txBox="1">
              <a:spLocks noChangeArrowheads="1"/>
            </p:cNvSpPr>
            <p:nvPr/>
          </p:nvSpPr>
          <p:spPr bwMode="auto">
            <a:xfrm>
              <a:off x="3078" y="2374"/>
              <a:ext cx="193" cy="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en-US" altLang="zh-TW">
                  <a:ea typeface="新細明體" pitchFamily="18" charset="-120"/>
                </a:rPr>
                <a:t>2</a:t>
              </a:r>
            </a:p>
          </p:txBody>
        </p:sp>
        <p:sp>
          <p:nvSpPr>
            <p:cNvPr id="383018" name="Text Box 42"/>
            <p:cNvSpPr txBox="1">
              <a:spLocks noChangeArrowheads="1"/>
            </p:cNvSpPr>
            <p:nvPr/>
          </p:nvSpPr>
          <p:spPr bwMode="auto">
            <a:xfrm>
              <a:off x="3078" y="3118"/>
              <a:ext cx="193" cy="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en-US" altLang="zh-TW">
                  <a:ea typeface="新細明體" pitchFamily="18" charset="-120"/>
                </a:rPr>
                <a:t>3</a:t>
              </a:r>
            </a:p>
          </p:txBody>
        </p:sp>
        <p:sp>
          <p:nvSpPr>
            <p:cNvPr id="383019" name="Text Box 43"/>
            <p:cNvSpPr txBox="1">
              <a:spLocks noChangeArrowheads="1"/>
            </p:cNvSpPr>
            <p:nvPr/>
          </p:nvSpPr>
          <p:spPr bwMode="auto">
            <a:xfrm>
              <a:off x="2688" y="3936"/>
              <a:ext cx="193" cy="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en-US" altLang="zh-TW">
                  <a:ea typeface="新細明體" pitchFamily="18" charset="-120"/>
                </a:rPr>
                <a:t>4</a:t>
              </a:r>
            </a:p>
          </p:txBody>
        </p:sp>
      </p:grpSp>
      <p:grpSp>
        <p:nvGrpSpPr>
          <p:cNvPr id="12" name="Group 44"/>
          <p:cNvGrpSpPr>
            <a:grpSpLocks/>
          </p:cNvGrpSpPr>
          <p:nvPr/>
        </p:nvGrpSpPr>
        <p:grpSpPr bwMode="auto">
          <a:xfrm>
            <a:off x="457200" y="1682750"/>
            <a:ext cx="3833813" cy="4595997"/>
            <a:chOff x="223" y="912"/>
            <a:chExt cx="2480" cy="3038"/>
          </a:xfrm>
        </p:grpSpPr>
        <p:grpSp>
          <p:nvGrpSpPr>
            <p:cNvPr id="13" name="Group 45"/>
            <p:cNvGrpSpPr>
              <a:grpSpLocks/>
            </p:cNvGrpSpPr>
            <p:nvPr/>
          </p:nvGrpSpPr>
          <p:grpSpPr bwMode="auto">
            <a:xfrm>
              <a:off x="1144" y="1307"/>
              <a:ext cx="360" cy="359"/>
              <a:chOff x="1389" y="1133"/>
              <a:chExt cx="360" cy="359"/>
            </a:xfrm>
          </p:grpSpPr>
          <p:sp>
            <p:nvSpPr>
              <p:cNvPr id="383022" name="Oval 46"/>
              <p:cNvSpPr>
                <a:spLocks noChangeArrowheads="1"/>
              </p:cNvSpPr>
              <p:nvPr/>
            </p:nvSpPr>
            <p:spPr bwMode="auto">
              <a:xfrm>
                <a:off x="1389" y="1133"/>
                <a:ext cx="360" cy="359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3023" name="Rectangle 47"/>
              <p:cNvSpPr>
                <a:spLocks noChangeArrowheads="1"/>
              </p:cNvSpPr>
              <p:nvPr/>
            </p:nvSpPr>
            <p:spPr bwMode="auto">
              <a:xfrm>
                <a:off x="1458" y="1186"/>
                <a:ext cx="206" cy="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kumimoji="1" lang="en-US" altLang="zh-TW">
                    <a:ea typeface="新細明體" pitchFamily="18" charset="-120"/>
                  </a:rPr>
                  <a:t>A</a:t>
                </a:r>
              </a:p>
            </p:txBody>
          </p:sp>
        </p:grpSp>
        <p:grpSp>
          <p:nvGrpSpPr>
            <p:cNvPr id="14" name="Group 48"/>
            <p:cNvGrpSpPr>
              <a:grpSpLocks/>
            </p:cNvGrpSpPr>
            <p:nvPr/>
          </p:nvGrpSpPr>
          <p:grpSpPr bwMode="auto">
            <a:xfrm>
              <a:off x="759" y="1876"/>
              <a:ext cx="360" cy="359"/>
              <a:chOff x="1004" y="1702"/>
              <a:chExt cx="360" cy="359"/>
            </a:xfrm>
          </p:grpSpPr>
          <p:sp>
            <p:nvSpPr>
              <p:cNvPr id="383025" name="Oval 49"/>
              <p:cNvSpPr>
                <a:spLocks noChangeArrowheads="1"/>
              </p:cNvSpPr>
              <p:nvPr/>
            </p:nvSpPr>
            <p:spPr bwMode="auto">
              <a:xfrm>
                <a:off x="1004" y="1702"/>
                <a:ext cx="360" cy="359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3026" name="Rectangle 50"/>
              <p:cNvSpPr>
                <a:spLocks noChangeArrowheads="1"/>
              </p:cNvSpPr>
              <p:nvPr/>
            </p:nvSpPr>
            <p:spPr bwMode="auto">
              <a:xfrm>
                <a:off x="1073" y="1754"/>
                <a:ext cx="201" cy="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kumimoji="1" lang="en-US" altLang="zh-TW">
                    <a:ea typeface="新細明體" pitchFamily="18" charset="-120"/>
                  </a:rPr>
                  <a:t>B</a:t>
                </a:r>
              </a:p>
            </p:txBody>
          </p:sp>
        </p:grpSp>
        <p:sp>
          <p:nvSpPr>
            <p:cNvPr id="383027" name="Line 51"/>
            <p:cNvSpPr>
              <a:spLocks noChangeShapeType="1"/>
            </p:cNvSpPr>
            <p:nvPr/>
          </p:nvSpPr>
          <p:spPr bwMode="auto">
            <a:xfrm flipH="1">
              <a:off x="1000" y="1659"/>
              <a:ext cx="215" cy="2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5" name="Group 52"/>
            <p:cNvGrpSpPr>
              <a:grpSpLocks/>
            </p:cNvGrpSpPr>
            <p:nvPr/>
          </p:nvGrpSpPr>
          <p:grpSpPr bwMode="auto">
            <a:xfrm>
              <a:off x="1968" y="1344"/>
              <a:ext cx="360" cy="359"/>
              <a:chOff x="2097" y="1123"/>
              <a:chExt cx="360" cy="359"/>
            </a:xfrm>
          </p:grpSpPr>
          <p:sp>
            <p:nvSpPr>
              <p:cNvPr id="383029" name="Oval 53"/>
              <p:cNvSpPr>
                <a:spLocks noChangeArrowheads="1"/>
              </p:cNvSpPr>
              <p:nvPr/>
            </p:nvSpPr>
            <p:spPr bwMode="auto">
              <a:xfrm>
                <a:off x="2097" y="1123"/>
                <a:ext cx="360" cy="359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3030" name="Rectangle 54"/>
              <p:cNvSpPr>
                <a:spLocks noChangeArrowheads="1"/>
              </p:cNvSpPr>
              <p:nvPr/>
            </p:nvSpPr>
            <p:spPr bwMode="auto">
              <a:xfrm>
                <a:off x="2166" y="1175"/>
                <a:ext cx="206" cy="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kumimoji="1" lang="en-US" altLang="zh-TW">
                    <a:ea typeface="新細明體" pitchFamily="18" charset="-120"/>
                  </a:rPr>
                  <a:t>A</a:t>
                </a:r>
              </a:p>
            </p:txBody>
          </p:sp>
        </p:grpSp>
        <p:grpSp>
          <p:nvGrpSpPr>
            <p:cNvPr id="16" name="Group 55"/>
            <p:cNvGrpSpPr>
              <a:grpSpLocks/>
            </p:cNvGrpSpPr>
            <p:nvPr/>
          </p:nvGrpSpPr>
          <p:grpSpPr bwMode="auto">
            <a:xfrm>
              <a:off x="2343" y="1924"/>
              <a:ext cx="360" cy="359"/>
              <a:chOff x="2472" y="1703"/>
              <a:chExt cx="360" cy="359"/>
            </a:xfrm>
          </p:grpSpPr>
          <p:sp>
            <p:nvSpPr>
              <p:cNvPr id="383032" name="Oval 56"/>
              <p:cNvSpPr>
                <a:spLocks noChangeArrowheads="1"/>
              </p:cNvSpPr>
              <p:nvPr/>
            </p:nvSpPr>
            <p:spPr bwMode="auto">
              <a:xfrm>
                <a:off x="2472" y="1703"/>
                <a:ext cx="360" cy="359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3033" name="Rectangle 57"/>
              <p:cNvSpPr>
                <a:spLocks noChangeArrowheads="1"/>
              </p:cNvSpPr>
              <p:nvPr/>
            </p:nvSpPr>
            <p:spPr bwMode="auto">
              <a:xfrm>
                <a:off x="2541" y="1756"/>
                <a:ext cx="201" cy="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kumimoji="1" lang="en-US" altLang="zh-TW">
                    <a:ea typeface="新細明體" pitchFamily="18" charset="-120"/>
                  </a:rPr>
                  <a:t>B</a:t>
                </a:r>
              </a:p>
            </p:txBody>
          </p:sp>
        </p:grpSp>
        <p:sp>
          <p:nvSpPr>
            <p:cNvPr id="383034" name="Line 58"/>
            <p:cNvSpPr>
              <a:spLocks noChangeShapeType="1"/>
            </p:cNvSpPr>
            <p:nvPr/>
          </p:nvSpPr>
          <p:spPr bwMode="auto">
            <a:xfrm>
              <a:off x="2231" y="1695"/>
              <a:ext cx="256" cy="2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3035" name="Rectangle 59"/>
            <p:cNvSpPr>
              <a:spLocks noChangeArrowheads="1"/>
            </p:cNvSpPr>
            <p:nvPr/>
          </p:nvSpPr>
          <p:spPr bwMode="auto">
            <a:xfrm>
              <a:off x="912" y="912"/>
              <a:ext cx="1301" cy="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en-US" altLang="zh-TW">
                  <a:ea typeface="新細明體" pitchFamily="18" charset="-120"/>
                </a:rPr>
                <a:t>Skewed Binary Tree</a:t>
              </a:r>
            </a:p>
          </p:txBody>
        </p:sp>
        <p:grpSp>
          <p:nvGrpSpPr>
            <p:cNvPr id="17" name="Group 60"/>
            <p:cNvGrpSpPr>
              <a:grpSpLocks/>
            </p:cNvGrpSpPr>
            <p:nvPr/>
          </p:nvGrpSpPr>
          <p:grpSpPr bwMode="auto">
            <a:xfrm>
              <a:off x="223" y="3591"/>
              <a:ext cx="360" cy="359"/>
              <a:chOff x="468" y="3468"/>
              <a:chExt cx="360" cy="359"/>
            </a:xfrm>
          </p:grpSpPr>
          <p:sp>
            <p:nvSpPr>
              <p:cNvPr id="383037" name="Oval 61"/>
              <p:cNvSpPr>
                <a:spLocks noChangeArrowheads="1"/>
              </p:cNvSpPr>
              <p:nvPr/>
            </p:nvSpPr>
            <p:spPr bwMode="auto">
              <a:xfrm>
                <a:off x="468" y="3468"/>
                <a:ext cx="360" cy="359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3038" name="Rectangle 62"/>
              <p:cNvSpPr>
                <a:spLocks noChangeArrowheads="1"/>
              </p:cNvSpPr>
              <p:nvPr/>
            </p:nvSpPr>
            <p:spPr bwMode="auto">
              <a:xfrm>
                <a:off x="537" y="3520"/>
                <a:ext cx="193" cy="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kumimoji="1" lang="en-US" altLang="zh-TW">
                    <a:ea typeface="新細明體" pitchFamily="18" charset="-120"/>
                  </a:rPr>
                  <a:t>E</a:t>
                </a:r>
              </a:p>
            </p:txBody>
          </p:sp>
        </p:grpSp>
        <p:sp>
          <p:nvSpPr>
            <p:cNvPr id="383039" name="Line 63"/>
            <p:cNvSpPr>
              <a:spLocks noChangeShapeType="1"/>
            </p:cNvSpPr>
            <p:nvPr/>
          </p:nvSpPr>
          <p:spPr bwMode="auto">
            <a:xfrm flipH="1">
              <a:off x="357" y="3320"/>
              <a:ext cx="203" cy="2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8" name="Group 64"/>
            <p:cNvGrpSpPr>
              <a:grpSpLocks/>
            </p:cNvGrpSpPr>
            <p:nvPr/>
          </p:nvGrpSpPr>
          <p:grpSpPr bwMode="auto">
            <a:xfrm>
              <a:off x="628" y="2463"/>
              <a:ext cx="360" cy="359"/>
              <a:chOff x="873" y="2289"/>
              <a:chExt cx="360" cy="359"/>
            </a:xfrm>
          </p:grpSpPr>
          <p:sp>
            <p:nvSpPr>
              <p:cNvPr id="383041" name="Oval 65"/>
              <p:cNvSpPr>
                <a:spLocks noChangeArrowheads="1"/>
              </p:cNvSpPr>
              <p:nvPr/>
            </p:nvSpPr>
            <p:spPr bwMode="auto">
              <a:xfrm>
                <a:off x="873" y="2289"/>
                <a:ext cx="360" cy="359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3042" name="Rectangle 66"/>
              <p:cNvSpPr>
                <a:spLocks noChangeArrowheads="1"/>
              </p:cNvSpPr>
              <p:nvPr/>
            </p:nvSpPr>
            <p:spPr bwMode="auto">
              <a:xfrm>
                <a:off x="942" y="2341"/>
                <a:ext cx="200" cy="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kumimoji="1" lang="en-US" altLang="zh-TW">
                    <a:ea typeface="新細明體" pitchFamily="18" charset="-120"/>
                  </a:rPr>
                  <a:t>C</a:t>
                </a:r>
              </a:p>
            </p:txBody>
          </p:sp>
        </p:grpSp>
        <p:grpSp>
          <p:nvGrpSpPr>
            <p:cNvPr id="19" name="Group 67"/>
            <p:cNvGrpSpPr>
              <a:grpSpLocks/>
            </p:cNvGrpSpPr>
            <p:nvPr/>
          </p:nvGrpSpPr>
          <p:grpSpPr bwMode="auto">
            <a:xfrm>
              <a:off x="403" y="2957"/>
              <a:ext cx="360" cy="359"/>
              <a:chOff x="648" y="2834"/>
              <a:chExt cx="360" cy="359"/>
            </a:xfrm>
          </p:grpSpPr>
          <p:sp>
            <p:nvSpPr>
              <p:cNvPr id="383044" name="Oval 68"/>
              <p:cNvSpPr>
                <a:spLocks noChangeArrowheads="1"/>
              </p:cNvSpPr>
              <p:nvPr/>
            </p:nvSpPr>
            <p:spPr bwMode="auto">
              <a:xfrm>
                <a:off x="648" y="2834"/>
                <a:ext cx="360" cy="359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3045" name="Rectangle 69"/>
              <p:cNvSpPr>
                <a:spLocks noChangeArrowheads="1"/>
              </p:cNvSpPr>
              <p:nvPr/>
            </p:nvSpPr>
            <p:spPr bwMode="auto">
              <a:xfrm>
                <a:off x="717" y="2886"/>
                <a:ext cx="213" cy="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kumimoji="1" lang="en-US" altLang="zh-TW">
                    <a:ea typeface="新細明體" pitchFamily="18" charset="-120"/>
                  </a:rPr>
                  <a:t>D</a:t>
                </a:r>
              </a:p>
            </p:txBody>
          </p:sp>
        </p:grpSp>
        <p:sp>
          <p:nvSpPr>
            <p:cNvPr id="383046" name="Line 70"/>
            <p:cNvSpPr>
              <a:spLocks noChangeShapeType="1"/>
            </p:cNvSpPr>
            <p:nvPr/>
          </p:nvSpPr>
          <p:spPr bwMode="auto">
            <a:xfrm flipH="1">
              <a:off x="795" y="2248"/>
              <a:ext cx="87" cy="2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3047" name="Line 71"/>
            <p:cNvSpPr>
              <a:spLocks noChangeShapeType="1"/>
            </p:cNvSpPr>
            <p:nvPr/>
          </p:nvSpPr>
          <p:spPr bwMode="auto">
            <a:xfrm flipH="1">
              <a:off x="614" y="2784"/>
              <a:ext cx="106" cy="1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3048" name="Text Box 72"/>
            <p:cNvSpPr txBox="1">
              <a:spLocks noChangeArrowheads="1"/>
            </p:cNvSpPr>
            <p:nvPr/>
          </p:nvSpPr>
          <p:spPr bwMode="auto">
            <a:xfrm>
              <a:off x="999" y="3693"/>
              <a:ext cx="195" cy="2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en-US" altLang="zh-TW">
                  <a:ea typeface="新細明體" pitchFamily="18" charset="-120"/>
                </a:rPr>
                <a:t>5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8534400" cy="914400"/>
          </a:xfrm>
        </p:spPr>
        <p:txBody>
          <a:bodyPr/>
          <a:lstStyle/>
          <a:p>
            <a:r>
              <a:rPr lang="en-US" sz="3200"/>
              <a:t>Differences Between A Tree and A Binary Tree</a:t>
            </a:r>
          </a:p>
        </p:txBody>
      </p:sp>
      <p:sp>
        <p:nvSpPr>
          <p:cNvPr id="384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543800" cy="1219200"/>
          </a:xfrm>
        </p:spPr>
        <p:txBody>
          <a:bodyPr/>
          <a:lstStyle/>
          <a:p>
            <a:r>
              <a:rPr lang="en-US" sz="2400">
                <a:latin typeface="Times New Roman" pitchFamily="18" charset="0"/>
              </a:rPr>
              <a:t>The subtrees of a binary tree are ordered; those of a tree are not ordered.</a:t>
            </a:r>
          </a:p>
        </p:txBody>
      </p:sp>
      <p:sp>
        <p:nvSpPr>
          <p:cNvPr id="384004" name="Rectangle 4"/>
          <p:cNvSpPr>
            <a:spLocks noChangeArrowheads="1"/>
          </p:cNvSpPr>
          <p:nvPr/>
        </p:nvSpPr>
        <p:spPr bwMode="auto">
          <a:xfrm>
            <a:off x="762000" y="4953000"/>
            <a:ext cx="7772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 eaLnBrk="0" hangingPunct="0">
              <a:spcBef>
                <a:spcPct val="20000"/>
              </a:spcBef>
              <a:buClr>
                <a:schemeClr val="tx2"/>
              </a:buClr>
              <a:buFontTx/>
              <a:buChar char="•"/>
            </a:pPr>
            <a:r>
              <a:rPr lang="en-US" sz="2800"/>
              <a:t>Are different when viewed as binary trees.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tx2"/>
              </a:buClr>
              <a:buFontTx/>
              <a:buChar char="•"/>
            </a:pPr>
            <a:r>
              <a:rPr lang="en-US" sz="2800"/>
              <a:t>Are the same when viewed as trees.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209800" y="3352800"/>
            <a:ext cx="838200" cy="1219200"/>
            <a:chOff x="1440" y="2304"/>
            <a:chExt cx="528" cy="768"/>
          </a:xfrm>
        </p:grpSpPr>
        <p:sp>
          <p:nvSpPr>
            <p:cNvPr id="384006" name="Oval 6"/>
            <p:cNvSpPr>
              <a:spLocks noChangeArrowheads="1"/>
            </p:cNvSpPr>
            <p:nvPr/>
          </p:nvSpPr>
          <p:spPr bwMode="auto">
            <a:xfrm>
              <a:off x="1728" y="230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1800">
                  <a:latin typeface="Arial" charset="0"/>
                </a:rPr>
                <a:t>A</a:t>
              </a:r>
            </a:p>
          </p:txBody>
        </p:sp>
        <p:sp>
          <p:nvSpPr>
            <p:cNvPr id="384007" name="Oval 7"/>
            <p:cNvSpPr>
              <a:spLocks noChangeArrowheads="1"/>
            </p:cNvSpPr>
            <p:nvPr/>
          </p:nvSpPr>
          <p:spPr bwMode="auto">
            <a:xfrm>
              <a:off x="1440" y="2832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1800">
                  <a:latin typeface="Arial" charset="0"/>
                </a:rPr>
                <a:t>B</a:t>
              </a:r>
            </a:p>
          </p:txBody>
        </p:sp>
        <p:cxnSp>
          <p:nvCxnSpPr>
            <p:cNvPr id="384008" name="AutoShape 8"/>
            <p:cNvCxnSpPr>
              <a:cxnSpLocks noChangeShapeType="1"/>
              <a:stCxn id="384006" idx="3"/>
              <a:endCxn id="384007" idx="0"/>
            </p:cNvCxnSpPr>
            <p:nvPr/>
          </p:nvCxnSpPr>
          <p:spPr bwMode="auto">
            <a:xfrm flipH="1">
              <a:off x="1560" y="2509"/>
              <a:ext cx="203" cy="32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4419600" y="3352800"/>
            <a:ext cx="838200" cy="1219200"/>
            <a:chOff x="2784" y="2112"/>
            <a:chExt cx="528" cy="768"/>
          </a:xfrm>
        </p:grpSpPr>
        <p:sp>
          <p:nvSpPr>
            <p:cNvPr id="384010" name="Oval 10"/>
            <p:cNvSpPr>
              <a:spLocks noChangeArrowheads="1"/>
            </p:cNvSpPr>
            <p:nvPr/>
          </p:nvSpPr>
          <p:spPr bwMode="auto">
            <a:xfrm>
              <a:off x="2784" y="2112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1800">
                  <a:latin typeface="Arial" charset="0"/>
                </a:rPr>
                <a:t>A</a:t>
              </a:r>
            </a:p>
          </p:txBody>
        </p:sp>
        <p:sp>
          <p:nvSpPr>
            <p:cNvPr id="384011" name="Oval 11"/>
            <p:cNvSpPr>
              <a:spLocks noChangeArrowheads="1"/>
            </p:cNvSpPr>
            <p:nvPr/>
          </p:nvSpPr>
          <p:spPr bwMode="auto">
            <a:xfrm>
              <a:off x="3072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1800">
                  <a:latin typeface="Arial" charset="0"/>
                </a:rPr>
                <a:t>B</a:t>
              </a:r>
            </a:p>
          </p:txBody>
        </p:sp>
        <p:cxnSp>
          <p:nvCxnSpPr>
            <p:cNvPr id="384012" name="AutoShape 12"/>
            <p:cNvCxnSpPr>
              <a:cxnSpLocks noChangeShapeType="1"/>
              <a:stCxn id="384010" idx="5"/>
              <a:endCxn id="384011" idx="0"/>
            </p:cNvCxnSpPr>
            <p:nvPr/>
          </p:nvCxnSpPr>
          <p:spPr bwMode="auto">
            <a:xfrm>
              <a:off x="2989" y="2317"/>
              <a:ext cx="203" cy="32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4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/>
              <a:t>Data Structure for Binary Trees</a:t>
            </a:r>
          </a:p>
        </p:txBody>
      </p:sp>
      <p:sp>
        <p:nvSpPr>
          <p:cNvPr id="385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63688"/>
            <a:ext cx="3048000" cy="2093912"/>
          </a:xfrm>
        </p:spPr>
        <p:txBody>
          <a:bodyPr/>
          <a:lstStyle/>
          <a:p>
            <a:r>
              <a:rPr lang="en-US" sz="1800"/>
              <a:t>A node is represented by an object storing</a:t>
            </a:r>
          </a:p>
          <a:p>
            <a:pPr lvl="1"/>
            <a:r>
              <a:rPr lang="en-US" sz="1600"/>
              <a:t>Element</a:t>
            </a:r>
          </a:p>
          <a:p>
            <a:pPr lvl="1"/>
            <a:r>
              <a:rPr lang="en-US" sz="1600"/>
              <a:t>Parent node</a:t>
            </a:r>
          </a:p>
          <a:p>
            <a:pPr lvl="1"/>
            <a:r>
              <a:rPr lang="en-US" sz="1600"/>
              <a:t>Left child node</a:t>
            </a:r>
          </a:p>
          <a:p>
            <a:pPr lvl="1"/>
            <a:r>
              <a:rPr lang="en-US" sz="1600"/>
              <a:t>Right child node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143000" y="4267200"/>
            <a:ext cx="2938463" cy="2100263"/>
            <a:chOff x="864" y="2592"/>
            <a:chExt cx="1851" cy="1323"/>
          </a:xfrm>
        </p:grpSpPr>
        <p:sp>
          <p:nvSpPr>
            <p:cNvPr id="385029" name="Oval 5"/>
            <p:cNvSpPr>
              <a:spLocks noChangeArrowheads="1"/>
            </p:cNvSpPr>
            <p:nvPr/>
          </p:nvSpPr>
          <p:spPr bwMode="auto">
            <a:xfrm>
              <a:off x="1392" y="2592"/>
              <a:ext cx="316" cy="315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anchor="ctr" anchorCtr="1"/>
            <a:lstStyle/>
            <a:p>
              <a:r>
                <a:rPr lang="en-US">
                  <a:solidFill>
                    <a:schemeClr val="tx2"/>
                  </a:solidFill>
                  <a:latin typeface="Tahoma" pitchFamily="34" charset="0"/>
                  <a:sym typeface="Symbol" pitchFamily="18" charset="2"/>
                </a:rPr>
                <a:t>B</a:t>
              </a:r>
              <a:endParaRPr lang="en-US">
                <a:solidFill>
                  <a:schemeClr val="tx2"/>
                </a:solidFill>
                <a:latin typeface="Tahoma" pitchFamily="34" charset="0"/>
              </a:endParaRPr>
            </a:p>
          </p:txBody>
        </p:sp>
        <p:sp>
          <p:nvSpPr>
            <p:cNvPr id="385030" name="Oval 6"/>
            <p:cNvSpPr>
              <a:spLocks noChangeArrowheads="1"/>
            </p:cNvSpPr>
            <p:nvPr/>
          </p:nvSpPr>
          <p:spPr bwMode="auto">
            <a:xfrm>
              <a:off x="1943" y="3058"/>
              <a:ext cx="316" cy="315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anchor="ctr" anchorCtr="1"/>
            <a:lstStyle/>
            <a:p>
              <a:pPr algn="ctr"/>
              <a:r>
                <a:rPr lang="en-US">
                  <a:solidFill>
                    <a:schemeClr val="tx2"/>
                  </a:solidFill>
                  <a:latin typeface="Tahoma" pitchFamily="34" charset="0"/>
                </a:rPr>
                <a:t>D</a:t>
              </a:r>
            </a:p>
          </p:txBody>
        </p:sp>
        <p:sp>
          <p:nvSpPr>
            <p:cNvPr id="385031" name="Rectangle 7"/>
            <p:cNvSpPr>
              <a:spLocks noChangeArrowheads="1"/>
            </p:cNvSpPr>
            <p:nvPr/>
          </p:nvSpPr>
          <p:spPr bwMode="auto">
            <a:xfrm>
              <a:off x="864" y="3024"/>
              <a:ext cx="315" cy="31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tx2"/>
                  </a:solidFill>
                  <a:latin typeface="Tahoma" pitchFamily="34" charset="0"/>
                </a:rPr>
                <a:t>A</a:t>
              </a:r>
            </a:p>
          </p:txBody>
        </p:sp>
        <p:sp>
          <p:nvSpPr>
            <p:cNvPr id="385032" name="Rectangle 8"/>
            <p:cNvSpPr>
              <a:spLocks noChangeArrowheads="1"/>
            </p:cNvSpPr>
            <p:nvPr/>
          </p:nvSpPr>
          <p:spPr bwMode="auto">
            <a:xfrm>
              <a:off x="1488" y="3600"/>
              <a:ext cx="315" cy="31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tx2"/>
                  </a:solidFill>
                  <a:latin typeface="Tahoma" pitchFamily="34" charset="0"/>
                </a:rPr>
                <a:t>C</a:t>
              </a:r>
            </a:p>
          </p:txBody>
        </p:sp>
        <p:sp>
          <p:nvSpPr>
            <p:cNvPr id="385033" name="Rectangle 9"/>
            <p:cNvSpPr>
              <a:spLocks noChangeArrowheads="1"/>
            </p:cNvSpPr>
            <p:nvPr/>
          </p:nvSpPr>
          <p:spPr bwMode="auto">
            <a:xfrm>
              <a:off x="2400" y="3600"/>
              <a:ext cx="315" cy="31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tx2"/>
                  </a:solidFill>
                  <a:latin typeface="Tahoma" pitchFamily="34" charset="0"/>
                </a:rPr>
                <a:t>E</a:t>
              </a:r>
            </a:p>
          </p:txBody>
        </p:sp>
        <p:cxnSp>
          <p:nvCxnSpPr>
            <p:cNvPr id="385034" name="AutoShape 10"/>
            <p:cNvCxnSpPr>
              <a:cxnSpLocks noChangeShapeType="1"/>
              <a:stCxn id="385033" idx="0"/>
              <a:endCxn id="385030" idx="5"/>
            </p:cNvCxnSpPr>
            <p:nvPr/>
          </p:nvCxnSpPr>
          <p:spPr bwMode="auto">
            <a:xfrm flipH="1" flipV="1">
              <a:off x="2213" y="3333"/>
              <a:ext cx="345" cy="26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85035" name="AutoShape 11"/>
            <p:cNvCxnSpPr>
              <a:cxnSpLocks noChangeShapeType="1"/>
              <a:stCxn id="385032" idx="0"/>
              <a:endCxn id="385030" idx="3"/>
            </p:cNvCxnSpPr>
            <p:nvPr/>
          </p:nvCxnSpPr>
          <p:spPr bwMode="auto">
            <a:xfrm flipV="1">
              <a:off x="1646" y="3333"/>
              <a:ext cx="343" cy="26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85036" name="AutoShape 12"/>
            <p:cNvCxnSpPr>
              <a:cxnSpLocks noChangeShapeType="1"/>
              <a:stCxn id="385031" idx="0"/>
              <a:endCxn id="385029" idx="3"/>
            </p:cNvCxnSpPr>
            <p:nvPr/>
          </p:nvCxnSpPr>
          <p:spPr bwMode="auto">
            <a:xfrm flipV="1">
              <a:off x="1022" y="2867"/>
              <a:ext cx="416" cy="15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85037" name="AutoShape 13"/>
            <p:cNvCxnSpPr>
              <a:cxnSpLocks noChangeShapeType="1"/>
              <a:stCxn id="385030" idx="0"/>
              <a:endCxn id="385029" idx="5"/>
            </p:cNvCxnSpPr>
            <p:nvPr/>
          </p:nvCxnSpPr>
          <p:spPr bwMode="auto">
            <a:xfrm flipH="1" flipV="1">
              <a:off x="1662" y="2867"/>
              <a:ext cx="439" cy="18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3921125" y="1771650"/>
            <a:ext cx="4765675" cy="4416425"/>
            <a:chOff x="2470" y="1116"/>
            <a:chExt cx="3002" cy="2782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3204" y="1152"/>
              <a:ext cx="768" cy="384"/>
              <a:chOff x="3840" y="960"/>
              <a:chExt cx="768" cy="384"/>
            </a:xfrm>
          </p:grpSpPr>
          <p:sp>
            <p:nvSpPr>
              <p:cNvPr id="385040" name="AutoShape 16"/>
              <p:cNvSpPr>
                <a:spLocks noChangeArrowheads="1"/>
              </p:cNvSpPr>
              <p:nvPr/>
            </p:nvSpPr>
            <p:spPr bwMode="auto">
              <a:xfrm>
                <a:off x="3840" y="960"/>
                <a:ext cx="768" cy="384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5041" name="Rectangle 17"/>
              <p:cNvSpPr>
                <a:spLocks noChangeArrowheads="1"/>
              </p:cNvSpPr>
              <p:nvPr/>
            </p:nvSpPr>
            <p:spPr bwMode="auto">
              <a:xfrm>
                <a:off x="4032" y="960"/>
                <a:ext cx="384" cy="384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5042" name="Line 18"/>
              <p:cNvSpPr>
                <a:spLocks noChangeShapeType="1"/>
              </p:cNvSpPr>
              <p:nvPr/>
            </p:nvSpPr>
            <p:spPr bwMode="auto">
              <a:xfrm>
                <a:off x="4032" y="1152"/>
                <a:ext cx="3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19"/>
            <p:cNvGrpSpPr>
              <a:grpSpLocks/>
            </p:cNvGrpSpPr>
            <p:nvPr/>
          </p:nvGrpSpPr>
          <p:grpSpPr bwMode="auto">
            <a:xfrm>
              <a:off x="2506" y="2112"/>
              <a:ext cx="768" cy="384"/>
              <a:chOff x="3840" y="960"/>
              <a:chExt cx="768" cy="384"/>
            </a:xfrm>
          </p:grpSpPr>
          <p:sp>
            <p:nvSpPr>
              <p:cNvPr id="385044" name="AutoShape 20"/>
              <p:cNvSpPr>
                <a:spLocks noChangeArrowheads="1"/>
              </p:cNvSpPr>
              <p:nvPr/>
            </p:nvSpPr>
            <p:spPr bwMode="auto">
              <a:xfrm>
                <a:off x="3840" y="960"/>
                <a:ext cx="768" cy="384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5045" name="Rectangle 21"/>
              <p:cNvSpPr>
                <a:spLocks noChangeArrowheads="1"/>
              </p:cNvSpPr>
              <p:nvPr/>
            </p:nvSpPr>
            <p:spPr bwMode="auto">
              <a:xfrm>
                <a:off x="4032" y="960"/>
                <a:ext cx="384" cy="384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5046" name="Line 22"/>
              <p:cNvSpPr>
                <a:spLocks noChangeShapeType="1"/>
              </p:cNvSpPr>
              <p:nvPr/>
            </p:nvSpPr>
            <p:spPr bwMode="auto">
              <a:xfrm>
                <a:off x="4032" y="1152"/>
                <a:ext cx="3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85047" name="Text Box 23"/>
            <p:cNvSpPr txBox="1">
              <a:spLocks noChangeArrowheads="1"/>
            </p:cNvSpPr>
            <p:nvPr/>
          </p:nvSpPr>
          <p:spPr bwMode="auto">
            <a:xfrm>
              <a:off x="2470" y="2179"/>
              <a:ext cx="248" cy="2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>
                  <a:latin typeface="Tahoma" pitchFamily="34" charset="0"/>
                  <a:sym typeface="Symbol" pitchFamily="18" charset="2"/>
                </a:rPr>
                <a:t></a:t>
              </a:r>
            </a:p>
          </p:txBody>
        </p:sp>
        <p:sp>
          <p:nvSpPr>
            <p:cNvPr id="385048" name="Text Box 24"/>
            <p:cNvSpPr txBox="1">
              <a:spLocks noChangeArrowheads="1"/>
            </p:cNvSpPr>
            <p:nvPr/>
          </p:nvSpPr>
          <p:spPr bwMode="auto">
            <a:xfrm>
              <a:off x="3052" y="2179"/>
              <a:ext cx="248" cy="2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>
                  <a:latin typeface="Tahoma" pitchFamily="34" charset="0"/>
                  <a:sym typeface="Symbol" pitchFamily="18" charset="2"/>
                </a:rPr>
                <a:t></a:t>
              </a:r>
            </a:p>
          </p:txBody>
        </p:sp>
        <p:grpSp>
          <p:nvGrpSpPr>
            <p:cNvPr id="6" name="Group 25"/>
            <p:cNvGrpSpPr>
              <a:grpSpLocks/>
            </p:cNvGrpSpPr>
            <p:nvPr/>
          </p:nvGrpSpPr>
          <p:grpSpPr bwMode="auto">
            <a:xfrm>
              <a:off x="3924" y="2112"/>
              <a:ext cx="768" cy="384"/>
              <a:chOff x="3840" y="960"/>
              <a:chExt cx="768" cy="384"/>
            </a:xfrm>
          </p:grpSpPr>
          <p:sp>
            <p:nvSpPr>
              <p:cNvPr id="385050" name="AutoShape 26"/>
              <p:cNvSpPr>
                <a:spLocks noChangeArrowheads="1"/>
              </p:cNvSpPr>
              <p:nvPr/>
            </p:nvSpPr>
            <p:spPr bwMode="auto">
              <a:xfrm>
                <a:off x="3840" y="960"/>
                <a:ext cx="768" cy="384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5051" name="Rectangle 27"/>
              <p:cNvSpPr>
                <a:spLocks noChangeArrowheads="1"/>
              </p:cNvSpPr>
              <p:nvPr/>
            </p:nvSpPr>
            <p:spPr bwMode="auto">
              <a:xfrm>
                <a:off x="4032" y="960"/>
                <a:ext cx="384" cy="384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5052" name="Line 28"/>
              <p:cNvSpPr>
                <a:spLocks noChangeShapeType="1"/>
              </p:cNvSpPr>
              <p:nvPr/>
            </p:nvSpPr>
            <p:spPr bwMode="auto">
              <a:xfrm>
                <a:off x="4032" y="1152"/>
                <a:ext cx="3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" name="Group 29"/>
            <p:cNvGrpSpPr>
              <a:grpSpLocks/>
            </p:cNvGrpSpPr>
            <p:nvPr/>
          </p:nvGrpSpPr>
          <p:grpSpPr bwMode="auto">
            <a:xfrm>
              <a:off x="3204" y="3072"/>
              <a:ext cx="768" cy="384"/>
              <a:chOff x="3840" y="960"/>
              <a:chExt cx="768" cy="384"/>
            </a:xfrm>
          </p:grpSpPr>
          <p:sp>
            <p:nvSpPr>
              <p:cNvPr id="385054" name="AutoShape 30"/>
              <p:cNvSpPr>
                <a:spLocks noChangeArrowheads="1"/>
              </p:cNvSpPr>
              <p:nvPr/>
            </p:nvSpPr>
            <p:spPr bwMode="auto">
              <a:xfrm>
                <a:off x="3840" y="960"/>
                <a:ext cx="768" cy="384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5055" name="Rectangle 31"/>
              <p:cNvSpPr>
                <a:spLocks noChangeArrowheads="1"/>
              </p:cNvSpPr>
              <p:nvPr/>
            </p:nvSpPr>
            <p:spPr bwMode="auto">
              <a:xfrm>
                <a:off x="4032" y="960"/>
                <a:ext cx="384" cy="384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5056" name="Line 32"/>
              <p:cNvSpPr>
                <a:spLocks noChangeShapeType="1"/>
              </p:cNvSpPr>
              <p:nvPr/>
            </p:nvSpPr>
            <p:spPr bwMode="auto">
              <a:xfrm>
                <a:off x="4032" y="1152"/>
                <a:ext cx="3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85057" name="Text Box 33"/>
            <p:cNvSpPr txBox="1">
              <a:spLocks noChangeArrowheads="1"/>
            </p:cNvSpPr>
            <p:nvPr/>
          </p:nvSpPr>
          <p:spPr bwMode="auto">
            <a:xfrm>
              <a:off x="3168" y="3139"/>
              <a:ext cx="248" cy="2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>
                  <a:latin typeface="Tahoma" pitchFamily="34" charset="0"/>
                  <a:sym typeface="Symbol" pitchFamily="18" charset="2"/>
                </a:rPr>
                <a:t></a:t>
              </a:r>
            </a:p>
          </p:txBody>
        </p:sp>
        <p:sp>
          <p:nvSpPr>
            <p:cNvPr id="385058" name="Text Box 34"/>
            <p:cNvSpPr txBox="1">
              <a:spLocks noChangeArrowheads="1"/>
            </p:cNvSpPr>
            <p:nvPr/>
          </p:nvSpPr>
          <p:spPr bwMode="auto">
            <a:xfrm>
              <a:off x="3750" y="3139"/>
              <a:ext cx="248" cy="2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>
                  <a:latin typeface="Tahoma" pitchFamily="34" charset="0"/>
                  <a:sym typeface="Symbol" pitchFamily="18" charset="2"/>
                </a:rPr>
                <a:t></a:t>
              </a:r>
            </a:p>
          </p:txBody>
        </p:sp>
        <p:grpSp>
          <p:nvGrpSpPr>
            <p:cNvPr id="8" name="Group 35"/>
            <p:cNvGrpSpPr>
              <a:grpSpLocks/>
            </p:cNvGrpSpPr>
            <p:nvPr/>
          </p:nvGrpSpPr>
          <p:grpSpPr bwMode="auto">
            <a:xfrm>
              <a:off x="4678" y="3072"/>
              <a:ext cx="768" cy="384"/>
              <a:chOff x="3840" y="960"/>
              <a:chExt cx="768" cy="384"/>
            </a:xfrm>
          </p:grpSpPr>
          <p:sp>
            <p:nvSpPr>
              <p:cNvPr id="385060" name="AutoShape 36"/>
              <p:cNvSpPr>
                <a:spLocks noChangeArrowheads="1"/>
              </p:cNvSpPr>
              <p:nvPr/>
            </p:nvSpPr>
            <p:spPr bwMode="auto">
              <a:xfrm>
                <a:off x="3840" y="960"/>
                <a:ext cx="768" cy="384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5061" name="Rectangle 37"/>
              <p:cNvSpPr>
                <a:spLocks noChangeArrowheads="1"/>
              </p:cNvSpPr>
              <p:nvPr/>
            </p:nvSpPr>
            <p:spPr bwMode="auto">
              <a:xfrm>
                <a:off x="4032" y="960"/>
                <a:ext cx="384" cy="384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5062" name="Line 38"/>
              <p:cNvSpPr>
                <a:spLocks noChangeShapeType="1"/>
              </p:cNvSpPr>
              <p:nvPr/>
            </p:nvSpPr>
            <p:spPr bwMode="auto">
              <a:xfrm>
                <a:off x="4032" y="1152"/>
                <a:ext cx="3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85063" name="Text Box 39"/>
            <p:cNvSpPr txBox="1">
              <a:spLocks noChangeArrowheads="1"/>
            </p:cNvSpPr>
            <p:nvPr/>
          </p:nvSpPr>
          <p:spPr bwMode="auto">
            <a:xfrm>
              <a:off x="4642" y="3139"/>
              <a:ext cx="248" cy="2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>
                  <a:latin typeface="Tahoma" pitchFamily="34" charset="0"/>
                  <a:sym typeface="Symbol" pitchFamily="18" charset="2"/>
                </a:rPr>
                <a:t></a:t>
              </a:r>
            </a:p>
          </p:txBody>
        </p:sp>
        <p:sp>
          <p:nvSpPr>
            <p:cNvPr id="385064" name="Text Box 40"/>
            <p:cNvSpPr txBox="1">
              <a:spLocks noChangeArrowheads="1"/>
            </p:cNvSpPr>
            <p:nvPr/>
          </p:nvSpPr>
          <p:spPr bwMode="auto">
            <a:xfrm>
              <a:off x="5224" y="3139"/>
              <a:ext cx="248" cy="2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>
                  <a:latin typeface="Tahoma" pitchFamily="34" charset="0"/>
                  <a:sym typeface="Symbol" pitchFamily="18" charset="2"/>
                </a:rPr>
                <a:t></a:t>
              </a:r>
            </a:p>
          </p:txBody>
        </p:sp>
        <p:grpSp>
          <p:nvGrpSpPr>
            <p:cNvPr id="9" name="Group 41"/>
            <p:cNvGrpSpPr>
              <a:grpSpLocks/>
            </p:cNvGrpSpPr>
            <p:nvPr/>
          </p:nvGrpSpPr>
          <p:grpSpPr bwMode="auto">
            <a:xfrm>
              <a:off x="3504" y="1440"/>
              <a:ext cx="210" cy="538"/>
              <a:chOff x="3504" y="1440"/>
              <a:chExt cx="210" cy="538"/>
            </a:xfrm>
          </p:grpSpPr>
          <p:sp>
            <p:nvSpPr>
              <p:cNvPr id="385066" name="Text Box 42"/>
              <p:cNvSpPr txBox="1">
                <a:spLocks noChangeArrowheads="1"/>
              </p:cNvSpPr>
              <p:nvPr/>
            </p:nvSpPr>
            <p:spPr bwMode="auto">
              <a:xfrm>
                <a:off x="3504" y="1728"/>
                <a:ext cx="21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>
                    <a:solidFill>
                      <a:schemeClr val="tx2"/>
                    </a:solidFill>
                    <a:latin typeface="Tahoma" pitchFamily="34" charset="0"/>
                  </a:rPr>
                  <a:t>B</a:t>
                </a:r>
              </a:p>
            </p:txBody>
          </p:sp>
          <p:cxnSp>
            <p:nvCxnSpPr>
              <p:cNvPr id="385067" name="AutoShape 43"/>
              <p:cNvCxnSpPr>
                <a:cxnSpLocks noChangeShapeType="1"/>
              </p:cNvCxnSpPr>
              <p:nvPr/>
            </p:nvCxnSpPr>
            <p:spPr bwMode="auto">
              <a:xfrm rot="16200000" flipH="1">
                <a:off x="3461" y="1579"/>
                <a:ext cx="288" cy="9"/>
              </a:xfrm>
              <a:prstGeom prst="curvedConnector3">
                <a:avLst>
                  <a:gd name="adj1" fmla="val 50000"/>
                </a:avLst>
              </a:prstGeom>
              <a:noFill/>
              <a:ln w="19050">
                <a:solidFill>
                  <a:schemeClr val="tx2"/>
                </a:solidFill>
                <a:round/>
                <a:headEnd type="oval" w="med" len="med"/>
                <a:tailEnd type="triangle" w="med" len="med"/>
              </a:ln>
              <a:effectLst/>
            </p:spPr>
          </p:cxnSp>
        </p:grpSp>
        <p:grpSp>
          <p:nvGrpSpPr>
            <p:cNvPr id="10" name="Group 44"/>
            <p:cNvGrpSpPr>
              <a:grpSpLocks/>
            </p:cNvGrpSpPr>
            <p:nvPr/>
          </p:nvGrpSpPr>
          <p:grpSpPr bwMode="auto">
            <a:xfrm>
              <a:off x="2784" y="2400"/>
              <a:ext cx="210" cy="538"/>
              <a:chOff x="3504" y="1440"/>
              <a:chExt cx="210" cy="538"/>
            </a:xfrm>
          </p:grpSpPr>
          <p:sp>
            <p:nvSpPr>
              <p:cNvPr id="385069" name="Text Box 45"/>
              <p:cNvSpPr txBox="1">
                <a:spLocks noChangeArrowheads="1"/>
              </p:cNvSpPr>
              <p:nvPr/>
            </p:nvSpPr>
            <p:spPr bwMode="auto">
              <a:xfrm>
                <a:off x="3504" y="1728"/>
                <a:ext cx="21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>
                    <a:solidFill>
                      <a:schemeClr val="tx2"/>
                    </a:solidFill>
                    <a:latin typeface="Tahoma" pitchFamily="34" charset="0"/>
                  </a:rPr>
                  <a:t>A</a:t>
                </a:r>
              </a:p>
            </p:txBody>
          </p:sp>
          <p:cxnSp>
            <p:nvCxnSpPr>
              <p:cNvPr id="385070" name="AutoShape 46"/>
              <p:cNvCxnSpPr>
                <a:cxnSpLocks noChangeShapeType="1"/>
              </p:cNvCxnSpPr>
              <p:nvPr/>
            </p:nvCxnSpPr>
            <p:spPr bwMode="auto">
              <a:xfrm rot="16200000" flipH="1">
                <a:off x="3461" y="1579"/>
                <a:ext cx="288" cy="9"/>
              </a:xfrm>
              <a:prstGeom prst="curvedConnector3">
                <a:avLst>
                  <a:gd name="adj1" fmla="val 50000"/>
                </a:avLst>
              </a:prstGeom>
              <a:noFill/>
              <a:ln w="19050">
                <a:solidFill>
                  <a:schemeClr val="tx2"/>
                </a:solidFill>
                <a:round/>
                <a:headEnd type="oval" w="med" len="med"/>
                <a:tailEnd type="triangle" w="med" len="med"/>
              </a:ln>
              <a:effectLst/>
            </p:spPr>
          </p:cxnSp>
        </p:grpSp>
        <p:grpSp>
          <p:nvGrpSpPr>
            <p:cNvPr id="11" name="Group 47"/>
            <p:cNvGrpSpPr>
              <a:grpSpLocks/>
            </p:cNvGrpSpPr>
            <p:nvPr/>
          </p:nvGrpSpPr>
          <p:grpSpPr bwMode="auto">
            <a:xfrm>
              <a:off x="4217" y="2400"/>
              <a:ext cx="225" cy="538"/>
              <a:chOff x="3497" y="1440"/>
              <a:chExt cx="225" cy="538"/>
            </a:xfrm>
          </p:grpSpPr>
          <p:sp>
            <p:nvSpPr>
              <p:cNvPr id="385072" name="Text Box 48"/>
              <p:cNvSpPr txBox="1">
                <a:spLocks noChangeArrowheads="1"/>
              </p:cNvSpPr>
              <p:nvPr/>
            </p:nvSpPr>
            <p:spPr bwMode="auto">
              <a:xfrm>
                <a:off x="3497" y="1728"/>
                <a:ext cx="22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>
                    <a:solidFill>
                      <a:schemeClr val="tx2"/>
                    </a:solidFill>
                    <a:latin typeface="Tahoma" pitchFamily="34" charset="0"/>
                  </a:rPr>
                  <a:t>D</a:t>
                </a:r>
              </a:p>
            </p:txBody>
          </p:sp>
          <p:cxnSp>
            <p:nvCxnSpPr>
              <p:cNvPr id="385073" name="AutoShape 49"/>
              <p:cNvCxnSpPr>
                <a:cxnSpLocks noChangeShapeType="1"/>
              </p:cNvCxnSpPr>
              <p:nvPr/>
            </p:nvCxnSpPr>
            <p:spPr bwMode="auto">
              <a:xfrm rot="16200000" flipH="1">
                <a:off x="3461" y="1579"/>
                <a:ext cx="288" cy="9"/>
              </a:xfrm>
              <a:prstGeom prst="curvedConnector3">
                <a:avLst>
                  <a:gd name="adj1" fmla="val 50000"/>
                </a:avLst>
              </a:prstGeom>
              <a:noFill/>
              <a:ln w="19050">
                <a:solidFill>
                  <a:schemeClr val="tx2"/>
                </a:solidFill>
                <a:round/>
                <a:headEnd type="oval" w="med" len="med"/>
                <a:tailEnd type="triangle" w="med" len="med"/>
              </a:ln>
              <a:effectLst/>
            </p:spPr>
          </p:cxnSp>
        </p:grpSp>
        <p:grpSp>
          <p:nvGrpSpPr>
            <p:cNvPr id="12" name="Group 50"/>
            <p:cNvGrpSpPr>
              <a:grpSpLocks/>
            </p:cNvGrpSpPr>
            <p:nvPr/>
          </p:nvGrpSpPr>
          <p:grpSpPr bwMode="auto">
            <a:xfrm>
              <a:off x="3492" y="3360"/>
              <a:ext cx="210" cy="538"/>
              <a:chOff x="3504" y="1440"/>
              <a:chExt cx="210" cy="538"/>
            </a:xfrm>
          </p:grpSpPr>
          <p:sp>
            <p:nvSpPr>
              <p:cNvPr id="385075" name="Text Box 51"/>
              <p:cNvSpPr txBox="1">
                <a:spLocks noChangeArrowheads="1"/>
              </p:cNvSpPr>
              <p:nvPr/>
            </p:nvSpPr>
            <p:spPr bwMode="auto">
              <a:xfrm>
                <a:off x="3504" y="1728"/>
                <a:ext cx="21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>
                    <a:solidFill>
                      <a:schemeClr val="tx2"/>
                    </a:solidFill>
                    <a:latin typeface="Tahoma" pitchFamily="34" charset="0"/>
                  </a:rPr>
                  <a:t>C</a:t>
                </a:r>
              </a:p>
            </p:txBody>
          </p:sp>
          <p:cxnSp>
            <p:nvCxnSpPr>
              <p:cNvPr id="385076" name="AutoShape 52"/>
              <p:cNvCxnSpPr>
                <a:cxnSpLocks noChangeShapeType="1"/>
              </p:cNvCxnSpPr>
              <p:nvPr/>
            </p:nvCxnSpPr>
            <p:spPr bwMode="auto">
              <a:xfrm rot="16200000" flipH="1">
                <a:off x="3461" y="1579"/>
                <a:ext cx="288" cy="9"/>
              </a:xfrm>
              <a:prstGeom prst="curvedConnector3">
                <a:avLst>
                  <a:gd name="adj1" fmla="val 50000"/>
                </a:avLst>
              </a:prstGeom>
              <a:noFill/>
              <a:ln w="19050">
                <a:solidFill>
                  <a:schemeClr val="tx2"/>
                </a:solidFill>
                <a:round/>
                <a:headEnd type="oval" w="med" len="med"/>
                <a:tailEnd type="triangle" w="med" len="med"/>
              </a:ln>
              <a:effectLst/>
            </p:spPr>
          </p:cxnSp>
        </p:grpSp>
        <p:grpSp>
          <p:nvGrpSpPr>
            <p:cNvPr id="13" name="Group 53"/>
            <p:cNvGrpSpPr>
              <a:grpSpLocks/>
            </p:cNvGrpSpPr>
            <p:nvPr/>
          </p:nvGrpSpPr>
          <p:grpSpPr bwMode="auto">
            <a:xfrm>
              <a:off x="4962" y="3360"/>
              <a:ext cx="206" cy="538"/>
              <a:chOff x="3506" y="1440"/>
              <a:chExt cx="206" cy="538"/>
            </a:xfrm>
          </p:grpSpPr>
          <p:sp>
            <p:nvSpPr>
              <p:cNvPr id="385078" name="Text Box 54"/>
              <p:cNvSpPr txBox="1">
                <a:spLocks noChangeArrowheads="1"/>
              </p:cNvSpPr>
              <p:nvPr/>
            </p:nvSpPr>
            <p:spPr bwMode="auto">
              <a:xfrm>
                <a:off x="3506" y="1728"/>
                <a:ext cx="20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>
                    <a:solidFill>
                      <a:schemeClr val="tx2"/>
                    </a:solidFill>
                    <a:latin typeface="Tahoma" pitchFamily="34" charset="0"/>
                  </a:rPr>
                  <a:t>E</a:t>
                </a:r>
              </a:p>
            </p:txBody>
          </p:sp>
          <p:cxnSp>
            <p:nvCxnSpPr>
              <p:cNvPr id="385079" name="AutoShape 55"/>
              <p:cNvCxnSpPr>
                <a:cxnSpLocks noChangeShapeType="1"/>
              </p:cNvCxnSpPr>
              <p:nvPr/>
            </p:nvCxnSpPr>
            <p:spPr bwMode="auto">
              <a:xfrm rot="16200000" flipH="1">
                <a:off x="3461" y="1579"/>
                <a:ext cx="288" cy="9"/>
              </a:xfrm>
              <a:prstGeom prst="curvedConnector3">
                <a:avLst>
                  <a:gd name="adj1" fmla="val 50000"/>
                </a:avLst>
              </a:prstGeom>
              <a:noFill/>
              <a:ln w="19050">
                <a:solidFill>
                  <a:schemeClr val="tx2"/>
                </a:solidFill>
                <a:round/>
                <a:headEnd type="oval" w="med" len="med"/>
                <a:tailEnd type="triangle" w="med" len="med"/>
              </a:ln>
              <a:effectLst/>
            </p:spPr>
          </p:cxnSp>
        </p:grpSp>
        <p:sp>
          <p:nvSpPr>
            <p:cNvPr id="385080" name="Freeform 56"/>
            <p:cNvSpPr>
              <a:spLocks/>
            </p:cNvSpPr>
            <p:nvPr/>
          </p:nvSpPr>
          <p:spPr bwMode="auto">
            <a:xfrm>
              <a:off x="2792" y="1536"/>
              <a:ext cx="720" cy="672"/>
            </a:xfrm>
            <a:custGeom>
              <a:avLst/>
              <a:gdLst/>
              <a:ahLst/>
              <a:cxnLst>
                <a:cxn ang="0">
                  <a:pos x="88" y="672"/>
                </a:cxn>
                <a:cxn ang="0">
                  <a:pos x="88" y="384"/>
                </a:cxn>
                <a:cxn ang="0">
                  <a:pos x="616" y="192"/>
                </a:cxn>
                <a:cxn ang="0">
                  <a:pos x="712" y="0"/>
                </a:cxn>
              </a:cxnLst>
              <a:rect l="0" t="0" r="r" b="b"/>
              <a:pathLst>
                <a:path w="720" h="672">
                  <a:moveTo>
                    <a:pt x="88" y="672"/>
                  </a:moveTo>
                  <a:cubicBezTo>
                    <a:pt x="44" y="568"/>
                    <a:pt x="0" y="464"/>
                    <a:pt x="88" y="384"/>
                  </a:cubicBezTo>
                  <a:cubicBezTo>
                    <a:pt x="176" y="304"/>
                    <a:pt x="512" y="256"/>
                    <a:pt x="616" y="192"/>
                  </a:cubicBezTo>
                  <a:cubicBezTo>
                    <a:pt x="720" y="128"/>
                    <a:pt x="716" y="64"/>
                    <a:pt x="71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5081" name="Freeform 57"/>
            <p:cNvSpPr>
              <a:spLocks/>
            </p:cNvSpPr>
            <p:nvPr/>
          </p:nvSpPr>
          <p:spPr bwMode="auto">
            <a:xfrm flipH="1">
              <a:off x="3684" y="1536"/>
              <a:ext cx="720" cy="672"/>
            </a:xfrm>
            <a:custGeom>
              <a:avLst/>
              <a:gdLst/>
              <a:ahLst/>
              <a:cxnLst>
                <a:cxn ang="0">
                  <a:pos x="88" y="672"/>
                </a:cxn>
                <a:cxn ang="0">
                  <a:pos x="88" y="384"/>
                </a:cxn>
                <a:cxn ang="0">
                  <a:pos x="616" y="192"/>
                </a:cxn>
                <a:cxn ang="0">
                  <a:pos x="712" y="0"/>
                </a:cxn>
              </a:cxnLst>
              <a:rect l="0" t="0" r="r" b="b"/>
              <a:pathLst>
                <a:path w="720" h="672">
                  <a:moveTo>
                    <a:pt x="88" y="672"/>
                  </a:moveTo>
                  <a:cubicBezTo>
                    <a:pt x="44" y="568"/>
                    <a:pt x="0" y="464"/>
                    <a:pt x="88" y="384"/>
                  </a:cubicBezTo>
                  <a:cubicBezTo>
                    <a:pt x="176" y="304"/>
                    <a:pt x="512" y="256"/>
                    <a:pt x="616" y="192"/>
                  </a:cubicBezTo>
                  <a:cubicBezTo>
                    <a:pt x="720" y="128"/>
                    <a:pt x="716" y="64"/>
                    <a:pt x="71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5082" name="Freeform 58"/>
            <p:cNvSpPr>
              <a:spLocks/>
            </p:cNvSpPr>
            <p:nvPr/>
          </p:nvSpPr>
          <p:spPr bwMode="auto">
            <a:xfrm flipH="1">
              <a:off x="4416" y="2496"/>
              <a:ext cx="720" cy="672"/>
            </a:xfrm>
            <a:custGeom>
              <a:avLst/>
              <a:gdLst/>
              <a:ahLst/>
              <a:cxnLst>
                <a:cxn ang="0">
                  <a:pos x="88" y="672"/>
                </a:cxn>
                <a:cxn ang="0">
                  <a:pos x="88" y="384"/>
                </a:cxn>
                <a:cxn ang="0">
                  <a:pos x="616" y="192"/>
                </a:cxn>
                <a:cxn ang="0">
                  <a:pos x="712" y="0"/>
                </a:cxn>
              </a:cxnLst>
              <a:rect l="0" t="0" r="r" b="b"/>
              <a:pathLst>
                <a:path w="720" h="672">
                  <a:moveTo>
                    <a:pt x="88" y="672"/>
                  </a:moveTo>
                  <a:cubicBezTo>
                    <a:pt x="44" y="568"/>
                    <a:pt x="0" y="464"/>
                    <a:pt x="88" y="384"/>
                  </a:cubicBezTo>
                  <a:cubicBezTo>
                    <a:pt x="176" y="304"/>
                    <a:pt x="512" y="256"/>
                    <a:pt x="616" y="192"/>
                  </a:cubicBezTo>
                  <a:cubicBezTo>
                    <a:pt x="720" y="128"/>
                    <a:pt x="716" y="64"/>
                    <a:pt x="71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5083" name="Freeform 59"/>
            <p:cNvSpPr>
              <a:spLocks/>
            </p:cNvSpPr>
            <p:nvPr/>
          </p:nvSpPr>
          <p:spPr bwMode="auto">
            <a:xfrm>
              <a:off x="3504" y="2496"/>
              <a:ext cx="720" cy="672"/>
            </a:xfrm>
            <a:custGeom>
              <a:avLst/>
              <a:gdLst/>
              <a:ahLst/>
              <a:cxnLst>
                <a:cxn ang="0">
                  <a:pos x="88" y="672"/>
                </a:cxn>
                <a:cxn ang="0">
                  <a:pos x="88" y="384"/>
                </a:cxn>
                <a:cxn ang="0">
                  <a:pos x="616" y="192"/>
                </a:cxn>
                <a:cxn ang="0">
                  <a:pos x="712" y="0"/>
                </a:cxn>
              </a:cxnLst>
              <a:rect l="0" t="0" r="r" b="b"/>
              <a:pathLst>
                <a:path w="720" h="672">
                  <a:moveTo>
                    <a:pt x="88" y="672"/>
                  </a:moveTo>
                  <a:cubicBezTo>
                    <a:pt x="44" y="568"/>
                    <a:pt x="0" y="464"/>
                    <a:pt x="88" y="384"/>
                  </a:cubicBezTo>
                  <a:cubicBezTo>
                    <a:pt x="176" y="304"/>
                    <a:pt x="512" y="256"/>
                    <a:pt x="616" y="192"/>
                  </a:cubicBezTo>
                  <a:cubicBezTo>
                    <a:pt x="720" y="128"/>
                    <a:pt x="716" y="64"/>
                    <a:pt x="71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5084" name="Freeform 60"/>
            <p:cNvSpPr>
              <a:spLocks/>
            </p:cNvSpPr>
            <p:nvPr/>
          </p:nvSpPr>
          <p:spPr bwMode="auto">
            <a:xfrm>
              <a:off x="2589" y="1338"/>
              <a:ext cx="699" cy="762"/>
            </a:xfrm>
            <a:custGeom>
              <a:avLst/>
              <a:gdLst/>
              <a:ahLst/>
              <a:cxnLst>
                <a:cxn ang="0">
                  <a:pos x="699" y="0"/>
                </a:cxn>
                <a:cxn ang="0">
                  <a:pos x="87" y="246"/>
                </a:cxn>
                <a:cxn ang="0">
                  <a:pos x="177" y="762"/>
                </a:cxn>
              </a:cxnLst>
              <a:rect l="0" t="0" r="r" b="b"/>
              <a:pathLst>
                <a:path w="699" h="762">
                  <a:moveTo>
                    <a:pt x="699" y="0"/>
                  </a:moveTo>
                  <a:cubicBezTo>
                    <a:pt x="597" y="41"/>
                    <a:pt x="174" y="119"/>
                    <a:pt x="87" y="246"/>
                  </a:cubicBezTo>
                  <a:cubicBezTo>
                    <a:pt x="0" y="373"/>
                    <a:pt x="158" y="655"/>
                    <a:pt x="177" y="762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5085" name="Freeform 61"/>
            <p:cNvSpPr>
              <a:spLocks/>
            </p:cNvSpPr>
            <p:nvPr/>
          </p:nvSpPr>
          <p:spPr bwMode="auto">
            <a:xfrm flipH="1">
              <a:off x="3888" y="1344"/>
              <a:ext cx="768" cy="762"/>
            </a:xfrm>
            <a:custGeom>
              <a:avLst/>
              <a:gdLst/>
              <a:ahLst/>
              <a:cxnLst>
                <a:cxn ang="0">
                  <a:pos x="699" y="0"/>
                </a:cxn>
                <a:cxn ang="0">
                  <a:pos x="87" y="246"/>
                </a:cxn>
                <a:cxn ang="0">
                  <a:pos x="177" y="762"/>
                </a:cxn>
              </a:cxnLst>
              <a:rect l="0" t="0" r="r" b="b"/>
              <a:pathLst>
                <a:path w="699" h="762">
                  <a:moveTo>
                    <a:pt x="699" y="0"/>
                  </a:moveTo>
                  <a:cubicBezTo>
                    <a:pt x="597" y="41"/>
                    <a:pt x="174" y="119"/>
                    <a:pt x="87" y="246"/>
                  </a:cubicBezTo>
                  <a:cubicBezTo>
                    <a:pt x="0" y="373"/>
                    <a:pt x="158" y="655"/>
                    <a:pt x="177" y="762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5086" name="Freeform 62"/>
            <p:cNvSpPr>
              <a:spLocks/>
            </p:cNvSpPr>
            <p:nvPr/>
          </p:nvSpPr>
          <p:spPr bwMode="auto">
            <a:xfrm flipH="1">
              <a:off x="4608" y="2304"/>
              <a:ext cx="768" cy="762"/>
            </a:xfrm>
            <a:custGeom>
              <a:avLst/>
              <a:gdLst/>
              <a:ahLst/>
              <a:cxnLst>
                <a:cxn ang="0">
                  <a:pos x="699" y="0"/>
                </a:cxn>
                <a:cxn ang="0">
                  <a:pos x="87" y="246"/>
                </a:cxn>
                <a:cxn ang="0">
                  <a:pos x="177" y="762"/>
                </a:cxn>
              </a:cxnLst>
              <a:rect l="0" t="0" r="r" b="b"/>
              <a:pathLst>
                <a:path w="699" h="762">
                  <a:moveTo>
                    <a:pt x="699" y="0"/>
                  </a:moveTo>
                  <a:cubicBezTo>
                    <a:pt x="597" y="41"/>
                    <a:pt x="174" y="119"/>
                    <a:pt x="87" y="246"/>
                  </a:cubicBezTo>
                  <a:cubicBezTo>
                    <a:pt x="0" y="373"/>
                    <a:pt x="158" y="655"/>
                    <a:pt x="177" y="762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5087" name="Freeform 63"/>
            <p:cNvSpPr>
              <a:spLocks/>
            </p:cNvSpPr>
            <p:nvPr/>
          </p:nvSpPr>
          <p:spPr bwMode="auto">
            <a:xfrm>
              <a:off x="3312" y="2304"/>
              <a:ext cx="699" cy="762"/>
            </a:xfrm>
            <a:custGeom>
              <a:avLst/>
              <a:gdLst/>
              <a:ahLst/>
              <a:cxnLst>
                <a:cxn ang="0">
                  <a:pos x="699" y="0"/>
                </a:cxn>
                <a:cxn ang="0">
                  <a:pos x="87" y="246"/>
                </a:cxn>
                <a:cxn ang="0">
                  <a:pos x="177" y="762"/>
                </a:cxn>
              </a:cxnLst>
              <a:rect l="0" t="0" r="r" b="b"/>
              <a:pathLst>
                <a:path w="699" h="762">
                  <a:moveTo>
                    <a:pt x="699" y="0"/>
                  </a:moveTo>
                  <a:cubicBezTo>
                    <a:pt x="597" y="41"/>
                    <a:pt x="174" y="119"/>
                    <a:pt x="87" y="246"/>
                  </a:cubicBezTo>
                  <a:cubicBezTo>
                    <a:pt x="0" y="373"/>
                    <a:pt x="158" y="655"/>
                    <a:pt x="177" y="762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5088" name="Text Box 64"/>
            <p:cNvSpPr txBox="1">
              <a:spLocks noChangeArrowheads="1"/>
            </p:cNvSpPr>
            <p:nvPr/>
          </p:nvSpPr>
          <p:spPr bwMode="auto">
            <a:xfrm>
              <a:off x="3462" y="1116"/>
              <a:ext cx="248" cy="2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>
                  <a:latin typeface="Tahoma" pitchFamily="34" charset="0"/>
                  <a:sym typeface="Symbol" pitchFamily="18" charset="2"/>
                </a:rPr>
                <a:t>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Arithmetic Expression Tree</a:t>
            </a:r>
          </a:p>
        </p:txBody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905000"/>
            <a:ext cx="7772400" cy="16367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/>
              <a:t>Binary tree associated with an arithmetic expression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internal nodes: operators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external nodes: operands</a:t>
            </a:r>
          </a:p>
          <a:p>
            <a:pPr>
              <a:lnSpc>
                <a:spcPct val="90000"/>
              </a:lnSpc>
            </a:pPr>
            <a:r>
              <a:rPr lang="en-US" sz="2000"/>
              <a:t>Example: arithmetic expression tree for the expression (2 </a:t>
            </a:r>
            <a:r>
              <a:rPr lang="en-US" sz="2000">
                <a:latin typeface="Symbol" pitchFamily="18" charset="2"/>
                <a:sym typeface="Symbol" pitchFamily="18" charset="2"/>
              </a:rPr>
              <a:t> </a:t>
            </a:r>
            <a:r>
              <a:rPr lang="en-US" sz="200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sz="2000"/>
              <a:t>a </a:t>
            </a:r>
            <a:r>
              <a:rPr lang="en-US" sz="2000">
                <a:latin typeface="Symbol" pitchFamily="18" charset="2"/>
              </a:rPr>
              <a:t>-</a:t>
            </a:r>
            <a:r>
              <a:rPr lang="en-US" sz="2000"/>
              <a:t> 1) </a:t>
            </a:r>
            <a:r>
              <a:rPr lang="en-US" sz="2000">
                <a:latin typeface="Symbol" pitchFamily="18" charset="2"/>
              </a:rPr>
              <a:t>+</a:t>
            </a:r>
            <a:r>
              <a:rPr lang="en-US" sz="2000"/>
              <a:t> (3 </a:t>
            </a:r>
            <a:r>
              <a:rPr lang="en-US" sz="2000">
                <a:latin typeface="Symbol" pitchFamily="18" charset="2"/>
                <a:sym typeface="Symbol" pitchFamily="18" charset="2"/>
              </a:rPr>
              <a:t> </a:t>
            </a:r>
            <a:r>
              <a:rPr lang="en-US" sz="2000"/>
              <a:t>b))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819400" y="4038600"/>
            <a:ext cx="3429000" cy="2286000"/>
            <a:chOff x="2928" y="2256"/>
            <a:chExt cx="2160" cy="1440"/>
          </a:xfrm>
        </p:grpSpPr>
        <p:sp>
          <p:nvSpPr>
            <p:cNvPr id="386053" name="Oval 5"/>
            <p:cNvSpPr>
              <a:spLocks noChangeArrowheads="1"/>
            </p:cNvSpPr>
            <p:nvPr/>
          </p:nvSpPr>
          <p:spPr bwMode="auto">
            <a:xfrm>
              <a:off x="4128" y="225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anchor="ctr" anchorCtr="1"/>
            <a:lstStyle/>
            <a:p>
              <a:pPr algn="ctr"/>
              <a:r>
                <a:rPr lang="en-US">
                  <a:latin typeface="Symbol" pitchFamily="18" charset="2"/>
                </a:rPr>
                <a:t>+</a:t>
              </a:r>
            </a:p>
          </p:txBody>
        </p:sp>
        <p:sp>
          <p:nvSpPr>
            <p:cNvPr id="386054" name="Oval 6"/>
            <p:cNvSpPr>
              <a:spLocks noChangeArrowheads="1"/>
            </p:cNvSpPr>
            <p:nvPr/>
          </p:nvSpPr>
          <p:spPr bwMode="auto">
            <a:xfrm>
              <a:off x="46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anchor="ctr" anchorCtr="1"/>
            <a:lstStyle/>
            <a:p>
              <a:pPr algn="ctr"/>
              <a:r>
                <a:rPr lang="en-US">
                  <a:latin typeface="Symbol" pitchFamily="18" charset="2"/>
                  <a:sym typeface="Symbol" pitchFamily="18" charset="2"/>
                </a:rPr>
                <a:t></a:t>
              </a:r>
            </a:p>
          </p:txBody>
        </p:sp>
        <p:sp>
          <p:nvSpPr>
            <p:cNvPr id="386055" name="Oval 7"/>
            <p:cNvSpPr>
              <a:spLocks noChangeArrowheads="1"/>
            </p:cNvSpPr>
            <p:nvPr/>
          </p:nvSpPr>
          <p:spPr bwMode="auto">
            <a:xfrm>
              <a:off x="316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anchor="ctr" anchorCtr="1"/>
            <a:lstStyle/>
            <a:p>
              <a:pPr algn="ctr"/>
              <a:r>
                <a:rPr lang="en-US">
                  <a:latin typeface="Symbol" pitchFamily="18" charset="2"/>
                  <a:sym typeface="Symbol" pitchFamily="18" charset="2"/>
                </a:rPr>
                <a:t></a:t>
              </a:r>
              <a:endParaRPr lang="en-US">
                <a:latin typeface="Symbol" pitchFamily="18" charset="2"/>
              </a:endParaRPr>
            </a:p>
          </p:txBody>
        </p:sp>
        <p:sp>
          <p:nvSpPr>
            <p:cNvPr id="386056" name="Oval 8"/>
            <p:cNvSpPr>
              <a:spLocks noChangeArrowheads="1"/>
            </p:cNvSpPr>
            <p:nvPr/>
          </p:nvSpPr>
          <p:spPr bwMode="auto">
            <a:xfrm>
              <a:off x="3648" y="302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anchor="ctr" anchorCtr="1"/>
            <a:lstStyle/>
            <a:p>
              <a:pPr algn="ctr"/>
              <a:r>
                <a:rPr lang="en-US">
                  <a:latin typeface="Symbol" pitchFamily="18" charset="2"/>
                </a:rPr>
                <a:t>-</a:t>
              </a:r>
            </a:p>
          </p:txBody>
        </p:sp>
        <p:sp>
          <p:nvSpPr>
            <p:cNvPr id="386057" name="Rectangle 9"/>
            <p:cNvSpPr>
              <a:spLocks noChangeArrowheads="1"/>
            </p:cNvSpPr>
            <p:nvPr/>
          </p:nvSpPr>
          <p:spPr bwMode="auto">
            <a:xfrm>
              <a:off x="292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latin typeface="Tahoma" pitchFamily="34" charset="0"/>
                </a:rPr>
                <a:t>2</a:t>
              </a:r>
            </a:p>
          </p:txBody>
        </p:sp>
        <p:sp>
          <p:nvSpPr>
            <p:cNvPr id="386058" name="Rectangle 10"/>
            <p:cNvSpPr>
              <a:spLocks noChangeArrowheads="1"/>
            </p:cNvSpPr>
            <p:nvPr/>
          </p:nvSpPr>
          <p:spPr bwMode="auto">
            <a:xfrm>
              <a:off x="340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latin typeface="Tahoma" pitchFamily="34" charset="0"/>
                </a:rPr>
                <a:t>a</a:t>
              </a:r>
            </a:p>
          </p:txBody>
        </p:sp>
        <p:sp>
          <p:nvSpPr>
            <p:cNvPr id="386059" name="Rectangle 11"/>
            <p:cNvSpPr>
              <a:spLocks noChangeArrowheads="1"/>
            </p:cNvSpPr>
            <p:nvPr/>
          </p:nvSpPr>
          <p:spPr bwMode="auto">
            <a:xfrm>
              <a:off x="388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latin typeface="Tahoma" pitchFamily="34" charset="0"/>
                </a:rPr>
                <a:t>1</a:t>
              </a:r>
            </a:p>
          </p:txBody>
        </p:sp>
        <p:sp>
          <p:nvSpPr>
            <p:cNvPr id="386060" name="Rectangle 12"/>
            <p:cNvSpPr>
              <a:spLocks noChangeArrowheads="1"/>
            </p:cNvSpPr>
            <p:nvPr/>
          </p:nvSpPr>
          <p:spPr bwMode="auto">
            <a:xfrm>
              <a:off x="436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latin typeface="Tahoma" pitchFamily="34" charset="0"/>
                </a:rPr>
                <a:t>3</a:t>
              </a:r>
            </a:p>
          </p:txBody>
        </p:sp>
        <p:sp>
          <p:nvSpPr>
            <p:cNvPr id="386061" name="Rectangle 13"/>
            <p:cNvSpPr>
              <a:spLocks noChangeArrowheads="1"/>
            </p:cNvSpPr>
            <p:nvPr/>
          </p:nvSpPr>
          <p:spPr bwMode="auto">
            <a:xfrm>
              <a:off x="484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latin typeface="Tahoma" pitchFamily="34" charset="0"/>
                </a:rPr>
                <a:t>b</a:t>
              </a:r>
            </a:p>
          </p:txBody>
        </p:sp>
        <p:cxnSp>
          <p:nvCxnSpPr>
            <p:cNvPr id="386062" name="AutoShape 14"/>
            <p:cNvCxnSpPr>
              <a:cxnSpLocks noChangeShapeType="1"/>
              <a:stCxn id="386053" idx="3"/>
              <a:endCxn id="386055" idx="7"/>
            </p:cNvCxnSpPr>
            <p:nvPr/>
          </p:nvCxnSpPr>
          <p:spPr bwMode="auto">
            <a:xfrm flipH="1">
              <a:off x="3373" y="2467"/>
              <a:ext cx="79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86063" name="AutoShape 15"/>
            <p:cNvCxnSpPr>
              <a:cxnSpLocks noChangeShapeType="1"/>
              <a:stCxn id="386054" idx="1"/>
              <a:endCxn id="386053" idx="5"/>
            </p:cNvCxnSpPr>
            <p:nvPr/>
          </p:nvCxnSpPr>
          <p:spPr bwMode="auto">
            <a:xfrm flipH="1" flipV="1">
              <a:off x="4333" y="2467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86064" name="AutoShape 16"/>
            <p:cNvCxnSpPr>
              <a:cxnSpLocks noChangeShapeType="1"/>
              <a:stCxn id="386061" idx="0"/>
              <a:endCxn id="386054" idx="5"/>
            </p:cNvCxnSpPr>
            <p:nvPr/>
          </p:nvCxnSpPr>
          <p:spPr bwMode="auto">
            <a:xfrm flipH="1" flipV="1">
              <a:off x="4813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86065" name="AutoShape 17"/>
            <p:cNvCxnSpPr>
              <a:cxnSpLocks noChangeShapeType="1"/>
              <a:stCxn id="386060" idx="0"/>
              <a:endCxn id="386054" idx="3"/>
            </p:cNvCxnSpPr>
            <p:nvPr/>
          </p:nvCxnSpPr>
          <p:spPr bwMode="auto">
            <a:xfrm flipV="1">
              <a:off x="448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86066" name="AutoShape 18"/>
            <p:cNvCxnSpPr>
              <a:cxnSpLocks noChangeShapeType="1"/>
              <a:stCxn id="386059" idx="0"/>
              <a:endCxn id="386056" idx="5"/>
            </p:cNvCxnSpPr>
            <p:nvPr/>
          </p:nvCxnSpPr>
          <p:spPr bwMode="auto">
            <a:xfrm flipH="1" flipV="1">
              <a:off x="3853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86067" name="AutoShape 19"/>
            <p:cNvCxnSpPr>
              <a:cxnSpLocks noChangeShapeType="1"/>
              <a:stCxn id="386058" idx="0"/>
              <a:endCxn id="386056" idx="3"/>
            </p:cNvCxnSpPr>
            <p:nvPr/>
          </p:nvCxnSpPr>
          <p:spPr bwMode="auto">
            <a:xfrm flipV="1">
              <a:off x="3528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86068" name="AutoShape 20"/>
            <p:cNvCxnSpPr>
              <a:cxnSpLocks noChangeShapeType="1"/>
              <a:stCxn id="386057" idx="0"/>
              <a:endCxn id="386055" idx="3"/>
            </p:cNvCxnSpPr>
            <p:nvPr/>
          </p:nvCxnSpPr>
          <p:spPr bwMode="auto">
            <a:xfrm flipV="1">
              <a:off x="304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86069" name="AutoShape 21"/>
            <p:cNvCxnSpPr>
              <a:cxnSpLocks noChangeShapeType="1"/>
              <a:stCxn id="386056" idx="1"/>
              <a:endCxn id="386055" idx="5"/>
            </p:cNvCxnSpPr>
            <p:nvPr/>
          </p:nvCxnSpPr>
          <p:spPr bwMode="auto">
            <a:xfrm flipH="1" flipV="1">
              <a:off x="3373" y="2851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ChangeArrowheads="1"/>
          </p:cNvSpPr>
          <p:nvPr/>
        </p:nvSpPr>
        <p:spPr bwMode="auto">
          <a:xfrm>
            <a:off x="1143000" y="0"/>
            <a:ext cx="8686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r>
              <a:rPr lang="en-US" altLang="zh-TW" sz="4000" i="1" dirty="0">
                <a:latin typeface="Georgia" pitchFamily="18" charset="0"/>
                <a:ea typeface="新細明體" pitchFamily="18" charset="-120"/>
              </a:rPr>
              <a:t>Maximum Number of Nodes in a Binary Tree</a:t>
            </a:r>
          </a:p>
        </p:txBody>
      </p:sp>
      <p:sp>
        <p:nvSpPr>
          <p:cNvPr id="388099" name="Rectangle 3"/>
          <p:cNvSpPr>
            <a:spLocks noChangeArrowheads="1"/>
          </p:cNvSpPr>
          <p:nvPr/>
        </p:nvSpPr>
        <p:spPr bwMode="auto">
          <a:xfrm>
            <a:off x="685800" y="1981200"/>
            <a:ext cx="7696200" cy="37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FontTx/>
              <a:buBlip>
                <a:blip r:embed="rId4"/>
              </a:buBlip>
            </a:pPr>
            <a:r>
              <a:rPr lang="en-US" altLang="zh-TW" dirty="0">
                <a:latin typeface="Georgia" pitchFamily="18" charset="0"/>
                <a:ea typeface="新細明體" pitchFamily="18" charset="-120"/>
              </a:rPr>
              <a:t>The maximum number of nodes on depth </a:t>
            </a:r>
            <a:r>
              <a:rPr lang="en-US" altLang="zh-TW" dirty="0" err="1">
                <a:latin typeface="Georgia" pitchFamily="18" charset="0"/>
                <a:ea typeface="新細明體" pitchFamily="18" charset="-120"/>
              </a:rPr>
              <a:t>i</a:t>
            </a:r>
            <a:r>
              <a:rPr lang="en-US" altLang="zh-TW" dirty="0">
                <a:latin typeface="Georgia" pitchFamily="18" charset="0"/>
                <a:ea typeface="新細明體" pitchFamily="18" charset="-120"/>
              </a:rPr>
              <a:t> of a binary tree is 2</a:t>
            </a:r>
            <a:r>
              <a:rPr lang="en-US" altLang="zh-TW" baseline="30000" dirty="0">
                <a:latin typeface="Georgia" pitchFamily="18" charset="0"/>
                <a:ea typeface="新細明體" pitchFamily="18" charset="-120"/>
              </a:rPr>
              <a:t>i</a:t>
            </a:r>
            <a:r>
              <a:rPr lang="en-US" altLang="zh-TW" dirty="0">
                <a:latin typeface="Georgia" pitchFamily="18" charset="0"/>
                <a:ea typeface="新細明體" pitchFamily="18" charset="-120"/>
              </a:rPr>
              <a:t>, </a:t>
            </a:r>
            <a:r>
              <a:rPr lang="en-US" altLang="zh-TW" dirty="0" err="1">
                <a:latin typeface="Georgia" pitchFamily="18" charset="0"/>
                <a:ea typeface="新細明體" pitchFamily="18" charset="-120"/>
              </a:rPr>
              <a:t>i</a:t>
            </a:r>
            <a:r>
              <a:rPr lang="en-US" altLang="zh-TW" dirty="0">
                <a:latin typeface="Georgia" pitchFamily="18" charset="0"/>
                <a:ea typeface="新細明體" pitchFamily="18" charset="-120"/>
              </a:rPr>
              <a:t>&gt;=0.</a:t>
            </a:r>
          </a:p>
          <a:p>
            <a:pPr marL="342900" indent="-342900">
              <a:spcBef>
                <a:spcPct val="20000"/>
              </a:spcBef>
              <a:buFontTx/>
              <a:buBlip>
                <a:blip r:embed="rId4"/>
              </a:buBlip>
            </a:pPr>
            <a:endParaRPr lang="en-US" altLang="zh-TW" sz="900" dirty="0">
              <a:latin typeface="Georgia" pitchFamily="18" charset="0"/>
              <a:ea typeface="新細明體" pitchFamily="18" charset="-120"/>
            </a:endParaRPr>
          </a:p>
          <a:p>
            <a:pPr marL="342900" indent="-342900">
              <a:spcBef>
                <a:spcPct val="20000"/>
              </a:spcBef>
              <a:buFontTx/>
              <a:buBlip>
                <a:blip r:embed="rId4"/>
              </a:buBlip>
            </a:pPr>
            <a:r>
              <a:rPr lang="en-US" altLang="zh-TW" dirty="0">
                <a:latin typeface="Georgia" pitchFamily="18" charset="0"/>
                <a:ea typeface="新細明體" pitchFamily="18" charset="-120"/>
              </a:rPr>
              <a:t>The maximum </a:t>
            </a:r>
            <a:r>
              <a:rPr lang="en-US" altLang="zh-TW" dirty="0" err="1">
                <a:latin typeface="Georgia" pitchFamily="18" charset="0"/>
                <a:ea typeface="新細明體" pitchFamily="18" charset="-120"/>
              </a:rPr>
              <a:t>nubmer</a:t>
            </a:r>
            <a:r>
              <a:rPr lang="en-US" altLang="zh-TW" dirty="0">
                <a:latin typeface="Georgia" pitchFamily="18" charset="0"/>
                <a:ea typeface="新細明體" pitchFamily="18" charset="-120"/>
              </a:rPr>
              <a:t> of nodes in a binary tree of height k is 2</a:t>
            </a:r>
            <a:r>
              <a:rPr lang="en-US" altLang="zh-TW" baseline="30000" dirty="0">
                <a:latin typeface="Georgia" pitchFamily="18" charset="0"/>
                <a:ea typeface="新細明體" pitchFamily="18" charset="-120"/>
              </a:rPr>
              <a:t>k+1</a:t>
            </a:r>
            <a:r>
              <a:rPr lang="en-US" altLang="zh-TW" dirty="0">
                <a:latin typeface="Georgia" pitchFamily="18" charset="0"/>
                <a:ea typeface="新細明體" pitchFamily="18" charset="-120"/>
              </a:rPr>
              <a:t>-1, k&gt;=0.</a:t>
            </a:r>
          </a:p>
        </p:txBody>
      </p:sp>
      <p:sp>
        <p:nvSpPr>
          <p:cNvPr id="388100" name="Text Box 4"/>
          <p:cNvSpPr txBox="1">
            <a:spLocks noChangeArrowheads="1"/>
          </p:cNvSpPr>
          <p:nvPr/>
        </p:nvSpPr>
        <p:spPr bwMode="auto">
          <a:xfrm>
            <a:off x="2286000" y="4267200"/>
            <a:ext cx="3482685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TW" sz="3200" b="1">
                <a:ea typeface="新細明體" pitchFamily="18" charset="-120"/>
              </a:rPr>
              <a:t>Prove by induction.</a:t>
            </a:r>
            <a:br>
              <a:rPr kumimoji="1" lang="en-US" altLang="zh-TW" sz="3200" b="1">
                <a:ea typeface="新細明體" pitchFamily="18" charset="-120"/>
              </a:rPr>
            </a:br>
            <a:endParaRPr kumimoji="1" lang="en-US" altLang="zh-TW" sz="3200" b="1">
              <a:ea typeface="新細明體" pitchFamily="18" charset="-120"/>
            </a:endParaRPr>
          </a:p>
          <a:p>
            <a:endParaRPr kumimoji="1" lang="en-US" altLang="zh-TW" sz="3200" b="1">
              <a:ea typeface="新細明體" pitchFamily="18" charset="-120"/>
            </a:endParaRPr>
          </a:p>
        </p:txBody>
      </p:sp>
      <p:graphicFrame>
        <p:nvGraphicFramePr>
          <p:cNvPr id="388101" name="Object 5"/>
          <p:cNvGraphicFramePr>
            <a:graphicFrameLocks noChangeAspect="1"/>
          </p:cNvGraphicFramePr>
          <p:nvPr/>
        </p:nvGraphicFramePr>
        <p:xfrm>
          <a:off x="3276600" y="4876800"/>
          <a:ext cx="2159000" cy="1004888"/>
        </p:xfrm>
        <a:graphic>
          <a:graphicData uri="http://schemas.openxmlformats.org/presentationml/2006/ole">
            <p:oleObj spid="_x0000_s1026" name="Equation" r:id="rId5" imgW="927000" imgH="4316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228600"/>
            <a:ext cx="7772400" cy="762000"/>
          </a:xfrm>
        </p:spPr>
        <p:txBody>
          <a:bodyPr/>
          <a:lstStyle/>
          <a:p>
            <a:r>
              <a:rPr lang="en-US"/>
              <a:t>Full Binary Tree</a:t>
            </a:r>
          </a:p>
        </p:txBody>
      </p:sp>
      <p:sp>
        <p:nvSpPr>
          <p:cNvPr id="390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305800" cy="990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A full binary tree of a given height </a:t>
            </a:r>
            <a:r>
              <a:rPr lang="en-US" sz="2400">
                <a:solidFill>
                  <a:schemeClr val="hlink"/>
                </a:solidFill>
              </a:rPr>
              <a:t>k</a:t>
            </a:r>
            <a:r>
              <a:rPr lang="en-US" sz="2400"/>
              <a:t> has </a:t>
            </a:r>
            <a:r>
              <a:rPr lang="en-US" sz="2400">
                <a:solidFill>
                  <a:schemeClr val="hlink"/>
                </a:solidFill>
              </a:rPr>
              <a:t>2</a:t>
            </a:r>
            <a:r>
              <a:rPr lang="en-US" sz="2400" baseline="30000">
                <a:solidFill>
                  <a:schemeClr val="hlink"/>
                </a:solidFill>
              </a:rPr>
              <a:t>k+1</a:t>
            </a:r>
            <a:r>
              <a:rPr lang="en-US" sz="2400">
                <a:solidFill>
                  <a:schemeClr val="hlink"/>
                </a:solidFill>
              </a:rPr>
              <a:t>–1 </a:t>
            </a:r>
            <a:r>
              <a:rPr lang="en-US" sz="2400"/>
              <a:t>nodes.</a:t>
            </a:r>
          </a:p>
          <a:p>
            <a:pPr>
              <a:lnSpc>
                <a:spcPct val="90000"/>
              </a:lnSpc>
            </a:pPr>
            <a:endParaRPr lang="en-US" sz="240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914400" y="2362200"/>
            <a:ext cx="7162800" cy="4160838"/>
            <a:chOff x="576" y="1488"/>
            <a:chExt cx="4512" cy="2621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576" y="1488"/>
              <a:ext cx="3984" cy="2141"/>
              <a:chOff x="576" y="1488"/>
              <a:chExt cx="3984" cy="2141"/>
            </a:xfrm>
          </p:grpSpPr>
          <p:grpSp>
            <p:nvGrpSpPr>
              <p:cNvPr id="4" name="Group 6"/>
              <p:cNvGrpSpPr>
                <a:grpSpLocks/>
              </p:cNvGrpSpPr>
              <p:nvPr/>
            </p:nvGrpSpPr>
            <p:grpSpPr bwMode="auto">
              <a:xfrm>
                <a:off x="864" y="2352"/>
                <a:ext cx="3456" cy="768"/>
                <a:chOff x="768" y="2208"/>
                <a:chExt cx="3456" cy="768"/>
              </a:xfrm>
            </p:grpSpPr>
            <p:sp>
              <p:nvSpPr>
                <p:cNvPr id="390151" name="Oval 7"/>
                <p:cNvSpPr>
                  <a:spLocks noChangeArrowheads="1"/>
                </p:cNvSpPr>
                <p:nvPr/>
              </p:nvSpPr>
              <p:spPr bwMode="auto">
                <a:xfrm>
                  <a:off x="768" y="2688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0152" name="Oval 8"/>
                <p:cNvSpPr>
                  <a:spLocks noChangeArrowheads="1"/>
                </p:cNvSpPr>
                <p:nvPr/>
              </p:nvSpPr>
              <p:spPr bwMode="auto">
                <a:xfrm>
                  <a:off x="2064" y="2736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0153" name="Oval 9"/>
                <p:cNvSpPr>
                  <a:spLocks noChangeArrowheads="1"/>
                </p:cNvSpPr>
                <p:nvPr/>
              </p:nvSpPr>
              <p:spPr bwMode="auto">
                <a:xfrm>
                  <a:off x="3168" y="2688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0154" name="Oval 10"/>
                <p:cNvSpPr>
                  <a:spLocks noChangeArrowheads="1"/>
                </p:cNvSpPr>
                <p:nvPr/>
              </p:nvSpPr>
              <p:spPr bwMode="auto">
                <a:xfrm>
                  <a:off x="3984" y="2736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0155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3312" y="2256"/>
                  <a:ext cx="240" cy="4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156" name="Line 12"/>
                <p:cNvSpPr>
                  <a:spLocks noChangeShapeType="1"/>
                </p:cNvSpPr>
                <p:nvPr/>
              </p:nvSpPr>
              <p:spPr bwMode="auto">
                <a:xfrm>
                  <a:off x="3744" y="2208"/>
                  <a:ext cx="336" cy="52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157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960" y="2208"/>
                  <a:ext cx="528" cy="52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158" name="Line 14"/>
                <p:cNvSpPr>
                  <a:spLocks noChangeShapeType="1"/>
                </p:cNvSpPr>
                <p:nvPr/>
              </p:nvSpPr>
              <p:spPr bwMode="auto">
                <a:xfrm>
                  <a:off x="1728" y="2208"/>
                  <a:ext cx="384" cy="57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15"/>
              <p:cNvGrpSpPr>
                <a:grpSpLocks/>
              </p:cNvGrpSpPr>
              <p:nvPr/>
            </p:nvGrpSpPr>
            <p:grpSpPr bwMode="auto">
              <a:xfrm>
                <a:off x="2640" y="1488"/>
                <a:ext cx="240" cy="365"/>
                <a:chOff x="4176" y="1104"/>
                <a:chExt cx="240" cy="365"/>
              </a:xfrm>
            </p:grpSpPr>
            <p:sp>
              <p:nvSpPr>
                <p:cNvPr id="390160" name="Oval 16"/>
                <p:cNvSpPr>
                  <a:spLocks noChangeArrowheads="1"/>
                </p:cNvSpPr>
                <p:nvPr/>
              </p:nvSpPr>
              <p:spPr bwMode="auto">
                <a:xfrm>
                  <a:off x="4176" y="1152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0161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176" y="1104"/>
                  <a:ext cx="240" cy="3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en-US" sz="3200">
                    <a:solidFill>
                      <a:schemeClr val="hlink"/>
                    </a:solidFill>
                  </a:endParaRPr>
                </a:p>
              </p:txBody>
            </p:sp>
          </p:grpSp>
          <p:grpSp>
            <p:nvGrpSpPr>
              <p:cNvPr id="6" name="Group 18"/>
              <p:cNvGrpSpPr>
                <a:grpSpLocks/>
              </p:cNvGrpSpPr>
              <p:nvPr/>
            </p:nvGrpSpPr>
            <p:grpSpPr bwMode="auto">
              <a:xfrm>
                <a:off x="1584" y="1680"/>
                <a:ext cx="2256" cy="845"/>
                <a:chOff x="1488" y="1536"/>
                <a:chExt cx="2256" cy="845"/>
              </a:xfrm>
            </p:grpSpPr>
            <p:grpSp>
              <p:nvGrpSpPr>
                <p:cNvPr id="7" name="Group 19"/>
                <p:cNvGrpSpPr>
                  <a:grpSpLocks/>
                </p:cNvGrpSpPr>
                <p:nvPr/>
              </p:nvGrpSpPr>
              <p:grpSpPr bwMode="auto">
                <a:xfrm>
                  <a:off x="3504" y="2016"/>
                  <a:ext cx="240" cy="365"/>
                  <a:chOff x="4176" y="1104"/>
                  <a:chExt cx="240" cy="365"/>
                </a:xfrm>
              </p:grpSpPr>
              <p:sp>
                <p:nvSpPr>
                  <p:cNvPr id="390164" name="Oval 20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0165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>
                      <a:solidFill>
                        <a:schemeClr val="hlink"/>
                      </a:solidFill>
                    </a:endParaRPr>
                  </a:p>
                </p:txBody>
              </p:sp>
            </p:grpSp>
            <p:grpSp>
              <p:nvGrpSpPr>
                <p:cNvPr id="8" name="Group 22"/>
                <p:cNvGrpSpPr>
                  <a:grpSpLocks/>
                </p:cNvGrpSpPr>
                <p:nvPr/>
              </p:nvGrpSpPr>
              <p:grpSpPr bwMode="auto">
                <a:xfrm>
                  <a:off x="1488" y="2016"/>
                  <a:ext cx="240" cy="365"/>
                  <a:chOff x="4176" y="1104"/>
                  <a:chExt cx="240" cy="365"/>
                </a:xfrm>
              </p:grpSpPr>
              <p:sp>
                <p:nvSpPr>
                  <p:cNvPr id="390167" name="Oval 23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0168" name="Text Box 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>
                      <a:solidFill>
                        <a:schemeClr val="hlink"/>
                      </a:solidFill>
                    </a:endParaRPr>
                  </a:p>
                </p:txBody>
              </p:sp>
            </p:grpSp>
            <p:sp>
              <p:nvSpPr>
                <p:cNvPr id="390169" name="Line 25"/>
                <p:cNvSpPr>
                  <a:spLocks noChangeShapeType="1"/>
                </p:cNvSpPr>
                <p:nvPr/>
              </p:nvSpPr>
              <p:spPr bwMode="auto">
                <a:xfrm flipH="1">
                  <a:off x="1680" y="1536"/>
                  <a:ext cx="864" cy="52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170" name="Line 26"/>
                <p:cNvSpPr>
                  <a:spLocks noChangeShapeType="1"/>
                </p:cNvSpPr>
                <p:nvPr/>
              </p:nvSpPr>
              <p:spPr bwMode="auto">
                <a:xfrm>
                  <a:off x="2736" y="1584"/>
                  <a:ext cx="816" cy="52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9" name="Group 27"/>
              <p:cNvGrpSpPr>
                <a:grpSpLocks/>
              </p:cNvGrpSpPr>
              <p:nvPr/>
            </p:nvGrpSpPr>
            <p:grpSpPr bwMode="auto">
              <a:xfrm>
                <a:off x="576" y="2976"/>
                <a:ext cx="3984" cy="653"/>
                <a:chOff x="480" y="2832"/>
                <a:chExt cx="3984" cy="653"/>
              </a:xfrm>
            </p:grpSpPr>
            <p:grpSp>
              <p:nvGrpSpPr>
                <p:cNvPr id="10" name="Group 28"/>
                <p:cNvGrpSpPr>
                  <a:grpSpLocks/>
                </p:cNvGrpSpPr>
                <p:nvPr/>
              </p:nvGrpSpPr>
              <p:grpSpPr bwMode="auto">
                <a:xfrm>
                  <a:off x="480" y="3072"/>
                  <a:ext cx="240" cy="365"/>
                  <a:chOff x="4176" y="1104"/>
                  <a:chExt cx="240" cy="365"/>
                </a:xfrm>
              </p:grpSpPr>
              <p:sp>
                <p:nvSpPr>
                  <p:cNvPr id="390173" name="Oval 29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0174" name="Text Box 3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>
                      <a:solidFill>
                        <a:schemeClr val="hlink"/>
                      </a:solidFill>
                    </a:endParaRPr>
                  </a:p>
                </p:txBody>
              </p:sp>
            </p:grpSp>
            <p:grpSp>
              <p:nvGrpSpPr>
                <p:cNvPr id="11" name="Group 31"/>
                <p:cNvGrpSpPr>
                  <a:grpSpLocks/>
                </p:cNvGrpSpPr>
                <p:nvPr/>
              </p:nvGrpSpPr>
              <p:grpSpPr bwMode="auto">
                <a:xfrm>
                  <a:off x="1104" y="3072"/>
                  <a:ext cx="240" cy="365"/>
                  <a:chOff x="4176" y="1104"/>
                  <a:chExt cx="240" cy="365"/>
                </a:xfrm>
              </p:grpSpPr>
              <p:sp>
                <p:nvSpPr>
                  <p:cNvPr id="390176" name="Oval 32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0177" name="Text Box 3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>
                      <a:solidFill>
                        <a:schemeClr val="hlink"/>
                      </a:solidFill>
                    </a:endParaRPr>
                  </a:p>
                </p:txBody>
              </p:sp>
            </p:grpSp>
            <p:sp>
              <p:nvSpPr>
                <p:cNvPr id="390178" name="Line 34"/>
                <p:cNvSpPr>
                  <a:spLocks noChangeShapeType="1"/>
                </p:cNvSpPr>
                <p:nvPr/>
              </p:nvSpPr>
              <p:spPr bwMode="auto">
                <a:xfrm flipH="1">
                  <a:off x="672" y="2880"/>
                  <a:ext cx="144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179" name="Line 35"/>
                <p:cNvSpPr>
                  <a:spLocks noChangeShapeType="1"/>
                </p:cNvSpPr>
                <p:nvPr/>
              </p:nvSpPr>
              <p:spPr bwMode="auto">
                <a:xfrm>
                  <a:off x="1008" y="2832"/>
                  <a:ext cx="192" cy="28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2" name="Group 36"/>
                <p:cNvGrpSpPr>
                  <a:grpSpLocks/>
                </p:cNvGrpSpPr>
                <p:nvPr/>
              </p:nvGrpSpPr>
              <p:grpSpPr bwMode="auto">
                <a:xfrm>
                  <a:off x="1776" y="3120"/>
                  <a:ext cx="240" cy="365"/>
                  <a:chOff x="4176" y="1104"/>
                  <a:chExt cx="240" cy="365"/>
                </a:xfrm>
              </p:grpSpPr>
              <p:sp>
                <p:nvSpPr>
                  <p:cNvPr id="390181" name="Oval 37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0182" name="Text Box 3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>
                      <a:solidFill>
                        <a:schemeClr val="hlink"/>
                      </a:solidFill>
                    </a:endParaRPr>
                  </a:p>
                </p:txBody>
              </p:sp>
            </p:grpSp>
            <p:grpSp>
              <p:nvGrpSpPr>
                <p:cNvPr id="13" name="Group 39"/>
                <p:cNvGrpSpPr>
                  <a:grpSpLocks/>
                </p:cNvGrpSpPr>
                <p:nvPr/>
              </p:nvGrpSpPr>
              <p:grpSpPr bwMode="auto">
                <a:xfrm>
                  <a:off x="2400" y="3120"/>
                  <a:ext cx="240" cy="365"/>
                  <a:chOff x="4176" y="1104"/>
                  <a:chExt cx="240" cy="365"/>
                </a:xfrm>
              </p:grpSpPr>
              <p:sp>
                <p:nvSpPr>
                  <p:cNvPr id="390184" name="Oval 40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0185" name="Text Box 4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>
                      <a:solidFill>
                        <a:schemeClr val="hlink"/>
                      </a:solidFill>
                    </a:endParaRPr>
                  </a:p>
                </p:txBody>
              </p:sp>
            </p:grpSp>
            <p:sp>
              <p:nvSpPr>
                <p:cNvPr id="390186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1968" y="2928"/>
                  <a:ext cx="144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187" name="Line 43"/>
                <p:cNvSpPr>
                  <a:spLocks noChangeShapeType="1"/>
                </p:cNvSpPr>
                <p:nvPr/>
              </p:nvSpPr>
              <p:spPr bwMode="auto">
                <a:xfrm>
                  <a:off x="2304" y="2880"/>
                  <a:ext cx="192" cy="28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4" name="Group 44"/>
                <p:cNvGrpSpPr>
                  <a:grpSpLocks/>
                </p:cNvGrpSpPr>
                <p:nvPr/>
              </p:nvGrpSpPr>
              <p:grpSpPr bwMode="auto">
                <a:xfrm>
                  <a:off x="2928" y="3120"/>
                  <a:ext cx="240" cy="365"/>
                  <a:chOff x="4176" y="1104"/>
                  <a:chExt cx="240" cy="365"/>
                </a:xfrm>
              </p:grpSpPr>
              <p:sp>
                <p:nvSpPr>
                  <p:cNvPr id="390189" name="Oval 45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0190" name="Text Box 4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>
                      <a:solidFill>
                        <a:schemeClr val="hlink"/>
                      </a:solidFill>
                    </a:endParaRPr>
                  </a:p>
                </p:txBody>
              </p:sp>
            </p:grpSp>
            <p:grpSp>
              <p:nvGrpSpPr>
                <p:cNvPr id="15" name="Group 47"/>
                <p:cNvGrpSpPr>
                  <a:grpSpLocks/>
                </p:cNvGrpSpPr>
                <p:nvPr/>
              </p:nvGrpSpPr>
              <p:grpSpPr bwMode="auto">
                <a:xfrm>
                  <a:off x="3360" y="3120"/>
                  <a:ext cx="240" cy="365"/>
                  <a:chOff x="4176" y="1104"/>
                  <a:chExt cx="240" cy="365"/>
                </a:xfrm>
              </p:grpSpPr>
              <p:sp>
                <p:nvSpPr>
                  <p:cNvPr id="390192" name="Oval 48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0193" name="Text Box 4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>
                      <a:solidFill>
                        <a:schemeClr val="hlink"/>
                      </a:solidFill>
                    </a:endParaRPr>
                  </a:p>
                </p:txBody>
              </p:sp>
            </p:grpSp>
            <p:grpSp>
              <p:nvGrpSpPr>
                <p:cNvPr id="16" name="Group 50"/>
                <p:cNvGrpSpPr>
                  <a:grpSpLocks/>
                </p:cNvGrpSpPr>
                <p:nvPr/>
              </p:nvGrpSpPr>
              <p:grpSpPr bwMode="auto">
                <a:xfrm>
                  <a:off x="3792" y="3120"/>
                  <a:ext cx="240" cy="365"/>
                  <a:chOff x="4176" y="1104"/>
                  <a:chExt cx="240" cy="365"/>
                </a:xfrm>
              </p:grpSpPr>
              <p:sp>
                <p:nvSpPr>
                  <p:cNvPr id="390195" name="Oval 51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0196" name="Text Box 5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>
                      <a:solidFill>
                        <a:schemeClr val="hlink"/>
                      </a:solidFill>
                    </a:endParaRPr>
                  </a:p>
                </p:txBody>
              </p:sp>
            </p:grpSp>
            <p:grpSp>
              <p:nvGrpSpPr>
                <p:cNvPr id="17" name="Group 53"/>
                <p:cNvGrpSpPr>
                  <a:grpSpLocks/>
                </p:cNvGrpSpPr>
                <p:nvPr/>
              </p:nvGrpSpPr>
              <p:grpSpPr bwMode="auto">
                <a:xfrm>
                  <a:off x="4224" y="3120"/>
                  <a:ext cx="240" cy="365"/>
                  <a:chOff x="4176" y="1104"/>
                  <a:chExt cx="240" cy="365"/>
                </a:xfrm>
              </p:grpSpPr>
              <p:sp>
                <p:nvSpPr>
                  <p:cNvPr id="390198" name="Oval 54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0199" name="Text Box 5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>
                      <a:solidFill>
                        <a:schemeClr val="hlink"/>
                      </a:solidFill>
                    </a:endParaRPr>
                  </a:p>
                </p:txBody>
              </p:sp>
            </p:grpSp>
            <p:sp>
              <p:nvSpPr>
                <p:cNvPr id="390200" name="Line 56"/>
                <p:cNvSpPr>
                  <a:spLocks noChangeShapeType="1"/>
                </p:cNvSpPr>
                <p:nvPr/>
              </p:nvSpPr>
              <p:spPr bwMode="auto">
                <a:xfrm flipH="1">
                  <a:off x="3072" y="2928"/>
                  <a:ext cx="192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201" name="Line 57"/>
                <p:cNvSpPr>
                  <a:spLocks noChangeShapeType="1"/>
                </p:cNvSpPr>
                <p:nvPr/>
              </p:nvSpPr>
              <p:spPr bwMode="auto">
                <a:xfrm>
                  <a:off x="3360" y="2928"/>
                  <a:ext cx="96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202" name="Line 58"/>
                <p:cNvSpPr>
                  <a:spLocks noChangeShapeType="1"/>
                </p:cNvSpPr>
                <p:nvPr/>
              </p:nvSpPr>
              <p:spPr bwMode="auto">
                <a:xfrm flipH="1">
                  <a:off x="3936" y="2928"/>
                  <a:ext cx="96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203" name="Line 59"/>
                <p:cNvSpPr>
                  <a:spLocks noChangeShapeType="1"/>
                </p:cNvSpPr>
                <p:nvPr/>
              </p:nvSpPr>
              <p:spPr bwMode="auto">
                <a:xfrm>
                  <a:off x="4176" y="2928"/>
                  <a:ext cx="192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390204" name="Text Box 60"/>
            <p:cNvSpPr txBox="1">
              <a:spLocks noChangeArrowheads="1"/>
            </p:cNvSpPr>
            <p:nvPr/>
          </p:nvSpPr>
          <p:spPr bwMode="auto">
            <a:xfrm>
              <a:off x="960" y="3744"/>
              <a:ext cx="4128" cy="36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3200"/>
                <a:t>Height </a:t>
              </a:r>
              <a:r>
                <a:rPr lang="en-US" sz="3200">
                  <a:solidFill>
                    <a:schemeClr val="hlink"/>
                  </a:solidFill>
                </a:rPr>
                <a:t>3</a:t>
              </a:r>
              <a:r>
                <a:rPr lang="en-US" sz="3200"/>
                <a:t> full binary tree.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0"/>
            <a:ext cx="8534400" cy="1143000"/>
          </a:xfrm>
        </p:spPr>
        <p:txBody>
          <a:bodyPr/>
          <a:lstStyle/>
          <a:p>
            <a:r>
              <a:rPr lang="en-US" sz="3200"/>
              <a:t>Labeling Nodes In A Full Binary Tree</a:t>
            </a:r>
          </a:p>
        </p:txBody>
      </p:sp>
      <p:sp>
        <p:nvSpPr>
          <p:cNvPr id="391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1828800"/>
          </a:xfrm>
        </p:spPr>
        <p:txBody>
          <a:bodyPr/>
          <a:lstStyle/>
          <a:p>
            <a:r>
              <a:rPr lang="en-US"/>
              <a:t>Label the nodes </a:t>
            </a:r>
            <a:r>
              <a:rPr lang="en-US">
                <a:solidFill>
                  <a:schemeClr val="hlink"/>
                </a:solidFill>
              </a:rPr>
              <a:t>1</a:t>
            </a:r>
            <a:r>
              <a:rPr lang="en-US"/>
              <a:t> through </a:t>
            </a:r>
            <a:r>
              <a:rPr lang="en-US">
                <a:solidFill>
                  <a:schemeClr val="hlink"/>
                </a:solidFill>
              </a:rPr>
              <a:t>2</a:t>
            </a:r>
            <a:r>
              <a:rPr lang="en-US" baseline="30000">
                <a:solidFill>
                  <a:schemeClr val="hlink"/>
                </a:solidFill>
              </a:rPr>
              <a:t>k+1</a:t>
            </a:r>
            <a:r>
              <a:rPr lang="en-US">
                <a:solidFill>
                  <a:schemeClr val="hlink"/>
                </a:solidFill>
              </a:rPr>
              <a:t> – 1</a:t>
            </a:r>
            <a:r>
              <a:rPr lang="en-US"/>
              <a:t>. </a:t>
            </a:r>
          </a:p>
          <a:p>
            <a:r>
              <a:rPr lang="en-US"/>
              <a:t>Label by levels from top to bottom.</a:t>
            </a:r>
          </a:p>
          <a:p>
            <a:r>
              <a:rPr lang="en-US"/>
              <a:t>Within a level, label from left to right.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990600" y="3200400"/>
            <a:ext cx="6324600" cy="3398838"/>
            <a:chOff x="624" y="2016"/>
            <a:chExt cx="3984" cy="2141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912" y="2880"/>
              <a:ext cx="3456" cy="768"/>
              <a:chOff x="768" y="2208"/>
              <a:chExt cx="3456" cy="768"/>
            </a:xfrm>
          </p:grpSpPr>
          <p:sp>
            <p:nvSpPr>
              <p:cNvPr id="391174" name="Oval 6"/>
              <p:cNvSpPr>
                <a:spLocks noChangeArrowheads="1"/>
              </p:cNvSpPr>
              <p:nvPr/>
            </p:nvSpPr>
            <p:spPr bwMode="auto">
              <a:xfrm>
                <a:off x="768" y="2688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1175" name="Oval 7"/>
              <p:cNvSpPr>
                <a:spLocks noChangeArrowheads="1"/>
              </p:cNvSpPr>
              <p:nvPr/>
            </p:nvSpPr>
            <p:spPr bwMode="auto">
              <a:xfrm>
                <a:off x="2064" y="273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1176" name="Oval 8"/>
              <p:cNvSpPr>
                <a:spLocks noChangeArrowheads="1"/>
              </p:cNvSpPr>
              <p:nvPr/>
            </p:nvSpPr>
            <p:spPr bwMode="auto">
              <a:xfrm>
                <a:off x="3168" y="2688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1177" name="Oval 9"/>
              <p:cNvSpPr>
                <a:spLocks noChangeArrowheads="1"/>
              </p:cNvSpPr>
              <p:nvPr/>
            </p:nvSpPr>
            <p:spPr bwMode="auto">
              <a:xfrm>
                <a:off x="3984" y="273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1178" name="Line 10"/>
              <p:cNvSpPr>
                <a:spLocks noChangeShapeType="1"/>
              </p:cNvSpPr>
              <p:nvPr/>
            </p:nvSpPr>
            <p:spPr bwMode="auto">
              <a:xfrm flipH="1">
                <a:off x="3312" y="2256"/>
                <a:ext cx="240" cy="43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179" name="Line 11"/>
              <p:cNvSpPr>
                <a:spLocks noChangeShapeType="1"/>
              </p:cNvSpPr>
              <p:nvPr/>
            </p:nvSpPr>
            <p:spPr bwMode="auto">
              <a:xfrm>
                <a:off x="3744" y="2208"/>
                <a:ext cx="336" cy="5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180" name="Line 12"/>
              <p:cNvSpPr>
                <a:spLocks noChangeShapeType="1"/>
              </p:cNvSpPr>
              <p:nvPr/>
            </p:nvSpPr>
            <p:spPr bwMode="auto">
              <a:xfrm flipH="1">
                <a:off x="960" y="2208"/>
                <a:ext cx="528" cy="5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181" name="Line 13"/>
              <p:cNvSpPr>
                <a:spLocks noChangeShapeType="1"/>
              </p:cNvSpPr>
              <p:nvPr/>
            </p:nvSpPr>
            <p:spPr bwMode="auto">
              <a:xfrm>
                <a:off x="1728" y="2208"/>
                <a:ext cx="384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" name="Group 14"/>
            <p:cNvGrpSpPr>
              <a:grpSpLocks/>
            </p:cNvGrpSpPr>
            <p:nvPr/>
          </p:nvGrpSpPr>
          <p:grpSpPr bwMode="auto">
            <a:xfrm>
              <a:off x="2688" y="2016"/>
              <a:ext cx="240" cy="365"/>
              <a:chOff x="4176" y="1104"/>
              <a:chExt cx="240" cy="365"/>
            </a:xfrm>
          </p:grpSpPr>
          <p:sp>
            <p:nvSpPr>
              <p:cNvPr id="391183" name="Oval 15"/>
              <p:cNvSpPr>
                <a:spLocks noChangeArrowheads="1"/>
              </p:cNvSpPr>
              <p:nvPr/>
            </p:nvSpPr>
            <p:spPr bwMode="auto"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1184" name="Text Box 16"/>
              <p:cNvSpPr txBox="1">
                <a:spLocks noChangeArrowheads="1"/>
              </p:cNvSpPr>
              <p:nvPr/>
            </p:nvSpPr>
            <p:spPr bwMode="auto">
              <a:xfrm>
                <a:off x="4176" y="1104"/>
                <a:ext cx="240" cy="365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endParaRPr lang="en-US" sz="3200"/>
              </a:p>
            </p:txBody>
          </p:sp>
        </p:grpSp>
        <p:grpSp>
          <p:nvGrpSpPr>
            <p:cNvPr id="5" name="Group 17"/>
            <p:cNvGrpSpPr>
              <a:grpSpLocks/>
            </p:cNvGrpSpPr>
            <p:nvPr/>
          </p:nvGrpSpPr>
          <p:grpSpPr bwMode="auto">
            <a:xfrm>
              <a:off x="1632" y="2208"/>
              <a:ext cx="2256" cy="845"/>
              <a:chOff x="1488" y="1536"/>
              <a:chExt cx="2256" cy="845"/>
            </a:xfrm>
          </p:grpSpPr>
          <p:grpSp>
            <p:nvGrpSpPr>
              <p:cNvPr id="6" name="Group 18"/>
              <p:cNvGrpSpPr>
                <a:grpSpLocks/>
              </p:cNvGrpSpPr>
              <p:nvPr/>
            </p:nvGrpSpPr>
            <p:grpSpPr bwMode="auto">
              <a:xfrm>
                <a:off x="3504" y="2016"/>
                <a:ext cx="240" cy="365"/>
                <a:chOff x="4176" y="1104"/>
                <a:chExt cx="240" cy="365"/>
              </a:xfrm>
            </p:grpSpPr>
            <p:sp>
              <p:nvSpPr>
                <p:cNvPr id="391187" name="Oval 19"/>
                <p:cNvSpPr>
                  <a:spLocks noChangeArrowheads="1"/>
                </p:cNvSpPr>
                <p:nvPr/>
              </p:nvSpPr>
              <p:spPr bwMode="auto">
                <a:xfrm>
                  <a:off x="4176" y="1152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1188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4176" y="1104"/>
                  <a:ext cx="240" cy="3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en-US" sz="3200"/>
                </a:p>
              </p:txBody>
            </p:sp>
          </p:grpSp>
          <p:grpSp>
            <p:nvGrpSpPr>
              <p:cNvPr id="7" name="Group 21"/>
              <p:cNvGrpSpPr>
                <a:grpSpLocks/>
              </p:cNvGrpSpPr>
              <p:nvPr/>
            </p:nvGrpSpPr>
            <p:grpSpPr bwMode="auto">
              <a:xfrm>
                <a:off x="1488" y="2016"/>
                <a:ext cx="240" cy="365"/>
                <a:chOff x="4176" y="1104"/>
                <a:chExt cx="240" cy="365"/>
              </a:xfrm>
            </p:grpSpPr>
            <p:sp>
              <p:nvSpPr>
                <p:cNvPr id="391190" name="Oval 22"/>
                <p:cNvSpPr>
                  <a:spLocks noChangeArrowheads="1"/>
                </p:cNvSpPr>
                <p:nvPr/>
              </p:nvSpPr>
              <p:spPr bwMode="auto">
                <a:xfrm>
                  <a:off x="4176" y="1152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1191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4176" y="1104"/>
                  <a:ext cx="240" cy="3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en-US" sz="3200"/>
                </a:p>
              </p:txBody>
            </p:sp>
          </p:grpSp>
          <p:sp>
            <p:nvSpPr>
              <p:cNvPr id="391192" name="Line 24"/>
              <p:cNvSpPr>
                <a:spLocks noChangeShapeType="1"/>
              </p:cNvSpPr>
              <p:nvPr/>
            </p:nvSpPr>
            <p:spPr bwMode="auto">
              <a:xfrm flipH="1">
                <a:off x="1680" y="1536"/>
                <a:ext cx="864" cy="5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193" name="Line 25"/>
              <p:cNvSpPr>
                <a:spLocks noChangeShapeType="1"/>
              </p:cNvSpPr>
              <p:nvPr/>
            </p:nvSpPr>
            <p:spPr bwMode="auto">
              <a:xfrm>
                <a:off x="2736" y="1584"/>
                <a:ext cx="816" cy="5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" name="Group 26"/>
            <p:cNvGrpSpPr>
              <a:grpSpLocks/>
            </p:cNvGrpSpPr>
            <p:nvPr/>
          </p:nvGrpSpPr>
          <p:grpSpPr bwMode="auto">
            <a:xfrm>
              <a:off x="624" y="3504"/>
              <a:ext cx="3984" cy="653"/>
              <a:chOff x="480" y="2832"/>
              <a:chExt cx="3984" cy="653"/>
            </a:xfrm>
          </p:grpSpPr>
          <p:grpSp>
            <p:nvGrpSpPr>
              <p:cNvPr id="9" name="Group 27"/>
              <p:cNvGrpSpPr>
                <a:grpSpLocks/>
              </p:cNvGrpSpPr>
              <p:nvPr/>
            </p:nvGrpSpPr>
            <p:grpSpPr bwMode="auto">
              <a:xfrm>
                <a:off x="480" y="3072"/>
                <a:ext cx="240" cy="365"/>
                <a:chOff x="4176" y="1104"/>
                <a:chExt cx="240" cy="365"/>
              </a:xfrm>
            </p:grpSpPr>
            <p:sp>
              <p:nvSpPr>
                <p:cNvPr id="391196" name="Oval 28"/>
                <p:cNvSpPr>
                  <a:spLocks noChangeArrowheads="1"/>
                </p:cNvSpPr>
                <p:nvPr/>
              </p:nvSpPr>
              <p:spPr bwMode="auto">
                <a:xfrm>
                  <a:off x="4176" y="1152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1197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4176" y="1104"/>
                  <a:ext cx="240" cy="3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en-US" sz="3200"/>
                </a:p>
              </p:txBody>
            </p:sp>
          </p:grpSp>
          <p:grpSp>
            <p:nvGrpSpPr>
              <p:cNvPr id="10" name="Group 30"/>
              <p:cNvGrpSpPr>
                <a:grpSpLocks/>
              </p:cNvGrpSpPr>
              <p:nvPr/>
            </p:nvGrpSpPr>
            <p:grpSpPr bwMode="auto">
              <a:xfrm>
                <a:off x="1104" y="3072"/>
                <a:ext cx="240" cy="365"/>
                <a:chOff x="4176" y="1104"/>
                <a:chExt cx="240" cy="365"/>
              </a:xfrm>
            </p:grpSpPr>
            <p:sp>
              <p:nvSpPr>
                <p:cNvPr id="391199" name="Oval 31"/>
                <p:cNvSpPr>
                  <a:spLocks noChangeArrowheads="1"/>
                </p:cNvSpPr>
                <p:nvPr/>
              </p:nvSpPr>
              <p:spPr bwMode="auto">
                <a:xfrm>
                  <a:off x="4176" y="1152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1200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4176" y="1104"/>
                  <a:ext cx="240" cy="3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en-US" sz="3200"/>
                </a:p>
              </p:txBody>
            </p:sp>
          </p:grpSp>
          <p:sp>
            <p:nvSpPr>
              <p:cNvPr id="391201" name="Line 33"/>
              <p:cNvSpPr>
                <a:spLocks noChangeShapeType="1"/>
              </p:cNvSpPr>
              <p:nvPr/>
            </p:nvSpPr>
            <p:spPr bwMode="auto">
              <a:xfrm flipH="1">
                <a:off x="672" y="2880"/>
                <a:ext cx="144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202" name="Line 34"/>
              <p:cNvSpPr>
                <a:spLocks noChangeShapeType="1"/>
              </p:cNvSpPr>
              <p:nvPr/>
            </p:nvSpPr>
            <p:spPr bwMode="auto">
              <a:xfrm>
                <a:off x="1008" y="2832"/>
                <a:ext cx="192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" name="Group 35"/>
              <p:cNvGrpSpPr>
                <a:grpSpLocks/>
              </p:cNvGrpSpPr>
              <p:nvPr/>
            </p:nvGrpSpPr>
            <p:grpSpPr bwMode="auto">
              <a:xfrm>
                <a:off x="1776" y="3120"/>
                <a:ext cx="240" cy="365"/>
                <a:chOff x="4176" y="1104"/>
                <a:chExt cx="240" cy="365"/>
              </a:xfrm>
            </p:grpSpPr>
            <p:sp>
              <p:nvSpPr>
                <p:cNvPr id="391204" name="Oval 36"/>
                <p:cNvSpPr>
                  <a:spLocks noChangeArrowheads="1"/>
                </p:cNvSpPr>
                <p:nvPr/>
              </p:nvSpPr>
              <p:spPr bwMode="auto">
                <a:xfrm>
                  <a:off x="4176" y="1152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1205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4176" y="1104"/>
                  <a:ext cx="240" cy="3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en-US" sz="3200"/>
                </a:p>
              </p:txBody>
            </p:sp>
          </p:grpSp>
          <p:grpSp>
            <p:nvGrpSpPr>
              <p:cNvPr id="12" name="Group 38"/>
              <p:cNvGrpSpPr>
                <a:grpSpLocks/>
              </p:cNvGrpSpPr>
              <p:nvPr/>
            </p:nvGrpSpPr>
            <p:grpSpPr bwMode="auto">
              <a:xfrm>
                <a:off x="2400" y="3120"/>
                <a:ext cx="240" cy="365"/>
                <a:chOff x="4176" y="1104"/>
                <a:chExt cx="240" cy="365"/>
              </a:xfrm>
            </p:grpSpPr>
            <p:sp>
              <p:nvSpPr>
                <p:cNvPr id="391207" name="Oval 39"/>
                <p:cNvSpPr>
                  <a:spLocks noChangeArrowheads="1"/>
                </p:cNvSpPr>
                <p:nvPr/>
              </p:nvSpPr>
              <p:spPr bwMode="auto">
                <a:xfrm>
                  <a:off x="4176" y="1152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1208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4176" y="1104"/>
                  <a:ext cx="240" cy="3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en-US" sz="3200"/>
                </a:p>
              </p:txBody>
            </p:sp>
          </p:grpSp>
          <p:sp>
            <p:nvSpPr>
              <p:cNvPr id="391209" name="Line 41"/>
              <p:cNvSpPr>
                <a:spLocks noChangeShapeType="1"/>
              </p:cNvSpPr>
              <p:nvPr/>
            </p:nvSpPr>
            <p:spPr bwMode="auto">
              <a:xfrm flipH="1">
                <a:off x="1968" y="2928"/>
                <a:ext cx="144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210" name="Line 42"/>
              <p:cNvSpPr>
                <a:spLocks noChangeShapeType="1"/>
              </p:cNvSpPr>
              <p:nvPr/>
            </p:nvSpPr>
            <p:spPr bwMode="auto">
              <a:xfrm>
                <a:off x="2304" y="2880"/>
                <a:ext cx="192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3" name="Group 43"/>
              <p:cNvGrpSpPr>
                <a:grpSpLocks/>
              </p:cNvGrpSpPr>
              <p:nvPr/>
            </p:nvGrpSpPr>
            <p:grpSpPr bwMode="auto">
              <a:xfrm>
                <a:off x="2928" y="3120"/>
                <a:ext cx="240" cy="365"/>
                <a:chOff x="4176" y="1104"/>
                <a:chExt cx="240" cy="365"/>
              </a:xfrm>
            </p:grpSpPr>
            <p:sp>
              <p:nvSpPr>
                <p:cNvPr id="391212" name="Oval 44"/>
                <p:cNvSpPr>
                  <a:spLocks noChangeArrowheads="1"/>
                </p:cNvSpPr>
                <p:nvPr/>
              </p:nvSpPr>
              <p:spPr bwMode="auto">
                <a:xfrm>
                  <a:off x="4176" y="1152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1213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4176" y="1104"/>
                  <a:ext cx="240" cy="3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en-US" sz="3200"/>
                </a:p>
              </p:txBody>
            </p:sp>
          </p:grpSp>
          <p:grpSp>
            <p:nvGrpSpPr>
              <p:cNvPr id="14" name="Group 46"/>
              <p:cNvGrpSpPr>
                <a:grpSpLocks/>
              </p:cNvGrpSpPr>
              <p:nvPr/>
            </p:nvGrpSpPr>
            <p:grpSpPr bwMode="auto">
              <a:xfrm>
                <a:off x="3360" y="3120"/>
                <a:ext cx="240" cy="365"/>
                <a:chOff x="4176" y="1104"/>
                <a:chExt cx="240" cy="365"/>
              </a:xfrm>
            </p:grpSpPr>
            <p:sp>
              <p:nvSpPr>
                <p:cNvPr id="391215" name="Oval 47"/>
                <p:cNvSpPr>
                  <a:spLocks noChangeArrowheads="1"/>
                </p:cNvSpPr>
                <p:nvPr/>
              </p:nvSpPr>
              <p:spPr bwMode="auto">
                <a:xfrm>
                  <a:off x="4176" y="1152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1216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4176" y="1104"/>
                  <a:ext cx="240" cy="3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en-US" sz="3200"/>
                </a:p>
              </p:txBody>
            </p:sp>
          </p:grpSp>
          <p:grpSp>
            <p:nvGrpSpPr>
              <p:cNvPr id="15" name="Group 49"/>
              <p:cNvGrpSpPr>
                <a:grpSpLocks/>
              </p:cNvGrpSpPr>
              <p:nvPr/>
            </p:nvGrpSpPr>
            <p:grpSpPr bwMode="auto">
              <a:xfrm>
                <a:off x="3792" y="3120"/>
                <a:ext cx="240" cy="365"/>
                <a:chOff x="4176" y="1104"/>
                <a:chExt cx="240" cy="365"/>
              </a:xfrm>
            </p:grpSpPr>
            <p:sp>
              <p:nvSpPr>
                <p:cNvPr id="391218" name="Oval 50"/>
                <p:cNvSpPr>
                  <a:spLocks noChangeArrowheads="1"/>
                </p:cNvSpPr>
                <p:nvPr/>
              </p:nvSpPr>
              <p:spPr bwMode="auto">
                <a:xfrm>
                  <a:off x="4176" y="1152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1219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4176" y="1104"/>
                  <a:ext cx="240" cy="3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en-US" sz="3200"/>
                </a:p>
              </p:txBody>
            </p:sp>
          </p:grpSp>
          <p:grpSp>
            <p:nvGrpSpPr>
              <p:cNvPr id="16" name="Group 52"/>
              <p:cNvGrpSpPr>
                <a:grpSpLocks/>
              </p:cNvGrpSpPr>
              <p:nvPr/>
            </p:nvGrpSpPr>
            <p:grpSpPr bwMode="auto">
              <a:xfrm>
                <a:off x="4224" y="3120"/>
                <a:ext cx="240" cy="365"/>
                <a:chOff x="4176" y="1104"/>
                <a:chExt cx="240" cy="365"/>
              </a:xfrm>
            </p:grpSpPr>
            <p:sp>
              <p:nvSpPr>
                <p:cNvPr id="391221" name="Oval 53"/>
                <p:cNvSpPr>
                  <a:spLocks noChangeArrowheads="1"/>
                </p:cNvSpPr>
                <p:nvPr/>
              </p:nvSpPr>
              <p:spPr bwMode="auto">
                <a:xfrm>
                  <a:off x="4176" y="1152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1222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4176" y="1104"/>
                  <a:ext cx="240" cy="3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en-US" sz="3200"/>
                </a:p>
              </p:txBody>
            </p:sp>
          </p:grpSp>
          <p:sp>
            <p:nvSpPr>
              <p:cNvPr id="391223" name="Line 55"/>
              <p:cNvSpPr>
                <a:spLocks noChangeShapeType="1"/>
              </p:cNvSpPr>
              <p:nvPr/>
            </p:nvSpPr>
            <p:spPr bwMode="auto">
              <a:xfrm flipH="1">
                <a:off x="3072" y="2928"/>
                <a:ext cx="192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224" name="Line 56"/>
              <p:cNvSpPr>
                <a:spLocks noChangeShapeType="1"/>
              </p:cNvSpPr>
              <p:nvPr/>
            </p:nvSpPr>
            <p:spPr bwMode="auto">
              <a:xfrm>
                <a:off x="3360" y="2928"/>
                <a:ext cx="96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225" name="Line 57"/>
              <p:cNvSpPr>
                <a:spLocks noChangeShapeType="1"/>
              </p:cNvSpPr>
              <p:nvPr/>
            </p:nvSpPr>
            <p:spPr bwMode="auto">
              <a:xfrm flipH="1">
                <a:off x="3936" y="2928"/>
                <a:ext cx="96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226" name="Line 58"/>
              <p:cNvSpPr>
                <a:spLocks noChangeShapeType="1"/>
              </p:cNvSpPr>
              <p:nvPr/>
            </p:nvSpPr>
            <p:spPr bwMode="auto">
              <a:xfrm>
                <a:off x="4176" y="2928"/>
                <a:ext cx="192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91227" name="Text Box 59"/>
          <p:cNvSpPr txBox="1">
            <a:spLocks noChangeArrowheads="1"/>
          </p:cNvSpPr>
          <p:nvPr/>
        </p:nvSpPr>
        <p:spPr bwMode="auto">
          <a:xfrm>
            <a:off x="4343400" y="3200400"/>
            <a:ext cx="304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1</a:t>
            </a:r>
          </a:p>
        </p:txBody>
      </p:sp>
      <p:sp>
        <p:nvSpPr>
          <p:cNvPr id="391228" name="Text Box 60"/>
          <p:cNvSpPr txBox="1">
            <a:spLocks noChangeArrowheads="1"/>
          </p:cNvSpPr>
          <p:nvPr/>
        </p:nvSpPr>
        <p:spPr bwMode="auto">
          <a:xfrm>
            <a:off x="2667000" y="4267200"/>
            <a:ext cx="304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2</a:t>
            </a:r>
          </a:p>
        </p:txBody>
      </p:sp>
      <p:sp>
        <p:nvSpPr>
          <p:cNvPr id="391229" name="Text Box 61"/>
          <p:cNvSpPr txBox="1">
            <a:spLocks noChangeArrowheads="1"/>
          </p:cNvSpPr>
          <p:nvPr/>
        </p:nvSpPr>
        <p:spPr bwMode="auto">
          <a:xfrm>
            <a:off x="5867400" y="4267200"/>
            <a:ext cx="304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3</a:t>
            </a:r>
          </a:p>
        </p:txBody>
      </p:sp>
      <p:sp>
        <p:nvSpPr>
          <p:cNvPr id="391230" name="Text Box 62"/>
          <p:cNvSpPr txBox="1">
            <a:spLocks noChangeArrowheads="1"/>
          </p:cNvSpPr>
          <p:nvPr/>
        </p:nvSpPr>
        <p:spPr bwMode="auto">
          <a:xfrm>
            <a:off x="1447800" y="5257800"/>
            <a:ext cx="304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4</a:t>
            </a:r>
          </a:p>
        </p:txBody>
      </p:sp>
      <p:sp>
        <p:nvSpPr>
          <p:cNvPr id="391231" name="Text Box 63"/>
          <p:cNvSpPr txBox="1">
            <a:spLocks noChangeArrowheads="1"/>
          </p:cNvSpPr>
          <p:nvPr/>
        </p:nvSpPr>
        <p:spPr bwMode="auto">
          <a:xfrm>
            <a:off x="3581400" y="5334000"/>
            <a:ext cx="304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5</a:t>
            </a:r>
          </a:p>
        </p:txBody>
      </p:sp>
      <p:sp>
        <p:nvSpPr>
          <p:cNvPr id="391232" name="Text Box 64"/>
          <p:cNvSpPr txBox="1">
            <a:spLocks noChangeArrowheads="1"/>
          </p:cNvSpPr>
          <p:nvPr/>
        </p:nvSpPr>
        <p:spPr bwMode="auto">
          <a:xfrm>
            <a:off x="5334000" y="5257800"/>
            <a:ext cx="304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6</a:t>
            </a:r>
          </a:p>
        </p:txBody>
      </p:sp>
      <p:sp>
        <p:nvSpPr>
          <p:cNvPr id="391233" name="Text Box 65"/>
          <p:cNvSpPr txBox="1">
            <a:spLocks noChangeArrowheads="1"/>
          </p:cNvSpPr>
          <p:nvPr/>
        </p:nvSpPr>
        <p:spPr bwMode="auto">
          <a:xfrm>
            <a:off x="6629400" y="5334000"/>
            <a:ext cx="304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7</a:t>
            </a:r>
          </a:p>
        </p:txBody>
      </p:sp>
      <p:sp>
        <p:nvSpPr>
          <p:cNvPr id="391234" name="Text Box 66"/>
          <p:cNvSpPr txBox="1">
            <a:spLocks noChangeArrowheads="1"/>
          </p:cNvSpPr>
          <p:nvPr/>
        </p:nvSpPr>
        <p:spPr bwMode="auto">
          <a:xfrm>
            <a:off x="1066800" y="5943600"/>
            <a:ext cx="304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8</a:t>
            </a:r>
          </a:p>
        </p:txBody>
      </p:sp>
      <p:sp>
        <p:nvSpPr>
          <p:cNvPr id="391235" name="Text Box 67"/>
          <p:cNvSpPr txBox="1">
            <a:spLocks noChangeArrowheads="1"/>
          </p:cNvSpPr>
          <p:nvPr/>
        </p:nvSpPr>
        <p:spPr bwMode="auto">
          <a:xfrm>
            <a:off x="2057400" y="5943600"/>
            <a:ext cx="304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9</a:t>
            </a:r>
          </a:p>
        </p:txBody>
      </p:sp>
      <p:sp>
        <p:nvSpPr>
          <p:cNvPr id="391236" name="Text Box 68"/>
          <p:cNvSpPr txBox="1">
            <a:spLocks noChangeArrowheads="1"/>
          </p:cNvSpPr>
          <p:nvPr/>
        </p:nvSpPr>
        <p:spPr bwMode="auto">
          <a:xfrm>
            <a:off x="2971800" y="6019800"/>
            <a:ext cx="6096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10</a:t>
            </a:r>
          </a:p>
        </p:txBody>
      </p:sp>
      <p:sp>
        <p:nvSpPr>
          <p:cNvPr id="391237" name="Text Box 69"/>
          <p:cNvSpPr txBox="1">
            <a:spLocks noChangeArrowheads="1"/>
          </p:cNvSpPr>
          <p:nvPr/>
        </p:nvSpPr>
        <p:spPr bwMode="auto">
          <a:xfrm>
            <a:off x="4038600" y="6019800"/>
            <a:ext cx="6096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11</a:t>
            </a:r>
          </a:p>
        </p:txBody>
      </p:sp>
      <p:sp>
        <p:nvSpPr>
          <p:cNvPr id="391238" name="Text Box 70"/>
          <p:cNvSpPr txBox="1">
            <a:spLocks noChangeArrowheads="1"/>
          </p:cNvSpPr>
          <p:nvPr/>
        </p:nvSpPr>
        <p:spPr bwMode="auto">
          <a:xfrm>
            <a:off x="4800600" y="6019800"/>
            <a:ext cx="6096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12</a:t>
            </a:r>
          </a:p>
        </p:txBody>
      </p:sp>
      <p:sp>
        <p:nvSpPr>
          <p:cNvPr id="391239" name="Text Box 71"/>
          <p:cNvSpPr txBox="1">
            <a:spLocks noChangeArrowheads="1"/>
          </p:cNvSpPr>
          <p:nvPr/>
        </p:nvSpPr>
        <p:spPr bwMode="auto">
          <a:xfrm>
            <a:off x="5486400" y="6019800"/>
            <a:ext cx="6096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13</a:t>
            </a:r>
          </a:p>
        </p:txBody>
      </p:sp>
      <p:sp>
        <p:nvSpPr>
          <p:cNvPr id="391240" name="Text Box 72"/>
          <p:cNvSpPr txBox="1">
            <a:spLocks noChangeArrowheads="1"/>
          </p:cNvSpPr>
          <p:nvPr/>
        </p:nvSpPr>
        <p:spPr bwMode="auto">
          <a:xfrm>
            <a:off x="6172200" y="6019800"/>
            <a:ext cx="6096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14</a:t>
            </a:r>
          </a:p>
        </p:txBody>
      </p:sp>
      <p:sp>
        <p:nvSpPr>
          <p:cNvPr id="391241" name="Text Box 73"/>
          <p:cNvSpPr txBox="1">
            <a:spLocks noChangeArrowheads="1"/>
          </p:cNvSpPr>
          <p:nvPr/>
        </p:nvSpPr>
        <p:spPr bwMode="auto">
          <a:xfrm>
            <a:off x="6858000" y="6019800"/>
            <a:ext cx="6096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52400"/>
            <a:ext cx="7772400" cy="914400"/>
          </a:xfrm>
        </p:spPr>
        <p:txBody>
          <a:bodyPr/>
          <a:lstStyle/>
          <a:p>
            <a:r>
              <a:rPr lang="en-US"/>
              <a:t>Node Number Properties </a:t>
            </a:r>
          </a:p>
        </p:txBody>
      </p:sp>
      <p:sp>
        <p:nvSpPr>
          <p:cNvPr id="392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105400"/>
            <a:ext cx="8305800" cy="1524000"/>
          </a:xfrm>
        </p:spPr>
        <p:txBody>
          <a:bodyPr/>
          <a:lstStyle/>
          <a:p>
            <a:r>
              <a:rPr lang="en-US" sz="2400"/>
              <a:t>Parent of node </a:t>
            </a:r>
            <a:r>
              <a:rPr lang="en-US" sz="2400">
                <a:solidFill>
                  <a:schemeClr val="hlink"/>
                </a:solidFill>
              </a:rPr>
              <a:t>i</a:t>
            </a:r>
            <a:r>
              <a:rPr lang="en-US" sz="2400"/>
              <a:t> is node </a:t>
            </a:r>
            <a:r>
              <a:rPr lang="en-US" sz="2400">
                <a:solidFill>
                  <a:schemeClr val="hlink"/>
                </a:solidFill>
              </a:rPr>
              <a:t>i / 2</a:t>
            </a:r>
            <a:r>
              <a:rPr lang="en-US" sz="2400"/>
              <a:t>, unless </a:t>
            </a:r>
            <a:r>
              <a:rPr lang="en-US" sz="2400">
                <a:solidFill>
                  <a:schemeClr val="hlink"/>
                </a:solidFill>
              </a:rPr>
              <a:t>i = 1</a:t>
            </a:r>
            <a:r>
              <a:rPr lang="en-US" sz="2400"/>
              <a:t>.</a:t>
            </a:r>
          </a:p>
          <a:p>
            <a:r>
              <a:rPr lang="en-US" sz="2400"/>
              <a:t>Node </a:t>
            </a:r>
            <a:r>
              <a:rPr lang="en-US" sz="2400">
                <a:solidFill>
                  <a:schemeClr val="hlink"/>
                </a:solidFill>
              </a:rPr>
              <a:t>1</a:t>
            </a:r>
            <a:r>
              <a:rPr lang="en-US" sz="2400"/>
              <a:t> is the root and has no parent.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295400" y="1554163"/>
            <a:ext cx="6477000" cy="3398837"/>
            <a:chOff x="624" y="960"/>
            <a:chExt cx="4080" cy="2141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624" y="960"/>
              <a:ext cx="3984" cy="2141"/>
              <a:chOff x="624" y="2016"/>
              <a:chExt cx="3984" cy="2141"/>
            </a:xfrm>
          </p:grpSpPr>
          <p:grpSp>
            <p:nvGrpSpPr>
              <p:cNvPr id="4" name="Group 6"/>
              <p:cNvGrpSpPr>
                <a:grpSpLocks/>
              </p:cNvGrpSpPr>
              <p:nvPr/>
            </p:nvGrpSpPr>
            <p:grpSpPr bwMode="auto">
              <a:xfrm>
                <a:off x="912" y="2880"/>
                <a:ext cx="3456" cy="768"/>
                <a:chOff x="768" y="2208"/>
                <a:chExt cx="3456" cy="768"/>
              </a:xfrm>
            </p:grpSpPr>
            <p:sp>
              <p:nvSpPr>
                <p:cNvPr id="392199" name="Oval 7"/>
                <p:cNvSpPr>
                  <a:spLocks noChangeArrowheads="1"/>
                </p:cNvSpPr>
                <p:nvPr/>
              </p:nvSpPr>
              <p:spPr bwMode="auto">
                <a:xfrm>
                  <a:off x="768" y="2688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2200" name="Oval 8"/>
                <p:cNvSpPr>
                  <a:spLocks noChangeArrowheads="1"/>
                </p:cNvSpPr>
                <p:nvPr/>
              </p:nvSpPr>
              <p:spPr bwMode="auto">
                <a:xfrm>
                  <a:off x="2064" y="2736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2201" name="Oval 9"/>
                <p:cNvSpPr>
                  <a:spLocks noChangeArrowheads="1"/>
                </p:cNvSpPr>
                <p:nvPr/>
              </p:nvSpPr>
              <p:spPr bwMode="auto">
                <a:xfrm>
                  <a:off x="3168" y="2688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2202" name="Oval 10"/>
                <p:cNvSpPr>
                  <a:spLocks noChangeArrowheads="1"/>
                </p:cNvSpPr>
                <p:nvPr/>
              </p:nvSpPr>
              <p:spPr bwMode="auto">
                <a:xfrm>
                  <a:off x="3984" y="2736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2203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3312" y="2256"/>
                  <a:ext cx="240" cy="4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204" name="Line 12"/>
                <p:cNvSpPr>
                  <a:spLocks noChangeShapeType="1"/>
                </p:cNvSpPr>
                <p:nvPr/>
              </p:nvSpPr>
              <p:spPr bwMode="auto">
                <a:xfrm>
                  <a:off x="3744" y="2208"/>
                  <a:ext cx="336" cy="52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205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960" y="2208"/>
                  <a:ext cx="528" cy="52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206" name="Line 14"/>
                <p:cNvSpPr>
                  <a:spLocks noChangeShapeType="1"/>
                </p:cNvSpPr>
                <p:nvPr/>
              </p:nvSpPr>
              <p:spPr bwMode="auto">
                <a:xfrm>
                  <a:off x="1728" y="2208"/>
                  <a:ext cx="384" cy="57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15"/>
              <p:cNvGrpSpPr>
                <a:grpSpLocks/>
              </p:cNvGrpSpPr>
              <p:nvPr/>
            </p:nvGrpSpPr>
            <p:grpSpPr bwMode="auto">
              <a:xfrm>
                <a:off x="2688" y="2016"/>
                <a:ext cx="240" cy="365"/>
                <a:chOff x="4176" y="1104"/>
                <a:chExt cx="240" cy="365"/>
              </a:xfrm>
            </p:grpSpPr>
            <p:sp>
              <p:nvSpPr>
                <p:cNvPr id="392208" name="Oval 16"/>
                <p:cNvSpPr>
                  <a:spLocks noChangeArrowheads="1"/>
                </p:cNvSpPr>
                <p:nvPr/>
              </p:nvSpPr>
              <p:spPr bwMode="auto">
                <a:xfrm>
                  <a:off x="4176" y="1152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2209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176" y="1104"/>
                  <a:ext cx="240" cy="3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en-US" sz="3200"/>
                </a:p>
              </p:txBody>
            </p:sp>
          </p:grpSp>
          <p:grpSp>
            <p:nvGrpSpPr>
              <p:cNvPr id="6" name="Group 18"/>
              <p:cNvGrpSpPr>
                <a:grpSpLocks/>
              </p:cNvGrpSpPr>
              <p:nvPr/>
            </p:nvGrpSpPr>
            <p:grpSpPr bwMode="auto">
              <a:xfrm>
                <a:off x="1632" y="2208"/>
                <a:ext cx="2256" cy="845"/>
                <a:chOff x="1488" y="1536"/>
                <a:chExt cx="2256" cy="845"/>
              </a:xfrm>
            </p:grpSpPr>
            <p:grpSp>
              <p:nvGrpSpPr>
                <p:cNvPr id="7" name="Group 19"/>
                <p:cNvGrpSpPr>
                  <a:grpSpLocks/>
                </p:cNvGrpSpPr>
                <p:nvPr/>
              </p:nvGrpSpPr>
              <p:grpSpPr bwMode="auto">
                <a:xfrm>
                  <a:off x="3504" y="2016"/>
                  <a:ext cx="240" cy="365"/>
                  <a:chOff x="4176" y="1104"/>
                  <a:chExt cx="240" cy="365"/>
                </a:xfrm>
              </p:grpSpPr>
              <p:sp>
                <p:nvSpPr>
                  <p:cNvPr id="392212" name="Oval 20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2213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/>
                  </a:p>
                </p:txBody>
              </p:sp>
            </p:grpSp>
            <p:grpSp>
              <p:nvGrpSpPr>
                <p:cNvPr id="8" name="Group 22"/>
                <p:cNvGrpSpPr>
                  <a:grpSpLocks/>
                </p:cNvGrpSpPr>
                <p:nvPr/>
              </p:nvGrpSpPr>
              <p:grpSpPr bwMode="auto">
                <a:xfrm>
                  <a:off x="1488" y="2016"/>
                  <a:ext cx="240" cy="365"/>
                  <a:chOff x="4176" y="1104"/>
                  <a:chExt cx="240" cy="365"/>
                </a:xfrm>
              </p:grpSpPr>
              <p:sp>
                <p:nvSpPr>
                  <p:cNvPr id="392215" name="Oval 23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2216" name="Text Box 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/>
                  </a:p>
                </p:txBody>
              </p:sp>
            </p:grpSp>
            <p:sp>
              <p:nvSpPr>
                <p:cNvPr id="392217" name="Line 25"/>
                <p:cNvSpPr>
                  <a:spLocks noChangeShapeType="1"/>
                </p:cNvSpPr>
                <p:nvPr/>
              </p:nvSpPr>
              <p:spPr bwMode="auto">
                <a:xfrm flipH="1">
                  <a:off x="1680" y="1536"/>
                  <a:ext cx="864" cy="52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218" name="Line 26"/>
                <p:cNvSpPr>
                  <a:spLocks noChangeShapeType="1"/>
                </p:cNvSpPr>
                <p:nvPr/>
              </p:nvSpPr>
              <p:spPr bwMode="auto">
                <a:xfrm>
                  <a:off x="2736" y="1584"/>
                  <a:ext cx="816" cy="52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9" name="Group 27"/>
              <p:cNvGrpSpPr>
                <a:grpSpLocks/>
              </p:cNvGrpSpPr>
              <p:nvPr/>
            </p:nvGrpSpPr>
            <p:grpSpPr bwMode="auto">
              <a:xfrm>
                <a:off x="624" y="3504"/>
                <a:ext cx="3984" cy="653"/>
                <a:chOff x="480" y="2832"/>
                <a:chExt cx="3984" cy="653"/>
              </a:xfrm>
            </p:grpSpPr>
            <p:grpSp>
              <p:nvGrpSpPr>
                <p:cNvPr id="10" name="Group 28"/>
                <p:cNvGrpSpPr>
                  <a:grpSpLocks/>
                </p:cNvGrpSpPr>
                <p:nvPr/>
              </p:nvGrpSpPr>
              <p:grpSpPr bwMode="auto">
                <a:xfrm>
                  <a:off x="480" y="3072"/>
                  <a:ext cx="240" cy="365"/>
                  <a:chOff x="4176" y="1104"/>
                  <a:chExt cx="240" cy="365"/>
                </a:xfrm>
              </p:grpSpPr>
              <p:sp>
                <p:nvSpPr>
                  <p:cNvPr id="392221" name="Oval 29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2222" name="Text Box 3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/>
                  </a:p>
                </p:txBody>
              </p:sp>
            </p:grpSp>
            <p:grpSp>
              <p:nvGrpSpPr>
                <p:cNvPr id="11" name="Group 31"/>
                <p:cNvGrpSpPr>
                  <a:grpSpLocks/>
                </p:cNvGrpSpPr>
                <p:nvPr/>
              </p:nvGrpSpPr>
              <p:grpSpPr bwMode="auto">
                <a:xfrm>
                  <a:off x="1104" y="3072"/>
                  <a:ext cx="240" cy="365"/>
                  <a:chOff x="4176" y="1104"/>
                  <a:chExt cx="240" cy="365"/>
                </a:xfrm>
              </p:grpSpPr>
              <p:sp>
                <p:nvSpPr>
                  <p:cNvPr id="392224" name="Oval 32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2225" name="Text Box 3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/>
                  </a:p>
                </p:txBody>
              </p:sp>
            </p:grpSp>
            <p:sp>
              <p:nvSpPr>
                <p:cNvPr id="392226" name="Line 34"/>
                <p:cNvSpPr>
                  <a:spLocks noChangeShapeType="1"/>
                </p:cNvSpPr>
                <p:nvPr/>
              </p:nvSpPr>
              <p:spPr bwMode="auto">
                <a:xfrm flipH="1">
                  <a:off x="672" y="2880"/>
                  <a:ext cx="144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227" name="Line 35"/>
                <p:cNvSpPr>
                  <a:spLocks noChangeShapeType="1"/>
                </p:cNvSpPr>
                <p:nvPr/>
              </p:nvSpPr>
              <p:spPr bwMode="auto">
                <a:xfrm>
                  <a:off x="1008" y="2832"/>
                  <a:ext cx="192" cy="28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2" name="Group 36"/>
                <p:cNvGrpSpPr>
                  <a:grpSpLocks/>
                </p:cNvGrpSpPr>
                <p:nvPr/>
              </p:nvGrpSpPr>
              <p:grpSpPr bwMode="auto">
                <a:xfrm>
                  <a:off x="1776" y="3120"/>
                  <a:ext cx="240" cy="365"/>
                  <a:chOff x="4176" y="1104"/>
                  <a:chExt cx="240" cy="365"/>
                </a:xfrm>
              </p:grpSpPr>
              <p:sp>
                <p:nvSpPr>
                  <p:cNvPr id="392229" name="Oval 37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2230" name="Text Box 3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/>
                  </a:p>
                </p:txBody>
              </p:sp>
            </p:grpSp>
            <p:grpSp>
              <p:nvGrpSpPr>
                <p:cNvPr id="13" name="Group 39"/>
                <p:cNvGrpSpPr>
                  <a:grpSpLocks/>
                </p:cNvGrpSpPr>
                <p:nvPr/>
              </p:nvGrpSpPr>
              <p:grpSpPr bwMode="auto">
                <a:xfrm>
                  <a:off x="2400" y="3120"/>
                  <a:ext cx="240" cy="365"/>
                  <a:chOff x="4176" y="1104"/>
                  <a:chExt cx="240" cy="365"/>
                </a:xfrm>
              </p:grpSpPr>
              <p:sp>
                <p:nvSpPr>
                  <p:cNvPr id="392232" name="Oval 40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2233" name="Text Box 4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/>
                  </a:p>
                </p:txBody>
              </p:sp>
            </p:grpSp>
            <p:sp>
              <p:nvSpPr>
                <p:cNvPr id="392234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1968" y="2928"/>
                  <a:ext cx="144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235" name="Line 43"/>
                <p:cNvSpPr>
                  <a:spLocks noChangeShapeType="1"/>
                </p:cNvSpPr>
                <p:nvPr/>
              </p:nvSpPr>
              <p:spPr bwMode="auto">
                <a:xfrm>
                  <a:off x="2304" y="2880"/>
                  <a:ext cx="192" cy="28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4" name="Group 44"/>
                <p:cNvGrpSpPr>
                  <a:grpSpLocks/>
                </p:cNvGrpSpPr>
                <p:nvPr/>
              </p:nvGrpSpPr>
              <p:grpSpPr bwMode="auto">
                <a:xfrm>
                  <a:off x="2928" y="3120"/>
                  <a:ext cx="240" cy="365"/>
                  <a:chOff x="4176" y="1104"/>
                  <a:chExt cx="240" cy="365"/>
                </a:xfrm>
              </p:grpSpPr>
              <p:sp>
                <p:nvSpPr>
                  <p:cNvPr id="392237" name="Oval 45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2238" name="Text Box 4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/>
                  </a:p>
                </p:txBody>
              </p:sp>
            </p:grpSp>
            <p:grpSp>
              <p:nvGrpSpPr>
                <p:cNvPr id="15" name="Group 47"/>
                <p:cNvGrpSpPr>
                  <a:grpSpLocks/>
                </p:cNvGrpSpPr>
                <p:nvPr/>
              </p:nvGrpSpPr>
              <p:grpSpPr bwMode="auto">
                <a:xfrm>
                  <a:off x="3360" y="3120"/>
                  <a:ext cx="240" cy="365"/>
                  <a:chOff x="4176" y="1104"/>
                  <a:chExt cx="240" cy="365"/>
                </a:xfrm>
              </p:grpSpPr>
              <p:sp>
                <p:nvSpPr>
                  <p:cNvPr id="392240" name="Oval 48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2241" name="Text Box 4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/>
                  </a:p>
                </p:txBody>
              </p:sp>
            </p:grpSp>
            <p:grpSp>
              <p:nvGrpSpPr>
                <p:cNvPr id="16" name="Group 50"/>
                <p:cNvGrpSpPr>
                  <a:grpSpLocks/>
                </p:cNvGrpSpPr>
                <p:nvPr/>
              </p:nvGrpSpPr>
              <p:grpSpPr bwMode="auto">
                <a:xfrm>
                  <a:off x="3792" y="3120"/>
                  <a:ext cx="240" cy="365"/>
                  <a:chOff x="4176" y="1104"/>
                  <a:chExt cx="240" cy="365"/>
                </a:xfrm>
              </p:grpSpPr>
              <p:sp>
                <p:nvSpPr>
                  <p:cNvPr id="392243" name="Oval 51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2244" name="Text Box 5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/>
                  </a:p>
                </p:txBody>
              </p:sp>
            </p:grpSp>
            <p:grpSp>
              <p:nvGrpSpPr>
                <p:cNvPr id="17" name="Group 53"/>
                <p:cNvGrpSpPr>
                  <a:grpSpLocks/>
                </p:cNvGrpSpPr>
                <p:nvPr/>
              </p:nvGrpSpPr>
              <p:grpSpPr bwMode="auto">
                <a:xfrm>
                  <a:off x="4224" y="3120"/>
                  <a:ext cx="240" cy="365"/>
                  <a:chOff x="4176" y="1104"/>
                  <a:chExt cx="240" cy="365"/>
                </a:xfrm>
              </p:grpSpPr>
              <p:sp>
                <p:nvSpPr>
                  <p:cNvPr id="392246" name="Oval 54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2247" name="Text Box 5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/>
                  </a:p>
                </p:txBody>
              </p:sp>
            </p:grpSp>
            <p:sp>
              <p:nvSpPr>
                <p:cNvPr id="392248" name="Line 56"/>
                <p:cNvSpPr>
                  <a:spLocks noChangeShapeType="1"/>
                </p:cNvSpPr>
                <p:nvPr/>
              </p:nvSpPr>
              <p:spPr bwMode="auto">
                <a:xfrm flipH="1">
                  <a:off x="3072" y="2928"/>
                  <a:ext cx="192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249" name="Line 57"/>
                <p:cNvSpPr>
                  <a:spLocks noChangeShapeType="1"/>
                </p:cNvSpPr>
                <p:nvPr/>
              </p:nvSpPr>
              <p:spPr bwMode="auto">
                <a:xfrm>
                  <a:off x="3360" y="2928"/>
                  <a:ext cx="96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250" name="Line 58"/>
                <p:cNvSpPr>
                  <a:spLocks noChangeShapeType="1"/>
                </p:cNvSpPr>
                <p:nvPr/>
              </p:nvSpPr>
              <p:spPr bwMode="auto">
                <a:xfrm flipH="1">
                  <a:off x="3936" y="2928"/>
                  <a:ext cx="96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251" name="Line 59"/>
                <p:cNvSpPr>
                  <a:spLocks noChangeShapeType="1"/>
                </p:cNvSpPr>
                <p:nvPr/>
              </p:nvSpPr>
              <p:spPr bwMode="auto">
                <a:xfrm>
                  <a:off x="4176" y="2928"/>
                  <a:ext cx="192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392252" name="Text Box 60"/>
            <p:cNvSpPr txBox="1">
              <a:spLocks noChangeArrowheads="1"/>
            </p:cNvSpPr>
            <p:nvPr/>
          </p:nvSpPr>
          <p:spPr bwMode="auto">
            <a:xfrm>
              <a:off x="2736" y="960"/>
              <a:ext cx="19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392253" name="Text Box 61"/>
            <p:cNvSpPr txBox="1">
              <a:spLocks noChangeArrowheads="1"/>
            </p:cNvSpPr>
            <p:nvPr/>
          </p:nvSpPr>
          <p:spPr bwMode="auto">
            <a:xfrm>
              <a:off x="1680" y="1632"/>
              <a:ext cx="19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392254" name="Text Box 62"/>
            <p:cNvSpPr txBox="1">
              <a:spLocks noChangeArrowheads="1"/>
            </p:cNvSpPr>
            <p:nvPr/>
          </p:nvSpPr>
          <p:spPr bwMode="auto">
            <a:xfrm>
              <a:off x="3696" y="1632"/>
              <a:ext cx="19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392255" name="Text Box 63"/>
            <p:cNvSpPr txBox="1">
              <a:spLocks noChangeArrowheads="1"/>
            </p:cNvSpPr>
            <p:nvPr/>
          </p:nvSpPr>
          <p:spPr bwMode="auto">
            <a:xfrm>
              <a:off x="912" y="2256"/>
              <a:ext cx="19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392256" name="Text Box 64"/>
            <p:cNvSpPr txBox="1">
              <a:spLocks noChangeArrowheads="1"/>
            </p:cNvSpPr>
            <p:nvPr/>
          </p:nvSpPr>
          <p:spPr bwMode="auto">
            <a:xfrm>
              <a:off x="2256" y="2304"/>
              <a:ext cx="19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5</a:t>
              </a:r>
            </a:p>
          </p:txBody>
        </p:sp>
        <p:sp>
          <p:nvSpPr>
            <p:cNvPr id="392257" name="Text Box 65"/>
            <p:cNvSpPr txBox="1">
              <a:spLocks noChangeArrowheads="1"/>
            </p:cNvSpPr>
            <p:nvPr/>
          </p:nvSpPr>
          <p:spPr bwMode="auto">
            <a:xfrm>
              <a:off x="3360" y="2256"/>
              <a:ext cx="19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6</a:t>
              </a:r>
            </a:p>
          </p:txBody>
        </p:sp>
        <p:sp>
          <p:nvSpPr>
            <p:cNvPr id="392258" name="Text Box 66"/>
            <p:cNvSpPr txBox="1">
              <a:spLocks noChangeArrowheads="1"/>
            </p:cNvSpPr>
            <p:nvPr/>
          </p:nvSpPr>
          <p:spPr bwMode="auto">
            <a:xfrm>
              <a:off x="4176" y="2304"/>
              <a:ext cx="19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7</a:t>
              </a:r>
            </a:p>
          </p:txBody>
        </p:sp>
        <p:sp>
          <p:nvSpPr>
            <p:cNvPr id="392259" name="Text Box 67"/>
            <p:cNvSpPr txBox="1">
              <a:spLocks noChangeArrowheads="1"/>
            </p:cNvSpPr>
            <p:nvPr/>
          </p:nvSpPr>
          <p:spPr bwMode="auto">
            <a:xfrm>
              <a:off x="672" y="2688"/>
              <a:ext cx="19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8</a:t>
              </a:r>
            </a:p>
          </p:txBody>
        </p:sp>
        <p:sp>
          <p:nvSpPr>
            <p:cNvPr id="392260" name="Text Box 68"/>
            <p:cNvSpPr txBox="1">
              <a:spLocks noChangeArrowheads="1"/>
            </p:cNvSpPr>
            <p:nvPr/>
          </p:nvSpPr>
          <p:spPr bwMode="auto">
            <a:xfrm>
              <a:off x="1296" y="2688"/>
              <a:ext cx="19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9</a:t>
              </a:r>
            </a:p>
          </p:txBody>
        </p:sp>
        <p:sp>
          <p:nvSpPr>
            <p:cNvPr id="392261" name="Text Box 69"/>
            <p:cNvSpPr txBox="1">
              <a:spLocks noChangeArrowheads="1"/>
            </p:cNvSpPr>
            <p:nvPr/>
          </p:nvSpPr>
          <p:spPr bwMode="auto">
            <a:xfrm>
              <a:off x="1872" y="2736"/>
              <a:ext cx="38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10</a:t>
              </a:r>
            </a:p>
          </p:txBody>
        </p:sp>
        <p:sp>
          <p:nvSpPr>
            <p:cNvPr id="392262" name="Text Box 70"/>
            <p:cNvSpPr txBox="1">
              <a:spLocks noChangeArrowheads="1"/>
            </p:cNvSpPr>
            <p:nvPr/>
          </p:nvSpPr>
          <p:spPr bwMode="auto">
            <a:xfrm>
              <a:off x="2544" y="2736"/>
              <a:ext cx="38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11</a:t>
              </a:r>
            </a:p>
          </p:txBody>
        </p:sp>
        <p:sp>
          <p:nvSpPr>
            <p:cNvPr id="392263" name="Text Box 71"/>
            <p:cNvSpPr txBox="1">
              <a:spLocks noChangeArrowheads="1"/>
            </p:cNvSpPr>
            <p:nvPr/>
          </p:nvSpPr>
          <p:spPr bwMode="auto">
            <a:xfrm>
              <a:off x="3024" y="2736"/>
              <a:ext cx="38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12</a:t>
              </a:r>
            </a:p>
          </p:txBody>
        </p:sp>
        <p:sp>
          <p:nvSpPr>
            <p:cNvPr id="392264" name="Text Box 72"/>
            <p:cNvSpPr txBox="1">
              <a:spLocks noChangeArrowheads="1"/>
            </p:cNvSpPr>
            <p:nvPr/>
          </p:nvSpPr>
          <p:spPr bwMode="auto">
            <a:xfrm>
              <a:off x="3456" y="2736"/>
              <a:ext cx="38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13</a:t>
              </a:r>
            </a:p>
          </p:txBody>
        </p:sp>
        <p:sp>
          <p:nvSpPr>
            <p:cNvPr id="392265" name="Text Box 73"/>
            <p:cNvSpPr txBox="1">
              <a:spLocks noChangeArrowheads="1"/>
            </p:cNvSpPr>
            <p:nvPr/>
          </p:nvSpPr>
          <p:spPr bwMode="auto">
            <a:xfrm>
              <a:off x="3888" y="2736"/>
              <a:ext cx="38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14</a:t>
              </a:r>
            </a:p>
          </p:txBody>
        </p:sp>
        <p:sp>
          <p:nvSpPr>
            <p:cNvPr id="392266" name="Text Box 74"/>
            <p:cNvSpPr txBox="1">
              <a:spLocks noChangeArrowheads="1"/>
            </p:cNvSpPr>
            <p:nvPr/>
          </p:nvSpPr>
          <p:spPr bwMode="auto">
            <a:xfrm>
              <a:off x="4320" y="2736"/>
              <a:ext cx="38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15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228600"/>
            <a:ext cx="7772400" cy="914400"/>
          </a:xfrm>
        </p:spPr>
        <p:txBody>
          <a:bodyPr/>
          <a:lstStyle/>
          <a:p>
            <a:r>
              <a:rPr lang="en-US"/>
              <a:t>Node Number Properties </a:t>
            </a:r>
          </a:p>
        </p:txBody>
      </p:sp>
      <p:sp>
        <p:nvSpPr>
          <p:cNvPr id="393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953000"/>
            <a:ext cx="8305800" cy="1676400"/>
          </a:xfrm>
        </p:spPr>
        <p:txBody>
          <a:bodyPr/>
          <a:lstStyle/>
          <a:p>
            <a:r>
              <a:rPr lang="en-US" sz="2400"/>
              <a:t>Left child of node </a:t>
            </a:r>
            <a:r>
              <a:rPr lang="en-US" sz="2400">
                <a:solidFill>
                  <a:schemeClr val="hlink"/>
                </a:solidFill>
              </a:rPr>
              <a:t>i </a:t>
            </a:r>
            <a:r>
              <a:rPr lang="en-US" sz="2400"/>
              <a:t>is node </a:t>
            </a:r>
            <a:r>
              <a:rPr lang="en-US" sz="2400">
                <a:solidFill>
                  <a:schemeClr val="hlink"/>
                </a:solidFill>
              </a:rPr>
              <a:t>2i</a:t>
            </a:r>
            <a:r>
              <a:rPr lang="en-US" sz="2400"/>
              <a:t>, unless </a:t>
            </a:r>
            <a:r>
              <a:rPr lang="en-US" sz="2400">
                <a:solidFill>
                  <a:schemeClr val="hlink"/>
                </a:solidFill>
              </a:rPr>
              <a:t>2i &gt; n</a:t>
            </a:r>
            <a:r>
              <a:rPr lang="en-US" sz="2400"/>
              <a:t>, where </a:t>
            </a:r>
            <a:r>
              <a:rPr lang="en-US" sz="2400">
                <a:solidFill>
                  <a:schemeClr val="hlink"/>
                </a:solidFill>
              </a:rPr>
              <a:t>n</a:t>
            </a:r>
            <a:r>
              <a:rPr lang="en-US" sz="2400"/>
              <a:t> is the number of nodes.</a:t>
            </a:r>
          </a:p>
          <a:p>
            <a:r>
              <a:rPr lang="en-US" sz="2400"/>
              <a:t>If </a:t>
            </a:r>
            <a:r>
              <a:rPr lang="en-US" sz="2400">
                <a:solidFill>
                  <a:schemeClr val="hlink"/>
                </a:solidFill>
              </a:rPr>
              <a:t>2i &gt; n</a:t>
            </a:r>
            <a:r>
              <a:rPr lang="en-US" sz="2400"/>
              <a:t>, node</a:t>
            </a:r>
            <a:r>
              <a:rPr lang="en-US" sz="2400">
                <a:solidFill>
                  <a:schemeClr val="hlink"/>
                </a:solidFill>
              </a:rPr>
              <a:t> i</a:t>
            </a:r>
            <a:r>
              <a:rPr lang="en-US" sz="2400"/>
              <a:t> has no left child.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066800" y="1477963"/>
            <a:ext cx="6477000" cy="3398837"/>
            <a:chOff x="624" y="960"/>
            <a:chExt cx="4080" cy="2141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624" y="960"/>
              <a:ext cx="3984" cy="2141"/>
              <a:chOff x="624" y="2016"/>
              <a:chExt cx="3984" cy="2141"/>
            </a:xfrm>
          </p:grpSpPr>
          <p:grpSp>
            <p:nvGrpSpPr>
              <p:cNvPr id="4" name="Group 6"/>
              <p:cNvGrpSpPr>
                <a:grpSpLocks/>
              </p:cNvGrpSpPr>
              <p:nvPr/>
            </p:nvGrpSpPr>
            <p:grpSpPr bwMode="auto">
              <a:xfrm>
                <a:off x="912" y="2880"/>
                <a:ext cx="3456" cy="768"/>
                <a:chOff x="768" y="2208"/>
                <a:chExt cx="3456" cy="768"/>
              </a:xfrm>
            </p:grpSpPr>
            <p:sp>
              <p:nvSpPr>
                <p:cNvPr id="393223" name="Oval 7"/>
                <p:cNvSpPr>
                  <a:spLocks noChangeArrowheads="1"/>
                </p:cNvSpPr>
                <p:nvPr/>
              </p:nvSpPr>
              <p:spPr bwMode="auto">
                <a:xfrm>
                  <a:off x="768" y="2688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3224" name="Oval 8"/>
                <p:cNvSpPr>
                  <a:spLocks noChangeArrowheads="1"/>
                </p:cNvSpPr>
                <p:nvPr/>
              </p:nvSpPr>
              <p:spPr bwMode="auto">
                <a:xfrm>
                  <a:off x="2064" y="2736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3225" name="Oval 9"/>
                <p:cNvSpPr>
                  <a:spLocks noChangeArrowheads="1"/>
                </p:cNvSpPr>
                <p:nvPr/>
              </p:nvSpPr>
              <p:spPr bwMode="auto">
                <a:xfrm>
                  <a:off x="3168" y="2688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3226" name="Oval 10"/>
                <p:cNvSpPr>
                  <a:spLocks noChangeArrowheads="1"/>
                </p:cNvSpPr>
                <p:nvPr/>
              </p:nvSpPr>
              <p:spPr bwMode="auto">
                <a:xfrm>
                  <a:off x="3984" y="2736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3227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3312" y="2256"/>
                  <a:ext cx="240" cy="4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228" name="Line 12"/>
                <p:cNvSpPr>
                  <a:spLocks noChangeShapeType="1"/>
                </p:cNvSpPr>
                <p:nvPr/>
              </p:nvSpPr>
              <p:spPr bwMode="auto">
                <a:xfrm>
                  <a:off x="3744" y="2208"/>
                  <a:ext cx="336" cy="52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229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960" y="2208"/>
                  <a:ext cx="528" cy="52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230" name="Line 14"/>
                <p:cNvSpPr>
                  <a:spLocks noChangeShapeType="1"/>
                </p:cNvSpPr>
                <p:nvPr/>
              </p:nvSpPr>
              <p:spPr bwMode="auto">
                <a:xfrm>
                  <a:off x="1728" y="2208"/>
                  <a:ext cx="384" cy="57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15"/>
              <p:cNvGrpSpPr>
                <a:grpSpLocks/>
              </p:cNvGrpSpPr>
              <p:nvPr/>
            </p:nvGrpSpPr>
            <p:grpSpPr bwMode="auto">
              <a:xfrm>
                <a:off x="2688" y="2016"/>
                <a:ext cx="240" cy="365"/>
                <a:chOff x="4176" y="1104"/>
                <a:chExt cx="240" cy="365"/>
              </a:xfrm>
            </p:grpSpPr>
            <p:sp>
              <p:nvSpPr>
                <p:cNvPr id="393232" name="Oval 16"/>
                <p:cNvSpPr>
                  <a:spLocks noChangeArrowheads="1"/>
                </p:cNvSpPr>
                <p:nvPr/>
              </p:nvSpPr>
              <p:spPr bwMode="auto">
                <a:xfrm>
                  <a:off x="4176" y="1152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3233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176" y="1104"/>
                  <a:ext cx="240" cy="3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en-US" sz="3200"/>
                </a:p>
              </p:txBody>
            </p:sp>
          </p:grpSp>
          <p:grpSp>
            <p:nvGrpSpPr>
              <p:cNvPr id="6" name="Group 18"/>
              <p:cNvGrpSpPr>
                <a:grpSpLocks/>
              </p:cNvGrpSpPr>
              <p:nvPr/>
            </p:nvGrpSpPr>
            <p:grpSpPr bwMode="auto">
              <a:xfrm>
                <a:off x="1632" y="2208"/>
                <a:ext cx="2256" cy="845"/>
                <a:chOff x="1488" y="1536"/>
                <a:chExt cx="2256" cy="845"/>
              </a:xfrm>
            </p:grpSpPr>
            <p:grpSp>
              <p:nvGrpSpPr>
                <p:cNvPr id="7" name="Group 19"/>
                <p:cNvGrpSpPr>
                  <a:grpSpLocks/>
                </p:cNvGrpSpPr>
                <p:nvPr/>
              </p:nvGrpSpPr>
              <p:grpSpPr bwMode="auto">
                <a:xfrm>
                  <a:off x="3504" y="2016"/>
                  <a:ext cx="240" cy="365"/>
                  <a:chOff x="4176" y="1104"/>
                  <a:chExt cx="240" cy="365"/>
                </a:xfrm>
              </p:grpSpPr>
              <p:sp>
                <p:nvSpPr>
                  <p:cNvPr id="393236" name="Oval 20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3237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/>
                  </a:p>
                </p:txBody>
              </p:sp>
            </p:grpSp>
            <p:grpSp>
              <p:nvGrpSpPr>
                <p:cNvPr id="8" name="Group 22"/>
                <p:cNvGrpSpPr>
                  <a:grpSpLocks/>
                </p:cNvGrpSpPr>
                <p:nvPr/>
              </p:nvGrpSpPr>
              <p:grpSpPr bwMode="auto">
                <a:xfrm>
                  <a:off x="1488" y="2016"/>
                  <a:ext cx="240" cy="365"/>
                  <a:chOff x="4176" y="1104"/>
                  <a:chExt cx="240" cy="365"/>
                </a:xfrm>
              </p:grpSpPr>
              <p:sp>
                <p:nvSpPr>
                  <p:cNvPr id="393239" name="Oval 23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3240" name="Text Box 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/>
                  </a:p>
                </p:txBody>
              </p:sp>
            </p:grpSp>
            <p:sp>
              <p:nvSpPr>
                <p:cNvPr id="393241" name="Line 25"/>
                <p:cNvSpPr>
                  <a:spLocks noChangeShapeType="1"/>
                </p:cNvSpPr>
                <p:nvPr/>
              </p:nvSpPr>
              <p:spPr bwMode="auto">
                <a:xfrm flipH="1">
                  <a:off x="1680" y="1536"/>
                  <a:ext cx="864" cy="52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242" name="Line 26"/>
                <p:cNvSpPr>
                  <a:spLocks noChangeShapeType="1"/>
                </p:cNvSpPr>
                <p:nvPr/>
              </p:nvSpPr>
              <p:spPr bwMode="auto">
                <a:xfrm>
                  <a:off x="2736" y="1584"/>
                  <a:ext cx="816" cy="52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9" name="Group 27"/>
              <p:cNvGrpSpPr>
                <a:grpSpLocks/>
              </p:cNvGrpSpPr>
              <p:nvPr/>
            </p:nvGrpSpPr>
            <p:grpSpPr bwMode="auto">
              <a:xfrm>
                <a:off x="624" y="3504"/>
                <a:ext cx="3984" cy="653"/>
                <a:chOff x="480" y="2832"/>
                <a:chExt cx="3984" cy="653"/>
              </a:xfrm>
            </p:grpSpPr>
            <p:grpSp>
              <p:nvGrpSpPr>
                <p:cNvPr id="10" name="Group 28"/>
                <p:cNvGrpSpPr>
                  <a:grpSpLocks/>
                </p:cNvGrpSpPr>
                <p:nvPr/>
              </p:nvGrpSpPr>
              <p:grpSpPr bwMode="auto">
                <a:xfrm>
                  <a:off x="480" y="3072"/>
                  <a:ext cx="240" cy="365"/>
                  <a:chOff x="4176" y="1104"/>
                  <a:chExt cx="240" cy="365"/>
                </a:xfrm>
              </p:grpSpPr>
              <p:sp>
                <p:nvSpPr>
                  <p:cNvPr id="393245" name="Oval 29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3246" name="Text Box 3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/>
                  </a:p>
                </p:txBody>
              </p:sp>
            </p:grpSp>
            <p:grpSp>
              <p:nvGrpSpPr>
                <p:cNvPr id="11" name="Group 31"/>
                <p:cNvGrpSpPr>
                  <a:grpSpLocks/>
                </p:cNvGrpSpPr>
                <p:nvPr/>
              </p:nvGrpSpPr>
              <p:grpSpPr bwMode="auto">
                <a:xfrm>
                  <a:off x="1104" y="3072"/>
                  <a:ext cx="240" cy="365"/>
                  <a:chOff x="4176" y="1104"/>
                  <a:chExt cx="240" cy="365"/>
                </a:xfrm>
              </p:grpSpPr>
              <p:sp>
                <p:nvSpPr>
                  <p:cNvPr id="393248" name="Oval 32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3249" name="Text Box 3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/>
                  </a:p>
                </p:txBody>
              </p:sp>
            </p:grpSp>
            <p:sp>
              <p:nvSpPr>
                <p:cNvPr id="393250" name="Line 34"/>
                <p:cNvSpPr>
                  <a:spLocks noChangeShapeType="1"/>
                </p:cNvSpPr>
                <p:nvPr/>
              </p:nvSpPr>
              <p:spPr bwMode="auto">
                <a:xfrm flipH="1">
                  <a:off x="672" y="2880"/>
                  <a:ext cx="144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251" name="Line 35"/>
                <p:cNvSpPr>
                  <a:spLocks noChangeShapeType="1"/>
                </p:cNvSpPr>
                <p:nvPr/>
              </p:nvSpPr>
              <p:spPr bwMode="auto">
                <a:xfrm>
                  <a:off x="1008" y="2832"/>
                  <a:ext cx="192" cy="28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2" name="Group 36"/>
                <p:cNvGrpSpPr>
                  <a:grpSpLocks/>
                </p:cNvGrpSpPr>
                <p:nvPr/>
              </p:nvGrpSpPr>
              <p:grpSpPr bwMode="auto">
                <a:xfrm>
                  <a:off x="1776" y="3120"/>
                  <a:ext cx="240" cy="365"/>
                  <a:chOff x="4176" y="1104"/>
                  <a:chExt cx="240" cy="365"/>
                </a:xfrm>
              </p:grpSpPr>
              <p:sp>
                <p:nvSpPr>
                  <p:cNvPr id="393253" name="Oval 37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3254" name="Text Box 3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/>
                  </a:p>
                </p:txBody>
              </p:sp>
            </p:grpSp>
            <p:grpSp>
              <p:nvGrpSpPr>
                <p:cNvPr id="13" name="Group 39"/>
                <p:cNvGrpSpPr>
                  <a:grpSpLocks/>
                </p:cNvGrpSpPr>
                <p:nvPr/>
              </p:nvGrpSpPr>
              <p:grpSpPr bwMode="auto">
                <a:xfrm>
                  <a:off x="2400" y="3120"/>
                  <a:ext cx="240" cy="365"/>
                  <a:chOff x="4176" y="1104"/>
                  <a:chExt cx="240" cy="365"/>
                </a:xfrm>
              </p:grpSpPr>
              <p:sp>
                <p:nvSpPr>
                  <p:cNvPr id="393256" name="Oval 40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3257" name="Text Box 4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/>
                  </a:p>
                </p:txBody>
              </p:sp>
            </p:grpSp>
            <p:sp>
              <p:nvSpPr>
                <p:cNvPr id="393258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1968" y="2928"/>
                  <a:ext cx="144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259" name="Line 43"/>
                <p:cNvSpPr>
                  <a:spLocks noChangeShapeType="1"/>
                </p:cNvSpPr>
                <p:nvPr/>
              </p:nvSpPr>
              <p:spPr bwMode="auto">
                <a:xfrm>
                  <a:off x="2304" y="2880"/>
                  <a:ext cx="192" cy="28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4" name="Group 44"/>
                <p:cNvGrpSpPr>
                  <a:grpSpLocks/>
                </p:cNvGrpSpPr>
                <p:nvPr/>
              </p:nvGrpSpPr>
              <p:grpSpPr bwMode="auto">
                <a:xfrm>
                  <a:off x="2928" y="3120"/>
                  <a:ext cx="240" cy="365"/>
                  <a:chOff x="4176" y="1104"/>
                  <a:chExt cx="240" cy="365"/>
                </a:xfrm>
              </p:grpSpPr>
              <p:sp>
                <p:nvSpPr>
                  <p:cNvPr id="393261" name="Oval 45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3262" name="Text Box 4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/>
                  </a:p>
                </p:txBody>
              </p:sp>
            </p:grpSp>
            <p:grpSp>
              <p:nvGrpSpPr>
                <p:cNvPr id="15" name="Group 47"/>
                <p:cNvGrpSpPr>
                  <a:grpSpLocks/>
                </p:cNvGrpSpPr>
                <p:nvPr/>
              </p:nvGrpSpPr>
              <p:grpSpPr bwMode="auto">
                <a:xfrm>
                  <a:off x="3360" y="3120"/>
                  <a:ext cx="240" cy="365"/>
                  <a:chOff x="4176" y="1104"/>
                  <a:chExt cx="240" cy="365"/>
                </a:xfrm>
              </p:grpSpPr>
              <p:sp>
                <p:nvSpPr>
                  <p:cNvPr id="393264" name="Oval 48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3265" name="Text Box 4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/>
                  </a:p>
                </p:txBody>
              </p:sp>
            </p:grpSp>
            <p:grpSp>
              <p:nvGrpSpPr>
                <p:cNvPr id="16" name="Group 50"/>
                <p:cNvGrpSpPr>
                  <a:grpSpLocks/>
                </p:cNvGrpSpPr>
                <p:nvPr/>
              </p:nvGrpSpPr>
              <p:grpSpPr bwMode="auto">
                <a:xfrm>
                  <a:off x="3792" y="3120"/>
                  <a:ext cx="240" cy="365"/>
                  <a:chOff x="4176" y="1104"/>
                  <a:chExt cx="240" cy="365"/>
                </a:xfrm>
              </p:grpSpPr>
              <p:sp>
                <p:nvSpPr>
                  <p:cNvPr id="393267" name="Oval 51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3268" name="Text Box 5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/>
                  </a:p>
                </p:txBody>
              </p:sp>
            </p:grpSp>
            <p:grpSp>
              <p:nvGrpSpPr>
                <p:cNvPr id="17" name="Group 53"/>
                <p:cNvGrpSpPr>
                  <a:grpSpLocks/>
                </p:cNvGrpSpPr>
                <p:nvPr/>
              </p:nvGrpSpPr>
              <p:grpSpPr bwMode="auto">
                <a:xfrm>
                  <a:off x="4224" y="3120"/>
                  <a:ext cx="240" cy="365"/>
                  <a:chOff x="4176" y="1104"/>
                  <a:chExt cx="240" cy="365"/>
                </a:xfrm>
              </p:grpSpPr>
              <p:sp>
                <p:nvSpPr>
                  <p:cNvPr id="393270" name="Oval 54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3271" name="Text Box 5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/>
                  </a:p>
                </p:txBody>
              </p:sp>
            </p:grpSp>
            <p:sp>
              <p:nvSpPr>
                <p:cNvPr id="393272" name="Line 56"/>
                <p:cNvSpPr>
                  <a:spLocks noChangeShapeType="1"/>
                </p:cNvSpPr>
                <p:nvPr/>
              </p:nvSpPr>
              <p:spPr bwMode="auto">
                <a:xfrm flipH="1">
                  <a:off x="3072" y="2928"/>
                  <a:ext cx="192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273" name="Line 57"/>
                <p:cNvSpPr>
                  <a:spLocks noChangeShapeType="1"/>
                </p:cNvSpPr>
                <p:nvPr/>
              </p:nvSpPr>
              <p:spPr bwMode="auto">
                <a:xfrm>
                  <a:off x="3360" y="2928"/>
                  <a:ext cx="96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274" name="Line 58"/>
                <p:cNvSpPr>
                  <a:spLocks noChangeShapeType="1"/>
                </p:cNvSpPr>
                <p:nvPr/>
              </p:nvSpPr>
              <p:spPr bwMode="auto">
                <a:xfrm flipH="1">
                  <a:off x="3936" y="2928"/>
                  <a:ext cx="96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275" name="Line 59"/>
                <p:cNvSpPr>
                  <a:spLocks noChangeShapeType="1"/>
                </p:cNvSpPr>
                <p:nvPr/>
              </p:nvSpPr>
              <p:spPr bwMode="auto">
                <a:xfrm>
                  <a:off x="4176" y="2928"/>
                  <a:ext cx="192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393276" name="Text Box 60"/>
            <p:cNvSpPr txBox="1">
              <a:spLocks noChangeArrowheads="1"/>
            </p:cNvSpPr>
            <p:nvPr/>
          </p:nvSpPr>
          <p:spPr bwMode="auto">
            <a:xfrm>
              <a:off x="2736" y="960"/>
              <a:ext cx="19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393277" name="Text Box 61"/>
            <p:cNvSpPr txBox="1">
              <a:spLocks noChangeArrowheads="1"/>
            </p:cNvSpPr>
            <p:nvPr/>
          </p:nvSpPr>
          <p:spPr bwMode="auto">
            <a:xfrm>
              <a:off x="1680" y="1632"/>
              <a:ext cx="19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393278" name="Text Box 62"/>
            <p:cNvSpPr txBox="1">
              <a:spLocks noChangeArrowheads="1"/>
            </p:cNvSpPr>
            <p:nvPr/>
          </p:nvSpPr>
          <p:spPr bwMode="auto">
            <a:xfrm>
              <a:off x="3696" y="1632"/>
              <a:ext cx="19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393279" name="Text Box 63"/>
            <p:cNvSpPr txBox="1">
              <a:spLocks noChangeArrowheads="1"/>
            </p:cNvSpPr>
            <p:nvPr/>
          </p:nvSpPr>
          <p:spPr bwMode="auto">
            <a:xfrm>
              <a:off x="912" y="2256"/>
              <a:ext cx="19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393280" name="Text Box 64"/>
            <p:cNvSpPr txBox="1">
              <a:spLocks noChangeArrowheads="1"/>
            </p:cNvSpPr>
            <p:nvPr/>
          </p:nvSpPr>
          <p:spPr bwMode="auto">
            <a:xfrm>
              <a:off x="2256" y="2304"/>
              <a:ext cx="19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5</a:t>
              </a:r>
            </a:p>
          </p:txBody>
        </p:sp>
        <p:sp>
          <p:nvSpPr>
            <p:cNvPr id="393281" name="Text Box 65"/>
            <p:cNvSpPr txBox="1">
              <a:spLocks noChangeArrowheads="1"/>
            </p:cNvSpPr>
            <p:nvPr/>
          </p:nvSpPr>
          <p:spPr bwMode="auto">
            <a:xfrm>
              <a:off x="3360" y="2256"/>
              <a:ext cx="19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6</a:t>
              </a:r>
            </a:p>
          </p:txBody>
        </p:sp>
        <p:sp>
          <p:nvSpPr>
            <p:cNvPr id="393282" name="Text Box 66"/>
            <p:cNvSpPr txBox="1">
              <a:spLocks noChangeArrowheads="1"/>
            </p:cNvSpPr>
            <p:nvPr/>
          </p:nvSpPr>
          <p:spPr bwMode="auto">
            <a:xfrm>
              <a:off x="4176" y="2304"/>
              <a:ext cx="19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7</a:t>
              </a:r>
            </a:p>
          </p:txBody>
        </p:sp>
        <p:sp>
          <p:nvSpPr>
            <p:cNvPr id="393283" name="Text Box 67"/>
            <p:cNvSpPr txBox="1">
              <a:spLocks noChangeArrowheads="1"/>
            </p:cNvSpPr>
            <p:nvPr/>
          </p:nvSpPr>
          <p:spPr bwMode="auto">
            <a:xfrm>
              <a:off x="672" y="2688"/>
              <a:ext cx="19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8</a:t>
              </a:r>
            </a:p>
          </p:txBody>
        </p:sp>
        <p:sp>
          <p:nvSpPr>
            <p:cNvPr id="393284" name="Text Box 68"/>
            <p:cNvSpPr txBox="1">
              <a:spLocks noChangeArrowheads="1"/>
            </p:cNvSpPr>
            <p:nvPr/>
          </p:nvSpPr>
          <p:spPr bwMode="auto">
            <a:xfrm>
              <a:off x="1296" y="2688"/>
              <a:ext cx="19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9</a:t>
              </a:r>
            </a:p>
          </p:txBody>
        </p:sp>
        <p:sp>
          <p:nvSpPr>
            <p:cNvPr id="393285" name="Text Box 69"/>
            <p:cNvSpPr txBox="1">
              <a:spLocks noChangeArrowheads="1"/>
            </p:cNvSpPr>
            <p:nvPr/>
          </p:nvSpPr>
          <p:spPr bwMode="auto">
            <a:xfrm>
              <a:off x="1872" y="2736"/>
              <a:ext cx="38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10</a:t>
              </a:r>
            </a:p>
          </p:txBody>
        </p:sp>
        <p:sp>
          <p:nvSpPr>
            <p:cNvPr id="393286" name="Text Box 70"/>
            <p:cNvSpPr txBox="1">
              <a:spLocks noChangeArrowheads="1"/>
            </p:cNvSpPr>
            <p:nvPr/>
          </p:nvSpPr>
          <p:spPr bwMode="auto">
            <a:xfrm>
              <a:off x="2544" y="2736"/>
              <a:ext cx="38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11</a:t>
              </a:r>
            </a:p>
          </p:txBody>
        </p:sp>
        <p:sp>
          <p:nvSpPr>
            <p:cNvPr id="393287" name="Text Box 71"/>
            <p:cNvSpPr txBox="1">
              <a:spLocks noChangeArrowheads="1"/>
            </p:cNvSpPr>
            <p:nvPr/>
          </p:nvSpPr>
          <p:spPr bwMode="auto">
            <a:xfrm>
              <a:off x="3024" y="2736"/>
              <a:ext cx="38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12</a:t>
              </a:r>
            </a:p>
          </p:txBody>
        </p:sp>
        <p:sp>
          <p:nvSpPr>
            <p:cNvPr id="393288" name="Text Box 72"/>
            <p:cNvSpPr txBox="1">
              <a:spLocks noChangeArrowheads="1"/>
            </p:cNvSpPr>
            <p:nvPr/>
          </p:nvSpPr>
          <p:spPr bwMode="auto">
            <a:xfrm>
              <a:off x="3456" y="2736"/>
              <a:ext cx="38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13</a:t>
              </a:r>
            </a:p>
          </p:txBody>
        </p:sp>
        <p:sp>
          <p:nvSpPr>
            <p:cNvPr id="393289" name="Text Box 73"/>
            <p:cNvSpPr txBox="1">
              <a:spLocks noChangeArrowheads="1"/>
            </p:cNvSpPr>
            <p:nvPr/>
          </p:nvSpPr>
          <p:spPr bwMode="auto">
            <a:xfrm>
              <a:off x="3888" y="2736"/>
              <a:ext cx="38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14</a:t>
              </a:r>
            </a:p>
          </p:txBody>
        </p:sp>
        <p:sp>
          <p:nvSpPr>
            <p:cNvPr id="393290" name="Text Box 74"/>
            <p:cNvSpPr txBox="1">
              <a:spLocks noChangeArrowheads="1"/>
            </p:cNvSpPr>
            <p:nvPr/>
          </p:nvSpPr>
          <p:spPr bwMode="auto">
            <a:xfrm>
              <a:off x="4320" y="2736"/>
              <a:ext cx="38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15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7772400" cy="914400"/>
          </a:xfrm>
        </p:spPr>
        <p:txBody>
          <a:bodyPr/>
          <a:lstStyle/>
          <a:p>
            <a:r>
              <a:rPr lang="en-US"/>
              <a:t>Node Number Properties </a:t>
            </a:r>
          </a:p>
        </p:txBody>
      </p:sp>
      <p:sp>
        <p:nvSpPr>
          <p:cNvPr id="394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029200"/>
            <a:ext cx="8305800" cy="1600200"/>
          </a:xfrm>
        </p:spPr>
        <p:txBody>
          <a:bodyPr/>
          <a:lstStyle/>
          <a:p>
            <a:r>
              <a:rPr lang="en-US" sz="2400"/>
              <a:t>Right child of node </a:t>
            </a:r>
            <a:r>
              <a:rPr lang="en-US" sz="2400">
                <a:solidFill>
                  <a:schemeClr val="hlink"/>
                </a:solidFill>
              </a:rPr>
              <a:t>i </a:t>
            </a:r>
            <a:r>
              <a:rPr lang="en-US" sz="2400"/>
              <a:t>is node </a:t>
            </a:r>
            <a:r>
              <a:rPr lang="en-US" sz="2400">
                <a:solidFill>
                  <a:schemeClr val="hlink"/>
                </a:solidFill>
              </a:rPr>
              <a:t>2i+1</a:t>
            </a:r>
            <a:r>
              <a:rPr lang="en-US" sz="2400"/>
              <a:t>, unless </a:t>
            </a:r>
            <a:r>
              <a:rPr lang="en-US" sz="2400">
                <a:solidFill>
                  <a:schemeClr val="hlink"/>
                </a:solidFill>
              </a:rPr>
              <a:t>2i+1 &gt; n</a:t>
            </a:r>
            <a:r>
              <a:rPr lang="en-US" sz="2400"/>
              <a:t>, where </a:t>
            </a:r>
            <a:r>
              <a:rPr lang="en-US" sz="2400">
                <a:solidFill>
                  <a:schemeClr val="hlink"/>
                </a:solidFill>
              </a:rPr>
              <a:t>n</a:t>
            </a:r>
            <a:r>
              <a:rPr lang="en-US" sz="2400"/>
              <a:t> is the number of nodes.</a:t>
            </a:r>
          </a:p>
          <a:p>
            <a:r>
              <a:rPr lang="en-US" sz="2400"/>
              <a:t>If </a:t>
            </a:r>
            <a:r>
              <a:rPr lang="en-US" sz="2400">
                <a:solidFill>
                  <a:schemeClr val="hlink"/>
                </a:solidFill>
              </a:rPr>
              <a:t>2i+1 &gt; n</a:t>
            </a:r>
            <a:r>
              <a:rPr lang="en-US" sz="2400"/>
              <a:t>, node</a:t>
            </a:r>
            <a:r>
              <a:rPr lang="en-US" sz="2400">
                <a:solidFill>
                  <a:schemeClr val="hlink"/>
                </a:solidFill>
              </a:rPr>
              <a:t> i</a:t>
            </a:r>
            <a:r>
              <a:rPr lang="en-US" sz="2400"/>
              <a:t> has no right child.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066800" y="1630363"/>
            <a:ext cx="6477000" cy="3398837"/>
            <a:chOff x="624" y="960"/>
            <a:chExt cx="4080" cy="2141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624" y="960"/>
              <a:ext cx="3984" cy="2141"/>
              <a:chOff x="624" y="2016"/>
              <a:chExt cx="3984" cy="2141"/>
            </a:xfrm>
          </p:grpSpPr>
          <p:grpSp>
            <p:nvGrpSpPr>
              <p:cNvPr id="4" name="Group 6"/>
              <p:cNvGrpSpPr>
                <a:grpSpLocks/>
              </p:cNvGrpSpPr>
              <p:nvPr/>
            </p:nvGrpSpPr>
            <p:grpSpPr bwMode="auto">
              <a:xfrm>
                <a:off x="912" y="2880"/>
                <a:ext cx="3456" cy="768"/>
                <a:chOff x="768" y="2208"/>
                <a:chExt cx="3456" cy="768"/>
              </a:xfrm>
            </p:grpSpPr>
            <p:sp>
              <p:nvSpPr>
                <p:cNvPr id="394247" name="Oval 7"/>
                <p:cNvSpPr>
                  <a:spLocks noChangeArrowheads="1"/>
                </p:cNvSpPr>
                <p:nvPr/>
              </p:nvSpPr>
              <p:spPr bwMode="auto">
                <a:xfrm>
                  <a:off x="768" y="2688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248" name="Oval 8"/>
                <p:cNvSpPr>
                  <a:spLocks noChangeArrowheads="1"/>
                </p:cNvSpPr>
                <p:nvPr/>
              </p:nvSpPr>
              <p:spPr bwMode="auto">
                <a:xfrm>
                  <a:off x="2064" y="2736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249" name="Oval 9"/>
                <p:cNvSpPr>
                  <a:spLocks noChangeArrowheads="1"/>
                </p:cNvSpPr>
                <p:nvPr/>
              </p:nvSpPr>
              <p:spPr bwMode="auto">
                <a:xfrm>
                  <a:off x="3168" y="2688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250" name="Oval 10"/>
                <p:cNvSpPr>
                  <a:spLocks noChangeArrowheads="1"/>
                </p:cNvSpPr>
                <p:nvPr/>
              </p:nvSpPr>
              <p:spPr bwMode="auto">
                <a:xfrm>
                  <a:off x="3984" y="2736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251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3312" y="2256"/>
                  <a:ext cx="240" cy="4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4252" name="Line 12"/>
                <p:cNvSpPr>
                  <a:spLocks noChangeShapeType="1"/>
                </p:cNvSpPr>
                <p:nvPr/>
              </p:nvSpPr>
              <p:spPr bwMode="auto">
                <a:xfrm>
                  <a:off x="3744" y="2208"/>
                  <a:ext cx="336" cy="52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4253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960" y="2208"/>
                  <a:ext cx="528" cy="52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4254" name="Line 14"/>
                <p:cNvSpPr>
                  <a:spLocks noChangeShapeType="1"/>
                </p:cNvSpPr>
                <p:nvPr/>
              </p:nvSpPr>
              <p:spPr bwMode="auto">
                <a:xfrm>
                  <a:off x="1728" y="2208"/>
                  <a:ext cx="384" cy="57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15"/>
              <p:cNvGrpSpPr>
                <a:grpSpLocks/>
              </p:cNvGrpSpPr>
              <p:nvPr/>
            </p:nvGrpSpPr>
            <p:grpSpPr bwMode="auto">
              <a:xfrm>
                <a:off x="2688" y="2016"/>
                <a:ext cx="240" cy="365"/>
                <a:chOff x="4176" y="1104"/>
                <a:chExt cx="240" cy="365"/>
              </a:xfrm>
            </p:grpSpPr>
            <p:sp>
              <p:nvSpPr>
                <p:cNvPr id="394256" name="Oval 16"/>
                <p:cNvSpPr>
                  <a:spLocks noChangeArrowheads="1"/>
                </p:cNvSpPr>
                <p:nvPr/>
              </p:nvSpPr>
              <p:spPr bwMode="auto">
                <a:xfrm>
                  <a:off x="4176" y="1152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257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176" y="1104"/>
                  <a:ext cx="240" cy="3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en-US" sz="3200"/>
                </a:p>
              </p:txBody>
            </p:sp>
          </p:grpSp>
          <p:grpSp>
            <p:nvGrpSpPr>
              <p:cNvPr id="6" name="Group 18"/>
              <p:cNvGrpSpPr>
                <a:grpSpLocks/>
              </p:cNvGrpSpPr>
              <p:nvPr/>
            </p:nvGrpSpPr>
            <p:grpSpPr bwMode="auto">
              <a:xfrm>
                <a:off x="1632" y="2208"/>
                <a:ext cx="2256" cy="845"/>
                <a:chOff x="1488" y="1536"/>
                <a:chExt cx="2256" cy="845"/>
              </a:xfrm>
            </p:grpSpPr>
            <p:grpSp>
              <p:nvGrpSpPr>
                <p:cNvPr id="7" name="Group 19"/>
                <p:cNvGrpSpPr>
                  <a:grpSpLocks/>
                </p:cNvGrpSpPr>
                <p:nvPr/>
              </p:nvGrpSpPr>
              <p:grpSpPr bwMode="auto">
                <a:xfrm>
                  <a:off x="3504" y="2016"/>
                  <a:ext cx="240" cy="365"/>
                  <a:chOff x="4176" y="1104"/>
                  <a:chExt cx="240" cy="365"/>
                </a:xfrm>
              </p:grpSpPr>
              <p:sp>
                <p:nvSpPr>
                  <p:cNvPr id="394260" name="Oval 20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4261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/>
                  </a:p>
                </p:txBody>
              </p:sp>
            </p:grpSp>
            <p:grpSp>
              <p:nvGrpSpPr>
                <p:cNvPr id="8" name="Group 22"/>
                <p:cNvGrpSpPr>
                  <a:grpSpLocks/>
                </p:cNvGrpSpPr>
                <p:nvPr/>
              </p:nvGrpSpPr>
              <p:grpSpPr bwMode="auto">
                <a:xfrm>
                  <a:off x="1488" y="2016"/>
                  <a:ext cx="240" cy="365"/>
                  <a:chOff x="4176" y="1104"/>
                  <a:chExt cx="240" cy="365"/>
                </a:xfrm>
              </p:grpSpPr>
              <p:sp>
                <p:nvSpPr>
                  <p:cNvPr id="394263" name="Oval 23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4264" name="Text Box 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/>
                  </a:p>
                </p:txBody>
              </p:sp>
            </p:grpSp>
            <p:sp>
              <p:nvSpPr>
                <p:cNvPr id="394265" name="Line 25"/>
                <p:cNvSpPr>
                  <a:spLocks noChangeShapeType="1"/>
                </p:cNvSpPr>
                <p:nvPr/>
              </p:nvSpPr>
              <p:spPr bwMode="auto">
                <a:xfrm flipH="1">
                  <a:off x="1680" y="1536"/>
                  <a:ext cx="864" cy="52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4266" name="Line 26"/>
                <p:cNvSpPr>
                  <a:spLocks noChangeShapeType="1"/>
                </p:cNvSpPr>
                <p:nvPr/>
              </p:nvSpPr>
              <p:spPr bwMode="auto">
                <a:xfrm>
                  <a:off x="2736" y="1584"/>
                  <a:ext cx="816" cy="52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9" name="Group 27"/>
              <p:cNvGrpSpPr>
                <a:grpSpLocks/>
              </p:cNvGrpSpPr>
              <p:nvPr/>
            </p:nvGrpSpPr>
            <p:grpSpPr bwMode="auto">
              <a:xfrm>
                <a:off x="624" y="3504"/>
                <a:ext cx="3984" cy="653"/>
                <a:chOff x="480" y="2832"/>
                <a:chExt cx="3984" cy="653"/>
              </a:xfrm>
            </p:grpSpPr>
            <p:grpSp>
              <p:nvGrpSpPr>
                <p:cNvPr id="10" name="Group 28"/>
                <p:cNvGrpSpPr>
                  <a:grpSpLocks/>
                </p:cNvGrpSpPr>
                <p:nvPr/>
              </p:nvGrpSpPr>
              <p:grpSpPr bwMode="auto">
                <a:xfrm>
                  <a:off x="480" y="3072"/>
                  <a:ext cx="240" cy="365"/>
                  <a:chOff x="4176" y="1104"/>
                  <a:chExt cx="240" cy="365"/>
                </a:xfrm>
              </p:grpSpPr>
              <p:sp>
                <p:nvSpPr>
                  <p:cNvPr id="394269" name="Oval 29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4270" name="Text Box 3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/>
                  </a:p>
                </p:txBody>
              </p:sp>
            </p:grpSp>
            <p:grpSp>
              <p:nvGrpSpPr>
                <p:cNvPr id="11" name="Group 31"/>
                <p:cNvGrpSpPr>
                  <a:grpSpLocks/>
                </p:cNvGrpSpPr>
                <p:nvPr/>
              </p:nvGrpSpPr>
              <p:grpSpPr bwMode="auto">
                <a:xfrm>
                  <a:off x="1104" y="3072"/>
                  <a:ext cx="240" cy="365"/>
                  <a:chOff x="4176" y="1104"/>
                  <a:chExt cx="240" cy="365"/>
                </a:xfrm>
              </p:grpSpPr>
              <p:sp>
                <p:nvSpPr>
                  <p:cNvPr id="394272" name="Oval 32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4273" name="Text Box 3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/>
                  </a:p>
                </p:txBody>
              </p:sp>
            </p:grpSp>
            <p:sp>
              <p:nvSpPr>
                <p:cNvPr id="394274" name="Line 34"/>
                <p:cNvSpPr>
                  <a:spLocks noChangeShapeType="1"/>
                </p:cNvSpPr>
                <p:nvPr/>
              </p:nvSpPr>
              <p:spPr bwMode="auto">
                <a:xfrm flipH="1">
                  <a:off x="672" y="2880"/>
                  <a:ext cx="144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4275" name="Line 35"/>
                <p:cNvSpPr>
                  <a:spLocks noChangeShapeType="1"/>
                </p:cNvSpPr>
                <p:nvPr/>
              </p:nvSpPr>
              <p:spPr bwMode="auto">
                <a:xfrm>
                  <a:off x="1008" y="2832"/>
                  <a:ext cx="192" cy="28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2" name="Group 36"/>
                <p:cNvGrpSpPr>
                  <a:grpSpLocks/>
                </p:cNvGrpSpPr>
                <p:nvPr/>
              </p:nvGrpSpPr>
              <p:grpSpPr bwMode="auto">
                <a:xfrm>
                  <a:off x="1776" y="3120"/>
                  <a:ext cx="240" cy="365"/>
                  <a:chOff x="4176" y="1104"/>
                  <a:chExt cx="240" cy="365"/>
                </a:xfrm>
              </p:grpSpPr>
              <p:sp>
                <p:nvSpPr>
                  <p:cNvPr id="394277" name="Oval 37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4278" name="Text Box 3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/>
                  </a:p>
                </p:txBody>
              </p:sp>
            </p:grpSp>
            <p:grpSp>
              <p:nvGrpSpPr>
                <p:cNvPr id="13" name="Group 39"/>
                <p:cNvGrpSpPr>
                  <a:grpSpLocks/>
                </p:cNvGrpSpPr>
                <p:nvPr/>
              </p:nvGrpSpPr>
              <p:grpSpPr bwMode="auto">
                <a:xfrm>
                  <a:off x="2400" y="3120"/>
                  <a:ext cx="240" cy="365"/>
                  <a:chOff x="4176" y="1104"/>
                  <a:chExt cx="240" cy="365"/>
                </a:xfrm>
              </p:grpSpPr>
              <p:sp>
                <p:nvSpPr>
                  <p:cNvPr id="394280" name="Oval 40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4281" name="Text Box 4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/>
                  </a:p>
                </p:txBody>
              </p:sp>
            </p:grpSp>
            <p:sp>
              <p:nvSpPr>
                <p:cNvPr id="394282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1968" y="2928"/>
                  <a:ext cx="144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4283" name="Line 43"/>
                <p:cNvSpPr>
                  <a:spLocks noChangeShapeType="1"/>
                </p:cNvSpPr>
                <p:nvPr/>
              </p:nvSpPr>
              <p:spPr bwMode="auto">
                <a:xfrm>
                  <a:off x="2304" y="2880"/>
                  <a:ext cx="192" cy="28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4" name="Group 44"/>
                <p:cNvGrpSpPr>
                  <a:grpSpLocks/>
                </p:cNvGrpSpPr>
                <p:nvPr/>
              </p:nvGrpSpPr>
              <p:grpSpPr bwMode="auto">
                <a:xfrm>
                  <a:off x="2928" y="3120"/>
                  <a:ext cx="240" cy="365"/>
                  <a:chOff x="4176" y="1104"/>
                  <a:chExt cx="240" cy="365"/>
                </a:xfrm>
              </p:grpSpPr>
              <p:sp>
                <p:nvSpPr>
                  <p:cNvPr id="394285" name="Oval 45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4286" name="Text Box 4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/>
                  </a:p>
                </p:txBody>
              </p:sp>
            </p:grpSp>
            <p:grpSp>
              <p:nvGrpSpPr>
                <p:cNvPr id="15" name="Group 47"/>
                <p:cNvGrpSpPr>
                  <a:grpSpLocks/>
                </p:cNvGrpSpPr>
                <p:nvPr/>
              </p:nvGrpSpPr>
              <p:grpSpPr bwMode="auto">
                <a:xfrm>
                  <a:off x="3360" y="3120"/>
                  <a:ext cx="240" cy="365"/>
                  <a:chOff x="4176" y="1104"/>
                  <a:chExt cx="240" cy="365"/>
                </a:xfrm>
              </p:grpSpPr>
              <p:sp>
                <p:nvSpPr>
                  <p:cNvPr id="394288" name="Oval 48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4289" name="Text Box 4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/>
                  </a:p>
                </p:txBody>
              </p:sp>
            </p:grpSp>
            <p:grpSp>
              <p:nvGrpSpPr>
                <p:cNvPr id="16" name="Group 50"/>
                <p:cNvGrpSpPr>
                  <a:grpSpLocks/>
                </p:cNvGrpSpPr>
                <p:nvPr/>
              </p:nvGrpSpPr>
              <p:grpSpPr bwMode="auto">
                <a:xfrm>
                  <a:off x="3792" y="3120"/>
                  <a:ext cx="240" cy="365"/>
                  <a:chOff x="4176" y="1104"/>
                  <a:chExt cx="240" cy="365"/>
                </a:xfrm>
              </p:grpSpPr>
              <p:sp>
                <p:nvSpPr>
                  <p:cNvPr id="394291" name="Oval 51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4292" name="Text Box 5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/>
                  </a:p>
                </p:txBody>
              </p:sp>
            </p:grpSp>
            <p:grpSp>
              <p:nvGrpSpPr>
                <p:cNvPr id="17" name="Group 53"/>
                <p:cNvGrpSpPr>
                  <a:grpSpLocks/>
                </p:cNvGrpSpPr>
                <p:nvPr/>
              </p:nvGrpSpPr>
              <p:grpSpPr bwMode="auto">
                <a:xfrm>
                  <a:off x="4224" y="3120"/>
                  <a:ext cx="240" cy="365"/>
                  <a:chOff x="4176" y="1104"/>
                  <a:chExt cx="240" cy="365"/>
                </a:xfrm>
              </p:grpSpPr>
              <p:sp>
                <p:nvSpPr>
                  <p:cNvPr id="394294" name="Oval 54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4295" name="Text Box 5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0" hangingPunct="0">
                      <a:spcBef>
                        <a:spcPct val="50000"/>
                      </a:spcBef>
                    </a:pPr>
                    <a:endParaRPr lang="en-US" sz="3200"/>
                  </a:p>
                </p:txBody>
              </p:sp>
            </p:grpSp>
            <p:sp>
              <p:nvSpPr>
                <p:cNvPr id="394296" name="Line 56"/>
                <p:cNvSpPr>
                  <a:spLocks noChangeShapeType="1"/>
                </p:cNvSpPr>
                <p:nvPr/>
              </p:nvSpPr>
              <p:spPr bwMode="auto">
                <a:xfrm flipH="1">
                  <a:off x="3072" y="2928"/>
                  <a:ext cx="192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4297" name="Line 57"/>
                <p:cNvSpPr>
                  <a:spLocks noChangeShapeType="1"/>
                </p:cNvSpPr>
                <p:nvPr/>
              </p:nvSpPr>
              <p:spPr bwMode="auto">
                <a:xfrm>
                  <a:off x="3360" y="2928"/>
                  <a:ext cx="96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4298" name="Line 58"/>
                <p:cNvSpPr>
                  <a:spLocks noChangeShapeType="1"/>
                </p:cNvSpPr>
                <p:nvPr/>
              </p:nvSpPr>
              <p:spPr bwMode="auto">
                <a:xfrm flipH="1">
                  <a:off x="3936" y="2928"/>
                  <a:ext cx="96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4299" name="Line 59"/>
                <p:cNvSpPr>
                  <a:spLocks noChangeShapeType="1"/>
                </p:cNvSpPr>
                <p:nvPr/>
              </p:nvSpPr>
              <p:spPr bwMode="auto">
                <a:xfrm>
                  <a:off x="4176" y="2928"/>
                  <a:ext cx="192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394300" name="Text Box 60"/>
            <p:cNvSpPr txBox="1">
              <a:spLocks noChangeArrowheads="1"/>
            </p:cNvSpPr>
            <p:nvPr/>
          </p:nvSpPr>
          <p:spPr bwMode="auto">
            <a:xfrm>
              <a:off x="2736" y="960"/>
              <a:ext cx="19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394301" name="Text Box 61"/>
            <p:cNvSpPr txBox="1">
              <a:spLocks noChangeArrowheads="1"/>
            </p:cNvSpPr>
            <p:nvPr/>
          </p:nvSpPr>
          <p:spPr bwMode="auto">
            <a:xfrm>
              <a:off x="1680" y="1632"/>
              <a:ext cx="19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394302" name="Text Box 62"/>
            <p:cNvSpPr txBox="1">
              <a:spLocks noChangeArrowheads="1"/>
            </p:cNvSpPr>
            <p:nvPr/>
          </p:nvSpPr>
          <p:spPr bwMode="auto">
            <a:xfrm>
              <a:off x="3696" y="1632"/>
              <a:ext cx="19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394303" name="Text Box 63"/>
            <p:cNvSpPr txBox="1">
              <a:spLocks noChangeArrowheads="1"/>
            </p:cNvSpPr>
            <p:nvPr/>
          </p:nvSpPr>
          <p:spPr bwMode="auto">
            <a:xfrm>
              <a:off x="912" y="2256"/>
              <a:ext cx="19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394304" name="Text Box 64"/>
            <p:cNvSpPr txBox="1">
              <a:spLocks noChangeArrowheads="1"/>
            </p:cNvSpPr>
            <p:nvPr/>
          </p:nvSpPr>
          <p:spPr bwMode="auto">
            <a:xfrm>
              <a:off x="2256" y="2304"/>
              <a:ext cx="19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5</a:t>
              </a:r>
            </a:p>
          </p:txBody>
        </p:sp>
        <p:sp>
          <p:nvSpPr>
            <p:cNvPr id="394305" name="Text Box 65"/>
            <p:cNvSpPr txBox="1">
              <a:spLocks noChangeArrowheads="1"/>
            </p:cNvSpPr>
            <p:nvPr/>
          </p:nvSpPr>
          <p:spPr bwMode="auto">
            <a:xfrm>
              <a:off x="3360" y="2256"/>
              <a:ext cx="19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6</a:t>
              </a:r>
            </a:p>
          </p:txBody>
        </p:sp>
        <p:sp>
          <p:nvSpPr>
            <p:cNvPr id="394306" name="Text Box 66"/>
            <p:cNvSpPr txBox="1">
              <a:spLocks noChangeArrowheads="1"/>
            </p:cNvSpPr>
            <p:nvPr/>
          </p:nvSpPr>
          <p:spPr bwMode="auto">
            <a:xfrm>
              <a:off x="4176" y="2304"/>
              <a:ext cx="19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7</a:t>
              </a:r>
            </a:p>
          </p:txBody>
        </p:sp>
        <p:sp>
          <p:nvSpPr>
            <p:cNvPr id="394307" name="Text Box 67"/>
            <p:cNvSpPr txBox="1">
              <a:spLocks noChangeArrowheads="1"/>
            </p:cNvSpPr>
            <p:nvPr/>
          </p:nvSpPr>
          <p:spPr bwMode="auto">
            <a:xfrm>
              <a:off x="672" y="2688"/>
              <a:ext cx="19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8</a:t>
              </a:r>
            </a:p>
          </p:txBody>
        </p:sp>
        <p:sp>
          <p:nvSpPr>
            <p:cNvPr id="394308" name="Text Box 68"/>
            <p:cNvSpPr txBox="1">
              <a:spLocks noChangeArrowheads="1"/>
            </p:cNvSpPr>
            <p:nvPr/>
          </p:nvSpPr>
          <p:spPr bwMode="auto">
            <a:xfrm>
              <a:off x="1296" y="2688"/>
              <a:ext cx="19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9</a:t>
              </a:r>
            </a:p>
          </p:txBody>
        </p:sp>
        <p:sp>
          <p:nvSpPr>
            <p:cNvPr id="394309" name="Text Box 69"/>
            <p:cNvSpPr txBox="1">
              <a:spLocks noChangeArrowheads="1"/>
            </p:cNvSpPr>
            <p:nvPr/>
          </p:nvSpPr>
          <p:spPr bwMode="auto">
            <a:xfrm>
              <a:off x="1872" y="2736"/>
              <a:ext cx="38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10</a:t>
              </a:r>
            </a:p>
          </p:txBody>
        </p:sp>
        <p:sp>
          <p:nvSpPr>
            <p:cNvPr id="394310" name="Text Box 70"/>
            <p:cNvSpPr txBox="1">
              <a:spLocks noChangeArrowheads="1"/>
            </p:cNvSpPr>
            <p:nvPr/>
          </p:nvSpPr>
          <p:spPr bwMode="auto">
            <a:xfrm>
              <a:off x="2544" y="2736"/>
              <a:ext cx="38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11</a:t>
              </a:r>
            </a:p>
          </p:txBody>
        </p:sp>
        <p:sp>
          <p:nvSpPr>
            <p:cNvPr id="394311" name="Text Box 71"/>
            <p:cNvSpPr txBox="1">
              <a:spLocks noChangeArrowheads="1"/>
            </p:cNvSpPr>
            <p:nvPr/>
          </p:nvSpPr>
          <p:spPr bwMode="auto">
            <a:xfrm>
              <a:off x="3024" y="2736"/>
              <a:ext cx="38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12</a:t>
              </a:r>
            </a:p>
          </p:txBody>
        </p:sp>
        <p:sp>
          <p:nvSpPr>
            <p:cNvPr id="394312" name="Text Box 72"/>
            <p:cNvSpPr txBox="1">
              <a:spLocks noChangeArrowheads="1"/>
            </p:cNvSpPr>
            <p:nvPr/>
          </p:nvSpPr>
          <p:spPr bwMode="auto">
            <a:xfrm>
              <a:off x="3456" y="2736"/>
              <a:ext cx="38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13</a:t>
              </a:r>
            </a:p>
          </p:txBody>
        </p:sp>
        <p:sp>
          <p:nvSpPr>
            <p:cNvPr id="394313" name="Text Box 73"/>
            <p:cNvSpPr txBox="1">
              <a:spLocks noChangeArrowheads="1"/>
            </p:cNvSpPr>
            <p:nvPr/>
          </p:nvSpPr>
          <p:spPr bwMode="auto">
            <a:xfrm>
              <a:off x="3888" y="2736"/>
              <a:ext cx="38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14</a:t>
              </a:r>
            </a:p>
          </p:txBody>
        </p:sp>
        <p:sp>
          <p:nvSpPr>
            <p:cNvPr id="394314" name="Text Box 74"/>
            <p:cNvSpPr txBox="1">
              <a:spLocks noChangeArrowheads="1"/>
            </p:cNvSpPr>
            <p:nvPr/>
          </p:nvSpPr>
          <p:spPr bwMode="auto">
            <a:xfrm>
              <a:off x="4320" y="2736"/>
              <a:ext cx="38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/>
                <a:t>15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43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ChangeArrowheads="1"/>
          </p:cNvSpPr>
          <p:nvPr/>
        </p:nvSpPr>
        <p:spPr bwMode="auto">
          <a:xfrm>
            <a:off x="1295400" y="228600"/>
            <a:ext cx="8153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r>
              <a:rPr lang="en-US" altLang="zh-TW" sz="3600" i="1" dirty="0">
                <a:latin typeface="Georgia" pitchFamily="18" charset="0"/>
                <a:ea typeface="新細明體" pitchFamily="18" charset="-120"/>
              </a:rPr>
              <a:t>Complete Binary Trees</a:t>
            </a:r>
          </a:p>
        </p:txBody>
      </p:sp>
      <p:sp>
        <p:nvSpPr>
          <p:cNvPr id="395267" name="Rectangle 3"/>
          <p:cNvSpPr>
            <a:spLocks noChangeArrowheads="1"/>
          </p:cNvSpPr>
          <p:nvPr/>
        </p:nvSpPr>
        <p:spPr bwMode="auto">
          <a:xfrm>
            <a:off x="533400" y="1447800"/>
            <a:ext cx="7924800" cy="2281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en-US" altLang="zh-TW" sz="1800">
                <a:latin typeface="Georgia" pitchFamily="18" charset="0"/>
                <a:ea typeface="新細明體" pitchFamily="18" charset="-120"/>
              </a:rPr>
              <a:t>A labeled binary tree containing the labels 1 to n with root 1, branches leading to nodes labeled 2 and 3, branches from these leading to 4, 5 and 6, 7, respectively, and so on.</a:t>
            </a:r>
          </a:p>
          <a:p>
            <a:pPr marL="342900" indent="-342900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en-US" altLang="zh-TW" sz="1800">
                <a:latin typeface="Georgia" pitchFamily="18" charset="0"/>
                <a:ea typeface="新細明體" pitchFamily="18" charset="-120"/>
              </a:rPr>
              <a:t>A binary tree with </a:t>
            </a:r>
            <a:r>
              <a:rPr lang="en-US" altLang="zh-TW" sz="1800" i="1">
                <a:latin typeface="Georgia" pitchFamily="18" charset="0"/>
                <a:ea typeface="新細明體" pitchFamily="18" charset="-120"/>
              </a:rPr>
              <a:t>n</a:t>
            </a:r>
            <a:r>
              <a:rPr lang="en-US" altLang="zh-TW" sz="1800">
                <a:latin typeface="Georgia" pitchFamily="18" charset="0"/>
                <a:ea typeface="新細明體" pitchFamily="18" charset="-120"/>
              </a:rPr>
              <a:t> nodes and level </a:t>
            </a:r>
            <a:r>
              <a:rPr lang="en-US" altLang="zh-TW" sz="1800" i="1">
                <a:latin typeface="Georgia" pitchFamily="18" charset="0"/>
                <a:ea typeface="新細明體" pitchFamily="18" charset="-120"/>
              </a:rPr>
              <a:t>k</a:t>
            </a:r>
            <a:r>
              <a:rPr lang="en-US" altLang="zh-TW" sz="1800">
                <a:latin typeface="Georgia" pitchFamily="18" charset="0"/>
                <a:ea typeface="新細明體" pitchFamily="18" charset="-120"/>
              </a:rPr>
              <a:t> is complete </a:t>
            </a:r>
            <a:r>
              <a:rPr lang="en-US" altLang="zh-TW" sz="1800" i="1">
                <a:latin typeface="Georgia" pitchFamily="18" charset="0"/>
                <a:ea typeface="新細明體" pitchFamily="18" charset="-120"/>
              </a:rPr>
              <a:t>iff</a:t>
            </a:r>
            <a:r>
              <a:rPr lang="en-US" altLang="zh-TW" sz="1800">
                <a:latin typeface="Georgia" pitchFamily="18" charset="0"/>
                <a:ea typeface="新細明體" pitchFamily="18" charset="-120"/>
              </a:rPr>
              <a:t> its nodes correspond to the nodes numbered from 1 to </a:t>
            </a:r>
            <a:r>
              <a:rPr lang="en-US" altLang="zh-TW" sz="1800" i="1">
                <a:latin typeface="Georgia" pitchFamily="18" charset="0"/>
                <a:ea typeface="新細明體" pitchFamily="18" charset="-120"/>
              </a:rPr>
              <a:t>n</a:t>
            </a:r>
            <a:r>
              <a:rPr lang="en-US" altLang="zh-TW" sz="1800">
                <a:latin typeface="Georgia" pitchFamily="18" charset="0"/>
                <a:ea typeface="新細明體" pitchFamily="18" charset="-120"/>
              </a:rPr>
              <a:t> in the full binary tree of level </a:t>
            </a:r>
            <a:r>
              <a:rPr lang="en-US" altLang="zh-TW" sz="1800" i="1">
                <a:latin typeface="Georgia" pitchFamily="18" charset="0"/>
                <a:ea typeface="新細明體" pitchFamily="18" charset="-120"/>
              </a:rPr>
              <a:t>k</a:t>
            </a:r>
            <a:r>
              <a:rPr lang="en-US" altLang="zh-TW" sz="1800">
                <a:latin typeface="Georgia" pitchFamily="18" charset="0"/>
                <a:ea typeface="新細明體" pitchFamily="18" charset="-120"/>
              </a:rPr>
              <a:t>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295776" y="3733800"/>
            <a:ext cx="3681413" cy="2609850"/>
            <a:chOff x="3486" y="2577"/>
            <a:chExt cx="2319" cy="1644"/>
          </a:xfrm>
        </p:grpSpPr>
        <p:sp>
          <p:nvSpPr>
            <p:cNvPr id="395269" name="Oval 5"/>
            <p:cNvSpPr>
              <a:spLocks noChangeArrowheads="1"/>
            </p:cNvSpPr>
            <p:nvPr/>
          </p:nvSpPr>
          <p:spPr bwMode="auto">
            <a:xfrm>
              <a:off x="4499" y="2584"/>
              <a:ext cx="225" cy="1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270" name="Rectangle 6"/>
            <p:cNvSpPr>
              <a:spLocks noChangeArrowheads="1"/>
            </p:cNvSpPr>
            <p:nvPr/>
          </p:nvSpPr>
          <p:spPr bwMode="auto">
            <a:xfrm>
              <a:off x="4510" y="2577"/>
              <a:ext cx="19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en-US" altLang="zh-TW" sz="1800">
                  <a:ea typeface="新細明體" pitchFamily="18" charset="-120"/>
                </a:rPr>
                <a:t>1</a:t>
              </a:r>
            </a:p>
          </p:txBody>
        </p:sp>
        <p:sp>
          <p:nvSpPr>
            <p:cNvPr id="395271" name="Oval 7"/>
            <p:cNvSpPr>
              <a:spLocks noChangeArrowheads="1"/>
            </p:cNvSpPr>
            <p:nvPr/>
          </p:nvSpPr>
          <p:spPr bwMode="auto">
            <a:xfrm>
              <a:off x="3877" y="2947"/>
              <a:ext cx="225" cy="1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272" name="Rectangle 8"/>
            <p:cNvSpPr>
              <a:spLocks noChangeArrowheads="1"/>
            </p:cNvSpPr>
            <p:nvPr/>
          </p:nvSpPr>
          <p:spPr bwMode="auto">
            <a:xfrm>
              <a:off x="3899" y="2951"/>
              <a:ext cx="19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en-US" altLang="zh-TW" sz="1800">
                  <a:ea typeface="新細明體" pitchFamily="18" charset="-120"/>
                </a:rPr>
                <a:t>2</a:t>
              </a:r>
            </a:p>
          </p:txBody>
        </p:sp>
        <p:sp>
          <p:nvSpPr>
            <p:cNvPr id="395273" name="Line 9"/>
            <p:cNvSpPr>
              <a:spLocks noChangeShapeType="1"/>
            </p:cNvSpPr>
            <p:nvPr/>
          </p:nvSpPr>
          <p:spPr bwMode="auto">
            <a:xfrm flipH="1">
              <a:off x="3991" y="2740"/>
              <a:ext cx="515" cy="2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274" name="Oval 10"/>
            <p:cNvSpPr>
              <a:spLocks noChangeArrowheads="1"/>
            </p:cNvSpPr>
            <p:nvPr/>
          </p:nvSpPr>
          <p:spPr bwMode="auto">
            <a:xfrm>
              <a:off x="5123" y="2958"/>
              <a:ext cx="224" cy="1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275" name="Rectangle 11"/>
            <p:cNvSpPr>
              <a:spLocks noChangeArrowheads="1"/>
            </p:cNvSpPr>
            <p:nvPr/>
          </p:nvSpPr>
          <p:spPr bwMode="auto">
            <a:xfrm>
              <a:off x="5145" y="2962"/>
              <a:ext cx="19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en-US" altLang="zh-TW" sz="1800">
                  <a:ea typeface="新細明體" pitchFamily="18" charset="-120"/>
                </a:rPr>
                <a:t>3</a:t>
              </a:r>
            </a:p>
          </p:txBody>
        </p:sp>
        <p:sp>
          <p:nvSpPr>
            <p:cNvPr id="395276" name="Oval 12"/>
            <p:cNvSpPr>
              <a:spLocks noChangeArrowheads="1"/>
            </p:cNvSpPr>
            <p:nvPr/>
          </p:nvSpPr>
          <p:spPr bwMode="auto">
            <a:xfrm>
              <a:off x="5367" y="3342"/>
              <a:ext cx="225" cy="1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277" name="Rectangle 13"/>
            <p:cNvSpPr>
              <a:spLocks noChangeArrowheads="1"/>
            </p:cNvSpPr>
            <p:nvPr/>
          </p:nvSpPr>
          <p:spPr bwMode="auto">
            <a:xfrm>
              <a:off x="5399" y="3346"/>
              <a:ext cx="19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en-US" altLang="zh-TW" sz="1800">
                  <a:ea typeface="新細明體" pitchFamily="18" charset="-120"/>
                </a:rPr>
                <a:t>7</a:t>
              </a:r>
            </a:p>
          </p:txBody>
        </p:sp>
        <p:sp>
          <p:nvSpPr>
            <p:cNvPr id="395278" name="Line 14"/>
            <p:cNvSpPr>
              <a:spLocks noChangeShapeType="1"/>
            </p:cNvSpPr>
            <p:nvPr/>
          </p:nvSpPr>
          <p:spPr bwMode="auto">
            <a:xfrm>
              <a:off x="5321" y="3124"/>
              <a:ext cx="171" cy="2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279" name="Oval 15"/>
            <p:cNvSpPr>
              <a:spLocks noChangeArrowheads="1"/>
            </p:cNvSpPr>
            <p:nvPr/>
          </p:nvSpPr>
          <p:spPr bwMode="auto">
            <a:xfrm>
              <a:off x="4174" y="3337"/>
              <a:ext cx="224" cy="1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280" name="Rectangle 16"/>
            <p:cNvSpPr>
              <a:spLocks noChangeArrowheads="1"/>
            </p:cNvSpPr>
            <p:nvPr/>
          </p:nvSpPr>
          <p:spPr bwMode="auto">
            <a:xfrm>
              <a:off x="4195" y="3351"/>
              <a:ext cx="19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en-US" altLang="zh-TW" sz="1800">
                  <a:ea typeface="新細明體" pitchFamily="18" charset="-120"/>
                </a:rPr>
                <a:t>5</a:t>
              </a:r>
            </a:p>
          </p:txBody>
        </p:sp>
        <p:sp>
          <p:nvSpPr>
            <p:cNvPr id="395281" name="Oval 17"/>
            <p:cNvSpPr>
              <a:spLocks noChangeArrowheads="1"/>
            </p:cNvSpPr>
            <p:nvPr/>
          </p:nvSpPr>
          <p:spPr bwMode="auto">
            <a:xfrm>
              <a:off x="4321" y="3721"/>
              <a:ext cx="225" cy="1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282" name="Rectangle 18"/>
            <p:cNvSpPr>
              <a:spLocks noChangeArrowheads="1"/>
            </p:cNvSpPr>
            <p:nvPr/>
          </p:nvSpPr>
          <p:spPr bwMode="auto">
            <a:xfrm>
              <a:off x="4373" y="3736"/>
              <a:ext cx="26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en-US" altLang="zh-TW" sz="1800">
                  <a:ea typeface="新細明體" pitchFamily="18" charset="-120"/>
                </a:rPr>
                <a:t>11</a:t>
              </a:r>
            </a:p>
          </p:txBody>
        </p:sp>
        <p:sp>
          <p:nvSpPr>
            <p:cNvPr id="395283" name="Line 19"/>
            <p:cNvSpPr>
              <a:spLocks noChangeShapeType="1"/>
            </p:cNvSpPr>
            <p:nvPr/>
          </p:nvSpPr>
          <p:spPr bwMode="auto">
            <a:xfrm>
              <a:off x="4338" y="3522"/>
              <a:ext cx="103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284" name="Oval 20"/>
            <p:cNvSpPr>
              <a:spLocks noChangeArrowheads="1"/>
            </p:cNvSpPr>
            <p:nvPr/>
          </p:nvSpPr>
          <p:spPr bwMode="auto">
            <a:xfrm>
              <a:off x="3598" y="3352"/>
              <a:ext cx="225" cy="1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285" name="Rectangle 21"/>
            <p:cNvSpPr>
              <a:spLocks noChangeArrowheads="1"/>
            </p:cNvSpPr>
            <p:nvPr/>
          </p:nvSpPr>
          <p:spPr bwMode="auto">
            <a:xfrm>
              <a:off x="3619" y="3356"/>
              <a:ext cx="19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en-US" altLang="zh-TW" sz="1800">
                  <a:ea typeface="新細明體" pitchFamily="18" charset="-120"/>
                </a:rPr>
                <a:t>4</a:t>
              </a:r>
            </a:p>
          </p:txBody>
        </p:sp>
        <p:sp>
          <p:nvSpPr>
            <p:cNvPr id="395286" name="Oval 22"/>
            <p:cNvSpPr>
              <a:spLocks noChangeArrowheads="1"/>
            </p:cNvSpPr>
            <p:nvPr/>
          </p:nvSpPr>
          <p:spPr bwMode="auto">
            <a:xfrm>
              <a:off x="4049" y="3720"/>
              <a:ext cx="225" cy="1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287" name="Rectangle 23"/>
            <p:cNvSpPr>
              <a:spLocks noChangeArrowheads="1"/>
            </p:cNvSpPr>
            <p:nvPr/>
          </p:nvSpPr>
          <p:spPr bwMode="auto">
            <a:xfrm>
              <a:off x="4071" y="3734"/>
              <a:ext cx="26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en-US" altLang="zh-TW" sz="1800">
                  <a:ea typeface="新細明體" pitchFamily="18" charset="-120"/>
                </a:rPr>
                <a:t>10</a:t>
              </a:r>
            </a:p>
          </p:txBody>
        </p:sp>
        <p:sp>
          <p:nvSpPr>
            <p:cNvPr id="395288" name="Oval 24"/>
            <p:cNvSpPr>
              <a:spLocks noChangeArrowheads="1"/>
            </p:cNvSpPr>
            <p:nvPr/>
          </p:nvSpPr>
          <p:spPr bwMode="auto">
            <a:xfrm>
              <a:off x="4811" y="3330"/>
              <a:ext cx="224" cy="18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289" name="Rectangle 25"/>
            <p:cNvSpPr>
              <a:spLocks noChangeArrowheads="1"/>
            </p:cNvSpPr>
            <p:nvPr/>
          </p:nvSpPr>
          <p:spPr bwMode="auto">
            <a:xfrm>
              <a:off x="4821" y="3345"/>
              <a:ext cx="19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en-US" altLang="zh-TW" sz="1800">
                  <a:ea typeface="新細明體" pitchFamily="18" charset="-120"/>
                </a:rPr>
                <a:t>6</a:t>
              </a:r>
            </a:p>
          </p:txBody>
        </p:sp>
        <p:sp>
          <p:nvSpPr>
            <p:cNvPr id="395290" name="Line 26"/>
            <p:cNvSpPr>
              <a:spLocks noChangeShapeType="1"/>
            </p:cNvSpPr>
            <p:nvPr/>
          </p:nvSpPr>
          <p:spPr bwMode="auto">
            <a:xfrm flipH="1">
              <a:off x="4902" y="3123"/>
              <a:ext cx="247" cy="2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291" name="Line 27"/>
            <p:cNvSpPr>
              <a:spLocks noChangeShapeType="1"/>
            </p:cNvSpPr>
            <p:nvPr/>
          </p:nvSpPr>
          <p:spPr bwMode="auto">
            <a:xfrm>
              <a:off x="4040" y="3127"/>
              <a:ext cx="230" cy="1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292" name="Line 28"/>
            <p:cNvSpPr>
              <a:spLocks noChangeShapeType="1"/>
            </p:cNvSpPr>
            <p:nvPr/>
          </p:nvSpPr>
          <p:spPr bwMode="auto">
            <a:xfrm flipH="1">
              <a:off x="3691" y="3132"/>
              <a:ext cx="236" cy="2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293" name="Line 29"/>
            <p:cNvSpPr>
              <a:spLocks noChangeShapeType="1"/>
            </p:cNvSpPr>
            <p:nvPr/>
          </p:nvSpPr>
          <p:spPr bwMode="auto">
            <a:xfrm flipH="1">
              <a:off x="4140" y="3516"/>
              <a:ext cx="103" cy="2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294" name="Line 30"/>
            <p:cNvSpPr>
              <a:spLocks noChangeShapeType="1"/>
            </p:cNvSpPr>
            <p:nvPr/>
          </p:nvSpPr>
          <p:spPr bwMode="auto">
            <a:xfrm>
              <a:off x="4720" y="2750"/>
              <a:ext cx="504" cy="2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295" name="Oval 31"/>
            <p:cNvSpPr>
              <a:spLocks noChangeArrowheads="1"/>
            </p:cNvSpPr>
            <p:nvPr/>
          </p:nvSpPr>
          <p:spPr bwMode="auto">
            <a:xfrm>
              <a:off x="3774" y="3721"/>
              <a:ext cx="225" cy="1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296" name="Rectangle 32"/>
            <p:cNvSpPr>
              <a:spLocks noChangeArrowheads="1"/>
            </p:cNvSpPr>
            <p:nvPr/>
          </p:nvSpPr>
          <p:spPr bwMode="auto">
            <a:xfrm>
              <a:off x="3826" y="3736"/>
              <a:ext cx="19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en-US" altLang="zh-TW" sz="1800">
                  <a:ea typeface="新細明體" pitchFamily="18" charset="-120"/>
                </a:rPr>
                <a:t>9</a:t>
              </a:r>
            </a:p>
          </p:txBody>
        </p:sp>
        <p:sp>
          <p:nvSpPr>
            <p:cNvPr id="395297" name="Oval 33"/>
            <p:cNvSpPr>
              <a:spLocks noChangeArrowheads="1"/>
            </p:cNvSpPr>
            <p:nvPr/>
          </p:nvSpPr>
          <p:spPr bwMode="auto">
            <a:xfrm>
              <a:off x="3486" y="3730"/>
              <a:ext cx="225" cy="1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298" name="Rectangle 34"/>
            <p:cNvSpPr>
              <a:spLocks noChangeArrowheads="1"/>
            </p:cNvSpPr>
            <p:nvPr/>
          </p:nvSpPr>
          <p:spPr bwMode="auto">
            <a:xfrm>
              <a:off x="3508" y="3744"/>
              <a:ext cx="19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en-US" altLang="zh-TW" sz="1800">
                  <a:ea typeface="新細明體" pitchFamily="18" charset="-120"/>
                </a:rPr>
                <a:t>8</a:t>
              </a:r>
            </a:p>
          </p:txBody>
        </p:sp>
        <p:sp>
          <p:nvSpPr>
            <p:cNvPr id="395299" name="Line 35"/>
            <p:cNvSpPr>
              <a:spLocks noChangeShapeType="1"/>
            </p:cNvSpPr>
            <p:nvPr/>
          </p:nvSpPr>
          <p:spPr bwMode="auto">
            <a:xfrm flipH="1">
              <a:off x="3584" y="3543"/>
              <a:ext cx="107" cy="18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300" name="Line 36"/>
            <p:cNvSpPr>
              <a:spLocks noChangeShapeType="1"/>
            </p:cNvSpPr>
            <p:nvPr/>
          </p:nvSpPr>
          <p:spPr bwMode="auto">
            <a:xfrm>
              <a:off x="3756" y="3543"/>
              <a:ext cx="107" cy="1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301" name="Oval 37"/>
            <p:cNvSpPr>
              <a:spLocks noChangeArrowheads="1"/>
            </p:cNvSpPr>
            <p:nvPr/>
          </p:nvSpPr>
          <p:spPr bwMode="auto">
            <a:xfrm>
              <a:off x="5520" y="3710"/>
              <a:ext cx="225" cy="1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302" name="Rectangle 38"/>
            <p:cNvSpPr>
              <a:spLocks noChangeArrowheads="1"/>
            </p:cNvSpPr>
            <p:nvPr/>
          </p:nvSpPr>
          <p:spPr bwMode="auto">
            <a:xfrm>
              <a:off x="5540" y="3703"/>
              <a:ext cx="26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en-US" altLang="zh-TW" sz="1800">
                  <a:ea typeface="新細明體" pitchFamily="18" charset="-120"/>
                </a:rPr>
                <a:t>15</a:t>
              </a:r>
            </a:p>
          </p:txBody>
        </p:sp>
        <p:sp>
          <p:nvSpPr>
            <p:cNvPr id="395303" name="Oval 39"/>
            <p:cNvSpPr>
              <a:spLocks noChangeArrowheads="1"/>
            </p:cNvSpPr>
            <p:nvPr/>
          </p:nvSpPr>
          <p:spPr bwMode="auto">
            <a:xfrm>
              <a:off x="5248" y="3709"/>
              <a:ext cx="225" cy="1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304" name="Rectangle 40"/>
            <p:cNvSpPr>
              <a:spLocks noChangeArrowheads="1"/>
            </p:cNvSpPr>
            <p:nvPr/>
          </p:nvSpPr>
          <p:spPr bwMode="auto">
            <a:xfrm>
              <a:off x="5258" y="3701"/>
              <a:ext cx="26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en-US" altLang="zh-TW" sz="1800">
                  <a:ea typeface="新細明體" pitchFamily="18" charset="-120"/>
                </a:rPr>
                <a:t>14</a:t>
              </a:r>
            </a:p>
          </p:txBody>
        </p:sp>
        <p:sp>
          <p:nvSpPr>
            <p:cNvPr id="395305" name="Oval 41"/>
            <p:cNvSpPr>
              <a:spLocks noChangeArrowheads="1"/>
            </p:cNvSpPr>
            <p:nvPr/>
          </p:nvSpPr>
          <p:spPr bwMode="auto">
            <a:xfrm>
              <a:off x="4973" y="3710"/>
              <a:ext cx="225" cy="1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306" name="Rectangle 42"/>
            <p:cNvSpPr>
              <a:spLocks noChangeArrowheads="1"/>
            </p:cNvSpPr>
            <p:nvPr/>
          </p:nvSpPr>
          <p:spPr bwMode="auto">
            <a:xfrm>
              <a:off x="4982" y="3704"/>
              <a:ext cx="26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en-US" altLang="zh-TW" sz="1800">
                  <a:ea typeface="新細明體" pitchFamily="18" charset="-120"/>
                </a:rPr>
                <a:t>13</a:t>
              </a:r>
            </a:p>
          </p:txBody>
        </p:sp>
        <p:sp>
          <p:nvSpPr>
            <p:cNvPr id="395307" name="Oval 43"/>
            <p:cNvSpPr>
              <a:spLocks noChangeArrowheads="1"/>
            </p:cNvSpPr>
            <p:nvPr/>
          </p:nvSpPr>
          <p:spPr bwMode="auto">
            <a:xfrm>
              <a:off x="4685" y="3719"/>
              <a:ext cx="225" cy="1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308" name="Rectangle 44"/>
            <p:cNvSpPr>
              <a:spLocks noChangeArrowheads="1"/>
            </p:cNvSpPr>
            <p:nvPr/>
          </p:nvSpPr>
          <p:spPr bwMode="auto">
            <a:xfrm>
              <a:off x="4718" y="3712"/>
              <a:ext cx="26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en-US" altLang="zh-TW" sz="1800">
                  <a:ea typeface="新細明體" pitchFamily="18" charset="-120"/>
                </a:rPr>
                <a:t>12</a:t>
              </a:r>
            </a:p>
          </p:txBody>
        </p:sp>
        <p:sp>
          <p:nvSpPr>
            <p:cNvPr id="395309" name="Line 45"/>
            <p:cNvSpPr>
              <a:spLocks noChangeShapeType="1"/>
            </p:cNvSpPr>
            <p:nvPr/>
          </p:nvSpPr>
          <p:spPr bwMode="auto">
            <a:xfrm>
              <a:off x="5548" y="3511"/>
              <a:ext cx="103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310" name="Line 46"/>
            <p:cNvSpPr>
              <a:spLocks noChangeShapeType="1"/>
            </p:cNvSpPr>
            <p:nvPr/>
          </p:nvSpPr>
          <p:spPr bwMode="auto">
            <a:xfrm flipH="1">
              <a:off x="5350" y="3505"/>
              <a:ext cx="103" cy="2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311" name="Line 47"/>
            <p:cNvSpPr>
              <a:spLocks noChangeShapeType="1"/>
            </p:cNvSpPr>
            <p:nvPr/>
          </p:nvSpPr>
          <p:spPr bwMode="auto">
            <a:xfrm flipH="1">
              <a:off x="4794" y="3532"/>
              <a:ext cx="107" cy="18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312" name="Line 48"/>
            <p:cNvSpPr>
              <a:spLocks noChangeShapeType="1"/>
            </p:cNvSpPr>
            <p:nvPr/>
          </p:nvSpPr>
          <p:spPr bwMode="auto">
            <a:xfrm>
              <a:off x="4966" y="3532"/>
              <a:ext cx="107" cy="1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313" name="Text Box 49"/>
            <p:cNvSpPr txBox="1">
              <a:spLocks noChangeArrowheads="1"/>
            </p:cNvSpPr>
            <p:nvPr/>
          </p:nvSpPr>
          <p:spPr bwMode="auto">
            <a:xfrm>
              <a:off x="3742" y="3969"/>
              <a:ext cx="182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TW" sz="2000">
                  <a:ea typeface="新細明體" pitchFamily="18" charset="-120"/>
                </a:rPr>
                <a:t>Full binary tree of depth 3</a:t>
              </a:r>
            </a:p>
          </p:txBody>
        </p:sp>
      </p:grp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1066800" y="3803650"/>
            <a:ext cx="2698750" cy="2532063"/>
            <a:chOff x="846" y="2578"/>
            <a:chExt cx="1700" cy="1595"/>
          </a:xfrm>
        </p:grpSpPr>
        <p:sp>
          <p:nvSpPr>
            <p:cNvPr id="395315" name="Oval 51"/>
            <p:cNvSpPr>
              <a:spLocks noChangeArrowheads="1"/>
            </p:cNvSpPr>
            <p:nvPr/>
          </p:nvSpPr>
          <p:spPr bwMode="auto">
            <a:xfrm>
              <a:off x="1618" y="2585"/>
              <a:ext cx="225" cy="1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316" name="Rectangle 52"/>
            <p:cNvSpPr>
              <a:spLocks noChangeArrowheads="1"/>
            </p:cNvSpPr>
            <p:nvPr/>
          </p:nvSpPr>
          <p:spPr bwMode="auto">
            <a:xfrm>
              <a:off x="1629" y="2578"/>
              <a:ext cx="19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en-US" altLang="zh-TW" sz="1800">
                  <a:ea typeface="新細明體" pitchFamily="18" charset="-120"/>
                </a:rPr>
                <a:t>1</a:t>
              </a:r>
            </a:p>
          </p:txBody>
        </p:sp>
        <p:sp>
          <p:nvSpPr>
            <p:cNvPr id="395317" name="Oval 53"/>
            <p:cNvSpPr>
              <a:spLocks noChangeArrowheads="1"/>
            </p:cNvSpPr>
            <p:nvPr/>
          </p:nvSpPr>
          <p:spPr bwMode="auto">
            <a:xfrm>
              <a:off x="1232" y="2969"/>
              <a:ext cx="225" cy="1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318" name="Rectangle 54"/>
            <p:cNvSpPr>
              <a:spLocks noChangeArrowheads="1"/>
            </p:cNvSpPr>
            <p:nvPr/>
          </p:nvSpPr>
          <p:spPr bwMode="auto">
            <a:xfrm>
              <a:off x="1254" y="2973"/>
              <a:ext cx="19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en-US" altLang="zh-TW" sz="1800">
                  <a:ea typeface="新細明體" pitchFamily="18" charset="-120"/>
                </a:rPr>
                <a:t>2</a:t>
              </a:r>
            </a:p>
          </p:txBody>
        </p:sp>
        <p:sp>
          <p:nvSpPr>
            <p:cNvPr id="395319" name="Line 55"/>
            <p:cNvSpPr>
              <a:spLocks noChangeShapeType="1"/>
            </p:cNvSpPr>
            <p:nvPr/>
          </p:nvSpPr>
          <p:spPr bwMode="auto">
            <a:xfrm flipH="1">
              <a:off x="1350" y="2748"/>
              <a:ext cx="304" cy="2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320" name="Oval 56"/>
            <p:cNvSpPr>
              <a:spLocks noChangeArrowheads="1"/>
            </p:cNvSpPr>
            <p:nvPr/>
          </p:nvSpPr>
          <p:spPr bwMode="auto">
            <a:xfrm>
              <a:off x="1985" y="2980"/>
              <a:ext cx="224" cy="1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321" name="Rectangle 57"/>
            <p:cNvSpPr>
              <a:spLocks noChangeArrowheads="1"/>
            </p:cNvSpPr>
            <p:nvPr/>
          </p:nvSpPr>
          <p:spPr bwMode="auto">
            <a:xfrm>
              <a:off x="2007" y="2984"/>
              <a:ext cx="19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en-US" altLang="zh-TW" sz="1800">
                  <a:ea typeface="新細明體" pitchFamily="18" charset="-120"/>
                </a:rPr>
                <a:t>3</a:t>
              </a:r>
            </a:p>
          </p:txBody>
        </p:sp>
        <p:sp>
          <p:nvSpPr>
            <p:cNvPr id="395322" name="Oval 58"/>
            <p:cNvSpPr>
              <a:spLocks noChangeArrowheads="1"/>
            </p:cNvSpPr>
            <p:nvPr/>
          </p:nvSpPr>
          <p:spPr bwMode="auto">
            <a:xfrm>
              <a:off x="2187" y="3342"/>
              <a:ext cx="225" cy="1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323" name="Rectangle 59"/>
            <p:cNvSpPr>
              <a:spLocks noChangeArrowheads="1"/>
            </p:cNvSpPr>
            <p:nvPr/>
          </p:nvSpPr>
          <p:spPr bwMode="auto">
            <a:xfrm>
              <a:off x="2219" y="3346"/>
              <a:ext cx="19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en-US" altLang="zh-TW" sz="1800">
                  <a:ea typeface="新細明體" pitchFamily="18" charset="-120"/>
                </a:rPr>
                <a:t>7</a:t>
              </a:r>
            </a:p>
          </p:txBody>
        </p:sp>
        <p:sp>
          <p:nvSpPr>
            <p:cNvPr id="395324" name="Line 60"/>
            <p:cNvSpPr>
              <a:spLocks noChangeShapeType="1"/>
            </p:cNvSpPr>
            <p:nvPr/>
          </p:nvSpPr>
          <p:spPr bwMode="auto">
            <a:xfrm>
              <a:off x="2162" y="3167"/>
              <a:ext cx="115" cy="1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325" name="Oval 61"/>
            <p:cNvSpPr>
              <a:spLocks noChangeArrowheads="1"/>
            </p:cNvSpPr>
            <p:nvPr/>
          </p:nvSpPr>
          <p:spPr bwMode="auto">
            <a:xfrm>
              <a:off x="1443" y="3359"/>
              <a:ext cx="224" cy="1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326" name="Rectangle 62"/>
            <p:cNvSpPr>
              <a:spLocks noChangeArrowheads="1"/>
            </p:cNvSpPr>
            <p:nvPr/>
          </p:nvSpPr>
          <p:spPr bwMode="auto">
            <a:xfrm>
              <a:off x="1464" y="3373"/>
              <a:ext cx="19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en-US" altLang="zh-TW" sz="1800">
                  <a:ea typeface="新細明體" pitchFamily="18" charset="-120"/>
                </a:rPr>
                <a:t>5</a:t>
              </a:r>
            </a:p>
          </p:txBody>
        </p:sp>
        <p:sp>
          <p:nvSpPr>
            <p:cNvPr id="395327" name="Oval 63"/>
            <p:cNvSpPr>
              <a:spLocks noChangeArrowheads="1"/>
            </p:cNvSpPr>
            <p:nvPr/>
          </p:nvSpPr>
          <p:spPr bwMode="auto">
            <a:xfrm>
              <a:off x="1280" y="3775"/>
              <a:ext cx="225" cy="1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328" name="Rectangle 64"/>
            <p:cNvSpPr>
              <a:spLocks noChangeArrowheads="1"/>
            </p:cNvSpPr>
            <p:nvPr/>
          </p:nvSpPr>
          <p:spPr bwMode="auto">
            <a:xfrm>
              <a:off x="1332" y="3790"/>
              <a:ext cx="19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en-US" altLang="zh-TW" sz="1800">
                  <a:ea typeface="新細明體" pitchFamily="18" charset="-120"/>
                </a:rPr>
                <a:t>9</a:t>
              </a:r>
            </a:p>
          </p:txBody>
        </p:sp>
        <p:sp>
          <p:nvSpPr>
            <p:cNvPr id="395329" name="Line 65"/>
            <p:cNvSpPr>
              <a:spLocks noChangeShapeType="1"/>
            </p:cNvSpPr>
            <p:nvPr/>
          </p:nvSpPr>
          <p:spPr bwMode="auto">
            <a:xfrm>
              <a:off x="1221" y="3565"/>
              <a:ext cx="169" cy="2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330" name="Oval 66"/>
            <p:cNvSpPr>
              <a:spLocks noChangeArrowheads="1"/>
            </p:cNvSpPr>
            <p:nvPr/>
          </p:nvSpPr>
          <p:spPr bwMode="auto">
            <a:xfrm>
              <a:off x="1049" y="3352"/>
              <a:ext cx="225" cy="1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331" name="Rectangle 67"/>
            <p:cNvSpPr>
              <a:spLocks noChangeArrowheads="1"/>
            </p:cNvSpPr>
            <p:nvPr/>
          </p:nvSpPr>
          <p:spPr bwMode="auto">
            <a:xfrm>
              <a:off x="1070" y="3356"/>
              <a:ext cx="19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en-US" altLang="zh-TW" sz="1800">
                  <a:ea typeface="新細明體" pitchFamily="18" charset="-120"/>
                </a:rPr>
                <a:t>4</a:t>
              </a:r>
            </a:p>
          </p:txBody>
        </p:sp>
        <p:sp>
          <p:nvSpPr>
            <p:cNvPr id="395332" name="Oval 68"/>
            <p:cNvSpPr>
              <a:spLocks noChangeArrowheads="1"/>
            </p:cNvSpPr>
            <p:nvPr/>
          </p:nvSpPr>
          <p:spPr bwMode="auto">
            <a:xfrm>
              <a:off x="846" y="3763"/>
              <a:ext cx="225" cy="1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333" name="Rectangle 69"/>
            <p:cNvSpPr>
              <a:spLocks noChangeArrowheads="1"/>
            </p:cNvSpPr>
            <p:nvPr/>
          </p:nvSpPr>
          <p:spPr bwMode="auto">
            <a:xfrm>
              <a:off x="868" y="3777"/>
              <a:ext cx="19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en-US" altLang="zh-TW" sz="1800">
                  <a:ea typeface="新細明體" pitchFamily="18" charset="-120"/>
                </a:rPr>
                <a:t>8</a:t>
              </a:r>
            </a:p>
          </p:txBody>
        </p:sp>
        <p:sp>
          <p:nvSpPr>
            <p:cNvPr id="395334" name="Oval 70"/>
            <p:cNvSpPr>
              <a:spLocks noChangeArrowheads="1"/>
            </p:cNvSpPr>
            <p:nvPr/>
          </p:nvSpPr>
          <p:spPr bwMode="auto">
            <a:xfrm>
              <a:off x="1801" y="3341"/>
              <a:ext cx="224" cy="18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335" name="Rectangle 71"/>
            <p:cNvSpPr>
              <a:spLocks noChangeArrowheads="1"/>
            </p:cNvSpPr>
            <p:nvPr/>
          </p:nvSpPr>
          <p:spPr bwMode="auto">
            <a:xfrm>
              <a:off x="1811" y="3356"/>
              <a:ext cx="19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en-US" altLang="zh-TW" sz="1800">
                  <a:ea typeface="新細明體" pitchFamily="18" charset="-120"/>
                </a:rPr>
                <a:t>6</a:t>
              </a:r>
            </a:p>
          </p:txBody>
        </p:sp>
        <p:sp>
          <p:nvSpPr>
            <p:cNvPr id="395336" name="Line 72"/>
            <p:cNvSpPr>
              <a:spLocks noChangeShapeType="1"/>
            </p:cNvSpPr>
            <p:nvPr/>
          </p:nvSpPr>
          <p:spPr bwMode="auto">
            <a:xfrm flipH="1">
              <a:off x="1905" y="3166"/>
              <a:ext cx="128" cy="1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337" name="Line 73"/>
            <p:cNvSpPr>
              <a:spLocks noChangeShapeType="1"/>
            </p:cNvSpPr>
            <p:nvPr/>
          </p:nvSpPr>
          <p:spPr bwMode="auto">
            <a:xfrm>
              <a:off x="1384" y="3149"/>
              <a:ext cx="148" cy="2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338" name="Line 74"/>
            <p:cNvSpPr>
              <a:spLocks noChangeShapeType="1"/>
            </p:cNvSpPr>
            <p:nvPr/>
          </p:nvSpPr>
          <p:spPr bwMode="auto">
            <a:xfrm flipH="1">
              <a:off x="1153" y="3143"/>
              <a:ext cx="129" cy="2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339" name="Line 75"/>
            <p:cNvSpPr>
              <a:spLocks noChangeShapeType="1"/>
            </p:cNvSpPr>
            <p:nvPr/>
          </p:nvSpPr>
          <p:spPr bwMode="auto">
            <a:xfrm flipH="1">
              <a:off x="957" y="3559"/>
              <a:ext cx="169" cy="19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340" name="Line 76"/>
            <p:cNvSpPr>
              <a:spLocks noChangeShapeType="1"/>
            </p:cNvSpPr>
            <p:nvPr/>
          </p:nvSpPr>
          <p:spPr bwMode="auto">
            <a:xfrm>
              <a:off x="1803" y="2754"/>
              <a:ext cx="284" cy="2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341" name="Text Box 77"/>
            <p:cNvSpPr txBox="1">
              <a:spLocks noChangeArrowheads="1"/>
            </p:cNvSpPr>
            <p:nvPr/>
          </p:nvSpPr>
          <p:spPr bwMode="auto">
            <a:xfrm>
              <a:off x="1036" y="3921"/>
              <a:ext cx="1510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TW" sz="2000">
                  <a:ea typeface="新細明體" pitchFamily="18" charset="-120"/>
                </a:rPr>
                <a:t>Complete binary tree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ChangeArrowheads="1"/>
          </p:cNvSpPr>
          <p:nvPr/>
        </p:nvSpPr>
        <p:spPr bwMode="auto">
          <a:xfrm>
            <a:off x="914400" y="228600"/>
            <a:ext cx="84010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r>
              <a:rPr lang="en-US" altLang="zh-TW" sz="4000" i="1" dirty="0">
                <a:latin typeface="Georgia" pitchFamily="18" charset="0"/>
                <a:ea typeface="新細明體" pitchFamily="18" charset="-120"/>
              </a:rPr>
              <a:t>Binary Tree Traversals</a:t>
            </a:r>
          </a:p>
        </p:txBody>
      </p:sp>
      <p:sp>
        <p:nvSpPr>
          <p:cNvPr id="397315" name="Rectangle 3"/>
          <p:cNvSpPr>
            <a:spLocks noChangeArrowheads="1"/>
          </p:cNvSpPr>
          <p:nvPr/>
        </p:nvSpPr>
        <p:spPr bwMode="auto">
          <a:xfrm>
            <a:off x="685800" y="1676400"/>
            <a:ext cx="7467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en-US" altLang="zh-TW" sz="2000">
                <a:latin typeface="Georgia" pitchFamily="18" charset="0"/>
                <a:ea typeface="新細明體" pitchFamily="18" charset="-120"/>
              </a:rPr>
              <a:t>Let l, R, and r stand for moving left, visiting </a:t>
            </a:r>
            <a:br>
              <a:rPr lang="en-US" altLang="zh-TW" sz="2000">
                <a:latin typeface="Georgia" pitchFamily="18" charset="0"/>
                <a:ea typeface="新細明體" pitchFamily="18" charset="-120"/>
              </a:rPr>
            </a:br>
            <a:r>
              <a:rPr lang="en-US" altLang="zh-TW" sz="2000">
                <a:latin typeface="Georgia" pitchFamily="18" charset="0"/>
                <a:ea typeface="新細明體" pitchFamily="18" charset="-120"/>
              </a:rPr>
              <a:t>the node, and moving right.</a:t>
            </a:r>
          </a:p>
          <a:p>
            <a:pPr marL="342900" indent="-342900">
              <a:spcBef>
                <a:spcPct val="20000"/>
              </a:spcBef>
              <a:buFontTx/>
              <a:buBlip>
                <a:blip r:embed="rId3"/>
              </a:buBlip>
            </a:pPr>
            <a:endParaRPr lang="en-US" altLang="zh-TW" sz="1000">
              <a:latin typeface="Georgia" pitchFamily="18" charset="0"/>
              <a:ea typeface="新細明體" pitchFamily="18" charset="-120"/>
            </a:endParaRPr>
          </a:p>
          <a:p>
            <a:pPr marL="342900" indent="-342900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en-US" altLang="zh-TW" sz="2000">
                <a:latin typeface="Georgia" pitchFamily="18" charset="0"/>
                <a:ea typeface="新細明體" pitchFamily="18" charset="-120"/>
              </a:rPr>
              <a:t>There are six possible combinations of traversal</a:t>
            </a:r>
          </a:p>
          <a:p>
            <a:pPr marL="742950" lvl="1" indent="-285750">
              <a:spcBef>
                <a:spcPct val="20000"/>
              </a:spcBef>
              <a:buSzPct val="75000"/>
              <a:buFontTx/>
              <a:buBlip>
                <a:blip r:embed="rId4"/>
              </a:buBlip>
            </a:pPr>
            <a:r>
              <a:rPr lang="en-US" altLang="zh-TW" sz="1800">
                <a:latin typeface="Georgia" pitchFamily="18" charset="0"/>
                <a:ea typeface="新細明體" pitchFamily="18" charset="-120"/>
              </a:rPr>
              <a:t>lRr, lrR, Rlr, Rrl, rRl, rlR</a:t>
            </a:r>
          </a:p>
          <a:p>
            <a:pPr marL="742950" lvl="1" indent="-285750">
              <a:spcBef>
                <a:spcPct val="20000"/>
              </a:spcBef>
              <a:buSzPct val="75000"/>
              <a:buFontTx/>
              <a:buBlip>
                <a:blip r:embed="rId4"/>
              </a:buBlip>
            </a:pPr>
            <a:endParaRPr lang="en-US" altLang="zh-TW" sz="1000">
              <a:latin typeface="Georgia" pitchFamily="18" charset="0"/>
              <a:ea typeface="新細明體" pitchFamily="18" charset="-120"/>
            </a:endParaRPr>
          </a:p>
          <a:p>
            <a:pPr marL="342900" indent="-342900">
              <a:spcBef>
                <a:spcPct val="20000"/>
              </a:spcBef>
              <a:buFontTx/>
              <a:buBlip>
                <a:blip r:embed="rId3"/>
              </a:buBlip>
            </a:pPr>
            <a:r>
              <a:rPr lang="en-US" altLang="zh-TW" sz="2000">
                <a:latin typeface="Georgia" pitchFamily="18" charset="0"/>
                <a:ea typeface="新細明體" pitchFamily="18" charset="-120"/>
              </a:rPr>
              <a:t>Adopt convention that we traverse left before </a:t>
            </a:r>
            <a:br>
              <a:rPr lang="en-US" altLang="zh-TW" sz="2000">
                <a:latin typeface="Georgia" pitchFamily="18" charset="0"/>
                <a:ea typeface="新細明體" pitchFamily="18" charset="-120"/>
              </a:rPr>
            </a:br>
            <a:r>
              <a:rPr lang="en-US" altLang="zh-TW" sz="2000">
                <a:latin typeface="Georgia" pitchFamily="18" charset="0"/>
                <a:ea typeface="新細明體" pitchFamily="18" charset="-120"/>
              </a:rPr>
              <a:t>right, only 3 traversals remain</a:t>
            </a:r>
          </a:p>
          <a:p>
            <a:pPr marL="742950" lvl="1" indent="-285750">
              <a:spcBef>
                <a:spcPct val="20000"/>
              </a:spcBef>
              <a:buSzPct val="75000"/>
              <a:buFontTx/>
              <a:buBlip>
                <a:blip r:embed="rId4"/>
              </a:buBlip>
            </a:pPr>
            <a:r>
              <a:rPr lang="en-US" altLang="zh-TW" sz="1800">
                <a:latin typeface="Georgia" pitchFamily="18" charset="0"/>
                <a:ea typeface="新細明體" pitchFamily="18" charset="-120"/>
              </a:rPr>
              <a:t>lRr, lrR, Rlr</a:t>
            </a:r>
          </a:p>
          <a:p>
            <a:pPr marL="742950" lvl="1" indent="-285750">
              <a:spcBef>
                <a:spcPct val="20000"/>
              </a:spcBef>
              <a:buSzPct val="75000"/>
              <a:buFontTx/>
              <a:buBlip>
                <a:blip r:embed="rId4"/>
              </a:buBlip>
            </a:pPr>
            <a:r>
              <a:rPr lang="en-US" altLang="zh-TW" sz="1800">
                <a:latin typeface="Georgia" pitchFamily="18" charset="0"/>
                <a:ea typeface="新細明體" pitchFamily="18" charset="-120"/>
              </a:rPr>
              <a:t>inorder, postorder, preorder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381000"/>
            <a:ext cx="7772400" cy="698500"/>
          </a:xfrm>
        </p:spPr>
        <p:txBody>
          <a:bodyPr>
            <a:normAutofit fontScale="90000"/>
          </a:bodyPr>
          <a:lstStyle/>
          <a:p>
            <a:r>
              <a:rPr lang="en-US"/>
              <a:t>Inorder Traversal</a:t>
            </a:r>
          </a:p>
        </p:txBody>
      </p:sp>
      <p:sp>
        <p:nvSpPr>
          <p:cNvPr id="398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6750" y="1585913"/>
            <a:ext cx="3752850" cy="22240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800"/>
              <a:t>In an inorder traversal a node is visited after its left subtree and before its right subtree</a:t>
            </a:r>
          </a:p>
        </p:txBody>
      </p:sp>
      <p:sp>
        <p:nvSpPr>
          <p:cNvPr id="398340" name="Text Box 4"/>
          <p:cNvSpPr txBox="1">
            <a:spLocks noChangeArrowheads="1"/>
          </p:cNvSpPr>
          <p:nvPr/>
        </p:nvSpPr>
        <p:spPr bwMode="auto">
          <a:xfrm>
            <a:off x="4648200" y="1600200"/>
            <a:ext cx="4191000" cy="186512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b="1"/>
              <a:t>Algorithm</a:t>
            </a:r>
            <a:r>
              <a:rPr lang="en-US"/>
              <a:t> </a:t>
            </a:r>
            <a:r>
              <a:rPr lang="en-US" b="1" i="1"/>
              <a:t>inOrder</a:t>
            </a:r>
            <a:r>
              <a:rPr lang="en-US"/>
              <a:t>(</a:t>
            </a:r>
            <a:r>
              <a:rPr lang="en-US" b="1" i="1"/>
              <a:t>v</a:t>
            </a:r>
            <a:r>
              <a:rPr lang="en-US"/>
              <a:t>)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b="1"/>
              <a:t>if</a:t>
            </a:r>
            <a:r>
              <a:rPr lang="en-US"/>
              <a:t> </a:t>
            </a:r>
            <a:r>
              <a:rPr lang="en-US" b="1" i="1"/>
              <a:t>isInternal </a:t>
            </a:r>
            <a:r>
              <a:rPr lang="en-US"/>
              <a:t>(</a:t>
            </a:r>
            <a:r>
              <a:rPr lang="en-US" b="1" i="1"/>
              <a:t>v</a:t>
            </a:r>
            <a:r>
              <a:rPr lang="en-US"/>
              <a:t>)</a:t>
            </a:r>
          </a:p>
          <a:p>
            <a:pPr lvl="2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b="1" i="1"/>
              <a:t>inOrder</a:t>
            </a:r>
            <a:r>
              <a:rPr lang="en-US"/>
              <a:t> (</a:t>
            </a:r>
            <a:r>
              <a:rPr lang="en-US" b="1" i="1"/>
              <a:t>leftChild </a:t>
            </a:r>
            <a:r>
              <a:rPr lang="en-US"/>
              <a:t>(</a:t>
            </a:r>
            <a:r>
              <a:rPr lang="en-US" b="1" i="1"/>
              <a:t>v</a:t>
            </a:r>
            <a:r>
              <a:rPr lang="en-US"/>
              <a:t>))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b="1" i="1"/>
              <a:t>visit</a:t>
            </a:r>
            <a:r>
              <a:rPr lang="en-US"/>
              <a:t>(</a:t>
            </a:r>
            <a:r>
              <a:rPr lang="en-US" b="1" i="1"/>
              <a:t>v</a:t>
            </a:r>
            <a:r>
              <a:rPr lang="en-US"/>
              <a:t>)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b="1"/>
              <a:t>if</a:t>
            </a:r>
            <a:r>
              <a:rPr lang="en-US"/>
              <a:t> </a:t>
            </a:r>
            <a:r>
              <a:rPr lang="en-US" b="1" i="1"/>
              <a:t>isInternal </a:t>
            </a:r>
            <a:r>
              <a:rPr lang="en-US"/>
              <a:t>(</a:t>
            </a:r>
            <a:r>
              <a:rPr lang="en-US" b="1" i="1"/>
              <a:t>v</a:t>
            </a:r>
            <a:r>
              <a:rPr lang="en-US"/>
              <a:t>)</a:t>
            </a:r>
          </a:p>
          <a:p>
            <a:pPr lvl="2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b="1" i="1"/>
              <a:t>inOrder</a:t>
            </a:r>
            <a:r>
              <a:rPr lang="en-US"/>
              <a:t> (</a:t>
            </a:r>
            <a:r>
              <a:rPr lang="en-US" b="1" i="1"/>
              <a:t>rightChild </a:t>
            </a:r>
            <a:r>
              <a:rPr lang="en-US"/>
              <a:t>(</a:t>
            </a:r>
            <a:r>
              <a:rPr lang="en-US" b="1" i="1"/>
              <a:t>v</a:t>
            </a:r>
            <a:r>
              <a:rPr lang="en-US"/>
              <a:t>))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905000" y="3962400"/>
            <a:ext cx="3816350" cy="2514600"/>
            <a:chOff x="1200" y="2352"/>
            <a:chExt cx="2404" cy="1584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1337" y="2496"/>
              <a:ext cx="2160" cy="1440"/>
              <a:chOff x="2928" y="2256"/>
              <a:chExt cx="2160" cy="1440"/>
            </a:xfrm>
          </p:grpSpPr>
          <p:sp>
            <p:nvSpPr>
              <p:cNvPr id="398343" name="Oval 7"/>
              <p:cNvSpPr>
                <a:spLocks noChangeArrowheads="1"/>
              </p:cNvSpPr>
              <p:nvPr/>
            </p:nvSpPr>
            <p:spPr bwMode="auto">
              <a:xfrm>
                <a:off x="4128" y="225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anchor="ctr" anchorCtr="1"/>
              <a:lstStyle/>
              <a:p>
                <a:pPr algn="ctr"/>
                <a:endParaRPr lang="en-US">
                  <a:latin typeface="Symbol" pitchFamily="18" charset="2"/>
                </a:endParaRPr>
              </a:p>
            </p:txBody>
          </p:sp>
          <p:sp>
            <p:nvSpPr>
              <p:cNvPr id="398344" name="Oval 8"/>
              <p:cNvSpPr>
                <a:spLocks noChangeArrowheads="1"/>
              </p:cNvSpPr>
              <p:nvPr/>
            </p:nvSpPr>
            <p:spPr bwMode="auto">
              <a:xfrm>
                <a:off x="4608" y="2640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anchor="ctr" anchorCtr="1"/>
              <a:lstStyle/>
              <a:p>
                <a:pPr algn="ctr"/>
                <a:endParaRPr lang="en-US">
                  <a:latin typeface="Symbol" pitchFamily="18" charset="2"/>
                  <a:sym typeface="Symbol" pitchFamily="18" charset="2"/>
                </a:endParaRPr>
              </a:p>
            </p:txBody>
          </p:sp>
          <p:sp>
            <p:nvSpPr>
              <p:cNvPr id="398345" name="Oval 9"/>
              <p:cNvSpPr>
                <a:spLocks noChangeArrowheads="1"/>
              </p:cNvSpPr>
              <p:nvPr/>
            </p:nvSpPr>
            <p:spPr bwMode="auto">
              <a:xfrm>
                <a:off x="3168" y="2640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anchor="ctr" anchorCtr="1"/>
              <a:lstStyle/>
              <a:p>
                <a:pPr algn="ctr"/>
                <a:endParaRPr lang="en-US">
                  <a:latin typeface="Symbol" pitchFamily="18" charset="2"/>
                </a:endParaRPr>
              </a:p>
            </p:txBody>
          </p:sp>
          <p:sp>
            <p:nvSpPr>
              <p:cNvPr id="398346" name="Oval 10"/>
              <p:cNvSpPr>
                <a:spLocks noChangeArrowheads="1"/>
              </p:cNvSpPr>
              <p:nvPr/>
            </p:nvSpPr>
            <p:spPr bwMode="auto">
              <a:xfrm>
                <a:off x="3648" y="3024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anchor="ctr" anchorCtr="1"/>
              <a:lstStyle/>
              <a:p>
                <a:pPr algn="ctr"/>
                <a:endParaRPr lang="en-US">
                  <a:latin typeface="Symbol" pitchFamily="18" charset="2"/>
                </a:endParaRPr>
              </a:p>
            </p:txBody>
          </p:sp>
          <p:sp>
            <p:nvSpPr>
              <p:cNvPr id="398347" name="Rectangle 11"/>
              <p:cNvSpPr>
                <a:spLocks noChangeArrowheads="1"/>
              </p:cNvSpPr>
              <p:nvPr/>
            </p:nvSpPr>
            <p:spPr bwMode="auto">
              <a:xfrm>
                <a:off x="2928" y="3024"/>
                <a:ext cx="240" cy="240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>
                  <a:latin typeface="Tahoma" pitchFamily="34" charset="0"/>
                </a:endParaRPr>
              </a:p>
            </p:txBody>
          </p:sp>
          <p:sp>
            <p:nvSpPr>
              <p:cNvPr id="398348" name="Rectangle 12"/>
              <p:cNvSpPr>
                <a:spLocks noChangeArrowheads="1"/>
              </p:cNvSpPr>
              <p:nvPr/>
            </p:nvSpPr>
            <p:spPr bwMode="auto">
              <a:xfrm>
                <a:off x="3408" y="3456"/>
                <a:ext cx="240" cy="240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>
                  <a:latin typeface="Tahoma" pitchFamily="34" charset="0"/>
                </a:endParaRPr>
              </a:p>
            </p:txBody>
          </p:sp>
          <p:sp>
            <p:nvSpPr>
              <p:cNvPr id="398349" name="Rectangle 13"/>
              <p:cNvSpPr>
                <a:spLocks noChangeArrowheads="1"/>
              </p:cNvSpPr>
              <p:nvPr/>
            </p:nvSpPr>
            <p:spPr bwMode="auto">
              <a:xfrm>
                <a:off x="3888" y="3456"/>
                <a:ext cx="240" cy="240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>
                  <a:latin typeface="Tahoma" pitchFamily="34" charset="0"/>
                </a:endParaRPr>
              </a:p>
            </p:txBody>
          </p:sp>
          <p:sp>
            <p:nvSpPr>
              <p:cNvPr id="398350" name="Rectangle 14"/>
              <p:cNvSpPr>
                <a:spLocks noChangeArrowheads="1"/>
              </p:cNvSpPr>
              <p:nvPr/>
            </p:nvSpPr>
            <p:spPr bwMode="auto">
              <a:xfrm>
                <a:off x="4368" y="3024"/>
                <a:ext cx="240" cy="240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>
                  <a:latin typeface="Tahoma" pitchFamily="34" charset="0"/>
                </a:endParaRPr>
              </a:p>
            </p:txBody>
          </p:sp>
          <p:sp>
            <p:nvSpPr>
              <p:cNvPr id="398351" name="Rectangle 15"/>
              <p:cNvSpPr>
                <a:spLocks noChangeArrowheads="1"/>
              </p:cNvSpPr>
              <p:nvPr/>
            </p:nvSpPr>
            <p:spPr bwMode="auto">
              <a:xfrm>
                <a:off x="4848" y="3024"/>
                <a:ext cx="240" cy="240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>
                  <a:latin typeface="Tahoma" pitchFamily="34" charset="0"/>
                </a:endParaRPr>
              </a:p>
            </p:txBody>
          </p:sp>
          <p:cxnSp>
            <p:nvCxnSpPr>
              <p:cNvPr id="398352" name="AutoShape 16"/>
              <p:cNvCxnSpPr>
                <a:cxnSpLocks noChangeShapeType="1"/>
                <a:stCxn id="398343" idx="3"/>
                <a:endCxn id="398345" idx="7"/>
              </p:cNvCxnSpPr>
              <p:nvPr/>
            </p:nvCxnSpPr>
            <p:spPr bwMode="auto">
              <a:xfrm flipH="1">
                <a:off x="3373" y="2467"/>
                <a:ext cx="790" cy="202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98353" name="AutoShape 17"/>
              <p:cNvCxnSpPr>
                <a:cxnSpLocks noChangeShapeType="1"/>
                <a:stCxn id="398344" idx="1"/>
                <a:endCxn id="398343" idx="5"/>
              </p:cNvCxnSpPr>
              <p:nvPr/>
            </p:nvCxnSpPr>
            <p:spPr bwMode="auto">
              <a:xfrm flipH="1" flipV="1">
                <a:off x="4333" y="2467"/>
                <a:ext cx="310" cy="202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98354" name="AutoShape 18"/>
              <p:cNvCxnSpPr>
                <a:cxnSpLocks noChangeShapeType="1"/>
                <a:stCxn id="398351" idx="0"/>
                <a:endCxn id="398344" idx="5"/>
              </p:cNvCxnSpPr>
              <p:nvPr/>
            </p:nvCxnSpPr>
            <p:spPr bwMode="auto">
              <a:xfrm flipH="1" flipV="1">
                <a:off x="4813" y="2851"/>
                <a:ext cx="155" cy="167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98355" name="AutoShape 19"/>
              <p:cNvCxnSpPr>
                <a:cxnSpLocks noChangeShapeType="1"/>
                <a:stCxn id="398350" idx="0"/>
                <a:endCxn id="398344" idx="3"/>
              </p:cNvCxnSpPr>
              <p:nvPr/>
            </p:nvCxnSpPr>
            <p:spPr bwMode="auto">
              <a:xfrm flipV="1">
                <a:off x="4488" y="2851"/>
                <a:ext cx="155" cy="167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98356" name="AutoShape 20"/>
              <p:cNvCxnSpPr>
                <a:cxnSpLocks noChangeShapeType="1"/>
                <a:stCxn id="398349" idx="0"/>
                <a:endCxn id="398346" idx="5"/>
              </p:cNvCxnSpPr>
              <p:nvPr/>
            </p:nvCxnSpPr>
            <p:spPr bwMode="auto">
              <a:xfrm flipH="1" flipV="1">
                <a:off x="3853" y="3235"/>
                <a:ext cx="155" cy="21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98357" name="AutoShape 21"/>
              <p:cNvCxnSpPr>
                <a:cxnSpLocks noChangeShapeType="1"/>
                <a:stCxn id="398348" idx="0"/>
                <a:endCxn id="398346" idx="3"/>
              </p:cNvCxnSpPr>
              <p:nvPr/>
            </p:nvCxnSpPr>
            <p:spPr bwMode="auto">
              <a:xfrm flipV="1">
                <a:off x="3528" y="3235"/>
                <a:ext cx="155" cy="21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98358" name="AutoShape 22"/>
              <p:cNvCxnSpPr>
                <a:cxnSpLocks noChangeShapeType="1"/>
                <a:stCxn id="398347" idx="0"/>
                <a:endCxn id="398345" idx="3"/>
              </p:cNvCxnSpPr>
              <p:nvPr/>
            </p:nvCxnSpPr>
            <p:spPr bwMode="auto">
              <a:xfrm flipV="1">
                <a:off x="3048" y="2851"/>
                <a:ext cx="155" cy="167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98359" name="AutoShape 23"/>
              <p:cNvCxnSpPr>
                <a:cxnSpLocks noChangeShapeType="1"/>
                <a:stCxn id="398346" idx="1"/>
                <a:endCxn id="398345" idx="5"/>
              </p:cNvCxnSpPr>
              <p:nvPr/>
            </p:nvCxnSpPr>
            <p:spPr bwMode="auto">
              <a:xfrm flipH="1" flipV="1">
                <a:off x="3373" y="2851"/>
                <a:ext cx="310" cy="202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</p:grpSp>
        <p:sp>
          <p:nvSpPr>
            <p:cNvPr id="398360" name="Text Box 24"/>
            <p:cNvSpPr txBox="1">
              <a:spLocks noChangeArrowheads="1"/>
            </p:cNvSpPr>
            <p:nvPr/>
          </p:nvSpPr>
          <p:spPr bwMode="auto">
            <a:xfrm>
              <a:off x="1710" y="3456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3</a:t>
              </a:r>
            </a:p>
          </p:txBody>
        </p:sp>
        <p:sp>
          <p:nvSpPr>
            <p:cNvPr id="398361" name="Text Box 25"/>
            <p:cNvSpPr txBox="1">
              <a:spLocks noChangeArrowheads="1"/>
            </p:cNvSpPr>
            <p:nvPr/>
          </p:nvSpPr>
          <p:spPr bwMode="auto">
            <a:xfrm>
              <a:off x="1200" y="3048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1</a:t>
              </a:r>
            </a:p>
          </p:txBody>
        </p:sp>
        <p:sp>
          <p:nvSpPr>
            <p:cNvPr id="398362" name="Text Box 26"/>
            <p:cNvSpPr txBox="1">
              <a:spLocks noChangeArrowheads="1"/>
            </p:cNvSpPr>
            <p:nvPr/>
          </p:nvSpPr>
          <p:spPr bwMode="auto">
            <a:xfrm>
              <a:off x="1470" y="2683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2</a:t>
              </a:r>
            </a:p>
          </p:txBody>
        </p:sp>
        <p:sp>
          <p:nvSpPr>
            <p:cNvPr id="398363" name="Text Box 27"/>
            <p:cNvSpPr txBox="1">
              <a:spLocks noChangeArrowheads="1"/>
            </p:cNvSpPr>
            <p:nvPr/>
          </p:nvSpPr>
          <p:spPr bwMode="auto">
            <a:xfrm>
              <a:off x="2393" y="3456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5</a:t>
              </a:r>
            </a:p>
          </p:txBody>
        </p:sp>
        <p:sp>
          <p:nvSpPr>
            <p:cNvPr id="398364" name="Text Box 28"/>
            <p:cNvSpPr txBox="1">
              <a:spLocks noChangeArrowheads="1"/>
            </p:cNvSpPr>
            <p:nvPr/>
          </p:nvSpPr>
          <p:spPr bwMode="auto">
            <a:xfrm>
              <a:off x="2382" y="2352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6</a:t>
              </a:r>
            </a:p>
          </p:txBody>
        </p:sp>
        <p:sp>
          <p:nvSpPr>
            <p:cNvPr id="398365" name="Text Box 29"/>
            <p:cNvSpPr txBox="1">
              <a:spLocks noChangeArrowheads="1"/>
            </p:cNvSpPr>
            <p:nvPr/>
          </p:nvSpPr>
          <p:spPr bwMode="auto">
            <a:xfrm>
              <a:off x="2681" y="3048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7</a:t>
              </a:r>
            </a:p>
          </p:txBody>
        </p:sp>
        <p:sp>
          <p:nvSpPr>
            <p:cNvPr id="398366" name="Text Box 30"/>
            <p:cNvSpPr txBox="1">
              <a:spLocks noChangeArrowheads="1"/>
            </p:cNvSpPr>
            <p:nvPr/>
          </p:nvSpPr>
          <p:spPr bwMode="auto">
            <a:xfrm>
              <a:off x="3401" y="3048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9</a:t>
              </a:r>
            </a:p>
          </p:txBody>
        </p:sp>
        <p:sp>
          <p:nvSpPr>
            <p:cNvPr id="398367" name="Text Box 31"/>
            <p:cNvSpPr txBox="1">
              <a:spLocks noChangeArrowheads="1"/>
            </p:cNvSpPr>
            <p:nvPr/>
          </p:nvSpPr>
          <p:spPr bwMode="auto">
            <a:xfrm>
              <a:off x="3119" y="2683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8</a:t>
              </a:r>
            </a:p>
          </p:txBody>
        </p:sp>
        <p:sp>
          <p:nvSpPr>
            <p:cNvPr id="398368" name="Text Box 32"/>
            <p:cNvSpPr txBox="1">
              <a:spLocks noChangeArrowheads="1"/>
            </p:cNvSpPr>
            <p:nvPr/>
          </p:nvSpPr>
          <p:spPr bwMode="auto">
            <a:xfrm>
              <a:off x="2105" y="3048"/>
              <a:ext cx="2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solidFill>
                    <a:schemeClr val="tx2"/>
                  </a:solidFill>
                  <a:latin typeface="Tahoma" pitchFamily="34" charset="0"/>
                </a:rPr>
                <a:t>4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152400"/>
            <a:ext cx="8077200" cy="1143000"/>
          </a:xfrm>
        </p:spPr>
        <p:txBody>
          <a:bodyPr/>
          <a:lstStyle/>
          <a:p>
            <a:r>
              <a:rPr lang="en-US"/>
              <a:t>Print Arithmetic Expressions</a:t>
            </a:r>
          </a:p>
        </p:txBody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3657600" cy="18319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600"/>
              <a:t>Specialization of an inorder traversal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print operand or operator when visiting node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print “(“ before traversing left subtree</a:t>
            </a:r>
          </a:p>
          <a:p>
            <a:pPr lvl="1">
              <a:lnSpc>
                <a:spcPct val="90000"/>
              </a:lnSpc>
            </a:pPr>
            <a:r>
              <a:rPr lang="en-US" sz="1400"/>
              <a:t>print “)“ after traversing right subtree</a:t>
            </a:r>
          </a:p>
        </p:txBody>
      </p:sp>
      <p:sp>
        <p:nvSpPr>
          <p:cNvPr id="399364" name="Text Box 4"/>
          <p:cNvSpPr txBox="1">
            <a:spLocks noChangeArrowheads="1"/>
          </p:cNvSpPr>
          <p:nvPr/>
        </p:nvSpPr>
        <p:spPr bwMode="auto">
          <a:xfrm>
            <a:off x="4495800" y="1600200"/>
            <a:ext cx="3733800" cy="26606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000" b="1"/>
              <a:t>Algorithm</a:t>
            </a:r>
            <a:r>
              <a:rPr lang="en-US" sz="2000"/>
              <a:t> </a:t>
            </a:r>
            <a:r>
              <a:rPr lang="en-US" sz="2000" b="1" i="1"/>
              <a:t>inOrder </a:t>
            </a:r>
            <a:r>
              <a:rPr lang="en-US" sz="2000"/>
              <a:t>(</a:t>
            </a:r>
            <a:r>
              <a:rPr lang="en-US" sz="2000" b="1" i="1"/>
              <a:t>v</a:t>
            </a:r>
            <a:r>
              <a:rPr lang="en-US" sz="2000"/>
              <a:t>)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000" b="1"/>
              <a:t>if</a:t>
            </a:r>
            <a:r>
              <a:rPr lang="en-US" sz="2000"/>
              <a:t> </a:t>
            </a:r>
            <a:r>
              <a:rPr lang="en-US" sz="2000" b="1" i="1"/>
              <a:t>isInternal </a:t>
            </a:r>
            <a:r>
              <a:rPr lang="en-US" sz="2000"/>
              <a:t>(</a:t>
            </a:r>
            <a:r>
              <a:rPr lang="en-US" sz="2000" b="1" i="1"/>
              <a:t>v</a:t>
            </a:r>
            <a:r>
              <a:rPr lang="en-US" sz="2000"/>
              <a:t>){</a:t>
            </a:r>
            <a:br>
              <a:rPr lang="en-US" sz="2000"/>
            </a:br>
            <a:r>
              <a:rPr lang="en-US" sz="2000"/>
              <a:t>	</a:t>
            </a:r>
            <a:r>
              <a:rPr lang="en-US" sz="2000" b="1" i="1"/>
              <a:t>print</a:t>
            </a:r>
            <a:r>
              <a:rPr lang="en-US" sz="2000"/>
              <a:t>(</a:t>
            </a:r>
            <a:r>
              <a:rPr lang="en-US" sz="2000">
                <a:latin typeface="Tahoma" pitchFamily="34" charset="0"/>
              </a:rPr>
              <a:t>“(’’</a:t>
            </a:r>
            <a:r>
              <a:rPr lang="en-US" sz="2000"/>
              <a:t>)</a:t>
            </a:r>
          </a:p>
          <a:p>
            <a:pPr lvl="2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000" b="1" i="1"/>
              <a:t>inOrder</a:t>
            </a:r>
            <a:r>
              <a:rPr lang="en-US" sz="2000"/>
              <a:t> (</a:t>
            </a:r>
            <a:r>
              <a:rPr lang="en-US" sz="2000" b="1" i="1"/>
              <a:t>leftChild </a:t>
            </a:r>
            <a:r>
              <a:rPr lang="en-US" sz="2000"/>
              <a:t>(</a:t>
            </a:r>
            <a:r>
              <a:rPr lang="en-US" sz="2000" b="1" i="1"/>
              <a:t>v</a:t>
            </a:r>
            <a:r>
              <a:rPr lang="en-US" sz="2000"/>
              <a:t>))}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000" b="1" i="1"/>
              <a:t>print</a:t>
            </a:r>
            <a:r>
              <a:rPr lang="en-US" sz="2000"/>
              <a:t>(</a:t>
            </a:r>
            <a:r>
              <a:rPr lang="en-US" sz="2000" b="1" i="1"/>
              <a:t>v.element </a:t>
            </a:r>
            <a:r>
              <a:rPr lang="en-US" sz="2000"/>
              <a:t>())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000" b="1"/>
              <a:t>if</a:t>
            </a:r>
            <a:r>
              <a:rPr lang="en-US" sz="2000"/>
              <a:t> </a:t>
            </a:r>
            <a:r>
              <a:rPr lang="en-US" sz="2000" b="1" i="1"/>
              <a:t>isInternal </a:t>
            </a:r>
            <a:r>
              <a:rPr lang="en-US" sz="2000"/>
              <a:t>(</a:t>
            </a:r>
            <a:r>
              <a:rPr lang="en-US" sz="2000" b="1" i="1"/>
              <a:t>v</a:t>
            </a:r>
            <a:r>
              <a:rPr lang="en-US" sz="2000"/>
              <a:t>){</a:t>
            </a:r>
          </a:p>
          <a:p>
            <a:pPr lvl="2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000" b="1" i="1"/>
              <a:t>inOrder</a:t>
            </a:r>
            <a:r>
              <a:rPr lang="en-US" sz="2000"/>
              <a:t> (</a:t>
            </a:r>
            <a:r>
              <a:rPr lang="en-US" sz="2000" b="1" i="1"/>
              <a:t>rightChild </a:t>
            </a:r>
            <a:r>
              <a:rPr lang="en-US" sz="2000"/>
              <a:t>(</a:t>
            </a:r>
            <a:r>
              <a:rPr lang="en-US" sz="2000" b="1" i="1"/>
              <a:t>v</a:t>
            </a:r>
            <a:r>
              <a:rPr lang="en-US" sz="2000"/>
              <a:t>))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000"/>
              <a:t>	</a:t>
            </a:r>
            <a:r>
              <a:rPr lang="en-US" sz="2000" b="1" i="1"/>
              <a:t>print </a:t>
            </a:r>
            <a:r>
              <a:rPr lang="en-US" sz="2000"/>
              <a:t>(</a:t>
            </a:r>
            <a:r>
              <a:rPr lang="en-US" sz="2000">
                <a:latin typeface="Tahoma" pitchFamily="34" charset="0"/>
              </a:rPr>
              <a:t>“)’’</a:t>
            </a:r>
            <a:r>
              <a:rPr lang="en-US" sz="2000"/>
              <a:t>)}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762000" y="3886200"/>
            <a:ext cx="3429000" cy="2286000"/>
            <a:chOff x="2928" y="2256"/>
            <a:chExt cx="2160" cy="1440"/>
          </a:xfrm>
        </p:grpSpPr>
        <p:sp>
          <p:nvSpPr>
            <p:cNvPr id="399366" name="Oval 6"/>
            <p:cNvSpPr>
              <a:spLocks noChangeArrowheads="1"/>
            </p:cNvSpPr>
            <p:nvPr/>
          </p:nvSpPr>
          <p:spPr bwMode="auto">
            <a:xfrm>
              <a:off x="4128" y="225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anchor="ctr" anchorCtr="1"/>
            <a:lstStyle/>
            <a:p>
              <a:pPr algn="ctr"/>
              <a:r>
                <a:rPr lang="en-US">
                  <a:latin typeface="Symbol" pitchFamily="18" charset="2"/>
                </a:rPr>
                <a:t>+</a:t>
              </a:r>
            </a:p>
          </p:txBody>
        </p:sp>
        <p:sp>
          <p:nvSpPr>
            <p:cNvPr id="399367" name="Oval 7"/>
            <p:cNvSpPr>
              <a:spLocks noChangeArrowheads="1"/>
            </p:cNvSpPr>
            <p:nvPr/>
          </p:nvSpPr>
          <p:spPr bwMode="auto">
            <a:xfrm>
              <a:off x="46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anchor="ctr" anchorCtr="1"/>
            <a:lstStyle/>
            <a:p>
              <a:pPr algn="ctr"/>
              <a:r>
                <a:rPr lang="en-US">
                  <a:latin typeface="Symbol" pitchFamily="18" charset="2"/>
                  <a:sym typeface="Symbol" pitchFamily="18" charset="2"/>
                </a:rPr>
                <a:t></a:t>
              </a:r>
            </a:p>
          </p:txBody>
        </p:sp>
        <p:sp>
          <p:nvSpPr>
            <p:cNvPr id="399368" name="Oval 8"/>
            <p:cNvSpPr>
              <a:spLocks noChangeArrowheads="1"/>
            </p:cNvSpPr>
            <p:nvPr/>
          </p:nvSpPr>
          <p:spPr bwMode="auto">
            <a:xfrm>
              <a:off x="316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anchor="ctr" anchorCtr="1"/>
            <a:lstStyle/>
            <a:p>
              <a:pPr algn="ctr"/>
              <a:r>
                <a:rPr lang="en-US">
                  <a:latin typeface="Symbol" pitchFamily="18" charset="2"/>
                  <a:sym typeface="Symbol" pitchFamily="18" charset="2"/>
                </a:rPr>
                <a:t></a:t>
              </a:r>
              <a:endParaRPr lang="en-US">
                <a:latin typeface="Symbol" pitchFamily="18" charset="2"/>
              </a:endParaRPr>
            </a:p>
          </p:txBody>
        </p:sp>
        <p:sp>
          <p:nvSpPr>
            <p:cNvPr id="399369" name="Oval 9"/>
            <p:cNvSpPr>
              <a:spLocks noChangeArrowheads="1"/>
            </p:cNvSpPr>
            <p:nvPr/>
          </p:nvSpPr>
          <p:spPr bwMode="auto">
            <a:xfrm>
              <a:off x="3648" y="302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anchor="ctr" anchorCtr="1"/>
            <a:lstStyle/>
            <a:p>
              <a:pPr algn="ctr"/>
              <a:r>
                <a:rPr lang="en-US">
                  <a:latin typeface="Symbol" pitchFamily="18" charset="2"/>
                </a:rPr>
                <a:t>-</a:t>
              </a:r>
            </a:p>
          </p:txBody>
        </p:sp>
        <p:sp>
          <p:nvSpPr>
            <p:cNvPr id="399370" name="Rectangle 10"/>
            <p:cNvSpPr>
              <a:spLocks noChangeArrowheads="1"/>
            </p:cNvSpPr>
            <p:nvPr/>
          </p:nvSpPr>
          <p:spPr bwMode="auto">
            <a:xfrm>
              <a:off x="292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latin typeface="Tahoma" pitchFamily="34" charset="0"/>
                </a:rPr>
                <a:t>2</a:t>
              </a:r>
            </a:p>
          </p:txBody>
        </p:sp>
        <p:sp>
          <p:nvSpPr>
            <p:cNvPr id="399371" name="Rectangle 11"/>
            <p:cNvSpPr>
              <a:spLocks noChangeArrowheads="1"/>
            </p:cNvSpPr>
            <p:nvPr/>
          </p:nvSpPr>
          <p:spPr bwMode="auto">
            <a:xfrm>
              <a:off x="340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latin typeface="Tahoma" pitchFamily="34" charset="0"/>
                </a:rPr>
                <a:t>a</a:t>
              </a:r>
            </a:p>
          </p:txBody>
        </p:sp>
        <p:sp>
          <p:nvSpPr>
            <p:cNvPr id="399372" name="Rectangle 12"/>
            <p:cNvSpPr>
              <a:spLocks noChangeArrowheads="1"/>
            </p:cNvSpPr>
            <p:nvPr/>
          </p:nvSpPr>
          <p:spPr bwMode="auto">
            <a:xfrm>
              <a:off x="388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latin typeface="Tahoma" pitchFamily="34" charset="0"/>
                </a:rPr>
                <a:t>1</a:t>
              </a:r>
            </a:p>
          </p:txBody>
        </p:sp>
        <p:sp>
          <p:nvSpPr>
            <p:cNvPr id="399373" name="Rectangle 13"/>
            <p:cNvSpPr>
              <a:spLocks noChangeArrowheads="1"/>
            </p:cNvSpPr>
            <p:nvPr/>
          </p:nvSpPr>
          <p:spPr bwMode="auto">
            <a:xfrm>
              <a:off x="436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latin typeface="Tahoma" pitchFamily="34" charset="0"/>
                </a:rPr>
                <a:t>3</a:t>
              </a:r>
            </a:p>
          </p:txBody>
        </p:sp>
        <p:sp>
          <p:nvSpPr>
            <p:cNvPr id="399374" name="Rectangle 14"/>
            <p:cNvSpPr>
              <a:spLocks noChangeArrowheads="1"/>
            </p:cNvSpPr>
            <p:nvPr/>
          </p:nvSpPr>
          <p:spPr bwMode="auto">
            <a:xfrm>
              <a:off x="484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latin typeface="Tahoma" pitchFamily="34" charset="0"/>
                </a:rPr>
                <a:t>b</a:t>
              </a:r>
            </a:p>
          </p:txBody>
        </p:sp>
        <p:cxnSp>
          <p:nvCxnSpPr>
            <p:cNvPr id="399375" name="AutoShape 15"/>
            <p:cNvCxnSpPr>
              <a:cxnSpLocks noChangeShapeType="1"/>
              <a:stCxn id="399366" idx="3"/>
              <a:endCxn id="399368" idx="7"/>
            </p:cNvCxnSpPr>
            <p:nvPr/>
          </p:nvCxnSpPr>
          <p:spPr bwMode="auto">
            <a:xfrm flipH="1">
              <a:off x="3373" y="2467"/>
              <a:ext cx="79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99376" name="AutoShape 16"/>
            <p:cNvCxnSpPr>
              <a:cxnSpLocks noChangeShapeType="1"/>
              <a:stCxn id="399367" idx="1"/>
              <a:endCxn id="399366" idx="5"/>
            </p:cNvCxnSpPr>
            <p:nvPr/>
          </p:nvCxnSpPr>
          <p:spPr bwMode="auto">
            <a:xfrm flipH="1" flipV="1">
              <a:off x="4333" y="2467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99377" name="AutoShape 17"/>
            <p:cNvCxnSpPr>
              <a:cxnSpLocks noChangeShapeType="1"/>
              <a:stCxn id="399374" idx="0"/>
              <a:endCxn id="399367" idx="5"/>
            </p:cNvCxnSpPr>
            <p:nvPr/>
          </p:nvCxnSpPr>
          <p:spPr bwMode="auto">
            <a:xfrm flipH="1" flipV="1">
              <a:off x="4813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99378" name="AutoShape 18"/>
            <p:cNvCxnSpPr>
              <a:cxnSpLocks noChangeShapeType="1"/>
              <a:stCxn id="399373" idx="0"/>
              <a:endCxn id="399367" idx="3"/>
            </p:cNvCxnSpPr>
            <p:nvPr/>
          </p:nvCxnSpPr>
          <p:spPr bwMode="auto">
            <a:xfrm flipV="1">
              <a:off x="448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99379" name="AutoShape 19"/>
            <p:cNvCxnSpPr>
              <a:cxnSpLocks noChangeShapeType="1"/>
              <a:stCxn id="399372" idx="0"/>
              <a:endCxn id="399369" idx="5"/>
            </p:cNvCxnSpPr>
            <p:nvPr/>
          </p:nvCxnSpPr>
          <p:spPr bwMode="auto">
            <a:xfrm flipH="1" flipV="1">
              <a:off x="3853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99380" name="AutoShape 20"/>
            <p:cNvCxnSpPr>
              <a:cxnSpLocks noChangeShapeType="1"/>
              <a:stCxn id="399371" idx="0"/>
              <a:endCxn id="399369" idx="3"/>
            </p:cNvCxnSpPr>
            <p:nvPr/>
          </p:nvCxnSpPr>
          <p:spPr bwMode="auto">
            <a:xfrm flipV="1">
              <a:off x="3528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99381" name="AutoShape 21"/>
            <p:cNvCxnSpPr>
              <a:cxnSpLocks noChangeShapeType="1"/>
              <a:stCxn id="399370" idx="0"/>
              <a:endCxn id="399368" idx="3"/>
            </p:cNvCxnSpPr>
            <p:nvPr/>
          </p:nvCxnSpPr>
          <p:spPr bwMode="auto">
            <a:xfrm flipV="1">
              <a:off x="304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99382" name="AutoShape 22"/>
            <p:cNvCxnSpPr>
              <a:cxnSpLocks noChangeShapeType="1"/>
              <a:stCxn id="399369" idx="1"/>
              <a:endCxn id="399368" idx="5"/>
            </p:cNvCxnSpPr>
            <p:nvPr/>
          </p:nvCxnSpPr>
          <p:spPr bwMode="auto">
            <a:xfrm flipH="1" flipV="1">
              <a:off x="3373" y="2851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399383" name="Text Box 23"/>
          <p:cNvSpPr txBox="1">
            <a:spLocks noChangeArrowheads="1"/>
          </p:cNvSpPr>
          <p:nvPr/>
        </p:nvSpPr>
        <p:spPr bwMode="auto">
          <a:xfrm>
            <a:off x="4953000" y="5105400"/>
            <a:ext cx="332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>
                <a:latin typeface="Tahoma" pitchFamily="34" charset="0"/>
              </a:rPr>
              <a:t>((2 </a:t>
            </a:r>
            <a:r>
              <a:rPr lang="en-US">
                <a:latin typeface="Symbol" pitchFamily="18" charset="2"/>
                <a:sym typeface="Symbol" pitchFamily="18" charset="2"/>
              </a:rPr>
              <a:t> </a:t>
            </a:r>
            <a:r>
              <a:rPr lang="en-US">
                <a:sym typeface="Symbol" pitchFamily="18" charset="2"/>
              </a:rPr>
              <a:t>(</a:t>
            </a:r>
            <a:r>
              <a:rPr lang="en-US">
                <a:latin typeface="Tahoma" pitchFamily="34" charset="0"/>
              </a:rPr>
              <a:t>a </a:t>
            </a:r>
            <a:r>
              <a:rPr lang="en-US">
                <a:latin typeface="Symbol" pitchFamily="18" charset="2"/>
              </a:rPr>
              <a:t>-</a:t>
            </a:r>
            <a:r>
              <a:rPr lang="en-US">
                <a:latin typeface="Tahoma" pitchFamily="34" charset="0"/>
              </a:rPr>
              <a:t> 1)) </a:t>
            </a:r>
            <a:r>
              <a:rPr lang="en-US">
                <a:latin typeface="Symbol" pitchFamily="18" charset="2"/>
              </a:rPr>
              <a:t>+</a:t>
            </a:r>
            <a:r>
              <a:rPr lang="en-US">
                <a:latin typeface="Tahoma" pitchFamily="34" charset="0"/>
              </a:rPr>
              <a:t> (3 </a:t>
            </a:r>
            <a:r>
              <a:rPr lang="en-US">
                <a:latin typeface="Symbol" pitchFamily="18" charset="2"/>
                <a:sym typeface="Symbol" pitchFamily="18" charset="2"/>
              </a:rPr>
              <a:t> </a:t>
            </a:r>
            <a:r>
              <a:rPr lang="en-US">
                <a:latin typeface="Tahoma" pitchFamily="34" charset="0"/>
              </a:rPr>
              <a:t>b))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0"/>
            <a:ext cx="8382000" cy="1143000"/>
          </a:xfrm>
        </p:spPr>
        <p:txBody>
          <a:bodyPr/>
          <a:lstStyle/>
          <a:p>
            <a:r>
              <a:rPr lang="en-US"/>
              <a:t>Evaluate Arithmetic Expressions</a:t>
            </a:r>
          </a:p>
        </p:txBody>
      </p:sp>
      <p:sp>
        <p:nvSpPr>
          <p:cNvPr id="400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3733800" cy="20288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/>
              <a:t>recursive method returning the value of a subtree</a:t>
            </a:r>
          </a:p>
          <a:p>
            <a:pPr>
              <a:lnSpc>
                <a:spcPct val="90000"/>
              </a:lnSpc>
            </a:pPr>
            <a:r>
              <a:rPr lang="en-US" sz="2000"/>
              <a:t>when visiting an internal node, combine the values of the subtrees</a:t>
            </a:r>
          </a:p>
        </p:txBody>
      </p:sp>
      <p:sp>
        <p:nvSpPr>
          <p:cNvPr id="400388" name="Text Box 4"/>
          <p:cNvSpPr txBox="1">
            <a:spLocks noChangeArrowheads="1"/>
          </p:cNvSpPr>
          <p:nvPr/>
        </p:nvSpPr>
        <p:spPr bwMode="auto">
          <a:xfrm>
            <a:off x="4543425" y="1698625"/>
            <a:ext cx="4191000" cy="2720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000" b="1"/>
              <a:t>Algorithm</a:t>
            </a:r>
            <a:r>
              <a:rPr lang="en-US" sz="2000"/>
              <a:t> </a:t>
            </a:r>
            <a:r>
              <a:rPr lang="en-US" sz="2000" b="1" i="1"/>
              <a:t>evalExpr</a:t>
            </a:r>
            <a:r>
              <a:rPr lang="en-US" sz="2000"/>
              <a:t>(</a:t>
            </a:r>
            <a:r>
              <a:rPr lang="en-US" sz="2000" b="1" i="1"/>
              <a:t>v</a:t>
            </a:r>
            <a:r>
              <a:rPr lang="en-US" sz="2000"/>
              <a:t>)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000" b="1"/>
              <a:t>if</a:t>
            </a:r>
            <a:r>
              <a:rPr lang="en-US" sz="2000"/>
              <a:t> </a:t>
            </a:r>
            <a:r>
              <a:rPr lang="en-US" sz="2000" b="1" i="1"/>
              <a:t>isExternal </a:t>
            </a:r>
            <a:r>
              <a:rPr lang="en-US" sz="2000"/>
              <a:t>(</a:t>
            </a:r>
            <a:r>
              <a:rPr lang="en-US" sz="2000" b="1" i="1"/>
              <a:t>v</a:t>
            </a:r>
            <a:r>
              <a:rPr lang="en-US" sz="2000"/>
              <a:t>)</a:t>
            </a:r>
          </a:p>
          <a:p>
            <a:pPr lvl="2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000" b="1"/>
              <a:t>return</a:t>
            </a:r>
            <a:r>
              <a:rPr lang="en-US" sz="2000"/>
              <a:t> </a:t>
            </a:r>
            <a:r>
              <a:rPr lang="en-US" sz="2000" b="1" i="1"/>
              <a:t>v.element </a:t>
            </a:r>
            <a:r>
              <a:rPr lang="en-US" sz="2000"/>
              <a:t>()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000" b="1"/>
              <a:t>else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000" b="1" i="1"/>
              <a:t>	x </a:t>
            </a:r>
            <a:r>
              <a:rPr lang="en-US" sz="2000">
                <a:sym typeface="Symbol" pitchFamily="18" charset="2"/>
              </a:rPr>
              <a:t></a:t>
            </a:r>
            <a:r>
              <a:rPr lang="en-US" sz="2000" b="1" i="1">
                <a:sym typeface="Symbol" pitchFamily="18" charset="2"/>
              </a:rPr>
              <a:t> </a:t>
            </a:r>
            <a:r>
              <a:rPr lang="en-US" sz="2000" b="1" i="1"/>
              <a:t>evalExpr</a:t>
            </a:r>
            <a:r>
              <a:rPr lang="en-US" sz="2000"/>
              <a:t>(</a:t>
            </a:r>
            <a:r>
              <a:rPr lang="en-US" sz="2000" b="1" i="1"/>
              <a:t>leftChild </a:t>
            </a:r>
            <a:r>
              <a:rPr lang="en-US" sz="2000"/>
              <a:t>(</a:t>
            </a:r>
            <a:r>
              <a:rPr lang="en-US" sz="2000" b="1" i="1"/>
              <a:t>v</a:t>
            </a:r>
            <a:r>
              <a:rPr lang="en-US" sz="2000"/>
              <a:t>))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000" b="1" i="1"/>
              <a:t>	y </a:t>
            </a:r>
            <a:r>
              <a:rPr lang="en-US" sz="2000">
                <a:sym typeface="Symbol" pitchFamily="18" charset="2"/>
              </a:rPr>
              <a:t></a:t>
            </a:r>
            <a:r>
              <a:rPr lang="en-US" sz="2000" b="1" i="1">
                <a:sym typeface="Symbol" pitchFamily="18" charset="2"/>
              </a:rPr>
              <a:t> </a:t>
            </a:r>
            <a:r>
              <a:rPr lang="en-US" sz="2000" b="1" i="1"/>
              <a:t>evalExpr</a:t>
            </a:r>
            <a:r>
              <a:rPr lang="en-US" sz="2000"/>
              <a:t>(</a:t>
            </a:r>
            <a:r>
              <a:rPr lang="en-US" sz="2000" b="1" i="1"/>
              <a:t>rightChild </a:t>
            </a:r>
            <a:r>
              <a:rPr lang="en-US" sz="2000"/>
              <a:t>(</a:t>
            </a:r>
            <a:r>
              <a:rPr lang="en-US" sz="2000" b="1" i="1"/>
              <a:t>v</a:t>
            </a:r>
            <a:r>
              <a:rPr lang="en-US" sz="2000"/>
              <a:t>))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000">
                <a:sym typeface="Symbol" pitchFamily="18" charset="2"/>
              </a:rPr>
              <a:t>	</a:t>
            </a:r>
            <a:r>
              <a:rPr lang="en-US" sz="2000" b="1">
                <a:sym typeface="Symbol" pitchFamily="18" charset="2"/>
              </a:rPr>
              <a:t></a:t>
            </a:r>
            <a:r>
              <a:rPr lang="en-US" sz="2000">
                <a:sym typeface="Symbol" pitchFamily="18" charset="2"/>
              </a:rPr>
              <a:t> </a:t>
            </a:r>
            <a:r>
              <a:rPr lang="en-US" sz="2000" b="1" i="1">
                <a:sym typeface="Symbol" pitchFamily="18" charset="2"/>
              </a:rPr>
              <a:t> </a:t>
            </a:r>
            <a:r>
              <a:rPr lang="en-US" sz="2000"/>
              <a:t>operator stored at </a:t>
            </a:r>
            <a:r>
              <a:rPr lang="en-US" sz="2000" b="1" i="1"/>
              <a:t>v</a:t>
            </a:r>
          </a:p>
          <a:p>
            <a:pPr lvl="2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000" b="1"/>
              <a:t>return</a:t>
            </a:r>
            <a:r>
              <a:rPr lang="en-US" sz="2000"/>
              <a:t> </a:t>
            </a:r>
            <a:r>
              <a:rPr lang="en-US" sz="2000" b="1" i="1"/>
              <a:t>x </a:t>
            </a:r>
            <a:r>
              <a:rPr lang="en-US" sz="2000" b="1">
                <a:sym typeface="Symbol" pitchFamily="18" charset="2"/>
              </a:rPr>
              <a:t></a:t>
            </a:r>
            <a:r>
              <a:rPr lang="en-US" sz="2000" b="1" i="1"/>
              <a:t> y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131888" y="4038600"/>
            <a:ext cx="3429000" cy="2286000"/>
            <a:chOff x="2928" y="2256"/>
            <a:chExt cx="2160" cy="1440"/>
          </a:xfrm>
        </p:grpSpPr>
        <p:sp>
          <p:nvSpPr>
            <p:cNvPr id="400390" name="Oval 6"/>
            <p:cNvSpPr>
              <a:spLocks noChangeArrowheads="1"/>
            </p:cNvSpPr>
            <p:nvPr/>
          </p:nvSpPr>
          <p:spPr bwMode="auto">
            <a:xfrm>
              <a:off x="4128" y="225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anchor="ctr" anchorCtr="1"/>
            <a:lstStyle/>
            <a:p>
              <a:pPr algn="ctr"/>
              <a:r>
                <a:rPr lang="en-US">
                  <a:latin typeface="Symbol" pitchFamily="18" charset="2"/>
                </a:rPr>
                <a:t>+</a:t>
              </a:r>
            </a:p>
          </p:txBody>
        </p:sp>
        <p:sp>
          <p:nvSpPr>
            <p:cNvPr id="400391" name="Oval 7"/>
            <p:cNvSpPr>
              <a:spLocks noChangeArrowheads="1"/>
            </p:cNvSpPr>
            <p:nvPr/>
          </p:nvSpPr>
          <p:spPr bwMode="auto">
            <a:xfrm>
              <a:off x="46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anchor="ctr" anchorCtr="1"/>
            <a:lstStyle/>
            <a:p>
              <a:pPr algn="ctr"/>
              <a:r>
                <a:rPr lang="en-US">
                  <a:latin typeface="Symbol" pitchFamily="18" charset="2"/>
                  <a:sym typeface="Symbol" pitchFamily="18" charset="2"/>
                </a:rPr>
                <a:t></a:t>
              </a:r>
            </a:p>
          </p:txBody>
        </p:sp>
        <p:sp>
          <p:nvSpPr>
            <p:cNvPr id="400392" name="Oval 8"/>
            <p:cNvSpPr>
              <a:spLocks noChangeArrowheads="1"/>
            </p:cNvSpPr>
            <p:nvPr/>
          </p:nvSpPr>
          <p:spPr bwMode="auto">
            <a:xfrm>
              <a:off x="316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anchor="ctr" anchorCtr="1"/>
            <a:lstStyle/>
            <a:p>
              <a:pPr algn="ctr"/>
              <a:r>
                <a:rPr lang="en-US">
                  <a:latin typeface="Symbol" pitchFamily="18" charset="2"/>
                  <a:sym typeface="Symbol" pitchFamily="18" charset="2"/>
                </a:rPr>
                <a:t></a:t>
              </a:r>
              <a:endParaRPr lang="en-US">
                <a:latin typeface="Symbol" pitchFamily="18" charset="2"/>
              </a:endParaRPr>
            </a:p>
          </p:txBody>
        </p:sp>
        <p:sp>
          <p:nvSpPr>
            <p:cNvPr id="400393" name="Oval 9"/>
            <p:cNvSpPr>
              <a:spLocks noChangeArrowheads="1"/>
            </p:cNvSpPr>
            <p:nvPr/>
          </p:nvSpPr>
          <p:spPr bwMode="auto">
            <a:xfrm>
              <a:off x="3648" y="302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anchor="ctr" anchorCtr="1"/>
            <a:lstStyle/>
            <a:p>
              <a:pPr algn="ctr"/>
              <a:r>
                <a:rPr lang="en-US">
                  <a:latin typeface="Symbol" pitchFamily="18" charset="2"/>
                </a:rPr>
                <a:t>-</a:t>
              </a:r>
            </a:p>
          </p:txBody>
        </p:sp>
        <p:sp>
          <p:nvSpPr>
            <p:cNvPr id="400394" name="Rectangle 10"/>
            <p:cNvSpPr>
              <a:spLocks noChangeArrowheads="1"/>
            </p:cNvSpPr>
            <p:nvPr/>
          </p:nvSpPr>
          <p:spPr bwMode="auto">
            <a:xfrm>
              <a:off x="292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latin typeface="Tahoma" pitchFamily="34" charset="0"/>
                </a:rPr>
                <a:t>2</a:t>
              </a:r>
            </a:p>
          </p:txBody>
        </p:sp>
        <p:sp>
          <p:nvSpPr>
            <p:cNvPr id="400395" name="Rectangle 11"/>
            <p:cNvSpPr>
              <a:spLocks noChangeArrowheads="1"/>
            </p:cNvSpPr>
            <p:nvPr/>
          </p:nvSpPr>
          <p:spPr bwMode="auto">
            <a:xfrm>
              <a:off x="340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latin typeface="Tahoma" pitchFamily="34" charset="0"/>
                </a:rPr>
                <a:t>5</a:t>
              </a:r>
            </a:p>
          </p:txBody>
        </p:sp>
        <p:sp>
          <p:nvSpPr>
            <p:cNvPr id="400396" name="Rectangle 12"/>
            <p:cNvSpPr>
              <a:spLocks noChangeArrowheads="1"/>
            </p:cNvSpPr>
            <p:nvPr/>
          </p:nvSpPr>
          <p:spPr bwMode="auto">
            <a:xfrm>
              <a:off x="388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latin typeface="Tahoma" pitchFamily="34" charset="0"/>
                </a:rPr>
                <a:t>1</a:t>
              </a:r>
            </a:p>
          </p:txBody>
        </p:sp>
        <p:sp>
          <p:nvSpPr>
            <p:cNvPr id="400397" name="Rectangle 13"/>
            <p:cNvSpPr>
              <a:spLocks noChangeArrowheads="1"/>
            </p:cNvSpPr>
            <p:nvPr/>
          </p:nvSpPr>
          <p:spPr bwMode="auto">
            <a:xfrm>
              <a:off x="436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latin typeface="Tahoma" pitchFamily="34" charset="0"/>
                </a:rPr>
                <a:t>3</a:t>
              </a:r>
            </a:p>
          </p:txBody>
        </p:sp>
        <p:sp>
          <p:nvSpPr>
            <p:cNvPr id="400398" name="Rectangle 14"/>
            <p:cNvSpPr>
              <a:spLocks noChangeArrowheads="1"/>
            </p:cNvSpPr>
            <p:nvPr/>
          </p:nvSpPr>
          <p:spPr bwMode="auto">
            <a:xfrm>
              <a:off x="484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latin typeface="Tahoma" pitchFamily="34" charset="0"/>
                </a:rPr>
                <a:t>2</a:t>
              </a:r>
            </a:p>
          </p:txBody>
        </p:sp>
        <p:cxnSp>
          <p:nvCxnSpPr>
            <p:cNvPr id="400399" name="AutoShape 15"/>
            <p:cNvCxnSpPr>
              <a:cxnSpLocks noChangeShapeType="1"/>
              <a:stCxn id="400390" idx="3"/>
              <a:endCxn id="400392" idx="7"/>
            </p:cNvCxnSpPr>
            <p:nvPr/>
          </p:nvCxnSpPr>
          <p:spPr bwMode="auto">
            <a:xfrm flipH="1">
              <a:off x="3373" y="2467"/>
              <a:ext cx="79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00400" name="AutoShape 16"/>
            <p:cNvCxnSpPr>
              <a:cxnSpLocks noChangeShapeType="1"/>
              <a:stCxn id="400391" idx="1"/>
              <a:endCxn id="400390" idx="5"/>
            </p:cNvCxnSpPr>
            <p:nvPr/>
          </p:nvCxnSpPr>
          <p:spPr bwMode="auto">
            <a:xfrm flipH="1" flipV="1">
              <a:off x="4333" y="2467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00401" name="AutoShape 17"/>
            <p:cNvCxnSpPr>
              <a:cxnSpLocks noChangeShapeType="1"/>
              <a:stCxn id="400398" idx="0"/>
              <a:endCxn id="400391" idx="5"/>
            </p:cNvCxnSpPr>
            <p:nvPr/>
          </p:nvCxnSpPr>
          <p:spPr bwMode="auto">
            <a:xfrm flipH="1" flipV="1">
              <a:off x="4813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00402" name="AutoShape 18"/>
            <p:cNvCxnSpPr>
              <a:cxnSpLocks noChangeShapeType="1"/>
              <a:stCxn id="400397" idx="0"/>
              <a:endCxn id="400391" idx="3"/>
            </p:cNvCxnSpPr>
            <p:nvPr/>
          </p:nvCxnSpPr>
          <p:spPr bwMode="auto">
            <a:xfrm flipV="1">
              <a:off x="448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00403" name="AutoShape 19"/>
            <p:cNvCxnSpPr>
              <a:cxnSpLocks noChangeShapeType="1"/>
              <a:stCxn id="400396" idx="0"/>
              <a:endCxn id="400393" idx="5"/>
            </p:cNvCxnSpPr>
            <p:nvPr/>
          </p:nvCxnSpPr>
          <p:spPr bwMode="auto">
            <a:xfrm flipH="1" flipV="1">
              <a:off x="3853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00404" name="AutoShape 20"/>
            <p:cNvCxnSpPr>
              <a:cxnSpLocks noChangeShapeType="1"/>
              <a:stCxn id="400395" idx="0"/>
              <a:endCxn id="400393" idx="3"/>
            </p:cNvCxnSpPr>
            <p:nvPr/>
          </p:nvCxnSpPr>
          <p:spPr bwMode="auto">
            <a:xfrm flipV="1">
              <a:off x="3528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00405" name="AutoShape 21"/>
            <p:cNvCxnSpPr>
              <a:cxnSpLocks noChangeShapeType="1"/>
              <a:stCxn id="400394" idx="0"/>
              <a:endCxn id="400392" idx="3"/>
            </p:cNvCxnSpPr>
            <p:nvPr/>
          </p:nvCxnSpPr>
          <p:spPr bwMode="auto">
            <a:xfrm flipV="1">
              <a:off x="304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00406" name="AutoShape 22"/>
            <p:cNvCxnSpPr>
              <a:cxnSpLocks noChangeShapeType="1"/>
              <a:stCxn id="400393" idx="1"/>
              <a:endCxn id="400392" idx="5"/>
            </p:cNvCxnSpPr>
            <p:nvPr/>
          </p:nvCxnSpPr>
          <p:spPr bwMode="auto">
            <a:xfrm flipH="1" flipV="1">
              <a:off x="3373" y="2851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Search Trees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8610600" cy="5334000"/>
          </a:xfrm>
        </p:spPr>
        <p:txBody>
          <a:bodyPr/>
          <a:lstStyle/>
          <a:p>
            <a:r>
              <a:rPr lang="en-US" dirty="0"/>
              <a:t>View today as data structures that can support </a:t>
            </a:r>
            <a:br>
              <a:rPr lang="en-US" dirty="0"/>
            </a:br>
            <a:r>
              <a:rPr lang="en-US" dirty="0"/>
              <a:t>dynamic set operations.</a:t>
            </a:r>
          </a:p>
          <a:p>
            <a:pPr lvl="1"/>
            <a:r>
              <a:rPr lang="en-US" dirty="0"/>
              <a:t>Search, Minimum, Maximum, Predecessor, Successor, Insert, and Delete.</a:t>
            </a:r>
          </a:p>
          <a:p>
            <a:r>
              <a:rPr lang="en-US" dirty="0"/>
              <a:t>Can be used to build</a:t>
            </a:r>
          </a:p>
          <a:p>
            <a:pPr lvl="1"/>
            <a:r>
              <a:rPr lang="en-US" dirty="0"/>
              <a:t>Dictionaries.</a:t>
            </a:r>
          </a:p>
          <a:p>
            <a:pPr lvl="1"/>
            <a:r>
              <a:rPr lang="en-US" dirty="0"/>
              <a:t>Priority Queues.</a:t>
            </a:r>
          </a:p>
          <a:p>
            <a:r>
              <a:rPr lang="en-US" dirty="0"/>
              <a:t>Basic operations take time proportional to the height of the tree – </a:t>
            </a:r>
            <a:r>
              <a:rPr lang="en-US" i="1" dirty="0"/>
              <a:t>O</a:t>
            </a:r>
            <a:r>
              <a:rPr lang="en-US" dirty="0"/>
              <a:t>(</a:t>
            </a:r>
            <a:r>
              <a:rPr lang="en-US" i="1" dirty="0"/>
              <a:t>h</a:t>
            </a:r>
            <a:r>
              <a:rPr lang="en-US" dirty="0"/>
              <a:t>).</a:t>
            </a:r>
          </a:p>
          <a:p>
            <a:pPr lvl="1">
              <a:buFontTx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BST – Representation 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4325" y="914400"/>
            <a:ext cx="8453438" cy="5229225"/>
          </a:xfrm>
        </p:spPr>
        <p:txBody>
          <a:bodyPr/>
          <a:lstStyle/>
          <a:p>
            <a:r>
              <a:rPr lang="en-US"/>
              <a:t>Represented by a linked data structure of nodes.</a:t>
            </a:r>
          </a:p>
          <a:p>
            <a:r>
              <a:rPr lang="en-US" i="1"/>
              <a:t>root</a:t>
            </a:r>
            <a:r>
              <a:rPr lang="en-US"/>
              <a:t>(</a:t>
            </a:r>
            <a:r>
              <a:rPr lang="en-US" i="1"/>
              <a:t>T</a:t>
            </a:r>
            <a:r>
              <a:rPr lang="en-US"/>
              <a:t>) points to the root of tree </a:t>
            </a:r>
            <a:r>
              <a:rPr lang="en-US" i="1"/>
              <a:t>T</a:t>
            </a:r>
            <a:r>
              <a:rPr lang="en-US"/>
              <a:t>.</a:t>
            </a:r>
          </a:p>
          <a:p>
            <a:r>
              <a:rPr lang="en-US"/>
              <a:t>Each node contains fields:  </a:t>
            </a:r>
          </a:p>
          <a:p>
            <a:pPr lvl="1"/>
            <a:r>
              <a:rPr lang="en-US" i="1"/>
              <a:t>key</a:t>
            </a:r>
          </a:p>
          <a:p>
            <a:pPr lvl="1"/>
            <a:r>
              <a:rPr lang="en-US" i="1"/>
              <a:t>left</a:t>
            </a:r>
            <a:r>
              <a:rPr lang="en-US"/>
              <a:t> – pointer to left child: root of left subtree.</a:t>
            </a:r>
            <a:endParaRPr lang="en-US" i="1"/>
          </a:p>
          <a:p>
            <a:pPr lvl="1"/>
            <a:r>
              <a:rPr lang="en-US" i="1"/>
              <a:t>right – </a:t>
            </a:r>
            <a:r>
              <a:rPr lang="en-US"/>
              <a:t>pointer to right child : root of right subtree.</a:t>
            </a:r>
            <a:endParaRPr lang="en-US" i="1"/>
          </a:p>
          <a:p>
            <a:pPr lvl="1"/>
            <a:r>
              <a:rPr lang="en-US" i="1"/>
              <a:t>p – </a:t>
            </a:r>
            <a:r>
              <a:rPr lang="en-US"/>
              <a:t>pointer to parent. </a:t>
            </a:r>
            <a:r>
              <a:rPr lang="en-US" i="1"/>
              <a:t>p</a:t>
            </a:r>
            <a:r>
              <a:rPr lang="en-US"/>
              <a:t>[</a:t>
            </a:r>
            <a:r>
              <a:rPr lang="en-US" i="1"/>
              <a:t>root</a:t>
            </a:r>
            <a:r>
              <a:rPr lang="en-US"/>
              <a:t>[T]] = NIL (optional).</a:t>
            </a:r>
          </a:p>
        </p:txBody>
      </p:sp>
      <p:sp>
        <p:nvSpPr>
          <p:cNvPr id="5124" name="Oval 4"/>
          <p:cNvSpPr>
            <a:spLocks noChangeArrowheads="1"/>
          </p:cNvSpPr>
          <p:nvPr/>
        </p:nvSpPr>
        <p:spPr bwMode="auto">
          <a:xfrm>
            <a:off x="6553200" y="5029200"/>
            <a:ext cx="1066800" cy="106680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25" name="Line 5"/>
          <p:cNvSpPr>
            <a:spLocks noChangeShapeType="1"/>
          </p:cNvSpPr>
          <p:nvPr/>
        </p:nvSpPr>
        <p:spPr bwMode="auto">
          <a:xfrm flipH="1">
            <a:off x="6400800" y="5943600"/>
            <a:ext cx="3048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26" name="Line 6"/>
          <p:cNvSpPr>
            <a:spLocks noChangeShapeType="1"/>
          </p:cNvSpPr>
          <p:nvPr/>
        </p:nvSpPr>
        <p:spPr bwMode="auto">
          <a:xfrm>
            <a:off x="7467600" y="5943600"/>
            <a:ext cx="2286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28" name="Line 8"/>
          <p:cNvSpPr>
            <a:spLocks noChangeShapeType="1"/>
          </p:cNvSpPr>
          <p:nvPr/>
        </p:nvSpPr>
        <p:spPr bwMode="auto">
          <a:xfrm>
            <a:off x="7086600" y="46482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Search Tree Property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dirty="0"/>
              <a:t>Stored keys must satisfy the </a:t>
            </a:r>
            <a:r>
              <a:rPr lang="en-US" i="1" dirty="0"/>
              <a:t>binary search tree</a:t>
            </a:r>
            <a:r>
              <a:rPr lang="en-US" dirty="0"/>
              <a:t> property.</a:t>
            </a:r>
          </a:p>
          <a:p>
            <a:pPr lvl="1"/>
            <a:r>
              <a:rPr lang="en-US" dirty="0">
                <a:sym typeface="Symbol" pitchFamily="18" charset="2"/>
              </a:rPr>
              <a:t></a:t>
            </a:r>
            <a:r>
              <a:rPr lang="en-US" dirty="0"/>
              <a:t> </a:t>
            </a:r>
            <a:r>
              <a:rPr lang="en-US" i="1" dirty="0"/>
              <a:t>y</a:t>
            </a:r>
            <a:r>
              <a:rPr lang="en-US" dirty="0"/>
              <a:t> in left </a:t>
            </a:r>
            <a:r>
              <a:rPr lang="en-US" dirty="0" err="1"/>
              <a:t>subtree</a:t>
            </a:r>
            <a:r>
              <a:rPr lang="en-US" dirty="0"/>
              <a:t> of </a:t>
            </a:r>
            <a:r>
              <a:rPr lang="en-US" i="1" dirty="0"/>
              <a:t>x</a:t>
            </a:r>
            <a:r>
              <a:rPr lang="en-US" dirty="0"/>
              <a:t>, then </a:t>
            </a:r>
            <a:r>
              <a:rPr lang="en-US" i="1" dirty="0"/>
              <a:t>key</a:t>
            </a:r>
            <a:r>
              <a:rPr lang="en-US" dirty="0"/>
              <a:t>[</a:t>
            </a:r>
            <a:r>
              <a:rPr lang="en-US" i="1" dirty="0"/>
              <a:t>y</a:t>
            </a:r>
            <a:r>
              <a:rPr lang="en-US" dirty="0"/>
              <a:t>] </a:t>
            </a:r>
            <a:r>
              <a:rPr lang="en-US" dirty="0">
                <a:sym typeface="Symbol" pitchFamily="18" charset="2"/>
              </a:rPr>
              <a:t> </a:t>
            </a:r>
            <a:r>
              <a:rPr lang="en-US" i="1" dirty="0">
                <a:sym typeface="Symbol" pitchFamily="18" charset="2"/>
              </a:rPr>
              <a:t>key</a:t>
            </a:r>
            <a:r>
              <a:rPr lang="en-US" dirty="0">
                <a:sym typeface="Symbol" pitchFamily="18" charset="2"/>
              </a:rPr>
              <a:t>[</a:t>
            </a:r>
            <a:r>
              <a:rPr lang="en-US" i="1" dirty="0">
                <a:sym typeface="Symbol" pitchFamily="18" charset="2"/>
              </a:rPr>
              <a:t>x</a:t>
            </a:r>
            <a:r>
              <a:rPr lang="en-US" dirty="0">
                <a:sym typeface="Symbol" pitchFamily="18" charset="2"/>
              </a:rPr>
              <a:t>].</a:t>
            </a:r>
          </a:p>
          <a:p>
            <a:pPr lvl="1"/>
            <a:r>
              <a:rPr lang="en-US" dirty="0">
                <a:sym typeface="Symbol" pitchFamily="18" charset="2"/>
              </a:rPr>
              <a:t></a:t>
            </a:r>
            <a:r>
              <a:rPr lang="en-US" dirty="0"/>
              <a:t> </a:t>
            </a:r>
            <a:r>
              <a:rPr lang="en-US" i="1" dirty="0"/>
              <a:t>y</a:t>
            </a:r>
            <a:r>
              <a:rPr lang="en-US" dirty="0"/>
              <a:t> in right </a:t>
            </a:r>
            <a:r>
              <a:rPr lang="en-US" dirty="0" err="1"/>
              <a:t>subtree</a:t>
            </a:r>
            <a:r>
              <a:rPr lang="en-US" dirty="0"/>
              <a:t> of </a:t>
            </a:r>
            <a:r>
              <a:rPr lang="en-US" i="1" dirty="0"/>
              <a:t>x</a:t>
            </a:r>
            <a:r>
              <a:rPr lang="en-US" dirty="0"/>
              <a:t>, then </a:t>
            </a:r>
            <a:r>
              <a:rPr lang="en-US" i="1" dirty="0"/>
              <a:t>key</a:t>
            </a:r>
            <a:r>
              <a:rPr lang="en-US" dirty="0"/>
              <a:t>[</a:t>
            </a:r>
            <a:r>
              <a:rPr lang="en-US" i="1" dirty="0"/>
              <a:t>y</a:t>
            </a:r>
            <a:r>
              <a:rPr lang="en-US" dirty="0"/>
              <a:t>] </a:t>
            </a:r>
            <a:r>
              <a:rPr lang="en-US" dirty="0">
                <a:sym typeface="Symbol" pitchFamily="18" charset="2"/>
              </a:rPr>
              <a:t> </a:t>
            </a:r>
            <a:r>
              <a:rPr lang="en-US" i="1" dirty="0">
                <a:sym typeface="Symbol" pitchFamily="18" charset="2"/>
              </a:rPr>
              <a:t>key</a:t>
            </a:r>
            <a:r>
              <a:rPr lang="en-US" dirty="0">
                <a:sym typeface="Symbol" pitchFamily="18" charset="2"/>
              </a:rPr>
              <a:t>[</a:t>
            </a:r>
            <a:r>
              <a:rPr lang="en-US" i="1" dirty="0">
                <a:sym typeface="Symbol" pitchFamily="18" charset="2"/>
              </a:rPr>
              <a:t>x</a:t>
            </a:r>
            <a:r>
              <a:rPr lang="en-US" dirty="0">
                <a:sym typeface="Symbol" pitchFamily="18" charset="2"/>
              </a:rPr>
              <a:t>].</a:t>
            </a:r>
          </a:p>
          <a:p>
            <a:pPr lvl="1"/>
            <a:endParaRPr lang="en-US" dirty="0"/>
          </a:p>
        </p:txBody>
      </p:sp>
      <p:sp>
        <p:nvSpPr>
          <p:cNvPr id="1029" name="Oval 5"/>
          <p:cNvSpPr>
            <a:spLocks noChangeArrowheads="1"/>
          </p:cNvSpPr>
          <p:nvPr/>
        </p:nvSpPr>
        <p:spPr bwMode="auto">
          <a:xfrm>
            <a:off x="6502400" y="2073275"/>
            <a:ext cx="515938" cy="531813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u="none"/>
              <a:t>56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5386388" y="2527300"/>
            <a:ext cx="2671762" cy="868363"/>
            <a:chOff x="1620" y="1679"/>
            <a:chExt cx="1683" cy="547"/>
          </a:xfrm>
        </p:grpSpPr>
        <p:sp>
          <p:nvSpPr>
            <p:cNvPr id="1031" name="Oval 7"/>
            <p:cNvSpPr>
              <a:spLocks noChangeArrowheads="1"/>
            </p:cNvSpPr>
            <p:nvPr/>
          </p:nvSpPr>
          <p:spPr bwMode="auto">
            <a:xfrm>
              <a:off x="1620" y="1891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u="none"/>
                <a:t>26</a:t>
              </a:r>
            </a:p>
          </p:txBody>
        </p:sp>
        <p:sp>
          <p:nvSpPr>
            <p:cNvPr id="1032" name="Oval 8"/>
            <p:cNvSpPr>
              <a:spLocks noChangeArrowheads="1"/>
            </p:cNvSpPr>
            <p:nvPr/>
          </p:nvSpPr>
          <p:spPr bwMode="auto">
            <a:xfrm>
              <a:off x="2978" y="1891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u="none"/>
                <a:t>200</a:t>
              </a:r>
            </a:p>
          </p:txBody>
        </p:sp>
        <p:cxnSp>
          <p:nvCxnSpPr>
            <p:cNvPr id="1033" name="AutoShape 9"/>
            <p:cNvCxnSpPr>
              <a:cxnSpLocks noChangeShapeType="1"/>
              <a:stCxn id="1029" idx="5"/>
              <a:endCxn id="1032" idx="0"/>
            </p:cNvCxnSpPr>
            <p:nvPr/>
          </p:nvCxnSpPr>
          <p:spPr bwMode="auto">
            <a:xfrm>
              <a:off x="2600" y="1679"/>
              <a:ext cx="541" cy="21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034" name="AutoShape 10"/>
            <p:cNvCxnSpPr>
              <a:cxnSpLocks noChangeShapeType="1"/>
              <a:stCxn id="1029" idx="3"/>
              <a:endCxn id="1031" idx="0"/>
            </p:cNvCxnSpPr>
            <p:nvPr/>
          </p:nvCxnSpPr>
          <p:spPr bwMode="auto">
            <a:xfrm flipH="1">
              <a:off x="1783" y="1679"/>
              <a:ext cx="588" cy="21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4565650" y="3317875"/>
            <a:ext cx="1990725" cy="1174750"/>
            <a:chOff x="1103" y="2177"/>
            <a:chExt cx="1254" cy="740"/>
          </a:xfrm>
        </p:grpSpPr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1103" y="2582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u="none"/>
                <a:t>18</a:t>
              </a:r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2032" y="2564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u="none"/>
                <a:t>28</a:t>
              </a:r>
            </a:p>
          </p:txBody>
        </p:sp>
        <p:cxnSp>
          <p:nvCxnSpPr>
            <p:cNvPr id="1038" name="AutoShape 14"/>
            <p:cNvCxnSpPr>
              <a:cxnSpLocks noChangeShapeType="1"/>
              <a:stCxn id="1031" idx="3"/>
              <a:endCxn id="1036" idx="0"/>
            </p:cNvCxnSpPr>
            <p:nvPr/>
          </p:nvCxnSpPr>
          <p:spPr bwMode="auto">
            <a:xfrm flipH="1">
              <a:off x="1266" y="2177"/>
              <a:ext cx="402" cy="40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039" name="AutoShape 15"/>
            <p:cNvCxnSpPr>
              <a:cxnSpLocks noChangeShapeType="1"/>
              <a:stCxn id="1031" idx="5"/>
              <a:endCxn id="1037" idx="0"/>
            </p:cNvCxnSpPr>
            <p:nvPr/>
          </p:nvCxnSpPr>
          <p:spPr bwMode="auto">
            <a:xfrm>
              <a:off x="1897" y="2177"/>
              <a:ext cx="298" cy="38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6961188" y="3317875"/>
            <a:ext cx="1739900" cy="1163638"/>
            <a:chOff x="2612" y="2177"/>
            <a:chExt cx="1096" cy="733"/>
          </a:xfrm>
        </p:grpSpPr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2612" y="2566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u="none"/>
                <a:t>190</a:t>
              </a:r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3383" y="2575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u="none"/>
                <a:t>213</a:t>
              </a:r>
            </a:p>
          </p:txBody>
        </p:sp>
        <p:cxnSp>
          <p:nvCxnSpPr>
            <p:cNvPr id="1043" name="AutoShape 19"/>
            <p:cNvCxnSpPr>
              <a:cxnSpLocks noChangeShapeType="1"/>
              <a:stCxn id="1032" idx="3"/>
              <a:endCxn id="1041" idx="0"/>
            </p:cNvCxnSpPr>
            <p:nvPr/>
          </p:nvCxnSpPr>
          <p:spPr bwMode="auto">
            <a:xfrm flipH="1">
              <a:off x="2775" y="2177"/>
              <a:ext cx="251" cy="38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044" name="AutoShape 20"/>
            <p:cNvCxnSpPr>
              <a:cxnSpLocks noChangeShapeType="1"/>
              <a:stCxn id="1032" idx="5"/>
              <a:endCxn id="1042" idx="0"/>
            </p:cNvCxnSpPr>
            <p:nvPr/>
          </p:nvCxnSpPr>
          <p:spPr bwMode="auto">
            <a:xfrm>
              <a:off x="3255" y="2177"/>
              <a:ext cx="291" cy="39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4038600" y="4414838"/>
            <a:ext cx="1465263" cy="1223962"/>
            <a:chOff x="771" y="2868"/>
            <a:chExt cx="923" cy="771"/>
          </a:xfrm>
        </p:grpSpPr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771" y="3285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u="none"/>
                <a:t>12</a:t>
              </a:r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1369" y="3304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u="none"/>
                <a:t>24</a:t>
              </a:r>
            </a:p>
          </p:txBody>
        </p:sp>
        <p:cxnSp>
          <p:nvCxnSpPr>
            <p:cNvPr id="1048" name="AutoShape 24"/>
            <p:cNvCxnSpPr>
              <a:cxnSpLocks noChangeShapeType="1"/>
              <a:stCxn id="1036" idx="3"/>
              <a:endCxn id="1046" idx="0"/>
            </p:cNvCxnSpPr>
            <p:nvPr/>
          </p:nvCxnSpPr>
          <p:spPr bwMode="auto">
            <a:xfrm flipH="1">
              <a:off x="934" y="2868"/>
              <a:ext cx="217" cy="41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049" name="AutoShape 25"/>
            <p:cNvCxnSpPr>
              <a:cxnSpLocks noChangeShapeType="1"/>
              <a:stCxn id="1036" idx="5"/>
              <a:endCxn id="1047" idx="0"/>
            </p:cNvCxnSpPr>
            <p:nvPr/>
          </p:nvCxnSpPr>
          <p:spPr bwMode="auto">
            <a:xfrm>
              <a:off x="1380" y="2868"/>
              <a:ext cx="152" cy="43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5656263" y="4464050"/>
            <a:ext cx="642937" cy="1174750"/>
            <a:chOff x="1790" y="2899"/>
            <a:chExt cx="405" cy="740"/>
          </a:xfrm>
        </p:grpSpPr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1790" y="3304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u="none"/>
                <a:t>27</a:t>
              </a:r>
            </a:p>
          </p:txBody>
        </p:sp>
        <p:cxnSp>
          <p:nvCxnSpPr>
            <p:cNvPr id="1052" name="AutoShape 28"/>
            <p:cNvCxnSpPr>
              <a:cxnSpLocks noChangeShapeType="1"/>
              <a:stCxn id="1037" idx="4"/>
              <a:endCxn id="1051" idx="0"/>
            </p:cNvCxnSpPr>
            <p:nvPr/>
          </p:nvCxnSpPr>
          <p:spPr bwMode="auto">
            <a:xfrm flipH="1">
              <a:off x="1953" y="2899"/>
              <a:ext cx="242" cy="40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9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Inorder Traversal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2209800"/>
            <a:ext cx="5867400" cy="2590800"/>
          </a:xfrm>
          <a:solidFill>
            <a:srgbClr val="CCECFF"/>
          </a:solidFill>
          <a:ln>
            <a:solidFill>
              <a:schemeClr val="tx1"/>
            </a:solidFill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marL="609600" indent="-609600">
              <a:buFont typeface="Wingdings" pitchFamily="2" charset="2"/>
              <a:buNone/>
            </a:pPr>
            <a:r>
              <a:rPr lang="en-US" sz="2800" u="sng"/>
              <a:t>Inorder-Tree-Walk (</a:t>
            </a:r>
            <a:r>
              <a:rPr lang="en-US" sz="2800" i="1" u="sng"/>
              <a:t>x</a:t>
            </a:r>
            <a:r>
              <a:rPr lang="en-US" sz="2800" u="sng"/>
              <a:t>)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800"/>
              <a:t>1.  </a:t>
            </a:r>
            <a:r>
              <a:rPr lang="en-US" sz="2800" b="1"/>
              <a:t>if</a:t>
            </a:r>
            <a:r>
              <a:rPr lang="en-US" sz="2800"/>
              <a:t> </a:t>
            </a:r>
            <a:r>
              <a:rPr lang="en-US" sz="2800" i="1"/>
              <a:t>x </a:t>
            </a:r>
            <a:r>
              <a:rPr lang="en-US" sz="2800" i="1">
                <a:sym typeface="Symbol" pitchFamily="18" charset="2"/>
              </a:rPr>
              <a:t></a:t>
            </a:r>
            <a:r>
              <a:rPr lang="en-US" sz="2800" i="1"/>
              <a:t> </a:t>
            </a:r>
            <a:r>
              <a:rPr lang="en-US" sz="2800"/>
              <a:t>NIL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800"/>
              <a:t>2.     </a:t>
            </a:r>
            <a:r>
              <a:rPr lang="en-US" sz="2800" b="1"/>
              <a:t>then</a:t>
            </a:r>
            <a:r>
              <a:rPr lang="en-US" sz="2800"/>
              <a:t> Inorder-Tree-Walk(</a:t>
            </a:r>
            <a:r>
              <a:rPr lang="en-US" sz="2800" i="1"/>
              <a:t>left</a:t>
            </a:r>
            <a:r>
              <a:rPr lang="en-US" sz="2800"/>
              <a:t>[</a:t>
            </a:r>
            <a:r>
              <a:rPr lang="en-US" sz="2800" i="1"/>
              <a:t>p</a:t>
            </a:r>
            <a:r>
              <a:rPr lang="en-US" sz="2800"/>
              <a:t>])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800"/>
              <a:t>3.              print </a:t>
            </a:r>
            <a:r>
              <a:rPr lang="en-US" sz="2800" i="1"/>
              <a:t>key</a:t>
            </a:r>
            <a:r>
              <a:rPr lang="en-US" sz="2800"/>
              <a:t>[</a:t>
            </a:r>
            <a:r>
              <a:rPr lang="en-US" sz="2800" i="1"/>
              <a:t>x</a:t>
            </a:r>
            <a:r>
              <a:rPr lang="en-US" sz="2800"/>
              <a:t>]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800"/>
              <a:t>4.              Inorder-Tree-Walk(</a:t>
            </a:r>
            <a:r>
              <a:rPr lang="en-US" sz="2800" i="1"/>
              <a:t>right</a:t>
            </a:r>
            <a:r>
              <a:rPr lang="en-US" sz="2800"/>
              <a:t>[</a:t>
            </a:r>
            <a:r>
              <a:rPr lang="en-US" sz="2800" i="1"/>
              <a:t>p</a:t>
            </a:r>
            <a:r>
              <a:rPr lang="en-US" sz="2800"/>
              <a:t>])</a:t>
            </a: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228600" y="4953000"/>
            <a:ext cx="8301038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>
              <a:spcBef>
                <a:spcPct val="20000"/>
              </a:spcBef>
              <a:buFont typeface="Wingdings" pitchFamily="2" charset="2"/>
              <a:buChar char="w"/>
            </a:pPr>
            <a:r>
              <a:rPr lang="en-US" sz="3200" u="none"/>
              <a:t>How long does the walk take?</a:t>
            </a:r>
          </a:p>
          <a:p>
            <a:pPr marL="609600" indent="-609600">
              <a:spcBef>
                <a:spcPct val="20000"/>
              </a:spcBef>
              <a:buFont typeface="Wingdings" pitchFamily="2" charset="2"/>
              <a:buChar char="w"/>
            </a:pPr>
            <a:r>
              <a:rPr lang="en-US" sz="3200" u="none"/>
              <a:t>Can you prove its correctness?</a:t>
            </a:r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381000" y="1143000"/>
            <a:ext cx="8397875" cy="6463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u="none" dirty="0"/>
              <a:t>The binary-search-tree property allows the keys of a binary search tree to be printed, in (monotonically increasing) order,  recursively.</a:t>
            </a:r>
          </a:p>
        </p:txBody>
      </p:sp>
      <p:sp>
        <p:nvSpPr>
          <p:cNvPr id="7175" name="Oval 7"/>
          <p:cNvSpPr>
            <a:spLocks noChangeArrowheads="1"/>
          </p:cNvSpPr>
          <p:nvPr/>
        </p:nvSpPr>
        <p:spPr bwMode="auto">
          <a:xfrm>
            <a:off x="7637463" y="2895600"/>
            <a:ext cx="263525" cy="27305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sz="1200" u="none"/>
              <a:t>56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7065963" y="3127375"/>
            <a:ext cx="1368425" cy="446088"/>
            <a:chOff x="1620" y="1679"/>
            <a:chExt cx="1683" cy="547"/>
          </a:xfrm>
        </p:grpSpPr>
        <p:sp>
          <p:nvSpPr>
            <p:cNvPr id="7177" name="Oval 9"/>
            <p:cNvSpPr>
              <a:spLocks noChangeArrowheads="1"/>
            </p:cNvSpPr>
            <p:nvPr/>
          </p:nvSpPr>
          <p:spPr bwMode="auto">
            <a:xfrm>
              <a:off x="1620" y="1891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200" u="none"/>
                <a:t>26</a:t>
              </a:r>
            </a:p>
          </p:txBody>
        </p:sp>
        <p:sp>
          <p:nvSpPr>
            <p:cNvPr id="7178" name="Oval 10"/>
            <p:cNvSpPr>
              <a:spLocks noChangeArrowheads="1"/>
            </p:cNvSpPr>
            <p:nvPr/>
          </p:nvSpPr>
          <p:spPr bwMode="auto">
            <a:xfrm>
              <a:off x="2978" y="1891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200" u="none"/>
                <a:t>200</a:t>
              </a:r>
            </a:p>
          </p:txBody>
        </p:sp>
        <p:cxnSp>
          <p:nvCxnSpPr>
            <p:cNvPr id="7179" name="AutoShape 11"/>
            <p:cNvCxnSpPr>
              <a:cxnSpLocks noChangeShapeType="1"/>
              <a:stCxn id="7175" idx="5"/>
              <a:endCxn id="7178" idx="0"/>
            </p:cNvCxnSpPr>
            <p:nvPr/>
          </p:nvCxnSpPr>
          <p:spPr bwMode="auto">
            <a:xfrm>
              <a:off x="2600" y="1679"/>
              <a:ext cx="541" cy="21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180" name="AutoShape 12"/>
            <p:cNvCxnSpPr>
              <a:cxnSpLocks noChangeShapeType="1"/>
              <a:stCxn id="7175" idx="3"/>
              <a:endCxn id="7177" idx="0"/>
            </p:cNvCxnSpPr>
            <p:nvPr/>
          </p:nvCxnSpPr>
          <p:spPr bwMode="auto">
            <a:xfrm flipH="1">
              <a:off x="1783" y="1679"/>
              <a:ext cx="588" cy="21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6645275" y="3532188"/>
            <a:ext cx="1019175" cy="601662"/>
            <a:chOff x="1103" y="2177"/>
            <a:chExt cx="1254" cy="740"/>
          </a:xfrm>
        </p:grpSpPr>
        <p:sp>
          <p:nvSpPr>
            <p:cNvPr id="7182" name="Oval 14"/>
            <p:cNvSpPr>
              <a:spLocks noChangeArrowheads="1"/>
            </p:cNvSpPr>
            <p:nvPr/>
          </p:nvSpPr>
          <p:spPr bwMode="auto">
            <a:xfrm>
              <a:off x="1103" y="2582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200" u="none"/>
                <a:t>18</a:t>
              </a:r>
            </a:p>
          </p:txBody>
        </p:sp>
        <p:sp>
          <p:nvSpPr>
            <p:cNvPr id="7183" name="Oval 15"/>
            <p:cNvSpPr>
              <a:spLocks noChangeArrowheads="1"/>
            </p:cNvSpPr>
            <p:nvPr/>
          </p:nvSpPr>
          <p:spPr bwMode="auto">
            <a:xfrm>
              <a:off x="2032" y="2564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200" u="none"/>
                <a:t>28</a:t>
              </a:r>
            </a:p>
          </p:txBody>
        </p:sp>
        <p:cxnSp>
          <p:nvCxnSpPr>
            <p:cNvPr id="7184" name="AutoShape 16"/>
            <p:cNvCxnSpPr>
              <a:cxnSpLocks noChangeShapeType="1"/>
              <a:stCxn id="7177" idx="3"/>
              <a:endCxn id="7182" idx="0"/>
            </p:cNvCxnSpPr>
            <p:nvPr/>
          </p:nvCxnSpPr>
          <p:spPr bwMode="auto">
            <a:xfrm flipH="1">
              <a:off x="1266" y="2177"/>
              <a:ext cx="402" cy="40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185" name="AutoShape 17"/>
            <p:cNvCxnSpPr>
              <a:cxnSpLocks noChangeShapeType="1"/>
              <a:stCxn id="7177" idx="5"/>
              <a:endCxn id="7183" idx="0"/>
            </p:cNvCxnSpPr>
            <p:nvPr/>
          </p:nvCxnSpPr>
          <p:spPr bwMode="auto">
            <a:xfrm>
              <a:off x="1897" y="2177"/>
              <a:ext cx="298" cy="38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7872413" y="3532188"/>
            <a:ext cx="890587" cy="596900"/>
            <a:chOff x="2612" y="2177"/>
            <a:chExt cx="1096" cy="733"/>
          </a:xfrm>
        </p:grpSpPr>
        <p:sp>
          <p:nvSpPr>
            <p:cNvPr id="7187" name="Oval 19"/>
            <p:cNvSpPr>
              <a:spLocks noChangeArrowheads="1"/>
            </p:cNvSpPr>
            <p:nvPr/>
          </p:nvSpPr>
          <p:spPr bwMode="auto">
            <a:xfrm>
              <a:off x="2612" y="2566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200" u="none"/>
                <a:t>190</a:t>
              </a:r>
            </a:p>
          </p:txBody>
        </p:sp>
        <p:sp>
          <p:nvSpPr>
            <p:cNvPr id="7188" name="Oval 20"/>
            <p:cNvSpPr>
              <a:spLocks noChangeArrowheads="1"/>
            </p:cNvSpPr>
            <p:nvPr/>
          </p:nvSpPr>
          <p:spPr bwMode="auto">
            <a:xfrm>
              <a:off x="3383" y="2575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200" u="none"/>
                <a:t>213</a:t>
              </a:r>
            </a:p>
          </p:txBody>
        </p:sp>
        <p:cxnSp>
          <p:nvCxnSpPr>
            <p:cNvPr id="7189" name="AutoShape 21"/>
            <p:cNvCxnSpPr>
              <a:cxnSpLocks noChangeShapeType="1"/>
              <a:stCxn id="7178" idx="3"/>
              <a:endCxn id="7187" idx="0"/>
            </p:cNvCxnSpPr>
            <p:nvPr/>
          </p:nvCxnSpPr>
          <p:spPr bwMode="auto">
            <a:xfrm flipH="1">
              <a:off x="2775" y="2177"/>
              <a:ext cx="251" cy="38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190" name="AutoShape 22"/>
            <p:cNvCxnSpPr>
              <a:cxnSpLocks noChangeShapeType="1"/>
              <a:stCxn id="7178" idx="5"/>
              <a:endCxn id="7188" idx="0"/>
            </p:cNvCxnSpPr>
            <p:nvPr/>
          </p:nvCxnSpPr>
          <p:spPr bwMode="auto">
            <a:xfrm>
              <a:off x="3255" y="2177"/>
              <a:ext cx="291" cy="39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6375400" y="4094163"/>
            <a:ext cx="750888" cy="627062"/>
            <a:chOff x="771" y="2868"/>
            <a:chExt cx="923" cy="771"/>
          </a:xfrm>
        </p:grpSpPr>
        <p:sp>
          <p:nvSpPr>
            <p:cNvPr id="7192" name="Oval 24"/>
            <p:cNvSpPr>
              <a:spLocks noChangeArrowheads="1"/>
            </p:cNvSpPr>
            <p:nvPr/>
          </p:nvSpPr>
          <p:spPr bwMode="auto">
            <a:xfrm>
              <a:off x="771" y="3285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200" u="none"/>
                <a:t>12</a:t>
              </a:r>
            </a:p>
          </p:txBody>
        </p:sp>
        <p:sp>
          <p:nvSpPr>
            <p:cNvPr id="7193" name="Oval 25"/>
            <p:cNvSpPr>
              <a:spLocks noChangeArrowheads="1"/>
            </p:cNvSpPr>
            <p:nvPr/>
          </p:nvSpPr>
          <p:spPr bwMode="auto">
            <a:xfrm>
              <a:off x="1369" y="3304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200" u="none"/>
                <a:t>24</a:t>
              </a:r>
            </a:p>
          </p:txBody>
        </p:sp>
        <p:cxnSp>
          <p:nvCxnSpPr>
            <p:cNvPr id="7194" name="AutoShape 26"/>
            <p:cNvCxnSpPr>
              <a:cxnSpLocks noChangeShapeType="1"/>
              <a:stCxn id="7182" idx="3"/>
              <a:endCxn id="7192" idx="0"/>
            </p:cNvCxnSpPr>
            <p:nvPr/>
          </p:nvCxnSpPr>
          <p:spPr bwMode="auto">
            <a:xfrm flipH="1">
              <a:off x="934" y="2868"/>
              <a:ext cx="217" cy="41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195" name="AutoShape 27"/>
            <p:cNvCxnSpPr>
              <a:cxnSpLocks noChangeShapeType="1"/>
              <a:stCxn id="7182" idx="5"/>
              <a:endCxn id="7193" idx="0"/>
            </p:cNvCxnSpPr>
            <p:nvPr/>
          </p:nvCxnSpPr>
          <p:spPr bwMode="auto">
            <a:xfrm>
              <a:off x="1380" y="2868"/>
              <a:ext cx="152" cy="43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7204075" y="4119563"/>
            <a:ext cx="328613" cy="601662"/>
            <a:chOff x="1790" y="2899"/>
            <a:chExt cx="405" cy="740"/>
          </a:xfrm>
        </p:grpSpPr>
        <p:sp>
          <p:nvSpPr>
            <p:cNvPr id="7197" name="Oval 29"/>
            <p:cNvSpPr>
              <a:spLocks noChangeArrowheads="1"/>
            </p:cNvSpPr>
            <p:nvPr/>
          </p:nvSpPr>
          <p:spPr bwMode="auto">
            <a:xfrm>
              <a:off x="1790" y="3304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200" u="none"/>
                <a:t>27</a:t>
              </a:r>
            </a:p>
          </p:txBody>
        </p:sp>
        <p:cxnSp>
          <p:nvCxnSpPr>
            <p:cNvPr id="7198" name="AutoShape 30"/>
            <p:cNvCxnSpPr>
              <a:cxnSpLocks noChangeShapeType="1"/>
              <a:stCxn id="7183" idx="4"/>
              <a:endCxn id="7197" idx="0"/>
            </p:cNvCxnSpPr>
            <p:nvPr/>
          </p:nvCxnSpPr>
          <p:spPr bwMode="auto">
            <a:xfrm flipH="1">
              <a:off x="1953" y="2899"/>
              <a:ext cx="242" cy="40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5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Correctness of Inorder-Walk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534400" cy="5334000"/>
          </a:xfrm>
        </p:spPr>
        <p:txBody>
          <a:bodyPr/>
          <a:lstStyle/>
          <a:p>
            <a:r>
              <a:rPr lang="en-US"/>
              <a:t>Must prove that it prints all elements, in order, and that it terminates.</a:t>
            </a:r>
          </a:p>
          <a:p>
            <a:r>
              <a:rPr lang="en-US"/>
              <a:t>By </a:t>
            </a:r>
            <a:r>
              <a:rPr lang="en-US">
                <a:solidFill>
                  <a:srgbClr val="CC3300"/>
                </a:solidFill>
              </a:rPr>
              <a:t>induction on size of tree</a:t>
            </a:r>
            <a:r>
              <a:rPr lang="en-US"/>
              <a:t>.  </a:t>
            </a:r>
            <a:r>
              <a:rPr lang="en-US">
                <a:solidFill>
                  <a:schemeClr val="hlink"/>
                </a:solidFill>
              </a:rPr>
              <a:t>Size=0:</a:t>
            </a:r>
            <a:r>
              <a:rPr lang="en-US"/>
              <a:t> Easy.</a:t>
            </a:r>
          </a:p>
          <a:p>
            <a:r>
              <a:rPr lang="en-US">
                <a:solidFill>
                  <a:schemeClr val="hlink"/>
                </a:solidFill>
              </a:rPr>
              <a:t>Size &gt;1:</a:t>
            </a:r>
          </a:p>
          <a:p>
            <a:pPr lvl="1"/>
            <a:r>
              <a:rPr lang="en-US"/>
              <a:t>Prints left subtree in order by induction.</a:t>
            </a:r>
          </a:p>
          <a:p>
            <a:pPr lvl="1"/>
            <a:r>
              <a:rPr lang="en-US"/>
              <a:t>Prints root, which comes after all elements in left subtree (still in order).</a:t>
            </a:r>
          </a:p>
          <a:p>
            <a:pPr lvl="1"/>
            <a:r>
              <a:rPr lang="en-US"/>
              <a:t>Prints right subtree in order (all elements come after root, so still in order).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 bldLvl="2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Querying a Binary Search Tree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1066800"/>
            <a:ext cx="8369300" cy="5105400"/>
          </a:xfrm>
        </p:spPr>
        <p:txBody>
          <a:bodyPr/>
          <a:lstStyle/>
          <a:p>
            <a:r>
              <a:rPr lang="en-US" sz="2800" dirty="0"/>
              <a:t>All dynamic-set search operations can be supported in </a:t>
            </a:r>
            <a:r>
              <a:rPr lang="en-US" sz="2800" i="1" dirty="0"/>
              <a:t>O</a:t>
            </a:r>
            <a:r>
              <a:rPr lang="en-US" sz="2800" dirty="0"/>
              <a:t>(</a:t>
            </a:r>
            <a:r>
              <a:rPr lang="en-US" sz="2800" i="1" dirty="0"/>
              <a:t>h</a:t>
            </a:r>
            <a:r>
              <a:rPr lang="en-US" sz="2800" dirty="0"/>
              <a:t>) time.</a:t>
            </a:r>
          </a:p>
          <a:p>
            <a:r>
              <a:rPr lang="en-US" sz="2800" i="1" dirty="0"/>
              <a:t>h</a:t>
            </a:r>
            <a:r>
              <a:rPr lang="en-US" sz="2800" dirty="0"/>
              <a:t> = </a:t>
            </a:r>
            <a:r>
              <a:rPr lang="en-US" sz="2800" dirty="0">
                <a:sym typeface="Symbol" pitchFamily="18" charset="2"/>
              </a:rPr>
              <a:t>(</a:t>
            </a:r>
            <a:r>
              <a:rPr lang="en-US" sz="2800" i="1" dirty="0" err="1"/>
              <a:t>lg</a:t>
            </a:r>
            <a:r>
              <a:rPr lang="en-US" sz="2800" i="1" dirty="0"/>
              <a:t> n</a:t>
            </a:r>
            <a:r>
              <a:rPr lang="en-US" sz="2800" dirty="0"/>
              <a:t>) for a balanced binary tree (and for an average tree built by adding nodes in random order.)</a:t>
            </a:r>
          </a:p>
          <a:p>
            <a:r>
              <a:rPr lang="en-US" sz="2800" i="1" dirty="0"/>
              <a:t>h =</a:t>
            </a:r>
            <a:r>
              <a:rPr lang="en-US" sz="2800" dirty="0"/>
              <a:t> </a:t>
            </a:r>
            <a:r>
              <a:rPr lang="en-US" sz="2800" dirty="0">
                <a:sym typeface="Symbol" pitchFamily="18" charset="2"/>
              </a:rPr>
              <a:t>(</a:t>
            </a:r>
            <a:r>
              <a:rPr lang="en-US" sz="2800" i="1" dirty="0"/>
              <a:t>n</a:t>
            </a:r>
            <a:r>
              <a:rPr lang="en-US" sz="2800" dirty="0"/>
              <a:t>) for an unbalanced tree that resembles a linear chain of </a:t>
            </a:r>
            <a:r>
              <a:rPr lang="en-US" sz="2800" i="1" dirty="0"/>
              <a:t>n</a:t>
            </a:r>
            <a:r>
              <a:rPr lang="en-US" sz="2800" dirty="0"/>
              <a:t> nodes in the worst case.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Tree Search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6096000" cy="3276600"/>
          </a:xfrm>
          <a:solidFill>
            <a:srgbClr val="CCECFF"/>
          </a:solidFill>
          <a:ln>
            <a:solidFill>
              <a:schemeClr val="tx1"/>
            </a:solidFill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800" u="sng"/>
              <a:t>Tree-Search(</a:t>
            </a:r>
            <a:r>
              <a:rPr lang="en-US" sz="2800" i="1" u="sng"/>
              <a:t>x</a:t>
            </a:r>
            <a:r>
              <a:rPr lang="en-US" sz="2800" u="sng"/>
              <a:t>, </a:t>
            </a:r>
            <a:r>
              <a:rPr lang="en-US" sz="2800" i="1" u="sng"/>
              <a:t>k</a:t>
            </a:r>
            <a:r>
              <a:rPr lang="en-US" sz="2800" u="sng"/>
              <a:t>)</a:t>
            </a:r>
          </a:p>
          <a:p>
            <a:pPr>
              <a:buFont typeface="Wingdings" pitchFamily="2" charset="2"/>
              <a:buNone/>
            </a:pPr>
            <a:r>
              <a:rPr lang="en-US" sz="2800"/>
              <a:t>1.  </a:t>
            </a:r>
            <a:r>
              <a:rPr lang="en-US" sz="2800" b="1"/>
              <a:t>if</a:t>
            </a:r>
            <a:r>
              <a:rPr lang="en-US" sz="2800"/>
              <a:t> </a:t>
            </a:r>
            <a:r>
              <a:rPr lang="en-US" sz="2800" i="1"/>
              <a:t>x </a:t>
            </a:r>
            <a:r>
              <a:rPr lang="en-US" sz="2800" i="1">
                <a:sym typeface="Symbol" pitchFamily="18" charset="2"/>
              </a:rPr>
              <a:t>=</a:t>
            </a:r>
            <a:r>
              <a:rPr lang="en-US" sz="2800" i="1"/>
              <a:t> </a:t>
            </a:r>
            <a:r>
              <a:rPr lang="en-US" sz="2800"/>
              <a:t>NIL</a:t>
            </a:r>
            <a:r>
              <a:rPr lang="en-US" sz="2800" i="1"/>
              <a:t> or k = key</a:t>
            </a:r>
            <a:r>
              <a:rPr lang="en-US" sz="2800"/>
              <a:t>[</a:t>
            </a:r>
            <a:r>
              <a:rPr lang="en-US" sz="2800" i="1"/>
              <a:t>x</a:t>
            </a:r>
            <a:r>
              <a:rPr lang="en-US" sz="2800"/>
              <a:t>]</a:t>
            </a:r>
          </a:p>
          <a:p>
            <a:pPr>
              <a:buFont typeface="Wingdings" pitchFamily="2" charset="2"/>
              <a:buNone/>
            </a:pPr>
            <a:r>
              <a:rPr lang="en-US" sz="2800"/>
              <a:t>2.     </a:t>
            </a:r>
            <a:r>
              <a:rPr lang="en-US" sz="2800" b="1"/>
              <a:t>then</a:t>
            </a:r>
            <a:r>
              <a:rPr lang="en-US" sz="2800"/>
              <a:t> return </a:t>
            </a:r>
            <a:r>
              <a:rPr lang="en-US" sz="2800" i="1"/>
              <a:t>x</a:t>
            </a:r>
            <a:r>
              <a:rPr lang="en-US" sz="2800"/>
              <a:t> </a:t>
            </a:r>
          </a:p>
          <a:p>
            <a:pPr>
              <a:buFont typeface="Wingdings" pitchFamily="2" charset="2"/>
              <a:buNone/>
            </a:pPr>
            <a:r>
              <a:rPr lang="en-US" sz="2800"/>
              <a:t>3.  </a:t>
            </a:r>
            <a:r>
              <a:rPr lang="en-US" sz="2800" b="1"/>
              <a:t>if</a:t>
            </a:r>
            <a:r>
              <a:rPr lang="en-US" sz="2800"/>
              <a:t> </a:t>
            </a:r>
            <a:r>
              <a:rPr lang="en-US" sz="2800" i="1"/>
              <a:t>k &lt;</a:t>
            </a:r>
            <a:r>
              <a:rPr lang="en-US" sz="2800"/>
              <a:t> </a:t>
            </a:r>
            <a:r>
              <a:rPr lang="en-US" sz="2800" i="1"/>
              <a:t>key</a:t>
            </a:r>
            <a:r>
              <a:rPr lang="en-US" sz="2800"/>
              <a:t>[</a:t>
            </a:r>
            <a:r>
              <a:rPr lang="en-US" sz="2800" i="1"/>
              <a:t>x</a:t>
            </a:r>
            <a:r>
              <a:rPr lang="en-US" sz="2800"/>
              <a:t>]</a:t>
            </a:r>
          </a:p>
          <a:p>
            <a:pPr>
              <a:buFont typeface="Wingdings" pitchFamily="2" charset="2"/>
              <a:buNone/>
            </a:pPr>
            <a:r>
              <a:rPr lang="en-US" sz="2800"/>
              <a:t>4.     </a:t>
            </a:r>
            <a:r>
              <a:rPr lang="en-US" sz="2800" b="1"/>
              <a:t>then</a:t>
            </a:r>
            <a:r>
              <a:rPr lang="en-US" sz="2800"/>
              <a:t> return Tree-Search(</a:t>
            </a:r>
            <a:r>
              <a:rPr lang="en-US" sz="2800" i="1"/>
              <a:t>left</a:t>
            </a:r>
            <a:r>
              <a:rPr lang="en-US" sz="2800"/>
              <a:t>[</a:t>
            </a:r>
            <a:r>
              <a:rPr lang="en-US" sz="2800" i="1"/>
              <a:t>x</a:t>
            </a:r>
            <a:r>
              <a:rPr lang="en-US" sz="2800"/>
              <a:t>], </a:t>
            </a:r>
            <a:r>
              <a:rPr lang="en-US" sz="2800" i="1"/>
              <a:t>k</a:t>
            </a:r>
            <a:r>
              <a:rPr lang="en-US" sz="2800"/>
              <a:t>)</a:t>
            </a:r>
          </a:p>
          <a:p>
            <a:pPr>
              <a:buFont typeface="Wingdings" pitchFamily="2" charset="2"/>
              <a:buNone/>
            </a:pPr>
            <a:r>
              <a:rPr lang="en-US" sz="2800"/>
              <a:t>5.     </a:t>
            </a:r>
            <a:r>
              <a:rPr lang="en-US" sz="2800" b="1"/>
              <a:t>else</a:t>
            </a:r>
            <a:r>
              <a:rPr lang="en-US" sz="2800"/>
              <a:t> return Tree-Search(</a:t>
            </a:r>
            <a:r>
              <a:rPr lang="en-US" sz="2800" i="1"/>
              <a:t>right</a:t>
            </a:r>
            <a:r>
              <a:rPr lang="en-US" sz="2800"/>
              <a:t>[</a:t>
            </a:r>
            <a:r>
              <a:rPr lang="en-US" sz="2800" i="1"/>
              <a:t>x</a:t>
            </a:r>
            <a:r>
              <a:rPr lang="en-US" sz="2800"/>
              <a:t>], </a:t>
            </a:r>
            <a:r>
              <a:rPr lang="en-US" sz="2800" i="1"/>
              <a:t>k</a:t>
            </a:r>
            <a:r>
              <a:rPr lang="en-US" sz="2800"/>
              <a:t>)</a:t>
            </a:r>
          </a:p>
          <a:p>
            <a:pPr>
              <a:buFont typeface="Wingdings" pitchFamily="2" charset="2"/>
              <a:buNone/>
            </a:pPr>
            <a:endParaRPr lang="en-US" sz="2800"/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304800" y="4953000"/>
            <a:ext cx="2089418" cy="92333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b="1" u="none"/>
              <a:t>Running time: </a:t>
            </a:r>
            <a:r>
              <a:rPr lang="en-US" b="1" i="1" u="none"/>
              <a:t>O</a:t>
            </a:r>
            <a:r>
              <a:rPr lang="en-US" b="1" u="none"/>
              <a:t>(</a:t>
            </a:r>
            <a:r>
              <a:rPr lang="en-US" b="1" i="1" u="none"/>
              <a:t>h</a:t>
            </a:r>
            <a:r>
              <a:rPr lang="en-US" b="1" u="none"/>
              <a:t>)</a:t>
            </a:r>
          </a:p>
          <a:p>
            <a:endParaRPr lang="en-US" b="1" u="none"/>
          </a:p>
          <a:p>
            <a:r>
              <a:rPr lang="en-US" b="1" u="none"/>
              <a:t>Aside: tail-recursion</a:t>
            </a:r>
            <a:endParaRPr lang="en-US" u="none"/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5715000" y="3505200"/>
            <a:ext cx="3124200" cy="2667000"/>
            <a:chOff x="4016" y="2738"/>
            <a:chExt cx="1504" cy="1150"/>
          </a:xfrm>
        </p:grpSpPr>
        <p:sp>
          <p:nvSpPr>
            <p:cNvPr id="11269" name="Oval 5"/>
            <p:cNvSpPr>
              <a:spLocks noChangeArrowheads="1"/>
            </p:cNvSpPr>
            <p:nvPr/>
          </p:nvSpPr>
          <p:spPr bwMode="auto">
            <a:xfrm>
              <a:off x="4811" y="2738"/>
              <a:ext cx="166" cy="172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u="none"/>
                <a:t>56</a:t>
              </a:r>
            </a:p>
          </p:txBody>
        </p:sp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4451" y="2884"/>
              <a:ext cx="862" cy="281"/>
              <a:chOff x="1620" y="1679"/>
              <a:chExt cx="1683" cy="547"/>
            </a:xfrm>
          </p:grpSpPr>
          <p:sp>
            <p:nvSpPr>
              <p:cNvPr id="11271" name="Oval 7"/>
              <p:cNvSpPr>
                <a:spLocks noChangeArrowheads="1"/>
              </p:cNvSpPr>
              <p:nvPr/>
            </p:nvSpPr>
            <p:spPr bwMode="auto">
              <a:xfrm>
                <a:off x="1620" y="1891"/>
                <a:ext cx="325" cy="335"/>
              </a:xfrm>
              <a:prstGeom prst="ellipse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u="none"/>
                  <a:t>26</a:t>
                </a:r>
              </a:p>
            </p:txBody>
          </p:sp>
          <p:sp>
            <p:nvSpPr>
              <p:cNvPr id="11272" name="Oval 8"/>
              <p:cNvSpPr>
                <a:spLocks noChangeArrowheads="1"/>
              </p:cNvSpPr>
              <p:nvPr/>
            </p:nvSpPr>
            <p:spPr bwMode="auto">
              <a:xfrm>
                <a:off x="2978" y="1891"/>
                <a:ext cx="325" cy="335"/>
              </a:xfrm>
              <a:prstGeom prst="ellipse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u="none"/>
                  <a:t>200</a:t>
                </a:r>
              </a:p>
            </p:txBody>
          </p:sp>
          <p:cxnSp>
            <p:nvCxnSpPr>
              <p:cNvPr id="11273" name="AutoShape 9"/>
              <p:cNvCxnSpPr>
                <a:cxnSpLocks noChangeShapeType="1"/>
                <a:stCxn id="11269" idx="5"/>
                <a:endCxn id="11272" idx="0"/>
              </p:cNvCxnSpPr>
              <p:nvPr/>
            </p:nvCxnSpPr>
            <p:spPr bwMode="auto">
              <a:xfrm>
                <a:off x="2600" y="1679"/>
                <a:ext cx="541" cy="212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1274" name="AutoShape 10"/>
              <p:cNvCxnSpPr>
                <a:cxnSpLocks noChangeShapeType="1"/>
                <a:stCxn id="11269" idx="3"/>
                <a:endCxn id="11271" idx="0"/>
              </p:cNvCxnSpPr>
              <p:nvPr/>
            </p:nvCxnSpPr>
            <p:spPr bwMode="auto">
              <a:xfrm flipH="1">
                <a:off x="1783" y="1679"/>
                <a:ext cx="588" cy="212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4" name="Group 11"/>
            <p:cNvGrpSpPr>
              <a:grpSpLocks/>
            </p:cNvGrpSpPr>
            <p:nvPr/>
          </p:nvGrpSpPr>
          <p:grpSpPr bwMode="auto">
            <a:xfrm>
              <a:off x="4186" y="3139"/>
              <a:ext cx="642" cy="379"/>
              <a:chOff x="1103" y="2177"/>
              <a:chExt cx="1254" cy="740"/>
            </a:xfrm>
          </p:grpSpPr>
          <p:sp>
            <p:nvSpPr>
              <p:cNvPr id="11276" name="Oval 12"/>
              <p:cNvSpPr>
                <a:spLocks noChangeArrowheads="1"/>
              </p:cNvSpPr>
              <p:nvPr/>
            </p:nvSpPr>
            <p:spPr bwMode="auto">
              <a:xfrm>
                <a:off x="1103" y="2582"/>
                <a:ext cx="325" cy="335"/>
              </a:xfrm>
              <a:prstGeom prst="ellipse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u="none"/>
                  <a:t>18</a:t>
                </a:r>
              </a:p>
            </p:txBody>
          </p:sp>
          <p:sp>
            <p:nvSpPr>
              <p:cNvPr id="11277" name="Oval 13"/>
              <p:cNvSpPr>
                <a:spLocks noChangeArrowheads="1"/>
              </p:cNvSpPr>
              <p:nvPr/>
            </p:nvSpPr>
            <p:spPr bwMode="auto">
              <a:xfrm>
                <a:off x="2032" y="2564"/>
                <a:ext cx="325" cy="335"/>
              </a:xfrm>
              <a:prstGeom prst="ellipse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u="none"/>
                  <a:t>28</a:t>
                </a:r>
              </a:p>
            </p:txBody>
          </p:sp>
          <p:cxnSp>
            <p:nvCxnSpPr>
              <p:cNvPr id="11278" name="AutoShape 14"/>
              <p:cNvCxnSpPr>
                <a:cxnSpLocks noChangeShapeType="1"/>
                <a:stCxn id="11271" idx="3"/>
                <a:endCxn id="11276" idx="0"/>
              </p:cNvCxnSpPr>
              <p:nvPr/>
            </p:nvCxnSpPr>
            <p:spPr bwMode="auto">
              <a:xfrm flipH="1">
                <a:off x="1266" y="2177"/>
                <a:ext cx="402" cy="40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1279" name="AutoShape 15"/>
              <p:cNvCxnSpPr>
                <a:cxnSpLocks noChangeShapeType="1"/>
                <a:stCxn id="11271" idx="5"/>
                <a:endCxn id="11277" idx="0"/>
              </p:cNvCxnSpPr>
              <p:nvPr/>
            </p:nvCxnSpPr>
            <p:spPr bwMode="auto">
              <a:xfrm>
                <a:off x="1897" y="2177"/>
                <a:ext cx="298" cy="387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5" name="Group 16"/>
            <p:cNvGrpSpPr>
              <a:grpSpLocks/>
            </p:cNvGrpSpPr>
            <p:nvPr/>
          </p:nvGrpSpPr>
          <p:grpSpPr bwMode="auto">
            <a:xfrm>
              <a:off x="4959" y="3139"/>
              <a:ext cx="561" cy="376"/>
              <a:chOff x="2612" y="2177"/>
              <a:chExt cx="1096" cy="733"/>
            </a:xfrm>
          </p:grpSpPr>
          <p:sp>
            <p:nvSpPr>
              <p:cNvPr id="11281" name="Oval 17"/>
              <p:cNvSpPr>
                <a:spLocks noChangeArrowheads="1"/>
              </p:cNvSpPr>
              <p:nvPr/>
            </p:nvSpPr>
            <p:spPr bwMode="auto">
              <a:xfrm>
                <a:off x="2612" y="2566"/>
                <a:ext cx="325" cy="335"/>
              </a:xfrm>
              <a:prstGeom prst="ellipse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u="none"/>
                  <a:t>190</a:t>
                </a:r>
              </a:p>
            </p:txBody>
          </p:sp>
          <p:sp>
            <p:nvSpPr>
              <p:cNvPr id="11282" name="Oval 18"/>
              <p:cNvSpPr>
                <a:spLocks noChangeArrowheads="1"/>
              </p:cNvSpPr>
              <p:nvPr/>
            </p:nvSpPr>
            <p:spPr bwMode="auto">
              <a:xfrm>
                <a:off x="3383" y="2575"/>
                <a:ext cx="325" cy="335"/>
              </a:xfrm>
              <a:prstGeom prst="ellipse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u="none"/>
                  <a:t>213</a:t>
                </a:r>
              </a:p>
            </p:txBody>
          </p:sp>
          <p:cxnSp>
            <p:nvCxnSpPr>
              <p:cNvPr id="11283" name="AutoShape 19"/>
              <p:cNvCxnSpPr>
                <a:cxnSpLocks noChangeShapeType="1"/>
                <a:stCxn id="11272" idx="3"/>
                <a:endCxn id="11281" idx="0"/>
              </p:cNvCxnSpPr>
              <p:nvPr/>
            </p:nvCxnSpPr>
            <p:spPr bwMode="auto">
              <a:xfrm flipH="1">
                <a:off x="2775" y="2177"/>
                <a:ext cx="251" cy="389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1284" name="AutoShape 20"/>
              <p:cNvCxnSpPr>
                <a:cxnSpLocks noChangeShapeType="1"/>
                <a:stCxn id="11272" idx="5"/>
                <a:endCxn id="11282" idx="0"/>
              </p:cNvCxnSpPr>
              <p:nvPr/>
            </p:nvCxnSpPr>
            <p:spPr bwMode="auto">
              <a:xfrm>
                <a:off x="3255" y="2177"/>
                <a:ext cx="291" cy="39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6" name="Group 21"/>
            <p:cNvGrpSpPr>
              <a:grpSpLocks/>
            </p:cNvGrpSpPr>
            <p:nvPr/>
          </p:nvGrpSpPr>
          <p:grpSpPr bwMode="auto">
            <a:xfrm>
              <a:off x="4016" y="3493"/>
              <a:ext cx="473" cy="395"/>
              <a:chOff x="771" y="2868"/>
              <a:chExt cx="923" cy="771"/>
            </a:xfrm>
          </p:grpSpPr>
          <p:sp>
            <p:nvSpPr>
              <p:cNvPr id="11286" name="Oval 22"/>
              <p:cNvSpPr>
                <a:spLocks noChangeArrowheads="1"/>
              </p:cNvSpPr>
              <p:nvPr/>
            </p:nvSpPr>
            <p:spPr bwMode="auto">
              <a:xfrm>
                <a:off x="771" y="3285"/>
                <a:ext cx="325" cy="335"/>
              </a:xfrm>
              <a:prstGeom prst="ellipse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u="none"/>
                  <a:t>12</a:t>
                </a:r>
              </a:p>
            </p:txBody>
          </p:sp>
          <p:sp>
            <p:nvSpPr>
              <p:cNvPr id="11287" name="Oval 23"/>
              <p:cNvSpPr>
                <a:spLocks noChangeArrowheads="1"/>
              </p:cNvSpPr>
              <p:nvPr/>
            </p:nvSpPr>
            <p:spPr bwMode="auto">
              <a:xfrm>
                <a:off x="1369" y="3304"/>
                <a:ext cx="325" cy="335"/>
              </a:xfrm>
              <a:prstGeom prst="ellipse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u="none"/>
                  <a:t>24</a:t>
                </a:r>
              </a:p>
            </p:txBody>
          </p:sp>
          <p:cxnSp>
            <p:nvCxnSpPr>
              <p:cNvPr id="11288" name="AutoShape 24"/>
              <p:cNvCxnSpPr>
                <a:cxnSpLocks noChangeShapeType="1"/>
                <a:stCxn id="11276" idx="3"/>
                <a:endCxn id="11286" idx="0"/>
              </p:cNvCxnSpPr>
              <p:nvPr/>
            </p:nvCxnSpPr>
            <p:spPr bwMode="auto">
              <a:xfrm flipH="1">
                <a:off x="934" y="2868"/>
                <a:ext cx="217" cy="417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1289" name="AutoShape 25"/>
              <p:cNvCxnSpPr>
                <a:cxnSpLocks noChangeShapeType="1"/>
                <a:stCxn id="11276" idx="5"/>
                <a:endCxn id="11287" idx="0"/>
              </p:cNvCxnSpPr>
              <p:nvPr/>
            </p:nvCxnSpPr>
            <p:spPr bwMode="auto">
              <a:xfrm>
                <a:off x="1380" y="2868"/>
                <a:ext cx="152" cy="436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7" name="Group 26"/>
            <p:cNvGrpSpPr>
              <a:grpSpLocks/>
            </p:cNvGrpSpPr>
            <p:nvPr/>
          </p:nvGrpSpPr>
          <p:grpSpPr bwMode="auto">
            <a:xfrm>
              <a:off x="4538" y="3509"/>
              <a:ext cx="207" cy="379"/>
              <a:chOff x="1790" y="2899"/>
              <a:chExt cx="405" cy="740"/>
            </a:xfrm>
          </p:grpSpPr>
          <p:sp>
            <p:nvSpPr>
              <p:cNvPr id="11291" name="Oval 27"/>
              <p:cNvSpPr>
                <a:spLocks noChangeArrowheads="1"/>
              </p:cNvSpPr>
              <p:nvPr/>
            </p:nvSpPr>
            <p:spPr bwMode="auto">
              <a:xfrm>
                <a:off x="1790" y="3304"/>
                <a:ext cx="325" cy="335"/>
              </a:xfrm>
              <a:prstGeom prst="ellipse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u="none"/>
                  <a:t>27</a:t>
                </a:r>
              </a:p>
            </p:txBody>
          </p:sp>
          <p:cxnSp>
            <p:nvCxnSpPr>
              <p:cNvPr id="11292" name="AutoShape 28"/>
              <p:cNvCxnSpPr>
                <a:cxnSpLocks noChangeShapeType="1"/>
                <a:stCxn id="11277" idx="4"/>
                <a:endCxn id="11291" idx="0"/>
              </p:cNvCxnSpPr>
              <p:nvPr/>
            </p:nvCxnSpPr>
            <p:spPr bwMode="auto">
              <a:xfrm flipH="1">
                <a:off x="1953" y="2899"/>
                <a:ext cx="242" cy="40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Predecessor and Successor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763000" cy="5334000"/>
          </a:xfrm>
        </p:spPr>
        <p:txBody>
          <a:bodyPr/>
          <a:lstStyle/>
          <a:p>
            <a:r>
              <a:rPr lang="en-US" sz="2800" dirty="0"/>
              <a:t>Successor of node </a:t>
            </a:r>
            <a:r>
              <a:rPr lang="en-US" sz="2800" i="1" dirty="0"/>
              <a:t>x</a:t>
            </a:r>
            <a:r>
              <a:rPr lang="en-US" sz="2800" dirty="0"/>
              <a:t> is the node </a:t>
            </a:r>
            <a:r>
              <a:rPr lang="en-US" sz="2800" i="1" dirty="0"/>
              <a:t>y</a:t>
            </a:r>
            <a:r>
              <a:rPr lang="en-US" sz="2800" dirty="0"/>
              <a:t> such that </a:t>
            </a:r>
            <a:r>
              <a:rPr lang="en-US" sz="2800" i="1" dirty="0"/>
              <a:t>key</a:t>
            </a:r>
            <a:r>
              <a:rPr lang="en-US" sz="2800" dirty="0"/>
              <a:t>[</a:t>
            </a:r>
            <a:r>
              <a:rPr lang="en-US" sz="2800" i="1" dirty="0"/>
              <a:t>y</a:t>
            </a:r>
            <a:r>
              <a:rPr lang="en-US" sz="2800" dirty="0"/>
              <a:t>] is the smallest key greater than </a:t>
            </a:r>
            <a:r>
              <a:rPr lang="en-US" sz="2800" i="1" dirty="0"/>
              <a:t>key</a:t>
            </a:r>
            <a:r>
              <a:rPr lang="en-US" sz="2800" dirty="0"/>
              <a:t>[</a:t>
            </a:r>
            <a:r>
              <a:rPr lang="en-US" sz="2800" i="1" dirty="0"/>
              <a:t>x</a:t>
            </a:r>
            <a:r>
              <a:rPr lang="en-US" sz="2800" dirty="0"/>
              <a:t>].</a:t>
            </a:r>
          </a:p>
          <a:p>
            <a:r>
              <a:rPr lang="en-US" sz="2800" dirty="0"/>
              <a:t>The successor of the largest key is NIL.</a:t>
            </a:r>
          </a:p>
          <a:p>
            <a:r>
              <a:rPr lang="en-US" sz="2800" dirty="0"/>
              <a:t>Search consists of two cases.</a:t>
            </a:r>
          </a:p>
          <a:p>
            <a:pPr lvl="1"/>
            <a:r>
              <a:rPr lang="en-US" sz="2400" dirty="0"/>
              <a:t>If node </a:t>
            </a:r>
            <a:r>
              <a:rPr lang="en-US" sz="2400" i="1" dirty="0"/>
              <a:t>x</a:t>
            </a:r>
            <a:r>
              <a:rPr lang="en-US" sz="2400" dirty="0"/>
              <a:t> has a non-empty right </a:t>
            </a:r>
            <a:r>
              <a:rPr lang="en-US" sz="2400" dirty="0" err="1"/>
              <a:t>subtree</a:t>
            </a:r>
            <a:r>
              <a:rPr lang="en-US" sz="2400" dirty="0"/>
              <a:t>, then </a:t>
            </a:r>
            <a:r>
              <a:rPr lang="en-US" sz="2400" i="1" dirty="0" err="1"/>
              <a:t>x</a:t>
            </a:r>
            <a:r>
              <a:rPr lang="en-US" sz="2400" dirty="0" err="1"/>
              <a:t>’s</a:t>
            </a:r>
            <a:r>
              <a:rPr lang="en-US" sz="2400" dirty="0"/>
              <a:t> successor is the minimum in the right </a:t>
            </a:r>
            <a:r>
              <a:rPr lang="en-US" sz="2400" dirty="0" err="1"/>
              <a:t>subtree</a:t>
            </a:r>
            <a:r>
              <a:rPr lang="en-US" sz="2400" dirty="0"/>
              <a:t> of </a:t>
            </a:r>
            <a:r>
              <a:rPr lang="en-US" sz="2400" i="1" dirty="0"/>
              <a:t>x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If node </a:t>
            </a:r>
            <a:r>
              <a:rPr lang="en-US" sz="2400" i="1" dirty="0"/>
              <a:t>x</a:t>
            </a:r>
            <a:r>
              <a:rPr lang="en-US" sz="2400" dirty="0"/>
              <a:t> has an empty right </a:t>
            </a:r>
            <a:r>
              <a:rPr lang="en-US" sz="2400" dirty="0" err="1"/>
              <a:t>subtree</a:t>
            </a:r>
            <a:r>
              <a:rPr lang="en-US" sz="2400" dirty="0"/>
              <a:t>, then:</a:t>
            </a:r>
          </a:p>
          <a:p>
            <a:pPr lvl="2"/>
            <a:r>
              <a:rPr lang="en-US" sz="2000" dirty="0"/>
              <a:t>As long as we move to the left up the tree (move up through right children), we are visiting smaller keys.</a:t>
            </a:r>
          </a:p>
          <a:p>
            <a:pPr lvl="2"/>
            <a:r>
              <a:rPr lang="en-US" sz="2000" i="1" dirty="0" err="1"/>
              <a:t>x</a:t>
            </a:r>
            <a:r>
              <a:rPr lang="en-US" sz="2000" dirty="0" err="1"/>
              <a:t>’s</a:t>
            </a:r>
            <a:r>
              <a:rPr lang="en-US" sz="2000" dirty="0"/>
              <a:t> successor </a:t>
            </a:r>
            <a:r>
              <a:rPr lang="en-US" sz="2000" i="1" dirty="0"/>
              <a:t>y</a:t>
            </a:r>
            <a:r>
              <a:rPr lang="en-US" sz="2000" dirty="0"/>
              <a:t> is the node that </a:t>
            </a:r>
            <a:r>
              <a:rPr lang="en-US" sz="2000" i="1" dirty="0"/>
              <a:t>x</a:t>
            </a:r>
            <a:r>
              <a:rPr lang="en-US" sz="2000" dirty="0"/>
              <a:t> is the predecessor of (</a:t>
            </a:r>
            <a:r>
              <a:rPr lang="en-US" sz="2000" i="1" dirty="0"/>
              <a:t>x</a:t>
            </a:r>
            <a:r>
              <a:rPr lang="en-US" sz="2000" dirty="0"/>
              <a:t> is the maximum in </a:t>
            </a:r>
            <a:r>
              <a:rPr lang="en-US" sz="2000" i="1" dirty="0" err="1"/>
              <a:t>y</a:t>
            </a:r>
            <a:r>
              <a:rPr lang="en-US" sz="2000" dirty="0" err="1"/>
              <a:t>’s</a:t>
            </a:r>
            <a:r>
              <a:rPr lang="en-US" sz="2000" dirty="0"/>
              <a:t> left </a:t>
            </a:r>
            <a:r>
              <a:rPr lang="en-US" sz="2000" dirty="0" err="1"/>
              <a:t>subtree</a:t>
            </a:r>
            <a:r>
              <a:rPr lang="en-US" sz="2000" dirty="0"/>
              <a:t>).</a:t>
            </a:r>
          </a:p>
          <a:p>
            <a:pPr lvl="2"/>
            <a:r>
              <a:rPr lang="en-US" sz="2000" dirty="0"/>
              <a:t>In other words, </a:t>
            </a:r>
            <a:r>
              <a:rPr lang="en-US" sz="2000" i="1" dirty="0" err="1"/>
              <a:t>x</a:t>
            </a:r>
            <a:r>
              <a:rPr lang="en-US" sz="2000" dirty="0" err="1"/>
              <a:t>’s</a:t>
            </a:r>
            <a:r>
              <a:rPr lang="en-US" sz="2000" dirty="0"/>
              <a:t> successor </a:t>
            </a:r>
            <a:r>
              <a:rPr lang="en-US" sz="2000" i="1" dirty="0"/>
              <a:t>y</a:t>
            </a:r>
            <a:r>
              <a:rPr lang="en-US" sz="2000" dirty="0"/>
              <a:t>, is the lowest ancestor of </a:t>
            </a:r>
            <a:r>
              <a:rPr lang="en-US" sz="2000" i="1" dirty="0"/>
              <a:t>x</a:t>
            </a:r>
            <a:r>
              <a:rPr lang="en-US" sz="2000" dirty="0"/>
              <a:t> whose left child is also an ancestor of </a:t>
            </a:r>
            <a:r>
              <a:rPr lang="en-US" sz="2000" i="1" dirty="0"/>
              <a:t>x</a:t>
            </a:r>
            <a:r>
              <a:rPr lang="en-US" sz="2000" dirty="0"/>
              <a:t>.</a:t>
            </a:r>
          </a:p>
          <a:p>
            <a:pPr lvl="2"/>
            <a:endParaRPr lang="en-US" sz="2000" i="1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Pseudo-code for Successor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5715000" cy="3657600"/>
          </a:xfrm>
          <a:solidFill>
            <a:srgbClr val="CCECFF"/>
          </a:solidFill>
          <a:ln>
            <a:solidFill>
              <a:schemeClr val="tx1"/>
            </a:solidFill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marL="609600" indent="-609600">
              <a:buFont typeface="Wingdings" pitchFamily="2" charset="2"/>
              <a:buNone/>
            </a:pPr>
            <a:r>
              <a:rPr lang="en-US" sz="2400" u="sng"/>
              <a:t>Tree-Successor(</a:t>
            </a:r>
            <a:r>
              <a:rPr lang="en-US" sz="2400" i="1" u="sng"/>
              <a:t>x</a:t>
            </a:r>
            <a:r>
              <a:rPr lang="en-US" sz="2400" u="sng"/>
              <a:t>)</a:t>
            </a:r>
          </a:p>
          <a:p>
            <a:pPr marL="609600" indent="-609600"/>
            <a:r>
              <a:rPr lang="en-US" sz="2400" b="1"/>
              <a:t> if </a:t>
            </a:r>
            <a:r>
              <a:rPr lang="en-US" sz="2400" i="1"/>
              <a:t>right</a:t>
            </a:r>
            <a:r>
              <a:rPr lang="en-US" sz="2400"/>
              <a:t>[</a:t>
            </a:r>
            <a:r>
              <a:rPr lang="en-US" sz="2400" i="1"/>
              <a:t>x</a:t>
            </a:r>
            <a:r>
              <a:rPr lang="en-US" sz="2400"/>
              <a:t>]</a:t>
            </a:r>
            <a:r>
              <a:rPr lang="en-US" sz="2400" i="1"/>
              <a:t> </a:t>
            </a:r>
            <a:r>
              <a:rPr lang="en-US" sz="2400">
                <a:sym typeface="Symbol" pitchFamily="18" charset="2"/>
              </a:rPr>
              <a:t></a:t>
            </a:r>
            <a:r>
              <a:rPr lang="en-US" sz="2400" i="1"/>
              <a:t> NIL </a:t>
            </a:r>
            <a:endParaRPr lang="en-US" sz="2400"/>
          </a:p>
          <a:p>
            <a:pPr marL="609600" indent="-609600">
              <a:buFont typeface="Wingdings" pitchFamily="2" charset="2"/>
              <a:buNone/>
            </a:pPr>
            <a:r>
              <a:rPr lang="en-US" sz="2400"/>
              <a:t>2.          </a:t>
            </a:r>
            <a:r>
              <a:rPr lang="en-US" sz="2400" b="1"/>
              <a:t>then</a:t>
            </a:r>
            <a:r>
              <a:rPr lang="en-US" sz="2400"/>
              <a:t> return Tree-Minimum(</a:t>
            </a:r>
            <a:r>
              <a:rPr lang="en-US" sz="2400" i="1"/>
              <a:t>right</a:t>
            </a:r>
            <a:r>
              <a:rPr lang="en-US" sz="2400"/>
              <a:t>[</a:t>
            </a:r>
            <a:r>
              <a:rPr lang="en-US" sz="2400" i="1"/>
              <a:t>x</a:t>
            </a:r>
            <a:r>
              <a:rPr lang="en-US" sz="2400"/>
              <a:t>]) 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400"/>
              <a:t>3.     y</a:t>
            </a:r>
            <a:r>
              <a:rPr lang="en-US" sz="2400" i="1"/>
              <a:t> </a:t>
            </a:r>
            <a:r>
              <a:rPr lang="en-US" sz="2400">
                <a:sym typeface="Symbol" pitchFamily="18" charset="2"/>
              </a:rPr>
              <a:t></a:t>
            </a:r>
            <a:r>
              <a:rPr lang="en-US" sz="2400"/>
              <a:t> </a:t>
            </a:r>
            <a:r>
              <a:rPr lang="en-US" sz="2400" i="1"/>
              <a:t>p</a:t>
            </a:r>
            <a:r>
              <a:rPr lang="en-US" sz="2400"/>
              <a:t>[</a:t>
            </a:r>
            <a:r>
              <a:rPr lang="en-US" sz="2400" i="1"/>
              <a:t>x</a:t>
            </a:r>
            <a:r>
              <a:rPr lang="en-US" sz="2400"/>
              <a:t>]</a:t>
            </a:r>
            <a:r>
              <a:rPr lang="en-US" sz="2400" i="1"/>
              <a:t> </a:t>
            </a:r>
            <a:endParaRPr lang="en-US" sz="2400"/>
          </a:p>
          <a:p>
            <a:pPr marL="609600" indent="-609600">
              <a:buFont typeface="Wingdings" pitchFamily="2" charset="2"/>
              <a:buNone/>
            </a:pPr>
            <a:r>
              <a:rPr lang="en-US" sz="2400"/>
              <a:t>4.     </a:t>
            </a:r>
            <a:r>
              <a:rPr lang="en-US" sz="2400" b="1"/>
              <a:t>while</a:t>
            </a:r>
            <a:r>
              <a:rPr lang="en-US" sz="2400"/>
              <a:t> </a:t>
            </a:r>
            <a:r>
              <a:rPr lang="en-US" sz="2400" i="1"/>
              <a:t>y </a:t>
            </a:r>
            <a:r>
              <a:rPr lang="en-US" sz="2400">
                <a:sym typeface="Symbol" pitchFamily="18" charset="2"/>
              </a:rPr>
              <a:t></a:t>
            </a:r>
            <a:r>
              <a:rPr lang="en-US" sz="2400" i="1"/>
              <a:t> NIL </a:t>
            </a:r>
            <a:r>
              <a:rPr lang="en-US" sz="2400" b="1"/>
              <a:t>and</a:t>
            </a:r>
            <a:r>
              <a:rPr lang="en-US" sz="2400" i="1"/>
              <a:t> x = right</a:t>
            </a:r>
            <a:r>
              <a:rPr lang="en-US" sz="2400"/>
              <a:t>[</a:t>
            </a:r>
            <a:r>
              <a:rPr lang="en-US" sz="2400" i="1"/>
              <a:t>y</a:t>
            </a:r>
            <a:r>
              <a:rPr lang="en-US" sz="2400"/>
              <a:t>]</a:t>
            </a:r>
            <a:endParaRPr lang="en-US" sz="2400" i="1"/>
          </a:p>
          <a:p>
            <a:pPr marL="609600" indent="-609600">
              <a:buFont typeface="Wingdings" pitchFamily="2" charset="2"/>
              <a:buNone/>
            </a:pPr>
            <a:r>
              <a:rPr lang="en-US" sz="2400"/>
              <a:t>5.     </a:t>
            </a:r>
            <a:r>
              <a:rPr lang="en-US" sz="2400" b="1"/>
              <a:t>do</a:t>
            </a:r>
            <a:r>
              <a:rPr lang="en-US" sz="2400"/>
              <a:t> </a:t>
            </a:r>
            <a:r>
              <a:rPr lang="en-US" sz="2400" i="1"/>
              <a:t>x </a:t>
            </a:r>
            <a:r>
              <a:rPr lang="en-US" sz="2400" i="1">
                <a:sym typeface="Symbol" pitchFamily="18" charset="2"/>
              </a:rPr>
              <a:t></a:t>
            </a:r>
            <a:r>
              <a:rPr lang="en-US" sz="2400"/>
              <a:t> </a:t>
            </a:r>
            <a:r>
              <a:rPr lang="en-US" sz="2400" i="1"/>
              <a:t>y</a:t>
            </a:r>
            <a:endParaRPr lang="en-US" sz="2400"/>
          </a:p>
          <a:p>
            <a:pPr marL="609600" indent="-609600">
              <a:buFont typeface="Wingdings" pitchFamily="2" charset="2"/>
              <a:buNone/>
            </a:pPr>
            <a:r>
              <a:rPr lang="en-US" sz="2400"/>
              <a:t>6.          </a:t>
            </a:r>
            <a:r>
              <a:rPr lang="en-US" sz="2400" i="1"/>
              <a:t>y</a:t>
            </a:r>
            <a:r>
              <a:rPr lang="en-US" sz="2400"/>
              <a:t> </a:t>
            </a:r>
            <a:r>
              <a:rPr lang="en-US" sz="2400" i="1">
                <a:sym typeface="Symbol" pitchFamily="18" charset="2"/>
              </a:rPr>
              <a:t></a:t>
            </a:r>
            <a:r>
              <a:rPr lang="en-US" sz="2400"/>
              <a:t> </a:t>
            </a:r>
            <a:r>
              <a:rPr lang="en-US" sz="2400" i="1"/>
              <a:t>p</a:t>
            </a:r>
            <a:r>
              <a:rPr lang="en-US" sz="2400"/>
              <a:t>[</a:t>
            </a:r>
            <a:r>
              <a:rPr lang="en-US" sz="2400" i="1"/>
              <a:t>y</a:t>
            </a:r>
            <a:r>
              <a:rPr lang="en-US" sz="2400"/>
              <a:t>]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400"/>
              <a:t>7.     </a:t>
            </a:r>
            <a:r>
              <a:rPr lang="en-US" sz="2400" b="1"/>
              <a:t>return</a:t>
            </a:r>
            <a:r>
              <a:rPr lang="en-US" sz="2400"/>
              <a:t> </a:t>
            </a:r>
            <a:r>
              <a:rPr lang="en-US" sz="2400" i="1"/>
              <a:t>y</a:t>
            </a:r>
          </a:p>
          <a:p>
            <a:pPr marL="609600" indent="-609600">
              <a:buFont typeface="Wingdings" pitchFamily="2" charset="2"/>
              <a:buNone/>
            </a:pPr>
            <a:endParaRPr lang="en-US" sz="2400"/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609600" y="4953000"/>
            <a:ext cx="3473323" cy="92333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u="none"/>
              <a:t>Code for </a:t>
            </a:r>
            <a:r>
              <a:rPr lang="en-US" b="1" i="1" u="none"/>
              <a:t>predecessor </a:t>
            </a:r>
            <a:r>
              <a:rPr lang="en-US" u="none"/>
              <a:t>is symmetric.</a:t>
            </a:r>
          </a:p>
          <a:p>
            <a:endParaRPr lang="en-US" u="none"/>
          </a:p>
          <a:p>
            <a:r>
              <a:rPr lang="en-US" u="none"/>
              <a:t>Running time: </a:t>
            </a:r>
            <a:r>
              <a:rPr lang="en-US" i="1" u="none"/>
              <a:t>O</a:t>
            </a:r>
            <a:r>
              <a:rPr lang="en-US" u="none"/>
              <a:t>(</a:t>
            </a:r>
            <a:r>
              <a:rPr lang="en-US" i="1" u="none"/>
              <a:t>h</a:t>
            </a:r>
            <a:r>
              <a:rPr lang="en-US" u="none"/>
              <a:t>)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715000" y="3505200"/>
            <a:ext cx="3124200" cy="2667000"/>
            <a:chOff x="4016" y="2738"/>
            <a:chExt cx="1504" cy="1150"/>
          </a:xfrm>
        </p:grpSpPr>
        <p:sp>
          <p:nvSpPr>
            <p:cNvPr id="14342" name="Oval 6"/>
            <p:cNvSpPr>
              <a:spLocks noChangeArrowheads="1"/>
            </p:cNvSpPr>
            <p:nvPr/>
          </p:nvSpPr>
          <p:spPr bwMode="auto">
            <a:xfrm>
              <a:off x="4811" y="2738"/>
              <a:ext cx="166" cy="172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u="none"/>
                <a:t>56</a:t>
              </a:r>
            </a:p>
          </p:txBody>
        </p:sp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4451" y="2884"/>
              <a:ext cx="862" cy="281"/>
              <a:chOff x="1620" y="1679"/>
              <a:chExt cx="1683" cy="547"/>
            </a:xfrm>
          </p:grpSpPr>
          <p:sp>
            <p:nvSpPr>
              <p:cNvPr id="14344" name="Oval 8"/>
              <p:cNvSpPr>
                <a:spLocks noChangeArrowheads="1"/>
              </p:cNvSpPr>
              <p:nvPr/>
            </p:nvSpPr>
            <p:spPr bwMode="auto">
              <a:xfrm>
                <a:off x="1620" y="1891"/>
                <a:ext cx="325" cy="335"/>
              </a:xfrm>
              <a:prstGeom prst="ellipse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u="none"/>
                  <a:t>26</a:t>
                </a:r>
              </a:p>
            </p:txBody>
          </p:sp>
          <p:sp>
            <p:nvSpPr>
              <p:cNvPr id="14345" name="Oval 9"/>
              <p:cNvSpPr>
                <a:spLocks noChangeArrowheads="1"/>
              </p:cNvSpPr>
              <p:nvPr/>
            </p:nvSpPr>
            <p:spPr bwMode="auto">
              <a:xfrm>
                <a:off x="2978" y="1891"/>
                <a:ext cx="325" cy="335"/>
              </a:xfrm>
              <a:prstGeom prst="ellipse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u="none"/>
                  <a:t>200</a:t>
                </a:r>
              </a:p>
            </p:txBody>
          </p:sp>
          <p:cxnSp>
            <p:nvCxnSpPr>
              <p:cNvPr id="14346" name="AutoShape 10"/>
              <p:cNvCxnSpPr>
                <a:cxnSpLocks noChangeShapeType="1"/>
                <a:stCxn id="14342" idx="5"/>
                <a:endCxn id="14345" idx="0"/>
              </p:cNvCxnSpPr>
              <p:nvPr/>
            </p:nvCxnSpPr>
            <p:spPr bwMode="auto">
              <a:xfrm>
                <a:off x="2600" y="1679"/>
                <a:ext cx="541" cy="212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347" name="AutoShape 11"/>
              <p:cNvCxnSpPr>
                <a:cxnSpLocks noChangeShapeType="1"/>
                <a:stCxn id="14342" idx="3"/>
                <a:endCxn id="14344" idx="0"/>
              </p:cNvCxnSpPr>
              <p:nvPr/>
            </p:nvCxnSpPr>
            <p:spPr bwMode="auto">
              <a:xfrm flipH="1">
                <a:off x="1783" y="1679"/>
                <a:ext cx="588" cy="212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4" name="Group 12"/>
            <p:cNvGrpSpPr>
              <a:grpSpLocks/>
            </p:cNvGrpSpPr>
            <p:nvPr/>
          </p:nvGrpSpPr>
          <p:grpSpPr bwMode="auto">
            <a:xfrm>
              <a:off x="4186" y="3139"/>
              <a:ext cx="642" cy="379"/>
              <a:chOff x="1103" y="2177"/>
              <a:chExt cx="1254" cy="740"/>
            </a:xfrm>
          </p:grpSpPr>
          <p:sp>
            <p:nvSpPr>
              <p:cNvPr id="14349" name="Oval 13"/>
              <p:cNvSpPr>
                <a:spLocks noChangeArrowheads="1"/>
              </p:cNvSpPr>
              <p:nvPr/>
            </p:nvSpPr>
            <p:spPr bwMode="auto">
              <a:xfrm>
                <a:off x="1103" y="2582"/>
                <a:ext cx="325" cy="335"/>
              </a:xfrm>
              <a:prstGeom prst="ellipse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u="none"/>
                  <a:t>18</a:t>
                </a:r>
              </a:p>
            </p:txBody>
          </p:sp>
          <p:sp>
            <p:nvSpPr>
              <p:cNvPr id="14350" name="Oval 14"/>
              <p:cNvSpPr>
                <a:spLocks noChangeArrowheads="1"/>
              </p:cNvSpPr>
              <p:nvPr/>
            </p:nvSpPr>
            <p:spPr bwMode="auto">
              <a:xfrm>
                <a:off x="2032" y="2564"/>
                <a:ext cx="325" cy="335"/>
              </a:xfrm>
              <a:prstGeom prst="ellipse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u="none"/>
                  <a:t>28</a:t>
                </a:r>
              </a:p>
            </p:txBody>
          </p:sp>
          <p:cxnSp>
            <p:nvCxnSpPr>
              <p:cNvPr id="14351" name="AutoShape 15"/>
              <p:cNvCxnSpPr>
                <a:cxnSpLocks noChangeShapeType="1"/>
                <a:stCxn id="14344" idx="3"/>
                <a:endCxn id="14349" idx="0"/>
              </p:cNvCxnSpPr>
              <p:nvPr/>
            </p:nvCxnSpPr>
            <p:spPr bwMode="auto">
              <a:xfrm flipH="1">
                <a:off x="1266" y="2177"/>
                <a:ext cx="402" cy="40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352" name="AutoShape 16"/>
              <p:cNvCxnSpPr>
                <a:cxnSpLocks noChangeShapeType="1"/>
                <a:stCxn id="14344" idx="5"/>
                <a:endCxn id="14350" idx="0"/>
              </p:cNvCxnSpPr>
              <p:nvPr/>
            </p:nvCxnSpPr>
            <p:spPr bwMode="auto">
              <a:xfrm>
                <a:off x="1897" y="2177"/>
                <a:ext cx="298" cy="387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5" name="Group 17"/>
            <p:cNvGrpSpPr>
              <a:grpSpLocks/>
            </p:cNvGrpSpPr>
            <p:nvPr/>
          </p:nvGrpSpPr>
          <p:grpSpPr bwMode="auto">
            <a:xfrm>
              <a:off x="4959" y="3139"/>
              <a:ext cx="561" cy="376"/>
              <a:chOff x="2612" y="2177"/>
              <a:chExt cx="1096" cy="733"/>
            </a:xfrm>
          </p:grpSpPr>
          <p:sp>
            <p:nvSpPr>
              <p:cNvPr id="14354" name="Oval 18"/>
              <p:cNvSpPr>
                <a:spLocks noChangeArrowheads="1"/>
              </p:cNvSpPr>
              <p:nvPr/>
            </p:nvSpPr>
            <p:spPr bwMode="auto">
              <a:xfrm>
                <a:off x="2612" y="2566"/>
                <a:ext cx="325" cy="335"/>
              </a:xfrm>
              <a:prstGeom prst="ellipse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u="none"/>
                  <a:t>190</a:t>
                </a:r>
              </a:p>
            </p:txBody>
          </p:sp>
          <p:sp>
            <p:nvSpPr>
              <p:cNvPr id="14355" name="Oval 19"/>
              <p:cNvSpPr>
                <a:spLocks noChangeArrowheads="1"/>
              </p:cNvSpPr>
              <p:nvPr/>
            </p:nvSpPr>
            <p:spPr bwMode="auto">
              <a:xfrm>
                <a:off x="3383" y="2575"/>
                <a:ext cx="325" cy="335"/>
              </a:xfrm>
              <a:prstGeom prst="ellipse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u="none"/>
                  <a:t>213</a:t>
                </a:r>
              </a:p>
            </p:txBody>
          </p:sp>
          <p:cxnSp>
            <p:nvCxnSpPr>
              <p:cNvPr id="14356" name="AutoShape 20"/>
              <p:cNvCxnSpPr>
                <a:cxnSpLocks noChangeShapeType="1"/>
                <a:stCxn id="14345" idx="3"/>
                <a:endCxn id="14354" idx="0"/>
              </p:cNvCxnSpPr>
              <p:nvPr/>
            </p:nvCxnSpPr>
            <p:spPr bwMode="auto">
              <a:xfrm flipH="1">
                <a:off x="2775" y="2177"/>
                <a:ext cx="251" cy="389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357" name="AutoShape 21"/>
              <p:cNvCxnSpPr>
                <a:cxnSpLocks noChangeShapeType="1"/>
                <a:stCxn id="14345" idx="5"/>
                <a:endCxn id="14355" idx="0"/>
              </p:cNvCxnSpPr>
              <p:nvPr/>
            </p:nvCxnSpPr>
            <p:spPr bwMode="auto">
              <a:xfrm>
                <a:off x="3255" y="2177"/>
                <a:ext cx="291" cy="39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6" name="Group 22"/>
            <p:cNvGrpSpPr>
              <a:grpSpLocks/>
            </p:cNvGrpSpPr>
            <p:nvPr/>
          </p:nvGrpSpPr>
          <p:grpSpPr bwMode="auto">
            <a:xfrm>
              <a:off x="4016" y="3493"/>
              <a:ext cx="473" cy="395"/>
              <a:chOff x="771" y="2868"/>
              <a:chExt cx="923" cy="771"/>
            </a:xfrm>
          </p:grpSpPr>
          <p:sp>
            <p:nvSpPr>
              <p:cNvPr id="14359" name="Oval 23"/>
              <p:cNvSpPr>
                <a:spLocks noChangeArrowheads="1"/>
              </p:cNvSpPr>
              <p:nvPr/>
            </p:nvSpPr>
            <p:spPr bwMode="auto">
              <a:xfrm>
                <a:off x="771" y="3285"/>
                <a:ext cx="325" cy="335"/>
              </a:xfrm>
              <a:prstGeom prst="ellipse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u="none"/>
                  <a:t>12</a:t>
                </a:r>
              </a:p>
            </p:txBody>
          </p:sp>
          <p:sp>
            <p:nvSpPr>
              <p:cNvPr id="14360" name="Oval 24"/>
              <p:cNvSpPr>
                <a:spLocks noChangeArrowheads="1"/>
              </p:cNvSpPr>
              <p:nvPr/>
            </p:nvSpPr>
            <p:spPr bwMode="auto">
              <a:xfrm>
                <a:off x="1369" y="3304"/>
                <a:ext cx="325" cy="335"/>
              </a:xfrm>
              <a:prstGeom prst="ellipse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u="none"/>
                  <a:t>24</a:t>
                </a:r>
              </a:p>
            </p:txBody>
          </p:sp>
          <p:cxnSp>
            <p:nvCxnSpPr>
              <p:cNvPr id="14361" name="AutoShape 25"/>
              <p:cNvCxnSpPr>
                <a:cxnSpLocks noChangeShapeType="1"/>
                <a:stCxn id="14349" idx="3"/>
                <a:endCxn id="14359" idx="0"/>
              </p:cNvCxnSpPr>
              <p:nvPr/>
            </p:nvCxnSpPr>
            <p:spPr bwMode="auto">
              <a:xfrm flipH="1">
                <a:off x="934" y="2868"/>
                <a:ext cx="217" cy="417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362" name="AutoShape 26"/>
              <p:cNvCxnSpPr>
                <a:cxnSpLocks noChangeShapeType="1"/>
                <a:stCxn id="14349" idx="5"/>
                <a:endCxn id="14360" idx="0"/>
              </p:cNvCxnSpPr>
              <p:nvPr/>
            </p:nvCxnSpPr>
            <p:spPr bwMode="auto">
              <a:xfrm>
                <a:off x="1380" y="2868"/>
                <a:ext cx="152" cy="436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7" name="Group 27"/>
            <p:cNvGrpSpPr>
              <a:grpSpLocks/>
            </p:cNvGrpSpPr>
            <p:nvPr/>
          </p:nvGrpSpPr>
          <p:grpSpPr bwMode="auto">
            <a:xfrm>
              <a:off x="4538" y="3509"/>
              <a:ext cx="207" cy="379"/>
              <a:chOff x="1790" y="2899"/>
              <a:chExt cx="405" cy="740"/>
            </a:xfrm>
          </p:grpSpPr>
          <p:sp>
            <p:nvSpPr>
              <p:cNvPr id="14364" name="Oval 28"/>
              <p:cNvSpPr>
                <a:spLocks noChangeArrowheads="1"/>
              </p:cNvSpPr>
              <p:nvPr/>
            </p:nvSpPr>
            <p:spPr bwMode="auto">
              <a:xfrm>
                <a:off x="1790" y="3304"/>
                <a:ext cx="325" cy="335"/>
              </a:xfrm>
              <a:prstGeom prst="ellipse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u="none"/>
                  <a:t>27</a:t>
                </a:r>
              </a:p>
            </p:txBody>
          </p:sp>
          <p:cxnSp>
            <p:nvCxnSpPr>
              <p:cNvPr id="14365" name="AutoShape 29"/>
              <p:cNvCxnSpPr>
                <a:cxnSpLocks noChangeShapeType="1"/>
                <a:stCxn id="14350" idx="4"/>
                <a:endCxn id="14364" idx="0"/>
              </p:cNvCxnSpPr>
              <p:nvPr/>
            </p:nvCxnSpPr>
            <p:spPr bwMode="auto">
              <a:xfrm flipH="1">
                <a:off x="1953" y="2899"/>
                <a:ext cx="242" cy="40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</p:grp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BST Insertion – Pseudocode </a:t>
            </a:r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648200" y="1143000"/>
            <a:ext cx="4191000" cy="5334000"/>
          </a:xfrm>
          <a:solidFill>
            <a:srgbClr val="CCECFF"/>
          </a:solidFill>
          <a:ln>
            <a:solidFill>
              <a:schemeClr val="tx1"/>
            </a:solidFill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US" sz="2400" u="sng" dirty="0"/>
              <a:t>Tree-Insert(</a:t>
            </a:r>
            <a:r>
              <a:rPr lang="en-US" sz="2400" i="1" u="sng" dirty="0"/>
              <a:t>T</a:t>
            </a:r>
            <a:r>
              <a:rPr lang="en-US" sz="2400" u="sng" dirty="0"/>
              <a:t>, </a:t>
            </a:r>
            <a:r>
              <a:rPr lang="en-US" sz="2400" i="1" u="sng" dirty="0"/>
              <a:t>z</a:t>
            </a:r>
            <a:r>
              <a:rPr lang="en-US" sz="2400" u="sng" dirty="0"/>
              <a:t>)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2400" i="1" dirty="0"/>
              <a:t>y</a:t>
            </a:r>
            <a:r>
              <a:rPr lang="en-US" sz="2400" dirty="0"/>
              <a:t> </a:t>
            </a:r>
            <a:r>
              <a:rPr lang="en-US" sz="2400" dirty="0">
                <a:sym typeface="Symbol" pitchFamily="18" charset="2"/>
              </a:rPr>
              <a:t> NIL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2400" i="1" dirty="0">
                <a:sym typeface="Symbol" pitchFamily="18" charset="2"/>
              </a:rPr>
              <a:t>x </a:t>
            </a:r>
            <a:r>
              <a:rPr lang="en-US" sz="2400" dirty="0">
                <a:sym typeface="Symbol" pitchFamily="18" charset="2"/>
              </a:rPr>
              <a:t> </a:t>
            </a:r>
            <a:r>
              <a:rPr lang="en-US" sz="2400" i="1" dirty="0">
                <a:sym typeface="Symbol" pitchFamily="18" charset="2"/>
              </a:rPr>
              <a:t>root</a:t>
            </a:r>
            <a:r>
              <a:rPr lang="en-US" sz="2400" dirty="0">
                <a:sym typeface="Symbol" pitchFamily="18" charset="2"/>
              </a:rPr>
              <a:t>[</a:t>
            </a:r>
            <a:r>
              <a:rPr lang="en-US" sz="2400" i="1" dirty="0">
                <a:sym typeface="Symbol" pitchFamily="18" charset="2"/>
              </a:rPr>
              <a:t>T</a:t>
            </a:r>
            <a:r>
              <a:rPr lang="en-US" sz="2400" dirty="0">
                <a:sym typeface="Symbol" pitchFamily="18" charset="2"/>
              </a:rPr>
              <a:t>]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2400" b="1" dirty="0">
                <a:sym typeface="Symbol" pitchFamily="18" charset="2"/>
              </a:rPr>
              <a:t>while</a:t>
            </a:r>
            <a:r>
              <a:rPr lang="en-US" sz="2400" b="1" i="1" dirty="0">
                <a:sym typeface="Symbol" pitchFamily="18" charset="2"/>
              </a:rPr>
              <a:t> </a:t>
            </a:r>
            <a:r>
              <a:rPr lang="en-US" sz="2400" i="1" dirty="0">
                <a:sym typeface="Symbol" pitchFamily="18" charset="2"/>
              </a:rPr>
              <a:t>x</a:t>
            </a:r>
            <a:r>
              <a:rPr lang="en-US" sz="2400" dirty="0">
                <a:sym typeface="Symbol" pitchFamily="18" charset="2"/>
              </a:rPr>
              <a:t>  NIL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2400" dirty="0">
                <a:sym typeface="Symbol" pitchFamily="18" charset="2"/>
              </a:rPr>
              <a:t>    </a:t>
            </a:r>
            <a:r>
              <a:rPr lang="en-US" sz="2400" b="1" dirty="0">
                <a:sym typeface="Symbol" pitchFamily="18" charset="2"/>
              </a:rPr>
              <a:t>do</a:t>
            </a:r>
            <a:r>
              <a:rPr lang="en-US" sz="2400" b="1" i="1" dirty="0">
                <a:sym typeface="Symbol" pitchFamily="18" charset="2"/>
              </a:rPr>
              <a:t> </a:t>
            </a:r>
            <a:r>
              <a:rPr lang="en-US" sz="2400" i="1" dirty="0">
                <a:sym typeface="Symbol" pitchFamily="18" charset="2"/>
              </a:rPr>
              <a:t>y </a:t>
            </a:r>
            <a:r>
              <a:rPr lang="en-US" sz="2400" dirty="0">
                <a:sym typeface="Symbol" pitchFamily="18" charset="2"/>
              </a:rPr>
              <a:t> </a:t>
            </a:r>
            <a:r>
              <a:rPr lang="en-US" sz="2400" i="1" dirty="0">
                <a:sym typeface="Symbol" pitchFamily="18" charset="2"/>
              </a:rPr>
              <a:t>x</a:t>
            </a:r>
            <a:endParaRPr lang="en-US" sz="2400" dirty="0">
              <a:sym typeface="Symbol" pitchFamily="18" charset="2"/>
            </a:endParaRPr>
          </a:p>
          <a:p>
            <a:pPr marL="609600" indent="-6096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2400" dirty="0">
                <a:sym typeface="Symbol" pitchFamily="18" charset="2"/>
              </a:rPr>
              <a:t>         </a:t>
            </a:r>
            <a:r>
              <a:rPr lang="en-US" sz="2400" b="1" dirty="0">
                <a:sym typeface="Symbol" pitchFamily="18" charset="2"/>
              </a:rPr>
              <a:t>if</a:t>
            </a:r>
            <a:r>
              <a:rPr lang="en-US" sz="2400" b="1" i="1" dirty="0">
                <a:sym typeface="Symbol" pitchFamily="18" charset="2"/>
              </a:rPr>
              <a:t> </a:t>
            </a:r>
            <a:r>
              <a:rPr lang="en-US" sz="2400" i="1" dirty="0">
                <a:sym typeface="Symbol" pitchFamily="18" charset="2"/>
              </a:rPr>
              <a:t>key</a:t>
            </a:r>
            <a:r>
              <a:rPr lang="en-US" sz="2400" dirty="0">
                <a:sym typeface="Symbol" pitchFamily="18" charset="2"/>
              </a:rPr>
              <a:t>[</a:t>
            </a:r>
            <a:r>
              <a:rPr lang="en-US" sz="2400" i="1" dirty="0">
                <a:sym typeface="Symbol" pitchFamily="18" charset="2"/>
              </a:rPr>
              <a:t>z</a:t>
            </a:r>
            <a:r>
              <a:rPr lang="en-US" sz="2400" dirty="0">
                <a:sym typeface="Symbol" pitchFamily="18" charset="2"/>
              </a:rPr>
              <a:t>] &lt; </a:t>
            </a:r>
            <a:r>
              <a:rPr lang="en-US" sz="2400" i="1" dirty="0">
                <a:sym typeface="Symbol" pitchFamily="18" charset="2"/>
              </a:rPr>
              <a:t>key</a:t>
            </a:r>
            <a:r>
              <a:rPr lang="en-US" sz="2400" dirty="0">
                <a:sym typeface="Symbol" pitchFamily="18" charset="2"/>
              </a:rPr>
              <a:t>[</a:t>
            </a:r>
            <a:r>
              <a:rPr lang="en-US" sz="2400" i="1" dirty="0">
                <a:sym typeface="Symbol" pitchFamily="18" charset="2"/>
              </a:rPr>
              <a:t>x</a:t>
            </a:r>
            <a:r>
              <a:rPr lang="en-US" sz="2400" dirty="0">
                <a:sym typeface="Symbol" pitchFamily="18" charset="2"/>
              </a:rPr>
              <a:t>]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2400" dirty="0">
                <a:sym typeface="Symbol" pitchFamily="18" charset="2"/>
              </a:rPr>
              <a:t>              </a:t>
            </a:r>
            <a:r>
              <a:rPr lang="en-US" sz="2400" b="1" dirty="0">
                <a:sym typeface="Symbol" pitchFamily="18" charset="2"/>
              </a:rPr>
              <a:t>then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i="1" dirty="0">
                <a:sym typeface="Symbol" pitchFamily="18" charset="2"/>
              </a:rPr>
              <a:t>x </a:t>
            </a:r>
            <a:r>
              <a:rPr lang="en-US" sz="2400" dirty="0">
                <a:sym typeface="Symbol" pitchFamily="18" charset="2"/>
              </a:rPr>
              <a:t> </a:t>
            </a:r>
            <a:r>
              <a:rPr lang="en-US" sz="2400" i="1" dirty="0">
                <a:sym typeface="Symbol" pitchFamily="18" charset="2"/>
              </a:rPr>
              <a:t>left</a:t>
            </a:r>
            <a:r>
              <a:rPr lang="en-US" sz="2400" dirty="0">
                <a:sym typeface="Symbol" pitchFamily="18" charset="2"/>
              </a:rPr>
              <a:t>[</a:t>
            </a:r>
            <a:r>
              <a:rPr lang="en-US" sz="2400" i="1" dirty="0">
                <a:sym typeface="Symbol" pitchFamily="18" charset="2"/>
              </a:rPr>
              <a:t>x</a:t>
            </a:r>
            <a:r>
              <a:rPr lang="en-US" sz="2400" dirty="0">
                <a:sym typeface="Symbol" pitchFamily="18" charset="2"/>
              </a:rPr>
              <a:t>]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2400" dirty="0">
                <a:sym typeface="Symbol" pitchFamily="18" charset="2"/>
              </a:rPr>
              <a:t>              </a:t>
            </a:r>
            <a:r>
              <a:rPr lang="en-US" sz="2400" b="1" dirty="0">
                <a:sym typeface="Symbol" pitchFamily="18" charset="2"/>
              </a:rPr>
              <a:t>else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i="1" dirty="0">
                <a:sym typeface="Symbol" pitchFamily="18" charset="2"/>
              </a:rPr>
              <a:t>x </a:t>
            </a:r>
            <a:r>
              <a:rPr lang="en-US" sz="2400" dirty="0">
                <a:sym typeface="Symbol" pitchFamily="18" charset="2"/>
              </a:rPr>
              <a:t> </a:t>
            </a:r>
            <a:r>
              <a:rPr lang="en-US" sz="2400" i="1" dirty="0">
                <a:sym typeface="Symbol" pitchFamily="18" charset="2"/>
              </a:rPr>
              <a:t>right</a:t>
            </a:r>
            <a:r>
              <a:rPr lang="en-US" sz="2400" dirty="0">
                <a:sym typeface="Symbol" pitchFamily="18" charset="2"/>
              </a:rPr>
              <a:t>[</a:t>
            </a:r>
            <a:r>
              <a:rPr lang="en-US" sz="2400" i="1" dirty="0">
                <a:sym typeface="Symbol" pitchFamily="18" charset="2"/>
              </a:rPr>
              <a:t>x</a:t>
            </a:r>
            <a:r>
              <a:rPr lang="en-US" sz="2400" dirty="0">
                <a:sym typeface="Symbol" pitchFamily="18" charset="2"/>
              </a:rPr>
              <a:t>]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2400" i="1" dirty="0">
                <a:sym typeface="Symbol" pitchFamily="18" charset="2"/>
              </a:rPr>
              <a:t>p</a:t>
            </a:r>
            <a:r>
              <a:rPr lang="en-US" sz="2400" dirty="0">
                <a:sym typeface="Symbol" pitchFamily="18" charset="2"/>
              </a:rPr>
              <a:t>[</a:t>
            </a:r>
            <a:r>
              <a:rPr lang="en-US" sz="2400" i="1" dirty="0">
                <a:sym typeface="Symbol" pitchFamily="18" charset="2"/>
              </a:rPr>
              <a:t>z</a:t>
            </a:r>
            <a:r>
              <a:rPr lang="en-US" sz="2400" dirty="0">
                <a:sym typeface="Symbol" pitchFamily="18" charset="2"/>
              </a:rPr>
              <a:t>]  </a:t>
            </a:r>
            <a:r>
              <a:rPr lang="en-US" sz="2400" i="1" dirty="0">
                <a:sym typeface="Symbol" pitchFamily="18" charset="2"/>
              </a:rPr>
              <a:t>y</a:t>
            </a:r>
            <a:endParaRPr lang="en-US" sz="2400" dirty="0">
              <a:sym typeface="Symbol" pitchFamily="18" charset="2"/>
            </a:endParaRPr>
          </a:p>
          <a:p>
            <a:pPr marL="609600" indent="-6096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2400" b="1" dirty="0">
                <a:sym typeface="Symbol" pitchFamily="18" charset="2"/>
              </a:rPr>
              <a:t>if </a:t>
            </a:r>
            <a:r>
              <a:rPr lang="en-US" sz="2400" i="1" dirty="0">
                <a:sym typeface="Symbol" pitchFamily="18" charset="2"/>
              </a:rPr>
              <a:t>y </a:t>
            </a:r>
            <a:r>
              <a:rPr lang="en-US" sz="2400" dirty="0">
                <a:sym typeface="Symbol" pitchFamily="18" charset="2"/>
              </a:rPr>
              <a:t>= NIL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2400" dirty="0">
                <a:sym typeface="Symbol" pitchFamily="18" charset="2"/>
              </a:rPr>
              <a:t>    </a:t>
            </a:r>
            <a:r>
              <a:rPr lang="en-US" sz="2400" b="1" dirty="0">
                <a:sym typeface="Symbol" pitchFamily="18" charset="2"/>
              </a:rPr>
              <a:t>then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i="1" dirty="0">
                <a:sym typeface="Symbol" pitchFamily="18" charset="2"/>
              </a:rPr>
              <a:t>root</a:t>
            </a:r>
            <a:r>
              <a:rPr lang="en-US" sz="2400" dirty="0">
                <a:sym typeface="Symbol" pitchFamily="18" charset="2"/>
              </a:rPr>
              <a:t>[</a:t>
            </a:r>
            <a:r>
              <a:rPr lang="en-US" sz="2400" i="1" dirty="0">
                <a:sym typeface="Symbol" pitchFamily="18" charset="2"/>
              </a:rPr>
              <a:t>t</a:t>
            </a:r>
            <a:r>
              <a:rPr lang="en-US" sz="2400" dirty="0">
                <a:sym typeface="Symbol" pitchFamily="18" charset="2"/>
              </a:rPr>
              <a:t>]  </a:t>
            </a:r>
            <a:r>
              <a:rPr lang="en-US" sz="2400" i="1" dirty="0">
                <a:sym typeface="Symbol" pitchFamily="18" charset="2"/>
              </a:rPr>
              <a:t>z</a:t>
            </a:r>
            <a:endParaRPr lang="en-US" sz="2400" dirty="0">
              <a:sym typeface="Symbol" pitchFamily="18" charset="2"/>
            </a:endParaRPr>
          </a:p>
          <a:p>
            <a:pPr marL="609600" indent="-6096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2400" dirty="0">
                <a:sym typeface="Symbol" pitchFamily="18" charset="2"/>
              </a:rPr>
              <a:t>    </a:t>
            </a:r>
            <a:r>
              <a:rPr lang="en-US" sz="2400" b="1" dirty="0">
                <a:sym typeface="Symbol" pitchFamily="18" charset="2"/>
              </a:rPr>
              <a:t>else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b="1" dirty="0">
                <a:sym typeface="Symbol" pitchFamily="18" charset="2"/>
              </a:rPr>
              <a:t>if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i="1" dirty="0">
                <a:sym typeface="Symbol" pitchFamily="18" charset="2"/>
              </a:rPr>
              <a:t>key</a:t>
            </a:r>
            <a:r>
              <a:rPr lang="en-US" sz="2400" dirty="0">
                <a:sym typeface="Symbol" pitchFamily="18" charset="2"/>
              </a:rPr>
              <a:t>[</a:t>
            </a:r>
            <a:r>
              <a:rPr lang="en-US" sz="2400" i="1" dirty="0">
                <a:sym typeface="Symbol" pitchFamily="18" charset="2"/>
              </a:rPr>
              <a:t>z</a:t>
            </a:r>
            <a:r>
              <a:rPr lang="en-US" sz="2400" dirty="0">
                <a:sym typeface="Symbol" pitchFamily="18" charset="2"/>
              </a:rPr>
              <a:t>] &lt; </a:t>
            </a:r>
            <a:r>
              <a:rPr lang="en-US" sz="2400" i="1" dirty="0">
                <a:sym typeface="Symbol" pitchFamily="18" charset="2"/>
              </a:rPr>
              <a:t>key</a:t>
            </a:r>
            <a:r>
              <a:rPr lang="en-US" sz="2400" dirty="0">
                <a:sym typeface="Symbol" pitchFamily="18" charset="2"/>
              </a:rPr>
              <a:t>[</a:t>
            </a:r>
            <a:r>
              <a:rPr lang="en-US" sz="2400" i="1" dirty="0">
                <a:sym typeface="Symbol" pitchFamily="18" charset="2"/>
              </a:rPr>
              <a:t>y</a:t>
            </a:r>
            <a:r>
              <a:rPr lang="en-US" sz="2400" dirty="0">
                <a:sym typeface="Symbol" pitchFamily="18" charset="2"/>
              </a:rPr>
              <a:t>]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2400" dirty="0">
                <a:sym typeface="Symbol" pitchFamily="18" charset="2"/>
              </a:rPr>
              <a:t>          </a:t>
            </a:r>
            <a:r>
              <a:rPr lang="en-US" sz="2400" b="1" dirty="0">
                <a:sym typeface="Symbol" pitchFamily="18" charset="2"/>
              </a:rPr>
              <a:t>then  </a:t>
            </a:r>
            <a:r>
              <a:rPr lang="en-US" sz="2400" i="1" dirty="0">
                <a:sym typeface="Symbol" pitchFamily="18" charset="2"/>
              </a:rPr>
              <a:t>left</a:t>
            </a:r>
            <a:r>
              <a:rPr lang="en-US" sz="2400" dirty="0">
                <a:sym typeface="Symbol" pitchFamily="18" charset="2"/>
              </a:rPr>
              <a:t>[</a:t>
            </a:r>
            <a:r>
              <a:rPr lang="en-US" sz="2400" i="1" dirty="0">
                <a:sym typeface="Symbol" pitchFamily="18" charset="2"/>
              </a:rPr>
              <a:t>y</a:t>
            </a:r>
            <a:r>
              <a:rPr lang="en-US" sz="2400" dirty="0">
                <a:sym typeface="Symbol" pitchFamily="18" charset="2"/>
              </a:rPr>
              <a:t>]  </a:t>
            </a:r>
            <a:r>
              <a:rPr lang="en-US" sz="2400" i="1" dirty="0">
                <a:sym typeface="Symbol" pitchFamily="18" charset="2"/>
              </a:rPr>
              <a:t>z</a:t>
            </a:r>
            <a:endParaRPr lang="en-US" sz="2400" dirty="0">
              <a:sym typeface="Symbol" pitchFamily="18" charset="2"/>
            </a:endParaRPr>
          </a:p>
          <a:p>
            <a:pPr marL="609600" indent="-6096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2400" dirty="0">
                <a:sym typeface="Symbol" pitchFamily="18" charset="2"/>
              </a:rPr>
              <a:t>          </a:t>
            </a:r>
            <a:r>
              <a:rPr lang="en-US" sz="2400" b="1" dirty="0">
                <a:sym typeface="Symbol" pitchFamily="18" charset="2"/>
              </a:rPr>
              <a:t>else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i="1" dirty="0">
                <a:sym typeface="Symbol" pitchFamily="18" charset="2"/>
              </a:rPr>
              <a:t>right</a:t>
            </a:r>
            <a:r>
              <a:rPr lang="en-US" sz="2400" dirty="0">
                <a:sym typeface="Symbol" pitchFamily="18" charset="2"/>
              </a:rPr>
              <a:t>[</a:t>
            </a:r>
            <a:r>
              <a:rPr lang="en-US" sz="2400" i="1" dirty="0">
                <a:sym typeface="Symbol" pitchFamily="18" charset="2"/>
              </a:rPr>
              <a:t>y</a:t>
            </a:r>
            <a:r>
              <a:rPr lang="en-US" sz="2400" dirty="0">
                <a:sym typeface="Symbol" pitchFamily="18" charset="2"/>
              </a:rPr>
              <a:t>]  </a:t>
            </a:r>
            <a:r>
              <a:rPr lang="en-US" sz="2400" i="1" dirty="0">
                <a:sym typeface="Symbol" pitchFamily="18" charset="2"/>
              </a:rPr>
              <a:t>z</a:t>
            </a:r>
            <a:endParaRPr lang="en-US" sz="2400" dirty="0">
              <a:sym typeface="Symbol" pitchFamily="18" charset="2"/>
            </a:endParaRPr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304800" y="1219200"/>
            <a:ext cx="4152900" cy="4876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/>
              <a:t>Change the dynamic set represented by a BST.</a:t>
            </a:r>
          </a:p>
          <a:p>
            <a:pPr>
              <a:lnSpc>
                <a:spcPct val="80000"/>
              </a:lnSpc>
            </a:pPr>
            <a:r>
              <a:rPr lang="en-US"/>
              <a:t>Ensure the binary-search-tree property holds after change.</a:t>
            </a:r>
          </a:p>
          <a:p>
            <a:pPr>
              <a:lnSpc>
                <a:spcPct val="80000"/>
              </a:lnSpc>
            </a:pPr>
            <a:r>
              <a:rPr lang="en-US"/>
              <a:t>Insertion is easier than deletion.</a:t>
            </a:r>
          </a:p>
          <a:p>
            <a:pPr>
              <a:lnSpc>
                <a:spcPct val="80000"/>
              </a:lnSpc>
            </a:pPr>
            <a:endParaRPr lang="en-US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914400" y="3657600"/>
            <a:ext cx="3124200" cy="2667000"/>
            <a:chOff x="4016" y="2738"/>
            <a:chExt cx="1504" cy="1150"/>
          </a:xfrm>
        </p:grpSpPr>
        <p:sp>
          <p:nvSpPr>
            <p:cNvPr id="49162" name="Oval 10"/>
            <p:cNvSpPr>
              <a:spLocks noChangeArrowheads="1"/>
            </p:cNvSpPr>
            <p:nvPr/>
          </p:nvSpPr>
          <p:spPr bwMode="auto">
            <a:xfrm>
              <a:off x="4811" y="2738"/>
              <a:ext cx="166" cy="172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u="none"/>
                <a:t>56</a:t>
              </a:r>
            </a:p>
          </p:txBody>
        </p:sp>
        <p:grpSp>
          <p:nvGrpSpPr>
            <p:cNvPr id="3" name="Group 11"/>
            <p:cNvGrpSpPr>
              <a:grpSpLocks/>
            </p:cNvGrpSpPr>
            <p:nvPr/>
          </p:nvGrpSpPr>
          <p:grpSpPr bwMode="auto">
            <a:xfrm>
              <a:off x="4451" y="2884"/>
              <a:ext cx="862" cy="281"/>
              <a:chOff x="1620" y="1679"/>
              <a:chExt cx="1683" cy="547"/>
            </a:xfrm>
          </p:grpSpPr>
          <p:sp>
            <p:nvSpPr>
              <p:cNvPr id="49164" name="Oval 12"/>
              <p:cNvSpPr>
                <a:spLocks noChangeArrowheads="1"/>
              </p:cNvSpPr>
              <p:nvPr/>
            </p:nvSpPr>
            <p:spPr bwMode="auto">
              <a:xfrm>
                <a:off x="1620" y="1891"/>
                <a:ext cx="325" cy="335"/>
              </a:xfrm>
              <a:prstGeom prst="ellipse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u="none"/>
                  <a:t>26</a:t>
                </a:r>
              </a:p>
            </p:txBody>
          </p:sp>
          <p:sp>
            <p:nvSpPr>
              <p:cNvPr id="49165" name="Oval 13"/>
              <p:cNvSpPr>
                <a:spLocks noChangeArrowheads="1"/>
              </p:cNvSpPr>
              <p:nvPr/>
            </p:nvSpPr>
            <p:spPr bwMode="auto">
              <a:xfrm>
                <a:off x="2978" y="1891"/>
                <a:ext cx="325" cy="335"/>
              </a:xfrm>
              <a:prstGeom prst="ellipse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u="none"/>
                  <a:t>200</a:t>
                </a:r>
              </a:p>
            </p:txBody>
          </p:sp>
          <p:cxnSp>
            <p:nvCxnSpPr>
              <p:cNvPr id="49166" name="AutoShape 14"/>
              <p:cNvCxnSpPr>
                <a:cxnSpLocks noChangeShapeType="1"/>
                <a:stCxn id="49162" idx="5"/>
                <a:endCxn id="49165" idx="0"/>
              </p:cNvCxnSpPr>
              <p:nvPr/>
            </p:nvCxnSpPr>
            <p:spPr bwMode="auto">
              <a:xfrm>
                <a:off x="2600" y="1679"/>
                <a:ext cx="541" cy="212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49167" name="AutoShape 15"/>
              <p:cNvCxnSpPr>
                <a:cxnSpLocks noChangeShapeType="1"/>
                <a:stCxn id="49162" idx="3"/>
                <a:endCxn id="49164" idx="0"/>
              </p:cNvCxnSpPr>
              <p:nvPr/>
            </p:nvCxnSpPr>
            <p:spPr bwMode="auto">
              <a:xfrm flipH="1">
                <a:off x="1783" y="1679"/>
                <a:ext cx="588" cy="212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4" name="Group 16"/>
            <p:cNvGrpSpPr>
              <a:grpSpLocks/>
            </p:cNvGrpSpPr>
            <p:nvPr/>
          </p:nvGrpSpPr>
          <p:grpSpPr bwMode="auto">
            <a:xfrm>
              <a:off x="4186" y="3139"/>
              <a:ext cx="642" cy="379"/>
              <a:chOff x="1103" y="2177"/>
              <a:chExt cx="1254" cy="740"/>
            </a:xfrm>
          </p:grpSpPr>
          <p:sp>
            <p:nvSpPr>
              <p:cNvPr id="49169" name="Oval 17"/>
              <p:cNvSpPr>
                <a:spLocks noChangeArrowheads="1"/>
              </p:cNvSpPr>
              <p:nvPr/>
            </p:nvSpPr>
            <p:spPr bwMode="auto">
              <a:xfrm>
                <a:off x="1103" y="2582"/>
                <a:ext cx="325" cy="335"/>
              </a:xfrm>
              <a:prstGeom prst="ellipse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u="none"/>
                  <a:t>18</a:t>
                </a:r>
              </a:p>
            </p:txBody>
          </p:sp>
          <p:sp>
            <p:nvSpPr>
              <p:cNvPr id="49170" name="Oval 18"/>
              <p:cNvSpPr>
                <a:spLocks noChangeArrowheads="1"/>
              </p:cNvSpPr>
              <p:nvPr/>
            </p:nvSpPr>
            <p:spPr bwMode="auto">
              <a:xfrm>
                <a:off x="2032" y="2564"/>
                <a:ext cx="325" cy="335"/>
              </a:xfrm>
              <a:prstGeom prst="ellipse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u="none"/>
                  <a:t>28</a:t>
                </a:r>
              </a:p>
            </p:txBody>
          </p:sp>
          <p:cxnSp>
            <p:nvCxnSpPr>
              <p:cNvPr id="49171" name="AutoShape 19"/>
              <p:cNvCxnSpPr>
                <a:cxnSpLocks noChangeShapeType="1"/>
                <a:stCxn id="49164" idx="3"/>
                <a:endCxn id="49169" idx="0"/>
              </p:cNvCxnSpPr>
              <p:nvPr/>
            </p:nvCxnSpPr>
            <p:spPr bwMode="auto">
              <a:xfrm flipH="1">
                <a:off x="1266" y="2177"/>
                <a:ext cx="402" cy="40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49172" name="AutoShape 20"/>
              <p:cNvCxnSpPr>
                <a:cxnSpLocks noChangeShapeType="1"/>
                <a:stCxn id="49164" idx="5"/>
                <a:endCxn id="49170" idx="0"/>
              </p:cNvCxnSpPr>
              <p:nvPr/>
            </p:nvCxnSpPr>
            <p:spPr bwMode="auto">
              <a:xfrm>
                <a:off x="1897" y="2177"/>
                <a:ext cx="298" cy="387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5" name="Group 21"/>
            <p:cNvGrpSpPr>
              <a:grpSpLocks/>
            </p:cNvGrpSpPr>
            <p:nvPr/>
          </p:nvGrpSpPr>
          <p:grpSpPr bwMode="auto">
            <a:xfrm>
              <a:off x="4959" y="3139"/>
              <a:ext cx="561" cy="376"/>
              <a:chOff x="2612" y="2177"/>
              <a:chExt cx="1096" cy="733"/>
            </a:xfrm>
          </p:grpSpPr>
          <p:sp>
            <p:nvSpPr>
              <p:cNvPr id="49174" name="Oval 22"/>
              <p:cNvSpPr>
                <a:spLocks noChangeArrowheads="1"/>
              </p:cNvSpPr>
              <p:nvPr/>
            </p:nvSpPr>
            <p:spPr bwMode="auto">
              <a:xfrm>
                <a:off x="2612" y="2566"/>
                <a:ext cx="325" cy="335"/>
              </a:xfrm>
              <a:prstGeom prst="ellipse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u="none"/>
                  <a:t>190</a:t>
                </a:r>
              </a:p>
            </p:txBody>
          </p:sp>
          <p:sp>
            <p:nvSpPr>
              <p:cNvPr id="49175" name="Oval 23"/>
              <p:cNvSpPr>
                <a:spLocks noChangeArrowheads="1"/>
              </p:cNvSpPr>
              <p:nvPr/>
            </p:nvSpPr>
            <p:spPr bwMode="auto">
              <a:xfrm>
                <a:off x="3383" y="2575"/>
                <a:ext cx="325" cy="335"/>
              </a:xfrm>
              <a:prstGeom prst="ellipse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u="none"/>
                  <a:t>213</a:t>
                </a:r>
              </a:p>
            </p:txBody>
          </p:sp>
          <p:cxnSp>
            <p:nvCxnSpPr>
              <p:cNvPr id="49176" name="AutoShape 24"/>
              <p:cNvCxnSpPr>
                <a:cxnSpLocks noChangeShapeType="1"/>
                <a:stCxn id="49165" idx="3"/>
                <a:endCxn id="49174" idx="0"/>
              </p:cNvCxnSpPr>
              <p:nvPr/>
            </p:nvCxnSpPr>
            <p:spPr bwMode="auto">
              <a:xfrm flipH="1">
                <a:off x="2775" y="2177"/>
                <a:ext cx="251" cy="389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49177" name="AutoShape 25"/>
              <p:cNvCxnSpPr>
                <a:cxnSpLocks noChangeShapeType="1"/>
                <a:stCxn id="49165" idx="5"/>
                <a:endCxn id="49175" idx="0"/>
              </p:cNvCxnSpPr>
              <p:nvPr/>
            </p:nvCxnSpPr>
            <p:spPr bwMode="auto">
              <a:xfrm>
                <a:off x="3255" y="2177"/>
                <a:ext cx="291" cy="39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6" name="Group 26"/>
            <p:cNvGrpSpPr>
              <a:grpSpLocks/>
            </p:cNvGrpSpPr>
            <p:nvPr/>
          </p:nvGrpSpPr>
          <p:grpSpPr bwMode="auto">
            <a:xfrm>
              <a:off x="4016" y="3493"/>
              <a:ext cx="473" cy="395"/>
              <a:chOff x="771" y="2868"/>
              <a:chExt cx="923" cy="771"/>
            </a:xfrm>
          </p:grpSpPr>
          <p:sp>
            <p:nvSpPr>
              <p:cNvPr id="49179" name="Oval 27"/>
              <p:cNvSpPr>
                <a:spLocks noChangeArrowheads="1"/>
              </p:cNvSpPr>
              <p:nvPr/>
            </p:nvSpPr>
            <p:spPr bwMode="auto">
              <a:xfrm>
                <a:off x="771" y="3285"/>
                <a:ext cx="325" cy="335"/>
              </a:xfrm>
              <a:prstGeom prst="ellipse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u="none"/>
                  <a:t>12</a:t>
                </a:r>
              </a:p>
            </p:txBody>
          </p:sp>
          <p:sp>
            <p:nvSpPr>
              <p:cNvPr id="49180" name="Oval 28"/>
              <p:cNvSpPr>
                <a:spLocks noChangeArrowheads="1"/>
              </p:cNvSpPr>
              <p:nvPr/>
            </p:nvSpPr>
            <p:spPr bwMode="auto">
              <a:xfrm>
                <a:off x="1369" y="3304"/>
                <a:ext cx="325" cy="335"/>
              </a:xfrm>
              <a:prstGeom prst="ellipse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u="none"/>
                  <a:t>24</a:t>
                </a:r>
              </a:p>
            </p:txBody>
          </p:sp>
          <p:cxnSp>
            <p:nvCxnSpPr>
              <p:cNvPr id="49181" name="AutoShape 29"/>
              <p:cNvCxnSpPr>
                <a:cxnSpLocks noChangeShapeType="1"/>
                <a:stCxn id="49169" idx="3"/>
                <a:endCxn id="49179" idx="0"/>
              </p:cNvCxnSpPr>
              <p:nvPr/>
            </p:nvCxnSpPr>
            <p:spPr bwMode="auto">
              <a:xfrm flipH="1">
                <a:off x="934" y="2868"/>
                <a:ext cx="217" cy="417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49182" name="AutoShape 30"/>
              <p:cNvCxnSpPr>
                <a:cxnSpLocks noChangeShapeType="1"/>
                <a:stCxn id="49169" idx="5"/>
                <a:endCxn id="49180" idx="0"/>
              </p:cNvCxnSpPr>
              <p:nvPr/>
            </p:nvCxnSpPr>
            <p:spPr bwMode="auto">
              <a:xfrm>
                <a:off x="1380" y="2868"/>
                <a:ext cx="152" cy="436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7" name="Group 31"/>
            <p:cNvGrpSpPr>
              <a:grpSpLocks/>
            </p:cNvGrpSpPr>
            <p:nvPr/>
          </p:nvGrpSpPr>
          <p:grpSpPr bwMode="auto">
            <a:xfrm>
              <a:off x="4538" y="3509"/>
              <a:ext cx="207" cy="379"/>
              <a:chOff x="1790" y="2899"/>
              <a:chExt cx="405" cy="740"/>
            </a:xfrm>
          </p:grpSpPr>
          <p:sp>
            <p:nvSpPr>
              <p:cNvPr id="49184" name="Oval 32"/>
              <p:cNvSpPr>
                <a:spLocks noChangeArrowheads="1"/>
              </p:cNvSpPr>
              <p:nvPr/>
            </p:nvSpPr>
            <p:spPr bwMode="auto">
              <a:xfrm>
                <a:off x="1790" y="3304"/>
                <a:ext cx="325" cy="335"/>
              </a:xfrm>
              <a:prstGeom prst="ellipse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400" u="none"/>
                  <a:t>27</a:t>
                </a:r>
              </a:p>
            </p:txBody>
          </p:sp>
          <p:cxnSp>
            <p:nvCxnSpPr>
              <p:cNvPr id="49185" name="AutoShape 33"/>
              <p:cNvCxnSpPr>
                <a:cxnSpLocks noChangeShapeType="1"/>
                <a:stCxn id="49170" idx="4"/>
                <a:endCxn id="49184" idx="0"/>
              </p:cNvCxnSpPr>
              <p:nvPr/>
            </p:nvCxnSpPr>
            <p:spPr bwMode="auto">
              <a:xfrm flipH="1">
                <a:off x="1953" y="2899"/>
                <a:ext cx="242" cy="40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Analysis of Insertion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/>
              <a:t>Initialization: </a:t>
            </a:r>
            <a:r>
              <a:rPr lang="en-US" i="1"/>
              <a:t>O</a:t>
            </a:r>
            <a:r>
              <a:rPr lang="en-US"/>
              <a:t>(1)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1000"/>
          </a:p>
          <a:p>
            <a:pPr>
              <a:lnSpc>
                <a:spcPct val="90000"/>
              </a:lnSpc>
            </a:pPr>
            <a:r>
              <a:rPr lang="en-US"/>
              <a:t>While loop in lines 3-7 searches for place to insert </a:t>
            </a:r>
            <a:r>
              <a:rPr lang="en-US" i="1"/>
              <a:t>z</a:t>
            </a:r>
            <a:r>
              <a:rPr lang="en-US"/>
              <a:t>, maintaining parent </a:t>
            </a:r>
            <a:r>
              <a:rPr lang="en-US" i="1"/>
              <a:t>y</a:t>
            </a:r>
            <a:r>
              <a:rPr lang="en-US"/>
              <a:t>.</a:t>
            </a:r>
            <a:br>
              <a:rPr lang="en-US"/>
            </a:br>
            <a:r>
              <a:rPr lang="en-US"/>
              <a:t>This takes </a:t>
            </a:r>
            <a:r>
              <a:rPr lang="en-US" i="1"/>
              <a:t>O</a:t>
            </a:r>
            <a:r>
              <a:rPr lang="en-US"/>
              <a:t>(</a:t>
            </a:r>
            <a:r>
              <a:rPr lang="en-US" i="1"/>
              <a:t>h</a:t>
            </a:r>
            <a:r>
              <a:rPr lang="en-US"/>
              <a:t>) time.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1000"/>
          </a:p>
          <a:p>
            <a:pPr>
              <a:lnSpc>
                <a:spcPct val="90000"/>
              </a:lnSpc>
            </a:pPr>
            <a:r>
              <a:rPr lang="en-US"/>
              <a:t>Lines 8-13 insert the value: </a:t>
            </a:r>
            <a:r>
              <a:rPr lang="en-US" i="1"/>
              <a:t>O</a:t>
            </a:r>
            <a:r>
              <a:rPr lang="en-US"/>
              <a:t>(1)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00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>
                <a:sym typeface="Symbol" pitchFamily="18" charset="2"/>
              </a:rPr>
              <a:t> </a:t>
            </a:r>
            <a:r>
              <a:rPr lang="en-US"/>
              <a:t>TOTAL: </a:t>
            </a:r>
            <a:r>
              <a:rPr lang="en-US" i="1"/>
              <a:t>O</a:t>
            </a:r>
            <a:r>
              <a:rPr lang="en-US"/>
              <a:t>(</a:t>
            </a:r>
            <a:r>
              <a:rPr lang="en-US" i="1"/>
              <a:t>h</a:t>
            </a:r>
            <a:r>
              <a:rPr lang="en-US"/>
              <a:t>) time to insert a node.</a:t>
            </a:r>
          </a:p>
        </p:txBody>
      </p:sp>
      <p:sp>
        <p:nvSpPr>
          <p:cNvPr id="18439" name="Rectangle 7"/>
          <p:cNvSpPr>
            <a:spLocks noChangeArrowheads="1"/>
          </p:cNvSpPr>
          <p:nvPr/>
        </p:nvSpPr>
        <p:spPr bwMode="auto">
          <a:xfrm>
            <a:off x="4648200" y="1143000"/>
            <a:ext cx="4191000" cy="53340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2075" tIns="46038" rIns="92075" bIns="46038"/>
          <a:lstStyle/>
          <a:p>
            <a:pPr marL="609600" indent="-609600">
              <a:lnSpc>
                <a:spcPct val="8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/>
              <a:t>Tree-Insert(</a:t>
            </a:r>
            <a:r>
              <a:rPr lang="en-US" i="1"/>
              <a:t>T</a:t>
            </a:r>
            <a:r>
              <a:rPr lang="en-US"/>
              <a:t>, </a:t>
            </a:r>
            <a:r>
              <a:rPr lang="en-US" i="1"/>
              <a:t>z</a:t>
            </a:r>
            <a:r>
              <a:rPr lang="en-US"/>
              <a:t>)</a:t>
            </a: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i="1" u="none"/>
              <a:t>y</a:t>
            </a:r>
            <a:r>
              <a:rPr lang="en-US" u="none"/>
              <a:t> </a:t>
            </a:r>
            <a:r>
              <a:rPr lang="en-US" u="none">
                <a:sym typeface="Symbol" pitchFamily="18" charset="2"/>
              </a:rPr>
              <a:t> NIL</a:t>
            </a: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i="1" u="none">
                <a:sym typeface="Symbol" pitchFamily="18" charset="2"/>
              </a:rPr>
              <a:t>x </a:t>
            </a:r>
            <a:r>
              <a:rPr lang="en-US" u="none">
                <a:sym typeface="Symbol" pitchFamily="18" charset="2"/>
              </a:rPr>
              <a:t> </a:t>
            </a:r>
            <a:r>
              <a:rPr lang="en-US" i="1" u="none">
                <a:sym typeface="Symbol" pitchFamily="18" charset="2"/>
              </a:rPr>
              <a:t>root</a:t>
            </a:r>
            <a:r>
              <a:rPr lang="en-US" u="none">
                <a:sym typeface="Symbol" pitchFamily="18" charset="2"/>
              </a:rPr>
              <a:t>[</a:t>
            </a:r>
            <a:r>
              <a:rPr lang="en-US" i="1" u="none">
                <a:sym typeface="Symbol" pitchFamily="18" charset="2"/>
              </a:rPr>
              <a:t>T</a:t>
            </a:r>
            <a:r>
              <a:rPr lang="en-US" u="none">
                <a:sym typeface="Symbol" pitchFamily="18" charset="2"/>
              </a:rPr>
              <a:t>]</a:t>
            </a: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b="1" u="none">
                <a:sym typeface="Symbol" pitchFamily="18" charset="2"/>
              </a:rPr>
              <a:t>while</a:t>
            </a:r>
            <a:r>
              <a:rPr lang="en-US" b="1" i="1" u="none">
                <a:sym typeface="Symbol" pitchFamily="18" charset="2"/>
              </a:rPr>
              <a:t> </a:t>
            </a:r>
            <a:r>
              <a:rPr lang="en-US" i="1" u="none">
                <a:sym typeface="Symbol" pitchFamily="18" charset="2"/>
              </a:rPr>
              <a:t>x</a:t>
            </a:r>
            <a:r>
              <a:rPr lang="en-US" u="none">
                <a:sym typeface="Symbol" pitchFamily="18" charset="2"/>
              </a:rPr>
              <a:t>  NIL</a:t>
            </a: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u="none">
                <a:sym typeface="Symbol" pitchFamily="18" charset="2"/>
              </a:rPr>
              <a:t>    </a:t>
            </a:r>
            <a:r>
              <a:rPr lang="en-US" b="1" u="none">
                <a:sym typeface="Symbol" pitchFamily="18" charset="2"/>
              </a:rPr>
              <a:t>do</a:t>
            </a:r>
            <a:r>
              <a:rPr lang="en-US" b="1" i="1" u="none">
                <a:sym typeface="Symbol" pitchFamily="18" charset="2"/>
              </a:rPr>
              <a:t> </a:t>
            </a:r>
            <a:r>
              <a:rPr lang="en-US" i="1" u="none">
                <a:sym typeface="Symbol" pitchFamily="18" charset="2"/>
              </a:rPr>
              <a:t>y </a:t>
            </a:r>
            <a:r>
              <a:rPr lang="en-US" u="none">
                <a:sym typeface="Symbol" pitchFamily="18" charset="2"/>
              </a:rPr>
              <a:t> </a:t>
            </a:r>
            <a:r>
              <a:rPr lang="en-US" i="1" u="none">
                <a:sym typeface="Symbol" pitchFamily="18" charset="2"/>
              </a:rPr>
              <a:t>x</a:t>
            </a:r>
            <a:endParaRPr lang="en-US" u="none">
              <a:sym typeface="Symbol" pitchFamily="18" charset="2"/>
            </a:endParaRP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u="none">
                <a:sym typeface="Symbol" pitchFamily="18" charset="2"/>
              </a:rPr>
              <a:t>         </a:t>
            </a:r>
            <a:r>
              <a:rPr lang="en-US" b="1" u="none">
                <a:sym typeface="Symbol" pitchFamily="18" charset="2"/>
              </a:rPr>
              <a:t>if</a:t>
            </a:r>
            <a:r>
              <a:rPr lang="en-US" b="1" i="1" u="none">
                <a:sym typeface="Symbol" pitchFamily="18" charset="2"/>
              </a:rPr>
              <a:t> </a:t>
            </a:r>
            <a:r>
              <a:rPr lang="en-US" i="1" u="none">
                <a:sym typeface="Symbol" pitchFamily="18" charset="2"/>
              </a:rPr>
              <a:t>key</a:t>
            </a:r>
            <a:r>
              <a:rPr lang="en-US" u="none">
                <a:sym typeface="Symbol" pitchFamily="18" charset="2"/>
              </a:rPr>
              <a:t>[</a:t>
            </a:r>
            <a:r>
              <a:rPr lang="en-US" i="1" u="none">
                <a:sym typeface="Symbol" pitchFamily="18" charset="2"/>
              </a:rPr>
              <a:t>z</a:t>
            </a:r>
            <a:r>
              <a:rPr lang="en-US" u="none">
                <a:sym typeface="Symbol" pitchFamily="18" charset="2"/>
              </a:rPr>
              <a:t>] &lt; </a:t>
            </a:r>
            <a:r>
              <a:rPr lang="en-US" i="1" u="none">
                <a:sym typeface="Symbol" pitchFamily="18" charset="2"/>
              </a:rPr>
              <a:t>key</a:t>
            </a:r>
            <a:r>
              <a:rPr lang="en-US" u="none">
                <a:sym typeface="Symbol" pitchFamily="18" charset="2"/>
              </a:rPr>
              <a:t>[</a:t>
            </a:r>
            <a:r>
              <a:rPr lang="en-US" i="1" u="none">
                <a:sym typeface="Symbol" pitchFamily="18" charset="2"/>
              </a:rPr>
              <a:t>x</a:t>
            </a:r>
            <a:r>
              <a:rPr lang="en-US" u="none">
                <a:sym typeface="Symbol" pitchFamily="18" charset="2"/>
              </a:rPr>
              <a:t>]</a:t>
            </a: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u="none">
                <a:sym typeface="Symbol" pitchFamily="18" charset="2"/>
              </a:rPr>
              <a:t>              </a:t>
            </a:r>
            <a:r>
              <a:rPr lang="en-US" b="1" u="none">
                <a:sym typeface="Symbol" pitchFamily="18" charset="2"/>
              </a:rPr>
              <a:t>then</a:t>
            </a:r>
            <a:r>
              <a:rPr lang="en-US" u="none">
                <a:sym typeface="Symbol" pitchFamily="18" charset="2"/>
              </a:rPr>
              <a:t> </a:t>
            </a:r>
            <a:r>
              <a:rPr lang="en-US" i="1" u="none">
                <a:sym typeface="Symbol" pitchFamily="18" charset="2"/>
              </a:rPr>
              <a:t>x </a:t>
            </a:r>
            <a:r>
              <a:rPr lang="en-US" u="none">
                <a:sym typeface="Symbol" pitchFamily="18" charset="2"/>
              </a:rPr>
              <a:t> </a:t>
            </a:r>
            <a:r>
              <a:rPr lang="en-US" i="1" u="none">
                <a:sym typeface="Symbol" pitchFamily="18" charset="2"/>
              </a:rPr>
              <a:t>left</a:t>
            </a:r>
            <a:r>
              <a:rPr lang="en-US" u="none">
                <a:sym typeface="Symbol" pitchFamily="18" charset="2"/>
              </a:rPr>
              <a:t>[</a:t>
            </a:r>
            <a:r>
              <a:rPr lang="en-US" i="1" u="none">
                <a:sym typeface="Symbol" pitchFamily="18" charset="2"/>
              </a:rPr>
              <a:t>x</a:t>
            </a:r>
            <a:r>
              <a:rPr lang="en-US" u="none">
                <a:sym typeface="Symbol" pitchFamily="18" charset="2"/>
              </a:rPr>
              <a:t>]</a:t>
            </a: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u="none">
                <a:sym typeface="Symbol" pitchFamily="18" charset="2"/>
              </a:rPr>
              <a:t>              </a:t>
            </a:r>
            <a:r>
              <a:rPr lang="en-US" b="1" u="none">
                <a:sym typeface="Symbol" pitchFamily="18" charset="2"/>
              </a:rPr>
              <a:t>else</a:t>
            </a:r>
            <a:r>
              <a:rPr lang="en-US" u="none">
                <a:sym typeface="Symbol" pitchFamily="18" charset="2"/>
              </a:rPr>
              <a:t> </a:t>
            </a:r>
            <a:r>
              <a:rPr lang="en-US" i="1" u="none">
                <a:sym typeface="Symbol" pitchFamily="18" charset="2"/>
              </a:rPr>
              <a:t>x </a:t>
            </a:r>
            <a:r>
              <a:rPr lang="en-US" u="none">
                <a:sym typeface="Symbol" pitchFamily="18" charset="2"/>
              </a:rPr>
              <a:t> </a:t>
            </a:r>
            <a:r>
              <a:rPr lang="en-US" i="1" u="none">
                <a:sym typeface="Symbol" pitchFamily="18" charset="2"/>
              </a:rPr>
              <a:t>right</a:t>
            </a:r>
            <a:r>
              <a:rPr lang="en-US" u="none">
                <a:sym typeface="Symbol" pitchFamily="18" charset="2"/>
              </a:rPr>
              <a:t>[</a:t>
            </a:r>
            <a:r>
              <a:rPr lang="en-US" i="1" u="none">
                <a:sym typeface="Symbol" pitchFamily="18" charset="2"/>
              </a:rPr>
              <a:t>x</a:t>
            </a:r>
            <a:r>
              <a:rPr lang="en-US" u="none">
                <a:sym typeface="Symbol" pitchFamily="18" charset="2"/>
              </a:rPr>
              <a:t>]</a:t>
            </a: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i="1" u="none">
                <a:sym typeface="Symbol" pitchFamily="18" charset="2"/>
              </a:rPr>
              <a:t>p</a:t>
            </a:r>
            <a:r>
              <a:rPr lang="en-US" u="none">
                <a:sym typeface="Symbol" pitchFamily="18" charset="2"/>
              </a:rPr>
              <a:t>[</a:t>
            </a:r>
            <a:r>
              <a:rPr lang="en-US" i="1" u="none">
                <a:sym typeface="Symbol" pitchFamily="18" charset="2"/>
              </a:rPr>
              <a:t>z</a:t>
            </a:r>
            <a:r>
              <a:rPr lang="en-US" u="none">
                <a:sym typeface="Symbol" pitchFamily="18" charset="2"/>
              </a:rPr>
              <a:t>]  </a:t>
            </a:r>
            <a:r>
              <a:rPr lang="en-US" i="1" u="none">
                <a:sym typeface="Symbol" pitchFamily="18" charset="2"/>
              </a:rPr>
              <a:t>y</a:t>
            </a:r>
            <a:endParaRPr lang="en-US" u="none">
              <a:sym typeface="Symbol" pitchFamily="18" charset="2"/>
            </a:endParaRP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b="1" u="none">
                <a:sym typeface="Symbol" pitchFamily="18" charset="2"/>
              </a:rPr>
              <a:t>if </a:t>
            </a:r>
            <a:r>
              <a:rPr lang="en-US" i="1" u="none">
                <a:sym typeface="Symbol" pitchFamily="18" charset="2"/>
              </a:rPr>
              <a:t>y </a:t>
            </a:r>
            <a:r>
              <a:rPr lang="en-US" u="none">
                <a:sym typeface="Symbol" pitchFamily="18" charset="2"/>
              </a:rPr>
              <a:t>= NIL</a:t>
            </a: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u="none">
                <a:sym typeface="Symbol" pitchFamily="18" charset="2"/>
              </a:rPr>
              <a:t>    </a:t>
            </a:r>
            <a:r>
              <a:rPr lang="en-US" b="1" u="none">
                <a:sym typeface="Symbol" pitchFamily="18" charset="2"/>
              </a:rPr>
              <a:t>then</a:t>
            </a:r>
            <a:r>
              <a:rPr lang="en-US" u="none">
                <a:sym typeface="Symbol" pitchFamily="18" charset="2"/>
              </a:rPr>
              <a:t> </a:t>
            </a:r>
            <a:r>
              <a:rPr lang="en-US" i="1" u="none">
                <a:sym typeface="Symbol" pitchFamily="18" charset="2"/>
              </a:rPr>
              <a:t>root</a:t>
            </a:r>
            <a:r>
              <a:rPr lang="en-US" u="none">
                <a:sym typeface="Symbol" pitchFamily="18" charset="2"/>
              </a:rPr>
              <a:t>[</a:t>
            </a:r>
            <a:r>
              <a:rPr lang="en-US" i="1" u="none">
                <a:sym typeface="Symbol" pitchFamily="18" charset="2"/>
              </a:rPr>
              <a:t>t</a:t>
            </a:r>
            <a:r>
              <a:rPr lang="en-US" u="none">
                <a:sym typeface="Symbol" pitchFamily="18" charset="2"/>
              </a:rPr>
              <a:t>]  </a:t>
            </a:r>
            <a:r>
              <a:rPr lang="en-US" i="1" u="none">
                <a:sym typeface="Symbol" pitchFamily="18" charset="2"/>
              </a:rPr>
              <a:t>z</a:t>
            </a:r>
            <a:endParaRPr lang="en-US" u="none">
              <a:sym typeface="Symbol" pitchFamily="18" charset="2"/>
            </a:endParaRP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u="none">
                <a:sym typeface="Symbol" pitchFamily="18" charset="2"/>
              </a:rPr>
              <a:t>    </a:t>
            </a:r>
            <a:r>
              <a:rPr lang="en-US" b="1" u="none">
                <a:sym typeface="Symbol" pitchFamily="18" charset="2"/>
              </a:rPr>
              <a:t>else</a:t>
            </a:r>
            <a:r>
              <a:rPr lang="en-US" u="none">
                <a:sym typeface="Symbol" pitchFamily="18" charset="2"/>
              </a:rPr>
              <a:t> </a:t>
            </a:r>
            <a:r>
              <a:rPr lang="en-US" b="1" u="none">
                <a:sym typeface="Symbol" pitchFamily="18" charset="2"/>
              </a:rPr>
              <a:t>if</a:t>
            </a:r>
            <a:r>
              <a:rPr lang="en-US" u="none">
                <a:sym typeface="Symbol" pitchFamily="18" charset="2"/>
              </a:rPr>
              <a:t> </a:t>
            </a:r>
            <a:r>
              <a:rPr lang="en-US" i="1" u="none">
                <a:sym typeface="Symbol" pitchFamily="18" charset="2"/>
              </a:rPr>
              <a:t>key</a:t>
            </a:r>
            <a:r>
              <a:rPr lang="en-US" u="none">
                <a:sym typeface="Symbol" pitchFamily="18" charset="2"/>
              </a:rPr>
              <a:t>[</a:t>
            </a:r>
            <a:r>
              <a:rPr lang="en-US" i="1" u="none">
                <a:sym typeface="Symbol" pitchFamily="18" charset="2"/>
              </a:rPr>
              <a:t>z</a:t>
            </a:r>
            <a:r>
              <a:rPr lang="en-US" u="none">
                <a:sym typeface="Symbol" pitchFamily="18" charset="2"/>
              </a:rPr>
              <a:t>] &lt; </a:t>
            </a:r>
            <a:r>
              <a:rPr lang="en-US" i="1" u="none">
                <a:sym typeface="Symbol" pitchFamily="18" charset="2"/>
              </a:rPr>
              <a:t>key</a:t>
            </a:r>
            <a:r>
              <a:rPr lang="en-US" u="none">
                <a:sym typeface="Symbol" pitchFamily="18" charset="2"/>
              </a:rPr>
              <a:t>[</a:t>
            </a:r>
            <a:r>
              <a:rPr lang="en-US" i="1" u="none">
                <a:sym typeface="Symbol" pitchFamily="18" charset="2"/>
              </a:rPr>
              <a:t>y</a:t>
            </a:r>
            <a:r>
              <a:rPr lang="en-US" u="none">
                <a:sym typeface="Symbol" pitchFamily="18" charset="2"/>
              </a:rPr>
              <a:t>]</a:t>
            </a: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u="none">
                <a:sym typeface="Symbol" pitchFamily="18" charset="2"/>
              </a:rPr>
              <a:t>          </a:t>
            </a:r>
            <a:r>
              <a:rPr lang="en-US" b="1" u="none">
                <a:sym typeface="Symbol" pitchFamily="18" charset="2"/>
              </a:rPr>
              <a:t>then  </a:t>
            </a:r>
            <a:r>
              <a:rPr lang="en-US" i="1" u="none">
                <a:sym typeface="Symbol" pitchFamily="18" charset="2"/>
              </a:rPr>
              <a:t>left</a:t>
            </a:r>
            <a:r>
              <a:rPr lang="en-US" u="none">
                <a:sym typeface="Symbol" pitchFamily="18" charset="2"/>
              </a:rPr>
              <a:t>[</a:t>
            </a:r>
            <a:r>
              <a:rPr lang="en-US" i="1" u="none">
                <a:sym typeface="Symbol" pitchFamily="18" charset="2"/>
              </a:rPr>
              <a:t>y</a:t>
            </a:r>
            <a:r>
              <a:rPr lang="en-US" u="none">
                <a:sym typeface="Symbol" pitchFamily="18" charset="2"/>
              </a:rPr>
              <a:t>]  </a:t>
            </a:r>
            <a:r>
              <a:rPr lang="en-US" i="1" u="none">
                <a:sym typeface="Symbol" pitchFamily="18" charset="2"/>
              </a:rPr>
              <a:t>z</a:t>
            </a:r>
            <a:endParaRPr lang="en-US" u="none">
              <a:sym typeface="Symbol" pitchFamily="18" charset="2"/>
            </a:endParaRP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u="none">
                <a:sym typeface="Symbol" pitchFamily="18" charset="2"/>
              </a:rPr>
              <a:t>          </a:t>
            </a:r>
            <a:r>
              <a:rPr lang="en-US" b="1" u="none">
                <a:sym typeface="Symbol" pitchFamily="18" charset="2"/>
              </a:rPr>
              <a:t>else</a:t>
            </a:r>
            <a:r>
              <a:rPr lang="en-US" u="none">
                <a:sym typeface="Symbol" pitchFamily="18" charset="2"/>
              </a:rPr>
              <a:t> </a:t>
            </a:r>
            <a:r>
              <a:rPr lang="en-US" i="1" u="none">
                <a:sym typeface="Symbol" pitchFamily="18" charset="2"/>
              </a:rPr>
              <a:t>right</a:t>
            </a:r>
            <a:r>
              <a:rPr lang="en-US" u="none">
                <a:sym typeface="Symbol" pitchFamily="18" charset="2"/>
              </a:rPr>
              <a:t>[</a:t>
            </a:r>
            <a:r>
              <a:rPr lang="en-US" i="1" u="none">
                <a:sym typeface="Symbol" pitchFamily="18" charset="2"/>
              </a:rPr>
              <a:t>y</a:t>
            </a:r>
            <a:r>
              <a:rPr lang="en-US" u="none">
                <a:sym typeface="Symbol" pitchFamily="18" charset="2"/>
              </a:rPr>
              <a:t>]  </a:t>
            </a:r>
            <a:r>
              <a:rPr lang="en-US" i="1" u="none">
                <a:sym typeface="Symbol" pitchFamily="18" charset="2"/>
              </a:rPr>
              <a:t>z</a:t>
            </a:r>
            <a:endParaRPr lang="en-US" u="none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Sorting Using BSTs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7772400" cy="4751388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/>
              <a:t>Sort (</a:t>
            </a:r>
            <a:r>
              <a:rPr lang="en-US" i="1"/>
              <a:t>A</a:t>
            </a:r>
            <a:r>
              <a:rPr lang="en-US"/>
              <a:t>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/>
              <a:t>	for </a:t>
            </a:r>
            <a:r>
              <a:rPr lang="en-US" i="1"/>
              <a:t>i</a:t>
            </a:r>
            <a:r>
              <a:rPr lang="en-US"/>
              <a:t> </a:t>
            </a:r>
            <a:r>
              <a:rPr lang="en-US" sz="2400">
                <a:sym typeface="Symbol" pitchFamily="18" charset="2"/>
              </a:rPr>
              <a:t></a:t>
            </a:r>
            <a:r>
              <a:rPr lang="en-US"/>
              <a:t> 1 to </a:t>
            </a:r>
            <a:r>
              <a:rPr lang="en-US" i="1"/>
              <a:t>n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/>
              <a:t>        do tree-insert(</a:t>
            </a:r>
            <a:r>
              <a:rPr lang="en-US" i="1"/>
              <a:t>A</a:t>
            </a:r>
            <a:r>
              <a:rPr lang="en-US"/>
              <a:t>[</a:t>
            </a:r>
            <a:r>
              <a:rPr lang="en-US" i="1"/>
              <a:t>i</a:t>
            </a:r>
            <a:r>
              <a:rPr lang="en-US"/>
              <a:t>])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/>
              <a:t>   inorder-tree-walk(</a:t>
            </a:r>
            <a:r>
              <a:rPr lang="en-US" i="1"/>
              <a:t>root</a:t>
            </a:r>
            <a:r>
              <a:rPr lang="en-US"/>
              <a:t>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/>
          </a:p>
          <a:p>
            <a:pPr lvl="1">
              <a:lnSpc>
                <a:spcPct val="90000"/>
              </a:lnSpc>
            </a:pPr>
            <a:r>
              <a:rPr lang="en-US"/>
              <a:t>What are the worst case and best case running times?</a:t>
            </a:r>
          </a:p>
          <a:p>
            <a:pPr lvl="1">
              <a:lnSpc>
                <a:spcPct val="90000"/>
              </a:lnSpc>
            </a:pPr>
            <a:r>
              <a:rPr lang="en-US"/>
              <a:t>In practice, how would this compare to other sorting algorithms?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Tree-Delete (</a:t>
            </a:r>
            <a:r>
              <a:rPr lang="en-US" i="1" dirty="0"/>
              <a:t>T, x</a:t>
            </a:r>
            <a:r>
              <a:rPr lang="en-US" dirty="0"/>
              <a:t>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096250" cy="51816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/>
              <a:t>if </a:t>
            </a:r>
            <a:r>
              <a:rPr lang="en-US" i="1"/>
              <a:t>x</a:t>
            </a:r>
            <a:r>
              <a:rPr lang="en-US"/>
              <a:t> has no children                  	</a:t>
            </a:r>
            <a:r>
              <a:rPr lang="en-US">
                <a:sym typeface="Symbol" pitchFamily="18" charset="2"/>
              </a:rPr>
              <a:t> case 0</a:t>
            </a:r>
            <a:endParaRPr lang="en-US"/>
          </a:p>
          <a:p>
            <a:pPr>
              <a:buFont typeface="Wingdings" pitchFamily="2" charset="2"/>
              <a:buNone/>
            </a:pPr>
            <a:r>
              <a:rPr lang="en-US"/>
              <a:t>  	then remove </a:t>
            </a:r>
            <a:r>
              <a:rPr lang="en-US" i="1"/>
              <a:t>x</a:t>
            </a:r>
            <a:endParaRPr lang="en-US"/>
          </a:p>
          <a:p>
            <a:pPr>
              <a:buFont typeface="Wingdings" pitchFamily="2" charset="2"/>
              <a:buNone/>
            </a:pPr>
            <a:r>
              <a:rPr lang="en-US"/>
              <a:t>if </a:t>
            </a:r>
            <a:r>
              <a:rPr lang="en-US" i="1"/>
              <a:t>x</a:t>
            </a:r>
            <a:r>
              <a:rPr lang="en-US"/>
              <a:t> has one child			</a:t>
            </a:r>
            <a:r>
              <a:rPr lang="en-US">
                <a:sym typeface="Symbol" pitchFamily="18" charset="2"/>
              </a:rPr>
              <a:t> case 1</a:t>
            </a:r>
            <a:endParaRPr lang="en-US"/>
          </a:p>
          <a:p>
            <a:pPr>
              <a:buFont typeface="Wingdings" pitchFamily="2" charset="2"/>
              <a:buNone/>
            </a:pPr>
            <a:r>
              <a:rPr lang="en-US"/>
              <a:t>	then make </a:t>
            </a:r>
            <a:r>
              <a:rPr lang="en-US" i="1"/>
              <a:t>p</a:t>
            </a:r>
            <a:r>
              <a:rPr lang="en-US"/>
              <a:t>[</a:t>
            </a:r>
            <a:r>
              <a:rPr lang="en-US" i="1"/>
              <a:t>x</a:t>
            </a:r>
            <a:r>
              <a:rPr lang="en-US"/>
              <a:t>] point to child</a:t>
            </a:r>
          </a:p>
          <a:p>
            <a:pPr>
              <a:buFont typeface="Wingdings" pitchFamily="2" charset="2"/>
              <a:buNone/>
            </a:pPr>
            <a:r>
              <a:rPr lang="en-US"/>
              <a:t>if </a:t>
            </a:r>
            <a:r>
              <a:rPr lang="en-US" i="1"/>
              <a:t>x</a:t>
            </a:r>
            <a:r>
              <a:rPr lang="en-US"/>
              <a:t> has two children (subtrees) 	</a:t>
            </a:r>
            <a:r>
              <a:rPr lang="en-US">
                <a:sym typeface="Symbol" pitchFamily="18" charset="2"/>
              </a:rPr>
              <a:t> case 2</a:t>
            </a:r>
            <a:endParaRPr lang="en-US"/>
          </a:p>
          <a:p>
            <a:pPr>
              <a:buFont typeface="Wingdings" pitchFamily="2" charset="2"/>
              <a:buNone/>
            </a:pPr>
            <a:r>
              <a:rPr lang="en-US"/>
              <a:t>   then swap </a:t>
            </a:r>
            <a:r>
              <a:rPr lang="en-US" i="1"/>
              <a:t>x</a:t>
            </a:r>
            <a:r>
              <a:rPr lang="en-US"/>
              <a:t> with its successor</a:t>
            </a:r>
          </a:p>
          <a:p>
            <a:pPr>
              <a:buFont typeface="Wingdings" pitchFamily="2" charset="2"/>
              <a:buNone/>
            </a:pPr>
            <a:r>
              <a:rPr lang="en-US"/>
              <a:t>            perform case 0 or case 1 to delete it</a:t>
            </a:r>
          </a:p>
          <a:p>
            <a:pPr>
              <a:buFont typeface="Wingdings" pitchFamily="2" charset="2"/>
              <a:buNone/>
            </a:pPr>
            <a:endParaRPr lang="en-US" sz="2400"/>
          </a:p>
          <a:p>
            <a:pPr>
              <a:buFont typeface="Wingdings" pitchFamily="2" charset="2"/>
              <a:buNone/>
            </a:pPr>
            <a:r>
              <a:rPr lang="en-US">
                <a:sym typeface="Symbol" pitchFamily="18" charset="2"/>
              </a:rPr>
              <a:t> </a:t>
            </a:r>
            <a:r>
              <a:rPr lang="en-US"/>
              <a:t>TOTAL: </a:t>
            </a:r>
            <a:r>
              <a:rPr lang="en-US" i="1"/>
              <a:t>O</a:t>
            </a:r>
            <a:r>
              <a:rPr lang="en-US"/>
              <a:t>(</a:t>
            </a:r>
            <a:r>
              <a:rPr lang="en-US" i="1"/>
              <a:t>h</a:t>
            </a:r>
            <a:r>
              <a:rPr lang="en-US"/>
              <a:t>) time to delete a node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2413" cy="685800"/>
          </a:xfrm>
        </p:spPr>
        <p:txBody>
          <a:bodyPr>
            <a:normAutofit fontScale="90000"/>
          </a:bodyPr>
          <a:lstStyle/>
          <a:p>
            <a:r>
              <a:rPr lang="en-US"/>
              <a:t>Deletion – Pseudocode 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685800"/>
            <a:ext cx="8305800" cy="5791200"/>
          </a:xfrm>
          <a:solidFill>
            <a:srgbClr val="CCECFF"/>
          </a:solidFill>
          <a:ln>
            <a:solidFill>
              <a:schemeClr val="tx1"/>
            </a:solidFill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normAutofit lnSpcReduction="10000"/>
          </a:bodyPr>
          <a:lstStyle/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400" u="sng" dirty="0"/>
              <a:t>Tree-Delete(</a:t>
            </a:r>
            <a:r>
              <a:rPr lang="en-US" sz="2400" i="1" u="sng" dirty="0"/>
              <a:t>T</a:t>
            </a:r>
            <a:r>
              <a:rPr lang="en-US" sz="2400" u="sng" dirty="0"/>
              <a:t>, </a:t>
            </a:r>
            <a:r>
              <a:rPr lang="en-US" sz="2400" i="1" u="sng" dirty="0"/>
              <a:t>z</a:t>
            </a:r>
            <a:r>
              <a:rPr lang="en-US" sz="2400" u="sng" dirty="0"/>
              <a:t>)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400" b="1" dirty="0"/>
              <a:t>/* </a:t>
            </a:r>
            <a:r>
              <a:rPr lang="en-US" sz="2400" dirty="0"/>
              <a:t>Determine which node to splice out: either </a:t>
            </a:r>
            <a:r>
              <a:rPr lang="en-US" sz="2400" i="1" dirty="0"/>
              <a:t>z</a:t>
            </a:r>
            <a:r>
              <a:rPr lang="en-US" sz="2400" dirty="0"/>
              <a:t> or </a:t>
            </a:r>
            <a:r>
              <a:rPr lang="en-US" sz="2400" i="1" dirty="0" err="1"/>
              <a:t>z</a:t>
            </a:r>
            <a:r>
              <a:rPr lang="en-US" sz="2400" dirty="0" err="1"/>
              <a:t>’s</a:t>
            </a:r>
            <a:r>
              <a:rPr lang="en-US" sz="2400" dirty="0"/>
              <a:t> successor. */</a:t>
            </a:r>
            <a:endParaRPr lang="en-US" sz="2400" dirty="0">
              <a:sym typeface="Symbol" pitchFamily="18" charset="2"/>
            </a:endParaRPr>
          </a:p>
          <a:p>
            <a:pPr marL="609600" indent="-609600">
              <a:lnSpc>
                <a:spcPct val="90000"/>
              </a:lnSpc>
            </a:pPr>
            <a:r>
              <a:rPr lang="en-US" sz="2400" dirty="0">
                <a:sym typeface="Symbol" pitchFamily="18" charset="2"/>
              </a:rPr>
              <a:t> </a:t>
            </a:r>
            <a:r>
              <a:rPr lang="en-US" sz="2400" b="1" dirty="0">
                <a:sym typeface="Symbol" pitchFamily="18" charset="2"/>
              </a:rPr>
              <a:t>if </a:t>
            </a:r>
            <a:r>
              <a:rPr lang="en-US" sz="2400" i="1" dirty="0">
                <a:sym typeface="Symbol" pitchFamily="18" charset="2"/>
              </a:rPr>
              <a:t>left</a:t>
            </a:r>
            <a:r>
              <a:rPr lang="en-US" sz="2400" dirty="0">
                <a:sym typeface="Symbol" pitchFamily="18" charset="2"/>
              </a:rPr>
              <a:t>[</a:t>
            </a:r>
            <a:r>
              <a:rPr lang="en-US" sz="2400" i="1" dirty="0">
                <a:sym typeface="Symbol" pitchFamily="18" charset="2"/>
              </a:rPr>
              <a:t>z</a:t>
            </a:r>
            <a:r>
              <a:rPr lang="en-US" sz="2400" dirty="0">
                <a:sym typeface="Symbol" pitchFamily="18" charset="2"/>
              </a:rPr>
              <a:t>] = NIL </a:t>
            </a:r>
            <a:r>
              <a:rPr lang="en-US" sz="2400" b="1" dirty="0">
                <a:sym typeface="Symbol" pitchFamily="18" charset="2"/>
              </a:rPr>
              <a:t>or </a:t>
            </a:r>
            <a:r>
              <a:rPr lang="en-US" sz="2400" i="1" dirty="0">
                <a:sym typeface="Symbol" pitchFamily="18" charset="2"/>
              </a:rPr>
              <a:t>right</a:t>
            </a:r>
            <a:r>
              <a:rPr lang="en-US" sz="2400" dirty="0">
                <a:sym typeface="Symbol" pitchFamily="18" charset="2"/>
              </a:rPr>
              <a:t>[</a:t>
            </a:r>
            <a:r>
              <a:rPr lang="en-US" sz="2400" i="1" dirty="0">
                <a:sym typeface="Symbol" pitchFamily="18" charset="2"/>
              </a:rPr>
              <a:t>z</a:t>
            </a:r>
            <a:r>
              <a:rPr lang="en-US" sz="2400" dirty="0">
                <a:sym typeface="Symbol" pitchFamily="18" charset="2"/>
              </a:rPr>
              <a:t>] = NIL</a:t>
            </a:r>
          </a:p>
          <a:p>
            <a:pPr marL="609600" indent="-609600">
              <a:lnSpc>
                <a:spcPct val="90000"/>
              </a:lnSpc>
            </a:pPr>
            <a:r>
              <a:rPr lang="en-US" sz="2400" b="1" dirty="0">
                <a:sym typeface="Symbol" pitchFamily="18" charset="2"/>
              </a:rPr>
              <a:t>     then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i="1" dirty="0">
                <a:sym typeface="Symbol" pitchFamily="18" charset="2"/>
              </a:rPr>
              <a:t>y</a:t>
            </a:r>
            <a:r>
              <a:rPr lang="en-US" sz="2400" dirty="0">
                <a:sym typeface="Symbol" pitchFamily="18" charset="2"/>
              </a:rPr>
              <a:t>  </a:t>
            </a:r>
            <a:r>
              <a:rPr lang="en-US" sz="2400" i="1" dirty="0">
                <a:sym typeface="Symbol" pitchFamily="18" charset="2"/>
              </a:rPr>
              <a:t>z</a:t>
            </a:r>
            <a:endParaRPr lang="en-US" sz="2400" dirty="0">
              <a:sym typeface="Symbol" pitchFamily="18" charset="2"/>
            </a:endParaRPr>
          </a:p>
          <a:p>
            <a:pPr marL="609600" indent="-609600">
              <a:lnSpc>
                <a:spcPct val="90000"/>
              </a:lnSpc>
            </a:pPr>
            <a:r>
              <a:rPr lang="en-US" sz="2400" dirty="0">
                <a:sym typeface="Symbol" pitchFamily="18" charset="2"/>
              </a:rPr>
              <a:t>     </a:t>
            </a:r>
            <a:r>
              <a:rPr lang="en-US" sz="2400" b="1" dirty="0">
                <a:sym typeface="Symbol" pitchFamily="18" charset="2"/>
              </a:rPr>
              <a:t>else</a:t>
            </a:r>
            <a:r>
              <a:rPr lang="en-US" sz="2400" b="1" i="1" dirty="0">
                <a:sym typeface="Symbol" pitchFamily="18" charset="2"/>
              </a:rPr>
              <a:t> </a:t>
            </a:r>
            <a:r>
              <a:rPr lang="en-US" sz="2400" i="1" dirty="0">
                <a:sym typeface="Symbol" pitchFamily="18" charset="2"/>
              </a:rPr>
              <a:t>y </a:t>
            </a:r>
            <a:r>
              <a:rPr lang="en-US" sz="2400" dirty="0">
                <a:sym typeface="Symbol" pitchFamily="18" charset="2"/>
              </a:rPr>
              <a:t> Tree-Successor[z]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400" b="1" dirty="0"/>
              <a:t>/* </a:t>
            </a:r>
            <a:r>
              <a:rPr lang="en-US" sz="2400" dirty="0"/>
              <a:t>Set </a:t>
            </a:r>
            <a:r>
              <a:rPr lang="en-US" sz="2400" i="1" dirty="0"/>
              <a:t>x</a:t>
            </a:r>
            <a:r>
              <a:rPr lang="en-US" sz="2400" dirty="0"/>
              <a:t> to a non-NIL child of </a:t>
            </a:r>
            <a:r>
              <a:rPr lang="en-US" sz="2400" i="1" dirty="0"/>
              <a:t>x</a:t>
            </a:r>
            <a:r>
              <a:rPr lang="en-US" sz="2400" dirty="0"/>
              <a:t>, or to NIL if </a:t>
            </a:r>
            <a:r>
              <a:rPr lang="en-US" sz="2400" i="1" dirty="0"/>
              <a:t>y</a:t>
            </a:r>
            <a:r>
              <a:rPr lang="en-US" sz="2400" dirty="0"/>
              <a:t> has no children. */</a:t>
            </a:r>
            <a:endParaRPr lang="en-US" sz="2400" dirty="0">
              <a:sym typeface="Symbol" pitchFamily="18" charset="2"/>
            </a:endParaRP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 startAt="4"/>
            </a:pPr>
            <a:r>
              <a:rPr lang="en-US" sz="2400" b="1" dirty="0">
                <a:sym typeface="Symbol" pitchFamily="18" charset="2"/>
              </a:rPr>
              <a:t>if</a:t>
            </a:r>
            <a:r>
              <a:rPr lang="en-US" sz="2400" dirty="0">
                <a:sym typeface="Symbol" pitchFamily="18" charset="2"/>
              </a:rPr>
              <a:t>  </a:t>
            </a:r>
            <a:r>
              <a:rPr lang="en-US" sz="2400" i="1" dirty="0">
                <a:sym typeface="Symbol" pitchFamily="18" charset="2"/>
              </a:rPr>
              <a:t>left</a:t>
            </a:r>
            <a:r>
              <a:rPr lang="en-US" sz="2400" dirty="0">
                <a:sym typeface="Symbol" pitchFamily="18" charset="2"/>
              </a:rPr>
              <a:t>[</a:t>
            </a:r>
            <a:r>
              <a:rPr lang="en-US" sz="2400" i="1" dirty="0">
                <a:sym typeface="Symbol" pitchFamily="18" charset="2"/>
              </a:rPr>
              <a:t>y</a:t>
            </a:r>
            <a:r>
              <a:rPr lang="en-US" sz="2400" dirty="0">
                <a:sym typeface="Symbol" pitchFamily="18" charset="2"/>
              </a:rPr>
              <a:t>]  NIL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 startAt="4"/>
            </a:pPr>
            <a:r>
              <a:rPr lang="en-US" sz="2400" dirty="0">
                <a:sym typeface="Symbol" pitchFamily="18" charset="2"/>
              </a:rPr>
              <a:t>      </a:t>
            </a:r>
            <a:r>
              <a:rPr lang="en-US" sz="2400" b="1" dirty="0">
                <a:sym typeface="Symbol" pitchFamily="18" charset="2"/>
              </a:rPr>
              <a:t>then </a:t>
            </a:r>
            <a:r>
              <a:rPr lang="en-US" sz="2400" i="1" dirty="0">
                <a:sym typeface="Symbol" pitchFamily="18" charset="2"/>
              </a:rPr>
              <a:t>x </a:t>
            </a:r>
            <a:r>
              <a:rPr lang="en-US" sz="2400" dirty="0">
                <a:sym typeface="Symbol" pitchFamily="18" charset="2"/>
              </a:rPr>
              <a:t> </a:t>
            </a:r>
            <a:r>
              <a:rPr lang="en-US" sz="2400" i="1" dirty="0">
                <a:sym typeface="Symbol" pitchFamily="18" charset="2"/>
              </a:rPr>
              <a:t>left</a:t>
            </a:r>
            <a:r>
              <a:rPr lang="en-US" sz="2400" dirty="0">
                <a:sym typeface="Symbol" pitchFamily="18" charset="2"/>
              </a:rPr>
              <a:t>[</a:t>
            </a:r>
            <a:r>
              <a:rPr lang="en-US" sz="2400" i="1" dirty="0">
                <a:sym typeface="Symbol" pitchFamily="18" charset="2"/>
              </a:rPr>
              <a:t>y</a:t>
            </a:r>
            <a:r>
              <a:rPr lang="en-US" sz="2400" dirty="0">
                <a:sym typeface="Symbol" pitchFamily="18" charset="2"/>
              </a:rPr>
              <a:t>]</a:t>
            </a:r>
            <a:r>
              <a:rPr lang="en-US" sz="2400" b="1" dirty="0">
                <a:sym typeface="Symbol" pitchFamily="18" charset="2"/>
              </a:rPr>
              <a:t> </a:t>
            </a:r>
            <a:endParaRPr lang="en-US" sz="2400" dirty="0">
              <a:sym typeface="Symbol" pitchFamily="18" charset="2"/>
            </a:endParaRP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 startAt="4"/>
            </a:pPr>
            <a:r>
              <a:rPr lang="en-US" sz="2400" dirty="0">
                <a:sym typeface="Symbol" pitchFamily="18" charset="2"/>
              </a:rPr>
              <a:t>      </a:t>
            </a:r>
            <a:r>
              <a:rPr lang="en-US" sz="2400" b="1" dirty="0">
                <a:sym typeface="Symbol" pitchFamily="18" charset="2"/>
              </a:rPr>
              <a:t>else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i="1" dirty="0">
                <a:sym typeface="Symbol" pitchFamily="18" charset="2"/>
              </a:rPr>
              <a:t>x </a:t>
            </a:r>
            <a:r>
              <a:rPr lang="en-US" sz="2400" dirty="0">
                <a:sym typeface="Symbol" pitchFamily="18" charset="2"/>
              </a:rPr>
              <a:t> </a:t>
            </a:r>
            <a:r>
              <a:rPr lang="en-US" sz="2400" i="1" dirty="0">
                <a:sym typeface="Symbol" pitchFamily="18" charset="2"/>
              </a:rPr>
              <a:t>right</a:t>
            </a:r>
            <a:r>
              <a:rPr lang="en-US" sz="2400" dirty="0">
                <a:sym typeface="Symbol" pitchFamily="18" charset="2"/>
              </a:rPr>
              <a:t>[</a:t>
            </a:r>
            <a:r>
              <a:rPr lang="en-US" sz="2400" i="1" dirty="0">
                <a:sym typeface="Symbol" pitchFamily="18" charset="2"/>
              </a:rPr>
              <a:t>y</a:t>
            </a:r>
            <a:r>
              <a:rPr lang="en-US" sz="2400" dirty="0">
                <a:sym typeface="Symbol" pitchFamily="18" charset="2"/>
              </a:rPr>
              <a:t>]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400" b="1" dirty="0"/>
              <a:t>/* </a:t>
            </a:r>
            <a:r>
              <a:rPr lang="en-US" sz="2400" i="1" dirty="0"/>
              <a:t>y</a:t>
            </a:r>
            <a:r>
              <a:rPr lang="en-US" sz="2400" dirty="0"/>
              <a:t> is removed from the tree by manipulating pointers of  </a:t>
            </a:r>
            <a:r>
              <a:rPr lang="en-US" sz="2400" i="1" dirty="0"/>
              <a:t>p</a:t>
            </a:r>
            <a:r>
              <a:rPr lang="en-US" sz="2400" dirty="0"/>
              <a:t>[</a:t>
            </a:r>
            <a:r>
              <a:rPr lang="en-US" sz="2400" i="1" dirty="0"/>
              <a:t>y</a:t>
            </a:r>
            <a:r>
              <a:rPr lang="en-US" sz="2400" dirty="0"/>
              <a:t>] and </a:t>
            </a:r>
            <a:r>
              <a:rPr lang="en-US" sz="2400" i="1" dirty="0"/>
              <a:t>x */</a:t>
            </a:r>
            <a:endParaRPr lang="en-US" sz="2400" i="1" dirty="0">
              <a:sym typeface="Symbol" pitchFamily="18" charset="2"/>
            </a:endParaRP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 startAt="7"/>
            </a:pPr>
            <a:r>
              <a:rPr lang="en-US" sz="2400" b="1" dirty="0">
                <a:sym typeface="Symbol" pitchFamily="18" charset="2"/>
              </a:rPr>
              <a:t>if </a:t>
            </a:r>
            <a:r>
              <a:rPr lang="en-US" sz="2400" i="1" dirty="0">
                <a:sym typeface="Symbol" pitchFamily="18" charset="2"/>
              </a:rPr>
              <a:t>x </a:t>
            </a:r>
            <a:r>
              <a:rPr lang="en-US" sz="2400" dirty="0">
                <a:sym typeface="Symbol" pitchFamily="18" charset="2"/>
              </a:rPr>
              <a:t> NIL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 startAt="7"/>
            </a:pPr>
            <a:r>
              <a:rPr lang="en-US" sz="2400" dirty="0">
                <a:sym typeface="Symbol" pitchFamily="18" charset="2"/>
              </a:rPr>
              <a:t>    </a:t>
            </a:r>
            <a:r>
              <a:rPr lang="en-US" sz="2400" b="1" dirty="0">
                <a:sym typeface="Symbol" pitchFamily="18" charset="2"/>
              </a:rPr>
              <a:t>then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i="1" dirty="0">
                <a:sym typeface="Symbol" pitchFamily="18" charset="2"/>
              </a:rPr>
              <a:t>p</a:t>
            </a:r>
            <a:r>
              <a:rPr lang="en-US" sz="2400" dirty="0">
                <a:sym typeface="Symbol" pitchFamily="18" charset="2"/>
              </a:rPr>
              <a:t>[</a:t>
            </a:r>
            <a:r>
              <a:rPr lang="en-US" sz="2400" i="1" dirty="0">
                <a:sym typeface="Symbol" pitchFamily="18" charset="2"/>
              </a:rPr>
              <a:t>x</a:t>
            </a:r>
            <a:r>
              <a:rPr lang="en-US" sz="2400" dirty="0">
                <a:sym typeface="Symbol" pitchFamily="18" charset="2"/>
              </a:rPr>
              <a:t>]  </a:t>
            </a:r>
            <a:r>
              <a:rPr lang="en-US" sz="2400" i="1" dirty="0">
                <a:sym typeface="Symbol" pitchFamily="18" charset="2"/>
              </a:rPr>
              <a:t>p</a:t>
            </a:r>
            <a:r>
              <a:rPr lang="en-US" sz="2400" dirty="0">
                <a:sym typeface="Symbol" pitchFamily="18" charset="2"/>
              </a:rPr>
              <a:t>[</a:t>
            </a:r>
            <a:r>
              <a:rPr lang="en-US" sz="2400" i="1" dirty="0">
                <a:sym typeface="Symbol" pitchFamily="18" charset="2"/>
              </a:rPr>
              <a:t>y</a:t>
            </a:r>
            <a:r>
              <a:rPr lang="en-US" sz="2400" dirty="0">
                <a:sym typeface="Symbol" pitchFamily="18" charset="2"/>
              </a:rPr>
              <a:t>]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>
                <a:sym typeface="Symbol" pitchFamily="18" charset="2"/>
              </a:rPr>
              <a:t>/* Continued on next slide */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2413" cy="685800"/>
          </a:xfrm>
        </p:spPr>
        <p:txBody>
          <a:bodyPr>
            <a:normAutofit fontScale="90000"/>
          </a:bodyPr>
          <a:lstStyle/>
          <a:p>
            <a:r>
              <a:rPr lang="en-US"/>
              <a:t>Deletion – Pseudocode 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8305800" cy="5257800"/>
          </a:xfrm>
          <a:solidFill>
            <a:srgbClr val="CCECFF"/>
          </a:solidFill>
          <a:ln>
            <a:solidFill>
              <a:schemeClr val="tx1"/>
            </a:solidFill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marL="609600" indent="-609600">
              <a:buFont typeface="Wingdings" pitchFamily="2" charset="2"/>
              <a:buNone/>
            </a:pPr>
            <a:r>
              <a:rPr lang="en-US" sz="2400" u="sng">
                <a:solidFill>
                  <a:srgbClr val="CC3300"/>
                </a:solidFill>
              </a:rPr>
              <a:t>Tree-Delete(</a:t>
            </a:r>
            <a:r>
              <a:rPr lang="en-US" sz="2400" i="1" u="sng">
                <a:solidFill>
                  <a:srgbClr val="CC3300"/>
                </a:solidFill>
              </a:rPr>
              <a:t>T</a:t>
            </a:r>
            <a:r>
              <a:rPr lang="en-US" sz="2400" u="sng">
                <a:solidFill>
                  <a:srgbClr val="CC3300"/>
                </a:solidFill>
              </a:rPr>
              <a:t>, </a:t>
            </a:r>
            <a:r>
              <a:rPr lang="en-US" sz="2400" i="1" u="sng">
                <a:solidFill>
                  <a:srgbClr val="CC3300"/>
                </a:solidFill>
              </a:rPr>
              <a:t>z</a:t>
            </a:r>
            <a:r>
              <a:rPr lang="en-US" sz="2400" u="sng">
                <a:solidFill>
                  <a:srgbClr val="CC3300"/>
                </a:solidFill>
              </a:rPr>
              <a:t>) (Contd. from previous slide)</a:t>
            </a:r>
            <a:endParaRPr lang="en-US" sz="2400">
              <a:sym typeface="Symbol" pitchFamily="18" charset="2"/>
            </a:endParaRPr>
          </a:p>
          <a:p>
            <a:pPr marL="609600" indent="-609600">
              <a:buFont typeface="Wingdings" pitchFamily="2" charset="2"/>
              <a:buAutoNum type="arabicPeriod" startAt="9"/>
            </a:pPr>
            <a:r>
              <a:rPr lang="en-US" sz="2400">
                <a:sym typeface="Symbol" pitchFamily="18" charset="2"/>
              </a:rPr>
              <a:t> </a:t>
            </a:r>
            <a:r>
              <a:rPr lang="en-US" sz="2400" b="1">
                <a:sym typeface="Symbol" pitchFamily="18" charset="2"/>
              </a:rPr>
              <a:t>if </a:t>
            </a:r>
            <a:r>
              <a:rPr lang="en-US" sz="2400" i="1">
                <a:sym typeface="Symbol" pitchFamily="18" charset="2"/>
              </a:rPr>
              <a:t>p</a:t>
            </a:r>
            <a:r>
              <a:rPr lang="en-US" sz="2400">
                <a:sym typeface="Symbol" pitchFamily="18" charset="2"/>
              </a:rPr>
              <a:t>[</a:t>
            </a:r>
            <a:r>
              <a:rPr lang="en-US" sz="2400" i="1">
                <a:sym typeface="Symbol" pitchFamily="18" charset="2"/>
              </a:rPr>
              <a:t>y</a:t>
            </a:r>
            <a:r>
              <a:rPr lang="en-US" sz="2400">
                <a:sym typeface="Symbol" pitchFamily="18" charset="2"/>
              </a:rPr>
              <a:t>] = NIL</a:t>
            </a:r>
          </a:p>
          <a:p>
            <a:pPr marL="609600" indent="-609600">
              <a:buFont typeface="Wingdings" pitchFamily="2" charset="2"/>
              <a:buAutoNum type="arabicPeriod" startAt="9"/>
            </a:pPr>
            <a:r>
              <a:rPr lang="en-US" sz="2400" b="1">
                <a:sym typeface="Symbol" pitchFamily="18" charset="2"/>
              </a:rPr>
              <a:t>     then</a:t>
            </a:r>
            <a:r>
              <a:rPr lang="en-US" sz="2400">
                <a:sym typeface="Symbol" pitchFamily="18" charset="2"/>
              </a:rPr>
              <a:t> </a:t>
            </a:r>
            <a:r>
              <a:rPr lang="en-US" sz="2400" i="1">
                <a:sym typeface="Symbol" pitchFamily="18" charset="2"/>
              </a:rPr>
              <a:t>root</a:t>
            </a:r>
            <a:r>
              <a:rPr lang="en-US" sz="2400">
                <a:sym typeface="Symbol" pitchFamily="18" charset="2"/>
              </a:rPr>
              <a:t>[</a:t>
            </a:r>
            <a:r>
              <a:rPr lang="en-US" sz="2400" i="1">
                <a:sym typeface="Symbol" pitchFamily="18" charset="2"/>
              </a:rPr>
              <a:t>T</a:t>
            </a:r>
            <a:r>
              <a:rPr lang="en-US" sz="2400">
                <a:sym typeface="Symbol" pitchFamily="18" charset="2"/>
              </a:rPr>
              <a:t>]  </a:t>
            </a:r>
            <a:r>
              <a:rPr lang="en-US" sz="2400" i="1">
                <a:sym typeface="Symbol" pitchFamily="18" charset="2"/>
              </a:rPr>
              <a:t>x</a:t>
            </a:r>
            <a:endParaRPr lang="en-US" sz="2400">
              <a:sym typeface="Symbol" pitchFamily="18" charset="2"/>
            </a:endParaRPr>
          </a:p>
          <a:p>
            <a:pPr marL="609600" indent="-609600">
              <a:buFont typeface="Wingdings" pitchFamily="2" charset="2"/>
              <a:buAutoNum type="arabicPeriod" startAt="9"/>
            </a:pPr>
            <a:r>
              <a:rPr lang="en-US" sz="2400">
                <a:sym typeface="Symbol" pitchFamily="18" charset="2"/>
              </a:rPr>
              <a:t>     </a:t>
            </a:r>
            <a:r>
              <a:rPr lang="en-US" sz="2400" b="1">
                <a:sym typeface="Symbol" pitchFamily="18" charset="2"/>
              </a:rPr>
              <a:t>else if </a:t>
            </a:r>
            <a:r>
              <a:rPr lang="en-US" sz="2400" b="1" i="1">
                <a:sym typeface="Symbol" pitchFamily="18" charset="2"/>
              </a:rPr>
              <a:t> </a:t>
            </a:r>
            <a:r>
              <a:rPr lang="en-US" sz="2400" i="1">
                <a:sym typeface="Symbol" pitchFamily="18" charset="2"/>
              </a:rPr>
              <a:t>y </a:t>
            </a:r>
            <a:r>
              <a:rPr lang="en-US" sz="2400">
                <a:sym typeface="Symbol" pitchFamily="18" charset="2"/>
              </a:rPr>
              <a:t> </a:t>
            </a:r>
            <a:r>
              <a:rPr lang="en-US" sz="2400" i="1">
                <a:sym typeface="Symbol" pitchFamily="18" charset="2"/>
              </a:rPr>
              <a:t>left</a:t>
            </a:r>
            <a:r>
              <a:rPr lang="en-US" sz="2400">
                <a:sym typeface="Symbol" pitchFamily="18" charset="2"/>
              </a:rPr>
              <a:t>[</a:t>
            </a:r>
            <a:r>
              <a:rPr lang="en-US" sz="2400" i="1">
                <a:sym typeface="Symbol" pitchFamily="18" charset="2"/>
              </a:rPr>
              <a:t>p</a:t>
            </a:r>
            <a:r>
              <a:rPr lang="en-US" sz="2400">
                <a:sym typeface="Symbol" pitchFamily="18" charset="2"/>
              </a:rPr>
              <a:t>[</a:t>
            </a:r>
            <a:r>
              <a:rPr lang="en-US" sz="2400" i="1">
                <a:sym typeface="Symbol" pitchFamily="18" charset="2"/>
              </a:rPr>
              <a:t>i</a:t>
            </a:r>
            <a:r>
              <a:rPr lang="en-US" sz="2400">
                <a:sym typeface="Symbol" pitchFamily="18" charset="2"/>
              </a:rPr>
              <a:t>]]</a:t>
            </a:r>
          </a:p>
          <a:p>
            <a:pPr marL="609600" indent="-609600">
              <a:buFont typeface="Wingdings" pitchFamily="2" charset="2"/>
              <a:buAutoNum type="arabicPeriod" startAt="9"/>
            </a:pPr>
            <a:r>
              <a:rPr lang="en-US" sz="2400"/>
              <a:t>            </a:t>
            </a:r>
            <a:r>
              <a:rPr lang="en-US" sz="2400" b="1"/>
              <a:t>then </a:t>
            </a:r>
            <a:r>
              <a:rPr lang="en-US" sz="2400" i="1"/>
              <a:t>left</a:t>
            </a:r>
            <a:r>
              <a:rPr lang="en-US" sz="2400"/>
              <a:t>[</a:t>
            </a:r>
            <a:r>
              <a:rPr lang="en-US" sz="2400" i="1"/>
              <a:t>p</a:t>
            </a:r>
            <a:r>
              <a:rPr lang="en-US" sz="2400"/>
              <a:t>[</a:t>
            </a:r>
            <a:r>
              <a:rPr lang="en-US" sz="2400" i="1"/>
              <a:t>y</a:t>
            </a:r>
            <a:r>
              <a:rPr lang="en-US" sz="2400"/>
              <a:t>]] </a:t>
            </a:r>
            <a:r>
              <a:rPr lang="en-US" sz="2400">
                <a:sym typeface="Symbol" pitchFamily="18" charset="2"/>
              </a:rPr>
              <a:t> </a:t>
            </a:r>
            <a:r>
              <a:rPr lang="en-US" sz="2400" i="1">
                <a:sym typeface="Symbol" pitchFamily="18" charset="2"/>
              </a:rPr>
              <a:t>x</a:t>
            </a:r>
            <a:endParaRPr lang="en-US" sz="2400" b="1">
              <a:sym typeface="Symbol" pitchFamily="18" charset="2"/>
            </a:endParaRPr>
          </a:p>
          <a:p>
            <a:pPr marL="609600" indent="-609600">
              <a:buFont typeface="Wingdings" pitchFamily="2" charset="2"/>
              <a:buAutoNum type="arabicPeriod" startAt="9"/>
            </a:pPr>
            <a:r>
              <a:rPr lang="en-US" sz="2400" b="1">
                <a:sym typeface="Symbol" pitchFamily="18" charset="2"/>
              </a:rPr>
              <a:t>            else </a:t>
            </a:r>
            <a:r>
              <a:rPr lang="en-US" sz="2400" i="1"/>
              <a:t>right</a:t>
            </a:r>
            <a:r>
              <a:rPr lang="en-US" sz="2400"/>
              <a:t>[</a:t>
            </a:r>
            <a:r>
              <a:rPr lang="en-US" sz="2400" i="1"/>
              <a:t>p</a:t>
            </a:r>
            <a:r>
              <a:rPr lang="en-US" sz="2400"/>
              <a:t>[</a:t>
            </a:r>
            <a:r>
              <a:rPr lang="en-US" sz="2400" i="1"/>
              <a:t>y</a:t>
            </a:r>
            <a:r>
              <a:rPr lang="en-US" sz="2400"/>
              <a:t>]] </a:t>
            </a:r>
            <a:r>
              <a:rPr lang="en-US" sz="2400">
                <a:sym typeface="Symbol" pitchFamily="18" charset="2"/>
              </a:rPr>
              <a:t> </a:t>
            </a:r>
            <a:r>
              <a:rPr lang="en-US" sz="2400" i="1">
                <a:sym typeface="Symbol" pitchFamily="18" charset="2"/>
              </a:rPr>
              <a:t>x</a:t>
            </a:r>
            <a:endParaRPr lang="en-US" sz="2400">
              <a:sym typeface="Symbol" pitchFamily="18" charset="2"/>
            </a:endParaRPr>
          </a:p>
          <a:p>
            <a:pPr marL="609600" indent="-609600">
              <a:buFont typeface="Wingdings" pitchFamily="2" charset="2"/>
              <a:buNone/>
            </a:pPr>
            <a:r>
              <a:rPr lang="en-US" sz="2400">
                <a:sym typeface="Symbol" pitchFamily="18" charset="2"/>
              </a:rPr>
              <a:t>/* If </a:t>
            </a:r>
            <a:r>
              <a:rPr lang="en-US" sz="2400" i="1">
                <a:sym typeface="Symbol" pitchFamily="18" charset="2"/>
              </a:rPr>
              <a:t>z</a:t>
            </a:r>
            <a:r>
              <a:rPr lang="en-US" sz="2400">
                <a:sym typeface="Symbol" pitchFamily="18" charset="2"/>
              </a:rPr>
              <a:t>’s successor was spliced out, copy its data into </a:t>
            </a:r>
            <a:r>
              <a:rPr lang="en-US" sz="2400" i="1">
                <a:sym typeface="Symbol" pitchFamily="18" charset="2"/>
              </a:rPr>
              <a:t>z </a:t>
            </a:r>
            <a:r>
              <a:rPr lang="en-US" sz="2400">
                <a:sym typeface="Symbol" pitchFamily="18" charset="2"/>
              </a:rPr>
              <a:t>*/</a:t>
            </a:r>
          </a:p>
          <a:p>
            <a:pPr marL="609600" indent="-609600">
              <a:buFont typeface="Wingdings" pitchFamily="2" charset="2"/>
              <a:buAutoNum type="arabicPeriod" startAt="14"/>
            </a:pPr>
            <a:r>
              <a:rPr lang="en-US" sz="2400" b="1">
                <a:sym typeface="Symbol" pitchFamily="18" charset="2"/>
              </a:rPr>
              <a:t>if</a:t>
            </a:r>
            <a:r>
              <a:rPr lang="en-US" sz="2400">
                <a:sym typeface="Symbol" pitchFamily="18" charset="2"/>
              </a:rPr>
              <a:t> </a:t>
            </a:r>
            <a:r>
              <a:rPr lang="en-US" sz="2400" i="1">
                <a:sym typeface="Symbol" pitchFamily="18" charset="2"/>
              </a:rPr>
              <a:t>y</a:t>
            </a:r>
            <a:r>
              <a:rPr lang="en-US" sz="2400">
                <a:sym typeface="Symbol" pitchFamily="18" charset="2"/>
              </a:rPr>
              <a:t>  </a:t>
            </a:r>
            <a:r>
              <a:rPr lang="en-US" sz="2400" i="1">
                <a:sym typeface="Symbol" pitchFamily="18" charset="2"/>
              </a:rPr>
              <a:t>z</a:t>
            </a:r>
            <a:r>
              <a:rPr lang="en-US" sz="2400">
                <a:sym typeface="Symbol" pitchFamily="18" charset="2"/>
              </a:rPr>
              <a:t> </a:t>
            </a:r>
          </a:p>
          <a:p>
            <a:pPr marL="609600" indent="-609600">
              <a:buFont typeface="Wingdings" pitchFamily="2" charset="2"/>
              <a:buAutoNum type="arabicPeriod" startAt="14"/>
            </a:pPr>
            <a:r>
              <a:rPr lang="en-US" sz="2400" b="1"/>
              <a:t>     then </a:t>
            </a:r>
            <a:r>
              <a:rPr lang="en-US" sz="2400"/>
              <a:t> </a:t>
            </a:r>
            <a:r>
              <a:rPr lang="en-US" sz="2400" i="1"/>
              <a:t>key</a:t>
            </a:r>
            <a:r>
              <a:rPr lang="en-US" sz="2400"/>
              <a:t>[</a:t>
            </a:r>
            <a:r>
              <a:rPr lang="en-US" sz="2400" i="1"/>
              <a:t>z</a:t>
            </a:r>
            <a:r>
              <a:rPr lang="en-US" sz="2400"/>
              <a:t>] </a:t>
            </a:r>
            <a:r>
              <a:rPr lang="en-US" sz="2400">
                <a:sym typeface="Symbol" pitchFamily="18" charset="2"/>
              </a:rPr>
              <a:t> </a:t>
            </a:r>
            <a:r>
              <a:rPr lang="en-US" sz="2400" i="1">
                <a:sym typeface="Symbol" pitchFamily="18" charset="2"/>
              </a:rPr>
              <a:t>key</a:t>
            </a:r>
            <a:r>
              <a:rPr lang="en-US" sz="2400">
                <a:sym typeface="Symbol" pitchFamily="18" charset="2"/>
              </a:rPr>
              <a:t>[</a:t>
            </a:r>
            <a:r>
              <a:rPr lang="en-US" sz="2400" i="1">
                <a:sym typeface="Symbol" pitchFamily="18" charset="2"/>
              </a:rPr>
              <a:t>y</a:t>
            </a:r>
            <a:r>
              <a:rPr lang="en-US" sz="2400">
                <a:sym typeface="Symbol" pitchFamily="18" charset="2"/>
              </a:rPr>
              <a:t>]</a:t>
            </a:r>
            <a:endParaRPr lang="en-US" sz="2400" i="1">
              <a:sym typeface="Symbol" pitchFamily="18" charset="2"/>
            </a:endParaRPr>
          </a:p>
          <a:p>
            <a:pPr marL="609600" indent="-609600">
              <a:buFont typeface="Wingdings" pitchFamily="2" charset="2"/>
              <a:buAutoNum type="arabicPeriod" startAt="14"/>
            </a:pPr>
            <a:r>
              <a:rPr lang="en-US" sz="2400">
                <a:sym typeface="Symbol" pitchFamily="18" charset="2"/>
              </a:rPr>
              <a:t>               copy </a:t>
            </a:r>
            <a:r>
              <a:rPr lang="en-US" sz="2400" i="1">
                <a:sym typeface="Symbol" pitchFamily="18" charset="2"/>
              </a:rPr>
              <a:t>y</a:t>
            </a:r>
            <a:r>
              <a:rPr lang="en-US" sz="2400">
                <a:sym typeface="Symbol" pitchFamily="18" charset="2"/>
              </a:rPr>
              <a:t>’s satellite data into </a:t>
            </a:r>
            <a:r>
              <a:rPr lang="en-US" sz="2400" i="1">
                <a:sym typeface="Symbol" pitchFamily="18" charset="2"/>
              </a:rPr>
              <a:t>z</a:t>
            </a:r>
            <a:r>
              <a:rPr lang="en-US" sz="2400">
                <a:sym typeface="Symbol" pitchFamily="18" charset="2"/>
              </a:rPr>
              <a:t>.</a:t>
            </a:r>
          </a:p>
          <a:p>
            <a:pPr marL="609600" indent="-609600">
              <a:buFont typeface="Wingdings" pitchFamily="2" charset="2"/>
              <a:buAutoNum type="arabicPeriod" startAt="14"/>
            </a:pPr>
            <a:r>
              <a:rPr lang="en-US" sz="2400" b="1">
                <a:sym typeface="Symbol" pitchFamily="18" charset="2"/>
              </a:rPr>
              <a:t>return</a:t>
            </a:r>
            <a:r>
              <a:rPr lang="en-US" sz="2400">
                <a:sym typeface="Symbol" pitchFamily="18" charset="2"/>
              </a:rPr>
              <a:t> </a:t>
            </a:r>
            <a:r>
              <a:rPr lang="en-US" sz="2400" i="1">
                <a:sym typeface="Symbol" pitchFamily="18" charset="2"/>
              </a:rPr>
              <a:t>y</a:t>
            </a:r>
            <a:endParaRPr lang="en-US" sz="240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8610600" cy="5334000"/>
          </a:xfrm>
        </p:spPr>
        <p:txBody>
          <a:bodyPr/>
          <a:lstStyle/>
          <a:p>
            <a:r>
              <a:rPr lang="en-US" dirty="0"/>
              <a:t>View today as data structures that can support </a:t>
            </a:r>
            <a:br>
              <a:rPr lang="en-US" dirty="0"/>
            </a:br>
            <a:r>
              <a:rPr lang="en-US" dirty="0"/>
              <a:t>dynamic set operations.</a:t>
            </a:r>
          </a:p>
          <a:p>
            <a:pPr lvl="1"/>
            <a:r>
              <a:rPr lang="en-US" dirty="0"/>
              <a:t>Search, Minimum, Maximum, Predecessor, Successor, Insert, and Delete.</a:t>
            </a:r>
          </a:p>
          <a:p>
            <a:r>
              <a:rPr lang="en-US" dirty="0"/>
              <a:t>Can be used to build</a:t>
            </a:r>
          </a:p>
          <a:p>
            <a:pPr lvl="1"/>
            <a:r>
              <a:rPr lang="en-US" dirty="0"/>
              <a:t>Dictionaries.</a:t>
            </a:r>
          </a:p>
          <a:p>
            <a:pPr lvl="1"/>
            <a:r>
              <a:rPr lang="en-US" dirty="0"/>
              <a:t>Priority Queues.</a:t>
            </a:r>
          </a:p>
          <a:p>
            <a:r>
              <a:rPr lang="en-US" dirty="0"/>
              <a:t>Basic operations take time proportional to the height of the tree – </a:t>
            </a:r>
            <a:r>
              <a:rPr lang="en-US" i="1" dirty="0"/>
              <a:t>O</a:t>
            </a:r>
            <a:r>
              <a:rPr lang="en-US" dirty="0"/>
              <a:t>(</a:t>
            </a:r>
            <a:r>
              <a:rPr lang="en-US" i="1" dirty="0"/>
              <a:t>h</a:t>
            </a:r>
            <a:r>
              <a:rPr lang="en-US" dirty="0"/>
              <a:t>).</a:t>
            </a:r>
          </a:p>
          <a:p>
            <a:pPr lvl="1">
              <a:buFontTx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463550"/>
            <a:ext cx="7772400" cy="14351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/>
              <a:t>Binary Search Tree - Best Time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3400" y="1981200"/>
            <a:ext cx="8077200" cy="4114800"/>
          </a:xfrm>
          <a:ln/>
        </p:spPr>
        <p:txBody>
          <a:bodyPr/>
          <a:lstStyle/>
          <a:p>
            <a:pPr marL="341313" indent="-341313">
              <a:lnSpc>
                <a:spcPct val="90000"/>
              </a:lnSpc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All BST operations are O(d), where d is tree depth</a:t>
            </a:r>
          </a:p>
          <a:p>
            <a:pPr marL="341313" indent="-341313">
              <a:lnSpc>
                <a:spcPct val="90000"/>
              </a:lnSpc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minimum d is                   for a binary tree with N nodes</a:t>
            </a:r>
          </a:p>
          <a:p>
            <a:pPr marL="741363" lvl="1" indent="-284163">
              <a:lnSpc>
                <a:spcPct val="90000"/>
              </a:lnSpc>
              <a:buClr>
                <a:srgbClr val="FF0000"/>
              </a:buClr>
              <a:buFont typeface="Arial" pitchFamily="34" charset="0"/>
              <a:buChar char="›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What is the best case tree? </a:t>
            </a:r>
          </a:p>
          <a:p>
            <a:pPr marL="741363" lvl="1" indent="-284163">
              <a:lnSpc>
                <a:spcPct val="90000"/>
              </a:lnSpc>
              <a:buClr>
                <a:srgbClr val="0066CC"/>
              </a:buClr>
              <a:buFont typeface="Arial" pitchFamily="34" charset="0"/>
              <a:buChar char="›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What is the worst case tree?</a:t>
            </a:r>
          </a:p>
          <a:p>
            <a:pPr marL="341313" indent="-341313">
              <a:lnSpc>
                <a:spcPct val="90000"/>
              </a:lnSpc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So, best case running time of BST operations is O(log N)</a:t>
            </a:r>
          </a:p>
        </p:txBody>
      </p:sp>
      <p:graphicFrame>
        <p:nvGraphicFramePr>
          <p:cNvPr id="5123" name="Object 3"/>
          <p:cNvGraphicFramePr>
            <a:graphicFrameLocks noChangeAspect="1"/>
          </p:cNvGraphicFramePr>
          <p:nvPr/>
        </p:nvGraphicFramePr>
        <p:xfrm>
          <a:off x="3429000" y="2971800"/>
          <a:ext cx="1968500" cy="611188"/>
        </p:xfrm>
        <a:graphic>
          <a:graphicData uri="http://schemas.openxmlformats.org/presentationml/2006/ole">
            <p:oleObj spid="_x0000_s2050" r:id="rId4" imgW="809640" imgH="22176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463550"/>
            <a:ext cx="7772400" cy="14351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/>
              <a:t>Binary Search Tree - Worst Time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ln/>
        </p:spPr>
        <p:txBody>
          <a:bodyPr/>
          <a:lstStyle/>
          <a:p>
            <a:pPr marL="341313" indent="-341313">
              <a:lnSpc>
                <a:spcPct val="90000"/>
              </a:lnSpc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Worst case running time is O(N) </a:t>
            </a:r>
          </a:p>
          <a:p>
            <a:pPr marL="741363" lvl="1" indent="-284163">
              <a:lnSpc>
                <a:spcPct val="90000"/>
              </a:lnSpc>
              <a:buFont typeface="Arial" pitchFamily="34" charset="0"/>
              <a:buChar char="›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What happens when you Insert elements in ascending order?</a:t>
            </a:r>
          </a:p>
          <a:p>
            <a:pPr lvl="2">
              <a:lnSpc>
                <a:spcPct val="90000"/>
              </a:lnSpc>
              <a:buClr>
                <a:srgbClr val="FF0000"/>
              </a:buClr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Insert: 2, 4, 6, 8, 10, 12 into an empty BST</a:t>
            </a:r>
          </a:p>
          <a:p>
            <a:pPr marL="741363" lvl="1" indent="-284163">
              <a:lnSpc>
                <a:spcPct val="90000"/>
              </a:lnSpc>
              <a:buFont typeface="Arial" pitchFamily="34" charset="0"/>
              <a:buChar char="›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Problem: Lack of “balance”: </a:t>
            </a:r>
          </a:p>
          <a:p>
            <a:pPr lvl="2">
              <a:lnSpc>
                <a:spcPct val="90000"/>
              </a:lnSpc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compare depths of left and right subtree</a:t>
            </a:r>
          </a:p>
          <a:p>
            <a:pPr marL="741363" lvl="1" indent="-284163">
              <a:lnSpc>
                <a:spcPct val="90000"/>
              </a:lnSpc>
              <a:buFont typeface="Arial" pitchFamily="34" charset="0"/>
              <a:buChar char="›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Unbalanced degenerate tree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>
            <a:spLocks noGrp="1" noChangeArrowheads="1"/>
          </p:cNvSpPr>
          <p:nvPr>
            <p:ph type="title"/>
          </p:nvPr>
        </p:nvSpPr>
        <p:spPr>
          <a:xfrm>
            <a:off x="533400" y="609600"/>
            <a:ext cx="8077200" cy="11430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/>
              <a:t>Balanced and unbalanced BST</a:t>
            </a:r>
          </a:p>
        </p:txBody>
      </p:sp>
      <p:sp>
        <p:nvSpPr>
          <p:cNvPr id="7170" name="Oval 2"/>
          <p:cNvSpPr>
            <a:spLocks noChangeArrowheads="1"/>
          </p:cNvSpPr>
          <p:nvPr/>
        </p:nvSpPr>
        <p:spPr bwMode="auto">
          <a:xfrm>
            <a:off x="6858000" y="20574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4</a:t>
            </a:r>
          </a:p>
        </p:txBody>
      </p:sp>
      <p:sp>
        <p:nvSpPr>
          <p:cNvPr id="7171" name="Oval 3"/>
          <p:cNvSpPr>
            <a:spLocks noChangeArrowheads="1"/>
          </p:cNvSpPr>
          <p:nvPr/>
        </p:nvSpPr>
        <p:spPr bwMode="auto">
          <a:xfrm>
            <a:off x="5791200" y="27432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2</a:t>
            </a:r>
          </a:p>
        </p:txBody>
      </p:sp>
      <p:sp>
        <p:nvSpPr>
          <p:cNvPr id="7172" name="Oval 4"/>
          <p:cNvSpPr>
            <a:spLocks noChangeArrowheads="1"/>
          </p:cNvSpPr>
          <p:nvPr/>
        </p:nvSpPr>
        <p:spPr bwMode="auto">
          <a:xfrm>
            <a:off x="7772400" y="27432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5</a:t>
            </a:r>
          </a:p>
        </p:txBody>
      </p:sp>
      <p:sp>
        <p:nvSpPr>
          <p:cNvPr id="7173" name="Oval 5"/>
          <p:cNvSpPr>
            <a:spLocks noChangeArrowheads="1"/>
          </p:cNvSpPr>
          <p:nvPr/>
        </p:nvSpPr>
        <p:spPr bwMode="auto">
          <a:xfrm>
            <a:off x="5105400" y="35052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7174" name="Oval 6"/>
          <p:cNvSpPr>
            <a:spLocks noChangeArrowheads="1"/>
          </p:cNvSpPr>
          <p:nvPr/>
        </p:nvSpPr>
        <p:spPr bwMode="auto">
          <a:xfrm>
            <a:off x="6400800" y="35052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3</a:t>
            </a:r>
          </a:p>
        </p:txBody>
      </p:sp>
      <p:cxnSp>
        <p:nvCxnSpPr>
          <p:cNvPr id="7175" name="AutoShape 7"/>
          <p:cNvCxnSpPr>
            <a:cxnSpLocks noChangeShapeType="1"/>
            <a:stCxn id="7170" idx="3"/>
            <a:endCxn id="7171" idx="7"/>
          </p:cNvCxnSpPr>
          <p:nvPr/>
        </p:nvCxnSpPr>
        <p:spPr bwMode="auto">
          <a:xfrm flipH="1">
            <a:off x="6181725" y="2447925"/>
            <a:ext cx="742950" cy="363538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7176" name="AutoShape 8"/>
          <p:cNvCxnSpPr>
            <a:cxnSpLocks noChangeShapeType="1"/>
            <a:stCxn id="7170" idx="5"/>
            <a:endCxn id="7172" idx="1"/>
          </p:cNvCxnSpPr>
          <p:nvPr/>
        </p:nvCxnSpPr>
        <p:spPr bwMode="auto">
          <a:xfrm>
            <a:off x="7248525" y="2447925"/>
            <a:ext cx="592138" cy="363538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7177" name="AutoShape 9"/>
          <p:cNvCxnSpPr>
            <a:cxnSpLocks noChangeShapeType="1"/>
            <a:stCxn id="7171" idx="3"/>
            <a:endCxn id="7173" idx="0"/>
          </p:cNvCxnSpPr>
          <p:nvPr/>
        </p:nvCxnSpPr>
        <p:spPr bwMode="auto">
          <a:xfrm flipH="1">
            <a:off x="5334000" y="3133725"/>
            <a:ext cx="523875" cy="371475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7178" name="AutoShape 10"/>
          <p:cNvCxnSpPr>
            <a:cxnSpLocks noChangeShapeType="1"/>
            <a:stCxn id="7171" idx="5"/>
            <a:endCxn id="7174" idx="0"/>
          </p:cNvCxnSpPr>
          <p:nvPr/>
        </p:nvCxnSpPr>
        <p:spPr bwMode="auto">
          <a:xfrm>
            <a:off x="6181725" y="3133725"/>
            <a:ext cx="447675" cy="371475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7179" name="Oval 11"/>
          <p:cNvSpPr>
            <a:spLocks noChangeArrowheads="1"/>
          </p:cNvSpPr>
          <p:nvPr/>
        </p:nvSpPr>
        <p:spPr bwMode="auto">
          <a:xfrm>
            <a:off x="2590800" y="20574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7180" name="Oval 12"/>
          <p:cNvSpPr>
            <a:spLocks noChangeArrowheads="1"/>
          </p:cNvSpPr>
          <p:nvPr/>
        </p:nvSpPr>
        <p:spPr bwMode="auto">
          <a:xfrm>
            <a:off x="4572000" y="43434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5</a:t>
            </a:r>
          </a:p>
        </p:txBody>
      </p:sp>
      <p:sp>
        <p:nvSpPr>
          <p:cNvPr id="7181" name="Oval 13"/>
          <p:cNvSpPr>
            <a:spLocks noChangeArrowheads="1"/>
          </p:cNvSpPr>
          <p:nvPr/>
        </p:nvSpPr>
        <p:spPr bwMode="auto">
          <a:xfrm>
            <a:off x="3048000" y="25908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2</a:t>
            </a:r>
          </a:p>
        </p:txBody>
      </p:sp>
      <p:sp>
        <p:nvSpPr>
          <p:cNvPr id="7182" name="Oval 14"/>
          <p:cNvSpPr>
            <a:spLocks noChangeArrowheads="1"/>
          </p:cNvSpPr>
          <p:nvPr/>
        </p:nvSpPr>
        <p:spPr bwMode="auto">
          <a:xfrm>
            <a:off x="4038600" y="37338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4</a:t>
            </a:r>
          </a:p>
        </p:txBody>
      </p:sp>
      <p:sp>
        <p:nvSpPr>
          <p:cNvPr id="7183" name="Oval 15"/>
          <p:cNvSpPr>
            <a:spLocks noChangeArrowheads="1"/>
          </p:cNvSpPr>
          <p:nvPr/>
        </p:nvSpPr>
        <p:spPr bwMode="auto">
          <a:xfrm>
            <a:off x="3505200" y="31242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3</a:t>
            </a:r>
          </a:p>
        </p:txBody>
      </p:sp>
      <p:sp>
        <p:nvSpPr>
          <p:cNvPr id="7184" name="Oval 16"/>
          <p:cNvSpPr>
            <a:spLocks noChangeArrowheads="1"/>
          </p:cNvSpPr>
          <p:nvPr/>
        </p:nvSpPr>
        <p:spPr bwMode="auto">
          <a:xfrm>
            <a:off x="5638800" y="55626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7</a:t>
            </a:r>
          </a:p>
        </p:txBody>
      </p:sp>
      <p:sp>
        <p:nvSpPr>
          <p:cNvPr id="7185" name="Oval 17"/>
          <p:cNvSpPr>
            <a:spLocks noChangeArrowheads="1"/>
          </p:cNvSpPr>
          <p:nvPr/>
        </p:nvSpPr>
        <p:spPr bwMode="auto">
          <a:xfrm>
            <a:off x="5105400" y="49530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6</a:t>
            </a:r>
          </a:p>
        </p:txBody>
      </p:sp>
      <p:cxnSp>
        <p:nvCxnSpPr>
          <p:cNvPr id="7186" name="AutoShape 18"/>
          <p:cNvCxnSpPr>
            <a:cxnSpLocks noChangeShapeType="1"/>
            <a:stCxn id="7182" idx="5"/>
            <a:endCxn id="7180" idx="7"/>
          </p:cNvCxnSpPr>
          <p:nvPr/>
        </p:nvCxnSpPr>
        <p:spPr bwMode="auto">
          <a:xfrm>
            <a:off x="4429125" y="4124325"/>
            <a:ext cx="533400" cy="287338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7187" name="AutoShape 19"/>
          <p:cNvCxnSpPr>
            <a:cxnSpLocks noChangeShapeType="1"/>
            <a:stCxn id="7179" idx="5"/>
            <a:endCxn id="7181" idx="0"/>
          </p:cNvCxnSpPr>
          <p:nvPr/>
        </p:nvCxnSpPr>
        <p:spPr bwMode="auto">
          <a:xfrm>
            <a:off x="2981325" y="2447925"/>
            <a:ext cx="295275" cy="142875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7188" name="AutoShape 20"/>
          <p:cNvCxnSpPr>
            <a:cxnSpLocks noChangeShapeType="1"/>
            <a:stCxn id="7185" idx="5"/>
            <a:endCxn id="7184" idx="0"/>
          </p:cNvCxnSpPr>
          <p:nvPr/>
        </p:nvCxnSpPr>
        <p:spPr bwMode="auto">
          <a:xfrm>
            <a:off x="5495925" y="5343525"/>
            <a:ext cx="371475" cy="220663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7189" name="AutoShape 21"/>
          <p:cNvCxnSpPr>
            <a:cxnSpLocks noChangeShapeType="1"/>
            <a:stCxn id="7180" idx="5"/>
            <a:endCxn id="7185" idx="0"/>
          </p:cNvCxnSpPr>
          <p:nvPr/>
        </p:nvCxnSpPr>
        <p:spPr bwMode="auto">
          <a:xfrm>
            <a:off x="4962525" y="4733925"/>
            <a:ext cx="371475" cy="219075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7190" name="AutoShape 22"/>
          <p:cNvCxnSpPr>
            <a:cxnSpLocks noChangeShapeType="1"/>
            <a:stCxn id="7183" idx="5"/>
            <a:endCxn id="7182" idx="0"/>
          </p:cNvCxnSpPr>
          <p:nvPr/>
        </p:nvCxnSpPr>
        <p:spPr bwMode="auto">
          <a:xfrm>
            <a:off x="3895725" y="3514725"/>
            <a:ext cx="371475" cy="220663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7191" name="AutoShape 23"/>
          <p:cNvCxnSpPr>
            <a:cxnSpLocks noChangeShapeType="1"/>
            <a:stCxn id="7181" idx="5"/>
            <a:endCxn id="7183" idx="0"/>
          </p:cNvCxnSpPr>
          <p:nvPr/>
        </p:nvCxnSpPr>
        <p:spPr bwMode="auto">
          <a:xfrm>
            <a:off x="3438525" y="2981325"/>
            <a:ext cx="295275" cy="142875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7192" name="Oval 24"/>
          <p:cNvSpPr>
            <a:spLocks noChangeArrowheads="1"/>
          </p:cNvSpPr>
          <p:nvPr/>
        </p:nvSpPr>
        <p:spPr bwMode="auto">
          <a:xfrm>
            <a:off x="2286000" y="41148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4</a:t>
            </a:r>
          </a:p>
        </p:txBody>
      </p:sp>
      <p:sp>
        <p:nvSpPr>
          <p:cNvPr id="7193" name="Oval 25"/>
          <p:cNvSpPr>
            <a:spLocks noChangeArrowheads="1"/>
          </p:cNvSpPr>
          <p:nvPr/>
        </p:nvSpPr>
        <p:spPr bwMode="auto">
          <a:xfrm>
            <a:off x="1219200" y="48006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2</a:t>
            </a:r>
          </a:p>
        </p:txBody>
      </p:sp>
      <p:sp>
        <p:nvSpPr>
          <p:cNvPr id="7194" name="Oval 26"/>
          <p:cNvSpPr>
            <a:spLocks noChangeArrowheads="1"/>
          </p:cNvSpPr>
          <p:nvPr/>
        </p:nvSpPr>
        <p:spPr bwMode="auto">
          <a:xfrm>
            <a:off x="3200400" y="48006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6</a:t>
            </a:r>
          </a:p>
        </p:txBody>
      </p:sp>
      <p:sp>
        <p:nvSpPr>
          <p:cNvPr id="7195" name="Oval 27"/>
          <p:cNvSpPr>
            <a:spLocks noChangeArrowheads="1"/>
          </p:cNvSpPr>
          <p:nvPr/>
        </p:nvSpPr>
        <p:spPr bwMode="auto">
          <a:xfrm>
            <a:off x="2590800" y="55626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5</a:t>
            </a:r>
          </a:p>
        </p:txBody>
      </p:sp>
      <p:sp>
        <p:nvSpPr>
          <p:cNvPr id="7196" name="Oval 28"/>
          <p:cNvSpPr>
            <a:spLocks noChangeArrowheads="1"/>
          </p:cNvSpPr>
          <p:nvPr/>
        </p:nvSpPr>
        <p:spPr bwMode="auto">
          <a:xfrm>
            <a:off x="3810000" y="55626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7</a:t>
            </a:r>
          </a:p>
        </p:txBody>
      </p:sp>
      <p:sp>
        <p:nvSpPr>
          <p:cNvPr id="7197" name="Oval 29"/>
          <p:cNvSpPr>
            <a:spLocks noChangeArrowheads="1"/>
          </p:cNvSpPr>
          <p:nvPr/>
        </p:nvSpPr>
        <p:spPr bwMode="auto">
          <a:xfrm>
            <a:off x="533400" y="55626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7198" name="Oval 30"/>
          <p:cNvSpPr>
            <a:spLocks noChangeArrowheads="1"/>
          </p:cNvSpPr>
          <p:nvPr/>
        </p:nvSpPr>
        <p:spPr bwMode="auto">
          <a:xfrm>
            <a:off x="1828800" y="55626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3</a:t>
            </a:r>
          </a:p>
        </p:txBody>
      </p:sp>
      <p:cxnSp>
        <p:nvCxnSpPr>
          <p:cNvPr id="7199" name="AutoShape 31"/>
          <p:cNvCxnSpPr>
            <a:cxnSpLocks noChangeShapeType="1"/>
            <a:stCxn id="7192" idx="3"/>
            <a:endCxn id="7193" idx="7"/>
          </p:cNvCxnSpPr>
          <p:nvPr/>
        </p:nvCxnSpPr>
        <p:spPr bwMode="auto">
          <a:xfrm flipH="1">
            <a:off x="1609725" y="4505325"/>
            <a:ext cx="742950" cy="363538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7200" name="AutoShape 32"/>
          <p:cNvCxnSpPr>
            <a:cxnSpLocks noChangeShapeType="1"/>
            <a:stCxn id="7192" idx="5"/>
            <a:endCxn id="7194" idx="1"/>
          </p:cNvCxnSpPr>
          <p:nvPr/>
        </p:nvCxnSpPr>
        <p:spPr bwMode="auto">
          <a:xfrm>
            <a:off x="2676525" y="4505325"/>
            <a:ext cx="592138" cy="363538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7201" name="AutoShape 33"/>
          <p:cNvCxnSpPr>
            <a:cxnSpLocks noChangeShapeType="1"/>
            <a:stCxn id="7193" idx="3"/>
            <a:endCxn id="7197" idx="0"/>
          </p:cNvCxnSpPr>
          <p:nvPr/>
        </p:nvCxnSpPr>
        <p:spPr bwMode="auto">
          <a:xfrm flipH="1">
            <a:off x="762000" y="5191125"/>
            <a:ext cx="523875" cy="371475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7202" name="AutoShape 34"/>
          <p:cNvCxnSpPr>
            <a:cxnSpLocks noChangeShapeType="1"/>
            <a:stCxn id="7193" idx="5"/>
            <a:endCxn id="7198" idx="0"/>
          </p:cNvCxnSpPr>
          <p:nvPr/>
        </p:nvCxnSpPr>
        <p:spPr bwMode="auto">
          <a:xfrm>
            <a:off x="1609725" y="5191125"/>
            <a:ext cx="447675" cy="371475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7203" name="AutoShape 35"/>
          <p:cNvCxnSpPr>
            <a:cxnSpLocks noChangeShapeType="1"/>
            <a:stCxn id="7194" idx="3"/>
            <a:endCxn id="7195" idx="0"/>
          </p:cNvCxnSpPr>
          <p:nvPr/>
        </p:nvCxnSpPr>
        <p:spPr bwMode="auto">
          <a:xfrm flipH="1">
            <a:off x="2819400" y="5191125"/>
            <a:ext cx="447675" cy="371475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7204" name="AutoShape 36"/>
          <p:cNvCxnSpPr>
            <a:cxnSpLocks noChangeShapeType="1"/>
            <a:stCxn id="7194" idx="5"/>
            <a:endCxn id="7196" idx="0"/>
          </p:cNvCxnSpPr>
          <p:nvPr/>
        </p:nvCxnSpPr>
        <p:spPr bwMode="auto">
          <a:xfrm>
            <a:off x="3590925" y="5191125"/>
            <a:ext cx="447675" cy="371475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7205" name="Text Box 37"/>
          <p:cNvSpPr txBox="1">
            <a:spLocks noChangeArrowheads="1"/>
          </p:cNvSpPr>
          <p:nvPr/>
        </p:nvSpPr>
        <p:spPr bwMode="auto">
          <a:xfrm>
            <a:off x="6076950" y="4202113"/>
            <a:ext cx="2262188" cy="3984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Is this “balanced”?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/>
              <a:t>Approaches to balancing trees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772400" cy="4267200"/>
          </a:xfrm>
          <a:ln/>
        </p:spPr>
        <p:txBody>
          <a:bodyPr/>
          <a:lstStyle/>
          <a:p>
            <a:pPr marL="341313" indent="-341313">
              <a:spcBef>
                <a:spcPts val="700"/>
              </a:spcBef>
              <a:buClr>
                <a:srgbClr val="3333CC"/>
              </a:buClr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800"/>
              <a:t>Don't balance</a:t>
            </a:r>
          </a:p>
          <a:p>
            <a:pPr marL="741363" lvl="1" indent="-284163">
              <a:spcBef>
                <a:spcPts val="600"/>
              </a:spcBef>
              <a:buFont typeface="Arial" pitchFamily="34" charset="0"/>
              <a:buChar char="›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/>
              <a:t>May end up with some nodes very deep</a:t>
            </a:r>
          </a:p>
          <a:p>
            <a:pPr marL="341313" indent="-341313">
              <a:spcBef>
                <a:spcPts val="700"/>
              </a:spcBef>
              <a:buClr>
                <a:srgbClr val="008000"/>
              </a:buClr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800"/>
              <a:t>Strict balance</a:t>
            </a:r>
          </a:p>
          <a:p>
            <a:pPr marL="741363" lvl="1" indent="-284163">
              <a:spcBef>
                <a:spcPts val="600"/>
              </a:spcBef>
              <a:buFont typeface="Arial" pitchFamily="34" charset="0"/>
              <a:buChar char="›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/>
              <a:t>The tree must always be balanced perfectly</a:t>
            </a:r>
          </a:p>
          <a:p>
            <a:pPr marL="341313" indent="-341313">
              <a:spcBef>
                <a:spcPts val="700"/>
              </a:spcBef>
              <a:buClr>
                <a:srgbClr val="FF0000"/>
              </a:buClr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800"/>
              <a:t>Pretty good balance</a:t>
            </a:r>
          </a:p>
          <a:p>
            <a:pPr marL="741363" lvl="1" indent="-284163">
              <a:spcBef>
                <a:spcPts val="600"/>
              </a:spcBef>
              <a:buFont typeface="Arial" pitchFamily="34" charset="0"/>
              <a:buChar char="›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/>
              <a:t>Only allow a little out of balance</a:t>
            </a:r>
          </a:p>
          <a:p>
            <a:pPr marL="341313" indent="-341313">
              <a:spcBef>
                <a:spcPts val="700"/>
              </a:spcBef>
              <a:buClr>
                <a:srgbClr val="6600CC"/>
              </a:buClr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800"/>
              <a:t>Adjust on access</a:t>
            </a:r>
          </a:p>
          <a:p>
            <a:pPr marL="741363" lvl="1" indent="-284163">
              <a:spcBef>
                <a:spcPts val="600"/>
              </a:spcBef>
              <a:buFont typeface="Arial" pitchFamily="34" charset="0"/>
              <a:buChar char="›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/>
              <a:t>Self-adjusting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463550"/>
            <a:ext cx="7772400" cy="14351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/>
              <a:t>Balancing Binary Search Trees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620000" cy="4114800"/>
          </a:xfrm>
          <a:ln/>
        </p:spPr>
        <p:txBody>
          <a:bodyPr/>
          <a:lstStyle/>
          <a:p>
            <a:pPr marL="341313" indent="-341313"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Many algorithms exist for keeping binary search trees balanced</a:t>
            </a:r>
          </a:p>
          <a:p>
            <a:pPr marL="741363" lvl="1" indent="-284163">
              <a:buFont typeface="Arial" pitchFamily="34" charset="0"/>
              <a:buChar char="›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Adelson-Velskii and Landis (AVL) trees (height-balanced trees) </a:t>
            </a:r>
          </a:p>
          <a:p>
            <a:pPr marL="741363" lvl="1" indent="-284163">
              <a:buClr>
                <a:srgbClr val="3333CC"/>
              </a:buClr>
              <a:buFont typeface="Arial" pitchFamily="34" charset="0"/>
              <a:buChar char="›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Splay trees and other self-adjusting trees</a:t>
            </a:r>
          </a:p>
          <a:p>
            <a:pPr marL="741363" lvl="1" indent="-284163">
              <a:buClr>
                <a:srgbClr val="3333CC"/>
              </a:buClr>
              <a:buFont typeface="Arial" pitchFamily="34" charset="0"/>
              <a:buChar char="›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B-trees and other multiway search trees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/>
              <a:t>Perfect Balance</a:t>
            </a:r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458200" cy="2743200"/>
          </a:xfrm>
          <a:ln/>
        </p:spPr>
        <p:txBody>
          <a:bodyPr/>
          <a:lstStyle/>
          <a:p>
            <a:pPr marL="341313" indent="-341313"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Want a complete tree after every operation</a:t>
            </a:r>
          </a:p>
          <a:p>
            <a:pPr marL="741363" lvl="1" indent="-284163">
              <a:buFont typeface="Arial" pitchFamily="34" charset="0"/>
              <a:buChar char="›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tree is full except possibly in the lower right</a:t>
            </a:r>
          </a:p>
          <a:p>
            <a:pPr marL="341313" indent="-341313"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This is expensive</a:t>
            </a:r>
          </a:p>
          <a:p>
            <a:pPr marL="741363" lvl="1" indent="-284163">
              <a:buFont typeface="Arial" pitchFamily="34" charset="0"/>
              <a:buChar char="›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For example, insert 2 in the tree on the left and then rebuild as a complete tree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3960813" y="4857750"/>
            <a:ext cx="1722437" cy="7032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Insert 2 &amp;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complete tree</a:t>
            </a:r>
          </a:p>
        </p:txBody>
      </p:sp>
      <p:sp>
        <p:nvSpPr>
          <p:cNvPr id="10244" name="Oval 4"/>
          <p:cNvSpPr>
            <a:spLocks noChangeArrowheads="1"/>
          </p:cNvSpPr>
          <p:nvPr/>
        </p:nvSpPr>
        <p:spPr bwMode="auto">
          <a:xfrm>
            <a:off x="2362200" y="44196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6</a:t>
            </a:r>
          </a:p>
        </p:txBody>
      </p:sp>
      <p:sp>
        <p:nvSpPr>
          <p:cNvPr id="10245" name="Oval 5"/>
          <p:cNvSpPr>
            <a:spLocks noChangeArrowheads="1"/>
          </p:cNvSpPr>
          <p:nvPr/>
        </p:nvSpPr>
        <p:spPr bwMode="auto">
          <a:xfrm>
            <a:off x="1295400" y="5013325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4</a:t>
            </a:r>
          </a:p>
        </p:txBody>
      </p:sp>
      <p:sp>
        <p:nvSpPr>
          <p:cNvPr id="10246" name="Oval 6"/>
          <p:cNvSpPr>
            <a:spLocks noChangeArrowheads="1"/>
          </p:cNvSpPr>
          <p:nvPr/>
        </p:nvSpPr>
        <p:spPr bwMode="auto">
          <a:xfrm>
            <a:off x="3276600" y="5013325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9</a:t>
            </a:r>
          </a:p>
        </p:txBody>
      </p:sp>
      <p:sp>
        <p:nvSpPr>
          <p:cNvPr id="10247" name="Oval 7"/>
          <p:cNvSpPr>
            <a:spLocks noChangeArrowheads="1"/>
          </p:cNvSpPr>
          <p:nvPr/>
        </p:nvSpPr>
        <p:spPr bwMode="auto">
          <a:xfrm>
            <a:off x="2667000" y="57150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8</a:t>
            </a:r>
          </a:p>
        </p:txBody>
      </p:sp>
      <p:sp>
        <p:nvSpPr>
          <p:cNvPr id="10248" name="Oval 8"/>
          <p:cNvSpPr>
            <a:spLocks noChangeArrowheads="1"/>
          </p:cNvSpPr>
          <p:nvPr/>
        </p:nvSpPr>
        <p:spPr bwMode="auto">
          <a:xfrm>
            <a:off x="609600" y="57150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10249" name="Oval 9"/>
          <p:cNvSpPr>
            <a:spLocks noChangeArrowheads="1"/>
          </p:cNvSpPr>
          <p:nvPr/>
        </p:nvSpPr>
        <p:spPr bwMode="auto">
          <a:xfrm>
            <a:off x="1905000" y="57150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5</a:t>
            </a:r>
          </a:p>
        </p:txBody>
      </p:sp>
      <p:cxnSp>
        <p:nvCxnSpPr>
          <p:cNvPr id="10250" name="AutoShape 10"/>
          <p:cNvCxnSpPr>
            <a:cxnSpLocks noChangeShapeType="1"/>
            <a:stCxn id="10244" idx="3"/>
            <a:endCxn id="10245" idx="7"/>
          </p:cNvCxnSpPr>
          <p:nvPr/>
        </p:nvCxnSpPr>
        <p:spPr bwMode="auto">
          <a:xfrm flipH="1">
            <a:off x="1685925" y="4810125"/>
            <a:ext cx="742950" cy="271463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0251" name="AutoShape 11"/>
          <p:cNvCxnSpPr>
            <a:cxnSpLocks noChangeShapeType="1"/>
            <a:stCxn id="10244" idx="5"/>
            <a:endCxn id="10246" idx="1"/>
          </p:cNvCxnSpPr>
          <p:nvPr/>
        </p:nvCxnSpPr>
        <p:spPr bwMode="auto">
          <a:xfrm>
            <a:off x="2752725" y="4810125"/>
            <a:ext cx="592138" cy="271463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0252" name="AutoShape 12"/>
          <p:cNvCxnSpPr>
            <a:cxnSpLocks noChangeShapeType="1"/>
            <a:stCxn id="10245" idx="3"/>
            <a:endCxn id="10248" idx="0"/>
          </p:cNvCxnSpPr>
          <p:nvPr/>
        </p:nvCxnSpPr>
        <p:spPr bwMode="auto">
          <a:xfrm flipH="1">
            <a:off x="838200" y="5403850"/>
            <a:ext cx="523875" cy="31115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0253" name="AutoShape 13"/>
          <p:cNvCxnSpPr>
            <a:cxnSpLocks noChangeShapeType="1"/>
            <a:stCxn id="10245" idx="5"/>
            <a:endCxn id="10249" idx="0"/>
          </p:cNvCxnSpPr>
          <p:nvPr/>
        </p:nvCxnSpPr>
        <p:spPr bwMode="auto">
          <a:xfrm>
            <a:off x="1685925" y="5403850"/>
            <a:ext cx="449263" cy="31115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0254" name="AutoShape 14"/>
          <p:cNvCxnSpPr>
            <a:cxnSpLocks noChangeShapeType="1"/>
            <a:stCxn id="10246" idx="3"/>
            <a:endCxn id="10247" idx="0"/>
          </p:cNvCxnSpPr>
          <p:nvPr/>
        </p:nvCxnSpPr>
        <p:spPr bwMode="auto">
          <a:xfrm flipH="1">
            <a:off x="2895600" y="5403850"/>
            <a:ext cx="447675" cy="31115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10255" name="Oval 15"/>
          <p:cNvSpPr>
            <a:spLocks noChangeArrowheads="1"/>
          </p:cNvSpPr>
          <p:nvPr/>
        </p:nvSpPr>
        <p:spPr bwMode="auto">
          <a:xfrm>
            <a:off x="6781800" y="44196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5</a:t>
            </a:r>
          </a:p>
        </p:txBody>
      </p:sp>
      <p:sp>
        <p:nvSpPr>
          <p:cNvPr id="10256" name="Oval 16"/>
          <p:cNvSpPr>
            <a:spLocks noChangeArrowheads="1"/>
          </p:cNvSpPr>
          <p:nvPr/>
        </p:nvSpPr>
        <p:spPr bwMode="auto">
          <a:xfrm>
            <a:off x="5715000" y="5013325"/>
            <a:ext cx="457200" cy="457200"/>
          </a:xfrm>
          <a:prstGeom prst="ellipse">
            <a:avLst/>
          </a:prstGeom>
          <a:solidFill>
            <a:srgbClr val="3333CC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2</a:t>
            </a:r>
          </a:p>
        </p:txBody>
      </p:sp>
      <p:sp>
        <p:nvSpPr>
          <p:cNvPr id="10257" name="Oval 17"/>
          <p:cNvSpPr>
            <a:spLocks noChangeArrowheads="1"/>
          </p:cNvSpPr>
          <p:nvPr/>
        </p:nvSpPr>
        <p:spPr bwMode="auto">
          <a:xfrm>
            <a:off x="7696200" y="5013325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8</a:t>
            </a:r>
          </a:p>
        </p:txBody>
      </p:sp>
      <p:sp>
        <p:nvSpPr>
          <p:cNvPr id="10258" name="Oval 18"/>
          <p:cNvSpPr>
            <a:spLocks noChangeArrowheads="1"/>
          </p:cNvSpPr>
          <p:nvPr/>
        </p:nvSpPr>
        <p:spPr bwMode="auto">
          <a:xfrm>
            <a:off x="7086600" y="57150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6</a:t>
            </a:r>
          </a:p>
        </p:txBody>
      </p:sp>
      <p:sp>
        <p:nvSpPr>
          <p:cNvPr id="10259" name="Oval 19"/>
          <p:cNvSpPr>
            <a:spLocks noChangeArrowheads="1"/>
          </p:cNvSpPr>
          <p:nvPr/>
        </p:nvSpPr>
        <p:spPr bwMode="auto">
          <a:xfrm>
            <a:off x="8305800" y="57150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9</a:t>
            </a:r>
          </a:p>
        </p:txBody>
      </p:sp>
      <p:sp>
        <p:nvSpPr>
          <p:cNvPr id="10260" name="Oval 20"/>
          <p:cNvSpPr>
            <a:spLocks noChangeArrowheads="1"/>
          </p:cNvSpPr>
          <p:nvPr/>
        </p:nvSpPr>
        <p:spPr bwMode="auto">
          <a:xfrm>
            <a:off x="5029200" y="57150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10261" name="Oval 21"/>
          <p:cNvSpPr>
            <a:spLocks noChangeArrowheads="1"/>
          </p:cNvSpPr>
          <p:nvPr/>
        </p:nvSpPr>
        <p:spPr bwMode="auto">
          <a:xfrm>
            <a:off x="6324600" y="57150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4</a:t>
            </a:r>
          </a:p>
        </p:txBody>
      </p:sp>
      <p:cxnSp>
        <p:nvCxnSpPr>
          <p:cNvPr id="10262" name="AutoShape 22"/>
          <p:cNvCxnSpPr>
            <a:cxnSpLocks noChangeShapeType="1"/>
            <a:stCxn id="10255" idx="3"/>
            <a:endCxn id="10256" idx="7"/>
          </p:cNvCxnSpPr>
          <p:nvPr/>
        </p:nvCxnSpPr>
        <p:spPr bwMode="auto">
          <a:xfrm flipH="1">
            <a:off x="6105525" y="4810125"/>
            <a:ext cx="742950" cy="271463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0263" name="AutoShape 23"/>
          <p:cNvCxnSpPr>
            <a:cxnSpLocks noChangeShapeType="1"/>
            <a:stCxn id="10255" idx="5"/>
            <a:endCxn id="10257" idx="1"/>
          </p:cNvCxnSpPr>
          <p:nvPr/>
        </p:nvCxnSpPr>
        <p:spPr bwMode="auto">
          <a:xfrm>
            <a:off x="7172325" y="4810125"/>
            <a:ext cx="592138" cy="271463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0264" name="AutoShape 24"/>
          <p:cNvCxnSpPr>
            <a:cxnSpLocks noChangeShapeType="1"/>
            <a:stCxn id="10256" idx="3"/>
            <a:endCxn id="10260" idx="0"/>
          </p:cNvCxnSpPr>
          <p:nvPr/>
        </p:nvCxnSpPr>
        <p:spPr bwMode="auto">
          <a:xfrm flipH="1">
            <a:off x="5257800" y="5403850"/>
            <a:ext cx="523875" cy="31115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0265" name="AutoShape 25"/>
          <p:cNvCxnSpPr>
            <a:cxnSpLocks noChangeShapeType="1"/>
            <a:stCxn id="10256" idx="5"/>
            <a:endCxn id="10261" idx="0"/>
          </p:cNvCxnSpPr>
          <p:nvPr/>
        </p:nvCxnSpPr>
        <p:spPr bwMode="auto">
          <a:xfrm>
            <a:off x="6105525" y="5403850"/>
            <a:ext cx="447675" cy="31115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0266" name="AutoShape 26"/>
          <p:cNvCxnSpPr>
            <a:cxnSpLocks noChangeShapeType="1"/>
            <a:stCxn id="10257" idx="3"/>
            <a:endCxn id="10258" idx="0"/>
          </p:cNvCxnSpPr>
          <p:nvPr/>
        </p:nvCxnSpPr>
        <p:spPr bwMode="auto">
          <a:xfrm flipH="1">
            <a:off x="7315200" y="5403850"/>
            <a:ext cx="447675" cy="31115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0267" name="AutoShape 27"/>
          <p:cNvCxnSpPr>
            <a:cxnSpLocks noChangeShapeType="1"/>
            <a:stCxn id="10257" idx="5"/>
            <a:endCxn id="10259" idx="0"/>
          </p:cNvCxnSpPr>
          <p:nvPr/>
        </p:nvCxnSpPr>
        <p:spPr bwMode="auto">
          <a:xfrm>
            <a:off x="8086725" y="5403850"/>
            <a:ext cx="449263" cy="31115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10268" name="Line 28"/>
          <p:cNvSpPr>
            <a:spLocks noChangeShapeType="1"/>
          </p:cNvSpPr>
          <p:nvPr/>
        </p:nvSpPr>
        <p:spPr bwMode="auto">
          <a:xfrm>
            <a:off x="4114800" y="5715000"/>
            <a:ext cx="609600" cy="1588"/>
          </a:xfrm>
          <a:prstGeom prst="line">
            <a:avLst/>
          </a:prstGeom>
          <a:noFill/>
          <a:ln w="38160">
            <a:solidFill>
              <a:srgbClr val="3333CC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463550"/>
            <a:ext cx="7772400" cy="14351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/>
              <a:t>AVL - Good but not Perfect Balance</a:t>
            </a: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36588" y="1863725"/>
            <a:ext cx="8050212" cy="4384675"/>
          </a:xfrm>
          <a:ln/>
        </p:spPr>
        <p:txBody>
          <a:bodyPr/>
          <a:lstStyle/>
          <a:p>
            <a:pPr marL="341313" indent="-341313">
              <a:lnSpc>
                <a:spcPct val="90000"/>
              </a:lnSpc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AVL trees are height-balanced binary search trees</a:t>
            </a:r>
          </a:p>
          <a:p>
            <a:pPr marL="341313" indent="-341313">
              <a:lnSpc>
                <a:spcPct val="90000"/>
              </a:lnSpc>
              <a:buClr>
                <a:srgbClr val="0000FF"/>
              </a:buClr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Balance factor of a node</a:t>
            </a:r>
          </a:p>
          <a:p>
            <a:pPr marL="741363" lvl="1" indent="-284163">
              <a:lnSpc>
                <a:spcPct val="90000"/>
              </a:lnSpc>
              <a:buClr>
                <a:srgbClr val="FF0000"/>
              </a:buClr>
              <a:buFont typeface="Arial" pitchFamily="34" charset="0"/>
              <a:buChar char="›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height(left subtree) - height(right subtree)</a:t>
            </a:r>
          </a:p>
          <a:p>
            <a:pPr marL="341313" indent="-341313">
              <a:lnSpc>
                <a:spcPct val="90000"/>
              </a:lnSpc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An AVL tree has balance factor calculated at every node</a:t>
            </a:r>
          </a:p>
          <a:p>
            <a:pPr marL="741363" lvl="1" indent="-284163">
              <a:lnSpc>
                <a:spcPct val="90000"/>
              </a:lnSpc>
              <a:buClr>
                <a:srgbClr val="FF0000"/>
              </a:buClr>
              <a:buFont typeface="Arial" pitchFamily="34" charset="0"/>
              <a:buChar char="›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For every node, heights of left and right subtree can differ by no more than 1</a:t>
            </a:r>
          </a:p>
          <a:p>
            <a:pPr marL="741363" lvl="1" indent="-284163">
              <a:lnSpc>
                <a:spcPct val="90000"/>
              </a:lnSpc>
              <a:buFont typeface="Arial" pitchFamily="34" charset="0"/>
              <a:buChar char="›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Store current heights in each node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/>
              <a:t>Height of an AVL Tree</a:t>
            </a: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ln/>
        </p:spPr>
        <p:txBody>
          <a:bodyPr/>
          <a:lstStyle/>
          <a:p>
            <a:pPr marL="341313" indent="-341313">
              <a:lnSpc>
                <a:spcPct val="90000"/>
              </a:lnSpc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N(h) = minimum number of nodes in an AVL tree of height h.</a:t>
            </a:r>
          </a:p>
          <a:p>
            <a:pPr marL="341313" indent="-341313">
              <a:lnSpc>
                <a:spcPct val="90000"/>
              </a:lnSpc>
              <a:buClr>
                <a:srgbClr val="3333CC"/>
              </a:buClr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Basis</a:t>
            </a:r>
          </a:p>
          <a:p>
            <a:pPr marL="741363" lvl="1" indent="-284163">
              <a:lnSpc>
                <a:spcPct val="90000"/>
              </a:lnSpc>
              <a:buFont typeface="Arial" pitchFamily="34" charset="0"/>
              <a:buChar char="›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N(0) = 1, N(1) = 2</a:t>
            </a:r>
          </a:p>
          <a:p>
            <a:pPr marL="341313" indent="-341313">
              <a:lnSpc>
                <a:spcPct val="90000"/>
              </a:lnSpc>
              <a:buClr>
                <a:srgbClr val="3333CC"/>
              </a:buClr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Induction</a:t>
            </a:r>
          </a:p>
          <a:p>
            <a:pPr marL="741363" lvl="1" indent="-284163">
              <a:lnSpc>
                <a:spcPct val="90000"/>
              </a:lnSpc>
              <a:buFont typeface="Arial" pitchFamily="34" charset="0"/>
              <a:buChar char="›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N(h) = N(h-1) + N(h-2) + 1</a:t>
            </a:r>
          </a:p>
          <a:p>
            <a:pPr marL="341313" indent="-341313">
              <a:lnSpc>
                <a:spcPct val="90000"/>
              </a:lnSpc>
              <a:spcBef>
                <a:spcPts val="500"/>
              </a:spcBef>
              <a:buClr>
                <a:srgbClr val="3333CC"/>
              </a:buClr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Solution </a:t>
            </a:r>
            <a:r>
              <a:rPr lang="en-US" sz="2000"/>
              <a:t>(recall Fibonacci analysis)</a:t>
            </a:r>
          </a:p>
          <a:p>
            <a:pPr marL="741363" lvl="1" indent="-284163">
              <a:lnSpc>
                <a:spcPct val="90000"/>
              </a:lnSpc>
              <a:buFont typeface="Arial" pitchFamily="34" charset="0"/>
              <a:buChar char="›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N(h) </a:t>
            </a:r>
            <a:r>
              <a:rPr lang="en-US" u="sng"/>
              <a:t>&gt;</a:t>
            </a:r>
            <a:r>
              <a:rPr lang="en-US"/>
              <a:t> </a:t>
            </a:r>
            <a:r>
              <a:rPr lang="en-US">
                <a:latin typeface="Symbol" pitchFamily="18" charset="2"/>
              </a:rPr>
              <a:t></a:t>
            </a:r>
            <a:r>
              <a:rPr lang="en-US" baseline="30000"/>
              <a:t>h</a:t>
            </a:r>
            <a:r>
              <a:rPr lang="en-US"/>
              <a:t>   (</a:t>
            </a:r>
            <a:r>
              <a:rPr lang="en-US">
                <a:latin typeface="Symbol" pitchFamily="18" charset="2"/>
              </a:rPr>
              <a:t></a:t>
            </a:r>
            <a:r>
              <a:rPr lang="en-US"/>
              <a:t> </a:t>
            </a:r>
            <a:r>
              <a:rPr lang="en-US">
                <a:latin typeface="Symbol" pitchFamily="18" charset="2"/>
              </a:rPr>
              <a:t></a:t>
            </a:r>
            <a:r>
              <a:rPr lang="en-US"/>
              <a:t> 1.62)</a:t>
            </a:r>
          </a:p>
        </p:txBody>
      </p:sp>
      <p:sp>
        <p:nvSpPr>
          <p:cNvPr id="12291" name="AutoShape 3"/>
          <p:cNvSpPr>
            <a:spLocks noChangeArrowheads="1"/>
          </p:cNvSpPr>
          <p:nvPr/>
        </p:nvSpPr>
        <p:spPr bwMode="auto">
          <a:xfrm>
            <a:off x="6477000" y="4800600"/>
            <a:ext cx="838200" cy="725488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292" name="AutoShape 4"/>
          <p:cNvSpPr>
            <a:spLocks noChangeArrowheads="1"/>
          </p:cNvSpPr>
          <p:nvPr/>
        </p:nvSpPr>
        <p:spPr bwMode="auto">
          <a:xfrm>
            <a:off x="7620000" y="4800600"/>
            <a:ext cx="838200" cy="6096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293" name="Line 5"/>
          <p:cNvSpPr>
            <a:spLocks noChangeShapeType="1"/>
          </p:cNvSpPr>
          <p:nvPr/>
        </p:nvSpPr>
        <p:spPr bwMode="auto">
          <a:xfrm flipV="1">
            <a:off x="6934200" y="4341813"/>
            <a:ext cx="457200" cy="46037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294" name="Oval 6"/>
          <p:cNvSpPr>
            <a:spLocks noChangeArrowheads="1"/>
          </p:cNvSpPr>
          <p:nvPr/>
        </p:nvSpPr>
        <p:spPr bwMode="auto">
          <a:xfrm>
            <a:off x="7391400" y="4191000"/>
            <a:ext cx="304800" cy="304800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 flipV="1">
            <a:off x="7694613" y="4418013"/>
            <a:ext cx="384175" cy="38417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6613525" y="5573713"/>
            <a:ext cx="549275" cy="3984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h-1</a:t>
            </a: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7772400" y="5410200"/>
            <a:ext cx="549275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h-2</a:t>
            </a:r>
          </a:p>
        </p:txBody>
      </p:sp>
      <p:sp>
        <p:nvSpPr>
          <p:cNvPr id="12298" name="Text Box 10"/>
          <p:cNvSpPr txBox="1">
            <a:spLocks noChangeArrowheads="1"/>
          </p:cNvSpPr>
          <p:nvPr/>
        </p:nvSpPr>
        <p:spPr bwMode="auto">
          <a:xfrm>
            <a:off x="7773988" y="3886200"/>
            <a:ext cx="3222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/>
              <a:t>Height of an AVL Tree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ln/>
        </p:spPr>
        <p:txBody>
          <a:bodyPr/>
          <a:lstStyle/>
          <a:p>
            <a:pPr marL="341313" indent="-341313"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N(h) </a:t>
            </a:r>
            <a:r>
              <a:rPr lang="en-US" u="sng"/>
              <a:t>&gt;</a:t>
            </a:r>
            <a:r>
              <a:rPr lang="en-US"/>
              <a:t> </a:t>
            </a:r>
            <a:r>
              <a:rPr lang="en-US">
                <a:latin typeface="Symbol" pitchFamily="18" charset="2"/>
              </a:rPr>
              <a:t></a:t>
            </a:r>
            <a:r>
              <a:rPr lang="en-US" baseline="30000"/>
              <a:t>h</a:t>
            </a:r>
            <a:r>
              <a:rPr lang="en-US"/>
              <a:t>   (</a:t>
            </a:r>
            <a:r>
              <a:rPr lang="en-US">
                <a:latin typeface="Symbol" pitchFamily="18" charset="2"/>
              </a:rPr>
              <a:t></a:t>
            </a:r>
            <a:r>
              <a:rPr lang="en-US"/>
              <a:t> </a:t>
            </a:r>
            <a:r>
              <a:rPr lang="en-US">
                <a:latin typeface="Symbol" pitchFamily="18" charset="2"/>
              </a:rPr>
              <a:t></a:t>
            </a:r>
            <a:r>
              <a:rPr lang="en-US"/>
              <a:t> 1.62)</a:t>
            </a:r>
          </a:p>
          <a:p>
            <a:pPr marL="341313" indent="-341313">
              <a:buClr>
                <a:srgbClr val="3333CC"/>
              </a:buClr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Suppose we have n nodes in an AVL tree of height h.</a:t>
            </a:r>
          </a:p>
          <a:p>
            <a:pPr marL="741363" lvl="1" indent="-284163">
              <a:spcBef>
                <a:spcPts val="450"/>
              </a:spcBef>
              <a:buFont typeface="Arial" pitchFamily="34" charset="0"/>
              <a:buChar char="›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n </a:t>
            </a:r>
            <a:r>
              <a:rPr lang="en-US" u="sng"/>
              <a:t>&gt;</a:t>
            </a:r>
            <a:r>
              <a:rPr lang="en-US"/>
              <a:t> N(h) </a:t>
            </a:r>
            <a:r>
              <a:rPr lang="en-US" sz="1800"/>
              <a:t>(because N(h) was the minimum)</a:t>
            </a:r>
          </a:p>
          <a:p>
            <a:pPr marL="741363" lvl="1" indent="-284163">
              <a:buFont typeface="Arial" pitchFamily="34" charset="0"/>
              <a:buChar char="›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n </a:t>
            </a:r>
            <a:r>
              <a:rPr lang="en-US" u="sng"/>
              <a:t>&gt;</a:t>
            </a:r>
            <a:r>
              <a:rPr lang="en-US"/>
              <a:t> </a:t>
            </a:r>
            <a:r>
              <a:rPr lang="en-US">
                <a:latin typeface="Symbol" pitchFamily="18" charset="2"/>
              </a:rPr>
              <a:t></a:t>
            </a:r>
            <a:r>
              <a:rPr lang="en-US" baseline="30000"/>
              <a:t>h</a:t>
            </a:r>
            <a:r>
              <a:rPr lang="en-US"/>
              <a:t> hence log</a:t>
            </a:r>
            <a:r>
              <a:rPr lang="en-US" baseline="-25000">
                <a:latin typeface="Symbol" pitchFamily="18" charset="2"/>
              </a:rPr>
              <a:t></a:t>
            </a:r>
            <a:r>
              <a:rPr lang="en-US"/>
              <a:t> n </a:t>
            </a:r>
            <a:r>
              <a:rPr lang="en-US" u="sng"/>
              <a:t>&gt;</a:t>
            </a:r>
            <a:r>
              <a:rPr lang="en-US"/>
              <a:t> h  (relatively well balanced tree!!)</a:t>
            </a:r>
          </a:p>
          <a:p>
            <a:pPr marL="741363" lvl="1" indent="-284163">
              <a:buFont typeface="Arial" pitchFamily="34" charset="0"/>
              <a:buChar char="›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h </a:t>
            </a:r>
            <a:r>
              <a:rPr lang="en-US" u="sng">
                <a:cs typeface="Arial" pitchFamily="34" charset="0"/>
              </a:rPr>
              <a:t>&lt;</a:t>
            </a:r>
            <a:r>
              <a:rPr lang="en-US"/>
              <a:t> 1.44 log</a:t>
            </a:r>
            <a:r>
              <a:rPr lang="en-US" baseline="-25000"/>
              <a:t>2</a:t>
            </a:r>
            <a:r>
              <a:rPr lang="en-US"/>
              <a:t>n (i.e., Find takes O(logn))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/>
              <a:t>Node Heights</a:t>
            </a:r>
          </a:p>
        </p:txBody>
      </p:sp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7150100" y="2895600"/>
            <a:ext cx="309563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6540500" y="3597275"/>
            <a:ext cx="309563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4476750" y="3597275"/>
            <a:ext cx="309563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6229350" y="2286000"/>
            <a:ext cx="309563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2</a:t>
            </a:r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5778500" y="3597275"/>
            <a:ext cx="309563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14343" name="Oval 7"/>
          <p:cNvSpPr>
            <a:spLocks noChangeArrowheads="1"/>
          </p:cNvSpPr>
          <p:nvPr/>
        </p:nvSpPr>
        <p:spPr bwMode="auto">
          <a:xfrm>
            <a:off x="6157913" y="2606675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6</a:t>
            </a:r>
          </a:p>
        </p:txBody>
      </p:sp>
      <p:sp>
        <p:nvSpPr>
          <p:cNvPr id="14344" name="Oval 8"/>
          <p:cNvSpPr>
            <a:spLocks noChangeArrowheads="1"/>
          </p:cNvSpPr>
          <p:nvPr/>
        </p:nvSpPr>
        <p:spPr bwMode="auto">
          <a:xfrm>
            <a:off x="5091113" y="32004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4</a:t>
            </a:r>
          </a:p>
        </p:txBody>
      </p:sp>
      <p:sp>
        <p:nvSpPr>
          <p:cNvPr id="14345" name="Oval 9"/>
          <p:cNvSpPr>
            <a:spLocks noChangeArrowheads="1"/>
          </p:cNvSpPr>
          <p:nvPr/>
        </p:nvSpPr>
        <p:spPr bwMode="auto">
          <a:xfrm>
            <a:off x="7072313" y="32004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9</a:t>
            </a:r>
          </a:p>
        </p:txBody>
      </p:sp>
      <p:sp>
        <p:nvSpPr>
          <p:cNvPr id="14346" name="Oval 10"/>
          <p:cNvSpPr>
            <a:spLocks noChangeArrowheads="1"/>
          </p:cNvSpPr>
          <p:nvPr/>
        </p:nvSpPr>
        <p:spPr bwMode="auto">
          <a:xfrm>
            <a:off x="6462713" y="3902075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8</a:t>
            </a:r>
          </a:p>
        </p:txBody>
      </p:sp>
      <p:sp>
        <p:nvSpPr>
          <p:cNvPr id="14347" name="Oval 11"/>
          <p:cNvSpPr>
            <a:spLocks noChangeArrowheads="1"/>
          </p:cNvSpPr>
          <p:nvPr/>
        </p:nvSpPr>
        <p:spPr bwMode="auto">
          <a:xfrm>
            <a:off x="4405313" y="3902075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14348" name="Oval 12"/>
          <p:cNvSpPr>
            <a:spLocks noChangeArrowheads="1"/>
          </p:cNvSpPr>
          <p:nvPr/>
        </p:nvSpPr>
        <p:spPr bwMode="auto">
          <a:xfrm>
            <a:off x="5700713" y="3902075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5</a:t>
            </a:r>
          </a:p>
        </p:txBody>
      </p:sp>
      <p:cxnSp>
        <p:nvCxnSpPr>
          <p:cNvPr id="14349" name="AutoShape 13"/>
          <p:cNvCxnSpPr>
            <a:cxnSpLocks noChangeShapeType="1"/>
            <a:stCxn id="14343" idx="3"/>
            <a:endCxn id="14344" idx="7"/>
          </p:cNvCxnSpPr>
          <p:nvPr/>
        </p:nvCxnSpPr>
        <p:spPr bwMode="auto">
          <a:xfrm flipH="1">
            <a:off x="5481638" y="2997200"/>
            <a:ext cx="742950" cy="271463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4350" name="AutoShape 14"/>
          <p:cNvCxnSpPr>
            <a:cxnSpLocks noChangeShapeType="1"/>
            <a:stCxn id="14343" idx="5"/>
            <a:endCxn id="14345" idx="1"/>
          </p:cNvCxnSpPr>
          <p:nvPr/>
        </p:nvCxnSpPr>
        <p:spPr bwMode="auto">
          <a:xfrm>
            <a:off x="6548438" y="2997200"/>
            <a:ext cx="592137" cy="271463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4351" name="AutoShape 15"/>
          <p:cNvCxnSpPr>
            <a:cxnSpLocks noChangeShapeType="1"/>
            <a:stCxn id="14344" idx="3"/>
            <a:endCxn id="14347" idx="0"/>
          </p:cNvCxnSpPr>
          <p:nvPr/>
        </p:nvCxnSpPr>
        <p:spPr bwMode="auto">
          <a:xfrm flipH="1">
            <a:off x="4633913" y="3590925"/>
            <a:ext cx="523875" cy="31115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4352" name="AutoShape 16"/>
          <p:cNvCxnSpPr>
            <a:cxnSpLocks noChangeShapeType="1"/>
            <a:stCxn id="14344" idx="5"/>
            <a:endCxn id="14348" idx="0"/>
          </p:cNvCxnSpPr>
          <p:nvPr/>
        </p:nvCxnSpPr>
        <p:spPr bwMode="auto">
          <a:xfrm>
            <a:off x="5481638" y="3590925"/>
            <a:ext cx="447675" cy="31115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4353" name="AutoShape 17"/>
          <p:cNvCxnSpPr>
            <a:cxnSpLocks noChangeShapeType="1"/>
            <a:stCxn id="14345" idx="3"/>
            <a:endCxn id="14346" idx="0"/>
          </p:cNvCxnSpPr>
          <p:nvPr/>
        </p:nvCxnSpPr>
        <p:spPr bwMode="auto">
          <a:xfrm flipH="1">
            <a:off x="6691313" y="3590925"/>
            <a:ext cx="447675" cy="31115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14354" name="Text Box 18"/>
          <p:cNvSpPr txBox="1">
            <a:spLocks noChangeArrowheads="1"/>
          </p:cNvSpPr>
          <p:nvPr/>
        </p:nvSpPr>
        <p:spPr bwMode="auto">
          <a:xfrm>
            <a:off x="5162550" y="2895600"/>
            <a:ext cx="309563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3071813" y="4949825"/>
            <a:ext cx="3014264" cy="101784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height of node = h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balance factor = h</a:t>
            </a:r>
            <a:r>
              <a:rPr lang="en-US" sz="2000" baseline="-25000">
                <a:latin typeface="Arial" pitchFamily="34" charset="0"/>
                <a:ea typeface="Droid Sans" charset="0"/>
                <a:cs typeface="Droid Sans" charset="0"/>
              </a:rPr>
              <a:t>left</a:t>
            </a: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-h</a:t>
            </a:r>
            <a:r>
              <a:rPr lang="en-US" sz="2000" baseline="-25000">
                <a:latin typeface="Arial" pitchFamily="34" charset="0"/>
                <a:ea typeface="Droid Sans" charset="0"/>
                <a:cs typeface="Droid Sans" charset="0"/>
              </a:rPr>
              <a:t>right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empty height = -1</a:t>
            </a:r>
          </a:p>
        </p:txBody>
      </p:sp>
      <p:sp>
        <p:nvSpPr>
          <p:cNvPr id="14356" name="Text Box 20"/>
          <p:cNvSpPr txBox="1">
            <a:spLocks noChangeArrowheads="1"/>
          </p:cNvSpPr>
          <p:nvPr/>
        </p:nvSpPr>
        <p:spPr bwMode="auto">
          <a:xfrm>
            <a:off x="3201988" y="28956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14357" name="Text Box 21"/>
          <p:cNvSpPr txBox="1">
            <a:spLocks noChangeArrowheads="1"/>
          </p:cNvSpPr>
          <p:nvPr/>
        </p:nvSpPr>
        <p:spPr bwMode="auto">
          <a:xfrm>
            <a:off x="528638" y="35814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14358" name="Text Box 22"/>
          <p:cNvSpPr txBox="1">
            <a:spLocks noChangeArrowheads="1"/>
          </p:cNvSpPr>
          <p:nvPr/>
        </p:nvSpPr>
        <p:spPr bwMode="auto">
          <a:xfrm>
            <a:off x="1519238" y="2286000"/>
            <a:ext cx="2256878" cy="40229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height=2   BF=1-0=1</a:t>
            </a:r>
          </a:p>
        </p:txBody>
      </p:sp>
      <p:sp>
        <p:nvSpPr>
          <p:cNvPr id="14359" name="Text Box 23"/>
          <p:cNvSpPr txBox="1">
            <a:spLocks noChangeArrowheads="1"/>
          </p:cNvSpPr>
          <p:nvPr/>
        </p:nvSpPr>
        <p:spPr bwMode="auto">
          <a:xfrm>
            <a:off x="1830388" y="35814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14360" name="Oval 24"/>
          <p:cNvSpPr>
            <a:spLocks noChangeArrowheads="1"/>
          </p:cNvSpPr>
          <p:nvPr/>
        </p:nvSpPr>
        <p:spPr bwMode="auto">
          <a:xfrm>
            <a:off x="2209800" y="25908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6</a:t>
            </a:r>
          </a:p>
        </p:txBody>
      </p:sp>
      <p:sp>
        <p:nvSpPr>
          <p:cNvPr id="14361" name="Oval 25"/>
          <p:cNvSpPr>
            <a:spLocks noChangeArrowheads="1"/>
          </p:cNvSpPr>
          <p:nvPr/>
        </p:nvSpPr>
        <p:spPr bwMode="auto">
          <a:xfrm>
            <a:off x="1143000" y="3184525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4</a:t>
            </a:r>
          </a:p>
        </p:txBody>
      </p:sp>
      <p:sp>
        <p:nvSpPr>
          <p:cNvPr id="14362" name="Oval 26"/>
          <p:cNvSpPr>
            <a:spLocks noChangeArrowheads="1"/>
          </p:cNvSpPr>
          <p:nvPr/>
        </p:nvSpPr>
        <p:spPr bwMode="auto">
          <a:xfrm>
            <a:off x="3124200" y="3184525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9</a:t>
            </a:r>
          </a:p>
        </p:txBody>
      </p:sp>
      <p:sp>
        <p:nvSpPr>
          <p:cNvPr id="14363" name="Oval 27"/>
          <p:cNvSpPr>
            <a:spLocks noChangeArrowheads="1"/>
          </p:cNvSpPr>
          <p:nvPr/>
        </p:nvSpPr>
        <p:spPr bwMode="auto">
          <a:xfrm>
            <a:off x="457200" y="38862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14364" name="Oval 28"/>
          <p:cNvSpPr>
            <a:spLocks noChangeArrowheads="1"/>
          </p:cNvSpPr>
          <p:nvPr/>
        </p:nvSpPr>
        <p:spPr bwMode="auto">
          <a:xfrm>
            <a:off x="1752600" y="38862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5</a:t>
            </a:r>
          </a:p>
        </p:txBody>
      </p:sp>
      <p:cxnSp>
        <p:nvCxnSpPr>
          <p:cNvPr id="14365" name="AutoShape 29"/>
          <p:cNvCxnSpPr>
            <a:cxnSpLocks noChangeShapeType="1"/>
            <a:stCxn id="14360" idx="3"/>
            <a:endCxn id="14361" idx="7"/>
          </p:cNvCxnSpPr>
          <p:nvPr/>
        </p:nvCxnSpPr>
        <p:spPr bwMode="auto">
          <a:xfrm flipH="1">
            <a:off x="1533525" y="2981325"/>
            <a:ext cx="742950" cy="271463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4366" name="AutoShape 30"/>
          <p:cNvCxnSpPr>
            <a:cxnSpLocks noChangeShapeType="1"/>
            <a:stCxn id="14360" idx="5"/>
            <a:endCxn id="14362" idx="1"/>
          </p:cNvCxnSpPr>
          <p:nvPr/>
        </p:nvCxnSpPr>
        <p:spPr bwMode="auto">
          <a:xfrm>
            <a:off x="2600325" y="2981325"/>
            <a:ext cx="592138" cy="271463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4367" name="AutoShape 31"/>
          <p:cNvCxnSpPr>
            <a:cxnSpLocks noChangeShapeType="1"/>
            <a:stCxn id="14361" idx="3"/>
            <a:endCxn id="14363" idx="0"/>
          </p:cNvCxnSpPr>
          <p:nvPr/>
        </p:nvCxnSpPr>
        <p:spPr bwMode="auto">
          <a:xfrm flipH="1">
            <a:off x="685800" y="3575050"/>
            <a:ext cx="523875" cy="31115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4368" name="AutoShape 32"/>
          <p:cNvCxnSpPr>
            <a:cxnSpLocks noChangeShapeType="1"/>
            <a:stCxn id="14361" idx="5"/>
            <a:endCxn id="14364" idx="0"/>
          </p:cNvCxnSpPr>
          <p:nvPr/>
        </p:nvCxnSpPr>
        <p:spPr bwMode="auto">
          <a:xfrm>
            <a:off x="1533525" y="3575050"/>
            <a:ext cx="447675" cy="31115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14369" name="Text Box 33"/>
          <p:cNvSpPr txBox="1">
            <a:spLocks noChangeArrowheads="1"/>
          </p:cNvSpPr>
          <p:nvPr/>
        </p:nvSpPr>
        <p:spPr bwMode="auto">
          <a:xfrm>
            <a:off x="1214438" y="2879725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1676400" y="1981200"/>
            <a:ext cx="167640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12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Tree A (AVL)</a:t>
            </a:r>
          </a:p>
        </p:txBody>
      </p:sp>
      <p:sp>
        <p:nvSpPr>
          <p:cNvPr id="14371" name="Text Box 35"/>
          <p:cNvSpPr txBox="1">
            <a:spLocks noChangeArrowheads="1"/>
          </p:cNvSpPr>
          <p:nvPr/>
        </p:nvSpPr>
        <p:spPr bwMode="auto">
          <a:xfrm>
            <a:off x="5867400" y="1981200"/>
            <a:ext cx="167640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12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Tree B (AVL)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/>
              <a:t>Node Heights after Insert 7</a:t>
            </a:r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7148513" y="28956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2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6538913" y="3597275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4475163" y="3597275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6256338" y="2301875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3</a:t>
            </a: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5776913" y="3597275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15367" name="Oval 7"/>
          <p:cNvSpPr>
            <a:spLocks noChangeArrowheads="1"/>
          </p:cNvSpPr>
          <p:nvPr/>
        </p:nvSpPr>
        <p:spPr bwMode="auto">
          <a:xfrm>
            <a:off x="6156325" y="2606675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6</a:t>
            </a:r>
          </a:p>
        </p:txBody>
      </p:sp>
      <p:sp>
        <p:nvSpPr>
          <p:cNvPr id="15368" name="Oval 8"/>
          <p:cNvSpPr>
            <a:spLocks noChangeArrowheads="1"/>
          </p:cNvSpPr>
          <p:nvPr/>
        </p:nvSpPr>
        <p:spPr bwMode="auto">
          <a:xfrm>
            <a:off x="5089525" y="32004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4</a:t>
            </a:r>
          </a:p>
        </p:txBody>
      </p:sp>
      <p:sp>
        <p:nvSpPr>
          <p:cNvPr id="15369" name="Oval 9"/>
          <p:cNvSpPr>
            <a:spLocks noChangeArrowheads="1"/>
          </p:cNvSpPr>
          <p:nvPr/>
        </p:nvSpPr>
        <p:spPr bwMode="auto">
          <a:xfrm>
            <a:off x="7070725" y="32004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9</a:t>
            </a:r>
          </a:p>
        </p:txBody>
      </p:sp>
      <p:sp>
        <p:nvSpPr>
          <p:cNvPr id="15370" name="Oval 10"/>
          <p:cNvSpPr>
            <a:spLocks noChangeArrowheads="1"/>
          </p:cNvSpPr>
          <p:nvPr/>
        </p:nvSpPr>
        <p:spPr bwMode="auto">
          <a:xfrm>
            <a:off x="6461125" y="3902075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8</a:t>
            </a:r>
          </a:p>
        </p:txBody>
      </p:sp>
      <p:sp>
        <p:nvSpPr>
          <p:cNvPr id="15371" name="Oval 11"/>
          <p:cNvSpPr>
            <a:spLocks noChangeArrowheads="1"/>
          </p:cNvSpPr>
          <p:nvPr/>
        </p:nvSpPr>
        <p:spPr bwMode="auto">
          <a:xfrm>
            <a:off x="4403725" y="3902075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15372" name="Oval 12"/>
          <p:cNvSpPr>
            <a:spLocks noChangeArrowheads="1"/>
          </p:cNvSpPr>
          <p:nvPr/>
        </p:nvSpPr>
        <p:spPr bwMode="auto">
          <a:xfrm>
            <a:off x="5699125" y="3902075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5</a:t>
            </a:r>
          </a:p>
        </p:txBody>
      </p:sp>
      <p:cxnSp>
        <p:nvCxnSpPr>
          <p:cNvPr id="15373" name="AutoShape 13"/>
          <p:cNvCxnSpPr>
            <a:cxnSpLocks noChangeShapeType="1"/>
            <a:stCxn id="15367" idx="3"/>
            <a:endCxn id="15368" idx="7"/>
          </p:cNvCxnSpPr>
          <p:nvPr/>
        </p:nvCxnSpPr>
        <p:spPr bwMode="auto">
          <a:xfrm flipH="1">
            <a:off x="5480050" y="2997200"/>
            <a:ext cx="742950" cy="271463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5374" name="AutoShape 14"/>
          <p:cNvCxnSpPr>
            <a:cxnSpLocks noChangeShapeType="1"/>
            <a:stCxn id="15367" idx="5"/>
            <a:endCxn id="15369" idx="1"/>
          </p:cNvCxnSpPr>
          <p:nvPr/>
        </p:nvCxnSpPr>
        <p:spPr bwMode="auto">
          <a:xfrm>
            <a:off x="6546850" y="2997200"/>
            <a:ext cx="592138" cy="271463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5375" name="AutoShape 15"/>
          <p:cNvCxnSpPr>
            <a:cxnSpLocks noChangeShapeType="1"/>
            <a:stCxn id="15368" idx="3"/>
            <a:endCxn id="15371" idx="0"/>
          </p:cNvCxnSpPr>
          <p:nvPr/>
        </p:nvCxnSpPr>
        <p:spPr bwMode="auto">
          <a:xfrm flipH="1">
            <a:off x="4632325" y="3590925"/>
            <a:ext cx="523875" cy="31115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5376" name="AutoShape 16"/>
          <p:cNvCxnSpPr>
            <a:cxnSpLocks noChangeShapeType="1"/>
            <a:stCxn id="15368" idx="5"/>
            <a:endCxn id="15372" idx="0"/>
          </p:cNvCxnSpPr>
          <p:nvPr/>
        </p:nvCxnSpPr>
        <p:spPr bwMode="auto">
          <a:xfrm>
            <a:off x="5480050" y="3590925"/>
            <a:ext cx="447675" cy="31115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5377" name="AutoShape 17"/>
          <p:cNvCxnSpPr>
            <a:cxnSpLocks noChangeShapeType="1"/>
            <a:stCxn id="15369" idx="3"/>
            <a:endCxn id="15370" idx="0"/>
          </p:cNvCxnSpPr>
          <p:nvPr/>
        </p:nvCxnSpPr>
        <p:spPr bwMode="auto">
          <a:xfrm flipH="1">
            <a:off x="6689725" y="3590925"/>
            <a:ext cx="447675" cy="31115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15378" name="Text Box 18"/>
          <p:cNvSpPr txBox="1">
            <a:spLocks noChangeArrowheads="1"/>
          </p:cNvSpPr>
          <p:nvPr/>
        </p:nvSpPr>
        <p:spPr bwMode="auto">
          <a:xfrm>
            <a:off x="5160963" y="28956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15379" name="Text Box 19"/>
          <p:cNvSpPr txBox="1">
            <a:spLocks noChangeArrowheads="1"/>
          </p:cNvSpPr>
          <p:nvPr/>
        </p:nvSpPr>
        <p:spPr bwMode="auto">
          <a:xfrm>
            <a:off x="3071813" y="4949825"/>
            <a:ext cx="3014264" cy="101784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height of node = h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balance factor = h</a:t>
            </a:r>
            <a:r>
              <a:rPr lang="en-US" sz="2000" baseline="-25000">
                <a:latin typeface="Arial" pitchFamily="34" charset="0"/>
                <a:ea typeface="Droid Sans" charset="0"/>
                <a:cs typeface="Droid Sans" charset="0"/>
              </a:rPr>
              <a:t>left</a:t>
            </a: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-h</a:t>
            </a:r>
            <a:r>
              <a:rPr lang="en-US" sz="2000" baseline="-25000">
                <a:latin typeface="Arial" pitchFamily="34" charset="0"/>
                <a:ea typeface="Droid Sans" charset="0"/>
                <a:cs typeface="Droid Sans" charset="0"/>
              </a:rPr>
              <a:t>right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empty height = -1</a:t>
            </a:r>
          </a:p>
        </p:txBody>
      </p:sp>
      <p:sp>
        <p:nvSpPr>
          <p:cNvPr id="15380" name="Text Box 20"/>
          <p:cNvSpPr txBox="1">
            <a:spLocks noChangeArrowheads="1"/>
          </p:cNvSpPr>
          <p:nvPr/>
        </p:nvSpPr>
        <p:spPr bwMode="auto">
          <a:xfrm>
            <a:off x="3201988" y="2879725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15381" name="Text Box 21"/>
          <p:cNvSpPr txBox="1">
            <a:spLocks noChangeArrowheads="1"/>
          </p:cNvSpPr>
          <p:nvPr/>
        </p:nvSpPr>
        <p:spPr bwMode="auto">
          <a:xfrm>
            <a:off x="528638" y="35814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15382" name="Text Box 22"/>
          <p:cNvSpPr txBox="1">
            <a:spLocks noChangeArrowheads="1"/>
          </p:cNvSpPr>
          <p:nvPr/>
        </p:nvSpPr>
        <p:spPr bwMode="auto">
          <a:xfrm>
            <a:off x="2281238" y="2270125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2</a:t>
            </a:r>
          </a:p>
        </p:txBody>
      </p:sp>
      <p:sp>
        <p:nvSpPr>
          <p:cNvPr id="15383" name="Text Box 23"/>
          <p:cNvSpPr txBox="1">
            <a:spLocks noChangeArrowheads="1"/>
          </p:cNvSpPr>
          <p:nvPr/>
        </p:nvSpPr>
        <p:spPr bwMode="auto">
          <a:xfrm>
            <a:off x="1830388" y="35814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15384" name="Oval 24"/>
          <p:cNvSpPr>
            <a:spLocks noChangeArrowheads="1"/>
          </p:cNvSpPr>
          <p:nvPr/>
        </p:nvSpPr>
        <p:spPr bwMode="auto">
          <a:xfrm>
            <a:off x="2209800" y="25908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6</a:t>
            </a:r>
          </a:p>
        </p:txBody>
      </p:sp>
      <p:sp>
        <p:nvSpPr>
          <p:cNvPr id="15385" name="Oval 25"/>
          <p:cNvSpPr>
            <a:spLocks noChangeArrowheads="1"/>
          </p:cNvSpPr>
          <p:nvPr/>
        </p:nvSpPr>
        <p:spPr bwMode="auto">
          <a:xfrm>
            <a:off x="1143000" y="3184525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4</a:t>
            </a:r>
          </a:p>
        </p:txBody>
      </p:sp>
      <p:sp>
        <p:nvSpPr>
          <p:cNvPr id="15386" name="Oval 26"/>
          <p:cNvSpPr>
            <a:spLocks noChangeArrowheads="1"/>
          </p:cNvSpPr>
          <p:nvPr/>
        </p:nvSpPr>
        <p:spPr bwMode="auto">
          <a:xfrm>
            <a:off x="3124200" y="3184525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9</a:t>
            </a:r>
          </a:p>
        </p:txBody>
      </p:sp>
      <p:sp>
        <p:nvSpPr>
          <p:cNvPr id="15387" name="Oval 27"/>
          <p:cNvSpPr>
            <a:spLocks noChangeArrowheads="1"/>
          </p:cNvSpPr>
          <p:nvPr/>
        </p:nvSpPr>
        <p:spPr bwMode="auto">
          <a:xfrm>
            <a:off x="457200" y="38862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15388" name="Oval 28"/>
          <p:cNvSpPr>
            <a:spLocks noChangeArrowheads="1"/>
          </p:cNvSpPr>
          <p:nvPr/>
        </p:nvSpPr>
        <p:spPr bwMode="auto">
          <a:xfrm>
            <a:off x="1752600" y="38862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5</a:t>
            </a:r>
          </a:p>
        </p:txBody>
      </p:sp>
      <p:cxnSp>
        <p:nvCxnSpPr>
          <p:cNvPr id="15389" name="AutoShape 29"/>
          <p:cNvCxnSpPr>
            <a:cxnSpLocks noChangeShapeType="1"/>
            <a:stCxn id="15384" idx="3"/>
            <a:endCxn id="15385" idx="7"/>
          </p:cNvCxnSpPr>
          <p:nvPr/>
        </p:nvCxnSpPr>
        <p:spPr bwMode="auto">
          <a:xfrm flipH="1">
            <a:off x="1533525" y="2981325"/>
            <a:ext cx="742950" cy="271463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5390" name="AutoShape 30"/>
          <p:cNvCxnSpPr>
            <a:cxnSpLocks noChangeShapeType="1"/>
            <a:stCxn id="15384" idx="5"/>
            <a:endCxn id="15386" idx="1"/>
          </p:cNvCxnSpPr>
          <p:nvPr/>
        </p:nvCxnSpPr>
        <p:spPr bwMode="auto">
          <a:xfrm>
            <a:off x="2600325" y="2981325"/>
            <a:ext cx="592138" cy="271463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5391" name="AutoShape 31"/>
          <p:cNvCxnSpPr>
            <a:cxnSpLocks noChangeShapeType="1"/>
            <a:stCxn id="15385" idx="3"/>
            <a:endCxn id="15387" idx="0"/>
          </p:cNvCxnSpPr>
          <p:nvPr/>
        </p:nvCxnSpPr>
        <p:spPr bwMode="auto">
          <a:xfrm flipH="1">
            <a:off x="685800" y="3575050"/>
            <a:ext cx="523875" cy="31115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5392" name="AutoShape 32"/>
          <p:cNvCxnSpPr>
            <a:cxnSpLocks noChangeShapeType="1"/>
            <a:stCxn id="15385" idx="5"/>
            <a:endCxn id="15388" idx="0"/>
          </p:cNvCxnSpPr>
          <p:nvPr/>
        </p:nvCxnSpPr>
        <p:spPr bwMode="auto">
          <a:xfrm>
            <a:off x="1533525" y="3575050"/>
            <a:ext cx="447675" cy="31115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15393" name="Text Box 33"/>
          <p:cNvSpPr txBox="1">
            <a:spLocks noChangeArrowheads="1"/>
          </p:cNvSpPr>
          <p:nvPr/>
        </p:nvSpPr>
        <p:spPr bwMode="auto">
          <a:xfrm>
            <a:off x="1214438" y="2879725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15394" name="Text Box 34"/>
          <p:cNvSpPr txBox="1">
            <a:spLocks noChangeArrowheads="1"/>
          </p:cNvSpPr>
          <p:nvPr/>
        </p:nvSpPr>
        <p:spPr bwMode="auto">
          <a:xfrm>
            <a:off x="2601913" y="3571875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15395" name="Oval 35"/>
          <p:cNvSpPr>
            <a:spLocks noChangeArrowheads="1"/>
          </p:cNvSpPr>
          <p:nvPr/>
        </p:nvSpPr>
        <p:spPr bwMode="auto">
          <a:xfrm>
            <a:off x="2524125" y="3876675"/>
            <a:ext cx="457200" cy="457200"/>
          </a:xfrm>
          <a:prstGeom prst="ellips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7</a:t>
            </a:r>
          </a:p>
        </p:txBody>
      </p:sp>
      <p:cxnSp>
        <p:nvCxnSpPr>
          <p:cNvPr id="15396" name="AutoShape 36"/>
          <p:cNvCxnSpPr>
            <a:cxnSpLocks noChangeShapeType="1"/>
            <a:stCxn id="15386" idx="3"/>
            <a:endCxn id="15395" idx="0"/>
          </p:cNvCxnSpPr>
          <p:nvPr/>
        </p:nvCxnSpPr>
        <p:spPr bwMode="auto">
          <a:xfrm flipH="1">
            <a:off x="2752725" y="3575050"/>
            <a:ext cx="438150" cy="301625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15397" name="Text Box 37"/>
          <p:cNvSpPr txBox="1">
            <a:spLocks noChangeArrowheads="1"/>
          </p:cNvSpPr>
          <p:nvPr/>
        </p:nvSpPr>
        <p:spPr bwMode="auto">
          <a:xfrm>
            <a:off x="6081713" y="44196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15398" name="Oval 38"/>
          <p:cNvSpPr>
            <a:spLocks noChangeArrowheads="1"/>
          </p:cNvSpPr>
          <p:nvPr/>
        </p:nvSpPr>
        <p:spPr bwMode="auto">
          <a:xfrm>
            <a:off x="6003925" y="4724400"/>
            <a:ext cx="457200" cy="457200"/>
          </a:xfrm>
          <a:prstGeom prst="ellips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7</a:t>
            </a:r>
          </a:p>
        </p:txBody>
      </p:sp>
      <p:cxnSp>
        <p:nvCxnSpPr>
          <p:cNvPr id="15399" name="AutoShape 39"/>
          <p:cNvCxnSpPr>
            <a:cxnSpLocks noChangeShapeType="1"/>
            <a:stCxn id="15370" idx="3"/>
            <a:endCxn id="15398" idx="0"/>
          </p:cNvCxnSpPr>
          <p:nvPr/>
        </p:nvCxnSpPr>
        <p:spPr bwMode="auto">
          <a:xfrm flipH="1">
            <a:off x="6232525" y="4292600"/>
            <a:ext cx="295275" cy="43180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15400" name="AutoShape 40"/>
          <p:cNvSpPr>
            <a:spLocks noChangeArrowheads="1"/>
          </p:cNvSpPr>
          <p:nvPr/>
        </p:nvSpPr>
        <p:spPr bwMode="auto">
          <a:xfrm>
            <a:off x="7254875" y="2214563"/>
            <a:ext cx="1411646" cy="586957"/>
          </a:xfrm>
          <a:prstGeom prst="wedgeRectCallout">
            <a:avLst>
              <a:gd name="adj1" fmla="val -38245"/>
              <a:gd name="adj2" fmla="val 128745"/>
            </a:avLst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>
                <a:ea typeface="Droid Sans" charset="0"/>
                <a:cs typeface="Droid Sans" charset="0"/>
              </a:rPr>
              <a:t>balance factor </a:t>
            </a:r>
          </a:p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>
                <a:ea typeface="Droid Sans" charset="0"/>
                <a:cs typeface="Droid Sans" charset="0"/>
              </a:rPr>
              <a:t>1-(-1) = 2</a:t>
            </a:r>
          </a:p>
        </p:txBody>
      </p:sp>
      <p:sp>
        <p:nvSpPr>
          <p:cNvPr id="15401" name="Line 41"/>
          <p:cNvSpPr>
            <a:spLocks noChangeShapeType="1"/>
          </p:cNvSpPr>
          <p:nvPr/>
        </p:nvSpPr>
        <p:spPr bwMode="auto">
          <a:xfrm>
            <a:off x="7467600" y="3581400"/>
            <a:ext cx="152400" cy="1524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402" name="Text Box 42"/>
          <p:cNvSpPr txBox="1">
            <a:spLocks noChangeArrowheads="1"/>
          </p:cNvSpPr>
          <p:nvPr/>
        </p:nvSpPr>
        <p:spPr bwMode="auto">
          <a:xfrm>
            <a:off x="7613650" y="3505200"/>
            <a:ext cx="39370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-1</a:t>
            </a:r>
          </a:p>
        </p:txBody>
      </p:sp>
      <p:sp>
        <p:nvSpPr>
          <p:cNvPr id="15403" name="Text Box 43"/>
          <p:cNvSpPr txBox="1">
            <a:spLocks noChangeArrowheads="1"/>
          </p:cNvSpPr>
          <p:nvPr/>
        </p:nvSpPr>
        <p:spPr bwMode="auto">
          <a:xfrm>
            <a:off x="1905000" y="1905000"/>
            <a:ext cx="167640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12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Tree A (AVL)</a:t>
            </a:r>
          </a:p>
        </p:txBody>
      </p:sp>
      <p:sp>
        <p:nvSpPr>
          <p:cNvPr id="15404" name="Text Box 44"/>
          <p:cNvSpPr txBox="1">
            <a:spLocks noChangeArrowheads="1"/>
          </p:cNvSpPr>
          <p:nvPr/>
        </p:nvSpPr>
        <p:spPr bwMode="auto">
          <a:xfrm>
            <a:off x="4876800" y="1905000"/>
            <a:ext cx="228600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12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Tree B (not AVL)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463550"/>
            <a:ext cx="7772400" cy="14351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/>
              <a:t>Insert and Rotation in AVL Trees</a:t>
            </a: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229600" cy="4114800"/>
          </a:xfrm>
          <a:ln/>
        </p:spPr>
        <p:txBody>
          <a:bodyPr/>
          <a:lstStyle/>
          <a:p>
            <a:pPr marL="341313" indent="-341313">
              <a:lnSpc>
                <a:spcPct val="90000"/>
              </a:lnSpc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Insert operation may cause balance factor to become 2 or –2 for some node </a:t>
            </a:r>
          </a:p>
          <a:p>
            <a:pPr marL="741363" lvl="1" indent="-284163">
              <a:lnSpc>
                <a:spcPct val="90000"/>
              </a:lnSpc>
              <a:buClr>
                <a:srgbClr val="FF0000"/>
              </a:buClr>
              <a:buFont typeface="Arial" pitchFamily="34" charset="0"/>
              <a:buChar char="›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only nodes on the path from insertion point to root node have possibly changed in height</a:t>
            </a:r>
          </a:p>
          <a:p>
            <a:pPr marL="741363" lvl="1" indent="-284163">
              <a:lnSpc>
                <a:spcPct val="90000"/>
              </a:lnSpc>
              <a:buFont typeface="Arial" pitchFamily="34" charset="0"/>
              <a:buChar char="›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So after the Insert, go back up to the root node by node, updating heights</a:t>
            </a:r>
          </a:p>
          <a:p>
            <a:pPr marL="741363" lvl="1" indent="-284163">
              <a:lnSpc>
                <a:spcPct val="90000"/>
              </a:lnSpc>
              <a:buClr>
                <a:srgbClr val="3333CC"/>
              </a:buClr>
              <a:buFont typeface="Arial" pitchFamily="34" charset="0"/>
              <a:buChar char="›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If a new balance factor (the difference h</a:t>
            </a:r>
            <a:r>
              <a:rPr lang="en-US" baseline="-25000"/>
              <a:t>left</a:t>
            </a:r>
            <a:r>
              <a:rPr lang="en-US"/>
              <a:t>-h</a:t>
            </a:r>
            <a:r>
              <a:rPr lang="en-US" baseline="-25000"/>
              <a:t>right</a:t>
            </a:r>
            <a:r>
              <a:rPr lang="en-US"/>
              <a:t>) is 2 or –2, adjust tree by </a:t>
            </a:r>
            <a:r>
              <a:rPr lang="en-US" i="1"/>
              <a:t>rotation</a:t>
            </a:r>
            <a:r>
              <a:rPr lang="en-US"/>
              <a:t> around the node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463550"/>
            <a:ext cx="7772400" cy="14351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/>
              <a:t>Single Rotation in an AVL Tree</a:t>
            </a:r>
          </a:p>
        </p:txBody>
      </p:sp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3582988" y="27432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2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2973388" y="3444875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909638" y="3444875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2662238" y="21336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2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2211388" y="3444875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17415" name="Oval 7"/>
          <p:cNvSpPr>
            <a:spLocks noChangeArrowheads="1"/>
          </p:cNvSpPr>
          <p:nvPr/>
        </p:nvSpPr>
        <p:spPr bwMode="auto">
          <a:xfrm>
            <a:off x="2590800" y="2454275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6</a:t>
            </a:r>
          </a:p>
        </p:txBody>
      </p:sp>
      <p:sp>
        <p:nvSpPr>
          <p:cNvPr id="17416" name="Oval 8"/>
          <p:cNvSpPr>
            <a:spLocks noChangeArrowheads="1"/>
          </p:cNvSpPr>
          <p:nvPr/>
        </p:nvSpPr>
        <p:spPr bwMode="auto">
          <a:xfrm>
            <a:off x="1524000" y="30480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4</a:t>
            </a:r>
          </a:p>
        </p:txBody>
      </p:sp>
      <p:sp>
        <p:nvSpPr>
          <p:cNvPr id="17417" name="Oval 9"/>
          <p:cNvSpPr>
            <a:spLocks noChangeArrowheads="1"/>
          </p:cNvSpPr>
          <p:nvPr/>
        </p:nvSpPr>
        <p:spPr bwMode="auto">
          <a:xfrm>
            <a:off x="3505200" y="30480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9</a:t>
            </a:r>
          </a:p>
        </p:txBody>
      </p:sp>
      <p:sp>
        <p:nvSpPr>
          <p:cNvPr id="17418" name="Oval 10"/>
          <p:cNvSpPr>
            <a:spLocks noChangeArrowheads="1"/>
          </p:cNvSpPr>
          <p:nvPr/>
        </p:nvSpPr>
        <p:spPr bwMode="auto">
          <a:xfrm>
            <a:off x="2895600" y="3749675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8</a:t>
            </a:r>
          </a:p>
        </p:txBody>
      </p:sp>
      <p:sp>
        <p:nvSpPr>
          <p:cNvPr id="17419" name="Oval 11"/>
          <p:cNvSpPr>
            <a:spLocks noChangeArrowheads="1"/>
          </p:cNvSpPr>
          <p:nvPr/>
        </p:nvSpPr>
        <p:spPr bwMode="auto">
          <a:xfrm>
            <a:off x="838200" y="3749675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17420" name="Oval 12"/>
          <p:cNvSpPr>
            <a:spLocks noChangeArrowheads="1"/>
          </p:cNvSpPr>
          <p:nvPr/>
        </p:nvSpPr>
        <p:spPr bwMode="auto">
          <a:xfrm>
            <a:off x="2133600" y="3749675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5</a:t>
            </a:r>
          </a:p>
        </p:txBody>
      </p:sp>
      <p:cxnSp>
        <p:nvCxnSpPr>
          <p:cNvPr id="17421" name="AutoShape 13"/>
          <p:cNvCxnSpPr>
            <a:cxnSpLocks noChangeShapeType="1"/>
            <a:stCxn id="17415" idx="3"/>
            <a:endCxn id="17416" idx="7"/>
          </p:cNvCxnSpPr>
          <p:nvPr/>
        </p:nvCxnSpPr>
        <p:spPr bwMode="auto">
          <a:xfrm flipH="1">
            <a:off x="1914525" y="2844800"/>
            <a:ext cx="742950" cy="271463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7422" name="AutoShape 14"/>
          <p:cNvCxnSpPr>
            <a:cxnSpLocks noChangeShapeType="1"/>
            <a:stCxn id="17415" idx="5"/>
            <a:endCxn id="17417" idx="1"/>
          </p:cNvCxnSpPr>
          <p:nvPr/>
        </p:nvCxnSpPr>
        <p:spPr bwMode="auto">
          <a:xfrm>
            <a:off x="2981325" y="2844800"/>
            <a:ext cx="592138" cy="271463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7423" name="AutoShape 15"/>
          <p:cNvCxnSpPr>
            <a:cxnSpLocks noChangeShapeType="1"/>
            <a:stCxn id="17416" idx="3"/>
            <a:endCxn id="17419" idx="0"/>
          </p:cNvCxnSpPr>
          <p:nvPr/>
        </p:nvCxnSpPr>
        <p:spPr bwMode="auto">
          <a:xfrm flipH="1">
            <a:off x="1066800" y="3438525"/>
            <a:ext cx="523875" cy="31115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7424" name="AutoShape 16"/>
          <p:cNvCxnSpPr>
            <a:cxnSpLocks noChangeShapeType="1"/>
            <a:stCxn id="17416" idx="5"/>
            <a:endCxn id="17420" idx="0"/>
          </p:cNvCxnSpPr>
          <p:nvPr/>
        </p:nvCxnSpPr>
        <p:spPr bwMode="auto">
          <a:xfrm>
            <a:off x="1914525" y="3438525"/>
            <a:ext cx="449263" cy="31115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7425" name="AutoShape 17"/>
          <p:cNvCxnSpPr>
            <a:cxnSpLocks noChangeShapeType="1"/>
            <a:stCxn id="17417" idx="3"/>
            <a:endCxn id="17418" idx="0"/>
          </p:cNvCxnSpPr>
          <p:nvPr/>
        </p:nvCxnSpPr>
        <p:spPr bwMode="auto">
          <a:xfrm flipH="1">
            <a:off x="3124200" y="3438525"/>
            <a:ext cx="447675" cy="31115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17426" name="Text Box 18"/>
          <p:cNvSpPr txBox="1">
            <a:spLocks noChangeArrowheads="1"/>
          </p:cNvSpPr>
          <p:nvPr/>
        </p:nvSpPr>
        <p:spPr bwMode="auto">
          <a:xfrm>
            <a:off x="1595438" y="27432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17427" name="Text Box 19"/>
          <p:cNvSpPr txBox="1">
            <a:spLocks noChangeArrowheads="1"/>
          </p:cNvSpPr>
          <p:nvPr/>
        </p:nvSpPr>
        <p:spPr bwMode="auto">
          <a:xfrm>
            <a:off x="2516188" y="42672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17428" name="Oval 20"/>
          <p:cNvSpPr>
            <a:spLocks noChangeArrowheads="1"/>
          </p:cNvSpPr>
          <p:nvPr/>
        </p:nvSpPr>
        <p:spPr bwMode="auto">
          <a:xfrm>
            <a:off x="2438400" y="4572000"/>
            <a:ext cx="457200" cy="457200"/>
          </a:xfrm>
          <a:prstGeom prst="ellips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7</a:t>
            </a:r>
          </a:p>
        </p:txBody>
      </p:sp>
      <p:cxnSp>
        <p:nvCxnSpPr>
          <p:cNvPr id="17429" name="AutoShape 21"/>
          <p:cNvCxnSpPr>
            <a:cxnSpLocks noChangeShapeType="1"/>
            <a:stCxn id="17418" idx="3"/>
            <a:endCxn id="17428" idx="0"/>
          </p:cNvCxnSpPr>
          <p:nvPr/>
        </p:nvCxnSpPr>
        <p:spPr bwMode="auto">
          <a:xfrm flipH="1">
            <a:off x="2667000" y="4140200"/>
            <a:ext cx="295275" cy="43180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17430" name="Text Box 22"/>
          <p:cNvSpPr txBox="1">
            <a:spLocks noChangeArrowheads="1"/>
          </p:cNvSpPr>
          <p:nvPr/>
        </p:nvSpPr>
        <p:spPr bwMode="auto">
          <a:xfrm>
            <a:off x="8059738" y="33528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17431" name="Text Box 23"/>
          <p:cNvSpPr txBox="1">
            <a:spLocks noChangeArrowheads="1"/>
          </p:cNvSpPr>
          <p:nvPr/>
        </p:nvSpPr>
        <p:spPr bwMode="auto">
          <a:xfrm>
            <a:off x="7545388" y="27432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17432" name="Text Box 24"/>
          <p:cNvSpPr txBox="1">
            <a:spLocks noChangeArrowheads="1"/>
          </p:cNvSpPr>
          <p:nvPr/>
        </p:nvSpPr>
        <p:spPr bwMode="auto">
          <a:xfrm>
            <a:off x="5024438" y="3444875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17433" name="Text Box 25"/>
          <p:cNvSpPr txBox="1">
            <a:spLocks noChangeArrowheads="1"/>
          </p:cNvSpPr>
          <p:nvPr/>
        </p:nvSpPr>
        <p:spPr bwMode="auto">
          <a:xfrm>
            <a:off x="6777038" y="21336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2</a:t>
            </a:r>
          </a:p>
        </p:txBody>
      </p:sp>
      <p:sp>
        <p:nvSpPr>
          <p:cNvPr id="17434" name="Text Box 26"/>
          <p:cNvSpPr txBox="1">
            <a:spLocks noChangeArrowheads="1"/>
          </p:cNvSpPr>
          <p:nvPr/>
        </p:nvSpPr>
        <p:spPr bwMode="auto">
          <a:xfrm>
            <a:off x="6326188" y="3444875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17435" name="Oval 27"/>
          <p:cNvSpPr>
            <a:spLocks noChangeArrowheads="1"/>
          </p:cNvSpPr>
          <p:nvPr/>
        </p:nvSpPr>
        <p:spPr bwMode="auto">
          <a:xfrm>
            <a:off x="6705600" y="2454275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6</a:t>
            </a:r>
          </a:p>
        </p:txBody>
      </p:sp>
      <p:sp>
        <p:nvSpPr>
          <p:cNvPr id="17436" name="Oval 28"/>
          <p:cNvSpPr>
            <a:spLocks noChangeArrowheads="1"/>
          </p:cNvSpPr>
          <p:nvPr/>
        </p:nvSpPr>
        <p:spPr bwMode="auto">
          <a:xfrm>
            <a:off x="5638800" y="30480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4</a:t>
            </a:r>
          </a:p>
        </p:txBody>
      </p:sp>
      <p:sp>
        <p:nvSpPr>
          <p:cNvPr id="17437" name="Oval 29"/>
          <p:cNvSpPr>
            <a:spLocks noChangeArrowheads="1"/>
          </p:cNvSpPr>
          <p:nvPr/>
        </p:nvSpPr>
        <p:spPr bwMode="auto">
          <a:xfrm>
            <a:off x="7981950" y="37338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9</a:t>
            </a:r>
          </a:p>
        </p:txBody>
      </p:sp>
      <p:sp>
        <p:nvSpPr>
          <p:cNvPr id="17438" name="Oval 30"/>
          <p:cNvSpPr>
            <a:spLocks noChangeArrowheads="1"/>
          </p:cNvSpPr>
          <p:nvPr/>
        </p:nvSpPr>
        <p:spPr bwMode="auto">
          <a:xfrm>
            <a:off x="7467600" y="30480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8</a:t>
            </a:r>
          </a:p>
        </p:txBody>
      </p:sp>
      <p:sp>
        <p:nvSpPr>
          <p:cNvPr id="17439" name="Oval 31"/>
          <p:cNvSpPr>
            <a:spLocks noChangeArrowheads="1"/>
          </p:cNvSpPr>
          <p:nvPr/>
        </p:nvSpPr>
        <p:spPr bwMode="auto">
          <a:xfrm>
            <a:off x="4953000" y="3749675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17440" name="Oval 32"/>
          <p:cNvSpPr>
            <a:spLocks noChangeArrowheads="1"/>
          </p:cNvSpPr>
          <p:nvPr/>
        </p:nvSpPr>
        <p:spPr bwMode="auto">
          <a:xfrm>
            <a:off x="6248400" y="3749675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5</a:t>
            </a:r>
          </a:p>
        </p:txBody>
      </p:sp>
      <p:cxnSp>
        <p:nvCxnSpPr>
          <p:cNvPr id="17441" name="AutoShape 33"/>
          <p:cNvCxnSpPr>
            <a:cxnSpLocks noChangeShapeType="1"/>
            <a:stCxn id="17435" idx="3"/>
            <a:endCxn id="17436" idx="7"/>
          </p:cNvCxnSpPr>
          <p:nvPr/>
        </p:nvCxnSpPr>
        <p:spPr bwMode="auto">
          <a:xfrm flipH="1">
            <a:off x="6029325" y="2844800"/>
            <a:ext cx="742950" cy="271463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7442" name="AutoShape 34"/>
          <p:cNvCxnSpPr>
            <a:cxnSpLocks noChangeShapeType="1"/>
            <a:stCxn id="17435" idx="5"/>
            <a:endCxn id="17438" idx="0"/>
          </p:cNvCxnSpPr>
          <p:nvPr/>
        </p:nvCxnSpPr>
        <p:spPr bwMode="auto">
          <a:xfrm>
            <a:off x="7096125" y="2844800"/>
            <a:ext cx="600075" cy="204788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7443" name="AutoShape 35"/>
          <p:cNvCxnSpPr>
            <a:cxnSpLocks noChangeShapeType="1"/>
            <a:stCxn id="17436" idx="3"/>
            <a:endCxn id="17439" idx="0"/>
          </p:cNvCxnSpPr>
          <p:nvPr/>
        </p:nvCxnSpPr>
        <p:spPr bwMode="auto">
          <a:xfrm flipH="1">
            <a:off x="5181600" y="3438525"/>
            <a:ext cx="523875" cy="31115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7444" name="AutoShape 36"/>
          <p:cNvCxnSpPr>
            <a:cxnSpLocks noChangeShapeType="1"/>
            <a:stCxn id="17436" idx="5"/>
            <a:endCxn id="17440" idx="0"/>
          </p:cNvCxnSpPr>
          <p:nvPr/>
        </p:nvCxnSpPr>
        <p:spPr bwMode="auto">
          <a:xfrm>
            <a:off x="6029325" y="3438525"/>
            <a:ext cx="449263" cy="31115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7445" name="AutoShape 37"/>
          <p:cNvCxnSpPr>
            <a:cxnSpLocks noChangeShapeType="1"/>
            <a:stCxn id="17437" idx="0"/>
            <a:endCxn id="17438" idx="5"/>
          </p:cNvCxnSpPr>
          <p:nvPr/>
        </p:nvCxnSpPr>
        <p:spPr bwMode="auto">
          <a:xfrm flipH="1" flipV="1">
            <a:off x="7858125" y="3438525"/>
            <a:ext cx="352425" cy="295275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17446" name="Text Box 38"/>
          <p:cNvSpPr txBox="1">
            <a:spLocks noChangeArrowheads="1"/>
          </p:cNvSpPr>
          <p:nvPr/>
        </p:nvSpPr>
        <p:spPr bwMode="auto">
          <a:xfrm>
            <a:off x="5710238" y="27432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17447" name="Text Box 39"/>
          <p:cNvSpPr txBox="1">
            <a:spLocks noChangeArrowheads="1"/>
          </p:cNvSpPr>
          <p:nvPr/>
        </p:nvSpPr>
        <p:spPr bwMode="auto">
          <a:xfrm>
            <a:off x="7088188" y="34290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17448" name="Oval 40"/>
          <p:cNvSpPr>
            <a:spLocks noChangeArrowheads="1"/>
          </p:cNvSpPr>
          <p:nvPr/>
        </p:nvSpPr>
        <p:spPr bwMode="auto">
          <a:xfrm>
            <a:off x="7010400" y="3733800"/>
            <a:ext cx="457200" cy="457200"/>
          </a:xfrm>
          <a:prstGeom prst="ellips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7</a:t>
            </a:r>
          </a:p>
        </p:txBody>
      </p:sp>
      <p:cxnSp>
        <p:nvCxnSpPr>
          <p:cNvPr id="17449" name="AutoShape 41"/>
          <p:cNvCxnSpPr>
            <a:cxnSpLocks noChangeShapeType="1"/>
            <a:stCxn id="17438" idx="3"/>
            <a:endCxn id="17448" idx="0"/>
          </p:cNvCxnSpPr>
          <p:nvPr/>
        </p:nvCxnSpPr>
        <p:spPr bwMode="auto">
          <a:xfrm flipH="1">
            <a:off x="7239000" y="3438525"/>
            <a:ext cx="295275" cy="295275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17450" name="Oval 42"/>
          <p:cNvSpPr>
            <a:spLocks noChangeArrowheads="1"/>
          </p:cNvSpPr>
          <p:nvPr/>
        </p:nvSpPr>
        <p:spPr bwMode="auto">
          <a:xfrm rot="18900000">
            <a:off x="2360613" y="3124200"/>
            <a:ext cx="2057400" cy="914400"/>
          </a:xfrm>
          <a:prstGeom prst="ellipse">
            <a:avLst/>
          </a:prstGeom>
          <a:noFill/>
          <a:ln w="3816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451" name="Oval 43"/>
          <p:cNvSpPr>
            <a:spLocks noChangeArrowheads="1"/>
          </p:cNvSpPr>
          <p:nvPr/>
        </p:nvSpPr>
        <p:spPr bwMode="auto">
          <a:xfrm rot="2700000">
            <a:off x="6973888" y="3122613"/>
            <a:ext cx="2057400" cy="914400"/>
          </a:xfrm>
          <a:prstGeom prst="ellipse">
            <a:avLst/>
          </a:prstGeom>
          <a:noFill/>
          <a:ln w="3816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ext Box 1"/>
          <p:cNvSpPr txBox="1">
            <a:spLocks noChangeArrowheads="1"/>
          </p:cNvSpPr>
          <p:nvPr/>
        </p:nvSpPr>
        <p:spPr bwMode="auto">
          <a:xfrm>
            <a:off x="682625" y="1682750"/>
            <a:ext cx="5264881" cy="258750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Let the node that needs rebalancing be </a:t>
            </a:r>
            <a:r>
              <a:rPr lang="en-US">
                <a:latin typeface="Symbol" pitchFamily="18" charset="2"/>
                <a:ea typeface="Droid Sans" charset="0"/>
                <a:cs typeface="Droid Sans" charset="0"/>
              </a:rPr>
              <a:t></a:t>
            </a: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.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>
              <a:latin typeface="Arial" pitchFamily="34" charset="0"/>
              <a:ea typeface="Droid Sans" charset="0"/>
              <a:cs typeface="Droid Sans" charset="0"/>
            </a:endParaRP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There are 4 cases: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  Outside Cases (require single rotation) :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     1. Insertion into left subtree of left child of </a:t>
            </a:r>
            <a:r>
              <a:rPr lang="en-US">
                <a:latin typeface="Symbol" pitchFamily="18" charset="2"/>
                <a:ea typeface="Droid Sans" charset="0"/>
                <a:cs typeface="Droid Sans" charset="0"/>
              </a:rPr>
              <a:t></a:t>
            </a: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.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     2. Insertion into right subtree of right child of </a:t>
            </a:r>
            <a:r>
              <a:rPr lang="en-US">
                <a:latin typeface="Symbol" pitchFamily="18" charset="2"/>
                <a:ea typeface="Droid Sans" charset="0"/>
                <a:cs typeface="Droid Sans" charset="0"/>
              </a:rPr>
              <a:t></a:t>
            </a: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.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  Inside Cases (require double rotation) :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     3. Insertion into right subtree of left child of </a:t>
            </a:r>
            <a:r>
              <a:rPr lang="en-US">
                <a:latin typeface="Symbol" pitchFamily="18" charset="2"/>
                <a:ea typeface="Droid Sans" charset="0"/>
                <a:cs typeface="Droid Sans" charset="0"/>
              </a:rPr>
              <a:t></a:t>
            </a: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.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     4. Insertion into left subtree of right child of </a:t>
            </a:r>
            <a:r>
              <a:rPr lang="en-US">
                <a:latin typeface="Symbol" pitchFamily="18" charset="2"/>
                <a:ea typeface="Droid Sans" charset="0"/>
                <a:cs typeface="Droid Sans" charset="0"/>
              </a:rPr>
              <a:t></a:t>
            </a: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.</a:t>
            </a:r>
          </a:p>
        </p:txBody>
      </p:sp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877888" y="5187950"/>
            <a:ext cx="4554750" cy="6485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The rebalancing is performed through four </a:t>
            </a:r>
            <a:br>
              <a:rPr lang="en-US">
                <a:latin typeface="Arial" pitchFamily="34" charset="0"/>
                <a:ea typeface="Droid Sans" charset="0"/>
                <a:cs typeface="Droid Sans" charset="0"/>
              </a:rPr>
            </a:b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separate rotation algorithms.</a:t>
            </a: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665163" y="646113"/>
            <a:ext cx="7813675" cy="8016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dirty="0">
                <a:latin typeface="Arial" pitchFamily="34" charset="0"/>
                <a:ea typeface="Droid Sans" charset="0"/>
                <a:cs typeface="Droid Sans" charset="0"/>
              </a:rPr>
              <a:t>Insertions in AVL Trees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Oval 1"/>
          <p:cNvSpPr>
            <a:spLocks noChangeArrowheads="1"/>
          </p:cNvSpPr>
          <p:nvPr/>
        </p:nvSpPr>
        <p:spPr bwMode="auto">
          <a:xfrm>
            <a:off x="3906838" y="1692275"/>
            <a:ext cx="838200" cy="838200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4135438" y="1539875"/>
            <a:ext cx="511175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j</a:t>
            </a:r>
          </a:p>
        </p:txBody>
      </p:sp>
      <p:sp>
        <p:nvSpPr>
          <p:cNvPr id="19459" name="Oval 3"/>
          <p:cNvSpPr>
            <a:spLocks noChangeArrowheads="1"/>
          </p:cNvSpPr>
          <p:nvPr/>
        </p:nvSpPr>
        <p:spPr bwMode="auto">
          <a:xfrm>
            <a:off x="2230438" y="3063875"/>
            <a:ext cx="838200" cy="838200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2459038" y="2987675"/>
            <a:ext cx="511175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k</a:t>
            </a:r>
          </a:p>
        </p:txBody>
      </p:sp>
      <p:cxnSp>
        <p:nvCxnSpPr>
          <p:cNvPr id="19461" name="AutoShape 5"/>
          <p:cNvCxnSpPr>
            <a:cxnSpLocks noChangeShapeType="1"/>
            <a:stCxn id="19457" idx="3"/>
            <a:endCxn id="19459" idx="7"/>
          </p:cNvCxnSpPr>
          <p:nvPr/>
        </p:nvCxnSpPr>
        <p:spPr bwMode="auto">
          <a:xfrm flipH="1">
            <a:off x="2946400" y="2408238"/>
            <a:ext cx="1082675" cy="779462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19462" name="AutoShape 6"/>
          <p:cNvSpPr>
            <a:spLocks noChangeArrowheads="1"/>
          </p:cNvSpPr>
          <p:nvPr/>
        </p:nvSpPr>
        <p:spPr bwMode="auto">
          <a:xfrm>
            <a:off x="554038" y="4435475"/>
            <a:ext cx="1600200" cy="12954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9463" name="AutoShape 7"/>
          <p:cNvCxnSpPr>
            <a:cxnSpLocks noChangeShapeType="1"/>
            <a:stCxn id="19459" idx="3"/>
            <a:endCxn id="19462" idx="0"/>
          </p:cNvCxnSpPr>
          <p:nvPr/>
        </p:nvCxnSpPr>
        <p:spPr bwMode="auto">
          <a:xfrm flipH="1">
            <a:off x="1354138" y="3779838"/>
            <a:ext cx="998537" cy="657225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1087438" y="4892675"/>
            <a:ext cx="511175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X</a:t>
            </a:r>
          </a:p>
        </p:txBody>
      </p:sp>
      <p:sp>
        <p:nvSpPr>
          <p:cNvPr id="19465" name="AutoShape 9"/>
          <p:cNvSpPr>
            <a:spLocks noChangeArrowheads="1"/>
          </p:cNvSpPr>
          <p:nvPr/>
        </p:nvSpPr>
        <p:spPr bwMode="auto">
          <a:xfrm>
            <a:off x="3221038" y="4511675"/>
            <a:ext cx="1524000" cy="12192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3678238" y="4892675"/>
            <a:ext cx="511175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Y</a:t>
            </a:r>
          </a:p>
        </p:txBody>
      </p:sp>
      <p:sp>
        <p:nvSpPr>
          <p:cNvPr id="19467" name="AutoShape 11"/>
          <p:cNvSpPr>
            <a:spLocks noChangeArrowheads="1"/>
          </p:cNvSpPr>
          <p:nvPr/>
        </p:nvSpPr>
        <p:spPr bwMode="auto">
          <a:xfrm>
            <a:off x="5202238" y="3521075"/>
            <a:ext cx="1600200" cy="12954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5735638" y="3825875"/>
            <a:ext cx="511175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Z</a:t>
            </a:r>
          </a:p>
        </p:txBody>
      </p:sp>
      <p:cxnSp>
        <p:nvCxnSpPr>
          <p:cNvPr id="19469" name="AutoShape 13"/>
          <p:cNvCxnSpPr>
            <a:cxnSpLocks noChangeShapeType="1"/>
            <a:stCxn id="19459" idx="5"/>
            <a:endCxn id="19465" idx="0"/>
          </p:cNvCxnSpPr>
          <p:nvPr/>
        </p:nvCxnSpPr>
        <p:spPr bwMode="auto">
          <a:xfrm>
            <a:off x="2946400" y="3779838"/>
            <a:ext cx="1038225" cy="731837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19470" name="AutoShape 14"/>
          <p:cNvCxnSpPr>
            <a:cxnSpLocks noChangeShapeType="1"/>
            <a:stCxn id="19457" idx="5"/>
            <a:endCxn id="19467" idx="0"/>
          </p:cNvCxnSpPr>
          <p:nvPr/>
        </p:nvCxnSpPr>
        <p:spPr bwMode="auto">
          <a:xfrm>
            <a:off x="4622800" y="2408238"/>
            <a:ext cx="1381125" cy="1114425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19471" name="Line 15"/>
          <p:cNvSpPr>
            <a:spLocks noChangeShapeType="1"/>
          </p:cNvSpPr>
          <p:nvPr/>
        </p:nvSpPr>
        <p:spPr bwMode="auto">
          <a:xfrm>
            <a:off x="7183438" y="4816475"/>
            <a:ext cx="1600200" cy="1588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72" name="Line 16"/>
          <p:cNvSpPr>
            <a:spLocks noChangeShapeType="1"/>
          </p:cNvSpPr>
          <p:nvPr/>
        </p:nvSpPr>
        <p:spPr bwMode="auto">
          <a:xfrm>
            <a:off x="7183438" y="5730875"/>
            <a:ext cx="1600200" cy="1588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73" name="Text Box 17"/>
          <p:cNvSpPr txBox="1">
            <a:spLocks noChangeArrowheads="1"/>
          </p:cNvSpPr>
          <p:nvPr/>
        </p:nvSpPr>
        <p:spPr bwMode="auto">
          <a:xfrm>
            <a:off x="646113" y="1754188"/>
            <a:ext cx="1836057" cy="6485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Consider a valid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AVL subtree</a:t>
            </a:r>
          </a:p>
        </p:txBody>
      </p:sp>
      <p:sp>
        <p:nvSpPr>
          <p:cNvPr id="19474" name="Rectangle 18"/>
          <p:cNvSpPr>
            <a:spLocks noChangeArrowheads="1"/>
          </p:cNvSpPr>
          <p:nvPr/>
        </p:nvSpPr>
        <p:spPr bwMode="auto">
          <a:xfrm>
            <a:off x="665163" y="646113"/>
            <a:ext cx="7813675" cy="8016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dirty="0">
                <a:latin typeface="Arial" pitchFamily="34" charset="0"/>
                <a:ea typeface="Droid Sans" charset="0"/>
                <a:cs typeface="Droid Sans" charset="0"/>
              </a:rPr>
              <a:t>AVL Insertion: Outside Case </a:t>
            </a:r>
          </a:p>
        </p:txBody>
      </p:sp>
      <p:sp>
        <p:nvSpPr>
          <p:cNvPr id="19475" name="Text Box 19"/>
          <p:cNvSpPr txBox="1">
            <a:spLocks noChangeArrowheads="1"/>
          </p:cNvSpPr>
          <p:nvPr/>
        </p:nvSpPr>
        <p:spPr bwMode="auto">
          <a:xfrm>
            <a:off x="5183188" y="3200400"/>
            <a:ext cx="3222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</a:t>
            </a:r>
          </a:p>
        </p:txBody>
      </p:sp>
      <p:sp>
        <p:nvSpPr>
          <p:cNvPr id="19476" name="Text Box 20"/>
          <p:cNvSpPr txBox="1">
            <a:spLocks noChangeArrowheads="1"/>
          </p:cNvSpPr>
          <p:nvPr/>
        </p:nvSpPr>
        <p:spPr bwMode="auto">
          <a:xfrm>
            <a:off x="1754188" y="4191000"/>
            <a:ext cx="3222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</a:t>
            </a:r>
          </a:p>
        </p:txBody>
      </p:sp>
      <p:sp>
        <p:nvSpPr>
          <p:cNvPr id="19477" name="Text Box 21"/>
          <p:cNvSpPr txBox="1">
            <a:spLocks noChangeArrowheads="1"/>
          </p:cNvSpPr>
          <p:nvPr/>
        </p:nvSpPr>
        <p:spPr bwMode="auto">
          <a:xfrm>
            <a:off x="4192588" y="4038600"/>
            <a:ext cx="3222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Oval 1"/>
          <p:cNvSpPr>
            <a:spLocks noChangeArrowheads="1"/>
          </p:cNvSpPr>
          <p:nvPr/>
        </p:nvSpPr>
        <p:spPr bwMode="auto">
          <a:xfrm>
            <a:off x="3978275" y="1785938"/>
            <a:ext cx="788988" cy="742950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4249738" y="1571625"/>
            <a:ext cx="482600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j</a:t>
            </a:r>
          </a:p>
        </p:txBody>
      </p:sp>
      <p:sp>
        <p:nvSpPr>
          <p:cNvPr id="20483" name="Oval 3"/>
          <p:cNvSpPr>
            <a:spLocks noChangeArrowheads="1"/>
          </p:cNvSpPr>
          <p:nvPr/>
        </p:nvSpPr>
        <p:spPr bwMode="auto">
          <a:xfrm>
            <a:off x="2398713" y="3000375"/>
            <a:ext cx="790575" cy="742950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2525713" y="2900363"/>
            <a:ext cx="481012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k</a:t>
            </a:r>
          </a:p>
        </p:txBody>
      </p:sp>
      <p:cxnSp>
        <p:nvCxnSpPr>
          <p:cNvPr id="20485" name="AutoShape 5"/>
          <p:cNvCxnSpPr>
            <a:cxnSpLocks noChangeShapeType="1"/>
            <a:stCxn id="20481" idx="3"/>
            <a:endCxn id="20483" idx="7"/>
          </p:cNvCxnSpPr>
          <p:nvPr/>
        </p:nvCxnSpPr>
        <p:spPr bwMode="auto">
          <a:xfrm flipH="1">
            <a:off x="3073400" y="2419350"/>
            <a:ext cx="1019175" cy="688975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20486" name="AutoShape 6"/>
          <p:cNvSpPr>
            <a:spLocks noChangeArrowheads="1"/>
          </p:cNvSpPr>
          <p:nvPr/>
        </p:nvSpPr>
        <p:spPr bwMode="auto">
          <a:xfrm>
            <a:off x="820738" y="4214813"/>
            <a:ext cx="1506537" cy="1957387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0487" name="AutoShape 7"/>
          <p:cNvCxnSpPr>
            <a:cxnSpLocks noChangeShapeType="1"/>
            <a:stCxn id="20483" idx="3"/>
            <a:endCxn id="20486" idx="0"/>
          </p:cNvCxnSpPr>
          <p:nvPr/>
        </p:nvCxnSpPr>
        <p:spPr bwMode="auto">
          <a:xfrm flipH="1">
            <a:off x="1574800" y="3635375"/>
            <a:ext cx="939800" cy="581025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20488" name="Text Box 8"/>
          <p:cNvSpPr txBox="1">
            <a:spLocks noChangeArrowheads="1"/>
          </p:cNvSpPr>
          <p:nvPr/>
        </p:nvSpPr>
        <p:spPr bwMode="auto">
          <a:xfrm>
            <a:off x="1322388" y="5227638"/>
            <a:ext cx="482600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X</a:t>
            </a:r>
          </a:p>
        </p:txBody>
      </p:sp>
      <p:sp>
        <p:nvSpPr>
          <p:cNvPr id="20489" name="AutoShape 9"/>
          <p:cNvSpPr>
            <a:spLocks noChangeArrowheads="1"/>
          </p:cNvSpPr>
          <p:nvPr/>
        </p:nvSpPr>
        <p:spPr bwMode="auto">
          <a:xfrm>
            <a:off x="3332163" y="4283075"/>
            <a:ext cx="1435100" cy="10795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0" name="Text Box 10"/>
          <p:cNvSpPr txBox="1">
            <a:spLocks noChangeArrowheads="1"/>
          </p:cNvSpPr>
          <p:nvPr/>
        </p:nvSpPr>
        <p:spPr bwMode="auto">
          <a:xfrm>
            <a:off x="3740150" y="4540250"/>
            <a:ext cx="484188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Y</a:t>
            </a:r>
          </a:p>
        </p:txBody>
      </p:sp>
      <p:sp>
        <p:nvSpPr>
          <p:cNvPr id="20491" name="AutoShape 11"/>
          <p:cNvSpPr>
            <a:spLocks noChangeArrowheads="1"/>
          </p:cNvSpPr>
          <p:nvPr/>
        </p:nvSpPr>
        <p:spPr bwMode="auto">
          <a:xfrm>
            <a:off x="5197475" y="3405188"/>
            <a:ext cx="1508125" cy="1147762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2" name="Text Box 12"/>
          <p:cNvSpPr txBox="1">
            <a:spLocks noChangeArrowheads="1"/>
          </p:cNvSpPr>
          <p:nvPr/>
        </p:nvSpPr>
        <p:spPr bwMode="auto">
          <a:xfrm>
            <a:off x="5656263" y="3621088"/>
            <a:ext cx="482600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Z</a:t>
            </a:r>
          </a:p>
        </p:txBody>
      </p:sp>
      <p:cxnSp>
        <p:nvCxnSpPr>
          <p:cNvPr id="20493" name="AutoShape 13"/>
          <p:cNvCxnSpPr>
            <a:cxnSpLocks noChangeShapeType="1"/>
            <a:stCxn id="20483" idx="5"/>
            <a:endCxn id="20489" idx="0"/>
          </p:cNvCxnSpPr>
          <p:nvPr/>
        </p:nvCxnSpPr>
        <p:spPr bwMode="auto">
          <a:xfrm>
            <a:off x="3073400" y="3635375"/>
            <a:ext cx="976313" cy="649288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20494" name="AutoShape 14"/>
          <p:cNvCxnSpPr>
            <a:cxnSpLocks noChangeShapeType="1"/>
            <a:stCxn id="20481" idx="5"/>
            <a:endCxn id="20491" idx="0"/>
          </p:cNvCxnSpPr>
          <p:nvPr/>
        </p:nvCxnSpPr>
        <p:spPr bwMode="auto">
          <a:xfrm>
            <a:off x="4651375" y="2419350"/>
            <a:ext cx="1300163" cy="985838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20495" name="Line 15"/>
          <p:cNvSpPr>
            <a:spLocks noChangeShapeType="1"/>
          </p:cNvSpPr>
          <p:nvPr/>
        </p:nvSpPr>
        <p:spPr bwMode="auto">
          <a:xfrm>
            <a:off x="7064375" y="4552950"/>
            <a:ext cx="1506538" cy="1588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96" name="Line 16"/>
          <p:cNvSpPr>
            <a:spLocks noChangeShapeType="1"/>
          </p:cNvSpPr>
          <p:nvPr/>
        </p:nvSpPr>
        <p:spPr bwMode="auto">
          <a:xfrm>
            <a:off x="7064375" y="5362575"/>
            <a:ext cx="1506538" cy="1588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97" name="Line 17"/>
          <p:cNvSpPr>
            <a:spLocks noChangeShapeType="1"/>
          </p:cNvSpPr>
          <p:nvPr/>
        </p:nvSpPr>
        <p:spPr bwMode="auto">
          <a:xfrm>
            <a:off x="7064375" y="6103938"/>
            <a:ext cx="1506538" cy="1587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98" name="Text Box 18"/>
          <p:cNvSpPr txBox="1">
            <a:spLocks noChangeArrowheads="1"/>
          </p:cNvSpPr>
          <p:nvPr/>
        </p:nvSpPr>
        <p:spPr bwMode="auto">
          <a:xfrm>
            <a:off x="6097588" y="1944688"/>
            <a:ext cx="1977121" cy="92551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Inserting into X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destroys the AVL 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property at node j</a:t>
            </a:r>
          </a:p>
        </p:txBody>
      </p:sp>
      <p:sp>
        <p:nvSpPr>
          <p:cNvPr id="20499" name="Rectangle 19"/>
          <p:cNvSpPr>
            <a:spLocks noChangeArrowheads="1"/>
          </p:cNvSpPr>
          <p:nvPr/>
        </p:nvSpPr>
        <p:spPr bwMode="auto">
          <a:xfrm>
            <a:off x="665163" y="712788"/>
            <a:ext cx="7813675" cy="8016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dirty="0">
                <a:latin typeface="Arial" pitchFamily="34" charset="0"/>
                <a:ea typeface="Droid Sans" charset="0"/>
                <a:cs typeface="Droid Sans" charset="0"/>
              </a:rPr>
              <a:t>AVL Insertion: Outside Case </a:t>
            </a:r>
          </a:p>
        </p:txBody>
      </p:sp>
      <p:sp>
        <p:nvSpPr>
          <p:cNvPr id="20500" name="Text Box 20"/>
          <p:cNvSpPr txBox="1">
            <a:spLocks noChangeArrowheads="1"/>
          </p:cNvSpPr>
          <p:nvPr/>
        </p:nvSpPr>
        <p:spPr bwMode="auto">
          <a:xfrm>
            <a:off x="5183188" y="3267075"/>
            <a:ext cx="3222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</a:t>
            </a:r>
          </a:p>
        </p:txBody>
      </p:sp>
      <p:sp>
        <p:nvSpPr>
          <p:cNvPr id="20501" name="Text Box 21"/>
          <p:cNvSpPr txBox="1">
            <a:spLocks noChangeArrowheads="1"/>
          </p:cNvSpPr>
          <p:nvPr/>
        </p:nvSpPr>
        <p:spPr bwMode="auto">
          <a:xfrm>
            <a:off x="1828800" y="4105275"/>
            <a:ext cx="612775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h+1</a:t>
            </a:r>
          </a:p>
        </p:txBody>
      </p:sp>
      <p:sp>
        <p:nvSpPr>
          <p:cNvPr id="20502" name="Text Box 22"/>
          <p:cNvSpPr txBox="1">
            <a:spLocks noChangeArrowheads="1"/>
          </p:cNvSpPr>
          <p:nvPr/>
        </p:nvSpPr>
        <p:spPr bwMode="auto">
          <a:xfrm>
            <a:off x="4192588" y="4105275"/>
            <a:ext cx="3222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Oval 1"/>
          <p:cNvSpPr>
            <a:spLocks noChangeArrowheads="1"/>
          </p:cNvSpPr>
          <p:nvPr/>
        </p:nvSpPr>
        <p:spPr bwMode="auto">
          <a:xfrm>
            <a:off x="3978275" y="1719263"/>
            <a:ext cx="788988" cy="742950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4249738" y="1504950"/>
            <a:ext cx="482600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j</a:t>
            </a:r>
          </a:p>
        </p:txBody>
      </p:sp>
      <p:sp>
        <p:nvSpPr>
          <p:cNvPr id="21507" name="Oval 3"/>
          <p:cNvSpPr>
            <a:spLocks noChangeArrowheads="1"/>
          </p:cNvSpPr>
          <p:nvPr/>
        </p:nvSpPr>
        <p:spPr bwMode="auto">
          <a:xfrm>
            <a:off x="2398713" y="2933700"/>
            <a:ext cx="790575" cy="742950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2525713" y="2833688"/>
            <a:ext cx="481012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k</a:t>
            </a:r>
          </a:p>
        </p:txBody>
      </p:sp>
      <p:cxnSp>
        <p:nvCxnSpPr>
          <p:cNvPr id="21509" name="AutoShape 5"/>
          <p:cNvCxnSpPr>
            <a:cxnSpLocks noChangeShapeType="1"/>
            <a:stCxn id="21505" idx="3"/>
            <a:endCxn id="21507" idx="7"/>
          </p:cNvCxnSpPr>
          <p:nvPr/>
        </p:nvCxnSpPr>
        <p:spPr bwMode="auto">
          <a:xfrm flipH="1">
            <a:off x="3073400" y="2352675"/>
            <a:ext cx="1019175" cy="688975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21510" name="AutoShape 6"/>
          <p:cNvSpPr>
            <a:spLocks noChangeArrowheads="1"/>
          </p:cNvSpPr>
          <p:nvPr/>
        </p:nvSpPr>
        <p:spPr bwMode="auto">
          <a:xfrm>
            <a:off x="820738" y="4148138"/>
            <a:ext cx="1506537" cy="1957387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1511" name="AutoShape 7"/>
          <p:cNvCxnSpPr>
            <a:cxnSpLocks noChangeShapeType="1"/>
            <a:stCxn id="21507" idx="3"/>
            <a:endCxn id="21510" idx="0"/>
          </p:cNvCxnSpPr>
          <p:nvPr/>
        </p:nvCxnSpPr>
        <p:spPr bwMode="auto">
          <a:xfrm flipH="1">
            <a:off x="1574800" y="3568700"/>
            <a:ext cx="939800" cy="581025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1322388" y="5160963"/>
            <a:ext cx="482600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X</a:t>
            </a:r>
          </a:p>
        </p:txBody>
      </p:sp>
      <p:sp>
        <p:nvSpPr>
          <p:cNvPr id="21513" name="AutoShape 9"/>
          <p:cNvSpPr>
            <a:spLocks noChangeArrowheads="1"/>
          </p:cNvSpPr>
          <p:nvPr/>
        </p:nvSpPr>
        <p:spPr bwMode="auto">
          <a:xfrm>
            <a:off x="3332163" y="4216400"/>
            <a:ext cx="1435100" cy="10795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4" name="Text Box 10"/>
          <p:cNvSpPr txBox="1">
            <a:spLocks noChangeArrowheads="1"/>
          </p:cNvSpPr>
          <p:nvPr/>
        </p:nvSpPr>
        <p:spPr bwMode="auto">
          <a:xfrm>
            <a:off x="3740150" y="4473575"/>
            <a:ext cx="484188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Y</a:t>
            </a:r>
          </a:p>
        </p:txBody>
      </p:sp>
      <p:sp>
        <p:nvSpPr>
          <p:cNvPr id="21515" name="AutoShape 11"/>
          <p:cNvSpPr>
            <a:spLocks noChangeArrowheads="1"/>
          </p:cNvSpPr>
          <p:nvPr/>
        </p:nvSpPr>
        <p:spPr bwMode="auto">
          <a:xfrm>
            <a:off x="5197475" y="3338513"/>
            <a:ext cx="1508125" cy="1147762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6" name="Text Box 12"/>
          <p:cNvSpPr txBox="1">
            <a:spLocks noChangeArrowheads="1"/>
          </p:cNvSpPr>
          <p:nvPr/>
        </p:nvSpPr>
        <p:spPr bwMode="auto">
          <a:xfrm>
            <a:off x="5656263" y="3554413"/>
            <a:ext cx="482600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Z</a:t>
            </a:r>
          </a:p>
        </p:txBody>
      </p:sp>
      <p:cxnSp>
        <p:nvCxnSpPr>
          <p:cNvPr id="21517" name="AutoShape 13"/>
          <p:cNvCxnSpPr>
            <a:cxnSpLocks noChangeShapeType="1"/>
            <a:stCxn id="21507" idx="5"/>
            <a:endCxn id="21513" idx="0"/>
          </p:cNvCxnSpPr>
          <p:nvPr/>
        </p:nvCxnSpPr>
        <p:spPr bwMode="auto">
          <a:xfrm>
            <a:off x="3073400" y="3568700"/>
            <a:ext cx="976313" cy="649288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21518" name="AutoShape 14"/>
          <p:cNvCxnSpPr>
            <a:cxnSpLocks noChangeShapeType="1"/>
            <a:stCxn id="21505" idx="5"/>
            <a:endCxn id="21515" idx="0"/>
          </p:cNvCxnSpPr>
          <p:nvPr/>
        </p:nvCxnSpPr>
        <p:spPr bwMode="auto">
          <a:xfrm>
            <a:off x="4651375" y="2352675"/>
            <a:ext cx="1300163" cy="985838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21519" name="Line 15"/>
          <p:cNvSpPr>
            <a:spLocks noChangeShapeType="1"/>
          </p:cNvSpPr>
          <p:nvPr/>
        </p:nvSpPr>
        <p:spPr bwMode="auto">
          <a:xfrm>
            <a:off x="7064375" y="4486275"/>
            <a:ext cx="1506538" cy="1588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20" name="Line 16"/>
          <p:cNvSpPr>
            <a:spLocks noChangeShapeType="1"/>
          </p:cNvSpPr>
          <p:nvPr/>
        </p:nvSpPr>
        <p:spPr bwMode="auto">
          <a:xfrm>
            <a:off x="7064375" y="5295900"/>
            <a:ext cx="1506538" cy="1588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21" name="Line 17"/>
          <p:cNvSpPr>
            <a:spLocks noChangeShapeType="1"/>
          </p:cNvSpPr>
          <p:nvPr/>
        </p:nvSpPr>
        <p:spPr bwMode="auto">
          <a:xfrm>
            <a:off x="7064375" y="6037263"/>
            <a:ext cx="1506538" cy="1587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22" name="Text Box 18"/>
          <p:cNvSpPr txBox="1">
            <a:spLocks noChangeArrowheads="1"/>
          </p:cNvSpPr>
          <p:nvPr/>
        </p:nvSpPr>
        <p:spPr bwMode="auto">
          <a:xfrm>
            <a:off x="5297488" y="1887538"/>
            <a:ext cx="2169481" cy="371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Do a “right rotation”</a:t>
            </a:r>
          </a:p>
        </p:txBody>
      </p:sp>
      <p:sp>
        <p:nvSpPr>
          <p:cNvPr id="21523" name="Rectangle 19"/>
          <p:cNvSpPr>
            <a:spLocks noChangeArrowheads="1"/>
          </p:cNvSpPr>
          <p:nvPr/>
        </p:nvSpPr>
        <p:spPr bwMode="auto">
          <a:xfrm>
            <a:off x="665163" y="646113"/>
            <a:ext cx="7813675" cy="8016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dirty="0">
                <a:latin typeface="Arial" pitchFamily="34" charset="0"/>
                <a:ea typeface="Droid Sans" charset="0"/>
                <a:cs typeface="Droid Sans" charset="0"/>
              </a:rPr>
              <a:t>AVL Insertion: Outside Case </a:t>
            </a:r>
          </a:p>
        </p:txBody>
      </p:sp>
      <p:sp>
        <p:nvSpPr>
          <p:cNvPr id="21524" name="Freeform 20"/>
          <p:cNvSpPr>
            <a:spLocks/>
          </p:cNvSpPr>
          <p:nvPr/>
        </p:nvSpPr>
        <p:spPr bwMode="auto">
          <a:xfrm>
            <a:off x="2590800" y="1828800"/>
            <a:ext cx="1200150" cy="1014413"/>
          </a:xfrm>
          <a:custGeom>
            <a:avLst/>
            <a:gdLst/>
            <a:ahLst/>
            <a:cxnLst>
              <a:cxn ang="0">
                <a:pos x="0" y="579"/>
              </a:cxn>
              <a:cxn ang="0">
                <a:pos x="169" y="88"/>
              </a:cxn>
              <a:cxn ang="0">
                <a:pos x="639" y="52"/>
              </a:cxn>
            </a:cxnLst>
            <a:rect l="0" t="0" r="r" b="b"/>
            <a:pathLst>
              <a:path w="639" h="579">
                <a:moveTo>
                  <a:pt x="0" y="579"/>
                </a:moveTo>
                <a:cubicBezTo>
                  <a:pt x="31" y="377"/>
                  <a:pt x="63" y="176"/>
                  <a:pt x="169" y="88"/>
                </a:cubicBezTo>
                <a:cubicBezTo>
                  <a:pt x="275" y="0"/>
                  <a:pt x="457" y="26"/>
                  <a:pt x="639" y="52"/>
                </a:cubicBezTo>
              </a:path>
            </a:pathLst>
          </a:custGeom>
          <a:noFill/>
          <a:ln w="1908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25" name="Oval 21"/>
          <p:cNvSpPr>
            <a:spLocks noChangeArrowheads="1"/>
          </p:cNvSpPr>
          <p:nvPr/>
        </p:nvSpPr>
        <p:spPr bwMode="auto">
          <a:xfrm rot="19500000">
            <a:off x="1828800" y="1981200"/>
            <a:ext cx="3429000" cy="1487488"/>
          </a:xfrm>
          <a:prstGeom prst="ellipse">
            <a:avLst/>
          </a:prstGeom>
          <a:noFill/>
          <a:ln w="2556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26" name="Text Box 22"/>
          <p:cNvSpPr txBox="1">
            <a:spLocks noChangeArrowheads="1"/>
          </p:cNvSpPr>
          <p:nvPr/>
        </p:nvSpPr>
        <p:spPr bwMode="auto">
          <a:xfrm>
            <a:off x="5183188" y="3200400"/>
            <a:ext cx="3222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</a:t>
            </a:r>
          </a:p>
        </p:txBody>
      </p:sp>
      <p:sp>
        <p:nvSpPr>
          <p:cNvPr id="21527" name="Text Box 23"/>
          <p:cNvSpPr txBox="1">
            <a:spLocks noChangeArrowheads="1"/>
          </p:cNvSpPr>
          <p:nvPr/>
        </p:nvSpPr>
        <p:spPr bwMode="auto">
          <a:xfrm>
            <a:off x="1828800" y="4038600"/>
            <a:ext cx="612775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h+1</a:t>
            </a:r>
          </a:p>
        </p:txBody>
      </p:sp>
      <p:sp>
        <p:nvSpPr>
          <p:cNvPr id="21528" name="Text Box 24"/>
          <p:cNvSpPr txBox="1">
            <a:spLocks noChangeArrowheads="1"/>
          </p:cNvSpPr>
          <p:nvPr/>
        </p:nvSpPr>
        <p:spPr bwMode="auto">
          <a:xfrm>
            <a:off x="4192588" y="4038600"/>
            <a:ext cx="3222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Oval 1"/>
          <p:cNvSpPr>
            <a:spLocks noChangeArrowheads="1"/>
          </p:cNvSpPr>
          <p:nvPr/>
        </p:nvSpPr>
        <p:spPr bwMode="auto">
          <a:xfrm>
            <a:off x="3978275" y="1719263"/>
            <a:ext cx="788988" cy="742950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4249738" y="1504950"/>
            <a:ext cx="482600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j</a:t>
            </a:r>
          </a:p>
        </p:txBody>
      </p:sp>
      <p:sp>
        <p:nvSpPr>
          <p:cNvPr id="22531" name="Oval 3"/>
          <p:cNvSpPr>
            <a:spLocks noChangeArrowheads="1"/>
          </p:cNvSpPr>
          <p:nvPr/>
        </p:nvSpPr>
        <p:spPr bwMode="auto">
          <a:xfrm>
            <a:off x="2398713" y="2933700"/>
            <a:ext cx="790575" cy="742950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2525713" y="2833688"/>
            <a:ext cx="481012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k</a:t>
            </a:r>
          </a:p>
        </p:txBody>
      </p:sp>
      <p:sp>
        <p:nvSpPr>
          <p:cNvPr id="22533" name="AutoShape 5"/>
          <p:cNvSpPr>
            <a:spLocks noChangeArrowheads="1"/>
          </p:cNvSpPr>
          <p:nvPr/>
        </p:nvSpPr>
        <p:spPr bwMode="auto">
          <a:xfrm>
            <a:off x="820738" y="4148138"/>
            <a:ext cx="1506537" cy="1957387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2534" name="AutoShape 6"/>
          <p:cNvCxnSpPr>
            <a:cxnSpLocks noChangeShapeType="1"/>
            <a:stCxn id="22531" idx="3"/>
            <a:endCxn id="22533" idx="0"/>
          </p:cNvCxnSpPr>
          <p:nvPr/>
        </p:nvCxnSpPr>
        <p:spPr bwMode="auto">
          <a:xfrm flipH="1">
            <a:off x="1574800" y="3568700"/>
            <a:ext cx="939800" cy="581025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1322388" y="5160963"/>
            <a:ext cx="482600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X</a:t>
            </a:r>
          </a:p>
        </p:txBody>
      </p:sp>
      <p:sp>
        <p:nvSpPr>
          <p:cNvPr id="22536" name="AutoShape 8"/>
          <p:cNvSpPr>
            <a:spLocks noChangeArrowheads="1"/>
          </p:cNvSpPr>
          <p:nvPr/>
        </p:nvSpPr>
        <p:spPr bwMode="auto">
          <a:xfrm>
            <a:off x="3332163" y="4216400"/>
            <a:ext cx="1435100" cy="10795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37" name="Text Box 9"/>
          <p:cNvSpPr txBox="1">
            <a:spLocks noChangeArrowheads="1"/>
          </p:cNvSpPr>
          <p:nvPr/>
        </p:nvSpPr>
        <p:spPr bwMode="auto">
          <a:xfrm>
            <a:off x="3740150" y="4473575"/>
            <a:ext cx="484188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Y</a:t>
            </a:r>
          </a:p>
        </p:txBody>
      </p:sp>
      <p:sp>
        <p:nvSpPr>
          <p:cNvPr id="22538" name="AutoShape 10"/>
          <p:cNvSpPr>
            <a:spLocks noChangeArrowheads="1"/>
          </p:cNvSpPr>
          <p:nvPr/>
        </p:nvSpPr>
        <p:spPr bwMode="auto">
          <a:xfrm>
            <a:off x="5197475" y="3338513"/>
            <a:ext cx="1508125" cy="1147762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39" name="Text Box 11"/>
          <p:cNvSpPr txBox="1">
            <a:spLocks noChangeArrowheads="1"/>
          </p:cNvSpPr>
          <p:nvPr/>
        </p:nvSpPr>
        <p:spPr bwMode="auto">
          <a:xfrm>
            <a:off x="5656263" y="3554413"/>
            <a:ext cx="482600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Z</a:t>
            </a:r>
          </a:p>
        </p:txBody>
      </p:sp>
      <p:cxnSp>
        <p:nvCxnSpPr>
          <p:cNvPr id="22540" name="AutoShape 12"/>
          <p:cNvCxnSpPr>
            <a:cxnSpLocks noChangeShapeType="1"/>
            <a:stCxn id="22529" idx="5"/>
            <a:endCxn id="22538" idx="0"/>
          </p:cNvCxnSpPr>
          <p:nvPr/>
        </p:nvCxnSpPr>
        <p:spPr bwMode="auto">
          <a:xfrm>
            <a:off x="4651375" y="2352675"/>
            <a:ext cx="1300163" cy="985838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22541" name="Line 13"/>
          <p:cNvSpPr>
            <a:spLocks noChangeShapeType="1"/>
          </p:cNvSpPr>
          <p:nvPr/>
        </p:nvSpPr>
        <p:spPr bwMode="auto">
          <a:xfrm>
            <a:off x="7064375" y="4486275"/>
            <a:ext cx="1506538" cy="1588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542" name="Line 14"/>
          <p:cNvSpPr>
            <a:spLocks noChangeShapeType="1"/>
          </p:cNvSpPr>
          <p:nvPr/>
        </p:nvSpPr>
        <p:spPr bwMode="auto">
          <a:xfrm>
            <a:off x="7064375" y="5295900"/>
            <a:ext cx="1506538" cy="1588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543" name="Line 15"/>
          <p:cNvSpPr>
            <a:spLocks noChangeShapeType="1"/>
          </p:cNvSpPr>
          <p:nvPr/>
        </p:nvSpPr>
        <p:spPr bwMode="auto">
          <a:xfrm>
            <a:off x="7064375" y="6037263"/>
            <a:ext cx="1506538" cy="1587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544" name="Text Box 16"/>
          <p:cNvSpPr txBox="1">
            <a:spLocks noChangeArrowheads="1"/>
          </p:cNvSpPr>
          <p:nvPr/>
        </p:nvSpPr>
        <p:spPr bwMode="auto">
          <a:xfrm>
            <a:off x="5297488" y="1887538"/>
            <a:ext cx="2169481" cy="371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Do a “right rotation”</a:t>
            </a:r>
          </a:p>
        </p:txBody>
      </p:sp>
      <p:sp>
        <p:nvSpPr>
          <p:cNvPr id="22545" name="Rectangle 17"/>
          <p:cNvSpPr>
            <a:spLocks noChangeArrowheads="1"/>
          </p:cNvSpPr>
          <p:nvPr/>
        </p:nvSpPr>
        <p:spPr bwMode="auto">
          <a:xfrm>
            <a:off x="665163" y="646113"/>
            <a:ext cx="7813675" cy="8016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dirty="0">
                <a:latin typeface="Arial" pitchFamily="34" charset="0"/>
                <a:ea typeface="Droid Sans" charset="0"/>
                <a:cs typeface="Droid Sans" charset="0"/>
              </a:rPr>
              <a:t>Single right rotation</a:t>
            </a:r>
          </a:p>
        </p:txBody>
      </p:sp>
      <p:cxnSp>
        <p:nvCxnSpPr>
          <p:cNvPr id="22546" name="AutoShape 18"/>
          <p:cNvCxnSpPr>
            <a:cxnSpLocks noChangeShapeType="1"/>
            <a:stCxn id="22529" idx="3"/>
          </p:cNvCxnSpPr>
          <p:nvPr/>
        </p:nvCxnSpPr>
        <p:spPr bwMode="auto">
          <a:xfrm flipH="1">
            <a:off x="4048125" y="2352675"/>
            <a:ext cx="46038" cy="1922463"/>
          </a:xfrm>
          <a:prstGeom prst="straightConnector1">
            <a:avLst/>
          </a:prstGeom>
          <a:noFill/>
          <a:ln w="25560">
            <a:solidFill>
              <a:srgbClr val="FF0000"/>
            </a:solidFill>
            <a:miter lim="800000"/>
            <a:headEnd/>
            <a:tailEnd/>
          </a:ln>
          <a:effectLst/>
        </p:spPr>
      </p:cxnSp>
      <p:cxnSp>
        <p:nvCxnSpPr>
          <p:cNvPr id="22547" name="AutoShape 19"/>
          <p:cNvCxnSpPr>
            <a:cxnSpLocks noChangeShapeType="1"/>
            <a:stCxn id="22531" idx="7"/>
            <a:endCxn id="22529" idx="3"/>
          </p:cNvCxnSpPr>
          <p:nvPr/>
        </p:nvCxnSpPr>
        <p:spPr bwMode="auto">
          <a:xfrm flipV="1">
            <a:off x="3073400" y="2352675"/>
            <a:ext cx="1020763" cy="688975"/>
          </a:xfrm>
          <a:prstGeom prst="straightConnector1">
            <a:avLst/>
          </a:prstGeom>
          <a:noFill/>
          <a:ln w="25560">
            <a:solidFill>
              <a:srgbClr val="000000"/>
            </a:solidFill>
            <a:prstDash val="dash"/>
            <a:miter lim="800000"/>
            <a:headEnd/>
            <a:tailEnd/>
          </a:ln>
          <a:effectLst/>
        </p:spPr>
      </p:cxnSp>
      <p:sp>
        <p:nvSpPr>
          <p:cNvPr id="22548" name="Line 20"/>
          <p:cNvSpPr>
            <a:spLocks noChangeShapeType="1"/>
          </p:cNvSpPr>
          <p:nvPr/>
        </p:nvSpPr>
        <p:spPr bwMode="auto">
          <a:xfrm>
            <a:off x="3429000" y="2590800"/>
            <a:ext cx="381000" cy="228600"/>
          </a:xfrm>
          <a:prstGeom prst="line">
            <a:avLst/>
          </a:prstGeom>
          <a:noFill/>
          <a:ln w="2556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549" name="Line 21"/>
          <p:cNvSpPr>
            <a:spLocks noChangeShapeType="1"/>
          </p:cNvSpPr>
          <p:nvPr/>
        </p:nvSpPr>
        <p:spPr bwMode="auto">
          <a:xfrm flipH="1">
            <a:off x="3427413" y="2514600"/>
            <a:ext cx="307975" cy="381000"/>
          </a:xfrm>
          <a:prstGeom prst="line">
            <a:avLst/>
          </a:prstGeom>
          <a:noFill/>
          <a:ln w="2556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cxnSp>
        <p:nvCxnSpPr>
          <p:cNvPr id="22550" name="AutoShape 22"/>
          <p:cNvCxnSpPr>
            <a:cxnSpLocks noChangeShapeType="1"/>
            <a:stCxn id="22531" idx="5"/>
            <a:endCxn id="22536" idx="0"/>
          </p:cNvCxnSpPr>
          <p:nvPr/>
        </p:nvCxnSpPr>
        <p:spPr bwMode="auto">
          <a:xfrm>
            <a:off x="3073400" y="3568700"/>
            <a:ext cx="976313" cy="649288"/>
          </a:xfrm>
          <a:prstGeom prst="straightConnector1">
            <a:avLst/>
          </a:prstGeom>
          <a:noFill/>
          <a:ln w="25560">
            <a:solidFill>
              <a:srgbClr val="000000"/>
            </a:solidFill>
            <a:prstDash val="dash"/>
            <a:miter lim="800000"/>
            <a:headEnd/>
            <a:tailEnd/>
          </a:ln>
          <a:effectLst/>
        </p:spPr>
      </p:cxnSp>
      <p:sp>
        <p:nvSpPr>
          <p:cNvPr id="22551" name="Line 23"/>
          <p:cNvSpPr>
            <a:spLocks noChangeShapeType="1"/>
          </p:cNvSpPr>
          <p:nvPr/>
        </p:nvSpPr>
        <p:spPr bwMode="auto">
          <a:xfrm>
            <a:off x="3352800" y="3810000"/>
            <a:ext cx="381000" cy="228600"/>
          </a:xfrm>
          <a:prstGeom prst="line">
            <a:avLst/>
          </a:prstGeom>
          <a:noFill/>
          <a:ln w="2556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552" name="Line 24"/>
          <p:cNvSpPr>
            <a:spLocks noChangeShapeType="1"/>
          </p:cNvSpPr>
          <p:nvPr/>
        </p:nvSpPr>
        <p:spPr bwMode="auto">
          <a:xfrm flipH="1">
            <a:off x="3351213" y="3733800"/>
            <a:ext cx="307975" cy="381000"/>
          </a:xfrm>
          <a:prstGeom prst="line">
            <a:avLst/>
          </a:prstGeom>
          <a:noFill/>
          <a:ln w="2556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553" name="Text Box 25"/>
          <p:cNvSpPr txBox="1">
            <a:spLocks noChangeArrowheads="1"/>
          </p:cNvSpPr>
          <p:nvPr/>
        </p:nvSpPr>
        <p:spPr bwMode="auto">
          <a:xfrm>
            <a:off x="5183188" y="3200400"/>
            <a:ext cx="3222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</a:t>
            </a:r>
          </a:p>
        </p:txBody>
      </p:sp>
      <p:sp>
        <p:nvSpPr>
          <p:cNvPr id="22554" name="Text Box 26"/>
          <p:cNvSpPr txBox="1">
            <a:spLocks noChangeArrowheads="1"/>
          </p:cNvSpPr>
          <p:nvPr/>
        </p:nvSpPr>
        <p:spPr bwMode="auto">
          <a:xfrm>
            <a:off x="1828800" y="4038600"/>
            <a:ext cx="612775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h+1</a:t>
            </a:r>
          </a:p>
        </p:txBody>
      </p:sp>
      <p:sp>
        <p:nvSpPr>
          <p:cNvPr id="22555" name="Text Box 27"/>
          <p:cNvSpPr txBox="1">
            <a:spLocks noChangeArrowheads="1"/>
          </p:cNvSpPr>
          <p:nvPr/>
        </p:nvSpPr>
        <p:spPr bwMode="auto">
          <a:xfrm>
            <a:off x="4192588" y="4038600"/>
            <a:ext cx="3222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Oval 1"/>
          <p:cNvSpPr>
            <a:spLocks noChangeArrowheads="1"/>
          </p:cNvSpPr>
          <p:nvPr/>
        </p:nvSpPr>
        <p:spPr bwMode="auto">
          <a:xfrm>
            <a:off x="4572000" y="2895600"/>
            <a:ext cx="788988" cy="742950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j</a:t>
            </a:r>
          </a:p>
        </p:txBody>
      </p:sp>
      <p:sp>
        <p:nvSpPr>
          <p:cNvPr id="23554" name="Oval 2"/>
          <p:cNvSpPr>
            <a:spLocks noChangeArrowheads="1"/>
          </p:cNvSpPr>
          <p:nvPr/>
        </p:nvSpPr>
        <p:spPr bwMode="auto">
          <a:xfrm>
            <a:off x="2755900" y="1874838"/>
            <a:ext cx="790575" cy="742950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2882900" y="1774825"/>
            <a:ext cx="481013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k</a:t>
            </a:r>
          </a:p>
        </p:txBody>
      </p:sp>
      <p:sp>
        <p:nvSpPr>
          <p:cNvPr id="23556" name="AutoShape 4"/>
          <p:cNvSpPr>
            <a:spLocks noChangeArrowheads="1"/>
          </p:cNvSpPr>
          <p:nvPr/>
        </p:nvSpPr>
        <p:spPr bwMode="auto">
          <a:xfrm>
            <a:off x="576263" y="3490913"/>
            <a:ext cx="1506537" cy="1957387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1077913" y="4503738"/>
            <a:ext cx="482600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X</a:t>
            </a:r>
          </a:p>
        </p:txBody>
      </p:sp>
      <p:sp>
        <p:nvSpPr>
          <p:cNvPr id="23558" name="AutoShape 6"/>
          <p:cNvSpPr>
            <a:spLocks noChangeArrowheads="1"/>
          </p:cNvSpPr>
          <p:nvPr/>
        </p:nvSpPr>
        <p:spPr bwMode="auto">
          <a:xfrm>
            <a:off x="3321050" y="4362450"/>
            <a:ext cx="1435100" cy="10795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3729038" y="4619625"/>
            <a:ext cx="484187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Y</a:t>
            </a:r>
          </a:p>
        </p:txBody>
      </p:sp>
      <p:sp>
        <p:nvSpPr>
          <p:cNvPr id="23560" name="AutoShape 8"/>
          <p:cNvSpPr>
            <a:spLocks noChangeArrowheads="1"/>
          </p:cNvSpPr>
          <p:nvPr/>
        </p:nvSpPr>
        <p:spPr bwMode="auto">
          <a:xfrm>
            <a:off x="5208588" y="4287838"/>
            <a:ext cx="1508125" cy="1147762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1" name="Text Box 9"/>
          <p:cNvSpPr txBox="1">
            <a:spLocks noChangeArrowheads="1"/>
          </p:cNvSpPr>
          <p:nvPr/>
        </p:nvSpPr>
        <p:spPr bwMode="auto">
          <a:xfrm>
            <a:off x="5667375" y="4503738"/>
            <a:ext cx="482600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Z</a:t>
            </a:r>
          </a:p>
        </p:txBody>
      </p:sp>
      <p:sp>
        <p:nvSpPr>
          <p:cNvPr id="23562" name="Line 10"/>
          <p:cNvSpPr>
            <a:spLocks noChangeShapeType="1"/>
          </p:cNvSpPr>
          <p:nvPr/>
        </p:nvSpPr>
        <p:spPr bwMode="auto">
          <a:xfrm>
            <a:off x="7064375" y="4360863"/>
            <a:ext cx="1506538" cy="1587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63" name="Line 11"/>
          <p:cNvSpPr>
            <a:spLocks noChangeShapeType="1"/>
          </p:cNvSpPr>
          <p:nvPr/>
        </p:nvSpPr>
        <p:spPr bwMode="auto">
          <a:xfrm>
            <a:off x="7086600" y="5437188"/>
            <a:ext cx="1506538" cy="1587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64" name="Text Box 12"/>
          <p:cNvSpPr txBox="1">
            <a:spLocks noChangeArrowheads="1"/>
          </p:cNvSpPr>
          <p:nvPr/>
        </p:nvSpPr>
        <p:spPr bwMode="auto">
          <a:xfrm>
            <a:off x="5295900" y="1743075"/>
            <a:ext cx="2528554" cy="92551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“Right rotation” done!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(“Left rotation” is mirror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   symmetric)</a:t>
            </a:r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665163" y="646113"/>
            <a:ext cx="7813675" cy="8016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dirty="0">
                <a:latin typeface="Arial" pitchFamily="34" charset="0"/>
                <a:ea typeface="Droid Sans" charset="0"/>
                <a:cs typeface="Droid Sans" charset="0"/>
              </a:rPr>
              <a:t>Outside Case Completed</a:t>
            </a:r>
          </a:p>
        </p:txBody>
      </p:sp>
      <p:sp>
        <p:nvSpPr>
          <p:cNvPr id="23566" name="Line 14"/>
          <p:cNvSpPr>
            <a:spLocks noChangeShapeType="1"/>
          </p:cNvSpPr>
          <p:nvPr/>
        </p:nvSpPr>
        <p:spPr bwMode="auto">
          <a:xfrm flipV="1">
            <a:off x="1327150" y="2486025"/>
            <a:ext cx="1527175" cy="1017588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67" name="Line 15"/>
          <p:cNvSpPr>
            <a:spLocks noChangeShapeType="1"/>
          </p:cNvSpPr>
          <p:nvPr/>
        </p:nvSpPr>
        <p:spPr bwMode="auto">
          <a:xfrm flipH="1">
            <a:off x="4035425" y="3546475"/>
            <a:ext cx="660400" cy="825500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68" name="Line 16"/>
          <p:cNvSpPr>
            <a:spLocks noChangeShapeType="1"/>
          </p:cNvSpPr>
          <p:nvPr/>
        </p:nvSpPr>
        <p:spPr bwMode="auto">
          <a:xfrm>
            <a:off x="5264150" y="3524250"/>
            <a:ext cx="701675" cy="769938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69" name="Text Box 17"/>
          <p:cNvSpPr txBox="1">
            <a:spLocks noChangeArrowheads="1"/>
          </p:cNvSpPr>
          <p:nvPr/>
        </p:nvSpPr>
        <p:spPr bwMode="auto">
          <a:xfrm>
            <a:off x="3008313" y="5684838"/>
            <a:ext cx="5329237" cy="5207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>
                <a:latin typeface="Arial" pitchFamily="34" charset="0"/>
                <a:ea typeface="Droid Sans" charset="0"/>
                <a:cs typeface="Droid Sans" charset="0"/>
              </a:rPr>
              <a:t>AVL property has been restored!</a:t>
            </a:r>
          </a:p>
        </p:txBody>
      </p:sp>
      <p:cxnSp>
        <p:nvCxnSpPr>
          <p:cNvPr id="23570" name="AutoShape 18"/>
          <p:cNvCxnSpPr>
            <a:cxnSpLocks noChangeShapeType="1"/>
            <a:stCxn id="23554" idx="5"/>
            <a:endCxn id="23553" idx="0"/>
          </p:cNvCxnSpPr>
          <p:nvPr/>
        </p:nvCxnSpPr>
        <p:spPr bwMode="auto">
          <a:xfrm>
            <a:off x="3430588" y="2509838"/>
            <a:ext cx="1536700" cy="387350"/>
          </a:xfrm>
          <a:prstGeom prst="straightConnector1">
            <a:avLst/>
          </a:prstGeom>
          <a:noFill/>
          <a:ln w="25560">
            <a:solidFill>
              <a:srgbClr val="FF0000"/>
            </a:solidFill>
            <a:miter lim="800000"/>
            <a:headEnd/>
            <a:tailEnd/>
          </a:ln>
          <a:effectLst/>
        </p:spPr>
      </p:cxnSp>
      <p:sp>
        <p:nvSpPr>
          <p:cNvPr id="23571" name="Oval 19"/>
          <p:cNvSpPr>
            <a:spLocks noChangeArrowheads="1"/>
          </p:cNvSpPr>
          <p:nvPr/>
        </p:nvSpPr>
        <p:spPr bwMode="auto">
          <a:xfrm rot="1680000">
            <a:off x="2362200" y="1981200"/>
            <a:ext cx="3429000" cy="1487488"/>
          </a:xfrm>
          <a:prstGeom prst="ellipse">
            <a:avLst/>
          </a:prstGeom>
          <a:noFill/>
          <a:ln w="2556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2" name="Text Box 20"/>
          <p:cNvSpPr txBox="1">
            <a:spLocks noChangeArrowheads="1"/>
          </p:cNvSpPr>
          <p:nvPr/>
        </p:nvSpPr>
        <p:spPr bwMode="auto">
          <a:xfrm>
            <a:off x="6173788" y="3962400"/>
            <a:ext cx="3222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</a:t>
            </a:r>
          </a:p>
        </p:txBody>
      </p:sp>
      <p:sp>
        <p:nvSpPr>
          <p:cNvPr id="23573" name="Text Box 21"/>
          <p:cNvSpPr txBox="1">
            <a:spLocks noChangeArrowheads="1"/>
          </p:cNvSpPr>
          <p:nvPr/>
        </p:nvSpPr>
        <p:spPr bwMode="auto">
          <a:xfrm>
            <a:off x="1600200" y="3429000"/>
            <a:ext cx="612775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h+1</a:t>
            </a:r>
          </a:p>
        </p:txBody>
      </p:sp>
      <p:sp>
        <p:nvSpPr>
          <p:cNvPr id="23574" name="Text Box 22"/>
          <p:cNvSpPr txBox="1">
            <a:spLocks noChangeArrowheads="1"/>
          </p:cNvSpPr>
          <p:nvPr/>
        </p:nvSpPr>
        <p:spPr bwMode="auto">
          <a:xfrm>
            <a:off x="4192588" y="4038600"/>
            <a:ext cx="3222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Oval 1"/>
          <p:cNvSpPr>
            <a:spLocks noChangeArrowheads="1"/>
          </p:cNvSpPr>
          <p:nvPr/>
        </p:nvSpPr>
        <p:spPr bwMode="auto">
          <a:xfrm>
            <a:off x="3962400" y="1692275"/>
            <a:ext cx="838200" cy="838200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4191000" y="1539875"/>
            <a:ext cx="511175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j</a:t>
            </a:r>
          </a:p>
        </p:txBody>
      </p:sp>
      <p:sp>
        <p:nvSpPr>
          <p:cNvPr id="24579" name="Oval 3"/>
          <p:cNvSpPr>
            <a:spLocks noChangeArrowheads="1"/>
          </p:cNvSpPr>
          <p:nvPr/>
        </p:nvSpPr>
        <p:spPr bwMode="auto">
          <a:xfrm>
            <a:off x="2286000" y="3063875"/>
            <a:ext cx="838200" cy="838200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2514600" y="2987675"/>
            <a:ext cx="511175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k</a:t>
            </a:r>
          </a:p>
        </p:txBody>
      </p:sp>
      <p:cxnSp>
        <p:nvCxnSpPr>
          <p:cNvPr id="24581" name="AutoShape 5"/>
          <p:cNvCxnSpPr>
            <a:cxnSpLocks noChangeShapeType="1"/>
            <a:stCxn id="24577" idx="3"/>
            <a:endCxn id="24579" idx="7"/>
          </p:cNvCxnSpPr>
          <p:nvPr/>
        </p:nvCxnSpPr>
        <p:spPr bwMode="auto">
          <a:xfrm flipH="1">
            <a:off x="3001963" y="2408238"/>
            <a:ext cx="1084262" cy="779462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24582" name="AutoShape 6"/>
          <p:cNvSpPr>
            <a:spLocks noChangeArrowheads="1"/>
          </p:cNvSpPr>
          <p:nvPr/>
        </p:nvSpPr>
        <p:spPr bwMode="auto">
          <a:xfrm>
            <a:off x="609600" y="4435475"/>
            <a:ext cx="1600200" cy="12954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4583" name="AutoShape 7"/>
          <p:cNvCxnSpPr>
            <a:cxnSpLocks noChangeShapeType="1"/>
            <a:stCxn id="24579" idx="3"/>
            <a:endCxn id="24582" idx="0"/>
          </p:cNvCxnSpPr>
          <p:nvPr/>
        </p:nvCxnSpPr>
        <p:spPr bwMode="auto">
          <a:xfrm flipH="1">
            <a:off x="1409700" y="3779838"/>
            <a:ext cx="998538" cy="657225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24584" name="Text Box 8"/>
          <p:cNvSpPr txBox="1">
            <a:spLocks noChangeArrowheads="1"/>
          </p:cNvSpPr>
          <p:nvPr/>
        </p:nvSpPr>
        <p:spPr bwMode="auto">
          <a:xfrm>
            <a:off x="1143000" y="4892675"/>
            <a:ext cx="511175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X</a:t>
            </a:r>
          </a:p>
        </p:txBody>
      </p:sp>
      <p:sp>
        <p:nvSpPr>
          <p:cNvPr id="24585" name="AutoShape 9"/>
          <p:cNvSpPr>
            <a:spLocks noChangeArrowheads="1"/>
          </p:cNvSpPr>
          <p:nvPr/>
        </p:nvSpPr>
        <p:spPr bwMode="auto">
          <a:xfrm>
            <a:off x="3276600" y="4511675"/>
            <a:ext cx="1524000" cy="12192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586" name="Text Box 10"/>
          <p:cNvSpPr txBox="1">
            <a:spLocks noChangeArrowheads="1"/>
          </p:cNvSpPr>
          <p:nvPr/>
        </p:nvSpPr>
        <p:spPr bwMode="auto">
          <a:xfrm>
            <a:off x="3733800" y="4892675"/>
            <a:ext cx="511175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Y</a:t>
            </a:r>
          </a:p>
        </p:txBody>
      </p:sp>
      <p:sp>
        <p:nvSpPr>
          <p:cNvPr id="24587" name="AutoShape 11"/>
          <p:cNvSpPr>
            <a:spLocks noChangeArrowheads="1"/>
          </p:cNvSpPr>
          <p:nvPr/>
        </p:nvSpPr>
        <p:spPr bwMode="auto">
          <a:xfrm>
            <a:off x="5257800" y="3521075"/>
            <a:ext cx="1600200" cy="12954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588" name="Text Box 12"/>
          <p:cNvSpPr txBox="1">
            <a:spLocks noChangeArrowheads="1"/>
          </p:cNvSpPr>
          <p:nvPr/>
        </p:nvSpPr>
        <p:spPr bwMode="auto">
          <a:xfrm>
            <a:off x="5791200" y="3825875"/>
            <a:ext cx="511175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Z</a:t>
            </a:r>
          </a:p>
        </p:txBody>
      </p:sp>
      <p:cxnSp>
        <p:nvCxnSpPr>
          <p:cNvPr id="24589" name="AutoShape 13"/>
          <p:cNvCxnSpPr>
            <a:cxnSpLocks noChangeShapeType="1"/>
            <a:stCxn id="24579" idx="5"/>
            <a:endCxn id="24585" idx="0"/>
          </p:cNvCxnSpPr>
          <p:nvPr/>
        </p:nvCxnSpPr>
        <p:spPr bwMode="auto">
          <a:xfrm>
            <a:off x="3001963" y="3779838"/>
            <a:ext cx="1038225" cy="731837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24590" name="AutoShape 14"/>
          <p:cNvCxnSpPr>
            <a:cxnSpLocks noChangeShapeType="1"/>
            <a:stCxn id="24577" idx="5"/>
            <a:endCxn id="24587" idx="0"/>
          </p:cNvCxnSpPr>
          <p:nvPr/>
        </p:nvCxnSpPr>
        <p:spPr bwMode="auto">
          <a:xfrm>
            <a:off x="4678363" y="2408238"/>
            <a:ext cx="1381125" cy="1114425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24591" name="Line 15"/>
          <p:cNvSpPr>
            <a:spLocks noChangeShapeType="1"/>
          </p:cNvSpPr>
          <p:nvPr/>
        </p:nvSpPr>
        <p:spPr bwMode="auto">
          <a:xfrm>
            <a:off x="7239000" y="4816475"/>
            <a:ext cx="1600200" cy="1588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592" name="Line 16"/>
          <p:cNvSpPr>
            <a:spLocks noChangeShapeType="1"/>
          </p:cNvSpPr>
          <p:nvPr/>
        </p:nvSpPr>
        <p:spPr bwMode="auto">
          <a:xfrm>
            <a:off x="7239000" y="5730875"/>
            <a:ext cx="1600200" cy="1588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593" name="Rectangle 17"/>
          <p:cNvSpPr>
            <a:spLocks noChangeArrowheads="1"/>
          </p:cNvSpPr>
          <p:nvPr/>
        </p:nvSpPr>
        <p:spPr bwMode="auto">
          <a:xfrm>
            <a:off x="665163" y="646113"/>
            <a:ext cx="7813675" cy="8016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dirty="0">
                <a:latin typeface="Arial" pitchFamily="34" charset="0"/>
                <a:ea typeface="Droid Sans" charset="0"/>
                <a:cs typeface="Droid Sans" charset="0"/>
              </a:rPr>
              <a:t>AVL Insertion: Inside Case </a:t>
            </a:r>
          </a:p>
        </p:txBody>
      </p:sp>
      <p:sp>
        <p:nvSpPr>
          <p:cNvPr id="24594" name="Text Box 18"/>
          <p:cNvSpPr txBox="1">
            <a:spLocks noChangeArrowheads="1"/>
          </p:cNvSpPr>
          <p:nvPr/>
        </p:nvSpPr>
        <p:spPr bwMode="auto">
          <a:xfrm>
            <a:off x="646113" y="1754188"/>
            <a:ext cx="1836057" cy="6485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Consider a valid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AVL subtree</a:t>
            </a:r>
          </a:p>
        </p:txBody>
      </p:sp>
      <p:sp>
        <p:nvSpPr>
          <p:cNvPr id="24595" name="Text Box 19"/>
          <p:cNvSpPr txBox="1">
            <a:spLocks noChangeArrowheads="1"/>
          </p:cNvSpPr>
          <p:nvPr/>
        </p:nvSpPr>
        <p:spPr bwMode="auto">
          <a:xfrm>
            <a:off x="6249988" y="3352800"/>
            <a:ext cx="3222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</a:t>
            </a:r>
          </a:p>
        </p:txBody>
      </p:sp>
      <p:sp>
        <p:nvSpPr>
          <p:cNvPr id="24596" name="Text Box 20"/>
          <p:cNvSpPr txBox="1">
            <a:spLocks noChangeArrowheads="1"/>
          </p:cNvSpPr>
          <p:nvPr/>
        </p:nvSpPr>
        <p:spPr bwMode="auto">
          <a:xfrm>
            <a:off x="4192588" y="4191000"/>
            <a:ext cx="3222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</a:t>
            </a:r>
          </a:p>
        </p:txBody>
      </p:sp>
      <p:sp>
        <p:nvSpPr>
          <p:cNvPr id="24597" name="Text Box 21"/>
          <p:cNvSpPr txBox="1">
            <a:spLocks noChangeArrowheads="1"/>
          </p:cNvSpPr>
          <p:nvPr/>
        </p:nvSpPr>
        <p:spPr bwMode="auto">
          <a:xfrm>
            <a:off x="1677988" y="4267200"/>
            <a:ext cx="3222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</a:t>
            </a:r>
          </a:p>
        </p:txBody>
      </p:sp>
      <p:sp>
        <p:nvSpPr>
          <p:cNvPr id="24598" name="Text Box 22"/>
          <p:cNvSpPr txBox="1"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>
                <a:latin typeface="Arial" pitchFamily="34" charset="0"/>
                <a:ea typeface="Droid Sans" charset="0"/>
                <a:cs typeface="Droid Sans" charset="0"/>
              </a:rPr>
              <a:t>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ext Box 1"/>
          <p:cNvSpPr txBox="1">
            <a:spLocks noChangeArrowheads="1"/>
          </p:cNvSpPr>
          <p:nvPr/>
        </p:nvSpPr>
        <p:spPr bwMode="auto">
          <a:xfrm>
            <a:off x="649288" y="1744663"/>
            <a:ext cx="1776425" cy="120251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Inserting into Y 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destroys the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AVL property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at node j </a:t>
            </a:r>
          </a:p>
        </p:txBody>
      </p:sp>
      <p:sp>
        <p:nvSpPr>
          <p:cNvPr id="25602" name="Oval 2"/>
          <p:cNvSpPr>
            <a:spLocks noChangeArrowheads="1"/>
          </p:cNvSpPr>
          <p:nvPr/>
        </p:nvSpPr>
        <p:spPr bwMode="auto">
          <a:xfrm>
            <a:off x="4478338" y="1830388"/>
            <a:ext cx="693737" cy="669925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4678363" y="1608138"/>
            <a:ext cx="425450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j</a:t>
            </a:r>
          </a:p>
        </p:txBody>
      </p:sp>
      <p:sp>
        <p:nvSpPr>
          <p:cNvPr id="25604" name="Oval 4"/>
          <p:cNvSpPr>
            <a:spLocks noChangeArrowheads="1"/>
          </p:cNvSpPr>
          <p:nvPr/>
        </p:nvSpPr>
        <p:spPr bwMode="auto">
          <a:xfrm>
            <a:off x="3090863" y="2927350"/>
            <a:ext cx="693737" cy="669925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Text Box 5"/>
          <p:cNvSpPr txBox="1">
            <a:spLocks noChangeArrowheads="1"/>
          </p:cNvSpPr>
          <p:nvPr/>
        </p:nvSpPr>
        <p:spPr bwMode="auto">
          <a:xfrm>
            <a:off x="3213100" y="2811463"/>
            <a:ext cx="422275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k</a:t>
            </a:r>
          </a:p>
        </p:txBody>
      </p:sp>
      <p:cxnSp>
        <p:nvCxnSpPr>
          <p:cNvPr id="25606" name="AutoShape 6"/>
          <p:cNvCxnSpPr>
            <a:cxnSpLocks noChangeShapeType="1"/>
            <a:stCxn id="25602" idx="3"/>
            <a:endCxn id="25604" idx="7"/>
          </p:cNvCxnSpPr>
          <p:nvPr/>
        </p:nvCxnSpPr>
        <p:spPr bwMode="auto">
          <a:xfrm flipH="1">
            <a:off x="3683000" y="2401888"/>
            <a:ext cx="896938" cy="623887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25607" name="AutoShape 7"/>
          <p:cNvSpPr>
            <a:spLocks noChangeArrowheads="1"/>
          </p:cNvSpPr>
          <p:nvPr/>
        </p:nvSpPr>
        <p:spPr bwMode="auto">
          <a:xfrm>
            <a:off x="1701800" y="4024313"/>
            <a:ext cx="1325563" cy="1036637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5608" name="AutoShape 8"/>
          <p:cNvCxnSpPr>
            <a:cxnSpLocks noChangeShapeType="1"/>
            <a:stCxn id="25604" idx="3"/>
            <a:endCxn id="25607" idx="0"/>
          </p:cNvCxnSpPr>
          <p:nvPr/>
        </p:nvCxnSpPr>
        <p:spPr bwMode="auto">
          <a:xfrm flipH="1">
            <a:off x="2363788" y="3498850"/>
            <a:ext cx="827087" cy="525463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25609" name="Text Box 9"/>
          <p:cNvSpPr txBox="1">
            <a:spLocks noChangeArrowheads="1"/>
          </p:cNvSpPr>
          <p:nvPr/>
        </p:nvSpPr>
        <p:spPr bwMode="auto">
          <a:xfrm>
            <a:off x="2054225" y="4244975"/>
            <a:ext cx="423863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X</a:t>
            </a:r>
          </a:p>
        </p:txBody>
      </p:sp>
      <p:sp>
        <p:nvSpPr>
          <p:cNvPr id="25610" name="AutoShape 10"/>
          <p:cNvSpPr>
            <a:spLocks noChangeArrowheads="1"/>
          </p:cNvSpPr>
          <p:nvPr/>
        </p:nvSpPr>
        <p:spPr bwMode="auto">
          <a:xfrm>
            <a:off x="3910013" y="4084638"/>
            <a:ext cx="1262062" cy="1768475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611" name="Text Box 11"/>
          <p:cNvSpPr txBox="1">
            <a:spLocks noChangeArrowheads="1"/>
          </p:cNvSpPr>
          <p:nvPr/>
        </p:nvSpPr>
        <p:spPr bwMode="auto">
          <a:xfrm>
            <a:off x="4256088" y="4800600"/>
            <a:ext cx="423862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Y</a:t>
            </a:r>
          </a:p>
        </p:txBody>
      </p:sp>
      <p:sp>
        <p:nvSpPr>
          <p:cNvPr id="25612" name="AutoShape 12"/>
          <p:cNvSpPr>
            <a:spLocks noChangeArrowheads="1"/>
          </p:cNvSpPr>
          <p:nvPr/>
        </p:nvSpPr>
        <p:spPr bwMode="auto">
          <a:xfrm>
            <a:off x="5551488" y="3292475"/>
            <a:ext cx="1325562" cy="1036638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613" name="Text Box 13"/>
          <p:cNvSpPr txBox="1">
            <a:spLocks noChangeArrowheads="1"/>
          </p:cNvSpPr>
          <p:nvPr/>
        </p:nvSpPr>
        <p:spPr bwMode="auto">
          <a:xfrm>
            <a:off x="5903913" y="3471863"/>
            <a:ext cx="423862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Z</a:t>
            </a:r>
          </a:p>
        </p:txBody>
      </p:sp>
      <p:cxnSp>
        <p:nvCxnSpPr>
          <p:cNvPr id="25614" name="AutoShape 14"/>
          <p:cNvCxnSpPr>
            <a:cxnSpLocks noChangeShapeType="1"/>
            <a:stCxn id="25604" idx="5"/>
            <a:endCxn id="25610" idx="0"/>
          </p:cNvCxnSpPr>
          <p:nvPr/>
        </p:nvCxnSpPr>
        <p:spPr bwMode="auto">
          <a:xfrm>
            <a:off x="3683000" y="3498850"/>
            <a:ext cx="858838" cy="585788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25615" name="AutoShape 15"/>
          <p:cNvCxnSpPr>
            <a:cxnSpLocks noChangeShapeType="1"/>
            <a:stCxn id="25602" idx="5"/>
            <a:endCxn id="25612" idx="0"/>
          </p:cNvCxnSpPr>
          <p:nvPr/>
        </p:nvCxnSpPr>
        <p:spPr bwMode="auto">
          <a:xfrm>
            <a:off x="5070475" y="2401888"/>
            <a:ext cx="1144588" cy="890587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25616" name="Line 16"/>
          <p:cNvSpPr>
            <a:spLocks noChangeShapeType="1"/>
          </p:cNvSpPr>
          <p:nvPr/>
        </p:nvSpPr>
        <p:spPr bwMode="auto">
          <a:xfrm>
            <a:off x="7191375" y="4329113"/>
            <a:ext cx="1325563" cy="1587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617" name="Line 17"/>
          <p:cNvSpPr>
            <a:spLocks noChangeShapeType="1"/>
          </p:cNvSpPr>
          <p:nvPr/>
        </p:nvSpPr>
        <p:spPr bwMode="auto">
          <a:xfrm>
            <a:off x="7213600" y="5094288"/>
            <a:ext cx="1325563" cy="1587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618" name="Line 18"/>
          <p:cNvSpPr>
            <a:spLocks noChangeShapeType="1"/>
          </p:cNvSpPr>
          <p:nvPr/>
        </p:nvSpPr>
        <p:spPr bwMode="auto">
          <a:xfrm>
            <a:off x="7221538" y="5853113"/>
            <a:ext cx="1325562" cy="1587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619" name="Rectangle 19"/>
          <p:cNvSpPr>
            <a:spLocks noChangeArrowheads="1"/>
          </p:cNvSpPr>
          <p:nvPr/>
        </p:nvSpPr>
        <p:spPr bwMode="auto">
          <a:xfrm>
            <a:off x="665163" y="646113"/>
            <a:ext cx="7813675" cy="8016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dirty="0">
                <a:latin typeface="Arial" pitchFamily="34" charset="0"/>
                <a:ea typeface="Droid Sans" charset="0"/>
                <a:cs typeface="Droid Sans" charset="0"/>
              </a:rPr>
              <a:t>AVL Insertion: Inside Case</a:t>
            </a:r>
          </a:p>
        </p:txBody>
      </p:sp>
      <p:sp>
        <p:nvSpPr>
          <p:cNvPr id="25620" name="Text Box 20"/>
          <p:cNvSpPr txBox="1">
            <a:spLocks noChangeArrowheads="1"/>
          </p:cNvSpPr>
          <p:nvPr/>
        </p:nvSpPr>
        <p:spPr bwMode="auto">
          <a:xfrm>
            <a:off x="5719763" y="1819275"/>
            <a:ext cx="2220778" cy="6485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Does “right rotation”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restore balance?</a:t>
            </a:r>
          </a:p>
        </p:txBody>
      </p:sp>
      <p:sp>
        <p:nvSpPr>
          <p:cNvPr id="25621" name="Oval 21"/>
          <p:cNvSpPr>
            <a:spLocks noChangeArrowheads="1"/>
          </p:cNvSpPr>
          <p:nvPr/>
        </p:nvSpPr>
        <p:spPr bwMode="auto">
          <a:xfrm rot="19500000">
            <a:off x="2362200" y="1981200"/>
            <a:ext cx="3429000" cy="1487488"/>
          </a:xfrm>
          <a:prstGeom prst="ellipse">
            <a:avLst/>
          </a:prstGeom>
          <a:noFill/>
          <a:ln w="2556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622" name="Text Box 22"/>
          <p:cNvSpPr txBox="1">
            <a:spLocks noChangeArrowheads="1"/>
          </p:cNvSpPr>
          <p:nvPr/>
        </p:nvSpPr>
        <p:spPr bwMode="auto">
          <a:xfrm>
            <a:off x="6324600" y="3048000"/>
            <a:ext cx="325438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</a:t>
            </a:r>
          </a:p>
        </p:txBody>
      </p:sp>
      <p:sp>
        <p:nvSpPr>
          <p:cNvPr id="25623" name="Text Box 23"/>
          <p:cNvSpPr txBox="1">
            <a:spLocks noChangeArrowheads="1"/>
          </p:cNvSpPr>
          <p:nvPr/>
        </p:nvSpPr>
        <p:spPr bwMode="auto">
          <a:xfrm>
            <a:off x="4800600" y="3962400"/>
            <a:ext cx="612775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h+1</a:t>
            </a:r>
          </a:p>
        </p:txBody>
      </p:sp>
      <p:sp>
        <p:nvSpPr>
          <p:cNvPr id="25624" name="Text Box 24"/>
          <p:cNvSpPr txBox="1">
            <a:spLocks noChangeArrowheads="1"/>
          </p:cNvSpPr>
          <p:nvPr/>
        </p:nvSpPr>
        <p:spPr bwMode="auto">
          <a:xfrm>
            <a:off x="2516188" y="3962400"/>
            <a:ext cx="3222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Oval 1"/>
          <p:cNvSpPr>
            <a:spLocks noChangeArrowheads="1"/>
          </p:cNvSpPr>
          <p:nvPr/>
        </p:nvSpPr>
        <p:spPr bwMode="auto">
          <a:xfrm>
            <a:off x="4643438" y="2676525"/>
            <a:ext cx="777875" cy="755650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4856163" y="2482850"/>
            <a:ext cx="473075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j</a:t>
            </a:r>
          </a:p>
        </p:txBody>
      </p:sp>
      <p:sp>
        <p:nvSpPr>
          <p:cNvPr id="26627" name="Oval 3"/>
          <p:cNvSpPr>
            <a:spLocks noChangeArrowheads="1"/>
          </p:cNvSpPr>
          <p:nvPr/>
        </p:nvSpPr>
        <p:spPr bwMode="auto">
          <a:xfrm>
            <a:off x="2979738" y="1755775"/>
            <a:ext cx="779462" cy="755650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3114675" y="1665288"/>
            <a:ext cx="474663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k</a:t>
            </a:r>
          </a:p>
        </p:txBody>
      </p:sp>
      <p:cxnSp>
        <p:nvCxnSpPr>
          <p:cNvPr id="26629" name="AutoShape 5"/>
          <p:cNvCxnSpPr>
            <a:cxnSpLocks noChangeShapeType="1"/>
            <a:stCxn id="26625" idx="3"/>
            <a:endCxn id="26633" idx="0"/>
          </p:cNvCxnSpPr>
          <p:nvPr/>
        </p:nvCxnSpPr>
        <p:spPr bwMode="auto">
          <a:xfrm flipH="1">
            <a:off x="4006850" y="3321050"/>
            <a:ext cx="750888" cy="523875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26630" name="AutoShape 6"/>
          <p:cNvSpPr>
            <a:spLocks noChangeArrowheads="1"/>
          </p:cNvSpPr>
          <p:nvPr/>
        </p:nvSpPr>
        <p:spPr bwMode="auto">
          <a:xfrm>
            <a:off x="1423988" y="2992438"/>
            <a:ext cx="1450975" cy="1127125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6631" name="AutoShape 7"/>
          <p:cNvCxnSpPr>
            <a:cxnSpLocks noChangeShapeType="1"/>
            <a:stCxn id="26627" idx="3"/>
            <a:endCxn id="26630" idx="0"/>
          </p:cNvCxnSpPr>
          <p:nvPr/>
        </p:nvCxnSpPr>
        <p:spPr bwMode="auto">
          <a:xfrm flipH="1">
            <a:off x="2149475" y="2400300"/>
            <a:ext cx="944563" cy="592138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26632" name="Text Box 8"/>
          <p:cNvSpPr txBox="1">
            <a:spLocks noChangeArrowheads="1"/>
          </p:cNvSpPr>
          <p:nvPr/>
        </p:nvSpPr>
        <p:spPr bwMode="auto">
          <a:xfrm>
            <a:off x="1851025" y="3214688"/>
            <a:ext cx="474663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X</a:t>
            </a:r>
          </a:p>
        </p:txBody>
      </p:sp>
      <p:sp>
        <p:nvSpPr>
          <p:cNvPr id="26633" name="AutoShape 9"/>
          <p:cNvSpPr>
            <a:spLocks noChangeArrowheads="1"/>
          </p:cNvSpPr>
          <p:nvPr/>
        </p:nvSpPr>
        <p:spPr bwMode="auto">
          <a:xfrm>
            <a:off x="3298825" y="3844925"/>
            <a:ext cx="1414463" cy="2128838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34" name="Text Box 10"/>
          <p:cNvSpPr txBox="1">
            <a:spLocks noChangeArrowheads="1"/>
          </p:cNvSpPr>
          <p:nvPr/>
        </p:nvSpPr>
        <p:spPr bwMode="auto">
          <a:xfrm>
            <a:off x="3722688" y="4875213"/>
            <a:ext cx="474662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Y</a:t>
            </a:r>
          </a:p>
        </p:txBody>
      </p:sp>
      <p:sp>
        <p:nvSpPr>
          <p:cNvPr id="26635" name="AutoShape 11"/>
          <p:cNvSpPr>
            <a:spLocks noChangeArrowheads="1"/>
          </p:cNvSpPr>
          <p:nvPr/>
        </p:nvSpPr>
        <p:spPr bwMode="auto">
          <a:xfrm>
            <a:off x="5280025" y="3844925"/>
            <a:ext cx="1485900" cy="1166813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36" name="Text Box 12"/>
          <p:cNvSpPr txBox="1">
            <a:spLocks noChangeArrowheads="1"/>
          </p:cNvSpPr>
          <p:nvPr/>
        </p:nvSpPr>
        <p:spPr bwMode="auto">
          <a:xfrm>
            <a:off x="5730875" y="4119563"/>
            <a:ext cx="474663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Z</a:t>
            </a:r>
          </a:p>
        </p:txBody>
      </p:sp>
      <p:cxnSp>
        <p:nvCxnSpPr>
          <p:cNvPr id="26637" name="AutoShape 13"/>
          <p:cNvCxnSpPr>
            <a:cxnSpLocks noChangeShapeType="1"/>
            <a:stCxn id="26625" idx="5"/>
            <a:endCxn id="26635" idx="0"/>
          </p:cNvCxnSpPr>
          <p:nvPr/>
        </p:nvCxnSpPr>
        <p:spPr bwMode="auto">
          <a:xfrm>
            <a:off x="5307013" y="3321050"/>
            <a:ext cx="715962" cy="523875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26638" name="AutoShape 14"/>
          <p:cNvCxnSpPr>
            <a:cxnSpLocks noChangeShapeType="1"/>
            <a:stCxn id="26627" idx="5"/>
            <a:endCxn id="26625" idx="1"/>
          </p:cNvCxnSpPr>
          <p:nvPr/>
        </p:nvCxnSpPr>
        <p:spPr bwMode="auto">
          <a:xfrm>
            <a:off x="3644900" y="2400300"/>
            <a:ext cx="1112838" cy="387350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26639" name="Line 15"/>
          <p:cNvSpPr>
            <a:spLocks noChangeShapeType="1"/>
          </p:cNvSpPr>
          <p:nvPr/>
        </p:nvSpPr>
        <p:spPr bwMode="auto">
          <a:xfrm>
            <a:off x="6978650" y="5011738"/>
            <a:ext cx="1484313" cy="1587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40" name="Line 16"/>
          <p:cNvSpPr>
            <a:spLocks noChangeShapeType="1"/>
          </p:cNvSpPr>
          <p:nvPr/>
        </p:nvSpPr>
        <p:spPr bwMode="auto">
          <a:xfrm>
            <a:off x="6978650" y="4187825"/>
            <a:ext cx="1484313" cy="1588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41" name="Line 17"/>
          <p:cNvSpPr>
            <a:spLocks noChangeShapeType="1"/>
          </p:cNvSpPr>
          <p:nvPr/>
        </p:nvSpPr>
        <p:spPr bwMode="auto">
          <a:xfrm flipV="1">
            <a:off x="7048500" y="5892800"/>
            <a:ext cx="1485900" cy="14288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42" name="Text Box 18"/>
          <p:cNvSpPr txBox="1">
            <a:spLocks noChangeArrowheads="1"/>
          </p:cNvSpPr>
          <p:nvPr/>
        </p:nvSpPr>
        <p:spPr bwMode="auto">
          <a:xfrm>
            <a:off x="6024563" y="1768475"/>
            <a:ext cx="2118185" cy="120251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“Right rotation”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does not restore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balance… now k is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out of balance</a:t>
            </a:r>
          </a:p>
        </p:txBody>
      </p:sp>
      <p:sp>
        <p:nvSpPr>
          <p:cNvPr id="26643" name="Rectangle 19"/>
          <p:cNvSpPr>
            <a:spLocks noChangeArrowheads="1"/>
          </p:cNvSpPr>
          <p:nvPr/>
        </p:nvSpPr>
        <p:spPr bwMode="auto">
          <a:xfrm>
            <a:off x="665163" y="646113"/>
            <a:ext cx="7813675" cy="8016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dirty="0">
                <a:latin typeface="Arial" pitchFamily="34" charset="0"/>
                <a:ea typeface="Droid Sans" charset="0"/>
                <a:cs typeface="Droid Sans" charset="0"/>
              </a:rPr>
              <a:t>AVL Insertion: Inside Case</a:t>
            </a:r>
          </a:p>
        </p:txBody>
      </p:sp>
      <p:sp>
        <p:nvSpPr>
          <p:cNvPr id="26644" name="Oval 20"/>
          <p:cNvSpPr>
            <a:spLocks noChangeArrowheads="1"/>
          </p:cNvSpPr>
          <p:nvPr/>
        </p:nvSpPr>
        <p:spPr bwMode="auto">
          <a:xfrm rot="1680000">
            <a:off x="2590800" y="1981200"/>
            <a:ext cx="3429000" cy="1487488"/>
          </a:xfrm>
          <a:prstGeom prst="ellipse">
            <a:avLst/>
          </a:prstGeom>
          <a:noFill/>
          <a:ln w="2556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45" name="Text Box 21"/>
          <p:cNvSpPr txBox="1">
            <a:spLocks noChangeArrowheads="1"/>
          </p:cNvSpPr>
          <p:nvPr/>
        </p:nvSpPr>
        <p:spPr bwMode="auto">
          <a:xfrm>
            <a:off x="6248400" y="3581400"/>
            <a:ext cx="325438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</a:t>
            </a:r>
          </a:p>
        </p:txBody>
      </p:sp>
      <p:sp>
        <p:nvSpPr>
          <p:cNvPr id="26646" name="Text Box 22"/>
          <p:cNvSpPr txBox="1">
            <a:spLocks noChangeArrowheads="1"/>
          </p:cNvSpPr>
          <p:nvPr/>
        </p:nvSpPr>
        <p:spPr bwMode="auto">
          <a:xfrm>
            <a:off x="4191000" y="3733800"/>
            <a:ext cx="612775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h+1</a:t>
            </a:r>
          </a:p>
        </p:txBody>
      </p:sp>
      <p:sp>
        <p:nvSpPr>
          <p:cNvPr id="26647" name="Text Box 23"/>
          <p:cNvSpPr txBox="1">
            <a:spLocks noChangeArrowheads="1"/>
          </p:cNvSpPr>
          <p:nvPr/>
        </p:nvSpPr>
        <p:spPr bwMode="auto">
          <a:xfrm>
            <a:off x="2439988" y="2819400"/>
            <a:ext cx="3222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ext Box 1"/>
          <p:cNvSpPr txBox="1">
            <a:spLocks noChangeArrowheads="1"/>
          </p:cNvSpPr>
          <p:nvPr/>
        </p:nvSpPr>
        <p:spPr bwMode="auto">
          <a:xfrm>
            <a:off x="649288" y="1744663"/>
            <a:ext cx="2451610" cy="6485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Consider the structure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of subtree Y…</a:t>
            </a:r>
          </a:p>
        </p:txBody>
      </p:sp>
      <p:sp>
        <p:nvSpPr>
          <p:cNvPr id="27650" name="Oval 2"/>
          <p:cNvSpPr>
            <a:spLocks noChangeArrowheads="1"/>
          </p:cNvSpPr>
          <p:nvPr/>
        </p:nvSpPr>
        <p:spPr bwMode="auto">
          <a:xfrm>
            <a:off x="4478338" y="1830388"/>
            <a:ext cx="693737" cy="669925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4678363" y="1608138"/>
            <a:ext cx="425450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j</a:t>
            </a:r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3090863" y="2927350"/>
            <a:ext cx="693737" cy="669925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3213100" y="2811463"/>
            <a:ext cx="422275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k</a:t>
            </a:r>
          </a:p>
        </p:txBody>
      </p:sp>
      <p:cxnSp>
        <p:nvCxnSpPr>
          <p:cNvPr id="27654" name="AutoShape 6"/>
          <p:cNvCxnSpPr>
            <a:cxnSpLocks noChangeShapeType="1"/>
            <a:stCxn id="27650" idx="3"/>
            <a:endCxn id="27652" idx="7"/>
          </p:cNvCxnSpPr>
          <p:nvPr/>
        </p:nvCxnSpPr>
        <p:spPr bwMode="auto">
          <a:xfrm flipH="1">
            <a:off x="3683000" y="2401888"/>
            <a:ext cx="896938" cy="623887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27655" name="AutoShape 7"/>
          <p:cNvSpPr>
            <a:spLocks noChangeArrowheads="1"/>
          </p:cNvSpPr>
          <p:nvPr/>
        </p:nvSpPr>
        <p:spPr bwMode="auto">
          <a:xfrm>
            <a:off x="1701800" y="4024313"/>
            <a:ext cx="1325563" cy="1036637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7656" name="AutoShape 8"/>
          <p:cNvCxnSpPr>
            <a:cxnSpLocks noChangeShapeType="1"/>
            <a:stCxn id="27652" idx="3"/>
            <a:endCxn id="27655" idx="0"/>
          </p:cNvCxnSpPr>
          <p:nvPr/>
        </p:nvCxnSpPr>
        <p:spPr bwMode="auto">
          <a:xfrm flipH="1">
            <a:off x="2363788" y="3498850"/>
            <a:ext cx="827087" cy="525463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27657" name="Text Box 9"/>
          <p:cNvSpPr txBox="1">
            <a:spLocks noChangeArrowheads="1"/>
          </p:cNvSpPr>
          <p:nvPr/>
        </p:nvSpPr>
        <p:spPr bwMode="auto">
          <a:xfrm>
            <a:off x="2054225" y="4244975"/>
            <a:ext cx="423863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X</a:t>
            </a:r>
          </a:p>
        </p:txBody>
      </p:sp>
      <p:sp>
        <p:nvSpPr>
          <p:cNvPr id="27658" name="AutoShape 10"/>
          <p:cNvSpPr>
            <a:spLocks noChangeArrowheads="1"/>
          </p:cNvSpPr>
          <p:nvPr/>
        </p:nvSpPr>
        <p:spPr bwMode="auto">
          <a:xfrm>
            <a:off x="3910013" y="4084638"/>
            <a:ext cx="1262062" cy="1768475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659" name="Text Box 11"/>
          <p:cNvSpPr txBox="1">
            <a:spLocks noChangeArrowheads="1"/>
          </p:cNvSpPr>
          <p:nvPr/>
        </p:nvSpPr>
        <p:spPr bwMode="auto">
          <a:xfrm>
            <a:off x="4256088" y="4800600"/>
            <a:ext cx="423862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Y</a:t>
            </a:r>
          </a:p>
        </p:txBody>
      </p:sp>
      <p:sp>
        <p:nvSpPr>
          <p:cNvPr id="27660" name="AutoShape 12"/>
          <p:cNvSpPr>
            <a:spLocks noChangeArrowheads="1"/>
          </p:cNvSpPr>
          <p:nvPr/>
        </p:nvSpPr>
        <p:spPr bwMode="auto">
          <a:xfrm>
            <a:off x="5551488" y="3292475"/>
            <a:ext cx="1325562" cy="1036638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661" name="Text Box 13"/>
          <p:cNvSpPr txBox="1">
            <a:spLocks noChangeArrowheads="1"/>
          </p:cNvSpPr>
          <p:nvPr/>
        </p:nvSpPr>
        <p:spPr bwMode="auto">
          <a:xfrm>
            <a:off x="5903913" y="3471863"/>
            <a:ext cx="423862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Z</a:t>
            </a:r>
          </a:p>
        </p:txBody>
      </p:sp>
      <p:cxnSp>
        <p:nvCxnSpPr>
          <p:cNvPr id="27662" name="AutoShape 14"/>
          <p:cNvCxnSpPr>
            <a:cxnSpLocks noChangeShapeType="1"/>
            <a:stCxn id="27652" idx="5"/>
            <a:endCxn id="27658" idx="0"/>
          </p:cNvCxnSpPr>
          <p:nvPr/>
        </p:nvCxnSpPr>
        <p:spPr bwMode="auto">
          <a:xfrm>
            <a:off x="3683000" y="3498850"/>
            <a:ext cx="858838" cy="585788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27663" name="AutoShape 15"/>
          <p:cNvCxnSpPr>
            <a:cxnSpLocks noChangeShapeType="1"/>
            <a:stCxn id="27650" idx="5"/>
            <a:endCxn id="27660" idx="0"/>
          </p:cNvCxnSpPr>
          <p:nvPr/>
        </p:nvCxnSpPr>
        <p:spPr bwMode="auto">
          <a:xfrm>
            <a:off x="5070475" y="2401888"/>
            <a:ext cx="1144588" cy="890587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27664" name="Line 16"/>
          <p:cNvSpPr>
            <a:spLocks noChangeShapeType="1"/>
          </p:cNvSpPr>
          <p:nvPr/>
        </p:nvSpPr>
        <p:spPr bwMode="auto">
          <a:xfrm>
            <a:off x="7191375" y="4329113"/>
            <a:ext cx="1325563" cy="1587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665" name="Line 17"/>
          <p:cNvSpPr>
            <a:spLocks noChangeShapeType="1"/>
          </p:cNvSpPr>
          <p:nvPr/>
        </p:nvSpPr>
        <p:spPr bwMode="auto">
          <a:xfrm>
            <a:off x="7213600" y="5094288"/>
            <a:ext cx="1325563" cy="1587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666" name="Line 18"/>
          <p:cNvSpPr>
            <a:spLocks noChangeShapeType="1"/>
          </p:cNvSpPr>
          <p:nvPr/>
        </p:nvSpPr>
        <p:spPr bwMode="auto">
          <a:xfrm>
            <a:off x="7221538" y="5853113"/>
            <a:ext cx="1325562" cy="1587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667" name="Rectangle 19"/>
          <p:cNvSpPr>
            <a:spLocks noChangeArrowheads="1"/>
          </p:cNvSpPr>
          <p:nvPr/>
        </p:nvSpPr>
        <p:spPr bwMode="auto">
          <a:xfrm>
            <a:off x="665163" y="646113"/>
            <a:ext cx="7813675" cy="8016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dirty="0">
                <a:latin typeface="Arial" pitchFamily="34" charset="0"/>
                <a:ea typeface="Droid Sans" charset="0"/>
                <a:cs typeface="Droid Sans" charset="0"/>
              </a:rPr>
              <a:t>AVL Insertion: Inside Case</a:t>
            </a:r>
          </a:p>
        </p:txBody>
      </p:sp>
      <p:sp>
        <p:nvSpPr>
          <p:cNvPr id="27668" name="Text Box 20"/>
          <p:cNvSpPr txBox="1">
            <a:spLocks noChangeArrowheads="1"/>
          </p:cNvSpPr>
          <p:nvPr/>
        </p:nvSpPr>
        <p:spPr bwMode="auto">
          <a:xfrm>
            <a:off x="6324600" y="3048000"/>
            <a:ext cx="325438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</a:t>
            </a:r>
          </a:p>
        </p:txBody>
      </p:sp>
      <p:sp>
        <p:nvSpPr>
          <p:cNvPr id="27669" name="Text Box 21"/>
          <p:cNvSpPr txBox="1">
            <a:spLocks noChangeArrowheads="1"/>
          </p:cNvSpPr>
          <p:nvPr/>
        </p:nvSpPr>
        <p:spPr bwMode="auto">
          <a:xfrm>
            <a:off x="4800600" y="3962400"/>
            <a:ext cx="612775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h+1</a:t>
            </a:r>
          </a:p>
        </p:txBody>
      </p:sp>
      <p:sp>
        <p:nvSpPr>
          <p:cNvPr id="27670" name="Text Box 22"/>
          <p:cNvSpPr txBox="1">
            <a:spLocks noChangeArrowheads="1"/>
          </p:cNvSpPr>
          <p:nvPr/>
        </p:nvSpPr>
        <p:spPr bwMode="auto">
          <a:xfrm>
            <a:off x="2516188" y="3962400"/>
            <a:ext cx="3222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Oval 1"/>
          <p:cNvSpPr>
            <a:spLocks noChangeArrowheads="1"/>
          </p:cNvSpPr>
          <p:nvPr/>
        </p:nvSpPr>
        <p:spPr bwMode="auto">
          <a:xfrm>
            <a:off x="4051300" y="1695450"/>
            <a:ext cx="762000" cy="722313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4259263" y="1497013"/>
            <a:ext cx="466725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j</a:t>
            </a:r>
          </a:p>
        </p:txBody>
      </p:sp>
      <p:sp>
        <p:nvSpPr>
          <p:cNvPr id="28675" name="Oval 3"/>
          <p:cNvSpPr>
            <a:spLocks noChangeArrowheads="1"/>
          </p:cNvSpPr>
          <p:nvPr/>
        </p:nvSpPr>
        <p:spPr bwMode="auto">
          <a:xfrm>
            <a:off x="2525713" y="2878138"/>
            <a:ext cx="762000" cy="722312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2678113" y="2755900"/>
            <a:ext cx="465137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k</a:t>
            </a:r>
          </a:p>
        </p:txBody>
      </p:sp>
      <p:cxnSp>
        <p:nvCxnSpPr>
          <p:cNvPr id="28677" name="AutoShape 5"/>
          <p:cNvCxnSpPr>
            <a:cxnSpLocks noChangeShapeType="1"/>
            <a:stCxn id="28673" idx="3"/>
            <a:endCxn id="28675" idx="7"/>
          </p:cNvCxnSpPr>
          <p:nvPr/>
        </p:nvCxnSpPr>
        <p:spPr bwMode="auto">
          <a:xfrm flipH="1">
            <a:off x="3176588" y="2312988"/>
            <a:ext cx="985837" cy="671512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28678" name="AutoShape 6"/>
          <p:cNvSpPr>
            <a:spLocks noChangeArrowheads="1"/>
          </p:cNvSpPr>
          <p:nvPr/>
        </p:nvSpPr>
        <p:spPr bwMode="auto">
          <a:xfrm>
            <a:off x="1000125" y="4060825"/>
            <a:ext cx="1455738" cy="1116013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8679" name="AutoShape 7"/>
          <p:cNvCxnSpPr>
            <a:cxnSpLocks noChangeShapeType="1"/>
            <a:stCxn id="28675" idx="3"/>
            <a:endCxn id="28678" idx="0"/>
          </p:cNvCxnSpPr>
          <p:nvPr/>
        </p:nvCxnSpPr>
        <p:spPr bwMode="auto">
          <a:xfrm flipH="1">
            <a:off x="1728788" y="3494088"/>
            <a:ext cx="909637" cy="566737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28680" name="Text Box 8"/>
          <p:cNvSpPr txBox="1">
            <a:spLocks noChangeArrowheads="1"/>
          </p:cNvSpPr>
          <p:nvPr/>
        </p:nvSpPr>
        <p:spPr bwMode="auto">
          <a:xfrm>
            <a:off x="1462088" y="4298950"/>
            <a:ext cx="465137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X</a:t>
            </a:r>
          </a:p>
        </p:txBody>
      </p:sp>
      <p:sp>
        <p:nvSpPr>
          <p:cNvPr id="28681" name="AutoShape 9"/>
          <p:cNvSpPr>
            <a:spLocks noChangeArrowheads="1"/>
          </p:cNvSpPr>
          <p:nvPr/>
        </p:nvSpPr>
        <p:spPr bwMode="auto">
          <a:xfrm>
            <a:off x="2595563" y="4914900"/>
            <a:ext cx="1317625" cy="1182688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82" name="Text Box 10"/>
          <p:cNvSpPr txBox="1">
            <a:spLocks noChangeArrowheads="1"/>
          </p:cNvSpPr>
          <p:nvPr/>
        </p:nvSpPr>
        <p:spPr bwMode="auto">
          <a:xfrm>
            <a:off x="2978150" y="5275263"/>
            <a:ext cx="465138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V</a:t>
            </a:r>
          </a:p>
        </p:txBody>
      </p:sp>
      <p:sp>
        <p:nvSpPr>
          <p:cNvPr id="28683" name="AutoShape 11"/>
          <p:cNvSpPr>
            <a:spLocks noChangeArrowheads="1"/>
          </p:cNvSpPr>
          <p:nvPr/>
        </p:nvSpPr>
        <p:spPr bwMode="auto">
          <a:xfrm>
            <a:off x="5229225" y="3271838"/>
            <a:ext cx="1457325" cy="11176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84" name="Text Box 12"/>
          <p:cNvSpPr txBox="1">
            <a:spLocks noChangeArrowheads="1"/>
          </p:cNvSpPr>
          <p:nvPr/>
        </p:nvSpPr>
        <p:spPr bwMode="auto">
          <a:xfrm>
            <a:off x="5646738" y="3546475"/>
            <a:ext cx="465137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Z</a:t>
            </a:r>
          </a:p>
        </p:txBody>
      </p:sp>
      <p:cxnSp>
        <p:nvCxnSpPr>
          <p:cNvPr id="28685" name="AutoShape 13"/>
          <p:cNvCxnSpPr>
            <a:cxnSpLocks noChangeShapeType="1"/>
            <a:stCxn id="28675" idx="5"/>
            <a:endCxn id="28692" idx="1"/>
          </p:cNvCxnSpPr>
          <p:nvPr/>
        </p:nvCxnSpPr>
        <p:spPr bwMode="auto">
          <a:xfrm>
            <a:off x="3176588" y="3494088"/>
            <a:ext cx="639762" cy="474662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28686" name="AutoShape 14"/>
          <p:cNvCxnSpPr>
            <a:cxnSpLocks noChangeShapeType="1"/>
            <a:stCxn id="28673" idx="5"/>
            <a:endCxn id="28683" idx="0"/>
          </p:cNvCxnSpPr>
          <p:nvPr/>
        </p:nvCxnSpPr>
        <p:spPr bwMode="auto">
          <a:xfrm>
            <a:off x="4702175" y="2312988"/>
            <a:ext cx="1257300" cy="960437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28687" name="Line 15"/>
          <p:cNvSpPr>
            <a:spLocks noChangeShapeType="1"/>
          </p:cNvSpPr>
          <p:nvPr/>
        </p:nvSpPr>
        <p:spPr bwMode="auto">
          <a:xfrm>
            <a:off x="7032625" y="4389438"/>
            <a:ext cx="1455738" cy="1587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88" name="Line 16"/>
          <p:cNvSpPr>
            <a:spLocks noChangeShapeType="1"/>
          </p:cNvSpPr>
          <p:nvPr/>
        </p:nvSpPr>
        <p:spPr bwMode="auto">
          <a:xfrm>
            <a:off x="7032625" y="5176838"/>
            <a:ext cx="1455738" cy="1587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89" name="Line 17"/>
          <p:cNvSpPr>
            <a:spLocks noChangeShapeType="1"/>
          </p:cNvSpPr>
          <p:nvPr/>
        </p:nvSpPr>
        <p:spPr bwMode="auto">
          <a:xfrm>
            <a:off x="7102475" y="6030913"/>
            <a:ext cx="1455738" cy="1587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90" name="AutoShape 18"/>
          <p:cNvSpPr>
            <a:spLocks noChangeArrowheads="1"/>
          </p:cNvSpPr>
          <p:nvPr/>
        </p:nvSpPr>
        <p:spPr bwMode="auto">
          <a:xfrm>
            <a:off x="4329113" y="4914900"/>
            <a:ext cx="1316037" cy="1182688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91" name="Text Box 19"/>
          <p:cNvSpPr txBox="1">
            <a:spLocks noChangeArrowheads="1"/>
          </p:cNvSpPr>
          <p:nvPr/>
        </p:nvSpPr>
        <p:spPr bwMode="auto">
          <a:xfrm>
            <a:off x="4572000" y="5262563"/>
            <a:ext cx="463550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W</a:t>
            </a:r>
          </a:p>
        </p:txBody>
      </p:sp>
      <p:sp>
        <p:nvSpPr>
          <p:cNvPr id="28692" name="Oval 20"/>
          <p:cNvSpPr>
            <a:spLocks noChangeArrowheads="1"/>
          </p:cNvSpPr>
          <p:nvPr/>
        </p:nvSpPr>
        <p:spPr bwMode="auto">
          <a:xfrm>
            <a:off x="3703638" y="3863975"/>
            <a:ext cx="763587" cy="722313"/>
          </a:xfrm>
          <a:prstGeom prst="ellipse">
            <a:avLst/>
          </a:prstGeom>
          <a:solidFill>
            <a:srgbClr val="00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93" name="Text Box 21"/>
          <p:cNvSpPr txBox="1">
            <a:spLocks noChangeArrowheads="1"/>
          </p:cNvSpPr>
          <p:nvPr/>
        </p:nvSpPr>
        <p:spPr bwMode="auto">
          <a:xfrm>
            <a:off x="3890963" y="3763963"/>
            <a:ext cx="465137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i</a:t>
            </a:r>
          </a:p>
        </p:txBody>
      </p:sp>
      <p:cxnSp>
        <p:nvCxnSpPr>
          <p:cNvPr id="28694" name="AutoShape 22"/>
          <p:cNvCxnSpPr>
            <a:cxnSpLocks noChangeShapeType="1"/>
            <a:stCxn id="28692" idx="3"/>
            <a:endCxn id="28681" idx="0"/>
          </p:cNvCxnSpPr>
          <p:nvPr/>
        </p:nvCxnSpPr>
        <p:spPr bwMode="auto">
          <a:xfrm flipH="1">
            <a:off x="3254375" y="4479925"/>
            <a:ext cx="560388" cy="434975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28695" name="AutoShape 23"/>
          <p:cNvCxnSpPr>
            <a:cxnSpLocks noChangeShapeType="1"/>
            <a:stCxn id="28692" idx="5"/>
            <a:endCxn id="28690" idx="0"/>
          </p:cNvCxnSpPr>
          <p:nvPr/>
        </p:nvCxnSpPr>
        <p:spPr bwMode="auto">
          <a:xfrm>
            <a:off x="4356100" y="4479925"/>
            <a:ext cx="631825" cy="434975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28696" name="Text Box 24"/>
          <p:cNvSpPr txBox="1">
            <a:spLocks noChangeArrowheads="1"/>
          </p:cNvSpPr>
          <p:nvPr/>
        </p:nvSpPr>
        <p:spPr bwMode="auto">
          <a:xfrm>
            <a:off x="649288" y="1744663"/>
            <a:ext cx="2015593" cy="6485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Y = node i and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subtrees V and W</a:t>
            </a:r>
          </a:p>
        </p:txBody>
      </p:sp>
      <p:sp>
        <p:nvSpPr>
          <p:cNvPr id="28697" name="Rectangle 25"/>
          <p:cNvSpPr>
            <a:spLocks noChangeArrowheads="1"/>
          </p:cNvSpPr>
          <p:nvPr/>
        </p:nvSpPr>
        <p:spPr bwMode="auto">
          <a:xfrm>
            <a:off x="665163" y="646113"/>
            <a:ext cx="7813675" cy="8016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dirty="0">
                <a:latin typeface="Arial" pitchFamily="34" charset="0"/>
                <a:ea typeface="Droid Sans" charset="0"/>
                <a:cs typeface="Droid Sans" charset="0"/>
              </a:rPr>
              <a:t>AVL Insertion: Inside Case</a:t>
            </a:r>
          </a:p>
        </p:txBody>
      </p:sp>
      <p:sp>
        <p:nvSpPr>
          <p:cNvPr id="28698" name="Text Box 26"/>
          <p:cNvSpPr txBox="1">
            <a:spLocks noChangeArrowheads="1"/>
          </p:cNvSpPr>
          <p:nvPr/>
        </p:nvSpPr>
        <p:spPr bwMode="auto">
          <a:xfrm>
            <a:off x="6019800" y="3048000"/>
            <a:ext cx="325438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</a:t>
            </a:r>
          </a:p>
        </p:txBody>
      </p:sp>
      <p:sp>
        <p:nvSpPr>
          <p:cNvPr id="28699" name="Text Box 27"/>
          <p:cNvSpPr txBox="1">
            <a:spLocks noChangeArrowheads="1"/>
          </p:cNvSpPr>
          <p:nvPr/>
        </p:nvSpPr>
        <p:spPr bwMode="auto">
          <a:xfrm>
            <a:off x="4495800" y="3962400"/>
            <a:ext cx="612775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h+1</a:t>
            </a:r>
          </a:p>
        </p:txBody>
      </p:sp>
      <p:sp>
        <p:nvSpPr>
          <p:cNvPr id="28700" name="Text Box 28"/>
          <p:cNvSpPr txBox="1">
            <a:spLocks noChangeArrowheads="1"/>
          </p:cNvSpPr>
          <p:nvPr/>
        </p:nvSpPr>
        <p:spPr bwMode="auto">
          <a:xfrm>
            <a:off x="1982788" y="3962400"/>
            <a:ext cx="3222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</a:t>
            </a:r>
          </a:p>
        </p:txBody>
      </p:sp>
      <p:sp>
        <p:nvSpPr>
          <p:cNvPr id="28701" name="Text Box 29"/>
          <p:cNvSpPr txBox="1">
            <a:spLocks noChangeArrowheads="1"/>
          </p:cNvSpPr>
          <p:nvPr/>
        </p:nvSpPr>
        <p:spPr bwMode="auto">
          <a:xfrm>
            <a:off x="3657600" y="4800600"/>
            <a:ext cx="1058863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 or h-1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Oval 1"/>
          <p:cNvSpPr>
            <a:spLocks noChangeArrowheads="1"/>
          </p:cNvSpPr>
          <p:nvPr/>
        </p:nvSpPr>
        <p:spPr bwMode="auto">
          <a:xfrm>
            <a:off x="4051300" y="1695450"/>
            <a:ext cx="762000" cy="722313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4259263" y="1497013"/>
            <a:ext cx="466725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j</a:t>
            </a:r>
          </a:p>
        </p:txBody>
      </p:sp>
      <p:sp>
        <p:nvSpPr>
          <p:cNvPr id="29699" name="Oval 3"/>
          <p:cNvSpPr>
            <a:spLocks noChangeArrowheads="1"/>
          </p:cNvSpPr>
          <p:nvPr/>
        </p:nvSpPr>
        <p:spPr bwMode="auto">
          <a:xfrm>
            <a:off x="2525713" y="2878138"/>
            <a:ext cx="762000" cy="722312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2678113" y="2755900"/>
            <a:ext cx="465137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k</a:t>
            </a:r>
          </a:p>
        </p:txBody>
      </p:sp>
      <p:cxnSp>
        <p:nvCxnSpPr>
          <p:cNvPr id="29701" name="AutoShape 5"/>
          <p:cNvCxnSpPr>
            <a:cxnSpLocks noChangeShapeType="1"/>
            <a:stCxn id="29697" idx="3"/>
            <a:endCxn id="29699" idx="7"/>
          </p:cNvCxnSpPr>
          <p:nvPr/>
        </p:nvCxnSpPr>
        <p:spPr bwMode="auto">
          <a:xfrm flipH="1">
            <a:off x="3176588" y="2312988"/>
            <a:ext cx="985837" cy="671512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29702" name="AutoShape 6"/>
          <p:cNvSpPr>
            <a:spLocks noChangeArrowheads="1"/>
          </p:cNvSpPr>
          <p:nvPr/>
        </p:nvSpPr>
        <p:spPr bwMode="auto">
          <a:xfrm>
            <a:off x="1000125" y="4060825"/>
            <a:ext cx="1455738" cy="1116013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9703" name="AutoShape 7"/>
          <p:cNvCxnSpPr>
            <a:cxnSpLocks noChangeShapeType="1"/>
            <a:stCxn id="29699" idx="3"/>
            <a:endCxn id="29702" idx="0"/>
          </p:cNvCxnSpPr>
          <p:nvPr/>
        </p:nvCxnSpPr>
        <p:spPr bwMode="auto">
          <a:xfrm flipH="1">
            <a:off x="1728788" y="3494088"/>
            <a:ext cx="909637" cy="566737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29704" name="Text Box 8"/>
          <p:cNvSpPr txBox="1">
            <a:spLocks noChangeArrowheads="1"/>
          </p:cNvSpPr>
          <p:nvPr/>
        </p:nvSpPr>
        <p:spPr bwMode="auto">
          <a:xfrm>
            <a:off x="1462088" y="4298950"/>
            <a:ext cx="465137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X</a:t>
            </a:r>
          </a:p>
        </p:txBody>
      </p:sp>
      <p:sp>
        <p:nvSpPr>
          <p:cNvPr id="29705" name="AutoShape 9"/>
          <p:cNvSpPr>
            <a:spLocks noChangeArrowheads="1"/>
          </p:cNvSpPr>
          <p:nvPr/>
        </p:nvSpPr>
        <p:spPr bwMode="auto">
          <a:xfrm>
            <a:off x="2595563" y="4914900"/>
            <a:ext cx="1317625" cy="1182688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06" name="Text Box 10"/>
          <p:cNvSpPr txBox="1">
            <a:spLocks noChangeArrowheads="1"/>
          </p:cNvSpPr>
          <p:nvPr/>
        </p:nvSpPr>
        <p:spPr bwMode="auto">
          <a:xfrm>
            <a:off x="2978150" y="5275263"/>
            <a:ext cx="465138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V</a:t>
            </a:r>
          </a:p>
        </p:txBody>
      </p:sp>
      <p:sp>
        <p:nvSpPr>
          <p:cNvPr id="29707" name="AutoShape 11"/>
          <p:cNvSpPr>
            <a:spLocks noChangeArrowheads="1"/>
          </p:cNvSpPr>
          <p:nvPr/>
        </p:nvSpPr>
        <p:spPr bwMode="auto">
          <a:xfrm>
            <a:off x="5229225" y="3271838"/>
            <a:ext cx="1457325" cy="11176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08" name="Text Box 12"/>
          <p:cNvSpPr txBox="1">
            <a:spLocks noChangeArrowheads="1"/>
          </p:cNvSpPr>
          <p:nvPr/>
        </p:nvSpPr>
        <p:spPr bwMode="auto">
          <a:xfrm>
            <a:off x="5646738" y="3546475"/>
            <a:ext cx="465137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Z</a:t>
            </a:r>
          </a:p>
        </p:txBody>
      </p:sp>
      <p:cxnSp>
        <p:nvCxnSpPr>
          <p:cNvPr id="29709" name="AutoShape 13"/>
          <p:cNvCxnSpPr>
            <a:cxnSpLocks noChangeShapeType="1"/>
            <a:stCxn id="29699" idx="5"/>
            <a:endCxn id="29716" idx="1"/>
          </p:cNvCxnSpPr>
          <p:nvPr/>
        </p:nvCxnSpPr>
        <p:spPr bwMode="auto">
          <a:xfrm>
            <a:off x="3176588" y="3494088"/>
            <a:ext cx="639762" cy="474662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29710" name="AutoShape 14"/>
          <p:cNvCxnSpPr>
            <a:cxnSpLocks noChangeShapeType="1"/>
            <a:stCxn id="29697" idx="5"/>
            <a:endCxn id="29707" idx="0"/>
          </p:cNvCxnSpPr>
          <p:nvPr/>
        </p:nvCxnSpPr>
        <p:spPr bwMode="auto">
          <a:xfrm>
            <a:off x="4702175" y="2312988"/>
            <a:ext cx="1257300" cy="960437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29711" name="Line 15"/>
          <p:cNvSpPr>
            <a:spLocks noChangeShapeType="1"/>
          </p:cNvSpPr>
          <p:nvPr/>
        </p:nvSpPr>
        <p:spPr bwMode="auto">
          <a:xfrm>
            <a:off x="7032625" y="4389438"/>
            <a:ext cx="1455738" cy="1587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12" name="Line 16"/>
          <p:cNvSpPr>
            <a:spLocks noChangeShapeType="1"/>
          </p:cNvSpPr>
          <p:nvPr/>
        </p:nvSpPr>
        <p:spPr bwMode="auto">
          <a:xfrm>
            <a:off x="7032625" y="5176838"/>
            <a:ext cx="1455738" cy="1587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13" name="Line 17"/>
          <p:cNvSpPr>
            <a:spLocks noChangeShapeType="1"/>
          </p:cNvSpPr>
          <p:nvPr/>
        </p:nvSpPr>
        <p:spPr bwMode="auto">
          <a:xfrm>
            <a:off x="7102475" y="6030913"/>
            <a:ext cx="1455738" cy="1587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14" name="AutoShape 18"/>
          <p:cNvSpPr>
            <a:spLocks noChangeArrowheads="1"/>
          </p:cNvSpPr>
          <p:nvPr/>
        </p:nvSpPr>
        <p:spPr bwMode="auto">
          <a:xfrm>
            <a:off x="4329113" y="4914900"/>
            <a:ext cx="1316037" cy="1182688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15" name="Text Box 19"/>
          <p:cNvSpPr txBox="1">
            <a:spLocks noChangeArrowheads="1"/>
          </p:cNvSpPr>
          <p:nvPr/>
        </p:nvSpPr>
        <p:spPr bwMode="auto">
          <a:xfrm>
            <a:off x="4572000" y="5262563"/>
            <a:ext cx="463550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W</a:t>
            </a:r>
          </a:p>
        </p:txBody>
      </p:sp>
      <p:sp>
        <p:nvSpPr>
          <p:cNvPr id="29716" name="Oval 20"/>
          <p:cNvSpPr>
            <a:spLocks noChangeArrowheads="1"/>
          </p:cNvSpPr>
          <p:nvPr/>
        </p:nvSpPr>
        <p:spPr bwMode="auto">
          <a:xfrm>
            <a:off x="3703638" y="3863975"/>
            <a:ext cx="763587" cy="722313"/>
          </a:xfrm>
          <a:prstGeom prst="ellipse">
            <a:avLst/>
          </a:prstGeom>
          <a:solidFill>
            <a:srgbClr val="00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17" name="Text Box 21"/>
          <p:cNvSpPr txBox="1">
            <a:spLocks noChangeArrowheads="1"/>
          </p:cNvSpPr>
          <p:nvPr/>
        </p:nvSpPr>
        <p:spPr bwMode="auto">
          <a:xfrm>
            <a:off x="3890963" y="3763963"/>
            <a:ext cx="465137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i</a:t>
            </a:r>
          </a:p>
        </p:txBody>
      </p:sp>
      <p:cxnSp>
        <p:nvCxnSpPr>
          <p:cNvPr id="29718" name="AutoShape 22"/>
          <p:cNvCxnSpPr>
            <a:cxnSpLocks noChangeShapeType="1"/>
            <a:stCxn id="29716" idx="3"/>
            <a:endCxn id="29705" idx="0"/>
          </p:cNvCxnSpPr>
          <p:nvPr/>
        </p:nvCxnSpPr>
        <p:spPr bwMode="auto">
          <a:xfrm flipH="1">
            <a:off x="3254375" y="4479925"/>
            <a:ext cx="560388" cy="434975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29719" name="AutoShape 23"/>
          <p:cNvCxnSpPr>
            <a:cxnSpLocks noChangeShapeType="1"/>
            <a:stCxn id="29716" idx="5"/>
            <a:endCxn id="29714" idx="0"/>
          </p:cNvCxnSpPr>
          <p:nvPr/>
        </p:nvCxnSpPr>
        <p:spPr bwMode="auto">
          <a:xfrm>
            <a:off x="4356100" y="4479925"/>
            <a:ext cx="631825" cy="434975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29720" name="Rectangle 24"/>
          <p:cNvSpPr>
            <a:spLocks noChangeArrowheads="1"/>
          </p:cNvSpPr>
          <p:nvPr/>
        </p:nvSpPr>
        <p:spPr bwMode="auto">
          <a:xfrm>
            <a:off x="665163" y="646113"/>
            <a:ext cx="7813675" cy="8016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dirty="0">
                <a:latin typeface="Arial" pitchFamily="34" charset="0"/>
                <a:ea typeface="Droid Sans" charset="0"/>
                <a:cs typeface="Droid Sans" charset="0"/>
              </a:rPr>
              <a:t>AVL Insertion: Inside Case</a:t>
            </a:r>
          </a:p>
        </p:txBody>
      </p:sp>
      <p:sp>
        <p:nvSpPr>
          <p:cNvPr id="29721" name="Text Box 25"/>
          <p:cNvSpPr txBox="1">
            <a:spLocks noChangeArrowheads="1"/>
          </p:cNvSpPr>
          <p:nvPr/>
        </p:nvSpPr>
        <p:spPr bwMode="auto">
          <a:xfrm>
            <a:off x="5359400" y="1768475"/>
            <a:ext cx="2383323" cy="6485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We will do a left-right 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“double rotation” . . .</a:t>
            </a:r>
          </a:p>
        </p:txBody>
      </p:sp>
      <p:sp>
        <p:nvSpPr>
          <p:cNvPr id="29722" name="Freeform 26"/>
          <p:cNvSpPr>
            <a:spLocks/>
          </p:cNvSpPr>
          <p:nvPr/>
        </p:nvSpPr>
        <p:spPr bwMode="auto">
          <a:xfrm>
            <a:off x="3490913" y="2984500"/>
            <a:ext cx="735012" cy="839788"/>
          </a:xfrm>
          <a:custGeom>
            <a:avLst/>
            <a:gdLst/>
            <a:ahLst/>
            <a:cxnLst>
              <a:cxn ang="0">
                <a:pos x="463" y="529"/>
              </a:cxn>
              <a:cxn ang="0">
                <a:pos x="365" y="87"/>
              </a:cxn>
              <a:cxn ang="0">
                <a:pos x="0" y="10"/>
              </a:cxn>
            </a:cxnLst>
            <a:rect l="0" t="0" r="r" b="b"/>
            <a:pathLst>
              <a:path w="463" h="529">
                <a:moveTo>
                  <a:pt x="463" y="529"/>
                </a:moveTo>
                <a:cubicBezTo>
                  <a:pt x="452" y="351"/>
                  <a:pt x="442" y="174"/>
                  <a:pt x="365" y="87"/>
                </a:cubicBezTo>
                <a:cubicBezTo>
                  <a:pt x="288" y="0"/>
                  <a:pt x="144" y="5"/>
                  <a:pt x="0" y="10"/>
                </a:cubicBezTo>
              </a:path>
            </a:pathLst>
          </a:custGeom>
          <a:noFill/>
          <a:ln w="1908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23" name="Freeform 27"/>
          <p:cNvSpPr>
            <a:spLocks/>
          </p:cNvSpPr>
          <p:nvPr/>
        </p:nvSpPr>
        <p:spPr bwMode="auto">
          <a:xfrm>
            <a:off x="3062288" y="2152650"/>
            <a:ext cx="817562" cy="825500"/>
          </a:xfrm>
          <a:custGeom>
            <a:avLst/>
            <a:gdLst/>
            <a:ahLst/>
            <a:cxnLst>
              <a:cxn ang="0">
                <a:pos x="206" y="520"/>
              </a:cxn>
              <a:cxn ang="0">
                <a:pos x="52" y="91"/>
              </a:cxn>
              <a:cxn ang="0">
                <a:pos x="515" y="0"/>
              </a:cxn>
            </a:cxnLst>
            <a:rect l="0" t="0" r="r" b="b"/>
            <a:pathLst>
              <a:path w="515" h="520">
                <a:moveTo>
                  <a:pt x="206" y="520"/>
                </a:moveTo>
                <a:cubicBezTo>
                  <a:pt x="103" y="349"/>
                  <a:pt x="0" y="178"/>
                  <a:pt x="52" y="91"/>
                </a:cubicBezTo>
                <a:cubicBezTo>
                  <a:pt x="104" y="4"/>
                  <a:pt x="309" y="2"/>
                  <a:pt x="515" y="0"/>
                </a:cubicBezTo>
              </a:path>
            </a:pathLst>
          </a:custGeom>
          <a:noFill/>
          <a:ln w="1908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24" name="Oval 28"/>
          <p:cNvSpPr>
            <a:spLocks noChangeArrowheads="1"/>
          </p:cNvSpPr>
          <p:nvPr/>
        </p:nvSpPr>
        <p:spPr bwMode="auto">
          <a:xfrm rot="1680000">
            <a:off x="1752600" y="3008313"/>
            <a:ext cx="3429000" cy="1487487"/>
          </a:xfrm>
          <a:prstGeom prst="ellipse">
            <a:avLst/>
          </a:prstGeom>
          <a:noFill/>
          <a:ln w="2556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25" name="Oval 29"/>
          <p:cNvSpPr>
            <a:spLocks noChangeArrowheads="1"/>
          </p:cNvSpPr>
          <p:nvPr/>
        </p:nvSpPr>
        <p:spPr bwMode="auto">
          <a:xfrm rot="19500000">
            <a:off x="1979613" y="1828800"/>
            <a:ext cx="3429000" cy="1487488"/>
          </a:xfrm>
          <a:prstGeom prst="ellipse">
            <a:avLst/>
          </a:prstGeom>
          <a:noFill/>
          <a:ln w="25560">
            <a:solidFill>
              <a:srgbClr val="FF0000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Oval 1"/>
          <p:cNvSpPr>
            <a:spLocks noChangeArrowheads="1"/>
          </p:cNvSpPr>
          <p:nvPr/>
        </p:nvSpPr>
        <p:spPr bwMode="auto">
          <a:xfrm>
            <a:off x="4051300" y="1695450"/>
            <a:ext cx="762000" cy="722313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4259263" y="1497013"/>
            <a:ext cx="466725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j</a:t>
            </a:r>
          </a:p>
        </p:txBody>
      </p:sp>
      <p:sp>
        <p:nvSpPr>
          <p:cNvPr id="30723" name="Oval 3"/>
          <p:cNvSpPr>
            <a:spLocks noChangeArrowheads="1"/>
          </p:cNvSpPr>
          <p:nvPr/>
        </p:nvSpPr>
        <p:spPr bwMode="auto">
          <a:xfrm>
            <a:off x="1828800" y="3779838"/>
            <a:ext cx="762000" cy="722312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k</a:t>
            </a:r>
          </a:p>
        </p:txBody>
      </p:sp>
      <p:cxnSp>
        <p:nvCxnSpPr>
          <p:cNvPr id="30724" name="AutoShape 4"/>
          <p:cNvCxnSpPr>
            <a:cxnSpLocks noChangeShapeType="1"/>
            <a:stCxn id="30721" idx="3"/>
            <a:endCxn id="30738" idx="0"/>
          </p:cNvCxnSpPr>
          <p:nvPr/>
        </p:nvCxnSpPr>
        <p:spPr bwMode="auto">
          <a:xfrm flipH="1">
            <a:off x="2897188" y="2312988"/>
            <a:ext cx="1266825" cy="584200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30725" name="AutoShape 5"/>
          <p:cNvSpPr>
            <a:spLocks noChangeArrowheads="1"/>
          </p:cNvSpPr>
          <p:nvPr/>
        </p:nvSpPr>
        <p:spPr bwMode="auto">
          <a:xfrm>
            <a:off x="609600" y="4953000"/>
            <a:ext cx="1455738" cy="1116013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cxnSp>
        <p:nvCxnSpPr>
          <p:cNvPr id="30726" name="AutoShape 6"/>
          <p:cNvCxnSpPr>
            <a:cxnSpLocks noChangeShapeType="1"/>
            <a:stCxn id="30723" idx="3"/>
            <a:endCxn id="30725" idx="0"/>
          </p:cNvCxnSpPr>
          <p:nvPr/>
        </p:nvCxnSpPr>
        <p:spPr bwMode="auto">
          <a:xfrm flipH="1">
            <a:off x="1336675" y="4397375"/>
            <a:ext cx="603250" cy="557213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30727" name="Text Box 7"/>
          <p:cNvSpPr txBox="1">
            <a:spLocks noChangeArrowheads="1"/>
          </p:cNvSpPr>
          <p:nvPr/>
        </p:nvSpPr>
        <p:spPr bwMode="auto">
          <a:xfrm>
            <a:off x="1071563" y="5257800"/>
            <a:ext cx="465137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X</a:t>
            </a:r>
          </a:p>
        </p:txBody>
      </p:sp>
      <p:sp>
        <p:nvSpPr>
          <p:cNvPr id="30728" name="AutoShape 8"/>
          <p:cNvSpPr>
            <a:spLocks noChangeArrowheads="1"/>
          </p:cNvSpPr>
          <p:nvPr/>
        </p:nvSpPr>
        <p:spPr bwMode="auto">
          <a:xfrm>
            <a:off x="2357438" y="4876800"/>
            <a:ext cx="1317625" cy="1182688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V</a:t>
            </a:r>
          </a:p>
        </p:txBody>
      </p:sp>
      <p:sp>
        <p:nvSpPr>
          <p:cNvPr id="30729" name="AutoShape 9"/>
          <p:cNvSpPr>
            <a:spLocks noChangeArrowheads="1"/>
          </p:cNvSpPr>
          <p:nvPr/>
        </p:nvSpPr>
        <p:spPr bwMode="auto">
          <a:xfrm>
            <a:off x="5229225" y="3271838"/>
            <a:ext cx="1457325" cy="11176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30" name="Text Box 10"/>
          <p:cNvSpPr txBox="1">
            <a:spLocks noChangeArrowheads="1"/>
          </p:cNvSpPr>
          <p:nvPr/>
        </p:nvSpPr>
        <p:spPr bwMode="auto">
          <a:xfrm>
            <a:off x="5646738" y="3546475"/>
            <a:ext cx="465137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Z</a:t>
            </a:r>
          </a:p>
        </p:txBody>
      </p:sp>
      <p:cxnSp>
        <p:nvCxnSpPr>
          <p:cNvPr id="30731" name="AutoShape 11"/>
          <p:cNvCxnSpPr>
            <a:cxnSpLocks noChangeShapeType="1"/>
            <a:stCxn id="30723" idx="5"/>
            <a:endCxn id="30728" idx="0"/>
          </p:cNvCxnSpPr>
          <p:nvPr/>
        </p:nvCxnSpPr>
        <p:spPr bwMode="auto">
          <a:xfrm>
            <a:off x="2479675" y="4397375"/>
            <a:ext cx="538163" cy="481013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30732" name="AutoShape 12"/>
          <p:cNvCxnSpPr>
            <a:cxnSpLocks noChangeShapeType="1"/>
            <a:stCxn id="30721" idx="5"/>
            <a:endCxn id="30729" idx="0"/>
          </p:cNvCxnSpPr>
          <p:nvPr/>
        </p:nvCxnSpPr>
        <p:spPr bwMode="auto">
          <a:xfrm>
            <a:off x="4702175" y="2312988"/>
            <a:ext cx="1257300" cy="960437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30733" name="Line 13"/>
          <p:cNvSpPr>
            <a:spLocks noChangeShapeType="1"/>
          </p:cNvSpPr>
          <p:nvPr/>
        </p:nvSpPr>
        <p:spPr bwMode="auto">
          <a:xfrm>
            <a:off x="7032625" y="4389438"/>
            <a:ext cx="1455738" cy="1587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734" name="Line 14"/>
          <p:cNvSpPr>
            <a:spLocks noChangeShapeType="1"/>
          </p:cNvSpPr>
          <p:nvPr/>
        </p:nvSpPr>
        <p:spPr bwMode="auto">
          <a:xfrm>
            <a:off x="7032625" y="5176838"/>
            <a:ext cx="1455738" cy="1587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735" name="Line 15"/>
          <p:cNvSpPr>
            <a:spLocks noChangeShapeType="1"/>
          </p:cNvSpPr>
          <p:nvPr/>
        </p:nvSpPr>
        <p:spPr bwMode="auto">
          <a:xfrm>
            <a:off x="7102475" y="6030913"/>
            <a:ext cx="1455738" cy="1587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736" name="AutoShape 16"/>
          <p:cNvSpPr>
            <a:spLocks noChangeArrowheads="1"/>
          </p:cNvSpPr>
          <p:nvPr/>
        </p:nvSpPr>
        <p:spPr bwMode="auto">
          <a:xfrm>
            <a:off x="3810000" y="4038600"/>
            <a:ext cx="1316038" cy="1182688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37" name="Text Box 17"/>
          <p:cNvSpPr txBox="1">
            <a:spLocks noChangeArrowheads="1"/>
          </p:cNvSpPr>
          <p:nvPr/>
        </p:nvSpPr>
        <p:spPr bwMode="auto">
          <a:xfrm>
            <a:off x="4052888" y="4386263"/>
            <a:ext cx="463550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W</a:t>
            </a:r>
          </a:p>
        </p:txBody>
      </p:sp>
      <p:sp>
        <p:nvSpPr>
          <p:cNvPr id="30738" name="Oval 18"/>
          <p:cNvSpPr>
            <a:spLocks noChangeArrowheads="1"/>
          </p:cNvSpPr>
          <p:nvPr/>
        </p:nvSpPr>
        <p:spPr bwMode="auto">
          <a:xfrm>
            <a:off x="2514600" y="2895600"/>
            <a:ext cx="763588" cy="722313"/>
          </a:xfrm>
          <a:prstGeom prst="ellipse">
            <a:avLst/>
          </a:prstGeom>
          <a:solidFill>
            <a:srgbClr val="00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i</a:t>
            </a:r>
          </a:p>
        </p:txBody>
      </p:sp>
      <p:cxnSp>
        <p:nvCxnSpPr>
          <p:cNvPr id="30739" name="AutoShape 19"/>
          <p:cNvCxnSpPr>
            <a:cxnSpLocks noChangeShapeType="1"/>
            <a:stCxn id="30738" idx="5"/>
            <a:endCxn id="30736" idx="0"/>
          </p:cNvCxnSpPr>
          <p:nvPr/>
        </p:nvCxnSpPr>
        <p:spPr bwMode="auto">
          <a:xfrm>
            <a:off x="3167063" y="3511550"/>
            <a:ext cx="1301750" cy="527050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30740" name="Rectangle 20"/>
          <p:cNvSpPr>
            <a:spLocks noChangeArrowheads="1"/>
          </p:cNvSpPr>
          <p:nvPr/>
        </p:nvSpPr>
        <p:spPr bwMode="auto">
          <a:xfrm>
            <a:off x="665163" y="646113"/>
            <a:ext cx="7813675" cy="8016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dirty="0">
                <a:latin typeface="Arial" pitchFamily="34" charset="0"/>
                <a:ea typeface="Droid Sans" charset="0"/>
                <a:cs typeface="Droid Sans" charset="0"/>
              </a:rPr>
              <a:t>Double rotation : first rotation</a:t>
            </a:r>
          </a:p>
        </p:txBody>
      </p:sp>
      <p:sp>
        <p:nvSpPr>
          <p:cNvPr id="30741" name="Text Box 21"/>
          <p:cNvSpPr txBox="1">
            <a:spLocks noChangeArrowheads="1"/>
          </p:cNvSpPr>
          <p:nvPr/>
        </p:nvSpPr>
        <p:spPr bwMode="auto">
          <a:xfrm>
            <a:off x="5359400" y="1768475"/>
            <a:ext cx="2323370" cy="371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left rotation complete</a:t>
            </a:r>
          </a:p>
        </p:txBody>
      </p:sp>
      <p:cxnSp>
        <p:nvCxnSpPr>
          <p:cNvPr id="30742" name="AutoShape 22"/>
          <p:cNvCxnSpPr>
            <a:cxnSpLocks noChangeShapeType="1"/>
            <a:stCxn id="30738" idx="3"/>
            <a:endCxn id="30723" idx="0"/>
          </p:cNvCxnSpPr>
          <p:nvPr/>
        </p:nvCxnSpPr>
        <p:spPr bwMode="auto">
          <a:xfrm flipH="1">
            <a:off x="2209800" y="3511550"/>
            <a:ext cx="415925" cy="268288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30743" name="Oval 23"/>
          <p:cNvSpPr>
            <a:spLocks noChangeArrowheads="1"/>
          </p:cNvSpPr>
          <p:nvPr/>
        </p:nvSpPr>
        <p:spPr bwMode="auto">
          <a:xfrm rot="19500000">
            <a:off x="685800" y="2971800"/>
            <a:ext cx="3429000" cy="1487488"/>
          </a:xfrm>
          <a:prstGeom prst="ellipse">
            <a:avLst/>
          </a:prstGeom>
          <a:noFill/>
          <a:ln w="2556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Oval 1"/>
          <p:cNvSpPr>
            <a:spLocks noChangeArrowheads="1"/>
          </p:cNvSpPr>
          <p:nvPr/>
        </p:nvSpPr>
        <p:spPr bwMode="auto">
          <a:xfrm>
            <a:off x="4051300" y="1695450"/>
            <a:ext cx="762000" cy="722313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4259263" y="1497013"/>
            <a:ext cx="466725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j</a:t>
            </a:r>
          </a:p>
        </p:txBody>
      </p:sp>
      <p:sp>
        <p:nvSpPr>
          <p:cNvPr id="31747" name="Oval 3"/>
          <p:cNvSpPr>
            <a:spLocks noChangeArrowheads="1"/>
          </p:cNvSpPr>
          <p:nvPr/>
        </p:nvSpPr>
        <p:spPr bwMode="auto">
          <a:xfrm>
            <a:off x="1828800" y="3779838"/>
            <a:ext cx="762000" cy="722312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k</a:t>
            </a:r>
          </a:p>
        </p:txBody>
      </p:sp>
      <p:cxnSp>
        <p:nvCxnSpPr>
          <p:cNvPr id="31748" name="AutoShape 4"/>
          <p:cNvCxnSpPr>
            <a:cxnSpLocks noChangeShapeType="1"/>
            <a:stCxn id="31745" idx="3"/>
            <a:endCxn id="31762" idx="0"/>
          </p:cNvCxnSpPr>
          <p:nvPr/>
        </p:nvCxnSpPr>
        <p:spPr bwMode="auto">
          <a:xfrm flipH="1">
            <a:off x="2897188" y="2312988"/>
            <a:ext cx="1266825" cy="584200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31749" name="AutoShape 5"/>
          <p:cNvSpPr>
            <a:spLocks noChangeArrowheads="1"/>
          </p:cNvSpPr>
          <p:nvPr/>
        </p:nvSpPr>
        <p:spPr bwMode="auto">
          <a:xfrm>
            <a:off x="609600" y="4953000"/>
            <a:ext cx="1455738" cy="1116013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cxnSp>
        <p:nvCxnSpPr>
          <p:cNvPr id="31750" name="AutoShape 6"/>
          <p:cNvCxnSpPr>
            <a:cxnSpLocks noChangeShapeType="1"/>
            <a:stCxn id="31747" idx="3"/>
            <a:endCxn id="31749" idx="0"/>
          </p:cNvCxnSpPr>
          <p:nvPr/>
        </p:nvCxnSpPr>
        <p:spPr bwMode="auto">
          <a:xfrm flipH="1">
            <a:off x="1336675" y="4397375"/>
            <a:ext cx="603250" cy="557213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31751" name="Text Box 7"/>
          <p:cNvSpPr txBox="1">
            <a:spLocks noChangeArrowheads="1"/>
          </p:cNvSpPr>
          <p:nvPr/>
        </p:nvSpPr>
        <p:spPr bwMode="auto">
          <a:xfrm>
            <a:off x="1071563" y="5257800"/>
            <a:ext cx="465137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X</a:t>
            </a:r>
          </a:p>
        </p:txBody>
      </p:sp>
      <p:sp>
        <p:nvSpPr>
          <p:cNvPr id="31752" name="AutoShape 8"/>
          <p:cNvSpPr>
            <a:spLocks noChangeArrowheads="1"/>
          </p:cNvSpPr>
          <p:nvPr/>
        </p:nvSpPr>
        <p:spPr bwMode="auto">
          <a:xfrm>
            <a:off x="2357438" y="4876800"/>
            <a:ext cx="1317625" cy="1182688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V</a:t>
            </a:r>
          </a:p>
        </p:txBody>
      </p:sp>
      <p:sp>
        <p:nvSpPr>
          <p:cNvPr id="31753" name="AutoShape 9"/>
          <p:cNvSpPr>
            <a:spLocks noChangeArrowheads="1"/>
          </p:cNvSpPr>
          <p:nvPr/>
        </p:nvSpPr>
        <p:spPr bwMode="auto">
          <a:xfrm>
            <a:off x="5229225" y="3271838"/>
            <a:ext cx="1457325" cy="11176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754" name="Text Box 10"/>
          <p:cNvSpPr txBox="1">
            <a:spLocks noChangeArrowheads="1"/>
          </p:cNvSpPr>
          <p:nvPr/>
        </p:nvSpPr>
        <p:spPr bwMode="auto">
          <a:xfrm>
            <a:off x="5646738" y="3546475"/>
            <a:ext cx="465137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Z</a:t>
            </a:r>
          </a:p>
        </p:txBody>
      </p:sp>
      <p:cxnSp>
        <p:nvCxnSpPr>
          <p:cNvPr id="31755" name="AutoShape 11"/>
          <p:cNvCxnSpPr>
            <a:cxnSpLocks noChangeShapeType="1"/>
            <a:stCxn id="31747" idx="5"/>
            <a:endCxn id="31752" idx="0"/>
          </p:cNvCxnSpPr>
          <p:nvPr/>
        </p:nvCxnSpPr>
        <p:spPr bwMode="auto">
          <a:xfrm>
            <a:off x="2479675" y="4397375"/>
            <a:ext cx="538163" cy="481013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31756" name="AutoShape 12"/>
          <p:cNvCxnSpPr>
            <a:cxnSpLocks noChangeShapeType="1"/>
            <a:stCxn id="31745" idx="5"/>
            <a:endCxn id="31753" idx="0"/>
          </p:cNvCxnSpPr>
          <p:nvPr/>
        </p:nvCxnSpPr>
        <p:spPr bwMode="auto">
          <a:xfrm>
            <a:off x="4702175" y="2312988"/>
            <a:ext cx="1257300" cy="960437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31757" name="Line 13"/>
          <p:cNvSpPr>
            <a:spLocks noChangeShapeType="1"/>
          </p:cNvSpPr>
          <p:nvPr/>
        </p:nvSpPr>
        <p:spPr bwMode="auto">
          <a:xfrm>
            <a:off x="7032625" y="4389438"/>
            <a:ext cx="1455738" cy="1587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758" name="Line 14"/>
          <p:cNvSpPr>
            <a:spLocks noChangeShapeType="1"/>
          </p:cNvSpPr>
          <p:nvPr/>
        </p:nvSpPr>
        <p:spPr bwMode="auto">
          <a:xfrm>
            <a:off x="7032625" y="5176838"/>
            <a:ext cx="1455738" cy="1587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759" name="Line 15"/>
          <p:cNvSpPr>
            <a:spLocks noChangeShapeType="1"/>
          </p:cNvSpPr>
          <p:nvPr/>
        </p:nvSpPr>
        <p:spPr bwMode="auto">
          <a:xfrm>
            <a:off x="7102475" y="6030913"/>
            <a:ext cx="1455738" cy="1587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760" name="AutoShape 16"/>
          <p:cNvSpPr>
            <a:spLocks noChangeArrowheads="1"/>
          </p:cNvSpPr>
          <p:nvPr/>
        </p:nvSpPr>
        <p:spPr bwMode="auto">
          <a:xfrm>
            <a:off x="3810000" y="4038600"/>
            <a:ext cx="1316038" cy="1182688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761" name="Text Box 17"/>
          <p:cNvSpPr txBox="1">
            <a:spLocks noChangeArrowheads="1"/>
          </p:cNvSpPr>
          <p:nvPr/>
        </p:nvSpPr>
        <p:spPr bwMode="auto">
          <a:xfrm>
            <a:off x="4052888" y="4386263"/>
            <a:ext cx="463550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W</a:t>
            </a:r>
          </a:p>
        </p:txBody>
      </p:sp>
      <p:sp>
        <p:nvSpPr>
          <p:cNvPr id="31762" name="Oval 18"/>
          <p:cNvSpPr>
            <a:spLocks noChangeArrowheads="1"/>
          </p:cNvSpPr>
          <p:nvPr/>
        </p:nvSpPr>
        <p:spPr bwMode="auto">
          <a:xfrm>
            <a:off x="2514600" y="2895600"/>
            <a:ext cx="763588" cy="722313"/>
          </a:xfrm>
          <a:prstGeom prst="ellipse">
            <a:avLst/>
          </a:prstGeom>
          <a:solidFill>
            <a:srgbClr val="00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i</a:t>
            </a:r>
          </a:p>
        </p:txBody>
      </p:sp>
      <p:cxnSp>
        <p:nvCxnSpPr>
          <p:cNvPr id="31763" name="AutoShape 19"/>
          <p:cNvCxnSpPr>
            <a:cxnSpLocks noChangeShapeType="1"/>
            <a:stCxn id="31762" idx="5"/>
            <a:endCxn id="31760" idx="0"/>
          </p:cNvCxnSpPr>
          <p:nvPr/>
        </p:nvCxnSpPr>
        <p:spPr bwMode="auto">
          <a:xfrm>
            <a:off x="3167063" y="3511550"/>
            <a:ext cx="1301750" cy="527050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31764" name="Rectangle 20"/>
          <p:cNvSpPr>
            <a:spLocks noChangeArrowheads="1"/>
          </p:cNvSpPr>
          <p:nvPr/>
        </p:nvSpPr>
        <p:spPr bwMode="auto">
          <a:xfrm>
            <a:off x="665163" y="646113"/>
            <a:ext cx="7813675" cy="8016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dirty="0">
                <a:latin typeface="Arial" pitchFamily="34" charset="0"/>
                <a:ea typeface="Droid Sans" charset="0"/>
                <a:cs typeface="Droid Sans" charset="0"/>
              </a:rPr>
              <a:t>Double rotation : second rotation</a:t>
            </a:r>
          </a:p>
        </p:txBody>
      </p:sp>
      <p:cxnSp>
        <p:nvCxnSpPr>
          <p:cNvPr id="31765" name="AutoShape 21"/>
          <p:cNvCxnSpPr>
            <a:cxnSpLocks noChangeShapeType="1"/>
            <a:stCxn id="31762" idx="3"/>
            <a:endCxn id="31747" idx="0"/>
          </p:cNvCxnSpPr>
          <p:nvPr/>
        </p:nvCxnSpPr>
        <p:spPr bwMode="auto">
          <a:xfrm flipH="1">
            <a:off x="2209800" y="3511550"/>
            <a:ext cx="415925" cy="268288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31766" name="Oval 22"/>
          <p:cNvSpPr>
            <a:spLocks noChangeArrowheads="1"/>
          </p:cNvSpPr>
          <p:nvPr/>
        </p:nvSpPr>
        <p:spPr bwMode="auto">
          <a:xfrm rot="19500000">
            <a:off x="1905000" y="1941513"/>
            <a:ext cx="3429000" cy="1487487"/>
          </a:xfrm>
          <a:prstGeom prst="ellipse">
            <a:avLst/>
          </a:prstGeom>
          <a:noFill/>
          <a:ln w="2556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767" name="Text Box 23"/>
          <p:cNvSpPr txBox="1">
            <a:spLocks noChangeArrowheads="1"/>
          </p:cNvSpPr>
          <p:nvPr/>
        </p:nvSpPr>
        <p:spPr bwMode="auto">
          <a:xfrm>
            <a:off x="5321300" y="1954213"/>
            <a:ext cx="2502906" cy="371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Now do a right rotation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Oval 1"/>
          <p:cNvSpPr>
            <a:spLocks noChangeArrowheads="1"/>
          </p:cNvSpPr>
          <p:nvPr/>
        </p:nvSpPr>
        <p:spPr bwMode="auto">
          <a:xfrm>
            <a:off x="4810125" y="3773488"/>
            <a:ext cx="762000" cy="722312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j</a:t>
            </a:r>
          </a:p>
        </p:txBody>
      </p:sp>
      <p:sp>
        <p:nvSpPr>
          <p:cNvPr id="32770" name="Oval 2"/>
          <p:cNvSpPr>
            <a:spLocks noChangeArrowheads="1"/>
          </p:cNvSpPr>
          <p:nvPr/>
        </p:nvSpPr>
        <p:spPr bwMode="auto">
          <a:xfrm>
            <a:off x="1828800" y="3779838"/>
            <a:ext cx="762000" cy="722312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k</a:t>
            </a:r>
          </a:p>
        </p:txBody>
      </p:sp>
      <p:sp>
        <p:nvSpPr>
          <p:cNvPr id="32771" name="AutoShape 3"/>
          <p:cNvSpPr>
            <a:spLocks noChangeArrowheads="1"/>
          </p:cNvSpPr>
          <p:nvPr/>
        </p:nvSpPr>
        <p:spPr bwMode="auto">
          <a:xfrm>
            <a:off x="609600" y="4953000"/>
            <a:ext cx="1455738" cy="1116013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cxnSp>
        <p:nvCxnSpPr>
          <p:cNvPr id="32772" name="AutoShape 4"/>
          <p:cNvCxnSpPr>
            <a:cxnSpLocks noChangeShapeType="1"/>
            <a:stCxn id="32770" idx="3"/>
            <a:endCxn id="32771" idx="0"/>
          </p:cNvCxnSpPr>
          <p:nvPr/>
        </p:nvCxnSpPr>
        <p:spPr bwMode="auto">
          <a:xfrm flipH="1">
            <a:off x="1336675" y="4397375"/>
            <a:ext cx="603250" cy="557213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1071563" y="5257800"/>
            <a:ext cx="465137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ea typeface="Droid Sans" charset="0"/>
                <a:cs typeface="Droid Sans" charset="0"/>
              </a:rPr>
              <a:t>X</a:t>
            </a:r>
          </a:p>
        </p:txBody>
      </p:sp>
      <p:sp>
        <p:nvSpPr>
          <p:cNvPr id="32774" name="AutoShape 6"/>
          <p:cNvSpPr>
            <a:spLocks noChangeArrowheads="1"/>
          </p:cNvSpPr>
          <p:nvPr/>
        </p:nvSpPr>
        <p:spPr bwMode="auto">
          <a:xfrm>
            <a:off x="2357438" y="4876800"/>
            <a:ext cx="1317625" cy="1182688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V</a:t>
            </a:r>
          </a:p>
        </p:txBody>
      </p:sp>
      <p:sp>
        <p:nvSpPr>
          <p:cNvPr id="32775" name="AutoShape 7"/>
          <p:cNvSpPr>
            <a:spLocks noChangeArrowheads="1"/>
          </p:cNvSpPr>
          <p:nvPr/>
        </p:nvSpPr>
        <p:spPr bwMode="auto">
          <a:xfrm>
            <a:off x="5229225" y="4906963"/>
            <a:ext cx="1457325" cy="11176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76" name="Text Box 8"/>
          <p:cNvSpPr txBox="1">
            <a:spLocks noChangeArrowheads="1"/>
          </p:cNvSpPr>
          <p:nvPr/>
        </p:nvSpPr>
        <p:spPr bwMode="auto">
          <a:xfrm>
            <a:off x="5646738" y="5181600"/>
            <a:ext cx="465137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Z</a:t>
            </a:r>
          </a:p>
        </p:txBody>
      </p:sp>
      <p:cxnSp>
        <p:nvCxnSpPr>
          <p:cNvPr id="32777" name="AutoShape 9"/>
          <p:cNvCxnSpPr>
            <a:cxnSpLocks noChangeShapeType="1"/>
            <a:stCxn id="32770" idx="5"/>
            <a:endCxn id="32774" idx="0"/>
          </p:cNvCxnSpPr>
          <p:nvPr/>
        </p:nvCxnSpPr>
        <p:spPr bwMode="auto">
          <a:xfrm>
            <a:off x="2479675" y="4397375"/>
            <a:ext cx="538163" cy="481013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32778" name="AutoShape 10"/>
          <p:cNvCxnSpPr>
            <a:cxnSpLocks noChangeShapeType="1"/>
            <a:stCxn id="32769" idx="5"/>
            <a:endCxn id="32775" idx="0"/>
          </p:cNvCxnSpPr>
          <p:nvPr/>
        </p:nvCxnSpPr>
        <p:spPr bwMode="auto">
          <a:xfrm>
            <a:off x="5461000" y="4389438"/>
            <a:ext cx="498475" cy="517525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32779" name="Line 11"/>
          <p:cNvSpPr>
            <a:spLocks noChangeShapeType="1"/>
          </p:cNvSpPr>
          <p:nvPr/>
        </p:nvSpPr>
        <p:spPr bwMode="auto">
          <a:xfrm>
            <a:off x="7032625" y="4389438"/>
            <a:ext cx="1455738" cy="1587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780" name="Line 12"/>
          <p:cNvSpPr>
            <a:spLocks noChangeShapeType="1"/>
          </p:cNvSpPr>
          <p:nvPr/>
        </p:nvSpPr>
        <p:spPr bwMode="auto">
          <a:xfrm>
            <a:off x="7032625" y="5176838"/>
            <a:ext cx="1455738" cy="1587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781" name="Line 13"/>
          <p:cNvSpPr>
            <a:spLocks noChangeShapeType="1"/>
          </p:cNvSpPr>
          <p:nvPr/>
        </p:nvSpPr>
        <p:spPr bwMode="auto">
          <a:xfrm>
            <a:off x="7102475" y="6030913"/>
            <a:ext cx="1455738" cy="1587"/>
          </a:xfrm>
          <a:prstGeom prst="line">
            <a:avLst/>
          </a:prstGeom>
          <a:noFill/>
          <a:ln w="19080">
            <a:solidFill>
              <a:srgbClr val="00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782" name="AutoShape 14"/>
          <p:cNvSpPr>
            <a:spLocks noChangeArrowheads="1"/>
          </p:cNvSpPr>
          <p:nvPr/>
        </p:nvSpPr>
        <p:spPr bwMode="auto">
          <a:xfrm>
            <a:off x="3810000" y="4876800"/>
            <a:ext cx="1316038" cy="1182688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83" name="Text Box 15"/>
          <p:cNvSpPr txBox="1">
            <a:spLocks noChangeArrowheads="1"/>
          </p:cNvSpPr>
          <p:nvPr/>
        </p:nvSpPr>
        <p:spPr bwMode="auto">
          <a:xfrm>
            <a:off x="4052888" y="5224463"/>
            <a:ext cx="463550" cy="917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3375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W</a:t>
            </a:r>
          </a:p>
        </p:txBody>
      </p:sp>
      <p:sp>
        <p:nvSpPr>
          <p:cNvPr id="32784" name="Oval 16"/>
          <p:cNvSpPr>
            <a:spLocks noChangeArrowheads="1"/>
          </p:cNvSpPr>
          <p:nvPr/>
        </p:nvSpPr>
        <p:spPr bwMode="auto">
          <a:xfrm>
            <a:off x="3200400" y="2895600"/>
            <a:ext cx="763588" cy="722313"/>
          </a:xfrm>
          <a:prstGeom prst="ellipse">
            <a:avLst/>
          </a:prstGeom>
          <a:solidFill>
            <a:srgbClr val="00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400" i="1">
                <a:latin typeface="Arial" pitchFamily="34" charset="0"/>
                <a:ea typeface="Droid Sans" charset="0"/>
                <a:cs typeface="Droid Sans" charset="0"/>
              </a:rPr>
              <a:t>i</a:t>
            </a:r>
          </a:p>
        </p:txBody>
      </p:sp>
      <p:cxnSp>
        <p:nvCxnSpPr>
          <p:cNvPr id="32785" name="AutoShape 17"/>
          <p:cNvCxnSpPr>
            <a:cxnSpLocks noChangeShapeType="1"/>
            <a:stCxn id="32769" idx="3"/>
            <a:endCxn id="32782" idx="0"/>
          </p:cNvCxnSpPr>
          <p:nvPr/>
        </p:nvCxnSpPr>
        <p:spPr bwMode="auto">
          <a:xfrm flipH="1">
            <a:off x="4467225" y="4389438"/>
            <a:ext cx="454025" cy="487362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32786" name="Rectangle 18"/>
          <p:cNvSpPr>
            <a:spLocks noChangeArrowheads="1"/>
          </p:cNvSpPr>
          <p:nvPr/>
        </p:nvSpPr>
        <p:spPr bwMode="auto">
          <a:xfrm>
            <a:off x="665163" y="646113"/>
            <a:ext cx="7813675" cy="8016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dirty="0">
                <a:latin typeface="Arial" pitchFamily="34" charset="0"/>
                <a:ea typeface="Droid Sans" charset="0"/>
                <a:cs typeface="Droid Sans" charset="0"/>
              </a:rPr>
              <a:t>Double rotation : second rotation</a:t>
            </a:r>
          </a:p>
        </p:txBody>
      </p:sp>
      <p:cxnSp>
        <p:nvCxnSpPr>
          <p:cNvPr id="32787" name="AutoShape 19"/>
          <p:cNvCxnSpPr>
            <a:cxnSpLocks noChangeShapeType="1"/>
            <a:stCxn id="32784" idx="3"/>
            <a:endCxn id="32770" idx="0"/>
          </p:cNvCxnSpPr>
          <p:nvPr/>
        </p:nvCxnSpPr>
        <p:spPr bwMode="auto">
          <a:xfrm flipH="1">
            <a:off x="2209800" y="3511550"/>
            <a:ext cx="1101725" cy="268288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32788" name="AutoShape 20"/>
          <p:cNvCxnSpPr>
            <a:cxnSpLocks noChangeShapeType="1"/>
            <a:stCxn id="32769" idx="0"/>
            <a:endCxn id="32784" idx="5"/>
          </p:cNvCxnSpPr>
          <p:nvPr/>
        </p:nvCxnSpPr>
        <p:spPr bwMode="auto">
          <a:xfrm flipH="1" flipV="1">
            <a:off x="3852863" y="3511550"/>
            <a:ext cx="1338262" cy="260350"/>
          </a:xfrm>
          <a:prstGeom prst="straightConnector1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32789" name="Oval 21"/>
          <p:cNvSpPr>
            <a:spLocks noChangeArrowheads="1"/>
          </p:cNvSpPr>
          <p:nvPr/>
        </p:nvSpPr>
        <p:spPr bwMode="auto">
          <a:xfrm rot="1680000">
            <a:off x="2743200" y="3008313"/>
            <a:ext cx="3429000" cy="1487487"/>
          </a:xfrm>
          <a:prstGeom prst="ellipse">
            <a:avLst/>
          </a:prstGeom>
          <a:noFill/>
          <a:ln w="2556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90" name="Text Box 22"/>
          <p:cNvSpPr txBox="1">
            <a:spLocks noChangeArrowheads="1"/>
          </p:cNvSpPr>
          <p:nvPr/>
        </p:nvSpPr>
        <p:spPr bwMode="auto">
          <a:xfrm>
            <a:off x="5184775" y="1954213"/>
            <a:ext cx="2464434" cy="371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right rotation complete</a:t>
            </a:r>
          </a:p>
        </p:txBody>
      </p:sp>
      <p:sp>
        <p:nvSpPr>
          <p:cNvPr id="32791" name="Text Box 23"/>
          <p:cNvSpPr txBox="1">
            <a:spLocks noChangeArrowheads="1"/>
          </p:cNvSpPr>
          <p:nvPr/>
        </p:nvSpPr>
        <p:spPr bwMode="auto">
          <a:xfrm>
            <a:off x="5567363" y="2665413"/>
            <a:ext cx="2092537" cy="6485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Balance has been 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restored</a:t>
            </a:r>
          </a:p>
        </p:txBody>
      </p:sp>
      <p:sp>
        <p:nvSpPr>
          <p:cNvPr id="32792" name="Text Box 24"/>
          <p:cNvSpPr txBox="1">
            <a:spLocks noChangeArrowheads="1"/>
          </p:cNvSpPr>
          <p:nvPr/>
        </p:nvSpPr>
        <p:spPr bwMode="auto">
          <a:xfrm>
            <a:off x="6172200" y="4572000"/>
            <a:ext cx="325438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</a:t>
            </a:r>
          </a:p>
        </p:txBody>
      </p:sp>
      <p:sp>
        <p:nvSpPr>
          <p:cNvPr id="32793" name="Text Box 25"/>
          <p:cNvSpPr txBox="1">
            <a:spLocks noChangeArrowheads="1"/>
          </p:cNvSpPr>
          <p:nvPr/>
        </p:nvSpPr>
        <p:spPr bwMode="auto">
          <a:xfrm>
            <a:off x="915988" y="4648200"/>
            <a:ext cx="3222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</a:t>
            </a:r>
          </a:p>
        </p:txBody>
      </p:sp>
      <p:sp>
        <p:nvSpPr>
          <p:cNvPr id="32794" name="Text Box 26"/>
          <p:cNvSpPr txBox="1">
            <a:spLocks noChangeArrowheads="1"/>
          </p:cNvSpPr>
          <p:nvPr/>
        </p:nvSpPr>
        <p:spPr bwMode="auto">
          <a:xfrm>
            <a:off x="3276600" y="4724400"/>
            <a:ext cx="1058863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h or h-1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/>
              <a:t>Implementation</a:t>
            </a:r>
          </a:p>
        </p:txBody>
      </p:sp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3810000" y="3200400"/>
            <a:ext cx="381000" cy="381000"/>
          </a:xfrm>
          <a:prstGeom prst="rect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4191000" y="3200400"/>
            <a:ext cx="381000" cy="381000"/>
          </a:xfrm>
          <a:prstGeom prst="rect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3810000" y="2819400"/>
            <a:ext cx="762000" cy="381000"/>
          </a:xfrm>
          <a:prstGeom prst="rect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797" name="Line 5"/>
          <p:cNvSpPr>
            <a:spLocks noChangeShapeType="1"/>
          </p:cNvSpPr>
          <p:nvPr/>
        </p:nvSpPr>
        <p:spPr bwMode="auto">
          <a:xfrm flipH="1">
            <a:off x="3579813" y="3429000"/>
            <a:ext cx="460375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798" name="Line 6"/>
          <p:cNvSpPr>
            <a:spLocks noChangeShapeType="1"/>
          </p:cNvSpPr>
          <p:nvPr/>
        </p:nvSpPr>
        <p:spPr bwMode="auto">
          <a:xfrm>
            <a:off x="4419600" y="3429000"/>
            <a:ext cx="457200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799" name="Rectangle 7"/>
          <p:cNvSpPr>
            <a:spLocks noChangeArrowheads="1"/>
          </p:cNvSpPr>
          <p:nvPr/>
        </p:nvSpPr>
        <p:spPr bwMode="auto">
          <a:xfrm>
            <a:off x="3810000" y="2438400"/>
            <a:ext cx="762000" cy="381000"/>
          </a:xfrm>
          <a:prstGeom prst="rect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00" name="Text Box 8"/>
          <p:cNvSpPr txBox="1">
            <a:spLocks noChangeArrowheads="1"/>
          </p:cNvSpPr>
          <p:nvPr/>
        </p:nvSpPr>
        <p:spPr bwMode="auto">
          <a:xfrm>
            <a:off x="4630738" y="2373313"/>
            <a:ext cx="1965325" cy="3984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balance (1,0,-1)</a:t>
            </a:r>
          </a:p>
        </p:txBody>
      </p:sp>
      <p:sp>
        <p:nvSpPr>
          <p:cNvPr id="33801" name="Text Box 9"/>
          <p:cNvSpPr txBox="1">
            <a:spLocks noChangeArrowheads="1"/>
          </p:cNvSpPr>
          <p:nvPr/>
        </p:nvSpPr>
        <p:spPr bwMode="auto">
          <a:xfrm>
            <a:off x="4632325" y="2754313"/>
            <a:ext cx="577850" cy="3984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key</a:t>
            </a:r>
          </a:p>
        </p:txBody>
      </p:sp>
      <p:sp>
        <p:nvSpPr>
          <p:cNvPr id="33802" name="Text Box 10"/>
          <p:cNvSpPr txBox="1">
            <a:spLocks noChangeArrowheads="1"/>
          </p:cNvSpPr>
          <p:nvPr/>
        </p:nvSpPr>
        <p:spPr bwMode="auto">
          <a:xfrm>
            <a:off x="4708525" y="3211513"/>
            <a:ext cx="676275" cy="3984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right</a:t>
            </a:r>
          </a:p>
        </p:txBody>
      </p:sp>
      <p:sp>
        <p:nvSpPr>
          <p:cNvPr id="33803" name="Text Box 11"/>
          <p:cNvSpPr txBox="1">
            <a:spLocks noChangeArrowheads="1"/>
          </p:cNvSpPr>
          <p:nvPr/>
        </p:nvSpPr>
        <p:spPr bwMode="auto">
          <a:xfrm>
            <a:off x="3125788" y="3200400"/>
            <a:ext cx="51911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left</a:t>
            </a:r>
          </a:p>
        </p:txBody>
      </p:sp>
      <p:sp>
        <p:nvSpPr>
          <p:cNvPr id="33804" name="Text Box 12"/>
          <p:cNvSpPr txBox="1">
            <a:spLocks noChangeArrowheads="1"/>
          </p:cNvSpPr>
          <p:nvPr/>
        </p:nvSpPr>
        <p:spPr bwMode="auto">
          <a:xfrm>
            <a:off x="1066800" y="4191000"/>
            <a:ext cx="7543800" cy="180010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12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No need to keep the height; just the difference in height,            i.e. the balance factor; this has to be modified on the path of insertion even if you don’t perform rotations</a:t>
            </a:r>
          </a:p>
          <a:p>
            <a:pPr>
              <a:spcBef>
                <a:spcPts val="12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Once you have performed a rotation (single or double) you won’t need to go back up the tree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/>
              <a:t>Single Rotation</a:t>
            </a:r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992188" y="2057400"/>
            <a:ext cx="7038975" cy="2228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Courier New" pitchFamily="49" charset="0"/>
                <a:ea typeface="Droid Sans" charset="0"/>
                <a:cs typeface="Droid Sans" charset="0"/>
              </a:rPr>
              <a:t>RotateFromRight(n : reference node pointer) {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Courier New" pitchFamily="49" charset="0"/>
                <a:ea typeface="Droid Sans" charset="0"/>
                <a:cs typeface="Droid Sans" charset="0"/>
              </a:rPr>
              <a:t>p : node pointer;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Courier New" pitchFamily="49" charset="0"/>
                <a:ea typeface="Droid Sans" charset="0"/>
                <a:cs typeface="Droid Sans" charset="0"/>
              </a:rPr>
              <a:t>p := n.right;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Courier New" pitchFamily="49" charset="0"/>
                <a:ea typeface="Droid Sans" charset="0"/>
                <a:cs typeface="Droid Sans" charset="0"/>
              </a:rPr>
              <a:t>n.right := p.left;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Courier New" pitchFamily="49" charset="0"/>
                <a:ea typeface="Droid Sans" charset="0"/>
                <a:cs typeface="Droid Sans" charset="0"/>
              </a:rPr>
              <a:t>p.left := n;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Courier New" pitchFamily="49" charset="0"/>
                <a:ea typeface="Droid Sans" charset="0"/>
                <a:cs typeface="Droid Sans" charset="0"/>
              </a:rPr>
              <a:t>n := p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Courier New" pitchFamily="49" charset="0"/>
                <a:ea typeface="Droid Sans" charset="0"/>
                <a:cs typeface="Droid Sans" charset="0"/>
              </a:rPr>
              <a:t>}</a:t>
            </a:r>
          </a:p>
        </p:txBody>
      </p:sp>
      <p:sp>
        <p:nvSpPr>
          <p:cNvPr id="34819" name="Oval 3"/>
          <p:cNvSpPr>
            <a:spLocks noChangeArrowheads="1"/>
          </p:cNvSpPr>
          <p:nvPr/>
        </p:nvSpPr>
        <p:spPr bwMode="auto">
          <a:xfrm>
            <a:off x="5867400" y="3581400"/>
            <a:ext cx="304800" cy="304800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20" name="Oval 4"/>
          <p:cNvSpPr>
            <a:spLocks noChangeArrowheads="1"/>
          </p:cNvSpPr>
          <p:nvPr/>
        </p:nvSpPr>
        <p:spPr bwMode="auto">
          <a:xfrm>
            <a:off x="6553200" y="4267200"/>
            <a:ext cx="304800" cy="304800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21" name="AutoShape 5"/>
          <p:cNvSpPr>
            <a:spLocks noChangeArrowheads="1"/>
          </p:cNvSpPr>
          <p:nvPr/>
        </p:nvSpPr>
        <p:spPr bwMode="auto">
          <a:xfrm>
            <a:off x="5334000" y="4267200"/>
            <a:ext cx="457200" cy="6858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X</a:t>
            </a:r>
          </a:p>
        </p:txBody>
      </p:sp>
      <p:sp>
        <p:nvSpPr>
          <p:cNvPr id="34822" name="AutoShape 6"/>
          <p:cNvSpPr>
            <a:spLocks noChangeArrowheads="1"/>
          </p:cNvSpPr>
          <p:nvPr/>
        </p:nvSpPr>
        <p:spPr bwMode="auto">
          <a:xfrm>
            <a:off x="6096000" y="4953000"/>
            <a:ext cx="457200" cy="6858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Y</a:t>
            </a:r>
          </a:p>
        </p:txBody>
      </p:sp>
      <p:sp>
        <p:nvSpPr>
          <p:cNvPr id="34823" name="AutoShape 7"/>
          <p:cNvSpPr>
            <a:spLocks noChangeArrowheads="1"/>
          </p:cNvSpPr>
          <p:nvPr/>
        </p:nvSpPr>
        <p:spPr bwMode="auto">
          <a:xfrm>
            <a:off x="6934200" y="4953000"/>
            <a:ext cx="457200" cy="6858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Z</a:t>
            </a:r>
          </a:p>
        </p:txBody>
      </p:sp>
      <p:sp>
        <p:nvSpPr>
          <p:cNvPr id="34824" name="Line 8"/>
          <p:cNvSpPr>
            <a:spLocks noChangeShapeType="1"/>
          </p:cNvSpPr>
          <p:nvPr/>
        </p:nvSpPr>
        <p:spPr bwMode="auto">
          <a:xfrm flipH="1">
            <a:off x="5561013" y="3810000"/>
            <a:ext cx="307975" cy="4572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25" name="Line 9"/>
          <p:cNvSpPr>
            <a:spLocks noChangeShapeType="1"/>
          </p:cNvSpPr>
          <p:nvPr/>
        </p:nvSpPr>
        <p:spPr bwMode="auto">
          <a:xfrm>
            <a:off x="6172200" y="3733800"/>
            <a:ext cx="533400" cy="5334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26" name="Line 10"/>
          <p:cNvSpPr>
            <a:spLocks noChangeShapeType="1"/>
          </p:cNvSpPr>
          <p:nvPr/>
        </p:nvSpPr>
        <p:spPr bwMode="auto">
          <a:xfrm flipH="1">
            <a:off x="6323013" y="4495800"/>
            <a:ext cx="231775" cy="4572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27" name="Line 11"/>
          <p:cNvSpPr>
            <a:spLocks noChangeShapeType="1"/>
          </p:cNvSpPr>
          <p:nvPr/>
        </p:nvSpPr>
        <p:spPr bwMode="auto">
          <a:xfrm>
            <a:off x="6858000" y="4495800"/>
            <a:ext cx="304800" cy="4572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28" name="Line 12"/>
          <p:cNvSpPr>
            <a:spLocks noChangeShapeType="1"/>
          </p:cNvSpPr>
          <p:nvPr/>
        </p:nvSpPr>
        <p:spPr bwMode="auto">
          <a:xfrm flipH="1">
            <a:off x="6018213" y="3124200"/>
            <a:ext cx="231775" cy="4572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29" name="Text Box 13"/>
          <p:cNvSpPr txBox="1">
            <a:spLocks noChangeArrowheads="1"/>
          </p:cNvSpPr>
          <p:nvPr/>
        </p:nvSpPr>
        <p:spPr bwMode="auto">
          <a:xfrm>
            <a:off x="6173788" y="2743200"/>
            <a:ext cx="3222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n</a:t>
            </a:r>
          </a:p>
        </p:txBody>
      </p:sp>
      <p:sp>
        <p:nvSpPr>
          <p:cNvPr id="34830" name="Text Box 14"/>
          <p:cNvSpPr txBox="1">
            <a:spLocks noChangeArrowheads="1"/>
          </p:cNvSpPr>
          <p:nvPr/>
        </p:nvSpPr>
        <p:spPr bwMode="auto">
          <a:xfrm>
            <a:off x="1143000" y="4419600"/>
            <a:ext cx="2438400" cy="13128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12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You also need to modify the heights or balance factors of  n and p</a:t>
            </a:r>
          </a:p>
        </p:txBody>
      </p:sp>
      <p:sp>
        <p:nvSpPr>
          <p:cNvPr id="34831" name="Line 15"/>
          <p:cNvSpPr>
            <a:spLocks noChangeShapeType="1"/>
          </p:cNvSpPr>
          <p:nvPr/>
        </p:nvSpPr>
        <p:spPr bwMode="auto">
          <a:xfrm>
            <a:off x="7696200" y="5257800"/>
            <a:ext cx="609600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832" name="Text Box 16"/>
          <p:cNvSpPr txBox="1">
            <a:spLocks noChangeArrowheads="1"/>
          </p:cNvSpPr>
          <p:nvPr/>
        </p:nvSpPr>
        <p:spPr bwMode="auto">
          <a:xfrm>
            <a:off x="7696200" y="4945063"/>
            <a:ext cx="914400" cy="3984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12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Insert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/>
              <a:t>Double Rotation</a:t>
            </a: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685800"/>
          </a:xfrm>
          <a:ln/>
        </p:spPr>
        <p:txBody>
          <a:bodyPr/>
          <a:lstStyle/>
          <a:p>
            <a:pPr marL="341313" indent="-341313"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Implement Double Rotation in two lines.</a:t>
            </a:r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839788" y="2971800"/>
            <a:ext cx="7953375" cy="10080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000000"/>
                </a:solidFill>
                <a:latin typeface="Courier New" pitchFamily="49" charset="0"/>
                <a:ea typeface="Droid Sans" charset="0"/>
                <a:cs typeface="Droid Sans" charset="0"/>
              </a:rPr>
              <a:t>DoubleRotateFromRight(n : reference node pointer) {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000000"/>
                </a:solidFill>
                <a:latin typeface="Courier New" pitchFamily="49" charset="0"/>
                <a:ea typeface="Droid Sans" charset="0"/>
                <a:cs typeface="Droid Sans" charset="0"/>
              </a:rPr>
              <a:t>????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000000"/>
                </a:solidFill>
                <a:latin typeface="Courier New" pitchFamily="49" charset="0"/>
                <a:ea typeface="Droid Sans" charset="0"/>
                <a:cs typeface="Droid Sans" charset="0"/>
              </a:rPr>
              <a:t>}</a:t>
            </a:r>
          </a:p>
        </p:txBody>
      </p:sp>
      <p:sp>
        <p:nvSpPr>
          <p:cNvPr id="35844" name="Oval 4"/>
          <p:cNvSpPr>
            <a:spLocks noChangeArrowheads="1"/>
          </p:cNvSpPr>
          <p:nvPr/>
        </p:nvSpPr>
        <p:spPr bwMode="auto">
          <a:xfrm>
            <a:off x="6096000" y="3962400"/>
            <a:ext cx="304800" cy="304800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5" name="Oval 5"/>
          <p:cNvSpPr>
            <a:spLocks noChangeArrowheads="1"/>
          </p:cNvSpPr>
          <p:nvPr/>
        </p:nvSpPr>
        <p:spPr bwMode="auto">
          <a:xfrm>
            <a:off x="6781800" y="4648200"/>
            <a:ext cx="304800" cy="304800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6" name="AutoShape 6"/>
          <p:cNvSpPr>
            <a:spLocks noChangeArrowheads="1"/>
          </p:cNvSpPr>
          <p:nvPr/>
        </p:nvSpPr>
        <p:spPr bwMode="auto">
          <a:xfrm>
            <a:off x="5562600" y="4648200"/>
            <a:ext cx="457200" cy="5334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000000"/>
                </a:solidFill>
                <a:latin typeface="Arial" pitchFamily="34" charset="0"/>
                <a:ea typeface="Droid Sans" charset="0"/>
                <a:cs typeface="Droid Sans" charset="0"/>
              </a:rPr>
              <a:t>X</a:t>
            </a:r>
          </a:p>
        </p:txBody>
      </p:sp>
      <p:sp>
        <p:nvSpPr>
          <p:cNvPr id="35847" name="Line 7"/>
          <p:cNvSpPr>
            <a:spLocks noChangeShapeType="1"/>
          </p:cNvSpPr>
          <p:nvPr/>
        </p:nvSpPr>
        <p:spPr bwMode="auto">
          <a:xfrm flipH="1">
            <a:off x="5789613" y="4191000"/>
            <a:ext cx="307975" cy="4572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848" name="Line 8"/>
          <p:cNvSpPr>
            <a:spLocks noChangeShapeType="1"/>
          </p:cNvSpPr>
          <p:nvPr/>
        </p:nvSpPr>
        <p:spPr bwMode="auto">
          <a:xfrm>
            <a:off x="6400800" y="4114800"/>
            <a:ext cx="533400" cy="5334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>
            <a:off x="6551613" y="4876800"/>
            <a:ext cx="231775" cy="4572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850" name="Line 10"/>
          <p:cNvSpPr>
            <a:spLocks noChangeShapeType="1"/>
          </p:cNvSpPr>
          <p:nvPr/>
        </p:nvSpPr>
        <p:spPr bwMode="auto">
          <a:xfrm>
            <a:off x="7086600" y="4876800"/>
            <a:ext cx="304800" cy="4572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851" name="Line 11"/>
          <p:cNvSpPr>
            <a:spLocks noChangeShapeType="1"/>
          </p:cNvSpPr>
          <p:nvPr/>
        </p:nvSpPr>
        <p:spPr bwMode="auto">
          <a:xfrm flipH="1">
            <a:off x="6246813" y="3733800"/>
            <a:ext cx="155575" cy="2286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852" name="Text Box 12"/>
          <p:cNvSpPr txBox="1">
            <a:spLocks noChangeArrowheads="1"/>
          </p:cNvSpPr>
          <p:nvPr/>
        </p:nvSpPr>
        <p:spPr bwMode="auto">
          <a:xfrm>
            <a:off x="6402388" y="3276600"/>
            <a:ext cx="3222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000000"/>
                </a:solidFill>
                <a:latin typeface="Arial" pitchFamily="34" charset="0"/>
                <a:ea typeface="Droid Sans" charset="0"/>
                <a:cs typeface="Droid Sans" charset="0"/>
              </a:rPr>
              <a:t>n</a:t>
            </a:r>
          </a:p>
        </p:txBody>
      </p:sp>
      <p:sp>
        <p:nvSpPr>
          <p:cNvPr id="35853" name="Oval 13"/>
          <p:cNvSpPr>
            <a:spLocks noChangeArrowheads="1"/>
          </p:cNvSpPr>
          <p:nvPr/>
        </p:nvSpPr>
        <p:spPr bwMode="auto">
          <a:xfrm>
            <a:off x="6400800" y="5334000"/>
            <a:ext cx="304800" cy="304800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4" name="Line 14"/>
          <p:cNvSpPr>
            <a:spLocks noChangeShapeType="1"/>
          </p:cNvSpPr>
          <p:nvPr/>
        </p:nvSpPr>
        <p:spPr bwMode="auto">
          <a:xfrm>
            <a:off x="6705600" y="5562600"/>
            <a:ext cx="304800" cy="4572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855" name="AutoShape 15"/>
          <p:cNvSpPr>
            <a:spLocks noChangeArrowheads="1"/>
          </p:cNvSpPr>
          <p:nvPr/>
        </p:nvSpPr>
        <p:spPr bwMode="auto">
          <a:xfrm>
            <a:off x="5943600" y="5943600"/>
            <a:ext cx="457200" cy="5334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000000"/>
                </a:solidFill>
                <a:latin typeface="Arial" pitchFamily="34" charset="0"/>
                <a:ea typeface="Droid Sans" charset="0"/>
                <a:cs typeface="Droid Sans" charset="0"/>
              </a:rPr>
              <a:t>V</a:t>
            </a:r>
          </a:p>
        </p:txBody>
      </p:sp>
      <p:sp>
        <p:nvSpPr>
          <p:cNvPr id="35856" name="AutoShape 16"/>
          <p:cNvSpPr>
            <a:spLocks noChangeArrowheads="1"/>
          </p:cNvSpPr>
          <p:nvPr/>
        </p:nvSpPr>
        <p:spPr bwMode="auto">
          <a:xfrm>
            <a:off x="6781800" y="5943600"/>
            <a:ext cx="457200" cy="5334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000000"/>
                </a:solidFill>
                <a:latin typeface="Arial" pitchFamily="34" charset="0"/>
                <a:ea typeface="Droid Sans" charset="0"/>
                <a:cs typeface="Droid Sans" charset="0"/>
              </a:rPr>
              <a:t>W</a:t>
            </a:r>
          </a:p>
        </p:txBody>
      </p:sp>
      <p:sp>
        <p:nvSpPr>
          <p:cNvPr id="35857" name="AutoShape 17"/>
          <p:cNvSpPr>
            <a:spLocks noChangeArrowheads="1"/>
          </p:cNvSpPr>
          <p:nvPr/>
        </p:nvSpPr>
        <p:spPr bwMode="auto">
          <a:xfrm>
            <a:off x="7162800" y="5257800"/>
            <a:ext cx="457200" cy="5334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000000"/>
                </a:solidFill>
                <a:latin typeface="Arial" pitchFamily="34" charset="0"/>
                <a:ea typeface="Droid Sans" charset="0"/>
                <a:cs typeface="Droid Sans" charset="0"/>
              </a:rPr>
              <a:t>Z</a:t>
            </a:r>
          </a:p>
        </p:txBody>
      </p:sp>
      <p:sp>
        <p:nvSpPr>
          <p:cNvPr id="35858" name="Line 18"/>
          <p:cNvSpPr>
            <a:spLocks noChangeShapeType="1"/>
          </p:cNvSpPr>
          <p:nvPr/>
        </p:nvSpPr>
        <p:spPr bwMode="auto">
          <a:xfrm flipH="1">
            <a:off x="6170613" y="5562600"/>
            <a:ext cx="231775" cy="4572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/>
              <a:t>Insertion in AVL Trees</a:t>
            </a:r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229600" cy="4114800"/>
          </a:xfrm>
          <a:ln/>
        </p:spPr>
        <p:txBody>
          <a:bodyPr/>
          <a:lstStyle/>
          <a:p>
            <a:pPr marL="341313" indent="-341313"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Insert at the leaf (as for all BST)</a:t>
            </a:r>
          </a:p>
          <a:p>
            <a:pPr marL="741363" lvl="1" indent="-284163">
              <a:buClr>
                <a:srgbClr val="FF0000"/>
              </a:buClr>
              <a:buFont typeface="Arial" pitchFamily="34" charset="0"/>
              <a:buChar char="›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only nodes on the path from insertion point to root node have possibly changed in height</a:t>
            </a:r>
          </a:p>
          <a:p>
            <a:pPr marL="741363" lvl="1" indent="-284163">
              <a:buFont typeface="Arial" pitchFamily="34" charset="0"/>
              <a:buChar char="›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So after the Insert, go back up to the root node by node, updating heights</a:t>
            </a:r>
          </a:p>
          <a:p>
            <a:pPr marL="741363" lvl="1" indent="-284163">
              <a:buFont typeface="Arial" pitchFamily="34" charset="0"/>
              <a:buChar char="›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If a new balance factor (the difference h</a:t>
            </a:r>
            <a:r>
              <a:rPr lang="en-US" baseline="-25000"/>
              <a:t>left</a:t>
            </a:r>
            <a:r>
              <a:rPr lang="en-US"/>
              <a:t>-h</a:t>
            </a:r>
            <a:r>
              <a:rPr lang="en-US" baseline="-25000"/>
              <a:t>right</a:t>
            </a:r>
            <a:r>
              <a:rPr lang="en-US"/>
              <a:t>) is 2 or –2, adjust tree by </a:t>
            </a:r>
            <a:r>
              <a:rPr lang="en-US" i="1"/>
              <a:t>rotation</a:t>
            </a:r>
            <a:r>
              <a:rPr lang="en-US"/>
              <a:t> around the node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/>
              <a:t>Insert in BST</a:t>
            </a:r>
          </a:p>
        </p:txBody>
      </p:sp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685800" y="2057400"/>
            <a:ext cx="7696200" cy="27701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>
                <a:solidFill>
                  <a:srgbClr val="000000"/>
                </a:solidFill>
                <a:latin typeface="Courier New" pitchFamily="49" charset="0"/>
                <a:ea typeface="Droid Sans" charset="0"/>
                <a:cs typeface="Droid Sans" charset="0"/>
              </a:rPr>
              <a:t>Insert(T : </a:t>
            </a:r>
            <a:r>
              <a:rPr lang="en-US" sz="1600">
                <a:solidFill>
                  <a:srgbClr val="00CC99"/>
                </a:solidFill>
                <a:latin typeface="Courier New" pitchFamily="49" charset="0"/>
                <a:ea typeface="Droid Sans" charset="0"/>
                <a:cs typeface="Droid Sans" charset="0"/>
              </a:rPr>
              <a:t>reference</a:t>
            </a:r>
            <a:r>
              <a:rPr lang="en-US" sz="1600">
                <a:solidFill>
                  <a:srgbClr val="000000"/>
                </a:solidFill>
                <a:latin typeface="Courier New" pitchFamily="49" charset="0"/>
                <a:ea typeface="Droid Sans" charset="0"/>
                <a:cs typeface="Droid Sans" charset="0"/>
              </a:rPr>
              <a:t> tree pointer, x : element) : </a:t>
            </a:r>
            <a:r>
              <a:rPr lang="en-US" sz="1600">
                <a:solidFill>
                  <a:srgbClr val="00CC99"/>
                </a:solidFill>
                <a:latin typeface="Courier New" pitchFamily="49" charset="0"/>
                <a:ea typeface="Droid Sans" charset="0"/>
                <a:cs typeface="Droid Sans" charset="0"/>
              </a:rPr>
              <a:t>integer</a:t>
            </a:r>
            <a:r>
              <a:rPr lang="en-US" sz="1600">
                <a:solidFill>
                  <a:srgbClr val="000000"/>
                </a:solidFill>
                <a:latin typeface="Courier New" pitchFamily="49" charset="0"/>
                <a:ea typeface="Droid Sans" charset="0"/>
                <a:cs typeface="Droid Sans" charset="0"/>
              </a:rPr>
              <a:t> {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>
                <a:solidFill>
                  <a:srgbClr val="000000"/>
                </a:solidFill>
                <a:latin typeface="Courier New" pitchFamily="49" charset="0"/>
                <a:ea typeface="Droid Sans" charset="0"/>
                <a:cs typeface="Droid Sans" charset="0"/>
              </a:rPr>
              <a:t>if T = null then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>
                <a:solidFill>
                  <a:srgbClr val="000000"/>
                </a:solidFill>
                <a:latin typeface="Courier New" pitchFamily="49" charset="0"/>
                <a:ea typeface="Droid Sans" charset="0"/>
                <a:cs typeface="Droid Sans" charset="0"/>
              </a:rPr>
              <a:t>  T := new tree; T.data := x; return 1;//the links to                             					  //children are null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>
                <a:solidFill>
                  <a:srgbClr val="000000"/>
                </a:solidFill>
                <a:latin typeface="Courier New" pitchFamily="49" charset="0"/>
                <a:ea typeface="Droid Sans" charset="0"/>
                <a:cs typeface="Droid Sans" charset="0"/>
              </a:rPr>
              <a:t>case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>
                <a:solidFill>
                  <a:srgbClr val="000000"/>
                </a:solidFill>
                <a:latin typeface="Courier New" pitchFamily="49" charset="0"/>
                <a:ea typeface="Droid Sans" charset="0"/>
                <a:cs typeface="Droid Sans" charset="0"/>
              </a:rPr>
              <a:t>  T.data = x : return 0; //Duplicate do nothing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>
                <a:solidFill>
                  <a:srgbClr val="000000"/>
                </a:solidFill>
                <a:latin typeface="Courier New" pitchFamily="49" charset="0"/>
                <a:ea typeface="Droid Sans" charset="0"/>
                <a:cs typeface="Droid Sans" charset="0"/>
              </a:rPr>
              <a:t>  T.data &gt; x : return Insert(T.left, x);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>
                <a:solidFill>
                  <a:srgbClr val="000000"/>
                </a:solidFill>
                <a:latin typeface="Courier New" pitchFamily="49" charset="0"/>
                <a:ea typeface="Droid Sans" charset="0"/>
                <a:cs typeface="Droid Sans" charset="0"/>
              </a:rPr>
              <a:t>  T.data &lt; x : return Insert(T.right, x);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>
                <a:solidFill>
                  <a:srgbClr val="000000"/>
                </a:solidFill>
                <a:latin typeface="Courier New" pitchFamily="49" charset="0"/>
                <a:ea typeface="Droid Sans" charset="0"/>
                <a:cs typeface="Droid Sans" charset="0"/>
              </a:rPr>
              <a:t>endcase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>
                <a:solidFill>
                  <a:srgbClr val="000000"/>
                </a:solidFill>
                <a:latin typeface="Courier New" pitchFamily="49" charset="0"/>
                <a:ea typeface="Droid Sans" charset="0"/>
                <a:cs typeface="Droid Sans" charset="0"/>
              </a:rPr>
              <a:t>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/>
              <a:t>Insert in AVL trees</a:t>
            </a:r>
          </a:p>
        </p:txBody>
      </p:sp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685800" y="2057400"/>
            <a:ext cx="7696200" cy="42802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>
                <a:latin typeface="Courier New" pitchFamily="49" charset="0"/>
                <a:ea typeface="Droid Sans" charset="0"/>
                <a:cs typeface="Droid Sans" charset="0"/>
              </a:rPr>
              <a:t>Insert(T : reference tree pointer, x : element) : {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>
                <a:latin typeface="Courier New" pitchFamily="49" charset="0"/>
                <a:ea typeface="Droid Sans" charset="0"/>
                <a:cs typeface="Droid Sans" charset="0"/>
              </a:rPr>
              <a:t>if T = null then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>
                <a:latin typeface="Courier New" pitchFamily="49" charset="0"/>
                <a:ea typeface="Droid Sans" charset="0"/>
                <a:cs typeface="Droid Sans" charset="0"/>
              </a:rPr>
              <a:t>  {T := new tree; T.data := x; height := 0; return;}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>
                <a:latin typeface="Courier New" pitchFamily="49" charset="0"/>
                <a:ea typeface="Droid Sans" charset="0"/>
                <a:cs typeface="Droid Sans" charset="0"/>
              </a:rPr>
              <a:t>case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>
                <a:latin typeface="Courier New" pitchFamily="49" charset="0"/>
                <a:ea typeface="Droid Sans" charset="0"/>
                <a:cs typeface="Droid Sans" charset="0"/>
              </a:rPr>
              <a:t>  T.data = x : return ; //Duplicate do nothing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>
                <a:latin typeface="Courier New" pitchFamily="49" charset="0"/>
                <a:ea typeface="Droid Sans" charset="0"/>
                <a:cs typeface="Droid Sans" charset="0"/>
              </a:rPr>
              <a:t>  T.data &gt; x : Insert(T.left, x);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>
                <a:latin typeface="Courier New" pitchFamily="49" charset="0"/>
                <a:ea typeface="Droid Sans" charset="0"/>
                <a:cs typeface="Droid Sans" charset="0"/>
              </a:rPr>
              <a:t>               if ((height(T.left)- height(T.right)) = 2){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>
                <a:latin typeface="Courier New" pitchFamily="49" charset="0"/>
                <a:ea typeface="Droid Sans" charset="0"/>
                <a:cs typeface="Droid Sans" charset="0"/>
              </a:rPr>
              <a:t>                  if (T.left.data &gt; x ) then //outside case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>
                <a:latin typeface="Courier New" pitchFamily="49" charset="0"/>
                <a:ea typeface="Droid Sans" charset="0"/>
                <a:cs typeface="Droid Sans" charset="0"/>
              </a:rPr>
              <a:t>                         T = RotatefromLeft (T);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>
                <a:latin typeface="Courier New" pitchFamily="49" charset="0"/>
                <a:ea typeface="Droid Sans" charset="0"/>
                <a:cs typeface="Droid Sans" charset="0"/>
              </a:rPr>
              <a:t>                  else                       //inside case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>
                <a:latin typeface="Courier New" pitchFamily="49" charset="0"/>
                <a:ea typeface="Droid Sans" charset="0"/>
                <a:cs typeface="Droid Sans" charset="0"/>
              </a:rPr>
              <a:t>                         T = DoubleRotatefromLeft (T);}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>
                <a:latin typeface="Courier New" pitchFamily="49" charset="0"/>
                <a:ea typeface="Droid Sans" charset="0"/>
                <a:cs typeface="Droid Sans" charset="0"/>
              </a:rPr>
              <a:t>  T.data &lt; x :  Insert(T.right, x);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>
                <a:latin typeface="Courier New" pitchFamily="49" charset="0"/>
                <a:ea typeface="Droid Sans" charset="0"/>
                <a:cs typeface="Droid Sans" charset="0"/>
              </a:rPr>
              <a:t>                code similar to the left case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>
                <a:latin typeface="Courier New" pitchFamily="49" charset="0"/>
                <a:ea typeface="Droid Sans" charset="0"/>
                <a:cs typeface="Droid Sans" charset="0"/>
              </a:rPr>
              <a:t>Endcase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>
                <a:latin typeface="Courier New" pitchFamily="49" charset="0"/>
                <a:ea typeface="Droid Sans" charset="0"/>
                <a:cs typeface="Droid Sans" charset="0"/>
              </a:rPr>
              <a:t>  T.height := max(height(T.left),height(T.right)) +1;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>
                <a:latin typeface="Courier New" pitchFamily="49" charset="0"/>
                <a:ea typeface="Droid Sans" charset="0"/>
                <a:cs typeface="Droid Sans" charset="0"/>
              </a:rPr>
              <a:t>  return;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>
                <a:latin typeface="Courier New" pitchFamily="49" charset="0"/>
                <a:ea typeface="Droid Sans" charset="0"/>
                <a:cs typeface="Droid Sans" charset="0"/>
              </a:rPr>
              <a:t>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463550"/>
            <a:ext cx="7772400" cy="14351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/>
              <a:t>Example of Insertions in an AVL Tree</a:t>
            </a:r>
          </a:p>
        </p:txBody>
      </p:sp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3582988" y="27432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3333CC"/>
                </a:solidFill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2895600" y="3352800"/>
            <a:ext cx="31115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3333CC"/>
                </a:solidFill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2662238" y="21336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3333CC"/>
                </a:solidFill>
                <a:ea typeface="Droid Sans" charset="0"/>
                <a:cs typeface="Droid Sans" charset="0"/>
              </a:rPr>
              <a:t>2</a:t>
            </a:r>
          </a:p>
        </p:txBody>
      </p:sp>
      <p:sp>
        <p:nvSpPr>
          <p:cNvPr id="39941" name="Oval 5"/>
          <p:cNvSpPr>
            <a:spLocks noChangeArrowheads="1"/>
          </p:cNvSpPr>
          <p:nvPr/>
        </p:nvSpPr>
        <p:spPr bwMode="auto">
          <a:xfrm>
            <a:off x="2590800" y="24384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0000"/>
                </a:solidFill>
                <a:ea typeface="Droid Sans" charset="0"/>
                <a:cs typeface="Droid Sans" charset="0"/>
              </a:rPr>
              <a:t>20</a:t>
            </a:r>
          </a:p>
        </p:txBody>
      </p:sp>
      <p:sp>
        <p:nvSpPr>
          <p:cNvPr id="39942" name="Oval 6"/>
          <p:cNvSpPr>
            <a:spLocks noChangeArrowheads="1"/>
          </p:cNvSpPr>
          <p:nvPr/>
        </p:nvSpPr>
        <p:spPr bwMode="auto">
          <a:xfrm>
            <a:off x="1524000" y="30480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0000"/>
                </a:solidFill>
                <a:ea typeface="Droid Sans" charset="0"/>
                <a:cs typeface="Droid Sans" charset="0"/>
              </a:rPr>
              <a:t>10</a:t>
            </a:r>
          </a:p>
        </p:txBody>
      </p:sp>
      <p:sp>
        <p:nvSpPr>
          <p:cNvPr id="39943" name="Oval 7"/>
          <p:cNvSpPr>
            <a:spLocks noChangeArrowheads="1"/>
          </p:cNvSpPr>
          <p:nvPr/>
        </p:nvSpPr>
        <p:spPr bwMode="auto">
          <a:xfrm>
            <a:off x="3505200" y="30480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0000"/>
                </a:solidFill>
                <a:ea typeface="Droid Sans" charset="0"/>
                <a:cs typeface="Droid Sans" charset="0"/>
              </a:rPr>
              <a:t>30</a:t>
            </a:r>
          </a:p>
        </p:txBody>
      </p:sp>
      <p:sp>
        <p:nvSpPr>
          <p:cNvPr id="39944" name="Oval 8"/>
          <p:cNvSpPr>
            <a:spLocks noChangeArrowheads="1"/>
          </p:cNvSpPr>
          <p:nvPr/>
        </p:nvSpPr>
        <p:spPr bwMode="auto">
          <a:xfrm>
            <a:off x="2895600" y="3749675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0000"/>
                </a:solidFill>
                <a:ea typeface="Droid Sans" charset="0"/>
                <a:cs typeface="Droid Sans" charset="0"/>
              </a:rPr>
              <a:t>25</a:t>
            </a:r>
          </a:p>
        </p:txBody>
      </p:sp>
      <p:cxnSp>
        <p:nvCxnSpPr>
          <p:cNvPr id="39945" name="AutoShape 9"/>
          <p:cNvCxnSpPr>
            <a:cxnSpLocks noChangeShapeType="1"/>
            <a:stCxn id="39941" idx="3"/>
            <a:endCxn id="39942" idx="7"/>
          </p:cNvCxnSpPr>
          <p:nvPr/>
        </p:nvCxnSpPr>
        <p:spPr bwMode="auto">
          <a:xfrm flipH="1">
            <a:off x="1914525" y="2828925"/>
            <a:ext cx="742950" cy="287338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39946" name="AutoShape 10"/>
          <p:cNvCxnSpPr>
            <a:cxnSpLocks noChangeShapeType="1"/>
            <a:stCxn id="39941" idx="5"/>
            <a:endCxn id="39943" idx="1"/>
          </p:cNvCxnSpPr>
          <p:nvPr/>
        </p:nvCxnSpPr>
        <p:spPr bwMode="auto">
          <a:xfrm>
            <a:off x="2981325" y="2828925"/>
            <a:ext cx="592138" cy="287338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39947" name="AutoShape 11"/>
          <p:cNvCxnSpPr>
            <a:cxnSpLocks noChangeShapeType="1"/>
            <a:stCxn id="39943" idx="3"/>
            <a:endCxn id="39944" idx="0"/>
          </p:cNvCxnSpPr>
          <p:nvPr/>
        </p:nvCxnSpPr>
        <p:spPr bwMode="auto">
          <a:xfrm flipH="1">
            <a:off x="3124200" y="3438525"/>
            <a:ext cx="447675" cy="31115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39948" name="Text Box 12"/>
          <p:cNvSpPr txBox="1">
            <a:spLocks noChangeArrowheads="1"/>
          </p:cNvSpPr>
          <p:nvPr/>
        </p:nvSpPr>
        <p:spPr bwMode="auto">
          <a:xfrm>
            <a:off x="1595438" y="27432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3333CC"/>
                </a:solidFill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39949" name="Oval 13"/>
          <p:cNvSpPr>
            <a:spLocks noChangeArrowheads="1"/>
          </p:cNvSpPr>
          <p:nvPr/>
        </p:nvSpPr>
        <p:spPr bwMode="auto">
          <a:xfrm>
            <a:off x="3962400" y="37338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0000"/>
                </a:solidFill>
                <a:ea typeface="Droid Sans" charset="0"/>
                <a:cs typeface="Droid Sans" charset="0"/>
              </a:rPr>
              <a:t>35</a:t>
            </a:r>
          </a:p>
        </p:txBody>
      </p:sp>
      <p:sp>
        <p:nvSpPr>
          <p:cNvPr id="39950" name="Line 14"/>
          <p:cNvSpPr>
            <a:spLocks noChangeShapeType="1"/>
          </p:cNvSpPr>
          <p:nvPr/>
        </p:nvSpPr>
        <p:spPr bwMode="auto">
          <a:xfrm>
            <a:off x="3886200" y="3429000"/>
            <a:ext cx="228600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951" name="Text Box 15"/>
          <p:cNvSpPr txBox="1">
            <a:spLocks noChangeArrowheads="1"/>
          </p:cNvSpPr>
          <p:nvPr/>
        </p:nvSpPr>
        <p:spPr bwMode="auto">
          <a:xfrm>
            <a:off x="4114800" y="3352800"/>
            <a:ext cx="31115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3333CC"/>
                </a:solidFill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39952" name="Text Box 16"/>
          <p:cNvSpPr txBox="1">
            <a:spLocks noChangeArrowheads="1"/>
          </p:cNvSpPr>
          <p:nvPr/>
        </p:nvSpPr>
        <p:spPr bwMode="auto">
          <a:xfrm>
            <a:off x="4800600" y="2590800"/>
            <a:ext cx="213360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12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000000"/>
                </a:solidFill>
                <a:latin typeface="Arial" pitchFamily="34" charset="0"/>
                <a:ea typeface="Droid Sans" charset="0"/>
                <a:cs typeface="Droid Sans" charset="0"/>
              </a:rPr>
              <a:t>Insert 5, 40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463550"/>
            <a:ext cx="7772400" cy="14351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/>
              <a:t>Example of Insertions in an AVL Tree</a:t>
            </a:r>
          </a:p>
        </p:txBody>
      </p:sp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3582988" y="27432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3333CC"/>
                </a:solidFill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2895600" y="3352800"/>
            <a:ext cx="31115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3333CC"/>
                </a:solidFill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2662238" y="21336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FF0000"/>
                </a:solidFill>
                <a:ea typeface="Droid Sans" charset="0"/>
                <a:cs typeface="Droid Sans" charset="0"/>
              </a:rPr>
              <a:t>2</a:t>
            </a:r>
          </a:p>
        </p:txBody>
      </p:sp>
      <p:sp>
        <p:nvSpPr>
          <p:cNvPr id="40965" name="Oval 5"/>
          <p:cNvSpPr>
            <a:spLocks noChangeArrowheads="1"/>
          </p:cNvSpPr>
          <p:nvPr/>
        </p:nvSpPr>
        <p:spPr bwMode="auto">
          <a:xfrm>
            <a:off x="2590800" y="24384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0000"/>
                </a:solidFill>
                <a:ea typeface="Droid Sans" charset="0"/>
                <a:cs typeface="Droid Sans" charset="0"/>
              </a:rPr>
              <a:t>20</a:t>
            </a:r>
          </a:p>
        </p:txBody>
      </p:sp>
      <p:sp>
        <p:nvSpPr>
          <p:cNvPr id="40966" name="Oval 6"/>
          <p:cNvSpPr>
            <a:spLocks noChangeArrowheads="1"/>
          </p:cNvSpPr>
          <p:nvPr/>
        </p:nvSpPr>
        <p:spPr bwMode="auto">
          <a:xfrm>
            <a:off x="1524000" y="30480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0000"/>
                </a:solidFill>
                <a:ea typeface="Droid Sans" charset="0"/>
                <a:cs typeface="Droid Sans" charset="0"/>
              </a:rPr>
              <a:t>10</a:t>
            </a:r>
          </a:p>
        </p:txBody>
      </p:sp>
      <p:sp>
        <p:nvSpPr>
          <p:cNvPr id="40967" name="Oval 7"/>
          <p:cNvSpPr>
            <a:spLocks noChangeArrowheads="1"/>
          </p:cNvSpPr>
          <p:nvPr/>
        </p:nvSpPr>
        <p:spPr bwMode="auto">
          <a:xfrm>
            <a:off x="3505200" y="30480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0000"/>
                </a:solidFill>
                <a:ea typeface="Droid Sans" charset="0"/>
                <a:cs typeface="Droid Sans" charset="0"/>
              </a:rPr>
              <a:t>30</a:t>
            </a:r>
          </a:p>
        </p:txBody>
      </p:sp>
      <p:sp>
        <p:nvSpPr>
          <p:cNvPr id="40968" name="Oval 8"/>
          <p:cNvSpPr>
            <a:spLocks noChangeArrowheads="1"/>
          </p:cNvSpPr>
          <p:nvPr/>
        </p:nvSpPr>
        <p:spPr bwMode="auto">
          <a:xfrm>
            <a:off x="2895600" y="3749675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0000"/>
                </a:solidFill>
                <a:ea typeface="Droid Sans" charset="0"/>
                <a:cs typeface="Droid Sans" charset="0"/>
              </a:rPr>
              <a:t>25</a:t>
            </a:r>
          </a:p>
        </p:txBody>
      </p:sp>
      <p:cxnSp>
        <p:nvCxnSpPr>
          <p:cNvPr id="40969" name="AutoShape 9"/>
          <p:cNvCxnSpPr>
            <a:cxnSpLocks noChangeShapeType="1"/>
            <a:stCxn id="40965" idx="3"/>
            <a:endCxn id="40966" idx="7"/>
          </p:cNvCxnSpPr>
          <p:nvPr/>
        </p:nvCxnSpPr>
        <p:spPr bwMode="auto">
          <a:xfrm flipH="1">
            <a:off x="1914525" y="2828925"/>
            <a:ext cx="742950" cy="287338"/>
          </a:xfrm>
          <a:prstGeom prst="straightConnector1">
            <a:avLst/>
          </a:prstGeom>
          <a:noFill/>
          <a:ln w="28440">
            <a:solidFill>
              <a:srgbClr val="FF0000"/>
            </a:solidFill>
            <a:miter lim="800000"/>
            <a:headEnd/>
            <a:tailEnd/>
          </a:ln>
          <a:effectLst/>
        </p:spPr>
      </p:cxnSp>
      <p:cxnSp>
        <p:nvCxnSpPr>
          <p:cNvPr id="40970" name="AutoShape 10"/>
          <p:cNvCxnSpPr>
            <a:cxnSpLocks noChangeShapeType="1"/>
            <a:stCxn id="40965" idx="5"/>
            <a:endCxn id="40967" idx="1"/>
          </p:cNvCxnSpPr>
          <p:nvPr/>
        </p:nvCxnSpPr>
        <p:spPr bwMode="auto">
          <a:xfrm>
            <a:off x="2981325" y="2828925"/>
            <a:ext cx="592138" cy="287338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40971" name="AutoShape 11"/>
          <p:cNvCxnSpPr>
            <a:cxnSpLocks noChangeShapeType="1"/>
            <a:stCxn id="40967" idx="3"/>
            <a:endCxn id="40968" idx="0"/>
          </p:cNvCxnSpPr>
          <p:nvPr/>
        </p:nvCxnSpPr>
        <p:spPr bwMode="auto">
          <a:xfrm flipH="1">
            <a:off x="3124200" y="3438525"/>
            <a:ext cx="447675" cy="31115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40972" name="Text Box 12"/>
          <p:cNvSpPr txBox="1">
            <a:spLocks noChangeArrowheads="1"/>
          </p:cNvSpPr>
          <p:nvPr/>
        </p:nvSpPr>
        <p:spPr bwMode="auto">
          <a:xfrm>
            <a:off x="1595438" y="27432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FF0000"/>
                </a:solidFill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40973" name="Oval 13"/>
          <p:cNvSpPr>
            <a:spLocks noChangeArrowheads="1"/>
          </p:cNvSpPr>
          <p:nvPr/>
        </p:nvSpPr>
        <p:spPr bwMode="auto">
          <a:xfrm>
            <a:off x="3962400" y="37338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0000"/>
                </a:solidFill>
                <a:ea typeface="Droid Sans" charset="0"/>
                <a:cs typeface="Droid Sans" charset="0"/>
              </a:rPr>
              <a:t>35</a:t>
            </a:r>
          </a:p>
        </p:txBody>
      </p:sp>
      <p:sp>
        <p:nvSpPr>
          <p:cNvPr id="40974" name="Line 14"/>
          <p:cNvSpPr>
            <a:spLocks noChangeShapeType="1"/>
          </p:cNvSpPr>
          <p:nvPr/>
        </p:nvSpPr>
        <p:spPr bwMode="auto">
          <a:xfrm>
            <a:off x="3886200" y="3429000"/>
            <a:ext cx="228600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75" name="Text Box 15"/>
          <p:cNvSpPr txBox="1">
            <a:spLocks noChangeArrowheads="1"/>
          </p:cNvSpPr>
          <p:nvPr/>
        </p:nvSpPr>
        <p:spPr bwMode="auto">
          <a:xfrm>
            <a:off x="4114800" y="3352800"/>
            <a:ext cx="31115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3333CC"/>
                </a:solidFill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40976" name="Oval 16"/>
          <p:cNvSpPr>
            <a:spLocks noChangeArrowheads="1"/>
          </p:cNvSpPr>
          <p:nvPr/>
        </p:nvSpPr>
        <p:spPr bwMode="auto">
          <a:xfrm>
            <a:off x="990600" y="37338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0000"/>
                </a:solidFill>
                <a:ea typeface="Droid Sans" charset="0"/>
                <a:cs typeface="Droid Sans" charset="0"/>
              </a:rPr>
              <a:t>5</a:t>
            </a:r>
          </a:p>
        </p:txBody>
      </p:sp>
      <p:sp>
        <p:nvSpPr>
          <p:cNvPr id="40977" name="Line 17"/>
          <p:cNvSpPr>
            <a:spLocks noChangeShapeType="1"/>
          </p:cNvSpPr>
          <p:nvPr/>
        </p:nvSpPr>
        <p:spPr bwMode="auto">
          <a:xfrm flipH="1">
            <a:off x="1293813" y="3505200"/>
            <a:ext cx="307975" cy="228600"/>
          </a:xfrm>
          <a:prstGeom prst="line">
            <a:avLst/>
          </a:prstGeom>
          <a:noFill/>
          <a:ln w="2844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78" name="Text Box 18"/>
          <p:cNvSpPr txBox="1">
            <a:spLocks noChangeArrowheads="1"/>
          </p:cNvSpPr>
          <p:nvPr/>
        </p:nvSpPr>
        <p:spPr bwMode="auto">
          <a:xfrm>
            <a:off x="990600" y="3429000"/>
            <a:ext cx="31115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FF0000"/>
                </a:solidFill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40979" name="Oval 19"/>
          <p:cNvSpPr>
            <a:spLocks noChangeArrowheads="1"/>
          </p:cNvSpPr>
          <p:nvPr/>
        </p:nvSpPr>
        <p:spPr bwMode="auto">
          <a:xfrm>
            <a:off x="6400800" y="25146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0000"/>
                </a:solidFill>
                <a:ea typeface="Droid Sans" charset="0"/>
                <a:cs typeface="Droid Sans" charset="0"/>
              </a:rPr>
              <a:t>20</a:t>
            </a:r>
          </a:p>
        </p:txBody>
      </p:sp>
      <p:sp>
        <p:nvSpPr>
          <p:cNvPr id="40980" name="Oval 20"/>
          <p:cNvSpPr>
            <a:spLocks noChangeArrowheads="1"/>
          </p:cNvSpPr>
          <p:nvPr/>
        </p:nvSpPr>
        <p:spPr bwMode="auto">
          <a:xfrm>
            <a:off x="5486400" y="30480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0000"/>
                </a:solidFill>
                <a:ea typeface="Droid Sans" charset="0"/>
                <a:cs typeface="Droid Sans" charset="0"/>
              </a:rPr>
              <a:t>10</a:t>
            </a:r>
          </a:p>
        </p:txBody>
      </p:sp>
      <p:sp>
        <p:nvSpPr>
          <p:cNvPr id="40981" name="Oval 21"/>
          <p:cNvSpPr>
            <a:spLocks noChangeArrowheads="1"/>
          </p:cNvSpPr>
          <p:nvPr/>
        </p:nvSpPr>
        <p:spPr bwMode="auto">
          <a:xfrm>
            <a:off x="7467600" y="30480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0000"/>
                </a:solidFill>
                <a:ea typeface="Droid Sans" charset="0"/>
                <a:cs typeface="Droid Sans" charset="0"/>
              </a:rPr>
              <a:t>30</a:t>
            </a:r>
          </a:p>
        </p:txBody>
      </p:sp>
      <p:sp>
        <p:nvSpPr>
          <p:cNvPr id="40982" name="Oval 22"/>
          <p:cNvSpPr>
            <a:spLocks noChangeArrowheads="1"/>
          </p:cNvSpPr>
          <p:nvPr/>
        </p:nvSpPr>
        <p:spPr bwMode="auto">
          <a:xfrm>
            <a:off x="6858000" y="3749675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0000"/>
                </a:solidFill>
                <a:ea typeface="Droid Sans" charset="0"/>
                <a:cs typeface="Droid Sans" charset="0"/>
              </a:rPr>
              <a:t>25</a:t>
            </a:r>
          </a:p>
        </p:txBody>
      </p:sp>
      <p:cxnSp>
        <p:nvCxnSpPr>
          <p:cNvPr id="40983" name="AutoShape 23"/>
          <p:cNvCxnSpPr>
            <a:cxnSpLocks noChangeShapeType="1"/>
            <a:stCxn id="40979" idx="3"/>
            <a:endCxn id="40980" idx="7"/>
          </p:cNvCxnSpPr>
          <p:nvPr/>
        </p:nvCxnSpPr>
        <p:spPr bwMode="auto">
          <a:xfrm flipH="1">
            <a:off x="5876925" y="2905125"/>
            <a:ext cx="590550" cy="211138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40984" name="AutoShape 24"/>
          <p:cNvCxnSpPr>
            <a:cxnSpLocks noChangeShapeType="1"/>
          </p:cNvCxnSpPr>
          <p:nvPr/>
        </p:nvCxnSpPr>
        <p:spPr bwMode="auto">
          <a:xfrm>
            <a:off x="6791325" y="2905125"/>
            <a:ext cx="744538" cy="209550"/>
          </a:xfrm>
          <a:prstGeom prst="straightConnector1">
            <a:avLst/>
          </a:prstGeom>
          <a:noFill/>
          <a:ln w="28440">
            <a:solidFill>
              <a:srgbClr val="FF0000"/>
            </a:solidFill>
            <a:miter lim="800000"/>
            <a:headEnd/>
            <a:tailEnd/>
          </a:ln>
          <a:effectLst/>
        </p:spPr>
      </p:cxnSp>
      <p:cxnSp>
        <p:nvCxnSpPr>
          <p:cNvPr id="40985" name="AutoShape 25"/>
          <p:cNvCxnSpPr>
            <a:cxnSpLocks noChangeShapeType="1"/>
            <a:stCxn id="40981" idx="3"/>
            <a:endCxn id="40982" idx="0"/>
          </p:cNvCxnSpPr>
          <p:nvPr/>
        </p:nvCxnSpPr>
        <p:spPr bwMode="auto">
          <a:xfrm flipH="1">
            <a:off x="7086600" y="3438525"/>
            <a:ext cx="447675" cy="31115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40986" name="Text Box 26"/>
          <p:cNvSpPr txBox="1">
            <a:spLocks noChangeArrowheads="1"/>
          </p:cNvSpPr>
          <p:nvPr/>
        </p:nvSpPr>
        <p:spPr bwMode="auto">
          <a:xfrm>
            <a:off x="5487988" y="27432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3333CC"/>
                </a:solidFill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40987" name="Oval 27"/>
          <p:cNvSpPr>
            <a:spLocks noChangeArrowheads="1"/>
          </p:cNvSpPr>
          <p:nvPr/>
        </p:nvSpPr>
        <p:spPr bwMode="auto">
          <a:xfrm>
            <a:off x="7924800" y="37338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0000"/>
                </a:solidFill>
                <a:ea typeface="Droid Sans" charset="0"/>
                <a:cs typeface="Droid Sans" charset="0"/>
              </a:rPr>
              <a:t>35</a:t>
            </a:r>
          </a:p>
        </p:txBody>
      </p:sp>
      <p:sp>
        <p:nvSpPr>
          <p:cNvPr id="40988" name="Line 28"/>
          <p:cNvSpPr>
            <a:spLocks noChangeShapeType="1"/>
          </p:cNvSpPr>
          <p:nvPr/>
        </p:nvSpPr>
        <p:spPr bwMode="auto">
          <a:xfrm>
            <a:off x="7848600" y="3429000"/>
            <a:ext cx="228600" cy="381000"/>
          </a:xfrm>
          <a:prstGeom prst="line">
            <a:avLst/>
          </a:prstGeom>
          <a:noFill/>
          <a:ln w="2844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89" name="Oval 29"/>
          <p:cNvSpPr>
            <a:spLocks noChangeArrowheads="1"/>
          </p:cNvSpPr>
          <p:nvPr/>
        </p:nvSpPr>
        <p:spPr bwMode="auto">
          <a:xfrm>
            <a:off x="4953000" y="37338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0000"/>
                </a:solidFill>
                <a:ea typeface="Droid Sans" charset="0"/>
                <a:cs typeface="Droid Sans" charset="0"/>
              </a:rPr>
              <a:t>5</a:t>
            </a:r>
          </a:p>
        </p:txBody>
      </p:sp>
      <p:sp>
        <p:nvSpPr>
          <p:cNvPr id="40990" name="Line 30"/>
          <p:cNvSpPr>
            <a:spLocks noChangeShapeType="1"/>
          </p:cNvSpPr>
          <p:nvPr/>
        </p:nvSpPr>
        <p:spPr bwMode="auto">
          <a:xfrm flipH="1">
            <a:off x="5256213" y="3505200"/>
            <a:ext cx="307975" cy="2286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91" name="Oval 31"/>
          <p:cNvSpPr>
            <a:spLocks noChangeArrowheads="1"/>
          </p:cNvSpPr>
          <p:nvPr/>
        </p:nvSpPr>
        <p:spPr bwMode="auto">
          <a:xfrm>
            <a:off x="8229600" y="44958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0000"/>
                </a:solidFill>
                <a:ea typeface="Droid Sans" charset="0"/>
                <a:cs typeface="Droid Sans" charset="0"/>
              </a:rPr>
              <a:t>40</a:t>
            </a:r>
          </a:p>
        </p:txBody>
      </p:sp>
      <p:sp>
        <p:nvSpPr>
          <p:cNvPr id="40992" name="Line 32"/>
          <p:cNvSpPr>
            <a:spLocks noChangeShapeType="1"/>
          </p:cNvSpPr>
          <p:nvPr/>
        </p:nvSpPr>
        <p:spPr bwMode="auto">
          <a:xfrm>
            <a:off x="8305800" y="4114800"/>
            <a:ext cx="152400" cy="381000"/>
          </a:xfrm>
          <a:prstGeom prst="line">
            <a:avLst/>
          </a:prstGeom>
          <a:noFill/>
          <a:ln w="2844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93" name="Text Box 33"/>
          <p:cNvSpPr txBox="1">
            <a:spLocks noChangeArrowheads="1"/>
          </p:cNvSpPr>
          <p:nvPr/>
        </p:nvSpPr>
        <p:spPr bwMode="auto">
          <a:xfrm>
            <a:off x="4876800" y="3505200"/>
            <a:ext cx="31115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3333CC"/>
                </a:solidFill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40994" name="Text Box 34"/>
          <p:cNvSpPr txBox="1">
            <a:spLocks noChangeArrowheads="1"/>
          </p:cNvSpPr>
          <p:nvPr/>
        </p:nvSpPr>
        <p:spPr bwMode="auto">
          <a:xfrm>
            <a:off x="8458200" y="4191000"/>
            <a:ext cx="31115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FF0000"/>
                </a:solidFill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40995" name="Text Box 35"/>
          <p:cNvSpPr txBox="1">
            <a:spLocks noChangeArrowheads="1"/>
          </p:cNvSpPr>
          <p:nvPr/>
        </p:nvSpPr>
        <p:spPr bwMode="auto">
          <a:xfrm>
            <a:off x="6705600" y="3581400"/>
            <a:ext cx="31115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3333CC"/>
                </a:solidFill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40996" name="Text Box 36"/>
          <p:cNvSpPr txBox="1">
            <a:spLocks noChangeArrowheads="1"/>
          </p:cNvSpPr>
          <p:nvPr/>
        </p:nvSpPr>
        <p:spPr bwMode="auto">
          <a:xfrm>
            <a:off x="8383588" y="34290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FF0000"/>
                </a:solidFill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40997" name="Text Box 37"/>
          <p:cNvSpPr txBox="1">
            <a:spLocks noChangeArrowheads="1"/>
          </p:cNvSpPr>
          <p:nvPr/>
        </p:nvSpPr>
        <p:spPr bwMode="auto">
          <a:xfrm>
            <a:off x="7850188" y="27432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FF0000"/>
                </a:solidFill>
                <a:ea typeface="Droid Sans" charset="0"/>
                <a:cs typeface="Droid Sans" charset="0"/>
              </a:rPr>
              <a:t>2</a:t>
            </a:r>
          </a:p>
        </p:txBody>
      </p:sp>
      <p:sp>
        <p:nvSpPr>
          <p:cNvPr id="40998" name="Text Box 38"/>
          <p:cNvSpPr txBox="1">
            <a:spLocks noChangeArrowheads="1"/>
          </p:cNvSpPr>
          <p:nvPr/>
        </p:nvSpPr>
        <p:spPr bwMode="auto">
          <a:xfrm>
            <a:off x="6783388" y="22860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FF0000"/>
                </a:solidFill>
                <a:ea typeface="Droid Sans" charset="0"/>
                <a:cs typeface="Droid Sans" charset="0"/>
              </a:rPr>
              <a:t>3</a:t>
            </a:r>
          </a:p>
        </p:txBody>
      </p:sp>
      <p:sp>
        <p:nvSpPr>
          <p:cNvPr id="40999" name="Text Box 39"/>
          <p:cNvSpPr txBox="1">
            <a:spLocks noChangeArrowheads="1"/>
          </p:cNvSpPr>
          <p:nvPr/>
        </p:nvSpPr>
        <p:spPr bwMode="auto">
          <a:xfrm>
            <a:off x="4953000" y="4724400"/>
            <a:ext cx="175260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12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000000"/>
                </a:solidFill>
                <a:latin typeface="Arial" pitchFamily="34" charset="0"/>
                <a:ea typeface="Droid Sans" charset="0"/>
                <a:cs typeface="Droid Sans" charset="0"/>
              </a:rPr>
              <a:t>Now Insert 45</a:t>
            </a:r>
          </a:p>
        </p:txBody>
      </p:sp>
      <p:sp>
        <p:nvSpPr>
          <p:cNvPr id="41000" name="Line 40"/>
          <p:cNvSpPr>
            <a:spLocks noChangeShapeType="1"/>
          </p:cNvSpPr>
          <p:nvPr/>
        </p:nvSpPr>
        <p:spPr bwMode="auto">
          <a:xfrm>
            <a:off x="4572000" y="2133600"/>
            <a:ext cx="1588" cy="35814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001" name="Line 41"/>
          <p:cNvSpPr>
            <a:spLocks noChangeShapeType="1"/>
          </p:cNvSpPr>
          <p:nvPr/>
        </p:nvSpPr>
        <p:spPr bwMode="auto">
          <a:xfrm>
            <a:off x="6781800" y="5257800"/>
            <a:ext cx="1752600" cy="1588"/>
          </a:xfrm>
          <a:prstGeom prst="line">
            <a:avLst/>
          </a:prstGeom>
          <a:noFill/>
          <a:ln w="9360">
            <a:solidFill>
              <a:srgbClr val="000000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/>
              <a:t>Single rotation (outside case)</a:t>
            </a:r>
          </a:p>
        </p:txBody>
      </p:sp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3582988" y="27432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2</a:t>
            </a: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2895600" y="3352800"/>
            <a:ext cx="31115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2662238" y="21336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3</a:t>
            </a:r>
          </a:p>
        </p:txBody>
      </p:sp>
      <p:sp>
        <p:nvSpPr>
          <p:cNvPr id="41989" name="Oval 5"/>
          <p:cNvSpPr>
            <a:spLocks noChangeArrowheads="1"/>
          </p:cNvSpPr>
          <p:nvPr/>
        </p:nvSpPr>
        <p:spPr bwMode="auto">
          <a:xfrm>
            <a:off x="2590800" y="24384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20</a:t>
            </a:r>
          </a:p>
        </p:txBody>
      </p:sp>
      <p:sp>
        <p:nvSpPr>
          <p:cNvPr id="41990" name="Oval 6"/>
          <p:cNvSpPr>
            <a:spLocks noChangeArrowheads="1"/>
          </p:cNvSpPr>
          <p:nvPr/>
        </p:nvSpPr>
        <p:spPr bwMode="auto">
          <a:xfrm>
            <a:off x="1524000" y="30480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10</a:t>
            </a:r>
          </a:p>
        </p:txBody>
      </p:sp>
      <p:sp>
        <p:nvSpPr>
          <p:cNvPr id="41991" name="Oval 7"/>
          <p:cNvSpPr>
            <a:spLocks noChangeArrowheads="1"/>
          </p:cNvSpPr>
          <p:nvPr/>
        </p:nvSpPr>
        <p:spPr bwMode="auto">
          <a:xfrm>
            <a:off x="3505200" y="30480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30</a:t>
            </a:r>
          </a:p>
        </p:txBody>
      </p:sp>
      <p:sp>
        <p:nvSpPr>
          <p:cNvPr id="41992" name="Oval 8"/>
          <p:cNvSpPr>
            <a:spLocks noChangeArrowheads="1"/>
          </p:cNvSpPr>
          <p:nvPr/>
        </p:nvSpPr>
        <p:spPr bwMode="auto">
          <a:xfrm>
            <a:off x="2895600" y="3749675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25</a:t>
            </a:r>
          </a:p>
        </p:txBody>
      </p:sp>
      <p:cxnSp>
        <p:nvCxnSpPr>
          <p:cNvPr id="41993" name="AutoShape 9"/>
          <p:cNvCxnSpPr>
            <a:cxnSpLocks noChangeShapeType="1"/>
            <a:stCxn id="41989" idx="3"/>
            <a:endCxn id="41990" idx="7"/>
          </p:cNvCxnSpPr>
          <p:nvPr/>
        </p:nvCxnSpPr>
        <p:spPr bwMode="auto">
          <a:xfrm flipH="1">
            <a:off x="1914525" y="2828925"/>
            <a:ext cx="742950" cy="287338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41994" name="AutoShape 10"/>
          <p:cNvCxnSpPr>
            <a:cxnSpLocks noChangeShapeType="1"/>
            <a:stCxn id="41989" idx="5"/>
            <a:endCxn id="41991" idx="1"/>
          </p:cNvCxnSpPr>
          <p:nvPr/>
        </p:nvCxnSpPr>
        <p:spPr bwMode="auto">
          <a:xfrm>
            <a:off x="2981325" y="2828925"/>
            <a:ext cx="592138" cy="287338"/>
          </a:xfrm>
          <a:prstGeom prst="straightConnector1">
            <a:avLst/>
          </a:prstGeom>
          <a:noFill/>
          <a:ln w="28440">
            <a:solidFill>
              <a:srgbClr val="FF0000"/>
            </a:solidFill>
            <a:miter lim="800000"/>
            <a:headEnd/>
            <a:tailEnd/>
          </a:ln>
          <a:effectLst/>
        </p:spPr>
      </p:cxnSp>
      <p:cxnSp>
        <p:nvCxnSpPr>
          <p:cNvPr id="41995" name="AutoShape 11"/>
          <p:cNvCxnSpPr>
            <a:cxnSpLocks noChangeShapeType="1"/>
            <a:stCxn id="41991" idx="3"/>
            <a:endCxn id="41992" idx="0"/>
          </p:cNvCxnSpPr>
          <p:nvPr/>
        </p:nvCxnSpPr>
        <p:spPr bwMode="auto">
          <a:xfrm flipH="1">
            <a:off x="3124200" y="3438525"/>
            <a:ext cx="447675" cy="31115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41996" name="Text Box 12"/>
          <p:cNvSpPr txBox="1">
            <a:spLocks noChangeArrowheads="1"/>
          </p:cNvSpPr>
          <p:nvPr/>
        </p:nvSpPr>
        <p:spPr bwMode="auto">
          <a:xfrm>
            <a:off x="1595438" y="27432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41997" name="Oval 13"/>
          <p:cNvSpPr>
            <a:spLocks noChangeArrowheads="1"/>
          </p:cNvSpPr>
          <p:nvPr/>
        </p:nvSpPr>
        <p:spPr bwMode="auto">
          <a:xfrm>
            <a:off x="3962400" y="37338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35</a:t>
            </a:r>
          </a:p>
        </p:txBody>
      </p:sp>
      <p:sp>
        <p:nvSpPr>
          <p:cNvPr id="41998" name="Line 14"/>
          <p:cNvSpPr>
            <a:spLocks noChangeShapeType="1"/>
          </p:cNvSpPr>
          <p:nvPr/>
        </p:nvSpPr>
        <p:spPr bwMode="auto">
          <a:xfrm>
            <a:off x="3886200" y="3429000"/>
            <a:ext cx="228600" cy="381000"/>
          </a:xfrm>
          <a:prstGeom prst="line">
            <a:avLst/>
          </a:prstGeom>
          <a:noFill/>
          <a:ln w="2844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999" name="Text Box 15"/>
          <p:cNvSpPr txBox="1">
            <a:spLocks noChangeArrowheads="1"/>
          </p:cNvSpPr>
          <p:nvPr/>
        </p:nvSpPr>
        <p:spPr bwMode="auto">
          <a:xfrm>
            <a:off x="4114800" y="3352800"/>
            <a:ext cx="31115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2</a:t>
            </a:r>
          </a:p>
        </p:txBody>
      </p:sp>
      <p:sp>
        <p:nvSpPr>
          <p:cNvPr id="42000" name="Oval 16"/>
          <p:cNvSpPr>
            <a:spLocks noChangeArrowheads="1"/>
          </p:cNvSpPr>
          <p:nvPr/>
        </p:nvSpPr>
        <p:spPr bwMode="auto">
          <a:xfrm>
            <a:off x="990600" y="37338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5</a:t>
            </a:r>
          </a:p>
        </p:txBody>
      </p:sp>
      <p:sp>
        <p:nvSpPr>
          <p:cNvPr id="42001" name="Line 17"/>
          <p:cNvSpPr>
            <a:spLocks noChangeShapeType="1"/>
          </p:cNvSpPr>
          <p:nvPr/>
        </p:nvSpPr>
        <p:spPr bwMode="auto">
          <a:xfrm flipH="1">
            <a:off x="1293813" y="3505200"/>
            <a:ext cx="307975" cy="2286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02" name="Text Box 18"/>
          <p:cNvSpPr txBox="1">
            <a:spLocks noChangeArrowheads="1"/>
          </p:cNvSpPr>
          <p:nvPr/>
        </p:nvSpPr>
        <p:spPr bwMode="auto">
          <a:xfrm>
            <a:off x="990600" y="3429000"/>
            <a:ext cx="31115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42003" name="Oval 19"/>
          <p:cNvSpPr>
            <a:spLocks noChangeArrowheads="1"/>
          </p:cNvSpPr>
          <p:nvPr/>
        </p:nvSpPr>
        <p:spPr bwMode="auto">
          <a:xfrm>
            <a:off x="6400800" y="25146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20</a:t>
            </a:r>
          </a:p>
        </p:txBody>
      </p:sp>
      <p:sp>
        <p:nvSpPr>
          <p:cNvPr id="42004" name="Oval 20"/>
          <p:cNvSpPr>
            <a:spLocks noChangeArrowheads="1"/>
          </p:cNvSpPr>
          <p:nvPr/>
        </p:nvSpPr>
        <p:spPr bwMode="auto">
          <a:xfrm>
            <a:off x="5486400" y="30480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10</a:t>
            </a:r>
          </a:p>
        </p:txBody>
      </p:sp>
      <p:sp>
        <p:nvSpPr>
          <p:cNvPr id="42005" name="Oval 21"/>
          <p:cNvSpPr>
            <a:spLocks noChangeArrowheads="1"/>
          </p:cNvSpPr>
          <p:nvPr/>
        </p:nvSpPr>
        <p:spPr bwMode="auto">
          <a:xfrm>
            <a:off x="7467600" y="30480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30</a:t>
            </a:r>
          </a:p>
        </p:txBody>
      </p:sp>
      <p:sp>
        <p:nvSpPr>
          <p:cNvPr id="42006" name="Oval 22"/>
          <p:cNvSpPr>
            <a:spLocks noChangeArrowheads="1"/>
          </p:cNvSpPr>
          <p:nvPr/>
        </p:nvSpPr>
        <p:spPr bwMode="auto">
          <a:xfrm>
            <a:off x="6858000" y="3749675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25</a:t>
            </a:r>
          </a:p>
        </p:txBody>
      </p:sp>
      <p:cxnSp>
        <p:nvCxnSpPr>
          <p:cNvPr id="42007" name="AutoShape 23"/>
          <p:cNvCxnSpPr>
            <a:cxnSpLocks noChangeShapeType="1"/>
            <a:stCxn id="42003" idx="3"/>
            <a:endCxn id="42004" idx="7"/>
          </p:cNvCxnSpPr>
          <p:nvPr/>
        </p:nvCxnSpPr>
        <p:spPr bwMode="auto">
          <a:xfrm flipH="1">
            <a:off x="5876925" y="2905125"/>
            <a:ext cx="590550" cy="211138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42008" name="AutoShape 24"/>
          <p:cNvCxnSpPr>
            <a:cxnSpLocks noChangeShapeType="1"/>
          </p:cNvCxnSpPr>
          <p:nvPr/>
        </p:nvCxnSpPr>
        <p:spPr bwMode="auto">
          <a:xfrm>
            <a:off x="6791325" y="2905125"/>
            <a:ext cx="744538" cy="209550"/>
          </a:xfrm>
          <a:prstGeom prst="straightConnector1">
            <a:avLst/>
          </a:prstGeom>
          <a:noFill/>
          <a:ln w="9360">
            <a:solidFill>
              <a:srgbClr val="FF0000"/>
            </a:solidFill>
            <a:miter lim="800000"/>
            <a:headEnd/>
            <a:tailEnd/>
          </a:ln>
          <a:effectLst/>
        </p:spPr>
      </p:cxnSp>
      <p:cxnSp>
        <p:nvCxnSpPr>
          <p:cNvPr id="42009" name="AutoShape 25"/>
          <p:cNvCxnSpPr>
            <a:cxnSpLocks noChangeShapeType="1"/>
            <a:stCxn id="42005" idx="3"/>
            <a:endCxn id="42006" idx="0"/>
          </p:cNvCxnSpPr>
          <p:nvPr/>
        </p:nvCxnSpPr>
        <p:spPr bwMode="auto">
          <a:xfrm flipH="1">
            <a:off x="7086600" y="3438525"/>
            <a:ext cx="447675" cy="31115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42010" name="Text Box 26"/>
          <p:cNvSpPr txBox="1">
            <a:spLocks noChangeArrowheads="1"/>
          </p:cNvSpPr>
          <p:nvPr/>
        </p:nvSpPr>
        <p:spPr bwMode="auto">
          <a:xfrm>
            <a:off x="5487988" y="27432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42011" name="Oval 27"/>
          <p:cNvSpPr>
            <a:spLocks noChangeArrowheads="1"/>
          </p:cNvSpPr>
          <p:nvPr/>
        </p:nvSpPr>
        <p:spPr bwMode="auto">
          <a:xfrm>
            <a:off x="7924800" y="37338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40</a:t>
            </a:r>
          </a:p>
        </p:txBody>
      </p:sp>
      <p:sp>
        <p:nvSpPr>
          <p:cNvPr id="42012" name="Line 28"/>
          <p:cNvSpPr>
            <a:spLocks noChangeShapeType="1"/>
          </p:cNvSpPr>
          <p:nvPr/>
        </p:nvSpPr>
        <p:spPr bwMode="auto">
          <a:xfrm>
            <a:off x="7848600" y="3429000"/>
            <a:ext cx="228600" cy="381000"/>
          </a:xfrm>
          <a:prstGeom prst="line">
            <a:avLst/>
          </a:prstGeom>
          <a:noFill/>
          <a:ln w="936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13" name="Oval 29"/>
          <p:cNvSpPr>
            <a:spLocks noChangeArrowheads="1"/>
          </p:cNvSpPr>
          <p:nvPr/>
        </p:nvSpPr>
        <p:spPr bwMode="auto">
          <a:xfrm>
            <a:off x="4953000" y="37338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5</a:t>
            </a:r>
          </a:p>
        </p:txBody>
      </p:sp>
      <p:sp>
        <p:nvSpPr>
          <p:cNvPr id="42014" name="Line 30"/>
          <p:cNvSpPr>
            <a:spLocks noChangeShapeType="1"/>
          </p:cNvSpPr>
          <p:nvPr/>
        </p:nvSpPr>
        <p:spPr bwMode="auto">
          <a:xfrm flipH="1">
            <a:off x="5256213" y="3505200"/>
            <a:ext cx="307975" cy="2286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15" name="Oval 31"/>
          <p:cNvSpPr>
            <a:spLocks noChangeArrowheads="1"/>
          </p:cNvSpPr>
          <p:nvPr/>
        </p:nvSpPr>
        <p:spPr bwMode="auto">
          <a:xfrm>
            <a:off x="4267200" y="45720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40</a:t>
            </a:r>
          </a:p>
        </p:txBody>
      </p:sp>
      <p:sp>
        <p:nvSpPr>
          <p:cNvPr id="42016" name="Line 32"/>
          <p:cNvSpPr>
            <a:spLocks noChangeShapeType="1"/>
          </p:cNvSpPr>
          <p:nvPr/>
        </p:nvSpPr>
        <p:spPr bwMode="auto">
          <a:xfrm>
            <a:off x="4267200" y="4191000"/>
            <a:ext cx="152400" cy="381000"/>
          </a:xfrm>
          <a:prstGeom prst="line">
            <a:avLst/>
          </a:prstGeom>
          <a:noFill/>
          <a:ln w="2844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17" name="Text Box 33"/>
          <p:cNvSpPr txBox="1">
            <a:spLocks noChangeArrowheads="1"/>
          </p:cNvSpPr>
          <p:nvPr/>
        </p:nvSpPr>
        <p:spPr bwMode="auto">
          <a:xfrm>
            <a:off x="4876800" y="3505200"/>
            <a:ext cx="31115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42018" name="Text Box 34"/>
          <p:cNvSpPr txBox="1">
            <a:spLocks noChangeArrowheads="1"/>
          </p:cNvSpPr>
          <p:nvPr/>
        </p:nvSpPr>
        <p:spPr bwMode="auto">
          <a:xfrm>
            <a:off x="4191000" y="5257800"/>
            <a:ext cx="30480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42019" name="Text Box 35"/>
          <p:cNvSpPr txBox="1">
            <a:spLocks noChangeArrowheads="1"/>
          </p:cNvSpPr>
          <p:nvPr/>
        </p:nvSpPr>
        <p:spPr bwMode="auto">
          <a:xfrm>
            <a:off x="6705600" y="3581400"/>
            <a:ext cx="31115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42020" name="Text Box 36"/>
          <p:cNvSpPr txBox="1">
            <a:spLocks noChangeArrowheads="1"/>
          </p:cNvSpPr>
          <p:nvPr/>
        </p:nvSpPr>
        <p:spPr bwMode="auto">
          <a:xfrm>
            <a:off x="3887788" y="46482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42021" name="Text Box 37"/>
          <p:cNvSpPr txBox="1">
            <a:spLocks noChangeArrowheads="1"/>
          </p:cNvSpPr>
          <p:nvPr/>
        </p:nvSpPr>
        <p:spPr bwMode="auto">
          <a:xfrm>
            <a:off x="7850188" y="27432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2</a:t>
            </a:r>
          </a:p>
        </p:txBody>
      </p:sp>
      <p:sp>
        <p:nvSpPr>
          <p:cNvPr id="42022" name="Text Box 38"/>
          <p:cNvSpPr txBox="1">
            <a:spLocks noChangeArrowheads="1"/>
          </p:cNvSpPr>
          <p:nvPr/>
        </p:nvSpPr>
        <p:spPr bwMode="auto">
          <a:xfrm>
            <a:off x="6783388" y="22860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3</a:t>
            </a:r>
          </a:p>
        </p:txBody>
      </p:sp>
      <p:sp>
        <p:nvSpPr>
          <p:cNvPr id="42023" name="Oval 39"/>
          <p:cNvSpPr>
            <a:spLocks noChangeArrowheads="1"/>
          </p:cNvSpPr>
          <p:nvPr/>
        </p:nvSpPr>
        <p:spPr bwMode="auto">
          <a:xfrm>
            <a:off x="4495800" y="53340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45</a:t>
            </a:r>
          </a:p>
        </p:txBody>
      </p:sp>
      <p:sp>
        <p:nvSpPr>
          <p:cNvPr id="42024" name="Line 40"/>
          <p:cNvSpPr>
            <a:spLocks noChangeShapeType="1"/>
          </p:cNvSpPr>
          <p:nvPr/>
        </p:nvSpPr>
        <p:spPr bwMode="auto">
          <a:xfrm>
            <a:off x="4572000" y="5029200"/>
            <a:ext cx="76200" cy="304800"/>
          </a:xfrm>
          <a:prstGeom prst="line">
            <a:avLst/>
          </a:prstGeom>
          <a:noFill/>
          <a:ln w="2844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25" name="Text Box 41"/>
          <p:cNvSpPr txBox="1">
            <a:spLocks noChangeArrowheads="1"/>
          </p:cNvSpPr>
          <p:nvPr/>
        </p:nvSpPr>
        <p:spPr bwMode="auto">
          <a:xfrm>
            <a:off x="2133600" y="4724400"/>
            <a:ext cx="137160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12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Imbalance</a:t>
            </a:r>
          </a:p>
        </p:txBody>
      </p:sp>
      <p:sp>
        <p:nvSpPr>
          <p:cNvPr id="42026" name="Line 42"/>
          <p:cNvSpPr>
            <a:spLocks noChangeShapeType="1"/>
          </p:cNvSpPr>
          <p:nvPr/>
        </p:nvSpPr>
        <p:spPr bwMode="auto">
          <a:xfrm flipV="1">
            <a:off x="3276600" y="4189413"/>
            <a:ext cx="685800" cy="460375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27" name="Oval 43"/>
          <p:cNvSpPr>
            <a:spLocks noChangeArrowheads="1"/>
          </p:cNvSpPr>
          <p:nvPr/>
        </p:nvSpPr>
        <p:spPr bwMode="auto">
          <a:xfrm>
            <a:off x="7543800" y="44196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35</a:t>
            </a:r>
          </a:p>
        </p:txBody>
      </p:sp>
      <p:sp>
        <p:nvSpPr>
          <p:cNvPr id="42028" name="Oval 44"/>
          <p:cNvSpPr>
            <a:spLocks noChangeArrowheads="1"/>
          </p:cNvSpPr>
          <p:nvPr/>
        </p:nvSpPr>
        <p:spPr bwMode="auto">
          <a:xfrm>
            <a:off x="8458200" y="44958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45</a:t>
            </a:r>
          </a:p>
        </p:txBody>
      </p:sp>
      <p:sp>
        <p:nvSpPr>
          <p:cNvPr id="42029" name="Line 45"/>
          <p:cNvSpPr>
            <a:spLocks noChangeShapeType="1"/>
          </p:cNvSpPr>
          <p:nvPr/>
        </p:nvSpPr>
        <p:spPr bwMode="auto">
          <a:xfrm>
            <a:off x="8305800" y="4114800"/>
            <a:ext cx="304800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30" name="Line 46"/>
          <p:cNvSpPr>
            <a:spLocks noChangeShapeType="1"/>
          </p:cNvSpPr>
          <p:nvPr/>
        </p:nvSpPr>
        <p:spPr bwMode="auto">
          <a:xfrm flipH="1">
            <a:off x="7847013" y="4191000"/>
            <a:ext cx="231775" cy="304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31" name="Text Box 47"/>
          <p:cNvSpPr txBox="1">
            <a:spLocks noChangeArrowheads="1"/>
          </p:cNvSpPr>
          <p:nvPr/>
        </p:nvSpPr>
        <p:spPr bwMode="auto">
          <a:xfrm>
            <a:off x="7391400" y="4114800"/>
            <a:ext cx="31115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42032" name="Text Box 48"/>
          <p:cNvSpPr txBox="1">
            <a:spLocks noChangeArrowheads="1"/>
          </p:cNvSpPr>
          <p:nvPr/>
        </p:nvSpPr>
        <p:spPr bwMode="auto">
          <a:xfrm>
            <a:off x="8534400" y="4114800"/>
            <a:ext cx="31115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42033" name="Text Box 49"/>
          <p:cNvSpPr txBox="1">
            <a:spLocks noChangeArrowheads="1"/>
          </p:cNvSpPr>
          <p:nvPr/>
        </p:nvSpPr>
        <p:spPr bwMode="auto">
          <a:xfrm>
            <a:off x="8383588" y="36576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42034" name="Text Box 50"/>
          <p:cNvSpPr txBox="1">
            <a:spLocks noChangeArrowheads="1"/>
          </p:cNvSpPr>
          <p:nvPr/>
        </p:nvSpPr>
        <p:spPr bwMode="auto">
          <a:xfrm>
            <a:off x="5410200" y="5402263"/>
            <a:ext cx="1905000" cy="3984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12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Now Insert 34</a:t>
            </a:r>
          </a:p>
        </p:txBody>
      </p:sp>
      <p:sp>
        <p:nvSpPr>
          <p:cNvPr id="42035" name="Line 51"/>
          <p:cNvSpPr>
            <a:spLocks noChangeShapeType="1"/>
          </p:cNvSpPr>
          <p:nvPr/>
        </p:nvSpPr>
        <p:spPr bwMode="auto">
          <a:xfrm>
            <a:off x="4191000" y="1981200"/>
            <a:ext cx="1143000" cy="40386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36" name="Line 52"/>
          <p:cNvSpPr>
            <a:spLocks noChangeShapeType="1"/>
          </p:cNvSpPr>
          <p:nvPr/>
        </p:nvSpPr>
        <p:spPr bwMode="auto">
          <a:xfrm flipV="1">
            <a:off x="7239000" y="5027613"/>
            <a:ext cx="304800" cy="460375"/>
          </a:xfrm>
          <a:prstGeom prst="line">
            <a:avLst/>
          </a:prstGeom>
          <a:noFill/>
          <a:ln w="9360">
            <a:solidFill>
              <a:srgbClr val="000000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/>
              <a:t>Double rotation (inside case)</a:t>
            </a:r>
          </a:p>
        </p:txBody>
      </p:sp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3582988" y="27432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3</a:t>
            </a:r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2895600" y="3352800"/>
            <a:ext cx="31115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2662238" y="21336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3</a:t>
            </a:r>
          </a:p>
        </p:txBody>
      </p:sp>
      <p:sp>
        <p:nvSpPr>
          <p:cNvPr id="43013" name="Oval 5"/>
          <p:cNvSpPr>
            <a:spLocks noChangeArrowheads="1"/>
          </p:cNvSpPr>
          <p:nvPr/>
        </p:nvSpPr>
        <p:spPr bwMode="auto">
          <a:xfrm>
            <a:off x="2590800" y="24384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20</a:t>
            </a:r>
          </a:p>
        </p:txBody>
      </p:sp>
      <p:sp>
        <p:nvSpPr>
          <p:cNvPr id="43014" name="Oval 6"/>
          <p:cNvSpPr>
            <a:spLocks noChangeArrowheads="1"/>
          </p:cNvSpPr>
          <p:nvPr/>
        </p:nvSpPr>
        <p:spPr bwMode="auto">
          <a:xfrm>
            <a:off x="1524000" y="30480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10</a:t>
            </a:r>
          </a:p>
        </p:txBody>
      </p:sp>
      <p:sp>
        <p:nvSpPr>
          <p:cNvPr id="43015" name="Oval 7"/>
          <p:cNvSpPr>
            <a:spLocks noChangeArrowheads="1"/>
          </p:cNvSpPr>
          <p:nvPr/>
        </p:nvSpPr>
        <p:spPr bwMode="auto">
          <a:xfrm>
            <a:off x="3505200" y="30480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30</a:t>
            </a:r>
          </a:p>
        </p:txBody>
      </p:sp>
      <p:sp>
        <p:nvSpPr>
          <p:cNvPr id="43016" name="Oval 8"/>
          <p:cNvSpPr>
            <a:spLocks noChangeArrowheads="1"/>
          </p:cNvSpPr>
          <p:nvPr/>
        </p:nvSpPr>
        <p:spPr bwMode="auto">
          <a:xfrm>
            <a:off x="2895600" y="3749675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25</a:t>
            </a:r>
          </a:p>
        </p:txBody>
      </p:sp>
      <p:cxnSp>
        <p:nvCxnSpPr>
          <p:cNvPr id="43017" name="AutoShape 9"/>
          <p:cNvCxnSpPr>
            <a:cxnSpLocks noChangeShapeType="1"/>
            <a:stCxn id="43013" idx="3"/>
            <a:endCxn id="43014" idx="7"/>
          </p:cNvCxnSpPr>
          <p:nvPr/>
        </p:nvCxnSpPr>
        <p:spPr bwMode="auto">
          <a:xfrm flipH="1">
            <a:off x="1914525" y="2828925"/>
            <a:ext cx="742950" cy="287338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43018" name="AutoShape 10"/>
          <p:cNvCxnSpPr>
            <a:cxnSpLocks noChangeShapeType="1"/>
            <a:stCxn id="43013" idx="5"/>
            <a:endCxn id="43015" idx="1"/>
          </p:cNvCxnSpPr>
          <p:nvPr/>
        </p:nvCxnSpPr>
        <p:spPr bwMode="auto">
          <a:xfrm>
            <a:off x="2981325" y="2828925"/>
            <a:ext cx="592138" cy="287338"/>
          </a:xfrm>
          <a:prstGeom prst="straightConnector1">
            <a:avLst/>
          </a:prstGeom>
          <a:noFill/>
          <a:ln w="28440">
            <a:solidFill>
              <a:srgbClr val="FF0000"/>
            </a:solidFill>
            <a:miter lim="800000"/>
            <a:headEnd/>
            <a:tailEnd/>
          </a:ln>
          <a:effectLst/>
        </p:spPr>
      </p:cxnSp>
      <p:cxnSp>
        <p:nvCxnSpPr>
          <p:cNvPr id="43019" name="AutoShape 11"/>
          <p:cNvCxnSpPr>
            <a:cxnSpLocks noChangeShapeType="1"/>
            <a:stCxn id="43015" idx="3"/>
            <a:endCxn id="43016" idx="0"/>
          </p:cNvCxnSpPr>
          <p:nvPr/>
        </p:nvCxnSpPr>
        <p:spPr bwMode="auto">
          <a:xfrm flipH="1">
            <a:off x="3124200" y="3438525"/>
            <a:ext cx="447675" cy="31115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43020" name="Text Box 12"/>
          <p:cNvSpPr txBox="1">
            <a:spLocks noChangeArrowheads="1"/>
          </p:cNvSpPr>
          <p:nvPr/>
        </p:nvSpPr>
        <p:spPr bwMode="auto">
          <a:xfrm>
            <a:off x="1595438" y="27432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43021" name="Oval 13"/>
          <p:cNvSpPr>
            <a:spLocks noChangeArrowheads="1"/>
          </p:cNvSpPr>
          <p:nvPr/>
        </p:nvSpPr>
        <p:spPr bwMode="auto">
          <a:xfrm>
            <a:off x="3962400" y="37338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40</a:t>
            </a:r>
          </a:p>
        </p:txBody>
      </p:sp>
      <p:sp>
        <p:nvSpPr>
          <p:cNvPr id="43022" name="Line 14"/>
          <p:cNvSpPr>
            <a:spLocks noChangeShapeType="1"/>
          </p:cNvSpPr>
          <p:nvPr/>
        </p:nvSpPr>
        <p:spPr bwMode="auto">
          <a:xfrm>
            <a:off x="3886200" y="3429000"/>
            <a:ext cx="228600" cy="381000"/>
          </a:xfrm>
          <a:prstGeom prst="line">
            <a:avLst/>
          </a:prstGeom>
          <a:noFill/>
          <a:ln w="2844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023" name="Text Box 15"/>
          <p:cNvSpPr txBox="1">
            <a:spLocks noChangeArrowheads="1"/>
          </p:cNvSpPr>
          <p:nvPr/>
        </p:nvSpPr>
        <p:spPr bwMode="auto">
          <a:xfrm>
            <a:off x="4114800" y="3352800"/>
            <a:ext cx="31115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2</a:t>
            </a:r>
          </a:p>
        </p:txBody>
      </p:sp>
      <p:sp>
        <p:nvSpPr>
          <p:cNvPr id="43024" name="Oval 16"/>
          <p:cNvSpPr>
            <a:spLocks noChangeArrowheads="1"/>
          </p:cNvSpPr>
          <p:nvPr/>
        </p:nvSpPr>
        <p:spPr bwMode="auto">
          <a:xfrm>
            <a:off x="990600" y="37338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5</a:t>
            </a:r>
          </a:p>
        </p:txBody>
      </p:sp>
      <p:sp>
        <p:nvSpPr>
          <p:cNvPr id="43025" name="Line 17"/>
          <p:cNvSpPr>
            <a:spLocks noChangeShapeType="1"/>
          </p:cNvSpPr>
          <p:nvPr/>
        </p:nvSpPr>
        <p:spPr bwMode="auto">
          <a:xfrm flipH="1">
            <a:off x="1293813" y="3505200"/>
            <a:ext cx="307975" cy="2286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026" name="Text Box 18"/>
          <p:cNvSpPr txBox="1">
            <a:spLocks noChangeArrowheads="1"/>
          </p:cNvSpPr>
          <p:nvPr/>
        </p:nvSpPr>
        <p:spPr bwMode="auto">
          <a:xfrm>
            <a:off x="990600" y="3429000"/>
            <a:ext cx="31115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43027" name="Oval 19"/>
          <p:cNvSpPr>
            <a:spLocks noChangeArrowheads="1"/>
          </p:cNvSpPr>
          <p:nvPr/>
        </p:nvSpPr>
        <p:spPr bwMode="auto">
          <a:xfrm>
            <a:off x="6400800" y="25146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20</a:t>
            </a:r>
          </a:p>
        </p:txBody>
      </p:sp>
      <p:sp>
        <p:nvSpPr>
          <p:cNvPr id="43028" name="Oval 20"/>
          <p:cNvSpPr>
            <a:spLocks noChangeArrowheads="1"/>
          </p:cNvSpPr>
          <p:nvPr/>
        </p:nvSpPr>
        <p:spPr bwMode="auto">
          <a:xfrm>
            <a:off x="5486400" y="30480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10</a:t>
            </a:r>
          </a:p>
        </p:txBody>
      </p:sp>
      <p:sp>
        <p:nvSpPr>
          <p:cNvPr id="43029" name="Oval 21"/>
          <p:cNvSpPr>
            <a:spLocks noChangeArrowheads="1"/>
          </p:cNvSpPr>
          <p:nvPr/>
        </p:nvSpPr>
        <p:spPr bwMode="auto">
          <a:xfrm>
            <a:off x="7467600" y="30480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35</a:t>
            </a:r>
          </a:p>
        </p:txBody>
      </p:sp>
      <p:sp>
        <p:nvSpPr>
          <p:cNvPr id="43030" name="Oval 22"/>
          <p:cNvSpPr>
            <a:spLocks noChangeArrowheads="1"/>
          </p:cNvSpPr>
          <p:nvPr/>
        </p:nvSpPr>
        <p:spPr bwMode="auto">
          <a:xfrm>
            <a:off x="6858000" y="3749675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30</a:t>
            </a:r>
          </a:p>
        </p:txBody>
      </p:sp>
      <p:cxnSp>
        <p:nvCxnSpPr>
          <p:cNvPr id="43031" name="AutoShape 23"/>
          <p:cNvCxnSpPr>
            <a:cxnSpLocks noChangeShapeType="1"/>
            <a:stCxn id="43027" idx="3"/>
            <a:endCxn id="43028" idx="7"/>
          </p:cNvCxnSpPr>
          <p:nvPr/>
        </p:nvCxnSpPr>
        <p:spPr bwMode="auto">
          <a:xfrm flipH="1">
            <a:off x="5876925" y="2905125"/>
            <a:ext cx="590550" cy="211138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cxnSp>
        <p:nvCxnSpPr>
          <p:cNvPr id="43032" name="AutoShape 24"/>
          <p:cNvCxnSpPr>
            <a:cxnSpLocks noChangeShapeType="1"/>
          </p:cNvCxnSpPr>
          <p:nvPr/>
        </p:nvCxnSpPr>
        <p:spPr bwMode="auto">
          <a:xfrm>
            <a:off x="6791325" y="2905125"/>
            <a:ext cx="744538" cy="209550"/>
          </a:xfrm>
          <a:prstGeom prst="straightConnector1">
            <a:avLst/>
          </a:prstGeom>
          <a:noFill/>
          <a:ln w="9360">
            <a:solidFill>
              <a:srgbClr val="FF0000"/>
            </a:solidFill>
            <a:miter lim="800000"/>
            <a:headEnd/>
            <a:tailEnd/>
          </a:ln>
          <a:effectLst/>
        </p:spPr>
      </p:cxnSp>
      <p:cxnSp>
        <p:nvCxnSpPr>
          <p:cNvPr id="43033" name="AutoShape 25"/>
          <p:cNvCxnSpPr>
            <a:cxnSpLocks noChangeShapeType="1"/>
            <a:stCxn id="43029" idx="3"/>
            <a:endCxn id="43030" idx="0"/>
          </p:cNvCxnSpPr>
          <p:nvPr/>
        </p:nvCxnSpPr>
        <p:spPr bwMode="auto">
          <a:xfrm flipH="1">
            <a:off x="7086600" y="3438525"/>
            <a:ext cx="447675" cy="31115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cxnSp>
      <p:sp>
        <p:nvSpPr>
          <p:cNvPr id="43034" name="Text Box 26"/>
          <p:cNvSpPr txBox="1">
            <a:spLocks noChangeArrowheads="1"/>
          </p:cNvSpPr>
          <p:nvPr/>
        </p:nvSpPr>
        <p:spPr bwMode="auto">
          <a:xfrm>
            <a:off x="5487988" y="27432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43035" name="Oval 27"/>
          <p:cNvSpPr>
            <a:spLocks noChangeArrowheads="1"/>
          </p:cNvSpPr>
          <p:nvPr/>
        </p:nvSpPr>
        <p:spPr bwMode="auto">
          <a:xfrm>
            <a:off x="7924800" y="37338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40</a:t>
            </a:r>
          </a:p>
        </p:txBody>
      </p:sp>
      <p:sp>
        <p:nvSpPr>
          <p:cNvPr id="43036" name="Line 28"/>
          <p:cNvSpPr>
            <a:spLocks noChangeShapeType="1"/>
          </p:cNvSpPr>
          <p:nvPr/>
        </p:nvSpPr>
        <p:spPr bwMode="auto">
          <a:xfrm>
            <a:off x="7848600" y="3429000"/>
            <a:ext cx="228600" cy="381000"/>
          </a:xfrm>
          <a:prstGeom prst="line">
            <a:avLst/>
          </a:prstGeom>
          <a:noFill/>
          <a:ln w="936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037" name="Oval 29"/>
          <p:cNvSpPr>
            <a:spLocks noChangeArrowheads="1"/>
          </p:cNvSpPr>
          <p:nvPr/>
        </p:nvSpPr>
        <p:spPr bwMode="auto">
          <a:xfrm>
            <a:off x="4953000" y="37338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5</a:t>
            </a:r>
          </a:p>
        </p:txBody>
      </p:sp>
      <p:sp>
        <p:nvSpPr>
          <p:cNvPr id="43038" name="Line 30"/>
          <p:cNvSpPr>
            <a:spLocks noChangeShapeType="1"/>
          </p:cNvSpPr>
          <p:nvPr/>
        </p:nvSpPr>
        <p:spPr bwMode="auto">
          <a:xfrm flipH="1">
            <a:off x="5256213" y="3505200"/>
            <a:ext cx="307975" cy="2286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039" name="Oval 31"/>
          <p:cNvSpPr>
            <a:spLocks noChangeArrowheads="1"/>
          </p:cNvSpPr>
          <p:nvPr/>
        </p:nvSpPr>
        <p:spPr bwMode="auto">
          <a:xfrm>
            <a:off x="4267200" y="45720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45</a:t>
            </a:r>
          </a:p>
        </p:txBody>
      </p:sp>
      <p:sp>
        <p:nvSpPr>
          <p:cNvPr id="43040" name="Line 32"/>
          <p:cNvSpPr>
            <a:spLocks noChangeShapeType="1"/>
          </p:cNvSpPr>
          <p:nvPr/>
        </p:nvSpPr>
        <p:spPr bwMode="auto">
          <a:xfrm>
            <a:off x="4267200" y="4191000"/>
            <a:ext cx="152400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041" name="Text Box 33"/>
          <p:cNvSpPr txBox="1">
            <a:spLocks noChangeArrowheads="1"/>
          </p:cNvSpPr>
          <p:nvPr/>
        </p:nvSpPr>
        <p:spPr bwMode="auto">
          <a:xfrm>
            <a:off x="4876800" y="3505200"/>
            <a:ext cx="31115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43042" name="Text Box 34"/>
          <p:cNvSpPr txBox="1">
            <a:spLocks noChangeArrowheads="1"/>
          </p:cNvSpPr>
          <p:nvPr/>
        </p:nvSpPr>
        <p:spPr bwMode="auto">
          <a:xfrm>
            <a:off x="6705600" y="3581400"/>
            <a:ext cx="31115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43043" name="Text Box 35"/>
          <p:cNvSpPr txBox="1">
            <a:spLocks noChangeArrowheads="1"/>
          </p:cNvSpPr>
          <p:nvPr/>
        </p:nvSpPr>
        <p:spPr bwMode="auto">
          <a:xfrm>
            <a:off x="7850188" y="27432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2</a:t>
            </a:r>
          </a:p>
        </p:txBody>
      </p:sp>
      <p:sp>
        <p:nvSpPr>
          <p:cNvPr id="43044" name="Text Box 36"/>
          <p:cNvSpPr txBox="1">
            <a:spLocks noChangeArrowheads="1"/>
          </p:cNvSpPr>
          <p:nvPr/>
        </p:nvSpPr>
        <p:spPr bwMode="auto">
          <a:xfrm>
            <a:off x="6783388" y="22860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3</a:t>
            </a:r>
          </a:p>
        </p:txBody>
      </p:sp>
      <p:sp>
        <p:nvSpPr>
          <p:cNvPr id="43045" name="Text Box 37"/>
          <p:cNvSpPr txBox="1">
            <a:spLocks noChangeArrowheads="1"/>
          </p:cNvSpPr>
          <p:nvPr/>
        </p:nvSpPr>
        <p:spPr bwMode="auto">
          <a:xfrm>
            <a:off x="1524000" y="3733800"/>
            <a:ext cx="137160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12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Imbalance</a:t>
            </a:r>
          </a:p>
        </p:txBody>
      </p:sp>
      <p:sp>
        <p:nvSpPr>
          <p:cNvPr id="43046" name="Line 38"/>
          <p:cNvSpPr>
            <a:spLocks noChangeShapeType="1"/>
          </p:cNvSpPr>
          <p:nvPr/>
        </p:nvSpPr>
        <p:spPr bwMode="auto">
          <a:xfrm flipV="1">
            <a:off x="2743200" y="3198813"/>
            <a:ext cx="685800" cy="460375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047" name="Oval 39"/>
          <p:cNvSpPr>
            <a:spLocks noChangeArrowheads="1"/>
          </p:cNvSpPr>
          <p:nvPr/>
        </p:nvSpPr>
        <p:spPr bwMode="auto">
          <a:xfrm>
            <a:off x="8458200" y="44958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45</a:t>
            </a:r>
          </a:p>
        </p:txBody>
      </p:sp>
      <p:sp>
        <p:nvSpPr>
          <p:cNvPr id="43048" name="Line 40"/>
          <p:cNvSpPr>
            <a:spLocks noChangeShapeType="1"/>
          </p:cNvSpPr>
          <p:nvPr/>
        </p:nvSpPr>
        <p:spPr bwMode="auto">
          <a:xfrm>
            <a:off x="8305800" y="4114800"/>
            <a:ext cx="304800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049" name="Text Box 41"/>
          <p:cNvSpPr txBox="1">
            <a:spLocks noChangeArrowheads="1"/>
          </p:cNvSpPr>
          <p:nvPr/>
        </p:nvSpPr>
        <p:spPr bwMode="auto">
          <a:xfrm>
            <a:off x="8534400" y="4114800"/>
            <a:ext cx="31115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43050" name="Text Box 42"/>
          <p:cNvSpPr txBox="1">
            <a:spLocks noChangeArrowheads="1"/>
          </p:cNvSpPr>
          <p:nvPr/>
        </p:nvSpPr>
        <p:spPr bwMode="auto">
          <a:xfrm>
            <a:off x="8383588" y="36576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43051" name="Text Box 43"/>
          <p:cNvSpPr txBox="1">
            <a:spLocks noChangeArrowheads="1"/>
          </p:cNvSpPr>
          <p:nvPr/>
        </p:nvSpPr>
        <p:spPr bwMode="auto">
          <a:xfrm>
            <a:off x="914400" y="5105400"/>
            <a:ext cx="190500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ts val="12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Insertion of  34</a:t>
            </a:r>
          </a:p>
        </p:txBody>
      </p:sp>
      <p:sp>
        <p:nvSpPr>
          <p:cNvPr id="43052" name="Oval 44"/>
          <p:cNvSpPr>
            <a:spLocks noChangeArrowheads="1"/>
          </p:cNvSpPr>
          <p:nvPr/>
        </p:nvSpPr>
        <p:spPr bwMode="auto">
          <a:xfrm>
            <a:off x="3505200" y="45720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35</a:t>
            </a:r>
          </a:p>
        </p:txBody>
      </p:sp>
      <p:sp>
        <p:nvSpPr>
          <p:cNvPr id="43053" name="Line 45"/>
          <p:cNvSpPr>
            <a:spLocks noChangeShapeType="1"/>
          </p:cNvSpPr>
          <p:nvPr/>
        </p:nvSpPr>
        <p:spPr bwMode="auto">
          <a:xfrm flipH="1">
            <a:off x="3884613" y="4191000"/>
            <a:ext cx="231775" cy="457200"/>
          </a:xfrm>
          <a:prstGeom prst="line">
            <a:avLst/>
          </a:prstGeom>
          <a:noFill/>
          <a:ln w="2844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054" name="Oval 46"/>
          <p:cNvSpPr>
            <a:spLocks noChangeArrowheads="1"/>
          </p:cNvSpPr>
          <p:nvPr/>
        </p:nvSpPr>
        <p:spPr bwMode="auto">
          <a:xfrm>
            <a:off x="3124200" y="52578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34</a:t>
            </a:r>
          </a:p>
        </p:txBody>
      </p:sp>
      <p:sp>
        <p:nvSpPr>
          <p:cNvPr id="43055" name="Line 47"/>
          <p:cNvSpPr>
            <a:spLocks noChangeShapeType="1"/>
          </p:cNvSpPr>
          <p:nvPr/>
        </p:nvSpPr>
        <p:spPr bwMode="auto">
          <a:xfrm flipH="1">
            <a:off x="3427413" y="5029200"/>
            <a:ext cx="231775" cy="228600"/>
          </a:xfrm>
          <a:prstGeom prst="line">
            <a:avLst/>
          </a:prstGeom>
          <a:noFill/>
          <a:ln w="2844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056" name="Text Box 48"/>
          <p:cNvSpPr txBox="1">
            <a:spLocks noChangeArrowheads="1"/>
          </p:cNvSpPr>
          <p:nvPr/>
        </p:nvSpPr>
        <p:spPr bwMode="auto">
          <a:xfrm>
            <a:off x="4800600" y="4572000"/>
            <a:ext cx="31115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43057" name="Text Box 49"/>
          <p:cNvSpPr txBox="1">
            <a:spLocks noChangeArrowheads="1"/>
          </p:cNvSpPr>
          <p:nvPr/>
        </p:nvSpPr>
        <p:spPr bwMode="auto">
          <a:xfrm>
            <a:off x="2819400" y="5105400"/>
            <a:ext cx="31115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  <p:sp>
        <p:nvSpPr>
          <p:cNvPr id="43058" name="Text Box 50"/>
          <p:cNvSpPr txBox="1">
            <a:spLocks noChangeArrowheads="1"/>
          </p:cNvSpPr>
          <p:nvPr/>
        </p:nvSpPr>
        <p:spPr bwMode="auto">
          <a:xfrm>
            <a:off x="3201988" y="4495800"/>
            <a:ext cx="3095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1</a:t>
            </a:r>
          </a:p>
        </p:txBody>
      </p:sp>
      <p:sp>
        <p:nvSpPr>
          <p:cNvPr id="43059" name="Oval 51"/>
          <p:cNvSpPr>
            <a:spLocks noChangeArrowheads="1"/>
          </p:cNvSpPr>
          <p:nvPr/>
        </p:nvSpPr>
        <p:spPr bwMode="auto">
          <a:xfrm>
            <a:off x="6400800" y="44196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25</a:t>
            </a:r>
          </a:p>
        </p:txBody>
      </p:sp>
      <p:sp>
        <p:nvSpPr>
          <p:cNvPr id="43060" name="Oval 52"/>
          <p:cNvSpPr>
            <a:spLocks noChangeArrowheads="1"/>
          </p:cNvSpPr>
          <p:nvPr/>
        </p:nvSpPr>
        <p:spPr bwMode="auto">
          <a:xfrm>
            <a:off x="7391400" y="4419600"/>
            <a:ext cx="4572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ea typeface="Droid Sans" charset="0"/>
                <a:cs typeface="Droid Sans" charset="0"/>
              </a:rPr>
              <a:t>34</a:t>
            </a:r>
          </a:p>
        </p:txBody>
      </p:sp>
      <p:sp>
        <p:nvSpPr>
          <p:cNvPr id="43061" name="Line 53"/>
          <p:cNvSpPr>
            <a:spLocks noChangeShapeType="1"/>
          </p:cNvSpPr>
          <p:nvPr/>
        </p:nvSpPr>
        <p:spPr bwMode="auto">
          <a:xfrm flipH="1">
            <a:off x="6780213" y="4191000"/>
            <a:ext cx="155575" cy="2286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062" name="Line 54"/>
          <p:cNvSpPr>
            <a:spLocks noChangeShapeType="1"/>
          </p:cNvSpPr>
          <p:nvPr/>
        </p:nvSpPr>
        <p:spPr bwMode="auto">
          <a:xfrm>
            <a:off x="7239000" y="4191000"/>
            <a:ext cx="304800" cy="2286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063" name="Text Box 55"/>
          <p:cNvSpPr txBox="1">
            <a:spLocks noChangeArrowheads="1"/>
          </p:cNvSpPr>
          <p:nvPr/>
        </p:nvSpPr>
        <p:spPr bwMode="auto">
          <a:xfrm>
            <a:off x="6019800" y="4495800"/>
            <a:ext cx="31115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ea typeface="Droid Sans" charset="0"/>
                <a:cs typeface="Droid Sans" charset="0"/>
              </a:rPr>
              <a:t>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/>
              <a:t>AVL Tree Deletion</a:t>
            </a:r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ln/>
        </p:spPr>
        <p:txBody>
          <a:bodyPr/>
          <a:lstStyle/>
          <a:p>
            <a:pPr marL="341313" indent="-341313"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Similar but more complex than insertion</a:t>
            </a:r>
          </a:p>
          <a:p>
            <a:pPr marL="741363" lvl="1" indent="-284163">
              <a:buFont typeface="Arial" pitchFamily="34" charset="0"/>
              <a:buChar char="›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Rotations and double rotations needed to rebalance</a:t>
            </a:r>
          </a:p>
          <a:p>
            <a:pPr marL="741363" lvl="1" indent="-284163">
              <a:buFont typeface="Arial" pitchFamily="34" charset="0"/>
              <a:buChar char="›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Imbalance may propagate upward so that many rotations may be needed.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ext Box 1"/>
          <p:cNvSpPr txBox="1">
            <a:spLocks noChangeArrowheads="1"/>
          </p:cNvSpPr>
          <p:nvPr/>
        </p:nvSpPr>
        <p:spPr bwMode="auto">
          <a:xfrm>
            <a:off x="539750" y="1698625"/>
            <a:ext cx="8318500" cy="43624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457200" indent="-455613">
              <a:buClrTx/>
              <a:buFontTx/>
              <a:buNone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Arguments for AVL trees:</a:t>
            </a:r>
          </a:p>
          <a:p>
            <a:pPr marL="457200" indent="-455613">
              <a:buClrTx/>
              <a:buFontTx/>
              <a:buNone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</a:pPr>
            <a:endParaRPr lang="en-US" sz="1200">
              <a:latin typeface="Arial" pitchFamily="34" charset="0"/>
              <a:ea typeface="Droid Sans" charset="0"/>
              <a:cs typeface="Droid Sans" charset="0"/>
            </a:endParaRPr>
          </a:p>
          <a:p>
            <a:pPr marL="457200" indent="-455613">
              <a:buFont typeface="Times New Roman" pitchFamily="18" charset="0"/>
              <a:buAutoNum type="arabicPeriod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Search is O(log N) since AVL trees are always balanced.</a:t>
            </a:r>
          </a:p>
          <a:p>
            <a:pPr marL="457200" indent="-455613">
              <a:buFont typeface="Times New Roman" pitchFamily="18" charset="0"/>
              <a:buAutoNum type="arabicPeriod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Insertion and deletions are also O(logn)</a:t>
            </a:r>
          </a:p>
          <a:p>
            <a:pPr marL="457200" indent="-455613">
              <a:buFont typeface="Times New Roman" pitchFamily="18" charset="0"/>
              <a:buAutoNum type="arabicPeriod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The height balancing adds no more than a constant factor to the speed of insertion.</a:t>
            </a:r>
          </a:p>
          <a:p>
            <a:pPr marL="457200" indent="-455613">
              <a:buClrTx/>
              <a:buFontTx/>
              <a:buNone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</a:pPr>
            <a:endParaRPr lang="en-US" sz="2000">
              <a:latin typeface="Arial" pitchFamily="34" charset="0"/>
              <a:ea typeface="Droid Sans" charset="0"/>
              <a:cs typeface="Droid Sans" charset="0"/>
            </a:endParaRPr>
          </a:p>
          <a:p>
            <a:pPr marL="457200" indent="-455613">
              <a:buClrTx/>
              <a:buFontTx/>
              <a:buNone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</a:pPr>
            <a:r>
              <a:rPr lang="en-US">
                <a:latin typeface="Arial" pitchFamily="34" charset="0"/>
                <a:ea typeface="Droid Sans" charset="0"/>
                <a:cs typeface="Droid Sans" charset="0"/>
              </a:rPr>
              <a:t>Arguments against using AVL trees:</a:t>
            </a:r>
          </a:p>
          <a:p>
            <a:pPr marL="457200" indent="-455613">
              <a:buFont typeface="Times New Roman" pitchFamily="18" charset="0"/>
              <a:buAutoNum type="arabicPeriod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Difficult to program &amp; debug; more space for balance factor.</a:t>
            </a:r>
          </a:p>
          <a:p>
            <a:pPr marL="457200" indent="-455613">
              <a:buFont typeface="Times New Roman" pitchFamily="18" charset="0"/>
              <a:buAutoNum type="arabicPeriod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Asymptotically faster but rebalancing costs time.</a:t>
            </a:r>
          </a:p>
          <a:p>
            <a:pPr marL="457200" indent="-455613">
              <a:buFont typeface="Times New Roman" pitchFamily="18" charset="0"/>
              <a:buAutoNum type="arabicPeriod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Most large searches are done in database systems on disk and use other structures (e.g. B-trees).</a:t>
            </a:r>
          </a:p>
          <a:p>
            <a:pPr marL="457200" indent="-455613">
              <a:buFont typeface="Times New Roman" pitchFamily="18" charset="0"/>
              <a:buAutoNum type="arabicPeriod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May be OK to have O(N) for a single operation if total run time for many consecutive operations is fast (e.g. Splay trees).</a:t>
            </a:r>
          </a:p>
        </p:txBody>
      </p:sp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665163" y="646113"/>
            <a:ext cx="7813675" cy="8016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dirty="0">
                <a:latin typeface="Arial" pitchFamily="34" charset="0"/>
                <a:ea typeface="Droid Sans" charset="0"/>
                <a:cs typeface="Droid Sans" charset="0"/>
              </a:rPr>
              <a:t>Pros and Cons of AVL Trees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ln/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/>
              <a:t>Double Rotation Solution</a:t>
            </a:r>
          </a:p>
        </p:txBody>
      </p:sp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839788" y="2362200"/>
            <a:ext cx="7953375" cy="13128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Courier New" pitchFamily="49" charset="0"/>
                <a:ea typeface="Droid Sans" charset="0"/>
                <a:cs typeface="Droid Sans" charset="0"/>
              </a:rPr>
              <a:t>DoubleRotateFromRight(n : reference node pointer) {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Courier New" pitchFamily="49" charset="0"/>
                <a:ea typeface="Droid Sans" charset="0"/>
                <a:cs typeface="Droid Sans" charset="0"/>
              </a:rPr>
              <a:t>RotateFromLeft(n.right);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Courier New" pitchFamily="49" charset="0"/>
                <a:ea typeface="Droid Sans" charset="0"/>
                <a:cs typeface="Droid Sans" charset="0"/>
              </a:rPr>
              <a:t>RotateFromRight(n);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Courier New" pitchFamily="49" charset="0"/>
                <a:ea typeface="Droid Sans" charset="0"/>
                <a:cs typeface="Droid Sans" charset="0"/>
              </a:rPr>
              <a:t>}</a:t>
            </a:r>
          </a:p>
        </p:txBody>
      </p:sp>
      <p:sp>
        <p:nvSpPr>
          <p:cNvPr id="46083" name="Oval 3"/>
          <p:cNvSpPr>
            <a:spLocks noChangeArrowheads="1"/>
          </p:cNvSpPr>
          <p:nvPr/>
        </p:nvSpPr>
        <p:spPr bwMode="auto">
          <a:xfrm>
            <a:off x="6019800" y="3505200"/>
            <a:ext cx="304800" cy="304800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6084" name="Oval 4"/>
          <p:cNvSpPr>
            <a:spLocks noChangeArrowheads="1"/>
          </p:cNvSpPr>
          <p:nvPr/>
        </p:nvSpPr>
        <p:spPr bwMode="auto">
          <a:xfrm>
            <a:off x="6705600" y="4191000"/>
            <a:ext cx="304800" cy="304800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6085" name="AutoShape 5"/>
          <p:cNvSpPr>
            <a:spLocks noChangeArrowheads="1"/>
          </p:cNvSpPr>
          <p:nvPr/>
        </p:nvSpPr>
        <p:spPr bwMode="auto">
          <a:xfrm>
            <a:off x="5486400" y="4191000"/>
            <a:ext cx="457200" cy="5334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X</a:t>
            </a:r>
          </a:p>
        </p:txBody>
      </p:sp>
      <p:sp>
        <p:nvSpPr>
          <p:cNvPr id="46086" name="Line 6"/>
          <p:cNvSpPr>
            <a:spLocks noChangeShapeType="1"/>
          </p:cNvSpPr>
          <p:nvPr/>
        </p:nvSpPr>
        <p:spPr bwMode="auto">
          <a:xfrm flipH="1">
            <a:off x="5713413" y="3733800"/>
            <a:ext cx="307975" cy="4572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087" name="Line 7"/>
          <p:cNvSpPr>
            <a:spLocks noChangeShapeType="1"/>
          </p:cNvSpPr>
          <p:nvPr/>
        </p:nvSpPr>
        <p:spPr bwMode="auto">
          <a:xfrm>
            <a:off x="6324600" y="3657600"/>
            <a:ext cx="533400" cy="5334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088" name="Line 8"/>
          <p:cNvSpPr>
            <a:spLocks noChangeShapeType="1"/>
          </p:cNvSpPr>
          <p:nvPr/>
        </p:nvSpPr>
        <p:spPr bwMode="auto">
          <a:xfrm flipH="1">
            <a:off x="6475413" y="4419600"/>
            <a:ext cx="231775" cy="4572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089" name="Line 9"/>
          <p:cNvSpPr>
            <a:spLocks noChangeShapeType="1"/>
          </p:cNvSpPr>
          <p:nvPr/>
        </p:nvSpPr>
        <p:spPr bwMode="auto">
          <a:xfrm>
            <a:off x="7010400" y="4419600"/>
            <a:ext cx="304800" cy="4572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090" name="Line 10"/>
          <p:cNvSpPr>
            <a:spLocks noChangeShapeType="1"/>
          </p:cNvSpPr>
          <p:nvPr/>
        </p:nvSpPr>
        <p:spPr bwMode="auto">
          <a:xfrm flipH="1">
            <a:off x="6170613" y="3276600"/>
            <a:ext cx="155575" cy="2286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091" name="Text Box 11"/>
          <p:cNvSpPr txBox="1">
            <a:spLocks noChangeArrowheads="1"/>
          </p:cNvSpPr>
          <p:nvPr/>
        </p:nvSpPr>
        <p:spPr bwMode="auto">
          <a:xfrm>
            <a:off x="6326188" y="2819400"/>
            <a:ext cx="322262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n</a:t>
            </a:r>
          </a:p>
        </p:txBody>
      </p:sp>
      <p:sp>
        <p:nvSpPr>
          <p:cNvPr id="46092" name="Oval 12"/>
          <p:cNvSpPr>
            <a:spLocks noChangeArrowheads="1"/>
          </p:cNvSpPr>
          <p:nvPr/>
        </p:nvSpPr>
        <p:spPr bwMode="auto">
          <a:xfrm>
            <a:off x="6324600" y="4876800"/>
            <a:ext cx="304800" cy="304800"/>
          </a:xfrm>
          <a:prstGeom prst="ellipse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6093" name="Line 13"/>
          <p:cNvSpPr>
            <a:spLocks noChangeShapeType="1"/>
          </p:cNvSpPr>
          <p:nvPr/>
        </p:nvSpPr>
        <p:spPr bwMode="auto">
          <a:xfrm>
            <a:off x="6629400" y="5105400"/>
            <a:ext cx="304800" cy="4572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094" name="AutoShape 14"/>
          <p:cNvSpPr>
            <a:spLocks noChangeArrowheads="1"/>
          </p:cNvSpPr>
          <p:nvPr/>
        </p:nvSpPr>
        <p:spPr bwMode="auto">
          <a:xfrm>
            <a:off x="5867400" y="5486400"/>
            <a:ext cx="457200" cy="5334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V</a:t>
            </a:r>
          </a:p>
        </p:txBody>
      </p:sp>
      <p:sp>
        <p:nvSpPr>
          <p:cNvPr id="46095" name="AutoShape 15"/>
          <p:cNvSpPr>
            <a:spLocks noChangeArrowheads="1"/>
          </p:cNvSpPr>
          <p:nvPr/>
        </p:nvSpPr>
        <p:spPr bwMode="auto">
          <a:xfrm>
            <a:off x="6705600" y="5486400"/>
            <a:ext cx="457200" cy="5334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W</a:t>
            </a:r>
          </a:p>
        </p:txBody>
      </p:sp>
      <p:sp>
        <p:nvSpPr>
          <p:cNvPr id="46096" name="AutoShape 16"/>
          <p:cNvSpPr>
            <a:spLocks noChangeArrowheads="1"/>
          </p:cNvSpPr>
          <p:nvPr/>
        </p:nvSpPr>
        <p:spPr bwMode="auto">
          <a:xfrm>
            <a:off x="7086600" y="4800600"/>
            <a:ext cx="457200" cy="533400"/>
          </a:xfrm>
          <a:prstGeom prst="triangle">
            <a:avLst>
              <a:gd name="adj" fmla="val 50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latin typeface="Arial" pitchFamily="34" charset="0"/>
                <a:ea typeface="Droid Sans" charset="0"/>
                <a:cs typeface="Droid Sans" charset="0"/>
              </a:rPr>
              <a:t>Z</a:t>
            </a:r>
          </a:p>
        </p:txBody>
      </p:sp>
      <p:sp>
        <p:nvSpPr>
          <p:cNvPr id="46097" name="Line 17"/>
          <p:cNvSpPr>
            <a:spLocks noChangeShapeType="1"/>
          </p:cNvSpPr>
          <p:nvPr/>
        </p:nvSpPr>
        <p:spPr bwMode="auto">
          <a:xfrm flipH="1">
            <a:off x="6094413" y="5105400"/>
            <a:ext cx="231775" cy="4572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4" name="Rectangle 4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Binary Heaps</a:t>
            </a:r>
            <a:br>
              <a:rPr lang="en-US" dirty="0" smtClean="0"/>
            </a:br>
            <a:r>
              <a:rPr lang="en-US" dirty="0" smtClean="0"/>
              <a:t>Motivation</a:t>
            </a:r>
            <a:endParaRPr lang="en-US" dirty="0"/>
          </a:p>
        </p:txBody>
      </p:sp>
      <p:sp>
        <p:nvSpPr>
          <p:cNvPr id="153605" name="Rectangle 5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85800" y="1981200"/>
            <a:ext cx="8153400" cy="4114800"/>
          </a:xfrm>
        </p:spPr>
        <p:txBody>
          <a:bodyPr/>
          <a:lstStyle/>
          <a:p>
            <a:r>
              <a:rPr lang="en-US" dirty="0"/>
              <a:t>Development of a data structure which allows efficient inserts and efficient deletes of the minimum value (</a:t>
            </a:r>
            <a:r>
              <a:rPr lang="en-US" dirty="0" err="1"/>
              <a:t>minheap</a:t>
            </a:r>
            <a:r>
              <a:rPr lang="en-US" dirty="0"/>
              <a:t>) or maximum value (</a:t>
            </a:r>
            <a:r>
              <a:rPr lang="en-US" dirty="0" err="1"/>
              <a:t>maxheap</a:t>
            </a:r>
            <a:r>
              <a:rPr lang="en-US" dirty="0"/>
              <a:t>) </a:t>
            </a:r>
          </a:p>
          <a:p>
            <a:pPr lvl="2"/>
            <a:endParaRPr lang="en-US" sz="2800" dirty="0"/>
          </a:p>
          <a:p>
            <a:pPr lvl="1"/>
            <a:endParaRPr lang="en-US" sz="3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sz="4400" b="0" i="0">
                <a:solidFill>
                  <a:schemeClr val="tx2"/>
                </a:solidFill>
              </a:rPr>
              <a:t>Implementation</a:t>
            </a:r>
          </a:p>
        </p:txBody>
      </p:sp>
      <p:sp>
        <p:nvSpPr>
          <p:cNvPr id="194563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981200"/>
            <a:ext cx="8153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457200" indent="-457200" algn="l">
              <a:lnSpc>
                <a:spcPct val="90000"/>
              </a:lnSpc>
              <a:spcBef>
                <a:spcPct val="20000"/>
              </a:spcBef>
            </a:pPr>
            <a:endParaRPr lang="en-US" sz="2800" b="0" i="0">
              <a:cs typeface="Times New Roman" pitchFamily="18" charset="0"/>
              <a:sym typeface="Wingdings" pitchFamily="2" charset="2"/>
            </a:endParaRPr>
          </a:p>
        </p:txBody>
      </p:sp>
      <p:sp>
        <p:nvSpPr>
          <p:cNvPr id="194567" name="Rectangle 7"/>
          <p:cNvSpPr>
            <a:spLocks noGrp="1" noChangeArrowheads="1"/>
          </p:cNvSpPr>
          <p:nvPr>
            <p:ph type="body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One-array implementation of a binary tree</a:t>
            </a:r>
          </a:p>
          <a:p>
            <a:r>
              <a:rPr lang="en-US"/>
              <a:t>Root of tree is at element 1 of the array</a:t>
            </a:r>
          </a:p>
          <a:p>
            <a:r>
              <a:rPr lang="en-US"/>
              <a:t>If a node is at element </a:t>
            </a:r>
            <a:r>
              <a:rPr lang="en-US" i="1"/>
              <a:t>i </a:t>
            </a:r>
            <a:r>
              <a:rPr lang="en-US"/>
              <a:t>of the array, then its children are at elements </a:t>
            </a:r>
            <a:r>
              <a:rPr lang="en-US" i="1"/>
              <a:t>2*i </a:t>
            </a:r>
            <a:r>
              <a:rPr lang="en-US"/>
              <a:t>and </a:t>
            </a:r>
            <a:r>
              <a:rPr lang="en-US" i="1"/>
              <a:t>2*i+</a:t>
            </a:r>
            <a:r>
              <a:rPr lang="en-US"/>
              <a:t>1</a:t>
            </a:r>
          </a:p>
          <a:p>
            <a:r>
              <a:rPr lang="en-US"/>
              <a:t>If a node is at element </a:t>
            </a:r>
            <a:r>
              <a:rPr lang="en-US" i="1"/>
              <a:t>i </a:t>
            </a:r>
            <a:r>
              <a:rPr lang="en-US"/>
              <a:t>of the array, then its parent is at element  </a:t>
            </a:r>
            <a:r>
              <a:rPr lang="en-US" i="1"/>
              <a:t>floor(i/2</a:t>
            </a:r>
            <a:r>
              <a:rPr lang="en-US"/>
              <a:t>)=</a:t>
            </a:r>
            <a:r>
              <a:rPr lang="en-US" baseline="-25000">
                <a:cs typeface="Times New Roman" pitchFamily="18" charset="0"/>
              </a:rPr>
              <a:t>└</a:t>
            </a:r>
            <a:r>
              <a:rPr lang="en-US">
                <a:cs typeface="Times New Roman" pitchFamily="18" charset="0"/>
              </a:rPr>
              <a:t> </a:t>
            </a:r>
            <a:r>
              <a:rPr lang="en-US" i="1">
                <a:cs typeface="Times New Roman" pitchFamily="18" charset="0"/>
              </a:rPr>
              <a:t>i</a:t>
            </a:r>
            <a:r>
              <a:rPr lang="en-US">
                <a:cs typeface="Times New Roman" pitchFamily="18" charset="0"/>
              </a:rPr>
              <a:t>/2</a:t>
            </a:r>
            <a:r>
              <a:rPr lang="en-US" baseline="-25000">
                <a:cs typeface="Times New Roman" pitchFamily="18" charset="0"/>
              </a:rPr>
              <a:t>┘</a:t>
            </a:r>
          </a:p>
          <a:p>
            <a:pPr>
              <a:buFontTx/>
              <a:buNone/>
            </a:pPr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Implementation</a:t>
            </a:r>
          </a:p>
        </p:txBody>
      </p:sp>
      <p:sp>
        <p:nvSpPr>
          <p:cNvPr id="220179" name="Line 19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 flipH="1">
            <a:off x="3048000" y="2133600"/>
            <a:ext cx="1447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0180" name="Line 20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4724400" y="2133600"/>
            <a:ext cx="1447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0181" name="Line 21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 flipH="1">
            <a:off x="22098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0182" name="Line 22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31242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0183" name="Line 23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 flipH="1">
            <a:off x="1828800" y="37338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0184" name="Line 24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22098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0185" name="Line 25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 flipH="1">
            <a:off x="34290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0186" name="Line 26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 flipH="1">
            <a:off x="51054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0188" name="Line 28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38100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0191" name="Line 31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64770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0192" name="Line 32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 flipH="1">
            <a:off x="55372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0164" name="Oval 4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4478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29</a:t>
            </a:r>
          </a:p>
        </p:txBody>
      </p:sp>
      <p:sp>
        <p:nvSpPr>
          <p:cNvPr id="220165" name="Oval 5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22860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45</a:t>
            </a:r>
          </a:p>
        </p:txBody>
      </p:sp>
      <p:sp>
        <p:nvSpPr>
          <p:cNvPr id="220166" name="Oval 6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3124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35</a:t>
            </a:r>
          </a:p>
        </p:txBody>
      </p:sp>
      <p:sp>
        <p:nvSpPr>
          <p:cNvPr id="220167" name="Oval 7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886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31</a:t>
            </a:r>
          </a:p>
        </p:txBody>
      </p:sp>
      <p:sp>
        <p:nvSpPr>
          <p:cNvPr id="220168" name="Oval 8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7244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21</a:t>
            </a:r>
          </a:p>
        </p:txBody>
      </p:sp>
      <p:sp>
        <p:nvSpPr>
          <p:cNvPr id="220172" name="Oval 12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267200" y="1828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4</a:t>
            </a:r>
          </a:p>
        </p:txBody>
      </p:sp>
      <p:sp>
        <p:nvSpPr>
          <p:cNvPr id="220173" name="Oval 13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943600" y="2667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12</a:t>
            </a:r>
          </a:p>
        </p:txBody>
      </p:sp>
      <p:sp>
        <p:nvSpPr>
          <p:cNvPr id="220174" name="Oval 14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667000" y="27432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5</a:t>
            </a:r>
          </a:p>
        </p:txBody>
      </p:sp>
      <p:sp>
        <p:nvSpPr>
          <p:cNvPr id="220175" name="Oval 15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18288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26</a:t>
            </a:r>
          </a:p>
        </p:txBody>
      </p:sp>
      <p:sp>
        <p:nvSpPr>
          <p:cNvPr id="220176" name="Oval 16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34671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25</a:t>
            </a:r>
          </a:p>
        </p:txBody>
      </p:sp>
      <p:sp>
        <p:nvSpPr>
          <p:cNvPr id="220177" name="Oval 17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51054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14</a:t>
            </a:r>
          </a:p>
        </p:txBody>
      </p:sp>
      <p:sp>
        <p:nvSpPr>
          <p:cNvPr id="220178" name="Oval 18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69342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15</a:t>
            </a:r>
          </a:p>
        </p:txBody>
      </p:sp>
      <p:sp>
        <p:nvSpPr>
          <p:cNvPr id="220193" name="Text Box 33"/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457200" y="5105400"/>
            <a:ext cx="8382000" cy="1311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000">
                <a:latin typeface="Courier New" pitchFamily="49" charset="0"/>
              </a:rPr>
              <a:t>    i   0 1  2  3  4  5  6  7  8  9 10 11 12 13 14 15</a:t>
            </a:r>
          </a:p>
          <a:p>
            <a:pPr algn="l">
              <a:spcBef>
                <a:spcPct val="50000"/>
              </a:spcBef>
            </a:pPr>
            <a:r>
              <a:rPr lang="en-US" sz="2000">
                <a:latin typeface="Courier New" pitchFamily="49" charset="0"/>
              </a:rPr>
              <a:t>array  __ 4  5 12 26 25 14 15 29 45 35 31 21 __ __ __</a:t>
            </a:r>
          </a:p>
          <a:p>
            <a:pPr algn="l">
              <a:spcBef>
                <a:spcPct val="50000"/>
              </a:spcBef>
            </a:pPr>
            <a:r>
              <a:rPr lang="en-US" sz="2000">
                <a:latin typeface="Courier New" pitchFamily="49" charset="0"/>
              </a:rPr>
              <a:t>currentsize = 12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Implementatation</a:t>
            </a:r>
          </a:p>
        </p:txBody>
      </p:sp>
      <p:sp>
        <p:nvSpPr>
          <p:cNvPr id="217091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Heap must be a </a:t>
            </a:r>
            <a:r>
              <a:rPr lang="en-US" i="1"/>
              <a:t>complete </a:t>
            </a:r>
            <a:r>
              <a:rPr lang="en-US"/>
              <a:t>tree</a:t>
            </a:r>
          </a:p>
        </p:txBody>
      </p:sp>
      <p:grpSp>
        <p:nvGrpSpPr>
          <p:cNvPr id="2" name="Group 8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838200" y="2819400"/>
            <a:ext cx="3797300" cy="3136900"/>
            <a:chOff x="1976" y="1672"/>
            <a:chExt cx="2392" cy="1976"/>
          </a:xfrm>
        </p:grpSpPr>
        <p:sp>
          <p:nvSpPr>
            <p:cNvPr id="217092" name="AutoShape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976" y="1672"/>
              <a:ext cx="2352" cy="196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7093" name="AutoShape 5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 rot="10800000">
              <a:off x="3552" y="3312"/>
              <a:ext cx="816" cy="336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7094" name="AutoShape 6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168" y="3312"/>
              <a:ext cx="816" cy="336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7095" name="AutoShape 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 rot="10800000">
              <a:off x="2784" y="3312"/>
              <a:ext cx="816" cy="336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7097" name="Text Box 9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572000" y="2895600"/>
            <a:ext cx="4191000" cy="3195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Tx/>
              <a:buChar char="•"/>
            </a:pPr>
            <a:r>
              <a:rPr lang="en-US"/>
              <a:t> </a:t>
            </a:r>
            <a:r>
              <a:rPr lang="en-US" b="0"/>
              <a:t>all leaves are on the lowest two levels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b="0"/>
              <a:t> nodes are added on the lowest level, from left to right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b="0"/>
              <a:t> nodes are removed from the lowest level, from right to left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endParaRPr lang="en-US" b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19" name="Line 35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38100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1188" name="Rectangle 4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Inserting a Value</a:t>
            </a:r>
          </a:p>
        </p:txBody>
      </p:sp>
      <p:sp>
        <p:nvSpPr>
          <p:cNvPr id="221191" name="Line 7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H="1">
            <a:off x="3048000" y="2133600"/>
            <a:ext cx="1447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1192" name="Line 8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4724400" y="2133600"/>
            <a:ext cx="1447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1193" name="Line 9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H="1">
            <a:off x="22098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1194" name="Line 10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31242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1195" name="Line 11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flipH="1">
            <a:off x="1828800" y="37338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1196" name="Line 12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22098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1197" name="Line 13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 flipH="1">
            <a:off x="34290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1198" name="Line 14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 flipH="1">
            <a:off x="51054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1199" name="Line 15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54864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1200" name="Line 16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64770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1201" name="Line 17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 flipH="1">
            <a:off x="55372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1202" name="Oval 18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4478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29</a:t>
            </a:r>
          </a:p>
        </p:txBody>
      </p:sp>
      <p:sp>
        <p:nvSpPr>
          <p:cNvPr id="221203" name="Oval 19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22860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45</a:t>
            </a:r>
          </a:p>
        </p:txBody>
      </p:sp>
      <p:sp>
        <p:nvSpPr>
          <p:cNvPr id="221204" name="Oval 20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124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35</a:t>
            </a:r>
          </a:p>
        </p:txBody>
      </p:sp>
      <p:sp>
        <p:nvSpPr>
          <p:cNvPr id="221205" name="Oval 21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3886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31</a:t>
            </a:r>
          </a:p>
        </p:txBody>
      </p:sp>
      <p:sp>
        <p:nvSpPr>
          <p:cNvPr id="221206" name="Oval 22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7244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21</a:t>
            </a:r>
          </a:p>
        </p:txBody>
      </p:sp>
      <p:sp>
        <p:nvSpPr>
          <p:cNvPr id="221207" name="Oval 23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4267200" y="1828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4</a:t>
            </a:r>
          </a:p>
        </p:txBody>
      </p:sp>
      <p:sp>
        <p:nvSpPr>
          <p:cNvPr id="221208" name="Oval 24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943600" y="2667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12</a:t>
            </a:r>
          </a:p>
        </p:txBody>
      </p:sp>
      <p:sp>
        <p:nvSpPr>
          <p:cNvPr id="221209" name="Oval 25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667000" y="27432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5</a:t>
            </a:r>
          </a:p>
        </p:txBody>
      </p:sp>
      <p:sp>
        <p:nvSpPr>
          <p:cNvPr id="221210" name="Oval 26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18288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26</a:t>
            </a:r>
          </a:p>
        </p:txBody>
      </p:sp>
      <p:sp>
        <p:nvSpPr>
          <p:cNvPr id="221211" name="Oval 27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4671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25</a:t>
            </a:r>
          </a:p>
        </p:txBody>
      </p:sp>
      <p:sp>
        <p:nvSpPr>
          <p:cNvPr id="221212" name="Oval 28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1054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14</a:t>
            </a:r>
          </a:p>
        </p:txBody>
      </p:sp>
      <p:sp>
        <p:nvSpPr>
          <p:cNvPr id="221213" name="Oval 29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69342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15</a:t>
            </a:r>
          </a:p>
        </p:txBody>
      </p:sp>
      <p:sp>
        <p:nvSpPr>
          <p:cNvPr id="221214" name="Text Box 30"/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457200" y="5105400"/>
            <a:ext cx="8382000" cy="1311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000">
                <a:latin typeface="Courier New" pitchFamily="49" charset="0"/>
              </a:rPr>
              <a:t>    i   0 1  2  3  4  5  6  7  8  9 10 11 12 13 14 15</a:t>
            </a:r>
          </a:p>
          <a:p>
            <a:pPr algn="l">
              <a:spcBef>
                <a:spcPct val="50000"/>
              </a:spcBef>
            </a:pPr>
            <a:r>
              <a:rPr lang="en-US" sz="2000">
                <a:latin typeface="Courier New" pitchFamily="49" charset="0"/>
              </a:rPr>
              <a:t>array  __ 4  5 12 26 25 14 15 29 45 35 31 21  </a:t>
            </a:r>
            <a:r>
              <a:rPr lang="en-US" sz="2000">
                <a:solidFill>
                  <a:srgbClr val="FF0000"/>
                </a:solidFill>
                <a:latin typeface="Courier New" pitchFamily="49" charset="0"/>
              </a:rPr>
              <a:t>3</a:t>
            </a:r>
            <a:r>
              <a:rPr lang="en-US" sz="2000">
                <a:latin typeface="Courier New" pitchFamily="49" charset="0"/>
              </a:rPr>
              <a:t> __ __</a:t>
            </a:r>
          </a:p>
          <a:p>
            <a:pPr algn="l">
              <a:spcBef>
                <a:spcPct val="50000"/>
              </a:spcBef>
            </a:pPr>
            <a:r>
              <a:rPr lang="en-US" sz="2000">
                <a:latin typeface="Courier New" pitchFamily="49" charset="0"/>
              </a:rPr>
              <a:t>currentsize = 13</a:t>
            </a:r>
          </a:p>
        </p:txBody>
      </p:sp>
      <p:sp>
        <p:nvSpPr>
          <p:cNvPr id="221215" name="Text Box 31"/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6248400" y="6172200"/>
            <a:ext cx="23622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Insert 3</a:t>
            </a:r>
          </a:p>
        </p:txBody>
      </p:sp>
      <p:sp>
        <p:nvSpPr>
          <p:cNvPr id="221216" name="Oval 32"/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5638800" y="4114800"/>
            <a:ext cx="609600" cy="5334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</a:t>
            </a:r>
          </a:p>
        </p:txBody>
      </p:sp>
      <p:sp>
        <p:nvSpPr>
          <p:cNvPr id="221217" name="Text Box 33"/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6324600" y="4114800"/>
            <a:ext cx="31242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800">
                <a:latin typeface="Courier New" pitchFamily="49" charset="0"/>
              </a:rPr>
              <a:t>insert here to keep tree complete</a:t>
            </a:r>
          </a:p>
        </p:txBody>
      </p:sp>
      <p:sp>
        <p:nvSpPr>
          <p:cNvPr id="221218" name="AutoShape 34"/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 rot="10583924">
            <a:off x="6096000" y="4495800"/>
            <a:ext cx="533400" cy="457200"/>
          </a:xfrm>
          <a:custGeom>
            <a:avLst/>
            <a:gdLst>
              <a:gd name="G0" fmla="+- 0 0 0"/>
              <a:gd name="G1" fmla="+- -11796480 0 0"/>
              <a:gd name="G2" fmla="+- 0 0 -11796480"/>
              <a:gd name="G3" fmla="+- 10800 0 0"/>
              <a:gd name="G4" fmla="+- 0 0 0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5400 0 0"/>
              <a:gd name="G9" fmla="+- 0 0 -11796480"/>
              <a:gd name="G10" fmla="+- 5400 0 2700"/>
              <a:gd name="G11" fmla="cos G10 0"/>
              <a:gd name="G12" fmla="sin G10 0"/>
              <a:gd name="G13" fmla="cos 13500 0"/>
              <a:gd name="G14" fmla="sin 13500 0"/>
              <a:gd name="G15" fmla="+- G11 10800 0"/>
              <a:gd name="G16" fmla="+- G12 10800 0"/>
              <a:gd name="G17" fmla="+- G13 10800 0"/>
              <a:gd name="G18" fmla="+- G14 10800 0"/>
              <a:gd name="G19" fmla="*/ 5400 1 2"/>
              <a:gd name="G20" fmla="+- G19 5400 0"/>
              <a:gd name="G21" fmla="cos G20 0"/>
              <a:gd name="G22" fmla="sin G20 0"/>
              <a:gd name="G23" fmla="+- G21 10800 0"/>
              <a:gd name="G24" fmla="+- G12 G23 G22"/>
              <a:gd name="G25" fmla="+- G22 G23 G11"/>
              <a:gd name="G26" fmla="cos 10800 0"/>
              <a:gd name="G27" fmla="sin 10800 0"/>
              <a:gd name="G28" fmla="cos 5400 0"/>
              <a:gd name="G29" fmla="sin 5400 0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0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5400 G39"/>
              <a:gd name="G43" fmla="sin 54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799 w 21600"/>
              <a:gd name="T5" fmla="*/ 0 h 21600"/>
              <a:gd name="T6" fmla="*/ 2700 w 21600"/>
              <a:gd name="T7" fmla="*/ 10800 h 21600"/>
              <a:gd name="T8" fmla="*/ 10799 w 21600"/>
              <a:gd name="T9" fmla="*/ 5400 h 21600"/>
              <a:gd name="T10" fmla="*/ 24300 w 21600"/>
              <a:gd name="T11" fmla="*/ 10800 h 21600"/>
              <a:gd name="T12" fmla="*/ 18900 w 21600"/>
              <a:gd name="T13" fmla="*/ 16200 h 21600"/>
              <a:gd name="T14" fmla="*/ 13500 w 21600"/>
              <a:gd name="T15" fmla="*/ 10800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6200" y="10800"/>
                </a:moveTo>
                <a:cubicBezTo>
                  <a:pt x="16200" y="7817"/>
                  <a:pt x="13782" y="5400"/>
                  <a:pt x="10800" y="5400"/>
                </a:cubicBezTo>
                <a:cubicBezTo>
                  <a:pt x="7817" y="5400"/>
                  <a:pt x="5400" y="7817"/>
                  <a:pt x="5400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599" y="4835"/>
                  <a:pt x="21600" y="10799"/>
                </a:cubicBezTo>
                <a:lnTo>
                  <a:pt x="21600" y="10800"/>
                </a:lnTo>
                <a:lnTo>
                  <a:pt x="24300" y="10800"/>
                </a:lnTo>
                <a:lnTo>
                  <a:pt x="18900" y="16200"/>
                </a:lnTo>
                <a:lnTo>
                  <a:pt x="13500" y="10800"/>
                </a:lnTo>
                <a:lnTo>
                  <a:pt x="16200" y="10800"/>
                </a:lnTo>
                <a:close/>
              </a:path>
            </a:pathLst>
          </a:cu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76" name="Line 32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38100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6546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sz="4400" b="0" i="0">
                <a:solidFill>
                  <a:schemeClr val="tx2"/>
                </a:solidFill>
              </a:rPr>
              <a:t>Inserting a Value</a:t>
            </a:r>
          </a:p>
        </p:txBody>
      </p:sp>
      <p:sp>
        <p:nvSpPr>
          <p:cNvPr id="236547" name="Line 3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H="1">
            <a:off x="3048000" y="2133600"/>
            <a:ext cx="1447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6548" name="Line 4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4724400" y="2133600"/>
            <a:ext cx="1447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6549" name="Line 5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H="1">
            <a:off x="22098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6550" name="Line 6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31242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6551" name="Line 7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flipH="1">
            <a:off x="1828800" y="37338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6552" name="Line 8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22098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6553" name="Line 9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 flipH="1">
            <a:off x="34290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6554" name="Line 10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 flipH="1">
            <a:off x="51054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6555" name="Line 11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54864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6556" name="Line 12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64770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6557" name="Line 13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 flipH="1">
            <a:off x="55372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6558" name="Oval 14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4478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29</a:t>
            </a:r>
          </a:p>
        </p:txBody>
      </p:sp>
      <p:sp>
        <p:nvSpPr>
          <p:cNvPr id="236559" name="Oval 15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22860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45</a:t>
            </a:r>
          </a:p>
        </p:txBody>
      </p:sp>
      <p:sp>
        <p:nvSpPr>
          <p:cNvPr id="236560" name="Oval 16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124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35</a:t>
            </a:r>
          </a:p>
        </p:txBody>
      </p:sp>
      <p:sp>
        <p:nvSpPr>
          <p:cNvPr id="236561" name="Oval 17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3886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31</a:t>
            </a:r>
          </a:p>
        </p:txBody>
      </p:sp>
      <p:sp>
        <p:nvSpPr>
          <p:cNvPr id="236562" name="Oval 18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7244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21</a:t>
            </a:r>
          </a:p>
        </p:txBody>
      </p:sp>
      <p:sp>
        <p:nvSpPr>
          <p:cNvPr id="236563" name="Oval 19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4267200" y="1828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4</a:t>
            </a:r>
          </a:p>
        </p:txBody>
      </p:sp>
      <p:sp>
        <p:nvSpPr>
          <p:cNvPr id="236564" name="Oval 20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943600" y="2667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12</a:t>
            </a:r>
          </a:p>
        </p:txBody>
      </p:sp>
      <p:sp>
        <p:nvSpPr>
          <p:cNvPr id="236565" name="Oval 21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667000" y="27432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5</a:t>
            </a:r>
          </a:p>
        </p:txBody>
      </p:sp>
      <p:sp>
        <p:nvSpPr>
          <p:cNvPr id="236566" name="Oval 22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18288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26</a:t>
            </a:r>
          </a:p>
        </p:txBody>
      </p:sp>
      <p:sp>
        <p:nvSpPr>
          <p:cNvPr id="236567" name="Oval 23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4671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25</a:t>
            </a:r>
          </a:p>
        </p:txBody>
      </p:sp>
      <p:sp>
        <p:nvSpPr>
          <p:cNvPr id="236568" name="Oval 24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1054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14</a:t>
            </a:r>
          </a:p>
        </p:txBody>
      </p:sp>
      <p:sp>
        <p:nvSpPr>
          <p:cNvPr id="236569" name="Oval 25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69342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15</a:t>
            </a:r>
          </a:p>
        </p:txBody>
      </p:sp>
      <p:sp>
        <p:nvSpPr>
          <p:cNvPr id="236571" name="Text Box 27"/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6248400" y="6172200"/>
            <a:ext cx="23622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Insert 3</a:t>
            </a:r>
          </a:p>
        </p:txBody>
      </p:sp>
      <p:sp>
        <p:nvSpPr>
          <p:cNvPr id="236572" name="Oval 28"/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56388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236573" name="Text Box 29"/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2057400" y="5302250"/>
            <a:ext cx="38862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800">
                <a:latin typeface="Courier New" pitchFamily="49" charset="0"/>
              </a:rPr>
              <a:t>save new value in a temporary location: tmp </a:t>
            </a:r>
            <a:r>
              <a:rPr lang="en-US" sz="1800" i="0">
                <a:latin typeface="Courier New" pitchFamily="49" charset="0"/>
                <a:sym typeface="Wingdings" pitchFamily="2" charset="2"/>
              </a:rPr>
              <a:t></a:t>
            </a:r>
            <a:endParaRPr lang="en-US" sz="1800" i="0">
              <a:latin typeface="Courier New" pitchFamily="49" charset="0"/>
            </a:endParaRPr>
          </a:p>
        </p:txBody>
      </p:sp>
      <p:sp>
        <p:nvSpPr>
          <p:cNvPr id="236575" name="Oval 31"/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6096000" y="5334000"/>
            <a:ext cx="609600" cy="5334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1" name="Line 31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38100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22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sz="4400" b="0" i="0">
                <a:solidFill>
                  <a:schemeClr val="tx2"/>
                </a:solidFill>
              </a:rPr>
              <a:t>Inserting a Value</a:t>
            </a:r>
          </a:p>
        </p:txBody>
      </p:sp>
      <p:sp>
        <p:nvSpPr>
          <p:cNvPr id="235523" name="Line 3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H="1">
            <a:off x="3048000" y="2133600"/>
            <a:ext cx="1447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24" name="Line 4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4724400" y="2133600"/>
            <a:ext cx="1447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25" name="Line 5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H="1">
            <a:off x="22098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26" name="Line 6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31242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27" name="Line 7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flipH="1">
            <a:off x="1828800" y="37338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28" name="Line 8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22098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29" name="Line 9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 flipH="1">
            <a:off x="34290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30" name="Line 10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 flipH="1">
            <a:off x="51054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31" name="Line 11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54864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32" name="Line 12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64770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33" name="Line 13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 flipH="1">
            <a:off x="55372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34" name="Oval 14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4478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29</a:t>
            </a:r>
          </a:p>
        </p:txBody>
      </p:sp>
      <p:sp>
        <p:nvSpPr>
          <p:cNvPr id="235535" name="Oval 15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22860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45</a:t>
            </a:r>
          </a:p>
        </p:txBody>
      </p:sp>
      <p:sp>
        <p:nvSpPr>
          <p:cNvPr id="235536" name="Oval 16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124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35</a:t>
            </a:r>
          </a:p>
        </p:txBody>
      </p:sp>
      <p:sp>
        <p:nvSpPr>
          <p:cNvPr id="235537" name="Oval 17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3886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31</a:t>
            </a:r>
          </a:p>
        </p:txBody>
      </p:sp>
      <p:sp>
        <p:nvSpPr>
          <p:cNvPr id="235538" name="Oval 18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7244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21</a:t>
            </a:r>
          </a:p>
        </p:txBody>
      </p:sp>
      <p:sp>
        <p:nvSpPr>
          <p:cNvPr id="235539" name="Oval 19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4267200" y="1828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4</a:t>
            </a:r>
          </a:p>
        </p:txBody>
      </p:sp>
      <p:sp>
        <p:nvSpPr>
          <p:cNvPr id="235540" name="Oval 20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943600" y="2667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12</a:t>
            </a:r>
          </a:p>
        </p:txBody>
      </p:sp>
      <p:sp>
        <p:nvSpPr>
          <p:cNvPr id="235541" name="Oval 21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667000" y="27432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5</a:t>
            </a:r>
          </a:p>
        </p:txBody>
      </p:sp>
      <p:sp>
        <p:nvSpPr>
          <p:cNvPr id="235542" name="Oval 22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18288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26</a:t>
            </a:r>
          </a:p>
        </p:txBody>
      </p:sp>
      <p:sp>
        <p:nvSpPr>
          <p:cNvPr id="235543" name="Oval 23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4671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25</a:t>
            </a:r>
          </a:p>
        </p:txBody>
      </p:sp>
      <p:sp>
        <p:nvSpPr>
          <p:cNvPr id="235544" name="Oval 24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1054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14</a:t>
            </a:r>
          </a:p>
        </p:txBody>
      </p:sp>
      <p:sp>
        <p:nvSpPr>
          <p:cNvPr id="235545" name="Oval 25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69342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15</a:t>
            </a:r>
          </a:p>
        </p:txBody>
      </p:sp>
      <p:sp>
        <p:nvSpPr>
          <p:cNvPr id="235546" name="Text Box 26"/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6248400" y="6172200"/>
            <a:ext cx="23622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Insert 3</a:t>
            </a:r>
          </a:p>
        </p:txBody>
      </p:sp>
      <p:sp>
        <p:nvSpPr>
          <p:cNvPr id="235547" name="Oval 27"/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56388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14</a:t>
            </a:r>
          </a:p>
        </p:txBody>
      </p:sp>
      <p:sp>
        <p:nvSpPr>
          <p:cNvPr id="235548" name="Text Box 28"/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5143500" y="5448300"/>
            <a:ext cx="9906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800">
                <a:latin typeface="Courier New" pitchFamily="49" charset="0"/>
              </a:rPr>
              <a:t>tmp </a:t>
            </a:r>
            <a:r>
              <a:rPr lang="en-US" sz="1800" i="0">
                <a:latin typeface="Courier New" pitchFamily="49" charset="0"/>
                <a:sym typeface="Wingdings" pitchFamily="2" charset="2"/>
              </a:rPr>
              <a:t></a:t>
            </a:r>
            <a:endParaRPr lang="en-US" sz="1800" i="0">
              <a:latin typeface="Courier New" pitchFamily="49" charset="0"/>
            </a:endParaRPr>
          </a:p>
        </p:txBody>
      </p:sp>
      <p:sp>
        <p:nvSpPr>
          <p:cNvPr id="235549" name="Oval 29"/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6096000" y="5334000"/>
            <a:ext cx="609600" cy="5334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</a:t>
            </a:r>
          </a:p>
        </p:txBody>
      </p:sp>
      <p:sp>
        <p:nvSpPr>
          <p:cNvPr id="235550" name="Text Box 30"/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6553200" y="4191000"/>
            <a:ext cx="2590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800" i="0">
                <a:latin typeface="Courier New" pitchFamily="49" charset="0"/>
                <a:sym typeface="Wingdings" pitchFamily="2" charset="2"/>
              </a:rPr>
              <a:t> copy 14 down because 14 &gt; 3</a:t>
            </a:r>
            <a:endParaRPr lang="en-US" sz="1800" i="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28" name="Line 32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38100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4498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sz="4400" b="0" i="0">
                <a:solidFill>
                  <a:schemeClr val="tx2"/>
                </a:solidFill>
              </a:rPr>
              <a:t>Inserting a Value</a:t>
            </a:r>
          </a:p>
        </p:txBody>
      </p:sp>
      <p:sp>
        <p:nvSpPr>
          <p:cNvPr id="234499" name="Line 3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H="1">
            <a:off x="3048000" y="2133600"/>
            <a:ext cx="1447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4500" name="Line 4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4724400" y="2133600"/>
            <a:ext cx="1447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4501" name="Line 5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H="1">
            <a:off x="22098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4502" name="Line 6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31242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4503" name="Line 7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flipH="1">
            <a:off x="1828800" y="37338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4504" name="Line 8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22098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4505" name="Line 9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 flipH="1">
            <a:off x="34290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4506" name="Line 10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 flipH="1">
            <a:off x="51054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4507" name="Line 11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54864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4508" name="Line 12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64770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4509" name="Line 13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 flipH="1">
            <a:off x="55372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4510" name="Oval 14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4478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29</a:t>
            </a:r>
          </a:p>
        </p:txBody>
      </p:sp>
      <p:sp>
        <p:nvSpPr>
          <p:cNvPr id="234511" name="Oval 15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22860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45</a:t>
            </a:r>
          </a:p>
        </p:txBody>
      </p:sp>
      <p:sp>
        <p:nvSpPr>
          <p:cNvPr id="234512" name="Oval 16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124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35</a:t>
            </a:r>
          </a:p>
        </p:txBody>
      </p:sp>
      <p:sp>
        <p:nvSpPr>
          <p:cNvPr id="234513" name="Oval 17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3886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31</a:t>
            </a:r>
          </a:p>
        </p:txBody>
      </p:sp>
      <p:sp>
        <p:nvSpPr>
          <p:cNvPr id="234514" name="Oval 18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7244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21</a:t>
            </a:r>
          </a:p>
        </p:txBody>
      </p:sp>
      <p:sp>
        <p:nvSpPr>
          <p:cNvPr id="234515" name="Oval 19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4267200" y="1828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4</a:t>
            </a:r>
          </a:p>
        </p:txBody>
      </p:sp>
      <p:sp>
        <p:nvSpPr>
          <p:cNvPr id="234516" name="Oval 20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943600" y="2667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12</a:t>
            </a:r>
          </a:p>
        </p:txBody>
      </p:sp>
      <p:sp>
        <p:nvSpPr>
          <p:cNvPr id="234517" name="Oval 21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667000" y="27432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5</a:t>
            </a:r>
          </a:p>
        </p:txBody>
      </p:sp>
      <p:sp>
        <p:nvSpPr>
          <p:cNvPr id="234518" name="Oval 22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18288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26</a:t>
            </a:r>
          </a:p>
        </p:txBody>
      </p:sp>
      <p:sp>
        <p:nvSpPr>
          <p:cNvPr id="234519" name="Oval 23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4671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25</a:t>
            </a:r>
          </a:p>
        </p:txBody>
      </p:sp>
      <p:sp>
        <p:nvSpPr>
          <p:cNvPr id="234520" name="Oval 24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1054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12</a:t>
            </a:r>
          </a:p>
        </p:txBody>
      </p:sp>
      <p:sp>
        <p:nvSpPr>
          <p:cNvPr id="234521" name="Oval 25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69342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15</a:t>
            </a:r>
          </a:p>
        </p:txBody>
      </p:sp>
      <p:sp>
        <p:nvSpPr>
          <p:cNvPr id="234522" name="Text Box 26"/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6248400" y="6172200"/>
            <a:ext cx="23622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Insert 3</a:t>
            </a:r>
          </a:p>
        </p:txBody>
      </p:sp>
      <p:sp>
        <p:nvSpPr>
          <p:cNvPr id="234523" name="Oval 27"/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56388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14</a:t>
            </a:r>
          </a:p>
        </p:txBody>
      </p:sp>
      <p:sp>
        <p:nvSpPr>
          <p:cNvPr id="234524" name="Text Box 28"/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5143500" y="5448300"/>
            <a:ext cx="9906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800">
                <a:latin typeface="Courier New" pitchFamily="49" charset="0"/>
              </a:rPr>
              <a:t>tmp </a:t>
            </a:r>
            <a:r>
              <a:rPr lang="en-US" sz="1800" i="0">
                <a:latin typeface="Courier New" pitchFamily="49" charset="0"/>
                <a:sym typeface="Wingdings" pitchFamily="2" charset="2"/>
              </a:rPr>
              <a:t></a:t>
            </a:r>
            <a:endParaRPr lang="en-US" sz="1800" i="0">
              <a:latin typeface="Courier New" pitchFamily="49" charset="0"/>
            </a:endParaRPr>
          </a:p>
        </p:txBody>
      </p:sp>
      <p:sp>
        <p:nvSpPr>
          <p:cNvPr id="234525" name="Oval 29"/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6096000" y="5334000"/>
            <a:ext cx="609600" cy="5334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</a:t>
            </a:r>
          </a:p>
        </p:txBody>
      </p:sp>
      <p:sp>
        <p:nvSpPr>
          <p:cNvPr id="234526" name="Text Box 30"/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6553200" y="4191000"/>
            <a:ext cx="2590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800" i="0">
                <a:latin typeface="Courier New" pitchFamily="49" charset="0"/>
                <a:sym typeface="Wingdings" pitchFamily="2" charset="2"/>
              </a:rPr>
              <a:t>copy 12 down because 12 &gt; 3</a:t>
            </a:r>
            <a:endParaRPr lang="en-US" sz="1800" i="0">
              <a:latin typeface="Courier New" pitchFamily="49" charset="0"/>
            </a:endParaRPr>
          </a:p>
        </p:txBody>
      </p:sp>
      <p:sp>
        <p:nvSpPr>
          <p:cNvPr id="234527" name="Line 31"/>
          <p:cNvSpPr>
            <a:spLocks noChangeShapeType="1"/>
          </p:cNvSpPr>
          <p:nvPr>
            <p:custDataLst>
              <p:tags r:id="rId31"/>
            </p:custDataLst>
          </p:nvPr>
        </p:nvSpPr>
        <p:spPr bwMode="auto">
          <a:xfrm flipH="1" flipV="1">
            <a:off x="5791200" y="3810000"/>
            <a:ext cx="1066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504" name="Line 32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38100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3474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sz="4400" b="0" i="0">
                <a:solidFill>
                  <a:schemeClr val="tx2"/>
                </a:solidFill>
              </a:rPr>
              <a:t>Inserting a Value</a:t>
            </a:r>
          </a:p>
        </p:txBody>
      </p:sp>
      <p:sp>
        <p:nvSpPr>
          <p:cNvPr id="233475" name="Line 3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H="1">
            <a:off x="3048000" y="2133600"/>
            <a:ext cx="1447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3476" name="Line 4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4724400" y="2133600"/>
            <a:ext cx="1447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3477" name="Line 5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H="1">
            <a:off x="22098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3478" name="Line 6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31242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3479" name="Line 7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flipH="1">
            <a:off x="1828800" y="37338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3480" name="Line 8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22098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3481" name="Line 9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 flipH="1">
            <a:off x="34290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3482" name="Line 10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 flipH="1">
            <a:off x="51054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3483" name="Line 11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54864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3484" name="Line 12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64770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3485" name="Line 13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 flipH="1">
            <a:off x="55372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3486" name="Oval 14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4478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29</a:t>
            </a:r>
          </a:p>
        </p:txBody>
      </p:sp>
      <p:sp>
        <p:nvSpPr>
          <p:cNvPr id="233487" name="Oval 15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22860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45</a:t>
            </a:r>
          </a:p>
        </p:txBody>
      </p:sp>
      <p:sp>
        <p:nvSpPr>
          <p:cNvPr id="233488" name="Oval 16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124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35</a:t>
            </a:r>
          </a:p>
        </p:txBody>
      </p:sp>
      <p:sp>
        <p:nvSpPr>
          <p:cNvPr id="233489" name="Oval 17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3886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31</a:t>
            </a:r>
          </a:p>
        </p:txBody>
      </p:sp>
      <p:sp>
        <p:nvSpPr>
          <p:cNvPr id="233490" name="Oval 18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7244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21</a:t>
            </a:r>
          </a:p>
        </p:txBody>
      </p:sp>
      <p:sp>
        <p:nvSpPr>
          <p:cNvPr id="233491" name="Oval 19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4267200" y="1828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4</a:t>
            </a:r>
          </a:p>
        </p:txBody>
      </p:sp>
      <p:sp>
        <p:nvSpPr>
          <p:cNvPr id="233492" name="Oval 20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943600" y="2667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4</a:t>
            </a:r>
          </a:p>
        </p:txBody>
      </p:sp>
      <p:sp>
        <p:nvSpPr>
          <p:cNvPr id="233493" name="Oval 21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667000" y="27432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5</a:t>
            </a:r>
          </a:p>
        </p:txBody>
      </p:sp>
      <p:sp>
        <p:nvSpPr>
          <p:cNvPr id="233494" name="Oval 22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18288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26</a:t>
            </a:r>
          </a:p>
        </p:txBody>
      </p:sp>
      <p:sp>
        <p:nvSpPr>
          <p:cNvPr id="233495" name="Oval 23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4671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25</a:t>
            </a:r>
          </a:p>
        </p:txBody>
      </p:sp>
      <p:sp>
        <p:nvSpPr>
          <p:cNvPr id="233496" name="Oval 24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1054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12</a:t>
            </a:r>
          </a:p>
        </p:txBody>
      </p:sp>
      <p:sp>
        <p:nvSpPr>
          <p:cNvPr id="233497" name="Oval 25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69342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15</a:t>
            </a:r>
          </a:p>
        </p:txBody>
      </p:sp>
      <p:sp>
        <p:nvSpPr>
          <p:cNvPr id="233498" name="Text Box 26"/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6248400" y="6172200"/>
            <a:ext cx="23622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Insert 3</a:t>
            </a:r>
          </a:p>
        </p:txBody>
      </p:sp>
      <p:sp>
        <p:nvSpPr>
          <p:cNvPr id="233499" name="Oval 27"/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56388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14</a:t>
            </a:r>
          </a:p>
        </p:txBody>
      </p:sp>
      <p:sp>
        <p:nvSpPr>
          <p:cNvPr id="233500" name="Text Box 28"/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5143500" y="5448300"/>
            <a:ext cx="9906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800">
                <a:latin typeface="Courier New" pitchFamily="49" charset="0"/>
              </a:rPr>
              <a:t>tmp </a:t>
            </a:r>
            <a:r>
              <a:rPr lang="en-US" sz="1800" i="0">
                <a:latin typeface="Courier New" pitchFamily="49" charset="0"/>
                <a:sym typeface="Wingdings" pitchFamily="2" charset="2"/>
              </a:rPr>
              <a:t></a:t>
            </a:r>
            <a:endParaRPr lang="en-US" sz="1800" i="0">
              <a:latin typeface="Courier New" pitchFamily="49" charset="0"/>
            </a:endParaRPr>
          </a:p>
        </p:txBody>
      </p:sp>
      <p:sp>
        <p:nvSpPr>
          <p:cNvPr id="233501" name="Oval 29"/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6096000" y="5334000"/>
            <a:ext cx="609600" cy="5334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</a:t>
            </a:r>
          </a:p>
        </p:txBody>
      </p:sp>
      <p:sp>
        <p:nvSpPr>
          <p:cNvPr id="233502" name="Text Box 30"/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6553200" y="4191000"/>
            <a:ext cx="2590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800" i="0">
                <a:latin typeface="Courier New" pitchFamily="49" charset="0"/>
                <a:sym typeface="Wingdings" pitchFamily="2" charset="2"/>
              </a:rPr>
              <a:t>copy 4 down because 4 &gt; 3</a:t>
            </a:r>
            <a:endParaRPr lang="en-US" sz="1800" i="0">
              <a:latin typeface="Courier New" pitchFamily="49" charset="0"/>
            </a:endParaRPr>
          </a:p>
        </p:txBody>
      </p:sp>
      <p:sp>
        <p:nvSpPr>
          <p:cNvPr id="233503" name="Line 31"/>
          <p:cNvSpPr>
            <a:spLocks noChangeShapeType="1"/>
          </p:cNvSpPr>
          <p:nvPr>
            <p:custDataLst>
              <p:tags r:id="rId31"/>
            </p:custDataLst>
          </p:nvPr>
        </p:nvSpPr>
        <p:spPr bwMode="auto">
          <a:xfrm flipH="1" flipV="1">
            <a:off x="6400800" y="3200400"/>
            <a:ext cx="4572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80" name="Line 32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38100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2450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sz="4400" b="0" i="0">
                <a:solidFill>
                  <a:schemeClr val="tx2"/>
                </a:solidFill>
              </a:rPr>
              <a:t>Inserting a Value</a:t>
            </a:r>
          </a:p>
        </p:txBody>
      </p:sp>
      <p:sp>
        <p:nvSpPr>
          <p:cNvPr id="232451" name="Line 3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H="1">
            <a:off x="3048000" y="2133600"/>
            <a:ext cx="1447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2452" name="Line 4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4724400" y="2133600"/>
            <a:ext cx="1447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2453" name="Line 5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H="1">
            <a:off x="22098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2454" name="Line 6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31242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2455" name="Line 7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flipH="1">
            <a:off x="1828800" y="37338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2456" name="Line 8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22098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2457" name="Line 9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 flipH="1">
            <a:off x="34290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2458" name="Line 10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 flipH="1">
            <a:off x="51054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2459" name="Line 11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54864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2460" name="Line 12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64770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2461" name="Line 13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 flipH="1">
            <a:off x="55372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2462" name="Oval 14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4478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29</a:t>
            </a:r>
          </a:p>
        </p:txBody>
      </p:sp>
      <p:sp>
        <p:nvSpPr>
          <p:cNvPr id="232463" name="Oval 15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22860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45</a:t>
            </a:r>
          </a:p>
        </p:txBody>
      </p:sp>
      <p:sp>
        <p:nvSpPr>
          <p:cNvPr id="232464" name="Oval 16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124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35</a:t>
            </a:r>
          </a:p>
        </p:txBody>
      </p:sp>
      <p:sp>
        <p:nvSpPr>
          <p:cNvPr id="232465" name="Oval 17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3886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31</a:t>
            </a:r>
          </a:p>
        </p:txBody>
      </p:sp>
      <p:sp>
        <p:nvSpPr>
          <p:cNvPr id="232466" name="Oval 18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7244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21</a:t>
            </a:r>
          </a:p>
        </p:txBody>
      </p:sp>
      <p:sp>
        <p:nvSpPr>
          <p:cNvPr id="232467" name="Oval 19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4267200" y="1828800"/>
            <a:ext cx="609600" cy="53340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</a:t>
            </a:r>
          </a:p>
        </p:txBody>
      </p:sp>
      <p:sp>
        <p:nvSpPr>
          <p:cNvPr id="232468" name="Oval 20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943600" y="2667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4</a:t>
            </a:r>
          </a:p>
        </p:txBody>
      </p:sp>
      <p:sp>
        <p:nvSpPr>
          <p:cNvPr id="232469" name="Oval 21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667000" y="27432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5</a:t>
            </a:r>
          </a:p>
        </p:txBody>
      </p:sp>
      <p:sp>
        <p:nvSpPr>
          <p:cNvPr id="232470" name="Oval 22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18288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26</a:t>
            </a:r>
          </a:p>
        </p:txBody>
      </p:sp>
      <p:sp>
        <p:nvSpPr>
          <p:cNvPr id="232471" name="Oval 23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4671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25</a:t>
            </a:r>
          </a:p>
        </p:txBody>
      </p:sp>
      <p:sp>
        <p:nvSpPr>
          <p:cNvPr id="232472" name="Oval 24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1054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12</a:t>
            </a:r>
          </a:p>
        </p:txBody>
      </p:sp>
      <p:sp>
        <p:nvSpPr>
          <p:cNvPr id="232473" name="Oval 25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69342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15</a:t>
            </a:r>
          </a:p>
        </p:txBody>
      </p:sp>
      <p:sp>
        <p:nvSpPr>
          <p:cNvPr id="232474" name="Text Box 26"/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6248400" y="6172200"/>
            <a:ext cx="23622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Insert 3</a:t>
            </a:r>
          </a:p>
        </p:txBody>
      </p:sp>
      <p:sp>
        <p:nvSpPr>
          <p:cNvPr id="232475" name="Oval 27"/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56388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14</a:t>
            </a:r>
          </a:p>
        </p:txBody>
      </p:sp>
      <p:sp>
        <p:nvSpPr>
          <p:cNvPr id="232478" name="Text Box 30"/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4876800" y="1828800"/>
            <a:ext cx="13716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800" i="0">
                <a:latin typeface="Courier New" pitchFamily="49" charset="0"/>
                <a:sym typeface="Wingdings" pitchFamily="2" charset="2"/>
              </a:rPr>
              <a:t>insert 3 </a:t>
            </a:r>
            <a:endParaRPr lang="en-US" sz="1800" i="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53" name="Line 29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38100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1426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sz="4400" b="0" i="0">
                <a:solidFill>
                  <a:schemeClr val="tx2"/>
                </a:solidFill>
              </a:rPr>
              <a:t>Heap After Insert</a:t>
            </a:r>
          </a:p>
        </p:txBody>
      </p:sp>
      <p:sp>
        <p:nvSpPr>
          <p:cNvPr id="231427" name="Line 3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H="1">
            <a:off x="3048000" y="2133600"/>
            <a:ext cx="1447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1428" name="Line 4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4724400" y="2133600"/>
            <a:ext cx="1447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1429" name="Line 5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H="1">
            <a:off x="22098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1430" name="Line 6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31242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1431" name="Line 7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flipH="1">
            <a:off x="1828800" y="37338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1432" name="Line 8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22098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1433" name="Line 9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 flipH="1">
            <a:off x="34290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1434" name="Line 10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 flipH="1">
            <a:off x="51054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1435" name="Line 11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54864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1436" name="Line 12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64770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1437" name="Line 13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 flipH="1">
            <a:off x="55372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1438" name="Oval 14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4478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29</a:t>
            </a:r>
          </a:p>
        </p:txBody>
      </p:sp>
      <p:sp>
        <p:nvSpPr>
          <p:cNvPr id="231439" name="Oval 15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22860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45</a:t>
            </a:r>
          </a:p>
        </p:txBody>
      </p:sp>
      <p:sp>
        <p:nvSpPr>
          <p:cNvPr id="231440" name="Oval 16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124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35</a:t>
            </a:r>
          </a:p>
        </p:txBody>
      </p:sp>
      <p:sp>
        <p:nvSpPr>
          <p:cNvPr id="231441" name="Oval 17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3886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31</a:t>
            </a:r>
          </a:p>
        </p:txBody>
      </p:sp>
      <p:sp>
        <p:nvSpPr>
          <p:cNvPr id="231442" name="Oval 18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7244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21</a:t>
            </a:r>
          </a:p>
        </p:txBody>
      </p:sp>
      <p:sp>
        <p:nvSpPr>
          <p:cNvPr id="231443" name="Oval 19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4267200" y="1828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</a:t>
            </a:r>
          </a:p>
        </p:txBody>
      </p:sp>
      <p:sp>
        <p:nvSpPr>
          <p:cNvPr id="231444" name="Oval 20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943600" y="2667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4</a:t>
            </a:r>
          </a:p>
        </p:txBody>
      </p:sp>
      <p:sp>
        <p:nvSpPr>
          <p:cNvPr id="231445" name="Oval 21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667000" y="27432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5</a:t>
            </a:r>
          </a:p>
        </p:txBody>
      </p:sp>
      <p:sp>
        <p:nvSpPr>
          <p:cNvPr id="231446" name="Oval 22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18288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26</a:t>
            </a:r>
          </a:p>
        </p:txBody>
      </p:sp>
      <p:sp>
        <p:nvSpPr>
          <p:cNvPr id="231447" name="Oval 23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4671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25</a:t>
            </a:r>
          </a:p>
        </p:txBody>
      </p:sp>
      <p:sp>
        <p:nvSpPr>
          <p:cNvPr id="231448" name="Oval 24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1054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12</a:t>
            </a:r>
          </a:p>
        </p:txBody>
      </p:sp>
      <p:sp>
        <p:nvSpPr>
          <p:cNvPr id="231449" name="Oval 25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69342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15</a:t>
            </a:r>
          </a:p>
        </p:txBody>
      </p:sp>
      <p:sp>
        <p:nvSpPr>
          <p:cNvPr id="231451" name="Oval 27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56388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14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Line 2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38100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0403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sz="4400" b="0" i="0">
                <a:solidFill>
                  <a:schemeClr val="tx2"/>
                </a:solidFill>
              </a:rPr>
              <a:t>Deleting a Value (note new tree!)</a:t>
            </a:r>
          </a:p>
        </p:txBody>
      </p:sp>
      <p:sp>
        <p:nvSpPr>
          <p:cNvPr id="230404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H="1">
            <a:off x="3048000" y="2133600"/>
            <a:ext cx="1447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0405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4724400" y="2133600"/>
            <a:ext cx="1447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0406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H="1">
            <a:off x="22098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0407" name="Line 7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31242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0408" name="Line 8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flipH="1">
            <a:off x="1828800" y="37338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0409" name="Line 9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22098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0410" name="Line 10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 flipH="1">
            <a:off x="34290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0411" name="Line 11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 flipH="1">
            <a:off x="51054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0412" name="Line 12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54864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0413" name="Line 13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64770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0414" name="Line 14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 flipH="1">
            <a:off x="55372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0415" name="Oval 15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4478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29</a:t>
            </a:r>
          </a:p>
        </p:txBody>
      </p:sp>
      <p:sp>
        <p:nvSpPr>
          <p:cNvPr id="230416" name="Oval 16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22860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45</a:t>
            </a:r>
          </a:p>
        </p:txBody>
      </p:sp>
      <p:sp>
        <p:nvSpPr>
          <p:cNvPr id="230417" name="Oval 17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124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35</a:t>
            </a:r>
          </a:p>
        </p:txBody>
      </p:sp>
      <p:sp>
        <p:nvSpPr>
          <p:cNvPr id="230418" name="Oval 18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3886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31</a:t>
            </a:r>
          </a:p>
        </p:txBody>
      </p:sp>
      <p:sp>
        <p:nvSpPr>
          <p:cNvPr id="230419" name="Oval 19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7244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21</a:t>
            </a:r>
          </a:p>
        </p:txBody>
      </p:sp>
      <p:sp>
        <p:nvSpPr>
          <p:cNvPr id="230420" name="Oval 20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4267200" y="1828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</a:t>
            </a:r>
          </a:p>
        </p:txBody>
      </p:sp>
      <p:sp>
        <p:nvSpPr>
          <p:cNvPr id="230421" name="Oval 21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943600" y="2667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7</a:t>
            </a:r>
          </a:p>
        </p:txBody>
      </p:sp>
      <p:sp>
        <p:nvSpPr>
          <p:cNvPr id="230422" name="Oval 22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667000" y="27432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5</a:t>
            </a:r>
          </a:p>
        </p:txBody>
      </p:sp>
      <p:sp>
        <p:nvSpPr>
          <p:cNvPr id="230423" name="Oval 23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18288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26</a:t>
            </a:r>
          </a:p>
        </p:txBody>
      </p:sp>
      <p:sp>
        <p:nvSpPr>
          <p:cNvPr id="230424" name="Oval 24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4671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25</a:t>
            </a:r>
          </a:p>
        </p:txBody>
      </p:sp>
      <p:sp>
        <p:nvSpPr>
          <p:cNvPr id="230425" name="Oval 25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1054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12</a:t>
            </a:r>
          </a:p>
        </p:txBody>
      </p:sp>
      <p:sp>
        <p:nvSpPr>
          <p:cNvPr id="230426" name="Oval 26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69342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15</a:t>
            </a:r>
          </a:p>
        </p:txBody>
      </p:sp>
      <p:sp>
        <p:nvSpPr>
          <p:cNvPr id="230427" name="Oval 27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56388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14</a:t>
            </a:r>
          </a:p>
        </p:txBody>
      </p:sp>
      <p:sp>
        <p:nvSpPr>
          <p:cNvPr id="230428" name="Text Box 28"/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6248400" y="6172200"/>
            <a:ext cx="23622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Delete 3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Line 2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38100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9379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sz="4400" b="0" i="0">
                <a:solidFill>
                  <a:schemeClr val="tx2"/>
                </a:solidFill>
              </a:rPr>
              <a:t>Deleting a Value</a:t>
            </a:r>
          </a:p>
        </p:txBody>
      </p:sp>
      <p:sp>
        <p:nvSpPr>
          <p:cNvPr id="229380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H="1">
            <a:off x="3048000" y="2133600"/>
            <a:ext cx="1447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9381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4724400" y="2133600"/>
            <a:ext cx="1447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9382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H="1">
            <a:off x="22098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9383" name="Line 7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31242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9384" name="Line 8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flipH="1">
            <a:off x="1828800" y="37338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9385" name="Line 9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22098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9386" name="Line 10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 flipH="1">
            <a:off x="34290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9387" name="Line 11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 flipH="1">
            <a:off x="51054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9388" name="Line 12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54864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9389" name="Line 13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64770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9390" name="Line 14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 flipH="1">
            <a:off x="55372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9391" name="Oval 15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4478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29</a:t>
            </a:r>
          </a:p>
        </p:txBody>
      </p:sp>
      <p:sp>
        <p:nvSpPr>
          <p:cNvPr id="229392" name="Oval 16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22860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45</a:t>
            </a:r>
          </a:p>
        </p:txBody>
      </p:sp>
      <p:sp>
        <p:nvSpPr>
          <p:cNvPr id="229393" name="Oval 17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124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35</a:t>
            </a:r>
          </a:p>
        </p:txBody>
      </p:sp>
      <p:sp>
        <p:nvSpPr>
          <p:cNvPr id="229394" name="Oval 18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3886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31</a:t>
            </a:r>
          </a:p>
        </p:txBody>
      </p:sp>
      <p:sp>
        <p:nvSpPr>
          <p:cNvPr id="229395" name="Oval 19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7244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21</a:t>
            </a:r>
          </a:p>
        </p:txBody>
      </p:sp>
      <p:sp>
        <p:nvSpPr>
          <p:cNvPr id="229396" name="Oval 20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4267200" y="1828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9397" name="Oval 21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943600" y="2667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7</a:t>
            </a:r>
          </a:p>
        </p:txBody>
      </p:sp>
      <p:sp>
        <p:nvSpPr>
          <p:cNvPr id="229398" name="Oval 22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667000" y="27432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5</a:t>
            </a:r>
          </a:p>
        </p:txBody>
      </p:sp>
      <p:sp>
        <p:nvSpPr>
          <p:cNvPr id="229399" name="Oval 23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18288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26</a:t>
            </a:r>
          </a:p>
        </p:txBody>
      </p:sp>
      <p:sp>
        <p:nvSpPr>
          <p:cNvPr id="229400" name="Oval 24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4671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25</a:t>
            </a:r>
          </a:p>
        </p:txBody>
      </p:sp>
      <p:sp>
        <p:nvSpPr>
          <p:cNvPr id="229401" name="Oval 25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1054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12</a:t>
            </a:r>
          </a:p>
        </p:txBody>
      </p:sp>
      <p:sp>
        <p:nvSpPr>
          <p:cNvPr id="229402" name="Oval 26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69342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15</a:t>
            </a:r>
          </a:p>
        </p:txBody>
      </p:sp>
      <p:sp>
        <p:nvSpPr>
          <p:cNvPr id="229403" name="Oval 27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56388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14</a:t>
            </a:r>
          </a:p>
        </p:txBody>
      </p:sp>
      <p:sp>
        <p:nvSpPr>
          <p:cNvPr id="229404" name="Text Box 28"/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6248400" y="6172200"/>
            <a:ext cx="23622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Delete 3</a:t>
            </a:r>
          </a:p>
        </p:txBody>
      </p:sp>
      <p:sp>
        <p:nvSpPr>
          <p:cNvPr id="229405" name="Oval 29"/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7086600" y="51816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</a:t>
            </a:r>
          </a:p>
        </p:txBody>
      </p:sp>
      <p:sp>
        <p:nvSpPr>
          <p:cNvPr id="229406" name="Text Box 30"/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4114800" y="5181600"/>
            <a:ext cx="30480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000"/>
              <a:t>save root value  … tmp</a:t>
            </a:r>
            <a:r>
              <a:rPr lang="en-US"/>
              <a:t> </a:t>
            </a:r>
            <a:r>
              <a:rPr lang="en-US" i="0">
                <a:sym typeface="Wingdings" pitchFamily="2" charset="2"/>
              </a:rPr>
              <a:t>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Line 2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38100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8355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sz="4400" b="0" i="0">
                <a:solidFill>
                  <a:schemeClr val="tx2"/>
                </a:solidFill>
              </a:rPr>
              <a:t>Deleting a Value</a:t>
            </a:r>
          </a:p>
        </p:txBody>
      </p:sp>
      <p:sp>
        <p:nvSpPr>
          <p:cNvPr id="228356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H="1">
            <a:off x="3048000" y="2133600"/>
            <a:ext cx="1447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8357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4724400" y="2133600"/>
            <a:ext cx="1447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8358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H="1">
            <a:off x="22098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8359" name="Line 7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31242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8360" name="Line 8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flipH="1">
            <a:off x="1828800" y="37338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8361" name="Line 9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22098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8362" name="Line 10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 flipH="1">
            <a:off x="34290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8363" name="Line 11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 flipH="1">
            <a:off x="51054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8364" name="Line 12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54864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8365" name="Line 13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64770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8366" name="Line 14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 flipH="1">
            <a:off x="55372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8367" name="Oval 15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4478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29</a:t>
            </a:r>
          </a:p>
        </p:txBody>
      </p:sp>
      <p:sp>
        <p:nvSpPr>
          <p:cNvPr id="228368" name="Oval 16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22860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45</a:t>
            </a:r>
          </a:p>
        </p:txBody>
      </p:sp>
      <p:sp>
        <p:nvSpPr>
          <p:cNvPr id="228369" name="Oval 17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124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35</a:t>
            </a:r>
          </a:p>
        </p:txBody>
      </p:sp>
      <p:sp>
        <p:nvSpPr>
          <p:cNvPr id="228370" name="Oval 18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3886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31</a:t>
            </a:r>
          </a:p>
        </p:txBody>
      </p:sp>
      <p:sp>
        <p:nvSpPr>
          <p:cNvPr id="228371" name="Oval 19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7244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21</a:t>
            </a:r>
          </a:p>
        </p:txBody>
      </p:sp>
      <p:sp>
        <p:nvSpPr>
          <p:cNvPr id="228372" name="Oval 20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4267200" y="1828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8373" name="Oval 21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943600" y="2667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7</a:t>
            </a:r>
          </a:p>
        </p:txBody>
      </p:sp>
      <p:sp>
        <p:nvSpPr>
          <p:cNvPr id="228374" name="Oval 22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667000" y="27432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5</a:t>
            </a:r>
          </a:p>
        </p:txBody>
      </p:sp>
      <p:sp>
        <p:nvSpPr>
          <p:cNvPr id="228375" name="Oval 23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18288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26</a:t>
            </a:r>
          </a:p>
        </p:txBody>
      </p:sp>
      <p:sp>
        <p:nvSpPr>
          <p:cNvPr id="228376" name="Oval 24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4671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25</a:t>
            </a:r>
          </a:p>
        </p:txBody>
      </p:sp>
      <p:sp>
        <p:nvSpPr>
          <p:cNvPr id="228377" name="Oval 25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1054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12</a:t>
            </a:r>
          </a:p>
        </p:txBody>
      </p:sp>
      <p:sp>
        <p:nvSpPr>
          <p:cNvPr id="228378" name="Oval 26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69342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15</a:t>
            </a:r>
          </a:p>
        </p:txBody>
      </p:sp>
      <p:sp>
        <p:nvSpPr>
          <p:cNvPr id="228379" name="Oval 27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56388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14</a:t>
            </a:r>
          </a:p>
        </p:txBody>
      </p:sp>
      <p:sp>
        <p:nvSpPr>
          <p:cNvPr id="228380" name="Text Box 28"/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6248400" y="6172200"/>
            <a:ext cx="23622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Delete 3</a:t>
            </a:r>
          </a:p>
        </p:txBody>
      </p:sp>
      <p:sp>
        <p:nvSpPr>
          <p:cNvPr id="228381" name="Oval 29"/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7086600" y="51816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</a:t>
            </a:r>
          </a:p>
        </p:txBody>
      </p:sp>
      <p:sp>
        <p:nvSpPr>
          <p:cNvPr id="228382" name="Text Box 30"/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6096000" y="5181600"/>
            <a:ext cx="10668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000"/>
              <a:t>tmp</a:t>
            </a:r>
            <a:r>
              <a:rPr lang="en-US"/>
              <a:t> </a:t>
            </a:r>
            <a:r>
              <a:rPr lang="en-US" i="0">
                <a:sym typeface="Wingdings" pitchFamily="2" charset="2"/>
              </a:rPr>
              <a:t></a:t>
            </a:r>
            <a:endParaRPr lang="en-US"/>
          </a:p>
        </p:txBody>
      </p:sp>
      <p:sp>
        <p:nvSpPr>
          <p:cNvPr id="228383" name="Text Box 31"/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5181600" y="3733800"/>
            <a:ext cx="1371600" cy="1098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6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28385" name="Text Box 33"/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5105400" y="1371600"/>
            <a:ext cx="3886200" cy="1006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000"/>
              <a:t>copy value of last node in complete tree into temporary location; decrement  currentsize</a:t>
            </a:r>
            <a:endParaRPr lang="en-US"/>
          </a:p>
        </p:txBody>
      </p:sp>
      <p:sp>
        <p:nvSpPr>
          <p:cNvPr id="228386" name="Oval 34"/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8305800" y="16764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Line 2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38100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7331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sz="4400" b="0" i="0">
                <a:solidFill>
                  <a:schemeClr val="tx2"/>
                </a:solidFill>
              </a:rPr>
              <a:t>Deleting a Value</a:t>
            </a:r>
          </a:p>
        </p:txBody>
      </p:sp>
      <p:sp>
        <p:nvSpPr>
          <p:cNvPr id="227332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H="1">
            <a:off x="3048000" y="2133600"/>
            <a:ext cx="1447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7333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4724400" y="2133600"/>
            <a:ext cx="1447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7334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H="1">
            <a:off x="22098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7335" name="Line 7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31242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7336" name="Line 8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flipH="1">
            <a:off x="1828800" y="37338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7337" name="Line 9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22098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7338" name="Line 10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 flipH="1">
            <a:off x="34290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7339" name="Line 11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 flipH="1">
            <a:off x="51054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7341" name="Line 13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64770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7342" name="Line 14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 flipH="1">
            <a:off x="55372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7343" name="Oval 15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4478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29</a:t>
            </a:r>
          </a:p>
        </p:txBody>
      </p:sp>
      <p:sp>
        <p:nvSpPr>
          <p:cNvPr id="227344" name="Oval 16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22860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45</a:t>
            </a:r>
          </a:p>
        </p:txBody>
      </p:sp>
      <p:sp>
        <p:nvSpPr>
          <p:cNvPr id="227345" name="Oval 17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3124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35</a:t>
            </a:r>
          </a:p>
        </p:txBody>
      </p:sp>
      <p:sp>
        <p:nvSpPr>
          <p:cNvPr id="227346" name="Oval 18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886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31</a:t>
            </a:r>
          </a:p>
        </p:txBody>
      </p:sp>
      <p:sp>
        <p:nvSpPr>
          <p:cNvPr id="227347" name="Oval 19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7244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21</a:t>
            </a:r>
          </a:p>
        </p:txBody>
      </p:sp>
      <p:sp>
        <p:nvSpPr>
          <p:cNvPr id="227348" name="Oval 20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267200" y="1828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7349" name="Oval 21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943600" y="2667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7</a:t>
            </a:r>
          </a:p>
        </p:txBody>
      </p:sp>
      <p:sp>
        <p:nvSpPr>
          <p:cNvPr id="227350" name="Oval 22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667000" y="27432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5</a:t>
            </a:r>
          </a:p>
        </p:txBody>
      </p:sp>
      <p:sp>
        <p:nvSpPr>
          <p:cNvPr id="227351" name="Oval 23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18288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26</a:t>
            </a:r>
          </a:p>
        </p:txBody>
      </p:sp>
      <p:sp>
        <p:nvSpPr>
          <p:cNvPr id="227352" name="Oval 24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34671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25</a:t>
            </a:r>
          </a:p>
        </p:txBody>
      </p:sp>
      <p:sp>
        <p:nvSpPr>
          <p:cNvPr id="227353" name="Oval 25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51054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12</a:t>
            </a:r>
          </a:p>
        </p:txBody>
      </p:sp>
      <p:sp>
        <p:nvSpPr>
          <p:cNvPr id="227354" name="Oval 26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69342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15</a:t>
            </a:r>
          </a:p>
        </p:txBody>
      </p:sp>
      <p:sp>
        <p:nvSpPr>
          <p:cNvPr id="227356" name="Text Box 28"/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6248400" y="6172200"/>
            <a:ext cx="23622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Delete 3</a:t>
            </a:r>
          </a:p>
        </p:txBody>
      </p:sp>
      <p:sp>
        <p:nvSpPr>
          <p:cNvPr id="227357" name="Oval 29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7086600" y="51816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</a:t>
            </a:r>
          </a:p>
        </p:txBody>
      </p:sp>
      <p:sp>
        <p:nvSpPr>
          <p:cNvPr id="227358" name="Text Box 30"/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6096000" y="5181600"/>
            <a:ext cx="10668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000"/>
              <a:t>tmp</a:t>
            </a:r>
            <a:r>
              <a:rPr lang="en-US"/>
              <a:t> </a:t>
            </a:r>
            <a:r>
              <a:rPr lang="en-US" i="0">
                <a:sym typeface="Wingdings" pitchFamily="2" charset="2"/>
              </a:rPr>
              <a:t></a:t>
            </a:r>
            <a:endParaRPr lang="en-US"/>
          </a:p>
        </p:txBody>
      </p:sp>
      <p:sp>
        <p:nvSpPr>
          <p:cNvPr id="227360" name="Text Box 32"/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4953000" y="1812925"/>
            <a:ext cx="22098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000"/>
              <a:t>push down root …</a:t>
            </a:r>
            <a:endParaRPr lang="en-US"/>
          </a:p>
        </p:txBody>
      </p:sp>
      <p:sp>
        <p:nvSpPr>
          <p:cNvPr id="227363" name="Line 35"/>
          <p:cNvSpPr>
            <a:spLocks noChangeShapeType="1"/>
          </p:cNvSpPr>
          <p:nvPr>
            <p:custDataLst>
              <p:tags r:id="rId29"/>
            </p:custDataLst>
          </p:nvPr>
        </p:nvSpPr>
        <p:spPr bwMode="auto">
          <a:xfrm flipH="1">
            <a:off x="3276600" y="3048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7364" name="Line 36"/>
          <p:cNvSpPr>
            <a:spLocks noChangeShapeType="1"/>
          </p:cNvSpPr>
          <p:nvPr>
            <p:custDataLst>
              <p:tags r:id="rId30"/>
            </p:custDataLst>
          </p:nvPr>
        </p:nvSpPr>
        <p:spPr bwMode="auto">
          <a:xfrm>
            <a:off x="5715000" y="2971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7366" name="Text Box 38"/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3505200" y="2590800"/>
            <a:ext cx="2209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compare children select smaller</a:t>
            </a:r>
            <a:endParaRPr lang="en-US"/>
          </a:p>
        </p:txBody>
      </p:sp>
      <p:sp>
        <p:nvSpPr>
          <p:cNvPr id="227367" name="Oval 39"/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8305800" y="16764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14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Line 2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38100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6307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sz="4400" b="0" i="0">
                <a:solidFill>
                  <a:schemeClr val="tx2"/>
                </a:solidFill>
              </a:rPr>
              <a:t>Deleting a Value</a:t>
            </a:r>
          </a:p>
        </p:txBody>
      </p:sp>
      <p:sp>
        <p:nvSpPr>
          <p:cNvPr id="226308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H="1">
            <a:off x="3048000" y="2133600"/>
            <a:ext cx="1447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6309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4724400" y="2133600"/>
            <a:ext cx="1447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6310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H="1">
            <a:off x="22098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6311" name="Line 7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31242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6312" name="Line 8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flipH="1">
            <a:off x="1828800" y="37338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6313" name="Line 9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22098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6314" name="Line 10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 flipH="1">
            <a:off x="34290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6315" name="Line 11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 flipH="1">
            <a:off x="51054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6316" name="Line 12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64770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6317" name="Line 13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 flipH="1">
            <a:off x="55372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6318" name="Oval 14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4478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29</a:t>
            </a:r>
          </a:p>
        </p:txBody>
      </p:sp>
      <p:sp>
        <p:nvSpPr>
          <p:cNvPr id="226319" name="Oval 15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22860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45</a:t>
            </a:r>
          </a:p>
        </p:txBody>
      </p:sp>
      <p:sp>
        <p:nvSpPr>
          <p:cNvPr id="226320" name="Oval 16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3124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35</a:t>
            </a:r>
          </a:p>
        </p:txBody>
      </p:sp>
      <p:sp>
        <p:nvSpPr>
          <p:cNvPr id="226321" name="Oval 17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886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31</a:t>
            </a:r>
          </a:p>
        </p:txBody>
      </p:sp>
      <p:sp>
        <p:nvSpPr>
          <p:cNvPr id="226322" name="Oval 18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7244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21</a:t>
            </a:r>
          </a:p>
        </p:txBody>
      </p:sp>
      <p:sp>
        <p:nvSpPr>
          <p:cNvPr id="226323" name="Oval 19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267200" y="1828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5</a:t>
            </a:r>
          </a:p>
        </p:txBody>
      </p:sp>
      <p:sp>
        <p:nvSpPr>
          <p:cNvPr id="226324" name="Oval 20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943600" y="2667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7</a:t>
            </a:r>
          </a:p>
        </p:txBody>
      </p:sp>
      <p:sp>
        <p:nvSpPr>
          <p:cNvPr id="226325" name="Oval 21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667000" y="27432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6326" name="Oval 22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18288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26</a:t>
            </a:r>
          </a:p>
        </p:txBody>
      </p:sp>
      <p:sp>
        <p:nvSpPr>
          <p:cNvPr id="226327" name="Oval 23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34671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25</a:t>
            </a:r>
          </a:p>
        </p:txBody>
      </p:sp>
      <p:sp>
        <p:nvSpPr>
          <p:cNvPr id="226328" name="Oval 24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51054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12</a:t>
            </a:r>
          </a:p>
        </p:txBody>
      </p:sp>
      <p:sp>
        <p:nvSpPr>
          <p:cNvPr id="226329" name="Oval 25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69342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15</a:t>
            </a:r>
          </a:p>
        </p:txBody>
      </p:sp>
      <p:sp>
        <p:nvSpPr>
          <p:cNvPr id="226330" name="Text Box 26"/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6248400" y="6172200"/>
            <a:ext cx="23622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Delete 3</a:t>
            </a:r>
          </a:p>
        </p:txBody>
      </p:sp>
      <p:sp>
        <p:nvSpPr>
          <p:cNvPr id="226331" name="Oval 27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7086600" y="51816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</a:t>
            </a:r>
          </a:p>
        </p:txBody>
      </p:sp>
      <p:sp>
        <p:nvSpPr>
          <p:cNvPr id="226332" name="Text Box 28"/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6096000" y="5181600"/>
            <a:ext cx="10668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000"/>
              <a:t>tmp</a:t>
            </a:r>
            <a:r>
              <a:rPr lang="en-US"/>
              <a:t> </a:t>
            </a:r>
            <a:r>
              <a:rPr lang="en-US" i="0">
                <a:sym typeface="Wingdings" pitchFamily="2" charset="2"/>
              </a:rPr>
              <a:t></a:t>
            </a:r>
            <a:endParaRPr lang="en-US"/>
          </a:p>
        </p:txBody>
      </p:sp>
      <p:sp>
        <p:nvSpPr>
          <p:cNvPr id="226333" name="Text Box 29"/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4953000" y="1812925"/>
            <a:ext cx="22098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000"/>
              <a:t>push down root …</a:t>
            </a:r>
            <a:endParaRPr lang="en-US"/>
          </a:p>
        </p:txBody>
      </p:sp>
      <p:sp>
        <p:nvSpPr>
          <p:cNvPr id="226334" name="Line 30"/>
          <p:cNvSpPr>
            <a:spLocks noChangeShapeType="1"/>
          </p:cNvSpPr>
          <p:nvPr>
            <p:custDataLst>
              <p:tags r:id="rId29"/>
            </p:custDataLst>
          </p:nvPr>
        </p:nvSpPr>
        <p:spPr bwMode="auto">
          <a:xfrm flipH="1" flipV="1">
            <a:off x="4572000" y="2438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6336" name="Text Box 32"/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3505200" y="2590800"/>
            <a:ext cx="2209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copy smaller value into parent</a:t>
            </a:r>
            <a:endParaRPr lang="en-US"/>
          </a:p>
        </p:txBody>
      </p:sp>
      <p:sp>
        <p:nvSpPr>
          <p:cNvPr id="226337" name="Oval 33"/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8305800" y="16764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14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Line 2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38100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4259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sz="4400" b="0" i="0">
                <a:solidFill>
                  <a:schemeClr val="tx2"/>
                </a:solidFill>
              </a:rPr>
              <a:t>Deleting a Value</a:t>
            </a:r>
          </a:p>
        </p:txBody>
      </p:sp>
      <p:sp>
        <p:nvSpPr>
          <p:cNvPr id="224260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H="1">
            <a:off x="3048000" y="2133600"/>
            <a:ext cx="1447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4261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4724400" y="2133600"/>
            <a:ext cx="1447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4262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H="1">
            <a:off x="22098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4263" name="Line 7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31242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4264" name="Line 8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flipH="1">
            <a:off x="1828800" y="37338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4265" name="Line 9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22098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4266" name="Line 10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 flipH="1">
            <a:off x="34290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4267" name="Line 11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 flipH="1">
            <a:off x="51054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4268" name="Line 12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64770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4269" name="Line 13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 flipH="1">
            <a:off x="55372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4270" name="Oval 14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4478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29</a:t>
            </a:r>
          </a:p>
        </p:txBody>
      </p:sp>
      <p:sp>
        <p:nvSpPr>
          <p:cNvPr id="224271" name="Oval 15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22860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45</a:t>
            </a:r>
          </a:p>
        </p:txBody>
      </p:sp>
      <p:sp>
        <p:nvSpPr>
          <p:cNvPr id="224272" name="Oval 16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3124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35</a:t>
            </a:r>
          </a:p>
        </p:txBody>
      </p:sp>
      <p:sp>
        <p:nvSpPr>
          <p:cNvPr id="224273" name="Oval 17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886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31</a:t>
            </a:r>
          </a:p>
        </p:txBody>
      </p:sp>
      <p:sp>
        <p:nvSpPr>
          <p:cNvPr id="224274" name="Oval 18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7244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21</a:t>
            </a:r>
          </a:p>
        </p:txBody>
      </p:sp>
      <p:sp>
        <p:nvSpPr>
          <p:cNvPr id="224275" name="Oval 19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267200" y="1828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5</a:t>
            </a:r>
          </a:p>
        </p:txBody>
      </p:sp>
      <p:sp>
        <p:nvSpPr>
          <p:cNvPr id="224276" name="Oval 20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943600" y="2667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7</a:t>
            </a:r>
          </a:p>
        </p:txBody>
      </p:sp>
      <p:sp>
        <p:nvSpPr>
          <p:cNvPr id="224277" name="Oval 21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667000" y="27432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4278" name="Oval 22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18288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26</a:t>
            </a:r>
          </a:p>
        </p:txBody>
      </p:sp>
      <p:sp>
        <p:nvSpPr>
          <p:cNvPr id="224279" name="Oval 23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34671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25</a:t>
            </a:r>
          </a:p>
        </p:txBody>
      </p:sp>
      <p:sp>
        <p:nvSpPr>
          <p:cNvPr id="224280" name="Oval 24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51054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12</a:t>
            </a:r>
          </a:p>
        </p:txBody>
      </p:sp>
      <p:sp>
        <p:nvSpPr>
          <p:cNvPr id="224281" name="Oval 25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69342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15</a:t>
            </a:r>
          </a:p>
        </p:txBody>
      </p:sp>
      <p:sp>
        <p:nvSpPr>
          <p:cNvPr id="224282" name="Text Box 26"/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6248400" y="6172200"/>
            <a:ext cx="23622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Delete 3</a:t>
            </a:r>
          </a:p>
        </p:txBody>
      </p:sp>
      <p:sp>
        <p:nvSpPr>
          <p:cNvPr id="224283" name="Oval 27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7086600" y="51816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</a:t>
            </a:r>
          </a:p>
        </p:txBody>
      </p:sp>
      <p:sp>
        <p:nvSpPr>
          <p:cNvPr id="224284" name="Text Box 28"/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6096000" y="5181600"/>
            <a:ext cx="10668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000"/>
              <a:t>tmp</a:t>
            </a:r>
            <a:r>
              <a:rPr lang="en-US"/>
              <a:t> </a:t>
            </a:r>
            <a:r>
              <a:rPr lang="en-US" i="0">
                <a:sym typeface="Wingdings" pitchFamily="2" charset="2"/>
              </a:rPr>
              <a:t></a:t>
            </a:r>
            <a:endParaRPr lang="en-US"/>
          </a:p>
        </p:txBody>
      </p:sp>
      <p:sp>
        <p:nvSpPr>
          <p:cNvPr id="224285" name="Text Box 29"/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4953000" y="1812925"/>
            <a:ext cx="22098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000"/>
              <a:t>push down root …</a:t>
            </a:r>
            <a:endParaRPr lang="en-US"/>
          </a:p>
        </p:txBody>
      </p:sp>
      <p:sp>
        <p:nvSpPr>
          <p:cNvPr id="224286" name="Oval 30"/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8305800" y="16764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14</a:t>
            </a:r>
          </a:p>
        </p:txBody>
      </p:sp>
      <p:sp>
        <p:nvSpPr>
          <p:cNvPr id="224287" name="Line 31"/>
          <p:cNvSpPr>
            <a:spLocks noChangeShapeType="1"/>
          </p:cNvSpPr>
          <p:nvPr>
            <p:custDataLst>
              <p:tags r:id="rId30"/>
            </p:custDataLst>
          </p:nvPr>
        </p:nvSpPr>
        <p:spPr bwMode="auto">
          <a:xfrm flipH="1">
            <a:off x="2438400" y="3733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4288" name="Line 32"/>
          <p:cNvSpPr>
            <a:spLocks noChangeShapeType="1"/>
          </p:cNvSpPr>
          <p:nvPr>
            <p:custDataLst>
              <p:tags r:id="rId31"/>
            </p:custDataLst>
          </p:nvPr>
        </p:nvSpPr>
        <p:spPr bwMode="auto">
          <a:xfrm>
            <a:off x="2946400" y="3733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4289" name="Line 33"/>
          <p:cNvSpPr>
            <a:spLocks noChangeShapeType="1"/>
          </p:cNvSpPr>
          <p:nvPr>
            <p:custDataLst>
              <p:tags r:id="rId32"/>
            </p:custDataLst>
          </p:nvPr>
        </p:nvSpPr>
        <p:spPr bwMode="auto">
          <a:xfrm>
            <a:off x="2971800" y="37338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4290" name="Text Box 34"/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1854200" y="5064125"/>
            <a:ext cx="2209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compare children select smaller (25)</a:t>
            </a:r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Line 2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38100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7571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sz="4400" b="0" i="0">
                <a:solidFill>
                  <a:schemeClr val="tx2"/>
                </a:solidFill>
              </a:rPr>
              <a:t>Deleting a Value</a:t>
            </a:r>
          </a:p>
        </p:txBody>
      </p:sp>
      <p:sp>
        <p:nvSpPr>
          <p:cNvPr id="237572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H="1">
            <a:off x="3048000" y="2133600"/>
            <a:ext cx="1447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7573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4724400" y="2133600"/>
            <a:ext cx="1447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7574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H="1">
            <a:off x="22098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7575" name="Line 7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31242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7576" name="Line 8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flipH="1">
            <a:off x="1828800" y="37338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7577" name="Line 9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22098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7578" name="Line 10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 flipH="1">
            <a:off x="34290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7579" name="Line 11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 flipH="1">
            <a:off x="51054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7580" name="Line 12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64770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7581" name="Line 13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 flipH="1">
            <a:off x="55372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7582" name="Oval 14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4478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29</a:t>
            </a:r>
          </a:p>
        </p:txBody>
      </p:sp>
      <p:sp>
        <p:nvSpPr>
          <p:cNvPr id="237583" name="Oval 15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22860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45</a:t>
            </a:r>
          </a:p>
        </p:txBody>
      </p:sp>
      <p:sp>
        <p:nvSpPr>
          <p:cNvPr id="237584" name="Oval 16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3124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35</a:t>
            </a:r>
          </a:p>
        </p:txBody>
      </p:sp>
      <p:sp>
        <p:nvSpPr>
          <p:cNvPr id="237585" name="Oval 17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886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31</a:t>
            </a:r>
          </a:p>
        </p:txBody>
      </p:sp>
      <p:sp>
        <p:nvSpPr>
          <p:cNvPr id="237586" name="Oval 18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7244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21</a:t>
            </a:r>
          </a:p>
        </p:txBody>
      </p:sp>
      <p:sp>
        <p:nvSpPr>
          <p:cNvPr id="237587" name="Oval 19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267200" y="1828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5</a:t>
            </a:r>
          </a:p>
        </p:txBody>
      </p:sp>
      <p:sp>
        <p:nvSpPr>
          <p:cNvPr id="237588" name="Oval 20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943600" y="2667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7</a:t>
            </a:r>
          </a:p>
        </p:txBody>
      </p:sp>
      <p:sp>
        <p:nvSpPr>
          <p:cNvPr id="237589" name="Oval 21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667000" y="27432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14</a:t>
            </a:r>
          </a:p>
        </p:txBody>
      </p:sp>
      <p:sp>
        <p:nvSpPr>
          <p:cNvPr id="237590" name="Oval 22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18288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26</a:t>
            </a:r>
          </a:p>
        </p:txBody>
      </p:sp>
      <p:sp>
        <p:nvSpPr>
          <p:cNvPr id="237591" name="Oval 23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34671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25</a:t>
            </a:r>
          </a:p>
        </p:txBody>
      </p:sp>
      <p:sp>
        <p:nvSpPr>
          <p:cNvPr id="237592" name="Oval 24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51054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12</a:t>
            </a:r>
          </a:p>
        </p:txBody>
      </p:sp>
      <p:sp>
        <p:nvSpPr>
          <p:cNvPr id="237593" name="Oval 25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69342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15</a:t>
            </a:r>
          </a:p>
        </p:txBody>
      </p:sp>
      <p:sp>
        <p:nvSpPr>
          <p:cNvPr id="237594" name="Text Box 26"/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6248400" y="6172200"/>
            <a:ext cx="23622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Delete 3</a:t>
            </a:r>
          </a:p>
        </p:txBody>
      </p:sp>
      <p:sp>
        <p:nvSpPr>
          <p:cNvPr id="237595" name="Oval 27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7086600" y="51816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</a:t>
            </a:r>
          </a:p>
        </p:txBody>
      </p:sp>
      <p:sp>
        <p:nvSpPr>
          <p:cNvPr id="237596" name="Text Box 28"/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6096000" y="5181600"/>
            <a:ext cx="10668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000"/>
              <a:t>tmp</a:t>
            </a:r>
            <a:r>
              <a:rPr lang="en-US"/>
              <a:t> </a:t>
            </a:r>
            <a:r>
              <a:rPr lang="en-US" i="0">
                <a:sym typeface="Wingdings" pitchFamily="2" charset="2"/>
              </a:rPr>
              <a:t></a:t>
            </a:r>
            <a:endParaRPr lang="en-US"/>
          </a:p>
        </p:txBody>
      </p:sp>
      <p:sp>
        <p:nvSpPr>
          <p:cNvPr id="237597" name="Text Box 29"/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4953000" y="1812925"/>
            <a:ext cx="22098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000"/>
              <a:t>push down root …</a:t>
            </a:r>
            <a:endParaRPr lang="en-US"/>
          </a:p>
        </p:txBody>
      </p:sp>
      <p:sp>
        <p:nvSpPr>
          <p:cNvPr id="237598" name="Text Box 30"/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1447800" y="5064125"/>
            <a:ext cx="30480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copy 14 into parent because 14 &lt; smaller child</a:t>
            </a:r>
            <a:endParaRPr lang="en-US"/>
          </a:p>
        </p:txBody>
      </p:sp>
      <p:sp>
        <p:nvSpPr>
          <p:cNvPr id="237599" name="Line 31"/>
          <p:cNvSpPr>
            <a:spLocks noChangeShapeType="1"/>
          </p:cNvSpPr>
          <p:nvPr>
            <p:custDataLst>
              <p:tags r:id="rId30"/>
            </p:custDataLst>
          </p:nvPr>
        </p:nvSpPr>
        <p:spPr bwMode="auto">
          <a:xfrm flipV="1">
            <a:off x="2971800" y="32766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Line 2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38100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3235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sz="4400" b="0" i="0">
                <a:solidFill>
                  <a:schemeClr val="tx2"/>
                </a:solidFill>
              </a:rPr>
              <a:t>Deleting a Value</a:t>
            </a:r>
          </a:p>
        </p:txBody>
      </p:sp>
      <p:sp>
        <p:nvSpPr>
          <p:cNvPr id="223236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H="1">
            <a:off x="3048000" y="2133600"/>
            <a:ext cx="1447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3237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4724400" y="2133600"/>
            <a:ext cx="1447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3238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H="1">
            <a:off x="22098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3239" name="Line 7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31242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3240" name="Line 8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flipH="1">
            <a:off x="1828800" y="37338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3241" name="Line 9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2209800" y="37338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3242" name="Line 10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 flipH="1">
            <a:off x="34290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3243" name="Line 11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 flipH="1">
            <a:off x="5105400" y="37338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3244" name="Line 12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64770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3245" name="Line 13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 flipH="1">
            <a:off x="5537200" y="3048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3246" name="Oval 14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4478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29</a:t>
            </a:r>
          </a:p>
        </p:txBody>
      </p:sp>
      <p:sp>
        <p:nvSpPr>
          <p:cNvPr id="223247" name="Oval 15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22860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45</a:t>
            </a:r>
          </a:p>
        </p:txBody>
      </p:sp>
      <p:sp>
        <p:nvSpPr>
          <p:cNvPr id="223248" name="Oval 16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3124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35</a:t>
            </a:r>
          </a:p>
        </p:txBody>
      </p:sp>
      <p:sp>
        <p:nvSpPr>
          <p:cNvPr id="223249" name="Oval 17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8862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31</a:t>
            </a:r>
          </a:p>
        </p:txBody>
      </p:sp>
      <p:sp>
        <p:nvSpPr>
          <p:cNvPr id="223250" name="Oval 18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724400" y="4114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21</a:t>
            </a:r>
          </a:p>
        </p:txBody>
      </p:sp>
      <p:sp>
        <p:nvSpPr>
          <p:cNvPr id="223251" name="Oval 19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267200" y="18288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5</a:t>
            </a:r>
          </a:p>
        </p:txBody>
      </p:sp>
      <p:sp>
        <p:nvSpPr>
          <p:cNvPr id="223252" name="Oval 20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943600" y="2667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7</a:t>
            </a:r>
          </a:p>
        </p:txBody>
      </p:sp>
      <p:sp>
        <p:nvSpPr>
          <p:cNvPr id="223253" name="Oval 21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667000" y="27432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14</a:t>
            </a:r>
          </a:p>
        </p:txBody>
      </p:sp>
      <p:sp>
        <p:nvSpPr>
          <p:cNvPr id="223254" name="Oval 22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18288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26</a:t>
            </a:r>
          </a:p>
        </p:txBody>
      </p:sp>
      <p:sp>
        <p:nvSpPr>
          <p:cNvPr id="223255" name="Oval 23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34671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25</a:t>
            </a:r>
          </a:p>
        </p:txBody>
      </p:sp>
      <p:sp>
        <p:nvSpPr>
          <p:cNvPr id="223256" name="Oval 24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51054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12</a:t>
            </a:r>
          </a:p>
        </p:txBody>
      </p:sp>
      <p:sp>
        <p:nvSpPr>
          <p:cNvPr id="223257" name="Oval 25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6934200" y="34290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15</a:t>
            </a:r>
          </a:p>
        </p:txBody>
      </p:sp>
      <p:sp>
        <p:nvSpPr>
          <p:cNvPr id="223258" name="Text Box 26"/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6248400" y="6172200"/>
            <a:ext cx="23622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Delete 3</a:t>
            </a:r>
          </a:p>
        </p:txBody>
      </p:sp>
      <p:sp>
        <p:nvSpPr>
          <p:cNvPr id="223259" name="Oval 27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7086600" y="5181600"/>
            <a:ext cx="609600" cy="533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/>
              <a:t>3</a:t>
            </a:r>
          </a:p>
        </p:txBody>
      </p:sp>
      <p:sp>
        <p:nvSpPr>
          <p:cNvPr id="223260" name="Text Box 28"/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6096000" y="5181600"/>
            <a:ext cx="10668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000"/>
              <a:t>return</a:t>
            </a: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5007</Words>
  <Application>Microsoft Office PowerPoint</Application>
  <PresentationFormat>On-screen Show (4:3)</PresentationFormat>
  <Paragraphs>1637</Paragraphs>
  <Slides>106</Slides>
  <Notes>70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106</vt:i4>
      </vt:variant>
    </vt:vector>
  </HeadingPairs>
  <TitlesOfParts>
    <vt:vector size="109" baseType="lpstr">
      <vt:lpstr>Office Theme</vt:lpstr>
      <vt:lpstr>Equation</vt:lpstr>
      <vt:lpstr>Microsoft Equation 3.0</vt:lpstr>
      <vt:lpstr>Data Structure &amp; Algorithms   </vt:lpstr>
      <vt:lpstr>Unit 4 Tree and Its Types</vt:lpstr>
      <vt:lpstr>What is a Tree</vt:lpstr>
      <vt:lpstr>Tree Terminology</vt:lpstr>
      <vt:lpstr>Tree Properties</vt:lpstr>
      <vt:lpstr>Tree ADT</vt:lpstr>
      <vt:lpstr>Intuitive Representation of Tree Node</vt:lpstr>
      <vt:lpstr>Trees</vt:lpstr>
      <vt:lpstr>A Tree Representation</vt:lpstr>
      <vt:lpstr>Left Child, Right Sibling Representation</vt:lpstr>
      <vt:lpstr>Tree Traversal</vt:lpstr>
      <vt:lpstr>Preorder Traversal</vt:lpstr>
      <vt:lpstr>Postorder Traversal</vt:lpstr>
      <vt:lpstr>Binary Tree</vt:lpstr>
      <vt:lpstr>BinaryTree ADT</vt:lpstr>
      <vt:lpstr>Slide 16</vt:lpstr>
      <vt:lpstr>Differences Between A Tree and A Binary Tree</vt:lpstr>
      <vt:lpstr>Data Structure for Binary Trees</vt:lpstr>
      <vt:lpstr>Arithmetic Expression Tree</vt:lpstr>
      <vt:lpstr>Slide 20</vt:lpstr>
      <vt:lpstr>Full Binary Tree</vt:lpstr>
      <vt:lpstr>Labeling Nodes In A Full Binary Tree</vt:lpstr>
      <vt:lpstr>Node Number Properties </vt:lpstr>
      <vt:lpstr>Node Number Properties </vt:lpstr>
      <vt:lpstr>Node Number Properties </vt:lpstr>
      <vt:lpstr>Slide 26</vt:lpstr>
      <vt:lpstr>Slide 27</vt:lpstr>
      <vt:lpstr>Inorder Traversal</vt:lpstr>
      <vt:lpstr>Print Arithmetic Expressions</vt:lpstr>
      <vt:lpstr>Evaluate Arithmetic Expressions</vt:lpstr>
      <vt:lpstr>Binary Search Trees</vt:lpstr>
      <vt:lpstr>BST – Representation </vt:lpstr>
      <vt:lpstr>Binary Search Tree Property</vt:lpstr>
      <vt:lpstr>Inorder Traversal</vt:lpstr>
      <vt:lpstr>Correctness of Inorder-Walk</vt:lpstr>
      <vt:lpstr>Querying a Binary Search Tree</vt:lpstr>
      <vt:lpstr>Tree Search</vt:lpstr>
      <vt:lpstr>Predecessor and Successor</vt:lpstr>
      <vt:lpstr>Pseudo-code for Successor</vt:lpstr>
      <vt:lpstr>BST Insertion – Pseudocode </vt:lpstr>
      <vt:lpstr>Analysis of Insertion</vt:lpstr>
      <vt:lpstr>Exercise: Sorting Using BSTs</vt:lpstr>
      <vt:lpstr>Tree-Delete (T, x)</vt:lpstr>
      <vt:lpstr>Deletion – Pseudocode </vt:lpstr>
      <vt:lpstr>Deletion – Pseudocode </vt:lpstr>
      <vt:lpstr>Binary Search Trees</vt:lpstr>
      <vt:lpstr>Binary Search Tree - Best Time</vt:lpstr>
      <vt:lpstr>Binary Search Tree - Worst Time</vt:lpstr>
      <vt:lpstr>Balanced and unbalanced BST</vt:lpstr>
      <vt:lpstr>Approaches to balancing trees</vt:lpstr>
      <vt:lpstr>Balancing Binary Search Trees</vt:lpstr>
      <vt:lpstr>Perfect Balance</vt:lpstr>
      <vt:lpstr>AVL - Good but not Perfect Balance</vt:lpstr>
      <vt:lpstr>Height of an AVL Tree</vt:lpstr>
      <vt:lpstr>Height of an AVL Tree</vt:lpstr>
      <vt:lpstr>Node Heights</vt:lpstr>
      <vt:lpstr>Node Heights after Insert 7</vt:lpstr>
      <vt:lpstr>Insert and Rotation in AVL Trees</vt:lpstr>
      <vt:lpstr>Single Rotation in an AVL Tree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Implementation</vt:lpstr>
      <vt:lpstr>Single Rotation</vt:lpstr>
      <vt:lpstr>Double Rotation</vt:lpstr>
      <vt:lpstr>Insertion in AVL Trees</vt:lpstr>
      <vt:lpstr>Insert in BST</vt:lpstr>
      <vt:lpstr>Insert in AVL trees</vt:lpstr>
      <vt:lpstr>Example of Insertions in an AVL Tree</vt:lpstr>
      <vt:lpstr>Example of Insertions in an AVL Tree</vt:lpstr>
      <vt:lpstr>Single rotation (outside case)</vt:lpstr>
      <vt:lpstr>Double rotation (inside case)</vt:lpstr>
      <vt:lpstr>AVL Tree Deletion</vt:lpstr>
      <vt:lpstr>Slide 86</vt:lpstr>
      <vt:lpstr>Double Rotation Solution</vt:lpstr>
      <vt:lpstr>Binary Heaps Motivation</vt:lpstr>
      <vt:lpstr>Slide 89</vt:lpstr>
      <vt:lpstr>Implementation</vt:lpstr>
      <vt:lpstr>Implementatation</vt:lpstr>
      <vt:lpstr>Inserting a Value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 &amp; Algorithms   </dc:title>
  <dc:creator>HP</dc:creator>
  <cp:lastModifiedBy>HP</cp:lastModifiedBy>
  <cp:revision>2</cp:revision>
  <dcterms:created xsi:type="dcterms:W3CDTF">2021-11-12T07:34:08Z</dcterms:created>
  <dcterms:modified xsi:type="dcterms:W3CDTF">2021-11-12T07:36:31Z</dcterms:modified>
</cp:coreProperties>
</file>