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Default Extension="doc" ContentType="application/msword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sldIdLst>
    <p:sldId id="257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1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4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FE248-9294-4FB7-9E42-08A9884FE5EE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87B75-6A3A-4F54-AAD0-D596A2B5957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IN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E17179-6A4D-44B7-A79B-E173C370968C}" type="slidenum">
              <a:rPr lang="fr-FR" smtClean="0">
                <a:latin typeface="Arial" pitchFamily="34" charset="0"/>
                <a:cs typeface="Arial" pitchFamily="34" charset="0"/>
              </a:rPr>
              <a:pPr/>
              <a:t>1</a:t>
            </a:fld>
            <a:endParaRPr lang="fr-FR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8AD4F-C4E7-4B70-B62C-DDB77E205054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BCB3B-8A32-4D22-B7B5-91CC2D01F99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8AD4F-C4E7-4B70-B62C-DDB77E205054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BCB3B-8A32-4D22-B7B5-91CC2D01F99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8AD4F-C4E7-4B70-B62C-DDB77E205054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BCB3B-8A32-4D22-B7B5-91CC2D01F99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8AD4F-C4E7-4B70-B62C-DDB77E205054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BCB3B-8A32-4D22-B7B5-91CC2D01F99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8AD4F-C4E7-4B70-B62C-DDB77E205054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BCB3B-8A32-4D22-B7B5-91CC2D01F99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8AD4F-C4E7-4B70-B62C-DDB77E205054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BCB3B-8A32-4D22-B7B5-91CC2D01F99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8AD4F-C4E7-4B70-B62C-DDB77E205054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BCB3B-8A32-4D22-B7B5-91CC2D01F99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8AD4F-C4E7-4B70-B62C-DDB77E205054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BCB3B-8A32-4D22-B7B5-91CC2D01F99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8AD4F-C4E7-4B70-B62C-DDB77E205054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BCB3B-8A32-4D22-B7B5-91CC2D01F99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8AD4F-C4E7-4B70-B62C-DDB77E205054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BCB3B-8A32-4D22-B7B5-91CC2D01F99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8AD4F-C4E7-4B70-B62C-DDB77E205054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BCB3B-8A32-4D22-B7B5-91CC2D01F99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mediaAndTx">
  <p:cSld name="Title, Media Cli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013" y="306388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Media Placeholder 2"/>
          <p:cNvSpPr>
            <a:spLocks noGrp="1"/>
          </p:cNvSpPr>
          <p:nvPr>
            <p:ph type="media" sz="half" idx="1"/>
          </p:nvPr>
        </p:nvSpPr>
        <p:spPr>
          <a:xfrm>
            <a:off x="354013" y="1830388"/>
            <a:ext cx="38100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16413" y="1830388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07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207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CHAPTER 6</a:t>
            </a:r>
          </a:p>
        </p:txBody>
      </p:sp>
      <p:sp>
        <p:nvSpPr>
          <p:cNvPr id="7" name="Rectangle 207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54F31-0088-4C6C-8D07-4DA1092B221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8AD4F-C4E7-4B70-B62C-DDB77E205054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BCB3B-8A32-4D22-B7B5-91CC2D01F99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7.bin"/><Relationship Id="rId4" Type="http://schemas.openxmlformats.org/officeDocument/2006/relationships/oleObject" Target="../embeddings/oleObject6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Word_97_-_2003_Document1.doc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Word_97_-_2003_Document2.doc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11.bin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Word_97_-_2003_Document3.doc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Word_97_-_2003_Document4.doc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Word_97_-_2003_Document5.doc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Microsoft_Office_Word_97_-_2003_Document8.doc"/><Relationship Id="rId5" Type="http://schemas.openxmlformats.org/officeDocument/2006/relationships/oleObject" Target="../embeddings/Microsoft_Office_Word_97_-_2003_Document7.doc"/><Relationship Id="rId4" Type="http://schemas.openxmlformats.org/officeDocument/2006/relationships/oleObject" Target="../embeddings/Microsoft_Office_Word_97_-_2003_Document6.doc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39975" y="1557338"/>
            <a:ext cx="6188075" cy="2303462"/>
          </a:xfrm>
        </p:spPr>
        <p:txBody>
          <a:bodyPr/>
          <a:lstStyle/>
          <a:p>
            <a:pPr eaLnBrk="1" hangingPunct="1"/>
            <a:r>
              <a:rPr lang="fr-FR" sz="3600" b="1" i="1" smtClean="0">
                <a:latin typeface="Times New Roman" pitchFamily="18" charset="0"/>
                <a:cs typeface="Times New Roman" pitchFamily="18" charset="0"/>
              </a:rPr>
              <a:t>Data Structure &amp; Algorithms</a:t>
            </a:r>
            <a:r>
              <a:rPr lang="fr-FR" sz="2400" b="1" i="1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400" b="1" i="1" smtClean="0">
                <a:latin typeface="Times New Roman" pitchFamily="18" charset="0"/>
                <a:cs typeface="Times New Roman" pitchFamily="18" charset="0"/>
              </a:rPr>
            </a:br>
            <a:r>
              <a:rPr lang="fr-FR" sz="2400" b="1" i="1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400" b="1" i="1" smtClean="0">
                <a:latin typeface="Times New Roman" pitchFamily="18" charset="0"/>
                <a:cs typeface="Times New Roman" pitchFamily="18" charset="0"/>
              </a:rPr>
            </a:br>
            <a:r>
              <a:rPr lang="fr-FR" sz="2400" b="1" i="1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400" b="1" i="1" smtClean="0">
                <a:latin typeface="Times New Roman" pitchFamily="18" charset="0"/>
                <a:cs typeface="Times New Roman" pitchFamily="18" charset="0"/>
              </a:rPr>
            </a:br>
            <a:endParaRPr lang="fr-FR" sz="2400" b="1" i="1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435" name="Picture 6" descr="logoHom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20510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6" name="Subtitle 7"/>
          <p:cNvSpPr>
            <a:spLocks noGrp="1"/>
          </p:cNvSpPr>
          <p:nvPr>
            <p:ph type="subTitle" idx="1"/>
          </p:nvPr>
        </p:nvSpPr>
        <p:spPr>
          <a:xfrm>
            <a:off x="2268538" y="3068638"/>
            <a:ext cx="6400800" cy="1752600"/>
          </a:xfrm>
        </p:spPr>
        <p:txBody>
          <a:bodyPr/>
          <a:lstStyle/>
          <a:p>
            <a:pPr eaLnBrk="1" hangingPunct="1"/>
            <a:r>
              <a:rPr lang="en-US" sz="2800" b="1" dirty="0" smtClean="0"/>
              <a:t>Submitted By:-</a:t>
            </a:r>
          </a:p>
          <a:p>
            <a:pPr eaLnBrk="1" hangingPunct="1"/>
            <a:endParaRPr lang="en-US" sz="1800" dirty="0" smtClean="0"/>
          </a:p>
          <a:p>
            <a:pPr eaLnBrk="1" hangingPunct="1"/>
            <a:r>
              <a:rPr lang="en-US" sz="1800" dirty="0" err="1" smtClean="0"/>
              <a:t>Seema</a:t>
            </a:r>
            <a:r>
              <a:rPr lang="en-US" sz="1800" dirty="0" smtClean="0"/>
              <a:t> Sharma</a:t>
            </a:r>
            <a:endParaRPr lang="en-US" sz="1800" dirty="0" smtClean="0"/>
          </a:p>
          <a:p>
            <a:pPr eaLnBrk="1" hangingPunct="1"/>
            <a:r>
              <a:rPr lang="en-US" sz="1800" dirty="0" smtClean="0"/>
              <a:t>Assistant Prof - CSE</a:t>
            </a:r>
            <a:endParaRPr lang="en-IN" sz="1800" dirty="0" smtClean="0"/>
          </a:p>
        </p:txBody>
      </p:sp>
      <p:sp>
        <p:nvSpPr>
          <p:cNvPr id="18437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smtClean="0">
                <a:latin typeface="Arial" pitchFamily="34" charset="0"/>
                <a:cs typeface="Arial" pitchFamily="34" charset="0"/>
              </a:rPr>
              <a:t>JECRC UNIVERSITY</a:t>
            </a:r>
            <a:endParaRPr lang="fr-FR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438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47577F5-6199-4C87-A411-01903DF63B2A}" type="slidenum">
              <a:rPr lang="fr-FR" smtClean="0">
                <a:latin typeface="Arial" pitchFamily="34" charset="0"/>
                <a:cs typeface="Arial" pitchFamily="34" charset="0"/>
              </a:rPr>
              <a:pPr/>
              <a:t>1</a:t>
            </a:fld>
            <a:endParaRPr lang="fr-FR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439" name="TextBox 11"/>
          <p:cNvSpPr txBox="1">
            <a:spLocks noChangeArrowheads="1"/>
          </p:cNvSpPr>
          <p:nvPr/>
        </p:nvSpPr>
        <p:spPr bwMode="auto">
          <a:xfrm>
            <a:off x="4211638" y="5876925"/>
            <a:ext cx="1857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39975" y="1557338"/>
            <a:ext cx="6188075" cy="2303462"/>
          </a:xfrm>
        </p:spPr>
        <p:txBody>
          <a:bodyPr/>
          <a:lstStyle/>
          <a:p>
            <a:r>
              <a:rPr lang="en-US" sz="3600" dirty="0" smtClean="0">
                <a:solidFill>
                  <a:schemeClr val="tx1"/>
                </a:solidFill>
              </a:rPr>
              <a:t>Unit 5</a:t>
            </a:r>
            <a:br>
              <a:rPr lang="en-US" sz="3600" dirty="0" smtClean="0">
                <a:solidFill>
                  <a:schemeClr val="tx1"/>
                </a:solidFill>
              </a:rPr>
            </a:br>
            <a:r>
              <a:rPr lang="en-US" sz="3600" dirty="0" smtClean="0">
                <a:solidFill>
                  <a:schemeClr val="tx1"/>
                </a:solidFill>
              </a:rPr>
              <a:t>                     GRAPHS</a:t>
            </a:r>
            <a:endParaRPr lang="en-US" sz="3600" b="1" dirty="0"/>
          </a:p>
        </p:txBody>
      </p:sp>
      <p:pic>
        <p:nvPicPr>
          <p:cNvPr id="19459" name="Picture 6" descr="logoHom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0510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1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dirty="0" smtClean="0">
                <a:latin typeface="Arial" pitchFamily="34" charset="0"/>
                <a:cs typeface="Arial" pitchFamily="34" charset="0"/>
              </a:rPr>
              <a:t>JECRC UNIVERSITY</a:t>
            </a:r>
            <a:endParaRPr lang="fr-FR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462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5F4805C-629F-4791-B241-2EA23FF0BA16}" type="slidenum">
              <a:rPr lang="fr-FR" smtClean="0">
                <a:latin typeface="Arial" pitchFamily="34" charset="0"/>
                <a:cs typeface="Arial" pitchFamily="34" charset="0"/>
              </a:rPr>
              <a:pPr/>
              <a:t>2</a:t>
            </a:fld>
            <a:endParaRPr lang="fr-FR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ChangeArrowheads="1"/>
          </p:cNvSpPr>
          <p:nvPr/>
        </p:nvSpPr>
        <p:spPr bwMode="auto">
          <a:xfrm>
            <a:off x="923925" y="239713"/>
            <a:ext cx="82200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altLang="zh-TW" sz="4400">
                <a:solidFill>
                  <a:schemeClr val="tx1"/>
                </a:solidFill>
                <a:ea typeface="PMingLiU" pitchFamily="18" charset="-120"/>
              </a:rPr>
              <a:t>Definition</a:t>
            </a:r>
          </a:p>
        </p:txBody>
      </p:sp>
      <p:sp>
        <p:nvSpPr>
          <p:cNvPr id="16387" name="Rectangle 4"/>
          <p:cNvSpPr>
            <a:spLocks noChangeArrowheads="1"/>
          </p:cNvSpPr>
          <p:nvPr/>
        </p:nvSpPr>
        <p:spPr bwMode="auto">
          <a:xfrm>
            <a:off x="958850" y="1312863"/>
            <a:ext cx="8991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A graph G consists of two sets</a:t>
            </a:r>
          </a:p>
          <a:p>
            <a:pPr marL="742950" lvl="1" indent="-285750" algn="l">
              <a:spcBef>
                <a:spcPct val="20000"/>
              </a:spcBef>
              <a:buFontTx/>
              <a:buChar char="–"/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a finite, nonempty set of vertices V(G)</a:t>
            </a:r>
          </a:p>
          <a:p>
            <a:pPr marL="742950" lvl="1" indent="-285750" algn="l">
              <a:spcBef>
                <a:spcPct val="20000"/>
              </a:spcBef>
              <a:buFontTx/>
              <a:buChar char="–"/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a finite, possible empty set of edges E(G)</a:t>
            </a:r>
          </a:p>
          <a:p>
            <a:pPr marL="742950" lvl="1" indent="-285750" algn="l">
              <a:spcBef>
                <a:spcPct val="20000"/>
              </a:spcBef>
              <a:buFontTx/>
              <a:buChar char="–"/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G(V,E) represents a graph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An undirected graph is one in which the pair of vertices in a edge is unordered, (v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0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, 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1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) = (v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1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,v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0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) 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A directed graph is one in which each edge is a directed pair of vertices, &lt;v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0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, 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1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&gt; != &lt;v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1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,v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0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&gt;</a:t>
            </a:r>
          </a:p>
        </p:txBody>
      </p:sp>
      <p:sp>
        <p:nvSpPr>
          <p:cNvPr id="16388" name="Line 5"/>
          <p:cNvSpPr>
            <a:spLocks noChangeShapeType="1"/>
          </p:cNvSpPr>
          <p:nvPr/>
        </p:nvSpPr>
        <p:spPr bwMode="auto">
          <a:xfrm>
            <a:off x="5468938" y="5978525"/>
            <a:ext cx="21701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89" name="Text Box 6"/>
          <p:cNvSpPr txBox="1">
            <a:spLocks noChangeArrowheads="1"/>
          </p:cNvSpPr>
          <p:nvPr/>
        </p:nvSpPr>
        <p:spPr bwMode="auto">
          <a:xfrm>
            <a:off x="5168900" y="5573713"/>
            <a:ext cx="571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tail</a:t>
            </a:r>
          </a:p>
        </p:txBody>
      </p:sp>
      <p:sp>
        <p:nvSpPr>
          <p:cNvPr id="16390" name="Text Box 9"/>
          <p:cNvSpPr txBox="1">
            <a:spLocks noChangeArrowheads="1"/>
          </p:cNvSpPr>
          <p:nvPr/>
        </p:nvSpPr>
        <p:spPr bwMode="auto">
          <a:xfrm>
            <a:off x="7207250" y="5591175"/>
            <a:ext cx="758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head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7"/>
          <p:cNvSpPr>
            <a:spLocks noChangeArrowheads="1"/>
          </p:cNvSpPr>
          <p:nvPr/>
        </p:nvSpPr>
        <p:spPr bwMode="auto">
          <a:xfrm>
            <a:off x="693738" y="0"/>
            <a:ext cx="84502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altLang="zh-TW" sz="4400">
                <a:solidFill>
                  <a:schemeClr val="tx2"/>
                </a:solidFill>
                <a:ea typeface="PMingLiU" pitchFamily="18" charset="-120"/>
              </a:rPr>
              <a:t>Examples for Graph</a:t>
            </a:r>
          </a:p>
        </p:txBody>
      </p:sp>
      <p:sp>
        <p:nvSpPr>
          <p:cNvPr id="17411" name="Oval 1028"/>
          <p:cNvSpPr>
            <a:spLocks noChangeArrowheads="1"/>
          </p:cNvSpPr>
          <p:nvPr/>
        </p:nvSpPr>
        <p:spPr bwMode="auto">
          <a:xfrm>
            <a:off x="1744663" y="10477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17412" name="Oval 1029"/>
          <p:cNvSpPr>
            <a:spLocks noChangeArrowheads="1"/>
          </p:cNvSpPr>
          <p:nvPr/>
        </p:nvSpPr>
        <p:spPr bwMode="auto">
          <a:xfrm>
            <a:off x="1058863" y="18097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17413" name="Oval 1030"/>
          <p:cNvSpPr>
            <a:spLocks noChangeArrowheads="1"/>
          </p:cNvSpPr>
          <p:nvPr/>
        </p:nvSpPr>
        <p:spPr bwMode="auto">
          <a:xfrm>
            <a:off x="2430463" y="18097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17414" name="Oval 1031"/>
          <p:cNvSpPr>
            <a:spLocks noChangeArrowheads="1"/>
          </p:cNvSpPr>
          <p:nvPr/>
        </p:nvSpPr>
        <p:spPr bwMode="auto">
          <a:xfrm>
            <a:off x="1744663" y="24193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17415" name="Line 1032"/>
          <p:cNvSpPr>
            <a:spLocks noChangeShapeType="1"/>
          </p:cNvSpPr>
          <p:nvPr/>
        </p:nvSpPr>
        <p:spPr bwMode="auto">
          <a:xfrm>
            <a:off x="1966913" y="1498600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6" name="Line 1033"/>
          <p:cNvSpPr>
            <a:spLocks noChangeShapeType="1"/>
          </p:cNvSpPr>
          <p:nvPr/>
        </p:nvSpPr>
        <p:spPr bwMode="auto">
          <a:xfrm>
            <a:off x="1509713" y="20320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7" name="Line 1034"/>
          <p:cNvSpPr>
            <a:spLocks noChangeShapeType="1"/>
          </p:cNvSpPr>
          <p:nvPr/>
        </p:nvSpPr>
        <p:spPr bwMode="auto">
          <a:xfrm flipH="1">
            <a:off x="1398588" y="1422400"/>
            <a:ext cx="407987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8" name="Line 1035"/>
          <p:cNvSpPr>
            <a:spLocks noChangeShapeType="1"/>
          </p:cNvSpPr>
          <p:nvPr/>
        </p:nvSpPr>
        <p:spPr bwMode="auto">
          <a:xfrm>
            <a:off x="2119313" y="1422400"/>
            <a:ext cx="422275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9" name="Line 1036"/>
          <p:cNvSpPr>
            <a:spLocks noChangeShapeType="1"/>
          </p:cNvSpPr>
          <p:nvPr/>
        </p:nvSpPr>
        <p:spPr bwMode="auto">
          <a:xfrm>
            <a:off x="1384300" y="2238375"/>
            <a:ext cx="354013" cy="3127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0" name="Line 1037"/>
          <p:cNvSpPr>
            <a:spLocks noChangeShapeType="1"/>
          </p:cNvSpPr>
          <p:nvPr/>
        </p:nvSpPr>
        <p:spPr bwMode="auto">
          <a:xfrm flipH="1">
            <a:off x="2173288" y="2211388"/>
            <a:ext cx="327025" cy="339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1" name="Oval 1038"/>
          <p:cNvSpPr>
            <a:spLocks noChangeArrowheads="1"/>
          </p:cNvSpPr>
          <p:nvPr/>
        </p:nvSpPr>
        <p:spPr bwMode="auto">
          <a:xfrm>
            <a:off x="8440738" y="101917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17422" name="Oval 1039"/>
          <p:cNvSpPr>
            <a:spLocks noChangeArrowheads="1"/>
          </p:cNvSpPr>
          <p:nvPr/>
        </p:nvSpPr>
        <p:spPr bwMode="auto">
          <a:xfrm>
            <a:off x="8439150" y="212248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17423" name="Oval 1040"/>
          <p:cNvSpPr>
            <a:spLocks noChangeArrowheads="1"/>
          </p:cNvSpPr>
          <p:nvPr/>
        </p:nvSpPr>
        <p:spPr bwMode="auto">
          <a:xfrm>
            <a:off x="8455025" y="314166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17424" name="Line 1041"/>
          <p:cNvSpPr>
            <a:spLocks noChangeShapeType="1"/>
          </p:cNvSpPr>
          <p:nvPr/>
        </p:nvSpPr>
        <p:spPr bwMode="auto">
          <a:xfrm>
            <a:off x="8677275" y="2578100"/>
            <a:ext cx="0" cy="558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5" name="Line 1042"/>
          <p:cNvSpPr>
            <a:spLocks noChangeShapeType="1"/>
          </p:cNvSpPr>
          <p:nvPr/>
        </p:nvSpPr>
        <p:spPr bwMode="auto">
          <a:xfrm flipV="1">
            <a:off x="8855075" y="1408113"/>
            <a:ext cx="0" cy="720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6" name="Line 1043"/>
          <p:cNvSpPr>
            <a:spLocks noChangeShapeType="1"/>
          </p:cNvSpPr>
          <p:nvPr/>
        </p:nvSpPr>
        <p:spPr bwMode="auto">
          <a:xfrm>
            <a:off x="8486775" y="1435100"/>
            <a:ext cx="0" cy="7350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7" name="Oval 1044"/>
          <p:cNvSpPr>
            <a:spLocks noChangeArrowheads="1"/>
          </p:cNvSpPr>
          <p:nvPr/>
        </p:nvSpPr>
        <p:spPr bwMode="auto">
          <a:xfrm>
            <a:off x="5191125" y="109220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17428" name="Oval 1045"/>
          <p:cNvSpPr>
            <a:spLocks noChangeArrowheads="1"/>
          </p:cNvSpPr>
          <p:nvPr/>
        </p:nvSpPr>
        <p:spPr bwMode="auto">
          <a:xfrm>
            <a:off x="4505325" y="185420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17429" name="Oval 1046"/>
          <p:cNvSpPr>
            <a:spLocks noChangeArrowheads="1"/>
          </p:cNvSpPr>
          <p:nvPr/>
        </p:nvSpPr>
        <p:spPr bwMode="auto">
          <a:xfrm>
            <a:off x="5876925" y="185420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17430" name="Line 1047"/>
          <p:cNvSpPr>
            <a:spLocks noChangeShapeType="1"/>
          </p:cNvSpPr>
          <p:nvPr/>
        </p:nvSpPr>
        <p:spPr bwMode="auto">
          <a:xfrm flipH="1">
            <a:off x="4845050" y="1466850"/>
            <a:ext cx="407988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31" name="Line 1048"/>
          <p:cNvSpPr>
            <a:spLocks noChangeShapeType="1"/>
          </p:cNvSpPr>
          <p:nvPr/>
        </p:nvSpPr>
        <p:spPr bwMode="auto">
          <a:xfrm>
            <a:off x="5565775" y="1466850"/>
            <a:ext cx="422275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32" name="Oval 1049"/>
          <p:cNvSpPr>
            <a:spLocks noChangeArrowheads="1"/>
          </p:cNvSpPr>
          <p:nvPr/>
        </p:nvSpPr>
        <p:spPr bwMode="auto">
          <a:xfrm>
            <a:off x="4122738" y="275113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17433" name="Oval 1050"/>
          <p:cNvSpPr>
            <a:spLocks noChangeArrowheads="1"/>
          </p:cNvSpPr>
          <p:nvPr/>
        </p:nvSpPr>
        <p:spPr bwMode="auto">
          <a:xfrm>
            <a:off x="4883150" y="276383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17434" name="Line 1051"/>
          <p:cNvSpPr>
            <a:spLocks noChangeShapeType="1"/>
          </p:cNvSpPr>
          <p:nvPr/>
        </p:nvSpPr>
        <p:spPr bwMode="auto">
          <a:xfrm flipH="1">
            <a:off x="4349750" y="2295525"/>
            <a:ext cx="263525" cy="460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35" name="Line 1052"/>
          <p:cNvSpPr>
            <a:spLocks noChangeShapeType="1"/>
          </p:cNvSpPr>
          <p:nvPr/>
        </p:nvSpPr>
        <p:spPr bwMode="auto">
          <a:xfrm>
            <a:off x="4800600" y="2309813"/>
            <a:ext cx="298450" cy="4587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36" name="Oval 1053"/>
          <p:cNvSpPr>
            <a:spLocks noChangeArrowheads="1"/>
          </p:cNvSpPr>
          <p:nvPr/>
        </p:nvSpPr>
        <p:spPr bwMode="auto">
          <a:xfrm>
            <a:off x="5527675" y="275272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17437" name="Oval 1054"/>
          <p:cNvSpPr>
            <a:spLocks noChangeArrowheads="1"/>
          </p:cNvSpPr>
          <p:nvPr/>
        </p:nvSpPr>
        <p:spPr bwMode="auto">
          <a:xfrm>
            <a:off x="6272213" y="275113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6</a:t>
            </a:r>
          </a:p>
        </p:txBody>
      </p:sp>
      <p:sp>
        <p:nvSpPr>
          <p:cNvPr id="17438" name="Line 1055"/>
          <p:cNvSpPr>
            <a:spLocks noChangeShapeType="1"/>
          </p:cNvSpPr>
          <p:nvPr/>
        </p:nvSpPr>
        <p:spPr bwMode="auto">
          <a:xfrm flipH="1">
            <a:off x="5724525" y="2279650"/>
            <a:ext cx="273050" cy="461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39" name="Line 1056"/>
          <p:cNvSpPr>
            <a:spLocks noChangeShapeType="1"/>
          </p:cNvSpPr>
          <p:nvPr/>
        </p:nvSpPr>
        <p:spPr bwMode="auto">
          <a:xfrm>
            <a:off x="6200775" y="2292350"/>
            <a:ext cx="273050" cy="4492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40" name="Rectangle 1057"/>
          <p:cNvSpPr>
            <a:spLocks noChangeArrowheads="1"/>
          </p:cNvSpPr>
          <p:nvPr/>
        </p:nvSpPr>
        <p:spPr bwMode="auto">
          <a:xfrm>
            <a:off x="1671638" y="3063875"/>
            <a:ext cx="5556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G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17441" name="Rectangle 1058"/>
          <p:cNvSpPr>
            <a:spLocks noChangeArrowheads="1"/>
          </p:cNvSpPr>
          <p:nvPr/>
        </p:nvSpPr>
        <p:spPr bwMode="auto">
          <a:xfrm>
            <a:off x="5143500" y="3325813"/>
            <a:ext cx="5556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G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17442" name="Rectangle 1059"/>
          <p:cNvSpPr>
            <a:spLocks noChangeArrowheads="1"/>
          </p:cNvSpPr>
          <p:nvPr/>
        </p:nvSpPr>
        <p:spPr bwMode="auto">
          <a:xfrm>
            <a:off x="8491538" y="3624263"/>
            <a:ext cx="5556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G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17443" name="Rectangle 1060"/>
          <p:cNvSpPr>
            <a:spLocks noChangeArrowheads="1"/>
          </p:cNvSpPr>
          <p:nvPr/>
        </p:nvSpPr>
        <p:spPr bwMode="auto">
          <a:xfrm>
            <a:off x="708025" y="4167188"/>
            <a:ext cx="8435975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V(G</a:t>
            </a:r>
            <a:r>
              <a:rPr lang="en-US" altLang="zh-TW" sz="1600">
                <a:solidFill>
                  <a:schemeClr val="tx1"/>
                </a:solidFill>
                <a:ea typeface="PMingLiU" pitchFamily="18" charset="-120"/>
              </a:rPr>
              <a:t>1</a:t>
            </a: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)={0,1,2,3}               E(G</a:t>
            </a:r>
            <a:r>
              <a:rPr lang="en-US" altLang="zh-TW" sz="1600">
                <a:solidFill>
                  <a:schemeClr val="tx1"/>
                </a:solidFill>
                <a:ea typeface="PMingLiU" pitchFamily="18" charset="-120"/>
              </a:rPr>
              <a:t>1</a:t>
            </a: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)={(0,1),(0,2),(0,3),(1,2),(1,3),(2,3)}</a:t>
            </a:r>
          </a:p>
          <a:p>
            <a:pPr algn="l" eaLnBrk="0" hangingPunct="0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V(G</a:t>
            </a:r>
            <a:r>
              <a:rPr lang="en-US" altLang="zh-TW" sz="1600">
                <a:solidFill>
                  <a:schemeClr val="tx1"/>
                </a:solidFill>
                <a:ea typeface="PMingLiU" pitchFamily="18" charset="-120"/>
              </a:rPr>
              <a:t>2</a:t>
            </a: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)={0,1,2,3,4,5,6}      E(G</a:t>
            </a:r>
            <a:r>
              <a:rPr lang="en-US" altLang="zh-TW" sz="1600">
                <a:solidFill>
                  <a:schemeClr val="tx1"/>
                </a:solidFill>
                <a:ea typeface="PMingLiU" pitchFamily="18" charset="-120"/>
              </a:rPr>
              <a:t>2</a:t>
            </a: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)={(0,1),(0,2),(1,3),(1,4),(2,5),(2,6)}</a:t>
            </a:r>
          </a:p>
          <a:p>
            <a:pPr algn="l" eaLnBrk="0" hangingPunct="0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V(G</a:t>
            </a:r>
            <a:r>
              <a:rPr lang="en-US" altLang="zh-TW" sz="1600">
                <a:solidFill>
                  <a:schemeClr val="tx1"/>
                </a:solidFill>
                <a:ea typeface="PMingLiU" pitchFamily="18" charset="-120"/>
              </a:rPr>
              <a:t>3</a:t>
            </a: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)={0,1,2}                  E(G</a:t>
            </a:r>
            <a:r>
              <a:rPr lang="en-US" altLang="zh-TW" sz="1600">
                <a:solidFill>
                  <a:schemeClr val="tx1"/>
                </a:solidFill>
                <a:ea typeface="PMingLiU" pitchFamily="18" charset="-120"/>
              </a:rPr>
              <a:t>3</a:t>
            </a: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)={&lt;0,1&gt;,&lt;1,0&gt;,&lt;1,2&gt;}</a:t>
            </a:r>
          </a:p>
        </p:txBody>
      </p:sp>
      <p:sp>
        <p:nvSpPr>
          <p:cNvPr id="17444" name="Text Box 1061"/>
          <p:cNvSpPr txBox="1">
            <a:spLocks noChangeArrowheads="1"/>
          </p:cNvSpPr>
          <p:nvPr/>
        </p:nvSpPr>
        <p:spPr bwMode="auto">
          <a:xfrm>
            <a:off x="860425" y="5408613"/>
            <a:ext cx="5357813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complete undirected graph: n(n-1)/2 edges</a:t>
            </a:r>
          </a:p>
          <a:p>
            <a:pPr algn="l"/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complete directed graph: n(n-1) edges</a:t>
            </a:r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17445" name="Text Box 1062"/>
          <p:cNvSpPr txBox="1">
            <a:spLocks noChangeArrowheads="1"/>
          </p:cNvSpPr>
          <p:nvPr/>
        </p:nvSpPr>
        <p:spPr bwMode="auto">
          <a:xfrm>
            <a:off x="1000125" y="3581400"/>
            <a:ext cx="2068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ea typeface="PMingLiU" pitchFamily="18" charset="-120"/>
              </a:rPr>
              <a:t>complete graph</a:t>
            </a:r>
          </a:p>
        </p:txBody>
      </p:sp>
      <p:sp>
        <p:nvSpPr>
          <p:cNvPr id="17446" name="Text Box 1063"/>
          <p:cNvSpPr txBox="1">
            <a:spLocks noChangeArrowheads="1"/>
          </p:cNvSpPr>
          <p:nvPr/>
        </p:nvSpPr>
        <p:spPr bwMode="auto">
          <a:xfrm>
            <a:off x="5911850" y="3616325"/>
            <a:ext cx="2305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ea typeface="PMingLiU" pitchFamily="18" charset="-120"/>
              </a:rPr>
              <a:t>incomplete graph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7"/>
          <p:cNvSpPr>
            <a:spLocks noChangeArrowheads="1"/>
          </p:cNvSpPr>
          <p:nvPr/>
        </p:nvSpPr>
        <p:spPr bwMode="auto">
          <a:xfrm>
            <a:off x="534988" y="592138"/>
            <a:ext cx="83613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altLang="zh-TW" sz="4400">
                <a:solidFill>
                  <a:schemeClr val="tx1"/>
                </a:solidFill>
                <a:ea typeface="PMingLiU" pitchFamily="18" charset="-120"/>
              </a:rPr>
              <a:t>Complete Graph</a:t>
            </a:r>
          </a:p>
        </p:txBody>
      </p:sp>
      <p:sp>
        <p:nvSpPr>
          <p:cNvPr id="18435" name="Rectangle 1028"/>
          <p:cNvSpPr>
            <a:spLocks noChangeArrowheads="1"/>
          </p:cNvSpPr>
          <p:nvPr/>
        </p:nvSpPr>
        <p:spPr bwMode="auto">
          <a:xfrm>
            <a:off x="782638" y="1981200"/>
            <a:ext cx="836136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A complete graph is a graph that has the 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maximum number of edges</a:t>
            </a:r>
          </a:p>
          <a:p>
            <a:pPr marL="742950" lvl="1" indent="-285750" algn="l">
              <a:spcBef>
                <a:spcPct val="20000"/>
              </a:spcBef>
              <a:buFontTx/>
              <a:buChar char="–"/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for undirected graph with n vertices, the maximum number of edges is n(n-1)/2</a:t>
            </a:r>
          </a:p>
          <a:p>
            <a:pPr marL="742950" lvl="1" indent="-285750" algn="l">
              <a:spcBef>
                <a:spcPct val="20000"/>
              </a:spcBef>
              <a:buFontTx/>
              <a:buChar char="–"/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for directed graph with n vertices, the maximum </a:t>
            </a:r>
            <a:br>
              <a:rPr lang="en-US" altLang="zh-TW" sz="28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number of edges is n(n-1)</a:t>
            </a:r>
          </a:p>
          <a:p>
            <a:pPr marL="742950" lvl="1" indent="-285750" algn="l">
              <a:spcBef>
                <a:spcPct val="20000"/>
              </a:spcBef>
              <a:buFontTx/>
              <a:buChar char="–"/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example: G1 is a complete graph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7"/>
          <p:cNvSpPr>
            <a:spLocks noChangeArrowheads="1"/>
          </p:cNvSpPr>
          <p:nvPr/>
        </p:nvSpPr>
        <p:spPr bwMode="auto">
          <a:xfrm>
            <a:off x="1152525" y="573088"/>
            <a:ext cx="79914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altLang="zh-TW" sz="4400">
                <a:solidFill>
                  <a:schemeClr val="tx1"/>
                </a:solidFill>
                <a:ea typeface="PMingLiU" pitchFamily="18" charset="-120"/>
              </a:rPr>
              <a:t>Adjacent and Incident</a:t>
            </a:r>
          </a:p>
        </p:txBody>
      </p:sp>
      <p:sp>
        <p:nvSpPr>
          <p:cNvPr id="19459" name="Rectangle 1028"/>
          <p:cNvSpPr>
            <a:spLocks noChangeArrowheads="1"/>
          </p:cNvSpPr>
          <p:nvPr/>
        </p:nvSpPr>
        <p:spPr bwMode="auto">
          <a:xfrm>
            <a:off x="1152525" y="1944688"/>
            <a:ext cx="8991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If (v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0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, 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1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) is an edge in an undirected graph, </a:t>
            </a:r>
          </a:p>
          <a:p>
            <a:pPr marL="742950" lvl="1" indent="-285750" algn="l">
              <a:spcBef>
                <a:spcPct val="20000"/>
              </a:spcBef>
              <a:buFontTx/>
              <a:buChar char="–"/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v</a:t>
            </a:r>
            <a:r>
              <a:rPr lang="en-US" altLang="zh-TW" sz="1600">
                <a:solidFill>
                  <a:schemeClr val="tx1"/>
                </a:solidFill>
                <a:ea typeface="PMingLiU" pitchFamily="18" charset="-120"/>
              </a:rPr>
              <a:t>0</a:t>
            </a: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 and v</a:t>
            </a:r>
            <a:r>
              <a:rPr lang="en-US" altLang="zh-TW" sz="1600">
                <a:solidFill>
                  <a:schemeClr val="tx1"/>
                </a:solidFill>
                <a:ea typeface="PMingLiU" pitchFamily="18" charset="-120"/>
              </a:rPr>
              <a:t>1</a:t>
            </a: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 are adjacent</a:t>
            </a:r>
          </a:p>
          <a:p>
            <a:pPr marL="742950" lvl="1" indent="-285750" algn="l">
              <a:spcBef>
                <a:spcPct val="20000"/>
              </a:spcBef>
              <a:buFontTx/>
              <a:buChar char="–"/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The edge (v</a:t>
            </a:r>
            <a:r>
              <a:rPr lang="en-US" altLang="zh-TW" sz="1600">
                <a:solidFill>
                  <a:schemeClr val="tx1"/>
                </a:solidFill>
                <a:ea typeface="PMingLiU" pitchFamily="18" charset="-120"/>
              </a:rPr>
              <a:t>0</a:t>
            </a: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, v</a:t>
            </a:r>
            <a:r>
              <a:rPr lang="en-US" altLang="zh-TW" sz="1600">
                <a:solidFill>
                  <a:schemeClr val="tx1"/>
                </a:solidFill>
                <a:ea typeface="PMingLiU" pitchFamily="18" charset="-120"/>
              </a:rPr>
              <a:t>1</a:t>
            </a: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) is incident on vertices v</a:t>
            </a:r>
            <a:r>
              <a:rPr lang="en-US" altLang="zh-TW" sz="1600">
                <a:solidFill>
                  <a:schemeClr val="tx1"/>
                </a:solidFill>
                <a:ea typeface="PMingLiU" pitchFamily="18" charset="-120"/>
              </a:rPr>
              <a:t>0</a:t>
            </a: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 and v</a:t>
            </a:r>
            <a:r>
              <a:rPr lang="en-US" altLang="zh-TW" sz="1600">
                <a:solidFill>
                  <a:schemeClr val="tx1"/>
                </a:solidFill>
                <a:ea typeface="PMingLiU" pitchFamily="18" charset="-120"/>
              </a:rPr>
              <a:t>1</a:t>
            </a:r>
            <a:endParaRPr lang="en-US" altLang="zh-TW" sz="2800">
              <a:solidFill>
                <a:schemeClr val="tx1"/>
              </a:solidFill>
              <a:ea typeface="PMingLiU" pitchFamily="18" charset="-120"/>
            </a:endParaRP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If &lt;v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0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, 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1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&gt; is an edge in a directed graph</a:t>
            </a:r>
          </a:p>
          <a:p>
            <a:pPr marL="742950" lvl="1" indent="-285750" algn="l">
              <a:spcBef>
                <a:spcPct val="20000"/>
              </a:spcBef>
              <a:buFontTx/>
              <a:buChar char="–"/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v</a:t>
            </a:r>
            <a:r>
              <a:rPr lang="en-US" altLang="zh-TW" sz="1600">
                <a:solidFill>
                  <a:schemeClr val="tx1"/>
                </a:solidFill>
                <a:ea typeface="PMingLiU" pitchFamily="18" charset="-120"/>
              </a:rPr>
              <a:t>0</a:t>
            </a: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 is adjacent to v</a:t>
            </a:r>
            <a:r>
              <a:rPr lang="en-US" altLang="zh-TW" sz="1600">
                <a:solidFill>
                  <a:schemeClr val="tx1"/>
                </a:solidFill>
                <a:ea typeface="PMingLiU" pitchFamily="18" charset="-120"/>
              </a:rPr>
              <a:t>1</a:t>
            </a: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, and v</a:t>
            </a:r>
            <a:r>
              <a:rPr lang="en-US" altLang="zh-TW" sz="1600">
                <a:solidFill>
                  <a:schemeClr val="tx1"/>
                </a:solidFill>
                <a:ea typeface="PMingLiU" pitchFamily="18" charset="-120"/>
              </a:rPr>
              <a:t>1</a:t>
            </a: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 is adjacent from v</a:t>
            </a:r>
            <a:r>
              <a:rPr lang="en-US" altLang="zh-TW" sz="1600">
                <a:solidFill>
                  <a:schemeClr val="tx1"/>
                </a:solidFill>
                <a:ea typeface="PMingLiU" pitchFamily="18" charset="-120"/>
              </a:rPr>
              <a:t>0</a:t>
            </a:r>
            <a:endParaRPr lang="en-US" altLang="zh-TW" sz="2800">
              <a:solidFill>
                <a:schemeClr val="tx1"/>
              </a:solidFill>
              <a:ea typeface="PMingLiU" pitchFamily="18" charset="-120"/>
            </a:endParaRPr>
          </a:p>
          <a:p>
            <a:pPr marL="742950" lvl="1" indent="-285750" algn="l">
              <a:spcBef>
                <a:spcPct val="20000"/>
              </a:spcBef>
              <a:buFontTx/>
              <a:buChar char="–"/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The edge &lt;v</a:t>
            </a:r>
            <a:r>
              <a:rPr lang="en-US" altLang="zh-TW" sz="1600">
                <a:solidFill>
                  <a:schemeClr val="tx1"/>
                </a:solidFill>
                <a:ea typeface="PMingLiU" pitchFamily="18" charset="-120"/>
              </a:rPr>
              <a:t>0</a:t>
            </a: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, v</a:t>
            </a:r>
            <a:r>
              <a:rPr lang="en-US" altLang="zh-TW" sz="1600">
                <a:solidFill>
                  <a:schemeClr val="tx1"/>
                </a:solidFill>
                <a:ea typeface="PMingLiU" pitchFamily="18" charset="-120"/>
              </a:rPr>
              <a:t>1</a:t>
            </a: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&gt; is incident on v</a:t>
            </a:r>
            <a:r>
              <a:rPr lang="en-US" altLang="zh-TW" sz="1600">
                <a:solidFill>
                  <a:schemeClr val="tx1"/>
                </a:solidFill>
                <a:ea typeface="PMingLiU" pitchFamily="18" charset="-120"/>
              </a:rPr>
              <a:t>0</a:t>
            </a: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 and v</a:t>
            </a:r>
            <a:r>
              <a:rPr lang="en-US" altLang="zh-TW" sz="16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Oval 3"/>
          <p:cNvSpPr>
            <a:spLocks noChangeArrowheads="1"/>
          </p:cNvSpPr>
          <p:nvPr/>
        </p:nvSpPr>
        <p:spPr bwMode="auto">
          <a:xfrm>
            <a:off x="1371600" y="2286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 b="1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20483" name="Oval 5"/>
          <p:cNvSpPr>
            <a:spLocks noChangeArrowheads="1"/>
          </p:cNvSpPr>
          <p:nvPr/>
        </p:nvSpPr>
        <p:spPr bwMode="auto">
          <a:xfrm>
            <a:off x="2590800" y="2286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 b="1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20484" name="Oval 6"/>
          <p:cNvSpPr>
            <a:spLocks noChangeArrowheads="1"/>
          </p:cNvSpPr>
          <p:nvPr/>
        </p:nvSpPr>
        <p:spPr bwMode="auto">
          <a:xfrm>
            <a:off x="1981200" y="3505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 b="1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20485" name="Line 7"/>
          <p:cNvSpPr>
            <a:spLocks noChangeShapeType="1"/>
          </p:cNvSpPr>
          <p:nvPr/>
        </p:nvSpPr>
        <p:spPr bwMode="auto">
          <a:xfrm flipH="1" flipV="1">
            <a:off x="1676400" y="2971800"/>
            <a:ext cx="381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86" name="Line 8"/>
          <p:cNvSpPr>
            <a:spLocks noChangeShapeType="1"/>
          </p:cNvSpPr>
          <p:nvPr/>
        </p:nvSpPr>
        <p:spPr bwMode="auto">
          <a:xfrm flipH="1">
            <a:off x="2590800" y="29718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87" name="Freeform 10"/>
          <p:cNvSpPr>
            <a:spLocks/>
          </p:cNvSpPr>
          <p:nvPr/>
        </p:nvSpPr>
        <p:spPr bwMode="auto">
          <a:xfrm>
            <a:off x="1238250" y="2000250"/>
            <a:ext cx="400050" cy="400050"/>
          </a:xfrm>
          <a:custGeom>
            <a:avLst/>
            <a:gdLst>
              <a:gd name="T0" fmla="*/ 2147483647 w 252"/>
              <a:gd name="T1" fmla="*/ 2147483647 h 252"/>
              <a:gd name="T2" fmla="*/ 2147483647 w 252"/>
              <a:gd name="T3" fmla="*/ 2147483647 h 252"/>
              <a:gd name="T4" fmla="*/ 0 w 252"/>
              <a:gd name="T5" fmla="*/ 2147483647 h 252"/>
              <a:gd name="T6" fmla="*/ 2147483647 w 252"/>
              <a:gd name="T7" fmla="*/ 2147483647 h 252"/>
              <a:gd name="T8" fmla="*/ 2147483647 w 252"/>
              <a:gd name="T9" fmla="*/ 0 h 252"/>
              <a:gd name="T10" fmla="*/ 2147483647 w 252"/>
              <a:gd name="T11" fmla="*/ 2147483647 h 25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2"/>
              <a:gd name="T19" fmla="*/ 0 h 252"/>
              <a:gd name="T20" fmla="*/ 252 w 252"/>
              <a:gd name="T21" fmla="*/ 252 h 25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2" h="252">
                <a:moveTo>
                  <a:pt x="132" y="252"/>
                </a:moveTo>
                <a:cubicBezTo>
                  <a:pt x="112" y="248"/>
                  <a:pt x="91" y="247"/>
                  <a:pt x="72" y="240"/>
                </a:cubicBezTo>
                <a:cubicBezTo>
                  <a:pt x="28" y="224"/>
                  <a:pt x="24" y="180"/>
                  <a:pt x="0" y="144"/>
                </a:cubicBezTo>
                <a:cubicBezTo>
                  <a:pt x="4" y="112"/>
                  <a:pt x="0" y="78"/>
                  <a:pt x="12" y="48"/>
                </a:cubicBezTo>
                <a:cubicBezTo>
                  <a:pt x="27" y="11"/>
                  <a:pt x="120" y="0"/>
                  <a:pt x="120" y="0"/>
                </a:cubicBezTo>
                <a:cubicBezTo>
                  <a:pt x="200" y="16"/>
                  <a:pt x="252" y="40"/>
                  <a:pt x="252" y="1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88" name="Freeform 12"/>
          <p:cNvSpPr>
            <a:spLocks/>
          </p:cNvSpPr>
          <p:nvPr/>
        </p:nvSpPr>
        <p:spPr bwMode="auto">
          <a:xfrm>
            <a:off x="1828800" y="2133600"/>
            <a:ext cx="914400" cy="228600"/>
          </a:xfrm>
          <a:custGeom>
            <a:avLst/>
            <a:gdLst>
              <a:gd name="T0" fmla="*/ 2147483647 w 576"/>
              <a:gd name="T1" fmla="*/ 2147483647 h 248"/>
              <a:gd name="T2" fmla="*/ 2147483647 w 576"/>
              <a:gd name="T3" fmla="*/ 2147483647 h 248"/>
              <a:gd name="T4" fmla="*/ 0 w 576"/>
              <a:gd name="T5" fmla="*/ 2147483647 h 248"/>
              <a:gd name="T6" fmla="*/ 0 60000 65536"/>
              <a:gd name="T7" fmla="*/ 0 60000 65536"/>
              <a:gd name="T8" fmla="*/ 0 60000 65536"/>
              <a:gd name="T9" fmla="*/ 0 w 576"/>
              <a:gd name="T10" fmla="*/ 0 h 248"/>
              <a:gd name="T11" fmla="*/ 576 w 576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48">
                <a:moveTo>
                  <a:pt x="576" y="200"/>
                </a:moveTo>
                <a:cubicBezTo>
                  <a:pt x="480" y="100"/>
                  <a:pt x="384" y="0"/>
                  <a:pt x="288" y="8"/>
                </a:cubicBezTo>
                <a:cubicBezTo>
                  <a:pt x="192" y="16"/>
                  <a:pt x="96" y="132"/>
                  <a:pt x="0" y="2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89" name="Freeform 13"/>
          <p:cNvSpPr>
            <a:spLocks/>
          </p:cNvSpPr>
          <p:nvPr/>
        </p:nvSpPr>
        <p:spPr bwMode="auto">
          <a:xfrm flipH="1" flipV="1">
            <a:off x="1828800" y="2819400"/>
            <a:ext cx="914400" cy="304800"/>
          </a:xfrm>
          <a:custGeom>
            <a:avLst/>
            <a:gdLst>
              <a:gd name="T0" fmla="*/ 2147483647 w 576"/>
              <a:gd name="T1" fmla="*/ 2147483647 h 248"/>
              <a:gd name="T2" fmla="*/ 2147483647 w 576"/>
              <a:gd name="T3" fmla="*/ 2147483647 h 248"/>
              <a:gd name="T4" fmla="*/ 0 w 576"/>
              <a:gd name="T5" fmla="*/ 2147483647 h 248"/>
              <a:gd name="T6" fmla="*/ 0 60000 65536"/>
              <a:gd name="T7" fmla="*/ 0 60000 65536"/>
              <a:gd name="T8" fmla="*/ 0 60000 65536"/>
              <a:gd name="T9" fmla="*/ 0 w 576"/>
              <a:gd name="T10" fmla="*/ 0 h 248"/>
              <a:gd name="T11" fmla="*/ 576 w 576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48">
                <a:moveTo>
                  <a:pt x="576" y="200"/>
                </a:moveTo>
                <a:cubicBezTo>
                  <a:pt x="480" y="100"/>
                  <a:pt x="384" y="0"/>
                  <a:pt x="288" y="8"/>
                </a:cubicBezTo>
                <a:cubicBezTo>
                  <a:pt x="192" y="16"/>
                  <a:pt x="96" y="132"/>
                  <a:pt x="0" y="2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0" name="Text Box 14"/>
          <p:cNvSpPr txBox="1">
            <a:spLocks noChangeArrowheads="1"/>
          </p:cNvSpPr>
          <p:nvPr/>
        </p:nvSpPr>
        <p:spPr bwMode="auto">
          <a:xfrm>
            <a:off x="2133600" y="4419600"/>
            <a:ext cx="522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(a)</a:t>
            </a:r>
          </a:p>
        </p:txBody>
      </p:sp>
      <p:sp>
        <p:nvSpPr>
          <p:cNvPr id="20491" name="Oval 15"/>
          <p:cNvSpPr>
            <a:spLocks noChangeArrowheads="1"/>
          </p:cNvSpPr>
          <p:nvPr/>
        </p:nvSpPr>
        <p:spPr bwMode="auto">
          <a:xfrm>
            <a:off x="5257800" y="3657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 b="1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20492" name="Oval 16"/>
          <p:cNvSpPr>
            <a:spLocks noChangeArrowheads="1"/>
          </p:cNvSpPr>
          <p:nvPr/>
        </p:nvSpPr>
        <p:spPr bwMode="auto">
          <a:xfrm>
            <a:off x="5257800" y="2362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 b="1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20493" name="Oval 17"/>
          <p:cNvSpPr>
            <a:spLocks noChangeArrowheads="1"/>
          </p:cNvSpPr>
          <p:nvPr/>
        </p:nvSpPr>
        <p:spPr bwMode="auto">
          <a:xfrm>
            <a:off x="5257800" y="1143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 b="1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20494" name="Oval 18"/>
          <p:cNvSpPr>
            <a:spLocks noChangeArrowheads="1"/>
          </p:cNvSpPr>
          <p:nvPr/>
        </p:nvSpPr>
        <p:spPr bwMode="auto">
          <a:xfrm>
            <a:off x="6705600" y="2362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 b="1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20495" name="Line 19"/>
          <p:cNvSpPr>
            <a:spLocks noChangeShapeType="1"/>
          </p:cNvSpPr>
          <p:nvPr/>
        </p:nvSpPr>
        <p:spPr bwMode="auto">
          <a:xfrm>
            <a:off x="5562600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6" name="Line 20"/>
          <p:cNvSpPr>
            <a:spLocks noChangeShapeType="1"/>
          </p:cNvSpPr>
          <p:nvPr/>
        </p:nvSpPr>
        <p:spPr bwMode="auto">
          <a:xfrm>
            <a:off x="55626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7" name="Freeform 21"/>
          <p:cNvSpPr>
            <a:spLocks/>
          </p:cNvSpPr>
          <p:nvPr/>
        </p:nvSpPr>
        <p:spPr bwMode="auto">
          <a:xfrm>
            <a:off x="5867400" y="2362200"/>
            <a:ext cx="914400" cy="152400"/>
          </a:xfrm>
          <a:custGeom>
            <a:avLst/>
            <a:gdLst>
              <a:gd name="T0" fmla="*/ 0 w 576"/>
              <a:gd name="T1" fmla="*/ 2147483647 h 96"/>
              <a:gd name="T2" fmla="*/ 2147483647 w 576"/>
              <a:gd name="T3" fmla="*/ 0 h 96"/>
              <a:gd name="T4" fmla="*/ 2147483647 w 576"/>
              <a:gd name="T5" fmla="*/ 2147483647 h 96"/>
              <a:gd name="T6" fmla="*/ 0 60000 65536"/>
              <a:gd name="T7" fmla="*/ 0 60000 65536"/>
              <a:gd name="T8" fmla="*/ 0 60000 65536"/>
              <a:gd name="T9" fmla="*/ 0 w 576"/>
              <a:gd name="T10" fmla="*/ 0 h 96"/>
              <a:gd name="T11" fmla="*/ 576 w 576"/>
              <a:gd name="T12" fmla="*/ 96 h 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96">
                <a:moveTo>
                  <a:pt x="0" y="96"/>
                </a:moveTo>
                <a:cubicBezTo>
                  <a:pt x="96" y="48"/>
                  <a:pt x="192" y="0"/>
                  <a:pt x="288" y="0"/>
                </a:cubicBezTo>
                <a:cubicBezTo>
                  <a:pt x="384" y="0"/>
                  <a:pt x="528" y="80"/>
                  <a:pt x="576" y="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8" name="Freeform 22"/>
          <p:cNvSpPr>
            <a:spLocks/>
          </p:cNvSpPr>
          <p:nvPr/>
        </p:nvSpPr>
        <p:spPr bwMode="auto">
          <a:xfrm flipH="1" flipV="1">
            <a:off x="5791200" y="2819400"/>
            <a:ext cx="914400" cy="152400"/>
          </a:xfrm>
          <a:custGeom>
            <a:avLst/>
            <a:gdLst>
              <a:gd name="T0" fmla="*/ 0 w 576"/>
              <a:gd name="T1" fmla="*/ 2147483647 h 96"/>
              <a:gd name="T2" fmla="*/ 2147483647 w 576"/>
              <a:gd name="T3" fmla="*/ 0 h 96"/>
              <a:gd name="T4" fmla="*/ 2147483647 w 576"/>
              <a:gd name="T5" fmla="*/ 2147483647 h 96"/>
              <a:gd name="T6" fmla="*/ 0 60000 65536"/>
              <a:gd name="T7" fmla="*/ 0 60000 65536"/>
              <a:gd name="T8" fmla="*/ 0 60000 65536"/>
              <a:gd name="T9" fmla="*/ 0 w 576"/>
              <a:gd name="T10" fmla="*/ 0 h 96"/>
              <a:gd name="T11" fmla="*/ 576 w 576"/>
              <a:gd name="T12" fmla="*/ 96 h 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96">
                <a:moveTo>
                  <a:pt x="0" y="96"/>
                </a:moveTo>
                <a:cubicBezTo>
                  <a:pt x="96" y="48"/>
                  <a:pt x="192" y="0"/>
                  <a:pt x="288" y="0"/>
                </a:cubicBezTo>
                <a:cubicBezTo>
                  <a:pt x="384" y="0"/>
                  <a:pt x="528" y="80"/>
                  <a:pt x="576" y="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9" name="Freeform 24"/>
          <p:cNvSpPr>
            <a:spLocks/>
          </p:cNvSpPr>
          <p:nvPr/>
        </p:nvSpPr>
        <p:spPr bwMode="auto">
          <a:xfrm>
            <a:off x="5867400" y="2971800"/>
            <a:ext cx="1066800" cy="927100"/>
          </a:xfrm>
          <a:custGeom>
            <a:avLst/>
            <a:gdLst>
              <a:gd name="T0" fmla="*/ 2147483647 w 672"/>
              <a:gd name="T1" fmla="*/ 0 h 584"/>
              <a:gd name="T2" fmla="*/ 2147483647 w 672"/>
              <a:gd name="T3" fmla="*/ 2147483647 h 584"/>
              <a:gd name="T4" fmla="*/ 2147483647 w 672"/>
              <a:gd name="T5" fmla="*/ 2147483647 h 584"/>
              <a:gd name="T6" fmla="*/ 2147483647 w 672"/>
              <a:gd name="T7" fmla="*/ 2147483647 h 584"/>
              <a:gd name="T8" fmla="*/ 2147483647 w 672"/>
              <a:gd name="T9" fmla="*/ 2147483647 h 584"/>
              <a:gd name="T10" fmla="*/ 0 w 672"/>
              <a:gd name="T11" fmla="*/ 2147483647 h 58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72"/>
              <a:gd name="T19" fmla="*/ 0 h 584"/>
              <a:gd name="T20" fmla="*/ 672 w 672"/>
              <a:gd name="T21" fmla="*/ 584 h 58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72" h="584">
                <a:moveTo>
                  <a:pt x="672" y="0"/>
                </a:moveTo>
                <a:cubicBezTo>
                  <a:pt x="660" y="108"/>
                  <a:pt x="648" y="216"/>
                  <a:pt x="624" y="288"/>
                </a:cubicBezTo>
                <a:cubicBezTo>
                  <a:pt x="600" y="360"/>
                  <a:pt x="576" y="392"/>
                  <a:pt x="528" y="432"/>
                </a:cubicBezTo>
                <a:cubicBezTo>
                  <a:pt x="480" y="472"/>
                  <a:pt x="400" y="504"/>
                  <a:pt x="336" y="528"/>
                </a:cubicBezTo>
                <a:cubicBezTo>
                  <a:pt x="272" y="552"/>
                  <a:pt x="200" y="568"/>
                  <a:pt x="144" y="576"/>
                </a:cubicBezTo>
                <a:cubicBezTo>
                  <a:pt x="88" y="584"/>
                  <a:pt x="24" y="576"/>
                  <a:pt x="0" y="57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00" name="Freeform 25"/>
          <p:cNvSpPr>
            <a:spLocks/>
          </p:cNvSpPr>
          <p:nvPr/>
        </p:nvSpPr>
        <p:spPr bwMode="auto">
          <a:xfrm>
            <a:off x="5867400" y="2971800"/>
            <a:ext cx="1143000" cy="990600"/>
          </a:xfrm>
          <a:custGeom>
            <a:avLst/>
            <a:gdLst>
              <a:gd name="T0" fmla="*/ 2147483647 w 672"/>
              <a:gd name="T1" fmla="*/ 0 h 584"/>
              <a:gd name="T2" fmla="*/ 2147483647 w 672"/>
              <a:gd name="T3" fmla="*/ 2147483647 h 584"/>
              <a:gd name="T4" fmla="*/ 2147483647 w 672"/>
              <a:gd name="T5" fmla="*/ 2147483647 h 584"/>
              <a:gd name="T6" fmla="*/ 2147483647 w 672"/>
              <a:gd name="T7" fmla="*/ 2147483647 h 584"/>
              <a:gd name="T8" fmla="*/ 2147483647 w 672"/>
              <a:gd name="T9" fmla="*/ 2147483647 h 584"/>
              <a:gd name="T10" fmla="*/ 0 w 672"/>
              <a:gd name="T11" fmla="*/ 2147483647 h 58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72"/>
              <a:gd name="T19" fmla="*/ 0 h 584"/>
              <a:gd name="T20" fmla="*/ 672 w 672"/>
              <a:gd name="T21" fmla="*/ 584 h 58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72" h="584">
                <a:moveTo>
                  <a:pt x="672" y="0"/>
                </a:moveTo>
                <a:cubicBezTo>
                  <a:pt x="660" y="108"/>
                  <a:pt x="648" y="216"/>
                  <a:pt x="624" y="288"/>
                </a:cubicBezTo>
                <a:cubicBezTo>
                  <a:pt x="600" y="360"/>
                  <a:pt x="576" y="392"/>
                  <a:pt x="528" y="432"/>
                </a:cubicBezTo>
                <a:cubicBezTo>
                  <a:pt x="480" y="472"/>
                  <a:pt x="400" y="504"/>
                  <a:pt x="336" y="528"/>
                </a:cubicBezTo>
                <a:cubicBezTo>
                  <a:pt x="272" y="552"/>
                  <a:pt x="200" y="568"/>
                  <a:pt x="144" y="576"/>
                </a:cubicBezTo>
                <a:cubicBezTo>
                  <a:pt x="88" y="584"/>
                  <a:pt x="24" y="576"/>
                  <a:pt x="0" y="57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01" name="Freeform 26"/>
          <p:cNvSpPr>
            <a:spLocks/>
          </p:cNvSpPr>
          <p:nvPr/>
        </p:nvSpPr>
        <p:spPr bwMode="auto">
          <a:xfrm>
            <a:off x="5867400" y="2971800"/>
            <a:ext cx="1219200" cy="1066800"/>
          </a:xfrm>
          <a:custGeom>
            <a:avLst/>
            <a:gdLst>
              <a:gd name="T0" fmla="*/ 2147483647 w 672"/>
              <a:gd name="T1" fmla="*/ 0 h 584"/>
              <a:gd name="T2" fmla="*/ 2147483647 w 672"/>
              <a:gd name="T3" fmla="*/ 2147483647 h 584"/>
              <a:gd name="T4" fmla="*/ 2147483647 w 672"/>
              <a:gd name="T5" fmla="*/ 2147483647 h 584"/>
              <a:gd name="T6" fmla="*/ 2147483647 w 672"/>
              <a:gd name="T7" fmla="*/ 2147483647 h 584"/>
              <a:gd name="T8" fmla="*/ 2147483647 w 672"/>
              <a:gd name="T9" fmla="*/ 2147483647 h 584"/>
              <a:gd name="T10" fmla="*/ 0 w 672"/>
              <a:gd name="T11" fmla="*/ 2147483647 h 58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72"/>
              <a:gd name="T19" fmla="*/ 0 h 584"/>
              <a:gd name="T20" fmla="*/ 672 w 672"/>
              <a:gd name="T21" fmla="*/ 584 h 58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72" h="584">
                <a:moveTo>
                  <a:pt x="672" y="0"/>
                </a:moveTo>
                <a:cubicBezTo>
                  <a:pt x="660" y="108"/>
                  <a:pt x="648" y="216"/>
                  <a:pt x="624" y="288"/>
                </a:cubicBezTo>
                <a:cubicBezTo>
                  <a:pt x="600" y="360"/>
                  <a:pt x="576" y="392"/>
                  <a:pt x="528" y="432"/>
                </a:cubicBezTo>
                <a:cubicBezTo>
                  <a:pt x="480" y="472"/>
                  <a:pt x="400" y="504"/>
                  <a:pt x="336" y="528"/>
                </a:cubicBezTo>
                <a:cubicBezTo>
                  <a:pt x="272" y="552"/>
                  <a:pt x="200" y="568"/>
                  <a:pt x="144" y="576"/>
                </a:cubicBezTo>
                <a:cubicBezTo>
                  <a:pt x="88" y="584"/>
                  <a:pt x="24" y="576"/>
                  <a:pt x="0" y="57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02" name="Text Box 27"/>
          <p:cNvSpPr txBox="1">
            <a:spLocks noChangeArrowheads="1"/>
          </p:cNvSpPr>
          <p:nvPr/>
        </p:nvSpPr>
        <p:spPr bwMode="auto">
          <a:xfrm>
            <a:off x="5241925" y="4384675"/>
            <a:ext cx="615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(b)</a:t>
            </a:r>
          </a:p>
        </p:txBody>
      </p:sp>
      <p:sp>
        <p:nvSpPr>
          <p:cNvPr id="20503" name="Text Box 28"/>
          <p:cNvSpPr txBox="1">
            <a:spLocks noChangeArrowheads="1"/>
          </p:cNvSpPr>
          <p:nvPr/>
        </p:nvSpPr>
        <p:spPr bwMode="auto">
          <a:xfrm>
            <a:off x="1081088" y="414338"/>
            <a:ext cx="6811962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TW" sz="2200" b="1" u="sng">
                <a:solidFill>
                  <a:schemeClr val="tx1"/>
                </a:solidFill>
                <a:ea typeface="PMingLiU" pitchFamily="18" charset="-120"/>
              </a:rPr>
              <a:t>*Figure 6.3:</a:t>
            </a:r>
            <a:r>
              <a:rPr lang="en-US" altLang="zh-TW" sz="2200" u="sng">
                <a:solidFill>
                  <a:schemeClr val="tx1"/>
                </a:solidFill>
                <a:ea typeface="PMingLiU" pitchFamily="18" charset="-120"/>
              </a:rPr>
              <a:t>Example of a graph with feedback loops and a</a:t>
            </a:r>
          </a:p>
          <a:p>
            <a:pPr algn="l"/>
            <a:r>
              <a:rPr lang="en-US" altLang="zh-TW" sz="2200" u="sng">
                <a:solidFill>
                  <a:schemeClr val="tx1"/>
                </a:solidFill>
                <a:ea typeface="PMingLiU" pitchFamily="18" charset="-120"/>
              </a:rPr>
              <a:t> multigraph (p.260)</a:t>
            </a:r>
            <a:endParaRPr lang="en-US" altLang="zh-TW" sz="2400" b="1" u="sng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20504" name="Freeform 29"/>
          <p:cNvSpPr>
            <a:spLocks/>
          </p:cNvSpPr>
          <p:nvPr/>
        </p:nvSpPr>
        <p:spPr bwMode="auto">
          <a:xfrm flipH="1" flipV="1">
            <a:off x="2089150" y="4014788"/>
            <a:ext cx="438150" cy="357187"/>
          </a:xfrm>
          <a:custGeom>
            <a:avLst/>
            <a:gdLst>
              <a:gd name="T0" fmla="*/ 2147483647 w 576"/>
              <a:gd name="T1" fmla="*/ 2147483647 h 248"/>
              <a:gd name="T2" fmla="*/ 2147483647 w 576"/>
              <a:gd name="T3" fmla="*/ 2147483647 h 248"/>
              <a:gd name="T4" fmla="*/ 0 w 576"/>
              <a:gd name="T5" fmla="*/ 2147483647 h 248"/>
              <a:gd name="T6" fmla="*/ 0 60000 65536"/>
              <a:gd name="T7" fmla="*/ 0 60000 65536"/>
              <a:gd name="T8" fmla="*/ 0 60000 65536"/>
              <a:gd name="T9" fmla="*/ 0 w 576"/>
              <a:gd name="T10" fmla="*/ 0 h 248"/>
              <a:gd name="T11" fmla="*/ 576 w 576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48">
                <a:moveTo>
                  <a:pt x="576" y="200"/>
                </a:moveTo>
                <a:cubicBezTo>
                  <a:pt x="480" y="100"/>
                  <a:pt x="384" y="0"/>
                  <a:pt x="288" y="8"/>
                </a:cubicBezTo>
                <a:cubicBezTo>
                  <a:pt x="192" y="16"/>
                  <a:pt x="96" y="132"/>
                  <a:pt x="0" y="2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05" name="Text Box 30"/>
          <p:cNvSpPr txBox="1">
            <a:spLocks noChangeArrowheads="1"/>
          </p:cNvSpPr>
          <p:nvPr/>
        </p:nvSpPr>
        <p:spPr bwMode="auto">
          <a:xfrm>
            <a:off x="2624138" y="4110038"/>
            <a:ext cx="12747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self edge</a:t>
            </a:r>
          </a:p>
        </p:txBody>
      </p:sp>
      <p:sp>
        <p:nvSpPr>
          <p:cNvPr id="20506" name="Text Box 31"/>
          <p:cNvSpPr txBox="1">
            <a:spLocks noChangeArrowheads="1"/>
          </p:cNvSpPr>
          <p:nvPr/>
        </p:nvSpPr>
        <p:spPr bwMode="auto">
          <a:xfrm>
            <a:off x="6167438" y="4046538"/>
            <a:ext cx="275272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multigraph:</a:t>
            </a:r>
          </a:p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multiple occurrences</a:t>
            </a:r>
          </a:p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of the same edge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27"/>
          <p:cNvSpPr>
            <a:spLocks noChangeArrowheads="1"/>
          </p:cNvSpPr>
          <p:nvPr/>
        </p:nvSpPr>
        <p:spPr bwMode="auto">
          <a:xfrm>
            <a:off x="804863" y="1539875"/>
            <a:ext cx="8339137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A subgraph of G is a graph G’ such that V(G’) 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is a subset of V(G) and E(G’) is a subset of E(G)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A path from vertex 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p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 to vertex 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q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 in a graph G, 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is a sequence of vertices, 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p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, 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i</a:t>
            </a:r>
            <a:r>
              <a:rPr lang="en-US" altLang="zh-TW" sz="1400">
                <a:solidFill>
                  <a:schemeClr val="tx1"/>
                </a:solidFill>
                <a:ea typeface="PMingLiU" pitchFamily="18" charset="-120"/>
              </a:rPr>
              <a:t>1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, 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i</a:t>
            </a:r>
            <a:r>
              <a:rPr lang="en-US" altLang="zh-TW" sz="1400">
                <a:solidFill>
                  <a:schemeClr val="tx1"/>
                </a:solidFill>
                <a:ea typeface="PMingLiU" pitchFamily="18" charset="-120"/>
              </a:rPr>
              <a:t>2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, ..., 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i</a:t>
            </a:r>
            <a:r>
              <a:rPr lang="en-US" altLang="zh-TW" sz="1400">
                <a:solidFill>
                  <a:schemeClr val="tx1"/>
                </a:solidFill>
                <a:ea typeface="PMingLiU" pitchFamily="18" charset="-120"/>
              </a:rPr>
              <a:t>n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, 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q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, 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such that (v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p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, 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i</a:t>
            </a:r>
            <a:r>
              <a:rPr lang="en-US" altLang="zh-TW" sz="1400">
                <a:solidFill>
                  <a:schemeClr val="tx1"/>
                </a:solidFill>
                <a:ea typeface="PMingLiU" pitchFamily="18" charset="-120"/>
              </a:rPr>
              <a:t>1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), (v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i</a:t>
            </a:r>
            <a:r>
              <a:rPr lang="en-US" altLang="zh-TW" sz="1400">
                <a:solidFill>
                  <a:schemeClr val="tx1"/>
                </a:solidFill>
                <a:ea typeface="PMingLiU" pitchFamily="18" charset="-120"/>
              </a:rPr>
              <a:t>1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, 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i</a:t>
            </a:r>
            <a:r>
              <a:rPr lang="en-US" altLang="zh-TW" sz="1400">
                <a:solidFill>
                  <a:schemeClr val="tx1"/>
                </a:solidFill>
                <a:ea typeface="PMingLiU" pitchFamily="18" charset="-120"/>
              </a:rPr>
              <a:t>2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), ..., (v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i</a:t>
            </a:r>
            <a:r>
              <a:rPr lang="en-US" altLang="zh-TW" sz="1400">
                <a:solidFill>
                  <a:schemeClr val="tx1"/>
                </a:solidFill>
                <a:ea typeface="PMingLiU" pitchFamily="18" charset="-120"/>
              </a:rPr>
              <a:t>n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, 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q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) are edges 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in an undirected graph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The length of a path is the number of edges on it</a:t>
            </a:r>
          </a:p>
        </p:txBody>
      </p:sp>
      <p:sp>
        <p:nvSpPr>
          <p:cNvPr id="21507" name="Rectangle 1028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ctr" eaLnBrk="1" hangingPunct="1"/>
            <a:r>
              <a:rPr lang="en-US" altLang="zh-TW" smtClean="0">
                <a:solidFill>
                  <a:schemeClr val="tx1"/>
                </a:solidFill>
              </a:rPr>
              <a:t>Subgraph and Path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4"/>
          <p:cNvGrpSpPr>
            <a:grpSpLocks/>
          </p:cNvGrpSpPr>
          <p:nvPr/>
        </p:nvGrpSpPr>
        <p:grpSpPr bwMode="auto">
          <a:xfrm>
            <a:off x="2651125" y="609600"/>
            <a:ext cx="6286500" cy="1981200"/>
            <a:chOff x="828" y="564"/>
            <a:chExt cx="3960" cy="1248"/>
          </a:xfrm>
        </p:grpSpPr>
        <p:sp>
          <p:nvSpPr>
            <p:cNvPr id="22572" name="Oval 3"/>
            <p:cNvSpPr>
              <a:spLocks noChangeArrowheads="1"/>
            </p:cNvSpPr>
            <p:nvPr/>
          </p:nvSpPr>
          <p:spPr bwMode="auto">
            <a:xfrm>
              <a:off x="828" y="564"/>
              <a:ext cx="347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TW" sz="2400" b="1">
                  <a:solidFill>
                    <a:schemeClr val="tx1"/>
                  </a:solidFill>
                  <a:ea typeface="PMingLiU" pitchFamily="18" charset="-120"/>
                </a:rPr>
                <a:t>0</a:t>
              </a:r>
            </a:p>
          </p:txBody>
        </p:sp>
        <p:grpSp>
          <p:nvGrpSpPr>
            <p:cNvPr id="3" name="Group 10"/>
            <p:cNvGrpSpPr>
              <a:grpSpLocks/>
            </p:cNvGrpSpPr>
            <p:nvPr/>
          </p:nvGrpSpPr>
          <p:grpSpPr bwMode="auto">
            <a:xfrm>
              <a:off x="1422" y="564"/>
              <a:ext cx="941" cy="816"/>
              <a:chOff x="1008" y="720"/>
              <a:chExt cx="912" cy="816"/>
            </a:xfrm>
          </p:grpSpPr>
          <p:sp>
            <p:nvSpPr>
              <p:cNvPr id="22586" name="Oval 5"/>
              <p:cNvSpPr>
                <a:spLocks noChangeArrowheads="1"/>
              </p:cNvSpPr>
              <p:nvPr/>
            </p:nvSpPr>
            <p:spPr bwMode="auto">
              <a:xfrm>
                <a:off x="1296" y="72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0</a:t>
                </a:r>
              </a:p>
            </p:txBody>
          </p:sp>
          <p:sp>
            <p:nvSpPr>
              <p:cNvPr id="22587" name="Oval 6"/>
              <p:cNvSpPr>
                <a:spLocks noChangeArrowheads="1"/>
              </p:cNvSpPr>
              <p:nvPr/>
            </p:nvSpPr>
            <p:spPr bwMode="auto">
              <a:xfrm>
                <a:off x="1008" y="120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1</a:t>
                </a:r>
              </a:p>
            </p:txBody>
          </p:sp>
          <p:sp>
            <p:nvSpPr>
              <p:cNvPr id="22588" name="Oval 7"/>
              <p:cNvSpPr>
                <a:spLocks noChangeArrowheads="1"/>
              </p:cNvSpPr>
              <p:nvPr/>
            </p:nvSpPr>
            <p:spPr bwMode="auto">
              <a:xfrm>
                <a:off x="1584" y="120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2</a:t>
                </a:r>
              </a:p>
            </p:txBody>
          </p:sp>
          <p:sp>
            <p:nvSpPr>
              <p:cNvPr id="22589" name="Line 8"/>
              <p:cNvSpPr>
                <a:spLocks noChangeShapeType="1"/>
              </p:cNvSpPr>
              <p:nvPr/>
            </p:nvSpPr>
            <p:spPr bwMode="auto">
              <a:xfrm flipH="1">
                <a:off x="1200" y="1008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90" name="Line 9"/>
              <p:cNvSpPr>
                <a:spLocks noChangeShapeType="1"/>
              </p:cNvSpPr>
              <p:nvPr/>
            </p:nvSpPr>
            <p:spPr bwMode="auto">
              <a:xfrm>
                <a:off x="1584" y="1008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2574" name="Oval 12"/>
            <p:cNvSpPr>
              <a:spLocks noChangeArrowheads="1"/>
            </p:cNvSpPr>
            <p:nvPr/>
          </p:nvSpPr>
          <p:spPr bwMode="auto">
            <a:xfrm>
              <a:off x="2858" y="1044"/>
              <a:ext cx="34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TW" sz="2400" b="1">
                  <a:solidFill>
                    <a:schemeClr val="tx1"/>
                  </a:solidFill>
                  <a:ea typeface="PMingLiU" pitchFamily="18" charset="-120"/>
                </a:rPr>
                <a:t>3</a:t>
              </a:r>
            </a:p>
          </p:txBody>
        </p:sp>
        <p:sp>
          <p:nvSpPr>
            <p:cNvPr id="22575" name="Oval 13"/>
            <p:cNvSpPr>
              <a:spLocks noChangeArrowheads="1"/>
            </p:cNvSpPr>
            <p:nvPr/>
          </p:nvSpPr>
          <p:spPr bwMode="auto">
            <a:xfrm>
              <a:off x="2561" y="564"/>
              <a:ext cx="34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TW" sz="2400" b="1">
                  <a:solidFill>
                    <a:schemeClr val="tx1"/>
                  </a:solidFill>
                  <a:ea typeface="PMingLiU" pitchFamily="18" charset="-120"/>
                </a:rPr>
                <a:t>1</a:t>
              </a:r>
            </a:p>
          </p:txBody>
        </p:sp>
        <p:sp>
          <p:nvSpPr>
            <p:cNvPr id="22576" name="Oval 14"/>
            <p:cNvSpPr>
              <a:spLocks noChangeArrowheads="1"/>
            </p:cNvSpPr>
            <p:nvPr/>
          </p:nvSpPr>
          <p:spPr bwMode="auto">
            <a:xfrm>
              <a:off x="3155" y="564"/>
              <a:ext cx="34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TW" sz="2400" b="1">
                  <a:solidFill>
                    <a:schemeClr val="tx1"/>
                  </a:solidFill>
                  <a:ea typeface="PMingLiU" pitchFamily="18" charset="-120"/>
                </a:rPr>
                <a:t>2</a:t>
              </a:r>
            </a:p>
          </p:txBody>
        </p:sp>
        <p:sp>
          <p:nvSpPr>
            <p:cNvPr id="22577" name="Line 15"/>
            <p:cNvSpPr>
              <a:spLocks noChangeShapeType="1"/>
            </p:cNvSpPr>
            <p:nvPr/>
          </p:nvSpPr>
          <p:spPr bwMode="auto">
            <a:xfrm flipH="1" flipV="1">
              <a:off x="2759" y="900"/>
              <a:ext cx="1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8" name="Line 16"/>
            <p:cNvSpPr>
              <a:spLocks noChangeShapeType="1"/>
            </p:cNvSpPr>
            <p:nvPr/>
          </p:nvSpPr>
          <p:spPr bwMode="auto">
            <a:xfrm flipV="1">
              <a:off x="3155" y="900"/>
              <a:ext cx="99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9" name="Oval 18"/>
            <p:cNvSpPr>
              <a:spLocks noChangeArrowheads="1"/>
            </p:cNvSpPr>
            <p:nvPr/>
          </p:nvSpPr>
          <p:spPr bwMode="auto">
            <a:xfrm>
              <a:off x="4145" y="564"/>
              <a:ext cx="34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TW" sz="2400" b="1">
                  <a:solidFill>
                    <a:schemeClr val="tx1"/>
                  </a:solidFill>
                  <a:ea typeface="PMingLiU" pitchFamily="18" charset="-120"/>
                </a:rPr>
                <a:t>0</a:t>
              </a:r>
            </a:p>
          </p:txBody>
        </p:sp>
        <p:sp>
          <p:nvSpPr>
            <p:cNvPr id="22580" name="Oval 19"/>
            <p:cNvSpPr>
              <a:spLocks noChangeArrowheads="1"/>
            </p:cNvSpPr>
            <p:nvPr/>
          </p:nvSpPr>
          <p:spPr bwMode="auto">
            <a:xfrm>
              <a:off x="3848" y="1044"/>
              <a:ext cx="34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TW" sz="2400" b="1">
                  <a:solidFill>
                    <a:schemeClr val="tx1"/>
                  </a:solidFill>
                  <a:ea typeface="PMingLiU" pitchFamily="18" charset="-120"/>
                </a:rPr>
                <a:t>1</a:t>
              </a:r>
            </a:p>
          </p:txBody>
        </p:sp>
        <p:sp>
          <p:nvSpPr>
            <p:cNvPr id="22581" name="Oval 20"/>
            <p:cNvSpPr>
              <a:spLocks noChangeArrowheads="1"/>
            </p:cNvSpPr>
            <p:nvPr/>
          </p:nvSpPr>
          <p:spPr bwMode="auto">
            <a:xfrm>
              <a:off x="4442" y="1044"/>
              <a:ext cx="34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TW" sz="2400" b="1">
                  <a:solidFill>
                    <a:schemeClr val="tx1"/>
                  </a:solidFill>
                  <a:ea typeface="PMingLiU" pitchFamily="18" charset="-120"/>
                </a:rPr>
                <a:t>2</a:t>
              </a:r>
            </a:p>
          </p:txBody>
        </p:sp>
        <p:sp>
          <p:nvSpPr>
            <p:cNvPr id="22582" name="Oval 23"/>
            <p:cNvSpPr>
              <a:spLocks noChangeArrowheads="1"/>
            </p:cNvSpPr>
            <p:nvPr/>
          </p:nvSpPr>
          <p:spPr bwMode="auto">
            <a:xfrm>
              <a:off x="4145" y="1476"/>
              <a:ext cx="34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TW" sz="2400" b="1">
                  <a:solidFill>
                    <a:schemeClr val="tx1"/>
                  </a:solidFill>
                  <a:ea typeface="PMingLiU" pitchFamily="18" charset="-120"/>
                </a:rPr>
                <a:t>3</a:t>
              </a:r>
            </a:p>
          </p:txBody>
        </p:sp>
        <p:sp>
          <p:nvSpPr>
            <p:cNvPr id="22583" name="Line 24"/>
            <p:cNvSpPr>
              <a:spLocks noChangeShapeType="1"/>
            </p:cNvSpPr>
            <p:nvPr/>
          </p:nvSpPr>
          <p:spPr bwMode="auto">
            <a:xfrm>
              <a:off x="4194" y="1188"/>
              <a:ext cx="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4" name="Line 25"/>
            <p:cNvSpPr>
              <a:spLocks noChangeShapeType="1"/>
            </p:cNvSpPr>
            <p:nvPr/>
          </p:nvSpPr>
          <p:spPr bwMode="auto">
            <a:xfrm>
              <a:off x="4305" y="900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5" name="Line 26"/>
            <p:cNvSpPr>
              <a:spLocks noChangeShapeType="1"/>
            </p:cNvSpPr>
            <p:nvPr/>
          </p:nvSpPr>
          <p:spPr bwMode="auto">
            <a:xfrm flipH="1">
              <a:off x="4454" y="1368"/>
              <a:ext cx="99" cy="1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531" name="Text Box 28"/>
          <p:cNvSpPr txBox="1">
            <a:spLocks noChangeArrowheads="1"/>
          </p:cNvSpPr>
          <p:nvPr/>
        </p:nvSpPr>
        <p:spPr bwMode="auto">
          <a:xfrm>
            <a:off x="2551113" y="2479675"/>
            <a:ext cx="5994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(i)                    (ii)                       (iii)                           (iv)</a:t>
            </a:r>
          </a:p>
          <a:p>
            <a:pPr algn="l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                      (a) Some of the subgraph of G</a:t>
            </a:r>
            <a:r>
              <a:rPr lang="en-US" altLang="zh-TW" baseline="-25000">
                <a:solidFill>
                  <a:schemeClr val="tx1"/>
                </a:solidFill>
                <a:ea typeface="PMingLiU" pitchFamily="18" charset="-120"/>
              </a:rPr>
              <a:t>1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  </a:t>
            </a:r>
          </a:p>
        </p:txBody>
      </p:sp>
      <p:grpSp>
        <p:nvGrpSpPr>
          <p:cNvPr id="4" name="Group 52"/>
          <p:cNvGrpSpPr>
            <a:grpSpLocks/>
          </p:cNvGrpSpPr>
          <p:nvPr/>
        </p:nvGrpSpPr>
        <p:grpSpPr bwMode="auto">
          <a:xfrm>
            <a:off x="2822575" y="3238500"/>
            <a:ext cx="5981700" cy="2247900"/>
            <a:chOff x="924" y="2400"/>
            <a:chExt cx="3768" cy="1416"/>
          </a:xfrm>
        </p:grpSpPr>
        <p:sp>
          <p:nvSpPr>
            <p:cNvPr id="22555" name="Oval 29"/>
            <p:cNvSpPr>
              <a:spLocks noChangeArrowheads="1"/>
            </p:cNvSpPr>
            <p:nvPr/>
          </p:nvSpPr>
          <p:spPr bwMode="auto">
            <a:xfrm>
              <a:off x="924" y="2448"/>
              <a:ext cx="347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TW" sz="2400" b="1">
                  <a:solidFill>
                    <a:schemeClr val="tx1"/>
                  </a:solidFill>
                  <a:ea typeface="PMingLiU" pitchFamily="18" charset="-120"/>
                </a:rPr>
                <a:t>0</a:t>
              </a:r>
            </a:p>
          </p:txBody>
        </p:sp>
        <p:grpSp>
          <p:nvGrpSpPr>
            <p:cNvPr id="5" name="Group 40"/>
            <p:cNvGrpSpPr>
              <a:grpSpLocks/>
            </p:cNvGrpSpPr>
            <p:nvPr/>
          </p:nvGrpSpPr>
          <p:grpSpPr bwMode="auto">
            <a:xfrm>
              <a:off x="1848" y="2436"/>
              <a:ext cx="347" cy="864"/>
              <a:chOff x="1692" y="2568"/>
              <a:chExt cx="347" cy="864"/>
            </a:xfrm>
          </p:grpSpPr>
          <p:sp>
            <p:nvSpPr>
              <p:cNvPr id="22570" name="Oval 30"/>
              <p:cNvSpPr>
                <a:spLocks noChangeArrowheads="1"/>
              </p:cNvSpPr>
              <p:nvPr/>
            </p:nvSpPr>
            <p:spPr bwMode="auto">
              <a:xfrm>
                <a:off x="1692" y="2568"/>
                <a:ext cx="347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0</a:t>
                </a:r>
              </a:p>
            </p:txBody>
          </p:sp>
          <p:sp>
            <p:nvSpPr>
              <p:cNvPr id="22571" name="Oval 31"/>
              <p:cNvSpPr>
                <a:spLocks noChangeArrowheads="1"/>
              </p:cNvSpPr>
              <p:nvPr/>
            </p:nvSpPr>
            <p:spPr bwMode="auto">
              <a:xfrm>
                <a:off x="1692" y="3096"/>
                <a:ext cx="347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1</a:t>
                </a:r>
              </a:p>
            </p:txBody>
          </p:sp>
        </p:grpSp>
        <p:grpSp>
          <p:nvGrpSpPr>
            <p:cNvPr id="6" name="Group 35"/>
            <p:cNvGrpSpPr>
              <a:grpSpLocks/>
            </p:cNvGrpSpPr>
            <p:nvPr/>
          </p:nvGrpSpPr>
          <p:grpSpPr bwMode="auto">
            <a:xfrm>
              <a:off x="2952" y="2400"/>
              <a:ext cx="347" cy="1416"/>
              <a:chOff x="2940" y="2544"/>
              <a:chExt cx="347" cy="1416"/>
            </a:xfrm>
          </p:grpSpPr>
          <p:sp>
            <p:nvSpPr>
              <p:cNvPr id="22567" name="Oval 32"/>
              <p:cNvSpPr>
                <a:spLocks noChangeArrowheads="1"/>
              </p:cNvSpPr>
              <p:nvPr/>
            </p:nvSpPr>
            <p:spPr bwMode="auto">
              <a:xfrm>
                <a:off x="2940" y="2544"/>
                <a:ext cx="347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0</a:t>
                </a:r>
              </a:p>
            </p:txBody>
          </p:sp>
          <p:sp>
            <p:nvSpPr>
              <p:cNvPr id="22568" name="Oval 33"/>
              <p:cNvSpPr>
                <a:spLocks noChangeArrowheads="1"/>
              </p:cNvSpPr>
              <p:nvPr/>
            </p:nvSpPr>
            <p:spPr bwMode="auto">
              <a:xfrm>
                <a:off x="2940" y="3072"/>
                <a:ext cx="347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1</a:t>
                </a:r>
              </a:p>
            </p:txBody>
          </p:sp>
          <p:sp>
            <p:nvSpPr>
              <p:cNvPr id="22569" name="Oval 34"/>
              <p:cNvSpPr>
                <a:spLocks noChangeArrowheads="1"/>
              </p:cNvSpPr>
              <p:nvPr/>
            </p:nvSpPr>
            <p:spPr bwMode="auto">
              <a:xfrm>
                <a:off x="2940" y="3624"/>
                <a:ext cx="347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2</a:t>
                </a:r>
              </a:p>
            </p:txBody>
          </p:sp>
        </p:grpSp>
        <p:grpSp>
          <p:nvGrpSpPr>
            <p:cNvPr id="7" name="Group 36"/>
            <p:cNvGrpSpPr>
              <a:grpSpLocks/>
            </p:cNvGrpSpPr>
            <p:nvPr/>
          </p:nvGrpSpPr>
          <p:grpSpPr bwMode="auto">
            <a:xfrm>
              <a:off x="4176" y="2400"/>
              <a:ext cx="347" cy="1416"/>
              <a:chOff x="2940" y="2544"/>
              <a:chExt cx="347" cy="1416"/>
            </a:xfrm>
          </p:grpSpPr>
          <p:sp>
            <p:nvSpPr>
              <p:cNvPr id="22564" name="Oval 37"/>
              <p:cNvSpPr>
                <a:spLocks noChangeArrowheads="1"/>
              </p:cNvSpPr>
              <p:nvPr/>
            </p:nvSpPr>
            <p:spPr bwMode="auto">
              <a:xfrm>
                <a:off x="2940" y="2544"/>
                <a:ext cx="347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0</a:t>
                </a:r>
              </a:p>
            </p:txBody>
          </p:sp>
          <p:sp>
            <p:nvSpPr>
              <p:cNvPr id="22565" name="Oval 38"/>
              <p:cNvSpPr>
                <a:spLocks noChangeArrowheads="1"/>
              </p:cNvSpPr>
              <p:nvPr/>
            </p:nvSpPr>
            <p:spPr bwMode="auto">
              <a:xfrm>
                <a:off x="2940" y="3072"/>
                <a:ext cx="347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1</a:t>
                </a:r>
              </a:p>
            </p:txBody>
          </p:sp>
          <p:sp>
            <p:nvSpPr>
              <p:cNvPr id="22566" name="Oval 39"/>
              <p:cNvSpPr>
                <a:spLocks noChangeArrowheads="1"/>
              </p:cNvSpPr>
              <p:nvPr/>
            </p:nvSpPr>
            <p:spPr bwMode="auto">
              <a:xfrm>
                <a:off x="2940" y="3624"/>
                <a:ext cx="347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2</a:t>
                </a:r>
              </a:p>
            </p:txBody>
          </p:sp>
        </p:grpSp>
        <p:sp>
          <p:nvSpPr>
            <p:cNvPr id="22559" name="Line 44"/>
            <p:cNvSpPr>
              <a:spLocks noChangeShapeType="1"/>
            </p:cNvSpPr>
            <p:nvPr/>
          </p:nvSpPr>
          <p:spPr bwMode="auto">
            <a:xfrm>
              <a:off x="2016" y="277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0" name="Line 47"/>
            <p:cNvSpPr>
              <a:spLocks noChangeShapeType="1"/>
            </p:cNvSpPr>
            <p:nvPr/>
          </p:nvSpPr>
          <p:spPr bwMode="auto">
            <a:xfrm>
              <a:off x="3132" y="27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1" name="Line 48"/>
            <p:cNvSpPr>
              <a:spLocks noChangeShapeType="1"/>
            </p:cNvSpPr>
            <p:nvPr/>
          </p:nvSpPr>
          <p:spPr bwMode="auto">
            <a:xfrm>
              <a:off x="3132" y="3264"/>
              <a:ext cx="0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2" name="Freeform 50"/>
            <p:cNvSpPr>
              <a:spLocks/>
            </p:cNvSpPr>
            <p:nvPr/>
          </p:nvSpPr>
          <p:spPr bwMode="auto">
            <a:xfrm>
              <a:off x="4016" y="2664"/>
              <a:ext cx="184" cy="360"/>
            </a:xfrm>
            <a:custGeom>
              <a:avLst/>
              <a:gdLst>
                <a:gd name="T0" fmla="*/ 405 w 124"/>
                <a:gd name="T1" fmla="*/ 0 h 432"/>
                <a:gd name="T2" fmla="*/ 92 w 124"/>
                <a:gd name="T3" fmla="*/ 69 h 432"/>
                <a:gd name="T4" fmla="*/ 53 w 124"/>
                <a:gd name="T5" fmla="*/ 167 h 432"/>
                <a:gd name="T6" fmla="*/ 405 w 124"/>
                <a:gd name="T7" fmla="*/ 250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4"/>
                <a:gd name="T13" fmla="*/ 0 h 432"/>
                <a:gd name="T14" fmla="*/ 124 w 124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4" h="432">
                  <a:moveTo>
                    <a:pt x="124" y="0"/>
                  </a:moveTo>
                  <a:cubicBezTo>
                    <a:pt x="85" y="36"/>
                    <a:pt x="46" y="72"/>
                    <a:pt x="28" y="120"/>
                  </a:cubicBezTo>
                  <a:cubicBezTo>
                    <a:pt x="10" y="168"/>
                    <a:pt x="0" y="236"/>
                    <a:pt x="16" y="288"/>
                  </a:cubicBezTo>
                  <a:cubicBezTo>
                    <a:pt x="32" y="340"/>
                    <a:pt x="106" y="408"/>
                    <a:pt x="124" y="43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3" name="Freeform 51"/>
            <p:cNvSpPr>
              <a:spLocks/>
            </p:cNvSpPr>
            <p:nvPr/>
          </p:nvSpPr>
          <p:spPr bwMode="auto">
            <a:xfrm flipH="1">
              <a:off x="4508" y="2664"/>
              <a:ext cx="184" cy="360"/>
            </a:xfrm>
            <a:custGeom>
              <a:avLst/>
              <a:gdLst>
                <a:gd name="T0" fmla="*/ 405 w 124"/>
                <a:gd name="T1" fmla="*/ 0 h 432"/>
                <a:gd name="T2" fmla="*/ 92 w 124"/>
                <a:gd name="T3" fmla="*/ 69 h 432"/>
                <a:gd name="T4" fmla="*/ 53 w 124"/>
                <a:gd name="T5" fmla="*/ 167 h 432"/>
                <a:gd name="T6" fmla="*/ 405 w 124"/>
                <a:gd name="T7" fmla="*/ 250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4"/>
                <a:gd name="T13" fmla="*/ 0 h 432"/>
                <a:gd name="T14" fmla="*/ 124 w 124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4" h="432">
                  <a:moveTo>
                    <a:pt x="124" y="0"/>
                  </a:moveTo>
                  <a:cubicBezTo>
                    <a:pt x="85" y="36"/>
                    <a:pt x="46" y="72"/>
                    <a:pt x="28" y="120"/>
                  </a:cubicBezTo>
                  <a:cubicBezTo>
                    <a:pt x="10" y="168"/>
                    <a:pt x="0" y="236"/>
                    <a:pt x="16" y="288"/>
                  </a:cubicBezTo>
                  <a:cubicBezTo>
                    <a:pt x="32" y="340"/>
                    <a:pt x="106" y="408"/>
                    <a:pt x="124" y="43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533" name="Rectangle 53"/>
          <p:cNvSpPr>
            <a:spLocks noChangeArrowheads="1"/>
          </p:cNvSpPr>
          <p:nvPr/>
        </p:nvSpPr>
        <p:spPr bwMode="auto">
          <a:xfrm>
            <a:off x="2797175" y="5478463"/>
            <a:ext cx="59182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(i)                    (ii)                       (iii)                           (iv)</a:t>
            </a:r>
          </a:p>
          <a:p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                      (b) Some of the subgraph of G</a:t>
            </a:r>
            <a:r>
              <a:rPr lang="en-US" altLang="zh-TW" baseline="-25000">
                <a:solidFill>
                  <a:schemeClr val="tx1"/>
                </a:solidFill>
                <a:ea typeface="PMingLiU" pitchFamily="18" charset="-120"/>
              </a:rPr>
              <a:t>3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  </a:t>
            </a:r>
          </a:p>
        </p:txBody>
      </p:sp>
      <p:sp>
        <p:nvSpPr>
          <p:cNvPr id="22534" name="Text Box 55"/>
          <p:cNvSpPr txBox="1">
            <a:spLocks noChangeArrowheads="1"/>
          </p:cNvSpPr>
          <p:nvPr/>
        </p:nvSpPr>
        <p:spPr bwMode="auto">
          <a:xfrm>
            <a:off x="8350250" y="4586288"/>
            <a:ext cx="793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TW" altLang="en-US" sz="2400"/>
              <a:t>分開</a:t>
            </a:r>
          </a:p>
        </p:txBody>
      </p:sp>
      <p:sp>
        <p:nvSpPr>
          <p:cNvPr id="22535" name="Text Box 56"/>
          <p:cNvSpPr txBox="1">
            <a:spLocks noChangeArrowheads="1"/>
          </p:cNvSpPr>
          <p:nvPr/>
        </p:nvSpPr>
        <p:spPr bwMode="auto">
          <a:xfrm>
            <a:off x="2705100" y="4057650"/>
            <a:ext cx="793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TW" altLang="en-US" sz="2400"/>
              <a:t>單一</a:t>
            </a:r>
          </a:p>
        </p:txBody>
      </p:sp>
      <p:sp>
        <p:nvSpPr>
          <p:cNvPr id="22536" name="Oval 57"/>
          <p:cNvSpPr>
            <a:spLocks noChangeArrowheads="1"/>
          </p:cNvSpPr>
          <p:nvPr/>
        </p:nvSpPr>
        <p:spPr bwMode="auto">
          <a:xfrm>
            <a:off x="1427163" y="5016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22537" name="Oval 58"/>
          <p:cNvSpPr>
            <a:spLocks noChangeArrowheads="1"/>
          </p:cNvSpPr>
          <p:nvPr/>
        </p:nvSpPr>
        <p:spPr bwMode="auto">
          <a:xfrm>
            <a:off x="741363" y="12636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22538" name="Oval 59"/>
          <p:cNvSpPr>
            <a:spLocks noChangeArrowheads="1"/>
          </p:cNvSpPr>
          <p:nvPr/>
        </p:nvSpPr>
        <p:spPr bwMode="auto">
          <a:xfrm>
            <a:off x="2112963" y="12636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22539" name="Oval 60"/>
          <p:cNvSpPr>
            <a:spLocks noChangeArrowheads="1"/>
          </p:cNvSpPr>
          <p:nvPr/>
        </p:nvSpPr>
        <p:spPr bwMode="auto">
          <a:xfrm>
            <a:off x="1427163" y="18732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22540" name="Line 61"/>
          <p:cNvSpPr>
            <a:spLocks noChangeShapeType="1"/>
          </p:cNvSpPr>
          <p:nvPr/>
        </p:nvSpPr>
        <p:spPr bwMode="auto">
          <a:xfrm>
            <a:off x="1649413" y="952500"/>
            <a:ext cx="0" cy="914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41" name="Line 62"/>
          <p:cNvSpPr>
            <a:spLocks noChangeShapeType="1"/>
          </p:cNvSpPr>
          <p:nvPr/>
        </p:nvSpPr>
        <p:spPr bwMode="auto">
          <a:xfrm>
            <a:off x="1192213" y="1485900"/>
            <a:ext cx="9144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42" name="Line 63"/>
          <p:cNvSpPr>
            <a:spLocks noChangeShapeType="1"/>
          </p:cNvSpPr>
          <p:nvPr/>
        </p:nvSpPr>
        <p:spPr bwMode="auto">
          <a:xfrm flipH="1">
            <a:off x="1081088" y="876300"/>
            <a:ext cx="407987" cy="43497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43" name="Line 64"/>
          <p:cNvSpPr>
            <a:spLocks noChangeShapeType="1"/>
          </p:cNvSpPr>
          <p:nvPr/>
        </p:nvSpPr>
        <p:spPr bwMode="auto">
          <a:xfrm>
            <a:off x="1801813" y="876300"/>
            <a:ext cx="422275" cy="43497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44" name="Line 65"/>
          <p:cNvSpPr>
            <a:spLocks noChangeShapeType="1"/>
          </p:cNvSpPr>
          <p:nvPr/>
        </p:nvSpPr>
        <p:spPr bwMode="auto">
          <a:xfrm>
            <a:off x="1066800" y="1692275"/>
            <a:ext cx="354013" cy="31273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45" name="Line 66"/>
          <p:cNvSpPr>
            <a:spLocks noChangeShapeType="1"/>
          </p:cNvSpPr>
          <p:nvPr/>
        </p:nvSpPr>
        <p:spPr bwMode="auto">
          <a:xfrm flipH="1">
            <a:off x="1855788" y="1665288"/>
            <a:ext cx="327025" cy="3397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46" name="Rectangle 67"/>
          <p:cNvSpPr>
            <a:spLocks noChangeArrowheads="1"/>
          </p:cNvSpPr>
          <p:nvPr/>
        </p:nvSpPr>
        <p:spPr bwMode="auto">
          <a:xfrm>
            <a:off x="1354138" y="2517775"/>
            <a:ext cx="5556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G</a:t>
            </a:r>
            <a:r>
              <a:rPr lang="en-US" altLang="zh-TW" sz="1800">
                <a:solidFill>
                  <a:schemeClr val="tx2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22547" name="Oval 68"/>
          <p:cNvSpPr>
            <a:spLocks noChangeArrowheads="1"/>
          </p:cNvSpPr>
          <p:nvPr/>
        </p:nvSpPr>
        <p:spPr bwMode="auto">
          <a:xfrm>
            <a:off x="1419225" y="348773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22548" name="Oval 69"/>
          <p:cNvSpPr>
            <a:spLocks noChangeArrowheads="1"/>
          </p:cNvSpPr>
          <p:nvPr/>
        </p:nvSpPr>
        <p:spPr bwMode="auto">
          <a:xfrm>
            <a:off x="1417638" y="45910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22549" name="Oval 70"/>
          <p:cNvSpPr>
            <a:spLocks noChangeArrowheads="1"/>
          </p:cNvSpPr>
          <p:nvPr/>
        </p:nvSpPr>
        <p:spPr bwMode="auto">
          <a:xfrm>
            <a:off x="1433513" y="561022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22550" name="Line 71"/>
          <p:cNvSpPr>
            <a:spLocks noChangeShapeType="1"/>
          </p:cNvSpPr>
          <p:nvPr/>
        </p:nvSpPr>
        <p:spPr bwMode="auto">
          <a:xfrm>
            <a:off x="1655763" y="5046663"/>
            <a:ext cx="0" cy="5588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51" name="Line 72"/>
          <p:cNvSpPr>
            <a:spLocks noChangeShapeType="1"/>
          </p:cNvSpPr>
          <p:nvPr/>
        </p:nvSpPr>
        <p:spPr bwMode="auto">
          <a:xfrm flipV="1">
            <a:off x="1833563" y="3876675"/>
            <a:ext cx="0" cy="7207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52" name="Line 73"/>
          <p:cNvSpPr>
            <a:spLocks noChangeShapeType="1"/>
          </p:cNvSpPr>
          <p:nvPr/>
        </p:nvSpPr>
        <p:spPr bwMode="auto">
          <a:xfrm>
            <a:off x="1465263" y="3903663"/>
            <a:ext cx="0" cy="73501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53" name="Rectangle 74"/>
          <p:cNvSpPr>
            <a:spLocks noChangeArrowheads="1"/>
          </p:cNvSpPr>
          <p:nvPr/>
        </p:nvSpPr>
        <p:spPr bwMode="auto">
          <a:xfrm>
            <a:off x="1330325" y="6329363"/>
            <a:ext cx="5556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G</a:t>
            </a:r>
            <a:r>
              <a:rPr lang="en-US" altLang="zh-TW" sz="1800">
                <a:solidFill>
                  <a:schemeClr val="tx2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22554" name="Rectangle 75"/>
          <p:cNvSpPr>
            <a:spLocks noGrp="1" noChangeArrowheads="1"/>
          </p:cNvSpPr>
          <p:nvPr>
            <p:ph type="title" idx="4294967295"/>
          </p:nvPr>
        </p:nvSpPr>
        <p:spPr>
          <a:xfrm>
            <a:off x="1614488" y="0"/>
            <a:ext cx="7772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sz="2400" b="1" smtClean="0">
                <a:solidFill>
                  <a:schemeClr val="tx1"/>
                </a:solidFill>
              </a:rPr>
              <a:t>Figure 6.4:</a:t>
            </a:r>
            <a:r>
              <a:rPr lang="en-US" altLang="zh-TW" sz="2400" smtClean="0">
                <a:solidFill>
                  <a:schemeClr val="tx1"/>
                </a:solidFill>
              </a:rPr>
              <a:t> subgraphs of G</a:t>
            </a:r>
            <a:r>
              <a:rPr lang="en-US" altLang="zh-TW" sz="2400" baseline="-25000" smtClean="0">
                <a:solidFill>
                  <a:schemeClr val="tx1"/>
                </a:solidFill>
              </a:rPr>
              <a:t>1 </a:t>
            </a:r>
            <a:r>
              <a:rPr lang="en-US" altLang="zh-TW" sz="2400" smtClean="0">
                <a:solidFill>
                  <a:schemeClr val="tx1"/>
                </a:solidFill>
              </a:rPr>
              <a:t>and G</a:t>
            </a:r>
            <a:r>
              <a:rPr lang="en-US" altLang="zh-TW" sz="2400" baseline="-25000" smtClean="0">
                <a:solidFill>
                  <a:schemeClr val="tx1"/>
                </a:solidFill>
              </a:rPr>
              <a:t>3  </a:t>
            </a:r>
            <a:r>
              <a:rPr lang="en-US" altLang="zh-TW" sz="2400" smtClean="0">
                <a:solidFill>
                  <a:schemeClr val="tx1"/>
                </a:solidFill>
              </a:rPr>
              <a:t>(p.261)</a:t>
            </a:r>
            <a:r>
              <a:rPr lang="en-US" altLang="zh-TW" sz="2400" b="1" smtClean="0">
                <a:solidFill>
                  <a:schemeClr val="tx1"/>
                </a:solidFill>
              </a:rPr>
              <a:t/>
            </a:r>
            <a:br>
              <a:rPr lang="en-US" altLang="zh-TW" sz="2400" b="1" smtClean="0">
                <a:solidFill>
                  <a:schemeClr val="tx1"/>
                </a:solidFill>
              </a:rPr>
            </a:br>
            <a:endParaRPr lang="en-US" altLang="zh-TW" sz="2400" b="1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ChangeArrowheads="1"/>
          </p:cNvSpPr>
          <p:nvPr/>
        </p:nvSpPr>
        <p:spPr bwMode="auto">
          <a:xfrm>
            <a:off x="800100" y="1381125"/>
            <a:ext cx="8991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A simple path is a path in which all vertices, 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except possibly the first and the last, are distinct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A cycle is a simple path in which the first and 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the last vertices are the same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In an undirected graph G, two vertices, 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0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 and 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1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, are connected if there is a path in G from 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0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 to 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1</a:t>
            </a:r>
            <a:endParaRPr lang="en-US" altLang="zh-TW" sz="3200">
              <a:solidFill>
                <a:schemeClr val="tx1"/>
              </a:solidFill>
              <a:ea typeface="PMingLiU" pitchFamily="18" charset="-120"/>
            </a:endParaRP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An undirected graph is connected if, for every 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pair of distinct vertices 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i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, 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j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, there is a path 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from 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i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 to 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j</a:t>
            </a:r>
          </a:p>
        </p:txBody>
      </p:sp>
      <p:sp>
        <p:nvSpPr>
          <p:cNvPr id="23555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ctr" eaLnBrk="1" hangingPunct="1"/>
            <a:r>
              <a:rPr lang="en-US" altLang="zh-TW" smtClean="0">
                <a:solidFill>
                  <a:schemeClr val="tx1"/>
                </a:solidFill>
              </a:rPr>
              <a:t>Simple Path and Style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Oval 1026"/>
          <p:cNvSpPr>
            <a:spLocks noChangeArrowheads="1"/>
          </p:cNvSpPr>
          <p:nvPr/>
        </p:nvSpPr>
        <p:spPr bwMode="auto">
          <a:xfrm>
            <a:off x="2732088" y="185896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24579" name="Oval 1027"/>
          <p:cNvSpPr>
            <a:spLocks noChangeArrowheads="1"/>
          </p:cNvSpPr>
          <p:nvPr/>
        </p:nvSpPr>
        <p:spPr bwMode="auto">
          <a:xfrm>
            <a:off x="2046288" y="262096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24580" name="Oval 1028"/>
          <p:cNvSpPr>
            <a:spLocks noChangeArrowheads="1"/>
          </p:cNvSpPr>
          <p:nvPr/>
        </p:nvSpPr>
        <p:spPr bwMode="auto">
          <a:xfrm>
            <a:off x="3417888" y="262096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24581" name="Oval 1029"/>
          <p:cNvSpPr>
            <a:spLocks noChangeArrowheads="1"/>
          </p:cNvSpPr>
          <p:nvPr/>
        </p:nvSpPr>
        <p:spPr bwMode="auto">
          <a:xfrm>
            <a:off x="2732088" y="323056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24582" name="Line 1030"/>
          <p:cNvSpPr>
            <a:spLocks noChangeShapeType="1"/>
          </p:cNvSpPr>
          <p:nvPr/>
        </p:nvSpPr>
        <p:spPr bwMode="auto">
          <a:xfrm>
            <a:off x="2954338" y="2309813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3" name="Line 1031"/>
          <p:cNvSpPr>
            <a:spLocks noChangeShapeType="1"/>
          </p:cNvSpPr>
          <p:nvPr/>
        </p:nvSpPr>
        <p:spPr bwMode="auto">
          <a:xfrm>
            <a:off x="2497138" y="2843213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4" name="Line 1032"/>
          <p:cNvSpPr>
            <a:spLocks noChangeShapeType="1"/>
          </p:cNvSpPr>
          <p:nvPr/>
        </p:nvSpPr>
        <p:spPr bwMode="auto">
          <a:xfrm flipH="1">
            <a:off x="2386013" y="2233613"/>
            <a:ext cx="407987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5" name="Line 1033"/>
          <p:cNvSpPr>
            <a:spLocks noChangeShapeType="1"/>
          </p:cNvSpPr>
          <p:nvPr/>
        </p:nvSpPr>
        <p:spPr bwMode="auto">
          <a:xfrm>
            <a:off x="3106738" y="2233613"/>
            <a:ext cx="422275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6" name="Line 1034"/>
          <p:cNvSpPr>
            <a:spLocks noChangeShapeType="1"/>
          </p:cNvSpPr>
          <p:nvPr/>
        </p:nvSpPr>
        <p:spPr bwMode="auto">
          <a:xfrm>
            <a:off x="2371725" y="3049588"/>
            <a:ext cx="354013" cy="3127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7" name="Line 1035"/>
          <p:cNvSpPr>
            <a:spLocks noChangeShapeType="1"/>
          </p:cNvSpPr>
          <p:nvPr/>
        </p:nvSpPr>
        <p:spPr bwMode="auto">
          <a:xfrm flipH="1">
            <a:off x="3160713" y="3022600"/>
            <a:ext cx="327025" cy="339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8" name="Oval 1036"/>
          <p:cNvSpPr>
            <a:spLocks noChangeArrowheads="1"/>
          </p:cNvSpPr>
          <p:nvPr/>
        </p:nvSpPr>
        <p:spPr bwMode="auto">
          <a:xfrm>
            <a:off x="6178550" y="190341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24589" name="Oval 1037"/>
          <p:cNvSpPr>
            <a:spLocks noChangeArrowheads="1"/>
          </p:cNvSpPr>
          <p:nvPr/>
        </p:nvSpPr>
        <p:spPr bwMode="auto">
          <a:xfrm>
            <a:off x="5492750" y="266541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24590" name="Oval 1038"/>
          <p:cNvSpPr>
            <a:spLocks noChangeArrowheads="1"/>
          </p:cNvSpPr>
          <p:nvPr/>
        </p:nvSpPr>
        <p:spPr bwMode="auto">
          <a:xfrm>
            <a:off x="6864350" y="266541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24591" name="Line 1039"/>
          <p:cNvSpPr>
            <a:spLocks noChangeShapeType="1"/>
          </p:cNvSpPr>
          <p:nvPr/>
        </p:nvSpPr>
        <p:spPr bwMode="auto">
          <a:xfrm flipH="1">
            <a:off x="5832475" y="2278063"/>
            <a:ext cx="407988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2" name="Line 1040"/>
          <p:cNvSpPr>
            <a:spLocks noChangeShapeType="1"/>
          </p:cNvSpPr>
          <p:nvPr/>
        </p:nvSpPr>
        <p:spPr bwMode="auto">
          <a:xfrm>
            <a:off x="6553200" y="2278063"/>
            <a:ext cx="422275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3" name="Oval 1041"/>
          <p:cNvSpPr>
            <a:spLocks noChangeArrowheads="1"/>
          </p:cNvSpPr>
          <p:nvPr/>
        </p:nvSpPr>
        <p:spPr bwMode="auto">
          <a:xfrm>
            <a:off x="5110163" y="35623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24594" name="Oval 1042"/>
          <p:cNvSpPr>
            <a:spLocks noChangeArrowheads="1"/>
          </p:cNvSpPr>
          <p:nvPr/>
        </p:nvSpPr>
        <p:spPr bwMode="auto">
          <a:xfrm>
            <a:off x="5870575" y="35750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24595" name="Line 1043"/>
          <p:cNvSpPr>
            <a:spLocks noChangeShapeType="1"/>
          </p:cNvSpPr>
          <p:nvPr/>
        </p:nvSpPr>
        <p:spPr bwMode="auto">
          <a:xfrm flipH="1">
            <a:off x="5337175" y="3106738"/>
            <a:ext cx="263525" cy="460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6" name="Line 1044"/>
          <p:cNvSpPr>
            <a:spLocks noChangeShapeType="1"/>
          </p:cNvSpPr>
          <p:nvPr/>
        </p:nvSpPr>
        <p:spPr bwMode="auto">
          <a:xfrm>
            <a:off x="5788025" y="3121025"/>
            <a:ext cx="298450" cy="4587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7" name="Oval 1045"/>
          <p:cNvSpPr>
            <a:spLocks noChangeArrowheads="1"/>
          </p:cNvSpPr>
          <p:nvPr/>
        </p:nvSpPr>
        <p:spPr bwMode="auto">
          <a:xfrm>
            <a:off x="6515100" y="356393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24598" name="Oval 1046"/>
          <p:cNvSpPr>
            <a:spLocks noChangeArrowheads="1"/>
          </p:cNvSpPr>
          <p:nvPr/>
        </p:nvSpPr>
        <p:spPr bwMode="auto">
          <a:xfrm>
            <a:off x="7259638" y="35623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6</a:t>
            </a:r>
          </a:p>
        </p:txBody>
      </p:sp>
      <p:sp>
        <p:nvSpPr>
          <p:cNvPr id="24599" name="Line 1047"/>
          <p:cNvSpPr>
            <a:spLocks noChangeShapeType="1"/>
          </p:cNvSpPr>
          <p:nvPr/>
        </p:nvSpPr>
        <p:spPr bwMode="auto">
          <a:xfrm flipH="1">
            <a:off x="6711950" y="3090863"/>
            <a:ext cx="273050" cy="461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00" name="Line 1048"/>
          <p:cNvSpPr>
            <a:spLocks noChangeShapeType="1"/>
          </p:cNvSpPr>
          <p:nvPr/>
        </p:nvSpPr>
        <p:spPr bwMode="auto">
          <a:xfrm>
            <a:off x="7188200" y="3103563"/>
            <a:ext cx="273050" cy="4492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01" name="Rectangle 1049"/>
          <p:cNvSpPr>
            <a:spLocks noChangeArrowheads="1"/>
          </p:cNvSpPr>
          <p:nvPr/>
        </p:nvSpPr>
        <p:spPr bwMode="auto">
          <a:xfrm>
            <a:off x="2659063" y="3875088"/>
            <a:ext cx="5556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G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24602" name="Rectangle 1050"/>
          <p:cNvSpPr>
            <a:spLocks noChangeArrowheads="1"/>
          </p:cNvSpPr>
          <p:nvPr/>
        </p:nvSpPr>
        <p:spPr bwMode="auto">
          <a:xfrm>
            <a:off x="6130925" y="4137025"/>
            <a:ext cx="5556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G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24603" name="Text Box 1051"/>
          <p:cNvSpPr txBox="1">
            <a:spLocks noChangeArrowheads="1"/>
          </p:cNvSpPr>
          <p:nvPr/>
        </p:nvSpPr>
        <p:spPr bwMode="auto">
          <a:xfrm>
            <a:off x="4094163" y="1093788"/>
            <a:ext cx="14176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connected</a:t>
            </a:r>
          </a:p>
        </p:txBody>
      </p:sp>
      <p:sp>
        <p:nvSpPr>
          <p:cNvPr id="24604" name="Text Box 1052"/>
          <p:cNvSpPr txBox="1">
            <a:spLocks noChangeArrowheads="1"/>
          </p:cNvSpPr>
          <p:nvPr/>
        </p:nvSpPr>
        <p:spPr bwMode="auto">
          <a:xfrm>
            <a:off x="5172075" y="4762500"/>
            <a:ext cx="2549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tree (acyclic graph)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ChangeArrowheads="1"/>
          </p:cNvSpPr>
          <p:nvPr/>
        </p:nvSpPr>
        <p:spPr bwMode="auto">
          <a:xfrm>
            <a:off x="893763" y="1981200"/>
            <a:ext cx="8991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A connected component of an undirected graph 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is a maximal connected subgraph.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A tree is a graph that is connected and acyclic.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A directed graph is strongly connected if there 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is a directed path from 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i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 to 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j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 and also 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from 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j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 to 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i.</a:t>
            </a:r>
            <a:endParaRPr lang="en-US" altLang="zh-TW" sz="3200">
              <a:solidFill>
                <a:schemeClr val="tx1"/>
              </a:solidFill>
              <a:ea typeface="PMingLiU" pitchFamily="18" charset="-120"/>
            </a:endParaRP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A strongly connected component is a maximal subgraph that is strongly connected.</a:t>
            </a:r>
          </a:p>
        </p:txBody>
      </p:sp>
      <p:sp>
        <p:nvSpPr>
          <p:cNvPr id="25603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654050" y="663575"/>
            <a:ext cx="7772400" cy="1143000"/>
          </a:xfrm>
        </p:spPr>
        <p:txBody>
          <a:bodyPr/>
          <a:lstStyle/>
          <a:p>
            <a:pPr algn="ctr" eaLnBrk="1" hangingPunct="1"/>
            <a:r>
              <a:rPr lang="en-US" altLang="zh-TW" smtClean="0">
                <a:solidFill>
                  <a:schemeClr val="tx1"/>
                </a:solidFill>
              </a:rPr>
              <a:t>Connected Component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909638" y="0"/>
            <a:ext cx="779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 b="1" u="sng">
                <a:solidFill>
                  <a:schemeClr val="tx1"/>
                </a:solidFill>
                <a:ea typeface="PMingLiU" pitchFamily="18" charset="-120"/>
              </a:rPr>
              <a:t>*Figure 6.5: </a:t>
            </a:r>
            <a:r>
              <a:rPr lang="en-US" altLang="zh-TW" sz="2400" u="sng">
                <a:solidFill>
                  <a:schemeClr val="tx1"/>
                </a:solidFill>
                <a:ea typeface="PMingLiU" pitchFamily="18" charset="-120"/>
              </a:rPr>
              <a:t>A graph with two connected components (p.262)</a:t>
            </a:r>
            <a:endParaRPr lang="en-US" altLang="zh-TW" sz="2400" b="1" u="sng">
              <a:solidFill>
                <a:schemeClr val="tx1"/>
              </a:solidFill>
              <a:ea typeface="PMingLiU" pitchFamily="18" charset="-120"/>
            </a:endParaRP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1685925" y="1216025"/>
            <a:ext cx="5235575" cy="5029200"/>
            <a:chOff x="578" y="576"/>
            <a:chExt cx="3298" cy="3168"/>
          </a:xfrm>
        </p:grpSpPr>
        <p:sp>
          <p:nvSpPr>
            <p:cNvPr id="26631" name="Oval 4"/>
            <p:cNvSpPr>
              <a:spLocks noChangeArrowheads="1"/>
            </p:cNvSpPr>
            <p:nvPr/>
          </p:nvSpPr>
          <p:spPr bwMode="auto">
            <a:xfrm>
              <a:off x="1920" y="1332"/>
              <a:ext cx="420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TW" sz="2400" b="1">
                  <a:solidFill>
                    <a:schemeClr val="tx1"/>
                  </a:solidFill>
                  <a:ea typeface="PMingLiU" pitchFamily="18" charset="-120"/>
                </a:rPr>
                <a:t>1</a:t>
              </a:r>
            </a:p>
          </p:txBody>
        </p:sp>
        <p:sp>
          <p:nvSpPr>
            <p:cNvPr id="26632" name="Line 8"/>
            <p:cNvSpPr>
              <a:spLocks noChangeShapeType="1"/>
            </p:cNvSpPr>
            <p:nvPr/>
          </p:nvSpPr>
          <p:spPr bwMode="auto">
            <a:xfrm>
              <a:off x="1728" y="948"/>
              <a:ext cx="300" cy="4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3" name="Line 9"/>
            <p:cNvSpPr>
              <a:spLocks noChangeShapeType="1"/>
            </p:cNvSpPr>
            <p:nvPr/>
          </p:nvSpPr>
          <p:spPr bwMode="auto">
            <a:xfrm flipH="1">
              <a:off x="1812" y="1704"/>
              <a:ext cx="204" cy="4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17"/>
            <p:cNvGrpSpPr>
              <a:grpSpLocks/>
            </p:cNvGrpSpPr>
            <p:nvPr/>
          </p:nvGrpSpPr>
          <p:grpSpPr bwMode="auto">
            <a:xfrm>
              <a:off x="864" y="612"/>
              <a:ext cx="960" cy="1824"/>
              <a:chOff x="852" y="1116"/>
              <a:chExt cx="960" cy="1824"/>
            </a:xfrm>
          </p:grpSpPr>
          <p:sp>
            <p:nvSpPr>
              <p:cNvPr id="26646" name="Oval 3"/>
              <p:cNvSpPr>
                <a:spLocks noChangeArrowheads="1"/>
              </p:cNvSpPr>
              <p:nvPr/>
            </p:nvSpPr>
            <p:spPr bwMode="auto">
              <a:xfrm>
                <a:off x="1356" y="1116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0</a:t>
                </a:r>
              </a:p>
            </p:txBody>
          </p:sp>
          <p:sp>
            <p:nvSpPr>
              <p:cNvPr id="26647" name="Oval 5"/>
              <p:cNvSpPr>
                <a:spLocks noChangeArrowheads="1"/>
              </p:cNvSpPr>
              <p:nvPr/>
            </p:nvSpPr>
            <p:spPr bwMode="auto">
              <a:xfrm>
                <a:off x="852" y="1848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2</a:t>
                </a:r>
              </a:p>
            </p:txBody>
          </p:sp>
          <p:sp>
            <p:nvSpPr>
              <p:cNvPr id="26648" name="Oval 6"/>
              <p:cNvSpPr>
                <a:spLocks noChangeArrowheads="1"/>
              </p:cNvSpPr>
              <p:nvPr/>
            </p:nvSpPr>
            <p:spPr bwMode="auto">
              <a:xfrm>
                <a:off x="1392" y="2532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3</a:t>
                </a:r>
              </a:p>
            </p:txBody>
          </p:sp>
          <p:sp>
            <p:nvSpPr>
              <p:cNvPr id="26649" name="Line 7"/>
              <p:cNvSpPr>
                <a:spLocks noChangeShapeType="1"/>
              </p:cNvSpPr>
              <p:nvPr/>
            </p:nvSpPr>
            <p:spPr bwMode="auto">
              <a:xfrm flipH="1">
                <a:off x="1140" y="1476"/>
                <a:ext cx="276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50" name="Line 10"/>
              <p:cNvSpPr>
                <a:spLocks noChangeShapeType="1"/>
              </p:cNvSpPr>
              <p:nvPr/>
            </p:nvSpPr>
            <p:spPr bwMode="auto">
              <a:xfrm>
                <a:off x="1176" y="2220"/>
                <a:ext cx="216" cy="4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18"/>
            <p:cNvGrpSpPr>
              <a:grpSpLocks/>
            </p:cNvGrpSpPr>
            <p:nvPr/>
          </p:nvGrpSpPr>
          <p:grpSpPr bwMode="auto">
            <a:xfrm>
              <a:off x="2916" y="576"/>
              <a:ext cx="960" cy="1824"/>
              <a:chOff x="852" y="1116"/>
              <a:chExt cx="960" cy="1824"/>
            </a:xfrm>
          </p:grpSpPr>
          <p:sp>
            <p:nvSpPr>
              <p:cNvPr id="26641" name="Oval 19"/>
              <p:cNvSpPr>
                <a:spLocks noChangeArrowheads="1"/>
              </p:cNvSpPr>
              <p:nvPr/>
            </p:nvSpPr>
            <p:spPr bwMode="auto">
              <a:xfrm>
                <a:off x="1356" y="1116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4</a:t>
                </a:r>
              </a:p>
            </p:txBody>
          </p:sp>
          <p:sp>
            <p:nvSpPr>
              <p:cNvPr id="26642" name="Oval 20"/>
              <p:cNvSpPr>
                <a:spLocks noChangeArrowheads="1"/>
              </p:cNvSpPr>
              <p:nvPr/>
            </p:nvSpPr>
            <p:spPr bwMode="auto">
              <a:xfrm>
                <a:off x="852" y="1848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5</a:t>
                </a:r>
              </a:p>
            </p:txBody>
          </p:sp>
          <p:sp>
            <p:nvSpPr>
              <p:cNvPr id="26643" name="Oval 21"/>
              <p:cNvSpPr>
                <a:spLocks noChangeArrowheads="1"/>
              </p:cNvSpPr>
              <p:nvPr/>
            </p:nvSpPr>
            <p:spPr bwMode="auto">
              <a:xfrm>
                <a:off x="1392" y="2532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6</a:t>
                </a:r>
              </a:p>
            </p:txBody>
          </p:sp>
          <p:sp>
            <p:nvSpPr>
              <p:cNvPr id="26644" name="Line 22"/>
              <p:cNvSpPr>
                <a:spLocks noChangeShapeType="1"/>
              </p:cNvSpPr>
              <p:nvPr/>
            </p:nvSpPr>
            <p:spPr bwMode="auto">
              <a:xfrm flipH="1">
                <a:off x="1140" y="1476"/>
                <a:ext cx="276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45" name="Line 23"/>
              <p:cNvSpPr>
                <a:spLocks noChangeShapeType="1"/>
              </p:cNvSpPr>
              <p:nvPr/>
            </p:nvSpPr>
            <p:spPr bwMode="auto">
              <a:xfrm>
                <a:off x="1176" y="2220"/>
                <a:ext cx="216" cy="4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6636" name="Oval 25"/>
            <p:cNvSpPr>
              <a:spLocks noChangeArrowheads="1"/>
            </p:cNvSpPr>
            <p:nvPr/>
          </p:nvSpPr>
          <p:spPr bwMode="auto">
            <a:xfrm>
              <a:off x="2988" y="2940"/>
              <a:ext cx="420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TW" sz="2400" b="1">
                  <a:solidFill>
                    <a:schemeClr val="tx1"/>
                  </a:solidFill>
                  <a:ea typeface="PMingLiU" pitchFamily="18" charset="-120"/>
                </a:rPr>
                <a:t>7</a:t>
              </a:r>
            </a:p>
          </p:txBody>
        </p:sp>
        <p:sp>
          <p:nvSpPr>
            <p:cNvPr id="26637" name="Line 26"/>
            <p:cNvSpPr>
              <a:spLocks noChangeShapeType="1"/>
            </p:cNvSpPr>
            <p:nvPr/>
          </p:nvSpPr>
          <p:spPr bwMode="auto">
            <a:xfrm flipH="1">
              <a:off x="3312" y="2388"/>
              <a:ext cx="252" cy="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8" name="Text Box 27"/>
            <p:cNvSpPr txBox="1">
              <a:spLocks noChangeArrowheads="1"/>
            </p:cNvSpPr>
            <p:nvPr/>
          </p:nvSpPr>
          <p:spPr bwMode="auto">
            <a:xfrm>
              <a:off x="578" y="636"/>
              <a:ext cx="32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TW" sz="2400" b="1">
                  <a:solidFill>
                    <a:schemeClr val="tx1"/>
                  </a:solidFill>
                  <a:ea typeface="PMingLiU" pitchFamily="18" charset="-120"/>
                </a:rPr>
                <a:t>H</a:t>
              </a:r>
              <a:r>
                <a:rPr lang="en-US" altLang="zh-TW" sz="2400" b="1" baseline="-25000">
                  <a:solidFill>
                    <a:schemeClr val="tx1"/>
                  </a:solidFill>
                  <a:ea typeface="PMingLiU" pitchFamily="18" charset="-120"/>
                </a:rPr>
                <a:t>1</a:t>
              </a:r>
              <a:endParaRPr lang="en-US" altLang="zh-TW" sz="2400" b="1">
                <a:solidFill>
                  <a:schemeClr val="tx1"/>
                </a:solidFill>
                <a:ea typeface="PMingLiU" pitchFamily="18" charset="-120"/>
              </a:endParaRPr>
            </a:p>
          </p:txBody>
        </p:sp>
        <p:sp>
          <p:nvSpPr>
            <p:cNvPr id="26639" name="Rectangle 28"/>
            <p:cNvSpPr>
              <a:spLocks noChangeArrowheads="1"/>
            </p:cNvSpPr>
            <p:nvPr/>
          </p:nvSpPr>
          <p:spPr bwMode="auto">
            <a:xfrm>
              <a:off x="2668" y="624"/>
              <a:ext cx="32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TW" sz="2400" b="1">
                  <a:solidFill>
                    <a:schemeClr val="tx1"/>
                  </a:solidFill>
                  <a:ea typeface="PMingLiU" pitchFamily="18" charset="-120"/>
                </a:rPr>
                <a:t>H</a:t>
              </a:r>
              <a:r>
                <a:rPr lang="en-US" altLang="zh-TW" sz="2400" b="1" baseline="-25000">
                  <a:solidFill>
                    <a:schemeClr val="tx1"/>
                  </a:solidFill>
                  <a:ea typeface="PMingLiU" pitchFamily="18" charset="-120"/>
                </a:rPr>
                <a:t>2</a:t>
              </a:r>
            </a:p>
          </p:txBody>
        </p:sp>
        <p:sp>
          <p:nvSpPr>
            <p:cNvPr id="26640" name="Rectangle 29"/>
            <p:cNvSpPr>
              <a:spLocks noChangeArrowheads="1"/>
            </p:cNvSpPr>
            <p:nvPr/>
          </p:nvSpPr>
          <p:spPr bwMode="auto">
            <a:xfrm>
              <a:off x="1844" y="3456"/>
              <a:ext cx="157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TW" sz="2400" b="1">
                  <a:solidFill>
                    <a:schemeClr val="tx1"/>
                  </a:solidFill>
                  <a:ea typeface="PMingLiU" pitchFamily="18" charset="-120"/>
                </a:rPr>
                <a:t>G</a:t>
              </a:r>
              <a:r>
                <a:rPr lang="en-US" altLang="zh-TW" sz="2400" b="1" baseline="-25000">
                  <a:solidFill>
                    <a:schemeClr val="tx1"/>
                  </a:solidFill>
                  <a:ea typeface="PMingLiU" pitchFamily="18" charset="-120"/>
                </a:rPr>
                <a:t>4</a:t>
              </a:r>
              <a:r>
                <a:rPr lang="en-US" altLang="zh-TW" sz="2400">
                  <a:solidFill>
                    <a:schemeClr val="tx1"/>
                  </a:solidFill>
                  <a:ea typeface="PMingLiU" pitchFamily="18" charset="-120"/>
                </a:rPr>
                <a:t> (not connected)</a:t>
              </a:r>
              <a:endParaRPr lang="en-US" altLang="zh-TW" sz="2400" b="1" baseline="-25000">
                <a:solidFill>
                  <a:schemeClr val="tx1"/>
                </a:solidFill>
                <a:ea typeface="PMingLiU" pitchFamily="18" charset="-120"/>
              </a:endParaRPr>
            </a:p>
          </p:txBody>
        </p:sp>
      </p:grpSp>
      <p:sp>
        <p:nvSpPr>
          <p:cNvPr id="26628" name="Line 31"/>
          <p:cNvSpPr>
            <a:spLocks noChangeShapeType="1"/>
          </p:cNvSpPr>
          <p:nvPr/>
        </p:nvSpPr>
        <p:spPr bwMode="auto">
          <a:xfrm flipH="1">
            <a:off x="3492500" y="846138"/>
            <a:ext cx="671513" cy="3175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29" name="Line 32"/>
          <p:cNvSpPr>
            <a:spLocks noChangeShapeType="1"/>
          </p:cNvSpPr>
          <p:nvPr/>
        </p:nvSpPr>
        <p:spPr bwMode="auto">
          <a:xfrm>
            <a:off x="5380038" y="828675"/>
            <a:ext cx="565150" cy="24765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0" name="Text Box 33"/>
          <p:cNvSpPr txBox="1">
            <a:spLocks noChangeArrowheads="1"/>
          </p:cNvSpPr>
          <p:nvPr/>
        </p:nvSpPr>
        <p:spPr bwMode="auto">
          <a:xfrm>
            <a:off x="1576388" y="441325"/>
            <a:ext cx="6692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connected component (maximal connected subgraph)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952500" y="285750"/>
            <a:ext cx="74088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 b="1" u="sng">
                <a:solidFill>
                  <a:schemeClr val="tx1"/>
                </a:solidFill>
                <a:ea typeface="PMingLiU" pitchFamily="18" charset="-120"/>
              </a:rPr>
              <a:t>*Figure 6.6: </a:t>
            </a:r>
            <a:r>
              <a:rPr lang="en-US" altLang="zh-TW" sz="2400" u="sng">
                <a:solidFill>
                  <a:schemeClr val="tx1"/>
                </a:solidFill>
                <a:ea typeface="PMingLiU" pitchFamily="18" charset="-120"/>
              </a:rPr>
              <a:t>Strongly connected components of G</a:t>
            </a:r>
            <a:r>
              <a:rPr lang="en-US" altLang="zh-TW" sz="2400" baseline="-25000">
                <a:solidFill>
                  <a:schemeClr val="tx1"/>
                </a:solidFill>
                <a:ea typeface="PMingLiU" pitchFamily="18" charset="-120"/>
              </a:rPr>
              <a:t>3 </a:t>
            </a:r>
            <a:r>
              <a:rPr lang="en-US" altLang="zh-TW" sz="2400" u="sng">
                <a:solidFill>
                  <a:schemeClr val="tx1"/>
                </a:solidFill>
                <a:ea typeface="PMingLiU" pitchFamily="18" charset="-120"/>
              </a:rPr>
              <a:t>(p.262)</a:t>
            </a:r>
            <a:endParaRPr lang="en-US" altLang="zh-TW" sz="2400" b="1" u="sng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27651" name="Oval 3"/>
          <p:cNvSpPr>
            <a:spLocks noChangeArrowheads="1"/>
          </p:cNvSpPr>
          <p:nvPr/>
        </p:nvSpPr>
        <p:spPr bwMode="auto">
          <a:xfrm>
            <a:off x="5106988" y="2319338"/>
            <a:ext cx="685800" cy="6667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 b="1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27652" name="Oval 6"/>
          <p:cNvSpPr>
            <a:spLocks noChangeArrowheads="1"/>
          </p:cNvSpPr>
          <p:nvPr/>
        </p:nvSpPr>
        <p:spPr bwMode="auto">
          <a:xfrm>
            <a:off x="5106988" y="3843338"/>
            <a:ext cx="685800" cy="6667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 b="1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27653" name="Oval 7"/>
          <p:cNvSpPr>
            <a:spLocks noChangeArrowheads="1"/>
          </p:cNvSpPr>
          <p:nvPr/>
        </p:nvSpPr>
        <p:spPr bwMode="auto">
          <a:xfrm>
            <a:off x="7183438" y="2300288"/>
            <a:ext cx="685800" cy="6667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 b="1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27654" name="Arc 27"/>
          <p:cNvSpPr>
            <a:spLocks/>
          </p:cNvSpPr>
          <p:nvPr/>
        </p:nvSpPr>
        <p:spPr bwMode="auto">
          <a:xfrm>
            <a:off x="5746750" y="2725738"/>
            <a:ext cx="487363" cy="1257300"/>
          </a:xfrm>
          <a:custGeom>
            <a:avLst/>
            <a:gdLst>
              <a:gd name="T0" fmla="*/ 381350639 w 23751"/>
              <a:gd name="T1" fmla="*/ 0 h 43200"/>
              <a:gd name="T2" fmla="*/ 0 w 23751"/>
              <a:gd name="T3" fmla="*/ 2147483647 h 43200"/>
              <a:gd name="T4" fmla="*/ 381350639 w 23751"/>
              <a:gd name="T5" fmla="*/ 2147483647 h 43200"/>
              <a:gd name="T6" fmla="*/ 0 60000 65536"/>
              <a:gd name="T7" fmla="*/ 0 60000 65536"/>
              <a:gd name="T8" fmla="*/ 0 60000 65536"/>
              <a:gd name="T9" fmla="*/ 0 w 23751"/>
              <a:gd name="T10" fmla="*/ 0 h 43200"/>
              <a:gd name="T11" fmla="*/ 23751 w 23751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751" h="43200" fill="none" extrusionOk="0">
                <a:moveTo>
                  <a:pt x="2150" y="0"/>
                </a:moveTo>
                <a:cubicBezTo>
                  <a:pt x="14080" y="0"/>
                  <a:pt x="23751" y="9670"/>
                  <a:pt x="23751" y="21600"/>
                </a:cubicBezTo>
                <a:cubicBezTo>
                  <a:pt x="23751" y="33529"/>
                  <a:pt x="14080" y="43200"/>
                  <a:pt x="2151" y="43200"/>
                </a:cubicBezTo>
                <a:cubicBezTo>
                  <a:pt x="1432" y="43200"/>
                  <a:pt x="714" y="43164"/>
                  <a:pt x="0" y="43092"/>
                </a:cubicBezTo>
              </a:path>
              <a:path w="23751" h="43200" stroke="0" extrusionOk="0">
                <a:moveTo>
                  <a:pt x="2150" y="0"/>
                </a:moveTo>
                <a:cubicBezTo>
                  <a:pt x="14080" y="0"/>
                  <a:pt x="23751" y="9670"/>
                  <a:pt x="23751" y="21600"/>
                </a:cubicBezTo>
                <a:cubicBezTo>
                  <a:pt x="23751" y="33529"/>
                  <a:pt x="14080" y="43200"/>
                  <a:pt x="2151" y="43200"/>
                </a:cubicBezTo>
                <a:cubicBezTo>
                  <a:pt x="1432" y="43200"/>
                  <a:pt x="714" y="43164"/>
                  <a:pt x="0" y="43092"/>
                </a:cubicBezTo>
                <a:lnTo>
                  <a:pt x="2151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7655" name="Arc 29"/>
          <p:cNvSpPr>
            <a:spLocks/>
          </p:cNvSpPr>
          <p:nvPr/>
        </p:nvSpPr>
        <p:spPr bwMode="auto">
          <a:xfrm flipH="1">
            <a:off x="4660900" y="2744788"/>
            <a:ext cx="487363" cy="1257300"/>
          </a:xfrm>
          <a:custGeom>
            <a:avLst/>
            <a:gdLst>
              <a:gd name="T0" fmla="*/ 381350639 w 23751"/>
              <a:gd name="T1" fmla="*/ 0 h 43200"/>
              <a:gd name="T2" fmla="*/ 0 w 23751"/>
              <a:gd name="T3" fmla="*/ 2147483647 h 43200"/>
              <a:gd name="T4" fmla="*/ 381350639 w 23751"/>
              <a:gd name="T5" fmla="*/ 2147483647 h 43200"/>
              <a:gd name="T6" fmla="*/ 0 60000 65536"/>
              <a:gd name="T7" fmla="*/ 0 60000 65536"/>
              <a:gd name="T8" fmla="*/ 0 60000 65536"/>
              <a:gd name="T9" fmla="*/ 0 w 23751"/>
              <a:gd name="T10" fmla="*/ 0 h 43200"/>
              <a:gd name="T11" fmla="*/ 23751 w 23751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751" h="43200" fill="none" extrusionOk="0">
                <a:moveTo>
                  <a:pt x="2150" y="0"/>
                </a:moveTo>
                <a:cubicBezTo>
                  <a:pt x="14080" y="0"/>
                  <a:pt x="23751" y="9670"/>
                  <a:pt x="23751" y="21600"/>
                </a:cubicBezTo>
                <a:cubicBezTo>
                  <a:pt x="23751" y="33529"/>
                  <a:pt x="14080" y="43200"/>
                  <a:pt x="2151" y="43200"/>
                </a:cubicBezTo>
                <a:cubicBezTo>
                  <a:pt x="1432" y="43200"/>
                  <a:pt x="714" y="43164"/>
                  <a:pt x="0" y="43092"/>
                </a:cubicBezTo>
              </a:path>
              <a:path w="23751" h="43200" stroke="0" extrusionOk="0">
                <a:moveTo>
                  <a:pt x="2150" y="0"/>
                </a:moveTo>
                <a:cubicBezTo>
                  <a:pt x="14080" y="0"/>
                  <a:pt x="23751" y="9670"/>
                  <a:pt x="23751" y="21600"/>
                </a:cubicBezTo>
                <a:cubicBezTo>
                  <a:pt x="23751" y="33529"/>
                  <a:pt x="14080" y="43200"/>
                  <a:pt x="2151" y="43200"/>
                </a:cubicBezTo>
                <a:cubicBezTo>
                  <a:pt x="1432" y="43200"/>
                  <a:pt x="714" y="43164"/>
                  <a:pt x="0" y="43092"/>
                </a:cubicBezTo>
                <a:lnTo>
                  <a:pt x="2151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7656" name="Oval 30"/>
          <p:cNvSpPr>
            <a:spLocks noChangeArrowheads="1"/>
          </p:cNvSpPr>
          <p:nvPr/>
        </p:nvSpPr>
        <p:spPr bwMode="auto">
          <a:xfrm>
            <a:off x="2073275" y="200660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27657" name="Oval 31"/>
          <p:cNvSpPr>
            <a:spLocks noChangeArrowheads="1"/>
          </p:cNvSpPr>
          <p:nvPr/>
        </p:nvSpPr>
        <p:spPr bwMode="auto">
          <a:xfrm>
            <a:off x="2071688" y="310991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27658" name="Oval 32"/>
          <p:cNvSpPr>
            <a:spLocks noChangeArrowheads="1"/>
          </p:cNvSpPr>
          <p:nvPr/>
        </p:nvSpPr>
        <p:spPr bwMode="auto">
          <a:xfrm>
            <a:off x="2087563" y="412908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27659" name="Line 33"/>
          <p:cNvSpPr>
            <a:spLocks noChangeShapeType="1"/>
          </p:cNvSpPr>
          <p:nvPr/>
        </p:nvSpPr>
        <p:spPr bwMode="auto">
          <a:xfrm>
            <a:off x="2309813" y="3565525"/>
            <a:ext cx="0" cy="558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0" name="Line 34"/>
          <p:cNvSpPr>
            <a:spLocks noChangeShapeType="1"/>
          </p:cNvSpPr>
          <p:nvPr/>
        </p:nvSpPr>
        <p:spPr bwMode="auto">
          <a:xfrm flipV="1">
            <a:off x="2487613" y="2395538"/>
            <a:ext cx="0" cy="720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1" name="Line 35"/>
          <p:cNvSpPr>
            <a:spLocks noChangeShapeType="1"/>
          </p:cNvSpPr>
          <p:nvPr/>
        </p:nvSpPr>
        <p:spPr bwMode="auto">
          <a:xfrm>
            <a:off x="2119313" y="2422525"/>
            <a:ext cx="0" cy="7350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2" name="Rectangle 36"/>
          <p:cNvSpPr>
            <a:spLocks noChangeArrowheads="1"/>
          </p:cNvSpPr>
          <p:nvPr/>
        </p:nvSpPr>
        <p:spPr bwMode="auto">
          <a:xfrm>
            <a:off x="1965325" y="4646613"/>
            <a:ext cx="5556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G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27663" name="Text Box 37"/>
          <p:cNvSpPr txBox="1">
            <a:spLocks noChangeArrowheads="1"/>
          </p:cNvSpPr>
          <p:nvPr/>
        </p:nvSpPr>
        <p:spPr bwMode="auto">
          <a:xfrm>
            <a:off x="1087438" y="1270000"/>
            <a:ext cx="29575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not strongly connected</a:t>
            </a:r>
          </a:p>
        </p:txBody>
      </p:sp>
      <p:sp>
        <p:nvSpPr>
          <p:cNvPr id="27664" name="Line 38"/>
          <p:cNvSpPr>
            <a:spLocks noChangeShapeType="1"/>
          </p:cNvSpPr>
          <p:nvPr/>
        </p:nvSpPr>
        <p:spPr bwMode="auto">
          <a:xfrm flipH="1">
            <a:off x="5521325" y="1693863"/>
            <a:ext cx="530225" cy="404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5" name="Line 39"/>
          <p:cNvSpPr>
            <a:spLocks noChangeShapeType="1"/>
          </p:cNvSpPr>
          <p:nvPr/>
        </p:nvSpPr>
        <p:spPr bwMode="auto">
          <a:xfrm>
            <a:off x="6897688" y="1657350"/>
            <a:ext cx="493712" cy="476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6" name="Text Box 40"/>
          <p:cNvSpPr txBox="1">
            <a:spLocks noChangeArrowheads="1"/>
          </p:cNvSpPr>
          <p:nvPr/>
        </p:nvSpPr>
        <p:spPr bwMode="auto">
          <a:xfrm>
            <a:off x="4114800" y="876300"/>
            <a:ext cx="5076825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strongly connected component</a:t>
            </a:r>
          </a:p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(maximal strongly connected subgraph)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ChangeArrowheads="1"/>
          </p:cNvSpPr>
          <p:nvPr/>
        </p:nvSpPr>
        <p:spPr bwMode="auto">
          <a:xfrm>
            <a:off x="974725" y="414338"/>
            <a:ext cx="81692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altLang="zh-TW" sz="4400">
                <a:solidFill>
                  <a:schemeClr val="tx2"/>
                </a:solidFill>
                <a:ea typeface="PMingLiU" pitchFamily="18" charset="-120"/>
              </a:rPr>
              <a:t>Degree</a:t>
            </a:r>
          </a:p>
        </p:txBody>
      </p:sp>
      <p:sp>
        <p:nvSpPr>
          <p:cNvPr id="1028" name="Rectangle 3"/>
          <p:cNvSpPr>
            <a:spLocks noChangeArrowheads="1"/>
          </p:cNvSpPr>
          <p:nvPr/>
        </p:nvSpPr>
        <p:spPr bwMode="auto">
          <a:xfrm>
            <a:off x="974725" y="1704975"/>
            <a:ext cx="8169275" cy="4398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The degree of a vertex is the number of edges incident to that vertex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For directed graph, </a:t>
            </a:r>
          </a:p>
          <a:p>
            <a:pPr marL="742950" lvl="1" indent="-285750" algn="l">
              <a:lnSpc>
                <a:spcPct val="80000"/>
              </a:lnSpc>
              <a:spcBef>
                <a:spcPct val="20000"/>
              </a:spcBef>
              <a:buFontTx/>
              <a:buChar char="–"/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the in-degree of a vertex </a:t>
            </a:r>
            <a:r>
              <a:rPr lang="en-US" altLang="zh-TW" sz="2800" i="1">
                <a:solidFill>
                  <a:schemeClr val="tx1"/>
                </a:solidFill>
                <a:ea typeface="PMingLiU" pitchFamily="18" charset="-120"/>
              </a:rPr>
              <a:t>v</a:t>
            </a: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 is the number of edges</a:t>
            </a:r>
            <a:br>
              <a:rPr lang="en-US" altLang="zh-TW" sz="28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that have </a:t>
            </a:r>
            <a:r>
              <a:rPr lang="en-US" altLang="zh-TW" sz="2800" i="1">
                <a:solidFill>
                  <a:schemeClr val="tx1"/>
                </a:solidFill>
                <a:ea typeface="PMingLiU" pitchFamily="18" charset="-120"/>
              </a:rPr>
              <a:t>v</a:t>
            </a: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 as the head</a:t>
            </a:r>
          </a:p>
          <a:p>
            <a:pPr marL="742950" lvl="1" indent="-285750" algn="l">
              <a:lnSpc>
                <a:spcPct val="80000"/>
              </a:lnSpc>
              <a:spcBef>
                <a:spcPct val="20000"/>
              </a:spcBef>
              <a:buFontTx/>
              <a:buChar char="–"/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the out-degree of a vertex </a:t>
            </a:r>
            <a:r>
              <a:rPr lang="en-US" altLang="zh-TW" sz="2800" i="1">
                <a:solidFill>
                  <a:schemeClr val="tx1"/>
                </a:solidFill>
                <a:ea typeface="PMingLiU" pitchFamily="18" charset="-120"/>
              </a:rPr>
              <a:t>v</a:t>
            </a: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 is the number of edges</a:t>
            </a:r>
            <a:br>
              <a:rPr lang="en-US" altLang="zh-TW" sz="28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that have </a:t>
            </a:r>
            <a:r>
              <a:rPr lang="en-US" altLang="zh-TW" sz="2800" i="1">
                <a:solidFill>
                  <a:schemeClr val="tx1"/>
                </a:solidFill>
                <a:ea typeface="PMingLiU" pitchFamily="18" charset="-120"/>
              </a:rPr>
              <a:t>v</a:t>
            </a: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 as the tail</a:t>
            </a:r>
          </a:p>
          <a:p>
            <a:pPr marL="742950" lvl="1" indent="-285750" algn="l">
              <a:lnSpc>
                <a:spcPct val="80000"/>
              </a:lnSpc>
              <a:spcBef>
                <a:spcPct val="20000"/>
              </a:spcBef>
              <a:buFontTx/>
              <a:buChar char="–"/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if </a:t>
            </a:r>
            <a:r>
              <a:rPr lang="en-US" altLang="zh-TW" sz="2800" i="1">
                <a:solidFill>
                  <a:schemeClr val="tx1"/>
                </a:solidFill>
                <a:ea typeface="PMingLiU" pitchFamily="18" charset="-120"/>
              </a:rPr>
              <a:t>d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i</a:t>
            </a: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 is the degree of a vertex </a:t>
            </a:r>
            <a:r>
              <a:rPr lang="en-US" altLang="zh-TW" sz="2800" i="1">
                <a:solidFill>
                  <a:schemeClr val="tx1"/>
                </a:solidFill>
                <a:ea typeface="PMingLiU" pitchFamily="18" charset="-120"/>
              </a:rPr>
              <a:t>i</a:t>
            </a: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 in a graph </a:t>
            </a:r>
            <a:r>
              <a:rPr lang="en-US" altLang="zh-TW" sz="2800" i="1">
                <a:solidFill>
                  <a:schemeClr val="tx1"/>
                </a:solidFill>
                <a:ea typeface="PMingLiU" pitchFamily="18" charset="-120"/>
              </a:rPr>
              <a:t>G</a:t>
            </a: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 with </a:t>
            </a:r>
            <a:r>
              <a:rPr lang="en-US" altLang="zh-TW" sz="2800" i="1">
                <a:solidFill>
                  <a:schemeClr val="tx1"/>
                </a:solidFill>
                <a:ea typeface="PMingLiU" pitchFamily="18" charset="-120"/>
              </a:rPr>
              <a:t>n</a:t>
            </a: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 vertices and </a:t>
            </a:r>
            <a:r>
              <a:rPr lang="en-US" altLang="zh-TW" sz="2800" i="1">
                <a:solidFill>
                  <a:schemeClr val="tx1"/>
                </a:solidFill>
                <a:ea typeface="PMingLiU" pitchFamily="18" charset="-120"/>
              </a:rPr>
              <a:t>e</a:t>
            </a: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 edges, the number of edges is</a:t>
            </a:r>
          </a:p>
        </p:txBody>
      </p:sp>
      <p:graphicFrame>
        <p:nvGraphicFramePr>
          <p:cNvPr id="1026" name="Object 4"/>
          <p:cNvGraphicFramePr>
            <a:graphicFrameLocks/>
          </p:cNvGraphicFramePr>
          <p:nvPr/>
        </p:nvGraphicFramePr>
        <p:xfrm>
          <a:off x="1760538" y="5262563"/>
          <a:ext cx="2446337" cy="1004887"/>
        </p:xfrm>
        <a:graphic>
          <a:graphicData uri="http://schemas.openxmlformats.org/presentationml/2006/ole">
            <p:oleObj spid="_x0000_s1026" name="方程式" r:id="rId3" imgW="736560" imgH="368280" progId="Equation.2">
              <p:embed/>
            </p:oleObj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1026"/>
          <p:cNvSpPr txBox="1">
            <a:spLocks noChangeArrowheads="1"/>
          </p:cNvSpPr>
          <p:nvPr/>
        </p:nvSpPr>
        <p:spPr bwMode="auto">
          <a:xfrm>
            <a:off x="1423988" y="0"/>
            <a:ext cx="2238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undirected graph</a:t>
            </a:r>
          </a:p>
        </p:txBody>
      </p:sp>
      <p:sp>
        <p:nvSpPr>
          <p:cNvPr id="28675" name="Text Box 1027"/>
          <p:cNvSpPr txBox="1">
            <a:spLocks noChangeArrowheads="1"/>
          </p:cNvSpPr>
          <p:nvPr/>
        </p:nvSpPr>
        <p:spPr bwMode="auto">
          <a:xfrm>
            <a:off x="1441450" y="563563"/>
            <a:ext cx="9953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degree</a:t>
            </a:r>
          </a:p>
        </p:txBody>
      </p:sp>
      <p:sp>
        <p:nvSpPr>
          <p:cNvPr id="28676" name="Oval 1038"/>
          <p:cNvSpPr>
            <a:spLocks noChangeArrowheads="1"/>
          </p:cNvSpPr>
          <p:nvPr/>
        </p:nvSpPr>
        <p:spPr bwMode="auto">
          <a:xfrm>
            <a:off x="6159500" y="82708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28677" name="Oval 1039"/>
          <p:cNvSpPr>
            <a:spLocks noChangeArrowheads="1"/>
          </p:cNvSpPr>
          <p:nvPr/>
        </p:nvSpPr>
        <p:spPr bwMode="auto">
          <a:xfrm>
            <a:off x="5473700" y="158908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28678" name="Oval 1040"/>
          <p:cNvSpPr>
            <a:spLocks noChangeArrowheads="1"/>
          </p:cNvSpPr>
          <p:nvPr/>
        </p:nvSpPr>
        <p:spPr bwMode="auto">
          <a:xfrm>
            <a:off x="6845300" y="158908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28679" name="Line 1041"/>
          <p:cNvSpPr>
            <a:spLocks noChangeShapeType="1"/>
          </p:cNvSpPr>
          <p:nvPr/>
        </p:nvSpPr>
        <p:spPr bwMode="auto">
          <a:xfrm flipH="1">
            <a:off x="5813425" y="1201738"/>
            <a:ext cx="407988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0" name="Line 1042"/>
          <p:cNvSpPr>
            <a:spLocks noChangeShapeType="1"/>
          </p:cNvSpPr>
          <p:nvPr/>
        </p:nvSpPr>
        <p:spPr bwMode="auto">
          <a:xfrm>
            <a:off x="6534150" y="1201738"/>
            <a:ext cx="422275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1" name="Oval 1043"/>
          <p:cNvSpPr>
            <a:spLocks noChangeArrowheads="1"/>
          </p:cNvSpPr>
          <p:nvPr/>
        </p:nvSpPr>
        <p:spPr bwMode="auto">
          <a:xfrm>
            <a:off x="5091113" y="248602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28682" name="Oval 1044"/>
          <p:cNvSpPr>
            <a:spLocks noChangeArrowheads="1"/>
          </p:cNvSpPr>
          <p:nvPr/>
        </p:nvSpPr>
        <p:spPr bwMode="auto">
          <a:xfrm>
            <a:off x="5851525" y="249872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28683" name="Line 1045"/>
          <p:cNvSpPr>
            <a:spLocks noChangeShapeType="1"/>
          </p:cNvSpPr>
          <p:nvPr/>
        </p:nvSpPr>
        <p:spPr bwMode="auto">
          <a:xfrm flipH="1">
            <a:off x="5318125" y="2030413"/>
            <a:ext cx="263525" cy="460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4" name="Line 1046"/>
          <p:cNvSpPr>
            <a:spLocks noChangeShapeType="1"/>
          </p:cNvSpPr>
          <p:nvPr/>
        </p:nvSpPr>
        <p:spPr bwMode="auto">
          <a:xfrm>
            <a:off x="5768975" y="2044700"/>
            <a:ext cx="298450" cy="4587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5" name="Oval 1047"/>
          <p:cNvSpPr>
            <a:spLocks noChangeArrowheads="1"/>
          </p:cNvSpPr>
          <p:nvPr/>
        </p:nvSpPr>
        <p:spPr bwMode="auto">
          <a:xfrm>
            <a:off x="6496050" y="248761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28686" name="Oval 1048"/>
          <p:cNvSpPr>
            <a:spLocks noChangeArrowheads="1"/>
          </p:cNvSpPr>
          <p:nvPr/>
        </p:nvSpPr>
        <p:spPr bwMode="auto">
          <a:xfrm>
            <a:off x="7240588" y="248602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6</a:t>
            </a:r>
          </a:p>
        </p:txBody>
      </p:sp>
      <p:sp>
        <p:nvSpPr>
          <p:cNvPr id="28687" name="Line 1049"/>
          <p:cNvSpPr>
            <a:spLocks noChangeShapeType="1"/>
          </p:cNvSpPr>
          <p:nvPr/>
        </p:nvSpPr>
        <p:spPr bwMode="auto">
          <a:xfrm flipH="1">
            <a:off x="6692900" y="2014538"/>
            <a:ext cx="273050" cy="461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8" name="Line 1050"/>
          <p:cNvSpPr>
            <a:spLocks noChangeShapeType="1"/>
          </p:cNvSpPr>
          <p:nvPr/>
        </p:nvSpPr>
        <p:spPr bwMode="auto">
          <a:xfrm>
            <a:off x="7169150" y="2027238"/>
            <a:ext cx="273050" cy="4492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9" name="Rectangle 1051"/>
          <p:cNvSpPr>
            <a:spLocks noChangeArrowheads="1"/>
          </p:cNvSpPr>
          <p:nvPr/>
        </p:nvSpPr>
        <p:spPr bwMode="auto">
          <a:xfrm>
            <a:off x="2587625" y="3017838"/>
            <a:ext cx="5556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G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28690" name="Rectangle 1052"/>
          <p:cNvSpPr>
            <a:spLocks noChangeArrowheads="1"/>
          </p:cNvSpPr>
          <p:nvPr/>
        </p:nvSpPr>
        <p:spPr bwMode="auto">
          <a:xfrm>
            <a:off x="6111875" y="3060700"/>
            <a:ext cx="5556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G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28691" name="Text Box 1054"/>
          <p:cNvSpPr txBox="1">
            <a:spLocks noChangeArrowheads="1"/>
          </p:cNvSpPr>
          <p:nvPr/>
        </p:nvSpPr>
        <p:spPr bwMode="auto">
          <a:xfrm>
            <a:off x="2689225" y="83343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28692" name="Text Box 1058"/>
          <p:cNvSpPr txBox="1">
            <a:spLocks noChangeArrowheads="1"/>
          </p:cNvSpPr>
          <p:nvPr/>
        </p:nvSpPr>
        <p:spPr bwMode="auto">
          <a:xfrm>
            <a:off x="6234113" y="13589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28693" name="Text Box 1059"/>
          <p:cNvSpPr txBox="1">
            <a:spLocks noChangeArrowheads="1"/>
          </p:cNvSpPr>
          <p:nvPr/>
        </p:nvSpPr>
        <p:spPr bwMode="auto">
          <a:xfrm>
            <a:off x="5510213" y="208121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28694" name="Text Box 1060"/>
          <p:cNvSpPr txBox="1">
            <a:spLocks noChangeArrowheads="1"/>
          </p:cNvSpPr>
          <p:nvPr/>
        </p:nvSpPr>
        <p:spPr bwMode="auto">
          <a:xfrm>
            <a:off x="6886575" y="208121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28695" name="Text Box 1061"/>
          <p:cNvSpPr txBox="1">
            <a:spLocks noChangeArrowheads="1"/>
          </p:cNvSpPr>
          <p:nvPr/>
        </p:nvSpPr>
        <p:spPr bwMode="auto">
          <a:xfrm>
            <a:off x="5122863" y="299878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28696" name="Text Box 1062"/>
          <p:cNvSpPr txBox="1">
            <a:spLocks noChangeArrowheads="1"/>
          </p:cNvSpPr>
          <p:nvPr/>
        </p:nvSpPr>
        <p:spPr bwMode="auto">
          <a:xfrm>
            <a:off x="5864225" y="305117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28697" name="Text Box 1063"/>
          <p:cNvSpPr txBox="1">
            <a:spLocks noChangeArrowheads="1"/>
          </p:cNvSpPr>
          <p:nvPr/>
        </p:nvSpPr>
        <p:spPr bwMode="auto">
          <a:xfrm>
            <a:off x="6569075" y="303371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28698" name="Text Box 1064"/>
          <p:cNvSpPr txBox="1">
            <a:spLocks noChangeArrowheads="1"/>
          </p:cNvSpPr>
          <p:nvPr/>
        </p:nvSpPr>
        <p:spPr bwMode="auto">
          <a:xfrm>
            <a:off x="7362825" y="30861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28699" name="Rectangle 1065"/>
          <p:cNvSpPr>
            <a:spLocks noChangeArrowheads="1"/>
          </p:cNvSpPr>
          <p:nvPr/>
        </p:nvSpPr>
        <p:spPr bwMode="auto">
          <a:xfrm>
            <a:off x="1400175" y="3854450"/>
            <a:ext cx="1933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directed graph</a:t>
            </a:r>
          </a:p>
        </p:txBody>
      </p:sp>
      <p:sp>
        <p:nvSpPr>
          <p:cNvPr id="28700" name="Rectangle 1066"/>
          <p:cNvSpPr>
            <a:spLocks noChangeArrowheads="1"/>
          </p:cNvSpPr>
          <p:nvPr/>
        </p:nvSpPr>
        <p:spPr bwMode="auto">
          <a:xfrm>
            <a:off x="1411288" y="4252913"/>
            <a:ext cx="14986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in-degree</a:t>
            </a:r>
          </a:p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out-degree</a:t>
            </a:r>
          </a:p>
        </p:txBody>
      </p:sp>
      <p:sp>
        <p:nvSpPr>
          <p:cNvPr id="28701" name="Oval 1067"/>
          <p:cNvSpPr>
            <a:spLocks noChangeArrowheads="1"/>
          </p:cNvSpPr>
          <p:nvPr/>
        </p:nvSpPr>
        <p:spPr bwMode="auto">
          <a:xfrm>
            <a:off x="3908425" y="347027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28702" name="Oval 1068"/>
          <p:cNvSpPr>
            <a:spLocks noChangeArrowheads="1"/>
          </p:cNvSpPr>
          <p:nvPr/>
        </p:nvSpPr>
        <p:spPr bwMode="auto">
          <a:xfrm>
            <a:off x="3906838" y="457358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28703" name="Oval 1069"/>
          <p:cNvSpPr>
            <a:spLocks noChangeArrowheads="1"/>
          </p:cNvSpPr>
          <p:nvPr/>
        </p:nvSpPr>
        <p:spPr bwMode="auto">
          <a:xfrm>
            <a:off x="3922713" y="559276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28704" name="Line 1070"/>
          <p:cNvSpPr>
            <a:spLocks noChangeShapeType="1"/>
          </p:cNvSpPr>
          <p:nvPr/>
        </p:nvSpPr>
        <p:spPr bwMode="auto">
          <a:xfrm>
            <a:off x="4144963" y="5029200"/>
            <a:ext cx="0" cy="558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05" name="Line 1071"/>
          <p:cNvSpPr>
            <a:spLocks noChangeShapeType="1"/>
          </p:cNvSpPr>
          <p:nvPr/>
        </p:nvSpPr>
        <p:spPr bwMode="auto">
          <a:xfrm flipV="1">
            <a:off x="4322763" y="3859213"/>
            <a:ext cx="0" cy="720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06" name="Line 1072"/>
          <p:cNvSpPr>
            <a:spLocks noChangeShapeType="1"/>
          </p:cNvSpPr>
          <p:nvPr/>
        </p:nvSpPr>
        <p:spPr bwMode="auto">
          <a:xfrm>
            <a:off x="3954463" y="3886200"/>
            <a:ext cx="0" cy="7350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07" name="Rectangle 1073"/>
          <p:cNvSpPr>
            <a:spLocks noChangeArrowheads="1"/>
          </p:cNvSpPr>
          <p:nvPr/>
        </p:nvSpPr>
        <p:spPr bwMode="auto">
          <a:xfrm>
            <a:off x="3800475" y="6110288"/>
            <a:ext cx="5556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G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28708" name="Text Box 1074"/>
          <p:cNvSpPr txBox="1">
            <a:spLocks noChangeArrowheads="1"/>
          </p:cNvSpPr>
          <p:nvPr/>
        </p:nvSpPr>
        <p:spPr bwMode="auto">
          <a:xfrm>
            <a:off x="4652963" y="3492500"/>
            <a:ext cx="1511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in:1, out: 1</a:t>
            </a:r>
          </a:p>
        </p:txBody>
      </p:sp>
      <p:sp>
        <p:nvSpPr>
          <p:cNvPr id="28709" name="Text Box 1075"/>
          <p:cNvSpPr txBox="1">
            <a:spLocks noChangeArrowheads="1"/>
          </p:cNvSpPr>
          <p:nvPr/>
        </p:nvSpPr>
        <p:spPr bwMode="auto">
          <a:xfrm>
            <a:off x="4670425" y="4568825"/>
            <a:ext cx="1587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in: 1, out: 2</a:t>
            </a:r>
          </a:p>
        </p:txBody>
      </p:sp>
      <p:sp>
        <p:nvSpPr>
          <p:cNvPr id="28710" name="Text Box 1076"/>
          <p:cNvSpPr txBox="1">
            <a:spLocks noChangeArrowheads="1"/>
          </p:cNvSpPr>
          <p:nvPr/>
        </p:nvSpPr>
        <p:spPr bwMode="auto">
          <a:xfrm>
            <a:off x="4705350" y="5573713"/>
            <a:ext cx="1587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in: 1, out: 0</a:t>
            </a:r>
          </a:p>
        </p:txBody>
      </p:sp>
      <p:sp>
        <p:nvSpPr>
          <p:cNvPr id="28711" name="Oval 1077"/>
          <p:cNvSpPr>
            <a:spLocks noChangeArrowheads="1"/>
          </p:cNvSpPr>
          <p:nvPr/>
        </p:nvSpPr>
        <p:spPr bwMode="auto">
          <a:xfrm>
            <a:off x="2608263" y="129540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28712" name="Oval 1078"/>
          <p:cNvSpPr>
            <a:spLocks noChangeArrowheads="1"/>
          </p:cNvSpPr>
          <p:nvPr/>
        </p:nvSpPr>
        <p:spPr bwMode="auto">
          <a:xfrm>
            <a:off x="1922463" y="205740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28713" name="Oval 1079"/>
          <p:cNvSpPr>
            <a:spLocks noChangeArrowheads="1"/>
          </p:cNvSpPr>
          <p:nvPr/>
        </p:nvSpPr>
        <p:spPr bwMode="auto">
          <a:xfrm>
            <a:off x="3294063" y="205740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28714" name="Oval 1080"/>
          <p:cNvSpPr>
            <a:spLocks noChangeArrowheads="1"/>
          </p:cNvSpPr>
          <p:nvPr/>
        </p:nvSpPr>
        <p:spPr bwMode="auto">
          <a:xfrm>
            <a:off x="2608263" y="266700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28715" name="Line 1081"/>
          <p:cNvSpPr>
            <a:spLocks noChangeShapeType="1"/>
          </p:cNvSpPr>
          <p:nvPr/>
        </p:nvSpPr>
        <p:spPr bwMode="auto">
          <a:xfrm>
            <a:off x="2830513" y="1746250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16" name="Line 1082"/>
          <p:cNvSpPr>
            <a:spLocks noChangeShapeType="1"/>
          </p:cNvSpPr>
          <p:nvPr/>
        </p:nvSpPr>
        <p:spPr bwMode="auto">
          <a:xfrm>
            <a:off x="2373313" y="227965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17" name="Line 1083"/>
          <p:cNvSpPr>
            <a:spLocks noChangeShapeType="1"/>
          </p:cNvSpPr>
          <p:nvPr/>
        </p:nvSpPr>
        <p:spPr bwMode="auto">
          <a:xfrm flipH="1">
            <a:off x="2262188" y="1670050"/>
            <a:ext cx="407987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18" name="Line 1084"/>
          <p:cNvSpPr>
            <a:spLocks noChangeShapeType="1"/>
          </p:cNvSpPr>
          <p:nvPr/>
        </p:nvSpPr>
        <p:spPr bwMode="auto">
          <a:xfrm>
            <a:off x="2982913" y="1670050"/>
            <a:ext cx="422275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19" name="Line 1085"/>
          <p:cNvSpPr>
            <a:spLocks noChangeShapeType="1"/>
          </p:cNvSpPr>
          <p:nvPr/>
        </p:nvSpPr>
        <p:spPr bwMode="auto">
          <a:xfrm>
            <a:off x="2247900" y="2486025"/>
            <a:ext cx="354013" cy="3127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20" name="Line 1086"/>
          <p:cNvSpPr>
            <a:spLocks noChangeShapeType="1"/>
          </p:cNvSpPr>
          <p:nvPr/>
        </p:nvSpPr>
        <p:spPr bwMode="auto">
          <a:xfrm flipH="1">
            <a:off x="3036888" y="2459038"/>
            <a:ext cx="327025" cy="339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21" name="Text Box 1088"/>
          <p:cNvSpPr txBox="1">
            <a:spLocks noChangeArrowheads="1"/>
          </p:cNvSpPr>
          <p:nvPr/>
        </p:nvSpPr>
        <p:spPr bwMode="auto">
          <a:xfrm>
            <a:off x="3659188" y="213518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28722" name="Text Box 1089"/>
          <p:cNvSpPr txBox="1">
            <a:spLocks noChangeArrowheads="1"/>
          </p:cNvSpPr>
          <p:nvPr/>
        </p:nvSpPr>
        <p:spPr bwMode="auto">
          <a:xfrm>
            <a:off x="1593850" y="208121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28723" name="Text Box 1090"/>
          <p:cNvSpPr txBox="1">
            <a:spLocks noChangeArrowheads="1"/>
          </p:cNvSpPr>
          <p:nvPr/>
        </p:nvSpPr>
        <p:spPr bwMode="auto">
          <a:xfrm>
            <a:off x="2954338" y="291147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1246188" y="0"/>
            <a:ext cx="789781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altLang="zh-TW" sz="4400">
                <a:solidFill>
                  <a:schemeClr val="tx1"/>
                </a:solidFill>
                <a:ea typeface="PMingLiU" pitchFamily="18" charset="-120"/>
              </a:rPr>
              <a:t>ADT for Graph</a:t>
            </a:r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987425" y="1054100"/>
            <a:ext cx="815657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structure Graph is 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 objects: a nonempty set of vertices and a set of undirected edges, where each </a:t>
            </a:r>
            <a:br>
              <a:rPr lang="en-US" altLang="zh-TW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edge is a pair of vertices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 functions: for all 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graph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  <a:sym typeface="Symbol" pitchFamily="18" charset="2"/>
              </a:rPr>
              <a:t> 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  <a:sym typeface="Symbol" pitchFamily="18" charset="2"/>
              </a:rPr>
              <a:t>Graph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  <a:sym typeface="Symbol" pitchFamily="18" charset="2"/>
              </a:rPr>
              <a:t>, 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  <a:sym typeface="Symbol" pitchFamily="18" charset="2"/>
              </a:rPr>
              <a:t>v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  <a:sym typeface="Symbol" pitchFamily="18" charset="2"/>
              </a:rPr>
              <a:t>, 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  <a:sym typeface="Symbol" pitchFamily="18" charset="2"/>
              </a:rPr>
              <a:t>v</a:t>
            </a:r>
            <a:r>
              <a:rPr lang="en-US" altLang="zh-TW" baseline="-25000">
                <a:solidFill>
                  <a:schemeClr val="tx1"/>
                </a:solidFill>
                <a:ea typeface="PMingLiU" pitchFamily="18" charset="-120"/>
                <a:sym typeface="Symbol" pitchFamily="18" charset="2"/>
              </a:rPr>
              <a:t>1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  <a:sym typeface="Symbol" pitchFamily="18" charset="2"/>
              </a:rPr>
              <a:t> and 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  <a:sym typeface="Symbol" pitchFamily="18" charset="2"/>
              </a:rPr>
              <a:t>v</a:t>
            </a:r>
            <a:r>
              <a:rPr lang="en-US" altLang="zh-TW" baseline="-25000">
                <a:solidFill>
                  <a:schemeClr val="tx1"/>
                </a:solidFill>
                <a:ea typeface="PMingLiU" pitchFamily="18" charset="-120"/>
                <a:sym typeface="Symbol" pitchFamily="18" charset="2"/>
              </a:rPr>
              <a:t>2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  <a:sym typeface="Symbol" pitchFamily="18" charset="2"/>
              </a:rPr>
              <a:t>  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  <a:sym typeface="Symbol" pitchFamily="18" charset="2"/>
              </a:rPr>
              <a:t>Vertices</a:t>
            </a:r>
            <a:endParaRPr lang="en-US" altLang="zh-TW">
              <a:solidFill>
                <a:schemeClr val="tx1"/>
              </a:solidFill>
              <a:ea typeface="PMingLiU" pitchFamily="18" charset="-120"/>
            </a:endParaRP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   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Graph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Create()::=return an empty graph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   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Graph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InsertVertex(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graph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, 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v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)::= return a graph with 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v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inserted. 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v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has no </a:t>
            </a:r>
            <a:br>
              <a:rPr lang="en-US" altLang="zh-TW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                                                  incident edge.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   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Graph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InsertEdge(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graph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, 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v</a:t>
            </a:r>
            <a:r>
              <a:rPr lang="en-US" altLang="zh-TW" sz="1400" i="1">
                <a:solidFill>
                  <a:schemeClr val="tx1"/>
                </a:solidFill>
                <a:ea typeface="PMingLiU" pitchFamily="18" charset="-120"/>
              </a:rPr>
              <a:t>1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,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v</a:t>
            </a:r>
            <a:r>
              <a:rPr lang="en-US" altLang="zh-TW" sz="1400" i="1">
                <a:solidFill>
                  <a:schemeClr val="tx1"/>
                </a:solidFill>
                <a:ea typeface="PMingLiU" pitchFamily="18" charset="-120"/>
              </a:rPr>
              <a:t>2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)::= return a graph with new edge </a:t>
            </a:r>
            <a:br>
              <a:rPr lang="en-US" altLang="zh-TW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                                                     between 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v</a:t>
            </a:r>
            <a:r>
              <a:rPr lang="en-US" altLang="zh-TW" sz="1400" i="1">
                <a:solidFill>
                  <a:schemeClr val="tx1"/>
                </a:solidFill>
                <a:ea typeface="PMingLiU" pitchFamily="18" charset="-120"/>
              </a:rPr>
              <a:t>1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and 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v</a:t>
            </a:r>
            <a:r>
              <a:rPr lang="en-US" altLang="zh-TW" sz="1400" i="1">
                <a:solidFill>
                  <a:schemeClr val="tx1"/>
                </a:solidFill>
                <a:ea typeface="PMingLiU" pitchFamily="18" charset="-120"/>
              </a:rPr>
              <a:t>2</a:t>
            </a:r>
            <a:endParaRPr lang="en-US" altLang="zh-TW">
              <a:solidFill>
                <a:schemeClr val="tx1"/>
              </a:solidFill>
              <a:ea typeface="PMingLiU" pitchFamily="18" charset="-120"/>
            </a:endParaRP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   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Graph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DeleteVertex(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graph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, 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v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)::= return a graph in which 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v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and all edges </a:t>
            </a:r>
            <a:br>
              <a:rPr lang="en-US" altLang="zh-TW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                                                    incident to it are removed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   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Graph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DeleteEdge(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graph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, 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v</a:t>
            </a:r>
            <a:r>
              <a:rPr lang="en-US" altLang="zh-TW" sz="1400" i="1">
                <a:solidFill>
                  <a:schemeClr val="tx1"/>
                </a:solidFill>
                <a:ea typeface="PMingLiU" pitchFamily="18" charset="-120"/>
              </a:rPr>
              <a:t>1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, 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v</a:t>
            </a:r>
            <a:r>
              <a:rPr lang="en-US" altLang="zh-TW" sz="1400" i="1">
                <a:solidFill>
                  <a:schemeClr val="tx1"/>
                </a:solidFill>
                <a:ea typeface="PMingLiU" pitchFamily="18" charset="-120"/>
              </a:rPr>
              <a:t>2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)::=return a graph in which the edge (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v</a:t>
            </a:r>
            <a:r>
              <a:rPr lang="en-US" altLang="zh-TW" sz="1400" i="1">
                <a:solidFill>
                  <a:schemeClr val="tx1"/>
                </a:solidFill>
                <a:ea typeface="PMingLiU" pitchFamily="18" charset="-120"/>
              </a:rPr>
              <a:t>1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, 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v</a:t>
            </a:r>
            <a:r>
              <a:rPr lang="en-US" altLang="zh-TW" sz="1400" i="1">
                <a:solidFill>
                  <a:schemeClr val="tx1"/>
                </a:solidFill>
                <a:ea typeface="PMingLiU" pitchFamily="18" charset="-120"/>
              </a:rPr>
              <a:t>2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) </a:t>
            </a:r>
            <a:br>
              <a:rPr lang="en-US" altLang="zh-TW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                                                       is removed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   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Boolean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IsEmpty(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graph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)::= if (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graph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==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empty graph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) return TRUE 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                                                else return FALSE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   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List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Adjacent(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graph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,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v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)::= return a list of all vertices that are adjacent to </a:t>
            </a:r>
            <a:r>
              <a:rPr lang="en-US" altLang="zh-TW" i="1">
                <a:solidFill>
                  <a:schemeClr val="tx1"/>
                </a:solidFill>
                <a:ea typeface="PMingLiU" pitchFamily="18" charset="-120"/>
              </a:rPr>
              <a:t>v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1292225" y="646113"/>
            <a:ext cx="78517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altLang="zh-TW" sz="4400">
                <a:solidFill>
                  <a:schemeClr val="tx1"/>
                </a:solidFill>
                <a:ea typeface="PMingLiU" pitchFamily="18" charset="-120"/>
              </a:rPr>
              <a:t>Graph Representations</a:t>
            </a: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1292225" y="2017713"/>
            <a:ext cx="785177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Adjacency Matrix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Adjacency Lists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Adjacency Multilists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26"/>
          <p:cNvSpPr>
            <a:spLocks noChangeArrowheads="1"/>
          </p:cNvSpPr>
          <p:nvPr/>
        </p:nvSpPr>
        <p:spPr bwMode="auto">
          <a:xfrm>
            <a:off x="992188" y="555625"/>
            <a:ext cx="815181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altLang="zh-TW" sz="4400">
                <a:solidFill>
                  <a:schemeClr val="tx1"/>
                </a:solidFill>
                <a:ea typeface="PMingLiU" pitchFamily="18" charset="-120"/>
              </a:rPr>
              <a:t>Adjacency Matrix</a:t>
            </a:r>
          </a:p>
        </p:txBody>
      </p:sp>
      <p:sp>
        <p:nvSpPr>
          <p:cNvPr id="31747" name="Rectangle 1027"/>
          <p:cNvSpPr>
            <a:spLocks noChangeArrowheads="1"/>
          </p:cNvSpPr>
          <p:nvPr/>
        </p:nvSpPr>
        <p:spPr bwMode="auto">
          <a:xfrm>
            <a:off x="887413" y="1927225"/>
            <a:ext cx="8991600" cy="437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Let G=(V,E) be a graph with n vertices.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The adjacency matrix of G is a two-dimensional 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n by n array, say adj_mat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If the edge (v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i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, v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j</a:t>
            </a: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) is in E(G), adj_mat[i][j]=1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If there is no such edge in E(G), adj_mat[i][j]=0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The adjacency matrix for an undirected graph is symmetric; the adjacency matrix for a digraph 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need not be symmetric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2"/>
          <p:cNvSpPr>
            <a:spLocks noChangeArrowheads="1"/>
          </p:cNvSpPr>
          <p:nvPr/>
        </p:nvSpPr>
        <p:spPr bwMode="auto">
          <a:xfrm>
            <a:off x="674688" y="0"/>
            <a:ext cx="8469312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Examples for Adjacency Matrix</a:t>
            </a:r>
            <a:endParaRPr lang="en-US" altLang="zh-TW" sz="4400">
              <a:solidFill>
                <a:schemeClr val="tx1"/>
              </a:solidFill>
              <a:ea typeface="PMingLiU" pitchFamily="18" charset="-120"/>
            </a:endParaRPr>
          </a:p>
        </p:txBody>
      </p:sp>
      <p:graphicFrame>
        <p:nvGraphicFramePr>
          <p:cNvPr id="2050" name="Object 3"/>
          <p:cNvGraphicFramePr>
            <a:graphicFrameLocks/>
          </p:cNvGraphicFramePr>
          <p:nvPr/>
        </p:nvGraphicFramePr>
        <p:xfrm>
          <a:off x="944563" y="2157413"/>
          <a:ext cx="1709737" cy="1768475"/>
        </p:xfrm>
        <a:graphic>
          <a:graphicData uri="http://schemas.openxmlformats.org/presentationml/2006/ole">
            <p:oleObj spid="_x0000_s2050" name="方程式" r:id="rId3" imgW="761760" imgH="787320" progId="Equation.2">
              <p:embed/>
            </p:oleObj>
          </a:graphicData>
        </a:graphic>
      </p:graphicFrame>
      <p:graphicFrame>
        <p:nvGraphicFramePr>
          <p:cNvPr id="2051" name="Object 4"/>
          <p:cNvGraphicFramePr>
            <a:graphicFrameLocks/>
          </p:cNvGraphicFramePr>
          <p:nvPr/>
        </p:nvGraphicFramePr>
        <p:xfrm>
          <a:off x="3617913" y="2236788"/>
          <a:ext cx="1225550" cy="1254125"/>
        </p:xfrm>
        <a:graphic>
          <a:graphicData uri="http://schemas.openxmlformats.org/presentationml/2006/ole">
            <p:oleObj spid="_x0000_s2051" name="方程式" r:id="rId4" imgW="583920" imgH="596880" progId="Equation.2">
              <p:embed/>
            </p:oleObj>
          </a:graphicData>
        </a:graphic>
      </p:graphicFrame>
      <p:graphicFrame>
        <p:nvGraphicFramePr>
          <p:cNvPr id="2052" name="Object 5"/>
          <p:cNvGraphicFramePr>
            <a:graphicFrameLocks/>
          </p:cNvGraphicFramePr>
          <p:nvPr/>
        </p:nvGraphicFramePr>
        <p:xfrm>
          <a:off x="5970588" y="2827338"/>
          <a:ext cx="3173412" cy="3311525"/>
        </p:xfrm>
        <a:graphic>
          <a:graphicData uri="http://schemas.openxmlformats.org/presentationml/2006/ole">
            <p:oleObj spid="_x0000_s2052" name="方程式" r:id="rId5" imgW="1485720" imgH="1549080" progId="Equation.2">
              <p:embed/>
            </p:oleObj>
          </a:graphicData>
        </a:graphic>
      </p:graphicFrame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1514475" y="3841750"/>
            <a:ext cx="5429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G</a:t>
            </a:r>
            <a:r>
              <a:rPr lang="en-US" altLang="zh-TW" sz="16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4002088" y="3629025"/>
            <a:ext cx="5429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G</a:t>
            </a:r>
            <a:r>
              <a:rPr lang="en-US" altLang="zh-TW" sz="16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7337425" y="6338888"/>
            <a:ext cx="5429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G</a:t>
            </a:r>
            <a:r>
              <a:rPr lang="en-US" altLang="zh-TW" sz="1600">
                <a:solidFill>
                  <a:schemeClr val="tx1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2057" name="Oval 9"/>
          <p:cNvSpPr>
            <a:spLocks noChangeArrowheads="1"/>
          </p:cNvSpPr>
          <p:nvPr/>
        </p:nvSpPr>
        <p:spPr bwMode="auto">
          <a:xfrm>
            <a:off x="1427163" y="5016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2058" name="Oval 10"/>
          <p:cNvSpPr>
            <a:spLocks noChangeArrowheads="1"/>
          </p:cNvSpPr>
          <p:nvPr/>
        </p:nvSpPr>
        <p:spPr bwMode="auto">
          <a:xfrm>
            <a:off x="741363" y="12636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2059" name="Oval 11"/>
          <p:cNvSpPr>
            <a:spLocks noChangeArrowheads="1"/>
          </p:cNvSpPr>
          <p:nvPr/>
        </p:nvSpPr>
        <p:spPr bwMode="auto">
          <a:xfrm>
            <a:off x="2112963" y="12636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2060" name="Oval 12"/>
          <p:cNvSpPr>
            <a:spLocks noChangeArrowheads="1"/>
          </p:cNvSpPr>
          <p:nvPr/>
        </p:nvSpPr>
        <p:spPr bwMode="auto">
          <a:xfrm>
            <a:off x="1427163" y="18732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2061" name="Line 13"/>
          <p:cNvSpPr>
            <a:spLocks noChangeShapeType="1"/>
          </p:cNvSpPr>
          <p:nvPr/>
        </p:nvSpPr>
        <p:spPr bwMode="auto">
          <a:xfrm>
            <a:off x="1649413" y="952500"/>
            <a:ext cx="0" cy="914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62" name="Line 14"/>
          <p:cNvSpPr>
            <a:spLocks noChangeShapeType="1"/>
          </p:cNvSpPr>
          <p:nvPr/>
        </p:nvSpPr>
        <p:spPr bwMode="auto">
          <a:xfrm>
            <a:off x="1192213" y="1485900"/>
            <a:ext cx="9144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63" name="Line 15"/>
          <p:cNvSpPr>
            <a:spLocks noChangeShapeType="1"/>
          </p:cNvSpPr>
          <p:nvPr/>
        </p:nvSpPr>
        <p:spPr bwMode="auto">
          <a:xfrm flipH="1">
            <a:off x="1081088" y="876300"/>
            <a:ext cx="407987" cy="43497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64" name="Line 16"/>
          <p:cNvSpPr>
            <a:spLocks noChangeShapeType="1"/>
          </p:cNvSpPr>
          <p:nvPr/>
        </p:nvSpPr>
        <p:spPr bwMode="auto">
          <a:xfrm>
            <a:off x="1801813" y="876300"/>
            <a:ext cx="422275" cy="43497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65" name="Line 17"/>
          <p:cNvSpPr>
            <a:spLocks noChangeShapeType="1"/>
          </p:cNvSpPr>
          <p:nvPr/>
        </p:nvSpPr>
        <p:spPr bwMode="auto">
          <a:xfrm>
            <a:off x="1066800" y="1692275"/>
            <a:ext cx="354013" cy="31273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66" name="Line 18"/>
          <p:cNvSpPr>
            <a:spLocks noChangeShapeType="1"/>
          </p:cNvSpPr>
          <p:nvPr/>
        </p:nvSpPr>
        <p:spPr bwMode="auto">
          <a:xfrm flipH="1">
            <a:off x="1855788" y="1665288"/>
            <a:ext cx="327025" cy="3397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67" name="Oval 20"/>
          <p:cNvSpPr>
            <a:spLocks noChangeArrowheads="1"/>
          </p:cNvSpPr>
          <p:nvPr/>
        </p:nvSpPr>
        <p:spPr bwMode="auto">
          <a:xfrm>
            <a:off x="3041650" y="77152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2068" name="Oval 21"/>
          <p:cNvSpPr>
            <a:spLocks noChangeArrowheads="1"/>
          </p:cNvSpPr>
          <p:nvPr/>
        </p:nvSpPr>
        <p:spPr bwMode="auto">
          <a:xfrm>
            <a:off x="3040063" y="187483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2069" name="Oval 22"/>
          <p:cNvSpPr>
            <a:spLocks noChangeArrowheads="1"/>
          </p:cNvSpPr>
          <p:nvPr/>
        </p:nvSpPr>
        <p:spPr bwMode="auto">
          <a:xfrm>
            <a:off x="3055938" y="289401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2070" name="Line 23"/>
          <p:cNvSpPr>
            <a:spLocks noChangeShapeType="1"/>
          </p:cNvSpPr>
          <p:nvPr/>
        </p:nvSpPr>
        <p:spPr bwMode="auto">
          <a:xfrm>
            <a:off x="3278188" y="2330450"/>
            <a:ext cx="0" cy="5588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71" name="Line 24"/>
          <p:cNvSpPr>
            <a:spLocks noChangeShapeType="1"/>
          </p:cNvSpPr>
          <p:nvPr/>
        </p:nvSpPr>
        <p:spPr bwMode="auto">
          <a:xfrm flipV="1">
            <a:off x="3455988" y="1160463"/>
            <a:ext cx="0" cy="7207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72" name="Line 25"/>
          <p:cNvSpPr>
            <a:spLocks noChangeShapeType="1"/>
          </p:cNvSpPr>
          <p:nvPr/>
        </p:nvSpPr>
        <p:spPr bwMode="auto">
          <a:xfrm>
            <a:off x="3087688" y="1187450"/>
            <a:ext cx="0" cy="73501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5946775" y="393700"/>
            <a:ext cx="2870200" cy="2855913"/>
            <a:chOff x="638" y="517"/>
            <a:chExt cx="3238" cy="3274"/>
          </a:xfrm>
        </p:grpSpPr>
        <p:sp>
          <p:nvSpPr>
            <p:cNvPr id="2078" name="Oval 28"/>
            <p:cNvSpPr>
              <a:spLocks noChangeArrowheads="1"/>
            </p:cNvSpPr>
            <p:nvPr/>
          </p:nvSpPr>
          <p:spPr bwMode="auto">
            <a:xfrm>
              <a:off x="1920" y="1332"/>
              <a:ext cx="420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TW" sz="2400" b="1">
                  <a:solidFill>
                    <a:schemeClr val="tx1"/>
                  </a:solidFill>
                  <a:ea typeface="PMingLiU" pitchFamily="18" charset="-120"/>
                </a:rPr>
                <a:t>1</a:t>
              </a:r>
            </a:p>
          </p:txBody>
        </p:sp>
        <p:sp>
          <p:nvSpPr>
            <p:cNvPr id="2079" name="Line 29"/>
            <p:cNvSpPr>
              <a:spLocks noChangeShapeType="1"/>
            </p:cNvSpPr>
            <p:nvPr/>
          </p:nvSpPr>
          <p:spPr bwMode="auto">
            <a:xfrm>
              <a:off x="1728" y="948"/>
              <a:ext cx="300" cy="4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80" name="Line 30"/>
            <p:cNvSpPr>
              <a:spLocks noChangeShapeType="1"/>
            </p:cNvSpPr>
            <p:nvPr/>
          </p:nvSpPr>
          <p:spPr bwMode="auto">
            <a:xfrm flipH="1">
              <a:off x="1812" y="1704"/>
              <a:ext cx="204" cy="4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31"/>
            <p:cNvGrpSpPr>
              <a:grpSpLocks/>
            </p:cNvGrpSpPr>
            <p:nvPr/>
          </p:nvGrpSpPr>
          <p:grpSpPr bwMode="auto">
            <a:xfrm>
              <a:off x="864" y="612"/>
              <a:ext cx="960" cy="1824"/>
              <a:chOff x="852" y="1116"/>
              <a:chExt cx="960" cy="1824"/>
            </a:xfrm>
          </p:grpSpPr>
          <p:sp>
            <p:nvSpPr>
              <p:cNvPr id="2093" name="Oval 32"/>
              <p:cNvSpPr>
                <a:spLocks noChangeArrowheads="1"/>
              </p:cNvSpPr>
              <p:nvPr/>
            </p:nvSpPr>
            <p:spPr bwMode="auto">
              <a:xfrm>
                <a:off x="1356" y="1116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0</a:t>
                </a:r>
              </a:p>
            </p:txBody>
          </p:sp>
          <p:sp>
            <p:nvSpPr>
              <p:cNvPr id="2094" name="Oval 33"/>
              <p:cNvSpPr>
                <a:spLocks noChangeArrowheads="1"/>
              </p:cNvSpPr>
              <p:nvPr/>
            </p:nvSpPr>
            <p:spPr bwMode="auto">
              <a:xfrm>
                <a:off x="852" y="1848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2</a:t>
                </a:r>
              </a:p>
            </p:txBody>
          </p:sp>
          <p:sp>
            <p:nvSpPr>
              <p:cNvPr id="2095" name="Oval 34"/>
              <p:cNvSpPr>
                <a:spLocks noChangeArrowheads="1"/>
              </p:cNvSpPr>
              <p:nvPr/>
            </p:nvSpPr>
            <p:spPr bwMode="auto">
              <a:xfrm>
                <a:off x="1392" y="2532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3</a:t>
                </a:r>
              </a:p>
            </p:txBody>
          </p:sp>
          <p:sp>
            <p:nvSpPr>
              <p:cNvPr id="2096" name="Line 35"/>
              <p:cNvSpPr>
                <a:spLocks noChangeShapeType="1"/>
              </p:cNvSpPr>
              <p:nvPr/>
            </p:nvSpPr>
            <p:spPr bwMode="auto">
              <a:xfrm flipH="1">
                <a:off x="1140" y="1476"/>
                <a:ext cx="276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97" name="Line 36"/>
              <p:cNvSpPr>
                <a:spLocks noChangeShapeType="1"/>
              </p:cNvSpPr>
              <p:nvPr/>
            </p:nvSpPr>
            <p:spPr bwMode="auto">
              <a:xfrm>
                <a:off x="1176" y="2220"/>
                <a:ext cx="216" cy="4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37"/>
            <p:cNvGrpSpPr>
              <a:grpSpLocks/>
            </p:cNvGrpSpPr>
            <p:nvPr/>
          </p:nvGrpSpPr>
          <p:grpSpPr bwMode="auto">
            <a:xfrm>
              <a:off x="2916" y="576"/>
              <a:ext cx="960" cy="1824"/>
              <a:chOff x="852" y="1116"/>
              <a:chExt cx="960" cy="1824"/>
            </a:xfrm>
          </p:grpSpPr>
          <p:sp>
            <p:nvSpPr>
              <p:cNvPr id="2088" name="Oval 38"/>
              <p:cNvSpPr>
                <a:spLocks noChangeArrowheads="1"/>
              </p:cNvSpPr>
              <p:nvPr/>
            </p:nvSpPr>
            <p:spPr bwMode="auto">
              <a:xfrm>
                <a:off x="1356" y="1116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4</a:t>
                </a:r>
              </a:p>
            </p:txBody>
          </p:sp>
          <p:sp>
            <p:nvSpPr>
              <p:cNvPr id="2089" name="Oval 39"/>
              <p:cNvSpPr>
                <a:spLocks noChangeArrowheads="1"/>
              </p:cNvSpPr>
              <p:nvPr/>
            </p:nvSpPr>
            <p:spPr bwMode="auto">
              <a:xfrm>
                <a:off x="852" y="1848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5</a:t>
                </a:r>
              </a:p>
            </p:txBody>
          </p:sp>
          <p:sp>
            <p:nvSpPr>
              <p:cNvPr id="2090" name="Oval 40"/>
              <p:cNvSpPr>
                <a:spLocks noChangeArrowheads="1"/>
              </p:cNvSpPr>
              <p:nvPr/>
            </p:nvSpPr>
            <p:spPr bwMode="auto">
              <a:xfrm>
                <a:off x="1392" y="2532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6</a:t>
                </a:r>
              </a:p>
            </p:txBody>
          </p:sp>
          <p:sp>
            <p:nvSpPr>
              <p:cNvPr id="2091" name="Line 41"/>
              <p:cNvSpPr>
                <a:spLocks noChangeShapeType="1"/>
              </p:cNvSpPr>
              <p:nvPr/>
            </p:nvSpPr>
            <p:spPr bwMode="auto">
              <a:xfrm flipH="1">
                <a:off x="1140" y="1476"/>
                <a:ext cx="276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92" name="Line 42"/>
              <p:cNvSpPr>
                <a:spLocks noChangeShapeType="1"/>
              </p:cNvSpPr>
              <p:nvPr/>
            </p:nvSpPr>
            <p:spPr bwMode="auto">
              <a:xfrm>
                <a:off x="1176" y="2220"/>
                <a:ext cx="216" cy="4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083" name="Oval 43"/>
            <p:cNvSpPr>
              <a:spLocks noChangeArrowheads="1"/>
            </p:cNvSpPr>
            <p:nvPr/>
          </p:nvSpPr>
          <p:spPr bwMode="auto">
            <a:xfrm>
              <a:off x="2988" y="2940"/>
              <a:ext cx="420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TW" sz="2400" b="1">
                  <a:solidFill>
                    <a:schemeClr val="tx1"/>
                  </a:solidFill>
                  <a:ea typeface="PMingLiU" pitchFamily="18" charset="-120"/>
                </a:rPr>
                <a:t>7</a:t>
              </a:r>
            </a:p>
          </p:txBody>
        </p:sp>
        <p:sp>
          <p:nvSpPr>
            <p:cNvPr id="2084" name="Line 44"/>
            <p:cNvSpPr>
              <a:spLocks noChangeShapeType="1"/>
            </p:cNvSpPr>
            <p:nvPr/>
          </p:nvSpPr>
          <p:spPr bwMode="auto">
            <a:xfrm flipH="1">
              <a:off x="3312" y="2388"/>
              <a:ext cx="252" cy="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85" name="Text Box 45"/>
            <p:cNvSpPr txBox="1">
              <a:spLocks noChangeArrowheads="1"/>
            </p:cNvSpPr>
            <p:nvPr/>
          </p:nvSpPr>
          <p:spPr bwMode="auto">
            <a:xfrm>
              <a:off x="638" y="517"/>
              <a:ext cx="208" cy="5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 sz="2400" b="1">
                <a:solidFill>
                  <a:schemeClr val="tx1"/>
                </a:solidFill>
                <a:ea typeface="PMingLiU" pitchFamily="18" charset="-120"/>
              </a:endParaRPr>
            </a:p>
          </p:txBody>
        </p:sp>
        <p:sp>
          <p:nvSpPr>
            <p:cNvPr id="2086" name="Rectangle 46"/>
            <p:cNvSpPr>
              <a:spLocks noChangeArrowheads="1"/>
            </p:cNvSpPr>
            <p:nvPr/>
          </p:nvSpPr>
          <p:spPr bwMode="auto">
            <a:xfrm>
              <a:off x="2728" y="571"/>
              <a:ext cx="208" cy="3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 sz="2400" b="1" baseline="-25000">
                <a:solidFill>
                  <a:schemeClr val="tx1"/>
                </a:solidFill>
                <a:ea typeface="PMingLiU" pitchFamily="18" charset="-120"/>
              </a:endParaRPr>
            </a:p>
          </p:txBody>
        </p:sp>
        <p:sp>
          <p:nvSpPr>
            <p:cNvPr id="2087" name="Rectangle 47"/>
            <p:cNvSpPr>
              <a:spLocks noChangeArrowheads="1"/>
            </p:cNvSpPr>
            <p:nvPr/>
          </p:nvSpPr>
          <p:spPr bwMode="auto">
            <a:xfrm>
              <a:off x="2526" y="3405"/>
              <a:ext cx="207" cy="3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 sz="2400" b="1" baseline="-25000">
                <a:solidFill>
                  <a:schemeClr val="tx1"/>
                </a:solidFill>
                <a:ea typeface="PMingLiU" pitchFamily="18" charset="-120"/>
              </a:endParaRPr>
            </a:p>
          </p:txBody>
        </p:sp>
      </p:grpSp>
      <p:sp>
        <p:nvSpPr>
          <p:cNvPr id="2074" name="Line 49"/>
          <p:cNvSpPr>
            <a:spLocks noChangeShapeType="1"/>
          </p:cNvSpPr>
          <p:nvPr/>
        </p:nvSpPr>
        <p:spPr bwMode="auto">
          <a:xfrm flipH="1" flipV="1">
            <a:off x="2152650" y="4127500"/>
            <a:ext cx="563563" cy="1004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75" name="Line 50"/>
          <p:cNvSpPr>
            <a:spLocks noChangeShapeType="1"/>
          </p:cNvSpPr>
          <p:nvPr/>
        </p:nvSpPr>
        <p:spPr bwMode="auto">
          <a:xfrm flipV="1">
            <a:off x="4886325" y="3933825"/>
            <a:ext cx="935038" cy="1304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76" name="Text Box 51"/>
          <p:cNvSpPr txBox="1">
            <a:spLocks noChangeArrowheads="1"/>
          </p:cNvSpPr>
          <p:nvPr/>
        </p:nvSpPr>
        <p:spPr bwMode="auto">
          <a:xfrm>
            <a:off x="3028950" y="5168900"/>
            <a:ext cx="14684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symmetric</a:t>
            </a:r>
          </a:p>
        </p:txBody>
      </p:sp>
      <p:sp>
        <p:nvSpPr>
          <p:cNvPr id="2077" name="Text Box 52"/>
          <p:cNvSpPr txBox="1">
            <a:spLocks noChangeArrowheads="1"/>
          </p:cNvSpPr>
          <p:nvPr/>
        </p:nvSpPr>
        <p:spPr bwMode="auto">
          <a:xfrm>
            <a:off x="1125538" y="5780088"/>
            <a:ext cx="2138362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undirected: n</a:t>
            </a:r>
            <a:r>
              <a:rPr lang="en-US" altLang="zh-TW" sz="2400" baseline="30000">
                <a:solidFill>
                  <a:schemeClr val="tx1"/>
                </a:solidFill>
                <a:ea typeface="PMingLiU" pitchFamily="18" charset="-120"/>
              </a:rPr>
              <a:t>2</a:t>
            </a: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/2</a:t>
            </a:r>
          </a:p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directed: n</a:t>
            </a:r>
            <a:r>
              <a:rPr lang="en-US" altLang="zh-TW" sz="2400" baseline="30000">
                <a:solidFill>
                  <a:schemeClr val="tx1"/>
                </a:solidFill>
                <a:ea typeface="PMingLiU" pitchFamily="18" charset="-120"/>
              </a:rPr>
              <a:t>2</a:t>
            </a:r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/>
          <p:cNvSpPr>
            <a:spLocks noChangeArrowheads="1"/>
          </p:cNvSpPr>
          <p:nvPr/>
        </p:nvSpPr>
        <p:spPr bwMode="auto">
          <a:xfrm>
            <a:off x="992188" y="627063"/>
            <a:ext cx="815181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altLang="zh-TW" sz="4400">
                <a:solidFill>
                  <a:schemeClr val="tx2"/>
                </a:solidFill>
                <a:ea typeface="PMingLiU" pitchFamily="18" charset="-120"/>
              </a:rPr>
              <a:t>Merits of Adjacency Matrix</a:t>
            </a:r>
          </a:p>
        </p:txBody>
      </p:sp>
      <p:sp>
        <p:nvSpPr>
          <p:cNvPr id="3078" name="Rectangle 3"/>
          <p:cNvSpPr>
            <a:spLocks noChangeArrowheads="1"/>
          </p:cNvSpPr>
          <p:nvPr/>
        </p:nvSpPr>
        <p:spPr bwMode="auto">
          <a:xfrm>
            <a:off x="992188" y="1998663"/>
            <a:ext cx="815181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From the adjacency matrix, to determine the connection of vertices is easy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The degree of a vertex is 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For a digraph, the row sum is the out_degree, while the column sum is the in_degree</a:t>
            </a:r>
          </a:p>
        </p:txBody>
      </p:sp>
      <p:graphicFrame>
        <p:nvGraphicFramePr>
          <p:cNvPr id="3074" name="Object 4"/>
          <p:cNvGraphicFramePr>
            <a:graphicFrameLocks/>
          </p:cNvGraphicFramePr>
          <p:nvPr/>
        </p:nvGraphicFramePr>
        <p:xfrm>
          <a:off x="5534025" y="2895600"/>
          <a:ext cx="2181225" cy="963613"/>
        </p:xfrm>
        <a:graphic>
          <a:graphicData uri="http://schemas.openxmlformats.org/presentationml/2006/ole">
            <p:oleObj spid="_x0000_s3074" name="方程式" r:id="rId3" imgW="927000" imgH="380880" progId="Equation.2">
              <p:embed/>
            </p:oleObj>
          </a:graphicData>
        </a:graphic>
      </p:graphicFrame>
      <p:sp>
        <p:nvSpPr>
          <p:cNvPr id="3079" name="Text Box 5"/>
          <p:cNvSpPr txBox="1">
            <a:spLocks noChangeArrowheads="1"/>
          </p:cNvSpPr>
          <p:nvPr/>
        </p:nvSpPr>
        <p:spPr bwMode="auto">
          <a:xfrm>
            <a:off x="1460500" y="499268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2400">
              <a:ea typeface="PMingLiU" pitchFamily="18" charset="-120"/>
            </a:endParaRPr>
          </a:p>
        </p:txBody>
      </p:sp>
      <p:graphicFrame>
        <p:nvGraphicFramePr>
          <p:cNvPr id="3075" name="Object 6"/>
          <p:cNvGraphicFramePr>
            <a:graphicFrameLocks noChangeAspect="1"/>
          </p:cNvGraphicFramePr>
          <p:nvPr/>
        </p:nvGraphicFramePr>
        <p:xfrm>
          <a:off x="1435100" y="4846638"/>
          <a:ext cx="2959100" cy="901700"/>
        </p:xfrm>
        <a:graphic>
          <a:graphicData uri="http://schemas.openxmlformats.org/presentationml/2006/ole">
            <p:oleObj spid="_x0000_s3075" name="方程式" r:id="rId4" imgW="2958840" imgH="901440" progId="Equation.2">
              <p:embed/>
            </p:oleObj>
          </a:graphicData>
        </a:graphic>
      </p:graphicFrame>
      <p:sp>
        <p:nvSpPr>
          <p:cNvPr id="3080" name="Text Box 7"/>
          <p:cNvSpPr txBox="1">
            <a:spLocks noChangeArrowheads="1"/>
          </p:cNvSpPr>
          <p:nvPr/>
        </p:nvSpPr>
        <p:spPr bwMode="auto">
          <a:xfrm>
            <a:off x="4865688" y="5097463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2400">
              <a:ea typeface="PMingLiU" pitchFamily="18" charset="-120"/>
            </a:endParaRPr>
          </a:p>
        </p:txBody>
      </p:sp>
      <p:graphicFrame>
        <p:nvGraphicFramePr>
          <p:cNvPr id="3076" name="Object 8"/>
          <p:cNvGraphicFramePr>
            <a:graphicFrameLocks noChangeAspect="1"/>
          </p:cNvGraphicFramePr>
          <p:nvPr/>
        </p:nvGraphicFramePr>
        <p:xfrm>
          <a:off x="4783138" y="4846638"/>
          <a:ext cx="3175000" cy="901700"/>
        </p:xfrm>
        <a:graphic>
          <a:graphicData uri="http://schemas.openxmlformats.org/presentationml/2006/ole">
            <p:oleObj spid="_x0000_s3076" name="方程式" r:id="rId5" imgW="3174840" imgH="901440" progId="Equation.2">
              <p:embed/>
            </p:oleObj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744538" y="309563"/>
            <a:ext cx="83994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altLang="zh-TW" sz="4400">
                <a:solidFill>
                  <a:schemeClr val="tx2"/>
                </a:solidFill>
                <a:ea typeface="PMingLiU" pitchFamily="18" charset="-120"/>
              </a:rPr>
              <a:t>Data Structures for Adjacency Lists</a:t>
            </a: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744538" y="2298700"/>
            <a:ext cx="88519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#define MAX_VERTICES 50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typedef struct node *node_pointer;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typedef struct node {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int vertex;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struct node *link;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};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node_pointer graph[MAX_VERTICES];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int n=0; /* vertices currently in use */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984250" y="1517650"/>
            <a:ext cx="80867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Each row in adjacency matrix is represented as an adjacency list.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ChangeArrowheads="1"/>
          </p:cNvSpPr>
          <p:nvPr/>
        </p:nvSpPr>
        <p:spPr bwMode="auto">
          <a:xfrm>
            <a:off x="1317625" y="1981200"/>
            <a:ext cx="471488" cy="320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079625" y="1981200"/>
            <a:ext cx="700088" cy="327025"/>
            <a:chOff x="947" y="1282"/>
            <a:chExt cx="441" cy="206"/>
          </a:xfrm>
        </p:grpSpPr>
        <p:sp>
          <p:nvSpPr>
            <p:cNvPr id="34011" name="Rectangle 5"/>
            <p:cNvSpPr>
              <a:spLocks noChangeArrowheads="1"/>
            </p:cNvSpPr>
            <p:nvPr/>
          </p:nvSpPr>
          <p:spPr bwMode="auto">
            <a:xfrm>
              <a:off x="947" y="1282"/>
              <a:ext cx="441" cy="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012" name="Line 6"/>
            <p:cNvSpPr>
              <a:spLocks noChangeShapeType="1"/>
            </p:cNvSpPr>
            <p:nvPr/>
          </p:nvSpPr>
          <p:spPr bwMode="auto">
            <a:xfrm>
              <a:off x="1200" y="129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3070225" y="1981200"/>
            <a:ext cx="700088" cy="327025"/>
            <a:chOff x="1571" y="1282"/>
            <a:chExt cx="441" cy="206"/>
          </a:xfrm>
        </p:grpSpPr>
        <p:sp>
          <p:nvSpPr>
            <p:cNvPr id="34009" name="Rectangle 8"/>
            <p:cNvSpPr>
              <a:spLocks noChangeArrowheads="1"/>
            </p:cNvSpPr>
            <p:nvPr/>
          </p:nvSpPr>
          <p:spPr bwMode="auto">
            <a:xfrm>
              <a:off x="1571" y="1282"/>
              <a:ext cx="441" cy="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010" name="Line 9"/>
            <p:cNvSpPr>
              <a:spLocks noChangeShapeType="1"/>
            </p:cNvSpPr>
            <p:nvPr/>
          </p:nvSpPr>
          <p:spPr bwMode="auto">
            <a:xfrm>
              <a:off x="1824" y="129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4060825" y="1981200"/>
            <a:ext cx="700088" cy="327025"/>
            <a:chOff x="2195" y="1282"/>
            <a:chExt cx="441" cy="206"/>
          </a:xfrm>
        </p:grpSpPr>
        <p:sp>
          <p:nvSpPr>
            <p:cNvPr id="34007" name="Rectangle 11"/>
            <p:cNvSpPr>
              <a:spLocks noChangeArrowheads="1"/>
            </p:cNvSpPr>
            <p:nvPr/>
          </p:nvSpPr>
          <p:spPr bwMode="auto">
            <a:xfrm>
              <a:off x="2195" y="1282"/>
              <a:ext cx="441" cy="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008" name="Line 12"/>
            <p:cNvSpPr>
              <a:spLocks noChangeShapeType="1"/>
            </p:cNvSpPr>
            <p:nvPr/>
          </p:nvSpPr>
          <p:spPr bwMode="auto">
            <a:xfrm>
              <a:off x="2448" y="129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798" name="Line 13"/>
          <p:cNvSpPr>
            <a:spLocks noChangeShapeType="1"/>
          </p:cNvSpPr>
          <p:nvPr/>
        </p:nvSpPr>
        <p:spPr bwMode="auto">
          <a:xfrm>
            <a:off x="1566863" y="21558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799" name="Line 14"/>
          <p:cNvSpPr>
            <a:spLocks noChangeShapeType="1"/>
          </p:cNvSpPr>
          <p:nvPr/>
        </p:nvSpPr>
        <p:spPr bwMode="auto">
          <a:xfrm>
            <a:off x="2557463" y="21558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0" name="Line 15"/>
          <p:cNvSpPr>
            <a:spLocks noChangeShapeType="1"/>
          </p:cNvSpPr>
          <p:nvPr/>
        </p:nvSpPr>
        <p:spPr bwMode="auto">
          <a:xfrm>
            <a:off x="3548063" y="21558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1" name="Line 16"/>
          <p:cNvSpPr>
            <a:spLocks noChangeShapeType="1"/>
          </p:cNvSpPr>
          <p:nvPr/>
        </p:nvSpPr>
        <p:spPr bwMode="auto">
          <a:xfrm>
            <a:off x="4462463" y="2003425"/>
            <a:ext cx="3048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2" name="Rectangle 17"/>
          <p:cNvSpPr>
            <a:spLocks noChangeArrowheads="1"/>
          </p:cNvSpPr>
          <p:nvPr/>
        </p:nvSpPr>
        <p:spPr bwMode="auto">
          <a:xfrm>
            <a:off x="1317625" y="2438400"/>
            <a:ext cx="471488" cy="320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2079625" y="2438400"/>
            <a:ext cx="700088" cy="327025"/>
            <a:chOff x="947" y="1570"/>
            <a:chExt cx="441" cy="206"/>
          </a:xfrm>
        </p:grpSpPr>
        <p:sp>
          <p:nvSpPr>
            <p:cNvPr id="34005" name="Rectangle 19"/>
            <p:cNvSpPr>
              <a:spLocks noChangeArrowheads="1"/>
            </p:cNvSpPr>
            <p:nvPr/>
          </p:nvSpPr>
          <p:spPr bwMode="auto">
            <a:xfrm>
              <a:off x="947" y="1570"/>
              <a:ext cx="441" cy="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006" name="Line 20"/>
            <p:cNvSpPr>
              <a:spLocks noChangeShapeType="1"/>
            </p:cNvSpPr>
            <p:nvPr/>
          </p:nvSpPr>
          <p:spPr bwMode="auto">
            <a:xfrm>
              <a:off x="1200" y="158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3070225" y="2438400"/>
            <a:ext cx="700088" cy="327025"/>
            <a:chOff x="1571" y="1570"/>
            <a:chExt cx="441" cy="206"/>
          </a:xfrm>
        </p:grpSpPr>
        <p:sp>
          <p:nvSpPr>
            <p:cNvPr id="34003" name="Rectangle 22"/>
            <p:cNvSpPr>
              <a:spLocks noChangeArrowheads="1"/>
            </p:cNvSpPr>
            <p:nvPr/>
          </p:nvSpPr>
          <p:spPr bwMode="auto">
            <a:xfrm>
              <a:off x="1571" y="1570"/>
              <a:ext cx="441" cy="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004" name="Line 23"/>
            <p:cNvSpPr>
              <a:spLocks noChangeShapeType="1"/>
            </p:cNvSpPr>
            <p:nvPr/>
          </p:nvSpPr>
          <p:spPr bwMode="auto">
            <a:xfrm>
              <a:off x="1824" y="158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24"/>
          <p:cNvGrpSpPr>
            <a:grpSpLocks/>
          </p:cNvGrpSpPr>
          <p:nvPr/>
        </p:nvGrpSpPr>
        <p:grpSpPr bwMode="auto">
          <a:xfrm>
            <a:off x="4060825" y="2438400"/>
            <a:ext cx="700088" cy="327025"/>
            <a:chOff x="2195" y="1570"/>
            <a:chExt cx="441" cy="206"/>
          </a:xfrm>
        </p:grpSpPr>
        <p:sp>
          <p:nvSpPr>
            <p:cNvPr id="34001" name="Rectangle 25"/>
            <p:cNvSpPr>
              <a:spLocks noChangeArrowheads="1"/>
            </p:cNvSpPr>
            <p:nvPr/>
          </p:nvSpPr>
          <p:spPr bwMode="auto">
            <a:xfrm>
              <a:off x="2195" y="1570"/>
              <a:ext cx="441" cy="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002" name="Line 26"/>
            <p:cNvSpPr>
              <a:spLocks noChangeShapeType="1"/>
            </p:cNvSpPr>
            <p:nvPr/>
          </p:nvSpPr>
          <p:spPr bwMode="auto">
            <a:xfrm>
              <a:off x="2448" y="158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806" name="Line 27"/>
          <p:cNvSpPr>
            <a:spLocks noChangeShapeType="1"/>
          </p:cNvSpPr>
          <p:nvPr/>
        </p:nvSpPr>
        <p:spPr bwMode="auto">
          <a:xfrm>
            <a:off x="1566863" y="26130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7" name="Line 28"/>
          <p:cNvSpPr>
            <a:spLocks noChangeShapeType="1"/>
          </p:cNvSpPr>
          <p:nvPr/>
        </p:nvSpPr>
        <p:spPr bwMode="auto">
          <a:xfrm>
            <a:off x="2557463" y="26130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8" name="Line 29"/>
          <p:cNvSpPr>
            <a:spLocks noChangeShapeType="1"/>
          </p:cNvSpPr>
          <p:nvPr/>
        </p:nvSpPr>
        <p:spPr bwMode="auto">
          <a:xfrm>
            <a:off x="3548063" y="26130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9" name="Line 30"/>
          <p:cNvSpPr>
            <a:spLocks noChangeShapeType="1"/>
          </p:cNvSpPr>
          <p:nvPr/>
        </p:nvSpPr>
        <p:spPr bwMode="auto">
          <a:xfrm>
            <a:off x="4462463" y="2460625"/>
            <a:ext cx="3048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10" name="Rectangle 31"/>
          <p:cNvSpPr>
            <a:spLocks noChangeArrowheads="1"/>
          </p:cNvSpPr>
          <p:nvPr/>
        </p:nvSpPr>
        <p:spPr bwMode="auto">
          <a:xfrm>
            <a:off x="1317625" y="2895600"/>
            <a:ext cx="471488" cy="320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2079625" y="2895600"/>
            <a:ext cx="700088" cy="327025"/>
            <a:chOff x="947" y="1858"/>
            <a:chExt cx="441" cy="206"/>
          </a:xfrm>
        </p:grpSpPr>
        <p:sp>
          <p:nvSpPr>
            <p:cNvPr id="33999" name="Rectangle 33"/>
            <p:cNvSpPr>
              <a:spLocks noChangeArrowheads="1"/>
            </p:cNvSpPr>
            <p:nvPr/>
          </p:nvSpPr>
          <p:spPr bwMode="auto">
            <a:xfrm>
              <a:off x="947" y="1858"/>
              <a:ext cx="441" cy="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000" name="Line 34"/>
            <p:cNvSpPr>
              <a:spLocks noChangeShapeType="1"/>
            </p:cNvSpPr>
            <p:nvPr/>
          </p:nvSpPr>
          <p:spPr bwMode="auto">
            <a:xfrm>
              <a:off x="1200" y="187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" name="Group 35"/>
          <p:cNvGrpSpPr>
            <a:grpSpLocks/>
          </p:cNvGrpSpPr>
          <p:nvPr/>
        </p:nvGrpSpPr>
        <p:grpSpPr bwMode="auto">
          <a:xfrm>
            <a:off x="3070225" y="2895600"/>
            <a:ext cx="700088" cy="327025"/>
            <a:chOff x="1571" y="1858"/>
            <a:chExt cx="441" cy="206"/>
          </a:xfrm>
        </p:grpSpPr>
        <p:sp>
          <p:nvSpPr>
            <p:cNvPr id="33997" name="Rectangle 36"/>
            <p:cNvSpPr>
              <a:spLocks noChangeArrowheads="1"/>
            </p:cNvSpPr>
            <p:nvPr/>
          </p:nvSpPr>
          <p:spPr bwMode="auto">
            <a:xfrm>
              <a:off x="1571" y="1858"/>
              <a:ext cx="441" cy="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998" name="Line 37"/>
            <p:cNvSpPr>
              <a:spLocks noChangeShapeType="1"/>
            </p:cNvSpPr>
            <p:nvPr/>
          </p:nvSpPr>
          <p:spPr bwMode="auto">
            <a:xfrm>
              <a:off x="1824" y="187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" name="Group 38"/>
          <p:cNvGrpSpPr>
            <a:grpSpLocks/>
          </p:cNvGrpSpPr>
          <p:nvPr/>
        </p:nvGrpSpPr>
        <p:grpSpPr bwMode="auto">
          <a:xfrm>
            <a:off x="4060825" y="2895600"/>
            <a:ext cx="700088" cy="327025"/>
            <a:chOff x="2195" y="1858"/>
            <a:chExt cx="441" cy="206"/>
          </a:xfrm>
        </p:grpSpPr>
        <p:sp>
          <p:nvSpPr>
            <p:cNvPr id="33995" name="Rectangle 39"/>
            <p:cNvSpPr>
              <a:spLocks noChangeArrowheads="1"/>
            </p:cNvSpPr>
            <p:nvPr/>
          </p:nvSpPr>
          <p:spPr bwMode="auto">
            <a:xfrm>
              <a:off x="2195" y="1858"/>
              <a:ext cx="441" cy="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996" name="Line 40"/>
            <p:cNvSpPr>
              <a:spLocks noChangeShapeType="1"/>
            </p:cNvSpPr>
            <p:nvPr/>
          </p:nvSpPr>
          <p:spPr bwMode="auto">
            <a:xfrm>
              <a:off x="2448" y="187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814" name="Line 41"/>
          <p:cNvSpPr>
            <a:spLocks noChangeShapeType="1"/>
          </p:cNvSpPr>
          <p:nvPr/>
        </p:nvSpPr>
        <p:spPr bwMode="auto">
          <a:xfrm>
            <a:off x="1566863" y="30702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15" name="Line 42"/>
          <p:cNvSpPr>
            <a:spLocks noChangeShapeType="1"/>
          </p:cNvSpPr>
          <p:nvPr/>
        </p:nvSpPr>
        <p:spPr bwMode="auto">
          <a:xfrm>
            <a:off x="2557463" y="30702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16" name="Line 43"/>
          <p:cNvSpPr>
            <a:spLocks noChangeShapeType="1"/>
          </p:cNvSpPr>
          <p:nvPr/>
        </p:nvSpPr>
        <p:spPr bwMode="auto">
          <a:xfrm>
            <a:off x="3548063" y="30702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17" name="Line 44"/>
          <p:cNvSpPr>
            <a:spLocks noChangeShapeType="1"/>
          </p:cNvSpPr>
          <p:nvPr/>
        </p:nvSpPr>
        <p:spPr bwMode="auto">
          <a:xfrm>
            <a:off x="4462463" y="2917825"/>
            <a:ext cx="3048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18" name="Rectangle 45"/>
          <p:cNvSpPr>
            <a:spLocks noChangeArrowheads="1"/>
          </p:cNvSpPr>
          <p:nvPr/>
        </p:nvSpPr>
        <p:spPr bwMode="auto">
          <a:xfrm>
            <a:off x="1317625" y="3352800"/>
            <a:ext cx="471488" cy="320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" name="Group 46"/>
          <p:cNvGrpSpPr>
            <a:grpSpLocks/>
          </p:cNvGrpSpPr>
          <p:nvPr/>
        </p:nvGrpSpPr>
        <p:grpSpPr bwMode="auto">
          <a:xfrm>
            <a:off x="2079625" y="3352800"/>
            <a:ext cx="700088" cy="327025"/>
            <a:chOff x="947" y="2146"/>
            <a:chExt cx="441" cy="206"/>
          </a:xfrm>
        </p:grpSpPr>
        <p:sp>
          <p:nvSpPr>
            <p:cNvPr id="33993" name="Rectangle 47"/>
            <p:cNvSpPr>
              <a:spLocks noChangeArrowheads="1"/>
            </p:cNvSpPr>
            <p:nvPr/>
          </p:nvSpPr>
          <p:spPr bwMode="auto">
            <a:xfrm>
              <a:off x="947" y="2146"/>
              <a:ext cx="441" cy="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994" name="Line 48"/>
            <p:cNvSpPr>
              <a:spLocks noChangeShapeType="1"/>
            </p:cNvSpPr>
            <p:nvPr/>
          </p:nvSpPr>
          <p:spPr bwMode="auto">
            <a:xfrm>
              <a:off x="1200" y="216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2" name="Group 49"/>
          <p:cNvGrpSpPr>
            <a:grpSpLocks/>
          </p:cNvGrpSpPr>
          <p:nvPr/>
        </p:nvGrpSpPr>
        <p:grpSpPr bwMode="auto">
          <a:xfrm>
            <a:off x="3070225" y="3352800"/>
            <a:ext cx="700088" cy="327025"/>
            <a:chOff x="1571" y="2146"/>
            <a:chExt cx="441" cy="206"/>
          </a:xfrm>
        </p:grpSpPr>
        <p:sp>
          <p:nvSpPr>
            <p:cNvPr id="33991" name="Rectangle 50"/>
            <p:cNvSpPr>
              <a:spLocks noChangeArrowheads="1"/>
            </p:cNvSpPr>
            <p:nvPr/>
          </p:nvSpPr>
          <p:spPr bwMode="auto">
            <a:xfrm>
              <a:off x="1571" y="2146"/>
              <a:ext cx="441" cy="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992" name="Line 51"/>
            <p:cNvSpPr>
              <a:spLocks noChangeShapeType="1"/>
            </p:cNvSpPr>
            <p:nvPr/>
          </p:nvSpPr>
          <p:spPr bwMode="auto">
            <a:xfrm>
              <a:off x="1824" y="216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3" name="Group 52"/>
          <p:cNvGrpSpPr>
            <a:grpSpLocks/>
          </p:cNvGrpSpPr>
          <p:nvPr/>
        </p:nvGrpSpPr>
        <p:grpSpPr bwMode="auto">
          <a:xfrm>
            <a:off x="4060825" y="3352800"/>
            <a:ext cx="700088" cy="327025"/>
            <a:chOff x="2195" y="2146"/>
            <a:chExt cx="441" cy="206"/>
          </a:xfrm>
        </p:grpSpPr>
        <p:sp>
          <p:nvSpPr>
            <p:cNvPr id="33989" name="Rectangle 53"/>
            <p:cNvSpPr>
              <a:spLocks noChangeArrowheads="1"/>
            </p:cNvSpPr>
            <p:nvPr/>
          </p:nvSpPr>
          <p:spPr bwMode="auto">
            <a:xfrm>
              <a:off x="2195" y="2146"/>
              <a:ext cx="441" cy="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990" name="Line 54"/>
            <p:cNvSpPr>
              <a:spLocks noChangeShapeType="1"/>
            </p:cNvSpPr>
            <p:nvPr/>
          </p:nvSpPr>
          <p:spPr bwMode="auto">
            <a:xfrm>
              <a:off x="2448" y="216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822" name="Line 55"/>
          <p:cNvSpPr>
            <a:spLocks noChangeShapeType="1"/>
          </p:cNvSpPr>
          <p:nvPr/>
        </p:nvSpPr>
        <p:spPr bwMode="auto">
          <a:xfrm>
            <a:off x="1566863" y="35274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23" name="Line 56"/>
          <p:cNvSpPr>
            <a:spLocks noChangeShapeType="1"/>
          </p:cNvSpPr>
          <p:nvPr/>
        </p:nvSpPr>
        <p:spPr bwMode="auto">
          <a:xfrm>
            <a:off x="2557463" y="35274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24" name="Line 57"/>
          <p:cNvSpPr>
            <a:spLocks noChangeShapeType="1"/>
          </p:cNvSpPr>
          <p:nvPr/>
        </p:nvSpPr>
        <p:spPr bwMode="auto">
          <a:xfrm>
            <a:off x="3548063" y="35274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25" name="Line 58"/>
          <p:cNvSpPr>
            <a:spLocks noChangeShapeType="1"/>
          </p:cNvSpPr>
          <p:nvPr/>
        </p:nvSpPr>
        <p:spPr bwMode="auto">
          <a:xfrm>
            <a:off x="4462463" y="3375025"/>
            <a:ext cx="3048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26" name="Rectangle 59"/>
          <p:cNvSpPr>
            <a:spLocks noChangeArrowheads="1"/>
          </p:cNvSpPr>
          <p:nvPr/>
        </p:nvSpPr>
        <p:spPr bwMode="auto">
          <a:xfrm>
            <a:off x="1317625" y="4572000"/>
            <a:ext cx="471488" cy="320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4" name="Group 60"/>
          <p:cNvGrpSpPr>
            <a:grpSpLocks/>
          </p:cNvGrpSpPr>
          <p:nvPr/>
        </p:nvGrpSpPr>
        <p:grpSpPr bwMode="auto">
          <a:xfrm>
            <a:off x="2079625" y="4572000"/>
            <a:ext cx="700088" cy="327025"/>
            <a:chOff x="947" y="2914"/>
            <a:chExt cx="441" cy="206"/>
          </a:xfrm>
        </p:grpSpPr>
        <p:sp>
          <p:nvSpPr>
            <p:cNvPr id="33987" name="Rectangle 61"/>
            <p:cNvSpPr>
              <a:spLocks noChangeArrowheads="1"/>
            </p:cNvSpPr>
            <p:nvPr/>
          </p:nvSpPr>
          <p:spPr bwMode="auto">
            <a:xfrm>
              <a:off x="947" y="2914"/>
              <a:ext cx="441" cy="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988" name="Line 62"/>
            <p:cNvSpPr>
              <a:spLocks noChangeShapeType="1"/>
            </p:cNvSpPr>
            <p:nvPr/>
          </p:nvSpPr>
          <p:spPr bwMode="auto">
            <a:xfrm>
              <a:off x="1200" y="292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828" name="Line 63"/>
          <p:cNvSpPr>
            <a:spLocks noChangeShapeType="1"/>
          </p:cNvSpPr>
          <p:nvPr/>
        </p:nvSpPr>
        <p:spPr bwMode="auto">
          <a:xfrm>
            <a:off x="1566863" y="47466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29" name="Rectangle 64"/>
          <p:cNvSpPr>
            <a:spLocks noChangeArrowheads="1"/>
          </p:cNvSpPr>
          <p:nvPr/>
        </p:nvSpPr>
        <p:spPr bwMode="auto">
          <a:xfrm>
            <a:off x="1317625" y="5029200"/>
            <a:ext cx="471488" cy="320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5" name="Group 65"/>
          <p:cNvGrpSpPr>
            <a:grpSpLocks/>
          </p:cNvGrpSpPr>
          <p:nvPr/>
        </p:nvGrpSpPr>
        <p:grpSpPr bwMode="auto">
          <a:xfrm>
            <a:off x="2079625" y="5029200"/>
            <a:ext cx="700088" cy="327025"/>
            <a:chOff x="947" y="3202"/>
            <a:chExt cx="441" cy="206"/>
          </a:xfrm>
        </p:grpSpPr>
        <p:sp>
          <p:nvSpPr>
            <p:cNvPr id="33985" name="Rectangle 66"/>
            <p:cNvSpPr>
              <a:spLocks noChangeArrowheads="1"/>
            </p:cNvSpPr>
            <p:nvPr/>
          </p:nvSpPr>
          <p:spPr bwMode="auto">
            <a:xfrm>
              <a:off x="947" y="3202"/>
              <a:ext cx="441" cy="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986" name="Line 67"/>
            <p:cNvSpPr>
              <a:spLocks noChangeShapeType="1"/>
            </p:cNvSpPr>
            <p:nvPr/>
          </p:nvSpPr>
          <p:spPr bwMode="auto">
            <a:xfrm>
              <a:off x="1200" y="321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6" name="Group 68"/>
          <p:cNvGrpSpPr>
            <a:grpSpLocks/>
          </p:cNvGrpSpPr>
          <p:nvPr/>
        </p:nvGrpSpPr>
        <p:grpSpPr bwMode="auto">
          <a:xfrm>
            <a:off x="3070225" y="5029200"/>
            <a:ext cx="700088" cy="327025"/>
            <a:chOff x="1571" y="3202"/>
            <a:chExt cx="441" cy="206"/>
          </a:xfrm>
        </p:grpSpPr>
        <p:sp>
          <p:nvSpPr>
            <p:cNvPr id="33983" name="Rectangle 69"/>
            <p:cNvSpPr>
              <a:spLocks noChangeArrowheads="1"/>
            </p:cNvSpPr>
            <p:nvPr/>
          </p:nvSpPr>
          <p:spPr bwMode="auto">
            <a:xfrm>
              <a:off x="1571" y="3202"/>
              <a:ext cx="441" cy="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984" name="Line 70"/>
            <p:cNvSpPr>
              <a:spLocks noChangeShapeType="1"/>
            </p:cNvSpPr>
            <p:nvPr/>
          </p:nvSpPr>
          <p:spPr bwMode="auto">
            <a:xfrm>
              <a:off x="1824" y="321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832" name="Line 71"/>
          <p:cNvSpPr>
            <a:spLocks noChangeShapeType="1"/>
          </p:cNvSpPr>
          <p:nvPr/>
        </p:nvSpPr>
        <p:spPr bwMode="auto">
          <a:xfrm>
            <a:off x="1566863" y="52038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33" name="Line 72"/>
          <p:cNvSpPr>
            <a:spLocks noChangeShapeType="1"/>
          </p:cNvSpPr>
          <p:nvPr/>
        </p:nvSpPr>
        <p:spPr bwMode="auto">
          <a:xfrm>
            <a:off x="2557463" y="52038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34" name="Rectangle 73"/>
          <p:cNvSpPr>
            <a:spLocks noChangeArrowheads="1"/>
          </p:cNvSpPr>
          <p:nvPr/>
        </p:nvSpPr>
        <p:spPr bwMode="auto">
          <a:xfrm>
            <a:off x="1317625" y="5486400"/>
            <a:ext cx="471488" cy="320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35" name="Line 74"/>
          <p:cNvSpPr>
            <a:spLocks noChangeShapeType="1"/>
          </p:cNvSpPr>
          <p:nvPr/>
        </p:nvSpPr>
        <p:spPr bwMode="auto">
          <a:xfrm>
            <a:off x="3471863" y="5051425"/>
            <a:ext cx="3048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36" name="Line 75"/>
          <p:cNvSpPr>
            <a:spLocks noChangeShapeType="1"/>
          </p:cNvSpPr>
          <p:nvPr/>
        </p:nvSpPr>
        <p:spPr bwMode="auto">
          <a:xfrm>
            <a:off x="1338263" y="5508625"/>
            <a:ext cx="4572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37" name="Line 76"/>
          <p:cNvSpPr>
            <a:spLocks noChangeShapeType="1"/>
          </p:cNvSpPr>
          <p:nvPr/>
        </p:nvSpPr>
        <p:spPr bwMode="auto">
          <a:xfrm>
            <a:off x="2481263" y="4594225"/>
            <a:ext cx="3048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38" name="Rectangle 77"/>
          <p:cNvSpPr>
            <a:spLocks noChangeArrowheads="1"/>
          </p:cNvSpPr>
          <p:nvPr/>
        </p:nvSpPr>
        <p:spPr bwMode="auto">
          <a:xfrm>
            <a:off x="5889625" y="1981200"/>
            <a:ext cx="471488" cy="320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7" name="Group 78"/>
          <p:cNvGrpSpPr>
            <a:grpSpLocks/>
          </p:cNvGrpSpPr>
          <p:nvPr/>
        </p:nvGrpSpPr>
        <p:grpSpPr bwMode="auto">
          <a:xfrm>
            <a:off x="6651625" y="1981200"/>
            <a:ext cx="700088" cy="327025"/>
            <a:chOff x="3827" y="1282"/>
            <a:chExt cx="441" cy="206"/>
          </a:xfrm>
        </p:grpSpPr>
        <p:sp>
          <p:nvSpPr>
            <p:cNvPr id="33981" name="Rectangle 79"/>
            <p:cNvSpPr>
              <a:spLocks noChangeArrowheads="1"/>
            </p:cNvSpPr>
            <p:nvPr/>
          </p:nvSpPr>
          <p:spPr bwMode="auto">
            <a:xfrm>
              <a:off x="3827" y="1282"/>
              <a:ext cx="441" cy="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982" name="Line 80"/>
            <p:cNvSpPr>
              <a:spLocks noChangeShapeType="1"/>
            </p:cNvSpPr>
            <p:nvPr/>
          </p:nvSpPr>
          <p:spPr bwMode="auto">
            <a:xfrm>
              <a:off x="4080" y="129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8" name="Group 81"/>
          <p:cNvGrpSpPr>
            <a:grpSpLocks/>
          </p:cNvGrpSpPr>
          <p:nvPr/>
        </p:nvGrpSpPr>
        <p:grpSpPr bwMode="auto">
          <a:xfrm>
            <a:off x="7718425" y="1981200"/>
            <a:ext cx="700088" cy="327025"/>
            <a:chOff x="4499" y="1282"/>
            <a:chExt cx="441" cy="206"/>
          </a:xfrm>
        </p:grpSpPr>
        <p:sp>
          <p:nvSpPr>
            <p:cNvPr id="33979" name="Rectangle 82"/>
            <p:cNvSpPr>
              <a:spLocks noChangeArrowheads="1"/>
            </p:cNvSpPr>
            <p:nvPr/>
          </p:nvSpPr>
          <p:spPr bwMode="auto">
            <a:xfrm>
              <a:off x="4499" y="1282"/>
              <a:ext cx="441" cy="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980" name="Line 83"/>
            <p:cNvSpPr>
              <a:spLocks noChangeShapeType="1"/>
            </p:cNvSpPr>
            <p:nvPr/>
          </p:nvSpPr>
          <p:spPr bwMode="auto">
            <a:xfrm>
              <a:off x="4752" y="129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841" name="Line 84"/>
          <p:cNvSpPr>
            <a:spLocks noChangeShapeType="1"/>
          </p:cNvSpPr>
          <p:nvPr/>
        </p:nvSpPr>
        <p:spPr bwMode="auto">
          <a:xfrm>
            <a:off x="6138863" y="21558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42" name="Line 85"/>
          <p:cNvSpPr>
            <a:spLocks noChangeShapeType="1"/>
          </p:cNvSpPr>
          <p:nvPr/>
        </p:nvSpPr>
        <p:spPr bwMode="auto">
          <a:xfrm>
            <a:off x="7129463" y="21558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43" name="Line 86"/>
          <p:cNvSpPr>
            <a:spLocks noChangeShapeType="1"/>
          </p:cNvSpPr>
          <p:nvPr/>
        </p:nvSpPr>
        <p:spPr bwMode="auto">
          <a:xfrm>
            <a:off x="8120063" y="2003425"/>
            <a:ext cx="3048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44" name="Rectangle 87"/>
          <p:cNvSpPr>
            <a:spLocks noChangeArrowheads="1"/>
          </p:cNvSpPr>
          <p:nvPr/>
        </p:nvSpPr>
        <p:spPr bwMode="auto">
          <a:xfrm>
            <a:off x="5889625" y="2438400"/>
            <a:ext cx="471488" cy="320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9" name="Group 88"/>
          <p:cNvGrpSpPr>
            <a:grpSpLocks/>
          </p:cNvGrpSpPr>
          <p:nvPr/>
        </p:nvGrpSpPr>
        <p:grpSpPr bwMode="auto">
          <a:xfrm>
            <a:off x="6651625" y="2438400"/>
            <a:ext cx="700088" cy="327025"/>
            <a:chOff x="3827" y="1570"/>
            <a:chExt cx="441" cy="206"/>
          </a:xfrm>
        </p:grpSpPr>
        <p:sp>
          <p:nvSpPr>
            <p:cNvPr id="33977" name="Rectangle 89"/>
            <p:cNvSpPr>
              <a:spLocks noChangeArrowheads="1"/>
            </p:cNvSpPr>
            <p:nvPr/>
          </p:nvSpPr>
          <p:spPr bwMode="auto">
            <a:xfrm>
              <a:off x="3827" y="1570"/>
              <a:ext cx="441" cy="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978" name="Line 90"/>
            <p:cNvSpPr>
              <a:spLocks noChangeShapeType="1"/>
            </p:cNvSpPr>
            <p:nvPr/>
          </p:nvSpPr>
          <p:spPr bwMode="auto">
            <a:xfrm>
              <a:off x="4080" y="158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0" name="Group 91"/>
          <p:cNvGrpSpPr>
            <a:grpSpLocks/>
          </p:cNvGrpSpPr>
          <p:nvPr/>
        </p:nvGrpSpPr>
        <p:grpSpPr bwMode="auto">
          <a:xfrm>
            <a:off x="7718425" y="2438400"/>
            <a:ext cx="700088" cy="327025"/>
            <a:chOff x="4499" y="1570"/>
            <a:chExt cx="441" cy="206"/>
          </a:xfrm>
        </p:grpSpPr>
        <p:sp>
          <p:nvSpPr>
            <p:cNvPr id="33975" name="Rectangle 92"/>
            <p:cNvSpPr>
              <a:spLocks noChangeArrowheads="1"/>
            </p:cNvSpPr>
            <p:nvPr/>
          </p:nvSpPr>
          <p:spPr bwMode="auto">
            <a:xfrm>
              <a:off x="4499" y="1570"/>
              <a:ext cx="441" cy="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976" name="Line 93"/>
            <p:cNvSpPr>
              <a:spLocks noChangeShapeType="1"/>
            </p:cNvSpPr>
            <p:nvPr/>
          </p:nvSpPr>
          <p:spPr bwMode="auto">
            <a:xfrm>
              <a:off x="4752" y="158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847" name="Line 94"/>
          <p:cNvSpPr>
            <a:spLocks noChangeShapeType="1"/>
          </p:cNvSpPr>
          <p:nvPr/>
        </p:nvSpPr>
        <p:spPr bwMode="auto">
          <a:xfrm>
            <a:off x="6138863" y="26130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48" name="Line 95"/>
          <p:cNvSpPr>
            <a:spLocks noChangeShapeType="1"/>
          </p:cNvSpPr>
          <p:nvPr/>
        </p:nvSpPr>
        <p:spPr bwMode="auto">
          <a:xfrm>
            <a:off x="7129463" y="26130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49" name="Line 96"/>
          <p:cNvSpPr>
            <a:spLocks noChangeShapeType="1"/>
          </p:cNvSpPr>
          <p:nvPr/>
        </p:nvSpPr>
        <p:spPr bwMode="auto">
          <a:xfrm>
            <a:off x="8120063" y="2460625"/>
            <a:ext cx="3048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50" name="Rectangle 97"/>
          <p:cNvSpPr>
            <a:spLocks noChangeArrowheads="1"/>
          </p:cNvSpPr>
          <p:nvPr/>
        </p:nvSpPr>
        <p:spPr bwMode="auto">
          <a:xfrm>
            <a:off x="5889625" y="2895600"/>
            <a:ext cx="471488" cy="320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" name="Group 98"/>
          <p:cNvGrpSpPr>
            <a:grpSpLocks/>
          </p:cNvGrpSpPr>
          <p:nvPr/>
        </p:nvGrpSpPr>
        <p:grpSpPr bwMode="auto">
          <a:xfrm>
            <a:off x="6651625" y="2895600"/>
            <a:ext cx="700088" cy="327025"/>
            <a:chOff x="3827" y="1858"/>
            <a:chExt cx="441" cy="206"/>
          </a:xfrm>
        </p:grpSpPr>
        <p:sp>
          <p:nvSpPr>
            <p:cNvPr id="33973" name="Rectangle 99"/>
            <p:cNvSpPr>
              <a:spLocks noChangeArrowheads="1"/>
            </p:cNvSpPr>
            <p:nvPr/>
          </p:nvSpPr>
          <p:spPr bwMode="auto">
            <a:xfrm>
              <a:off x="3827" y="1858"/>
              <a:ext cx="441" cy="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974" name="Line 100"/>
            <p:cNvSpPr>
              <a:spLocks noChangeShapeType="1"/>
            </p:cNvSpPr>
            <p:nvPr/>
          </p:nvSpPr>
          <p:spPr bwMode="auto">
            <a:xfrm>
              <a:off x="4080" y="187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2" name="Group 101"/>
          <p:cNvGrpSpPr>
            <a:grpSpLocks/>
          </p:cNvGrpSpPr>
          <p:nvPr/>
        </p:nvGrpSpPr>
        <p:grpSpPr bwMode="auto">
          <a:xfrm>
            <a:off x="7718425" y="2895600"/>
            <a:ext cx="700088" cy="327025"/>
            <a:chOff x="4499" y="1858"/>
            <a:chExt cx="441" cy="206"/>
          </a:xfrm>
        </p:grpSpPr>
        <p:sp>
          <p:nvSpPr>
            <p:cNvPr id="33971" name="Rectangle 102"/>
            <p:cNvSpPr>
              <a:spLocks noChangeArrowheads="1"/>
            </p:cNvSpPr>
            <p:nvPr/>
          </p:nvSpPr>
          <p:spPr bwMode="auto">
            <a:xfrm>
              <a:off x="4499" y="1858"/>
              <a:ext cx="441" cy="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972" name="Line 103"/>
            <p:cNvSpPr>
              <a:spLocks noChangeShapeType="1"/>
            </p:cNvSpPr>
            <p:nvPr/>
          </p:nvSpPr>
          <p:spPr bwMode="auto">
            <a:xfrm>
              <a:off x="4752" y="187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853" name="Line 104"/>
          <p:cNvSpPr>
            <a:spLocks noChangeShapeType="1"/>
          </p:cNvSpPr>
          <p:nvPr/>
        </p:nvSpPr>
        <p:spPr bwMode="auto">
          <a:xfrm>
            <a:off x="6138863" y="30702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54" name="Line 105"/>
          <p:cNvSpPr>
            <a:spLocks noChangeShapeType="1"/>
          </p:cNvSpPr>
          <p:nvPr/>
        </p:nvSpPr>
        <p:spPr bwMode="auto">
          <a:xfrm>
            <a:off x="7129463" y="30702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55" name="Line 106"/>
          <p:cNvSpPr>
            <a:spLocks noChangeShapeType="1"/>
          </p:cNvSpPr>
          <p:nvPr/>
        </p:nvSpPr>
        <p:spPr bwMode="auto">
          <a:xfrm>
            <a:off x="8120063" y="2917825"/>
            <a:ext cx="3048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56" name="Rectangle 107"/>
          <p:cNvSpPr>
            <a:spLocks noChangeArrowheads="1"/>
          </p:cNvSpPr>
          <p:nvPr/>
        </p:nvSpPr>
        <p:spPr bwMode="auto">
          <a:xfrm>
            <a:off x="5889625" y="3352800"/>
            <a:ext cx="471488" cy="320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3" name="Group 108"/>
          <p:cNvGrpSpPr>
            <a:grpSpLocks/>
          </p:cNvGrpSpPr>
          <p:nvPr/>
        </p:nvGrpSpPr>
        <p:grpSpPr bwMode="auto">
          <a:xfrm>
            <a:off x="6651625" y="3352800"/>
            <a:ext cx="700088" cy="327025"/>
            <a:chOff x="3827" y="2146"/>
            <a:chExt cx="441" cy="206"/>
          </a:xfrm>
        </p:grpSpPr>
        <p:sp>
          <p:nvSpPr>
            <p:cNvPr id="33969" name="Rectangle 109"/>
            <p:cNvSpPr>
              <a:spLocks noChangeArrowheads="1"/>
            </p:cNvSpPr>
            <p:nvPr/>
          </p:nvSpPr>
          <p:spPr bwMode="auto">
            <a:xfrm>
              <a:off x="3827" y="2146"/>
              <a:ext cx="441" cy="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970" name="Line 110"/>
            <p:cNvSpPr>
              <a:spLocks noChangeShapeType="1"/>
            </p:cNvSpPr>
            <p:nvPr/>
          </p:nvSpPr>
          <p:spPr bwMode="auto">
            <a:xfrm>
              <a:off x="4080" y="216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4" name="Group 111"/>
          <p:cNvGrpSpPr>
            <a:grpSpLocks/>
          </p:cNvGrpSpPr>
          <p:nvPr/>
        </p:nvGrpSpPr>
        <p:grpSpPr bwMode="auto">
          <a:xfrm>
            <a:off x="7718425" y="3352800"/>
            <a:ext cx="700088" cy="327025"/>
            <a:chOff x="4499" y="2146"/>
            <a:chExt cx="441" cy="206"/>
          </a:xfrm>
        </p:grpSpPr>
        <p:sp>
          <p:nvSpPr>
            <p:cNvPr id="33967" name="Rectangle 112"/>
            <p:cNvSpPr>
              <a:spLocks noChangeArrowheads="1"/>
            </p:cNvSpPr>
            <p:nvPr/>
          </p:nvSpPr>
          <p:spPr bwMode="auto">
            <a:xfrm>
              <a:off x="4499" y="2146"/>
              <a:ext cx="441" cy="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968" name="Line 113"/>
            <p:cNvSpPr>
              <a:spLocks noChangeShapeType="1"/>
            </p:cNvSpPr>
            <p:nvPr/>
          </p:nvSpPr>
          <p:spPr bwMode="auto">
            <a:xfrm>
              <a:off x="4752" y="216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859" name="Line 114"/>
          <p:cNvSpPr>
            <a:spLocks noChangeShapeType="1"/>
          </p:cNvSpPr>
          <p:nvPr/>
        </p:nvSpPr>
        <p:spPr bwMode="auto">
          <a:xfrm>
            <a:off x="6138863" y="35274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60" name="Line 115"/>
          <p:cNvSpPr>
            <a:spLocks noChangeShapeType="1"/>
          </p:cNvSpPr>
          <p:nvPr/>
        </p:nvSpPr>
        <p:spPr bwMode="auto">
          <a:xfrm>
            <a:off x="7129463" y="35274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61" name="Line 116"/>
          <p:cNvSpPr>
            <a:spLocks noChangeShapeType="1"/>
          </p:cNvSpPr>
          <p:nvPr/>
        </p:nvSpPr>
        <p:spPr bwMode="auto">
          <a:xfrm>
            <a:off x="8120063" y="3375025"/>
            <a:ext cx="3048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62" name="Rectangle 117"/>
          <p:cNvSpPr>
            <a:spLocks noChangeArrowheads="1"/>
          </p:cNvSpPr>
          <p:nvPr/>
        </p:nvSpPr>
        <p:spPr bwMode="auto">
          <a:xfrm>
            <a:off x="5889625" y="3810000"/>
            <a:ext cx="471488" cy="320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5" name="Group 118"/>
          <p:cNvGrpSpPr>
            <a:grpSpLocks/>
          </p:cNvGrpSpPr>
          <p:nvPr/>
        </p:nvGrpSpPr>
        <p:grpSpPr bwMode="auto">
          <a:xfrm>
            <a:off x="6651625" y="3810000"/>
            <a:ext cx="700088" cy="327025"/>
            <a:chOff x="3827" y="2434"/>
            <a:chExt cx="441" cy="206"/>
          </a:xfrm>
        </p:grpSpPr>
        <p:sp>
          <p:nvSpPr>
            <p:cNvPr id="33965" name="Rectangle 119"/>
            <p:cNvSpPr>
              <a:spLocks noChangeArrowheads="1"/>
            </p:cNvSpPr>
            <p:nvPr/>
          </p:nvSpPr>
          <p:spPr bwMode="auto">
            <a:xfrm>
              <a:off x="3827" y="2434"/>
              <a:ext cx="441" cy="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966" name="Line 120"/>
            <p:cNvSpPr>
              <a:spLocks noChangeShapeType="1"/>
            </p:cNvSpPr>
            <p:nvPr/>
          </p:nvSpPr>
          <p:spPr bwMode="auto">
            <a:xfrm>
              <a:off x="4080" y="244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864" name="Line 121"/>
          <p:cNvSpPr>
            <a:spLocks noChangeShapeType="1"/>
          </p:cNvSpPr>
          <p:nvPr/>
        </p:nvSpPr>
        <p:spPr bwMode="auto">
          <a:xfrm>
            <a:off x="6138863" y="39846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65" name="Line 122"/>
          <p:cNvSpPr>
            <a:spLocks noChangeShapeType="1"/>
          </p:cNvSpPr>
          <p:nvPr/>
        </p:nvSpPr>
        <p:spPr bwMode="auto">
          <a:xfrm>
            <a:off x="7053263" y="3832225"/>
            <a:ext cx="3048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66" name="Rectangle 123"/>
          <p:cNvSpPr>
            <a:spLocks noChangeArrowheads="1"/>
          </p:cNvSpPr>
          <p:nvPr/>
        </p:nvSpPr>
        <p:spPr bwMode="auto">
          <a:xfrm>
            <a:off x="5889625" y="4267200"/>
            <a:ext cx="471488" cy="320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6" name="Group 124"/>
          <p:cNvGrpSpPr>
            <a:grpSpLocks/>
          </p:cNvGrpSpPr>
          <p:nvPr/>
        </p:nvGrpSpPr>
        <p:grpSpPr bwMode="auto">
          <a:xfrm>
            <a:off x="6651625" y="4267200"/>
            <a:ext cx="700088" cy="327025"/>
            <a:chOff x="3827" y="2722"/>
            <a:chExt cx="441" cy="206"/>
          </a:xfrm>
        </p:grpSpPr>
        <p:sp>
          <p:nvSpPr>
            <p:cNvPr id="33963" name="Rectangle 125"/>
            <p:cNvSpPr>
              <a:spLocks noChangeArrowheads="1"/>
            </p:cNvSpPr>
            <p:nvPr/>
          </p:nvSpPr>
          <p:spPr bwMode="auto">
            <a:xfrm>
              <a:off x="3827" y="2722"/>
              <a:ext cx="441" cy="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964" name="Line 126"/>
            <p:cNvSpPr>
              <a:spLocks noChangeShapeType="1"/>
            </p:cNvSpPr>
            <p:nvPr/>
          </p:nvSpPr>
          <p:spPr bwMode="auto">
            <a:xfrm>
              <a:off x="4080" y="273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" name="Group 127"/>
          <p:cNvGrpSpPr>
            <a:grpSpLocks/>
          </p:cNvGrpSpPr>
          <p:nvPr/>
        </p:nvGrpSpPr>
        <p:grpSpPr bwMode="auto">
          <a:xfrm>
            <a:off x="7718425" y="4267200"/>
            <a:ext cx="700088" cy="327025"/>
            <a:chOff x="4499" y="2722"/>
            <a:chExt cx="441" cy="206"/>
          </a:xfrm>
        </p:grpSpPr>
        <p:sp>
          <p:nvSpPr>
            <p:cNvPr id="33961" name="Rectangle 128"/>
            <p:cNvSpPr>
              <a:spLocks noChangeArrowheads="1"/>
            </p:cNvSpPr>
            <p:nvPr/>
          </p:nvSpPr>
          <p:spPr bwMode="auto">
            <a:xfrm>
              <a:off x="4499" y="2722"/>
              <a:ext cx="441" cy="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962" name="Line 129"/>
            <p:cNvSpPr>
              <a:spLocks noChangeShapeType="1"/>
            </p:cNvSpPr>
            <p:nvPr/>
          </p:nvSpPr>
          <p:spPr bwMode="auto">
            <a:xfrm>
              <a:off x="4752" y="273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869" name="Line 130"/>
          <p:cNvSpPr>
            <a:spLocks noChangeShapeType="1"/>
          </p:cNvSpPr>
          <p:nvPr/>
        </p:nvSpPr>
        <p:spPr bwMode="auto">
          <a:xfrm>
            <a:off x="6138863" y="44418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70" name="Line 131"/>
          <p:cNvSpPr>
            <a:spLocks noChangeShapeType="1"/>
          </p:cNvSpPr>
          <p:nvPr/>
        </p:nvSpPr>
        <p:spPr bwMode="auto">
          <a:xfrm>
            <a:off x="7129463" y="44418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71" name="Line 132"/>
          <p:cNvSpPr>
            <a:spLocks noChangeShapeType="1"/>
          </p:cNvSpPr>
          <p:nvPr/>
        </p:nvSpPr>
        <p:spPr bwMode="auto">
          <a:xfrm>
            <a:off x="8120063" y="4289425"/>
            <a:ext cx="3048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72" name="Rectangle 133"/>
          <p:cNvSpPr>
            <a:spLocks noChangeArrowheads="1"/>
          </p:cNvSpPr>
          <p:nvPr/>
        </p:nvSpPr>
        <p:spPr bwMode="auto">
          <a:xfrm>
            <a:off x="5889625" y="4724400"/>
            <a:ext cx="471488" cy="320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8" name="Group 134"/>
          <p:cNvGrpSpPr>
            <a:grpSpLocks/>
          </p:cNvGrpSpPr>
          <p:nvPr/>
        </p:nvGrpSpPr>
        <p:grpSpPr bwMode="auto">
          <a:xfrm>
            <a:off x="6651625" y="4724400"/>
            <a:ext cx="700088" cy="327025"/>
            <a:chOff x="3827" y="3010"/>
            <a:chExt cx="441" cy="206"/>
          </a:xfrm>
        </p:grpSpPr>
        <p:sp>
          <p:nvSpPr>
            <p:cNvPr id="33959" name="Rectangle 135"/>
            <p:cNvSpPr>
              <a:spLocks noChangeArrowheads="1"/>
            </p:cNvSpPr>
            <p:nvPr/>
          </p:nvSpPr>
          <p:spPr bwMode="auto">
            <a:xfrm>
              <a:off x="3827" y="3010"/>
              <a:ext cx="441" cy="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960" name="Line 136"/>
            <p:cNvSpPr>
              <a:spLocks noChangeShapeType="1"/>
            </p:cNvSpPr>
            <p:nvPr/>
          </p:nvSpPr>
          <p:spPr bwMode="auto">
            <a:xfrm>
              <a:off x="4080" y="302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9" name="Group 137"/>
          <p:cNvGrpSpPr>
            <a:grpSpLocks/>
          </p:cNvGrpSpPr>
          <p:nvPr/>
        </p:nvGrpSpPr>
        <p:grpSpPr bwMode="auto">
          <a:xfrm>
            <a:off x="7718425" y="4724400"/>
            <a:ext cx="700088" cy="327025"/>
            <a:chOff x="4499" y="3010"/>
            <a:chExt cx="441" cy="206"/>
          </a:xfrm>
        </p:grpSpPr>
        <p:sp>
          <p:nvSpPr>
            <p:cNvPr id="33957" name="Rectangle 138"/>
            <p:cNvSpPr>
              <a:spLocks noChangeArrowheads="1"/>
            </p:cNvSpPr>
            <p:nvPr/>
          </p:nvSpPr>
          <p:spPr bwMode="auto">
            <a:xfrm>
              <a:off x="4499" y="3010"/>
              <a:ext cx="441" cy="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958" name="Line 139"/>
            <p:cNvSpPr>
              <a:spLocks noChangeShapeType="1"/>
            </p:cNvSpPr>
            <p:nvPr/>
          </p:nvSpPr>
          <p:spPr bwMode="auto">
            <a:xfrm>
              <a:off x="4752" y="302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875" name="Line 140"/>
          <p:cNvSpPr>
            <a:spLocks noChangeShapeType="1"/>
          </p:cNvSpPr>
          <p:nvPr/>
        </p:nvSpPr>
        <p:spPr bwMode="auto">
          <a:xfrm>
            <a:off x="6138863" y="48990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76" name="Line 141"/>
          <p:cNvSpPr>
            <a:spLocks noChangeShapeType="1"/>
          </p:cNvSpPr>
          <p:nvPr/>
        </p:nvSpPr>
        <p:spPr bwMode="auto">
          <a:xfrm>
            <a:off x="7129463" y="48990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77" name="Line 142"/>
          <p:cNvSpPr>
            <a:spLocks noChangeShapeType="1"/>
          </p:cNvSpPr>
          <p:nvPr/>
        </p:nvSpPr>
        <p:spPr bwMode="auto">
          <a:xfrm>
            <a:off x="8120063" y="4746625"/>
            <a:ext cx="3048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78" name="Rectangle 143"/>
          <p:cNvSpPr>
            <a:spLocks noChangeArrowheads="1"/>
          </p:cNvSpPr>
          <p:nvPr/>
        </p:nvSpPr>
        <p:spPr bwMode="auto">
          <a:xfrm>
            <a:off x="5889625" y="5181600"/>
            <a:ext cx="471488" cy="320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0" name="Group 144"/>
          <p:cNvGrpSpPr>
            <a:grpSpLocks/>
          </p:cNvGrpSpPr>
          <p:nvPr/>
        </p:nvGrpSpPr>
        <p:grpSpPr bwMode="auto">
          <a:xfrm>
            <a:off x="6651625" y="5181600"/>
            <a:ext cx="700088" cy="327025"/>
            <a:chOff x="3827" y="3298"/>
            <a:chExt cx="441" cy="206"/>
          </a:xfrm>
        </p:grpSpPr>
        <p:sp>
          <p:nvSpPr>
            <p:cNvPr id="33955" name="Rectangle 145"/>
            <p:cNvSpPr>
              <a:spLocks noChangeArrowheads="1"/>
            </p:cNvSpPr>
            <p:nvPr/>
          </p:nvSpPr>
          <p:spPr bwMode="auto">
            <a:xfrm>
              <a:off x="3827" y="3298"/>
              <a:ext cx="441" cy="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956" name="Line 146"/>
            <p:cNvSpPr>
              <a:spLocks noChangeShapeType="1"/>
            </p:cNvSpPr>
            <p:nvPr/>
          </p:nvSpPr>
          <p:spPr bwMode="auto">
            <a:xfrm>
              <a:off x="4080" y="331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880" name="Line 147"/>
          <p:cNvSpPr>
            <a:spLocks noChangeShapeType="1"/>
          </p:cNvSpPr>
          <p:nvPr/>
        </p:nvSpPr>
        <p:spPr bwMode="auto">
          <a:xfrm>
            <a:off x="6138863" y="53562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81" name="Line 148"/>
          <p:cNvSpPr>
            <a:spLocks noChangeShapeType="1"/>
          </p:cNvSpPr>
          <p:nvPr/>
        </p:nvSpPr>
        <p:spPr bwMode="auto">
          <a:xfrm>
            <a:off x="7053263" y="5203825"/>
            <a:ext cx="3048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82" name="Rectangle 149"/>
          <p:cNvSpPr>
            <a:spLocks noChangeArrowheads="1"/>
          </p:cNvSpPr>
          <p:nvPr/>
        </p:nvSpPr>
        <p:spPr bwMode="auto">
          <a:xfrm>
            <a:off x="865188" y="1887538"/>
            <a:ext cx="361950" cy="188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 eaLnBrk="0" hangingPunct="0">
              <a:lnSpc>
                <a:spcPct val="105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  <a:p>
            <a:pPr algn="l" eaLnBrk="0" hangingPunct="0">
              <a:lnSpc>
                <a:spcPct val="105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  <a:p>
            <a:pPr algn="l" eaLnBrk="0" hangingPunct="0">
              <a:lnSpc>
                <a:spcPct val="105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  <a:p>
            <a:pPr algn="l" eaLnBrk="0" hangingPunct="0">
              <a:lnSpc>
                <a:spcPct val="105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33883" name="Rectangle 150"/>
          <p:cNvSpPr>
            <a:spLocks noChangeArrowheads="1"/>
          </p:cNvSpPr>
          <p:nvPr/>
        </p:nvSpPr>
        <p:spPr bwMode="auto">
          <a:xfrm>
            <a:off x="865188" y="4478338"/>
            <a:ext cx="361950" cy="143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 eaLnBrk="0" hangingPunct="0">
              <a:lnSpc>
                <a:spcPct val="105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  <a:p>
            <a:pPr algn="l" eaLnBrk="0" hangingPunct="0">
              <a:lnSpc>
                <a:spcPct val="105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  <a:p>
            <a:pPr algn="l" eaLnBrk="0" hangingPunct="0">
              <a:lnSpc>
                <a:spcPct val="105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33884" name="Rectangle 151"/>
          <p:cNvSpPr>
            <a:spLocks noChangeArrowheads="1"/>
          </p:cNvSpPr>
          <p:nvPr/>
        </p:nvSpPr>
        <p:spPr bwMode="auto">
          <a:xfrm>
            <a:off x="5360988" y="1955800"/>
            <a:ext cx="361950" cy="367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 eaLnBrk="0" hangingPunct="0">
              <a:lnSpc>
                <a:spcPct val="105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  <a:p>
            <a:pPr algn="l" eaLnBrk="0" hangingPunct="0">
              <a:lnSpc>
                <a:spcPct val="105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  <a:p>
            <a:pPr algn="l" eaLnBrk="0" hangingPunct="0">
              <a:lnSpc>
                <a:spcPct val="105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  <a:p>
            <a:pPr algn="l" eaLnBrk="0" hangingPunct="0">
              <a:lnSpc>
                <a:spcPct val="105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  <a:p>
            <a:pPr algn="l" eaLnBrk="0" hangingPunct="0">
              <a:lnSpc>
                <a:spcPct val="105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4</a:t>
            </a:r>
          </a:p>
          <a:p>
            <a:pPr algn="l" eaLnBrk="0" hangingPunct="0">
              <a:lnSpc>
                <a:spcPct val="105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5</a:t>
            </a:r>
          </a:p>
          <a:p>
            <a:pPr algn="l" eaLnBrk="0" hangingPunct="0">
              <a:lnSpc>
                <a:spcPct val="105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6</a:t>
            </a:r>
          </a:p>
          <a:p>
            <a:pPr algn="l" eaLnBrk="0" hangingPunct="0">
              <a:lnSpc>
                <a:spcPct val="105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7</a:t>
            </a:r>
          </a:p>
        </p:txBody>
      </p:sp>
      <p:sp>
        <p:nvSpPr>
          <p:cNvPr id="33885" name="Rectangle 152"/>
          <p:cNvSpPr>
            <a:spLocks noChangeArrowheads="1"/>
          </p:cNvSpPr>
          <p:nvPr/>
        </p:nvSpPr>
        <p:spPr bwMode="auto">
          <a:xfrm>
            <a:off x="2076450" y="1930400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33886" name="Rectangle 153"/>
          <p:cNvSpPr>
            <a:spLocks noChangeArrowheads="1"/>
          </p:cNvSpPr>
          <p:nvPr/>
        </p:nvSpPr>
        <p:spPr bwMode="auto">
          <a:xfrm>
            <a:off x="3100388" y="1933575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33887" name="Rectangle 154"/>
          <p:cNvSpPr>
            <a:spLocks noChangeArrowheads="1"/>
          </p:cNvSpPr>
          <p:nvPr/>
        </p:nvSpPr>
        <p:spPr bwMode="auto">
          <a:xfrm>
            <a:off x="4106863" y="1933575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33888" name="Rectangle 155"/>
          <p:cNvSpPr>
            <a:spLocks noChangeArrowheads="1"/>
          </p:cNvSpPr>
          <p:nvPr/>
        </p:nvSpPr>
        <p:spPr bwMode="auto">
          <a:xfrm>
            <a:off x="2092325" y="2381250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33889" name="Rectangle 156"/>
          <p:cNvSpPr>
            <a:spLocks noChangeArrowheads="1"/>
          </p:cNvSpPr>
          <p:nvPr/>
        </p:nvSpPr>
        <p:spPr bwMode="auto">
          <a:xfrm>
            <a:off x="3100388" y="2381250"/>
            <a:ext cx="40163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33890" name="Rectangle 157"/>
          <p:cNvSpPr>
            <a:spLocks noChangeArrowheads="1"/>
          </p:cNvSpPr>
          <p:nvPr/>
        </p:nvSpPr>
        <p:spPr bwMode="auto">
          <a:xfrm>
            <a:off x="4092575" y="2381250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33891" name="Rectangle 158"/>
          <p:cNvSpPr>
            <a:spLocks noChangeArrowheads="1"/>
          </p:cNvSpPr>
          <p:nvPr/>
        </p:nvSpPr>
        <p:spPr bwMode="auto">
          <a:xfrm>
            <a:off x="2092325" y="2830513"/>
            <a:ext cx="361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33892" name="Rectangle 159"/>
          <p:cNvSpPr>
            <a:spLocks noChangeArrowheads="1"/>
          </p:cNvSpPr>
          <p:nvPr/>
        </p:nvSpPr>
        <p:spPr bwMode="auto">
          <a:xfrm>
            <a:off x="3087688" y="2830513"/>
            <a:ext cx="361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33893" name="Rectangle 160"/>
          <p:cNvSpPr>
            <a:spLocks noChangeArrowheads="1"/>
          </p:cNvSpPr>
          <p:nvPr/>
        </p:nvSpPr>
        <p:spPr bwMode="auto">
          <a:xfrm>
            <a:off x="4092575" y="2830513"/>
            <a:ext cx="361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33894" name="Rectangle 161"/>
          <p:cNvSpPr>
            <a:spLocks noChangeArrowheads="1"/>
          </p:cNvSpPr>
          <p:nvPr/>
        </p:nvSpPr>
        <p:spPr bwMode="auto">
          <a:xfrm>
            <a:off x="2092325" y="3306763"/>
            <a:ext cx="361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33895" name="Rectangle 162"/>
          <p:cNvSpPr>
            <a:spLocks noChangeArrowheads="1"/>
          </p:cNvSpPr>
          <p:nvPr/>
        </p:nvSpPr>
        <p:spPr bwMode="auto">
          <a:xfrm>
            <a:off x="3086100" y="3279775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33896" name="Rectangle 163"/>
          <p:cNvSpPr>
            <a:spLocks noChangeArrowheads="1"/>
          </p:cNvSpPr>
          <p:nvPr/>
        </p:nvSpPr>
        <p:spPr bwMode="auto">
          <a:xfrm>
            <a:off x="4106863" y="3279775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33897" name="Rectangle 164"/>
          <p:cNvSpPr>
            <a:spLocks noChangeArrowheads="1"/>
          </p:cNvSpPr>
          <p:nvPr/>
        </p:nvSpPr>
        <p:spPr bwMode="auto">
          <a:xfrm>
            <a:off x="2743200" y="3819525"/>
            <a:ext cx="5429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G</a:t>
            </a:r>
            <a:r>
              <a:rPr lang="en-US" altLang="zh-TW" sz="16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33898" name="Rectangle 165"/>
          <p:cNvSpPr>
            <a:spLocks noChangeArrowheads="1"/>
          </p:cNvSpPr>
          <p:nvPr/>
        </p:nvSpPr>
        <p:spPr bwMode="auto">
          <a:xfrm>
            <a:off x="2092325" y="4530725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33899" name="Rectangle 166"/>
          <p:cNvSpPr>
            <a:spLocks noChangeArrowheads="1"/>
          </p:cNvSpPr>
          <p:nvPr/>
        </p:nvSpPr>
        <p:spPr bwMode="auto">
          <a:xfrm>
            <a:off x="2092325" y="4965700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33900" name="Rectangle 167"/>
          <p:cNvSpPr>
            <a:spLocks noChangeArrowheads="1"/>
          </p:cNvSpPr>
          <p:nvPr/>
        </p:nvSpPr>
        <p:spPr bwMode="auto">
          <a:xfrm>
            <a:off x="3098800" y="4967288"/>
            <a:ext cx="361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33901" name="Rectangle 168"/>
          <p:cNvSpPr>
            <a:spLocks noChangeArrowheads="1"/>
          </p:cNvSpPr>
          <p:nvPr/>
        </p:nvSpPr>
        <p:spPr bwMode="auto">
          <a:xfrm>
            <a:off x="2306638" y="5724525"/>
            <a:ext cx="5429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G</a:t>
            </a:r>
            <a:r>
              <a:rPr lang="en-US" altLang="zh-TW" sz="16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33902" name="Rectangle 169"/>
          <p:cNvSpPr>
            <a:spLocks noChangeArrowheads="1"/>
          </p:cNvSpPr>
          <p:nvPr/>
        </p:nvSpPr>
        <p:spPr bwMode="auto">
          <a:xfrm>
            <a:off x="6678613" y="1919288"/>
            <a:ext cx="361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33903" name="Rectangle 170"/>
          <p:cNvSpPr>
            <a:spLocks noChangeArrowheads="1"/>
          </p:cNvSpPr>
          <p:nvPr/>
        </p:nvSpPr>
        <p:spPr bwMode="auto">
          <a:xfrm>
            <a:off x="7740650" y="1933575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33904" name="Rectangle 171"/>
          <p:cNvSpPr>
            <a:spLocks noChangeArrowheads="1"/>
          </p:cNvSpPr>
          <p:nvPr/>
        </p:nvSpPr>
        <p:spPr bwMode="auto">
          <a:xfrm>
            <a:off x="6692900" y="2381250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33905" name="Rectangle 172"/>
          <p:cNvSpPr>
            <a:spLocks noChangeArrowheads="1"/>
          </p:cNvSpPr>
          <p:nvPr/>
        </p:nvSpPr>
        <p:spPr bwMode="auto">
          <a:xfrm>
            <a:off x="7739063" y="2382838"/>
            <a:ext cx="361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33906" name="Rectangle 173"/>
          <p:cNvSpPr>
            <a:spLocks noChangeArrowheads="1"/>
          </p:cNvSpPr>
          <p:nvPr/>
        </p:nvSpPr>
        <p:spPr bwMode="auto">
          <a:xfrm>
            <a:off x="6680200" y="2843213"/>
            <a:ext cx="361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33907" name="Rectangle 174"/>
          <p:cNvSpPr>
            <a:spLocks noChangeArrowheads="1"/>
          </p:cNvSpPr>
          <p:nvPr/>
        </p:nvSpPr>
        <p:spPr bwMode="auto">
          <a:xfrm>
            <a:off x="7726363" y="2844800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33908" name="Rectangle 175"/>
          <p:cNvSpPr>
            <a:spLocks noChangeArrowheads="1"/>
          </p:cNvSpPr>
          <p:nvPr/>
        </p:nvSpPr>
        <p:spPr bwMode="auto">
          <a:xfrm>
            <a:off x="6664325" y="3294063"/>
            <a:ext cx="361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33909" name="Rectangle 176"/>
          <p:cNvSpPr>
            <a:spLocks noChangeArrowheads="1"/>
          </p:cNvSpPr>
          <p:nvPr/>
        </p:nvSpPr>
        <p:spPr bwMode="auto">
          <a:xfrm>
            <a:off x="7753350" y="3294063"/>
            <a:ext cx="361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33910" name="Rectangle 177"/>
          <p:cNvSpPr>
            <a:spLocks noChangeArrowheads="1"/>
          </p:cNvSpPr>
          <p:nvPr/>
        </p:nvSpPr>
        <p:spPr bwMode="auto">
          <a:xfrm>
            <a:off x="6678613" y="3756025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33911" name="Rectangle 178"/>
          <p:cNvSpPr>
            <a:spLocks noChangeArrowheads="1"/>
          </p:cNvSpPr>
          <p:nvPr/>
        </p:nvSpPr>
        <p:spPr bwMode="auto">
          <a:xfrm>
            <a:off x="6665913" y="4232275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33912" name="Rectangle 179"/>
          <p:cNvSpPr>
            <a:spLocks noChangeArrowheads="1"/>
          </p:cNvSpPr>
          <p:nvPr/>
        </p:nvSpPr>
        <p:spPr bwMode="auto">
          <a:xfrm>
            <a:off x="7727950" y="4205288"/>
            <a:ext cx="361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6</a:t>
            </a:r>
          </a:p>
        </p:txBody>
      </p:sp>
      <p:sp>
        <p:nvSpPr>
          <p:cNvPr id="33913" name="Rectangle 180"/>
          <p:cNvSpPr>
            <a:spLocks noChangeArrowheads="1"/>
          </p:cNvSpPr>
          <p:nvPr/>
        </p:nvSpPr>
        <p:spPr bwMode="auto">
          <a:xfrm>
            <a:off x="6680200" y="4667250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33914" name="Rectangle 181"/>
          <p:cNvSpPr>
            <a:spLocks noChangeArrowheads="1"/>
          </p:cNvSpPr>
          <p:nvPr/>
        </p:nvSpPr>
        <p:spPr bwMode="auto">
          <a:xfrm>
            <a:off x="7753350" y="4667250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7</a:t>
            </a:r>
          </a:p>
        </p:txBody>
      </p:sp>
      <p:sp>
        <p:nvSpPr>
          <p:cNvPr id="33915" name="Rectangle 182"/>
          <p:cNvSpPr>
            <a:spLocks noChangeArrowheads="1"/>
          </p:cNvSpPr>
          <p:nvPr/>
        </p:nvSpPr>
        <p:spPr bwMode="auto">
          <a:xfrm>
            <a:off x="6675438" y="5138738"/>
            <a:ext cx="361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6</a:t>
            </a:r>
          </a:p>
        </p:txBody>
      </p:sp>
      <p:sp>
        <p:nvSpPr>
          <p:cNvPr id="33916" name="Rectangle 183"/>
          <p:cNvSpPr>
            <a:spLocks noChangeArrowheads="1"/>
          </p:cNvSpPr>
          <p:nvPr/>
        </p:nvSpPr>
        <p:spPr bwMode="auto">
          <a:xfrm>
            <a:off x="6702425" y="5629275"/>
            <a:ext cx="5429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G</a:t>
            </a:r>
            <a:r>
              <a:rPr lang="en-US" altLang="zh-TW" sz="1600">
                <a:solidFill>
                  <a:schemeClr val="tx1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33917" name="Oval 184"/>
          <p:cNvSpPr>
            <a:spLocks noChangeArrowheads="1"/>
          </p:cNvSpPr>
          <p:nvPr/>
        </p:nvSpPr>
        <p:spPr bwMode="auto">
          <a:xfrm>
            <a:off x="2538413" y="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33918" name="Oval 185"/>
          <p:cNvSpPr>
            <a:spLocks noChangeArrowheads="1"/>
          </p:cNvSpPr>
          <p:nvPr/>
        </p:nvSpPr>
        <p:spPr bwMode="auto">
          <a:xfrm>
            <a:off x="1852613" y="76200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33919" name="Oval 186"/>
          <p:cNvSpPr>
            <a:spLocks noChangeArrowheads="1"/>
          </p:cNvSpPr>
          <p:nvPr/>
        </p:nvSpPr>
        <p:spPr bwMode="auto">
          <a:xfrm>
            <a:off x="3224213" y="76200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33920" name="Oval 187"/>
          <p:cNvSpPr>
            <a:spLocks noChangeArrowheads="1"/>
          </p:cNvSpPr>
          <p:nvPr/>
        </p:nvSpPr>
        <p:spPr bwMode="auto">
          <a:xfrm>
            <a:off x="2538413" y="137160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33921" name="Line 188"/>
          <p:cNvSpPr>
            <a:spLocks noChangeShapeType="1"/>
          </p:cNvSpPr>
          <p:nvPr/>
        </p:nvSpPr>
        <p:spPr bwMode="auto">
          <a:xfrm>
            <a:off x="2760663" y="450850"/>
            <a:ext cx="0" cy="914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922" name="Line 189"/>
          <p:cNvSpPr>
            <a:spLocks noChangeShapeType="1"/>
          </p:cNvSpPr>
          <p:nvPr/>
        </p:nvSpPr>
        <p:spPr bwMode="auto">
          <a:xfrm>
            <a:off x="2303463" y="984250"/>
            <a:ext cx="9144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923" name="Line 190"/>
          <p:cNvSpPr>
            <a:spLocks noChangeShapeType="1"/>
          </p:cNvSpPr>
          <p:nvPr/>
        </p:nvSpPr>
        <p:spPr bwMode="auto">
          <a:xfrm flipH="1">
            <a:off x="2192338" y="374650"/>
            <a:ext cx="407987" cy="43497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924" name="Line 191"/>
          <p:cNvSpPr>
            <a:spLocks noChangeShapeType="1"/>
          </p:cNvSpPr>
          <p:nvPr/>
        </p:nvSpPr>
        <p:spPr bwMode="auto">
          <a:xfrm>
            <a:off x="2913063" y="374650"/>
            <a:ext cx="422275" cy="43497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925" name="Line 192"/>
          <p:cNvSpPr>
            <a:spLocks noChangeShapeType="1"/>
          </p:cNvSpPr>
          <p:nvPr/>
        </p:nvSpPr>
        <p:spPr bwMode="auto">
          <a:xfrm>
            <a:off x="2178050" y="1190625"/>
            <a:ext cx="354013" cy="31273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926" name="Line 193"/>
          <p:cNvSpPr>
            <a:spLocks noChangeShapeType="1"/>
          </p:cNvSpPr>
          <p:nvPr/>
        </p:nvSpPr>
        <p:spPr bwMode="auto">
          <a:xfrm flipH="1">
            <a:off x="2967038" y="1163638"/>
            <a:ext cx="327025" cy="3397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927" name="Oval 194"/>
          <p:cNvSpPr>
            <a:spLocks noChangeArrowheads="1"/>
          </p:cNvSpPr>
          <p:nvPr/>
        </p:nvSpPr>
        <p:spPr bwMode="auto">
          <a:xfrm>
            <a:off x="4311650" y="382270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33928" name="Oval 195"/>
          <p:cNvSpPr>
            <a:spLocks noChangeArrowheads="1"/>
          </p:cNvSpPr>
          <p:nvPr/>
        </p:nvSpPr>
        <p:spPr bwMode="auto">
          <a:xfrm>
            <a:off x="4310063" y="492601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33929" name="Oval 196"/>
          <p:cNvSpPr>
            <a:spLocks noChangeArrowheads="1"/>
          </p:cNvSpPr>
          <p:nvPr/>
        </p:nvSpPr>
        <p:spPr bwMode="auto">
          <a:xfrm>
            <a:off x="4325938" y="594518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33930" name="Line 197"/>
          <p:cNvSpPr>
            <a:spLocks noChangeShapeType="1"/>
          </p:cNvSpPr>
          <p:nvPr/>
        </p:nvSpPr>
        <p:spPr bwMode="auto">
          <a:xfrm>
            <a:off x="4548188" y="5381625"/>
            <a:ext cx="0" cy="5588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931" name="Line 198"/>
          <p:cNvSpPr>
            <a:spLocks noChangeShapeType="1"/>
          </p:cNvSpPr>
          <p:nvPr/>
        </p:nvSpPr>
        <p:spPr bwMode="auto">
          <a:xfrm flipV="1">
            <a:off x="4725988" y="4211638"/>
            <a:ext cx="0" cy="7207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932" name="Line 199"/>
          <p:cNvSpPr>
            <a:spLocks noChangeShapeType="1"/>
          </p:cNvSpPr>
          <p:nvPr/>
        </p:nvSpPr>
        <p:spPr bwMode="auto">
          <a:xfrm>
            <a:off x="4357688" y="4238625"/>
            <a:ext cx="0" cy="73501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" name="Group 200"/>
          <p:cNvGrpSpPr>
            <a:grpSpLocks/>
          </p:cNvGrpSpPr>
          <p:nvPr/>
        </p:nvGrpSpPr>
        <p:grpSpPr bwMode="auto">
          <a:xfrm>
            <a:off x="5521325" y="0"/>
            <a:ext cx="2854325" cy="2143125"/>
            <a:chOff x="636" y="409"/>
            <a:chExt cx="3240" cy="3461"/>
          </a:xfrm>
        </p:grpSpPr>
        <p:sp>
          <p:nvSpPr>
            <p:cNvPr id="33935" name="Oval 201"/>
            <p:cNvSpPr>
              <a:spLocks noChangeArrowheads="1"/>
            </p:cNvSpPr>
            <p:nvPr/>
          </p:nvSpPr>
          <p:spPr bwMode="auto">
            <a:xfrm>
              <a:off x="1920" y="1332"/>
              <a:ext cx="420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TW" sz="2400" b="1">
                  <a:solidFill>
                    <a:schemeClr val="tx2"/>
                  </a:solidFill>
                  <a:ea typeface="PMingLiU" pitchFamily="18" charset="-120"/>
                </a:rPr>
                <a:t>1</a:t>
              </a:r>
            </a:p>
          </p:txBody>
        </p:sp>
        <p:sp>
          <p:nvSpPr>
            <p:cNvPr id="33936" name="Line 202"/>
            <p:cNvSpPr>
              <a:spLocks noChangeShapeType="1"/>
            </p:cNvSpPr>
            <p:nvPr/>
          </p:nvSpPr>
          <p:spPr bwMode="auto">
            <a:xfrm>
              <a:off x="1728" y="948"/>
              <a:ext cx="300" cy="4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937" name="Line 203"/>
            <p:cNvSpPr>
              <a:spLocks noChangeShapeType="1"/>
            </p:cNvSpPr>
            <p:nvPr/>
          </p:nvSpPr>
          <p:spPr bwMode="auto">
            <a:xfrm flipH="1">
              <a:off x="1812" y="1704"/>
              <a:ext cx="204" cy="4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3827" name="Group 204"/>
            <p:cNvGrpSpPr>
              <a:grpSpLocks/>
            </p:cNvGrpSpPr>
            <p:nvPr/>
          </p:nvGrpSpPr>
          <p:grpSpPr bwMode="auto">
            <a:xfrm>
              <a:off x="864" y="612"/>
              <a:ext cx="960" cy="1824"/>
              <a:chOff x="852" y="1116"/>
              <a:chExt cx="960" cy="1824"/>
            </a:xfrm>
          </p:grpSpPr>
          <p:sp>
            <p:nvSpPr>
              <p:cNvPr id="33950" name="Oval 205"/>
              <p:cNvSpPr>
                <a:spLocks noChangeArrowheads="1"/>
              </p:cNvSpPr>
              <p:nvPr/>
            </p:nvSpPr>
            <p:spPr bwMode="auto">
              <a:xfrm>
                <a:off x="1356" y="1116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2"/>
                    </a:solidFill>
                    <a:ea typeface="PMingLiU" pitchFamily="18" charset="-120"/>
                  </a:rPr>
                  <a:t>0</a:t>
                </a:r>
              </a:p>
            </p:txBody>
          </p:sp>
          <p:sp>
            <p:nvSpPr>
              <p:cNvPr id="33951" name="Oval 206"/>
              <p:cNvSpPr>
                <a:spLocks noChangeArrowheads="1"/>
              </p:cNvSpPr>
              <p:nvPr/>
            </p:nvSpPr>
            <p:spPr bwMode="auto">
              <a:xfrm>
                <a:off x="852" y="1848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2"/>
                    </a:solidFill>
                    <a:ea typeface="PMingLiU" pitchFamily="18" charset="-120"/>
                  </a:rPr>
                  <a:t>2</a:t>
                </a:r>
              </a:p>
            </p:txBody>
          </p:sp>
          <p:sp>
            <p:nvSpPr>
              <p:cNvPr id="33952" name="Oval 207"/>
              <p:cNvSpPr>
                <a:spLocks noChangeArrowheads="1"/>
              </p:cNvSpPr>
              <p:nvPr/>
            </p:nvSpPr>
            <p:spPr bwMode="auto">
              <a:xfrm>
                <a:off x="1392" y="2532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2"/>
                    </a:solidFill>
                    <a:ea typeface="PMingLiU" pitchFamily="18" charset="-120"/>
                  </a:rPr>
                  <a:t>3</a:t>
                </a:r>
              </a:p>
            </p:txBody>
          </p:sp>
          <p:sp>
            <p:nvSpPr>
              <p:cNvPr id="33953" name="Line 208"/>
              <p:cNvSpPr>
                <a:spLocks noChangeShapeType="1"/>
              </p:cNvSpPr>
              <p:nvPr/>
            </p:nvSpPr>
            <p:spPr bwMode="auto">
              <a:xfrm flipH="1">
                <a:off x="1140" y="1476"/>
                <a:ext cx="276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954" name="Line 209"/>
              <p:cNvSpPr>
                <a:spLocks noChangeShapeType="1"/>
              </p:cNvSpPr>
              <p:nvPr/>
            </p:nvSpPr>
            <p:spPr bwMode="auto">
              <a:xfrm>
                <a:off x="1176" y="2220"/>
                <a:ext cx="216" cy="4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30" name="Group 210"/>
            <p:cNvGrpSpPr>
              <a:grpSpLocks/>
            </p:cNvGrpSpPr>
            <p:nvPr/>
          </p:nvGrpSpPr>
          <p:grpSpPr bwMode="auto">
            <a:xfrm>
              <a:off x="2916" y="576"/>
              <a:ext cx="960" cy="1824"/>
              <a:chOff x="852" y="1116"/>
              <a:chExt cx="960" cy="1824"/>
            </a:xfrm>
          </p:grpSpPr>
          <p:sp>
            <p:nvSpPr>
              <p:cNvPr id="33945" name="Oval 211"/>
              <p:cNvSpPr>
                <a:spLocks noChangeArrowheads="1"/>
              </p:cNvSpPr>
              <p:nvPr/>
            </p:nvSpPr>
            <p:spPr bwMode="auto">
              <a:xfrm>
                <a:off x="1356" y="1116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2"/>
                    </a:solidFill>
                    <a:ea typeface="PMingLiU" pitchFamily="18" charset="-120"/>
                  </a:rPr>
                  <a:t>4</a:t>
                </a:r>
              </a:p>
            </p:txBody>
          </p:sp>
          <p:sp>
            <p:nvSpPr>
              <p:cNvPr id="33946" name="Oval 212"/>
              <p:cNvSpPr>
                <a:spLocks noChangeArrowheads="1"/>
              </p:cNvSpPr>
              <p:nvPr/>
            </p:nvSpPr>
            <p:spPr bwMode="auto">
              <a:xfrm>
                <a:off x="852" y="1848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2"/>
                    </a:solidFill>
                    <a:ea typeface="PMingLiU" pitchFamily="18" charset="-120"/>
                  </a:rPr>
                  <a:t>5</a:t>
                </a:r>
              </a:p>
            </p:txBody>
          </p:sp>
          <p:sp>
            <p:nvSpPr>
              <p:cNvPr id="33947" name="Oval 213"/>
              <p:cNvSpPr>
                <a:spLocks noChangeArrowheads="1"/>
              </p:cNvSpPr>
              <p:nvPr/>
            </p:nvSpPr>
            <p:spPr bwMode="auto">
              <a:xfrm>
                <a:off x="1392" y="2532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2"/>
                    </a:solidFill>
                    <a:ea typeface="PMingLiU" pitchFamily="18" charset="-120"/>
                  </a:rPr>
                  <a:t>6</a:t>
                </a:r>
              </a:p>
            </p:txBody>
          </p:sp>
          <p:sp>
            <p:nvSpPr>
              <p:cNvPr id="33948" name="Line 214"/>
              <p:cNvSpPr>
                <a:spLocks noChangeShapeType="1"/>
              </p:cNvSpPr>
              <p:nvPr/>
            </p:nvSpPr>
            <p:spPr bwMode="auto">
              <a:xfrm flipH="1">
                <a:off x="1140" y="1476"/>
                <a:ext cx="276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949" name="Line 215"/>
              <p:cNvSpPr>
                <a:spLocks noChangeShapeType="1"/>
              </p:cNvSpPr>
              <p:nvPr/>
            </p:nvSpPr>
            <p:spPr bwMode="auto">
              <a:xfrm>
                <a:off x="1176" y="2220"/>
                <a:ext cx="216" cy="4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3940" name="Oval 216"/>
            <p:cNvSpPr>
              <a:spLocks noChangeArrowheads="1"/>
            </p:cNvSpPr>
            <p:nvPr/>
          </p:nvSpPr>
          <p:spPr bwMode="auto">
            <a:xfrm>
              <a:off x="2988" y="2940"/>
              <a:ext cx="420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TW" sz="2400" b="1">
                  <a:solidFill>
                    <a:schemeClr val="tx2"/>
                  </a:solidFill>
                  <a:ea typeface="PMingLiU" pitchFamily="18" charset="-120"/>
                </a:rPr>
                <a:t>7</a:t>
              </a:r>
            </a:p>
          </p:txBody>
        </p:sp>
        <p:sp>
          <p:nvSpPr>
            <p:cNvPr id="33941" name="Line 217"/>
            <p:cNvSpPr>
              <a:spLocks noChangeShapeType="1"/>
            </p:cNvSpPr>
            <p:nvPr/>
          </p:nvSpPr>
          <p:spPr bwMode="auto">
            <a:xfrm flipH="1">
              <a:off x="3312" y="2388"/>
              <a:ext cx="252" cy="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942" name="Text Box 218"/>
            <p:cNvSpPr txBox="1">
              <a:spLocks noChangeArrowheads="1"/>
            </p:cNvSpPr>
            <p:nvPr/>
          </p:nvSpPr>
          <p:spPr bwMode="auto">
            <a:xfrm>
              <a:off x="636" y="409"/>
              <a:ext cx="209" cy="7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 sz="2400" b="1">
                <a:solidFill>
                  <a:schemeClr val="tx2"/>
                </a:solidFill>
                <a:ea typeface="PMingLiU" pitchFamily="18" charset="-120"/>
              </a:endParaRPr>
            </a:p>
          </p:txBody>
        </p:sp>
        <p:sp>
          <p:nvSpPr>
            <p:cNvPr id="33943" name="Rectangle 219"/>
            <p:cNvSpPr>
              <a:spLocks noChangeArrowheads="1"/>
            </p:cNvSpPr>
            <p:nvPr/>
          </p:nvSpPr>
          <p:spPr bwMode="auto">
            <a:xfrm>
              <a:off x="2726" y="494"/>
              <a:ext cx="209" cy="5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 sz="2400" b="1" baseline="-25000">
                <a:solidFill>
                  <a:schemeClr val="tx2"/>
                </a:solidFill>
                <a:ea typeface="PMingLiU" pitchFamily="18" charset="-120"/>
              </a:endParaRPr>
            </a:p>
          </p:txBody>
        </p:sp>
        <p:sp>
          <p:nvSpPr>
            <p:cNvPr id="33944" name="Rectangle 220"/>
            <p:cNvSpPr>
              <a:spLocks noChangeArrowheads="1"/>
            </p:cNvSpPr>
            <p:nvPr/>
          </p:nvSpPr>
          <p:spPr bwMode="auto">
            <a:xfrm>
              <a:off x="2525" y="3327"/>
              <a:ext cx="209" cy="5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 sz="2400" b="1" baseline="-25000">
                <a:solidFill>
                  <a:schemeClr val="tx2"/>
                </a:solidFill>
                <a:ea typeface="PMingLiU" pitchFamily="18" charset="-120"/>
              </a:endParaRPr>
            </a:p>
          </p:txBody>
        </p:sp>
      </p:grpSp>
      <p:sp>
        <p:nvSpPr>
          <p:cNvPr id="33934" name="Text Box 221"/>
          <p:cNvSpPr txBox="1">
            <a:spLocks noChangeArrowheads="1"/>
          </p:cNvSpPr>
          <p:nvPr/>
        </p:nvSpPr>
        <p:spPr bwMode="auto">
          <a:xfrm>
            <a:off x="428625" y="6461125"/>
            <a:ext cx="87153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An undirected graph with </a:t>
            </a:r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n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vertices and </a:t>
            </a:r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e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edges ==&gt; </a:t>
            </a:r>
            <a:r>
              <a:rPr lang="en-US" altLang="zh-TW">
                <a:ea typeface="PMingLiU" pitchFamily="18" charset="-120"/>
              </a:rPr>
              <a:t>n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head nodes and </a:t>
            </a:r>
            <a:r>
              <a:rPr lang="en-US" altLang="zh-TW">
                <a:ea typeface="PMingLiU" pitchFamily="18" charset="-120"/>
              </a:rPr>
              <a:t>2e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 list nodes</a:t>
            </a:r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728663" y="271463"/>
            <a:ext cx="7772400" cy="1143000"/>
          </a:xfrm>
        </p:spPr>
        <p:txBody>
          <a:bodyPr/>
          <a:lstStyle/>
          <a:p>
            <a:pPr algn="ctr" eaLnBrk="1" hangingPunct="1"/>
            <a:r>
              <a:rPr lang="en-US" altLang="zh-TW" smtClean="0">
                <a:solidFill>
                  <a:schemeClr val="tx1"/>
                </a:solidFill>
              </a:rPr>
              <a:t>Interesting Operations</a:t>
            </a:r>
          </a:p>
        </p:txBody>
      </p:sp>
      <p:sp>
        <p:nvSpPr>
          <p:cNvPr id="34819" name="Text Box 6"/>
          <p:cNvSpPr txBox="1">
            <a:spLocks noChangeArrowheads="1"/>
          </p:cNvSpPr>
          <p:nvPr/>
        </p:nvSpPr>
        <p:spPr bwMode="auto">
          <a:xfrm>
            <a:off x="1085850" y="1457325"/>
            <a:ext cx="8058150" cy="4840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degree of a vertex in an undirected graph</a:t>
            </a:r>
          </a:p>
          <a:p>
            <a:pPr lvl="1" algn="l">
              <a:spcBef>
                <a:spcPct val="20000"/>
              </a:spcBef>
              <a:buFontTx/>
              <a:buChar char="–"/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# of nodes in adjacency list</a:t>
            </a: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# of edges in a graph</a:t>
            </a:r>
          </a:p>
          <a:p>
            <a:pPr lvl="1" algn="l">
              <a:spcBef>
                <a:spcPct val="20000"/>
              </a:spcBef>
              <a:buFontTx/>
              <a:buChar char="–"/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determined in O(n+e)</a:t>
            </a: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out-degree of a vertex in a directed graph</a:t>
            </a:r>
          </a:p>
          <a:p>
            <a:pPr lvl="1" algn="l">
              <a:spcBef>
                <a:spcPct val="20000"/>
              </a:spcBef>
              <a:buFontTx/>
              <a:buChar char="–"/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# of nodes in its adjacency list</a:t>
            </a: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in-degree of a vertex in a directed graph</a:t>
            </a:r>
          </a:p>
          <a:p>
            <a:pPr lvl="1" algn="l">
              <a:spcBef>
                <a:spcPct val="20000"/>
              </a:spcBef>
              <a:buFontTx/>
              <a:buChar char="–"/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traverse the whole data structure</a:t>
            </a:r>
          </a:p>
          <a:p>
            <a:pPr>
              <a:spcBef>
                <a:spcPct val="50000"/>
              </a:spcBef>
            </a:pPr>
            <a:endParaRPr lang="en-US" altLang="zh-TW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1027"/>
          <p:cNvGraphicFramePr>
            <a:graphicFrameLocks/>
          </p:cNvGraphicFramePr>
          <p:nvPr/>
        </p:nvGraphicFramePr>
        <p:xfrm>
          <a:off x="1298575" y="2895600"/>
          <a:ext cx="6738938" cy="3662363"/>
        </p:xfrm>
        <a:graphic>
          <a:graphicData uri="http://schemas.openxmlformats.org/presentationml/2006/ole">
            <p:oleObj spid="_x0000_s4098" name="文件" r:id="rId3" imgW="6754680" imgH="3678120" progId="Word.Document.6">
              <p:embed/>
            </p:oleObj>
          </a:graphicData>
        </a:graphic>
      </p:graphicFrame>
      <p:grpSp>
        <p:nvGrpSpPr>
          <p:cNvPr id="2" name="Group 1028"/>
          <p:cNvGrpSpPr>
            <a:grpSpLocks/>
          </p:cNvGrpSpPr>
          <p:nvPr/>
        </p:nvGrpSpPr>
        <p:grpSpPr bwMode="auto">
          <a:xfrm>
            <a:off x="777875" y="954088"/>
            <a:ext cx="2854325" cy="2143125"/>
            <a:chOff x="636" y="409"/>
            <a:chExt cx="3240" cy="3461"/>
          </a:xfrm>
        </p:grpSpPr>
        <p:sp>
          <p:nvSpPr>
            <p:cNvPr id="4110" name="Oval 1029"/>
            <p:cNvSpPr>
              <a:spLocks noChangeArrowheads="1"/>
            </p:cNvSpPr>
            <p:nvPr/>
          </p:nvSpPr>
          <p:spPr bwMode="auto">
            <a:xfrm>
              <a:off x="1920" y="1332"/>
              <a:ext cx="420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TW" sz="2400" b="1">
                  <a:solidFill>
                    <a:schemeClr val="tx2"/>
                  </a:solidFill>
                  <a:ea typeface="PMingLiU" pitchFamily="18" charset="-120"/>
                </a:rPr>
                <a:t>1</a:t>
              </a:r>
            </a:p>
          </p:txBody>
        </p:sp>
        <p:sp>
          <p:nvSpPr>
            <p:cNvPr id="4111" name="Line 1030"/>
            <p:cNvSpPr>
              <a:spLocks noChangeShapeType="1"/>
            </p:cNvSpPr>
            <p:nvPr/>
          </p:nvSpPr>
          <p:spPr bwMode="auto">
            <a:xfrm>
              <a:off x="1728" y="948"/>
              <a:ext cx="300" cy="4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2" name="Line 1031"/>
            <p:cNvSpPr>
              <a:spLocks noChangeShapeType="1"/>
            </p:cNvSpPr>
            <p:nvPr/>
          </p:nvSpPr>
          <p:spPr bwMode="auto">
            <a:xfrm flipH="1">
              <a:off x="1812" y="1704"/>
              <a:ext cx="204" cy="4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1032"/>
            <p:cNvGrpSpPr>
              <a:grpSpLocks/>
            </p:cNvGrpSpPr>
            <p:nvPr/>
          </p:nvGrpSpPr>
          <p:grpSpPr bwMode="auto">
            <a:xfrm>
              <a:off x="864" y="612"/>
              <a:ext cx="960" cy="1824"/>
              <a:chOff x="852" y="1116"/>
              <a:chExt cx="960" cy="1824"/>
            </a:xfrm>
          </p:grpSpPr>
          <p:sp>
            <p:nvSpPr>
              <p:cNvPr id="4125" name="Oval 1033"/>
              <p:cNvSpPr>
                <a:spLocks noChangeArrowheads="1"/>
              </p:cNvSpPr>
              <p:nvPr/>
            </p:nvSpPr>
            <p:spPr bwMode="auto">
              <a:xfrm>
                <a:off x="1356" y="1116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2"/>
                    </a:solidFill>
                    <a:ea typeface="PMingLiU" pitchFamily="18" charset="-120"/>
                  </a:rPr>
                  <a:t>0</a:t>
                </a:r>
              </a:p>
            </p:txBody>
          </p:sp>
          <p:sp>
            <p:nvSpPr>
              <p:cNvPr id="4126" name="Oval 1034"/>
              <p:cNvSpPr>
                <a:spLocks noChangeArrowheads="1"/>
              </p:cNvSpPr>
              <p:nvPr/>
            </p:nvSpPr>
            <p:spPr bwMode="auto">
              <a:xfrm>
                <a:off x="852" y="1848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2"/>
                    </a:solidFill>
                    <a:ea typeface="PMingLiU" pitchFamily="18" charset="-120"/>
                  </a:rPr>
                  <a:t>2</a:t>
                </a:r>
              </a:p>
            </p:txBody>
          </p:sp>
          <p:sp>
            <p:nvSpPr>
              <p:cNvPr id="4127" name="Oval 1035"/>
              <p:cNvSpPr>
                <a:spLocks noChangeArrowheads="1"/>
              </p:cNvSpPr>
              <p:nvPr/>
            </p:nvSpPr>
            <p:spPr bwMode="auto">
              <a:xfrm>
                <a:off x="1392" y="2532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2"/>
                    </a:solidFill>
                    <a:ea typeface="PMingLiU" pitchFamily="18" charset="-120"/>
                  </a:rPr>
                  <a:t>3</a:t>
                </a:r>
              </a:p>
            </p:txBody>
          </p:sp>
          <p:sp>
            <p:nvSpPr>
              <p:cNvPr id="4128" name="Line 1036"/>
              <p:cNvSpPr>
                <a:spLocks noChangeShapeType="1"/>
              </p:cNvSpPr>
              <p:nvPr/>
            </p:nvSpPr>
            <p:spPr bwMode="auto">
              <a:xfrm flipH="1">
                <a:off x="1140" y="1476"/>
                <a:ext cx="276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29" name="Line 1037"/>
              <p:cNvSpPr>
                <a:spLocks noChangeShapeType="1"/>
              </p:cNvSpPr>
              <p:nvPr/>
            </p:nvSpPr>
            <p:spPr bwMode="auto">
              <a:xfrm>
                <a:off x="1176" y="2220"/>
                <a:ext cx="216" cy="4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1038"/>
            <p:cNvGrpSpPr>
              <a:grpSpLocks/>
            </p:cNvGrpSpPr>
            <p:nvPr/>
          </p:nvGrpSpPr>
          <p:grpSpPr bwMode="auto">
            <a:xfrm>
              <a:off x="2916" y="576"/>
              <a:ext cx="960" cy="1824"/>
              <a:chOff x="852" y="1116"/>
              <a:chExt cx="960" cy="1824"/>
            </a:xfrm>
          </p:grpSpPr>
          <p:sp>
            <p:nvSpPr>
              <p:cNvPr id="4120" name="Oval 1039"/>
              <p:cNvSpPr>
                <a:spLocks noChangeArrowheads="1"/>
              </p:cNvSpPr>
              <p:nvPr/>
            </p:nvSpPr>
            <p:spPr bwMode="auto">
              <a:xfrm>
                <a:off x="1356" y="1116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2"/>
                    </a:solidFill>
                    <a:ea typeface="PMingLiU" pitchFamily="18" charset="-120"/>
                  </a:rPr>
                  <a:t>4</a:t>
                </a:r>
              </a:p>
            </p:txBody>
          </p:sp>
          <p:sp>
            <p:nvSpPr>
              <p:cNvPr id="4121" name="Oval 1040"/>
              <p:cNvSpPr>
                <a:spLocks noChangeArrowheads="1"/>
              </p:cNvSpPr>
              <p:nvPr/>
            </p:nvSpPr>
            <p:spPr bwMode="auto">
              <a:xfrm>
                <a:off x="852" y="1848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2"/>
                    </a:solidFill>
                    <a:ea typeface="PMingLiU" pitchFamily="18" charset="-120"/>
                  </a:rPr>
                  <a:t>5</a:t>
                </a:r>
              </a:p>
            </p:txBody>
          </p:sp>
          <p:sp>
            <p:nvSpPr>
              <p:cNvPr id="4122" name="Oval 1041"/>
              <p:cNvSpPr>
                <a:spLocks noChangeArrowheads="1"/>
              </p:cNvSpPr>
              <p:nvPr/>
            </p:nvSpPr>
            <p:spPr bwMode="auto">
              <a:xfrm>
                <a:off x="1392" y="2532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 b="1">
                    <a:solidFill>
                      <a:schemeClr val="tx2"/>
                    </a:solidFill>
                    <a:ea typeface="PMingLiU" pitchFamily="18" charset="-120"/>
                  </a:rPr>
                  <a:t>6</a:t>
                </a:r>
              </a:p>
            </p:txBody>
          </p:sp>
          <p:sp>
            <p:nvSpPr>
              <p:cNvPr id="4123" name="Line 1042"/>
              <p:cNvSpPr>
                <a:spLocks noChangeShapeType="1"/>
              </p:cNvSpPr>
              <p:nvPr/>
            </p:nvSpPr>
            <p:spPr bwMode="auto">
              <a:xfrm flipH="1">
                <a:off x="1140" y="1476"/>
                <a:ext cx="276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24" name="Line 1043"/>
              <p:cNvSpPr>
                <a:spLocks noChangeShapeType="1"/>
              </p:cNvSpPr>
              <p:nvPr/>
            </p:nvSpPr>
            <p:spPr bwMode="auto">
              <a:xfrm>
                <a:off x="1176" y="2220"/>
                <a:ext cx="216" cy="4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115" name="Oval 1044"/>
            <p:cNvSpPr>
              <a:spLocks noChangeArrowheads="1"/>
            </p:cNvSpPr>
            <p:nvPr/>
          </p:nvSpPr>
          <p:spPr bwMode="auto">
            <a:xfrm>
              <a:off x="2988" y="2940"/>
              <a:ext cx="420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TW" sz="2400" b="1">
                  <a:solidFill>
                    <a:schemeClr val="tx2"/>
                  </a:solidFill>
                  <a:ea typeface="PMingLiU" pitchFamily="18" charset="-120"/>
                </a:rPr>
                <a:t>7</a:t>
              </a:r>
            </a:p>
          </p:txBody>
        </p:sp>
        <p:sp>
          <p:nvSpPr>
            <p:cNvPr id="4116" name="Line 1045"/>
            <p:cNvSpPr>
              <a:spLocks noChangeShapeType="1"/>
            </p:cNvSpPr>
            <p:nvPr/>
          </p:nvSpPr>
          <p:spPr bwMode="auto">
            <a:xfrm flipH="1">
              <a:off x="3312" y="2388"/>
              <a:ext cx="252" cy="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7" name="Text Box 1046"/>
            <p:cNvSpPr txBox="1">
              <a:spLocks noChangeArrowheads="1"/>
            </p:cNvSpPr>
            <p:nvPr/>
          </p:nvSpPr>
          <p:spPr bwMode="auto">
            <a:xfrm>
              <a:off x="636" y="409"/>
              <a:ext cx="209" cy="7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 sz="2400" b="1">
                <a:solidFill>
                  <a:schemeClr val="tx2"/>
                </a:solidFill>
                <a:ea typeface="PMingLiU" pitchFamily="18" charset="-120"/>
              </a:endParaRPr>
            </a:p>
          </p:txBody>
        </p:sp>
        <p:sp>
          <p:nvSpPr>
            <p:cNvPr id="4118" name="Rectangle 1047"/>
            <p:cNvSpPr>
              <a:spLocks noChangeArrowheads="1"/>
            </p:cNvSpPr>
            <p:nvPr/>
          </p:nvSpPr>
          <p:spPr bwMode="auto">
            <a:xfrm>
              <a:off x="2726" y="494"/>
              <a:ext cx="209" cy="5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 sz="2400" b="1" baseline="-25000">
                <a:solidFill>
                  <a:schemeClr val="tx2"/>
                </a:solidFill>
                <a:ea typeface="PMingLiU" pitchFamily="18" charset="-120"/>
              </a:endParaRPr>
            </a:p>
          </p:txBody>
        </p:sp>
        <p:sp>
          <p:nvSpPr>
            <p:cNvPr id="4119" name="Rectangle 1048"/>
            <p:cNvSpPr>
              <a:spLocks noChangeArrowheads="1"/>
            </p:cNvSpPr>
            <p:nvPr/>
          </p:nvSpPr>
          <p:spPr bwMode="auto">
            <a:xfrm>
              <a:off x="2525" y="3327"/>
              <a:ext cx="209" cy="5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 sz="2400" b="1" baseline="-25000">
                <a:solidFill>
                  <a:schemeClr val="tx2"/>
                </a:solidFill>
                <a:ea typeface="PMingLiU" pitchFamily="18" charset="-120"/>
              </a:endParaRPr>
            </a:p>
          </p:txBody>
        </p:sp>
      </p:grpSp>
      <p:sp>
        <p:nvSpPr>
          <p:cNvPr id="4100" name="Text Box 1049"/>
          <p:cNvSpPr txBox="1">
            <a:spLocks noChangeArrowheads="1"/>
          </p:cNvSpPr>
          <p:nvPr/>
        </p:nvSpPr>
        <p:spPr bwMode="auto">
          <a:xfrm>
            <a:off x="3146425" y="330517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ea typeface="PMingLiU" pitchFamily="18" charset="-120"/>
              </a:rPr>
              <a:t>0</a:t>
            </a:r>
          </a:p>
        </p:txBody>
      </p:sp>
      <p:sp>
        <p:nvSpPr>
          <p:cNvPr id="4101" name="Text Box 1050"/>
          <p:cNvSpPr txBox="1">
            <a:spLocks noChangeArrowheads="1"/>
          </p:cNvSpPr>
          <p:nvPr/>
        </p:nvSpPr>
        <p:spPr bwMode="auto">
          <a:xfrm>
            <a:off x="3146425" y="413226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ea typeface="PMingLiU" pitchFamily="18" charset="-120"/>
              </a:rPr>
              <a:t>1</a:t>
            </a:r>
          </a:p>
        </p:txBody>
      </p:sp>
      <p:sp>
        <p:nvSpPr>
          <p:cNvPr id="4102" name="Text Box 1051"/>
          <p:cNvSpPr txBox="1">
            <a:spLocks noChangeArrowheads="1"/>
          </p:cNvSpPr>
          <p:nvPr/>
        </p:nvSpPr>
        <p:spPr bwMode="auto">
          <a:xfrm>
            <a:off x="3148013" y="491013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ea typeface="PMingLiU" pitchFamily="18" charset="-120"/>
              </a:rPr>
              <a:t>2</a:t>
            </a:r>
          </a:p>
        </p:txBody>
      </p:sp>
      <p:sp>
        <p:nvSpPr>
          <p:cNvPr id="4103" name="Text Box 1052"/>
          <p:cNvSpPr txBox="1">
            <a:spLocks noChangeArrowheads="1"/>
          </p:cNvSpPr>
          <p:nvPr/>
        </p:nvSpPr>
        <p:spPr bwMode="auto">
          <a:xfrm>
            <a:off x="3111500" y="570388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ea typeface="PMingLiU" pitchFamily="18" charset="-120"/>
              </a:rPr>
              <a:t>3</a:t>
            </a:r>
          </a:p>
        </p:txBody>
      </p:sp>
      <p:sp>
        <p:nvSpPr>
          <p:cNvPr id="4104" name="Text Box 1053"/>
          <p:cNvSpPr txBox="1">
            <a:spLocks noChangeArrowheads="1"/>
          </p:cNvSpPr>
          <p:nvPr/>
        </p:nvSpPr>
        <p:spPr bwMode="auto">
          <a:xfrm>
            <a:off x="5370513" y="327025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ea typeface="PMingLiU" pitchFamily="18" charset="-120"/>
              </a:rPr>
              <a:t>4</a:t>
            </a:r>
          </a:p>
        </p:txBody>
      </p:sp>
      <p:sp>
        <p:nvSpPr>
          <p:cNvPr id="4105" name="Text Box 1054"/>
          <p:cNvSpPr txBox="1">
            <a:spLocks noChangeArrowheads="1"/>
          </p:cNvSpPr>
          <p:nvPr/>
        </p:nvSpPr>
        <p:spPr bwMode="auto">
          <a:xfrm>
            <a:off x="5370513" y="367506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ea typeface="PMingLiU" pitchFamily="18" charset="-120"/>
              </a:rPr>
              <a:t>5</a:t>
            </a:r>
          </a:p>
        </p:txBody>
      </p:sp>
      <p:sp>
        <p:nvSpPr>
          <p:cNvPr id="4106" name="Text Box 1055"/>
          <p:cNvSpPr txBox="1">
            <a:spLocks noChangeArrowheads="1"/>
          </p:cNvSpPr>
          <p:nvPr/>
        </p:nvSpPr>
        <p:spPr bwMode="auto">
          <a:xfrm>
            <a:off x="5387975" y="445135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ea typeface="PMingLiU" pitchFamily="18" charset="-120"/>
              </a:rPr>
              <a:t>6</a:t>
            </a:r>
          </a:p>
        </p:txBody>
      </p:sp>
      <p:sp>
        <p:nvSpPr>
          <p:cNvPr id="4107" name="Text Box 1056"/>
          <p:cNvSpPr txBox="1">
            <a:spLocks noChangeArrowheads="1"/>
          </p:cNvSpPr>
          <p:nvPr/>
        </p:nvSpPr>
        <p:spPr bwMode="auto">
          <a:xfrm>
            <a:off x="5387975" y="526256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ea typeface="PMingLiU" pitchFamily="18" charset="-120"/>
              </a:rPr>
              <a:t>7</a:t>
            </a:r>
          </a:p>
        </p:txBody>
      </p:sp>
      <p:sp>
        <p:nvSpPr>
          <p:cNvPr id="4108" name="Text Box 1057"/>
          <p:cNvSpPr txBox="1">
            <a:spLocks noChangeArrowheads="1"/>
          </p:cNvSpPr>
          <p:nvPr/>
        </p:nvSpPr>
        <p:spPr bwMode="auto">
          <a:xfrm>
            <a:off x="3857625" y="1296988"/>
            <a:ext cx="5040313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node[0] … node[n-1]: starting point for vertices</a:t>
            </a:r>
          </a:p>
          <a:p>
            <a:pPr algn="l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node[n]: n+2e+1</a:t>
            </a:r>
          </a:p>
          <a:p>
            <a:pPr algn="l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node[n+1] … node[n+2e]: head node of edge</a:t>
            </a:r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4109" name="Rectangle 1058"/>
          <p:cNvSpPr>
            <a:spLocks noGrp="1" noChangeArrowheads="1"/>
          </p:cNvSpPr>
          <p:nvPr>
            <p:ph type="title" idx="4294967295"/>
          </p:nvPr>
        </p:nvSpPr>
        <p:spPr>
          <a:xfrm>
            <a:off x="568325" y="185738"/>
            <a:ext cx="7772400" cy="814387"/>
          </a:xfrm>
        </p:spPr>
        <p:txBody>
          <a:bodyPr/>
          <a:lstStyle/>
          <a:p>
            <a:pPr algn="ctr" eaLnBrk="1" hangingPunct="1"/>
            <a:r>
              <a:rPr lang="en-US" altLang="zh-TW" sz="3200" smtClean="0"/>
              <a:t>Compact Representation</a:t>
            </a:r>
            <a:endParaRPr lang="en-US" altLang="zh-TW" smtClean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>
            <a:spLocks noChangeArrowheads="1"/>
          </p:cNvSpPr>
          <p:nvPr/>
        </p:nvSpPr>
        <p:spPr bwMode="auto">
          <a:xfrm>
            <a:off x="3081338" y="2363788"/>
            <a:ext cx="762000" cy="173355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TW">
                <a:solidFill>
                  <a:schemeClr val="tx1"/>
                </a:solidFill>
                <a:ea typeface="PMingLiU" pitchFamily="18" charset="-120"/>
                <a:sym typeface="Wingdings" pitchFamily="2" charset="2"/>
              </a:rPr>
              <a:t></a:t>
            </a:r>
          </a:p>
          <a:p>
            <a:endParaRPr lang="en-US" altLang="zh-TW">
              <a:solidFill>
                <a:schemeClr val="tx1"/>
              </a:solidFill>
              <a:ea typeface="PMingLiU" pitchFamily="18" charset="-120"/>
              <a:sym typeface="Wingdings" pitchFamily="2" charset="2"/>
            </a:endParaRPr>
          </a:p>
          <a:p>
            <a:r>
              <a:rPr lang="en-US" altLang="zh-TW">
                <a:solidFill>
                  <a:schemeClr val="tx1"/>
                </a:solidFill>
                <a:ea typeface="PMingLiU" pitchFamily="18" charset="-120"/>
                <a:sym typeface="Wingdings" pitchFamily="2" charset="2"/>
              </a:rPr>
              <a:t></a:t>
            </a:r>
          </a:p>
          <a:p>
            <a:endParaRPr lang="en-US" altLang="zh-TW">
              <a:solidFill>
                <a:schemeClr val="tx1"/>
              </a:solidFill>
              <a:ea typeface="PMingLiU" pitchFamily="18" charset="-120"/>
              <a:sym typeface="Wingdings" pitchFamily="2" charset="2"/>
            </a:endParaRPr>
          </a:p>
          <a:p>
            <a:r>
              <a:rPr lang="en-US" altLang="zh-TW">
                <a:solidFill>
                  <a:schemeClr val="tx1"/>
                </a:solidFill>
                <a:ea typeface="PMingLiU" pitchFamily="18" charset="-120"/>
                <a:sym typeface="Wingdings" pitchFamily="2" charset="2"/>
              </a:rPr>
              <a:t></a:t>
            </a:r>
            <a:endParaRPr lang="en-US" altLang="zh-TW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35843" name="Line 4"/>
          <p:cNvSpPr>
            <a:spLocks noChangeShapeType="1"/>
          </p:cNvSpPr>
          <p:nvPr/>
        </p:nvSpPr>
        <p:spPr bwMode="auto">
          <a:xfrm>
            <a:off x="3081338" y="2935288"/>
            <a:ext cx="781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844" name="Line 5"/>
          <p:cNvSpPr>
            <a:spLocks noChangeShapeType="1"/>
          </p:cNvSpPr>
          <p:nvPr/>
        </p:nvSpPr>
        <p:spPr bwMode="auto">
          <a:xfrm>
            <a:off x="3081338" y="3525838"/>
            <a:ext cx="781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845" name="Line 7"/>
          <p:cNvSpPr>
            <a:spLocks noChangeShapeType="1"/>
          </p:cNvSpPr>
          <p:nvPr/>
        </p:nvSpPr>
        <p:spPr bwMode="auto">
          <a:xfrm>
            <a:off x="3462338" y="259238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846" name="Line 8"/>
          <p:cNvSpPr>
            <a:spLocks noChangeShapeType="1"/>
          </p:cNvSpPr>
          <p:nvPr/>
        </p:nvSpPr>
        <p:spPr bwMode="auto">
          <a:xfrm>
            <a:off x="3481388" y="322103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847" name="Line 9"/>
          <p:cNvSpPr>
            <a:spLocks noChangeShapeType="1"/>
          </p:cNvSpPr>
          <p:nvPr/>
        </p:nvSpPr>
        <p:spPr bwMode="auto">
          <a:xfrm>
            <a:off x="3481388" y="381158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848" name="Text Box 10"/>
          <p:cNvSpPr txBox="1">
            <a:spLocks noChangeArrowheads="1"/>
          </p:cNvSpPr>
          <p:nvPr/>
        </p:nvSpPr>
        <p:spPr bwMode="auto">
          <a:xfrm>
            <a:off x="2532063" y="2478088"/>
            <a:ext cx="35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  </a:t>
            </a:r>
          </a:p>
        </p:txBody>
      </p:sp>
      <p:sp>
        <p:nvSpPr>
          <p:cNvPr id="35849" name="Text Box 11"/>
          <p:cNvSpPr txBox="1">
            <a:spLocks noChangeArrowheads="1"/>
          </p:cNvSpPr>
          <p:nvPr/>
        </p:nvSpPr>
        <p:spPr bwMode="auto">
          <a:xfrm>
            <a:off x="2646363" y="2470150"/>
            <a:ext cx="311150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0</a:t>
            </a:r>
          </a:p>
          <a:p>
            <a:pPr algn="l"/>
            <a:endParaRPr lang="en-US" altLang="zh-TW">
              <a:solidFill>
                <a:schemeClr val="tx1"/>
              </a:solidFill>
              <a:ea typeface="PMingLiU" pitchFamily="18" charset="-120"/>
            </a:endParaRPr>
          </a:p>
          <a:p>
            <a:pPr algn="l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</a:t>
            </a:r>
          </a:p>
          <a:p>
            <a:pPr algn="l"/>
            <a:endParaRPr lang="en-US" altLang="zh-TW">
              <a:solidFill>
                <a:schemeClr val="tx1"/>
              </a:solidFill>
              <a:ea typeface="PMingLiU" pitchFamily="18" charset="-120"/>
            </a:endParaRPr>
          </a:p>
          <a:p>
            <a:pPr algn="l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2</a:t>
            </a:r>
            <a:endParaRPr lang="en-US" altLang="zh-TW" sz="2400" b="1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35850" name="Rectangle 12"/>
          <p:cNvSpPr>
            <a:spLocks noChangeArrowheads="1"/>
          </p:cNvSpPr>
          <p:nvPr/>
        </p:nvSpPr>
        <p:spPr bwMode="auto">
          <a:xfrm>
            <a:off x="4376738" y="2363788"/>
            <a:ext cx="1809750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1       NULL</a:t>
            </a:r>
          </a:p>
        </p:txBody>
      </p:sp>
      <p:sp>
        <p:nvSpPr>
          <p:cNvPr id="35851" name="Line 13"/>
          <p:cNvSpPr>
            <a:spLocks noChangeShapeType="1"/>
          </p:cNvSpPr>
          <p:nvPr/>
        </p:nvSpPr>
        <p:spPr bwMode="auto">
          <a:xfrm>
            <a:off x="4948238" y="2363788"/>
            <a:ext cx="0" cy="476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852" name="Rectangle 15"/>
          <p:cNvSpPr>
            <a:spLocks noChangeArrowheads="1"/>
          </p:cNvSpPr>
          <p:nvPr/>
        </p:nvSpPr>
        <p:spPr bwMode="auto">
          <a:xfrm>
            <a:off x="4376738" y="3011488"/>
            <a:ext cx="1809750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0       NULL</a:t>
            </a:r>
          </a:p>
        </p:txBody>
      </p:sp>
      <p:sp>
        <p:nvSpPr>
          <p:cNvPr id="35853" name="Rectangle 16"/>
          <p:cNvSpPr>
            <a:spLocks noChangeArrowheads="1"/>
          </p:cNvSpPr>
          <p:nvPr/>
        </p:nvSpPr>
        <p:spPr bwMode="auto">
          <a:xfrm>
            <a:off x="4357688" y="3621088"/>
            <a:ext cx="1809750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1       NULL</a:t>
            </a:r>
          </a:p>
        </p:txBody>
      </p:sp>
      <p:sp>
        <p:nvSpPr>
          <p:cNvPr id="35854" name="Line 17"/>
          <p:cNvSpPr>
            <a:spLocks noChangeShapeType="1"/>
          </p:cNvSpPr>
          <p:nvPr/>
        </p:nvSpPr>
        <p:spPr bwMode="auto">
          <a:xfrm>
            <a:off x="4948238" y="3621088"/>
            <a:ext cx="0" cy="476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855" name="Line 18"/>
          <p:cNvSpPr>
            <a:spLocks noChangeShapeType="1"/>
          </p:cNvSpPr>
          <p:nvPr/>
        </p:nvSpPr>
        <p:spPr bwMode="auto">
          <a:xfrm>
            <a:off x="4948238" y="3011488"/>
            <a:ext cx="0" cy="476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856" name="Oval 19"/>
          <p:cNvSpPr>
            <a:spLocks noChangeArrowheads="1"/>
          </p:cNvSpPr>
          <p:nvPr/>
        </p:nvSpPr>
        <p:spPr bwMode="auto">
          <a:xfrm>
            <a:off x="1541463" y="19367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35857" name="Oval 20"/>
          <p:cNvSpPr>
            <a:spLocks noChangeArrowheads="1"/>
          </p:cNvSpPr>
          <p:nvPr/>
        </p:nvSpPr>
        <p:spPr bwMode="auto">
          <a:xfrm>
            <a:off x="1539875" y="304006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35858" name="Oval 21"/>
          <p:cNvSpPr>
            <a:spLocks noChangeArrowheads="1"/>
          </p:cNvSpPr>
          <p:nvPr/>
        </p:nvSpPr>
        <p:spPr bwMode="auto">
          <a:xfrm>
            <a:off x="1555750" y="405923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35859" name="Line 22"/>
          <p:cNvSpPr>
            <a:spLocks noChangeShapeType="1"/>
          </p:cNvSpPr>
          <p:nvPr/>
        </p:nvSpPr>
        <p:spPr bwMode="auto">
          <a:xfrm>
            <a:off x="1778000" y="3495675"/>
            <a:ext cx="0" cy="5588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860" name="Line 23"/>
          <p:cNvSpPr>
            <a:spLocks noChangeShapeType="1"/>
          </p:cNvSpPr>
          <p:nvPr/>
        </p:nvSpPr>
        <p:spPr bwMode="auto">
          <a:xfrm flipV="1">
            <a:off x="1955800" y="2325688"/>
            <a:ext cx="0" cy="7207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861" name="Line 24"/>
          <p:cNvSpPr>
            <a:spLocks noChangeShapeType="1"/>
          </p:cNvSpPr>
          <p:nvPr/>
        </p:nvSpPr>
        <p:spPr bwMode="auto">
          <a:xfrm>
            <a:off x="1587500" y="2352675"/>
            <a:ext cx="0" cy="73501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862" name="Text Box 25"/>
          <p:cNvSpPr txBox="1">
            <a:spLocks noChangeArrowheads="1"/>
          </p:cNvSpPr>
          <p:nvPr/>
        </p:nvSpPr>
        <p:spPr bwMode="auto">
          <a:xfrm>
            <a:off x="1806575" y="5010150"/>
            <a:ext cx="5772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Determine in-degree of a vertex in a fast way.</a:t>
            </a:r>
          </a:p>
        </p:txBody>
      </p:sp>
      <p:sp>
        <p:nvSpPr>
          <p:cNvPr id="35863" name="Rectangle 26"/>
          <p:cNvSpPr>
            <a:spLocks noGrp="1" noChangeArrowheads="1"/>
          </p:cNvSpPr>
          <p:nvPr>
            <p:ph type="title" idx="4294967295"/>
          </p:nvPr>
        </p:nvSpPr>
        <p:spPr>
          <a:xfrm>
            <a:off x="354013" y="306388"/>
            <a:ext cx="7772400" cy="828675"/>
          </a:xfrm>
        </p:spPr>
        <p:txBody>
          <a:bodyPr/>
          <a:lstStyle/>
          <a:p>
            <a:pPr algn="ctr" eaLnBrk="1" hangingPunct="1"/>
            <a:r>
              <a:rPr lang="en-US" altLang="zh-TW" sz="2400" b="1" smtClean="0">
                <a:solidFill>
                  <a:schemeClr val="tx1"/>
                </a:solidFill>
              </a:rPr>
              <a:t>Figure 6.10: </a:t>
            </a:r>
            <a:r>
              <a:rPr lang="en-US" altLang="zh-TW" sz="2400" smtClean="0">
                <a:solidFill>
                  <a:schemeClr val="tx1"/>
                </a:solidFill>
              </a:rPr>
              <a:t>Inverse adjacency list for G</a:t>
            </a:r>
            <a:r>
              <a:rPr lang="en-US" altLang="zh-TW" sz="2400" baseline="-25000" smtClean="0">
                <a:solidFill>
                  <a:schemeClr val="tx1"/>
                </a:solidFill>
              </a:rPr>
              <a:t>3</a:t>
            </a:r>
            <a:endParaRPr lang="en-US" altLang="zh-TW" smtClean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066800" y="2781300"/>
            <a:ext cx="7219950" cy="609600"/>
            <a:chOff x="336" y="1740"/>
            <a:chExt cx="4548" cy="384"/>
          </a:xfrm>
        </p:grpSpPr>
        <p:sp>
          <p:nvSpPr>
            <p:cNvPr id="36868" name="Rectangle 4"/>
            <p:cNvSpPr>
              <a:spLocks noChangeArrowheads="1"/>
            </p:cNvSpPr>
            <p:nvPr/>
          </p:nvSpPr>
          <p:spPr bwMode="auto">
            <a:xfrm>
              <a:off x="336" y="1740"/>
              <a:ext cx="4548" cy="3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 altLang="zh-TW" sz="2400">
                  <a:solidFill>
                    <a:schemeClr val="tx1"/>
                  </a:solidFill>
                  <a:ea typeface="PMingLiU" pitchFamily="18" charset="-120"/>
                </a:rPr>
                <a:t> tail       head      column link for head    row link for tail</a:t>
              </a:r>
            </a:p>
          </p:txBody>
        </p:sp>
        <p:sp>
          <p:nvSpPr>
            <p:cNvPr id="36869" name="Line 6"/>
            <p:cNvSpPr>
              <a:spLocks noChangeShapeType="1"/>
            </p:cNvSpPr>
            <p:nvPr/>
          </p:nvSpPr>
          <p:spPr bwMode="auto">
            <a:xfrm flipH="1">
              <a:off x="840" y="1740"/>
              <a:ext cx="0" cy="3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70" name="Line 7"/>
            <p:cNvSpPr>
              <a:spLocks noChangeShapeType="1"/>
            </p:cNvSpPr>
            <p:nvPr/>
          </p:nvSpPr>
          <p:spPr bwMode="auto">
            <a:xfrm>
              <a:off x="1524" y="174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71" name="Line 8"/>
            <p:cNvSpPr>
              <a:spLocks noChangeShapeType="1"/>
            </p:cNvSpPr>
            <p:nvPr/>
          </p:nvSpPr>
          <p:spPr bwMode="auto">
            <a:xfrm>
              <a:off x="3348" y="174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6867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354013" y="306388"/>
            <a:ext cx="8515350" cy="1143000"/>
          </a:xfrm>
        </p:spPr>
        <p:txBody>
          <a:bodyPr/>
          <a:lstStyle/>
          <a:p>
            <a:pPr eaLnBrk="1" hangingPunct="1"/>
            <a:r>
              <a:rPr lang="en-US" altLang="zh-TW" sz="2400" b="1" u="sng" smtClean="0">
                <a:solidFill>
                  <a:schemeClr val="tx1"/>
                </a:solidFill>
              </a:rPr>
              <a:t>Figure 6.11:</a:t>
            </a:r>
            <a:r>
              <a:rPr lang="en-US" altLang="zh-TW" sz="2400" u="sng" smtClean="0">
                <a:solidFill>
                  <a:schemeClr val="tx1"/>
                </a:solidFill>
              </a:rPr>
              <a:t> Alternate node structure for adjacency lists (p.267)</a:t>
            </a:r>
            <a:endParaRPr lang="en-US" altLang="zh-TW" smtClean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8"/>
          <p:cNvGrpSpPr>
            <a:grpSpLocks/>
          </p:cNvGrpSpPr>
          <p:nvPr/>
        </p:nvGrpSpPr>
        <p:grpSpPr bwMode="auto">
          <a:xfrm>
            <a:off x="992188" y="1143000"/>
            <a:ext cx="7562850" cy="3505200"/>
            <a:chOff x="192" y="828"/>
            <a:chExt cx="5376" cy="2280"/>
          </a:xfrm>
        </p:grpSpPr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1668" y="840"/>
              <a:ext cx="1116" cy="264"/>
              <a:chOff x="1200" y="840"/>
              <a:chExt cx="1296" cy="276"/>
            </a:xfrm>
          </p:grpSpPr>
          <p:sp>
            <p:nvSpPr>
              <p:cNvPr id="5170" name="Rectangle 3"/>
              <p:cNvSpPr>
                <a:spLocks noChangeArrowheads="1"/>
              </p:cNvSpPr>
              <p:nvPr/>
            </p:nvSpPr>
            <p:spPr bwMode="auto">
              <a:xfrm>
                <a:off x="1200" y="840"/>
                <a:ext cx="1296" cy="264"/>
              </a:xfrm>
              <a:prstGeom prst="rect">
                <a:avLst/>
              </a:prstGeom>
              <a:solidFill>
                <a:srgbClr val="33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71" name="Rectangle 4"/>
              <p:cNvSpPr>
                <a:spLocks noChangeArrowheads="1"/>
              </p:cNvSpPr>
              <p:nvPr/>
            </p:nvSpPr>
            <p:spPr bwMode="auto">
              <a:xfrm>
                <a:off x="1476" y="840"/>
                <a:ext cx="696" cy="26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  0</a:t>
                </a:r>
              </a:p>
            </p:txBody>
          </p:sp>
          <p:sp>
            <p:nvSpPr>
              <p:cNvPr id="5172" name="Line 5"/>
              <p:cNvSpPr>
                <a:spLocks noChangeShapeType="1"/>
              </p:cNvSpPr>
              <p:nvPr/>
            </p:nvSpPr>
            <p:spPr bwMode="auto">
              <a:xfrm>
                <a:off x="1836" y="852"/>
                <a:ext cx="0" cy="2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2976" y="840"/>
              <a:ext cx="1116" cy="264"/>
              <a:chOff x="1200" y="840"/>
              <a:chExt cx="1296" cy="276"/>
            </a:xfrm>
          </p:grpSpPr>
          <p:sp>
            <p:nvSpPr>
              <p:cNvPr id="5167" name="Rectangle 9"/>
              <p:cNvSpPr>
                <a:spLocks noChangeArrowheads="1"/>
              </p:cNvSpPr>
              <p:nvPr/>
            </p:nvSpPr>
            <p:spPr bwMode="auto">
              <a:xfrm>
                <a:off x="1200" y="840"/>
                <a:ext cx="1296" cy="264"/>
              </a:xfrm>
              <a:prstGeom prst="rect">
                <a:avLst/>
              </a:prstGeom>
              <a:solidFill>
                <a:srgbClr val="33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68" name="Rectangle 10"/>
              <p:cNvSpPr>
                <a:spLocks noChangeArrowheads="1"/>
              </p:cNvSpPr>
              <p:nvPr/>
            </p:nvSpPr>
            <p:spPr bwMode="auto">
              <a:xfrm>
                <a:off x="1476" y="840"/>
                <a:ext cx="696" cy="26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 1</a:t>
                </a:r>
              </a:p>
            </p:txBody>
          </p:sp>
          <p:sp>
            <p:nvSpPr>
              <p:cNvPr id="5169" name="Line 11"/>
              <p:cNvSpPr>
                <a:spLocks noChangeShapeType="1"/>
              </p:cNvSpPr>
              <p:nvPr/>
            </p:nvSpPr>
            <p:spPr bwMode="auto">
              <a:xfrm>
                <a:off x="1836" y="852"/>
                <a:ext cx="0" cy="2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12"/>
            <p:cNvGrpSpPr>
              <a:grpSpLocks/>
            </p:cNvGrpSpPr>
            <p:nvPr/>
          </p:nvGrpSpPr>
          <p:grpSpPr bwMode="auto">
            <a:xfrm>
              <a:off x="4320" y="828"/>
              <a:ext cx="1032" cy="276"/>
              <a:chOff x="1200" y="840"/>
              <a:chExt cx="1296" cy="276"/>
            </a:xfrm>
          </p:grpSpPr>
          <p:sp>
            <p:nvSpPr>
              <p:cNvPr id="5164" name="Rectangle 13"/>
              <p:cNvSpPr>
                <a:spLocks noChangeArrowheads="1"/>
              </p:cNvSpPr>
              <p:nvPr/>
            </p:nvSpPr>
            <p:spPr bwMode="auto">
              <a:xfrm>
                <a:off x="1200" y="840"/>
                <a:ext cx="1296" cy="264"/>
              </a:xfrm>
              <a:prstGeom prst="rect">
                <a:avLst/>
              </a:prstGeom>
              <a:solidFill>
                <a:srgbClr val="33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65" name="Rectangle 14"/>
              <p:cNvSpPr>
                <a:spLocks noChangeArrowheads="1"/>
              </p:cNvSpPr>
              <p:nvPr/>
            </p:nvSpPr>
            <p:spPr bwMode="auto">
              <a:xfrm>
                <a:off x="1476" y="840"/>
                <a:ext cx="696" cy="26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  2</a:t>
                </a:r>
              </a:p>
            </p:txBody>
          </p:sp>
          <p:sp>
            <p:nvSpPr>
              <p:cNvPr id="5166" name="Line 15"/>
              <p:cNvSpPr>
                <a:spLocks noChangeShapeType="1"/>
              </p:cNvSpPr>
              <p:nvPr/>
            </p:nvSpPr>
            <p:spPr bwMode="auto">
              <a:xfrm>
                <a:off x="1836" y="852"/>
                <a:ext cx="0" cy="2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30"/>
            <p:cNvGrpSpPr>
              <a:grpSpLocks/>
            </p:cNvGrpSpPr>
            <p:nvPr/>
          </p:nvGrpSpPr>
          <p:grpSpPr bwMode="auto">
            <a:xfrm>
              <a:off x="192" y="2820"/>
              <a:ext cx="1176" cy="288"/>
              <a:chOff x="192" y="2820"/>
              <a:chExt cx="1176" cy="288"/>
            </a:xfrm>
          </p:grpSpPr>
          <p:sp>
            <p:nvSpPr>
              <p:cNvPr id="5161" name="Rectangle 27"/>
              <p:cNvSpPr>
                <a:spLocks noChangeArrowheads="1"/>
              </p:cNvSpPr>
              <p:nvPr/>
            </p:nvSpPr>
            <p:spPr bwMode="auto">
              <a:xfrm>
                <a:off x="192" y="2820"/>
                <a:ext cx="1176" cy="27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2            </a:t>
                </a:r>
                <a:r>
                  <a:rPr lang="en-US" altLang="zh-TW" sz="1400">
                    <a:solidFill>
                      <a:schemeClr val="tx1"/>
                    </a:solidFill>
                    <a:ea typeface="PMingLiU" pitchFamily="18" charset="-120"/>
                  </a:rPr>
                  <a:t>NULL</a:t>
                </a:r>
                <a:r>
                  <a:rPr lang="en-US" altLang="zh-TW" sz="1400" b="1">
                    <a:solidFill>
                      <a:schemeClr val="tx1"/>
                    </a:solidFill>
                    <a:ea typeface="PMingLiU" pitchFamily="18" charset="-120"/>
                  </a:rPr>
                  <a:t>  </a:t>
                </a:r>
              </a:p>
            </p:txBody>
          </p:sp>
          <p:sp>
            <p:nvSpPr>
              <p:cNvPr id="5162" name="Rectangle 28"/>
              <p:cNvSpPr>
                <a:spLocks noChangeArrowheads="1"/>
              </p:cNvSpPr>
              <p:nvPr/>
            </p:nvSpPr>
            <p:spPr bwMode="auto">
              <a:xfrm>
                <a:off x="442" y="2820"/>
                <a:ext cx="512" cy="275"/>
              </a:xfrm>
              <a:prstGeom prst="rect">
                <a:avLst/>
              </a:prstGeom>
              <a:solidFill>
                <a:srgbClr val="33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  </a:t>
                </a:r>
              </a:p>
            </p:txBody>
          </p:sp>
          <p:sp>
            <p:nvSpPr>
              <p:cNvPr id="5163" name="Line 29"/>
              <p:cNvSpPr>
                <a:spLocks noChangeShapeType="1"/>
              </p:cNvSpPr>
              <p:nvPr/>
            </p:nvSpPr>
            <p:spPr bwMode="auto">
              <a:xfrm>
                <a:off x="709" y="2833"/>
                <a:ext cx="0" cy="2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31"/>
            <p:cNvGrpSpPr>
              <a:grpSpLocks/>
            </p:cNvGrpSpPr>
            <p:nvPr/>
          </p:nvGrpSpPr>
          <p:grpSpPr bwMode="auto">
            <a:xfrm>
              <a:off x="204" y="2076"/>
              <a:ext cx="1176" cy="288"/>
              <a:chOff x="192" y="2820"/>
              <a:chExt cx="1176" cy="288"/>
            </a:xfrm>
          </p:grpSpPr>
          <p:sp>
            <p:nvSpPr>
              <p:cNvPr id="5158" name="Rectangle 32"/>
              <p:cNvSpPr>
                <a:spLocks noChangeArrowheads="1"/>
              </p:cNvSpPr>
              <p:nvPr/>
            </p:nvSpPr>
            <p:spPr bwMode="auto">
              <a:xfrm>
                <a:off x="192" y="2820"/>
                <a:ext cx="1176" cy="27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1</a:t>
                </a:r>
              </a:p>
            </p:txBody>
          </p:sp>
          <p:sp>
            <p:nvSpPr>
              <p:cNvPr id="5159" name="Rectangle 33"/>
              <p:cNvSpPr>
                <a:spLocks noChangeArrowheads="1"/>
              </p:cNvSpPr>
              <p:nvPr/>
            </p:nvSpPr>
            <p:spPr bwMode="auto">
              <a:xfrm>
                <a:off x="442" y="2820"/>
                <a:ext cx="512" cy="275"/>
              </a:xfrm>
              <a:prstGeom prst="rect">
                <a:avLst/>
              </a:prstGeom>
              <a:solidFill>
                <a:srgbClr val="33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  </a:t>
                </a:r>
              </a:p>
            </p:txBody>
          </p:sp>
          <p:sp>
            <p:nvSpPr>
              <p:cNvPr id="5160" name="Line 34"/>
              <p:cNvSpPr>
                <a:spLocks noChangeShapeType="1"/>
              </p:cNvSpPr>
              <p:nvPr/>
            </p:nvSpPr>
            <p:spPr bwMode="auto">
              <a:xfrm>
                <a:off x="709" y="2833"/>
                <a:ext cx="0" cy="2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" name="Group 35"/>
            <p:cNvGrpSpPr>
              <a:grpSpLocks/>
            </p:cNvGrpSpPr>
            <p:nvPr/>
          </p:nvGrpSpPr>
          <p:grpSpPr bwMode="auto">
            <a:xfrm>
              <a:off x="204" y="1356"/>
              <a:ext cx="1176" cy="288"/>
              <a:chOff x="192" y="2820"/>
              <a:chExt cx="1176" cy="288"/>
            </a:xfrm>
          </p:grpSpPr>
          <p:sp>
            <p:nvSpPr>
              <p:cNvPr id="5155" name="Rectangle 36"/>
              <p:cNvSpPr>
                <a:spLocks noChangeArrowheads="1"/>
              </p:cNvSpPr>
              <p:nvPr/>
            </p:nvSpPr>
            <p:spPr bwMode="auto">
              <a:xfrm>
                <a:off x="192" y="2820"/>
                <a:ext cx="1176" cy="27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0               </a:t>
                </a:r>
              </a:p>
            </p:txBody>
          </p:sp>
          <p:sp>
            <p:nvSpPr>
              <p:cNvPr id="5156" name="Rectangle 37"/>
              <p:cNvSpPr>
                <a:spLocks noChangeArrowheads="1"/>
              </p:cNvSpPr>
              <p:nvPr/>
            </p:nvSpPr>
            <p:spPr bwMode="auto">
              <a:xfrm>
                <a:off x="442" y="2820"/>
                <a:ext cx="512" cy="275"/>
              </a:xfrm>
              <a:prstGeom prst="rect">
                <a:avLst/>
              </a:prstGeom>
              <a:solidFill>
                <a:srgbClr val="33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  </a:t>
                </a:r>
              </a:p>
            </p:txBody>
          </p:sp>
          <p:sp>
            <p:nvSpPr>
              <p:cNvPr id="5157" name="Line 38"/>
              <p:cNvSpPr>
                <a:spLocks noChangeShapeType="1"/>
              </p:cNvSpPr>
              <p:nvPr/>
            </p:nvSpPr>
            <p:spPr bwMode="auto">
              <a:xfrm>
                <a:off x="709" y="2833"/>
                <a:ext cx="0" cy="2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" name="Group 43"/>
            <p:cNvGrpSpPr>
              <a:grpSpLocks/>
            </p:cNvGrpSpPr>
            <p:nvPr/>
          </p:nvGrpSpPr>
          <p:grpSpPr bwMode="auto">
            <a:xfrm>
              <a:off x="1596" y="2076"/>
              <a:ext cx="1320" cy="288"/>
              <a:chOff x="1596" y="2076"/>
              <a:chExt cx="1320" cy="288"/>
            </a:xfrm>
          </p:grpSpPr>
          <p:sp>
            <p:nvSpPr>
              <p:cNvPr id="5152" name="Rectangle 40"/>
              <p:cNvSpPr>
                <a:spLocks noChangeArrowheads="1"/>
              </p:cNvSpPr>
              <p:nvPr/>
            </p:nvSpPr>
            <p:spPr bwMode="auto">
              <a:xfrm>
                <a:off x="1596" y="2076"/>
                <a:ext cx="1320" cy="27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1    0</a:t>
                </a:r>
                <a:r>
                  <a:rPr lang="en-US" altLang="zh-TW" sz="1400" b="1">
                    <a:solidFill>
                      <a:schemeClr val="tx1"/>
                    </a:solidFill>
                    <a:ea typeface="PMingLiU" pitchFamily="18" charset="-120"/>
                  </a:rPr>
                  <a:t> </a:t>
                </a:r>
                <a:r>
                  <a:rPr lang="en-US" altLang="zh-TW" sz="1400">
                    <a:solidFill>
                      <a:schemeClr val="tx1"/>
                    </a:solidFill>
                    <a:ea typeface="PMingLiU" pitchFamily="18" charset="-120"/>
                  </a:rPr>
                  <a:t>NULL</a:t>
                </a:r>
                <a:r>
                  <a:rPr lang="en-US" altLang="zh-TW" sz="1400" b="1">
                    <a:solidFill>
                      <a:schemeClr val="tx1"/>
                    </a:solidFill>
                    <a:ea typeface="PMingLiU" pitchFamily="18" charset="-120"/>
                  </a:rPr>
                  <a:t>  </a:t>
                </a:r>
                <a:endParaRPr lang="en-US" altLang="zh-TW" sz="2400" b="1">
                  <a:solidFill>
                    <a:schemeClr val="tx1"/>
                  </a:solidFill>
                  <a:ea typeface="PMingLiU" pitchFamily="18" charset="-120"/>
                </a:endParaRPr>
              </a:p>
            </p:txBody>
          </p:sp>
          <p:sp>
            <p:nvSpPr>
              <p:cNvPr id="5153" name="Rectangle 41"/>
              <p:cNvSpPr>
                <a:spLocks noChangeArrowheads="1"/>
              </p:cNvSpPr>
              <p:nvPr/>
            </p:nvSpPr>
            <p:spPr bwMode="auto">
              <a:xfrm>
                <a:off x="1846" y="2076"/>
                <a:ext cx="656" cy="27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   </a:t>
                </a:r>
              </a:p>
            </p:txBody>
          </p:sp>
          <p:sp>
            <p:nvSpPr>
              <p:cNvPr id="5154" name="Line 42"/>
              <p:cNvSpPr>
                <a:spLocks noChangeShapeType="1"/>
              </p:cNvSpPr>
              <p:nvPr/>
            </p:nvSpPr>
            <p:spPr bwMode="auto">
              <a:xfrm>
                <a:off x="2113" y="2089"/>
                <a:ext cx="0" cy="2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" name="Group 44"/>
            <p:cNvGrpSpPr>
              <a:grpSpLocks/>
            </p:cNvGrpSpPr>
            <p:nvPr/>
          </p:nvGrpSpPr>
          <p:grpSpPr bwMode="auto">
            <a:xfrm>
              <a:off x="2940" y="1392"/>
              <a:ext cx="1320" cy="288"/>
              <a:chOff x="1596" y="2076"/>
              <a:chExt cx="1320" cy="288"/>
            </a:xfrm>
          </p:grpSpPr>
          <p:sp>
            <p:nvSpPr>
              <p:cNvPr id="5149" name="Rectangle 45"/>
              <p:cNvSpPr>
                <a:spLocks noChangeArrowheads="1"/>
              </p:cNvSpPr>
              <p:nvPr/>
            </p:nvSpPr>
            <p:spPr bwMode="auto">
              <a:xfrm>
                <a:off x="1596" y="2076"/>
                <a:ext cx="1320" cy="27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0    1 </a:t>
                </a:r>
                <a:r>
                  <a:rPr lang="en-US" altLang="zh-TW" sz="1400">
                    <a:solidFill>
                      <a:schemeClr val="tx1"/>
                    </a:solidFill>
                    <a:ea typeface="PMingLiU" pitchFamily="18" charset="-120"/>
                  </a:rPr>
                  <a:t>NULL</a:t>
                </a:r>
                <a:r>
                  <a:rPr lang="en-US" altLang="zh-TW" sz="1400" b="1">
                    <a:solidFill>
                      <a:schemeClr val="tx1"/>
                    </a:solidFill>
                    <a:ea typeface="PMingLiU" pitchFamily="18" charset="-120"/>
                  </a:rPr>
                  <a:t>  </a:t>
                </a:r>
                <a:r>
                  <a:rPr lang="en-US" altLang="zh-TW" sz="1400">
                    <a:solidFill>
                      <a:schemeClr val="tx1"/>
                    </a:solidFill>
                    <a:ea typeface="PMingLiU" pitchFamily="18" charset="-120"/>
                  </a:rPr>
                  <a:t>NULL</a:t>
                </a:r>
                <a:r>
                  <a:rPr lang="en-US" altLang="zh-TW" sz="1400" b="1">
                    <a:solidFill>
                      <a:schemeClr val="tx1"/>
                    </a:solidFill>
                    <a:ea typeface="PMingLiU" pitchFamily="18" charset="-120"/>
                  </a:rPr>
                  <a:t> </a:t>
                </a:r>
              </a:p>
            </p:txBody>
          </p:sp>
          <p:sp>
            <p:nvSpPr>
              <p:cNvPr id="5150" name="Rectangle 46"/>
              <p:cNvSpPr>
                <a:spLocks noChangeArrowheads="1"/>
              </p:cNvSpPr>
              <p:nvPr/>
            </p:nvSpPr>
            <p:spPr bwMode="auto">
              <a:xfrm>
                <a:off x="1846" y="2076"/>
                <a:ext cx="656" cy="27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   </a:t>
                </a:r>
              </a:p>
            </p:txBody>
          </p:sp>
          <p:sp>
            <p:nvSpPr>
              <p:cNvPr id="5151" name="Line 47"/>
              <p:cNvSpPr>
                <a:spLocks noChangeShapeType="1"/>
              </p:cNvSpPr>
              <p:nvPr/>
            </p:nvSpPr>
            <p:spPr bwMode="auto">
              <a:xfrm>
                <a:off x="2113" y="2089"/>
                <a:ext cx="0" cy="2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" name="Group 48"/>
            <p:cNvGrpSpPr>
              <a:grpSpLocks/>
            </p:cNvGrpSpPr>
            <p:nvPr/>
          </p:nvGrpSpPr>
          <p:grpSpPr bwMode="auto">
            <a:xfrm>
              <a:off x="4248" y="2100"/>
              <a:ext cx="1320" cy="288"/>
              <a:chOff x="1596" y="2076"/>
              <a:chExt cx="1320" cy="288"/>
            </a:xfrm>
          </p:grpSpPr>
          <p:sp>
            <p:nvSpPr>
              <p:cNvPr id="5146" name="Rectangle 49"/>
              <p:cNvSpPr>
                <a:spLocks noChangeArrowheads="1"/>
              </p:cNvSpPr>
              <p:nvPr/>
            </p:nvSpPr>
            <p:spPr bwMode="auto">
              <a:xfrm>
                <a:off x="1596" y="2076"/>
                <a:ext cx="1320" cy="27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1    2 </a:t>
                </a:r>
                <a:r>
                  <a:rPr lang="en-US" altLang="zh-TW" sz="1400">
                    <a:solidFill>
                      <a:schemeClr val="tx1"/>
                    </a:solidFill>
                    <a:ea typeface="PMingLiU" pitchFamily="18" charset="-120"/>
                  </a:rPr>
                  <a:t>NULL</a:t>
                </a:r>
                <a:r>
                  <a:rPr lang="en-US" altLang="zh-TW" sz="1400" b="1">
                    <a:solidFill>
                      <a:schemeClr val="tx1"/>
                    </a:solidFill>
                    <a:ea typeface="PMingLiU" pitchFamily="18" charset="-120"/>
                  </a:rPr>
                  <a:t>  </a:t>
                </a:r>
                <a:r>
                  <a:rPr lang="en-US" altLang="zh-TW" sz="1400">
                    <a:solidFill>
                      <a:schemeClr val="tx1"/>
                    </a:solidFill>
                    <a:ea typeface="PMingLiU" pitchFamily="18" charset="-120"/>
                  </a:rPr>
                  <a:t>NULL</a:t>
                </a:r>
                <a:r>
                  <a:rPr lang="en-US" altLang="zh-TW" sz="1400" b="1">
                    <a:solidFill>
                      <a:schemeClr val="tx1"/>
                    </a:solidFill>
                    <a:ea typeface="PMingLiU" pitchFamily="18" charset="-120"/>
                  </a:rPr>
                  <a:t> </a:t>
                </a:r>
              </a:p>
            </p:txBody>
          </p:sp>
          <p:sp>
            <p:nvSpPr>
              <p:cNvPr id="5147" name="Rectangle 50"/>
              <p:cNvSpPr>
                <a:spLocks noChangeArrowheads="1"/>
              </p:cNvSpPr>
              <p:nvPr/>
            </p:nvSpPr>
            <p:spPr bwMode="auto">
              <a:xfrm>
                <a:off x="1846" y="2076"/>
                <a:ext cx="656" cy="27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</a:rPr>
                  <a:t>   </a:t>
                </a:r>
              </a:p>
            </p:txBody>
          </p:sp>
          <p:sp>
            <p:nvSpPr>
              <p:cNvPr id="5148" name="Line 51"/>
              <p:cNvSpPr>
                <a:spLocks noChangeShapeType="1"/>
              </p:cNvSpPr>
              <p:nvPr/>
            </p:nvSpPr>
            <p:spPr bwMode="auto">
              <a:xfrm>
                <a:off x="2113" y="2089"/>
                <a:ext cx="0" cy="2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140" name="Line 52"/>
            <p:cNvSpPr>
              <a:spLocks noChangeShapeType="1"/>
            </p:cNvSpPr>
            <p:nvPr/>
          </p:nvSpPr>
          <p:spPr bwMode="auto">
            <a:xfrm>
              <a:off x="1224" y="2220"/>
              <a:ext cx="3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1" name="Line 53"/>
            <p:cNvSpPr>
              <a:spLocks noChangeShapeType="1"/>
            </p:cNvSpPr>
            <p:nvPr/>
          </p:nvSpPr>
          <p:spPr bwMode="auto">
            <a:xfrm>
              <a:off x="1212" y="1488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2" name="Line 54"/>
            <p:cNvSpPr>
              <a:spLocks noChangeShapeType="1"/>
            </p:cNvSpPr>
            <p:nvPr/>
          </p:nvSpPr>
          <p:spPr bwMode="auto">
            <a:xfrm flipH="1">
              <a:off x="2364" y="996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3" name="Line 55"/>
            <p:cNvSpPr>
              <a:spLocks noChangeShapeType="1"/>
            </p:cNvSpPr>
            <p:nvPr/>
          </p:nvSpPr>
          <p:spPr bwMode="auto">
            <a:xfrm>
              <a:off x="3660" y="98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4" name="Line 56"/>
            <p:cNvSpPr>
              <a:spLocks noChangeShapeType="1"/>
            </p:cNvSpPr>
            <p:nvPr/>
          </p:nvSpPr>
          <p:spPr bwMode="auto">
            <a:xfrm flipV="1">
              <a:off x="2844" y="2220"/>
              <a:ext cx="13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5" name="Line 57"/>
            <p:cNvSpPr>
              <a:spLocks noChangeShapeType="1"/>
            </p:cNvSpPr>
            <p:nvPr/>
          </p:nvSpPr>
          <p:spPr bwMode="auto">
            <a:xfrm>
              <a:off x="4980" y="996"/>
              <a:ext cx="0" cy="10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4" name="Oval 65"/>
          <p:cNvSpPr>
            <a:spLocks noChangeArrowheads="1"/>
          </p:cNvSpPr>
          <p:nvPr/>
        </p:nvSpPr>
        <p:spPr bwMode="auto">
          <a:xfrm>
            <a:off x="6956425" y="387667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5125" name="Oval 66"/>
          <p:cNvSpPr>
            <a:spLocks noChangeArrowheads="1"/>
          </p:cNvSpPr>
          <p:nvPr/>
        </p:nvSpPr>
        <p:spPr bwMode="auto">
          <a:xfrm>
            <a:off x="6954838" y="497998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5126" name="Oval 67"/>
          <p:cNvSpPr>
            <a:spLocks noChangeArrowheads="1"/>
          </p:cNvSpPr>
          <p:nvPr/>
        </p:nvSpPr>
        <p:spPr bwMode="auto">
          <a:xfrm>
            <a:off x="6970713" y="599916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5127" name="Line 68"/>
          <p:cNvSpPr>
            <a:spLocks noChangeShapeType="1"/>
          </p:cNvSpPr>
          <p:nvPr/>
        </p:nvSpPr>
        <p:spPr bwMode="auto">
          <a:xfrm>
            <a:off x="7192963" y="5435600"/>
            <a:ext cx="0" cy="5588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8" name="Line 69"/>
          <p:cNvSpPr>
            <a:spLocks noChangeShapeType="1"/>
          </p:cNvSpPr>
          <p:nvPr/>
        </p:nvSpPr>
        <p:spPr bwMode="auto">
          <a:xfrm flipV="1">
            <a:off x="7370763" y="4265613"/>
            <a:ext cx="0" cy="7207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9" name="Line 70"/>
          <p:cNvSpPr>
            <a:spLocks noChangeShapeType="1"/>
          </p:cNvSpPr>
          <p:nvPr/>
        </p:nvSpPr>
        <p:spPr bwMode="auto">
          <a:xfrm>
            <a:off x="7002463" y="4292600"/>
            <a:ext cx="0" cy="73501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2" name="Object 1024"/>
          <p:cNvGraphicFramePr>
            <a:graphicFrameLocks/>
          </p:cNvGraphicFramePr>
          <p:nvPr/>
        </p:nvGraphicFramePr>
        <p:xfrm>
          <a:off x="3759200" y="4122738"/>
          <a:ext cx="1225550" cy="1254125"/>
        </p:xfrm>
        <a:graphic>
          <a:graphicData uri="http://schemas.openxmlformats.org/presentationml/2006/ole">
            <p:oleObj spid="_x0000_s5122" name="方程式" r:id="rId3" imgW="583920" imgH="596880" progId="Equation.2">
              <p:embed/>
            </p:oleObj>
          </a:graphicData>
        </a:graphic>
      </p:graphicFrame>
      <p:sp>
        <p:nvSpPr>
          <p:cNvPr id="5130" name="Rectangle 72"/>
          <p:cNvSpPr>
            <a:spLocks noGrp="1" noChangeArrowheads="1"/>
          </p:cNvSpPr>
          <p:nvPr>
            <p:ph type="title" idx="4294967295"/>
          </p:nvPr>
        </p:nvSpPr>
        <p:spPr>
          <a:xfrm>
            <a:off x="539750" y="0"/>
            <a:ext cx="7772400" cy="842963"/>
          </a:xfrm>
        </p:spPr>
        <p:txBody>
          <a:bodyPr/>
          <a:lstStyle/>
          <a:p>
            <a:pPr eaLnBrk="1" hangingPunct="1"/>
            <a:r>
              <a:rPr lang="en-US" altLang="zh-TW" sz="2400" b="1" u="sng" smtClean="0">
                <a:solidFill>
                  <a:schemeClr val="tx1"/>
                </a:solidFill>
              </a:rPr>
              <a:t>Figure 6.12: </a:t>
            </a:r>
            <a:r>
              <a:rPr lang="en-US" altLang="zh-TW" sz="2400" u="sng" smtClean="0">
                <a:solidFill>
                  <a:schemeClr val="tx1"/>
                </a:solidFill>
              </a:rPr>
              <a:t>Orthogonal representation for graph G</a:t>
            </a:r>
            <a:r>
              <a:rPr lang="en-US" altLang="zh-TW" sz="2400" baseline="-25000" smtClean="0">
                <a:solidFill>
                  <a:schemeClr val="tx1"/>
                </a:solidFill>
              </a:rPr>
              <a:t>3</a:t>
            </a:r>
            <a:r>
              <a:rPr lang="en-US" altLang="zh-TW" sz="2400" u="sng" smtClean="0">
                <a:solidFill>
                  <a:schemeClr val="tx1"/>
                </a:solidFill>
              </a:rPr>
              <a:t>(p.268)</a:t>
            </a:r>
            <a:endParaRPr lang="en-US" altLang="zh-TW" smtClean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1106488" y="1890713"/>
            <a:ext cx="6454775" cy="533400"/>
            <a:chOff x="266" y="1020"/>
            <a:chExt cx="4066" cy="336"/>
          </a:xfrm>
        </p:grpSpPr>
        <p:sp>
          <p:nvSpPr>
            <p:cNvPr id="37946" name="Rectangle 3"/>
            <p:cNvSpPr>
              <a:spLocks noChangeArrowheads="1"/>
            </p:cNvSpPr>
            <p:nvPr/>
          </p:nvSpPr>
          <p:spPr bwMode="auto">
            <a:xfrm>
              <a:off x="516" y="1020"/>
              <a:ext cx="528" cy="336"/>
            </a:xfrm>
            <a:prstGeom prst="rect">
              <a:avLst/>
            </a:prstGeom>
            <a:solidFill>
              <a:srgbClr val="33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 altLang="zh-TW" sz="2400" b="1">
                  <a:solidFill>
                    <a:schemeClr val="tx1"/>
                  </a:solidFill>
                  <a:ea typeface="PMingLiU" pitchFamily="18" charset="-120"/>
                  <a:sym typeface="Wingdings" pitchFamily="2" charset="2"/>
                </a:rPr>
                <a:t>      </a:t>
              </a:r>
              <a:endParaRPr lang="en-US" altLang="zh-TW" sz="2400" b="1">
                <a:solidFill>
                  <a:schemeClr val="tx1"/>
                </a:solidFill>
                <a:ea typeface="PMingLiU" pitchFamily="18" charset="-120"/>
              </a:endParaRPr>
            </a:p>
          </p:txBody>
        </p:sp>
        <p:sp>
          <p:nvSpPr>
            <p:cNvPr id="37947" name="Line 8"/>
            <p:cNvSpPr>
              <a:spLocks noChangeShapeType="1"/>
            </p:cNvSpPr>
            <p:nvPr/>
          </p:nvSpPr>
          <p:spPr bwMode="auto">
            <a:xfrm>
              <a:off x="900" y="118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10"/>
            <p:cNvGrpSpPr>
              <a:grpSpLocks/>
            </p:cNvGrpSpPr>
            <p:nvPr/>
          </p:nvGrpSpPr>
          <p:grpSpPr bwMode="auto">
            <a:xfrm>
              <a:off x="1344" y="1032"/>
              <a:ext cx="1056" cy="276"/>
              <a:chOff x="1344" y="1032"/>
              <a:chExt cx="1056" cy="276"/>
            </a:xfrm>
          </p:grpSpPr>
          <p:sp>
            <p:nvSpPr>
              <p:cNvPr id="37956" name="Rectangle 5"/>
              <p:cNvSpPr>
                <a:spLocks noChangeArrowheads="1"/>
              </p:cNvSpPr>
              <p:nvPr/>
            </p:nvSpPr>
            <p:spPr bwMode="auto">
              <a:xfrm>
                <a:off x="1344" y="1032"/>
                <a:ext cx="744" cy="26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  <a:sym typeface="Wingdings" pitchFamily="2" charset="2"/>
                  </a:rPr>
                  <a:t> 3            </a:t>
                </a:r>
                <a:endParaRPr lang="en-US" altLang="zh-TW" sz="2400" b="1">
                  <a:solidFill>
                    <a:schemeClr val="tx1"/>
                  </a:solidFill>
                  <a:ea typeface="PMingLiU" pitchFamily="18" charset="-120"/>
                </a:endParaRPr>
              </a:p>
            </p:txBody>
          </p:sp>
          <p:sp>
            <p:nvSpPr>
              <p:cNvPr id="37957" name="Line 6"/>
              <p:cNvSpPr>
                <a:spLocks noChangeShapeType="1"/>
              </p:cNvSpPr>
              <p:nvPr/>
            </p:nvSpPr>
            <p:spPr bwMode="auto">
              <a:xfrm>
                <a:off x="1656" y="1032"/>
                <a:ext cx="0" cy="2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58" name="Line 9"/>
              <p:cNvSpPr>
                <a:spLocks noChangeShapeType="1"/>
              </p:cNvSpPr>
              <p:nvPr/>
            </p:nvSpPr>
            <p:spPr bwMode="auto">
              <a:xfrm>
                <a:off x="1920" y="116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7949" name="Rectangle 12"/>
            <p:cNvSpPr>
              <a:spLocks noChangeArrowheads="1"/>
            </p:cNvSpPr>
            <p:nvPr/>
          </p:nvSpPr>
          <p:spPr bwMode="auto">
            <a:xfrm>
              <a:off x="3588" y="1044"/>
              <a:ext cx="744" cy="26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 altLang="zh-TW" sz="2400" b="1">
                  <a:solidFill>
                    <a:schemeClr val="tx1"/>
                  </a:solidFill>
                  <a:ea typeface="PMingLiU" pitchFamily="18" charset="-120"/>
                  <a:sym typeface="Wingdings" pitchFamily="2" charset="2"/>
                </a:rPr>
                <a:t> 2   </a:t>
              </a:r>
              <a:r>
                <a:rPr lang="en-US" altLang="zh-TW" sz="1800">
                  <a:solidFill>
                    <a:schemeClr val="tx1"/>
                  </a:solidFill>
                  <a:ea typeface="PMingLiU" pitchFamily="18" charset="-120"/>
                  <a:sym typeface="Wingdings" pitchFamily="2" charset="2"/>
                </a:rPr>
                <a:t>NULL</a:t>
              </a:r>
              <a:r>
                <a:rPr lang="en-US" altLang="zh-TW" sz="1800" b="1">
                  <a:solidFill>
                    <a:schemeClr val="tx1"/>
                  </a:solidFill>
                  <a:ea typeface="PMingLiU" pitchFamily="18" charset="-120"/>
                  <a:sym typeface="Wingdings" pitchFamily="2" charset="2"/>
                </a:rPr>
                <a:t> </a:t>
              </a:r>
              <a:r>
                <a:rPr lang="en-US" altLang="zh-TW" b="1">
                  <a:solidFill>
                    <a:schemeClr val="tx1"/>
                  </a:solidFill>
                  <a:ea typeface="PMingLiU" pitchFamily="18" charset="-120"/>
                  <a:sym typeface="Wingdings" pitchFamily="2" charset="2"/>
                </a:rPr>
                <a:t>       </a:t>
              </a:r>
              <a:endParaRPr lang="en-US" altLang="zh-TW" b="1">
                <a:solidFill>
                  <a:schemeClr val="tx1"/>
                </a:solidFill>
                <a:ea typeface="PMingLiU" pitchFamily="18" charset="-120"/>
              </a:endParaRPr>
            </a:p>
          </p:txBody>
        </p:sp>
        <p:sp>
          <p:nvSpPr>
            <p:cNvPr id="37950" name="Line 13"/>
            <p:cNvSpPr>
              <a:spLocks noChangeShapeType="1"/>
            </p:cNvSpPr>
            <p:nvPr/>
          </p:nvSpPr>
          <p:spPr bwMode="auto">
            <a:xfrm>
              <a:off x="3900" y="1044"/>
              <a:ext cx="0" cy="2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2460" y="1032"/>
              <a:ext cx="1056" cy="276"/>
              <a:chOff x="1344" y="1032"/>
              <a:chExt cx="1056" cy="276"/>
            </a:xfrm>
          </p:grpSpPr>
          <p:sp>
            <p:nvSpPr>
              <p:cNvPr id="37953" name="Rectangle 16"/>
              <p:cNvSpPr>
                <a:spLocks noChangeArrowheads="1"/>
              </p:cNvSpPr>
              <p:nvPr/>
            </p:nvSpPr>
            <p:spPr bwMode="auto">
              <a:xfrm>
                <a:off x="1344" y="1032"/>
                <a:ext cx="744" cy="26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  <a:sym typeface="Wingdings" pitchFamily="2" charset="2"/>
                  </a:rPr>
                  <a:t> 1            </a:t>
                </a:r>
                <a:endParaRPr lang="en-US" altLang="zh-TW" sz="2400" b="1">
                  <a:solidFill>
                    <a:schemeClr val="tx1"/>
                  </a:solidFill>
                  <a:ea typeface="PMingLiU" pitchFamily="18" charset="-120"/>
                </a:endParaRPr>
              </a:p>
            </p:txBody>
          </p:sp>
          <p:sp>
            <p:nvSpPr>
              <p:cNvPr id="37954" name="Line 17"/>
              <p:cNvSpPr>
                <a:spLocks noChangeShapeType="1"/>
              </p:cNvSpPr>
              <p:nvPr/>
            </p:nvSpPr>
            <p:spPr bwMode="auto">
              <a:xfrm>
                <a:off x="1656" y="1032"/>
                <a:ext cx="0" cy="2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55" name="Line 18"/>
              <p:cNvSpPr>
                <a:spLocks noChangeShapeType="1"/>
              </p:cNvSpPr>
              <p:nvPr/>
            </p:nvSpPr>
            <p:spPr bwMode="auto">
              <a:xfrm>
                <a:off x="1920" y="116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7952" name="Text Box 19"/>
            <p:cNvSpPr txBox="1">
              <a:spLocks noChangeArrowheads="1"/>
            </p:cNvSpPr>
            <p:nvPr/>
          </p:nvSpPr>
          <p:spPr bwMode="auto">
            <a:xfrm>
              <a:off x="266" y="1044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TW" sz="2400" b="1">
                  <a:solidFill>
                    <a:schemeClr val="tx1"/>
                  </a:solidFill>
                  <a:ea typeface="PMingLiU" pitchFamily="18" charset="-120"/>
                </a:rPr>
                <a:t>0</a:t>
              </a:r>
            </a:p>
          </p:txBody>
        </p: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1106488" y="2652713"/>
            <a:ext cx="6454775" cy="533400"/>
            <a:chOff x="266" y="1020"/>
            <a:chExt cx="4066" cy="336"/>
          </a:xfrm>
        </p:grpSpPr>
        <p:sp>
          <p:nvSpPr>
            <p:cNvPr id="37933" name="Rectangle 22"/>
            <p:cNvSpPr>
              <a:spLocks noChangeArrowheads="1"/>
            </p:cNvSpPr>
            <p:nvPr/>
          </p:nvSpPr>
          <p:spPr bwMode="auto">
            <a:xfrm>
              <a:off x="516" y="1020"/>
              <a:ext cx="528" cy="336"/>
            </a:xfrm>
            <a:prstGeom prst="rect">
              <a:avLst/>
            </a:prstGeom>
            <a:solidFill>
              <a:srgbClr val="33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 altLang="zh-TW" sz="2400" b="1">
                  <a:solidFill>
                    <a:schemeClr val="tx1"/>
                  </a:solidFill>
                  <a:ea typeface="PMingLiU" pitchFamily="18" charset="-120"/>
                  <a:sym typeface="Wingdings" pitchFamily="2" charset="2"/>
                </a:rPr>
                <a:t>      </a:t>
              </a:r>
              <a:endParaRPr lang="en-US" altLang="zh-TW" sz="2400" b="1">
                <a:solidFill>
                  <a:schemeClr val="tx1"/>
                </a:solidFill>
                <a:ea typeface="PMingLiU" pitchFamily="18" charset="-120"/>
              </a:endParaRPr>
            </a:p>
          </p:txBody>
        </p:sp>
        <p:sp>
          <p:nvSpPr>
            <p:cNvPr id="37934" name="Line 23"/>
            <p:cNvSpPr>
              <a:spLocks noChangeShapeType="1"/>
            </p:cNvSpPr>
            <p:nvPr/>
          </p:nvSpPr>
          <p:spPr bwMode="auto">
            <a:xfrm>
              <a:off x="900" y="118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" name="Group 24"/>
            <p:cNvGrpSpPr>
              <a:grpSpLocks/>
            </p:cNvGrpSpPr>
            <p:nvPr/>
          </p:nvGrpSpPr>
          <p:grpSpPr bwMode="auto">
            <a:xfrm>
              <a:off x="1344" y="1032"/>
              <a:ext cx="1056" cy="276"/>
              <a:chOff x="1344" y="1032"/>
              <a:chExt cx="1056" cy="276"/>
            </a:xfrm>
          </p:grpSpPr>
          <p:sp>
            <p:nvSpPr>
              <p:cNvPr id="37943" name="Rectangle 25"/>
              <p:cNvSpPr>
                <a:spLocks noChangeArrowheads="1"/>
              </p:cNvSpPr>
              <p:nvPr/>
            </p:nvSpPr>
            <p:spPr bwMode="auto">
              <a:xfrm>
                <a:off x="1344" y="1032"/>
                <a:ext cx="744" cy="26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  <a:sym typeface="Wingdings" pitchFamily="2" charset="2"/>
                  </a:rPr>
                  <a:t> 2            </a:t>
                </a:r>
                <a:endParaRPr lang="en-US" altLang="zh-TW" sz="2400" b="1">
                  <a:solidFill>
                    <a:schemeClr val="tx1"/>
                  </a:solidFill>
                  <a:ea typeface="PMingLiU" pitchFamily="18" charset="-120"/>
                </a:endParaRPr>
              </a:p>
            </p:txBody>
          </p:sp>
          <p:sp>
            <p:nvSpPr>
              <p:cNvPr id="37944" name="Line 26"/>
              <p:cNvSpPr>
                <a:spLocks noChangeShapeType="1"/>
              </p:cNvSpPr>
              <p:nvPr/>
            </p:nvSpPr>
            <p:spPr bwMode="auto">
              <a:xfrm>
                <a:off x="1656" y="1032"/>
                <a:ext cx="0" cy="2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45" name="Line 27"/>
              <p:cNvSpPr>
                <a:spLocks noChangeShapeType="1"/>
              </p:cNvSpPr>
              <p:nvPr/>
            </p:nvSpPr>
            <p:spPr bwMode="auto">
              <a:xfrm>
                <a:off x="1920" y="116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7936" name="Rectangle 28"/>
            <p:cNvSpPr>
              <a:spLocks noChangeArrowheads="1"/>
            </p:cNvSpPr>
            <p:nvPr/>
          </p:nvSpPr>
          <p:spPr bwMode="auto">
            <a:xfrm>
              <a:off x="3588" y="1044"/>
              <a:ext cx="744" cy="26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 altLang="zh-TW" sz="2400" b="1">
                  <a:solidFill>
                    <a:schemeClr val="tx1"/>
                  </a:solidFill>
                  <a:ea typeface="PMingLiU" pitchFamily="18" charset="-120"/>
                  <a:sym typeface="Wingdings" pitchFamily="2" charset="2"/>
                </a:rPr>
                <a:t> 3   </a:t>
              </a:r>
              <a:r>
                <a:rPr lang="en-US" altLang="zh-TW" sz="1800">
                  <a:solidFill>
                    <a:schemeClr val="tx1"/>
                  </a:solidFill>
                  <a:ea typeface="PMingLiU" pitchFamily="18" charset="-120"/>
                  <a:sym typeface="Wingdings" pitchFamily="2" charset="2"/>
                </a:rPr>
                <a:t>NULL</a:t>
              </a:r>
              <a:r>
                <a:rPr lang="en-US" altLang="zh-TW" sz="1800" b="1">
                  <a:solidFill>
                    <a:schemeClr val="tx1"/>
                  </a:solidFill>
                  <a:ea typeface="PMingLiU" pitchFamily="18" charset="-120"/>
                  <a:sym typeface="Wingdings" pitchFamily="2" charset="2"/>
                </a:rPr>
                <a:t> </a:t>
              </a:r>
              <a:r>
                <a:rPr lang="en-US" altLang="zh-TW" b="1">
                  <a:solidFill>
                    <a:schemeClr val="tx1"/>
                  </a:solidFill>
                  <a:ea typeface="PMingLiU" pitchFamily="18" charset="-120"/>
                  <a:sym typeface="Wingdings" pitchFamily="2" charset="2"/>
                </a:rPr>
                <a:t>       </a:t>
              </a:r>
              <a:endParaRPr lang="en-US" altLang="zh-TW" b="1">
                <a:solidFill>
                  <a:schemeClr val="tx1"/>
                </a:solidFill>
                <a:ea typeface="PMingLiU" pitchFamily="18" charset="-120"/>
              </a:endParaRPr>
            </a:p>
          </p:txBody>
        </p:sp>
        <p:sp>
          <p:nvSpPr>
            <p:cNvPr id="37937" name="Line 29"/>
            <p:cNvSpPr>
              <a:spLocks noChangeShapeType="1"/>
            </p:cNvSpPr>
            <p:nvPr/>
          </p:nvSpPr>
          <p:spPr bwMode="auto">
            <a:xfrm>
              <a:off x="3900" y="1044"/>
              <a:ext cx="0" cy="2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" name="Group 30"/>
            <p:cNvGrpSpPr>
              <a:grpSpLocks/>
            </p:cNvGrpSpPr>
            <p:nvPr/>
          </p:nvGrpSpPr>
          <p:grpSpPr bwMode="auto">
            <a:xfrm>
              <a:off x="2460" y="1032"/>
              <a:ext cx="1056" cy="276"/>
              <a:chOff x="1344" y="1032"/>
              <a:chExt cx="1056" cy="276"/>
            </a:xfrm>
          </p:grpSpPr>
          <p:sp>
            <p:nvSpPr>
              <p:cNvPr id="37940" name="Rectangle 31"/>
              <p:cNvSpPr>
                <a:spLocks noChangeArrowheads="1"/>
              </p:cNvSpPr>
              <p:nvPr/>
            </p:nvSpPr>
            <p:spPr bwMode="auto">
              <a:xfrm>
                <a:off x="1344" y="1032"/>
                <a:ext cx="744" cy="26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  <a:sym typeface="Wingdings" pitchFamily="2" charset="2"/>
                  </a:rPr>
                  <a:t> 0            </a:t>
                </a:r>
                <a:endParaRPr lang="en-US" altLang="zh-TW" sz="2400" b="1">
                  <a:solidFill>
                    <a:schemeClr val="tx1"/>
                  </a:solidFill>
                  <a:ea typeface="PMingLiU" pitchFamily="18" charset="-120"/>
                </a:endParaRPr>
              </a:p>
            </p:txBody>
          </p:sp>
          <p:sp>
            <p:nvSpPr>
              <p:cNvPr id="37941" name="Line 32"/>
              <p:cNvSpPr>
                <a:spLocks noChangeShapeType="1"/>
              </p:cNvSpPr>
              <p:nvPr/>
            </p:nvSpPr>
            <p:spPr bwMode="auto">
              <a:xfrm>
                <a:off x="1656" y="1032"/>
                <a:ext cx="0" cy="2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42" name="Line 33"/>
              <p:cNvSpPr>
                <a:spLocks noChangeShapeType="1"/>
              </p:cNvSpPr>
              <p:nvPr/>
            </p:nvSpPr>
            <p:spPr bwMode="auto">
              <a:xfrm>
                <a:off x="1920" y="116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7939" name="Text Box 34"/>
            <p:cNvSpPr txBox="1">
              <a:spLocks noChangeArrowheads="1"/>
            </p:cNvSpPr>
            <p:nvPr/>
          </p:nvSpPr>
          <p:spPr bwMode="auto">
            <a:xfrm>
              <a:off x="266" y="1044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TW" sz="2400" b="1">
                  <a:solidFill>
                    <a:schemeClr val="tx1"/>
                  </a:solidFill>
                  <a:ea typeface="PMingLiU" pitchFamily="18" charset="-120"/>
                </a:rPr>
                <a:t>1</a:t>
              </a:r>
            </a:p>
          </p:txBody>
        </p:sp>
      </p:grpSp>
      <p:grpSp>
        <p:nvGrpSpPr>
          <p:cNvPr id="8" name="Group 35"/>
          <p:cNvGrpSpPr>
            <a:grpSpLocks/>
          </p:cNvGrpSpPr>
          <p:nvPr/>
        </p:nvGrpSpPr>
        <p:grpSpPr bwMode="auto">
          <a:xfrm>
            <a:off x="1125538" y="3433763"/>
            <a:ext cx="6454775" cy="533400"/>
            <a:chOff x="266" y="1020"/>
            <a:chExt cx="4066" cy="336"/>
          </a:xfrm>
        </p:grpSpPr>
        <p:sp>
          <p:nvSpPr>
            <p:cNvPr id="37920" name="Rectangle 36"/>
            <p:cNvSpPr>
              <a:spLocks noChangeArrowheads="1"/>
            </p:cNvSpPr>
            <p:nvPr/>
          </p:nvSpPr>
          <p:spPr bwMode="auto">
            <a:xfrm>
              <a:off x="516" y="1020"/>
              <a:ext cx="528" cy="336"/>
            </a:xfrm>
            <a:prstGeom prst="rect">
              <a:avLst/>
            </a:prstGeom>
            <a:solidFill>
              <a:srgbClr val="33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 altLang="zh-TW" sz="2400" b="1">
                  <a:solidFill>
                    <a:schemeClr val="tx1"/>
                  </a:solidFill>
                  <a:ea typeface="PMingLiU" pitchFamily="18" charset="-120"/>
                  <a:sym typeface="Wingdings" pitchFamily="2" charset="2"/>
                </a:rPr>
                <a:t>      </a:t>
              </a:r>
              <a:endParaRPr lang="en-US" altLang="zh-TW" sz="2400" b="1">
                <a:solidFill>
                  <a:schemeClr val="tx1"/>
                </a:solidFill>
                <a:ea typeface="PMingLiU" pitchFamily="18" charset="-120"/>
              </a:endParaRPr>
            </a:p>
          </p:txBody>
        </p:sp>
        <p:sp>
          <p:nvSpPr>
            <p:cNvPr id="37921" name="Line 37"/>
            <p:cNvSpPr>
              <a:spLocks noChangeShapeType="1"/>
            </p:cNvSpPr>
            <p:nvPr/>
          </p:nvSpPr>
          <p:spPr bwMode="auto">
            <a:xfrm>
              <a:off x="900" y="118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9" name="Group 38"/>
            <p:cNvGrpSpPr>
              <a:grpSpLocks/>
            </p:cNvGrpSpPr>
            <p:nvPr/>
          </p:nvGrpSpPr>
          <p:grpSpPr bwMode="auto">
            <a:xfrm>
              <a:off x="1344" y="1032"/>
              <a:ext cx="1056" cy="276"/>
              <a:chOff x="1344" y="1032"/>
              <a:chExt cx="1056" cy="276"/>
            </a:xfrm>
          </p:grpSpPr>
          <p:sp>
            <p:nvSpPr>
              <p:cNvPr id="37930" name="Rectangle 39"/>
              <p:cNvSpPr>
                <a:spLocks noChangeArrowheads="1"/>
              </p:cNvSpPr>
              <p:nvPr/>
            </p:nvSpPr>
            <p:spPr bwMode="auto">
              <a:xfrm>
                <a:off x="1344" y="1032"/>
                <a:ext cx="744" cy="26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  <a:sym typeface="Wingdings" pitchFamily="2" charset="2"/>
                  </a:rPr>
                  <a:t> 3            </a:t>
                </a:r>
                <a:endParaRPr lang="en-US" altLang="zh-TW" sz="2400" b="1">
                  <a:solidFill>
                    <a:schemeClr val="tx1"/>
                  </a:solidFill>
                  <a:ea typeface="PMingLiU" pitchFamily="18" charset="-120"/>
                </a:endParaRPr>
              </a:p>
            </p:txBody>
          </p:sp>
          <p:sp>
            <p:nvSpPr>
              <p:cNvPr id="37931" name="Line 40"/>
              <p:cNvSpPr>
                <a:spLocks noChangeShapeType="1"/>
              </p:cNvSpPr>
              <p:nvPr/>
            </p:nvSpPr>
            <p:spPr bwMode="auto">
              <a:xfrm>
                <a:off x="1656" y="1032"/>
                <a:ext cx="0" cy="2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32" name="Line 41"/>
              <p:cNvSpPr>
                <a:spLocks noChangeShapeType="1"/>
              </p:cNvSpPr>
              <p:nvPr/>
            </p:nvSpPr>
            <p:spPr bwMode="auto">
              <a:xfrm>
                <a:off x="1920" y="116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7923" name="Rectangle 42"/>
            <p:cNvSpPr>
              <a:spLocks noChangeArrowheads="1"/>
            </p:cNvSpPr>
            <p:nvPr/>
          </p:nvSpPr>
          <p:spPr bwMode="auto">
            <a:xfrm>
              <a:off x="3588" y="1044"/>
              <a:ext cx="744" cy="26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 altLang="zh-TW" sz="2400" b="1">
                  <a:solidFill>
                    <a:schemeClr val="tx1"/>
                  </a:solidFill>
                  <a:ea typeface="PMingLiU" pitchFamily="18" charset="-120"/>
                  <a:sym typeface="Wingdings" pitchFamily="2" charset="2"/>
                </a:rPr>
                <a:t> 1   </a:t>
              </a:r>
              <a:r>
                <a:rPr lang="en-US" altLang="zh-TW" sz="1800">
                  <a:solidFill>
                    <a:schemeClr val="tx1"/>
                  </a:solidFill>
                  <a:ea typeface="PMingLiU" pitchFamily="18" charset="-120"/>
                  <a:sym typeface="Wingdings" pitchFamily="2" charset="2"/>
                </a:rPr>
                <a:t>NULL</a:t>
              </a:r>
              <a:r>
                <a:rPr lang="en-US" altLang="zh-TW" sz="1800" b="1">
                  <a:solidFill>
                    <a:schemeClr val="tx1"/>
                  </a:solidFill>
                  <a:ea typeface="PMingLiU" pitchFamily="18" charset="-120"/>
                  <a:sym typeface="Wingdings" pitchFamily="2" charset="2"/>
                </a:rPr>
                <a:t> </a:t>
              </a:r>
              <a:r>
                <a:rPr lang="en-US" altLang="zh-TW" b="1">
                  <a:solidFill>
                    <a:schemeClr val="tx1"/>
                  </a:solidFill>
                  <a:ea typeface="PMingLiU" pitchFamily="18" charset="-120"/>
                  <a:sym typeface="Wingdings" pitchFamily="2" charset="2"/>
                </a:rPr>
                <a:t>       </a:t>
              </a:r>
              <a:endParaRPr lang="en-US" altLang="zh-TW" b="1">
                <a:solidFill>
                  <a:schemeClr val="tx1"/>
                </a:solidFill>
                <a:ea typeface="PMingLiU" pitchFamily="18" charset="-120"/>
              </a:endParaRPr>
            </a:p>
          </p:txBody>
        </p:sp>
        <p:sp>
          <p:nvSpPr>
            <p:cNvPr id="37924" name="Line 43"/>
            <p:cNvSpPr>
              <a:spLocks noChangeShapeType="1"/>
            </p:cNvSpPr>
            <p:nvPr/>
          </p:nvSpPr>
          <p:spPr bwMode="auto">
            <a:xfrm>
              <a:off x="3900" y="1044"/>
              <a:ext cx="0" cy="2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" name="Group 44"/>
            <p:cNvGrpSpPr>
              <a:grpSpLocks/>
            </p:cNvGrpSpPr>
            <p:nvPr/>
          </p:nvGrpSpPr>
          <p:grpSpPr bwMode="auto">
            <a:xfrm>
              <a:off x="2460" y="1032"/>
              <a:ext cx="1056" cy="276"/>
              <a:chOff x="1344" y="1032"/>
              <a:chExt cx="1056" cy="276"/>
            </a:xfrm>
          </p:grpSpPr>
          <p:sp>
            <p:nvSpPr>
              <p:cNvPr id="37927" name="Rectangle 45"/>
              <p:cNvSpPr>
                <a:spLocks noChangeArrowheads="1"/>
              </p:cNvSpPr>
              <p:nvPr/>
            </p:nvSpPr>
            <p:spPr bwMode="auto">
              <a:xfrm>
                <a:off x="1344" y="1032"/>
                <a:ext cx="744" cy="26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  <a:sym typeface="Wingdings" pitchFamily="2" charset="2"/>
                  </a:rPr>
                  <a:t> 0            </a:t>
                </a:r>
                <a:endParaRPr lang="en-US" altLang="zh-TW" sz="2400" b="1">
                  <a:solidFill>
                    <a:schemeClr val="tx1"/>
                  </a:solidFill>
                  <a:ea typeface="PMingLiU" pitchFamily="18" charset="-120"/>
                </a:endParaRPr>
              </a:p>
            </p:txBody>
          </p:sp>
          <p:sp>
            <p:nvSpPr>
              <p:cNvPr id="37928" name="Line 46"/>
              <p:cNvSpPr>
                <a:spLocks noChangeShapeType="1"/>
              </p:cNvSpPr>
              <p:nvPr/>
            </p:nvSpPr>
            <p:spPr bwMode="auto">
              <a:xfrm>
                <a:off x="1656" y="1032"/>
                <a:ext cx="0" cy="2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9" name="Line 47"/>
              <p:cNvSpPr>
                <a:spLocks noChangeShapeType="1"/>
              </p:cNvSpPr>
              <p:nvPr/>
            </p:nvSpPr>
            <p:spPr bwMode="auto">
              <a:xfrm>
                <a:off x="1920" y="116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7926" name="Text Box 48"/>
            <p:cNvSpPr txBox="1">
              <a:spLocks noChangeArrowheads="1"/>
            </p:cNvSpPr>
            <p:nvPr/>
          </p:nvSpPr>
          <p:spPr bwMode="auto">
            <a:xfrm>
              <a:off x="266" y="1044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TW" sz="2400" b="1">
                  <a:solidFill>
                    <a:schemeClr val="tx1"/>
                  </a:solidFill>
                  <a:ea typeface="PMingLiU" pitchFamily="18" charset="-120"/>
                </a:rPr>
                <a:t>2</a:t>
              </a:r>
            </a:p>
          </p:txBody>
        </p:sp>
      </p:grpSp>
      <p:grpSp>
        <p:nvGrpSpPr>
          <p:cNvPr id="11" name="Group 49"/>
          <p:cNvGrpSpPr>
            <a:grpSpLocks/>
          </p:cNvGrpSpPr>
          <p:nvPr/>
        </p:nvGrpSpPr>
        <p:grpSpPr bwMode="auto">
          <a:xfrm>
            <a:off x="1125538" y="4176713"/>
            <a:ext cx="6454775" cy="533400"/>
            <a:chOff x="266" y="1020"/>
            <a:chExt cx="4066" cy="336"/>
          </a:xfrm>
        </p:grpSpPr>
        <p:sp>
          <p:nvSpPr>
            <p:cNvPr id="37907" name="Rectangle 50"/>
            <p:cNvSpPr>
              <a:spLocks noChangeArrowheads="1"/>
            </p:cNvSpPr>
            <p:nvPr/>
          </p:nvSpPr>
          <p:spPr bwMode="auto">
            <a:xfrm>
              <a:off x="516" y="1020"/>
              <a:ext cx="528" cy="336"/>
            </a:xfrm>
            <a:prstGeom prst="rect">
              <a:avLst/>
            </a:prstGeom>
            <a:solidFill>
              <a:srgbClr val="33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 altLang="zh-TW" sz="2400" b="1">
                  <a:solidFill>
                    <a:schemeClr val="tx1"/>
                  </a:solidFill>
                  <a:ea typeface="PMingLiU" pitchFamily="18" charset="-120"/>
                  <a:sym typeface="Wingdings" pitchFamily="2" charset="2"/>
                </a:rPr>
                <a:t>      </a:t>
              </a:r>
              <a:endParaRPr lang="en-US" altLang="zh-TW" sz="2400" b="1">
                <a:solidFill>
                  <a:schemeClr val="tx1"/>
                </a:solidFill>
                <a:ea typeface="PMingLiU" pitchFamily="18" charset="-120"/>
              </a:endParaRPr>
            </a:p>
          </p:txBody>
        </p:sp>
        <p:sp>
          <p:nvSpPr>
            <p:cNvPr id="37908" name="Line 51"/>
            <p:cNvSpPr>
              <a:spLocks noChangeShapeType="1"/>
            </p:cNvSpPr>
            <p:nvPr/>
          </p:nvSpPr>
          <p:spPr bwMode="auto">
            <a:xfrm>
              <a:off x="900" y="118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" name="Group 52"/>
            <p:cNvGrpSpPr>
              <a:grpSpLocks/>
            </p:cNvGrpSpPr>
            <p:nvPr/>
          </p:nvGrpSpPr>
          <p:grpSpPr bwMode="auto">
            <a:xfrm>
              <a:off x="1344" y="1032"/>
              <a:ext cx="1056" cy="276"/>
              <a:chOff x="1344" y="1032"/>
              <a:chExt cx="1056" cy="276"/>
            </a:xfrm>
          </p:grpSpPr>
          <p:sp>
            <p:nvSpPr>
              <p:cNvPr id="37917" name="Rectangle 53"/>
              <p:cNvSpPr>
                <a:spLocks noChangeArrowheads="1"/>
              </p:cNvSpPr>
              <p:nvPr/>
            </p:nvSpPr>
            <p:spPr bwMode="auto">
              <a:xfrm>
                <a:off x="1344" y="1032"/>
                <a:ext cx="744" cy="26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  <a:sym typeface="Wingdings" pitchFamily="2" charset="2"/>
                  </a:rPr>
                  <a:t> 2            </a:t>
                </a:r>
                <a:endParaRPr lang="en-US" altLang="zh-TW" sz="2400" b="1">
                  <a:solidFill>
                    <a:schemeClr val="tx1"/>
                  </a:solidFill>
                  <a:ea typeface="PMingLiU" pitchFamily="18" charset="-120"/>
                </a:endParaRPr>
              </a:p>
            </p:txBody>
          </p:sp>
          <p:sp>
            <p:nvSpPr>
              <p:cNvPr id="37918" name="Line 54"/>
              <p:cNvSpPr>
                <a:spLocks noChangeShapeType="1"/>
              </p:cNvSpPr>
              <p:nvPr/>
            </p:nvSpPr>
            <p:spPr bwMode="auto">
              <a:xfrm>
                <a:off x="1656" y="1032"/>
                <a:ext cx="0" cy="2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19" name="Line 55"/>
              <p:cNvSpPr>
                <a:spLocks noChangeShapeType="1"/>
              </p:cNvSpPr>
              <p:nvPr/>
            </p:nvSpPr>
            <p:spPr bwMode="auto">
              <a:xfrm>
                <a:off x="1920" y="116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7910" name="Rectangle 56"/>
            <p:cNvSpPr>
              <a:spLocks noChangeArrowheads="1"/>
            </p:cNvSpPr>
            <p:nvPr/>
          </p:nvSpPr>
          <p:spPr bwMode="auto">
            <a:xfrm>
              <a:off x="3588" y="1044"/>
              <a:ext cx="744" cy="26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 altLang="zh-TW" sz="2400" b="1">
                  <a:solidFill>
                    <a:schemeClr val="tx1"/>
                  </a:solidFill>
                  <a:ea typeface="PMingLiU" pitchFamily="18" charset="-120"/>
                  <a:sym typeface="Wingdings" pitchFamily="2" charset="2"/>
                </a:rPr>
                <a:t> 0   </a:t>
              </a:r>
              <a:r>
                <a:rPr lang="en-US" altLang="zh-TW" sz="1800">
                  <a:solidFill>
                    <a:schemeClr val="tx1"/>
                  </a:solidFill>
                  <a:ea typeface="PMingLiU" pitchFamily="18" charset="-120"/>
                  <a:sym typeface="Wingdings" pitchFamily="2" charset="2"/>
                </a:rPr>
                <a:t>NULL</a:t>
              </a:r>
              <a:r>
                <a:rPr lang="en-US" altLang="zh-TW" sz="1800" b="1">
                  <a:solidFill>
                    <a:schemeClr val="tx1"/>
                  </a:solidFill>
                  <a:ea typeface="PMingLiU" pitchFamily="18" charset="-120"/>
                  <a:sym typeface="Wingdings" pitchFamily="2" charset="2"/>
                </a:rPr>
                <a:t> </a:t>
              </a:r>
              <a:r>
                <a:rPr lang="en-US" altLang="zh-TW" b="1">
                  <a:solidFill>
                    <a:schemeClr val="tx1"/>
                  </a:solidFill>
                  <a:ea typeface="PMingLiU" pitchFamily="18" charset="-120"/>
                  <a:sym typeface="Wingdings" pitchFamily="2" charset="2"/>
                </a:rPr>
                <a:t>       </a:t>
              </a:r>
              <a:endParaRPr lang="en-US" altLang="zh-TW" b="1">
                <a:solidFill>
                  <a:schemeClr val="tx1"/>
                </a:solidFill>
                <a:ea typeface="PMingLiU" pitchFamily="18" charset="-120"/>
              </a:endParaRPr>
            </a:p>
          </p:txBody>
        </p:sp>
        <p:sp>
          <p:nvSpPr>
            <p:cNvPr id="37911" name="Line 57"/>
            <p:cNvSpPr>
              <a:spLocks noChangeShapeType="1"/>
            </p:cNvSpPr>
            <p:nvPr/>
          </p:nvSpPr>
          <p:spPr bwMode="auto">
            <a:xfrm>
              <a:off x="3900" y="1044"/>
              <a:ext cx="0" cy="2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3" name="Group 58"/>
            <p:cNvGrpSpPr>
              <a:grpSpLocks/>
            </p:cNvGrpSpPr>
            <p:nvPr/>
          </p:nvGrpSpPr>
          <p:grpSpPr bwMode="auto">
            <a:xfrm>
              <a:off x="2460" y="1032"/>
              <a:ext cx="1056" cy="276"/>
              <a:chOff x="1344" y="1032"/>
              <a:chExt cx="1056" cy="276"/>
            </a:xfrm>
          </p:grpSpPr>
          <p:sp>
            <p:nvSpPr>
              <p:cNvPr id="37914" name="Rectangle 59"/>
              <p:cNvSpPr>
                <a:spLocks noChangeArrowheads="1"/>
              </p:cNvSpPr>
              <p:nvPr/>
            </p:nvSpPr>
            <p:spPr bwMode="auto">
              <a:xfrm>
                <a:off x="1344" y="1032"/>
                <a:ext cx="744" cy="26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r>
                  <a:rPr lang="en-US" altLang="zh-TW" sz="2400" b="1">
                    <a:solidFill>
                      <a:schemeClr val="tx1"/>
                    </a:solidFill>
                    <a:ea typeface="PMingLiU" pitchFamily="18" charset="-120"/>
                    <a:sym typeface="Wingdings" pitchFamily="2" charset="2"/>
                  </a:rPr>
                  <a:t> 1            </a:t>
                </a:r>
                <a:endParaRPr lang="en-US" altLang="zh-TW" sz="2400" b="1">
                  <a:solidFill>
                    <a:schemeClr val="tx1"/>
                  </a:solidFill>
                  <a:ea typeface="PMingLiU" pitchFamily="18" charset="-120"/>
                </a:endParaRPr>
              </a:p>
            </p:txBody>
          </p:sp>
          <p:sp>
            <p:nvSpPr>
              <p:cNvPr id="37915" name="Line 60"/>
              <p:cNvSpPr>
                <a:spLocks noChangeShapeType="1"/>
              </p:cNvSpPr>
              <p:nvPr/>
            </p:nvSpPr>
            <p:spPr bwMode="auto">
              <a:xfrm>
                <a:off x="1656" y="1032"/>
                <a:ext cx="0" cy="2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16" name="Line 61"/>
              <p:cNvSpPr>
                <a:spLocks noChangeShapeType="1"/>
              </p:cNvSpPr>
              <p:nvPr/>
            </p:nvSpPr>
            <p:spPr bwMode="auto">
              <a:xfrm>
                <a:off x="1920" y="116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7913" name="Text Box 62"/>
            <p:cNvSpPr txBox="1">
              <a:spLocks noChangeArrowheads="1"/>
            </p:cNvSpPr>
            <p:nvPr/>
          </p:nvSpPr>
          <p:spPr bwMode="auto">
            <a:xfrm>
              <a:off x="266" y="1044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TW" sz="2400" b="1">
                  <a:solidFill>
                    <a:schemeClr val="tx1"/>
                  </a:solidFill>
                  <a:ea typeface="PMingLiU" pitchFamily="18" charset="-120"/>
                </a:rPr>
                <a:t>3</a:t>
              </a:r>
            </a:p>
          </p:txBody>
        </p:sp>
      </p:grpSp>
      <p:sp>
        <p:nvSpPr>
          <p:cNvPr id="37894" name="Text Box 77"/>
          <p:cNvSpPr txBox="1">
            <a:spLocks noChangeArrowheads="1"/>
          </p:cNvSpPr>
          <p:nvPr/>
        </p:nvSpPr>
        <p:spPr bwMode="auto">
          <a:xfrm>
            <a:off x="1411288" y="1463675"/>
            <a:ext cx="26003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headnodes    vertax link</a:t>
            </a:r>
          </a:p>
        </p:txBody>
      </p:sp>
      <p:sp>
        <p:nvSpPr>
          <p:cNvPr id="37895" name="Text Box 78"/>
          <p:cNvSpPr txBox="1">
            <a:spLocks noChangeArrowheads="1"/>
          </p:cNvSpPr>
          <p:nvPr/>
        </p:nvSpPr>
        <p:spPr bwMode="auto">
          <a:xfrm>
            <a:off x="1465263" y="954088"/>
            <a:ext cx="3508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Order is of no significance.</a:t>
            </a:r>
          </a:p>
        </p:txBody>
      </p:sp>
      <p:sp>
        <p:nvSpPr>
          <p:cNvPr id="37896" name="Oval 79"/>
          <p:cNvSpPr>
            <a:spLocks noChangeArrowheads="1"/>
          </p:cNvSpPr>
          <p:nvPr/>
        </p:nvSpPr>
        <p:spPr bwMode="auto">
          <a:xfrm>
            <a:off x="2803525" y="481488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37897" name="Oval 80"/>
          <p:cNvSpPr>
            <a:spLocks noChangeArrowheads="1"/>
          </p:cNvSpPr>
          <p:nvPr/>
        </p:nvSpPr>
        <p:spPr bwMode="auto">
          <a:xfrm>
            <a:off x="2117725" y="557688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37898" name="Oval 81"/>
          <p:cNvSpPr>
            <a:spLocks noChangeArrowheads="1"/>
          </p:cNvSpPr>
          <p:nvPr/>
        </p:nvSpPr>
        <p:spPr bwMode="auto">
          <a:xfrm>
            <a:off x="3489325" y="557688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37899" name="Oval 82"/>
          <p:cNvSpPr>
            <a:spLocks noChangeArrowheads="1"/>
          </p:cNvSpPr>
          <p:nvPr/>
        </p:nvSpPr>
        <p:spPr bwMode="auto">
          <a:xfrm>
            <a:off x="2803525" y="618648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37900" name="Line 83"/>
          <p:cNvSpPr>
            <a:spLocks noChangeShapeType="1"/>
          </p:cNvSpPr>
          <p:nvPr/>
        </p:nvSpPr>
        <p:spPr bwMode="auto">
          <a:xfrm>
            <a:off x="3025775" y="5265738"/>
            <a:ext cx="0" cy="914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901" name="Line 84"/>
          <p:cNvSpPr>
            <a:spLocks noChangeShapeType="1"/>
          </p:cNvSpPr>
          <p:nvPr/>
        </p:nvSpPr>
        <p:spPr bwMode="auto">
          <a:xfrm>
            <a:off x="2568575" y="5799138"/>
            <a:ext cx="9144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902" name="Line 85"/>
          <p:cNvSpPr>
            <a:spLocks noChangeShapeType="1"/>
          </p:cNvSpPr>
          <p:nvPr/>
        </p:nvSpPr>
        <p:spPr bwMode="auto">
          <a:xfrm flipH="1">
            <a:off x="2457450" y="5189538"/>
            <a:ext cx="407988" cy="43497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903" name="Line 86"/>
          <p:cNvSpPr>
            <a:spLocks noChangeShapeType="1"/>
          </p:cNvSpPr>
          <p:nvPr/>
        </p:nvSpPr>
        <p:spPr bwMode="auto">
          <a:xfrm>
            <a:off x="3178175" y="5189538"/>
            <a:ext cx="422275" cy="43497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904" name="Line 87"/>
          <p:cNvSpPr>
            <a:spLocks noChangeShapeType="1"/>
          </p:cNvSpPr>
          <p:nvPr/>
        </p:nvSpPr>
        <p:spPr bwMode="auto">
          <a:xfrm>
            <a:off x="2443163" y="6005513"/>
            <a:ext cx="354012" cy="312737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905" name="Line 88"/>
          <p:cNvSpPr>
            <a:spLocks noChangeShapeType="1"/>
          </p:cNvSpPr>
          <p:nvPr/>
        </p:nvSpPr>
        <p:spPr bwMode="auto">
          <a:xfrm flipH="1">
            <a:off x="3232150" y="5978525"/>
            <a:ext cx="327025" cy="3397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906" name="Rectangle 89"/>
          <p:cNvSpPr>
            <a:spLocks noGrp="1" noChangeArrowheads="1"/>
          </p:cNvSpPr>
          <p:nvPr>
            <p:ph type="title" idx="4294967295"/>
          </p:nvPr>
        </p:nvSpPr>
        <p:spPr>
          <a:xfrm>
            <a:off x="754063" y="292100"/>
            <a:ext cx="7772400" cy="700088"/>
          </a:xfrm>
        </p:spPr>
        <p:txBody>
          <a:bodyPr/>
          <a:lstStyle/>
          <a:p>
            <a:pPr eaLnBrk="1" hangingPunct="1"/>
            <a:r>
              <a:rPr lang="en-US" altLang="zh-TW" sz="2400" b="1" u="sng" smtClean="0">
                <a:solidFill>
                  <a:schemeClr val="tx1"/>
                </a:solidFill>
              </a:rPr>
              <a:t>Figure 6.13:</a:t>
            </a:r>
            <a:r>
              <a:rPr lang="en-US" altLang="zh-TW" sz="2400" u="sng" smtClean="0">
                <a:solidFill>
                  <a:schemeClr val="tx1"/>
                </a:solidFill>
              </a:rPr>
              <a:t>Alternate order adjacency list for G</a:t>
            </a:r>
            <a:r>
              <a:rPr lang="en-US" altLang="zh-TW" sz="2400" baseline="-25000" smtClean="0">
                <a:solidFill>
                  <a:schemeClr val="tx1"/>
                </a:solidFill>
              </a:rPr>
              <a:t>1 </a:t>
            </a:r>
            <a:r>
              <a:rPr lang="en-US" altLang="zh-TW" sz="2400" u="sng" smtClean="0">
                <a:solidFill>
                  <a:schemeClr val="tx1"/>
                </a:solidFill>
              </a:rPr>
              <a:t>(p.268)</a:t>
            </a:r>
            <a:endParaRPr lang="en-US" altLang="zh-TW" smtClean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5700" y="0"/>
            <a:ext cx="7772400" cy="1143000"/>
          </a:xfrm>
        </p:spPr>
        <p:txBody>
          <a:bodyPr/>
          <a:lstStyle/>
          <a:p>
            <a:pPr algn="ctr" eaLnBrk="1" hangingPunct="1"/>
            <a:r>
              <a:rPr lang="en-US" altLang="zh-TW" smtClean="0">
                <a:solidFill>
                  <a:schemeClr val="tx1"/>
                </a:solidFill>
              </a:rPr>
              <a:t>Adjacency Multilists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273300" y="4941888"/>
            <a:ext cx="4973638" cy="484187"/>
            <a:chOff x="910" y="3368"/>
            <a:chExt cx="3133" cy="305"/>
          </a:xfrm>
        </p:grpSpPr>
        <p:sp>
          <p:nvSpPr>
            <p:cNvPr id="38917" name="Rectangle 5"/>
            <p:cNvSpPr>
              <a:spLocks noChangeArrowheads="1"/>
            </p:cNvSpPr>
            <p:nvPr/>
          </p:nvSpPr>
          <p:spPr bwMode="auto">
            <a:xfrm>
              <a:off x="912" y="3372"/>
              <a:ext cx="3130" cy="30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8918" name="Line 6"/>
            <p:cNvSpPr>
              <a:spLocks noChangeShapeType="1"/>
            </p:cNvSpPr>
            <p:nvPr/>
          </p:nvSpPr>
          <p:spPr bwMode="auto">
            <a:xfrm>
              <a:off x="1517" y="3377"/>
              <a:ext cx="0" cy="2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19" name="Line 7"/>
            <p:cNvSpPr>
              <a:spLocks noChangeShapeType="1"/>
            </p:cNvSpPr>
            <p:nvPr/>
          </p:nvSpPr>
          <p:spPr bwMode="auto">
            <a:xfrm>
              <a:off x="2168" y="3377"/>
              <a:ext cx="0" cy="2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20" name="Line 8"/>
            <p:cNvSpPr>
              <a:spLocks noChangeShapeType="1"/>
            </p:cNvSpPr>
            <p:nvPr/>
          </p:nvSpPr>
          <p:spPr bwMode="auto">
            <a:xfrm>
              <a:off x="2785" y="3368"/>
              <a:ext cx="0" cy="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21" name="Line 9"/>
            <p:cNvSpPr>
              <a:spLocks noChangeShapeType="1"/>
            </p:cNvSpPr>
            <p:nvPr/>
          </p:nvSpPr>
          <p:spPr bwMode="auto">
            <a:xfrm>
              <a:off x="3437" y="3377"/>
              <a:ext cx="0" cy="2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22" name="Rectangle 10"/>
            <p:cNvSpPr>
              <a:spLocks noChangeArrowheads="1"/>
            </p:cNvSpPr>
            <p:nvPr/>
          </p:nvSpPr>
          <p:spPr bwMode="auto">
            <a:xfrm>
              <a:off x="910" y="3385"/>
              <a:ext cx="313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altLang="zh-TW">
                  <a:solidFill>
                    <a:schemeClr val="tx1"/>
                  </a:solidFill>
                  <a:ea typeface="PMingLiU" pitchFamily="18" charset="-120"/>
                </a:rPr>
                <a:t>marked    vertex1    vertex2      path1       path2</a:t>
              </a:r>
            </a:p>
          </p:txBody>
        </p:sp>
      </p:grpSp>
      <p:sp>
        <p:nvSpPr>
          <p:cNvPr id="38916" name="Text Box 12"/>
          <p:cNvSpPr txBox="1">
            <a:spLocks noChangeArrowheads="1"/>
          </p:cNvSpPr>
          <p:nvPr/>
        </p:nvSpPr>
        <p:spPr bwMode="auto">
          <a:xfrm>
            <a:off x="1157288" y="1143000"/>
            <a:ext cx="7586662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An edge in an undirected graph is represented by two nodes in adjacency list representation.</a:t>
            </a: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Adjacency Multilists</a:t>
            </a:r>
          </a:p>
          <a:p>
            <a:pPr lvl="1" algn="l">
              <a:spcBef>
                <a:spcPct val="20000"/>
              </a:spcBef>
              <a:buFontTx/>
              <a:buChar char="–"/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lists in which nodes may be shared among several lists.  </a:t>
            </a:r>
            <a:br>
              <a:rPr lang="en-US" altLang="zh-TW" sz="28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(an edge is shared by two different paths)</a:t>
            </a:r>
          </a:p>
          <a:p>
            <a:pPr>
              <a:spcBef>
                <a:spcPct val="50000"/>
              </a:spcBef>
            </a:pPr>
            <a:endParaRPr lang="en-US" altLang="zh-TW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027"/>
          <p:cNvSpPr>
            <a:spLocks noChangeArrowheads="1"/>
          </p:cNvSpPr>
          <p:nvPr/>
        </p:nvSpPr>
        <p:spPr bwMode="auto">
          <a:xfrm>
            <a:off x="1274763" y="2238375"/>
            <a:ext cx="1606550" cy="14700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39" name="Line 1028"/>
          <p:cNvSpPr>
            <a:spLocks noChangeShapeType="1"/>
          </p:cNvSpPr>
          <p:nvPr/>
        </p:nvSpPr>
        <p:spPr bwMode="auto">
          <a:xfrm>
            <a:off x="1268413" y="2967038"/>
            <a:ext cx="16049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40" name="Line 1029"/>
          <p:cNvSpPr>
            <a:spLocks noChangeShapeType="1"/>
          </p:cNvSpPr>
          <p:nvPr/>
        </p:nvSpPr>
        <p:spPr bwMode="auto">
          <a:xfrm>
            <a:off x="1268413" y="2627313"/>
            <a:ext cx="16049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41" name="Line 1030"/>
          <p:cNvSpPr>
            <a:spLocks noChangeShapeType="1"/>
          </p:cNvSpPr>
          <p:nvPr/>
        </p:nvSpPr>
        <p:spPr bwMode="auto">
          <a:xfrm>
            <a:off x="1268413" y="3333750"/>
            <a:ext cx="16049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42" name="Rectangle 1031"/>
          <p:cNvSpPr>
            <a:spLocks noChangeArrowheads="1"/>
          </p:cNvSpPr>
          <p:nvPr/>
        </p:nvSpPr>
        <p:spPr bwMode="auto">
          <a:xfrm>
            <a:off x="4799013" y="2197100"/>
            <a:ext cx="2341562" cy="3952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43" name="Line 1032"/>
          <p:cNvSpPr>
            <a:spLocks noChangeShapeType="1"/>
          </p:cNvSpPr>
          <p:nvPr/>
        </p:nvSpPr>
        <p:spPr bwMode="auto">
          <a:xfrm>
            <a:off x="5119688" y="2205038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44" name="Rectangle 1033"/>
          <p:cNvSpPr>
            <a:spLocks noChangeArrowheads="1"/>
          </p:cNvSpPr>
          <p:nvPr/>
        </p:nvSpPr>
        <p:spPr bwMode="auto">
          <a:xfrm>
            <a:off x="5068888" y="2146300"/>
            <a:ext cx="21209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 0  1   N2  N4</a:t>
            </a:r>
          </a:p>
        </p:txBody>
      </p:sp>
      <p:sp>
        <p:nvSpPr>
          <p:cNvPr id="39945" name="Line 1034"/>
          <p:cNvSpPr>
            <a:spLocks noChangeShapeType="1"/>
          </p:cNvSpPr>
          <p:nvPr/>
        </p:nvSpPr>
        <p:spPr bwMode="auto">
          <a:xfrm>
            <a:off x="5527675" y="2190750"/>
            <a:ext cx="0" cy="3952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46" name="Line 1035"/>
          <p:cNvSpPr>
            <a:spLocks noChangeShapeType="1"/>
          </p:cNvSpPr>
          <p:nvPr/>
        </p:nvSpPr>
        <p:spPr bwMode="auto">
          <a:xfrm>
            <a:off x="5908675" y="2190750"/>
            <a:ext cx="0" cy="3952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47" name="Line 1036"/>
          <p:cNvSpPr>
            <a:spLocks noChangeShapeType="1"/>
          </p:cNvSpPr>
          <p:nvPr/>
        </p:nvSpPr>
        <p:spPr bwMode="auto">
          <a:xfrm>
            <a:off x="6562725" y="2205038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48" name="Line 1037"/>
          <p:cNvSpPr>
            <a:spLocks noChangeShapeType="1"/>
          </p:cNvSpPr>
          <p:nvPr/>
        </p:nvSpPr>
        <p:spPr bwMode="auto">
          <a:xfrm>
            <a:off x="4806950" y="2190750"/>
            <a:ext cx="298450" cy="4079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49" name="Line 1038"/>
          <p:cNvSpPr>
            <a:spLocks noChangeShapeType="1"/>
          </p:cNvSpPr>
          <p:nvPr/>
        </p:nvSpPr>
        <p:spPr bwMode="auto">
          <a:xfrm flipH="1">
            <a:off x="4792663" y="2205038"/>
            <a:ext cx="312737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50" name="Rectangle 1039"/>
          <p:cNvSpPr>
            <a:spLocks noChangeArrowheads="1"/>
          </p:cNvSpPr>
          <p:nvPr/>
        </p:nvSpPr>
        <p:spPr bwMode="auto">
          <a:xfrm>
            <a:off x="4787900" y="2825750"/>
            <a:ext cx="2341563" cy="3952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51" name="Line 1040"/>
          <p:cNvSpPr>
            <a:spLocks noChangeShapeType="1"/>
          </p:cNvSpPr>
          <p:nvPr/>
        </p:nvSpPr>
        <p:spPr bwMode="auto">
          <a:xfrm>
            <a:off x="5108575" y="2833688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52" name="Rectangle 1041"/>
          <p:cNvSpPr>
            <a:spLocks noChangeArrowheads="1"/>
          </p:cNvSpPr>
          <p:nvPr/>
        </p:nvSpPr>
        <p:spPr bwMode="auto">
          <a:xfrm>
            <a:off x="5057775" y="2774950"/>
            <a:ext cx="21209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 0  2   N3  N4</a:t>
            </a:r>
          </a:p>
        </p:txBody>
      </p:sp>
      <p:sp>
        <p:nvSpPr>
          <p:cNvPr id="39953" name="Line 1042"/>
          <p:cNvSpPr>
            <a:spLocks noChangeShapeType="1"/>
          </p:cNvSpPr>
          <p:nvPr/>
        </p:nvSpPr>
        <p:spPr bwMode="auto">
          <a:xfrm>
            <a:off x="5516563" y="2819400"/>
            <a:ext cx="0" cy="3952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54" name="Line 1043"/>
          <p:cNvSpPr>
            <a:spLocks noChangeShapeType="1"/>
          </p:cNvSpPr>
          <p:nvPr/>
        </p:nvSpPr>
        <p:spPr bwMode="auto">
          <a:xfrm>
            <a:off x="5897563" y="2819400"/>
            <a:ext cx="0" cy="3952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55" name="Line 1044"/>
          <p:cNvSpPr>
            <a:spLocks noChangeShapeType="1"/>
          </p:cNvSpPr>
          <p:nvPr/>
        </p:nvSpPr>
        <p:spPr bwMode="auto">
          <a:xfrm>
            <a:off x="6551613" y="2833688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56" name="Line 1045"/>
          <p:cNvSpPr>
            <a:spLocks noChangeShapeType="1"/>
          </p:cNvSpPr>
          <p:nvPr/>
        </p:nvSpPr>
        <p:spPr bwMode="auto">
          <a:xfrm>
            <a:off x="4795838" y="2819400"/>
            <a:ext cx="298450" cy="4079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57" name="Line 1046"/>
          <p:cNvSpPr>
            <a:spLocks noChangeShapeType="1"/>
          </p:cNvSpPr>
          <p:nvPr/>
        </p:nvSpPr>
        <p:spPr bwMode="auto">
          <a:xfrm flipH="1">
            <a:off x="4781550" y="2833688"/>
            <a:ext cx="312738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58" name="Rectangle 1047"/>
          <p:cNvSpPr>
            <a:spLocks noChangeArrowheads="1"/>
          </p:cNvSpPr>
          <p:nvPr/>
        </p:nvSpPr>
        <p:spPr bwMode="auto">
          <a:xfrm>
            <a:off x="4786313" y="3436938"/>
            <a:ext cx="2341562" cy="3952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59" name="Line 1048"/>
          <p:cNvSpPr>
            <a:spLocks noChangeShapeType="1"/>
          </p:cNvSpPr>
          <p:nvPr/>
        </p:nvSpPr>
        <p:spPr bwMode="auto">
          <a:xfrm>
            <a:off x="5106988" y="3444875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60" name="Rectangle 1049"/>
          <p:cNvSpPr>
            <a:spLocks noChangeArrowheads="1"/>
          </p:cNvSpPr>
          <p:nvPr/>
        </p:nvSpPr>
        <p:spPr bwMode="auto">
          <a:xfrm>
            <a:off x="5056188" y="3386138"/>
            <a:ext cx="21304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 0  3          N5</a:t>
            </a:r>
          </a:p>
        </p:txBody>
      </p:sp>
      <p:sp>
        <p:nvSpPr>
          <p:cNvPr id="39961" name="Line 1050"/>
          <p:cNvSpPr>
            <a:spLocks noChangeShapeType="1"/>
          </p:cNvSpPr>
          <p:nvPr/>
        </p:nvSpPr>
        <p:spPr bwMode="auto">
          <a:xfrm>
            <a:off x="5514975" y="3430588"/>
            <a:ext cx="0" cy="395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62" name="Line 1051"/>
          <p:cNvSpPr>
            <a:spLocks noChangeShapeType="1"/>
          </p:cNvSpPr>
          <p:nvPr/>
        </p:nvSpPr>
        <p:spPr bwMode="auto">
          <a:xfrm>
            <a:off x="5895975" y="3430588"/>
            <a:ext cx="0" cy="395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63" name="Line 1052"/>
          <p:cNvSpPr>
            <a:spLocks noChangeShapeType="1"/>
          </p:cNvSpPr>
          <p:nvPr/>
        </p:nvSpPr>
        <p:spPr bwMode="auto">
          <a:xfrm>
            <a:off x="6550025" y="3444875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64" name="Line 1053"/>
          <p:cNvSpPr>
            <a:spLocks noChangeShapeType="1"/>
          </p:cNvSpPr>
          <p:nvPr/>
        </p:nvSpPr>
        <p:spPr bwMode="auto">
          <a:xfrm>
            <a:off x="4794250" y="3430588"/>
            <a:ext cx="298450" cy="4079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65" name="Line 1054"/>
          <p:cNvSpPr>
            <a:spLocks noChangeShapeType="1"/>
          </p:cNvSpPr>
          <p:nvPr/>
        </p:nvSpPr>
        <p:spPr bwMode="auto">
          <a:xfrm flipH="1">
            <a:off x="4779963" y="3444875"/>
            <a:ext cx="312737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66" name="Line 1055"/>
          <p:cNvSpPr>
            <a:spLocks noChangeShapeType="1"/>
          </p:cNvSpPr>
          <p:nvPr/>
        </p:nvSpPr>
        <p:spPr bwMode="auto">
          <a:xfrm flipH="1" flipV="1">
            <a:off x="5894388" y="3443288"/>
            <a:ext cx="654050" cy="393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67" name="Rectangle 1056"/>
          <p:cNvSpPr>
            <a:spLocks noChangeArrowheads="1"/>
          </p:cNvSpPr>
          <p:nvPr/>
        </p:nvSpPr>
        <p:spPr bwMode="auto">
          <a:xfrm>
            <a:off x="4789488" y="4103688"/>
            <a:ext cx="2341562" cy="3952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68" name="Line 1057"/>
          <p:cNvSpPr>
            <a:spLocks noChangeShapeType="1"/>
          </p:cNvSpPr>
          <p:nvPr/>
        </p:nvSpPr>
        <p:spPr bwMode="auto">
          <a:xfrm>
            <a:off x="5110163" y="4111625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69" name="Rectangle 1058"/>
          <p:cNvSpPr>
            <a:spLocks noChangeArrowheads="1"/>
          </p:cNvSpPr>
          <p:nvPr/>
        </p:nvSpPr>
        <p:spPr bwMode="auto">
          <a:xfrm>
            <a:off x="5059363" y="4052888"/>
            <a:ext cx="21209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 1  2   N5  N6</a:t>
            </a:r>
          </a:p>
        </p:txBody>
      </p:sp>
      <p:sp>
        <p:nvSpPr>
          <p:cNvPr id="39970" name="Line 1059"/>
          <p:cNvSpPr>
            <a:spLocks noChangeShapeType="1"/>
          </p:cNvSpPr>
          <p:nvPr/>
        </p:nvSpPr>
        <p:spPr bwMode="auto">
          <a:xfrm>
            <a:off x="5518150" y="4097338"/>
            <a:ext cx="0" cy="395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71" name="Line 1060"/>
          <p:cNvSpPr>
            <a:spLocks noChangeShapeType="1"/>
          </p:cNvSpPr>
          <p:nvPr/>
        </p:nvSpPr>
        <p:spPr bwMode="auto">
          <a:xfrm>
            <a:off x="5899150" y="4097338"/>
            <a:ext cx="0" cy="395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72" name="Line 1061"/>
          <p:cNvSpPr>
            <a:spLocks noChangeShapeType="1"/>
          </p:cNvSpPr>
          <p:nvPr/>
        </p:nvSpPr>
        <p:spPr bwMode="auto">
          <a:xfrm>
            <a:off x="6553200" y="4111625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73" name="Line 1062"/>
          <p:cNvSpPr>
            <a:spLocks noChangeShapeType="1"/>
          </p:cNvSpPr>
          <p:nvPr/>
        </p:nvSpPr>
        <p:spPr bwMode="auto">
          <a:xfrm>
            <a:off x="4797425" y="4097338"/>
            <a:ext cx="298450" cy="4079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74" name="Line 1063"/>
          <p:cNvSpPr>
            <a:spLocks noChangeShapeType="1"/>
          </p:cNvSpPr>
          <p:nvPr/>
        </p:nvSpPr>
        <p:spPr bwMode="auto">
          <a:xfrm flipH="1">
            <a:off x="4783138" y="4111625"/>
            <a:ext cx="312737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75" name="Rectangle 1064"/>
          <p:cNvSpPr>
            <a:spLocks noChangeArrowheads="1"/>
          </p:cNvSpPr>
          <p:nvPr/>
        </p:nvSpPr>
        <p:spPr bwMode="auto">
          <a:xfrm>
            <a:off x="4787900" y="4716463"/>
            <a:ext cx="2341563" cy="3952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76" name="Line 1065"/>
          <p:cNvSpPr>
            <a:spLocks noChangeShapeType="1"/>
          </p:cNvSpPr>
          <p:nvPr/>
        </p:nvSpPr>
        <p:spPr bwMode="auto">
          <a:xfrm>
            <a:off x="5108575" y="47244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77" name="Rectangle 1066"/>
          <p:cNvSpPr>
            <a:spLocks noChangeArrowheads="1"/>
          </p:cNvSpPr>
          <p:nvPr/>
        </p:nvSpPr>
        <p:spPr bwMode="auto">
          <a:xfrm>
            <a:off x="5057775" y="4665663"/>
            <a:ext cx="21304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 1  3          N6</a:t>
            </a:r>
          </a:p>
        </p:txBody>
      </p:sp>
      <p:sp>
        <p:nvSpPr>
          <p:cNvPr id="39978" name="Line 1067"/>
          <p:cNvSpPr>
            <a:spLocks noChangeShapeType="1"/>
          </p:cNvSpPr>
          <p:nvPr/>
        </p:nvSpPr>
        <p:spPr bwMode="auto">
          <a:xfrm>
            <a:off x="5516563" y="4710113"/>
            <a:ext cx="0" cy="395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79" name="Line 1068"/>
          <p:cNvSpPr>
            <a:spLocks noChangeShapeType="1"/>
          </p:cNvSpPr>
          <p:nvPr/>
        </p:nvSpPr>
        <p:spPr bwMode="auto">
          <a:xfrm>
            <a:off x="5897563" y="4710113"/>
            <a:ext cx="0" cy="395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80" name="Line 1069"/>
          <p:cNvSpPr>
            <a:spLocks noChangeShapeType="1"/>
          </p:cNvSpPr>
          <p:nvPr/>
        </p:nvSpPr>
        <p:spPr bwMode="auto">
          <a:xfrm>
            <a:off x="6551613" y="47244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81" name="Line 1070"/>
          <p:cNvSpPr>
            <a:spLocks noChangeShapeType="1"/>
          </p:cNvSpPr>
          <p:nvPr/>
        </p:nvSpPr>
        <p:spPr bwMode="auto">
          <a:xfrm>
            <a:off x="4795838" y="4710113"/>
            <a:ext cx="298450" cy="4079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82" name="Line 1071"/>
          <p:cNvSpPr>
            <a:spLocks noChangeShapeType="1"/>
          </p:cNvSpPr>
          <p:nvPr/>
        </p:nvSpPr>
        <p:spPr bwMode="auto">
          <a:xfrm flipH="1">
            <a:off x="4781550" y="4724400"/>
            <a:ext cx="312738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83" name="Line 1072"/>
          <p:cNvSpPr>
            <a:spLocks noChangeShapeType="1"/>
          </p:cNvSpPr>
          <p:nvPr/>
        </p:nvSpPr>
        <p:spPr bwMode="auto">
          <a:xfrm>
            <a:off x="5894388" y="4706938"/>
            <a:ext cx="654050" cy="395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84" name="Rectangle 1073"/>
          <p:cNvSpPr>
            <a:spLocks noChangeArrowheads="1"/>
          </p:cNvSpPr>
          <p:nvPr/>
        </p:nvSpPr>
        <p:spPr bwMode="auto">
          <a:xfrm>
            <a:off x="4787900" y="5341938"/>
            <a:ext cx="2341563" cy="3952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85" name="Line 1074"/>
          <p:cNvSpPr>
            <a:spLocks noChangeShapeType="1"/>
          </p:cNvSpPr>
          <p:nvPr/>
        </p:nvSpPr>
        <p:spPr bwMode="auto">
          <a:xfrm>
            <a:off x="5108575" y="5349875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86" name="Rectangle 1075"/>
          <p:cNvSpPr>
            <a:spLocks noChangeArrowheads="1"/>
          </p:cNvSpPr>
          <p:nvPr/>
        </p:nvSpPr>
        <p:spPr bwMode="auto">
          <a:xfrm>
            <a:off x="5057775" y="5291138"/>
            <a:ext cx="8064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 2  3</a:t>
            </a:r>
          </a:p>
        </p:txBody>
      </p:sp>
      <p:sp>
        <p:nvSpPr>
          <p:cNvPr id="39987" name="Line 1076"/>
          <p:cNvSpPr>
            <a:spLocks noChangeShapeType="1"/>
          </p:cNvSpPr>
          <p:nvPr/>
        </p:nvSpPr>
        <p:spPr bwMode="auto">
          <a:xfrm>
            <a:off x="5516563" y="5335588"/>
            <a:ext cx="0" cy="395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88" name="Line 1077"/>
          <p:cNvSpPr>
            <a:spLocks noChangeShapeType="1"/>
          </p:cNvSpPr>
          <p:nvPr/>
        </p:nvSpPr>
        <p:spPr bwMode="auto">
          <a:xfrm>
            <a:off x="5897563" y="5335588"/>
            <a:ext cx="0" cy="395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89" name="Line 1078"/>
          <p:cNvSpPr>
            <a:spLocks noChangeShapeType="1"/>
          </p:cNvSpPr>
          <p:nvPr/>
        </p:nvSpPr>
        <p:spPr bwMode="auto">
          <a:xfrm>
            <a:off x="6551613" y="5349875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90" name="Line 1079"/>
          <p:cNvSpPr>
            <a:spLocks noChangeShapeType="1"/>
          </p:cNvSpPr>
          <p:nvPr/>
        </p:nvSpPr>
        <p:spPr bwMode="auto">
          <a:xfrm>
            <a:off x="4795838" y="5335588"/>
            <a:ext cx="298450" cy="4079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91" name="Line 1080"/>
          <p:cNvSpPr>
            <a:spLocks noChangeShapeType="1"/>
          </p:cNvSpPr>
          <p:nvPr/>
        </p:nvSpPr>
        <p:spPr bwMode="auto">
          <a:xfrm flipH="1">
            <a:off x="4781550" y="5349875"/>
            <a:ext cx="312738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92" name="Line 1081"/>
          <p:cNvSpPr>
            <a:spLocks noChangeShapeType="1"/>
          </p:cNvSpPr>
          <p:nvPr/>
        </p:nvSpPr>
        <p:spPr bwMode="auto">
          <a:xfrm>
            <a:off x="5908675" y="5346700"/>
            <a:ext cx="639763" cy="3952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93" name="Line 1082"/>
          <p:cNvSpPr>
            <a:spLocks noChangeShapeType="1"/>
          </p:cNvSpPr>
          <p:nvPr/>
        </p:nvSpPr>
        <p:spPr bwMode="auto">
          <a:xfrm>
            <a:off x="6548438" y="5334000"/>
            <a:ext cx="585787" cy="393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94" name="Rectangle 1083"/>
          <p:cNvSpPr>
            <a:spLocks noChangeArrowheads="1"/>
          </p:cNvSpPr>
          <p:nvPr/>
        </p:nvSpPr>
        <p:spPr bwMode="auto">
          <a:xfrm>
            <a:off x="4033838" y="2065338"/>
            <a:ext cx="619125" cy="380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 eaLnBrk="0" hangingPunct="0">
              <a:lnSpc>
                <a:spcPct val="145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N1</a:t>
            </a:r>
          </a:p>
          <a:p>
            <a:pPr algn="l" eaLnBrk="0" hangingPunct="0">
              <a:lnSpc>
                <a:spcPct val="145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N2</a:t>
            </a:r>
          </a:p>
          <a:p>
            <a:pPr algn="l" eaLnBrk="0" hangingPunct="0">
              <a:lnSpc>
                <a:spcPct val="145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N3</a:t>
            </a:r>
          </a:p>
          <a:p>
            <a:pPr algn="l" eaLnBrk="0" hangingPunct="0">
              <a:lnSpc>
                <a:spcPct val="145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N4</a:t>
            </a:r>
          </a:p>
          <a:p>
            <a:pPr algn="l" eaLnBrk="0" hangingPunct="0">
              <a:lnSpc>
                <a:spcPct val="145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N5</a:t>
            </a:r>
          </a:p>
          <a:p>
            <a:pPr algn="l" eaLnBrk="0" hangingPunct="0">
              <a:lnSpc>
                <a:spcPct val="145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N6</a:t>
            </a:r>
          </a:p>
        </p:txBody>
      </p:sp>
      <p:sp>
        <p:nvSpPr>
          <p:cNvPr id="39995" name="Rectangle 1084"/>
          <p:cNvSpPr>
            <a:spLocks noChangeArrowheads="1"/>
          </p:cNvSpPr>
          <p:nvPr/>
        </p:nvSpPr>
        <p:spPr bwMode="auto">
          <a:xfrm>
            <a:off x="822325" y="2176463"/>
            <a:ext cx="361950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>
              <a:lnSpc>
                <a:spcPct val="90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  <a:p>
            <a:pPr algn="l" eaLnBrk="0" hangingPunct="0">
              <a:lnSpc>
                <a:spcPct val="90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  <a:p>
            <a:pPr algn="l" eaLnBrk="0" hangingPunct="0">
              <a:lnSpc>
                <a:spcPct val="90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  <a:p>
            <a:pPr algn="l" eaLnBrk="0" hangingPunct="0">
              <a:lnSpc>
                <a:spcPct val="90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39996" name="Line 1085"/>
          <p:cNvSpPr>
            <a:spLocks noChangeShapeType="1"/>
          </p:cNvSpPr>
          <p:nvPr/>
        </p:nvSpPr>
        <p:spPr bwMode="auto">
          <a:xfrm>
            <a:off x="2301875" y="2422525"/>
            <a:ext cx="17700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97" name="Line 1086"/>
          <p:cNvSpPr>
            <a:spLocks noChangeShapeType="1"/>
          </p:cNvSpPr>
          <p:nvPr/>
        </p:nvSpPr>
        <p:spPr bwMode="auto">
          <a:xfrm flipV="1">
            <a:off x="2316163" y="2559050"/>
            <a:ext cx="1768475" cy="2714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98" name="Line 1087"/>
          <p:cNvSpPr>
            <a:spLocks noChangeShapeType="1"/>
          </p:cNvSpPr>
          <p:nvPr/>
        </p:nvSpPr>
        <p:spPr bwMode="auto">
          <a:xfrm flipV="1">
            <a:off x="2330450" y="3048000"/>
            <a:ext cx="1741488" cy="1095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99" name="Line 1088"/>
          <p:cNvSpPr>
            <a:spLocks noChangeShapeType="1"/>
          </p:cNvSpPr>
          <p:nvPr/>
        </p:nvSpPr>
        <p:spPr bwMode="auto">
          <a:xfrm>
            <a:off x="2357438" y="3538538"/>
            <a:ext cx="1714500" cy="1222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000" name="Rectangle 1089"/>
          <p:cNvSpPr>
            <a:spLocks noChangeArrowheads="1"/>
          </p:cNvSpPr>
          <p:nvPr/>
        </p:nvSpPr>
        <p:spPr bwMode="auto">
          <a:xfrm>
            <a:off x="7396163" y="2055813"/>
            <a:ext cx="1625600" cy="380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>
              <a:lnSpc>
                <a:spcPct val="145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edge (0,1)</a:t>
            </a:r>
          </a:p>
          <a:p>
            <a:pPr algn="l" eaLnBrk="0" hangingPunct="0">
              <a:lnSpc>
                <a:spcPct val="145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edge (0,2)</a:t>
            </a:r>
          </a:p>
          <a:p>
            <a:pPr algn="l" eaLnBrk="0" hangingPunct="0">
              <a:lnSpc>
                <a:spcPct val="145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edge (0,3)</a:t>
            </a:r>
          </a:p>
          <a:p>
            <a:pPr algn="l" eaLnBrk="0" hangingPunct="0">
              <a:lnSpc>
                <a:spcPct val="145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edge (1,2)</a:t>
            </a:r>
          </a:p>
          <a:p>
            <a:pPr algn="l" eaLnBrk="0" hangingPunct="0">
              <a:lnSpc>
                <a:spcPct val="145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edge (1,3)</a:t>
            </a:r>
          </a:p>
          <a:p>
            <a:pPr algn="l" eaLnBrk="0" hangingPunct="0">
              <a:lnSpc>
                <a:spcPct val="145000"/>
              </a:lnSpc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edge (2,3)</a:t>
            </a:r>
          </a:p>
        </p:txBody>
      </p:sp>
      <p:sp>
        <p:nvSpPr>
          <p:cNvPr id="40001" name="Text Box 1090"/>
          <p:cNvSpPr txBox="1">
            <a:spLocks noChangeArrowheads="1"/>
          </p:cNvSpPr>
          <p:nvPr/>
        </p:nvSpPr>
        <p:spPr bwMode="auto">
          <a:xfrm>
            <a:off x="6510338" y="1828800"/>
            <a:ext cx="6699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ea typeface="PMingLiU" pitchFamily="18" charset="-120"/>
              </a:rPr>
              <a:t>(1,0)</a:t>
            </a:r>
            <a:endParaRPr lang="en-US" altLang="zh-TW" sz="2400">
              <a:ea typeface="PMingLiU" pitchFamily="18" charset="-120"/>
            </a:endParaRPr>
          </a:p>
        </p:txBody>
      </p:sp>
      <p:sp>
        <p:nvSpPr>
          <p:cNvPr id="40002" name="Text Box 1091"/>
          <p:cNvSpPr txBox="1">
            <a:spLocks noChangeArrowheads="1"/>
          </p:cNvSpPr>
          <p:nvPr/>
        </p:nvSpPr>
        <p:spPr bwMode="auto">
          <a:xfrm>
            <a:off x="6510338" y="2516188"/>
            <a:ext cx="6699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ea typeface="PMingLiU" pitchFamily="18" charset="-120"/>
              </a:rPr>
              <a:t>(2,0)</a:t>
            </a:r>
            <a:endParaRPr lang="en-US" altLang="zh-TW" sz="2400">
              <a:ea typeface="PMingLiU" pitchFamily="18" charset="-120"/>
            </a:endParaRPr>
          </a:p>
        </p:txBody>
      </p:sp>
      <p:sp>
        <p:nvSpPr>
          <p:cNvPr id="40003" name="Text Box 1092"/>
          <p:cNvSpPr txBox="1">
            <a:spLocks noChangeArrowheads="1"/>
          </p:cNvSpPr>
          <p:nvPr/>
        </p:nvSpPr>
        <p:spPr bwMode="auto">
          <a:xfrm>
            <a:off x="6475413" y="3116263"/>
            <a:ext cx="6699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ea typeface="PMingLiU" pitchFamily="18" charset="-120"/>
              </a:rPr>
              <a:t>(3,0)</a:t>
            </a:r>
          </a:p>
        </p:txBody>
      </p:sp>
      <p:sp>
        <p:nvSpPr>
          <p:cNvPr id="40004" name="Text Box 1093"/>
          <p:cNvSpPr txBox="1">
            <a:spLocks noChangeArrowheads="1"/>
          </p:cNvSpPr>
          <p:nvPr/>
        </p:nvSpPr>
        <p:spPr bwMode="auto">
          <a:xfrm>
            <a:off x="6511925" y="3751263"/>
            <a:ext cx="6699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ea typeface="PMingLiU" pitchFamily="18" charset="-120"/>
              </a:rPr>
              <a:t>(2,1)</a:t>
            </a:r>
          </a:p>
        </p:txBody>
      </p:sp>
      <p:sp>
        <p:nvSpPr>
          <p:cNvPr id="40005" name="Text Box 1094"/>
          <p:cNvSpPr txBox="1">
            <a:spLocks noChangeArrowheads="1"/>
          </p:cNvSpPr>
          <p:nvPr/>
        </p:nvSpPr>
        <p:spPr bwMode="auto">
          <a:xfrm>
            <a:off x="6511925" y="4421188"/>
            <a:ext cx="6699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ea typeface="PMingLiU" pitchFamily="18" charset="-120"/>
              </a:rPr>
              <a:t>(3,1)</a:t>
            </a:r>
          </a:p>
        </p:txBody>
      </p:sp>
      <p:sp>
        <p:nvSpPr>
          <p:cNvPr id="40006" name="Text Box 1095"/>
          <p:cNvSpPr txBox="1">
            <a:spLocks noChangeArrowheads="1"/>
          </p:cNvSpPr>
          <p:nvPr/>
        </p:nvSpPr>
        <p:spPr bwMode="auto">
          <a:xfrm>
            <a:off x="6511925" y="5021263"/>
            <a:ext cx="6699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ea typeface="PMingLiU" pitchFamily="18" charset="-120"/>
              </a:rPr>
              <a:t>(3,2)</a:t>
            </a:r>
          </a:p>
        </p:txBody>
      </p:sp>
      <p:sp>
        <p:nvSpPr>
          <p:cNvPr id="40007" name="Oval 1096"/>
          <p:cNvSpPr>
            <a:spLocks noChangeArrowheads="1"/>
          </p:cNvSpPr>
          <p:nvPr/>
        </p:nvSpPr>
        <p:spPr bwMode="auto">
          <a:xfrm>
            <a:off x="2116138" y="423227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40008" name="Oval 1097"/>
          <p:cNvSpPr>
            <a:spLocks noChangeArrowheads="1"/>
          </p:cNvSpPr>
          <p:nvPr/>
        </p:nvSpPr>
        <p:spPr bwMode="auto">
          <a:xfrm>
            <a:off x="1430338" y="499427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40009" name="Oval 1098"/>
          <p:cNvSpPr>
            <a:spLocks noChangeArrowheads="1"/>
          </p:cNvSpPr>
          <p:nvPr/>
        </p:nvSpPr>
        <p:spPr bwMode="auto">
          <a:xfrm>
            <a:off x="2801938" y="499427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40010" name="Oval 1099"/>
          <p:cNvSpPr>
            <a:spLocks noChangeArrowheads="1"/>
          </p:cNvSpPr>
          <p:nvPr/>
        </p:nvSpPr>
        <p:spPr bwMode="auto">
          <a:xfrm>
            <a:off x="2116138" y="560387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2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40011" name="Line 1100"/>
          <p:cNvSpPr>
            <a:spLocks noChangeShapeType="1"/>
          </p:cNvSpPr>
          <p:nvPr/>
        </p:nvSpPr>
        <p:spPr bwMode="auto">
          <a:xfrm>
            <a:off x="2338388" y="4683125"/>
            <a:ext cx="0" cy="914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012" name="Line 1101"/>
          <p:cNvSpPr>
            <a:spLocks noChangeShapeType="1"/>
          </p:cNvSpPr>
          <p:nvPr/>
        </p:nvSpPr>
        <p:spPr bwMode="auto">
          <a:xfrm>
            <a:off x="1881188" y="5216525"/>
            <a:ext cx="9144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013" name="Line 1102"/>
          <p:cNvSpPr>
            <a:spLocks noChangeShapeType="1"/>
          </p:cNvSpPr>
          <p:nvPr/>
        </p:nvSpPr>
        <p:spPr bwMode="auto">
          <a:xfrm flipH="1">
            <a:off x="1770063" y="4606925"/>
            <a:ext cx="407987" cy="43497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014" name="Line 1103"/>
          <p:cNvSpPr>
            <a:spLocks noChangeShapeType="1"/>
          </p:cNvSpPr>
          <p:nvPr/>
        </p:nvSpPr>
        <p:spPr bwMode="auto">
          <a:xfrm>
            <a:off x="2490788" y="4606925"/>
            <a:ext cx="422275" cy="43497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015" name="Line 1104"/>
          <p:cNvSpPr>
            <a:spLocks noChangeShapeType="1"/>
          </p:cNvSpPr>
          <p:nvPr/>
        </p:nvSpPr>
        <p:spPr bwMode="auto">
          <a:xfrm>
            <a:off x="1755775" y="5422900"/>
            <a:ext cx="354013" cy="31273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016" name="Line 1105"/>
          <p:cNvSpPr>
            <a:spLocks noChangeShapeType="1"/>
          </p:cNvSpPr>
          <p:nvPr/>
        </p:nvSpPr>
        <p:spPr bwMode="auto">
          <a:xfrm flipH="1">
            <a:off x="2544763" y="5395913"/>
            <a:ext cx="327025" cy="3397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017" name="Text Box 1106"/>
          <p:cNvSpPr txBox="1">
            <a:spLocks noChangeArrowheads="1"/>
          </p:cNvSpPr>
          <p:nvPr/>
        </p:nvSpPr>
        <p:spPr bwMode="auto">
          <a:xfrm>
            <a:off x="7539038" y="5938838"/>
            <a:ext cx="11207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ea typeface="PMingLiU" pitchFamily="18" charset="-120"/>
              </a:rPr>
              <a:t>six edges</a:t>
            </a:r>
          </a:p>
        </p:txBody>
      </p:sp>
      <p:sp>
        <p:nvSpPr>
          <p:cNvPr id="40018" name="Text Box 1107"/>
          <p:cNvSpPr txBox="1">
            <a:spLocks noChangeArrowheads="1"/>
          </p:cNvSpPr>
          <p:nvPr/>
        </p:nvSpPr>
        <p:spPr bwMode="auto">
          <a:xfrm>
            <a:off x="1249363" y="1060450"/>
            <a:ext cx="58832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>
                <a:solidFill>
                  <a:schemeClr val="tx1"/>
                </a:solidFill>
              </a:rPr>
              <a:t>Lists: vertex 0: M1-&gt;M2-&gt;M3, vertex 1: M1-&gt;M4-&gt;M5</a:t>
            </a:r>
          </a:p>
          <a:p>
            <a:pPr algn="l"/>
            <a:r>
              <a:rPr lang="en-US" altLang="zh-TW">
                <a:solidFill>
                  <a:schemeClr val="tx1"/>
                </a:solidFill>
              </a:rPr>
              <a:t>          vertex 2: M2-&gt;M4-&gt;M6, vertex 3: M3-&gt;M5-&gt;M6</a:t>
            </a:r>
          </a:p>
        </p:txBody>
      </p:sp>
      <p:sp>
        <p:nvSpPr>
          <p:cNvPr id="40019" name="Rectangle 1108"/>
          <p:cNvSpPr>
            <a:spLocks noGrp="1" noChangeArrowheads="1"/>
          </p:cNvSpPr>
          <p:nvPr>
            <p:ph type="title" idx="4294967295"/>
          </p:nvPr>
        </p:nvSpPr>
        <p:spPr>
          <a:xfrm>
            <a:off x="8255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TW" smtClean="0">
                <a:solidFill>
                  <a:schemeClr val="tx1"/>
                </a:solidFill>
              </a:rPr>
              <a:t>Example for Adjacency Multlists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>
            <a:spLocks noChangeArrowheads="1"/>
          </p:cNvSpPr>
          <p:nvPr/>
        </p:nvSpPr>
        <p:spPr bwMode="auto">
          <a:xfrm>
            <a:off x="1327150" y="1981200"/>
            <a:ext cx="8991600" cy="309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typedef struct edge *edge_pointer;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typedef struct edge {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short int marked;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int vertex1, vertex2;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edge_pointer path1, path2;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};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edge_pointer graph[MAX_VERTICES];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314575" y="5346700"/>
            <a:ext cx="4973638" cy="484188"/>
            <a:chOff x="910" y="3368"/>
            <a:chExt cx="3133" cy="305"/>
          </a:xfrm>
        </p:grpSpPr>
        <p:sp>
          <p:nvSpPr>
            <p:cNvPr id="40965" name="Rectangle 5"/>
            <p:cNvSpPr>
              <a:spLocks noChangeArrowheads="1"/>
            </p:cNvSpPr>
            <p:nvPr/>
          </p:nvSpPr>
          <p:spPr bwMode="auto">
            <a:xfrm>
              <a:off x="912" y="3372"/>
              <a:ext cx="3130" cy="30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0966" name="Line 6"/>
            <p:cNvSpPr>
              <a:spLocks noChangeShapeType="1"/>
            </p:cNvSpPr>
            <p:nvPr/>
          </p:nvSpPr>
          <p:spPr bwMode="auto">
            <a:xfrm>
              <a:off x="1517" y="3377"/>
              <a:ext cx="0" cy="2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7" name="Line 7"/>
            <p:cNvSpPr>
              <a:spLocks noChangeShapeType="1"/>
            </p:cNvSpPr>
            <p:nvPr/>
          </p:nvSpPr>
          <p:spPr bwMode="auto">
            <a:xfrm>
              <a:off x="2168" y="3377"/>
              <a:ext cx="0" cy="2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8" name="Line 8"/>
            <p:cNvSpPr>
              <a:spLocks noChangeShapeType="1"/>
            </p:cNvSpPr>
            <p:nvPr/>
          </p:nvSpPr>
          <p:spPr bwMode="auto">
            <a:xfrm>
              <a:off x="2785" y="3368"/>
              <a:ext cx="0" cy="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9" name="Line 9"/>
            <p:cNvSpPr>
              <a:spLocks noChangeShapeType="1"/>
            </p:cNvSpPr>
            <p:nvPr/>
          </p:nvSpPr>
          <p:spPr bwMode="auto">
            <a:xfrm>
              <a:off x="3437" y="3377"/>
              <a:ext cx="0" cy="2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70" name="Rectangle 10"/>
            <p:cNvSpPr>
              <a:spLocks noChangeArrowheads="1"/>
            </p:cNvSpPr>
            <p:nvPr/>
          </p:nvSpPr>
          <p:spPr bwMode="auto">
            <a:xfrm>
              <a:off x="910" y="3385"/>
              <a:ext cx="313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altLang="zh-TW">
                  <a:solidFill>
                    <a:schemeClr val="tx1"/>
                  </a:solidFill>
                  <a:ea typeface="PMingLiU" pitchFamily="18" charset="-120"/>
                </a:rPr>
                <a:t>marked    vertex1    vertex2      path1       path2</a:t>
              </a:r>
            </a:p>
          </p:txBody>
        </p:sp>
      </p:grpSp>
      <p:sp>
        <p:nvSpPr>
          <p:cNvPr id="40964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754063" y="292100"/>
            <a:ext cx="7772400" cy="1143000"/>
          </a:xfrm>
        </p:spPr>
        <p:txBody>
          <a:bodyPr/>
          <a:lstStyle/>
          <a:p>
            <a:pPr algn="ctr" eaLnBrk="1" hangingPunct="1"/>
            <a:r>
              <a:rPr lang="en-US" altLang="zh-TW" smtClean="0">
                <a:solidFill>
                  <a:schemeClr val="tx1"/>
                </a:solidFill>
              </a:rPr>
              <a:t>Adjacency Multilists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1098550" y="388938"/>
            <a:ext cx="80454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altLang="zh-TW" sz="4400">
                <a:solidFill>
                  <a:schemeClr val="tx2"/>
                </a:solidFill>
                <a:ea typeface="PMingLiU" pitchFamily="18" charset="-120"/>
              </a:rPr>
              <a:t>Some Graph Operations</a:t>
            </a:r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1098550" y="1608138"/>
            <a:ext cx="804545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Traversal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accent2"/>
                </a:solidFill>
                <a:ea typeface="PMingLiU" pitchFamily="18" charset="-120"/>
              </a:rPr>
              <a:t>Given G=(V,E) and vertex v, find all w</a:t>
            </a:r>
            <a:r>
              <a:rPr lang="en-US" altLang="zh-TW" sz="3200">
                <a:solidFill>
                  <a:schemeClr val="accent2"/>
                </a:solidFill>
                <a:ea typeface="PMingLiU" pitchFamily="18" charset="-120"/>
                <a:sym typeface="Symbol" pitchFamily="18" charset="2"/>
              </a:rPr>
              <a:t>V, </a:t>
            </a:r>
            <a:br>
              <a:rPr lang="en-US" altLang="zh-TW" sz="3200">
                <a:solidFill>
                  <a:schemeClr val="accent2"/>
                </a:solidFill>
                <a:ea typeface="PMingLiU" pitchFamily="18" charset="-120"/>
                <a:sym typeface="Symbol" pitchFamily="18" charset="2"/>
              </a:rPr>
            </a:br>
            <a:r>
              <a:rPr lang="en-US" altLang="zh-TW" sz="3200">
                <a:solidFill>
                  <a:schemeClr val="accent2"/>
                </a:solidFill>
                <a:ea typeface="PMingLiU" pitchFamily="18" charset="-120"/>
                <a:sym typeface="Symbol" pitchFamily="18" charset="2"/>
              </a:rPr>
              <a:t>such that w connects v.</a:t>
            </a:r>
            <a:endParaRPr lang="en-US" altLang="zh-TW" sz="3200">
              <a:solidFill>
                <a:schemeClr val="tx1"/>
              </a:solidFill>
              <a:ea typeface="PMingLiU" pitchFamily="18" charset="-120"/>
            </a:endParaRPr>
          </a:p>
          <a:p>
            <a:pPr marL="742950" lvl="1" indent="-285750" algn="l">
              <a:spcBef>
                <a:spcPct val="20000"/>
              </a:spcBef>
              <a:buFontTx/>
              <a:buChar char="–"/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Depth First Search (DFS)</a:t>
            </a:r>
            <a:br>
              <a:rPr lang="en-US" altLang="zh-TW" sz="28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800">
                <a:solidFill>
                  <a:schemeClr val="accent2"/>
                </a:solidFill>
                <a:ea typeface="PMingLiU" pitchFamily="18" charset="-120"/>
              </a:rPr>
              <a:t>preorder tree traversal</a:t>
            </a:r>
            <a:endParaRPr lang="en-US" altLang="zh-TW" sz="2800">
              <a:solidFill>
                <a:schemeClr val="tx1"/>
              </a:solidFill>
              <a:ea typeface="PMingLiU" pitchFamily="18" charset="-120"/>
            </a:endParaRPr>
          </a:p>
          <a:p>
            <a:pPr marL="742950" lvl="1" indent="-285750" algn="l">
              <a:spcBef>
                <a:spcPct val="20000"/>
              </a:spcBef>
              <a:buFontTx/>
              <a:buChar char="–"/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Breadth First Search (BFS)</a:t>
            </a:r>
            <a:br>
              <a:rPr lang="en-US" altLang="zh-TW" sz="28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800">
                <a:solidFill>
                  <a:schemeClr val="accent2"/>
                </a:solidFill>
                <a:ea typeface="PMingLiU" pitchFamily="18" charset="-120"/>
              </a:rPr>
              <a:t>level order tree traversal</a:t>
            </a:r>
            <a:endParaRPr lang="en-US" altLang="zh-TW" sz="2800">
              <a:solidFill>
                <a:schemeClr val="tx1"/>
              </a:solidFill>
              <a:ea typeface="PMingLiU" pitchFamily="18" charset="-120"/>
            </a:endParaRP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Connected Components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Spanning Trees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974725" y="266700"/>
            <a:ext cx="6672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 b="1" u="sng">
                <a:solidFill>
                  <a:schemeClr val="tx1"/>
                </a:solidFill>
                <a:ea typeface="PMingLiU" pitchFamily="18" charset="-120"/>
              </a:rPr>
              <a:t>*Figure 6.19:</a:t>
            </a:r>
            <a:r>
              <a:rPr lang="en-US" altLang="zh-TW" sz="2400" u="sng">
                <a:solidFill>
                  <a:schemeClr val="tx1"/>
                </a:solidFill>
                <a:ea typeface="PMingLiU" pitchFamily="18" charset="-120"/>
              </a:rPr>
              <a:t>Graph</a:t>
            </a:r>
            <a:r>
              <a:rPr lang="en-US" altLang="zh-TW" sz="2400" i="1" u="sng">
                <a:solidFill>
                  <a:schemeClr val="tx1"/>
                </a:solidFill>
                <a:ea typeface="PMingLiU" pitchFamily="18" charset="-120"/>
              </a:rPr>
              <a:t> G</a:t>
            </a:r>
            <a:r>
              <a:rPr lang="en-US" altLang="zh-TW" sz="2400" u="sng">
                <a:solidFill>
                  <a:schemeClr val="tx1"/>
                </a:solidFill>
                <a:ea typeface="PMingLiU" pitchFamily="18" charset="-120"/>
              </a:rPr>
              <a:t> and its adjacency lists (p.274)</a:t>
            </a:r>
            <a:endParaRPr lang="en-US" altLang="zh-TW" sz="2400" b="1" u="sng">
              <a:solidFill>
                <a:schemeClr val="tx1"/>
              </a:solidFill>
              <a:ea typeface="PMingLiU" pitchFamily="18" charset="-120"/>
            </a:endParaRPr>
          </a:p>
        </p:txBody>
      </p:sp>
      <p:pic>
        <p:nvPicPr>
          <p:cNvPr id="43011" name="Picture 3" descr="C:\WINDOWS\TEMP\twu51A2.b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81100" y="1295400"/>
            <a:ext cx="6442075" cy="459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1847850" y="847725"/>
            <a:ext cx="59467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depth first search: v0, v1, v3, v7, v4, v5, v2, v6</a:t>
            </a:r>
          </a:p>
        </p:txBody>
      </p:sp>
      <p:sp>
        <p:nvSpPr>
          <p:cNvPr id="43013" name="Rectangle 5"/>
          <p:cNvSpPr>
            <a:spLocks noChangeArrowheads="1"/>
          </p:cNvSpPr>
          <p:nvPr/>
        </p:nvSpPr>
        <p:spPr bwMode="auto">
          <a:xfrm>
            <a:off x="1906588" y="5829300"/>
            <a:ext cx="61833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breadth first search: v0, v1, v2, v3, v4, v5, v6, v7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5"/>
          <p:cNvSpPr>
            <a:spLocks noChangeArrowheads="1"/>
          </p:cNvSpPr>
          <p:nvPr/>
        </p:nvSpPr>
        <p:spPr bwMode="auto">
          <a:xfrm>
            <a:off x="1057275" y="0"/>
            <a:ext cx="8086725" cy="63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altLang="zh-TW" sz="4400">
                <a:solidFill>
                  <a:schemeClr val="tx1"/>
                </a:solidFill>
                <a:ea typeface="PMingLiU" pitchFamily="18" charset="-120"/>
              </a:rPr>
              <a:t>Depth First Search</a:t>
            </a:r>
          </a:p>
        </p:txBody>
      </p:sp>
      <p:sp>
        <p:nvSpPr>
          <p:cNvPr id="44035" name="Rectangle 6"/>
          <p:cNvSpPr>
            <a:spLocks noChangeArrowheads="1"/>
          </p:cNvSpPr>
          <p:nvPr/>
        </p:nvSpPr>
        <p:spPr bwMode="auto">
          <a:xfrm>
            <a:off x="827088" y="1643063"/>
            <a:ext cx="8991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void dfs(int v)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{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node_pointer w;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visited[v]= TRUE;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printf(“%5d”, v);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for (w=graph[v]; w; w=w-&gt;link)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if (!visited[w-&gt;vertex]) 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  dfs(w-&gt;vertex);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}</a:t>
            </a:r>
          </a:p>
        </p:txBody>
      </p:sp>
      <p:sp>
        <p:nvSpPr>
          <p:cNvPr id="44036" name="Rectangle 7"/>
          <p:cNvSpPr>
            <a:spLocks noChangeArrowheads="1"/>
          </p:cNvSpPr>
          <p:nvPr/>
        </p:nvSpPr>
        <p:spPr bwMode="auto">
          <a:xfrm>
            <a:off x="2894013" y="746125"/>
            <a:ext cx="6084887" cy="9985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>
              <a:lnSpc>
                <a:spcPct val="80000"/>
              </a:lnSpc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#define FALSE 0</a:t>
            </a:r>
          </a:p>
          <a:p>
            <a:pPr algn="l" eaLnBrk="0" hangingPunct="0">
              <a:lnSpc>
                <a:spcPct val="80000"/>
              </a:lnSpc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#define TRUE 1</a:t>
            </a:r>
          </a:p>
          <a:p>
            <a:pPr algn="l" eaLnBrk="0" hangingPunct="0">
              <a:lnSpc>
                <a:spcPct val="80000"/>
              </a:lnSpc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short int visited[MAX_VERTICES];</a:t>
            </a:r>
          </a:p>
        </p:txBody>
      </p:sp>
      <p:sp>
        <p:nvSpPr>
          <p:cNvPr id="44037" name="Text Box 8"/>
          <p:cNvSpPr txBox="1">
            <a:spLocks noChangeArrowheads="1"/>
          </p:cNvSpPr>
          <p:nvPr/>
        </p:nvSpPr>
        <p:spPr bwMode="auto">
          <a:xfrm>
            <a:off x="5470525" y="4935538"/>
            <a:ext cx="3598863" cy="137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Data structure</a:t>
            </a:r>
          </a:p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adjacency list: O(e)</a:t>
            </a:r>
          </a:p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adjacency matrix: O(n</a:t>
            </a:r>
            <a:r>
              <a:rPr lang="en-US" altLang="zh-TW" sz="2800" baseline="30000">
                <a:solidFill>
                  <a:schemeClr val="tx1"/>
                </a:solidFill>
                <a:ea typeface="PMingLiU" pitchFamily="18" charset="-120"/>
              </a:rPr>
              <a:t>2</a:t>
            </a: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)</a:t>
            </a:r>
          </a:p>
        </p:txBody>
      </p:sp>
      <p:sp>
        <p:nvSpPr>
          <p:cNvPr id="44038" name="Rectangle 9"/>
          <p:cNvSpPr>
            <a:spLocks noChangeArrowheads="1"/>
          </p:cNvSpPr>
          <p:nvPr/>
        </p:nvSpPr>
        <p:spPr bwMode="auto">
          <a:xfrm>
            <a:off x="5486400" y="5021263"/>
            <a:ext cx="3657600" cy="1219200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146050" y="609600"/>
            <a:ext cx="8991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altLang="zh-TW" sz="4400">
                <a:solidFill>
                  <a:schemeClr val="tx1"/>
                </a:solidFill>
                <a:ea typeface="PMingLiU" pitchFamily="18" charset="-120"/>
              </a:rPr>
              <a:t>Breadth First Search</a:t>
            </a:r>
          </a:p>
        </p:txBody>
      </p:sp>
      <p:sp>
        <p:nvSpPr>
          <p:cNvPr id="45059" name="Rectangle 3"/>
          <p:cNvSpPr>
            <a:spLocks noChangeArrowheads="1"/>
          </p:cNvSpPr>
          <p:nvPr/>
        </p:nvSpPr>
        <p:spPr bwMode="auto">
          <a:xfrm>
            <a:off x="869950" y="1963738"/>
            <a:ext cx="827405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typedef struct queue *queue_pointer;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typedef struct queue {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int vertex;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queue_pointer link;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};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void addq(queue_pointer *, </a:t>
            </a:r>
            <a:b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</a:b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    queue_pointer *, int);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int deleteq(queue_pointer *);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973138" y="539750"/>
            <a:ext cx="81708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altLang="zh-TW" sz="4400">
                <a:solidFill>
                  <a:schemeClr val="tx1"/>
                </a:solidFill>
                <a:ea typeface="PMingLiU" pitchFamily="18" charset="-120"/>
              </a:rPr>
              <a:t>Breadth First Search </a:t>
            </a: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(</a:t>
            </a:r>
            <a:r>
              <a:rPr lang="en-US" altLang="zh-TW" sz="2400" i="1">
                <a:solidFill>
                  <a:schemeClr val="tx1"/>
                </a:solidFill>
                <a:ea typeface="PMingLiU" pitchFamily="18" charset="-120"/>
              </a:rPr>
              <a:t>Continued</a:t>
            </a: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)</a:t>
            </a:r>
          </a:p>
        </p:txBody>
      </p:sp>
      <p:sp>
        <p:nvSpPr>
          <p:cNvPr id="46083" name="Rectangle 3"/>
          <p:cNvSpPr>
            <a:spLocks noChangeArrowheads="1"/>
          </p:cNvSpPr>
          <p:nvPr/>
        </p:nvSpPr>
        <p:spPr bwMode="auto">
          <a:xfrm>
            <a:off x="973138" y="1911350"/>
            <a:ext cx="817086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void bfs(int v)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{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node_pointer w;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queue_pointer front, rear;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front = rear = NULL;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printf(“%5d”, v);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visited[v] = TRUE;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addq(&amp;front, &amp;rear, v);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</a:t>
            </a:r>
          </a:p>
        </p:txBody>
      </p:sp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6172200" y="4022725"/>
            <a:ext cx="2643188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adjacency list: O(e)</a:t>
            </a:r>
          </a:p>
          <a:p>
            <a:pPr algn="l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adjacency matrix: O(n</a:t>
            </a:r>
            <a:r>
              <a:rPr lang="en-US" altLang="zh-TW" baseline="30000">
                <a:solidFill>
                  <a:schemeClr val="tx1"/>
                </a:solidFill>
                <a:ea typeface="PMingLiU" pitchFamily="18" charset="-120"/>
              </a:rPr>
              <a:t>2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)</a:t>
            </a:r>
          </a:p>
        </p:txBody>
      </p:sp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6105525" y="4003675"/>
            <a:ext cx="2774950" cy="7588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585788" y="1822450"/>
            <a:ext cx="8991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while (front) {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v= deleteq(&amp;front);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for (w=graph[v]; w; w=w-&gt;link)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  if (!visited[w-&gt;vertex]) {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    printf(“%5d”, w-&gt;vertex);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    addq(&amp;front, &amp;rear, w-&gt;vertex);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    visited[w-&gt;vertex] = TRUE;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  }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}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}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ChangeArrowheads="1"/>
          </p:cNvSpPr>
          <p:nvPr/>
        </p:nvSpPr>
        <p:spPr bwMode="auto">
          <a:xfrm>
            <a:off x="1081088" y="609600"/>
            <a:ext cx="806291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altLang="zh-TW" sz="4400">
                <a:solidFill>
                  <a:schemeClr val="tx1"/>
                </a:solidFill>
                <a:ea typeface="PMingLiU" pitchFamily="18" charset="-120"/>
              </a:rPr>
              <a:t>Connected Components</a:t>
            </a:r>
          </a:p>
        </p:txBody>
      </p:sp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1081088" y="1981200"/>
            <a:ext cx="806291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void connected(void)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{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for (i=0; i&lt;n; i++) {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    if (!visited[i]) {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        dfs(i);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        printf(“\n”);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    }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}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}</a:t>
            </a:r>
          </a:p>
        </p:txBody>
      </p:sp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5043488" y="5116513"/>
            <a:ext cx="2643187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adjacency list: O(n+e)</a:t>
            </a:r>
          </a:p>
          <a:p>
            <a:pPr algn="l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adjacency matrix: O(n</a:t>
            </a:r>
            <a:r>
              <a:rPr lang="en-US" altLang="zh-TW" baseline="30000">
                <a:solidFill>
                  <a:schemeClr val="tx1"/>
                </a:solidFill>
                <a:ea typeface="PMingLiU" pitchFamily="18" charset="-120"/>
              </a:rPr>
              <a:t>2</a:t>
            </a:r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)</a:t>
            </a:r>
          </a:p>
        </p:txBody>
      </p:sp>
      <p:sp>
        <p:nvSpPr>
          <p:cNvPr id="48133" name="Rectangle 5"/>
          <p:cNvSpPr>
            <a:spLocks noChangeArrowheads="1"/>
          </p:cNvSpPr>
          <p:nvPr/>
        </p:nvSpPr>
        <p:spPr bwMode="auto">
          <a:xfrm>
            <a:off x="4976813" y="5097463"/>
            <a:ext cx="2774950" cy="7588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ChangeArrowheads="1"/>
          </p:cNvSpPr>
          <p:nvPr/>
        </p:nvSpPr>
        <p:spPr bwMode="auto">
          <a:xfrm>
            <a:off x="938213" y="412750"/>
            <a:ext cx="820578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altLang="zh-TW" sz="4400">
                <a:solidFill>
                  <a:schemeClr val="tx1"/>
                </a:solidFill>
                <a:ea typeface="PMingLiU" pitchFamily="18" charset="-120"/>
              </a:rPr>
              <a:t>Spanning Trees</a:t>
            </a:r>
          </a:p>
        </p:txBody>
      </p:sp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938213" y="1677988"/>
            <a:ext cx="8205787" cy="2668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When graph G is connected, a depth first or 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breadth first search starting at any vertex will 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visit all vertices in G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A spanning tree is any tree that consists solely 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of edges in G and that includes all the vertices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E(G): T (tree edges) + N (nontree edges)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where 	T: set of edges used during search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		N: set of remaining edges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641350" y="592138"/>
            <a:ext cx="85026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altLang="zh-TW" sz="4400">
                <a:solidFill>
                  <a:schemeClr val="tx1"/>
                </a:solidFill>
                <a:ea typeface="PMingLiU" pitchFamily="18" charset="-120"/>
              </a:rPr>
              <a:t>Examples of Spanning Tree</a:t>
            </a:r>
          </a:p>
        </p:txBody>
      </p:sp>
      <p:sp>
        <p:nvSpPr>
          <p:cNvPr id="50179" name="Oval 3"/>
          <p:cNvSpPr>
            <a:spLocks noChangeArrowheads="1"/>
          </p:cNvSpPr>
          <p:nvPr/>
        </p:nvSpPr>
        <p:spPr bwMode="auto">
          <a:xfrm>
            <a:off x="1576388" y="26860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50180" name="Oval 4"/>
          <p:cNvSpPr>
            <a:spLocks noChangeArrowheads="1"/>
          </p:cNvSpPr>
          <p:nvPr/>
        </p:nvSpPr>
        <p:spPr bwMode="auto">
          <a:xfrm>
            <a:off x="890588" y="34480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50181" name="Oval 5"/>
          <p:cNvSpPr>
            <a:spLocks noChangeArrowheads="1"/>
          </p:cNvSpPr>
          <p:nvPr/>
        </p:nvSpPr>
        <p:spPr bwMode="auto">
          <a:xfrm>
            <a:off x="2262188" y="34480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50182" name="Oval 6"/>
          <p:cNvSpPr>
            <a:spLocks noChangeArrowheads="1"/>
          </p:cNvSpPr>
          <p:nvPr/>
        </p:nvSpPr>
        <p:spPr bwMode="auto">
          <a:xfrm>
            <a:off x="1576388" y="40576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50183" name="Line 7"/>
          <p:cNvSpPr>
            <a:spLocks noChangeShapeType="1"/>
          </p:cNvSpPr>
          <p:nvPr/>
        </p:nvSpPr>
        <p:spPr bwMode="auto">
          <a:xfrm>
            <a:off x="1798638" y="3136900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4" name="Line 8"/>
          <p:cNvSpPr>
            <a:spLocks noChangeShapeType="1"/>
          </p:cNvSpPr>
          <p:nvPr/>
        </p:nvSpPr>
        <p:spPr bwMode="auto">
          <a:xfrm>
            <a:off x="1341438" y="36703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5" name="Line 9"/>
          <p:cNvSpPr>
            <a:spLocks noChangeShapeType="1"/>
          </p:cNvSpPr>
          <p:nvPr/>
        </p:nvSpPr>
        <p:spPr bwMode="auto">
          <a:xfrm flipH="1">
            <a:off x="1230313" y="3060700"/>
            <a:ext cx="407987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6" name="Line 10"/>
          <p:cNvSpPr>
            <a:spLocks noChangeShapeType="1"/>
          </p:cNvSpPr>
          <p:nvPr/>
        </p:nvSpPr>
        <p:spPr bwMode="auto">
          <a:xfrm>
            <a:off x="1951038" y="3060700"/>
            <a:ext cx="422275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7" name="Line 11"/>
          <p:cNvSpPr>
            <a:spLocks noChangeShapeType="1"/>
          </p:cNvSpPr>
          <p:nvPr/>
        </p:nvSpPr>
        <p:spPr bwMode="auto">
          <a:xfrm>
            <a:off x="1216025" y="3876675"/>
            <a:ext cx="354013" cy="3127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8" name="Line 12"/>
          <p:cNvSpPr>
            <a:spLocks noChangeShapeType="1"/>
          </p:cNvSpPr>
          <p:nvPr/>
        </p:nvSpPr>
        <p:spPr bwMode="auto">
          <a:xfrm flipH="1">
            <a:off x="2005013" y="3849688"/>
            <a:ext cx="327025" cy="339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9" name="Oval 13"/>
          <p:cNvSpPr>
            <a:spLocks noChangeArrowheads="1"/>
          </p:cNvSpPr>
          <p:nvPr/>
        </p:nvSpPr>
        <p:spPr bwMode="auto">
          <a:xfrm>
            <a:off x="3719513" y="268922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50190" name="Oval 14"/>
          <p:cNvSpPr>
            <a:spLocks noChangeArrowheads="1"/>
          </p:cNvSpPr>
          <p:nvPr/>
        </p:nvSpPr>
        <p:spPr bwMode="auto">
          <a:xfrm>
            <a:off x="3033713" y="345122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50191" name="Oval 15"/>
          <p:cNvSpPr>
            <a:spLocks noChangeArrowheads="1"/>
          </p:cNvSpPr>
          <p:nvPr/>
        </p:nvSpPr>
        <p:spPr bwMode="auto">
          <a:xfrm>
            <a:off x="4405313" y="345122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50192" name="Oval 16"/>
          <p:cNvSpPr>
            <a:spLocks noChangeArrowheads="1"/>
          </p:cNvSpPr>
          <p:nvPr/>
        </p:nvSpPr>
        <p:spPr bwMode="auto">
          <a:xfrm>
            <a:off x="3719513" y="406082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50193" name="Line 17"/>
          <p:cNvSpPr>
            <a:spLocks noChangeShapeType="1"/>
          </p:cNvSpPr>
          <p:nvPr/>
        </p:nvSpPr>
        <p:spPr bwMode="auto">
          <a:xfrm flipH="1">
            <a:off x="3373438" y="3063875"/>
            <a:ext cx="407987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94" name="Line 18"/>
          <p:cNvSpPr>
            <a:spLocks noChangeShapeType="1"/>
          </p:cNvSpPr>
          <p:nvPr/>
        </p:nvSpPr>
        <p:spPr bwMode="auto">
          <a:xfrm>
            <a:off x="4094163" y="3063875"/>
            <a:ext cx="422275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95" name="Line 19"/>
          <p:cNvSpPr>
            <a:spLocks noChangeShapeType="1"/>
          </p:cNvSpPr>
          <p:nvPr/>
        </p:nvSpPr>
        <p:spPr bwMode="auto">
          <a:xfrm>
            <a:off x="3359150" y="3879850"/>
            <a:ext cx="354013" cy="3127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96" name="Oval 20"/>
          <p:cNvSpPr>
            <a:spLocks noChangeArrowheads="1"/>
          </p:cNvSpPr>
          <p:nvPr/>
        </p:nvSpPr>
        <p:spPr bwMode="auto">
          <a:xfrm>
            <a:off x="5845175" y="268763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50197" name="Oval 21"/>
          <p:cNvSpPr>
            <a:spLocks noChangeArrowheads="1"/>
          </p:cNvSpPr>
          <p:nvPr/>
        </p:nvSpPr>
        <p:spPr bwMode="auto">
          <a:xfrm>
            <a:off x="5159375" y="344963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50198" name="Oval 22"/>
          <p:cNvSpPr>
            <a:spLocks noChangeArrowheads="1"/>
          </p:cNvSpPr>
          <p:nvPr/>
        </p:nvSpPr>
        <p:spPr bwMode="auto">
          <a:xfrm>
            <a:off x="6530975" y="344963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50199" name="Oval 23"/>
          <p:cNvSpPr>
            <a:spLocks noChangeArrowheads="1"/>
          </p:cNvSpPr>
          <p:nvPr/>
        </p:nvSpPr>
        <p:spPr bwMode="auto">
          <a:xfrm>
            <a:off x="5845175" y="405923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50200" name="Line 24"/>
          <p:cNvSpPr>
            <a:spLocks noChangeShapeType="1"/>
          </p:cNvSpPr>
          <p:nvPr/>
        </p:nvSpPr>
        <p:spPr bwMode="auto">
          <a:xfrm>
            <a:off x="6067425" y="3138488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201" name="Line 25"/>
          <p:cNvSpPr>
            <a:spLocks noChangeShapeType="1"/>
          </p:cNvSpPr>
          <p:nvPr/>
        </p:nvSpPr>
        <p:spPr bwMode="auto">
          <a:xfrm flipH="1">
            <a:off x="5499100" y="3062288"/>
            <a:ext cx="407988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202" name="Line 26"/>
          <p:cNvSpPr>
            <a:spLocks noChangeShapeType="1"/>
          </p:cNvSpPr>
          <p:nvPr/>
        </p:nvSpPr>
        <p:spPr bwMode="auto">
          <a:xfrm>
            <a:off x="6219825" y="3062288"/>
            <a:ext cx="422275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203" name="Oval 27"/>
          <p:cNvSpPr>
            <a:spLocks noChangeArrowheads="1"/>
          </p:cNvSpPr>
          <p:nvPr/>
        </p:nvSpPr>
        <p:spPr bwMode="auto">
          <a:xfrm>
            <a:off x="7988300" y="265271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50204" name="Oval 28"/>
          <p:cNvSpPr>
            <a:spLocks noChangeArrowheads="1"/>
          </p:cNvSpPr>
          <p:nvPr/>
        </p:nvSpPr>
        <p:spPr bwMode="auto">
          <a:xfrm>
            <a:off x="7302500" y="341471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50205" name="Oval 29"/>
          <p:cNvSpPr>
            <a:spLocks noChangeArrowheads="1"/>
          </p:cNvSpPr>
          <p:nvPr/>
        </p:nvSpPr>
        <p:spPr bwMode="auto">
          <a:xfrm>
            <a:off x="8674100" y="341471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50206" name="Oval 30"/>
          <p:cNvSpPr>
            <a:spLocks noChangeArrowheads="1"/>
          </p:cNvSpPr>
          <p:nvPr/>
        </p:nvSpPr>
        <p:spPr bwMode="auto">
          <a:xfrm>
            <a:off x="7988300" y="402431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50207" name="Line 31"/>
          <p:cNvSpPr>
            <a:spLocks noChangeShapeType="1"/>
          </p:cNvSpPr>
          <p:nvPr/>
        </p:nvSpPr>
        <p:spPr bwMode="auto">
          <a:xfrm flipH="1">
            <a:off x="7642225" y="3027363"/>
            <a:ext cx="407988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208" name="Line 32"/>
          <p:cNvSpPr>
            <a:spLocks noChangeShapeType="1"/>
          </p:cNvSpPr>
          <p:nvPr/>
        </p:nvSpPr>
        <p:spPr bwMode="auto">
          <a:xfrm>
            <a:off x="8362950" y="3027363"/>
            <a:ext cx="422275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209" name="Line 33"/>
          <p:cNvSpPr>
            <a:spLocks noChangeShapeType="1"/>
          </p:cNvSpPr>
          <p:nvPr/>
        </p:nvSpPr>
        <p:spPr bwMode="auto">
          <a:xfrm flipH="1">
            <a:off x="8416925" y="3816350"/>
            <a:ext cx="327025" cy="339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210" name="Rectangle 34"/>
          <p:cNvSpPr>
            <a:spLocks noChangeArrowheads="1"/>
          </p:cNvSpPr>
          <p:nvPr/>
        </p:nvSpPr>
        <p:spPr bwMode="auto">
          <a:xfrm>
            <a:off x="1506538" y="4751388"/>
            <a:ext cx="5556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G</a:t>
            </a:r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50211" name="Rectangle 35"/>
          <p:cNvSpPr>
            <a:spLocks noChangeArrowheads="1"/>
          </p:cNvSpPr>
          <p:nvPr/>
        </p:nvSpPr>
        <p:spPr bwMode="auto">
          <a:xfrm>
            <a:off x="4160838" y="4683125"/>
            <a:ext cx="34988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Possible spanning trees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835025" y="573088"/>
            <a:ext cx="83089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altLang="zh-TW" sz="4400">
                <a:solidFill>
                  <a:schemeClr val="tx1"/>
                </a:solidFill>
                <a:ea typeface="PMingLiU" pitchFamily="18" charset="-120"/>
              </a:rPr>
              <a:t>Spanning Trees</a:t>
            </a:r>
          </a:p>
        </p:txBody>
      </p:sp>
      <p:sp>
        <p:nvSpPr>
          <p:cNvPr id="51203" name="Rectangle 3"/>
          <p:cNvSpPr>
            <a:spLocks noChangeArrowheads="1"/>
          </p:cNvSpPr>
          <p:nvPr/>
        </p:nvSpPr>
        <p:spPr bwMode="auto">
          <a:xfrm>
            <a:off x="835025" y="1944688"/>
            <a:ext cx="855027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Either dfs or bfs can be used to create a 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spanning tree</a:t>
            </a:r>
          </a:p>
          <a:p>
            <a:pPr marL="742950" lvl="1" indent="-285750" algn="l">
              <a:spcBef>
                <a:spcPct val="20000"/>
              </a:spcBef>
              <a:buFontTx/>
              <a:buChar char="–"/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When dfs is used, the resulting spanning tree is </a:t>
            </a:r>
            <a:br>
              <a:rPr lang="en-US" altLang="zh-TW" sz="28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known as a depth first spanning tree</a:t>
            </a:r>
          </a:p>
          <a:p>
            <a:pPr marL="742950" lvl="1" indent="-285750" algn="l">
              <a:spcBef>
                <a:spcPct val="20000"/>
              </a:spcBef>
              <a:buFontTx/>
              <a:buChar char="–"/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When bfs is used, the resulting spanning tree is </a:t>
            </a:r>
            <a:br>
              <a:rPr lang="en-US" altLang="zh-TW" sz="28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known as a breadth first spanning tree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While adding a nontree edge into any spanning 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tree, this will create a cycle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974725" y="539750"/>
            <a:ext cx="81692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altLang="zh-TW" sz="4400">
                <a:solidFill>
                  <a:schemeClr val="tx1"/>
                </a:solidFill>
                <a:ea typeface="PMingLiU" pitchFamily="18" charset="-120"/>
              </a:rPr>
              <a:t>DFS VS BFS Spanning Tree</a:t>
            </a:r>
          </a:p>
        </p:txBody>
      </p:sp>
      <p:sp>
        <p:nvSpPr>
          <p:cNvPr id="52227" name="Oval 3"/>
          <p:cNvSpPr>
            <a:spLocks noChangeArrowheads="1"/>
          </p:cNvSpPr>
          <p:nvPr/>
        </p:nvSpPr>
        <p:spPr bwMode="auto">
          <a:xfrm>
            <a:off x="4598988" y="209708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52228" name="Oval 4"/>
          <p:cNvSpPr>
            <a:spLocks noChangeArrowheads="1"/>
          </p:cNvSpPr>
          <p:nvPr/>
        </p:nvSpPr>
        <p:spPr bwMode="auto">
          <a:xfrm>
            <a:off x="3913188" y="285908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52229" name="Oval 5"/>
          <p:cNvSpPr>
            <a:spLocks noChangeArrowheads="1"/>
          </p:cNvSpPr>
          <p:nvPr/>
        </p:nvSpPr>
        <p:spPr bwMode="auto">
          <a:xfrm>
            <a:off x="5284788" y="285908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52230" name="Line 6"/>
          <p:cNvSpPr>
            <a:spLocks noChangeShapeType="1"/>
          </p:cNvSpPr>
          <p:nvPr/>
        </p:nvSpPr>
        <p:spPr bwMode="auto">
          <a:xfrm flipH="1">
            <a:off x="4252913" y="2471738"/>
            <a:ext cx="407987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31" name="Oval 7"/>
          <p:cNvSpPr>
            <a:spLocks noChangeArrowheads="1"/>
          </p:cNvSpPr>
          <p:nvPr/>
        </p:nvSpPr>
        <p:spPr bwMode="auto">
          <a:xfrm>
            <a:off x="3530600" y="375602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52232" name="Oval 8"/>
          <p:cNvSpPr>
            <a:spLocks noChangeArrowheads="1"/>
          </p:cNvSpPr>
          <p:nvPr/>
        </p:nvSpPr>
        <p:spPr bwMode="auto">
          <a:xfrm>
            <a:off x="4291013" y="376872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52233" name="Line 9"/>
          <p:cNvSpPr>
            <a:spLocks noChangeShapeType="1"/>
          </p:cNvSpPr>
          <p:nvPr/>
        </p:nvSpPr>
        <p:spPr bwMode="auto">
          <a:xfrm flipH="1">
            <a:off x="3757613" y="3300413"/>
            <a:ext cx="263525" cy="460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34" name="Oval 10"/>
          <p:cNvSpPr>
            <a:spLocks noChangeArrowheads="1"/>
          </p:cNvSpPr>
          <p:nvPr/>
        </p:nvSpPr>
        <p:spPr bwMode="auto">
          <a:xfrm>
            <a:off x="4935538" y="375761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52235" name="Oval 11"/>
          <p:cNvSpPr>
            <a:spLocks noChangeArrowheads="1"/>
          </p:cNvSpPr>
          <p:nvPr/>
        </p:nvSpPr>
        <p:spPr bwMode="auto">
          <a:xfrm>
            <a:off x="5680075" y="375602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6</a:t>
            </a:r>
          </a:p>
        </p:txBody>
      </p:sp>
      <p:sp>
        <p:nvSpPr>
          <p:cNvPr id="52236" name="Line 12"/>
          <p:cNvSpPr>
            <a:spLocks noChangeShapeType="1"/>
          </p:cNvSpPr>
          <p:nvPr/>
        </p:nvSpPr>
        <p:spPr bwMode="auto">
          <a:xfrm flipH="1">
            <a:off x="5132388" y="3284538"/>
            <a:ext cx="273050" cy="461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37" name="Line 13"/>
          <p:cNvSpPr>
            <a:spLocks noChangeShapeType="1"/>
          </p:cNvSpPr>
          <p:nvPr/>
        </p:nvSpPr>
        <p:spPr bwMode="auto">
          <a:xfrm>
            <a:off x="5608638" y="3297238"/>
            <a:ext cx="273050" cy="4492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38" name="Oval 14"/>
          <p:cNvSpPr>
            <a:spLocks noChangeArrowheads="1"/>
          </p:cNvSpPr>
          <p:nvPr/>
        </p:nvSpPr>
        <p:spPr bwMode="auto">
          <a:xfrm>
            <a:off x="3879850" y="460692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7</a:t>
            </a:r>
          </a:p>
        </p:txBody>
      </p:sp>
      <p:sp>
        <p:nvSpPr>
          <p:cNvPr id="52239" name="Line 15"/>
          <p:cNvSpPr>
            <a:spLocks noChangeShapeType="1"/>
          </p:cNvSpPr>
          <p:nvPr/>
        </p:nvSpPr>
        <p:spPr bwMode="auto">
          <a:xfrm>
            <a:off x="3743325" y="4205288"/>
            <a:ext cx="374650" cy="3921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40" name="Oval 16"/>
          <p:cNvSpPr>
            <a:spLocks noChangeArrowheads="1"/>
          </p:cNvSpPr>
          <p:nvPr/>
        </p:nvSpPr>
        <p:spPr bwMode="auto">
          <a:xfrm>
            <a:off x="7243763" y="210026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52241" name="Oval 17"/>
          <p:cNvSpPr>
            <a:spLocks noChangeArrowheads="1"/>
          </p:cNvSpPr>
          <p:nvPr/>
        </p:nvSpPr>
        <p:spPr bwMode="auto">
          <a:xfrm>
            <a:off x="6557963" y="286226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52242" name="Oval 18"/>
          <p:cNvSpPr>
            <a:spLocks noChangeArrowheads="1"/>
          </p:cNvSpPr>
          <p:nvPr/>
        </p:nvSpPr>
        <p:spPr bwMode="auto">
          <a:xfrm>
            <a:off x="7929563" y="286226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52243" name="Line 19"/>
          <p:cNvSpPr>
            <a:spLocks noChangeShapeType="1"/>
          </p:cNvSpPr>
          <p:nvPr/>
        </p:nvSpPr>
        <p:spPr bwMode="auto">
          <a:xfrm flipH="1">
            <a:off x="6897688" y="2474913"/>
            <a:ext cx="407987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44" name="Line 20"/>
          <p:cNvSpPr>
            <a:spLocks noChangeShapeType="1"/>
          </p:cNvSpPr>
          <p:nvPr/>
        </p:nvSpPr>
        <p:spPr bwMode="auto">
          <a:xfrm>
            <a:off x="7618413" y="2474913"/>
            <a:ext cx="422275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45" name="Oval 21"/>
          <p:cNvSpPr>
            <a:spLocks noChangeArrowheads="1"/>
          </p:cNvSpPr>
          <p:nvPr/>
        </p:nvSpPr>
        <p:spPr bwMode="auto">
          <a:xfrm>
            <a:off x="6175375" y="375920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52246" name="Oval 22"/>
          <p:cNvSpPr>
            <a:spLocks noChangeArrowheads="1"/>
          </p:cNvSpPr>
          <p:nvPr/>
        </p:nvSpPr>
        <p:spPr bwMode="auto">
          <a:xfrm>
            <a:off x="6935788" y="377190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52247" name="Line 23"/>
          <p:cNvSpPr>
            <a:spLocks noChangeShapeType="1"/>
          </p:cNvSpPr>
          <p:nvPr/>
        </p:nvSpPr>
        <p:spPr bwMode="auto">
          <a:xfrm flipH="1">
            <a:off x="6402388" y="3303588"/>
            <a:ext cx="263525" cy="460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48" name="Line 24"/>
          <p:cNvSpPr>
            <a:spLocks noChangeShapeType="1"/>
          </p:cNvSpPr>
          <p:nvPr/>
        </p:nvSpPr>
        <p:spPr bwMode="auto">
          <a:xfrm>
            <a:off x="6853238" y="3317875"/>
            <a:ext cx="298450" cy="4587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49" name="Oval 25"/>
          <p:cNvSpPr>
            <a:spLocks noChangeArrowheads="1"/>
          </p:cNvSpPr>
          <p:nvPr/>
        </p:nvSpPr>
        <p:spPr bwMode="auto">
          <a:xfrm>
            <a:off x="7580313" y="376078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52250" name="Oval 26"/>
          <p:cNvSpPr>
            <a:spLocks noChangeArrowheads="1"/>
          </p:cNvSpPr>
          <p:nvPr/>
        </p:nvSpPr>
        <p:spPr bwMode="auto">
          <a:xfrm>
            <a:off x="8324850" y="375920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6</a:t>
            </a:r>
          </a:p>
        </p:txBody>
      </p:sp>
      <p:sp>
        <p:nvSpPr>
          <p:cNvPr id="52251" name="Line 27"/>
          <p:cNvSpPr>
            <a:spLocks noChangeShapeType="1"/>
          </p:cNvSpPr>
          <p:nvPr/>
        </p:nvSpPr>
        <p:spPr bwMode="auto">
          <a:xfrm flipH="1">
            <a:off x="7777163" y="3287713"/>
            <a:ext cx="273050" cy="461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52" name="Line 28"/>
          <p:cNvSpPr>
            <a:spLocks noChangeShapeType="1"/>
          </p:cNvSpPr>
          <p:nvPr/>
        </p:nvSpPr>
        <p:spPr bwMode="auto">
          <a:xfrm>
            <a:off x="8253413" y="3300413"/>
            <a:ext cx="273050" cy="4492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53" name="Oval 29"/>
          <p:cNvSpPr>
            <a:spLocks noChangeArrowheads="1"/>
          </p:cNvSpPr>
          <p:nvPr/>
        </p:nvSpPr>
        <p:spPr bwMode="auto">
          <a:xfrm>
            <a:off x="6524625" y="461010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7</a:t>
            </a:r>
          </a:p>
        </p:txBody>
      </p:sp>
      <p:sp>
        <p:nvSpPr>
          <p:cNvPr id="52254" name="Line 30"/>
          <p:cNvSpPr>
            <a:spLocks noChangeShapeType="1"/>
          </p:cNvSpPr>
          <p:nvPr/>
        </p:nvSpPr>
        <p:spPr bwMode="auto">
          <a:xfrm>
            <a:off x="6388100" y="4208463"/>
            <a:ext cx="374650" cy="3921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55" name="Line 31"/>
          <p:cNvSpPr>
            <a:spLocks noChangeShapeType="1"/>
          </p:cNvSpPr>
          <p:nvPr/>
        </p:nvSpPr>
        <p:spPr bwMode="auto">
          <a:xfrm flipV="1">
            <a:off x="4117975" y="4222750"/>
            <a:ext cx="373063" cy="3571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56" name="Line 32"/>
          <p:cNvSpPr>
            <a:spLocks noChangeShapeType="1"/>
          </p:cNvSpPr>
          <p:nvPr/>
        </p:nvSpPr>
        <p:spPr bwMode="auto">
          <a:xfrm flipV="1">
            <a:off x="4133850" y="4222750"/>
            <a:ext cx="1004888" cy="3571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57" name="Rectangle 33"/>
          <p:cNvSpPr>
            <a:spLocks noChangeArrowheads="1"/>
          </p:cNvSpPr>
          <p:nvPr/>
        </p:nvSpPr>
        <p:spPr bwMode="auto">
          <a:xfrm>
            <a:off x="3703638" y="5238750"/>
            <a:ext cx="22701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DFS Spanning</a:t>
            </a:r>
          </a:p>
        </p:txBody>
      </p:sp>
      <p:sp>
        <p:nvSpPr>
          <p:cNvPr id="52258" name="Rectangle 34"/>
          <p:cNvSpPr>
            <a:spLocks noChangeArrowheads="1"/>
          </p:cNvSpPr>
          <p:nvPr/>
        </p:nvSpPr>
        <p:spPr bwMode="auto">
          <a:xfrm>
            <a:off x="6399213" y="5275263"/>
            <a:ext cx="22717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BFS Spanning</a:t>
            </a:r>
          </a:p>
        </p:txBody>
      </p:sp>
      <p:sp>
        <p:nvSpPr>
          <p:cNvPr id="52259" name="Oval 35"/>
          <p:cNvSpPr>
            <a:spLocks noChangeArrowheads="1"/>
          </p:cNvSpPr>
          <p:nvPr/>
        </p:nvSpPr>
        <p:spPr bwMode="auto">
          <a:xfrm>
            <a:off x="1946275" y="205898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52260" name="Oval 36"/>
          <p:cNvSpPr>
            <a:spLocks noChangeArrowheads="1"/>
          </p:cNvSpPr>
          <p:nvPr/>
        </p:nvSpPr>
        <p:spPr bwMode="auto">
          <a:xfrm>
            <a:off x="1260475" y="282098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52261" name="Oval 37"/>
          <p:cNvSpPr>
            <a:spLocks noChangeArrowheads="1"/>
          </p:cNvSpPr>
          <p:nvPr/>
        </p:nvSpPr>
        <p:spPr bwMode="auto">
          <a:xfrm>
            <a:off x="2632075" y="282098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52262" name="Line 38"/>
          <p:cNvSpPr>
            <a:spLocks noChangeShapeType="1"/>
          </p:cNvSpPr>
          <p:nvPr/>
        </p:nvSpPr>
        <p:spPr bwMode="auto">
          <a:xfrm flipH="1">
            <a:off x="1600200" y="2433638"/>
            <a:ext cx="407988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63" name="Oval 39"/>
          <p:cNvSpPr>
            <a:spLocks noChangeArrowheads="1"/>
          </p:cNvSpPr>
          <p:nvPr/>
        </p:nvSpPr>
        <p:spPr bwMode="auto">
          <a:xfrm>
            <a:off x="877888" y="371792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52264" name="Oval 40"/>
          <p:cNvSpPr>
            <a:spLocks noChangeArrowheads="1"/>
          </p:cNvSpPr>
          <p:nvPr/>
        </p:nvSpPr>
        <p:spPr bwMode="auto">
          <a:xfrm>
            <a:off x="1638300" y="373062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52265" name="Line 41"/>
          <p:cNvSpPr>
            <a:spLocks noChangeShapeType="1"/>
          </p:cNvSpPr>
          <p:nvPr/>
        </p:nvSpPr>
        <p:spPr bwMode="auto">
          <a:xfrm flipH="1">
            <a:off x="1104900" y="3262313"/>
            <a:ext cx="263525" cy="460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66" name="Oval 42"/>
          <p:cNvSpPr>
            <a:spLocks noChangeArrowheads="1"/>
          </p:cNvSpPr>
          <p:nvPr/>
        </p:nvSpPr>
        <p:spPr bwMode="auto">
          <a:xfrm>
            <a:off x="2282825" y="371951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52267" name="Oval 43"/>
          <p:cNvSpPr>
            <a:spLocks noChangeArrowheads="1"/>
          </p:cNvSpPr>
          <p:nvPr/>
        </p:nvSpPr>
        <p:spPr bwMode="auto">
          <a:xfrm>
            <a:off x="3027363" y="371792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6</a:t>
            </a:r>
          </a:p>
        </p:txBody>
      </p:sp>
      <p:sp>
        <p:nvSpPr>
          <p:cNvPr id="52268" name="Line 44"/>
          <p:cNvSpPr>
            <a:spLocks noChangeShapeType="1"/>
          </p:cNvSpPr>
          <p:nvPr/>
        </p:nvSpPr>
        <p:spPr bwMode="auto">
          <a:xfrm flipH="1">
            <a:off x="2479675" y="3246438"/>
            <a:ext cx="273050" cy="461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69" name="Line 45"/>
          <p:cNvSpPr>
            <a:spLocks noChangeShapeType="1"/>
          </p:cNvSpPr>
          <p:nvPr/>
        </p:nvSpPr>
        <p:spPr bwMode="auto">
          <a:xfrm>
            <a:off x="2955925" y="3259138"/>
            <a:ext cx="273050" cy="4492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70" name="Oval 46"/>
          <p:cNvSpPr>
            <a:spLocks noChangeArrowheads="1"/>
          </p:cNvSpPr>
          <p:nvPr/>
        </p:nvSpPr>
        <p:spPr bwMode="auto">
          <a:xfrm>
            <a:off x="1227138" y="456882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7</a:t>
            </a:r>
          </a:p>
        </p:txBody>
      </p:sp>
      <p:sp>
        <p:nvSpPr>
          <p:cNvPr id="52271" name="Line 47"/>
          <p:cNvSpPr>
            <a:spLocks noChangeShapeType="1"/>
          </p:cNvSpPr>
          <p:nvPr/>
        </p:nvSpPr>
        <p:spPr bwMode="auto">
          <a:xfrm>
            <a:off x="1090613" y="4167188"/>
            <a:ext cx="374650" cy="3921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72" name="Line 48"/>
          <p:cNvSpPr>
            <a:spLocks noChangeShapeType="1"/>
          </p:cNvSpPr>
          <p:nvPr/>
        </p:nvSpPr>
        <p:spPr bwMode="auto">
          <a:xfrm flipV="1">
            <a:off x="1465263" y="4184650"/>
            <a:ext cx="373062" cy="3571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73" name="Line 49"/>
          <p:cNvSpPr>
            <a:spLocks noChangeShapeType="1"/>
          </p:cNvSpPr>
          <p:nvPr/>
        </p:nvSpPr>
        <p:spPr bwMode="auto">
          <a:xfrm flipV="1">
            <a:off x="1481138" y="4184650"/>
            <a:ext cx="1004887" cy="3571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74" name="Line 50"/>
          <p:cNvSpPr>
            <a:spLocks noChangeShapeType="1"/>
          </p:cNvSpPr>
          <p:nvPr/>
        </p:nvSpPr>
        <p:spPr bwMode="auto">
          <a:xfrm>
            <a:off x="2328863" y="2468563"/>
            <a:ext cx="387350" cy="371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75" name="Line 51"/>
          <p:cNvSpPr>
            <a:spLocks noChangeShapeType="1"/>
          </p:cNvSpPr>
          <p:nvPr/>
        </p:nvSpPr>
        <p:spPr bwMode="auto">
          <a:xfrm>
            <a:off x="1604963" y="3244850"/>
            <a:ext cx="247650" cy="530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76" name="Line 52"/>
          <p:cNvSpPr>
            <a:spLocks noChangeShapeType="1"/>
          </p:cNvSpPr>
          <p:nvPr/>
        </p:nvSpPr>
        <p:spPr bwMode="auto">
          <a:xfrm flipV="1">
            <a:off x="1535113" y="4110038"/>
            <a:ext cx="1516062" cy="441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77" name="Line 53"/>
          <p:cNvSpPr>
            <a:spLocks noChangeShapeType="1"/>
          </p:cNvSpPr>
          <p:nvPr/>
        </p:nvSpPr>
        <p:spPr bwMode="auto">
          <a:xfrm flipV="1">
            <a:off x="4303713" y="4144963"/>
            <a:ext cx="1465262" cy="704850"/>
          </a:xfrm>
          <a:prstGeom prst="line">
            <a:avLst/>
          </a:prstGeom>
          <a:noFill/>
          <a:ln w="9525">
            <a:solidFill>
              <a:srgbClr val="CC3300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78" name="Text Box 54"/>
          <p:cNvSpPr txBox="1">
            <a:spLocks noChangeArrowheads="1"/>
          </p:cNvSpPr>
          <p:nvPr/>
        </p:nvSpPr>
        <p:spPr bwMode="auto">
          <a:xfrm>
            <a:off x="4692650" y="4622800"/>
            <a:ext cx="148748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nontree edge</a:t>
            </a:r>
          </a:p>
          <a:p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cycle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1195388" y="350838"/>
            <a:ext cx="7323137" cy="350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A spanning tree is a minimal subgraph, G’, of G</a:t>
            </a:r>
          </a:p>
          <a:p>
            <a:pPr algn="l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such that V(G’)=V(G) and G’ is connected.</a:t>
            </a:r>
          </a:p>
          <a:p>
            <a:pPr algn="l"/>
            <a:endParaRPr lang="en-US" altLang="zh-TW" sz="2800">
              <a:solidFill>
                <a:schemeClr val="tx1"/>
              </a:solidFill>
              <a:ea typeface="PMingLiU" pitchFamily="18" charset="-120"/>
            </a:endParaRPr>
          </a:p>
          <a:p>
            <a:pPr algn="l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Any connected graph with n vertices must have </a:t>
            </a:r>
            <a:br>
              <a:rPr lang="en-US" altLang="zh-TW" sz="28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at least n-1 edges.</a:t>
            </a:r>
          </a:p>
          <a:p>
            <a:pPr algn="l"/>
            <a:endParaRPr lang="en-US" altLang="zh-TW" sz="2800">
              <a:solidFill>
                <a:schemeClr val="tx1"/>
              </a:solidFill>
              <a:ea typeface="PMingLiU" pitchFamily="18" charset="-120"/>
            </a:endParaRPr>
          </a:p>
          <a:p>
            <a:pPr algn="l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A biconnected graph is a connected graph that has</a:t>
            </a:r>
          </a:p>
          <a:p>
            <a:pPr algn="l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no articulation points.</a:t>
            </a:r>
          </a:p>
        </p:txBody>
      </p:sp>
      <p:sp>
        <p:nvSpPr>
          <p:cNvPr id="53251" name="Oval 3"/>
          <p:cNvSpPr>
            <a:spLocks noChangeArrowheads="1"/>
          </p:cNvSpPr>
          <p:nvPr/>
        </p:nvSpPr>
        <p:spPr bwMode="auto">
          <a:xfrm>
            <a:off x="6056313" y="336391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53252" name="Oval 4"/>
          <p:cNvSpPr>
            <a:spLocks noChangeArrowheads="1"/>
          </p:cNvSpPr>
          <p:nvPr/>
        </p:nvSpPr>
        <p:spPr bwMode="auto">
          <a:xfrm>
            <a:off x="5370513" y="412591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53253" name="Oval 5"/>
          <p:cNvSpPr>
            <a:spLocks noChangeArrowheads="1"/>
          </p:cNvSpPr>
          <p:nvPr/>
        </p:nvSpPr>
        <p:spPr bwMode="auto">
          <a:xfrm>
            <a:off x="6742113" y="412591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53254" name="Line 6"/>
          <p:cNvSpPr>
            <a:spLocks noChangeShapeType="1"/>
          </p:cNvSpPr>
          <p:nvPr/>
        </p:nvSpPr>
        <p:spPr bwMode="auto">
          <a:xfrm flipH="1">
            <a:off x="5710238" y="3738563"/>
            <a:ext cx="407987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55" name="Oval 7"/>
          <p:cNvSpPr>
            <a:spLocks noChangeArrowheads="1"/>
          </p:cNvSpPr>
          <p:nvPr/>
        </p:nvSpPr>
        <p:spPr bwMode="auto">
          <a:xfrm>
            <a:off x="4987925" y="50228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53256" name="Oval 8"/>
          <p:cNvSpPr>
            <a:spLocks noChangeArrowheads="1"/>
          </p:cNvSpPr>
          <p:nvPr/>
        </p:nvSpPr>
        <p:spPr bwMode="auto">
          <a:xfrm>
            <a:off x="5748338" y="50355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53257" name="Line 9"/>
          <p:cNvSpPr>
            <a:spLocks noChangeShapeType="1"/>
          </p:cNvSpPr>
          <p:nvPr/>
        </p:nvSpPr>
        <p:spPr bwMode="auto">
          <a:xfrm flipH="1">
            <a:off x="5214938" y="4567238"/>
            <a:ext cx="263525" cy="460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58" name="Oval 10"/>
          <p:cNvSpPr>
            <a:spLocks noChangeArrowheads="1"/>
          </p:cNvSpPr>
          <p:nvPr/>
        </p:nvSpPr>
        <p:spPr bwMode="auto">
          <a:xfrm>
            <a:off x="6392863" y="502443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53259" name="Oval 11"/>
          <p:cNvSpPr>
            <a:spLocks noChangeArrowheads="1"/>
          </p:cNvSpPr>
          <p:nvPr/>
        </p:nvSpPr>
        <p:spPr bwMode="auto">
          <a:xfrm>
            <a:off x="7137400" y="50228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6</a:t>
            </a:r>
          </a:p>
        </p:txBody>
      </p:sp>
      <p:sp>
        <p:nvSpPr>
          <p:cNvPr id="53260" name="Line 12"/>
          <p:cNvSpPr>
            <a:spLocks noChangeShapeType="1"/>
          </p:cNvSpPr>
          <p:nvPr/>
        </p:nvSpPr>
        <p:spPr bwMode="auto">
          <a:xfrm flipH="1">
            <a:off x="6589713" y="4551363"/>
            <a:ext cx="273050" cy="461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61" name="Line 13"/>
          <p:cNvSpPr>
            <a:spLocks noChangeShapeType="1"/>
          </p:cNvSpPr>
          <p:nvPr/>
        </p:nvSpPr>
        <p:spPr bwMode="auto">
          <a:xfrm>
            <a:off x="7065963" y="4564063"/>
            <a:ext cx="273050" cy="4492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62" name="Oval 14"/>
          <p:cNvSpPr>
            <a:spLocks noChangeArrowheads="1"/>
          </p:cNvSpPr>
          <p:nvPr/>
        </p:nvSpPr>
        <p:spPr bwMode="auto">
          <a:xfrm>
            <a:off x="5337175" y="58737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7</a:t>
            </a:r>
          </a:p>
        </p:txBody>
      </p:sp>
      <p:sp>
        <p:nvSpPr>
          <p:cNvPr id="53263" name="Line 15"/>
          <p:cNvSpPr>
            <a:spLocks noChangeShapeType="1"/>
          </p:cNvSpPr>
          <p:nvPr/>
        </p:nvSpPr>
        <p:spPr bwMode="auto">
          <a:xfrm>
            <a:off x="5200650" y="5472113"/>
            <a:ext cx="374650" cy="3921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64" name="Line 16"/>
          <p:cNvSpPr>
            <a:spLocks noChangeShapeType="1"/>
          </p:cNvSpPr>
          <p:nvPr/>
        </p:nvSpPr>
        <p:spPr bwMode="auto">
          <a:xfrm flipV="1">
            <a:off x="5575300" y="5489575"/>
            <a:ext cx="373063" cy="3571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65" name="Line 17"/>
          <p:cNvSpPr>
            <a:spLocks noChangeShapeType="1"/>
          </p:cNvSpPr>
          <p:nvPr/>
        </p:nvSpPr>
        <p:spPr bwMode="auto">
          <a:xfrm flipV="1">
            <a:off x="5591175" y="5489575"/>
            <a:ext cx="1004888" cy="3571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66" name="Line 18"/>
          <p:cNvSpPr>
            <a:spLocks noChangeShapeType="1"/>
          </p:cNvSpPr>
          <p:nvPr/>
        </p:nvSpPr>
        <p:spPr bwMode="auto">
          <a:xfrm>
            <a:off x="6438900" y="3773488"/>
            <a:ext cx="387350" cy="371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67" name="Line 19"/>
          <p:cNvSpPr>
            <a:spLocks noChangeShapeType="1"/>
          </p:cNvSpPr>
          <p:nvPr/>
        </p:nvSpPr>
        <p:spPr bwMode="auto">
          <a:xfrm>
            <a:off x="5715000" y="4549775"/>
            <a:ext cx="247650" cy="530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68" name="Line 20"/>
          <p:cNvSpPr>
            <a:spLocks noChangeShapeType="1"/>
          </p:cNvSpPr>
          <p:nvPr/>
        </p:nvSpPr>
        <p:spPr bwMode="auto">
          <a:xfrm flipV="1">
            <a:off x="5645150" y="5414963"/>
            <a:ext cx="1516063" cy="441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69" name="Text Box 21"/>
          <p:cNvSpPr txBox="1">
            <a:spLocks noChangeArrowheads="1"/>
          </p:cNvSpPr>
          <p:nvPr/>
        </p:nvSpPr>
        <p:spPr bwMode="auto">
          <a:xfrm>
            <a:off x="1739900" y="4657725"/>
            <a:ext cx="2424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biconnected graph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Line 1049"/>
          <p:cNvSpPr>
            <a:spLocks noChangeShapeType="1"/>
          </p:cNvSpPr>
          <p:nvPr/>
        </p:nvSpPr>
        <p:spPr bwMode="auto">
          <a:xfrm>
            <a:off x="3622675" y="349250"/>
            <a:ext cx="0" cy="874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75" name="Line 1050"/>
          <p:cNvSpPr>
            <a:spLocks noChangeShapeType="1"/>
          </p:cNvSpPr>
          <p:nvPr/>
        </p:nvSpPr>
        <p:spPr bwMode="auto">
          <a:xfrm flipH="1">
            <a:off x="3175000" y="1223963"/>
            <a:ext cx="447675" cy="749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76" name="Line 1051"/>
          <p:cNvSpPr>
            <a:spLocks noChangeShapeType="1"/>
          </p:cNvSpPr>
          <p:nvPr/>
        </p:nvSpPr>
        <p:spPr bwMode="auto">
          <a:xfrm>
            <a:off x="3175000" y="1973263"/>
            <a:ext cx="523875" cy="925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77" name="Line 1052"/>
          <p:cNvSpPr>
            <a:spLocks noChangeShapeType="1"/>
          </p:cNvSpPr>
          <p:nvPr/>
        </p:nvSpPr>
        <p:spPr bwMode="auto">
          <a:xfrm flipV="1">
            <a:off x="3698875" y="1898650"/>
            <a:ext cx="422275" cy="974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78" name="Line 1053"/>
          <p:cNvSpPr>
            <a:spLocks noChangeShapeType="1"/>
          </p:cNvSpPr>
          <p:nvPr/>
        </p:nvSpPr>
        <p:spPr bwMode="auto">
          <a:xfrm>
            <a:off x="4146550" y="1924050"/>
            <a:ext cx="5476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79" name="Line 1054"/>
          <p:cNvSpPr>
            <a:spLocks noChangeShapeType="1"/>
          </p:cNvSpPr>
          <p:nvPr/>
        </p:nvSpPr>
        <p:spPr bwMode="auto">
          <a:xfrm>
            <a:off x="4668838" y="1924050"/>
            <a:ext cx="523875" cy="874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80" name="Line 1055"/>
          <p:cNvSpPr>
            <a:spLocks noChangeShapeType="1"/>
          </p:cNvSpPr>
          <p:nvPr/>
        </p:nvSpPr>
        <p:spPr bwMode="auto">
          <a:xfrm flipV="1">
            <a:off x="5167313" y="174625"/>
            <a:ext cx="0" cy="2573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81" name="Line 1056"/>
          <p:cNvSpPr>
            <a:spLocks noChangeShapeType="1"/>
          </p:cNvSpPr>
          <p:nvPr/>
        </p:nvSpPr>
        <p:spPr bwMode="auto">
          <a:xfrm flipV="1">
            <a:off x="5167313" y="300038"/>
            <a:ext cx="671512" cy="798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82" name="Oval 1057"/>
          <p:cNvSpPr>
            <a:spLocks noChangeArrowheads="1"/>
          </p:cNvSpPr>
          <p:nvPr/>
        </p:nvSpPr>
        <p:spPr bwMode="auto">
          <a:xfrm>
            <a:off x="3375025" y="100013"/>
            <a:ext cx="473075" cy="44926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4283" name="Oval 1058"/>
          <p:cNvSpPr>
            <a:spLocks noChangeArrowheads="1"/>
          </p:cNvSpPr>
          <p:nvPr/>
        </p:nvSpPr>
        <p:spPr bwMode="auto">
          <a:xfrm>
            <a:off x="3417888" y="1023938"/>
            <a:ext cx="454025" cy="450850"/>
          </a:xfrm>
          <a:prstGeom prst="ellipse">
            <a:avLst/>
          </a:prstGeom>
          <a:solidFill>
            <a:srgbClr val="CC33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54284" name="Oval 1059"/>
          <p:cNvSpPr>
            <a:spLocks noChangeArrowheads="1"/>
          </p:cNvSpPr>
          <p:nvPr/>
        </p:nvSpPr>
        <p:spPr bwMode="auto">
          <a:xfrm>
            <a:off x="2951163" y="1749425"/>
            <a:ext cx="473075" cy="4492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4285" name="Oval 1060"/>
          <p:cNvSpPr>
            <a:spLocks noChangeArrowheads="1"/>
          </p:cNvSpPr>
          <p:nvPr/>
        </p:nvSpPr>
        <p:spPr bwMode="auto">
          <a:xfrm>
            <a:off x="3424238" y="2617788"/>
            <a:ext cx="454025" cy="46831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  <a:p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54286" name="Oval 1061"/>
          <p:cNvSpPr>
            <a:spLocks noChangeArrowheads="1"/>
          </p:cNvSpPr>
          <p:nvPr/>
        </p:nvSpPr>
        <p:spPr bwMode="auto">
          <a:xfrm>
            <a:off x="3822700" y="1698625"/>
            <a:ext cx="473075" cy="449263"/>
          </a:xfrm>
          <a:prstGeom prst="ellipse">
            <a:avLst/>
          </a:prstGeom>
          <a:solidFill>
            <a:srgbClr val="CC33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3</a:t>
            </a:r>
            <a:endParaRPr lang="en-US" altLang="zh-TW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54287" name="Oval 1062"/>
          <p:cNvSpPr>
            <a:spLocks noChangeArrowheads="1"/>
          </p:cNvSpPr>
          <p:nvPr/>
        </p:nvSpPr>
        <p:spPr bwMode="auto">
          <a:xfrm>
            <a:off x="4445000" y="1673225"/>
            <a:ext cx="473075" cy="450850"/>
          </a:xfrm>
          <a:prstGeom prst="ellipse">
            <a:avLst/>
          </a:prstGeom>
          <a:solidFill>
            <a:srgbClr val="CC33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54288" name="Oval 1063"/>
          <p:cNvSpPr>
            <a:spLocks noChangeArrowheads="1"/>
          </p:cNvSpPr>
          <p:nvPr/>
        </p:nvSpPr>
        <p:spPr bwMode="auto">
          <a:xfrm>
            <a:off x="4918075" y="2619375"/>
            <a:ext cx="473075" cy="4492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6</a:t>
            </a:r>
          </a:p>
        </p:txBody>
      </p:sp>
      <p:sp>
        <p:nvSpPr>
          <p:cNvPr id="54289" name="Oval 1064"/>
          <p:cNvSpPr>
            <a:spLocks noChangeArrowheads="1"/>
          </p:cNvSpPr>
          <p:nvPr/>
        </p:nvSpPr>
        <p:spPr bwMode="auto">
          <a:xfrm>
            <a:off x="4918075" y="0"/>
            <a:ext cx="473075" cy="4492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4290" name="Oval 1065"/>
          <p:cNvSpPr>
            <a:spLocks noChangeArrowheads="1"/>
          </p:cNvSpPr>
          <p:nvPr/>
        </p:nvSpPr>
        <p:spPr bwMode="auto">
          <a:xfrm>
            <a:off x="5640388" y="0"/>
            <a:ext cx="473075" cy="4492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4291" name="Oval 1066"/>
          <p:cNvSpPr>
            <a:spLocks noChangeArrowheads="1"/>
          </p:cNvSpPr>
          <p:nvPr/>
        </p:nvSpPr>
        <p:spPr bwMode="auto">
          <a:xfrm>
            <a:off x="4943475" y="874713"/>
            <a:ext cx="473075" cy="44926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54292" name="Text Box 1067"/>
          <p:cNvSpPr txBox="1">
            <a:spLocks noChangeArrowheads="1"/>
          </p:cNvSpPr>
          <p:nvPr/>
        </p:nvSpPr>
        <p:spPr bwMode="auto">
          <a:xfrm>
            <a:off x="3444875" y="95250"/>
            <a:ext cx="269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54293" name="Text Box 1071"/>
          <p:cNvSpPr txBox="1">
            <a:spLocks noChangeArrowheads="1"/>
          </p:cNvSpPr>
          <p:nvPr/>
        </p:nvSpPr>
        <p:spPr bwMode="auto">
          <a:xfrm>
            <a:off x="4999038" y="3175"/>
            <a:ext cx="1098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8        9</a:t>
            </a:r>
          </a:p>
        </p:txBody>
      </p:sp>
      <p:sp>
        <p:nvSpPr>
          <p:cNvPr id="54294" name="Text Box 1072"/>
          <p:cNvSpPr txBox="1">
            <a:spLocks noChangeArrowheads="1"/>
          </p:cNvSpPr>
          <p:nvPr/>
        </p:nvSpPr>
        <p:spPr bwMode="auto">
          <a:xfrm>
            <a:off x="4897438" y="876300"/>
            <a:ext cx="488950" cy="457200"/>
          </a:xfrm>
          <a:prstGeom prst="rect">
            <a:avLst/>
          </a:prstGeom>
          <a:solidFill>
            <a:srgbClr val="CC330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7</a:t>
            </a:r>
          </a:p>
        </p:txBody>
      </p:sp>
      <p:sp>
        <p:nvSpPr>
          <p:cNvPr id="54295" name="Text Box 1074"/>
          <p:cNvSpPr txBox="1">
            <a:spLocks noChangeArrowheads="1"/>
          </p:cNvSpPr>
          <p:nvPr/>
        </p:nvSpPr>
        <p:spPr bwMode="auto">
          <a:xfrm>
            <a:off x="3051175" y="1366838"/>
            <a:ext cx="206375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2</a:t>
            </a:r>
          </a:p>
        </p:txBody>
      </p:sp>
      <p:sp>
        <p:nvSpPr>
          <p:cNvPr id="54296" name="Text Box 1078"/>
          <p:cNvSpPr txBox="1">
            <a:spLocks noChangeArrowheads="1"/>
          </p:cNvSpPr>
          <p:nvPr/>
        </p:nvSpPr>
        <p:spPr bwMode="auto">
          <a:xfrm>
            <a:off x="3465513" y="263366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4</a:t>
            </a:r>
            <a:endParaRPr lang="en-US" altLang="zh-TW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54297" name="Line 1080"/>
          <p:cNvSpPr>
            <a:spLocks noChangeShapeType="1"/>
          </p:cNvSpPr>
          <p:nvPr/>
        </p:nvSpPr>
        <p:spPr bwMode="auto">
          <a:xfrm>
            <a:off x="3775075" y="1450975"/>
            <a:ext cx="230188" cy="265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98" name="Line 1081"/>
          <p:cNvSpPr>
            <a:spLocks noChangeShapeType="1"/>
          </p:cNvSpPr>
          <p:nvPr/>
        </p:nvSpPr>
        <p:spPr bwMode="auto">
          <a:xfrm flipV="1">
            <a:off x="4781550" y="1274763"/>
            <a:ext cx="280988" cy="423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99" name="Text Box 1082"/>
          <p:cNvSpPr txBox="1">
            <a:spLocks noChangeArrowheads="1"/>
          </p:cNvSpPr>
          <p:nvPr/>
        </p:nvSpPr>
        <p:spPr bwMode="auto">
          <a:xfrm>
            <a:off x="5870575" y="1624013"/>
            <a:ext cx="2187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connected graph</a:t>
            </a:r>
          </a:p>
        </p:txBody>
      </p:sp>
      <p:sp>
        <p:nvSpPr>
          <p:cNvPr id="54300" name="Line 1083"/>
          <p:cNvSpPr>
            <a:spLocks noChangeShapeType="1"/>
          </p:cNvSpPr>
          <p:nvPr/>
        </p:nvSpPr>
        <p:spPr bwMode="auto">
          <a:xfrm>
            <a:off x="1746250" y="3870325"/>
            <a:ext cx="0" cy="874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301" name="Line 1084"/>
          <p:cNvSpPr>
            <a:spLocks noChangeShapeType="1"/>
          </p:cNvSpPr>
          <p:nvPr/>
        </p:nvSpPr>
        <p:spPr bwMode="auto">
          <a:xfrm flipH="1">
            <a:off x="1298575" y="4745038"/>
            <a:ext cx="447675" cy="749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302" name="Line 1085"/>
          <p:cNvSpPr>
            <a:spLocks noChangeShapeType="1"/>
          </p:cNvSpPr>
          <p:nvPr/>
        </p:nvSpPr>
        <p:spPr bwMode="auto">
          <a:xfrm>
            <a:off x="1298575" y="5494338"/>
            <a:ext cx="523875" cy="925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303" name="Line 1088"/>
          <p:cNvSpPr>
            <a:spLocks noChangeShapeType="1"/>
          </p:cNvSpPr>
          <p:nvPr/>
        </p:nvSpPr>
        <p:spPr bwMode="auto">
          <a:xfrm>
            <a:off x="2792413" y="5445125"/>
            <a:ext cx="523875" cy="874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304" name="Line 1089"/>
          <p:cNvSpPr>
            <a:spLocks noChangeShapeType="1"/>
          </p:cNvSpPr>
          <p:nvPr/>
        </p:nvSpPr>
        <p:spPr bwMode="auto">
          <a:xfrm flipV="1">
            <a:off x="3290888" y="3695700"/>
            <a:ext cx="0" cy="2573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305" name="Line 1090"/>
          <p:cNvSpPr>
            <a:spLocks noChangeShapeType="1"/>
          </p:cNvSpPr>
          <p:nvPr/>
        </p:nvSpPr>
        <p:spPr bwMode="auto">
          <a:xfrm flipV="1">
            <a:off x="3290888" y="3821113"/>
            <a:ext cx="671512" cy="798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306" name="Oval 1091"/>
          <p:cNvSpPr>
            <a:spLocks noChangeArrowheads="1"/>
          </p:cNvSpPr>
          <p:nvPr/>
        </p:nvSpPr>
        <p:spPr bwMode="auto">
          <a:xfrm>
            <a:off x="1498600" y="3621088"/>
            <a:ext cx="473075" cy="44926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4307" name="Oval 1092"/>
          <p:cNvSpPr>
            <a:spLocks noChangeArrowheads="1"/>
          </p:cNvSpPr>
          <p:nvPr/>
        </p:nvSpPr>
        <p:spPr bwMode="auto">
          <a:xfrm>
            <a:off x="1541463" y="4545013"/>
            <a:ext cx="454025" cy="4508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54308" name="Oval 1093"/>
          <p:cNvSpPr>
            <a:spLocks noChangeArrowheads="1"/>
          </p:cNvSpPr>
          <p:nvPr/>
        </p:nvSpPr>
        <p:spPr bwMode="auto">
          <a:xfrm>
            <a:off x="1074738" y="5270500"/>
            <a:ext cx="473075" cy="4492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4309" name="Oval 1094"/>
          <p:cNvSpPr>
            <a:spLocks noChangeArrowheads="1"/>
          </p:cNvSpPr>
          <p:nvPr/>
        </p:nvSpPr>
        <p:spPr bwMode="auto">
          <a:xfrm>
            <a:off x="1547813" y="6138863"/>
            <a:ext cx="454025" cy="46831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  <a:p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54310" name="Oval 1095"/>
          <p:cNvSpPr>
            <a:spLocks noChangeArrowheads="1"/>
          </p:cNvSpPr>
          <p:nvPr/>
        </p:nvSpPr>
        <p:spPr bwMode="auto">
          <a:xfrm>
            <a:off x="1946275" y="5219700"/>
            <a:ext cx="473075" cy="4492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3</a:t>
            </a:r>
            <a:endParaRPr lang="en-US" altLang="zh-TW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54311" name="Oval 1096"/>
          <p:cNvSpPr>
            <a:spLocks noChangeArrowheads="1"/>
          </p:cNvSpPr>
          <p:nvPr/>
        </p:nvSpPr>
        <p:spPr bwMode="auto">
          <a:xfrm>
            <a:off x="2568575" y="5194300"/>
            <a:ext cx="473075" cy="4508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54312" name="Oval 1097"/>
          <p:cNvSpPr>
            <a:spLocks noChangeArrowheads="1"/>
          </p:cNvSpPr>
          <p:nvPr/>
        </p:nvSpPr>
        <p:spPr bwMode="auto">
          <a:xfrm>
            <a:off x="3041650" y="6140450"/>
            <a:ext cx="473075" cy="4492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6</a:t>
            </a:r>
          </a:p>
        </p:txBody>
      </p:sp>
      <p:sp>
        <p:nvSpPr>
          <p:cNvPr id="54313" name="Oval 1098"/>
          <p:cNvSpPr>
            <a:spLocks noChangeArrowheads="1"/>
          </p:cNvSpPr>
          <p:nvPr/>
        </p:nvSpPr>
        <p:spPr bwMode="auto">
          <a:xfrm>
            <a:off x="3041650" y="3521075"/>
            <a:ext cx="473075" cy="4492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4314" name="Oval 1099"/>
          <p:cNvSpPr>
            <a:spLocks noChangeArrowheads="1"/>
          </p:cNvSpPr>
          <p:nvPr/>
        </p:nvSpPr>
        <p:spPr bwMode="auto">
          <a:xfrm>
            <a:off x="3763963" y="3521075"/>
            <a:ext cx="473075" cy="4492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4315" name="Oval 1100"/>
          <p:cNvSpPr>
            <a:spLocks noChangeArrowheads="1"/>
          </p:cNvSpPr>
          <p:nvPr/>
        </p:nvSpPr>
        <p:spPr bwMode="auto">
          <a:xfrm>
            <a:off x="3067050" y="4395788"/>
            <a:ext cx="473075" cy="44926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54316" name="Text Box 1101"/>
          <p:cNvSpPr txBox="1">
            <a:spLocks noChangeArrowheads="1"/>
          </p:cNvSpPr>
          <p:nvPr/>
        </p:nvSpPr>
        <p:spPr bwMode="auto">
          <a:xfrm>
            <a:off x="1568450" y="3616325"/>
            <a:ext cx="269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54317" name="Text Box 1102"/>
          <p:cNvSpPr txBox="1">
            <a:spLocks noChangeArrowheads="1"/>
          </p:cNvSpPr>
          <p:nvPr/>
        </p:nvSpPr>
        <p:spPr bwMode="auto">
          <a:xfrm>
            <a:off x="3122613" y="3524250"/>
            <a:ext cx="1098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8        9</a:t>
            </a:r>
          </a:p>
        </p:txBody>
      </p:sp>
      <p:sp>
        <p:nvSpPr>
          <p:cNvPr id="54318" name="Text Box 1103"/>
          <p:cNvSpPr txBox="1">
            <a:spLocks noChangeArrowheads="1"/>
          </p:cNvSpPr>
          <p:nvPr/>
        </p:nvSpPr>
        <p:spPr bwMode="auto">
          <a:xfrm>
            <a:off x="3021013" y="4397375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7</a:t>
            </a:r>
          </a:p>
        </p:txBody>
      </p:sp>
      <p:sp>
        <p:nvSpPr>
          <p:cNvPr id="54319" name="Text Box 1104"/>
          <p:cNvSpPr txBox="1">
            <a:spLocks noChangeArrowheads="1"/>
          </p:cNvSpPr>
          <p:nvPr/>
        </p:nvSpPr>
        <p:spPr bwMode="auto">
          <a:xfrm>
            <a:off x="1174750" y="4887913"/>
            <a:ext cx="206375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2</a:t>
            </a:r>
          </a:p>
        </p:txBody>
      </p:sp>
      <p:sp>
        <p:nvSpPr>
          <p:cNvPr id="54320" name="Text Box 1105"/>
          <p:cNvSpPr txBox="1">
            <a:spLocks noChangeArrowheads="1"/>
          </p:cNvSpPr>
          <p:nvPr/>
        </p:nvSpPr>
        <p:spPr bwMode="auto">
          <a:xfrm>
            <a:off x="1589088" y="615473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4</a:t>
            </a:r>
            <a:endParaRPr lang="en-US" altLang="zh-TW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54321" name="Line 1107"/>
          <p:cNvSpPr>
            <a:spLocks noChangeShapeType="1"/>
          </p:cNvSpPr>
          <p:nvPr/>
        </p:nvSpPr>
        <p:spPr bwMode="auto">
          <a:xfrm flipV="1">
            <a:off x="2905125" y="4795838"/>
            <a:ext cx="280988" cy="423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322" name="Line 1108"/>
          <p:cNvSpPr>
            <a:spLocks noChangeShapeType="1"/>
          </p:cNvSpPr>
          <p:nvPr/>
        </p:nvSpPr>
        <p:spPr bwMode="auto">
          <a:xfrm>
            <a:off x="6297613" y="3817938"/>
            <a:ext cx="0" cy="874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323" name="Line 1111"/>
          <p:cNvSpPr>
            <a:spLocks noChangeShapeType="1"/>
          </p:cNvSpPr>
          <p:nvPr/>
        </p:nvSpPr>
        <p:spPr bwMode="auto">
          <a:xfrm flipV="1">
            <a:off x="6373813" y="5367338"/>
            <a:ext cx="422275" cy="974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324" name="Line 1112"/>
          <p:cNvSpPr>
            <a:spLocks noChangeShapeType="1"/>
          </p:cNvSpPr>
          <p:nvPr/>
        </p:nvSpPr>
        <p:spPr bwMode="auto">
          <a:xfrm>
            <a:off x="6821488" y="5392738"/>
            <a:ext cx="5476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325" name="Line 1113"/>
          <p:cNvSpPr>
            <a:spLocks noChangeShapeType="1"/>
          </p:cNvSpPr>
          <p:nvPr/>
        </p:nvSpPr>
        <p:spPr bwMode="auto">
          <a:xfrm>
            <a:off x="7343775" y="5392738"/>
            <a:ext cx="523875" cy="874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326" name="Line 1114"/>
          <p:cNvSpPr>
            <a:spLocks noChangeShapeType="1"/>
          </p:cNvSpPr>
          <p:nvPr/>
        </p:nvSpPr>
        <p:spPr bwMode="auto">
          <a:xfrm flipV="1">
            <a:off x="7842250" y="3643313"/>
            <a:ext cx="0" cy="2573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327" name="Line 1115"/>
          <p:cNvSpPr>
            <a:spLocks noChangeShapeType="1"/>
          </p:cNvSpPr>
          <p:nvPr/>
        </p:nvSpPr>
        <p:spPr bwMode="auto">
          <a:xfrm flipV="1">
            <a:off x="7842250" y="3768725"/>
            <a:ext cx="671513" cy="798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328" name="Oval 1116"/>
          <p:cNvSpPr>
            <a:spLocks noChangeArrowheads="1"/>
          </p:cNvSpPr>
          <p:nvPr/>
        </p:nvSpPr>
        <p:spPr bwMode="auto">
          <a:xfrm>
            <a:off x="6049963" y="3568700"/>
            <a:ext cx="473075" cy="4492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4329" name="Oval 1117"/>
          <p:cNvSpPr>
            <a:spLocks noChangeArrowheads="1"/>
          </p:cNvSpPr>
          <p:nvPr/>
        </p:nvSpPr>
        <p:spPr bwMode="auto">
          <a:xfrm>
            <a:off x="6092825" y="4492625"/>
            <a:ext cx="454025" cy="4508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54330" name="Oval 1118"/>
          <p:cNvSpPr>
            <a:spLocks noChangeArrowheads="1"/>
          </p:cNvSpPr>
          <p:nvPr/>
        </p:nvSpPr>
        <p:spPr bwMode="auto">
          <a:xfrm>
            <a:off x="5626100" y="5218113"/>
            <a:ext cx="473075" cy="44926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4331" name="Oval 1119"/>
          <p:cNvSpPr>
            <a:spLocks noChangeArrowheads="1"/>
          </p:cNvSpPr>
          <p:nvPr/>
        </p:nvSpPr>
        <p:spPr bwMode="auto">
          <a:xfrm>
            <a:off x="6099175" y="6086475"/>
            <a:ext cx="454025" cy="46831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  <a:p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54332" name="Oval 1120"/>
          <p:cNvSpPr>
            <a:spLocks noChangeArrowheads="1"/>
          </p:cNvSpPr>
          <p:nvPr/>
        </p:nvSpPr>
        <p:spPr bwMode="auto">
          <a:xfrm>
            <a:off x="6497638" y="5167313"/>
            <a:ext cx="473075" cy="44926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3</a:t>
            </a:r>
            <a:endParaRPr lang="en-US" altLang="zh-TW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54333" name="Oval 1121"/>
          <p:cNvSpPr>
            <a:spLocks noChangeArrowheads="1"/>
          </p:cNvSpPr>
          <p:nvPr/>
        </p:nvSpPr>
        <p:spPr bwMode="auto">
          <a:xfrm>
            <a:off x="7119938" y="5141913"/>
            <a:ext cx="473075" cy="4508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54334" name="Oval 1122"/>
          <p:cNvSpPr>
            <a:spLocks noChangeArrowheads="1"/>
          </p:cNvSpPr>
          <p:nvPr/>
        </p:nvSpPr>
        <p:spPr bwMode="auto">
          <a:xfrm>
            <a:off x="7593013" y="6088063"/>
            <a:ext cx="473075" cy="44926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6</a:t>
            </a:r>
          </a:p>
        </p:txBody>
      </p:sp>
      <p:sp>
        <p:nvSpPr>
          <p:cNvPr id="54335" name="Oval 1123"/>
          <p:cNvSpPr>
            <a:spLocks noChangeArrowheads="1"/>
          </p:cNvSpPr>
          <p:nvPr/>
        </p:nvSpPr>
        <p:spPr bwMode="auto">
          <a:xfrm>
            <a:off x="7593013" y="3468688"/>
            <a:ext cx="473075" cy="44926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4336" name="Oval 1124"/>
          <p:cNvSpPr>
            <a:spLocks noChangeArrowheads="1"/>
          </p:cNvSpPr>
          <p:nvPr/>
        </p:nvSpPr>
        <p:spPr bwMode="auto">
          <a:xfrm>
            <a:off x="8315325" y="3468688"/>
            <a:ext cx="473075" cy="44926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4337" name="Oval 1125"/>
          <p:cNvSpPr>
            <a:spLocks noChangeArrowheads="1"/>
          </p:cNvSpPr>
          <p:nvPr/>
        </p:nvSpPr>
        <p:spPr bwMode="auto">
          <a:xfrm>
            <a:off x="7618413" y="4343400"/>
            <a:ext cx="473075" cy="4492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54338" name="Text Box 1126"/>
          <p:cNvSpPr txBox="1">
            <a:spLocks noChangeArrowheads="1"/>
          </p:cNvSpPr>
          <p:nvPr/>
        </p:nvSpPr>
        <p:spPr bwMode="auto">
          <a:xfrm>
            <a:off x="6119813" y="3563938"/>
            <a:ext cx="269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54339" name="Text Box 1127"/>
          <p:cNvSpPr txBox="1">
            <a:spLocks noChangeArrowheads="1"/>
          </p:cNvSpPr>
          <p:nvPr/>
        </p:nvSpPr>
        <p:spPr bwMode="auto">
          <a:xfrm>
            <a:off x="7673975" y="3471863"/>
            <a:ext cx="1098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8        9</a:t>
            </a:r>
          </a:p>
        </p:txBody>
      </p:sp>
      <p:sp>
        <p:nvSpPr>
          <p:cNvPr id="54340" name="Text Box 1128"/>
          <p:cNvSpPr txBox="1">
            <a:spLocks noChangeArrowheads="1"/>
          </p:cNvSpPr>
          <p:nvPr/>
        </p:nvSpPr>
        <p:spPr bwMode="auto">
          <a:xfrm>
            <a:off x="7572375" y="4344988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7</a:t>
            </a:r>
          </a:p>
        </p:txBody>
      </p:sp>
      <p:sp>
        <p:nvSpPr>
          <p:cNvPr id="54341" name="Text Box 1129"/>
          <p:cNvSpPr txBox="1">
            <a:spLocks noChangeArrowheads="1"/>
          </p:cNvSpPr>
          <p:nvPr/>
        </p:nvSpPr>
        <p:spPr bwMode="auto">
          <a:xfrm>
            <a:off x="5726113" y="4835525"/>
            <a:ext cx="206375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2</a:t>
            </a:r>
          </a:p>
        </p:txBody>
      </p:sp>
      <p:sp>
        <p:nvSpPr>
          <p:cNvPr id="54342" name="Text Box 1130"/>
          <p:cNvSpPr txBox="1">
            <a:spLocks noChangeArrowheads="1"/>
          </p:cNvSpPr>
          <p:nvPr/>
        </p:nvSpPr>
        <p:spPr bwMode="auto">
          <a:xfrm>
            <a:off x="6140450" y="610235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4</a:t>
            </a:r>
            <a:endParaRPr lang="en-US" altLang="zh-TW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54343" name="Line 1131"/>
          <p:cNvSpPr>
            <a:spLocks noChangeShapeType="1"/>
          </p:cNvSpPr>
          <p:nvPr/>
        </p:nvSpPr>
        <p:spPr bwMode="auto">
          <a:xfrm>
            <a:off x="6450013" y="4919663"/>
            <a:ext cx="230187" cy="265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344" name="Line 1132"/>
          <p:cNvSpPr>
            <a:spLocks noChangeShapeType="1"/>
          </p:cNvSpPr>
          <p:nvPr/>
        </p:nvSpPr>
        <p:spPr bwMode="auto">
          <a:xfrm flipV="1">
            <a:off x="7456488" y="4743450"/>
            <a:ext cx="280987" cy="423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345" name="Text Box 1133"/>
          <p:cNvSpPr txBox="1">
            <a:spLocks noChangeArrowheads="1"/>
          </p:cNvSpPr>
          <p:nvPr/>
        </p:nvSpPr>
        <p:spPr bwMode="auto">
          <a:xfrm>
            <a:off x="1154113" y="3086100"/>
            <a:ext cx="3498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two connected components</a:t>
            </a:r>
          </a:p>
        </p:txBody>
      </p:sp>
      <p:sp>
        <p:nvSpPr>
          <p:cNvPr id="54346" name="Text Box 1134"/>
          <p:cNvSpPr txBox="1">
            <a:spLocks noChangeArrowheads="1"/>
          </p:cNvSpPr>
          <p:nvPr/>
        </p:nvSpPr>
        <p:spPr bwMode="auto">
          <a:xfrm>
            <a:off x="6175375" y="2955925"/>
            <a:ext cx="2703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one connected graph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1001713" y="717550"/>
            <a:ext cx="7948612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biconnected component: a maximal connected subgraph H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(no subgraph that is both biconnected and properly contains H)</a:t>
            </a:r>
          </a:p>
        </p:txBody>
      </p:sp>
      <p:sp>
        <p:nvSpPr>
          <p:cNvPr id="55299" name="Line 3"/>
          <p:cNvSpPr>
            <a:spLocks noChangeShapeType="1"/>
          </p:cNvSpPr>
          <p:nvPr/>
        </p:nvSpPr>
        <p:spPr bwMode="auto">
          <a:xfrm>
            <a:off x="1905000" y="2636838"/>
            <a:ext cx="0" cy="874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00" name="Line 4"/>
          <p:cNvSpPr>
            <a:spLocks noChangeShapeType="1"/>
          </p:cNvSpPr>
          <p:nvPr/>
        </p:nvSpPr>
        <p:spPr bwMode="auto">
          <a:xfrm flipV="1">
            <a:off x="1981200" y="4186238"/>
            <a:ext cx="422275" cy="974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01" name="Line 5"/>
          <p:cNvSpPr>
            <a:spLocks noChangeShapeType="1"/>
          </p:cNvSpPr>
          <p:nvPr/>
        </p:nvSpPr>
        <p:spPr bwMode="auto">
          <a:xfrm>
            <a:off x="2428875" y="4211638"/>
            <a:ext cx="5476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02" name="Line 6"/>
          <p:cNvSpPr>
            <a:spLocks noChangeShapeType="1"/>
          </p:cNvSpPr>
          <p:nvPr/>
        </p:nvSpPr>
        <p:spPr bwMode="auto">
          <a:xfrm>
            <a:off x="2951163" y="4211638"/>
            <a:ext cx="523875" cy="874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03" name="Line 7"/>
          <p:cNvSpPr>
            <a:spLocks noChangeShapeType="1"/>
          </p:cNvSpPr>
          <p:nvPr/>
        </p:nvSpPr>
        <p:spPr bwMode="auto">
          <a:xfrm flipV="1">
            <a:off x="3449638" y="2462213"/>
            <a:ext cx="0" cy="2573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04" name="Line 8"/>
          <p:cNvSpPr>
            <a:spLocks noChangeShapeType="1"/>
          </p:cNvSpPr>
          <p:nvPr/>
        </p:nvSpPr>
        <p:spPr bwMode="auto">
          <a:xfrm flipV="1">
            <a:off x="3449638" y="2587625"/>
            <a:ext cx="671512" cy="798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05" name="Oval 9"/>
          <p:cNvSpPr>
            <a:spLocks noChangeArrowheads="1"/>
          </p:cNvSpPr>
          <p:nvPr/>
        </p:nvSpPr>
        <p:spPr bwMode="auto">
          <a:xfrm>
            <a:off x="1657350" y="2387600"/>
            <a:ext cx="473075" cy="4492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5306" name="Oval 10"/>
          <p:cNvSpPr>
            <a:spLocks noChangeArrowheads="1"/>
          </p:cNvSpPr>
          <p:nvPr/>
        </p:nvSpPr>
        <p:spPr bwMode="auto">
          <a:xfrm>
            <a:off x="1700213" y="3311525"/>
            <a:ext cx="454025" cy="4508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55307" name="Oval 11"/>
          <p:cNvSpPr>
            <a:spLocks noChangeArrowheads="1"/>
          </p:cNvSpPr>
          <p:nvPr/>
        </p:nvSpPr>
        <p:spPr bwMode="auto">
          <a:xfrm>
            <a:off x="1233488" y="4037013"/>
            <a:ext cx="473075" cy="44926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5308" name="Oval 12"/>
          <p:cNvSpPr>
            <a:spLocks noChangeArrowheads="1"/>
          </p:cNvSpPr>
          <p:nvPr/>
        </p:nvSpPr>
        <p:spPr bwMode="auto">
          <a:xfrm>
            <a:off x="1706563" y="4905375"/>
            <a:ext cx="454025" cy="46831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  <a:p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55309" name="Oval 13"/>
          <p:cNvSpPr>
            <a:spLocks noChangeArrowheads="1"/>
          </p:cNvSpPr>
          <p:nvPr/>
        </p:nvSpPr>
        <p:spPr bwMode="auto">
          <a:xfrm>
            <a:off x="2105025" y="3986213"/>
            <a:ext cx="473075" cy="44926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3</a:t>
            </a:r>
            <a:endParaRPr lang="en-US" altLang="zh-TW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55310" name="Oval 14"/>
          <p:cNvSpPr>
            <a:spLocks noChangeArrowheads="1"/>
          </p:cNvSpPr>
          <p:nvPr/>
        </p:nvSpPr>
        <p:spPr bwMode="auto">
          <a:xfrm>
            <a:off x="2727325" y="3960813"/>
            <a:ext cx="473075" cy="4508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55311" name="Oval 15"/>
          <p:cNvSpPr>
            <a:spLocks noChangeArrowheads="1"/>
          </p:cNvSpPr>
          <p:nvPr/>
        </p:nvSpPr>
        <p:spPr bwMode="auto">
          <a:xfrm>
            <a:off x="3200400" y="4906963"/>
            <a:ext cx="473075" cy="44926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6</a:t>
            </a:r>
          </a:p>
        </p:txBody>
      </p:sp>
      <p:sp>
        <p:nvSpPr>
          <p:cNvPr id="55312" name="Oval 16"/>
          <p:cNvSpPr>
            <a:spLocks noChangeArrowheads="1"/>
          </p:cNvSpPr>
          <p:nvPr/>
        </p:nvSpPr>
        <p:spPr bwMode="auto">
          <a:xfrm>
            <a:off x="3200400" y="2287588"/>
            <a:ext cx="473075" cy="44926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5313" name="Oval 17"/>
          <p:cNvSpPr>
            <a:spLocks noChangeArrowheads="1"/>
          </p:cNvSpPr>
          <p:nvPr/>
        </p:nvSpPr>
        <p:spPr bwMode="auto">
          <a:xfrm>
            <a:off x="3922713" y="2287588"/>
            <a:ext cx="473075" cy="44926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5314" name="Oval 18"/>
          <p:cNvSpPr>
            <a:spLocks noChangeArrowheads="1"/>
          </p:cNvSpPr>
          <p:nvPr/>
        </p:nvSpPr>
        <p:spPr bwMode="auto">
          <a:xfrm>
            <a:off x="3225800" y="3162300"/>
            <a:ext cx="473075" cy="4492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55315" name="Text Box 19"/>
          <p:cNvSpPr txBox="1">
            <a:spLocks noChangeArrowheads="1"/>
          </p:cNvSpPr>
          <p:nvPr/>
        </p:nvSpPr>
        <p:spPr bwMode="auto">
          <a:xfrm>
            <a:off x="1727200" y="2382838"/>
            <a:ext cx="269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55316" name="Text Box 20"/>
          <p:cNvSpPr txBox="1">
            <a:spLocks noChangeArrowheads="1"/>
          </p:cNvSpPr>
          <p:nvPr/>
        </p:nvSpPr>
        <p:spPr bwMode="auto">
          <a:xfrm>
            <a:off x="3281363" y="2290763"/>
            <a:ext cx="1098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8        9</a:t>
            </a:r>
          </a:p>
        </p:txBody>
      </p:sp>
      <p:sp>
        <p:nvSpPr>
          <p:cNvPr id="55317" name="Text Box 21"/>
          <p:cNvSpPr txBox="1">
            <a:spLocks noChangeArrowheads="1"/>
          </p:cNvSpPr>
          <p:nvPr/>
        </p:nvSpPr>
        <p:spPr bwMode="auto">
          <a:xfrm>
            <a:off x="3179763" y="3163888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7</a:t>
            </a:r>
          </a:p>
        </p:txBody>
      </p:sp>
      <p:sp>
        <p:nvSpPr>
          <p:cNvPr id="55318" name="Text Box 22"/>
          <p:cNvSpPr txBox="1">
            <a:spLocks noChangeArrowheads="1"/>
          </p:cNvSpPr>
          <p:nvPr/>
        </p:nvSpPr>
        <p:spPr bwMode="auto">
          <a:xfrm>
            <a:off x="1333500" y="3654425"/>
            <a:ext cx="206375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2</a:t>
            </a:r>
          </a:p>
        </p:txBody>
      </p:sp>
      <p:sp>
        <p:nvSpPr>
          <p:cNvPr id="55319" name="Text Box 23"/>
          <p:cNvSpPr txBox="1">
            <a:spLocks noChangeArrowheads="1"/>
          </p:cNvSpPr>
          <p:nvPr/>
        </p:nvSpPr>
        <p:spPr bwMode="auto">
          <a:xfrm>
            <a:off x="1747838" y="492125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4</a:t>
            </a:r>
            <a:endParaRPr lang="en-US" altLang="zh-TW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55320" name="Line 24"/>
          <p:cNvSpPr>
            <a:spLocks noChangeShapeType="1"/>
          </p:cNvSpPr>
          <p:nvPr/>
        </p:nvSpPr>
        <p:spPr bwMode="auto">
          <a:xfrm>
            <a:off x="2057400" y="3738563"/>
            <a:ext cx="230188" cy="265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21" name="Line 25"/>
          <p:cNvSpPr>
            <a:spLocks noChangeShapeType="1"/>
          </p:cNvSpPr>
          <p:nvPr/>
        </p:nvSpPr>
        <p:spPr bwMode="auto">
          <a:xfrm flipV="1">
            <a:off x="3063875" y="3562350"/>
            <a:ext cx="280988" cy="423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22" name="Line 26"/>
          <p:cNvSpPr>
            <a:spLocks noChangeShapeType="1"/>
          </p:cNvSpPr>
          <p:nvPr/>
        </p:nvSpPr>
        <p:spPr bwMode="auto">
          <a:xfrm flipH="1">
            <a:off x="1535113" y="3721100"/>
            <a:ext cx="282575" cy="334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23" name="Line 27"/>
          <p:cNvSpPr>
            <a:spLocks noChangeShapeType="1"/>
          </p:cNvSpPr>
          <p:nvPr/>
        </p:nvSpPr>
        <p:spPr bwMode="auto">
          <a:xfrm>
            <a:off x="1552575" y="4462463"/>
            <a:ext cx="265113" cy="476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24" name="Line 53"/>
          <p:cNvSpPr>
            <a:spLocks noChangeShapeType="1"/>
          </p:cNvSpPr>
          <p:nvPr/>
        </p:nvSpPr>
        <p:spPr bwMode="auto">
          <a:xfrm>
            <a:off x="5480050" y="2012950"/>
            <a:ext cx="1588" cy="874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25" name="Oval 54"/>
          <p:cNvSpPr>
            <a:spLocks noChangeArrowheads="1"/>
          </p:cNvSpPr>
          <p:nvPr/>
        </p:nvSpPr>
        <p:spPr bwMode="auto">
          <a:xfrm>
            <a:off x="5232400" y="1763713"/>
            <a:ext cx="473075" cy="44926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5326" name="Oval 55"/>
          <p:cNvSpPr>
            <a:spLocks noChangeArrowheads="1"/>
          </p:cNvSpPr>
          <p:nvPr/>
        </p:nvSpPr>
        <p:spPr bwMode="auto">
          <a:xfrm>
            <a:off x="5275263" y="2687638"/>
            <a:ext cx="454025" cy="4508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55327" name="Text Box 56"/>
          <p:cNvSpPr txBox="1">
            <a:spLocks noChangeArrowheads="1"/>
          </p:cNvSpPr>
          <p:nvPr/>
        </p:nvSpPr>
        <p:spPr bwMode="auto">
          <a:xfrm>
            <a:off x="5302250" y="1758950"/>
            <a:ext cx="269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55328" name="Line 57"/>
          <p:cNvSpPr>
            <a:spLocks noChangeShapeType="1"/>
          </p:cNvSpPr>
          <p:nvPr/>
        </p:nvSpPr>
        <p:spPr bwMode="auto">
          <a:xfrm flipV="1">
            <a:off x="5503863" y="4392613"/>
            <a:ext cx="422275" cy="974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29" name="Oval 58"/>
          <p:cNvSpPr>
            <a:spLocks noChangeArrowheads="1"/>
          </p:cNvSpPr>
          <p:nvPr/>
        </p:nvSpPr>
        <p:spPr bwMode="auto">
          <a:xfrm>
            <a:off x="5222875" y="3517900"/>
            <a:ext cx="454025" cy="4508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55330" name="Oval 59"/>
          <p:cNvSpPr>
            <a:spLocks noChangeArrowheads="1"/>
          </p:cNvSpPr>
          <p:nvPr/>
        </p:nvSpPr>
        <p:spPr bwMode="auto">
          <a:xfrm>
            <a:off x="4756150" y="4243388"/>
            <a:ext cx="473075" cy="44926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5331" name="Oval 60"/>
          <p:cNvSpPr>
            <a:spLocks noChangeArrowheads="1"/>
          </p:cNvSpPr>
          <p:nvPr/>
        </p:nvSpPr>
        <p:spPr bwMode="auto">
          <a:xfrm>
            <a:off x="5229225" y="5111750"/>
            <a:ext cx="454025" cy="46831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  <a:p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55332" name="Oval 61"/>
          <p:cNvSpPr>
            <a:spLocks noChangeArrowheads="1"/>
          </p:cNvSpPr>
          <p:nvPr/>
        </p:nvSpPr>
        <p:spPr bwMode="auto">
          <a:xfrm>
            <a:off x="5627688" y="4192588"/>
            <a:ext cx="473075" cy="44926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3</a:t>
            </a:r>
            <a:endParaRPr lang="en-US" altLang="zh-TW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55333" name="Text Box 62"/>
          <p:cNvSpPr txBox="1">
            <a:spLocks noChangeArrowheads="1"/>
          </p:cNvSpPr>
          <p:nvPr/>
        </p:nvSpPr>
        <p:spPr bwMode="auto">
          <a:xfrm>
            <a:off x="4856163" y="3860800"/>
            <a:ext cx="206375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2</a:t>
            </a:r>
          </a:p>
        </p:txBody>
      </p:sp>
      <p:sp>
        <p:nvSpPr>
          <p:cNvPr id="55334" name="Text Box 63"/>
          <p:cNvSpPr txBox="1">
            <a:spLocks noChangeArrowheads="1"/>
          </p:cNvSpPr>
          <p:nvPr/>
        </p:nvSpPr>
        <p:spPr bwMode="auto">
          <a:xfrm>
            <a:off x="5270500" y="512762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4</a:t>
            </a:r>
            <a:endParaRPr lang="en-US" altLang="zh-TW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55335" name="Line 64"/>
          <p:cNvSpPr>
            <a:spLocks noChangeShapeType="1"/>
          </p:cNvSpPr>
          <p:nvPr/>
        </p:nvSpPr>
        <p:spPr bwMode="auto">
          <a:xfrm>
            <a:off x="5580063" y="3944938"/>
            <a:ext cx="230187" cy="265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36" name="Line 65"/>
          <p:cNvSpPr>
            <a:spLocks noChangeShapeType="1"/>
          </p:cNvSpPr>
          <p:nvPr/>
        </p:nvSpPr>
        <p:spPr bwMode="auto">
          <a:xfrm flipH="1">
            <a:off x="5057775" y="3927475"/>
            <a:ext cx="282575" cy="334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37" name="Line 66"/>
          <p:cNvSpPr>
            <a:spLocks noChangeShapeType="1"/>
          </p:cNvSpPr>
          <p:nvPr/>
        </p:nvSpPr>
        <p:spPr bwMode="auto">
          <a:xfrm>
            <a:off x="5075238" y="4668838"/>
            <a:ext cx="265112" cy="476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38" name="Line 70"/>
          <p:cNvSpPr>
            <a:spLocks noChangeShapeType="1"/>
          </p:cNvSpPr>
          <p:nvPr/>
        </p:nvSpPr>
        <p:spPr bwMode="auto">
          <a:xfrm>
            <a:off x="6673850" y="4470400"/>
            <a:ext cx="5476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39" name="Oval 71"/>
          <p:cNvSpPr>
            <a:spLocks noChangeArrowheads="1"/>
          </p:cNvSpPr>
          <p:nvPr/>
        </p:nvSpPr>
        <p:spPr bwMode="auto">
          <a:xfrm>
            <a:off x="6350000" y="4244975"/>
            <a:ext cx="473075" cy="4492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3</a:t>
            </a:r>
            <a:endParaRPr lang="en-US" altLang="zh-TW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55340" name="Oval 72"/>
          <p:cNvSpPr>
            <a:spLocks noChangeArrowheads="1"/>
          </p:cNvSpPr>
          <p:nvPr/>
        </p:nvSpPr>
        <p:spPr bwMode="auto">
          <a:xfrm>
            <a:off x="6972300" y="4219575"/>
            <a:ext cx="473075" cy="4508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55341" name="Oval 82"/>
          <p:cNvSpPr>
            <a:spLocks noChangeArrowheads="1"/>
          </p:cNvSpPr>
          <p:nvPr/>
        </p:nvSpPr>
        <p:spPr bwMode="auto">
          <a:xfrm>
            <a:off x="6316663" y="1752600"/>
            <a:ext cx="473075" cy="4492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8</a:t>
            </a:r>
          </a:p>
        </p:txBody>
      </p:sp>
      <p:sp>
        <p:nvSpPr>
          <p:cNvPr id="55342" name="Oval 83"/>
          <p:cNvSpPr>
            <a:spLocks noChangeArrowheads="1"/>
          </p:cNvSpPr>
          <p:nvPr/>
        </p:nvSpPr>
        <p:spPr bwMode="auto">
          <a:xfrm>
            <a:off x="6342063" y="2627313"/>
            <a:ext cx="473075" cy="44926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55343" name="Text Box 84"/>
          <p:cNvSpPr txBox="1">
            <a:spLocks noChangeArrowheads="1"/>
          </p:cNvSpPr>
          <p:nvPr/>
        </p:nvSpPr>
        <p:spPr bwMode="auto">
          <a:xfrm>
            <a:off x="6296025" y="2628900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7</a:t>
            </a:r>
          </a:p>
        </p:txBody>
      </p:sp>
      <p:sp>
        <p:nvSpPr>
          <p:cNvPr id="55344" name="Line 86"/>
          <p:cNvSpPr>
            <a:spLocks noChangeShapeType="1"/>
          </p:cNvSpPr>
          <p:nvPr/>
        </p:nvSpPr>
        <p:spPr bwMode="auto">
          <a:xfrm>
            <a:off x="6562725" y="2222500"/>
            <a:ext cx="0" cy="404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45" name="Line 87"/>
          <p:cNvSpPr>
            <a:spLocks noChangeShapeType="1"/>
          </p:cNvSpPr>
          <p:nvPr/>
        </p:nvSpPr>
        <p:spPr bwMode="auto">
          <a:xfrm flipV="1">
            <a:off x="7783513" y="2033588"/>
            <a:ext cx="671512" cy="798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46" name="Oval 89"/>
          <p:cNvSpPr>
            <a:spLocks noChangeArrowheads="1"/>
          </p:cNvSpPr>
          <p:nvPr/>
        </p:nvSpPr>
        <p:spPr bwMode="auto">
          <a:xfrm>
            <a:off x="8256588" y="1733550"/>
            <a:ext cx="473075" cy="4492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5347" name="Oval 90"/>
          <p:cNvSpPr>
            <a:spLocks noChangeArrowheads="1"/>
          </p:cNvSpPr>
          <p:nvPr/>
        </p:nvSpPr>
        <p:spPr bwMode="auto">
          <a:xfrm>
            <a:off x="7559675" y="2608263"/>
            <a:ext cx="473075" cy="44926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55348" name="Text Box 91"/>
          <p:cNvSpPr txBox="1">
            <a:spLocks noChangeArrowheads="1"/>
          </p:cNvSpPr>
          <p:nvPr/>
        </p:nvSpPr>
        <p:spPr bwMode="auto">
          <a:xfrm>
            <a:off x="8351838" y="175418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9</a:t>
            </a:r>
          </a:p>
        </p:txBody>
      </p:sp>
      <p:sp>
        <p:nvSpPr>
          <p:cNvPr id="55349" name="Text Box 92"/>
          <p:cNvSpPr txBox="1">
            <a:spLocks noChangeArrowheads="1"/>
          </p:cNvSpPr>
          <p:nvPr/>
        </p:nvSpPr>
        <p:spPr bwMode="auto">
          <a:xfrm>
            <a:off x="7513638" y="2609850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7</a:t>
            </a:r>
          </a:p>
        </p:txBody>
      </p:sp>
      <p:sp>
        <p:nvSpPr>
          <p:cNvPr id="55350" name="Line 94"/>
          <p:cNvSpPr>
            <a:spLocks noChangeShapeType="1"/>
          </p:cNvSpPr>
          <p:nvPr/>
        </p:nvSpPr>
        <p:spPr bwMode="auto">
          <a:xfrm>
            <a:off x="7813675" y="4416425"/>
            <a:ext cx="523875" cy="874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51" name="Oval 95"/>
          <p:cNvSpPr>
            <a:spLocks noChangeArrowheads="1"/>
          </p:cNvSpPr>
          <p:nvPr/>
        </p:nvSpPr>
        <p:spPr bwMode="auto">
          <a:xfrm>
            <a:off x="7589838" y="4165600"/>
            <a:ext cx="473075" cy="4508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55352" name="Oval 96"/>
          <p:cNvSpPr>
            <a:spLocks noChangeArrowheads="1"/>
          </p:cNvSpPr>
          <p:nvPr/>
        </p:nvSpPr>
        <p:spPr bwMode="auto">
          <a:xfrm>
            <a:off x="8062913" y="5111750"/>
            <a:ext cx="473075" cy="4492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6</a:t>
            </a:r>
          </a:p>
        </p:txBody>
      </p:sp>
      <p:sp>
        <p:nvSpPr>
          <p:cNvPr id="55353" name="Oval 97"/>
          <p:cNvSpPr>
            <a:spLocks noChangeArrowheads="1"/>
          </p:cNvSpPr>
          <p:nvPr/>
        </p:nvSpPr>
        <p:spPr bwMode="auto">
          <a:xfrm>
            <a:off x="8088313" y="3367088"/>
            <a:ext cx="473075" cy="44926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55354" name="Text Box 98"/>
          <p:cNvSpPr txBox="1">
            <a:spLocks noChangeArrowheads="1"/>
          </p:cNvSpPr>
          <p:nvPr/>
        </p:nvSpPr>
        <p:spPr bwMode="auto">
          <a:xfrm>
            <a:off x="8042275" y="3368675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7</a:t>
            </a:r>
          </a:p>
        </p:txBody>
      </p:sp>
      <p:sp>
        <p:nvSpPr>
          <p:cNvPr id="55355" name="Line 99"/>
          <p:cNvSpPr>
            <a:spLocks noChangeShapeType="1"/>
          </p:cNvSpPr>
          <p:nvPr/>
        </p:nvSpPr>
        <p:spPr bwMode="auto">
          <a:xfrm flipV="1">
            <a:off x="7926388" y="3767138"/>
            <a:ext cx="280987" cy="423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56" name="Text Box 100"/>
          <p:cNvSpPr txBox="1">
            <a:spLocks noChangeArrowheads="1"/>
          </p:cNvSpPr>
          <p:nvPr/>
        </p:nvSpPr>
        <p:spPr bwMode="auto">
          <a:xfrm>
            <a:off x="5111750" y="5803900"/>
            <a:ext cx="3201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biconnected components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3"/>
          <p:cNvSpPr txBox="1">
            <a:spLocks noChangeArrowheads="1"/>
          </p:cNvSpPr>
          <p:nvPr/>
        </p:nvSpPr>
        <p:spPr bwMode="auto">
          <a:xfrm>
            <a:off x="781050" y="84138"/>
            <a:ext cx="8218488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 b="1">
                <a:solidFill>
                  <a:schemeClr val="tx1"/>
                </a:solidFill>
                <a:ea typeface="PMingLiU" pitchFamily="18" charset="-120"/>
              </a:rPr>
              <a:t>Find biconnected component of a connected undirected graph</a:t>
            </a:r>
          </a:p>
          <a:p>
            <a:r>
              <a:rPr lang="en-US" altLang="zh-TW" sz="2400" b="1">
                <a:solidFill>
                  <a:schemeClr val="tx1"/>
                </a:solidFill>
                <a:ea typeface="PMingLiU" pitchFamily="18" charset="-120"/>
              </a:rPr>
              <a:t>by </a:t>
            </a:r>
            <a:r>
              <a:rPr lang="en-US" altLang="zh-TW" sz="2400" b="1">
                <a:ea typeface="PMingLiU" pitchFamily="18" charset="-120"/>
              </a:rPr>
              <a:t>depth first spanning tree</a:t>
            </a:r>
            <a:endParaRPr lang="en-US" altLang="zh-TW" sz="2400" u="sng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56323" name="Text Box 76"/>
          <p:cNvSpPr txBox="1">
            <a:spLocks noChangeArrowheads="1"/>
          </p:cNvSpPr>
          <p:nvPr/>
        </p:nvSpPr>
        <p:spPr bwMode="auto">
          <a:xfrm>
            <a:off x="7165975" y="4057650"/>
            <a:ext cx="186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8          9      </a:t>
            </a:r>
          </a:p>
        </p:txBody>
      </p:sp>
      <p:sp>
        <p:nvSpPr>
          <p:cNvPr id="56324" name="Line 82"/>
          <p:cNvSpPr>
            <a:spLocks noChangeShapeType="1"/>
          </p:cNvSpPr>
          <p:nvPr/>
        </p:nvSpPr>
        <p:spPr bwMode="auto">
          <a:xfrm flipH="1">
            <a:off x="7715250" y="3086100"/>
            <a:ext cx="685800" cy="8001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25" name="Line 81"/>
          <p:cNvSpPr>
            <a:spLocks noChangeShapeType="1"/>
          </p:cNvSpPr>
          <p:nvPr/>
        </p:nvSpPr>
        <p:spPr bwMode="auto">
          <a:xfrm>
            <a:off x="7753350" y="2381250"/>
            <a:ext cx="647700" cy="6858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26" name="Line 56"/>
          <p:cNvSpPr>
            <a:spLocks noChangeShapeType="1"/>
          </p:cNvSpPr>
          <p:nvPr/>
        </p:nvSpPr>
        <p:spPr bwMode="auto">
          <a:xfrm>
            <a:off x="4914900" y="1543050"/>
            <a:ext cx="184785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27" name="Line 4"/>
          <p:cNvSpPr>
            <a:spLocks noChangeShapeType="1"/>
          </p:cNvSpPr>
          <p:nvPr/>
        </p:nvSpPr>
        <p:spPr bwMode="auto">
          <a:xfrm>
            <a:off x="1928813" y="1949450"/>
            <a:ext cx="0" cy="874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28" name="Line 5"/>
          <p:cNvSpPr>
            <a:spLocks noChangeShapeType="1"/>
          </p:cNvSpPr>
          <p:nvPr/>
        </p:nvSpPr>
        <p:spPr bwMode="auto">
          <a:xfrm flipH="1">
            <a:off x="1481138" y="2824163"/>
            <a:ext cx="447675" cy="749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29" name="Line 6"/>
          <p:cNvSpPr>
            <a:spLocks noChangeShapeType="1"/>
          </p:cNvSpPr>
          <p:nvPr/>
        </p:nvSpPr>
        <p:spPr bwMode="auto">
          <a:xfrm>
            <a:off x="1481138" y="3573463"/>
            <a:ext cx="523875" cy="925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30" name="Line 7"/>
          <p:cNvSpPr>
            <a:spLocks noChangeShapeType="1"/>
          </p:cNvSpPr>
          <p:nvPr/>
        </p:nvSpPr>
        <p:spPr bwMode="auto">
          <a:xfrm flipV="1">
            <a:off x="2005013" y="3498850"/>
            <a:ext cx="422275" cy="974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31" name="Line 8"/>
          <p:cNvSpPr>
            <a:spLocks noChangeShapeType="1"/>
          </p:cNvSpPr>
          <p:nvPr/>
        </p:nvSpPr>
        <p:spPr bwMode="auto">
          <a:xfrm>
            <a:off x="2452688" y="3524250"/>
            <a:ext cx="5476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32" name="Line 9"/>
          <p:cNvSpPr>
            <a:spLocks noChangeShapeType="1"/>
          </p:cNvSpPr>
          <p:nvPr/>
        </p:nvSpPr>
        <p:spPr bwMode="auto">
          <a:xfrm>
            <a:off x="2974975" y="3524250"/>
            <a:ext cx="523875" cy="874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33" name="Line 10"/>
          <p:cNvSpPr>
            <a:spLocks noChangeShapeType="1"/>
          </p:cNvSpPr>
          <p:nvPr/>
        </p:nvSpPr>
        <p:spPr bwMode="auto">
          <a:xfrm flipV="1">
            <a:off x="3473450" y="1774825"/>
            <a:ext cx="0" cy="2573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34" name="Line 11"/>
          <p:cNvSpPr>
            <a:spLocks noChangeShapeType="1"/>
          </p:cNvSpPr>
          <p:nvPr/>
        </p:nvSpPr>
        <p:spPr bwMode="auto">
          <a:xfrm flipV="1">
            <a:off x="3473450" y="1900238"/>
            <a:ext cx="671513" cy="798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35" name="Oval 12"/>
          <p:cNvSpPr>
            <a:spLocks noChangeArrowheads="1"/>
          </p:cNvSpPr>
          <p:nvPr/>
        </p:nvSpPr>
        <p:spPr bwMode="auto">
          <a:xfrm>
            <a:off x="1681163" y="1700213"/>
            <a:ext cx="473075" cy="44926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36" name="Oval 13"/>
          <p:cNvSpPr>
            <a:spLocks noChangeArrowheads="1"/>
          </p:cNvSpPr>
          <p:nvPr/>
        </p:nvSpPr>
        <p:spPr bwMode="auto">
          <a:xfrm>
            <a:off x="1724025" y="2624138"/>
            <a:ext cx="454025" cy="4508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56337" name="Oval 14"/>
          <p:cNvSpPr>
            <a:spLocks noChangeArrowheads="1"/>
          </p:cNvSpPr>
          <p:nvPr/>
        </p:nvSpPr>
        <p:spPr bwMode="auto">
          <a:xfrm>
            <a:off x="1257300" y="3349625"/>
            <a:ext cx="473075" cy="4492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38" name="Oval 15"/>
          <p:cNvSpPr>
            <a:spLocks noChangeArrowheads="1"/>
          </p:cNvSpPr>
          <p:nvPr/>
        </p:nvSpPr>
        <p:spPr bwMode="auto">
          <a:xfrm>
            <a:off x="1730375" y="4217988"/>
            <a:ext cx="454025" cy="46831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  <a:p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56339" name="Oval 16"/>
          <p:cNvSpPr>
            <a:spLocks noChangeArrowheads="1"/>
          </p:cNvSpPr>
          <p:nvPr/>
        </p:nvSpPr>
        <p:spPr bwMode="auto">
          <a:xfrm>
            <a:off x="2128838" y="3298825"/>
            <a:ext cx="473075" cy="4492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40" name="Oval 17"/>
          <p:cNvSpPr>
            <a:spLocks noChangeArrowheads="1"/>
          </p:cNvSpPr>
          <p:nvPr/>
        </p:nvSpPr>
        <p:spPr bwMode="auto">
          <a:xfrm>
            <a:off x="2751138" y="3273425"/>
            <a:ext cx="473075" cy="4508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41" name="Oval 18"/>
          <p:cNvSpPr>
            <a:spLocks noChangeArrowheads="1"/>
          </p:cNvSpPr>
          <p:nvPr/>
        </p:nvSpPr>
        <p:spPr bwMode="auto">
          <a:xfrm>
            <a:off x="3224213" y="4219575"/>
            <a:ext cx="473075" cy="4492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42" name="Oval 19"/>
          <p:cNvSpPr>
            <a:spLocks noChangeArrowheads="1"/>
          </p:cNvSpPr>
          <p:nvPr/>
        </p:nvSpPr>
        <p:spPr bwMode="auto">
          <a:xfrm>
            <a:off x="3224213" y="1600200"/>
            <a:ext cx="473075" cy="4492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43" name="Oval 20"/>
          <p:cNvSpPr>
            <a:spLocks noChangeArrowheads="1"/>
          </p:cNvSpPr>
          <p:nvPr/>
        </p:nvSpPr>
        <p:spPr bwMode="auto">
          <a:xfrm>
            <a:off x="3946525" y="1600200"/>
            <a:ext cx="473075" cy="4492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44" name="Oval 21"/>
          <p:cNvSpPr>
            <a:spLocks noChangeArrowheads="1"/>
          </p:cNvSpPr>
          <p:nvPr/>
        </p:nvSpPr>
        <p:spPr bwMode="auto">
          <a:xfrm>
            <a:off x="3249613" y="2474913"/>
            <a:ext cx="473075" cy="449262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56345" name="Text Box 26"/>
          <p:cNvSpPr txBox="1">
            <a:spLocks noChangeArrowheads="1"/>
          </p:cNvSpPr>
          <p:nvPr/>
        </p:nvSpPr>
        <p:spPr bwMode="auto">
          <a:xfrm>
            <a:off x="1203325" y="1695450"/>
            <a:ext cx="869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4    0</a:t>
            </a:r>
          </a:p>
        </p:txBody>
      </p:sp>
      <p:sp>
        <p:nvSpPr>
          <p:cNvPr id="56346" name="Text Box 28"/>
          <p:cNvSpPr txBox="1">
            <a:spLocks noChangeArrowheads="1"/>
          </p:cNvSpPr>
          <p:nvPr/>
        </p:nvSpPr>
        <p:spPr bwMode="auto">
          <a:xfrm>
            <a:off x="1203325" y="26289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56347" name="Text Box 30"/>
          <p:cNvSpPr txBox="1">
            <a:spLocks noChangeArrowheads="1"/>
          </p:cNvSpPr>
          <p:nvPr/>
        </p:nvSpPr>
        <p:spPr bwMode="auto">
          <a:xfrm>
            <a:off x="2155825" y="2922588"/>
            <a:ext cx="102235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0      5</a:t>
            </a:r>
          </a:p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3      5</a:t>
            </a:r>
          </a:p>
        </p:txBody>
      </p:sp>
      <p:sp>
        <p:nvSpPr>
          <p:cNvPr id="56348" name="Text Box 32"/>
          <p:cNvSpPr txBox="1">
            <a:spLocks noChangeArrowheads="1"/>
          </p:cNvSpPr>
          <p:nvPr/>
        </p:nvSpPr>
        <p:spPr bwMode="auto">
          <a:xfrm>
            <a:off x="1793875" y="4237038"/>
            <a:ext cx="186055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4                  6</a:t>
            </a:r>
          </a:p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1                  6</a:t>
            </a:r>
          </a:p>
        </p:txBody>
      </p:sp>
      <p:sp>
        <p:nvSpPr>
          <p:cNvPr id="56349" name="Text Box 33"/>
          <p:cNvSpPr txBox="1">
            <a:spLocks noChangeArrowheads="1"/>
          </p:cNvSpPr>
          <p:nvPr/>
        </p:nvSpPr>
        <p:spPr bwMode="auto">
          <a:xfrm>
            <a:off x="2898775" y="1619250"/>
            <a:ext cx="1936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9   8        9   8 </a:t>
            </a:r>
          </a:p>
        </p:txBody>
      </p:sp>
      <p:sp>
        <p:nvSpPr>
          <p:cNvPr id="56350" name="Text Box 35"/>
          <p:cNvSpPr txBox="1">
            <a:spLocks noChangeArrowheads="1"/>
          </p:cNvSpPr>
          <p:nvPr/>
        </p:nvSpPr>
        <p:spPr bwMode="auto">
          <a:xfrm>
            <a:off x="3203575" y="2476500"/>
            <a:ext cx="793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7  7</a:t>
            </a:r>
          </a:p>
        </p:txBody>
      </p:sp>
      <p:sp>
        <p:nvSpPr>
          <p:cNvPr id="56351" name="Line 38"/>
          <p:cNvSpPr>
            <a:spLocks noChangeShapeType="1"/>
          </p:cNvSpPr>
          <p:nvPr/>
        </p:nvSpPr>
        <p:spPr bwMode="auto">
          <a:xfrm>
            <a:off x="5791200" y="2409825"/>
            <a:ext cx="0" cy="2409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52" name="Line 39"/>
          <p:cNvSpPr>
            <a:spLocks noChangeShapeType="1"/>
          </p:cNvSpPr>
          <p:nvPr/>
        </p:nvSpPr>
        <p:spPr bwMode="auto">
          <a:xfrm>
            <a:off x="7742238" y="2438400"/>
            <a:ext cx="0" cy="2325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53" name="Line 41"/>
          <p:cNvSpPr>
            <a:spLocks noChangeShapeType="1"/>
          </p:cNvSpPr>
          <p:nvPr/>
        </p:nvSpPr>
        <p:spPr bwMode="auto">
          <a:xfrm>
            <a:off x="7742238" y="3895725"/>
            <a:ext cx="887412" cy="839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54" name="Line 43"/>
          <p:cNvSpPr>
            <a:spLocks noChangeShapeType="1"/>
          </p:cNvSpPr>
          <p:nvPr/>
        </p:nvSpPr>
        <p:spPr bwMode="auto">
          <a:xfrm>
            <a:off x="5791200" y="2400300"/>
            <a:ext cx="19431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55" name="Oval 44"/>
          <p:cNvSpPr>
            <a:spLocks noChangeArrowheads="1"/>
          </p:cNvSpPr>
          <p:nvPr/>
        </p:nvSpPr>
        <p:spPr bwMode="auto">
          <a:xfrm>
            <a:off x="6496050" y="135255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56356" name="Oval 45"/>
          <p:cNvSpPr>
            <a:spLocks noChangeArrowheads="1"/>
          </p:cNvSpPr>
          <p:nvPr/>
        </p:nvSpPr>
        <p:spPr bwMode="auto">
          <a:xfrm>
            <a:off x="5562600" y="217170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56357" name="Oval 46"/>
          <p:cNvSpPr>
            <a:spLocks noChangeArrowheads="1"/>
          </p:cNvSpPr>
          <p:nvPr/>
        </p:nvSpPr>
        <p:spPr bwMode="auto">
          <a:xfrm>
            <a:off x="7505700" y="219075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56358" name="Oval 47"/>
          <p:cNvSpPr>
            <a:spLocks noChangeArrowheads="1"/>
          </p:cNvSpPr>
          <p:nvPr/>
        </p:nvSpPr>
        <p:spPr bwMode="auto">
          <a:xfrm>
            <a:off x="7543800" y="361950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7</a:t>
            </a:r>
          </a:p>
        </p:txBody>
      </p:sp>
      <p:sp>
        <p:nvSpPr>
          <p:cNvPr id="56359" name="Oval 48"/>
          <p:cNvSpPr>
            <a:spLocks noChangeArrowheads="1"/>
          </p:cNvSpPr>
          <p:nvPr/>
        </p:nvSpPr>
        <p:spPr bwMode="auto">
          <a:xfrm>
            <a:off x="7543800" y="289560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6</a:t>
            </a:r>
          </a:p>
        </p:txBody>
      </p:sp>
      <p:sp>
        <p:nvSpPr>
          <p:cNvPr id="56360" name="Oval 49"/>
          <p:cNvSpPr>
            <a:spLocks noChangeArrowheads="1"/>
          </p:cNvSpPr>
          <p:nvPr/>
        </p:nvSpPr>
        <p:spPr bwMode="auto">
          <a:xfrm>
            <a:off x="7505700" y="440055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9</a:t>
            </a:r>
          </a:p>
        </p:txBody>
      </p:sp>
      <p:sp>
        <p:nvSpPr>
          <p:cNvPr id="56361" name="Oval 50"/>
          <p:cNvSpPr>
            <a:spLocks noChangeArrowheads="1"/>
          </p:cNvSpPr>
          <p:nvPr/>
        </p:nvSpPr>
        <p:spPr bwMode="auto">
          <a:xfrm>
            <a:off x="8401050" y="440055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8</a:t>
            </a:r>
          </a:p>
        </p:txBody>
      </p:sp>
      <p:sp>
        <p:nvSpPr>
          <p:cNvPr id="56362" name="Oval 51"/>
          <p:cNvSpPr>
            <a:spLocks noChangeArrowheads="1"/>
          </p:cNvSpPr>
          <p:nvPr/>
        </p:nvSpPr>
        <p:spPr bwMode="auto">
          <a:xfrm>
            <a:off x="5524500" y="291465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56363" name="Oval 53"/>
          <p:cNvSpPr>
            <a:spLocks noChangeArrowheads="1"/>
          </p:cNvSpPr>
          <p:nvPr/>
        </p:nvSpPr>
        <p:spPr bwMode="auto">
          <a:xfrm>
            <a:off x="5581650" y="445770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56364" name="Line 54"/>
          <p:cNvSpPr>
            <a:spLocks noChangeShapeType="1"/>
          </p:cNvSpPr>
          <p:nvPr/>
        </p:nvSpPr>
        <p:spPr bwMode="auto">
          <a:xfrm>
            <a:off x="4914900" y="1543050"/>
            <a:ext cx="0" cy="23622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65" name="Line 55"/>
          <p:cNvSpPr>
            <a:spLocks noChangeShapeType="1"/>
          </p:cNvSpPr>
          <p:nvPr/>
        </p:nvSpPr>
        <p:spPr bwMode="auto">
          <a:xfrm>
            <a:off x="4914900" y="3905250"/>
            <a:ext cx="8763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66" name="Oval 62"/>
          <p:cNvSpPr>
            <a:spLocks noChangeArrowheads="1"/>
          </p:cNvSpPr>
          <p:nvPr/>
        </p:nvSpPr>
        <p:spPr bwMode="auto">
          <a:xfrm>
            <a:off x="5562600" y="365760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56367" name="Text Box 74"/>
          <p:cNvSpPr txBox="1">
            <a:spLocks noChangeArrowheads="1"/>
          </p:cNvSpPr>
          <p:nvPr/>
        </p:nvSpPr>
        <p:spPr bwMode="auto">
          <a:xfrm>
            <a:off x="6575425" y="9144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56368" name="Text Box 75"/>
          <p:cNvSpPr txBox="1">
            <a:spLocks noChangeArrowheads="1"/>
          </p:cNvSpPr>
          <p:nvPr/>
        </p:nvSpPr>
        <p:spPr bwMode="auto">
          <a:xfrm>
            <a:off x="7127875" y="2882900"/>
            <a:ext cx="41275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6</a:t>
            </a:r>
          </a:p>
          <a:p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7</a:t>
            </a:r>
          </a:p>
        </p:txBody>
      </p:sp>
      <p:sp>
        <p:nvSpPr>
          <p:cNvPr id="56369" name="Text Box 77"/>
          <p:cNvSpPr txBox="1">
            <a:spLocks noChangeArrowheads="1"/>
          </p:cNvSpPr>
          <p:nvPr/>
        </p:nvSpPr>
        <p:spPr bwMode="auto">
          <a:xfrm>
            <a:off x="5813425" y="1752600"/>
            <a:ext cx="2051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1                    5</a:t>
            </a:r>
          </a:p>
        </p:txBody>
      </p:sp>
      <p:sp>
        <p:nvSpPr>
          <p:cNvPr id="56370" name="Text Box 78"/>
          <p:cNvSpPr txBox="1">
            <a:spLocks noChangeArrowheads="1"/>
          </p:cNvSpPr>
          <p:nvPr/>
        </p:nvSpPr>
        <p:spPr bwMode="auto">
          <a:xfrm>
            <a:off x="5203825" y="3013075"/>
            <a:ext cx="374650" cy="191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2</a:t>
            </a:r>
          </a:p>
          <a:p>
            <a:pPr algn="l"/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  <a:p>
            <a:pPr algn="l"/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  <a:p>
            <a:pPr algn="l"/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56371" name="Text Box 79"/>
          <p:cNvSpPr txBox="1">
            <a:spLocks noChangeArrowheads="1"/>
          </p:cNvSpPr>
          <p:nvPr/>
        </p:nvSpPr>
        <p:spPr bwMode="auto">
          <a:xfrm>
            <a:off x="5851525" y="3295650"/>
            <a:ext cx="27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56372" name="Text Box 80"/>
          <p:cNvSpPr txBox="1">
            <a:spLocks noChangeArrowheads="1"/>
          </p:cNvSpPr>
          <p:nvPr/>
        </p:nvSpPr>
        <p:spPr bwMode="auto">
          <a:xfrm>
            <a:off x="1016000" y="5238750"/>
            <a:ext cx="6115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(a) depth first spanning tree                             (b)</a:t>
            </a:r>
          </a:p>
        </p:txBody>
      </p:sp>
      <p:sp>
        <p:nvSpPr>
          <p:cNvPr id="56373" name="Text Box 29"/>
          <p:cNvSpPr txBox="1">
            <a:spLocks noChangeArrowheads="1"/>
          </p:cNvSpPr>
          <p:nvPr/>
        </p:nvSpPr>
        <p:spPr bwMode="auto">
          <a:xfrm>
            <a:off x="685800" y="3333750"/>
            <a:ext cx="946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2    2</a:t>
            </a:r>
          </a:p>
        </p:txBody>
      </p:sp>
      <p:sp>
        <p:nvSpPr>
          <p:cNvPr id="56374" name="Line 84"/>
          <p:cNvSpPr>
            <a:spLocks noChangeShapeType="1"/>
          </p:cNvSpPr>
          <p:nvPr/>
        </p:nvSpPr>
        <p:spPr bwMode="auto">
          <a:xfrm flipH="1">
            <a:off x="5945188" y="1833563"/>
            <a:ext cx="652462" cy="423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75" name="Line 85"/>
          <p:cNvSpPr>
            <a:spLocks noChangeShapeType="1"/>
          </p:cNvSpPr>
          <p:nvPr/>
        </p:nvSpPr>
        <p:spPr bwMode="auto">
          <a:xfrm>
            <a:off x="6897688" y="1816100"/>
            <a:ext cx="687387" cy="441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76" name="Oval 86"/>
          <p:cNvSpPr>
            <a:spLocks noChangeArrowheads="1"/>
          </p:cNvSpPr>
          <p:nvPr/>
        </p:nvSpPr>
        <p:spPr bwMode="auto">
          <a:xfrm>
            <a:off x="2133600" y="3298825"/>
            <a:ext cx="476250" cy="439738"/>
          </a:xfrm>
          <a:prstGeom prst="ellipse">
            <a:avLst/>
          </a:prstGeom>
          <a:solidFill>
            <a:srgbClr val="CC33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77" name="Text Box 87"/>
          <p:cNvSpPr txBox="1">
            <a:spLocks noChangeArrowheads="1"/>
          </p:cNvSpPr>
          <p:nvPr/>
        </p:nvSpPr>
        <p:spPr bwMode="auto">
          <a:xfrm>
            <a:off x="2090738" y="3790950"/>
            <a:ext cx="111442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ea typeface="PMingLiU" pitchFamily="18" charset="-120"/>
              </a:rPr>
              <a:t>dfn</a:t>
            </a:r>
          </a:p>
          <a:p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depth</a:t>
            </a:r>
          </a:p>
          <a:p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first</a:t>
            </a:r>
          </a:p>
          <a:p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number</a:t>
            </a:r>
            <a:endParaRPr lang="en-US" altLang="zh-TW" sz="2400">
              <a:ea typeface="PMingLiU" pitchFamily="18" charset="-120"/>
            </a:endParaRPr>
          </a:p>
        </p:txBody>
      </p:sp>
      <p:sp>
        <p:nvSpPr>
          <p:cNvPr id="56378" name="Text Box 88"/>
          <p:cNvSpPr txBox="1">
            <a:spLocks noChangeArrowheads="1"/>
          </p:cNvSpPr>
          <p:nvPr/>
        </p:nvSpPr>
        <p:spPr bwMode="auto">
          <a:xfrm>
            <a:off x="3729038" y="2141538"/>
            <a:ext cx="16129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ea typeface="PMingLiU" pitchFamily="18" charset="-120"/>
              </a:rPr>
              <a:t>nontree</a:t>
            </a:r>
          </a:p>
          <a:p>
            <a:r>
              <a:rPr lang="en-US" altLang="zh-TW" sz="2400">
                <a:ea typeface="PMingLiU" pitchFamily="18" charset="-120"/>
              </a:rPr>
              <a:t>edge</a:t>
            </a:r>
          </a:p>
          <a:p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(back edge)</a:t>
            </a:r>
            <a:endParaRPr lang="en-US" altLang="zh-TW" sz="2400">
              <a:ea typeface="PMingLiU" pitchFamily="18" charset="-120"/>
            </a:endParaRPr>
          </a:p>
        </p:txBody>
      </p:sp>
      <p:sp>
        <p:nvSpPr>
          <p:cNvPr id="56379" name="Rectangle 89"/>
          <p:cNvSpPr>
            <a:spLocks noChangeArrowheads="1"/>
          </p:cNvSpPr>
          <p:nvPr/>
        </p:nvSpPr>
        <p:spPr bwMode="auto">
          <a:xfrm>
            <a:off x="7531100" y="682625"/>
            <a:ext cx="16129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ea typeface="PMingLiU" pitchFamily="18" charset="-120"/>
              </a:rPr>
              <a:t>nontree</a:t>
            </a:r>
          </a:p>
          <a:p>
            <a:r>
              <a:rPr lang="en-US" altLang="zh-TW" sz="2400">
                <a:ea typeface="PMingLiU" pitchFamily="18" charset="-120"/>
              </a:rPr>
              <a:t>edge</a:t>
            </a:r>
          </a:p>
          <a:p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(back edge)</a:t>
            </a:r>
          </a:p>
        </p:txBody>
      </p:sp>
      <p:sp>
        <p:nvSpPr>
          <p:cNvPr id="56380" name="Text Box 90"/>
          <p:cNvSpPr txBox="1">
            <a:spLocks noChangeArrowheads="1"/>
          </p:cNvSpPr>
          <p:nvPr/>
        </p:nvSpPr>
        <p:spPr bwMode="auto">
          <a:xfrm>
            <a:off x="4956175" y="4975225"/>
            <a:ext cx="3940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ea typeface="PMingLiU" pitchFamily="18" charset="-120"/>
              </a:rPr>
              <a:t>Why is cross edge impossible?</a:t>
            </a:r>
          </a:p>
        </p:txBody>
      </p:sp>
      <p:sp>
        <p:nvSpPr>
          <p:cNvPr id="56381" name="Text Box 92"/>
          <p:cNvSpPr txBox="1">
            <a:spLocks noChangeArrowheads="1"/>
          </p:cNvSpPr>
          <p:nvPr/>
        </p:nvSpPr>
        <p:spPr bwMode="auto">
          <a:xfrm>
            <a:off x="2159000" y="5767388"/>
            <a:ext cx="5508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If u is an ancestor of v then dfn(u) &lt; dfn(v).</a:t>
            </a:r>
            <a:endParaRPr lang="en-US" altLang="zh-TW" sz="2400">
              <a:ea typeface="PMingLiU" pitchFamily="18" charset="-12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2"/>
          <p:cNvSpPr txBox="1">
            <a:spLocks noChangeArrowheads="1"/>
          </p:cNvSpPr>
          <p:nvPr/>
        </p:nvSpPr>
        <p:spPr bwMode="auto">
          <a:xfrm>
            <a:off x="742950" y="261938"/>
            <a:ext cx="9144000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en-US" altLang="zh-TW" sz="2200" b="1" u="sng">
                <a:solidFill>
                  <a:schemeClr val="tx1"/>
                </a:solidFill>
                <a:ea typeface="PMingLiU" pitchFamily="18" charset="-120"/>
              </a:rPr>
              <a:t>*Figure 6.24</a:t>
            </a:r>
            <a:r>
              <a:rPr lang="en-US" altLang="zh-TW" sz="2200" u="sng">
                <a:solidFill>
                  <a:schemeClr val="tx1"/>
                </a:solidFill>
                <a:ea typeface="PMingLiU" pitchFamily="18" charset="-120"/>
              </a:rPr>
              <a:t>: </a:t>
            </a:r>
            <a:r>
              <a:rPr lang="en-US" altLang="zh-TW" sz="2200" i="1" u="sng">
                <a:solidFill>
                  <a:schemeClr val="tx1"/>
                </a:solidFill>
                <a:ea typeface="PMingLiU" pitchFamily="18" charset="-120"/>
              </a:rPr>
              <a:t>dfn</a:t>
            </a:r>
            <a:r>
              <a:rPr lang="en-US" altLang="zh-TW" sz="2200" u="sng">
                <a:solidFill>
                  <a:schemeClr val="tx1"/>
                </a:solidFill>
                <a:ea typeface="PMingLiU" pitchFamily="18" charset="-120"/>
              </a:rPr>
              <a:t> and </a:t>
            </a:r>
            <a:r>
              <a:rPr lang="en-US" altLang="zh-TW" sz="2200" i="1" u="sng">
                <a:solidFill>
                  <a:schemeClr val="tx1"/>
                </a:solidFill>
                <a:ea typeface="PMingLiU" pitchFamily="18" charset="-120"/>
              </a:rPr>
              <a:t>low</a:t>
            </a:r>
            <a:r>
              <a:rPr lang="en-US" altLang="zh-TW" sz="2200" u="sng">
                <a:solidFill>
                  <a:schemeClr val="tx1"/>
                </a:solidFill>
                <a:ea typeface="PMingLiU" pitchFamily="18" charset="-120"/>
              </a:rPr>
              <a:t> values for </a:t>
            </a:r>
            <a:r>
              <a:rPr lang="en-US" altLang="zh-TW" sz="2200" i="1" u="sng">
                <a:solidFill>
                  <a:schemeClr val="tx1"/>
                </a:solidFill>
                <a:ea typeface="PMingLiU" pitchFamily="18" charset="-120"/>
              </a:rPr>
              <a:t>dfs </a:t>
            </a:r>
            <a:r>
              <a:rPr lang="en-US" altLang="zh-TW" sz="2200" u="sng">
                <a:solidFill>
                  <a:schemeClr val="tx1"/>
                </a:solidFill>
                <a:ea typeface="PMingLiU" pitchFamily="18" charset="-120"/>
              </a:rPr>
              <a:t>spanning tree with</a:t>
            </a:r>
            <a:r>
              <a:rPr lang="en-US" altLang="zh-TW" sz="2200" i="1" u="sng">
                <a:solidFill>
                  <a:schemeClr val="tx1"/>
                </a:solidFill>
                <a:ea typeface="PMingLiU" pitchFamily="18" charset="-120"/>
              </a:rPr>
              <a:t> root</a:t>
            </a:r>
            <a:r>
              <a:rPr lang="en-US" altLang="zh-TW" sz="2200" u="sng">
                <a:solidFill>
                  <a:schemeClr val="tx1"/>
                </a:solidFill>
                <a:ea typeface="PMingLiU" pitchFamily="18" charset="-120"/>
              </a:rPr>
              <a:t> =3(p.281)</a:t>
            </a:r>
            <a:endParaRPr lang="en-US" altLang="zh-TW" sz="2200" b="1" u="sng">
              <a:solidFill>
                <a:schemeClr val="tx1"/>
              </a:solidFill>
              <a:ea typeface="PMingLiU" pitchFamily="18" charset="-120"/>
            </a:endParaRPr>
          </a:p>
        </p:txBody>
      </p:sp>
      <p:graphicFrame>
        <p:nvGraphicFramePr>
          <p:cNvPr id="6146" name="Object 3"/>
          <p:cNvGraphicFramePr>
            <a:graphicFrameLocks noChangeAspect="1"/>
          </p:cNvGraphicFramePr>
          <p:nvPr/>
        </p:nvGraphicFramePr>
        <p:xfrm>
          <a:off x="1270000" y="1728788"/>
          <a:ext cx="6650038" cy="2698750"/>
        </p:xfrm>
        <a:graphic>
          <a:graphicData uri="http://schemas.openxmlformats.org/presentationml/2006/ole">
            <p:oleObj spid="_x0000_s6146" name="文件" r:id="rId3" imgW="6653520" imgH="2754000" progId="Word.Document.8">
              <p:embed/>
            </p:oleObj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3197225" y="3143250"/>
            <a:ext cx="186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8          9      </a:t>
            </a:r>
          </a:p>
        </p:txBody>
      </p:sp>
      <p:sp>
        <p:nvSpPr>
          <p:cNvPr id="57347" name="Line 3"/>
          <p:cNvSpPr>
            <a:spLocks noChangeShapeType="1"/>
          </p:cNvSpPr>
          <p:nvPr/>
        </p:nvSpPr>
        <p:spPr bwMode="auto">
          <a:xfrm flipH="1">
            <a:off x="3746500" y="2171700"/>
            <a:ext cx="685800" cy="8001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48" name="Line 4"/>
          <p:cNvSpPr>
            <a:spLocks noChangeShapeType="1"/>
          </p:cNvSpPr>
          <p:nvPr/>
        </p:nvSpPr>
        <p:spPr bwMode="auto">
          <a:xfrm>
            <a:off x="3784600" y="1466850"/>
            <a:ext cx="647700" cy="6858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49" name="Line 5"/>
          <p:cNvSpPr>
            <a:spLocks noChangeShapeType="1"/>
          </p:cNvSpPr>
          <p:nvPr/>
        </p:nvSpPr>
        <p:spPr bwMode="auto">
          <a:xfrm>
            <a:off x="946150" y="628650"/>
            <a:ext cx="184785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50" name="Line 6"/>
          <p:cNvSpPr>
            <a:spLocks noChangeShapeType="1"/>
          </p:cNvSpPr>
          <p:nvPr/>
        </p:nvSpPr>
        <p:spPr bwMode="auto">
          <a:xfrm>
            <a:off x="1822450" y="1495425"/>
            <a:ext cx="0" cy="2409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51" name="Line 7"/>
          <p:cNvSpPr>
            <a:spLocks noChangeShapeType="1"/>
          </p:cNvSpPr>
          <p:nvPr/>
        </p:nvSpPr>
        <p:spPr bwMode="auto">
          <a:xfrm>
            <a:off x="3773488" y="1524000"/>
            <a:ext cx="0" cy="2325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52" name="Line 8"/>
          <p:cNvSpPr>
            <a:spLocks noChangeShapeType="1"/>
          </p:cNvSpPr>
          <p:nvPr/>
        </p:nvSpPr>
        <p:spPr bwMode="auto">
          <a:xfrm>
            <a:off x="3773488" y="2981325"/>
            <a:ext cx="887412" cy="839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53" name="Line 9"/>
          <p:cNvSpPr>
            <a:spLocks noChangeShapeType="1"/>
          </p:cNvSpPr>
          <p:nvPr/>
        </p:nvSpPr>
        <p:spPr bwMode="auto">
          <a:xfrm>
            <a:off x="1822450" y="1485900"/>
            <a:ext cx="19431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54" name="Oval 10"/>
          <p:cNvSpPr>
            <a:spLocks noChangeArrowheads="1"/>
          </p:cNvSpPr>
          <p:nvPr/>
        </p:nvSpPr>
        <p:spPr bwMode="auto">
          <a:xfrm>
            <a:off x="2527300" y="43815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57355" name="Oval 11"/>
          <p:cNvSpPr>
            <a:spLocks noChangeArrowheads="1"/>
          </p:cNvSpPr>
          <p:nvPr/>
        </p:nvSpPr>
        <p:spPr bwMode="auto">
          <a:xfrm>
            <a:off x="1593850" y="125730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57356" name="Oval 12"/>
          <p:cNvSpPr>
            <a:spLocks noChangeArrowheads="1"/>
          </p:cNvSpPr>
          <p:nvPr/>
        </p:nvSpPr>
        <p:spPr bwMode="auto">
          <a:xfrm>
            <a:off x="3536950" y="127635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57357" name="Oval 13"/>
          <p:cNvSpPr>
            <a:spLocks noChangeArrowheads="1"/>
          </p:cNvSpPr>
          <p:nvPr/>
        </p:nvSpPr>
        <p:spPr bwMode="auto">
          <a:xfrm>
            <a:off x="3575050" y="270510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7</a:t>
            </a:r>
          </a:p>
        </p:txBody>
      </p:sp>
      <p:sp>
        <p:nvSpPr>
          <p:cNvPr id="57358" name="Oval 14"/>
          <p:cNvSpPr>
            <a:spLocks noChangeArrowheads="1"/>
          </p:cNvSpPr>
          <p:nvPr/>
        </p:nvSpPr>
        <p:spPr bwMode="auto">
          <a:xfrm>
            <a:off x="3575050" y="198120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6</a:t>
            </a:r>
          </a:p>
        </p:txBody>
      </p:sp>
      <p:sp>
        <p:nvSpPr>
          <p:cNvPr id="57359" name="Oval 15"/>
          <p:cNvSpPr>
            <a:spLocks noChangeArrowheads="1"/>
          </p:cNvSpPr>
          <p:nvPr/>
        </p:nvSpPr>
        <p:spPr bwMode="auto">
          <a:xfrm>
            <a:off x="3536950" y="348615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9</a:t>
            </a:r>
          </a:p>
        </p:txBody>
      </p:sp>
      <p:sp>
        <p:nvSpPr>
          <p:cNvPr id="57360" name="Oval 16"/>
          <p:cNvSpPr>
            <a:spLocks noChangeArrowheads="1"/>
          </p:cNvSpPr>
          <p:nvPr/>
        </p:nvSpPr>
        <p:spPr bwMode="auto">
          <a:xfrm>
            <a:off x="4432300" y="348615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8</a:t>
            </a:r>
          </a:p>
        </p:txBody>
      </p:sp>
      <p:sp>
        <p:nvSpPr>
          <p:cNvPr id="57361" name="Oval 17"/>
          <p:cNvSpPr>
            <a:spLocks noChangeArrowheads="1"/>
          </p:cNvSpPr>
          <p:nvPr/>
        </p:nvSpPr>
        <p:spPr bwMode="auto">
          <a:xfrm>
            <a:off x="1555750" y="200025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57362" name="Oval 18"/>
          <p:cNvSpPr>
            <a:spLocks noChangeArrowheads="1"/>
          </p:cNvSpPr>
          <p:nvPr/>
        </p:nvSpPr>
        <p:spPr bwMode="auto">
          <a:xfrm>
            <a:off x="1612900" y="354330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57363" name="Line 19"/>
          <p:cNvSpPr>
            <a:spLocks noChangeShapeType="1"/>
          </p:cNvSpPr>
          <p:nvPr/>
        </p:nvSpPr>
        <p:spPr bwMode="auto">
          <a:xfrm>
            <a:off x="946150" y="628650"/>
            <a:ext cx="0" cy="23622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64" name="Line 20"/>
          <p:cNvSpPr>
            <a:spLocks noChangeShapeType="1"/>
          </p:cNvSpPr>
          <p:nvPr/>
        </p:nvSpPr>
        <p:spPr bwMode="auto">
          <a:xfrm>
            <a:off x="946150" y="2990850"/>
            <a:ext cx="8763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65" name="Oval 21"/>
          <p:cNvSpPr>
            <a:spLocks noChangeArrowheads="1"/>
          </p:cNvSpPr>
          <p:nvPr/>
        </p:nvSpPr>
        <p:spPr bwMode="auto">
          <a:xfrm>
            <a:off x="1593850" y="274320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57366" name="Text Box 22"/>
          <p:cNvSpPr txBox="1">
            <a:spLocks noChangeArrowheads="1"/>
          </p:cNvSpPr>
          <p:nvPr/>
        </p:nvSpPr>
        <p:spPr bwMode="auto">
          <a:xfrm>
            <a:off x="2606675" y="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57367" name="Text Box 23"/>
          <p:cNvSpPr txBox="1">
            <a:spLocks noChangeArrowheads="1"/>
          </p:cNvSpPr>
          <p:nvPr/>
        </p:nvSpPr>
        <p:spPr bwMode="auto">
          <a:xfrm>
            <a:off x="3159125" y="1968500"/>
            <a:ext cx="4127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6</a:t>
            </a:r>
          </a:p>
          <a:p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7</a:t>
            </a:r>
          </a:p>
        </p:txBody>
      </p:sp>
      <p:sp>
        <p:nvSpPr>
          <p:cNvPr id="57368" name="Text Box 24"/>
          <p:cNvSpPr txBox="1">
            <a:spLocks noChangeArrowheads="1"/>
          </p:cNvSpPr>
          <p:nvPr/>
        </p:nvSpPr>
        <p:spPr bwMode="auto">
          <a:xfrm>
            <a:off x="1844675" y="838200"/>
            <a:ext cx="2051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1                    5</a:t>
            </a:r>
          </a:p>
        </p:txBody>
      </p:sp>
      <p:sp>
        <p:nvSpPr>
          <p:cNvPr id="57369" name="Text Box 25"/>
          <p:cNvSpPr txBox="1">
            <a:spLocks noChangeArrowheads="1"/>
          </p:cNvSpPr>
          <p:nvPr/>
        </p:nvSpPr>
        <p:spPr bwMode="auto">
          <a:xfrm>
            <a:off x="1235075" y="2098675"/>
            <a:ext cx="37465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2</a:t>
            </a:r>
          </a:p>
          <a:p>
            <a:pPr algn="l"/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  <a:p>
            <a:pPr algn="l"/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  <a:p>
            <a:pPr algn="l"/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57370" name="Text Box 26"/>
          <p:cNvSpPr txBox="1">
            <a:spLocks noChangeArrowheads="1"/>
          </p:cNvSpPr>
          <p:nvPr/>
        </p:nvSpPr>
        <p:spPr bwMode="auto">
          <a:xfrm>
            <a:off x="1882775" y="2381250"/>
            <a:ext cx="27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57371" name="Line 27"/>
          <p:cNvSpPr>
            <a:spLocks noChangeShapeType="1"/>
          </p:cNvSpPr>
          <p:nvPr/>
        </p:nvSpPr>
        <p:spPr bwMode="auto">
          <a:xfrm flipH="1">
            <a:off x="1976438" y="919163"/>
            <a:ext cx="652462" cy="423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72" name="Line 28"/>
          <p:cNvSpPr>
            <a:spLocks noChangeShapeType="1"/>
          </p:cNvSpPr>
          <p:nvPr/>
        </p:nvSpPr>
        <p:spPr bwMode="auto">
          <a:xfrm>
            <a:off x="2928938" y="901700"/>
            <a:ext cx="687387" cy="441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73" name="Text Box 29"/>
          <p:cNvSpPr txBox="1">
            <a:spLocks noChangeArrowheads="1"/>
          </p:cNvSpPr>
          <p:nvPr/>
        </p:nvSpPr>
        <p:spPr bwMode="auto">
          <a:xfrm>
            <a:off x="877888" y="4097338"/>
            <a:ext cx="4325937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low(u)=min{dfn(u),</a:t>
            </a:r>
          </a:p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min{low(w)|w is a child of u},</a:t>
            </a:r>
          </a:p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min{dfn(w)|(u,w) is a back edge}</a:t>
            </a:r>
          </a:p>
          <a:p>
            <a:pPr algn="l"/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u: articulation point</a:t>
            </a:r>
          </a:p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low(child) </a:t>
            </a:r>
            <a:r>
              <a:rPr lang="en-US" altLang="zh-TW" sz="2400">
                <a:solidFill>
                  <a:schemeClr val="tx1"/>
                </a:solidFill>
                <a:ea typeface="PMingLiU" pitchFamily="18" charset="-120"/>
                <a:sym typeface="Symbol" pitchFamily="18" charset="2"/>
              </a:rPr>
              <a:t> dfn(u)</a:t>
            </a:r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57374" name="Text Box 30"/>
          <p:cNvSpPr txBox="1">
            <a:spLocks noChangeArrowheads="1"/>
          </p:cNvSpPr>
          <p:nvPr/>
        </p:nvSpPr>
        <p:spPr bwMode="auto">
          <a:xfrm>
            <a:off x="4395788" y="452438"/>
            <a:ext cx="445452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*The root of a depth first spanning</a:t>
            </a:r>
          </a:p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tree is an articulation point iff</a:t>
            </a:r>
          </a:p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it has at least two children.</a:t>
            </a:r>
          </a:p>
        </p:txBody>
      </p:sp>
      <p:sp>
        <p:nvSpPr>
          <p:cNvPr id="57375" name="Rectangle 31"/>
          <p:cNvSpPr>
            <a:spLocks noChangeArrowheads="1"/>
          </p:cNvSpPr>
          <p:nvPr/>
        </p:nvSpPr>
        <p:spPr bwMode="auto">
          <a:xfrm>
            <a:off x="4360863" y="1998663"/>
            <a:ext cx="4829175" cy="267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*Any other vertex u is an articulation</a:t>
            </a:r>
          </a:p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point iff it has at least one child w</a:t>
            </a:r>
          </a:p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such that we cannot reach an ancestor</a:t>
            </a:r>
          </a:p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of u using a path that consists of</a:t>
            </a:r>
          </a:p>
          <a:p>
            <a:pPr algn="l"/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(1) only w (2) descendants of w (3)</a:t>
            </a:r>
          </a:p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single back edge.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 Box 2"/>
          <p:cNvSpPr txBox="1">
            <a:spLocks noChangeArrowheads="1"/>
          </p:cNvSpPr>
          <p:nvPr/>
        </p:nvSpPr>
        <p:spPr bwMode="auto">
          <a:xfrm>
            <a:off x="2843213" y="5981700"/>
            <a:ext cx="186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8          9      </a:t>
            </a:r>
          </a:p>
        </p:txBody>
      </p:sp>
      <p:sp>
        <p:nvSpPr>
          <p:cNvPr id="7172" name="Line 3"/>
          <p:cNvSpPr>
            <a:spLocks noChangeShapeType="1"/>
          </p:cNvSpPr>
          <p:nvPr/>
        </p:nvSpPr>
        <p:spPr bwMode="auto">
          <a:xfrm flipH="1">
            <a:off x="3392488" y="5010150"/>
            <a:ext cx="685800" cy="8001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3" name="Line 4"/>
          <p:cNvSpPr>
            <a:spLocks noChangeShapeType="1"/>
          </p:cNvSpPr>
          <p:nvPr/>
        </p:nvSpPr>
        <p:spPr bwMode="auto">
          <a:xfrm>
            <a:off x="3430588" y="4305300"/>
            <a:ext cx="647700" cy="6858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4" name="Line 5"/>
          <p:cNvSpPr>
            <a:spLocks noChangeShapeType="1"/>
          </p:cNvSpPr>
          <p:nvPr/>
        </p:nvSpPr>
        <p:spPr bwMode="auto">
          <a:xfrm>
            <a:off x="592138" y="3467100"/>
            <a:ext cx="1847850" cy="1588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5" name="Line 6"/>
          <p:cNvSpPr>
            <a:spLocks noChangeShapeType="1"/>
          </p:cNvSpPr>
          <p:nvPr/>
        </p:nvSpPr>
        <p:spPr bwMode="auto">
          <a:xfrm>
            <a:off x="1468438" y="4333875"/>
            <a:ext cx="1587" cy="2409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6" name="Line 7"/>
          <p:cNvSpPr>
            <a:spLocks noChangeShapeType="1"/>
          </p:cNvSpPr>
          <p:nvPr/>
        </p:nvSpPr>
        <p:spPr bwMode="auto">
          <a:xfrm>
            <a:off x="3419475" y="4362450"/>
            <a:ext cx="1588" cy="2325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7" name="Line 8"/>
          <p:cNvSpPr>
            <a:spLocks noChangeShapeType="1"/>
          </p:cNvSpPr>
          <p:nvPr/>
        </p:nvSpPr>
        <p:spPr bwMode="auto">
          <a:xfrm>
            <a:off x="3419475" y="5819775"/>
            <a:ext cx="887413" cy="839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8" name="Line 9"/>
          <p:cNvSpPr>
            <a:spLocks noChangeShapeType="1"/>
          </p:cNvSpPr>
          <p:nvPr/>
        </p:nvSpPr>
        <p:spPr bwMode="auto">
          <a:xfrm>
            <a:off x="1468438" y="4324350"/>
            <a:ext cx="1943100" cy="1588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9" name="Oval 10"/>
          <p:cNvSpPr>
            <a:spLocks noChangeArrowheads="1"/>
          </p:cNvSpPr>
          <p:nvPr/>
        </p:nvSpPr>
        <p:spPr bwMode="auto">
          <a:xfrm>
            <a:off x="2173288" y="327660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7180" name="Oval 11"/>
          <p:cNvSpPr>
            <a:spLocks noChangeArrowheads="1"/>
          </p:cNvSpPr>
          <p:nvPr/>
        </p:nvSpPr>
        <p:spPr bwMode="auto">
          <a:xfrm>
            <a:off x="1239838" y="409575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7181" name="Oval 12"/>
          <p:cNvSpPr>
            <a:spLocks noChangeArrowheads="1"/>
          </p:cNvSpPr>
          <p:nvPr/>
        </p:nvSpPr>
        <p:spPr bwMode="auto">
          <a:xfrm>
            <a:off x="3182938" y="411480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7182" name="Oval 13"/>
          <p:cNvSpPr>
            <a:spLocks noChangeArrowheads="1"/>
          </p:cNvSpPr>
          <p:nvPr/>
        </p:nvSpPr>
        <p:spPr bwMode="auto">
          <a:xfrm>
            <a:off x="3221038" y="554355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7</a:t>
            </a:r>
          </a:p>
        </p:txBody>
      </p:sp>
      <p:sp>
        <p:nvSpPr>
          <p:cNvPr id="7183" name="Oval 14"/>
          <p:cNvSpPr>
            <a:spLocks noChangeArrowheads="1"/>
          </p:cNvSpPr>
          <p:nvPr/>
        </p:nvSpPr>
        <p:spPr bwMode="auto">
          <a:xfrm>
            <a:off x="3221038" y="481965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6</a:t>
            </a:r>
          </a:p>
        </p:txBody>
      </p:sp>
      <p:sp>
        <p:nvSpPr>
          <p:cNvPr id="7184" name="Oval 15"/>
          <p:cNvSpPr>
            <a:spLocks noChangeArrowheads="1"/>
          </p:cNvSpPr>
          <p:nvPr/>
        </p:nvSpPr>
        <p:spPr bwMode="auto">
          <a:xfrm>
            <a:off x="3182938" y="632460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9</a:t>
            </a:r>
          </a:p>
        </p:txBody>
      </p:sp>
      <p:sp>
        <p:nvSpPr>
          <p:cNvPr id="7185" name="Oval 16"/>
          <p:cNvSpPr>
            <a:spLocks noChangeArrowheads="1"/>
          </p:cNvSpPr>
          <p:nvPr/>
        </p:nvSpPr>
        <p:spPr bwMode="auto">
          <a:xfrm>
            <a:off x="4078288" y="632460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8</a:t>
            </a:r>
          </a:p>
        </p:txBody>
      </p:sp>
      <p:sp>
        <p:nvSpPr>
          <p:cNvPr id="7186" name="Oval 17"/>
          <p:cNvSpPr>
            <a:spLocks noChangeArrowheads="1"/>
          </p:cNvSpPr>
          <p:nvPr/>
        </p:nvSpPr>
        <p:spPr bwMode="auto">
          <a:xfrm>
            <a:off x="1201738" y="483870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7187" name="Oval 18"/>
          <p:cNvSpPr>
            <a:spLocks noChangeArrowheads="1"/>
          </p:cNvSpPr>
          <p:nvPr/>
        </p:nvSpPr>
        <p:spPr bwMode="auto">
          <a:xfrm>
            <a:off x="1258888" y="638175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7188" name="Line 19"/>
          <p:cNvSpPr>
            <a:spLocks noChangeShapeType="1"/>
          </p:cNvSpPr>
          <p:nvPr/>
        </p:nvSpPr>
        <p:spPr bwMode="auto">
          <a:xfrm>
            <a:off x="592138" y="3467100"/>
            <a:ext cx="1587" cy="23622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9" name="Line 20"/>
          <p:cNvSpPr>
            <a:spLocks noChangeShapeType="1"/>
          </p:cNvSpPr>
          <p:nvPr/>
        </p:nvSpPr>
        <p:spPr bwMode="auto">
          <a:xfrm>
            <a:off x="592138" y="5829300"/>
            <a:ext cx="876300" cy="1588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0" name="Oval 21"/>
          <p:cNvSpPr>
            <a:spLocks noChangeArrowheads="1"/>
          </p:cNvSpPr>
          <p:nvPr/>
        </p:nvSpPr>
        <p:spPr bwMode="auto">
          <a:xfrm>
            <a:off x="1239838" y="5581650"/>
            <a:ext cx="495300" cy="4762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7191" name="Text Box 22"/>
          <p:cNvSpPr txBox="1">
            <a:spLocks noChangeArrowheads="1"/>
          </p:cNvSpPr>
          <p:nvPr/>
        </p:nvSpPr>
        <p:spPr bwMode="auto">
          <a:xfrm>
            <a:off x="2805113" y="4806950"/>
            <a:ext cx="4127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6</a:t>
            </a:r>
          </a:p>
          <a:p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7</a:t>
            </a:r>
          </a:p>
        </p:txBody>
      </p:sp>
      <p:sp>
        <p:nvSpPr>
          <p:cNvPr id="7192" name="Text Box 23"/>
          <p:cNvSpPr txBox="1">
            <a:spLocks noChangeArrowheads="1"/>
          </p:cNvSpPr>
          <p:nvPr/>
        </p:nvSpPr>
        <p:spPr bwMode="auto">
          <a:xfrm>
            <a:off x="1490663" y="3676650"/>
            <a:ext cx="2051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1                    5</a:t>
            </a:r>
          </a:p>
        </p:txBody>
      </p:sp>
      <p:sp>
        <p:nvSpPr>
          <p:cNvPr id="7193" name="Text Box 24"/>
          <p:cNvSpPr txBox="1">
            <a:spLocks noChangeArrowheads="1"/>
          </p:cNvSpPr>
          <p:nvPr/>
        </p:nvSpPr>
        <p:spPr bwMode="auto">
          <a:xfrm>
            <a:off x="881063" y="4937125"/>
            <a:ext cx="37465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2</a:t>
            </a:r>
          </a:p>
          <a:p>
            <a:pPr algn="l"/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  <a:p>
            <a:pPr algn="l"/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  <a:p>
            <a:pPr algn="l"/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7194" name="Text Box 25"/>
          <p:cNvSpPr txBox="1">
            <a:spLocks noChangeArrowheads="1"/>
          </p:cNvSpPr>
          <p:nvPr/>
        </p:nvSpPr>
        <p:spPr bwMode="auto">
          <a:xfrm>
            <a:off x="1528763" y="5219700"/>
            <a:ext cx="27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7195" name="Line 26"/>
          <p:cNvSpPr>
            <a:spLocks noChangeShapeType="1"/>
          </p:cNvSpPr>
          <p:nvPr/>
        </p:nvSpPr>
        <p:spPr bwMode="auto">
          <a:xfrm flipH="1">
            <a:off x="1622425" y="3757613"/>
            <a:ext cx="652463" cy="423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6" name="Line 27"/>
          <p:cNvSpPr>
            <a:spLocks noChangeShapeType="1"/>
          </p:cNvSpPr>
          <p:nvPr/>
        </p:nvSpPr>
        <p:spPr bwMode="auto">
          <a:xfrm>
            <a:off x="2574925" y="3740150"/>
            <a:ext cx="687388" cy="441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170" name="Object 0"/>
          <p:cNvGraphicFramePr>
            <a:graphicFrameLocks noChangeAspect="1"/>
          </p:cNvGraphicFramePr>
          <p:nvPr/>
        </p:nvGraphicFramePr>
        <p:xfrm>
          <a:off x="2963863" y="0"/>
          <a:ext cx="6173787" cy="3986213"/>
        </p:xfrm>
        <a:graphic>
          <a:graphicData uri="http://schemas.openxmlformats.org/presentationml/2006/ole">
            <p:oleObj spid="_x0000_s7170" name="文件" r:id="rId3" imgW="6188760" imgH="3990960" progId="Word.Document.8">
              <p:embed/>
            </p:oleObj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333500" y="557213"/>
            <a:ext cx="7810500" cy="795337"/>
          </a:xfrm>
        </p:spPr>
        <p:txBody>
          <a:bodyPr/>
          <a:lstStyle/>
          <a:p>
            <a:pPr eaLnBrk="1" hangingPunct="1"/>
            <a:r>
              <a:rPr lang="en-US" altLang="zh-TW" sz="2400" b="1" smtClean="0">
                <a:solidFill>
                  <a:schemeClr val="tx1"/>
                </a:solidFill>
              </a:rPr>
              <a:t>  </a:t>
            </a:r>
            <a:r>
              <a:rPr lang="en-US" altLang="zh-TW" sz="2400" b="1" u="sng" smtClean="0">
                <a:solidFill>
                  <a:schemeClr val="tx1"/>
                </a:solidFill>
              </a:rPr>
              <a:t>*Program 6.5:</a:t>
            </a:r>
            <a:r>
              <a:rPr lang="en-US" altLang="zh-TW" sz="2400" u="sng" smtClean="0">
                <a:solidFill>
                  <a:schemeClr val="tx1"/>
                </a:solidFill>
              </a:rPr>
              <a:t> Initializaiton of </a:t>
            </a:r>
            <a:r>
              <a:rPr lang="en-US" altLang="zh-TW" sz="2400" i="1" u="sng" smtClean="0">
                <a:solidFill>
                  <a:schemeClr val="tx1"/>
                </a:solidFill>
              </a:rPr>
              <a:t>dfn </a:t>
            </a:r>
            <a:r>
              <a:rPr lang="en-US" altLang="zh-TW" sz="2400" u="sng" smtClean="0">
                <a:solidFill>
                  <a:schemeClr val="tx1"/>
                </a:solidFill>
              </a:rPr>
              <a:t>and </a:t>
            </a:r>
            <a:r>
              <a:rPr lang="en-US" altLang="zh-TW" sz="2400" i="1" u="sng" smtClean="0">
                <a:solidFill>
                  <a:schemeClr val="tx1"/>
                </a:solidFill>
              </a:rPr>
              <a:t>low </a:t>
            </a:r>
            <a:r>
              <a:rPr lang="en-US" altLang="zh-TW" sz="2400" u="sng" smtClean="0">
                <a:solidFill>
                  <a:schemeClr val="tx1"/>
                </a:solidFill>
              </a:rPr>
              <a:t>(p.282)</a:t>
            </a:r>
            <a:endParaRPr lang="en-US" altLang="zh-TW" sz="2400" b="1" u="sng" smtClean="0">
              <a:solidFill>
                <a:schemeClr val="tx1"/>
              </a:solidFill>
            </a:endParaRPr>
          </a:p>
        </p:txBody>
      </p:sp>
      <p:sp>
        <p:nvSpPr>
          <p:cNvPr id="58371" name="Text Box 3"/>
          <p:cNvSpPr txBox="1">
            <a:spLocks noChangeArrowheads="1"/>
          </p:cNvSpPr>
          <p:nvPr/>
        </p:nvSpPr>
        <p:spPr bwMode="auto">
          <a:xfrm>
            <a:off x="985838" y="1557338"/>
            <a:ext cx="7872412" cy="3786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void init(void)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{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int i;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for (i = 0; i &lt; n; i++) {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    visited[i] = FALSE;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    dfn[i] = low[i] = -1;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    }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    num = 0;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}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895350" y="0"/>
            <a:ext cx="7905750" cy="528638"/>
          </a:xfrm>
        </p:spPr>
        <p:txBody>
          <a:bodyPr/>
          <a:lstStyle/>
          <a:p>
            <a:pPr eaLnBrk="1" hangingPunct="1"/>
            <a:r>
              <a:rPr lang="en-US" altLang="zh-TW" sz="2400" b="1" u="sng" smtClean="0">
                <a:solidFill>
                  <a:schemeClr val="tx1"/>
                </a:solidFill>
              </a:rPr>
              <a:t>*Program 6.4:</a:t>
            </a:r>
            <a:r>
              <a:rPr lang="en-US" altLang="zh-TW" sz="2400" u="sng" smtClean="0">
                <a:solidFill>
                  <a:schemeClr val="tx1"/>
                </a:solidFill>
              </a:rPr>
              <a:t> Determining </a:t>
            </a:r>
            <a:r>
              <a:rPr lang="en-US" altLang="zh-TW" sz="2400" i="1" u="sng" smtClean="0">
                <a:solidFill>
                  <a:schemeClr val="tx1"/>
                </a:solidFill>
              </a:rPr>
              <a:t>dfn</a:t>
            </a:r>
            <a:r>
              <a:rPr lang="en-US" altLang="zh-TW" sz="2400" u="sng" smtClean="0">
                <a:solidFill>
                  <a:schemeClr val="tx1"/>
                </a:solidFill>
              </a:rPr>
              <a:t> and </a:t>
            </a:r>
            <a:r>
              <a:rPr lang="en-US" altLang="zh-TW" sz="2400" i="1" u="sng" smtClean="0">
                <a:solidFill>
                  <a:schemeClr val="tx1"/>
                </a:solidFill>
              </a:rPr>
              <a:t>low </a:t>
            </a:r>
            <a:r>
              <a:rPr lang="en-US" altLang="zh-TW" sz="2400" u="sng" smtClean="0">
                <a:solidFill>
                  <a:schemeClr val="tx1"/>
                </a:solidFill>
              </a:rPr>
              <a:t>(p.282)</a:t>
            </a:r>
            <a:endParaRPr lang="en-US" altLang="zh-TW" sz="2400" b="1" u="sng" smtClean="0">
              <a:solidFill>
                <a:schemeClr val="tx1"/>
              </a:solidFill>
            </a:endParaRP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4846638" y="654050"/>
            <a:ext cx="2676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Initial call: dfn(x,-1)</a:t>
            </a:r>
          </a:p>
        </p:txBody>
      </p:sp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4953000" y="2611438"/>
            <a:ext cx="31527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low[u]=min{dfn(u), …}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2635250" y="4867275"/>
            <a:ext cx="6508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low[u]=min{…, min{low(w)|w is a child of u}, …}</a:t>
            </a:r>
          </a:p>
        </p:txBody>
      </p:sp>
      <p:sp>
        <p:nvSpPr>
          <p:cNvPr id="59398" name="Text Box 6"/>
          <p:cNvSpPr txBox="1">
            <a:spLocks noChangeArrowheads="1"/>
          </p:cNvSpPr>
          <p:nvPr/>
        </p:nvSpPr>
        <p:spPr bwMode="auto">
          <a:xfrm>
            <a:off x="1938338" y="6400800"/>
            <a:ext cx="66500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low[u]=min{…,…,min{dfn(w)|(u,w) is a back edge}</a:t>
            </a:r>
          </a:p>
        </p:txBody>
      </p:sp>
      <p:sp>
        <p:nvSpPr>
          <p:cNvPr id="59399" name="Text Box 7"/>
          <p:cNvSpPr txBox="1">
            <a:spLocks noChangeArrowheads="1"/>
          </p:cNvSpPr>
          <p:nvPr/>
        </p:nvSpPr>
        <p:spPr bwMode="auto">
          <a:xfrm>
            <a:off x="3560763" y="5186363"/>
            <a:ext cx="5073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</a:rPr>
              <a:t>dfn[w]</a:t>
            </a:r>
            <a:r>
              <a:rPr lang="en-US" altLang="zh-TW" sz="2400">
                <a:solidFill>
                  <a:schemeClr val="tx1"/>
                </a:solidFill>
                <a:sym typeface="Symbol" pitchFamily="18" charset="2"/>
              </a:rPr>
              <a:t>0 </a:t>
            </a:r>
            <a:r>
              <a:rPr lang="zh-TW" altLang="zh-TW" sz="2400">
                <a:solidFill>
                  <a:schemeClr val="tx1"/>
                </a:solidFill>
                <a:sym typeface="Symbol" pitchFamily="18" charset="2"/>
              </a:rPr>
              <a:t>非第一次，表示藉</a:t>
            </a:r>
            <a:r>
              <a:rPr lang="en-US" altLang="zh-TW" sz="2400">
                <a:solidFill>
                  <a:schemeClr val="tx1"/>
                </a:solidFill>
                <a:sym typeface="Symbol" pitchFamily="18" charset="2"/>
              </a:rPr>
              <a:t>back edge</a:t>
            </a:r>
            <a:endParaRPr lang="en-US" altLang="zh-TW" sz="2400">
              <a:solidFill>
                <a:schemeClr val="tx1"/>
              </a:solidFill>
            </a:endParaRPr>
          </a:p>
        </p:txBody>
      </p:sp>
      <p:sp>
        <p:nvSpPr>
          <p:cNvPr id="59400" name="Text Box 8"/>
          <p:cNvSpPr txBox="1">
            <a:spLocks noChangeArrowheads="1"/>
          </p:cNvSpPr>
          <p:nvPr/>
        </p:nvSpPr>
        <p:spPr bwMode="auto">
          <a:xfrm>
            <a:off x="927100" y="3609975"/>
            <a:ext cx="407988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v</a:t>
            </a:r>
          </a:p>
          <a:p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u</a:t>
            </a:r>
          </a:p>
          <a:p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w</a:t>
            </a:r>
          </a:p>
        </p:txBody>
      </p:sp>
      <p:sp>
        <p:nvSpPr>
          <p:cNvPr id="59401" name="Line 9"/>
          <p:cNvSpPr>
            <a:spLocks noChangeShapeType="1"/>
          </p:cNvSpPr>
          <p:nvPr/>
        </p:nvSpPr>
        <p:spPr bwMode="auto">
          <a:xfrm>
            <a:off x="1111250" y="4038600"/>
            <a:ext cx="0" cy="334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9402" name="Line 10"/>
          <p:cNvSpPr>
            <a:spLocks noChangeShapeType="1"/>
          </p:cNvSpPr>
          <p:nvPr/>
        </p:nvSpPr>
        <p:spPr bwMode="auto">
          <a:xfrm>
            <a:off x="1128713" y="4779963"/>
            <a:ext cx="0" cy="387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9403" name="Text Box 11"/>
          <p:cNvSpPr txBox="1">
            <a:spLocks noChangeArrowheads="1"/>
          </p:cNvSpPr>
          <p:nvPr/>
        </p:nvSpPr>
        <p:spPr bwMode="auto">
          <a:xfrm>
            <a:off x="1325563" y="3873500"/>
            <a:ext cx="338137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v</a:t>
            </a:r>
          </a:p>
          <a:p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u</a:t>
            </a:r>
          </a:p>
          <a:p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59404" name="Line 12"/>
          <p:cNvSpPr>
            <a:spLocks noChangeShapeType="1"/>
          </p:cNvSpPr>
          <p:nvPr/>
        </p:nvSpPr>
        <p:spPr bwMode="auto">
          <a:xfrm>
            <a:off x="1476375" y="4243388"/>
            <a:ext cx="0" cy="422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9405" name="Line 14"/>
          <p:cNvSpPr>
            <a:spLocks noChangeShapeType="1"/>
          </p:cNvSpPr>
          <p:nvPr/>
        </p:nvSpPr>
        <p:spPr bwMode="auto">
          <a:xfrm flipV="1">
            <a:off x="1622425" y="4162425"/>
            <a:ext cx="0" cy="511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9406" name="Text Box 15"/>
          <p:cNvSpPr txBox="1">
            <a:spLocks noChangeArrowheads="1"/>
          </p:cNvSpPr>
          <p:nvPr/>
        </p:nvSpPr>
        <p:spPr bwMode="auto">
          <a:xfrm>
            <a:off x="1298575" y="5521325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X</a:t>
            </a:r>
          </a:p>
        </p:txBody>
      </p:sp>
      <p:sp>
        <p:nvSpPr>
          <p:cNvPr id="59407" name="Text Box 16"/>
          <p:cNvSpPr txBox="1">
            <a:spLocks noChangeArrowheads="1"/>
          </p:cNvSpPr>
          <p:nvPr/>
        </p:nvSpPr>
        <p:spPr bwMode="auto">
          <a:xfrm>
            <a:off x="892175" y="5662613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O</a:t>
            </a:r>
          </a:p>
        </p:txBody>
      </p:sp>
      <p:sp>
        <p:nvSpPr>
          <p:cNvPr id="59408" name="Text Box 17"/>
          <p:cNvSpPr txBox="1">
            <a:spLocks noChangeArrowheads="1"/>
          </p:cNvSpPr>
          <p:nvPr/>
        </p:nvSpPr>
        <p:spPr bwMode="auto">
          <a:xfrm>
            <a:off x="842963" y="558800"/>
            <a:ext cx="7600950" cy="637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void dfnlow(int u, int v)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{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/* compute dfn and low while performing a dfs search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beginning at vertex u, v is the parent of u (if any) */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    node_pointer ptr;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    int w;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    dfn[u] = low[u] = num++;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    for (ptr = graph[u]; ptr; ptr = ptr -&gt;link) {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          w = ptr -&gt;vertex;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          if (dfn[w] &lt; 0) { /*w is an unvisited vertex */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             dfnlow(w, u);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             low[u] = MIN2(low[u], low[w]);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          } 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      else if (w != v)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            low[u] =MIN2(low[u], dfn[w] );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}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}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819150" y="381000"/>
            <a:ext cx="7867650" cy="447675"/>
          </a:xfrm>
        </p:spPr>
        <p:txBody>
          <a:bodyPr/>
          <a:lstStyle/>
          <a:p>
            <a:pPr eaLnBrk="1" hangingPunct="1"/>
            <a:r>
              <a:rPr lang="en-US" altLang="zh-TW" sz="2400" b="1" u="sng" smtClean="0">
                <a:solidFill>
                  <a:schemeClr val="tx1"/>
                </a:solidFill>
              </a:rPr>
              <a:t>*Program 6.6: </a:t>
            </a:r>
            <a:r>
              <a:rPr lang="en-US" altLang="zh-TW" sz="2400" u="sng" smtClean="0">
                <a:solidFill>
                  <a:schemeClr val="tx1"/>
                </a:solidFill>
              </a:rPr>
              <a:t>Biconnected components of a graph (p.283)</a:t>
            </a:r>
            <a:endParaRPr lang="en-US" altLang="zh-TW" sz="2400" b="1" u="sng" smtClean="0">
              <a:solidFill>
                <a:schemeClr val="tx1"/>
              </a:solidFill>
            </a:endParaRPr>
          </a:p>
        </p:txBody>
      </p:sp>
      <p:sp>
        <p:nvSpPr>
          <p:cNvPr id="60419" name="Rectangle 3"/>
          <p:cNvSpPr>
            <a:spLocks noChangeArrowheads="1"/>
          </p:cNvSpPr>
          <p:nvPr/>
        </p:nvSpPr>
        <p:spPr bwMode="auto">
          <a:xfrm>
            <a:off x="4811713" y="4065588"/>
            <a:ext cx="31527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low[u]=min{dfn(u), …}</a:t>
            </a:r>
          </a:p>
        </p:txBody>
      </p:sp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5432425" y="4859338"/>
            <a:ext cx="371157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>
                <a:solidFill>
                  <a:schemeClr val="tx1"/>
                </a:solidFill>
              </a:rPr>
              <a:t>(1) dfn[w]=-1 </a:t>
            </a:r>
            <a:r>
              <a:rPr lang="zh-TW" altLang="zh-TW">
                <a:solidFill>
                  <a:schemeClr val="tx1"/>
                </a:solidFill>
              </a:rPr>
              <a:t>第一次</a:t>
            </a:r>
          </a:p>
          <a:p>
            <a:pPr algn="l"/>
            <a:r>
              <a:rPr lang="en-US" altLang="zh-TW">
                <a:solidFill>
                  <a:schemeClr val="tx1"/>
                </a:solidFill>
              </a:rPr>
              <a:t>(2) dfn[w]!=-1</a:t>
            </a:r>
            <a:r>
              <a:rPr lang="zh-TW" altLang="zh-TW">
                <a:solidFill>
                  <a:schemeClr val="tx1"/>
                </a:solidFill>
              </a:rPr>
              <a:t>非第一次，藉</a:t>
            </a:r>
            <a:r>
              <a:rPr lang="en-US" altLang="zh-TW">
                <a:solidFill>
                  <a:schemeClr val="tx1"/>
                </a:solidFill>
              </a:rPr>
              <a:t>back</a:t>
            </a:r>
          </a:p>
          <a:p>
            <a:pPr algn="l"/>
            <a:r>
              <a:rPr lang="en-US" altLang="zh-TW">
                <a:solidFill>
                  <a:schemeClr val="tx1"/>
                </a:solidFill>
              </a:rPr>
              <a:t>                                                edge</a:t>
            </a:r>
          </a:p>
        </p:txBody>
      </p: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771525" y="728663"/>
            <a:ext cx="7758113" cy="526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void bicon(int u, int v)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{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/* compute dfn and low, and output the edges of G by their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biconnected  components , v is the parent ( if any) of the u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(if any)  in the resulting spanning tree. It is assumed that all 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entries  of dfn[ ] have been initialized to -1, num has been 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initialized to 0,  and the stack has been set to empty */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 node_pointer ptr;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 int w, x, y;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 dfn[u] = low[u] = num ++;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 for (ptr = graph[u]; ptr; ptr = ptr-&gt;link) {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    w = ptr -&gt;vertex;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    if ( v != w &amp;&amp; dfn[w] &lt; dfn[u] )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        add(&amp;top, u, w);        /* add edge to stack */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0"/>
            <a:ext cx="8077200" cy="6248400"/>
          </a:xfrm>
        </p:spPr>
        <p:txBody>
          <a:bodyPr/>
          <a:lstStyle/>
          <a:p>
            <a:pPr eaLnBrk="1" hangingPunct="1"/>
            <a:r>
              <a:rPr lang="en-US" altLang="zh-TW" sz="2400" smtClean="0">
                <a:solidFill>
                  <a:schemeClr val="tx1"/>
                </a:solidFill>
              </a:rPr>
              <a:t>      if(dfn[w] &lt; 0) {/* w has not been visited */</a:t>
            </a:r>
            <a:br>
              <a:rPr lang="en-US" altLang="zh-TW" sz="2400" smtClean="0">
                <a:solidFill>
                  <a:schemeClr val="tx1"/>
                </a:solidFill>
              </a:rPr>
            </a:br>
            <a:r>
              <a:rPr lang="en-US" altLang="zh-TW" sz="2400" smtClean="0">
                <a:solidFill>
                  <a:schemeClr val="tx1"/>
                </a:solidFill>
              </a:rPr>
              <a:t>            bicon(w, u);</a:t>
            </a:r>
            <a:br>
              <a:rPr lang="en-US" altLang="zh-TW" sz="2400" smtClean="0">
                <a:solidFill>
                  <a:schemeClr val="tx1"/>
                </a:solidFill>
              </a:rPr>
            </a:br>
            <a:r>
              <a:rPr lang="en-US" altLang="zh-TW" sz="2400" smtClean="0">
                <a:solidFill>
                  <a:schemeClr val="tx1"/>
                </a:solidFill>
              </a:rPr>
              <a:t>            low[u] = MIN2(low[u], low[w]);</a:t>
            </a:r>
            <a:br>
              <a:rPr lang="en-US" altLang="zh-TW" sz="2400" smtClean="0">
                <a:solidFill>
                  <a:schemeClr val="tx1"/>
                </a:solidFill>
              </a:rPr>
            </a:br>
            <a:r>
              <a:rPr lang="en-US" altLang="zh-TW" sz="2400" smtClean="0">
                <a:solidFill>
                  <a:schemeClr val="tx1"/>
                </a:solidFill>
              </a:rPr>
              <a:t>            if (low[w] &gt;= dfn[u] ){ articulation point</a:t>
            </a:r>
            <a:br>
              <a:rPr lang="en-US" altLang="zh-TW" sz="2400" smtClean="0">
                <a:solidFill>
                  <a:schemeClr val="tx1"/>
                </a:solidFill>
              </a:rPr>
            </a:br>
            <a:r>
              <a:rPr lang="en-US" altLang="zh-TW" sz="2400" smtClean="0">
                <a:solidFill>
                  <a:schemeClr val="tx1"/>
                </a:solidFill>
              </a:rPr>
              <a:t>                printf(“New biconnected component: “);</a:t>
            </a:r>
            <a:br>
              <a:rPr lang="en-US" altLang="zh-TW" sz="2400" smtClean="0">
                <a:solidFill>
                  <a:schemeClr val="tx1"/>
                </a:solidFill>
              </a:rPr>
            </a:br>
            <a:r>
              <a:rPr lang="en-US" altLang="zh-TW" sz="2400" smtClean="0">
                <a:solidFill>
                  <a:schemeClr val="tx1"/>
                </a:solidFill>
              </a:rPr>
              <a:t>                do { /* delete edge from stack */</a:t>
            </a:r>
            <a:br>
              <a:rPr lang="en-US" altLang="zh-TW" sz="2400" smtClean="0">
                <a:solidFill>
                  <a:schemeClr val="tx1"/>
                </a:solidFill>
              </a:rPr>
            </a:br>
            <a:r>
              <a:rPr lang="en-US" altLang="zh-TW" sz="2400" smtClean="0">
                <a:solidFill>
                  <a:schemeClr val="tx1"/>
                </a:solidFill>
              </a:rPr>
              <a:t>                     delete(&amp;top, &amp;x, &amp;y);</a:t>
            </a:r>
            <a:br>
              <a:rPr lang="en-US" altLang="zh-TW" sz="2400" smtClean="0">
                <a:solidFill>
                  <a:schemeClr val="tx1"/>
                </a:solidFill>
              </a:rPr>
            </a:br>
            <a:r>
              <a:rPr lang="en-US" altLang="zh-TW" sz="2400" smtClean="0">
                <a:solidFill>
                  <a:schemeClr val="tx1"/>
                </a:solidFill>
              </a:rPr>
              <a:t>                     printf(“ &lt;%d, %d&gt;” , x, y);</a:t>
            </a:r>
            <a:br>
              <a:rPr lang="en-US" altLang="zh-TW" sz="2400" smtClean="0">
                <a:solidFill>
                  <a:schemeClr val="tx1"/>
                </a:solidFill>
              </a:rPr>
            </a:br>
            <a:r>
              <a:rPr lang="en-US" altLang="zh-TW" sz="2400" smtClean="0">
                <a:solidFill>
                  <a:schemeClr val="tx1"/>
                </a:solidFill>
              </a:rPr>
              <a:t>                 }  while (!(( x = = u) &amp;&amp; (y = = w)));</a:t>
            </a:r>
            <a:br>
              <a:rPr lang="en-US" altLang="zh-TW" sz="2400" smtClean="0">
                <a:solidFill>
                  <a:schemeClr val="tx1"/>
                </a:solidFill>
              </a:rPr>
            </a:br>
            <a:r>
              <a:rPr lang="en-US" altLang="zh-TW" sz="2400" smtClean="0">
                <a:solidFill>
                  <a:schemeClr val="tx1"/>
                </a:solidFill>
              </a:rPr>
              <a:t>                 printf(“\n”);</a:t>
            </a:r>
            <a:br>
              <a:rPr lang="en-US" altLang="zh-TW" sz="2400" smtClean="0">
                <a:solidFill>
                  <a:schemeClr val="tx1"/>
                </a:solidFill>
              </a:rPr>
            </a:br>
            <a:r>
              <a:rPr lang="en-US" altLang="zh-TW" sz="2400" smtClean="0">
                <a:solidFill>
                  <a:schemeClr val="tx1"/>
                </a:solidFill>
              </a:rPr>
              <a:t>              }</a:t>
            </a:r>
            <a:br>
              <a:rPr lang="en-US" altLang="zh-TW" sz="2400" smtClean="0">
                <a:solidFill>
                  <a:schemeClr val="tx1"/>
                </a:solidFill>
              </a:rPr>
            </a:br>
            <a:r>
              <a:rPr lang="en-US" altLang="zh-TW" sz="2400" smtClean="0">
                <a:solidFill>
                  <a:schemeClr val="tx1"/>
                </a:solidFill>
              </a:rPr>
              <a:t>           }</a:t>
            </a:r>
            <a:br>
              <a:rPr lang="en-US" altLang="zh-TW" sz="2400" smtClean="0">
                <a:solidFill>
                  <a:schemeClr val="tx1"/>
                </a:solidFill>
              </a:rPr>
            </a:br>
            <a:r>
              <a:rPr lang="en-US" altLang="zh-TW" sz="2400" smtClean="0">
                <a:solidFill>
                  <a:schemeClr val="tx1"/>
                </a:solidFill>
              </a:rPr>
              <a:t>          else if (w != v)  low[u] = MIN2(low[u], dfn[w]);</a:t>
            </a:r>
            <a:br>
              <a:rPr lang="en-US" altLang="zh-TW" sz="2400" smtClean="0">
                <a:solidFill>
                  <a:schemeClr val="tx1"/>
                </a:solidFill>
              </a:rPr>
            </a:br>
            <a:r>
              <a:rPr lang="en-US" altLang="zh-TW" sz="2400" smtClean="0">
                <a:solidFill>
                  <a:schemeClr val="tx1"/>
                </a:solidFill>
              </a:rPr>
              <a:t>       }</a:t>
            </a:r>
            <a:br>
              <a:rPr lang="en-US" altLang="zh-TW" sz="2400" smtClean="0">
                <a:solidFill>
                  <a:schemeClr val="tx1"/>
                </a:solidFill>
              </a:rPr>
            </a:br>
            <a:r>
              <a:rPr lang="en-US" altLang="zh-TW" sz="2400" smtClean="0">
                <a:solidFill>
                  <a:schemeClr val="tx1"/>
                </a:solidFill>
              </a:rPr>
              <a:t>    }</a:t>
            </a:r>
          </a:p>
        </p:txBody>
      </p:sp>
      <p:sp>
        <p:nvSpPr>
          <p:cNvPr id="61443" name="Rectangle 3"/>
          <p:cNvSpPr>
            <a:spLocks noChangeArrowheads="1"/>
          </p:cNvSpPr>
          <p:nvPr/>
        </p:nvSpPr>
        <p:spPr bwMode="auto">
          <a:xfrm>
            <a:off x="1890713" y="5103813"/>
            <a:ext cx="69484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low[u]=min{…, …, min{dfn(w)|(u,w) is a back edge}}</a:t>
            </a:r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3046413" y="660400"/>
            <a:ext cx="6508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low[u]=min{…, min{low(w)|w is a child of u}, …}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/>
          <p:cNvSpPr>
            <a:spLocks noChangeArrowheads="1"/>
          </p:cNvSpPr>
          <p:nvPr/>
        </p:nvSpPr>
        <p:spPr bwMode="auto">
          <a:xfrm>
            <a:off x="152400" y="609600"/>
            <a:ext cx="8991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altLang="zh-TW" sz="4400">
                <a:solidFill>
                  <a:schemeClr val="tx1"/>
                </a:solidFill>
                <a:ea typeface="PMingLiU" pitchFamily="18" charset="-120"/>
              </a:rPr>
              <a:t>Minimum Cost Spanning Tree</a:t>
            </a:r>
          </a:p>
        </p:txBody>
      </p:sp>
      <p:sp>
        <p:nvSpPr>
          <p:cNvPr id="62467" name="Rectangle 4"/>
          <p:cNvSpPr>
            <a:spLocks noChangeArrowheads="1"/>
          </p:cNvSpPr>
          <p:nvPr/>
        </p:nvSpPr>
        <p:spPr bwMode="auto">
          <a:xfrm>
            <a:off x="944563" y="1909763"/>
            <a:ext cx="8199437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The cost of a spanning tree of a weighted undirected graph is the sum of the costs of the edges in the spanning tree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A minimum cost spanning tree is a spanning 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tree of least cost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Three different algorithms can be used</a:t>
            </a:r>
          </a:p>
          <a:p>
            <a:pPr marL="742950" lvl="1" indent="-285750" algn="l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Kruskal</a:t>
            </a:r>
          </a:p>
          <a:p>
            <a:pPr marL="742950" lvl="1" indent="-285750" algn="l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Prim</a:t>
            </a:r>
          </a:p>
          <a:p>
            <a:pPr marL="742950" lvl="1" indent="-285750" algn="l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Sollin</a:t>
            </a:r>
          </a:p>
        </p:txBody>
      </p:sp>
      <p:sp>
        <p:nvSpPr>
          <p:cNvPr id="62468" name="Text Box 5"/>
          <p:cNvSpPr txBox="1">
            <a:spLocks noChangeArrowheads="1"/>
          </p:cNvSpPr>
          <p:nvPr/>
        </p:nvSpPr>
        <p:spPr bwMode="auto">
          <a:xfrm>
            <a:off x="3489325" y="5143500"/>
            <a:ext cx="5068888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Select n-1 edges from a weighted graph</a:t>
            </a:r>
          </a:p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of n vertices with minimum cost.</a:t>
            </a:r>
          </a:p>
        </p:txBody>
      </p:sp>
      <p:sp>
        <p:nvSpPr>
          <p:cNvPr id="62469" name="Rectangle 6"/>
          <p:cNvSpPr>
            <a:spLocks noChangeArrowheads="1"/>
          </p:cNvSpPr>
          <p:nvPr/>
        </p:nvSpPr>
        <p:spPr bwMode="auto">
          <a:xfrm>
            <a:off x="3387725" y="5114925"/>
            <a:ext cx="5203825" cy="9350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1027"/>
          <p:cNvSpPr>
            <a:spLocks noChangeArrowheads="1"/>
          </p:cNvSpPr>
          <p:nvPr/>
        </p:nvSpPr>
        <p:spPr bwMode="auto">
          <a:xfrm>
            <a:off x="1011238" y="328613"/>
            <a:ext cx="81327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altLang="zh-TW" sz="4400">
                <a:solidFill>
                  <a:schemeClr val="tx1"/>
                </a:solidFill>
                <a:ea typeface="PMingLiU" pitchFamily="18" charset="-120"/>
              </a:rPr>
              <a:t>Greedy Strategy</a:t>
            </a:r>
          </a:p>
        </p:txBody>
      </p:sp>
      <p:sp>
        <p:nvSpPr>
          <p:cNvPr id="63491" name="Rectangle 1028"/>
          <p:cNvSpPr>
            <a:spLocks noChangeArrowheads="1"/>
          </p:cNvSpPr>
          <p:nvPr/>
        </p:nvSpPr>
        <p:spPr bwMode="auto">
          <a:xfrm>
            <a:off x="1011238" y="1609725"/>
            <a:ext cx="8991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An optimal solution is constructed in stages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At each stage, the best decision is made at this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time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Since this decision cannot be changed later, 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we make sure that the decision will result in a feasible solution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Typically, the selection of an item at each 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stage is based on a least cost or a highest profit criterion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ChangeArrowheads="1"/>
          </p:cNvSpPr>
          <p:nvPr/>
        </p:nvSpPr>
        <p:spPr bwMode="auto">
          <a:xfrm>
            <a:off x="1044575" y="609600"/>
            <a:ext cx="80994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altLang="zh-TW" sz="4400">
                <a:solidFill>
                  <a:schemeClr val="tx2"/>
                </a:solidFill>
                <a:ea typeface="PMingLiU" pitchFamily="18" charset="-120"/>
              </a:rPr>
              <a:t>Kruskal’s Idea</a:t>
            </a:r>
          </a:p>
        </p:txBody>
      </p:sp>
      <p:sp>
        <p:nvSpPr>
          <p:cNvPr id="64515" name="Rectangle 4"/>
          <p:cNvSpPr>
            <a:spLocks noChangeArrowheads="1"/>
          </p:cNvSpPr>
          <p:nvPr/>
        </p:nvSpPr>
        <p:spPr bwMode="auto">
          <a:xfrm>
            <a:off x="1044575" y="1839913"/>
            <a:ext cx="809942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Build a minimum cost spanning tree T by 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adding edges to T one at a time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Select the edges for inclusion in T in 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nondecreasing order of the cost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An edge is added to T if it does not form a 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cycle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Since G is connected and has n &gt; 0 vertices, </a:t>
            </a:r>
            <a:br>
              <a:rPr lang="en-US" altLang="zh-TW" sz="32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exactly n-1 edges will be selected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Grp="1" noChangeArrowheads="1"/>
          </p:cNvSpPr>
          <p:nvPr>
            <p:ph type="title"/>
          </p:nvPr>
        </p:nvSpPr>
        <p:spPr>
          <a:xfrm>
            <a:off x="1035050" y="0"/>
            <a:ext cx="8108950" cy="825500"/>
          </a:xfrm>
          <a:noFill/>
        </p:spPr>
        <p:txBody>
          <a:bodyPr lIns="92075" tIns="46038" rIns="92075" bIns="46038"/>
          <a:lstStyle/>
          <a:p>
            <a:pPr algn="ctr" eaLnBrk="1" hangingPunct="1"/>
            <a:r>
              <a:rPr lang="en-US" altLang="zh-TW" smtClean="0"/>
              <a:t>Examples for Kruskal’s Algorithm</a:t>
            </a:r>
          </a:p>
        </p:txBody>
      </p:sp>
      <p:sp>
        <p:nvSpPr>
          <p:cNvPr id="65539" name="Oval 4"/>
          <p:cNvSpPr>
            <a:spLocks noChangeArrowheads="1"/>
          </p:cNvSpPr>
          <p:nvPr/>
        </p:nvSpPr>
        <p:spPr bwMode="auto">
          <a:xfrm>
            <a:off x="2982913" y="225901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65540" name="Oval 5"/>
          <p:cNvSpPr>
            <a:spLocks noChangeArrowheads="1"/>
          </p:cNvSpPr>
          <p:nvPr/>
        </p:nvSpPr>
        <p:spPr bwMode="auto">
          <a:xfrm>
            <a:off x="3606800" y="28511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65541" name="Oval 6"/>
          <p:cNvSpPr>
            <a:spLocks noChangeArrowheads="1"/>
          </p:cNvSpPr>
          <p:nvPr/>
        </p:nvSpPr>
        <p:spPr bwMode="auto">
          <a:xfrm>
            <a:off x="3940175" y="368458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65542" name="Oval 7"/>
          <p:cNvSpPr>
            <a:spLocks noChangeArrowheads="1"/>
          </p:cNvSpPr>
          <p:nvPr/>
        </p:nvSpPr>
        <p:spPr bwMode="auto">
          <a:xfrm>
            <a:off x="3359150" y="503872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65543" name="Oval 8"/>
          <p:cNvSpPr>
            <a:spLocks noChangeArrowheads="1"/>
          </p:cNvSpPr>
          <p:nvPr/>
        </p:nvSpPr>
        <p:spPr bwMode="auto">
          <a:xfrm>
            <a:off x="2589213" y="455930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65544" name="Oval 9"/>
          <p:cNvSpPr>
            <a:spLocks noChangeArrowheads="1"/>
          </p:cNvSpPr>
          <p:nvPr/>
        </p:nvSpPr>
        <p:spPr bwMode="auto">
          <a:xfrm>
            <a:off x="2230438" y="369887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65545" name="Oval 10"/>
          <p:cNvSpPr>
            <a:spLocks noChangeArrowheads="1"/>
          </p:cNvSpPr>
          <p:nvPr/>
        </p:nvSpPr>
        <p:spPr bwMode="auto">
          <a:xfrm>
            <a:off x="3213100" y="367823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6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4648200" y="2154238"/>
            <a:ext cx="2154238" cy="3224212"/>
            <a:chOff x="2273" y="1346"/>
            <a:chExt cx="1357" cy="2031"/>
          </a:xfrm>
        </p:grpSpPr>
        <p:sp>
          <p:nvSpPr>
            <p:cNvPr id="65598" name="Oval 12"/>
            <p:cNvSpPr>
              <a:spLocks noChangeArrowheads="1"/>
            </p:cNvSpPr>
            <p:nvPr/>
          </p:nvSpPr>
          <p:spPr bwMode="auto">
            <a:xfrm>
              <a:off x="2747" y="1346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0</a:t>
              </a:r>
            </a:p>
          </p:txBody>
        </p:sp>
        <p:sp>
          <p:nvSpPr>
            <p:cNvPr id="65599" name="Oval 13"/>
            <p:cNvSpPr>
              <a:spLocks noChangeArrowheads="1"/>
            </p:cNvSpPr>
            <p:nvPr/>
          </p:nvSpPr>
          <p:spPr bwMode="auto">
            <a:xfrm>
              <a:off x="3140" y="1719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1</a:t>
              </a:r>
            </a:p>
          </p:txBody>
        </p:sp>
        <p:sp>
          <p:nvSpPr>
            <p:cNvPr id="65600" name="Oval 14"/>
            <p:cNvSpPr>
              <a:spLocks noChangeArrowheads="1"/>
            </p:cNvSpPr>
            <p:nvPr/>
          </p:nvSpPr>
          <p:spPr bwMode="auto">
            <a:xfrm>
              <a:off x="3350" y="2244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2</a:t>
              </a:r>
            </a:p>
          </p:txBody>
        </p:sp>
        <p:sp>
          <p:nvSpPr>
            <p:cNvPr id="65601" name="Oval 15"/>
            <p:cNvSpPr>
              <a:spLocks noChangeArrowheads="1"/>
            </p:cNvSpPr>
            <p:nvPr/>
          </p:nvSpPr>
          <p:spPr bwMode="auto">
            <a:xfrm>
              <a:off x="2984" y="3097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3</a:t>
              </a:r>
            </a:p>
          </p:txBody>
        </p:sp>
        <p:sp>
          <p:nvSpPr>
            <p:cNvPr id="65602" name="Oval 16"/>
            <p:cNvSpPr>
              <a:spLocks noChangeArrowheads="1"/>
            </p:cNvSpPr>
            <p:nvPr/>
          </p:nvSpPr>
          <p:spPr bwMode="auto">
            <a:xfrm>
              <a:off x="2499" y="2795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4</a:t>
              </a:r>
            </a:p>
          </p:txBody>
        </p:sp>
        <p:sp>
          <p:nvSpPr>
            <p:cNvPr id="65603" name="Oval 17"/>
            <p:cNvSpPr>
              <a:spLocks noChangeArrowheads="1"/>
            </p:cNvSpPr>
            <p:nvPr/>
          </p:nvSpPr>
          <p:spPr bwMode="auto">
            <a:xfrm>
              <a:off x="2273" y="2253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5</a:t>
              </a:r>
            </a:p>
          </p:txBody>
        </p:sp>
        <p:sp>
          <p:nvSpPr>
            <p:cNvPr id="65604" name="Oval 18"/>
            <p:cNvSpPr>
              <a:spLocks noChangeArrowheads="1"/>
            </p:cNvSpPr>
            <p:nvPr/>
          </p:nvSpPr>
          <p:spPr bwMode="auto">
            <a:xfrm>
              <a:off x="2892" y="2240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6</a:t>
              </a:r>
            </a:p>
          </p:txBody>
        </p:sp>
      </p:grpSp>
      <p:sp>
        <p:nvSpPr>
          <p:cNvPr id="65547" name="Line 19"/>
          <p:cNvSpPr>
            <a:spLocks noChangeShapeType="1"/>
          </p:cNvSpPr>
          <p:nvPr/>
        </p:nvSpPr>
        <p:spPr bwMode="auto">
          <a:xfrm flipH="1">
            <a:off x="2468563" y="2717800"/>
            <a:ext cx="630237" cy="968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48" name="Line 20"/>
          <p:cNvSpPr>
            <a:spLocks noChangeShapeType="1"/>
          </p:cNvSpPr>
          <p:nvPr/>
        </p:nvSpPr>
        <p:spPr bwMode="auto">
          <a:xfrm>
            <a:off x="3370263" y="2667000"/>
            <a:ext cx="273050" cy="25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49" name="Line 21"/>
          <p:cNvSpPr>
            <a:spLocks noChangeShapeType="1"/>
          </p:cNvSpPr>
          <p:nvPr/>
        </p:nvSpPr>
        <p:spPr bwMode="auto">
          <a:xfrm>
            <a:off x="3932238" y="3278188"/>
            <a:ext cx="220662" cy="4079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50" name="Line 22"/>
          <p:cNvSpPr>
            <a:spLocks noChangeShapeType="1"/>
          </p:cNvSpPr>
          <p:nvPr/>
        </p:nvSpPr>
        <p:spPr bwMode="auto">
          <a:xfrm flipH="1">
            <a:off x="3421063" y="3278188"/>
            <a:ext cx="306387" cy="4079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51" name="Line 23"/>
          <p:cNvSpPr>
            <a:spLocks noChangeShapeType="1"/>
          </p:cNvSpPr>
          <p:nvPr/>
        </p:nvSpPr>
        <p:spPr bwMode="auto">
          <a:xfrm flipH="1">
            <a:off x="3709988" y="4111625"/>
            <a:ext cx="442912" cy="952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52" name="Line 24"/>
          <p:cNvSpPr>
            <a:spLocks noChangeShapeType="1"/>
          </p:cNvSpPr>
          <p:nvPr/>
        </p:nvSpPr>
        <p:spPr bwMode="auto">
          <a:xfrm>
            <a:off x="3438525" y="4146550"/>
            <a:ext cx="101600" cy="9001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53" name="Line 25"/>
          <p:cNvSpPr>
            <a:spLocks noChangeShapeType="1"/>
          </p:cNvSpPr>
          <p:nvPr/>
        </p:nvSpPr>
        <p:spPr bwMode="auto">
          <a:xfrm flipH="1">
            <a:off x="2927350" y="4111625"/>
            <a:ext cx="374650" cy="4587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54" name="Line 26"/>
          <p:cNvSpPr>
            <a:spLocks noChangeShapeType="1"/>
          </p:cNvSpPr>
          <p:nvPr/>
        </p:nvSpPr>
        <p:spPr bwMode="auto">
          <a:xfrm>
            <a:off x="2451100" y="4146550"/>
            <a:ext cx="290513" cy="4238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55" name="Line 27"/>
          <p:cNvSpPr>
            <a:spLocks noChangeShapeType="1"/>
          </p:cNvSpPr>
          <p:nvPr/>
        </p:nvSpPr>
        <p:spPr bwMode="auto">
          <a:xfrm>
            <a:off x="2978150" y="4945063"/>
            <a:ext cx="407988" cy="2047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56" name="Rectangle 28"/>
          <p:cNvSpPr>
            <a:spLocks noChangeArrowheads="1"/>
          </p:cNvSpPr>
          <p:nvPr/>
        </p:nvSpPr>
        <p:spPr bwMode="auto">
          <a:xfrm>
            <a:off x="3465513" y="2509838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28</a:t>
            </a:r>
          </a:p>
        </p:txBody>
      </p:sp>
      <p:sp>
        <p:nvSpPr>
          <p:cNvPr id="65557" name="Rectangle 29"/>
          <p:cNvSpPr>
            <a:spLocks noChangeArrowheads="1"/>
          </p:cNvSpPr>
          <p:nvPr/>
        </p:nvSpPr>
        <p:spPr bwMode="auto">
          <a:xfrm>
            <a:off x="4008438" y="3222625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16</a:t>
            </a:r>
          </a:p>
        </p:txBody>
      </p:sp>
      <p:sp>
        <p:nvSpPr>
          <p:cNvPr id="65558" name="Rectangle 30"/>
          <p:cNvSpPr>
            <a:spLocks noChangeArrowheads="1"/>
          </p:cNvSpPr>
          <p:nvPr/>
        </p:nvSpPr>
        <p:spPr bwMode="auto">
          <a:xfrm>
            <a:off x="3889375" y="4448175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12</a:t>
            </a:r>
          </a:p>
        </p:txBody>
      </p:sp>
      <p:sp>
        <p:nvSpPr>
          <p:cNvPr id="65559" name="Rectangle 31"/>
          <p:cNvSpPr>
            <a:spLocks noChangeArrowheads="1"/>
          </p:cNvSpPr>
          <p:nvPr/>
        </p:nvSpPr>
        <p:spPr bwMode="auto">
          <a:xfrm>
            <a:off x="3430588" y="4397375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18</a:t>
            </a:r>
          </a:p>
        </p:txBody>
      </p:sp>
      <p:sp>
        <p:nvSpPr>
          <p:cNvPr id="65560" name="Rectangle 32"/>
          <p:cNvSpPr>
            <a:spLocks noChangeArrowheads="1"/>
          </p:cNvSpPr>
          <p:nvPr/>
        </p:nvSpPr>
        <p:spPr bwMode="auto">
          <a:xfrm>
            <a:off x="2767013" y="4073525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24</a:t>
            </a:r>
          </a:p>
        </p:txBody>
      </p:sp>
      <p:sp>
        <p:nvSpPr>
          <p:cNvPr id="65561" name="Rectangle 33"/>
          <p:cNvSpPr>
            <a:spLocks noChangeArrowheads="1"/>
          </p:cNvSpPr>
          <p:nvPr/>
        </p:nvSpPr>
        <p:spPr bwMode="auto">
          <a:xfrm>
            <a:off x="2833688" y="500856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22</a:t>
            </a:r>
          </a:p>
        </p:txBody>
      </p:sp>
      <p:sp>
        <p:nvSpPr>
          <p:cNvPr id="65562" name="Rectangle 34"/>
          <p:cNvSpPr>
            <a:spLocks noChangeArrowheads="1"/>
          </p:cNvSpPr>
          <p:nvPr/>
        </p:nvSpPr>
        <p:spPr bwMode="auto">
          <a:xfrm>
            <a:off x="2206625" y="4225925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25</a:t>
            </a:r>
          </a:p>
        </p:txBody>
      </p:sp>
      <p:sp>
        <p:nvSpPr>
          <p:cNvPr id="65563" name="Rectangle 35"/>
          <p:cNvSpPr>
            <a:spLocks noChangeArrowheads="1"/>
          </p:cNvSpPr>
          <p:nvPr/>
        </p:nvSpPr>
        <p:spPr bwMode="auto">
          <a:xfrm>
            <a:off x="2427288" y="290036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10</a:t>
            </a:r>
          </a:p>
        </p:txBody>
      </p:sp>
      <p:sp>
        <p:nvSpPr>
          <p:cNvPr id="65564" name="Rectangle 36"/>
          <p:cNvSpPr>
            <a:spLocks noChangeArrowheads="1"/>
          </p:cNvSpPr>
          <p:nvPr/>
        </p:nvSpPr>
        <p:spPr bwMode="auto">
          <a:xfrm>
            <a:off x="3209925" y="3241675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14</a:t>
            </a:r>
          </a:p>
        </p:txBody>
      </p: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6989763" y="2135188"/>
            <a:ext cx="2154237" cy="3224212"/>
            <a:chOff x="4137" y="1345"/>
            <a:chExt cx="1357" cy="2031"/>
          </a:xfrm>
        </p:grpSpPr>
        <p:sp>
          <p:nvSpPr>
            <p:cNvPr id="65591" name="Oval 38"/>
            <p:cNvSpPr>
              <a:spLocks noChangeArrowheads="1"/>
            </p:cNvSpPr>
            <p:nvPr/>
          </p:nvSpPr>
          <p:spPr bwMode="auto">
            <a:xfrm>
              <a:off x="4611" y="1345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0</a:t>
              </a:r>
            </a:p>
          </p:txBody>
        </p:sp>
        <p:sp>
          <p:nvSpPr>
            <p:cNvPr id="65592" name="Oval 39"/>
            <p:cNvSpPr>
              <a:spLocks noChangeArrowheads="1"/>
            </p:cNvSpPr>
            <p:nvPr/>
          </p:nvSpPr>
          <p:spPr bwMode="auto">
            <a:xfrm>
              <a:off x="5004" y="1718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1</a:t>
              </a:r>
            </a:p>
          </p:txBody>
        </p:sp>
        <p:sp>
          <p:nvSpPr>
            <p:cNvPr id="65593" name="Oval 40"/>
            <p:cNvSpPr>
              <a:spLocks noChangeArrowheads="1"/>
            </p:cNvSpPr>
            <p:nvPr/>
          </p:nvSpPr>
          <p:spPr bwMode="auto">
            <a:xfrm>
              <a:off x="5214" y="2243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2</a:t>
              </a:r>
            </a:p>
          </p:txBody>
        </p:sp>
        <p:sp>
          <p:nvSpPr>
            <p:cNvPr id="65594" name="Oval 41"/>
            <p:cNvSpPr>
              <a:spLocks noChangeArrowheads="1"/>
            </p:cNvSpPr>
            <p:nvPr/>
          </p:nvSpPr>
          <p:spPr bwMode="auto">
            <a:xfrm>
              <a:off x="4848" y="3096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3</a:t>
              </a:r>
            </a:p>
          </p:txBody>
        </p:sp>
        <p:sp>
          <p:nvSpPr>
            <p:cNvPr id="65595" name="Oval 42"/>
            <p:cNvSpPr>
              <a:spLocks noChangeArrowheads="1"/>
            </p:cNvSpPr>
            <p:nvPr/>
          </p:nvSpPr>
          <p:spPr bwMode="auto">
            <a:xfrm>
              <a:off x="4363" y="2794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4</a:t>
              </a:r>
            </a:p>
          </p:txBody>
        </p:sp>
        <p:sp>
          <p:nvSpPr>
            <p:cNvPr id="65596" name="Oval 43"/>
            <p:cNvSpPr>
              <a:spLocks noChangeArrowheads="1"/>
            </p:cNvSpPr>
            <p:nvPr/>
          </p:nvSpPr>
          <p:spPr bwMode="auto">
            <a:xfrm>
              <a:off x="4137" y="2252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5</a:t>
              </a:r>
            </a:p>
          </p:txBody>
        </p:sp>
        <p:sp>
          <p:nvSpPr>
            <p:cNvPr id="65597" name="Oval 44"/>
            <p:cNvSpPr>
              <a:spLocks noChangeArrowheads="1"/>
            </p:cNvSpPr>
            <p:nvPr/>
          </p:nvSpPr>
          <p:spPr bwMode="auto">
            <a:xfrm>
              <a:off x="4756" y="2239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6</a:t>
              </a:r>
            </a:p>
          </p:txBody>
        </p:sp>
      </p:grpSp>
      <p:sp>
        <p:nvSpPr>
          <p:cNvPr id="65566" name="Line 45"/>
          <p:cNvSpPr>
            <a:spLocks noChangeShapeType="1"/>
          </p:cNvSpPr>
          <p:nvPr/>
        </p:nvSpPr>
        <p:spPr bwMode="auto">
          <a:xfrm flipH="1">
            <a:off x="7212013" y="2578100"/>
            <a:ext cx="681037" cy="987425"/>
          </a:xfrm>
          <a:prstGeom prst="line">
            <a:avLst/>
          </a:prstGeom>
          <a:noFill/>
          <a:ln w="12700">
            <a:solidFill>
              <a:srgbClr val="CC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67" name="Rectangle 46"/>
          <p:cNvSpPr>
            <a:spLocks noChangeArrowheads="1"/>
          </p:cNvSpPr>
          <p:nvPr/>
        </p:nvSpPr>
        <p:spPr bwMode="auto">
          <a:xfrm>
            <a:off x="7153275" y="281146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10</a:t>
            </a:r>
          </a:p>
        </p:txBody>
      </p:sp>
      <p:sp>
        <p:nvSpPr>
          <p:cNvPr id="65568" name="Text Box 47"/>
          <p:cNvSpPr txBox="1">
            <a:spLocks noChangeArrowheads="1"/>
          </p:cNvSpPr>
          <p:nvPr/>
        </p:nvSpPr>
        <p:spPr bwMode="auto">
          <a:xfrm>
            <a:off x="984250" y="677863"/>
            <a:ext cx="1022350" cy="629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ea typeface="PMingLiU" pitchFamily="18" charset="-120"/>
              </a:rPr>
              <a:t>0       5</a:t>
            </a:r>
          </a:p>
          <a:p>
            <a:pPr algn="l"/>
            <a:endParaRPr lang="en-US" altLang="zh-TW" sz="2400">
              <a:ea typeface="PMingLiU" pitchFamily="18" charset="-120"/>
            </a:endParaRPr>
          </a:p>
          <a:p>
            <a:pPr algn="l"/>
            <a:r>
              <a:rPr lang="en-US" altLang="zh-TW" sz="2400">
                <a:ea typeface="PMingLiU" pitchFamily="18" charset="-120"/>
              </a:rPr>
              <a:t>2       3</a:t>
            </a:r>
          </a:p>
          <a:p>
            <a:pPr algn="l"/>
            <a:endParaRPr lang="en-US" altLang="zh-TW" sz="2400">
              <a:ea typeface="PMingLiU" pitchFamily="18" charset="-120"/>
            </a:endParaRPr>
          </a:p>
          <a:p>
            <a:pPr algn="l"/>
            <a:r>
              <a:rPr lang="en-US" altLang="zh-TW" sz="2400">
                <a:ea typeface="PMingLiU" pitchFamily="18" charset="-120"/>
              </a:rPr>
              <a:t>1       6</a:t>
            </a:r>
          </a:p>
          <a:p>
            <a:pPr algn="l"/>
            <a:endParaRPr lang="en-US" altLang="zh-TW" sz="2400">
              <a:ea typeface="PMingLiU" pitchFamily="18" charset="-120"/>
            </a:endParaRPr>
          </a:p>
          <a:p>
            <a:pPr algn="l"/>
            <a:r>
              <a:rPr lang="en-US" altLang="zh-TW" sz="2400">
                <a:ea typeface="PMingLiU" pitchFamily="18" charset="-120"/>
              </a:rPr>
              <a:t>1       2</a:t>
            </a:r>
          </a:p>
          <a:p>
            <a:pPr algn="l"/>
            <a:endParaRPr lang="en-US" altLang="zh-TW" sz="2400">
              <a:ea typeface="PMingLiU" pitchFamily="18" charset="-120"/>
            </a:endParaRPr>
          </a:p>
          <a:p>
            <a:pPr algn="l"/>
            <a:r>
              <a:rPr lang="en-US" altLang="zh-TW" sz="2400">
                <a:ea typeface="PMingLiU" pitchFamily="18" charset="-120"/>
              </a:rPr>
              <a:t>3       6</a:t>
            </a:r>
          </a:p>
          <a:p>
            <a:pPr algn="l"/>
            <a:endParaRPr lang="en-US" altLang="zh-TW" sz="2400">
              <a:ea typeface="PMingLiU" pitchFamily="18" charset="-120"/>
            </a:endParaRPr>
          </a:p>
          <a:p>
            <a:pPr algn="l"/>
            <a:r>
              <a:rPr lang="en-US" altLang="zh-TW" sz="2400">
                <a:ea typeface="PMingLiU" pitchFamily="18" charset="-120"/>
              </a:rPr>
              <a:t>3       4</a:t>
            </a:r>
          </a:p>
          <a:p>
            <a:pPr algn="l"/>
            <a:endParaRPr lang="en-US" altLang="zh-TW" sz="2400">
              <a:ea typeface="PMingLiU" pitchFamily="18" charset="-120"/>
            </a:endParaRPr>
          </a:p>
          <a:p>
            <a:pPr algn="l"/>
            <a:r>
              <a:rPr lang="en-US" altLang="zh-TW" sz="2400">
                <a:ea typeface="PMingLiU" pitchFamily="18" charset="-120"/>
              </a:rPr>
              <a:t>4       6</a:t>
            </a:r>
          </a:p>
          <a:p>
            <a:pPr algn="l"/>
            <a:endParaRPr lang="en-US" altLang="zh-TW" sz="2400">
              <a:ea typeface="PMingLiU" pitchFamily="18" charset="-120"/>
            </a:endParaRPr>
          </a:p>
          <a:p>
            <a:pPr algn="l"/>
            <a:r>
              <a:rPr lang="en-US" altLang="zh-TW" sz="2400">
                <a:ea typeface="PMingLiU" pitchFamily="18" charset="-120"/>
              </a:rPr>
              <a:t>4       5</a:t>
            </a:r>
          </a:p>
          <a:p>
            <a:pPr algn="l"/>
            <a:endParaRPr lang="en-US" altLang="zh-TW" sz="2400">
              <a:ea typeface="PMingLiU" pitchFamily="18" charset="-120"/>
            </a:endParaRPr>
          </a:p>
          <a:p>
            <a:pPr algn="l"/>
            <a:r>
              <a:rPr lang="en-US" altLang="zh-TW" sz="2400">
                <a:ea typeface="PMingLiU" pitchFamily="18" charset="-120"/>
              </a:rPr>
              <a:t>0       1</a:t>
            </a:r>
          </a:p>
        </p:txBody>
      </p:sp>
      <p:sp>
        <p:nvSpPr>
          <p:cNvPr id="65569" name="Line 48"/>
          <p:cNvSpPr>
            <a:spLocks noChangeShapeType="1"/>
          </p:cNvSpPr>
          <p:nvPr/>
        </p:nvSpPr>
        <p:spPr bwMode="auto">
          <a:xfrm>
            <a:off x="1270000" y="935038"/>
            <a:ext cx="476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70" name="Line 49"/>
          <p:cNvSpPr>
            <a:spLocks noChangeShapeType="1"/>
          </p:cNvSpPr>
          <p:nvPr/>
        </p:nvSpPr>
        <p:spPr bwMode="auto">
          <a:xfrm>
            <a:off x="1252538" y="1657350"/>
            <a:ext cx="493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71" name="Line 50"/>
          <p:cNvSpPr>
            <a:spLocks noChangeShapeType="1"/>
          </p:cNvSpPr>
          <p:nvPr/>
        </p:nvSpPr>
        <p:spPr bwMode="auto">
          <a:xfrm>
            <a:off x="1252538" y="2398713"/>
            <a:ext cx="565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72" name="Line 51"/>
          <p:cNvSpPr>
            <a:spLocks noChangeShapeType="1"/>
          </p:cNvSpPr>
          <p:nvPr/>
        </p:nvSpPr>
        <p:spPr bwMode="auto">
          <a:xfrm>
            <a:off x="1235075" y="3121025"/>
            <a:ext cx="563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73" name="Line 53"/>
          <p:cNvSpPr>
            <a:spLocks noChangeShapeType="1"/>
          </p:cNvSpPr>
          <p:nvPr/>
        </p:nvSpPr>
        <p:spPr bwMode="auto">
          <a:xfrm>
            <a:off x="1252538" y="3844925"/>
            <a:ext cx="493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74" name="Line 54"/>
          <p:cNvSpPr>
            <a:spLocks noChangeShapeType="1"/>
          </p:cNvSpPr>
          <p:nvPr/>
        </p:nvSpPr>
        <p:spPr bwMode="auto">
          <a:xfrm>
            <a:off x="1270000" y="4603750"/>
            <a:ext cx="476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75" name="Line 55"/>
          <p:cNvSpPr>
            <a:spLocks noChangeShapeType="1"/>
          </p:cNvSpPr>
          <p:nvPr/>
        </p:nvSpPr>
        <p:spPr bwMode="auto">
          <a:xfrm>
            <a:off x="1270000" y="5308600"/>
            <a:ext cx="476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76" name="Line 56"/>
          <p:cNvSpPr>
            <a:spLocks noChangeShapeType="1"/>
          </p:cNvSpPr>
          <p:nvPr/>
        </p:nvSpPr>
        <p:spPr bwMode="auto">
          <a:xfrm>
            <a:off x="1270000" y="6067425"/>
            <a:ext cx="511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77" name="Line 57"/>
          <p:cNvSpPr>
            <a:spLocks noChangeShapeType="1"/>
          </p:cNvSpPr>
          <p:nvPr/>
        </p:nvSpPr>
        <p:spPr bwMode="auto">
          <a:xfrm>
            <a:off x="1270000" y="6858000"/>
            <a:ext cx="4587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78" name="Line 58"/>
          <p:cNvSpPr>
            <a:spLocks noChangeShapeType="1"/>
          </p:cNvSpPr>
          <p:nvPr/>
        </p:nvSpPr>
        <p:spPr bwMode="auto">
          <a:xfrm>
            <a:off x="1287463" y="6858000"/>
            <a:ext cx="388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79" name="Line 59"/>
          <p:cNvSpPr>
            <a:spLocks noChangeShapeType="1"/>
          </p:cNvSpPr>
          <p:nvPr/>
        </p:nvSpPr>
        <p:spPr bwMode="auto">
          <a:xfrm>
            <a:off x="1358900" y="6858000"/>
            <a:ext cx="369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80" name="Line 60"/>
          <p:cNvSpPr>
            <a:spLocks noChangeShapeType="1"/>
          </p:cNvSpPr>
          <p:nvPr/>
        </p:nvSpPr>
        <p:spPr bwMode="auto">
          <a:xfrm>
            <a:off x="1246188" y="6643688"/>
            <a:ext cx="511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81" name="Text Box 61"/>
          <p:cNvSpPr txBox="1">
            <a:spLocks noChangeArrowheads="1"/>
          </p:cNvSpPr>
          <p:nvPr/>
        </p:nvSpPr>
        <p:spPr bwMode="auto">
          <a:xfrm>
            <a:off x="1281113" y="66516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10</a:t>
            </a:r>
          </a:p>
        </p:txBody>
      </p:sp>
      <p:sp>
        <p:nvSpPr>
          <p:cNvPr id="65582" name="Text Box 62"/>
          <p:cNvSpPr txBox="1">
            <a:spLocks noChangeArrowheads="1"/>
          </p:cNvSpPr>
          <p:nvPr/>
        </p:nvSpPr>
        <p:spPr bwMode="auto">
          <a:xfrm>
            <a:off x="1316038" y="137160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12</a:t>
            </a:r>
          </a:p>
        </p:txBody>
      </p:sp>
      <p:sp>
        <p:nvSpPr>
          <p:cNvPr id="65583" name="Text Box 63"/>
          <p:cNvSpPr txBox="1">
            <a:spLocks noChangeArrowheads="1"/>
          </p:cNvSpPr>
          <p:nvPr/>
        </p:nvSpPr>
        <p:spPr bwMode="auto">
          <a:xfrm>
            <a:off x="1298575" y="2128838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14</a:t>
            </a:r>
          </a:p>
        </p:txBody>
      </p:sp>
      <p:sp>
        <p:nvSpPr>
          <p:cNvPr id="65584" name="Text Box 64"/>
          <p:cNvSpPr txBox="1">
            <a:spLocks noChangeArrowheads="1"/>
          </p:cNvSpPr>
          <p:nvPr/>
        </p:nvSpPr>
        <p:spPr bwMode="auto">
          <a:xfrm>
            <a:off x="1262063" y="2835275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16</a:t>
            </a:r>
          </a:p>
        </p:txBody>
      </p:sp>
      <p:sp>
        <p:nvSpPr>
          <p:cNvPr id="65585" name="Text Box 65"/>
          <p:cNvSpPr txBox="1">
            <a:spLocks noChangeArrowheads="1"/>
          </p:cNvSpPr>
          <p:nvPr/>
        </p:nvSpPr>
        <p:spPr bwMode="auto">
          <a:xfrm>
            <a:off x="1244600" y="357505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18</a:t>
            </a:r>
          </a:p>
        </p:txBody>
      </p:sp>
      <p:sp>
        <p:nvSpPr>
          <p:cNvPr id="65586" name="Text Box 67"/>
          <p:cNvSpPr txBox="1">
            <a:spLocks noChangeArrowheads="1"/>
          </p:cNvSpPr>
          <p:nvPr/>
        </p:nvSpPr>
        <p:spPr bwMode="auto">
          <a:xfrm>
            <a:off x="1298575" y="433546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22</a:t>
            </a:r>
          </a:p>
        </p:txBody>
      </p:sp>
      <p:sp>
        <p:nvSpPr>
          <p:cNvPr id="65587" name="Text Box 68"/>
          <p:cNvSpPr txBox="1">
            <a:spLocks noChangeArrowheads="1"/>
          </p:cNvSpPr>
          <p:nvPr/>
        </p:nvSpPr>
        <p:spPr bwMode="auto">
          <a:xfrm>
            <a:off x="1244600" y="5094288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24</a:t>
            </a:r>
          </a:p>
        </p:txBody>
      </p:sp>
      <p:sp>
        <p:nvSpPr>
          <p:cNvPr id="65588" name="Text Box 69"/>
          <p:cNvSpPr txBox="1">
            <a:spLocks noChangeArrowheads="1"/>
          </p:cNvSpPr>
          <p:nvPr/>
        </p:nvSpPr>
        <p:spPr bwMode="auto">
          <a:xfrm>
            <a:off x="1298575" y="5868988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25</a:t>
            </a:r>
          </a:p>
        </p:txBody>
      </p:sp>
      <p:sp>
        <p:nvSpPr>
          <p:cNvPr id="65589" name="Text Box 70"/>
          <p:cNvSpPr txBox="1">
            <a:spLocks noChangeArrowheads="1"/>
          </p:cNvSpPr>
          <p:nvPr/>
        </p:nvSpPr>
        <p:spPr bwMode="auto">
          <a:xfrm>
            <a:off x="1281113" y="6461125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28</a:t>
            </a:r>
          </a:p>
        </p:txBody>
      </p:sp>
      <p:sp>
        <p:nvSpPr>
          <p:cNvPr id="65590" name="Text Box 71"/>
          <p:cNvSpPr txBox="1">
            <a:spLocks noChangeArrowheads="1"/>
          </p:cNvSpPr>
          <p:nvPr/>
        </p:nvSpPr>
        <p:spPr bwMode="auto">
          <a:xfrm>
            <a:off x="2416175" y="6196013"/>
            <a:ext cx="6381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800" b="1">
                <a:solidFill>
                  <a:schemeClr val="tx1"/>
                </a:solidFill>
                <a:ea typeface="PMingLiU" pitchFamily="18" charset="-120"/>
              </a:rPr>
              <a:t>6/9</a:t>
            </a:r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141538" y="2170113"/>
            <a:ext cx="2154237" cy="3224212"/>
            <a:chOff x="504" y="1356"/>
            <a:chExt cx="1357" cy="2031"/>
          </a:xfrm>
        </p:grpSpPr>
        <p:sp>
          <p:nvSpPr>
            <p:cNvPr id="66621" name="Oval 4"/>
            <p:cNvSpPr>
              <a:spLocks noChangeArrowheads="1"/>
            </p:cNvSpPr>
            <p:nvPr/>
          </p:nvSpPr>
          <p:spPr bwMode="auto">
            <a:xfrm>
              <a:off x="978" y="1356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0</a:t>
              </a:r>
            </a:p>
          </p:txBody>
        </p:sp>
        <p:sp>
          <p:nvSpPr>
            <p:cNvPr id="66622" name="Oval 5"/>
            <p:cNvSpPr>
              <a:spLocks noChangeArrowheads="1"/>
            </p:cNvSpPr>
            <p:nvPr/>
          </p:nvSpPr>
          <p:spPr bwMode="auto">
            <a:xfrm>
              <a:off x="1371" y="1729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1</a:t>
              </a:r>
            </a:p>
          </p:txBody>
        </p:sp>
        <p:sp>
          <p:nvSpPr>
            <p:cNvPr id="66623" name="Oval 6"/>
            <p:cNvSpPr>
              <a:spLocks noChangeArrowheads="1"/>
            </p:cNvSpPr>
            <p:nvPr/>
          </p:nvSpPr>
          <p:spPr bwMode="auto">
            <a:xfrm>
              <a:off x="1581" y="2254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2</a:t>
              </a:r>
            </a:p>
          </p:txBody>
        </p:sp>
        <p:sp>
          <p:nvSpPr>
            <p:cNvPr id="66624" name="Oval 7"/>
            <p:cNvSpPr>
              <a:spLocks noChangeArrowheads="1"/>
            </p:cNvSpPr>
            <p:nvPr/>
          </p:nvSpPr>
          <p:spPr bwMode="auto">
            <a:xfrm>
              <a:off x="1215" y="3107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3</a:t>
              </a:r>
            </a:p>
          </p:txBody>
        </p:sp>
        <p:sp>
          <p:nvSpPr>
            <p:cNvPr id="66625" name="Oval 8"/>
            <p:cNvSpPr>
              <a:spLocks noChangeArrowheads="1"/>
            </p:cNvSpPr>
            <p:nvPr/>
          </p:nvSpPr>
          <p:spPr bwMode="auto">
            <a:xfrm>
              <a:off x="730" y="2805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4</a:t>
              </a:r>
            </a:p>
          </p:txBody>
        </p:sp>
        <p:sp>
          <p:nvSpPr>
            <p:cNvPr id="66626" name="Oval 9"/>
            <p:cNvSpPr>
              <a:spLocks noChangeArrowheads="1"/>
            </p:cNvSpPr>
            <p:nvPr/>
          </p:nvSpPr>
          <p:spPr bwMode="auto">
            <a:xfrm>
              <a:off x="504" y="2263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5</a:t>
              </a:r>
            </a:p>
          </p:txBody>
        </p:sp>
        <p:sp>
          <p:nvSpPr>
            <p:cNvPr id="66627" name="Oval 10"/>
            <p:cNvSpPr>
              <a:spLocks noChangeArrowheads="1"/>
            </p:cNvSpPr>
            <p:nvPr/>
          </p:nvSpPr>
          <p:spPr bwMode="auto">
            <a:xfrm>
              <a:off x="1123" y="2250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6</a:t>
              </a:r>
            </a:p>
          </p:txBody>
        </p:sp>
      </p:grpSp>
      <p:sp>
        <p:nvSpPr>
          <p:cNvPr id="66563" name="Line 11"/>
          <p:cNvSpPr>
            <a:spLocks noChangeShapeType="1"/>
          </p:cNvSpPr>
          <p:nvPr/>
        </p:nvSpPr>
        <p:spPr bwMode="auto">
          <a:xfrm flipH="1">
            <a:off x="2365375" y="2614613"/>
            <a:ext cx="679450" cy="9858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64" name="Rectangle 12"/>
          <p:cNvSpPr>
            <a:spLocks noChangeArrowheads="1"/>
          </p:cNvSpPr>
          <p:nvPr/>
        </p:nvSpPr>
        <p:spPr bwMode="auto">
          <a:xfrm>
            <a:off x="2305050" y="2846388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10</a:t>
            </a:r>
          </a:p>
        </p:txBody>
      </p:sp>
      <p:sp>
        <p:nvSpPr>
          <p:cNvPr id="66565" name="Line 13"/>
          <p:cNvSpPr>
            <a:spLocks noChangeShapeType="1"/>
          </p:cNvSpPr>
          <p:nvPr/>
        </p:nvSpPr>
        <p:spPr bwMode="auto">
          <a:xfrm flipH="1">
            <a:off x="3489325" y="4043363"/>
            <a:ext cx="492125" cy="900112"/>
          </a:xfrm>
          <a:prstGeom prst="line">
            <a:avLst/>
          </a:prstGeom>
          <a:noFill/>
          <a:ln w="12700">
            <a:solidFill>
              <a:srgbClr val="CC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66" name="Rectangle 14"/>
          <p:cNvSpPr>
            <a:spLocks noChangeArrowheads="1"/>
          </p:cNvSpPr>
          <p:nvPr/>
        </p:nvSpPr>
        <p:spPr bwMode="auto">
          <a:xfrm>
            <a:off x="3767138" y="432435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12</a:t>
            </a:r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4524375" y="2155825"/>
            <a:ext cx="2154238" cy="3224213"/>
            <a:chOff x="2283" y="1335"/>
            <a:chExt cx="1357" cy="2031"/>
          </a:xfrm>
        </p:grpSpPr>
        <p:sp>
          <p:nvSpPr>
            <p:cNvPr id="66614" name="Oval 16"/>
            <p:cNvSpPr>
              <a:spLocks noChangeArrowheads="1"/>
            </p:cNvSpPr>
            <p:nvPr/>
          </p:nvSpPr>
          <p:spPr bwMode="auto">
            <a:xfrm>
              <a:off x="2757" y="1335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0</a:t>
              </a:r>
            </a:p>
          </p:txBody>
        </p:sp>
        <p:sp>
          <p:nvSpPr>
            <p:cNvPr id="66615" name="Oval 17"/>
            <p:cNvSpPr>
              <a:spLocks noChangeArrowheads="1"/>
            </p:cNvSpPr>
            <p:nvPr/>
          </p:nvSpPr>
          <p:spPr bwMode="auto">
            <a:xfrm>
              <a:off x="3150" y="1708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1</a:t>
              </a:r>
            </a:p>
          </p:txBody>
        </p:sp>
        <p:sp>
          <p:nvSpPr>
            <p:cNvPr id="66616" name="Oval 18"/>
            <p:cNvSpPr>
              <a:spLocks noChangeArrowheads="1"/>
            </p:cNvSpPr>
            <p:nvPr/>
          </p:nvSpPr>
          <p:spPr bwMode="auto">
            <a:xfrm>
              <a:off x="3360" y="2233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2</a:t>
              </a:r>
            </a:p>
          </p:txBody>
        </p:sp>
        <p:sp>
          <p:nvSpPr>
            <p:cNvPr id="66617" name="Oval 19"/>
            <p:cNvSpPr>
              <a:spLocks noChangeArrowheads="1"/>
            </p:cNvSpPr>
            <p:nvPr/>
          </p:nvSpPr>
          <p:spPr bwMode="auto">
            <a:xfrm>
              <a:off x="2994" y="3086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3</a:t>
              </a:r>
            </a:p>
          </p:txBody>
        </p:sp>
        <p:sp>
          <p:nvSpPr>
            <p:cNvPr id="66618" name="Oval 20"/>
            <p:cNvSpPr>
              <a:spLocks noChangeArrowheads="1"/>
            </p:cNvSpPr>
            <p:nvPr/>
          </p:nvSpPr>
          <p:spPr bwMode="auto">
            <a:xfrm>
              <a:off x="2509" y="2784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4</a:t>
              </a:r>
            </a:p>
          </p:txBody>
        </p:sp>
        <p:sp>
          <p:nvSpPr>
            <p:cNvPr id="66619" name="Oval 21"/>
            <p:cNvSpPr>
              <a:spLocks noChangeArrowheads="1"/>
            </p:cNvSpPr>
            <p:nvPr/>
          </p:nvSpPr>
          <p:spPr bwMode="auto">
            <a:xfrm>
              <a:off x="2283" y="2242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5</a:t>
              </a:r>
            </a:p>
          </p:txBody>
        </p:sp>
        <p:sp>
          <p:nvSpPr>
            <p:cNvPr id="66620" name="Oval 22"/>
            <p:cNvSpPr>
              <a:spLocks noChangeArrowheads="1"/>
            </p:cNvSpPr>
            <p:nvPr/>
          </p:nvSpPr>
          <p:spPr bwMode="auto">
            <a:xfrm>
              <a:off x="2902" y="2229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6</a:t>
              </a:r>
            </a:p>
          </p:txBody>
        </p:sp>
      </p:grpSp>
      <p:sp>
        <p:nvSpPr>
          <p:cNvPr id="66568" name="Line 23"/>
          <p:cNvSpPr>
            <a:spLocks noChangeShapeType="1"/>
          </p:cNvSpPr>
          <p:nvPr/>
        </p:nvSpPr>
        <p:spPr bwMode="auto">
          <a:xfrm flipH="1">
            <a:off x="4748213" y="2600325"/>
            <a:ext cx="679450" cy="9858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69" name="Rectangle 24"/>
          <p:cNvSpPr>
            <a:spLocks noChangeArrowheads="1"/>
          </p:cNvSpPr>
          <p:nvPr/>
        </p:nvSpPr>
        <p:spPr bwMode="auto">
          <a:xfrm>
            <a:off x="4687888" y="283210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10</a:t>
            </a:r>
          </a:p>
        </p:txBody>
      </p:sp>
      <p:sp>
        <p:nvSpPr>
          <p:cNvPr id="66570" name="Line 25"/>
          <p:cNvSpPr>
            <a:spLocks noChangeShapeType="1"/>
          </p:cNvSpPr>
          <p:nvPr/>
        </p:nvSpPr>
        <p:spPr bwMode="auto">
          <a:xfrm flipH="1">
            <a:off x="5872163" y="4029075"/>
            <a:ext cx="492125" cy="9001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1" name="Rectangle 26"/>
          <p:cNvSpPr>
            <a:spLocks noChangeArrowheads="1"/>
          </p:cNvSpPr>
          <p:nvPr/>
        </p:nvSpPr>
        <p:spPr bwMode="auto">
          <a:xfrm>
            <a:off x="6149975" y="431006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12</a:t>
            </a:r>
          </a:p>
        </p:txBody>
      </p:sp>
      <p:sp>
        <p:nvSpPr>
          <p:cNvPr id="66572" name="Line 27"/>
          <p:cNvSpPr>
            <a:spLocks noChangeShapeType="1"/>
          </p:cNvSpPr>
          <p:nvPr/>
        </p:nvSpPr>
        <p:spPr bwMode="auto">
          <a:xfrm flipH="1">
            <a:off x="5735638" y="3195638"/>
            <a:ext cx="304800" cy="371475"/>
          </a:xfrm>
          <a:prstGeom prst="line">
            <a:avLst/>
          </a:prstGeom>
          <a:noFill/>
          <a:ln w="12700">
            <a:solidFill>
              <a:srgbClr val="CC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3" name="Rectangle 28"/>
          <p:cNvSpPr>
            <a:spLocks noChangeArrowheads="1"/>
          </p:cNvSpPr>
          <p:nvPr/>
        </p:nvSpPr>
        <p:spPr bwMode="auto">
          <a:xfrm>
            <a:off x="5486400" y="3170238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14</a:t>
            </a:r>
          </a:p>
        </p:txBody>
      </p: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6926263" y="2119313"/>
            <a:ext cx="2154237" cy="3224212"/>
            <a:chOff x="4158" y="1313"/>
            <a:chExt cx="1357" cy="2031"/>
          </a:xfrm>
        </p:grpSpPr>
        <p:sp>
          <p:nvSpPr>
            <p:cNvPr id="66607" name="Oval 30"/>
            <p:cNvSpPr>
              <a:spLocks noChangeArrowheads="1"/>
            </p:cNvSpPr>
            <p:nvPr/>
          </p:nvSpPr>
          <p:spPr bwMode="auto">
            <a:xfrm>
              <a:off x="4632" y="1313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0</a:t>
              </a:r>
            </a:p>
          </p:txBody>
        </p:sp>
        <p:sp>
          <p:nvSpPr>
            <p:cNvPr id="66608" name="Oval 31"/>
            <p:cNvSpPr>
              <a:spLocks noChangeArrowheads="1"/>
            </p:cNvSpPr>
            <p:nvPr/>
          </p:nvSpPr>
          <p:spPr bwMode="auto">
            <a:xfrm>
              <a:off x="5025" y="1686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1</a:t>
              </a:r>
            </a:p>
          </p:txBody>
        </p:sp>
        <p:sp>
          <p:nvSpPr>
            <p:cNvPr id="66609" name="Oval 32"/>
            <p:cNvSpPr>
              <a:spLocks noChangeArrowheads="1"/>
            </p:cNvSpPr>
            <p:nvPr/>
          </p:nvSpPr>
          <p:spPr bwMode="auto">
            <a:xfrm>
              <a:off x="5235" y="2211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2</a:t>
              </a:r>
            </a:p>
          </p:txBody>
        </p:sp>
        <p:sp>
          <p:nvSpPr>
            <p:cNvPr id="66610" name="Oval 33"/>
            <p:cNvSpPr>
              <a:spLocks noChangeArrowheads="1"/>
            </p:cNvSpPr>
            <p:nvPr/>
          </p:nvSpPr>
          <p:spPr bwMode="auto">
            <a:xfrm>
              <a:off x="4869" y="3064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3</a:t>
              </a:r>
            </a:p>
          </p:txBody>
        </p:sp>
        <p:sp>
          <p:nvSpPr>
            <p:cNvPr id="66611" name="Oval 34"/>
            <p:cNvSpPr>
              <a:spLocks noChangeArrowheads="1"/>
            </p:cNvSpPr>
            <p:nvPr/>
          </p:nvSpPr>
          <p:spPr bwMode="auto">
            <a:xfrm>
              <a:off x="4384" y="2762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4</a:t>
              </a:r>
            </a:p>
          </p:txBody>
        </p:sp>
        <p:sp>
          <p:nvSpPr>
            <p:cNvPr id="66612" name="Oval 35"/>
            <p:cNvSpPr>
              <a:spLocks noChangeArrowheads="1"/>
            </p:cNvSpPr>
            <p:nvPr/>
          </p:nvSpPr>
          <p:spPr bwMode="auto">
            <a:xfrm>
              <a:off x="4158" y="2220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5</a:t>
              </a:r>
            </a:p>
          </p:txBody>
        </p:sp>
        <p:sp>
          <p:nvSpPr>
            <p:cNvPr id="66613" name="Oval 36"/>
            <p:cNvSpPr>
              <a:spLocks noChangeArrowheads="1"/>
            </p:cNvSpPr>
            <p:nvPr/>
          </p:nvSpPr>
          <p:spPr bwMode="auto">
            <a:xfrm>
              <a:off x="4777" y="2207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6</a:t>
              </a:r>
            </a:p>
          </p:txBody>
        </p:sp>
      </p:grpSp>
      <p:sp>
        <p:nvSpPr>
          <p:cNvPr id="66575" name="Line 37"/>
          <p:cNvSpPr>
            <a:spLocks noChangeShapeType="1"/>
          </p:cNvSpPr>
          <p:nvPr/>
        </p:nvSpPr>
        <p:spPr bwMode="auto">
          <a:xfrm flipH="1">
            <a:off x="7150100" y="2563813"/>
            <a:ext cx="679450" cy="9858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6" name="Rectangle 38"/>
          <p:cNvSpPr>
            <a:spLocks noChangeArrowheads="1"/>
          </p:cNvSpPr>
          <p:nvPr/>
        </p:nvSpPr>
        <p:spPr bwMode="auto">
          <a:xfrm>
            <a:off x="7089775" y="2795588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10</a:t>
            </a:r>
          </a:p>
        </p:txBody>
      </p:sp>
      <p:sp>
        <p:nvSpPr>
          <p:cNvPr id="66577" name="Line 39"/>
          <p:cNvSpPr>
            <a:spLocks noChangeShapeType="1"/>
          </p:cNvSpPr>
          <p:nvPr/>
        </p:nvSpPr>
        <p:spPr bwMode="auto">
          <a:xfrm flipH="1">
            <a:off x="8274050" y="3992563"/>
            <a:ext cx="492125" cy="9001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8" name="Rectangle 40"/>
          <p:cNvSpPr>
            <a:spLocks noChangeArrowheads="1"/>
          </p:cNvSpPr>
          <p:nvPr/>
        </p:nvSpPr>
        <p:spPr bwMode="auto">
          <a:xfrm>
            <a:off x="8551863" y="427355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12</a:t>
            </a:r>
          </a:p>
        </p:txBody>
      </p:sp>
      <p:sp>
        <p:nvSpPr>
          <p:cNvPr id="66579" name="Line 41"/>
          <p:cNvSpPr>
            <a:spLocks noChangeShapeType="1"/>
          </p:cNvSpPr>
          <p:nvPr/>
        </p:nvSpPr>
        <p:spPr bwMode="auto">
          <a:xfrm flipH="1">
            <a:off x="8137525" y="3159125"/>
            <a:ext cx="304800" cy="3714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0" name="Rectangle 42"/>
          <p:cNvSpPr>
            <a:spLocks noChangeArrowheads="1"/>
          </p:cNvSpPr>
          <p:nvPr/>
        </p:nvSpPr>
        <p:spPr bwMode="auto">
          <a:xfrm>
            <a:off x="7888288" y="3133725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14</a:t>
            </a:r>
          </a:p>
        </p:txBody>
      </p:sp>
      <p:sp>
        <p:nvSpPr>
          <p:cNvPr id="66581" name="Line 43"/>
          <p:cNvSpPr>
            <a:spLocks noChangeShapeType="1"/>
          </p:cNvSpPr>
          <p:nvPr/>
        </p:nvSpPr>
        <p:spPr bwMode="auto">
          <a:xfrm>
            <a:off x="8631238" y="3159125"/>
            <a:ext cx="219075" cy="373063"/>
          </a:xfrm>
          <a:prstGeom prst="line">
            <a:avLst/>
          </a:prstGeom>
          <a:noFill/>
          <a:ln w="12700">
            <a:solidFill>
              <a:srgbClr val="CC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2" name="Rectangle 44"/>
          <p:cNvSpPr>
            <a:spLocks noChangeArrowheads="1"/>
          </p:cNvSpPr>
          <p:nvPr/>
        </p:nvSpPr>
        <p:spPr bwMode="auto">
          <a:xfrm>
            <a:off x="8705850" y="3133725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16</a:t>
            </a:r>
          </a:p>
        </p:txBody>
      </p:sp>
      <p:sp>
        <p:nvSpPr>
          <p:cNvPr id="66583" name="Text Box 67"/>
          <p:cNvSpPr txBox="1">
            <a:spLocks noChangeArrowheads="1"/>
          </p:cNvSpPr>
          <p:nvPr/>
        </p:nvSpPr>
        <p:spPr bwMode="auto">
          <a:xfrm>
            <a:off x="984250" y="0"/>
            <a:ext cx="1022350" cy="629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ea typeface="PMingLiU" pitchFamily="18" charset="-120"/>
              </a:rPr>
              <a:t>0       5</a:t>
            </a:r>
          </a:p>
          <a:p>
            <a:pPr algn="l"/>
            <a:endParaRPr lang="en-US" altLang="zh-TW" sz="2400">
              <a:ea typeface="PMingLiU" pitchFamily="18" charset="-120"/>
            </a:endParaRPr>
          </a:p>
          <a:p>
            <a:pPr algn="l"/>
            <a:r>
              <a:rPr lang="en-US" altLang="zh-TW" sz="2400">
                <a:ea typeface="PMingLiU" pitchFamily="18" charset="-120"/>
              </a:rPr>
              <a:t>2       3</a:t>
            </a:r>
          </a:p>
          <a:p>
            <a:pPr algn="l"/>
            <a:endParaRPr lang="en-US" altLang="zh-TW" sz="2400">
              <a:ea typeface="PMingLiU" pitchFamily="18" charset="-120"/>
            </a:endParaRPr>
          </a:p>
          <a:p>
            <a:pPr algn="l"/>
            <a:r>
              <a:rPr lang="en-US" altLang="zh-TW" sz="2400">
                <a:ea typeface="PMingLiU" pitchFamily="18" charset="-120"/>
              </a:rPr>
              <a:t>1       6</a:t>
            </a:r>
          </a:p>
          <a:p>
            <a:pPr algn="l"/>
            <a:endParaRPr lang="en-US" altLang="zh-TW" sz="2400">
              <a:ea typeface="PMingLiU" pitchFamily="18" charset="-120"/>
            </a:endParaRPr>
          </a:p>
          <a:p>
            <a:pPr algn="l"/>
            <a:r>
              <a:rPr lang="en-US" altLang="zh-TW" sz="2400">
                <a:ea typeface="PMingLiU" pitchFamily="18" charset="-120"/>
              </a:rPr>
              <a:t>1       2</a:t>
            </a:r>
          </a:p>
          <a:p>
            <a:pPr algn="l"/>
            <a:endParaRPr lang="en-US" altLang="zh-TW" sz="2400">
              <a:ea typeface="PMingLiU" pitchFamily="18" charset="-120"/>
            </a:endParaRPr>
          </a:p>
          <a:p>
            <a:pPr algn="l"/>
            <a:r>
              <a:rPr lang="en-US" altLang="zh-TW" sz="2400">
                <a:ea typeface="PMingLiU" pitchFamily="18" charset="-120"/>
              </a:rPr>
              <a:t>3       6</a:t>
            </a:r>
          </a:p>
          <a:p>
            <a:pPr algn="l"/>
            <a:endParaRPr lang="en-US" altLang="zh-TW" sz="2400">
              <a:ea typeface="PMingLiU" pitchFamily="18" charset="-120"/>
            </a:endParaRPr>
          </a:p>
          <a:p>
            <a:pPr algn="l"/>
            <a:r>
              <a:rPr lang="en-US" altLang="zh-TW" sz="2400">
                <a:ea typeface="PMingLiU" pitchFamily="18" charset="-120"/>
              </a:rPr>
              <a:t>3       4</a:t>
            </a:r>
          </a:p>
          <a:p>
            <a:pPr algn="l"/>
            <a:endParaRPr lang="en-US" altLang="zh-TW" sz="2400">
              <a:ea typeface="PMingLiU" pitchFamily="18" charset="-120"/>
            </a:endParaRPr>
          </a:p>
          <a:p>
            <a:pPr algn="l"/>
            <a:r>
              <a:rPr lang="en-US" altLang="zh-TW" sz="2400">
                <a:ea typeface="PMingLiU" pitchFamily="18" charset="-120"/>
              </a:rPr>
              <a:t>4       6</a:t>
            </a:r>
          </a:p>
          <a:p>
            <a:pPr algn="l"/>
            <a:endParaRPr lang="en-US" altLang="zh-TW" sz="2400">
              <a:ea typeface="PMingLiU" pitchFamily="18" charset="-120"/>
            </a:endParaRPr>
          </a:p>
          <a:p>
            <a:pPr algn="l"/>
            <a:r>
              <a:rPr lang="en-US" altLang="zh-TW" sz="2400">
                <a:ea typeface="PMingLiU" pitchFamily="18" charset="-120"/>
              </a:rPr>
              <a:t>4       5</a:t>
            </a:r>
          </a:p>
          <a:p>
            <a:pPr algn="l"/>
            <a:endParaRPr lang="en-US" altLang="zh-TW" sz="2400">
              <a:ea typeface="PMingLiU" pitchFamily="18" charset="-120"/>
            </a:endParaRPr>
          </a:p>
          <a:p>
            <a:pPr algn="l"/>
            <a:r>
              <a:rPr lang="en-US" altLang="zh-TW" sz="2400">
                <a:ea typeface="PMingLiU" pitchFamily="18" charset="-120"/>
              </a:rPr>
              <a:t>0       1</a:t>
            </a:r>
          </a:p>
        </p:txBody>
      </p:sp>
      <p:sp>
        <p:nvSpPr>
          <p:cNvPr id="66584" name="Line 68"/>
          <p:cNvSpPr>
            <a:spLocks noChangeShapeType="1"/>
          </p:cNvSpPr>
          <p:nvPr/>
        </p:nvSpPr>
        <p:spPr bwMode="auto">
          <a:xfrm>
            <a:off x="1270000" y="269875"/>
            <a:ext cx="476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5" name="Line 69"/>
          <p:cNvSpPr>
            <a:spLocks noChangeShapeType="1"/>
          </p:cNvSpPr>
          <p:nvPr/>
        </p:nvSpPr>
        <p:spPr bwMode="auto">
          <a:xfrm>
            <a:off x="1252538" y="992188"/>
            <a:ext cx="493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6" name="Line 70"/>
          <p:cNvSpPr>
            <a:spLocks noChangeShapeType="1"/>
          </p:cNvSpPr>
          <p:nvPr/>
        </p:nvSpPr>
        <p:spPr bwMode="auto">
          <a:xfrm>
            <a:off x="1252538" y="1733550"/>
            <a:ext cx="565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7" name="Line 71"/>
          <p:cNvSpPr>
            <a:spLocks noChangeShapeType="1"/>
          </p:cNvSpPr>
          <p:nvPr/>
        </p:nvSpPr>
        <p:spPr bwMode="auto">
          <a:xfrm>
            <a:off x="1235075" y="2455863"/>
            <a:ext cx="563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8" name="Line 72"/>
          <p:cNvSpPr>
            <a:spLocks noChangeShapeType="1"/>
          </p:cNvSpPr>
          <p:nvPr/>
        </p:nvSpPr>
        <p:spPr bwMode="auto">
          <a:xfrm>
            <a:off x="1252538" y="3179763"/>
            <a:ext cx="493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9" name="Line 73"/>
          <p:cNvSpPr>
            <a:spLocks noChangeShapeType="1"/>
          </p:cNvSpPr>
          <p:nvPr/>
        </p:nvSpPr>
        <p:spPr bwMode="auto">
          <a:xfrm>
            <a:off x="1270000" y="3938588"/>
            <a:ext cx="476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90" name="Line 74"/>
          <p:cNvSpPr>
            <a:spLocks noChangeShapeType="1"/>
          </p:cNvSpPr>
          <p:nvPr/>
        </p:nvSpPr>
        <p:spPr bwMode="auto">
          <a:xfrm>
            <a:off x="1270000" y="4643438"/>
            <a:ext cx="476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91" name="Line 75"/>
          <p:cNvSpPr>
            <a:spLocks noChangeShapeType="1"/>
          </p:cNvSpPr>
          <p:nvPr/>
        </p:nvSpPr>
        <p:spPr bwMode="auto">
          <a:xfrm>
            <a:off x="1270000" y="5402263"/>
            <a:ext cx="511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92" name="Line 79"/>
          <p:cNvSpPr>
            <a:spLocks noChangeShapeType="1"/>
          </p:cNvSpPr>
          <p:nvPr/>
        </p:nvSpPr>
        <p:spPr bwMode="auto">
          <a:xfrm>
            <a:off x="1246188" y="5978525"/>
            <a:ext cx="511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93" name="Text Box 80"/>
          <p:cNvSpPr txBox="1">
            <a:spLocks noChangeArrowheads="1"/>
          </p:cNvSpPr>
          <p:nvPr/>
        </p:nvSpPr>
        <p:spPr bwMode="auto">
          <a:xfrm>
            <a:off x="1281113" y="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10</a:t>
            </a:r>
          </a:p>
        </p:txBody>
      </p:sp>
      <p:sp>
        <p:nvSpPr>
          <p:cNvPr id="66594" name="Text Box 81"/>
          <p:cNvSpPr txBox="1">
            <a:spLocks noChangeArrowheads="1"/>
          </p:cNvSpPr>
          <p:nvPr/>
        </p:nvSpPr>
        <p:spPr bwMode="auto">
          <a:xfrm>
            <a:off x="1316038" y="706438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12</a:t>
            </a:r>
          </a:p>
        </p:txBody>
      </p:sp>
      <p:sp>
        <p:nvSpPr>
          <p:cNvPr id="66595" name="Text Box 82"/>
          <p:cNvSpPr txBox="1">
            <a:spLocks noChangeArrowheads="1"/>
          </p:cNvSpPr>
          <p:nvPr/>
        </p:nvSpPr>
        <p:spPr bwMode="auto">
          <a:xfrm>
            <a:off x="1298575" y="1463675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14</a:t>
            </a:r>
          </a:p>
        </p:txBody>
      </p:sp>
      <p:sp>
        <p:nvSpPr>
          <p:cNvPr id="66596" name="Text Box 83"/>
          <p:cNvSpPr txBox="1">
            <a:spLocks noChangeArrowheads="1"/>
          </p:cNvSpPr>
          <p:nvPr/>
        </p:nvSpPr>
        <p:spPr bwMode="auto">
          <a:xfrm>
            <a:off x="1262063" y="217011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16</a:t>
            </a:r>
          </a:p>
        </p:txBody>
      </p:sp>
      <p:sp>
        <p:nvSpPr>
          <p:cNvPr id="66597" name="Text Box 84"/>
          <p:cNvSpPr txBox="1">
            <a:spLocks noChangeArrowheads="1"/>
          </p:cNvSpPr>
          <p:nvPr/>
        </p:nvSpPr>
        <p:spPr bwMode="auto">
          <a:xfrm>
            <a:off x="1244600" y="2909888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18</a:t>
            </a:r>
          </a:p>
        </p:txBody>
      </p:sp>
      <p:sp>
        <p:nvSpPr>
          <p:cNvPr id="66598" name="Text Box 85"/>
          <p:cNvSpPr txBox="1">
            <a:spLocks noChangeArrowheads="1"/>
          </p:cNvSpPr>
          <p:nvPr/>
        </p:nvSpPr>
        <p:spPr bwMode="auto">
          <a:xfrm>
            <a:off x="1298575" y="367030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22</a:t>
            </a:r>
          </a:p>
        </p:txBody>
      </p:sp>
      <p:sp>
        <p:nvSpPr>
          <p:cNvPr id="66599" name="Text Box 86"/>
          <p:cNvSpPr txBox="1">
            <a:spLocks noChangeArrowheads="1"/>
          </p:cNvSpPr>
          <p:nvPr/>
        </p:nvSpPr>
        <p:spPr bwMode="auto">
          <a:xfrm>
            <a:off x="1244600" y="4429125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24</a:t>
            </a:r>
          </a:p>
        </p:txBody>
      </p:sp>
      <p:sp>
        <p:nvSpPr>
          <p:cNvPr id="66600" name="Text Box 87"/>
          <p:cNvSpPr txBox="1">
            <a:spLocks noChangeArrowheads="1"/>
          </p:cNvSpPr>
          <p:nvPr/>
        </p:nvSpPr>
        <p:spPr bwMode="auto">
          <a:xfrm>
            <a:off x="1298575" y="5203825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25</a:t>
            </a:r>
          </a:p>
        </p:txBody>
      </p:sp>
      <p:sp>
        <p:nvSpPr>
          <p:cNvPr id="66601" name="Text Box 88"/>
          <p:cNvSpPr txBox="1">
            <a:spLocks noChangeArrowheads="1"/>
          </p:cNvSpPr>
          <p:nvPr/>
        </p:nvSpPr>
        <p:spPr bwMode="auto">
          <a:xfrm>
            <a:off x="1281113" y="5813425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28</a:t>
            </a:r>
          </a:p>
        </p:txBody>
      </p:sp>
      <p:sp>
        <p:nvSpPr>
          <p:cNvPr id="66602" name="Line 89"/>
          <p:cNvSpPr>
            <a:spLocks noChangeShapeType="1"/>
          </p:cNvSpPr>
          <p:nvPr/>
        </p:nvSpPr>
        <p:spPr bwMode="auto">
          <a:xfrm>
            <a:off x="7373938" y="5678488"/>
            <a:ext cx="0" cy="917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603" name="Text Box 90"/>
          <p:cNvSpPr txBox="1">
            <a:spLocks noChangeArrowheads="1"/>
          </p:cNvSpPr>
          <p:nvPr/>
        </p:nvSpPr>
        <p:spPr bwMode="auto">
          <a:xfrm>
            <a:off x="7423150" y="5938838"/>
            <a:ext cx="3905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>
                <a:ea typeface="PMingLiU" pitchFamily="18" charset="-120"/>
              </a:rPr>
              <a:t>+ </a:t>
            </a:r>
          </a:p>
        </p:txBody>
      </p:sp>
      <p:sp>
        <p:nvSpPr>
          <p:cNvPr id="66604" name="Text Box 93"/>
          <p:cNvSpPr txBox="1">
            <a:spLocks noChangeArrowheads="1"/>
          </p:cNvSpPr>
          <p:nvPr/>
        </p:nvSpPr>
        <p:spPr bwMode="auto">
          <a:xfrm>
            <a:off x="7727950" y="5905500"/>
            <a:ext cx="882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ea typeface="PMingLiU" pitchFamily="18" charset="-120"/>
              </a:rPr>
              <a:t>3       6</a:t>
            </a:r>
          </a:p>
        </p:txBody>
      </p:sp>
      <p:sp>
        <p:nvSpPr>
          <p:cNvPr id="66605" name="Line 94"/>
          <p:cNvSpPr>
            <a:spLocks noChangeShapeType="1"/>
          </p:cNvSpPr>
          <p:nvPr/>
        </p:nvSpPr>
        <p:spPr bwMode="auto">
          <a:xfrm>
            <a:off x="7974013" y="6137275"/>
            <a:ext cx="387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606" name="Text Box 95"/>
          <p:cNvSpPr txBox="1">
            <a:spLocks noChangeArrowheads="1"/>
          </p:cNvSpPr>
          <p:nvPr/>
        </p:nvSpPr>
        <p:spPr bwMode="auto">
          <a:xfrm>
            <a:off x="7793038" y="6461125"/>
            <a:ext cx="7191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cycle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3"/>
          <p:cNvSpPr txBox="1">
            <a:spLocks noChangeArrowheads="1"/>
          </p:cNvSpPr>
          <p:nvPr/>
        </p:nvSpPr>
        <p:spPr bwMode="auto">
          <a:xfrm>
            <a:off x="984250" y="0"/>
            <a:ext cx="1022350" cy="629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ea typeface="PMingLiU" pitchFamily="18" charset="-120"/>
              </a:rPr>
              <a:t>0       5</a:t>
            </a:r>
          </a:p>
          <a:p>
            <a:pPr algn="l"/>
            <a:endParaRPr lang="en-US" altLang="zh-TW" sz="2400">
              <a:ea typeface="PMingLiU" pitchFamily="18" charset="-120"/>
            </a:endParaRPr>
          </a:p>
          <a:p>
            <a:pPr algn="l"/>
            <a:r>
              <a:rPr lang="en-US" altLang="zh-TW" sz="2400">
                <a:ea typeface="PMingLiU" pitchFamily="18" charset="-120"/>
              </a:rPr>
              <a:t>2       3</a:t>
            </a:r>
          </a:p>
          <a:p>
            <a:pPr algn="l"/>
            <a:endParaRPr lang="en-US" altLang="zh-TW" sz="2400">
              <a:ea typeface="PMingLiU" pitchFamily="18" charset="-120"/>
            </a:endParaRPr>
          </a:p>
          <a:p>
            <a:pPr algn="l"/>
            <a:r>
              <a:rPr lang="en-US" altLang="zh-TW" sz="2400">
                <a:ea typeface="PMingLiU" pitchFamily="18" charset="-120"/>
              </a:rPr>
              <a:t>1       6</a:t>
            </a:r>
          </a:p>
          <a:p>
            <a:pPr algn="l"/>
            <a:endParaRPr lang="en-US" altLang="zh-TW" sz="2400">
              <a:ea typeface="PMingLiU" pitchFamily="18" charset="-120"/>
            </a:endParaRPr>
          </a:p>
          <a:p>
            <a:pPr algn="l"/>
            <a:r>
              <a:rPr lang="en-US" altLang="zh-TW" sz="2400">
                <a:ea typeface="PMingLiU" pitchFamily="18" charset="-120"/>
              </a:rPr>
              <a:t>1       2</a:t>
            </a:r>
          </a:p>
          <a:p>
            <a:pPr algn="l"/>
            <a:endParaRPr lang="en-US" altLang="zh-TW" sz="2400">
              <a:ea typeface="PMingLiU" pitchFamily="18" charset="-120"/>
            </a:endParaRPr>
          </a:p>
          <a:p>
            <a:pPr algn="l"/>
            <a:r>
              <a:rPr lang="en-US" altLang="zh-TW" sz="2400">
                <a:ea typeface="PMingLiU" pitchFamily="18" charset="-120"/>
              </a:rPr>
              <a:t>3       6</a:t>
            </a:r>
          </a:p>
          <a:p>
            <a:pPr algn="l"/>
            <a:endParaRPr lang="en-US" altLang="zh-TW" sz="2400">
              <a:ea typeface="PMingLiU" pitchFamily="18" charset="-120"/>
            </a:endParaRPr>
          </a:p>
          <a:p>
            <a:pPr algn="l"/>
            <a:r>
              <a:rPr lang="en-US" altLang="zh-TW" sz="2400">
                <a:ea typeface="PMingLiU" pitchFamily="18" charset="-120"/>
              </a:rPr>
              <a:t>3       4</a:t>
            </a:r>
          </a:p>
          <a:p>
            <a:pPr algn="l"/>
            <a:endParaRPr lang="en-US" altLang="zh-TW" sz="2400">
              <a:ea typeface="PMingLiU" pitchFamily="18" charset="-120"/>
            </a:endParaRPr>
          </a:p>
          <a:p>
            <a:pPr algn="l"/>
            <a:r>
              <a:rPr lang="en-US" altLang="zh-TW" sz="2400">
                <a:ea typeface="PMingLiU" pitchFamily="18" charset="-120"/>
              </a:rPr>
              <a:t>4       6</a:t>
            </a:r>
          </a:p>
          <a:p>
            <a:pPr algn="l"/>
            <a:endParaRPr lang="en-US" altLang="zh-TW" sz="2400">
              <a:ea typeface="PMingLiU" pitchFamily="18" charset="-120"/>
            </a:endParaRPr>
          </a:p>
          <a:p>
            <a:pPr algn="l"/>
            <a:r>
              <a:rPr lang="en-US" altLang="zh-TW" sz="2400">
                <a:ea typeface="PMingLiU" pitchFamily="18" charset="-120"/>
              </a:rPr>
              <a:t>4       5</a:t>
            </a:r>
          </a:p>
          <a:p>
            <a:pPr algn="l"/>
            <a:endParaRPr lang="en-US" altLang="zh-TW" sz="2400">
              <a:ea typeface="PMingLiU" pitchFamily="18" charset="-120"/>
            </a:endParaRPr>
          </a:p>
          <a:p>
            <a:pPr algn="l"/>
            <a:r>
              <a:rPr lang="en-US" altLang="zh-TW" sz="2400">
                <a:ea typeface="PMingLiU" pitchFamily="18" charset="-120"/>
              </a:rPr>
              <a:t>0       1</a:t>
            </a:r>
          </a:p>
        </p:txBody>
      </p:sp>
      <p:sp>
        <p:nvSpPr>
          <p:cNvPr id="67587" name="Line 4"/>
          <p:cNvSpPr>
            <a:spLocks noChangeShapeType="1"/>
          </p:cNvSpPr>
          <p:nvPr/>
        </p:nvSpPr>
        <p:spPr bwMode="auto">
          <a:xfrm>
            <a:off x="1270000" y="269875"/>
            <a:ext cx="476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588" name="Line 5"/>
          <p:cNvSpPr>
            <a:spLocks noChangeShapeType="1"/>
          </p:cNvSpPr>
          <p:nvPr/>
        </p:nvSpPr>
        <p:spPr bwMode="auto">
          <a:xfrm>
            <a:off x="1252538" y="992188"/>
            <a:ext cx="493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589" name="Line 6"/>
          <p:cNvSpPr>
            <a:spLocks noChangeShapeType="1"/>
          </p:cNvSpPr>
          <p:nvPr/>
        </p:nvSpPr>
        <p:spPr bwMode="auto">
          <a:xfrm>
            <a:off x="1252538" y="1733550"/>
            <a:ext cx="565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590" name="Line 7"/>
          <p:cNvSpPr>
            <a:spLocks noChangeShapeType="1"/>
          </p:cNvSpPr>
          <p:nvPr/>
        </p:nvSpPr>
        <p:spPr bwMode="auto">
          <a:xfrm>
            <a:off x="1235075" y="2455863"/>
            <a:ext cx="563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591" name="Line 8"/>
          <p:cNvSpPr>
            <a:spLocks noChangeShapeType="1"/>
          </p:cNvSpPr>
          <p:nvPr/>
        </p:nvSpPr>
        <p:spPr bwMode="auto">
          <a:xfrm>
            <a:off x="1252538" y="3179763"/>
            <a:ext cx="493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592" name="Line 9"/>
          <p:cNvSpPr>
            <a:spLocks noChangeShapeType="1"/>
          </p:cNvSpPr>
          <p:nvPr/>
        </p:nvSpPr>
        <p:spPr bwMode="auto">
          <a:xfrm>
            <a:off x="1270000" y="3938588"/>
            <a:ext cx="476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593" name="Line 10"/>
          <p:cNvSpPr>
            <a:spLocks noChangeShapeType="1"/>
          </p:cNvSpPr>
          <p:nvPr/>
        </p:nvSpPr>
        <p:spPr bwMode="auto">
          <a:xfrm>
            <a:off x="1270000" y="4643438"/>
            <a:ext cx="476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594" name="Line 11"/>
          <p:cNvSpPr>
            <a:spLocks noChangeShapeType="1"/>
          </p:cNvSpPr>
          <p:nvPr/>
        </p:nvSpPr>
        <p:spPr bwMode="auto">
          <a:xfrm>
            <a:off x="1270000" y="5402263"/>
            <a:ext cx="511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595" name="Line 12"/>
          <p:cNvSpPr>
            <a:spLocks noChangeShapeType="1"/>
          </p:cNvSpPr>
          <p:nvPr/>
        </p:nvSpPr>
        <p:spPr bwMode="auto">
          <a:xfrm>
            <a:off x="1246188" y="5978525"/>
            <a:ext cx="511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596" name="Text Box 13"/>
          <p:cNvSpPr txBox="1">
            <a:spLocks noChangeArrowheads="1"/>
          </p:cNvSpPr>
          <p:nvPr/>
        </p:nvSpPr>
        <p:spPr bwMode="auto">
          <a:xfrm>
            <a:off x="1281113" y="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10</a:t>
            </a:r>
          </a:p>
        </p:txBody>
      </p:sp>
      <p:sp>
        <p:nvSpPr>
          <p:cNvPr id="67597" name="Text Box 14"/>
          <p:cNvSpPr txBox="1">
            <a:spLocks noChangeArrowheads="1"/>
          </p:cNvSpPr>
          <p:nvPr/>
        </p:nvSpPr>
        <p:spPr bwMode="auto">
          <a:xfrm>
            <a:off x="1316038" y="706438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12</a:t>
            </a:r>
          </a:p>
        </p:txBody>
      </p:sp>
      <p:sp>
        <p:nvSpPr>
          <p:cNvPr id="67598" name="Text Box 15"/>
          <p:cNvSpPr txBox="1">
            <a:spLocks noChangeArrowheads="1"/>
          </p:cNvSpPr>
          <p:nvPr/>
        </p:nvSpPr>
        <p:spPr bwMode="auto">
          <a:xfrm>
            <a:off x="1298575" y="1463675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14</a:t>
            </a:r>
          </a:p>
        </p:txBody>
      </p:sp>
      <p:sp>
        <p:nvSpPr>
          <p:cNvPr id="67599" name="Text Box 16"/>
          <p:cNvSpPr txBox="1">
            <a:spLocks noChangeArrowheads="1"/>
          </p:cNvSpPr>
          <p:nvPr/>
        </p:nvSpPr>
        <p:spPr bwMode="auto">
          <a:xfrm>
            <a:off x="1262063" y="217011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16</a:t>
            </a:r>
          </a:p>
        </p:txBody>
      </p:sp>
      <p:sp>
        <p:nvSpPr>
          <p:cNvPr id="67600" name="Text Box 17"/>
          <p:cNvSpPr txBox="1">
            <a:spLocks noChangeArrowheads="1"/>
          </p:cNvSpPr>
          <p:nvPr/>
        </p:nvSpPr>
        <p:spPr bwMode="auto">
          <a:xfrm>
            <a:off x="1244600" y="2909888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18</a:t>
            </a:r>
          </a:p>
        </p:txBody>
      </p:sp>
      <p:sp>
        <p:nvSpPr>
          <p:cNvPr id="67601" name="Text Box 18"/>
          <p:cNvSpPr txBox="1">
            <a:spLocks noChangeArrowheads="1"/>
          </p:cNvSpPr>
          <p:nvPr/>
        </p:nvSpPr>
        <p:spPr bwMode="auto">
          <a:xfrm>
            <a:off x="1298575" y="367030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22</a:t>
            </a:r>
          </a:p>
        </p:txBody>
      </p:sp>
      <p:sp>
        <p:nvSpPr>
          <p:cNvPr id="67602" name="Text Box 19"/>
          <p:cNvSpPr txBox="1">
            <a:spLocks noChangeArrowheads="1"/>
          </p:cNvSpPr>
          <p:nvPr/>
        </p:nvSpPr>
        <p:spPr bwMode="auto">
          <a:xfrm>
            <a:off x="1244600" y="4429125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24</a:t>
            </a:r>
          </a:p>
        </p:txBody>
      </p:sp>
      <p:sp>
        <p:nvSpPr>
          <p:cNvPr id="67603" name="Text Box 20"/>
          <p:cNvSpPr txBox="1">
            <a:spLocks noChangeArrowheads="1"/>
          </p:cNvSpPr>
          <p:nvPr/>
        </p:nvSpPr>
        <p:spPr bwMode="auto">
          <a:xfrm>
            <a:off x="1298575" y="5203825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25</a:t>
            </a:r>
          </a:p>
        </p:txBody>
      </p:sp>
      <p:sp>
        <p:nvSpPr>
          <p:cNvPr id="67604" name="Text Box 21"/>
          <p:cNvSpPr txBox="1">
            <a:spLocks noChangeArrowheads="1"/>
          </p:cNvSpPr>
          <p:nvPr/>
        </p:nvSpPr>
        <p:spPr bwMode="auto">
          <a:xfrm>
            <a:off x="1281113" y="5813425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28</a:t>
            </a: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2276475" y="1943100"/>
            <a:ext cx="2154238" cy="3224213"/>
            <a:chOff x="879" y="1324"/>
            <a:chExt cx="1357" cy="2031"/>
          </a:xfrm>
        </p:grpSpPr>
        <p:sp>
          <p:nvSpPr>
            <p:cNvPr id="67641" name="Oval 23"/>
            <p:cNvSpPr>
              <a:spLocks noChangeArrowheads="1"/>
            </p:cNvSpPr>
            <p:nvPr/>
          </p:nvSpPr>
          <p:spPr bwMode="auto">
            <a:xfrm>
              <a:off x="1353" y="1324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0</a:t>
              </a:r>
            </a:p>
          </p:txBody>
        </p:sp>
        <p:sp>
          <p:nvSpPr>
            <p:cNvPr id="67642" name="Oval 24"/>
            <p:cNvSpPr>
              <a:spLocks noChangeArrowheads="1"/>
            </p:cNvSpPr>
            <p:nvPr/>
          </p:nvSpPr>
          <p:spPr bwMode="auto">
            <a:xfrm>
              <a:off x="1746" y="1697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1</a:t>
              </a:r>
            </a:p>
          </p:txBody>
        </p:sp>
        <p:sp>
          <p:nvSpPr>
            <p:cNvPr id="67643" name="Oval 25"/>
            <p:cNvSpPr>
              <a:spLocks noChangeArrowheads="1"/>
            </p:cNvSpPr>
            <p:nvPr/>
          </p:nvSpPr>
          <p:spPr bwMode="auto">
            <a:xfrm>
              <a:off x="1956" y="2222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2</a:t>
              </a:r>
            </a:p>
          </p:txBody>
        </p:sp>
        <p:sp>
          <p:nvSpPr>
            <p:cNvPr id="67644" name="Oval 26"/>
            <p:cNvSpPr>
              <a:spLocks noChangeArrowheads="1"/>
            </p:cNvSpPr>
            <p:nvPr/>
          </p:nvSpPr>
          <p:spPr bwMode="auto">
            <a:xfrm>
              <a:off x="1590" y="3075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3</a:t>
              </a:r>
            </a:p>
          </p:txBody>
        </p:sp>
        <p:sp>
          <p:nvSpPr>
            <p:cNvPr id="67645" name="Oval 27"/>
            <p:cNvSpPr>
              <a:spLocks noChangeArrowheads="1"/>
            </p:cNvSpPr>
            <p:nvPr/>
          </p:nvSpPr>
          <p:spPr bwMode="auto">
            <a:xfrm>
              <a:off x="1105" y="2773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4</a:t>
              </a:r>
            </a:p>
          </p:txBody>
        </p:sp>
        <p:sp>
          <p:nvSpPr>
            <p:cNvPr id="67646" name="Oval 28"/>
            <p:cNvSpPr>
              <a:spLocks noChangeArrowheads="1"/>
            </p:cNvSpPr>
            <p:nvPr/>
          </p:nvSpPr>
          <p:spPr bwMode="auto">
            <a:xfrm>
              <a:off x="879" y="2231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5</a:t>
              </a:r>
            </a:p>
          </p:txBody>
        </p:sp>
        <p:sp>
          <p:nvSpPr>
            <p:cNvPr id="67647" name="Oval 29"/>
            <p:cNvSpPr>
              <a:spLocks noChangeArrowheads="1"/>
            </p:cNvSpPr>
            <p:nvPr/>
          </p:nvSpPr>
          <p:spPr bwMode="auto">
            <a:xfrm>
              <a:off x="1498" y="2218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6</a:t>
              </a:r>
            </a:p>
          </p:txBody>
        </p:sp>
      </p:grpSp>
      <p:sp>
        <p:nvSpPr>
          <p:cNvPr id="67606" name="Line 30"/>
          <p:cNvSpPr>
            <a:spLocks noChangeShapeType="1"/>
          </p:cNvSpPr>
          <p:nvPr/>
        </p:nvSpPr>
        <p:spPr bwMode="auto">
          <a:xfrm flipH="1">
            <a:off x="2500313" y="2387600"/>
            <a:ext cx="679450" cy="9858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607" name="Rectangle 31"/>
          <p:cNvSpPr>
            <a:spLocks noChangeArrowheads="1"/>
          </p:cNvSpPr>
          <p:nvPr/>
        </p:nvSpPr>
        <p:spPr bwMode="auto">
          <a:xfrm>
            <a:off x="2439988" y="2619375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10</a:t>
            </a:r>
          </a:p>
        </p:txBody>
      </p:sp>
      <p:sp>
        <p:nvSpPr>
          <p:cNvPr id="67608" name="Line 32"/>
          <p:cNvSpPr>
            <a:spLocks noChangeShapeType="1"/>
          </p:cNvSpPr>
          <p:nvPr/>
        </p:nvSpPr>
        <p:spPr bwMode="auto">
          <a:xfrm flipH="1">
            <a:off x="3624263" y="3816350"/>
            <a:ext cx="492125" cy="9001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609" name="Rectangle 33"/>
          <p:cNvSpPr>
            <a:spLocks noChangeArrowheads="1"/>
          </p:cNvSpPr>
          <p:nvPr/>
        </p:nvSpPr>
        <p:spPr bwMode="auto">
          <a:xfrm>
            <a:off x="3902075" y="4097338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12</a:t>
            </a:r>
          </a:p>
        </p:txBody>
      </p:sp>
      <p:sp>
        <p:nvSpPr>
          <p:cNvPr id="67610" name="Line 34"/>
          <p:cNvSpPr>
            <a:spLocks noChangeShapeType="1"/>
          </p:cNvSpPr>
          <p:nvPr/>
        </p:nvSpPr>
        <p:spPr bwMode="auto">
          <a:xfrm flipH="1">
            <a:off x="3487738" y="2982913"/>
            <a:ext cx="304800" cy="3714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611" name="Rectangle 35"/>
          <p:cNvSpPr>
            <a:spLocks noChangeArrowheads="1"/>
          </p:cNvSpPr>
          <p:nvPr/>
        </p:nvSpPr>
        <p:spPr bwMode="auto">
          <a:xfrm>
            <a:off x="3238500" y="295751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14</a:t>
            </a:r>
          </a:p>
        </p:txBody>
      </p:sp>
      <p:sp>
        <p:nvSpPr>
          <p:cNvPr id="67612" name="Line 36"/>
          <p:cNvSpPr>
            <a:spLocks noChangeShapeType="1"/>
          </p:cNvSpPr>
          <p:nvPr/>
        </p:nvSpPr>
        <p:spPr bwMode="auto">
          <a:xfrm>
            <a:off x="3981450" y="2982913"/>
            <a:ext cx="219075" cy="3730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613" name="Rectangle 37"/>
          <p:cNvSpPr>
            <a:spLocks noChangeArrowheads="1"/>
          </p:cNvSpPr>
          <p:nvPr/>
        </p:nvSpPr>
        <p:spPr bwMode="auto">
          <a:xfrm>
            <a:off x="4056063" y="295751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16</a:t>
            </a:r>
          </a:p>
        </p:txBody>
      </p:sp>
      <p:sp>
        <p:nvSpPr>
          <p:cNvPr id="67614" name="Line 38"/>
          <p:cNvSpPr>
            <a:spLocks noChangeShapeType="1"/>
          </p:cNvSpPr>
          <p:nvPr/>
        </p:nvSpPr>
        <p:spPr bwMode="auto">
          <a:xfrm>
            <a:off x="3062288" y="4564063"/>
            <a:ext cx="373062" cy="269875"/>
          </a:xfrm>
          <a:prstGeom prst="line">
            <a:avLst/>
          </a:prstGeom>
          <a:noFill/>
          <a:ln w="12700">
            <a:solidFill>
              <a:srgbClr val="CC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615" name="Rectangle 39"/>
          <p:cNvSpPr>
            <a:spLocks noChangeArrowheads="1"/>
          </p:cNvSpPr>
          <p:nvPr/>
        </p:nvSpPr>
        <p:spPr bwMode="auto">
          <a:xfrm>
            <a:off x="2898775" y="4624388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22</a:t>
            </a:r>
          </a:p>
        </p:txBody>
      </p:sp>
      <p:grpSp>
        <p:nvGrpSpPr>
          <p:cNvPr id="3" name="Group 40"/>
          <p:cNvGrpSpPr>
            <a:grpSpLocks/>
          </p:cNvGrpSpPr>
          <p:nvPr/>
        </p:nvGrpSpPr>
        <p:grpSpPr bwMode="auto">
          <a:xfrm>
            <a:off x="6324600" y="1892300"/>
            <a:ext cx="2154238" cy="3224213"/>
            <a:chOff x="3429" y="1292"/>
            <a:chExt cx="1357" cy="2031"/>
          </a:xfrm>
        </p:grpSpPr>
        <p:sp>
          <p:nvSpPr>
            <p:cNvPr id="67634" name="Oval 41"/>
            <p:cNvSpPr>
              <a:spLocks noChangeArrowheads="1"/>
            </p:cNvSpPr>
            <p:nvPr/>
          </p:nvSpPr>
          <p:spPr bwMode="auto">
            <a:xfrm>
              <a:off x="3903" y="1292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0</a:t>
              </a:r>
            </a:p>
          </p:txBody>
        </p:sp>
        <p:sp>
          <p:nvSpPr>
            <p:cNvPr id="67635" name="Oval 42"/>
            <p:cNvSpPr>
              <a:spLocks noChangeArrowheads="1"/>
            </p:cNvSpPr>
            <p:nvPr/>
          </p:nvSpPr>
          <p:spPr bwMode="auto">
            <a:xfrm>
              <a:off x="4296" y="1665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1</a:t>
              </a:r>
            </a:p>
          </p:txBody>
        </p:sp>
        <p:sp>
          <p:nvSpPr>
            <p:cNvPr id="67636" name="Oval 43"/>
            <p:cNvSpPr>
              <a:spLocks noChangeArrowheads="1"/>
            </p:cNvSpPr>
            <p:nvPr/>
          </p:nvSpPr>
          <p:spPr bwMode="auto">
            <a:xfrm>
              <a:off x="4506" y="2190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2</a:t>
              </a:r>
            </a:p>
          </p:txBody>
        </p:sp>
        <p:sp>
          <p:nvSpPr>
            <p:cNvPr id="67637" name="Oval 44"/>
            <p:cNvSpPr>
              <a:spLocks noChangeArrowheads="1"/>
            </p:cNvSpPr>
            <p:nvPr/>
          </p:nvSpPr>
          <p:spPr bwMode="auto">
            <a:xfrm>
              <a:off x="4140" y="3043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3</a:t>
              </a:r>
            </a:p>
          </p:txBody>
        </p:sp>
        <p:sp>
          <p:nvSpPr>
            <p:cNvPr id="67638" name="Oval 45"/>
            <p:cNvSpPr>
              <a:spLocks noChangeArrowheads="1"/>
            </p:cNvSpPr>
            <p:nvPr/>
          </p:nvSpPr>
          <p:spPr bwMode="auto">
            <a:xfrm>
              <a:off x="3655" y="2741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4</a:t>
              </a:r>
            </a:p>
          </p:txBody>
        </p:sp>
        <p:sp>
          <p:nvSpPr>
            <p:cNvPr id="67639" name="Oval 46"/>
            <p:cNvSpPr>
              <a:spLocks noChangeArrowheads="1"/>
            </p:cNvSpPr>
            <p:nvPr/>
          </p:nvSpPr>
          <p:spPr bwMode="auto">
            <a:xfrm>
              <a:off x="3429" y="2199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5</a:t>
              </a:r>
            </a:p>
          </p:txBody>
        </p:sp>
        <p:sp>
          <p:nvSpPr>
            <p:cNvPr id="67640" name="Oval 47"/>
            <p:cNvSpPr>
              <a:spLocks noChangeArrowheads="1"/>
            </p:cNvSpPr>
            <p:nvPr/>
          </p:nvSpPr>
          <p:spPr bwMode="auto">
            <a:xfrm>
              <a:off x="4048" y="2186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6</a:t>
              </a:r>
            </a:p>
          </p:txBody>
        </p:sp>
      </p:grpSp>
      <p:sp>
        <p:nvSpPr>
          <p:cNvPr id="67617" name="Line 48"/>
          <p:cNvSpPr>
            <a:spLocks noChangeShapeType="1"/>
          </p:cNvSpPr>
          <p:nvPr/>
        </p:nvSpPr>
        <p:spPr bwMode="auto">
          <a:xfrm flipH="1">
            <a:off x="6548438" y="2336800"/>
            <a:ext cx="679450" cy="9858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618" name="Rectangle 49"/>
          <p:cNvSpPr>
            <a:spLocks noChangeArrowheads="1"/>
          </p:cNvSpPr>
          <p:nvPr/>
        </p:nvSpPr>
        <p:spPr bwMode="auto">
          <a:xfrm>
            <a:off x="6488113" y="2568575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10</a:t>
            </a:r>
          </a:p>
        </p:txBody>
      </p:sp>
      <p:sp>
        <p:nvSpPr>
          <p:cNvPr id="67619" name="Line 50"/>
          <p:cNvSpPr>
            <a:spLocks noChangeShapeType="1"/>
          </p:cNvSpPr>
          <p:nvPr/>
        </p:nvSpPr>
        <p:spPr bwMode="auto">
          <a:xfrm flipH="1">
            <a:off x="7672388" y="3765550"/>
            <a:ext cx="492125" cy="9001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620" name="Rectangle 51"/>
          <p:cNvSpPr>
            <a:spLocks noChangeArrowheads="1"/>
          </p:cNvSpPr>
          <p:nvPr/>
        </p:nvSpPr>
        <p:spPr bwMode="auto">
          <a:xfrm>
            <a:off x="7950200" y="4046538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12</a:t>
            </a:r>
          </a:p>
        </p:txBody>
      </p:sp>
      <p:sp>
        <p:nvSpPr>
          <p:cNvPr id="67621" name="Line 52"/>
          <p:cNvSpPr>
            <a:spLocks noChangeShapeType="1"/>
          </p:cNvSpPr>
          <p:nvPr/>
        </p:nvSpPr>
        <p:spPr bwMode="auto">
          <a:xfrm flipH="1">
            <a:off x="7535863" y="2932113"/>
            <a:ext cx="304800" cy="3714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622" name="Rectangle 53"/>
          <p:cNvSpPr>
            <a:spLocks noChangeArrowheads="1"/>
          </p:cNvSpPr>
          <p:nvPr/>
        </p:nvSpPr>
        <p:spPr bwMode="auto">
          <a:xfrm>
            <a:off x="7286625" y="290671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14</a:t>
            </a:r>
          </a:p>
        </p:txBody>
      </p:sp>
      <p:sp>
        <p:nvSpPr>
          <p:cNvPr id="67623" name="Line 54"/>
          <p:cNvSpPr>
            <a:spLocks noChangeShapeType="1"/>
          </p:cNvSpPr>
          <p:nvPr/>
        </p:nvSpPr>
        <p:spPr bwMode="auto">
          <a:xfrm>
            <a:off x="8029575" y="2932113"/>
            <a:ext cx="219075" cy="3730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624" name="Rectangle 55"/>
          <p:cNvSpPr>
            <a:spLocks noChangeArrowheads="1"/>
          </p:cNvSpPr>
          <p:nvPr/>
        </p:nvSpPr>
        <p:spPr bwMode="auto">
          <a:xfrm>
            <a:off x="8104188" y="290671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16</a:t>
            </a:r>
          </a:p>
        </p:txBody>
      </p:sp>
      <p:sp>
        <p:nvSpPr>
          <p:cNvPr id="67625" name="Line 56"/>
          <p:cNvSpPr>
            <a:spLocks noChangeShapeType="1"/>
          </p:cNvSpPr>
          <p:nvPr/>
        </p:nvSpPr>
        <p:spPr bwMode="auto">
          <a:xfrm>
            <a:off x="7110413" y="4513263"/>
            <a:ext cx="373062" cy="269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626" name="Rectangle 57"/>
          <p:cNvSpPr>
            <a:spLocks noChangeArrowheads="1"/>
          </p:cNvSpPr>
          <p:nvPr/>
        </p:nvSpPr>
        <p:spPr bwMode="auto">
          <a:xfrm>
            <a:off x="6946900" y="4573588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22</a:t>
            </a:r>
          </a:p>
        </p:txBody>
      </p:sp>
      <p:sp>
        <p:nvSpPr>
          <p:cNvPr id="67627" name="Line 58"/>
          <p:cNvSpPr>
            <a:spLocks noChangeShapeType="1"/>
          </p:cNvSpPr>
          <p:nvPr/>
        </p:nvSpPr>
        <p:spPr bwMode="auto">
          <a:xfrm>
            <a:off x="6567488" y="3765550"/>
            <a:ext cx="201612" cy="457200"/>
          </a:xfrm>
          <a:prstGeom prst="line">
            <a:avLst/>
          </a:prstGeom>
          <a:noFill/>
          <a:ln w="12700">
            <a:solidFill>
              <a:srgbClr val="CC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628" name="Rectangle 59"/>
          <p:cNvSpPr>
            <a:spLocks noChangeArrowheads="1"/>
          </p:cNvSpPr>
          <p:nvPr/>
        </p:nvSpPr>
        <p:spPr bwMode="auto">
          <a:xfrm>
            <a:off x="6251575" y="387826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25</a:t>
            </a:r>
          </a:p>
        </p:txBody>
      </p:sp>
      <p:sp>
        <p:nvSpPr>
          <p:cNvPr id="67629" name="Text Box 60"/>
          <p:cNvSpPr txBox="1">
            <a:spLocks noChangeArrowheads="1"/>
          </p:cNvSpPr>
          <p:nvPr/>
        </p:nvSpPr>
        <p:spPr bwMode="auto">
          <a:xfrm>
            <a:off x="4783138" y="4670425"/>
            <a:ext cx="882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ea typeface="PMingLiU" pitchFamily="18" charset="-120"/>
              </a:rPr>
              <a:t>4       6</a:t>
            </a:r>
          </a:p>
        </p:txBody>
      </p:sp>
      <p:sp>
        <p:nvSpPr>
          <p:cNvPr id="67630" name="Line 61"/>
          <p:cNvSpPr>
            <a:spLocks noChangeShapeType="1"/>
          </p:cNvSpPr>
          <p:nvPr/>
        </p:nvSpPr>
        <p:spPr bwMode="auto">
          <a:xfrm>
            <a:off x="5029200" y="4902200"/>
            <a:ext cx="387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631" name="Text Box 62"/>
          <p:cNvSpPr txBox="1">
            <a:spLocks noChangeArrowheads="1"/>
          </p:cNvSpPr>
          <p:nvPr/>
        </p:nvSpPr>
        <p:spPr bwMode="auto">
          <a:xfrm>
            <a:off x="4848225" y="5226050"/>
            <a:ext cx="7191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  <a:ea typeface="PMingLiU" pitchFamily="18" charset="-120"/>
              </a:rPr>
              <a:t>cycle</a:t>
            </a:r>
          </a:p>
        </p:txBody>
      </p:sp>
      <p:sp>
        <p:nvSpPr>
          <p:cNvPr id="67632" name="Text Box 63"/>
          <p:cNvSpPr txBox="1">
            <a:spLocks noChangeArrowheads="1"/>
          </p:cNvSpPr>
          <p:nvPr/>
        </p:nvSpPr>
        <p:spPr bwMode="auto">
          <a:xfrm>
            <a:off x="4352925" y="4687888"/>
            <a:ext cx="3270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ea typeface="PMingLiU" pitchFamily="18" charset="-120"/>
              </a:rPr>
              <a:t>+</a:t>
            </a:r>
          </a:p>
        </p:txBody>
      </p:sp>
      <p:sp>
        <p:nvSpPr>
          <p:cNvPr id="67633" name="Text Box 64"/>
          <p:cNvSpPr txBox="1">
            <a:spLocks noChangeArrowheads="1"/>
          </p:cNvSpPr>
          <p:nvPr/>
        </p:nvSpPr>
        <p:spPr bwMode="auto">
          <a:xfrm>
            <a:off x="5756275" y="5357813"/>
            <a:ext cx="31638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ea typeface="PMingLiU" pitchFamily="18" charset="-120"/>
              </a:rPr>
              <a:t>cost = 10 +25+22+12+16+14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/>
          <p:cNvSpPr>
            <a:spLocks noChangeArrowheads="1"/>
          </p:cNvSpPr>
          <p:nvPr/>
        </p:nvSpPr>
        <p:spPr bwMode="auto">
          <a:xfrm>
            <a:off x="974725" y="609600"/>
            <a:ext cx="81692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altLang="zh-TW" sz="4400">
                <a:solidFill>
                  <a:schemeClr val="tx2"/>
                </a:solidFill>
                <a:ea typeface="PMingLiU" pitchFamily="18" charset="-120"/>
              </a:rPr>
              <a:t>Kruskal’s Algorithm</a:t>
            </a:r>
          </a:p>
        </p:txBody>
      </p:sp>
      <p:sp>
        <p:nvSpPr>
          <p:cNvPr id="68611" name="Rectangle 4"/>
          <p:cNvSpPr>
            <a:spLocks noChangeArrowheads="1"/>
          </p:cNvSpPr>
          <p:nvPr/>
        </p:nvSpPr>
        <p:spPr bwMode="auto">
          <a:xfrm>
            <a:off x="815975" y="1981200"/>
            <a:ext cx="8991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T= {};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while (T contains less than n-1 edges </a:t>
            </a:r>
            <a:b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</a:b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 &amp;&amp; E is not empty) {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choose a least cost edge (v,w) from E;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delete (v,w) from E;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if ((v,w) does not create a cycle in T)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add (v,w) to T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else discard (v,w);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}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if (T contains fewer than n-1 edges)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printf(“No spanning tree\n”);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3"/>
          <p:cNvSpPr>
            <a:spLocks noChangeArrowheads="1"/>
          </p:cNvSpPr>
          <p:nvPr/>
        </p:nvSpPr>
        <p:spPr bwMode="auto">
          <a:xfrm>
            <a:off x="763588" y="0"/>
            <a:ext cx="838041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altLang="zh-TW" sz="4400">
                <a:solidFill>
                  <a:schemeClr val="tx2"/>
                </a:solidFill>
                <a:ea typeface="PMingLiU" pitchFamily="18" charset="-120"/>
              </a:rPr>
              <a:t>Prim’s Algorithm</a:t>
            </a:r>
          </a:p>
        </p:txBody>
      </p:sp>
      <p:sp>
        <p:nvSpPr>
          <p:cNvPr id="8197" name="Rectangle 4"/>
          <p:cNvSpPr>
            <a:spLocks noChangeArrowheads="1"/>
          </p:cNvSpPr>
          <p:nvPr/>
        </p:nvSpPr>
        <p:spPr bwMode="auto">
          <a:xfrm>
            <a:off x="781050" y="1487488"/>
            <a:ext cx="8991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T={};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TV={0};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while (T contains fewer than n-1 edges)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{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let (u,v) be a least cost edge such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that       and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if (there is no such edge ) break;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add v to TV;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add (u,v) to T;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}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if (T contains fewer than n-1 edges)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printf(“No spanning tree\n”);</a:t>
            </a:r>
          </a:p>
        </p:txBody>
      </p:sp>
      <p:graphicFrame>
        <p:nvGraphicFramePr>
          <p:cNvPr id="8194" name="Object 0"/>
          <p:cNvGraphicFramePr>
            <a:graphicFrameLocks/>
          </p:cNvGraphicFramePr>
          <p:nvPr/>
        </p:nvGraphicFramePr>
        <p:xfrm>
          <a:off x="2667000" y="3421063"/>
          <a:ext cx="1319213" cy="393700"/>
        </p:xfrm>
        <a:graphic>
          <a:graphicData uri="http://schemas.openxmlformats.org/presentationml/2006/ole">
            <p:oleObj spid="_x0000_s8194" name="方程式" r:id="rId3" imgW="1319040" imgH="393480" progId="Equation.2">
              <p:embed/>
            </p:oleObj>
          </a:graphicData>
        </a:graphic>
      </p:graphicFrame>
      <p:graphicFrame>
        <p:nvGraphicFramePr>
          <p:cNvPr id="8195" name="Object 1"/>
          <p:cNvGraphicFramePr>
            <a:graphicFrameLocks/>
          </p:cNvGraphicFramePr>
          <p:nvPr/>
        </p:nvGraphicFramePr>
        <p:xfrm>
          <a:off x="4792663" y="3422650"/>
          <a:ext cx="1309687" cy="415925"/>
        </p:xfrm>
        <a:graphic>
          <a:graphicData uri="http://schemas.openxmlformats.org/presentationml/2006/ole">
            <p:oleObj spid="_x0000_s8195" name="方程式" r:id="rId4" imgW="1309680" imgH="415800" progId="Equation.2">
              <p:embed/>
            </p:oleObj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027"/>
          <p:cNvSpPr>
            <a:spLocks noChangeArrowheads="1"/>
          </p:cNvSpPr>
          <p:nvPr/>
        </p:nvSpPr>
        <p:spPr bwMode="auto">
          <a:xfrm>
            <a:off x="858838" y="0"/>
            <a:ext cx="8285162" cy="93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altLang="zh-TW" sz="4000">
                <a:solidFill>
                  <a:schemeClr val="tx2"/>
                </a:solidFill>
                <a:ea typeface="PMingLiU" pitchFamily="18" charset="-120"/>
              </a:rPr>
              <a:t>Examples for Prim’s Algorithm</a:t>
            </a:r>
            <a:endParaRPr lang="en-US" altLang="zh-TW" sz="4400">
              <a:solidFill>
                <a:schemeClr val="tx2"/>
              </a:solidFill>
              <a:ea typeface="PMingLiU" pitchFamily="18" charset="-120"/>
            </a:endParaRPr>
          </a:p>
        </p:txBody>
      </p:sp>
      <p:sp>
        <p:nvSpPr>
          <p:cNvPr id="69635" name="Oval 1028"/>
          <p:cNvSpPr>
            <a:spLocks noChangeArrowheads="1"/>
          </p:cNvSpPr>
          <p:nvPr/>
        </p:nvSpPr>
        <p:spPr bwMode="auto">
          <a:xfrm>
            <a:off x="1993900" y="294798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69636" name="Oval 1029"/>
          <p:cNvSpPr>
            <a:spLocks noChangeArrowheads="1"/>
          </p:cNvSpPr>
          <p:nvPr/>
        </p:nvSpPr>
        <p:spPr bwMode="auto">
          <a:xfrm>
            <a:off x="2617788" y="354012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69637" name="Oval 1030"/>
          <p:cNvSpPr>
            <a:spLocks noChangeArrowheads="1"/>
          </p:cNvSpPr>
          <p:nvPr/>
        </p:nvSpPr>
        <p:spPr bwMode="auto">
          <a:xfrm>
            <a:off x="2951163" y="437356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69638" name="Oval 1031"/>
          <p:cNvSpPr>
            <a:spLocks noChangeArrowheads="1"/>
          </p:cNvSpPr>
          <p:nvPr/>
        </p:nvSpPr>
        <p:spPr bwMode="auto">
          <a:xfrm>
            <a:off x="2370138" y="572770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69639" name="Oval 1032"/>
          <p:cNvSpPr>
            <a:spLocks noChangeArrowheads="1"/>
          </p:cNvSpPr>
          <p:nvPr/>
        </p:nvSpPr>
        <p:spPr bwMode="auto">
          <a:xfrm>
            <a:off x="1600200" y="524827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69640" name="Oval 1033"/>
          <p:cNvSpPr>
            <a:spLocks noChangeArrowheads="1"/>
          </p:cNvSpPr>
          <p:nvPr/>
        </p:nvSpPr>
        <p:spPr bwMode="auto">
          <a:xfrm>
            <a:off x="1241425" y="43878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69641" name="Oval 1034"/>
          <p:cNvSpPr>
            <a:spLocks noChangeArrowheads="1"/>
          </p:cNvSpPr>
          <p:nvPr/>
        </p:nvSpPr>
        <p:spPr bwMode="auto">
          <a:xfrm>
            <a:off x="2224088" y="436721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6</a:t>
            </a:r>
          </a:p>
        </p:txBody>
      </p:sp>
      <p:grpSp>
        <p:nvGrpSpPr>
          <p:cNvPr id="2" name="Group 1035"/>
          <p:cNvGrpSpPr>
            <a:grpSpLocks/>
          </p:cNvGrpSpPr>
          <p:nvPr/>
        </p:nvGrpSpPr>
        <p:grpSpPr bwMode="auto">
          <a:xfrm>
            <a:off x="4030663" y="2930525"/>
            <a:ext cx="2154237" cy="3224213"/>
            <a:chOff x="2273" y="1346"/>
            <a:chExt cx="1357" cy="2031"/>
          </a:xfrm>
        </p:grpSpPr>
        <p:sp>
          <p:nvSpPr>
            <p:cNvPr id="69688" name="Oval 1036"/>
            <p:cNvSpPr>
              <a:spLocks noChangeArrowheads="1"/>
            </p:cNvSpPr>
            <p:nvPr/>
          </p:nvSpPr>
          <p:spPr bwMode="auto">
            <a:xfrm>
              <a:off x="2747" y="1346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0</a:t>
              </a:r>
            </a:p>
          </p:txBody>
        </p:sp>
        <p:sp>
          <p:nvSpPr>
            <p:cNvPr id="69689" name="Oval 1037"/>
            <p:cNvSpPr>
              <a:spLocks noChangeArrowheads="1"/>
            </p:cNvSpPr>
            <p:nvPr/>
          </p:nvSpPr>
          <p:spPr bwMode="auto">
            <a:xfrm>
              <a:off x="3140" y="1719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1</a:t>
              </a:r>
            </a:p>
          </p:txBody>
        </p:sp>
        <p:sp>
          <p:nvSpPr>
            <p:cNvPr id="69690" name="Oval 1038"/>
            <p:cNvSpPr>
              <a:spLocks noChangeArrowheads="1"/>
            </p:cNvSpPr>
            <p:nvPr/>
          </p:nvSpPr>
          <p:spPr bwMode="auto">
            <a:xfrm>
              <a:off x="3350" y="2244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2</a:t>
              </a:r>
            </a:p>
          </p:txBody>
        </p:sp>
        <p:sp>
          <p:nvSpPr>
            <p:cNvPr id="69691" name="Oval 1039"/>
            <p:cNvSpPr>
              <a:spLocks noChangeArrowheads="1"/>
            </p:cNvSpPr>
            <p:nvPr/>
          </p:nvSpPr>
          <p:spPr bwMode="auto">
            <a:xfrm>
              <a:off x="2984" y="3097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3</a:t>
              </a:r>
            </a:p>
          </p:txBody>
        </p:sp>
        <p:sp>
          <p:nvSpPr>
            <p:cNvPr id="69692" name="Oval 1040"/>
            <p:cNvSpPr>
              <a:spLocks noChangeArrowheads="1"/>
            </p:cNvSpPr>
            <p:nvPr/>
          </p:nvSpPr>
          <p:spPr bwMode="auto">
            <a:xfrm>
              <a:off x="2499" y="2795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4</a:t>
              </a:r>
            </a:p>
          </p:txBody>
        </p:sp>
        <p:sp>
          <p:nvSpPr>
            <p:cNvPr id="69693" name="Oval 1041"/>
            <p:cNvSpPr>
              <a:spLocks noChangeArrowheads="1"/>
            </p:cNvSpPr>
            <p:nvPr/>
          </p:nvSpPr>
          <p:spPr bwMode="auto">
            <a:xfrm>
              <a:off x="2273" y="2253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5</a:t>
              </a:r>
            </a:p>
          </p:txBody>
        </p:sp>
        <p:sp>
          <p:nvSpPr>
            <p:cNvPr id="69694" name="Oval 1042"/>
            <p:cNvSpPr>
              <a:spLocks noChangeArrowheads="1"/>
            </p:cNvSpPr>
            <p:nvPr/>
          </p:nvSpPr>
          <p:spPr bwMode="auto">
            <a:xfrm>
              <a:off x="2892" y="2240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6</a:t>
              </a:r>
            </a:p>
          </p:txBody>
        </p:sp>
      </p:grpSp>
      <p:sp>
        <p:nvSpPr>
          <p:cNvPr id="69643" name="Line 1043"/>
          <p:cNvSpPr>
            <a:spLocks noChangeShapeType="1"/>
          </p:cNvSpPr>
          <p:nvPr/>
        </p:nvSpPr>
        <p:spPr bwMode="auto">
          <a:xfrm flipH="1">
            <a:off x="1481138" y="3408363"/>
            <a:ext cx="628650" cy="966787"/>
          </a:xfrm>
          <a:prstGeom prst="line">
            <a:avLst/>
          </a:prstGeom>
          <a:noFill/>
          <a:ln w="12700">
            <a:solidFill>
              <a:srgbClr val="CC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9644" name="Rectangle 1044"/>
          <p:cNvSpPr>
            <a:spLocks noChangeArrowheads="1"/>
          </p:cNvSpPr>
          <p:nvPr/>
        </p:nvSpPr>
        <p:spPr bwMode="auto">
          <a:xfrm>
            <a:off x="1438275" y="3589338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10</a:t>
            </a:r>
          </a:p>
        </p:txBody>
      </p:sp>
      <p:grpSp>
        <p:nvGrpSpPr>
          <p:cNvPr id="3" name="Group 1045"/>
          <p:cNvGrpSpPr>
            <a:grpSpLocks/>
          </p:cNvGrpSpPr>
          <p:nvPr/>
        </p:nvGrpSpPr>
        <p:grpSpPr bwMode="auto">
          <a:xfrm>
            <a:off x="6989763" y="2928938"/>
            <a:ext cx="2154237" cy="3224212"/>
            <a:chOff x="4137" y="1345"/>
            <a:chExt cx="1357" cy="2031"/>
          </a:xfrm>
        </p:grpSpPr>
        <p:sp>
          <p:nvSpPr>
            <p:cNvPr id="69681" name="Oval 1046"/>
            <p:cNvSpPr>
              <a:spLocks noChangeArrowheads="1"/>
            </p:cNvSpPr>
            <p:nvPr/>
          </p:nvSpPr>
          <p:spPr bwMode="auto">
            <a:xfrm>
              <a:off x="4611" y="1345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0</a:t>
              </a:r>
            </a:p>
          </p:txBody>
        </p:sp>
        <p:sp>
          <p:nvSpPr>
            <p:cNvPr id="69682" name="Oval 1047"/>
            <p:cNvSpPr>
              <a:spLocks noChangeArrowheads="1"/>
            </p:cNvSpPr>
            <p:nvPr/>
          </p:nvSpPr>
          <p:spPr bwMode="auto">
            <a:xfrm>
              <a:off x="5004" y="1718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1</a:t>
              </a:r>
            </a:p>
          </p:txBody>
        </p:sp>
        <p:sp>
          <p:nvSpPr>
            <p:cNvPr id="69683" name="Oval 1048"/>
            <p:cNvSpPr>
              <a:spLocks noChangeArrowheads="1"/>
            </p:cNvSpPr>
            <p:nvPr/>
          </p:nvSpPr>
          <p:spPr bwMode="auto">
            <a:xfrm>
              <a:off x="5214" y="2243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2</a:t>
              </a:r>
            </a:p>
          </p:txBody>
        </p:sp>
        <p:sp>
          <p:nvSpPr>
            <p:cNvPr id="69684" name="Oval 1049"/>
            <p:cNvSpPr>
              <a:spLocks noChangeArrowheads="1"/>
            </p:cNvSpPr>
            <p:nvPr/>
          </p:nvSpPr>
          <p:spPr bwMode="auto">
            <a:xfrm>
              <a:off x="4848" y="3096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3</a:t>
              </a:r>
            </a:p>
          </p:txBody>
        </p:sp>
        <p:sp>
          <p:nvSpPr>
            <p:cNvPr id="69685" name="Oval 1050"/>
            <p:cNvSpPr>
              <a:spLocks noChangeArrowheads="1"/>
            </p:cNvSpPr>
            <p:nvPr/>
          </p:nvSpPr>
          <p:spPr bwMode="auto">
            <a:xfrm>
              <a:off x="4363" y="2794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4</a:t>
              </a:r>
            </a:p>
          </p:txBody>
        </p:sp>
        <p:sp>
          <p:nvSpPr>
            <p:cNvPr id="69686" name="Oval 1051"/>
            <p:cNvSpPr>
              <a:spLocks noChangeArrowheads="1"/>
            </p:cNvSpPr>
            <p:nvPr/>
          </p:nvSpPr>
          <p:spPr bwMode="auto">
            <a:xfrm>
              <a:off x="4137" y="2252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5</a:t>
              </a:r>
            </a:p>
          </p:txBody>
        </p:sp>
        <p:sp>
          <p:nvSpPr>
            <p:cNvPr id="69687" name="Oval 1052"/>
            <p:cNvSpPr>
              <a:spLocks noChangeArrowheads="1"/>
            </p:cNvSpPr>
            <p:nvPr/>
          </p:nvSpPr>
          <p:spPr bwMode="auto">
            <a:xfrm>
              <a:off x="4756" y="2239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6</a:t>
              </a:r>
            </a:p>
          </p:txBody>
        </p:sp>
      </p:grpSp>
      <p:sp>
        <p:nvSpPr>
          <p:cNvPr id="69646" name="Line 1053"/>
          <p:cNvSpPr>
            <a:spLocks noChangeShapeType="1"/>
          </p:cNvSpPr>
          <p:nvPr/>
        </p:nvSpPr>
        <p:spPr bwMode="auto">
          <a:xfrm flipH="1">
            <a:off x="7213600" y="3373438"/>
            <a:ext cx="679450" cy="9858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9647" name="Rectangle 1054"/>
          <p:cNvSpPr>
            <a:spLocks noChangeArrowheads="1"/>
          </p:cNvSpPr>
          <p:nvPr/>
        </p:nvSpPr>
        <p:spPr bwMode="auto">
          <a:xfrm>
            <a:off x="7153275" y="360521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10</a:t>
            </a:r>
          </a:p>
        </p:txBody>
      </p:sp>
      <p:sp>
        <p:nvSpPr>
          <p:cNvPr id="69648" name="Line 1055"/>
          <p:cNvSpPr>
            <a:spLocks noChangeShapeType="1"/>
          </p:cNvSpPr>
          <p:nvPr/>
        </p:nvSpPr>
        <p:spPr bwMode="auto">
          <a:xfrm flipH="1">
            <a:off x="4305300" y="3373438"/>
            <a:ext cx="611188" cy="9858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9649" name="Line 1056"/>
          <p:cNvSpPr>
            <a:spLocks noChangeShapeType="1"/>
          </p:cNvSpPr>
          <p:nvPr/>
        </p:nvSpPr>
        <p:spPr bwMode="auto">
          <a:xfrm>
            <a:off x="4287838" y="4837113"/>
            <a:ext cx="203200" cy="422275"/>
          </a:xfrm>
          <a:prstGeom prst="line">
            <a:avLst/>
          </a:prstGeom>
          <a:noFill/>
          <a:ln w="12700">
            <a:solidFill>
              <a:srgbClr val="CC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9650" name="Rectangle 1057"/>
          <p:cNvSpPr>
            <a:spLocks noChangeArrowheads="1"/>
          </p:cNvSpPr>
          <p:nvPr/>
        </p:nvSpPr>
        <p:spPr bwMode="auto">
          <a:xfrm>
            <a:off x="4194175" y="365601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10</a:t>
            </a:r>
          </a:p>
        </p:txBody>
      </p:sp>
      <p:sp>
        <p:nvSpPr>
          <p:cNvPr id="69651" name="Rectangle 1058"/>
          <p:cNvSpPr>
            <a:spLocks noChangeArrowheads="1"/>
          </p:cNvSpPr>
          <p:nvPr/>
        </p:nvSpPr>
        <p:spPr bwMode="auto">
          <a:xfrm>
            <a:off x="3956050" y="503396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25</a:t>
            </a:r>
          </a:p>
        </p:txBody>
      </p:sp>
      <p:sp>
        <p:nvSpPr>
          <p:cNvPr id="69652" name="Line 1059"/>
          <p:cNvSpPr>
            <a:spLocks noChangeShapeType="1"/>
          </p:cNvSpPr>
          <p:nvPr/>
        </p:nvSpPr>
        <p:spPr bwMode="auto">
          <a:xfrm>
            <a:off x="7231063" y="4819650"/>
            <a:ext cx="219075" cy="4746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9653" name="Rectangle 1060"/>
          <p:cNvSpPr>
            <a:spLocks noChangeArrowheads="1"/>
          </p:cNvSpPr>
          <p:nvPr/>
        </p:nvSpPr>
        <p:spPr bwMode="auto">
          <a:xfrm>
            <a:off x="6880225" y="4981575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25</a:t>
            </a:r>
          </a:p>
        </p:txBody>
      </p:sp>
      <p:sp>
        <p:nvSpPr>
          <p:cNvPr id="69654" name="Line 1061"/>
          <p:cNvSpPr>
            <a:spLocks noChangeShapeType="1"/>
          </p:cNvSpPr>
          <p:nvPr/>
        </p:nvSpPr>
        <p:spPr bwMode="auto">
          <a:xfrm>
            <a:off x="7775575" y="5618163"/>
            <a:ext cx="338138" cy="203200"/>
          </a:xfrm>
          <a:prstGeom prst="line">
            <a:avLst/>
          </a:prstGeom>
          <a:noFill/>
          <a:ln w="12700">
            <a:solidFill>
              <a:srgbClr val="CC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9655" name="Rectangle 1062"/>
          <p:cNvSpPr>
            <a:spLocks noChangeArrowheads="1"/>
          </p:cNvSpPr>
          <p:nvPr/>
        </p:nvSpPr>
        <p:spPr bwMode="auto">
          <a:xfrm>
            <a:off x="7646988" y="5661025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22</a:t>
            </a:r>
          </a:p>
        </p:txBody>
      </p:sp>
      <p:sp>
        <p:nvSpPr>
          <p:cNvPr id="69656" name="Oval 1063"/>
          <p:cNvSpPr>
            <a:spLocks noChangeArrowheads="1"/>
          </p:cNvSpPr>
          <p:nvPr/>
        </p:nvSpPr>
        <p:spPr bwMode="auto">
          <a:xfrm>
            <a:off x="3441700" y="7429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69657" name="Oval 1064"/>
          <p:cNvSpPr>
            <a:spLocks noChangeArrowheads="1"/>
          </p:cNvSpPr>
          <p:nvPr/>
        </p:nvSpPr>
        <p:spPr bwMode="auto">
          <a:xfrm>
            <a:off x="4065588" y="133508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69658" name="Oval 1065"/>
          <p:cNvSpPr>
            <a:spLocks noChangeArrowheads="1"/>
          </p:cNvSpPr>
          <p:nvPr/>
        </p:nvSpPr>
        <p:spPr bwMode="auto">
          <a:xfrm>
            <a:off x="4398963" y="216852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69659" name="Oval 1066"/>
          <p:cNvSpPr>
            <a:spLocks noChangeArrowheads="1"/>
          </p:cNvSpPr>
          <p:nvPr/>
        </p:nvSpPr>
        <p:spPr bwMode="auto">
          <a:xfrm>
            <a:off x="3817938" y="352266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69660" name="Oval 1067"/>
          <p:cNvSpPr>
            <a:spLocks noChangeArrowheads="1"/>
          </p:cNvSpPr>
          <p:nvPr/>
        </p:nvSpPr>
        <p:spPr bwMode="auto">
          <a:xfrm>
            <a:off x="3048000" y="304323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69661" name="Oval 1068"/>
          <p:cNvSpPr>
            <a:spLocks noChangeArrowheads="1"/>
          </p:cNvSpPr>
          <p:nvPr/>
        </p:nvSpPr>
        <p:spPr bwMode="auto">
          <a:xfrm>
            <a:off x="2689225" y="218281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69662" name="Oval 1069"/>
          <p:cNvSpPr>
            <a:spLocks noChangeArrowheads="1"/>
          </p:cNvSpPr>
          <p:nvPr/>
        </p:nvSpPr>
        <p:spPr bwMode="auto">
          <a:xfrm>
            <a:off x="3671888" y="216217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6</a:t>
            </a:r>
          </a:p>
        </p:txBody>
      </p:sp>
      <p:sp>
        <p:nvSpPr>
          <p:cNvPr id="69663" name="Line 1070"/>
          <p:cNvSpPr>
            <a:spLocks noChangeShapeType="1"/>
          </p:cNvSpPr>
          <p:nvPr/>
        </p:nvSpPr>
        <p:spPr bwMode="auto">
          <a:xfrm flipH="1">
            <a:off x="2927350" y="1201738"/>
            <a:ext cx="630238" cy="968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9664" name="Line 1071"/>
          <p:cNvSpPr>
            <a:spLocks noChangeShapeType="1"/>
          </p:cNvSpPr>
          <p:nvPr/>
        </p:nvSpPr>
        <p:spPr bwMode="auto">
          <a:xfrm>
            <a:off x="3829050" y="1150938"/>
            <a:ext cx="273050" cy="25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9665" name="Line 1072"/>
          <p:cNvSpPr>
            <a:spLocks noChangeShapeType="1"/>
          </p:cNvSpPr>
          <p:nvPr/>
        </p:nvSpPr>
        <p:spPr bwMode="auto">
          <a:xfrm>
            <a:off x="4391025" y="1762125"/>
            <a:ext cx="220663" cy="4079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9666" name="Line 1073"/>
          <p:cNvSpPr>
            <a:spLocks noChangeShapeType="1"/>
          </p:cNvSpPr>
          <p:nvPr/>
        </p:nvSpPr>
        <p:spPr bwMode="auto">
          <a:xfrm flipH="1">
            <a:off x="3879850" y="1762125"/>
            <a:ext cx="306388" cy="4079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9667" name="Line 1074"/>
          <p:cNvSpPr>
            <a:spLocks noChangeShapeType="1"/>
          </p:cNvSpPr>
          <p:nvPr/>
        </p:nvSpPr>
        <p:spPr bwMode="auto">
          <a:xfrm flipH="1">
            <a:off x="4168775" y="2595563"/>
            <a:ext cx="442913" cy="952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9668" name="Line 1075"/>
          <p:cNvSpPr>
            <a:spLocks noChangeShapeType="1"/>
          </p:cNvSpPr>
          <p:nvPr/>
        </p:nvSpPr>
        <p:spPr bwMode="auto">
          <a:xfrm>
            <a:off x="3897313" y="2630488"/>
            <a:ext cx="101600" cy="9001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9669" name="Line 1076"/>
          <p:cNvSpPr>
            <a:spLocks noChangeShapeType="1"/>
          </p:cNvSpPr>
          <p:nvPr/>
        </p:nvSpPr>
        <p:spPr bwMode="auto">
          <a:xfrm flipH="1">
            <a:off x="3386138" y="2595563"/>
            <a:ext cx="374650" cy="4587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9670" name="Line 1077"/>
          <p:cNvSpPr>
            <a:spLocks noChangeShapeType="1"/>
          </p:cNvSpPr>
          <p:nvPr/>
        </p:nvSpPr>
        <p:spPr bwMode="auto">
          <a:xfrm>
            <a:off x="2909888" y="2630488"/>
            <a:ext cx="290512" cy="4238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9671" name="Line 1078"/>
          <p:cNvSpPr>
            <a:spLocks noChangeShapeType="1"/>
          </p:cNvSpPr>
          <p:nvPr/>
        </p:nvSpPr>
        <p:spPr bwMode="auto">
          <a:xfrm>
            <a:off x="3436938" y="3429000"/>
            <a:ext cx="407987" cy="2047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9672" name="Rectangle 1079"/>
          <p:cNvSpPr>
            <a:spLocks noChangeArrowheads="1"/>
          </p:cNvSpPr>
          <p:nvPr/>
        </p:nvSpPr>
        <p:spPr bwMode="auto">
          <a:xfrm>
            <a:off x="3924300" y="993775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28</a:t>
            </a:r>
          </a:p>
        </p:txBody>
      </p:sp>
      <p:sp>
        <p:nvSpPr>
          <p:cNvPr id="69673" name="Rectangle 1080"/>
          <p:cNvSpPr>
            <a:spLocks noChangeArrowheads="1"/>
          </p:cNvSpPr>
          <p:nvPr/>
        </p:nvSpPr>
        <p:spPr bwMode="auto">
          <a:xfrm>
            <a:off x="4467225" y="170656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16</a:t>
            </a:r>
          </a:p>
        </p:txBody>
      </p:sp>
      <p:sp>
        <p:nvSpPr>
          <p:cNvPr id="69674" name="Rectangle 1081"/>
          <p:cNvSpPr>
            <a:spLocks noChangeArrowheads="1"/>
          </p:cNvSpPr>
          <p:nvPr/>
        </p:nvSpPr>
        <p:spPr bwMode="auto">
          <a:xfrm>
            <a:off x="4348163" y="293211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12</a:t>
            </a:r>
          </a:p>
        </p:txBody>
      </p:sp>
      <p:sp>
        <p:nvSpPr>
          <p:cNvPr id="69675" name="Rectangle 1082"/>
          <p:cNvSpPr>
            <a:spLocks noChangeArrowheads="1"/>
          </p:cNvSpPr>
          <p:nvPr/>
        </p:nvSpPr>
        <p:spPr bwMode="auto">
          <a:xfrm>
            <a:off x="3889375" y="288131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18</a:t>
            </a:r>
          </a:p>
        </p:txBody>
      </p:sp>
      <p:sp>
        <p:nvSpPr>
          <p:cNvPr id="69676" name="Rectangle 1083"/>
          <p:cNvSpPr>
            <a:spLocks noChangeArrowheads="1"/>
          </p:cNvSpPr>
          <p:nvPr/>
        </p:nvSpPr>
        <p:spPr bwMode="auto">
          <a:xfrm>
            <a:off x="3225800" y="255746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24</a:t>
            </a:r>
          </a:p>
        </p:txBody>
      </p:sp>
      <p:sp>
        <p:nvSpPr>
          <p:cNvPr id="69677" name="Rectangle 1084"/>
          <p:cNvSpPr>
            <a:spLocks noChangeArrowheads="1"/>
          </p:cNvSpPr>
          <p:nvPr/>
        </p:nvSpPr>
        <p:spPr bwMode="auto">
          <a:xfrm>
            <a:off x="3292475" y="349250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22</a:t>
            </a:r>
          </a:p>
        </p:txBody>
      </p:sp>
      <p:sp>
        <p:nvSpPr>
          <p:cNvPr id="69678" name="Rectangle 1085"/>
          <p:cNvSpPr>
            <a:spLocks noChangeArrowheads="1"/>
          </p:cNvSpPr>
          <p:nvPr/>
        </p:nvSpPr>
        <p:spPr bwMode="auto">
          <a:xfrm>
            <a:off x="2665413" y="270986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25</a:t>
            </a:r>
          </a:p>
        </p:txBody>
      </p:sp>
      <p:sp>
        <p:nvSpPr>
          <p:cNvPr id="69679" name="Rectangle 1086"/>
          <p:cNvSpPr>
            <a:spLocks noChangeArrowheads="1"/>
          </p:cNvSpPr>
          <p:nvPr/>
        </p:nvSpPr>
        <p:spPr bwMode="auto">
          <a:xfrm>
            <a:off x="2886075" y="138430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10</a:t>
            </a:r>
          </a:p>
        </p:txBody>
      </p:sp>
      <p:sp>
        <p:nvSpPr>
          <p:cNvPr id="69680" name="Rectangle 1087"/>
          <p:cNvSpPr>
            <a:spLocks noChangeArrowheads="1"/>
          </p:cNvSpPr>
          <p:nvPr/>
        </p:nvSpPr>
        <p:spPr bwMode="auto">
          <a:xfrm>
            <a:off x="3668713" y="172561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852488" y="2892425"/>
            <a:ext cx="2154237" cy="3224213"/>
            <a:chOff x="526" y="1345"/>
            <a:chExt cx="1357" cy="2031"/>
          </a:xfrm>
        </p:grpSpPr>
        <p:sp>
          <p:nvSpPr>
            <p:cNvPr id="70730" name="Oval 4"/>
            <p:cNvSpPr>
              <a:spLocks noChangeArrowheads="1"/>
            </p:cNvSpPr>
            <p:nvPr/>
          </p:nvSpPr>
          <p:spPr bwMode="auto">
            <a:xfrm>
              <a:off x="1000" y="1345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0</a:t>
              </a:r>
            </a:p>
          </p:txBody>
        </p:sp>
        <p:sp>
          <p:nvSpPr>
            <p:cNvPr id="70731" name="Oval 5"/>
            <p:cNvSpPr>
              <a:spLocks noChangeArrowheads="1"/>
            </p:cNvSpPr>
            <p:nvPr/>
          </p:nvSpPr>
          <p:spPr bwMode="auto">
            <a:xfrm>
              <a:off x="1393" y="1718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1</a:t>
              </a:r>
            </a:p>
          </p:txBody>
        </p:sp>
        <p:sp>
          <p:nvSpPr>
            <p:cNvPr id="70732" name="Oval 6"/>
            <p:cNvSpPr>
              <a:spLocks noChangeArrowheads="1"/>
            </p:cNvSpPr>
            <p:nvPr/>
          </p:nvSpPr>
          <p:spPr bwMode="auto">
            <a:xfrm>
              <a:off x="1603" y="2243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2</a:t>
              </a:r>
            </a:p>
          </p:txBody>
        </p:sp>
        <p:sp>
          <p:nvSpPr>
            <p:cNvPr id="70733" name="Oval 7"/>
            <p:cNvSpPr>
              <a:spLocks noChangeArrowheads="1"/>
            </p:cNvSpPr>
            <p:nvPr/>
          </p:nvSpPr>
          <p:spPr bwMode="auto">
            <a:xfrm>
              <a:off x="1237" y="3096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3</a:t>
              </a:r>
            </a:p>
          </p:txBody>
        </p:sp>
        <p:sp>
          <p:nvSpPr>
            <p:cNvPr id="70734" name="Oval 8"/>
            <p:cNvSpPr>
              <a:spLocks noChangeArrowheads="1"/>
            </p:cNvSpPr>
            <p:nvPr/>
          </p:nvSpPr>
          <p:spPr bwMode="auto">
            <a:xfrm>
              <a:off x="752" y="2794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4</a:t>
              </a:r>
            </a:p>
          </p:txBody>
        </p:sp>
        <p:sp>
          <p:nvSpPr>
            <p:cNvPr id="70735" name="Oval 9"/>
            <p:cNvSpPr>
              <a:spLocks noChangeArrowheads="1"/>
            </p:cNvSpPr>
            <p:nvPr/>
          </p:nvSpPr>
          <p:spPr bwMode="auto">
            <a:xfrm>
              <a:off x="526" y="2252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5</a:t>
              </a:r>
            </a:p>
          </p:txBody>
        </p:sp>
        <p:sp>
          <p:nvSpPr>
            <p:cNvPr id="70736" name="Oval 10"/>
            <p:cNvSpPr>
              <a:spLocks noChangeArrowheads="1"/>
            </p:cNvSpPr>
            <p:nvPr/>
          </p:nvSpPr>
          <p:spPr bwMode="auto">
            <a:xfrm>
              <a:off x="1145" y="2239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6</a:t>
              </a:r>
            </a:p>
          </p:txBody>
        </p:sp>
      </p:grpSp>
      <p:sp>
        <p:nvSpPr>
          <p:cNvPr id="70659" name="Line 11"/>
          <p:cNvSpPr>
            <a:spLocks noChangeShapeType="1"/>
          </p:cNvSpPr>
          <p:nvPr/>
        </p:nvSpPr>
        <p:spPr bwMode="auto">
          <a:xfrm flipH="1">
            <a:off x="1076325" y="3336925"/>
            <a:ext cx="679450" cy="9858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660" name="Rectangle 12"/>
          <p:cNvSpPr>
            <a:spLocks noChangeArrowheads="1"/>
          </p:cNvSpPr>
          <p:nvPr/>
        </p:nvSpPr>
        <p:spPr bwMode="auto">
          <a:xfrm>
            <a:off x="1016000" y="356870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10</a:t>
            </a:r>
          </a:p>
        </p:txBody>
      </p:sp>
      <p:sp>
        <p:nvSpPr>
          <p:cNvPr id="70661" name="Line 13"/>
          <p:cNvSpPr>
            <a:spLocks noChangeShapeType="1"/>
          </p:cNvSpPr>
          <p:nvPr/>
        </p:nvSpPr>
        <p:spPr bwMode="auto">
          <a:xfrm>
            <a:off x="1093788" y="4783138"/>
            <a:ext cx="219075" cy="4746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662" name="Rectangle 14"/>
          <p:cNvSpPr>
            <a:spLocks noChangeArrowheads="1"/>
          </p:cNvSpPr>
          <p:nvPr/>
        </p:nvSpPr>
        <p:spPr bwMode="auto">
          <a:xfrm>
            <a:off x="742950" y="494506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25</a:t>
            </a:r>
          </a:p>
        </p:txBody>
      </p:sp>
      <p:sp>
        <p:nvSpPr>
          <p:cNvPr id="70663" name="Line 15"/>
          <p:cNvSpPr>
            <a:spLocks noChangeShapeType="1"/>
          </p:cNvSpPr>
          <p:nvPr/>
        </p:nvSpPr>
        <p:spPr bwMode="auto">
          <a:xfrm>
            <a:off x="1638300" y="5581650"/>
            <a:ext cx="338138" cy="203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664" name="Rectangle 16"/>
          <p:cNvSpPr>
            <a:spLocks noChangeArrowheads="1"/>
          </p:cNvSpPr>
          <p:nvPr/>
        </p:nvSpPr>
        <p:spPr bwMode="auto">
          <a:xfrm>
            <a:off x="1509713" y="562451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22</a:t>
            </a:r>
          </a:p>
        </p:txBody>
      </p:sp>
      <p:sp>
        <p:nvSpPr>
          <p:cNvPr id="70665" name="Line 17"/>
          <p:cNvSpPr>
            <a:spLocks noChangeShapeType="1"/>
          </p:cNvSpPr>
          <p:nvPr/>
        </p:nvSpPr>
        <p:spPr bwMode="auto">
          <a:xfrm flipH="1">
            <a:off x="2317750" y="4783138"/>
            <a:ext cx="423863" cy="900112"/>
          </a:xfrm>
          <a:prstGeom prst="line">
            <a:avLst/>
          </a:prstGeom>
          <a:noFill/>
          <a:ln w="12700">
            <a:solidFill>
              <a:srgbClr val="CC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666" name="Rectangle 18"/>
          <p:cNvSpPr>
            <a:spLocks noChangeArrowheads="1"/>
          </p:cNvSpPr>
          <p:nvPr/>
        </p:nvSpPr>
        <p:spPr bwMode="auto">
          <a:xfrm>
            <a:off x="2528888" y="5114925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12</a:t>
            </a:r>
          </a:p>
        </p:txBody>
      </p: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3624263" y="2874963"/>
            <a:ext cx="2154237" cy="3224212"/>
            <a:chOff x="2272" y="1334"/>
            <a:chExt cx="1357" cy="2031"/>
          </a:xfrm>
        </p:grpSpPr>
        <p:sp>
          <p:nvSpPr>
            <p:cNvPr id="70723" name="Oval 20"/>
            <p:cNvSpPr>
              <a:spLocks noChangeArrowheads="1"/>
            </p:cNvSpPr>
            <p:nvPr/>
          </p:nvSpPr>
          <p:spPr bwMode="auto">
            <a:xfrm>
              <a:off x="2746" y="1334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0</a:t>
              </a:r>
            </a:p>
          </p:txBody>
        </p:sp>
        <p:sp>
          <p:nvSpPr>
            <p:cNvPr id="70724" name="Oval 21"/>
            <p:cNvSpPr>
              <a:spLocks noChangeArrowheads="1"/>
            </p:cNvSpPr>
            <p:nvPr/>
          </p:nvSpPr>
          <p:spPr bwMode="auto">
            <a:xfrm>
              <a:off x="3139" y="1707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1</a:t>
              </a:r>
            </a:p>
          </p:txBody>
        </p:sp>
        <p:sp>
          <p:nvSpPr>
            <p:cNvPr id="70725" name="Oval 22"/>
            <p:cNvSpPr>
              <a:spLocks noChangeArrowheads="1"/>
            </p:cNvSpPr>
            <p:nvPr/>
          </p:nvSpPr>
          <p:spPr bwMode="auto">
            <a:xfrm>
              <a:off x="3349" y="2232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2</a:t>
              </a:r>
            </a:p>
          </p:txBody>
        </p:sp>
        <p:sp>
          <p:nvSpPr>
            <p:cNvPr id="70726" name="Oval 23"/>
            <p:cNvSpPr>
              <a:spLocks noChangeArrowheads="1"/>
            </p:cNvSpPr>
            <p:nvPr/>
          </p:nvSpPr>
          <p:spPr bwMode="auto">
            <a:xfrm>
              <a:off x="2983" y="3085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3</a:t>
              </a:r>
            </a:p>
          </p:txBody>
        </p:sp>
        <p:sp>
          <p:nvSpPr>
            <p:cNvPr id="70727" name="Oval 24"/>
            <p:cNvSpPr>
              <a:spLocks noChangeArrowheads="1"/>
            </p:cNvSpPr>
            <p:nvPr/>
          </p:nvSpPr>
          <p:spPr bwMode="auto">
            <a:xfrm>
              <a:off x="2498" y="2783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4</a:t>
              </a:r>
            </a:p>
          </p:txBody>
        </p:sp>
        <p:sp>
          <p:nvSpPr>
            <p:cNvPr id="70728" name="Oval 25"/>
            <p:cNvSpPr>
              <a:spLocks noChangeArrowheads="1"/>
            </p:cNvSpPr>
            <p:nvPr/>
          </p:nvSpPr>
          <p:spPr bwMode="auto">
            <a:xfrm>
              <a:off x="2272" y="2241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5</a:t>
              </a:r>
            </a:p>
          </p:txBody>
        </p:sp>
        <p:sp>
          <p:nvSpPr>
            <p:cNvPr id="70729" name="Oval 26"/>
            <p:cNvSpPr>
              <a:spLocks noChangeArrowheads="1"/>
            </p:cNvSpPr>
            <p:nvPr/>
          </p:nvSpPr>
          <p:spPr bwMode="auto">
            <a:xfrm>
              <a:off x="2891" y="2228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6</a:t>
              </a:r>
            </a:p>
          </p:txBody>
        </p:sp>
      </p:grpSp>
      <p:sp>
        <p:nvSpPr>
          <p:cNvPr id="70668" name="Line 27"/>
          <p:cNvSpPr>
            <a:spLocks noChangeShapeType="1"/>
          </p:cNvSpPr>
          <p:nvPr/>
        </p:nvSpPr>
        <p:spPr bwMode="auto">
          <a:xfrm flipH="1">
            <a:off x="3848100" y="3319463"/>
            <a:ext cx="679450" cy="9858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669" name="Rectangle 28"/>
          <p:cNvSpPr>
            <a:spLocks noChangeArrowheads="1"/>
          </p:cNvSpPr>
          <p:nvPr/>
        </p:nvSpPr>
        <p:spPr bwMode="auto">
          <a:xfrm>
            <a:off x="3787775" y="3551238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10</a:t>
            </a:r>
          </a:p>
        </p:txBody>
      </p:sp>
      <p:sp>
        <p:nvSpPr>
          <p:cNvPr id="70670" name="Line 29"/>
          <p:cNvSpPr>
            <a:spLocks noChangeShapeType="1"/>
          </p:cNvSpPr>
          <p:nvPr/>
        </p:nvSpPr>
        <p:spPr bwMode="auto">
          <a:xfrm>
            <a:off x="3865563" y="4765675"/>
            <a:ext cx="219075" cy="4746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671" name="Rectangle 30"/>
          <p:cNvSpPr>
            <a:spLocks noChangeArrowheads="1"/>
          </p:cNvSpPr>
          <p:nvPr/>
        </p:nvSpPr>
        <p:spPr bwMode="auto">
          <a:xfrm>
            <a:off x="3514725" y="492760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25</a:t>
            </a:r>
          </a:p>
        </p:txBody>
      </p:sp>
      <p:sp>
        <p:nvSpPr>
          <p:cNvPr id="70672" name="Line 31"/>
          <p:cNvSpPr>
            <a:spLocks noChangeShapeType="1"/>
          </p:cNvSpPr>
          <p:nvPr/>
        </p:nvSpPr>
        <p:spPr bwMode="auto">
          <a:xfrm>
            <a:off x="4410075" y="5564188"/>
            <a:ext cx="338138" cy="203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673" name="Rectangle 32"/>
          <p:cNvSpPr>
            <a:spLocks noChangeArrowheads="1"/>
          </p:cNvSpPr>
          <p:nvPr/>
        </p:nvSpPr>
        <p:spPr bwMode="auto">
          <a:xfrm>
            <a:off x="4281488" y="560705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22</a:t>
            </a:r>
          </a:p>
        </p:txBody>
      </p:sp>
      <p:sp>
        <p:nvSpPr>
          <p:cNvPr id="70674" name="Line 33"/>
          <p:cNvSpPr>
            <a:spLocks noChangeShapeType="1"/>
          </p:cNvSpPr>
          <p:nvPr/>
        </p:nvSpPr>
        <p:spPr bwMode="auto">
          <a:xfrm flipH="1">
            <a:off x="5089525" y="4765675"/>
            <a:ext cx="423863" cy="9001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675" name="Rectangle 34"/>
          <p:cNvSpPr>
            <a:spLocks noChangeArrowheads="1"/>
          </p:cNvSpPr>
          <p:nvPr/>
        </p:nvSpPr>
        <p:spPr bwMode="auto">
          <a:xfrm>
            <a:off x="5300663" y="509746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12</a:t>
            </a:r>
          </a:p>
        </p:txBody>
      </p:sp>
      <p:sp>
        <p:nvSpPr>
          <p:cNvPr id="70676" name="Line 35"/>
          <p:cNvSpPr>
            <a:spLocks noChangeShapeType="1"/>
          </p:cNvSpPr>
          <p:nvPr/>
        </p:nvSpPr>
        <p:spPr bwMode="auto">
          <a:xfrm flipH="1" flipV="1">
            <a:off x="5329238" y="3879850"/>
            <a:ext cx="236537" cy="406400"/>
          </a:xfrm>
          <a:prstGeom prst="line">
            <a:avLst/>
          </a:prstGeom>
          <a:noFill/>
          <a:ln w="12700">
            <a:solidFill>
              <a:srgbClr val="CC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677" name="Rectangle 36"/>
          <p:cNvSpPr>
            <a:spLocks noChangeArrowheads="1"/>
          </p:cNvSpPr>
          <p:nvPr/>
        </p:nvSpPr>
        <p:spPr bwMode="auto">
          <a:xfrm>
            <a:off x="5470525" y="382111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16</a:t>
            </a:r>
          </a:p>
        </p:txBody>
      </p:sp>
      <p:grpSp>
        <p:nvGrpSpPr>
          <p:cNvPr id="4" name="Group 37"/>
          <p:cNvGrpSpPr>
            <a:grpSpLocks/>
          </p:cNvGrpSpPr>
          <p:nvPr/>
        </p:nvGrpSpPr>
        <p:grpSpPr bwMode="auto">
          <a:xfrm>
            <a:off x="6600825" y="2874963"/>
            <a:ext cx="2154238" cy="3224212"/>
            <a:chOff x="4147" y="1334"/>
            <a:chExt cx="1357" cy="2031"/>
          </a:xfrm>
        </p:grpSpPr>
        <p:sp>
          <p:nvSpPr>
            <p:cNvPr id="70716" name="Oval 38"/>
            <p:cNvSpPr>
              <a:spLocks noChangeArrowheads="1"/>
            </p:cNvSpPr>
            <p:nvPr/>
          </p:nvSpPr>
          <p:spPr bwMode="auto">
            <a:xfrm>
              <a:off x="4621" y="1334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0</a:t>
              </a:r>
            </a:p>
          </p:txBody>
        </p:sp>
        <p:sp>
          <p:nvSpPr>
            <p:cNvPr id="70717" name="Oval 39"/>
            <p:cNvSpPr>
              <a:spLocks noChangeArrowheads="1"/>
            </p:cNvSpPr>
            <p:nvPr/>
          </p:nvSpPr>
          <p:spPr bwMode="auto">
            <a:xfrm>
              <a:off x="5014" y="1707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1</a:t>
              </a:r>
            </a:p>
          </p:txBody>
        </p:sp>
        <p:sp>
          <p:nvSpPr>
            <p:cNvPr id="70718" name="Oval 40"/>
            <p:cNvSpPr>
              <a:spLocks noChangeArrowheads="1"/>
            </p:cNvSpPr>
            <p:nvPr/>
          </p:nvSpPr>
          <p:spPr bwMode="auto">
            <a:xfrm>
              <a:off x="5224" y="2232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2</a:t>
              </a:r>
            </a:p>
          </p:txBody>
        </p:sp>
        <p:sp>
          <p:nvSpPr>
            <p:cNvPr id="70719" name="Oval 41"/>
            <p:cNvSpPr>
              <a:spLocks noChangeArrowheads="1"/>
            </p:cNvSpPr>
            <p:nvPr/>
          </p:nvSpPr>
          <p:spPr bwMode="auto">
            <a:xfrm>
              <a:off x="4858" y="3085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3</a:t>
              </a:r>
            </a:p>
          </p:txBody>
        </p:sp>
        <p:sp>
          <p:nvSpPr>
            <p:cNvPr id="70720" name="Oval 42"/>
            <p:cNvSpPr>
              <a:spLocks noChangeArrowheads="1"/>
            </p:cNvSpPr>
            <p:nvPr/>
          </p:nvSpPr>
          <p:spPr bwMode="auto">
            <a:xfrm>
              <a:off x="4373" y="2783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4</a:t>
              </a:r>
            </a:p>
          </p:txBody>
        </p:sp>
        <p:sp>
          <p:nvSpPr>
            <p:cNvPr id="70721" name="Oval 43"/>
            <p:cNvSpPr>
              <a:spLocks noChangeArrowheads="1"/>
            </p:cNvSpPr>
            <p:nvPr/>
          </p:nvSpPr>
          <p:spPr bwMode="auto">
            <a:xfrm>
              <a:off x="4147" y="2241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5</a:t>
              </a:r>
            </a:p>
          </p:txBody>
        </p:sp>
        <p:sp>
          <p:nvSpPr>
            <p:cNvPr id="70722" name="Oval 44"/>
            <p:cNvSpPr>
              <a:spLocks noChangeArrowheads="1"/>
            </p:cNvSpPr>
            <p:nvPr/>
          </p:nvSpPr>
          <p:spPr bwMode="auto">
            <a:xfrm>
              <a:off x="4766" y="2228"/>
              <a:ext cx="280" cy="2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/>
              <a:r>
                <a:rPr lang="en-US" altLang="zh-TW" sz="2800">
                  <a:solidFill>
                    <a:schemeClr val="tx1"/>
                  </a:solidFill>
                  <a:ea typeface="PMingLiU" pitchFamily="18" charset="-120"/>
                </a:rPr>
                <a:t>6</a:t>
              </a:r>
            </a:p>
          </p:txBody>
        </p:sp>
      </p:grpSp>
      <p:sp>
        <p:nvSpPr>
          <p:cNvPr id="70679" name="Line 45"/>
          <p:cNvSpPr>
            <a:spLocks noChangeShapeType="1"/>
          </p:cNvSpPr>
          <p:nvPr/>
        </p:nvSpPr>
        <p:spPr bwMode="auto">
          <a:xfrm flipH="1">
            <a:off x="6824663" y="3319463"/>
            <a:ext cx="679450" cy="9858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680" name="Rectangle 46"/>
          <p:cNvSpPr>
            <a:spLocks noChangeArrowheads="1"/>
          </p:cNvSpPr>
          <p:nvPr/>
        </p:nvSpPr>
        <p:spPr bwMode="auto">
          <a:xfrm>
            <a:off x="6764338" y="3551238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10</a:t>
            </a:r>
          </a:p>
        </p:txBody>
      </p:sp>
      <p:sp>
        <p:nvSpPr>
          <p:cNvPr id="70681" name="Line 47"/>
          <p:cNvSpPr>
            <a:spLocks noChangeShapeType="1"/>
          </p:cNvSpPr>
          <p:nvPr/>
        </p:nvSpPr>
        <p:spPr bwMode="auto">
          <a:xfrm>
            <a:off x="6842125" y="4765675"/>
            <a:ext cx="219075" cy="4746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682" name="Rectangle 48"/>
          <p:cNvSpPr>
            <a:spLocks noChangeArrowheads="1"/>
          </p:cNvSpPr>
          <p:nvPr/>
        </p:nvSpPr>
        <p:spPr bwMode="auto">
          <a:xfrm>
            <a:off x="6491288" y="492760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25</a:t>
            </a:r>
          </a:p>
        </p:txBody>
      </p:sp>
      <p:sp>
        <p:nvSpPr>
          <p:cNvPr id="70683" name="Line 49"/>
          <p:cNvSpPr>
            <a:spLocks noChangeShapeType="1"/>
          </p:cNvSpPr>
          <p:nvPr/>
        </p:nvSpPr>
        <p:spPr bwMode="auto">
          <a:xfrm>
            <a:off x="7386638" y="5564188"/>
            <a:ext cx="338137" cy="203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684" name="Rectangle 50"/>
          <p:cNvSpPr>
            <a:spLocks noChangeArrowheads="1"/>
          </p:cNvSpPr>
          <p:nvPr/>
        </p:nvSpPr>
        <p:spPr bwMode="auto">
          <a:xfrm>
            <a:off x="7258050" y="560705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22</a:t>
            </a:r>
          </a:p>
        </p:txBody>
      </p:sp>
      <p:sp>
        <p:nvSpPr>
          <p:cNvPr id="70685" name="Line 51"/>
          <p:cNvSpPr>
            <a:spLocks noChangeShapeType="1"/>
          </p:cNvSpPr>
          <p:nvPr/>
        </p:nvSpPr>
        <p:spPr bwMode="auto">
          <a:xfrm flipH="1">
            <a:off x="8066088" y="4765675"/>
            <a:ext cx="423862" cy="9001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686" name="Rectangle 52"/>
          <p:cNvSpPr>
            <a:spLocks noChangeArrowheads="1"/>
          </p:cNvSpPr>
          <p:nvPr/>
        </p:nvSpPr>
        <p:spPr bwMode="auto">
          <a:xfrm>
            <a:off x="8277225" y="509746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12</a:t>
            </a:r>
          </a:p>
        </p:txBody>
      </p:sp>
      <p:sp>
        <p:nvSpPr>
          <p:cNvPr id="70687" name="Line 53"/>
          <p:cNvSpPr>
            <a:spLocks noChangeShapeType="1"/>
          </p:cNvSpPr>
          <p:nvPr/>
        </p:nvSpPr>
        <p:spPr bwMode="auto">
          <a:xfrm flipH="1" flipV="1">
            <a:off x="8305800" y="3879850"/>
            <a:ext cx="236538" cy="40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688" name="Rectangle 54"/>
          <p:cNvSpPr>
            <a:spLocks noChangeArrowheads="1"/>
          </p:cNvSpPr>
          <p:nvPr/>
        </p:nvSpPr>
        <p:spPr bwMode="auto">
          <a:xfrm>
            <a:off x="8447088" y="382111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16</a:t>
            </a:r>
          </a:p>
        </p:txBody>
      </p:sp>
      <p:sp>
        <p:nvSpPr>
          <p:cNvPr id="70689" name="Line 55"/>
          <p:cNvSpPr>
            <a:spLocks noChangeShapeType="1"/>
          </p:cNvSpPr>
          <p:nvPr/>
        </p:nvSpPr>
        <p:spPr bwMode="auto">
          <a:xfrm flipH="1">
            <a:off x="7796213" y="3898900"/>
            <a:ext cx="269875" cy="406400"/>
          </a:xfrm>
          <a:prstGeom prst="line">
            <a:avLst/>
          </a:prstGeom>
          <a:noFill/>
          <a:ln w="12700">
            <a:solidFill>
              <a:srgbClr val="CC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690" name="Rectangle 56"/>
          <p:cNvSpPr>
            <a:spLocks noChangeArrowheads="1"/>
          </p:cNvSpPr>
          <p:nvPr/>
        </p:nvSpPr>
        <p:spPr bwMode="auto">
          <a:xfrm>
            <a:off x="7527925" y="3836988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14</a:t>
            </a:r>
          </a:p>
        </p:txBody>
      </p:sp>
      <p:sp>
        <p:nvSpPr>
          <p:cNvPr id="70691" name="Oval 57"/>
          <p:cNvSpPr>
            <a:spLocks noChangeArrowheads="1"/>
          </p:cNvSpPr>
          <p:nvPr/>
        </p:nvSpPr>
        <p:spPr bwMode="auto">
          <a:xfrm>
            <a:off x="3106738" y="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70692" name="Oval 58"/>
          <p:cNvSpPr>
            <a:spLocks noChangeArrowheads="1"/>
          </p:cNvSpPr>
          <p:nvPr/>
        </p:nvSpPr>
        <p:spPr bwMode="auto">
          <a:xfrm>
            <a:off x="3730625" y="59213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70693" name="Oval 59"/>
          <p:cNvSpPr>
            <a:spLocks noChangeArrowheads="1"/>
          </p:cNvSpPr>
          <p:nvPr/>
        </p:nvSpPr>
        <p:spPr bwMode="auto">
          <a:xfrm>
            <a:off x="4064000" y="142557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70694" name="Oval 60"/>
          <p:cNvSpPr>
            <a:spLocks noChangeArrowheads="1"/>
          </p:cNvSpPr>
          <p:nvPr/>
        </p:nvSpPr>
        <p:spPr bwMode="auto">
          <a:xfrm>
            <a:off x="3482975" y="277971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70695" name="Oval 61"/>
          <p:cNvSpPr>
            <a:spLocks noChangeArrowheads="1"/>
          </p:cNvSpPr>
          <p:nvPr/>
        </p:nvSpPr>
        <p:spPr bwMode="auto">
          <a:xfrm>
            <a:off x="2713038" y="230028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70696" name="Oval 62"/>
          <p:cNvSpPr>
            <a:spLocks noChangeArrowheads="1"/>
          </p:cNvSpPr>
          <p:nvPr/>
        </p:nvSpPr>
        <p:spPr bwMode="auto">
          <a:xfrm>
            <a:off x="2354263" y="143986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70697" name="Oval 63"/>
          <p:cNvSpPr>
            <a:spLocks noChangeArrowheads="1"/>
          </p:cNvSpPr>
          <p:nvPr/>
        </p:nvSpPr>
        <p:spPr bwMode="auto">
          <a:xfrm>
            <a:off x="3336925" y="141922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6</a:t>
            </a:r>
          </a:p>
        </p:txBody>
      </p:sp>
      <p:sp>
        <p:nvSpPr>
          <p:cNvPr id="70698" name="Line 64"/>
          <p:cNvSpPr>
            <a:spLocks noChangeShapeType="1"/>
          </p:cNvSpPr>
          <p:nvPr/>
        </p:nvSpPr>
        <p:spPr bwMode="auto">
          <a:xfrm flipH="1">
            <a:off x="2592388" y="458788"/>
            <a:ext cx="630237" cy="968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699" name="Line 65"/>
          <p:cNvSpPr>
            <a:spLocks noChangeShapeType="1"/>
          </p:cNvSpPr>
          <p:nvPr/>
        </p:nvSpPr>
        <p:spPr bwMode="auto">
          <a:xfrm>
            <a:off x="3494088" y="407988"/>
            <a:ext cx="273050" cy="25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700" name="Line 66"/>
          <p:cNvSpPr>
            <a:spLocks noChangeShapeType="1"/>
          </p:cNvSpPr>
          <p:nvPr/>
        </p:nvSpPr>
        <p:spPr bwMode="auto">
          <a:xfrm>
            <a:off x="4056063" y="1019175"/>
            <a:ext cx="220662" cy="4079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701" name="Line 67"/>
          <p:cNvSpPr>
            <a:spLocks noChangeShapeType="1"/>
          </p:cNvSpPr>
          <p:nvPr/>
        </p:nvSpPr>
        <p:spPr bwMode="auto">
          <a:xfrm flipH="1">
            <a:off x="3544888" y="1019175"/>
            <a:ext cx="306387" cy="4079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702" name="Line 68"/>
          <p:cNvSpPr>
            <a:spLocks noChangeShapeType="1"/>
          </p:cNvSpPr>
          <p:nvPr/>
        </p:nvSpPr>
        <p:spPr bwMode="auto">
          <a:xfrm flipH="1">
            <a:off x="3833813" y="1852613"/>
            <a:ext cx="442912" cy="952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703" name="Line 69"/>
          <p:cNvSpPr>
            <a:spLocks noChangeShapeType="1"/>
          </p:cNvSpPr>
          <p:nvPr/>
        </p:nvSpPr>
        <p:spPr bwMode="auto">
          <a:xfrm>
            <a:off x="3562350" y="1887538"/>
            <a:ext cx="101600" cy="9001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704" name="Line 70"/>
          <p:cNvSpPr>
            <a:spLocks noChangeShapeType="1"/>
          </p:cNvSpPr>
          <p:nvPr/>
        </p:nvSpPr>
        <p:spPr bwMode="auto">
          <a:xfrm flipH="1">
            <a:off x="3051175" y="1852613"/>
            <a:ext cx="374650" cy="4587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705" name="Line 71"/>
          <p:cNvSpPr>
            <a:spLocks noChangeShapeType="1"/>
          </p:cNvSpPr>
          <p:nvPr/>
        </p:nvSpPr>
        <p:spPr bwMode="auto">
          <a:xfrm>
            <a:off x="2574925" y="1887538"/>
            <a:ext cx="290513" cy="4238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706" name="Line 72"/>
          <p:cNvSpPr>
            <a:spLocks noChangeShapeType="1"/>
          </p:cNvSpPr>
          <p:nvPr/>
        </p:nvSpPr>
        <p:spPr bwMode="auto">
          <a:xfrm>
            <a:off x="3101975" y="2686050"/>
            <a:ext cx="407988" cy="2047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707" name="Rectangle 73"/>
          <p:cNvSpPr>
            <a:spLocks noChangeArrowheads="1"/>
          </p:cNvSpPr>
          <p:nvPr/>
        </p:nvSpPr>
        <p:spPr bwMode="auto">
          <a:xfrm>
            <a:off x="3589338" y="250825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28</a:t>
            </a:r>
          </a:p>
        </p:txBody>
      </p:sp>
      <p:sp>
        <p:nvSpPr>
          <p:cNvPr id="70708" name="Rectangle 74"/>
          <p:cNvSpPr>
            <a:spLocks noChangeArrowheads="1"/>
          </p:cNvSpPr>
          <p:nvPr/>
        </p:nvSpPr>
        <p:spPr bwMode="auto">
          <a:xfrm>
            <a:off x="4132263" y="96361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16</a:t>
            </a:r>
          </a:p>
        </p:txBody>
      </p:sp>
      <p:sp>
        <p:nvSpPr>
          <p:cNvPr id="70709" name="Rectangle 75"/>
          <p:cNvSpPr>
            <a:spLocks noChangeArrowheads="1"/>
          </p:cNvSpPr>
          <p:nvPr/>
        </p:nvSpPr>
        <p:spPr bwMode="auto">
          <a:xfrm>
            <a:off x="4013200" y="218916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12</a:t>
            </a:r>
          </a:p>
        </p:txBody>
      </p:sp>
      <p:sp>
        <p:nvSpPr>
          <p:cNvPr id="70710" name="Rectangle 76"/>
          <p:cNvSpPr>
            <a:spLocks noChangeArrowheads="1"/>
          </p:cNvSpPr>
          <p:nvPr/>
        </p:nvSpPr>
        <p:spPr bwMode="auto">
          <a:xfrm>
            <a:off x="3554413" y="213836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18</a:t>
            </a:r>
          </a:p>
        </p:txBody>
      </p:sp>
      <p:sp>
        <p:nvSpPr>
          <p:cNvPr id="70711" name="Rectangle 77"/>
          <p:cNvSpPr>
            <a:spLocks noChangeArrowheads="1"/>
          </p:cNvSpPr>
          <p:nvPr/>
        </p:nvSpPr>
        <p:spPr bwMode="auto">
          <a:xfrm>
            <a:off x="2890838" y="181451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24</a:t>
            </a:r>
          </a:p>
        </p:txBody>
      </p:sp>
      <p:sp>
        <p:nvSpPr>
          <p:cNvPr id="70712" name="Rectangle 78"/>
          <p:cNvSpPr>
            <a:spLocks noChangeArrowheads="1"/>
          </p:cNvSpPr>
          <p:nvPr/>
        </p:nvSpPr>
        <p:spPr bwMode="auto">
          <a:xfrm>
            <a:off x="2957513" y="274955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22</a:t>
            </a:r>
          </a:p>
        </p:txBody>
      </p:sp>
      <p:sp>
        <p:nvSpPr>
          <p:cNvPr id="70713" name="Rectangle 79"/>
          <p:cNvSpPr>
            <a:spLocks noChangeArrowheads="1"/>
          </p:cNvSpPr>
          <p:nvPr/>
        </p:nvSpPr>
        <p:spPr bwMode="auto">
          <a:xfrm>
            <a:off x="2330450" y="196691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25</a:t>
            </a:r>
          </a:p>
        </p:txBody>
      </p:sp>
      <p:sp>
        <p:nvSpPr>
          <p:cNvPr id="70714" name="Rectangle 80"/>
          <p:cNvSpPr>
            <a:spLocks noChangeArrowheads="1"/>
          </p:cNvSpPr>
          <p:nvPr/>
        </p:nvSpPr>
        <p:spPr bwMode="auto">
          <a:xfrm>
            <a:off x="2551113" y="64135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10</a:t>
            </a:r>
          </a:p>
        </p:txBody>
      </p:sp>
      <p:sp>
        <p:nvSpPr>
          <p:cNvPr id="70715" name="Rectangle 81"/>
          <p:cNvSpPr>
            <a:spLocks noChangeArrowheads="1"/>
          </p:cNvSpPr>
          <p:nvPr/>
        </p:nvSpPr>
        <p:spPr bwMode="auto">
          <a:xfrm>
            <a:off x="3333750" y="98266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927100" y="1463675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TW" sz="2400" b="1" u="sng" smtClean="0"/>
              <a:t>*Figure 6.29: </a:t>
            </a:r>
            <a:r>
              <a:rPr lang="en-US" altLang="zh-TW" sz="2400" u="sng" smtClean="0"/>
              <a:t>Graph and shortest paths from </a:t>
            </a:r>
            <a:r>
              <a:rPr lang="en-US" altLang="zh-TW" sz="2400" i="1" u="sng" smtClean="0"/>
              <a:t>v</a:t>
            </a:r>
            <a:r>
              <a:rPr lang="en-US" altLang="zh-TW" sz="2400" i="1" baseline="-25000" smtClean="0"/>
              <a:t>0 </a:t>
            </a:r>
            <a:r>
              <a:rPr lang="en-US" altLang="zh-TW" sz="2400" i="1" u="sng" smtClean="0"/>
              <a:t>(</a:t>
            </a:r>
            <a:r>
              <a:rPr lang="en-US" altLang="zh-TW" sz="2400" u="sng" smtClean="0"/>
              <a:t>p.293)</a:t>
            </a:r>
            <a:endParaRPr lang="en-US" altLang="zh-TW" sz="2400" b="1" u="sng" smtClean="0"/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1130300" y="2655888"/>
            <a:ext cx="4670425" cy="3760787"/>
            <a:chOff x="262" y="835"/>
            <a:chExt cx="2942" cy="2369"/>
          </a:xfrm>
        </p:grpSpPr>
        <p:grpSp>
          <p:nvGrpSpPr>
            <p:cNvPr id="3" name="Group 22"/>
            <p:cNvGrpSpPr>
              <a:grpSpLocks/>
            </p:cNvGrpSpPr>
            <p:nvPr/>
          </p:nvGrpSpPr>
          <p:grpSpPr bwMode="auto">
            <a:xfrm>
              <a:off x="576" y="1368"/>
              <a:ext cx="2628" cy="1380"/>
              <a:chOff x="852" y="1380"/>
              <a:chExt cx="2628" cy="1380"/>
            </a:xfrm>
          </p:grpSpPr>
          <p:sp>
            <p:nvSpPr>
              <p:cNvPr id="71697" name="Oval 3"/>
              <p:cNvSpPr>
                <a:spLocks noChangeArrowheads="1"/>
              </p:cNvSpPr>
              <p:nvPr/>
            </p:nvSpPr>
            <p:spPr bwMode="auto">
              <a:xfrm>
                <a:off x="888" y="1380"/>
                <a:ext cx="348" cy="33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>
                    <a:solidFill>
                      <a:schemeClr val="tx1"/>
                    </a:solidFill>
                    <a:ea typeface="PMingLiU" pitchFamily="18" charset="-120"/>
                  </a:rPr>
                  <a:t>V</a:t>
                </a:r>
                <a:r>
                  <a:rPr lang="en-US" altLang="zh-TW" sz="2400" baseline="-25000">
                    <a:solidFill>
                      <a:schemeClr val="tx1"/>
                    </a:solidFill>
                    <a:ea typeface="PMingLiU" pitchFamily="18" charset="-120"/>
                  </a:rPr>
                  <a:t>0</a:t>
                </a:r>
                <a:endParaRPr lang="en-US" altLang="zh-TW" sz="2400">
                  <a:solidFill>
                    <a:schemeClr val="tx1"/>
                  </a:solidFill>
                  <a:ea typeface="PMingLiU" pitchFamily="18" charset="-120"/>
                </a:endParaRPr>
              </a:p>
            </p:txBody>
          </p:sp>
          <p:sp>
            <p:nvSpPr>
              <p:cNvPr id="71698" name="Oval 6"/>
              <p:cNvSpPr>
                <a:spLocks noChangeArrowheads="1"/>
              </p:cNvSpPr>
              <p:nvPr/>
            </p:nvSpPr>
            <p:spPr bwMode="auto">
              <a:xfrm>
                <a:off x="3132" y="1404"/>
                <a:ext cx="348" cy="33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>
                    <a:solidFill>
                      <a:schemeClr val="tx1"/>
                    </a:solidFill>
                    <a:ea typeface="PMingLiU" pitchFamily="18" charset="-120"/>
                  </a:rPr>
                  <a:t>V</a:t>
                </a:r>
                <a:r>
                  <a:rPr lang="en-US" altLang="zh-TW" sz="2400" baseline="-25000">
                    <a:solidFill>
                      <a:schemeClr val="tx1"/>
                    </a:solidFill>
                    <a:ea typeface="PMingLiU" pitchFamily="18" charset="-120"/>
                  </a:rPr>
                  <a:t>4</a:t>
                </a:r>
                <a:endParaRPr lang="en-US" altLang="zh-TW" sz="2400">
                  <a:solidFill>
                    <a:schemeClr val="tx1"/>
                  </a:solidFill>
                  <a:ea typeface="PMingLiU" pitchFamily="18" charset="-120"/>
                </a:endParaRPr>
              </a:p>
            </p:txBody>
          </p:sp>
          <p:sp>
            <p:nvSpPr>
              <p:cNvPr id="71699" name="Oval 7"/>
              <p:cNvSpPr>
                <a:spLocks noChangeArrowheads="1"/>
              </p:cNvSpPr>
              <p:nvPr/>
            </p:nvSpPr>
            <p:spPr bwMode="auto">
              <a:xfrm>
                <a:off x="2004" y="1392"/>
                <a:ext cx="348" cy="33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>
                    <a:solidFill>
                      <a:schemeClr val="tx1"/>
                    </a:solidFill>
                    <a:ea typeface="PMingLiU" pitchFamily="18" charset="-120"/>
                  </a:rPr>
                  <a:t>V</a:t>
                </a:r>
                <a:r>
                  <a:rPr lang="en-US" altLang="zh-TW" sz="2400" baseline="-25000">
                    <a:solidFill>
                      <a:schemeClr val="tx1"/>
                    </a:solidFill>
                    <a:ea typeface="PMingLiU" pitchFamily="18" charset="-120"/>
                  </a:rPr>
                  <a:t>1</a:t>
                </a:r>
                <a:endParaRPr lang="en-US" altLang="zh-TW" sz="2400">
                  <a:solidFill>
                    <a:schemeClr val="tx1"/>
                  </a:solidFill>
                  <a:ea typeface="PMingLiU" pitchFamily="18" charset="-120"/>
                </a:endParaRPr>
              </a:p>
            </p:txBody>
          </p:sp>
          <p:sp>
            <p:nvSpPr>
              <p:cNvPr id="71700" name="Oval 8"/>
              <p:cNvSpPr>
                <a:spLocks noChangeArrowheads="1"/>
              </p:cNvSpPr>
              <p:nvPr/>
            </p:nvSpPr>
            <p:spPr bwMode="auto">
              <a:xfrm>
                <a:off x="3120" y="2424"/>
                <a:ext cx="348" cy="33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>
                    <a:solidFill>
                      <a:schemeClr val="tx1"/>
                    </a:solidFill>
                    <a:ea typeface="PMingLiU" pitchFamily="18" charset="-120"/>
                  </a:rPr>
                  <a:t>V</a:t>
                </a:r>
                <a:r>
                  <a:rPr lang="en-US" altLang="zh-TW" sz="2400" baseline="-25000">
                    <a:solidFill>
                      <a:schemeClr val="tx1"/>
                    </a:solidFill>
                    <a:ea typeface="PMingLiU" pitchFamily="18" charset="-120"/>
                  </a:rPr>
                  <a:t>5</a:t>
                </a:r>
                <a:endParaRPr lang="en-US" altLang="zh-TW" sz="2400">
                  <a:solidFill>
                    <a:schemeClr val="tx1"/>
                  </a:solidFill>
                  <a:ea typeface="PMingLiU" pitchFamily="18" charset="-120"/>
                </a:endParaRPr>
              </a:p>
            </p:txBody>
          </p:sp>
          <p:sp>
            <p:nvSpPr>
              <p:cNvPr id="71701" name="Oval 9"/>
              <p:cNvSpPr>
                <a:spLocks noChangeArrowheads="1"/>
              </p:cNvSpPr>
              <p:nvPr/>
            </p:nvSpPr>
            <p:spPr bwMode="auto">
              <a:xfrm>
                <a:off x="1992" y="2424"/>
                <a:ext cx="348" cy="33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>
                    <a:solidFill>
                      <a:schemeClr val="tx1"/>
                    </a:solidFill>
                    <a:ea typeface="PMingLiU" pitchFamily="18" charset="-120"/>
                  </a:rPr>
                  <a:t>V</a:t>
                </a:r>
                <a:r>
                  <a:rPr lang="en-US" altLang="zh-TW" sz="2400" baseline="-25000">
                    <a:solidFill>
                      <a:schemeClr val="tx1"/>
                    </a:solidFill>
                    <a:ea typeface="PMingLiU" pitchFamily="18" charset="-120"/>
                  </a:rPr>
                  <a:t>3</a:t>
                </a:r>
                <a:endParaRPr lang="en-US" altLang="zh-TW" sz="2400">
                  <a:solidFill>
                    <a:schemeClr val="tx1"/>
                  </a:solidFill>
                  <a:ea typeface="PMingLiU" pitchFamily="18" charset="-120"/>
                </a:endParaRPr>
              </a:p>
            </p:txBody>
          </p:sp>
          <p:sp>
            <p:nvSpPr>
              <p:cNvPr id="71702" name="Oval 10"/>
              <p:cNvSpPr>
                <a:spLocks noChangeArrowheads="1"/>
              </p:cNvSpPr>
              <p:nvPr/>
            </p:nvSpPr>
            <p:spPr bwMode="auto">
              <a:xfrm>
                <a:off x="888" y="2400"/>
                <a:ext cx="348" cy="33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TW" sz="2400">
                    <a:solidFill>
                      <a:schemeClr val="tx1"/>
                    </a:solidFill>
                    <a:ea typeface="PMingLiU" pitchFamily="18" charset="-120"/>
                  </a:rPr>
                  <a:t>V</a:t>
                </a:r>
                <a:r>
                  <a:rPr lang="en-US" altLang="zh-TW" sz="2400" baseline="-25000">
                    <a:solidFill>
                      <a:schemeClr val="tx1"/>
                    </a:solidFill>
                    <a:ea typeface="PMingLiU" pitchFamily="18" charset="-120"/>
                  </a:rPr>
                  <a:t>2</a:t>
                </a:r>
                <a:endParaRPr lang="en-US" altLang="zh-TW" sz="2400">
                  <a:solidFill>
                    <a:schemeClr val="tx1"/>
                  </a:solidFill>
                  <a:ea typeface="PMingLiU" pitchFamily="18" charset="-120"/>
                </a:endParaRPr>
              </a:p>
            </p:txBody>
          </p:sp>
          <p:sp>
            <p:nvSpPr>
              <p:cNvPr id="71703" name="Line 11"/>
              <p:cNvSpPr>
                <a:spLocks noChangeShapeType="1"/>
              </p:cNvSpPr>
              <p:nvPr/>
            </p:nvSpPr>
            <p:spPr bwMode="auto">
              <a:xfrm>
                <a:off x="1236" y="1536"/>
                <a:ext cx="7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04" name="Line 12"/>
              <p:cNvSpPr>
                <a:spLocks noChangeShapeType="1"/>
              </p:cNvSpPr>
              <p:nvPr/>
            </p:nvSpPr>
            <p:spPr bwMode="auto">
              <a:xfrm>
                <a:off x="2352" y="1548"/>
                <a:ext cx="7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05" name="Line 13"/>
              <p:cNvSpPr>
                <a:spLocks noChangeShapeType="1"/>
              </p:cNvSpPr>
              <p:nvPr/>
            </p:nvSpPr>
            <p:spPr bwMode="auto">
              <a:xfrm>
                <a:off x="1236" y="2568"/>
                <a:ext cx="6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06" name="Line 14"/>
              <p:cNvSpPr>
                <a:spLocks noChangeShapeType="1"/>
              </p:cNvSpPr>
              <p:nvPr/>
            </p:nvSpPr>
            <p:spPr bwMode="auto">
              <a:xfrm>
                <a:off x="2364" y="2580"/>
                <a:ext cx="7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07" name="Line 15"/>
              <p:cNvSpPr>
                <a:spLocks noChangeShapeType="1"/>
              </p:cNvSpPr>
              <p:nvPr/>
            </p:nvSpPr>
            <p:spPr bwMode="auto">
              <a:xfrm flipH="1">
                <a:off x="2412" y="1728"/>
                <a:ext cx="816" cy="7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08" name="Line 16"/>
              <p:cNvSpPr>
                <a:spLocks noChangeShapeType="1"/>
              </p:cNvSpPr>
              <p:nvPr/>
            </p:nvSpPr>
            <p:spPr bwMode="auto">
              <a:xfrm flipV="1">
                <a:off x="2280" y="1716"/>
                <a:ext cx="840" cy="7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09" name="Line 17"/>
              <p:cNvSpPr>
                <a:spLocks noChangeShapeType="1"/>
              </p:cNvSpPr>
              <p:nvPr/>
            </p:nvSpPr>
            <p:spPr bwMode="auto">
              <a:xfrm flipV="1">
                <a:off x="2160" y="1788"/>
                <a:ext cx="0" cy="6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10" name="Line 18"/>
              <p:cNvSpPr>
                <a:spLocks noChangeShapeType="1"/>
              </p:cNvSpPr>
              <p:nvPr/>
            </p:nvSpPr>
            <p:spPr bwMode="auto">
              <a:xfrm flipH="1">
                <a:off x="1272" y="1728"/>
                <a:ext cx="792" cy="6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11" name="Freeform 19"/>
              <p:cNvSpPr>
                <a:spLocks/>
              </p:cNvSpPr>
              <p:nvPr/>
            </p:nvSpPr>
            <p:spPr bwMode="auto">
              <a:xfrm>
                <a:off x="1176" y="1692"/>
                <a:ext cx="82" cy="696"/>
              </a:xfrm>
              <a:custGeom>
                <a:avLst/>
                <a:gdLst>
                  <a:gd name="T0" fmla="*/ 0 w 142"/>
                  <a:gd name="T1" fmla="*/ 0 h 696"/>
                  <a:gd name="T2" fmla="*/ 14 w 142"/>
                  <a:gd name="T3" fmla="*/ 132 h 696"/>
                  <a:gd name="T4" fmla="*/ 25 w 142"/>
                  <a:gd name="T5" fmla="*/ 324 h 696"/>
                  <a:gd name="T6" fmla="*/ 25 w 142"/>
                  <a:gd name="T7" fmla="*/ 444 h 696"/>
                  <a:gd name="T8" fmla="*/ 21 w 142"/>
                  <a:gd name="T9" fmla="*/ 552 h 696"/>
                  <a:gd name="T10" fmla="*/ 5 w 142"/>
                  <a:gd name="T11" fmla="*/ 696 h 69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2"/>
                  <a:gd name="T19" fmla="*/ 0 h 696"/>
                  <a:gd name="T20" fmla="*/ 142 w 142"/>
                  <a:gd name="T21" fmla="*/ 696 h 69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2" h="696">
                    <a:moveTo>
                      <a:pt x="0" y="0"/>
                    </a:moveTo>
                    <a:cubicBezTo>
                      <a:pt x="25" y="39"/>
                      <a:pt x="50" y="78"/>
                      <a:pt x="72" y="132"/>
                    </a:cubicBezTo>
                    <a:cubicBezTo>
                      <a:pt x="94" y="186"/>
                      <a:pt x="122" y="272"/>
                      <a:pt x="132" y="324"/>
                    </a:cubicBezTo>
                    <a:cubicBezTo>
                      <a:pt x="142" y="376"/>
                      <a:pt x="136" y="406"/>
                      <a:pt x="132" y="444"/>
                    </a:cubicBezTo>
                    <a:cubicBezTo>
                      <a:pt x="128" y="482"/>
                      <a:pt x="126" y="510"/>
                      <a:pt x="108" y="552"/>
                    </a:cubicBezTo>
                    <a:cubicBezTo>
                      <a:pt x="90" y="594"/>
                      <a:pt x="38" y="674"/>
                      <a:pt x="24" y="69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12" name="Freeform 21"/>
              <p:cNvSpPr>
                <a:spLocks/>
              </p:cNvSpPr>
              <p:nvPr/>
            </p:nvSpPr>
            <p:spPr bwMode="auto">
              <a:xfrm flipH="1">
                <a:off x="852" y="1680"/>
                <a:ext cx="82" cy="696"/>
              </a:xfrm>
              <a:custGeom>
                <a:avLst/>
                <a:gdLst>
                  <a:gd name="T0" fmla="*/ 0 w 142"/>
                  <a:gd name="T1" fmla="*/ 0 h 696"/>
                  <a:gd name="T2" fmla="*/ 14 w 142"/>
                  <a:gd name="T3" fmla="*/ 132 h 696"/>
                  <a:gd name="T4" fmla="*/ 25 w 142"/>
                  <a:gd name="T5" fmla="*/ 324 h 696"/>
                  <a:gd name="T6" fmla="*/ 25 w 142"/>
                  <a:gd name="T7" fmla="*/ 444 h 696"/>
                  <a:gd name="T8" fmla="*/ 21 w 142"/>
                  <a:gd name="T9" fmla="*/ 552 h 696"/>
                  <a:gd name="T10" fmla="*/ 5 w 142"/>
                  <a:gd name="T11" fmla="*/ 696 h 69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2"/>
                  <a:gd name="T19" fmla="*/ 0 h 696"/>
                  <a:gd name="T20" fmla="*/ 142 w 142"/>
                  <a:gd name="T21" fmla="*/ 696 h 69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2" h="696">
                    <a:moveTo>
                      <a:pt x="0" y="0"/>
                    </a:moveTo>
                    <a:cubicBezTo>
                      <a:pt x="25" y="39"/>
                      <a:pt x="50" y="78"/>
                      <a:pt x="72" y="132"/>
                    </a:cubicBezTo>
                    <a:cubicBezTo>
                      <a:pt x="94" y="186"/>
                      <a:pt x="122" y="272"/>
                      <a:pt x="132" y="324"/>
                    </a:cubicBezTo>
                    <a:cubicBezTo>
                      <a:pt x="142" y="376"/>
                      <a:pt x="136" y="406"/>
                      <a:pt x="132" y="444"/>
                    </a:cubicBezTo>
                    <a:cubicBezTo>
                      <a:pt x="128" y="482"/>
                      <a:pt x="126" y="510"/>
                      <a:pt x="108" y="552"/>
                    </a:cubicBezTo>
                    <a:cubicBezTo>
                      <a:pt x="90" y="594"/>
                      <a:pt x="38" y="674"/>
                      <a:pt x="24" y="69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1691" name="Freeform 26"/>
            <p:cNvSpPr>
              <a:spLocks/>
            </p:cNvSpPr>
            <p:nvPr/>
          </p:nvSpPr>
          <p:spPr bwMode="auto">
            <a:xfrm>
              <a:off x="828" y="1070"/>
              <a:ext cx="2095" cy="322"/>
            </a:xfrm>
            <a:custGeom>
              <a:avLst/>
              <a:gdLst>
                <a:gd name="T0" fmla="*/ 0 w 2095"/>
                <a:gd name="T1" fmla="*/ 262 h 322"/>
                <a:gd name="T2" fmla="*/ 192 w 2095"/>
                <a:gd name="T3" fmla="*/ 130 h 322"/>
                <a:gd name="T4" fmla="*/ 456 w 2095"/>
                <a:gd name="T5" fmla="*/ 58 h 322"/>
                <a:gd name="T6" fmla="*/ 708 w 2095"/>
                <a:gd name="T7" fmla="*/ 34 h 322"/>
                <a:gd name="T8" fmla="*/ 864 w 2095"/>
                <a:gd name="T9" fmla="*/ 10 h 322"/>
                <a:gd name="T10" fmla="*/ 1212 w 2095"/>
                <a:gd name="T11" fmla="*/ 34 h 322"/>
                <a:gd name="T12" fmla="*/ 1464 w 2095"/>
                <a:gd name="T13" fmla="*/ 82 h 322"/>
                <a:gd name="T14" fmla="*/ 2028 w 2095"/>
                <a:gd name="T15" fmla="*/ 238 h 322"/>
                <a:gd name="T16" fmla="*/ 2052 w 2095"/>
                <a:gd name="T17" fmla="*/ 274 h 322"/>
                <a:gd name="T18" fmla="*/ 2088 w 2095"/>
                <a:gd name="T19" fmla="*/ 322 h 3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095"/>
                <a:gd name="T31" fmla="*/ 0 h 322"/>
                <a:gd name="T32" fmla="*/ 2095 w 2095"/>
                <a:gd name="T33" fmla="*/ 322 h 32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095" h="322">
                  <a:moveTo>
                    <a:pt x="0" y="262"/>
                  </a:moveTo>
                  <a:cubicBezTo>
                    <a:pt x="26" y="184"/>
                    <a:pt x="120" y="154"/>
                    <a:pt x="192" y="130"/>
                  </a:cubicBezTo>
                  <a:cubicBezTo>
                    <a:pt x="279" y="101"/>
                    <a:pt x="367" y="80"/>
                    <a:pt x="456" y="58"/>
                  </a:cubicBezTo>
                  <a:cubicBezTo>
                    <a:pt x="538" y="38"/>
                    <a:pt x="624" y="46"/>
                    <a:pt x="708" y="34"/>
                  </a:cubicBezTo>
                  <a:cubicBezTo>
                    <a:pt x="816" y="19"/>
                    <a:pt x="764" y="27"/>
                    <a:pt x="864" y="10"/>
                  </a:cubicBezTo>
                  <a:cubicBezTo>
                    <a:pt x="1133" y="40"/>
                    <a:pt x="756" y="0"/>
                    <a:pt x="1212" y="34"/>
                  </a:cubicBezTo>
                  <a:cubicBezTo>
                    <a:pt x="1297" y="40"/>
                    <a:pt x="1380" y="68"/>
                    <a:pt x="1464" y="82"/>
                  </a:cubicBezTo>
                  <a:cubicBezTo>
                    <a:pt x="1656" y="114"/>
                    <a:pt x="1862" y="128"/>
                    <a:pt x="2028" y="238"/>
                  </a:cubicBezTo>
                  <a:cubicBezTo>
                    <a:pt x="2036" y="250"/>
                    <a:pt x="2042" y="264"/>
                    <a:pt x="2052" y="274"/>
                  </a:cubicBezTo>
                  <a:cubicBezTo>
                    <a:pt x="2095" y="317"/>
                    <a:pt x="2088" y="276"/>
                    <a:pt x="2088" y="32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692" name="Text Box 27"/>
            <p:cNvSpPr txBox="1">
              <a:spLocks noChangeArrowheads="1"/>
            </p:cNvSpPr>
            <p:nvPr/>
          </p:nvSpPr>
          <p:spPr bwMode="auto">
            <a:xfrm>
              <a:off x="1226" y="1303"/>
              <a:ext cx="13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l"/>
              <a:r>
                <a:rPr lang="en-US" altLang="zh-TW">
                  <a:solidFill>
                    <a:schemeClr val="tx1"/>
                  </a:solidFill>
                  <a:ea typeface="PMingLiU" pitchFamily="18" charset="-120"/>
                </a:rPr>
                <a:t>50                      10</a:t>
              </a:r>
              <a:endParaRPr lang="en-US" altLang="zh-TW" sz="2400">
                <a:solidFill>
                  <a:schemeClr val="tx1"/>
                </a:solidFill>
                <a:ea typeface="PMingLiU" pitchFamily="18" charset="-120"/>
              </a:endParaRPr>
            </a:p>
          </p:txBody>
        </p:sp>
        <p:sp>
          <p:nvSpPr>
            <p:cNvPr id="71693" name="Text Box 28"/>
            <p:cNvSpPr txBox="1">
              <a:spLocks noChangeArrowheads="1"/>
            </p:cNvSpPr>
            <p:nvPr/>
          </p:nvSpPr>
          <p:spPr bwMode="auto">
            <a:xfrm>
              <a:off x="262" y="1939"/>
              <a:ext cx="26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l"/>
              <a:r>
                <a:rPr lang="en-US" altLang="zh-TW">
                  <a:solidFill>
                    <a:schemeClr val="tx1"/>
                  </a:solidFill>
                  <a:ea typeface="PMingLiU" pitchFamily="18" charset="-120"/>
                </a:rPr>
                <a:t> 20      10      15          20       35        30  </a:t>
              </a:r>
            </a:p>
          </p:txBody>
        </p:sp>
        <p:sp>
          <p:nvSpPr>
            <p:cNvPr id="71694" name="Text Box 29"/>
            <p:cNvSpPr txBox="1">
              <a:spLocks noChangeArrowheads="1"/>
            </p:cNvSpPr>
            <p:nvPr/>
          </p:nvSpPr>
          <p:spPr bwMode="auto">
            <a:xfrm>
              <a:off x="1294" y="2347"/>
              <a:ext cx="1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TW">
                  <a:solidFill>
                    <a:schemeClr val="tx1"/>
                  </a:solidFill>
                  <a:ea typeface="PMingLiU" pitchFamily="18" charset="-120"/>
                </a:rPr>
                <a:t>15                       3</a:t>
              </a:r>
            </a:p>
          </p:txBody>
        </p:sp>
        <p:sp>
          <p:nvSpPr>
            <p:cNvPr id="71695" name="Text Box 30"/>
            <p:cNvSpPr txBox="1">
              <a:spLocks noChangeArrowheads="1"/>
            </p:cNvSpPr>
            <p:nvPr/>
          </p:nvSpPr>
          <p:spPr bwMode="auto">
            <a:xfrm>
              <a:off x="1674" y="835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TW">
                  <a:solidFill>
                    <a:schemeClr val="tx1"/>
                  </a:solidFill>
                  <a:ea typeface="PMingLiU" pitchFamily="18" charset="-120"/>
                </a:rPr>
                <a:t>45</a:t>
              </a:r>
            </a:p>
          </p:txBody>
        </p:sp>
        <p:sp>
          <p:nvSpPr>
            <p:cNvPr id="71696" name="Text Box 31"/>
            <p:cNvSpPr txBox="1">
              <a:spLocks noChangeArrowheads="1"/>
            </p:cNvSpPr>
            <p:nvPr/>
          </p:nvSpPr>
          <p:spPr bwMode="auto">
            <a:xfrm>
              <a:off x="1636" y="2916"/>
              <a:ext cx="32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TW" sz="2400">
                  <a:solidFill>
                    <a:schemeClr val="tx1"/>
                  </a:solidFill>
                  <a:ea typeface="PMingLiU" pitchFamily="18" charset="-120"/>
                </a:rPr>
                <a:t>(a)</a:t>
              </a:r>
            </a:p>
          </p:txBody>
        </p:sp>
      </p:grpSp>
      <p:sp>
        <p:nvSpPr>
          <p:cNvPr id="71684" name="Text Box 33"/>
          <p:cNvSpPr txBox="1">
            <a:spLocks noChangeArrowheads="1"/>
          </p:cNvSpPr>
          <p:nvPr/>
        </p:nvSpPr>
        <p:spPr bwMode="auto">
          <a:xfrm>
            <a:off x="6413500" y="3290888"/>
            <a:ext cx="2495550" cy="301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path        length</a:t>
            </a:r>
          </a:p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1) v0 v2             10</a:t>
            </a:r>
          </a:p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2) v0 v2 v3        25</a:t>
            </a:r>
          </a:p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3) v0 v2 v3 v1   45</a:t>
            </a:r>
          </a:p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4) v0 v4             45</a:t>
            </a:r>
          </a:p>
          <a:p>
            <a:pPr algn="l"/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  <a:p>
            <a:pPr algn="l"/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             (b) </a:t>
            </a:r>
          </a:p>
        </p:txBody>
      </p:sp>
      <p:sp>
        <p:nvSpPr>
          <p:cNvPr id="71685" name="Text Box 34"/>
          <p:cNvSpPr txBox="1">
            <a:spLocks noChangeArrowheads="1"/>
          </p:cNvSpPr>
          <p:nvPr/>
        </p:nvSpPr>
        <p:spPr bwMode="auto">
          <a:xfrm>
            <a:off x="2236788" y="0"/>
            <a:ext cx="52085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Single Source All Destinations</a:t>
            </a:r>
          </a:p>
        </p:txBody>
      </p:sp>
      <p:sp>
        <p:nvSpPr>
          <p:cNvPr id="71686" name="Text Box 36"/>
          <p:cNvSpPr txBox="1">
            <a:spLocks noChangeArrowheads="1"/>
          </p:cNvSpPr>
          <p:nvPr/>
        </p:nvSpPr>
        <p:spPr bwMode="auto">
          <a:xfrm>
            <a:off x="887413" y="969963"/>
            <a:ext cx="8256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Determine the shortest paths from v0 to all the remaining vertices.</a:t>
            </a:r>
          </a:p>
        </p:txBody>
      </p:sp>
      <p:sp>
        <p:nvSpPr>
          <p:cNvPr id="71687" name="Line 38"/>
          <p:cNvSpPr>
            <a:spLocks noChangeShapeType="1"/>
          </p:cNvSpPr>
          <p:nvPr/>
        </p:nvSpPr>
        <p:spPr bwMode="auto">
          <a:xfrm flipH="1" flipV="1">
            <a:off x="1604963" y="4532313"/>
            <a:ext cx="141287" cy="63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688" name="Line 39"/>
          <p:cNvSpPr>
            <a:spLocks noChangeShapeType="1"/>
          </p:cNvSpPr>
          <p:nvPr/>
        </p:nvSpPr>
        <p:spPr bwMode="auto">
          <a:xfrm flipV="1">
            <a:off x="1622425" y="3897313"/>
            <a:ext cx="141288" cy="6175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689" name="Line 41"/>
          <p:cNvSpPr>
            <a:spLocks noChangeShapeType="1"/>
          </p:cNvSpPr>
          <p:nvPr/>
        </p:nvSpPr>
        <p:spPr bwMode="auto">
          <a:xfrm flipH="1">
            <a:off x="3863975" y="5432425"/>
            <a:ext cx="13223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/>
          <p:cNvSpPr>
            <a:spLocks noChangeArrowheads="1"/>
          </p:cNvSpPr>
          <p:nvPr/>
        </p:nvSpPr>
        <p:spPr bwMode="auto">
          <a:xfrm>
            <a:off x="0" y="0"/>
            <a:ext cx="8416925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altLang="zh-TW" sz="3600">
                <a:solidFill>
                  <a:schemeClr val="tx1"/>
                </a:solidFill>
                <a:ea typeface="PMingLiU" pitchFamily="18" charset="-120"/>
              </a:rPr>
              <a:t>Example for the Shortest Path</a:t>
            </a:r>
            <a:endParaRPr lang="en-US" altLang="zh-TW" sz="4400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72707" name="Oval 4"/>
          <p:cNvSpPr>
            <a:spLocks noChangeArrowheads="1"/>
          </p:cNvSpPr>
          <p:nvPr/>
        </p:nvSpPr>
        <p:spPr bwMode="auto">
          <a:xfrm>
            <a:off x="1857375" y="280670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72708" name="Oval 5"/>
          <p:cNvSpPr>
            <a:spLocks noChangeArrowheads="1"/>
          </p:cNvSpPr>
          <p:nvPr/>
        </p:nvSpPr>
        <p:spPr bwMode="auto">
          <a:xfrm>
            <a:off x="1868488" y="146050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72709" name="Oval 6"/>
          <p:cNvSpPr>
            <a:spLocks noChangeArrowheads="1"/>
          </p:cNvSpPr>
          <p:nvPr/>
        </p:nvSpPr>
        <p:spPr bwMode="auto">
          <a:xfrm>
            <a:off x="3494088" y="142716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72710" name="Oval 7"/>
          <p:cNvSpPr>
            <a:spLocks noChangeArrowheads="1"/>
          </p:cNvSpPr>
          <p:nvPr/>
        </p:nvSpPr>
        <p:spPr bwMode="auto">
          <a:xfrm>
            <a:off x="5514975" y="108108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72711" name="Oval 8"/>
          <p:cNvSpPr>
            <a:spLocks noChangeArrowheads="1"/>
          </p:cNvSpPr>
          <p:nvPr/>
        </p:nvSpPr>
        <p:spPr bwMode="auto">
          <a:xfrm>
            <a:off x="7569200" y="34607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72712" name="Oval 9"/>
          <p:cNvSpPr>
            <a:spLocks noChangeArrowheads="1"/>
          </p:cNvSpPr>
          <p:nvPr/>
        </p:nvSpPr>
        <p:spPr bwMode="auto">
          <a:xfrm>
            <a:off x="7583488" y="178117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72713" name="Oval 10"/>
          <p:cNvSpPr>
            <a:spLocks noChangeArrowheads="1"/>
          </p:cNvSpPr>
          <p:nvPr/>
        </p:nvSpPr>
        <p:spPr bwMode="auto">
          <a:xfrm>
            <a:off x="6218238" y="328930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6</a:t>
            </a:r>
          </a:p>
        </p:txBody>
      </p:sp>
      <p:sp>
        <p:nvSpPr>
          <p:cNvPr id="72714" name="Oval 11"/>
          <p:cNvSpPr>
            <a:spLocks noChangeArrowheads="1"/>
          </p:cNvSpPr>
          <p:nvPr/>
        </p:nvSpPr>
        <p:spPr bwMode="auto">
          <a:xfrm>
            <a:off x="4210050" y="291623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7</a:t>
            </a:r>
          </a:p>
        </p:txBody>
      </p:sp>
      <p:sp>
        <p:nvSpPr>
          <p:cNvPr id="72715" name="Line 12"/>
          <p:cNvSpPr>
            <a:spLocks noChangeShapeType="1"/>
          </p:cNvSpPr>
          <p:nvPr/>
        </p:nvSpPr>
        <p:spPr bwMode="auto">
          <a:xfrm>
            <a:off x="2092325" y="1943100"/>
            <a:ext cx="0" cy="831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716" name="Line 13"/>
          <p:cNvSpPr>
            <a:spLocks noChangeShapeType="1"/>
          </p:cNvSpPr>
          <p:nvPr/>
        </p:nvSpPr>
        <p:spPr bwMode="auto">
          <a:xfrm flipH="1">
            <a:off x="2298700" y="1636713"/>
            <a:ext cx="11890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717" name="Line 14"/>
          <p:cNvSpPr>
            <a:spLocks noChangeShapeType="1"/>
          </p:cNvSpPr>
          <p:nvPr/>
        </p:nvSpPr>
        <p:spPr bwMode="auto">
          <a:xfrm flipH="1">
            <a:off x="2298700" y="1858963"/>
            <a:ext cx="1308100" cy="1069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718" name="Line 15"/>
          <p:cNvSpPr>
            <a:spLocks noChangeShapeType="1"/>
          </p:cNvSpPr>
          <p:nvPr/>
        </p:nvSpPr>
        <p:spPr bwMode="auto">
          <a:xfrm flipH="1" flipV="1">
            <a:off x="2316163" y="3065463"/>
            <a:ext cx="1868487" cy="492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719" name="Line 16"/>
          <p:cNvSpPr>
            <a:spLocks noChangeShapeType="1"/>
          </p:cNvSpPr>
          <p:nvPr/>
        </p:nvSpPr>
        <p:spPr bwMode="auto">
          <a:xfrm flipH="1">
            <a:off x="3983038" y="1314450"/>
            <a:ext cx="1528762" cy="287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720" name="Line 17"/>
          <p:cNvSpPr>
            <a:spLocks noChangeShapeType="1"/>
          </p:cNvSpPr>
          <p:nvPr/>
        </p:nvSpPr>
        <p:spPr bwMode="auto">
          <a:xfrm flipH="1">
            <a:off x="4646613" y="2097088"/>
            <a:ext cx="2924175" cy="9667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721" name="Line 18"/>
          <p:cNvSpPr>
            <a:spLocks noChangeShapeType="1"/>
          </p:cNvSpPr>
          <p:nvPr/>
        </p:nvSpPr>
        <p:spPr bwMode="auto">
          <a:xfrm flipH="1">
            <a:off x="6670675" y="2232025"/>
            <a:ext cx="1103313" cy="11382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722" name="Line 19"/>
          <p:cNvSpPr>
            <a:spLocks noChangeShapeType="1"/>
          </p:cNvSpPr>
          <p:nvPr/>
        </p:nvSpPr>
        <p:spPr bwMode="auto">
          <a:xfrm flipH="1" flipV="1">
            <a:off x="4678363" y="3268663"/>
            <a:ext cx="1546225" cy="320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723" name="Line 20"/>
          <p:cNvSpPr>
            <a:spLocks noChangeShapeType="1"/>
          </p:cNvSpPr>
          <p:nvPr/>
        </p:nvSpPr>
        <p:spPr bwMode="auto">
          <a:xfrm flipH="1" flipV="1">
            <a:off x="5972175" y="1347788"/>
            <a:ext cx="1614488" cy="525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724" name="Line 21"/>
          <p:cNvSpPr>
            <a:spLocks noChangeShapeType="1"/>
          </p:cNvSpPr>
          <p:nvPr/>
        </p:nvSpPr>
        <p:spPr bwMode="auto">
          <a:xfrm>
            <a:off x="7791450" y="804863"/>
            <a:ext cx="0" cy="950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725" name="Line 22"/>
          <p:cNvSpPr>
            <a:spLocks noChangeShapeType="1"/>
          </p:cNvSpPr>
          <p:nvPr/>
        </p:nvSpPr>
        <p:spPr bwMode="auto">
          <a:xfrm flipH="1">
            <a:off x="5956300" y="668338"/>
            <a:ext cx="1630363" cy="525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726" name="Rectangle 23"/>
          <p:cNvSpPr>
            <a:spLocks noChangeArrowheads="1"/>
          </p:cNvSpPr>
          <p:nvPr/>
        </p:nvSpPr>
        <p:spPr bwMode="auto">
          <a:xfrm>
            <a:off x="1677988" y="835025"/>
            <a:ext cx="11811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San</a:t>
            </a:r>
          </a:p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Francisco</a:t>
            </a:r>
          </a:p>
        </p:txBody>
      </p:sp>
      <p:sp>
        <p:nvSpPr>
          <p:cNvPr id="72727" name="Rectangle 24"/>
          <p:cNvSpPr>
            <a:spLocks noChangeArrowheads="1"/>
          </p:cNvSpPr>
          <p:nvPr/>
        </p:nvSpPr>
        <p:spPr bwMode="auto">
          <a:xfrm>
            <a:off x="3292475" y="1003300"/>
            <a:ext cx="9413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Denver</a:t>
            </a:r>
          </a:p>
        </p:txBody>
      </p:sp>
      <p:sp>
        <p:nvSpPr>
          <p:cNvPr id="72728" name="Rectangle 25"/>
          <p:cNvSpPr>
            <a:spLocks noChangeArrowheads="1"/>
          </p:cNvSpPr>
          <p:nvPr/>
        </p:nvSpPr>
        <p:spPr bwMode="auto">
          <a:xfrm>
            <a:off x="5232400" y="714375"/>
            <a:ext cx="10398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Chicago</a:t>
            </a:r>
          </a:p>
        </p:txBody>
      </p:sp>
      <p:sp>
        <p:nvSpPr>
          <p:cNvPr id="72729" name="Rectangle 26"/>
          <p:cNvSpPr>
            <a:spLocks noChangeArrowheads="1"/>
          </p:cNvSpPr>
          <p:nvPr/>
        </p:nvSpPr>
        <p:spPr bwMode="auto">
          <a:xfrm>
            <a:off x="7239000" y="0"/>
            <a:ext cx="9128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Boston</a:t>
            </a:r>
          </a:p>
        </p:txBody>
      </p:sp>
      <p:sp>
        <p:nvSpPr>
          <p:cNvPr id="72730" name="Rectangle 27"/>
          <p:cNvSpPr>
            <a:spLocks noChangeArrowheads="1"/>
          </p:cNvSpPr>
          <p:nvPr/>
        </p:nvSpPr>
        <p:spPr bwMode="auto">
          <a:xfrm>
            <a:off x="8074025" y="1700213"/>
            <a:ext cx="687388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New</a:t>
            </a:r>
          </a:p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York</a:t>
            </a:r>
          </a:p>
        </p:txBody>
      </p:sp>
      <p:sp>
        <p:nvSpPr>
          <p:cNvPr id="72731" name="Rectangle 28"/>
          <p:cNvSpPr>
            <a:spLocks noChangeArrowheads="1"/>
          </p:cNvSpPr>
          <p:nvPr/>
        </p:nvSpPr>
        <p:spPr bwMode="auto">
          <a:xfrm>
            <a:off x="6729413" y="3365500"/>
            <a:ext cx="8667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Miami</a:t>
            </a:r>
          </a:p>
        </p:txBody>
      </p:sp>
      <p:sp>
        <p:nvSpPr>
          <p:cNvPr id="72732" name="Rectangle 29"/>
          <p:cNvSpPr>
            <a:spLocks noChangeArrowheads="1"/>
          </p:cNvSpPr>
          <p:nvPr/>
        </p:nvSpPr>
        <p:spPr bwMode="auto">
          <a:xfrm>
            <a:off x="3838575" y="2568575"/>
            <a:ext cx="15319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New Orleans</a:t>
            </a:r>
          </a:p>
        </p:txBody>
      </p:sp>
      <p:sp>
        <p:nvSpPr>
          <p:cNvPr id="72733" name="Rectangle 30"/>
          <p:cNvSpPr>
            <a:spLocks noChangeArrowheads="1"/>
          </p:cNvSpPr>
          <p:nvPr/>
        </p:nvSpPr>
        <p:spPr bwMode="auto">
          <a:xfrm>
            <a:off x="1457325" y="3332163"/>
            <a:ext cx="14605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Los Angeles</a:t>
            </a:r>
          </a:p>
        </p:txBody>
      </p:sp>
      <p:sp>
        <p:nvSpPr>
          <p:cNvPr id="72734" name="Rectangle 31"/>
          <p:cNvSpPr>
            <a:spLocks noChangeArrowheads="1"/>
          </p:cNvSpPr>
          <p:nvPr/>
        </p:nvSpPr>
        <p:spPr bwMode="auto">
          <a:xfrm>
            <a:off x="1506538" y="2057400"/>
            <a:ext cx="5699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300</a:t>
            </a:r>
          </a:p>
        </p:txBody>
      </p:sp>
      <p:sp>
        <p:nvSpPr>
          <p:cNvPr id="72735" name="Rectangle 32"/>
          <p:cNvSpPr>
            <a:spLocks noChangeArrowheads="1"/>
          </p:cNvSpPr>
          <p:nvPr/>
        </p:nvSpPr>
        <p:spPr bwMode="auto">
          <a:xfrm>
            <a:off x="2425700" y="2093913"/>
            <a:ext cx="641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1000</a:t>
            </a:r>
          </a:p>
        </p:txBody>
      </p:sp>
      <p:sp>
        <p:nvSpPr>
          <p:cNvPr id="72736" name="Rectangle 33"/>
          <p:cNvSpPr>
            <a:spLocks noChangeArrowheads="1"/>
          </p:cNvSpPr>
          <p:nvPr/>
        </p:nvSpPr>
        <p:spPr bwMode="auto">
          <a:xfrm>
            <a:off x="2868613" y="1296988"/>
            <a:ext cx="527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800</a:t>
            </a:r>
          </a:p>
        </p:txBody>
      </p:sp>
      <p:sp>
        <p:nvSpPr>
          <p:cNvPr id="72737" name="Rectangle 34"/>
          <p:cNvSpPr>
            <a:spLocks noChangeArrowheads="1"/>
          </p:cNvSpPr>
          <p:nvPr/>
        </p:nvSpPr>
        <p:spPr bwMode="auto">
          <a:xfrm>
            <a:off x="4535488" y="1074738"/>
            <a:ext cx="641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1200</a:t>
            </a:r>
          </a:p>
        </p:txBody>
      </p:sp>
      <p:sp>
        <p:nvSpPr>
          <p:cNvPr id="72738" name="Rectangle 35"/>
          <p:cNvSpPr>
            <a:spLocks noChangeArrowheads="1"/>
          </p:cNvSpPr>
          <p:nvPr/>
        </p:nvSpPr>
        <p:spPr bwMode="auto">
          <a:xfrm>
            <a:off x="6405563" y="495300"/>
            <a:ext cx="641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1500</a:t>
            </a:r>
          </a:p>
        </p:txBody>
      </p:sp>
      <p:sp>
        <p:nvSpPr>
          <p:cNvPr id="72739" name="Rectangle 36"/>
          <p:cNvSpPr>
            <a:spLocks noChangeArrowheads="1"/>
          </p:cNvSpPr>
          <p:nvPr/>
        </p:nvSpPr>
        <p:spPr bwMode="auto">
          <a:xfrm>
            <a:off x="5759450" y="2144713"/>
            <a:ext cx="641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1400</a:t>
            </a:r>
          </a:p>
        </p:txBody>
      </p:sp>
      <p:sp>
        <p:nvSpPr>
          <p:cNvPr id="72740" name="Rectangle 37"/>
          <p:cNvSpPr>
            <a:spLocks noChangeArrowheads="1"/>
          </p:cNvSpPr>
          <p:nvPr/>
        </p:nvSpPr>
        <p:spPr bwMode="auto">
          <a:xfrm>
            <a:off x="5435600" y="3079750"/>
            <a:ext cx="641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1000</a:t>
            </a:r>
          </a:p>
        </p:txBody>
      </p:sp>
      <p:sp>
        <p:nvSpPr>
          <p:cNvPr id="72741" name="Rectangle 38"/>
          <p:cNvSpPr>
            <a:spLocks noChangeArrowheads="1"/>
          </p:cNvSpPr>
          <p:nvPr/>
        </p:nvSpPr>
        <p:spPr bwMode="auto">
          <a:xfrm>
            <a:off x="6608763" y="2638425"/>
            <a:ext cx="527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900</a:t>
            </a:r>
          </a:p>
        </p:txBody>
      </p:sp>
      <p:sp>
        <p:nvSpPr>
          <p:cNvPr id="72742" name="Rectangle 39"/>
          <p:cNvSpPr>
            <a:spLocks noChangeArrowheads="1"/>
          </p:cNvSpPr>
          <p:nvPr/>
        </p:nvSpPr>
        <p:spPr bwMode="auto">
          <a:xfrm>
            <a:off x="3021013" y="2689225"/>
            <a:ext cx="641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1700</a:t>
            </a:r>
          </a:p>
        </p:txBody>
      </p:sp>
      <p:sp>
        <p:nvSpPr>
          <p:cNvPr id="72743" name="Rectangle 40"/>
          <p:cNvSpPr>
            <a:spLocks noChangeArrowheads="1"/>
          </p:cNvSpPr>
          <p:nvPr/>
        </p:nvSpPr>
        <p:spPr bwMode="auto">
          <a:xfrm>
            <a:off x="6626225" y="1312863"/>
            <a:ext cx="641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1000</a:t>
            </a:r>
          </a:p>
        </p:txBody>
      </p:sp>
      <p:sp>
        <p:nvSpPr>
          <p:cNvPr id="72744" name="Rectangle 41"/>
          <p:cNvSpPr>
            <a:spLocks noChangeArrowheads="1"/>
          </p:cNvSpPr>
          <p:nvPr/>
        </p:nvSpPr>
        <p:spPr bwMode="auto">
          <a:xfrm>
            <a:off x="7800975" y="1022350"/>
            <a:ext cx="527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250</a:t>
            </a:r>
          </a:p>
        </p:txBody>
      </p:sp>
      <p:sp>
        <p:nvSpPr>
          <p:cNvPr id="72745" name="Text Box 43"/>
          <p:cNvSpPr txBox="1">
            <a:spLocks noChangeArrowheads="1"/>
          </p:cNvSpPr>
          <p:nvPr/>
        </p:nvSpPr>
        <p:spPr bwMode="auto">
          <a:xfrm>
            <a:off x="660400" y="3616325"/>
            <a:ext cx="8007350" cy="283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	0	1	2	3	4	5	6	7</a:t>
            </a:r>
          </a:p>
          <a:p>
            <a:pPr algn="l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0	0</a:t>
            </a:r>
          </a:p>
          <a:p>
            <a:pPr algn="l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1	300	0</a:t>
            </a:r>
          </a:p>
          <a:p>
            <a:pPr algn="l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2	1000	800	0</a:t>
            </a:r>
          </a:p>
          <a:p>
            <a:pPr algn="l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3			1200	0</a:t>
            </a:r>
          </a:p>
          <a:p>
            <a:pPr algn="l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4				1500	0	250</a:t>
            </a:r>
          </a:p>
          <a:p>
            <a:pPr algn="l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5				1000		0	900	1400</a:t>
            </a:r>
          </a:p>
          <a:p>
            <a:pPr algn="l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6							0	1000</a:t>
            </a:r>
          </a:p>
          <a:p>
            <a:pPr algn="l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7	1700							0</a:t>
            </a:r>
          </a:p>
        </p:txBody>
      </p:sp>
      <p:sp>
        <p:nvSpPr>
          <p:cNvPr id="72746" name="Line 44"/>
          <p:cNvSpPr>
            <a:spLocks noChangeShapeType="1"/>
          </p:cNvSpPr>
          <p:nvPr/>
        </p:nvSpPr>
        <p:spPr bwMode="auto">
          <a:xfrm>
            <a:off x="1023938" y="4073525"/>
            <a:ext cx="0" cy="2378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747" name="Line 45"/>
          <p:cNvSpPr>
            <a:spLocks noChangeShapeType="1"/>
          </p:cNvSpPr>
          <p:nvPr/>
        </p:nvSpPr>
        <p:spPr bwMode="auto">
          <a:xfrm>
            <a:off x="8661400" y="3949700"/>
            <a:ext cx="0" cy="2501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748" name="Line 48"/>
          <p:cNvSpPr>
            <a:spLocks noChangeShapeType="1"/>
          </p:cNvSpPr>
          <p:nvPr/>
        </p:nvSpPr>
        <p:spPr bwMode="auto">
          <a:xfrm>
            <a:off x="1022350" y="4073525"/>
            <a:ext cx="2301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749" name="Line 50"/>
          <p:cNvSpPr>
            <a:spLocks noChangeShapeType="1"/>
          </p:cNvSpPr>
          <p:nvPr/>
        </p:nvSpPr>
        <p:spPr bwMode="auto">
          <a:xfrm>
            <a:off x="1023938" y="6437313"/>
            <a:ext cx="1762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750" name="Line 51"/>
          <p:cNvSpPr>
            <a:spLocks noChangeShapeType="1"/>
          </p:cNvSpPr>
          <p:nvPr/>
        </p:nvSpPr>
        <p:spPr bwMode="auto">
          <a:xfrm flipH="1">
            <a:off x="8485188" y="6437313"/>
            <a:ext cx="158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751" name="Line 53"/>
          <p:cNvSpPr>
            <a:spLocks noChangeShapeType="1"/>
          </p:cNvSpPr>
          <p:nvPr/>
        </p:nvSpPr>
        <p:spPr bwMode="auto">
          <a:xfrm flipH="1">
            <a:off x="8502650" y="3951288"/>
            <a:ext cx="158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752" name="Text Box 54"/>
          <p:cNvSpPr txBox="1">
            <a:spLocks noChangeArrowheads="1"/>
          </p:cNvSpPr>
          <p:nvPr/>
        </p:nvSpPr>
        <p:spPr bwMode="auto">
          <a:xfrm>
            <a:off x="3444875" y="6400800"/>
            <a:ext cx="2905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Cost adjacency matrix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Oval 1027"/>
          <p:cNvSpPr>
            <a:spLocks noChangeArrowheads="1"/>
          </p:cNvSpPr>
          <p:nvPr/>
        </p:nvSpPr>
        <p:spPr bwMode="auto">
          <a:xfrm>
            <a:off x="2152650" y="512763"/>
            <a:ext cx="458788" cy="4587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3731" name="Text Box 1028"/>
          <p:cNvSpPr txBox="1">
            <a:spLocks noChangeArrowheads="1"/>
          </p:cNvSpPr>
          <p:nvPr/>
        </p:nvSpPr>
        <p:spPr bwMode="auto">
          <a:xfrm>
            <a:off x="2212975" y="51276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73732" name="Oval 1029"/>
          <p:cNvSpPr>
            <a:spLocks noChangeArrowheads="1"/>
          </p:cNvSpPr>
          <p:nvPr/>
        </p:nvSpPr>
        <p:spPr bwMode="auto">
          <a:xfrm>
            <a:off x="1069975" y="928688"/>
            <a:ext cx="458788" cy="4587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3733" name="Text Box 1030"/>
          <p:cNvSpPr txBox="1">
            <a:spLocks noChangeArrowheads="1"/>
          </p:cNvSpPr>
          <p:nvPr/>
        </p:nvSpPr>
        <p:spPr bwMode="auto">
          <a:xfrm>
            <a:off x="1130300" y="92868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73734" name="Oval 1031"/>
          <p:cNvSpPr>
            <a:spLocks noChangeArrowheads="1"/>
          </p:cNvSpPr>
          <p:nvPr/>
        </p:nvSpPr>
        <p:spPr bwMode="auto">
          <a:xfrm>
            <a:off x="2146300" y="1546225"/>
            <a:ext cx="458788" cy="4587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3735" name="Text Box 1032"/>
          <p:cNvSpPr txBox="1">
            <a:spLocks noChangeArrowheads="1"/>
          </p:cNvSpPr>
          <p:nvPr/>
        </p:nvSpPr>
        <p:spPr bwMode="auto">
          <a:xfrm>
            <a:off x="2206625" y="154622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73736" name="Line 1033"/>
          <p:cNvSpPr>
            <a:spLocks noChangeShapeType="1"/>
          </p:cNvSpPr>
          <p:nvPr/>
        </p:nvSpPr>
        <p:spPr bwMode="auto">
          <a:xfrm flipH="1">
            <a:off x="1535113" y="795338"/>
            <a:ext cx="617537" cy="300037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737" name="Line 1034"/>
          <p:cNvSpPr>
            <a:spLocks noChangeShapeType="1"/>
          </p:cNvSpPr>
          <p:nvPr/>
        </p:nvSpPr>
        <p:spPr bwMode="auto">
          <a:xfrm>
            <a:off x="2381250" y="971550"/>
            <a:ext cx="0" cy="600075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738" name="Text Box 1035"/>
          <p:cNvSpPr txBox="1">
            <a:spLocks noChangeArrowheads="1"/>
          </p:cNvSpPr>
          <p:nvPr/>
        </p:nvSpPr>
        <p:spPr bwMode="auto">
          <a:xfrm>
            <a:off x="1462088" y="538163"/>
            <a:ext cx="641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1500</a:t>
            </a:r>
          </a:p>
        </p:txBody>
      </p:sp>
      <p:sp>
        <p:nvSpPr>
          <p:cNvPr id="73739" name="Text Box 1036"/>
          <p:cNvSpPr txBox="1">
            <a:spLocks noChangeArrowheads="1"/>
          </p:cNvSpPr>
          <p:nvPr/>
        </p:nvSpPr>
        <p:spPr bwMode="auto">
          <a:xfrm>
            <a:off x="2378075" y="1122363"/>
            <a:ext cx="527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250</a:t>
            </a:r>
          </a:p>
        </p:txBody>
      </p:sp>
      <p:sp>
        <p:nvSpPr>
          <p:cNvPr id="73740" name="Oval 1037"/>
          <p:cNvSpPr>
            <a:spLocks noChangeArrowheads="1"/>
          </p:cNvSpPr>
          <p:nvPr/>
        </p:nvSpPr>
        <p:spPr bwMode="auto">
          <a:xfrm>
            <a:off x="4737100" y="576263"/>
            <a:ext cx="458788" cy="4587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3741" name="Text Box 1038"/>
          <p:cNvSpPr txBox="1">
            <a:spLocks noChangeArrowheads="1"/>
          </p:cNvSpPr>
          <p:nvPr/>
        </p:nvSpPr>
        <p:spPr bwMode="auto">
          <a:xfrm>
            <a:off x="4797425" y="57626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73742" name="Oval 1039"/>
          <p:cNvSpPr>
            <a:spLocks noChangeArrowheads="1"/>
          </p:cNvSpPr>
          <p:nvPr/>
        </p:nvSpPr>
        <p:spPr bwMode="auto">
          <a:xfrm>
            <a:off x="3654425" y="992188"/>
            <a:ext cx="458788" cy="4587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3743" name="Text Box 1040"/>
          <p:cNvSpPr txBox="1">
            <a:spLocks noChangeArrowheads="1"/>
          </p:cNvSpPr>
          <p:nvPr/>
        </p:nvSpPr>
        <p:spPr bwMode="auto">
          <a:xfrm>
            <a:off x="3714750" y="99218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73744" name="Oval 1041"/>
          <p:cNvSpPr>
            <a:spLocks noChangeArrowheads="1"/>
          </p:cNvSpPr>
          <p:nvPr/>
        </p:nvSpPr>
        <p:spPr bwMode="auto">
          <a:xfrm>
            <a:off x="4730750" y="1609725"/>
            <a:ext cx="458788" cy="4587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3745" name="Text Box 1042"/>
          <p:cNvSpPr txBox="1">
            <a:spLocks noChangeArrowheads="1"/>
          </p:cNvSpPr>
          <p:nvPr/>
        </p:nvSpPr>
        <p:spPr bwMode="auto">
          <a:xfrm>
            <a:off x="4791075" y="160972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73746" name="Line 1043"/>
          <p:cNvSpPr>
            <a:spLocks noChangeShapeType="1"/>
          </p:cNvSpPr>
          <p:nvPr/>
        </p:nvSpPr>
        <p:spPr bwMode="auto">
          <a:xfrm flipH="1">
            <a:off x="4119563" y="858838"/>
            <a:ext cx="617537" cy="300037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747" name="Line 1044"/>
          <p:cNvSpPr>
            <a:spLocks noChangeShapeType="1"/>
          </p:cNvSpPr>
          <p:nvPr/>
        </p:nvSpPr>
        <p:spPr bwMode="auto">
          <a:xfrm>
            <a:off x="4965700" y="1035050"/>
            <a:ext cx="0" cy="600075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748" name="Text Box 1045"/>
          <p:cNvSpPr txBox="1">
            <a:spLocks noChangeArrowheads="1"/>
          </p:cNvSpPr>
          <p:nvPr/>
        </p:nvSpPr>
        <p:spPr bwMode="auto">
          <a:xfrm>
            <a:off x="4046538" y="601663"/>
            <a:ext cx="641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1500</a:t>
            </a:r>
          </a:p>
        </p:txBody>
      </p:sp>
      <p:sp>
        <p:nvSpPr>
          <p:cNvPr id="73749" name="Text Box 1046"/>
          <p:cNvSpPr txBox="1">
            <a:spLocks noChangeArrowheads="1"/>
          </p:cNvSpPr>
          <p:nvPr/>
        </p:nvSpPr>
        <p:spPr bwMode="auto">
          <a:xfrm>
            <a:off x="4962525" y="1185863"/>
            <a:ext cx="527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250</a:t>
            </a:r>
          </a:p>
        </p:txBody>
      </p:sp>
      <p:sp>
        <p:nvSpPr>
          <p:cNvPr id="73750" name="Line 1047"/>
          <p:cNvSpPr>
            <a:spLocks noChangeShapeType="1"/>
          </p:cNvSpPr>
          <p:nvPr/>
        </p:nvSpPr>
        <p:spPr bwMode="auto">
          <a:xfrm flipH="1" flipV="1">
            <a:off x="4073525" y="1341438"/>
            <a:ext cx="669925" cy="422275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751" name="Text Box 1048"/>
          <p:cNvSpPr txBox="1">
            <a:spLocks noChangeArrowheads="1"/>
          </p:cNvSpPr>
          <p:nvPr/>
        </p:nvSpPr>
        <p:spPr bwMode="auto">
          <a:xfrm>
            <a:off x="3840163" y="1525588"/>
            <a:ext cx="641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1000</a:t>
            </a:r>
          </a:p>
        </p:txBody>
      </p:sp>
      <p:sp>
        <p:nvSpPr>
          <p:cNvPr id="73752" name="Text Box 1049"/>
          <p:cNvSpPr txBox="1">
            <a:spLocks noChangeArrowheads="1"/>
          </p:cNvSpPr>
          <p:nvPr/>
        </p:nvSpPr>
        <p:spPr bwMode="auto">
          <a:xfrm>
            <a:off x="1481138" y="2482850"/>
            <a:ext cx="565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TW" altLang="zh-TW">
                <a:solidFill>
                  <a:schemeClr val="tx1"/>
                </a:solidFill>
              </a:rPr>
              <a:t>選</a:t>
            </a:r>
            <a:r>
              <a:rPr lang="en-US" altLang="zh-TW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3753" name="Text Box 1050"/>
          <p:cNvSpPr txBox="1">
            <a:spLocks noChangeArrowheads="1"/>
          </p:cNvSpPr>
          <p:nvPr/>
        </p:nvSpPr>
        <p:spPr bwMode="auto">
          <a:xfrm>
            <a:off x="3155950" y="2517775"/>
            <a:ext cx="2470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4</a:t>
            </a:r>
            <a:r>
              <a:rPr lang="zh-TW" altLang="en-US">
                <a:solidFill>
                  <a:schemeClr val="tx1"/>
                </a:solidFill>
              </a:rPr>
              <a:t>到</a:t>
            </a:r>
            <a:r>
              <a:rPr lang="en-US" altLang="zh-TW">
                <a:solidFill>
                  <a:schemeClr val="tx1"/>
                </a:solidFill>
              </a:rPr>
              <a:t>3</a:t>
            </a:r>
            <a:r>
              <a:rPr lang="zh-TW" altLang="en-US">
                <a:solidFill>
                  <a:schemeClr val="tx1"/>
                </a:solidFill>
              </a:rPr>
              <a:t>由</a:t>
            </a:r>
            <a:r>
              <a:rPr lang="en-US" altLang="zh-TW">
                <a:solidFill>
                  <a:schemeClr val="tx1"/>
                </a:solidFill>
              </a:rPr>
              <a:t>1500</a:t>
            </a:r>
            <a:r>
              <a:rPr lang="zh-TW" altLang="en-US">
                <a:solidFill>
                  <a:schemeClr val="tx1"/>
                </a:solidFill>
              </a:rPr>
              <a:t>改成</a:t>
            </a:r>
            <a:r>
              <a:rPr lang="en-US" altLang="zh-TW">
                <a:solidFill>
                  <a:schemeClr val="tx1"/>
                </a:solidFill>
              </a:rPr>
              <a:t>1250</a:t>
            </a:r>
          </a:p>
        </p:txBody>
      </p:sp>
      <p:sp>
        <p:nvSpPr>
          <p:cNvPr id="73754" name="Oval 1051"/>
          <p:cNvSpPr>
            <a:spLocks noChangeArrowheads="1"/>
          </p:cNvSpPr>
          <p:nvPr/>
        </p:nvSpPr>
        <p:spPr bwMode="auto">
          <a:xfrm>
            <a:off x="7140575" y="0"/>
            <a:ext cx="458788" cy="4587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3755" name="Text Box 1052"/>
          <p:cNvSpPr txBox="1">
            <a:spLocks noChangeArrowheads="1"/>
          </p:cNvSpPr>
          <p:nvPr/>
        </p:nvSpPr>
        <p:spPr bwMode="auto">
          <a:xfrm>
            <a:off x="7200900" y="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73756" name="Oval 1053"/>
          <p:cNvSpPr>
            <a:spLocks noChangeArrowheads="1"/>
          </p:cNvSpPr>
          <p:nvPr/>
        </p:nvSpPr>
        <p:spPr bwMode="auto">
          <a:xfrm>
            <a:off x="7134225" y="1033463"/>
            <a:ext cx="458788" cy="4587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3757" name="Text Box 1054"/>
          <p:cNvSpPr txBox="1">
            <a:spLocks noChangeArrowheads="1"/>
          </p:cNvSpPr>
          <p:nvPr/>
        </p:nvSpPr>
        <p:spPr bwMode="auto">
          <a:xfrm>
            <a:off x="7194550" y="103346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73758" name="Line 1055"/>
          <p:cNvSpPr>
            <a:spLocks noChangeShapeType="1"/>
          </p:cNvSpPr>
          <p:nvPr/>
        </p:nvSpPr>
        <p:spPr bwMode="auto">
          <a:xfrm>
            <a:off x="7369175" y="458788"/>
            <a:ext cx="0" cy="600075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759" name="Text Box 1056"/>
          <p:cNvSpPr txBox="1">
            <a:spLocks noChangeArrowheads="1"/>
          </p:cNvSpPr>
          <p:nvPr/>
        </p:nvSpPr>
        <p:spPr bwMode="auto">
          <a:xfrm>
            <a:off x="7366000" y="609600"/>
            <a:ext cx="527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250</a:t>
            </a:r>
          </a:p>
        </p:txBody>
      </p:sp>
      <p:sp>
        <p:nvSpPr>
          <p:cNvPr id="73760" name="Oval 1057"/>
          <p:cNvSpPr>
            <a:spLocks noChangeArrowheads="1"/>
          </p:cNvSpPr>
          <p:nvPr/>
        </p:nvSpPr>
        <p:spPr bwMode="auto">
          <a:xfrm>
            <a:off x="6403975" y="1944688"/>
            <a:ext cx="458788" cy="4587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3761" name="Text Box 1058"/>
          <p:cNvSpPr txBox="1">
            <a:spLocks noChangeArrowheads="1"/>
          </p:cNvSpPr>
          <p:nvPr/>
        </p:nvSpPr>
        <p:spPr bwMode="auto">
          <a:xfrm>
            <a:off x="6464300" y="194468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6</a:t>
            </a:r>
          </a:p>
        </p:txBody>
      </p:sp>
      <p:sp>
        <p:nvSpPr>
          <p:cNvPr id="73762" name="Line 1059"/>
          <p:cNvSpPr>
            <a:spLocks noChangeShapeType="1"/>
          </p:cNvSpPr>
          <p:nvPr/>
        </p:nvSpPr>
        <p:spPr bwMode="auto">
          <a:xfrm flipH="1">
            <a:off x="6773863" y="1498600"/>
            <a:ext cx="493712" cy="493713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763" name="Text Box 1060"/>
          <p:cNvSpPr txBox="1">
            <a:spLocks noChangeArrowheads="1"/>
          </p:cNvSpPr>
          <p:nvPr/>
        </p:nvSpPr>
        <p:spPr bwMode="auto">
          <a:xfrm>
            <a:off x="7161213" y="1671638"/>
            <a:ext cx="565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900</a:t>
            </a:r>
            <a:endParaRPr lang="en-US" altLang="zh-TW" sz="2400">
              <a:solidFill>
                <a:schemeClr val="tx1"/>
              </a:solidFill>
            </a:endParaRPr>
          </a:p>
        </p:txBody>
      </p:sp>
      <p:sp>
        <p:nvSpPr>
          <p:cNvPr id="73764" name="Text Box 1061"/>
          <p:cNvSpPr txBox="1">
            <a:spLocks noChangeArrowheads="1"/>
          </p:cNvSpPr>
          <p:nvPr/>
        </p:nvSpPr>
        <p:spPr bwMode="auto">
          <a:xfrm>
            <a:off x="6189663" y="2444750"/>
            <a:ext cx="21796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4</a:t>
            </a:r>
            <a:r>
              <a:rPr lang="zh-TW" altLang="en-US">
                <a:solidFill>
                  <a:schemeClr val="tx1"/>
                </a:solidFill>
              </a:rPr>
              <a:t>到</a:t>
            </a:r>
            <a:r>
              <a:rPr lang="en-US" altLang="zh-TW">
                <a:solidFill>
                  <a:schemeClr val="tx1"/>
                </a:solidFill>
              </a:rPr>
              <a:t>6</a:t>
            </a:r>
            <a:r>
              <a:rPr lang="zh-TW" altLang="en-US">
                <a:solidFill>
                  <a:schemeClr val="tx1"/>
                </a:solidFill>
              </a:rPr>
              <a:t>由</a:t>
            </a:r>
            <a:r>
              <a:rPr lang="zh-TW" altLang="en-US" sz="2400">
                <a:solidFill>
                  <a:schemeClr val="tx1"/>
                </a:solidFill>
                <a:ea typeface="PMingLiU" pitchFamily="18" charset="-120"/>
                <a:sym typeface="Symbol" pitchFamily="18" charset="2"/>
              </a:rPr>
              <a:t></a:t>
            </a:r>
            <a:r>
              <a:rPr lang="zh-TW" altLang="en-US">
                <a:solidFill>
                  <a:schemeClr val="tx1"/>
                </a:solidFill>
              </a:rPr>
              <a:t>改成</a:t>
            </a:r>
            <a:r>
              <a:rPr lang="en-US" altLang="zh-TW">
                <a:solidFill>
                  <a:schemeClr val="tx1"/>
                </a:solidFill>
              </a:rPr>
              <a:t>1250</a:t>
            </a:r>
          </a:p>
        </p:txBody>
      </p:sp>
      <p:sp>
        <p:nvSpPr>
          <p:cNvPr id="73765" name="Oval 1062"/>
          <p:cNvSpPr>
            <a:spLocks noChangeArrowheads="1"/>
          </p:cNvSpPr>
          <p:nvPr/>
        </p:nvSpPr>
        <p:spPr bwMode="auto">
          <a:xfrm>
            <a:off x="2106613" y="3151188"/>
            <a:ext cx="458787" cy="4587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3766" name="Text Box 1063"/>
          <p:cNvSpPr txBox="1">
            <a:spLocks noChangeArrowheads="1"/>
          </p:cNvSpPr>
          <p:nvPr/>
        </p:nvSpPr>
        <p:spPr bwMode="auto">
          <a:xfrm>
            <a:off x="2166938" y="315118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73767" name="Oval 1064"/>
          <p:cNvSpPr>
            <a:spLocks noChangeArrowheads="1"/>
          </p:cNvSpPr>
          <p:nvPr/>
        </p:nvSpPr>
        <p:spPr bwMode="auto">
          <a:xfrm>
            <a:off x="2100263" y="4184650"/>
            <a:ext cx="458787" cy="4587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3768" name="Text Box 1065"/>
          <p:cNvSpPr txBox="1">
            <a:spLocks noChangeArrowheads="1"/>
          </p:cNvSpPr>
          <p:nvPr/>
        </p:nvSpPr>
        <p:spPr bwMode="auto">
          <a:xfrm>
            <a:off x="2160588" y="418465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73769" name="Line 1066"/>
          <p:cNvSpPr>
            <a:spLocks noChangeShapeType="1"/>
          </p:cNvSpPr>
          <p:nvPr/>
        </p:nvSpPr>
        <p:spPr bwMode="auto">
          <a:xfrm>
            <a:off x="2335213" y="3609975"/>
            <a:ext cx="0" cy="600075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770" name="Text Box 1067"/>
          <p:cNvSpPr txBox="1">
            <a:spLocks noChangeArrowheads="1"/>
          </p:cNvSpPr>
          <p:nvPr/>
        </p:nvSpPr>
        <p:spPr bwMode="auto">
          <a:xfrm>
            <a:off x="2332038" y="3760788"/>
            <a:ext cx="527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250</a:t>
            </a:r>
          </a:p>
        </p:txBody>
      </p:sp>
      <p:sp>
        <p:nvSpPr>
          <p:cNvPr id="73771" name="Oval 1068"/>
          <p:cNvSpPr>
            <a:spLocks noChangeArrowheads="1"/>
          </p:cNvSpPr>
          <p:nvPr/>
        </p:nvSpPr>
        <p:spPr bwMode="auto">
          <a:xfrm>
            <a:off x="1035050" y="4406900"/>
            <a:ext cx="458788" cy="4587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3772" name="Text Box 1069"/>
          <p:cNvSpPr txBox="1">
            <a:spLocks noChangeArrowheads="1"/>
          </p:cNvSpPr>
          <p:nvPr/>
        </p:nvSpPr>
        <p:spPr bwMode="auto">
          <a:xfrm>
            <a:off x="1095375" y="44069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7</a:t>
            </a:r>
          </a:p>
        </p:txBody>
      </p:sp>
      <p:sp>
        <p:nvSpPr>
          <p:cNvPr id="73773" name="Text Box 1071"/>
          <p:cNvSpPr txBox="1">
            <a:spLocks noChangeArrowheads="1"/>
          </p:cNvSpPr>
          <p:nvPr/>
        </p:nvSpPr>
        <p:spPr bwMode="auto">
          <a:xfrm>
            <a:off x="1517650" y="4505325"/>
            <a:ext cx="692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1400</a:t>
            </a:r>
            <a:endParaRPr lang="en-US" altLang="zh-TW" sz="2400">
              <a:solidFill>
                <a:schemeClr val="tx1"/>
              </a:solidFill>
            </a:endParaRPr>
          </a:p>
        </p:txBody>
      </p:sp>
      <p:sp>
        <p:nvSpPr>
          <p:cNvPr id="73774" name="Text Box 1072"/>
          <p:cNvSpPr txBox="1">
            <a:spLocks noChangeArrowheads="1"/>
          </p:cNvSpPr>
          <p:nvPr/>
        </p:nvSpPr>
        <p:spPr bwMode="auto">
          <a:xfrm>
            <a:off x="1155700" y="5595938"/>
            <a:ext cx="21796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4</a:t>
            </a:r>
            <a:r>
              <a:rPr lang="zh-TW" altLang="en-US">
                <a:solidFill>
                  <a:schemeClr val="tx1"/>
                </a:solidFill>
              </a:rPr>
              <a:t>到</a:t>
            </a:r>
            <a:r>
              <a:rPr lang="en-US" altLang="zh-TW">
                <a:solidFill>
                  <a:schemeClr val="tx1"/>
                </a:solidFill>
              </a:rPr>
              <a:t>7</a:t>
            </a:r>
            <a:r>
              <a:rPr lang="zh-TW" altLang="en-US">
                <a:solidFill>
                  <a:schemeClr val="tx1"/>
                </a:solidFill>
              </a:rPr>
              <a:t>由</a:t>
            </a:r>
            <a:r>
              <a:rPr lang="zh-TW" altLang="en-US" sz="2400">
                <a:solidFill>
                  <a:schemeClr val="tx1"/>
                </a:solidFill>
                <a:ea typeface="PMingLiU" pitchFamily="18" charset="-120"/>
                <a:sym typeface="Symbol" pitchFamily="18" charset="2"/>
              </a:rPr>
              <a:t></a:t>
            </a:r>
            <a:r>
              <a:rPr lang="zh-TW" altLang="en-US">
                <a:solidFill>
                  <a:schemeClr val="tx1"/>
                </a:solidFill>
              </a:rPr>
              <a:t>改成</a:t>
            </a:r>
            <a:r>
              <a:rPr lang="en-US" altLang="zh-TW">
                <a:solidFill>
                  <a:schemeClr val="tx1"/>
                </a:solidFill>
              </a:rPr>
              <a:t>1650</a:t>
            </a:r>
          </a:p>
        </p:txBody>
      </p:sp>
      <p:sp>
        <p:nvSpPr>
          <p:cNvPr id="73775" name="Line 1073"/>
          <p:cNvSpPr>
            <a:spLocks noChangeShapeType="1"/>
          </p:cNvSpPr>
          <p:nvPr/>
        </p:nvSpPr>
        <p:spPr bwMode="auto">
          <a:xfrm flipH="1">
            <a:off x="1428750" y="4410075"/>
            <a:ext cx="669925" cy="104775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776" name="Oval 1074"/>
          <p:cNvSpPr>
            <a:spLocks noChangeArrowheads="1"/>
          </p:cNvSpPr>
          <p:nvPr/>
        </p:nvSpPr>
        <p:spPr bwMode="auto">
          <a:xfrm>
            <a:off x="4965700" y="3027363"/>
            <a:ext cx="458788" cy="4587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3777" name="Text Box 1075"/>
          <p:cNvSpPr txBox="1">
            <a:spLocks noChangeArrowheads="1"/>
          </p:cNvSpPr>
          <p:nvPr/>
        </p:nvSpPr>
        <p:spPr bwMode="auto">
          <a:xfrm>
            <a:off x="5026025" y="302736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73778" name="Oval 1076"/>
          <p:cNvSpPr>
            <a:spLocks noChangeArrowheads="1"/>
          </p:cNvSpPr>
          <p:nvPr/>
        </p:nvSpPr>
        <p:spPr bwMode="auto">
          <a:xfrm>
            <a:off x="4959350" y="4060825"/>
            <a:ext cx="458788" cy="4587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3779" name="Text Box 1077"/>
          <p:cNvSpPr txBox="1">
            <a:spLocks noChangeArrowheads="1"/>
          </p:cNvSpPr>
          <p:nvPr/>
        </p:nvSpPr>
        <p:spPr bwMode="auto">
          <a:xfrm>
            <a:off x="5019675" y="406082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73780" name="Line 1078"/>
          <p:cNvSpPr>
            <a:spLocks noChangeShapeType="1"/>
          </p:cNvSpPr>
          <p:nvPr/>
        </p:nvSpPr>
        <p:spPr bwMode="auto">
          <a:xfrm>
            <a:off x="5194300" y="3486150"/>
            <a:ext cx="0" cy="600075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781" name="Text Box 1079"/>
          <p:cNvSpPr txBox="1">
            <a:spLocks noChangeArrowheads="1"/>
          </p:cNvSpPr>
          <p:nvPr/>
        </p:nvSpPr>
        <p:spPr bwMode="auto">
          <a:xfrm>
            <a:off x="5191125" y="3636963"/>
            <a:ext cx="527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250</a:t>
            </a:r>
          </a:p>
        </p:txBody>
      </p:sp>
      <p:sp>
        <p:nvSpPr>
          <p:cNvPr id="73782" name="Oval 1080"/>
          <p:cNvSpPr>
            <a:spLocks noChangeArrowheads="1"/>
          </p:cNvSpPr>
          <p:nvPr/>
        </p:nvSpPr>
        <p:spPr bwMode="auto">
          <a:xfrm>
            <a:off x="4229100" y="4972050"/>
            <a:ext cx="458788" cy="4587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3783" name="Text Box 1081"/>
          <p:cNvSpPr txBox="1">
            <a:spLocks noChangeArrowheads="1"/>
          </p:cNvSpPr>
          <p:nvPr/>
        </p:nvSpPr>
        <p:spPr bwMode="auto">
          <a:xfrm>
            <a:off x="4289425" y="497205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6</a:t>
            </a:r>
          </a:p>
        </p:txBody>
      </p:sp>
      <p:sp>
        <p:nvSpPr>
          <p:cNvPr id="73784" name="Line 1082"/>
          <p:cNvSpPr>
            <a:spLocks noChangeShapeType="1"/>
          </p:cNvSpPr>
          <p:nvPr/>
        </p:nvSpPr>
        <p:spPr bwMode="auto">
          <a:xfrm flipH="1">
            <a:off x="4598988" y="4525963"/>
            <a:ext cx="493712" cy="493712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785" name="Text Box 1083"/>
          <p:cNvSpPr txBox="1">
            <a:spLocks noChangeArrowheads="1"/>
          </p:cNvSpPr>
          <p:nvPr/>
        </p:nvSpPr>
        <p:spPr bwMode="auto">
          <a:xfrm>
            <a:off x="4986338" y="4699000"/>
            <a:ext cx="565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900</a:t>
            </a:r>
            <a:endParaRPr lang="en-US" altLang="zh-TW" sz="2400">
              <a:solidFill>
                <a:schemeClr val="tx1"/>
              </a:solidFill>
            </a:endParaRPr>
          </a:p>
        </p:txBody>
      </p:sp>
      <p:sp>
        <p:nvSpPr>
          <p:cNvPr id="73786" name="Oval 1084"/>
          <p:cNvSpPr>
            <a:spLocks noChangeArrowheads="1"/>
          </p:cNvSpPr>
          <p:nvPr/>
        </p:nvSpPr>
        <p:spPr bwMode="auto">
          <a:xfrm>
            <a:off x="3868738" y="4259263"/>
            <a:ext cx="458787" cy="4587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3787" name="Text Box 1085"/>
          <p:cNvSpPr txBox="1">
            <a:spLocks noChangeArrowheads="1"/>
          </p:cNvSpPr>
          <p:nvPr/>
        </p:nvSpPr>
        <p:spPr bwMode="auto">
          <a:xfrm>
            <a:off x="3929063" y="425926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7</a:t>
            </a:r>
          </a:p>
        </p:txBody>
      </p:sp>
      <p:sp>
        <p:nvSpPr>
          <p:cNvPr id="73788" name="Text Box 1086"/>
          <p:cNvSpPr txBox="1">
            <a:spLocks noChangeArrowheads="1"/>
          </p:cNvSpPr>
          <p:nvPr/>
        </p:nvSpPr>
        <p:spPr bwMode="auto">
          <a:xfrm>
            <a:off x="4351338" y="4357688"/>
            <a:ext cx="692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1400</a:t>
            </a:r>
            <a:endParaRPr lang="en-US" altLang="zh-TW" sz="2400">
              <a:solidFill>
                <a:schemeClr val="tx1"/>
              </a:solidFill>
            </a:endParaRPr>
          </a:p>
        </p:txBody>
      </p:sp>
      <p:sp>
        <p:nvSpPr>
          <p:cNvPr id="73789" name="Line 1087"/>
          <p:cNvSpPr>
            <a:spLocks noChangeShapeType="1"/>
          </p:cNvSpPr>
          <p:nvPr/>
        </p:nvSpPr>
        <p:spPr bwMode="auto">
          <a:xfrm flipH="1">
            <a:off x="4262438" y="4262438"/>
            <a:ext cx="669925" cy="104775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790" name="Oval 1092"/>
          <p:cNvSpPr>
            <a:spLocks noChangeArrowheads="1"/>
          </p:cNvSpPr>
          <p:nvPr/>
        </p:nvSpPr>
        <p:spPr bwMode="auto">
          <a:xfrm>
            <a:off x="3894138" y="3367088"/>
            <a:ext cx="458787" cy="4587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3791" name="Text Box 1093"/>
          <p:cNvSpPr txBox="1">
            <a:spLocks noChangeArrowheads="1"/>
          </p:cNvSpPr>
          <p:nvPr/>
        </p:nvSpPr>
        <p:spPr bwMode="auto">
          <a:xfrm>
            <a:off x="3954463" y="336708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73792" name="Line 1095"/>
          <p:cNvSpPr>
            <a:spLocks noChangeShapeType="1"/>
          </p:cNvSpPr>
          <p:nvPr/>
        </p:nvSpPr>
        <p:spPr bwMode="auto">
          <a:xfrm flipH="1" flipV="1">
            <a:off x="4313238" y="3716338"/>
            <a:ext cx="669925" cy="422275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793" name="Text Box 1096"/>
          <p:cNvSpPr txBox="1">
            <a:spLocks noChangeArrowheads="1"/>
          </p:cNvSpPr>
          <p:nvPr/>
        </p:nvSpPr>
        <p:spPr bwMode="auto">
          <a:xfrm>
            <a:off x="4079875" y="3900488"/>
            <a:ext cx="641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1000</a:t>
            </a:r>
          </a:p>
        </p:txBody>
      </p:sp>
      <p:sp>
        <p:nvSpPr>
          <p:cNvPr id="73794" name="Rectangle 1097"/>
          <p:cNvSpPr>
            <a:spLocks noChangeArrowheads="1"/>
          </p:cNvSpPr>
          <p:nvPr/>
        </p:nvSpPr>
        <p:spPr bwMode="auto">
          <a:xfrm>
            <a:off x="4537075" y="5557838"/>
            <a:ext cx="565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TW" altLang="zh-TW">
                <a:solidFill>
                  <a:schemeClr val="tx1"/>
                </a:solidFill>
              </a:rPr>
              <a:t>選</a:t>
            </a:r>
            <a:r>
              <a:rPr lang="en-US" altLang="zh-TW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3795" name="Oval 1098"/>
          <p:cNvSpPr>
            <a:spLocks noChangeArrowheads="1"/>
          </p:cNvSpPr>
          <p:nvPr/>
        </p:nvSpPr>
        <p:spPr bwMode="auto">
          <a:xfrm>
            <a:off x="7570788" y="3198813"/>
            <a:ext cx="458787" cy="4587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3796" name="Text Box 1099"/>
          <p:cNvSpPr txBox="1">
            <a:spLocks noChangeArrowheads="1"/>
          </p:cNvSpPr>
          <p:nvPr/>
        </p:nvSpPr>
        <p:spPr bwMode="auto">
          <a:xfrm>
            <a:off x="7631113" y="319881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73797" name="Oval 1100"/>
          <p:cNvSpPr>
            <a:spLocks noChangeArrowheads="1"/>
          </p:cNvSpPr>
          <p:nvPr/>
        </p:nvSpPr>
        <p:spPr bwMode="auto">
          <a:xfrm>
            <a:off x="7564438" y="4232275"/>
            <a:ext cx="458787" cy="4587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3798" name="Text Box 1101"/>
          <p:cNvSpPr txBox="1">
            <a:spLocks noChangeArrowheads="1"/>
          </p:cNvSpPr>
          <p:nvPr/>
        </p:nvSpPr>
        <p:spPr bwMode="auto">
          <a:xfrm>
            <a:off x="7624763" y="423227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73799" name="Line 1102"/>
          <p:cNvSpPr>
            <a:spLocks noChangeShapeType="1"/>
          </p:cNvSpPr>
          <p:nvPr/>
        </p:nvSpPr>
        <p:spPr bwMode="auto">
          <a:xfrm>
            <a:off x="7799388" y="3657600"/>
            <a:ext cx="0" cy="600075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800" name="Text Box 1103"/>
          <p:cNvSpPr txBox="1">
            <a:spLocks noChangeArrowheads="1"/>
          </p:cNvSpPr>
          <p:nvPr/>
        </p:nvSpPr>
        <p:spPr bwMode="auto">
          <a:xfrm>
            <a:off x="7796213" y="3808413"/>
            <a:ext cx="527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250</a:t>
            </a:r>
          </a:p>
        </p:txBody>
      </p:sp>
      <p:sp>
        <p:nvSpPr>
          <p:cNvPr id="73801" name="Oval 1104"/>
          <p:cNvSpPr>
            <a:spLocks noChangeArrowheads="1"/>
          </p:cNvSpPr>
          <p:nvPr/>
        </p:nvSpPr>
        <p:spPr bwMode="auto">
          <a:xfrm>
            <a:off x="6834188" y="5143500"/>
            <a:ext cx="458787" cy="4587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3802" name="Text Box 1105"/>
          <p:cNvSpPr txBox="1">
            <a:spLocks noChangeArrowheads="1"/>
          </p:cNvSpPr>
          <p:nvPr/>
        </p:nvSpPr>
        <p:spPr bwMode="auto">
          <a:xfrm>
            <a:off x="6894513" y="51435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6</a:t>
            </a:r>
          </a:p>
        </p:txBody>
      </p:sp>
      <p:sp>
        <p:nvSpPr>
          <p:cNvPr id="73803" name="Line 1106"/>
          <p:cNvSpPr>
            <a:spLocks noChangeShapeType="1"/>
          </p:cNvSpPr>
          <p:nvPr/>
        </p:nvSpPr>
        <p:spPr bwMode="auto">
          <a:xfrm flipH="1">
            <a:off x="7204075" y="4697413"/>
            <a:ext cx="493713" cy="493712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804" name="Text Box 1107"/>
          <p:cNvSpPr txBox="1">
            <a:spLocks noChangeArrowheads="1"/>
          </p:cNvSpPr>
          <p:nvPr/>
        </p:nvSpPr>
        <p:spPr bwMode="auto">
          <a:xfrm>
            <a:off x="7591425" y="4870450"/>
            <a:ext cx="565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900</a:t>
            </a:r>
            <a:endParaRPr lang="en-US" altLang="zh-TW" sz="2400">
              <a:solidFill>
                <a:schemeClr val="tx1"/>
              </a:solidFill>
            </a:endParaRPr>
          </a:p>
        </p:txBody>
      </p:sp>
      <p:sp>
        <p:nvSpPr>
          <p:cNvPr id="73805" name="Oval 1108"/>
          <p:cNvSpPr>
            <a:spLocks noChangeArrowheads="1"/>
          </p:cNvSpPr>
          <p:nvPr/>
        </p:nvSpPr>
        <p:spPr bwMode="auto">
          <a:xfrm>
            <a:off x="6473825" y="4430713"/>
            <a:ext cx="458788" cy="4587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3806" name="Text Box 1109"/>
          <p:cNvSpPr txBox="1">
            <a:spLocks noChangeArrowheads="1"/>
          </p:cNvSpPr>
          <p:nvPr/>
        </p:nvSpPr>
        <p:spPr bwMode="auto">
          <a:xfrm>
            <a:off x="6534150" y="443071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7</a:t>
            </a:r>
          </a:p>
        </p:txBody>
      </p:sp>
      <p:sp>
        <p:nvSpPr>
          <p:cNvPr id="73807" name="Text Box 1110"/>
          <p:cNvSpPr txBox="1">
            <a:spLocks noChangeArrowheads="1"/>
          </p:cNvSpPr>
          <p:nvPr/>
        </p:nvSpPr>
        <p:spPr bwMode="auto">
          <a:xfrm>
            <a:off x="6956425" y="4529138"/>
            <a:ext cx="692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1400</a:t>
            </a:r>
            <a:endParaRPr lang="en-US" altLang="zh-TW" sz="2400">
              <a:solidFill>
                <a:schemeClr val="tx1"/>
              </a:solidFill>
            </a:endParaRPr>
          </a:p>
        </p:txBody>
      </p:sp>
      <p:sp>
        <p:nvSpPr>
          <p:cNvPr id="73808" name="Line 1111"/>
          <p:cNvSpPr>
            <a:spLocks noChangeShapeType="1"/>
          </p:cNvSpPr>
          <p:nvPr/>
        </p:nvSpPr>
        <p:spPr bwMode="auto">
          <a:xfrm flipH="1">
            <a:off x="6867525" y="4433888"/>
            <a:ext cx="669925" cy="104775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809" name="Line 1116"/>
          <p:cNvSpPr>
            <a:spLocks noChangeShapeType="1"/>
          </p:cNvSpPr>
          <p:nvPr/>
        </p:nvSpPr>
        <p:spPr bwMode="auto">
          <a:xfrm flipH="1" flipV="1">
            <a:off x="6808788" y="4849813"/>
            <a:ext cx="123825" cy="317500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810" name="Text Box 1117"/>
          <p:cNvSpPr txBox="1">
            <a:spLocks noChangeArrowheads="1"/>
          </p:cNvSpPr>
          <p:nvPr/>
        </p:nvSpPr>
        <p:spPr bwMode="auto">
          <a:xfrm>
            <a:off x="6075363" y="4951413"/>
            <a:ext cx="692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1000</a:t>
            </a:r>
          </a:p>
        </p:txBody>
      </p:sp>
      <p:sp>
        <p:nvSpPr>
          <p:cNvPr id="73811" name="Text Box 1118"/>
          <p:cNvSpPr txBox="1">
            <a:spLocks noChangeArrowheads="1"/>
          </p:cNvSpPr>
          <p:nvPr/>
        </p:nvSpPr>
        <p:spPr bwMode="auto">
          <a:xfrm>
            <a:off x="6253163" y="5745163"/>
            <a:ext cx="20018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4-5-6-7</a:t>
            </a:r>
            <a:r>
              <a:rPr lang="zh-TW" altLang="en-US">
                <a:solidFill>
                  <a:schemeClr val="tx1"/>
                </a:solidFill>
              </a:rPr>
              <a:t>比</a:t>
            </a:r>
            <a:r>
              <a:rPr lang="en-US" altLang="zh-TW">
                <a:solidFill>
                  <a:schemeClr val="tx1"/>
                </a:solidFill>
              </a:rPr>
              <a:t>4-5-7</a:t>
            </a:r>
            <a:r>
              <a:rPr lang="zh-TW" altLang="en-US">
                <a:solidFill>
                  <a:schemeClr val="tx1"/>
                </a:solidFill>
              </a:rPr>
              <a:t>長</a:t>
            </a:r>
          </a:p>
        </p:txBody>
      </p:sp>
      <p:sp>
        <p:nvSpPr>
          <p:cNvPr id="73812" name="Text Box 1119"/>
          <p:cNvSpPr txBox="1">
            <a:spLocks noChangeArrowheads="1"/>
          </p:cNvSpPr>
          <p:nvPr/>
        </p:nvSpPr>
        <p:spPr bwMode="auto">
          <a:xfrm>
            <a:off x="2033588" y="0"/>
            <a:ext cx="5222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</a:rPr>
              <a:t>(a)</a:t>
            </a:r>
          </a:p>
        </p:txBody>
      </p:sp>
      <p:sp>
        <p:nvSpPr>
          <p:cNvPr id="73813" name="Text Box 1120"/>
          <p:cNvSpPr txBox="1">
            <a:spLocks noChangeArrowheads="1"/>
          </p:cNvSpPr>
          <p:nvPr/>
        </p:nvSpPr>
        <p:spPr bwMode="auto">
          <a:xfrm>
            <a:off x="4405313" y="0"/>
            <a:ext cx="539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</a:rPr>
              <a:t>(b)</a:t>
            </a:r>
          </a:p>
        </p:txBody>
      </p:sp>
      <p:sp>
        <p:nvSpPr>
          <p:cNvPr id="73814" name="Text Box 1121"/>
          <p:cNvSpPr txBox="1">
            <a:spLocks noChangeArrowheads="1"/>
          </p:cNvSpPr>
          <p:nvPr/>
        </p:nvSpPr>
        <p:spPr bwMode="auto">
          <a:xfrm>
            <a:off x="6213475" y="0"/>
            <a:ext cx="522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</a:rPr>
              <a:t>(c)</a:t>
            </a:r>
          </a:p>
        </p:txBody>
      </p:sp>
      <p:sp>
        <p:nvSpPr>
          <p:cNvPr id="73815" name="Text Box 1122"/>
          <p:cNvSpPr txBox="1">
            <a:spLocks noChangeArrowheads="1"/>
          </p:cNvSpPr>
          <p:nvPr/>
        </p:nvSpPr>
        <p:spPr bwMode="auto">
          <a:xfrm>
            <a:off x="982663" y="3333750"/>
            <a:ext cx="539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</a:rPr>
              <a:t>(d)</a:t>
            </a:r>
          </a:p>
        </p:txBody>
      </p:sp>
      <p:sp>
        <p:nvSpPr>
          <p:cNvPr id="73816" name="Text Box 1123"/>
          <p:cNvSpPr txBox="1">
            <a:spLocks noChangeArrowheads="1"/>
          </p:cNvSpPr>
          <p:nvPr/>
        </p:nvSpPr>
        <p:spPr bwMode="auto">
          <a:xfrm>
            <a:off x="3038475" y="3351213"/>
            <a:ext cx="522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</a:rPr>
              <a:t>(e)</a:t>
            </a:r>
          </a:p>
        </p:txBody>
      </p:sp>
      <p:sp>
        <p:nvSpPr>
          <p:cNvPr id="73817" name="Text Box 1124"/>
          <p:cNvSpPr txBox="1">
            <a:spLocks noChangeArrowheads="1"/>
          </p:cNvSpPr>
          <p:nvPr/>
        </p:nvSpPr>
        <p:spPr bwMode="auto">
          <a:xfrm>
            <a:off x="6370638" y="3281363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</a:rPr>
              <a:t>(f)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Oval 3"/>
          <p:cNvSpPr>
            <a:spLocks noChangeArrowheads="1"/>
          </p:cNvSpPr>
          <p:nvPr/>
        </p:nvSpPr>
        <p:spPr bwMode="auto">
          <a:xfrm>
            <a:off x="3008313" y="347663"/>
            <a:ext cx="458787" cy="4587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55" name="Text Box 4"/>
          <p:cNvSpPr txBox="1">
            <a:spLocks noChangeArrowheads="1"/>
          </p:cNvSpPr>
          <p:nvPr/>
        </p:nvSpPr>
        <p:spPr bwMode="auto">
          <a:xfrm>
            <a:off x="3068638" y="34766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74756" name="Oval 5"/>
          <p:cNvSpPr>
            <a:spLocks noChangeArrowheads="1"/>
          </p:cNvSpPr>
          <p:nvPr/>
        </p:nvSpPr>
        <p:spPr bwMode="auto">
          <a:xfrm>
            <a:off x="3001963" y="1381125"/>
            <a:ext cx="458787" cy="4587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57" name="Text Box 6"/>
          <p:cNvSpPr txBox="1">
            <a:spLocks noChangeArrowheads="1"/>
          </p:cNvSpPr>
          <p:nvPr/>
        </p:nvSpPr>
        <p:spPr bwMode="auto">
          <a:xfrm>
            <a:off x="3062288" y="138112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74758" name="Line 7"/>
          <p:cNvSpPr>
            <a:spLocks noChangeShapeType="1"/>
          </p:cNvSpPr>
          <p:nvPr/>
        </p:nvSpPr>
        <p:spPr bwMode="auto">
          <a:xfrm>
            <a:off x="3236913" y="806450"/>
            <a:ext cx="0" cy="600075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59" name="Text Box 8"/>
          <p:cNvSpPr txBox="1">
            <a:spLocks noChangeArrowheads="1"/>
          </p:cNvSpPr>
          <p:nvPr/>
        </p:nvSpPr>
        <p:spPr bwMode="auto">
          <a:xfrm>
            <a:off x="3233738" y="957263"/>
            <a:ext cx="527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1800">
                <a:solidFill>
                  <a:schemeClr val="tx2"/>
                </a:solidFill>
                <a:ea typeface="PMingLiU" pitchFamily="18" charset="-120"/>
              </a:rPr>
              <a:t>250</a:t>
            </a:r>
          </a:p>
        </p:txBody>
      </p:sp>
      <p:sp>
        <p:nvSpPr>
          <p:cNvPr id="74760" name="Oval 9"/>
          <p:cNvSpPr>
            <a:spLocks noChangeArrowheads="1"/>
          </p:cNvSpPr>
          <p:nvPr/>
        </p:nvSpPr>
        <p:spPr bwMode="auto">
          <a:xfrm>
            <a:off x="2271713" y="2292350"/>
            <a:ext cx="458787" cy="4587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61" name="Text Box 10"/>
          <p:cNvSpPr txBox="1">
            <a:spLocks noChangeArrowheads="1"/>
          </p:cNvSpPr>
          <p:nvPr/>
        </p:nvSpPr>
        <p:spPr bwMode="auto">
          <a:xfrm>
            <a:off x="2332038" y="229235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6</a:t>
            </a:r>
          </a:p>
        </p:txBody>
      </p:sp>
      <p:sp>
        <p:nvSpPr>
          <p:cNvPr id="74762" name="Line 11"/>
          <p:cNvSpPr>
            <a:spLocks noChangeShapeType="1"/>
          </p:cNvSpPr>
          <p:nvPr/>
        </p:nvSpPr>
        <p:spPr bwMode="auto">
          <a:xfrm flipH="1">
            <a:off x="2641600" y="1846263"/>
            <a:ext cx="493713" cy="493712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63" name="Text Box 12"/>
          <p:cNvSpPr txBox="1">
            <a:spLocks noChangeArrowheads="1"/>
          </p:cNvSpPr>
          <p:nvPr/>
        </p:nvSpPr>
        <p:spPr bwMode="auto">
          <a:xfrm>
            <a:off x="3028950" y="2019300"/>
            <a:ext cx="565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</a:rPr>
              <a:t>900</a:t>
            </a:r>
            <a:endParaRPr lang="en-US" altLang="zh-TW" sz="2400">
              <a:solidFill>
                <a:schemeClr val="tx2"/>
              </a:solidFill>
            </a:endParaRPr>
          </a:p>
        </p:txBody>
      </p:sp>
      <p:sp>
        <p:nvSpPr>
          <p:cNvPr id="74764" name="Oval 13"/>
          <p:cNvSpPr>
            <a:spLocks noChangeArrowheads="1"/>
          </p:cNvSpPr>
          <p:nvPr/>
        </p:nvSpPr>
        <p:spPr bwMode="auto">
          <a:xfrm>
            <a:off x="1911350" y="1579563"/>
            <a:ext cx="458788" cy="4587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65" name="Text Box 14"/>
          <p:cNvSpPr txBox="1">
            <a:spLocks noChangeArrowheads="1"/>
          </p:cNvSpPr>
          <p:nvPr/>
        </p:nvSpPr>
        <p:spPr bwMode="auto">
          <a:xfrm>
            <a:off x="1971675" y="157956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7</a:t>
            </a:r>
          </a:p>
        </p:txBody>
      </p:sp>
      <p:sp>
        <p:nvSpPr>
          <p:cNvPr id="74766" name="Text Box 15"/>
          <p:cNvSpPr txBox="1">
            <a:spLocks noChangeArrowheads="1"/>
          </p:cNvSpPr>
          <p:nvPr/>
        </p:nvSpPr>
        <p:spPr bwMode="auto">
          <a:xfrm>
            <a:off x="2393950" y="1677988"/>
            <a:ext cx="692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</a:rPr>
              <a:t>1400</a:t>
            </a:r>
            <a:endParaRPr lang="en-US" altLang="zh-TW" sz="2400">
              <a:solidFill>
                <a:schemeClr val="tx2"/>
              </a:solidFill>
            </a:endParaRPr>
          </a:p>
        </p:txBody>
      </p:sp>
      <p:sp>
        <p:nvSpPr>
          <p:cNvPr id="74767" name="Line 16"/>
          <p:cNvSpPr>
            <a:spLocks noChangeShapeType="1"/>
          </p:cNvSpPr>
          <p:nvPr/>
        </p:nvSpPr>
        <p:spPr bwMode="auto">
          <a:xfrm flipH="1">
            <a:off x="2305050" y="1582738"/>
            <a:ext cx="669925" cy="104775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68" name="Oval 17"/>
          <p:cNvSpPr>
            <a:spLocks noChangeArrowheads="1"/>
          </p:cNvSpPr>
          <p:nvPr/>
        </p:nvSpPr>
        <p:spPr bwMode="auto">
          <a:xfrm>
            <a:off x="1936750" y="687388"/>
            <a:ext cx="458788" cy="4587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69" name="Text Box 18"/>
          <p:cNvSpPr txBox="1">
            <a:spLocks noChangeArrowheads="1"/>
          </p:cNvSpPr>
          <p:nvPr/>
        </p:nvSpPr>
        <p:spPr bwMode="auto">
          <a:xfrm>
            <a:off x="1997075" y="68738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74770" name="Line 19"/>
          <p:cNvSpPr>
            <a:spLocks noChangeShapeType="1"/>
          </p:cNvSpPr>
          <p:nvPr/>
        </p:nvSpPr>
        <p:spPr bwMode="auto">
          <a:xfrm flipH="1" flipV="1">
            <a:off x="2355850" y="1036638"/>
            <a:ext cx="669925" cy="422275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71" name="Text Box 20"/>
          <p:cNvSpPr txBox="1">
            <a:spLocks noChangeArrowheads="1"/>
          </p:cNvSpPr>
          <p:nvPr/>
        </p:nvSpPr>
        <p:spPr bwMode="auto">
          <a:xfrm>
            <a:off x="2122488" y="1220788"/>
            <a:ext cx="641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1800">
                <a:solidFill>
                  <a:schemeClr val="tx2"/>
                </a:solidFill>
                <a:ea typeface="PMingLiU" pitchFamily="18" charset="-120"/>
              </a:rPr>
              <a:t>1000</a:t>
            </a:r>
          </a:p>
        </p:txBody>
      </p:sp>
      <p:sp>
        <p:nvSpPr>
          <p:cNvPr id="74772" name="Rectangle 21"/>
          <p:cNvSpPr>
            <a:spLocks noChangeArrowheads="1"/>
          </p:cNvSpPr>
          <p:nvPr/>
        </p:nvSpPr>
        <p:spPr bwMode="auto">
          <a:xfrm>
            <a:off x="2436813" y="2965450"/>
            <a:ext cx="565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TW" altLang="zh-TW">
                <a:solidFill>
                  <a:schemeClr val="tx2"/>
                </a:solidFill>
              </a:rPr>
              <a:t>選</a:t>
            </a:r>
            <a:r>
              <a:rPr lang="en-US" altLang="zh-TW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74773" name="Oval 22"/>
          <p:cNvSpPr>
            <a:spLocks noChangeArrowheads="1"/>
          </p:cNvSpPr>
          <p:nvPr/>
        </p:nvSpPr>
        <p:spPr bwMode="auto">
          <a:xfrm>
            <a:off x="6794500" y="482600"/>
            <a:ext cx="458788" cy="4587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74" name="Text Box 23"/>
          <p:cNvSpPr txBox="1">
            <a:spLocks noChangeArrowheads="1"/>
          </p:cNvSpPr>
          <p:nvPr/>
        </p:nvSpPr>
        <p:spPr bwMode="auto">
          <a:xfrm>
            <a:off x="6854825" y="4826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74775" name="Oval 24"/>
          <p:cNvSpPr>
            <a:spLocks noChangeArrowheads="1"/>
          </p:cNvSpPr>
          <p:nvPr/>
        </p:nvSpPr>
        <p:spPr bwMode="auto">
          <a:xfrm>
            <a:off x="6788150" y="1516063"/>
            <a:ext cx="458788" cy="4587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76" name="Text Box 25"/>
          <p:cNvSpPr txBox="1">
            <a:spLocks noChangeArrowheads="1"/>
          </p:cNvSpPr>
          <p:nvPr/>
        </p:nvSpPr>
        <p:spPr bwMode="auto">
          <a:xfrm>
            <a:off x="6848475" y="151606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74777" name="Line 26"/>
          <p:cNvSpPr>
            <a:spLocks noChangeShapeType="1"/>
          </p:cNvSpPr>
          <p:nvPr/>
        </p:nvSpPr>
        <p:spPr bwMode="auto">
          <a:xfrm>
            <a:off x="7023100" y="941388"/>
            <a:ext cx="0" cy="600075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78" name="Text Box 27"/>
          <p:cNvSpPr txBox="1">
            <a:spLocks noChangeArrowheads="1"/>
          </p:cNvSpPr>
          <p:nvPr/>
        </p:nvSpPr>
        <p:spPr bwMode="auto">
          <a:xfrm>
            <a:off x="7019925" y="1092200"/>
            <a:ext cx="527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1800">
                <a:solidFill>
                  <a:schemeClr val="tx2"/>
                </a:solidFill>
                <a:ea typeface="PMingLiU" pitchFamily="18" charset="-120"/>
              </a:rPr>
              <a:t>250</a:t>
            </a:r>
          </a:p>
        </p:txBody>
      </p:sp>
      <p:sp>
        <p:nvSpPr>
          <p:cNvPr id="74779" name="Oval 28"/>
          <p:cNvSpPr>
            <a:spLocks noChangeArrowheads="1"/>
          </p:cNvSpPr>
          <p:nvPr/>
        </p:nvSpPr>
        <p:spPr bwMode="auto">
          <a:xfrm>
            <a:off x="6057900" y="2427288"/>
            <a:ext cx="458788" cy="4587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80" name="Text Box 29"/>
          <p:cNvSpPr txBox="1">
            <a:spLocks noChangeArrowheads="1"/>
          </p:cNvSpPr>
          <p:nvPr/>
        </p:nvSpPr>
        <p:spPr bwMode="auto">
          <a:xfrm>
            <a:off x="6118225" y="242728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6</a:t>
            </a:r>
          </a:p>
        </p:txBody>
      </p:sp>
      <p:sp>
        <p:nvSpPr>
          <p:cNvPr id="74781" name="Line 30"/>
          <p:cNvSpPr>
            <a:spLocks noChangeShapeType="1"/>
          </p:cNvSpPr>
          <p:nvPr/>
        </p:nvSpPr>
        <p:spPr bwMode="auto">
          <a:xfrm flipH="1">
            <a:off x="6427788" y="1981200"/>
            <a:ext cx="493712" cy="493713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82" name="Text Box 31"/>
          <p:cNvSpPr txBox="1">
            <a:spLocks noChangeArrowheads="1"/>
          </p:cNvSpPr>
          <p:nvPr/>
        </p:nvSpPr>
        <p:spPr bwMode="auto">
          <a:xfrm>
            <a:off x="6815138" y="2154238"/>
            <a:ext cx="565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</a:rPr>
              <a:t>900</a:t>
            </a:r>
            <a:endParaRPr lang="en-US" altLang="zh-TW" sz="2400">
              <a:solidFill>
                <a:schemeClr val="tx2"/>
              </a:solidFill>
            </a:endParaRPr>
          </a:p>
        </p:txBody>
      </p:sp>
      <p:sp>
        <p:nvSpPr>
          <p:cNvPr id="74783" name="Oval 32"/>
          <p:cNvSpPr>
            <a:spLocks noChangeArrowheads="1"/>
          </p:cNvSpPr>
          <p:nvPr/>
        </p:nvSpPr>
        <p:spPr bwMode="auto">
          <a:xfrm>
            <a:off x="5697538" y="1714500"/>
            <a:ext cx="458787" cy="4587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84" name="Text Box 33"/>
          <p:cNvSpPr txBox="1">
            <a:spLocks noChangeArrowheads="1"/>
          </p:cNvSpPr>
          <p:nvPr/>
        </p:nvSpPr>
        <p:spPr bwMode="auto">
          <a:xfrm>
            <a:off x="5757863" y="17145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7</a:t>
            </a:r>
          </a:p>
        </p:txBody>
      </p:sp>
      <p:sp>
        <p:nvSpPr>
          <p:cNvPr id="74785" name="Text Box 34"/>
          <p:cNvSpPr txBox="1">
            <a:spLocks noChangeArrowheads="1"/>
          </p:cNvSpPr>
          <p:nvPr/>
        </p:nvSpPr>
        <p:spPr bwMode="auto">
          <a:xfrm>
            <a:off x="6180138" y="1812925"/>
            <a:ext cx="692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</a:rPr>
              <a:t>1400</a:t>
            </a:r>
            <a:endParaRPr lang="en-US" altLang="zh-TW" sz="2400">
              <a:solidFill>
                <a:schemeClr val="tx2"/>
              </a:solidFill>
            </a:endParaRPr>
          </a:p>
        </p:txBody>
      </p:sp>
      <p:sp>
        <p:nvSpPr>
          <p:cNvPr id="74786" name="Line 35"/>
          <p:cNvSpPr>
            <a:spLocks noChangeShapeType="1"/>
          </p:cNvSpPr>
          <p:nvPr/>
        </p:nvSpPr>
        <p:spPr bwMode="auto">
          <a:xfrm flipH="1">
            <a:off x="6091238" y="1717675"/>
            <a:ext cx="669925" cy="104775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87" name="Oval 36"/>
          <p:cNvSpPr>
            <a:spLocks noChangeArrowheads="1"/>
          </p:cNvSpPr>
          <p:nvPr/>
        </p:nvSpPr>
        <p:spPr bwMode="auto">
          <a:xfrm>
            <a:off x="5722938" y="822325"/>
            <a:ext cx="458787" cy="4587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88" name="Text Box 37"/>
          <p:cNvSpPr txBox="1">
            <a:spLocks noChangeArrowheads="1"/>
          </p:cNvSpPr>
          <p:nvPr/>
        </p:nvSpPr>
        <p:spPr bwMode="auto">
          <a:xfrm>
            <a:off x="5783263" y="82232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74789" name="Line 38"/>
          <p:cNvSpPr>
            <a:spLocks noChangeShapeType="1"/>
          </p:cNvSpPr>
          <p:nvPr/>
        </p:nvSpPr>
        <p:spPr bwMode="auto">
          <a:xfrm flipH="1" flipV="1">
            <a:off x="6142038" y="1171575"/>
            <a:ext cx="669925" cy="422275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90" name="Text Box 39"/>
          <p:cNvSpPr txBox="1">
            <a:spLocks noChangeArrowheads="1"/>
          </p:cNvSpPr>
          <p:nvPr/>
        </p:nvSpPr>
        <p:spPr bwMode="auto">
          <a:xfrm>
            <a:off x="5908675" y="1355725"/>
            <a:ext cx="641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1800">
                <a:solidFill>
                  <a:schemeClr val="tx2"/>
                </a:solidFill>
                <a:ea typeface="PMingLiU" pitchFamily="18" charset="-120"/>
              </a:rPr>
              <a:t>1000</a:t>
            </a:r>
          </a:p>
        </p:txBody>
      </p:sp>
      <p:sp>
        <p:nvSpPr>
          <p:cNvPr id="74791" name="Oval 40"/>
          <p:cNvSpPr>
            <a:spLocks noChangeArrowheads="1"/>
          </p:cNvSpPr>
          <p:nvPr/>
        </p:nvSpPr>
        <p:spPr bwMode="auto">
          <a:xfrm>
            <a:off x="4641850" y="833438"/>
            <a:ext cx="458788" cy="4587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92" name="Text Box 41"/>
          <p:cNvSpPr txBox="1">
            <a:spLocks noChangeArrowheads="1"/>
          </p:cNvSpPr>
          <p:nvPr/>
        </p:nvSpPr>
        <p:spPr bwMode="auto">
          <a:xfrm>
            <a:off x="4702175" y="83343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74793" name="Line 42"/>
          <p:cNvSpPr>
            <a:spLocks noChangeShapeType="1"/>
          </p:cNvSpPr>
          <p:nvPr/>
        </p:nvSpPr>
        <p:spPr bwMode="auto">
          <a:xfrm flipH="1">
            <a:off x="5045075" y="1058863"/>
            <a:ext cx="688975" cy="0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94" name="Text Box 43"/>
          <p:cNvSpPr txBox="1">
            <a:spLocks noChangeArrowheads="1"/>
          </p:cNvSpPr>
          <p:nvPr/>
        </p:nvSpPr>
        <p:spPr bwMode="auto">
          <a:xfrm>
            <a:off x="5051425" y="717550"/>
            <a:ext cx="692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</a:rPr>
              <a:t>1200</a:t>
            </a:r>
          </a:p>
        </p:txBody>
      </p:sp>
      <p:sp>
        <p:nvSpPr>
          <p:cNvPr id="74795" name="Rectangle 44"/>
          <p:cNvSpPr>
            <a:spLocks noChangeArrowheads="1"/>
          </p:cNvSpPr>
          <p:nvPr/>
        </p:nvSpPr>
        <p:spPr bwMode="auto">
          <a:xfrm>
            <a:off x="5176838" y="2971800"/>
            <a:ext cx="21796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</a:rPr>
              <a:t>4</a:t>
            </a:r>
            <a:r>
              <a:rPr lang="zh-TW" altLang="en-US">
                <a:solidFill>
                  <a:schemeClr val="tx2"/>
                </a:solidFill>
              </a:rPr>
              <a:t>到</a:t>
            </a:r>
            <a:r>
              <a:rPr lang="en-US" altLang="zh-TW">
                <a:solidFill>
                  <a:schemeClr val="tx2"/>
                </a:solidFill>
              </a:rPr>
              <a:t>2</a:t>
            </a:r>
            <a:r>
              <a:rPr lang="zh-TW" altLang="en-US">
                <a:solidFill>
                  <a:schemeClr val="tx2"/>
                </a:solidFill>
              </a:rPr>
              <a:t>由</a:t>
            </a:r>
            <a:r>
              <a:rPr lang="zh-TW" altLang="en-US" sz="2400">
                <a:solidFill>
                  <a:schemeClr val="tx2"/>
                </a:solidFill>
                <a:ea typeface="PMingLiU" pitchFamily="18" charset="-120"/>
                <a:sym typeface="Symbol" pitchFamily="18" charset="2"/>
              </a:rPr>
              <a:t></a:t>
            </a:r>
            <a:r>
              <a:rPr lang="zh-TW" altLang="en-US">
                <a:solidFill>
                  <a:schemeClr val="tx2"/>
                </a:solidFill>
              </a:rPr>
              <a:t>改成</a:t>
            </a:r>
            <a:r>
              <a:rPr lang="en-US" altLang="zh-TW">
                <a:solidFill>
                  <a:schemeClr val="tx2"/>
                </a:solidFill>
              </a:rPr>
              <a:t>2450</a:t>
            </a:r>
          </a:p>
        </p:txBody>
      </p:sp>
      <p:sp>
        <p:nvSpPr>
          <p:cNvPr id="74796" name="Oval 45"/>
          <p:cNvSpPr>
            <a:spLocks noChangeArrowheads="1"/>
          </p:cNvSpPr>
          <p:nvPr/>
        </p:nvSpPr>
        <p:spPr bwMode="auto">
          <a:xfrm>
            <a:off x="3559175" y="3509963"/>
            <a:ext cx="458788" cy="4587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97" name="Text Box 46"/>
          <p:cNvSpPr txBox="1">
            <a:spLocks noChangeArrowheads="1"/>
          </p:cNvSpPr>
          <p:nvPr/>
        </p:nvSpPr>
        <p:spPr bwMode="auto">
          <a:xfrm>
            <a:off x="3619500" y="350996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74798" name="Oval 47"/>
          <p:cNvSpPr>
            <a:spLocks noChangeArrowheads="1"/>
          </p:cNvSpPr>
          <p:nvPr/>
        </p:nvSpPr>
        <p:spPr bwMode="auto">
          <a:xfrm>
            <a:off x="3552825" y="4543425"/>
            <a:ext cx="458788" cy="4587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99" name="Text Box 48"/>
          <p:cNvSpPr txBox="1">
            <a:spLocks noChangeArrowheads="1"/>
          </p:cNvSpPr>
          <p:nvPr/>
        </p:nvSpPr>
        <p:spPr bwMode="auto">
          <a:xfrm>
            <a:off x="3613150" y="454342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74800" name="Line 49"/>
          <p:cNvSpPr>
            <a:spLocks noChangeShapeType="1"/>
          </p:cNvSpPr>
          <p:nvPr/>
        </p:nvSpPr>
        <p:spPr bwMode="auto">
          <a:xfrm>
            <a:off x="3787775" y="3968750"/>
            <a:ext cx="0" cy="600075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801" name="Text Box 50"/>
          <p:cNvSpPr txBox="1">
            <a:spLocks noChangeArrowheads="1"/>
          </p:cNvSpPr>
          <p:nvPr/>
        </p:nvSpPr>
        <p:spPr bwMode="auto">
          <a:xfrm>
            <a:off x="3784600" y="4119563"/>
            <a:ext cx="527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1800">
                <a:solidFill>
                  <a:schemeClr val="tx2"/>
                </a:solidFill>
                <a:ea typeface="PMingLiU" pitchFamily="18" charset="-120"/>
              </a:rPr>
              <a:t>250</a:t>
            </a:r>
          </a:p>
        </p:txBody>
      </p:sp>
      <p:sp>
        <p:nvSpPr>
          <p:cNvPr id="74802" name="Oval 51"/>
          <p:cNvSpPr>
            <a:spLocks noChangeArrowheads="1"/>
          </p:cNvSpPr>
          <p:nvPr/>
        </p:nvSpPr>
        <p:spPr bwMode="auto">
          <a:xfrm>
            <a:off x="2822575" y="5454650"/>
            <a:ext cx="458788" cy="4587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803" name="Text Box 52"/>
          <p:cNvSpPr txBox="1">
            <a:spLocks noChangeArrowheads="1"/>
          </p:cNvSpPr>
          <p:nvPr/>
        </p:nvSpPr>
        <p:spPr bwMode="auto">
          <a:xfrm>
            <a:off x="2882900" y="545465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6</a:t>
            </a:r>
          </a:p>
        </p:txBody>
      </p:sp>
      <p:sp>
        <p:nvSpPr>
          <p:cNvPr id="74804" name="Line 53"/>
          <p:cNvSpPr>
            <a:spLocks noChangeShapeType="1"/>
          </p:cNvSpPr>
          <p:nvPr/>
        </p:nvSpPr>
        <p:spPr bwMode="auto">
          <a:xfrm flipH="1">
            <a:off x="3192463" y="5008563"/>
            <a:ext cx="493712" cy="493712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805" name="Text Box 54"/>
          <p:cNvSpPr txBox="1">
            <a:spLocks noChangeArrowheads="1"/>
          </p:cNvSpPr>
          <p:nvPr/>
        </p:nvSpPr>
        <p:spPr bwMode="auto">
          <a:xfrm>
            <a:off x="3579813" y="5181600"/>
            <a:ext cx="565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</a:rPr>
              <a:t>900</a:t>
            </a:r>
            <a:endParaRPr lang="en-US" altLang="zh-TW" sz="2400">
              <a:solidFill>
                <a:schemeClr val="tx2"/>
              </a:solidFill>
            </a:endParaRPr>
          </a:p>
        </p:txBody>
      </p:sp>
      <p:sp>
        <p:nvSpPr>
          <p:cNvPr id="74806" name="Oval 55"/>
          <p:cNvSpPr>
            <a:spLocks noChangeArrowheads="1"/>
          </p:cNvSpPr>
          <p:nvPr/>
        </p:nvSpPr>
        <p:spPr bwMode="auto">
          <a:xfrm>
            <a:off x="2462213" y="4741863"/>
            <a:ext cx="458787" cy="4587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807" name="Text Box 56"/>
          <p:cNvSpPr txBox="1">
            <a:spLocks noChangeArrowheads="1"/>
          </p:cNvSpPr>
          <p:nvPr/>
        </p:nvSpPr>
        <p:spPr bwMode="auto">
          <a:xfrm>
            <a:off x="2522538" y="474186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7</a:t>
            </a:r>
          </a:p>
        </p:txBody>
      </p:sp>
      <p:sp>
        <p:nvSpPr>
          <p:cNvPr id="74808" name="Text Box 57"/>
          <p:cNvSpPr txBox="1">
            <a:spLocks noChangeArrowheads="1"/>
          </p:cNvSpPr>
          <p:nvPr/>
        </p:nvSpPr>
        <p:spPr bwMode="auto">
          <a:xfrm>
            <a:off x="2944813" y="4840288"/>
            <a:ext cx="692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</a:rPr>
              <a:t>1400</a:t>
            </a:r>
            <a:endParaRPr lang="en-US" altLang="zh-TW" sz="2400">
              <a:solidFill>
                <a:schemeClr val="tx2"/>
              </a:solidFill>
            </a:endParaRPr>
          </a:p>
        </p:txBody>
      </p:sp>
      <p:sp>
        <p:nvSpPr>
          <p:cNvPr id="74809" name="Line 58"/>
          <p:cNvSpPr>
            <a:spLocks noChangeShapeType="1"/>
          </p:cNvSpPr>
          <p:nvPr/>
        </p:nvSpPr>
        <p:spPr bwMode="auto">
          <a:xfrm flipH="1">
            <a:off x="2855913" y="4745038"/>
            <a:ext cx="669925" cy="104775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810" name="Oval 59"/>
          <p:cNvSpPr>
            <a:spLocks noChangeArrowheads="1"/>
          </p:cNvSpPr>
          <p:nvPr/>
        </p:nvSpPr>
        <p:spPr bwMode="auto">
          <a:xfrm>
            <a:off x="2487613" y="3849688"/>
            <a:ext cx="458787" cy="4587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811" name="Text Box 60"/>
          <p:cNvSpPr txBox="1">
            <a:spLocks noChangeArrowheads="1"/>
          </p:cNvSpPr>
          <p:nvPr/>
        </p:nvSpPr>
        <p:spPr bwMode="auto">
          <a:xfrm>
            <a:off x="2547938" y="384968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74812" name="Line 61"/>
          <p:cNvSpPr>
            <a:spLocks noChangeShapeType="1"/>
          </p:cNvSpPr>
          <p:nvPr/>
        </p:nvSpPr>
        <p:spPr bwMode="auto">
          <a:xfrm flipH="1" flipV="1">
            <a:off x="2906713" y="4198938"/>
            <a:ext cx="669925" cy="422275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813" name="Text Box 62"/>
          <p:cNvSpPr txBox="1">
            <a:spLocks noChangeArrowheads="1"/>
          </p:cNvSpPr>
          <p:nvPr/>
        </p:nvSpPr>
        <p:spPr bwMode="auto">
          <a:xfrm>
            <a:off x="2673350" y="4383088"/>
            <a:ext cx="641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1800">
                <a:solidFill>
                  <a:schemeClr val="tx2"/>
                </a:solidFill>
                <a:ea typeface="PMingLiU" pitchFamily="18" charset="-120"/>
              </a:rPr>
              <a:t>1000</a:t>
            </a:r>
          </a:p>
        </p:txBody>
      </p:sp>
      <p:sp>
        <p:nvSpPr>
          <p:cNvPr id="74814" name="Oval 63"/>
          <p:cNvSpPr>
            <a:spLocks noChangeArrowheads="1"/>
          </p:cNvSpPr>
          <p:nvPr/>
        </p:nvSpPr>
        <p:spPr bwMode="auto">
          <a:xfrm>
            <a:off x="1406525" y="3860800"/>
            <a:ext cx="458788" cy="4587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815" name="Text Box 64"/>
          <p:cNvSpPr txBox="1">
            <a:spLocks noChangeArrowheads="1"/>
          </p:cNvSpPr>
          <p:nvPr/>
        </p:nvSpPr>
        <p:spPr bwMode="auto">
          <a:xfrm>
            <a:off x="1466850" y="38608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74816" name="Line 65"/>
          <p:cNvSpPr>
            <a:spLocks noChangeShapeType="1"/>
          </p:cNvSpPr>
          <p:nvPr/>
        </p:nvSpPr>
        <p:spPr bwMode="auto">
          <a:xfrm flipH="1">
            <a:off x="1809750" y="4086225"/>
            <a:ext cx="688975" cy="0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817" name="Text Box 66"/>
          <p:cNvSpPr txBox="1">
            <a:spLocks noChangeArrowheads="1"/>
          </p:cNvSpPr>
          <p:nvPr/>
        </p:nvSpPr>
        <p:spPr bwMode="auto">
          <a:xfrm>
            <a:off x="1816100" y="3744913"/>
            <a:ext cx="692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</a:rPr>
              <a:t>1200</a:t>
            </a:r>
          </a:p>
        </p:txBody>
      </p:sp>
      <p:sp>
        <p:nvSpPr>
          <p:cNvPr id="74818" name="Rectangle 67"/>
          <p:cNvSpPr>
            <a:spLocks noChangeArrowheads="1"/>
          </p:cNvSpPr>
          <p:nvPr/>
        </p:nvSpPr>
        <p:spPr bwMode="auto">
          <a:xfrm>
            <a:off x="2736850" y="6122988"/>
            <a:ext cx="565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TW" altLang="zh-TW">
                <a:solidFill>
                  <a:schemeClr val="tx2"/>
                </a:solidFill>
              </a:rPr>
              <a:t>選</a:t>
            </a:r>
            <a:r>
              <a:rPr lang="en-US" altLang="zh-TW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74819" name="Oval 68"/>
          <p:cNvSpPr>
            <a:spLocks noChangeArrowheads="1"/>
          </p:cNvSpPr>
          <p:nvPr/>
        </p:nvSpPr>
        <p:spPr bwMode="auto">
          <a:xfrm>
            <a:off x="7151688" y="3644900"/>
            <a:ext cx="458787" cy="4587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820" name="Text Box 69"/>
          <p:cNvSpPr txBox="1">
            <a:spLocks noChangeArrowheads="1"/>
          </p:cNvSpPr>
          <p:nvPr/>
        </p:nvSpPr>
        <p:spPr bwMode="auto">
          <a:xfrm>
            <a:off x="7212013" y="36449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4</a:t>
            </a:r>
          </a:p>
        </p:txBody>
      </p:sp>
      <p:sp>
        <p:nvSpPr>
          <p:cNvPr id="74821" name="Oval 70"/>
          <p:cNvSpPr>
            <a:spLocks noChangeArrowheads="1"/>
          </p:cNvSpPr>
          <p:nvPr/>
        </p:nvSpPr>
        <p:spPr bwMode="auto">
          <a:xfrm>
            <a:off x="7145338" y="4678363"/>
            <a:ext cx="458787" cy="4587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822" name="Text Box 71"/>
          <p:cNvSpPr txBox="1">
            <a:spLocks noChangeArrowheads="1"/>
          </p:cNvSpPr>
          <p:nvPr/>
        </p:nvSpPr>
        <p:spPr bwMode="auto">
          <a:xfrm>
            <a:off x="7205663" y="467836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74823" name="Line 72"/>
          <p:cNvSpPr>
            <a:spLocks noChangeShapeType="1"/>
          </p:cNvSpPr>
          <p:nvPr/>
        </p:nvSpPr>
        <p:spPr bwMode="auto">
          <a:xfrm>
            <a:off x="7380288" y="4103688"/>
            <a:ext cx="0" cy="600075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824" name="Text Box 73"/>
          <p:cNvSpPr txBox="1">
            <a:spLocks noChangeArrowheads="1"/>
          </p:cNvSpPr>
          <p:nvPr/>
        </p:nvSpPr>
        <p:spPr bwMode="auto">
          <a:xfrm>
            <a:off x="7377113" y="4254500"/>
            <a:ext cx="527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 sz="1800">
                <a:solidFill>
                  <a:schemeClr val="tx2"/>
                </a:solidFill>
                <a:ea typeface="PMingLiU" pitchFamily="18" charset="-120"/>
              </a:rPr>
              <a:t>250</a:t>
            </a:r>
          </a:p>
        </p:txBody>
      </p:sp>
      <p:sp>
        <p:nvSpPr>
          <p:cNvPr id="74825" name="Oval 78"/>
          <p:cNvSpPr>
            <a:spLocks noChangeArrowheads="1"/>
          </p:cNvSpPr>
          <p:nvPr/>
        </p:nvSpPr>
        <p:spPr bwMode="auto">
          <a:xfrm>
            <a:off x="6054725" y="4876800"/>
            <a:ext cx="458788" cy="4587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826" name="Text Box 79"/>
          <p:cNvSpPr txBox="1">
            <a:spLocks noChangeArrowheads="1"/>
          </p:cNvSpPr>
          <p:nvPr/>
        </p:nvSpPr>
        <p:spPr bwMode="auto">
          <a:xfrm>
            <a:off x="6115050" y="48768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7</a:t>
            </a:r>
          </a:p>
        </p:txBody>
      </p:sp>
      <p:sp>
        <p:nvSpPr>
          <p:cNvPr id="74827" name="Text Box 80"/>
          <p:cNvSpPr txBox="1">
            <a:spLocks noChangeArrowheads="1"/>
          </p:cNvSpPr>
          <p:nvPr/>
        </p:nvSpPr>
        <p:spPr bwMode="auto">
          <a:xfrm>
            <a:off x="6537325" y="4975225"/>
            <a:ext cx="692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</a:rPr>
              <a:t>1400</a:t>
            </a:r>
            <a:endParaRPr lang="en-US" altLang="zh-TW" sz="2400">
              <a:solidFill>
                <a:schemeClr val="tx2"/>
              </a:solidFill>
            </a:endParaRPr>
          </a:p>
        </p:txBody>
      </p:sp>
      <p:sp>
        <p:nvSpPr>
          <p:cNvPr id="74828" name="Line 81"/>
          <p:cNvSpPr>
            <a:spLocks noChangeShapeType="1"/>
          </p:cNvSpPr>
          <p:nvPr/>
        </p:nvSpPr>
        <p:spPr bwMode="auto">
          <a:xfrm flipH="1">
            <a:off x="6448425" y="4879975"/>
            <a:ext cx="669925" cy="104775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829" name="Oval 90"/>
          <p:cNvSpPr>
            <a:spLocks noChangeArrowheads="1"/>
          </p:cNvSpPr>
          <p:nvPr/>
        </p:nvSpPr>
        <p:spPr bwMode="auto">
          <a:xfrm>
            <a:off x="5307013" y="4287838"/>
            <a:ext cx="458787" cy="4587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830" name="Text Box 91"/>
          <p:cNvSpPr txBox="1">
            <a:spLocks noChangeArrowheads="1"/>
          </p:cNvSpPr>
          <p:nvPr/>
        </p:nvSpPr>
        <p:spPr bwMode="auto">
          <a:xfrm>
            <a:off x="5367338" y="428783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74831" name="Line 92"/>
          <p:cNvSpPr>
            <a:spLocks noChangeShapeType="1"/>
          </p:cNvSpPr>
          <p:nvPr/>
        </p:nvSpPr>
        <p:spPr bwMode="auto">
          <a:xfrm flipH="1" flipV="1">
            <a:off x="5734050" y="4638675"/>
            <a:ext cx="369888" cy="317500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832" name="Rectangle 93"/>
          <p:cNvSpPr>
            <a:spLocks noChangeArrowheads="1"/>
          </p:cNvSpPr>
          <p:nvPr/>
        </p:nvSpPr>
        <p:spPr bwMode="auto">
          <a:xfrm>
            <a:off x="5353050" y="5668963"/>
            <a:ext cx="21796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2"/>
                </a:solidFill>
              </a:rPr>
              <a:t>4</a:t>
            </a:r>
            <a:r>
              <a:rPr lang="zh-TW" altLang="en-US">
                <a:solidFill>
                  <a:schemeClr val="tx2"/>
                </a:solidFill>
              </a:rPr>
              <a:t>到</a:t>
            </a:r>
            <a:r>
              <a:rPr lang="en-US" altLang="zh-TW">
                <a:solidFill>
                  <a:schemeClr val="tx2"/>
                </a:solidFill>
              </a:rPr>
              <a:t>0</a:t>
            </a:r>
            <a:r>
              <a:rPr lang="zh-TW" altLang="en-US">
                <a:solidFill>
                  <a:schemeClr val="tx2"/>
                </a:solidFill>
              </a:rPr>
              <a:t>由</a:t>
            </a:r>
            <a:r>
              <a:rPr lang="zh-TW" altLang="en-US" sz="2400">
                <a:solidFill>
                  <a:schemeClr val="tx2"/>
                </a:solidFill>
                <a:ea typeface="PMingLiU" pitchFamily="18" charset="-120"/>
                <a:sym typeface="Symbol" pitchFamily="18" charset="2"/>
              </a:rPr>
              <a:t></a:t>
            </a:r>
            <a:r>
              <a:rPr lang="zh-TW" altLang="en-US">
                <a:solidFill>
                  <a:schemeClr val="tx2"/>
                </a:solidFill>
              </a:rPr>
              <a:t>改成</a:t>
            </a:r>
            <a:r>
              <a:rPr lang="en-US" altLang="zh-TW">
                <a:solidFill>
                  <a:schemeClr val="tx2"/>
                </a:solidFill>
              </a:rPr>
              <a:t>3350</a:t>
            </a:r>
          </a:p>
        </p:txBody>
      </p:sp>
      <p:sp>
        <p:nvSpPr>
          <p:cNvPr id="74833" name="Text Box 94"/>
          <p:cNvSpPr txBox="1">
            <a:spLocks noChangeArrowheads="1"/>
          </p:cNvSpPr>
          <p:nvPr/>
        </p:nvSpPr>
        <p:spPr bwMode="auto">
          <a:xfrm>
            <a:off x="947738" y="195263"/>
            <a:ext cx="539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</a:rPr>
              <a:t>(g)</a:t>
            </a:r>
          </a:p>
        </p:txBody>
      </p:sp>
      <p:sp>
        <p:nvSpPr>
          <p:cNvPr id="74834" name="Text Box 95"/>
          <p:cNvSpPr txBox="1">
            <a:spLocks noChangeArrowheads="1"/>
          </p:cNvSpPr>
          <p:nvPr/>
        </p:nvSpPr>
        <p:spPr bwMode="auto">
          <a:xfrm>
            <a:off x="4564063" y="247650"/>
            <a:ext cx="539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</a:rPr>
              <a:t>(h)</a:t>
            </a:r>
          </a:p>
        </p:txBody>
      </p:sp>
      <p:sp>
        <p:nvSpPr>
          <p:cNvPr id="74835" name="Text Box 96"/>
          <p:cNvSpPr txBox="1">
            <a:spLocks noChangeArrowheads="1"/>
          </p:cNvSpPr>
          <p:nvPr/>
        </p:nvSpPr>
        <p:spPr bwMode="auto">
          <a:xfrm>
            <a:off x="893763" y="3527425"/>
            <a:ext cx="4714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</a:rPr>
              <a:t>(i)</a:t>
            </a:r>
          </a:p>
        </p:txBody>
      </p:sp>
      <p:sp>
        <p:nvSpPr>
          <p:cNvPr id="74836" name="Text Box 97"/>
          <p:cNvSpPr txBox="1">
            <a:spLocks noChangeArrowheads="1"/>
          </p:cNvSpPr>
          <p:nvPr/>
        </p:nvSpPr>
        <p:spPr bwMode="auto">
          <a:xfrm>
            <a:off x="4845050" y="3740150"/>
            <a:ext cx="4714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</a:rPr>
              <a:t>(j)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type="title"/>
          </p:nvPr>
        </p:nvSpPr>
        <p:spPr>
          <a:xfrm>
            <a:off x="785813" y="485775"/>
            <a:ext cx="8358187" cy="1143000"/>
          </a:xfrm>
          <a:noFill/>
        </p:spPr>
        <p:txBody>
          <a:bodyPr lIns="92075" tIns="46038" rIns="92075" bIns="46038"/>
          <a:lstStyle/>
          <a:p>
            <a:pPr algn="ctr" eaLnBrk="1" hangingPunct="1"/>
            <a:r>
              <a:rPr lang="en-US" altLang="zh-TW" smtClean="0">
                <a:solidFill>
                  <a:schemeClr val="tx1"/>
                </a:solidFill>
              </a:rPr>
              <a:t>Example for the Shortest Path</a:t>
            </a:r>
            <a:br>
              <a:rPr lang="en-US" altLang="zh-TW" smtClean="0">
                <a:solidFill>
                  <a:schemeClr val="tx1"/>
                </a:solidFill>
              </a:rPr>
            </a:br>
            <a:r>
              <a:rPr lang="en-US" altLang="zh-TW" sz="2400" smtClean="0">
                <a:solidFill>
                  <a:schemeClr val="tx1"/>
                </a:solidFill>
              </a:rPr>
              <a:t>(</a:t>
            </a:r>
            <a:r>
              <a:rPr lang="en-US" altLang="zh-TW" sz="2400" i="1" smtClean="0">
                <a:solidFill>
                  <a:schemeClr val="tx1"/>
                </a:solidFill>
              </a:rPr>
              <a:t>Continued</a:t>
            </a:r>
            <a:r>
              <a:rPr lang="en-US" altLang="zh-TW" sz="2400" smtClean="0">
                <a:solidFill>
                  <a:schemeClr val="tx1"/>
                </a:solidFill>
              </a:rPr>
              <a:t>)</a:t>
            </a:r>
          </a:p>
        </p:txBody>
      </p:sp>
      <p:graphicFrame>
        <p:nvGraphicFramePr>
          <p:cNvPr id="9218" name="Object 0"/>
          <p:cNvGraphicFramePr>
            <a:graphicFrameLocks/>
          </p:cNvGraphicFramePr>
          <p:nvPr/>
        </p:nvGraphicFramePr>
        <p:xfrm>
          <a:off x="0" y="2222500"/>
          <a:ext cx="8978900" cy="3579813"/>
        </p:xfrm>
        <a:graphic>
          <a:graphicData uri="http://schemas.openxmlformats.org/presentationml/2006/ole">
            <p:oleObj spid="_x0000_s9218" name="文件" r:id="rId3" imgW="9713880" imgH="3873960" progId="Word.Document.8">
              <p:embed/>
            </p:oleObj>
          </a:graphicData>
        </a:graphic>
      </p:graphicFrame>
      <p:sp>
        <p:nvSpPr>
          <p:cNvPr id="9220" name="Text Box 5"/>
          <p:cNvSpPr txBox="1">
            <a:spLocks noChangeArrowheads="1"/>
          </p:cNvSpPr>
          <p:nvPr/>
        </p:nvSpPr>
        <p:spPr bwMode="auto">
          <a:xfrm>
            <a:off x="2571750" y="3117850"/>
            <a:ext cx="4651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TW">
                <a:solidFill>
                  <a:schemeClr val="tx1"/>
                </a:solidFill>
              </a:rPr>
              <a:t>(a)</a:t>
            </a:r>
          </a:p>
        </p:txBody>
      </p:sp>
      <p:sp>
        <p:nvSpPr>
          <p:cNvPr id="9221" name="Line 7"/>
          <p:cNvSpPr>
            <a:spLocks noChangeShapeType="1"/>
          </p:cNvSpPr>
          <p:nvPr/>
        </p:nvSpPr>
        <p:spPr bwMode="auto">
          <a:xfrm>
            <a:off x="6297613" y="3051175"/>
            <a:ext cx="0" cy="193675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2" name="Text Box 8"/>
          <p:cNvSpPr txBox="1">
            <a:spLocks noChangeArrowheads="1"/>
          </p:cNvSpPr>
          <p:nvPr/>
        </p:nvSpPr>
        <p:spPr bwMode="auto">
          <a:xfrm>
            <a:off x="5672138" y="2959100"/>
            <a:ext cx="479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(b)</a:t>
            </a:r>
          </a:p>
        </p:txBody>
      </p:sp>
      <p:sp>
        <p:nvSpPr>
          <p:cNvPr id="9223" name="Line 9"/>
          <p:cNvSpPr>
            <a:spLocks noChangeShapeType="1"/>
          </p:cNvSpPr>
          <p:nvPr/>
        </p:nvSpPr>
        <p:spPr bwMode="auto">
          <a:xfrm>
            <a:off x="8004175" y="3043238"/>
            <a:ext cx="1588" cy="193675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4" name="Text Box 10"/>
          <p:cNvSpPr txBox="1">
            <a:spLocks noChangeArrowheads="1"/>
          </p:cNvSpPr>
          <p:nvPr/>
        </p:nvSpPr>
        <p:spPr bwMode="auto">
          <a:xfrm>
            <a:off x="7385050" y="2951163"/>
            <a:ext cx="4651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(c)</a:t>
            </a:r>
          </a:p>
        </p:txBody>
      </p:sp>
      <p:sp>
        <p:nvSpPr>
          <p:cNvPr id="9225" name="Line 11"/>
          <p:cNvSpPr>
            <a:spLocks noChangeShapeType="1"/>
          </p:cNvSpPr>
          <p:nvPr/>
        </p:nvSpPr>
        <p:spPr bwMode="auto">
          <a:xfrm>
            <a:off x="8761413" y="3009900"/>
            <a:ext cx="0" cy="193675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6" name="Text Box 12"/>
          <p:cNvSpPr txBox="1">
            <a:spLocks noChangeArrowheads="1"/>
          </p:cNvSpPr>
          <p:nvPr/>
        </p:nvSpPr>
        <p:spPr bwMode="auto">
          <a:xfrm>
            <a:off x="8135938" y="2917825"/>
            <a:ext cx="479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(d)</a:t>
            </a:r>
          </a:p>
        </p:txBody>
      </p:sp>
      <p:sp>
        <p:nvSpPr>
          <p:cNvPr id="9227" name="Text Box 13"/>
          <p:cNvSpPr txBox="1">
            <a:spLocks noChangeArrowheads="1"/>
          </p:cNvSpPr>
          <p:nvPr/>
        </p:nvSpPr>
        <p:spPr bwMode="auto">
          <a:xfrm>
            <a:off x="2574925" y="3541713"/>
            <a:ext cx="4651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(e)</a:t>
            </a:r>
          </a:p>
        </p:txBody>
      </p:sp>
      <p:sp>
        <p:nvSpPr>
          <p:cNvPr id="9228" name="Line 14"/>
          <p:cNvSpPr>
            <a:spLocks noChangeShapeType="1"/>
          </p:cNvSpPr>
          <p:nvPr/>
        </p:nvSpPr>
        <p:spPr bwMode="auto">
          <a:xfrm>
            <a:off x="8778875" y="3451225"/>
            <a:ext cx="0" cy="193675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9" name="Text Box 15"/>
          <p:cNvSpPr txBox="1">
            <a:spLocks noChangeArrowheads="1"/>
          </p:cNvSpPr>
          <p:nvPr/>
        </p:nvSpPr>
        <p:spPr bwMode="auto">
          <a:xfrm>
            <a:off x="8174038" y="3359150"/>
            <a:ext cx="4365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(f)</a:t>
            </a:r>
          </a:p>
        </p:txBody>
      </p:sp>
      <p:sp>
        <p:nvSpPr>
          <p:cNvPr id="9230" name="Text Box 16"/>
          <p:cNvSpPr txBox="1">
            <a:spLocks noChangeArrowheads="1"/>
          </p:cNvSpPr>
          <p:nvPr/>
        </p:nvSpPr>
        <p:spPr bwMode="auto">
          <a:xfrm>
            <a:off x="2549525" y="3859213"/>
            <a:ext cx="479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(g)</a:t>
            </a:r>
          </a:p>
        </p:txBody>
      </p:sp>
      <p:sp>
        <p:nvSpPr>
          <p:cNvPr id="9231" name="Line 17"/>
          <p:cNvSpPr>
            <a:spLocks noChangeShapeType="1"/>
          </p:cNvSpPr>
          <p:nvPr/>
        </p:nvSpPr>
        <p:spPr bwMode="auto">
          <a:xfrm>
            <a:off x="5691188" y="3751263"/>
            <a:ext cx="0" cy="193675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2" name="Text Box 18"/>
          <p:cNvSpPr txBox="1">
            <a:spLocks noChangeArrowheads="1"/>
          </p:cNvSpPr>
          <p:nvPr/>
        </p:nvSpPr>
        <p:spPr bwMode="auto">
          <a:xfrm>
            <a:off x="5065713" y="3659188"/>
            <a:ext cx="479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(h)</a:t>
            </a:r>
          </a:p>
        </p:txBody>
      </p:sp>
      <p:sp>
        <p:nvSpPr>
          <p:cNvPr id="9233" name="Text Box 19"/>
          <p:cNvSpPr txBox="1">
            <a:spLocks noChangeArrowheads="1"/>
          </p:cNvSpPr>
          <p:nvPr/>
        </p:nvSpPr>
        <p:spPr bwMode="auto">
          <a:xfrm>
            <a:off x="2578100" y="4244975"/>
            <a:ext cx="4222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(i)</a:t>
            </a:r>
          </a:p>
        </p:txBody>
      </p:sp>
      <p:sp>
        <p:nvSpPr>
          <p:cNvPr id="9234" name="Line 20"/>
          <p:cNvSpPr>
            <a:spLocks noChangeShapeType="1"/>
          </p:cNvSpPr>
          <p:nvPr/>
        </p:nvSpPr>
        <p:spPr bwMode="auto">
          <a:xfrm>
            <a:off x="4297363" y="4192588"/>
            <a:ext cx="0" cy="193675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5" name="Text Box 21"/>
          <p:cNvSpPr txBox="1">
            <a:spLocks noChangeArrowheads="1"/>
          </p:cNvSpPr>
          <p:nvPr/>
        </p:nvSpPr>
        <p:spPr bwMode="auto">
          <a:xfrm>
            <a:off x="3700463" y="4100513"/>
            <a:ext cx="4222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(j)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ChangeArrowheads="1"/>
          </p:cNvSpPr>
          <p:nvPr/>
        </p:nvSpPr>
        <p:spPr bwMode="auto">
          <a:xfrm>
            <a:off x="779463" y="609600"/>
            <a:ext cx="83645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altLang="zh-TW" sz="4400">
                <a:solidFill>
                  <a:schemeClr val="tx1"/>
                </a:solidFill>
                <a:ea typeface="PMingLiU" pitchFamily="18" charset="-120"/>
              </a:rPr>
              <a:t>Single Source All Destinations</a:t>
            </a:r>
          </a:p>
        </p:txBody>
      </p:sp>
      <p:sp>
        <p:nvSpPr>
          <p:cNvPr id="75779" name="Rectangle 4"/>
          <p:cNvSpPr>
            <a:spLocks noChangeArrowheads="1"/>
          </p:cNvSpPr>
          <p:nvPr/>
        </p:nvSpPr>
        <p:spPr bwMode="auto">
          <a:xfrm>
            <a:off x="779463" y="1981200"/>
            <a:ext cx="728027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void shortestpath(int v, int cost[][MAX_ERXTICES], int distance[], int n, short int found[])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{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int i, u, w;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for (i=0; i&lt;n; i++) {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found[i] = FALSE;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distance[i] = cost[v][i];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}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found[v] = TRUE;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distance[v] = 0;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4"/>
          <p:cNvSpPr>
            <a:spLocks noChangeArrowheads="1"/>
          </p:cNvSpPr>
          <p:nvPr/>
        </p:nvSpPr>
        <p:spPr bwMode="auto">
          <a:xfrm>
            <a:off x="481013" y="1822450"/>
            <a:ext cx="759142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for (i=0; i&lt;n-2; i++) {</a:t>
            </a:r>
            <a:r>
              <a:rPr lang="en-US" altLang="zh-TW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determine n-1 paths from v</a:t>
            </a:r>
            <a:endParaRPr lang="en-US" altLang="zh-TW" sz="2400" b="1">
              <a:solidFill>
                <a:schemeClr val="tx1"/>
              </a:solidFill>
              <a:latin typeface="Courier New" pitchFamily="49" charset="0"/>
              <a:ea typeface="PMingLiU" pitchFamily="18" charset="-120"/>
            </a:endParaRP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u = choose(distance, n, found);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found[u] = TRUE;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for (w=0; w&lt;n; w++) 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  if (!found[w])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    if (distance[u]+cost[u][w]&lt;distance[w])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      distance[w] = distance[u]+cost[u][w];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}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}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942975" y="0"/>
            <a:ext cx="7772400" cy="1143000"/>
          </a:xfrm>
        </p:spPr>
        <p:txBody>
          <a:bodyPr/>
          <a:lstStyle/>
          <a:p>
            <a:pPr algn="ctr" eaLnBrk="1" hangingPunct="1"/>
            <a:r>
              <a:rPr lang="en-US" altLang="zh-TW" smtClean="0">
                <a:solidFill>
                  <a:schemeClr val="tx1"/>
                </a:solidFill>
              </a:rPr>
              <a:t>All Pairs Shortest Paths</a:t>
            </a:r>
          </a:p>
        </p:txBody>
      </p:sp>
      <p:sp>
        <p:nvSpPr>
          <p:cNvPr id="77827" name="Text Box 5"/>
          <p:cNvSpPr txBox="1">
            <a:spLocks noChangeArrowheads="1"/>
          </p:cNvSpPr>
          <p:nvPr/>
        </p:nvSpPr>
        <p:spPr bwMode="auto">
          <a:xfrm>
            <a:off x="1343025" y="971550"/>
            <a:ext cx="7400925" cy="6069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Find the shortest paths between all pairs of vertices.</a:t>
            </a: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Solution 1</a:t>
            </a:r>
          </a:p>
          <a:p>
            <a:pPr lvl="1" algn="l">
              <a:spcBef>
                <a:spcPct val="20000"/>
              </a:spcBef>
              <a:buFontTx/>
              <a:buChar char="–"/>
            </a:pP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Apply shortest path n times with each vertex as source.</a:t>
            </a:r>
            <a:br>
              <a:rPr lang="en-US" altLang="zh-TW" sz="2400">
                <a:solidFill>
                  <a:schemeClr val="tx1"/>
                </a:solidFill>
                <a:ea typeface="PMingLiU" pitchFamily="18" charset="-120"/>
              </a:rPr>
            </a:b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		O(n</a:t>
            </a:r>
            <a:r>
              <a:rPr lang="en-US" altLang="zh-TW" sz="2400" baseline="30000">
                <a:solidFill>
                  <a:schemeClr val="tx1"/>
                </a:solidFill>
                <a:ea typeface="PMingLiU" pitchFamily="18" charset="-120"/>
              </a:rPr>
              <a:t>3</a:t>
            </a: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)</a:t>
            </a: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2800">
                <a:solidFill>
                  <a:schemeClr val="tx1"/>
                </a:solidFill>
                <a:ea typeface="PMingLiU" pitchFamily="18" charset="-120"/>
              </a:rPr>
              <a:t>Solution 2</a:t>
            </a:r>
          </a:p>
          <a:p>
            <a:pPr lvl="1" algn="l">
              <a:spcBef>
                <a:spcPct val="20000"/>
              </a:spcBef>
              <a:buFontTx/>
              <a:buChar char="–"/>
            </a:pP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Represent the graph G by its cost adjacency matrix with cost[i][j]</a:t>
            </a:r>
          </a:p>
          <a:p>
            <a:pPr lvl="1" algn="l">
              <a:spcBef>
                <a:spcPct val="20000"/>
              </a:spcBef>
              <a:buFontTx/>
              <a:buChar char="–"/>
            </a:pP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If the edge &lt;i,j&gt; is not in G, the cost[i][j] is set to some sufficiently large number</a:t>
            </a:r>
          </a:p>
          <a:p>
            <a:pPr lvl="1" algn="l">
              <a:spcBef>
                <a:spcPct val="20000"/>
              </a:spcBef>
              <a:buFontTx/>
              <a:buChar char="–"/>
            </a:pP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A[i][j] is the cost of the shortest path form i to j, using only those intermediate vertices with an index &lt;= k</a:t>
            </a:r>
          </a:p>
          <a:p>
            <a:pPr>
              <a:spcBef>
                <a:spcPct val="50000"/>
              </a:spcBef>
            </a:pPr>
            <a:endParaRPr lang="en-US" altLang="zh-TW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ChangeArrowheads="1"/>
          </p:cNvSpPr>
          <p:nvPr/>
        </p:nvSpPr>
        <p:spPr bwMode="auto">
          <a:xfrm>
            <a:off x="1011238" y="609600"/>
            <a:ext cx="81327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altLang="zh-TW" sz="4400">
                <a:solidFill>
                  <a:schemeClr val="tx1"/>
                </a:solidFill>
                <a:ea typeface="PMingLiU" pitchFamily="18" charset="-120"/>
              </a:rPr>
              <a:t>All Pairs Shortest Paths </a:t>
            </a: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(</a:t>
            </a:r>
            <a:r>
              <a:rPr lang="en-US" altLang="zh-TW" sz="2400" i="1">
                <a:solidFill>
                  <a:schemeClr val="tx1"/>
                </a:solidFill>
                <a:ea typeface="PMingLiU" pitchFamily="18" charset="-120"/>
              </a:rPr>
              <a:t>Continued</a:t>
            </a:r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)</a:t>
            </a:r>
          </a:p>
        </p:txBody>
      </p:sp>
      <p:sp>
        <p:nvSpPr>
          <p:cNvPr id="78851" name="Rectangle 3"/>
          <p:cNvSpPr>
            <a:spLocks noChangeArrowheads="1"/>
          </p:cNvSpPr>
          <p:nvPr/>
        </p:nvSpPr>
        <p:spPr bwMode="auto">
          <a:xfrm>
            <a:off x="623888" y="1981200"/>
            <a:ext cx="8991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The cost of the shortest path from i to j is A  [i][j], as no vertex in G has an index greater than n-1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A [i][j]=cost[i][j]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Calculate the A, A, A, ..., A   from A  iteratively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A [i][j]=min{A  [i][j], A  [i][k]+A  [k][j]}, k&gt;=0</a:t>
            </a:r>
          </a:p>
        </p:txBody>
      </p:sp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7977188" y="1879600"/>
            <a:ext cx="5270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n-1</a:t>
            </a:r>
          </a:p>
        </p:txBody>
      </p:sp>
      <p:sp>
        <p:nvSpPr>
          <p:cNvPr id="78853" name="Rectangle 5"/>
          <p:cNvSpPr>
            <a:spLocks noChangeArrowheads="1"/>
          </p:cNvSpPr>
          <p:nvPr/>
        </p:nvSpPr>
        <p:spPr bwMode="auto">
          <a:xfrm>
            <a:off x="1165225" y="3001963"/>
            <a:ext cx="3984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>
                <a:solidFill>
                  <a:schemeClr val="tx1"/>
                </a:solidFill>
                <a:ea typeface="PMingLiU" pitchFamily="18" charset="-120"/>
              </a:rPr>
              <a:t>-1</a:t>
            </a:r>
          </a:p>
        </p:txBody>
      </p:sp>
      <p:sp>
        <p:nvSpPr>
          <p:cNvPr id="78854" name="Rectangle 6"/>
          <p:cNvSpPr>
            <a:spLocks noChangeArrowheads="1"/>
          </p:cNvSpPr>
          <p:nvPr/>
        </p:nvSpPr>
        <p:spPr bwMode="auto">
          <a:xfrm>
            <a:off x="3411538" y="3563938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0</a:t>
            </a:r>
          </a:p>
        </p:txBody>
      </p:sp>
      <p:sp>
        <p:nvSpPr>
          <p:cNvPr id="78855" name="Rectangle 7"/>
          <p:cNvSpPr>
            <a:spLocks noChangeArrowheads="1"/>
          </p:cNvSpPr>
          <p:nvPr/>
        </p:nvSpPr>
        <p:spPr bwMode="auto">
          <a:xfrm>
            <a:off x="3903663" y="3562350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78856" name="Rectangle 8"/>
          <p:cNvSpPr>
            <a:spLocks noChangeArrowheads="1"/>
          </p:cNvSpPr>
          <p:nvPr/>
        </p:nvSpPr>
        <p:spPr bwMode="auto">
          <a:xfrm>
            <a:off x="4449763" y="3579813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78857" name="Rectangle 9"/>
          <p:cNvSpPr>
            <a:spLocks noChangeArrowheads="1"/>
          </p:cNvSpPr>
          <p:nvPr/>
        </p:nvSpPr>
        <p:spPr bwMode="auto">
          <a:xfrm>
            <a:off x="5451475" y="3581400"/>
            <a:ext cx="488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n-1</a:t>
            </a:r>
          </a:p>
        </p:txBody>
      </p:sp>
      <p:sp>
        <p:nvSpPr>
          <p:cNvPr id="78858" name="Rectangle 10"/>
          <p:cNvSpPr>
            <a:spLocks noChangeArrowheads="1"/>
          </p:cNvSpPr>
          <p:nvPr/>
        </p:nvSpPr>
        <p:spPr bwMode="auto">
          <a:xfrm>
            <a:off x="6899275" y="3544888"/>
            <a:ext cx="37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-1</a:t>
            </a:r>
          </a:p>
        </p:txBody>
      </p:sp>
      <p:sp>
        <p:nvSpPr>
          <p:cNvPr id="78859" name="Rectangle 11"/>
          <p:cNvSpPr>
            <a:spLocks noChangeArrowheads="1"/>
          </p:cNvSpPr>
          <p:nvPr/>
        </p:nvSpPr>
        <p:spPr bwMode="auto">
          <a:xfrm>
            <a:off x="1200150" y="4124325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k</a:t>
            </a:r>
          </a:p>
        </p:txBody>
      </p:sp>
      <p:sp>
        <p:nvSpPr>
          <p:cNvPr id="78860" name="Rectangle 12"/>
          <p:cNvSpPr>
            <a:spLocks noChangeArrowheads="1"/>
          </p:cNvSpPr>
          <p:nvPr/>
        </p:nvSpPr>
        <p:spPr bwMode="auto">
          <a:xfrm>
            <a:off x="3409950" y="4140200"/>
            <a:ext cx="488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k-1</a:t>
            </a:r>
          </a:p>
        </p:txBody>
      </p:sp>
      <p:sp>
        <p:nvSpPr>
          <p:cNvPr id="78861" name="Rectangle 13"/>
          <p:cNvSpPr>
            <a:spLocks noChangeArrowheads="1"/>
          </p:cNvSpPr>
          <p:nvPr/>
        </p:nvSpPr>
        <p:spPr bwMode="auto">
          <a:xfrm>
            <a:off x="4875213" y="4141788"/>
            <a:ext cx="488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k-1</a:t>
            </a:r>
          </a:p>
        </p:txBody>
      </p:sp>
      <p:sp>
        <p:nvSpPr>
          <p:cNvPr id="78862" name="Rectangle 14"/>
          <p:cNvSpPr>
            <a:spLocks noChangeArrowheads="1"/>
          </p:cNvSpPr>
          <p:nvPr/>
        </p:nvSpPr>
        <p:spPr bwMode="auto">
          <a:xfrm>
            <a:off x="6457950" y="4140200"/>
            <a:ext cx="488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1800">
                <a:solidFill>
                  <a:schemeClr val="tx1"/>
                </a:solidFill>
                <a:ea typeface="PMingLiU" pitchFamily="18" charset="-120"/>
              </a:rPr>
              <a:t>k-1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2"/>
          <p:cNvSpPr txBox="1">
            <a:spLocks noChangeArrowheads="1"/>
          </p:cNvSpPr>
          <p:nvPr/>
        </p:nvSpPr>
        <p:spPr bwMode="auto">
          <a:xfrm>
            <a:off x="2306638" y="330200"/>
            <a:ext cx="44640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TW" sz="3200">
                <a:solidFill>
                  <a:schemeClr val="tx1"/>
                </a:solidFill>
                <a:ea typeface="PMingLiU" pitchFamily="18" charset="-120"/>
              </a:rPr>
              <a:t>Graph with negative cycle</a:t>
            </a:r>
            <a:endParaRPr lang="en-US" altLang="zh-TW" sz="3200" b="1">
              <a:solidFill>
                <a:schemeClr val="tx1"/>
              </a:solidFill>
              <a:ea typeface="PMingLiU" pitchFamily="18" charset="-12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727200" y="1912938"/>
            <a:ext cx="3505200" cy="1143000"/>
            <a:chOff x="288" y="1898"/>
            <a:chExt cx="2208" cy="720"/>
          </a:xfrm>
        </p:grpSpPr>
        <p:sp>
          <p:nvSpPr>
            <p:cNvPr id="10248" name="Oval 4"/>
            <p:cNvSpPr>
              <a:spLocks noChangeArrowheads="1"/>
            </p:cNvSpPr>
            <p:nvPr/>
          </p:nvSpPr>
          <p:spPr bwMode="auto">
            <a:xfrm>
              <a:off x="288" y="2208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TW" sz="2400">
                  <a:solidFill>
                    <a:schemeClr val="tx1"/>
                  </a:solidFill>
                  <a:ea typeface="PMingLiU" pitchFamily="18" charset="-120"/>
                </a:rPr>
                <a:t>0</a:t>
              </a:r>
            </a:p>
          </p:txBody>
        </p:sp>
        <p:sp>
          <p:nvSpPr>
            <p:cNvPr id="10249" name="Oval 5"/>
            <p:cNvSpPr>
              <a:spLocks noChangeArrowheads="1"/>
            </p:cNvSpPr>
            <p:nvPr/>
          </p:nvSpPr>
          <p:spPr bwMode="auto">
            <a:xfrm>
              <a:off x="1200" y="2256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TW" sz="2400">
                  <a:solidFill>
                    <a:schemeClr val="tx1"/>
                  </a:solidFill>
                  <a:ea typeface="PMingLiU" pitchFamily="18" charset="-120"/>
                </a:rPr>
                <a:t>1</a:t>
              </a:r>
            </a:p>
          </p:txBody>
        </p:sp>
        <p:sp>
          <p:nvSpPr>
            <p:cNvPr id="10250" name="Oval 6"/>
            <p:cNvSpPr>
              <a:spLocks noChangeArrowheads="1"/>
            </p:cNvSpPr>
            <p:nvPr/>
          </p:nvSpPr>
          <p:spPr bwMode="auto">
            <a:xfrm>
              <a:off x="2160" y="2256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TW" sz="2400">
                  <a:solidFill>
                    <a:schemeClr val="tx1"/>
                  </a:solidFill>
                  <a:ea typeface="PMingLiU" pitchFamily="18" charset="-120"/>
                </a:rPr>
                <a:t>2</a:t>
              </a:r>
            </a:p>
          </p:txBody>
        </p:sp>
        <p:sp>
          <p:nvSpPr>
            <p:cNvPr id="10251" name="Line 7"/>
            <p:cNvSpPr>
              <a:spLocks noChangeShapeType="1"/>
            </p:cNvSpPr>
            <p:nvPr/>
          </p:nvSpPr>
          <p:spPr bwMode="auto">
            <a:xfrm>
              <a:off x="624" y="240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2" name="Line 8"/>
            <p:cNvSpPr>
              <a:spLocks noChangeShapeType="1"/>
            </p:cNvSpPr>
            <p:nvPr/>
          </p:nvSpPr>
          <p:spPr bwMode="auto">
            <a:xfrm>
              <a:off x="1536" y="240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0253" name="AutoShape 9"/>
            <p:cNvCxnSpPr>
              <a:cxnSpLocks noChangeShapeType="1"/>
              <a:stCxn id="10249" idx="1"/>
              <a:endCxn id="10248" idx="7"/>
            </p:cNvCxnSpPr>
            <p:nvPr/>
          </p:nvCxnSpPr>
          <p:spPr bwMode="auto">
            <a:xfrm rot="5400000" flipH="1">
              <a:off x="888" y="1944"/>
              <a:ext cx="48" cy="674"/>
            </a:xfrm>
            <a:prstGeom prst="curvedConnector3">
              <a:avLst>
                <a:gd name="adj1" fmla="val 3625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0254" name="Text Box 10"/>
            <p:cNvSpPr txBox="1">
              <a:spLocks noChangeArrowheads="1"/>
            </p:cNvSpPr>
            <p:nvPr/>
          </p:nvSpPr>
          <p:spPr bwMode="auto">
            <a:xfrm>
              <a:off x="710" y="1898"/>
              <a:ext cx="2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TW" sz="2400">
                  <a:solidFill>
                    <a:schemeClr val="tx1"/>
                  </a:solidFill>
                  <a:ea typeface="PMingLiU" pitchFamily="18" charset="-120"/>
                </a:rPr>
                <a:t>-2</a:t>
              </a:r>
            </a:p>
          </p:txBody>
        </p:sp>
        <p:sp>
          <p:nvSpPr>
            <p:cNvPr id="10255" name="Text Box 11"/>
            <p:cNvSpPr txBox="1">
              <a:spLocks noChangeArrowheads="1"/>
            </p:cNvSpPr>
            <p:nvPr/>
          </p:nvSpPr>
          <p:spPr bwMode="auto">
            <a:xfrm>
              <a:off x="710" y="2330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TW" sz="2400">
                  <a:solidFill>
                    <a:schemeClr val="tx1"/>
                  </a:solidFill>
                  <a:ea typeface="PMingLiU" pitchFamily="18" charset="-120"/>
                </a:rPr>
                <a:t>1</a:t>
              </a:r>
            </a:p>
          </p:txBody>
        </p:sp>
        <p:sp>
          <p:nvSpPr>
            <p:cNvPr id="10256" name="Text Box 12"/>
            <p:cNvSpPr txBox="1">
              <a:spLocks noChangeArrowheads="1"/>
            </p:cNvSpPr>
            <p:nvPr/>
          </p:nvSpPr>
          <p:spPr bwMode="auto">
            <a:xfrm>
              <a:off x="1670" y="2330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TW" sz="2400">
                  <a:solidFill>
                    <a:schemeClr val="tx1"/>
                  </a:solidFill>
                  <a:ea typeface="PMingLiU" pitchFamily="18" charset="-120"/>
                </a:rPr>
                <a:t>1</a:t>
              </a:r>
            </a:p>
          </p:txBody>
        </p:sp>
      </p:grpSp>
      <p:sp>
        <p:nvSpPr>
          <p:cNvPr id="10245" name="Text Box 13"/>
          <p:cNvSpPr txBox="1">
            <a:spLocks noChangeArrowheads="1"/>
          </p:cNvSpPr>
          <p:nvPr/>
        </p:nvSpPr>
        <p:spPr bwMode="auto">
          <a:xfrm>
            <a:off x="1631950" y="3608388"/>
            <a:ext cx="5753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(a) Directed graph                                 (b) A</a:t>
            </a:r>
            <a:r>
              <a:rPr lang="en-US" altLang="zh-TW" sz="2400" baseline="30000">
                <a:solidFill>
                  <a:schemeClr val="tx1"/>
                </a:solidFill>
                <a:ea typeface="PMingLiU" pitchFamily="18" charset="-120"/>
              </a:rPr>
              <a:t>-1</a:t>
            </a:r>
            <a:endParaRPr lang="en-US" altLang="zh-TW" sz="2400">
              <a:solidFill>
                <a:schemeClr val="tx1"/>
              </a:solidFill>
              <a:ea typeface="PMingLiU" pitchFamily="18" charset="-120"/>
            </a:endParaRPr>
          </a:p>
        </p:txBody>
      </p:sp>
      <p:graphicFrame>
        <p:nvGraphicFramePr>
          <p:cNvPr id="10242" name="Object 14"/>
          <p:cNvGraphicFramePr>
            <a:graphicFrameLocks noChangeAspect="1"/>
          </p:cNvGraphicFramePr>
          <p:nvPr/>
        </p:nvGraphicFramePr>
        <p:xfrm>
          <a:off x="6013450" y="1779588"/>
          <a:ext cx="1809750" cy="1468437"/>
        </p:xfrm>
        <a:graphic>
          <a:graphicData uri="http://schemas.openxmlformats.org/presentationml/2006/ole">
            <p:oleObj spid="_x0000_s10242" name="方程式" r:id="rId3" imgW="876240" imgH="711000" progId="Equation.3">
              <p:embed/>
            </p:oleObj>
          </a:graphicData>
        </a:graphic>
      </p:graphicFrame>
      <p:sp>
        <p:nvSpPr>
          <p:cNvPr id="10246" name="Text Box 15"/>
          <p:cNvSpPr txBox="1">
            <a:spLocks noChangeArrowheads="1"/>
          </p:cNvSpPr>
          <p:nvPr/>
        </p:nvSpPr>
        <p:spPr bwMode="auto">
          <a:xfrm>
            <a:off x="1135063" y="4605338"/>
            <a:ext cx="77581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</a:rPr>
              <a:t>The length of the shortest path from vertex 0 to vertex 2 is -</a:t>
            </a:r>
            <a:r>
              <a:rPr lang="en-US" altLang="zh-TW" sz="2400">
                <a:solidFill>
                  <a:schemeClr val="tx1"/>
                </a:solidFill>
                <a:sym typeface="Symbol" pitchFamily="18" charset="2"/>
              </a:rPr>
              <a:t>.</a:t>
            </a:r>
            <a:endParaRPr lang="en-US" altLang="zh-TW" sz="2400">
              <a:solidFill>
                <a:schemeClr val="tx1"/>
              </a:solidFill>
            </a:endParaRPr>
          </a:p>
        </p:txBody>
      </p:sp>
      <p:sp>
        <p:nvSpPr>
          <p:cNvPr id="10247" name="Text Box 18"/>
          <p:cNvSpPr txBox="1">
            <a:spLocks noChangeArrowheads="1"/>
          </p:cNvSpPr>
          <p:nvPr/>
        </p:nvSpPr>
        <p:spPr bwMode="auto">
          <a:xfrm>
            <a:off x="3008313" y="5362575"/>
            <a:ext cx="3155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1"/>
                </a:solidFill>
              </a:rPr>
              <a:t>0, 1, 0, 1,0, 1, …, 0, 1, 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441325" y="220663"/>
            <a:ext cx="8991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algn="l"/>
            <a:r>
              <a:rPr lang="en-US" altLang="zh-TW" sz="4400">
                <a:solidFill>
                  <a:schemeClr val="tx2"/>
                </a:solidFill>
                <a:ea typeface="PMingLiU" pitchFamily="18" charset="-120"/>
              </a:rPr>
              <a:t>Algorithm for All Pairs Shortest Paths</a:t>
            </a:r>
          </a:p>
        </p:txBody>
      </p:sp>
      <p:sp>
        <p:nvSpPr>
          <p:cNvPr id="79875" name="Rectangle 3"/>
          <p:cNvSpPr>
            <a:spLocks noChangeArrowheads="1"/>
          </p:cNvSpPr>
          <p:nvPr/>
        </p:nvSpPr>
        <p:spPr bwMode="auto">
          <a:xfrm>
            <a:off x="811213" y="1646238"/>
            <a:ext cx="959326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void allcosts(int cost[][MAX_VERTICES], 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     int distance[][MAX_VERTICES], int n)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{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int i, j, k;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for (i=0; i&lt;n; i++)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for (j=0; j&lt;n; j++) </a:t>
            </a:r>
            <a:b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</a:b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   distance[i][j] = cost[i][j];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for (k=0; k&lt;n; k++) 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for (i=0; i&lt;n; i++)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  for (j=0; j&lt;n; j++)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    if (distance[i][k]+distance[k][j]</a:t>
            </a:r>
            <a:b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</a:b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      &lt; distance[i][j])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       distance[i][j]= </a:t>
            </a:r>
            <a:b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</a:b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          distance[i][k]+distance[k][j];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altLang="zh-TW" sz="24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}</a:t>
            </a:r>
            <a:r>
              <a:rPr lang="en-US" altLang="zh-TW" sz="2800" b="1">
                <a:solidFill>
                  <a:schemeClr val="tx1"/>
                </a:solidFill>
                <a:latin typeface="Courier New" pitchFamily="49" charset="0"/>
                <a:ea typeface="PMingLiU" pitchFamily="18" charset="-120"/>
              </a:rPr>
              <a:t>   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2400" b="1" u="sng" smtClean="0"/>
              <a:t>* Figure 6.33: </a:t>
            </a:r>
            <a:r>
              <a:rPr lang="en-US" altLang="zh-TW" sz="2400" u="sng" smtClean="0"/>
              <a:t>Directed graph and its cost matrix (p.299)</a:t>
            </a:r>
            <a:endParaRPr lang="en-US" altLang="zh-TW" sz="2400" b="1" u="sng" smtClean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295400" y="2514600"/>
            <a:ext cx="1920875" cy="2016125"/>
            <a:chOff x="1094" y="1658"/>
            <a:chExt cx="1210" cy="1270"/>
          </a:xfrm>
        </p:grpSpPr>
        <p:sp>
          <p:nvSpPr>
            <p:cNvPr id="11270" name="Oval 4"/>
            <p:cNvSpPr>
              <a:spLocks noChangeArrowheads="1"/>
            </p:cNvSpPr>
            <p:nvPr/>
          </p:nvSpPr>
          <p:spPr bwMode="auto">
            <a:xfrm>
              <a:off x="1248" y="1968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TW" sz="2400">
                  <a:solidFill>
                    <a:schemeClr val="tx1"/>
                  </a:solidFill>
                  <a:ea typeface="PMingLiU" pitchFamily="18" charset="-120"/>
                </a:rPr>
                <a:t>V</a:t>
              </a:r>
              <a:r>
                <a:rPr lang="en-US" altLang="zh-TW" sz="2400" baseline="-25000">
                  <a:solidFill>
                    <a:schemeClr val="tx1"/>
                  </a:solidFill>
                  <a:ea typeface="PMingLiU" pitchFamily="18" charset="-120"/>
                </a:rPr>
                <a:t>0</a:t>
              </a:r>
              <a:endParaRPr lang="en-US" altLang="zh-TW" sz="2400">
                <a:solidFill>
                  <a:schemeClr val="tx1"/>
                </a:solidFill>
                <a:ea typeface="PMingLiU" pitchFamily="18" charset="-120"/>
              </a:endParaRPr>
            </a:p>
          </p:txBody>
        </p:sp>
        <p:sp>
          <p:nvSpPr>
            <p:cNvPr id="11271" name="Oval 5"/>
            <p:cNvSpPr>
              <a:spLocks noChangeArrowheads="1"/>
            </p:cNvSpPr>
            <p:nvPr/>
          </p:nvSpPr>
          <p:spPr bwMode="auto">
            <a:xfrm>
              <a:off x="1632" y="2592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TW" sz="2400">
                  <a:solidFill>
                    <a:schemeClr val="tx1"/>
                  </a:solidFill>
                  <a:ea typeface="PMingLiU" pitchFamily="18" charset="-120"/>
                </a:rPr>
                <a:t>V</a:t>
              </a:r>
              <a:r>
                <a:rPr lang="en-US" altLang="zh-TW" sz="2400" baseline="-25000">
                  <a:solidFill>
                    <a:schemeClr val="tx1"/>
                  </a:solidFill>
                  <a:ea typeface="PMingLiU" pitchFamily="18" charset="-120"/>
                </a:rPr>
                <a:t>2</a:t>
              </a:r>
              <a:endParaRPr lang="en-US" altLang="zh-TW" sz="2400">
                <a:solidFill>
                  <a:schemeClr val="tx1"/>
                </a:solidFill>
                <a:ea typeface="PMingLiU" pitchFamily="18" charset="-120"/>
              </a:endParaRPr>
            </a:p>
          </p:txBody>
        </p:sp>
        <p:sp>
          <p:nvSpPr>
            <p:cNvPr id="11272" name="Oval 6"/>
            <p:cNvSpPr>
              <a:spLocks noChangeArrowheads="1"/>
            </p:cNvSpPr>
            <p:nvPr/>
          </p:nvSpPr>
          <p:spPr bwMode="auto">
            <a:xfrm>
              <a:off x="1968" y="1968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TW" sz="2400">
                  <a:solidFill>
                    <a:schemeClr val="tx1"/>
                  </a:solidFill>
                  <a:ea typeface="PMingLiU" pitchFamily="18" charset="-120"/>
                </a:rPr>
                <a:t>V1</a:t>
              </a:r>
            </a:p>
          </p:txBody>
        </p:sp>
        <p:cxnSp>
          <p:nvCxnSpPr>
            <p:cNvPr id="11273" name="AutoShape 7"/>
            <p:cNvCxnSpPr>
              <a:cxnSpLocks noChangeShapeType="1"/>
              <a:stCxn id="11272" idx="1"/>
              <a:endCxn id="11270" idx="7"/>
            </p:cNvCxnSpPr>
            <p:nvPr/>
          </p:nvCxnSpPr>
          <p:spPr bwMode="auto">
            <a:xfrm rot="-5400000" flipH="1" flipV="1">
              <a:off x="1775" y="1777"/>
              <a:ext cx="1" cy="482"/>
            </a:xfrm>
            <a:prstGeom prst="curvedConnector3">
              <a:avLst>
                <a:gd name="adj1" fmla="val -1150000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1274" name="AutoShape 8"/>
            <p:cNvCxnSpPr>
              <a:cxnSpLocks noChangeShapeType="1"/>
              <a:stCxn id="11270" idx="5"/>
              <a:endCxn id="11272" idx="3"/>
            </p:cNvCxnSpPr>
            <p:nvPr/>
          </p:nvCxnSpPr>
          <p:spPr bwMode="auto">
            <a:xfrm rot="16200000" flipH="1">
              <a:off x="1775" y="2015"/>
              <a:ext cx="1" cy="482"/>
            </a:xfrm>
            <a:prstGeom prst="curvedConnector3">
              <a:avLst>
                <a:gd name="adj1" fmla="val 1139999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1275" name="Line 9"/>
            <p:cNvSpPr>
              <a:spLocks noChangeShapeType="1"/>
            </p:cNvSpPr>
            <p:nvPr/>
          </p:nvSpPr>
          <p:spPr bwMode="auto">
            <a:xfrm>
              <a:off x="1488" y="2304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6" name="Line 10"/>
            <p:cNvSpPr>
              <a:spLocks noChangeShapeType="1"/>
            </p:cNvSpPr>
            <p:nvPr/>
          </p:nvSpPr>
          <p:spPr bwMode="auto">
            <a:xfrm flipH="1">
              <a:off x="1920" y="2304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1277" name="AutoShape 11"/>
            <p:cNvCxnSpPr>
              <a:cxnSpLocks noChangeShapeType="1"/>
              <a:stCxn id="11271" idx="2"/>
              <a:endCxn id="11270" idx="3"/>
            </p:cNvCxnSpPr>
            <p:nvPr/>
          </p:nvCxnSpPr>
          <p:spPr bwMode="auto">
            <a:xfrm rot="10800000">
              <a:off x="1297" y="2255"/>
              <a:ext cx="335" cy="505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1278" name="Text Box 12"/>
            <p:cNvSpPr txBox="1">
              <a:spLocks noChangeArrowheads="1"/>
            </p:cNvSpPr>
            <p:nvPr/>
          </p:nvSpPr>
          <p:spPr bwMode="auto">
            <a:xfrm>
              <a:off x="1670" y="1658"/>
              <a:ext cx="212" cy="7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TW" sz="2400">
                  <a:solidFill>
                    <a:schemeClr val="tx1"/>
                  </a:solidFill>
                  <a:ea typeface="PMingLiU" pitchFamily="18" charset="-120"/>
                </a:rPr>
                <a:t>6</a:t>
              </a:r>
            </a:p>
            <a:p>
              <a:pPr algn="l"/>
              <a:endParaRPr lang="en-US" altLang="zh-TW" sz="2400">
                <a:solidFill>
                  <a:schemeClr val="tx1"/>
                </a:solidFill>
                <a:ea typeface="PMingLiU" pitchFamily="18" charset="-120"/>
              </a:endParaRPr>
            </a:p>
            <a:p>
              <a:pPr algn="l"/>
              <a:r>
                <a:rPr lang="en-US" altLang="zh-TW" sz="2400">
                  <a:solidFill>
                    <a:schemeClr val="tx1"/>
                  </a:solidFill>
                  <a:ea typeface="PMingLiU" pitchFamily="18" charset="-120"/>
                </a:rPr>
                <a:t>4</a:t>
              </a:r>
            </a:p>
          </p:txBody>
        </p:sp>
        <p:sp>
          <p:nvSpPr>
            <p:cNvPr id="11279" name="Text Box 13"/>
            <p:cNvSpPr txBox="1">
              <a:spLocks noChangeArrowheads="1"/>
            </p:cNvSpPr>
            <p:nvPr/>
          </p:nvSpPr>
          <p:spPr bwMode="auto">
            <a:xfrm>
              <a:off x="1094" y="2313"/>
              <a:ext cx="95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solidFill>
                    <a:schemeClr val="tx1"/>
                  </a:solidFill>
                  <a:ea typeface="PMingLiU" pitchFamily="18" charset="-120"/>
                </a:rPr>
                <a:t> 3  11          2</a:t>
              </a:r>
            </a:p>
          </p:txBody>
        </p:sp>
      </p:grpSp>
      <p:sp>
        <p:nvSpPr>
          <p:cNvPr id="11269" name="Text Box 14"/>
          <p:cNvSpPr txBox="1">
            <a:spLocks noChangeArrowheads="1"/>
          </p:cNvSpPr>
          <p:nvPr/>
        </p:nvSpPr>
        <p:spPr bwMode="auto">
          <a:xfrm>
            <a:off x="1524000" y="4800600"/>
            <a:ext cx="6384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TW" sz="2400">
                <a:solidFill>
                  <a:schemeClr val="tx1"/>
                </a:solidFill>
                <a:ea typeface="PMingLiU" pitchFamily="18" charset="-120"/>
              </a:rPr>
              <a:t>(a)Digraph G          (b)Cost adjacency matrix for G</a:t>
            </a:r>
          </a:p>
        </p:txBody>
      </p:sp>
      <p:graphicFrame>
        <p:nvGraphicFramePr>
          <p:cNvPr id="11266" name="Object 15"/>
          <p:cNvGraphicFramePr>
            <a:graphicFrameLocks noChangeAspect="1"/>
          </p:cNvGraphicFramePr>
          <p:nvPr/>
        </p:nvGraphicFramePr>
        <p:xfrm>
          <a:off x="4876800" y="1600200"/>
          <a:ext cx="1982788" cy="3505200"/>
        </p:xfrm>
        <a:graphic>
          <a:graphicData uri="http://schemas.openxmlformats.org/presentationml/2006/ole">
            <p:oleObj spid="_x0000_s11266" name="文件" r:id="rId3" imgW="2366640" imgH="4182120" progId="Word.Document.8">
              <p:embed/>
            </p:oleObj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0"/>
          <p:cNvGraphicFramePr>
            <a:graphicFrameLocks noChangeAspect="1"/>
          </p:cNvGraphicFramePr>
          <p:nvPr/>
        </p:nvGraphicFramePr>
        <p:xfrm>
          <a:off x="2216150" y="282575"/>
          <a:ext cx="1982788" cy="3505200"/>
        </p:xfrm>
        <a:graphic>
          <a:graphicData uri="http://schemas.openxmlformats.org/presentationml/2006/ole">
            <p:oleObj spid="_x0000_s12290" name="文件" r:id="rId3" imgW="2366640" imgH="4182120" progId="Word.Document.8">
              <p:embed/>
            </p:oleObj>
          </a:graphicData>
        </a:graphic>
      </p:graphicFrame>
      <p:sp>
        <p:nvSpPr>
          <p:cNvPr id="12294" name="Text Box 4"/>
          <p:cNvSpPr txBox="1">
            <a:spLocks noChangeArrowheads="1"/>
          </p:cNvSpPr>
          <p:nvPr/>
        </p:nvSpPr>
        <p:spPr bwMode="auto">
          <a:xfrm>
            <a:off x="2184400" y="388938"/>
            <a:ext cx="5064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A</a:t>
            </a:r>
            <a:r>
              <a:rPr lang="en-US" altLang="zh-TW" baseline="30000">
                <a:solidFill>
                  <a:schemeClr val="tx1"/>
                </a:solidFill>
              </a:rPr>
              <a:t>-1</a:t>
            </a:r>
            <a:endParaRPr lang="en-US" altLang="zh-TW">
              <a:solidFill>
                <a:schemeClr val="tx1"/>
              </a:solidFill>
            </a:endParaRPr>
          </a:p>
        </p:txBody>
      </p:sp>
      <p:graphicFrame>
        <p:nvGraphicFramePr>
          <p:cNvPr id="12291" name="Object 1"/>
          <p:cNvGraphicFramePr>
            <a:graphicFrameLocks noChangeAspect="1"/>
          </p:cNvGraphicFramePr>
          <p:nvPr/>
        </p:nvGraphicFramePr>
        <p:xfrm>
          <a:off x="5821363" y="265113"/>
          <a:ext cx="1957387" cy="3475037"/>
        </p:xfrm>
        <a:graphic>
          <a:graphicData uri="http://schemas.openxmlformats.org/presentationml/2006/ole">
            <p:oleObj spid="_x0000_s12291" name="文件" r:id="rId4" imgW="2366640" imgH="4183200" progId="Word.Document.8">
              <p:embed/>
            </p:oleObj>
          </a:graphicData>
        </a:graphic>
      </p:graphicFrame>
      <p:sp>
        <p:nvSpPr>
          <p:cNvPr id="12295" name="Text Box 6"/>
          <p:cNvSpPr txBox="1">
            <a:spLocks noChangeArrowheads="1"/>
          </p:cNvSpPr>
          <p:nvPr/>
        </p:nvSpPr>
        <p:spPr bwMode="auto">
          <a:xfrm>
            <a:off x="5800725" y="377825"/>
            <a:ext cx="45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A</a:t>
            </a:r>
            <a:r>
              <a:rPr lang="en-US" altLang="zh-TW" baseline="30000">
                <a:solidFill>
                  <a:schemeClr val="tx1"/>
                </a:solidFill>
              </a:rPr>
              <a:t>0</a:t>
            </a:r>
            <a:endParaRPr lang="en-US" altLang="zh-TW">
              <a:solidFill>
                <a:schemeClr val="tx1"/>
              </a:solidFill>
            </a:endParaRPr>
          </a:p>
        </p:txBody>
      </p:sp>
      <p:graphicFrame>
        <p:nvGraphicFramePr>
          <p:cNvPr id="12292" name="Object 2"/>
          <p:cNvGraphicFramePr>
            <a:graphicFrameLocks noChangeAspect="1"/>
          </p:cNvGraphicFramePr>
          <p:nvPr/>
        </p:nvGraphicFramePr>
        <p:xfrm>
          <a:off x="2185988" y="3454400"/>
          <a:ext cx="1922462" cy="3403600"/>
        </p:xfrm>
        <a:graphic>
          <a:graphicData uri="http://schemas.openxmlformats.org/presentationml/2006/ole">
            <p:oleObj spid="_x0000_s12292" name="文件" r:id="rId5" imgW="2103840" imgH="4182120" progId="Word.Document.8">
              <p:embed/>
            </p:oleObj>
          </a:graphicData>
        </a:graphic>
      </p:graphicFrame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2174875" y="3562350"/>
            <a:ext cx="45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A</a:t>
            </a:r>
            <a:r>
              <a:rPr lang="en-US" altLang="zh-TW" baseline="30000">
                <a:solidFill>
                  <a:schemeClr val="tx1"/>
                </a:solidFill>
              </a:rPr>
              <a:t>1</a:t>
            </a:r>
            <a:endParaRPr lang="en-US" altLang="zh-TW">
              <a:solidFill>
                <a:schemeClr val="tx1"/>
              </a:solidFill>
            </a:endParaRPr>
          </a:p>
        </p:txBody>
      </p:sp>
      <p:graphicFrame>
        <p:nvGraphicFramePr>
          <p:cNvPr id="12293" name="Object 3"/>
          <p:cNvGraphicFramePr>
            <a:graphicFrameLocks noChangeAspect="1"/>
          </p:cNvGraphicFramePr>
          <p:nvPr/>
        </p:nvGraphicFramePr>
        <p:xfrm>
          <a:off x="5767388" y="3457575"/>
          <a:ext cx="1905000" cy="3792538"/>
        </p:xfrm>
        <a:graphic>
          <a:graphicData uri="http://schemas.openxmlformats.org/presentationml/2006/ole">
            <p:oleObj spid="_x0000_s12293" name="文件" r:id="rId6" imgW="2103840" imgH="4182120" progId="Word.Document.8">
              <p:embed/>
            </p:oleObj>
          </a:graphicData>
        </a:graphic>
      </p:graphicFrame>
      <p:sp>
        <p:nvSpPr>
          <p:cNvPr id="12297" name="Text Box 10"/>
          <p:cNvSpPr txBox="1">
            <a:spLocks noChangeArrowheads="1"/>
          </p:cNvSpPr>
          <p:nvPr/>
        </p:nvSpPr>
        <p:spPr bwMode="auto">
          <a:xfrm>
            <a:off x="5749925" y="3562350"/>
            <a:ext cx="45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A</a:t>
            </a:r>
            <a:r>
              <a:rPr lang="en-US" altLang="zh-TW" baseline="30000">
                <a:solidFill>
                  <a:schemeClr val="tx1"/>
                </a:solidFill>
              </a:rPr>
              <a:t>2</a:t>
            </a:r>
            <a:endParaRPr lang="en-US" altLang="zh-TW">
              <a:solidFill>
                <a:schemeClr val="tx1"/>
              </a:solidFill>
            </a:endParaRP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3905250" y="255588"/>
            <a:ext cx="1920875" cy="2016125"/>
            <a:chOff x="1094" y="1658"/>
            <a:chExt cx="1210" cy="1270"/>
          </a:xfrm>
        </p:grpSpPr>
        <p:sp>
          <p:nvSpPr>
            <p:cNvPr id="12335" name="Oval 12"/>
            <p:cNvSpPr>
              <a:spLocks noChangeArrowheads="1"/>
            </p:cNvSpPr>
            <p:nvPr/>
          </p:nvSpPr>
          <p:spPr bwMode="auto">
            <a:xfrm>
              <a:off x="1248" y="1968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TW" sz="2400">
                  <a:solidFill>
                    <a:schemeClr val="tx1"/>
                  </a:solidFill>
                  <a:ea typeface="PMingLiU" pitchFamily="18" charset="-120"/>
                </a:rPr>
                <a:t>V</a:t>
              </a:r>
              <a:r>
                <a:rPr lang="en-US" altLang="zh-TW" sz="2400" baseline="-25000">
                  <a:solidFill>
                    <a:schemeClr val="tx1"/>
                  </a:solidFill>
                  <a:ea typeface="PMingLiU" pitchFamily="18" charset="-120"/>
                </a:rPr>
                <a:t>0</a:t>
              </a:r>
              <a:endParaRPr lang="en-US" altLang="zh-TW" sz="2400">
                <a:solidFill>
                  <a:schemeClr val="tx1"/>
                </a:solidFill>
                <a:ea typeface="PMingLiU" pitchFamily="18" charset="-120"/>
              </a:endParaRPr>
            </a:p>
          </p:txBody>
        </p:sp>
        <p:sp>
          <p:nvSpPr>
            <p:cNvPr id="12336" name="Oval 13"/>
            <p:cNvSpPr>
              <a:spLocks noChangeArrowheads="1"/>
            </p:cNvSpPr>
            <p:nvPr/>
          </p:nvSpPr>
          <p:spPr bwMode="auto">
            <a:xfrm>
              <a:off x="1632" y="2592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TW" sz="2400">
                  <a:solidFill>
                    <a:schemeClr val="tx1"/>
                  </a:solidFill>
                  <a:ea typeface="PMingLiU" pitchFamily="18" charset="-120"/>
                </a:rPr>
                <a:t>V</a:t>
              </a:r>
              <a:r>
                <a:rPr lang="en-US" altLang="zh-TW" sz="2400" baseline="-25000">
                  <a:solidFill>
                    <a:schemeClr val="tx1"/>
                  </a:solidFill>
                  <a:ea typeface="PMingLiU" pitchFamily="18" charset="-120"/>
                </a:rPr>
                <a:t>2</a:t>
              </a:r>
              <a:endParaRPr lang="en-US" altLang="zh-TW" sz="2400">
                <a:solidFill>
                  <a:schemeClr val="tx1"/>
                </a:solidFill>
                <a:ea typeface="PMingLiU" pitchFamily="18" charset="-120"/>
              </a:endParaRPr>
            </a:p>
          </p:txBody>
        </p:sp>
        <p:sp>
          <p:nvSpPr>
            <p:cNvPr id="12337" name="Oval 14"/>
            <p:cNvSpPr>
              <a:spLocks noChangeArrowheads="1"/>
            </p:cNvSpPr>
            <p:nvPr/>
          </p:nvSpPr>
          <p:spPr bwMode="auto">
            <a:xfrm>
              <a:off x="1968" y="1968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TW" sz="2400">
                  <a:solidFill>
                    <a:schemeClr val="tx1"/>
                  </a:solidFill>
                  <a:ea typeface="PMingLiU" pitchFamily="18" charset="-120"/>
                </a:rPr>
                <a:t>V1</a:t>
              </a:r>
            </a:p>
          </p:txBody>
        </p:sp>
        <p:cxnSp>
          <p:nvCxnSpPr>
            <p:cNvPr id="12338" name="AutoShape 15"/>
            <p:cNvCxnSpPr>
              <a:cxnSpLocks noChangeShapeType="1"/>
              <a:stCxn id="12337" idx="1"/>
              <a:endCxn id="12335" idx="7"/>
            </p:cNvCxnSpPr>
            <p:nvPr/>
          </p:nvCxnSpPr>
          <p:spPr bwMode="auto">
            <a:xfrm rot="-5400000" flipH="1" flipV="1">
              <a:off x="1775" y="1777"/>
              <a:ext cx="1" cy="482"/>
            </a:xfrm>
            <a:prstGeom prst="curvedConnector3">
              <a:avLst>
                <a:gd name="adj1" fmla="val -1150000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2339" name="AutoShape 16"/>
            <p:cNvCxnSpPr>
              <a:cxnSpLocks noChangeShapeType="1"/>
              <a:stCxn id="12335" idx="5"/>
              <a:endCxn id="12337" idx="3"/>
            </p:cNvCxnSpPr>
            <p:nvPr/>
          </p:nvCxnSpPr>
          <p:spPr bwMode="auto">
            <a:xfrm rot="16200000" flipH="1">
              <a:off x="1775" y="2015"/>
              <a:ext cx="1" cy="482"/>
            </a:xfrm>
            <a:prstGeom prst="curvedConnector3">
              <a:avLst>
                <a:gd name="adj1" fmla="val 1139999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2340" name="Line 17"/>
            <p:cNvSpPr>
              <a:spLocks noChangeShapeType="1"/>
            </p:cNvSpPr>
            <p:nvPr/>
          </p:nvSpPr>
          <p:spPr bwMode="auto">
            <a:xfrm>
              <a:off x="1488" y="2304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41" name="Line 18"/>
            <p:cNvSpPr>
              <a:spLocks noChangeShapeType="1"/>
            </p:cNvSpPr>
            <p:nvPr/>
          </p:nvSpPr>
          <p:spPr bwMode="auto">
            <a:xfrm flipH="1">
              <a:off x="1920" y="2304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2342" name="AutoShape 19"/>
            <p:cNvCxnSpPr>
              <a:cxnSpLocks noChangeShapeType="1"/>
              <a:stCxn id="12336" idx="2"/>
              <a:endCxn id="12335" idx="3"/>
            </p:cNvCxnSpPr>
            <p:nvPr/>
          </p:nvCxnSpPr>
          <p:spPr bwMode="auto">
            <a:xfrm rot="10800000">
              <a:off x="1297" y="2255"/>
              <a:ext cx="335" cy="505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2343" name="Text Box 20"/>
            <p:cNvSpPr txBox="1">
              <a:spLocks noChangeArrowheads="1"/>
            </p:cNvSpPr>
            <p:nvPr/>
          </p:nvSpPr>
          <p:spPr bwMode="auto">
            <a:xfrm>
              <a:off x="1670" y="1658"/>
              <a:ext cx="212" cy="7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TW" sz="2400">
                  <a:solidFill>
                    <a:schemeClr val="tx1"/>
                  </a:solidFill>
                  <a:ea typeface="PMingLiU" pitchFamily="18" charset="-120"/>
                </a:rPr>
                <a:t>6</a:t>
              </a:r>
            </a:p>
            <a:p>
              <a:pPr algn="l"/>
              <a:endParaRPr lang="en-US" altLang="zh-TW" sz="2400">
                <a:solidFill>
                  <a:schemeClr val="tx1"/>
                </a:solidFill>
                <a:ea typeface="PMingLiU" pitchFamily="18" charset="-120"/>
              </a:endParaRPr>
            </a:p>
            <a:p>
              <a:pPr algn="l"/>
              <a:r>
                <a:rPr lang="en-US" altLang="zh-TW" sz="2400">
                  <a:solidFill>
                    <a:schemeClr val="tx1"/>
                  </a:solidFill>
                  <a:ea typeface="PMingLiU" pitchFamily="18" charset="-120"/>
                </a:rPr>
                <a:t>4</a:t>
              </a:r>
            </a:p>
          </p:txBody>
        </p:sp>
        <p:sp>
          <p:nvSpPr>
            <p:cNvPr id="12344" name="Text Box 21"/>
            <p:cNvSpPr txBox="1">
              <a:spLocks noChangeArrowheads="1"/>
            </p:cNvSpPr>
            <p:nvPr/>
          </p:nvSpPr>
          <p:spPr bwMode="auto">
            <a:xfrm>
              <a:off x="1094" y="2313"/>
              <a:ext cx="95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solidFill>
                    <a:schemeClr val="tx1"/>
                  </a:solidFill>
                  <a:ea typeface="PMingLiU" pitchFamily="18" charset="-120"/>
                </a:rPr>
                <a:t> 3  11          2</a:t>
              </a:r>
            </a:p>
          </p:txBody>
        </p:sp>
      </p:grpSp>
      <p:sp>
        <p:nvSpPr>
          <p:cNvPr id="12299" name="Rectangle 23"/>
          <p:cNvSpPr>
            <a:spLocks noChangeArrowheads="1"/>
          </p:cNvSpPr>
          <p:nvPr/>
        </p:nvSpPr>
        <p:spPr bwMode="auto">
          <a:xfrm>
            <a:off x="8093075" y="828675"/>
            <a:ext cx="5064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A</a:t>
            </a:r>
            <a:r>
              <a:rPr lang="en-US" altLang="zh-TW" baseline="3000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12300" name="Text Box 24"/>
          <p:cNvSpPr txBox="1">
            <a:spLocks noChangeArrowheads="1"/>
          </p:cNvSpPr>
          <p:nvPr/>
        </p:nvSpPr>
        <p:spPr bwMode="auto">
          <a:xfrm>
            <a:off x="7659688" y="1185863"/>
            <a:ext cx="1263650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0            0</a:t>
            </a:r>
          </a:p>
          <a:p>
            <a:endParaRPr lang="en-US" altLang="zh-TW">
              <a:solidFill>
                <a:schemeClr val="tx1"/>
              </a:solidFill>
            </a:endParaRPr>
          </a:p>
          <a:p>
            <a:r>
              <a:rPr lang="en-US" altLang="zh-TW">
                <a:solidFill>
                  <a:schemeClr val="tx1"/>
                </a:solidFill>
              </a:rPr>
              <a:t>6            4</a:t>
            </a:r>
          </a:p>
          <a:p>
            <a:endParaRPr lang="en-US" altLang="zh-TW">
              <a:solidFill>
                <a:schemeClr val="tx1"/>
              </a:solidFill>
            </a:endParaRPr>
          </a:p>
          <a:p>
            <a:r>
              <a:rPr lang="en-US" altLang="zh-TW">
                <a:solidFill>
                  <a:schemeClr val="tx1"/>
                </a:solidFill>
              </a:rPr>
              <a:t>3           11</a:t>
            </a:r>
          </a:p>
        </p:txBody>
      </p:sp>
      <p:sp>
        <p:nvSpPr>
          <p:cNvPr id="12301" name="Line 26"/>
          <p:cNvSpPr>
            <a:spLocks noChangeShapeType="1"/>
          </p:cNvSpPr>
          <p:nvPr/>
        </p:nvSpPr>
        <p:spPr bwMode="auto">
          <a:xfrm>
            <a:off x="7991475" y="1357313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2" name="Line 27"/>
          <p:cNvSpPr>
            <a:spLocks noChangeShapeType="1"/>
          </p:cNvSpPr>
          <p:nvPr/>
        </p:nvSpPr>
        <p:spPr bwMode="auto">
          <a:xfrm>
            <a:off x="7991475" y="1339850"/>
            <a:ext cx="652463" cy="671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3" name="Line 28"/>
          <p:cNvSpPr>
            <a:spLocks noChangeShapeType="1"/>
          </p:cNvSpPr>
          <p:nvPr/>
        </p:nvSpPr>
        <p:spPr bwMode="auto">
          <a:xfrm>
            <a:off x="8026400" y="1339850"/>
            <a:ext cx="547688" cy="127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4" name="Line 29"/>
          <p:cNvSpPr>
            <a:spLocks noChangeShapeType="1"/>
          </p:cNvSpPr>
          <p:nvPr/>
        </p:nvSpPr>
        <p:spPr bwMode="auto">
          <a:xfrm flipV="1">
            <a:off x="7991475" y="1393825"/>
            <a:ext cx="652463" cy="598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5" name="Line 30"/>
          <p:cNvSpPr>
            <a:spLocks noChangeShapeType="1"/>
          </p:cNvSpPr>
          <p:nvPr/>
        </p:nvSpPr>
        <p:spPr bwMode="auto">
          <a:xfrm>
            <a:off x="8026400" y="1974850"/>
            <a:ext cx="582613" cy="36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6" name="Line 31"/>
          <p:cNvSpPr>
            <a:spLocks noChangeShapeType="1"/>
          </p:cNvSpPr>
          <p:nvPr/>
        </p:nvSpPr>
        <p:spPr bwMode="auto">
          <a:xfrm>
            <a:off x="8008938" y="2011363"/>
            <a:ext cx="547687" cy="581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7" name="Line 32"/>
          <p:cNvSpPr>
            <a:spLocks noChangeShapeType="1"/>
          </p:cNvSpPr>
          <p:nvPr/>
        </p:nvSpPr>
        <p:spPr bwMode="auto">
          <a:xfrm flipV="1">
            <a:off x="7991475" y="1428750"/>
            <a:ext cx="635000" cy="1181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8" name="Line 33"/>
          <p:cNvSpPr>
            <a:spLocks noChangeShapeType="1"/>
          </p:cNvSpPr>
          <p:nvPr/>
        </p:nvSpPr>
        <p:spPr bwMode="auto">
          <a:xfrm flipV="1">
            <a:off x="8008938" y="2011363"/>
            <a:ext cx="617537" cy="598487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9" name="Line 34"/>
          <p:cNvSpPr>
            <a:spLocks noChangeShapeType="1"/>
          </p:cNvSpPr>
          <p:nvPr/>
        </p:nvSpPr>
        <p:spPr bwMode="auto">
          <a:xfrm>
            <a:off x="7974013" y="2609850"/>
            <a:ext cx="6175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10" name="Rectangle 45"/>
          <p:cNvSpPr>
            <a:spLocks noChangeArrowheads="1"/>
          </p:cNvSpPr>
          <p:nvPr/>
        </p:nvSpPr>
        <p:spPr bwMode="auto">
          <a:xfrm>
            <a:off x="1303338" y="3997325"/>
            <a:ext cx="45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A</a:t>
            </a:r>
            <a:r>
              <a:rPr lang="en-US" altLang="zh-TW" baseline="3000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311" name="Text Box 46"/>
          <p:cNvSpPr txBox="1">
            <a:spLocks noChangeArrowheads="1"/>
          </p:cNvSpPr>
          <p:nvPr/>
        </p:nvSpPr>
        <p:spPr bwMode="auto">
          <a:xfrm>
            <a:off x="874713" y="4354513"/>
            <a:ext cx="1200150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4            6</a:t>
            </a:r>
          </a:p>
          <a:p>
            <a:endParaRPr lang="en-US" altLang="zh-TW">
              <a:solidFill>
                <a:schemeClr val="tx1"/>
              </a:solidFill>
            </a:endParaRPr>
          </a:p>
          <a:p>
            <a:r>
              <a:rPr lang="en-US" altLang="zh-TW">
                <a:solidFill>
                  <a:schemeClr val="tx1"/>
                </a:solidFill>
              </a:rPr>
              <a:t>0            0</a:t>
            </a:r>
          </a:p>
          <a:p>
            <a:endParaRPr lang="en-US" altLang="zh-TW">
              <a:solidFill>
                <a:schemeClr val="tx1"/>
              </a:solidFill>
            </a:endParaRPr>
          </a:p>
          <a:p>
            <a:r>
              <a:rPr lang="en-US" altLang="zh-TW">
                <a:solidFill>
                  <a:schemeClr val="tx1"/>
                </a:solidFill>
              </a:rPr>
              <a:t>7           2</a:t>
            </a:r>
          </a:p>
        </p:txBody>
      </p:sp>
      <p:sp>
        <p:nvSpPr>
          <p:cNvPr id="12312" name="Line 47"/>
          <p:cNvSpPr>
            <a:spLocks noChangeShapeType="1"/>
          </p:cNvSpPr>
          <p:nvPr/>
        </p:nvSpPr>
        <p:spPr bwMode="auto">
          <a:xfrm>
            <a:off x="1174750" y="4525963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13" name="Line 48"/>
          <p:cNvSpPr>
            <a:spLocks noChangeShapeType="1"/>
          </p:cNvSpPr>
          <p:nvPr/>
        </p:nvSpPr>
        <p:spPr bwMode="auto">
          <a:xfrm>
            <a:off x="1174750" y="4508500"/>
            <a:ext cx="652463" cy="671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14" name="Line 49"/>
          <p:cNvSpPr>
            <a:spLocks noChangeShapeType="1"/>
          </p:cNvSpPr>
          <p:nvPr/>
        </p:nvSpPr>
        <p:spPr bwMode="auto">
          <a:xfrm>
            <a:off x="1209675" y="4508500"/>
            <a:ext cx="547688" cy="1270000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15" name="Line 50"/>
          <p:cNvSpPr>
            <a:spLocks noChangeShapeType="1"/>
          </p:cNvSpPr>
          <p:nvPr/>
        </p:nvSpPr>
        <p:spPr bwMode="auto">
          <a:xfrm flipV="1">
            <a:off x="1174750" y="4562475"/>
            <a:ext cx="652463" cy="598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16" name="Line 51"/>
          <p:cNvSpPr>
            <a:spLocks noChangeShapeType="1"/>
          </p:cNvSpPr>
          <p:nvPr/>
        </p:nvSpPr>
        <p:spPr bwMode="auto">
          <a:xfrm>
            <a:off x="1209675" y="5143500"/>
            <a:ext cx="582613" cy="36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17" name="Line 52"/>
          <p:cNvSpPr>
            <a:spLocks noChangeShapeType="1"/>
          </p:cNvSpPr>
          <p:nvPr/>
        </p:nvSpPr>
        <p:spPr bwMode="auto">
          <a:xfrm>
            <a:off x="1192213" y="5180013"/>
            <a:ext cx="547687" cy="581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18" name="Line 53"/>
          <p:cNvSpPr>
            <a:spLocks noChangeShapeType="1"/>
          </p:cNvSpPr>
          <p:nvPr/>
        </p:nvSpPr>
        <p:spPr bwMode="auto">
          <a:xfrm flipV="1">
            <a:off x="1174750" y="4597400"/>
            <a:ext cx="635000" cy="1181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19" name="Line 54"/>
          <p:cNvSpPr>
            <a:spLocks noChangeShapeType="1"/>
          </p:cNvSpPr>
          <p:nvPr/>
        </p:nvSpPr>
        <p:spPr bwMode="auto">
          <a:xfrm flipV="1">
            <a:off x="1192213" y="5180013"/>
            <a:ext cx="617537" cy="598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20" name="Line 55"/>
          <p:cNvSpPr>
            <a:spLocks noChangeShapeType="1"/>
          </p:cNvSpPr>
          <p:nvPr/>
        </p:nvSpPr>
        <p:spPr bwMode="auto">
          <a:xfrm>
            <a:off x="1157288" y="5778500"/>
            <a:ext cx="6175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21" name="Rectangle 56"/>
          <p:cNvSpPr>
            <a:spLocks noChangeArrowheads="1"/>
          </p:cNvSpPr>
          <p:nvPr/>
        </p:nvSpPr>
        <p:spPr bwMode="auto">
          <a:xfrm>
            <a:off x="8340725" y="3997325"/>
            <a:ext cx="45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A</a:t>
            </a:r>
            <a:r>
              <a:rPr lang="en-US" altLang="zh-TW" baseline="300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322" name="Text Box 57"/>
          <p:cNvSpPr txBox="1">
            <a:spLocks noChangeArrowheads="1"/>
          </p:cNvSpPr>
          <p:nvPr/>
        </p:nvSpPr>
        <p:spPr bwMode="auto">
          <a:xfrm>
            <a:off x="7880350" y="4354513"/>
            <a:ext cx="1263650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TW">
                <a:solidFill>
                  <a:schemeClr val="tx1"/>
                </a:solidFill>
              </a:rPr>
              <a:t>6            3</a:t>
            </a:r>
          </a:p>
          <a:p>
            <a:endParaRPr lang="en-US" altLang="zh-TW">
              <a:solidFill>
                <a:schemeClr val="tx1"/>
              </a:solidFill>
            </a:endParaRPr>
          </a:p>
          <a:p>
            <a:r>
              <a:rPr lang="en-US" altLang="zh-TW">
                <a:solidFill>
                  <a:schemeClr val="tx1"/>
                </a:solidFill>
              </a:rPr>
              <a:t>2            7</a:t>
            </a:r>
          </a:p>
          <a:p>
            <a:endParaRPr lang="en-US" altLang="zh-TW">
              <a:solidFill>
                <a:schemeClr val="tx1"/>
              </a:solidFill>
            </a:endParaRPr>
          </a:p>
          <a:p>
            <a:r>
              <a:rPr lang="en-US" altLang="zh-TW">
                <a:solidFill>
                  <a:schemeClr val="tx1"/>
                </a:solidFill>
              </a:rPr>
              <a:t>0           0</a:t>
            </a:r>
          </a:p>
        </p:txBody>
      </p:sp>
      <p:sp>
        <p:nvSpPr>
          <p:cNvPr id="12323" name="Line 58"/>
          <p:cNvSpPr>
            <a:spLocks noChangeShapeType="1"/>
          </p:cNvSpPr>
          <p:nvPr/>
        </p:nvSpPr>
        <p:spPr bwMode="auto">
          <a:xfrm>
            <a:off x="8212138" y="4525963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24" name="Line 59"/>
          <p:cNvSpPr>
            <a:spLocks noChangeShapeType="1"/>
          </p:cNvSpPr>
          <p:nvPr/>
        </p:nvSpPr>
        <p:spPr bwMode="auto">
          <a:xfrm>
            <a:off x="8212138" y="4508500"/>
            <a:ext cx="652462" cy="671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25" name="Line 60"/>
          <p:cNvSpPr>
            <a:spLocks noChangeShapeType="1"/>
          </p:cNvSpPr>
          <p:nvPr/>
        </p:nvSpPr>
        <p:spPr bwMode="auto">
          <a:xfrm>
            <a:off x="8247063" y="4508500"/>
            <a:ext cx="547687" cy="127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26" name="Line 61"/>
          <p:cNvSpPr>
            <a:spLocks noChangeShapeType="1"/>
          </p:cNvSpPr>
          <p:nvPr/>
        </p:nvSpPr>
        <p:spPr bwMode="auto">
          <a:xfrm flipV="1">
            <a:off x="8212138" y="4562475"/>
            <a:ext cx="652462" cy="598488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27" name="Line 62"/>
          <p:cNvSpPr>
            <a:spLocks noChangeShapeType="1"/>
          </p:cNvSpPr>
          <p:nvPr/>
        </p:nvSpPr>
        <p:spPr bwMode="auto">
          <a:xfrm>
            <a:off x="8247063" y="5143500"/>
            <a:ext cx="582612" cy="36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28" name="Line 63"/>
          <p:cNvSpPr>
            <a:spLocks noChangeShapeType="1"/>
          </p:cNvSpPr>
          <p:nvPr/>
        </p:nvSpPr>
        <p:spPr bwMode="auto">
          <a:xfrm>
            <a:off x="8229600" y="5180013"/>
            <a:ext cx="547688" cy="581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29" name="Line 64"/>
          <p:cNvSpPr>
            <a:spLocks noChangeShapeType="1"/>
          </p:cNvSpPr>
          <p:nvPr/>
        </p:nvSpPr>
        <p:spPr bwMode="auto">
          <a:xfrm flipV="1">
            <a:off x="8212138" y="4597400"/>
            <a:ext cx="635000" cy="1181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30" name="Line 65"/>
          <p:cNvSpPr>
            <a:spLocks noChangeShapeType="1"/>
          </p:cNvSpPr>
          <p:nvPr/>
        </p:nvSpPr>
        <p:spPr bwMode="auto">
          <a:xfrm flipV="1">
            <a:off x="8229600" y="5180013"/>
            <a:ext cx="617538" cy="598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31" name="Line 66"/>
          <p:cNvSpPr>
            <a:spLocks noChangeShapeType="1"/>
          </p:cNvSpPr>
          <p:nvPr/>
        </p:nvSpPr>
        <p:spPr bwMode="auto">
          <a:xfrm>
            <a:off x="8194675" y="5778500"/>
            <a:ext cx="6175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32" name="Text Box 67"/>
          <p:cNvSpPr txBox="1">
            <a:spLocks noChangeArrowheads="1"/>
          </p:cNvSpPr>
          <p:nvPr/>
        </p:nvSpPr>
        <p:spPr bwMode="auto">
          <a:xfrm>
            <a:off x="8072438" y="2746375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/>
              <a:t>v0</a:t>
            </a:r>
          </a:p>
        </p:txBody>
      </p:sp>
      <p:sp>
        <p:nvSpPr>
          <p:cNvPr id="12333" name="Text Box 68"/>
          <p:cNvSpPr txBox="1">
            <a:spLocks noChangeArrowheads="1"/>
          </p:cNvSpPr>
          <p:nvPr/>
        </p:nvSpPr>
        <p:spPr bwMode="auto">
          <a:xfrm>
            <a:off x="1244600" y="595630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/>
              <a:t>v1</a:t>
            </a:r>
          </a:p>
        </p:txBody>
      </p:sp>
      <p:sp>
        <p:nvSpPr>
          <p:cNvPr id="12334" name="Text Box 69"/>
          <p:cNvSpPr txBox="1">
            <a:spLocks noChangeArrowheads="1"/>
          </p:cNvSpPr>
          <p:nvPr/>
        </p:nvSpPr>
        <p:spPr bwMode="auto">
          <a:xfrm>
            <a:off x="8318500" y="5903913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/>
              <a:t>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3509</Words>
  <Application>Microsoft Office PowerPoint</Application>
  <PresentationFormat>On-screen Show (4:3)</PresentationFormat>
  <Paragraphs>1388</Paragraphs>
  <Slides>77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5</vt:i4>
      </vt:variant>
      <vt:variant>
        <vt:lpstr>Slide Titles</vt:lpstr>
      </vt:variant>
      <vt:variant>
        <vt:i4>77</vt:i4>
      </vt:variant>
    </vt:vector>
  </HeadingPairs>
  <TitlesOfParts>
    <vt:vector size="83" baseType="lpstr">
      <vt:lpstr>Office Theme</vt:lpstr>
      <vt:lpstr>方程式</vt:lpstr>
      <vt:lpstr>Microsoft 方程式編輯器 2.1</vt:lpstr>
      <vt:lpstr>文件</vt:lpstr>
      <vt:lpstr>Microsoft Word 文件</vt:lpstr>
      <vt:lpstr>Microsoft 方程式編輯器 3.0</vt:lpstr>
      <vt:lpstr>Data Structure &amp; Algorithms   </vt:lpstr>
      <vt:lpstr>Unit 5                      GRAPHS</vt:lpstr>
      <vt:lpstr>Slide 3</vt:lpstr>
      <vt:lpstr>Slide 4</vt:lpstr>
      <vt:lpstr>Slide 5</vt:lpstr>
      <vt:lpstr>Slide 6</vt:lpstr>
      <vt:lpstr>Slide 7</vt:lpstr>
      <vt:lpstr>Subgraph and Path</vt:lpstr>
      <vt:lpstr>Figure 6.4: subgraphs of G1 and G3  (p.261) </vt:lpstr>
      <vt:lpstr>Simple Path and Style</vt:lpstr>
      <vt:lpstr>Slide 11</vt:lpstr>
      <vt:lpstr>Connected Component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Interesting Operations</vt:lpstr>
      <vt:lpstr>Compact Representation</vt:lpstr>
      <vt:lpstr>Figure 6.10: Inverse adjacency list for G3</vt:lpstr>
      <vt:lpstr>Figure 6.11: Alternate node structure for adjacency lists (p.267)</vt:lpstr>
      <vt:lpstr>Figure 6.12: Orthogonal representation for graph G3(p.268)</vt:lpstr>
      <vt:lpstr>Figure 6.13:Alternate order adjacency list for G1 (p.268)</vt:lpstr>
      <vt:lpstr>Adjacency Multilists</vt:lpstr>
      <vt:lpstr>Example for Adjacency Multlists</vt:lpstr>
      <vt:lpstr>Adjacency Multilists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  *Program 6.5: Initializaiton of dfn and low (p.282)</vt:lpstr>
      <vt:lpstr>*Program 6.4: Determining dfn and low (p.282)</vt:lpstr>
      <vt:lpstr>*Program 6.6: Biconnected components of a graph (p.283)</vt:lpstr>
      <vt:lpstr>      if(dfn[w] &lt; 0) {/* w has not been visited */             bicon(w, u);             low[u] = MIN2(low[u], low[w]);             if (low[w] &gt;= dfn[u] ){ articulation point                 printf(“New biconnected component: “);                 do { /* delete edge from stack */                      delete(&amp;top, &amp;x, &amp;y);                      printf(“ &lt;%d, %d&gt;” , x, y);                  }  while (!(( x = = u) &amp;&amp; (y = = w)));                  printf(“\n”);               }            }           else if (w != v)  low[u] = MIN2(low[u], dfn[w]);        }     }</vt:lpstr>
      <vt:lpstr>Slide 55</vt:lpstr>
      <vt:lpstr>Slide 56</vt:lpstr>
      <vt:lpstr>Slide 57</vt:lpstr>
      <vt:lpstr>Examples for Kruskal’s Algorithm</vt:lpstr>
      <vt:lpstr>Slide 59</vt:lpstr>
      <vt:lpstr>Slide 60</vt:lpstr>
      <vt:lpstr>Slide 61</vt:lpstr>
      <vt:lpstr>Slide 62</vt:lpstr>
      <vt:lpstr>Slide 63</vt:lpstr>
      <vt:lpstr>Slide 64</vt:lpstr>
      <vt:lpstr>*Figure 6.29: Graph and shortest paths from v0 (p.293)</vt:lpstr>
      <vt:lpstr>Slide 66</vt:lpstr>
      <vt:lpstr>Slide 67</vt:lpstr>
      <vt:lpstr>Slide 68</vt:lpstr>
      <vt:lpstr>Example for the Shortest Path (Continued)</vt:lpstr>
      <vt:lpstr>Slide 70</vt:lpstr>
      <vt:lpstr>Slide 71</vt:lpstr>
      <vt:lpstr>All Pairs Shortest Paths</vt:lpstr>
      <vt:lpstr>Slide 73</vt:lpstr>
      <vt:lpstr>Slide 74</vt:lpstr>
      <vt:lpstr>Slide 75</vt:lpstr>
      <vt:lpstr>* Figure 6.33: Directed graph and its cost matrix (p.299)</vt:lpstr>
      <vt:lpstr>Slide 77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 &amp; Algorithms   </dc:title>
  <dc:creator>HP</dc:creator>
  <cp:lastModifiedBy>HP</cp:lastModifiedBy>
  <cp:revision>1</cp:revision>
  <dcterms:created xsi:type="dcterms:W3CDTF">2021-11-12T07:38:24Z</dcterms:created>
  <dcterms:modified xsi:type="dcterms:W3CDTF">2021-11-12T07:41:56Z</dcterms:modified>
</cp:coreProperties>
</file>