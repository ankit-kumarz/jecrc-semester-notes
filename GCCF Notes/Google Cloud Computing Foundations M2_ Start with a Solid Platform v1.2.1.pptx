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10287000" cx="18288000"/>
  <p:notesSz cx="6858000" cy="9144000"/>
  <p:embeddedFontLst>
    <p:embeddedFont>
      <p:font typeface="Roboto"/>
      <p:regular r:id="rId64"/>
      <p:bold r:id="rId65"/>
      <p:italic r:id="rId66"/>
      <p:boldItalic r:id="rId67"/>
    </p:embeddedFont>
    <p:embeddedFont>
      <p:font typeface="Roboto Medium"/>
      <p:regular r:id="rId68"/>
      <p:bold r:id="rId69"/>
      <p:italic r:id="rId70"/>
      <p:boldItalic r:id="rId71"/>
    </p:embeddedFont>
    <p:embeddedFont>
      <p:font typeface="Google Sans"/>
      <p:regular r:id="rId72"/>
      <p:bold r:id="rId73"/>
      <p:italic r:id="rId74"/>
      <p:boldItalic r:id="rId75"/>
    </p:embeddedFont>
    <p:embeddedFont>
      <p:font typeface="Google Sans Medium"/>
      <p:regular r:id="rId76"/>
      <p:bold r:id="rId77"/>
      <p:italic r:id="rId78"/>
      <p:boldItalic r:id="rId79"/>
    </p:embeddedFont>
    <p:embeddedFont>
      <p:font typeface="Open Sans"/>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BECC2F-3F89-448E-9A1D-09C2567DE0E0}">
  <a:tblStyle styleId="{E7BECC2F-3F89-448E-9A1D-09C2567DE0E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font" Target="fonts/OpenSans-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OpenSans-regular.fntdata"/><Relationship Id="rId82" Type="http://schemas.openxmlformats.org/officeDocument/2006/relationships/font" Target="fonts/OpenSans-italic.fntdata"/><Relationship Id="rId81"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GoogleSans-bold.fntdata"/><Relationship Id="rId72" Type="http://schemas.openxmlformats.org/officeDocument/2006/relationships/font" Target="fonts/GoogleSans-regular.fntdata"/><Relationship Id="rId31" Type="http://schemas.openxmlformats.org/officeDocument/2006/relationships/slide" Target="slides/slide26.xml"/><Relationship Id="rId75" Type="http://schemas.openxmlformats.org/officeDocument/2006/relationships/font" Target="fonts/GoogleSans-boldItalic.fntdata"/><Relationship Id="rId30" Type="http://schemas.openxmlformats.org/officeDocument/2006/relationships/slide" Target="slides/slide25.xml"/><Relationship Id="rId74" Type="http://schemas.openxmlformats.org/officeDocument/2006/relationships/font" Target="fonts/GoogleSans-italic.fntdata"/><Relationship Id="rId33" Type="http://schemas.openxmlformats.org/officeDocument/2006/relationships/slide" Target="slides/slide28.xml"/><Relationship Id="rId77" Type="http://schemas.openxmlformats.org/officeDocument/2006/relationships/font" Target="fonts/GoogleSansMedium-bold.fntdata"/><Relationship Id="rId32" Type="http://schemas.openxmlformats.org/officeDocument/2006/relationships/slide" Target="slides/slide27.xml"/><Relationship Id="rId76" Type="http://schemas.openxmlformats.org/officeDocument/2006/relationships/font" Target="fonts/GoogleSansMedium-regular.fntdata"/><Relationship Id="rId35" Type="http://schemas.openxmlformats.org/officeDocument/2006/relationships/slide" Target="slides/slide30.xml"/><Relationship Id="rId79" Type="http://schemas.openxmlformats.org/officeDocument/2006/relationships/font" Target="fonts/GoogleSansMedium-boldItalic.fntdata"/><Relationship Id="rId34" Type="http://schemas.openxmlformats.org/officeDocument/2006/relationships/slide" Target="slides/slide29.xml"/><Relationship Id="rId78" Type="http://schemas.openxmlformats.org/officeDocument/2006/relationships/font" Target="fonts/GoogleSansMedium-italic.fntdata"/><Relationship Id="rId71" Type="http://schemas.openxmlformats.org/officeDocument/2006/relationships/font" Target="fonts/RobotoMedium-boldItalic.fntdata"/><Relationship Id="rId70" Type="http://schemas.openxmlformats.org/officeDocument/2006/relationships/font" Target="fonts/RobotoMedium-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italic.fntdata"/><Relationship Id="rId21" Type="http://schemas.openxmlformats.org/officeDocument/2006/relationships/slide" Target="slides/slide16.xml"/><Relationship Id="rId65" Type="http://schemas.openxmlformats.org/officeDocument/2006/relationships/font" Target="fonts/Roboto-bold.fntdata"/><Relationship Id="rId24" Type="http://schemas.openxmlformats.org/officeDocument/2006/relationships/slide" Target="slides/slide19.xml"/><Relationship Id="rId68" Type="http://schemas.openxmlformats.org/officeDocument/2006/relationships/font" Target="fonts/RobotoMedium-regular.fntdata"/><Relationship Id="rId23" Type="http://schemas.openxmlformats.org/officeDocument/2006/relationships/slide" Target="slides/slide18.xml"/><Relationship Id="rId67" Type="http://schemas.openxmlformats.org/officeDocument/2006/relationships/font" Target="fonts/Roboto-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edium-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nsole.cloud.google.com"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sdk"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8ab5d7b80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8ab5d7b80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5241eb572e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5241eb572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Hi, I’m ______.</a:t>
            </a:r>
            <a:endParaRPr>
              <a:solidFill>
                <a:schemeClr val="dk1"/>
              </a:solidFill>
            </a:endParaRPr>
          </a:p>
          <a:p>
            <a:pPr indent="0" lvl="0" marL="0" rtl="0" algn="l">
              <a:spcBef>
                <a:spcPts val="0"/>
              </a:spcBef>
              <a:spcAft>
                <a:spcPts val="0"/>
              </a:spcAft>
              <a:buNone/>
            </a:pPr>
            <a:r>
              <a:rPr lang="en">
                <a:solidFill>
                  <a:schemeClr val="dk1"/>
                </a:solidFill>
              </a:rPr>
              <a:t>Welcome to the module </a:t>
            </a:r>
            <a:r>
              <a:rPr b="1" lang="en">
                <a:solidFill>
                  <a:schemeClr val="dk1"/>
                </a:solidFill>
              </a:rPr>
              <a:t>Start with a Solid Platform</a:t>
            </a:r>
            <a:r>
              <a:rPr lang="en">
                <a:solidFill>
                  <a:schemeClr val="dk1"/>
                </a:solidFill>
              </a:rPr>
              <a:t>.</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5ded2878ce_0_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5ded2878c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the first module, we discussed what Cloud is and why it’s a technological and business game changer. </a:t>
            </a:r>
            <a:r>
              <a:rPr b="1" lang="en">
                <a:solidFill>
                  <a:schemeClr val="dk1"/>
                </a:solidFill>
              </a:rPr>
              <a:t>Start with a Solid Platform</a:t>
            </a:r>
            <a:r>
              <a:rPr lang="en">
                <a:solidFill>
                  <a:schemeClr val="dk1"/>
                </a:solidFill>
              </a:rPr>
              <a:t> is the second module of the Google Cloud Computing Foundations course, and will look at the different ways that you can interact with Google Cloud.</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5ded2878ce_0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5ded2878c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objective of this module is for you to be able to describe the different ways a user can interact with Google Cloud.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specific learning objectives to achieve this include you being able to </a:t>
            </a:r>
            <a:r>
              <a:rPr lang="en">
                <a:solidFill>
                  <a:schemeClr val="dk1"/>
                </a:solidFill>
              </a:rPr>
              <a:t>discuss how to navigate the </a:t>
            </a:r>
            <a:r>
              <a:rPr lang="en">
                <a:solidFill>
                  <a:schemeClr val="dk1"/>
                </a:solidFill>
              </a:rPr>
              <a:t>Google Cloud</a:t>
            </a:r>
            <a:r>
              <a:rPr lang="en">
                <a:solidFill>
                  <a:schemeClr val="dk1"/>
                </a:solidFill>
              </a:rPr>
              <a:t> environment with the Cloud Console, explain the purpose and process of creating </a:t>
            </a:r>
            <a:r>
              <a:rPr lang="en">
                <a:solidFill>
                  <a:schemeClr val="dk1"/>
                </a:solidFill>
              </a:rPr>
              <a:t>Google Cloud</a:t>
            </a:r>
            <a:r>
              <a:rPr lang="en">
                <a:solidFill>
                  <a:schemeClr val="dk1"/>
                </a:solidFill>
              </a:rPr>
              <a:t> projects,</a:t>
            </a:r>
            <a:r>
              <a:rPr lang="en">
                <a:solidFill>
                  <a:schemeClr val="dk1"/>
                </a:solidFill>
              </a:rPr>
              <a:t> and explain how billing works</a:t>
            </a:r>
            <a:r>
              <a:rPr lang="en">
                <a:solidFill>
                  <a:schemeClr val="dk1"/>
                </a:solidFill>
              </a:rPr>
              <a:t>. You’ll also be able to detail how to install and set up the Cloud Software Development Kit, or Cloud SDK.</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5ded28816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5ded2881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You’ll also </a:t>
            </a:r>
            <a:r>
              <a:rPr lang="en">
                <a:solidFill>
                  <a:schemeClr val="dk1"/>
                </a:solidFill>
              </a:rPr>
              <a:t>be able to describe how Cloud Shell can be used as an </a:t>
            </a:r>
            <a:r>
              <a:rPr lang="en">
                <a:solidFill>
                  <a:schemeClr val="dk1"/>
                </a:solidFill>
              </a:rPr>
              <a:t>alternative </a:t>
            </a:r>
            <a:r>
              <a:rPr lang="en">
                <a:solidFill>
                  <a:schemeClr val="dk1"/>
                </a:solidFill>
              </a:rPr>
              <a:t>way to access your cloud resources directly from your browser, and </a:t>
            </a:r>
            <a:r>
              <a:rPr lang="en">
                <a:solidFill>
                  <a:schemeClr val="dk1"/>
                </a:solidFill>
              </a:rPr>
              <a:t>how the services that make up </a:t>
            </a:r>
            <a:r>
              <a:rPr lang="en">
                <a:solidFill>
                  <a:schemeClr val="dk1"/>
                </a:solidFill>
              </a:rPr>
              <a:t>Google Cloud</a:t>
            </a:r>
            <a:r>
              <a:rPr lang="en">
                <a:solidFill>
                  <a:schemeClr val="dk1"/>
                </a:solidFill>
              </a:rPr>
              <a:t> offer APIs so that code that you write can control them. Finally, you’ll be able to discuss how you can manage services from a mobile app.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5e4bb0dbd4_1_2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5e4bb0dbd4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module starts by exploring the Cloud Console followed by an introduction to projects and billing. The topics that follow address installing and configuring the Cloud SDK and how to use Cloud Shell as an alternative to the Cloud SDK. We’ll then complete our first lab, where we’ll take our first steps with </a:t>
            </a:r>
            <a:r>
              <a:rPr lang="en">
                <a:solidFill>
                  <a:schemeClr val="dk1"/>
                </a:solidFill>
              </a:rPr>
              <a:t>Google Cloud</a:t>
            </a:r>
            <a:r>
              <a:rPr lang="en">
                <a:solidFill>
                  <a:schemeClr val="dk1"/>
                </a:solidFill>
              </a:rPr>
              <a:t> by getting hands-on practice with the Cloud Console.</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5e4bb0dbd4_1_2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5e4bb0dbd4_1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then complete a second lab where we’ll apply a range of gcloud commands within Google Cloud Shell Connect to storage services hosted on </a:t>
            </a:r>
            <a:r>
              <a:rPr lang="en">
                <a:solidFill>
                  <a:schemeClr val="dk1"/>
                </a:solidFill>
              </a:rPr>
              <a:t>Google Cloud</a:t>
            </a:r>
            <a:r>
              <a:rPr lang="en">
                <a:solidFill>
                  <a:schemeClr val="dk1"/>
                </a:solidFill>
              </a:rPr>
              <a:t>. The topics that follow introduce </a:t>
            </a:r>
            <a:r>
              <a:rPr lang="en">
                <a:solidFill>
                  <a:schemeClr val="dk1"/>
                </a:solidFill>
              </a:rPr>
              <a:t>Google Cloud</a:t>
            </a:r>
            <a:r>
              <a:rPr lang="en">
                <a:solidFill>
                  <a:schemeClr val="dk1"/>
                </a:solidFill>
              </a:rPr>
              <a:t> APIs as well as the Cloud Console mobile app, before a short quiz and module recap.</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5f8aba2ade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5f8aba2a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start with our first topic, the Cloud Console.</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5e4bb0dbd4_1_2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5e4bb0dbd4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There are four ways you can interact with Google Cloud, and we’ll talk about each in turn: the Cloud Console, the Cloud SDK and Cloud Shell, APIs, and the Cloud Console mobile app.</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5e4bb0dbd4_1_2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5e4bb0dbd4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Console serves as a centralized console for all of your project data, and lets you execute common tasks using simple mouse clicks with no need to remember commands or avoid typos.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When you use the Cloud Console, the resources that you create are done so in the context of a specific project. You can create multiple projects, so you can use projects to separate your work in whatever way makes sense for you. For example, you might start a new project if you want to make sure only certain team members can access the resources in that project, while all team members can continue to access resources in another project.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Cloud Console is also great for developers. Cloud Source Repositories provides Git version control to support collaborative development of any application or service.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Cloud SDK is a set of </a:t>
            </a:r>
            <a:r>
              <a:rPr lang="en">
                <a:solidFill>
                  <a:schemeClr val="dk1"/>
                </a:solidFill>
              </a:rPr>
              <a:t>command-line </a:t>
            </a:r>
            <a:r>
              <a:rPr lang="en">
                <a:solidFill>
                  <a:schemeClr val="dk1"/>
                </a:solidFill>
              </a:rPr>
              <a:t>tools for </a:t>
            </a:r>
            <a:r>
              <a:rPr lang="en">
                <a:solidFill>
                  <a:schemeClr val="dk1"/>
                </a:solidFill>
              </a:rPr>
              <a:t>Google Cloud</a:t>
            </a:r>
            <a:r>
              <a:rPr lang="en">
                <a:solidFill>
                  <a:schemeClr val="dk1"/>
                </a:solidFill>
              </a:rPr>
              <a:t>. You can run these tools interactively or in your automated scripts.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Cloud Shell also provides you with command-line access to your cloud resources directly from your browser, but without having to install the Cloud SDK or other tools on your system. The utilities you need are always available, up to date and fully authenticated when you need them.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Cloud SDK and Cloud Shell will be discussed in more detail later in this module.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Cloud SDK includes client libraries that enable you to easily create and manage resources. </a:t>
            </a:r>
            <a:r>
              <a:rPr lang="en">
                <a:solidFill>
                  <a:schemeClr val="dk1"/>
                </a:solidFill>
              </a:rPr>
              <a:t>Google Cloud</a:t>
            </a:r>
            <a:r>
              <a:rPr lang="en">
                <a:solidFill>
                  <a:schemeClr val="dk1"/>
                </a:solidFill>
              </a:rPr>
              <a:t> client libraries expose APIs for two main purposes. App APIs provide access to services and admin APIs offer functionality for resource management.</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5e4bb0dbd4_1_2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5e4bb0dbd4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From a browser, go to</a:t>
            </a:r>
            <a:r>
              <a:rPr lang="en"/>
              <a:t> </a:t>
            </a:r>
            <a:r>
              <a:rPr lang="en" u="sng">
                <a:solidFill>
                  <a:srgbClr val="185ABC"/>
                </a:solidFill>
                <a:hlinkClick r:id="rId2">
                  <a:extLst>
                    <a:ext uri="{A12FA001-AC4F-418D-AE19-62706E023703}">
                      <ahyp:hlinkClr val="tx"/>
                    </a:ext>
                  </a:extLst>
                </a:hlinkClick>
              </a:rPr>
              <a:t>console.cloud.google.com</a:t>
            </a:r>
            <a:r>
              <a:rPr lang="en">
                <a:solidFill>
                  <a:srgbClr val="185ABC"/>
                </a:solidFill>
              </a:rPr>
              <a:t>.</a:t>
            </a:r>
            <a:r>
              <a:rPr lang="en"/>
              <a:t> </a:t>
            </a:r>
            <a:r>
              <a:rPr lang="en">
                <a:solidFill>
                  <a:schemeClr val="dk1"/>
                </a:solidFill>
              </a:rPr>
              <a:t>If you haven’t already logged into your Google account, the system will prompt you to enter your credentials. After you log in, the Cloud Console will display the details of your default project.</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5e4bb0dbd4_1_26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5e4bb0dbd4_1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All </a:t>
            </a:r>
            <a:r>
              <a:rPr lang="en">
                <a:solidFill>
                  <a:schemeClr val="dk1"/>
                </a:solidFill>
              </a:rPr>
              <a:t>Google Cloud</a:t>
            </a:r>
            <a:r>
              <a:rPr lang="en">
                <a:solidFill>
                  <a:schemeClr val="dk1"/>
                </a:solidFill>
              </a:rPr>
              <a:t> services are accessible through the simple menu button in the top-left corner. You can pin frequently used services to this menu.</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5e4bb0dbd4_1_4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5e4bb0dbd4_1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All Google Cloud resources that you allocate and use must belong to a </a:t>
            </a:r>
            <a:r>
              <a:rPr lang="en">
                <a:solidFill>
                  <a:schemeClr val="dk1"/>
                </a:solidFill>
              </a:rPr>
              <a:t>Google Cloud</a:t>
            </a:r>
            <a:r>
              <a:rPr lang="en">
                <a:solidFill>
                  <a:schemeClr val="dk1"/>
                </a:solidFill>
              </a:rPr>
              <a:t> project. You’ll learn more about projects in this topic.</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5e4bb0dbd4_1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5e4bb0dbd4_1_4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Projects are the basis for enabling and using </a:t>
            </a:r>
            <a:r>
              <a:rPr lang="en">
                <a:solidFill>
                  <a:schemeClr val="dk1"/>
                </a:solidFill>
              </a:rPr>
              <a:t>Google Cloud</a:t>
            </a:r>
            <a:r>
              <a:rPr lang="en">
                <a:solidFill>
                  <a:schemeClr val="dk1"/>
                </a:solidFill>
              </a:rPr>
              <a:t> services, like managing APIs, enabling billing, adding and removing collaborators, and enabling other Google services. Each project is a separate account, and each resource belongs to exactly one. Projects can have different owners and users. They’re billed separately, and they’re managed separately.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Resource Manager provides ways for you to programmatically manage your projects in </a:t>
            </a:r>
            <a:r>
              <a:rPr lang="en">
                <a:solidFill>
                  <a:schemeClr val="dk1"/>
                </a:solidFill>
              </a:rPr>
              <a:t>Google Cloud</a:t>
            </a:r>
            <a:r>
              <a:rPr lang="en">
                <a:solidFill>
                  <a:schemeClr val="dk1"/>
                </a:solidFill>
              </a:rPr>
              <a:t>. You can access Resource Manager through an RPC API or REST API. With these APIs, you can get a list of all projects associated with an account, create new projects, update existing projects, and delete projects. You can also undelete, or recover, projects that you want to restore.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5e4bb0dbd4_1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5e4bb0dbd4_1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Each </a:t>
            </a:r>
            <a:r>
              <a:rPr lang="en">
                <a:solidFill>
                  <a:schemeClr val="dk1"/>
                </a:solidFill>
              </a:rPr>
              <a:t>Google Cloud</a:t>
            </a:r>
            <a:r>
              <a:rPr lang="en">
                <a:solidFill>
                  <a:schemeClr val="dk1"/>
                </a:solidFill>
              </a:rPr>
              <a:t> project has a name and project ID that you assign. The project ID is a permanent, unchangeable identifier, and it has to be unique across </a:t>
            </a:r>
            <a:r>
              <a:rPr lang="en">
                <a:solidFill>
                  <a:schemeClr val="dk1"/>
                </a:solidFill>
              </a:rPr>
              <a:t>Google Cloud</a:t>
            </a:r>
            <a:r>
              <a:rPr lang="en">
                <a:solidFill>
                  <a:schemeClr val="dk1"/>
                </a:solidFill>
              </a:rPr>
              <a:t>. While a Project ID will be generated automatically, you can edit it. However, this must be done while creating the new project though as it cannot be modified afterwards. In general, project IDs are made to be human-readable strings, and you’ll use them frequently to refer to projects.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On the other hand, project names are for your convenience, and you can change them. Note though that you can’t reuse the project name of a deleted project.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Google Cloud</a:t>
            </a:r>
            <a:r>
              <a:rPr lang="en">
                <a:solidFill>
                  <a:schemeClr val="dk1"/>
                </a:solidFill>
              </a:rPr>
              <a:t> also assigns each of your projects a unique project number, and you’ll see it displayed to you in various contexts, but using it is mostly outside the scope of this course.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As you work with </a:t>
            </a:r>
            <a:r>
              <a:rPr lang="en">
                <a:solidFill>
                  <a:schemeClr val="dk1"/>
                </a:solidFill>
              </a:rPr>
              <a:t>Google Cloud</a:t>
            </a:r>
            <a:r>
              <a:rPr lang="en">
                <a:solidFill>
                  <a:schemeClr val="dk1"/>
                </a:solidFill>
              </a:rPr>
              <a:t>, you'll use these identifiers in certain command lines and API calls.</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5e4bb0dbd4_2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5e4bb0dbd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create a project, click on the name of the current project in the upper left portion of the screen.</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5e4bb0dbd4_2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5e4bb0dbd4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 </a:t>
            </a:r>
            <a:r>
              <a:rPr lang="en">
                <a:solidFill>
                  <a:schemeClr val="dk1"/>
                </a:solidFill>
              </a:rPr>
              <a:t>list of all current projects will be displayed. Select the New Project option on the right-hand side.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When the </a:t>
            </a:r>
            <a:r>
              <a:rPr lang="en">
                <a:solidFill>
                  <a:schemeClr val="dk1"/>
                </a:solidFill>
              </a:rPr>
              <a:t>New Project screen is displayed, give your project a name. You have the option to use the auto-generated project ID, or create your own by clicking the Edit option. Project IDs must be globally unique. Select the appropriate billing account and organization and then click</a:t>
            </a:r>
            <a:r>
              <a:rPr lang="en">
                <a:solidFill>
                  <a:schemeClr val="dk1"/>
                </a:solidFill>
              </a:rPr>
              <a:t> Create</a:t>
            </a:r>
            <a:r>
              <a:rPr lang="en">
                <a:solidFill>
                  <a:schemeClr val="dk1"/>
                </a:solidFill>
              </a:rPr>
              <a:t>.</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5e4bb0dbd4_1_5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5e4bb0dbd4_1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a:t>
            </a:r>
            <a:r>
              <a:rPr lang="en">
                <a:solidFill>
                  <a:schemeClr val="dk1"/>
                </a:solidFill>
              </a:rPr>
              <a:t> the next topic, you’ll learn how billing works in </a:t>
            </a:r>
            <a:r>
              <a:rPr lang="en">
                <a:solidFill>
                  <a:schemeClr val="dk1"/>
                </a:solidFill>
              </a:rPr>
              <a:t>Google Cloud</a:t>
            </a:r>
            <a:r>
              <a:rPr lang="en">
                <a:solidFill>
                  <a:schemeClr val="dk1"/>
                </a:solidFill>
              </a:rPr>
              <a:t>.</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5e4bb0dbd4_1_5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5e4bb0dbd4_1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Billing in </a:t>
            </a:r>
            <a:r>
              <a:rPr lang="en">
                <a:solidFill>
                  <a:schemeClr val="dk1"/>
                </a:solidFill>
              </a:rPr>
              <a:t>Google Cloud</a:t>
            </a:r>
            <a:r>
              <a:rPr lang="en">
                <a:solidFill>
                  <a:schemeClr val="dk1"/>
                </a:solidFill>
              </a:rPr>
              <a:t> is set up at the </a:t>
            </a:r>
            <a:r>
              <a:rPr lang="en">
                <a:solidFill>
                  <a:schemeClr val="dk1"/>
                </a:solidFill>
              </a:rPr>
              <a:t>Google Cloud</a:t>
            </a:r>
            <a:r>
              <a:rPr lang="en">
                <a:solidFill>
                  <a:schemeClr val="dk1"/>
                </a:solidFill>
              </a:rPr>
              <a:t> project level. When you define a </a:t>
            </a:r>
            <a:r>
              <a:rPr lang="en">
                <a:solidFill>
                  <a:schemeClr val="dk1"/>
                </a:solidFill>
              </a:rPr>
              <a:t>Google Cloud</a:t>
            </a:r>
            <a:r>
              <a:rPr lang="en">
                <a:solidFill>
                  <a:schemeClr val="dk1"/>
                </a:solidFill>
              </a:rPr>
              <a:t> project, you link a billing account to it. This billing account is where you will configure all your billing information, including your payment option.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link your billing account to zero or more projects. Projects that you don’t link to any billing account can only use free </a:t>
            </a:r>
            <a:r>
              <a:rPr lang="en">
                <a:solidFill>
                  <a:schemeClr val="dk1"/>
                </a:solidFill>
              </a:rPr>
              <a:t>Google Cloud</a:t>
            </a:r>
            <a:r>
              <a:rPr lang="en">
                <a:solidFill>
                  <a:schemeClr val="dk1"/>
                </a:solidFill>
              </a:rPr>
              <a:t> services.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Your billing account can be charged automatically and invoiced every month, or at every threshold limit.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separate project billings by setting up billing subaccounts. Some </a:t>
            </a:r>
            <a:r>
              <a:rPr lang="en">
                <a:solidFill>
                  <a:schemeClr val="dk1"/>
                </a:solidFill>
              </a:rPr>
              <a:t>Google Cloud</a:t>
            </a:r>
            <a:r>
              <a:rPr lang="en">
                <a:solidFill>
                  <a:schemeClr val="dk1"/>
                </a:solidFill>
              </a:rPr>
              <a:t> customers who resell </a:t>
            </a:r>
            <a:r>
              <a:rPr lang="en">
                <a:solidFill>
                  <a:schemeClr val="dk1"/>
                </a:solidFill>
              </a:rPr>
              <a:t>Google Cloud</a:t>
            </a:r>
            <a:r>
              <a:rPr lang="en">
                <a:solidFill>
                  <a:schemeClr val="dk1"/>
                </a:solidFill>
              </a:rPr>
              <a:t> services use sub accounts for each of their own clients.</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5e4bb0dbd4_1_5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5e4bb0dbd4_1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You’re probably thinking, “How can I make sure I don’t accidentally run up a big </a:t>
            </a:r>
            <a:r>
              <a:rPr lang="en">
                <a:solidFill>
                  <a:schemeClr val="dk1"/>
                </a:solidFill>
              </a:rPr>
              <a:t>Google Cloud</a:t>
            </a:r>
            <a:r>
              <a:rPr lang="en">
                <a:solidFill>
                  <a:schemeClr val="dk1"/>
                </a:solidFill>
              </a:rPr>
              <a:t> bill?” </a:t>
            </a:r>
            <a:r>
              <a:rPr lang="en">
                <a:solidFill>
                  <a:schemeClr val="dk1"/>
                </a:solidFill>
              </a:rPr>
              <a:t>Google Cloud</a:t>
            </a:r>
            <a:r>
              <a:rPr lang="en">
                <a:solidFill>
                  <a:schemeClr val="dk1"/>
                </a:solidFill>
              </a:rPr>
              <a:t> provides four tools to help: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Budgets and alerts,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Billing export,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Reports</a:t>
            </a:r>
            <a:r>
              <a:rPr lang="en">
                <a:solidFill>
                  <a:schemeClr val="dk1"/>
                </a:solidFill>
              </a:rPr>
              <a:t>, and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Quotas.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a:t>
            </a:r>
            <a:r>
              <a:rPr lang="en">
                <a:solidFill>
                  <a:schemeClr val="dk1"/>
                </a:solidFill>
              </a:rPr>
              <a:t>’ll discuss each of these in more detail next.</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5e4bb0dbd4_1_5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5e4bb0dbd4_1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 can define budgets at the billing account level or at the project level.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be notified when costs approach your budget limit, you can create an alert. For example, with a budget limit of $20 and an alert set at 90%, you’ll receive a notification alert when your expenses reach $18.</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also set up a webhook to be called in response to an alert. This webhook can control automation based on billing alerts. For example, you could trigger a script to shutdown resources when a billing alert occurs.</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5e4bb0dbd4_1_5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5e4bb0dbd4_1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Billing export allows you to store detailed billing information in places where it is easy to retrieve for external analysis, such as a BigQuery dataset or Cloud Storage bucket.</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5e4bb0dbd4_1_6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5e4bb0dbd4_1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And Reports is a visual tool in the Console that allows you to monitor expenditure based on a project or services.</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5e4bb0dbd4_1_6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5e4bb0dbd4_1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Google Cloud</a:t>
            </a:r>
            <a:r>
              <a:rPr lang="en">
                <a:solidFill>
                  <a:schemeClr val="dk1"/>
                </a:solidFill>
              </a:rPr>
              <a:t> also implements quotas, which limit unforeseen extra billing charges. Quotas are designed to prevent the over-consumption of resources because of an error or a malicious attack.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Quotas apply at the level of the </a:t>
            </a:r>
            <a:r>
              <a:rPr lang="en">
                <a:solidFill>
                  <a:schemeClr val="dk1"/>
                </a:solidFill>
              </a:rPr>
              <a:t>Google Cloud</a:t>
            </a:r>
            <a:r>
              <a:rPr lang="en">
                <a:solidFill>
                  <a:schemeClr val="dk1"/>
                </a:solidFill>
              </a:rPr>
              <a:t> project.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There are two types of quotas: rate quotas and allocation quotas. Rate quotas reset after a specific time. For example, by default, the Google Kubernetes Engine service implements a quota of 1,000 calls to its API from each </a:t>
            </a:r>
            <a:r>
              <a:rPr lang="en">
                <a:solidFill>
                  <a:schemeClr val="dk1"/>
                </a:solidFill>
              </a:rPr>
              <a:t>Google Cloud</a:t>
            </a:r>
            <a:r>
              <a:rPr lang="en">
                <a:solidFill>
                  <a:schemeClr val="dk1"/>
                </a:solidFill>
              </a:rPr>
              <a:t> project every 100 seconds.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Allocation quotas govern the number of resources you can have in your projects.  For example, depending on the region, the number of GPUs permitted varies by type and region.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change quotas by requesting an increase from Google Cloud Support.  You can also use the console to request a quota change.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Google Cloud</a:t>
            </a:r>
            <a:r>
              <a:rPr lang="en">
                <a:solidFill>
                  <a:schemeClr val="dk1"/>
                </a:solidFill>
              </a:rPr>
              <a:t> quotas also protect the community of </a:t>
            </a:r>
            <a:r>
              <a:rPr lang="en">
                <a:solidFill>
                  <a:schemeClr val="dk1"/>
                </a:solidFill>
              </a:rPr>
              <a:t>Google Cloud</a:t>
            </a:r>
            <a:r>
              <a:rPr lang="en">
                <a:solidFill>
                  <a:schemeClr val="dk1"/>
                </a:solidFill>
              </a:rPr>
              <a:t> users by reducing the risk of unforeseen spikes in usage.</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5e4bb0dbd4_1_11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5e4bb0dbd4_1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Software Development Kit (SDK) enables a user to run Google Cloud command line tools from a local desktop. Installing and configuring the Cloud SDK is our next topic.</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5e4bb0dbd4_1_11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5e4bb0dbd4_1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SDK is a set of command-line tools that you can download an</a:t>
            </a:r>
            <a:r>
              <a:rPr lang="en">
                <a:solidFill>
                  <a:schemeClr val="dk1"/>
                </a:solidFill>
              </a:rPr>
              <a:t>d install onto a computer of your choice and use to manage resources and applications hosted on Google Cloud.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gcloud</a:t>
            </a:r>
            <a:r>
              <a:rPr lang="en"/>
              <a:t> </a:t>
            </a:r>
            <a:r>
              <a:rPr lang="en">
                <a:solidFill>
                  <a:srgbClr val="FF0000"/>
                </a:solidFill>
              </a:rPr>
              <a:t>***gee cloud***</a:t>
            </a:r>
            <a:r>
              <a:rPr lang="en"/>
              <a:t> </a:t>
            </a:r>
            <a:r>
              <a:rPr lang="en"/>
              <a:t>CLI manages authentication, local configuration, developer workflow, and interactions with Google Cloud APIs.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Gsutil </a:t>
            </a:r>
            <a:r>
              <a:rPr lang="en">
                <a:solidFill>
                  <a:srgbClr val="FF0000"/>
                </a:solidFill>
              </a:rPr>
              <a:t>***gee ess util***</a:t>
            </a:r>
            <a:r>
              <a:rPr lang="en"/>
              <a:t> provides command line access to manage Cloud Storage buckets and objects.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bq </a:t>
            </a:r>
            <a:r>
              <a:rPr lang="en">
                <a:solidFill>
                  <a:srgbClr val="FF0000"/>
                </a:solidFill>
              </a:rPr>
              <a:t>*** bee cue*** </a:t>
            </a:r>
            <a:r>
              <a:rPr lang="en"/>
              <a:t>allows you to </a:t>
            </a:r>
            <a:r>
              <a:rPr lang="en"/>
              <a:t>run queries and manipulate datasets</a:t>
            </a:r>
            <a:r>
              <a:rPr lang="en"/>
              <a:t>, tables, and entities in BigQuery through the command line.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5e4bb0dbd4_1_116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5e4bb0dbd4_1_1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install the Cloud SDK to your desktop, go to</a:t>
            </a:r>
            <a:r>
              <a:rPr lang="en">
                <a:solidFill>
                  <a:srgbClr val="185ABC"/>
                </a:solidFill>
              </a:rPr>
              <a:t> </a:t>
            </a:r>
            <a:r>
              <a:rPr lang="en" u="sng">
                <a:solidFill>
                  <a:srgbClr val="185ABC"/>
                </a:solidFill>
                <a:hlinkClick r:id="rId2">
                  <a:extLst>
                    <a:ext uri="{A12FA001-AC4F-418D-AE19-62706E023703}">
                      <ahyp:hlinkClr val="tx"/>
                    </a:ext>
                  </a:extLst>
                </a:hlinkClick>
              </a:rPr>
              <a:t>cloud.google.com/sdk</a:t>
            </a:r>
            <a:r>
              <a:rPr lang="en">
                <a:solidFill>
                  <a:srgbClr val="185ABC"/>
                </a:solidFill>
              </a:rPr>
              <a:t>.</a:t>
            </a:r>
            <a:r>
              <a:rPr lang="en">
                <a:solidFill>
                  <a:srgbClr val="FF0000"/>
                </a:solidFill>
              </a:rPr>
              <a:t> </a:t>
            </a:r>
            <a:r>
              <a:rPr lang="en">
                <a:solidFill>
                  <a:schemeClr val="dk1"/>
                </a:solidFill>
              </a:rPr>
              <a:t>Select the operating system for your desktop and this will download the SDK for your operating system on your desktop.  Then follow the instructions specific to your operating system.</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5e4bb0dbd4_1_11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5e4bb0dbd4_1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After the installation is complete, you will need to configure the Cloud SDK for your </a:t>
            </a:r>
            <a:r>
              <a:rPr lang="en">
                <a:solidFill>
                  <a:schemeClr val="dk1"/>
                </a:solidFill>
              </a:rPr>
              <a:t>Google Cloud</a:t>
            </a:r>
            <a:r>
              <a:rPr lang="en">
                <a:solidFill>
                  <a:schemeClr val="dk1"/>
                </a:solidFill>
              </a:rPr>
              <a:t> environment. Run the gcloud init</a:t>
            </a:r>
            <a:r>
              <a:rPr lang="en"/>
              <a:t> </a:t>
            </a:r>
            <a:r>
              <a:rPr lang="en">
                <a:solidFill>
                  <a:srgbClr val="FF0000"/>
                </a:solidFill>
              </a:rPr>
              <a:t>***gee cloud in it***</a:t>
            </a:r>
            <a:r>
              <a:rPr lang="en"/>
              <a:t> </a:t>
            </a:r>
            <a:r>
              <a:rPr lang="en">
                <a:solidFill>
                  <a:schemeClr val="dk1"/>
                </a:solidFill>
              </a:rPr>
              <a:t>command. You will be prompted for information including your login credentials, default project, and default region and zone.</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5e4bb0dbd4_1_12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5e4bb0dbd4_1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Shell allows a user to run the Google command line without installing the Cloud SDK on a desktop.  In this topic, we’</a:t>
            </a:r>
            <a:r>
              <a:rPr lang="en">
                <a:solidFill>
                  <a:schemeClr val="dk1"/>
                </a:solidFill>
              </a:rPr>
              <a:t>ll learn </a:t>
            </a:r>
            <a:r>
              <a:rPr lang="en">
                <a:solidFill>
                  <a:schemeClr val="dk1"/>
                </a:solidFill>
              </a:rPr>
              <a:t>how to utilize Cloud Shell.</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5e4bb0dbd4_1_12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5e4bb0dbd4_1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a:solidFill>
                  <a:schemeClr val="dk1"/>
                </a:solidFill>
              </a:rPr>
              <a:t>Using Cloud Shell, you can manage your projects and resources easily without having to install the Cloud SDK or other tools locally. The Cloud SDK command-line tools and other utilities are always available, up to date, and fully authenticate</a:t>
            </a:r>
            <a:r>
              <a:rPr lang="en">
                <a:solidFill>
                  <a:schemeClr val="dk1"/>
                </a:solidFill>
              </a:rPr>
              <a:t>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Your Cloud Shell virtual machine is ephemeral, which means that it will be stopped whenever you stop using it interactively, and it’ll be restarted when you re-enter Cloud Shell. You get five gigabytes of persistent disk storage that is reattached for you every time a new Cloud Shell session is started.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n">
                <a:solidFill>
                  <a:schemeClr val="dk1"/>
                </a:solidFill>
              </a:rPr>
              <a:t>Cloud Shell provides web preview functionality and built-in authorization for access to Cloud Console projects and resources.</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5e4bb0dbd4_1_12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5e4bb0dbd4_1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start Cloud Shell, click on the Activate Cloud Shell icon in the upper right side of the screen.</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5e4bb0dbd4_1_12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5e4bb0dbd4_1_1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Shell terminal will appear on the lower portion of the window.  Options, including launching the Cloud Shell code editor and opening Cloud Shell in a new page, can be performed using the tool bar on the upper right corner of Cloud Shell.</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5e4bb0dbd4_1_12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5e4bb0dbd4_1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Shell code editor is a tool for editing files inside your Cloud Shell environment in real time within the web browser. This tool is extremely convenient when working with code-first applications or container-based workloads, because you can edit files easily without the need to download and upload changes. You can also use text editors from the Cloud Shell command prompt.</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5f8aba2ade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5f8aba2ad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You’ll now get the chance to complete your first hands-on lab on the course.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5e4bb0dbd4_1_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5e4bb0dbd4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our first lab, </a:t>
            </a:r>
            <a:r>
              <a:rPr lang="en">
                <a:solidFill>
                  <a:schemeClr val="dk1"/>
                </a:solidFill>
              </a:rPr>
              <a:t>you will take your first steps with Google Cloud by getting hands-on practice with the Cloud Console, the in-browser UI that lets you access and manage Google Cloud services. You will identify key features of Google Cloud and also learn the ins and outs of the Qwiklabs environment.</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5e4bb0dbd4_1_8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5e4bb0dbd4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this lab, you’ll learn how to identify the key features of Qwiklabs, and how to access the Cloud Console.</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5f8aba2ade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5f8aba2ad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second lab, you’ll </a:t>
            </a:r>
            <a:r>
              <a:rPr lang="en">
                <a:solidFill>
                  <a:schemeClr val="dk1"/>
                </a:solidFill>
              </a:rPr>
              <a:t>run a series of gcloud commands with Cloud Shell.</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5da769fcf5_0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5da769fcf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14141"/>
                </a:solidFill>
              </a:rPr>
              <a:t>In this hands-on lab you will learn how to connect to computing resources hosted on Google Cloud via Cloud Shell with the gcloud command-line.</a:t>
            </a:r>
            <a:endParaRPr>
              <a:solidFill>
                <a:srgbClr val="41414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5da769fcf5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5da769fcf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After the lab is completed, you should have a better understanding of how to use gcloud commands, and how to connect to storage services hosted on Google Cloud.</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5e4bb0dbd4_1_13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5e4bb0dbd4_1_1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Everything we do in Google Cloud is done with APIs. In this topic, we’ll introduce APIs and discuss how they’re used.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5e4bb0dbd4_1_138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5e4bb0dbd4_1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Let’s be precise about what an Application Programming Interface, or API, is</a:t>
            </a:r>
            <a:r>
              <a:rPr lang="en">
                <a:solidFill>
                  <a:schemeClr val="dk1"/>
                </a:solidFill>
              </a:rPr>
              <a:t>. A software service’s implementation can be complex and changeable. If other software services had to be explicitly </a:t>
            </a:r>
            <a:r>
              <a:rPr lang="en">
                <a:solidFill>
                  <a:schemeClr val="dk1"/>
                </a:solidFill>
              </a:rPr>
              <a:t>coded at that level of detail</a:t>
            </a:r>
            <a:r>
              <a:rPr lang="en">
                <a:solidFill>
                  <a:schemeClr val="dk1"/>
                </a:solidFill>
              </a:rPr>
              <a:t> in order to use that service, the result would be brittle and error-prone. So instead, application developers structure the software they write so that it presents a clean, well-defined interface that abstracts away needless detail, and then they document that interface. That’s an Application Programming Interface. The underlying implementation can change, as long as the interface doesn’t, and other pieces of software that use the API don’t have to know or care.</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5e4bb0dbd4_1_147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5e4bb0dbd4_1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These APIs are what’s called “RESTful”; in other words, they follow the “</a:t>
            </a:r>
            <a:r>
              <a:rPr lang="en">
                <a:solidFill>
                  <a:schemeClr val="dk1"/>
                </a:solidFill>
              </a:rPr>
              <a:t>REpresentation State Transfer</a:t>
            </a:r>
            <a:r>
              <a:rPr lang="en">
                <a:solidFill>
                  <a:schemeClr val="dk1"/>
                </a:solidFill>
              </a:rPr>
              <a:t>” paradigm.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a broad sense, that means that your code can use Google services in much the same way that web browsers talk to web servers. The APIs identify resources in </a:t>
            </a:r>
            <a:r>
              <a:rPr lang="en">
                <a:solidFill>
                  <a:schemeClr val="dk1"/>
                </a:solidFill>
              </a:rPr>
              <a:t>Google Cloud</a:t>
            </a:r>
            <a:r>
              <a:rPr lang="en">
                <a:solidFill>
                  <a:schemeClr val="dk1"/>
                </a:solidFill>
              </a:rPr>
              <a:t> with URLs. Your code can pass information to the APIs using JSON, which is a very popular way of passing textual information over the Web. And there’s an open system, OAuth2, for user login and access control.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Google Cloud APIs also assist in helping you to control your spend, with most including daily quotas and limits. Where needed, quotas and rates can be raised by request.</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5e4bb0dbd4_1_148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5e4bb0dbd4_1_1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addition to</a:t>
            </a:r>
            <a:r>
              <a:rPr lang="en">
                <a:solidFill>
                  <a:schemeClr val="dk1"/>
                </a:solidFill>
              </a:rPr>
              <a:t> </a:t>
            </a:r>
            <a:r>
              <a:rPr lang="en">
                <a:solidFill>
                  <a:schemeClr val="dk1"/>
                </a:solidFill>
              </a:rPr>
              <a:t>the Cloud SDK, you will also use client libraries that enable you to easily create and manage resources. </a:t>
            </a:r>
            <a:r>
              <a:rPr lang="en">
                <a:solidFill>
                  <a:schemeClr val="dk1"/>
                </a:solidFill>
              </a:rPr>
              <a:t>Google Cloud</a:t>
            </a:r>
            <a:r>
              <a:rPr lang="en">
                <a:solidFill>
                  <a:schemeClr val="dk1"/>
                </a:solidFill>
              </a:rPr>
              <a:t> client libraries expose APIs for two main purposes: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App APIs provide access to services and they are optimized for supported languages, such as Node.js and Python.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Admin APIs offer functionality for resource management. For example, you can use admin APIs if you want to build your own automated tools.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discuss t</a:t>
            </a:r>
            <a:r>
              <a:rPr lang="en">
                <a:solidFill>
                  <a:schemeClr val="dk1"/>
                </a:solidFill>
              </a:rPr>
              <a:t>he different application managed service options in more detail later in the course.</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5e4bb0dbd4_1_15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5e4bb0dbd4_1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Console includes a tool called the APIs Explorer that helps you learn about the APIs interactively. It lets you see what APIs are available, and in what versions. These APIs expect parameters, and documentation on them is built-in. You can try the APIs interactively, even with user authentication.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Suppose you’ve explored an API, and you’re ready to build an application that uses it. Do you have to start coding from scratch? No. Google provides client libraries to take a lot of the drudgery out of the task of calling </a:t>
            </a:r>
            <a:r>
              <a:rPr lang="en">
                <a:solidFill>
                  <a:schemeClr val="dk1"/>
                </a:solidFill>
              </a:rPr>
              <a:t>Google Cloud</a:t>
            </a:r>
            <a:r>
              <a:rPr lang="en">
                <a:solidFill>
                  <a:schemeClr val="dk1"/>
                </a:solidFill>
              </a:rPr>
              <a:t> from your code.</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5e4bb0dbd4_1_15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5e4bb0dbd4_1_1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a:t>
            </a:r>
            <a:r>
              <a:rPr lang="en">
                <a:solidFill>
                  <a:schemeClr val="dk1"/>
                </a:solidFill>
              </a:rPr>
              <a:t> example</a:t>
            </a:r>
            <a:r>
              <a:rPr lang="en">
                <a:solidFill>
                  <a:schemeClr val="dk1"/>
                </a:solidFill>
              </a:rPr>
              <a:t>, the compute.instances.list method from the Compute Engine API will be tested. Items listed in red are required inputs. When the method is run, you will have to log in using OAuth 2.0. Since REST APIs are HTTP based, if the method runs correctly you will receive a 200 message and the appropriate data will be displayed. If the project or the zone were entered incorrectly, you will get a 400 error and no data will be displayed.</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5e4bb0dbd4_4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5e4bb0dbd4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Console mobile app provides another way for you to manage services running on </a:t>
            </a:r>
            <a:r>
              <a:rPr lang="en">
                <a:solidFill>
                  <a:schemeClr val="dk1"/>
                </a:solidFill>
              </a:rPr>
              <a:t>Google Cloud</a:t>
            </a:r>
            <a:r>
              <a:rPr lang="en">
                <a:solidFill>
                  <a:schemeClr val="dk1"/>
                </a:solidFill>
              </a:rPr>
              <a:t> - directly from your mobile device. It’s a convenient resource that doesn’t cost anything extra.</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5e4bb0dbd4_4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5e4bb0dbd4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Cloud Console mobile app is available for iOS and Android and offers many capabilities.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It allows you to stay connected to the cloud and check billing, status, and critical issues. To see the health of your service at a glance, you can create your own custom dashboard showing key metrics such as CPU usage, network usage, requests per second, server errors, and more.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take action to address issues directly from your device such as rolling back a bad release, stopping or restarting a virtual machine, </a:t>
            </a:r>
            <a:r>
              <a:rPr lang="en">
                <a:solidFill>
                  <a:schemeClr val="dk1"/>
                </a:solidFill>
              </a:rPr>
              <a:t>searching logs</a:t>
            </a:r>
            <a:r>
              <a:rPr lang="en">
                <a:solidFill>
                  <a:schemeClr val="dk1"/>
                </a:solidFill>
              </a:rPr>
              <a:t> or even connecting to a virtual machine via SSH.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monitoring functionality allows you to view and respond to to incidents, errors, and logging. If you need to, you can even access Cloud Shell to perform any gcloud operation.</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5e4bb0dbd4_4_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5e4bb0dbd4_4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our final topic of the module, let's test what we learned with a quick quiz.</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5e4bb0dbd4_4_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5e4bb0dbd4_4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True or False, All </a:t>
            </a:r>
            <a:r>
              <a:rPr lang="en">
                <a:solidFill>
                  <a:schemeClr val="dk1"/>
                </a:solidFill>
              </a:rPr>
              <a:t>Google Cloud</a:t>
            </a:r>
            <a:r>
              <a:rPr lang="en">
                <a:solidFill>
                  <a:schemeClr val="dk1"/>
                </a:solidFill>
              </a:rPr>
              <a:t> resources must be associated with a project.</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5e4bb0dbd4_4_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5e4bb0dbd4_4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answer is True. Associating all resources with a project helps with billing and isolation.</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5e4bb0dbd4_4_10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5e4bb0dbd4_4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of the following is a command line tool that is part of the Cloud SDK?</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5e4bb0dbd4_4_10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5e4bb0dbd4_4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 is the correct answer. The gsutil command line tool is used to work with Cloud Storage.</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5e4bb0dbd4_4_1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5e4bb0dbd4_4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What command would you use to set up the default configuration of the Cloud SDK?</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5e4bb0dbd4_4_1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5e4bb0dbd4_4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gcloud init command is used to set up the user, default project, and the default region and zone of the Cloud SDK.</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5e4bb0dbd4_4_1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5e4bb0dbd4_4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That concludes the ‘Start with a Solid Platform’ module. Let me remind you of what you learned.</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5e4bb0dbd4_4_1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5e4bb0dbd4_4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At the start of this module, </a:t>
            </a:r>
            <a:r>
              <a:rPr lang="en">
                <a:solidFill>
                  <a:schemeClr val="dk1"/>
                </a:solidFill>
              </a:rPr>
              <a:t>we learned how the Cloud Console provides a web-based GUI to assist in managing Google Cloud projects and resources.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Next, we learned how all Google Cloud resources must be associated with a project.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And also how we can set up billing accounts at the project level. Quotas also help prevent billing surprises by putting a cap on resources.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then learned how to leverage the Cloud SDK as a way to interface with Google Cloud products and services.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also discussed Cloud Shell as an alternative to installing the Cloud SDK on our desktops.</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5e4bb0dbd4_4_1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5e4bb0dbd4_4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also discussed how to use Google Cloud services via APIs in code.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And how to test the APIs using APIs Explorer.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finished up the module by discussing the Cloud Console mobile app, which allows the user to manage services on Google Cloud from a mobile device.</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5e4bb0dbd4_4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5e4bb0dbd4_4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a - Presenter - Master title - Blue">
  <p:cSld name="CUSTOM_2_4">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9" name="Google Shape;9;p2"/>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0" name="Google Shape;10;p2"/>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1" name="Google Shape;11;p2"/>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 name="Google Shape;12;p2"/>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2800">
                <a:solidFill>
                  <a:schemeClr val="lt1"/>
                </a:solidFill>
                <a:latin typeface="Google Sans"/>
                <a:ea typeface="Google Sans"/>
                <a:cs typeface="Google Sans"/>
                <a:sym typeface="Google Sans"/>
              </a:defRPr>
            </a:lvl1pPr>
            <a:lvl2pPr lvl="1">
              <a:spcBef>
                <a:spcPts val="0"/>
              </a:spcBef>
              <a:spcAft>
                <a:spcPts val="0"/>
              </a:spcAft>
              <a:buNone/>
              <a:defRPr sz="2800">
                <a:solidFill>
                  <a:schemeClr val="lt1"/>
                </a:solidFill>
                <a:latin typeface="Google Sans"/>
                <a:ea typeface="Google Sans"/>
                <a:cs typeface="Google Sans"/>
                <a:sym typeface="Google Sans"/>
              </a:defRPr>
            </a:lvl2pPr>
            <a:lvl3pPr lvl="2">
              <a:spcBef>
                <a:spcPts val="0"/>
              </a:spcBef>
              <a:spcAft>
                <a:spcPts val="0"/>
              </a:spcAft>
              <a:buNone/>
              <a:defRPr sz="2800">
                <a:solidFill>
                  <a:schemeClr val="lt1"/>
                </a:solidFill>
                <a:latin typeface="Google Sans"/>
                <a:ea typeface="Google Sans"/>
                <a:cs typeface="Google Sans"/>
                <a:sym typeface="Google Sans"/>
              </a:defRPr>
            </a:lvl3pPr>
            <a:lvl4pPr lvl="3">
              <a:spcBef>
                <a:spcPts val="0"/>
              </a:spcBef>
              <a:spcAft>
                <a:spcPts val="0"/>
              </a:spcAft>
              <a:buNone/>
              <a:defRPr sz="2800">
                <a:solidFill>
                  <a:schemeClr val="lt1"/>
                </a:solidFill>
                <a:latin typeface="Google Sans"/>
                <a:ea typeface="Google Sans"/>
                <a:cs typeface="Google Sans"/>
                <a:sym typeface="Google Sans"/>
              </a:defRPr>
            </a:lvl4pPr>
            <a:lvl5pPr lvl="4">
              <a:spcBef>
                <a:spcPts val="0"/>
              </a:spcBef>
              <a:spcAft>
                <a:spcPts val="0"/>
              </a:spcAft>
              <a:buNone/>
              <a:defRPr sz="2800">
                <a:solidFill>
                  <a:schemeClr val="lt1"/>
                </a:solidFill>
                <a:latin typeface="Google Sans"/>
                <a:ea typeface="Google Sans"/>
                <a:cs typeface="Google Sans"/>
                <a:sym typeface="Google Sans"/>
              </a:defRPr>
            </a:lvl5pPr>
            <a:lvl6pPr lvl="5">
              <a:spcBef>
                <a:spcPts val="0"/>
              </a:spcBef>
              <a:spcAft>
                <a:spcPts val="0"/>
              </a:spcAft>
              <a:buNone/>
              <a:defRPr sz="2800">
                <a:solidFill>
                  <a:schemeClr val="lt1"/>
                </a:solidFill>
                <a:latin typeface="Google Sans"/>
                <a:ea typeface="Google Sans"/>
                <a:cs typeface="Google Sans"/>
                <a:sym typeface="Google Sans"/>
              </a:defRPr>
            </a:lvl6pPr>
            <a:lvl7pPr lvl="6">
              <a:spcBef>
                <a:spcPts val="0"/>
              </a:spcBef>
              <a:spcAft>
                <a:spcPts val="0"/>
              </a:spcAft>
              <a:buNone/>
              <a:defRPr sz="2800">
                <a:solidFill>
                  <a:schemeClr val="lt1"/>
                </a:solidFill>
                <a:latin typeface="Google Sans"/>
                <a:ea typeface="Google Sans"/>
                <a:cs typeface="Google Sans"/>
                <a:sym typeface="Google Sans"/>
              </a:defRPr>
            </a:lvl7pPr>
            <a:lvl8pPr lvl="7">
              <a:spcBef>
                <a:spcPts val="0"/>
              </a:spcBef>
              <a:spcAft>
                <a:spcPts val="0"/>
              </a:spcAft>
              <a:buNone/>
              <a:defRPr sz="2800">
                <a:solidFill>
                  <a:schemeClr val="lt1"/>
                </a:solidFill>
                <a:latin typeface="Google Sans"/>
                <a:ea typeface="Google Sans"/>
                <a:cs typeface="Google Sans"/>
                <a:sym typeface="Google Sans"/>
              </a:defRPr>
            </a:lvl8pPr>
            <a:lvl9pPr lvl="8">
              <a:spcBef>
                <a:spcPts val="0"/>
              </a:spcBef>
              <a:spcAft>
                <a:spcPts val="0"/>
              </a:spcAft>
              <a:buNone/>
              <a:defRPr sz="2800">
                <a:solidFill>
                  <a:schemeClr val="lt1"/>
                </a:solidFill>
                <a:latin typeface="Google Sans"/>
                <a:ea typeface="Google Sans"/>
                <a:cs typeface="Google Sans"/>
                <a:sym typeface="Google Sans"/>
              </a:defRPr>
            </a:lvl9pPr>
          </a:lstStyle>
          <a:p/>
        </p:txBody>
      </p:sp>
      <p:sp>
        <p:nvSpPr>
          <p:cNvPr id="13" name="Google Shape;13;p2"/>
          <p:cNvSpPr/>
          <p:nvPr/>
        </p:nvSpPr>
        <p:spPr>
          <a:xfrm>
            <a:off x="835075" y="9269250"/>
            <a:ext cx="2978400" cy="528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b - Presenter - Master title - Yellow">
  <p:cSld name="CUSTOM_2_4_1">
    <p:spTree>
      <p:nvGrpSpPr>
        <p:cNvPr id="14" name="Shape 14"/>
        <p:cNvGrpSpPr/>
        <p:nvPr/>
      </p:nvGrpSpPr>
      <p:grpSpPr>
        <a:xfrm>
          <a:off x="0" y="0"/>
          <a:ext cx="0" cy="0"/>
          <a:chOff x="0" y="0"/>
          <a:chExt cx="0" cy="0"/>
        </a:xfrm>
      </p:grpSpPr>
      <p:pic>
        <p:nvPicPr>
          <p:cNvPr id="15" name="Google Shape;15;p3"/>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16" name="Google Shape;16;p3"/>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7" name="Google Shape;17;p3"/>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8" name="Google Shape;18;p3"/>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9" name="Google Shape;19;p3"/>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c - Presenter - Master title - Green">
  <p:cSld name="CUSTOM_2_4_1_3">
    <p:spTree>
      <p:nvGrpSpPr>
        <p:cNvPr id="20" name="Shape 20"/>
        <p:cNvGrpSpPr/>
        <p:nvPr/>
      </p:nvGrpSpPr>
      <p:grpSpPr>
        <a:xfrm>
          <a:off x="0" y="0"/>
          <a:ext cx="0" cy="0"/>
          <a:chOff x="0" y="0"/>
          <a:chExt cx="0" cy="0"/>
        </a:xfrm>
      </p:grpSpPr>
      <p:pic>
        <p:nvPicPr>
          <p:cNvPr id="21" name="Google Shape;21;p4"/>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22" name="Google Shape;22;p4"/>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23" name="Google Shape;23;p4"/>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24" name="Google Shape;24;p4"/>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25" name="Google Shape;25;p4"/>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a - Demo/Lab Solution - Presenter - Blue">
  <p:cSld name="CUSTOM_2_4_1_1_1">
    <p:spTree>
      <p:nvGrpSpPr>
        <p:cNvPr id="26" name="Shape 26"/>
        <p:cNvGrpSpPr/>
        <p:nvPr/>
      </p:nvGrpSpPr>
      <p:grpSpPr>
        <a:xfrm>
          <a:off x="0" y="0"/>
          <a:ext cx="0" cy="0"/>
          <a:chOff x="0" y="0"/>
          <a:chExt cx="0" cy="0"/>
        </a:xfrm>
      </p:grpSpPr>
      <p:sp>
        <p:nvSpPr>
          <p:cNvPr id="27" name="Google Shape;27;p5"/>
          <p:cNvSpPr/>
          <p:nvPr/>
        </p:nvSpPr>
        <p:spPr>
          <a:xfrm>
            <a:off x="0" y="0"/>
            <a:ext cx="18288000" cy="10296600"/>
          </a:xfrm>
          <a:prstGeom prst="rect">
            <a:avLst/>
          </a:prstGeom>
          <a:solidFill>
            <a:schemeClr val="accent3"/>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28" name="Google Shape;28;p5"/>
          <p:cNvPicPr preferRelativeResize="0"/>
          <p:nvPr/>
        </p:nvPicPr>
        <p:blipFill>
          <a:blip r:embed="rId2">
            <a:alphaModFix/>
          </a:blip>
          <a:stretch>
            <a:fillRect/>
          </a:stretch>
        </p:blipFill>
        <p:spPr>
          <a:xfrm>
            <a:off x="1" y="0"/>
            <a:ext cx="18288000" cy="10287000"/>
          </a:xfrm>
          <a:prstGeom prst="rect">
            <a:avLst/>
          </a:prstGeom>
          <a:noFill/>
          <a:ln>
            <a:noFill/>
          </a:ln>
        </p:spPr>
      </p:pic>
      <p:sp>
        <p:nvSpPr>
          <p:cNvPr id="29" name="Google Shape;29;p5"/>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0" name="Google Shape;30;p5"/>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1" name="Google Shape;31;p5"/>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2" name="Google Shape;32;p5"/>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b - Demo/Lab Solution - Presenter  - Yellow">
  <p:cSld name="CUSTOM_2_4_1_1_1_3">
    <p:spTree>
      <p:nvGrpSpPr>
        <p:cNvPr id="33" name="Shape 33"/>
        <p:cNvGrpSpPr/>
        <p:nvPr/>
      </p:nvGrpSpPr>
      <p:grpSpPr>
        <a:xfrm>
          <a:off x="0" y="0"/>
          <a:ext cx="0" cy="0"/>
          <a:chOff x="0" y="0"/>
          <a:chExt cx="0" cy="0"/>
        </a:xfrm>
      </p:grpSpPr>
      <p:sp>
        <p:nvSpPr>
          <p:cNvPr id="34" name="Google Shape;34;p6"/>
          <p:cNvSpPr/>
          <p:nvPr/>
        </p:nvSpPr>
        <p:spPr>
          <a:xfrm>
            <a:off x="0" y="0"/>
            <a:ext cx="18288000" cy="10296600"/>
          </a:xfrm>
          <a:prstGeom prst="rect">
            <a:avLst/>
          </a:prstGeom>
          <a:solidFill>
            <a:schemeClr val="accent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35" name="Google Shape;35;p6"/>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36" name="Google Shape;36;p6"/>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7" name="Google Shape;37;p6"/>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8" name="Google Shape;38;p6"/>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9" name="Google Shape;39;p6"/>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c - Demo/Lab Solution - Presenter - Green">
  <p:cSld name="CUSTOM_2_4_1_1_1_3_1">
    <p:spTree>
      <p:nvGrpSpPr>
        <p:cNvPr id="40" name="Shape 40"/>
        <p:cNvGrpSpPr/>
        <p:nvPr/>
      </p:nvGrpSpPr>
      <p:grpSpPr>
        <a:xfrm>
          <a:off x="0" y="0"/>
          <a:ext cx="0" cy="0"/>
          <a:chOff x="0" y="0"/>
          <a:chExt cx="0" cy="0"/>
        </a:xfrm>
      </p:grpSpPr>
      <p:sp>
        <p:nvSpPr>
          <p:cNvPr id="41" name="Google Shape;41;p7"/>
          <p:cNvSpPr/>
          <p:nvPr/>
        </p:nvSpPr>
        <p:spPr>
          <a:xfrm>
            <a:off x="0" y="0"/>
            <a:ext cx="18288000" cy="102966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42" name="Google Shape;42;p7"/>
          <p:cNvPicPr preferRelativeResize="0"/>
          <p:nvPr/>
        </p:nvPicPr>
        <p:blipFill>
          <a:blip r:embed="rId2">
            <a:alphaModFix/>
          </a:blip>
          <a:stretch>
            <a:fillRect/>
          </a:stretch>
        </p:blipFill>
        <p:spPr>
          <a:xfrm>
            <a:off x="0" y="4800"/>
            <a:ext cx="18288000" cy="10287000"/>
          </a:xfrm>
          <a:prstGeom prst="rect">
            <a:avLst/>
          </a:prstGeom>
          <a:noFill/>
          <a:ln>
            <a:noFill/>
          </a:ln>
        </p:spPr>
      </p:pic>
      <p:sp>
        <p:nvSpPr>
          <p:cNvPr id="43" name="Google Shape;43;p7"/>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44" name="Google Shape;44;p7"/>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45" name="Google Shape;45;p7"/>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46" name="Google Shape;46;p7"/>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a - Lab Intro - Presenter - Blue">
  <p:cSld name="CUSTOM_2_4_1_1_1_2">
    <p:spTree>
      <p:nvGrpSpPr>
        <p:cNvPr id="47" name="Shape 47"/>
        <p:cNvGrpSpPr/>
        <p:nvPr/>
      </p:nvGrpSpPr>
      <p:grpSpPr>
        <a:xfrm>
          <a:off x="0" y="0"/>
          <a:ext cx="0" cy="0"/>
          <a:chOff x="0" y="0"/>
          <a:chExt cx="0" cy="0"/>
        </a:xfrm>
      </p:grpSpPr>
      <p:pic>
        <p:nvPicPr>
          <p:cNvPr id="48" name="Google Shape;48;p8"/>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49" name="Google Shape;49;p8"/>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0" name="Google Shape;50;p8"/>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1" name="Google Shape;51;p8"/>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2" name="Google Shape;52;p8"/>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b - Lab Intro - Presenter - Yellow">
  <p:cSld name="CUSTOM_2_4_1_1_1_2_2">
    <p:spTree>
      <p:nvGrpSpPr>
        <p:cNvPr id="53" name="Shape 53"/>
        <p:cNvGrpSpPr/>
        <p:nvPr/>
      </p:nvGrpSpPr>
      <p:grpSpPr>
        <a:xfrm>
          <a:off x="0" y="0"/>
          <a:ext cx="0" cy="0"/>
          <a:chOff x="0" y="0"/>
          <a:chExt cx="0" cy="0"/>
        </a:xfrm>
      </p:grpSpPr>
      <p:pic>
        <p:nvPicPr>
          <p:cNvPr id="54" name="Google Shape;54;p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55" name="Google Shape;55;p9"/>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6" name="Google Shape;56;p9"/>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7" name="Google Shape;57;p9"/>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8" name="Google Shape;58;p9"/>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c - Lab Intro - Presenter - Green">
  <p:cSld name="CUSTOM_2_4_1_1_1_2_2_1">
    <p:spTree>
      <p:nvGrpSpPr>
        <p:cNvPr id="59" name="Shape 59"/>
        <p:cNvGrpSpPr/>
        <p:nvPr/>
      </p:nvGrpSpPr>
      <p:grpSpPr>
        <a:xfrm>
          <a:off x="0" y="0"/>
          <a:ext cx="0" cy="0"/>
          <a:chOff x="0" y="0"/>
          <a:chExt cx="0" cy="0"/>
        </a:xfrm>
      </p:grpSpPr>
      <p:pic>
        <p:nvPicPr>
          <p:cNvPr id="60" name="Google Shape;60;p10"/>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61" name="Google Shape;61;p10"/>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2" name="Google Shape;62;p10"/>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63" name="Google Shape;63;p10"/>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4" name="Google Shape;64;p10"/>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c - Lab Intro - Full">
  <p:cSld name="CUSTOM_2_4_1_1_1_2_1">
    <p:spTree>
      <p:nvGrpSpPr>
        <p:cNvPr id="65" name="Shape 65"/>
        <p:cNvGrpSpPr/>
        <p:nvPr/>
      </p:nvGrpSpPr>
      <p:grpSpPr>
        <a:xfrm>
          <a:off x="0" y="0"/>
          <a:ext cx="0" cy="0"/>
          <a:chOff x="0" y="0"/>
          <a:chExt cx="0" cy="0"/>
        </a:xfrm>
      </p:grpSpPr>
      <p:sp>
        <p:nvSpPr>
          <p:cNvPr id="66" name="Google Shape;66;p11"/>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7" name="Google Shape;67;p11"/>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8" name="Google Shape;68;p11"/>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
        <p:nvSpPr>
          <p:cNvPr id="69" name="Google Shape;69;p11"/>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2900"/>
              </a:spcBef>
              <a:spcAft>
                <a:spcPts val="290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a - Agenda/Learn how to... - Presenter">
  <p:cSld name="CUSTOM_2_4_1_1_2">
    <p:spTree>
      <p:nvGrpSpPr>
        <p:cNvPr id="70" name="Shape 70"/>
        <p:cNvGrpSpPr/>
        <p:nvPr/>
      </p:nvGrpSpPr>
      <p:grpSpPr>
        <a:xfrm>
          <a:off x="0" y="0"/>
          <a:ext cx="0" cy="0"/>
          <a:chOff x="0" y="0"/>
          <a:chExt cx="0" cy="0"/>
        </a:xfrm>
      </p:grpSpPr>
      <p:pic>
        <p:nvPicPr>
          <p:cNvPr id="71" name="Google Shape;71;p1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72" name="Google Shape;72;p1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3" name="Google Shape;73;p1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74" name="Google Shape;74;p12"/>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b - Agenda/Learn how to... - Full">
  <p:cSld name="CUSTOM_2_4_1_1_1_1">
    <p:spTree>
      <p:nvGrpSpPr>
        <p:cNvPr id="75" name="Shape 75"/>
        <p:cNvGrpSpPr/>
        <p:nvPr/>
      </p:nvGrpSpPr>
      <p:grpSpPr>
        <a:xfrm>
          <a:off x="0" y="0"/>
          <a:ext cx="0" cy="0"/>
          <a:chOff x="0" y="0"/>
          <a:chExt cx="0" cy="0"/>
        </a:xfrm>
      </p:grpSpPr>
      <p:sp>
        <p:nvSpPr>
          <p:cNvPr id="76" name="Google Shape;76;p13"/>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77" name="Google Shape;77;p1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8" name="Google Shape;78;p13"/>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
        <p:nvSpPr>
          <p:cNvPr id="79" name="Google Shape;79;p13"/>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c - Agenda/Learn how to... - Journal ">
  <p:cSld name="CUSTOM_2_4_1_1_1_1_1">
    <p:spTree>
      <p:nvGrpSpPr>
        <p:cNvPr id="80" name="Shape 80"/>
        <p:cNvGrpSpPr/>
        <p:nvPr/>
      </p:nvGrpSpPr>
      <p:grpSpPr>
        <a:xfrm>
          <a:off x="0" y="0"/>
          <a:ext cx="0" cy="0"/>
          <a:chOff x="0" y="0"/>
          <a:chExt cx="0" cy="0"/>
        </a:xfrm>
      </p:grpSpPr>
      <p:sp>
        <p:nvSpPr>
          <p:cNvPr id="81" name="Google Shape;81;p14"/>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82" name="Google Shape;82;p14"/>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3" name="Google Shape;83;p14"/>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pic>
        <p:nvPicPr>
          <p:cNvPr id="84" name="Google Shape;84;p14"/>
          <p:cNvPicPr preferRelativeResize="0"/>
          <p:nvPr/>
        </p:nvPicPr>
        <p:blipFill>
          <a:blip r:embed="rId2">
            <a:alphaModFix/>
          </a:blip>
          <a:stretch>
            <a:fillRect/>
          </a:stretch>
        </p:blipFill>
        <p:spPr>
          <a:xfrm>
            <a:off x="10118401" y="2312725"/>
            <a:ext cx="5661547" cy="56615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c - Circle - Title">
  <p:cSld name="CUSTOM_3_1_1_1_1">
    <p:spTree>
      <p:nvGrpSpPr>
        <p:cNvPr id="85" name="Shape 85"/>
        <p:cNvGrpSpPr/>
        <p:nvPr/>
      </p:nvGrpSpPr>
      <p:grpSpPr>
        <a:xfrm>
          <a:off x="0" y="0"/>
          <a:ext cx="0" cy="0"/>
          <a:chOff x="0" y="0"/>
          <a:chExt cx="0" cy="0"/>
        </a:xfrm>
      </p:grpSpPr>
      <p:pic>
        <p:nvPicPr>
          <p:cNvPr id="86" name="Google Shape;86;p15"/>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87" name="Google Shape;87;p15"/>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8" name="Google Shape;88;p15"/>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a - Pesenter - Title">
  <p:cSld name="CUSTOM_3_1_1_1_1_2">
    <p:spTree>
      <p:nvGrpSpPr>
        <p:cNvPr id="89" name="Shape 89"/>
        <p:cNvGrpSpPr/>
        <p:nvPr/>
      </p:nvGrpSpPr>
      <p:grpSpPr>
        <a:xfrm>
          <a:off x="0" y="0"/>
          <a:ext cx="0" cy="0"/>
          <a:chOff x="0" y="0"/>
          <a:chExt cx="0" cy="0"/>
        </a:xfrm>
      </p:grpSpPr>
      <p:pic>
        <p:nvPicPr>
          <p:cNvPr id="90" name="Google Shape;90;p16"/>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91" name="Google Shape;91;p16"/>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2" name="Google Shape;92;p16"/>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b - Full - Title">
  <p:cSld name="CUSTOM_3_1_1_1_1_1">
    <p:spTree>
      <p:nvGrpSpPr>
        <p:cNvPr id="93" name="Shape 93"/>
        <p:cNvGrpSpPr/>
        <p:nvPr/>
      </p:nvGrpSpPr>
      <p:grpSpPr>
        <a:xfrm>
          <a:off x="0" y="0"/>
          <a:ext cx="0" cy="0"/>
          <a:chOff x="0" y="0"/>
          <a:chExt cx="0" cy="0"/>
        </a:xfrm>
      </p:grpSpPr>
      <p:cxnSp>
        <p:nvCxnSpPr>
          <p:cNvPr id="94" name="Google Shape;94;p17"/>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5" name="Google Shape;95;p17"/>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 - Circle - Title, Body">
  <p:cSld name="CUSTOM_3_1_1_1_1_4">
    <p:spTree>
      <p:nvGrpSpPr>
        <p:cNvPr id="96" name="Shape 96"/>
        <p:cNvGrpSpPr/>
        <p:nvPr/>
      </p:nvGrpSpPr>
      <p:grpSpPr>
        <a:xfrm>
          <a:off x="0" y="0"/>
          <a:ext cx="0" cy="0"/>
          <a:chOff x="0" y="0"/>
          <a:chExt cx="0" cy="0"/>
        </a:xfrm>
      </p:grpSpPr>
      <p:pic>
        <p:nvPicPr>
          <p:cNvPr id="97" name="Google Shape;97;p18"/>
          <p:cNvPicPr preferRelativeResize="0"/>
          <p:nvPr/>
        </p:nvPicPr>
        <p:blipFill>
          <a:blip r:embed="rId2">
            <a:alphaModFix/>
          </a:blip>
          <a:stretch>
            <a:fillRect/>
          </a:stretch>
        </p:blipFill>
        <p:spPr>
          <a:xfrm>
            <a:off x="-4" y="-2"/>
            <a:ext cx="18288000" cy="10286978"/>
          </a:xfrm>
          <a:prstGeom prst="rect">
            <a:avLst/>
          </a:prstGeom>
          <a:noFill/>
          <a:ln>
            <a:noFill/>
          </a:ln>
        </p:spPr>
      </p:pic>
      <p:sp>
        <p:nvSpPr>
          <p:cNvPr id="98" name="Google Shape;98;p18"/>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99" name="Google Shape;99;p18"/>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0" name="Google Shape;100;p18"/>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a - Presenter - Title, Body">
  <p:cSld name="CUSTOM_3_1_1_1_1_2_2">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103" name="Google Shape;103;p19"/>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4" name="Google Shape;104;p19"/>
          <p:cNvSpPr txBox="1"/>
          <p:nvPr>
            <p:ph idx="1" type="body"/>
          </p:nvPr>
        </p:nvSpPr>
        <p:spPr>
          <a:xfrm>
            <a:off x="1742475" y="2432125"/>
            <a:ext cx="7428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5" name="Google Shape;105;p19"/>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b - Full - Title, Body">
  <p:cSld name="CUSTOM_3_1_1_1_1_1_3">
    <p:spTree>
      <p:nvGrpSpPr>
        <p:cNvPr id="106" name="Shape 106"/>
        <p:cNvGrpSpPr/>
        <p:nvPr/>
      </p:nvGrpSpPr>
      <p:grpSpPr>
        <a:xfrm>
          <a:off x="0" y="0"/>
          <a:ext cx="0" cy="0"/>
          <a:chOff x="0" y="0"/>
          <a:chExt cx="0" cy="0"/>
        </a:xfrm>
      </p:grpSpPr>
      <p:cxnSp>
        <p:nvCxnSpPr>
          <p:cNvPr id="107" name="Google Shape;107;p20"/>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08" name="Google Shape;108;p20"/>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9" name="Google Shape;109;p20"/>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 - Circle - Title, Subtitle, Body">
  <p:cSld name="CUSTOM_3_1_1_1_1_3_1">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112" name="Google Shape;112;p21"/>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3" name="Google Shape;113;p21"/>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14" name="Google Shape;114;p21"/>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15" name="Google Shape;115;p21"/>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a - Presenter - Title, Subtitle, Body">
  <p:cSld name="CUSTOM_3_1_1_1_1_2_1">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118" name="Google Shape;118;p2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9" name="Google Shape;119;p2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0" name="Google Shape;120;p22"/>
          <p:cNvSpPr txBox="1"/>
          <p:nvPr>
            <p:ph idx="1" type="subTitle"/>
          </p:nvPr>
        </p:nvSpPr>
        <p:spPr>
          <a:xfrm>
            <a:off x="1730150" y="20273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1" name="Google Shape;121;p22"/>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 - Full - Title, Subtitle, Body">
  <p:cSld name="CUSTOM_3_1_1_1_1_1_2">
    <p:spTree>
      <p:nvGrpSpPr>
        <p:cNvPr id="122" name="Shape 122"/>
        <p:cNvGrpSpPr/>
        <p:nvPr/>
      </p:nvGrpSpPr>
      <p:grpSpPr>
        <a:xfrm>
          <a:off x="0" y="0"/>
          <a:ext cx="0" cy="0"/>
          <a:chOff x="0" y="0"/>
          <a:chExt cx="0" cy="0"/>
        </a:xfrm>
      </p:grpSpPr>
      <p:cxnSp>
        <p:nvCxnSpPr>
          <p:cNvPr id="123" name="Google Shape;123;p2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24" name="Google Shape;124;p23"/>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5" name="Google Shape;125;p23"/>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6" name="Google Shape;126;p23"/>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b - Full - Presenter only">
  <p:cSld name="CUSTOM">
    <p:spTree>
      <p:nvGrpSpPr>
        <p:cNvPr id="127" name="Shape 127"/>
        <p:cNvGrpSpPr/>
        <p:nvPr/>
      </p:nvGrpSpPr>
      <p:grpSpPr>
        <a:xfrm>
          <a:off x="0" y="0"/>
          <a:ext cx="0" cy="0"/>
          <a:chOff x="0" y="0"/>
          <a:chExt cx="0" cy="0"/>
        </a:xfrm>
      </p:grpSpPr>
      <p:pic>
        <p:nvPicPr>
          <p:cNvPr id="128" name="Google Shape;128;p24"/>
          <p:cNvPicPr preferRelativeResize="0"/>
          <p:nvPr/>
        </p:nvPicPr>
        <p:blipFill>
          <a:blip r:embed="rId2">
            <a:alphaModFix/>
          </a:blip>
          <a:stretch>
            <a:fillRect/>
          </a:stretch>
        </p:blipFill>
        <p:spPr>
          <a:xfrm>
            <a:off x="0" y="0"/>
            <a:ext cx="18288000" cy="1028699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a - Presenter - No text">
  <p:cSld name="CUSTOM_2">
    <p:spTree>
      <p:nvGrpSpPr>
        <p:cNvPr id="129" name="Shape 129"/>
        <p:cNvGrpSpPr/>
        <p:nvPr/>
      </p:nvGrpSpPr>
      <p:grpSpPr>
        <a:xfrm>
          <a:off x="0" y="0"/>
          <a:ext cx="0" cy="0"/>
          <a:chOff x="0" y="0"/>
          <a:chExt cx="0" cy="0"/>
        </a:xfrm>
      </p:grpSpPr>
      <p:pic>
        <p:nvPicPr>
          <p:cNvPr id="130" name="Google Shape;130;p25"/>
          <p:cNvPicPr preferRelativeResize="0"/>
          <p:nvPr/>
        </p:nvPicPr>
        <p:blipFill>
          <a:blip r:embed="rId2">
            <a:alphaModFix/>
          </a:blip>
          <a:stretch>
            <a:fillRect/>
          </a:stretch>
        </p:blipFill>
        <p:spPr>
          <a:xfrm>
            <a:off x="0" y="0"/>
            <a:ext cx="18288000" cy="102870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b - Full - No text">
  <p:cSld name="CUSTOM_2_6">
    <p:spTree>
      <p:nvGrpSpPr>
        <p:cNvPr id="131" name="Shape 131"/>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c - Circle - No text">
  <p:cSld name="CUSTOM_2_5">
    <p:spTree>
      <p:nvGrpSpPr>
        <p:cNvPr id="132" name="Shape 132"/>
        <p:cNvGrpSpPr/>
        <p:nvPr/>
      </p:nvGrpSpPr>
      <p:grpSpPr>
        <a:xfrm>
          <a:off x="0" y="0"/>
          <a:ext cx="0" cy="0"/>
          <a:chOff x="0" y="0"/>
          <a:chExt cx="0" cy="0"/>
        </a:xfrm>
      </p:grpSpPr>
      <p:pic>
        <p:nvPicPr>
          <p:cNvPr id="133" name="Google Shape;133;p27"/>
          <p:cNvPicPr preferRelativeResize="0"/>
          <p:nvPr/>
        </p:nvPicPr>
        <p:blipFill>
          <a:blip r:embed="rId2">
            <a:alphaModFix/>
          </a:blip>
          <a:stretch>
            <a:fillRect/>
          </a:stretch>
        </p:blipFill>
        <p:spPr>
          <a:xfrm>
            <a:off x="-4" y="-2"/>
            <a:ext cx="18288000" cy="1028697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a - Screencast Placeholder">
  <p:cSld name="CUSTOM_1">
    <p:spTree>
      <p:nvGrpSpPr>
        <p:cNvPr id="134" name="Shape 134"/>
        <p:cNvGrpSpPr/>
        <p:nvPr/>
      </p:nvGrpSpPr>
      <p:grpSpPr>
        <a:xfrm>
          <a:off x="0" y="0"/>
          <a:ext cx="0" cy="0"/>
          <a:chOff x="0" y="0"/>
          <a:chExt cx="0" cy="0"/>
        </a:xfrm>
      </p:grpSpPr>
      <p:sp>
        <p:nvSpPr>
          <p:cNvPr id="135" name="Google Shape;135;p28"/>
          <p:cNvSpPr/>
          <p:nvPr/>
        </p:nvSpPr>
        <p:spPr>
          <a:xfrm>
            <a:off x="910625" y="529125"/>
            <a:ext cx="16451100" cy="8700600"/>
          </a:xfrm>
          <a:prstGeom prst="rect">
            <a:avLst/>
          </a:prstGeom>
          <a:solidFill>
            <a:srgbClr val="FBBC0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6" name="Google Shape;136;p28"/>
          <p:cNvSpPr txBox="1"/>
          <p:nvPr/>
        </p:nvSpPr>
        <p:spPr>
          <a:xfrm>
            <a:off x="2350950" y="4552950"/>
            <a:ext cx="13662600" cy="159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lt1"/>
                </a:solidFill>
                <a:latin typeface="Google Sans"/>
                <a:ea typeface="Google Sans"/>
                <a:cs typeface="Google Sans"/>
                <a:sym typeface="Google Sans"/>
              </a:rPr>
              <a:t>Screencast</a:t>
            </a:r>
            <a:endParaRPr sz="7200">
              <a:solidFill>
                <a:schemeClr val="lt1"/>
              </a:solidFill>
              <a:latin typeface="Google Sans"/>
              <a:ea typeface="Google Sans"/>
              <a:cs typeface="Google Sans"/>
              <a:sym typeface="Google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a - Template - Video Info" showMasterSp="0">
  <p:cSld name="Blank_1_1">
    <p:bg>
      <p:bgPr>
        <a:noFill/>
      </p:bgPr>
    </p:bg>
    <p:spTree>
      <p:nvGrpSpPr>
        <p:cNvPr id="137" name="Shape 137"/>
        <p:cNvGrpSpPr/>
        <p:nvPr/>
      </p:nvGrpSpPr>
      <p:grpSpPr>
        <a:xfrm>
          <a:off x="0" y="0"/>
          <a:ext cx="0" cy="0"/>
          <a:chOff x="0" y="0"/>
          <a:chExt cx="0" cy="0"/>
        </a:xfrm>
      </p:grpSpPr>
      <p:sp>
        <p:nvSpPr>
          <p:cNvPr id="138" name="Google Shape;138;p29"/>
          <p:cNvSpPr/>
          <p:nvPr/>
        </p:nvSpPr>
        <p:spPr>
          <a:xfrm>
            <a:off x="-18300" y="-95250"/>
            <a:ext cx="18400800" cy="10496400"/>
          </a:xfrm>
          <a:prstGeom prst="rect">
            <a:avLst/>
          </a:prstGeom>
          <a:solidFill>
            <a:srgbClr val="4285F4"/>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9" name="Google Shape;139;p29"/>
          <p:cNvSpPr txBox="1"/>
          <p:nvPr>
            <p:ph type="title"/>
          </p:nvPr>
        </p:nvSpPr>
        <p:spPr>
          <a:xfrm>
            <a:off x="1503300" y="2771400"/>
            <a:ext cx="15357600" cy="4744200"/>
          </a:xfrm>
          <a:prstGeom prst="rect">
            <a:avLst/>
          </a:prstGeom>
          <a:noFill/>
          <a:ln>
            <a:noFill/>
          </a:ln>
        </p:spPr>
        <p:txBody>
          <a:bodyPr anchorCtr="0" anchor="t" bIns="91450" lIns="91450" spcFirstLastPara="1" rIns="91450" wrap="square" tIns="91450">
            <a:noAutofit/>
          </a:bodyPr>
          <a:lstStyle>
            <a:lvl1pPr lvl="0" rtl="0">
              <a:spcBef>
                <a:spcPts val="0"/>
              </a:spcBef>
              <a:spcAft>
                <a:spcPts val="0"/>
              </a:spcAft>
              <a:buNone/>
              <a:defRPr sz="4800">
                <a:solidFill>
                  <a:srgbClr val="FAFAFA"/>
                </a:solidFill>
                <a:latin typeface="Google Sans"/>
                <a:ea typeface="Google Sans"/>
                <a:cs typeface="Google Sans"/>
                <a:sym typeface="Google Sans"/>
              </a:defRPr>
            </a:lvl1pPr>
            <a:lvl2pPr lvl="1" rtl="0">
              <a:spcBef>
                <a:spcPts val="0"/>
              </a:spcBef>
              <a:spcAft>
                <a:spcPts val="0"/>
              </a:spcAft>
              <a:buNone/>
              <a:defRPr sz="4800"/>
            </a:lvl2pPr>
            <a:lvl3pPr lvl="2" rtl="0">
              <a:spcBef>
                <a:spcPts val="0"/>
              </a:spcBef>
              <a:spcAft>
                <a:spcPts val="0"/>
              </a:spcAft>
              <a:buNone/>
              <a:defRPr sz="4800"/>
            </a:lvl3pPr>
            <a:lvl4pPr lvl="3" rtl="0">
              <a:spcBef>
                <a:spcPts val="0"/>
              </a:spcBef>
              <a:spcAft>
                <a:spcPts val="0"/>
              </a:spcAft>
              <a:buNone/>
              <a:defRPr sz="4800"/>
            </a:lvl4pPr>
            <a:lvl5pPr lvl="4" rtl="0">
              <a:spcBef>
                <a:spcPts val="0"/>
              </a:spcBef>
              <a:spcAft>
                <a:spcPts val="0"/>
              </a:spcAft>
              <a:buNone/>
              <a:defRPr sz="4800"/>
            </a:lvl5pPr>
            <a:lvl6pPr lvl="5" rtl="0">
              <a:spcBef>
                <a:spcPts val="0"/>
              </a:spcBef>
              <a:spcAft>
                <a:spcPts val="0"/>
              </a:spcAft>
              <a:buNone/>
              <a:defRPr sz="4800"/>
            </a:lvl6pPr>
            <a:lvl7pPr lvl="6" rtl="0">
              <a:spcBef>
                <a:spcPts val="0"/>
              </a:spcBef>
              <a:spcAft>
                <a:spcPts val="0"/>
              </a:spcAft>
              <a:buNone/>
              <a:defRPr sz="4800"/>
            </a:lvl7pPr>
            <a:lvl8pPr lvl="7" rtl="0">
              <a:spcBef>
                <a:spcPts val="0"/>
              </a:spcBef>
              <a:spcAft>
                <a:spcPts val="0"/>
              </a:spcAft>
              <a:buNone/>
              <a:defRPr sz="4800"/>
            </a:lvl8pPr>
            <a:lvl9pPr lvl="8" rtl="0">
              <a:spcBef>
                <a:spcPts val="0"/>
              </a:spcBef>
              <a:spcAft>
                <a:spcPts val="0"/>
              </a:spcAft>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c - Template - Instructions Slide" showMasterSp="0">
  <p:cSld name="Blank_1_1_1">
    <p:bg>
      <p:bgPr>
        <a:noFill/>
      </p:bgPr>
    </p:bg>
    <p:spTree>
      <p:nvGrpSpPr>
        <p:cNvPr id="140" name="Shape 140"/>
        <p:cNvGrpSpPr/>
        <p:nvPr/>
      </p:nvGrpSpPr>
      <p:grpSpPr>
        <a:xfrm>
          <a:off x="0" y="0"/>
          <a:ext cx="0" cy="0"/>
          <a:chOff x="0" y="0"/>
          <a:chExt cx="0" cy="0"/>
        </a:xfrm>
      </p:grpSpPr>
      <p:sp>
        <p:nvSpPr>
          <p:cNvPr id="141" name="Google Shape;141;p30"/>
          <p:cNvSpPr/>
          <p:nvPr/>
        </p:nvSpPr>
        <p:spPr>
          <a:xfrm>
            <a:off x="-18300" y="-95250"/>
            <a:ext cx="18400800" cy="104964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2" name="Google Shape;142;p30"/>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b - Template - ILT Start/End" showMasterSp="0">
  <p:cSld name="Blank_1_1_1_1">
    <p:bg>
      <p:bgPr>
        <a:noFill/>
      </p:bgPr>
    </p:bg>
    <p:spTree>
      <p:nvGrpSpPr>
        <p:cNvPr id="143" name="Shape 143"/>
        <p:cNvGrpSpPr/>
        <p:nvPr/>
      </p:nvGrpSpPr>
      <p:grpSpPr>
        <a:xfrm>
          <a:off x="0" y="0"/>
          <a:ext cx="0" cy="0"/>
          <a:chOff x="0" y="0"/>
          <a:chExt cx="0" cy="0"/>
        </a:xfrm>
      </p:grpSpPr>
      <p:sp>
        <p:nvSpPr>
          <p:cNvPr id="144" name="Google Shape;144;p31"/>
          <p:cNvSpPr/>
          <p:nvPr/>
        </p:nvSpPr>
        <p:spPr>
          <a:xfrm>
            <a:off x="-18300" y="-95250"/>
            <a:ext cx="18400800" cy="104964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5" name="Google Shape;145;p31"/>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afe and Google Cloud logo Saved Here - Copy to Master Slide when needed">
  <p:cSld name="CUSTOM_3">
    <p:spTree>
      <p:nvGrpSpPr>
        <p:cNvPr id="146" name="Shape 146"/>
        <p:cNvGrpSpPr/>
        <p:nvPr/>
      </p:nvGrpSpPr>
      <p:grpSpPr>
        <a:xfrm>
          <a:off x="0" y="0"/>
          <a:ext cx="0" cy="0"/>
          <a:chOff x="0" y="0"/>
          <a:chExt cx="0" cy="0"/>
        </a:xfrm>
      </p:grpSpPr>
      <p:pic>
        <p:nvPicPr>
          <p:cNvPr id="147" name="Google Shape;147;p32"/>
          <p:cNvPicPr preferRelativeResize="0"/>
          <p:nvPr/>
        </p:nvPicPr>
        <p:blipFill>
          <a:blip r:embed="rId2">
            <a:alphaModFix/>
          </a:blip>
          <a:stretch>
            <a:fillRect/>
          </a:stretch>
        </p:blipFill>
        <p:spPr>
          <a:xfrm>
            <a:off x="0" y="26"/>
            <a:ext cx="18288000" cy="10286960"/>
          </a:xfrm>
          <a:prstGeom prst="rect">
            <a:avLst/>
          </a:prstGeom>
          <a:noFill/>
          <a:ln>
            <a:noFill/>
          </a:ln>
        </p:spPr>
      </p:pic>
      <p:pic>
        <p:nvPicPr>
          <p:cNvPr id="148" name="Google Shape;148;p32"/>
          <p:cNvPicPr preferRelativeResize="0"/>
          <p:nvPr/>
        </p:nvPicPr>
        <p:blipFill rotWithShape="1">
          <a:blip r:embed="rId3">
            <a:alphaModFix/>
          </a:blip>
          <a:srcRect b="0" l="0" r="-21669" t="0"/>
          <a:stretch/>
        </p:blipFill>
        <p:spPr>
          <a:xfrm>
            <a:off x="1010600" y="9256050"/>
            <a:ext cx="3223152" cy="507026"/>
          </a:xfrm>
          <a:prstGeom prst="rect">
            <a:avLst/>
          </a:prstGeom>
          <a:noFill/>
          <a:ln>
            <a:noFill/>
          </a:ln>
        </p:spPr>
      </p:pic>
      <p:sp>
        <p:nvSpPr>
          <p:cNvPr id="149" name="Google Shape;149;p32"/>
          <p:cNvSpPr txBox="1"/>
          <p:nvPr/>
        </p:nvSpPr>
        <p:spPr>
          <a:xfrm>
            <a:off x="594300" y="8552850"/>
            <a:ext cx="1225800" cy="450000"/>
          </a:xfrm>
          <a:prstGeom prst="rect">
            <a:avLst/>
          </a:prstGeom>
          <a:noFill/>
          <a:ln>
            <a:noFill/>
          </a:ln>
        </p:spPr>
        <p:txBody>
          <a:bodyPr anchorCtr="0" anchor="t" bIns="91450" lIns="91450" spcFirstLastPara="1" rIns="91450" wrap="square" tIns="91450">
            <a:noAutofit/>
          </a:bodyPr>
          <a:lstStyle/>
          <a:p>
            <a:pPr indent="0" lvl="0" marL="0" rtl="0" algn="r">
              <a:spcBef>
                <a:spcPts val="0"/>
              </a:spcBef>
              <a:spcAft>
                <a:spcPts val="0"/>
              </a:spcAft>
              <a:buNone/>
            </a:pPr>
            <a:r>
              <a:rPr lang="en" sz="1400">
                <a:solidFill>
                  <a:srgbClr val="EA4335"/>
                </a:solidFill>
                <a:latin typeface="Google Sans"/>
                <a:ea typeface="Google Sans"/>
                <a:cs typeface="Google Sans"/>
                <a:sym typeface="Google Sans"/>
              </a:rPr>
              <a:t>  Title Safe &gt;  </a:t>
            </a:r>
            <a:endParaRPr sz="1400"/>
          </a:p>
        </p:txBody>
      </p:sp>
      <p:sp>
        <p:nvSpPr>
          <p:cNvPr id="150" name="Google Shape;150;p32"/>
          <p:cNvSpPr txBox="1"/>
          <p:nvPr/>
        </p:nvSpPr>
        <p:spPr>
          <a:xfrm>
            <a:off x="858200" y="7957950"/>
            <a:ext cx="1368600" cy="450000"/>
          </a:xfrm>
          <a:prstGeom prst="rect">
            <a:avLst/>
          </a:prstGeom>
          <a:noFill/>
          <a:ln>
            <a:noFill/>
          </a:ln>
        </p:spPr>
        <p:txBody>
          <a:bodyPr anchorCtr="0" anchor="t" bIns="91450" lIns="91450" spcFirstLastPara="1" rIns="91450" wrap="square" tIns="91450">
            <a:noAutofit/>
          </a:bodyPr>
          <a:lstStyle/>
          <a:p>
            <a:pPr indent="0" lvl="0" marL="0" rtl="0" algn="l">
              <a:spcBef>
                <a:spcPts val="0"/>
              </a:spcBef>
              <a:spcAft>
                <a:spcPts val="0"/>
              </a:spcAft>
              <a:buNone/>
            </a:pPr>
            <a:r>
              <a:rPr lang="en" sz="1400">
                <a:solidFill>
                  <a:srgbClr val="EA4335"/>
                </a:solidFill>
                <a:latin typeface="Google Sans"/>
                <a:ea typeface="Google Sans"/>
                <a:cs typeface="Google Sans"/>
                <a:sym typeface="Google Sans"/>
              </a:rPr>
              <a:t> &lt; Action Safe </a:t>
            </a:r>
            <a:endParaRPr sz="1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5">
    <p:spTree>
      <p:nvGrpSpPr>
        <p:cNvPr id="151" name="Shape 151"/>
        <p:cNvGrpSpPr/>
        <p:nvPr/>
      </p:nvGrpSpPr>
      <p:grpSpPr>
        <a:xfrm>
          <a:off x="0" y="0"/>
          <a:ext cx="0" cy="0"/>
          <a:chOff x="0" y="0"/>
          <a:chExt cx="0" cy="0"/>
        </a:xfrm>
      </p:grpSpPr>
      <p:pic>
        <p:nvPicPr>
          <p:cNvPr id="152" name="Google Shape;152;p33"/>
          <p:cNvPicPr preferRelativeResize="0"/>
          <p:nvPr/>
        </p:nvPicPr>
        <p:blipFill>
          <a:blip r:embed="rId2">
            <a:alphaModFix/>
          </a:blip>
          <a:stretch>
            <a:fillRect/>
          </a:stretch>
        </p:blipFill>
        <p:spPr>
          <a:xfrm>
            <a:off x="5180400" y="4192500"/>
            <a:ext cx="7530232" cy="1441176"/>
          </a:xfrm>
          <a:prstGeom prst="rect">
            <a:avLst/>
          </a:prstGeom>
          <a:noFill/>
          <a:ln>
            <a:noFill/>
          </a:ln>
        </p:spPr>
      </p:pic>
      <p:sp>
        <p:nvSpPr>
          <p:cNvPr id="153" name="Google Shape;153;p33"/>
          <p:cNvSpPr/>
          <p:nvPr/>
        </p:nvSpPr>
        <p:spPr>
          <a:xfrm>
            <a:off x="590450" y="8936550"/>
            <a:ext cx="3670500" cy="973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154" name="Shape 154"/>
        <p:cNvGrpSpPr/>
        <p:nvPr/>
      </p:nvGrpSpPr>
      <p:grpSpPr>
        <a:xfrm>
          <a:off x="0" y="0"/>
          <a:ext cx="0" cy="0"/>
          <a:chOff x="0" y="0"/>
          <a:chExt cx="0" cy="0"/>
        </a:xfrm>
      </p:grpSpPr>
      <p:sp>
        <p:nvSpPr>
          <p:cNvPr id="155" name="Google Shape;155;p34"/>
          <p:cNvSpPr txBox="1"/>
          <p:nvPr>
            <p:ph type="title"/>
          </p:nvPr>
        </p:nvSpPr>
        <p:spPr>
          <a:xfrm>
            <a:off x="1523900" y="1619150"/>
            <a:ext cx="10160400" cy="704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6" name="Google Shape;156;p34"/>
          <p:cNvSpPr txBox="1"/>
          <p:nvPr>
            <p:ph idx="1" type="body"/>
          </p:nvPr>
        </p:nvSpPr>
        <p:spPr>
          <a:xfrm>
            <a:off x="1524050" y="3028450"/>
            <a:ext cx="10160400" cy="5639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grpSp>
        <p:nvGrpSpPr>
          <p:cNvPr id="157" name="Google Shape;157;p34"/>
          <p:cNvGrpSpPr/>
          <p:nvPr/>
        </p:nvGrpSpPr>
        <p:grpSpPr>
          <a:xfrm>
            <a:off x="1228241" y="9137251"/>
            <a:ext cx="580334" cy="466754"/>
            <a:chOff x="614120" y="4568626"/>
            <a:chExt cx="290167" cy="233377"/>
          </a:xfrm>
        </p:grpSpPr>
        <p:sp>
          <p:nvSpPr>
            <p:cNvPr id="158" name="Google Shape;158;p34"/>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9" name="Google Shape;159;p34"/>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0" name="Google Shape;160;p34"/>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1" name="Google Shape;161;p34"/>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Slide">
  <p:cSld name="Image Slide_2_2">
    <p:spTree>
      <p:nvGrpSpPr>
        <p:cNvPr id="162" name="Shape 162"/>
        <p:cNvGrpSpPr/>
        <p:nvPr/>
      </p:nvGrpSpPr>
      <p:grpSpPr>
        <a:xfrm>
          <a:off x="0" y="0"/>
          <a:ext cx="0" cy="0"/>
          <a:chOff x="0" y="0"/>
          <a:chExt cx="0" cy="0"/>
        </a:xfrm>
      </p:grpSpPr>
      <p:sp>
        <p:nvSpPr>
          <p:cNvPr id="163" name="Google Shape;163;p35"/>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64" name="Google Shape;164;p35"/>
          <p:cNvPicPr preferRelativeResize="0"/>
          <p:nvPr/>
        </p:nvPicPr>
        <p:blipFill>
          <a:blip r:embed="rId2">
            <a:alphaModFix/>
          </a:blip>
          <a:stretch>
            <a:fillRect/>
          </a:stretch>
        </p:blipFill>
        <p:spPr>
          <a:xfrm>
            <a:off x="991050" y="1828800"/>
            <a:ext cx="8680651" cy="2215375"/>
          </a:xfrm>
          <a:prstGeom prst="rect">
            <a:avLst/>
          </a:prstGeom>
          <a:noFill/>
          <a:ln>
            <a:noFill/>
          </a:ln>
        </p:spPr>
      </p:pic>
      <p:cxnSp>
        <p:nvCxnSpPr>
          <p:cNvPr id="165" name="Google Shape;165;p35"/>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66" name="Google Shape;166;p35"/>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7" name="Google Shape;167;p35"/>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Agenda Slide">
  <p:cSld name="CUSTOM_1_1">
    <p:spTree>
      <p:nvGrpSpPr>
        <p:cNvPr id="168" name="Shape 168"/>
        <p:cNvGrpSpPr/>
        <p:nvPr/>
      </p:nvGrpSpPr>
      <p:grpSpPr>
        <a:xfrm>
          <a:off x="0" y="0"/>
          <a:ext cx="0" cy="0"/>
          <a:chOff x="0" y="0"/>
          <a:chExt cx="0" cy="0"/>
        </a:xfrm>
      </p:grpSpPr>
      <p:sp>
        <p:nvSpPr>
          <p:cNvPr id="169" name="Google Shape;169;p36"/>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0" name="Google Shape;170;p36"/>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1" name="Google Shape;171;p36"/>
          <p:cNvSpPr txBox="1"/>
          <p:nvPr>
            <p:ph type="title"/>
          </p:nvPr>
        </p:nvSpPr>
        <p:spPr>
          <a:xfrm>
            <a:off x="1828800" y="914400"/>
            <a:ext cx="14639700" cy="1075800"/>
          </a:xfrm>
          <a:prstGeom prst="rect">
            <a:avLst/>
          </a:prstGeom>
          <a:noFill/>
          <a:ln>
            <a:noFill/>
          </a:ln>
        </p:spPr>
        <p:txBody>
          <a:bodyPr anchorCtr="0" anchor="t" bIns="91425" lIns="182875" spcFirstLastPara="1" rIns="91425" wrap="square" tIns="0">
            <a:noAutofit/>
          </a:bodyPr>
          <a:lstStyle>
            <a:lvl1pPr lvl="0" rtl="0">
              <a:spcBef>
                <a:spcPts val="0"/>
              </a:spcBef>
              <a:spcAft>
                <a:spcPts val="0"/>
              </a:spcAft>
              <a:buNone/>
              <a:defRPr sz="70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72" name="Google Shape;172;p36"/>
          <p:cNvCxnSpPr/>
          <p:nvPr/>
        </p:nvCxnSpPr>
        <p:spPr>
          <a:xfrm>
            <a:off x="1981200" y="2217560"/>
            <a:ext cx="7091400" cy="0"/>
          </a:xfrm>
          <a:prstGeom prst="straightConnector1">
            <a:avLst/>
          </a:prstGeom>
          <a:noFill/>
          <a:ln cap="flat" cmpd="sng" w="28575">
            <a:solidFill>
              <a:srgbClr val="3C4043"/>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CUSTOM_1_2">
    <p:spTree>
      <p:nvGrpSpPr>
        <p:cNvPr id="173" name="Shape 173"/>
        <p:cNvGrpSpPr/>
        <p:nvPr/>
      </p:nvGrpSpPr>
      <p:grpSpPr>
        <a:xfrm>
          <a:off x="0" y="0"/>
          <a:ext cx="0" cy="0"/>
          <a:chOff x="0" y="0"/>
          <a:chExt cx="0" cy="0"/>
        </a:xfrm>
      </p:grpSpPr>
      <p:sp>
        <p:nvSpPr>
          <p:cNvPr id="174" name="Google Shape;174;p37"/>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5" name="Google Shape;175;p37"/>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6" name="Google Shape;176;p37"/>
          <p:cNvSpPr txBox="1"/>
          <p:nvPr>
            <p:ph type="title"/>
          </p:nvPr>
        </p:nvSpPr>
        <p:spPr>
          <a:xfrm>
            <a:off x="1828800" y="914400"/>
            <a:ext cx="146304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b intro">
  <p:cSld name="Image Slide_2_1_1">
    <p:spTree>
      <p:nvGrpSpPr>
        <p:cNvPr id="177" name="Shape 177"/>
        <p:cNvGrpSpPr/>
        <p:nvPr/>
      </p:nvGrpSpPr>
      <p:grpSpPr>
        <a:xfrm>
          <a:off x="0" y="0"/>
          <a:ext cx="0" cy="0"/>
          <a:chOff x="0" y="0"/>
          <a:chExt cx="0" cy="0"/>
        </a:xfrm>
      </p:grpSpPr>
      <p:sp>
        <p:nvSpPr>
          <p:cNvPr id="178" name="Google Shape;178;p38"/>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9" name="Google Shape;179;p38"/>
          <p:cNvPicPr preferRelativeResize="0"/>
          <p:nvPr/>
        </p:nvPicPr>
        <p:blipFill rotWithShape="1">
          <a:blip r:embed="rId2">
            <a:alphaModFix/>
          </a:blip>
          <a:srcRect b="0" l="0" r="72622" t="0"/>
          <a:stretch/>
        </p:blipFill>
        <p:spPr>
          <a:xfrm>
            <a:off x="991050" y="1828800"/>
            <a:ext cx="2376552" cy="2215375"/>
          </a:xfrm>
          <a:prstGeom prst="rect">
            <a:avLst/>
          </a:prstGeom>
          <a:noFill/>
          <a:ln>
            <a:noFill/>
          </a:ln>
        </p:spPr>
      </p:pic>
      <p:cxnSp>
        <p:nvCxnSpPr>
          <p:cNvPr id="180" name="Google Shape;180;p38"/>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81" name="Google Shape;181;p38"/>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2" name="Google Shape;182;p38"/>
          <p:cNvSpPr txBox="1"/>
          <p:nvPr>
            <p:ph type="title"/>
          </p:nvPr>
        </p:nvSpPr>
        <p:spPr>
          <a:xfrm>
            <a:off x="3297450" y="2198300"/>
            <a:ext cx="14569500" cy="1432800"/>
          </a:xfrm>
          <a:prstGeom prst="rect">
            <a:avLst/>
          </a:prstGeom>
          <a:noFill/>
          <a:ln>
            <a:noFill/>
          </a:ln>
        </p:spPr>
        <p:txBody>
          <a:bodyPr anchorCtr="0" anchor="t" bIns="0" lIns="91425" spcFirstLastPara="1" rIns="91425" wrap="square" tIns="0">
            <a:noAutofit/>
          </a:bodyPr>
          <a:lstStyle>
            <a:lvl1pPr lvl="0" rtl="0">
              <a:spcBef>
                <a:spcPts val="0"/>
              </a:spcBef>
              <a:spcAft>
                <a:spcPts val="0"/>
              </a:spcAft>
              <a:buNone/>
              <a:defRPr sz="9600">
                <a:solidFill>
                  <a:srgbClr val="3C40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3" name="Google Shape;183;p38"/>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theme" Target="../theme/theme1.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21669" t="0"/>
          <a:stretch/>
        </p:blipFill>
        <p:spPr>
          <a:xfrm>
            <a:off x="1010600" y="9256050"/>
            <a:ext cx="3223152" cy="507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hyperlink" Target="https://www.google.com/intl/en/policies/terms/" TargetMode="External"/><Relationship Id="rId4" Type="http://schemas.openxmlformats.org/officeDocument/2006/relationships/hyperlink" Target="https://www.google.com/intl/en/policies/privacy/" TargetMode="External"/><Relationship Id="rId5" Type="http://schemas.openxmlformats.org/officeDocument/2006/relationships/hyperlink" Target="https://www.google.com/intl/en/policies/terms/" TargetMode="External"/><Relationship Id="rId6" Type="http://schemas.openxmlformats.org/officeDocument/2006/relationships/hyperlink" Target="https://sites.google.com/google.com/gcp-teachingresources/privacy-and-term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sites.google.com/google.com/gcp-teachingresources/privacy-and-term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hyperlink" Target="https://sites.google.com/google.com/gcp-teachingresources/privacy-and-term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62.png"/><Relationship Id="rId4" Type="http://schemas.openxmlformats.org/officeDocument/2006/relationships/hyperlink" Target="https://sites.google.com/google.com/gcp-teachingresources/privacy-and-term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62.png"/><Relationship Id="rId4" Type="http://schemas.openxmlformats.org/officeDocument/2006/relationships/hyperlink" Target="https://sites.google.com/google.com/gcp-teachingresources/privacy-and-term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sites.google.com/google.com/gcp-teachingresources/privacy-and-term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s://sites.google.com/google.com/gcp-teachingresources/privacy-and-term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sites.google.com/google.com/gcp-teachingresources/privacy-and-term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hyperlink" Target="https://sites.google.com/google.com/gcp-teachingresources/privacy-and-term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hyperlink" Target="https://sites.google.com/google.com/gcp-teachingresources/privacy-and-term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hyperlink" Target="https://sites.google.com/google.com/gcp-teachingresources/privacy-and-term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40.png"/><Relationship Id="rId4" Type="http://schemas.openxmlformats.org/officeDocument/2006/relationships/hyperlink" Target="https://sites.google.com/google.com/gcp-teachingresources/privacy-and-term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hyperlink" Target="https://sites.google.com/google.com/gcp-teachingresources/privacy-and-term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hyperlink" Target="https://sites.google.com/google.com/gcp-teachingresources/privacy-and-term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hyperlink" Target="https://sites.google.com/google.com/gcp-teachingresources/privacy-and-term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hyperlink" Target="http://www.console.google.com/" TargetMode="External"/><Relationship Id="rId4" Type="http://schemas.openxmlformats.org/officeDocument/2006/relationships/image" Target="../media/image28.png"/><Relationship Id="rId5" Type="http://schemas.openxmlformats.org/officeDocument/2006/relationships/hyperlink" Target="https://sites.google.com/google.com/gcp-teachingresources/privacy-and-term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hyperlink" Target="https://sites.google.com/google.com/gcp-teachingresources/privacy-and-term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sites.google.com/google.com/gcp-teachingresources/privacy-and-term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3.png"/><Relationship Id="rId9" Type="http://schemas.openxmlformats.org/officeDocument/2006/relationships/image" Target="../media/image36.png"/><Relationship Id="rId5" Type="http://schemas.openxmlformats.org/officeDocument/2006/relationships/image" Target="../media/image54.png"/><Relationship Id="rId6" Type="http://schemas.openxmlformats.org/officeDocument/2006/relationships/image" Target="../media/image34.png"/><Relationship Id="rId7" Type="http://schemas.openxmlformats.org/officeDocument/2006/relationships/image" Target="../media/image32.png"/><Relationship Id="rId8" Type="http://schemas.openxmlformats.org/officeDocument/2006/relationships/image" Target="../media/image35.png"/><Relationship Id="rId10" Type="http://schemas.openxmlformats.org/officeDocument/2006/relationships/hyperlink" Target="https://sites.google.com/google.com/gcp-teachingresources/privacy-and-term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hyperlink" Target="https://sites.google.com/google.com/gcp-teachingresources/privacy-and-term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45.png"/><Relationship Id="rId4" Type="http://schemas.openxmlformats.org/officeDocument/2006/relationships/hyperlink" Target="https://sites.google.com/google.com/gcp-teachingresources/privacy-and-term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59.png"/><Relationship Id="rId6" Type="http://schemas.openxmlformats.org/officeDocument/2006/relationships/hyperlink" Target="https://sites.google.com/google.com/gcp-teachingresources/privacy-and-term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hyperlink" Target="https://sites.google.com/google.com/gcp-teachingresources/privacy-and-term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41.png"/><Relationship Id="rId4" Type="http://schemas.openxmlformats.org/officeDocument/2006/relationships/hyperlink" Target="https://sites.google.com/google.com/gcp-teachingresources/privacy-and-term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hyperlink" Target="https://sites.google.com/google.com/gcp-teachingresources/privacy-and-term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55.png"/><Relationship Id="rId4" Type="http://schemas.openxmlformats.org/officeDocument/2006/relationships/image" Target="../media/image42.png"/><Relationship Id="rId5" Type="http://schemas.openxmlformats.org/officeDocument/2006/relationships/hyperlink" Target="https://sites.google.com/google.com/gcp-teachingresources/privacy-and-term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hyperlink" Target="https://sites.google.com/google.com/gcp-teachingresources/privacy-and-term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43.png"/><Relationship Id="rId4" Type="http://schemas.openxmlformats.org/officeDocument/2006/relationships/hyperlink" Target="https://sites.google.com/google.com/gcp-teachingresources/privacy-and-term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hyperlink" Target="https://sites.google.com/google.com/gcp-teachingresources/privacy-and-term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 Id="rId3" Type="http://schemas.openxmlformats.org/officeDocument/2006/relationships/image" Target="../media/image52.png"/><Relationship Id="rId4" Type="http://schemas.openxmlformats.org/officeDocument/2006/relationships/image" Target="../media/image48.png"/><Relationship Id="rId5" Type="http://schemas.openxmlformats.org/officeDocument/2006/relationships/hyperlink" Target="https://sites.google.com/google.com/gcp-teachingresources/privacy-and-term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49.png"/><Relationship Id="rId4" Type="http://schemas.openxmlformats.org/officeDocument/2006/relationships/hyperlink" Target="https://sites.google.com/google.com/gcp-teachingresources/privacy-and-term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53.png"/><Relationship Id="rId4" Type="http://schemas.openxmlformats.org/officeDocument/2006/relationships/hyperlink" Target="https://sites.google.com/google.com/gcp-teachingresources/privacy-and-term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63.png"/><Relationship Id="rId4" Type="http://schemas.openxmlformats.org/officeDocument/2006/relationships/hyperlink" Target="https://sites.google.com/google.com/gcp-teachingresources/privacy-and-term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hyperlink" Target="https://sites.google.com/google.com/gcp-teachingresources/privacy-and-term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www.qwiklabs.com/focuses/2794?parent=catalog" TargetMode="External"/><Relationship Id="rId4" Type="http://schemas.openxmlformats.org/officeDocument/2006/relationships/hyperlink" Target="https://sites.google.com/google.com/gcp-teachingresources/privacy-and-term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hyperlink" Target="https://sites.google.com/google.com/gcp-teachingresources/privacy-and-term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run.qwiklabs.com/focuses/563?parent=catalog" TargetMode="External"/><Relationship Id="rId4" Type="http://schemas.openxmlformats.org/officeDocument/2006/relationships/hyperlink" Target="https://sites.google.com/google.com/gcp-teachingresources/privacy-and-term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https://sites.google.com/google.com/gcp-teachingresources/privacy-and-term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hyperlink" Target="https://sites.google.com/google.com/gcp-teachingresources/privacy-and-term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image" Target="../media/image51.png"/><Relationship Id="rId4" Type="http://schemas.openxmlformats.org/officeDocument/2006/relationships/hyperlink" Target="https://sites.google.com/google.com/gcp-teachingresources/privacy-and-term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48.png"/><Relationship Id="rId4" Type="http://schemas.openxmlformats.org/officeDocument/2006/relationships/hyperlink" Target="https://sites.google.com/google.com/gcp-teachingresources/privacy-and-term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56.png"/><Relationship Id="rId4" Type="http://schemas.openxmlformats.org/officeDocument/2006/relationships/hyperlink" Target="https://sites.google.com/google.com/gcp-teachingresources/privacy-and-term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60.png"/><Relationship Id="rId4" Type="http://schemas.openxmlformats.org/officeDocument/2006/relationships/hyperlink" Target="https://sites.google.com/google.com/gcp-teachingresources/privacy-and-term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hyperlink" Target="https://sites.google.com/google.com/gcp-teachingresources/privacy-and-term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57.png"/><Relationship Id="rId4" Type="http://schemas.openxmlformats.org/officeDocument/2006/relationships/image" Target="../media/image50.png"/><Relationship Id="rId5" Type="http://schemas.openxmlformats.org/officeDocument/2006/relationships/image" Target="../media/image61.png"/><Relationship Id="rId6" Type="http://schemas.openxmlformats.org/officeDocument/2006/relationships/image" Target="../media/image58.png"/><Relationship Id="rId7" Type="http://schemas.openxmlformats.org/officeDocument/2006/relationships/hyperlink" Target="https://sites.google.com/google.com/gcp-teachingresources/privacy-and-term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hyperlink" Target="https://sites.google.com/google.com/gcp-teachingresources/privacy-and-term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9.xml"/><Relationship Id="rId3" Type="http://schemas.openxmlformats.org/officeDocument/2006/relationships/hyperlink" Target="https://sites.google.com/google.com/gcp-teachingresources/privacy-and-term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0.xml"/><Relationship Id="rId3" Type="http://schemas.openxmlformats.org/officeDocument/2006/relationships/hyperlink" Target="https://sites.google.com/google.com/gcp-teachingresources/privacy-and-term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1.xml"/><Relationship Id="rId3" Type="http://schemas.openxmlformats.org/officeDocument/2006/relationships/hyperlink" Target="https://sites.google.com/google.com/gcp-teachingresources/privacy-and-term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2.xml"/><Relationship Id="rId3" Type="http://schemas.openxmlformats.org/officeDocument/2006/relationships/hyperlink" Target="https://sites.google.com/google.com/gcp-teachingresources/privacy-and-term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3.xml"/><Relationship Id="rId3" Type="http://schemas.openxmlformats.org/officeDocument/2006/relationships/hyperlink" Target="https://sites.google.com/google.com/gcp-teachingresources/privacy-and-terms"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4.xml"/><Relationship Id="rId3" Type="http://schemas.openxmlformats.org/officeDocument/2006/relationships/hyperlink" Target="https://sites.google.com/google.com/gcp-teachingresources/privacy-and-terms"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hyperlink" Target="https://sites.google.com/google.com/gcp-teachingresources/privacy-and-term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6.xml"/><Relationship Id="rId3" Type="http://schemas.openxmlformats.org/officeDocument/2006/relationships/hyperlink" Target="https://sites.google.com/google.com/gcp-teachingresources/privacy-and-term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7.xml"/><Relationship Id="rId3" Type="http://schemas.openxmlformats.org/officeDocument/2006/relationships/hyperlink" Target="https://sites.google.com/google.com/gcp-teachingresources/privacy-and-term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9"/>
          <p:cNvSpPr txBox="1"/>
          <p:nvPr/>
        </p:nvSpPr>
        <p:spPr>
          <a:xfrm>
            <a:off x="1640300" y="2303225"/>
            <a:ext cx="14775300" cy="6664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900">
                <a:solidFill>
                  <a:srgbClr val="3C4043"/>
                </a:solidFill>
                <a:highlight>
                  <a:srgbClr val="FFFFFF"/>
                </a:highlight>
                <a:latin typeface="Roboto"/>
                <a:ea typeface="Roboto"/>
                <a:cs typeface="Roboto"/>
                <a:sym typeface="Roboto"/>
              </a:rPr>
              <a:t>Thank you for your interest in using Google Cloud training material. We are excited about the content we are able to provide you (collectively, “Teaching Resources”) and hope you are too. </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C4043"/>
                </a:solidFill>
                <a:highlight>
                  <a:srgbClr val="FFFFFF"/>
                </a:highlight>
                <a:latin typeface="Roboto"/>
                <a:ea typeface="Roboto"/>
                <a:cs typeface="Roboto"/>
                <a:sym typeface="Roboto"/>
              </a:rPr>
              <a:t>By using Teaching Resources, you agree to be bound by all of the following terms, as well as the </a:t>
            </a:r>
            <a:r>
              <a:rPr lang="en" sz="1900" u="sng">
                <a:solidFill>
                  <a:srgbClr val="1A73E8"/>
                </a:solidFill>
                <a:highlight>
                  <a:srgbClr val="FFFFFF"/>
                </a:highlight>
                <a:latin typeface="Roboto"/>
                <a:ea typeface="Roboto"/>
                <a:cs typeface="Roboto"/>
                <a:sym typeface="Roboto"/>
                <a:hlinkClick r:id="rId3">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 and the </a:t>
            </a:r>
            <a:r>
              <a:rPr lang="en" sz="1900" u="sng">
                <a:solidFill>
                  <a:srgbClr val="1A73E8"/>
                </a:solidFill>
                <a:highlight>
                  <a:srgbClr val="FFFFFF"/>
                </a:highlight>
                <a:latin typeface="Roboto"/>
                <a:ea typeface="Roboto"/>
                <a:cs typeface="Roboto"/>
                <a:sym typeface="Roboto"/>
                <a:hlinkClick r:id="rId4">
                  <a:extLst>
                    <a:ext uri="{A12FA001-AC4F-418D-AE19-62706E023703}">
                      <ahyp:hlinkClr val="tx"/>
                    </a:ext>
                  </a:extLst>
                </a:hlinkClick>
              </a:rPr>
              <a:t>Google privacy policy</a:t>
            </a:r>
            <a:r>
              <a:rPr lang="en" sz="1900">
                <a:solidFill>
                  <a:srgbClr val="3C4043"/>
                </a:solidFill>
                <a:highlight>
                  <a:srgbClr val="FFFFFF"/>
                </a:highlight>
                <a:latin typeface="Roboto"/>
                <a:ea typeface="Roboto"/>
                <a:cs typeface="Roboto"/>
                <a:sym typeface="Roboto"/>
              </a:rPr>
              <a:t>. Unless otherwise specified, terms used below will have the meanings described in the </a:t>
            </a:r>
            <a:r>
              <a:rPr lang="en" sz="1900" u="sng">
                <a:solidFill>
                  <a:srgbClr val="1A73E8"/>
                </a:solidFill>
                <a:highlight>
                  <a:srgbClr val="FFFFFF"/>
                </a:highlight>
                <a:latin typeface="Roboto"/>
                <a:ea typeface="Roboto"/>
                <a:cs typeface="Roboto"/>
                <a:sym typeface="Roboto"/>
                <a:hlinkClick r:id="rId5">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b="1" sz="1900">
              <a:solidFill>
                <a:srgbClr val="3C4043"/>
              </a:solidFill>
              <a:highlight>
                <a:srgbClr val="FFFFFF"/>
              </a:highlight>
              <a:latin typeface="Roboto"/>
              <a:ea typeface="Roboto"/>
              <a:cs typeface="Roboto"/>
              <a:sym typeface="Roboto"/>
            </a:endParaRPr>
          </a:p>
          <a:p>
            <a:pPr indent="-577850" lvl="0" marL="914400" rtl="0" algn="l">
              <a:spcBef>
                <a:spcPts val="120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Educational Use Only</a:t>
            </a:r>
            <a:r>
              <a:rPr lang="en" sz="1900">
                <a:solidFill>
                  <a:srgbClr val="3C4043"/>
                </a:solidFill>
                <a:highlight>
                  <a:srgbClr val="FFFFFF"/>
                </a:highlight>
                <a:latin typeface="Roboto"/>
                <a:ea typeface="Roboto"/>
                <a:cs typeface="Roboto"/>
                <a:sym typeface="Roboto"/>
              </a:rPr>
              <a:t>. Teaching Resources is intended only for use teaching courses at regionally accredited or higher learning institutions. The content may be adapted, customize, remixed, and shared for educational use. Content may not be distributed, or otherwise exploited for any commercial purpose, commercial advantage, or private monetary compensation.</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Attribution Requirements</a:t>
            </a:r>
            <a:r>
              <a:rPr lang="en" sz="1900">
                <a:solidFill>
                  <a:srgbClr val="3C4043"/>
                </a:solidFill>
                <a:highlight>
                  <a:srgbClr val="FFFFFF"/>
                </a:highlight>
                <a:latin typeface="Roboto"/>
                <a:ea typeface="Roboto"/>
                <a:cs typeface="Roboto"/>
                <a:sym typeface="Roboto"/>
              </a:rPr>
              <a:t>. If you distribute, publicly perform, display, transmit, publish, or otherwise make available any Teaching Resources or any derivative works thereof, you must attribute the material you use back to the Teaching Resources, but not in any way that suggests Google, any of its affiliates, or any of its third party content providers endorse you or your use of such materials. If you adapt, remix, or customize the Teaching Resources please include the following text on each edited slide: </a:t>
            </a:r>
            <a:r>
              <a:rPr i="1" lang="en" sz="1900">
                <a:solidFill>
                  <a:srgbClr val="3C4043"/>
                </a:solidFill>
                <a:highlight>
                  <a:srgbClr val="FFFFFF"/>
                </a:highlight>
                <a:latin typeface="Roboto"/>
                <a:ea typeface="Roboto"/>
                <a:cs typeface="Roboto"/>
                <a:sym typeface="Roboto"/>
              </a:rPr>
              <a:t>“The original content was provided by Google LLC and modified for the purpose of the course, without input or endorsement from Google LLC.”</a:t>
            </a:r>
            <a:r>
              <a:rPr lang="en" sz="1900">
                <a:solidFill>
                  <a:srgbClr val="3C4043"/>
                </a:solidFill>
                <a:highlight>
                  <a:srgbClr val="FFFFFF"/>
                </a:highlight>
                <a:latin typeface="Roboto"/>
                <a:ea typeface="Roboto"/>
                <a:cs typeface="Roboto"/>
                <a:sym typeface="Roboto"/>
              </a:rPr>
              <a:t> </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lang="en" sz="1900">
                <a:solidFill>
                  <a:srgbClr val="3C4043"/>
                </a:solidFill>
                <a:highlight>
                  <a:srgbClr val="FFFFFF"/>
                </a:highlight>
                <a:latin typeface="Roboto"/>
                <a:ea typeface="Roboto"/>
                <a:cs typeface="Roboto"/>
                <a:sym typeface="Roboto"/>
              </a:rPr>
              <a:t>Descriptions of Google products, services, infrastructure and processes contained in the Teaching Resources are descriptions for teaching and learning purposes only and do not constitute a guarantee, promise, or representation of accuracy by Google. Pricing, availability or features of Google Cloud products and services described in the Teaching Resources may change.</a:t>
            </a:r>
            <a:endParaRPr sz="2100">
              <a:solidFill>
                <a:srgbClr val="3C4043"/>
              </a:solidFill>
              <a:highlight>
                <a:srgbClr val="FFFFFF"/>
              </a:highlight>
              <a:latin typeface="Roboto"/>
              <a:ea typeface="Roboto"/>
              <a:cs typeface="Roboto"/>
              <a:sym typeface="Roboto"/>
            </a:endParaRPr>
          </a:p>
        </p:txBody>
      </p:sp>
      <p:sp>
        <p:nvSpPr>
          <p:cNvPr id="189" name="Google Shape;189;p39"/>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Disclaimer</a:t>
            </a:r>
            <a:endParaRPr sz="4800">
              <a:solidFill>
                <a:srgbClr val="202124"/>
              </a:solidFill>
              <a:latin typeface="Google Sans"/>
              <a:ea typeface="Google Sans"/>
              <a:cs typeface="Google Sans"/>
              <a:sym typeface="Google Sans"/>
            </a:endParaRPr>
          </a:p>
        </p:txBody>
      </p:sp>
      <p:sp>
        <p:nvSpPr>
          <p:cNvPr id="190" name="Google Shape;190;p3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0"/>
          <p:cNvSpPr txBox="1"/>
          <p:nvPr>
            <p:ph type="title"/>
          </p:nvPr>
        </p:nvSpPr>
        <p:spPr>
          <a:xfrm>
            <a:off x="1753100" y="4201375"/>
            <a:ext cx="7206900" cy="37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Start with a Solid Platform</a:t>
            </a:r>
            <a:endParaRPr>
              <a:solidFill>
                <a:schemeClr val="lt1"/>
              </a:solidFill>
            </a:endParaRPr>
          </a:p>
        </p:txBody>
      </p:sp>
      <p:sp>
        <p:nvSpPr>
          <p:cNvPr id="196" name="Google Shape;196;p40"/>
          <p:cNvSpPr txBox="1"/>
          <p:nvPr>
            <p:ph idx="1" type="subTitle"/>
          </p:nvPr>
        </p:nvSpPr>
        <p:spPr>
          <a:xfrm>
            <a:off x="1753100" y="8001175"/>
            <a:ext cx="7428900" cy="7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0"/>
          <p:cNvSpPr txBox="1"/>
          <p:nvPr>
            <p:ph idx="2" type="subTitle"/>
          </p:nvPr>
        </p:nvSpPr>
        <p:spPr>
          <a:xfrm>
            <a:off x="1795700" y="8564800"/>
            <a:ext cx="8174700" cy="6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1"/>
          <p:cNvSpPr/>
          <p:nvPr/>
        </p:nvSpPr>
        <p:spPr>
          <a:xfrm>
            <a:off x="18288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a:t>
            </a:r>
            <a:endParaRPr sz="2800">
              <a:solidFill>
                <a:srgbClr val="FFFFFF"/>
              </a:solidFill>
              <a:latin typeface="Roboto"/>
              <a:ea typeface="Roboto"/>
              <a:cs typeface="Roboto"/>
              <a:sym typeface="Roboto"/>
            </a:endParaRPr>
          </a:p>
        </p:txBody>
      </p:sp>
      <p:sp>
        <p:nvSpPr>
          <p:cNvPr id="204" name="Google Shape;204;p41"/>
          <p:cNvSpPr/>
          <p:nvPr/>
        </p:nvSpPr>
        <p:spPr>
          <a:xfrm>
            <a:off x="4819650" y="2452500"/>
            <a:ext cx="2681100" cy="685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2</a:t>
            </a:r>
            <a:endParaRPr sz="2800">
              <a:solidFill>
                <a:srgbClr val="FFFFFF"/>
              </a:solidFill>
              <a:latin typeface="Roboto"/>
              <a:ea typeface="Roboto"/>
              <a:cs typeface="Roboto"/>
              <a:sym typeface="Roboto"/>
            </a:endParaRPr>
          </a:p>
        </p:txBody>
      </p:sp>
      <p:sp>
        <p:nvSpPr>
          <p:cNvPr id="205" name="Google Shape;205;p41"/>
          <p:cNvSpPr/>
          <p:nvPr/>
        </p:nvSpPr>
        <p:spPr>
          <a:xfrm>
            <a:off x="78105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3</a:t>
            </a:r>
            <a:endParaRPr sz="2800">
              <a:solidFill>
                <a:srgbClr val="FFFFFF"/>
              </a:solidFill>
              <a:latin typeface="Roboto"/>
              <a:ea typeface="Roboto"/>
              <a:cs typeface="Roboto"/>
              <a:sym typeface="Roboto"/>
            </a:endParaRPr>
          </a:p>
        </p:txBody>
      </p:sp>
      <p:sp>
        <p:nvSpPr>
          <p:cNvPr id="206" name="Google Shape;206;p41"/>
          <p:cNvSpPr/>
          <p:nvPr/>
        </p:nvSpPr>
        <p:spPr>
          <a:xfrm>
            <a:off x="108013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4</a:t>
            </a:r>
            <a:endParaRPr sz="2800">
              <a:solidFill>
                <a:srgbClr val="FFFFFF"/>
              </a:solidFill>
              <a:latin typeface="Roboto"/>
              <a:ea typeface="Roboto"/>
              <a:cs typeface="Roboto"/>
              <a:sym typeface="Roboto"/>
            </a:endParaRPr>
          </a:p>
        </p:txBody>
      </p:sp>
      <p:sp>
        <p:nvSpPr>
          <p:cNvPr id="207" name="Google Shape;207;p41"/>
          <p:cNvSpPr/>
          <p:nvPr/>
        </p:nvSpPr>
        <p:spPr>
          <a:xfrm>
            <a:off x="137922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5</a:t>
            </a:r>
            <a:endParaRPr sz="2800">
              <a:solidFill>
                <a:srgbClr val="FFFFFF"/>
              </a:solidFill>
              <a:latin typeface="Roboto"/>
              <a:ea typeface="Roboto"/>
              <a:cs typeface="Roboto"/>
              <a:sym typeface="Roboto"/>
            </a:endParaRPr>
          </a:p>
        </p:txBody>
      </p:sp>
      <p:sp>
        <p:nvSpPr>
          <p:cNvPr id="208" name="Google Shape;208;p41"/>
          <p:cNvSpPr/>
          <p:nvPr/>
        </p:nvSpPr>
        <p:spPr>
          <a:xfrm>
            <a:off x="18288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6</a:t>
            </a:r>
            <a:endParaRPr sz="2800">
              <a:solidFill>
                <a:srgbClr val="FFFFFF"/>
              </a:solidFill>
              <a:latin typeface="Roboto"/>
              <a:ea typeface="Roboto"/>
              <a:cs typeface="Roboto"/>
              <a:sym typeface="Roboto"/>
            </a:endParaRPr>
          </a:p>
        </p:txBody>
      </p:sp>
      <p:sp>
        <p:nvSpPr>
          <p:cNvPr id="209" name="Google Shape;209;p41"/>
          <p:cNvSpPr/>
          <p:nvPr/>
        </p:nvSpPr>
        <p:spPr>
          <a:xfrm>
            <a:off x="48196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7</a:t>
            </a:r>
            <a:endParaRPr sz="2800">
              <a:solidFill>
                <a:srgbClr val="FFFFFF"/>
              </a:solidFill>
              <a:latin typeface="Roboto"/>
              <a:ea typeface="Roboto"/>
              <a:cs typeface="Roboto"/>
              <a:sym typeface="Roboto"/>
            </a:endParaRPr>
          </a:p>
        </p:txBody>
      </p:sp>
      <p:sp>
        <p:nvSpPr>
          <p:cNvPr id="210" name="Google Shape;210;p41"/>
          <p:cNvSpPr/>
          <p:nvPr/>
        </p:nvSpPr>
        <p:spPr>
          <a:xfrm>
            <a:off x="78105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8</a:t>
            </a:r>
            <a:endParaRPr sz="2800">
              <a:solidFill>
                <a:srgbClr val="FFFFFF"/>
              </a:solidFill>
              <a:latin typeface="Roboto"/>
              <a:ea typeface="Roboto"/>
              <a:cs typeface="Roboto"/>
              <a:sym typeface="Roboto"/>
            </a:endParaRPr>
          </a:p>
        </p:txBody>
      </p:sp>
      <p:sp>
        <p:nvSpPr>
          <p:cNvPr id="211" name="Google Shape;211;p41"/>
          <p:cNvSpPr/>
          <p:nvPr/>
        </p:nvSpPr>
        <p:spPr>
          <a:xfrm>
            <a:off x="108013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9</a:t>
            </a:r>
            <a:endParaRPr sz="2800">
              <a:solidFill>
                <a:srgbClr val="FFFFFF"/>
              </a:solidFill>
              <a:latin typeface="Roboto"/>
              <a:ea typeface="Roboto"/>
              <a:cs typeface="Roboto"/>
              <a:sym typeface="Roboto"/>
            </a:endParaRPr>
          </a:p>
        </p:txBody>
      </p:sp>
      <p:sp>
        <p:nvSpPr>
          <p:cNvPr id="212" name="Google Shape;212;p41"/>
          <p:cNvSpPr/>
          <p:nvPr/>
        </p:nvSpPr>
        <p:spPr>
          <a:xfrm>
            <a:off x="137922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10</a:t>
            </a:r>
            <a:endParaRPr sz="2800">
              <a:solidFill>
                <a:srgbClr val="FFFFFF"/>
              </a:solidFill>
              <a:latin typeface="Roboto"/>
              <a:ea typeface="Roboto"/>
              <a:cs typeface="Roboto"/>
              <a:sym typeface="Roboto"/>
            </a:endParaRPr>
          </a:p>
        </p:txBody>
      </p:sp>
      <p:sp>
        <p:nvSpPr>
          <p:cNvPr id="213" name="Google Shape;213;p41"/>
          <p:cNvSpPr/>
          <p:nvPr/>
        </p:nvSpPr>
        <p:spPr>
          <a:xfrm>
            <a:off x="1828800" y="3290700"/>
            <a:ext cx="2681100" cy="1628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So, What’s the Cloud Anyway?</a:t>
            </a:r>
            <a:endParaRPr sz="2000">
              <a:solidFill>
                <a:schemeClr val="lt1"/>
              </a:solidFill>
              <a:latin typeface="Roboto"/>
              <a:ea typeface="Roboto"/>
              <a:cs typeface="Roboto"/>
              <a:sym typeface="Roboto"/>
            </a:endParaRPr>
          </a:p>
        </p:txBody>
      </p:sp>
      <p:sp>
        <p:nvSpPr>
          <p:cNvPr id="214" name="Google Shape;214;p41"/>
          <p:cNvSpPr/>
          <p:nvPr/>
        </p:nvSpPr>
        <p:spPr>
          <a:xfrm>
            <a:off x="4819650" y="3290700"/>
            <a:ext cx="2681100" cy="16281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Start with a Solid Platform</a:t>
            </a:r>
            <a:endParaRPr sz="2000">
              <a:solidFill>
                <a:schemeClr val="lt1"/>
              </a:solidFill>
              <a:latin typeface="Roboto"/>
              <a:ea typeface="Roboto"/>
              <a:cs typeface="Roboto"/>
              <a:sym typeface="Roboto"/>
            </a:endParaRPr>
          </a:p>
        </p:txBody>
      </p:sp>
      <p:sp>
        <p:nvSpPr>
          <p:cNvPr id="215" name="Google Shape;215;p41"/>
          <p:cNvSpPr/>
          <p:nvPr/>
        </p:nvSpPr>
        <p:spPr>
          <a:xfrm>
            <a:off x="7810500" y="3290700"/>
            <a:ext cx="2681100" cy="1628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Use </a:t>
            </a:r>
            <a:r>
              <a:rPr lang="en" sz="2000">
                <a:solidFill>
                  <a:schemeClr val="lt1"/>
                </a:solidFill>
                <a:latin typeface="Roboto"/>
                <a:ea typeface="Roboto"/>
                <a:cs typeface="Roboto"/>
                <a:sym typeface="Roboto"/>
              </a:rPr>
              <a:t>Google Cloud</a:t>
            </a:r>
            <a:r>
              <a:rPr lang="en" sz="2000">
                <a:solidFill>
                  <a:schemeClr val="lt1"/>
                </a:solidFill>
                <a:latin typeface="Roboto"/>
                <a:ea typeface="Roboto"/>
                <a:cs typeface="Roboto"/>
                <a:sym typeface="Roboto"/>
              </a:rPr>
              <a:t> to Build Your Apps</a:t>
            </a:r>
            <a:endParaRPr sz="2000">
              <a:solidFill>
                <a:schemeClr val="lt1"/>
              </a:solidFill>
              <a:latin typeface="Roboto"/>
              <a:ea typeface="Roboto"/>
              <a:cs typeface="Roboto"/>
              <a:sym typeface="Roboto"/>
            </a:endParaRPr>
          </a:p>
        </p:txBody>
      </p:sp>
      <p:sp>
        <p:nvSpPr>
          <p:cNvPr id="216" name="Google Shape;216;p41"/>
          <p:cNvSpPr/>
          <p:nvPr/>
        </p:nvSpPr>
        <p:spPr>
          <a:xfrm>
            <a:off x="10801350" y="3290700"/>
            <a:ext cx="2681100" cy="16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Where Do I Store This Stuff?</a:t>
            </a:r>
            <a:endParaRPr sz="2000">
              <a:solidFill>
                <a:schemeClr val="lt1"/>
              </a:solidFill>
              <a:latin typeface="Roboto"/>
              <a:ea typeface="Roboto"/>
              <a:cs typeface="Roboto"/>
              <a:sym typeface="Roboto"/>
            </a:endParaRPr>
          </a:p>
        </p:txBody>
      </p:sp>
      <p:sp>
        <p:nvSpPr>
          <p:cNvPr id="217" name="Google Shape;217;p41"/>
          <p:cNvSpPr/>
          <p:nvPr/>
        </p:nvSpPr>
        <p:spPr>
          <a:xfrm>
            <a:off x="13792200" y="3290700"/>
            <a:ext cx="2681100" cy="16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There’s an API for That!</a:t>
            </a:r>
            <a:endParaRPr sz="2000">
              <a:solidFill>
                <a:schemeClr val="lt1"/>
              </a:solidFill>
              <a:latin typeface="Roboto"/>
              <a:ea typeface="Roboto"/>
              <a:cs typeface="Roboto"/>
              <a:sym typeface="Roboto"/>
            </a:endParaRPr>
          </a:p>
        </p:txBody>
      </p:sp>
      <p:sp>
        <p:nvSpPr>
          <p:cNvPr id="218" name="Google Shape;218;p41"/>
          <p:cNvSpPr/>
          <p:nvPr/>
        </p:nvSpPr>
        <p:spPr>
          <a:xfrm>
            <a:off x="1828800" y="6033900"/>
            <a:ext cx="2681100" cy="162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Can’t Secure the Cloud, Right?</a:t>
            </a:r>
            <a:endParaRPr sz="2000">
              <a:solidFill>
                <a:schemeClr val="lt1"/>
              </a:solidFill>
              <a:latin typeface="Roboto"/>
              <a:ea typeface="Roboto"/>
              <a:cs typeface="Roboto"/>
              <a:sym typeface="Roboto"/>
            </a:endParaRPr>
          </a:p>
        </p:txBody>
      </p:sp>
      <p:sp>
        <p:nvSpPr>
          <p:cNvPr id="219" name="Google Shape;219;p41"/>
          <p:cNvSpPr/>
          <p:nvPr/>
        </p:nvSpPr>
        <p:spPr>
          <a:xfrm>
            <a:off x="4819650" y="6033900"/>
            <a:ext cx="2681100" cy="162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It Helps to Network</a:t>
            </a:r>
            <a:endParaRPr sz="2000">
              <a:solidFill>
                <a:schemeClr val="lt1"/>
              </a:solidFill>
              <a:latin typeface="Roboto"/>
              <a:ea typeface="Roboto"/>
              <a:cs typeface="Roboto"/>
              <a:sym typeface="Roboto"/>
            </a:endParaRPr>
          </a:p>
        </p:txBody>
      </p:sp>
      <p:sp>
        <p:nvSpPr>
          <p:cNvPr id="220" name="Google Shape;220;p41"/>
          <p:cNvSpPr/>
          <p:nvPr/>
        </p:nvSpPr>
        <p:spPr>
          <a:xfrm>
            <a:off x="7810500" y="6033900"/>
            <a:ext cx="2681100" cy="162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Google Keep an Eye on Things</a:t>
            </a:r>
            <a:endParaRPr sz="2000">
              <a:solidFill>
                <a:schemeClr val="lt1"/>
              </a:solidFill>
              <a:latin typeface="Roboto"/>
              <a:ea typeface="Roboto"/>
              <a:cs typeface="Roboto"/>
              <a:sym typeface="Roboto"/>
            </a:endParaRPr>
          </a:p>
        </p:txBody>
      </p:sp>
      <p:sp>
        <p:nvSpPr>
          <p:cNvPr id="221" name="Google Shape;221;p41"/>
          <p:cNvSpPr/>
          <p:nvPr/>
        </p:nvSpPr>
        <p:spPr>
          <a:xfrm>
            <a:off x="10801350" y="6033900"/>
            <a:ext cx="2681100" cy="162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Have the Data, but What Are You Doing with It?</a:t>
            </a:r>
            <a:endParaRPr sz="2000">
              <a:solidFill>
                <a:schemeClr val="lt1"/>
              </a:solidFill>
              <a:latin typeface="Roboto"/>
              <a:ea typeface="Roboto"/>
              <a:cs typeface="Roboto"/>
              <a:sym typeface="Roboto"/>
            </a:endParaRPr>
          </a:p>
        </p:txBody>
      </p:sp>
      <p:sp>
        <p:nvSpPr>
          <p:cNvPr id="222" name="Google Shape;222;p41"/>
          <p:cNvSpPr/>
          <p:nvPr/>
        </p:nvSpPr>
        <p:spPr>
          <a:xfrm>
            <a:off x="13792200" y="6033900"/>
            <a:ext cx="2681100" cy="1627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Machines Do the Work</a:t>
            </a:r>
            <a:endParaRPr sz="2000">
              <a:solidFill>
                <a:schemeClr val="lt1"/>
              </a:solidFill>
              <a:latin typeface="Roboto"/>
              <a:ea typeface="Roboto"/>
              <a:cs typeface="Roboto"/>
              <a:sym typeface="Roboto"/>
            </a:endParaRPr>
          </a:p>
        </p:txBody>
      </p:sp>
      <p:sp>
        <p:nvSpPr>
          <p:cNvPr id="223" name="Google Shape;223;p41"/>
          <p:cNvSpPr/>
          <p:nvPr/>
        </p:nvSpPr>
        <p:spPr>
          <a:xfrm>
            <a:off x="1828800" y="7938900"/>
            <a:ext cx="146397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Google Cloud skills badges</a:t>
            </a:r>
            <a:endParaRPr sz="2800">
              <a:solidFill>
                <a:srgbClr val="FFFFFF"/>
              </a:solidFill>
              <a:latin typeface="Roboto"/>
              <a:ea typeface="Roboto"/>
              <a:cs typeface="Roboto"/>
              <a:sym typeface="Roboto"/>
            </a:endParaRPr>
          </a:p>
        </p:txBody>
      </p:sp>
      <p:sp>
        <p:nvSpPr>
          <p:cNvPr id="224" name="Google Shape;224;p4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map</a:t>
            </a:r>
            <a:endParaRPr/>
          </a:p>
        </p:txBody>
      </p:sp>
      <p:sp>
        <p:nvSpPr>
          <p:cNvPr id="225" name="Google Shape;225;p4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 (</a:t>
            </a:r>
            <a:r>
              <a:rPr lang="en"/>
              <a:t>1/2</a:t>
            </a:r>
            <a:r>
              <a:rPr lang="en"/>
              <a:t>)</a:t>
            </a:r>
            <a:endParaRPr/>
          </a:p>
        </p:txBody>
      </p:sp>
      <p:sp>
        <p:nvSpPr>
          <p:cNvPr id="231" name="Google Shape;231;p42"/>
          <p:cNvSpPr txBox="1"/>
          <p:nvPr>
            <p:ph idx="1" type="body"/>
          </p:nvPr>
        </p:nvSpPr>
        <p:spPr>
          <a:xfrm>
            <a:off x="1742475" y="2432125"/>
            <a:ext cx="73344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Describe the different ways a user can interact with Google Cloud</a:t>
            </a:r>
            <a:endParaRPr sz="3000"/>
          </a:p>
          <a:p>
            <a:pPr indent="-419100" lvl="0" marL="457200" rtl="0" algn="l">
              <a:spcBef>
                <a:spcPts val="2000"/>
              </a:spcBef>
              <a:spcAft>
                <a:spcPts val="0"/>
              </a:spcAft>
              <a:buClr>
                <a:schemeClr val="lt1"/>
              </a:buClr>
              <a:buSzPts val="3000"/>
              <a:buFont typeface="Roboto"/>
              <a:buChar char="●"/>
            </a:pPr>
            <a:r>
              <a:rPr lang="en" sz="3000"/>
              <a:t>Discuss how to navigate the Google Cloud environment with the Cloud Console</a:t>
            </a:r>
            <a:endParaRPr sz="3000"/>
          </a:p>
          <a:p>
            <a:pPr indent="-419100" lvl="0" marL="457200" rtl="0" algn="l">
              <a:spcBef>
                <a:spcPts val="2000"/>
              </a:spcBef>
              <a:spcAft>
                <a:spcPts val="0"/>
              </a:spcAft>
              <a:buClr>
                <a:schemeClr val="lt1"/>
              </a:buClr>
              <a:buSzPts val="3000"/>
              <a:buFont typeface="Roboto"/>
              <a:buChar char="●"/>
            </a:pPr>
            <a:r>
              <a:rPr lang="en" sz="3000"/>
              <a:t>Explain the purpose and process of creating Google Cloud projects</a:t>
            </a:r>
            <a:endParaRPr sz="3000"/>
          </a:p>
          <a:p>
            <a:pPr indent="-419100" lvl="0" marL="457200" rtl="0" algn="l">
              <a:spcBef>
                <a:spcPts val="2000"/>
              </a:spcBef>
              <a:spcAft>
                <a:spcPts val="0"/>
              </a:spcAft>
              <a:buClr>
                <a:schemeClr val="lt1"/>
              </a:buClr>
              <a:buSzPts val="3000"/>
              <a:buFont typeface="Roboto"/>
              <a:buChar char="●"/>
            </a:pPr>
            <a:r>
              <a:rPr lang="en" sz="3000"/>
              <a:t>Explain how billing works in Google Cloud</a:t>
            </a:r>
            <a:endParaRPr sz="3000"/>
          </a:p>
          <a:p>
            <a:pPr indent="-419100" lvl="0" marL="457200" rtl="0" algn="l">
              <a:spcBef>
                <a:spcPts val="2000"/>
              </a:spcBef>
              <a:spcAft>
                <a:spcPts val="0"/>
              </a:spcAft>
              <a:buClr>
                <a:schemeClr val="lt1"/>
              </a:buClr>
              <a:buSzPts val="3000"/>
              <a:buFont typeface="Roboto"/>
              <a:buChar char="●"/>
            </a:pPr>
            <a:r>
              <a:rPr lang="en" sz="3000"/>
              <a:t>Detail how to install and set up the</a:t>
            </a:r>
            <a:br>
              <a:rPr lang="en" sz="3000"/>
            </a:br>
            <a:r>
              <a:rPr lang="en" sz="3000"/>
              <a:t>Cloud SDK</a:t>
            </a:r>
            <a:endParaRPr sz="3000"/>
          </a:p>
          <a:p>
            <a:pPr indent="0" lvl="0" marL="0" rtl="0" algn="l">
              <a:spcBef>
                <a:spcPts val="2000"/>
              </a:spcBef>
              <a:spcAft>
                <a:spcPts val="2000"/>
              </a:spcAft>
              <a:buNone/>
            </a:pPr>
            <a:r>
              <a:t/>
            </a:r>
            <a:endParaRPr/>
          </a:p>
        </p:txBody>
      </p:sp>
      <p:pic>
        <p:nvPicPr>
          <p:cNvPr id="232" name="Google Shape;232;p42"/>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33" name="Google Shape;233;p4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 (2/2)</a:t>
            </a:r>
            <a:endParaRPr/>
          </a:p>
        </p:txBody>
      </p:sp>
      <p:sp>
        <p:nvSpPr>
          <p:cNvPr id="239" name="Google Shape;239;p43"/>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Roboto"/>
              <a:buChar char="●"/>
            </a:pPr>
            <a:r>
              <a:rPr lang="en" sz="3000"/>
              <a:t>Describe the different use cases for using Cloud Shell and the Cloud Shell code editor</a:t>
            </a:r>
            <a:endParaRPr sz="3000"/>
          </a:p>
          <a:p>
            <a:pPr indent="-419100" lvl="0" marL="457200" rtl="0" algn="l">
              <a:spcBef>
                <a:spcPts val="2000"/>
              </a:spcBef>
              <a:spcAft>
                <a:spcPts val="0"/>
              </a:spcAft>
              <a:buClr>
                <a:schemeClr val="lt1"/>
              </a:buClr>
              <a:buSzPts val="3000"/>
              <a:buFont typeface="Roboto"/>
              <a:buChar char="●"/>
            </a:pPr>
            <a:r>
              <a:rPr lang="en" sz="3000"/>
              <a:t>Describe how APIs work and how to test Google APIs using Google APIs Explorer</a:t>
            </a:r>
            <a:endParaRPr sz="3000"/>
          </a:p>
          <a:p>
            <a:pPr indent="-419100" lvl="0" marL="457200" rtl="0" algn="l">
              <a:spcBef>
                <a:spcPts val="2000"/>
              </a:spcBef>
              <a:spcAft>
                <a:spcPts val="0"/>
              </a:spcAft>
              <a:buClr>
                <a:schemeClr val="lt1"/>
              </a:buClr>
              <a:buSzPts val="3000"/>
              <a:buFont typeface="Roboto"/>
              <a:buChar char="●"/>
            </a:pPr>
            <a:r>
              <a:rPr lang="en" sz="3000"/>
              <a:t>Discuss how to manage services running on Google Cloud directly from a mobile device</a:t>
            </a:r>
            <a:endParaRPr sz="3000"/>
          </a:p>
          <a:p>
            <a:pPr indent="0" lvl="0" marL="0" rtl="0" algn="l">
              <a:spcBef>
                <a:spcPts val="2000"/>
              </a:spcBef>
              <a:spcAft>
                <a:spcPts val="0"/>
              </a:spcAft>
              <a:buNone/>
            </a:pPr>
            <a:r>
              <a:t/>
            </a:r>
            <a:endParaRPr/>
          </a:p>
        </p:txBody>
      </p:sp>
      <p:pic>
        <p:nvPicPr>
          <p:cNvPr id="240" name="Google Shape;240;p43"/>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41" name="Google Shape;241;p4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4"/>
          <p:cNvSpPr txBox="1"/>
          <p:nvPr>
            <p:ph idx="1" type="body"/>
          </p:nvPr>
        </p:nvSpPr>
        <p:spPr>
          <a:xfrm>
            <a:off x="1701275" y="2432125"/>
            <a:ext cx="74865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a:t>
            </a:r>
            <a:endParaRPr/>
          </a:p>
          <a:p>
            <a:pPr indent="0" lvl="0" marL="0" rtl="0" algn="l">
              <a:spcBef>
                <a:spcPts val="2900"/>
              </a:spcBef>
              <a:spcAft>
                <a:spcPts val="0"/>
              </a:spcAft>
              <a:buNone/>
            </a:pPr>
            <a:r>
              <a:rPr lang="en"/>
              <a:t>Understanding Projects</a:t>
            </a:r>
            <a:endParaRPr/>
          </a:p>
          <a:p>
            <a:pPr indent="0" lvl="0" marL="0" rtl="0" algn="l">
              <a:spcBef>
                <a:spcPts val="2900"/>
              </a:spcBef>
              <a:spcAft>
                <a:spcPts val="0"/>
              </a:spcAft>
              <a:buNone/>
            </a:pPr>
            <a:r>
              <a:rPr lang="en"/>
              <a:t>Billing in Google Cloud</a:t>
            </a:r>
            <a:endParaRPr/>
          </a:p>
          <a:p>
            <a:pPr indent="0" lvl="0" marL="0" rtl="0" algn="l">
              <a:spcBef>
                <a:spcPts val="2900"/>
              </a:spcBef>
              <a:spcAft>
                <a:spcPts val="0"/>
              </a:spcAft>
              <a:buNone/>
            </a:pPr>
            <a:r>
              <a:rPr lang="en"/>
              <a:t>Install and Configure the Cloud SDK</a:t>
            </a:r>
            <a:endParaRPr/>
          </a:p>
          <a:p>
            <a:pPr indent="0" lvl="0" marL="0" rtl="0" algn="l">
              <a:spcBef>
                <a:spcPts val="2900"/>
              </a:spcBef>
              <a:spcAft>
                <a:spcPts val="0"/>
              </a:spcAft>
              <a:buNone/>
            </a:pPr>
            <a:r>
              <a:rPr lang="en"/>
              <a:t>Use Cloud Shell</a:t>
            </a:r>
            <a:endParaRPr/>
          </a:p>
          <a:p>
            <a:pPr indent="0" lvl="0" marL="0" rtl="0" algn="l">
              <a:spcBef>
                <a:spcPts val="2900"/>
              </a:spcBef>
              <a:spcAft>
                <a:spcPts val="0"/>
              </a:spcAft>
              <a:buNone/>
            </a:pPr>
            <a:r>
              <a:rPr lang="en"/>
              <a:t>Lab: A Tour of Qwiklabs and</a:t>
            </a:r>
            <a:br>
              <a:rPr lang="en"/>
            </a:br>
            <a:r>
              <a:rPr lang="en"/>
              <a:t>Google Cloud</a:t>
            </a:r>
            <a:endParaRPr/>
          </a:p>
          <a:p>
            <a:pPr indent="0" lvl="0" marL="0" rtl="0" algn="l">
              <a:spcBef>
                <a:spcPts val="2900"/>
              </a:spcBef>
              <a:spcAft>
                <a:spcPts val="0"/>
              </a:spcAft>
              <a:buNone/>
            </a:pPr>
            <a:r>
              <a:t/>
            </a:r>
            <a:endParaRPr/>
          </a:p>
          <a:p>
            <a:pPr indent="0" lvl="0" marL="0" rtl="0" algn="l">
              <a:spcBef>
                <a:spcPts val="2900"/>
              </a:spcBef>
              <a:spcAft>
                <a:spcPts val="2900"/>
              </a:spcAft>
              <a:buNone/>
            </a:pPr>
            <a:r>
              <a:t/>
            </a:r>
            <a:endParaRPr/>
          </a:p>
        </p:txBody>
      </p:sp>
      <p:sp>
        <p:nvSpPr>
          <p:cNvPr id="247" name="Google Shape;247;p4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(1/2)</a:t>
            </a:r>
            <a:endParaRPr/>
          </a:p>
        </p:txBody>
      </p:sp>
      <p:sp>
        <p:nvSpPr>
          <p:cNvPr id="248" name="Google Shape;248;p4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5"/>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Getting Started with Cloud Shell and gcloud</a:t>
            </a:r>
            <a:endParaRPr/>
          </a:p>
          <a:p>
            <a:pPr indent="0" lvl="0" marL="0" rtl="0" algn="l">
              <a:spcBef>
                <a:spcPts val="2900"/>
              </a:spcBef>
              <a:spcAft>
                <a:spcPts val="0"/>
              </a:spcAft>
              <a:buNone/>
            </a:pPr>
            <a:r>
              <a:rPr lang="en"/>
              <a:t>Google Cloud APIs</a:t>
            </a:r>
            <a:endParaRPr/>
          </a:p>
          <a:p>
            <a:pPr indent="0" lvl="0" marL="0" rtl="0" algn="l">
              <a:spcBef>
                <a:spcPts val="2900"/>
              </a:spcBef>
              <a:spcAft>
                <a:spcPts val="0"/>
              </a:spcAft>
              <a:buNone/>
            </a:pPr>
            <a:r>
              <a:rPr lang="en"/>
              <a:t>Cloud Console Mobile App</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Summary</a:t>
            </a:r>
            <a:endParaRPr/>
          </a:p>
        </p:txBody>
      </p:sp>
      <p:sp>
        <p:nvSpPr>
          <p:cNvPr id="254" name="Google Shape;254;p4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(2/2)</a:t>
            </a:r>
            <a:endParaRPr/>
          </a:p>
        </p:txBody>
      </p:sp>
      <p:sp>
        <p:nvSpPr>
          <p:cNvPr id="255" name="Google Shape;255;p4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6"/>
          <p:cNvSpPr txBox="1"/>
          <p:nvPr>
            <p:ph idx="1" type="body"/>
          </p:nvPr>
        </p:nvSpPr>
        <p:spPr>
          <a:xfrm>
            <a:off x="1701275" y="2432125"/>
            <a:ext cx="74865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The Cloud Console</a:t>
            </a:r>
            <a:endParaRPr>
              <a:solidFill>
                <a:schemeClr val="accent2"/>
              </a:solidFill>
            </a:endParaRPr>
          </a:p>
          <a:p>
            <a:pPr indent="0" lvl="0" marL="0" rtl="0" algn="l">
              <a:spcBef>
                <a:spcPts val="2900"/>
              </a:spcBef>
              <a:spcAft>
                <a:spcPts val="0"/>
              </a:spcAft>
              <a:buNone/>
            </a:pPr>
            <a:r>
              <a:rPr lang="en"/>
              <a:t>Understanding Projects</a:t>
            </a:r>
            <a:endParaRPr/>
          </a:p>
          <a:p>
            <a:pPr indent="0" lvl="0" marL="0" rtl="0" algn="l">
              <a:spcBef>
                <a:spcPts val="2900"/>
              </a:spcBef>
              <a:spcAft>
                <a:spcPts val="0"/>
              </a:spcAft>
              <a:buNone/>
            </a:pPr>
            <a:r>
              <a:rPr lang="en"/>
              <a:t>Billing in Google Cloud</a:t>
            </a:r>
            <a:endParaRPr/>
          </a:p>
          <a:p>
            <a:pPr indent="0" lvl="0" marL="0" rtl="0" algn="l">
              <a:spcBef>
                <a:spcPts val="2900"/>
              </a:spcBef>
              <a:spcAft>
                <a:spcPts val="0"/>
              </a:spcAft>
              <a:buNone/>
            </a:pPr>
            <a:r>
              <a:rPr lang="en"/>
              <a:t>Install and Configure the Cloud SDK</a:t>
            </a:r>
            <a:endParaRPr/>
          </a:p>
          <a:p>
            <a:pPr indent="0" lvl="0" marL="0" rtl="0" algn="l">
              <a:spcBef>
                <a:spcPts val="2900"/>
              </a:spcBef>
              <a:spcAft>
                <a:spcPts val="0"/>
              </a:spcAft>
              <a:buNone/>
            </a:pPr>
            <a:r>
              <a:rPr lang="en"/>
              <a:t>Use Cloud Shell</a:t>
            </a:r>
            <a:endParaRPr/>
          </a:p>
          <a:p>
            <a:pPr indent="0" lvl="0" marL="0" rtl="0" algn="l">
              <a:spcBef>
                <a:spcPts val="2900"/>
              </a:spcBef>
              <a:spcAft>
                <a:spcPts val="0"/>
              </a:spcAft>
              <a:buNone/>
            </a:pPr>
            <a:r>
              <a:rPr lang="en"/>
              <a:t>Lab: A Tour of Qwiklabs and</a:t>
            </a:r>
            <a:br>
              <a:rPr lang="en"/>
            </a:br>
            <a:r>
              <a:rPr lang="en"/>
              <a:t>Google Cloud</a:t>
            </a:r>
            <a:endParaRPr/>
          </a:p>
          <a:p>
            <a:pPr indent="0" lvl="0" marL="0" rtl="0" algn="l">
              <a:spcBef>
                <a:spcPts val="2900"/>
              </a:spcBef>
              <a:spcAft>
                <a:spcPts val="0"/>
              </a:spcAft>
              <a:buNone/>
            </a:pPr>
            <a:r>
              <a:t/>
            </a:r>
            <a:endParaRPr/>
          </a:p>
          <a:p>
            <a:pPr indent="0" lvl="0" marL="0" rtl="0" algn="l">
              <a:spcBef>
                <a:spcPts val="2900"/>
              </a:spcBef>
              <a:spcAft>
                <a:spcPts val="2900"/>
              </a:spcAft>
              <a:buNone/>
            </a:pPr>
            <a:r>
              <a:t/>
            </a:r>
            <a:endParaRPr/>
          </a:p>
        </p:txBody>
      </p:sp>
      <p:sp>
        <p:nvSpPr>
          <p:cNvPr id="261" name="Google Shape;261;p4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262" name="Google Shape;262;p4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grpSp>
        <p:nvGrpSpPr>
          <p:cNvPr id="267" name="Google Shape;267;p47"/>
          <p:cNvGrpSpPr/>
          <p:nvPr/>
        </p:nvGrpSpPr>
        <p:grpSpPr>
          <a:xfrm>
            <a:off x="1752275" y="3182731"/>
            <a:ext cx="3291900" cy="5589119"/>
            <a:chOff x="1676075" y="3182731"/>
            <a:chExt cx="3291900" cy="5589119"/>
          </a:xfrm>
        </p:grpSpPr>
        <p:pic>
          <p:nvPicPr>
            <p:cNvPr id="268" name="Google Shape;268;p47"/>
            <p:cNvPicPr preferRelativeResize="0"/>
            <p:nvPr/>
          </p:nvPicPr>
          <p:blipFill>
            <a:blip r:embed="rId3">
              <a:alphaModFix/>
            </a:blip>
            <a:stretch>
              <a:fillRect/>
            </a:stretch>
          </p:blipFill>
          <p:spPr>
            <a:xfrm>
              <a:off x="2493057" y="3182731"/>
              <a:ext cx="1657936" cy="1459188"/>
            </a:xfrm>
            <a:prstGeom prst="rect">
              <a:avLst/>
            </a:prstGeom>
            <a:noFill/>
            <a:ln>
              <a:noFill/>
            </a:ln>
          </p:spPr>
        </p:pic>
        <p:sp>
          <p:nvSpPr>
            <p:cNvPr id="269" name="Google Shape;269;p47"/>
            <p:cNvSpPr txBox="1"/>
            <p:nvPr/>
          </p:nvSpPr>
          <p:spPr>
            <a:xfrm>
              <a:off x="1676075" y="5114250"/>
              <a:ext cx="3291900" cy="36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chemeClr val="lt1"/>
                  </a:solidFill>
                  <a:latin typeface="Google Sans"/>
                  <a:ea typeface="Google Sans"/>
                  <a:cs typeface="Google Sans"/>
                  <a:sym typeface="Google Sans"/>
                </a:rPr>
                <a:t>Google Cloud Console</a:t>
              </a:r>
              <a:endParaRPr b="1" sz="3400">
                <a:solidFill>
                  <a:schemeClr val="lt1"/>
                </a:solidFill>
                <a:latin typeface="Google Sans"/>
                <a:ea typeface="Google Sans"/>
                <a:cs typeface="Google Sans"/>
                <a:sym typeface="Google Sans"/>
              </a:endParaRPr>
            </a:p>
            <a:p>
              <a:pPr indent="0" lvl="0" marL="0" rtl="0" algn="l">
                <a:spcBef>
                  <a:spcPts val="0"/>
                </a:spcBef>
                <a:spcAft>
                  <a:spcPts val="0"/>
                </a:spcAft>
                <a:buNone/>
              </a:pPr>
              <a:r>
                <a:t/>
              </a:r>
              <a:endParaRPr b="1" sz="3200">
                <a:solidFill>
                  <a:schemeClr val="lt1"/>
                </a:solidFill>
                <a:latin typeface="Google Sans"/>
                <a:ea typeface="Google Sans"/>
                <a:cs typeface="Google Sans"/>
                <a:sym typeface="Google Sans"/>
              </a:endParaRPr>
            </a:p>
            <a:p>
              <a:pPr indent="0" lvl="0" marL="0" rtl="0" algn="l">
                <a:spcBef>
                  <a:spcPts val="0"/>
                </a:spcBef>
                <a:spcAft>
                  <a:spcPts val="0"/>
                </a:spcAft>
                <a:buNone/>
              </a:pPr>
              <a:r>
                <a:rPr lang="en" sz="3300">
                  <a:solidFill>
                    <a:schemeClr val="lt1"/>
                  </a:solidFill>
                  <a:latin typeface="Roboto"/>
                  <a:ea typeface="Roboto"/>
                  <a:cs typeface="Roboto"/>
                  <a:sym typeface="Roboto"/>
                </a:rPr>
                <a:t>Web user interface </a:t>
              </a:r>
              <a:endParaRPr sz="3300">
                <a:solidFill>
                  <a:schemeClr val="lt1"/>
                </a:solidFill>
                <a:latin typeface="Roboto"/>
                <a:ea typeface="Roboto"/>
                <a:cs typeface="Roboto"/>
                <a:sym typeface="Roboto"/>
              </a:endParaRPr>
            </a:p>
          </p:txBody>
        </p:sp>
      </p:grpSp>
      <p:grpSp>
        <p:nvGrpSpPr>
          <p:cNvPr id="270" name="Google Shape;270;p47"/>
          <p:cNvGrpSpPr/>
          <p:nvPr/>
        </p:nvGrpSpPr>
        <p:grpSpPr>
          <a:xfrm>
            <a:off x="5572225" y="3297845"/>
            <a:ext cx="3291900" cy="5474005"/>
            <a:chOff x="5572225" y="3297845"/>
            <a:chExt cx="3291900" cy="5474005"/>
          </a:xfrm>
        </p:grpSpPr>
        <p:grpSp>
          <p:nvGrpSpPr>
            <p:cNvPr id="271" name="Google Shape;271;p47"/>
            <p:cNvGrpSpPr/>
            <p:nvPr/>
          </p:nvGrpSpPr>
          <p:grpSpPr>
            <a:xfrm>
              <a:off x="6223418" y="3297845"/>
              <a:ext cx="1989514" cy="1266072"/>
              <a:chOff x="2008276" y="526172"/>
              <a:chExt cx="663171" cy="414562"/>
            </a:xfrm>
          </p:grpSpPr>
          <p:sp>
            <p:nvSpPr>
              <p:cNvPr id="272" name="Google Shape;272;p47"/>
              <p:cNvSpPr/>
              <p:nvPr/>
            </p:nvSpPr>
            <p:spPr>
              <a:xfrm>
                <a:off x="2054647" y="529734"/>
                <a:ext cx="616800" cy="411000"/>
              </a:xfrm>
              <a:prstGeom prst="rect">
                <a:avLst/>
              </a:prstGeom>
              <a:noFill/>
              <a:ln cap="flat" cmpd="sng" w="28575">
                <a:solidFill>
                  <a:srgbClr val="4381E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73" name="Google Shape;273;p47"/>
              <p:cNvSpPr/>
              <p:nvPr/>
            </p:nvSpPr>
            <p:spPr>
              <a:xfrm>
                <a:off x="2100375" y="573925"/>
                <a:ext cx="527100" cy="322200"/>
              </a:xfrm>
              <a:prstGeom prst="rect">
                <a:avLst/>
              </a:prstGeom>
              <a:solidFill>
                <a:srgbClr val="4381EB"/>
              </a:solidFill>
              <a:ln cap="flat" cmpd="sng" w="28575">
                <a:solidFill>
                  <a:srgbClr val="4381E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74" name="Google Shape;274;p47"/>
              <p:cNvSpPr txBox="1"/>
              <p:nvPr/>
            </p:nvSpPr>
            <p:spPr>
              <a:xfrm>
                <a:off x="2008276" y="526172"/>
                <a:ext cx="505500" cy="291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4000">
                    <a:solidFill>
                      <a:srgbClr val="FFFFFF"/>
                    </a:solidFill>
                    <a:latin typeface="Open Sans"/>
                    <a:ea typeface="Open Sans"/>
                    <a:cs typeface="Open Sans"/>
                    <a:sym typeface="Open Sans"/>
                  </a:rPr>
                  <a:t>&gt;</a:t>
                </a:r>
                <a:r>
                  <a:rPr lang="en" sz="4000">
                    <a:solidFill>
                      <a:srgbClr val="FFFFFF"/>
                    </a:solidFill>
                    <a:latin typeface="Open Sans"/>
                    <a:ea typeface="Open Sans"/>
                    <a:cs typeface="Open Sans"/>
                    <a:sym typeface="Open Sans"/>
                  </a:rPr>
                  <a:t>_</a:t>
                </a:r>
                <a:endParaRPr sz="4000">
                  <a:solidFill>
                    <a:srgbClr val="FFFFFF"/>
                  </a:solidFill>
                  <a:latin typeface="Open Sans"/>
                  <a:ea typeface="Open Sans"/>
                  <a:cs typeface="Open Sans"/>
                  <a:sym typeface="Open Sans"/>
                </a:endParaRPr>
              </a:p>
            </p:txBody>
          </p:sp>
        </p:grpSp>
        <p:sp>
          <p:nvSpPr>
            <p:cNvPr id="275" name="Google Shape;275;p47"/>
            <p:cNvSpPr txBox="1"/>
            <p:nvPr/>
          </p:nvSpPr>
          <p:spPr>
            <a:xfrm>
              <a:off x="5572225" y="5114250"/>
              <a:ext cx="3291900" cy="36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chemeClr val="lt1"/>
                  </a:solidFill>
                  <a:latin typeface="Google Sans"/>
                  <a:ea typeface="Google Sans"/>
                  <a:cs typeface="Google Sans"/>
                  <a:sym typeface="Google Sans"/>
                </a:rPr>
                <a:t>Cloud SDK and Cloud Shell</a:t>
              </a:r>
              <a:endParaRPr b="1" sz="3400">
                <a:solidFill>
                  <a:schemeClr val="lt1"/>
                </a:solidFill>
                <a:latin typeface="Google Sans"/>
                <a:ea typeface="Google Sans"/>
                <a:cs typeface="Google Sans"/>
                <a:sym typeface="Google Sans"/>
              </a:endParaRPr>
            </a:p>
            <a:p>
              <a:pPr indent="0" lvl="0" marL="0" rtl="0" algn="l">
                <a:spcBef>
                  <a:spcPts val="0"/>
                </a:spcBef>
                <a:spcAft>
                  <a:spcPts val="0"/>
                </a:spcAft>
                <a:buNone/>
              </a:pPr>
              <a:r>
                <a:t/>
              </a:r>
              <a:endParaRPr b="1" sz="3200">
                <a:solidFill>
                  <a:schemeClr val="lt1"/>
                </a:solidFill>
                <a:latin typeface="Google Sans"/>
                <a:ea typeface="Google Sans"/>
                <a:cs typeface="Google Sans"/>
                <a:sym typeface="Google Sans"/>
              </a:endParaRPr>
            </a:p>
            <a:p>
              <a:pPr indent="0" lvl="0" marL="0" rtl="0" algn="l">
                <a:spcBef>
                  <a:spcPts val="0"/>
                </a:spcBef>
                <a:spcAft>
                  <a:spcPts val="0"/>
                </a:spcAft>
                <a:buNone/>
              </a:pPr>
              <a:r>
                <a:rPr lang="en" sz="3300">
                  <a:solidFill>
                    <a:schemeClr val="lt1"/>
                  </a:solidFill>
                  <a:latin typeface="Roboto"/>
                  <a:ea typeface="Roboto"/>
                  <a:cs typeface="Roboto"/>
                  <a:sym typeface="Roboto"/>
                </a:rPr>
                <a:t>Command-line interface</a:t>
              </a:r>
              <a:endParaRPr sz="3300">
                <a:solidFill>
                  <a:schemeClr val="lt1"/>
                </a:solidFill>
                <a:latin typeface="Roboto"/>
                <a:ea typeface="Roboto"/>
                <a:cs typeface="Roboto"/>
                <a:sym typeface="Roboto"/>
              </a:endParaRPr>
            </a:p>
          </p:txBody>
        </p:sp>
      </p:grpSp>
      <p:grpSp>
        <p:nvGrpSpPr>
          <p:cNvPr id="276" name="Google Shape;276;p47"/>
          <p:cNvGrpSpPr/>
          <p:nvPr/>
        </p:nvGrpSpPr>
        <p:grpSpPr>
          <a:xfrm>
            <a:off x="13288325" y="3005513"/>
            <a:ext cx="3291900" cy="5766338"/>
            <a:chOff x="13364525" y="3005513"/>
            <a:chExt cx="3291900" cy="5766338"/>
          </a:xfrm>
        </p:grpSpPr>
        <p:pic>
          <p:nvPicPr>
            <p:cNvPr descr="ccma.png" id="277" name="Google Shape;277;p47"/>
            <p:cNvPicPr preferRelativeResize="0"/>
            <p:nvPr/>
          </p:nvPicPr>
          <p:blipFill>
            <a:blip r:embed="rId4">
              <a:alphaModFix/>
            </a:blip>
            <a:stretch>
              <a:fillRect/>
            </a:stretch>
          </p:blipFill>
          <p:spPr>
            <a:xfrm>
              <a:off x="14458177" y="3005513"/>
              <a:ext cx="1104596" cy="1835592"/>
            </a:xfrm>
            <a:prstGeom prst="rect">
              <a:avLst/>
            </a:prstGeom>
            <a:noFill/>
            <a:ln>
              <a:noFill/>
            </a:ln>
          </p:spPr>
        </p:pic>
        <p:sp>
          <p:nvSpPr>
            <p:cNvPr id="278" name="Google Shape;278;p47"/>
            <p:cNvSpPr txBox="1"/>
            <p:nvPr/>
          </p:nvSpPr>
          <p:spPr>
            <a:xfrm>
              <a:off x="13364525" y="5114250"/>
              <a:ext cx="3291900" cy="36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chemeClr val="lt1"/>
                  </a:solidFill>
                  <a:latin typeface="Google Sans"/>
                  <a:ea typeface="Google Sans"/>
                  <a:cs typeface="Google Sans"/>
                  <a:sym typeface="Google Sans"/>
                </a:rPr>
                <a:t>Cloud Console mobile app</a:t>
              </a:r>
              <a:endParaRPr b="1" sz="3400">
                <a:solidFill>
                  <a:schemeClr val="lt1"/>
                </a:solidFill>
                <a:latin typeface="Google Sans"/>
                <a:ea typeface="Google Sans"/>
                <a:cs typeface="Google Sans"/>
                <a:sym typeface="Google Sans"/>
              </a:endParaRPr>
            </a:p>
            <a:p>
              <a:pPr indent="0" lvl="0" marL="0" rtl="0" algn="l">
                <a:spcBef>
                  <a:spcPts val="0"/>
                </a:spcBef>
                <a:spcAft>
                  <a:spcPts val="0"/>
                </a:spcAft>
                <a:buNone/>
              </a:pPr>
              <a:r>
                <a:t/>
              </a:r>
              <a:endParaRPr b="1" sz="3200">
                <a:solidFill>
                  <a:schemeClr val="lt1"/>
                </a:solidFill>
                <a:latin typeface="Google Sans"/>
                <a:ea typeface="Google Sans"/>
                <a:cs typeface="Google Sans"/>
                <a:sym typeface="Google Sans"/>
              </a:endParaRPr>
            </a:p>
            <a:p>
              <a:pPr indent="0" lvl="0" marL="0" rtl="0" algn="l">
                <a:spcBef>
                  <a:spcPts val="0"/>
                </a:spcBef>
                <a:spcAft>
                  <a:spcPts val="0"/>
                </a:spcAft>
                <a:buNone/>
              </a:pPr>
              <a:r>
                <a:rPr lang="en" sz="3300">
                  <a:solidFill>
                    <a:schemeClr val="lt1"/>
                  </a:solidFill>
                  <a:latin typeface="Roboto"/>
                  <a:ea typeface="Roboto"/>
                  <a:cs typeface="Roboto"/>
                  <a:sym typeface="Roboto"/>
                </a:rPr>
                <a:t>For iOS and Android</a:t>
              </a:r>
              <a:endParaRPr sz="3300">
                <a:solidFill>
                  <a:schemeClr val="lt1"/>
                </a:solidFill>
                <a:latin typeface="Roboto"/>
                <a:ea typeface="Roboto"/>
                <a:cs typeface="Roboto"/>
                <a:sym typeface="Roboto"/>
              </a:endParaRPr>
            </a:p>
          </p:txBody>
        </p:sp>
      </p:grpSp>
      <p:grpSp>
        <p:nvGrpSpPr>
          <p:cNvPr id="279" name="Google Shape;279;p47"/>
          <p:cNvGrpSpPr/>
          <p:nvPr/>
        </p:nvGrpSpPr>
        <p:grpSpPr>
          <a:xfrm>
            <a:off x="9468375" y="3502037"/>
            <a:ext cx="3291900" cy="5269813"/>
            <a:chOff x="9468375" y="3502037"/>
            <a:chExt cx="3291900" cy="5269813"/>
          </a:xfrm>
        </p:grpSpPr>
        <p:grpSp>
          <p:nvGrpSpPr>
            <p:cNvPr id="280" name="Google Shape;280;p47"/>
            <p:cNvGrpSpPr/>
            <p:nvPr/>
          </p:nvGrpSpPr>
          <p:grpSpPr>
            <a:xfrm>
              <a:off x="10391285" y="3502037"/>
              <a:ext cx="1446080" cy="755150"/>
              <a:chOff x="3107225" y="3467350"/>
              <a:chExt cx="482027" cy="251700"/>
            </a:xfrm>
          </p:grpSpPr>
          <p:cxnSp>
            <p:nvCxnSpPr>
              <p:cNvPr id="281" name="Google Shape;281;p47"/>
              <p:cNvCxnSpPr/>
              <p:nvPr/>
            </p:nvCxnSpPr>
            <p:spPr>
              <a:xfrm rot="10800000">
                <a:off x="3177622" y="3593208"/>
                <a:ext cx="245400" cy="0"/>
              </a:xfrm>
              <a:prstGeom prst="straightConnector1">
                <a:avLst/>
              </a:prstGeom>
              <a:noFill/>
              <a:ln cap="flat" cmpd="sng" w="76200">
                <a:solidFill>
                  <a:srgbClr val="139E58"/>
                </a:solidFill>
                <a:prstDash val="solid"/>
                <a:round/>
                <a:headEnd len="med" w="med" type="none"/>
                <a:tailEnd len="med" w="med" type="none"/>
              </a:ln>
            </p:spPr>
          </p:cxnSp>
          <p:sp>
            <p:nvSpPr>
              <p:cNvPr id="282" name="Google Shape;282;p47"/>
              <p:cNvSpPr/>
              <p:nvPr/>
            </p:nvSpPr>
            <p:spPr>
              <a:xfrm rot="10800000">
                <a:off x="3375352" y="3479802"/>
                <a:ext cx="213900" cy="226800"/>
              </a:xfrm>
              <a:prstGeom prst="ellipse">
                <a:avLst/>
              </a:prstGeom>
              <a:solidFill>
                <a:srgbClr val="4285F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83" name="Google Shape;283;p47"/>
              <p:cNvSpPr/>
              <p:nvPr/>
            </p:nvSpPr>
            <p:spPr>
              <a:xfrm flipH="1">
                <a:off x="3107225" y="3467350"/>
                <a:ext cx="124800" cy="251700"/>
              </a:xfrm>
              <a:prstGeom prst="flowChartDelay">
                <a:avLst/>
              </a:prstGeom>
              <a:solidFill>
                <a:srgbClr val="0D6B37"/>
              </a:solidFill>
              <a:ln cap="flat" cmpd="sng" w="19050">
                <a:solidFill>
                  <a:srgbClr val="0D6B37"/>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sp>
          <p:nvSpPr>
            <p:cNvPr id="284" name="Google Shape;284;p47"/>
            <p:cNvSpPr txBox="1"/>
            <p:nvPr/>
          </p:nvSpPr>
          <p:spPr>
            <a:xfrm>
              <a:off x="9468375" y="5114250"/>
              <a:ext cx="3291900" cy="36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chemeClr val="lt1"/>
                  </a:solidFill>
                  <a:latin typeface="Google Sans"/>
                  <a:ea typeface="Google Sans"/>
                  <a:cs typeface="Google Sans"/>
                  <a:sym typeface="Google Sans"/>
                </a:rPr>
                <a:t>REST-based</a:t>
              </a:r>
              <a:endParaRPr b="1" sz="3400">
                <a:solidFill>
                  <a:schemeClr val="lt1"/>
                </a:solidFill>
                <a:latin typeface="Google Sans"/>
                <a:ea typeface="Google Sans"/>
                <a:cs typeface="Google Sans"/>
                <a:sym typeface="Google Sans"/>
              </a:endParaRPr>
            </a:p>
            <a:p>
              <a:pPr indent="0" lvl="0" marL="0" rtl="0" algn="l">
                <a:spcBef>
                  <a:spcPts val="0"/>
                </a:spcBef>
                <a:spcAft>
                  <a:spcPts val="0"/>
                </a:spcAft>
                <a:buNone/>
              </a:pPr>
              <a:r>
                <a:rPr b="1" lang="en" sz="3400">
                  <a:solidFill>
                    <a:schemeClr val="lt1"/>
                  </a:solidFill>
                  <a:latin typeface="Google Sans"/>
                  <a:ea typeface="Google Sans"/>
                  <a:cs typeface="Google Sans"/>
                  <a:sym typeface="Google Sans"/>
                </a:rPr>
                <a:t>API</a:t>
              </a:r>
              <a:endParaRPr b="1" sz="3400">
                <a:solidFill>
                  <a:schemeClr val="lt1"/>
                </a:solidFill>
                <a:latin typeface="Google Sans"/>
                <a:ea typeface="Google Sans"/>
                <a:cs typeface="Google Sans"/>
                <a:sym typeface="Google Sans"/>
              </a:endParaRPr>
            </a:p>
            <a:p>
              <a:pPr indent="0" lvl="0" marL="0" rtl="0" algn="l">
                <a:spcBef>
                  <a:spcPts val="0"/>
                </a:spcBef>
                <a:spcAft>
                  <a:spcPts val="0"/>
                </a:spcAft>
                <a:buNone/>
              </a:pPr>
              <a:r>
                <a:t/>
              </a:r>
              <a:endParaRPr b="1" sz="3200">
                <a:solidFill>
                  <a:schemeClr val="lt1"/>
                </a:solidFill>
                <a:latin typeface="Google Sans"/>
                <a:ea typeface="Google Sans"/>
                <a:cs typeface="Google Sans"/>
                <a:sym typeface="Google Sans"/>
              </a:endParaRPr>
            </a:p>
            <a:p>
              <a:pPr indent="0" lvl="0" marL="0" rtl="0" algn="l">
                <a:spcBef>
                  <a:spcPts val="0"/>
                </a:spcBef>
                <a:spcAft>
                  <a:spcPts val="0"/>
                </a:spcAft>
                <a:buNone/>
              </a:pPr>
              <a:r>
                <a:rPr lang="en" sz="3300">
                  <a:solidFill>
                    <a:schemeClr val="lt1"/>
                  </a:solidFill>
                  <a:latin typeface="Roboto"/>
                  <a:ea typeface="Roboto"/>
                  <a:cs typeface="Roboto"/>
                  <a:sym typeface="Roboto"/>
                </a:rPr>
                <a:t>For custom  applications</a:t>
              </a:r>
              <a:endParaRPr sz="3300">
                <a:solidFill>
                  <a:schemeClr val="lt1"/>
                </a:solidFill>
                <a:latin typeface="Roboto"/>
                <a:ea typeface="Roboto"/>
                <a:cs typeface="Roboto"/>
                <a:sym typeface="Roboto"/>
              </a:endParaRPr>
            </a:p>
          </p:txBody>
        </p:sp>
      </p:grpSp>
      <p:cxnSp>
        <p:nvCxnSpPr>
          <p:cNvPr id="285" name="Google Shape;285;p47"/>
          <p:cNvCxnSpPr/>
          <p:nvPr/>
        </p:nvCxnSpPr>
        <p:spPr>
          <a:xfrm flipH="1">
            <a:off x="5176950" y="3038100"/>
            <a:ext cx="9300" cy="5120700"/>
          </a:xfrm>
          <a:prstGeom prst="straightConnector1">
            <a:avLst/>
          </a:prstGeom>
          <a:noFill/>
          <a:ln cap="flat" cmpd="sng" w="19050">
            <a:solidFill>
              <a:schemeClr val="dk2"/>
            </a:solidFill>
            <a:prstDash val="dash"/>
            <a:round/>
            <a:headEnd len="med" w="med" type="none"/>
            <a:tailEnd len="med" w="med" type="none"/>
          </a:ln>
        </p:spPr>
      </p:cxnSp>
      <p:cxnSp>
        <p:nvCxnSpPr>
          <p:cNvPr id="286" name="Google Shape;286;p47"/>
          <p:cNvCxnSpPr/>
          <p:nvPr/>
        </p:nvCxnSpPr>
        <p:spPr>
          <a:xfrm flipH="1">
            <a:off x="9101250" y="3038100"/>
            <a:ext cx="9300" cy="5120700"/>
          </a:xfrm>
          <a:prstGeom prst="straightConnector1">
            <a:avLst/>
          </a:prstGeom>
          <a:noFill/>
          <a:ln cap="flat" cmpd="sng" w="19050">
            <a:solidFill>
              <a:schemeClr val="dk2"/>
            </a:solidFill>
            <a:prstDash val="dash"/>
            <a:round/>
            <a:headEnd len="med" w="med" type="none"/>
            <a:tailEnd len="med" w="med" type="none"/>
          </a:ln>
        </p:spPr>
      </p:cxnSp>
      <p:cxnSp>
        <p:nvCxnSpPr>
          <p:cNvPr id="287" name="Google Shape;287;p47"/>
          <p:cNvCxnSpPr/>
          <p:nvPr/>
        </p:nvCxnSpPr>
        <p:spPr>
          <a:xfrm flipH="1">
            <a:off x="12796950" y="3038100"/>
            <a:ext cx="9300" cy="5120700"/>
          </a:xfrm>
          <a:prstGeom prst="straightConnector1">
            <a:avLst/>
          </a:prstGeom>
          <a:noFill/>
          <a:ln cap="flat" cmpd="sng" w="19050">
            <a:solidFill>
              <a:schemeClr val="dk2"/>
            </a:solidFill>
            <a:prstDash val="dash"/>
            <a:round/>
            <a:headEnd len="med" w="med" type="none"/>
            <a:tailEnd len="med" w="med" type="none"/>
          </a:ln>
        </p:spPr>
      </p:cxnSp>
      <p:sp>
        <p:nvSpPr>
          <p:cNvPr id="288" name="Google Shape;288;p4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four ways to interact with Google Cloud</a:t>
            </a:r>
            <a:endParaRPr/>
          </a:p>
        </p:txBody>
      </p:sp>
      <p:sp>
        <p:nvSpPr>
          <p:cNvPr id="289" name="Google Shape;289;p4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grpSp>
        <p:nvGrpSpPr>
          <p:cNvPr id="294" name="Google Shape;294;p48"/>
          <p:cNvGrpSpPr/>
          <p:nvPr/>
        </p:nvGrpSpPr>
        <p:grpSpPr>
          <a:xfrm>
            <a:off x="9463550" y="3393447"/>
            <a:ext cx="7445625" cy="5194593"/>
            <a:chOff x="1828800" y="2954463"/>
            <a:chExt cx="6309851" cy="4378081"/>
          </a:xfrm>
        </p:grpSpPr>
        <p:pic>
          <p:nvPicPr>
            <p:cNvPr id="295" name="Google Shape;295;p48"/>
            <p:cNvPicPr preferRelativeResize="0"/>
            <p:nvPr/>
          </p:nvPicPr>
          <p:blipFill>
            <a:blip r:embed="rId3">
              <a:alphaModFix/>
            </a:blip>
            <a:stretch>
              <a:fillRect/>
            </a:stretch>
          </p:blipFill>
          <p:spPr>
            <a:xfrm>
              <a:off x="1828800" y="2954463"/>
              <a:ext cx="6309851" cy="4378081"/>
            </a:xfrm>
            <a:prstGeom prst="rect">
              <a:avLst/>
            </a:prstGeom>
            <a:noFill/>
            <a:ln>
              <a:noFill/>
            </a:ln>
          </p:spPr>
        </p:pic>
        <p:sp>
          <p:nvSpPr>
            <p:cNvPr id="296" name="Google Shape;296;p48"/>
            <p:cNvSpPr/>
            <p:nvPr/>
          </p:nvSpPr>
          <p:spPr>
            <a:xfrm>
              <a:off x="4755450" y="6180675"/>
              <a:ext cx="465600" cy="155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4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 provides a web-based GUI for you to manage Google Cloud projects and resources</a:t>
            </a:r>
            <a:endParaRPr/>
          </a:p>
        </p:txBody>
      </p:sp>
      <p:sp>
        <p:nvSpPr>
          <p:cNvPr id="298" name="Google Shape;298;p48"/>
          <p:cNvSpPr txBox="1"/>
          <p:nvPr>
            <p:ph idx="1" type="body"/>
          </p:nvPr>
        </p:nvSpPr>
        <p:spPr>
          <a:xfrm>
            <a:off x="1742475" y="2736925"/>
            <a:ext cx="7251900" cy="64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Centralized console for all project data.</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Execute common tasks using simple mouse clicks.</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Manage and create projects.</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Access developer tools:</a:t>
            </a:r>
            <a:endParaRPr/>
          </a:p>
          <a:p>
            <a:pPr indent="-406400" lvl="1" marL="914400" rtl="0" algn="l">
              <a:spcBef>
                <a:spcPts val="0"/>
              </a:spcBef>
              <a:spcAft>
                <a:spcPts val="0"/>
              </a:spcAft>
              <a:buSzPts val="2800"/>
              <a:buChar char="○"/>
            </a:pPr>
            <a:r>
              <a:rPr lang="en"/>
              <a:t>Cloud Source Repositories</a:t>
            </a:r>
            <a:endParaRPr/>
          </a:p>
          <a:p>
            <a:pPr indent="-406400" lvl="1" marL="914400" rtl="0" algn="l">
              <a:spcBef>
                <a:spcPts val="0"/>
              </a:spcBef>
              <a:spcAft>
                <a:spcPts val="0"/>
              </a:spcAft>
              <a:buSzPts val="2800"/>
              <a:buChar char="○"/>
            </a:pPr>
            <a:r>
              <a:rPr lang="en"/>
              <a:t>Cloud SDK</a:t>
            </a:r>
            <a:endParaRPr/>
          </a:p>
          <a:p>
            <a:pPr indent="-406400" lvl="1" marL="914400" rtl="0" algn="l">
              <a:spcBef>
                <a:spcPts val="0"/>
              </a:spcBef>
              <a:spcAft>
                <a:spcPts val="0"/>
              </a:spcAft>
              <a:buSzPts val="2800"/>
              <a:buChar char="○"/>
            </a:pPr>
            <a:r>
              <a:rPr lang="en"/>
              <a:t>Cloud Shell</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Access to product APIs.</a:t>
            </a:r>
            <a:endParaRPr/>
          </a:p>
        </p:txBody>
      </p:sp>
      <p:sp>
        <p:nvSpPr>
          <p:cNvPr id="299" name="Google Shape;299;p4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p:nvPr/>
        </p:nvSpPr>
        <p:spPr>
          <a:xfrm>
            <a:off x="4656425" y="5357825"/>
            <a:ext cx="1401000" cy="21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9"/>
          <p:cNvSpPr/>
          <p:nvPr/>
        </p:nvSpPr>
        <p:spPr>
          <a:xfrm>
            <a:off x="4656425" y="5899900"/>
            <a:ext cx="1401000" cy="21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6" name="Google Shape;306;p49"/>
          <p:cNvPicPr preferRelativeResize="0"/>
          <p:nvPr/>
        </p:nvPicPr>
        <p:blipFill>
          <a:blip r:embed="rId3">
            <a:alphaModFix/>
          </a:blip>
          <a:stretch>
            <a:fillRect/>
          </a:stretch>
        </p:blipFill>
        <p:spPr>
          <a:xfrm>
            <a:off x="1746504" y="2341100"/>
            <a:ext cx="12379598" cy="6865676"/>
          </a:xfrm>
          <a:prstGeom prst="rect">
            <a:avLst/>
          </a:prstGeom>
          <a:noFill/>
          <a:ln>
            <a:noFill/>
          </a:ln>
        </p:spPr>
      </p:pic>
      <p:sp>
        <p:nvSpPr>
          <p:cNvPr id="307" name="Google Shape;307;p4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Logging in to the Cloud Console</a:t>
            </a:r>
            <a:endParaRPr/>
          </a:p>
        </p:txBody>
      </p:sp>
      <p:sp>
        <p:nvSpPr>
          <p:cNvPr id="308" name="Google Shape;308;p4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50"/>
          <p:cNvPicPr preferRelativeResize="0"/>
          <p:nvPr/>
        </p:nvPicPr>
        <p:blipFill rotWithShape="1">
          <a:blip r:embed="rId3">
            <a:alphaModFix/>
          </a:blip>
          <a:srcRect b="0" l="0" r="24744" t="0"/>
          <a:stretch/>
        </p:blipFill>
        <p:spPr>
          <a:xfrm>
            <a:off x="4885150" y="2395025"/>
            <a:ext cx="8091814" cy="6652667"/>
          </a:xfrm>
          <a:prstGeom prst="rect">
            <a:avLst/>
          </a:prstGeom>
          <a:noFill/>
          <a:ln>
            <a:noFill/>
          </a:ln>
        </p:spPr>
      </p:pic>
      <p:sp>
        <p:nvSpPr>
          <p:cNvPr id="314" name="Google Shape;314;p50"/>
          <p:cNvSpPr/>
          <p:nvPr/>
        </p:nvSpPr>
        <p:spPr>
          <a:xfrm>
            <a:off x="4988697" y="3095728"/>
            <a:ext cx="805500" cy="604200"/>
          </a:xfrm>
          <a:prstGeom prst="roundRect">
            <a:avLst>
              <a:gd fmla="val 16667" name="adj"/>
            </a:avLst>
          </a:prstGeom>
          <a:noFill/>
          <a:ln cap="flat" cmpd="sng" w="762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Interacting with the Cloud Console</a:t>
            </a:r>
            <a:endParaRPr/>
          </a:p>
        </p:txBody>
      </p:sp>
      <p:sp>
        <p:nvSpPr>
          <p:cNvPr id="316" name="Google Shape;316;p5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1"/>
          <p:cNvSpPr txBox="1"/>
          <p:nvPr>
            <p:ph idx="1" type="body"/>
          </p:nvPr>
        </p:nvSpPr>
        <p:spPr>
          <a:xfrm>
            <a:off x="1701275" y="2432125"/>
            <a:ext cx="7457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a:t>
            </a:r>
            <a:endParaRPr/>
          </a:p>
          <a:p>
            <a:pPr indent="0" lvl="0" marL="0" rtl="0" algn="l">
              <a:spcBef>
                <a:spcPts val="2900"/>
              </a:spcBef>
              <a:spcAft>
                <a:spcPts val="0"/>
              </a:spcAft>
              <a:buNone/>
            </a:pPr>
            <a:r>
              <a:rPr lang="en">
                <a:solidFill>
                  <a:schemeClr val="accent2"/>
                </a:solidFill>
              </a:rPr>
              <a:t>Understanding Projects</a:t>
            </a:r>
            <a:endParaRPr>
              <a:solidFill>
                <a:schemeClr val="accent2"/>
              </a:solidFill>
            </a:endParaRPr>
          </a:p>
          <a:p>
            <a:pPr indent="0" lvl="0" marL="0" rtl="0" algn="l">
              <a:spcBef>
                <a:spcPts val="2900"/>
              </a:spcBef>
              <a:spcAft>
                <a:spcPts val="0"/>
              </a:spcAft>
              <a:buNone/>
            </a:pPr>
            <a:r>
              <a:rPr lang="en"/>
              <a:t>Billing in Google Cloud</a:t>
            </a:r>
            <a:endParaRPr/>
          </a:p>
          <a:p>
            <a:pPr indent="0" lvl="0" marL="0" rtl="0" algn="l">
              <a:spcBef>
                <a:spcPts val="2900"/>
              </a:spcBef>
              <a:spcAft>
                <a:spcPts val="0"/>
              </a:spcAft>
              <a:buNone/>
            </a:pPr>
            <a:r>
              <a:rPr lang="en"/>
              <a:t>Install and Configure the Cloud SDK</a:t>
            </a:r>
            <a:endParaRPr/>
          </a:p>
          <a:p>
            <a:pPr indent="0" lvl="0" marL="0" rtl="0" algn="l">
              <a:spcBef>
                <a:spcPts val="2900"/>
              </a:spcBef>
              <a:spcAft>
                <a:spcPts val="0"/>
              </a:spcAft>
              <a:buNone/>
            </a:pPr>
            <a:r>
              <a:rPr lang="en"/>
              <a:t>Use Cloud Shell</a:t>
            </a:r>
            <a:endParaRPr/>
          </a:p>
          <a:p>
            <a:pPr indent="0" lvl="0" marL="0" rtl="0" algn="l">
              <a:spcBef>
                <a:spcPts val="2900"/>
              </a:spcBef>
              <a:spcAft>
                <a:spcPts val="2900"/>
              </a:spcAft>
              <a:buNone/>
            </a:pPr>
            <a:r>
              <a:rPr lang="en"/>
              <a:t>Lab: A Tour of Qwiklabs and</a:t>
            </a:r>
            <a:br>
              <a:rPr lang="en"/>
            </a:br>
            <a:r>
              <a:rPr lang="en"/>
              <a:t>Google Cloud</a:t>
            </a:r>
            <a:endParaRPr/>
          </a:p>
        </p:txBody>
      </p:sp>
      <p:sp>
        <p:nvSpPr>
          <p:cNvPr id="322" name="Google Shape;322;p5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23" name="Google Shape;323;p5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52"/>
          <p:cNvPicPr preferRelativeResize="0"/>
          <p:nvPr/>
        </p:nvPicPr>
        <p:blipFill>
          <a:blip r:embed="rId3">
            <a:alphaModFix/>
          </a:blip>
          <a:stretch>
            <a:fillRect/>
          </a:stretch>
        </p:blipFill>
        <p:spPr>
          <a:xfrm>
            <a:off x="10761900" y="2979134"/>
            <a:ext cx="3105028" cy="2675593"/>
          </a:xfrm>
          <a:prstGeom prst="rect">
            <a:avLst/>
          </a:prstGeom>
          <a:noFill/>
          <a:ln>
            <a:noFill/>
          </a:ln>
        </p:spPr>
      </p:pic>
      <p:pic>
        <p:nvPicPr>
          <p:cNvPr id="329" name="Google Shape;329;p52"/>
          <p:cNvPicPr preferRelativeResize="0"/>
          <p:nvPr/>
        </p:nvPicPr>
        <p:blipFill>
          <a:blip r:embed="rId4">
            <a:alphaModFix/>
          </a:blip>
          <a:stretch>
            <a:fillRect/>
          </a:stretch>
        </p:blipFill>
        <p:spPr>
          <a:xfrm>
            <a:off x="10599200" y="6453655"/>
            <a:ext cx="3430429" cy="2690861"/>
          </a:xfrm>
          <a:prstGeom prst="rect">
            <a:avLst/>
          </a:prstGeom>
          <a:noFill/>
          <a:ln>
            <a:noFill/>
          </a:ln>
        </p:spPr>
      </p:pic>
      <p:sp>
        <p:nvSpPr>
          <p:cNvPr id="330" name="Google Shape;330;p5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Google Cloud service you use is associated</a:t>
            </a:r>
            <a:endParaRPr/>
          </a:p>
          <a:p>
            <a:pPr indent="0" lvl="0" marL="0" rtl="0" algn="l">
              <a:spcBef>
                <a:spcPts val="0"/>
              </a:spcBef>
              <a:spcAft>
                <a:spcPts val="0"/>
              </a:spcAft>
              <a:buNone/>
            </a:pPr>
            <a:r>
              <a:rPr lang="en"/>
              <a:t>with a project</a:t>
            </a:r>
            <a:endParaRPr/>
          </a:p>
        </p:txBody>
      </p:sp>
      <p:sp>
        <p:nvSpPr>
          <p:cNvPr id="331" name="Google Shape;331;p52"/>
          <p:cNvSpPr txBox="1"/>
          <p:nvPr>
            <p:ph idx="1" type="body"/>
          </p:nvPr>
        </p:nvSpPr>
        <p:spPr>
          <a:xfrm>
            <a:off x="1742475" y="2750525"/>
            <a:ext cx="7251900" cy="645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3400"/>
          </a:p>
          <a:p>
            <a:pPr indent="-412750" lvl="0" marL="457200" rtl="0" algn="l">
              <a:spcBef>
                <a:spcPts val="0"/>
              </a:spcBef>
              <a:spcAft>
                <a:spcPts val="0"/>
              </a:spcAft>
              <a:buSzPts val="2900"/>
              <a:buChar char="●"/>
            </a:pPr>
            <a:r>
              <a:rPr lang="en" sz="2900"/>
              <a:t>Enable services and </a:t>
            </a:r>
            <a:r>
              <a:rPr lang="en" sz="2900"/>
              <a:t>APIs</a:t>
            </a:r>
            <a:r>
              <a:rPr lang="en" sz="2900"/>
              <a:t>.</a:t>
            </a:r>
            <a:endParaRPr sz="2900"/>
          </a:p>
          <a:p>
            <a:pPr indent="0" lvl="0" marL="0" rtl="0" algn="l">
              <a:spcBef>
                <a:spcPts val="0"/>
              </a:spcBef>
              <a:spcAft>
                <a:spcPts val="0"/>
              </a:spcAft>
              <a:buNone/>
            </a:pPr>
            <a:r>
              <a:t/>
            </a:r>
            <a:endParaRPr sz="2900"/>
          </a:p>
          <a:p>
            <a:pPr indent="-412750" lvl="0" marL="457200" rtl="0" algn="l">
              <a:spcBef>
                <a:spcPts val="0"/>
              </a:spcBef>
              <a:spcAft>
                <a:spcPts val="0"/>
              </a:spcAft>
              <a:buSzPts val="2900"/>
              <a:buChar char="●"/>
            </a:pPr>
            <a:r>
              <a:rPr lang="en" sz="2900"/>
              <a:t>Enable billing.</a:t>
            </a:r>
            <a:endParaRPr sz="2900"/>
          </a:p>
          <a:p>
            <a:pPr indent="0" lvl="0" marL="0" rtl="0" algn="l">
              <a:spcBef>
                <a:spcPts val="0"/>
              </a:spcBef>
              <a:spcAft>
                <a:spcPts val="0"/>
              </a:spcAft>
              <a:buNone/>
            </a:pPr>
            <a:r>
              <a:t/>
            </a:r>
            <a:endParaRPr sz="2900"/>
          </a:p>
          <a:p>
            <a:pPr indent="-412750" lvl="0" marL="457200" rtl="0" algn="l">
              <a:spcBef>
                <a:spcPts val="0"/>
              </a:spcBef>
              <a:spcAft>
                <a:spcPts val="0"/>
              </a:spcAft>
              <a:buSzPts val="2900"/>
              <a:buChar char="●"/>
            </a:pPr>
            <a:r>
              <a:rPr lang="en" sz="2900"/>
              <a:t>Manage permissions and credentials.</a:t>
            </a:r>
            <a:endParaRPr sz="2900"/>
          </a:p>
          <a:p>
            <a:pPr indent="0" lvl="0" marL="0" rtl="0" algn="l">
              <a:spcBef>
                <a:spcPts val="0"/>
              </a:spcBef>
              <a:spcAft>
                <a:spcPts val="0"/>
              </a:spcAft>
              <a:buNone/>
            </a:pPr>
            <a:r>
              <a:t/>
            </a:r>
            <a:endParaRPr sz="2900"/>
          </a:p>
          <a:p>
            <a:pPr indent="-412750" lvl="0" marL="457200" rtl="0" algn="l">
              <a:spcBef>
                <a:spcPts val="0"/>
              </a:spcBef>
              <a:spcAft>
                <a:spcPts val="0"/>
              </a:spcAft>
              <a:buSzPts val="2900"/>
              <a:buChar char="●"/>
            </a:pPr>
            <a:r>
              <a:rPr lang="en" sz="2900"/>
              <a:t>Track resource and quota usage.</a:t>
            </a:r>
            <a:endParaRPr sz="2900"/>
          </a:p>
          <a:p>
            <a:pPr indent="0" lvl="0" marL="0" rtl="0" algn="l">
              <a:spcBef>
                <a:spcPts val="0"/>
              </a:spcBef>
              <a:spcAft>
                <a:spcPts val="0"/>
              </a:spcAft>
              <a:buNone/>
            </a:pPr>
            <a:r>
              <a:t/>
            </a:r>
            <a:endParaRPr sz="2900"/>
          </a:p>
          <a:p>
            <a:pPr indent="-412750" lvl="0" marL="457200" rtl="0" algn="l">
              <a:spcBef>
                <a:spcPts val="0"/>
              </a:spcBef>
              <a:spcAft>
                <a:spcPts val="0"/>
              </a:spcAft>
              <a:buSzPts val="2900"/>
              <a:buChar char="●"/>
            </a:pPr>
            <a:r>
              <a:rPr lang="en" sz="2900"/>
              <a:t>Programmatically manage your projects in Google Cloud.</a:t>
            </a:r>
            <a:endParaRPr sz="2900"/>
          </a:p>
          <a:p>
            <a:pPr indent="0" lvl="0" marL="0" rtl="0" algn="l">
              <a:spcBef>
                <a:spcPts val="0"/>
              </a:spcBef>
              <a:spcAft>
                <a:spcPts val="0"/>
              </a:spcAft>
              <a:buNone/>
            </a:pPr>
            <a:r>
              <a:t/>
            </a:r>
            <a:endParaRPr/>
          </a:p>
        </p:txBody>
      </p:sp>
      <p:sp>
        <p:nvSpPr>
          <p:cNvPr id="332" name="Google Shape;332;p5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3"/>
          <p:cNvSpPr/>
          <p:nvPr/>
        </p:nvSpPr>
        <p:spPr>
          <a:xfrm>
            <a:off x="1820982" y="2656967"/>
            <a:ext cx="4820100" cy="15486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400">
                <a:solidFill>
                  <a:srgbClr val="FFFFFF"/>
                </a:solidFill>
                <a:latin typeface="Roboto"/>
                <a:ea typeface="Roboto"/>
                <a:cs typeface="Roboto"/>
                <a:sym typeface="Roboto"/>
              </a:rPr>
              <a:t>Project ID</a:t>
            </a:r>
            <a:endParaRPr sz="3400">
              <a:solidFill>
                <a:srgbClr val="FFFFFF"/>
              </a:solidFill>
              <a:latin typeface="Roboto"/>
              <a:ea typeface="Roboto"/>
              <a:cs typeface="Roboto"/>
              <a:sym typeface="Roboto"/>
            </a:endParaRPr>
          </a:p>
        </p:txBody>
      </p:sp>
      <p:sp>
        <p:nvSpPr>
          <p:cNvPr id="338" name="Google Shape;338;p53"/>
          <p:cNvSpPr/>
          <p:nvPr/>
        </p:nvSpPr>
        <p:spPr>
          <a:xfrm>
            <a:off x="6736482" y="2656967"/>
            <a:ext cx="4818900" cy="15486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400">
                <a:solidFill>
                  <a:srgbClr val="FFFFFF"/>
                </a:solidFill>
                <a:latin typeface="Roboto"/>
                <a:ea typeface="Roboto"/>
                <a:cs typeface="Roboto"/>
                <a:sym typeface="Roboto"/>
              </a:rPr>
              <a:t>Project name</a:t>
            </a:r>
            <a:endParaRPr sz="3400">
              <a:solidFill>
                <a:srgbClr val="FFFFFF"/>
              </a:solidFill>
              <a:latin typeface="Roboto"/>
              <a:ea typeface="Roboto"/>
              <a:cs typeface="Roboto"/>
              <a:sym typeface="Roboto"/>
            </a:endParaRPr>
          </a:p>
        </p:txBody>
      </p:sp>
      <p:sp>
        <p:nvSpPr>
          <p:cNvPr id="339" name="Google Shape;339;p53"/>
          <p:cNvSpPr/>
          <p:nvPr/>
        </p:nvSpPr>
        <p:spPr>
          <a:xfrm>
            <a:off x="11650782" y="2656967"/>
            <a:ext cx="4818900" cy="1548600"/>
          </a:xfrm>
          <a:prstGeom prst="rect">
            <a:avLst/>
          </a:prstGeom>
          <a:solidFill>
            <a:schemeClr val="accent5"/>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400">
                <a:solidFill>
                  <a:srgbClr val="FFFFFF"/>
                </a:solidFill>
                <a:latin typeface="Roboto"/>
                <a:ea typeface="Roboto"/>
                <a:cs typeface="Roboto"/>
                <a:sym typeface="Roboto"/>
              </a:rPr>
              <a:t>Project number</a:t>
            </a:r>
            <a:endParaRPr sz="3400">
              <a:solidFill>
                <a:srgbClr val="FFFFFF"/>
              </a:solidFill>
              <a:latin typeface="Roboto"/>
              <a:ea typeface="Roboto"/>
              <a:cs typeface="Roboto"/>
              <a:sym typeface="Roboto"/>
            </a:endParaRPr>
          </a:p>
        </p:txBody>
      </p:sp>
      <p:sp>
        <p:nvSpPr>
          <p:cNvPr id="340" name="Google Shape;340;p53"/>
          <p:cNvSpPr/>
          <p:nvPr/>
        </p:nvSpPr>
        <p:spPr>
          <a:xfrm>
            <a:off x="1820982" y="4319009"/>
            <a:ext cx="48201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Globally unique</a:t>
            </a:r>
            <a:endParaRPr sz="2900">
              <a:solidFill>
                <a:schemeClr val="lt1"/>
              </a:solidFill>
              <a:latin typeface="Roboto"/>
              <a:ea typeface="Roboto"/>
              <a:cs typeface="Roboto"/>
              <a:sym typeface="Roboto"/>
            </a:endParaRPr>
          </a:p>
        </p:txBody>
      </p:sp>
      <p:sp>
        <p:nvSpPr>
          <p:cNvPr id="341" name="Google Shape;341;p53"/>
          <p:cNvSpPr/>
          <p:nvPr/>
        </p:nvSpPr>
        <p:spPr>
          <a:xfrm>
            <a:off x="6736482" y="4319009"/>
            <a:ext cx="48189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Need not be unique</a:t>
            </a:r>
            <a:endParaRPr sz="2900">
              <a:solidFill>
                <a:schemeClr val="lt1"/>
              </a:solidFill>
              <a:latin typeface="Roboto"/>
              <a:ea typeface="Roboto"/>
              <a:cs typeface="Roboto"/>
              <a:sym typeface="Roboto"/>
            </a:endParaRPr>
          </a:p>
        </p:txBody>
      </p:sp>
      <p:sp>
        <p:nvSpPr>
          <p:cNvPr id="342" name="Google Shape;342;p53"/>
          <p:cNvSpPr/>
          <p:nvPr/>
        </p:nvSpPr>
        <p:spPr>
          <a:xfrm>
            <a:off x="11650782" y="4319009"/>
            <a:ext cx="48189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Globally unique</a:t>
            </a:r>
            <a:endParaRPr sz="2900">
              <a:solidFill>
                <a:schemeClr val="lt1"/>
              </a:solidFill>
              <a:latin typeface="Roboto"/>
              <a:ea typeface="Roboto"/>
              <a:cs typeface="Roboto"/>
              <a:sym typeface="Roboto"/>
            </a:endParaRPr>
          </a:p>
        </p:txBody>
      </p:sp>
      <p:sp>
        <p:nvSpPr>
          <p:cNvPr id="343" name="Google Shape;343;p53"/>
          <p:cNvSpPr/>
          <p:nvPr/>
        </p:nvSpPr>
        <p:spPr>
          <a:xfrm>
            <a:off x="1820982" y="5957182"/>
            <a:ext cx="48201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Assigned by </a:t>
            </a:r>
            <a:r>
              <a:rPr lang="en" sz="2900">
                <a:solidFill>
                  <a:schemeClr val="lt1"/>
                </a:solidFill>
                <a:latin typeface="Roboto"/>
                <a:ea typeface="Roboto"/>
                <a:cs typeface="Roboto"/>
                <a:sym typeface="Roboto"/>
              </a:rPr>
              <a:t>Google Cloud</a:t>
            </a:r>
            <a:r>
              <a:rPr lang="en" sz="2900">
                <a:solidFill>
                  <a:schemeClr val="lt1"/>
                </a:solidFill>
                <a:latin typeface="Roboto"/>
                <a:ea typeface="Roboto"/>
                <a:cs typeface="Roboto"/>
                <a:sym typeface="Roboto"/>
              </a:rPr>
              <a:t> but mutable during creation</a:t>
            </a:r>
            <a:endParaRPr sz="2900">
              <a:solidFill>
                <a:schemeClr val="lt1"/>
              </a:solidFill>
              <a:latin typeface="Roboto"/>
              <a:ea typeface="Roboto"/>
              <a:cs typeface="Roboto"/>
              <a:sym typeface="Roboto"/>
            </a:endParaRPr>
          </a:p>
        </p:txBody>
      </p:sp>
      <p:sp>
        <p:nvSpPr>
          <p:cNvPr id="344" name="Google Shape;344;p53"/>
          <p:cNvSpPr/>
          <p:nvPr/>
        </p:nvSpPr>
        <p:spPr>
          <a:xfrm>
            <a:off x="6736482" y="5957182"/>
            <a:ext cx="48189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Chosen by you</a:t>
            </a:r>
            <a:endParaRPr sz="2900">
              <a:solidFill>
                <a:schemeClr val="lt1"/>
              </a:solidFill>
              <a:latin typeface="Roboto"/>
              <a:ea typeface="Roboto"/>
              <a:cs typeface="Roboto"/>
              <a:sym typeface="Roboto"/>
            </a:endParaRPr>
          </a:p>
        </p:txBody>
      </p:sp>
      <p:sp>
        <p:nvSpPr>
          <p:cNvPr id="345" name="Google Shape;345;p53"/>
          <p:cNvSpPr/>
          <p:nvPr/>
        </p:nvSpPr>
        <p:spPr>
          <a:xfrm>
            <a:off x="11650782" y="5957182"/>
            <a:ext cx="48189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Assigned by </a:t>
            </a:r>
            <a:r>
              <a:rPr lang="en" sz="2900">
                <a:solidFill>
                  <a:schemeClr val="lt1"/>
                </a:solidFill>
                <a:latin typeface="Roboto"/>
                <a:ea typeface="Roboto"/>
                <a:cs typeface="Roboto"/>
                <a:sym typeface="Roboto"/>
              </a:rPr>
              <a:t>Google Cloud</a:t>
            </a:r>
            <a:endParaRPr sz="2900">
              <a:solidFill>
                <a:schemeClr val="lt1"/>
              </a:solidFill>
              <a:latin typeface="Roboto"/>
              <a:ea typeface="Roboto"/>
              <a:cs typeface="Roboto"/>
              <a:sym typeface="Roboto"/>
            </a:endParaRPr>
          </a:p>
        </p:txBody>
      </p:sp>
      <p:sp>
        <p:nvSpPr>
          <p:cNvPr id="346" name="Google Shape;346;p53"/>
          <p:cNvSpPr/>
          <p:nvPr/>
        </p:nvSpPr>
        <p:spPr>
          <a:xfrm>
            <a:off x="1820982" y="7595356"/>
            <a:ext cx="48201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Immutable after creation</a:t>
            </a:r>
            <a:endParaRPr sz="2900">
              <a:solidFill>
                <a:schemeClr val="lt1"/>
              </a:solidFill>
              <a:latin typeface="Roboto"/>
              <a:ea typeface="Roboto"/>
              <a:cs typeface="Roboto"/>
              <a:sym typeface="Roboto"/>
            </a:endParaRPr>
          </a:p>
        </p:txBody>
      </p:sp>
      <p:sp>
        <p:nvSpPr>
          <p:cNvPr id="347" name="Google Shape;347;p53"/>
          <p:cNvSpPr/>
          <p:nvPr/>
        </p:nvSpPr>
        <p:spPr>
          <a:xfrm>
            <a:off x="6736482" y="7595356"/>
            <a:ext cx="48189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Mutable</a:t>
            </a:r>
            <a:endParaRPr sz="2900">
              <a:solidFill>
                <a:schemeClr val="lt1"/>
              </a:solidFill>
              <a:latin typeface="Roboto"/>
              <a:ea typeface="Roboto"/>
              <a:cs typeface="Roboto"/>
              <a:sym typeface="Roboto"/>
            </a:endParaRPr>
          </a:p>
        </p:txBody>
      </p:sp>
      <p:sp>
        <p:nvSpPr>
          <p:cNvPr id="348" name="Google Shape;348;p53"/>
          <p:cNvSpPr/>
          <p:nvPr/>
        </p:nvSpPr>
        <p:spPr>
          <a:xfrm>
            <a:off x="11650782" y="7595356"/>
            <a:ext cx="4818900" cy="15486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latin typeface="Roboto"/>
                <a:ea typeface="Roboto"/>
                <a:cs typeface="Roboto"/>
                <a:sym typeface="Roboto"/>
              </a:rPr>
              <a:t>Immutable</a:t>
            </a:r>
            <a:endParaRPr sz="2900">
              <a:solidFill>
                <a:schemeClr val="lt1"/>
              </a:solidFill>
              <a:latin typeface="Roboto"/>
              <a:ea typeface="Roboto"/>
              <a:cs typeface="Roboto"/>
              <a:sym typeface="Roboto"/>
            </a:endParaRPr>
          </a:p>
        </p:txBody>
      </p:sp>
      <p:sp>
        <p:nvSpPr>
          <p:cNvPr id="349" name="Google Shape;349;p5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Projects have three identifying attributes</a:t>
            </a:r>
            <a:endParaRPr/>
          </a:p>
          <a:p>
            <a:pPr indent="0" lvl="0" marL="0" rtl="0" algn="l">
              <a:spcBef>
                <a:spcPts val="0"/>
              </a:spcBef>
              <a:spcAft>
                <a:spcPts val="0"/>
              </a:spcAft>
              <a:buNone/>
            </a:pPr>
            <a:r>
              <a:t/>
            </a:r>
            <a:endParaRPr/>
          </a:p>
        </p:txBody>
      </p:sp>
      <p:sp>
        <p:nvSpPr>
          <p:cNvPr id="350" name="Google Shape;350;p5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4"/>
          <p:cNvSpPr txBox="1"/>
          <p:nvPr/>
        </p:nvSpPr>
        <p:spPr>
          <a:xfrm>
            <a:off x="2982069" y="3888744"/>
            <a:ext cx="2820000" cy="281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http://www.console.google.com</a:t>
            </a:r>
            <a:endParaRPr/>
          </a:p>
        </p:txBody>
      </p:sp>
      <p:sp>
        <p:nvSpPr>
          <p:cNvPr id="356" name="Google Shape;356;p54"/>
          <p:cNvSpPr/>
          <p:nvPr/>
        </p:nvSpPr>
        <p:spPr>
          <a:xfrm>
            <a:off x="4772228" y="5008763"/>
            <a:ext cx="1316400" cy="201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4"/>
          <p:cNvSpPr/>
          <p:nvPr/>
        </p:nvSpPr>
        <p:spPr>
          <a:xfrm>
            <a:off x="4772228" y="5517580"/>
            <a:ext cx="1316400" cy="201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8" name="Google Shape;358;p54"/>
          <p:cNvPicPr preferRelativeResize="0"/>
          <p:nvPr/>
        </p:nvPicPr>
        <p:blipFill rotWithShape="1">
          <a:blip r:embed="rId4">
            <a:alphaModFix/>
          </a:blip>
          <a:srcRect b="4067" l="0" r="0" t="0"/>
          <a:stretch/>
        </p:blipFill>
        <p:spPr>
          <a:xfrm>
            <a:off x="1811275" y="2351788"/>
            <a:ext cx="13777687" cy="6780216"/>
          </a:xfrm>
          <a:prstGeom prst="rect">
            <a:avLst/>
          </a:prstGeom>
          <a:noFill/>
          <a:ln>
            <a:noFill/>
          </a:ln>
        </p:spPr>
      </p:pic>
      <p:sp>
        <p:nvSpPr>
          <p:cNvPr id="359" name="Google Shape;359;p5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a project</a:t>
            </a:r>
            <a:endParaRPr/>
          </a:p>
        </p:txBody>
      </p:sp>
      <p:sp>
        <p:nvSpPr>
          <p:cNvPr id="360" name="Google Shape;360;p54"/>
          <p:cNvSpPr/>
          <p:nvPr/>
        </p:nvSpPr>
        <p:spPr>
          <a:xfrm>
            <a:off x="4805963" y="2327932"/>
            <a:ext cx="1316400" cy="4644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55"/>
          <p:cNvPicPr preferRelativeResize="0"/>
          <p:nvPr/>
        </p:nvPicPr>
        <p:blipFill rotWithShape="1">
          <a:blip r:embed="rId3">
            <a:alphaModFix/>
          </a:blip>
          <a:srcRect b="0" l="0" r="0" t="5123"/>
          <a:stretch/>
        </p:blipFill>
        <p:spPr>
          <a:xfrm>
            <a:off x="1828800" y="2278875"/>
            <a:ext cx="10682648" cy="2150350"/>
          </a:xfrm>
          <a:prstGeom prst="rect">
            <a:avLst/>
          </a:prstGeom>
          <a:noFill/>
          <a:ln cap="flat" cmpd="sng" w="9525">
            <a:solidFill>
              <a:schemeClr val="accent3"/>
            </a:solidFill>
            <a:prstDash val="solid"/>
            <a:round/>
            <a:headEnd len="sm" w="sm" type="none"/>
            <a:tailEnd len="sm" w="sm" type="none"/>
          </a:ln>
        </p:spPr>
      </p:pic>
      <p:sp>
        <p:nvSpPr>
          <p:cNvPr id="367" name="Google Shape;367;p55"/>
          <p:cNvSpPr/>
          <p:nvPr/>
        </p:nvSpPr>
        <p:spPr>
          <a:xfrm>
            <a:off x="10010175" y="2411000"/>
            <a:ext cx="1764000" cy="4947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55"/>
          <p:cNvPicPr preferRelativeResize="0"/>
          <p:nvPr/>
        </p:nvPicPr>
        <p:blipFill rotWithShape="1">
          <a:blip r:embed="rId4">
            <a:alphaModFix/>
          </a:blip>
          <a:srcRect b="18705" l="0" r="0" t="0"/>
          <a:stretch/>
        </p:blipFill>
        <p:spPr>
          <a:xfrm>
            <a:off x="6514625" y="3603125"/>
            <a:ext cx="9978638" cy="5567322"/>
          </a:xfrm>
          <a:prstGeom prst="rect">
            <a:avLst/>
          </a:prstGeom>
          <a:noFill/>
          <a:ln cap="flat" cmpd="sng" w="9525">
            <a:solidFill>
              <a:schemeClr val="accent3"/>
            </a:solidFill>
            <a:prstDash val="solid"/>
            <a:round/>
            <a:headEnd len="sm" w="sm" type="none"/>
            <a:tailEnd len="sm" w="sm" type="none"/>
          </a:ln>
        </p:spPr>
      </p:pic>
      <p:sp>
        <p:nvSpPr>
          <p:cNvPr id="369" name="Google Shape;369;p55"/>
          <p:cNvSpPr/>
          <p:nvPr/>
        </p:nvSpPr>
        <p:spPr>
          <a:xfrm>
            <a:off x="10728325" y="5466775"/>
            <a:ext cx="501600" cy="300900"/>
          </a:xfrm>
          <a:prstGeom prst="roundRect">
            <a:avLst>
              <a:gd fmla="val 16667" name="adj"/>
            </a:avLst>
          </a:prstGeom>
          <a:noFill/>
          <a:ln cap="flat" cmpd="sng" w="381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5"/>
          <p:cNvSpPr/>
          <p:nvPr/>
        </p:nvSpPr>
        <p:spPr>
          <a:xfrm>
            <a:off x="7093850" y="7915075"/>
            <a:ext cx="2234400" cy="279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5"/>
          <p:cNvSpPr/>
          <p:nvPr/>
        </p:nvSpPr>
        <p:spPr>
          <a:xfrm>
            <a:off x="8730725" y="7425525"/>
            <a:ext cx="2234400" cy="279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5"/>
          <p:cNvSpPr/>
          <p:nvPr/>
        </p:nvSpPr>
        <p:spPr>
          <a:xfrm>
            <a:off x="6836950" y="7028250"/>
            <a:ext cx="1684800" cy="24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3" name="Google Shape;373;p55"/>
          <p:cNvCxnSpPr/>
          <p:nvPr/>
        </p:nvCxnSpPr>
        <p:spPr>
          <a:xfrm flipH="1" rot="10800000">
            <a:off x="5608875" y="5220700"/>
            <a:ext cx="1095000" cy="3000"/>
          </a:xfrm>
          <a:prstGeom prst="straightConnector1">
            <a:avLst/>
          </a:prstGeom>
          <a:noFill/>
          <a:ln cap="flat" cmpd="sng" w="38100">
            <a:solidFill>
              <a:schemeClr val="accent6"/>
            </a:solidFill>
            <a:prstDash val="solid"/>
            <a:round/>
            <a:headEnd len="med" w="med" type="none"/>
            <a:tailEnd len="med" w="med" type="triangle"/>
          </a:ln>
        </p:spPr>
      </p:cxnSp>
      <p:cxnSp>
        <p:nvCxnSpPr>
          <p:cNvPr id="374" name="Google Shape;374;p55"/>
          <p:cNvCxnSpPr/>
          <p:nvPr/>
        </p:nvCxnSpPr>
        <p:spPr>
          <a:xfrm flipH="1" rot="10800000">
            <a:off x="5608875" y="6287500"/>
            <a:ext cx="1095000" cy="3000"/>
          </a:xfrm>
          <a:prstGeom prst="straightConnector1">
            <a:avLst/>
          </a:prstGeom>
          <a:noFill/>
          <a:ln cap="flat" cmpd="sng" w="38100">
            <a:solidFill>
              <a:schemeClr val="accent6"/>
            </a:solidFill>
            <a:prstDash val="solid"/>
            <a:round/>
            <a:headEnd len="med" w="med" type="none"/>
            <a:tailEnd len="med" w="med" type="triangle"/>
          </a:ln>
        </p:spPr>
      </p:cxnSp>
      <p:cxnSp>
        <p:nvCxnSpPr>
          <p:cNvPr id="375" name="Google Shape;375;p55"/>
          <p:cNvCxnSpPr/>
          <p:nvPr/>
        </p:nvCxnSpPr>
        <p:spPr>
          <a:xfrm flipH="1" rot="10800000">
            <a:off x="5608875" y="7132320"/>
            <a:ext cx="1095000" cy="3000"/>
          </a:xfrm>
          <a:prstGeom prst="straightConnector1">
            <a:avLst/>
          </a:prstGeom>
          <a:noFill/>
          <a:ln cap="flat" cmpd="sng" w="38100">
            <a:solidFill>
              <a:schemeClr val="accent6"/>
            </a:solidFill>
            <a:prstDash val="solid"/>
            <a:round/>
            <a:headEnd len="med" w="med" type="none"/>
            <a:tailEnd len="med" w="med" type="triangle"/>
          </a:ln>
        </p:spPr>
      </p:cxnSp>
      <p:cxnSp>
        <p:nvCxnSpPr>
          <p:cNvPr id="376" name="Google Shape;376;p55"/>
          <p:cNvCxnSpPr/>
          <p:nvPr/>
        </p:nvCxnSpPr>
        <p:spPr>
          <a:xfrm flipH="1" rot="10800000">
            <a:off x="5608875" y="8046720"/>
            <a:ext cx="1095000" cy="3000"/>
          </a:xfrm>
          <a:prstGeom prst="straightConnector1">
            <a:avLst/>
          </a:prstGeom>
          <a:noFill/>
          <a:ln cap="flat" cmpd="sng" w="38100">
            <a:solidFill>
              <a:schemeClr val="accent6"/>
            </a:solidFill>
            <a:prstDash val="solid"/>
            <a:round/>
            <a:headEnd len="med" w="med" type="none"/>
            <a:tailEnd len="med" w="med" type="triangle"/>
          </a:ln>
        </p:spPr>
      </p:cxnSp>
      <p:cxnSp>
        <p:nvCxnSpPr>
          <p:cNvPr id="377" name="Google Shape;377;p55"/>
          <p:cNvCxnSpPr/>
          <p:nvPr/>
        </p:nvCxnSpPr>
        <p:spPr>
          <a:xfrm flipH="1" rot="10800000">
            <a:off x="5608875" y="8851392"/>
            <a:ext cx="1095000" cy="3000"/>
          </a:xfrm>
          <a:prstGeom prst="straightConnector1">
            <a:avLst/>
          </a:prstGeom>
          <a:noFill/>
          <a:ln cap="flat" cmpd="sng" w="38100">
            <a:solidFill>
              <a:schemeClr val="accent6"/>
            </a:solidFill>
            <a:prstDash val="solid"/>
            <a:round/>
            <a:headEnd len="med" w="med" type="none"/>
            <a:tailEnd len="med" w="med" type="triangle"/>
          </a:ln>
        </p:spPr>
      </p:cxnSp>
      <p:sp>
        <p:nvSpPr>
          <p:cNvPr id="378" name="Google Shape;378;p55"/>
          <p:cNvSpPr/>
          <p:nvPr/>
        </p:nvSpPr>
        <p:spPr>
          <a:xfrm>
            <a:off x="12597975" y="2712175"/>
            <a:ext cx="2483575" cy="2519600"/>
          </a:xfrm>
          <a:custGeom>
            <a:rect b="b" l="l" r="r" t="t"/>
            <a:pathLst>
              <a:path extrusionOk="0" h="100784" w="99343">
                <a:moveTo>
                  <a:pt x="0" y="0"/>
                </a:moveTo>
                <a:cubicBezTo>
                  <a:pt x="16476" y="2782"/>
                  <a:pt x="92545" y="-107"/>
                  <a:pt x="98857" y="16690"/>
                </a:cubicBezTo>
                <a:cubicBezTo>
                  <a:pt x="105169" y="33487"/>
                  <a:pt x="48038" y="86768"/>
                  <a:pt x="37874" y="100784"/>
                </a:cubicBezTo>
              </a:path>
            </a:pathLst>
          </a:custGeom>
          <a:noFill/>
          <a:ln cap="flat" cmpd="sng" w="38100">
            <a:solidFill>
              <a:schemeClr val="accent6"/>
            </a:solidFill>
            <a:prstDash val="solid"/>
            <a:round/>
            <a:headEnd len="med" w="med" type="none"/>
            <a:tailEnd len="med" w="med" type="triangle"/>
          </a:ln>
        </p:spPr>
      </p:sp>
      <p:sp>
        <p:nvSpPr>
          <p:cNvPr id="379" name="Google Shape;379;p5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a project</a:t>
            </a:r>
            <a:endParaRPr/>
          </a:p>
        </p:txBody>
      </p:sp>
      <p:sp>
        <p:nvSpPr>
          <p:cNvPr id="380" name="Google Shape;380;p5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6"/>
          <p:cNvSpPr txBox="1"/>
          <p:nvPr>
            <p:ph idx="1" type="body"/>
          </p:nvPr>
        </p:nvSpPr>
        <p:spPr>
          <a:xfrm>
            <a:off x="1701275" y="2432125"/>
            <a:ext cx="74865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a:t>
            </a:r>
            <a:endParaRPr/>
          </a:p>
          <a:p>
            <a:pPr indent="0" lvl="0" marL="0" rtl="0" algn="l">
              <a:spcBef>
                <a:spcPts val="2900"/>
              </a:spcBef>
              <a:spcAft>
                <a:spcPts val="0"/>
              </a:spcAft>
              <a:buNone/>
            </a:pPr>
            <a:r>
              <a:rPr lang="en"/>
              <a:t>Understanding Projects</a:t>
            </a:r>
            <a:endParaRPr/>
          </a:p>
          <a:p>
            <a:pPr indent="0" lvl="0" marL="0" rtl="0" algn="l">
              <a:spcBef>
                <a:spcPts val="2900"/>
              </a:spcBef>
              <a:spcAft>
                <a:spcPts val="0"/>
              </a:spcAft>
              <a:buNone/>
            </a:pPr>
            <a:r>
              <a:rPr lang="en">
                <a:solidFill>
                  <a:schemeClr val="accent2"/>
                </a:solidFill>
              </a:rPr>
              <a:t>Billing in Google Cloud</a:t>
            </a:r>
            <a:endParaRPr>
              <a:solidFill>
                <a:schemeClr val="accent2"/>
              </a:solidFill>
            </a:endParaRPr>
          </a:p>
          <a:p>
            <a:pPr indent="0" lvl="0" marL="0" rtl="0" algn="l">
              <a:spcBef>
                <a:spcPts val="2900"/>
              </a:spcBef>
              <a:spcAft>
                <a:spcPts val="0"/>
              </a:spcAft>
              <a:buNone/>
            </a:pPr>
            <a:r>
              <a:rPr lang="en"/>
              <a:t>Install and Configure the Cloud SDK</a:t>
            </a:r>
            <a:endParaRPr/>
          </a:p>
          <a:p>
            <a:pPr indent="0" lvl="0" marL="0" rtl="0" algn="l">
              <a:spcBef>
                <a:spcPts val="2900"/>
              </a:spcBef>
              <a:spcAft>
                <a:spcPts val="0"/>
              </a:spcAft>
              <a:buNone/>
            </a:pPr>
            <a:r>
              <a:rPr lang="en"/>
              <a:t>Use Cloud Shell</a:t>
            </a:r>
            <a:endParaRPr/>
          </a:p>
          <a:p>
            <a:pPr indent="0" lvl="0" marL="0" rtl="0" algn="l">
              <a:spcBef>
                <a:spcPts val="2900"/>
              </a:spcBef>
              <a:spcAft>
                <a:spcPts val="2900"/>
              </a:spcAft>
              <a:buNone/>
            </a:pPr>
            <a:r>
              <a:rPr lang="en"/>
              <a:t>Lab: A Tour of Qwiklabs and</a:t>
            </a:r>
            <a:br>
              <a:rPr lang="en"/>
            </a:br>
            <a:r>
              <a:rPr lang="en"/>
              <a:t>Google Cloud</a:t>
            </a:r>
            <a:endParaRPr/>
          </a:p>
        </p:txBody>
      </p:sp>
      <p:sp>
        <p:nvSpPr>
          <p:cNvPr id="386" name="Google Shape;386;p5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87" name="Google Shape;387;p5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57"/>
          <p:cNvPicPr preferRelativeResize="0"/>
          <p:nvPr/>
        </p:nvPicPr>
        <p:blipFill>
          <a:blip r:embed="rId3">
            <a:alphaModFix/>
          </a:blip>
          <a:stretch>
            <a:fillRect/>
          </a:stretch>
        </p:blipFill>
        <p:spPr>
          <a:xfrm>
            <a:off x="1825752" y="2602004"/>
            <a:ext cx="842382" cy="888848"/>
          </a:xfrm>
          <a:prstGeom prst="rect">
            <a:avLst/>
          </a:prstGeom>
          <a:noFill/>
          <a:ln>
            <a:noFill/>
          </a:ln>
          <a:effectLst>
            <a:outerShdw rotWithShape="0" algn="bl" dir="2640000" dist="190500">
              <a:srgbClr val="666666">
                <a:alpha val="50000"/>
              </a:srgbClr>
            </a:outerShdw>
          </a:effectLst>
        </p:spPr>
      </p:pic>
      <p:sp>
        <p:nvSpPr>
          <p:cNvPr id="393" name="Google Shape;393;p57"/>
          <p:cNvSpPr txBox="1"/>
          <p:nvPr/>
        </p:nvSpPr>
        <p:spPr>
          <a:xfrm>
            <a:off x="3037375" y="2432304"/>
            <a:ext cx="5970600" cy="1342800"/>
          </a:xfrm>
          <a:prstGeom prst="rect">
            <a:avLst/>
          </a:prstGeom>
          <a:noFill/>
          <a:ln>
            <a:noFill/>
          </a:ln>
        </p:spPr>
        <p:txBody>
          <a:bodyPr anchorCtr="0" anchor="ctr" bIns="91450" lIns="91450" spcFirstLastPara="1" rIns="91450" wrap="square" tIns="91450">
            <a:noAutofit/>
          </a:bodyPr>
          <a:lstStyle/>
          <a:p>
            <a:pPr indent="0" lvl="0" marL="0" rtl="0" algn="l">
              <a:spcBef>
                <a:spcPts val="0"/>
              </a:spcBef>
              <a:spcAft>
                <a:spcPts val="0"/>
              </a:spcAft>
              <a:buNone/>
            </a:pPr>
            <a:r>
              <a:rPr lang="en" sz="2800">
                <a:solidFill>
                  <a:schemeClr val="lt1"/>
                </a:solidFill>
                <a:latin typeface="Roboto"/>
                <a:ea typeface="Roboto"/>
                <a:cs typeface="Roboto"/>
                <a:sym typeface="Roboto"/>
              </a:rPr>
              <a:t>Billing account pays for project resources.</a:t>
            </a:r>
            <a:endParaRPr sz="2800">
              <a:solidFill>
                <a:schemeClr val="lt1"/>
              </a:solidFill>
              <a:latin typeface="Roboto"/>
              <a:ea typeface="Roboto"/>
              <a:cs typeface="Roboto"/>
              <a:sym typeface="Roboto"/>
            </a:endParaRPr>
          </a:p>
        </p:txBody>
      </p:sp>
      <p:pic>
        <p:nvPicPr>
          <p:cNvPr id="394" name="Google Shape;394;p57"/>
          <p:cNvPicPr preferRelativeResize="0"/>
          <p:nvPr/>
        </p:nvPicPr>
        <p:blipFill>
          <a:blip r:embed="rId3">
            <a:alphaModFix/>
          </a:blip>
          <a:stretch>
            <a:fillRect/>
          </a:stretch>
        </p:blipFill>
        <p:spPr>
          <a:xfrm>
            <a:off x="1825752" y="4072006"/>
            <a:ext cx="842382" cy="888848"/>
          </a:xfrm>
          <a:prstGeom prst="rect">
            <a:avLst/>
          </a:prstGeom>
          <a:noFill/>
          <a:ln>
            <a:noFill/>
          </a:ln>
          <a:effectLst>
            <a:outerShdw rotWithShape="0" algn="bl" dir="2640000" dist="190500">
              <a:srgbClr val="666666">
                <a:alpha val="50000"/>
              </a:srgbClr>
            </a:outerShdw>
          </a:effectLst>
        </p:spPr>
      </p:pic>
      <p:sp>
        <p:nvSpPr>
          <p:cNvPr id="395" name="Google Shape;395;p57"/>
          <p:cNvSpPr txBox="1"/>
          <p:nvPr/>
        </p:nvSpPr>
        <p:spPr>
          <a:xfrm>
            <a:off x="3037375" y="3869817"/>
            <a:ext cx="5970600" cy="1342800"/>
          </a:xfrm>
          <a:prstGeom prst="rect">
            <a:avLst/>
          </a:prstGeom>
          <a:noFill/>
          <a:ln>
            <a:noFill/>
          </a:ln>
        </p:spPr>
        <p:txBody>
          <a:bodyPr anchorCtr="0" anchor="ctr" bIns="91450" lIns="91450" spcFirstLastPara="1" rIns="91450" wrap="square" tIns="91450">
            <a:noAutofit/>
          </a:bodyPr>
          <a:lstStyle/>
          <a:p>
            <a:pPr indent="0" lvl="0" marL="0" rtl="0" algn="l">
              <a:spcBef>
                <a:spcPts val="0"/>
              </a:spcBef>
              <a:spcAft>
                <a:spcPts val="0"/>
              </a:spcAft>
              <a:buNone/>
            </a:pPr>
            <a:r>
              <a:rPr lang="en" sz="2800">
                <a:solidFill>
                  <a:schemeClr val="lt1"/>
                </a:solidFill>
                <a:latin typeface="Roboto"/>
                <a:ea typeface="Roboto"/>
                <a:cs typeface="Roboto"/>
                <a:sym typeface="Roboto"/>
              </a:rPr>
              <a:t>A billing account is linked to zero or more projects.</a:t>
            </a:r>
            <a:endParaRPr sz="2800">
              <a:solidFill>
                <a:schemeClr val="lt1"/>
              </a:solidFill>
              <a:latin typeface="Roboto"/>
              <a:ea typeface="Roboto"/>
              <a:cs typeface="Roboto"/>
              <a:sym typeface="Roboto"/>
            </a:endParaRPr>
          </a:p>
        </p:txBody>
      </p:sp>
      <p:pic>
        <p:nvPicPr>
          <p:cNvPr id="396" name="Google Shape;396;p57"/>
          <p:cNvPicPr preferRelativeResize="0"/>
          <p:nvPr/>
        </p:nvPicPr>
        <p:blipFill>
          <a:blip r:embed="rId3">
            <a:alphaModFix/>
          </a:blip>
          <a:stretch>
            <a:fillRect/>
          </a:stretch>
        </p:blipFill>
        <p:spPr>
          <a:xfrm>
            <a:off x="1825752" y="5618209"/>
            <a:ext cx="842382" cy="888848"/>
          </a:xfrm>
          <a:prstGeom prst="rect">
            <a:avLst/>
          </a:prstGeom>
          <a:noFill/>
          <a:ln>
            <a:noFill/>
          </a:ln>
          <a:effectLst>
            <a:outerShdw rotWithShape="0" algn="bl" dir="2640000" dist="190500">
              <a:srgbClr val="666666">
                <a:alpha val="50000"/>
              </a:srgbClr>
            </a:outerShdw>
          </a:effectLst>
        </p:spPr>
      </p:pic>
      <p:sp>
        <p:nvSpPr>
          <p:cNvPr id="397" name="Google Shape;397;p57"/>
          <p:cNvSpPr txBox="1"/>
          <p:nvPr/>
        </p:nvSpPr>
        <p:spPr>
          <a:xfrm>
            <a:off x="3037375" y="5535929"/>
            <a:ext cx="6080100" cy="1342800"/>
          </a:xfrm>
          <a:prstGeom prst="rect">
            <a:avLst/>
          </a:prstGeom>
          <a:noFill/>
          <a:ln>
            <a:noFill/>
          </a:ln>
        </p:spPr>
        <p:txBody>
          <a:bodyPr anchorCtr="0" anchor="ctr" bIns="91450" lIns="91450" spcFirstLastPara="1" rIns="91450" wrap="square" tIns="91450">
            <a:noAutofit/>
          </a:bodyPr>
          <a:lstStyle/>
          <a:p>
            <a:pPr indent="0" lvl="0" marL="0" rtl="0" algn="l">
              <a:spcBef>
                <a:spcPts val="0"/>
              </a:spcBef>
              <a:spcAft>
                <a:spcPts val="0"/>
              </a:spcAft>
              <a:buNone/>
            </a:pPr>
            <a:r>
              <a:rPr lang="en" sz="2800">
                <a:solidFill>
                  <a:schemeClr val="lt1"/>
                </a:solidFill>
                <a:latin typeface="Roboto"/>
                <a:ea typeface="Roboto"/>
                <a:cs typeface="Roboto"/>
                <a:sym typeface="Roboto"/>
              </a:rPr>
              <a:t>Accounts are charged automatically, invoiced monthly, or invoiced at the threshold limit.</a:t>
            </a:r>
            <a:endParaRPr sz="2800">
              <a:solidFill>
                <a:schemeClr val="lt1"/>
              </a:solidFill>
              <a:latin typeface="Roboto"/>
              <a:ea typeface="Roboto"/>
              <a:cs typeface="Roboto"/>
              <a:sym typeface="Roboto"/>
            </a:endParaRPr>
          </a:p>
        </p:txBody>
      </p:sp>
      <p:pic>
        <p:nvPicPr>
          <p:cNvPr id="398" name="Google Shape;398;p57"/>
          <p:cNvPicPr preferRelativeResize="0"/>
          <p:nvPr/>
        </p:nvPicPr>
        <p:blipFill>
          <a:blip r:embed="rId3">
            <a:alphaModFix/>
          </a:blip>
          <a:stretch>
            <a:fillRect/>
          </a:stretch>
        </p:blipFill>
        <p:spPr>
          <a:xfrm>
            <a:off x="1825752" y="7469211"/>
            <a:ext cx="842382" cy="888848"/>
          </a:xfrm>
          <a:prstGeom prst="rect">
            <a:avLst/>
          </a:prstGeom>
          <a:noFill/>
          <a:ln>
            <a:noFill/>
          </a:ln>
          <a:effectLst>
            <a:outerShdw rotWithShape="0" algn="bl" dir="2640000" dist="190500">
              <a:srgbClr val="666666">
                <a:alpha val="50000"/>
              </a:srgbClr>
            </a:outerShdw>
          </a:effectLst>
        </p:spPr>
      </p:pic>
      <p:sp>
        <p:nvSpPr>
          <p:cNvPr id="399" name="Google Shape;399;p57"/>
          <p:cNvSpPr txBox="1"/>
          <p:nvPr/>
        </p:nvSpPr>
        <p:spPr>
          <a:xfrm>
            <a:off x="3037375" y="7278241"/>
            <a:ext cx="5970600" cy="1342800"/>
          </a:xfrm>
          <a:prstGeom prst="rect">
            <a:avLst/>
          </a:prstGeom>
          <a:noFill/>
          <a:ln>
            <a:noFill/>
          </a:ln>
        </p:spPr>
        <p:txBody>
          <a:bodyPr anchorCtr="0" anchor="ctr" bIns="91450" lIns="91450" spcFirstLastPara="1" rIns="91450" wrap="square" tIns="91450">
            <a:noAutofit/>
          </a:bodyPr>
          <a:lstStyle/>
          <a:p>
            <a:pPr indent="0" lvl="0" marL="0" rtl="0" algn="l">
              <a:spcBef>
                <a:spcPts val="0"/>
              </a:spcBef>
              <a:spcAft>
                <a:spcPts val="0"/>
              </a:spcAft>
              <a:buNone/>
            </a:pPr>
            <a:r>
              <a:rPr lang="en" sz="2800">
                <a:solidFill>
                  <a:schemeClr val="lt1"/>
                </a:solidFill>
                <a:latin typeface="Roboto"/>
                <a:ea typeface="Roboto"/>
                <a:cs typeface="Roboto"/>
                <a:sym typeface="Roboto"/>
              </a:rPr>
              <a:t>Sub accounts can be used for separate billing for projects.</a:t>
            </a:r>
            <a:endParaRPr sz="2800">
              <a:solidFill>
                <a:schemeClr val="lt1"/>
              </a:solidFill>
              <a:latin typeface="Roboto"/>
              <a:ea typeface="Roboto"/>
              <a:cs typeface="Roboto"/>
              <a:sym typeface="Roboto"/>
            </a:endParaRPr>
          </a:p>
        </p:txBody>
      </p:sp>
      <p:pic>
        <p:nvPicPr>
          <p:cNvPr id="400" name="Google Shape;400;p57"/>
          <p:cNvPicPr preferRelativeResize="0"/>
          <p:nvPr/>
        </p:nvPicPr>
        <p:blipFill rotWithShape="1">
          <a:blip r:embed="rId4">
            <a:alphaModFix/>
          </a:blip>
          <a:srcRect b="56202" l="50069" r="35498" t="21324"/>
          <a:stretch/>
        </p:blipFill>
        <p:spPr>
          <a:xfrm>
            <a:off x="11208225" y="2795475"/>
            <a:ext cx="2119075" cy="2408075"/>
          </a:xfrm>
          <a:prstGeom prst="rect">
            <a:avLst/>
          </a:prstGeom>
          <a:noFill/>
          <a:ln>
            <a:noFill/>
          </a:ln>
        </p:spPr>
      </p:pic>
      <p:grpSp>
        <p:nvGrpSpPr>
          <p:cNvPr id="401" name="Google Shape;401;p57"/>
          <p:cNvGrpSpPr/>
          <p:nvPr/>
        </p:nvGrpSpPr>
        <p:grpSpPr>
          <a:xfrm>
            <a:off x="11187934" y="6008124"/>
            <a:ext cx="1371600" cy="1510518"/>
            <a:chOff x="11073634" y="5627124"/>
            <a:chExt cx="1371600" cy="1510518"/>
          </a:xfrm>
        </p:grpSpPr>
        <p:pic>
          <p:nvPicPr>
            <p:cNvPr id="402" name="Google Shape;402;p57"/>
            <p:cNvPicPr preferRelativeResize="0"/>
            <p:nvPr/>
          </p:nvPicPr>
          <p:blipFill rotWithShape="1">
            <a:blip r:embed="rId5">
              <a:alphaModFix/>
            </a:blip>
            <a:srcRect b="327" l="0" r="0" t="327"/>
            <a:stretch/>
          </p:blipFill>
          <p:spPr>
            <a:xfrm>
              <a:off x="11204089" y="5627124"/>
              <a:ext cx="1110691" cy="979053"/>
            </a:xfrm>
            <a:prstGeom prst="rect">
              <a:avLst/>
            </a:prstGeom>
            <a:noFill/>
            <a:ln>
              <a:noFill/>
            </a:ln>
          </p:spPr>
        </p:pic>
        <p:sp>
          <p:nvSpPr>
            <p:cNvPr id="403" name="Google Shape;403;p57"/>
            <p:cNvSpPr txBox="1"/>
            <p:nvPr/>
          </p:nvSpPr>
          <p:spPr>
            <a:xfrm>
              <a:off x="11073634" y="6726042"/>
              <a:ext cx="1371600" cy="411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200">
                  <a:solidFill>
                    <a:schemeClr val="lt1"/>
                  </a:solidFill>
                  <a:latin typeface="Google Sans"/>
                  <a:ea typeface="Google Sans"/>
                  <a:cs typeface="Google Sans"/>
                  <a:sym typeface="Google Sans"/>
                </a:rPr>
                <a:t>Cloud Storage</a:t>
              </a:r>
              <a:endParaRPr sz="2200">
                <a:solidFill>
                  <a:schemeClr val="lt1"/>
                </a:solidFill>
                <a:latin typeface="Google Sans"/>
                <a:ea typeface="Google Sans"/>
                <a:cs typeface="Google Sans"/>
                <a:sym typeface="Google Sans"/>
              </a:endParaRPr>
            </a:p>
          </p:txBody>
        </p:sp>
      </p:grpSp>
      <p:grpSp>
        <p:nvGrpSpPr>
          <p:cNvPr id="404" name="Google Shape;404;p57"/>
          <p:cNvGrpSpPr/>
          <p:nvPr/>
        </p:nvGrpSpPr>
        <p:grpSpPr>
          <a:xfrm>
            <a:off x="12539243" y="5939158"/>
            <a:ext cx="1371600" cy="1579484"/>
            <a:chOff x="12435840" y="5558158"/>
            <a:chExt cx="1371600" cy="1579484"/>
          </a:xfrm>
        </p:grpSpPr>
        <p:sp>
          <p:nvSpPr>
            <p:cNvPr id="405" name="Google Shape;405;p57"/>
            <p:cNvSpPr txBox="1"/>
            <p:nvPr/>
          </p:nvSpPr>
          <p:spPr>
            <a:xfrm>
              <a:off x="12435840" y="6726042"/>
              <a:ext cx="1371600" cy="411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200">
                  <a:solidFill>
                    <a:schemeClr val="lt1"/>
                  </a:solidFill>
                  <a:latin typeface="Google Sans"/>
                  <a:ea typeface="Google Sans"/>
                  <a:cs typeface="Google Sans"/>
                  <a:sym typeface="Google Sans"/>
                </a:rPr>
                <a:t>VMs</a:t>
              </a:r>
              <a:endParaRPr sz="2200">
                <a:solidFill>
                  <a:schemeClr val="lt1"/>
                </a:solidFill>
                <a:latin typeface="Google Sans"/>
                <a:ea typeface="Google Sans"/>
                <a:cs typeface="Google Sans"/>
                <a:sym typeface="Google Sans"/>
              </a:endParaRPr>
            </a:p>
          </p:txBody>
        </p:sp>
        <p:pic>
          <p:nvPicPr>
            <p:cNvPr id="406" name="Google Shape;406;p57"/>
            <p:cNvPicPr preferRelativeResize="0"/>
            <p:nvPr/>
          </p:nvPicPr>
          <p:blipFill rotWithShape="1">
            <a:blip r:embed="rId6">
              <a:alphaModFix/>
            </a:blip>
            <a:srcRect b="748" l="0" r="0" t="758"/>
            <a:stretch/>
          </p:blipFill>
          <p:spPr>
            <a:xfrm>
              <a:off x="12566305" y="5558158"/>
              <a:ext cx="1110671" cy="1094216"/>
            </a:xfrm>
            <a:prstGeom prst="rect">
              <a:avLst/>
            </a:prstGeom>
            <a:noFill/>
            <a:ln>
              <a:noFill/>
            </a:ln>
          </p:spPr>
        </p:pic>
      </p:grpSp>
      <p:grpSp>
        <p:nvGrpSpPr>
          <p:cNvPr id="407" name="Google Shape;407;p57"/>
          <p:cNvGrpSpPr/>
          <p:nvPr/>
        </p:nvGrpSpPr>
        <p:grpSpPr>
          <a:xfrm>
            <a:off x="15241862" y="6008124"/>
            <a:ext cx="1371600" cy="1510518"/>
            <a:chOff x="15089462" y="5627124"/>
            <a:chExt cx="1371600" cy="1510518"/>
          </a:xfrm>
        </p:grpSpPr>
        <p:pic>
          <p:nvPicPr>
            <p:cNvPr id="408" name="Google Shape;408;p57"/>
            <p:cNvPicPr preferRelativeResize="0"/>
            <p:nvPr/>
          </p:nvPicPr>
          <p:blipFill rotWithShape="1">
            <a:blip r:embed="rId7">
              <a:alphaModFix/>
            </a:blip>
            <a:srcRect b="6499" l="0" r="0" t="6490"/>
            <a:stretch/>
          </p:blipFill>
          <p:spPr>
            <a:xfrm>
              <a:off x="15219917" y="5627124"/>
              <a:ext cx="1110690" cy="1018132"/>
            </a:xfrm>
            <a:prstGeom prst="rect">
              <a:avLst/>
            </a:prstGeom>
            <a:noFill/>
            <a:ln>
              <a:noFill/>
            </a:ln>
          </p:spPr>
        </p:pic>
        <p:sp>
          <p:nvSpPr>
            <p:cNvPr id="409" name="Google Shape;409;p57"/>
            <p:cNvSpPr txBox="1"/>
            <p:nvPr/>
          </p:nvSpPr>
          <p:spPr>
            <a:xfrm>
              <a:off x="15089462" y="6726042"/>
              <a:ext cx="1371600" cy="411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200">
                  <a:solidFill>
                    <a:schemeClr val="lt1"/>
                  </a:solidFill>
                  <a:latin typeface="Google Sans"/>
                  <a:ea typeface="Google Sans"/>
                  <a:cs typeface="Google Sans"/>
                  <a:sym typeface="Google Sans"/>
                </a:rPr>
                <a:t>Cloud</a:t>
              </a:r>
              <a:endParaRPr sz="22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200">
                  <a:solidFill>
                    <a:schemeClr val="lt1"/>
                  </a:solidFill>
                  <a:latin typeface="Google Sans"/>
                  <a:ea typeface="Google Sans"/>
                  <a:cs typeface="Google Sans"/>
                  <a:sym typeface="Google Sans"/>
                </a:rPr>
                <a:t>APIs</a:t>
              </a:r>
              <a:endParaRPr sz="2200">
                <a:solidFill>
                  <a:schemeClr val="lt1"/>
                </a:solidFill>
                <a:latin typeface="Google Sans"/>
                <a:ea typeface="Google Sans"/>
                <a:cs typeface="Google Sans"/>
                <a:sym typeface="Google Sans"/>
              </a:endParaRPr>
            </a:p>
          </p:txBody>
        </p:sp>
      </p:grpSp>
      <p:grpSp>
        <p:nvGrpSpPr>
          <p:cNvPr id="410" name="Google Shape;410;p57"/>
          <p:cNvGrpSpPr/>
          <p:nvPr/>
        </p:nvGrpSpPr>
        <p:grpSpPr>
          <a:xfrm>
            <a:off x="9836625" y="5974558"/>
            <a:ext cx="1371600" cy="1544084"/>
            <a:chOff x="9684225" y="5593558"/>
            <a:chExt cx="1371600" cy="1544084"/>
          </a:xfrm>
        </p:grpSpPr>
        <p:pic>
          <p:nvPicPr>
            <p:cNvPr id="411" name="Google Shape;411;p57"/>
            <p:cNvPicPr preferRelativeResize="0"/>
            <p:nvPr/>
          </p:nvPicPr>
          <p:blipFill rotWithShape="1">
            <a:blip r:embed="rId8">
              <a:alphaModFix/>
            </a:blip>
            <a:srcRect b="199" l="0" r="0" t="199"/>
            <a:stretch/>
          </p:blipFill>
          <p:spPr>
            <a:xfrm>
              <a:off x="9829182" y="5593558"/>
              <a:ext cx="1110678" cy="1102451"/>
            </a:xfrm>
            <a:prstGeom prst="rect">
              <a:avLst/>
            </a:prstGeom>
            <a:noFill/>
            <a:ln>
              <a:noFill/>
            </a:ln>
          </p:spPr>
        </p:pic>
        <p:sp>
          <p:nvSpPr>
            <p:cNvPr id="412" name="Google Shape;412;p57"/>
            <p:cNvSpPr txBox="1"/>
            <p:nvPr/>
          </p:nvSpPr>
          <p:spPr>
            <a:xfrm>
              <a:off x="9684225" y="6726042"/>
              <a:ext cx="1371600" cy="411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200">
                  <a:solidFill>
                    <a:schemeClr val="lt1"/>
                  </a:solidFill>
                  <a:latin typeface="Google Sans"/>
                  <a:ea typeface="Google Sans"/>
                  <a:cs typeface="Google Sans"/>
                  <a:sym typeface="Google Sans"/>
                </a:rPr>
                <a:t>BigQuery</a:t>
              </a:r>
              <a:endParaRPr sz="2200">
                <a:solidFill>
                  <a:schemeClr val="lt1"/>
                </a:solidFill>
                <a:latin typeface="Google Sans"/>
                <a:ea typeface="Google Sans"/>
                <a:cs typeface="Google Sans"/>
                <a:sym typeface="Google Sans"/>
              </a:endParaRPr>
            </a:p>
          </p:txBody>
        </p:sp>
      </p:grpSp>
      <p:cxnSp>
        <p:nvCxnSpPr>
          <p:cNvPr id="413" name="Google Shape;413;p57"/>
          <p:cNvCxnSpPr/>
          <p:nvPr/>
        </p:nvCxnSpPr>
        <p:spPr>
          <a:xfrm rot="10800000">
            <a:off x="11902180" y="5637625"/>
            <a:ext cx="0" cy="306600"/>
          </a:xfrm>
          <a:prstGeom prst="straightConnector1">
            <a:avLst/>
          </a:prstGeom>
          <a:noFill/>
          <a:ln cap="flat" cmpd="sng" w="9525">
            <a:solidFill>
              <a:srgbClr val="999999"/>
            </a:solidFill>
            <a:prstDash val="solid"/>
            <a:round/>
            <a:headEnd len="med" w="med" type="oval"/>
            <a:tailEnd len="med" w="med" type="none"/>
          </a:ln>
        </p:spPr>
      </p:cxnSp>
      <p:grpSp>
        <p:nvGrpSpPr>
          <p:cNvPr id="414" name="Google Shape;414;p57"/>
          <p:cNvGrpSpPr/>
          <p:nvPr/>
        </p:nvGrpSpPr>
        <p:grpSpPr>
          <a:xfrm>
            <a:off x="10525677" y="5634642"/>
            <a:ext cx="5398731" cy="354960"/>
            <a:chOff x="4562755" y="2776300"/>
            <a:chExt cx="2847282" cy="326700"/>
          </a:xfrm>
        </p:grpSpPr>
        <p:cxnSp>
          <p:nvCxnSpPr>
            <p:cNvPr id="415" name="Google Shape;415;p57"/>
            <p:cNvCxnSpPr/>
            <p:nvPr/>
          </p:nvCxnSpPr>
          <p:spPr>
            <a:xfrm>
              <a:off x="4564838" y="2780986"/>
              <a:ext cx="2845200" cy="0"/>
            </a:xfrm>
            <a:prstGeom prst="straightConnector1">
              <a:avLst/>
            </a:prstGeom>
            <a:noFill/>
            <a:ln cap="flat" cmpd="sng" w="9525">
              <a:solidFill>
                <a:srgbClr val="999999"/>
              </a:solidFill>
              <a:prstDash val="solid"/>
              <a:round/>
              <a:headEnd len="med" w="med" type="none"/>
              <a:tailEnd len="med" w="med" type="none"/>
            </a:ln>
          </p:spPr>
        </p:cxnSp>
        <p:cxnSp>
          <p:nvCxnSpPr>
            <p:cNvPr id="416" name="Google Shape;416;p57"/>
            <p:cNvCxnSpPr/>
            <p:nvPr/>
          </p:nvCxnSpPr>
          <p:spPr>
            <a:xfrm rot="10800000">
              <a:off x="7409193" y="2776300"/>
              <a:ext cx="0" cy="326700"/>
            </a:xfrm>
            <a:prstGeom prst="straightConnector1">
              <a:avLst/>
            </a:prstGeom>
            <a:noFill/>
            <a:ln cap="flat" cmpd="sng" w="9525">
              <a:solidFill>
                <a:srgbClr val="999999"/>
              </a:solidFill>
              <a:prstDash val="solid"/>
              <a:round/>
              <a:headEnd len="med" w="med" type="oval"/>
              <a:tailEnd len="med" w="med" type="none"/>
            </a:ln>
          </p:spPr>
        </p:cxnSp>
        <p:cxnSp>
          <p:nvCxnSpPr>
            <p:cNvPr id="417" name="Google Shape;417;p57"/>
            <p:cNvCxnSpPr/>
            <p:nvPr/>
          </p:nvCxnSpPr>
          <p:spPr>
            <a:xfrm rot="10800000">
              <a:off x="4562755" y="2776300"/>
              <a:ext cx="0" cy="326700"/>
            </a:xfrm>
            <a:prstGeom prst="straightConnector1">
              <a:avLst/>
            </a:prstGeom>
            <a:noFill/>
            <a:ln cap="flat" cmpd="sng" w="9525">
              <a:solidFill>
                <a:srgbClr val="999999"/>
              </a:solidFill>
              <a:prstDash val="solid"/>
              <a:round/>
              <a:headEnd len="med" w="med" type="oval"/>
              <a:tailEnd len="med" w="med" type="none"/>
            </a:ln>
          </p:spPr>
        </p:cxnSp>
      </p:grpSp>
      <p:cxnSp>
        <p:nvCxnSpPr>
          <p:cNvPr id="418" name="Google Shape;418;p57"/>
          <p:cNvCxnSpPr>
            <a:stCxn id="406" idx="0"/>
          </p:cNvCxnSpPr>
          <p:nvPr/>
        </p:nvCxnSpPr>
        <p:spPr>
          <a:xfrm rot="10800000">
            <a:off x="13223543" y="5152858"/>
            <a:ext cx="1500" cy="786300"/>
          </a:xfrm>
          <a:prstGeom prst="straightConnector1">
            <a:avLst/>
          </a:prstGeom>
          <a:noFill/>
          <a:ln cap="flat" cmpd="sng" w="9525">
            <a:solidFill>
              <a:srgbClr val="999999"/>
            </a:solidFill>
            <a:prstDash val="solid"/>
            <a:round/>
            <a:headEnd len="med" w="med" type="oval"/>
            <a:tailEnd len="med" w="med" type="none"/>
          </a:ln>
        </p:spPr>
      </p:cxnSp>
      <p:cxnSp>
        <p:nvCxnSpPr>
          <p:cNvPr id="419" name="Google Shape;419;p57"/>
          <p:cNvCxnSpPr/>
          <p:nvPr/>
        </p:nvCxnSpPr>
        <p:spPr>
          <a:xfrm rot="10800000">
            <a:off x="14599920" y="5637658"/>
            <a:ext cx="300" cy="301500"/>
          </a:xfrm>
          <a:prstGeom prst="straightConnector1">
            <a:avLst/>
          </a:prstGeom>
          <a:noFill/>
          <a:ln cap="flat" cmpd="sng" w="9525">
            <a:solidFill>
              <a:srgbClr val="999999"/>
            </a:solidFill>
            <a:prstDash val="solid"/>
            <a:round/>
            <a:headEnd len="med" w="med" type="oval"/>
            <a:tailEnd len="med" w="med" type="none"/>
          </a:ln>
        </p:spPr>
      </p:cxnSp>
      <p:grpSp>
        <p:nvGrpSpPr>
          <p:cNvPr id="420" name="Google Shape;420;p57"/>
          <p:cNvGrpSpPr/>
          <p:nvPr/>
        </p:nvGrpSpPr>
        <p:grpSpPr>
          <a:xfrm>
            <a:off x="13890553" y="5989592"/>
            <a:ext cx="1371600" cy="1529050"/>
            <a:chOff x="13776253" y="5608592"/>
            <a:chExt cx="1371600" cy="1529050"/>
          </a:xfrm>
        </p:grpSpPr>
        <p:sp>
          <p:nvSpPr>
            <p:cNvPr id="421" name="Google Shape;421;p57"/>
            <p:cNvSpPr txBox="1"/>
            <p:nvPr/>
          </p:nvSpPr>
          <p:spPr>
            <a:xfrm>
              <a:off x="13776253" y="6726042"/>
              <a:ext cx="1371600" cy="4116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200">
                  <a:solidFill>
                    <a:schemeClr val="lt1"/>
                  </a:solidFill>
                  <a:latin typeface="Google Sans"/>
                  <a:ea typeface="Google Sans"/>
                  <a:cs typeface="Google Sans"/>
                  <a:sym typeface="Google Sans"/>
                </a:rPr>
                <a:t>Cloud Network</a:t>
              </a:r>
              <a:endParaRPr sz="2200">
                <a:solidFill>
                  <a:schemeClr val="lt1"/>
                </a:solidFill>
                <a:latin typeface="Google Sans"/>
                <a:ea typeface="Google Sans"/>
                <a:cs typeface="Google Sans"/>
                <a:sym typeface="Google Sans"/>
              </a:endParaRPr>
            </a:p>
          </p:txBody>
        </p:sp>
        <p:pic>
          <p:nvPicPr>
            <p:cNvPr id="422" name="Google Shape;422;p57"/>
            <p:cNvPicPr preferRelativeResize="0"/>
            <p:nvPr/>
          </p:nvPicPr>
          <p:blipFill rotWithShape="1">
            <a:blip r:embed="rId9">
              <a:alphaModFix/>
            </a:blip>
            <a:srcRect b="5012" l="0" r="0" t="5003"/>
            <a:stretch/>
          </p:blipFill>
          <p:spPr>
            <a:xfrm>
              <a:off x="13906453" y="5608592"/>
              <a:ext cx="1111200" cy="995700"/>
            </a:xfrm>
            <a:prstGeom prst="rect">
              <a:avLst/>
            </a:prstGeom>
            <a:noFill/>
            <a:ln>
              <a:noFill/>
            </a:ln>
          </p:spPr>
        </p:pic>
      </p:grpSp>
      <p:sp>
        <p:nvSpPr>
          <p:cNvPr id="423" name="Google Shape;423;p57"/>
          <p:cNvSpPr/>
          <p:nvPr/>
        </p:nvSpPr>
        <p:spPr>
          <a:xfrm>
            <a:off x="15170100" y="3664600"/>
            <a:ext cx="887100" cy="622800"/>
          </a:xfrm>
          <a:prstGeom prst="roundRect">
            <a:avLst>
              <a:gd fmla="val 16667" name="adj"/>
            </a:avLst>
          </a:prstGeom>
          <a:noFill/>
          <a:ln cap="flat" cmpd="sng" w="762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57"/>
          <p:cNvCxnSpPr/>
          <p:nvPr/>
        </p:nvCxnSpPr>
        <p:spPr>
          <a:xfrm>
            <a:off x="15170100" y="3899800"/>
            <a:ext cx="887100" cy="0"/>
          </a:xfrm>
          <a:prstGeom prst="straightConnector1">
            <a:avLst/>
          </a:prstGeom>
          <a:noFill/>
          <a:ln cap="flat" cmpd="sng" w="114300">
            <a:solidFill>
              <a:srgbClr val="4285F4"/>
            </a:solidFill>
            <a:prstDash val="solid"/>
            <a:round/>
            <a:headEnd len="med" w="med" type="none"/>
            <a:tailEnd len="med" w="med" type="none"/>
          </a:ln>
        </p:spPr>
      </p:cxnSp>
      <p:cxnSp>
        <p:nvCxnSpPr>
          <p:cNvPr id="425" name="Google Shape;425;p57"/>
          <p:cNvCxnSpPr/>
          <p:nvPr/>
        </p:nvCxnSpPr>
        <p:spPr>
          <a:xfrm flipH="1" rot="10800000">
            <a:off x="13327300" y="3990812"/>
            <a:ext cx="1710000" cy="8700"/>
          </a:xfrm>
          <a:prstGeom prst="straightConnector1">
            <a:avLst/>
          </a:prstGeom>
          <a:noFill/>
          <a:ln cap="flat" cmpd="sng" w="9525">
            <a:solidFill>
              <a:schemeClr val="lt1"/>
            </a:solidFill>
            <a:prstDash val="solid"/>
            <a:round/>
            <a:headEnd len="med" w="med" type="none"/>
            <a:tailEnd len="med" w="med" type="triangle"/>
          </a:ln>
        </p:spPr>
      </p:cxnSp>
      <p:sp>
        <p:nvSpPr>
          <p:cNvPr id="426" name="Google Shape;426;p5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billing works</a:t>
            </a:r>
            <a:endParaRPr/>
          </a:p>
        </p:txBody>
      </p:sp>
      <p:sp>
        <p:nvSpPr>
          <p:cNvPr id="427" name="Google Shape;427;p5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0">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keep your billing under control</a:t>
            </a:r>
            <a:endParaRPr/>
          </a:p>
        </p:txBody>
      </p:sp>
      <p:sp>
        <p:nvSpPr>
          <p:cNvPr id="433" name="Google Shape;433;p5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cxnSp>
        <p:nvCxnSpPr>
          <p:cNvPr id="434" name="Google Shape;434;p58"/>
          <p:cNvCxnSpPr>
            <a:stCxn id="435" idx="4"/>
            <a:endCxn id="436" idx="4"/>
          </p:cNvCxnSpPr>
          <p:nvPr/>
        </p:nvCxnSpPr>
        <p:spPr>
          <a:xfrm>
            <a:off x="2144375" y="3219248"/>
            <a:ext cx="0" cy="3876300"/>
          </a:xfrm>
          <a:prstGeom prst="straightConnector1">
            <a:avLst/>
          </a:prstGeom>
          <a:noFill/>
          <a:ln cap="flat" cmpd="sng" w="38100">
            <a:solidFill>
              <a:srgbClr val="BDC1C6"/>
            </a:solidFill>
            <a:prstDash val="solid"/>
            <a:round/>
            <a:headEnd len="med" w="med" type="none"/>
            <a:tailEnd len="med" w="med" type="none"/>
          </a:ln>
        </p:spPr>
      </p:cxnSp>
      <p:sp>
        <p:nvSpPr>
          <p:cNvPr id="435" name="Google Shape;435;p58"/>
          <p:cNvSpPr/>
          <p:nvPr/>
        </p:nvSpPr>
        <p:spPr>
          <a:xfrm>
            <a:off x="1836875" y="2604248"/>
            <a:ext cx="615000" cy="615000"/>
          </a:xfrm>
          <a:prstGeom prst="ellipse">
            <a:avLst/>
          </a:prstGeom>
          <a:solidFill>
            <a:srgbClr val="4285F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1</a:t>
            </a:r>
            <a:endParaRPr b="1" sz="2800">
              <a:solidFill>
                <a:srgbClr val="FFFFFF"/>
              </a:solidFill>
              <a:latin typeface="Google Sans"/>
              <a:ea typeface="Google Sans"/>
              <a:cs typeface="Google Sans"/>
              <a:sym typeface="Google Sans"/>
            </a:endParaRPr>
          </a:p>
        </p:txBody>
      </p:sp>
      <p:sp>
        <p:nvSpPr>
          <p:cNvPr id="437" name="Google Shape;437;p58"/>
          <p:cNvSpPr txBox="1"/>
          <p:nvPr/>
        </p:nvSpPr>
        <p:spPr>
          <a:xfrm>
            <a:off x="2564188" y="2506998"/>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Budgets and alerts</a:t>
            </a:r>
            <a:endParaRPr sz="2800">
              <a:solidFill>
                <a:srgbClr val="3C4043"/>
              </a:solidFill>
              <a:latin typeface="Roboto"/>
              <a:ea typeface="Roboto"/>
              <a:cs typeface="Roboto"/>
              <a:sym typeface="Roboto"/>
            </a:endParaRPr>
          </a:p>
        </p:txBody>
      </p:sp>
      <p:sp>
        <p:nvSpPr>
          <p:cNvPr id="438" name="Google Shape;438;p58"/>
          <p:cNvSpPr/>
          <p:nvPr/>
        </p:nvSpPr>
        <p:spPr>
          <a:xfrm>
            <a:off x="1836875" y="3891330"/>
            <a:ext cx="615000" cy="615000"/>
          </a:xfrm>
          <a:prstGeom prst="ellipse">
            <a:avLst/>
          </a:prstGeom>
          <a:solidFill>
            <a:srgbClr val="EA4335"/>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2</a:t>
            </a:r>
            <a:endParaRPr b="1" sz="2800">
              <a:solidFill>
                <a:srgbClr val="FFFFFF"/>
              </a:solidFill>
              <a:latin typeface="Google Sans"/>
              <a:ea typeface="Google Sans"/>
              <a:cs typeface="Google Sans"/>
              <a:sym typeface="Google Sans"/>
            </a:endParaRPr>
          </a:p>
        </p:txBody>
      </p:sp>
      <p:sp>
        <p:nvSpPr>
          <p:cNvPr id="439" name="Google Shape;439;p58"/>
          <p:cNvSpPr/>
          <p:nvPr/>
        </p:nvSpPr>
        <p:spPr>
          <a:xfrm>
            <a:off x="1836875" y="5195599"/>
            <a:ext cx="615000" cy="615000"/>
          </a:xfrm>
          <a:prstGeom prst="ellipse">
            <a:avLst/>
          </a:prstGeom>
          <a:solidFill>
            <a:srgbClr val="FBBC0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434343"/>
                </a:solidFill>
                <a:latin typeface="Google Sans"/>
                <a:ea typeface="Google Sans"/>
                <a:cs typeface="Google Sans"/>
                <a:sym typeface="Google Sans"/>
              </a:rPr>
              <a:t>3</a:t>
            </a:r>
            <a:endParaRPr b="1" sz="2800">
              <a:solidFill>
                <a:srgbClr val="434343"/>
              </a:solidFill>
              <a:latin typeface="Google Sans"/>
              <a:ea typeface="Google Sans"/>
              <a:cs typeface="Google Sans"/>
              <a:sym typeface="Google Sans"/>
            </a:endParaRPr>
          </a:p>
        </p:txBody>
      </p:sp>
      <p:sp>
        <p:nvSpPr>
          <p:cNvPr id="440" name="Google Shape;440;p58"/>
          <p:cNvSpPr txBox="1"/>
          <p:nvPr/>
        </p:nvSpPr>
        <p:spPr>
          <a:xfrm>
            <a:off x="2564188" y="5115874"/>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Reports</a:t>
            </a:r>
            <a:endParaRPr sz="2800">
              <a:solidFill>
                <a:srgbClr val="3C4043"/>
              </a:solidFill>
              <a:latin typeface="Roboto"/>
              <a:ea typeface="Roboto"/>
              <a:cs typeface="Roboto"/>
              <a:sym typeface="Roboto"/>
            </a:endParaRPr>
          </a:p>
        </p:txBody>
      </p:sp>
      <p:sp>
        <p:nvSpPr>
          <p:cNvPr id="436" name="Google Shape;436;p58"/>
          <p:cNvSpPr/>
          <p:nvPr/>
        </p:nvSpPr>
        <p:spPr>
          <a:xfrm>
            <a:off x="1836875" y="6480475"/>
            <a:ext cx="615000" cy="615000"/>
          </a:xfrm>
          <a:prstGeom prst="ellipse">
            <a:avLst/>
          </a:prstGeom>
          <a:solidFill>
            <a:srgbClr val="34A85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4</a:t>
            </a:r>
            <a:endParaRPr b="1" sz="2800">
              <a:solidFill>
                <a:srgbClr val="FFFFFF"/>
              </a:solidFill>
              <a:latin typeface="Google Sans"/>
              <a:ea typeface="Google Sans"/>
              <a:cs typeface="Google Sans"/>
              <a:sym typeface="Google Sans"/>
            </a:endParaRPr>
          </a:p>
        </p:txBody>
      </p:sp>
      <p:sp>
        <p:nvSpPr>
          <p:cNvPr id="441" name="Google Shape;441;p58"/>
          <p:cNvSpPr txBox="1"/>
          <p:nvPr/>
        </p:nvSpPr>
        <p:spPr>
          <a:xfrm>
            <a:off x="2564188" y="3820474"/>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Billing export</a:t>
            </a:r>
            <a:endParaRPr sz="2800">
              <a:solidFill>
                <a:srgbClr val="3C4043"/>
              </a:solidFill>
              <a:latin typeface="Roboto"/>
              <a:ea typeface="Roboto"/>
              <a:cs typeface="Roboto"/>
              <a:sym typeface="Roboto"/>
            </a:endParaRPr>
          </a:p>
        </p:txBody>
      </p:sp>
      <p:sp>
        <p:nvSpPr>
          <p:cNvPr id="442" name="Google Shape;442;p58"/>
          <p:cNvSpPr txBox="1"/>
          <p:nvPr/>
        </p:nvSpPr>
        <p:spPr>
          <a:xfrm>
            <a:off x="2564188" y="6411274"/>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Quotas</a:t>
            </a:r>
            <a:endParaRPr sz="2800">
              <a:solidFill>
                <a:srgbClr val="3C4043"/>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59"/>
          <p:cNvPicPr preferRelativeResize="0"/>
          <p:nvPr/>
        </p:nvPicPr>
        <p:blipFill rotWithShape="1">
          <a:blip r:embed="rId3">
            <a:alphaModFix/>
          </a:blip>
          <a:srcRect b="0" l="714" r="0" t="0"/>
          <a:stretch/>
        </p:blipFill>
        <p:spPr>
          <a:xfrm>
            <a:off x="1828800" y="2819700"/>
            <a:ext cx="14510568" cy="5214027"/>
          </a:xfrm>
          <a:prstGeom prst="rect">
            <a:avLst/>
          </a:prstGeom>
          <a:noFill/>
          <a:ln>
            <a:noFill/>
          </a:ln>
        </p:spPr>
      </p:pic>
      <p:sp>
        <p:nvSpPr>
          <p:cNvPr id="448" name="Google Shape;448;p5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Budgets and alerts keep your billing under contro</a:t>
            </a:r>
            <a:r>
              <a:rPr lang="en"/>
              <a:t>l</a:t>
            </a:r>
            <a:endParaRPr/>
          </a:p>
        </p:txBody>
      </p:sp>
      <p:sp>
        <p:nvSpPr>
          <p:cNvPr id="449" name="Google Shape;449;p5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60"/>
          <p:cNvPicPr preferRelativeResize="0"/>
          <p:nvPr/>
        </p:nvPicPr>
        <p:blipFill rotWithShape="1">
          <a:blip r:embed="rId3">
            <a:alphaModFix/>
          </a:blip>
          <a:srcRect b="5294" l="0" r="21556" t="0"/>
          <a:stretch/>
        </p:blipFill>
        <p:spPr>
          <a:xfrm>
            <a:off x="3061275" y="4190949"/>
            <a:ext cx="10763474" cy="5016525"/>
          </a:xfrm>
          <a:prstGeom prst="rect">
            <a:avLst/>
          </a:prstGeom>
          <a:noFill/>
          <a:ln>
            <a:noFill/>
          </a:ln>
        </p:spPr>
      </p:pic>
      <p:grpSp>
        <p:nvGrpSpPr>
          <p:cNvPr id="455" name="Google Shape;455;p60"/>
          <p:cNvGrpSpPr/>
          <p:nvPr/>
        </p:nvGrpSpPr>
        <p:grpSpPr>
          <a:xfrm>
            <a:off x="6267288" y="2696466"/>
            <a:ext cx="1938524" cy="1441324"/>
            <a:chOff x="1887525" y="2294863"/>
            <a:chExt cx="2170800" cy="1612400"/>
          </a:xfrm>
        </p:grpSpPr>
        <p:pic>
          <p:nvPicPr>
            <p:cNvPr id="456" name="Google Shape;456;p60"/>
            <p:cNvPicPr preferRelativeResize="0"/>
            <p:nvPr/>
          </p:nvPicPr>
          <p:blipFill rotWithShape="1">
            <a:blip r:embed="rId4">
              <a:alphaModFix/>
            </a:blip>
            <a:srcRect b="0" l="0" r="0" t="0"/>
            <a:stretch/>
          </p:blipFill>
          <p:spPr>
            <a:xfrm>
              <a:off x="2335387" y="2294863"/>
              <a:ext cx="1226627" cy="1088136"/>
            </a:xfrm>
            <a:prstGeom prst="rect">
              <a:avLst/>
            </a:prstGeom>
            <a:noFill/>
            <a:ln>
              <a:noFill/>
            </a:ln>
          </p:spPr>
        </p:pic>
        <p:sp>
          <p:nvSpPr>
            <p:cNvPr id="457" name="Google Shape;457;p60"/>
            <p:cNvSpPr txBox="1"/>
            <p:nvPr/>
          </p:nvSpPr>
          <p:spPr>
            <a:xfrm>
              <a:off x="1887525" y="3357363"/>
              <a:ext cx="2170800" cy="549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chemeClr val="lt1"/>
                  </a:solidFill>
                  <a:latin typeface="Google Sans"/>
                  <a:ea typeface="Google Sans"/>
                  <a:cs typeface="Google Sans"/>
                  <a:sym typeface="Google Sans"/>
                </a:rPr>
                <a:t>BigQuery</a:t>
              </a:r>
              <a:endParaRPr sz="2400">
                <a:solidFill>
                  <a:schemeClr val="lt1"/>
                </a:solidFill>
                <a:latin typeface="Google Sans"/>
                <a:ea typeface="Google Sans"/>
                <a:cs typeface="Google Sans"/>
                <a:sym typeface="Google Sans"/>
              </a:endParaRPr>
            </a:p>
          </p:txBody>
        </p:sp>
      </p:grpSp>
      <p:grpSp>
        <p:nvGrpSpPr>
          <p:cNvPr id="458" name="Google Shape;458;p60"/>
          <p:cNvGrpSpPr/>
          <p:nvPr/>
        </p:nvGrpSpPr>
        <p:grpSpPr>
          <a:xfrm>
            <a:off x="13707199" y="2696466"/>
            <a:ext cx="2203745" cy="1445421"/>
            <a:chOff x="5374122" y="2299324"/>
            <a:chExt cx="2467800" cy="1616983"/>
          </a:xfrm>
        </p:grpSpPr>
        <p:pic>
          <p:nvPicPr>
            <p:cNvPr id="459" name="Google Shape;459;p60"/>
            <p:cNvPicPr preferRelativeResize="0"/>
            <p:nvPr/>
          </p:nvPicPr>
          <p:blipFill rotWithShape="1">
            <a:blip r:embed="rId5">
              <a:alphaModFix/>
            </a:blip>
            <a:srcRect b="327" l="0" r="0" t="327"/>
            <a:stretch/>
          </p:blipFill>
          <p:spPr>
            <a:xfrm>
              <a:off x="5990972" y="2299324"/>
              <a:ext cx="1234099" cy="1090904"/>
            </a:xfrm>
            <a:prstGeom prst="rect">
              <a:avLst/>
            </a:prstGeom>
            <a:noFill/>
            <a:ln>
              <a:noFill/>
            </a:ln>
          </p:spPr>
        </p:pic>
        <p:sp>
          <p:nvSpPr>
            <p:cNvPr id="460" name="Google Shape;460;p60"/>
            <p:cNvSpPr txBox="1"/>
            <p:nvPr/>
          </p:nvSpPr>
          <p:spPr>
            <a:xfrm>
              <a:off x="5374122" y="3366407"/>
              <a:ext cx="2467800" cy="549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400">
                  <a:solidFill>
                    <a:schemeClr val="lt1"/>
                  </a:solidFill>
                  <a:latin typeface="Google Sans"/>
                  <a:ea typeface="Google Sans"/>
                  <a:cs typeface="Google Sans"/>
                  <a:sym typeface="Google Sans"/>
                </a:rPr>
                <a:t>Cloud</a:t>
              </a:r>
              <a:br>
                <a:rPr lang="en" sz="2400">
                  <a:solidFill>
                    <a:schemeClr val="lt1"/>
                  </a:solidFill>
                  <a:latin typeface="Google Sans"/>
                  <a:ea typeface="Google Sans"/>
                  <a:cs typeface="Google Sans"/>
                  <a:sym typeface="Google Sans"/>
                </a:rPr>
              </a:br>
              <a:r>
                <a:rPr lang="en" sz="2400">
                  <a:solidFill>
                    <a:schemeClr val="lt1"/>
                  </a:solidFill>
                  <a:latin typeface="Google Sans"/>
                  <a:ea typeface="Google Sans"/>
                  <a:cs typeface="Google Sans"/>
                  <a:sym typeface="Google Sans"/>
                </a:rPr>
                <a:t>Storage</a:t>
              </a:r>
              <a:endParaRPr sz="2400">
                <a:solidFill>
                  <a:schemeClr val="lt1"/>
                </a:solidFill>
                <a:latin typeface="Google Sans"/>
                <a:ea typeface="Google Sans"/>
                <a:cs typeface="Google Sans"/>
                <a:sym typeface="Google Sans"/>
              </a:endParaRPr>
            </a:p>
          </p:txBody>
        </p:sp>
      </p:grpSp>
      <p:sp>
        <p:nvSpPr>
          <p:cNvPr id="461" name="Google Shape;461;p6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Billing export allows you to store detailed billing information</a:t>
            </a:r>
            <a:endParaRPr/>
          </a:p>
        </p:txBody>
      </p:sp>
      <p:cxnSp>
        <p:nvCxnSpPr>
          <p:cNvPr id="462" name="Google Shape;462;p60"/>
          <p:cNvCxnSpPr>
            <a:stCxn id="457" idx="2"/>
            <a:endCxn id="463" idx="1"/>
          </p:cNvCxnSpPr>
          <p:nvPr/>
        </p:nvCxnSpPr>
        <p:spPr>
          <a:xfrm flipH="1" rot="-5400000">
            <a:off x="6723401" y="4650940"/>
            <a:ext cx="1575300" cy="549000"/>
          </a:xfrm>
          <a:prstGeom prst="bentConnector2">
            <a:avLst/>
          </a:prstGeom>
          <a:noFill/>
          <a:ln cap="flat" cmpd="sng" w="38100">
            <a:solidFill>
              <a:schemeClr val="accent6"/>
            </a:solidFill>
            <a:prstDash val="solid"/>
            <a:round/>
            <a:headEnd len="med" w="med" type="none"/>
            <a:tailEnd len="med" w="med" type="triangle"/>
          </a:ln>
        </p:spPr>
      </p:cxnSp>
      <p:sp>
        <p:nvSpPr>
          <p:cNvPr id="463" name="Google Shape;463;p60"/>
          <p:cNvSpPr/>
          <p:nvPr/>
        </p:nvSpPr>
        <p:spPr>
          <a:xfrm>
            <a:off x="7785475" y="5532725"/>
            <a:ext cx="190800" cy="36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0"/>
          <p:cNvSpPr/>
          <p:nvPr/>
        </p:nvSpPr>
        <p:spPr>
          <a:xfrm>
            <a:off x="14033875" y="5761325"/>
            <a:ext cx="190800" cy="36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5" name="Google Shape;465;p60"/>
          <p:cNvCxnSpPr>
            <a:stCxn id="466" idx="2"/>
          </p:cNvCxnSpPr>
          <p:nvPr/>
        </p:nvCxnSpPr>
        <p:spPr>
          <a:xfrm rot="5400000">
            <a:off x="12306775" y="3124925"/>
            <a:ext cx="1187700" cy="3981300"/>
          </a:xfrm>
          <a:prstGeom prst="bentConnector2">
            <a:avLst/>
          </a:prstGeom>
          <a:noFill/>
          <a:ln cap="flat" cmpd="sng" w="38100">
            <a:solidFill>
              <a:schemeClr val="accent6"/>
            </a:solidFill>
            <a:prstDash val="solid"/>
            <a:round/>
            <a:headEnd len="med" w="med" type="none"/>
            <a:tailEnd len="med" w="med" type="triangle"/>
          </a:ln>
        </p:spPr>
      </p:cxnSp>
      <p:sp>
        <p:nvSpPr>
          <p:cNvPr id="466" name="Google Shape;466;p60"/>
          <p:cNvSpPr/>
          <p:nvPr/>
        </p:nvSpPr>
        <p:spPr>
          <a:xfrm>
            <a:off x="14795875" y="4161125"/>
            <a:ext cx="190800" cy="36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p61"/>
          <p:cNvPicPr preferRelativeResize="0"/>
          <p:nvPr/>
        </p:nvPicPr>
        <p:blipFill rotWithShape="1">
          <a:blip r:embed="rId3">
            <a:alphaModFix/>
          </a:blip>
          <a:srcRect b="21764" l="0" r="0" t="0"/>
          <a:stretch/>
        </p:blipFill>
        <p:spPr>
          <a:xfrm>
            <a:off x="4804050" y="2522300"/>
            <a:ext cx="8679900" cy="6688682"/>
          </a:xfrm>
          <a:prstGeom prst="rect">
            <a:avLst/>
          </a:prstGeom>
          <a:noFill/>
          <a:ln>
            <a:noFill/>
          </a:ln>
        </p:spPr>
      </p:pic>
      <p:sp>
        <p:nvSpPr>
          <p:cNvPr id="473" name="Google Shape;473;p6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Reports is a visual tool to monitor expenditure</a:t>
            </a:r>
            <a:endParaRPr/>
          </a:p>
        </p:txBody>
      </p:sp>
      <p:sp>
        <p:nvSpPr>
          <p:cNvPr id="474" name="Google Shape;474;p6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2"/>
          <p:cNvSpPr txBox="1"/>
          <p:nvPr/>
        </p:nvSpPr>
        <p:spPr>
          <a:xfrm>
            <a:off x="8449300" y="2843950"/>
            <a:ext cx="6360900" cy="16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sz="3300">
                <a:solidFill>
                  <a:schemeClr val="accent2"/>
                </a:solidFill>
                <a:latin typeface="Roboto"/>
                <a:ea typeface="Roboto"/>
                <a:cs typeface="Roboto"/>
                <a:sym typeface="Roboto"/>
              </a:rPr>
              <a:t>Rate quota</a:t>
            </a:r>
            <a:endParaRPr sz="3300">
              <a:solidFill>
                <a:schemeClr val="accent2"/>
              </a:solidFill>
              <a:latin typeface="Roboto"/>
              <a:ea typeface="Roboto"/>
              <a:cs typeface="Roboto"/>
              <a:sym typeface="Roboto"/>
            </a:endParaRPr>
          </a:p>
          <a:p>
            <a:pPr indent="0" lvl="0" marL="0" marR="0" rtl="0" algn="l">
              <a:lnSpc>
                <a:spcPct val="100000"/>
              </a:lnSpc>
              <a:spcBef>
                <a:spcPts val="1000"/>
              </a:spcBef>
              <a:spcAft>
                <a:spcPts val="1000"/>
              </a:spcAft>
              <a:buNone/>
            </a:pPr>
            <a:r>
              <a:rPr lang="en" sz="3300">
                <a:solidFill>
                  <a:schemeClr val="lt1"/>
                </a:solidFill>
                <a:latin typeface="Roboto"/>
                <a:ea typeface="Roboto"/>
                <a:cs typeface="Roboto"/>
                <a:sym typeface="Roboto"/>
              </a:rPr>
              <a:t>GKE API: 1,000 requests per</a:t>
            </a:r>
            <a:br>
              <a:rPr lang="en" sz="3300">
                <a:solidFill>
                  <a:schemeClr val="lt1"/>
                </a:solidFill>
                <a:latin typeface="Roboto"/>
                <a:ea typeface="Roboto"/>
                <a:cs typeface="Roboto"/>
                <a:sym typeface="Roboto"/>
              </a:rPr>
            </a:br>
            <a:r>
              <a:rPr lang="en" sz="3300">
                <a:solidFill>
                  <a:schemeClr val="lt1"/>
                </a:solidFill>
                <a:latin typeface="Roboto"/>
                <a:ea typeface="Roboto"/>
                <a:cs typeface="Roboto"/>
                <a:sym typeface="Roboto"/>
              </a:rPr>
              <a:t>100 seconds</a:t>
            </a:r>
            <a:endParaRPr sz="3300">
              <a:solidFill>
                <a:schemeClr val="lt1"/>
              </a:solidFill>
              <a:latin typeface="Roboto"/>
              <a:ea typeface="Roboto"/>
              <a:cs typeface="Roboto"/>
              <a:sym typeface="Roboto"/>
            </a:endParaRPr>
          </a:p>
        </p:txBody>
      </p:sp>
      <p:pic>
        <p:nvPicPr>
          <p:cNvPr id="480" name="Google Shape;480;p62"/>
          <p:cNvPicPr preferRelativeResize="0"/>
          <p:nvPr/>
        </p:nvPicPr>
        <p:blipFill>
          <a:blip r:embed="rId3">
            <a:alphaModFix/>
          </a:blip>
          <a:stretch>
            <a:fillRect/>
          </a:stretch>
        </p:blipFill>
        <p:spPr>
          <a:xfrm>
            <a:off x="1828800" y="2972100"/>
            <a:ext cx="5088866" cy="4555574"/>
          </a:xfrm>
          <a:prstGeom prst="rect">
            <a:avLst/>
          </a:prstGeom>
          <a:noFill/>
          <a:ln>
            <a:noFill/>
          </a:ln>
        </p:spPr>
      </p:pic>
      <p:sp>
        <p:nvSpPr>
          <p:cNvPr id="481" name="Google Shape;481;p62"/>
          <p:cNvSpPr txBox="1"/>
          <p:nvPr/>
        </p:nvSpPr>
        <p:spPr>
          <a:xfrm>
            <a:off x="8449300" y="4946513"/>
            <a:ext cx="7367700" cy="16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sz="3300">
                <a:solidFill>
                  <a:schemeClr val="accent2"/>
                </a:solidFill>
                <a:latin typeface="Roboto"/>
                <a:ea typeface="Roboto"/>
                <a:cs typeface="Roboto"/>
                <a:sym typeface="Roboto"/>
              </a:rPr>
              <a:t>Allocation quota</a:t>
            </a:r>
            <a:endParaRPr sz="3300">
              <a:solidFill>
                <a:schemeClr val="accent2"/>
              </a:solidFill>
              <a:latin typeface="Roboto"/>
              <a:ea typeface="Roboto"/>
              <a:cs typeface="Roboto"/>
              <a:sym typeface="Roboto"/>
            </a:endParaRPr>
          </a:p>
          <a:p>
            <a:pPr indent="0" lvl="0" marL="0" marR="0" rtl="0" algn="l">
              <a:lnSpc>
                <a:spcPct val="100000"/>
              </a:lnSpc>
              <a:spcBef>
                <a:spcPts val="1000"/>
              </a:spcBef>
              <a:spcAft>
                <a:spcPts val="1000"/>
              </a:spcAft>
              <a:buNone/>
            </a:pPr>
            <a:r>
              <a:rPr lang="en" sz="3300">
                <a:solidFill>
                  <a:schemeClr val="lt1"/>
                </a:solidFill>
                <a:latin typeface="Roboto"/>
                <a:ea typeface="Roboto"/>
                <a:cs typeface="Roboto"/>
                <a:sym typeface="Roboto"/>
              </a:rPr>
              <a:t>5 networks per project</a:t>
            </a:r>
            <a:endParaRPr sz="3300">
              <a:solidFill>
                <a:schemeClr val="lt1"/>
              </a:solidFill>
              <a:latin typeface="Roboto"/>
              <a:ea typeface="Roboto"/>
              <a:cs typeface="Roboto"/>
              <a:sym typeface="Roboto"/>
            </a:endParaRPr>
          </a:p>
        </p:txBody>
      </p:sp>
      <p:sp>
        <p:nvSpPr>
          <p:cNvPr id="482" name="Google Shape;482;p62"/>
          <p:cNvSpPr txBox="1"/>
          <p:nvPr/>
        </p:nvSpPr>
        <p:spPr>
          <a:xfrm>
            <a:off x="8449300" y="6744275"/>
            <a:ext cx="7367700" cy="93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1000"/>
              </a:spcAft>
              <a:buNone/>
            </a:pPr>
            <a:r>
              <a:rPr lang="en" sz="3300">
                <a:solidFill>
                  <a:schemeClr val="accent2"/>
                </a:solidFill>
                <a:latin typeface="Roboto"/>
                <a:ea typeface="Roboto"/>
                <a:cs typeface="Roboto"/>
                <a:sym typeface="Roboto"/>
              </a:rPr>
              <a:t>Many quotas are changeable</a:t>
            </a:r>
            <a:endParaRPr sz="3300">
              <a:solidFill>
                <a:schemeClr val="accent2"/>
              </a:solidFill>
              <a:latin typeface="Roboto"/>
              <a:ea typeface="Roboto"/>
              <a:cs typeface="Roboto"/>
              <a:sym typeface="Roboto"/>
            </a:endParaRPr>
          </a:p>
        </p:txBody>
      </p:sp>
      <p:sp>
        <p:nvSpPr>
          <p:cNvPr id="483" name="Google Shape;483;p6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Quotas are helpful limits</a:t>
            </a:r>
            <a:endParaRPr/>
          </a:p>
        </p:txBody>
      </p:sp>
      <p:sp>
        <p:nvSpPr>
          <p:cNvPr id="484" name="Google Shape;484;p6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3"/>
          <p:cNvSpPr txBox="1"/>
          <p:nvPr>
            <p:ph idx="1" type="body"/>
          </p:nvPr>
        </p:nvSpPr>
        <p:spPr>
          <a:xfrm>
            <a:off x="1701275" y="2432125"/>
            <a:ext cx="74865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a:t>
            </a:r>
            <a:endParaRPr/>
          </a:p>
          <a:p>
            <a:pPr indent="0" lvl="0" marL="0" rtl="0" algn="l">
              <a:spcBef>
                <a:spcPts val="2900"/>
              </a:spcBef>
              <a:spcAft>
                <a:spcPts val="0"/>
              </a:spcAft>
              <a:buNone/>
            </a:pPr>
            <a:r>
              <a:rPr lang="en"/>
              <a:t>Understanding Projects</a:t>
            </a:r>
            <a:endParaRPr/>
          </a:p>
          <a:p>
            <a:pPr indent="0" lvl="0" marL="0" rtl="0" algn="l">
              <a:spcBef>
                <a:spcPts val="2900"/>
              </a:spcBef>
              <a:spcAft>
                <a:spcPts val="0"/>
              </a:spcAft>
              <a:buNone/>
            </a:pPr>
            <a:r>
              <a:rPr lang="en"/>
              <a:t>Billing in Google Cloud</a:t>
            </a:r>
            <a:endParaRPr/>
          </a:p>
          <a:p>
            <a:pPr indent="0" lvl="0" marL="0" rtl="0" algn="l">
              <a:spcBef>
                <a:spcPts val="2900"/>
              </a:spcBef>
              <a:spcAft>
                <a:spcPts val="0"/>
              </a:spcAft>
              <a:buNone/>
            </a:pPr>
            <a:r>
              <a:rPr lang="en">
                <a:solidFill>
                  <a:schemeClr val="accent2"/>
                </a:solidFill>
              </a:rPr>
              <a:t>Install and Configure the Cloud SDK</a:t>
            </a:r>
            <a:endParaRPr>
              <a:solidFill>
                <a:schemeClr val="accent2"/>
              </a:solidFill>
            </a:endParaRPr>
          </a:p>
          <a:p>
            <a:pPr indent="0" lvl="0" marL="0" rtl="0" algn="l">
              <a:spcBef>
                <a:spcPts val="2900"/>
              </a:spcBef>
              <a:spcAft>
                <a:spcPts val="0"/>
              </a:spcAft>
              <a:buNone/>
            </a:pPr>
            <a:r>
              <a:rPr lang="en"/>
              <a:t>Use Cloud Shell</a:t>
            </a:r>
            <a:endParaRPr/>
          </a:p>
          <a:p>
            <a:pPr indent="0" lvl="0" marL="0" rtl="0" algn="l">
              <a:spcBef>
                <a:spcPts val="2900"/>
              </a:spcBef>
              <a:spcAft>
                <a:spcPts val="2900"/>
              </a:spcAft>
              <a:buNone/>
            </a:pPr>
            <a:r>
              <a:rPr lang="en"/>
              <a:t>Lab: A Tour of Qwiklabs and</a:t>
            </a:r>
            <a:br>
              <a:rPr lang="en"/>
            </a:br>
            <a:r>
              <a:rPr lang="en"/>
              <a:t>Google Cloud</a:t>
            </a:r>
            <a:endParaRPr/>
          </a:p>
        </p:txBody>
      </p:sp>
      <p:sp>
        <p:nvSpPr>
          <p:cNvPr id="490" name="Google Shape;490;p6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491" name="Google Shape;491;p6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4"/>
          <p:cNvSpPr txBox="1"/>
          <p:nvPr/>
        </p:nvSpPr>
        <p:spPr>
          <a:xfrm>
            <a:off x="10592275" y="4752488"/>
            <a:ext cx="4845600" cy="2921100"/>
          </a:xfrm>
          <a:prstGeom prst="rect">
            <a:avLst/>
          </a:prstGeom>
          <a:noFill/>
          <a:ln>
            <a:noFill/>
          </a:ln>
        </p:spPr>
        <p:txBody>
          <a:bodyPr anchorCtr="0" anchor="t" bIns="0" lIns="365750" spcFirstLastPara="1" rIns="0" wrap="square" tIns="0">
            <a:noAutofit/>
          </a:bodyPr>
          <a:lstStyle/>
          <a:p>
            <a:pPr indent="-533400" lvl="0" marL="457200" rtl="0" algn="l">
              <a:lnSpc>
                <a:spcPct val="100000"/>
              </a:lnSpc>
              <a:spcBef>
                <a:spcPts val="0"/>
              </a:spcBef>
              <a:spcAft>
                <a:spcPts val="0"/>
              </a:spcAft>
              <a:buClr>
                <a:schemeClr val="lt1"/>
              </a:buClr>
              <a:buSzPts val="4800"/>
              <a:buFont typeface="Google Sans"/>
              <a:buChar char="●"/>
            </a:pPr>
            <a:r>
              <a:rPr lang="en" sz="4800">
                <a:solidFill>
                  <a:schemeClr val="lt1"/>
                </a:solidFill>
                <a:latin typeface="Google Sans"/>
                <a:ea typeface="Google Sans"/>
                <a:cs typeface="Google Sans"/>
                <a:sym typeface="Google Sans"/>
              </a:rPr>
              <a:t>gcloud</a:t>
            </a:r>
            <a:endParaRPr sz="4800">
              <a:solidFill>
                <a:schemeClr val="lt1"/>
              </a:solidFill>
              <a:latin typeface="Google Sans"/>
              <a:ea typeface="Google Sans"/>
              <a:cs typeface="Google Sans"/>
              <a:sym typeface="Google Sans"/>
            </a:endParaRPr>
          </a:p>
          <a:p>
            <a:pPr indent="-533400" lvl="0" marL="457200" rtl="0" algn="l">
              <a:lnSpc>
                <a:spcPct val="100000"/>
              </a:lnSpc>
              <a:spcBef>
                <a:spcPts val="2000"/>
              </a:spcBef>
              <a:spcAft>
                <a:spcPts val="0"/>
              </a:spcAft>
              <a:buClr>
                <a:schemeClr val="lt1"/>
              </a:buClr>
              <a:buSzPts val="4800"/>
              <a:buFont typeface="Google Sans"/>
              <a:buChar char="●"/>
            </a:pPr>
            <a:r>
              <a:rPr lang="en" sz="4800">
                <a:solidFill>
                  <a:schemeClr val="lt1"/>
                </a:solidFill>
                <a:latin typeface="Google Sans"/>
                <a:ea typeface="Google Sans"/>
                <a:cs typeface="Google Sans"/>
                <a:sym typeface="Google Sans"/>
              </a:rPr>
              <a:t>gsutil</a:t>
            </a:r>
            <a:endParaRPr sz="4800">
              <a:solidFill>
                <a:schemeClr val="lt1"/>
              </a:solidFill>
              <a:latin typeface="Google Sans"/>
              <a:ea typeface="Google Sans"/>
              <a:cs typeface="Google Sans"/>
              <a:sym typeface="Google Sans"/>
            </a:endParaRPr>
          </a:p>
          <a:p>
            <a:pPr indent="-533400" lvl="0" marL="457200" rtl="0" algn="l">
              <a:lnSpc>
                <a:spcPct val="100000"/>
              </a:lnSpc>
              <a:spcBef>
                <a:spcPts val="2000"/>
              </a:spcBef>
              <a:spcAft>
                <a:spcPts val="2000"/>
              </a:spcAft>
              <a:buClr>
                <a:schemeClr val="lt1"/>
              </a:buClr>
              <a:buSzPts val="4800"/>
              <a:buFont typeface="Google Sans"/>
              <a:buChar char="●"/>
            </a:pPr>
            <a:r>
              <a:rPr lang="en" sz="4800">
                <a:solidFill>
                  <a:schemeClr val="lt1"/>
                </a:solidFill>
                <a:latin typeface="Google Sans"/>
                <a:ea typeface="Google Sans"/>
                <a:cs typeface="Google Sans"/>
                <a:sym typeface="Google Sans"/>
              </a:rPr>
              <a:t>bq</a:t>
            </a:r>
            <a:endParaRPr sz="4800">
              <a:solidFill>
                <a:schemeClr val="lt1"/>
              </a:solidFill>
              <a:latin typeface="Google Sans"/>
              <a:ea typeface="Google Sans"/>
              <a:cs typeface="Google Sans"/>
              <a:sym typeface="Google Sans"/>
            </a:endParaRPr>
          </a:p>
        </p:txBody>
      </p:sp>
      <p:pic>
        <p:nvPicPr>
          <p:cNvPr id="497" name="Google Shape;497;p64"/>
          <p:cNvPicPr preferRelativeResize="0"/>
          <p:nvPr/>
        </p:nvPicPr>
        <p:blipFill>
          <a:blip r:embed="rId3">
            <a:alphaModFix/>
          </a:blip>
          <a:stretch>
            <a:fillRect/>
          </a:stretch>
        </p:blipFill>
        <p:spPr>
          <a:xfrm>
            <a:off x="2850125" y="4027050"/>
            <a:ext cx="6858000" cy="4371975"/>
          </a:xfrm>
          <a:prstGeom prst="rect">
            <a:avLst/>
          </a:prstGeom>
          <a:noFill/>
          <a:ln>
            <a:noFill/>
          </a:ln>
        </p:spPr>
      </p:pic>
      <p:pic>
        <p:nvPicPr>
          <p:cNvPr descr="Container-Engine.png" id="498" name="Google Shape;498;p64"/>
          <p:cNvPicPr preferRelativeResize="0"/>
          <p:nvPr/>
        </p:nvPicPr>
        <p:blipFill rotWithShape="1">
          <a:blip r:embed="rId4">
            <a:alphaModFix/>
          </a:blip>
          <a:srcRect b="5092" l="0" r="0" t="5092"/>
          <a:stretch/>
        </p:blipFill>
        <p:spPr>
          <a:xfrm>
            <a:off x="5417825" y="5085678"/>
            <a:ext cx="1728000" cy="1554600"/>
          </a:xfrm>
          <a:prstGeom prst="rect">
            <a:avLst/>
          </a:prstGeom>
          <a:noFill/>
          <a:ln>
            <a:noFill/>
          </a:ln>
        </p:spPr>
      </p:pic>
      <p:sp>
        <p:nvSpPr>
          <p:cNvPr id="499" name="Google Shape;499;p6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SDK is a command-line interface for Google Cloud products and services</a:t>
            </a:r>
            <a:endParaRPr/>
          </a:p>
        </p:txBody>
      </p:sp>
      <p:sp>
        <p:nvSpPr>
          <p:cNvPr id="500" name="Google Shape;500;p6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pic>
        <p:nvPicPr>
          <p:cNvPr id="505" name="Google Shape;505;p65"/>
          <p:cNvPicPr preferRelativeResize="0"/>
          <p:nvPr/>
        </p:nvPicPr>
        <p:blipFill rotWithShape="1">
          <a:blip r:embed="rId3">
            <a:alphaModFix/>
          </a:blip>
          <a:srcRect b="9526" l="0" r="0" t="0"/>
          <a:stretch/>
        </p:blipFill>
        <p:spPr>
          <a:xfrm>
            <a:off x="2721100" y="2218800"/>
            <a:ext cx="12803178" cy="6859775"/>
          </a:xfrm>
          <a:prstGeom prst="rect">
            <a:avLst/>
          </a:prstGeom>
          <a:noFill/>
          <a:ln>
            <a:noFill/>
          </a:ln>
        </p:spPr>
      </p:pic>
      <p:sp>
        <p:nvSpPr>
          <p:cNvPr id="506" name="Google Shape;506;p6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Installing the Cloud SDK</a:t>
            </a:r>
            <a:endParaRPr/>
          </a:p>
        </p:txBody>
      </p:sp>
      <p:sp>
        <p:nvSpPr>
          <p:cNvPr id="507" name="Google Shape;507;p6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grpSp>
        <p:nvGrpSpPr>
          <p:cNvPr id="512" name="Google Shape;512;p66"/>
          <p:cNvGrpSpPr/>
          <p:nvPr/>
        </p:nvGrpSpPr>
        <p:grpSpPr>
          <a:xfrm>
            <a:off x="3038036" y="2142600"/>
            <a:ext cx="12211927" cy="6764749"/>
            <a:chOff x="4247275" y="1990200"/>
            <a:chExt cx="12211927" cy="6764749"/>
          </a:xfrm>
        </p:grpSpPr>
        <p:pic>
          <p:nvPicPr>
            <p:cNvPr id="513" name="Google Shape;513;p66"/>
            <p:cNvPicPr preferRelativeResize="0"/>
            <p:nvPr/>
          </p:nvPicPr>
          <p:blipFill rotWithShape="1">
            <a:blip r:embed="rId3">
              <a:alphaModFix/>
            </a:blip>
            <a:srcRect b="12739" l="0" r="0" t="0"/>
            <a:stretch/>
          </p:blipFill>
          <p:spPr>
            <a:xfrm>
              <a:off x="4247275" y="1990200"/>
              <a:ext cx="12211927" cy="6764749"/>
            </a:xfrm>
            <a:prstGeom prst="rect">
              <a:avLst/>
            </a:prstGeom>
            <a:noFill/>
            <a:ln>
              <a:noFill/>
            </a:ln>
          </p:spPr>
        </p:pic>
        <p:sp>
          <p:nvSpPr>
            <p:cNvPr id="514" name="Google Shape;514;p66"/>
            <p:cNvSpPr/>
            <p:nvPr/>
          </p:nvSpPr>
          <p:spPr>
            <a:xfrm>
              <a:off x="9544738" y="2455650"/>
              <a:ext cx="1617000" cy="6042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5" name="Google Shape;515;p6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Configuring the Cloud SDK</a:t>
            </a:r>
            <a:endParaRPr/>
          </a:p>
        </p:txBody>
      </p:sp>
      <p:sp>
        <p:nvSpPr>
          <p:cNvPr id="516" name="Google Shape;516;p6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7"/>
          <p:cNvSpPr txBox="1"/>
          <p:nvPr>
            <p:ph idx="1" type="body"/>
          </p:nvPr>
        </p:nvSpPr>
        <p:spPr>
          <a:xfrm>
            <a:off x="1701275" y="2432125"/>
            <a:ext cx="7457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a:t>
            </a:r>
            <a:endParaRPr/>
          </a:p>
          <a:p>
            <a:pPr indent="0" lvl="0" marL="0" rtl="0" algn="l">
              <a:spcBef>
                <a:spcPts val="2900"/>
              </a:spcBef>
              <a:spcAft>
                <a:spcPts val="0"/>
              </a:spcAft>
              <a:buNone/>
            </a:pPr>
            <a:r>
              <a:rPr lang="en"/>
              <a:t>Understanding Projects</a:t>
            </a:r>
            <a:endParaRPr/>
          </a:p>
          <a:p>
            <a:pPr indent="0" lvl="0" marL="0" rtl="0" algn="l">
              <a:spcBef>
                <a:spcPts val="2900"/>
              </a:spcBef>
              <a:spcAft>
                <a:spcPts val="0"/>
              </a:spcAft>
              <a:buNone/>
            </a:pPr>
            <a:r>
              <a:rPr lang="en"/>
              <a:t>Billing in Google Cloud</a:t>
            </a:r>
            <a:endParaRPr/>
          </a:p>
          <a:p>
            <a:pPr indent="0" lvl="0" marL="0" rtl="0" algn="l">
              <a:spcBef>
                <a:spcPts val="2900"/>
              </a:spcBef>
              <a:spcAft>
                <a:spcPts val="0"/>
              </a:spcAft>
              <a:buNone/>
            </a:pPr>
            <a:r>
              <a:rPr lang="en"/>
              <a:t>Install and Configure the Cloud SDK</a:t>
            </a:r>
            <a:endParaRPr/>
          </a:p>
          <a:p>
            <a:pPr indent="0" lvl="0" marL="0" rtl="0" algn="l">
              <a:spcBef>
                <a:spcPts val="2900"/>
              </a:spcBef>
              <a:spcAft>
                <a:spcPts val="0"/>
              </a:spcAft>
              <a:buNone/>
            </a:pPr>
            <a:r>
              <a:rPr lang="en">
                <a:solidFill>
                  <a:schemeClr val="accent2"/>
                </a:solidFill>
              </a:rPr>
              <a:t>Use Cloud Shell</a:t>
            </a:r>
            <a:endParaRPr>
              <a:solidFill>
                <a:schemeClr val="accent2"/>
              </a:solidFill>
            </a:endParaRPr>
          </a:p>
          <a:p>
            <a:pPr indent="0" lvl="0" marL="0" rtl="0" algn="l">
              <a:spcBef>
                <a:spcPts val="2900"/>
              </a:spcBef>
              <a:spcAft>
                <a:spcPts val="2900"/>
              </a:spcAft>
              <a:buNone/>
            </a:pPr>
            <a:r>
              <a:rPr lang="en"/>
              <a:t>Lab: A Tour of Qwiklabs and</a:t>
            </a:r>
            <a:br>
              <a:rPr lang="en"/>
            </a:br>
            <a:r>
              <a:rPr lang="en"/>
              <a:t>Google Cloud</a:t>
            </a:r>
            <a:endParaRPr/>
          </a:p>
        </p:txBody>
      </p:sp>
      <p:sp>
        <p:nvSpPr>
          <p:cNvPr id="522" name="Google Shape;522;p67"/>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23" name="Google Shape;523;p6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8"/>
          <p:cNvSpPr txBox="1"/>
          <p:nvPr>
            <p:ph idx="1" type="body"/>
          </p:nvPr>
        </p:nvSpPr>
        <p:spPr>
          <a:xfrm>
            <a:off x="1716500" y="4995500"/>
            <a:ext cx="7018500" cy="39408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lang="en" sz="2700"/>
              <a:t>Browser-based CLI access to resources</a:t>
            </a:r>
            <a:endParaRPr sz="2700"/>
          </a:p>
          <a:p>
            <a:pPr indent="-400050" lvl="0" marL="457200" rtl="0" algn="l">
              <a:spcBef>
                <a:spcPts val="1000"/>
              </a:spcBef>
              <a:spcAft>
                <a:spcPts val="0"/>
              </a:spcAft>
              <a:buSzPts val="2700"/>
              <a:buChar char="●"/>
            </a:pPr>
            <a:r>
              <a:rPr lang="en" sz="2700"/>
              <a:t>No need to install the Cloud SDK or other tools locally</a:t>
            </a:r>
            <a:endParaRPr sz="2700"/>
          </a:p>
          <a:p>
            <a:pPr indent="-400050" lvl="0" marL="457200" rtl="0" algn="l">
              <a:spcBef>
                <a:spcPts val="1000"/>
              </a:spcBef>
              <a:spcAft>
                <a:spcPts val="0"/>
              </a:spcAft>
              <a:buSzPts val="2700"/>
              <a:buChar char="●"/>
            </a:pPr>
            <a:r>
              <a:rPr lang="en" sz="2700"/>
              <a:t>Runs on an ephemeral Compute Engine VM at no cost to you</a:t>
            </a:r>
            <a:endParaRPr sz="2700"/>
          </a:p>
          <a:p>
            <a:pPr indent="-400050" lvl="0" marL="457200" rtl="0" algn="l">
              <a:spcBef>
                <a:spcPts val="1000"/>
              </a:spcBef>
              <a:spcAft>
                <a:spcPts val="0"/>
              </a:spcAft>
              <a:buSzPts val="2700"/>
              <a:buChar char="●"/>
            </a:pPr>
            <a:r>
              <a:rPr lang="en" sz="2700"/>
              <a:t>5 GB of persistent disk storage</a:t>
            </a:r>
            <a:endParaRPr sz="2700"/>
          </a:p>
          <a:p>
            <a:pPr indent="-400050" lvl="0" marL="457200" rtl="0" algn="l">
              <a:spcBef>
                <a:spcPts val="1000"/>
              </a:spcBef>
              <a:spcAft>
                <a:spcPts val="1000"/>
              </a:spcAft>
              <a:buSzPts val="2700"/>
              <a:buChar char="●"/>
            </a:pPr>
            <a:r>
              <a:rPr lang="en" sz="2700"/>
              <a:t>Web preview functionality and built-in authorization for project/resource access</a:t>
            </a:r>
            <a:endParaRPr sz="2700"/>
          </a:p>
        </p:txBody>
      </p:sp>
      <p:sp>
        <p:nvSpPr>
          <p:cNvPr id="529" name="Google Shape;529;p68"/>
          <p:cNvSpPr/>
          <p:nvPr/>
        </p:nvSpPr>
        <p:spPr>
          <a:xfrm>
            <a:off x="4791968" y="2597875"/>
            <a:ext cx="4442256" cy="2237436"/>
          </a:xfrm>
          <a:prstGeom prst="cloud">
            <a:avLst/>
          </a:prstGeom>
          <a:noFill/>
          <a:ln cap="flat" cmpd="sng" w="9525">
            <a:solidFill>
              <a:schemeClr val="accent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530" name="Google Shape;530;p68"/>
          <p:cNvSpPr/>
          <p:nvPr/>
        </p:nvSpPr>
        <p:spPr>
          <a:xfrm>
            <a:off x="10974912" y="6610652"/>
            <a:ext cx="4155900" cy="1891200"/>
          </a:xfrm>
          <a:prstGeom prst="rect">
            <a:avLst/>
          </a:prstGeom>
          <a:solidFill>
            <a:srgbClr val="000000"/>
          </a:solidFill>
          <a:ln>
            <a:noFill/>
          </a:ln>
        </p:spPr>
        <p:txBody>
          <a:bodyPr anchorCtr="0" anchor="t" bIns="182850" lIns="182850" spcFirstLastPara="1" rIns="182850" wrap="square" tIns="182875">
            <a:noAutofit/>
          </a:bodyPr>
          <a:lstStyle/>
          <a:p>
            <a:pPr indent="0" lvl="0" marL="0" rtl="0" algn="l">
              <a:spcBef>
                <a:spcPts val="0"/>
              </a:spcBef>
              <a:spcAft>
                <a:spcPts val="0"/>
              </a:spcAft>
              <a:buClr>
                <a:srgbClr val="000000"/>
              </a:buClr>
              <a:buSzPts val="2800"/>
              <a:buFont typeface="Arial"/>
              <a:buNone/>
            </a:pPr>
            <a:r>
              <a:rPr b="1" lang="en" sz="2800">
                <a:solidFill>
                  <a:srgbClr val="FFFFFF"/>
                </a:solidFill>
                <a:latin typeface="Consolas"/>
                <a:ea typeface="Consolas"/>
                <a:cs typeface="Consolas"/>
                <a:sym typeface="Consolas"/>
              </a:rPr>
              <a:t>Cloud Shell</a:t>
            </a:r>
            <a:endParaRPr b="1" sz="2800">
              <a:solidFill>
                <a:srgbClr val="FFFFFF"/>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800"/>
              <a:buFont typeface="Arial"/>
              <a:buNone/>
            </a:pPr>
            <a:r>
              <a:t/>
            </a:r>
            <a:endParaRPr sz="2800"/>
          </a:p>
        </p:txBody>
      </p:sp>
      <p:sp>
        <p:nvSpPr>
          <p:cNvPr id="531" name="Google Shape;531;p68"/>
          <p:cNvSpPr txBox="1"/>
          <p:nvPr/>
        </p:nvSpPr>
        <p:spPr>
          <a:xfrm>
            <a:off x="12072198" y="4728923"/>
            <a:ext cx="4034700" cy="449700"/>
          </a:xfrm>
          <a:prstGeom prst="rect">
            <a:avLst/>
          </a:prstGeom>
          <a:no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400"/>
              <a:buFont typeface="Arial"/>
              <a:buNone/>
            </a:pPr>
            <a:r>
              <a:rPr i="0" lang="en" sz="2400" u="none" cap="none" strike="noStrike">
                <a:solidFill>
                  <a:schemeClr val="lt1"/>
                </a:solidFill>
                <a:latin typeface="Roboto"/>
                <a:ea typeface="Roboto"/>
                <a:cs typeface="Roboto"/>
                <a:sym typeface="Roboto"/>
              </a:rPr>
              <a:t>console.cloud.google.com</a:t>
            </a:r>
            <a:endParaRPr i="0" sz="2400" u="none" cap="none" strike="noStrike">
              <a:solidFill>
                <a:schemeClr val="lt1"/>
              </a:solidFill>
              <a:latin typeface="Roboto"/>
              <a:ea typeface="Roboto"/>
              <a:cs typeface="Roboto"/>
              <a:sym typeface="Roboto"/>
            </a:endParaRPr>
          </a:p>
        </p:txBody>
      </p:sp>
      <p:cxnSp>
        <p:nvCxnSpPr>
          <p:cNvPr id="532" name="Google Shape;532;p68"/>
          <p:cNvCxnSpPr/>
          <p:nvPr/>
        </p:nvCxnSpPr>
        <p:spPr>
          <a:xfrm flipH="1" rot="10800000">
            <a:off x="9391601" y="3510413"/>
            <a:ext cx="3497400" cy="9000"/>
          </a:xfrm>
          <a:prstGeom prst="straightConnector1">
            <a:avLst/>
          </a:prstGeom>
          <a:noFill/>
          <a:ln cap="flat" cmpd="sng" w="28575">
            <a:solidFill>
              <a:schemeClr val="dk2"/>
            </a:solidFill>
            <a:prstDash val="solid"/>
            <a:round/>
            <a:headEnd len="med" w="med" type="oval"/>
            <a:tailEnd len="med" w="med" type="oval"/>
          </a:ln>
        </p:spPr>
      </p:cxnSp>
      <p:cxnSp>
        <p:nvCxnSpPr>
          <p:cNvPr id="533" name="Google Shape;533;p68"/>
          <p:cNvCxnSpPr/>
          <p:nvPr/>
        </p:nvCxnSpPr>
        <p:spPr>
          <a:xfrm flipH="1">
            <a:off x="13665252" y="5498072"/>
            <a:ext cx="9000" cy="1006200"/>
          </a:xfrm>
          <a:prstGeom prst="straightConnector1">
            <a:avLst/>
          </a:prstGeom>
          <a:noFill/>
          <a:ln cap="flat" cmpd="sng" w="28575">
            <a:solidFill>
              <a:schemeClr val="dk2"/>
            </a:solidFill>
            <a:prstDash val="solid"/>
            <a:round/>
            <a:headEnd len="sm" w="sm" type="none"/>
            <a:tailEnd len="med" w="med" type="stealth"/>
          </a:ln>
        </p:spPr>
      </p:cxnSp>
      <p:sp>
        <p:nvSpPr>
          <p:cNvPr id="534" name="Google Shape;534;p68"/>
          <p:cNvSpPr/>
          <p:nvPr/>
        </p:nvSpPr>
        <p:spPr>
          <a:xfrm>
            <a:off x="12019345" y="8255528"/>
            <a:ext cx="3348000" cy="656400"/>
          </a:xfrm>
          <a:prstGeom prst="rect">
            <a:avLst/>
          </a:prstGeom>
          <a:solidFill>
            <a:srgbClr val="F6F6F6"/>
          </a:solidFill>
          <a:ln cap="flat" cmpd="sng" w="9525">
            <a:solidFill>
              <a:srgbClr val="414141"/>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lang="en" sz="2800">
                <a:solidFill>
                  <a:schemeClr val="lt1"/>
                </a:solidFill>
                <a:latin typeface="Google Sans"/>
                <a:ea typeface="Google Sans"/>
                <a:cs typeface="Google Sans"/>
                <a:sym typeface="Google Sans"/>
              </a:rPr>
              <a:t>Cloud SDK</a:t>
            </a:r>
            <a:endParaRPr i="0" sz="2800" u="none" cap="none" strike="noStrike">
              <a:solidFill>
                <a:schemeClr val="lt1"/>
              </a:solidFill>
              <a:latin typeface="Google Sans"/>
              <a:ea typeface="Google Sans"/>
              <a:cs typeface="Google Sans"/>
              <a:sym typeface="Google Sans"/>
            </a:endParaRPr>
          </a:p>
        </p:txBody>
      </p:sp>
      <p:cxnSp>
        <p:nvCxnSpPr>
          <p:cNvPr id="535" name="Google Shape;535;p68"/>
          <p:cNvCxnSpPr/>
          <p:nvPr/>
        </p:nvCxnSpPr>
        <p:spPr>
          <a:xfrm>
            <a:off x="10444539" y="8553154"/>
            <a:ext cx="273600" cy="255000"/>
          </a:xfrm>
          <a:prstGeom prst="straightConnector1">
            <a:avLst/>
          </a:prstGeom>
          <a:noFill/>
          <a:ln cap="flat" cmpd="sng" w="9525">
            <a:solidFill>
              <a:srgbClr val="FFFFFF"/>
            </a:solidFill>
            <a:prstDash val="dash"/>
            <a:round/>
            <a:headEnd len="sm" w="sm" type="none"/>
            <a:tailEnd len="sm" w="sm" type="none"/>
          </a:ln>
        </p:spPr>
      </p:cxnSp>
      <p:cxnSp>
        <p:nvCxnSpPr>
          <p:cNvPr id="536" name="Google Shape;536;p68"/>
          <p:cNvCxnSpPr/>
          <p:nvPr/>
        </p:nvCxnSpPr>
        <p:spPr>
          <a:xfrm>
            <a:off x="11650006" y="8528286"/>
            <a:ext cx="377100" cy="382800"/>
          </a:xfrm>
          <a:prstGeom prst="straightConnector1">
            <a:avLst/>
          </a:prstGeom>
          <a:noFill/>
          <a:ln cap="flat" cmpd="sng" w="9525">
            <a:solidFill>
              <a:srgbClr val="000000"/>
            </a:solidFill>
            <a:prstDash val="dash"/>
            <a:round/>
            <a:headEnd len="sm" w="sm" type="none"/>
            <a:tailEnd len="sm" w="sm" type="none"/>
          </a:ln>
        </p:spPr>
      </p:cxnSp>
      <p:sp>
        <p:nvSpPr>
          <p:cNvPr id="537" name="Google Shape;537;p68"/>
          <p:cNvSpPr txBox="1"/>
          <p:nvPr/>
        </p:nvSpPr>
        <p:spPr>
          <a:xfrm>
            <a:off x="12851152" y="4294147"/>
            <a:ext cx="2476200" cy="4497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808080"/>
              </a:buClr>
              <a:buSzPts val="2000"/>
              <a:buFont typeface="Open Sans"/>
              <a:buNone/>
            </a:pPr>
            <a:r>
              <a:rPr lang="en" sz="2400">
                <a:solidFill>
                  <a:schemeClr val="accent2"/>
                </a:solidFill>
                <a:latin typeface="Google Sans"/>
                <a:ea typeface="Google Sans"/>
                <a:cs typeface="Google Sans"/>
                <a:sym typeface="Google Sans"/>
              </a:rPr>
              <a:t>Cloud </a:t>
            </a:r>
            <a:r>
              <a:rPr i="0" lang="en" sz="2400" u="none" cap="none" strike="noStrike">
                <a:solidFill>
                  <a:schemeClr val="accent2"/>
                </a:solidFill>
                <a:latin typeface="Google Sans"/>
                <a:ea typeface="Google Sans"/>
                <a:cs typeface="Google Sans"/>
                <a:sym typeface="Google Sans"/>
              </a:rPr>
              <a:t>Console</a:t>
            </a:r>
            <a:endParaRPr i="0" sz="2400" u="none" cap="none" strike="noStrike">
              <a:solidFill>
                <a:schemeClr val="accent2"/>
              </a:solidFill>
              <a:latin typeface="Google Sans"/>
              <a:ea typeface="Google Sans"/>
              <a:cs typeface="Google Sans"/>
              <a:sym typeface="Google Sans"/>
            </a:endParaRPr>
          </a:p>
        </p:txBody>
      </p:sp>
      <p:pic>
        <p:nvPicPr>
          <p:cNvPr descr="Generic-GCP_256px.png" id="538" name="Google Shape;538;p68"/>
          <p:cNvPicPr preferRelativeResize="0"/>
          <p:nvPr/>
        </p:nvPicPr>
        <p:blipFill rotWithShape="1">
          <a:blip r:embed="rId3">
            <a:alphaModFix/>
          </a:blip>
          <a:srcRect b="5092" l="0" r="0" t="5092"/>
          <a:stretch/>
        </p:blipFill>
        <p:spPr>
          <a:xfrm>
            <a:off x="13263714" y="2757304"/>
            <a:ext cx="1651869" cy="1479668"/>
          </a:xfrm>
          <a:prstGeom prst="rect">
            <a:avLst/>
          </a:prstGeom>
          <a:noFill/>
          <a:ln>
            <a:noFill/>
          </a:ln>
        </p:spPr>
      </p:pic>
      <p:pic>
        <p:nvPicPr>
          <p:cNvPr id="539" name="Google Shape;539;p68"/>
          <p:cNvPicPr preferRelativeResize="0"/>
          <p:nvPr/>
        </p:nvPicPr>
        <p:blipFill>
          <a:blip r:embed="rId4">
            <a:alphaModFix/>
          </a:blip>
          <a:stretch>
            <a:fillRect/>
          </a:stretch>
        </p:blipFill>
        <p:spPr>
          <a:xfrm>
            <a:off x="5383969" y="2858664"/>
            <a:ext cx="3258356" cy="1542660"/>
          </a:xfrm>
          <a:prstGeom prst="rect">
            <a:avLst/>
          </a:prstGeom>
          <a:noFill/>
          <a:ln>
            <a:noFill/>
          </a:ln>
        </p:spPr>
      </p:pic>
      <p:cxnSp>
        <p:nvCxnSpPr>
          <p:cNvPr id="540" name="Google Shape;540;p68"/>
          <p:cNvCxnSpPr/>
          <p:nvPr/>
        </p:nvCxnSpPr>
        <p:spPr>
          <a:xfrm>
            <a:off x="11650006" y="7912611"/>
            <a:ext cx="377100" cy="382800"/>
          </a:xfrm>
          <a:prstGeom prst="straightConnector1">
            <a:avLst/>
          </a:prstGeom>
          <a:noFill/>
          <a:ln cap="flat" cmpd="sng" w="9525">
            <a:solidFill>
              <a:srgbClr val="FFFFFF"/>
            </a:solidFill>
            <a:prstDash val="dash"/>
            <a:round/>
            <a:headEnd len="sm" w="sm" type="none"/>
            <a:tailEnd len="sm" w="sm" type="none"/>
          </a:ln>
        </p:spPr>
      </p:cxnSp>
      <p:cxnSp>
        <p:nvCxnSpPr>
          <p:cNvPr id="541" name="Google Shape;541;p68"/>
          <p:cNvCxnSpPr/>
          <p:nvPr/>
        </p:nvCxnSpPr>
        <p:spPr>
          <a:xfrm>
            <a:off x="15010444" y="7912611"/>
            <a:ext cx="377100" cy="382800"/>
          </a:xfrm>
          <a:prstGeom prst="straightConnector1">
            <a:avLst/>
          </a:prstGeom>
          <a:noFill/>
          <a:ln cap="flat" cmpd="sng" w="9525">
            <a:solidFill>
              <a:srgbClr val="000000"/>
            </a:solidFill>
            <a:prstDash val="dash"/>
            <a:round/>
            <a:headEnd len="sm" w="sm" type="none"/>
            <a:tailEnd len="sm" w="sm" type="none"/>
          </a:ln>
        </p:spPr>
      </p:cxnSp>
      <p:sp>
        <p:nvSpPr>
          <p:cNvPr id="542" name="Google Shape;542;p68"/>
          <p:cNvSpPr/>
          <p:nvPr/>
        </p:nvSpPr>
        <p:spPr>
          <a:xfrm>
            <a:off x="8481088" y="4166533"/>
            <a:ext cx="508500" cy="44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8"/>
          <p:cNvSpPr/>
          <p:nvPr/>
        </p:nvSpPr>
        <p:spPr>
          <a:xfrm>
            <a:off x="11193298" y="6476977"/>
            <a:ext cx="508500" cy="44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4" name="Google Shape;544;p68"/>
          <p:cNvCxnSpPr>
            <a:stCxn id="542" idx="3"/>
            <a:endCxn id="543" idx="0"/>
          </p:cNvCxnSpPr>
          <p:nvPr/>
        </p:nvCxnSpPr>
        <p:spPr>
          <a:xfrm>
            <a:off x="8989588" y="4391383"/>
            <a:ext cx="2457900" cy="2085600"/>
          </a:xfrm>
          <a:prstGeom prst="bentConnector2">
            <a:avLst/>
          </a:prstGeom>
          <a:noFill/>
          <a:ln cap="flat" cmpd="sng" w="28575">
            <a:solidFill>
              <a:schemeClr val="dk2"/>
            </a:solidFill>
            <a:prstDash val="solid"/>
            <a:round/>
            <a:headEnd len="med" w="med" type="oval"/>
            <a:tailEnd len="med" w="med" type="oval"/>
          </a:ln>
        </p:spPr>
      </p:cxnSp>
      <p:sp>
        <p:nvSpPr>
          <p:cNvPr id="545" name="Google Shape;545;p6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Shell is an alternative to the Cloud SDK</a:t>
            </a:r>
            <a:endParaRPr/>
          </a:p>
        </p:txBody>
      </p:sp>
      <p:sp>
        <p:nvSpPr>
          <p:cNvPr id="546" name="Google Shape;546;p6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grpSp>
        <p:nvGrpSpPr>
          <p:cNvPr id="551" name="Google Shape;551;p69"/>
          <p:cNvGrpSpPr/>
          <p:nvPr/>
        </p:nvGrpSpPr>
        <p:grpSpPr>
          <a:xfrm>
            <a:off x="1811121" y="2359150"/>
            <a:ext cx="13366347" cy="6813924"/>
            <a:chOff x="3488025" y="1825750"/>
            <a:chExt cx="13366347" cy="6813924"/>
          </a:xfrm>
        </p:grpSpPr>
        <p:pic>
          <p:nvPicPr>
            <p:cNvPr id="552" name="Google Shape;552;p69"/>
            <p:cNvPicPr preferRelativeResize="0"/>
            <p:nvPr/>
          </p:nvPicPr>
          <p:blipFill rotWithShape="1">
            <a:blip r:embed="rId3">
              <a:alphaModFix/>
            </a:blip>
            <a:srcRect b="8079" l="0" r="0" t="0"/>
            <a:stretch/>
          </p:blipFill>
          <p:spPr>
            <a:xfrm>
              <a:off x="3488025" y="1825750"/>
              <a:ext cx="13366347" cy="6813924"/>
            </a:xfrm>
            <a:prstGeom prst="rect">
              <a:avLst/>
            </a:prstGeom>
            <a:noFill/>
            <a:ln>
              <a:noFill/>
            </a:ln>
          </p:spPr>
        </p:pic>
        <p:sp>
          <p:nvSpPr>
            <p:cNvPr id="553" name="Google Shape;553;p69"/>
            <p:cNvSpPr/>
            <p:nvPr/>
          </p:nvSpPr>
          <p:spPr>
            <a:xfrm>
              <a:off x="14084831" y="1825750"/>
              <a:ext cx="701400" cy="5448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4" name="Google Shape;554;p6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Starting Cloud Shell</a:t>
            </a:r>
            <a:endParaRPr/>
          </a:p>
        </p:txBody>
      </p:sp>
      <p:sp>
        <p:nvSpPr>
          <p:cNvPr id="555" name="Google Shape;555;p6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id="560" name="Google Shape;560;p70"/>
          <p:cNvPicPr preferRelativeResize="0"/>
          <p:nvPr/>
        </p:nvPicPr>
        <p:blipFill rotWithShape="1">
          <a:blip r:embed="rId3">
            <a:alphaModFix/>
          </a:blip>
          <a:srcRect b="8416" l="0" r="0" t="0"/>
          <a:stretch/>
        </p:blipFill>
        <p:spPr>
          <a:xfrm>
            <a:off x="1808747" y="2599800"/>
            <a:ext cx="12533353" cy="6451949"/>
          </a:xfrm>
          <a:prstGeom prst="rect">
            <a:avLst/>
          </a:prstGeom>
          <a:noFill/>
          <a:ln>
            <a:noFill/>
          </a:ln>
        </p:spPr>
      </p:pic>
      <p:sp>
        <p:nvSpPr>
          <p:cNvPr id="561" name="Google Shape;561;p70"/>
          <p:cNvSpPr/>
          <p:nvPr/>
        </p:nvSpPr>
        <p:spPr>
          <a:xfrm>
            <a:off x="11495647" y="6757475"/>
            <a:ext cx="2846400" cy="5448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 and Cloud Shell</a:t>
            </a:r>
            <a:endParaRPr/>
          </a:p>
        </p:txBody>
      </p:sp>
      <p:sp>
        <p:nvSpPr>
          <p:cNvPr id="563" name="Google Shape;563;p7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p71"/>
          <p:cNvPicPr preferRelativeResize="0"/>
          <p:nvPr/>
        </p:nvPicPr>
        <p:blipFill>
          <a:blip r:embed="rId3">
            <a:alphaModFix/>
          </a:blip>
          <a:stretch>
            <a:fillRect/>
          </a:stretch>
        </p:blipFill>
        <p:spPr>
          <a:xfrm>
            <a:off x="1787112" y="3173523"/>
            <a:ext cx="14271531" cy="6027164"/>
          </a:xfrm>
          <a:prstGeom prst="rect">
            <a:avLst/>
          </a:prstGeom>
          <a:noFill/>
          <a:ln>
            <a:noFill/>
          </a:ln>
        </p:spPr>
      </p:pic>
      <p:sp>
        <p:nvSpPr>
          <p:cNvPr id="569" name="Google Shape;569;p7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Shell code editor is a tool for editing files inside your Cloud Shell environment</a:t>
            </a:r>
            <a:endParaRPr/>
          </a:p>
        </p:txBody>
      </p:sp>
      <p:sp>
        <p:nvSpPr>
          <p:cNvPr id="570" name="Google Shape;570;p7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72"/>
          <p:cNvSpPr txBox="1"/>
          <p:nvPr>
            <p:ph idx="1" type="body"/>
          </p:nvPr>
        </p:nvSpPr>
        <p:spPr>
          <a:xfrm>
            <a:off x="1701275" y="2432125"/>
            <a:ext cx="74865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Cloud Console</a:t>
            </a:r>
            <a:endParaRPr/>
          </a:p>
          <a:p>
            <a:pPr indent="0" lvl="0" marL="0" rtl="0" algn="l">
              <a:spcBef>
                <a:spcPts val="2900"/>
              </a:spcBef>
              <a:spcAft>
                <a:spcPts val="0"/>
              </a:spcAft>
              <a:buNone/>
            </a:pPr>
            <a:r>
              <a:rPr lang="en"/>
              <a:t>Understanding Projects</a:t>
            </a:r>
            <a:endParaRPr/>
          </a:p>
          <a:p>
            <a:pPr indent="0" lvl="0" marL="0" rtl="0" algn="l">
              <a:spcBef>
                <a:spcPts val="2900"/>
              </a:spcBef>
              <a:spcAft>
                <a:spcPts val="0"/>
              </a:spcAft>
              <a:buNone/>
            </a:pPr>
            <a:r>
              <a:rPr lang="en"/>
              <a:t>Billing in Google Cloud</a:t>
            </a:r>
            <a:endParaRPr/>
          </a:p>
          <a:p>
            <a:pPr indent="0" lvl="0" marL="0" rtl="0" algn="l">
              <a:spcBef>
                <a:spcPts val="2900"/>
              </a:spcBef>
              <a:spcAft>
                <a:spcPts val="0"/>
              </a:spcAft>
              <a:buNone/>
            </a:pPr>
            <a:r>
              <a:rPr lang="en"/>
              <a:t>Install and Configure the Cloud SDK</a:t>
            </a:r>
            <a:endParaRPr/>
          </a:p>
          <a:p>
            <a:pPr indent="0" lvl="0" marL="0" rtl="0" algn="l">
              <a:spcBef>
                <a:spcPts val="2900"/>
              </a:spcBef>
              <a:spcAft>
                <a:spcPts val="0"/>
              </a:spcAft>
              <a:buNone/>
            </a:pPr>
            <a:r>
              <a:rPr lang="en"/>
              <a:t>Use Cloud Shell</a:t>
            </a:r>
            <a:endParaRPr/>
          </a:p>
          <a:p>
            <a:pPr indent="0" lvl="0" marL="0" rtl="0" algn="l">
              <a:spcBef>
                <a:spcPts val="2900"/>
              </a:spcBef>
              <a:spcAft>
                <a:spcPts val="2900"/>
              </a:spcAft>
              <a:buNone/>
            </a:pPr>
            <a:r>
              <a:rPr lang="en">
                <a:solidFill>
                  <a:schemeClr val="accent2"/>
                </a:solidFill>
              </a:rPr>
              <a:t>Lab: A Tour of Qwiklabs and</a:t>
            </a:r>
            <a:br>
              <a:rPr lang="en">
                <a:solidFill>
                  <a:schemeClr val="accent2"/>
                </a:solidFill>
              </a:rPr>
            </a:br>
            <a:r>
              <a:rPr lang="en">
                <a:solidFill>
                  <a:schemeClr val="accent2"/>
                </a:solidFill>
              </a:rPr>
              <a:t>Google Cloud</a:t>
            </a:r>
            <a:endParaRPr>
              <a:solidFill>
                <a:schemeClr val="accent2"/>
              </a:solidFill>
            </a:endParaRPr>
          </a:p>
        </p:txBody>
      </p:sp>
      <p:sp>
        <p:nvSpPr>
          <p:cNvPr id="576" name="Google Shape;576;p72"/>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77" name="Google Shape;577;p7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3"/>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Tour of Qwiklabs and</a:t>
            </a:r>
            <a:br>
              <a:rPr lang="en"/>
            </a:br>
            <a:r>
              <a:rPr lang="en"/>
              <a:t>Google Cloud</a:t>
            </a:r>
            <a:endParaRPr/>
          </a:p>
        </p:txBody>
      </p:sp>
      <p:sp>
        <p:nvSpPr>
          <p:cNvPr id="583" name="Google Shape;583;p73"/>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584" name="Google Shape;584;p73"/>
          <p:cNvSpPr txBox="1"/>
          <p:nvPr/>
        </p:nvSpPr>
        <p:spPr>
          <a:xfrm>
            <a:off x="1724150" y="6523925"/>
            <a:ext cx="6724200" cy="23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A</a:t>
            </a:r>
            <a:r>
              <a:rPr lang="en" sz="2500">
                <a:solidFill>
                  <a:schemeClr val="lt1"/>
                </a:solidFill>
                <a:latin typeface="Roboto"/>
                <a:ea typeface="Roboto"/>
                <a:cs typeface="Roboto"/>
                <a:sym typeface="Roboto"/>
              </a:rPr>
              <a:t>ccess the Qwiklabs environment and log in to the Cloud Console using custom credentials.</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1500"/>
              </a:spcAft>
              <a:buNone/>
            </a:pPr>
            <a:r>
              <a:rPr lang="en" sz="2500">
                <a:solidFill>
                  <a:schemeClr val="lt1"/>
                </a:solidFill>
                <a:latin typeface="Roboto"/>
                <a:ea typeface="Roboto"/>
                <a:cs typeface="Roboto"/>
                <a:sym typeface="Roboto"/>
              </a:rPr>
              <a:t>The lab can be found</a:t>
            </a:r>
            <a:r>
              <a:rPr lang="en" sz="2500">
                <a:solidFill>
                  <a:srgbClr val="3B83F3"/>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500">
                <a:solidFill>
                  <a:srgbClr val="3B83F3"/>
                </a:solidFill>
                <a:latin typeface="Roboto"/>
                <a:ea typeface="Roboto"/>
                <a:cs typeface="Roboto"/>
                <a:sym typeface="Roboto"/>
              </a:rPr>
              <a:t>.</a:t>
            </a:r>
            <a:endParaRPr sz="2200">
              <a:solidFill>
                <a:srgbClr val="434343"/>
              </a:solidFill>
              <a:latin typeface="Roboto"/>
              <a:ea typeface="Roboto"/>
              <a:cs typeface="Roboto"/>
              <a:sym typeface="Roboto"/>
            </a:endParaRPr>
          </a:p>
        </p:txBody>
      </p:sp>
      <p:sp>
        <p:nvSpPr>
          <p:cNvPr id="585" name="Google Shape;585;p7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591" name="Google Shape;591;p74"/>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Learn about the Qwiklabs platform</a:t>
            </a:r>
            <a:br>
              <a:rPr lang="en" sz="3000"/>
            </a:br>
            <a:r>
              <a:rPr lang="en" sz="3000"/>
              <a:t>and identify key features of a lab environment.</a:t>
            </a:r>
            <a:endParaRPr sz="3000"/>
          </a:p>
          <a:p>
            <a:pPr indent="0" lvl="0" marL="0" rtl="0" algn="l">
              <a:spcBef>
                <a:spcPts val="2900"/>
              </a:spcBef>
              <a:spcAft>
                <a:spcPts val="2900"/>
              </a:spcAft>
              <a:buNone/>
            </a:pPr>
            <a:r>
              <a:rPr lang="en" sz="3000"/>
              <a:t>Learn how to access the Cloud Console with specific credentials.</a:t>
            </a:r>
            <a:endParaRPr sz="3000"/>
          </a:p>
        </p:txBody>
      </p:sp>
      <p:sp>
        <p:nvSpPr>
          <p:cNvPr id="592" name="Google Shape;592;p7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593" name="Google Shape;593;p74"/>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5"/>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Lab: Getting Started with Cloud Shell and gcloud</a:t>
            </a:r>
            <a:endParaRPr>
              <a:solidFill>
                <a:schemeClr val="accent2"/>
              </a:solidFill>
            </a:endParaRPr>
          </a:p>
          <a:p>
            <a:pPr indent="0" lvl="0" marL="0" rtl="0" algn="l">
              <a:spcBef>
                <a:spcPts val="2900"/>
              </a:spcBef>
              <a:spcAft>
                <a:spcPts val="0"/>
              </a:spcAft>
              <a:buNone/>
            </a:pPr>
            <a:r>
              <a:rPr lang="en"/>
              <a:t>Google Cloud APIs</a:t>
            </a:r>
            <a:endParaRPr/>
          </a:p>
          <a:p>
            <a:pPr indent="0" lvl="0" marL="0" rtl="0" algn="l">
              <a:spcBef>
                <a:spcPts val="2900"/>
              </a:spcBef>
              <a:spcAft>
                <a:spcPts val="0"/>
              </a:spcAft>
              <a:buNone/>
            </a:pPr>
            <a:r>
              <a:rPr lang="en"/>
              <a:t>Cloud Console Mobile App</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a:t>
            </a:r>
            <a:r>
              <a:rPr lang="en"/>
              <a:t>y</a:t>
            </a:r>
            <a:endParaRPr/>
          </a:p>
        </p:txBody>
      </p:sp>
      <p:sp>
        <p:nvSpPr>
          <p:cNvPr id="599" name="Google Shape;599;p7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00" name="Google Shape;600;p7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6"/>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Getting Started with</a:t>
            </a:r>
            <a:br>
              <a:rPr lang="en"/>
            </a:br>
            <a:r>
              <a:rPr lang="en"/>
              <a:t>Cloud Shell and </a:t>
            </a:r>
            <a:r>
              <a:rPr lang="en">
                <a:latin typeface="Consolas"/>
                <a:ea typeface="Consolas"/>
                <a:cs typeface="Consolas"/>
                <a:sym typeface="Consolas"/>
              </a:rPr>
              <a:t>gcloud</a:t>
            </a:r>
            <a:endParaRPr>
              <a:latin typeface="Consolas"/>
              <a:ea typeface="Consolas"/>
              <a:cs typeface="Consolas"/>
              <a:sym typeface="Consolas"/>
            </a:endParaRPr>
          </a:p>
        </p:txBody>
      </p:sp>
      <p:sp>
        <p:nvSpPr>
          <p:cNvPr id="606" name="Google Shape;606;p76"/>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607" name="Google Shape;607;p76"/>
          <p:cNvSpPr txBox="1"/>
          <p:nvPr/>
        </p:nvSpPr>
        <p:spPr>
          <a:xfrm>
            <a:off x="1724150" y="6523925"/>
            <a:ext cx="6724200" cy="23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a:t>
            </a:r>
            <a:r>
              <a:rPr lang="en" sz="2500">
                <a:solidFill>
                  <a:schemeClr val="lt1"/>
                </a:solidFill>
                <a:latin typeface="Roboto"/>
                <a:ea typeface="Roboto"/>
                <a:cs typeface="Roboto"/>
                <a:sym typeface="Roboto"/>
              </a:rPr>
              <a:t>onnect to computing resources hosted on Google Cloud via Cloud Shell with the </a:t>
            </a:r>
            <a:r>
              <a:rPr lang="en" sz="2500">
                <a:solidFill>
                  <a:schemeClr val="lt1"/>
                </a:solidFill>
                <a:latin typeface="Consolas"/>
                <a:ea typeface="Consolas"/>
                <a:cs typeface="Consolas"/>
                <a:sym typeface="Consolas"/>
              </a:rPr>
              <a:t>gcloud </a:t>
            </a:r>
            <a:r>
              <a:rPr lang="en" sz="2500">
                <a:solidFill>
                  <a:schemeClr val="lt1"/>
                </a:solidFill>
                <a:latin typeface="Roboto"/>
                <a:ea typeface="Roboto"/>
                <a:cs typeface="Roboto"/>
                <a:sym typeface="Roboto"/>
              </a:rPr>
              <a:t>command-line.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1500"/>
              </a:spcAft>
              <a:buNone/>
            </a:pPr>
            <a:r>
              <a:rPr lang="en" sz="2500">
                <a:solidFill>
                  <a:schemeClr val="lt1"/>
                </a:solidFill>
                <a:latin typeface="Roboto"/>
                <a:ea typeface="Roboto"/>
                <a:cs typeface="Roboto"/>
                <a:sym typeface="Roboto"/>
              </a:rPr>
              <a:t>The lab can be found</a:t>
            </a:r>
            <a:r>
              <a:rPr lang="en" sz="2500">
                <a:solidFill>
                  <a:schemeClr val="dk1"/>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200">
                <a:solidFill>
                  <a:srgbClr val="3C4043"/>
                </a:solidFill>
                <a:latin typeface="Roboto"/>
                <a:ea typeface="Roboto"/>
                <a:cs typeface="Roboto"/>
                <a:sym typeface="Roboto"/>
              </a:rPr>
              <a:t>.</a:t>
            </a:r>
            <a:endParaRPr/>
          </a:p>
        </p:txBody>
      </p:sp>
      <p:sp>
        <p:nvSpPr>
          <p:cNvPr id="608" name="Google Shape;608;p7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614" name="Google Shape;614;p77"/>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Practice using </a:t>
            </a:r>
            <a:r>
              <a:rPr lang="en" sz="3000">
                <a:latin typeface="Consolas"/>
                <a:ea typeface="Consolas"/>
                <a:cs typeface="Consolas"/>
                <a:sym typeface="Consolas"/>
              </a:rPr>
              <a:t>gcloud</a:t>
            </a:r>
            <a:r>
              <a:rPr lang="en" sz="3000">
                <a:solidFill>
                  <a:srgbClr val="434343"/>
                </a:solidFill>
              </a:rPr>
              <a:t> </a:t>
            </a:r>
            <a:r>
              <a:rPr lang="en" sz="3000"/>
              <a:t>commands.</a:t>
            </a:r>
            <a:endParaRPr sz="3000">
              <a:latin typeface="Google Sans"/>
              <a:ea typeface="Google Sans"/>
              <a:cs typeface="Google Sans"/>
              <a:sym typeface="Google Sans"/>
            </a:endParaRPr>
          </a:p>
          <a:p>
            <a:pPr indent="0" lvl="0" marL="0" rtl="0" algn="l">
              <a:spcBef>
                <a:spcPts val="2900"/>
              </a:spcBef>
              <a:spcAft>
                <a:spcPts val="2900"/>
              </a:spcAft>
              <a:buNone/>
            </a:pPr>
            <a:r>
              <a:rPr lang="en" sz="3000"/>
              <a:t>Connect to storage services hosted on Google Cloud.</a:t>
            </a:r>
            <a:endParaRPr/>
          </a:p>
        </p:txBody>
      </p:sp>
      <p:sp>
        <p:nvSpPr>
          <p:cNvPr id="615" name="Google Shape;615;p7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616" name="Google Shape;616;p77"/>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8"/>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Getting Started with Cloud Shell and gcloud</a:t>
            </a:r>
            <a:endParaRPr/>
          </a:p>
          <a:p>
            <a:pPr indent="0" lvl="0" marL="0" rtl="0" algn="l">
              <a:spcBef>
                <a:spcPts val="2900"/>
              </a:spcBef>
              <a:spcAft>
                <a:spcPts val="0"/>
              </a:spcAft>
              <a:buNone/>
            </a:pPr>
            <a:r>
              <a:rPr lang="en">
                <a:solidFill>
                  <a:schemeClr val="accent2"/>
                </a:solidFill>
              </a:rPr>
              <a:t>Google Cloud APIs</a:t>
            </a:r>
            <a:endParaRPr>
              <a:solidFill>
                <a:schemeClr val="accent2"/>
              </a:solidFill>
            </a:endParaRPr>
          </a:p>
          <a:p>
            <a:pPr indent="0" lvl="0" marL="0" rtl="0" algn="l">
              <a:spcBef>
                <a:spcPts val="2900"/>
              </a:spcBef>
              <a:spcAft>
                <a:spcPts val="0"/>
              </a:spcAft>
              <a:buNone/>
            </a:pPr>
            <a:r>
              <a:rPr lang="en"/>
              <a:t>Cloud Console Mobile App</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a:t>
            </a:r>
            <a:r>
              <a:rPr lang="en"/>
              <a:t>y</a:t>
            </a:r>
            <a:endParaRPr/>
          </a:p>
        </p:txBody>
      </p:sp>
      <p:sp>
        <p:nvSpPr>
          <p:cNvPr id="622" name="Google Shape;622;p78"/>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23" name="Google Shape;623;p7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APIs hide the details and enforce contracts</a:t>
            </a:r>
            <a:endParaRPr/>
          </a:p>
        </p:txBody>
      </p:sp>
      <p:cxnSp>
        <p:nvCxnSpPr>
          <p:cNvPr id="629" name="Google Shape;629;p79"/>
          <p:cNvCxnSpPr>
            <a:stCxn id="630" idx="1"/>
            <a:endCxn id="631" idx="3"/>
          </p:cNvCxnSpPr>
          <p:nvPr/>
        </p:nvCxnSpPr>
        <p:spPr>
          <a:xfrm flipH="1" rot="-5400000">
            <a:off x="6893879" y="5525044"/>
            <a:ext cx="264600" cy="3106800"/>
          </a:xfrm>
          <a:prstGeom prst="curvedConnector5">
            <a:avLst>
              <a:gd fmla="val -79375" name="adj1"/>
              <a:gd fmla="val 49970" name="adj2"/>
              <a:gd fmla="val 179408" name="adj3"/>
            </a:avLst>
          </a:prstGeom>
          <a:noFill/>
          <a:ln cap="flat" cmpd="sng" w="19050">
            <a:solidFill>
              <a:schemeClr val="dk2"/>
            </a:solidFill>
            <a:prstDash val="solid"/>
            <a:round/>
            <a:headEnd len="med" w="med" type="none"/>
            <a:tailEnd len="med" w="med" type="none"/>
          </a:ln>
        </p:spPr>
      </p:cxnSp>
      <p:cxnSp>
        <p:nvCxnSpPr>
          <p:cNvPr id="632" name="Google Shape;632;p79"/>
          <p:cNvCxnSpPr>
            <a:stCxn id="633" idx="1"/>
            <a:endCxn id="630" idx="3"/>
          </p:cNvCxnSpPr>
          <p:nvPr/>
        </p:nvCxnSpPr>
        <p:spPr>
          <a:xfrm rot="-5400000">
            <a:off x="5172783" y="7576593"/>
            <a:ext cx="402600" cy="197100"/>
          </a:xfrm>
          <a:prstGeom prst="curvedConnector3">
            <a:avLst>
              <a:gd fmla="val 50011" name="adj1"/>
            </a:avLst>
          </a:prstGeom>
          <a:noFill/>
          <a:ln cap="flat" cmpd="sng" w="19050">
            <a:solidFill>
              <a:schemeClr val="accent2"/>
            </a:solidFill>
            <a:prstDash val="solid"/>
            <a:round/>
            <a:headEnd len="med" w="med" type="none"/>
            <a:tailEnd len="med" w="med" type="none"/>
          </a:ln>
        </p:spPr>
      </p:cxnSp>
      <p:cxnSp>
        <p:nvCxnSpPr>
          <p:cNvPr id="634" name="Google Shape;634;p79"/>
          <p:cNvCxnSpPr>
            <a:stCxn id="635" idx="3"/>
            <a:endCxn id="636" idx="2"/>
          </p:cNvCxnSpPr>
          <p:nvPr/>
        </p:nvCxnSpPr>
        <p:spPr>
          <a:xfrm rot="-5400000">
            <a:off x="6088441" y="4513158"/>
            <a:ext cx="761700" cy="2676000"/>
          </a:xfrm>
          <a:prstGeom prst="curvedConnector3">
            <a:avLst>
              <a:gd fmla="val -27590" name="adj1"/>
            </a:avLst>
          </a:prstGeom>
          <a:noFill/>
          <a:ln cap="flat" cmpd="sng" w="19050">
            <a:solidFill>
              <a:schemeClr val="dk2"/>
            </a:solidFill>
            <a:prstDash val="solid"/>
            <a:round/>
            <a:headEnd len="med" w="med" type="none"/>
            <a:tailEnd len="med" w="med" type="none"/>
          </a:ln>
        </p:spPr>
      </p:cxnSp>
      <p:cxnSp>
        <p:nvCxnSpPr>
          <p:cNvPr id="637" name="Google Shape;637;p79"/>
          <p:cNvCxnSpPr>
            <a:stCxn id="638" idx="0"/>
            <a:endCxn id="639" idx="0"/>
          </p:cNvCxnSpPr>
          <p:nvPr/>
        </p:nvCxnSpPr>
        <p:spPr>
          <a:xfrm flipH="1" rot="5400000">
            <a:off x="6863446" y="3903632"/>
            <a:ext cx="2153100" cy="496500"/>
          </a:xfrm>
          <a:prstGeom prst="curvedConnector5">
            <a:avLst>
              <a:gd fmla="val 35365" name="adj1"/>
              <a:gd fmla="val -69211" name="adj2"/>
              <a:gd fmla="val 117623" name="adj3"/>
            </a:avLst>
          </a:prstGeom>
          <a:noFill/>
          <a:ln cap="flat" cmpd="sng" w="19050">
            <a:solidFill>
              <a:schemeClr val="dk2"/>
            </a:solidFill>
            <a:prstDash val="solid"/>
            <a:round/>
            <a:headEnd len="med" w="med" type="none"/>
            <a:tailEnd len="med" w="med" type="none"/>
          </a:ln>
        </p:spPr>
      </p:cxnSp>
      <p:cxnSp>
        <p:nvCxnSpPr>
          <p:cNvPr id="640" name="Google Shape;640;p79"/>
          <p:cNvCxnSpPr>
            <a:stCxn id="641" idx="0"/>
            <a:endCxn id="638" idx="0"/>
          </p:cNvCxnSpPr>
          <p:nvPr/>
        </p:nvCxnSpPr>
        <p:spPr>
          <a:xfrm rot="-5400000">
            <a:off x="6259095" y="5830823"/>
            <a:ext cx="2531700" cy="1326900"/>
          </a:xfrm>
          <a:prstGeom prst="curvedConnector3">
            <a:avLst>
              <a:gd fmla="val 108308" name="adj1"/>
            </a:avLst>
          </a:prstGeom>
          <a:noFill/>
          <a:ln cap="flat" cmpd="sng" w="19050">
            <a:solidFill>
              <a:schemeClr val="dk2"/>
            </a:solidFill>
            <a:prstDash val="solid"/>
            <a:round/>
            <a:headEnd len="med" w="med" type="none"/>
            <a:tailEnd len="med" w="med" type="none"/>
          </a:ln>
        </p:spPr>
      </p:cxnSp>
      <p:cxnSp>
        <p:nvCxnSpPr>
          <p:cNvPr id="642" name="Google Shape;642;p79"/>
          <p:cNvCxnSpPr>
            <a:stCxn id="635" idx="1"/>
            <a:endCxn id="643" idx="4"/>
          </p:cNvCxnSpPr>
          <p:nvPr/>
        </p:nvCxnSpPr>
        <p:spPr>
          <a:xfrm flipH="1" rot="-5400000">
            <a:off x="6191341" y="4118958"/>
            <a:ext cx="1400400" cy="3520500"/>
          </a:xfrm>
          <a:prstGeom prst="curvedConnector5">
            <a:avLst>
              <a:gd fmla="val -15016" name="adj1"/>
              <a:gd fmla="val 60293" name="adj2"/>
              <a:gd fmla="val 115018" name="adj3"/>
            </a:avLst>
          </a:prstGeom>
          <a:noFill/>
          <a:ln cap="flat" cmpd="sng" w="19050">
            <a:solidFill>
              <a:schemeClr val="dk2"/>
            </a:solidFill>
            <a:prstDash val="solid"/>
            <a:round/>
            <a:headEnd len="med" w="med" type="none"/>
            <a:tailEnd len="med" w="med" type="none"/>
          </a:ln>
        </p:spPr>
      </p:cxnSp>
      <p:sp>
        <p:nvSpPr>
          <p:cNvPr id="644" name="Google Shape;644;p79"/>
          <p:cNvSpPr/>
          <p:nvPr/>
        </p:nvSpPr>
        <p:spPr>
          <a:xfrm>
            <a:off x="11013336" y="2880556"/>
            <a:ext cx="1065300" cy="4710300"/>
          </a:xfrm>
          <a:prstGeom prst="rect">
            <a:avLst/>
          </a:prstGeom>
          <a:solidFill>
            <a:srgbClr val="D2E3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600">
                <a:solidFill>
                  <a:schemeClr val="lt1"/>
                </a:solidFill>
                <a:latin typeface="Roboto"/>
                <a:ea typeface="Roboto"/>
                <a:cs typeface="Roboto"/>
                <a:sym typeface="Roboto"/>
              </a:rPr>
              <a:t>API</a:t>
            </a:r>
            <a:endParaRPr sz="3600">
              <a:solidFill>
                <a:schemeClr val="lt1"/>
              </a:solidFill>
              <a:latin typeface="Roboto"/>
              <a:ea typeface="Roboto"/>
              <a:cs typeface="Roboto"/>
              <a:sym typeface="Roboto"/>
            </a:endParaRPr>
          </a:p>
        </p:txBody>
      </p:sp>
      <p:sp>
        <p:nvSpPr>
          <p:cNvPr id="630" name="Google Shape;630;p79"/>
          <p:cNvSpPr/>
          <p:nvPr/>
        </p:nvSpPr>
        <p:spPr>
          <a:xfrm rot="5400000">
            <a:off x="5208929" y="6479644"/>
            <a:ext cx="527700" cy="1460700"/>
          </a:xfrm>
          <a:prstGeom prst="rect">
            <a:avLst/>
          </a:prstGeom>
          <a:solidFill>
            <a:srgbClr val="E37400"/>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cxnSp>
        <p:nvCxnSpPr>
          <p:cNvPr id="645" name="Google Shape;645;p79"/>
          <p:cNvCxnSpPr>
            <a:stCxn id="646" idx="0"/>
            <a:endCxn id="647" idx="3"/>
          </p:cNvCxnSpPr>
          <p:nvPr/>
        </p:nvCxnSpPr>
        <p:spPr>
          <a:xfrm flipH="1">
            <a:off x="9065042" y="3494066"/>
            <a:ext cx="1397700" cy="1440000"/>
          </a:xfrm>
          <a:prstGeom prst="curvedConnector3">
            <a:avLst>
              <a:gd fmla="val 49998" name="adj1"/>
            </a:avLst>
          </a:prstGeom>
          <a:noFill/>
          <a:ln cap="flat" cmpd="sng" w="76200">
            <a:solidFill>
              <a:schemeClr val="dk2"/>
            </a:solidFill>
            <a:prstDash val="solid"/>
            <a:round/>
            <a:headEnd len="med" w="med" type="none"/>
            <a:tailEnd len="med" w="med" type="none"/>
          </a:ln>
        </p:spPr>
      </p:cxnSp>
      <p:sp>
        <p:nvSpPr>
          <p:cNvPr id="648" name="Google Shape;648;p79"/>
          <p:cNvSpPr/>
          <p:nvPr/>
        </p:nvSpPr>
        <p:spPr>
          <a:xfrm>
            <a:off x="6340799" y="3075211"/>
            <a:ext cx="652200" cy="1309800"/>
          </a:xfrm>
          <a:prstGeom prst="rect">
            <a:avLst/>
          </a:prstGeom>
          <a:solidFill>
            <a:schemeClr val="accent2"/>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sp>
        <p:nvSpPr>
          <p:cNvPr id="647" name="Google Shape;647;p79"/>
          <p:cNvSpPr/>
          <p:nvPr/>
        </p:nvSpPr>
        <p:spPr>
          <a:xfrm>
            <a:off x="7570678" y="4279207"/>
            <a:ext cx="1494300" cy="13098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9"/>
          <p:cNvSpPr/>
          <p:nvPr/>
        </p:nvSpPr>
        <p:spPr>
          <a:xfrm>
            <a:off x="7668587" y="5228432"/>
            <a:ext cx="2775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79"/>
          <p:cNvSpPr/>
          <p:nvPr/>
        </p:nvSpPr>
        <p:spPr>
          <a:xfrm>
            <a:off x="8049496" y="5228432"/>
            <a:ext cx="2775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9" name="Google Shape;649;p79"/>
          <p:cNvCxnSpPr/>
          <p:nvPr/>
        </p:nvCxnSpPr>
        <p:spPr>
          <a:xfrm>
            <a:off x="8393265" y="5447690"/>
            <a:ext cx="606000" cy="0"/>
          </a:xfrm>
          <a:prstGeom prst="straightConnector1">
            <a:avLst/>
          </a:prstGeom>
          <a:noFill/>
          <a:ln cap="flat" cmpd="sng" w="38100">
            <a:solidFill>
              <a:srgbClr val="FFFFFF"/>
            </a:solidFill>
            <a:prstDash val="solid"/>
            <a:round/>
            <a:headEnd len="med" w="med" type="none"/>
            <a:tailEnd len="med" w="med" type="none"/>
          </a:ln>
        </p:spPr>
      </p:cxnSp>
      <p:grpSp>
        <p:nvGrpSpPr>
          <p:cNvPr id="650" name="Google Shape;650;p79"/>
          <p:cNvGrpSpPr/>
          <p:nvPr/>
        </p:nvGrpSpPr>
        <p:grpSpPr>
          <a:xfrm rot="-5400000">
            <a:off x="10435159" y="3206438"/>
            <a:ext cx="630424" cy="575256"/>
            <a:chOff x="902475" y="4696625"/>
            <a:chExt cx="1005300" cy="976500"/>
          </a:xfrm>
        </p:grpSpPr>
        <p:sp>
          <p:nvSpPr>
            <p:cNvPr id="646" name="Google Shape;646;p79"/>
            <p:cNvSpPr/>
            <p:nvPr/>
          </p:nvSpPr>
          <p:spPr>
            <a:xfrm>
              <a:off x="981375" y="4696625"/>
              <a:ext cx="847500" cy="841200"/>
            </a:xfrm>
            <a:prstGeom prst="trapezoid">
              <a:avLst>
                <a:gd fmla="val 3541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79"/>
            <p:cNvSpPr/>
            <p:nvPr/>
          </p:nvSpPr>
          <p:spPr>
            <a:xfrm>
              <a:off x="902475" y="5537825"/>
              <a:ext cx="1005300" cy="135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52" name="Google Shape;652;p79"/>
          <p:cNvCxnSpPr>
            <a:stCxn id="653" idx="0"/>
            <a:endCxn id="654" idx="3"/>
          </p:cNvCxnSpPr>
          <p:nvPr/>
        </p:nvCxnSpPr>
        <p:spPr>
          <a:xfrm flipH="1">
            <a:off x="7018742" y="7014226"/>
            <a:ext cx="3444000" cy="1744200"/>
          </a:xfrm>
          <a:prstGeom prst="curvedConnector3">
            <a:avLst>
              <a:gd fmla="val 50000" name="adj1"/>
            </a:avLst>
          </a:prstGeom>
          <a:noFill/>
          <a:ln cap="flat" cmpd="sng" w="76200">
            <a:solidFill>
              <a:schemeClr val="dk2"/>
            </a:solidFill>
            <a:prstDash val="solid"/>
            <a:round/>
            <a:headEnd len="med" w="med" type="none"/>
            <a:tailEnd len="med" w="med" type="none"/>
          </a:ln>
        </p:spPr>
      </p:cxnSp>
      <p:grpSp>
        <p:nvGrpSpPr>
          <p:cNvPr id="655" name="Google Shape;655;p79"/>
          <p:cNvGrpSpPr/>
          <p:nvPr/>
        </p:nvGrpSpPr>
        <p:grpSpPr>
          <a:xfrm rot="-5400000">
            <a:off x="10435159" y="4966518"/>
            <a:ext cx="630424" cy="575256"/>
            <a:chOff x="902475" y="4696625"/>
            <a:chExt cx="1005300" cy="976500"/>
          </a:xfrm>
        </p:grpSpPr>
        <p:sp>
          <p:nvSpPr>
            <p:cNvPr id="656" name="Google Shape;656;p79"/>
            <p:cNvSpPr/>
            <p:nvPr/>
          </p:nvSpPr>
          <p:spPr>
            <a:xfrm>
              <a:off x="981375" y="4696625"/>
              <a:ext cx="847500" cy="841200"/>
            </a:xfrm>
            <a:prstGeom prst="trapezoid">
              <a:avLst>
                <a:gd fmla="val 3541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79"/>
            <p:cNvSpPr/>
            <p:nvPr/>
          </p:nvSpPr>
          <p:spPr>
            <a:xfrm>
              <a:off x="902475" y="5537825"/>
              <a:ext cx="1005300" cy="135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9" name="Google Shape;639;p79"/>
          <p:cNvSpPr/>
          <p:nvPr/>
        </p:nvSpPr>
        <p:spPr>
          <a:xfrm>
            <a:off x="7168295" y="3075211"/>
            <a:ext cx="1046700" cy="630900"/>
          </a:xfrm>
          <a:prstGeom prst="rect">
            <a:avLst/>
          </a:prstGeom>
          <a:solidFill>
            <a:schemeClr val="accent6"/>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sp>
        <p:nvSpPr>
          <p:cNvPr id="633" name="Google Shape;633;p79"/>
          <p:cNvSpPr/>
          <p:nvPr/>
        </p:nvSpPr>
        <p:spPr>
          <a:xfrm rot="5400000">
            <a:off x="4951833" y="7667493"/>
            <a:ext cx="647400" cy="1065300"/>
          </a:xfrm>
          <a:prstGeom prst="rect">
            <a:avLst/>
          </a:prstGeom>
          <a:solidFill>
            <a:srgbClr val="A50E0E"/>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sp>
        <p:nvSpPr>
          <p:cNvPr id="631" name="Google Shape;631;p79"/>
          <p:cNvSpPr/>
          <p:nvPr/>
        </p:nvSpPr>
        <p:spPr>
          <a:xfrm rot="5400000">
            <a:off x="8038874" y="5937449"/>
            <a:ext cx="1081200" cy="1465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79"/>
          <p:cNvSpPr/>
          <p:nvPr/>
        </p:nvSpPr>
        <p:spPr>
          <a:xfrm>
            <a:off x="8504820" y="6285478"/>
            <a:ext cx="293700" cy="29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79"/>
          <p:cNvSpPr/>
          <p:nvPr/>
        </p:nvSpPr>
        <p:spPr>
          <a:xfrm>
            <a:off x="8907204" y="6285478"/>
            <a:ext cx="293700" cy="29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79"/>
          <p:cNvSpPr/>
          <p:nvPr/>
        </p:nvSpPr>
        <p:spPr>
          <a:xfrm rot="5400000">
            <a:off x="6141716" y="7957023"/>
            <a:ext cx="1437900" cy="592200"/>
          </a:xfrm>
          <a:prstGeom prst="rect">
            <a:avLst/>
          </a:prstGeom>
          <a:solidFill>
            <a:schemeClr val="accent6"/>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641" name="Google Shape;641;p79"/>
          <p:cNvSpPr/>
          <p:nvPr/>
        </p:nvSpPr>
        <p:spPr>
          <a:xfrm>
            <a:off x="6714645" y="7760123"/>
            <a:ext cx="293700" cy="29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79"/>
          <p:cNvSpPr/>
          <p:nvPr/>
        </p:nvSpPr>
        <p:spPr>
          <a:xfrm rot="5400000">
            <a:off x="4604791" y="4834158"/>
            <a:ext cx="1053000" cy="1742700"/>
          </a:xfrm>
          <a:prstGeom prst="rect">
            <a:avLst/>
          </a:prstGeom>
          <a:solidFill>
            <a:schemeClr val="accent4"/>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p>
        </p:txBody>
      </p:sp>
      <p:cxnSp>
        <p:nvCxnSpPr>
          <p:cNvPr id="660" name="Google Shape;660;p79"/>
          <p:cNvCxnSpPr/>
          <p:nvPr/>
        </p:nvCxnSpPr>
        <p:spPr>
          <a:xfrm>
            <a:off x="4259772" y="5436605"/>
            <a:ext cx="1742700" cy="0"/>
          </a:xfrm>
          <a:prstGeom prst="straightConnector1">
            <a:avLst/>
          </a:prstGeom>
          <a:noFill/>
          <a:ln cap="flat" cmpd="sng" w="38100">
            <a:solidFill>
              <a:srgbClr val="FFFFFF"/>
            </a:solidFill>
            <a:prstDash val="solid"/>
            <a:round/>
            <a:headEnd len="med" w="med" type="none"/>
            <a:tailEnd len="med" w="med" type="none"/>
          </a:ln>
        </p:spPr>
      </p:cxnSp>
      <p:cxnSp>
        <p:nvCxnSpPr>
          <p:cNvPr id="661" name="Google Shape;661;p79"/>
          <p:cNvCxnSpPr/>
          <p:nvPr/>
        </p:nvCxnSpPr>
        <p:spPr>
          <a:xfrm>
            <a:off x="4259772" y="5705862"/>
            <a:ext cx="1742700" cy="0"/>
          </a:xfrm>
          <a:prstGeom prst="straightConnector1">
            <a:avLst/>
          </a:prstGeom>
          <a:noFill/>
          <a:ln cap="flat" cmpd="sng" w="38100">
            <a:solidFill>
              <a:srgbClr val="FFFFFF"/>
            </a:solidFill>
            <a:prstDash val="solid"/>
            <a:round/>
            <a:headEnd len="med" w="med" type="none"/>
            <a:tailEnd len="med" w="med" type="none"/>
          </a:ln>
        </p:spPr>
      </p:cxnSp>
      <p:grpSp>
        <p:nvGrpSpPr>
          <p:cNvPr id="662" name="Google Shape;662;p79"/>
          <p:cNvGrpSpPr/>
          <p:nvPr/>
        </p:nvGrpSpPr>
        <p:grpSpPr>
          <a:xfrm rot="-5400000">
            <a:off x="10435159" y="6726598"/>
            <a:ext cx="630424" cy="575256"/>
            <a:chOff x="902475" y="4696625"/>
            <a:chExt cx="1005300" cy="976500"/>
          </a:xfrm>
        </p:grpSpPr>
        <p:sp>
          <p:nvSpPr>
            <p:cNvPr id="653" name="Google Shape;653;p79"/>
            <p:cNvSpPr/>
            <p:nvPr/>
          </p:nvSpPr>
          <p:spPr>
            <a:xfrm>
              <a:off x="981375" y="4696625"/>
              <a:ext cx="847500" cy="841200"/>
            </a:xfrm>
            <a:prstGeom prst="trapezoid">
              <a:avLst>
                <a:gd fmla="val 3541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9"/>
            <p:cNvSpPr/>
            <p:nvPr/>
          </p:nvSpPr>
          <p:spPr>
            <a:xfrm>
              <a:off x="902475" y="5537825"/>
              <a:ext cx="1005300" cy="135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64" name="Google Shape;664;p79"/>
          <p:cNvCxnSpPr>
            <a:stCxn id="656" idx="0"/>
            <a:endCxn id="631" idx="0"/>
          </p:cNvCxnSpPr>
          <p:nvPr/>
        </p:nvCxnSpPr>
        <p:spPr>
          <a:xfrm flipH="1">
            <a:off x="9311942" y="5254146"/>
            <a:ext cx="1150800" cy="1416000"/>
          </a:xfrm>
          <a:prstGeom prst="curvedConnector3">
            <a:avLst>
              <a:gd fmla="val 50004" name="adj1"/>
            </a:avLst>
          </a:prstGeom>
          <a:noFill/>
          <a:ln cap="flat" cmpd="sng" w="76200">
            <a:solidFill>
              <a:schemeClr val="dk2"/>
            </a:solidFill>
            <a:prstDash val="solid"/>
            <a:round/>
            <a:headEnd len="med" w="med" type="none"/>
            <a:tailEnd len="med" w="med" type="none"/>
          </a:ln>
        </p:spPr>
      </p:cxnSp>
      <p:cxnSp>
        <p:nvCxnSpPr>
          <p:cNvPr id="665" name="Google Shape;665;p79"/>
          <p:cNvCxnSpPr>
            <a:stCxn id="648" idx="2"/>
            <a:endCxn id="630" idx="0"/>
          </p:cNvCxnSpPr>
          <p:nvPr/>
        </p:nvCxnSpPr>
        <p:spPr>
          <a:xfrm rot="5400000">
            <a:off x="5022449" y="5565661"/>
            <a:ext cx="2825100" cy="463800"/>
          </a:xfrm>
          <a:prstGeom prst="curvedConnector2">
            <a:avLst/>
          </a:prstGeom>
          <a:noFill/>
          <a:ln cap="flat" cmpd="sng" w="19050">
            <a:solidFill>
              <a:schemeClr val="dk2"/>
            </a:solidFill>
            <a:prstDash val="solid"/>
            <a:round/>
            <a:headEnd len="med" w="med" type="none"/>
            <a:tailEnd len="med" w="med" type="none"/>
          </a:ln>
        </p:spPr>
      </p:cxnSp>
      <p:sp>
        <p:nvSpPr>
          <p:cNvPr id="654" name="Google Shape;654;p79"/>
          <p:cNvSpPr/>
          <p:nvPr/>
        </p:nvSpPr>
        <p:spPr>
          <a:xfrm>
            <a:off x="6724921" y="8611336"/>
            <a:ext cx="293700" cy="29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79"/>
          <p:cNvSpPr txBox="1"/>
          <p:nvPr/>
        </p:nvSpPr>
        <p:spPr>
          <a:xfrm>
            <a:off x="3091808" y="2976404"/>
            <a:ext cx="2700000" cy="14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accent6"/>
                </a:solidFill>
                <a:latin typeface="Roboto"/>
                <a:ea typeface="Roboto"/>
                <a:cs typeface="Roboto"/>
                <a:sym typeface="Roboto"/>
              </a:rPr>
              <a:t>Complex, changeable implementation</a:t>
            </a:r>
            <a:endParaRPr sz="2800">
              <a:solidFill>
                <a:schemeClr val="accent6"/>
              </a:solidFill>
              <a:latin typeface="Roboto"/>
              <a:ea typeface="Roboto"/>
              <a:cs typeface="Roboto"/>
              <a:sym typeface="Roboto"/>
            </a:endParaRPr>
          </a:p>
        </p:txBody>
      </p:sp>
      <p:sp>
        <p:nvSpPr>
          <p:cNvPr id="667" name="Google Shape;667;p79"/>
          <p:cNvSpPr txBox="1"/>
          <p:nvPr/>
        </p:nvSpPr>
        <p:spPr>
          <a:xfrm>
            <a:off x="11012830" y="7621364"/>
            <a:ext cx="1862400" cy="14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accent6"/>
                </a:solidFill>
                <a:latin typeface="Roboto"/>
                <a:ea typeface="Roboto"/>
                <a:cs typeface="Roboto"/>
                <a:sym typeface="Roboto"/>
              </a:rPr>
              <a:t>Simple, versioned interface</a:t>
            </a:r>
            <a:endParaRPr sz="2800">
              <a:solidFill>
                <a:schemeClr val="accent6"/>
              </a:solidFill>
              <a:latin typeface="Roboto"/>
              <a:ea typeface="Roboto"/>
              <a:cs typeface="Roboto"/>
              <a:sym typeface="Roboto"/>
            </a:endParaRPr>
          </a:p>
        </p:txBody>
      </p:sp>
      <p:sp>
        <p:nvSpPr>
          <p:cNvPr id="668" name="Google Shape;668;p79"/>
          <p:cNvSpPr txBox="1"/>
          <p:nvPr/>
        </p:nvSpPr>
        <p:spPr>
          <a:xfrm>
            <a:off x="14046592" y="2445000"/>
            <a:ext cx="1149600" cy="63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accent2"/>
                </a:solidFill>
                <a:latin typeface="Roboto"/>
                <a:ea typeface="Roboto"/>
                <a:cs typeface="Roboto"/>
                <a:sym typeface="Roboto"/>
              </a:rPr>
              <a:t>Users</a:t>
            </a:r>
            <a:endParaRPr sz="2800">
              <a:solidFill>
                <a:schemeClr val="accent2"/>
              </a:solidFill>
              <a:latin typeface="Roboto"/>
              <a:ea typeface="Roboto"/>
              <a:cs typeface="Roboto"/>
              <a:sym typeface="Roboto"/>
            </a:endParaRPr>
          </a:p>
        </p:txBody>
      </p:sp>
      <p:sp>
        <p:nvSpPr>
          <p:cNvPr id="669" name="Google Shape;669;p79"/>
          <p:cNvSpPr/>
          <p:nvPr/>
        </p:nvSpPr>
        <p:spPr>
          <a:xfrm>
            <a:off x="12077646" y="3448381"/>
            <a:ext cx="384000" cy="630900"/>
          </a:xfrm>
          <a:prstGeom prst="rect">
            <a:avLst/>
          </a:prstGeom>
          <a:solidFill>
            <a:srgbClr val="FFE599"/>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grpSp>
        <p:nvGrpSpPr>
          <p:cNvPr id="670" name="Google Shape;670;p79"/>
          <p:cNvGrpSpPr/>
          <p:nvPr/>
        </p:nvGrpSpPr>
        <p:grpSpPr>
          <a:xfrm>
            <a:off x="14165370" y="3315862"/>
            <a:ext cx="909518" cy="900092"/>
            <a:chOff x="4712166" y="4073588"/>
            <a:chExt cx="2173800" cy="2139509"/>
          </a:xfrm>
        </p:grpSpPr>
        <p:sp>
          <p:nvSpPr>
            <p:cNvPr id="671" name="Google Shape;671;p79"/>
            <p:cNvSpPr/>
            <p:nvPr/>
          </p:nvSpPr>
          <p:spPr>
            <a:xfrm rot="-5400000">
              <a:off x="5373366" y="4700497"/>
              <a:ext cx="851400" cy="2173800"/>
            </a:xfrm>
            <a:prstGeom prst="flowChartDelay">
              <a:avLst/>
            </a:prstGeom>
            <a:solidFill>
              <a:schemeClr val="accent3"/>
            </a:solidFill>
            <a:ln cap="flat" cmpd="sng" w="76200">
              <a:solidFill>
                <a:srgbClr val="FFFFFF"/>
              </a:solidFill>
              <a:prstDash val="solid"/>
              <a:round/>
              <a:headEnd len="sm" w="sm" type="none"/>
              <a:tailEnd len="sm" w="sm" type="none"/>
            </a:ln>
          </p:spPr>
          <p:txBody>
            <a:bodyPr anchorCtr="0" anchor="b"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sp>
          <p:nvSpPr>
            <p:cNvPr id="672" name="Google Shape;672;p79"/>
            <p:cNvSpPr/>
            <p:nvPr/>
          </p:nvSpPr>
          <p:spPr>
            <a:xfrm>
              <a:off x="5083934" y="4073588"/>
              <a:ext cx="1430100" cy="1424100"/>
            </a:xfrm>
            <a:prstGeom prst="ellipse">
              <a:avLst/>
            </a:prstGeom>
            <a:solidFill>
              <a:schemeClr val="accent3"/>
            </a:solidFill>
            <a:ln cap="flat" cmpd="sng" w="76200">
              <a:solidFill>
                <a:srgbClr val="FFFFFF"/>
              </a:solidFill>
              <a:prstDash val="solid"/>
              <a:round/>
              <a:headEnd len="sm" w="sm" type="none"/>
              <a:tailEnd len="sm" w="sm" type="none"/>
            </a:ln>
          </p:spPr>
          <p:txBody>
            <a:bodyPr anchorCtr="0" anchor="b"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grpSp>
      <p:sp>
        <p:nvSpPr>
          <p:cNvPr id="673" name="Google Shape;673;p79"/>
          <p:cNvSpPr/>
          <p:nvPr/>
        </p:nvSpPr>
        <p:spPr>
          <a:xfrm>
            <a:off x="12077646" y="4424440"/>
            <a:ext cx="384000" cy="630900"/>
          </a:xfrm>
          <a:prstGeom prst="rect">
            <a:avLst/>
          </a:prstGeom>
          <a:solidFill>
            <a:srgbClr val="FFE599"/>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grpSp>
        <p:nvGrpSpPr>
          <p:cNvPr id="674" name="Google Shape;674;p79"/>
          <p:cNvGrpSpPr/>
          <p:nvPr/>
        </p:nvGrpSpPr>
        <p:grpSpPr>
          <a:xfrm>
            <a:off x="14165370" y="4291921"/>
            <a:ext cx="909518" cy="900092"/>
            <a:chOff x="4712166" y="4073588"/>
            <a:chExt cx="2173800" cy="2139509"/>
          </a:xfrm>
        </p:grpSpPr>
        <p:sp>
          <p:nvSpPr>
            <p:cNvPr id="675" name="Google Shape;675;p79"/>
            <p:cNvSpPr/>
            <p:nvPr/>
          </p:nvSpPr>
          <p:spPr>
            <a:xfrm rot="-5400000">
              <a:off x="5373366" y="4700497"/>
              <a:ext cx="851400" cy="2173800"/>
            </a:xfrm>
            <a:prstGeom prst="flowChartDelay">
              <a:avLst/>
            </a:prstGeom>
            <a:solidFill>
              <a:schemeClr val="accent3"/>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sp>
          <p:nvSpPr>
            <p:cNvPr id="676" name="Google Shape;676;p79"/>
            <p:cNvSpPr/>
            <p:nvPr/>
          </p:nvSpPr>
          <p:spPr>
            <a:xfrm>
              <a:off x="5083934" y="4073588"/>
              <a:ext cx="1430100" cy="1424100"/>
            </a:xfrm>
            <a:prstGeom prst="ellipse">
              <a:avLst/>
            </a:prstGeom>
            <a:solidFill>
              <a:schemeClr val="accent3"/>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grpSp>
      <p:sp>
        <p:nvSpPr>
          <p:cNvPr id="677" name="Google Shape;677;p79"/>
          <p:cNvSpPr/>
          <p:nvPr/>
        </p:nvSpPr>
        <p:spPr>
          <a:xfrm>
            <a:off x="12077646" y="5400499"/>
            <a:ext cx="384000" cy="630900"/>
          </a:xfrm>
          <a:prstGeom prst="rect">
            <a:avLst/>
          </a:prstGeom>
          <a:solidFill>
            <a:srgbClr val="FFE599"/>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grpSp>
        <p:nvGrpSpPr>
          <p:cNvPr id="678" name="Google Shape;678;p79"/>
          <p:cNvGrpSpPr/>
          <p:nvPr/>
        </p:nvGrpSpPr>
        <p:grpSpPr>
          <a:xfrm>
            <a:off x="14165370" y="5267980"/>
            <a:ext cx="909518" cy="900092"/>
            <a:chOff x="4712166" y="4073588"/>
            <a:chExt cx="2173800" cy="2139509"/>
          </a:xfrm>
        </p:grpSpPr>
        <p:sp>
          <p:nvSpPr>
            <p:cNvPr id="679" name="Google Shape;679;p79"/>
            <p:cNvSpPr/>
            <p:nvPr/>
          </p:nvSpPr>
          <p:spPr>
            <a:xfrm rot="-5400000">
              <a:off x="5373366" y="4700497"/>
              <a:ext cx="851400" cy="2173800"/>
            </a:xfrm>
            <a:prstGeom prst="flowChartDelay">
              <a:avLst/>
            </a:prstGeom>
            <a:solidFill>
              <a:schemeClr val="accent3"/>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sp>
          <p:nvSpPr>
            <p:cNvPr id="680" name="Google Shape;680;p79"/>
            <p:cNvSpPr/>
            <p:nvPr/>
          </p:nvSpPr>
          <p:spPr>
            <a:xfrm>
              <a:off x="5083934" y="4073588"/>
              <a:ext cx="1430100" cy="1424100"/>
            </a:xfrm>
            <a:prstGeom prst="ellipse">
              <a:avLst/>
            </a:prstGeom>
            <a:solidFill>
              <a:schemeClr val="accent3"/>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grpSp>
      <p:cxnSp>
        <p:nvCxnSpPr>
          <p:cNvPr id="681" name="Google Shape;681;p79"/>
          <p:cNvCxnSpPr/>
          <p:nvPr/>
        </p:nvCxnSpPr>
        <p:spPr>
          <a:xfrm flipH="1">
            <a:off x="12876173" y="3701978"/>
            <a:ext cx="894000" cy="9000"/>
          </a:xfrm>
          <a:prstGeom prst="straightConnector1">
            <a:avLst/>
          </a:prstGeom>
          <a:noFill/>
          <a:ln cap="flat" cmpd="sng" w="38100">
            <a:solidFill>
              <a:schemeClr val="accent3"/>
            </a:solidFill>
            <a:prstDash val="solid"/>
            <a:round/>
            <a:headEnd len="med" w="med" type="none"/>
            <a:tailEnd len="med" w="med" type="triangle"/>
          </a:ln>
        </p:spPr>
      </p:cxnSp>
      <p:cxnSp>
        <p:nvCxnSpPr>
          <p:cNvPr id="682" name="Google Shape;682;p79"/>
          <p:cNvCxnSpPr/>
          <p:nvPr/>
        </p:nvCxnSpPr>
        <p:spPr>
          <a:xfrm flipH="1">
            <a:off x="12876173" y="4711694"/>
            <a:ext cx="894000" cy="9000"/>
          </a:xfrm>
          <a:prstGeom prst="straightConnector1">
            <a:avLst/>
          </a:prstGeom>
          <a:noFill/>
          <a:ln cap="flat" cmpd="sng" w="38100">
            <a:solidFill>
              <a:schemeClr val="accent3"/>
            </a:solidFill>
            <a:prstDash val="solid"/>
            <a:round/>
            <a:headEnd len="med" w="med" type="none"/>
            <a:tailEnd len="med" w="med" type="triangle"/>
          </a:ln>
        </p:spPr>
      </p:cxnSp>
      <p:cxnSp>
        <p:nvCxnSpPr>
          <p:cNvPr id="683" name="Google Shape;683;p79"/>
          <p:cNvCxnSpPr/>
          <p:nvPr/>
        </p:nvCxnSpPr>
        <p:spPr>
          <a:xfrm flipH="1">
            <a:off x="12876173" y="5721410"/>
            <a:ext cx="894000" cy="9000"/>
          </a:xfrm>
          <a:prstGeom prst="straightConnector1">
            <a:avLst/>
          </a:prstGeom>
          <a:noFill/>
          <a:ln cap="flat" cmpd="sng" w="38100">
            <a:solidFill>
              <a:schemeClr val="accent3"/>
            </a:solidFill>
            <a:prstDash val="solid"/>
            <a:round/>
            <a:headEnd len="med" w="med" type="none"/>
            <a:tailEnd len="med" w="med" type="triangle"/>
          </a:ln>
        </p:spPr>
      </p:cxnSp>
      <p:sp>
        <p:nvSpPr>
          <p:cNvPr id="684" name="Google Shape;684;p7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pic>
        <p:nvPicPr>
          <p:cNvPr id="689" name="Google Shape;689;p80"/>
          <p:cNvPicPr preferRelativeResize="0"/>
          <p:nvPr/>
        </p:nvPicPr>
        <p:blipFill>
          <a:blip r:embed="rId3">
            <a:alphaModFix/>
          </a:blip>
          <a:stretch>
            <a:fillRect/>
          </a:stretch>
        </p:blipFill>
        <p:spPr>
          <a:xfrm>
            <a:off x="1746506" y="3277317"/>
            <a:ext cx="1003400" cy="1003400"/>
          </a:xfrm>
          <a:prstGeom prst="rect">
            <a:avLst/>
          </a:prstGeom>
          <a:noFill/>
          <a:ln>
            <a:noFill/>
          </a:ln>
          <a:effectLst>
            <a:outerShdw rotWithShape="0" algn="bl" dir="2640000" dist="190500">
              <a:srgbClr val="666666">
                <a:alpha val="50000"/>
              </a:srgbClr>
            </a:outerShdw>
          </a:effectLst>
        </p:spPr>
      </p:pic>
      <p:sp>
        <p:nvSpPr>
          <p:cNvPr id="690" name="Google Shape;690;p80"/>
          <p:cNvSpPr txBox="1"/>
          <p:nvPr/>
        </p:nvSpPr>
        <p:spPr>
          <a:xfrm>
            <a:off x="3339129" y="3012200"/>
            <a:ext cx="11112000" cy="1572300"/>
          </a:xfrm>
          <a:prstGeom prst="rect">
            <a:avLst/>
          </a:prstGeom>
          <a:noFill/>
          <a:ln>
            <a:noFill/>
          </a:ln>
        </p:spPr>
        <p:txBody>
          <a:bodyPr anchorCtr="0" anchor="ctr" bIns="91450" lIns="91450" spcFirstLastPara="1" rIns="91450" wrap="square" tIns="91450">
            <a:noAutofit/>
          </a:bodyPr>
          <a:lstStyle/>
          <a:p>
            <a:pPr indent="0" lvl="0" marL="0" rtl="0" algn="l">
              <a:lnSpc>
                <a:spcPct val="115000"/>
              </a:lnSpc>
              <a:spcBef>
                <a:spcPts val="0"/>
              </a:spcBef>
              <a:spcAft>
                <a:spcPts val="0"/>
              </a:spcAft>
              <a:buNone/>
            </a:pPr>
            <a:r>
              <a:rPr lang="en" sz="2800">
                <a:solidFill>
                  <a:schemeClr val="lt1"/>
                </a:solidFill>
                <a:latin typeface="Roboto"/>
                <a:ea typeface="Roboto"/>
                <a:cs typeface="Roboto"/>
                <a:sym typeface="Roboto"/>
              </a:rPr>
              <a:t>RESTful APIs are enabled through the Cloud Console.</a:t>
            </a:r>
            <a:endParaRPr sz="2800">
              <a:solidFill>
                <a:schemeClr val="lt1"/>
              </a:solidFill>
              <a:latin typeface="Roboto"/>
              <a:ea typeface="Roboto"/>
              <a:cs typeface="Roboto"/>
              <a:sym typeface="Roboto"/>
            </a:endParaRPr>
          </a:p>
        </p:txBody>
      </p:sp>
      <p:pic>
        <p:nvPicPr>
          <p:cNvPr id="691" name="Google Shape;691;p80"/>
          <p:cNvPicPr preferRelativeResize="0"/>
          <p:nvPr/>
        </p:nvPicPr>
        <p:blipFill>
          <a:blip r:embed="rId3">
            <a:alphaModFix/>
          </a:blip>
          <a:stretch>
            <a:fillRect/>
          </a:stretch>
        </p:blipFill>
        <p:spPr>
          <a:xfrm>
            <a:off x="1746504" y="4874517"/>
            <a:ext cx="1042976" cy="1003400"/>
          </a:xfrm>
          <a:prstGeom prst="rect">
            <a:avLst/>
          </a:prstGeom>
          <a:noFill/>
          <a:ln>
            <a:noFill/>
          </a:ln>
          <a:effectLst>
            <a:outerShdw rotWithShape="0" algn="bl" dir="2640000" dist="190500">
              <a:srgbClr val="666666">
                <a:alpha val="50000"/>
              </a:srgbClr>
            </a:outerShdw>
          </a:effectLst>
        </p:spPr>
      </p:pic>
      <p:sp>
        <p:nvSpPr>
          <p:cNvPr id="692" name="Google Shape;692;p80"/>
          <p:cNvSpPr txBox="1"/>
          <p:nvPr/>
        </p:nvSpPr>
        <p:spPr>
          <a:xfrm>
            <a:off x="3401943" y="4761350"/>
            <a:ext cx="11933700" cy="21357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600"/>
              </a:spcBef>
              <a:spcAft>
                <a:spcPts val="0"/>
              </a:spcAft>
              <a:buNone/>
            </a:pPr>
            <a:r>
              <a:rPr lang="en" sz="2800">
                <a:solidFill>
                  <a:schemeClr val="lt1"/>
                </a:solidFill>
                <a:latin typeface="Roboto"/>
                <a:ea typeface="Roboto"/>
                <a:cs typeface="Roboto"/>
                <a:sym typeface="Roboto"/>
              </a:rPr>
              <a:t>Programmatic access is provided to products and services.</a:t>
            </a:r>
            <a:endParaRPr sz="2800">
              <a:solidFill>
                <a:schemeClr val="lt1"/>
              </a:solidFill>
              <a:latin typeface="Roboto"/>
              <a:ea typeface="Roboto"/>
              <a:cs typeface="Roboto"/>
              <a:sym typeface="Roboto"/>
            </a:endParaRPr>
          </a:p>
          <a:p>
            <a:pPr indent="-406400" lvl="0" marL="457200" rtl="0" algn="l">
              <a:lnSpc>
                <a:spcPct val="115000"/>
              </a:lnSpc>
              <a:spcBef>
                <a:spcPts val="600"/>
              </a:spcBef>
              <a:spcAft>
                <a:spcPts val="0"/>
              </a:spcAft>
              <a:buClr>
                <a:schemeClr val="lt1"/>
              </a:buClr>
              <a:buSzPts val="2800"/>
              <a:buFont typeface="Roboto"/>
              <a:buChar char="●"/>
            </a:pPr>
            <a:r>
              <a:rPr lang="en" sz="2800">
                <a:solidFill>
                  <a:schemeClr val="lt1"/>
                </a:solidFill>
                <a:latin typeface="Roboto"/>
                <a:ea typeface="Roboto"/>
                <a:cs typeface="Roboto"/>
                <a:sym typeface="Roboto"/>
              </a:rPr>
              <a:t>Code typically uses JSON as an interchange format.</a:t>
            </a:r>
            <a:endParaRPr sz="2800">
              <a:solidFill>
                <a:schemeClr val="lt1"/>
              </a:solidFill>
              <a:latin typeface="Roboto"/>
              <a:ea typeface="Roboto"/>
              <a:cs typeface="Roboto"/>
              <a:sym typeface="Roboto"/>
            </a:endParaRPr>
          </a:p>
          <a:p>
            <a:pPr indent="-406400" lvl="0" marL="457200" rtl="0" algn="l">
              <a:lnSpc>
                <a:spcPct val="115000"/>
              </a:lnSpc>
              <a:spcBef>
                <a:spcPts val="0"/>
              </a:spcBef>
              <a:spcAft>
                <a:spcPts val="0"/>
              </a:spcAft>
              <a:buClr>
                <a:schemeClr val="lt1"/>
              </a:buClr>
              <a:buSzPts val="2800"/>
              <a:buFont typeface="Roboto"/>
              <a:buChar char="●"/>
            </a:pPr>
            <a:r>
              <a:rPr lang="en" sz="2800">
                <a:solidFill>
                  <a:schemeClr val="lt1"/>
                </a:solidFill>
                <a:latin typeface="Roboto"/>
                <a:ea typeface="Roboto"/>
                <a:cs typeface="Roboto"/>
                <a:sym typeface="Roboto"/>
              </a:rPr>
              <a:t>Use OAuth 2.0 for authentication and authorization.</a:t>
            </a:r>
            <a:endParaRPr sz="2800">
              <a:solidFill>
                <a:schemeClr val="lt1"/>
              </a:solidFill>
              <a:latin typeface="Roboto"/>
              <a:ea typeface="Roboto"/>
              <a:cs typeface="Roboto"/>
              <a:sym typeface="Roboto"/>
            </a:endParaRPr>
          </a:p>
        </p:txBody>
      </p:sp>
      <p:pic>
        <p:nvPicPr>
          <p:cNvPr id="693" name="Google Shape;693;p80"/>
          <p:cNvPicPr preferRelativeResize="0"/>
          <p:nvPr/>
        </p:nvPicPr>
        <p:blipFill>
          <a:blip r:embed="rId3">
            <a:alphaModFix/>
          </a:blip>
          <a:stretch>
            <a:fillRect/>
          </a:stretch>
        </p:blipFill>
        <p:spPr>
          <a:xfrm>
            <a:off x="1746506" y="7205950"/>
            <a:ext cx="1003400" cy="1003400"/>
          </a:xfrm>
          <a:prstGeom prst="rect">
            <a:avLst/>
          </a:prstGeom>
          <a:noFill/>
          <a:ln>
            <a:noFill/>
          </a:ln>
          <a:effectLst>
            <a:outerShdw rotWithShape="0" algn="bl" dir="2640000" dist="190500">
              <a:srgbClr val="666666">
                <a:alpha val="50000"/>
              </a:srgbClr>
            </a:outerShdw>
          </a:effectLst>
        </p:spPr>
      </p:pic>
      <p:sp>
        <p:nvSpPr>
          <p:cNvPr id="694" name="Google Shape;694;p80"/>
          <p:cNvSpPr txBox="1"/>
          <p:nvPr/>
        </p:nvSpPr>
        <p:spPr>
          <a:xfrm>
            <a:off x="3339129" y="6997700"/>
            <a:ext cx="11481000" cy="1572300"/>
          </a:xfrm>
          <a:prstGeom prst="rect">
            <a:avLst/>
          </a:prstGeom>
          <a:noFill/>
          <a:ln>
            <a:noFill/>
          </a:ln>
        </p:spPr>
        <p:txBody>
          <a:bodyPr anchorCtr="0" anchor="ctr" bIns="91450" lIns="91450" spcFirstLastPara="1" rIns="91450" wrap="square" tIns="91450">
            <a:noAutofit/>
          </a:bodyPr>
          <a:lstStyle/>
          <a:p>
            <a:pPr indent="0" lvl="0" marL="0" rtl="0" algn="l">
              <a:lnSpc>
                <a:spcPct val="115000"/>
              </a:lnSpc>
              <a:spcBef>
                <a:spcPts val="600"/>
              </a:spcBef>
              <a:spcAft>
                <a:spcPts val="600"/>
              </a:spcAft>
              <a:buNone/>
            </a:pPr>
            <a:r>
              <a:rPr lang="en" sz="2800">
                <a:solidFill>
                  <a:schemeClr val="lt1"/>
                </a:solidFill>
                <a:latin typeface="Roboto"/>
                <a:ea typeface="Roboto"/>
                <a:cs typeface="Roboto"/>
                <a:sym typeface="Roboto"/>
              </a:rPr>
              <a:t>To help you control spend, most include daily quotas and rates (limits). Quotas and rates can be raised by request.</a:t>
            </a:r>
            <a:endParaRPr sz="2800">
              <a:solidFill>
                <a:schemeClr val="lt1"/>
              </a:solidFill>
              <a:latin typeface="Roboto"/>
              <a:ea typeface="Roboto"/>
              <a:cs typeface="Roboto"/>
              <a:sym typeface="Roboto"/>
            </a:endParaRPr>
          </a:p>
        </p:txBody>
      </p:sp>
      <p:sp>
        <p:nvSpPr>
          <p:cNvPr id="695" name="Google Shape;695;p8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services that make up Google Cloud offer APIs so that you can write code to control them</a:t>
            </a:r>
            <a:endParaRPr/>
          </a:p>
        </p:txBody>
      </p:sp>
      <p:sp>
        <p:nvSpPr>
          <p:cNvPr id="696" name="Google Shape;696;p8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81"/>
          <p:cNvSpPr/>
          <p:nvPr/>
        </p:nvSpPr>
        <p:spPr>
          <a:xfrm>
            <a:off x="1847088" y="2445475"/>
            <a:ext cx="4935924" cy="2962548"/>
          </a:xfrm>
          <a:prstGeom prst="cloud">
            <a:avLst/>
          </a:prstGeom>
          <a:noFill/>
          <a:ln cap="flat" cmpd="sng" w="9525">
            <a:solidFill>
              <a:schemeClr val="accent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702" name="Google Shape;702;p81"/>
          <p:cNvPicPr preferRelativeResize="0"/>
          <p:nvPr/>
        </p:nvPicPr>
        <p:blipFill>
          <a:blip r:embed="rId3">
            <a:alphaModFix/>
          </a:blip>
          <a:stretch>
            <a:fillRect/>
          </a:stretch>
        </p:blipFill>
        <p:spPr>
          <a:xfrm>
            <a:off x="2486575" y="2964567"/>
            <a:ext cx="3620374" cy="1718370"/>
          </a:xfrm>
          <a:prstGeom prst="rect">
            <a:avLst/>
          </a:prstGeom>
          <a:noFill/>
          <a:ln>
            <a:noFill/>
          </a:ln>
        </p:spPr>
      </p:pic>
      <p:sp>
        <p:nvSpPr>
          <p:cNvPr id="703" name="Google Shape;703;p81"/>
          <p:cNvSpPr/>
          <p:nvPr/>
        </p:nvSpPr>
        <p:spPr>
          <a:xfrm>
            <a:off x="2917550" y="6240850"/>
            <a:ext cx="2798100" cy="778200"/>
          </a:xfrm>
          <a:prstGeom prst="rect">
            <a:avLst/>
          </a:prstGeom>
          <a:solidFill>
            <a:srgbClr val="CFE2F3"/>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rgbClr val="000000"/>
              </a:buClr>
              <a:buSzPts val="3600"/>
              <a:buFont typeface="Arial"/>
              <a:buNone/>
            </a:pPr>
            <a:r>
              <a:rPr lang="en" sz="3000">
                <a:solidFill>
                  <a:schemeClr val="lt1"/>
                </a:solidFill>
                <a:latin typeface="Google Sans"/>
                <a:ea typeface="Google Sans"/>
                <a:cs typeface="Google Sans"/>
                <a:sym typeface="Google Sans"/>
              </a:rPr>
              <a:t>Cloud SDK</a:t>
            </a:r>
            <a:endParaRPr sz="3000">
              <a:solidFill>
                <a:schemeClr val="lt1"/>
              </a:solidFill>
              <a:latin typeface="Google Sans"/>
              <a:ea typeface="Google Sans"/>
              <a:cs typeface="Google Sans"/>
              <a:sym typeface="Google Sans"/>
            </a:endParaRPr>
          </a:p>
        </p:txBody>
      </p:sp>
      <p:sp>
        <p:nvSpPr>
          <p:cNvPr id="704" name="Google Shape;704;p81"/>
          <p:cNvSpPr/>
          <p:nvPr/>
        </p:nvSpPr>
        <p:spPr>
          <a:xfrm>
            <a:off x="1813475" y="7531050"/>
            <a:ext cx="1508700" cy="778200"/>
          </a:xfrm>
          <a:prstGeom prst="rect">
            <a:avLst/>
          </a:prstGeom>
          <a:noFill/>
          <a:ln cap="flat" cmpd="sng" w="9525">
            <a:solidFill>
              <a:schemeClr val="accent2"/>
            </a:solidFill>
            <a:prstDash val="solid"/>
            <a:round/>
            <a:headEnd len="sm" w="sm" type="none"/>
            <a:tailEnd len="sm" w="sm" type="none"/>
          </a:ln>
        </p:spPr>
        <p:txBody>
          <a:bodyPr anchorCtr="0" anchor="ctr" bIns="182850" lIns="0" spcFirstLastPara="1" rIns="0" wrap="square" tIns="182850">
            <a:noAutofit/>
          </a:bodyPr>
          <a:lstStyle/>
          <a:p>
            <a:pPr indent="0" lvl="0" marL="0" rtl="0" algn="ctr">
              <a:spcBef>
                <a:spcPts val="0"/>
              </a:spcBef>
              <a:spcAft>
                <a:spcPts val="0"/>
              </a:spcAft>
              <a:buClr>
                <a:srgbClr val="000000"/>
              </a:buClr>
              <a:buSzPts val="2800"/>
              <a:buFont typeface="Arial"/>
              <a:buNone/>
            </a:pPr>
            <a:r>
              <a:rPr lang="en" sz="2800">
                <a:solidFill>
                  <a:schemeClr val="lt1"/>
                </a:solidFill>
                <a:latin typeface="Google Sans"/>
                <a:ea typeface="Google Sans"/>
                <a:cs typeface="Google Sans"/>
                <a:sym typeface="Google Sans"/>
              </a:rPr>
              <a:t>gcloud</a:t>
            </a:r>
            <a:endParaRPr i="0" sz="2800" u="none" cap="none" strike="noStrike">
              <a:solidFill>
                <a:schemeClr val="lt1"/>
              </a:solidFill>
              <a:latin typeface="Google Sans"/>
              <a:ea typeface="Google Sans"/>
              <a:cs typeface="Google Sans"/>
              <a:sym typeface="Google Sans"/>
            </a:endParaRPr>
          </a:p>
        </p:txBody>
      </p:sp>
      <p:sp>
        <p:nvSpPr>
          <p:cNvPr id="705" name="Google Shape;705;p81"/>
          <p:cNvSpPr/>
          <p:nvPr/>
        </p:nvSpPr>
        <p:spPr>
          <a:xfrm>
            <a:off x="5319375" y="7607250"/>
            <a:ext cx="1508700" cy="778200"/>
          </a:xfrm>
          <a:prstGeom prst="rect">
            <a:avLst/>
          </a:prstGeom>
          <a:noFill/>
          <a:ln cap="flat" cmpd="sng" w="9525">
            <a:solidFill>
              <a:schemeClr val="accent2"/>
            </a:solidFill>
            <a:prstDash val="solid"/>
            <a:round/>
            <a:headEnd len="sm" w="sm" type="none"/>
            <a:tailEnd len="sm" w="sm" type="none"/>
          </a:ln>
        </p:spPr>
        <p:txBody>
          <a:bodyPr anchorCtr="0" anchor="ctr" bIns="182850" lIns="0" spcFirstLastPara="1" rIns="0" wrap="square" tIns="182850">
            <a:noAutofit/>
          </a:bodyPr>
          <a:lstStyle/>
          <a:p>
            <a:pPr indent="0" lvl="0" marL="0" rtl="0" algn="ctr">
              <a:spcBef>
                <a:spcPts val="0"/>
              </a:spcBef>
              <a:spcAft>
                <a:spcPts val="0"/>
              </a:spcAft>
              <a:buClr>
                <a:srgbClr val="000000"/>
              </a:buClr>
              <a:buSzPts val="2800"/>
              <a:buFont typeface="Arial"/>
              <a:buNone/>
            </a:pPr>
            <a:r>
              <a:rPr lang="en" sz="2800">
                <a:solidFill>
                  <a:schemeClr val="lt1"/>
                </a:solidFill>
                <a:latin typeface="Google Sans"/>
                <a:ea typeface="Google Sans"/>
                <a:cs typeface="Google Sans"/>
                <a:sym typeface="Google Sans"/>
              </a:rPr>
              <a:t>gsutil</a:t>
            </a:r>
            <a:endParaRPr sz="2800">
              <a:solidFill>
                <a:schemeClr val="lt1"/>
              </a:solidFill>
              <a:latin typeface="Google Sans"/>
              <a:ea typeface="Google Sans"/>
              <a:cs typeface="Google Sans"/>
              <a:sym typeface="Google Sans"/>
            </a:endParaRPr>
          </a:p>
        </p:txBody>
      </p:sp>
      <p:sp>
        <p:nvSpPr>
          <p:cNvPr id="706" name="Google Shape;706;p81"/>
          <p:cNvSpPr/>
          <p:nvPr/>
        </p:nvSpPr>
        <p:spPr>
          <a:xfrm>
            <a:off x="11494750" y="2796600"/>
            <a:ext cx="4431000" cy="778200"/>
          </a:xfrm>
          <a:prstGeom prst="rect">
            <a:avLst/>
          </a:prstGeom>
          <a:solidFill>
            <a:srgbClr val="D9EAD3"/>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rgbClr val="000000"/>
              </a:buClr>
              <a:buSzPts val="2800"/>
              <a:buFont typeface="Arial"/>
              <a:buNone/>
            </a:pPr>
            <a:r>
              <a:rPr lang="en" sz="3000">
                <a:solidFill>
                  <a:schemeClr val="lt1"/>
                </a:solidFill>
                <a:latin typeface="Google Sans"/>
                <a:ea typeface="Google Sans"/>
                <a:cs typeface="Google Sans"/>
                <a:sym typeface="Google Sans"/>
              </a:rPr>
              <a:t>RESTful API</a:t>
            </a:r>
            <a:endParaRPr i="0" sz="3000" u="none" cap="none" strike="noStrike">
              <a:solidFill>
                <a:schemeClr val="lt1"/>
              </a:solidFill>
              <a:latin typeface="Google Sans"/>
              <a:ea typeface="Google Sans"/>
              <a:cs typeface="Google Sans"/>
              <a:sym typeface="Google Sans"/>
            </a:endParaRPr>
          </a:p>
        </p:txBody>
      </p:sp>
      <p:sp>
        <p:nvSpPr>
          <p:cNvPr id="707" name="Google Shape;707;p81"/>
          <p:cNvSpPr txBox="1"/>
          <p:nvPr/>
        </p:nvSpPr>
        <p:spPr>
          <a:xfrm>
            <a:off x="12485350" y="3574800"/>
            <a:ext cx="4517400" cy="778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Clr>
                <a:srgbClr val="000000"/>
              </a:buClr>
              <a:buSzPts val="2400"/>
              <a:buFont typeface="Arial"/>
              <a:buNone/>
            </a:pPr>
            <a:r>
              <a:rPr lang="en" sz="2400">
                <a:latin typeface="Consolas"/>
                <a:ea typeface="Consolas"/>
                <a:cs typeface="Consolas"/>
                <a:sym typeface="Consolas"/>
              </a:rPr>
              <a:t>GET, POST, PUT, DELETE</a:t>
            </a:r>
            <a:endParaRPr sz="2400">
              <a:latin typeface="Consolas"/>
              <a:ea typeface="Consolas"/>
              <a:cs typeface="Consolas"/>
              <a:sym typeface="Consolas"/>
            </a:endParaRPr>
          </a:p>
        </p:txBody>
      </p:sp>
      <p:sp>
        <p:nvSpPr>
          <p:cNvPr id="708" name="Google Shape;708;p81"/>
          <p:cNvSpPr txBox="1"/>
          <p:nvPr/>
        </p:nvSpPr>
        <p:spPr>
          <a:xfrm>
            <a:off x="12485350" y="4032000"/>
            <a:ext cx="1378800" cy="778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Consolas"/>
                <a:ea typeface="Consolas"/>
                <a:cs typeface="Consolas"/>
                <a:sym typeface="Consolas"/>
              </a:rPr>
              <a:t>JSON</a:t>
            </a:r>
            <a:endParaRPr i="0" sz="2400" u="none" cap="none" strike="noStrike">
              <a:solidFill>
                <a:srgbClr val="000000"/>
              </a:solidFill>
              <a:latin typeface="Consolas"/>
              <a:ea typeface="Consolas"/>
              <a:cs typeface="Consolas"/>
              <a:sym typeface="Consolas"/>
            </a:endParaRPr>
          </a:p>
        </p:txBody>
      </p:sp>
      <p:cxnSp>
        <p:nvCxnSpPr>
          <p:cNvPr id="709" name="Google Shape;709;p81"/>
          <p:cNvCxnSpPr/>
          <p:nvPr/>
        </p:nvCxnSpPr>
        <p:spPr>
          <a:xfrm flipH="1">
            <a:off x="11593150" y="3954300"/>
            <a:ext cx="816000" cy="19200"/>
          </a:xfrm>
          <a:prstGeom prst="straightConnector1">
            <a:avLst/>
          </a:prstGeom>
          <a:noFill/>
          <a:ln cap="flat" cmpd="sng" w="38100">
            <a:solidFill>
              <a:schemeClr val="lt1"/>
            </a:solidFill>
            <a:prstDash val="solid"/>
            <a:round/>
            <a:headEnd len="sm" w="sm" type="none"/>
            <a:tailEnd len="med" w="med" type="triangle"/>
          </a:ln>
        </p:spPr>
      </p:cxnSp>
      <p:cxnSp>
        <p:nvCxnSpPr>
          <p:cNvPr id="710" name="Google Shape;710;p81"/>
          <p:cNvCxnSpPr/>
          <p:nvPr/>
        </p:nvCxnSpPr>
        <p:spPr>
          <a:xfrm>
            <a:off x="11593150" y="4411500"/>
            <a:ext cx="816000" cy="9000"/>
          </a:xfrm>
          <a:prstGeom prst="straightConnector1">
            <a:avLst/>
          </a:prstGeom>
          <a:noFill/>
          <a:ln cap="flat" cmpd="sng" w="38100">
            <a:solidFill>
              <a:schemeClr val="lt1"/>
            </a:solidFill>
            <a:prstDash val="solid"/>
            <a:round/>
            <a:headEnd len="sm" w="sm" type="none"/>
            <a:tailEnd len="med" w="med" type="triangle"/>
          </a:ln>
        </p:spPr>
      </p:cxnSp>
      <p:cxnSp>
        <p:nvCxnSpPr>
          <p:cNvPr id="711" name="Google Shape;711;p81"/>
          <p:cNvCxnSpPr/>
          <p:nvPr/>
        </p:nvCxnSpPr>
        <p:spPr>
          <a:xfrm>
            <a:off x="6629050" y="3179100"/>
            <a:ext cx="4837200" cy="6600"/>
          </a:xfrm>
          <a:prstGeom prst="straightConnector1">
            <a:avLst/>
          </a:prstGeom>
          <a:noFill/>
          <a:ln cap="flat" cmpd="sng" w="28575">
            <a:solidFill>
              <a:schemeClr val="accent6"/>
            </a:solidFill>
            <a:prstDash val="solid"/>
            <a:round/>
            <a:headEnd len="med" w="med" type="oval"/>
            <a:tailEnd len="med" w="med" type="oval"/>
          </a:ln>
        </p:spPr>
      </p:cxnSp>
      <p:sp>
        <p:nvSpPr>
          <p:cNvPr id="712" name="Google Shape;712;p81"/>
          <p:cNvSpPr txBox="1"/>
          <p:nvPr/>
        </p:nvSpPr>
        <p:spPr>
          <a:xfrm>
            <a:off x="1813475" y="8385450"/>
            <a:ext cx="1742400" cy="662400"/>
          </a:xfrm>
          <a:prstGeom prst="rect">
            <a:avLst/>
          </a:prstGeom>
          <a:no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chemeClr val="lt1"/>
                </a:solidFill>
                <a:latin typeface="Google Sans"/>
                <a:ea typeface="Google Sans"/>
                <a:cs typeface="Google Sans"/>
                <a:sym typeface="Google Sans"/>
              </a:rPr>
              <a:t>CLI tools</a:t>
            </a:r>
            <a:endParaRPr i="0" sz="2400" u="none" cap="none" strike="noStrike">
              <a:solidFill>
                <a:schemeClr val="lt1"/>
              </a:solidFill>
              <a:latin typeface="Google Sans"/>
              <a:ea typeface="Google Sans"/>
              <a:cs typeface="Google Sans"/>
              <a:sym typeface="Google Sans"/>
            </a:endParaRPr>
          </a:p>
        </p:txBody>
      </p:sp>
      <p:sp>
        <p:nvSpPr>
          <p:cNvPr id="713" name="Google Shape;713;p81"/>
          <p:cNvSpPr/>
          <p:nvPr/>
        </p:nvSpPr>
        <p:spPr>
          <a:xfrm>
            <a:off x="7610687" y="6996300"/>
            <a:ext cx="1508700" cy="778200"/>
          </a:xfrm>
          <a:prstGeom prst="rect">
            <a:avLst/>
          </a:prstGeom>
          <a:noFill/>
          <a:ln cap="flat" cmpd="sng" w="9525">
            <a:solidFill>
              <a:schemeClr val="accent5"/>
            </a:solidFill>
            <a:prstDash val="solid"/>
            <a:round/>
            <a:headEnd len="sm" w="sm" type="none"/>
            <a:tailEnd len="sm" w="sm" type="none"/>
          </a:ln>
        </p:spPr>
        <p:txBody>
          <a:bodyPr anchorCtr="0" anchor="ctr" bIns="182850" lIns="0" spcFirstLastPara="1" rIns="0" wrap="square" tIns="182850">
            <a:noAutofit/>
          </a:bodyPr>
          <a:lstStyle/>
          <a:p>
            <a:pPr indent="0" lvl="0" marL="0" rtl="0" algn="ctr">
              <a:spcBef>
                <a:spcPts val="0"/>
              </a:spcBef>
              <a:spcAft>
                <a:spcPts val="0"/>
              </a:spcAft>
              <a:buClr>
                <a:srgbClr val="000000"/>
              </a:buClr>
              <a:buSzPts val="2800"/>
              <a:buFont typeface="Arial"/>
              <a:buNone/>
            </a:pPr>
            <a:r>
              <a:rPr lang="en" sz="2800">
                <a:latin typeface="Consolas"/>
                <a:ea typeface="Consolas"/>
                <a:cs typeface="Consolas"/>
                <a:sym typeface="Consolas"/>
              </a:rPr>
              <a:t>Java</a:t>
            </a:r>
            <a:endParaRPr i="0" sz="2800" u="none" cap="none" strike="noStrike">
              <a:solidFill>
                <a:srgbClr val="000000"/>
              </a:solidFill>
              <a:latin typeface="Consolas"/>
              <a:ea typeface="Consolas"/>
              <a:cs typeface="Consolas"/>
              <a:sym typeface="Consolas"/>
            </a:endParaRPr>
          </a:p>
        </p:txBody>
      </p:sp>
      <p:sp>
        <p:nvSpPr>
          <p:cNvPr id="714" name="Google Shape;714;p81"/>
          <p:cNvSpPr/>
          <p:nvPr/>
        </p:nvSpPr>
        <p:spPr>
          <a:xfrm>
            <a:off x="9858587" y="6996300"/>
            <a:ext cx="1508700" cy="778200"/>
          </a:xfrm>
          <a:prstGeom prst="rect">
            <a:avLst/>
          </a:prstGeom>
          <a:noFill/>
          <a:ln cap="flat" cmpd="sng" w="9525">
            <a:solidFill>
              <a:schemeClr val="accent5"/>
            </a:solidFill>
            <a:prstDash val="solid"/>
            <a:round/>
            <a:headEnd len="sm" w="sm" type="none"/>
            <a:tailEnd len="sm" w="sm" type="none"/>
          </a:ln>
        </p:spPr>
        <p:txBody>
          <a:bodyPr anchorCtr="0" anchor="ctr" bIns="182850" lIns="0" spcFirstLastPara="1" rIns="0" wrap="square" tIns="182850">
            <a:noAutofit/>
          </a:bodyPr>
          <a:lstStyle/>
          <a:p>
            <a:pPr indent="0" lvl="0" marL="0" rtl="0" algn="ctr">
              <a:spcBef>
                <a:spcPts val="0"/>
              </a:spcBef>
              <a:spcAft>
                <a:spcPts val="0"/>
              </a:spcAft>
              <a:buClr>
                <a:srgbClr val="000000"/>
              </a:buClr>
              <a:buSzPts val="2800"/>
              <a:buFont typeface="Arial"/>
              <a:buNone/>
            </a:pPr>
            <a:r>
              <a:rPr lang="en" sz="2800">
                <a:solidFill>
                  <a:schemeClr val="lt1"/>
                </a:solidFill>
                <a:latin typeface="Roboto"/>
                <a:ea typeface="Roboto"/>
                <a:cs typeface="Roboto"/>
                <a:sym typeface="Roboto"/>
              </a:rPr>
              <a:t>Python</a:t>
            </a:r>
            <a:endParaRPr i="0" sz="2800" u="none" cap="none" strike="noStrike">
              <a:solidFill>
                <a:schemeClr val="lt1"/>
              </a:solidFill>
              <a:latin typeface="Roboto"/>
              <a:ea typeface="Roboto"/>
              <a:cs typeface="Roboto"/>
              <a:sym typeface="Roboto"/>
            </a:endParaRPr>
          </a:p>
        </p:txBody>
      </p:sp>
      <p:sp>
        <p:nvSpPr>
          <p:cNvPr id="715" name="Google Shape;715;p81"/>
          <p:cNvSpPr/>
          <p:nvPr/>
        </p:nvSpPr>
        <p:spPr>
          <a:xfrm>
            <a:off x="12106488" y="6996300"/>
            <a:ext cx="1508700" cy="778200"/>
          </a:xfrm>
          <a:prstGeom prst="rect">
            <a:avLst/>
          </a:prstGeom>
          <a:noFill/>
          <a:ln cap="flat" cmpd="sng" w="9525">
            <a:solidFill>
              <a:schemeClr val="accent5"/>
            </a:solidFill>
            <a:prstDash val="solid"/>
            <a:round/>
            <a:headEnd len="sm" w="sm" type="none"/>
            <a:tailEnd len="sm" w="sm" type="none"/>
          </a:ln>
        </p:spPr>
        <p:txBody>
          <a:bodyPr anchorCtr="0" anchor="ctr" bIns="182850" lIns="0" spcFirstLastPara="1" rIns="0" wrap="square" tIns="182850">
            <a:noAutofit/>
          </a:bodyPr>
          <a:lstStyle/>
          <a:p>
            <a:pPr indent="0" lvl="0" marL="0" rtl="0" algn="ctr">
              <a:spcBef>
                <a:spcPts val="0"/>
              </a:spcBef>
              <a:spcAft>
                <a:spcPts val="0"/>
              </a:spcAft>
              <a:buClr>
                <a:srgbClr val="000000"/>
              </a:buClr>
              <a:buSzPts val="2800"/>
              <a:buFont typeface="Arial"/>
              <a:buNone/>
            </a:pPr>
            <a:r>
              <a:rPr lang="en" sz="2800">
                <a:solidFill>
                  <a:schemeClr val="lt1"/>
                </a:solidFill>
                <a:latin typeface="Roboto"/>
                <a:ea typeface="Roboto"/>
                <a:cs typeface="Roboto"/>
                <a:sym typeface="Roboto"/>
              </a:rPr>
              <a:t>NodeJS</a:t>
            </a:r>
            <a:endParaRPr sz="2800">
              <a:solidFill>
                <a:schemeClr val="lt1"/>
              </a:solidFill>
              <a:latin typeface="Roboto"/>
              <a:ea typeface="Roboto"/>
              <a:cs typeface="Roboto"/>
              <a:sym typeface="Roboto"/>
            </a:endParaRPr>
          </a:p>
        </p:txBody>
      </p:sp>
      <p:sp>
        <p:nvSpPr>
          <p:cNvPr id="716" name="Google Shape;716;p81"/>
          <p:cNvSpPr/>
          <p:nvPr/>
        </p:nvSpPr>
        <p:spPr>
          <a:xfrm>
            <a:off x="7610687" y="8379700"/>
            <a:ext cx="1508700" cy="778200"/>
          </a:xfrm>
          <a:prstGeom prst="rect">
            <a:avLst/>
          </a:prstGeom>
          <a:noFill/>
          <a:ln cap="flat" cmpd="sng" w="9525">
            <a:solidFill>
              <a:schemeClr val="accent5"/>
            </a:solidFill>
            <a:prstDash val="solid"/>
            <a:round/>
            <a:headEnd len="sm" w="sm" type="none"/>
            <a:tailEnd len="sm" w="sm" type="none"/>
          </a:ln>
        </p:spPr>
        <p:txBody>
          <a:bodyPr anchorCtr="0" anchor="ctr" bIns="182850" lIns="0" spcFirstLastPara="1" rIns="0" wrap="square" tIns="182850">
            <a:noAutofit/>
          </a:bodyPr>
          <a:lstStyle/>
          <a:p>
            <a:pPr indent="0" lvl="0" marL="0" rtl="0" algn="ctr">
              <a:spcBef>
                <a:spcPts val="0"/>
              </a:spcBef>
              <a:spcAft>
                <a:spcPts val="0"/>
              </a:spcAft>
              <a:buClr>
                <a:srgbClr val="000000"/>
              </a:buClr>
              <a:buSzPts val="2800"/>
              <a:buFont typeface="Arial"/>
              <a:buNone/>
            </a:pPr>
            <a:r>
              <a:rPr lang="en" sz="2800">
                <a:latin typeface="Consolas"/>
                <a:ea typeface="Consolas"/>
                <a:cs typeface="Consolas"/>
                <a:sym typeface="Consolas"/>
              </a:rPr>
              <a:t>Ruby</a:t>
            </a:r>
            <a:endParaRPr i="0" sz="2800" u="none" cap="none" strike="noStrike">
              <a:solidFill>
                <a:srgbClr val="000000"/>
              </a:solidFill>
              <a:latin typeface="Consolas"/>
              <a:ea typeface="Consolas"/>
              <a:cs typeface="Consolas"/>
              <a:sym typeface="Consolas"/>
            </a:endParaRPr>
          </a:p>
        </p:txBody>
      </p:sp>
      <p:sp>
        <p:nvSpPr>
          <p:cNvPr id="717" name="Google Shape;717;p81"/>
          <p:cNvSpPr/>
          <p:nvPr/>
        </p:nvSpPr>
        <p:spPr>
          <a:xfrm>
            <a:off x="9858587" y="8379700"/>
            <a:ext cx="1508700" cy="778200"/>
          </a:xfrm>
          <a:prstGeom prst="rect">
            <a:avLst/>
          </a:prstGeom>
          <a:noFill/>
          <a:ln cap="flat" cmpd="sng" w="9525">
            <a:solidFill>
              <a:schemeClr val="accent5"/>
            </a:solidFill>
            <a:prstDash val="solid"/>
            <a:round/>
            <a:headEnd len="sm" w="sm" type="none"/>
            <a:tailEnd len="sm" w="sm" type="none"/>
          </a:ln>
        </p:spPr>
        <p:txBody>
          <a:bodyPr anchorCtr="0" anchor="ctr" bIns="182850" lIns="0" spcFirstLastPara="1" rIns="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lang="en" sz="2800">
                <a:solidFill>
                  <a:schemeClr val="lt1"/>
                </a:solidFill>
                <a:latin typeface="Roboto"/>
                <a:ea typeface="Roboto"/>
                <a:cs typeface="Roboto"/>
                <a:sym typeface="Roboto"/>
              </a:rPr>
              <a:t>Go</a:t>
            </a:r>
            <a:endParaRPr i="0" sz="2800" u="none" cap="none" strike="noStrike">
              <a:solidFill>
                <a:schemeClr val="lt1"/>
              </a:solidFill>
              <a:latin typeface="Roboto"/>
              <a:ea typeface="Roboto"/>
              <a:cs typeface="Roboto"/>
              <a:sym typeface="Roboto"/>
            </a:endParaRPr>
          </a:p>
        </p:txBody>
      </p:sp>
      <p:sp>
        <p:nvSpPr>
          <p:cNvPr id="718" name="Google Shape;718;p81"/>
          <p:cNvSpPr/>
          <p:nvPr/>
        </p:nvSpPr>
        <p:spPr>
          <a:xfrm>
            <a:off x="12106488" y="8379700"/>
            <a:ext cx="1508700" cy="778200"/>
          </a:xfrm>
          <a:prstGeom prst="rect">
            <a:avLst/>
          </a:prstGeom>
          <a:noFill/>
          <a:ln cap="flat" cmpd="sng" w="9525">
            <a:solidFill>
              <a:schemeClr val="accent5"/>
            </a:solidFill>
            <a:prstDash val="solid"/>
            <a:round/>
            <a:headEnd len="sm" w="sm" type="none"/>
            <a:tailEnd len="sm" w="sm" type="none"/>
          </a:ln>
        </p:spPr>
        <p:txBody>
          <a:bodyPr anchorCtr="0" anchor="ctr" bIns="182850" lIns="0" spcFirstLastPara="1" rIns="0" wrap="square" tIns="182850">
            <a:noAutofit/>
          </a:bodyPr>
          <a:lstStyle/>
          <a:p>
            <a:pPr indent="0" lvl="0" marL="0" rtl="0" algn="ctr">
              <a:spcBef>
                <a:spcPts val="0"/>
              </a:spcBef>
              <a:spcAft>
                <a:spcPts val="0"/>
              </a:spcAft>
              <a:buClr>
                <a:srgbClr val="000000"/>
              </a:buClr>
              <a:buSzPts val="2800"/>
              <a:buFont typeface="Arial"/>
              <a:buNone/>
            </a:pPr>
            <a:r>
              <a:rPr lang="en" sz="2800">
                <a:solidFill>
                  <a:schemeClr val="lt1"/>
                </a:solidFill>
                <a:latin typeface="Roboto"/>
                <a:ea typeface="Roboto"/>
                <a:cs typeface="Roboto"/>
                <a:sym typeface="Roboto"/>
              </a:rPr>
              <a:t>PHP</a:t>
            </a:r>
            <a:endParaRPr i="0" sz="2800" u="none" cap="none" strike="noStrike">
              <a:solidFill>
                <a:schemeClr val="lt1"/>
              </a:solidFill>
              <a:latin typeface="Roboto"/>
              <a:ea typeface="Roboto"/>
              <a:cs typeface="Roboto"/>
              <a:sym typeface="Roboto"/>
            </a:endParaRPr>
          </a:p>
        </p:txBody>
      </p:sp>
      <p:sp>
        <p:nvSpPr>
          <p:cNvPr id="719" name="Google Shape;719;p81"/>
          <p:cNvSpPr txBox="1"/>
          <p:nvPr/>
        </p:nvSpPr>
        <p:spPr>
          <a:xfrm>
            <a:off x="9515700" y="6074000"/>
            <a:ext cx="2311200" cy="662400"/>
          </a:xfrm>
          <a:prstGeom prst="rect">
            <a:avLst/>
          </a:prstGeom>
          <a:no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lt1"/>
                </a:solidFill>
                <a:latin typeface="Roboto"/>
                <a:ea typeface="Roboto"/>
                <a:cs typeface="Roboto"/>
                <a:sym typeface="Roboto"/>
              </a:rPr>
              <a:t>Languages</a:t>
            </a:r>
            <a:endParaRPr b="0" i="0" sz="2400" u="none" cap="none" strike="noStrike">
              <a:solidFill>
                <a:schemeClr val="lt1"/>
              </a:solidFill>
              <a:latin typeface="Roboto"/>
              <a:ea typeface="Roboto"/>
              <a:cs typeface="Roboto"/>
              <a:sym typeface="Roboto"/>
            </a:endParaRPr>
          </a:p>
        </p:txBody>
      </p:sp>
      <p:sp>
        <p:nvSpPr>
          <p:cNvPr id="720" name="Google Shape;720;p81"/>
          <p:cNvSpPr/>
          <p:nvPr/>
        </p:nvSpPr>
        <p:spPr>
          <a:xfrm>
            <a:off x="6956750" y="5311650"/>
            <a:ext cx="5132400" cy="778200"/>
          </a:xfrm>
          <a:prstGeom prst="rect">
            <a:avLst/>
          </a:prstGeom>
          <a:solidFill>
            <a:srgbClr val="FFF2CC"/>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rgbClr val="000000"/>
              </a:buClr>
              <a:buSzPts val="3600"/>
              <a:buFont typeface="Arial"/>
              <a:buNone/>
            </a:pPr>
            <a:r>
              <a:rPr lang="en" sz="3000">
                <a:solidFill>
                  <a:schemeClr val="lt1"/>
                </a:solidFill>
                <a:latin typeface="Roboto"/>
                <a:ea typeface="Roboto"/>
                <a:cs typeface="Roboto"/>
                <a:sym typeface="Roboto"/>
              </a:rPr>
              <a:t>Cloud Client Libraries</a:t>
            </a:r>
            <a:endParaRPr i="0" sz="3000" u="none" cap="none" strike="noStrike">
              <a:solidFill>
                <a:schemeClr val="lt1"/>
              </a:solidFill>
              <a:latin typeface="Roboto"/>
              <a:ea typeface="Roboto"/>
              <a:cs typeface="Roboto"/>
              <a:sym typeface="Roboto"/>
            </a:endParaRPr>
          </a:p>
        </p:txBody>
      </p:sp>
      <p:cxnSp>
        <p:nvCxnSpPr>
          <p:cNvPr id="721" name="Google Shape;721;p81"/>
          <p:cNvCxnSpPr>
            <a:stCxn id="701" idx="1"/>
            <a:endCxn id="703" idx="0"/>
          </p:cNvCxnSpPr>
          <p:nvPr/>
        </p:nvCxnSpPr>
        <p:spPr>
          <a:xfrm>
            <a:off x="4315050" y="5404868"/>
            <a:ext cx="1500" cy="836100"/>
          </a:xfrm>
          <a:prstGeom prst="straightConnector1">
            <a:avLst/>
          </a:prstGeom>
          <a:noFill/>
          <a:ln cap="flat" cmpd="sng" w="28575">
            <a:solidFill>
              <a:schemeClr val="accent2"/>
            </a:solidFill>
            <a:prstDash val="solid"/>
            <a:round/>
            <a:headEnd len="med" w="med" type="oval"/>
            <a:tailEnd len="med" w="med" type="oval"/>
          </a:ln>
        </p:spPr>
      </p:cxnSp>
      <p:sp>
        <p:nvSpPr>
          <p:cNvPr id="722" name="Google Shape;722;p81"/>
          <p:cNvSpPr/>
          <p:nvPr/>
        </p:nvSpPr>
        <p:spPr>
          <a:xfrm>
            <a:off x="3562250" y="8377600"/>
            <a:ext cx="1508700" cy="778200"/>
          </a:xfrm>
          <a:prstGeom prst="rect">
            <a:avLst/>
          </a:prstGeom>
          <a:noFill/>
          <a:ln cap="flat" cmpd="sng" w="9525">
            <a:solidFill>
              <a:schemeClr val="accent2"/>
            </a:solidFill>
            <a:prstDash val="solid"/>
            <a:round/>
            <a:headEnd len="sm" w="sm" type="none"/>
            <a:tailEnd len="sm" w="sm" type="none"/>
          </a:ln>
        </p:spPr>
        <p:txBody>
          <a:bodyPr anchorCtr="0" anchor="ctr" bIns="182850" lIns="0" spcFirstLastPara="1" rIns="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lang="en" sz="2800">
                <a:solidFill>
                  <a:schemeClr val="lt1"/>
                </a:solidFill>
                <a:latin typeface="Google Sans"/>
                <a:ea typeface="Google Sans"/>
                <a:cs typeface="Google Sans"/>
                <a:sym typeface="Google Sans"/>
              </a:rPr>
              <a:t>bq</a:t>
            </a:r>
            <a:endParaRPr i="0" sz="2800" u="none" cap="none" strike="noStrike">
              <a:solidFill>
                <a:schemeClr val="lt1"/>
              </a:solidFill>
              <a:latin typeface="Google Sans"/>
              <a:ea typeface="Google Sans"/>
              <a:cs typeface="Google Sans"/>
              <a:sym typeface="Google Sans"/>
            </a:endParaRPr>
          </a:p>
        </p:txBody>
      </p:sp>
      <p:sp>
        <p:nvSpPr>
          <p:cNvPr id="723" name="Google Shape;723;p81"/>
          <p:cNvSpPr/>
          <p:nvPr/>
        </p:nvSpPr>
        <p:spPr>
          <a:xfrm>
            <a:off x="6956750" y="5311650"/>
            <a:ext cx="654000" cy="77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81"/>
          <p:cNvSpPr/>
          <p:nvPr/>
        </p:nvSpPr>
        <p:spPr>
          <a:xfrm>
            <a:off x="9166550" y="5311650"/>
            <a:ext cx="654000" cy="77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81"/>
          <p:cNvSpPr/>
          <p:nvPr/>
        </p:nvSpPr>
        <p:spPr>
          <a:xfrm>
            <a:off x="11452550" y="5311650"/>
            <a:ext cx="654000" cy="77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6" name="Google Shape;726;p81"/>
          <p:cNvCxnSpPr>
            <a:stCxn id="725" idx="2"/>
            <a:endCxn id="718" idx="1"/>
          </p:cNvCxnSpPr>
          <p:nvPr/>
        </p:nvCxnSpPr>
        <p:spPr>
          <a:xfrm flipH="1" rot="-5400000">
            <a:off x="10603550" y="7265850"/>
            <a:ext cx="2679000" cy="327000"/>
          </a:xfrm>
          <a:prstGeom prst="bentConnector2">
            <a:avLst/>
          </a:prstGeom>
          <a:noFill/>
          <a:ln cap="flat" cmpd="sng" w="9525">
            <a:solidFill>
              <a:schemeClr val="accent5"/>
            </a:solidFill>
            <a:prstDash val="solid"/>
            <a:round/>
            <a:headEnd len="med" w="med" type="none"/>
            <a:tailEnd len="med" w="med" type="none"/>
          </a:ln>
        </p:spPr>
      </p:cxnSp>
      <p:cxnSp>
        <p:nvCxnSpPr>
          <p:cNvPr id="727" name="Google Shape;727;p81"/>
          <p:cNvCxnSpPr>
            <a:stCxn id="724" idx="2"/>
            <a:endCxn id="717" idx="1"/>
          </p:cNvCxnSpPr>
          <p:nvPr/>
        </p:nvCxnSpPr>
        <p:spPr>
          <a:xfrm flipH="1" rot="-5400000">
            <a:off x="8336600" y="7246800"/>
            <a:ext cx="2679000" cy="365100"/>
          </a:xfrm>
          <a:prstGeom prst="bentConnector2">
            <a:avLst/>
          </a:prstGeom>
          <a:noFill/>
          <a:ln cap="flat" cmpd="sng" w="9525">
            <a:solidFill>
              <a:schemeClr val="accent5"/>
            </a:solidFill>
            <a:prstDash val="solid"/>
            <a:round/>
            <a:headEnd len="med" w="med" type="none"/>
            <a:tailEnd len="med" w="med" type="none"/>
          </a:ln>
        </p:spPr>
      </p:cxnSp>
      <p:cxnSp>
        <p:nvCxnSpPr>
          <p:cNvPr id="728" name="Google Shape;728;p81"/>
          <p:cNvCxnSpPr>
            <a:stCxn id="723" idx="2"/>
            <a:endCxn id="716" idx="1"/>
          </p:cNvCxnSpPr>
          <p:nvPr/>
        </p:nvCxnSpPr>
        <p:spPr>
          <a:xfrm flipH="1" rot="-5400000">
            <a:off x="6107750" y="7265850"/>
            <a:ext cx="2679000" cy="327000"/>
          </a:xfrm>
          <a:prstGeom prst="bentConnector2">
            <a:avLst/>
          </a:prstGeom>
          <a:noFill/>
          <a:ln cap="flat" cmpd="sng" w="9525">
            <a:solidFill>
              <a:schemeClr val="accent5"/>
            </a:solidFill>
            <a:prstDash val="solid"/>
            <a:round/>
            <a:headEnd len="med" w="med" type="none"/>
            <a:tailEnd len="med" w="med" type="none"/>
          </a:ln>
        </p:spPr>
      </p:cxnSp>
      <p:cxnSp>
        <p:nvCxnSpPr>
          <p:cNvPr id="729" name="Google Shape;729;p81"/>
          <p:cNvCxnSpPr>
            <a:stCxn id="703" idx="1"/>
            <a:endCxn id="704" idx="0"/>
          </p:cNvCxnSpPr>
          <p:nvPr/>
        </p:nvCxnSpPr>
        <p:spPr>
          <a:xfrm flipH="1">
            <a:off x="2567750" y="6629950"/>
            <a:ext cx="349800" cy="901200"/>
          </a:xfrm>
          <a:prstGeom prst="bentConnector2">
            <a:avLst/>
          </a:prstGeom>
          <a:noFill/>
          <a:ln cap="flat" cmpd="sng" w="9525">
            <a:solidFill>
              <a:schemeClr val="accent2"/>
            </a:solidFill>
            <a:prstDash val="solid"/>
            <a:round/>
            <a:headEnd len="med" w="med" type="none"/>
            <a:tailEnd len="med" w="med" type="none"/>
          </a:ln>
        </p:spPr>
      </p:cxnSp>
      <p:cxnSp>
        <p:nvCxnSpPr>
          <p:cNvPr id="730" name="Google Shape;730;p81"/>
          <p:cNvCxnSpPr>
            <a:stCxn id="703" idx="3"/>
            <a:endCxn id="705" idx="0"/>
          </p:cNvCxnSpPr>
          <p:nvPr/>
        </p:nvCxnSpPr>
        <p:spPr>
          <a:xfrm>
            <a:off x="5715650" y="6629950"/>
            <a:ext cx="358200" cy="977400"/>
          </a:xfrm>
          <a:prstGeom prst="bentConnector2">
            <a:avLst/>
          </a:prstGeom>
          <a:noFill/>
          <a:ln cap="flat" cmpd="sng" w="9525">
            <a:solidFill>
              <a:schemeClr val="accent2"/>
            </a:solidFill>
            <a:prstDash val="solid"/>
            <a:round/>
            <a:headEnd len="med" w="med" type="none"/>
            <a:tailEnd len="med" w="med" type="none"/>
          </a:ln>
        </p:spPr>
      </p:cxnSp>
      <p:cxnSp>
        <p:nvCxnSpPr>
          <p:cNvPr id="731" name="Google Shape;731;p81"/>
          <p:cNvCxnSpPr>
            <a:stCxn id="703" idx="2"/>
            <a:endCxn id="722" idx="0"/>
          </p:cNvCxnSpPr>
          <p:nvPr/>
        </p:nvCxnSpPr>
        <p:spPr>
          <a:xfrm>
            <a:off x="4316600" y="7019050"/>
            <a:ext cx="0" cy="1358700"/>
          </a:xfrm>
          <a:prstGeom prst="straightConnector1">
            <a:avLst/>
          </a:prstGeom>
          <a:noFill/>
          <a:ln cap="flat" cmpd="sng" w="9525">
            <a:solidFill>
              <a:schemeClr val="accent2"/>
            </a:solidFill>
            <a:prstDash val="solid"/>
            <a:round/>
            <a:headEnd len="med" w="med" type="none"/>
            <a:tailEnd len="med" w="med" type="none"/>
          </a:ln>
        </p:spPr>
      </p:cxnSp>
      <p:cxnSp>
        <p:nvCxnSpPr>
          <p:cNvPr id="732" name="Google Shape;732;p81"/>
          <p:cNvCxnSpPr>
            <a:stCxn id="701" idx="0"/>
            <a:endCxn id="724" idx="0"/>
          </p:cNvCxnSpPr>
          <p:nvPr/>
        </p:nvCxnSpPr>
        <p:spPr>
          <a:xfrm>
            <a:off x="6778899" y="3926749"/>
            <a:ext cx="2714700" cy="1384800"/>
          </a:xfrm>
          <a:prstGeom prst="bentConnector2">
            <a:avLst/>
          </a:prstGeom>
          <a:noFill/>
          <a:ln cap="flat" cmpd="sng" w="28575">
            <a:solidFill>
              <a:schemeClr val="accent5"/>
            </a:solidFill>
            <a:prstDash val="solid"/>
            <a:round/>
            <a:headEnd len="med" w="med" type="oval"/>
            <a:tailEnd len="med" w="med" type="oval"/>
          </a:ln>
        </p:spPr>
      </p:cxnSp>
      <p:cxnSp>
        <p:nvCxnSpPr>
          <p:cNvPr id="733" name="Google Shape;733;p81"/>
          <p:cNvCxnSpPr/>
          <p:nvPr/>
        </p:nvCxnSpPr>
        <p:spPr>
          <a:xfrm flipH="1">
            <a:off x="7283087" y="7385400"/>
            <a:ext cx="327600" cy="1800"/>
          </a:xfrm>
          <a:prstGeom prst="straightConnector1">
            <a:avLst/>
          </a:prstGeom>
          <a:noFill/>
          <a:ln cap="flat" cmpd="sng" w="9525">
            <a:solidFill>
              <a:schemeClr val="accent5"/>
            </a:solidFill>
            <a:prstDash val="solid"/>
            <a:round/>
            <a:headEnd len="med" w="med" type="none"/>
            <a:tailEnd len="med" w="med" type="none"/>
          </a:ln>
        </p:spPr>
      </p:cxnSp>
      <p:cxnSp>
        <p:nvCxnSpPr>
          <p:cNvPr id="734" name="Google Shape;734;p81"/>
          <p:cNvCxnSpPr>
            <a:stCxn id="714" idx="1"/>
          </p:cNvCxnSpPr>
          <p:nvPr/>
        </p:nvCxnSpPr>
        <p:spPr>
          <a:xfrm flipH="1">
            <a:off x="9492887" y="7385400"/>
            <a:ext cx="365700" cy="1800"/>
          </a:xfrm>
          <a:prstGeom prst="straightConnector1">
            <a:avLst/>
          </a:prstGeom>
          <a:noFill/>
          <a:ln cap="flat" cmpd="sng" w="9525">
            <a:solidFill>
              <a:schemeClr val="accent5"/>
            </a:solidFill>
            <a:prstDash val="solid"/>
            <a:round/>
            <a:headEnd len="med" w="med" type="none"/>
            <a:tailEnd len="med" w="med" type="none"/>
          </a:ln>
        </p:spPr>
      </p:cxnSp>
      <p:cxnSp>
        <p:nvCxnSpPr>
          <p:cNvPr id="735" name="Google Shape;735;p81"/>
          <p:cNvCxnSpPr>
            <a:endCxn id="714" idx="3"/>
          </p:cNvCxnSpPr>
          <p:nvPr/>
        </p:nvCxnSpPr>
        <p:spPr>
          <a:xfrm rot="10800000">
            <a:off x="11367287" y="7385400"/>
            <a:ext cx="417600" cy="1200"/>
          </a:xfrm>
          <a:prstGeom prst="straightConnector1">
            <a:avLst/>
          </a:prstGeom>
          <a:noFill/>
          <a:ln cap="flat" cmpd="sng" w="9525">
            <a:solidFill>
              <a:schemeClr val="accent5"/>
            </a:solidFill>
            <a:prstDash val="solid"/>
            <a:round/>
            <a:headEnd len="med" w="med" type="none"/>
            <a:tailEnd len="med" w="med" type="none"/>
          </a:ln>
        </p:spPr>
      </p:cxnSp>
      <p:sp>
        <p:nvSpPr>
          <p:cNvPr id="736" name="Google Shape;736;p81"/>
          <p:cNvSpPr txBox="1"/>
          <p:nvPr/>
        </p:nvSpPr>
        <p:spPr>
          <a:xfrm>
            <a:off x="12508725" y="4797175"/>
            <a:ext cx="3874200" cy="1186500"/>
          </a:xfrm>
          <a:prstGeom prst="rect">
            <a:avLst/>
          </a:prstGeom>
          <a:no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3600"/>
              <a:buFont typeface="Arial"/>
              <a:buNone/>
            </a:pPr>
            <a:r>
              <a:rPr i="0" lang="en" sz="2800" u="none" cap="none" strike="noStrike">
                <a:solidFill>
                  <a:schemeClr val="lt1"/>
                </a:solidFill>
                <a:latin typeface="Roboto"/>
                <a:ea typeface="Roboto"/>
                <a:cs typeface="Roboto"/>
                <a:sym typeface="Roboto"/>
              </a:rPr>
              <a:t>OAuth 2</a:t>
            </a:r>
            <a:r>
              <a:rPr i="0" lang="en" sz="2800" u="none" cap="none" strike="noStrike">
                <a:solidFill>
                  <a:schemeClr val="dk2"/>
                </a:solidFill>
                <a:latin typeface="Roboto"/>
                <a:ea typeface="Roboto"/>
                <a:cs typeface="Roboto"/>
                <a:sym typeface="Roboto"/>
              </a:rPr>
              <a:t> </a:t>
            </a:r>
            <a:r>
              <a:rPr i="0" lang="en" sz="2800" u="none" cap="none" strike="noStrike">
                <a:solidFill>
                  <a:schemeClr val="lt1"/>
                </a:solidFill>
                <a:latin typeface="Roboto"/>
                <a:ea typeface="Roboto"/>
                <a:cs typeface="Roboto"/>
                <a:sym typeface="Roboto"/>
              </a:rPr>
              <a:t>is used for all authentication.</a:t>
            </a:r>
            <a:endParaRPr i="0" sz="2800" u="none" cap="none" strike="noStrike">
              <a:solidFill>
                <a:schemeClr val="lt1"/>
              </a:solidFill>
              <a:latin typeface="Roboto"/>
              <a:ea typeface="Roboto"/>
              <a:cs typeface="Roboto"/>
              <a:sym typeface="Roboto"/>
            </a:endParaRPr>
          </a:p>
        </p:txBody>
      </p:sp>
      <p:sp>
        <p:nvSpPr>
          <p:cNvPr id="737" name="Google Shape;737;p8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client libraries to create and manage resources</a:t>
            </a:r>
            <a:endParaRPr/>
          </a:p>
        </p:txBody>
      </p:sp>
      <p:sp>
        <p:nvSpPr>
          <p:cNvPr id="738" name="Google Shape;738;p8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pic>
        <p:nvPicPr>
          <p:cNvPr id="743" name="Google Shape;743;p82"/>
          <p:cNvPicPr preferRelativeResize="0"/>
          <p:nvPr/>
        </p:nvPicPr>
        <p:blipFill rotWithShape="1">
          <a:blip r:embed="rId3">
            <a:alphaModFix/>
          </a:blip>
          <a:srcRect b="79" l="0" r="159" t="0"/>
          <a:stretch/>
        </p:blipFill>
        <p:spPr>
          <a:xfrm>
            <a:off x="2249423" y="2982350"/>
            <a:ext cx="13789153" cy="6195926"/>
          </a:xfrm>
          <a:prstGeom prst="rect">
            <a:avLst/>
          </a:prstGeom>
          <a:noFill/>
          <a:ln cap="flat" cmpd="sng" w="9525">
            <a:solidFill>
              <a:schemeClr val="accent3"/>
            </a:solidFill>
            <a:prstDash val="solid"/>
            <a:round/>
            <a:headEnd len="sm" w="sm" type="none"/>
            <a:tailEnd len="sm" w="sm" type="none"/>
          </a:ln>
        </p:spPr>
      </p:pic>
      <p:sp>
        <p:nvSpPr>
          <p:cNvPr id="744" name="Google Shape;744;p8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the Google APIs Explorer to help you write</a:t>
            </a:r>
            <a:endParaRPr/>
          </a:p>
          <a:p>
            <a:pPr indent="0" lvl="0" marL="0" rtl="0" algn="l">
              <a:spcBef>
                <a:spcPts val="0"/>
              </a:spcBef>
              <a:spcAft>
                <a:spcPts val="0"/>
              </a:spcAft>
              <a:buNone/>
            </a:pPr>
            <a:r>
              <a:rPr lang="en"/>
              <a:t>your code</a:t>
            </a:r>
            <a:endParaRPr/>
          </a:p>
        </p:txBody>
      </p:sp>
      <p:sp>
        <p:nvSpPr>
          <p:cNvPr id="745" name="Google Shape;745;p8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pic>
        <p:nvPicPr>
          <p:cNvPr id="750" name="Google Shape;750;p83"/>
          <p:cNvPicPr preferRelativeResize="0"/>
          <p:nvPr/>
        </p:nvPicPr>
        <p:blipFill>
          <a:blip r:embed="rId3">
            <a:alphaModFix/>
          </a:blip>
          <a:stretch>
            <a:fillRect/>
          </a:stretch>
        </p:blipFill>
        <p:spPr>
          <a:xfrm>
            <a:off x="2267134" y="2394825"/>
            <a:ext cx="13753732" cy="6713994"/>
          </a:xfrm>
          <a:prstGeom prst="rect">
            <a:avLst/>
          </a:prstGeom>
          <a:noFill/>
          <a:ln cap="flat" cmpd="sng" w="9525">
            <a:solidFill>
              <a:schemeClr val="accent3"/>
            </a:solidFill>
            <a:prstDash val="solid"/>
            <a:round/>
            <a:headEnd len="sm" w="sm" type="none"/>
            <a:tailEnd len="sm" w="sm" type="none"/>
          </a:ln>
        </p:spPr>
      </p:pic>
      <p:sp>
        <p:nvSpPr>
          <p:cNvPr id="751" name="Google Shape;751;p8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 an API</a:t>
            </a:r>
            <a:endParaRPr/>
          </a:p>
        </p:txBody>
      </p:sp>
      <p:sp>
        <p:nvSpPr>
          <p:cNvPr id="752" name="Google Shape;752;p8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8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Getting Started with Cloud Shell and gcloud</a:t>
            </a:r>
            <a:endParaRPr/>
          </a:p>
          <a:p>
            <a:pPr indent="0" lvl="0" marL="0" rtl="0" algn="l">
              <a:spcBef>
                <a:spcPts val="2900"/>
              </a:spcBef>
              <a:spcAft>
                <a:spcPts val="0"/>
              </a:spcAft>
              <a:buNone/>
            </a:pPr>
            <a:r>
              <a:rPr lang="en"/>
              <a:t>Google Cloud APIs</a:t>
            </a:r>
            <a:endParaRPr/>
          </a:p>
          <a:p>
            <a:pPr indent="0" lvl="0" marL="0" rtl="0" algn="l">
              <a:spcBef>
                <a:spcPts val="2900"/>
              </a:spcBef>
              <a:spcAft>
                <a:spcPts val="0"/>
              </a:spcAft>
              <a:buNone/>
            </a:pPr>
            <a:r>
              <a:rPr lang="en">
                <a:solidFill>
                  <a:schemeClr val="accent2"/>
                </a:solidFill>
              </a:rPr>
              <a:t>Cloud Console Mobile App</a:t>
            </a:r>
            <a:endParaRPr>
              <a:solidFill>
                <a:schemeClr val="accent2"/>
              </a:solidFill>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Summary</a:t>
            </a:r>
            <a:endParaRPr/>
          </a:p>
        </p:txBody>
      </p:sp>
      <p:sp>
        <p:nvSpPr>
          <p:cNvPr id="758" name="Google Shape;758;p8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759" name="Google Shape;759;p8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pic>
        <p:nvPicPr>
          <p:cNvPr id="764" name="Google Shape;764;p85"/>
          <p:cNvPicPr preferRelativeResize="0"/>
          <p:nvPr/>
        </p:nvPicPr>
        <p:blipFill>
          <a:blip r:embed="rId3">
            <a:alphaModFix/>
          </a:blip>
          <a:stretch>
            <a:fillRect/>
          </a:stretch>
        </p:blipFill>
        <p:spPr>
          <a:xfrm>
            <a:off x="2149319" y="3057000"/>
            <a:ext cx="3419856" cy="6080757"/>
          </a:xfrm>
          <a:prstGeom prst="rect">
            <a:avLst/>
          </a:prstGeom>
          <a:noFill/>
          <a:ln cap="flat" cmpd="sng" w="9525">
            <a:solidFill>
              <a:schemeClr val="accent3"/>
            </a:solidFill>
            <a:prstDash val="solid"/>
            <a:round/>
            <a:headEnd len="sm" w="sm" type="none"/>
            <a:tailEnd len="sm" w="sm" type="none"/>
          </a:ln>
        </p:spPr>
      </p:pic>
      <p:pic>
        <p:nvPicPr>
          <p:cNvPr id="765" name="Google Shape;765;p85"/>
          <p:cNvPicPr preferRelativeResize="0"/>
          <p:nvPr/>
        </p:nvPicPr>
        <p:blipFill>
          <a:blip r:embed="rId4">
            <a:alphaModFix/>
          </a:blip>
          <a:stretch>
            <a:fillRect/>
          </a:stretch>
        </p:blipFill>
        <p:spPr>
          <a:xfrm>
            <a:off x="5718599" y="3057000"/>
            <a:ext cx="3367865" cy="6079398"/>
          </a:xfrm>
          <a:prstGeom prst="rect">
            <a:avLst/>
          </a:prstGeom>
          <a:noFill/>
          <a:ln cap="flat" cmpd="sng" w="9525">
            <a:solidFill>
              <a:schemeClr val="accent3"/>
            </a:solidFill>
            <a:prstDash val="solid"/>
            <a:round/>
            <a:headEnd len="sm" w="sm" type="none"/>
            <a:tailEnd len="sm" w="sm" type="none"/>
          </a:ln>
        </p:spPr>
      </p:pic>
      <p:pic>
        <p:nvPicPr>
          <p:cNvPr id="766" name="Google Shape;766;p85"/>
          <p:cNvPicPr preferRelativeResize="0"/>
          <p:nvPr/>
        </p:nvPicPr>
        <p:blipFill>
          <a:blip r:embed="rId5">
            <a:alphaModFix/>
          </a:blip>
          <a:stretch>
            <a:fillRect/>
          </a:stretch>
        </p:blipFill>
        <p:spPr>
          <a:xfrm>
            <a:off x="9235889" y="3057000"/>
            <a:ext cx="3376684" cy="6079398"/>
          </a:xfrm>
          <a:prstGeom prst="rect">
            <a:avLst/>
          </a:prstGeom>
          <a:noFill/>
          <a:ln cap="flat" cmpd="sng" w="9525">
            <a:solidFill>
              <a:schemeClr val="accent3"/>
            </a:solidFill>
            <a:prstDash val="solid"/>
            <a:round/>
            <a:headEnd len="sm" w="sm" type="none"/>
            <a:tailEnd len="sm" w="sm" type="none"/>
          </a:ln>
        </p:spPr>
      </p:pic>
      <p:pic>
        <p:nvPicPr>
          <p:cNvPr id="767" name="Google Shape;767;p85"/>
          <p:cNvPicPr preferRelativeResize="0"/>
          <p:nvPr/>
        </p:nvPicPr>
        <p:blipFill rotWithShape="1">
          <a:blip r:embed="rId6">
            <a:alphaModFix/>
          </a:blip>
          <a:srcRect b="0" l="787" r="777" t="0"/>
          <a:stretch/>
        </p:blipFill>
        <p:spPr>
          <a:xfrm>
            <a:off x="12761997" y="3057000"/>
            <a:ext cx="3376684" cy="6079399"/>
          </a:xfrm>
          <a:prstGeom prst="rect">
            <a:avLst/>
          </a:prstGeom>
          <a:noFill/>
          <a:ln cap="flat" cmpd="sng" w="9525">
            <a:solidFill>
              <a:schemeClr val="accent3"/>
            </a:solidFill>
            <a:prstDash val="solid"/>
            <a:round/>
            <a:headEnd len="sm" w="sm" type="none"/>
            <a:tailEnd len="sm" w="sm" type="none"/>
          </a:ln>
        </p:spPr>
      </p:pic>
      <p:sp>
        <p:nvSpPr>
          <p:cNvPr id="768" name="Google Shape;768;p85"/>
          <p:cNvSpPr txBox="1"/>
          <p:nvPr>
            <p:ph type="title"/>
          </p:nvPr>
        </p:nvSpPr>
        <p:spPr>
          <a:xfrm>
            <a:off x="1756350"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Manage Google Cloud services from your Android</a:t>
            </a:r>
            <a:br>
              <a:rPr lang="en"/>
            </a:br>
            <a:r>
              <a:rPr lang="en"/>
              <a:t>or iOS device</a:t>
            </a:r>
            <a:endParaRPr/>
          </a:p>
        </p:txBody>
      </p:sp>
      <p:sp>
        <p:nvSpPr>
          <p:cNvPr id="769" name="Google Shape;769;p8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6"/>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Getting Started with Cloud Shell and gcloud</a:t>
            </a:r>
            <a:endParaRPr/>
          </a:p>
          <a:p>
            <a:pPr indent="0" lvl="0" marL="0" rtl="0" algn="l">
              <a:spcBef>
                <a:spcPts val="2900"/>
              </a:spcBef>
              <a:spcAft>
                <a:spcPts val="0"/>
              </a:spcAft>
              <a:buNone/>
            </a:pPr>
            <a:r>
              <a:rPr lang="en"/>
              <a:t>Google Cloud APIs</a:t>
            </a:r>
            <a:endParaRPr/>
          </a:p>
          <a:p>
            <a:pPr indent="0" lvl="0" marL="0" rtl="0" algn="l">
              <a:spcBef>
                <a:spcPts val="2900"/>
              </a:spcBef>
              <a:spcAft>
                <a:spcPts val="0"/>
              </a:spcAft>
              <a:buNone/>
            </a:pPr>
            <a:r>
              <a:rPr lang="en"/>
              <a:t>Cloud Console Mobile App</a:t>
            </a:r>
            <a:endParaRPr/>
          </a:p>
          <a:p>
            <a:pPr indent="0" lvl="0" marL="0" rtl="0" algn="l">
              <a:spcBef>
                <a:spcPts val="2900"/>
              </a:spcBef>
              <a:spcAft>
                <a:spcPts val="0"/>
              </a:spcAft>
              <a:buNone/>
            </a:pPr>
            <a:r>
              <a:rPr lang="en">
                <a:solidFill>
                  <a:schemeClr val="accent2"/>
                </a:solidFill>
              </a:rPr>
              <a:t>Quiz</a:t>
            </a:r>
            <a:endParaRPr>
              <a:solidFill>
                <a:schemeClr val="accent2"/>
              </a:solidFill>
            </a:endParaRPr>
          </a:p>
          <a:p>
            <a:pPr indent="0" lvl="0" marL="0" rtl="0" algn="l">
              <a:spcBef>
                <a:spcPts val="2900"/>
              </a:spcBef>
              <a:spcAft>
                <a:spcPts val="2900"/>
              </a:spcAft>
              <a:buNone/>
            </a:pPr>
            <a:r>
              <a:rPr lang="en"/>
              <a:t>Summary</a:t>
            </a:r>
            <a:endParaRPr/>
          </a:p>
        </p:txBody>
      </p:sp>
      <p:sp>
        <p:nvSpPr>
          <p:cNvPr id="775" name="Google Shape;775;p8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776" name="Google Shape;776;p8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87"/>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782" name="Google Shape;782;p87"/>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783" name="Google Shape;783;p87"/>
          <p:cNvGraphicFramePr/>
          <p:nvPr/>
        </p:nvGraphicFramePr>
        <p:xfrm>
          <a:off x="1794527" y="3017520"/>
          <a:ext cx="3000000" cy="3000000"/>
        </p:xfrm>
        <a:graphic>
          <a:graphicData uri="http://schemas.openxmlformats.org/drawingml/2006/table">
            <a:tbl>
              <a:tblPr>
                <a:noFill/>
                <a:tableStyleId>{E7BECC2F-3F89-448E-9A1D-09C2567DE0E0}</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True or False: All Google Cloud resources must be associated with a project.</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True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False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784" name="Google Shape;784;p8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88"/>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790" name="Google Shape;790;p88"/>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graphicFrame>
        <p:nvGraphicFramePr>
          <p:cNvPr id="791" name="Google Shape;791;p88"/>
          <p:cNvGraphicFramePr/>
          <p:nvPr/>
        </p:nvGraphicFramePr>
        <p:xfrm>
          <a:off x="1794527" y="3017520"/>
          <a:ext cx="3000000" cy="3000000"/>
        </p:xfrm>
        <a:graphic>
          <a:graphicData uri="http://schemas.openxmlformats.org/drawingml/2006/table">
            <a:tbl>
              <a:tblPr>
                <a:noFill/>
                <a:tableStyleId>{E7BECC2F-3F89-448E-9A1D-09C2567DE0E0}</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True or False: All Google Cloud resources must be associated with a project.</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a:pPr>
                      <a:r>
                        <a:rPr lang="en" sz="2800">
                          <a:solidFill>
                            <a:srgbClr val="1E8E3E"/>
                          </a:solidFill>
                          <a:latin typeface="Roboto"/>
                          <a:ea typeface="Roboto"/>
                          <a:cs typeface="Roboto"/>
                          <a:sym typeface="Roboto"/>
                        </a:rPr>
                        <a:t>True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False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792" name="Google Shape;792;p8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89"/>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798" name="Google Shape;798;p89"/>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799" name="Google Shape;799;p89"/>
          <p:cNvGraphicFramePr/>
          <p:nvPr/>
        </p:nvGraphicFramePr>
        <p:xfrm>
          <a:off x="1794527" y="3017520"/>
          <a:ext cx="3000000" cy="3000000"/>
        </p:xfrm>
        <a:graphic>
          <a:graphicData uri="http://schemas.openxmlformats.org/drawingml/2006/table">
            <a:tbl>
              <a:tblPr>
                <a:noFill/>
                <a:tableStyleId>{E7BECC2F-3F89-448E-9A1D-09C2567DE0E0}</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a command line tool that is part of the Cloud SDK?</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Git</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Bash</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Gsutil</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ssh</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800" name="Google Shape;800;p8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90"/>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806" name="Google Shape;806;p90"/>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A73E8"/>
              </a:solidFill>
              <a:latin typeface="Google Sans Medium"/>
              <a:ea typeface="Google Sans Medium"/>
              <a:cs typeface="Google Sans Medium"/>
              <a:sym typeface="Google Sans Medium"/>
            </a:endParaRPr>
          </a:p>
        </p:txBody>
      </p:sp>
      <p:graphicFrame>
        <p:nvGraphicFramePr>
          <p:cNvPr id="807" name="Google Shape;807;p90"/>
          <p:cNvGraphicFramePr/>
          <p:nvPr/>
        </p:nvGraphicFramePr>
        <p:xfrm>
          <a:off x="1794527" y="3017520"/>
          <a:ext cx="3000000" cy="3000000"/>
        </p:xfrm>
        <a:graphic>
          <a:graphicData uri="http://schemas.openxmlformats.org/drawingml/2006/table">
            <a:tbl>
              <a:tblPr>
                <a:noFill/>
                <a:tableStyleId>{E7BECC2F-3F89-448E-9A1D-09C2567DE0E0}</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a command line tool that is part of the Cloud SDK?</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Git</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Bash</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startAt="3"/>
                      </a:pPr>
                      <a:r>
                        <a:rPr lang="en" sz="2800">
                          <a:solidFill>
                            <a:srgbClr val="1E8E3E"/>
                          </a:solidFill>
                          <a:latin typeface="Roboto"/>
                          <a:ea typeface="Roboto"/>
                          <a:cs typeface="Roboto"/>
                          <a:sym typeface="Roboto"/>
                        </a:rPr>
                        <a:t>Gsutil</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ssh</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808" name="Google Shape;808;p9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91"/>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814" name="Google Shape;814;p91"/>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815" name="Google Shape;815;p91"/>
          <p:cNvGraphicFramePr/>
          <p:nvPr/>
        </p:nvGraphicFramePr>
        <p:xfrm>
          <a:off x="1794527" y="3017520"/>
          <a:ext cx="3000000" cy="3000000"/>
        </p:xfrm>
        <a:graphic>
          <a:graphicData uri="http://schemas.openxmlformats.org/drawingml/2006/table">
            <a:tbl>
              <a:tblPr>
                <a:noFill/>
                <a:tableStyleId>{E7BECC2F-3F89-448E-9A1D-09C2567DE0E0}</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What command would you use to set up the default configuration of the Cloud SDK?</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gcloud compute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gsutil mb</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bq run</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gcloud init</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816" name="Google Shape;816;p9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2"/>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822" name="Google Shape;822;p92"/>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A73E8"/>
              </a:solidFill>
              <a:latin typeface="Google Sans Medium"/>
              <a:ea typeface="Google Sans Medium"/>
              <a:cs typeface="Google Sans Medium"/>
              <a:sym typeface="Google Sans Medium"/>
            </a:endParaRPr>
          </a:p>
        </p:txBody>
      </p:sp>
      <p:graphicFrame>
        <p:nvGraphicFramePr>
          <p:cNvPr id="823" name="Google Shape;823;p92"/>
          <p:cNvGraphicFramePr/>
          <p:nvPr/>
        </p:nvGraphicFramePr>
        <p:xfrm>
          <a:off x="1794527" y="3017520"/>
          <a:ext cx="3000000" cy="3000000"/>
        </p:xfrm>
        <a:graphic>
          <a:graphicData uri="http://schemas.openxmlformats.org/drawingml/2006/table">
            <a:tbl>
              <a:tblPr>
                <a:noFill/>
                <a:tableStyleId>{E7BECC2F-3F89-448E-9A1D-09C2567DE0E0}</a:tableStyleId>
              </a:tblPr>
              <a:tblGrid>
                <a:gridCol w="146532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What command would you use to set up the default configuration of the Cloud SDK?</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gcloud compute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gsutil mb</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bq run</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startAt="4"/>
                      </a:pPr>
                      <a:r>
                        <a:rPr lang="en" sz="2800">
                          <a:solidFill>
                            <a:srgbClr val="1E8E3E"/>
                          </a:solidFill>
                          <a:latin typeface="Roboto"/>
                          <a:ea typeface="Roboto"/>
                          <a:cs typeface="Roboto"/>
                          <a:sym typeface="Roboto"/>
                        </a:rPr>
                        <a:t>gcloud init</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bl>
          </a:graphicData>
        </a:graphic>
      </p:graphicFrame>
      <p:sp>
        <p:nvSpPr>
          <p:cNvPr id="824" name="Google Shape;824;p9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93"/>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Getting Started with Cloud Shell and gcloud</a:t>
            </a:r>
            <a:endParaRPr/>
          </a:p>
          <a:p>
            <a:pPr indent="0" lvl="0" marL="0" rtl="0" algn="l">
              <a:spcBef>
                <a:spcPts val="2900"/>
              </a:spcBef>
              <a:spcAft>
                <a:spcPts val="0"/>
              </a:spcAft>
              <a:buNone/>
            </a:pPr>
            <a:r>
              <a:rPr lang="en"/>
              <a:t>Google Cloud APIs</a:t>
            </a:r>
            <a:endParaRPr/>
          </a:p>
          <a:p>
            <a:pPr indent="0" lvl="0" marL="0" rtl="0" algn="l">
              <a:spcBef>
                <a:spcPts val="2900"/>
              </a:spcBef>
              <a:spcAft>
                <a:spcPts val="0"/>
              </a:spcAft>
              <a:buNone/>
            </a:pPr>
            <a:r>
              <a:rPr lang="en"/>
              <a:t>Cloud Console Mobile App</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solidFill>
                  <a:schemeClr val="accent2"/>
                </a:solidFill>
              </a:rPr>
              <a:t>Summary</a:t>
            </a:r>
            <a:endParaRPr>
              <a:solidFill>
                <a:schemeClr val="accent2"/>
              </a:solidFill>
            </a:endParaRPr>
          </a:p>
        </p:txBody>
      </p:sp>
      <p:sp>
        <p:nvSpPr>
          <p:cNvPr id="830" name="Google Shape;830;p9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831" name="Google Shape;831;p9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9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(1/2)</a:t>
            </a:r>
            <a:endParaRPr/>
          </a:p>
        </p:txBody>
      </p:sp>
      <p:sp>
        <p:nvSpPr>
          <p:cNvPr id="837" name="Google Shape;837;p94"/>
          <p:cNvSpPr txBox="1"/>
          <p:nvPr>
            <p:ph idx="1" type="body"/>
          </p:nvPr>
        </p:nvSpPr>
        <p:spPr>
          <a:xfrm>
            <a:off x="1742475" y="2432125"/>
            <a:ext cx="14630400" cy="6440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The Cloud Console provides a web-based GUI for you to manage your Google Cloud projects and resources.</a:t>
            </a:r>
            <a:endParaRPr sz="3000"/>
          </a:p>
          <a:p>
            <a:pPr indent="-419100" lvl="0" marL="457200" rtl="0" algn="l">
              <a:spcBef>
                <a:spcPts val="2900"/>
              </a:spcBef>
              <a:spcAft>
                <a:spcPts val="0"/>
              </a:spcAft>
              <a:buSzPts val="3000"/>
              <a:buChar char="●"/>
            </a:pPr>
            <a:r>
              <a:rPr lang="en" sz="3000"/>
              <a:t>All Google Cloud services you use are associated with a project.</a:t>
            </a:r>
            <a:endParaRPr sz="3000"/>
          </a:p>
          <a:p>
            <a:pPr indent="-419100" lvl="0" marL="457200" rtl="0" algn="l">
              <a:spcBef>
                <a:spcPts val="2900"/>
              </a:spcBef>
              <a:spcAft>
                <a:spcPts val="0"/>
              </a:spcAft>
              <a:buSzPts val="3000"/>
              <a:buChar char="●"/>
            </a:pPr>
            <a:r>
              <a:rPr lang="en" sz="3000"/>
              <a:t>Your billing account pays for resources at a project level. Google Cloud also implements quotas, which limit unforeseen extra billing charges.</a:t>
            </a:r>
            <a:endParaRPr sz="3000"/>
          </a:p>
          <a:p>
            <a:pPr indent="-419100" lvl="0" marL="457200" rtl="0" algn="l">
              <a:spcBef>
                <a:spcPts val="2900"/>
              </a:spcBef>
              <a:spcAft>
                <a:spcPts val="0"/>
              </a:spcAft>
              <a:buSzPts val="3000"/>
              <a:buChar char="●"/>
            </a:pPr>
            <a:r>
              <a:rPr lang="en" sz="3000"/>
              <a:t>The Cloud SDK is a command-line interface for Google Cloud products and services.</a:t>
            </a:r>
            <a:endParaRPr sz="3000"/>
          </a:p>
          <a:p>
            <a:pPr indent="-419100" lvl="0" marL="457200" rtl="0" algn="l">
              <a:spcBef>
                <a:spcPts val="2900"/>
              </a:spcBef>
              <a:spcAft>
                <a:spcPts val="2900"/>
              </a:spcAft>
              <a:buSzPts val="3000"/>
              <a:buChar char="●"/>
            </a:pPr>
            <a:r>
              <a:rPr lang="en" sz="3000"/>
              <a:t>Cloud Shell is an alternative to the Cloud SDK and provides CLI access to cloud resources from within your browser.</a:t>
            </a:r>
            <a:endParaRPr sz="3000"/>
          </a:p>
        </p:txBody>
      </p:sp>
      <p:sp>
        <p:nvSpPr>
          <p:cNvPr id="838" name="Google Shape;838;p9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9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(2/2)</a:t>
            </a:r>
            <a:endParaRPr/>
          </a:p>
        </p:txBody>
      </p:sp>
      <p:sp>
        <p:nvSpPr>
          <p:cNvPr id="844" name="Google Shape;844;p95"/>
          <p:cNvSpPr txBox="1"/>
          <p:nvPr>
            <p:ph idx="1" type="body"/>
          </p:nvPr>
        </p:nvSpPr>
        <p:spPr>
          <a:xfrm>
            <a:off x="1742475" y="2432125"/>
            <a:ext cx="146304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The services that make up Google Cloud offer APIs so that code you write can control them.</a:t>
            </a:r>
            <a:endParaRPr sz="3000"/>
          </a:p>
          <a:p>
            <a:pPr indent="-419100" lvl="0" marL="457200" rtl="0" algn="l">
              <a:spcBef>
                <a:spcPts val="2900"/>
              </a:spcBef>
              <a:spcAft>
                <a:spcPts val="0"/>
              </a:spcAft>
              <a:buSzPts val="3000"/>
              <a:buChar char="●"/>
            </a:pPr>
            <a:r>
              <a:rPr lang="en" sz="3000"/>
              <a:t>The Cloud Console includes a tool called the APIs Explorer that helps you learn about APIs interactively.</a:t>
            </a:r>
            <a:endParaRPr sz="3000"/>
          </a:p>
          <a:p>
            <a:pPr indent="-419100" lvl="0" marL="457200" rtl="0" algn="l">
              <a:spcBef>
                <a:spcPts val="2900"/>
              </a:spcBef>
              <a:spcAft>
                <a:spcPts val="2900"/>
              </a:spcAft>
              <a:buSzPts val="3000"/>
              <a:buChar char="●"/>
            </a:pPr>
            <a:r>
              <a:rPr lang="en" sz="3000"/>
              <a:t>The Cloud Console mobile app allows you to manage services running on Google Cloud directly from your mobile device.</a:t>
            </a:r>
            <a:endParaRPr sz="3000"/>
          </a:p>
        </p:txBody>
      </p:sp>
      <p:sp>
        <p:nvSpPr>
          <p:cNvPr id="845" name="Google Shape;845;p9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v3.0">
  <a:themeElements>
    <a:clrScheme name="Simple Light">
      <a:dk1>
        <a:srgbClr val="202124"/>
      </a:dk1>
      <a:lt1>
        <a:srgbClr val="3C4043"/>
      </a:lt1>
      <a:dk2>
        <a:srgbClr val="5F6368"/>
      </a:dk2>
      <a:lt2>
        <a:srgbClr val="80868B"/>
      </a:lt2>
      <a:accent1>
        <a:srgbClr val="9AA0A6"/>
      </a:accent1>
      <a:accent2>
        <a:srgbClr val="1A73E8"/>
      </a:accent2>
      <a:accent3>
        <a:srgbClr val="4285F4"/>
      </a:accent3>
      <a:accent4>
        <a:srgbClr val="EA4335"/>
      </a:accent4>
      <a:accent5>
        <a:srgbClr val="FBBC04"/>
      </a:accent5>
      <a:accent6>
        <a:srgbClr val="34A853"/>
      </a:accent6>
      <a:hlink>
        <a:srgbClr val="185A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