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y="10287000" cx="18288000"/>
  <p:notesSz cx="6858000" cy="9144000"/>
  <p:embeddedFontLst>
    <p:embeddedFont>
      <p:font typeface="Roboto"/>
      <p:regular r:id="rId73"/>
      <p:bold r:id="rId74"/>
      <p:italic r:id="rId75"/>
      <p:boldItalic r:id="rId76"/>
    </p:embeddedFont>
    <p:embeddedFont>
      <p:font typeface="Google Sans"/>
      <p:regular r:id="rId77"/>
      <p:bold r:id="rId78"/>
      <p:italic r:id="rId79"/>
      <p:boldItalic r:id="rId80"/>
    </p:embeddedFont>
    <p:embeddedFont>
      <p:font typeface="Google Sans Medium"/>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D7D8BB-5663-4D88-B9CA-F6AA233E94A6}">
  <a:tblStyle styleId="{C8D7D8BB-5663-4D88-B9CA-F6AA233E94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GoogleSansMedium-boldItalic.fntdata"/><Relationship Id="rId83" Type="http://schemas.openxmlformats.org/officeDocument/2006/relationships/font" Target="fonts/GoogleSansMedium-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GoogleSans-boldItalic.fntdata"/><Relationship Id="rId82" Type="http://schemas.openxmlformats.org/officeDocument/2006/relationships/font" Target="fonts/GoogleSansMedium-bold.fntdata"/><Relationship Id="rId81" Type="http://schemas.openxmlformats.org/officeDocument/2006/relationships/font" Target="fonts/GoogleSans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regular.fntdata"/><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Roboto-italic.fntdata"/><Relationship Id="rId30" Type="http://schemas.openxmlformats.org/officeDocument/2006/relationships/slide" Target="slides/slide24.xml"/><Relationship Id="rId74" Type="http://schemas.openxmlformats.org/officeDocument/2006/relationships/font" Target="fonts/Roboto-bold.fntdata"/><Relationship Id="rId33" Type="http://schemas.openxmlformats.org/officeDocument/2006/relationships/slide" Target="slides/slide27.xml"/><Relationship Id="rId77" Type="http://schemas.openxmlformats.org/officeDocument/2006/relationships/font" Target="fonts/GoogleSans-regular.fntdata"/><Relationship Id="rId32" Type="http://schemas.openxmlformats.org/officeDocument/2006/relationships/slide" Target="slides/slide26.xml"/><Relationship Id="rId76" Type="http://schemas.openxmlformats.org/officeDocument/2006/relationships/font" Target="fonts/Roboto-boldItalic.fntdata"/><Relationship Id="rId35" Type="http://schemas.openxmlformats.org/officeDocument/2006/relationships/slide" Target="slides/slide29.xml"/><Relationship Id="rId79" Type="http://schemas.openxmlformats.org/officeDocument/2006/relationships/font" Target="fonts/GoogleSans-italic.fntdata"/><Relationship Id="rId34" Type="http://schemas.openxmlformats.org/officeDocument/2006/relationships/slide" Target="slides/slide28.xml"/><Relationship Id="rId78" Type="http://schemas.openxmlformats.org/officeDocument/2006/relationships/font" Target="fonts/GoogleSans-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loud.google.com/storage/docs/storage-classe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8aa59d1f1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8aa59d1f1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5241eb572e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5241eb572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Welcome to </a:t>
            </a:r>
            <a:r>
              <a:rPr b="1" lang="en">
                <a:solidFill>
                  <a:schemeClr val="dk1"/>
                </a:solidFill>
              </a:rPr>
              <a:t>Where Do I Store This Stuff?</a:t>
            </a:r>
            <a:r>
              <a:rPr lang="en">
                <a:solidFill>
                  <a:schemeClr val="dk1"/>
                </a:solidFill>
              </a:rPr>
              <a:t>, I’m ______. In this module, we’ll look at how we can take advantage of managed storage and databases for cloud applications.</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5ded2878ce_0_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5ded2878c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So far in this course, we’ve learned what </a:t>
            </a:r>
            <a:r>
              <a:rPr lang="en">
                <a:solidFill>
                  <a:schemeClr val="dk1"/>
                </a:solidFill>
              </a:rPr>
              <a:t>Google Cloud</a:t>
            </a:r>
            <a:r>
              <a:rPr lang="en">
                <a:solidFill>
                  <a:schemeClr val="dk1"/>
                </a:solidFill>
              </a:rPr>
              <a:t> is, found out why we should have a solid platform before beginning a </a:t>
            </a:r>
            <a:r>
              <a:rPr lang="en">
                <a:solidFill>
                  <a:schemeClr val="dk1"/>
                </a:solidFill>
              </a:rPr>
              <a:t>Google Cloud</a:t>
            </a:r>
            <a:r>
              <a:rPr lang="en">
                <a:solidFill>
                  <a:schemeClr val="dk1"/>
                </a:solidFill>
              </a:rPr>
              <a:t> transfer; and learned how </a:t>
            </a:r>
            <a:r>
              <a:rPr lang="en">
                <a:solidFill>
                  <a:schemeClr val="dk1"/>
                </a:solidFill>
              </a:rPr>
              <a:t>Google Cloud</a:t>
            </a:r>
            <a:r>
              <a:rPr lang="en">
                <a:solidFill>
                  <a:schemeClr val="dk1"/>
                </a:solidFill>
              </a:rPr>
              <a:t> supports the building of apps. In this module, we’ll find out everything we need to know about storage and database options in </a:t>
            </a:r>
            <a:r>
              <a:rPr lang="en">
                <a:solidFill>
                  <a:schemeClr val="dk1"/>
                </a:solidFill>
              </a:rPr>
              <a:t>Google Cloud</a:t>
            </a:r>
            <a:r>
              <a:rPr lang="en">
                <a:solidFill>
                  <a:schemeClr val="dk1"/>
                </a:solidFill>
              </a:rPr>
              <a:t>.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5ded2878ce_0_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5ded2878c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objective of this module is for you to be able to implement a variety of structured and unstructured storage models.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specific learning objectives to achieve this include you being able to discuss the different storage options that exist in the cloud, explain the role of structured and unstructured storage in the cloud, and compare the role of the different Cloud Storage options.</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5ded28816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5ded2881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You’ll also be able to explore the use case for Relational versus NoSQL storage, describe leveraging Cloud Storage as unstructured storage, explain relational database choices in the cloud, and describe the NoSQL options in Google Cloud.</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5f2268be45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5f2268be4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agenda for this module. We’ll begin by learning about different storage options in the cloud, which includes structured and </a:t>
            </a:r>
            <a:r>
              <a:rPr lang="en">
                <a:solidFill>
                  <a:schemeClr val="dk1"/>
                </a:solidFill>
              </a:rPr>
              <a:t>unstructured storage. Next, we’ll learn how to leverage unstructured storage using Cloud Storage and complete a hands-on lab that explores a range of activities applicable to Cloud Storage. We’ll move on to understanding the use case for SQL managed services.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5ded287a7e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5ded287a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Next, we’ll explore Cloud SQL before completing another lab where we’ll </a:t>
            </a:r>
            <a:r>
              <a:rPr lang="en">
                <a:solidFill>
                  <a:schemeClr val="dk1"/>
                </a:solidFill>
              </a:rPr>
              <a:t>create and connect to a Google Cloud SQL MySQL instance and perform basic SQL operations using the Cloud Console and the mysql client</a:t>
            </a:r>
            <a:r>
              <a:rPr lang="en">
                <a:solidFill>
                  <a:schemeClr val="dk1"/>
                </a:solidFill>
              </a:rPr>
              <a:t>.</a:t>
            </a:r>
            <a:r>
              <a:rPr lang="en">
                <a:solidFill>
                  <a:schemeClr val="dk1"/>
                </a:solidFill>
              </a:rPr>
              <a:t> We’ll d</a:t>
            </a:r>
            <a:r>
              <a:rPr lang="en">
                <a:solidFill>
                  <a:schemeClr val="dk1"/>
                </a:solidFill>
              </a:rPr>
              <a:t>iscover how to leverage Cloud Spanner and explore the </a:t>
            </a:r>
            <a:r>
              <a:rPr lang="en">
                <a:solidFill>
                  <a:schemeClr val="dk1"/>
                </a:solidFill>
              </a:rPr>
              <a:t>available</a:t>
            </a:r>
            <a:r>
              <a:rPr lang="en">
                <a:solidFill>
                  <a:schemeClr val="dk1"/>
                </a:solidFill>
              </a:rPr>
              <a:t> NoSQL options. We’ll then </a:t>
            </a:r>
            <a:r>
              <a:rPr lang="en">
                <a:solidFill>
                  <a:schemeClr val="dk1"/>
                </a:solidFill>
              </a:rPr>
              <a:t>discuss</a:t>
            </a:r>
            <a:r>
              <a:rPr lang="en">
                <a:solidFill>
                  <a:schemeClr val="dk1"/>
                </a:solidFill>
              </a:rPr>
              <a:t> using Datastore as a NoSQL document store.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5f2268be45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5f2268be4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complete the module by describing how Cloud Bigtable can be leveraged as a NoSQL option.</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5fd6b545fb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5fd6b545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start with our first topic, which explores the different storage options that exist in the cloud.</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5fd6b545fb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5fd6b545f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Google Cloud</a:t>
            </a:r>
            <a:r>
              <a:rPr lang="en">
                <a:solidFill>
                  <a:schemeClr val="dk1"/>
                </a:solidFill>
              </a:rPr>
              <a:t> offers many different storage options from object storage to database services. These options help users save costs, reduce the time it takes to launch, and make the most of their datasets by being able to analyze a wide variety of data.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All applications create and use data. Google provides all the tools needed to build and move applications to the cloud. This includes storing videos, images and other objects, even operational application data.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Applications, in many cases, require a storage solution and </a:t>
            </a:r>
            <a:r>
              <a:rPr lang="en">
                <a:solidFill>
                  <a:schemeClr val="dk1"/>
                </a:solidFill>
              </a:rPr>
              <a:t>Google Cloud</a:t>
            </a:r>
            <a:r>
              <a:rPr lang="en">
                <a:solidFill>
                  <a:schemeClr val="dk1"/>
                </a:solidFill>
              </a:rPr>
              <a:t> provides managed services that are scalable, reliable ,and easy to operate. For relational databases, which are commonly used today, Google offers a Cloud SQL for MySQL in Postgres, as well as Cloud Spanner. Google also have non-relational, or NoSQL databases like Datastore and Cloud Bigtable.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BigQuery is a highly scalable enterprise data warehouse, and falls outside of the storage solutions discussed in this module.</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5fd6b545fb_0_6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5fd6b545f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cloud storage, there are three common use cases. The first is content storage and delivery. This is when users have content such as images or videos and they serve that content to end users wherever they are. People want their content fast, so running on the global network that Google provides makes for a great experience for end users.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second use case is storage for data analytics </a:t>
            </a:r>
            <a:r>
              <a:rPr lang="en">
                <a:solidFill>
                  <a:schemeClr val="dk1"/>
                </a:solidFill>
              </a:rPr>
              <a:t>and general compute.</a:t>
            </a:r>
            <a:r>
              <a:rPr lang="en">
                <a:solidFill>
                  <a:schemeClr val="dk1"/>
                </a:solidFill>
              </a:rPr>
              <a:t> Users can process or expose their data to analytics tools like the analytics stack of products that </a:t>
            </a:r>
            <a:r>
              <a:rPr lang="en">
                <a:solidFill>
                  <a:schemeClr val="dk1"/>
                </a:solidFill>
              </a:rPr>
              <a:t>Google Cloud</a:t>
            </a:r>
            <a:r>
              <a:rPr lang="en">
                <a:solidFill>
                  <a:schemeClr val="dk1"/>
                </a:solidFill>
              </a:rPr>
              <a:t> offers and do things like genomic sequencing or IOT data analysis.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third use case is backup and archival storage. Users can save storage costs by migrating infrequently accessed content to cheaper cloud storage options. Also, if anything happens to their data on-premises, it's critical to have a copy in the cloud for recovery purposes.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5fd6b545fb_0_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5fd6b545f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users with databases, Google’s </a:t>
            </a:r>
            <a:r>
              <a:rPr lang="en">
                <a:solidFill>
                  <a:schemeClr val="dk1"/>
                </a:solidFill>
              </a:rPr>
              <a:t>first priority is to help them migrate existing databases to the cloud and move them to the right service. This will usually be users moving MySQL or Postgres workloads to Cloud SQL. The second priority is to help users innovate, build or rebuild for the cloud, take advantage of mobile, and plan for future growth.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5f2268be45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5f2268be4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we’ll look at how to choose between structured and unstructured storage in the cloud.</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5fb2cf6fbb_0_10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5fb2cf6fb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Structured data is what most people are used to working with and typically fits within columns and rows in spreadsheets or relational databases. You can expect this type of data to be organized and clearly defined, and usually easy to capture, access and analyze. Examples of structured data would include names, addresses, contact numbers, dates and billing info. The benefit of structured data is that it can be understood by programming languages and data can be manipulated relatively quickly.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It’s estimated that around 80 percent of all data is unstructured. It’s far more difficult to process or analyze unstructured data using traditional methods as there’s no internal identifier to enable search functions to identify it. Unstructured data often includes text and multimedia content, for example, e-mail messages, documents, photos, videos, presentations, webpages, and so on. Organizations are focusing increasingly on mining unstructured data for insights that will provide them with a competitive edge.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5fd6b545fb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5fd6b545f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This flowchart shows the decision tree for determining, based on use case, which storage solution should be utilized. If you need a solution to hold files, backups, logs, and blobs for example, a good unstructured solution would be Cloud Storage.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If you need a structured solution, and are utilizing workload analytics, BigQuery and Cloud Bigtable are two options. If a relational database is needed, then you can choose either a traditional managed MySQL or PostGres database using Cloud SQL, or use a horizontally scalable, highly available database like Cloud Spanner.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If you need a simple NoSQL option to use for your application, Datastore is a solid choice. The following topics will cover each choice in more detail.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5f2268be45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5f2268be4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discuss how you can leverage unstructured storage using Cloud Storage.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5fd6b545fb_1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5fd6b545f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800"/>
              </a:spcAft>
              <a:buNone/>
            </a:pPr>
            <a:r>
              <a:rPr lang="en">
                <a:solidFill>
                  <a:schemeClr val="dk1"/>
                </a:solidFill>
              </a:rPr>
              <a:t>Cloud Storage is just one of many storage options on </a:t>
            </a:r>
            <a:r>
              <a:rPr lang="en">
                <a:solidFill>
                  <a:schemeClr val="dk1"/>
                </a:solidFill>
              </a:rPr>
              <a:t>Google Cloud</a:t>
            </a:r>
            <a:r>
              <a:rPr lang="en">
                <a:solidFill>
                  <a:schemeClr val="dk1"/>
                </a:solidFill>
              </a:rPr>
              <a:t> and </a:t>
            </a:r>
            <a:r>
              <a:rPr lang="en">
                <a:solidFill>
                  <a:schemeClr val="dk1"/>
                </a:solidFill>
              </a:rPr>
              <a:t>stores and serves object data, also known as blob data.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5ded287a7e_0_2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5ded287a7e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can store an unlimited number of objects, up to 5 terabytes in size each, and Cloud Storage is well suited to binary or object data such as images, media serving, and backups. </a:t>
            </a:r>
            <a:endParaRPr>
              <a:solidFill>
                <a:schemeClr val="dk1"/>
              </a:solidFill>
            </a:endParaRPr>
          </a:p>
          <a:p>
            <a:pPr indent="0" lvl="0" marL="0" rtl="0" algn="l">
              <a:spcBef>
                <a:spcPts val="1800"/>
              </a:spcBef>
              <a:spcAft>
                <a:spcPts val="1800"/>
              </a:spcAft>
              <a:buNone/>
            </a:pPr>
            <a:r>
              <a:rPr lang="en">
                <a:solidFill>
                  <a:schemeClr val="dk1"/>
                </a:solidFill>
              </a:rPr>
              <a:t>Cloud Storage is the same storage that Google uses for images in Google Photos, Gmail attachments, Google Docs, and so on.</a:t>
            </a:r>
            <a:endParaRPr>
              <a:solidFill>
                <a:schemeClr val="dk1"/>
              </a:solidFill>
              <a:highlight>
                <a:srgbClr val="FAFAFA"/>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5fb2cf6fbb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5fb2cf6fb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Users </a:t>
            </a:r>
            <a:r>
              <a:rPr lang="en">
                <a:solidFill>
                  <a:schemeClr val="dk1"/>
                </a:solidFill>
              </a:rPr>
              <a:t>have a variety of storage requirements for a multitude of use cases. Google offers different classes of Cloud Storage to cater for these requirements. The classes are based on how often data is accessed.</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Standard Storage is best for data that is frequently accessed ("hot" data) and/or stored for only brief periods of time. When used in a region, co-locating your resources maximizes the performance for data-intensive computations and can reduce network charges. When used in a dual-region, you still get optimized performance when accessing Google Cloud products that are located in one of the associated regions, but you also get the improved availability that comes from storing data in geographically separate locations. When used in a multi-region, Standard Storage is appropriate for storing data that is accessed around the world, such as serving website content, streaming videos, executing interactive workloads, or serving data supporting mobile and gaming applications.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Nearline Storage is a low-cost, highly durable storage service for storing infrequently accessed data. Nearline Storage is a better choice than Standard Storage in scenarios where slightly lower availability, a 30-day minimum storage duration, and costs for data access are acceptable trade-offs for lowered at-rest storage costs. Nearline Storage is ideal for data you plan to read or modify on average once per month or less. Nearline Storage is appropriate for data backup, long-tail multimedia content, and data archiving.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Coldline Storage is a very-low-cost, highly durable storage service for storing infrequently accessed data. Coldline Storage is a better choice than Standard Storage or Nearline Storage in scenarios where slightly lower availability, a 90-day minimum storage duration, and higher costs for data access are acceptable trade-offs for lowered at-rest storage costs. Coldline Storage is ideal for data you plan to read or modify at most once a quarter.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Archive Storage is the lowest-cost, highly durable storage service for data archiving, online backup, and disaster recovery. Archive Storage has higher costs for data access and operations, as well as a 365-day minimum storage duration. Archive Storage is the best choice for data that you plan to access less than once a year. For example, cold data storage, such as data stored for legal or regulatory reasons, and disaster recovery.</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Cloud Storage is unique in a number of ways, it has a single API, millisecond data access latency, and eleven 9s durability across all storage classes. Cloud Storage also offers object lifecycle management, which uses policies to automatically move data to lower cost storage classes as it is accessed less frequently throughout its life.</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more information, see:</a:t>
            </a:r>
            <a:r>
              <a:rPr lang="en"/>
              <a:t> </a:t>
            </a:r>
            <a:r>
              <a:rPr lang="en" u="sng">
                <a:solidFill>
                  <a:srgbClr val="185ABC"/>
                </a:solidFill>
                <a:hlinkClick r:id="rId2">
                  <a:extLst>
                    <a:ext uri="{A12FA001-AC4F-418D-AE19-62706E023703}">
                      <ahyp:hlinkClr val="tx"/>
                    </a:ext>
                  </a:extLst>
                </a:hlinkClick>
              </a:rPr>
              <a:t>https://cloud.google.com/storage/docs/storage-classes</a:t>
            </a:r>
            <a:r>
              <a:rPr lang="en"/>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5ebd97565c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5ebd97565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Cloud Storage files are organized into buckets. When you create a bucket, you give it a globally-unique name, you specify a geographic location where the bucket and its contents are stored, and you choose one of the default storage classes we just discussed.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There are several ways to control users’ access to your objects and buckets. For most purposes, Cloud IAM is sufficient. Roles are inherited from project to bucket to object. If you need finer control, you can create access control lists. ACLs define who has access to your buckets and objects, as well as what level of access they have. Each ACL consists of two pieces of information: A scope, which defines who can perform the specified actions and a permission, which defines what actions can be performed, for example, read or write.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You can turn on object versioning on your buckets if you want. If you do, Cloud Storage keeps a history of modifications--that is, overwrites or deletes--of all objects in the bucket. You can list the archived versions of an object, restore an object to an older state, or permanently delete a version, as needed. If you don’t turn on object versioning, new always overwrites old.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Cloud Storage also offers lifecycle management policies. For example, you could tell Cloud Storage to delete objects older than 365 days, or to delete objects created before January 1, 2013; or to keep only the 3 most recent versions of each object in a bucket that has versioning enabled.</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5f2268be45_0_8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5f2268be4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now complete a short activity based on Cloud Storage.</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5f2268be45_0_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5f2268be4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create a storage bucket, upload objects, create folders and subfolders, and make objects publicly accessible using the Google Cloud command line.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5f2268be45_0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5f2268be4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 will upload an object to a bucket, download an object from a bucket, copy an object to a folder in the bucket, list contents of a bucket or folder, list details for an object, and make an object publicly accessible.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8091fa03f7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8091fa03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a:t>
            </a:r>
            <a:r>
              <a:rPr lang="en">
                <a:solidFill>
                  <a:schemeClr val="dk1"/>
                </a:solidFill>
              </a:rPr>
              <a:t>use the Cloud Console to create a storage bucket, then upload objects, create folders and subfolders, and make those objects publicly accessible</a:t>
            </a:r>
            <a:r>
              <a:rPr lang="en">
                <a:solidFill>
                  <a:schemeClr val="dk1"/>
                </a:solidFill>
              </a:rPr>
              <a:t>.</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8091fa03f7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8091fa03f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 will </a:t>
            </a:r>
            <a:r>
              <a:rPr lang="en">
                <a:solidFill>
                  <a:schemeClr val="dk1"/>
                </a:solidFill>
              </a:rPr>
              <a:t>create a storage</a:t>
            </a:r>
            <a:r>
              <a:rPr lang="en">
                <a:solidFill>
                  <a:schemeClr val="dk1"/>
                </a:solidFill>
              </a:rPr>
              <a:t> bucket, upload an object to the bucket, make an object publicly accessible, and create and delete folders.</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5f2268be45_0_1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5f2268be4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discuss the use case for SQL managed services. But before we do, let’s revisit what a database is and how it’s used.</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5fb2cf6fbb_0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5fb2cf6fb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A database is a collection of information that is organized so that it can easily be accessed and managed. Users are building software applications using databases to answer business questions, such as buying a ticket, filing an expense report, storing a photo, or storing medical records. Computer applications run databases to get a fast answer to questions like:</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298450" lvl="0" marL="457200" marR="241300" rtl="0" algn="l">
              <a:lnSpc>
                <a:spcPct val="100000"/>
              </a:lnSpc>
              <a:spcBef>
                <a:spcPts val="0"/>
              </a:spcBef>
              <a:spcAft>
                <a:spcPts val="0"/>
              </a:spcAft>
              <a:buClr>
                <a:schemeClr val="dk1"/>
              </a:buClr>
              <a:buSzPts val="1100"/>
              <a:buFont typeface="Arial"/>
              <a:buChar char="●"/>
            </a:pPr>
            <a:r>
              <a:rPr lang="en">
                <a:solidFill>
                  <a:schemeClr val="dk1"/>
                </a:solidFill>
              </a:rPr>
              <a:t>What’s this user’s name given their sign-in information so I can display it?</a:t>
            </a:r>
            <a:endParaRPr>
              <a:solidFill>
                <a:schemeClr val="dk1"/>
              </a:solidFill>
            </a:endParaRPr>
          </a:p>
          <a:p>
            <a:pPr indent="-298450" lvl="0" marL="457200" marR="241300" rtl="0" algn="l">
              <a:lnSpc>
                <a:spcPct val="100000"/>
              </a:lnSpc>
              <a:spcBef>
                <a:spcPts val="0"/>
              </a:spcBef>
              <a:spcAft>
                <a:spcPts val="0"/>
              </a:spcAft>
              <a:buClr>
                <a:schemeClr val="dk1"/>
              </a:buClr>
              <a:buSzPts val="1100"/>
              <a:buFont typeface="Arial"/>
              <a:buChar char="●"/>
            </a:pPr>
            <a:r>
              <a:rPr lang="en">
                <a:solidFill>
                  <a:schemeClr val="dk1"/>
                </a:solidFill>
              </a:rPr>
              <a:t>What’s the cost of product Y so I can show it on my dynamic webpage?</a:t>
            </a:r>
            <a:endParaRPr>
              <a:solidFill>
                <a:schemeClr val="dk1"/>
              </a:solidFill>
            </a:endParaRPr>
          </a:p>
          <a:p>
            <a:pPr indent="-298450" lvl="0" marL="457200" marR="241300" rtl="0" algn="l">
              <a:lnSpc>
                <a:spcPct val="100000"/>
              </a:lnSpc>
              <a:spcBef>
                <a:spcPts val="0"/>
              </a:spcBef>
              <a:spcAft>
                <a:spcPts val="0"/>
              </a:spcAft>
              <a:buClr>
                <a:schemeClr val="dk1"/>
              </a:buClr>
              <a:buSzPts val="1100"/>
              <a:buFont typeface="Arial"/>
              <a:buChar char="●"/>
            </a:pPr>
            <a:r>
              <a:rPr lang="en">
                <a:solidFill>
                  <a:schemeClr val="dk1"/>
                </a:solidFill>
              </a:rPr>
              <a:t>What were my top 10 best selling products this month?</a:t>
            </a:r>
            <a:endParaRPr>
              <a:solidFill>
                <a:schemeClr val="dk1"/>
              </a:solidFill>
            </a:endParaRPr>
          </a:p>
          <a:p>
            <a:pPr indent="-298450" lvl="0" marL="457200" marR="241300" rtl="0" algn="l">
              <a:lnSpc>
                <a:spcPct val="100000"/>
              </a:lnSpc>
              <a:spcBef>
                <a:spcPts val="0"/>
              </a:spcBef>
              <a:spcAft>
                <a:spcPts val="0"/>
              </a:spcAft>
              <a:buClr>
                <a:schemeClr val="dk1"/>
              </a:buClr>
              <a:buSzPts val="1100"/>
              <a:buFont typeface="Arial"/>
              <a:buChar char="●"/>
            </a:pPr>
            <a:r>
              <a:rPr lang="en">
                <a:solidFill>
                  <a:schemeClr val="dk1"/>
                </a:solidFill>
              </a:rPr>
              <a:t>What is the next ad I should show the user currently browsing my site?</a:t>
            </a:r>
            <a:endParaRPr>
              <a:solidFill>
                <a:schemeClr val="dk1"/>
              </a:solidFill>
            </a:endParaRPr>
          </a:p>
          <a:p>
            <a:pPr indent="0" lvl="0" marL="0" marR="241300" rtl="0" algn="l">
              <a:lnSpc>
                <a:spcPct val="100000"/>
              </a:lnSpc>
              <a:spcBef>
                <a:spcPts val="0"/>
              </a:spcBef>
              <a:spcAft>
                <a:spcPts val="0"/>
              </a:spcAft>
              <a:buNone/>
            </a:pPr>
            <a:r>
              <a:t/>
            </a:r>
            <a:endParaRPr>
              <a:solidFill>
                <a:schemeClr val="dk1"/>
              </a:solidFill>
            </a:endParaRPr>
          </a:p>
          <a:p>
            <a:pPr indent="0" lvl="0" marL="0" marR="241300" rtl="0" algn="l">
              <a:lnSpc>
                <a:spcPct val="100000"/>
              </a:lnSpc>
              <a:spcBef>
                <a:spcPts val="0"/>
              </a:spcBef>
              <a:spcAft>
                <a:spcPts val="0"/>
              </a:spcAft>
              <a:buNone/>
            </a:pPr>
            <a:r>
              <a:rPr lang="en">
                <a:solidFill>
                  <a:schemeClr val="dk1"/>
                </a:solidFill>
              </a:rPr>
              <a:t>These apps must be able to write data in and read data out of databases. When a database is used, it’s usually run by a computer application. So when we say that “a database is useful for doing X,” it’s usually because it’s designed to make answering a question simply, fast, and efficient for the app.</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5ded287a7e_0_2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5ded287a7e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41300" rtl="0" algn="l">
              <a:lnSpc>
                <a:spcPct val="100000"/>
              </a:lnSpc>
              <a:spcBef>
                <a:spcPts val="0"/>
              </a:spcBef>
              <a:spcAft>
                <a:spcPts val="0"/>
              </a:spcAft>
              <a:buNone/>
            </a:pPr>
            <a:r>
              <a:rPr lang="en">
                <a:solidFill>
                  <a:schemeClr val="dk1"/>
                </a:solidFill>
              </a:rPr>
              <a:t>Relational database management systems, abbreviated RDBMS, or just relational databases, are used extensively and are the kind of database you encounter most of the time. They’re organized based on the relational model of data. </a:t>
            </a:r>
            <a:endParaRPr>
              <a:solidFill>
                <a:schemeClr val="dk1"/>
              </a:solidFill>
            </a:endParaRPr>
          </a:p>
          <a:p>
            <a:pPr indent="0" lvl="0" marL="0" marR="241300" rtl="0" algn="l">
              <a:lnSpc>
                <a:spcPct val="100000"/>
              </a:lnSpc>
              <a:spcBef>
                <a:spcPts val="0"/>
              </a:spcBef>
              <a:spcAft>
                <a:spcPts val="0"/>
              </a:spcAft>
              <a:buNone/>
            </a:pPr>
            <a:r>
              <a:t/>
            </a:r>
            <a:endParaRPr>
              <a:solidFill>
                <a:schemeClr val="dk1"/>
              </a:solidFill>
            </a:endParaRPr>
          </a:p>
          <a:p>
            <a:pPr indent="0" lvl="0" marL="0" marR="241300" rtl="0" algn="l">
              <a:lnSpc>
                <a:spcPct val="100000"/>
              </a:lnSpc>
              <a:spcBef>
                <a:spcPts val="0"/>
              </a:spcBef>
              <a:spcAft>
                <a:spcPts val="0"/>
              </a:spcAft>
              <a:buNone/>
            </a:pPr>
            <a:r>
              <a:rPr lang="en">
                <a:solidFill>
                  <a:schemeClr val="dk1"/>
                </a:solidFill>
              </a:rPr>
              <a:t>They are very good when you have a well-structured data model and when you need transactions and the ability to join data across tables to retrieve complex combinations of your data.</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Because they make use of the Structured Query </a:t>
            </a:r>
            <a:r>
              <a:rPr lang="en">
                <a:solidFill>
                  <a:schemeClr val="dk1"/>
                </a:solidFill>
              </a:rPr>
              <a:t>Language</a:t>
            </a:r>
            <a:r>
              <a:rPr lang="en">
                <a:solidFill>
                  <a:schemeClr val="dk1"/>
                </a:solidFill>
              </a:rPr>
              <a:t>, they are sometimes called SQL databases.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5ebe951c0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5ebe951c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Google Cloud</a:t>
            </a:r>
            <a:r>
              <a:rPr lang="en">
                <a:solidFill>
                  <a:schemeClr val="dk1"/>
                </a:solidFill>
              </a:rPr>
              <a:t> offers two managed relational database services. Cloud SQL offers managed MySQL, PostgresSQL, and SQL Server databases as a service. When setting up Cloud SQL with replicas, replication is automatic. The infrastructure of this database is managed. This will include backups, updates, failover, and maintenance. You are still responsible for user, schema, and data management.  The database can scale horizontally for reads using read replicas,  For writes you will have to make the database larger, which usually requires a reboot.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Cloud Spanner is a strongly consistent, horizontally scalable, managed relational database.  This service can run your database across multiple nodes, either within a single region or to multiple regions. The managed service automatically replicates data to the nodes. Spanner is ANSI SQL 2011 compliant with extensions.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5f2268be45_0_1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5f2268be4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explore Cloud SQL in more detail.</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5ded287a7e_0_2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5ded287a7e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800"/>
              </a:spcAft>
              <a:buNone/>
            </a:pPr>
            <a:r>
              <a:rPr lang="en">
                <a:solidFill>
                  <a:schemeClr val="dk1"/>
                </a:solidFill>
              </a:rPr>
              <a:t>Cloud SQL is a fully managed, </a:t>
            </a:r>
            <a:r>
              <a:rPr lang="en">
                <a:solidFill>
                  <a:schemeClr val="dk1"/>
                </a:solidFill>
              </a:rPr>
              <a:t>relational </a:t>
            </a:r>
            <a:r>
              <a:rPr lang="en">
                <a:solidFill>
                  <a:schemeClr val="dk1"/>
                </a:solidFill>
              </a:rPr>
              <a:t>database service that makes it easy to set up, maintain, manage, and administer relational MySQL and PostgreSQL databases in the cloud. This allows you to focus on your applications. Cloud SQL is perfect for WordPress sites, ecommerce applications, CRM tools, geospatial applications, and any other application that is compatible with MySQL, PostgreSQL, or SQL Server.</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5ded287a7e_0_2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5ded287a7e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00000"/>
              </a:lnSpc>
              <a:spcBef>
                <a:spcPts val="0"/>
              </a:spcBef>
              <a:spcAft>
                <a:spcPts val="0"/>
              </a:spcAft>
              <a:buNone/>
            </a:pPr>
            <a:r>
              <a:rPr lang="en">
                <a:solidFill>
                  <a:schemeClr val="dk1"/>
                </a:solidFill>
              </a:rPr>
              <a:t>Cloud SQL doesn’t require any software installation and automates all backups, replication, patches, and updates. This is achieved with greater than 99.95% availability anywhere in the world.</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To cater for workloads with different performance demands, Cloud SQL scales up to 64 processor cores and more than 400 GB of RAM per instance. Cloud SQL also provides you with up to 10 TB of storage capacity.</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For isolation from failures, high availability provides continuous health-checking and automatically fails over if an instance isn’t healthy. You can also easily configure replication and backups to protect your data. Data is automatically encrypted and Cloud SQL meets applicable compliance requirements.</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Cloud SQL instances are accessible from almost any application, anywhere. You can also easily connect from App Engine, Compute Engine, and your workstation. If your app works with MySQL or PostgreSQL, it’ll work with Cloud SQL. It's also easy to move and migrate data through built-in migration tools and standard connection drivers such as MySQL Workbench.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5f2268be45_0_1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5f2268be4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now complete a hands-on lab to learn more about using Cloud SQL.</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8091fa03f7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8091fa03f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lab, we’ll </a:t>
            </a:r>
            <a:r>
              <a:rPr lang="en">
                <a:solidFill>
                  <a:schemeClr val="dk1"/>
                </a:solidFill>
              </a:rPr>
              <a:t>create and connect to a Google Cloud SQL MySQL instance and perform basic SQL operations using the Cloud Console and the mysql client</a:t>
            </a:r>
            <a:r>
              <a:rPr lang="en">
                <a:solidFill>
                  <a:schemeClr val="dk1"/>
                </a:solidFill>
              </a:rPr>
              <a:t>.</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8091fa03f7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8091fa03f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 will create a Cloud SQL instance and c</a:t>
            </a:r>
            <a:r>
              <a:rPr lang="en">
                <a:solidFill>
                  <a:schemeClr val="dk1"/>
                </a:solidFill>
              </a:rPr>
              <a:t>onnect to an instance using the mysql client in the Cloud Shell</a:t>
            </a:r>
            <a:r>
              <a:rPr lang="en">
                <a:solidFill>
                  <a:schemeClr val="dk1"/>
                </a:solidFill>
              </a:rPr>
              <a:t>.</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5f2268be45_0_1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5f2268be4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a:t>
            </a:r>
            <a:r>
              <a:rPr lang="en">
                <a:solidFill>
                  <a:schemeClr val="dk1"/>
                </a:solidFill>
              </a:rPr>
              <a:t>n this lab, we’ll import data from CSV text files into Cloud SQL and perform basic data analysis using simple queries.</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5f2268be45_0_1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5f2268be4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By completing the lab, you will c</a:t>
            </a:r>
            <a:r>
              <a:rPr lang="en">
                <a:solidFill>
                  <a:schemeClr val="dk1"/>
                </a:solidFill>
              </a:rPr>
              <a:t>reate a Cloud SQL instance as well </a:t>
            </a:r>
            <a:r>
              <a:rPr lang="en">
                <a:solidFill>
                  <a:schemeClr val="dk1"/>
                </a:solidFill>
              </a:rPr>
              <a:t>as a Cloud SQL database, import text data into Cloud SQL, and build an initial data model using queries.</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5f2268be45_0_1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5f2268be4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explore how Cloud </a:t>
            </a:r>
            <a:r>
              <a:rPr lang="en">
                <a:solidFill>
                  <a:schemeClr val="dk1"/>
                </a:solidFill>
              </a:rPr>
              <a:t>Spanner</a:t>
            </a:r>
            <a:r>
              <a:rPr lang="en">
                <a:solidFill>
                  <a:schemeClr val="dk1"/>
                </a:solidFill>
              </a:rPr>
              <a:t> can be leveraged as a managed service.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5ded287a7e_0_2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5ded287a7e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with Cloud SQL, </a:t>
            </a:r>
            <a:r>
              <a:rPr lang="en">
                <a:solidFill>
                  <a:schemeClr val="dk1"/>
                </a:solidFill>
              </a:rPr>
              <a:t>Cloud Spanner is aligned to relational database requirements. The key difference is that Cloud Spanner combines the benefits of relational database structure with non-relational </a:t>
            </a:r>
            <a:r>
              <a:rPr lang="en">
                <a:solidFill>
                  <a:schemeClr val="dk1"/>
                </a:solidFill>
              </a:rPr>
              <a:t>horizontal scale</a:t>
            </a:r>
            <a:r>
              <a:rPr lang="en">
                <a:solidFill>
                  <a:schemeClr val="dk1"/>
                </a:solidFill>
              </a:rPr>
              <a:t>. Vertical scaling is where you make a single instance larger or smaller. Horizontal scaling is when you scale by adding and removing servers. What makes Cloud Spanner unique is that fact that it is a relational database that scales horizontally.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Cloud Spanner users are often in the advertising, finance, and marketing technology industries, where the </a:t>
            </a:r>
            <a:r>
              <a:rPr lang="en">
                <a:solidFill>
                  <a:schemeClr val="dk1"/>
                </a:solidFill>
              </a:rPr>
              <a:t>need exists to manage end user metadata.</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5fb2cf6fbb_0_2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5fb2cf6fb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Most databases today require making trade-offs between scale and consistency. With Cloud Spanner, users get the best of relational database structure and non-relational database scale and performance with strong external consistency across rows, regions, and continents.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What this means is that Cloud Spanner can scale to very large database sizes while still giving IT and developers the familiarity they are used to with other relational databases such as MySQL, PostgreSQL, or proprietary databases.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Spanner is strongly consistent. Data added or updated from any location is immediately available regardless of the location it is accessed.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Spanner also dramatically reduces the operational overhead needed to keep the database online and serving traffic. Users often move to Cloud Spanner from sharded MySQL deployments and expensive proprietary solutions.</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5fb2cf6fbb_0_2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5fb2cf6fb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00000"/>
              </a:lnSpc>
              <a:spcBef>
                <a:spcPts val="0"/>
              </a:spcBef>
              <a:spcAft>
                <a:spcPts val="0"/>
              </a:spcAft>
              <a:buNone/>
            </a:pPr>
            <a:r>
              <a:rPr lang="en">
                <a:solidFill>
                  <a:schemeClr val="dk1"/>
                </a:solidFill>
              </a:rPr>
              <a:t>Cloud Spanner scales horizontally and serves data with low latency while maintaining transactional consistency and industry-leading 99.999% availability, less than 5 minutes downtime per year. Cloud Spanner can scale to arbitrarily large database sizes to help avoid rewrites and migrations. The use of multiple databases or sharded databases as an alternative solution introduces unnecessary complexity and cost.</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Cloud Spanner allows you to create or scale a globally replicated database for mission-critical apps through a handful of clicks. Synchronous replication and maintenance is also automatic and built-in.</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Cloud Spanner is a relational database with full relational semantics, ACID transactions, and handles schema changes as an online operation with no planned downtime. You can reuse existing SQL skills to query data in Cloud Spanner using familiar, industry-standard ANSI SQL 2011.</a:t>
            </a:r>
            <a:endParaRPr>
              <a:solidFill>
                <a:schemeClr val="dk1"/>
              </a:solidFill>
            </a:endParaRPr>
          </a:p>
          <a:p>
            <a:pPr indent="0" lvl="0" marL="0" marR="381000" rtl="0" algn="l">
              <a:lnSpc>
                <a:spcPct val="100000"/>
              </a:lnSpc>
              <a:spcBef>
                <a:spcPts val="0"/>
              </a:spcBef>
              <a:spcAft>
                <a:spcPts val="0"/>
              </a:spcAft>
              <a:buNone/>
            </a:pPr>
            <a:r>
              <a:t/>
            </a:r>
            <a:endParaRPr>
              <a:solidFill>
                <a:schemeClr val="dk1"/>
              </a:solidFill>
            </a:endParaRPr>
          </a:p>
          <a:p>
            <a:pPr indent="0" lvl="0" marL="0" marR="381000" rtl="0" algn="l">
              <a:lnSpc>
                <a:spcPct val="100000"/>
              </a:lnSpc>
              <a:spcBef>
                <a:spcPts val="0"/>
              </a:spcBef>
              <a:spcAft>
                <a:spcPts val="0"/>
              </a:spcAft>
              <a:buNone/>
            </a:pPr>
            <a:r>
              <a:rPr lang="en">
                <a:solidFill>
                  <a:schemeClr val="dk1"/>
                </a:solidFill>
              </a:rPr>
              <a:t>Enterprise grade security includes data-layer encryption by default in transit and at rest, granular identity and access management, and audit logging.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5fde6cc7e4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5fde6cc7e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So how does Cloud Spanner work? Data is automatically and instantly copied across regions, which is called synchronous replication. As a result, queries always return consistent and ordered answers regardless of the region. Google uses replication within and across regions to achieve availability, so if one region goes offline, a user’s data can still be served from another region.</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5f2268be45_0_17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5f2268be4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we’ll explore the NoSQL managed services options </a:t>
            </a:r>
            <a:r>
              <a:rPr lang="en">
                <a:solidFill>
                  <a:schemeClr val="dk1"/>
                </a:solidFill>
              </a:rPr>
              <a:t>currently</a:t>
            </a:r>
            <a:r>
              <a:rPr lang="en">
                <a:solidFill>
                  <a:schemeClr val="dk1"/>
                </a:solidFill>
              </a:rPr>
              <a:t> </a:t>
            </a:r>
            <a:r>
              <a:rPr lang="en">
                <a:solidFill>
                  <a:schemeClr val="dk1"/>
                </a:solidFill>
              </a:rPr>
              <a:t>available</a:t>
            </a:r>
            <a:r>
              <a:rPr lang="en">
                <a:solidFill>
                  <a:schemeClr val="dk1"/>
                </a:solidFill>
              </a:rPr>
              <a:t>.</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62a93d2eb7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62a93d2e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Google offers two managed NoSQL database options.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Datastore is a fully managed, serverless NoSQL document store that supports ACID transactions.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Cloud Bigtable is a petabyte scale, sparse wide column NoSQL database that offers extremely low write latency.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We’ll discuss these managed services in more detail in the topics that follow.</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5f2268be45_0_1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3" name="Google Shape;963;g5f2268be45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this topic, we’ll discuss how Datastore can be used as a NoSQL document store.</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5ded287a7e_0_28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5ded287a7e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Datastore is a highly-scalable NoSQL database that’s ideal for rapid and flexible web and mobile development. Datastore is a schema-less database, which means it doesn’t rely on a schema the way a relational database does. Datastore is therefore ideal if you have non-relational data and want a serverless database without having to worry about nodes or cluster management. Datastore isn’t a full SQL database though, and isn’t an effective storage solution for data being used for analysis.</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5ded287a7e_0_2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5ded287a7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Datastore allows you to change to your data structure as your application evolves, so there’s no need to perfect your data model at the beginning of your project. With NoSQL, storing new properties in data requires no database changes or schema.</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Datastore serves high-speed queries no matter how big your database, to ensure your applications maintain high performance. Datastore uses Google Query Language (GQL), which, because it's a query language in a SQL-like syntax format, is both familiar and easy to learn. Complex queries are enabled with secondary (called built-ins in Datastore) and composite indexes. It automatically scales to support millions of API requests per second and 100s of terabytes of data, so no configuration or capacity planning is needed.</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It’s fully managed by Google so you can instantly provision a scalable and available NoSQL database, without the hassle of spinning up virtual machines and maintaining databases. </a:t>
            </a:r>
            <a:r>
              <a:rPr lang="en">
                <a:solidFill>
                  <a:schemeClr val="dk1"/>
                </a:solidFill>
              </a:rPr>
              <a:t>Datastore automatically handles sharding and replication across multiple datacenters to provide a database that is highly available and durable. </a:t>
            </a:r>
            <a:r>
              <a:rPr lang="en">
                <a:solidFill>
                  <a:schemeClr val="dk1"/>
                </a:solidFill>
              </a:rPr>
              <a:t>This allows users to focus on application development.</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With the RESTful interface of </a:t>
            </a:r>
            <a:r>
              <a:rPr lang="en">
                <a:solidFill>
                  <a:schemeClr val="dk1"/>
                </a:solidFill>
              </a:rPr>
              <a:t>Datastore</a:t>
            </a:r>
            <a:r>
              <a:rPr lang="en">
                <a:solidFill>
                  <a:schemeClr val="dk1"/>
                </a:solidFill>
              </a:rPr>
              <a:t>, data can easily be accessed by any deployment target. You can build solutions that run on App Engine, GKE, and Compute Engine and use Datastore as their integration point. Datastore automatically encrypts all data before it is written to disk and automatically decrypts the data when read by an authorized user.</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5fde6cc7e4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5fde6cc7e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Datastore is is the best choice for shifting data requirements without needing downtime, such as user game profiles where flexibility enables rapid development of new features. It’s also ideal for s</a:t>
            </a:r>
            <a:r>
              <a:rPr lang="en">
                <a:solidFill>
                  <a:schemeClr val="dk1"/>
                </a:solidFill>
              </a:rPr>
              <a:t>toring user profiles to deliver a customized experience based on the user’s past activities and preferences.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Datastore enables true data hierarchy through ancestor paths, which means related data can be strongly grouped together, making it exceptional for tasks such as storing product reviews or storing the data for an online product catalog that provides real-time inventory and product details for a customer.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Datastore is well suited for recording transactions based on ACID properties, for example, transferring funds from one bank account to another.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mobile games, Datastore provides a durable key-value store which allows player data to be efficiently stored and accessed. It’s scalability accommodates the growth of games, whether there are 10 players or 100 million.</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5f2268be45_0_2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5f2268be45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final topic of this module describes how to leverage Cloud Bigtable as a NoSQL option.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5f2268be45_0_2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5f2268be4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Cloud Bigtable aligns with non-relational database requirements and is a high-performance NoSQL database service for large analytical and throughput-intensive operational workloads. It’s designed for very large amounts of data and is great for IoT, user analytics, financial data analysis, time-series data, and graph data. Bigtable is also an option if support isn’t required for ACID transactions or if the data isn’t highly structured.</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5fde6cc7e4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5fde6cc7e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Bigtable is the same database that powers many of Google's core services, including Analytics, Search, Maps, and Gmail.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Bigtable was an internal Google database system that was so revolutionary it kickstarted the NoSQL industry. Google wanted to build a database that could deliver real-time access to petabytes of data. The result was Bigtable, and in 2006 Google released a research paper describing it. This was later awarded as being one of the most </a:t>
            </a:r>
            <a:r>
              <a:rPr lang="en">
                <a:solidFill>
                  <a:schemeClr val="dk1"/>
                </a:solidFill>
              </a:rPr>
              <a:t>influential</a:t>
            </a:r>
            <a:r>
              <a:rPr lang="en">
                <a:solidFill>
                  <a:schemeClr val="dk1"/>
                </a:solidFill>
              </a:rPr>
              <a:t> papers of the previous decade. </a:t>
            </a:r>
            <a:r>
              <a:rPr lang="en">
                <a:solidFill>
                  <a:schemeClr val="dk1"/>
                </a:solidFill>
              </a:rPr>
              <a:t>This gave people outside of Google ideas that led to the creation of popular NoSQL databases.</a:t>
            </a:r>
            <a:r>
              <a:rPr lang="en">
                <a:solidFill>
                  <a:schemeClr val="dk1"/>
                </a:solidFill>
              </a:rPr>
              <a:t> In 2015, Cloud Bigtable was made available as a service users could use for their own applications.</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5fde6cc7e4_0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5fde6cc7e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rPr>
              <a:t>Because Bigtable offers high performance under high load, large apps and workflows are faster, more reliable, and more efficient running on Bigtable.</a:t>
            </a:r>
            <a:endParaRPr>
              <a:solidFill>
                <a:schemeClr val="dk1"/>
              </a:solidFill>
            </a:endParaRPr>
          </a:p>
          <a:p>
            <a:pPr indent="0" lvl="0" marL="0" rtl="0" algn="l">
              <a:lnSpc>
                <a:spcPct val="100000"/>
              </a:lnSpc>
              <a:spcBef>
                <a:spcPts val="0"/>
              </a:spcBef>
              <a:spcAft>
                <a:spcPts val="0"/>
              </a:spcAft>
              <a:buNone/>
            </a:pPr>
            <a:r>
              <a:rPr lang="en">
                <a:solidFill>
                  <a:schemeClr val="dk1"/>
                </a:solidFill>
              </a:rPr>
              <a:t>Bigtable is ideal for storing large amounts of data with very low latency.</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Databases can automatically and seamlessly scale to billions of rows and thousands of columns, allowing you to store petabytes of data. Changes to the deployment configuration are immediate, so there’s no downtime during reconfiguration. Replication adds high availability for live serving apps, and workload isolation for serving versus analytics.</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Because Bigtable is a fully managed service, there’s no need to worry about configuring and tuning your database for performance or scalability. Google also creates data backups to protect against catastrophic events and allow for disaster recovery.</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You can use Bigtable for a range of applications, from real-time ad analytics all the way to tracking millions of readings from thousands of IoT sensors. Because Bigtable is compatible with industry standard tools like HBase, Hadoop, and BigQuery and Dataflow, it's easy to put all that data to work for your app. In terms of security, all data in Bigtable is encrypted both in-flight and at rest, while access to Bigtable data is easily controlled through IAM permissions.</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5fb2cf6fbb_0_2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5fb2cf6fb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Bigtable is part of the </a:t>
            </a:r>
            <a:r>
              <a:rPr lang="en">
                <a:solidFill>
                  <a:schemeClr val="dk1"/>
                </a:solidFill>
              </a:rPr>
              <a:t>Google Cloud</a:t>
            </a:r>
            <a:r>
              <a:rPr lang="en">
                <a:solidFill>
                  <a:schemeClr val="dk1"/>
                </a:solidFill>
              </a:rPr>
              <a:t> ecosystem, it can interact with other </a:t>
            </a:r>
            <a:r>
              <a:rPr lang="en">
                <a:solidFill>
                  <a:schemeClr val="dk1"/>
                </a:solidFill>
              </a:rPr>
              <a:t>Google Cloud</a:t>
            </a:r>
            <a:r>
              <a:rPr lang="en">
                <a:solidFill>
                  <a:schemeClr val="dk1"/>
                </a:solidFill>
              </a:rPr>
              <a:t> services and third-party clients.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From an application API perspective, data can be read from and written to Bigtable through a data service layer like Managed VMs, the HBase REST Server, or a Java Server using the HBase client. Typically this will be to serve data to applications, dashboards, and data services.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Data can also be streamed in through a variety of popular stream processing frameworks like Dataflow Streaming, Spark Streaming, and Storm.</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If streaming is not an option, data can also be read from and written to Bigtable through batch processes like Hadoop MapReduce, Dataflow, or Spark. Often, summarized or newly calculated data is written back to Bigtable or to a downstream database.</a:t>
            </a:r>
            <a:endParaRPr>
              <a:solidFill>
                <a:schemeClr val="dk1"/>
              </a:solidFill>
              <a:highlight>
                <a:srgbClr val="EFF0F2"/>
              </a:high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5f29de9942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5f29de994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This diagram shows a simplified version of Bigtable overall architecture. It illustrates that processing, which is done through a front-end server pool and nodes, is handled separately from the storage.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 Bigtable table is sharded into blocks of contiguous rows, called tablets, to help balance the workload of queries. Tablets are similar to HBase regions. Tablets are stored on Colossus, which is Google's file system, in a Sorted Strings Table, or SSTable, format. An SSTable provides a persistent, ordered immutable map from keys to values, where both keys and values are arbitrary byte strings.</a:t>
            </a:r>
            <a:endParaRPr>
              <a:solidFill>
                <a:schemeClr val="dk1"/>
              </a:solidFill>
              <a:highlight>
                <a:srgbClr val="EFF0F2"/>
              </a:highlight>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5f29de9942_0_1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5f29de994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These charts show that as the required queries per second increase, the nodes required will increase too. The throughput scales linearly, so for every single node that you do add, you're going to see a linear scale of throughput performance, up to hundreds of nodes.</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5f2268be45_0_2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5f2268be45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5ded287a7e_0_1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5ded287a7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34343"/>
                </a:solidFill>
              </a:rPr>
              <a:t>You are looking for an unstructured storage solution for archiving files that might never be accessed again. Which of the following is the best option?</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5f9902cb7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5f9902cb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Cloud Storage Archive storage is designed for long term storage of data that is typically not accessed more than once a year.</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5f9902cb74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5f9902cb7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of the following is a multi-regional, globally available, managed relational database service?</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5f9902cb74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5" name="Google Shape;1275;g5f9902cb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Spanner is a multi-regional, globally available managed relational database service.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5f9902cb74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5f9902cb7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How do you scale a Cloud Bigtable database if more queries per second are needed?</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5f9902cb74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5f9902cb7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add more queries per second to a Cloud Bigtable cluster, simply add more nodes.</a:t>
            </a:r>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5f2268be45_0_2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5f2268be4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5ded287a7e_0_2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5ded287a7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5fde6cc7e4_0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5fde6cc7e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558285f1d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558285f1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a - Presenter - Master title - Blue">
  <p:cSld name="CUSTOM_2_4">
    <p:spTree>
      <p:nvGrpSpPr>
        <p:cNvPr id="7" name="Shape 7"/>
        <p:cNvGrpSpPr/>
        <p:nvPr/>
      </p:nvGrpSpPr>
      <p:grpSpPr>
        <a:xfrm>
          <a:off x="0" y="0"/>
          <a:ext cx="0" cy="0"/>
          <a:chOff x="0" y="0"/>
          <a:chExt cx="0" cy="0"/>
        </a:xfrm>
      </p:grpSpPr>
      <p:pic>
        <p:nvPicPr>
          <p:cNvPr id="8" name="Google Shape;8;p2"/>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9" name="Google Shape;9;p2"/>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0" name="Google Shape;10;p2"/>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1" name="Google Shape;11;p2"/>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 name="Google Shape;12;p2"/>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2800">
                <a:solidFill>
                  <a:schemeClr val="lt1"/>
                </a:solidFill>
                <a:latin typeface="Google Sans"/>
                <a:ea typeface="Google Sans"/>
                <a:cs typeface="Google Sans"/>
                <a:sym typeface="Google Sans"/>
              </a:defRPr>
            </a:lvl1pPr>
            <a:lvl2pPr lvl="1">
              <a:spcBef>
                <a:spcPts val="0"/>
              </a:spcBef>
              <a:spcAft>
                <a:spcPts val="0"/>
              </a:spcAft>
              <a:buNone/>
              <a:defRPr sz="2800">
                <a:solidFill>
                  <a:schemeClr val="lt1"/>
                </a:solidFill>
                <a:latin typeface="Google Sans"/>
                <a:ea typeface="Google Sans"/>
                <a:cs typeface="Google Sans"/>
                <a:sym typeface="Google Sans"/>
              </a:defRPr>
            </a:lvl2pPr>
            <a:lvl3pPr lvl="2">
              <a:spcBef>
                <a:spcPts val="0"/>
              </a:spcBef>
              <a:spcAft>
                <a:spcPts val="0"/>
              </a:spcAft>
              <a:buNone/>
              <a:defRPr sz="2800">
                <a:solidFill>
                  <a:schemeClr val="lt1"/>
                </a:solidFill>
                <a:latin typeface="Google Sans"/>
                <a:ea typeface="Google Sans"/>
                <a:cs typeface="Google Sans"/>
                <a:sym typeface="Google Sans"/>
              </a:defRPr>
            </a:lvl3pPr>
            <a:lvl4pPr lvl="3">
              <a:spcBef>
                <a:spcPts val="0"/>
              </a:spcBef>
              <a:spcAft>
                <a:spcPts val="0"/>
              </a:spcAft>
              <a:buNone/>
              <a:defRPr sz="2800">
                <a:solidFill>
                  <a:schemeClr val="lt1"/>
                </a:solidFill>
                <a:latin typeface="Google Sans"/>
                <a:ea typeface="Google Sans"/>
                <a:cs typeface="Google Sans"/>
                <a:sym typeface="Google Sans"/>
              </a:defRPr>
            </a:lvl4pPr>
            <a:lvl5pPr lvl="4">
              <a:spcBef>
                <a:spcPts val="0"/>
              </a:spcBef>
              <a:spcAft>
                <a:spcPts val="0"/>
              </a:spcAft>
              <a:buNone/>
              <a:defRPr sz="2800">
                <a:solidFill>
                  <a:schemeClr val="lt1"/>
                </a:solidFill>
                <a:latin typeface="Google Sans"/>
                <a:ea typeface="Google Sans"/>
                <a:cs typeface="Google Sans"/>
                <a:sym typeface="Google Sans"/>
              </a:defRPr>
            </a:lvl5pPr>
            <a:lvl6pPr lvl="5">
              <a:spcBef>
                <a:spcPts val="0"/>
              </a:spcBef>
              <a:spcAft>
                <a:spcPts val="0"/>
              </a:spcAft>
              <a:buNone/>
              <a:defRPr sz="2800">
                <a:solidFill>
                  <a:schemeClr val="lt1"/>
                </a:solidFill>
                <a:latin typeface="Google Sans"/>
                <a:ea typeface="Google Sans"/>
                <a:cs typeface="Google Sans"/>
                <a:sym typeface="Google Sans"/>
              </a:defRPr>
            </a:lvl6pPr>
            <a:lvl7pPr lvl="6">
              <a:spcBef>
                <a:spcPts val="0"/>
              </a:spcBef>
              <a:spcAft>
                <a:spcPts val="0"/>
              </a:spcAft>
              <a:buNone/>
              <a:defRPr sz="2800">
                <a:solidFill>
                  <a:schemeClr val="lt1"/>
                </a:solidFill>
                <a:latin typeface="Google Sans"/>
                <a:ea typeface="Google Sans"/>
                <a:cs typeface="Google Sans"/>
                <a:sym typeface="Google Sans"/>
              </a:defRPr>
            </a:lvl7pPr>
            <a:lvl8pPr lvl="7">
              <a:spcBef>
                <a:spcPts val="0"/>
              </a:spcBef>
              <a:spcAft>
                <a:spcPts val="0"/>
              </a:spcAft>
              <a:buNone/>
              <a:defRPr sz="2800">
                <a:solidFill>
                  <a:schemeClr val="lt1"/>
                </a:solidFill>
                <a:latin typeface="Google Sans"/>
                <a:ea typeface="Google Sans"/>
                <a:cs typeface="Google Sans"/>
                <a:sym typeface="Google Sans"/>
              </a:defRPr>
            </a:lvl8pPr>
            <a:lvl9pPr lvl="8">
              <a:spcBef>
                <a:spcPts val="0"/>
              </a:spcBef>
              <a:spcAft>
                <a:spcPts val="0"/>
              </a:spcAft>
              <a:buNone/>
              <a:defRPr sz="2800">
                <a:solidFill>
                  <a:schemeClr val="lt1"/>
                </a:solidFill>
                <a:latin typeface="Google Sans"/>
                <a:ea typeface="Google Sans"/>
                <a:cs typeface="Google Sans"/>
                <a:sym typeface="Google Sans"/>
              </a:defRPr>
            </a:lvl9pPr>
          </a:lstStyle>
          <a:p/>
        </p:txBody>
      </p:sp>
      <p:sp>
        <p:nvSpPr>
          <p:cNvPr id="13" name="Google Shape;13;p2"/>
          <p:cNvSpPr/>
          <p:nvPr/>
        </p:nvSpPr>
        <p:spPr>
          <a:xfrm>
            <a:off x="835075" y="9269250"/>
            <a:ext cx="2978400" cy="528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b - Presenter - Master title - Yellow">
  <p:cSld name="CUSTOM_2_4_1">
    <p:spTree>
      <p:nvGrpSpPr>
        <p:cNvPr id="14" name="Shape 14"/>
        <p:cNvGrpSpPr/>
        <p:nvPr/>
      </p:nvGrpSpPr>
      <p:grpSpPr>
        <a:xfrm>
          <a:off x="0" y="0"/>
          <a:ext cx="0" cy="0"/>
          <a:chOff x="0" y="0"/>
          <a:chExt cx="0" cy="0"/>
        </a:xfrm>
      </p:grpSpPr>
      <p:pic>
        <p:nvPicPr>
          <p:cNvPr id="15" name="Google Shape;15;p3"/>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6" name="Google Shape;16;p3"/>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17" name="Google Shape;17;p3"/>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18" name="Google Shape;18;p3"/>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9" name="Google Shape;19;p3"/>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c - Presenter - Master title - Green">
  <p:cSld name="CUSTOM_2_4_1_3">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22" name="Google Shape;22;p4"/>
          <p:cNvPicPr preferRelativeResize="0"/>
          <p:nvPr/>
        </p:nvPicPr>
        <p:blipFill>
          <a:blip r:embed="rId3">
            <a:alphaModFix/>
          </a:blip>
          <a:stretch>
            <a:fillRect/>
          </a:stretch>
        </p:blipFill>
        <p:spPr>
          <a:xfrm>
            <a:off x="1887149" y="3182300"/>
            <a:ext cx="818350" cy="654675"/>
          </a:xfrm>
          <a:prstGeom prst="rect">
            <a:avLst/>
          </a:prstGeom>
          <a:noFill/>
          <a:ln>
            <a:noFill/>
          </a:ln>
        </p:spPr>
      </p:pic>
      <p:sp>
        <p:nvSpPr>
          <p:cNvPr id="23" name="Google Shape;23;p4"/>
          <p:cNvSpPr txBox="1"/>
          <p:nvPr>
            <p:ph type="title"/>
          </p:nvPr>
        </p:nvSpPr>
        <p:spPr>
          <a:xfrm>
            <a:off x="1753100" y="4201375"/>
            <a:ext cx="7206900" cy="3799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4800">
                <a:solidFill>
                  <a:schemeClr val="dk1"/>
                </a:solidFill>
                <a:latin typeface="Google Sans"/>
                <a:ea typeface="Google Sans"/>
                <a:cs typeface="Google Sans"/>
                <a:sym typeface="Google Sans"/>
              </a:defRPr>
            </a:lvl1pPr>
            <a:lvl2pPr lvl="1" rtl="0">
              <a:spcBef>
                <a:spcPts val="0"/>
              </a:spcBef>
              <a:spcAft>
                <a:spcPts val="0"/>
              </a:spcAft>
              <a:buNone/>
              <a:defRPr b="1" sz="4800">
                <a:solidFill>
                  <a:schemeClr val="dk1"/>
                </a:solidFill>
                <a:latin typeface="Google Sans"/>
                <a:ea typeface="Google Sans"/>
                <a:cs typeface="Google Sans"/>
                <a:sym typeface="Google Sans"/>
              </a:defRPr>
            </a:lvl2pPr>
            <a:lvl3pPr lvl="2" rtl="0">
              <a:spcBef>
                <a:spcPts val="0"/>
              </a:spcBef>
              <a:spcAft>
                <a:spcPts val="0"/>
              </a:spcAft>
              <a:buNone/>
              <a:defRPr b="1" sz="4800">
                <a:solidFill>
                  <a:schemeClr val="dk1"/>
                </a:solidFill>
                <a:latin typeface="Google Sans"/>
                <a:ea typeface="Google Sans"/>
                <a:cs typeface="Google Sans"/>
                <a:sym typeface="Google Sans"/>
              </a:defRPr>
            </a:lvl3pPr>
            <a:lvl4pPr lvl="3" rtl="0">
              <a:spcBef>
                <a:spcPts val="0"/>
              </a:spcBef>
              <a:spcAft>
                <a:spcPts val="0"/>
              </a:spcAft>
              <a:buNone/>
              <a:defRPr b="1" sz="4800">
                <a:solidFill>
                  <a:schemeClr val="dk1"/>
                </a:solidFill>
                <a:latin typeface="Google Sans"/>
                <a:ea typeface="Google Sans"/>
                <a:cs typeface="Google Sans"/>
                <a:sym typeface="Google Sans"/>
              </a:defRPr>
            </a:lvl4pPr>
            <a:lvl5pPr lvl="4" rtl="0">
              <a:spcBef>
                <a:spcPts val="0"/>
              </a:spcBef>
              <a:spcAft>
                <a:spcPts val="0"/>
              </a:spcAft>
              <a:buNone/>
              <a:defRPr b="1" sz="4800">
                <a:solidFill>
                  <a:schemeClr val="dk1"/>
                </a:solidFill>
                <a:latin typeface="Google Sans"/>
                <a:ea typeface="Google Sans"/>
                <a:cs typeface="Google Sans"/>
                <a:sym typeface="Google Sans"/>
              </a:defRPr>
            </a:lvl5pPr>
            <a:lvl6pPr lvl="5" rtl="0">
              <a:spcBef>
                <a:spcPts val="0"/>
              </a:spcBef>
              <a:spcAft>
                <a:spcPts val="0"/>
              </a:spcAft>
              <a:buNone/>
              <a:defRPr b="1" sz="4800">
                <a:solidFill>
                  <a:schemeClr val="dk1"/>
                </a:solidFill>
                <a:latin typeface="Google Sans"/>
                <a:ea typeface="Google Sans"/>
                <a:cs typeface="Google Sans"/>
                <a:sym typeface="Google Sans"/>
              </a:defRPr>
            </a:lvl6pPr>
            <a:lvl7pPr lvl="6" rtl="0">
              <a:spcBef>
                <a:spcPts val="0"/>
              </a:spcBef>
              <a:spcAft>
                <a:spcPts val="0"/>
              </a:spcAft>
              <a:buNone/>
              <a:defRPr b="1" sz="4800">
                <a:solidFill>
                  <a:schemeClr val="dk1"/>
                </a:solidFill>
                <a:latin typeface="Google Sans"/>
                <a:ea typeface="Google Sans"/>
                <a:cs typeface="Google Sans"/>
                <a:sym typeface="Google Sans"/>
              </a:defRPr>
            </a:lvl7pPr>
            <a:lvl8pPr lvl="7" rtl="0">
              <a:spcBef>
                <a:spcPts val="0"/>
              </a:spcBef>
              <a:spcAft>
                <a:spcPts val="0"/>
              </a:spcAft>
              <a:buNone/>
              <a:defRPr b="1" sz="4800">
                <a:solidFill>
                  <a:schemeClr val="dk1"/>
                </a:solidFill>
                <a:latin typeface="Google Sans"/>
                <a:ea typeface="Google Sans"/>
                <a:cs typeface="Google Sans"/>
                <a:sym typeface="Google Sans"/>
              </a:defRPr>
            </a:lvl8pPr>
            <a:lvl9pPr lvl="8" rtl="0">
              <a:spcBef>
                <a:spcPts val="0"/>
              </a:spcBef>
              <a:spcAft>
                <a:spcPts val="0"/>
              </a:spcAft>
              <a:buNone/>
              <a:defRPr b="1" sz="4800">
                <a:solidFill>
                  <a:schemeClr val="dk1"/>
                </a:solidFill>
                <a:latin typeface="Google Sans"/>
                <a:ea typeface="Google Sans"/>
                <a:cs typeface="Google Sans"/>
                <a:sym typeface="Google Sans"/>
              </a:defRPr>
            </a:lvl9pPr>
          </a:lstStyle>
          <a:p/>
        </p:txBody>
      </p:sp>
      <p:sp>
        <p:nvSpPr>
          <p:cNvPr id="24" name="Google Shape;24;p4"/>
          <p:cNvSpPr txBox="1"/>
          <p:nvPr>
            <p:ph idx="1" type="subTitle"/>
          </p:nvPr>
        </p:nvSpPr>
        <p:spPr>
          <a:xfrm>
            <a:off x="1753100" y="8001175"/>
            <a:ext cx="7428900" cy="777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25" name="Google Shape;25;p4"/>
          <p:cNvSpPr txBox="1"/>
          <p:nvPr>
            <p:ph idx="2" type="subTitle"/>
          </p:nvPr>
        </p:nvSpPr>
        <p:spPr>
          <a:xfrm>
            <a:off x="1795700" y="8564800"/>
            <a:ext cx="8174700" cy="654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2800">
                <a:solidFill>
                  <a:schemeClr val="lt1"/>
                </a:solidFill>
                <a:latin typeface="Google Sans"/>
                <a:ea typeface="Google Sans"/>
                <a:cs typeface="Google Sans"/>
                <a:sym typeface="Google Sans"/>
              </a:defRPr>
            </a:lvl1pPr>
            <a:lvl2pPr lvl="1" rtl="0">
              <a:spcBef>
                <a:spcPts val="0"/>
              </a:spcBef>
              <a:spcAft>
                <a:spcPts val="0"/>
              </a:spcAft>
              <a:buNone/>
              <a:defRPr sz="2800">
                <a:solidFill>
                  <a:schemeClr val="lt1"/>
                </a:solidFill>
                <a:latin typeface="Google Sans"/>
                <a:ea typeface="Google Sans"/>
                <a:cs typeface="Google Sans"/>
                <a:sym typeface="Google Sans"/>
              </a:defRPr>
            </a:lvl2pPr>
            <a:lvl3pPr lvl="2" rtl="0">
              <a:spcBef>
                <a:spcPts val="0"/>
              </a:spcBef>
              <a:spcAft>
                <a:spcPts val="0"/>
              </a:spcAft>
              <a:buNone/>
              <a:defRPr sz="2800">
                <a:solidFill>
                  <a:schemeClr val="lt1"/>
                </a:solidFill>
                <a:latin typeface="Google Sans"/>
                <a:ea typeface="Google Sans"/>
                <a:cs typeface="Google Sans"/>
                <a:sym typeface="Google Sans"/>
              </a:defRPr>
            </a:lvl3pPr>
            <a:lvl4pPr lvl="3" rtl="0">
              <a:spcBef>
                <a:spcPts val="0"/>
              </a:spcBef>
              <a:spcAft>
                <a:spcPts val="0"/>
              </a:spcAft>
              <a:buNone/>
              <a:defRPr sz="2800">
                <a:solidFill>
                  <a:schemeClr val="lt1"/>
                </a:solidFill>
                <a:latin typeface="Google Sans"/>
                <a:ea typeface="Google Sans"/>
                <a:cs typeface="Google Sans"/>
                <a:sym typeface="Google Sans"/>
              </a:defRPr>
            </a:lvl4pPr>
            <a:lvl5pPr lvl="4" rtl="0">
              <a:spcBef>
                <a:spcPts val="0"/>
              </a:spcBef>
              <a:spcAft>
                <a:spcPts val="0"/>
              </a:spcAft>
              <a:buNone/>
              <a:defRPr sz="2800">
                <a:solidFill>
                  <a:schemeClr val="lt1"/>
                </a:solidFill>
                <a:latin typeface="Google Sans"/>
                <a:ea typeface="Google Sans"/>
                <a:cs typeface="Google Sans"/>
                <a:sym typeface="Google Sans"/>
              </a:defRPr>
            </a:lvl5pPr>
            <a:lvl6pPr lvl="5" rtl="0">
              <a:spcBef>
                <a:spcPts val="0"/>
              </a:spcBef>
              <a:spcAft>
                <a:spcPts val="0"/>
              </a:spcAft>
              <a:buNone/>
              <a:defRPr sz="2800">
                <a:solidFill>
                  <a:schemeClr val="lt1"/>
                </a:solidFill>
                <a:latin typeface="Google Sans"/>
                <a:ea typeface="Google Sans"/>
                <a:cs typeface="Google Sans"/>
                <a:sym typeface="Google Sans"/>
              </a:defRPr>
            </a:lvl6pPr>
            <a:lvl7pPr lvl="6" rtl="0">
              <a:spcBef>
                <a:spcPts val="0"/>
              </a:spcBef>
              <a:spcAft>
                <a:spcPts val="0"/>
              </a:spcAft>
              <a:buNone/>
              <a:defRPr sz="2800">
                <a:solidFill>
                  <a:schemeClr val="lt1"/>
                </a:solidFill>
                <a:latin typeface="Google Sans"/>
                <a:ea typeface="Google Sans"/>
                <a:cs typeface="Google Sans"/>
                <a:sym typeface="Google Sans"/>
              </a:defRPr>
            </a:lvl7pPr>
            <a:lvl8pPr lvl="7" rtl="0">
              <a:spcBef>
                <a:spcPts val="0"/>
              </a:spcBef>
              <a:spcAft>
                <a:spcPts val="0"/>
              </a:spcAft>
              <a:buNone/>
              <a:defRPr sz="2800">
                <a:solidFill>
                  <a:schemeClr val="lt1"/>
                </a:solidFill>
                <a:latin typeface="Google Sans"/>
                <a:ea typeface="Google Sans"/>
                <a:cs typeface="Google Sans"/>
                <a:sym typeface="Google Sans"/>
              </a:defRPr>
            </a:lvl8pPr>
            <a:lvl9pPr lvl="8" rtl="0">
              <a:spcBef>
                <a:spcPts val="0"/>
              </a:spcBef>
              <a:spcAft>
                <a:spcPts val="0"/>
              </a:spcAft>
              <a:buNone/>
              <a:defRPr sz="2800">
                <a:solidFill>
                  <a:schemeClr val="lt1"/>
                </a:solidFill>
                <a:latin typeface="Google Sans"/>
                <a:ea typeface="Google Sans"/>
                <a:cs typeface="Google Sans"/>
                <a:sym typeface="Google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 Demo/Lab Solution - Presenter - Blue">
  <p:cSld name="CUSTOM_2_4_1_1_1">
    <p:spTree>
      <p:nvGrpSpPr>
        <p:cNvPr id="26" name="Shape 26"/>
        <p:cNvGrpSpPr/>
        <p:nvPr/>
      </p:nvGrpSpPr>
      <p:grpSpPr>
        <a:xfrm>
          <a:off x="0" y="0"/>
          <a:ext cx="0" cy="0"/>
          <a:chOff x="0" y="0"/>
          <a:chExt cx="0" cy="0"/>
        </a:xfrm>
      </p:grpSpPr>
      <p:sp>
        <p:nvSpPr>
          <p:cNvPr id="27" name="Google Shape;27;p5"/>
          <p:cNvSpPr/>
          <p:nvPr/>
        </p:nvSpPr>
        <p:spPr>
          <a:xfrm>
            <a:off x="0" y="0"/>
            <a:ext cx="18288000" cy="10296600"/>
          </a:xfrm>
          <a:prstGeom prst="rect">
            <a:avLst/>
          </a:prstGeom>
          <a:solidFill>
            <a:schemeClr val="accent3"/>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28" name="Google Shape;28;p5"/>
          <p:cNvPicPr preferRelativeResize="0"/>
          <p:nvPr/>
        </p:nvPicPr>
        <p:blipFill>
          <a:blip r:embed="rId2">
            <a:alphaModFix/>
          </a:blip>
          <a:stretch>
            <a:fillRect/>
          </a:stretch>
        </p:blipFill>
        <p:spPr>
          <a:xfrm>
            <a:off x="1" y="0"/>
            <a:ext cx="18288000" cy="10287000"/>
          </a:xfrm>
          <a:prstGeom prst="rect">
            <a:avLst/>
          </a:prstGeom>
          <a:noFill/>
          <a:ln>
            <a:noFill/>
          </a:ln>
        </p:spPr>
      </p:pic>
      <p:sp>
        <p:nvSpPr>
          <p:cNvPr id="29" name="Google Shape;29;p5"/>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0" name="Google Shape;30;p5"/>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1" name="Google Shape;31;p5"/>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2" name="Google Shape;32;p5"/>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b - Demo/Lab Solution - Presenter  - Yellow">
  <p:cSld name="CUSTOM_2_4_1_1_1_3">
    <p:spTree>
      <p:nvGrpSpPr>
        <p:cNvPr id="33" name="Shape 33"/>
        <p:cNvGrpSpPr/>
        <p:nvPr/>
      </p:nvGrpSpPr>
      <p:grpSpPr>
        <a:xfrm>
          <a:off x="0" y="0"/>
          <a:ext cx="0" cy="0"/>
          <a:chOff x="0" y="0"/>
          <a:chExt cx="0" cy="0"/>
        </a:xfrm>
      </p:grpSpPr>
      <p:sp>
        <p:nvSpPr>
          <p:cNvPr id="34" name="Google Shape;34;p6"/>
          <p:cNvSpPr/>
          <p:nvPr/>
        </p:nvSpPr>
        <p:spPr>
          <a:xfrm>
            <a:off x="0" y="0"/>
            <a:ext cx="18288000" cy="10296600"/>
          </a:xfrm>
          <a:prstGeom prst="rect">
            <a:avLst/>
          </a:prstGeom>
          <a:solidFill>
            <a:schemeClr val="accent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35" name="Google Shape;35;p6"/>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36" name="Google Shape;36;p6"/>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37" name="Google Shape;37;p6"/>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38" name="Google Shape;38;p6"/>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39" name="Google Shape;39;p6"/>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c - Demo/Lab Solution - Presenter - Green">
  <p:cSld name="CUSTOM_2_4_1_1_1_3_1">
    <p:spTree>
      <p:nvGrpSpPr>
        <p:cNvPr id="40" name="Shape 40"/>
        <p:cNvGrpSpPr/>
        <p:nvPr/>
      </p:nvGrpSpPr>
      <p:grpSpPr>
        <a:xfrm>
          <a:off x="0" y="0"/>
          <a:ext cx="0" cy="0"/>
          <a:chOff x="0" y="0"/>
          <a:chExt cx="0" cy="0"/>
        </a:xfrm>
      </p:grpSpPr>
      <p:sp>
        <p:nvSpPr>
          <p:cNvPr id="41" name="Google Shape;41;p7"/>
          <p:cNvSpPr/>
          <p:nvPr/>
        </p:nvSpPr>
        <p:spPr>
          <a:xfrm>
            <a:off x="0" y="0"/>
            <a:ext cx="18288000" cy="102966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42" name="Google Shape;42;p7"/>
          <p:cNvPicPr preferRelativeResize="0"/>
          <p:nvPr/>
        </p:nvPicPr>
        <p:blipFill>
          <a:blip r:embed="rId2">
            <a:alphaModFix/>
          </a:blip>
          <a:stretch>
            <a:fillRect/>
          </a:stretch>
        </p:blipFill>
        <p:spPr>
          <a:xfrm>
            <a:off x="0" y="4800"/>
            <a:ext cx="18288000" cy="10287000"/>
          </a:xfrm>
          <a:prstGeom prst="rect">
            <a:avLst/>
          </a:prstGeom>
          <a:noFill/>
          <a:ln>
            <a:noFill/>
          </a:ln>
        </p:spPr>
      </p:pic>
      <p:sp>
        <p:nvSpPr>
          <p:cNvPr id="43" name="Google Shape;43;p7"/>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rgbClr val="FFFFFF"/>
                </a:solidFill>
                <a:latin typeface="Google Sans"/>
                <a:ea typeface="Google Sans"/>
                <a:cs typeface="Google Sans"/>
                <a:sym typeface="Google Sans"/>
              </a:defRPr>
            </a:lvl1pPr>
            <a:lvl2pPr lvl="1" rtl="0">
              <a:spcBef>
                <a:spcPts val="0"/>
              </a:spcBef>
              <a:spcAft>
                <a:spcPts val="0"/>
              </a:spcAft>
              <a:buNone/>
              <a:defRPr sz="3600">
                <a:solidFill>
                  <a:srgbClr val="FFFFFF"/>
                </a:solidFill>
                <a:latin typeface="Google Sans"/>
                <a:ea typeface="Google Sans"/>
                <a:cs typeface="Google Sans"/>
                <a:sym typeface="Google Sans"/>
              </a:defRPr>
            </a:lvl2pPr>
            <a:lvl3pPr lvl="2" rtl="0">
              <a:spcBef>
                <a:spcPts val="0"/>
              </a:spcBef>
              <a:spcAft>
                <a:spcPts val="0"/>
              </a:spcAft>
              <a:buNone/>
              <a:defRPr sz="3600">
                <a:solidFill>
                  <a:srgbClr val="FFFFFF"/>
                </a:solidFill>
                <a:latin typeface="Google Sans"/>
                <a:ea typeface="Google Sans"/>
                <a:cs typeface="Google Sans"/>
                <a:sym typeface="Google Sans"/>
              </a:defRPr>
            </a:lvl3pPr>
            <a:lvl4pPr lvl="3" rtl="0">
              <a:spcBef>
                <a:spcPts val="0"/>
              </a:spcBef>
              <a:spcAft>
                <a:spcPts val="0"/>
              </a:spcAft>
              <a:buNone/>
              <a:defRPr sz="3600">
                <a:solidFill>
                  <a:srgbClr val="FFFFFF"/>
                </a:solidFill>
                <a:latin typeface="Google Sans"/>
                <a:ea typeface="Google Sans"/>
                <a:cs typeface="Google Sans"/>
                <a:sym typeface="Google Sans"/>
              </a:defRPr>
            </a:lvl4pPr>
            <a:lvl5pPr lvl="4" rtl="0">
              <a:spcBef>
                <a:spcPts val="0"/>
              </a:spcBef>
              <a:spcAft>
                <a:spcPts val="0"/>
              </a:spcAft>
              <a:buNone/>
              <a:defRPr sz="3600">
                <a:solidFill>
                  <a:srgbClr val="FFFFFF"/>
                </a:solidFill>
                <a:latin typeface="Google Sans"/>
                <a:ea typeface="Google Sans"/>
                <a:cs typeface="Google Sans"/>
                <a:sym typeface="Google Sans"/>
              </a:defRPr>
            </a:lvl5pPr>
            <a:lvl6pPr lvl="5" rtl="0">
              <a:spcBef>
                <a:spcPts val="0"/>
              </a:spcBef>
              <a:spcAft>
                <a:spcPts val="0"/>
              </a:spcAft>
              <a:buNone/>
              <a:defRPr sz="3600">
                <a:solidFill>
                  <a:srgbClr val="FFFFFF"/>
                </a:solidFill>
                <a:latin typeface="Google Sans"/>
                <a:ea typeface="Google Sans"/>
                <a:cs typeface="Google Sans"/>
                <a:sym typeface="Google Sans"/>
              </a:defRPr>
            </a:lvl6pPr>
            <a:lvl7pPr lvl="6" rtl="0">
              <a:spcBef>
                <a:spcPts val="0"/>
              </a:spcBef>
              <a:spcAft>
                <a:spcPts val="0"/>
              </a:spcAft>
              <a:buNone/>
              <a:defRPr sz="3600">
                <a:solidFill>
                  <a:srgbClr val="FFFFFF"/>
                </a:solidFill>
                <a:latin typeface="Google Sans"/>
                <a:ea typeface="Google Sans"/>
                <a:cs typeface="Google Sans"/>
                <a:sym typeface="Google Sans"/>
              </a:defRPr>
            </a:lvl7pPr>
            <a:lvl8pPr lvl="7" rtl="0">
              <a:spcBef>
                <a:spcPts val="0"/>
              </a:spcBef>
              <a:spcAft>
                <a:spcPts val="0"/>
              </a:spcAft>
              <a:buNone/>
              <a:defRPr sz="3600">
                <a:solidFill>
                  <a:srgbClr val="FFFFFF"/>
                </a:solidFill>
                <a:latin typeface="Google Sans"/>
                <a:ea typeface="Google Sans"/>
                <a:cs typeface="Google Sans"/>
                <a:sym typeface="Google Sans"/>
              </a:defRPr>
            </a:lvl8pPr>
            <a:lvl9pPr lvl="8" rtl="0">
              <a:spcBef>
                <a:spcPts val="0"/>
              </a:spcBef>
              <a:spcAft>
                <a:spcPts val="0"/>
              </a:spcAft>
              <a:buNone/>
              <a:defRPr sz="3600">
                <a:solidFill>
                  <a:srgbClr val="FFFFFF"/>
                </a:solidFill>
                <a:latin typeface="Google Sans"/>
                <a:ea typeface="Google Sans"/>
                <a:cs typeface="Google Sans"/>
                <a:sym typeface="Google Sans"/>
              </a:defRPr>
            </a:lvl9pPr>
          </a:lstStyle>
          <a:p/>
        </p:txBody>
      </p:sp>
      <p:sp>
        <p:nvSpPr>
          <p:cNvPr id="44" name="Google Shape;44;p7"/>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45" name="Google Shape;45;p7"/>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rgbClr val="FFFFFF"/>
                </a:solidFill>
                <a:latin typeface="Google Sans"/>
                <a:ea typeface="Google Sans"/>
                <a:cs typeface="Google Sans"/>
                <a:sym typeface="Google Sans"/>
              </a:defRPr>
            </a:lvl1pPr>
            <a:lvl2pPr lvl="1" rtl="0">
              <a:spcBef>
                <a:spcPts val="0"/>
              </a:spcBef>
              <a:spcAft>
                <a:spcPts val="0"/>
              </a:spcAft>
              <a:buNone/>
              <a:defRPr sz="6000">
                <a:solidFill>
                  <a:srgbClr val="FFFFFF"/>
                </a:solidFill>
                <a:latin typeface="Google Sans"/>
                <a:ea typeface="Google Sans"/>
                <a:cs typeface="Google Sans"/>
                <a:sym typeface="Google Sans"/>
              </a:defRPr>
            </a:lvl2pPr>
            <a:lvl3pPr lvl="2" rtl="0">
              <a:spcBef>
                <a:spcPts val="0"/>
              </a:spcBef>
              <a:spcAft>
                <a:spcPts val="0"/>
              </a:spcAft>
              <a:buNone/>
              <a:defRPr sz="6000">
                <a:solidFill>
                  <a:srgbClr val="FFFFFF"/>
                </a:solidFill>
                <a:latin typeface="Google Sans"/>
                <a:ea typeface="Google Sans"/>
                <a:cs typeface="Google Sans"/>
                <a:sym typeface="Google Sans"/>
              </a:defRPr>
            </a:lvl3pPr>
            <a:lvl4pPr lvl="3" rtl="0">
              <a:spcBef>
                <a:spcPts val="0"/>
              </a:spcBef>
              <a:spcAft>
                <a:spcPts val="0"/>
              </a:spcAft>
              <a:buNone/>
              <a:defRPr sz="6000">
                <a:solidFill>
                  <a:srgbClr val="FFFFFF"/>
                </a:solidFill>
                <a:latin typeface="Google Sans"/>
                <a:ea typeface="Google Sans"/>
                <a:cs typeface="Google Sans"/>
                <a:sym typeface="Google Sans"/>
              </a:defRPr>
            </a:lvl4pPr>
            <a:lvl5pPr lvl="4" rtl="0">
              <a:spcBef>
                <a:spcPts val="0"/>
              </a:spcBef>
              <a:spcAft>
                <a:spcPts val="0"/>
              </a:spcAft>
              <a:buNone/>
              <a:defRPr sz="6000">
                <a:solidFill>
                  <a:srgbClr val="FFFFFF"/>
                </a:solidFill>
                <a:latin typeface="Google Sans"/>
                <a:ea typeface="Google Sans"/>
                <a:cs typeface="Google Sans"/>
                <a:sym typeface="Google Sans"/>
              </a:defRPr>
            </a:lvl5pPr>
            <a:lvl6pPr lvl="5" rtl="0">
              <a:spcBef>
                <a:spcPts val="0"/>
              </a:spcBef>
              <a:spcAft>
                <a:spcPts val="0"/>
              </a:spcAft>
              <a:buNone/>
              <a:defRPr sz="6000">
                <a:solidFill>
                  <a:srgbClr val="FFFFFF"/>
                </a:solidFill>
                <a:latin typeface="Google Sans"/>
                <a:ea typeface="Google Sans"/>
                <a:cs typeface="Google Sans"/>
                <a:sym typeface="Google Sans"/>
              </a:defRPr>
            </a:lvl6pPr>
            <a:lvl7pPr lvl="6" rtl="0">
              <a:spcBef>
                <a:spcPts val="0"/>
              </a:spcBef>
              <a:spcAft>
                <a:spcPts val="0"/>
              </a:spcAft>
              <a:buNone/>
              <a:defRPr sz="6000">
                <a:solidFill>
                  <a:srgbClr val="FFFFFF"/>
                </a:solidFill>
                <a:latin typeface="Google Sans"/>
                <a:ea typeface="Google Sans"/>
                <a:cs typeface="Google Sans"/>
                <a:sym typeface="Google Sans"/>
              </a:defRPr>
            </a:lvl7pPr>
            <a:lvl8pPr lvl="7" rtl="0">
              <a:spcBef>
                <a:spcPts val="0"/>
              </a:spcBef>
              <a:spcAft>
                <a:spcPts val="0"/>
              </a:spcAft>
              <a:buNone/>
              <a:defRPr sz="6000">
                <a:solidFill>
                  <a:srgbClr val="FFFFFF"/>
                </a:solidFill>
                <a:latin typeface="Google Sans"/>
                <a:ea typeface="Google Sans"/>
                <a:cs typeface="Google Sans"/>
                <a:sym typeface="Google Sans"/>
              </a:defRPr>
            </a:lvl8pPr>
            <a:lvl9pPr lvl="8" rtl="0">
              <a:spcBef>
                <a:spcPts val="0"/>
              </a:spcBef>
              <a:spcAft>
                <a:spcPts val="0"/>
              </a:spcAft>
              <a:buNone/>
              <a:defRPr sz="6000">
                <a:solidFill>
                  <a:srgbClr val="FFFFFF"/>
                </a:solidFill>
                <a:latin typeface="Google Sans"/>
                <a:ea typeface="Google Sans"/>
                <a:cs typeface="Google Sans"/>
                <a:sym typeface="Google Sans"/>
              </a:defRPr>
            </a:lvl9pPr>
          </a:lstStyle>
          <a:p/>
        </p:txBody>
      </p:sp>
      <p:cxnSp>
        <p:nvCxnSpPr>
          <p:cNvPr id="46" name="Google Shape;46;p7"/>
          <p:cNvCxnSpPr/>
          <p:nvPr/>
        </p:nvCxnSpPr>
        <p:spPr>
          <a:xfrm>
            <a:off x="1743427" y="4011224"/>
            <a:ext cx="857400" cy="0"/>
          </a:xfrm>
          <a:prstGeom prst="straightConnector1">
            <a:avLst/>
          </a:prstGeom>
          <a:noFill/>
          <a:ln cap="flat" cmpd="sng" w="38100">
            <a:solidFill>
              <a:srgbClr val="FFFFFF"/>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a - Lab Intro - Presenter - Blue">
  <p:cSld name="CUSTOM_2_4_1_1_1_2">
    <p:spTree>
      <p:nvGrpSpPr>
        <p:cNvPr id="47" name="Shape 47"/>
        <p:cNvGrpSpPr/>
        <p:nvPr/>
      </p:nvGrpSpPr>
      <p:grpSpPr>
        <a:xfrm>
          <a:off x="0" y="0"/>
          <a:ext cx="0" cy="0"/>
          <a:chOff x="0" y="0"/>
          <a:chExt cx="0" cy="0"/>
        </a:xfrm>
      </p:grpSpPr>
      <p:pic>
        <p:nvPicPr>
          <p:cNvPr id="48" name="Google Shape;48;p8"/>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49" name="Google Shape;49;p8"/>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0" name="Google Shape;50;p8"/>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1" name="Google Shape;51;p8"/>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2" name="Google Shape;52;p8"/>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b - Lab Intro - Presenter - Yellow">
  <p:cSld name="CUSTOM_2_4_1_1_1_2_2">
    <p:spTree>
      <p:nvGrpSpPr>
        <p:cNvPr id="53" name="Shape 53"/>
        <p:cNvGrpSpPr/>
        <p:nvPr/>
      </p:nvGrpSpPr>
      <p:grpSpPr>
        <a:xfrm>
          <a:off x="0" y="0"/>
          <a:ext cx="0" cy="0"/>
          <a:chOff x="0" y="0"/>
          <a:chExt cx="0" cy="0"/>
        </a:xfrm>
      </p:grpSpPr>
      <p:pic>
        <p:nvPicPr>
          <p:cNvPr id="54" name="Google Shape;54;p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55" name="Google Shape;55;p9"/>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56" name="Google Shape;56;p9"/>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57" name="Google Shape;57;p9"/>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58" name="Google Shape;58;p9"/>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c - Lab Intro - Presenter - Green">
  <p:cSld name="CUSTOM_2_4_1_1_1_2_2_1">
    <p:spTree>
      <p:nvGrpSpPr>
        <p:cNvPr id="59" name="Shape 59"/>
        <p:cNvGrpSpPr/>
        <p:nvPr/>
      </p:nvGrpSpPr>
      <p:grpSpPr>
        <a:xfrm>
          <a:off x="0" y="0"/>
          <a:ext cx="0" cy="0"/>
          <a:chOff x="0" y="0"/>
          <a:chExt cx="0" cy="0"/>
        </a:xfrm>
      </p:grpSpPr>
      <p:pic>
        <p:nvPicPr>
          <p:cNvPr id="60" name="Google Shape;60;p10"/>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10"/>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2" name="Google Shape;62;p10"/>
          <p:cNvSpPr txBox="1"/>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6000">
              <a:solidFill>
                <a:srgbClr val="202124"/>
              </a:solidFill>
              <a:latin typeface="Google Sans"/>
              <a:ea typeface="Google Sans"/>
              <a:cs typeface="Google Sans"/>
              <a:sym typeface="Google Sans"/>
            </a:endParaRPr>
          </a:p>
        </p:txBody>
      </p:sp>
      <p:sp>
        <p:nvSpPr>
          <p:cNvPr id="63" name="Google Shape;63;p10"/>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4" name="Google Shape;64;p10"/>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c - Lab Intro - Full">
  <p:cSld name="CUSTOM_2_4_1_1_1_2_1">
    <p:spTree>
      <p:nvGrpSpPr>
        <p:cNvPr id="65" name="Shape 65"/>
        <p:cNvGrpSpPr/>
        <p:nvPr/>
      </p:nvGrpSpPr>
      <p:grpSpPr>
        <a:xfrm>
          <a:off x="0" y="0"/>
          <a:ext cx="0" cy="0"/>
          <a:chOff x="0" y="0"/>
          <a:chExt cx="0" cy="0"/>
        </a:xfrm>
      </p:grpSpPr>
      <p:sp>
        <p:nvSpPr>
          <p:cNvPr id="66" name="Google Shape;66;p11"/>
          <p:cNvSpPr txBox="1"/>
          <p:nvPr>
            <p:ph idx="1" type="subTitle"/>
          </p:nvPr>
        </p:nvSpPr>
        <p:spPr>
          <a:xfrm>
            <a:off x="1724150" y="51691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67" name="Google Shape;67;p11"/>
          <p:cNvSpPr txBox="1"/>
          <p:nvPr>
            <p:ph type="title"/>
          </p:nvPr>
        </p:nvSpPr>
        <p:spPr>
          <a:xfrm>
            <a:off x="1672475" y="41484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6000">
                <a:solidFill>
                  <a:schemeClr val="dk1"/>
                </a:solidFill>
                <a:latin typeface="Google Sans"/>
                <a:ea typeface="Google Sans"/>
                <a:cs typeface="Google Sans"/>
                <a:sym typeface="Google Sans"/>
              </a:defRPr>
            </a:lvl1pPr>
            <a:lvl2pPr lvl="1" rtl="0">
              <a:spcBef>
                <a:spcPts val="0"/>
              </a:spcBef>
              <a:spcAft>
                <a:spcPts val="0"/>
              </a:spcAft>
              <a:buNone/>
              <a:defRPr sz="6000">
                <a:solidFill>
                  <a:schemeClr val="dk1"/>
                </a:solidFill>
                <a:latin typeface="Google Sans"/>
                <a:ea typeface="Google Sans"/>
                <a:cs typeface="Google Sans"/>
                <a:sym typeface="Google Sans"/>
              </a:defRPr>
            </a:lvl2pPr>
            <a:lvl3pPr lvl="2" rtl="0">
              <a:spcBef>
                <a:spcPts val="0"/>
              </a:spcBef>
              <a:spcAft>
                <a:spcPts val="0"/>
              </a:spcAft>
              <a:buNone/>
              <a:defRPr sz="6000">
                <a:solidFill>
                  <a:schemeClr val="dk1"/>
                </a:solidFill>
                <a:latin typeface="Google Sans"/>
                <a:ea typeface="Google Sans"/>
                <a:cs typeface="Google Sans"/>
                <a:sym typeface="Google Sans"/>
              </a:defRPr>
            </a:lvl3pPr>
            <a:lvl4pPr lvl="3" rtl="0">
              <a:spcBef>
                <a:spcPts val="0"/>
              </a:spcBef>
              <a:spcAft>
                <a:spcPts val="0"/>
              </a:spcAft>
              <a:buNone/>
              <a:defRPr sz="6000">
                <a:solidFill>
                  <a:schemeClr val="dk1"/>
                </a:solidFill>
                <a:latin typeface="Google Sans"/>
                <a:ea typeface="Google Sans"/>
                <a:cs typeface="Google Sans"/>
                <a:sym typeface="Google Sans"/>
              </a:defRPr>
            </a:lvl4pPr>
            <a:lvl5pPr lvl="4" rtl="0">
              <a:spcBef>
                <a:spcPts val="0"/>
              </a:spcBef>
              <a:spcAft>
                <a:spcPts val="0"/>
              </a:spcAft>
              <a:buNone/>
              <a:defRPr sz="6000">
                <a:solidFill>
                  <a:schemeClr val="dk1"/>
                </a:solidFill>
                <a:latin typeface="Google Sans"/>
                <a:ea typeface="Google Sans"/>
                <a:cs typeface="Google Sans"/>
                <a:sym typeface="Google Sans"/>
              </a:defRPr>
            </a:lvl5pPr>
            <a:lvl6pPr lvl="5" rtl="0">
              <a:spcBef>
                <a:spcPts val="0"/>
              </a:spcBef>
              <a:spcAft>
                <a:spcPts val="0"/>
              </a:spcAft>
              <a:buNone/>
              <a:defRPr sz="6000">
                <a:solidFill>
                  <a:schemeClr val="dk1"/>
                </a:solidFill>
                <a:latin typeface="Google Sans"/>
                <a:ea typeface="Google Sans"/>
                <a:cs typeface="Google Sans"/>
                <a:sym typeface="Google Sans"/>
              </a:defRPr>
            </a:lvl6pPr>
            <a:lvl7pPr lvl="6" rtl="0">
              <a:spcBef>
                <a:spcPts val="0"/>
              </a:spcBef>
              <a:spcAft>
                <a:spcPts val="0"/>
              </a:spcAft>
              <a:buNone/>
              <a:defRPr sz="6000">
                <a:solidFill>
                  <a:schemeClr val="dk1"/>
                </a:solidFill>
                <a:latin typeface="Google Sans"/>
                <a:ea typeface="Google Sans"/>
                <a:cs typeface="Google Sans"/>
                <a:sym typeface="Google Sans"/>
              </a:defRPr>
            </a:lvl7pPr>
            <a:lvl8pPr lvl="7" rtl="0">
              <a:spcBef>
                <a:spcPts val="0"/>
              </a:spcBef>
              <a:spcAft>
                <a:spcPts val="0"/>
              </a:spcAft>
              <a:buNone/>
              <a:defRPr sz="6000">
                <a:solidFill>
                  <a:schemeClr val="dk1"/>
                </a:solidFill>
                <a:latin typeface="Google Sans"/>
                <a:ea typeface="Google Sans"/>
                <a:cs typeface="Google Sans"/>
                <a:sym typeface="Google Sans"/>
              </a:defRPr>
            </a:lvl8pPr>
            <a:lvl9pPr lvl="8" rtl="0">
              <a:spcBef>
                <a:spcPts val="0"/>
              </a:spcBef>
              <a:spcAft>
                <a:spcPts val="0"/>
              </a:spcAft>
              <a:buNone/>
              <a:defRPr sz="6000">
                <a:solidFill>
                  <a:schemeClr val="dk1"/>
                </a:solidFill>
                <a:latin typeface="Google Sans"/>
                <a:ea typeface="Google Sans"/>
                <a:cs typeface="Google Sans"/>
                <a:sym typeface="Google Sans"/>
              </a:defRPr>
            </a:lvl9pPr>
          </a:lstStyle>
          <a:p/>
        </p:txBody>
      </p:sp>
      <p:cxnSp>
        <p:nvCxnSpPr>
          <p:cNvPr id="68" name="Google Shape;68;p11"/>
          <p:cNvCxnSpPr/>
          <p:nvPr/>
        </p:nvCxnSpPr>
        <p:spPr>
          <a:xfrm>
            <a:off x="1743427" y="4011224"/>
            <a:ext cx="857400" cy="0"/>
          </a:xfrm>
          <a:prstGeom prst="straightConnector1">
            <a:avLst/>
          </a:prstGeom>
          <a:noFill/>
          <a:ln cap="flat" cmpd="sng" w="38100">
            <a:solidFill>
              <a:srgbClr val="4285F4"/>
            </a:solidFill>
            <a:prstDash val="solid"/>
            <a:round/>
            <a:headEnd len="med" w="med" type="none"/>
            <a:tailEnd len="med" w="med" type="none"/>
          </a:ln>
        </p:spPr>
      </p:cxnSp>
      <p:sp>
        <p:nvSpPr>
          <p:cNvPr id="69" name="Google Shape;69;p11"/>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290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2900"/>
              </a:spcBef>
              <a:spcAft>
                <a:spcPts val="290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a - Agenda/Learn how to... - Presenter">
  <p:cSld name="CUSTOM_2_4_1_1_2">
    <p:spTree>
      <p:nvGrpSpPr>
        <p:cNvPr id="70" name="Shape 70"/>
        <p:cNvGrpSpPr/>
        <p:nvPr/>
      </p:nvGrpSpPr>
      <p:grpSpPr>
        <a:xfrm>
          <a:off x="0" y="0"/>
          <a:ext cx="0" cy="0"/>
          <a:chOff x="0" y="0"/>
          <a:chExt cx="0" cy="0"/>
        </a:xfrm>
      </p:grpSpPr>
      <p:pic>
        <p:nvPicPr>
          <p:cNvPr id="71" name="Google Shape;71;p1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72" name="Google Shape;72;p1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3" name="Google Shape;73;p1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74" name="Google Shape;74;p12"/>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b - Agenda/Learn how to... - Full">
  <p:cSld name="CUSTOM_2_4_1_1_1_1">
    <p:spTree>
      <p:nvGrpSpPr>
        <p:cNvPr id="75" name="Shape 75"/>
        <p:cNvGrpSpPr/>
        <p:nvPr/>
      </p:nvGrpSpPr>
      <p:grpSpPr>
        <a:xfrm>
          <a:off x="0" y="0"/>
          <a:ext cx="0" cy="0"/>
          <a:chOff x="0" y="0"/>
          <a:chExt cx="0" cy="0"/>
        </a:xfrm>
      </p:grpSpPr>
      <p:sp>
        <p:nvSpPr>
          <p:cNvPr id="76" name="Google Shape;76;p13"/>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77" name="Google Shape;77;p1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78" name="Google Shape;78;p13"/>
          <p:cNvSpPr txBox="1"/>
          <p:nvPr>
            <p:ph idx="2" type="body"/>
          </p:nvPr>
        </p:nvSpPr>
        <p:spPr>
          <a:xfrm>
            <a:off x="9158975" y="2432125"/>
            <a:ext cx="74289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sp>
        <p:nvSpPr>
          <p:cNvPr id="79" name="Google Shape;79;p13"/>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c - Agenda/Learn how to... - Journal ">
  <p:cSld name="CUSTOM_2_4_1_1_1_1_1">
    <p:spTree>
      <p:nvGrpSpPr>
        <p:cNvPr id="80" name="Shape 80"/>
        <p:cNvGrpSpPr/>
        <p:nvPr/>
      </p:nvGrpSpPr>
      <p:grpSpPr>
        <a:xfrm>
          <a:off x="0" y="0"/>
          <a:ext cx="0" cy="0"/>
          <a:chOff x="0" y="0"/>
          <a:chExt cx="0" cy="0"/>
        </a:xfrm>
      </p:grpSpPr>
      <p:sp>
        <p:nvSpPr>
          <p:cNvPr id="81" name="Google Shape;81;p14"/>
          <p:cNvSpPr txBox="1"/>
          <p:nvPr>
            <p:ph idx="1" type="body"/>
          </p:nvPr>
        </p:nvSpPr>
        <p:spPr>
          <a:xfrm>
            <a:off x="1701275" y="2432125"/>
            <a:ext cx="7319700" cy="6775200"/>
          </a:xfrm>
          <a:prstGeom prst="rect">
            <a:avLst/>
          </a:prstGeom>
          <a:noFill/>
          <a:ln>
            <a:noFill/>
          </a:ln>
        </p:spPr>
        <p:txBody>
          <a:bodyPr anchorCtr="0" anchor="t" bIns="91425" lIns="91425" spcFirstLastPara="1" rIns="91425" wrap="square" tIns="91425">
            <a:noAutofit/>
          </a:bodyPr>
          <a:lstStyle>
            <a:lvl1pPr indent="-457200" lvl="0" marL="457200" rtl="0">
              <a:lnSpc>
                <a:spcPct val="100000"/>
              </a:lnSpc>
              <a:spcBef>
                <a:spcPts val="0"/>
              </a:spcBef>
              <a:spcAft>
                <a:spcPts val="0"/>
              </a:spcAft>
              <a:buClr>
                <a:schemeClr val="lt1"/>
              </a:buClr>
              <a:buSzPts val="3600"/>
              <a:buFont typeface="Roboto"/>
              <a:buChar char="●"/>
              <a:defRPr sz="3600">
                <a:solidFill>
                  <a:schemeClr val="lt1"/>
                </a:solidFill>
                <a:latin typeface="Roboto"/>
                <a:ea typeface="Roboto"/>
                <a:cs typeface="Roboto"/>
                <a:sym typeface="Roboto"/>
              </a:defRPr>
            </a:lvl1pPr>
            <a:lvl2pPr indent="-457200" lvl="1" marL="914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2pPr>
            <a:lvl3pPr indent="-457200" lvl="2" marL="1371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3pPr>
            <a:lvl4pPr indent="-457200" lvl="3" marL="18288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4pPr>
            <a:lvl5pPr indent="-457200" lvl="4" marL="22860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5pPr>
            <a:lvl6pPr indent="-457200" lvl="5" marL="27432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6pPr>
            <a:lvl7pPr indent="-457200" lvl="6" marL="32004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7pPr>
            <a:lvl8pPr indent="-457200" lvl="7" marL="3657600" rtl="0">
              <a:lnSpc>
                <a:spcPct val="100000"/>
              </a:lnSpc>
              <a:spcBef>
                <a:spcPts val="2900"/>
              </a:spcBef>
              <a:spcAft>
                <a:spcPts val="0"/>
              </a:spcAft>
              <a:buClr>
                <a:schemeClr val="lt1"/>
              </a:buClr>
              <a:buSzPts val="3600"/>
              <a:buFont typeface="Roboto"/>
              <a:buChar char="○"/>
              <a:defRPr sz="3600">
                <a:solidFill>
                  <a:schemeClr val="lt1"/>
                </a:solidFill>
                <a:latin typeface="Roboto"/>
                <a:ea typeface="Roboto"/>
                <a:cs typeface="Roboto"/>
                <a:sym typeface="Roboto"/>
              </a:defRPr>
            </a:lvl8pPr>
            <a:lvl9pPr indent="-457200" lvl="8" marL="4114800" rtl="0">
              <a:lnSpc>
                <a:spcPct val="100000"/>
              </a:lnSpc>
              <a:spcBef>
                <a:spcPts val="2900"/>
              </a:spcBef>
              <a:spcAft>
                <a:spcPts val="2900"/>
              </a:spcAft>
              <a:buClr>
                <a:schemeClr val="lt1"/>
              </a:buClr>
              <a:buSzPts val="3600"/>
              <a:buFont typeface="Roboto"/>
              <a:buChar char="■"/>
              <a:defRPr sz="3600">
                <a:solidFill>
                  <a:schemeClr val="lt1"/>
                </a:solidFill>
                <a:latin typeface="Roboto"/>
                <a:ea typeface="Roboto"/>
                <a:cs typeface="Roboto"/>
                <a:sym typeface="Roboto"/>
              </a:defRPr>
            </a:lvl9pPr>
          </a:lstStyle>
          <a:p/>
        </p:txBody>
      </p:sp>
      <p:cxnSp>
        <p:nvCxnSpPr>
          <p:cNvPr id="82" name="Google Shape;82;p14"/>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3" name="Google Shape;83;p14"/>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pic>
        <p:nvPicPr>
          <p:cNvPr id="84" name="Google Shape;84;p14"/>
          <p:cNvPicPr preferRelativeResize="0"/>
          <p:nvPr/>
        </p:nvPicPr>
        <p:blipFill>
          <a:blip r:embed="rId2">
            <a:alphaModFix/>
          </a:blip>
          <a:stretch>
            <a:fillRect/>
          </a:stretch>
        </p:blipFill>
        <p:spPr>
          <a:xfrm>
            <a:off x="10118401" y="2312725"/>
            <a:ext cx="5661547" cy="566154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c - Circle - Title">
  <p:cSld name="CUSTOM_3_1_1_1_1">
    <p:spTree>
      <p:nvGrpSpPr>
        <p:cNvPr id="85" name="Shape 85"/>
        <p:cNvGrpSpPr/>
        <p:nvPr/>
      </p:nvGrpSpPr>
      <p:grpSpPr>
        <a:xfrm>
          <a:off x="0" y="0"/>
          <a:ext cx="0" cy="0"/>
          <a:chOff x="0" y="0"/>
          <a:chExt cx="0" cy="0"/>
        </a:xfrm>
      </p:grpSpPr>
      <p:pic>
        <p:nvPicPr>
          <p:cNvPr id="86" name="Google Shape;86;p15"/>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87" name="Google Shape;87;p15"/>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88" name="Google Shape;88;p15"/>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 Pesenter - Title">
  <p:cSld name="CUSTOM_3_1_1_1_1_2">
    <p:spTree>
      <p:nvGrpSpPr>
        <p:cNvPr id="89" name="Shape 89"/>
        <p:cNvGrpSpPr/>
        <p:nvPr/>
      </p:nvGrpSpPr>
      <p:grpSpPr>
        <a:xfrm>
          <a:off x="0" y="0"/>
          <a:ext cx="0" cy="0"/>
          <a:chOff x="0" y="0"/>
          <a:chExt cx="0" cy="0"/>
        </a:xfrm>
      </p:grpSpPr>
      <p:pic>
        <p:nvPicPr>
          <p:cNvPr id="90" name="Google Shape;90;p16"/>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91" name="Google Shape;91;p16"/>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2" name="Google Shape;92;p16"/>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b - Full - Title">
  <p:cSld name="CUSTOM_3_1_1_1_1_1">
    <p:spTree>
      <p:nvGrpSpPr>
        <p:cNvPr id="93" name="Shape 93"/>
        <p:cNvGrpSpPr/>
        <p:nvPr/>
      </p:nvGrpSpPr>
      <p:grpSpPr>
        <a:xfrm>
          <a:off x="0" y="0"/>
          <a:ext cx="0" cy="0"/>
          <a:chOff x="0" y="0"/>
          <a:chExt cx="0" cy="0"/>
        </a:xfrm>
      </p:grpSpPr>
      <p:cxnSp>
        <p:nvCxnSpPr>
          <p:cNvPr id="94" name="Google Shape;94;p17"/>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95" name="Google Shape;95;p17"/>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 - Circle - Title, Body">
  <p:cSld name="CUSTOM_3_1_1_1_1_4">
    <p:spTree>
      <p:nvGrpSpPr>
        <p:cNvPr id="96" name="Shape 96"/>
        <p:cNvGrpSpPr/>
        <p:nvPr/>
      </p:nvGrpSpPr>
      <p:grpSpPr>
        <a:xfrm>
          <a:off x="0" y="0"/>
          <a:ext cx="0" cy="0"/>
          <a:chOff x="0" y="0"/>
          <a:chExt cx="0" cy="0"/>
        </a:xfrm>
      </p:grpSpPr>
      <p:pic>
        <p:nvPicPr>
          <p:cNvPr id="97" name="Google Shape;97;p18"/>
          <p:cNvPicPr preferRelativeResize="0"/>
          <p:nvPr/>
        </p:nvPicPr>
        <p:blipFill>
          <a:blip r:embed="rId2">
            <a:alphaModFix/>
          </a:blip>
          <a:stretch>
            <a:fillRect/>
          </a:stretch>
        </p:blipFill>
        <p:spPr>
          <a:xfrm>
            <a:off x="-4" y="-2"/>
            <a:ext cx="18288000" cy="10286978"/>
          </a:xfrm>
          <a:prstGeom prst="rect">
            <a:avLst/>
          </a:prstGeom>
          <a:noFill/>
          <a:ln>
            <a:noFill/>
          </a:ln>
        </p:spPr>
      </p:pic>
      <p:sp>
        <p:nvSpPr>
          <p:cNvPr id="98" name="Google Shape;98;p18"/>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99" name="Google Shape;99;p18"/>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0" name="Google Shape;100;p18"/>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 - Presenter - Title, Body">
  <p:cSld name="CUSTOM_3_1_1_1_1_2_2">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103" name="Google Shape;103;p19"/>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4" name="Google Shape;104;p19"/>
          <p:cNvSpPr txBox="1"/>
          <p:nvPr>
            <p:ph idx="1" type="body"/>
          </p:nvPr>
        </p:nvSpPr>
        <p:spPr>
          <a:xfrm>
            <a:off x="1742475" y="2432125"/>
            <a:ext cx="7428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cxnSp>
        <p:nvCxnSpPr>
          <p:cNvPr id="105" name="Google Shape;105;p19"/>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b - Full - Title, Body">
  <p:cSld name="CUSTOM_3_1_1_1_1_1_3">
    <p:spTree>
      <p:nvGrpSpPr>
        <p:cNvPr id="106" name="Shape 106"/>
        <p:cNvGrpSpPr/>
        <p:nvPr/>
      </p:nvGrpSpPr>
      <p:grpSpPr>
        <a:xfrm>
          <a:off x="0" y="0"/>
          <a:ext cx="0" cy="0"/>
          <a:chOff x="0" y="0"/>
          <a:chExt cx="0" cy="0"/>
        </a:xfrm>
      </p:grpSpPr>
      <p:cxnSp>
        <p:nvCxnSpPr>
          <p:cNvPr id="107" name="Google Shape;107;p20"/>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08" name="Google Shape;108;p20"/>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09" name="Google Shape;109;p20"/>
          <p:cNvSpPr txBox="1"/>
          <p:nvPr>
            <p:ph idx="1" type="body"/>
          </p:nvPr>
        </p:nvSpPr>
        <p:spPr>
          <a:xfrm>
            <a:off x="1742475" y="2432125"/>
            <a:ext cx="7251900" cy="6768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 - Circle - Title, Subtitle, Body">
  <p:cSld name="CUSTOM_3_1_1_1_1_3_1">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2">
            <a:alphaModFix/>
          </a:blip>
          <a:stretch>
            <a:fillRect/>
          </a:stretch>
        </p:blipFill>
        <p:spPr>
          <a:xfrm>
            <a:off x="-4" y="-2"/>
            <a:ext cx="18288000" cy="10286978"/>
          </a:xfrm>
          <a:prstGeom prst="rect">
            <a:avLst/>
          </a:prstGeom>
          <a:noFill/>
          <a:ln>
            <a:noFill/>
          </a:ln>
        </p:spPr>
      </p:pic>
      <p:cxnSp>
        <p:nvCxnSpPr>
          <p:cNvPr id="112" name="Google Shape;112;p21"/>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3" name="Google Shape;113;p21"/>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14" name="Google Shape;114;p21"/>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15" name="Google Shape;115;p21"/>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a - Presenter - Title, Subtitle, Body">
  <p:cSld name="CUSTOM_3_1_1_1_1_2_1">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2">
            <a:alphaModFix/>
          </a:blip>
          <a:stretch>
            <a:fillRect/>
          </a:stretch>
        </p:blipFill>
        <p:spPr>
          <a:xfrm>
            <a:off x="0" y="0"/>
            <a:ext cx="18288000" cy="10287000"/>
          </a:xfrm>
          <a:prstGeom prst="rect">
            <a:avLst/>
          </a:prstGeom>
          <a:noFill/>
          <a:ln>
            <a:noFill/>
          </a:ln>
        </p:spPr>
      </p:pic>
      <p:cxnSp>
        <p:nvCxnSpPr>
          <p:cNvPr id="118" name="Google Shape;118;p22"/>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19" name="Google Shape;119;p22"/>
          <p:cNvSpPr txBox="1"/>
          <p:nvPr>
            <p:ph type="title"/>
          </p:nvPr>
        </p:nvSpPr>
        <p:spPr>
          <a:xfrm>
            <a:off x="1672475" y="1154875"/>
            <a:ext cx="74865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0" name="Google Shape;120;p22"/>
          <p:cNvSpPr txBox="1"/>
          <p:nvPr>
            <p:ph idx="1" type="subTitle"/>
          </p:nvPr>
        </p:nvSpPr>
        <p:spPr>
          <a:xfrm>
            <a:off x="1730150" y="2027325"/>
            <a:ext cx="74289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1" name="Google Shape;121;p22"/>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 - Full - Title, Subtitle, Body">
  <p:cSld name="CUSTOM_3_1_1_1_1_1_2">
    <p:spTree>
      <p:nvGrpSpPr>
        <p:cNvPr id="122" name="Shape 122"/>
        <p:cNvGrpSpPr/>
        <p:nvPr/>
      </p:nvGrpSpPr>
      <p:grpSpPr>
        <a:xfrm>
          <a:off x="0" y="0"/>
          <a:ext cx="0" cy="0"/>
          <a:chOff x="0" y="0"/>
          <a:chExt cx="0" cy="0"/>
        </a:xfrm>
      </p:grpSpPr>
      <p:cxnSp>
        <p:nvCxnSpPr>
          <p:cNvPr id="123" name="Google Shape;123;p23"/>
          <p:cNvCxnSpPr/>
          <p:nvPr/>
        </p:nvCxnSpPr>
        <p:spPr>
          <a:xfrm>
            <a:off x="1743427" y="1017624"/>
            <a:ext cx="857400" cy="0"/>
          </a:xfrm>
          <a:prstGeom prst="straightConnector1">
            <a:avLst/>
          </a:prstGeom>
          <a:noFill/>
          <a:ln cap="flat" cmpd="sng" w="38100">
            <a:solidFill>
              <a:srgbClr val="4285F4"/>
            </a:solidFill>
            <a:prstDash val="solid"/>
            <a:round/>
            <a:headEnd len="med" w="med" type="none"/>
            <a:tailEnd len="med" w="med" type="none"/>
          </a:ln>
        </p:spPr>
      </p:cxnSp>
      <p:sp>
        <p:nvSpPr>
          <p:cNvPr id="124" name="Google Shape;124;p23"/>
          <p:cNvSpPr txBox="1"/>
          <p:nvPr>
            <p:ph type="title"/>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chemeClr val="dk1"/>
                </a:solidFill>
                <a:latin typeface="Google Sans"/>
                <a:ea typeface="Google Sans"/>
                <a:cs typeface="Google Sans"/>
                <a:sym typeface="Google Sans"/>
              </a:defRPr>
            </a:lvl1pPr>
            <a:lvl2pPr lvl="1" rtl="0">
              <a:spcBef>
                <a:spcPts val="0"/>
              </a:spcBef>
              <a:spcAft>
                <a:spcPts val="0"/>
              </a:spcAft>
              <a:buNone/>
              <a:defRPr sz="4800">
                <a:solidFill>
                  <a:schemeClr val="dk1"/>
                </a:solidFill>
                <a:latin typeface="Google Sans"/>
                <a:ea typeface="Google Sans"/>
                <a:cs typeface="Google Sans"/>
                <a:sym typeface="Google Sans"/>
              </a:defRPr>
            </a:lvl2pPr>
            <a:lvl3pPr lvl="2" rtl="0">
              <a:spcBef>
                <a:spcPts val="0"/>
              </a:spcBef>
              <a:spcAft>
                <a:spcPts val="0"/>
              </a:spcAft>
              <a:buNone/>
              <a:defRPr sz="4800">
                <a:solidFill>
                  <a:schemeClr val="dk1"/>
                </a:solidFill>
                <a:latin typeface="Google Sans"/>
                <a:ea typeface="Google Sans"/>
                <a:cs typeface="Google Sans"/>
                <a:sym typeface="Google Sans"/>
              </a:defRPr>
            </a:lvl3pPr>
            <a:lvl4pPr lvl="3" rtl="0">
              <a:spcBef>
                <a:spcPts val="0"/>
              </a:spcBef>
              <a:spcAft>
                <a:spcPts val="0"/>
              </a:spcAft>
              <a:buNone/>
              <a:defRPr sz="4800">
                <a:solidFill>
                  <a:schemeClr val="dk1"/>
                </a:solidFill>
                <a:latin typeface="Google Sans"/>
                <a:ea typeface="Google Sans"/>
                <a:cs typeface="Google Sans"/>
                <a:sym typeface="Google Sans"/>
              </a:defRPr>
            </a:lvl4pPr>
            <a:lvl5pPr lvl="4" rtl="0">
              <a:spcBef>
                <a:spcPts val="0"/>
              </a:spcBef>
              <a:spcAft>
                <a:spcPts val="0"/>
              </a:spcAft>
              <a:buNone/>
              <a:defRPr sz="4800">
                <a:solidFill>
                  <a:schemeClr val="dk1"/>
                </a:solidFill>
                <a:latin typeface="Google Sans"/>
                <a:ea typeface="Google Sans"/>
                <a:cs typeface="Google Sans"/>
                <a:sym typeface="Google Sans"/>
              </a:defRPr>
            </a:lvl5pPr>
            <a:lvl6pPr lvl="5" rtl="0">
              <a:spcBef>
                <a:spcPts val="0"/>
              </a:spcBef>
              <a:spcAft>
                <a:spcPts val="0"/>
              </a:spcAft>
              <a:buNone/>
              <a:defRPr sz="4800">
                <a:solidFill>
                  <a:schemeClr val="dk1"/>
                </a:solidFill>
                <a:latin typeface="Google Sans"/>
                <a:ea typeface="Google Sans"/>
                <a:cs typeface="Google Sans"/>
                <a:sym typeface="Google Sans"/>
              </a:defRPr>
            </a:lvl6pPr>
            <a:lvl7pPr lvl="6" rtl="0">
              <a:spcBef>
                <a:spcPts val="0"/>
              </a:spcBef>
              <a:spcAft>
                <a:spcPts val="0"/>
              </a:spcAft>
              <a:buNone/>
              <a:defRPr sz="4800">
                <a:solidFill>
                  <a:schemeClr val="dk1"/>
                </a:solidFill>
                <a:latin typeface="Google Sans"/>
                <a:ea typeface="Google Sans"/>
                <a:cs typeface="Google Sans"/>
                <a:sym typeface="Google Sans"/>
              </a:defRPr>
            </a:lvl7pPr>
            <a:lvl8pPr lvl="7" rtl="0">
              <a:spcBef>
                <a:spcPts val="0"/>
              </a:spcBef>
              <a:spcAft>
                <a:spcPts val="0"/>
              </a:spcAft>
              <a:buNone/>
              <a:defRPr sz="4800">
                <a:solidFill>
                  <a:schemeClr val="dk1"/>
                </a:solidFill>
                <a:latin typeface="Google Sans"/>
                <a:ea typeface="Google Sans"/>
                <a:cs typeface="Google Sans"/>
                <a:sym typeface="Google Sans"/>
              </a:defRPr>
            </a:lvl8pPr>
            <a:lvl9pPr lvl="8" rtl="0">
              <a:spcBef>
                <a:spcPts val="0"/>
              </a:spcBef>
              <a:spcAft>
                <a:spcPts val="0"/>
              </a:spcAft>
              <a:buNone/>
              <a:defRPr sz="4800">
                <a:solidFill>
                  <a:schemeClr val="dk1"/>
                </a:solidFill>
                <a:latin typeface="Google Sans"/>
                <a:ea typeface="Google Sans"/>
                <a:cs typeface="Google Sans"/>
                <a:sym typeface="Google Sans"/>
              </a:defRPr>
            </a:lvl9pPr>
          </a:lstStyle>
          <a:p/>
        </p:txBody>
      </p:sp>
      <p:sp>
        <p:nvSpPr>
          <p:cNvPr id="125" name="Google Shape;125;p23"/>
          <p:cNvSpPr txBox="1"/>
          <p:nvPr>
            <p:ph idx="1" type="subTitle"/>
          </p:nvPr>
        </p:nvSpPr>
        <p:spPr>
          <a:xfrm>
            <a:off x="1730150" y="2027325"/>
            <a:ext cx="14693100" cy="911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600">
                <a:solidFill>
                  <a:schemeClr val="lt1"/>
                </a:solidFill>
                <a:latin typeface="Google Sans"/>
                <a:ea typeface="Google Sans"/>
                <a:cs typeface="Google Sans"/>
                <a:sym typeface="Google Sans"/>
              </a:defRPr>
            </a:lvl1pPr>
            <a:lvl2pPr lvl="1" rtl="0">
              <a:spcBef>
                <a:spcPts val="0"/>
              </a:spcBef>
              <a:spcAft>
                <a:spcPts val="0"/>
              </a:spcAft>
              <a:buNone/>
              <a:defRPr sz="3600">
                <a:solidFill>
                  <a:schemeClr val="lt1"/>
                </a:solidFill>
                <a:latin typeface="Google Sans"/>
                <a:ea typeface="Google Sans"/>
                <a:cs typeface="Google Sans"/>
                <a:sym typeface="Google Sans"/>
              </a:defRPr>
            </a:lvl2pPr>
            <a:lvl3pPr lvl="2" rtl="0">
              <a:spcBef>
                <a:spcPts val="0"/>
              </a:spcBef>
              <a:spcAft>
                <a:spcPts val="0"/>
              </a:spcAft>
              <a:buNone/>
              <a:defRPr sz="3600">
                <a:solidFill>
                  <a:schemeClr val="lt1"/>
                </a:solidFill>
                <a:latin typeface="Google Sans"/>
                <a:ea typeface="Google Sans"/>
                <a:cs typeface="Google Sans"/>
                <a:sym typeface="Google Sans"/>
              </a:defRPr>
            </a:lvl3pPr>
            <a:lvl4pPr lvl="3" rtl="0">
              <a:spcBef>
                <a:spcPts val="0"/>
              </a:spcBef>
              <a:spcAft>
                <a:spcPts val="0"/>
              </a:spcAft>
              <a:buNone/>
              <a:defRPr sz="3600">
                <a:solidFill>
                  <a:schemeClr val="lt1"/>
                </a:solidFill>
                <a:latin typeface="Google Sans"/>
                <a:ea typeface="Google Sans"/>
                <a:cs typeface="Google Sans"/>
                <a:sym typeface="Google Sans"/>
              </a:defRPr>
            </a:lvl4pPr>
            <a:lvl5pPr lvl="4" rtl="0">
              <a:spcBef>
                <a:spcPts val="0"/>
              </a:spcBef>
              <a:spcAft>
                <a:spcPts val="0"/>
              </a:spcAft>
              <a:buNone/>
              <a:defRPr sz="3600">
                <a:solidFill>
                  <a:schemeClr val="lt1"/>
                </a:solidFill>
                <a:latin typeface="Google Sans"/>
                <a:ea typeface="Google Sans"/>
                <a:cs typeface="Google Sans"/>
                <a:sym typeface="Google Sans"/>
              </a:defRPr>
            </a:lvl5pPr>
            <a:lvl6pPr lvl="5" rtl="0">
              <a:spcBef>
                <a:spcPts val="0"/>
              </a:spcBef>
              <a:spcAft>
                <a:spcPts val="0"/>
              </a:spcAft>
              <a:buNone/>
              <a:defRPr sz="3600">
                <a:solidFill>
                  <a:schemeClr val="lt1"/>
                </a:solidFill>
                <a:latin typeface="Google Sans"/>
                <a:ea typeface="Google Sans"/>
                <a:cs typeface="Google Sans"/>
                <a:sym typeface="Google Sans"/>
              </a:defRPr>
            </a:lvl6pPr>
            <a:lvl7pPr lvl="6" rtl="0">
              <a:spcBef>
                <a:spcPts val="0"/>
              </a:spcBef>
              <a:spcAft>
                <a:spcPts val="0"/>
              </a:spcAft>
              <a:buNone/>
              <a:defRPr sz="3600">
                <a:solidFill>
                  <a:schemeClr val="lt1"/>
                </a:solidFill>
                <a:latin typeface="Google Sans"/>
                <a:ea typeface="Google Sans"/>
                <a:cs typeface="Google Sans"/>
                <a:sym typeface="Google Sans"/>
              </a:defRPr>
            </a:lvl7pPr>
            <a:lvl8pPr lvl="7" rtl="0">
              <a:spcBef>
                <a:spcPts val="0"/>
              </a:spcBef>
              <a:spcAft>
                <a:spcPts val="0"/>
              </a:spcAft>
              <a:buNone/>
              <a:defRPr sz="3600">
                <a:solidFill>
                  <a:schemeClr val="lt1"/>
                </a:solidFill>
                <a:latin typeface="Google Sans"/>
                <a:ea typeface="Google Sans"/>
                <a:cs typeface="Google Sans"/>
                <a:sym typeface="Google Sans"/>
              </a:defRPr>
            </a:lvl8pPr>
            <a:lvl9pPr lvl="8" rtl="0">
              <a:spcBef>
                <a:spcPts val="0"/>
              </a:spcBef>
              <a:spcAft>
                <a:spcPts val="0"/>
              </a:spcAft>
              <a:buNone/>
              <a:defRPr sz="3600">
                <a:solidFill>
                  <a:schemeClr val="lt1"/>
                </a:solidFill>
                <a:latin typeface="Google Sans"/>
                <a:ea typeface="Google Sans"/>
                <a:cs typeface="Google Sans"/>
                <a:sym typeface="Google Sans"/>
              </a:defRPr>
            </a:lvl9pPr>
          </a:lstStyle>
          <a:p/>
        </p:txBody>
      </p:sp>
      <p:sp>
        <p:nvSpPr>
          <p:cNvPr id="126" name="Google Shape;126;p23"/>
          <p:cNvSpPr txBox="1"/>
          <p:nvPr>
            <p:ph idx="2" type="body"/>
          </p:nvPr>
        </p:nvSpPr>
        <p:spPr>
          <a:xfrm>
            <a:off x="1754525" y="3011100"/>
            <a:ext cx="7217100" cy="6189600"/>
          </a:xfrm>
          <a:prstGeom prst="rect">
            <a:avLst/>
          </a:prstGeom>
          <a:noFill/>
          <a:ln>
            <a:noFill/>
          </a:ln>
        </p:spPr>
        <p:txBody>
          <a:bodyPr anchorCtr="0" anchor="t" bIns="91425" lIns="91425" spcFirstLastPara="1" rIns="91425" wrap="square" tIns="91425">
            <a:noAutofit/>
          </a:bodyPr>
          <a:lstStyle>
            <a:lvl1pPr indent="-406400" lvl="0" marL="457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1pPr>
            <a:lvl2pPr indent="-406400" lvl="1" marL="914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2pPr>
            <a:lvl3pPr indent="-406400" lvl="2" marL="1371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3pPr>
            <a:lvl4pPr indent="-406400" lvl="3" marL="1828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4pPr>
            <a:lvl5pPr indent="-406400" lvl="4" marL="22860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5pPr>
            <a:lvl6pPr indent="-406400" lvl="5" marL="27432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6pPr>
            <a:lvl7pPr indent="-406400" lvl="6" marL="32004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7pPr>
            <a:lvl8pPr indent="-406400" lvl="7" marL="36576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8pPr>
            <a:lvl9pPr indent="-406400" lvl="8" marL="4114800" rtl="0">
              <a:lnSpc>
                <a:spcPct val="100000"/>
              </a:lnSpc>
              <a:spcBef>
                <a:spcPts val="0"/>
              </a:spcBef>
              <a:spcAft>
                <a:spcPts val="0"/>
              </a:spcAft>
              <a:buClr>
                <a:schemeClr val="lt1"/>
              </a:buClr>
              <a:buSzPts val="2800"/>
              <a:buFont typeface="Roboto"/>
              <a:buChar char="■"/>
              <a:defRPr sz="2800">
                <a:solidFill>
                  <a:schemeClr val="lt1"/>
                </a:solidFill>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 Full - Presenter only">
  <p:cSld name="CUSTOM">
    <p:spTree>
      <p:nvGrpSpPr>
        <p:cNvPr id="127" name="Shape 127"/>
        <p:cNvGrpSpPr/>
        <p:nvPr/>
      </p:nvGrpSpPr>
      <p:grpSpPr>
        <a:xfrm>
          <a:off x="0" y="0"/>
          <a:ext cx="0" cy="0"/>
          <a:chOff x="0" y="0"/>
          <a:chExt cx="0" cy="0"/>
        </a:xfrm>
      </p:grpSpPr>
      <p:pic>
        <p:nvPicPr>
          <p:cNvPr id="128" name="Google Shape;128;p24"/>
          <p:cNvPicPr preferRelativeResize="0"/>
          <p:nvPr/>
        </p:nvPicPr>
        <p:blipFill>
          <a:blip r:embed="rId2">
            <a:alphaModFix/>
          </a:blip>
          <a:stretch>
            <a:fillRect/>
          </a:stretch>
        </p:blipFill>
        <p:spPr>
          <a:xfrm>
            <a:off x="0" y="0"/>
            <a:ext cx="18288000" cy="1028699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a - Presenter - No text">
  <p:cSld name="CUSTOM_2">
    <p:spTree>
      <p:nvGrpSpPr>
        <p:cNvPr id="129" name="Shape 129"/>
        <p:cNvGrpSpPr/>
        <p:nvPr/>
      </p:nvGrpSpPr>
      <p:grpSpPr>
        <a:xfrm>
          <a:off x="0" y="0"/>
          <a:ext cx="0" cy="0"/>
          <a:chOff x="0" y="0"/>
          <a:chExt cx="0" cy="0"/>
        </a:xfrm>
      </p:grpSpPr>
      <p:pic>
        <p:nvPicPr>
          <p:cNvPr id="130" name="Google Shape;130;p2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b - Full - No text">
  <p:cSld name="CUSTOM_2_6">
    <p:spTree>
      <p:nvGrpSpPr>
        <p:cNvPr id="131" name="Shape 13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c - Circle - No text">
  <p:cSld name="CUSTOM_2_5">
    <p:spTree>
      <p:nvGrpSpPr>
        <p:cNvPr id="132" name="Shape 132"/>
        <p:cNvGrpSpPr/>
        <p:nvPr/>
      </p:nvGrpSpPr>
      <p:grpSpPr>
        <a:xfrm>
          <a:off x="0" y="0"/>
          <a:ext cx="0" cy="0"/>
          <a:chOff x="0" y="0"/>
          <a:chExt cx="0" cy="0"/>
        </a:xfrm>
      </p:grpSpPr>
      <p:pic>
        <p:nvPicPr>
          <p:cNvPr id="133" name="Google Shape;133;p27"/>
          <p:cNvPicPr preferRelativeResize="0"/>
          <p:nvPr/>
        </p:nvPicPr>
        <p:blipFill>
          <a:blip r:embed="rId2">
            <a:alphaModFix/>
          </a:blip>
          <a:stretch>
            <a:fillRect/>
          </a:stretch>
        </p:blipFill>
        <p:spPr>
          <a:xfrm>
            <a:off x="-4" y="-2"/>
            <a:ext cx="18288000" cy="1028697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a - Screencast Placeholder">
  <p:cSld name="CUSTOM_1">
    <p:spTree>
      <p:nvGrpSpPr>
        <p:cNvPr id="134" name="Shape 134"/>
        <p:cNvGrpSpPr/>
        <p:nvPr/>
      </p:nvGrpSpPr>
      <p:grpSpPr>
        <a:xfrm>
          <a:off x="0" y="0"/>
          <a:ext cx="0" cy="0"/>
          <a:chOff x="0" y="0"/>
          <a:chExt cx="0" cy="0"/>
        </a:xfrm>
      </p:grpSpPr>
      <p:sp>
        <p:nvSpPr>
          <p:cNvPr id="135" name="Google Shape;135;p28"/>
          <p:cNvSpPr/>
          <p:nvPr/>
        </p:nvSpPr>
        <p:spPr>
          <a:xfrm>
            <a:off x="910625" y="529125"/>
            <a:ext cx="16451100" cy="8700600"/>
          </a:xfrm>
          <a:prstGeom prst="rect">
            <a:avLst/>
          </a:prstGeom>
          <a:solidFill>
            <a:srgbClr val="FBBC05"/>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6" name="Google Shape;136;p28"/>
          <p:cNvSpPr txBox="1"/>
          <p:nvPr/>
        </p:nvSpPr>
        <p:spPr>
          <a:xfrm>
            <a:off x="2350950" y="4552950"/>
            <a:ext cx="13662600" cy="159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lt1"/>
                </a:solidFill>
                <a:latin typeface="Google Sans"/>
                <a:ea typeface="Google Sans"/>
                <a:cs typeface="Google Sans"/>
                <a:sym typeface="Google Sans"/>
              </a:rPr>
              <a:t>Screencast</a:t>
            </a:r>
            <a:endParaRPr sz="7200">
              <a:solidFill>
                <a:schemeClr val="lt1"/>
              </a:solidFill>
              <a:latin typeface="Google Sans"/>
              <a:ea typeface="Google Sans"/>
              <a:cs typeface="Google Sans"/>
              <a:sym typeface="Google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a - Template - Video Info" showMasterSp="0">
  <p:cSld name="Blank_1_1">
    <p:bg>
      <p:bgPr>
        <a:noFill/>
      </p:bgPr>
    </p:bg>
    <p:spTree>
      <p:nvGrpSpPr>
        <p:cNvPr id="137" name="Shape 137"/>
        <p:cNvGrpSpPr/>
        <p:nvPr/>
      </p:nvGrpSpPr>
      <p:grpSpPr>
        <a:xfrm>
          <a:off x="0" y="0"/>
          <a:ext cx="0" cy="0"/>
          <a:chOff x="0" y="0"/>
          <a:chExt cx="0" cy="0"/>
        </a:xfrm>
      </p:grpSpPr>
      <p:sp>
        <p:nvSpPr>
          <p:cNvPr id="138" name="Google Shape;138;p29"/>
          <p:cNvSpPr/>
          <p:nvPr/>
        </p:nvSpPr>
        <p:spPr>
          <a:xfrm>
            <a:off x="-18300" y="-95250"/>
            <a:ext cx="18400800" cy="10496400"/>
          </a:xfrm>
          <a:prstGeom prst="rect">
            <a:avLst/>
          </a:prstGeom>
          <a:solidFill>
            <a:srgbClr val="4285F4"/>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39" name="Google Shape;139;p29"/>
          <p:cNvSpPr txBox="1"/>
          <p:nvPr>
            <p:ph type="title"/>
          </p:nvPr>
        </p:nvSpPr>
        <p:spPr>
          <a:xfrm>
            <a:off x="1503300" y="2771400"/>
            <a:ext cx="15357600" cy="4744200"/>
          </a:xfrm>
          <a:prstGeom prst="rect">
            <a:avLst/>
          </a:prstGeom>
          <a:noFill/>
          <a:ln>
            <a:noFill/>
          </a:ln>
        </p:spPr>
        <p:txBody>
          <a:bodyPr anchorCtr="0" anchor="t" bIns="91450" lIns="91450" spcFirstLastPara="1" rIns="91450" wrap="square" tIns="91450">
            <a:noAutofit/>
          </a:bodyPr>
          <a:lstStyle>
            <a:lvl1pPr lvl="0" rtl="0">
              <a:spcBef>
                <a:spcPts val="0"/>
              </a:spcBef>
              <a:spcAft>
                <a:spcPts val="0"/>
              </a:spcAft>
              <a:buNone/>
              <a:defRPr sz="4800">
                <a:solidFill>
                  <a:srgbClr val="FAFAFA"/>
                </a:solidFill>
                <a:latin typeface="Google Sans"/>
                <a:ea typeface="Google Sans"/>
                <a:cs typeface="Google Sans"/>
                <a:sym typeface="Google Sans"/>
              </a:defRPr>
            </a:lvl1pPr>
            <a:lvl2pPr lvl="1" rtl="0">
              <a:spcBef>
                <a:spcPts val="0"/>
              </a:spcBef>
              <a:spcAft>
                <a:spcPts val="0"/>
              </a:spcAft>
              <a:buNone/>
              <a:defRPr sz="4800"/>
            </a:lvl2pPr>
            <a:lvl3pPr lvl="2" rtl="0">
              <a:spcBef>
                <a:spcPts val="0"/>
              </a:spcBef>
              <a:spcAft>
                <a:spcPts val="0"/>
              </a:spcAft>
              <a:buNone/>
              <a:defRPr sz="4800"/>
            </a:lvl3pPr>
            <a:lvl4pPr lvl="3" rtl="0">
              <a:spcBef>
                <a:spcPts val="0"/>
              </a:spcBef>
              <a:spcAft>
                <a:spcPts val="0"/>
              </a:spcAft>
              <a:buNone/>
              <a:defRPr sz="4800"/>
            </a:lvl4pPr>
            <a:lvl5pPr lvl="4" rtl="0">
              <a:spcBef>
                <a:spcPts val="0"/>
              </a:spcBef>
              <a:spcAft>
                <a:spcPts val="0"/>
              </a:spcAft>
              <a:buNone/>
              <a:defRPr sz="4800"/>
            </a:lvl5pPr>
            <a:lvl6pPr lvl="5" rtl="0">
              <a:spcBef>
                <a:spcPts val="0"/>
              </a:spcBef>
              <a:spcAft>
                <a:spcPts val="0"/>
              </a:spcAft>
              <a:buNone/>
              <a:defRPr sz="4800"/>
            </a:lvl6pPr>
            <a:lvl7pPr lvl="6" rtl="0">
              <a:spcBef>
                <a:spcPts val="0"/>
              </a:spcBef>
              <a:spcAft>
                <a:spcPts val="0"/>
              </a:spcAft>
              <a:buNone/>
              <a:defRPr sz="4800"/>
            </a:lvl7pPr>
            <a:lvl8pPr lvl="7" rtl="0">
              <a:spcBef>
                <a:spcPts val="0"/>
              </a:spcBef>
              <a:spcAft>
                <a:spcPts val="0"/>
              </a:spcAft>
              <a:buNone/>
              <a:defRPr sz="4800"/>
            </a:lvl8pPr>
            <a:lvl9pPr lvl="8" rtl="0">
              <a:spcBef>
                <a:spcPts val="0"/>
              </a:spcBef>
              <a:spcAft>
                <a:spcPts val="0"/>
              </a:spcAft>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c - Template - Instructions Slide" showMasterSp="0">
  <p:cSld name="Blank_1_1_1">
    <p:bg>
      <p:bgPr>
        <a:noFill/>
      </p:bgPr>
    </p:bg>
    <p:spTree>
      <p:nvGrpSpPr>
        <p:cNvPr id="140" name="Shape 140"/>
        <p:cNvGrpSpPr/>
        <p:nvPr/>
      </p:nvGrpSpPr>
      <p:grpSpPr>
        <a:xfrm>
          <a:off x="0" y="0"/>
          <a:ext cx="0" cy="0"/>
          <a:chOff x="0" y="0"/>
          <a:chExt cx="0" cy="0"/>
        </a:xfrm>
      </p:grpSpPr>
      <p:sp>
        <p:nvSpPr>
          <p:cNvPr id="141" name="Google Shape;141;p30"/>
          <p:cNvSpPr/>
          <p:nvPr/>
        </p:nvSpPr>
        <p:spPr>
          <a:xfrm>
            <a:off x="-18300" y="-95250"/>
            <a:ext cx="18400800" cy="104964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2" name="Google Shape;142;p30"/>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b - Template - ILT Start/End" showMasterSp="0">
  <p:cSld name="Blank_1_1_1_1">
    <p:bg>
      <p:bgPr>
        <a:noFill/>
      </p:bgPr>
    </p:bg>
    <p:spTree>
      <p:nvGrpSpPr>
        <p:cNvPr id="143" name="Shape 143"/>
        <p:cNvGrpSpPr/>
        <p:nvPr/>
      </p:nvGrpSpPr>
      <p:grpSpPr>
        <a:xfrm>
          <a:off x="0" y="0"/>
          <a:ext cx="0" cy="0"/>
          <a:chOff x="0" y="0"/>
          <a:chExt cx="0" cy="0"/>
        </a:xfrm>
      </p:grpSpPr>
      <p:sp>
        <p:nvSpPr>
          <p:cNvPr id="144" name="Google Shape;144;p31"/>
          <p:cNvSpPr/>
          <p:nvPr/>
        </p:nvSpPr>
        <p:spPr>
          <a:xfrm>
            <a:off x="-18300" y="-95250"/>
            <a:ext cx="18400800" cy="10496400"/>
          </a:xfrm>
          <a:prstGeom prst="rect">
            <a:avLst/>
          </a:prstGeom>
          <a:solidFill>
            <a:schemeClr val="accent6"/>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sp>
        <p:nvSpPr>
          <p:cNvPr id="145" name="Google Shape;145;p31"/>
          <p:cNvSpPr txBox="1"/>
          <p:nvPr>
            <p:ph type="title"/>
          </p:nvPr>
        </p:nvSpPr>
        <p:spPr>
          <a:xfrm>
            <a:off x="1733550" y="4552950"/>
            <a:ext cx="14897400" cy="2362200"/>
          </a:xfrm>
          <a:prstGeom prst="rect">
            <a:avLst/>
          </a:prstGeom>
          <a:noFill/>
          <a:ln>
            <a:noFill/>
          </a:ln>
        </p:spPr>
        <p:txBody>
          <a:bodyPr anchorCtr="0" anchor="t" bIns="91450" lIns="91450" spcFirstLastPara="1" rIns="91450" wrap="square" tIns="91450">
            <a:noAutofit/>
          </a:bodyPr>
          <a:lstStyle>
            <a:lvl1pPr lvl="0" rtl="0" algn="ctr">
              <a:spcBef>
                <a:spcPts val="0"/>
              </a:spcBef>
              <a:spcAft>
                <a:spcPts val="0"/>
              </a:spcAft>
              <a:buNone/>
              <a:defRPr sz="7200">
                <a:solidFill>
                  <a:srgbClr val="FAFAFA"/>
                </a:solidFill>
                <a:latin typeface="Google Sans"/>
                <a:ea typeface="Google Sans"/>
                <a:cs typeface="Google Sans"/>
                <a:sym typeface="Google Sans"/>
              </a:defRPr>
            </a:lvl1pPr>
            <a:lvl2pPr lvl="1" rtl="0">
              <a:spcBef>
                <a:spcPts val="0"/>
              </a:spcBef>
              <a:spcAft>
                <a:spcPts val="0"/>
              </a:spcAft>
              <a:buNone/>
              <a:defRPr sz="7200"/>
            </a:lvl2pPr>
            <a:lvl3pPr lvl="2" rtl="0">
              <a:spcBef>
                <a:spcPts val="0"/>
              </a:spcBef>
              <a:spcAft>
                <a:spcPts val="0"/>
              </a:spcAft>
              <a:buNone/>
              <a:defRPr sz="7200"/>
            </a:lvl3pPr>
            <a:lvl4pPr lvl="3" rtl="0">
              <a:spcBef>
                <a:spcPts val="0"/>
              </a:spcBef>
              <a:spcAft>
                <a:spcPts val="0"/>
              </a:spcAft>
              <a:buNone/>
              <a:defRPr sz="7200"/>
            </a:lvl4pPr>
            <a:lvl5pPr lvl="4" rtl="0">
              <a:spcBef>
                <a:spcPts val="0"/>
              </a:spcBef>
              <a:spcAft>
                <a:spcPts val="0"/>
              </a:spcAft>
              <a:buNone/>
              <a:defRPr sz="7200"/>
            </a:lvl5pPr>
            <a:lvl6pPr lvl="5" rtl="0">
              <a:spcBef>
                <a:spcPts val="0"/>
              </a:spcBef>
              <a:spcAft>
                <a:spcPts val="0"/>
              </a:spcAft>
              <a:buNone/>
              <a:defRPr sz="7200"/>
            </a:lvl6pPr>
            <a:lvl7pPr lvl="6" rtl="0">
              <a:spcBef>
                <a:spcPts val="0"/>
              </a:spcBef>
              <a:spcAft>
                <a:spcPts val="0"/>
              </a:spcAft>
              <a:buNone/>
              <a:defRPr sz="7200"/>
            </a:lvl7pPr>
            <a:lvl8pPr lvl="7" rtl="0">
              <a:spcBef>
                <a:spcPts val="0"/>
              </a:spcBef>
              <a:spcAft>
                <a:spcPts val="0"/>
              </a:spcAft>
              <a:buNone/>
              <a:defRPr sz="7200"/>
            </a:lvl8pPr>
            <a:lvl9pPr lvl="8" rtl="0">
              <a:spcBef>
                <a:spcPts val="0"/>
              </a:spcBef>
              <a:spcAft>
                <a:spcPts val="0"/>
              </a:spcAft>
              <a:buNone/>
              <a:defRPr sz="7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afe and Google Cloud logo Saved Here - Copy to Master Slide when needed">
  <p:cSld name="CUSTOM_3">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2">
            <a:alphaModFix/>
          </a:blip>
          <a:stretch>
            <a:fillRect/>
          </a:stretch>
        </p:blipFill>
        <p:spPr>
          <a:xfrm>
            <a:off x="0" y="26"/>
            <a:ext cx="18288000" cy="10286960"/>
          </a:xfrm>
          <a:prstGeom prst="rect">
            <a:avLst/>
          </a:prstGeom>
          <a:noFill/>
          <a:ln>
            <a:noFill/>
          </a:ln>
        </p:spPr>
      </p:pic>
      <p:pic>
        <p:nvPicPr>
          <p:cNvPr id="148" name="Google Shape;148;p32"/>
          <p:cNvPicPr preferRelativeResize="0"/>
          <p:nvPr/>
        </p:nvPicPr>
        <p:blipFill rotWithShape="1">
          <a:blip r:embed="rId3">
            <a:alphaModFix/>
          </a:blip>
          <a:srcRect b="0" l="0" r="-21669" t="0"/>
          <a:stretch/>
        </p:blipFill>
        <p:spPr>
          <a:xfrm>
            <a:off x="1010600" y="9256050"/>
            <a:ext cx="3223152" cy="507026"/>
          </a:xfrm>
          <a:prstGeom prst="rect">
            <a:avLst/>
          </a:prstGeom>
          <a:noFill/>
          <a:ln>
            <a:noFill/>
          </a:ln>
        </p:spPr>
      </p:pic>
      <p:sp>
        <p:nvSpPr>
          <p:cNvPr id="149" name="Google Shape;149;p32"/>
          <p:cNvSpPr txBox="1"/>
          <p:nvPr/>
        </p:nvSpPr>
        <p:spPr>
          <a:xfrm>
            <a:off x="594300" y="8552850"/>
            <a:ext cx="1225800" cy="450000"/>
          </a:xfrm>
          <a:prstGeom prst="rect">
            <a:avLst/>
          </a:prstGeom>
          <a:noFill/>
          <a:ln>
            <a:noFill/>
          </a:ln>
        </p:spPr>
        <p:txBody>
          <a:bodyPr anchorCtr="0" anchor="t" bIns="91450" lIns="91450" spcFirstLastPara="1" rIns="91450" wrap="square" tIns="91450">
            <a:noAutofit/>
          </a:bodyPr>
          <a:lstStyle/>
          <a:p>
            <a:pPr indent="0" lvl="0" marL="0" rtl="0" algn="r">
              <a:spcBef>
                <a:spcPts val="0"/>
              </a:spcBef>
              <a:spcAft>
                <a:spcPts val="0"/>
              </a:spcAft>
              <a:buNone/>
            </a:pPr>
            <a:r>
              <a:rPr lang="en" sz="1400">
                <a:solidFill>
                  <a:srgbClr val="EA4335"/>
                </a:solidFill>
                <a:latin typeface="Google Sans"/>
                <a:ea typeface="Google Sans"/>
                <a:cs typeface="Google Sans"/>
                <a:sym typeface="Google Sans"/>
              </a:rPr>
              <a:t>  Title Safe &gt;  </a:t>
            </a:r>
            <a:endParaRPr sz="1400"/>
          </a:p>
        </p:txBody>
      </p:sp>
      <p:sp>
        <p:nvSpPr>
          <p:cNvPr id="150" name="Google Shape;150;p32"/>
          <p:cNvSpPr txBox="1"/>
          <p:nvPr/>
        </p:nvSpPr>
        <p:spPr>
          <a:xfrm>
            <a:off x="858200" y="7957950"/>
            <a:ext cx="1368600" cy="450000"/>
          </a:xfrm>
          <a:prstGeom prst="rect">
            <a:avLst/>
          </a:prstGeom>
          <a:noFill/>
          <a:ln>
            <a:noFill/>
          </a:ln>
        </p:spPr>
        <p:txBody>
          <a:bodyPr anchorCtr="0" anchor="t" bIns="91450" lIns="91450" spcFirstLastPara="1" rIns="91450" wrap="square" tIns="91450">
            <a:noAutofit/>
          </a:bodyPr>
          <a:lstStyle/>
          <a:p>
            <a:pPr indent="0" lvl="0" marL="0" rtl="0" algn="l">
              <a:spcBef>
                <a:spcPts val="0"/>
              </a:spcBef>
              <a:spcAft>
                <a:spcPts val="0"/>
              </a:spcAft>
              <a:buNone/>
            </a:pPr>
            <a:r>
              <a:rPr lang="en" sz="1400">
                <a:solidFill>
                  <a:srgbClr val="EA4335"/>
                </a:solidFill>
                <a:latin typeface="Google Sans"/>
                <a:ea typeface="Google Sans"/>
                <a:cs typeface="Google Sans"/>
                <a:sym typeface="Google Sans"/>
              </a:rPr>
              <a:t> &lt; Action Safe </a:t>
            </a:r>
            <a:endParaRPr sz="1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5">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2">
            <a:alphaModFix/>
          </a:blip>
          <a:stretch>
            <a:fillRect/>
          </a:stretch>
        </p:blipFill>
        <p:spPr>
          <a:xfrm>
            <a:off x="5180400" y="4192500"/>
            <a:ext cx="7530232" cy="1441176"/>
          </a:xfrm>
          <a:prstGeom prst="rect">
            <a:avLst/>
          </a:prstGeom>
          <a:noFill/>
          <a:ln>
            <a:noFill/>
          </a:ln>
        </p:spPr>
      </p:pic>
      <p:sp>
        <p:nvSpPr>
          <p:cNvPr id="153" name="Google Shape;153;p33"/>
          <p:cNvSpPr/>
          <p:nvPr/>
        </p:nvSpPr>
        <p:spPr>
          <a:xfrm>
            <a:off x="590450" y="8936550"/>
            <a:ext cx="3670500" cy="97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54" name="Shape 154"/>
        <p:cNvGrpSpPr/>
        <p:nvPr/>
      </p:nvGrpSpPr>
      <p:grpSpPr>
        <a:xfrm>
          <a:off x="0" y="0"/>
          <a:ext cx="0" cy="0"/>
          <a:chOff x="0" y="0"/>
          <a:chExt cx="0" cy="0"/>
        </a:xfrm>
      </p:grpSpPr>
      <p:sp>
        <p:nvSpPr>
          <p:cNvPr id="155" name="Google Shape;155;p34"/>
          <p:cNvSpPr txBox="1"/>
          <p:nvPr>
            <p:ph type="title"/>
          </p:nvPr>
        </p:nvSpPr>
        <p:spPr>
          <a:xfrm>
            <a:off x="1523900" y="1619150"/>
            <a:ext cx="10160400" cy="704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4"/>
          <p:cNvSpPr txBox="1"/>
          <p:nvPr>
            <p:ph idx="1" type="body"/>
          </p:nvPr>
        </p:nvSpPr>
        <p:spPr>
          <a:xfrm>
            <a:off x="1524050" y="3028450"/>
            <a:ext cx="10160400" cy="5639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grpSp>
        <p:nvGrpSpPr>
          <p:cNvPr id="157" name="Google Shape;157;p34"/>
          <p:cNvGrpSpPr/>
          <p:nvPr/>
        </p:nvGrpSpPr>
        <p:grpSpPr>
          <a:xfrm>
            <a:off x="1228241" y="9137251"/>
            <a:ext cx="580334" cy="466754"/>
            <a:chOff x="614120" y="4568626"/>
            <a:chExt cx="290167" cy="233377"/>
          </a:xfrm>
        </p:grpSpPr>
        <p:sp>
          <p:nvSpPr>
            <p:cNvPr id="158" name="Google Shape;158;p34"/>
            <p:cNvSpPr/>
            <p:nvPr/>
          </p:nvSpPr>
          <p:spPr>
            <a:xfrm>
              <a:off x="649563" y="4568626"/>
              <a:ext cx="184863" cy="83805"/>
            </a:xfrm>
            <a:custGeom>
              <a:rect b="b" l="l" r="r" t="t"/>
              <a:pathLst>
                <a:path extrusionOk="0" h="12669" w="27946">
                  <a:moveTo>
                    <a:pt x="16372" y="0"/>
                  </a:moveTo>
                  <a:lnTo>
                    <a:pt x="14729" y="95"/>
                  </a:lnTo>
                  <a:lnTo>
                    <a:pt x="13098" y="345"/>
                  </a:lnTo>
                  <a:lnTo>
                    <a:pt x="11502" y="762"/>
                  </a:lnTo>
                  <a:lnTo>
                    <a:pt x="9942" y="1322"/>
                  </a:lnTo>
                  <a:lnTo>
                    <a:pt x="8430" y="2036"/>
                  </a:lnTo>
                  <a:lnTo>
                    <a:pt x="6989" y="2905"/>
                  </a:lnTo>
                  <a:lnTo>
                    <a:pt x="5620" y="3929"/>
                  </a:lnTo>
                  <a:lnTo>
                    <a:pt x="4334" y="5108"/>
                  </a:lnTo>
                  <a:lnTo>
                    <a:pt x="3739" y="5751"/>
                  </a:lnTo>
                  <a:lnTo>
                    <a:pt x="3405" y="6132"/>
                  </a:lnTo>
                  <a:lnTo>
                    <a:pt x="2798" y="6906"/>
                  </a:lnTo>
                  <a:lnTo>
                    <a:pt x="2227" y="7716"/>
                  </a:lnTo>
                  <a:lnTo>
                    <a:pt x="1703" y="8561"/>
                  </a:lnTo>
                  <a:lnTo>
                    <a:pt x="1238" y="9430"/>
                  </a:lnTo>
                  <a:lnTo>
                    <a:pt x="810" y="10335"/>
                  </a:lnTo>
                  <a:lnTo>
                    <a:pt x="453" y="11252"/>
                  </a:lnTo>
                  <a:lnTo>
                    <a:pt x="131" y="12192"/>
                  </a:lnTo>
                  <a:lnTo>
                    <a:pt x="0" y="12669"/>
                  </a:lnTo>
                  <a:lnTo>
                    <a:pt x="179" y="12573"/>
                  </a:lnTo>
                  <a:lnTo>
                    <a:pt x="595" y="12514"/>
                  </a:lnTo>
                  <a:lnTo>
                    <a:pt x="1203" y="12573"/>
                  </a:lnTo>
                  <a:lnTo>
                    <a:pt x="1310" y="12597"/>
                  </a:lnTo>
                  <a:lnTo>
                    <a:pt x="8930" y="11347"/>
                  </a:lnTo>
                  <a:lnTo>
                    <a:pt x="8978" y="11264"/>
                  </a:lnTo>
                  <a:lnTo>
                    <a:pt x="9252" y="10906"/>
                  </a:lnTo>
                  <a:lnTo>
                    <a:pt x="9442" y="10740"/>
                  </a:lnTo>
                  <a:lnTo>
                    <a:pt x="9526" y="10740"/>
                  </a:lnTo>
                  <a:lnTo>
                    <a:pt x="9847" y="10395"/>
                  </a:lnTo>
                  <a:lnTo>
                    <a:pt x="10538" y="9775"/>
                  </a:lnTo>
                  <a:lnTo>
                    <a:pt x="11276" y="9240"/>
                  </a:lnTo>
                  <a:lnTo>
                    <a:pt x="12050" y="8775"/>
                  </a:lnTo>
                  <a:lnTo>
                    <a:pt x="12847" y="8382"/>
                  </a:lnTo>
                  <a:lnTo>
                    <a:pt x="13681" y="8085"/>
                  </a:lnTo>
                  <a:lnTo>
                    <a:pt x="14538" y="7846"/>
                  </a:lnTo>
                  <a:lnTo>
                    <a:pt x="15407" y="7704"/>
                  </a:lnTo>
                  <a:lnTo>
                    <a:pt x="16289" y="7644"/>
                  </a:lnTo>
                  <a:lnTo>
                    <a:pt x="17170" y="7656"/>
                  </a:lnTo>
                  <a:lnTo>
                    <a:pt x="18039" y="7751"/>
                  </a:lnTo>
                  <a:lnTo>
                    <a:pt x="18908" y="7930"/>
                  </a:lnTo>
                  <a:lnTo>
                    <a:pt x="19765" y="8192"/>
                  </a:lnTo>
                  <a:lnTo>
                    <a:pt x="20599" y="8537"/>
                  </a:lnTo>
                  <a:lnTo>
                    <a:pt x="21408" y="8966"/>
                  </a:lnTo>
                  <a:lnTo>
                    <a:pt x="22182" y="9478"/>
                  </a:lnTo>
                  <a:lnTo>
                    <a:pt x="22551" y="9775"/>
                  </a:lnTo>
                  <a:lnTo>
                    <a:pt x="22551" y="9740"/>
                  </a:lnTo>
                  <a:lnTo>
                    <a:pt x="23956" y="9775"/>
                  </a:lnTo>
                  <a:lnTo>
                    <a:pt x="27767" y="5965"/>
                  </a:lnTo>
                  <a:lnTo>
                    <a:pt x="27945" y="4334"/>
                  </a:lnTo>
                  <a:lnTo>
                    <a:pt x="27267" y="3763"/>
                  </a:lnTo>
                  <a:lnTo>
                    <a:pt x="25862" y="2750"/>
                  </a:lnTo>
                  <a:lnTo>
                    <a:pt x="24385" y="1893"/>
                  </a:lnTo>
                  <a:lnTo>
                    <a:pt x="22849" y="1191"/>
                  </a:lnTo>
                  <a:lnTo>
                    <a:pt x="21266" y="655"/>
                  </a:lnTo>
                  <a:lnTo>
                    <a:pt x="19646" y="274"/>
                  </a:lnTo>
                  <a:lnTo>
                    <a:pt x="18015" y="60"/>
                  </a:lnTo>
                  <a:lnTo>
                    <a:pt x="16372" y="0"/>
                  </a:lnTo>
                  <a:close/>
                </a:path>
              </a:pathLst>
            </a:custGeom>
            <a:solidFill>
              <a:schemeClr val="accen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59" name="Google Shape;159;p34"/>
            <p:cNvSpPr/>
            <p:nvPr/>
          </p:nvSpPr>
          <p:spPr>
            <a:xfrm>
              <a:off x="752817" y="4597368"/>
              <a:ext cx="151470" cy="204556"/>
            </a:xfrm>
            <a:custGeom>
              <a:rect b="b" l="l" r="r" t="t"/>
              <a:pathLst>
                <a:path extrusionOk="0" h="30923" w="22898">
                  <a:moveTo>
                    <a:pt x="12348" y="1"/>
                  </a:moveTo>
                  <a:lnTo>
                    <a:pt x="6942" y="5395"/>
                  </a:lnTo>
                  <a:lnTo>
                    <a:pt x="7359" y="5740"/>
                  </a:lnTo>
                  <a:lnTo>
                    <a:pt x="8109" y="6502"/>
                  </a:lnTo>
                  <a:lnTo>
                    <a:pt x="8764" y="7335"/>
                  </a:lnTo>
                  <a:lnTo>
                    <a:pt x="9324" y="8228"/>
                  </a:lnTo>
                  <a:lnTo>
                    <a:pt x="9788" y="9181"/>
                  </a:lnTo>
                  <a:lnTo>
                    <a:pt x="10133" y="10169"/>
                  </a:lnTo>
                  <a:lnTo>
                    <a:pt x="10372" y="11205"/>
                  </a:lnTo>
                  <a:lnTo>
                    <a:pt x="10491" y="12265"/>
                  </a:lnTo>
                  <a:lnTo>
                    <a:pt x="10503" y="12812"/>
                  </a:lnTo>
                  <a:lnTo>
                    <a:pt x="10503" y="13777"/>
                  </a:lnTo>
                  <a:lnTo>
                    <a:pt x="10991" y="13789"/>
                  </a:lnTo>
                  <a:lnTo>
                    <a:pt x="11920" y="13979"/>
                  </a:lnTo>
                  <a:lnTo>
                    <a:pt x="12777" y="14348"/>
                  </a:lnTo>
                  <a:lnTo>
                    <a:pt x="13539" y="14860"/>
                  </a:lnTo>
                  <a:lnTo>
                    <a:pt x="14182" y="15503"/>
                  </a:lnTo>
                  <a:lnTo>
                    <a:pt x="14694" y="16265"/>
                  </a:lnTo>
                  <a:lnTo>
                    <a:pt x="15051" y="17123"/>
                  </a:lnTo>
                  <a:lnTo>
                    <a:pt x="15241" y="18051"/>
                  </a:lnTo>
                  <a:lnTo>
                    <a:pt x="15265" y="18540"/>
                  </a:lnTo>
                  <a:lnTo>
                    <a:pt x="15241" y="19028"/>
                  </a:lnTo>
                  <a:lnTo>
                    <a:pt x="15051" y="19956"/>
                  </a:lnTo>
                  <a:lnTo>
                    <a:pt x="14694" y="20814"/>
                  </a:lnTo>
                  <a:lnTo>
                    <a:pt x="14182" y="21576"/>
                  </a:lnTo>
                  <a:lnTo>
                    <a:pt x="13539" y="22219"/>
                  </a:lnTo>
                  <a:lnTo>
                    <a:pt x="12777" y="22731"/>
                  </a:lnTo>
                  <a:lnTo>
                    <a:pt x="11920" y="23100"/>
                  </a:lnTo>
                  <a:lnTo>
                    <a:pt x="10991" y="23290"/>
                  </a:lnTo>
                  <a:lnTo>
                    <a:pt x="10503" y="23302"/>
                  </a:lnTo>
                  <a:lnTo>
                    <a:pt x="977" y="23302"/>
                  </a:lnTo>
                  <a:lnTo>
                    <a:pt x="1" y="24267"/>
                  </a:lnTo>
                  <a:lnTo>
                    <a:pt x="1" y="29958"/>
                  </a:lnTo>
                  <a:lnTo>
                    <a:pt x="977" y="30922"/>
                  </a:lnTo>
                  <a:lnTo>
                    <a:pt x="10503" y="30922"/>
                  </a:lnTo>
                  <a:lnTo>
                    <a:pt x="11134" y="30911"/>
                  </a:lnTo>
                  <a:lnTo>
                    <a:pt x="12384" y="30780"/>
                  </a:lnTo>
                  <a:lnTo>
                    <a:pt x="13598" y="30541"/>
                  </a:lnTo>
                  <a:lnTo>
                    <a:pt x="14765" y="30172"/>
                  </a:lnTo>
                  <a:lnTo>
                    <a:pt x="15873" y="29708"/>
                  </a:lnTo>
                  <a:lnTo>
                    <a:pt x="16932" y="29136"/>
                  </a:lnTo>
                  <a:lnTo>
                    <a:pt x="17921" y="28470"/>
                  </a:lnTo>
                  <a:lnTo>
                    <a:pt x="18837" y="27708"/>
                  </a:lnTo>
                  <a:lnTo>
                    <a:pt x="19671" y="26874"/>
                  </a:lnTo>
                  <a:lnTo>
                    <a:pt x="20433" y="25957"/>
                  </a:lnTo>
                  <a:lnTo>
                    <a:pt x="21100" y="24969"/>
                  </a:lnTo>
                  <a:lnTo>
                    <a:pt x="21671" y="23909"/>
                  </a:lnTo>
                  <a:lnTo>
                    <a:pt x="22147" y="22802"/>
                  </a:lnTo>
                  <a:lnTo>
                    <a:pt x="22505" y="21635"/>
                  </a:lnTo>
                  <a:lnTo>
                    <a:pt x="22755" y="20433"/>
                  </a:lnTo>
                  <a:lnTo>
                    <a:pt x="22886" y="19183"/>
                  </a:lnTo>
                  <a:lnTo>
                    <a:pt x="22898" y="18540"/>
                  </a:lnTo>
                  <a:lnTo>
                    <a:pt x="22886" y="17778"/>
                  </a:lnTo>
                  <a:lnTo>
                    <a:pt x="22695" y="16289"/>
                  </a:lnTo>
                  <a:lnTo>
                    <a:pt x="22338" y="14837"/>
                  </a:lnTo>
                  <a:lnTo>
                    <a:pt x="21802" y="13455"/>
                  </a:lnTo>
                  <a:lnTo>
                    <a:pt x="21112" y="12134"/>
                  </a:lnTo>
                  <a:lnTo>
                    <a:pt x="20266" y="10907"/>
                  </a:lnTo>
                  <a:lnTo>
                    <a:pt x="19278" y="9788"/>
                  </a:lnTo>
                  <a:lnTo>
                    <a:pt x="18147" y="8776"/>
                  </a:lnTo>
                  <a:lnTo>
                    <a:pt x="17528" y="8336"/>
                  </a:lnTo>
                  <a:lnTo>
                    <a:pt x="17349" y="7728"/>
                  </a:lnTo>
                  <a:lnTo>
                    <a:pt x="16944" y="6550"/>
                  </a:lnTo>
                  <a:lnTo>
                    <a:pt x="16444" y="5407"/>
                  </a:lnTo>
                  <a:lnTo>
                    <a:pt x="15861" y="4311"/>
                  </a:lnTo>
                  <a:lnTo>
                    <a:pt x="15206" y="3263"/>
                  </a:lnTo>
                  <a:lnTo>
                    <a:pt x="14479" y="2263"/>
                  </a:lnTo>
                  <a:lnTo>
                    <a:pt x="13682" y="1311"/>
                  </a:lnTo>
                  <a:lnTo>
                    <a:pt x="12813" y="418"/>
                  </a:lnTo>
                  <a:lnTo>
                    <a:pt x="12348" y="1"/>
                  </a:lnTo>
                  <a:close/>
                </a:path>
              </a:pathLst>
            </a:cu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0" name="Google Shape;160;p34"/>
            <p:cNvSpPr/>
            <p:nvPr/>
          </p:nvSpPr>
          <p:spPr>
            <a:xfrm>
              <a:off x="646726" y="4748673"/>
              <a:ext cx="112561" cy="53330"/>
            </a:xfrm>
            <a:custGeom>
              <a:rect b="b" l="l" r="r" t="t"/>
              <a:pathLst>
                <a:path extrusionOk="0" h="8062" w="17016">
                  <a:moveTo>
                    <a:pt x="5513" y="1"/>
                  </a:moveTo>
                  <a:lnTo>
                    <a:pt x="4144" y="417"/>
                  </a:lnTo>
                  <a:lnTo>
                    <a:pt x="334" y="4227"/>
                  </a:lnTo>
                  <a:lnTo>
                    <a:pt x="0" y="5525"/>
                  </a:lnTo>
                  <a:lnTo>
                    <a:pt x="405" y="5823"/>
                  </a:lnTo>
                  <a:lnTo>
                    <a:pt x="1251" y="6359"/>
                  </a:lnTo>
                  <a:lnTo>
                    <a:pt x="2144" y="6835"/>
                  </a:lnTo>
                  <a:lnTo>
                    <a:pt x="3061" y="7228"/>
                  </a:lnTo>
                  <a:lnTo>
                    <a:pt x="4001" y="7549"/>
                  </a:lnTo>
                  <a:lnTo>
                    <a:pt x="4977" y="7799"/>
                  </a:lnTo>
                  <a:lnTo>
                    <a:pt x="5966" y="7966"/>
                  </a:lnTo>
                  <a:lnTo>
                    <a:pt x="6966" y="8049"/>
                  </a:lnTo>
                  <a:lnTo>
                    <a:pt x="7478" y="8061"/>
                  </a:lnTo>
                  <a:lnTo>
                    <a:pt x="17015" y="8061"/>
                  </a:lnTo>
                  <a:lnTo>
                    <a:pt x="17015" y="429"/>
                  </a:lnTo>
                  <a:lnTo>
                    <a:pt x="7478" y="429"/>
                  </a:lnTo>
                  <a:lnTo>
                    <a:pt x="6966" y="405"/>
                  </a:lnTo>
                  <a:lnTo>
                    <a:pt x="5978" y="191"/>
                  </a:lnTo>
                  <a:lnTo>
                    <a:pt x="5513" y="1"/>
                  </a:lnTo>
                  <a:close/>
                </a:path>
              </a:pathLst>
            </a:custGeom>
            <a:solidFill>
              <a:schemeClr val="accent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p34"/>
            <p:cNvSpPr/>
            <p:nvPr/>
          </p:nvSpPr>
          <p:spPr>
            <a:xfrm>
              <a:off x="614120" y="4638010"/>
              <a:ext cx="147290" cy="147376"/>
            </a:xfrm>
            <a:custGeom>
              <a:rect b="b" l="l" r="r" t="t"/>
              <a:pathLst>
                <a:path extrusionOk="0" h="22279" w="22266">
                  <a:moveTo>
                    <a:pt x="12407" y="1"/>
                  </a:moveTo>
                  <a:lnTo>
                    <a:pt x="11764" y="13"/>
                  </a:lnTo>
                  <a:lnTo>
                    <a:pt x="10514" y="132"/>
                  </a:lnTo>
                  <a:lnTo>
                    <a:pt x="9299" y="382"/>
                  </a:lnTo>
                  <a:lnTo>
                    <a:pt x="8132" y="739"/>
                  </a:lnTo>
                  <a:lnTo>
                    <a:pt x="7025" y="1203"/>
                  </a:lnTo>
                  <a:lnTo>
                    <a:pt x="5965" y="1775"/>
                  </a:lnTo>
                  <a:lnTo>
                    <a:pt x="4977" y="2442"/>
                  </a:lnTo>
                  <a:lnTo>
                    <a:pt x="4060" y="3192"/>
                  </a:lnTo>
                  <a:lnTo>
                    <a:pt x="3215" y="4037"/>
                  </a:lnTo>
                  <a:lnTo>
                    <a:pt x="2465" y="4954"/>
                  </a:lnTo>
                  <a:lnTo>
                    <a:pt x="1798" y="5942"/>
                  </a:lnTo>
                  <a:lnTo>
                    <a:pt x="1226" y="6990"/>
                  </a:lnTo>
                  <a:lnTo>
                    <a:pt x="750" y="8097"/>
                  </a:lnTo>
                  <a:lnTo>
                    <a:pt x="393" y="9264"/>
                  </a:lnTo>
                  <a:lnTo>
                    <a:pt x="143" y="10479"/>
                  </a:lnTo>
                  <a:lnTo>
                    <a:pt x="12" y="11729"/>
                  </a:lnTo>
                  <a:lnTo>
                    <a:pt x="0" y="12360"/>
                  </a:lnTo>
                  <a:lnTo>
                    <a:pt x="12" y="13098"/>
                  </a:lnTo>
                  <a:lnTo>
                    <a:pt x="179" y="14527"/>
                  </a:lnTo>
                  <a:lnTo>
                    <a:pt x="512" y="15920"/>
                  </a:lnTo>
                  <a:lnTo>
                    <a:pt x="1000" y="17265"/>
                  </a:lnTo>
                  <a:lnTo>
                    <a:pt x="1631" y="18527"/>
                  </a:lnTo>
                  <a:lnTo>
                    <a:pt x="2405" y="19730"/>
                  </a:lnTo>
                  <a:lnTo>
                    <a:pt x="3310" y="20825"/>
                  </a:lnTo>
                  <a:lnTo>
                    <a:pt x="4358" y="21826"/>
                  </a:lnTo>
                  <a:lnTo>
                    <a:pt x="4929" y="22278"/>
                  </a:lnTo>
                  <a:lnTo>
                    <a:pt x="10454" y="16741"/>
                  </a:lnTo>
                  <a:lnTo>
                    <a:pt x="10014" y="16527"/>
                  </a:lnTo>
                  <a:lnTo>
                    <a:pt x="9240" y="15979"/>
                  </a:lnTo>
                  <a:lnTo>
                    <a:pt x="8609" y="15301"/>
                  </a:lnTo>
                  <a:lnTo>
                    <a:pt x="8120" y="14515"/>
                  </a:lnTo>
                  <a:lnTo>
                    <a:pt x="7799" y="13670"/>
                  </a:lnTo>
                  <a:lnTo>
                    <a:pt x="7644" y="12765"/>
                  </a:lnTo>
                  <a:lnTo>
                    <a:pt x="7656" y="11836"/>
                  </a:lnTo>
                  <a:lnTo>
                    <a:pt x="7870" y="10895"/>
                  </a:lnTo>
                  <a:lnTo>
                    <a:pt x="8061" y="10443"/>
                  </a:lnTo>
                  <a:lnTo>
                    <a:pt x="8275" y="10002"/>
                  </a:lnTo>
                  <a:lnTo>
                    <a:pt x="8823" y="9240"/>
                  </a:lnTo>
                  <a:lnTo>
                    <a:pt x="9502" y="8597"/>
                  </a:lnTo>
                  <a:lnTo>
                    <a:pt x="10276" y="8121"/>
                  </a:lnTo>
                  <a:lnTo>
                    <a:pt x="11133" y="7788"/>
                  </a:lnTo>
                  <a:lnTo>
                    <a:pt x="12038" y="7633"/>
                  </a:lnTo>
                  <a:lnTo>
                    <a:pt x="12967" y="7657"/>
                  </a:lnTo>
                  <a:lnTo>
                    <a:pt x="13895" y="7859"/>
                  </a:lnTo>
                  <a:lnTo>
                    <a:pt x="14348" y="8050"/>
                  </a:lnTo>
                  <a:lnTo>
                    <a:pt x="14741" y="8240"/>
                  </a:lnTo>
                  <a:lnTo>
                    <a:pt x="15455" y="8728"/>
                  </a:lnTo>
                  <a:lnTo>
                    <a:pt x="16062" y="9347"/>
                  </a:lnTo>
                  <a:lnTo>
                    <a:pt x="16562" y="10050"/>
                  </a:lnTo>
                  <a:lnTo>
                    <a:pt x="16753" y="10443"/>
                  </a:lnTo>
                  <a:lnTo>
                    <a:pt x="22266" y="4930"/>
                  </a:lnTo>
                  <a:lnTo>
                    <a:pt x="21825" y="4347"/>
                  </a:lnTo>
                  <a:lnTo>
                    <a:pt x="20825" y="3311"/>
                  </a:lnTo>
                  <a:lnTo>
                    <a:pt x="19730" y="2394"/>
                  </a:lnTo>
                  <a:lnTo>
                    <a:pt x="18539" y="1620"/>
                  </a:lnTo>
                  <a:lnTo>
                    <a:pt x="17277" y="989"/>
                  </a:lnTo>
                  <a:lnTo>
                    <a:pt x="15943" y="513"/>
                  </a:lnTo>
                  <a:lnTo>
                    <a:pt x="14550" y="179"/>
                  </a:lnTo>
                  <a:lnTo>
                    <a:pt x="13133" y="13"/>
                  </a:lnTo>
                  <a:lnTo>
                    <a:pt x="12407" y="1"/>
                  </a:lnTo>
                  <a:close/>
                </a:path>
              </a:pathLst>
            </a:custGeom>
            <a:solidFill>
              <a:schemeClr val="accent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Slide">
  <p:cSld name="Image Slide_2_2">
    <p:spTree>
      <p:nvGrpSpPr>
        <p:cNvPr id="162" name="Shape 162"/>
        <p:cNvGrpSpPr/>
        <p:nvPr/>
      </p:nvGrpSpPr>
      <p:grpSpPr>
        <a:xfrm>
          <a:off x="0" y="0"/>
          <a:ext cx="0" cy="0"/>
          <a:chOff x="0" y="0"/>
          <a:chExt cx="0" cy="0"/>
        </a:xfrm>
      </p:grpSpPr>
      <p:sp>
        <p:nvSpPr>
          <p:cNvPr id="163" name="Google Shape;163;p35"/>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64" name="Google Shape;164;p35"/>
          <p:cNvPicPr preferRelativeResize="0"/>
          <p:nvPr/>
        </p:nvPicPr>
        <p:blipFill>
          <a:blip r:embed="rId2">
            <a:alphaModFix/>
          </a:blip>
          <a:stretch>
            <a:fillRect/>
          </a:stretch>
        </p:blipFill>
        <p:spPr>
          <a:xfrm>
            <a:off x="991050" y="1828800"/>
            <a:ext cx="8680651" cy="2215375"/>
          </a:xfrm>
          <a:prstGeom prst="rect">
            <a:avLst/>
          </a:prstGeom>
          <a:noFill/>
          <a:ln>
            <a:noFill/>
          </a:ln>
        </p:spPr>
      </p:pic>
      <p:cxnSp>
        <p:nvCxnSpPr>
          <p:cNvPr id="165" name="Google Shape;165;p35"/>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66" name="Google Shape;166;p35"/>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7" name="Google Shape;167;p35"/>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Agenda Slide">
  <p:cSld name="CUSTOM_1_1">
    <p:spTree>
      <p:nvGrpSpPr>
        <p:cNvPr id="168" name="Shape 168"/>
        <p:cNvGrpSpPr/>
        <p:nvPr/>
      </p:nvGrpSpPr>
      <p:grpSpPr>
        <a:xfrm>
          <a:off x="0" y="0"/>
          <a:ext cx="0" cy="0"/>
          <a:chOff x="0" y="0"/>
          <a:chExt cx="0" cy="0"/>
        </a:xfrm>
      </p:grpSpPr>
      <p:sp>
        <p:nvSpPr>
          <p:cNvPr id="169" name="Google Shape;169;p36"/>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0" name="Google Shape;170;p36"/>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1" name="Google Shape;171;p36"/>
          <p:cNvSpPr txBox="1"/>
          <p:nvPr>
            <p:ph type="title"/>
          </p:nvPr>
        </p:nvSpPr>
        <p:spPr>
          <a:xfrm>
            <a:off x="1828800" y="1075775"/>
            <a:ext cx="146397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70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72" name="Google Shape;172;p36"/>
          <p:cNvCxnSpPr/>
          <p:nvPr/>
        </p:nvCxnSpPr>
        <p:spPr>
          <a:xfrm>
            <a:off x="1828800" y="2293760"/>
            <a:ext cx="7091400" cy="0"/>
          </a:xfrm>
          <a:prstGeom prst="straightConnector1">
            <a:avLst/>
          </a:prstGeom>
          <a:noFill/>
          <a:ln cap="flat" cmpd="sng" w="28575">
            <a:solidFill>
              <a:srgbClr val="3C4043"/>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Background">
  <p:cSld name="CUSTOM_1_2">
    <p:spTree>
      <p:nvGrpSpPr>
        <p:cNvPr id="173" name="Shape 173"/>
        <p:cNvGrpSpPr/>
        <p:nvPr/>
      </p:nvGrpSpPr>
      <p:grpSpPr>
        <a:xfrm>
          <a:off x="0" y="0"/>
          <a:ext cx="0" cy="0"/>
          <a:chOff x="0" y="0"/>
          <a:chExt cx="0" cy="0"/>
        </a:xfrm>
      </p:grpSpPr>
      <p:sp>
        <p:nvSpPr>
          <p:cNvPr id="174" name="Google Shape;174;p37"/>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5" name="Google Shape;175;p37"/>
          <p:cNvPicPr preferRelativeResize="0"/>
          <p:nvPr/>
        </p:nvPicPr>
        <p:blipFill rotWithShape="1">
          <a:blip r:embed="rId2">
            <a:alphaModFix/>
          </a:blip>
          <a:srcRect b="0" l="0" r="-21669" t="0"/>
          <a:stretch/>
        </p:blipFill>
        <p:spPr>
          <a:xfrm>
            <a:off x="1010600" y="9256050"/>
            <a:ext cx="3223152" cy="507026"/>
          </a:xfrm>
          <a:prstGeom prst="rect">
            <a:avLst/>
          </a:prstGeom>
          <a:noFill/>
          <a:ln>
            <a:noFill/>
          </a:ln>
        </p:spPr>
      </p:pic>
      <p:sp>
        <p:nvSpPr>
          <p:cNvPr id="176" name="Google Shape;176;p37"/>
          <p:cNvSpPr txBox="1"/>
          <p:nvPr>
            <p:ph type="title"/>
          </p:nvPr>
        </p:nvSpPr>
        <p:spPr>
          <a:xfrm>
            <a:off x="1828800" y="914400"/>
            <a:ext cx="14630400" cy="1075800"/>
          </a:xfrm>
          <a:prstGeom prst="rect">
            <a:avLst/>
          </a:prstGeom>
          <a:noFill/>
          <a:ln>
            <a:noFill/>
          </a:ln>
        </p:spPr>
        <p:txBody>
          <a:bodyPr anchorCtr="0" anchor="t" bIns="91425" lIns="0" spcFirstLastPara="1" rIns="91425" wrap="square" tIns="0">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solidFill>
                  <a:srgbClr val="434343"/>
                </a:solidFill>
              </a:defRPr>
            </a:lvl2pPr>
            <a:lvl3pPr lvl="2" rtl="0">
              <a:spcBef>
                <a:spcPts val="0"/>
              </a:spcBef>
              <a:spcAft>
                <a:spcPts val="0"/>
              </a:spcAft>
              <a:buNone/>
              <a:defRPr>
                <a:solidFill>
                  <a:srgbClr val="434343"/>
                </a:solidFill>
              </a:defRPr>
            </a:lvl3pPr>
            <a:lvl4pPr lvl="3" rtl="0">
              <a:spcBef>
                <a:spcPts val="0"/>
              </a:spcBef>
              <a:spcAft>
                <a:spcPts val="0"/>
              </a:spcAft>
              <a:buNone/>
              <a:defRPr>
                <a:solidFill>
                  <a:srgbClr val="434343"/>
                </a:solidFill>
              </a:defRPr>
            </a:lvl4pPr>
            <a:lvl5pPr lvl="4" rtl="0">
              <a:spcBef>
                <a:spcPts val="0"/>
              </a:spcBef>
              <a:spcAft>
                <a:spcPts val="0"/>
              </a:spcAft>
              <a:buNone/>
              <a:defRPr>
                <a:solidFill>
                  <a:srgbClr val="434343"/>
                </a:solidFill>
              </a:defRPr>
            </a:lvl5pPr>
            <a:lvl6pPr lvl="5" rtl="0">
              <a:spcBef>
                <a:spcPts val="0"/>
              </a:spcBef>
              <a:spcAft>
                <a:spcPts val="0"/>
              </a:spcAft>
              <a:buNone/>
              <a:defRPr>
                <a:solidFill>
                  <a:srgbClr val="434343"/>
                </a:solidFill>
              </a:defRPr>
            </a:lvl6pPr>
            <a:lvl7pPr lvl="6" rtl="0">
              <a:spcBef>
                <a:spcPts val="0"/>
              </a:spcBef>
              <a:spcAft>
                <a:spcPts val="0"/>
              </a:spcAft>
              <a:buNone/>
              <a:defRPr>
                <a:solidFill>
                  <a:srgbClr val="434343"/>
                </a:solidFill>
              </a:defRPr>
            </a:lvl7pPr>
            <a:lvl8pPr lvl="7" rtl="0">
              <a:spcBef>
                <a:spcPts val="0"/>
              </a:spcBef>
              <a:spcAft>
                <a:spcPts val="0"/>
              </a:spcAft>
              <a:buNone/>
              <a:defRPr>
                <a:solidFill>
                  <a:srgbClr val="434343"/>
                </a:solidFill>
              </a:defRPr>
            </a:lvl8pPr>
            <a:lvl9pPr lvl="8" rtl="0">
              <a:spcBef>
                <a:spcPts val="0"/>
              </a:spcBef>
              <a:spcAft>
                <a:spcPts val="0"/>
              </a:spcAft>
              <a:buNone/>
              <a:defRPr>
                <a:solidFill>
                  <a:srgbClr val="434343"/>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b intro">
  <p:cSld name="Image Slide_2_1_1">
    <p:spTree>
      <p:nvGrpSpPr>
        <p:cNvPr id="177" name="Shape 177"/>
        <p:cNvGrpSpPr/>
        <p:nvPr/>
      </p:nvGrpSpPr>
      <p:grpSpPr>
        <a:xfrm>
          <a:off x="0" y="0"/>
          <a:ext cx="0" cy="0"/>
          <a:chOff x="0" y="0"/>
          <a:chExt cx="0" cy="0"/>
        </a:xfrm>
      </p:grpSpPr>
      <p:sp>
        <p:nvSpPr>
          <p:cNvPr id="178" name="Google Shape;178;p38"/>
          <p:cNvSpPr/>
          <p:nvPr/>
        </p:nvSpPr>
        <p:spPr>
          <a:xfrm>
            <a:off x="-18300" y="0"/>
            <a:ext cx="18400800" cy="10496400"/>
          </a:xfrm>
          <a:prstGeom prst="rect">
            <a:avLst/>
          </a:prstGeom>
          <a:solidFill>
            <a:srgbClr val="FFFFFF"/>
          </a:solidFill>
          <a:ln>
            <a:noFill/>
          </a:ln>
        </p:spPr>
        <p:txBody>
          <a:bodyPr anchorCtr="0" anchor="ctr" bIns="91450" lIns="91450" spcFirstLastPara="1" rIns="91450" wrap="square" tIns="91450">
            <a:noAutofit/>
          </a:bodyPr>
          <a:lstStyle/>
          <a:p>
            <a:pPr indent="0" lvl="0" marL="0" rtl="0" algn="l">
              <a:spcBef>
                <a:spcPts val="0"/>
              </a:spcBef>
              <a:spcAft>
                <a:spcPts val="0"/>
              </a:spcAft>
              <a:buNone/>
            </a:pPr>
            <a:r>
              <a:t/>
            </a:r>
            <a:endParaRPr/>
          </a:p>
        </p:txBody>
      </p:sp>
      <p:pic>
        <p:nvPicPr>
          <p:cNvPr id="179" name="Google Shape;179;p38"/>
          <p:cNvPicPr preferRelativeResize="0"/>
          <p:nvPr/>
        </p:nvPicPr>
        <p:blipFill rotWithShape="1">
          <a:blip r:embed="rId2">
            <a:alphaModFix/>
          </a:blip>
          <a:srcRect b="0" l="0" r="72622" t="0"/>
          <a:stretch/>
        </p:blipFill>
        <p:spPr>
          <a:xfrm>
            <a:off x="991050" y="1828800"/>
            <a:ext cx="2376552" cy="2215375"/>
          </a:xfrm>
          <a:prstGeom prst="rect">
            <a:avLst/>
          </a:prstGeom>
          <a:noFill/>
          <a:ln>
            <a:noFill/>
          </a:ln>
        </p:spPr>
      </p:pic>
      <p:cxnSp>
        <p:nvCxnSpPr>
          <p:cNvPr id="180" name="Google Shape;180;p38"/>
          <p:cNvCxnSpPr/>
          <p:nvPr/>
        </p:nvCxnSpPr>
        <p:spPr>
          <a:xfrm>
            <a:off x="1901952" y="3657600"/>
            <a:ext cx="7156200" cy="0"/>
          </a:xfrm>
          <a:prstGeom prst="straightConnector1">
            <a:avLst/>
          </a:prstGeom>
          <a:noFill/>
          <a:ln cap="flat" cmpd="sng" w="28575">
            <a:solidFill>
              <a:srgbClr val="666666"/>
            </a:solidFill>
            <a:prstDash val="solid"/>
            <a:round/>
            <a:headEnd len="med" w="med" type="none"/>
            <a:tailEnd len="med" w="med" type="none"/>
          </a:ln>
        </p:spPr>
      </p:cxnSp>
      <p:sp>
        <p:nvSpPr>
          <p:cNvPr id="181" name="Google Shape;181;p38"/>
          <p:cNvSpPr txBox="1"/>
          <p:nvPr>
            <p:ph idx="1" type="subTitle"/>
          </p:nvPr>
        </p:nvSpPr>
        <p:spPr>
          <a:xfrm>
            <a:off x="1901950" y="3735575"/>
            <a:ext cx="7156200" cy="121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4800">
                <a:solidFill>
                  <a:srgbClr val="4343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2" name="Google Shape;182;p38"/>
          <p:cNvSpPr txBox="1"/>
          <p:nvPr>
            <p:ph type="title"/>
          </p:nvPr>
        </p:nvSpPr>
        <p:spPr>
          <a:xfrm>
            <a:off x="3297450" y="2198300"/>
            <a:ext cx="14569500" cy="1432800"/>
          </a:xfrm>
          <a:prstGeom prst="rect">
            <a:avLst/>
          </a:prstGeom>
          <a:noFill/>
          <a:ln>
            <a:noFill/>
          </a:ln>
        </p:spPr>
        <p:txBody>
          <a:bodyPr anchorCtr="0" anchor="t" bIns="0" lIns="91425" spcFirstLastPara="1" rIns="91425" wrap="square" tIns="0">
            <a:noAutofit/>
          </a:bodyPr>
          <a:lstStyle>
            <a:lvl1pPr lvl="0" rtl="0">
              <a:spcBef>
                <a:spcPts val="0"/>
              </a:spcBef>
              <a:spcAft>
                <a:spcPts val="0"/>
              </a:spcAft>
              <a:buNone/>
              <a:defRPr sz="9600">
                <a:solidFill>
                  <a:srgbClr val="3C4043"/>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83" name="Google Shape;183;p38"/>
          <p:cNvSpPr/>
          <p:nvPr/>
        </p:nvSpPr>
        <p:spPr>
          <a:xfrm>
            <a:off x="887500" y="9265025"/>
            <a:ext cx="2918100" cy="537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theme" Target="../theme/theme1.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21669" t="0"/>
          <a:stretch/>
        </p:blipFill>
        <p:spPr>
          <a:xfrm>
            <a:off x="1010600" y="9256050"/>
            <a:ext cx="3223152" cy="507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hyperlink" Target="https://www.google.com/intl/en/policies/terms/" TargetMode="External"/><Relationship Id="rId4" Type="http://schemas.openxmlformats.org/officeDocument/2006/relationships/hyperlink" Target="https://www.google.com/intl/en/policies/privacy/" TargetMode="External"/><Relationship Id="rId5" Type="http://schemas.openxmlformats.org/officeDocument/2006/relationships/hyperlink" Target="https://www.google.com/intl/en/policies/terms/" TargetMode="External"/><Relationship Id="rId6" Type="http://schemas.openxmlformats.org/officeDocument/2006/relationships/hyperlink" Target="https://sites.google.com/google.com/gcp-teachingresources/privacy-and-term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sites.google.com/google.com/gcp-teachingresources/privacy-and-ter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hyperlink" Target="https://sites.google.com/google.com/gcp-teachingresources/privacy-and-term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46.png"/><Relationship Id="rId4" Type="http://schemas.openxmlformats.org/officeDocument/2006/relationships/hyperlink" Target="https://sites.google.com/google.com/gcp-teachingresources/privacy-and-term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46.png"/><Relationship Id="rId4" Type="http://schemas.openxmlformats.org/officeDocument/2006/relationships/hyperlink" Target="https://sites.google.com/google.com/gcp-teachingresources/privacy-and-term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ites.google.com/google.com/gcp-teachingresources/privacy-and-term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sites.google.com/google.com/gcp-teachingresources/privacy-and-term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sites.google.com/google.com/gcp-teachingresources/privacy-and-term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sites.google.com/google.com/gcp-teachingresources/privacy-and-ter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9.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hyperlink" Target="https://sites.google.com/google.com/gcp-teachingresources/privacy-and-term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hyperlink" Target="https://sites.google.com/google.com/gcp-teachingresources/privacy-and-ter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https://sites.google.com/google.com/gcp-teachingresources/privacy-and-term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35.png"/><Relationship Id="rId4" Type="http://schemas.openxmlformats.org/officeDocument/2006/relationships/hyperlink" Target="https://sites.google.com/google.com/gcp-teachingresources/privacy-and-term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33.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34.png"/><Relationship Id="rId6" Type="http://schemas.openxmlformats.org/officeDocument/2006/relationships/image" Target="../media/image29.png"/><Relationship Id="rId7" Type="http://schemas.openxmlformats.org/officeDocument/2006/relationships/image" Target="../media/image36.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sites.google.com/google.com/gcp-teachingresources/privacy-and-ter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hyperlink" Target="https://sites.google.com/google.com/gcp-teachingresources/privacy-and-term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hyperlink" Target="https://sites.google.com/google.com/gcp-teachingresources/privacy-and-term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41.png"/><Relationship Id="rId4" Type="http://schemas.openxmlformats.org/officeDocument/2006/relationships/hyperlink" Target="https://sites.google.com/google.com/gcp-teachingresources/privacy-and-term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hyperlink" Target="https://sites.google.com/google.com/gcp-teachingresources/privacy-and-term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run.qwiklabs.com/focuses/569?parent=catalog" TargetMode="External"/><Relationship Id="rId4" Type="http://schemas.openxmlformats.org/officeDocument/2006/relationships/hyperlink" Target="https://sites.google.com/google.com/gcp-teachingresources/privacy-and-term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hyperlink" Target="https://sites.google.com/google.com/gcp-teachingresources/privacy-and-term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run.qwiklabs.com/focuses/1760?parent=catalog" TargetMode="External"/><Relationship Id="rId4" Type="http://schemas.openxmlformats.org/officeDocument/2006/relationships/hyperlink" Target="https://sites.google.com/google.com/gcp-teachingresources/privacy-and-term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hyperlink" Target="https://sites.google.com/google.com/gcp-teachingresources/privacy-and-term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47.png"/><Relationship Id="rId4" Type="http://schemas.openxmlformats.org/officeDocument/2006/relationships/hyperlink" Target="https://sites.google.com/google.com/gcp-teachingresources/privacy-and-term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hyperlink" Target="https://sites.google.com/google.com/gcp-teachingresources/privacy-and-term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50.png"/><Relationship Id="rId5" Type="http://schemas.openxmlformats.org/officeDocument/2006/relationships/hyperlink" Target="https://sites.google.com/google.com/gcp-teachingresources/privacy-and-term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https://sites.google.com/google.com/gcp-teachingresources/privacy-and-term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 Id="rId3" Type="http://schemas.openxmlformats.org/officeDocument/2006/relationships/image" Target="../media/image61.png"/><Relationship Id="rId4" Type="http://schemas.openxmlformats.org/officeDocument/2006/relationships/image" Target="../media/image51.png"/><Relationship Id="rId5" Type="http://schemas.openxmlformats.org/officeDocument/2006/relationships/image" Target="../media/image54.png"/><Relationship Id="rId6" Type="http://schemas.openxmlformats.org/officeDocument/2006/relationships/image" Target="../media/image48.png"/><Relationship Id="rId7" Type="http://schemas.openxmlformats.org/officeDocument/2006/relationships/hyperlink" Target="https://sites.google.com/google.com/gcp-teachingresources/privacy-and-term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hyperlink" Target="https://sites.google.com/google.com/gcp-teachingresources/privacy-and-term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run.qwiklabs.com/focuses/936?parent=catalog" TargetMode="External"/><Relationship Id="rId4" Type="http://schemas.openxmlformats.org/officeDocument/2006/relationships/hyperlink" Target="https://sites.google.com/google.com/gcp-teachingresources/privacy-and-term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run.qwiklabs.com/focuses/1157?parent=catalog" TargetMode="External"/><Relationship Id="rId4" Type="http://schemas.openxmlformats.org/officeDocument/2006/relationships/hyperlink" Target="https://sites.google.com/google.com/gcp-teachingresources/privacy-and-term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 Id="rId3" Type="http://schemas.openxmlformats.org/officeDocument/2006/relationships/hyperlink" Target="https://sites.google.com/google.com/gcp-teachingresources/privacy-and-terms" TargetMode="Externa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hyperlink" Target="https://sites.google.com/google.com/gcp-teachingresources/privacy-and-term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hyperlink" Target="https://sites.google.com/google.com/gcp-teachingresources/privacy-and-term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67.png"/><Relationship Id="rId4" Type="http://schemas.openxmlformats.org/officeDocument/2006/relationships/image" Target="../media/image58.png"/><Relationship Id="rId5" Type="http://schemas.openxmlformats.org/officeDocument/2006/relationships/image" Target="../media/image56.png"/><Relationship Id="rId6" Type="http://schemas.openxmlformats.org/officeDocument/2006/relationships/image" Target="../media/image49.png"/><Relationship Id="rId7" Type="http://schemas.openxmlformats.org/officeDocument/2006/relationships/hyperlink" Target="https://sites.google.com/google.com/gcp-teachingresources/privacy-and-term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hyperlink" Target="https://sites.google.com/google.com/gcp-teachingresources/privacy-and-term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hyperlink" Target="https://sites.google.com/google.com/gcp-teachingresources/privacy-and-term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53.png"/><Relationship Id="rId4" Type="http://schemas.openxmlformats.org/officeDocument/2006/relationships/image" Target="../media/image59.png"/><Relationship Id="rId5" Type="http://schemas.openxmlformats.org/officeDocument/2006/relationships/hyperlink" Target="https://sites.google.com/google.com/gcp-teachingresources/privacy-and-term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hyperlink" Target="https://sites.google.com/google.com/gcp-teachingresources/privacy-and-ter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 Id="rId3" Type="http://schemas.openxmlformats.org/officeDocument/2006/relationships/image" Target="../media/image57.png"/><Relationship Id="rId4" Type="http://schemas.openxmlformats.org/officeDocument/2006/relationships/image" Target="../media/image48.png"/><Relationship Id="rId5" Type="http://schemas.openxmlformats.org/officeDocument/2006/relationships/image" Target="../media/image66.png"/><Relationship Id="rId6" Type="http://schemas.openxmlformats.org/officeDocument/2006/relationships/image" Target="../media/image71.png"/><Relationship Id="rId7" Type="http://schemas.openxmlformats.org/officeDocument/2006/relationships/hyperlink" Target="https://sites.google.com/google.com/gcp-teachingresources/privacy-and-term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hyperlink" Target="https://sites.google.com/google.com/gcp-teachingresources/privacy-and-term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hyperlink" Target="https://sites.google.com/google.com/gcp-teachingresources/privacy-and-term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hyperlink" Target="https://sites.google.com/google.com/gcp-teachingresources/privacy-and-terms" TargetMode="External"/><Relationship Id="rId5" Type="http://schemas.openxmlformats.org/officeDocument/2006/relationships/image" Target="../media/image22.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image" Target="../media/image55.png"/><Relationship Id="rId4" Type="http://schemas.openxmlformats.org/officeDocument/2006/relationships/image" Target="../media/image63.png"/><Relationship Id="rId5" Type="http://schemas.openxmlformats.org/officeDocument/2006/relationships/image" Target="../media/image43.png"/><Relationship Id="rId6" Type="http://schemas.openxmlformats.org/officeDocument/2006/relationships/image" Target="../media/image69.png"/><Relationship Id="rId7" Type="http://schemas.openxmlformats.org/officeDocument/2006/relationships/image" Target="../media/image65.png"/><Relationship Id="rId8" Type="http://schemas.openxmlformats.org/officeDocument/2006/relationships/hyperlink" Target="https://sites.google.com/google.com/gcp-teachingresources/privacy-and-term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64.png"/><Relationship Id="rId6" Type="http://schemas.openxmlformats.org/officeDocument/2006/relationships/image" Target="../media/image60.png"/><Relationship Id="rId7" Type="http://schemas.openxmlformats.org/officeDocument/2006/relationships/hyperlink" Target="https://sites.google.com/google.com/gcp-teachingresources/privacy-and-term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3.xml"/><Relationship Id="rId3" Type="http://schemas.openxmlformats.org/officeDocument/2006/relationships/image" Target="../media/image68.png"/><Relationship Id="rId4" Type="http://schemas.openxmlformats.org/officeDocument/2006/relationships/image" Target="../media/image62.png"/><Relationship Id="rId5" Type="http://schemas.openxmlformats.org/officeDocument/2006/relationships/image" Target="../media/image73.png"/><Relationship Id="rId6" Type="http://schemas.openxmlformats.org/officeDocument/2006/relationships/image" Target="../media/image70.png"/><Relationship Id="rId7" Type="http://schemas.openxmlformats.org/officeDocument/2006/relationships/hyperlink" Target="https://sites.google.com/google.com/gcp-teachingresources/privacy-and-term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 Id="rId3" Type="http://schemas.openxmlformats.org/officeDocument/2006/relationships/hyperlink" Target="https://sites.google.com/google.com/gcp-teachingresources/privacy-and-term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5.xml"/><Relationship Id="rId3" Type="http://schemas.openxmlformats.org/officeDocument/2006/relationships/hyperlink" Target="https://sites.google.com/google.com/gcp-teachingresources/privacy-and-term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hyperlink" Target="https://sites.google.com/google.com/gcp-teachingresources/privacy-and-term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 Id="rId3" Type="http://schemas.openxmlformats.org/officeDocument/2006/relationships/hyperlink" Target="https://sites.google.com/google.com/gcp-teachingresources/privacy-and-term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 Id="rId3" Type="http://schemas.openxmlformats.org/officeDocument/2006/relationships/hyperlink" Target="https://sites.google.com/google.com/gcp-teachingresources/privacy-and-term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9.xml"/><Relationship Id="rId3" Type="http://schemas.openxmlformats.org/officeDocument/2006/relationships/hyperlink" Target="https://sites.google.com/google.com/gcp-teachingresources/privacy-and-term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0.xml"/><Relationship Id="rId3" Type="http://schemas.openxmlformats.org/officeDocument/2006/relationships/hyperlink" Target="https://sites.google.com/google.com/gcp-teachingresources/privacy-and-term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1.xml"/><Relationship Id="rId3" Type="http://schemas.openxmlformats.org/officeDocument/2006/relationships/hyperlink" Target="https://sites.google.com/google.com/gcp-teachingresources/privacy-and-term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2.xml"/><Relationship Id="rId3" Type="http://schemas.openxmlformats.org/officeDocument/2006/relationships/hyperlink" Target="https://sites.google.com/google.com/gcp-teachingresources/privacy-and-terms"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hyperlink" Target="https://sites.google.com/google.com/gcp-teachingresources/privacy-and-terms"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4.xml"/><Relationship Id="rId3" Type="http://schemas.openxmlformats.org/officeDocument/2006/relationships/hyperlink" Target="https://sites.google.com/google.com/gcp-teachingresources/privacy-and-terms"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5.xml"/><Relationship Id="rId3" Type="http://schemas.openxmlformats.org/officeDocument/2006/relationships/hyperlink" Target="https://sites.google.com/google.com/gcp-teachingresources/privacy-and-terms"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9"/>
          <p:cNvSpPr txBox="1"/>
          <p:nvPr/>
        </p:nvSpPr>
        <p:spPr>
          <a:xfrm>
            <a:off x="1640300" y="2303225"/>
            <a:ext cx="14775300" cy="66642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None/>
            </a:pPr>
            <a:r>
              <a:rPr lang="en" sz="1900">
                <a:solidFill>
                  <a:srgbClr val="3C4043"/>
                </a:solidFill>
                <a:highlight>
                  <a:srgbClr val="FFFFFF"/>
                </a:highlight>
                <a:latin typeface="Roboto"/>
                <a:ea typeface="Roboto"/>
                <a:cs typeface="Roboto"/>
                <a:sym typeface="Roboto"/>
              </a:rPr>
              <a:t>Thank you for your interest in using Google Cloud training material. We are excited about the content we are able to provide you (collectively, “Teaching Resources”) and hope you are too. </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C4043"/>
                </a:solidFill>
                <a:highlight>
                  <a:srgbClr val="FFFFFF"/>
                </a:highlight>
                <a:latin typeface="Roboto"/>
                <a:ea typeface="Roboto"/>
                <a:cs typeface="Roboto"/>
                <a:sym typeface="Roboto"/>
              </a:rPr>
              <a:t>By using Teaching Resources, you agree to be bound by all of the following terms, as well as the </a:t>
            </a:r>
            <a:r>
              <a:rPr lang="en" sz="1900" u="sng">
                <a:solidFill>
                  <a:srgbClr val="1A73E8"/>
                </a:solidFill>
                <a:highlight>
                  <a:srgbClr val="FFFFFF"/>
                </a:highlight>
                <a:latin typeface="Roboto"/>
                <a:ea typeface="Roboto"/>
                <a:cs typeface="Roboto"/>
                <a:sym typeface="Roboto"/>
                <a:hlinkClick r:id="rId3">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 and the </a:t>
            </a:r>
            <a:r>
              <a:rPr lang="en" sz="1900" u="sng">
                <a:solidFill>
                  <a:srgbClr val="1A73E8"/>
                </a:solidFill>
                <a:highlight>
                  <a:srgbClr val="FFFFFF"/>
                </a:highlight>
                <a:latin typeface="Roboto"/>
                <a:ea typeface="Roboto"/>
                <a:cs typeface="Roboto"/>
                <a:sym typeface="Roboto"/>
                <a:hlinkClick r:id="rId4">
                  <a:extLst>
                    <a:ext uri="{A12FA001-AC4F-418D-AE19-62706E023703}">
                      <ahyp:hlinkClr val="tx"/>
                    </a:ext>
                  </a:extLst>
                </a:hlinkClick>
              </a:rPr>
              <a:t>Google privacy policy</a:t>
            </a:r>
            <a:r>
              <a:rPr lang="en" sz="1900">
                <a:solidFill>
                  <a:srgbClr val="3C4043"/>
                </a:solidFill>
                <a:highlight>
                  <a:srgbClr val="FFFFFF"/>
                </a:highlight>
                <a:latin typeface="Roboto"/>
                <a:ea typeface="Roboto"/>
                <a:cs typeface="Roboto"/>
                <a:sym typeface="Roboto"/>
              </a:rPr>
              <a:t>. Unless otherwise specified, terms used below will have the meanings described in the </a:t>
            </a:r>
            <a:r>
              <a:rPr lang="en" sz="1900" u="sng">
                <a:solidFill>
                  <a:srgbClr val="1A73E8"/>
                </a:solidFill>
                <a:highlight>
                  <a:srgbClr val="FFFFFF"/>
                </a:highlight>
                <a:latin typeface="Roboto"/>
                <a:ea typeface="Roboto"/>
                <a:cs typeface="Roboto"/>
                <a:sym typeface="Roboto"/>
                <a:hlinkClick r:id="rId5">
                  <a:extLst>
                    <a:ext uri="{A12FA001-AC4F-418D-AE19-62706E023703}">
                      <ahyp:hlinkClr val="tx"/>
                    </a:ext>
                  </a:extLst>
                </a:hlinkClick>
              </a:rPr>
              <a:t>Google terms of service</a:t>
            </a:r>
            <a:r>
              <a:rPr lang="en" sz="1900">
                <a:solidFill>
                  <a:srgbClr val="3C4043"/>
                </a:solidFill>
                <a:highlight>
                  <a:srgbClr val="FFFFFF"/>
                </a:highlight>
                <a:latin typeface="Roboto"/>
                <a:ea typeface="Roboto"/>
                <a:cs typeface="Roboto"/>
                <a:sym typeface="Roboto"/>
              </a:rPr>
              <a:t>.</a:t>
            </a:r>
            <a:endParaRPr sz="1900">
              <a:solidFill>
                <a:srgbClr val="3C4043"/>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b="1" sz="1900">
              <a:solidFill>
                <a:srgbClr val="3C4043"/>
              </a:solidFill>
              <a:highlight>
                <a:srgbClr val="FFFFFF"/>
              </a:highlight>
              <a:latin typeface="Roboto"/>
              <a:ea typeface="Roboto"/>
              <a:cs typeface="Roboto"/>
              <a:sym typeface="Roboto"/>
            </a:endParaRPr>
          </a:p>
          <a:p>
            <a:pPr indent="-577850" lvl="0" marL="914400" rtl="0" algn="l">
              <a:spcBef>
                <a:spcPts val="120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Educational Use Only</a:t>
            </a:r>
            <a:r>
              <a:rPr lang="en" sz="1900">
                <a:solidFill>
                  <a:srgbClr val="3C4043"/>
                </a:solidFill>
                <a:highlight>
                  <a:srgbClr val="FFFFFF"/>
                </a:highlight>
                <a:latin typeface="Roboto"/>
                <a:ea typeface="Roboto"/>
                <a:cs typeface="Roboto"/>
                <a:sym typeface="Roboto"/>
              </a:rPr>
              <a:t>. Teaching Resources is intended only for use teaching courses at regionally accredited or higher learning institutions. The content may be adapted, customize, remixed, and shared for educational use. Content may not be distributed, or otherwise exploited for any commercial purpose, commercial advantage, or private monetary compensation.</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b="1" lang="en" sz="1900">
                <a:solidFill>
                  <a:srgbClr val="3C4043"/>
                </a:solidFill>
                <a:highlight>
                  <a:srgbClr val="FFFFFF"/>
                </a:highlight>
                <a:latin typeface="Roboto"/>
                <a:ea typeface="Roboto"/>
                <a:cs typeface="Roboto"/>
                <a:sym typeface="Roboto"/>
              </a:rPr>
              <a:t>Attribution Requirements</a:t>
            </a:r>
            <a:r>
              <a:rPr lang="en" sz="1900">
                <a:solidFill>
                  <a:srgbClr val="3C4043"/>
                </a:solidFill>
                <a:highlight>
                  <a:srgbClr val="FFFFFF"/>
                </a:highlight>
                <a:latin typeface="Roboto"/>
                <a:ea typeface="Roboto"/>
                <a:cs typeface="Roboto"/>
                <a:sym typeface="Roboto"/>
              </a:rPr>
              <a:t>. If you distribute, publicly perform, display, transmit, publish, or otherwise make available any Teaching Resources or any derivative works thereof, you must attribute the material you use back to the Teaching Resources, but not in any way that suggests Google, any of its affiliates, or any of its third party content providers endorse you or your use of such materials. If you adapt, remix, or customize the Teaching Resources please include the following text on each edited slide: </a:t>
            </a:r>
            <a:r>
              <a:rPr i="1" lang="en" sz="1900">
                <a:solidFill>
                  <a:srgbClr val="3C4043"/>
                </a:solidFill>
                <a:highlight>
                  <a:srgbClr val="FFFFFF"/>
                </a:highlight>
                <a:latin typeface="Roboto"/>
                <a:ea typeface="Roboto"/>
                <a:cs typeface="Roboto"/>
                <a:sym typeface="Roboto"/>
              </a:rPr>
              <a:t>“The original content was provided by Google LLC and modified for the purpose of the course, without input or endorsement from Google LLC.”</a:t>
            </a:r>
            <a:r>
              <a:rPr lang="en" sz="1900">
                <a:solidFill>
                  <a:srgbClr val="3C4043"/>
                </a:solidFill>
                <a:highlight>
                  <a:srgbClr val="FFFFFF"/>
                </a:highlight>
                <a:latin typeface="Roboto"/>
                <a:ea typeface="Roboto"/>
                <a:cs typeface="Roboto"/>
                <a:sym typeface="Roboto"/>
              </a:rPr>
              <a:t> </a:t>
            </a:r>
            <a:endParaRPr sz="1900">
              <a:solidFill>
                <a:srgbClr val="3C4043"/>
              </a:solidFill>
              <a:highlight>
                <a:srgbClr val="FFFFFF"/>
              </a:highlight>
              <a:latin typeface="Roboto"/>
              <a:ea typeface="Roboto"/>
              <a:cs typeface="Roboto"/>
              <a:sym typeface="Roboto"/>
            </a:endParaRPr>
          </a:p>
          <a:p>
            <a:pPr indent="0" lvl="0" marL="914400" rtl="0" algn="l">
              <a:spcBef>
                <a:spcPts val="0"/>
              </a:spcBef>
              <a:spcAft>
                <a:spcPts val="0"/>
              </a:spcAft>
              <a:buNone/>
            </a:pPr>
            <a:r>
              <a:t/>
            </a:r>
            <a:endParaRPr sz="1900">
              <a:solidFill>
                <a:srgbClr val="3C4043"/>
              </a:solidFill>
              <a:highlight>
                <a:srgbClr val="FFFFFF"/>
              </a:highlight>
              <a:latin typeface="Roboto"/>
              <a:ea typeface="Roboto"/>
              <a:cs typeface="Roboto"/>
              <a:sym typeface="Roboto"/>
            </a:endParaRPr>
          </a:p>
          <a:p>
            <a:pPr indent="-577850" lvl="0" marL="914400" rtl="0" algn="l">
              <a:spcBef>
                <a:spcPts val="0"/>
              </a:spcBef>
              <a:spcAft>
                <a:spcPts val="0"/>
              </a:spcAft>
              <a:buClr>
                <a:srgbClr val="3C4043"/>
              </a:buClr>
              <a:buSzPts val="1900"/>
              <a:buFont typeface="Roboto"/>
              <a:buAutoNum type="arabicPeriod"/>
            </a:pPr>
            <a:r>
              <a:rPr lang="en" sz="1900">
                <a:solidFill>
                  <a:srgbClr val="3C4043"/>
                </a:solidFill>
                <a:highlight>
                  <a:srgbClr val="FFFFFF"/>
                </a:highlight>
                <a:latin typeface="Roboto"/>
                <a:ea typeface="Roboto"/>
                <a:cs typeface="Roboto"/>
                <a:sym typeface="Roboto"/>
              </a:rPr>
              <a:t>Descriptions of Google products, services, infrastructure and processes contained in the Teaching Resources are descriptions for teaching and learning purposes only and do not constitute a guarantee, promise, or representation of accuracy by Google. Pricing, availability or features of Google Cloud products and services described in the Teaching Resources may change.</a:t>
            </a:r>
            <a:endParaRPr sz="2100">
              <a:solidFill>
                <a:srgbClr val="3C4043"/>
              </a:solidFill>
              <a:highlight>
                <a:srgbClr val="FFFFFF"/>
              </a:highlight>
              <a:latin typeface="Roboto"/>
              <a:ea typeface="Roboto"/>
              <a:cs typeface="Roboto"/>
              <a:sym typeface="Roboto"/>
            </a:endParaRPr>
          </a:p>
        </p:txBody>
      </p:sp>
      <p:sp>
        <p:nvSpPr>
          <p:cNvPr id="189" name="Google Shape;189;p3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Disclaimer</a:t>
            </a:r>
            <a:endParaRPr sz="4800">
              <a:solidFill>
                <a:srgbClr val="202124"/>
              </a:solidFill>
              <a:latin typeface="Google Sans"/>
              <a:ea typeface="Google Sans"/>
              <a:cs typeface="Google Sans"/>
              <a:sym typeface="Google Sans"/>
            </a:endParaRPr>
          </a:p>
        </p:txBody>
      </p:sp>
      <p:sp>
        <p:nvSpPr>
          <p:cNvPr id="190" name="Google Shape;190;p3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6">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0"/>
          <p:cNvSpPr txBox="1"/>
          <p:nvPr>
            <p:ph type="title"/>
          </p:nvPr>
        </p:nvSpPr>
        <p:spPr>
          <a:xfrm>
            <a:off x="1753100" y="4201375"/>
            <a:ext cx="7206900" cy="37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Do I Store</a:t>
            </a:r>
            <a:br>
              <a:rPr lang="en"/>
            </a:br>
            <a:r>
              <a:rPr lang="en"/>
              <a:t>This Stuff?</a:t>
            </a:r>
            <a:endParaRPr/>
          </a:p>
        </p:txBody>
      </p:sp>
      <p:sp>
        <p:nvSpPr>
          <p:cNvPr id="196" name="Google Shape;196;p40"/>
          <p:cNvSpPr txBox="1"/>
          <p:nvPr>
            <p:ph idx="2" type="subTitle"/>
          </p:nvPr>
        </p:nvSpPr>
        <p:spPr>
          <a:xfrm>
            <a:off x="1795700" y="8564800"/>
            <a:ext cx="8174700" cy="6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1"/>
          <p:cNvSpPr/>
          <p:nvPr/>
        </p:nvSpPr>
        <p:spPr>
          <a:xfrm>
            <a:off x="18288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a:t>
            </a:r>
            <a:endParaRPr sz="2800">
              <a:solidFill>
                <a:srgbClr val="FFFFFF"/>
              </a:solidFill>
              <a:latin typeface="Roboto"/>
              <a:ea typeface="Roboto"/>
              <a:cs typeface="Roboto"/>
              <a:sym typeface="Roboto"/>
            </a:endParaRPr>
          </a:p>
        </p:txBody>
      </p:sp>
      <p:sp>
        <p:nvSpPr>
          <p:cNvPr id="203" name="Google Shape;203;p41"/>
          <p:cNvSpPr/>
          <p:nvPr/>
        </p:nvSpPr>
        <p:spPr>
          <a:xfrm>
            <a:off x="481965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2</a:t>
            </a:r>
            <a:endParaRPr sz="2800">
              <a:solidFill>
                <a:srgbClr val="FFFFFF"/>
              </a:solidFill>
              <a:latin typeface="Roboto"/>
              <a:ea typeface="Roboto"/>
              <a:cs typeface="Roboto"/>
              <a:sym typeface="Roboto"/>
            </a:endParaRPr>
          </a:p>
        </p:txBody>
      </p:sp>
      <p:sp>
        <p:nvSpPr>
          <p:cNvPr id="204" name="Google Shape;204;p41"/>
          <p:cNvSpPr/>
          <p:nvPr/>
        </p:nvSpPr>
        <p:spPr>
          <a:xfrm>
            <a:off x="78105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3</a:t>
            </a:r>
            <a:endParaRPr sz="2800">
              <a:solidFill>
                <a:srgbClr val="FFFFFF"/>
              </a:solidFill>
              <a:latin typeface="Roboto"/>
              <a:ea typeface="Roboto"/>
              <a:cs typeface="Roboto"/>
              <a:sym typeface="Roboto"/>
            </a:endParaRPr>
          </a:p>
        </p:txBody>
      </p:sp>
      <p:sp>
        <p:nvSpPr>
          <p:cNvPr id="205" name="Google Shape;205;p41"/>
          <p:cNvSpPr/>
          <p:nvPr/>
        </p:nvSpPr>
        <p:spPr>
          <a:xfrm>
            <a:off x="10801350" y="2452500"/>
            <a:ext cx="2681100" cy="685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4</a:t>
            </a:r>
            <a:endParaRPr sz="2800">
              <a:solidFill>
                <a:srgbClr val="FFFFFF"/>
              </a:solidFill>
              <a:latin typeface="Roboto"/>
              <a:ea typeface="Roboto"/>
              <a:cs typeface="Roboto"/>
              <a:sym typeface="Roboto"/>
            </a:endParaRPr>
          </a:p>
        </p:txBody>
      </p:sp>
      <p:sp>
        <p:nvSpPr>
          <p:cNvPr id="206" name="Google Shape;206;p41"/>
          <p:cNvSpPr/>
          <p:nvPr/>
        </p:nvSpPr>
        <p:spPr>
          <a:xfrm>
            <a:off x="13792200" y="24525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5</a:t>
            </a:r>
            <a:endParaRPr sz="2800">
              <a:solidFill>
                <a:srgbClr val="FFFFFF"/>
              </a:solidFill>
              <a:latin typeface="Roboto"/>
              <a:ea typeface="Roboto"/>
              <a:cs typeface="Roboto"/>
              <a:sym typeface="Roboto"/>
            </a:endParaRPr>
          </a:p>
        </p:txBody>
      </p:sp>
      <p:sp>
        <p:nvSpPr>
          <p:cNvPr id="207" name="Google Shape;207;p41"/>
          <p:cNvSpPr/>
          <p:nvPr/>
        </p:nvSpPr>
        <p:spPr>
          <a:xfrm>
            <a:off x="18288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6</a:t>
            </a:r>
            <a:endParaRPr sz="2800">
              <a:solidFill>
                <a:srgbClr val="FFFFFF"/>
              </a:solidFill>
              <a:latin typeface="Roboto"/>
              <a:ea typeface="Roboto"/>
              <a:cs typeface="Roboto"/>
              <a:sym typeface="Roboto"/>
            </a:endParaRPr>
          </a:p>
        </p:txBody>
      </p:sp>
      <p:sp>
        <p:nvSpPr>
          <p:cNvPr id="208" name="Google Shape;208;p41"/>
          <p:cNvSpPr/>
          <p:nvPr/>
        </p:nvSpPr>
        <p:spPr>
          <a:xfrm>
            <a:off x="48196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7</a:t>
            </a:r>
            <a:endParaRPr sz="2800">
              <a:solidFill>
                <a:srgbClr val="FFFFFF"/>
              </a:solidFill>
              <a:latin typeface="Roboto"/>
              <a:ea typeface="Roboto"/>
              <a:cs typeface="Roboto"/>
              <a:sym typeface="Roboto"/>
            </a:endParaRPr>
          </a:p>
        </p:txBody>
      </p:sp>
      <p:sp>
        <p:nvSpPr>
          <p:cNvPr id="209" name="Google Shape;209;p41"/>
          <p:cNvSpPr/>
          <p:nvPr/>
        </p:nvSpPr>
        <p:spPr>
          <a:xfrm>
            <a:off x="78105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8</a:t>
            </a:r>
            <a:endParaRPr sz="2800">
              <a:solidFill>
                <a:srgbClr val="FFFFFF"/>
              </a:solidFill>
              <a:latin typeface="Roboto"/>
              <a:ea typeface="Roboto"/>
              <a:cs typeface="Roboto"/>
              <a:sym typeface="Roboto"/>
            </a:endParaRPr>
          </a:p>
        </p:txBody>
      </p:sp>
      <p:sp>
        <p:nvSpPr>
          <p:cNvPr id="210" name="Google Shape;210;p41"/>
          <p:cNvSpPr/>
          <p:nvPr/>
        </p:nvSpPr>
        <p:spPr>
          <a:xfrm>
            <a:off x="1080135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9</a:t>
            </a:r>
            <a:endParaRPr sz="2800">
              <a:solidFill>
                <a:srgbClr val="FFFFFF"/>
              </a:solidFill>
              <a:latin typeface="Roboto"/>
              <a:ea typeface="Roboto"/>
              <a:cs typeface="Roboto"/>
              <a:sym typeface="Roboto"/>
            </a:endParaRPr>
          </a:p>
        </p:txBody>
      </p:sp>
      <p:sp>
        <p:nvSpPr>
          <p:cNvPr id="211" name="Google Shape;211;p41"/>
          <p:cNvSpPr/>
          <p:nvPr/>
        </p:nvSpPr>
        <p:spPr>
          <a:xfrm>
            <a:off x="13792200" y="5195700"/>
            <a:ext cx="26811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Module 10</a:t>
            </a:r>
            <a:endParaRPr sz="2800">
              <a:solidFill>
                <a:srgbClr val="FFFFFF"/>
              </a:solidFill>
              <a:latin typeface="Roboto"/>
              <a:ea typeface="Roboto"/>
              <a:cs typeface="Roboto"/>
              <a:sym typeface="Roboto"/>
            </a:endParaRPr>
          </a:p>
        </p:txBody>
      </p:sp>
      <p:sp>
        <p:nvSpPr>
          <p:cNvPr id="212" name="Google Shape;212;p41"/>
          <p:cNvSpPr/>
          <p:nvPr/>
        </p:nvSpPr>
        <p:spPr>
          <a:xfrm>
            <a:off x="182880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So, What’s the Cloud Anyway?</a:t>
            </a:r>
            <a:endParaRPr sz="2000">
              <a:solidFill>
                <a:schemeClr val="lt1"/>
              </a:solidFill>
              <a:latin typeface="Roboto"/>
              <a:ea typeface="Roboto"/>
              <a:cs typeface="Roboto"/>
              <a:sym typeface="Roboto"/>
            </a:endParaRPr>
          </a:p>
        </p:txBody>
      </p:sp>
      <p:sp>
        <p:nvSpPr>
          <p:cNvPr id="213" name="Google Shape;213;p41"/>
          <p:cNvSpPr/>
          <p:nvPr/>
        </p:nvSpPr>
        <p:spPr>
          <a:xfrm>
            <a:off x="481965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Start with a Solid Platform</a:t>
            </a:r>
            <a:endParaRPr sz="2000">
              <a:solidFill>
                <a:schemeClr val="lt1"/>
              </a:solidFill>
              <a:latin typeface="Roboto"/>
              <a:ea typeface="Roboto"/>
              <a:cs typeface="Roboto"/>
              <a:sym typeface="Roboto"/>
            </a:endParaRPr>
          </a:p>
        </p:txBody>
      </p:sp>
      <p:sp>
        <p:nvSpPr>
          <p:cNvPr id="214" name="Google Shape;214;p41"/>
          <p:cNvSpPr/>
          <p:nvPr/>
        </p:nvSpPr>
        <p:spPr>
          <a:xfrm>
            <a:off x="781050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Use </a:t>
            </a:r>
            <a:r>
              <a:rPr lang="en" sz="2000">
                <a:solidFill>
                  <a:schemeClr val="lt1"/>
                </a:solidFill>
                <a:latin typeface="Roboto"/>
                <a:ea typeface="Roboto"/>
                <a:cs typeface="Roboto"/>
                <a:sym typeface="Roboto"/>
              </a:rPr>
              <a:t>Google Cloud</a:t>
            </a:r>
            <a:r>
              <a:rPr lang="en" sz="2000">
                <a:solidFill>
                  <a:schemeClr val="lt1"/>
                </a:solidFill>
                <a:latin typeface="Roboto"/>
                <a:ea typeface="Roboto"/>
                <a:cs typeface="Roboto"/>
                <a:sym typeface="Roboto"/>
              </a:rPr>
              <a:t> to Build Your Apps</a:t>
            </a:r>
            <a:endParaRPr sz="2000">
              <a:solidFill>
                <a:schemeClr val="lt1"/>
              </a:solidFill>
              <a:latin typeface="Roboto"/>
              <a:ea typeface="Roboto"/>
              <a:cs typeface="Roboto"/>
              <a:sym typeface="Roboto"/>
            </a:endParaRPr>
          </a:p>
        </p:txBody>
      </p:sp>
      <p:sp>
        <p:nvSpPr>
          <p:cNvPr id="215" name="Google Shape;215;p41"/>
          <p:cNvSpPr/>
          <p:nvPr/>
        </p:nvSpPr>
        <p:spPr>
          <a:xfrm>
            <a:off x="10801350" y="3290700"/>
            <a:ext cx="2681100" cy="16281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Where Do I Store This Stuff?</a:t>
            </a:r>
            <a:endParaRPr sz="2000">
              <a:solidFill>
                <a:schemeClr val="lt1"/>
              </a:solidFill>
              <a:latin typeface="Roboto"/>
              <a:ea typeface="Roboto"/>
              <a:cs typeface="Roboto"/>
              <a:sym typeface="Roboto"/>
            </a:endParaRPr>
          </a:p>
        </p:txBody>
      </p:sp>
      <p:sp>
        <p:nvSpPr>
          <p:cNvPr id="216" name="Google Shape;216;p41"/>
          <p:cNvSpPr/>
          <p:nvPr/>
        </p:nvSpPr>
        <p:spPr>
          <a:xfrm>
            <a:off x="13792200" y="3290700"/>
            <a:ext cx="2681100" cy="16281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There’s an API for That!</a:t>
            </a:r>
            <a:endParaRPr sz="2000">
              <a:solidFill>
                <a:schemeClr val="lt1"/>
              </a:solidFill>
              <a:latin typeface="Roboto"/>
              <a:ea typeface="Roboto"/>
              <a:cs typeface="Roboto"/>
              <a:sym typeface="Roboto"/>
            </a:endParaRPr>
          </a:p>
        </p:txBody>
      </p:sp>
      <p:sp>
        <p:nvSpPr>
          <p:cNvPr id="217" name="Google Shape;217;p41"/>
          <p:cNvSpPr/>
          <p:nvPr/>
        </p:nvSpPr>
        <p:spPr>
          <a:xfrm>
            <a:off x="1828800" y="6033900"/>
            <a:ext cx="2681100" cy="1627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Can’t Secure the Cloud, Right?</a:t>
            </a:r>
            <a:endParaRPr sz="2000">
              <a:solidFill>
                <a:schemeClr val="lt1"/>
              </a:solidFill>
              <a:latin typeface="Roboto"/>
              <a:ea typeface="Roboto"/>
              <a:cs typeface="Roboto"/>
              <a:sym typeface="Roboto"/>
            </a:endParaRPr>
          </a:p>
        </p:txBody>
      </p:sp>
      <p:sp>
        <p:nvSpPr>
          <p:cNvPr id="218" name="Google Shape;218;p41"/>
          <p:cNvSpPr/>
          <p:nvPr/>
        </p:nvSpPr>
        <p:spPr>
          <a:xfrm>
            <a:off x="4819650" y="6033900"/>
            <a:ext cx="2681100" cy="1627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It Helps to Network</a:t>
            </a:r>
            <a:endParaRPr sz="2000">
              <a:solidFill>
                <a:schemeClr val="lt1"/>
              </a:solidFill>
              <a:latin typeface="Roboto"/>
              <a:ea typeface="Roboto"/>
              <a:cs typeface="Roboto"/>
              <a:sym typeface="Roboto"/>
            </a:endParaRPr>
          </a:p>
        </p:txBody>
      </p:sp>
      <p:sp>
        <p:nvSpPr>
          <p:cNvPr id="219" name="Google Shape;219;p41"/>
          <p:cNvSpPr/>
          <p:nvPr/>
        </p:nvSpPr>
        <p:spPr>
          <a:xfrm>
            <a:off x="7810500" y="6033900"/>
            <a:ext cx="2681100" cy="1627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Google Keep an Eye on Things</a:t>
            </a:r>
            <a:endParaRPr sz="2000">
              <a:solidFill>
                <a:schemeClr val="lt1"/>
              </a:solidFill>
              <a:latin typeface="Roboto"/>
              <a:ea typeface="Roboto"/>
              <a:cs typeface="Roboto"/>
              <a:sym typeface="Roboto"/>
            </a:endParaRPr>
          </a:p>
        </p:txBody>
      </p:sp>
      <p:sp>
        <p:nvSpPr>
          <p:cNvPr id="220" name="Google Shape;220;p41"/>
          <p:cNvSpPr/>
          <p:nvPr/>
        </p:nvSpPr>
        <p:spPr>
          <a:xfrm>
            <a:off x="1080135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You Have the Data, but What Are You Doing with It?</a:t>
            </a:r>
            <a:endParaRPr sz="2000">
              <a:solidFill>
                <a:schemeClr val="lt1"/>
              </a:solidFill>
              <a:latin typeface="Roboto"/>
              <a:ea typeface="Roboto"/>
              <a:cs typeface="Roboto"/>
              <a:sym typeface="Roboto"/>
            </a:endParaRPr>
          </a:p>
        </p:txBody>
      </p:sp>
      <p:sp>
        <p:nvSpPr>
          <p:cNvPr id="221" name="Google Shape;221;p41"/>
          <p:cNvSpPr/>
          <p:nvPr/>
        </p:nvSpPr>
        <p:spPr>
          <a:xfrm>
            <a:off x="13792200" y="6033900"/>
            <a:ext cx="2681100" cy="16275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Roboto"/>
                <a:ea typeface="Roboto"/>
                <a:cs typeface="Roboto"/>
                <a:sym typeface="Roboto"/>
              </a:rPr>
              <a:t>Let Machines Do the Work</a:t>
            </a:r>
            <a:endParaRPr sz="2000">
              <a:solidFill>
                <a:schemeClr val="lt1"/>
              </a:solidFill>
              <a:latin typeface="Roboto"/>
              <a:ea typeface="Roboto"/>
              <a:cs typeface="Roboto"/>
              <a:sym typeface="Roboto"/>
            </a:endParaRPr>
          </a:p>
        </p:txBody>
      </p:sp>
      <p:sp>
        <p:nvSpPr>
          <p:cNvPr id="222" name="Google Shape;222;p41"/>
          <p:cNvSpPr/>
          <p:nvPr/>
        </p:nvSpPr>
        <p:spPr>
          <a:xfrm>
            <a:off x="1828800" y="7938900"/>
            <a:ext cx="14639700" cy="68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rgbClr val="FFFFFF"/>
                </a:solidFill>
                <a:latin typeface="Roboto"/>
                <a:ea typeface="Roboto"/>
                <a:cs typeface="Roboto"/>
                <a:sym typeface="Roboto"/>
              </a:rPr>
              <a:t>Google Cloud skills badges</a:t>
            </a:r>
            <a:endParaRPr sz="2800">
              <a:solidFill>
                <a:srgbClr val="FFFFFF"/>
              </a:solidFill>
              <a:latin typeface="Roboto"/>
              <a:ea typeface="Roboto"/>
              <a:cs typeface="Roboto"/>
              <a:sym typeface="Roboto"/>
            </a:endParaRPr>
          </a:p>
        </p:txBody>
      </p:sp>
      <p:sp>
        <p:nvSpPr>
          <p:cNvPr id="223" name="Google Shape;223;p4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Course map</a:t>
            </a:r>
            <a:endParaRPr/>
          </a:p>
        </p:txBody>
      </p:sp>
      <p:sp>
        <p:nvSpPr>
          <p:cNvPr id="224" name="Google Shape;224;p4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(1/2)</a:t>
            </a:r>
            <a:endParaRPr/>
          </a:p>
        </p:txBody>
      </p:sp>
      <p:sp>
        <p:nvSpPr>
          <p:cNvPr id="230" name="Google Shape;230;p42"/>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Implement a variety of structured and unstructured storage models</a:t>
            </a:r>
            <a:endParaRPr sz="3000"/>
          </a:p>
          <a:p>
            <a:pPr indent="-419100" lvl="0" marL="457200" rtl="0" algn="l">
              <a:spcBef>
                <a:spcPts val="2900"/>
              </a:spcBef>
              <a:spcAft>
                <a:spcPts val="0"/>
              </a:spcAft>
              <a:buSzPts val="3000"/>
              <a:buChar char="●"/>
            </a:pPr>
            <a:r>
              <a:rPr lang="en" sz="3000"/>
              <a:t>Compare and contrast the different Cloud Storage options</a:t>
            </a:r>
            <a:endParaRPr sz="3000"/>
          </a:p>
          <a:p>
            <a:pPr indent="-419100" lvl="0" marL="457200" rtl="0" algn="l">
              <a:spcBef>
                <a:spcPts val="2900"/>
              </a:spcBef>
              <a:spcAft>
                <a:spcPts val="0"/>
              </a:spcAft>
              <a:buSzPts val="3000"/>
              <a:buChar char="●"/>
            </a:pPr>
            <a:r>
              <a:rPr lang="en" sz="3000"/>
              <a:t>Distinguish between structured and unstructured storage options in</a:t>
            </a:r>
            <a:br>
              <a:rPr lang="en" sz="3000"/>
            </a:br>
            <a:r>
              <a:rPr lang="en" sz="3000"/>
              <a:t>the cloud</a:t>
            </a:r>
            <a:endParaRPr sz="3000"/>
          </a:p>
          <a:p>
            <a:pPr indent="-419100" lvl="0" marL="457200" rtl="0" algn="l">
              <a:spcBef>
                <a:spcPts val="2900"/>
              </a:spcBef>
              <a:spcAft>
                <a:spcPts val="2900"/>
              </a:spcAft>
              <a:buSzPts val="3000"/>
              <a:buChar char="●"/>
            </a:pPr>
            <a:r>
              <a:rPr lang="en" sz="3000"/>
              <a:t>Compare the role of the different Cloud Storage options</a:t>
            </a:r>
            <a:endParaRPr sz="3000"/>
          </a:p>
        </p:txBody>
      </p:sp>
      <p:pic>
        <p:nvPicPr>
          <p:cNvPr id="231" name="Google Shape;231;p42"/>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32" name="Google Shape;232;p4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how to ... (2/2)</a:t>
            </a:r>
            <a:endParaRPr/>
          </a:p>
        </p:txBody>
      </p:sp>
      <p:sp>
        <p:nvSpPr>
          <p:cNvPr id="238" name="Google Shape;238;p43"/>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Explore the use case for Relational versus NoSQL storage options</a:t>
            </a:r>
            <a:endParaRPr sz="3000"/>
          </a:p>
          <a:p>
            <a:pPr indent="-419100" lvl="0" marL="457200" rtl="0" algn="l">
              <a:spcBef>
                <a:spcPts val="2900"/>
              </a:spcBef>
              <a:spcAft>
                <a:spcPts val="0"/>
              </a:spcAft>
              <a:buSzPts val="3000"/>
              <a:buChar char="●"/>
            </a:pPr>
            <a:r>
              <a:rPr lang="en" sz="3000"/>
              <a:t>Describe leveraging Cloud Storage as an unstructured storage option</a:t>
            </a:r>
            <a:endParaRPr sz="3000"/>
          </a:p>
          <a:p>
            <a:pPr indent="-419100" lvl="0" marL="457200" rtl="0" algn="l">
              <a:spcBef>
                <a:spcPts val="2900"/>
              </a:spcBef>
              <a:spcAft>
                <a:spcPts val="0"/>
              </a:spcAft>
              <a:buSzPts val="3000"/>
              <a:buChar char="●"/>
            </a:pPr>
            <a:r>
              <a:rPr lang="en" sz="3000"/>
              <a:t>Explain relational database options in the cloud</a:t>
            </a:r>
            <a:endParaRPr sz="3000"/>
          </a:p>
          <a:p>
            <a:pPr indent="-419100" lvl="0" marL="457200" rtl="0" algn="l">
              <a:spcBef>
                <a:spcPts val="2900"/>
              </a:spcBef>
              <a:spcAft>
                <a:spcPts val="2900"/>
              </a:spcAft>
              <a:buSzPts val="3000"/>
              <a:buChar char="●"/>
            </a:pPr>
            <a:r>
              <a:rPr lang="en" sz="3000"/>
              <a:t>Describe the NoSQL options in</a:t>
            </a:r>
            <a:br>
              <a:rPr lang="en" sz="3000"/>
            </a:br>
            <a:r>
              <a:rPr lang="en" sz="3000"/>
              <a:t>Google Cloud</a:t>
            </a:r>
            <a:endParaRPr sz="3000"/>
          </a:p>
        </p:txBody>
      </p:sp>
      <p:pic>
        <p:nvPicPr>
          <p:cNvPr id="239" name="Google Shape;239;p43"/>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240" name="Google Shape;240;p4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Options in the Cloud</a:t>
            </a:r>
            <a:endParaRPr/>
          </a:p>
          <a:p>
            <a:pPr indent="0" lvl="0" marL="0" rtl="0" algn="l">
              <a:spcBef>
                <a:spcPts val="2900"/>
              </a:spcBef>
              <a:spcAft>
                <a:spcPts val="0"/>
              </a:spcAft>
              <a:buNone/>
            </a:pPr>
            <a:r>
              <a:rPr lang="en"/>
              <a:t>Structured and Unstructured Storage in the Cloud</a:t>
            </a:r>
            <a:endParaRPr/>
          </a:p>
          <a:p>
            <a:pPr indent="0" lvl="0" marL="0" rtl="0" algn="l">
              <a:spcBef>
                <a:spcPts val="2900"/>
              </a:spcBef>
              <a:spcAft>
                <a:spcPts val="0"/>
              </a:spcAft>
              <a:buNone/>
            </a:pPr>
            <a:r>
              <a:rPr lang="en"/>
              <a:t>Unstructured Storage using Cloud Storage</a:t>
            </a:r>
            <a:endParaRPr/>
          </a:p>
          <a:p>
            <a:pPr indent="0" lvl="0" marL="0" rtl="0" algn="l">
              <a:spcBef>
                <a:spcPts val="2900"/>
              </a:spcBef>
              <a:spcAft>
                <a:spcPts val="0"/>
              </a:spcAft>
              <a:buNone/>
            </a:pPr>
            <a:r>
              <a:rPr lang="en"/>
              <a:t>Lab: Cloud Storage: Qwik Start - CLI/SDK</a:t>
            </a:r>
            <a:endParaRPr/>
          </a:p>
          <a:p>
            <a:pPr indent="0" lvl="0" marL="0" rtl="0" algn="l">
              <a:spcBef>
                <a:spcPts val="2900"/>
              </a:spcBef>
              <a:spcAft>
                <a:spcPts val="2900"/>
              </a:spcAft>
              <a:buNone/>
            </a:pPr>
            <a:r>
              <a:rPr lang="en"/>
              <a:t>SQL Managed Services</a:t>
            </a:r>
            <a:endParaRPr/>
          </a:p>
        </p:txBody>
      </p:sp>
      <p:sp>
        <p:nvSpPr>
          <p:cNvPr id="246" name="Google Shape;246;p4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(1/3)</a:t>
            </a:r>
            <a:endParaRPr/>
          </a:p>
        </p:txBody>
      </p:sp>
      <p:sp>
        <p:nvSpPr>
          <p:cNvPr id="247" name="Google Shape;247;p4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5"/>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Cloud SQL</a:t>
            </a:r>
            <a:endParaRPr/>
          </a:p>
          <a:p>
            <a:pPr indent="0" lvl="0" marL="0" rtl="0" algn="l">
              <a:spcBef>
                <a:spcPts val="2900"/>
              </a:spcBef>
              <a:spcAft>
                <a:spcPts val="0"/>
              </a:spcAft>
              <a:buNone/>
            </a:pPr>
            <a:r>
              <a:rPr lang="en"/>
              <a:t>Lab: Cloud SQL for MySQL: Qwik Start</a:t>
            </a:r>
            <a:endParaRPr/>
          </a:p>
          <a:p>
            <a:pPr indent="0" lvl="0" marL="0" rtl="0" algn="l">
              <a:spcBef>
                <a:spcPts val="2900"/>
              </a:spcBef>
              <a:spcAft>
                <a:spcPts val="0"/>
              </a:spcAft>
              <a:buNone/>
            </a:pPr>
            <a:r>
              <a:rPr lang="en"/>
              <a:t>Cloud Spanner as a Managed Service</a:t>
            </a:r>
            <a:endParaRPr/>
          </a:p>
          <a:p>
            <a:pPr indent="0" lvl="0" marL="0" rtl="0" algn="l">
              <a:spcBef>
                <a:spcPts val="2900"/>
              </a:spcBef>
              <a:spcAft>
                <a:spcPts val="0"/>
              </a:spcAft>
              <a:buNone/>
            </a:pPr>
            <a:r>
              <a:rPr lang="en"/>
              <a:t>NoSQL Managed Services Options</a:t>
            </a:r>
            <a:endParaRPr/>
          </a:p>
          <a:p>
            <a:pPr indent="0" lvl="0" marL="0" rtl="0" algn="l">
              <a:spcBef>
                <a:spcPts val="2900"/>
              </a:spcBef>
              <a:spcAft>
                <a:spcPts val="2900"/>
              </a:spcAft>
              <a:buNone/>
            </a:pPr>
            <a:r>
              <a:rPr lang="en"/>
              <a:t>Datastore, a NoSQL Document Stor</a:t>
            </a:r>
            <a:r>
              <a:rPr lang="en"/>
              <a:t>e</a:t>
            </a:r>
            <a:endParaRPr sz="3700"/>
          </a:p>
        </p:txBody>
      </p:sp>
      <p:sp>
        <p:nvSpPr>
          <p:cNvPr id="253" name="Google Shape;253;p45"/>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(2/3)</a:t>
            </a:r>
            <a:endParaRPr/>
          </a:p>
        </p:txBody>
      </p:sp>
      <p:sp>
        <p:nvSpPr>
          <p:cNvPr id="254" name="Google Shape;254;p4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as a NoSQL Option</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260" name="Google Shape;260;p4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 (3/3)</a:t>
            </a:r>
            <a:endParaRPr/>
          </a:p>
        </p:txBody>
      </p:sp>
      <p:sp>
        <p:nvSpPr>
          <p:cNvPr id="261" name="Google Shape;261;p4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7"/>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Storage Options in the Cloud</a:t>
            </a:r>
            <a:endParaRPr>
              <a:solidFill>
                <a:schemeClr val="accent2"/>
              </a:solidFill>
            </a:endParaRPr>
          </a:p>
          <a:p>
            <a:pPr indent="0" lvl="0" marL="0" rtl="0" algn="l">
              <a:spcBef>
                <a:spcPts val="2900"/>
              </a:spcBef>
              <a:spcAft>
                <a:spcPts val="0"/>
              </a:spcAft>
              <a:buNone/>
            </a:pPr>
            <a:r>
              <a:rPr lang="en"/>
              <a:t>Structured and Unstructured Storage in the Cloud</a:t>
            </a:r>
            <a:endParaRPr/>
          </a:p>
          <a:p>
            <a:pPr indent="0" lvl="0" marL="0" rtl="0" algn="l">
              <a:spcBef>
                <a:spcPts val="2900"/>
              </a:spcBef>
              <a:spcAft>
                <a:spcPts val="0"/>
              </a:spcAft>
              <a:buNone/>
            </a:pPr>
            <a:r>
              <a:rPr lang="en"/>
              <a:t>Unstructured Storage using Cloud Storage</a:t>
            </a:r>
            <a:endParaRPr/>
          </a:p>
          <a:p>
            <a:pPr indent="0" lvl="0" marL="0" rtl="0" algn="l">
              <a:spcBef>
                <a:spcPts val="2900"/>
              </a:spcBef>
              <a:spcAft>
                <a:spcPts val="0"/>
              </a:spcAft>
              <a:buNone/>
            </a:pPr>
            <a:r>
              <a:rPr lang="en"/>
              <a:t>Lab: Cloud Storage: Qwik Start - CLI/SDK</a:t>
            </a:r>
            <a:endParaRPr/>
          </a:p>
          <a:p>
            <a:pPr indent="0" lvl="0" marL="0" rtl="0" algn="l">
              <a:spcBef>
                <a:spcPts val="2900"/>
              </a:spcBef>
              <a:spcAft>
                <a:spcPts val="2900"/>
              </a:spcAft>
              <a:buNone/>
            </a:pPr>
            <a:r>
              <a:rPr lang="en"/>
              <a:t>SQL Managed Services</a:t>
            </a:r>
            <a:endParaRPr/>
          </a:p>
        </p:txBody>
      </p:sp>
      <p:sp>
        <p:nvSpPr>
          <p:cNvPr id="267" name="Google Shape;267;p47"/>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268" name="Google Shape;268;p4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8"/>
          <p:cNvSpPr/>
          <p:nvPr/>
        </p:nvSpPr>
        <p:spPr>
          <a:xfrm>
            <a:off x="14156738" y="5663199"/>
            <a:ext cx="1992900" cy="3459600"/>
          </a:xfrm>
          <a:prstGeom prst="rect">
            <a:avLst/>
          </a:prstGeom>
          <a:solidFill>
            <a:srgbClr val="B7B7B7"/>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Roboto"/>
                <a:ea typeface="Roboto"/>
                <a:cs typeface="Roboto"/>
                <a:sym typeface="Roboto"/>
              </a:rPr>
              <a:t>Data warehousing</a:t>
            </a:r>
            <a:endParaRPr b="1" sz="2400">
              <a:solidFill>
                <a:schemeClr val="lt1"/>
              </a:solidFill>
              <a:latin typeface="Roboto"/>
              <a:ea typeface="Roboto"/>
              <a:cs typeface="Roboto"/>
              <a:sym typeface="Roboto"/>
            </a:endParaRPr>
          </a:p>
        </p:txBody>
      </p:sp>
      <p:sp>
        <p:nvSpPr>
          <p:cNvPr id="274" name="Google Shape;274;p48"/>
          <p:cNvSpPr/>
          <p:nvPr/>
        </p:nvSpPr>
        <p:spPr>
          <a:xfrm>
            <a:off x="9434897" y="5663199"/>
            <a:ext cx="4543800" cy="3459600"/>
          </a:xfrm>
          <a:prstGeom prst="rect">
            <a:avLst/>
          </a:prstGeom>
          <a:solidFill>
            <a:srgbClr val="D9EAD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Roboto"/>
                <a:ea typeface="Roboto"/>
                <a:cs typeface="Roboto"/>
                <a:sym typeface="Roboto"/>
              </a:rPr>
              <a:t>Non-r</a:t>
            </a:r>
            <a:r>
              <a:rPr b="1" lang="en" sz="2400">
                <a:solidFill>
                  <a:schemeClr val="lt1"/>
                </a:solidFill>
                <a:latin typeface="Roboto"/>
                <a:ea typeface="Roboto"/>
                <a:cs typeface="Roboto"/>
                <a:sym typeface="Roboto"/>
              </a:rPr>
              <a:t>elational databases</a:t>
            </a:r>
            <a:endParaRPr b="1" sz="2400">
              <a:solidFill>
                <a:schemeClr val="lt1"/>
              </a:solidFill>
              <a:latin typeface="Roboto"/>
              <a:ea typeface="Roboto"/>
              <a:cs typeface="Roboto"/>
              <a:sym typeface="Roboto"/>
            </a:endParaRPr>
          </a:p>
        </p:txBody>
      </p:sp>
      <p:sp>
        <p:nvSpPr>
          <p:cNvPr id="275" name="Google Shape;275;p48"/>
          <p:cNvSpPr/>
          <p:nvPr/>
        </p:nvSpPr>
        <p:spPr>
          <a:xfrm>
            <a:off x="4498167" y="5663199"/>
            <a:ext cx="4542900" cy="3459600"/>
          </a:xfrm>
          <a:prstGeom prst="rect">
            <a:avLst/>
          </a:prstGeom>
          <a:solidFill>
            <a:srgbClr val="FFF2CC"/>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Roboto"/>
                <a:ea typeface="Roboto"/>
                <a:cs typeface="Roboto"/>
                <a:sym typeface="Roboto"/>
              </a:rPr>
              <a:t>Relational databases</a:t>
            </a:r>
            <a:endParaRPr b="1" sz="2400">
              <a:solidFill>
                <a:schemeClr val="lt1"/>
              </a:solidFill>
              <a:latin typeface="Roboto"/>
              <a:ea typeface="Roboto"/>
              <a:cs typeface="Roboto"/>
              <a:sym typeface="Roboto"/>
            </a:endParaRPr>
          </a:p>
        </p:txBody>
      </p:sp>
      <p:cxnSp>
        <p:nvCxnSpPr>
          <p:cNvPr id="276" name="Google Shape;276;p48"/>
          <p:cNvCxnSpPr/>
          <p:nvPr/>
        </p:nvCxnSpPr>
        <p:spPr>
          <a:xfrm>
            <a:off x="2194258" y="3536293"/>
            <a:ext cx="13636500" cy="1500"/>
          </a:xfrm>
          <a:prstGeom prst="straightConnector1">
            <a:avLst/>
          </a:prstGeom>
          <a:noFill/>
          <a:ln cap="flat" cmpd="sng" w="19050">
            <a:solidFill>
              <a:schemeClr val="accent2"/>
            </a:solidFill>
            <a:prstDash val="solid"/>
            <a:round/>
            <a:headEnd len="med" w="med" type="none"/>
            <a:tailEnd len="med" w="med" type="none"/>
          </a:ln>
        </p:spPr>
      </p:cxnSp>
      <p:sp>
        <p:nvSpPr>
          <p:cNvPr id="277" name="Google Shape;277;p48"/>
          <p:cNvSpPr/>
          <p:nvPr/>
        </p:nvSpPr>
        <p:spPr>
          <a:xfrm>
            <a:off x="4698944" y="2580550"/>
            <a:ext cx="1911300" cy="1911000"/>
          </a:xfrm>
          <a:prstGeom prst="ellipse">
            <a:avLst/>
          </a:prstGeom>
          <a:solidFill>
            <a:srgbClr val="A4C2F4"/>
          </a:solidFill>
          <a:ln cap="flat" cmpd="sng" w="9525">
            <a:solidFill>
              <a:srgbClr val="A4C2F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rgbClr val="FFFFFF"/>
                </a:solidFill>
                <a:latin typeface="Roboto"/>
                <a:ea typeface="Roboto"/>
                <a:cs typeface="Roboto"/>
                <a:sym typeface="Roboto"/>
              </a:rPr>
              <a:t>Networking</a:t>
            </a:r>
            <a:endParaRPr sz="2000">
              <a:solidFill>
                <a:srgbClr val="FFFFFF"/>
              </a:solidFill>
              <a:latin typeface="Roboto"/>
              <a:ea typeface="Roboto"/>
              <a:cs typeface="Roboto"/>
              <a:sym typeface="Roboto"/>
            </a:endParaRPr>
          </a:p>
        </p:txBody>
      </p:sp>
      <p:sp>
        <p:nvSpPr>
          <p:cNvPr id="278" name="Google Shape;278;p48"/>
          <p:cNvSpPr/>
          <p:nvPr/>
        </p:nvSpPr>
        <p:spPr>
          <a:xfrm>
            <a:off x="6914071" y="2580550"/>
            <a:ext cx="1911300" cy="1911000"/>
          </a:xfrm>
          <a:prstGeom prst="ellipse">
            <a:avLst/>
          </a:prstGeom>
          <a:solidFill>
            <a:srgbClr val="A4C2F4"/>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a:ea typeface="Roboto"/>
                <a:cs typeface="Roboto"/>
                <a:sym typeface="Roboto"/>
              </a:rPr>
              <a:t>Big data</a:t>
            </a:r>
            <a:endParaRPr sz="2000">
              <a:solidFill>
                <a:srgbClr val="FFFFFF"/>
              </a:solidFill>
              <a:latin typeface="Roboto"/>
              <a:ea typeface="Roboto"/>
              <a:cs typeface="Roboto"/>
              <a:sym typeface="Roboto"/>
            </a:endParaRPr>
          </a:p>
        </p:txBody>
      </p:sp>
      <p:sp>
        <p:nvSpPr>
          <p:cNvPr id="279" name="Google Shape;279;p48"/>
          <p:cNvSpPr/>
          <p:nvPr/>
        </p:nvSpPr>
        <p:spPr>
          <a:xfrm>
            <a:off x="9129198" y="2580550"/>
            <a:ext cx="1911300" cy="1911000"/>
          </a:xfrm>
          <a:prstGeom prst="ellipse">
            <a:avLst/>
          </a:prstGeom>
          <a:solidFill>
            <a:srgbClr val="A4C2F4"/>
          </a:solidFill>
          <a:ln cap="flat" cmpd="sng" w="9525">
            <a:solidFill>
              <a:srgbClr val="A4C2F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rgbClr val="FFFFFF"/>
                </a:solidFill>
                <a:latin typeface="Roboto"/>
                <a:ea typeface="Roboto"/>
                <a:cs typeface="Roboto"/>
                <a:sym typeface="Roboto"/>
              </a:rPr>
              <a:t>Machine learning</a:t>
            </a:r>
            <a:endParaRPr sz="2000">
              <a:solidFill>
                <a:srgbClr val="FFFFFF"/>
              </a:solidFill>
              <a:latin typeface="Roboto"/>
              <a:ea typeface="Roboto"/>
              <a:cs typeface="Roboto"/>
              <a:sym typeface="Roboto"/>
            </a:endParaRPr>
          </a:p>
        </p:txBody>
      </p:sp>
      <p:sp>
        <p:nvSpPr>
          <p:cNvPr id="280" name="Google Shape;280;p48"/>
          <p:cNvSpPr/>
          <p:nvPr/>
        </p:nvSpPr>
        <p:spPr>
          <a:xfrm>
            <a:off x="11344324" y="2580550"/>
            <a:ext cx="1911300" cy="1911000"/>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FFFF"/>
                </a:solidFill>
                <a:latin typeface="Roboto"/>
                <a:ea typeface="Roboto"/>
                <a:cs typeface="Roboto"/>
                <a:sym typeface="Roboto"/>
              </a:rPr>
              <a:t>Storage</a:t>
            </a:r>
            <a:endParaRPr sz="2000">
              <a:solidFill>
                <a:srgbClr val="FFFFFF"/>
              </a:solidFill>
              <a:latin typeface="Roboto"/>
              <a:ea typeface="Roboto"/>
              <a:cs typeface="Roboto"/>
              <a:sym typeface="Roboto"/>
            </a:endParaRPr>
          </a:p>
        </p:txBody>
      </p:sp>
      <p:sp>
        <p:nvSpPr>
          <p:cNvPr id="281" name="Google Shape;281;p48"/>
          <p:cNvSpPr/>
          <p:nvPr/>
        </p:nvSpPr>
        <p:spPr>
          <a:xfrm>
            <a:off x="13559451" y="2580550"/>
            <a:ext cx="1911300" cy="1911000"/>
          </a:xfrm>
          <a:prstGeom prst="ellipse">
            <a:avLst/>
          </a:prstGeom>
          <a:solidFill>
            <a:srgbClr val="A4C2F4"/>
          </a:solidFill>
          <a:ln cap="flat" cmpd="sng" w="9525">
            <a:solidFill>
              <a:srgbClr val="A4C2F4"/>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2000">
                <a:solidFill>
                  <a:srgbClr val="FFFFFF"/>
                </a:solidFill>
                <a:latin typeface="Roboto"/>
                <a:ea typeface="Roboto"/>
                <a:cs typeface="Roboto"/>
                <a:sym typeface="Roboto"/>
              </a:rPr>
              <a:t>Operations and tools</a:t>
            </a:r>
            <a:endParaRPr sz="2000">
              <a:solidFill>
                <a:srgbClr val="FFFFFF"/>
              </a:solidFill>
              <a:latin typeface="Roboto"/>
              <a:ea typeface="Roboto"/>
              <a:cs typeface="Roboto"/>
              <a:sym typeface="Roboto"/>
            </a:endParaRPr>
          </a:p>
        </p:txBody>
      </p:sp>
      <p:sp>
        <p:nvSpPr>
          <p:cNvPr id="282" name="Google Shape;282;p48"/>
          <p:cNvSpPr/>
          <p:nvPr/>
        </p:nvSpPr>
        <p:spPr>
          <a:xfrm>
            <a:off x="2483817" y="2580550"/>
            <a:ext cx="1911300" cy="1911000"/>
          </a:xfrm>
          <a:prstGeom prst="ellipse">
            <a:avLst/>
          </a:prstGeom>
          <a:solidFill>
            <a:srgbClr val="A4C2F4"/>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FFFFFF"/>
                </a:solidFill>
                <a:latin typeface="Roboto"/>
                <a:ea typeface="Roboto"/>
                <a:cs typeface="Roboto"/>
                <a:sym typeface="Roboto"/>
              </a:rPr>
              <a:t>Compute</a:t>
            </a:r>
            <a:endParaRPr sz="2000">
              <a:solidFill>
                <a:srgbClr val="FFFFFF"/>
              </a:solidFill>
              <a:latin typeface="Roboto"/>
              <a:ea typeface="Roboto"/>
              <a:cs typeface="Roboto"/>
              <a:sym typeface="Roboto"/>
            </a:endParaRPr>
          </a:p>
        </p:txBody>
      </p:sp>
      <p:grpSp>
        <p:nvGrpSpPr>
          <p:cNvPr id="283" name="Google Shape;283;p48"/>
          <p:cNvGrpSpPr/>
          <p:nvPr/>
        </p:nvGrpSpPr>
        <p:grpSpPr>
          <a:xfrm>
            <a:off x="6829443" y="5884390"/>
            <a:ext cx="2309640" cy="2437363"/>
            <a:chOff x="7258661" y="5677594"/>
            <a:chExt cx="2431200" cy="2565645"/>
          </a:xfrm>
        </p:grpSpPr>
        <p:sp>
          <p:nvSpPr>
            <p:cNvPr id="284" name="Google Shape;284;p48"/>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Cloud</a:t>
              </a:r>
              <a:endParaRPr sz="25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Spanner</a:t>
              </a:r>
              <a:endParaRPr sz="2500">
                <a:solidFill>
                  <a:schemeClr val="lt1"/>
                </a:solidFill>
                <a:latin typeface="Google Sans"/>
                <a:ea typeface="Google Sans"/>
                <a:cs typeface="Google Sans"/>
                <a:sym typeface="Google Sans"/>
              </a:endParaRPr>
            </a:p>
          </p:txBody>
        </p:sp>
        <p:pic>
          <p:nvPicPr>
            <p:cNvPr id="285" name="Google Shape;285;p48"/>
            <p:cNvPicPr preferRelativeResize="0"/>
            <p:nvPr/>
          </p:nvPicPr>
          <p:blipFill rotWithShape="1">
            <a:blip r:embed="rId3">
              <a:alphaModFix/>
            </a:blip>
            <a:srcRect b="1162" l="0" r="0" t="1152"/>
            <a:stretch/>
          </p:blipFill>
          <p:spPr>
            <a:xfrm>
              <a:off x="7495703" y="5677594"/>
              <a:ext cx="1957121" cy="1911883"/>
            </a:xfrm>
            <a:prstGeom prst="rect">
              <a:avLst/>
            </a:prstGeom>
            <a:noFill/>
            <a:ln>
              <a:noFill/>
            </a:ln>
          </p:spPr>
        </p:pic>
      </p:grpSp>
      <p:grpSp>
        <p:nvGrpSpPr>
          <p:cNvPr id="286" name="Google Shape;286;p48"/>
          <p:cNvGrpSpPr/>
          <p:nvPr/>
        </p:nvGrpSpPr>
        <p:grpSpPr>
          <a:xfrm>
            <a:off x="11759898" y="5979818"/>
            <a:ext cx="2309640" cy="2350998"/>
            <a:chOff x="11897889" y="5778045"/>
            <a:chExt cx="2431200" cy="2474735"/>
          </a:xfrm>
        </p:grpSpPr>
        <p:pic>
          <p:nvPicPr>
            <p:cNvPr id="287" name="Google Shape;287;p48"/>
            <p:cNvPicPr preferRelativeResize="0"/>
            <p:nvPr/>
          </p:nvPicPr>
          <p:blipFill rotWithShape="1">
            <a:blip r:embed="rId4">
              <a:alphaModFix/>
            </a:blip>
            <a:srcRect b="7029" l="0" r="0" t="7029"/>
            <a:stretch/>
          </p:blipFill>
          <p:spPr>
            <a:xfrm>
              <a:off x="12134931" y="5778045"/>
              <a:ext cx="1957121" cy="1681882"/>
            </a:xfrm>
            <a:prstGeom prst="rect">
              <a:avLst/>
            </a:prstGeom>
            <a:noFill/>
            <a:ln>
              <a:noFill/>
            </a:ln>
          </p:spPr>
        </p:pic>
        <p:sp>
          <p:nvSpPr>
            <p:cNvPr id="288" name="Google Shape;288;p48"/>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Cloud</a:t>
              </a:r>
              <a:br>
                <a:rPr lang="en" sz="2500">
                  <a:solidFill>
                    <a:schemeClr val="lt1"/>
                  </a:solidFill>
                  <a:latin typeface="Google Sans"/>
                  <a:ea typeface="Google Sans"/>
                  <a:cs typeface="Google Sans"/>
                  <a:sym typeface="Google Sans"/>
                </a:rPr>
              </a:br>
              <a:r>
                <a:rPr lang="en" sz="2500">
                  <a:solidFill>
                    <a:schemeClr val="lt1"/>
                  </a:solidFill>
                  <a:latin typeface="Google Sans"/>
                  <a:ea typeface="Google Sans"/>
                  <a:cs typeface="Google Sans"/>
                  <a:sym typeface="Google Sans"/>
                </a:rPr>
                <a:t>Bigtable</a:t>
              </a:r>
              <a:endParaRPr sz="2500">
                <a:solidFill>
                  <a:schemeClr val="lt1"/>
                </a:solidFill>
                <a:latin typeface="Google Sans"/>
                <a:ea typeface="Google Sans"/>
                <a:cs typeface="Google Sans"/>
                <a:sym typeface="Google Sans"/>
              </a:endParaRPr>
            </a:p>
          </p:txBody>
        </p:sp>
      </p:grpSp>
      <p:grpSp>
        <p:nvGrpSpPr>
          <p:cNvPr id="289" name="Google Shape;289;p48"/>
          <p:cNvGrpSpPr/>
          <p:nvPr/>
        </p:nvGrpSpPr>
        <p:grpSpPr>
          <a:xfrm>
            <a:off x="1898989" y="5884374"/>
            <a:ext cx="2309640" cy="2393032"/>
            <a:chOff x="2584781" y="5677577"/>
            <a:chExt cx="2431200" cy="2518982"/>
          </a:xfrm>
        </p:grpSpPr>
        <p:pic>
          <p:nvPicPr>
            <p:cNvPr id="290" name="Google Shape;290;p48"/>
            <p:cNvPicPr preferRelativeResize="0"/>
            <p:nvPr/>
          </p:nvPicPr>
          <p:blipFill rotWithShape="1">
            <a:blip r:embed="rId5">
              <a:alphaModFix/>
            </a:blip>
            <a:srcRect b="1662" l="0" r="0" t="1672"/>
            <a:stretch/>
          </p:blipFill>
          <p:spPr>
            <a:xfrm>
              <a:off x="2824230" y="5677577"/>
              <a:ext cx="1952307" cy="1887159"/>
            </a:xfrm>
            <a:prstGeom prst="rect">
              <a:avLst/>
            </a:prstGeom>
            <a:noFill/>
            <a:ln>
              <a:noFill/>
            </a:ln>
          </p:spPr>
        </p:pic>
        <p:sp>
          <p:nvSpPr>
            <p:cNvPr id="291" name="Google Shape;291;p48"/>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Cloud</a:t>
              </a:r>
              <a:endParaRPr sz="25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Storage</a:t>
              </a:r>
              <a:endParaRPr sz="2500">
                <a:solidFill>
                  <a:schemeClr val="lt1"/>
                </a:solidFill>
                <a:latin typeface="Google Sans"/>
                <a:ea typeface="Google Sans"/>
                <a:cs typeface="Google Sans"/>
                <a:sym typeface="Google Sans"/>
              </a:endParaRPr>
            </a:p>
          </p:txBody>
        </p:sp>
      </p:grpSp>
      <p:grpSp>
        <p:nvGrpSpPr>
          <p:cNvPr id="292" name="Google Shape;292;p48"/>
          <p:cNvGrpSpPr/>
          <p:nvPr/>
        </p:nvGrpSpPr>
        <p:grpSpPr>
          <a:xfrm>
            <a:off x="4364216" y="5443334"/>
            <a:ext cx="2309640" cy="2887482"/>
            <a:chOff x="4913058" y="5213325"/>
            <a:chExt cx="2431200" cy="3039454"/>
          </a:xfrm>
        </p:grpSpPr>
        <p:pic>
          <p:nvPicPr>
            <p:cNvPr id="293" name="Google Shape;293;p48"/>
            <p:cNvPicPr preferRelativeResize="0"/>
            <p:nvPr/>
          </p:nvPicPr>
          <p:blipFill rotWithShape="1">
            <a:blip r:embed="rId6">
              <a:alphaModFix/>
            </a:blip>
            <a:srcRect b="6201" l="0" r="0" t="6201"/>
            <a:stretch/>
          </p:blipFill>
          <p:spPr>
            <a:xfrm>
              <a:off x="5152497" y="5778045"/>
              <a:ext cx="1952327" cy="1710225"/>
            </a:xfrm>
            <a:prstGeom prst="rect">
              <a:avLst/>
            </a:prstGeom>
            <a:noFill/>
            <a:ln>
              <a:noFill/>
            </a:ln>
          </p:spPr>
        </p:pic>
        <p:sp>
          <p:nvSpPr>
            <p:cNvPr id="294" name="Google Shape;294;p48"/>
            <p:cNvSpPr txBox="1"/>
            <p:nvPr/>
          </p:nvSpPr>
          <p:spPr>
            <a:xfrm>
              <a:off x="49130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Cloud</a:t>
              </a:r>
              <a:endParaRPr sz="25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SQL</a:t>
              </a:r>
              <a:endParaRPr sz="2500">
                <a:solidFill>
                  <a:schemeClr val="lt1"/>
                </a:solidFill>
                <a:latin typeface="Google Sans"/>
                <a:ea typeface="Google Sans"/>
                <a:cs typeface="Google Sans"/>
                <a:sym typeface="Google Sans"/>
              </a:endParaRPr>
            </a:p>
          </p:txBody>
        </p:sp>
        <p:cxnSp>
          <p:nvCxnSpPr>
            <p:cNvPr id="295" name="Google Shape;295;p48"/>
            <p:cNvCxnSpPr/>
            <p:nvPr/>
          </p:nvCxnSpPr>
          <p:spPr>
            <a:xfrm rot="10800000">
              <a:off x="6133325" y="5213325"/>
              <a:ext cx="0" cy="468300"/>
            </a:xfrm>
            <a:prstGeom prst="straightConnector1">
              <a:avLst/>
            </a:prstGeom>
            <a:noFill/>
            <a:ln cap="flat" cmpd="sng" w="19050">
              <a:solidFill>
                <a:schemeClr val="accent2"/>
              </a:solidFill>
              <a:prstDash val="solid"/>
              <a:round/>
              <a:headEnd len="med" w="med" type="oval"/>
              <a:tailEnd len="med" w="med" type="none"/>
            </a:ln>
          </p:spPr>
        </p:cxnSp>
      </p:grpSp>
      <p:cxnSp>
        <p:nvCxnSpPr>
          <p:cNvPr id="296" name="Google Shape;296;p48"/>
          <p:cNvCxnSpPr>
            <a:stCxn id="290" idx="0"/>
            <a:endCxn id="297" idx="0"/>
          </p:cNvCxnSpPr>
          <p:nvPr/>
        </p:nvCxnSpPr>
        <p:spPr>
          <a:xfrm flipH="1" rot="-5400000">
            <a:off x="9058162" y="-119976"/>
            <a:ext cx="96300" cy="12105000"/>
          </a:xfrm>
          <a:prstGeom prst="bentConnector3">
            <a:avLst>
              <a:gd fmla="val -480350" name="adj1"/>
            </a:avLst>
          </a:prstGeom>
          <a:noFill/>
          <a:ln cap="flat" cmpd="sng" w="19050">
            <a:solidFill>
              <a:schemeClr val="accent2"/>
            </a:solidFill>
            <a:prstDash val="solid"/>
            <a:round/>
            <a:headEnd len="med" w="med" type="oval"/>
            <a:tailEnd len="med" w="med" type="oval"/>
          </a:ln>
        </p:spPr>
      </p:cxnSp>
      <p:sp>
        <p:nvSpPr>
          <p:cNvPr id="298" name="Google Shape;298;p48"/>
          <p:cNvSpPr/>
          <p:nvPr/>
        </p:nvSpPr>
        <p:spPr>
          <a:xfrm>
            <a:off x="12613808" y="5882058"/>
            <a:ext cx="606300" cy="38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9" name="Google Shape;299;p48"/>
          <p:cNvCxnSpPr>
            <a:stCxn id="280" idx="4"/>
            <a:endCxn id="300" idx="0"/>
          </p:cNvCxnSpPr>
          <p:nvPr/>
        </p:nvCxnSpPr>
        <p:spPr>
          <a:xfrm rot="5400000">
            <a:off x="10270174" y="3404350"/>
            <a:ext cx="942600" cy="3117000"/>
          </a:xfrm>
          <a:prstGeom prst="bentConnector3">
            <a:avLst>
              <a:gd fmla="val 50004" name="adj1"/>
            </a:avLst>
          </a:prstGeom>
          <a:noFill/>
          <a:ln cap="flat" cmpd="sng" w="19050">
            <a:solidFill>
              <a:schemeClr val="accent2"/>
            </a:solidFill>
            <a:prstDash val="solid"/>
            <a:round/>
            <a:headEnd len="med" w="med" type="none"/>
            <a:tailEnd len="med" w="med" type="none"/>
          </a:ln>
        </p:spPr>
      </p:cxnSp>
      <p:sp>
        <p:nvSpPr>
          <p:cNvPr id="301" name="Google Shape;301;p48"/>
          <p:cNvSpPr txBox="1"/>
          <p:nvPr/>
        </p:nvSpPr>
        <p:spPr>
          <a:xfrm>
            <a:off x="9294641" y="7666509"/>
            <a:ext cx="2309700" cy="688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Datastore</a:t>
            </a:r>
            <a:endParaRPr sz="2500">
              <a:solidFill>
                <a:schemeClr val="lt1"/>
              </a:solidFill>
              <a:latin typeface="Google Sans"/>
              <a:ea typeface="Google Sans"/>
              <a:cs typeface="Google Sans"/>
              <a:sym typeface="Google Sans"/>
            </a:endParaRPr>
          </a:p>
        </p:txBody>
      </p:sp>
      <p:pic>
        <p:nvPicPr>
          <p:cNvPr id="302" name="Google Shape;302;p48"/>
          <p:cNvPicPr preferRelativeResize="0"/>
          <p:nvPr/>
        </p:nvPicPr>
        <p:blipFill rotWithShape="1">
          <a:blip r:embed="rId7">
            <a:alphaModFix/>
          </a:blip>
          <a:srcRect b="5689" l="0" r="0" t="5681"/>
          <a:stretch/>
        </p:blipFill>
        <p:spPr>
          <a:xfrm>
            <a:off x="9519884" y="5980620"/>
            <a:ext cx="1859400" cy="1647900"/>
          </a:xfrm>
          <a:prstGeom prst="rect">
            <a:avLst/>
          </a:prstGeom>
          <a:noFill/>
          <a:ln>
            <a:noFill/>
          </a:ln>
        </p:spPr>
      </p:pic>
      <p:cxnSp>
        <p:nvCxnSpPr>
          <p:cNvPr id="303" name="Google Shape;303;p48"/>
          <p:cNvCxnSpPr/>
          <p:nvPr/>
        </p:nvCxnSpPr>
        <p:spPr>
          <a:xfrm rot="10800000">
            <a:off x="10445955" y="5443799"/>
            <a:ext cx="0" cy="445200"/>
          </a:xfrm>
          <a:prstGeom prst="straightConnector1">
            <a:avLst/>
          </a:prstGeom>
          <a:noFill/>
          <a:ln cap="flat" cmpd="sng" w="19050">
            <a:solidFill>
              <a:schemeClr val="accent2"/>
            </a:solidFill>
            <a:prstDash val="solid"/>
            <a:round/>
            <a:headEnd len="med" w="med" type="oval"/>
            <a:tailEnd len="med" w="med" type="none"/>
          </a:ln>
        </p:spPr>
      </p:cxnSp>
      <p:pic>
        <p:nvPicPr>
          <p:cNvPr id="297" name="Google Shape;297;p48"/>
          <p:cNvPicPr preferRelativeResize="0"/>
          <p:nvPr/>
        </p:nvPicPr>
        <p:blipFill rotWithShape="1">
          <a:blip r:embed="rId8">
            <a:alphaModFix/>
          </a:blip>
          <a:srcRect b="7029" l="0" r="0" t="7029"/>
          <a:stretch/>
        </p:blipFill>
        <p:spPr>
          <a:xfrm>
            <a:off x="14229133" y="5980611"/>
            <a:ext cx="1859260" cy="1598019"/>
          </a:xfrm>
          <a:prstGeom prst="rect">
            <a:avLst/>
          </a:prstGeom>
          <a:noFill/>
          <a:ln>
            <a:noFill/>
          </a:ln>
        </p:spPr>
      </p:pic>
      <p:sp>
        <p:nvSpPr>
          <p:cNvPr id="304" name="Google Shape;304;p48"/>
          <p:cNvSpPr txBox="1"/>
          <p:nvPr/>
        </p:nvSpPr>
        <p:spPr>
          <a:xfrm>
            <a:off x="14003944" y="7643289"/>
            <a:ext cx="2309700" cy="688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500">
                <a:solidFill>
                  <a:schemeClr val="lt1"/>
                </a:solidFill>
                <a:latin typeface="Google Sans"/>
                <a:ea typeface="Google Sans"/>
                <a:cs typeface="Google Sans"/>
                <a:sym typeface="Google Sans"/>
              </a:rPr>
              <a:t>BigQuery</a:t>
            </a:r>
            <a:endParaRPr sz="2500">
              <a:solidFill>
                <a:schemeClr val="lt1"/>
              </a:solidFill>
              <a:latin typeface="Google Sans"/>
              <a:ea typeface="Google Sans"/>
              <a:cs typeface="Google Sans"/>
              <a:sym typeface="Google Sans"/>
            </a:endParaRPr>
          </a:p>
        </p:txBody>
      </p:sp>
      <p:cxnSp>
        <p:nvCxnSpPr>
          <p:cNvPr id="305" name="Google Shape;305;p48"/>
          <p:cNvCxnSpPr/>
          <p:nvPr/>
        </p:nvCxnSpPr>
        <p:spPr>
          <a:xfrm rot="10800000">
            <a:off x="12907207" y="5443799"/>
            <a:ext cx="0" cy="445200"/>
          </a:xfrm>
          <a:prstGeom prst="straightConnector1">
            <a:avLst/>
          </a:prstGeom>
          <a:noFill/>
          <a:ln cap="flat" cmpd="sng" w="19050">
            <a:solidFill>
              <a:schemeClr val="accent2"/>
            </a:solidFill>
            <a:prstDash val="solid"/>
            <a:round/>
            <a:headEnd len="med" w="med" type="oval"/>
            <a:tailEnd len="med" w="med" type="none"/>
          </a:ln>
        </p:spPr>
      </p:cxnSp>
      <p:sp>
        <p:nvSpPr>
          <p:cNvPr id="300" name="Google Shape;300;p48"/>
          <p:cNvSpPr/>
          <p:nvPr/>
        </p:nvSpPr>
        <p:spPr>
          <a:xfrm>
            <a:off x="8919334" y="5434179"/>
            <a:ext cx="527100" cy="445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6" name="Google Shape;306;p48"/>
          <p:cNvCxnSpPr/>
          <p:nvPr/>
        </p:nvCxnSpPr>
        <p:spPr>
          <a:xfrm rot="10800000">
            <a:off x="7984703" y="5443799"/>
            <a:ext cx="0" cy="445200"/>
          </a:xfrm>
          <a:prstGeom prst="straightConnector1">
            <a:avLst/>
          </a:prstGeom>
          <a:noFill/>
          <a:ln cap="flat" cmpd="sng" w="19050">
            <a:solidFill>
              <a:schemeClr val="accent2"/>
            </a:solidFill>
            <a:prstDash val="solid"/>
            <a:round/>
            <a:headEnd len="med" w="med" type="oval"/>
            <a:tailEnd len="med" w="med" type="none"/>
          </a:ln>
        </p:spPr>
      </p:cxnSp>
      <p:sp>
        <p:nvSpPr>
          <p:cNvPr id="307" name="Google Shape;307;p4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Cloud has many storage options</a:t>
            </a:r>
            <a:endParaRPr/>
          </a:p>
        </p:txBody>
      </p:sp>
      <p:sp>
        <p:nvSpPr>
          <p:cNvPr id="308" name="Google Shape;308;p4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49"/>
          <p:cNvPicPr preferRelativeResize="0"/>
          <p:nvPr/>
        </p:nvPicPr>
        <p:blipFill>
          <a:blip r:embed="rId3">
            <a:alphaModFix/>
          </a:blip>
          <a:stretch>
            <a:fillRect/>
          </a:stretch>
        </p:blipFill>
        <p:spPr>
          <a:xfrm>
            <a:off x="10614025" y="3281063"/>
            <a:ext cx="5170932" cy="4445187"/>
          </a:xfrm>
          <a:prstGeom prst="rect">
            <a:avLst/>
          </a:prstGeom>
          <a:noFill/>
          <a:ln>
            <a:noFill/>
          </a:ln>
        </p:spPr>
      </p:pic>
      <p:sp>
        <p:nvSpPr>
          <p:cNvPr id="314" name="Google Shape;314;p4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three common use cases for cloud storage</a:t>
            </a:r>
            <a:endParaRPr/>
          </a:p>
        </p:txBody>
      </p:sp>
      <p:sp>
        <p:nvSpPr>
          <p:cNvPr id="315" name="Google Shape;315;p4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316" name="Google Shape;316;p49"/>
          <p:cNvCxnSpPr>
            <a:stCxn id="317" idx="4"/>
            <a:endCxn id="318" idx="4"/>
          </p:cNvCxnSpPr>
          <p:nvPr/>
        </p:nvCxnSpPr>
        <p:spPr>
          <a:xfrm>
            <a:off x="2144375" y="3219248"/>
            <a:ext cx="0" cy="2591400"/>
          </a:xfrm>
          <a:prstGeom prst="straightConnector1">
            <a:avLst/>
          </a:prstGeom>
          <a:noFill/>
          <a:ln cap="flat" cmpd="sng" w="38100">
            <a:solidFill>
              <a:srgbClr val="BDC1C6"/>
            </a:solidFill>
            <a:prstDash val="solid"/>
            <a:round/>
            <a:headEnd len="med" w="med" type="none"/>
            <a:tailEnd len="med" w="med" type="none"/>
          </a:ln>
        </p:spPr>
      </p:cxnSp>
      <p:sp>
        <p:nvSpPr>
          <p:cNvPr id="317" name="Google Shape;317;p49"/>
          <p:cNvSpPr/>
          <p:nvPr/>
        </p:nvSpPr>
        <p:spPr>
          <a:xfrm>
            <a:off x="1836875" y="2604248"/>
            <a:ext cx="615000" cy="615000"/>
          </a:xfrm>
          <a:prstGeom prst="ellipse">
            <a:avLst/>
          </a:prstGeom>
          <a:solidFill>
            <a:srgbClr val="4285F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1</a:t>
            </a:r>
            <a:endParaRPr b="1" sz="2800">
              <a:solidFill>
                <a:srgbClr val="FFFFFF"/>
              </a:solidFill>
              <a:latin typeface="Google Sans"/>
              <a:ea typeface="Google Sans"/>
              <a:cs typeface="Google Sans"/>
              <a:sym typeface="Google Sans"/>
            </a:endParaRPr>
          </a:p>
        </p:txBody>
      </p:sp>
      <p:sp>
        <p:nvSpPr>
          <p:cNvPr id="319" name="Google Shape;319;p49"/>
          <p:cNvSpPr txBox="1"/>
          <p:nvPr/>
        </p:nvSpPr>
        <p:spPr>
          <a:xfrm>
            <a:off x="2564188" y="2506998"/>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Content storage and delivery</a:t>
            </a:r>
            <a:endParaRPr sz="2800">
              <a:solidFill>
                <a:srgbClr val="3C4043"/>
              </a:solidFill>
              <a:latin typeface="Roboto"/>
              <a:ea typeface="Roboto"/>
              <a:cs typeface="Roboto"/>
              <a:sym typeface="Roboto"/>
            </a:endParaRPr>
          </a:p>
        </p:txBody>
      </p:sp>
      <p:sp>
        <p:nvSpPr>
          <p:cNvPr id="320" name="Google Shape;320;p49"/>
          <p:cNvSpPr/>
          <p:nvPr/>
        </p:nvSpPr>
        <p:spPr>
          <a:xfrm>
            <a:off x="1836875" y="3891330"/>
            <a:ext cx="615000" cy="615000"/>
          </a:xfrm>
          <a:prstGeom prst="ellipse">
            <a:avLst/>
          </a:prstGeom>
          <a:solidFill>
            <a:srgbClr val="EA4335"/>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2</a:t>
            </a:r>
            <a:endParaRPr b="1" sz="2800">
              <a:solidFill>
                <a:srgbClr val="FFFFFF"/>
              </a:solidFill>
              <a:latin typeface="Google Sans"/>
              <a:ea typeface="Google Sans"/>
              <a:cs typeface="Google Sans"/>
              <a:sym typeface="Google Sans"/>
            </a:endParaRPr>
          </a:p>
        </p:txBody>
      </p:sp>
      <p:sp>
        <p:nvSpPr>
          <p:cNvPr id="318" name="Google Shape;318;p49"/>
          <p:cNvSpPr/>
          <p:nvPr/>
        </p:nvSpPr>
        <p:spPr>
          <a:xfrm>
            <a:off x="1836875" y="5195599"/>
            <a:ext cx="615000" cy="615000"/>
          </a:xfrm>
          <a:prstGeom prst="ellipse">
            <a:avLst/>
          </a:prstGeom>
          <a:solidFill>
            <a:srgbClr val="FBBC0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434343"/>
                </a:solidFill>
                <a:latin typeface="Google Sans"/>
                <a:ea typeface="Google Sans"/>
                <a:cs typeface="Google Sans"/>
                <a:sym typeface="Google Sans"/>
              </a:rPr>
              <a:t>3</a:t>
            </a:r>
            <a:endParaRPr b="1" sz="2800">
              <a:solidFill>
                <a:srgbClr val="434343"/>
              </a:solidFill>
              <a:latin typeface="Google Sans"/>
              <a:ea typeface="Google Sans"/>
              <a:cs typeface="Google Sans"/>
              <a:sym typeface="Google Sans"/>
            </a:endParaRPr>
          </a:p>
        </p:txBody>
      </p:sp>
      <p:sp>
        <p:nvSpPr>
          <p:cNvPr id="321" name="Google Shape;321;p49"/>
          <p:cNvSpPr txBox="1"/>
          <p:nvPr/>
        </p:nvSpPr>
        <p:spPr>
          <a:xfrm>
            <a:off x="2564188" y="51158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Backup and archival storage</a:t>
            </a:r>
            <a:endParaRPr sz="2800">
              <a:solidFill>
                <a:srgbClr val="3C4043"/>
              </a:solidFill>
              <a:latin typeface="Roboto"/>
              <a:ea typeface="Roboto"/>
              <a:cs typeface="Roboto"/>
              <a:sym typeface="Roboto"/>
            </a:endParaRPr>
          </a:p>
        </p:txBody>
      </p:sp>
      <p:sp>
        <p:nvSpPr>
          <p:cNvPr id="322" name="Google Shape;322;p49"/>
          <p:cNvSpPr txBox="1"/>
          <p:nvPr/>
        </p:nvSpPr>
        <p:spPr>
          <a:xfrm>
            <a:off x="2564200" y="3591875"/>
            <a:ext cx="6034500" cy="11400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Storage for data analytics and general compute</a:t>
            </a:r>
            <a:endParaRPr sz="2800">
              <a:solidFill>
                <a:srgbClr val="3C4043"/>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0"/>
          <p:cNvSpPr txBox="1"/>
          <p:nvPr/>
        </p:nvSpPr>
        <p:spPr>
          <a:xfrm>
            <a:off x="3208275" y="3450225"/>
            <a:ext cx="5915700" cy="1463100"/>
          </a:xfrm>
          <a:prstGeom prst="rect">
            <a:avLst/>
          </a:prstGeom>
          <a:noFill/>
          <a:ln>
            <a:noFill/>
          </a:ln>
        </p:spPr>
        <p:txBody>
          <a:bodyPr anchorCtr="0" anchor="ctr" bIns="182850" lIns="182850" spcFirstLastPara="1" rIns="182850" wrap="square" tIns="182850">
            <a:noAutofit/>
          </a:bodyPr>
          <a:lstStyle/>
          <a:p>
            <a:pPr indent="0" lvl="0" marL="0" marR="0" rtl="0" algn="l">
              <a:lnSpc>
                <a:spcPct val="115000"/>
              </a:lnSpc>
              <a:spcBef>
                <a:spcPts val="0"/>
              </a:spcBef>
              <a:spcAft>
                <a:spcPts val="0"/>
              </a:spcAft>
              <a:buNone/>
            </a:pPr>
            <a:r>
              <a:rPr lang="en" sz="2800">
                <a:solidFill>
                  <a:schemeClr val="lt1"/>
                </a:solidFill>
                <a:latin typeface="Roboto"/>
                <a:ea typeface="Roboto"/>
                <a:cs typeface="Roboto"/>
                <a:sym typeface="Roboto"/>
              </a:rPr>
              <a:t>Migrate existing databases to the cloud, and move them to the right service.</a:t>
            </a:r>
            <a:endParaRPr i="0" sz="2800" u="none" cap="none" strike="noStrike">
              <a:solidFill>
                <a:schemeClr val="lt1"/>
              </a:solidFill>
              <a:latin typeface="Roboto"/>
              <a:ea typeface="Roboto"/>
              <a:cs typeface="Roboto"/>
              <a:sym typeface="Roboto"/>
            </a:endParaRPr>
          </a:p>
        </p:txBody>
      </p:sp>
      <p:pic>
        <p:nvPicPr>
          <p:cNvPr id="328" name="Google Shape;328;p50"/>
          <p:cNvPicPr preferRelativeResize="0"/>
          <p:nvPr/>
        </p:nvPicPr>
        <p:blipFill>
          <a:blip r:embed="rId3">
            <a:alphaModFix/>
          </a:blip>
          <a:stretch>
            <a:fillRect/>
          </a:stretch>
        </p:blipFill>
        <p:spPr>
          <a:xfrm>
            <a:off x="1828802" y="3506529"/>
            <a:ext cx="1051560" cy="1051560"/>
          </a:xfrm>
          <a:prstGeom prst="rect">
            <a:avLst/>
          </a:prstGeom>
          <a:noFill/>
          <a:ln>
            <a:noFill/>
          </a:ln>
          <a:effectLst>
            <a:outerShdw rotWithShape="0" algn="bl" dir="2640000" dist="190500">
              <a:srgbClr val="666666">
                <a:alpha val="50000"/>
              </a:srgbClr>
            </a:outerShdw>
          </a:effectLst>
        </p:spPr>
      </p:pic>
      <p:pic>
        <p:nvPicPr>
          <p:cNvPr id="329" name="Google Shape;329;p50"/>
          <p:cNvPicPr preferRelativeResize="0"/>
          <p:nvPr/>
        </p:nvPicPr>
        <p:blipFill>
          <a:blip r:embed="rId3">
            <a:alphaModFix/>
          </a:blip>
          <a:stretch>
            <a:fillRect/>
          </a:stretch>
        </p:blipFill>
        <p:spPr>
          <a:xfrm>
            <a:off x="1828802" y="5899899"/>
            <a:ext cx="1051560" cy="1051560"/>
          </a:xfrm>
          <a:prstGeom prst="rect">
            <a:avLst/>
          </a:prstGeom>
          <a:noFill/>
          <a:ln>
            <a:noFill/>
          </a:ln>
          <a:effectLst>
            <a:outerShdw rotWithShape="0" algn="bl" dir="2640000" dist="190500">
              <a:srgbClr val="666666">
                <a:alpha val="50000"/>
              </a:srgbClr>
            </a:outerShdw>
          </a:effectLst>
        </p:spPr>
      </p:pic>
      <p:sp>
        <p:nvSpPr>
          <p:cNvPr id="330" name="Google Shape;330;p50"/>
          <p:cNvSpPr txBox="1"/>
          <p:nvPr/>
        </p:nvSpPr>
        <p:spPr>
          <a:xfrm>
            <a:off x="3208275" y="5919800"/>
            <a:ext cx="6174000" cy="146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800">
                <a:solidFill>
                  <a:schemeClr val="lt1"/>
                </a:solidFill>
                <a:latin typeface="Roboto"/>
                <a:ea typeface="Roboto"/>
                <a:cs typeface="Roboto"/>
                <a:sym typeface="Roboto"/>
              </a:rPr>
              <a:t>Innovate, build, or rebuild for the cloud, take advantage of mobile, and plan for future growth.</a:t>
            </a:r>
            <a:endParaRPr sz="2800">
              <a:solidFill>
                <a:schemeClr val="lt1"/>
              </a:solidFill>
              <a:latin typeface="Roboto"/>
              <a:ea typeface="Roboto"/>
              <a:cs typeface="Roboto"/>
              <a:sym typeface="Roboto"/>
            </a:endParaRPr>
          </a:p>
        </p:txBody>
      </p:sp>
      <p:pic>
        <p:nvPicPr>
          <p:cNvPr id="331" name="Google Shape;331;p50"/>
          <p:cNvPicPr preferRelativeResize="0"/>
          <p:nvPr/>
        </p:nvPicPr>
        <p:blipFill>
          <a:blip r:embed="rId4">
            <a:alphaModFix/>
          </a:blip>
          <a:stretch>
            <a:fillRect/>
          </a:stretch>
        </p:blipFill>
        <p:spPr>
          <a:xfrm>
            <a:off x="10052475" y="3407075"/>
            <a:ext cx="6173940" cy="4539661"/>
          </a:xfrm>
          <a:prstGeom prst="rect">
            <a:avLst/>
          </a:prstGeom>
          <a:noFill/>
          <a:ln>
            <a:noFill/>
          </a:ln>
        </p:spPr>
      </p:pic>
      <p:sp>
        <p:nvSpPr>
          <p:cNvPr id="332" name="Google Shape;332;p5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users with databases, Google has two priorities</a:t>
            </a:r>
            <a:endParaRPr/>
          </a:p>
        </p:txBody>
      </p:sp>
      <p:sp>
        <p:nvSpPr>
          <p:cNvPr id="333" name="Google Shape;333;p5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Options in the Cloud</a:t>
            </a:r>
            <a:endParaRPr/>
          </a:p>
          <a:p>
            <a:pPr indent="0" lvl="0" marL="0" rtl="0" algn="l">
              <a:spcBef>
                <a:spcPts val="2900"/>
              </a:spcBef>
              <a:spcAft>
                <a:spcPts val="0"/>
              </a:spcAft>
              <a:buNone/>
            </a:pPr>
            <a:r>
              <a:rPr lang="en">
                <a:solidFill>
                  <a:schemeClr val="accent2"/>
                </a:solidFill>
              </a:rPr>
              <a:t>Structured and Unstructured Storage in the Cloud</a:t>
            </a:r>
            <a:endParaRPr>
              <a:solidFill>
                <a:schemeClr val="accent2"/>
              </a:solidFill>
            </a:endParaRPr>
          </a:p>
          <a:p>
            <a:pPr indent="0" lvl="0" marL="0" rtl="0" algn="l">
              <a:spcBef>
                <a:spcPts val="2900"/>
              </a:spcBef>
              <a:spcAft>
                <a:spcPts val="0"/>
              </a:spcAft>
              <a:buNone/>
            </a:pPr>
            <a:r>
              <a:rPr lang="en"/>
              <a:t>Unstructured Storage using Cloud Storage</a:t>
            </a:r>
            <a:endParaRPr/>
          </a:p>
          <a:p>
            <a:pPr indent="0" lvl="0" marL="0" rtl="0" algn="l">
              <a:spcBef>
                <a:spcPts val="2900"/>
              </a:spcBef>
              <a:spcAft>
                <a:spcPts val="0"/>
              </a:spcAft>
              <a:buNone/>
            </a:pPr>
            <a:r>
              <a:rPr lang="en"/>
              <a:t>Lab: Cloud Storage: Qwik Start - CLI/SDK</a:t>
            </a:r>
            <a:endParaRPr/>
          </a:p>
          <a:p>
            <a:pPr indent="0" lvl="0" marL="0" rtl="0" algn="l">
              <a:spcBef>
                <a:spcPts val="2900"/>
              </a:spcBef>
              <a:spcAft>
                <a:spcPts val="2900"/>
              </a:spcAft>
              <a:buNone/>
            </a:pPr>
            <a:r>
              <a:rPr lang="en"/>
              <a:t>SQL Managed Services</a:t>
            </a:r>
            <a:endParaRPr/>
          </a:p>
        </p:txBody>
      </p:sp>
      <p:sp>
        <p:nvSpPr>
          <p:cNvPr id="339" name="Google Shape;339;p5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40" name="Google Shape;340;p5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52"/>
          <p:cNvPicPr preferRelativeResize="0"/>
          <p:nvPr/>
        </p:nvPicPr>
        <p:blipFill>
          <a:blip r:embed="rId3">
            <a:alphaModFix/>
          </a:blip>
          <a:stretch>
            <a:fillRect/>
          </a:stretch>
        </p:blipFill>
        <p:spPr>
          <a:xfrm>
            <a:off x="7437376" y="2801699"/>
            <a:ext cx="4110502" cy="6359985"/>
          </a:xfrm>
          <a:prstGeom prst="rect">
            <a:avLst/>
          </a:prstGeom>
          <a:noFill/>
          <a:ln>
            <a:noFill/>
          </a:ln>
        </p:spPr>
      </p:pic>
      <p:sp>
        <p:nvSpPr>
          <p:cNvPr id="346" name="Google Shape;346;p52"/>
          <p:cNvSpPr txBox="1"/>
          <p:nvPr/>
        </p:nvSpPr>
        <p:spPr>
          <a:xfrm>
            <a:off x="1752600" y="6676300"/>
            <a:ext cx="5589300" cy="122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400">
                <a:solidFill>
                  <a:schemeClr val="accent2"/>
                </a:solidFill>
                <a:latin typeface="Roboto"/>
                <a:ea typeface="Roboto"/>
                <a:cs typeface="Roboto"/>
                <a:sym typeface="Roboto"/>
              </a:rPr>
              <a:t>Structured data</a:t>
            </a:r>
            <a:endParaRPr sz="3400">
              <a:solidFill>
                <a:schemeClr val="accent2"/>
              </a:solidFill>
              <a:latin typeface="Roboto"/>
              <a:ea typeface="Roboto"/>
              <a:cs typeface="Roboto"/>
              <a:sym typeface="Roboto"/>
            </a:endParaRPr>
          </a:p>
        </p:txBody>
      </p:sp>
      <p:sp>
        <p:nvSpPr>
          <p:cNvPr id="347" name="Google Shape;347;p52"/>
          <p:cNvSpPr txBox="1"/>
          <p:nvPr/>
        </p:nvSpPr>
        <p:spPr>
          <a:xfrm>
            <a:off x="12134725" y="2020150"/>
            <a:ext cx="3786900" cy="1228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3400">
                <a:solidFill>
                  <a:schemeClr val="accent5"/>
                </a:solidFill>
                <a:latin typeface="Roboto"/>
                <a:ea typeface="Roboto"/>
                <a:cs typeface="Roboto"/>
                <a:sym typeface="Roboto"/>
              </a:rPr>
              <a:t>Unstructured data</a:t>
            </a:r>
            <a:endParaRPr sz="3400">
              <a:solidFill>
                <a:schemeClr val="accent5"/>
              </a:solidFill>
              <a:latin typeface="Roboto"/>
              <a:ea typeface="Roboto"/>
              <a:cs typeface="Roboto"/>
              <a:sym typeface="Roboto"/>
            </a:endParaRPr>
          </a:p>
        </p:txBody>
      </p:sp>
      <p:graphicFrame>
        <p:nvGraphicFramePr>
          <p:cNvPr id="348" name="Google Shape;348;p52"/>
          <p:cNvGraphicFramePr/>
          <p:nvPr/>
        </p:nvGraphicFramePr>
        <p:xfrm>
          <a:off x="1752600" y="4331888"/>
          <a:ext cx="3000000" cy="3000000"/>
        </p:xfrm>
        <a:graphic>
          <a:graphicData uri="http://schemas.openxmlformats.org/drawingml/2006/table">
            <a:tbl>
              <a:tblPr>
                <a:noFill/>
                <a:tableStyleId>{C8D7D8BB-5663-4D88-B9CA-F6AA233E94A6}</a:tableStyleId>
              </a:tblPr>
              <a:tblGrid>
                <a:gridCol w="1382850"/>
                <a:gridCol w="1345425"/>
                <a:gridCol w="1359800"/>
                <a:gridCol w="840075"/>
                <a:gridCol w="661150"/>
              </a:tblGrid>
              <a:tr h="381000">
                <a:tc>
                  <a:txBody>
                    <a:bodyPr/>
                    <a:lstStyle/>
                    <a:p>
                      <a:pPr indent="0" lvl="0" marL="0" rtl="0" algn="l">
                        <a:spcBef>
                          <a:spcPts val="0"/>
                        </a:spcBef>
                        <a:spcAft>
                          <a:spcPts val="0"/>
                        </a:spcAft>
                        <a:buNone/>
                      </a:pPr>
                      <a:r>
                        <a:rPr lang="en" sz="1800">
                          <a:solidFill>
                            <a:srgbClr val="FFFFFF"/>
                          </a:solidFill>
                          <a:latin typeface="Roboto"/>
                          <a:ea typeface="Roboto"/>
                          <a:cs typeface="Roboto"/>
                          <a:sym typeface="Roboto"/>
                        </a:rPr>
                        <a:t>First_Name</a:t>
                      </a:r>
                      <a:endParaRPr sz="1800">
                        <a:solidFill>
                          <a:srgbClr val="FFFFFF"/>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800">
                          <a:solidFill>
                            <a:srgbClr val="FFFFFF"/>
                          </a:solidFill>
                          <a:latin typeface="Roboto"/>
                          <a:ea typeface="Roboto"/>
                          <a:cs typeface="Roboto"/>
                          <a:sym typeface="Roboto"/>
                        </a:rPr>
                        <a:t>Last_Name</a:t>
                      </a:r>
                      <a:endParaRPr sz="1800">
                        <a:solidFill>
                          <a:srgbClr val="FFFFFF"/>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800">
                          <a:solidFill>
                            <a:srgbClr val="FFFFFF"/>
                          </a:solidFill>
                          <a:latin typeface="Roboto"/>
                          <a:ea typeface="Roboto"/>
                          <a:cs typeface="Roboto"/>
                          <a:sym typeface="Roboto"/>
                        </a:rPr>
                        <a:t>Address</a:t>
                      </a:r>
                      <a:endParaRPr sz="1800">
                        <a:solidFill>
                          <a:srgbClr val="FFFFFF"/>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800">
                          <a:solidFill>
                            <a:srgbClr val="FFFFFF"/>
                          </a:solidFill>
                          <a:latin typeface="Roboto"/>
                          <a:ea typeface="Roboto"/>
                          <a:cs typeface="Roboto"/>
                          <a:sym typeface="Roboto"/>
                        </a:rPr>
                        <a:t>City</a:t>
                      </a:r>
                      <a:endParaRPr sz="1800">
                        <a:solidFill>
                          <a:srgbClr val="FFFFFF"/>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800">
                          <a:solidFill>
                            <a:srgbClr val="FFFFFF"/>
                          </a:solidFill>
                          <a:latin typeface="Roboto"/>
                          <a:ea typeface="Roboto"/>
                          <a:cs typeface="Roboto"/>
                          <a:sym typeface="Roboto"/>
                        </a:rPr>
                        <a:t>Age</a:t>
                      </a:r>
                      <a:endParaRPr sz="1800">
                        <a:solidFill>
                          <a:srgbClr val="FFFFFF"/>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2"/>
                    </a:solidFill>
                  </a:tcPr>
                </a:tc>
              </a:tr>
              <a:tr h="381000">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Sherlock</a:t>
                      </a:r>
                      <a:endParaRPr sz="18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Holmes</a:t>
                      </a:r>
                      <a:endParaRPr sz="18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12 Main St</a:t>
                      </a:r>
                      <a:endParaRPr sz="18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Mesa</a:t>
                      </a:r>
                      <a:endParaRPr sz="18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60</a:t>
                      </a:r>
                      <a:endParaRPr sz="1800">
                        <a:solidFill>
                          <a:schemeClr val="lt1"/>
                        </a:solidFill>
                        <a:latin typeface="Roboto"/>
                        <a:ea typeface="Roboto"/>
                        <a:cs typeface="Roboto"/>
                        <a:sym typeface="Robot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James</a:t>
                      </a:r>
                      <a:endParaRPr sz="1800">
                        <a:solidFill>
                          <a:schemeClr val="lt1"/>
                        </a:solidFill>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Bond</a:t>
                      </a:r>
                      <a:endParaRPr sz="1800">
                        <a:solidFill>
                          <a:schemeClr val="lt1"/>
                        </a:solidFill>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23 Old St</a:t>
                      </a:r>
                      <a:endParaRPr sz="1800">
                        <a:solidFill>
                          <a:schemeClr val="lt1"/>
                        </a:solidFill>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Napa</a:t>
                      </a:r>
                      <a:endParaRPr sz="1800">
                        <a:solidFill>
                          <a:schemeClr val="lt1"/>
                        </a:solidFill>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43</a:t>
                      </a:r>
                      <a:endParaRPr sz="1800">
                        <a:solidFill>
                          <a:schemeClr val="lt1"/>
                        </a:solidFill>
                        <a:latin typeface="Roboto"/>
                        <a:ea typeface="Roboto"/>
                        <a:cs typeface="Roboto"/>
                        <a:sym typeface="Roboto"/>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Scarlett</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O’Hara</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34 New St</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Derby</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23</a:t>
                      </a:r>
                      <a:endParaRPr sz="1800">
                        <a:solidFill>
                          <a:schemeClr val="lt1"/>
                        </a:solidFill>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Marge</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Simpson</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56 West St</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Cody</a:t>
                      </a:r>
                      <a:endParaRPr sz="1800">
                        <a:solidFill>
                          <a:schemeClr val="lt1"/>
                        </a:solidFill>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800">
                          <a:solidFill>
                            <a:schemeClr val="lt1"/>
                          </a:solidFill>
                          <a:latin typeface="Roboto"/>
                          <a:ea typeface="Roboto"/>
                          <a:cs typeface="Roboto"/>
                          <a:sym typeface="Roboto"/>
                        </a:rPr>
                        <a:t>36</a:t>
                      </a:r>
                      <a:endParaRPr sz="1800">
                        <a:solidFill>
                          <a:schemeClr val="lt1"/>
                        </a:solidFill>
                        <a:latin typeface="Roboto"/>
                        <a:ea typeface="Roboto"/>
                        <a:cs typeface="Roboto"/>
                        <a:sym typeface="Roboto"/>
                      </a:endParaRPr>
                    </a:p>
                  </a:txBody>
                  <a:tcPr marT="91425" marB="91425" marR="91425" marL="91425"/>
                </a:tc>
              </a:tr>
            </a:tbl>
          </a:graphicData>
        </a:graphic>
      </p:graphicFrame>
      <p:grpSp>
        <p:nvGrpSpPr>
          <p:cNvPr id="349" name="Google Shape;349;p52"/>
          <p:cNvGrpSpPr/>
          <p:nvPr/>
        </p:nvGrpSpPr>
        <p:grpSpPr>
          <a:xfrm>
            <a:off x="12763874" y="3050613"/>
            <a:ext cx="2286900" cy="1097726"/>
            <a:chOff x="13119374" y="1990195"/>
            <a:chExt cx="2286900" cy="1097726"/>
          </a:xfrm>
        </p:grpSpPr>
        <p:grpSp>
          <p:nvGrpSpPr>
            <p:cNvPr id="350" name="Google Shape;350;p52"/>
            <p:cNvGrpSpPr/>
            <p:nvPr/>
          </p:nvGrpSpPr>
          <p:grpSpPr>
            <a:xfrm>
              <a:off x="13780137" y="1990195"/>
              <a:ext cx="803256" cy="704292"/>
              <a:chOff x="13378800" y="2705800"/>
              <a:chExt cx="697755" cy="611789"/>
            </a:xfrm>
          </p:grpSpPr>
          <p:sp>
            <p:nvSpPr>
              <p:cNvPr id="351" name="Google Shape;351;p52"/>
              <p:cNvSpPr/>
              <p:nvPr/>
            </p:nvSpPr>
            <p:spPr>
              <a:xfrm>
                <a:off x="13378800" y="2705800"/>
                <a:ext cx="697755" cy="372749"/>
              </a:xfrm>
              <a:custGeom>
                <a:rect b="b" l="l" r="r" t="t"/>
                <a:pathLst>
                  <a:path extrusionOk="0" h="37247" w="85904">
                    <a:moveTo>
                      <a:pt x="0" y="97"/>
                    </a:moveTo>
                    <a:lnTo>
                      <a:pt x="14919" y="97"/>
                    </a:lnTo>
                    <a:lnTo>
                      <a:pt x="27595" y="37247"/>
                    </a:lnTo>
                    <a:lnTo>
                      <a:pt x="78494" y="37247"/>
                    </a:lnTo>
                    <a:lnTo>
                      <a:pt x="85904" y="10628"/>
                    </a:lnTo>
                    <a:lnTo>
                      <a:pt x="18819" y="10628"/>
                    </a:lnTo>
                    <a:lnTo>
                      <a:pt x="14919" y="0"/>
                    </a:lnTo>
                    <a:close/>
                  </a:path>
                </a:pathLst>
              </a:custGeom>
              <a:noFill/>
              <a:ln cap="flat" cmpd="sng" w="28575">
                <a:solidFill>
                  <a:srgbClr val="34A853"/>
                </a:solidFill>
                <a:prstDash val="solid"/>
                <a:round/>
                <a:headEnd len="med" w="med" type="none"/>
                <a:tailEnd len="med" w="med" type="none"/>
              </a:ln>
            </p:spPr>
          </p:sp>
          <p:cxnSp>
            <p:nvCxnSpPr>
              <p:cNvPr id="352" name="Google Shape;352;p52"/>
              <p:cNvCxnSpPr/>
              <p:nvPr/>
            </p:nvCxnSpPr>
            <p:spPr>
              <a:xfrm>
                <a:off x="13553872" y="2890218"/>
                <a:ext cx="505500" cy="0"/>
              </a:xfrm>
              <a:prstGeom prst="straightConnector1">
                <a:avLst/>
              </a:prstGeom>
              <a:noFill/>
              <a:ln cap="flat" cmpd="sng" w="28575">
                <a:solidFill>
                  <a:srgbClr val="34A853"/>
                </a:solidFill>
                <a:prstDash val="solid"/>
                <a:round/>
                <a:headEnd len="med" w="med" type="none"/>
                <a:tailEnd len="med" w="med" type="none"/>
              </a:ln>
            </p:spPr>
          </p:cxnSp>
          <p:cxnSp>
            <p:nvCxnSpPr>
              <p:cNvPr id="353" name="Google Shape;353;p52"/>
              <p:cNvCxnSpPr/>
              <p:nvPr/>
            </p:nvCxnSpPr>
            <p:spPr>
              <a:xfrm>
                <a:off x="13578050" y="2980237"/>
                <a:ext cx="458100" cy="0"/>
              </a:xfrm>
              <a:prstGeom prst="straightConnector1">
                <a:avLst/>
              </a:prstGeom>
              <a:noFill/>
              <a:ln cap="flat" cmpd="sng" w="28575">
                <a:solidFill>
                  <a:srgbClr val="34A853"/>
                </a:solidFill>
                <a:prstDash val="solid"/>
                <a:round/>
                <a:headEnd len="med" w="med" type="none"/>
                <a:tailEnd len="med" w="med" type="none"/>
              </a:ln>
            </p:spPr>
          </p:cxnSp>
          <p:cxnSp>
            <p:nvCxnSpPr>
              <p:cNvPr id="354" name="Google Shape;354;p52"/>
              <p:cNvCxnSpPr/>
              <p:nvPr/>
            </p:nvCxnSpPr>
            <p:spPr>
              <a:xfrm>
                <a:off x="13660821" y="2810203"/>
                <a:ext cx="26100" cy="268200"/>
              </a:xfrm>
              <a:prstGeom prst="straightConnector1">
                <a:avLst/>
              </a:prstGeom>
              <a:noFill/>
              <a:ln cap="flat" cmpd="sng" w="28575">
                <a:solidFill>
                  <a:srgbClr val="34A853"/>
                </a:solidFill>
                <a:prstDash val="solid"/>
                <a:round/>
                <a:headEnd len="med" w="med" type="none"/>
                <a:tailEnd len="med" w="med" type="none"/>
              </a:ln>
            </p:spPr>
          </p:cxnSp>
          <p:cxnSp>
            <p:nvCxnSpPr>
              <p:cNvPr id="355" name="Google Shape;355;p52"/>
              <p:cNvCxnSpPr/>
              <p:nvPr/>
            </p:nvCxnSpPr>
            <p:spPr>
              <a:xfrm>
                <a:off x="13794775" y="2811173"/>
                <a:ext cx="0" cy="267300"/>
              </a:xfrm>
              <a:prstGeom prst="straightConnector1">
                <a:avLst/>
              </a:prstGeom>
              <a:noFill/>
              <a:ln cap="flat" cmpd="sng" w="28575">
                <a:solidFill>
                  <a:srgbClr val="34A853"/>
                </a:solidFill>
                <a:prstDash val="solid"/>
                <a:round/>
                <a:headEnd len="med" w="med" type="none"/>
                <a:tailEnd len="med" w="med" type="none"/>
              </a:ln>
            </p:spPr>
          </p:cxnSp>
          <p:cxnSp>
            <p:nvCxnSpPr>
              <p:cNvPr id="356" name="Google Shape;356;p52"/>
              <p:cNvCxnSpPr/>
              <p:nvPr/>
            </p:nvCxnSpPr>
            <p:spPr>
              <a:xfrm flipH="1">
                <a:off x="13909187" y="2810203"/>
                <a:ext cx="18600" cy="268200"/>
              </a:xfrm>
              <a:prstGeom prst="straightConnector1">
                <a:avLst/>
              </a:prstGeom>
              <a:noFill/>
              <a:ln cap="flat" cmpd="sng" w="28575">
                <a:solidFill>
                  <a:srgbClr val="34A853"/>
                </a:solidFill>
                <a:prstDash val="solid"/>
                <a:round/>
                <a:headEnd len="med" w="med" type="none"/>
                <a:tailEnd len="med" w="med" type="none"/>
              </a:ln>
            </p:spPr>
          </p:cxnSp>
          <p:sp>
            <p:nvSpPr>
              <p:cNvPr id="357" name="Google Shape;357;p52"/>
              <p:cNvSpPr/>
              <p:nvPr/>
            </p:nvSpPr>
            <p:spPr>
              <a:xfrm>
                <a:off x="13545975" y="3078529"/>
                <a:ext cx="114900" cy="141600"/>
              </a:xfrm>
              <a:prstGeom prst="blockArc">
                <a:avLst>
                  <a:gd fmla="val 5371857" name="adj1"/>
                  <a:gd fmla="val 16268096" name="adj2"/>
                  <a:gd fmla="val 0" name="adj3"/>
                </a:avLst>
              </a:prstGeom>
              <a:solidFill>
                <a:srgbClr val="FBBC05"/>
              </a:solidFill>
              <a:ln cap="flat" cmpd="sng" w="28575">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8" name="Google Shape;358;p52"/>
              <p:cNvCxnSpPr>
                <a:stCxn id="357" idx="0"/>
              </p:cNvCxnSpPr>
              <p:nvPr/>
            </p:nvCxnSpPr>
            <p:spPr>
              <a:xfrm>
                <a:off x="13604005" y="3220126"/>
                <a:ext cx="438300" cy="1800"/>
              </a:xfrm>
              <a:prstGeom prst="straightConnector1">
                <a:avLst/>
              </a:prstGeom>
              <a:noFill/>
              <a:ln cap="flat" cmpd="sng" w="28575">
                <a:solidFill>
                  <a:srgbClr val="34A853"/>
                </a:solidFill>
                <a:prstDash val="solid"/>
                <a:round/>
                <a:headEnd len="med" w="med" type="none"/>
                <a:tailEnd len="med" w="med" type="none"/>
              </a:ln>
            </p:spPr>
          </p:cxnSp>
          <p:sp>
            <p:nvSpPr>
              <p:cNvPr id="359" name="Google Shape;359;p52"/>
              <p:cNvSpPr/>
              <p:nvPr/>
            </p:nvSpPr>
            <p:spPr>
              <a:xfrm>
                <a:off x="13623748" y="3205389"/>
                <a:ext cx="112200" cy="112200"/>
              </a:xfrm>
              <a:prstGeom prst="donut">
                <a:avLst>
                  <a:gd fmla="val 25000" name="adj"/>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2"/>
              <p:cNvSpPr/>
              <p:nvPr/>
            </p:nvSpPr>
            <p:spPr>
              <a:xfrm>
                <a:off x="13888161" y="3205389"/>
                <a:ext cx="112200" cy="112200"/>
              </a:xfrm>
              <a:prstGeom prst="donut">
                <a:avLst>
                  <a:gd fmla="val 25000" name="adj"/>
                </a:avLst>
              </a:prstGeom>
              <a:solidFill>
                <a:srgbClr val="34A8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52"/>
            <p:cNvSpPr txBox="1"/>
            <p:nvPr/>
          </p:nvSpPr>
          <p:spPr>
            <a:xfrm>
              <a:off x="13119374" y="2707521"/>
              <a:ext cx="22869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Transactions</a:t>
              </a:r>
              <a:endParaRPr sz="1800">
                <a:solidFill>
                  <a:schemeClr val="lt1"/>
                </a:solidFill>
                <a:latin typeface="Roboto"/>
                <a:ea typeface="Roboto"/>
                <a:cs typeface="Roboto"/>
                <a:sym typeface="Roboto"/>
              </a:endParaRPr>
            </a:p>
          </p:txBody>
        </p:sp>
      </p:grpSp>
      <p:grpSp>
        <p:nvGrpSpPr>
          <p:cNvPr id="362" name="Google Shape;362;p52"/>
          <p:cNvGrpSpPr/>
          <p:nvPr/>
        </p:nvGrpSpPr>
        <p:grpSpPr>
          <a:xfrm>
            <a:off x="13055474" y="4218178"/>
            <a:ext cx="1703700" cy="1270967"/>
            <a:chOff x="14826058" y="3341678"/>
            <a:chExt cx="1703700" cy="1270967"/>
          </a:xfrm>
        </p:grpSpPr>
        <p:grpSp>
          <p:nvGrpSpPr>
            <p:cNvPr id="363" name="Google Shape;363;p52"/>
            <p:cNvGrpSpPr/>
            <p:nvPr/>
          </p:nvGrpSpPr>
          <p:grpSpPr>
            <a:xfrm>
              <a:off x="15334800" y="3341678"/>
              <a:ext cx="803222" cy="870691"/>
              <a:chOff x="12941000" y="3970128"/>
              <a:chExt cx="803222" cy="870691"/>
            </a:xfrm>
          </p:grpSpPr>
          <p:sp>
            <p:nvSpPr>
              <p:cNvPr id="364" name="Google Shape;364;p52"/>
              <p:cNvSpPr/>
              <p:nvPr/>
            </p:nvSpPr>
            <p:spPr>
              <a:xfrm>
                <a:off x="12941000" y="4723819"/>
                <a:ext cx="676200" cy="117000"/>
              </a:xfrm>
              <a:prstGeom prst="trapezoid">
                <a:avLst>
                  <a:gd fmla="val 67595" name="adj"/>
                </a:avLst>
              </a:prstGeom>
              <a:solidFill>
                <a:srgbClr val="F1C232"/>
              </a:solid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2"/>
              <p:cNvSpPr/>
              <p:nvPr/>
            </p:nvSpPr>
            <p:spPr>
              <a:xfrm>
                <a:off x="13333488" y="4082839"/>
                <a:ext cx="410700" cy="410700"/>
              </a:xfrm>
              <a:prstGeom prst="ellipse">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2"/>
              <p:cNvSpPr/>
              <p:nvPr/>
            </p:nvSpPr>
            <p:spPr>
              <a:xfrm>
                <a:off x="13409007" y="4082839"/>
                <a:ext cx="259800" cy="410700"/>
              </a:xfrm>
              <a:prstGeom prst="ellipse">
                <a:avLst/>
              </a:prstGeom>
              <a:no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7" name="Google Shape;367;p52"/>
              <p:cNvCxnSpPr>
                <a:stCxn id="366" idx="0"/>
              </p:cNvCxnSpPr>
              <p:nvPr/>
            </p:nvCxnSpPr>
            <p:spPr>
              <a:xfrm>
                <a:off x="13538907" y="4082839"/>
                <a:ext cx="0" cy="410700"/>
              </a:xfrm>
              <a:prstGeom prst="straightConnector1">
                <a:avLst/>
              </a:prstGeom>
              <a:noFill/>
              <a:ln cap="flat" cmpd="sng" w="28575">
                <a:solidFill>
                  <a:srgbClr val="F1C232"/>
                </a:solidFill>
                <a:prstDash val="solid"/>
                <a:round/>
                <a:headEnd len="med" w="med" type="none"/>
                <a:tailEnd len="med" w="med" type="none"/>
              </a:ln>
            </p:spPr>
          </p:cxnSp>
          <p:cxnSp>
            <p:nvCxnSpPr>
              <p:cNvPr id="368" name="Google Shape;368;p52"/>
              <p:cNvCxnSpPr/>
              <p:nvPr/>
            </p:nvCxnSpPr>
            <p:spPr>
              <a:xfrm>
                <a:off x="13538872" y="4082855"/>
                <a:ext cx="0" cy="410700"/>
              </a:xfrm>
              <a:prstGeom prst="straightConnector1">
                <a:avLst/>
              </a:prstGeom>
              <a:noFill/>
              <a:ln cap="flat" cmpd="sng" w="28575">
                <a:solidFill>
                  <a:srgbClr val="F1C232"/>
                </a:solidFill>
                <a:prstDash val="solid"/>
                <a:round/>
                <a:headEnd len="med" w="med" type="none"/>
                <a:tailEnd len="med" w="med" type="none"/>
              </a:ln>
            </p:spPr>
          </p:cxnSp>
          <p:sp>
            <p:nvSpPr>
              <p:cNvPr id="369" name="Google Shape;369;p52"/>
              <p:cNvSpPr/>
              <p:nvPr/>
            </p:nvSpPr>
            <p:spPr>
              <a:xfrm>
                <a:off x="13333488" y="4371983"/>
                <a:ext cx="410700" cy="234300"/>
              </a:xfrm>
              <a:prstGeom prst="blockArc">
                <a:avLst>
                  <a:gd fmla="val 12295664" name="adj1"/>
                  <a:gd fmla="val 20035761" name="adj2"/>
                  <a:gd fmla="val 0" name="adj3"/>
                </a:avLst>
              </a:prstGeom>
              <a:solidFill>
                <a:srgbClr val="FBBC05"/>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2"/>
              <p:cNvSpPr/>
              <p:nvPr/>
            </p:nvSpPr>
            <p:spPr>
              <a:xfrm flipH="1" rot="10800000">
                <a:off x="13333488" y="3970128"/>
                <a:ext cx="410700" cy="234300"/>
              </a:xfrm>
              <a:prstGeom prst="blockArc">
                <a:avLst>
                  <a:gd fmla="val 12295664" name="adj1"/>
                  <a:gd fmla="val 20035761" name="adj2"/>
                  <a:gd fmla="val 0" name="adj3"/>
                </a:avLst>
              </a:prstGeom>
              <a:solidFill>
                <a:srgbClr val="FBBC05"/>
              </a:solidFill>
              <a:ln cap="flat" cmpd="sng" w="2857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2"/>
              <p:cNvSpPr/>
              <p:nvPr/>
            </p:nvSpPr>
            <p:spPr>
              <a:xfrm>
                <a:off x="13009025" y="4282403"/>
                <a:ext cx="534600" cy="362400"/>
              </a:xfrm>
              <a:prstGeom prst="roundRect">
                <a:avLst>
                  <a:gd fmla="val 10499" name="adj"/>
                </a:avLst>
              </a:prstGeom>
              <a:solidFill>
                <a:srgbClr val="FFFFFF"/>
              </a:solid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 name="Google Shape;372;p52"/>
            <p:cNvSpPr txBox="1"/>
            <p:nvPr/>
          </p:nvSpPr>
          <p:spPr>
            <a:xfrm>
              <a:off x="14826058" y="4232245"/>
              <a:ext cx="17037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Online communities</a:t>
              </a:r>
              <a:endParaRPr sz="1800">
                <a:solidFill>
                  <a:schemeClr val="lt1"/>
                </a:solidFill>
                <a:latin typeface="Roboto"/>
                <a:ea typeface="Roboto"/>
                <a:cs typeface="Roboto"/>
                <a:sym typeface="Roboto"/>
              </a:endParaRPr>
            </a:p>
          </p:txBody>
        </p:sp>
      </p:grpSp>
      <p:grpSp>
        <p:nvGrpSpPr>
          <p:cNvPr id="373" name="Google Shape;373;p52"/>
          <p:cNvGrpSpPr/>
          <p:nvPr/>
        </p:nvGrpSpPr>
        <p:grpSpPr>
          <a:xfrm>
            <a:off x="14767996" y="4331314"/>
            <a:ext cx="1703700" cy="1157831"/>
            <a:chOff x="11546371" y="3553639"/>
            <a:chExt cx="1703700" cy="1157831"/>
          </a:xfrm>
        </p:grpSpPr>
        <p:grpSp>
          <p:nvGrpSpPr>
            <p:cNvPr id="374" name="Google Shape;374;p52"/>
            <p:cNvGrpSpPr/>
            <p:nvPr/>
          </p:nvGrpSpPr>
          <p:grpSpPr>
            <a:xfrm>
              <a:off x="12067098" y="3553639"/>
              <a:ext cx="662234" cy="770829"/>
              <a:chOff x="12454401" y="4034650"/>
              <a:chExt cx="747949" cy="870600"/>
            </a:xfrm>
          </p:grpSpPr>
          <p:sp>
            <p:nvSpPr>
              <p:cNvPr id="375" name="Google Shape;375;p52"/>
              <p:cNvSpPr/>
              <p:nvPr/>
            </p:nvSpPr>
            <p:spPr>
              <a:xfrm>
                <a:off x="12593050" y="4034650"/>
                <a:ext cx="609300" cy="870600"/>
              </a:xfrm>
              <a:prstGeom prst="foldedCorner">
                <a:avLst>
                  <a:gd fmla="val 31245" name="adj"/>
                </a:avLst>
              </a:prstGeom>
              <a:solidFill>
                <a:srgbClr val="3B83F3"/>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6" name="Google Shape;376;p52"/>
              <p:cNvCxnSpPr/>
              <p:nvPr/>
            </p:nvCxnSpPr>
            <p:spPr>
              <a:xfrm>
                <a:off x="12719799" y="4185800"/>
                <a:ext cx="375300" cy="0"/>
              </a:xfrm>
              <a:prstGeom prst="straightConnector1">
                <a:avLst/>
              </a:prstGeom>
              <a:noFill/>
              <a:ln cap="flat" cmpd="sng" w="28575">
                <a:solidFill>
                  <a:srgbClr val="FFFFFF"/>
                </a:solidFill>
                <a:prstDash val="solid"/>
                <a:round/>
                <a:headEnd len="med" w="med" type="none"/>
                <a:tailEnd len="med" w="med" type="none"/>
              </a:ln>
            </p:spPr>
          </p:cxnSp>
          <p:cxnSp>
            <p:nvCxnSpPr>
              <p:cNvPr id="377" name="Google Shape;377;p52"/>
              <p:cNvCxnSpPr/>
              <p:nvPr/>
            </p:nvCxnSpPr>
            <p:spPr>
              <a:xfrm>
                <a:off x="12719799" y="4290650"/>
                <a:ext cx="375300" cy="0"/>
              </a:xfrm>
              <a:prstGeom prst="straightConnector1">
                <a:avLst/>
              </a:prstGeom>
              <a:noFill/>
              <a:ln cap="flat" cmpd="sng" w="28575">
                <a:solidFill>
                  <a:srgbClr val="FFFFFF"/>
                </a:solidFill>
                <a:prstDash val="solid"/>
                <a:round/>
                <a:headEnd len="med" w="med" type="none"/>
                <a:tailEnd len="med" w="med" type="none"/>
              </a:ln>
            </p:spPr>
          </p:cxnSp>
          <p:cxnSp>
            <p:nvCxnSpPr>
              <p:cNvPr id="378" name="Google Shape;378;p52"/>
              <p:cNvCxnSpPr/>
              <p:nvPr/>
            </p:nvCxnSpPr>
            <p:spPr>
              <a:xfrm>
                <a:off x="12719799" y="4395500"/>
                <a:ext cx="375300" cy="0"/>
              </a:xfrm>
              <a:prstGeom prst="straightConnector1">
                <a:avLst/>
              </a:prstGeom>
              <a:noFill/>
              <a:ln cap="flat" cmpd="sng" w="28575">
                <a:solidFill>
                  <a:srgbClr val="FFFFFF"/>
                </a:solidFill>
                <a:prstDash val="solid"/>
                <a:round/>
                <a:headEnd len="med" w="med" type="none"/>
                <a:tailEnd len="med" w="med" type="none"/>
              </a:ln>
            </p:spPr>
          </p:cxnSp>
          <p:cxnSp>
            <p:nvCxnSpPr>
              <p:cNvPr id="379" name="Google Shape;379;p52"/>
              <p:cNvCxnSpPr/>
              <p:nvPr/>
            </p:nvCxnSpPr>
            <p:spPr>
              <a:xfrm>
                <a:off x="12719799" y="4500350"/>
                <a:ext cx="375300" cy="0"/>
              </a:xfrm>
              <a:prstGeom prst="straightConnector1">
                <a:avLst/>
              </a:prstGeom>
              <a:noFill/>
              <a:ln cap="flat" cmpd="sng" w="28575">
                <a:solidFill>
                  <a:srgbClr val="FFFFFF"/>
                </a:solidFill>
                <a:prstDash val="solid"/>
                <a:round/>
                <a:headEnd len="med" w="med" type="none"/>
                <a:tailEnd len="med" w="med" type="none"/>
              </a:ln>
            </p:spPr>
          </p:cxnSp>
          <p:sp>
            <p:nvSpPr>
              <p:cNvPr id="380" name="Google Shape;380;p52"/>
              <p:cNvSpPr/>
              <p:nvPr/>
            </p:nvSpPr>
            <p:spPr>
              <a:xfrm rot="-1967611">
                <a:off x="12603815" y="4228210"/>
                <a:ext cx="96622" cy="580179"/>
              </a:xfrm>
              <a:prstGeom prst="flowChartOffpageConnector">
                <a:avLst/>
              </a:prstGeom>
              <a:solidFill>
                <a:srgbClr val="0D5BD8"/>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 name="Google Shape;381;p52"/>
            <p:cNvSpPr txBox="1"/>
            <p:nvPr/>
          </p:nvSpPr>
          <p:spPr>
            <a:xfrm>
              <a:off x="11546371" y="4331070"/>
              <a:ext cx="17037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Notes &amp; text fields</a:t>
              </a:r>
              <a:endParaRPr sz="1800">
                <a:solidFill>
                  <a:schemeClr val="lt1"/>
                </a:solidFill>
                <a:latin typeface="Roboto"/>
                <a:ea typeface="Roboto"/>
                <a:cs typeface="Roboto"/>
                <a:sym typeface="Roboto"/>
              </a:endParaRPr>
            </a:p>
          </p:txBody>
        </p:sp>
      </p:grpSp>
      <p:grpSp>
        <p:nvGrpSpPr>
          <p:cNvPr id="382" name="Google Shape;382;p52"/>
          <p:cNvGrpSpPr/>
          <p:nvPr/>
        </p:nvGrpSpPr>
        <p:grpSpPr>
          <a:xfrm>
            <a:off x="11521771" y="7954181"/>
            <a:ext cx="1703700" cy="817519"/>
            <a:chOff x="12177771" y="4904600"/>
            <a:chExt cx="1703700" cy="817519"/>
          </a:xfrm>
        </p:grpSpPr>
        <p:sp>
          <p:nvSpPr>
            <p:cNvPr id="383" name="Google Shape;383;p52"/>
            <p:cNvSpPr/>
            <p:nvPr/>
          </p:nvSpPr>
          <p:spPr>
            <a:xfrm>
              <a:off x="12628074" y="4904600"/>
              <a:ext cx="803100" cy="458400"/>
            </a:xfrm>
            <a:prstGeom prst="rect">
              <a:avLst/>
            </a:prstGeom>
            <a:solidFill>
              <a:srgbClr val="D93025"/>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2"/>
            <p:cNvSpPr/>
            <p:nvPr/>
          </p:nvSpPr>
          <p:spPr>
            <a:xfrm>
              <a:off x="12626275" y="5055750"/>
              <a:ext cx="803100" cy="307200"/>
            </a:xfrm>
            <a:prstGeom prst="triangle">
              <a:avLst>
                <a:gd fmla="val 50000" name="adj"/>
              </a:avLst>
            </a:prstGeom>
            <a:solidFill>
              <a:srgbClr val="EA4335"/>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2"/>
            <p:cNvSpPr/>
            <p:nvPr/>
          </p:nvSpPr>
          <p:spPr>
            <a:xfrm flipH="1" rot="10800000">
              <a:off x="12626275" y="4904600"/>
              <a:ext cx="803100" cy="307200"/>
            </a:xfrm>
            <a:prstGeom prst="triangle">
              <a:avLst>
                <a:gd fmla="val 50000" name="adj"/>
              </a:avLst>
            </a:prstGeom>
            <a:solidFill>
              <a:srgbClr val="EA4335"/>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2"/>
            <p:cNvSpPr txBox="1"/>
            <p:nvPr/>
          </p:nvSpPr>
          <p:spPr>
            <a:xfrm>
              <a:off x="12177771" y="5341719"/>
              <a:ext cx="17037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Email</a:t>
              </a:r>
              <a:endParaRPr sz="1800">
                <a:solidFill>
                  <a:schemeClr val="lt1"/>
                </a:solidFill>
                <a:latin typeface="Roboto"/>
                <a:ea typeface="Roboto"/>
                <a:cs typeface="Roboto"/>
                <a:sym typeface="Roboto"/>
              </a:endParaRPr>
            </a:p>
          </p:txBody>
        </p:sp>
      </p:grpSp>
      <p:grpSp>
        <p:nvGrpSpPr>
          <p:cNvPr id="387" name="Google Shape;387;p52"/>
          <p:cNvGrpSpPr/>
          <p:nvPr/>
        </p:nvGrpSpPr>
        <p:grpSpPr>
          <a:xfrm>
            <a:off x="14941102" y="6085243"/>
            <a:ext cx="1357500" cy="1053980"/>
            <a:chOff x="12745527" y="5604398"/>
            <a:chExt cx="1357500" cy="1053980"/>
          </a:xfrm>
        </p:grpSpPr>
        <p:grpSp>
          <p:nvGrpSpPr>
            <p:cNvPr id="388" name="Google Shape;388;p52"/>
            <p:cNvGrpSpPr/>
            <p:nvPr/>
          </p:nvGrpSpPr>
          <p:grpSpPr>
            <a:xfrm>
              <a:off x="13035374" y="5604398"/>
              <a:ext cx="819225" cy="804152"/>
              <a:chOff x="12718499" y="5985098"/>
              <a:chExt cx="819225" cy="804152"/>
            </a:xfrm>
          </p:grpSpPr>
          <p:sp>
            <p:nvSpPr>
              <p:cNvPr id="389" name="Google Shape;389;p52"/>
              <p:cNvSpPr/>
              <p:nvPr/>
            </p:nvSpPr>
            <p:spPr>
              <a:xfrm rot="-6413861">
                <a:off x="12985867" y="6118652"/>
                <a:ext cx="215713" cy="536795"/>
              </a:xfrm>
              <a:prstGeom prst="moon">
                <a:avLst>
                  <a:gd fmla="val 53620" name="adj"/>
                </a:avLst>
              </a:prstGeom>
              <a:solidFill>
                <a:srgbClr val="1A73E8"/>
              </a:solidFill>
              <a:ln cap="flat" cmpd="sng" w="9525">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2"/>
              <p:cNvSpPr/>
              <p:nvPr/>
            </p:nvSpPr>
            <p:spPr>
              <a:xfrm rot="-4366822">
                <a:off x="12907985" y="5902662"/>
                <a:ext cx="259428" cy="588473"/>
              </a:xfrm>
              <a:prstGeom prst="moon">
                <a:avLst>
                  <a:gd fmla="val 50000" name="adj"/>
                </a:avLst>
              </a:prstGeom>
              <a:solidFill>
                <a:srgbClr val="1A73E8"/>
              </a:solidFill>
              <a:ln cap="flat" cmpd="sng" w="9525">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2"/>
              <p:cNvSpPr/>
              <p:nvPr/>
            </p:nvSpPr>
            <p:spPr>
              <a:xfrm rot="-5547128">
                <a:off x="12914707" y="5993842"/>
                <a:ext cx="259438" cy="571967"/>
              </a:xfrm>
              <a:prstGeom prst="moon">
                <a:avLst>
                  <a:gd fmla="val 55669" name="adj"/>
                </a:avLst>
              </a:prstGeom>
              <a:solidFill>
                <a:srgbClr val="1A73E8"/>
              </a:solidFill>
              <a:ln cap="flat" cmpd="sng" w="9525">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 name="Google Shape;392;p52"/>
              <p:cNvGrpSpPr/>
              <p:nvPr/>
            </p:nvGrpSpPr>
            <p:grpSpPr>
              <a:xfrm>
                <a:off x="12731623" y="5991024"/>
                <a:ext cx="786600" cy="794651"/>
                <a:chOff x="12731623" y="5991024"/>
                <a:chExt cx="786600" cy="794651"/>
              </a:xfrm>
            </p:grpSpPr>
            <p:sp>
              <p:nvSpPr>
                <p:cNvPr id="393" name="Google Shape;393;p52"/>
                <p:cNvSpPr/>
                <p:nvPr/>
              </p:nvSpPr>
              <p:spPr>
                <a:xfrm rot="-8102057">
                  <a:off x="12947687" y="6013657"/>
                  <a:ext cx="354473" cy="757736"/>
                </a:xfrm>
                <a:prstGeom prst="moon">
                  <a:avLst>
                    <a:gd fmla="val 62921" name="adj"/>
                  </a:avLst>
                </a:prstGeom>
                <a:solidFill>
                  <a:srgbClr val="3B83F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2"/>
                <p:cNvSpPr/>
                <p:nvPr/>
              </p:nvSpPr>
              <p:spPr>
                <a:xfrm>
                  <a:off x="13109825" y="5991024"/>
                  <a:ext cx="247200" cy="247200"/>
                </a:xfrm>
                <a:prstGeom prst="ellipse">
                  <a:avLst/>
                </a:prstGeom>
                <a:solidFill>
                  <a:srgbClr val="3B83F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2"/>
                <p:cNvSpPr/>
                <p:nvPr/>
              </p:nvSpPr>
              <p:spPr>
                <a:xfrm rot="5400000">
                  <a:off x="13342875" y="6070475"/>
                  <a:ext cx="59100" cy="89100"/>
                </a:xfrm>
                <a:prstGeom prst="rtTriangle">
                  <a:avLst/>
                </a:prstGeom>
                <a:solidFill>
                  <a:srgbClr val="3B83F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2"/>
                <p:cNvSpPr/>
                <p:nvPr/>
              </p:nvSpPr>
              <p:spPr>
                <a:xfrm flipH="1" rot="4117763">
                  <a:off x="13333211" y="5991048"/>
                  <a:ext cx="59276" cy="97659"/>
                </a:xfrm>
                <a:prstGeom prst="rtTriangle">
                  <a:avLst/>
                </a:prstGeom>
                <a:solidFill>
                  <a:srgbClr val="3B83F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 name="Google Shape;397;p52"/>
              <p:cNvGrpSpPr/>
              <p:nvPr/>
            </p:nvGrpSpPr>
            <p:grpSpPr>
              <a:xfrm>
                <a:off x="12751124" y="5994599"/>
                <a:ext cx="786600" cy="794651"/>
                <a:chOff x="12884023" y="6143424"/>
                <a:chExt cx="786600" cy="794651"/>
              </a:xfrm>
            </p:grpSpPr>
            <p:sp>
              <p:nvSpPr>
                <p:cNvPr id="398" name="Google Shape;398;p52"/>
                <p:cNvSpPr/>
                <p:nvPr/>
              </p:nvSpPr>
              <p:spPr>
                <a:xfrm rot="-8102057">
                  <a:off x="13100087" y="6166057"/>
                  <a:ext cx="354473" cy="757736"/>
                </a:xfrm>
                <a:prstGeom prst="moon">
                  <a:avLst>
                    <a:gd fmla="val 62921" name="adj"/>
                  </a:avLst>
                </a:prstGeom>
                <a:solidFill>
                  <a:srgbClr val="3B83F3"/>
                </a:solidFill>
                <a:ln cap="flat" cmpd="sng" w="9525">
                  <a:solidFill>
                    <a:srgbClr val="3B8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2"/>
                <p:cNvSpPr/>
                <p:nvPr/>
              </p:nvSpPr>
              <p:spPr>
                <a:xfrm>
                  <a:off x="13262225" y="6143424"/>
                  <a:ext cx="247200" cy="247200"/>
                </a:xfrm>
                <a:prstGeom prst="ellipse">
                  <a:avLst/>
                </a:prstGeom>
                <a:solidFill>
                  <a:srgbClr val="3B83F3"/>
                </a:solidFill>
                <a:ln cap="flat" cmpd="sng" w="9525">
                  <a:solidFill>
                    <a:srgbClr val="3B8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2"/>
                <p:cNvSpPr/>
                <p:nvPr/>
              </p:nvSpPr>
              <p:spPr>
                <a:xfrm rot="5400000">
                  <a:off x="13495275" y="6222875"/>
                  <a:ext cx="59100" cy="89100"/>
                </a:xfrm>
                <a:prstGeom prst="rtTriangle">
                  <a:avLst/>
                </a:prstGeom>
                <a:solidFill>
                  <a:srgbClr val="3B83F3"/>
                </a:solidFill>
                <a:ln cap="flat" cmpd="sng" w="9525">
                  <a:solidFill>
                    <a:srgbClr val="3B8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2"/>
                <p:cNvSpPr/>
                <p:nvPr/>
              </p:nvSpPr>
              <p:spPr>
                <a:xfrm flipH="1" rot="4117763">
                  <a:off x="13485611" y="6143448"/>
                  <a:ext cx="59276" cy="97659"/>
                </a:xfrm>
                <a:prstGeom prst="rtTriangle">
                  <a:avLst/>
                </a:prstGeom>
                <a:solidFill>
                  <a:srgbClr val="3B83F3"/>
                </a:solidFill>
                <a:ln cap="flat" cmpd="sng" w="9525">
                  <a:solidFill>
                    <a:srgbClr val="3B8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2" name="Google Shape;402;p52"/>
            <p:cNvSpPr txBox="1"/>
            <p:nvPr/>
          </p:nvSpPr>
          <p:spPr>
            <a:xfrm>
              <a:off x="12745527" y="6277978"/>
              <a:ext cx="13575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Social media</a:t>
              </a:r>
              <a:endParaRPr sz="1800">
                <a:solidFill>
                  <a:schemeClr val="lt1"/>
                </a:solidFill>
                <a:latin typeface="Roboto"/>
                <a:ea typeface="Roboto"/>
                <a:cs typeface="Roboto"/>
                <a:sym typeface="Roboto"/>
              </a:endParaRPr>
            </a:p>
          </p:txBody>
        </p:sp>
      </p:grpSp>
      <p:grpSp>
        <p:nvGrpSpPr>
          <p:cNvPr id="403" name="Google Shape;403;p52"/>
          <p:cNvGrpSpPr/>
          <p:nvPr/>
        </p:nvGrpSpPr>
        <p:grpSpPr>
          <a:xfrm>
            <a:off x="13273237" y="6269706"/>
            <a:ext cx="1357500" cy="685053"/>
            <a:chOff x="13225227" y="7052347"/>
            <a:chExt cx="1357500" cy="685053"/>
          </a:xfrm>
        </p:grpSpPr>
        <p:grpSp>
          <p:nvGrpSpPr>
            <p:cNvPr id="404" name="Google Shape;404;p52"/>
            <p:cNvGrpSpPr/>
            <p:nvPr/>
          </p:nvGrpSpPr>
          <p:grpSpPr>
            <a:xfrm>
              <a:off x="13225241" y="7052347"/>
              <a:ext cx="1357453" cy="304646"/>
              <a:chOff x="15583041" y="6720822"/>
              <a:chExt cx="1357453" cy="304646"/>
            </a:xfrm>
          </p:grpSpPr>
          <p:grpSp>
            <p:nvGrpSpPr>
              <p:cNvPr id="405" name="Google Shape;405;p52"/>
              <p:cNvGrpSpPr/>
              <p:nvPr/>
            </p:nvGrpSpPr>
            <p:grpSpPr>
              <a:xfrm>
                <a:off x="15583041" y="6720822"/>
                <a:ext cx="320353" cy="304646"/>
                <a:chOff x="15583296" y="5921425"/>
                <a:chExt cx="1161119" cy="1104189"/>
              </a:xfrm>
            </p:grpSpPr>
            <p:sp>
              <p:nvSpPr>
                <p:cNvPr id="406" name="Google Shape;406;p52"/>
                <p:cNvSpPr/>
                <p:nvPr/>
              </p:nvSpPr>
              <p:spPr>
                <a:xfrm>
                  <a:off x="16015550" y="5921425"/>
                  <a:ext cx="297300" cy="355800"/>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2"/>
                <p:cNvSpPr/>
                <p:nvPr/>
              </p:nvSpPr>
              <p:spPr>
                <a:xfrm rot="4321317">
                  <a:off x="16380604"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2"/>
                <p:cNvSpPr/>
                <p:nvPr/>
              </p:nvSpPr>
              <p:spPr>
                <a:xfrm rot="8637082">
                  <a:off x="16239320"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2"/>
                <p:cNvSpPr/>
                <p:nvPr/>
              </p:nvSpPr>
              <p:spPr>
                <a:xfrm flipH="1" rot="-4321317">
                  <a:off x="15649685"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2"/>
                <p:cNvSpPr/>
                <p:nvPr/>
              </p:nvSpPr>
              <p:spPr>
                <a:xfrm flipH="1" rot="-8637082">
                  <a:off x="15791181"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2"/>
                <p:cNvSpPr/>
                <p:nvPr/>
              </p:nvSpPr>
              <p:spPr>
                <a:xfrm flipH="1" rot="10800000">
                  <a:off x="15922906" y="6279663"/>
                  <a:ext cx="480300" cy="453900"/>
                </a:xfrm>
                <a:prstGeom prst="pentagon">
                  <a:avLst>
                    <a:gd fmla="val 105146" name="hf"/>
                    <a:gd fmla="val 110557" name="vf"/>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 name="Google Shape;412;p52"/>
              <p:cNvGrpSpPr/>
              <p:nvPr/>
            </p:nvGrpSpPr>
            <p:grpSpPr>
              <a:xfrm>
                <a:off x="15928741" y="6720822"/>
                <a:ext cx="320353" cy="304646"/>
                <a:chOff x="15583296" y="5921425"/>
                <a:chExt cx="1161119" cy="1104189"/>
              </a:xfrm>
            </p:grpSpPr>
            <p:sp>
              <p:nvSpPr>
                <p:cNvPr id="413" name="Google Shape;413;p52"/>
                <p:cNvSpPr/>
                <p:nvPr/>
              </p:nvSpPr>
              <p:spPr>
                <a:xfrm>
                  <a:off x="16015550" y="5921425"/>
                  <a:ext cx="297300" cy="355800"/>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2"/>
                <p:cNvSpPr/>
                <p:nvPr/>
              </p:nvSpPr>
              <p:spPr>
                <a:xfrm rot="4321317">
                  <a:off x="16380604"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2"/>
                <p:cNvSpPr/>
                <p:nvPr/>
              </p:nvSpPr>
              <p:spPr>
                <a:xfrm rot="8637082">
                  <a:off x="16239320"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2"/>
                <p:cNvSpPr/>
                <p:nvPr/>
              </p:nvSpPr>
              <p:spPr>
                <a:xfrm flipH="1" rot="-4321317">
                  <a:off x="15649685"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2"/>
                <p:cNvSpPr/>
                <p:nvPr/>
              </p:nvSpPr>
              <p:spPr>
                <a:xfrm flipH="1" rot="-8637082">
                  <a:off x="15791181"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2"/>
                <p:cNvSpPr/>
                <p:nvPr/>
              </p:nvSpPr>
              <p:spPr>
                <a:xfrm flipH="1" rot="10800000">
                  <a:off x="15922906" y="6279663"/>
                  <a:ext cx="480300" cy="453900"/>
                </a:xfrm>
                <a:prstGeom prst="pentagon">
                  <a:avLst>
                    <a:gd fmla="val 105146" name="hf"/>
                    <a:gd fmla="val 110557" name="vf"/>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52"/>
              <p:cNvGrpSpPr/>
              <p:nvPr/>
            </p:nvGrpSpPr>
            <p:grpSpPr>
              <a:xfrm>
                <a:off x="16274441" y="6720822"/>
                <a:ext cx="320353" cy="304646"/>
                <a:chOff x="15583296" y="5921425"/>
                <a:chExt cx="1161119" cy="1104189"/>
              </a:xfrm>
            </p:grpSpPr>
            <p:sp>
              <p:nvSpPr>
                <p:cNvPr id="420" name="Google Shape;420;p52"/>
                <p:cNvSpPr/>
                <p:nvPr/>
              </p:nvSpPr>
              <p:spPr>
                <a:xfrm>
                  <a:off x="16015550" y="5921425"/>
                  <a:ext cx="297300" cy="355800"/>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2"/>
                <p:cNvSpPr/>
                <p:nvPr/>
              </p:nvSpPr>
              <p:spPr>
                <a:xfrm rot="4321317">
                  <a:off x="16380604"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2"/>
                <p:cNvSpPr/>
                <p:nvPr/>
              </p:nvSpPr>
              <p:spPr>
                <a:xfrm rot="8637082">
                  <a:off x="16239320"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2"/>
                <p:cNvSpPr/>
                <p:nvPr/>
              </p:nvSpPr>
              <p:spPr>
                <a:xfrm flipH="1" rot="-4321317">
                  <a:off x="15649685"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2"/>
                <p:cNvSpPr/>
                <p:nvPr/>
              </p:nvSpPr>
              <p:spPr>
                <a:xfrm flipH="1" rot="-8637082">
                  <a:off x="15791181"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2"/>
                <p:cNvSpPr/>
                <p:nvPr/>
              </p:nvSpPr>
              <p:spPr>
                <a:xfrm flipH="1" rot="10800000">
                  <a:off x="15922906" y="6279663"/>
                  <a:ext cx="480300" cy="453900"/>
                </a:xfrm>
                <a:prstGeom prst="pentagon">
                  <a:avLst>
                    <a:gd fmla="val 105146" name="hf"/>
                    <a:gd fmla="val 110557" name="vf"/>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52"/>
              <p:cNvGrpSpPr/>
              <p:nvPr/>
            </p:nvGrpSpPr>
            <p:grpSpPr>
              <a:xfrm>
                <a:off x="16620141" y="6720822"/>
                <a:ext cx="320353" cy="304646"/>
                <a:chOff x="15583296" y="5921425"/>
                <a:chExt cx="1161119" cy="1104189"/>
              </a:xfrm>
            </p:grpSpPr>
            <p:sp>
              <p:nvSpPr>
                <p:cNvPr id="427" name="Google Shape;427;p52"/>
                <p:cNvSpPr/>
                <p:nvPr/>
              </p:nvSpPr>
              <p:spPr>
                <a:xfrm>
                  <a:off x="16015550" y="5921425"/>
                  <a:ext cx="297300" cy="355800"/>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2"/>
                <p:cNvSpPr/>
                <p:nvPr/>
              </p:nvSpPr>
              <p:spPr>
                <a:xfrm rot="4321317">
                  <a:off x="16380604"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2"/>
                <p:cNvSpPr/>
                <p:nvPr/>
              </p:nvSpPr>
              <p:spPr>
                <a:xfrm rot="8637082">
                  <a:off x="16239320"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2"/>
                <p:cNvSpPr/>
                <p:nvPr/>
              </p:nvSpPr>
              <p:spPr>
                <a:xfrm flipH="1" rot="-4321317">
                  <a:off x="15649685" y="6188475"/>
                  <a:ext cx="297422" cy="355768"/>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2"/>
                <p:cNvSpPr/>
                <p:nvPr/>
              </p:nvSpPr>
              <p:spPr>
                <a:xfrm flipH="1" rot="-8637082">
                  <a:off x="15791181" y="6616213"/>
                  <a:ext cx="297211" cy="355903"/>
                </a:xfrm>
                <a:prstGeom prst="triangle">
                  <a:avLst>
                    <a:gd fmla="val 50000" name="adj"/>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2"/>
                <p:cNvSpPr/>
                <p:nvPr/>
              </p:nvSpPr>
              <p:spPr>
                <a:xfrm flipH="1" rot="10800000">
                  <a:off x="15922906" y="6279663"/>
                  <a:ext cx="480300" cy="453900"/>
                </a:xfrm>
                <a:prstGeom prst="pentagon">
                  <a:avLst>
                    <a:gd fmla="val 105146" name="hf"/>
                    <a:gd fmla="val 110557" name="vf"/>
                  </a:avLst>
                </a:prstGeom>
                <a:solidFill>
                  <a:srgbClr val="FBBC05"/>
                </a:solidFill>
                <a:ln cap="flat" cmpd="sng" w="9525">
                  <a:solidFill>
                    <a:srgbClr val="FBBC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3" name="Google Shape;433;p52"/>
            <p:cNvSpPr txBox="1"/>
            <p:nvPr/>
          </p:nvSpPr>
          <p:spPr>
            <a:xfrm>
              <a:off x="13225227" y="7357000"/>
              <a:ext cx="13575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Ratings &amp; reviews</a:t>
              </a:r>
              <a:endParaRPr sz="1800">
                <a:solidFill>
                  <a:schemeClr val="lt1"/>
                </a:solidFill>
                <a:latin typeface="Roboto"/>
                <a:ea typeface="Roboto"/>
                <a:cs typeface="Roboto"/>
                <a:sym typeface="Roboto"/>
              </a:endParaRPr>
            </a:p>
          </p:txBody>
        </p:sp>
      </p:grpSp>
      <p:grpSp>
        <p:nvGrpSpPr>
          <p:cNvPr id="434" name="Google Shape;434;p52"/>
          <p:cNvGrpSpPr/>
          <p:nvPr/>
        </p:nvGrpSpPr>
        <p:grpSpPr>
          <a:xfrm>
            <a:off x="11338576" y="4482686"/>
            <a:ext cx="1703700" cy="1006459"/>
            <a:chOff x="14211851" y="6115244"/>
            <a:chExt cx="1703700" cy="1006459"/>
          </a:xfrm>
        </p:grpSpPr>
        <p:grpSp>
          <p:nvGrpSpPr>
            <p:cNvPr id="435" name="Google Shape;435;p52"/>
            <p:cNvGrpSpPr/>
            <p:nvPr/>
          </p:nvGrpSpPr>
          <p:grpSpPr>
            <a:xfrm>
              <a:off x="14475558" y="6115244"/>
              <a:ext cx="1082133" cy="764262"/>
              <a:chOff x="14474925" y="6114978"/>
              <a:chExt cx="2418175" cy="1707847"/>
            </a:xfrm>
          </p:grpSpPr>
          <p:sp>
            <p:nvSpPr>
              <p:cNvPr id="436" name="Google Shape;436;p52"/>
              <p:cNvSpPr/>
              <p:nvPr/>
            </p:nvSpPr>
            <p:spPr>
              <a:xfrm>
                <a:off x="14723575" y="6806000"/>
                <a:ext cx="1881900" cy="516900"/>
              </a:xfrm>
              <a:prstGeom prst="roundRect">
                <a:avLst>
                  <a:gd fmla="val 50000" name="adj"/>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2"/>
              <p:cNvSpPr/>
              <p:nvPr/>
            </p:nvSpPr>
            <p:spPr>
              <a:xfrm>
                <a:off x="15929775" y="6452300"/>
                <a:ext cx="870600" cy="870600"/>
              </a:xfrm>
              <a:prstGeom prst="ellipse">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2"/>
              <p:cNvSpPr/>
              <p:nvPr/>
            </p:nvSpPr>
            <p:spPr>
              <a:xfrm>
                <a:off x="15209275" y="6114978"/>
                <a:ext cx="1075800" cy="1075800"/>
              </a:xfrm>
              <a:prstGeom prst="ellipse">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2"/>
              <p:cNvSpPr/>
              <p:nvPr/>
            </p:nvSpPr>
            <p:spPr>
              <a:xfrm>
                <a:off x="14991150" y="6482914"/>
                <a:ext cx="662100" cy="662100"/>
              </a:xfrm>
              <a:prstGeom prst="ellipse">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2"/>
              <p:cNvSpPr/>
              <p:nvPr/>
            </p:nvSpPr>
            <p:spPr>
              <a:xfrm flipH="1" rot="10800000">
                <a:off x="15312225" y="7249452"/>
                <a:ext cx="375300" cy="434100"/>
              </a:xfrm>
              <a:prstGeom prst="triangle">
                <a:avLst>
                  <a:gd fmla="val 34722" name="adj"/>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2"/>
              <p:cNvSpPr/>
              <p:nvPr/>
            </p:nvSpPr>
            <p:spPr>
              <a:xfrm>
                <a:off x="14474925" y="6588200"/>
                <a:ext cx="2418175" cy="1234625"/>
              </a:xfrm>
              <a:custGeom>
                <a:rect b="b" l="l" r="r" t="t"/>
                <a:pathLst>
                  <a:path extrusionOk="0" h="49385" w="96727">
                    <a:moveTo>
                      <a:pt x="9751" y="15452"/>
                    </a:moveTo>
                    <a:lnTo>
                      <a:pt x="31007" y="15452"/>
                    </a:lnTo>
                    <a:lnTo>
                      <a:pt x="33632" y="10906"/>
                    </a:lnTo>
                    <a:lnTo>
                      <a:pt x="38979" y="20168"/>
                    </a:lnTo>
                    <a:lnTo>
                      <a:pt x="44383" y="0"/>
                    </a:lnTo>
                    <a:lnTo>
                      <a:pt x="50597" y="23191"/>
                    </a:lnTo>
                    <a:lnTo>
                      <a:pt x="55820" y="3697"/>
                    </a:lnTo>
                    <a:lnTo>
                      <a:pt x="60301" y="20421"/>
                    </a:lnTo>
                    <a:lnTo>
                      <a:pt x="63827" y="7262"/>
                    </a:lnTo>
                    <a:lnTo>
                      <a:pt x="66681" y="17914"/>
                    </a:lnTo>
                    <a:lnTo>
                      <a:pt x="70450" y="11386"/>
                    </a:lnTo>
                    <a:lnTo>
                      <a:pt x="96727" y="11386"/>
                    </a:lnTo>
                    <a:lnTo>
                      <a:pt x="87952" y="39049"/>
                    </a:lnTo>
                    <a:lnTo>
                      <a:pt x="37638" y="49385"/>
                    </a:lnTo>
                    <a:lnTo>
                      <a:pt x="0" y="24423"/>
                    </a:lnTo>
                    <a:close/>
                  </a:path>
                </a:pathLst>
              </a:custGeom>
              <a:noFill/>
              <a:ln cap="flat" cmpd="sng" w="38100">
                <a:solidFill>
                  <a:srgbClr val="FFFFFF"/>
                </a:solidFill>
                <a:prstDash val="solid"/>
                <a:round/>
                <a:headEnd len="med" w="med" type="none"/>
                <a:tailEnd len="med" w="med" type="none"/>
              </a:ln>
            </p:spPr>
          </p:sp>
        </p:grpSp>
        <p:sp>
          <p:nvSpPr>
            <p:cNvPr id="442" name="Google Shape;442;p52"/>
            <p:cNvSpPr txBox="1"/>
            <p:nvPr/>
          </p:nvSpPr>
          <p:spPr>
            <a:xfrm>
              <a:off x="14211851" y="6741303"/>
              <a:ext cx="17037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Voice transcriptions</a:t>
              </a:r>
              <a:endParaRPr sz="1800">
                <a:solidFill>
                  <a:schemeClr val="lt1"/>
                </a:solidFill>
                <a:latin typeface="Roboto"/>
                <a:ea typeface="Roboto"/>
                <a:cs typeface="Roboto"/>
                <a:sym typeface="Roboto"/>
              </a:endParaRPr>
            </a:p>
          </p:txBody>
        </p:sp>
      </p:grpSp>
      <p:grpSp>
        <p:nvGrpSpPr>
          <p:cNvPr id="443" name="Google Shape;443;p52"/>
          <p:cNvGrpSpPr/>
          <p:nvPr/>
        </p:nvGrpSpPr>
        <p:grpSpPr>
          <a:xfrm>
            <a:off x="15008449" y="7620476"/>
            <a:ext cx="1222800" cy="1151224"/>
            <a:chOff x="14626303" y="5004326"/>
            <a:chExt cx="1222800" cy="1151224"/>
          </a:xfrm>
        </p:grpSpPr>
        <p:grpSp>
          <p:nvGrpSpPr>
            <p:cNvPr id="444" name="Google Shape;444;p52"/>
            <p:cNvGrpSpPr/>
            <p:nvPr/>
          </p:nvGrpSpPr>
          <p:grpSpPr>
            <a:xfrm>
              <a:off x="14931058" y="5004326"/>
              <a:ext cx="539400" cy="770700"/>
              <a:chOff x="14896933" y="4823926"/>
              <a:chExt cx="539400" cy="770700"/>
            </a:xfrm>
          </p:grpSpPr>
          <p:sp>
            <p:nvSpPr>
              <p:cNvPr id="445" name="Google Shape;445;p52"/>
              <p:cNvSpPr/>
              <p:nvPr/>
            </p:nvSpPr>
            <p:spPr>
              <a:xfrm>
                <a:off x="14896933" y="4823926"/>
                <a:ext cx="539400" cy="770700"/>
              </a:xfrm>
              <a:prstGeom prst="foldedCorner">
                <a:avLst>
                  <a:gd fmla="val 31245" name="adj"/>
                </a:avLst>
              </a:prstGeom>
              <a:solidFill>
                <a:srgbClr val="34A853"/>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6" name="Google Shape;446;p52"/>
              <p:cNvCxnSpPr/>
              <p:nvPr/>
            </p:nvCxnSpPr>
            <p:spPr>
              <a:xfrm>
                <a:off x="15135522" y="5016174"/>
                <a:ext cx="226800" cy="0"/>
              </a:xfrm>
              <a:prstGeom prst="straightConnector1">
                <a:avLst/>
              </a:prstGeom>
              <a:noFill/>
              <a:ln cap="flat" cmpd="sng" w="28575">
                <a:solidFill>
                  <a:srgbClr val="FFFFFF"/>
                </a:solidFill>
                <a:prstDash val="solid"/>
                <a:round/>
                <a:headEnd len="med" w="med" type="none"/>
                <a:tailEnd len="med" w="med" type="none"/>
              </a:ln>
            </p:spPr>
          </p:cxnSp>
          <p:cxnSp>
            <p:nvCxnSpPr>
              <p:cNvPr id="447" name="Google Shape;447;p52"/>
              <p:cNvCxnSpPr/>
              <p:nvPr/>
            </p:nvCxnSpPr>
            <p:spPr>
              <a:xfrm>
                <a:off x="15135522" y="5135014"/>
                <a:ext cx="226800" cy="0"/>
              </a:xfrm>
              <a:prstGeom prst="straightConnector1">
                <a:avLst/>
              </a:prstGeom>
              <a:noFill/>
              <a:ln cap="flat" cmpd="sng" w="28575">
                <a:solidFill>
                  <a:srgbClr val="FFFFFF"/>
                </a:solidFill>
                <a:prstDash val="solid"/>
                <a:round/>
                <a:headEnd len="med" w="med" type="none"/>
                <a:tailEnd len="med" w="med" type="none"/>
              </a:ln>
            </p:spPr>
          </p:cxnSp>
          <p:cxnSp>
            <p:nvCxnSpPr>
              <p:cNvPr id="448" name="Google Shape;448;p52"/>
              <p:cNvCxnSpPr/>
              <p:nvPr/>
            </p:nvCxnSpPr>
            <p:spPr>
              <a:xfrm>
                <a:off x="15135522" y="5266675"/>
                <a:ext cx="226800" cy="0"/>
              </a:xfrm>
              <a:prstGeom prst="straightConnector1">
                <a:avLst/>
              </a:prstGeom>
              <a:noFill/>
              <a:ln cap="flat" cmpd="sng" w="28575">
                <a:solidFill>
                  <a:srgbClr val="FFFFFF"/>
                </a:solidFill>
                <a:prstDash val="solid"/>
                <a:round/>
                <a:headEnd len="med" w="med" type="none"/>
                <a:tailEnd len="med" w="med" type="none"/>
              </a:ln>
            </p:spPr>
          </p:cxnSp>
          <p:sp>
            <p:nvSpPr>
              <p:cNvPr id="449" name="Google Shape;449;p52"/>
              <p:cNvSpPr/>
              <p:nvPr/>
            </p:nvSpPr>
            <p:spPr>
              <a:xfrm rot="-2705645">
                <a:off x="14964874" y="4983293"/>
                <a:ext cx="129189" cy="65761"/>
              </a:xfrm>
              <a:prstGeom prst="corner">
                <a:avLst>
                  <a:gd fmla="val 50000" name="adj1"/>
                  <a:gd fmla="val 50000" name="adj2"/>
                </a:avLst>
              </a:prstGeom>
              <a:solidFill>
                <a:srgbClr val="FFFFFF"/>
              </a:solidFill>
              <a:ln cap="flat" cmpd="sng" w="9525">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2"/>
              <p:cNvSpPr/>
              <p:nvPr/>
            </p:nvSpPr>
            <p:spPr>
              <a:xfrm rot="-2705645">
                <a:off x="14964874" y="5102133"/>
                <a:ext cx="129189" cy="65761"/>
              </a:xfrm>
              <a:prstGeom prst="corner">
                <a:avLst>
                  <a:gd fmla="val 50000" name="adj1"/>
                  <a:gd fmla="val 50000" name="adj2"/>
                </a:avLst>
              </a:prstGeom>
              <a:solidFill>
                <a:srgbClr val="FFFFFF"/>
              </a:solidFill>
              <a:ln cap="flat" cmpd="sng" w="9525">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2"/>
              <p:cNvSpPr/>
              <p:nvPr/>
            </p:nvSpPr>
            <p:spPr>
              <a:xfrm rot="-2705645">
                <a:off x="14964874" y="5233794"/>
                <a:ext cx="129189" cy="65761"/>
              </a:xfrm>
              <a:prstGeom prst="corner">
                <a:avLst>
                  <a:gd fmla="val 50000" name="adj1"/>
                  <a:gd fmla="val 50000" name="adj2"/>
                </a:avLst>
              </a:prstGeom>
              <a:solidFill>
                <a:srgbClr val="FFFFFF"/>
              </a:solidFill>
              <a:ln cap="flat" cmpd="sng" w="9525">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2" name="Google Shape;452;p52"/>
            <p:cNvSpPr txBox="1"/>
            <p:nvPr/>
          </p:nvSpPr>
          <p:spPr>
            <a:xfrm>
              <a:off x="14626303" y="5775150"/>
              <a:ext cx="12228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Surveys</a:t>
              </a:r>
              <a:endParaRPr sz="1800">
                <a:solidFill>
                  <a:schemeClr val="lt1"/>
                </a:solidFill>
                <a:latin typeface="Roboto"/>
                <a:ea typeface="Roboto"/>
                <a:cs typeface="Roboto"/>
                <a:sym typeface="Roboto"/>
              </a:endParaRPr>
            </a:p>
          </p:txBody>
        </p:sp>
      </p:grpSp>
      <p:grpSp>
        <p:nvGrpSpPr>
          <p:cNvPr id="453" name="Google Shape;453;p52"/>
          <p:cNvGrpSpPr/>
          <p:nvPr/>
        </p:nvGrpSpPr>
        <p:grpSpPr>
          <a:xfrm>
            <a:off x="11605375" y="5991097"/>
            <a:ext cx="1437000" cy="1242271"/>
            <a:chOff x="11681575" y="5208154"/>
            <a:chExt cx="1437000" cy="1242271"/>
          </a:xfrm>
        </p:grpSpPr>
        <p:grpSp>
          <p:nvGrpSpPr>
            <p:cNvPr id="454" name="Google Shape;454;p52"/>
            <p:cNvGrpSpPr/>
            <p:nvPr/>
          </p:nvGrpSpPr>
          <p:grpSpPr>
            <a:xfrm>
              <a:off x="12038963" y="5208154"/>
              <a:ext cx="722225" cy="846714"/>
              <a:chOff x="16507713" y="6249025"/>
              <a:chExt cx="945073" cy="1107975"/>
            </a:xfrm>
          </p:grpSpPr>
          <p:sp>
            <p:nvSpPr>
              <p:cNvPr id="455" name="Google Shape;455;p52"/>
              <p:cNvSpPr/>
              <p:nvPr/>
            </p:nvSpPr>
            <p:spPr>
              <a:xfrm>
                <a:off x="16507713" y="6597607"/>
                <a:ext cx="168000" cy="423000"/>
              </a:xfrm>
              <a:prstGeom prst="roundRect">
                <a:avLst>
                  <a:gd fmla="val 50000" name="adj"/>
                </a:avLst>
              </a:prstGeom>
              <a:solidFill>
                <a:srgbClr val="4381EB"/>
              </a:solidFill>
              <a:ln cap="flat" cmpd="sng" w="28575">
                <a:solidFill>
                  <a:srgbClr val="4381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2"/>
              <p:cNvSpPr/>
              <p:nvPr/>
            </p:nvSpPr>
            <p:spPr>
              <a:xfrm>
                <a:off x="17284786" y="6597607"/>
                <a:ext cx="168000" cy="423000"/>
              </a:xfrm>
              <a:prstGeom prst="roundRect">
                <a:avLst>
                  <a:gd fmla="val 50000" name="adj"/>
                </a:avLst>
              </a:prstGeom>
              <a:solidFill>
                <a:srgbClr val="4381EB"/>
              </a:solidFill>
              <a:ln cap="flat" cmpd="sng" w="28575">
                <a:solidFill>
                  <a:srgbClr val="4381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2"/>
              <p:cNvSpPr/>
              <p:nvPr/>
            </p:nvSpPr>
            <p:spPr>
              <a:xfrm>
                <a:off x="16568975" y="6249025"/>
                <a:ext cx="803100" cy="803100"/>
              </a:xfrm>
              <a:prstGeom prst="blockArc">
                <a:avLst>
                  <a:gd fmla="val 10800000" name="adj1"/>
                  <a:gd fmla="val 84090" name="adj2"/>
                  <a:gd fmla="val 0" name="adj3"/>
                </a:avLst>
              </a:prstGeom>
              <a:solidFill>
                <a:srgbClr val="4381EB"/>
              </a:solidFill>
              <a:ln cap="flat" cmpd="sng" w="28575">
                <a:solidFill>
                  <a:srgbClr val="4381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2"/>
              <p:cNvSpPr/>
              <p:nvPr/>
            </p:nvSpPr>
            <p:spPr>
              <a:xfrm>
                <a:off x="16797350" y="6706225"/>
                <a:ext cx="574800" cy="574800"/>
              </a:xfrm>
              <a:prstGeom prst="blockArc">
                <a:avLst>
                  <a:gd fmla="val 81528" name="adj1"/>
                  <a:gd fmla="val 5953806" name="adj2"/>
                  <a:gd fmla="val 0" name="adj3"/>
                </a:avLst>
              </a:prstGeom>
              <a:solidFill>
                <a:srgbClr val="4381EB"/>
              </a:solidFill>
              <a:ln cap="flat" cmpd="sng" w="28575">
                <a:solidFill>
                  <a:srgbClr val="4381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2"/>
              <p:cNvSpPr/>
              <p:nvPr/>
            </p:nvSpPr>
            <p:spPr>
              <a:xfrm>
                <a:off x="16955178" y="7189000"/>
                <a:ext cx="168000" cy="168000"/>
              </a:xfrm>
              <a:prstGeom prst="ellipse">
                <a:avLst/>
              </a:prstGeom>
              <a:solidFill>
                <a:srgbClr val="4381EB"/>
              </a:solidFill>
              <a:ln cap="flat" cmpd="sng" w="28575">
                <a:solidFill>
                  <a:srgbClr val="4381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0" name="Google Shape;460;p52"/>
            <p:cNvSpPr txBox="1"/>
            <p:nvPr/>
          </p:nvSpPr>
          <p:spPr>
            <a:xfrm>
              <a:off x="11681575" y="6070025"/>
              <a:ext cx="1437000" cy="38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Call center</a:t>
              </a:r>
              <a:endParaRPr sz="1800">
                <a:solidFill>
                  <a:schemeClr val="lt1"/>
                </a:solidFill>
                <a:latin typeface="Roboto"/>
                <a:ea typeface="Roboto"/>
                <a:cs typeface="Roboto"/>
                <a:sym typeface="Roboto"/>
              </a:endParaRPr>
            </a:p>
          </p:txBody>
        </p:sp>
      </p:grpSp>
      <p:grpSp>
        <p:nvGrpSpPr>
          <p:cNvPr id="461" name="Google Shape;461;p52"/>
          <p:cNvGrpSpPr/>
          <p:nvPr/>
        </p:nvGrpSpPr>
        <p:grpSpPr>
          <a:xfrm>
            <a:off x="13376377" y="7771350"/>
            <a:ext cx="1151190" cy="1000349"/>
            <a:chOff x="15665433" y="1608878"/>
            <a:chExt cx="1703700" cy="1480463"/>
          </a:xfrm>
        </p:grpSpPr>
        <p:grpSp>
          <p:nvGrpSpPr>
            <p:cNvPr id="462" name="Google Shape;462;p52"/>
            <p:cNvGrpSpPr/>
            <p:nvPr/>
          </p:nvGrpSpPr>
          <p:grpSpPr>
            <a:xfrm>
              <a:off x="15849092" y="1608878"/>
              <a:ext cx="1520026" cy="1120968"/>
              <a:chOff x="13860367" y="780078"/>
              <a:chExt cx="1520026" cy="1120968"/>
            </a:xfrm>
          </p:grpSpPr>
          <p:grpSp>
            <p:nvGrpSpPr>
              <p:cNvPr id="463" name="Google Shape;463;p52"/>
              <p:cNvGrpSpPr/>
              <p:nvPr/>
            </p:nvGrpSpPr>
            <p:grpSpPr>
              <a:xfrm flipH="1">
                <a:off x="14577257" y="1138224"/>
                <a:ext cx="803137" cy="762822"/>
                <a:chOff x="13743342" y="750800"/>
                <a:chExt cx="970558" cy="921839"/>
              </a:xfrm>
            </p:grpSpPr>
            <p:sp>
              <p:nvSpPr>
                <p:cNvPr id="464" name="Google Shape;464;p52"/>
                <p:cNvSpPr/>
                <p:nvPr/>
              </p:nvSpPr>
              <p:spPr>
                <a:xfrm>
                  <a:off x="13768000" y="750800"/>
                  <a:ext cx="945900" cy="684900"/>
                </a:xfrm>
                <a:prstGeom prst="ellipse">
                  <a:avLst/>
                </a:prstGeom>
                <a:solidFill>
                  <a:srgbClr val="D930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2"/>
                <p:cNvSpPr/>
                <p:nvPr/>
              </p:nvSpPr>
              <p:spPr>
                <a:xfrm>
                  <a:off x="13992276"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2"/>
                <p:cNvSpPr/>
                <p:nvPr/>
              </p:nvSpPr>
              <p:spPr>
                <a:xfrm>
                  <a:off x="14183679"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467" name="Google Shape;467;p52"/>
                <p:cNvSpPr/>
                <p:nvPr/>
              </p:nvSpPr>
              <p:spPr>
                <a:xfrm>
                  <a:off x="14375082"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2"/>
                <p:cNvSpPr/>
                <p:nvPr/>
              </p:nvSpPr>
              <p:spPr>
                <a:xfrm rot="1618846">
                  <a:off x="13799575" y="1326075"/>
                  <a:ext cx="247225" cy="307200"/>
                </a:xfrm>
                <a:prstGeom prst="flowChartMerge">
                  <a:avLst/>
                </a:prstGeom>
                <a:solidFill>
                  <a:srgbClr val="D930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 name="Google Shape;469;p52"/>
              <p:cNvGrpSpPr/>
              <p:nvPr/>
            </p:nvGrpSpPr>
            <p:grpSpPr>
              <a:xfrm>
                <a:off x="13881467" y="789800"/>
                <a:ext cx="970558" cy="921839"/>
                <a:chOff x="13881467" y="789800"/>
                <a:chExt cx="970558" cy="921839"/>
              </a:xfrm>
            </p:grpSpPr>
            <p:sp>
              <p:nvSpPr>
                <p:cNvPr id="470" name="Google Shape;470;p52"/>
                <p:cNvSpPr/>
                <p:nvPr/>
              </p:nvSpPr>
              <p:spPr>
                <a:xfrm>
                  <a:off x="13906125" y="789800"/>
                  <a:ext cx="945900" cy="684900"/>
                </a:xfrm>
                <a:prstGeom prst="ellipse">
                  <a:avLst/>
                </a:prstGeom>
                <a:solidFill>
                  <a:srgbClr val="EA4335"/>
                </a:solidFill>
                <a:ln cap="flat" cmpd="sng" w="762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2"/>
                <p:cNvSpPr/>
                <p:nvPr/>
              </p:nvSpPr>
              <p:spPr>
                <a:xfrm rot="1618846">
                  <a:off x="13937700" y="1365075"/>
                  <a:ext cx="247225" cy="307200"/>
                </a:xfrm>
                <a:prstGeom prst="flowChartMerge">
                  <a:avLst/>
                </a:prstGeom>
                <a:solidFill>
                  <a:srgbClr val="EA4335"/>
                </a:solidFill>
                <a:ln cap="flat" cmpd="sng" w="762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 name="Google Shape;472;p52"/>
              <p:cNvGrpSpPr/>
              <p:nvPr/>
            </p:nvGrpSpPr>
            <p:grpSpPr>
              <a:xfrm>
                <a:off x="13860367" y="780078"/>
                <a:ext cx="970558" cy="921839"/>
                <a:chOff x="13743342" y="750800"/>
                <a:chExt cx="970558" cy="921839"/>
              </a:xfrm>
            </p:grpSpPr>
            <p:sp>
              <p:nvSpPr>
                <p:cNvPr id="473" name="Google Shape;473;p52"/>
                <p:cNvSpPr/>
                <p:nvPr/>
              </p:nvSpPr>
              <p:spPr>
                <a:xfrm>
                  <a:off x="13768000" y="750800"/>
                  <a:ext cx="945900" cy="684900"/>
                </a:xfrm>
                <a:prstGeom prst="ellipse">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2"/>
                <p:cNvSpPr/>
                <p:nvPr/>
              </p:nvSpPr>
              <p:spPr>
                <a:xfrm>
                  <a:off x="13992276"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2"/>
                <p:cNvSpPr/>
                <p:nvPr/>
              </p:nvSpPr>
              <p:spPr>
                <a:xfrm>
                  <a:off x="14183679"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476" name="Google Shape;476;p52"/>
                <p:cNvSpPr/>
                <p:nvPr/>
              </p:nvSpPr>
              <p:spPr>
                <a:xfrm>
                  <a:off x="14375082" y="1029967"/>
                  <a:ext cx="130200" cy="130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2"/>
                <p:cNvSpPr/>
                <p:nvPr/>
              </p:nvSpPr>
              <p:spPr>
                <a:xfrm rot="1618846">
                  <a:off x="13799575" y="1326075"/>
                  <a:ext cx="247225" cy="307200"/>
                </a:xfrm>
                <a:prstGeom prst="flowChartMerge">
                  <a:avLst/>
                </a:prstGeom>
                <a:solidFill>
                  <a:srgbClr val="EA43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8" name="Google Shape;478;p52"/>
            <p:cNvSpPr txBox="1"/>
            <p:nvPr/>
          </p:nvSpPr>
          <p:spPr>
            <a:xfrm>
              <a:off x="15665433" y="2520841"/>
              <a:ext cx="1703700" cy="5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Chat</a:t>
              </a:r>
              <a:endParaRPr sz="1800">
                <a:solidFill>
                  <a:schemeClr val="lt1"/>
                </a:solidFill>
                <a:latin typeface="Roboto"/>
                <a:ea typeface="Roboto"/>
                <a:cs typeface="Roboto"/>
                <a:sym typeface="Roboto"/>
              </a:endParaRPr>
            </a:p>
          </p:txBody>
        </p:sp>
      </p:grpSp>
      <p:sp>
        <p:nvSpPr>
          <p:cNvPr id="479" name="Google Shape;479;p52"/>
          <p:cNvSpPr/>
          <p:nvPr/>
        </p:nvSpPr>
        <p:spPr>
          <a:xfrm>
            <a:off x="7628800" y="3241000"/>
            <a:ext cx="5829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2"/>
          <p:cNvSpPr/>
          <p:nvPr/>
        </p:nvSpPr>
        <p:spPr>
          <a:xfrm>
            <a:off x="4255800" y="4322000"/>
            <a:ext cx="5829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1" name="Google Shape;481;p52"/>
          <p:cNvCxnSpPr>
            <a:stCxn id="479" idx="1"/>
            <a:endCxn id="480" idx="0"/>
          </p:cNvCxnSpPr>
          <p:nvPr/>
        </p:nvCxnSpPr>
        <p:spPr>
          <a:xfrm flipH="1">
            <a:off x="4547200" y="3442750"/>
            <a:ext cx="3081600" cy="879300"/>
          </a:xfrm>
          <a:prstGeom prst="bentConnector2">
            <a:avLst/>
          </a:prstGeom>
          <a:noFill/>
          <a:ln cap="flat" cmpd="sng" w="38100">
            <a:solidFill>
              <a:schemeClr val="accent2"/>
            </a:solidFill>
            <a:prstDash val="solid"/>
            <a:round/>
            <a:headEnd len="med" w="med" type="none"/>
            <a:tailEnd len="med" w="med" type="oval"/>
          </a:ln>
        </p:spPr>
      </p:cxnSp>
      <p:sp>
        <p:nvSpPr>
          <p:cNvPr id="482" name="Google Shape;482;p52"/>
          <p:cNvSpPr/>
          <p:nvPr/>
        </p:nvSpPr>
        <p:spPr>
          <a:xfrm>
            <a:off x="9766650" y="6676300"/>
            <a:ext cx="5829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3" name="Google Shape;483;p52"/>
          <p:cNvCxnSpPr>
            <a:stCxn id="482" idx="3"/>
            <a:endCxn id="347" idx="1"/>
          </p:cNvCxnSpPr>
          <p:nvPr/>
        </p:nvCxnSpPr>
        <p:spPr>
          <a:xfrm flipH="1" rot="10800000">
            <a:off x="10349550" y="2634550"/>
            <a:ext cx="1785300" cy="4243500"/>
          </a:xfrm>
          <a:prstGeom prst="bentConnector3">
            <a:avLst>
              <a:gd fmla="val 49996" name="adj1"/>
            </a:avLst>
          </a:prstGeom>
          <a:noFill/>
          <a:ln cap="flat" cmpd="sng" w="38100">
            <a:solidFill>
              <a:schemeClr val="accent5"/>
            </a:solidFill>
            <a:prstDash val="solid"/>
            <a:round/>
            <a:headEnd len="med" w="med" type="none"/>
            <a:tailEnd len="med" w="med" type="oval"/>
          </a:ln>
        </p:spPr>
      </p:cxnSp>
      <p:sp>
        <p:nvSpPr>
          <p:cNvPr id="484" name="Google Shape;484;p5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Structured versus unstructured data</a:t>
            </a:r>
            <a:endParaRPr/>
          </a:p>
        </p:txBody>
      </p:sp>
      <p:sp>
        <p:nvSpPr>
          <p:cNvPr id="485" name="Google Shape;485;p5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cxnSp>
        <p:nvCxnSpPr>
          <p:cNvPr id="490" name="Google Shape;490;p53"/>
          <p:cNvCxnSpPr>
            <a:stCxn id="491" idx="2"/>
            <a:endCxn id="492" idx="0"/>
          </p:cNvCxnSpPr>
          <p:nvPr/>
        </p:nvCxnSpPr>
        <p:spPr>
          <a:xfrm flipH="1">
            <a:off x="9349779" y="5043081"/>
            <a:ext cx="15900" cy="1301100"/>
          </a:xfrm>
          <a:prstGeom prst="straightConnector1">
            <a:avLst/>
          </a:prstGeom>
          <a:noFill/>
          <a:ln cap="flat" cmpd="sng" w="19050">
            <a:solidFill>
              <a:schemeClr val="accent4"/>
            </a:solidFill>
            <a:prstDash val="solid"/>
            <a:round/>
            <a:headEnd len="med" w="med" type="none"/>
            <a:tailEnd len="med" w="med" type="triangle"/>
          </a:ln>
        </p:spPr>
      </p:cxnSp>
      <p:cxnSp>
        <p:nvCxnSpPr>
          <p:cNvPr id="493" name="Google Shape;493;p53"/>
          <p:cNvCxnSpPr>
            <a:stCxn id="492" idx="2"/>
            <a:endCxn id="494" idx="0"/>
          </p:cNvCxnSpPr>
          <p:nvPr/>
        </p:nvCxnSpPr>
        <p:spPr>
          <a:xfrm>
            <a:off x="9349802" y="7015525"/>
            <a:ext cx="15600" cy="1300500"/>
          </a:xfrm>
          <a:prstGeom prst="straightConnector1">
            <a:avLst/>
          </a:prstGeom>
          <a:noFill/>
          <a:ln cap="flat" cmpd="sng" w="19050">
            <a:solidFill>
              <a:schemeClr val="accent4"/>
            </a:solidFill>
            <a:prstDash val="solid"/>
            <a:round/>
            <a:headEnd len="med" w="med" type="none"/>
            <a:tailEnd len="med" w="med" type="triangle"/>
          </a:ln>
        </p:spPr>
      </p:cxnSp>
      <p:grpSp>
        <p:nvGrpSpPr>
          <p:cNvPr id="495" name="Google Shape;495;p53"/>
          <p:cNvGrpSpPr/>
          <p:nvPr/>
        </p:nvGrpSpPr>
        <p:grpSpPr>
          <a:xfrm>
            <a:off x="1968048" y="8316333"/>
            <a:ext cx="2105040" cy="860453"/>
            <a:chOff x="9160872" y="4521061"/>
            <a:chExt cx="2148000" cy="879000"/>
          </a:xfrm>
        </p:grpSpPr>
        <p:sp>
          <p:nvSpPr>
            <p:cNvPr id="496" name="Google Shape;496;p53"/>
            <p:cNvSpPr/>
            <p:nvPr/>
          </p:nvSpPr>
          <p:spPr>
            <a:xfrm>
              <a:off x="9160872" y="4521061"/>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i="0" lang="en" sz="1800" u="none" cap="none" strike="noStrike">
                  <a:solidFill>
                    <a:schemeClr val="lt1"/>
                  </a:solidFill>
                  <a:latin typeface="Google Sans"/>
                  <a:ea typeface="Google Sans"/>
                  <a:cs typeface="Google Sans"/>
                  <a:sym typeface="Google Sans"/>
                </a:rPr>
                <a:t>Cloud </a:t>
              </a:r>
              <a:r>
                <a:rPr lang="en" sz="1800">
                  <a:solidFill>
                    <a:schemeClr val="lt1"/>
                  </a:solidFill>
                  <a:latin typeface="Google Sans"/>
                  <a:ea typeface="Google Sans"/>
                  <a:cs typeface="Google Sans"/>
                  <a:sym typeface="Google Sans"/>
                </a:rPr>
                <a:t>SQL</a:t>
              </a:r>
              <a:endParaRPr i="0" sz="1800" u="none" cap="none" strike="noStrike">
                <a:solidFill>
                  <a:schemeClr val="lt1"/>
                </a:solidFill>
                <a:latin typeface="Google Sans"/>
                <a:ea typeface="Google Sans"/>
                <a:cs typeface="Google Sans"/>
                <a:sym typeface="Google Sans"/>
              </a:endParaRPr>
            </a:p>
          </p:txBody>
        </p:sp>
        <p:pic>
          <p:nvPicPr>
            <p:cNvPr id="497" name="Google Shape;497;p53"/>
            <p:cNvPicPr preferRelativeResize="0"/>
            <p:nvPr/>
          </p:nvPicPr>
          <p:blipFill rotWithShape="1">
            <a:blip r:embed="rId3">
              <a:alphaModFix/>
            </a:blip>
            <a:srcRect b="0" l="0" r="0" t="0"/>
            <a:stretch/>
          </p:blipFill>
          <p:spPr>
            <a:xfrm>
              <a:off x="9250282" y="4640461"/>
              <a:ext cx="640200" cy="640200"/>
            </a:xfrm>
            <a:prstGeom prst="rect">
              <a:avLst/>
            </a:prstGeom>
            <a:noFill/>
            <a:ln>
              <a:noFill/>
            </a:ln>
          </p:spPr>
        </p:pic>
      </p:grpSp>
      <p:grpSp>
        <p:nvGrpSpPr>
          <p:cNvPr id="498" name="Google Shape;498;p53"/>
          <p:cNvGrpSpPr/>
          <p:nvPr/>
        </p:nvGrpSpPr>
        <p:grpSpPr>
          <a:xfrm>
            <a:off x="4581708" y="8316121"/>
            <a:ext cx="2105040" cy="860453"/>
            <a:chOff x="4495797" y="8215186"/>
            <a:chExt cx="2148000" cy="879000"/>
          </a:xfrm>
        </p:grpSpPr>
        <p:sp>
          <p:nvSpPr>
            <p:cNvPr id="499" name="Google Shape;499;p53"/>
            <p:cNvSpPr/>
            <p:nvPr/>
          </p:nvSpPr>
          <p:spPr>
            <a:xfrm>
              <a:off x="4495797" y="8215186"/>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i="0" lang="en" sz="1800" u="none" cap="none" strike="noStrike">
                  <a:solidFill>
                    <a:schemeClr val="lt1"/>
                  </a:solidFill>
                  <a:latin typeface="Google Sans"/>
                  <a:ea typeface="Google Sans"/>
                  <a:cs typeface="Google Sans"/>
                  <a:sym typeface="Google Sans"/>
                </a:rPr>
                <a:t>Cloud </a:t>
              </a:r>
              <a:r>
                <a:rPr lang="en" sz="1800">
                  <a:solidFill>
                    <a:schemeClr val="lt1"/>
                  </a:solidFill>
                  <a:latin typeface="Google Sans"/>
                  <a:ea typeface="Google Sans"/>
                  <a:cs typeface="Google Sans"/>
                  <a:sym typeface="Google Sans"/>
                </a:rPr>
                <a:t>Spanner</a:t>
              </a:r>
              <a:endParaRPr i="0" sz="1800" u="none" cap="none" strike="noStrike">
                <a:solidFill>
                  <a:schemeClr val="lt1"/>
                </a:solidFill>
                <a:latin typeface="Google Sans"/>
                <a:ea typeface="Google Sans"/>
                <a:cs typeface="Google Sans"/>
                <a:sym typeface="Google Sans"/>
              </a:endParaRPr>
            </a:p>
          </p:txBody>
        </p:sp>
        <p:pic>
          <p:nvPicPr>
            <p:cNvPr id="500" name="Google Shape;500;p53"/>
            <p:cNvPicPr preferRelativeResize="0"/>
            <p:nvPr/>
          </p:nvPicPr>
          <p:blipFill rotWithShape="1">
            <a:blip r:embed="rId4">
              <a:alphaModFix/>
            </a:blip>
            <a:srcRect b="0" l="0" r="0" t="0"/>
            <a:stretch/>
          </p:blipFill>
          <p:spPr>
            <a:xfrm>
              <a:off x="4585207" y="8334586"/>
              <a:ext cx="640200" cy="640200"/>
            </a:xfrm>
            <a:prstGeom prst="rect">
              <a:avLst/>
            </a:prstGeom>
            <a:noFill/>
            <a:ln>
              <a:noFill/>
            </a:ln>
          </p:spPr>
        </p:pic>
      </p:grpSp>
      <p:grpSp>
        <p:nvGrpSpPr>
          <p:cNvPr id="501" name="Google Shape;501;p53"/>
          <p:cNvGrpSpPr/>
          <p:nvPr/>
        </p:nvGrpSpPr>
        <p:grpSpPr>
          <a:xfrm>
            <a:off x="8313027" y="8316121"/>
            <a:ext cx="2105040" cy="860453"/>
            <a:chOff x="8070000" y="8215186"/>
            <a:chExt cx="2148000" cy="879000"/>
          </a:xfrm>
        </p:grpSpPr>
        <p:sp>
          <p:nvSpPr>
            <p:cNvPr id="494" name="Google Shape;494;p53"/>
            <p:cNvSpPr/>
            <p:nvPr/>
          </p:nvSpPr>
          <p:spPr>
            <a:xfrm>
              <a:off x="8070000" y="8215186"/>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Google Sans"/>
                  <a:ea typeface="Google Sans"/>
                  <a:cs typeface="Google Sans"/>
                  <a:sym typeface="Google Sans"/>
                </a:rPr>
                <a:t>Datastore</a:t>
              </a:r>
              <a:endParaRPr i="0" sz="1800" u="none" cap="none" strike="noStrike">
                <a:solidFill>
                  <a:schemeClr val="lt1"/>
                </a:solidFill>
                <a:latin typeface="Google Sans"/>
                <a:ea typeface="Google Sans"/>
                <a:cs typeface="Google Sans"/>
                <a:sym typeface="Google Sans"/>
              </a:endParaRPr>
            </a:p>
          </p:txBody>
        </p:sp>
        <p:pic>
          <p:nvPicPr>
            <p:cNvPr id="502" name="Google Shape;502;p53"/>
            <p:cNvPicPr preferRelativeResize="0"/>
            <p:nvPr/>
          </p:nvPicPr>
          <p:blipFill rotWithShape="1">
            <a:blip r:embed="rId5">
              <a:alphaModFix/>
            </a:blip>
            <a:srcRect b="0" l="0" r="0" t="0"/>
            <a:stretch/>
          </p:blipFill>
          <p:spPr>
            <a:xfrm>
              <a:off x="8159410" y="8334586"/>
              <a:ext cx="640200" cy="640200"/>
            </a:xfrm>
            <a:prstGeom prst="rect">
              <a:avLst/>
            </a:prstGeom>
            <a:noFill/>
            <a:ln>
              <a:noFill/>
            </a:ln>
          </p:spPr>
        </p:pic>
      </p:grpSp>
      <p:grpSp>
        <p:nvGrpSpPr>
          <p:cNvPr id="503" name="Google Shape;503;p53"/>
          <p:cNvGrpSpPr/>
          <p:nvPr/>
        </p:nvGrpSpPr>
        <p:grpSpPr>
          <a:xfrm>
            <a:off x="11601252" y="8316121"/>
            <a:ext cx="2105040" cy="860453"/>
            <a:chOff x="11658597" y="8215186"/>
            <a:chExt cx="2148000" cy="879000"/>
          </a:xfrm>
        </p:grpSpPr>
        <p:sp>
          <p:nvSpPr>
            <p:cNvPr id="504" name="Google Shape;504;p53"/>
            <p:cNvSpPr/>
            <p:nvPr/>
          </p:nvSpPr>
          <p:spPr>
            <a:xfrm>
              <a:off x="11658597" y="8215186"/>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i="0" lang="en" sz="1800" u="none" cap="none" strike="noStrike">
                  <a:solidFill>
                    <a:schemeClr val="lt1"/>
                  </a:solidFill>
                  <a:latin typeface="Google Sans"/>
                  <a:ea typeface="Google Sans"/>
                  <a:cs typeface="Google Sans"/>
                  <a:sym typeface="Google Sans"/>
                </a:rPr>
                <a:t>Cloud </a:t>
              </a:r>
              <a:r>
                <a:rPr lang="en" sz="1800">
                  <a:solidFill>
                    <a:schemeClr val="lt1"/>
                  </a:solidFill>
                  <a:latin typeface="Google Sans"/>
                  <a:ea typeface="Google Sans"/>
                  <a:cs typeface="Google Sans"/>
                  <a:sym typeface="Google Sans"/>
                </a:rPr>
                <a:t>Bigtable</a:t>
              </a:r>
              <a:endParaRPr i="0" sz="1800" u="none" cap="none" strike="noStrike">
                <a:solidFill>
                  <a:schemeClr val="lt1"/>
                </a:solidFill>
                <a:latin typeface="Google Sans"/>
                <a:ea typeface="Google Sans"/>
                <a:cs typeface="Google Sans"/>
                <a:sym typeface="Google Sans"/>
              </a:endParaRPr>
            </a:p>
          </p:txBody>
        </p:sp>
        <p:pic>
          <p:nvPicPr>
            <p:cNvPr id="505" name="Google Shape;505;p53"/>
            <p:cNvPicPr preferRelativeResize="0"/>
            <p:nvPr/>
          </p:nvPicPr>
          <p:blipFill rotWithShape="1">
            <a:blip r:embed="rId6">
              <a:alphaModFix/>
            </a:blip>
            <a:srcRect b="0" l="0" r="0" t="0"/>
            <a:stretch/>
          </p:blipFill>
          <p:spPr>
            <a:xfrm>
              <a:off x="11748007" y="8334586"/>
              <a:ext cx="640200" cy="640200"/>
            </a:xfrm>
            <a:prstGeom prst="rect">
              <a:avLst/>
            </a:prstGeom>
            <a:noFill/>
            <a:ln>
              <a:noFill/>
            </a:ln>
          </p:spPr>
        </p:pic>
      </p:grpSp>
      <p:grpSp>
        <p:nvGrpSpPr>
          <p:cNvPr id="506" name="Google Shape;506;p53"/>
          <p:cNvGrpSpPr/>
          <p:nvPr/>
        </p:nvGrpSpPr>
        <p:grpSpPr>
          <a:xfrm>
            <a:off x="14214912" y="8316121"/>
            <a:ext cx="2105040" cy="860453"/>
            <a:chOff x="14325597" y="8215186"/>
            <a:chExt cx="2148000" cy="879000"/>
          </a:xfrm>
        </p:grpSpPr>
        <p:sp>
          <p:nvSpPr>
            <p:cNvPr id="507" name="Google Shape;507;p53"/>
            <p:cNvSpPr/>
            <p:nvPr/>
          </p:nvSpPr>
          <p:spPr>
            <a:xfrm>
              <a:off x="14325597" y="8215186"/>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Google Sans"/>
                  <a:ea typeface="Google Sans"/>
                  <a:cs typeface="Google Sans"/>
                  <a:sym typeface="Google Sans"/>
                </a:rPr>
                <a:t>BigQuery</a:t>
              </a:r>
              <a:endParaRPr i="0" sz="1800" u="none" cap="none" strike="noStrike">
                <a:solidFill>
                  <a:schemeClr val="lt1"/>
                </a:solidFill>
                <a:latin typeface="Google Sans"/>
                <a:ea typeface="Google Sans"/>
                <a:cs typeface="Google Sans"/>
                <a:sym typeface="Google Sans"/>
              </a:endParaRPr>
            </a:p>
          </p:txBody>
        </p:sp>
        <p:pic>
          <p:nvPicPr>
            <p:cNvPr id="508" name="Google Shape;508;p53"/>
            <p:cNvPicPr preferRelativeResize="0"/>
            <p:nvPr/>
          </p:nvPicPr>
          <p:blipFill rotWithShape="1">
            <a:blip r:embed="rId7">
              <a:alphaModFix/>
            </a:blip>
            <a:srcRect b="0" l="0" r="0" t="0"/>
            <a:stretch/>
          </p:blipFill>
          <p:spPr>
            <a:xfrm>
              <a:off x="14415007" y="8334586"/>
              <a:ext cx="640200" cy="640200"/>
            </a:xfrm>
            <a:prstGeom prst="rect">
              <a:avLst/>
            </a:prstGeom>
            <a:noFill/>
            <a:ln>
              <a:noFill/>
            </a:ln>
          </p:spPr>
        </p:pic>
      </p:grpSp>
      <p:grpSp>
        <p:nvGrpSpPr>
          <p:cNvPr id="509" name="Google Shape;509;p53"/>
          <p:cNvGrpSpPr/>
          <p:nvPr/>
        </p:nvGrpSpPr>
        <p:grpSpPr>
          <a:xfrm>
            <a:off x="2839785" y="4040156"/>
            <a:ext cx="2105040" cy="860453"/>
            <a:chOff x="4775725" y="3542236"/>
            <a:chExt cx="2148000" cy="879000"/>
          </a:xfrm>
        </p:grpSpPr>
        <p:sp>
          <p:nvSpPr>
            <p:cNvPr id="510" name="Google Shape;510;p53"/>
            <p:cNvSpPr/>
            <p:nvPr/>
          </p:nvSpPr>
          <p:spPr>
            <a:xfrm>
              <a:off x="4775725" y="3542236"/>
              <a:ext cx="2148000" cy="879000"/>
            </a:xfrm>
            <a:prstGeom prst="roundRect">
              <a:avLst>
                <a:gd fmla="val 1674" name="adj"/>
              </a:avLst>
            </a:prstGeom>
            <a:solidFill>
              <a:srgbClr val="FFFFFF"/>
            </a:solidFill>
            <a:ln>
              <a:noFill/>
            </a:ln>
            <a:effectLst>
              <a:outerShdw blurRad="19050" rotWithShape="0" algn="ctr" dir="5400000" dist="6350">
                <a:srgbClr val="000000">
                  <a:alpha val="44710"/>
                </a:srgbClr>
              </a:outerShdw>
            </a:effectLst>
          </p:spPr>
          <p:txBody>
            <a:bodyPr anchorCtr="0" anchor="ctr" bIns="146300" lIns="859500"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b="0" i="0" lang="en" sz="1800" u="none" cap="none" strike="noStrike">
                  <a:solidFill>
                    <a:schemeClr val="lt1"/>
                  </a:solidFill>
                  <a:latin typeface="Roboto"/>
                  <a:ea typeface="Roboto"/>
                  <a:cs typeface="Roboto"/>
                  <a:sym typeface="Roboto"/>
                </a:rPr>
                <a:t>Cloud </a:t>
              </a:r>
              <a:r>
                <a:rPr lang="en" sz="1800">
                  <a:solidFill>
                    <a:schemeClr val="lt1"/>
                  </a:solidFill>
                  <a:latin typeface="Roboto"/>
                  <a:ea typeface="Roboto"/>
                  <a:cs typeface="Roboto"/>
                  <a:sym typeface="Roboto"/>
                </a:rPr>
                <a:t>Storage</a:t>
              </a:r>
              <a:endParaRPr b="0" i="0" sz="1800" u="none" cap="none" strike="noStrike">
                <a:solidFill>
                  <a:schemeClr val="lt1"/>
                </a:solidFill>
                <a:latin typeface="Roboto"/>
                <a:ea typeface="Roboto"/>
                <a:cs typeface="Roboto"/>
                <a:sym typeface="Roboto"/>
              </a:endParaRPr>
            </a:p>
          </p:txBody>
        </p:sp>
        <p:pic>
          <p:nvPicPr>
            <p:cNvPr id="511" name="Google Shape;511;p53"/>
            <p:cNvPicPr preferRelativeResize="0"/>
            <p:nvPr/>
          </p:nvPicPr>
          <p:blipFill rotWithShape="1">
            <a:blip r:embed="rId8">
              <a:alphaModFix/>
            </a:blip>
            <a:srcRect b="0" l="0" r="0" t="0"/>
            <a:stretch/>
          </p:blipFill>
          <p:spPr>
            <a:xfrm>
              <a:off x="4865135" y="3661636"/>
              <a:ext cx="640200" cy="640200"/>
            </a:xfrm>
            <a:prstGeom prst="rect">
              <a:avLst/>
            </a:prstGeom>
            <a:noFill/>
            <a:ln>
              <a:noFill/>
            </a:ln>
          </p:spPr>
        </p:pic>
      </p:grpSp>
      <p:sp>
        <p:nvSpPr>
          <p:cNvPr id="512" name="Google Shape;512;p53"/>
          <p:cNvSpPr/>
          <p:nvPr/>
        </p:nvSpPr>
        <p:spPr>
          <a:xfrm>
            <a:off x="7461602" y="2399225"/>
            <a:ext cx="3776400" cy="671400"/>
          </a:xfrm>
          <a:prstGeom prst="roundRect">
            <a:avLst>
              <a:gd fmla="val 1674" name="adj"/>
            </a:avLst>
          </a:prstGeom>
          <a:solidFill>
            <a:srgbClr val="FFF2CC"/>
          </a:solidFill>
          <a:ln>
            <a:noFill/>
          </a:ln>
          <a:effectLst>
            <a:outerShdw blurRad="19050" rotWithShape="0" algn="ctr" dir="5400000" dist="6350">
              <a:srgbClr val="000000">
                <a:alpha val="44710"/>
              </a:srgbClr>
            </a:outerShdw>
          </a:effectLst>
        </p:spPr>
        <p:txBody>
          <a:bodyPr anchorCtr="0" anchor="ctr" bIns="146300" lIns="859525"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Roboto"/>
                <a:ea typeface="Roboto"/>
                <a:cs typeface="Roboto"/>
                <a:sym typeface="Roboto"/>
              </a:rPr>
              <a:t>Is your data structured?</a:t>
            </a:r>
            <a:endParaRPr b="0" i="0" sz="1800" u="none" cap="none" strike="noStrike">
              <a:solidFill>
                <a:schemeClr val="lt1"/>
              </a:solidFill>
              <a:latin typeface="Roboto"/>
              <a:ea typeface="Roboto"/>
              <a:cs typeface="Roboto"/>
              <a:sym typeface="Roboto"/>
            </a:endParaRPr>
          </a:p>
        </p:txBody>
      </p:sp>
      <p:sp>
        <p:nvSpPr>
          <p:cNvPr id="513" name="Google Shape;513;p53"/>
          <p:cNvSpPr/>
          <p:nvPr/>
        </p:nvSpPr>
        <p:spPr>
          <a:xfrm>
            <a:off x="7595897" y="2466333"/>
            <a:ext cx="582300" cy="537300"/>
          </a:xfrm>
          <a:prstGeom prst="hexagon">
            <a:avLst>
              <a:gd fmla="val 25000" name="adj"/>
              <a:gd fmla="val 115470" name="vf"/>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000">
                <a:solidFill>
                  <a:srgbClr val="FFFFFF"/>
                </a:solidFill>
                <a:latin typeface="Google Sans"/>
                <a:ea typeface="Google Sans"/>
                <a:cs typeface="Google Sans"/>
                <a:sym typeface="Google Sans"/>
              </a:rPr>
              <a:t>?</a:t>
            </a:r>
            <a:endParaRPr sz="3000">
              <a:solidFill>
                <a:srgbClr val="FFFFFF"/>
              </a:solidFill>
              <a:latin typeface="Google Sans"/>
              <a:ea typeface="Google Sans"/>
              <a:cs typeface="Google Sans"/>
              <a:sym typeface="Google Sans"/>
            </a:endParaRPr>
          </a:p>
        </p:txBody>
      </p:sp>
      <p:cxnSp>
        <p:nvCxnSpPr>
          <p:cNvPr id="514" name="Google Shape;514;p53"/>
          <p:cNvCxnSpPr>
            <a:stCxn id="512" idx="1"/>
            <a:endCxn id="510" idx="0"/>
          </p:cNvCxnSpPr>
          <p:nvPr/>
        </p:nvCxnSpPr>
        <p:spPr>
          <a:xfrm flipH="1">
            <a:off x="3892202" y="2734925"/>
            <a:ext cx="3569400" cy="1305300"/>
          </a:xfrm>
          <a:prstGeom prst="bentConnector2">
            <a:avLst/>
          </a:prstGeom>
          <a:noFill/>
          <a:ln cap="flat" cmpd="sng" w="19050">
            <a:solidFill>
              <a:schemeClr val="accent4"/>
            </a:solidFill>
            <a:prstDash val="solid"/>
            <a:round/>
            <a:headEnd len="med" w="med" type="none"/>
            <a:tailEnd len="med" w="med" type="triangle"/>
          </a:ln>
        </p:spPr>
      </p:cxnSp>
      <p:sp>
        <p:nvSpPr>
          <p:cNvPr id="515" name="Google Shape;515;p53"/>
          <p:cNvSpPr txBox="1"/>
          <p:nvPr/>
        </p:nvSpPr>
        <p:spPr>
          <a:xfrm>
            <a:off x="5217608" y="2512931"/>
            <a:ext cx="1245300" cy="480900"/>
          </a:xfrm>
          <a:prstGeom prst="rect">
            <a:avLst/>
          </a:prstGeom>
          <a:solidFill>
            <a:schemeClr val="accent4"/>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Clr>
                <a:srgbClr val="757575"/>
              </a:buClr>
              <a:buFont typeface="Roboto"/>
              <a:buNone/>
            </a:pPr>
            <a:r>
              <a:rPr lang="en" sz="1800">
                <a:solidFill>
                  <a:srgbClr val="FFFFFF"/>
                </a:solidFill>
                <a:latin typeface="Roboto"/>
                <a:ea typeface="Roboto"/>
                <a:cs typeface="Roboto"/>
                <a:sym typeface="Roboto"/>
              </a:rPr>
              <a:t>No</a:t>
            </a:r>
            <a:endParaRPr sz="1800">
              <a:solidFill>
                <a:srgbClr val="FFFFFF"/>
              </a:solidFill>
              <a:latin typeface="Roboto"/>
              <a:ea typeface="Roboto"/>
              <a:cs typeface="Roboto"/>
              <a:sym typeface="Roboto"/>
            </a:endParaRPr>
          </a:p>
        </p:txBody>
      </p:sp>
      <p:sp>
        <p:nvSpPr>
          <p:cNvPr id="491" name="Google Shape;491;p53"/>
          <p:cNvSpPr/>
          <p:nvPr/>
        </p:nvSpPr>
        <p:spPr>
          <a:xfrm>
            <a:off x="7477479" y="4371681"/>
            <a:ext cx="3776400" cy="671400"/>
          </a:xfrm>
          <a:prstGeom prst="roundRect">
            <a:avLst>
              <a:gd fmla="val 1674" name="adj"/>
            </a:avLst>
          </a:prstGeom>
          <a:solidFill>
            <a:srgbClr val="FFF2CC"/>
          </a:solidFill>
          <a:ln>
            <a:noFill/>
          </a:ln>
          <a:effectLst>
            <a:outerShdw blurRad="19050" rotWithShape="0" algn="ctr" dir="5400000" dist="6350">
              <a:srgbClr val="000000">
                <a:alpha val="44710"/>
              </a:srgbClr>
            </a:outerShdw>
          </a:effectLst>
        </p:spPr>
        <p:txBody>
          <a:bodyPr anchorCtr="0" anchor="ctr" bIns="146300" lIns="859525"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Roboto"/>
                <a:ea typeface="Roboto"/>
                <a:cs typeface="Roboto"/>
                <a:sym typeface="Roboto"/>
              </a:rPr>
              <a:t>Is your workload analytics?</a:t>
            </a:r>
            <a:endParaRPr b="0" i="0" sz="1800" u="none" cap="none" strike="noStrike">
              <a:solidFill>
                <a:schemeClr val="lt1"/>
              </a:solidFill>
              <a:latin typeface="Roboto"/>
              <a:ea typeface="Roboto"/>
              <a:cs typeface="Roboto"/>
              <a:sym typeface="Roboto"/>
            </a:endParaRPr>
          </a:p>
        </p:txBody>
      </p:sp>
      <p:sp>
        <p:nvSpPr>
          <p:cNvPr id="516" name="Google Shape;516;p53"/>
          <p:cNvSpPr/>
          <p:nvPr/>
        </p:nvSpPr>
        <p:spPr>
          <a:xfrm>
            <a:off x="7607201" y="4438789"/>
            <a:ext cx="582300" cy="537300"/>
          </a:xfrm>
          <a:prstGeom prst="hexagon">
            <a:avLst>
              <a:gd fmla="val 25000" name="adj"/>
              <a:gd fmla="val 115470" name="vf"/>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000">
                <a:solidFill>
                  <a:srgbClr val="FFFFFF"/>
                </a:solidFill>
                <a:latin typeface="Google Sans"/>
                <a:ea typeface="Google Sans"/>
                <a:cs typeface="Google Sans"/>
                <a:sym typeface="Google Sans"/>
              </a:rPr>
              <a:t>?</a:t>
            </a:r>
            <a:endParaRPr sz="3000">
              <a:solidFill>
                <a:srgbClr val="FFFFFF"/>
              </a:solidFill>
              <a:latin typeface="Google Sans"/>
              <a:ea typeface="Google Sans"/>
              <a:cs typeface="Google Sans"/>
              <a:sym typeface="Google Sans"/>
            </a:endParaRPr>
          </a:p>
        </p:txBody>
      </p:sp>
      <p:sp>
        <p:nvSpPr>
          <p:cNvPr id="517" name="Google Shape;517;p53"/>
          <p:cNvSpPr txBox="1"/>
          <p:nvPr/>
        </p:nvSpPr>
        <p:spPr>
          <a:xfrm>
            <a:off x="8743002" y="5469804"/>
            <a:ext cx="1245300" cy="447600"/>
          </a:xfrm>
          <a:prstGeom prst="rect">
            <a:avLst/>
          </a:prstGeom>
          <a:solidFill>
            <a:schemeClr val="accent4"/>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No</a:t>
            </a:r>
            <a:endParaRPr sz="1800">
              <a:solidFill>
                <a:srgbClr val="FFFFFF"/>
              </a:solidFill>
              <a:latin typeface="Roboto"/>
              <a:ea typeface="Roboto"/>
              <a:cs typeface="Roboto"/>
              <a:sym typeface="Roboto"/>
            </a:endParaRPr>
          </a:p>
        </p:txBody>
      </p:sp>
      <p:sp>
        <p:nvSpPr>
          <p:cNvPr id="518" name="Google Shape;518;p53"/>
          <p:cNvSpPr txBox="1"/>
          <p:nvPr/>
        </p:nvSpPr>
        <p:spPr>
          <a:xfrm>
            <a:off x="8743002" y="7442260"/>
            <a:ext cx="1245300" cy="447600"/>
          </a:xfrm>
          <a:prstGeom prst="rect">
            <a:avLst/>
          </a:prstGeom>
          <a:solidFill>
            <a:schemeClr val="accent4"/>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No</a:t>
            </a:r>
            <a:endParaRPr sz="1800">
              <a:solidFill>
                <a:srgbClr val="FFFFFF"/>
              </a:solidFill>
              <a:latin typeface="Roboto"/>
              <a:ea typeface="Roboto"/>
              <a:cs typeface="Roboto"/>
              <a:sym typeface="Roboto"/>
            </a:endParaRPr>
          </a:p>
        </p:txBody>
      </p:sp>
      <p:sp>
        <p:nvSpPr>
          <p:cNvPr id="492" name="Google Shape;492;p53"/>
          <p:cNvSpPr/>
          <p:nvPr/>
        </p:nvSpPr>
        <p:spPr>
          <a:xfrm>
            <a:off x="7461602" y="6344125"/>
            <a:ext cx="3776400" cy="671400"/>
          </a:xfrm>
          <a:prstGeom prst="roundRect">
            <a:avLst>
              <a:gd fmla="val 1674" name="adj"/>
            </a:avLst>
          </a:prstGeom>
          <a:solidFill>
            <a:srgbClr val="FFF2CC"/>
          </a:solidFill>
          <a:ln>
            <a:noFill/>
          </a:ln>
          <a:effectLst>
            <a:outerShdw blurRad="19050" rotWithShape="0" algn="ctr" dir="5400000" dist="6350">
              <a:srgbClr val="000000">
                <a:alpha val="44710"/>
              </a:srgbClr>
            </a:outerShdw>
          </a:effectLst>
        </p:spPr>
        <p:txBody>
          <a:bodyPr anchorCtr="0" anchor="ctr" bIns="146300" lIns="859525"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Roboto"/>
                <a:ea typeface="Roboto"/>
                <a:cs typeface="Roboto"/>
                <a:sym typeface="Roboto"/>
              </a:rPr>
              <a:t>Is your data relational?</a:t>
            </a:r>
            <a:endParaRPr b="0" i="0" sz="1800" u="none" cap="none" strike="noStrike">
              <a:solidFill>
                <a:schemeClr val="lt1"/>
              </a:solidFill>
              <a:latin typeface="Roboto"/>
              <a:ea typeface="Roboto"/>
              <a:cs typeface="Roboto"/>
              <a:sym typeface="Roboto"/>
            </a:endParaRPr>
          </a:p>
        </p:txBody>
      </p:sp>
      <p:sp>
        <p:nvSpPr>
          <p:cNvPr id="519" name="Google Shape;519;p53"/>
          <p:cNvSpPr/>
          <p:nvPr/>
        </p:nvSpPr>
        <p:spPr>
          <a:xfrm>
            <a:off x="7591310" y="6411245"/>
            <a:ext cx="582300" cy="537300"/>
          </a:xfrm>
          <a:prstGeom prst="hexagon">
            <a:avLst>
              <a:gd fmla="val 25000" name="adj"/>
              <a:gd fmla="val 115470" name="vf"/>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000">
                <a:solidFill>
                  <a:srgbClr val="FFFFFF"/>
                </a:solidFill>
                <a:latin typeface="Google Sans"/>
                <a:ea typeface="Google Sans"/>
                <a:cs typeface="Google Sans"/>
                <a:sym typeface="Google Sans"/>
              </a:rPr>
              <a:t>?</a:t>
            </a:r>
            <a:endParaRPr sz="3000">
              <a:solidFill>
                <a:srgbClr val="FFFFFF"/>
              </a:solidFill>
              <a:latin typeface="Google Sans"/>
              <a:ea typeface="Google Sans"/>
              <a:cs typeface="Google Sans"/>
              <a:sym typeface="Google Sans"/>
            </a:endParaRPr>
          </a:p>
        </p:txBody>
      </p:sp>
      <p:cxnSp>
        <p:nvCxnSpPr>
          <p:cNvPr id="520" name="Google Shape;520;p53"/>
          <p:cNvCxnSpPr>
            <a:stCxn id="512" idx="2"/>
            <a:endCxn id="491" idx="0"/>
          </p:cNvCxnSpPr>
          <p:nvPr/>
        </p:nvCxnSpPr>
        <p:spPr>
          <a:xfrm>
            <a:off x="9349802" y="3070625"/>
            <a:ext cx="15900" cy="1301100"/>
          </a:xfrm>
          <a:prstGeom prst="straightConnector1">
            <a:avLst/>
          </a:prstGeom>
          <a:noFill/>
          <a:ln cap="flat" cmpd="sng" w="19050">
            <a:solidFill>
              <a:schemeClr val="accent6"/>
            </a:solidFill>
            <a:prstDash val="solid"/>
            <a:round/>
            <a:headEnd len="med" w="med" type="none"/>
            <a:tailEnd len="med" w="med" type="triangle"/>
          </a:ln>
        </p:spPr>
      </p:cxnSp>
      <p:sp>
        <p:nvSpPr>
          <p:cNvPr id="521" name="Google Shape;521;p53"/>
          <p:cNvSpPr txBox="1"/>
          <p:nvPr/>
        </p:nvSpPr>
        <p:spPr>
          <a:xfrm>
            <a:off x="8743002" y="3497348"/>
            <a:ext cx="1245300" cy="447600"/>
          </a:xfrm>
          <a:prstGeom prst="rect">
            <a:avLst/>
          </a:prstGeom>
          <a:solidFill>
            <a:schemeClr val="accent6"/>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Yes</a:t>
            </a:r>
            <a:endParaRPr sz="1800">
              <a:solidFill>
                <a:srgbClr val="FFFFFF"/>
              </a:solidFill>
              <a:latin typeface="Roboto"/>
              <a:ea typeface="Roboto"/>
              <a:cs typeface="Roboto"/>
              <a:sym typeface="Roboto"/>
            </a:endParaRPr>
          </a:p>
        </p:txBody>
      </p:sp>
      <p:sp>
        <p:nvSpPr>
          <p:cNvPr id="522" name="Google Shape;522;p53"/>
          <p:cNvSpPr/>
          <p:nvPr/>
        </p:nvSpPr>
        <p:spPr>
          <a:xfrm>
            <a:off x="12285243" y="6344137"/>
            <a:ext cx="3350700" cy="671400"/>
          </a:xfrm>
          <a:prstGeom prst="roundRect">
            <a:avLst>
              <a:gd fmla="val 1674" name="adj"/>
            </a:avLst>
          </a:prstGeom>
          <a:solidFill>
            <a:srgbClr val="FFF2CC"/>
          </a:solidFill>
          <a:ln>
            <a:noFill/>
          </a:ln>
          <a:effectLst>
            <a:outerShdw blurRad="19050" rotWithShape="0" algn="ctr" dir="5400000" dist="6350">
              <a:srgbClr val="000000">
                <a:alpha val="44710"/>
              </a:srgbClr>
            </a:outerShdw>
          </a:effectLst>
        </p:spPr>
        <p:txBody>
          <a:bodyPr anchorCtr="0" anchor="ctr" bIns="146300" lIns="950975"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Roboto"/>
                <a:ea typeface="Roboto"/>
                <a:cs typeface="Roboto"/>
                <a:sym typeface="Roboto"/>
              </a:rPr>
              <a:t>Do you need updates or low latency</a:t>
            </a:r>
            <a:r>
              <a:rPr lang="en" sz="1800">
                <a:solidFill>
                  <a:schemeClr val="lt1"/>
                </a:solidFill>
                <a:latin typeface="Roboto"/>
                <a:ea typeface="Roboto"/>
                <a:cs typeface="Roboto"/>
                <a:sym typeface="Roboto"/>
              </a:rPr>
              <a:t>?</a:t>
            </a:r>
            <a:endParaRPr b="0" i="0" sz="1800" u="none" cap="none" strike="noStrike">
              <a:solidFill>
                <a:schemeClr val="lt1"/>
              </a:solidFill>
              <a:latin typeface="Roboto"/>
              <a:ea typeface="Roboto"/>
              <a:cs typeface="Roboto"/>
              <a:sym typeface="Roboto"/>
            </a:endParaRPr>
          </a:p>
        </p:txBody>
      </p:sp>
      <p:sp>
        <p:nvSpPr>
          <p:cNvPr id="523" name="Google Shape;523;p53"/>
          <p:cNvSpPr/>
          <p:nvPr/>
        </p:nvSpPr>
        <p:spPr>
          <a:xfrm>
            <a:off x="12431008" y="6411245"/>
            <a:ext cx="582300" cy="537300"/>
          </a:xfrm>
          <a:prstGeom prst="hexagon">
            <a:avLst>
              <a:gd fmla="val 25000" name="adj"/>
              <a:gd fmla="val 115470" name="vf"/>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000">
                <a:solidFill>
                  <a:srgbClr val="FFFFFF"/>
                </a:solidFill>
                <a:latin typeface="Google Sans"/>
                <a:ea typeface="Google Sans"/>
                <a:cs typeface="Google Sans"/>
                <a:sym typeface="Google Sans"/>
              </a:rPr>
              <a:t>?</a:t>
            </a:r>
            <a:endParaRPr sz="3000">
              <a:solidFill>
                <a:srgbClr val="FFFFFF"/>
              </a:solidFill>
              <a:latin typeface="Google Sans"/>
              <a:ea typeface="Google Sans"/>
              <a:cs typeface="Google Sans"/>
              <a:sym typeface="Google Sans"/>
            </a:endParaRPr>
          </a:p>
        </p:txBody>
      </p:sp>
      <p:sp>
        <p:nvSpPr>
          <p:cNvPr id="524" name="Google Shape;524;p53"/>
          <p:cNvSpPr/>
          <p:nvPr/>
        </p:nvSpPr>
        <p:spPr>
          <a:xfrm>
            <a:off x="2525726" y="6344125"/>
            <a:ext cx="3350700" cy="671400"/>
          </a:xfrm>
          <a:prstGeom prst="roundRect">
            <a:avLst>
              <a:gd fmla="val 1674" name="adj"/>
            </a:avLst>
          </a:prstGeom>
          <a:solidFill>
            <a:srgbClr val="FFF2CC"/>
          </a:solidFill>
          <a:ln>
            <a:noFill/>
          </a:ln>
          <a:effectLst>
            <a:outerShdw blurRad="19050" rotWithShape="0" algn="ctr" dir="5400000" dist="6350">
              <a:srgbClr val="000000">
                <a:alpha val="44710"/>
              </a:srgbClr>
            </a:outerShdw>
          </a:effectLst>
        </p:spPr>
        <p:txBody>
          <a:bodyPr anchorCtr="0" anchor="ctr" bIns="146300" lIns="859525" spcFirstLastPara="1" rIns="91400" wrap="square" tIns="146300">
            <a:noAutofit/>
          </a:bodyPr>
          <a:lstStyle/>
          <a:p>
            <a:pPr indent="0" lvl="0" marL="0" marR="0" rtl="0" algn="l">
              <a:lnSpc>
                <a:spcPct val="121428"/>
              </a:lnSpc>
              <a:spcBef>
                <a:spcPts val="400"/>
              </a:spcBef>
              <a:spcAft>
                <a:spcPts val="0"/>
              </a:spcAft>
              <a:buClr>
                <a:srgbClr val="757575"/>
              </a:buClr>
              <a:buFont typeface="Roboto"/>
              <a:buNone/>
            </a:pPr>
            <a:r>
              <a:rPr lang="en" sz="1800">
                <a:solidFill>
                  <a:schemeClr val="lt1"/>
                </a:solidFill>
                <a:latin typeface="Roboto"/>
                <a:ea typeface="Roboto"/>
                <a:cs typeface="Roboto"/>
                <a:sym typeface="Roboto"/>
              </a:rPr>
              <a:t>Do you need horizontal scalability?</a:t>
            </a:r>
            <a:endParaRPr b="0" i="0" sz="1800" u="none" cap="none" strike="noStrike">
              <a:solidFill>
                <a:schemeClr val="lt1"/>
              </a:solidFill>
              <a:latin typeface="Roboto"/>
              <a:ea typeface="Roboto"/>
              <a:cs typeface="Roboto"/>
              <a:sym typeface="Roboto"/>
            </a:endParaRPr>
          </a:p>
        </p:txBody>
      </p:sp>
      <p:sp>
        <p:nvSpPr>
          <p:cNvPr id="525" name="Google Shape;525;p53"/>
          <p:cNvSpPr/>
          <p:nvPr/>
        </p:nvSpPr>
        <p:spPr>
          <a:xfrm>
            <a:off x="2665456" y="6411245"/>
            <a:ext cx="582300" cy="537300"/>
          </a:xfrm>
          <a:prstGeom prst="hexagon">
            <a:avLst>
              <a:gd fmla="val 25000" name="adj"/>
              <a:gd fmla="val 115470" name="vf"/>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000">
                <a:solidFill>
                  <a:srgbClr val="FFFFFF"/>
                </a:solidFill>
                <a:latin typeface="Google Sans"/>
                <a:ea typeface="Google Sans"/>
                <a:cs typeface="Google Sans"/>
                <a:sym typeface="Google Sans"/>
              </a:rPr>
              <a:t>?</a:t>
            </a:r>
            <a:endParaRPr sz="3000">
              <a:solidFill>
                <a:srgbClr val="FFFFFF"/>
              </a:solidFill>
              <a:latin typeface="Google Sans"/>
              <a:ea typeface="Google Sans"/>
              <a:cs typeface="Google Sans"/>
              <a:sym typeface="Google Sans"/>
            </a:endParaRPr>
          </a:p>
        </p:txBody>
      </p:sp>
      <p:sp>
        <p:nvSpPr>
          <p:cNvPr id="526" name="Google Shape;526;p53"/>
          <p:cNvSpPr txBox="1"/>
          <p:nvPr/>
        </p:nvSpPr>
        <p:spPr>
          <a:xfrm>
            <a:off x="14397124" y="7442260"/>
            <a:ext cx="717000" cy="447600"/>
          </a:xfrm>
          <a:prstGeom prst="rect">
            <a:avLst/>
          </a:prstGeom>
          <a:solidFill>
            <a:schemeClr val="accent4"/>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No</a:t>
            </a:r>
            <a:endParaRPr sz="1800">
              <a:solidFill>
                <a:srgbClr val="FFFFFF"/>
              </a:solidFill>
              <a:latin typeface="Roboto"/>
              <a:ea typeface="Roboto"/>
              <a:cs typeface="Roboto"/>
              <a:sym typeface="Roboto"/>
            </a:endParaRPr>
          </a:p>
        </p:txBody>
      </p:sp>
      <p:sp>
        <p:nvSpPr>
          <p:cNvPr id="527" name="Google Shape;527;p53"/>
          <p:cNvSpPr txBox="1"/>
          <p:nvPr/>
        </p:nvSpPr>
        <p:spPr>
          <a:xfrm>
            <a:off x="12811006" y="7442260"/>
            <a:ext cx="717000" cy="447600"/>
          </a:xfrm>
          <a:prstGeom prst="rect">
            <a:avLst/>
          </a:prstGeom>
          <a:solidFill>
            <a:schemeClr val="accent6"/>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Yes</a:t>
            </a:r>
            <a:endParaRPr sz="1800">
              <a:solidFill>
                <a:srgbClr val="FFFFFF"/>
              </a:solidFill>
              <a:latin typeface="Roboto"/>
              <a:ea typeface="Roboto"/>
              <a:cs typeface="Roboto"/>
              <a:sym typeface="Roboto"/>
            </a:endParaRPr>
          </a:p>
        </p:txBody>
      </p:sp>
      <p:cxnSp>
        <p:nvCxnSpPr>
          <p:cNvPr id="528" name="Google Shape;528;p53"/>
          <p:cNvCxnSpPr>
            <a:stCxn id="526" idx="3"/>
            <a:endCxn id="507" idx="0"/>
          </p:cNvCxnSpPr>
          <p:nvPr/>
        </p:nvCxnSpPr>
        <p:spPr>
          <a:xfrm>
            <a:off x="15114124" y="7666060"/>
            <a:ext cx="153300" cy="650100"/>
          </a:xfrm>
          <a:prstGeom prst="bentConnector2">
            <a:avLst/>
          </a:prstGeom>
          <a:noFill/>
          <a:ln cap="flat" cmpd="sng" w="19050">
            <a:solidFill>
              <a:schemeClr val="accent4"/>
            </a:solidFill>
            <a:prstDash val="solid"/>
            <a:round/>
            <a:headEnd len="med" w="med" type="none"/>
            <a:tailEnd len="med" w="med" type="triangle"/>
          </a:ln>
        </p:spPr>
      </p:cxnSp>
      <p:cxnSp>
        <p:nvCxnSpPr>
          <p:cNvPr id="529" name="Google Shape;529;p53"/>
          <p:cNvCxnSpPr>
            <a:stCxn id="527" idx="1"/>
            <a:endCxn id="504" idx="0"/>
          </p:cNvCxnSpPr>
          <p:nvPr/>
        </p:nvCxnSpPr>
        <p:spPr>
          <a:xfrm flipH="1">
            <a:off x="12653806" y="7666060"/>
            <a:ext cx="157200" cy="650100"/>
          </a:xfrm>
          <a:prstGeom prst="bentConnector2">
            <a:avLst/>
          </a:prstGeom>
          <a:noFill/>
          <a:ln cap="flat" cmpd="sng" w="19050">
            <a:solidFill>
              <a:schemeClr val="accent6"/>
            </a:solidFill>
            <a:prstDash val="solid"/>
            <a:round/>
            <a:headEnd len="med" w="med" type="none"/>
            <a:tailEnd len="med" w="med" type="triangle"/>
          </a:ln>
        </p:spPr>
      </p:cxnSp>
      <p:cxnSp>
        <p:nvCxnSpPr>
          <p:cNvPr id="530" name="Google Shape;530;p53"/>
          <p:cNvCxnSpPr>
            <a:stCxn id="491" idx="3"/>
            <a:endCxn id="522" idx="0"/>
          </p:cNvCxnSpPr>
          <p:nvPr/>
        </p:nvCxnSpPr>
        <p:spPr>
          <a:xfrm>
            <a:off x="11253879" y="4707381"/>
            <a:ext cx="2706600" cy="1636800"/>
          </a:xfrm>
          <a:prstGeom prst="bentConnector2">
            <a:avLst/>
          </a:prstGeom>
          <a:noFill/>
          <a:ln cap="flat" cmpd="sng" w="9525">
            <a:solidFill>
              <a:schemeClr val="accent6"/>
            </a:solidFill>
            <a:prstDash val="solid"/>
            <a:round/>
            <a:headEnd len="med" w="med" type="none"/>
            <a:tailEnd len="med" w="med" type="none"/>
          </a:ln>
        </p:spPr>
      </p:cxnSp>
      <p:sp>
        <p:nvSpPr>
          <p:cNvPr id="531" name="Google Shape;531;p53"/>
          <p:cNvSpPr txBox="1"/>
          <p:nvPr/>
        </p:nvSpPr>
        <p:spPr>
          <a:xfrm>
            <a:off x="12087800" y="4452442"/>
            <a:ext cx="1245300" cy="480900"/>
          </a:xfrm>
          <a:prstGeom prst="rect">
            <a:avLst/>
          </a:prstGeom>
          <a:solidFill>
            <a:schemeClr val="accent6"/>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Yes</a:t>
            </a:r>
            <a:endParaRPr sz="1800">
              <a:solidFill>
                <a:srgbClr val="FFFFFF"/>
              </a:solidFill>
              <a:latin typeface="Roboto"/>
              <a:ea typeface="Roboto"/>
              <a:cs typeface="Roboto"/>
              <a:sym typeface="Roboto"/>
            </a:endParaRPr>
          </a:p>
        </p:txBody>
      </p:sp>
      <p:cxnSp>
        <p:nvCxnSpPr>
          <p:cNvPr id="532" name="Google Shape;532;p53"/>
          <p:cNvCxnSpPr>
            <a:stCxn id="527" idx="3"/>
            <a:endCxn id="526" idx="1"/>
          </p:cNvCxnSpPr>
          <p:nvPr/>
        </p:nvCxnSpPr>
        <p:spPr>
          <a:xfrm>
            <a:off x="13528006" y="7666060"/>
            <a:ext cx="869100" cy="0"/>
          </a:xfrm>
          <a:prstGeom prst="straightConnector1">
            <a:avLst/>
          </a:prstGeom>
          <a:noFill/>
          <a:ln cap="flat" cmpd="sng" w="19050">
            <a:solidFill>
              <a:schemeClr val="accent2"/>
            </a:solidFill>
            <a:prstDash val="solid"/>
            <a:round/>
            <a:headEnd len="med" w="med" type="none"/>
            <a:tailEnd len="med" w="med" type="none"/>
          </a:ln>
        </p:spPr>
      </p:cxnSp>
      <p:cxnSp>
        <p:nvCxnSpPr>
          <p:cNvPr id="533" name="Google Shape;533;p53"/>
          <p:cNvCxnSpPr>
            <a:stCxn id="522" idx="2"/>
          </p:cNvCxnSpPr>
          <p:nvPr/>
        </p:nvCxnSpPr>
        <p:spPr>
          <a:xfrm flipH="1">
            <a:off x="13959693" y="7015537"/>
            <a:ext cx="900" cy="653100"/>
          </a:xfrm>
          <a:prstGeom prst="straightConnector1">
            <a:avLst/>
          </a:prstGeom>
          <a:noFill/>
          <a:ln cap="flat" cmpd="sng" w="19050">
            <a:solidFill>
              <a:schemeClr val="accent2"/>
            </a:solidFill>
            <a:prstDash val="solid"/>
            <a:round/>
            <a:headEnd len="med" w="med" type="none"/>
            <a:tailEnd len="med" w="med" type="none"/>
          </a:ln>
        </p:spPr>
      </p:cxnSp>
      <p:sp>
        <p:nvSpPr>
          <p:cNvPr id="534" name="Google Shape;534;p53"/>
          <p:cNvSpPr txBox="1"/>
          <p:nvPr/>
        </p:nvSpPr>
        <p:spPr>
          <a:xfrm>
            <a:off x="4763920" y="7442260"/>
            <a:ext cx="717000" cy="447600"/>
          </a:xfrm>
          <a:prstGeom prst="rect">
            <a:avLst/>
          </a:prstGeom>
          <a:solidFill>
            <a:schemeClr val="accent6"/>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Yes</a:t>
            </a:r>
            <a:endParaRPr sz="1800">
              <a:solidFill>
                <a:srgbClr val="FFFFFF"/>
              </a:solidFill>
              <a:latin typeface="Roboto"/>
              <a:ea typeface="Roboto"/>
              <a:cs typeface="Roboto"/>
              <a:sym typeface="Roboto"/>
            </a:endParaRPr>
          </a:p>
        </p:txBody>
      </p:sp>
      <p:sp>
        <p:nvSpPr>
          <p:cNvPr id="535" name="Google Shape;535;p53"/>
          <p:cNvSpPr txBox="1"/>
          <p:nvPr/>
        </p:nvSpPr>
        <p:spPr>
          <a:xfrm>
            <a:off x="3177802" y="7442260"/>
            <a:ext cx="717000" cy="447600"/>
          </a:xfrm>
          <a:prstGeom prst="rect">
            <a:avLst/>
          </a:prstGeom>
          <a:solidFill>
            <a:schemeClr val="accent4"/>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No</a:t>
            </a:r>
            <a:endParaRPr sz="1800">
              <a:solidFill>
                <a:srgbClr val="FFFFFF"/>
              </a:solidFill>
              <a:latin typeface="Roboto"/>
              <a:ea typeface="Roboto"/>
              <a:cs typeface="Roboto"/>
              <a:sym typeface="Roboto"/>
            </a:endParaRPr>
          </a:p>
        </p:txBody>
      </p:sp>
      <p:cxnSp>
        <p:nvCxnSpPr>
          <p:cNvPr id="536" name="Google Shape;536;p53"/>
          <p:cNvCxnSpPr>
            <a:stCxn id="534" idx="3"/>
          </p:cNvCxnSpPr>
          <p:nvPr/>
        </p:nvCxnSpPr>
        <p:spPr>
          <a:xfrm>
            <a:off x="5480920" y="7666060"/>
            <a:ext cx="153600" cy="650700"/>
          </a:xfrm>
          <a:prstGeom prst="bentConnector2">
            <a:avLst/>
          </a:prstGeom>
          <a:noFill/>
          <a:ln cap="flat" cmpd="sng" w="19050">
            <a:solidFill>
              <a:schemeClr val="accent6"/>
            </a:solidFill>
            <a:prstDash val="solid"/>
            <a:round/>
            <a:headEnd len="med" w="med" type="none"/>
            <a:tailEnd len="med" w="med" type="triangle"/>
          </a:ln>
        </p:spPr>
      </p:cxnSp>
      <p:cxnSp>
        <p:nvCxnSpPr>
          <p:cNvPr id="537" name="Google Shape;537;p53"/>
          <p:cNvCxnSpPr>
            <a:stCxn id="535" idx="1"/>
          </p:cNvCxnSpPr>
          <p:nvPr/>
        </p:nvCxnSpPr>
        <p:spPr>
          <a:xfrm flipH="1">
            <a:off x="3020302" y="7666060"/>
            <a:ext cx="157500" cy="650700"/>
          </a:xfrm>
          <a:prstGeom prst="bentConnector2">
            <a:avLst/>
          </a:prstGeom>
          <a:noFill/>
          <a:ln cap="flat" cmpd="sng" w="19050">
            <a:solidFill>
              <a:schemeClr val="accent4"/>
            </a:solidFill>
            <a:prstDash val="solid"/>
            <a:round/>
            <a:headEnd len="med" w="med" type="none"/>
            <a:tailEnd len="med" w="med" type="triangle"/>
          </a:ln>
        </p:spPr>
      </p:cxnSp>
      <p:cxnSp>
        <p:nvCxnSpPr>
          <p:cNvPr id="538" name="Google Shape;538;p53"/>
          <p:cNvCxnSpPr>
            <a:stCxn id="535" idx="3"/>
            <a:endCxn id="534" idx="1"/>
          </p:cNvCxnSpPr>
          <p:nvPr/>
        </p:nvCxnSpPr>
        <p:spPr>
          <a:xfrm>
            <a:off x="3894802" y="7666060"/>
            <a:ext cx="869100" cy="0"/>
          </a:xfrm>
          <a:prstGeom prst="straightConnector1">
            <a:avLst/>
          </a:prstGeom>
          <a:noFill/>
          <a:ln cap="flat" cmpd="sng" w="19050">
            <a:solidFill>
              <a:schemeClr val="accent2"/>
            </a:solidFill>
            <a:prstDash val="solid"/>
            <a:round/>
            <a:headEnd len="med" w="med" type="none"/>
            <a:tailEnd len="med" w="med" type="none"/>
          </a:ln>
        </p:spPr>
      </p:cxnSp>
      <p:cxnSp>
        <p:nvCxnSpPr>
          <p:cNvPr id="539" name="Google Shape;539;p53"/>
          <p:cNvCxnSpPr/>
          <p:nvPr/>
        </p:nvCxnSpPr>
        <p:spPr>
          <a:xfrm flipH="1">
            <a:off x="4326498" y="7015506"/>
            <a:ext cx="900" cy="653100"/>
          </a:xfrm>
          <a:prstGeom prst="straightConnector1">
            <a:avLst/>
          </a:prstGeom>
          <a:noFill/>
          <a:ln cap="flat" cmpd="sng" w="19050">
            <a:solidFill>
              <a:schemeClr val="accent2"/>
            </a:solidFill>
            <a:prstDash val="solid"/>
            <a:round/>
            <a:headEnd len="med" w="med" type="none"/>
            <a:tailEnd len="med" w="med" type="none"/>
          </a:ln>
        </p:spPr>
      </p:cxnSp>
      <p:cxnSp>
        <p:nvCxnSpPr>
          <p:cNvPr id="540" name="Google Shape;540;p53"/>
          <p:cNvCxnSpPr>
            <a:stCxn id="492" idx="1"/>
            <a:endCxn id="524" idx="3"/>
          </p:cNvCxnSpPr>
          <p:nvPr/>
        </p:nvCxnSpPr>
        <p:spPr>
          <a:xfrm rot="10800000">
            <a:off x="5876402" y="6679825"/>
            <a:ext cx="1585200" cy="0"/>
          </a:xfrm>
          <a:prstGeom prst="straightConnector1">
            <a:avLst/>
          </a:prstGeom>
          <a:noFill/>
          <a:ln cap="flat" cmpd="sng" w="19050">
            <a:solidFill>
              <a:schemeClr val="accent6"/>
            </a:solidFill>
            <a:prstDash val="solid"/>
            <a:round/>
            <a:headEnd len="med" w="med" type="none"/>
            <a:tailEnd len="med" w="med" type="triangle"/>
          </a:ln>
        </p:spPr>
      </p:cxnSp>
      <p:sp>
        <p:nvSpPr>
          <p:cNvPr id="541" name="Google Shape;541;p53"/>
          <p:cNvSpPr txBox="1"/>
          <p:nvPr/>
        </p:nvSpPr>
        <p:spPr>
          <a:xfrm>
            <a:off x="6310576" y="6472505"/>
            <a:ext cx="717000" cy="447600"/>
          </a:xfrm>
          <a:prstGeom prst="rect">
            <a:avLst/>
          </a:prstGeom>
          <a:solidFill>
            <a:schemeClr val="accent6"/>
          </a:solidFill>
          <a:ln>
            <a:noFill/>
          </a:ln>
          <a:effectLst>
            <a:outerShdw blurRad="19050" rotWithShape="0" algn="ctr" dir="5400000" dist="6350">
              <a:srgbClr val="000000">
                <a:alpha val="44710"/>
              </a:srgbClr>
            </a:outerShdw>
          </a:effectLst>
        </p:spPr>
        <p:txBody>
          <a:bodyPr anchorCtr="0" anchor="ctr" bIns="91425" lIns="91425" spcFirstLastPara="1" rIns="91425" wrap="square" tIns="91425">
            <a:noAutofit/>
          </a:bodyPr>
          <a:lstStyle/>
          <a:p>
            <a:pPr indent="0" lvl="0" marL="0" marR="0" rtl="0" algn="ctr">
              <a:lnSpc>
                <a:spcPct val="121428"/>
              </a:lnSpc>
              <a:spcBef>
                <a:spcPts val="400"/>
              </a:spcBef>
              <a:spcAft>
                <a:spcPts val="0"/>
              </a:spcAft>
              <a:buNone/>
            </a:pPr>
            <a:r>
              <a:rPr lang="en" sz="1800">
                <a:solidFill>
                  <a:srgbClr val="FFFFFF"/>
                </a:solidFill>
                <a:latin typeface="Roboto"/>
                <a:ea typeface="Roboto"/>
                <a:cs typeface="Roboto"/>
                <a:sym typeface="Roboto"/>
              </a:rPr>
              <a:t>Yes</a:t>
            </a:r>
            <a:endParaRPr sz="1800">
              <a:solidFill>
                <a:srgbClr val="FFFFFF"/>
              </a:solidFill>
              <a:latin typeface="Roboto"/>
              <a:ea typeface="Roboto"/>
              <a:cs typeface="Roboto"/>
              <a:sym typeface="Roboto"/>
            </a:endParaRPr>
          </a:p>
        </p:txBody>
      </p:sp>
      <p:sp>
        <p:nvSpPr>
          <p:cNvPr id="542" name="Google Shape;542;p5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type of storage will meet my needs best?</a:t>
            </a:r>
            <a:endParaRPr/>
          </a:p>
        </p:txBody>
      </p:sp>
      <p:sp>
        <p:nvSpPr>
          <p:cNvPr id="543" name="Google Shape;543;p5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Options in the Cloud</a:t>
            </a:r>
            <a:endParaRPr/>
          </a:p>
          <a:p>
            <a:pPr indent="0" lvl="0" marL="0" rtl="0" algn="l">
              <a:spcBef>
                <a:spcPts val="2900"/>
              </a:spcBef>
              <a:spcAft>
                <a:spcPts val="0"/>
              </a:spcAft>
              <a:buNone/>
            </a:pPr>
            <a:r>
              <a:rPr lang="en"/>
              <a:t>Structured and Unstructured Storage in the Cloud</a:t>
            </a:r>
            <a:endParaRPr/>
          </a:p>
          <a:p>
            <a:pPr indent="0" lvl="0" marL="0" rtl="0" algn="l">
              <a:spcBef>
                <a:spcPts val="2900"/>
              </a:spcBef>
              <a:spcAft>
                <a:spcPts val="0"/>
              </a:spcAft>
              <a:buNone/>
            </a:pPr>
            <a:r>
              <a:rPr lang="en">
                <a:solidFill>
                  <a:schemeClr val="accent2"/>
                </a:solidFill>
              </a:rPr>
              <a:t>Unstructured Storage using Cloud Storage</a:t>
            </a:r>
            <a:endParaRPr>
              <a:solidFill>
                <a:schemeClr val="accent2"/>
              </a:solidFill>
            </a:endParaRPr>
          </a:p>
          <a:p>
            <a:pPr indent="0" lvl="0" marL="0" rtl="0" algn="l">
              <a:spcBef>
                <a:spcPts val="2900"/>
              </a:spcBef>
              <a:spcAft>
                <a:spcPts val="0"/>
              </a:spcAft>
              <a:buNone/>
            </a:pPr>
            <a:r>
              <a:rPr lang="en"/>
              <a:t>Lab: Cloud Storage: Qwik Start - CLI/SDK</a:t>
            </a:r>
            <a:endParaRPr/>
          </a:p>
          <a:p>
            <a:pPr indent="0" lvl="0" marL="0" rtl="0" algn="l">
              <a:spcBef>
                <a:spcPts val="2900"/>
              </a:spcBef>
              <a:spcAft>
                <a:spcPts val="2900"/>
              </a:spcAft>
              <a:buNone/>
            </a:pPr>
            <a:r>
              <a:rPr lang="en"/>
              <a:t>SQL Managed Services</a:t>
            </a:r>
            <a:endParaRPr/>
          </a:p>
        </p:txBody>
      </p:sp>
      <p:sp>
        <p:nvSpPr>
          <p:cNvPr id="549" name="Google Shape;549;p5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50" name="Google Shape;550;p5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5"/>
          <p:cNvSpPr/>
          <p:nvPr/>
        </p:nvSpPr>
        <p:spPr>
          <a:xfrm>
            <a:off x="139103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556" name="Google Shape;556;p55"/>
          <p:cNvSpPr/>
          <p:nvPr/>
        </p:nvSpPr>
        <p:spPr>
          <a:xfrm>
            <a:off x="6435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557" name="Google Shape;557;p55"/>
          <p:cNvSpPr/>
          <p:nvPr/>
        </p:nvSpPr>
        <p:spPr>
          <a:xfrm>
            <a:off x="1863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558" name="Google Shape;558;p55"/>
          <p:cNvSpPr/>
          <p:nvPr/>
        </p:nvSpPr>
        <p:spPr>
          <a:xfrm>
            <a:off x="10761225" y="3374275"/>
            <a:ext cx="2937300" cy="4797000"/>
          </a:xfrm>
          <a:prstGeom prst="roundRect">
            <a:avLst>
              <a:gd fmla="val 7451"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 name="Google Shape;559;p55"/>
          <p:cNvGrpSpPr/>
          <p:nvPr/>
        </p:nvGrpSpPr>
        <p:grpSpPr>
          <a:xfrm>
            <a:off x="11003082" y="4938940"/>
            <a:ext cx="2431200" cy="2518982"/>
            <a:chOff x="2584781" y="5677577"/>
            <a:chExt cx="2431200" cy="2518982"/>
          </a:xfrm>
        </p:grpSpPr>
        <p:pic>
          <p:nvPicPr>
            <p:cNvPr id="560" name="Google Shape;560;p55"/>
            <p:cNvPicPr preferRelativeResize="0"/>
            <p:nvPr/>
          </p:nvPicPr>
          <p:blipFill rotWithShape="1">
            <a:blip r:embed="rId3">
              <a:alphaModFix/>
            </a:blip>
            <a:srcRect b="1662" l="0" r="0" t="1672"/>
            <a:stretch/>
          </p:blipFill>
          <p:spPr>
            <a:xfrm>
              <a:off x="2824230" y="5677577"/>
              <a:ext cx="1952307" cy="1887159"/>
            </a:xfrm>
            <a:prstGeom prst="rect">
              <a:avLst/>
            </a:prstGeom>
            <a:noFill/>
            <a:ln>
              <a:noFill/>
            </a:ln>
          </p:spPr>
        </p:pic>
        <p:sp>
          <p:nvSpPr>
            <p:cNvPr id="561" name="Google Shape;561;p55"/>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grpSp>
      <p:grpSp>
        <p:nvGrpSpPr>
          <p:cNvPr id="562" name="Google Shape;562;p55"/>
          <p:cNvGrpSpPr/>
          <p:nvPr/>
        </p:nvGrpSpPr>
        <p:grpSpPr>
          <a:xfrm>
            <a:off x="1674558" y="4915594"/>
            <a:ext cx="4492777" cy="2575185"/>
            <a:chOff x="1598358" y="5677594"/>
            <a:chExt cx="4492777" cy="2575185"/>
          </a:xfrm>
        </p:grpSpPr>
        <p:grpSp>
          <p:nvGrpSpPr>
            <p:cNvPr id="563" name="Google Shape;563;p55"/>
            <p:cNvGrpSpPr/>
            <p:nvPr/>
          </p:nvGrpSpPr>
          <p:grpSpPr>
            <a:xfrm>
              <a:off x="3659935" y="5677594"/>
              <a:ext cx="2431200" cy="2565645"/>
              <a:chOff x="7258661" y="5677594"/>
              <a:chExt cx="2431200" cy="2565645"/>
            </a:xfrm>
          </p:grpSpPr>
          <p:sp>
            <p:nvSpPr>
              <p:cNvPr id="564" name="Google Shape;564;p55"/>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pic>
            <p:nvPicPr>
              <p:cNvPr id="565" name="Google Shape;565;p55"/>
              <p:cNvPicPr preferRelativeResize="0"/>
              <p:nvPr/>
            </p:nvPicPr>
            <p:blipFill rotWithShape="1">
              <a:blip r:embed="rId4">
                <a:alphaModFix/>
              </a:blip>
              <a:srcRect b="1162" l="0" r="0" t="1152"/>
              <a:stretch/>
            </p:blipFill>
            <p:spPr>
              <a:xfrm>
                <a:off x="7495703" y="5677594"/>
                <a:ext cx="1957121" cy="1911883"/>
              </a:xfrm>
              <a:prstGeom prst="rect">
                <a:avLst/>
              </a:prstGeom>
              <a:noFill/>
              <a:ln>
                <a:noFill/>
              </a:ln>
            </p:spPr>
          </p:pic>
        </p:grpSp>
        <p:pic>
          <p:nvPicPr>
            <p:cNvPr id="566" name="Google Shape;566;p55"/>
            <p:cNvPicPr preferRelativeResize="0"/>
            <p:nvPr/>
          </p:nvPicPr>
          <p:blipFill rotWithShape="1">
            <a:blip r:embed="rId5">
              <a:alphaModFix/>
            </a:blip>
            <a:srcRect b="6201" l="0" r="0" t="6201"/>
            <a:stretch/>
          </p:blipFill>
          <p:spPr>
            <a:xfrm>
              <a:off x="1837797" y="5778045"/>
              <a:ext cx="1952327" cy="1710225"/>
            </a:xfrm>
            <a:prstGeom prst="rect">
              <a:avLst/>
            </a:prstGeom>
            <a:noFill/>
            <a:ln>
              <a:noFill/>
            </a:ln>
          </p:spPr>
        </p:pic>
        <p:sp>
          <p:nvSpPr>
            <p:cNvPr id="567" name="Google Shape;567;p55"/>
            <p:cNvSpPr txBox="1"/>
            <p:nvPr/>
          </p:nvSpPr>
          <p:spPr>
            <a:xfrm>
              <a:off x="15983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SQL</a:t>
              </a:r>
              <a:endParaRPr sz="2800">
                <a:solidFill>
                  <a:schemeClr val="lt1"/>
                </a:solidFill>
                <a:latin typeface="Google Sans"/>
                <a:ea typeface="Google Sans"/>
                <a:cs typeface="Google Sans"/>
                <a:sym typeface="Google Sans"/>
              </a:endParaRPr>
            </a:p>
          </p:txBody>
        </p:sp>
      </p:grpSp>
      <p:grpSp>
        <p:nvGrpSpPr>
          <p:cNvPr id="568" name="Google Shape;568;p55"/>
          <p:cNvGrpSpPr/>
          <p:nvPr/>
        </p:nvGrpSpPr>
        <p:grpSpPr>
          <a:xfrm>
            <a:off x="6254912" y="5016045"/>
            <a:ext cx="4492777" cy="2499172"/>
            <a:chOff x="6407312" y="5778045"/>
            <a:chExt cx="4492777" cy="2499172"/>
          </a:xfrm>
        </p:grpSpPr>
        <p:grpSp>
          <p:nvGrpSpPr>
            <p:cNvPr id="569" name="Google Shape;569;p55"/>
            <p:cNvGrpSpPr/>
            <p:nvPr/>
          </p:nvGrpSpPr>
          <p:grpSpPr>
            <a:xfrm>
              <a:off x="8468889" y="5778045"/>
              <a:ext cx="2431200" cy="2474735"/>
              <a:chOff x="11897889" y="5778045"/>
              <a:chExt cx="2431200" cy="2474735"/>
            </a:xfrm>
          </p:grpSpPr>
          <p:pic>
            <p:nvPicPr>
              <p:cNvPr id="570" name="Google Shape;570;p55"/>
              <p:cNvPicPr preferRelativeResize="0"/>
              <p:nvPr/>
            </p:nvPicPr>
            <p:blipFill rotWithShape="1">
              <a:blip r:embed="rId6">
                <a:alphaModFix/>
              </a:blip>
              <a:srcRect b="7029" l="0" r="0" t="7029"/>
              <a:stretch/>
            </p:blipFill>
            <p:spPr>
              <a:xfrm>
                <a:off x="12134931" y="5778045"/>
                <a:ext cx="1957121" cy="1681882"/>
              </a:xfrm>
              <a:prstGeom prst="rect">
                <a:avLst/>
              </a:prstGeom>
              <a:noFill/>
              <a:ln>
                <a:noFill/>
              </a:ln>
            </p:spPr>
          </p:pic>
          <p:sp>
            <p:nvSpPr>
              <p:cNvPr id="571" name="Google Shape;571;p55"/>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Bigtable</a:t>
                </a:r>
                <a:endParaRPr sz="2800">
                  <a:solidFill>
                    <a:schemeClr val="lt1"/>
                  </a:solidFill>
                  <a:latin typeface="Google Sans"/>
                  <a:ea typeface="Google Sans"/>
                  <a:cs typeface="Google Sans"/>
                  <a:sym typeface="Google Sans"/>
                </a:endParaRPr>
              </a:p>
            </p:txBody>
          </p:sp>
        </p:grpSp>
        <p:sp>
          <p:nvSpPr>
            <p:cNvPr id="572" name="Google Shape;572;p55"/>
            <p:cNvSpPr txBox="1"/>
            <p:nvPr/>
          </p:nvSpPr>
          <p:spPr>
            <a:xfrm>
              <a:off x="6407312" y="7552417"/>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pic>
          <p:nvPicPr>
            <p:cNvPr id="573" name="Google Shape;573;p55"/>
            <p:cNvPicPr preferRelativeResize="0"/>
            <p:nvPr/>
          </p:nvPicPr>
          <p:blipFill rotWithShape="1">
            <a:blip r:embed="rId7">
              <a:alphaModFix/>
            </a:blip>
            <a:srcRect b="5689" l="0" r="0" t="5681"/>
            <a:stretch/>
          </p:blipFill>
          <p:spPr>
            <a:xfrm>
              <a:off x="6644410" y="5778054"/>
              <a:ext cx="1956900" cy="1734600"/>
            </a:xfrm>
            <a:prstGeom prst="rect">
              <a:avLst/>
            </a:prstGeom>
            <a:noFill/>
            <a:ln>
              <a:noFill/>
            </a:ln>
          </p:spPr>
        </p:pic>
      </p:grpSp>
      <p:pic>
        <p:nvPicPr>
          <p:cNvPr id="574" name="Google Shape;574;p55"/>
          <p:cNvPicPr preferRelativeResize="0"/>
          <p:nvPr/>
        </p:nvPicPr>
        <p:blipFill rotWithShape="1">
          <a:blip r:embed="rId8">
            <a:alphaModFix/>
          </a:blip>
          <a:srcRect b="1662" l="0" r="0" t="1672"/>
          <a:stretch/>
        </p:blipFill>
        <p:spPr>
          <a:xfrm>
            <a:off x="14225446" y="4938940"/>
            <a:ext cx="1952307" cy="1887159"/>
          </a:xfrm>
          <a:prstGeom prst="rect">
            <a:avLst/>
          </a:prstGeom>
          <a:noFill/>
          <a:ln>
            <a:noFill/>
          </a:ln>
        </p:spPr>
      </p:pic>
      <p:sp>
        <p:nvSpPr>
          <p:cNvPr id="575" name="Google Shape;575;p55"/>
          <p:cNvSpPr txBox="1"/>
          <p:nvPr/>
        </p:nvSpPr>
        <p:spPr>
          <a:xfrm>
            <a:off x="13986000"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BigQuery</a:t>
            </a:r>
            <a:endParaRPr sz="2800">
              <a:solidFill>
                <a:schemeClr val="lt1"/>
              </a:solidFill>
              <a:latin typeface="Google Sans"/>
              <a:ea typeface="Google Sans"/>
              <a:cs typeface="Google Sans"/>
              <a:sym typeface="Google Sans"/>
            </a:endParaRPr>
          </a:p>
        </p:txBody>
      </p:sp>
      <p:sp>
        <p:nvSpPr>
          <p:cNvPr id="576" name="Google Shape;576;p55"/>
          <p:cNvSpPr/>
          <p:nvPr/>
        </p:nvSpPr>
        <p:spPr>
          <a:xfrm>
            <a:off x="1863546" y="3998475"/>
            <a:ext cx="4114800" cy="8025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Relational</a:t>
            </a:r>
            <a:endParaRPr sz="3000">
              <a:solidFill>
                <a:srgbClr val="FFFFFF"/>
              </a:solidFill>
              <a:latin typeface="Roboto"/>
              <a:ea typeface="Roboto"/>
              <a:cs typeface="Roboto"/>
              <a:sym typeface="Roboto"/>
            </a:endParaRPr>
          </a:p>
        </p:txBody>
      </p:sp>
      <p:sp>
        <p:nvSpPr>
          <p:cNvPr id="577" name="Google Shape;577;p55"/>
          <p:cNvSpPr/>
          <p:nvPr/>
        </p:nvSpPr>
        <p:spPr>
          <a:xfrm>
            <a:off x="6401064" y="3998475"/>
            <a:ext cx="4114800" cy="802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Non-r</a:t>
            </a:r>
            <a:r>
              <a:rPr lang="en" sz="3000">
                <a:solidFill>
                  <a:srgbClr val="FFFFFF"/>
                </a:solidFill>
                <a:latin typeface="Roboto"/>
                <a:ea typeface="Roboto"/>
                <a:cs typeface="Roboto"/>
                <a:sym typeface="Roboto"/>
              </a:rPr>
              <a:t>elational</a:t>
            </a:r>
            <a:endParaRPr sz="3000">
              <a:solidFill>
                <a:srgbClr val="FFFFFF"/>
              </a:solidFill>
              <a:latin typeface="Roboto"/>
              <a:ea typeface="Roboto"/>
              <a:cs typeface="Roboto"/>
              <a:sym typeface="Roboto"/>
            </a:endParaRPr>
          </a:p>
        </p:txBody>
      </p:sp>
      <p:sp>
        <p:nvSpPr>
          <p:cNvPr id="578" name="Google Shape;578;p55"/>
          <p:cNvSpPr/>
          <p:nvPr/>
        </p:nvSpPr>
        <p:spPr>
          <a:xfrm>
            <a:off x="10938582" y="3998475"/>
            <a:ext cx="2560200" cy="8025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Object</a:t>
            </a:r>
            <a:endParaRPr sz="3000">
              <a:solidFill>
                <a:srgbClr val="FFFFFF"/>
              </a:solidFill>
              <a:latin typeface="Roboto"/>
              <a:ea typeface="Roboto"/>
              <a:cs typeface="Roboto"/>
              <a:sym typeface="Roboto"/>
            </a:endParaRPr>
          </a:p>
        </p:txBody>
      </p:sp>
      <p:sp>
        <p:nvSpPr>
          <p:cNvPr id="579" name="Google Shape;579;p55"/>
          <p:cNvSpPr/>
          <p:nvPr/>
        </p:nvSpPr>
        <p:spPr>
          <a:xfrm>
            <a:off x="13921500" y="3998475"/>
            <a:ext cx="2560200" cy="802500"/>
          </a:xfrm>
          <a:prstGeom prst="rect">
            <a:avLst/>
          </a:prstGeom>
          <a:solidFill>
            <a:schemeClr val="accen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Warehouse</a:t>
            </a:r>
            <a:endParaRPr sz="3000">
              <a:solidFill>
                <a:srgbClr val="FFFFFF"/>
              </a:solidFill>
              <a:latin typeface="Roboto"/>
              <a:ea typeface="Roboto"/>
              <a:cs typeface="Roboto"/>
              <a:sym typeface="Roboto"/>
            </a:endParaRPr>
          </a:p>
        </p:txBody>
      </p:sp>
      <p:sp>
        <p:nvSpPr>
          <p:cNvPr id="580" name="Google Shape;580;p55"/>
          <p:cNvSpPr/>
          <p:nvPr/>
        </p:nvSpPr>
        <p:spPr>
          <a:xfrm>
            <a:off x="109385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cxnSp>
        <p:nvCxnSpPr>
          <p:cNvPr id="581" name="Google Shape;581;p55"/>
          <p:cNvCxnSpPr>
            <a:stCxn id="557" idx="0"/>
            <a:endCxn id="555" idx="0"/>
          </p:cNvCxnSpPr>
          <p:nvPr/>
        </p:nvCxnSpPr>
        <p:spPr>
          <a:xfrm flipH="1" rot="-5400000">
            <a:off x="9555396" y="-1788375"/>
            <a:ext cx="600" cy="11269500"/>
          </a:xfrm>
          <a:prstGeom prst="bentConnector3">
            <a:avLst>
              <a:gd fmla="val -135716667" name="adj1"/>
            </a:avLst>
          </a:prstGeom>
          <a:noFill/>
          <a:ln cap="flat" cmpd="sng" w="38100">
            <a:solidFill>
              <a:schemeClr val="accent2"/>
            </a:solidFill>
            <a:prstDash val="solid"/>
            <a:round/>
            <a:headEnd len="med" w="med" type="oval"/>
            <a:tailEnd len="med" w="med" type="oval"/>
          </a:ln>
        </p:spPr>
      </p:cxnSp>
      <p:cxnSp>
        <p:nvCxnSpPr>
          <p:cNvPr id="582" name="Google Shape;582;p55"/>
          <p:cNvCxnSpPr>
            <a:stCxn id="556" idx="0"/>
          </p:cNvCxnSpPr>
          <p:nvPr/>
        </p:nvCxnSpPr>
        <p:spPr>
          <a:xfrm flipH="1" rot="10800000">
            <a:off x="8492946" y="3049875"/>
            <a:ext cx="6600" cy="796200"/>
          </a:xfrm>
          <a:prstGeom prst="straightConnector1">
            <a:avLst/>
          </a:prstGeom>
          <a:noFill/>
          <a:ln cap="flat" cmpd="sng" w="38100">
            <a:solidFill>
              <a:schemeClr val="accent2"/>
            </a:solidFill>
            <a:prstDash val="solid"/>
            <a:round/>
            <a:headEnd len="med" w="med" type="oval"/>
            <a:tailEnd len="med" w="med" type="none"/>
          </a:ln>
        </p:spPr>
      </p:cxnSp>
      <p:cxnSp>
        <p:nvCxnSpPr>
          <p:cNvPr id="583" name="Google Shape;583;p55"/>
          <p:cNvCxnSpPr/>
          <p:nvPr/>
        </p:nvCxnSpPr>
        <p:spPr>
          <a:xfrm flipH="1" rot="10800000">
            <a:off x="12302946" y="3049875"/>
            <a:ext cx="6600" cy="796200"/>
          </a:xfrm>
          <a:prstGeom prst="straightConnector1">
            <a:avLst/>
          </a:prstGeom>
          <a:noFill/>
          <a:ln cap="flat" cmpd="sng" w="38100">
            <a:solidFill>
              <a:schemeClr val="accent2"/>
            </a:solidFill>
            <a:prstDash val="solid"/>
            <a:round/>
            <a:headEnd len="med" w="med" type="oval"/>
            <a:tailEnd len="med" w="med" type="none"/>
          </a:ln>
        </p:spPr>
      </p:cxnSp>
      <p:sp>
        <p:nvSpPr>
          <p:cNvPr id="584" name="Google Shape;584;p5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Storage in Google Cloud</a:t>
            </a:r>
            <a:endParaRPr/>
          </a:p>
        </p:txBody>
      </p:sp>
      <p:sp>
        <p:nvSpPr>
          <p:cNvPr id="585" name="Google Shape;585;p5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56"/>
          <p:cNvPicPr preferRelativeResize="0"/>
          <p:nvPr/>
        </p:nvPicPr>
        <p:blipFill>
          <a:blip r:embed="rId3">
            <a:alphaModFix/>
          </a:blip>
          <a:stretch>
            <a:fillRect/>
          </a:stretch>
        </p:blipFill>
        <p:spPr>
          <a:xfrm>
            <a:off x="2824677" y="2965111"/>
            <a:ext cx="3086100" cy="3088398"/>
          </a:xfrm>
          <a:prstGeom prst="rect">
            <a:avLst/>
          </a:prstGeom>
          <a:noFill/>
          <a:ln>
            <a:noFill/>
          </a:ln>
        </p:spPr>
      </p:pic>
      <p:pic>
        <p:nvPicPr>
          <p:cNvPr id="591" name="Google Shape;591;p56"/>
          <p:cNvPicPr preferRelativeResize="0"/>
          <p:nvPr/>
        </p:nvPicPr>
        <p:blipFill rotWithShape="1">
          <a:blip r:embed="rId4">
            <a:alphaModFix/>
          </a:blip>
          <a:srcRect b="6985" l="0" r="0" t="0"/>
          <a:stretch/>
        </p:blipFill>
        <p:spPr>
          <a:xfrm>
            <a:off x="7774800" y="3065650"/>
            <a:ext cx="2738400" cy="2549075"/>
          </a:xfrm>
          <a:prstGeom prst="rect">
            <a:avLst/>
          </a:prstGeom>
          <a:noFill/>
          <a:ln>
            <a:noFill/>
          </a:ln>
        </p:spPr>
      </p:pic>
      <p:pic>
        <p:nvPicPr>
          <p:cNvPr id="592" name="Google Shape;592;p56"/>
          <p:cNvPicPr preferRelativeResize="0"/>
          <p:nvPr/>
        </p:nvPicPr>
        <p:blipFill rotWithShape="1">
          <a:blip r:embed="rId5">
            <a:alphaModFix/>
          </a:blip>
          <a:srcRect b="-7135" l="0" r="0" t="0"/>
          <a:stretch/>
        </p:blipFill>
        <p:spPr>
          <a:xfrm>
            <a:off x="12989250" y="2855950"/>
            <a:ext cx="2093075" cy="3088400"/>
          </a:xfrm>
          <a:prstGeom prst="rect">
            <a:avLst/>
          </a:prstGeom>
          <a:noFill/>
          <a:ln>
            <a:noFill/>
          </a:ln>
        </p:spPr>
      </p:pic>
      <p:pic>
        <p:nvPicPr>
          <p:cNvPr id="593" name="Google Shape;593;p56"/>
          <p:cNvPicPr preferRelativeResize="0"/>
          <p:nvPr/>
        </p:nvPicPr>
        <p:blipFill>
          <a:blip r:embed="rId6">
            <a:alphaModFix/>
          </a:blip>
          <a:stretch>
            <a:fillRect/>
          </a:stretch>
        </p:blipFill>
        <p:spPr>
          <a:xfrm>
            <a:off x="7924800" y="6797309"/>
            <a:ext cx="2438400" cy="2438400"/>
          </a:xfrm>
          <a:prstGeom prst="rect">
            <a:avLst/>
          </a:prstGeom>
          <a:noFill/>
          <a:ln>
            <a:noFill/>
          </a:ln>
        </p:spPr>
      </p:pic>
      <p:cxnSp>
        <p:nvCxnSpPr>
          <p:cNvPr id="594" name="Google Shape;594;p56"/>
          <p:cNvCxnSpPr>
            <a:stCxn id="595" idx="2"/>
            <a:endCxn id="596" idx="3"/>
          </p:cNvCxnSpPr>
          <p:nvPr/>
        </p:nvCxnSpPr>
        <p:spPr>
          <a:xfrm rot="5400000">
            <a:off x="11201988" y="5182705"/>
            <a:ext cx="2160600" cy="3507000"/>
          </a:xfrm>
          <a:prstGeom prst="bentConnector2">
            <a:avLst/>
          </a:prstGeom>
          <a:noFill/>
          <a:ln cap="flat" cmpd="sng" w="28575">
            <a:solidFill>
              <a:schemeClr val="accent2"/>
            </a:solidFill>
            <a:prstDash val="solid"/>
            <a:round/>
            <a:headEnd len="med" w="med" type="none"/>
            <a:tailEnd len="med" w="med" type="oval"/>
          </a:ln>
        </p:spPr>
      </p:cxnSp>
      <p:cxnSp>
        <p:nvCxnSpPr>
          <p:cNvPr id="597" name="Google Shape;597;p56"/>
          <p:cNvCxnSpPr>
            <a:stCxn id="591" idx="2"/>
            <a:endCxn id="593" idx="0"/>
          </p:cNvCxnSpPr>
          <p:nvPr/>
        </p:nvCxnSpPr>
        <p:spPr>
          <a:xfrm>
            <a:off x="9144000" y="5614725"/>
            <a:ext cx="0" cy="1182600"/>
          </a:xfrm>
          <a:prstGeom prst="straightConnector1">
            <a:avLst/>
          </a:prstGeom>
          <a:noFill/>
          <a:ln cap="flat" cmpd="sng" w="28575">
            <a:solidFill>
              <a:schemeClr val="accent2"/>
            </a:solidFill>
            <a:prstDash val="solid"/>
            <a:round/>
            <a:headEnd len="med" w="med" type="none"/>
            <a:tailEnd len="med" w="med" type="oval"/>
          </a:ln>
        </p:spPr>
      </p:cxnSp>
      <p:sp>
        <p:nvSpPr>
          <p:cNvPr id="598" name="Google Shape;598;p56"/>
          <p:cNvSpPr/>
          <p:nvPr/>
        </p:nvSpPr>
        <p:spPr>
          <a:xfrm>
            <a:off x="4170625" y="5775700"/>
            <a:ext cx="3942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6"/>
          <p:cNvSpPr/>
          <p:nvPr/>
        </p:nvSpPr>
        <p:spPr>
          <a:xfrm>
            <a:off x="7772425" y="7801400"/>
            <a:ext cx="3942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56"/>
          <p:cNvSpPr/>
          <p:nvPr/>
        </p:nvSpPr>
        <p:spPr>
          <a:xfrm>
            <a:off x="10134625" y="7801400"/>
            <a:ext cx="3942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6"/>
          <p:cNvSpPr/>
          <p:nvPr/>
        </p:nvSpPr>
        <p:spPr>
          <a:xfrm>
            <a:off x="13838688" y="5425705"/>
            <a:ext cx="3942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 name="Google Shape;600;p56"/>
          <p:cNvCxnSpPr>
            <a:stCxn id="598" idx="2"/>
            <a:endCxn id="599" idx="1"/>
          </p:cNvCxnSpPr>
          <p:nvPr/>
        </p:nvCxnSpPr>
        <p:spPr>
          <a:xfrm flipH="1" rot="-5400000">
            <a:off x="5164825" y="5408800"/>
            <a:ext cx="1810500" cy="3404700"/>
          </a:xfrm>
          <a:prstGeom prst="bentConnector2">
            <a:avLst/>
          </a:prstGeom>
          <a:noFill/>
          <a:ln cap="flat" cmpd="sng" w="28575">
            <a:solidFill>
              <a:schemeClr val="accent2"/>
            </a:solidFill>
            <a:prstDash val="solid"/>
            <a:round/>
            <a:headEnd len="med" w="med" type="none"/>
            <a:tailEnd len="med" w="med" type="oval"/>
          </a:ln>
        </p:spPr>
      </p:cxnSp>
      <p:sp>
        <p:nvSpPr>
          <p:cNvPr id="601" name="Google Shape;601;p5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uses Cloud Storage too!</a:t>
            </a:r>
            <a:endParaRPr/>
          </a:p>
        </p:txBody>
      </p:sp>
      <p:sp>
        <p:nvSpPr>
          <p:cNvPr id="602" name="Google Shape;602;p5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graphicFrame>
        <p:nvGraphicFramePr>
          <p:cNvPr id="607" name="Google Shape;607;p57"/>
          <p:cNvGraphicFramePr/>
          <p:nvPr/>
        </p:nvGraphicFramePr>
        <p:xfrm>
          <a:off x="1828800" y="2420300"/>
          <a:ext cx="3000000" cy="3000000"/>
        </p:xfrm>
        <a:graphic>
          <a:graphicData uri="http://schemas.openxmlformats.org/drawingml/2006/table">
            <a:tbl>
              <a:tblPr>
                <a:noFill/>
                <a:tableStyleId>{C8D7D8BB-5663-4D88-B9CA-F6AA233E94A6}</a:tableStyleId>
              </a:tblPr>
              <a:tblGrid>
                <a:gridCol w="1393825"/>
                <a:gridCol w="1593675"/>
                <a:gridCol w="2655200"/>
                <a:gridCol w="2655200"/>
                <a:gridCol w="4323275"/>
                <a:gridCol w="2009200"/>
              </a:tblGrid>
              <a:tr h="457800">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Storage Class</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Minimum duration</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Availability</a:t>
                      </a:r>
                      <a:endParaRPr b="1" sz="2000">
                        <a:solidFill>
                          <a:srgbClr val="FFFFFF"/>
                        </a:solidFill>
                        <a:latin typeface="Roboto"/>
                        <a:ea typeface="Roboto"/>
                        <a:cs typeface="Roboto"/>
                        <a:sym typeface="Roboto"/>
                      </a:endParaRPr>
                    </a:p>
                    <a:p>
                      <a:pPr indent="0" lvl="0" marL="0" rtl="0" algn="ctr">
                        <a:spcBef>
                          <a:spcPts val="0"/>
                        </a:spcBef>
                        <a:spcAft>
                          <a:spcPts val="0"/>
                        </a:spcAft>
                        <a:buNone/>
                      </a:pPr>
                      <a:r>
                        <a:rPr b="1" lang="en" sz="2000">
                          <a:solidFill>
                            <a:srgbClr val="FFFFFF"/>
                          </a:solidFill>
                          <a:latin typeface="Roboto"/>
                          <a:ea typeface="Roboto"/>
                          <a:cs typeface="Roboto"/>
                          <a:sym typeface="Roboto"/>
                        </a:rPr>
                        <a:t>SLA</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Typical monthly availability</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Use cases</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2000">
                          <a:solidFill>
                            <a:srgbClr val="FFFFFF"/>
                          </a:solidFill>
                          <a:latin typeface="Roboto"/>
                          <a:ea typeface="Roboto"/>
                          <a:cs typeface="Roboto"/>
                          <a:sym typeface="Roboto"/>
                        </a:rPr>
                        <a:t>Name for APIs and gsutil</a:t>
                      </a:r>
                      <a:endParaRPr b="1" sz="2000">
                        <a:solidFill>
                          <a:srgbClr val="FFFFFF"/>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chemeClr val="accent3"/>
                    </a:solidFill>
                  </a:tcPr>
                </a:tc>
              </a:tr>
              <a:tr h="1245750">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Standard Storage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None</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Multi-region 99.95%</a:t>
                      </a:r>
                      <a:endParaRPr sz="2000">
                        <a:solidFill>
                          <a:schemeClr val="lt1"/>
                        </a:solidFill>
                        <a:latin typeface="Roboto"/>
                        <a:ea typeface="Roboto"/>
                        <a:cs typeface="Roboto"/>
                        <a:sym typeface="Roboto"/>
                      </a:endParaRPr>
                    </a:p>
                    <a:p>
                      <a:pPr indent="0" lvl="0" marL="0" rtl="0" algn="ctr">
                        <a:spcBef>
                          <a:spcPts val="0"/>
                        </a:spcBef>
                        <a:spcAft>
                          <a:spcPts val="0"/>
                        </a:spcAft>
                        <a:buNone/>
                      </a:pPr>
                      <a:r>
                        <a:rPr lang="en" sz="2000">
                          <a:solidFill>
                            <a:schemeClr val="lt1"/>
                          </a:solidFill>
                          <a:latin typeface="Roboto"/>
                          <a:ea typeface="Roboto"/>
                          <a:cs typeface="Roboto"/>
                          <a:sym typeface="Roboto"/>
                        </a:rPr>
                        <a:t>Dual-region 99.95%</a:t>
                      </a:r>
                      <a:endParaRPr sz="2000">
                        <a:solidFill>
                          <a:schemeClr val="lt1"/>
                        </a:solidFill>
                        <a:latin typeface="Roboto"/>
                        <a:ea typeface="Roboto"/>
                        <a:cs typeface="Roboto"/>
                        <a:sym typeface="Roboto"/>
                      </a:endParaRPr>
                    </a:p>
                    <a:p>
                      <a:pPr indent="0" lvl="0" marL="0" rtl="0" algn="ctr">
                        <a:spcBef>
                          <a:spcPts val="0"/>
                        </a:spcBef>
                        <a:spcAft>
                          <a:spcPts val="0"/>
                        </a:spcAft>
                        <a:buNone/>
                      </a:pPr>
                      <a:r>
                        <a:rPr lang="en" sz="2000">
                          <a:solidFill>
                            <a:schemeClr val="lt1"/>
                          </a:solidFill>
                          <a:latin typeface="Roboto"/>
                          <a:ea typeface="Roboto"/>
                          <a:cs typeface="Roboto"/>
                          <a:sym typeface="Roboto"/>
                        </a:rPr>
                        <a:t>Region 99.9%</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&gt;99.99% availability in multi-regions and dual-regions; 99.99% in regions</a:t>
                      </a:r>
                      <a:endParaRPr sz="2000">
                        <a:solidFill>
                          <a:schemeClr val="lt1"/>
                        </a:solidFill>
                        <a:latin typeface="Roboto"/>
                        <a:ea typeface="Roboto"/>
                        <a:cs typeface="Roboto"/>
                        <a:sym typeface="Roboto"/>
                      </a:endParaRPr>
                    </a:p>
                  </a:txBody>
                  <a:tcPr marT="91425" marB="91425" marR="182875" marL="1828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Roboto"/>
                          <a:ea typeface="Roboto"/>
                          <a:cs typeface="Roboto"/>
                          <a:sym typeface="Roboto"/>
                        </a:rPr>
                        <a:t>Access data frequently ("hot" data) and/or store for brief periods</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Serve website content</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Stream videos</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Interactive workloads</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Mobile and gaming apps</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STANDARD</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1048775">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Nearline Storage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30 days</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rowSpan="2">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Multi-region 99.9%</a:t>
                      </a:r>
                      <a:endParaRPr sz="2000">
                        <a:solidFill>
                          <a:schemeClr val="lt1"/>
                        </a:solidFill>
                        <a:latin typeface="Roboto"/>
                        <a:ea typeface="Roboto"/>
                        <a:cs typeface="Roboto"/>
                        <a:sym typeface="Roboto"/>
                      </a:endParaRPr>
                    </a:p>
                    <a:p>
                      <a:pPr indent="0" lvl="0" marL="0" rtl="0" algn="ctr">
                        <a:spcBef>
                          <a:spcPts val="0"/>
                        </a:spcBef>
                        <a:spcAft>
                          <a:spcPts val="0"/>
                        </a:spcAft>
                        <a:buNone/>
                      </a:pPr>
                      <a:r>
                        <a:rPr lang="en" sz="2000">
                          <a:solidFill>
                            <a:schemeClr val="lt1"/>
                          </a:solidFill>
                          <a:latin typeface="Roboto"/>
                          <a:ea typeface="Roboto"/>
                          <a:cs typeface="Roboto"/>
                          <a:sym typeface="Roboto"/>
                        </a:rPr>
                        <a:t>Dual-region 99.9%</a:t>
                      </a:r>
                      <a:endParaRPr sz="2000">
                        <a:solidFill>
                          <a:schemeClr val="lt1"/>
                        </a:solidFill>
                        <a:latin typeface="Roboto"/>
                        <a:ea typeface="Roboto"/>
                        <a:cs typeface="Roboto"/>
                        <a:sym typeface="Roboto"/>
                      </a:endParaRPr>
                    </a:p>
                    <a:p>
                      <a:pPr indent="0" lvl="0" marL="0" rtl="0" algn="ctr">
                        <a:spcBef>
                          <a:spcPts val="0"/>
                        </a:spcBef>
                        <a:spcAft>
                          <a:spcPts val="0"/>
                        </a:spcAft>
                        <a:buNone/>
                      </a:pPr>
                      <a:r>
                        <a:rPr lang="en" sz="2000">
                          <a:solidFill>
                            <a:schemeClr val="lt1"/>
                          </a:solidFill>
                          <a:latin typeface="Roboto"/>
                          <a:ea typeface="Roboto"/>
                          <a:cs typeface="Roboto"/>
                          <a:sym typeface="Roboto"/>
                        </a:rPr>
                        <a:t>Region 99.0%</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rowSpan="3">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99.95% availability in multi-regions and dual-regions;</a:t>
                      </a:r>
                      <a:endParaRPr sz="2000">
                        <a:solidFill>
                          <a:schemeClr val="lt1"/>
                        </a:solidFill>
                        <a:latin typeface="Roboto"/>
                        <a:ea typeface="Roboto"/>
                        <a:cs typeface="Roboto"/>
                        <a:sym typeface="Roboto"/>
                      </a:endParaRPr>
                    </a:p>
                    <a:p>
                      <a:pPr indent="0" lvl="0" marL="0" rtl="0" algn="ctr">
                        <a:spcBef>
                          <a:spcPts val="0"/>
                        </a:spcBef>
                        <a:spcAft>
                          <a:spcPts val="0"/>
                        </a:spcAft>
                        <a:buNone/>
                      </a:pPr>
                      <a:r>
                        <a:rPr lang="en" sz="2000">
                          <a:solidFill>
                            <a:schemeClr val="lt1"/>
                          </a:solidFill>
                          <a:latin typeface="Roboto"/>
                          <a:ea typeface="Roboto"/>
                          <a:cs typeface="Roboto"/>
                          <a:sym typeface="Roboto"/>
                        </a:rPr>
                        <a:t>99.9% in regions</a:t>
                      </a:r>
                      <a:endParaRPr sz="2000">
                        <a:solidFill>
                          <a:schemeClr val="lt1"/>
                        </a:solidFill>
                        <a:latin typeface="Roboto"/>
                        <a:ea typeface="Roboto"/>
                        <a:cs typeface="Roboto"/>
                        <a:sym typeface="Roboto"/>
                      </a:endParaRPr>
                    </a:p>
                  </a:txBody>
                  <a:tcPr marT="91425" marB="91425" marR="182875" marL="18287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Roboto"/>
                          <a:ea typeface="Roboto"/>
                          <a:cs typeface="Roboto"/>
                          <a:sym typeface="Roboto"/>
                        </a:rPr>
                        <a:t>Read/modify data ≤ once per month</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Data backup</a:t>
                      </a:r>
                      <a:endParaRPr sz="2000">
                        <a:solidFill>
                          <a:schemeClr val="lt1"/>
                        </a:solidFill>
                        <a:latin typeface="Roboto"/>
                        <a:ea typeface="Roboto"/>
                        <a:cs typeface="Roboto"/>
                        <a:sym typeface="Roboto"/>
                      </a:endParaRPr>
                    </a:p>
                    <a:p>
                      <a:pPr indent="-297180" lvl="0" marL="36576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Serve long-tail multimedia content</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NEARLINE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1048775">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Coldline Storage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90 days</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vMerge="1"/>
                <a:tc vMerge="1"/>
                <a:tc>
                  <a:txBody>
                    <a:bodyPr/>
                    <a:lstStyle/>
                    <a:p>
                      <a:pPr indent="0" lvl="0" marL="0" rtl="0" algn="l">
                        <a:spcBef>
                          <a:spcPts val="0"/>
                        </a:spcBef>
                        <a:spcAft>
                          <a:spcPts val="0"/>
                        </a:spcAft>
                        <a:buNone/>
                      </a:pPr>
                      <a:r>
                        <a:rPr lang="en" sz="2000">
                          <a:solidFill>
                            <a:schemeClr val="lt1"/>
                          </a:solidFill>
                          <a:latin typeface="Roboto"/>
                          <a:ea typeface="Roboto"/>
                          <a:cs typeface="Roboto"/>
                          <a:sym typeface="Roboto"/>
                        </a:rPr>
                        <a:t>Read/modify data no more than once a quarter</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COLDLINE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457800">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Archive Storage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365 days</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None</a:t>
                      </a:r>
                      <a:endParaRPr>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vMerge="1"/>
                <a:tc>
                  <a:txBody>
                    <a:bodyPr/>
                    <a:lstStyle/>
                    <a:p>
                      <a:pPr indent="0" lvl="0" marL="0" rtl="0" algn="l">
                        <a:spcBef>
                          <a:spcPts val="0"/>
                        </a:spcBef>
                        <a:spcAft>
                          <a:spcPts val="0"/>
                        </a:spcAft>
                        <a:buNone/>
                      </a:pPr>
                      <a:r>
                        <a:rPr lang="en" sz="2000">
                          <a:solidFill>
                            <a:schemeClr val="lt1"/>
                          </a:solidFill>
                          <a:latin typeface="Roboto"/>
                          <a:ea typeface="Roboto"/>
                          <a:cs typeface="Roboto"/>
                          <a:sym typeface="Roboto"/>
                        </a:rPr>
                        <a:t>Read/modify data &lt; once a year</a:t>
                      </a:r>
                      <a:endParaRPr sz="2000">
                        <a:solidFill>
                          <a:schemeClr val="lt1"/>
                        </a:solidFill>
                        <a:latin typeface="Roboto"/>
                        <a:ea typeface="Roboto"/>
                        <a:cs typeface="Roboto"/>
                        <a:sym typeface="Roboto"/>
                      </a:endParaRPr>
                    </a:p>
                    <a:p>
                      <a:pPr indent="-342900" lvl="0" marL="45720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Cold data storage</a:t>
                      </a:r>
                      <a:endParaRPr sz="2000">
                        <a:solidFill>
                          <a:schemeClr val="lt1"/>
                        </a:solidFill>
                        <a:latin typeface="Roboto"/>
                        <a:ea typeface="Roboto"/>
                        <a:cs typeface="Roboto"/>
                        <a:sym typeface="Roboto"/>
                      </a:endParaRPr>
                    </a:p>
                    <a:p>
                      <a:pPr indent="-342900" lvl="0" marL="457200" rtl="0" algn="l">
                        <a:spcBef>
                          <a:spcPts val="0"/>
                        </a:spcBef>
                        <a:spcAft>
                          <a:spcPts val="0"/>
                        </a:spcAft>
                        <a:buClr>
                          <a:schemeClr val="lt1"/>
                        </a:buClr>
                        <a:buSzPts val="1800"/>
                        <a:buFont typeface="Roboto"/>
                        <a:buChar char="●"/>
                      </a:pPr>
                      <a:r>
                        <a:rPr lang="en" sz="2000">
                          <a:solidFill>
                            <a:schemeClr val="lt1"/>
                          </a:solidFill>
                          <a:latin typeface="Roboto"/>
                          <a:ea typeface="Roboto"/>
                          <a:cs typeface="Roboto"/>
                          <a:sym typeface="Roboto"/>
                        </a:rPr>
                        <a:t>Disaster recovery</a:t>
                      </a:r>
                      <a:endParaRPr sz="2000">
                        <a:solidFill>
                          <a:schemeClr val="lt1"/>
                        </a:solidFill>
                        <a:latin typeface="Roboto"/>
                        <a:ea typeface="Roboto"/>
                        <a:cs typeface="Roboto"/>
                        <a:sym typeface="Roboto"/>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2000">
                          <a:solidFill>
                            <a:schemeClr val="lt1"/>
                          </a:solidFill>
                          <a:latin typeface="Roboto"/>
                          <a:ea typeface="Roboto"/>
                          <a:cs typeface="Roboto"/>
                          <a:sym typeface="Roboto"/>
                        </a:rPr>
                        <a:t>ARCHIVE</a:t>
                      </a:r>
                      <a:endParaRPr sz="2000">
                        <a:solidFill>
                          <a:schemeClr val="lt1"/>
                        </a:solidFill>
                        <a:latin typeface="Roboto"/>
                        <a:ea typeface="Roboto"/>
                        <a:cs typeface="Roboto"/>
                        <a:sym typeface="Roboto"/>
                      </a:endParaRPr>
                    </a:p>
                  </a:txBody>
                  <a:tcPr marT="91425" marB="91425" marR="182850" marL="18285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sp>
        <p:nvSpPr>
          <p:cNvPr id="608" name="Google Shape;608;p5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Storage offers different classes of storage</a:t>
            </a:r>
            <a:endParaRPr/>
          </a:p>
        </p:txBody>
      </p:sp>
      <p:sp>
        <p:nvSpPr>
          <p:cNvPr id="609" name="Google Shape;609;p5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pic>
        <p:nvPicPr>
          <p:cNvPr id="614" name="Google Shape;614;p58"/>
          <p:cNvPicPr preferRelativeResize="0"/>
          <p:nvPr/>
        </p:nvPicPr>
        <p:blipFill>
          <a:blip r:embed="rId3">
            <a:alphaModFix/>
          </a:blip>
          <a:stretch>
            <a:fillRect/>
          </a:stretch>
        </p:blipFill>
        <p:spPr>
          <a:xfrm>
            <a:off x="9744350" y="6364450"/>
            <a:ext cx="1217295" cy="2060038"/>
          </a:xfrm>
          <a:prstGeom prst="rect">
            <a:avLst/>
          </a:prstGeom>
          <a:noFill/>
          <a:ln>
            <a:noFill/>
          </a:ln>
        </p:spPr>
      </p:pic>
      <p:pic>
        <p:nvPicPr>
          <p:cNvPr id="615" name="Google Shape;615;p58"/>
          <p:cNvPicPr preferRelativeResize="0"/>
          <p:nvPr/>
        </p:nvPicPr>
        <p:blipFill>
          <a:blip r:embed="rId3">
            <a:alphaModFix/>
          </a:blip>
          <a:stretch>
            <a:fillRect/>
          </a:stretch>
        </p:blipFill>
        <p:spPr>
          <a:xfrm>
            <a:off x="11496325" y="6364450"/>
            <a:ext cx="1217295" cy="2060038"/>
          </a:xfrm>
          <a:prstGeom prst="rect">
            <a:avLst/>
          </a:prstGeom>
          <a:noFill/>
          <a:ln>
            <a:noFill/>
          </a:ln>
        </p:spPr>
      </p:pic>
      <p:pic>
        <p:nvPicPr>
          <p:cNvPr id="616" name="Google Shape;616;p58"/>
          <p:cNvPicPr preferRelativeResize="0"/>
          <p:nvPr/>
        </p:nvPicPr>
        <p:blipFill>
          <a:blip r:embed="rId3">
            <a:alphaModFix/>
          </a:blip>
          <a:stretch>
            <a:fillRect/>
          </a:stretch>
        </p:blipFill>
        <p:spPr>
          <a:xfrm>
            <a:off x="13248300" y="6364450"/>
            <a:ext cx="1217295" cy="2060038"/>
          </a:xfrm>
          <a:prstGeom prst="rect">
            <a:avLst/>
          </a:prstGeom>
          <a:noFill/>
          <a:ln>
            <a:noFill/>
          </a:ln>
        </p:spPr>
      </p:pic>
      <p:pic>
        <p:nvPicPr>
          <p:cNvPr id="617" name="Google Shape;617;p58"/>
          <p:cNvPicPr preferRelativeResize="0"/>
          <p:nvPr/>
        </p:nvPicPr>
        <p:blipFill>
          <a:blip r:embed="rId3">
            <a:alphaModFix/>
          </a:blip>
          <a:stretch>
            <a:fillRect/>
          </a:stretch>
        </p:blipFill>
        <p:spPr>
          <a:xfrm>
            <a:off x="15000275" y="6364450"/>
            <a:ext cx="1217295" cy="2060038"/>
          </a:xfrm>
          <a:prstGeom prst="rect">
            <a:avLst/>
          </a:prstGeom>
          <a:noFill/>
          <a:ln>
            <a:noFill/>
          </a:ln>
        </p:spPr>
      </p:pic>
      <p:grpSp>
        <p:nvGrpSpPr>
          <p:cNvPr id="618" name="Google Shape;618;p58"/>
          <p:cNvGrpSpPr/>
          <p:nvPr/>
        </p:nvGrpSpPr>
        <p:grpSpPr>
          <a:xfrm>
            <a:off x="11829298" y="3055144"/>
            <a:ext cx="2303400" cy="2092922"/>
            <a:chOff x="12190675" y="2445544"/>
            <a:chExt cx="2303400" cy="2092922"/>
          </a:xfrm>
        </p:grpSpPr>
        <p:grpSp>
          <p:nvGrpSpPr>
            <p:cNvPr id="619" name="Google Shape;619;p58"/>
            <p:cNvGrpSpPr/>
            <p:nvPr/>
          </p:nvGrpSpPr>
          <p:grpSpPr>
            <a:xfrm>
              <a:off x="12190675" y="2445544"/>
              <a:ext cx="931920" cy="1254722"/>
              <a:chOff x="13333675" y="2445544"/>
              <a:chExt cx="931920" cy="1254722"/>
            </a:xfrm>
          </p:grpSpPr>
          <p:sp>
            <p:nvSpPr>
              <p:cNvPr id="620" name="Google Shape;620;p58"/>
              <p:cNvSpPr/>
              <p:nvPr/>
            </p:nvSpPr>
            <p:spPr>
              <a:xfrm flipH="1" rot="10800000">
                <a:off x="13333675" y="2445544"/>
                <a:ext cx="931920" cy="1254722"/>
              </a:xfrm>
              <a:prstGeom prst="foldedCorner">
                <a:avLst>
                  <a:gd fmla="val 27691" name="adj"/>
                </a:avLst>
              </a:prstGeom>
              <a:solidFill>
                <a:srgbClr val="FFFFFF"/>
              </a:solid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1" name="Google Shape;621;p58"/>
              <p:cNvCxnSpPr/>
              <p:nvPr/>
            </p:nvCxnSpPr>
            <p:spPr>
              <a:xfrm>
                <a:off x="13484155" y="2885513"/>
                <a:ext cx="630960" cy="0"/>
              </a:xfrm>
              <a:prstGeom prst="straightConnector1">
                <a:avLst/>
              </a:prstGeom>
              <a:noFill/>
              <a:ln cap="flat" cmpd="sng" w="76200">
                <a:solidFill>
                  <a:schemeClr val="accent2"/>
                </a:solidFill>
                <a:prstDash val="solid"/>
                <a:round/>
                <a:headEnd len="med" w="med" type="none"/>
                <a:tailEnd len="med" w="med" type="none"/>
              </a:ln>
            </p:spPr>
          </p:cxnSp>
          <p:cxnSp>
            <p:nvCxnSpPr>
              <p:cNvPr id="622" name="Google Shape;622;p58"/>
              <p:cNvCxnSpPr/>
              <p:nvPr/>
            </p:nvCxnSpPr>
            <p:spPr>
              <a:xfrm>
                <a:off x="13484155" y="3008043"/>
                <a:ext cx="630960" cy="0"/>
              </a:xfrm>
              <a:prstGeom prst="straightConnector1">
                <a:avLst/>
              </a:prstGeom>
              <a:noFill/>
              <a:ln cap="flat" cmpd="sng" w="76200">
                <a:solidFill>
                  <a:schemeClr val="accent2"/>
                </a:solidFill>
                <a:prstDash val="solid"/>
                <a:round/>
                <a:headEnd len="med" w="med" type="none"/>
                <a:tailEnd len="med" w="med" type="none"/>
              </a:ln>
            </p:spPr>
          </p:cxnSp>
          <p:cxnSp>
            <p:nvCxnSpPr>
              <p:cNvPr id="623" name="Google Shape;623;p58"/>
              <p:cNvCxnSpPr/>
              <p:nvPr/>
            </p:nvCxnSpPr>
            <p:spPr>
              <a:xfrm>
                <a:off x="13484155" y="3130572"/>
                <a:ext cx="630960" cy="0"/>
              </a:xfrm>
              <a:prstGeom prst="straightConnector1">
                <a:avLst/>
              </a:prstGeom>
              <a:noFill/>
              <a:ln cap="flat" cmpd="sng" w="76200">
                <a:solidFill>
                  <a:schemeClr val="accent2"/>
                </a:solidFill>
                <a:prstDash val="solid"/>
                <a:round/>
                <a:headEnd len="med" w="med" type="none"/>
                <a:tailEnd len="med" w="med" type="none"/>
              </a:ln>
            </p:spPr>
          </p:cxnSp>
          <p:cxnSp>
            <p:nvCxnSpPr>
              <p:cNvPr id="624" name="Google Shape;624;p58"/>
              <p:cNvCxnSpPr/>
              <p:nvPr/>
            </p:nvCxnSpPr>
            <p:spPr>
              <a:xfrm>
                <a:off x="13484155" y="3253102"/>
                <a:ext cx="630960" cy="0"/>
              </a:xfrm>
              <a:prstGeom prst="straightConnector1">
                <a:avLst/>
              </a:prstGeom>
              <a:noFill/>
              <a:ln cap="flat" cmpd="sng" w="76200">
                <a:solidFill>
                  <a:schemeClr val="accent2"/>
                </a:solidFill>
                <a:prstDash val="solid"/>
                <a:round/>
                <a:headEnd len="med" w="med" type="none"/>
                <a:tailEnd len="med" w="med" type="none"/>
              </a:ln>
            </p:spPr>
          </p:cxnSp>
          <p:cxnSp>
            <p:nvCxnSpPr>
              <p:cNvPr id="625" name="Google Shape;625;p58"/>
              <p:cNvCxnSpPr/>
              <p:nvPr/>
            </p:nvCxnSpPr>
            <p:spPr>
              <a:xfrm>
                <a:off x="13484155" y="3375631"/>
                <a:ext cx="630960" cy="0"/>
              </a:xfrm>
              <a:prstGeom prst="straightConnector1">
                <a:avLst/>
              </a:prstGeom>
              <a:noFill/>
              <a:ln cap="flat" cmpd="sng" w="76200">
                <a:solidFill>
                  <a:schemeClr val="accent2"/>
                </a:solidFill>
                <a:prstDash val="solid"/>
                <a:round/>
                <a:headEnd len="med" w="med" type="none"/>
                <a:tailEnd len="med" w="med" type="none"/>
              </a:ln>
            </p:spPr>
          </p:cxnSp>
        </p:grpSp>
        <p:grpSp>
          <p:nvGrpSpPr>
            <p:cNvPr id="626" name="Google Shape;626;p58"/>
            <p:cNvGrpSpPr/>
            <p:nvPr/>
          </p:nvGrpSpPr>
          <p:grpSpPr>
            <a:xfrm>
              <a:off x="12533665" y="2655217"/>
              <a:ext cx="931800" cy="1254600"/>
              <a:chOff x="13333675" y="2445667"/>
              <a:chExt cx="931800" cy="1254600"/>
            </a:xfrm>
          </p:grpSpPr>
          <p:sp>
            <p:nvSpPr>
              <p:cNvPr id="627" name="Google Shape;627;p58"/>
              <p:cNvSpPr/>
              <p:nvPr/>
            </p:nvSpPr>
            <p:spPr>
              <a:xfrm flipH="1" rot="10800000">
                <a:off x="13333675" y="2445667"/>
                <a:ext cx="931800" cy="1254600"/>
              </a:xfrm>
              <a:prstGeom prst="foldedCorner">
                <a:avLst>
                  <a:gd fmla="val 27691" name="adj"/>
                </a:avLst>
              </a:prstGeom>
              <a:solidFill>
                <a:srgbClr val="FFFFFF"/>
              </a:solid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8" name="Google Shape;628;p58"/>
              <p:cNvCxnSpPr/>
              <p:nvPr/>
            </p:nvCxnSpPr>
            <p:spPr>
              <a:xfrm>
                <a:off x="13484155" y="288551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29" name="Google Shape;629;p58"/>
              <p:cNvCxnSpPr/>
              <p:nvPr/>
            </p:nvCxnSpPr>
            <p:spPr>
              <a:xfrm>
                <a:off x="13484155" y="300804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0" name="Google Shape;630;p58"/>
              <p:cNvCxnSpPr/>
              <p:nvPr/>
            </p:nvCxnSpPr>
            <p:spPr>
              <a:xfrm>
                <a:off x="13484155" y="313057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1" name="Google Shape;631;p58"/>
              <p:cNvCxnSpPr/>
              <p:nvPr/>
            </p:nvCxnSpPr>
            <p:spPr>
              <a:xfrm>
                <a:off x="13484155" y="325310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2" name="Google Shape;632;p58"/>
              <p:cNvCxnSpPr/>
              <p:nvPr/>
            </p:nvCxnSpPr>
            <p:spPr>
              <a:xfrm>
                <a:off x="13484155" y="3375631"/>
                <a:ext cx="630900" cy="0"/>
              </a:xfrm>
              <a:prstGeom prst="straightConnector1">
                <a:avLst/>
              </a:prstGeom>
              <a:noFill/>
              <a:ln cap="flat" cmpd="sng" w="76200">
                <a:solidFill>
                  <a:schemeClr val="accent2"/>
                </a:solidFill>
                <a:prstDash val="solid"/>
                <a:round/>
                <a:headEnd len="med" w="med" type="none"/>
                <a:tailEnd len="med" w="med" type="none"/>
              </a:ln>
            </p:spPr>
          </p:cxnSp>
        </p:grpSp>
        <p:grpSp>
          <p:nvGrpSpPr>
            <p:cNvPr id="633" name="Google Shape;633;p58"/>
            <p:cNvGrpSpPr/>
            <p:nvPr/>
          </p:nvGrpSpPr>
          <p:grpSpPr>
            <a:xfrm>
              <a:off x="12876535" y="2864767"/>
              <a:ext cx="931800" cy="1254600"/>
              <a:chOff x="13333675" y="2445667"/>
              <a:chExt cx="931800" cy="1254600"/>
            </a:xfrm>
          </p:grpSpPr>
          <p:sp>
            <p:nvSpPr>
              <p:cNvPr id="634" name="Google Shape;634;p58"/>
              <p:cNvSpPr/>
              <p:nvPr/>
            </p:nvSpPr>
            <p:spPr>
              <a:xfrm flipH="1" rot="10800000">
                <a:off x="13333675" y="2445667"/>
                <a:ext cx="931800" cy="1254600"/>
              </a:xfrm>
              <a:prstGeom prst="foldedCorner">
                <a:avLst>
                  <a:gd fmla="val 27691" name="adj"/>
                </a:avLst>
              </a:prstGeom>
              <a:solidFill>
                <a:srgbClr val="FFFFFF"/>
              </a:solid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5" name="Google Shape;635;p58"/>
              <p:cNvCxnSpPr/>
              <p:nvPr/>
            </p:nvCxnSpPr>
            <p:spPr>
              <a:xfrm>
                <a:off x="13484155" y="288551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6" name="Google Shape;636;p58"/>
              <p:cNvCxnSpPr/>
              <p:nvPr/>
            </p:nvCxnSpPr>
            <p:spPr>
              <a:xfrm>
                <a:off x="13484155" y="300804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7" name="Google Shape;637;p58"/>
              <p:cNvCxnSpPr/>
              <p:nvPr/>
            </p:nvCxnSpPr>
            <p:spPr>
              <a:xfrm>
                <a:off x="13484155" y="313057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8" name="Google Shape;638;p58"/>
              <p:cNvCxnSpPr/>
              <p:nvPr/>
            </p:nvCxnSpPr>
            <p:spPr>
              <a:xfrm>
                <a:off x="13484155" y="325310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39" name="Google Shape;639;p58"/>
              <p:cNvCxnSpPr/>
              <p:nvPr/>
            </p:nvCxnSpPr>
            <p:spPr>
              <a:xfrm>
                <a:off x="13484155" y="3375631"/>
                <a:ext cx="630900" cy="0"/>
              </a:xfrm>
              <a:prstGeom prst="straightConnector1">
                <a:avLst/>
              </a:prstGeom>
              <a:noFill/>
              <a:ln cap="flat" cmpd="sng" w="76200">
                <a:solidFill>
                  <a:schemeClr val="accent2"/>
                </a:solidFill>
                <a:prstDash val="solid"/>
                <a:round/>
                <a:headEnd len="med" w="med" type="none"/>
                <a:tailEnd len="med" w="med" type="none"/>
              </a:ln>
            </p:spPr>
          </p:cxnSp>
        </p:grpSp>
        <p:grpSp>
          <p:nvGrpSpPr>
            <p:cNvPr id="640" name="Google Shape;640;p58"/>
            <p:cNvGrpSpPr/>
            <p:nvPr/>
          </p:nvGrpSpPr>
          <p:grpSpPr>
            <a:xfrm>
              <a:off x="13219405" y="3074317"/>
              <a:ext cx="931800" cy="1254600"/>
              <a:chOff x="13333675" y="2445667"/>
              <a:chExt cx="931800" cy="1254600"/>
            </a:xfrm>
          </p:grpSpPr>
          <p:sp>
            <p:nvSpPr>
              <p:cNvPr id="641" name="Google Shape;641;p58"/>
              <p:cNvSpPr/>
              <p:nvPr/>
            </p:nvSpPr>
            <p:spPr>
              <a:xfrm flipH="1" rot="10800000">
                <a:off x="13333675" y="2445667"/>
                <a:ext cx="931800" cy="1254600"/>
              </a:xfrm>
              <a:prstGeom prst="foldedCorner">
                <a:avLst>
                  <a:gd fmla="val 27691" name="adj"/>
                </a:avLst>
              </a:prstGeom>
              <a:solidFill>
                <a:srgbClr val="FFFFFF"/>
              </a:solid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2" name="Google Shape;642;p58"/>
              <p:cNvCxnSpPr/>
              <p:nvPr/>
            </p:nvCxnSpPr>
            <p:spPr>
              <a:xfrm>
                <a:off x="13484155" y="288551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43" name="Google Shape;643;p58"/>
              <p:cNvCxnSpPr/>
              <p:nvPr/>
            </p:nvCxnSpPr>
            <p:spPr>
              <a:xfrm>
                <a:off x="13484155" y="300804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44" name="Google Shape;644;p58"/>
              <p:cNvCxnSpPr/>
              <p:nvPr/>
            </p:nvCxnSpPr>
            <p:spPr>
              <a:xfrm>
                <a:off x="13484155" y="313057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45" name="Google Shape;645;p58"/>
              <p:cNvCxnSpPr/>
              <p:nvPr/>
            </p:nvCxnSpPr>
            <p:spPr>
              <a:xfrm>
                <a:off x="13484155" y="325310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46" name="Google Shape;646;p58"/>
              <p:cNvCxnSpPr/>
              <p:nvPr/>
            </p:nvCxnSpPr>
            <p:spPr>
              <a:xfrm>
                <a:off x="13484155" y="3375631"/>
                <a:ext cx="630900" cy="0"/>
              </a:xfrm>
              <a:prstGeom prst="straightConnector1">
                <a:avLst/>
              </a:prstGeom>
              <a:noFill/>
              <a:ln cap="flat" cmpd="sng" w="76200">
                <a:solidFill>
                  <a:schemeClr val="accent2"/>
                </a:solidFill>
                <a:prstDash val="solid"/>
                <a:round/>
                <a:headEnd len="med" w="med" type="none"/>
                <a:tailEnd len="med" w="med" type="none"/>
              </a:ln>
            </p:spPr>
          </p:cxnSp>
        </p:grpSp>
        <p:grpSp>
          <p:nvGrpSpPr>
            <p:cNvPr id="647" name="Google Shape;647;p58"/>
            <p:cNvGrpSpPr/>
            <p:nvPr/>
          </p:nvGrpSpPr>
          <p:grpSpPr>
            <a:xfrm>
              <a:off x="13562275" y="3283867"/>
              <a:ext cx="931800" cy="1254600"/>
              <a:chOff x="13333675" y="2445667"/>
              <a:chExt cx="931800" cy="1254600"/>
            </a:xfrm>
          </p:grpSpPr>
          <p:sp>
            <p:nvSpPr>
              <p:cNvPr id="648" name="Google Shape;648;p58"/>
              <p:cNvSpPr/>
              <p:nvPr/>
            </p:nvSpPr>
            <p:spPr>
              <a:xfrm flipH="1" rot="10800000">
                <a:off x="13333675" y="2445667"/>
                <a:ext cx="931800" cy="1254600"/>
              </a:xfrm>
              <a:prstGeom prst="foldedCorner">
                <a:avLst>
                  <a:gd fmla="val 27691" name="adj"/>
                </a:avLst>
              </a:prstGeom>
              <a:solidFill>
                <a:srgbClr val="FFFFFF"/>
              </a:solid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9" name="Google Shape;649;p58"/>
              <p:cNvCxnSpPr/>
              <p:nvPr/>
            </p:nvCxnSpPr>
            <p:spPr>
              <a:xfrm>
                <a:off x="13484155" y="288551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50" name="Google Shape;650;p58"/>
              <p:cNvCxnSpPr/>
              <p:nvPr/>
            </p:nvCxnSpPr>
            <p:spPr>
              <a:xfrm>
                <a:off x="13484155" y="3008043"/>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51" name="Google Shape;651;p58"/>
              <p:cNvCxnSpPr/>
              <p:nvPr/>
            </p:nvCxnSpPr>
            <p:spPr>
              <a:xfrm>
                <a:off x="13484155" y="313057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52" name="Google Shape;652;p58"/>
              <p:cNvCxnSpPr/>
              <p:nvPr/>
            </p:nvCxnSpPr>
            <p:spPr>
              <a:xfrm>
                <a:off x="13484155" y="3253102"/>
                <a:ext cx="630900" cy="0"/>
              </a:xfrm>
              <a:prstGeom prst="straightConnector1">
                <a:avLst/>
              </a:prstGeom>
              <a:noFill/>
              <a:ln cap="flat" cmpd="sng" w="76200">
                <a:solidFill>
                  <a:schemeClr val="accent2"/>
                </a:solidFill>
                <a:prstDash val="solid"/>
                <a:round/>
                <a:headEnd len="med" w="med" type="none"/>
                <a:tailEnd len="med" w="med" type="none"/>
              </a:ln>
            </p:spPr>
          </p:cxnSp>
          <p:cxnSp>
            <p:nvCxnSpPr>
              <p:cNvPr id="653" name="Google Shape;653;p58"/>
              <p:cNvCxnSpPr/>
              <p:nvPr/>
            </p:nvCxnSpPr>
            <p:spPr>
              <a:xfrm>
                <a:off x="13484155" y="3375631"/>
                <a:ext cx="630900" cy="0"/>
              </a:xfrm>
              <a:prstGeom prst="straightConnector1">
                <a:avLst/>
              </a:prstGeom>
              <a:noFill/>
              <a:ln cap="flat" cmpd="sng" w="76200">
                <a:solidFill>
                  <a:schemeClr val="accent2"/>
                </a:solidFill>
                <a:prstDash val="solid"/>
                <a:round/>
                <a:headEnd len="med" w="med" type="none"/>
                <a:tailEnd len="med" w="med" type="none"/>
              </a:ln>
            </p:spPr>
          </p:cxnSp>
        </p:grpSp>
      </p:grpSp>
      <p:cxnSp>
        <p:nvCxnSpPr>
          <p:cNvPr id="654" name="Google Shape;654;p58"/>
          <p:cNvCxnSpPr/>
          <p:nvPr/>
        </p:nvCxnSpPr>
        <p:spPr>
          <a:xfrm flipH="1" rot="10800000">
            <a:off x="12104973" y="5882950"/>
            <a:ext cx="5400" cy="481500"/>
          </a:xfrm>
          <a:prstGeom prst="straightConnector1">
            <a:avLst/>
          </a:prstGeom>
          <a:noFill/>
          <a:ln cap="flat" cmpd="sng" w="38100">
            <a:solidFill>
              <a:schemeClr val="accent6"/>
            </a:solidFill>
            <a:prstDash val="solid"/>
            <a:round/>
            <a:headEnd len="med" w="med" type="oval"/>
            <a:tailEnd len="med" w="med" type="none"/>
          </a:ln>
        </p:spPr>
      </p:cxnSp>
      <p:cxnSp>
        <p:nvCxnSpPr>
          <p:cNvPr id="655" name="Google Shape;655;p58"/>
          <p:cNvCxnSpPr/>
          <p:nvPr/>
        </p:nvCxnSpPr>
        <p:spPr>
          <a:xfrm flipH="1" rot="10800000">
            <a:off x="13857573" y="5882950"/>
            <a:ext cx="5400" cy="481500"/>
          </a:xfrm>
          <a:prstGeom prst="straightConnector1">
            <a:avLst/>
          </a:prstGeom>
          <a:noFill/>
          <a:ln cap="flat" cmpd="sng" w="38100">
            <a:solidFill>
              <a:schemeClr val="accent6"/>
            </a:solidFill>
            <a:prstDash val="solid"/>
            <a:round/>
            <a:headEnd len="med" w="med" type="oval"/>
            <a:tailEnd len="med" w="med" type="none"/>
          </a:ln>
        </p:spPr>
      </p:cxnSp>
      <p:cxnSp>
        <p:nvCxnSpPr>
          <p:cNvPr id="656" name="Google Shape;656;p58"/>
          <p:cNvCxnSpPr/>
          <p:nvPr/>
        </p:nvCxnSpPr>
        <p:spPr>
          <a:xfrm rot="10800000">
            <a:off x="13069225" y="5179475"/>
            <a:ext cx="0" cy="717000"/>
          </a:xfrm>
          <a:prstGeom prst="straightConnector1">
            <a:avLst/>
          </a:prstGeom>
          <a:noFill/>
          <a:ln cap="flat" cmpd="sng" w="38100">
            <a:solidFill>
              <a:schemeClr val="accent6"/>
            </a:solidFill>
            <a:prstDash val="solid"/>
            <a:round/>
            <a:headEnd len="med" w="med" type="none"/>
            <a:tailEnd len="med" w="med" type="none"/>
          </a:ln>
        </p:spPr>
      </p:cxnSp>
      <p:cxnSp>
        <p:nvCxnSpPr>
          <p:cNvPr id="657" name="Google Shape;657;p58"/>
          <p:cNvCxnSpPr>
            <a:stCxn id="614" idx="0"/>
            <a:endCxn id="617" idx="0"/>
          </p:cNvCxnSpPr>
          <p:nvPr/>
        </p:nvCxnSpPr>
        <p:spPr>
          <a:xfrm flipH="1" rot="-5400000">
            <a:off x="12980698" y="3736750"/>
            <a:ext cx="600" cy="5256000"/>
          </a:xfrm>
          <a:prstGeom prst="bentConnector3">
            <a:avLst>
              <a:gd fmla="val -80983333" name="adj1"/>
            </a:avLst>
          </a:prstGeom>
          <a:noFill/>
          <a:ln cap="flat" cmpd="sng" w="38100">
            <a:solidFill>
              <a:schemeClr val="accent6"/>
            </a:solidFill>
            <a:prstDash val="solid"/>
            <a:round/>
            <a:headEnd len="med" w="med" type="oval"/>
            <a:tailEnd len="med" w="med" type="oval"/>
          </a:ln>
        </p:spPr>
      </p:cxnSp>
      <p:sp>
        <p:nvSpPr>
          <p:cNvPr id="658" name="Google Shape;658;p5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Storage files are organized into buckets</a:t>
            </a:r>
            <a:endParaRPr/>
          </a:p>
        </p:txBody>
      </p:sp>
      <p:sp>
        <p:nvSpPr>
          <p:cNvPr id="659" name="Google Shape;659;p58"/>
          <p:cNvSpPr txBox="1"/>
          <p:nvPr>
            <p:ph idx="1" type="body"/>
          </p:nvPr>
        </p:nvSpPr>
        <p:spPr>
          <a:xfrm>
            <a:off x="1742475" y="2432125"/>
            <a:ext cx="79128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Globally unique name</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Location (region, dual-region, or multi-region)</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Storage class</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IAM policies or access-control lists</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Object versioning setting</a:t>
            </a:r>
            <a:endParaRPr/>
          </a:p>
          <a:p>
            <a:pPr indent="0" lvl="0" marL="0" rtl="0" algn="l">
              <a:spcBef>
                <a:spcPts val="0"/>
              </a:spcBef>
              <a:spcAft>
                <a:spcPts val="0"/>
              </a:spcAft>
              <a:buNone/>
            </a:pPr>
            <a:r>
              <a:rPr lang="en"/>
              <a:t> </a:t>
            </a:r>
            <a:endParaRPr/>
          </a:p>
          <a:p>
            <a:pPr indent="-406400" lvl="0" marL="457200" rtl="0" algn="l">
              <a:spcBef>
                <a:spcPts val="0"/>
              </a:spcBef>
              <a:spcAft>
                <a:spcPts val="0"/>
              </a:spcAft>
              <a:buSzPts val="2800"/>
              <a:buChar char="●"/>
            </a:pPr>
            <a:r>
              <a:rPr lang="en"/>
              <a:t>Object lifecycle management rules</a:t>
            </a:r>
            <a:endParaRPr/>
          </a:p>
        </p:txBody>
      </p:sp>
      <p:sp>
        <p:nvSpPr>
          <p:cNvPr id="660" name="Google Shape;660;p5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59"/>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Options in the Cloud</a:t>
            </a:r>
            <a:endParaRPr/>
          </a:p>
          <a:p>
            <a:pPr indent="0" lvl="0" marL="0" rtl="0" algn="l">
              <a:spcBef>
                <a:spcPts val="2900"/>
              </a:spcBef>
              <a:spcAft>
                <a:spcPts val="0"/>
              </a:spcAft>
              <a:buNone/>
            </a:pPr>
            <a:r>
              <a:rPr lang="en"/>
              <a:t>Structured and Unstructured Storage in the Cloud</a:t>
            </a:r>
            <a:endParaRPr/>
          </a:p>
          <a:p>
            <a:pPr indent="0" lvl="0" marL="0" rtl="0" algn="l">
              <a:spcBef>
                <a:spcPts val="2900"/>
              </a:spcBef>
              <a:spcAft>
                <a:spcPts val="0"/>
              </a:spcAft>
              <a:buNone/>
            </a:pPr>
            <a:r>
              <a:rPr lang="en"/>
              <a:t>Unstructured Storage using Cloud Storage</a:t>
            </a:r>
            <a:endParaRPr/>
          </a:p>
          <a:p>
            <a:pPr indent="0" lvl="0" marL="0" rtl="0" algn="l">
              <a:spcBef>
                <a:spcPts val="2900"/>
              </a:spcBef>
              <a:spcAft>
                <a:spcPts val="0"/>
              </a:spcAft>
              <a:buNone/>
            </a:pPr>
            <a:r>
              <a:rPr lang="en">
                <a:solidFill>
                  <a:schemeClr val="accent2"/>
                </a:solidFill>
              </a:rPr>
              <a:t>Lab: Cloud Storage: Qwik Start - CLI/SDK</a:t>
            </a:r>
            <a:endParaRPr>
              <a:solidFill>
                <a:schemeClr val="accent2"/>
              </a:solidFill>
            </a:endParaRPr>
          </a:p>
          <a:p>
            <a:pPr indent="0" lvl="0" marL="0" rtl="0" algn="l">
              <a:spcBef>
                <a:spcPts val="2900"/>
              </a:spcBef>
              <a:spcAft>
                <a:spcPts val="2900"/>
              </a:spcAft>
              <a:buNone/>
            </a:pPr>
            <a:r>
              <a:rPr lang="en"/>
              <a:t>SQL Managed Services</a:t>
            </a:r>
            <a:endParaRPr/>
          </a:p>
        </p:txBody>
      </p:sp>
      <p:sp>
        <p:nvSpPr>
          <p:cNvPr id="666" name="Google Shape;666;p59"/>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67" name="Google Shape;667;p5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0"/>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Storage: Qwik Start - CLI/SDK</a:t>
            </a:r>
            <a:endParaRPr/>
          </a:p>
        </p:txBody>
      </p:sp>
      <p:sp>
        <p:nvSpPr>
          <p:cNvPr id="673" name="Google Shape;673;p60"/>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674" name="Google Shape;674;p60"/>
          <p:cNvSpPr txBox="1"/>
          <p:nvPr/>
        </p:nvSpPr>
        <p:spPr>
          <a:xfrm>
            <a:off x="1724150" y="6523925"/>
            <a:ext cx="6724200" cy="278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Create a storage bucket, upload objects, create folders and subfolders, and make objects publicly accessible using the Google Cloud command line.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675" name="Google Shape;675;p6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a:t>
            </a:r>
            <a:r>
              <a:rPr lang="en" sz="1600">
                <a:solidFill>
                  <a:srgbClr val="FFFFFF"/>
                </a:solidFill>
                <a:latin typeface="Google Sans"/>
                <a:ea typeface="Google Sans"/>
                <a:cs typeface="Google Sans"/>
                <a:sym typeface="Google Sans"/>
              </a:rPr>
              <a:t> 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6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681" name="Google Shape;681;p61"/>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U</a:t>
            </a:r>
            <a:r>
              <a:rPr lang="en" sz="3000"/>
              <a:t>pload an object to a bucket.</a:t>
            </a:r>
            <a:endParaRPr sz="3000"/>
          </a:p>
          <a:p>
            <a:pPr indent="0" lvl="0" marL="0" rtl="0" algn="l">
              <a:spcBef>
                <a:spcPts val="2900"/>
              </a:spcBef>
              <a:spcAft>
                <a:spcPts val="0"/>
              </a:spcAft>
              <a:buNone/>
            </a:pPr>
            <a:r>
              <a:rPr lang="en" sz="3000"/>
              <a:t>Download an object from a bucket.</a:t>
            </a:r>
            <a:endParaRPr sz="3000"/>
          </a:p>
          <a:p>
            <a:pPr indent="0" lvl="0" marL="0" rtl="0" algn="l">
              <a:spcBef>
                <a:spcPts val="2900"/>
              </a:spcBef>
              <a:spcAft>
                <a:spcPts val="0"/>
              </a:spcAft>
              <a:buNone/>
            </a:pPr>
            <a:r>
              <a:rPr lang="en" sz="3000"/>
              <a:t>Copy an object to a folder in the bucket.</a:t>
            </a:r>
            <a:endParaRPr sz="3000"/>
          </a:p>
          <a:p>
            <a:pPr indent="0" lvl="0" marL="0" rtl="0" algn="l">
              <a:spcBef>
                <a:spcPts val="2900"/>
              </a:spcBef>
              <a:spcAft>
                <a:spcPts val="0"/>
              </a:spcAft>
              <a:buNone/>
            </a:pPr>
            <a:r>
              <a:rPr lang="en" sz="3000"/>
              <a:t>List contents of a bucket or folder.</a:t>
            </a:r>
            <a:endParaRPr sz="3000"/>
          </a:p>
          <a:p>
            <a:pPr indent="0" lvl="0" marL="0" rtl="0" algn="l">
              <a:spcBef>
                <a:spcPts val="2900"/>
              </a:spcBef>
              <a:spcAft>
                <a:spcPts val="0"/>
              </a:spcAft>
              <a:buNone/>
            </a:pPr>
            <a:r>
              <a:rPr lang="en" sz="3000"/>
              <a:t>List details for an object.</a:t>
            </a:r>
            <a:endParaRPr sz="3000"/>
          </a:p>
          <a:p>
            <a:pPr indent="0" lvl="0" marL="0" rtl="0" algn="l">
              <a:spcBef>
                <a:spcPts val="2900"/>
              </a:spcBef>
              <a:spcAft>
                <a:spcPts val="2900"/>
              </a:spcAft>
              <a:buNone/>
            </a:pPr>
            <a:r>
              <a:rPr lang="en" sz="3000"/>
              <a:t>Make an object publicly accessible.</a:t>
            </a:r>
            <a:endParaRPr sz="3000"/>
          </a:p>
        </p:txBody>
      </p:sp>
      <p:pic>
        <p:nvPicPr>
          <p:cNvPr id="682" name="Google Shape;682;p61"/>
          <p:cNvPicPr preferRelativeResize="0"/>
          <p:nvPr/>
        </p:nvPicPr>
        <p:blipFill rotWithShape="1">
          <a:blip r:embed="rId3">
            <a:alphaModFix/>
          </a:blip>
          <a:srcRect b="0" l="0" r="0" t="0"/>
          <a:stretch/>
        </p:blipFill>
        <p:spPr>
          <a:xfrm>
            <a:off x="9451750" y="1854313"/>
            <a:ext cx="6996024" cy="6996024"/>
          </a:xfrm>
          <a:prstGeom prst="rect">
            <a:avLst/>
          </a:prstGeom>
          <a:noFill/>
          <a:ln>
            <a:noFill/>
          </a:ln>
        </p:spPr>
      </p:pic>
      <p:sp>
        <p:nvSpPr>
          <p:cNvPr id="683" name="Google Shape;683;p6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7" name="Shape 687"/>
        <p:cNvGrpSpPr/>
        <p:nvPr/>
      </p:nvGrpSpPr>
      <p:grpSpPr>
        <a:xfrm>
          <a:off x="0" y="0"/>
          <a:ext cx="0" cy="0"/>
          <a:chOff x="0" y="0"/>
          <a:chExt cx="0" cy="0"/>
        </a:xfrm>
      </p:grpSpPr>
      <p:sp>
        <p:nvSpPr>
          <p:cNvPr id="688" name="Google Shape;688;p62"/>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Storage: Qwik Start -</a:t>
            </a:r>
            <a:br>
              <a:rPr lang="en"/>
            </a:br>
            <a:r>
              <a:rPr lang="en"/>
              <a:t>Cloud Console (Alternative)</a:t>
            </a:r>
            <a:endParaRPr/>
          </a:p>
        </p:txBody>
      </p:sp>
      <p:sp>
        <p:nvSpPr>
          <p:cNvPr id="689" name="Google Shape;689;p62"/>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690" name="Google Shape;690;p62"/>
          <p:cNvSpPr txBox="1"/>
          <p:nvPr/>
        </p:nvSpPr>
        <p:spPr>
          <a:xfrm>
            <a:off x="1724150" y="6523925"/>
            <a:ext cx="6724200" cy="278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U</a:t>
            </a:r>
            <a:r>
              <a:rPr lang="en" sz="2500">
                <a:solidFill>
                  <a:schemeClr val="lt1"/>
                </a:solidFill>
                <a:latin typeface="Roboto"/>
                <a:ea typeface="Roboto"/>
                <a:cs typeface="Roboto"/>
                <a:sym typeface="Roboto"/>
              </a:rPr>
              <a:t>se the Cloud Console to create a storage bucket, then upload objects, create folders and subfolders, and make those objects publicly accessible.</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a:t>
            </a:r>
            <a:r>
              <a:rPr lang="en" sz="2500">
                <a:solidFill>
                  <a:schemeClr val="dk1"/>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sz="2000">
              <a:solidFill>
                <a:schemeClr val="lt1"/>
              </a:solidFill>
              <a:latin typeface="Roboto"/>
              <a:ea typeface="Roboto"/>
              <a:cs typeface="Roboto"/>
              <a:sym typeface="Roboto"/>
            </a:endParaRPr>
          </a:p>
        </p:txBody>
      </p:sp>
      <p:sp>
        <p:nvSpPr>
          <p:cNvPr id="691" name="Google Shape;691;p6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5" name="Shape 695"/>
        <p:cNvGrpSpPr/>
        <p:nvPr/>
      </p:nvGrpSpPr>
      <p:grpSpPr>
        <a:xfrm>
          <a:off x="0" y="0"/>
          <a:ext cx="0" cy="0"/>
          <a:chOff x="0" y="0"/>
          <a:chExt cx="0" cy="0"/>
        </a:xfrm>
      </p:grpSpPr>
      <p:sp>
        <p:nvSpPr>
          <p:cNvPr id="696" name="Google Shape;696;p6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697" name="Google Shape;697;p63"/>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storage bucket.</a:t>
            </a:r>
            <a:endParaRPr sz="3000"/>
          </a:p>
          <a:p>
            <a:pPr indent="0" lvl="0" marL="0" rtl="0" algn="l">
              <a:spcBef>
                <a:spcPts val="2900"/>
              </a:spcBef>
              <a:spcAft>
                <a:spcPts val="0"/>
              </a:spcAft>
              <a:buNone/>
            </a:pPr>
            <a:r>
              <a:rPr lang="en" sz="3000"/>
              <a:t>Upload an object to the bucket.</a:t>
            </a:r>
            <a:endParaRPr sz="3000"/>
          </a:p>
          <a:p>
            <a:pPr indent="0" lvl="0" marL="0" rtl="0" algn="l">
              <a:spcBef>
                <a:spcPts val="2900"/>
              </a:spcBef>
              <a:spcAft>
                <a:spcPts val="0"/>
              </a:spcAft>
              <a:buNone/>
            </a:pPr>
            <a:r>
              <a:rPr lang="en" sz="3000"/>
              <a:t>Make an object publicly accessible.</a:t>
            </a:r>
            <a:endParaRPr sz="3000"/>
          </a:p>
          <a:p>
            <a:pPr indent="0" lvl="0" marL="0" rtl="0" algn="l">
              <a:spcBef>
                <a:spcPts val="2900"/>
              </a:spcBef>
              <a:spcAft>
                <a:spcPts val="2900"/>
              </a:spcAft>
              <a:buNone/>
            </a:pPr>
            <a:r>
              <a:rPr lang="en" sz="3000"/>
              <a:t>C</a:t>
            </a:r>
            <a:r>
              <a:rPr lang="en" sz="3000"/>
              <a:t>r</a:t>
            </a:r>
            <a:r>
              <a:rPr lang="en" sz="3000"/>
              <a:t>eate and delete folders.</a:t>
            </a:r>
            <a:endParaRPr/>
          </a:p>
        </p:txBody>
      </p:sp>
      <p:sp>
        <p:nvSpPr>
          <p:cNvPr id="698" name="Google Shape;698;p6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699" name="Google Shape;699;p63"/>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Storage Options in the Cloud</a:t>
            </a:r>
            <a:endParaRPr/>
          </a:p>
          <a:p>
            <a:pPr indent="0" lvl="0" marL="0" rtl="0" algn="l">
              <a:spcBef>
                <a:spcPts val="2900"/>
              </a:spcBef>
              <a:spcAft>
                <a:spcPts val="0"/>
              </a:spcAft>
              <a:buNone/>
            </a:pPr>
            <a:r>
              <a:rPr lang="en"/>
              <a:t>Structured and Unstructured Storage in the Cloud</a:t>
            </a:r>
            <a:endParaRPr/>
          </a:p>
          <a:p>
            <a:pPr indent="0" lvl="0" marL="0" rtl="0" algn="l">
              <a:spcBef>
                <a:spcPts val="2900"/>
              </a:spcBef>
              <a:spcAft>
                <a:spcPts val="0"/>
              </a:spcAft>
              <a:buNone/>
            </a:pPr>
            <a:r>
              <a:rPr lang="en"/>
              <a:t>Unstructured Storage using Cloud Storage</a:t>
            </a:r>
            <a:endParaRPr/>
          </a:p>
          <a:p>
            <a:pPr indent="0" lvl="0" marL="0" rtl="0" algn="l">
              <a:spcBef>
                <a:spcPts val="2900"/>
              </a:spcBef>
              <a:spcAft>
                <a:spcPts val="0"/>
              </a:spcAft>
              <a:buNone/>
            </a:pPr>
            <a:r>
              <a:rPr lang="en"/>
              <a:t>Lab: Cloud Storage: Qwik Start - CLI/SDK</a:t>
            </a:r>
            <a:endParaRPr/>
          </a:p>
          <a:p>
            <a:pPr indent="0" lvl="0" marL="0" rtl="0" algn="l">
              <a:spcBef>
                <a:spcPts val="2900"/>
              </a:spcBef>
              <a:spcAft>
                <a:spcPts val="2900"/>
              </a:spcAft>
              <a:buNone/>
            </a:pPr>
            <a:r>
              <a:rPr lang="en">
                <a:solidFill>
                  <a:schemeClr val="accent2"/>
                </a:solidFill>
              </a:rPr>
              <a:t>SQL Managed Services</a:t>
            </a:r>
            <a:endParaRPr>
              <a:solidFill>
                <a:schemeClr val="accent2"/>
              </a:solidFill>
            </a:endParaRPr>
          </a:p>
        </p:txBody>
      </p:sp>
      <p:sp>
        <p:nvSpPr>
          <p:cNvPr id="705" name="Google Shape;705;p6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06" name="Google Shape;706;p6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5"/>
          <p:cNvSpPr txBox="1"/>
          <p:nvPr/>
        </p:nvSpPr>
        <p:spPr>
          <a:xfrm>
            <a:off x="1672475" y="2571425"/>
            <a:ext cx="7269900" cy="5430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800">
                <a:solidFill>
                  <a:schemeClr val="accent2"/>
                </a:solidFill>
                <a:latin typeface="Roboto"/>
                <a:ea typeface="Roboto"/>
                <a:cs typeface="Roboto"/>
                <a:sym typeface="Roboto"/>
              </a:rPr>
              <a:t>A collection of information organized so that it can easily be accessed and managed.</a:t>
            </a:r>
            <a:endParaRPr sz="2800">
              <a:solidFill>
                <a:schemeClr val="accent2"/>
              </a:solidFill>
              <a:latin typeface="Roboto"/>
              <a:ea typeface="Roboto"/>
              <a:cs typeface="Roboto"/>
              <a:sym typeface="Roboto"/>
            </a:endParaRPr>
          </a:p>
          <a:p>
            <a:pPr indent="0" lvl="0" marL="0" rtl="0" algn="l">
              <a:lnSpc>
                <a:spcPct val="115000"/>
              </a:lnSpc>
              <a:spcBef>
                <a:spcPts val="2400"/>
              </a:spcBef>
              <a:spcAft>
                <a:spcPts val="0"/>
              </a:spcAft>
              <a:buNone/>
            </a:pPr>
            <a:r>
              <a:rPr lang="en" sz="2800">
                <a:solidFill>
                  <a:schemeClr val="accent2"/>
                </a:solidFill>
                <a:latin typeface="Roboto"/>
                <a:ea typeface="Roboto"/>
                <a:cs typeface="Roboto"/>
                <a:sym typeface="Roboto"/>
              </a:rPr>
              <a:t>Computer applications run databases to get a fast answer to questions.</a:t>
            </a:r>
            <a:endParaRPr sz="2800">
              <a:solidFill>
                <a:schemeClr val="accent2"/>
              </a:solidFill>
              <a:latin typeface="Roboto"/>
              <a:ea typeface="Roboto"/>
              <a:cs typeface="Roboto"/>
              <a:sym typeface="Roboto"/>
            </a:endParaRPr>
          </a:p>
        </p:txBody>
      </p:sp>
      <p:pic>
        <p:nvPicPr>
          <p:cNvPr id="712" name="Google Shape;712;p65"/>
          <p:cNvPicPr preferRelativeResize="0"/>
          <p:nvPr/>
        </p:nvPicPr>
        <p:blipFill>
          <a:blip r:embed="rId3">
            <a:alphaModFix/>
          </a:blip>
          <a:stretch>
            <a:fillRect/>
          </a:stretch>
        </p:blipFill>
        <p:spPr>
          <a:xfrm>
            <a:off x="9099900" y="3443713"/>
            <a:ext cx="7230226" cy="3685725"/>
          </a:xfrm>
          <a:prstGeom prst="rect">
            <a:avLst/>
          </a:prstGeom>
          <a:noFill/>
          <a:ln>
            <a:noFill/>
          </a:ln>
        </p:spPr>
      </p:pic>
      <p:sp>
        <p:nvSpPr>
          <p:cNvPr id="713" name="Google Shape;713;p6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database and how is it used?</a:t>
            </a:r>
            <a:endParaRPr/>
          </a:p>
        </p:txBody>
      </p:sp>
      <p:sp>
        <p:nvSpPr>
          <p:cNvPr id="714" name="Google Shape;714;p6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pic>
        <p:nvPicPr>
          <p:cNvPr id="719" name="Google Shape;719;p66"/>
          <p:cNvPicPr preferRelativeResize="0"/>
          <p:nvPr/>
        </p:nvPicPr>
        <p:blipFill rotWithShape="1">
          <a:blip r:embed="rId3">
            <a:alphaModFix/>
          </a:blip>
          <a:srcRect b="0" l="12617" r="10257" t="0"/>
          <a:stretch/>
        </p:blipFill>
        <p:spPr>
          <a:xfrm>
            <a:off x="6075825" y="2192163"/>
            <a:ext cx="6136351" cy="3930225"/>
          </a:xfrm>
          <a:prstGeom prst="rect">
            <a:avLst/>
          </a:prstGeom>
          <a:noFill/>
          <a:ln>
            <a:noFill/>
          </a:ln>
        </p:spPr>
      </p:pic>
      <p:sp>
        <p:nvSpPr>
          <p:cNvPr id="720" name="Google Shape;720;p66"/>
          <p:cNvSpPr txBox="1"/>
          <p:nvPr/>
        </p:nvSpPr>
        <p:spPr>
          <a:xfrm>
            <a:off x="1676400" y="6248400"/>
            <a:ext cx="74067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Relational database management systems</a:t>
            </a:r>
            <a:endParaRPr sz="2800">
              <a:solidFill>
                <a:schemeClr val="lt1"/>
              </a:solidFill>
              <a:latin typeface="Roboto"/>
              <a:ea typeface="Roboto"/>
              <a:cs typeface="Roboto"/>
              <a:sym typeface="Roboto"/>
            </a:endParaRPr>
          </a:p>
          <a:p>
            <a:pPr indent="0" lvl="0" marL="0" rtl="0" algn="l">
              <a:spcBef>
                <a:spcPts val="1000"/>
              </a:spcBef>
              <a:spcAft>
                <a:spcPts val="0"/>
              </a:spcAft>
              <a:buNone/>
            </a:pPr>
            <a:r>
              <a:rPr lang="en" sz="2800">
                <a:solidFill>
                  <a:schemeClr val="lt1"/>
                </a:solidFill>
                <a:latin typeface="Roboto"/>
                <a:ea typeface="Roboto"/>
                <a:cs typeface="Roboto"/>
                <a:sym typeface="Roboto"/>
              </a:rPr>
              <a:t>= RDBMS</a:t>
            </a:r>
            <a:endParaRPr sz="2800">
              <a:solidFill>
                <a:schemeClr val="lt1"/>
              </a:solidFill>
              <a:latin typeface="Roboto"/>
              <a:ea typeface="Roboto"/>
              <a:cs typeface="Roboto"/>
              <a:sym typeface="Roboto"/>
            </a:endParaRPr>
          </a:p>
          <a:p>
            <a:pPr indent="0" lvl="0" marL="0" rtl="0" algn="l">
              <a:spcBef>
                <a:spcPts val="1000"/>
              </a:spcBef>
              <a:spcAft>
                <a:spcPts val="0"/>
              </a:spcAft>
              <a:buNone/>
            </a:pPr>
            <a:r>
              <a:rPr lang="en" sz="2800">
                <a:solidFill>
                  <a:schemeClr val="lt1"/>
                </a:solidFill>
                <a:latin typeface="Roboto"/>
                <a:ea typeface="Roboto"/>
                <a:cs typeface="Roboto"/>
                <a:sym typeface="Roboto"/>
              </a:rPr>
              <a:t>= relational databases</a:t>
            </a:r>
            <a:endParaRPr sz="2800">
              <a:solidFill>
                <a:schemeClr val="lt1"/>
              </a:solidFill>
              <a:latin typeface="Roboto"/>
              <a:ea typeface="Roboto"/>
              <a:cs typeface="Roboto"/>
              <a:sym typeface="Roboto"/>
            </a:endParaRPr>
          </a:p>
          <a:p>
            <a:pPr indent="0" lvl="0" marL="0" rtl="0" algn="l">
              <a:spcBef>
                <a:spcPts val="1000"/>
              </a:spcBef>
              <a:spcAft>
                <a:spcPts val="1000"/>
              </a:spcAft>
              <a:buNone/>
            </a:pPr>
            <a:r>
              <a:rPr lang="en" sz="2800">
                <a:solidFill>
                  <a:schemeClr val="lt1"/>
                </a:solidFill>
                <a:latin typeface="Roboto"/>
                <a:ea typeface="Roboto"/>
                <a:cs typeface="Roboto"/>
                <a:sym typeface="Roboto"/>
              </a:rPr>
              <a:t>= SQL databases</a:t>
            </a:r>
            <a:endParaRPr sz="2800">
              <a:solidFill>
                <a:schemeClr val="lt1"/>
              </a:solidFill>
              <a:latin typeface="Roboto"/>
              <a:ea typeface="Roboto"/>
              <a:cs typeface="Roboto"/>
              <a:sym typeface="Roboto"/>
            </a:endParaRPr>
          </a:p>
        </p:txBody>
      </p:sp>
      <p:sp>
        <p:nvSpPr>
          <p:cNvPr id="721" name="Google Shape;721;p66"/>
          <p:cNvSpPr txBox="1"/>
          <p:nvPr/>
        </p:nvSpPr>
        <p:spPr>
          <a:xfrm>
            <a:off x="9677400" y="6248400"/>
            <a:ext cx="6909600" cy="219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lt1"/>
                </a:solidFill>
                <a:latin typeface="Roboto"/>
                <a:ea typeface="Roboto"/>
                <a:cs typeface="Roboto"/>
                <a:sym typeface="Roboto"/>
              </a:rPr>
              <a:t>Suitable use cases:</a:t>
            </a:r>
            <a:endParaRPr sz="2800">
              <a:solidFill>
                <a:schemeClr val="lt1"/>
              </a:solidFill>
              <a:latin typeface="Roboto"/>
              <a:ea typeface="Roboto"/>
              <a:cs typeface="Roboto"/>
              <a:sym typeface="Roboto"/>
            </a:endParaRPr>
          </a:p>
          <a:p>
            <a:pPr indent="-406400" lvl="0" marL="457200" rtl="0" algn="l">
              <a:lnSpc>
                <a:spcPct val="115000"/>
              </a:lnSpc>
              <a:spcBef>
                <a:spcPts val="1000"/>
              </a:spcBef>
              <a:spcAft>
                <a:spcPts val="0"/>
              </a:spcAft>
              <a:buClr>
                <a:schemeClr val="lt1"/>
              </a:buClr>
              <a:buSzPts val="2800"/>
              <a:buFont typeface="Roboto"/>
              <a:buChar char="●"/>
            </a:pPr>
            <a:r>
              <a:rPr lang="en" sz="2800">
                <a:solidFill>
                  <a:schemeClr val="lt1"/>
                </a:solidFill>
                <a:latin typeface="Roboto"/>
                <a:ea typeface="Roboto"/>
                <a:cs typeface="Roboto"/>
                <a:sym typeface="Roboto"/>
              </a:rPr>
              <a:t>Have a well-structured data model.</a:t>
            </a:r>
            <a:endParaRPr sz="2800">
              <a:solidFill>
                <a:schemeClr val="lt1"/>
              </a:solidFill>
              <a:latin typeface="Roboto"/>
              <a:ea typeface="Roboto"/>
              <a:cs typeface="Roboto"/>
              <a:sym typeface="Roboto"/>
            </a:endParaRPr>
          </a:p>
          <a:p>
            <a:pPr indent="-406400" lvl="0" marL="457200" rtl="0" algn="l">
              <a:lnSpc>
                <a:spcPct val="115000"/>
              </a:lnSpc>
              <a:spcBef>
                <a:spcPts val="0"/>
              </a:spcBef>
              <a:spcAft>
                <a:spcPts val="0"/>
              </a:spcAft>
              <a:buClr>
                <a:schemeClr val="lt1"/>
              </a:buClr>
              <a:buSzPts val="2800"/>
              <a:buFont typeface="Roboto"/>
              <a:buChar char="●"/>
            </a:pPr>
            <a:r>
              <a:rPr lang="en" sz="2800">
                <a:solidFill>
                  <a:schemeClr val="lt1"/>
                </a:solidFill>
                <a:latin typeface="Roboto"/>
                <a:ea typeface="Roboto"/>
                <a:cs typeface="Roboto"/>
                <a:sym typeface="Roboto"/>
              </a:rPr>
              <a:t>Need transactions.</a:t>
            </a:r>
            <a:endParaRPr sz="2800">
              <a:solidFill>
                <a:schemeClr val="lt1"/>
              </a:solidFill>
              <a:latin typeface="Roboto"/>
              <a:ea typeface="Roboto"/>
              <a:cs typeface="Roboto"/>
              <a:sym typeface="Roboto"/>
            </a:endParaRPr>
          </a:p>
          <a:p>
            <a:pPr indent="-406400" lvl="0" marL="457200" rtl="0" algn="l">
              <a:lnSpc>
                <a:spcPct val="115000"/>
              </a:lnSpc>
              <a:spcBef>
                <a:spcPts val="0"/>
              </a:spcBef>
              <a:spcAft>
                <a:spcPts val="0"/>
              </a:spcAft>
              <a:buClr>
                <a:schemeClr val="lt1"/>
              </a:buClr>
              <a:buSzPts val="2800"/>
              <a:buFont typeface="Roboto"/>
              <a:buChar char="●"/>
            </a:pPr>
            <a:r>
              <a:rPr lang="en" sz="2800">
                <a:solidFill>
                  <a:schemeClr val="lt1"/>
                </a:solidFill>
                <a:latin typeface="Roboto"/>
                <a:ea typeface="Roboto"/>
                <a:cs typeface="Roboto"/>
                <a:sym typeface="Roboto"/>
              </a:rPr>
              <a:t>Ability to join data across tables to retrieve complex data combinations.</a:t>
            </a:r>
            <a:endParaRPr sz="2800">
              <a:solidFill>
                <a:schemeClr val="lt1"/>
              </a:solidFill>
              <a:latin typeface="Roboto"/>
              <a:ea typeface="Roboto"/>
              <a:cs typeface="Roboto"/>
              <a:sym typeface="Roboto"/>
            </a:endParaRPr>
          </a:p>
        </p:txBody>
      </p:sp>
      <p:sp>
        <p:nvSpPr>
          <p:cNvPr id="722" name="Google Shape;722;p6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Relational databases are the most common</a:t>
            </a:r>
            <a:endParaRPr/>
          </a:p>
        </p:txBody>
      </p:sp>
      <p:sp>
        <p:nvSpPr>
          <p:cNvPr id="723" name="Google Shape;723;p6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67"/>
          <p:cNvPicPr preferRelativeResize="0"/>
          <p:nvPr/>
        </p:nvPicPr>
        <p:blipFill>
          <a:blip r:embed="rId3">
            <a:alphaModFix/>
          </a:blip>
          <a:stretch>
            <a:fillRect/>
          </a:stretch>
        </p:blipFill>
        <p:spPr>
          <a:xfrm>
            <a:off x="4079225" y="2527975"/>
            <a:ext cx="2438400" cy="2438400"/>
          </a:xfrm>
          <a:prstGeom prst="rect">
            <a:avLst/>
          </a:prstGeom>
          <a:noFill/>
          <a:ln>
            <a:noFill/>
          </a:ln>
        </p:spPr>
      </p:pic>
      <p:pic>
        <p:nvPicPr>
          <p:cNvPr id="729" name="Google Shape;729;p67"/>
          <p:cNvPicPr preferRelativeResize="0"/>
          <p:nvPr/>
        </p:nvPicPr>
        <p:blipFill>
          <a:blip r:embed="rId4">
            <a:alphaModFix/>
          </a:blip>
          <a:stretch>
            <a:fillRect/>
          </a:stretch>
        </p:blipFill>
        <p:spPr>
          <a:xfrm>
            <a:off x="12073700" y="2527975"/>
            <a:ext cx="2438400" cy="2438400"/>
          </a:xfrm>
          <a:prstGeom prst="rect">
            <a:avLst/>
          </a:prstGeom>
          <a:noFill/>
          <a:ln>
            <a:noFill/>
          </a:ln>
        </p:spPr>
      </p:pic>
      <p:cxnSp>
        <p:nvCxnSpPr>
          <p:cNvPr id="730" name="Google Shape;730;p67"/>
          <p:cNvCxnSpPr/>
          <p:nvPr/>
        </p:nvCxnSpPr>
        <p:spPr>
          <a:xfrm flipH="1" rot="10800000">
            <a:off x="8992175" y="2822900"/>
            <a:ext cx="4500" cy="6678000"/>
          </a:xfrm>
          <a:prstGeom prst="straightConnector1">
            <a:avLst/>
          </a:prstGeom>
          <a:noFill/>
          <a:ln cap="flat" cmpd="sng" w="9525">
            <a:solidFill>
              <a:schemeClr val="accent2"/>
            </a:solidFill>
            <a:prstDash val="dot"/>
            <a:round/>
            <a:headEnd len="med" w="med" type="none"/>
            <a:tailEnd len="med" w="med" type="none"/>
          </a:ln>
        </p:spPr>
      </p:cxnSp>
      <p:sp>
        <p:nvSpPr>
          <p:cNvPr id="731" name="Google Shape;731;p6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Options for SQL-based managed services</a:t>
            </a:r>
            <a:endParaRPr/>
          </a:p>
        </p:txBody>
      </p:sp>
      <p:sp>
        <p:nvSpPr>
          <p:cNvPr id="732" name="Google Shape;732;p67"/>
          <p:cNvSpPr txBox="1"/>
          <p:nvPr>
            <p:ph idx="1" type="body"/>
          </p:nvPr>
        </p:nvSpPr>
        <p:spPr>
          <a:xfrm>
            <a:off x="1672475" y="4966375"/>
            <a:ext cx="7251900" cy="416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accent2"/>
                </a:solidFill>
                <a:latin typeface="Google Sans"/>
                <a:ea typeface="Google Sans"/>
                <a:cs typeface="Google Sans"/>
                <a:sym typeface="Google Sans"/>
              </a:rPr>
              <a:t>Cloud SQL</a:t>
            </a:r>
            <a:endParaRPr sz="3500">
              <a:solidFill>
                <a:schemeClr val="accent2"/>
              </a:solidFill>
              <a:latin typeface="Google Sans"/>
              <a:ea typeface="Google Sans"/>
              <a:cs typeface="Google Sans"/>
              <a:sym typeface="Google Sans"/>
            </a:endParaRPr>
          </a:p>
          <a:p>
            <a:pPr indent="0" lvl="0" marL="0" rtl="0" algn="l">
              <a:spcBef>
                <a:spcPts val="2000"/>
              </a:spcBef>
              <a:spcAft>
                <a:spcPts val="0"/>
              </a:spcAft>
              <a:buNone/>
            </a:pPr>
            <a:r>
              <a:rPr lang="en"/>
              <a:t>MySQL, PostgreSQL, and SQL Server databases as a service</a:t>
            </a:r>
            <a:endParaRPr/>
          </a:p>
          <a:p>
            <a:pPr indent="-406400" lvl="0" marL="457200" rtl="0" algn="l">
              <a:spcBef>
                <a:spcPts val="1000"/>
              </a:spcBef>
              <a:spcAft>
                <a:spcPts val="0"/>
              </a:spcAft>
              <a:buSzPts val="2800"/>
              <a:buChar char="●"/>
            </a:pPr>
            <a:r>
              <a:rPr lang="en"/>
              <a:t> Automatic replication</a:t>
            </a:r>
            <a:endParaRPr/>
          </a:p>
          <a:p>
            <a:pPr indent="-406400" lvl="0" marL="457200" rtl="0" algn="l">
              <a:spcBef>
                <a:spcPts val="1000"/>
              </a:spcBef>
              <a:spcAft>
                <a:spcPts val="0"/>
              </a:spcAft>
              <a:buSzPts val="2800"/>
              <a:buChar char="●"/>
            </a:pPr>
            <a:r>
              <a:rPr lang="en"/>
              <a:t> Managed backups</a:t>
            </a:r>
            <a:endParaRPr/>
          </a:p>
          <a:p>
            <a:pPr indent="-406400" lvl="0" marL="457200" rtl="0" algn="l">
              <a:spcBef>
                <a:spcPts val="1000"/>
              </a:spcBef>
              <a:spcAft>
                <a:spcPts val="0"/>
              </a:spcAft>
              <a:buSzPts val="2800"/>
              <a:buChar char="●"/>
            </a:pPr>
            <a:r>
              <a:rPr lang="en"/>
              <a:t> Vertical scaling (read and write)</a:t>
            </a:r>
            <a:endParaRPr/>
          </a:p>
          <a:p>
            <a:pPr indent="-406400" lvl="0" marL="457200" rtl="0" algn="l">
              <a:spcBef>
                <a:spcPts val="1000"/>
              </a:spcBef>
              <a:spcAft>
                <a:spcPts val="1000"/>
              </a:spcAft>
              <a:buSzPts val="2800"/>
              <a:buChar char="●"/>
            </a:pPr>
            <a:r>
              <a:rPr lang="en"/>
              <a:t> Horizontal scaling (read)</a:t>
            </a:r>
            <a:endParaRPr sz="3200"/>
          </a:p>
        </p:txBody>
      </p:sp>
      <p:sp>
        <p:nvSpPr>
          <p:cNvPr id="733" name="Google Shape;733;p67"/>
          <p:cNvSpPr txBox="1"/>
          <p:nvPr>
            <p:ph idx="1" type="body"/>
          </p:nvPr>
        </p:nvSpPr>
        <p:spPr>
          <a:xfrm>
            <a:off x="9666950" y="4966375"/>
            <a:ext cx="7251900" cy="416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solidFill>
                  <a:schemeClr val="accent2"/>
                </a:solidFill>
                <a:latin typeface="Google Sans"/>
                <a:ea typeface="Google Sans"/>
                <a:cs typeface="Google Sans"/>
                <a:sym typeface="Google Sans"/>
              </a:rPr>
              <a:t>Cloud Spanner</a:t>
            </a:r>
            <a:endParaRPr sz="3500">
              <a:solidFill>
                <a:schemeClr val="accent2"/>
              </a:solidFill>
              <a:latin typeface="Google Sans"/>
              <a:ea typeface="Google Sans"/>
              <a:cs typeface="Google Sans"/>
              <a:sym typeface="Google Sans"/>
            </a:endParaRPr>
          </a:p>
          <a:p>
            <a:pPr indent="-406400" lvl="0" marL="457200" rtl="0" algn="l">
              <a:spcBef>
                <a:spcPts val="2000"/>
              </a:spcBef>
              <a:spcAft>
                <a:spcPts val="0"/>
              </a:spcAft>
              <a:buClr>
                <a:srgbClr val="434343"/>
              </a:buClr>
              <a:buSzPts val="2800"/>
              <a:buChar char="●"/>
            </a:pPr>
            <a:r>
              <a:rPr lang="en">
                <a:solidFill>
                  <a:srgbClr val="434343"/>
                </a:solidFill>
              </a:rPr>
              <a:t>Automatic replication</a:t>
            </a:r>
            <a:endParaRPr>
              <a:solidFill>
                <a:srgbClr val="434343"/>
              </a:solidFill>
            </a:endParaRPr>
          </a:p>
          <a:p>
            <a:pPr indent="-406400" lvl="0" marL="457200" rtl="0" algn="l">
              <a:spcBef>
                <a:spcPts val="1000"/>
              </a:spcBef>
              <a:spcAft>
                <a:spcPts val="0"/>
              </a:spcAft>
              <a:buClr>
                <a:srgbClr val="434343"/>
              </a:buClr>
              <a:buSzPts val="2800"/>
              <a:buChar char="●"/>
            </a:pPr>
            <a:r>
              <a:rPr lang="en">
                <a:solidFill>
                  <a:srgbClr val="434343"/>
                </a:solidFill>
              </a:rPr>
              <a:t>Strong global consistency</a:t>
            </a:r>
            <a:endParaRPr>
              <a:solidFill>
                <a:srgbClr val="434343"/>
              </a:solidFill>
            </a:endParaRPr>
          </a:p>
          <a:p>
            <a:pPr indent="-406400" lvl="0" marL="457200" rtl="0" algn="l">
              <a:spcBef>
                <a:spcPts val="1000"/>
              </a:spcBef>
              <a:spcAft>
                <a:spcPts val="0"/>
              </a:spcAft>
              <a:buClr>
                <a:srgbClr val="434343"/>
              </a:buClr>
              <a:buSzPts val="2800"/>
              <a:buChar char="●"/>
            </a:pPr>
            <a:r>
              <a:rPr lang="en">
                <a:solidFill>
                  <a:srgbClr val="434343"/>
                </a:solidFill>
              </a:rPr>
              <a:t>Managed instances with high availability</a:t>
            </a:r>
            <a:endParaRPr>
              <a:solidFill>
                <a:srgbClr val="434343"/>
              </a:solidFill>
            </a:endParaRPr>
          </a:p>
          <a:p>
            <a:pPr indent="-406400" lvl="0" marL="457200" rtl="0" algn="l">
              <a:spcBef>
                <a:spcPts val="1000"/>
              </a:spcBef>
              <a:spcAft>
                <a:spcPts val="1000"/>
              </a:spcAft>
              <a:buClr>
                <a:srgbClr val="434343"/>
              </a:buClr>
              <a:buSzPts val="2800"/>
              <a:buChar char="●"/>
            </a:pPr>
            <a:r>
              <a:rPr lang="en">
                <a:solidFill>
                  <a:srgbClr val="434343"/>
                </a:solidFill>
              </a:rPr>
              <a:t>SQL (ANSI SQL 2011 with extensions)</a:t>
            </a:r>
            <a:endParaRPr/>
          </a:p>
        </p:txBody>
      </p:sp>
      <p:sp>
        <p:nvSpPr>
          <p:cNvPr id="734" name="Google Shape;734;p6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68"/>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Exploring Cloud SQL</a:t>
            </a:r>
            <a:endParaRPr>
              <a:solidFill>
                <a:schemeClr val="accent2"/>
              </a:solidFill>
            </a:endParaRPr>
          </a:p>
          <a:p>
            <a:pPr indent="0" lvl="0" marL="0" rtl="0" algn="l">
              <a:spcBef>
                <a:spcPts val="2900"/>
              </a:spcBef>
              <a:spcAft>
                <a:spcPts val="0"/>
              </a:spcAft>
              <a:buNone/>
            </a:pPr>
            <a:r>
              <a:rPr lang="en"/>
              <a:t>Lab: Cloud SQL for MySQL: Qwik Start</a:t>
            </a:r>
            <a:endParaRPr/>
          </a:p>
          <a:p>
            <a:pPr indent="0" lvl="0" marL="0" rtl="0" algn="l">
              <a:spcBef>
                <a:spcPts val="2900"/>
              </a:spcBef>
              <a:spcAft>
                <a:spcPts val="0"/>
              </a:spcAft>
              <a:buNone/>
            </a:pPr>
            <a:r>
              <a:rPr lang="en"/>
              <a:t>Cloud Spanner as a Managed Service</a:t>
            </a:r>
            <a:endParaRPr/>
          </a:p>
          <a:p>
            <a:pPr indent="0" lvl="0" marL="0" rtl="0" algn="l">
              <a:spcBef>
                <a:spcPts val="2900"/>
              </a:spcBef>
              <a:spcAft>
                <a:spcPts val="0"/>
              </a:spcAft>
              <a:buNone/>
            </a:pPr>
            <a:r>
              <a:rPr lang="en"/>
              <a:t>NoSQL Managed Services Options</a:t>
            </a:r>
            <a:endParaRPr/>
          </a:p>
          <a:p>
            <a:pPr indent="0" lvl="0" marL="0" rtl="0" algn="l">
              <a:spcBef>
                <a:spcPts val="2900"/>
              </a:spcBef>
              <a:spcAft>
                <a:spcPts val="2900"/>
              </a:spcAft>
              <a:buNone/>
            </a:pPr>
            <a:r>
              <a:rPr lang="en"/>
              <a:t>Datastore, a NoSQL Document Store</a:t>
            </a:r>
            <a:endParaRPr/>
          </a:p>
        </p:txBody>
      </p:sp>
      <p:sp>
        <p:nvSpPr>
          <p:cNvPr id="740" name="Google Shape;740;p68"/>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741" name="Google Shape;741;p6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9"/>
          <p:cNvSpPr/>
          <p:nvPr/>
        </p:nvSpPr>
        <p:spPr>
          <a:xfrm>
            <a:off x="1863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747" name="Google Shape;747;p69"/>
          <p:cNvSpPr/>
          <p:nvPr/>
        </p:nvSpPr>
        <p:spPr>
          <a:xfrm>
            <a:off x="109385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748" name="Google Shape;748;p69"/>
          <p:cNvSpPr/>
          <p:nvPr/>
        </p:nvSpPr>
        <p:spPr>
          <a:xfrm>
            <a:off x="139103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749" name="Google Shape;749;p69"/>
          <p:cNvSpPr/>
          <p:nvPr/>
        </p:nvSpPr>
        <p:spPr>
          <a:xfrm>
            <a:off x="1828800" y="3374275"/>
            <a:ext cx="2095500" cy="4797000"/>
          </a:xfrm>
          <a:prstGeom prst="roundRect">
            <a:avLst>
              <a:gd fmla="val 7451"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0" name="Google Shape;750;p69"/>
          <p:cNvGrpSpPr/>
          <p:nvPr/>
        </p:nvGrpSpPr>
        <p:grpSpPr>
          <a:xfrm>
            <a:off x="11003082" y="4938940"/>
            <a:ext cx="2431200" cy="2518982"/>
            <a:chOff x="2584781" y="5677577"/>
            <a:chExt cx="2431200" cy="2518982"/>
          </a:xfrm>
        </p:grpSpPr>
        <p:pic>
          <p:nvPicPr>
            <p:cNvPr id="751" name="Google Shape;751;p69"/>
            <p:cNvPicPr preferRelativeResize="0"/>
            <p:nvPr/>
          </p:nvPicPr>
          <p:blipFill rotWithShape="1">
            <a:blip r:embed="rId3">
              <a:alphaModFix/>
            </a:blip>
            <a:srcRect b="1662" l="0" r="0" t="1672"/>
            <a:stretch/>
          </p:blipFill>
          <p:spPr>
            <a:xfrm>
              <a:off x="2824230" y="5677577"/>
              <a:ext cx="1952307" cy="1887159"/>
            </a:xfrm>
            <a:prstGeom prst="rect">
              <a:avLst/>
            </a:prstGeom>
            <a:noFill/>
            <a:ln>
              <a:noFill/>
            </a:ln>
          </p:spPr>
        </p:pic>
        <p:sp>
          <p:nvSpPr>
            <p:cNvPr id="752" name="Google Shape;752;p69"/>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grpSp>
      <p:grpSp>
        <p:nvGrpSpPr>
          <p:cNvPr id="753" name="Google Shape;753;p69"/>
          <p:cNvGrpSpPr/>
          <p:nvPr/>
        </p:nvGrpSpPr>
        <p:grpSpPr>
          <a:xfrm>
            <a:off x="1674558" y="4915594"/>
            <a:ext cx="4492777" cy="2575185"/>
            <a:chOff x="1598358" y="5677594"/>
            <a:chExt cx="4492777" cy="2575185"/>
          </a:xfrm>
        </p:grpSpPr>
        <p:grpSp>
          <p:nvGrpSpPr>
            <p:cNvPr id="754" name="Google Shape;754;p69"/>
            <p:cNvGrpSpPr/>
            <p:nvPr/>
          </p:nvGrpSpPr>
          <p:grpSpPr>
            <a:xfrm>
              <a:off x="3659935" y="5677594"/>
              <a:ext cx="2431200" cy="2565645"/>
              <a:chOff x="7258661" y="5677594"/>
              <a:chExt cx="2431200" cy="2565645"/>
            </a:xfrm>
          </p:grpSpPr>
          <p:sp>
            <p:nvSpPr>
              <p:cNvPr id="755" name="Google Shape;755;p69"/>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pic>
            <p:nvPicPr>
              <p:cNvPr id="756" name="Google Shape;756;p69"/>
              <p:cNvPicPr preferRelativeResize="0"/>
              <p:nvPr/>
            </p:nvPicPr>
            <p:blipFill rotWithShape="1">
              <a:blip r:embed="rId4">
                <a:alphaModFix/>
              </a:blip>
              <a:srcRect b="1162" l="0" r="0" t="1152"/>
              <a:stretch/>
            </p:blipFill>
            <p:spPr>
              <a:xfrm>
                <a:off x="7495703" y="5677594"/>
                <a:ext cx="1957121" cy="1911883"/>
              </a:xfrm>
              <a:prstGeom prst="rect">
                <a:avLst/>
              </a:prstGeom>
              <a:noFill/>
              <a:ln>
                <a:noFill/>
              </a:ln>
            </p:spPr>
          </p:pic>
        </p:grpSp>
        <p:pic>
          <p:nvPicPr>
            <p:cNvPr id="757" name="Google Shape;757;p69"/>
            <p:cNvPicPr preferRelativeResize="0"/>
            <p:nvPr/>
          </p:nvPicPr>
          <p:blipFill rotWithShape="1">
            <a:blip r:embed="rId5">
              <a:alphaModFix/>
            </a:blip>
            <a:srcRect b="6201" l="0" r="0" t="6201"/>
            <a:stretch/>
          </p:blipFill>
          <p:spPr>
            <a:xfrm>
              <a:off x="1837797" y="5778045"/>
              <a:ext cx="1952327" cy="1710225"/>
            </a:xfrm>
            <a:prstGeom prst="rect">
              <a:avLst/>
            </a:prstGeom>
            <a:noFill/>
            <a:ln>
              <a:noFill/>
            </a:ln>
          </p:spPr>
        </p:pic>
        <p:sp>
          <p:nvSpPr>
            <p:cNvPr id="758" name="Google Shape;758;p69"/>
            <p:cNvSpPr txBox="1"/>
            <p:nvPr/>
          </p:nvSpPr>
          <p:spPr>
            <a:xfrm>
              <a:off x="15983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SQL</a:t>
              </a:r>
              <a:endParaRPr sz="2800">
                <a:solidFill>
                  <a:schemeClr val="lt1"/>
                </a:solidFill>
                <a:latin typeface="Google Sans"/>
                <a:ea typeface="Google Sans"/>
                <a:cs typeface="Google Sans"/>
                <a:sym typeface="Google Sans"/>
              </a:endParaRPr>
            </a:p>
          </p:txBody>
        </p:sp>
      </p:grpSp>
      <p:grpSp>
        <p:nvGrpSpPr>
          <p:cNvPr id="759" name="Google Shape;759;p69"/>
          <p:cNvGrpSpPr/>
          <p:nvPr/>
        </p:nvGrpSpPr>
        <p:grpSpPr>
          <a:xfrm>
            <a:off x="6254912" y="5016045"/>
            <a:ext cx="4492777" cy="2499172"/>
            <a:chOff x="6407312" y="5778045"/>
            <a:chExt cx="4492777" cy="2499172"/>
          </a:xfrm>
        </p:grpSpPr>
        <p:grpSp>
          <p:nvGrpSpPr>
            <p:cNvPr id="760" name="Google Shape;760;p69"/>
            <p:cNvGrpSpPr/>
            <p:nvPr/>
          </p:nvGrpSpPr>
          <p:grpSpPr>
            <a:xfrm>
              <a:off x="8468889" y="5778045"/>
              <a:ext cx="2431200" cy="2474735"/>
              <a:chOff x="11897889" y="5778045"/>
              <a:chExt cx="2431200" cy="2474735"/>
            </a:xfrm>
          </p:grpSpPr>
          <p:pic>
            <p:nvPicPr>
              <p:cNvPr id="761" name="Google Shape;761;p69"/>
              <p:cNvPicPr preferRelativeResize="0"/>
              <p:nvPr/>
            </p:nvPicPr>
            <p:blipFill rotWithShape="1">
              <a:blip r:embed="rId6">
                <a:alphaModFix/>
              </a:blip>
              <a:srcRect b="7029" l="0" r="0" t="7029"/>
              <a:stretch/>
            </p:blipFill>
            <p:spPr>
              <a:xfrm>
                <a:off x="12134931" y="5778045"/>
                <a:ext cx="1957121" cy="1681882"/>
              </a:xfrm>
              <a:prstGeom prst="rect">
                <a:avLst/>
              </a:prstGeom>
              <a:noFill/>
              <a:ln>
                <a:noFill/>
              </a:ln>
            </p:spPr>
          </p:pic>
          <p:sp>
            <p:nvSpPr>
              <p:cNvPr id="762" name="Google Shape;762;p69"/>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rgbClr val="202124"/>
                    </a:solidFill>
                    <a:latin typeface="Google Sans"/>
                    <a:ea typeface="Google Sans"/>
                    <a:cs typeface="Google Sans"/>
                    <a:sym typeface="Google Sans"/>
                  </a:rPr>
                  <a:t>Cloud Bigtable</a:t>
                </a:r>
                <a:endParaRPr sz="2800">
                  <a:solidFill>
                    <a:srgbClr val="202124"/>
                  </a:solidFill>
                  <a:latin typeface="Google Sans"/>
                  <a:ea typeface="Google Sans"/>
                  <a:cs typeface="Google Sans"/>
                  <a:sym typeface="Google Sans"/>
                </a:endParaRPr>
              </a:p>
            </p:txBody>
          </p:sp>
        </p:grpSp>
        <p:sp>
          <p:nvSpPr>
            <p:cNvPr id="763" name="Google Shape;763;p69"/>
            <p:cNvSpPr txBox="1"/>
            <p:nvPr/>
          </p:nvSpPr>
          <p:spPr>
            <a:xfrm>
              <a:off x="6407312" y="7552417"/>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pic>
          <p:nvPicPr>
            <p:cNvPr id="764" name="Google Shape;764;p69"/>
            <p:cNvPicPr preferRelativeResize="0"/>
            <p:nvPr/>
          </p:nvPicPr>
          <p:blipFill rotWithShape="1">
            <a:blip r:embed="rId7">
              <a:alphaModFix/>
            </a:blip>
            <a:srcRect b="5689" l="0" r="0" t="5681"/>
            <a:stretch/>
          </p:blipFill>
          <p:spPr>
            <a:xfrm>
              <a:off x="6644410" y="5778054"/>
              <a:ext cx="1956900" cy="1734600"/>
            </a:xfrm>
            <a:prstGeom prst="rect">
              <a:avLst/>
            </a:prstGeom>
            <a:noFill/>
            <a:ln>
              <a:noFill/>
            </a:ln>
          </p:spPr>
        </p:pic>
      </p:grpSp>
      <p:pic>
        <p:nvPicPr>
          <p:cNvPr id="765" name="Google Shape;765;p69"/>
          <p:cNvPicPr preferRelativeResize="0"/>
          <p:nvPr/>
        </p:nvPicPr>
        <p:blipFill rotWithShape="1">
          <a:blip r:embed="rId8">
            <a:alphaModFix/>
          </a:blip>
          <a:srcRect b="1662" l="0" r="0" t="1672"/>
          <a:stretch/>
        </p:blipFill>
        <p:spPr>
          <a:xfrm>
            <a:off x="14225446" y="4938940"/>
            <a:ext cx="1952307" cy="1887159"/>
          </a:xfrm>
          <a:prstGeom prst="rect">
            <a:avLst/>
          </a:prstGeom>
          <a:noFill/>
          <a:ln>
            <a:noFill/>
          </a:ln>
        </p:spPr>
      </p:pic>
      <p:sp>
        <p:nvSpPr>
          <p:cNvPr id="766" name="Google Shape;766;p69"/>
          <p:cNvSpPr txBox="1"/>
          <p:nvPr/>
        </p:nvSpPr>
        <p:spPr>
          <a:xfrm>
            <a:off x="13986000"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BigQuery</a:t>
            </a:r>
            <a:endParaRPr sz="2800">
              <a:solidFill>
                <a:schemeClr val="lt1"/>
              </a:solidFill>
              <a:latin typeface="Google Sans"/>
              <a:ea typeface="Google Sans"/>
              <a:cs typeface="Google Sans"/>
              <a:sym typeface="Google Sans"/>
            </a:endParaRPr>
          </a:p>
        </p:txBody>
      </p:sp>
      <p:sp>
        <p:nvSpPr>
          <p:cNvPr id="767" name="Google Shape;767;p69"/>
          <p:cNvSpPr/>
          <p:nvPr/>
        </p:nvSpPr>
        <p:spPr>
          <a:xfrm>
            <a:off x="1863546" y="3998475"/>
            <a:ext cx="4114800" cy="8025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Relational</a:t>
            </a:r>
            <a:endParaRPr sz="3000">
              <a:solidFill>
                <a:srgbClr val="FFFFFF"/>
              </a:solidFill>
              <a:latin typeface="Roboto"/>
              <a:ea typeface="Roboto"/>
              <a:cs typeface="Roboto"/>
              <a:sym typeface="Roboto"/>
            </a:endParaRPr>
          </a:p>
        </p:txBody>
      </p:sp>
      <p:sp>
        <p:nvSpPr>
          <p:cNvPr id="768" name="Google Shape;768;p69"/>
          <p:cNvSpPr/>
          <p:nvPr/>
        </p:nvSpPr>
        <p:spPr>
          <a:xfrm>
            <a:off x="6401064" y="3998475"/>
            <a:ext cx="4114800" cy="802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Non-relational</a:t>
            </a:r>
            <a:endParaRPr sz="3000">
              <a:solidFill>
                <a:srgbClr val="FFFFFF"/>
              </a:solidFill>
              <a:latin typeface="Roboto"/>
              <a:ea typeface="Roboto"/>
              <a:cs typeface="Roboto"/>
              <a:sym typeface="Roboto"/>
            </a:endParaRPr>
          </a:p>
        </p:txBody>
      </p:sp>
      <p:sp>
        <p:nvSpPr>
          <p:cNvPr id="769" name="Google Shape;769;p69"/>
          <p:cNvSpPr/>
          <p:nvPr/>
        </p:nvSpPr>
        <p:spPr>
          <a:xfrm>
            <a:off x="10938582" y="3998475"/>
            <a:ext cx="2560200" cy="8025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Object</a:t>
            </a:r>
            <a:endParaRPr sz="3000">
              <a:solidFill>
                <a:srgbClr val="FFFFFF"/>
              </a:solidFill>
              <a:latin typeface="Roboto"/>
              <a:ea typeface="Roboto"/>
              <a:cs typeface="Roboto"/>
              <a:sym typeface="Roboto"/>
            </a:endParaRPr>
          </a:p>
        </p:txBody>
      </p:sp>
      <p:sp>
        <p:nvSpPr>
          <p:cNvPr id="770" name="Google Shape;770;p69"/>
          <p:cNvSpPr/>
          <p:nvPr/>
        </p:nvSpPr>
        <p:spPr>
          <a:xfrm>
            <a:off x="13921500" y="3998475"/>
            <a:ext cx="2560200" cy="802500"/>
          </a:xfrm>
          <a:prstGeom prst="rect">
            <a:avLst/>
          </a:prstGeom>
          <a:solidFill>
            <a:schemeClr val="accen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Warehouse</a:t>
            </a:r>
            <a:endParaRPr sz="3000">
              <a:solidFill>
                <a:srgbClr val="FFFFFF"/>
              </a:solidFill>
              <a:latin typeface="Roboto"/>
              <a:ea typeface="Roboto"/>
              <a:cs typeface="Roboto"/>
              <a:sym typeface="Roboto"/>
            </a:endParaRPr>
          </a:p>
        </p:txBody>
      </p:sp>
      <p:cxnSp>
        <p:nvCxnSpPr>
          <p:cNvPr id="771" name="Google Shape;771;p69"/>
          <p:cNvCxnSpPr>
            <a:stCxn id="746" idx="0"/>
            <a:endCxn id="748" idx="0"/>
          </p:cNvCxnSpPr>
          <p:nvPr/>
        </p:nvCxnSpPr>
        <p:spPr>
          <a:xfrm flipH="1" rot="-5400000">
            <a:off x="9555396" y="-1788375"/>
            <a:ext cx="600" cy="11269500"/>
          </a:xfrm>
          <a:prstGeom prst="bentConnector3">
            <a:avLst>
              <a:gd fmla="val -133350000" name="adj1"/>
            </a:avLst>
          </a:prstGeom>
          <a:noFill/>
          <a:ln cap="flat" cmpd="sng" w="38100">
            <a:solidFill>
              <a:schemeClr val="accent2"/>
            </a:solidFill>
            <a:prstDash val="solid"/>
            <a:round/>
            <a:headEnd len="med" w="med" type="oval"/>
            <a:tailEnd len="med" w="med" type="oval"/>
          </a:ln>
        </p:spPr>
      </p:cxnSp>
      <p:cxnSp>
        <p:nvCxnSpPr>
          <p:cNvPr id="772" name="Google Shape;772;p69"/>
          <p:cNvCxnSpPr>
            <a:stCxn id="773" idx="0"/>
          </p:cNvCxnSpPr>
          <p:nvPr/>
        </p:nvCxnSpPr>
        <p:spPr>
          <a:xfrm flipH="1" rot="10800000">
            <a:off x="8492946" y="3049875"/>
            <a:ext cx="6600" cy="796200"/>
          </a:xfrm>
          <a:prstGeom prst="straightConnector1">
            <a:avLst/>
          </a:prstGeom>
          <a:noFill/>
          <a:ln cap="flat" cmpd="sng" w="38100">
            <a:solidFill>
              <a:schemeClr val="accent2"/>
            </a:solidFill>
            <a:prstDash val="solid"/>
            <a:round/>
            <a:headEnd len="med" w="med" type="oval"/>
            <a:tailEnd len="med" w="med" type="none"/>
          </a:ln>
        </p:spPr>
      </p:cxnSp>
      <p:cxnSp>
        <p:nvCxnSpPr>
          <p:cNvPr id="774" name="Google Shape;774;p69"/>
          <p:cNvCxnSpPr/>
          <p:nvPr/>
        </p:nvCxnSpPr>
        <p:spPr>
          <a:xfrm flipH="1" rot="10800000">
            <a:off x="12302946" y="3049875"/>
            <a:ext cx="6600" cy="796200"/>
          </a:xfrm>
          <a:prstGeom prst="straightConnector1">
            <a:avLst/>
          </a:prstGeom>
          <a:noFill/>
          <a:ln cap="flat" cmpd="sng" w="38100">
            <a:solidFill>
              <a:schemeClr val="accent3"/>
            </a:solidFill>
            <a:prstDash val="solid"/>
            <a:round/>
            <a:headEnd len="med" w="med" type="oval"/>
            <a:tailEnd len="med" w="med" type="none"/>
          </a:ln>
        </p:spPr>
      </p:cxnSp>
      <p:sp>
        <p:nvSpPr>
          <p:cNvPr id="775" name="Google Shape;775;p6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SQL in Google Cloud</a:t>
            </a:r>
            <a:endParaRPr/>
          </a:p>
        </p:txBody>
      </p:sp>
      <p:sp>
        <p:nvSpPr>
          <p:cNvPr id="776" name="Google Shape;776;p6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0"/>
          <p:cNvSpPr/>
          <p:nvPr/>
        </p:nvSpPr>
        <p:spPr>
          <a:xfrm>
            <a:off x="1805250" y="5338675"/>
            <a:ext cx="14616300" cy="14559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0"/>
          <p:cNvSpPr txBox="1"/>
          <p:nvPr/>
        </p:nvSpPr>
        <p:spPr>
          <a:xfrm>
            <a:off x="2325677"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Fully managed</a:t>
            </a:r>
            <a:endParaRPr sz="3000">
              <a:solidFill>
                <a:schemeClr val="lt1"/>
              </a:solidFill>
              <a:latin typeface="Roboto"/>
              <a:ea typeface="Roboto"/>
              <a:cs typeface="Roboto"/>
              <a:sym typeface="Roboto"/>
            </a:endParaRPr>
          </a:p>
        </p:txBody>
      </p:sp>
      <p:sp>
        <p:nvSpPr>
          <p:cNvPr id="783" name="Google Shape;783;p70"/>
          <p:cNvSpPr txBox="1"/>
          <p:nvPr/>
        </p:nvSpPr>
        <p:spPr>
          <a:xfrm>
            <a:off x="2173275" y="6950575"/>
            <a:ext cx="3291900" cy="22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No software installation.</a:t>
            </a:r>
            <a:endParaRPr sz="2300">
              <a:solidFill>
                <a:schemeClr val="lt1"/>
              </a:solidFill>
              <a:latin typeface="Roboto"/>
              <a:ea typeface="Roboto"/>
              <a:cs typeface="Roboto"/>
              <a:sym typeface="Roboto"/>
            </a:endParaRPr>
          </a:p>
          <a:p>
            <a:pPr indent="0" lvl="0" marL="0" rtl="0" algn="l">
              <a:spcBef>
                <a:spcPts val="1200"/>
              </a:spcBef>
              <a:spcAft>
                <a:spcPts val="1200"/>
              </a:spcAft>
              <a:buNone/>
            </a:pPr>
            <a:r>
              <a:rPr lang="en" sz="2300">
                <a:solidFill>
                  <a:schemeClr val="lt1"/>
                </a:solidFill>
                <a:latin typeface="Roboto"/>
                <a:ea typeface="Roboto"/>
                <a:cs typeface="Roboto"/>
                <a:sym typeface="Roboto"/>
              </a:rPr>
              <a:t>Automated backups, replication, patches,</a:t>
            </a:r>
            <a:br>
              <a:rPr lang="en" sz="2300">
                <a:solidFill>
                  <a:schemeClr val="lt1"/>
                </a:solidFill>
                <a:latin typeface="Roboto"/>
                <a:ea typeface="Roboto"/>
                <a:cs typeface="Roboto"/>
                <a:sym typeface="Roboto"/>
              </a:rPr>
            </a:br>
            <a:r>
              <a:rPr lang="en" sz="2300">
                <a:solidFill>
                  <a:schemeClr val="lt1"/>
                </a:solidFill>
                <a:latin typeface="Roboto"/>
                <a:ea typeface="Roboto"/>
                <a:cs typeface="Roboto"/>
                <a:sym typeface="Roboto"/>
              </a:rPr>
              <a:t>and updates.</a:t>
            </a:r>
            <a:endParaRPr sz="2300">
              <a:solidFill>
                <a:schemeClr val="lt1"/>
              </a:solidFill>
              <a:latin typeface="Roboto"/>
              <a:ea typeface="Roboto"/>
              <a:cs typeface="Roboto"/>
              <a:sym typeface="Roboto"/>
            </a:endParaRPr>
          </a:p>
        </p:txBody>
      </p:sp>
      <p:sp>
        <p:nvSpPr>
          <p:cNvPr id="784" name="Google Shape;784;p70"/>
          <p:cNvSpPr txBox="1"/>
          <p:nvPr/>
        </p:nvSpPr>
        <p:spPr>
          <a:xfrm>
            <a:off x="5824059"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Performance and scalability</a:t>
            </a:r>
            <a:endParaRPr sz="3000">
              <a:solidFill>
                <a:schemeClr val="lt1"/>
              </a:solidFill>
              <a:latin typeface="Roboto"/>
              <a:ea typeface="Roboto"/>
              <a:cs typeface="Roboto"/>
              <a:sym typeface="Roboto"/>
            </a:endParaRPr>
          </a:p>
        </p:txBody>
      </p:sp>
      <p:sp>
        <p:nvSpPr>
          <p:cNvPr id="785" name="Google Shape;785;p70"/>
          <p:cNvSpPr txBox="1"/>
          <p:nvPr/>
        </p:nvSpPr>
        <p:spPr>
          <a:xfrm>
            <a:off x="5824050" y="6950575"/>
            <a:ext cx="3291900" cy="22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Scales to 64 processor cores and 400+ GB</a:t>
            </a:r>
            <a:br>
              <a:rPr lang="en" sz="2300">
                <a:solidFill>
                  <a:schemeClr val="lt1"/>
                </a:solidFill>
                <a:latin typeface="Roboto"/>
                <a:ea typeface="Roboto"/>
                <a:cs typeface="Roboto"/>
                <a:sym typeface="Roboto"/>
              </a:rPr>
            </a:br>
            <a:r>
              <a:rPr lang="en" sz="2300">
                <a:solidFill>
                  <a:schemeClr val="lt1"/>
                </a:solidFill>
                <a:latin typeface="Roboto"/>
                <a:ea typeface="Roboto"/>
                <a:cs typeface="Roboto"/>
                <a:sym typeface="Roboto"/>
              </a:rPr>
              <a:t>of RAM.</a:t>
            </a:r>
            <a:endParaRPr sz="2300">
              <a:solidFill>
                <a:schemeClr val="lt1"/>
              </a:solidFill>
              <a:latin typeface="Roboto"/>
              <a:ea typeface="Roboto"/>
              <a:cs typeface="Roboto"/>
              <a:sym typeface="Roboto"/>
            </a:endParaRPr>
          </a:p>
          <a:p>
            <a:pPr indent="0" lvl="0" marL="0" rtl="0" algn="l">
              <a:spcBef>
                <a:spcPts val="1200"/>
              </a:spcBef>
              <a:spcAft>
                <a:spcPts val="1200"/>
              </a:spcAft>
              <a:buNone/>
            </a:pPr>
            <a:r>
              <a:rPr lang="en" sz="2300">
                <a:solidFill>
                  <a:schemeClr val="lt1"/>
                </a:solidFill>
                <a:latin typeface="Roboto"/>
                <a:ea typeface="Roboto"/>
                <a:cs typeface="Roboto"/>
                <a:sym typeface="Roboto"/>
              </a:rPr>
              <a:t>10 TB of storage.</a:t>
            </a:r>
            <a:endParaRPr sz="2300">
              <a:solidFill>
                <a:schemeClr val="lt1"/>
              </a:solidFill>
              <a:latin typeface="Roboto"/>
              <a:ea typeface="Roboto"/>
              <a:cs typeface="Roboto"/>
              <a:sym typeface="Roboto"/>
            </a:endParaRPr>
          </a:p>
        </p:txBody>
      </p:sp>
      <p:cxnSp>
        <p:nvCxnSpPr>
          <p:cNvPr id="786" name="Google Shape;786;p70"/>
          <p:cNvCxnSpPr/>
          <p:nvPr/>
        </p:nvCxnSpPr>
        <p:spPr>
          <a:xfrm flipH="1" rot="10800000">
            <a:off x="5507856" y="3356968"/>
            <a:ext cx="9000" cy="5812800"/>
          </a:xfrm>
          <a:prstGeom prst="straightConnector1">
            <a:avLst/>
          </a:prstGeom>
          <a:noFill/>
          <a:ln cap="flat" cmpd="sng" w="9525">
            <a:solidFill>
              <a:srgbClr val="666666"/>
            </a:solidFill>
            <a:prstDash val="dash"/>
            <a:round/>
            <a:headEnd len="med" w="med" type="none"/>
            <a:tailEnd len="med" w="med" type="none"/>
          </a:ln>
        </p:spPr>
      </p:cxnSp>
      <p:cxnSp>
        <p:nvCxnSpPr>
          <p:cNvPr id="787" name="Google Shape;787;p70"/>
          <p:cNvCxnSpPr/>
          <p:nvPr/>
        </p:nvCxnSpPr>
        <p:spPr>
          <a:xfrm flipH="1" rot="10800000">
            <a:off x="9139500"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788" name="Google Shape;788;p70"/>
          <p:cNvSpPr txBox="1"/>
          <p:nvPr/>
        </p:nvSpPr>
        <p:spPr>
          <a:xfrm>
            <a:off x="9483192"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Reliability and security</a:t>
            </a:r>
            <a:endParaRPr sz="3000">
              <a:solidFill>
                <a:schemeClr val="lt1"/>
              </a:solidFill>
              <a:latin typeface="Roboto"/>
              <a:ea typeface="Roboto"/>
              <a:cs typeface="Roboto"/>
              <a:sym typeface="Roboto"/>
            </a:endParaRPr>
          </a:p>
        </p:txBody>
      </p:sp>
      <p:cxnSp>
        <p:nvCxnSpPr>
          <p:cNvPr id="789" name="Google Shape;789;p70"/>
          <p:cNvCxnSpPr/>
          <p:nvPr/>
        </p:nvCxnSpPr>
        <p:spPr>
          <a:xfrm flipH="1" rot="10800000">
            <a:off x="12798331"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790" name="Google Shape;790;p70"/>
          <p:cNvSpPr txBox="1"/>
          <p:nvPr/>
        </p:nvSpPr>
        <p:spPr>
          <a:xfrm>
            <a:off x="13143025" y="5335075"/>
            <a:ext cx="2926200" cy="14631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Compatibility</a:t>
            </a:r>
            <a:endParaRPr sz="3000">
              <a:solidFill>
                <a:schemeClr val="lt1"/>
              </a:solidFill>
              <a:latin typeface="Roboto"/>
              <a:ea typeface="Roboto"/>
              <a:cs typeface="Roboto"/>
              <a:sym typeface="Roboto"/>
            </a:endParaRPr>
          </a:p>
        </p:txBody>
      </p:sp>
      <p:sp>
        <p:nvSpPr>
          <p:cNvPr id="791" name="Google Shape;791;p70"/>
          <p:cNvSpPr txBox="1"/>
          <p:nvPr/>
        </p:nvSpPr>
        <p:spPr>
          <a:xfrm>
            <a:off x="9483200" y="6950575"/>
            <a:ext cx="3291900" cy="22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High availability with automatic failovers.</a:t>
            </a:r>
            <a:endParaRPr sz="2300">
              <a:solidFill>
                <a:schemeClr val="lt1"/>
              </a:solidFill>
              <a:latin typeface="Roboto"/>
              <a:ea typeface="Roboto"/>
              <a:cs typeface="Roboto"/>
              <a:sym typeface="Roboto"/>
            </a:endParaRPr>
          </a:p>
          <a:p>
            <a:pPr indent="0" lvl="0" marL="0" rtl="0" algn="l">
              <a:spcBef>
                <a:spcPts val="1200"/>
              </a:spcBef>
              <a:spcAft>
                <a:spcPts val="0"/>
              </a:spcAft>
              <a:buNone/>
            </a:pPr>
            <a:r>
              <a:rPr lang="en" sz="2300">
                <a:solidFill>
                  <a:schemeClr val="lt1"/>
                </a:solidFill>
                <a:latin typeface="Roboto"/>
                <a:ea typeface="Roboto"/>
                <a:cs typeface="Roboto"/>
                <a:sym typeface="Roboto"/>
              </a:rPr>
              <a:t>Easily configure replication and backups.</a:t>
            </a:r>
            <a:endParaRPr sz="2300">
              <a:solidFill>
                <a:schemeClr val="lt1"/>
              </a:solidFill>
              <a:latin typeface="Roboto"/>
              <a:ea typeface="Roboto"/>
              <a:cs typeface="Roboto"/>
              <a:sym typeface="Roboto"/>
            </a:endParaRPr>
          </a:p>
          <a:p>
            <a:pPr indent="0" lvl="0" marL="0" rtl="0" algn="l">
              <a:spcBef>
                <a:spcPts val="1200"/>
              </a:spcBef>
              <a:spcAft>
                <a:spcPts val="1200"/>
              </a:spcAft>
              <a:buNone/>
            </a:pPr>
            <a:r>
              <a:rPr lang="en" sz="2300">
                <a:solidFill>
                  <a:schemeClr val="lt1"/>
                </a:solidFill>
                <a:latin typeface="Roboto"/>
                <a:ea typeface="Roboto"/>
                <a:cs typeface="Roboto"/>
                <a:sym typeface="Roboto"/>
              </a:rPr>
              <a:t>Data is encrypted</a:t>
            </a:r>
            <a:r>
              <a:rPr lang="en" sz="2300">
                <a:solidFill>
                  <a:srgbClr val="434343"/>
                </a:solidFill>
                <a:latin typeface="Roboto"/>
                <a:ea typeface="Roboto"/>
                <a:cs typeface="Roboto"/>
                <a:sym typeface="Roboto"/>
              </a:rPr>
              <a:t>.</a:t>
            </a:r>
            <a:endParaRPr sz="2300">
              <a:solidFill>
                <a:srgbClr val="434343"/>
              </a:solidFill>
              <a:latin typeface="Roboto"/>
              <a:ea typeface="Roboto"/>
              <a:cs typeface="Roboto"/>
              <a:sym typeface="Roboto"/>
            </a:endParaRPr>
          </a:p>
        </p:txBody>
      </p:sp>
      <p:sp>
        <p:nvSpPr>
          <p:cNvPr id="792" name="Google Shape;792;p70"/>
          <p:cNvSpPr txBox="1"/>
          <p:nvPr/>
        </p:nvSpPr>
        <p:spPr>
          <a:xfrm>
            <a:off x="13143025" y="6950575"/>
            <a:ext cx="3291900" cy="22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Accessible from almost any app.</a:t>
            </a:r>
            <a:endParaRPr sz="2300">
              <a:solidFill>
                <a:schemeClr val="lt1"/>
              </a:solidFill>
              <a:latin typeface="Roboto"/>
              <a:ea typeface="Roboto"/>
              <a:cs typeface="Roboto"/>
              <a:sym typeface="Roboto"/>
            </a:endParaRPr>
          </a:p>
          <a:p>
            <a:pPr indent="0" lvl="0" marL="0" rtl="0" algn="l">
              <a:spcBef>
                <a:spcPts val="1200"/>
              </a:spcBef>
              <a:spcAft>
                <a:spcPts val="1200"/>
              </a:spcAft>
              <a:buNone/>
            </a:pPr>
            <a:r>
              <a:rPr lang="en" sz="2300">
                <a:solidFill>
                  <a:schemeClr val="lt1"/>
                </a:solidFill>
                <a:latin typeface="Roboto"/>
                <a:ea typeface="Roboto"/>
                <a:cs typeface="Roboto"/>
                <a:sym typeface="Roboto"/>
              </a:rPr>
              <a:t>Easy to move and migrate data</a:t>
            </a:r>
            <a:r>
              <a:rPr lang="en" sz="2300">
                <a:solidFill>
                  <a:srgbClr val="434343"/>
                </a:solidFill>
                <a:latin typeface="Roboto"/>
                <a:ea typeface="Roboto"/>
                <a:cs typeface="Roboto"/>
                <a:sym typeface="Roboto"/>
              </a:rPr>
              <a:t>. </a:t>
            </a:r>
            <a:endParaRPr sz="2300">
              <a:solidFill>
                <a:srgbClr val="434343"/>
              </a:solidFill>
              <a:latin typeface="Roboto"/>
              <a:ea typeface="Roboto"/>
              <a:cs typeface="Roboto"/>
              <a:sym typeface="Roboto"/>
            </a:endParaRPr>
          </a:p>
        </p:txBody>
      </p:sp>
      <p:pic>
        <p:nvPicPr>
          <p:cNvPr id="793" name="Google Shape;793;p70"/>
          <p:cNvPicPr preferRelativeResize="0"/>
          <p:nvPr/>
        </p:nvPicPr>
        <p:blipFill>
          <a:blip r:embed="rId3">
            <a:alphaModFix/>
          </a:blip>
          <a:stretch>
            <a:fillRect/>
          </a:stretch>
        </p:blipFill>
        <p:spPr>
          <a:xfrm>
            <a:off x="5861592" y="3135563"/>
            <a:ext cx="2853358" cy="2092463"/>
          </a:xfrm>
          <a:prstGeom prst="rect">
            <a:avLst/>
          </a:prstGeom>
          <a:noFill/>
          <a:ln>
            <a:noFill/>
          </a:ln>
        </p:spPr>
      </p:pic>
      <p:pic>
        <p:nvPicPr>
          <p:cNvPr id="794" name="Google Shape;794;p70"/>
          <p:cNvPicPr preferRelativeResize="0"/>
          <p:nvPr/>
        </p:nvPicPr>
        <p:blipFill>
          <a:blip r:embed="rId4">
            <a:alphaModFix/>
          </a:blip>
          <a:stretch>
            <a:fillRect/>
          </a:stretch>
        </p:blipFill>
        <p:spPr>
          <a:xfrm>
            <a:off x="9576664" y="3135563"/>
            <a:ext cx="2747073" cy="2087414"/>
          </a:xfrm>
          <a:prstGeom prst="rect">
            <a:avLst/>
          </a:prstGeom>
          <a:noFill/>
          <a:ln>
            <a:noFill/>
          </a:ln>
        </p:spPr>
      </p:pic>
      <p:pic>
        <p:nvPicPr>
          <p:cNvPr id="795" name="Google Shape;795;p70"/>
          <p:cNvPicPr preferRelativeResize="0"/>
          <p:nvPr/>
        </p:nvPicPr>
        <p:blipFill rotWithShape="1">
          <a:blip r:embed="rId5">
            <a:alphaModFix/>
          </a:blip>
          <a:srcRect b="0" l="15903" r="15519" t="0"/>
          <a:stretch/>
        </p:blipFill>
        <p:spPr>
          <a:xfrm>
            <a:off x="13214982" y="3207752"/>
            <a:ext cx="2787953" cy="2081910"/>
          </a:xfrm>
          <a:prstGeom prst="rect">
            <a:avLst/>
          </a:prstGeom>
          <a:noFill/>
          <a:ln>
            <a:noFill/>
          </a:ln>
        </p:spPr>
      </p:pic>
      <p:pic>
        <p:nvPicPr>
          <p:cNvPr id="796" name="Google Shape;796;p70"/>
          <p:cNvPicPr preferRelativeResize="0"/>
          <p:nvPr/>
        </p:nvPicPr>
        <p:blipFill rotWithShape="1">
          <a:blip r:embed="rId6">
            <a:alphaModFix/>
          </a:blip>
          <a:srcRect b="9612" l="17675" r="18650" t="4328"/>
          <a:stretch/>
        </p:blipFill>
        <p:spPr>
          <a:xfrm>
            <a:off x="2298200" y="3135563"/>
            <a:ext cx="3025050" cy="2083119"/>
          </a:xfrm>
          <a:prstGeom prst="rect">
            <a:avLst/>
          </a:prstGeom>
          <a:noFill/>
          <a:ln>
            <a:noFill/>
          </a:ln>
        </p:spPr>
      </p:pic>
      <p:sp>
        <p:nvSpPr>
          <p:cNvPr id="797" name="Google Shape;797;p7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SQL helps manage mundane</a:t>
            </a:r>
            <a:endParaRPr/>
          </a:p>
          <a:p>
            <a:pPr indent="0" lvl="0" marL="0" rtl="0" algn="l">
              <a:spcBef>
                <a:spcPts val="0"/>
              </a:spcBef>
              <a:spcAft>
                <a:spcPts val="0"/>
              </a:spcAft>
              <a:buNone/>
            </a:pPr>
            <a:r>
              <a:rPr lang="en"/>
              <a:t>administrative tasks</a:t>
            </a:r>
            <a:endParaRPr/>
          </a:p>
        </p:txBody>
      </p:sp>
      <p:cxnSp>
        <p:nvCxnSpPr>
          <p:cNvPr id="798" name="Google Shape;798;p70"/>
          <p:cNvCxnSpPr/>
          <p:nvPr/>
        </p:nvCxnSpPr>
        <p:spPr>
          <a:xfrm>
            <a:off x="1805045" y="5360675"/>
            <a:ext cx="14623800" cy="0"/>
          </a:xfrm>
          <a:prstGeom prst="straightConnector1">
            <a:avLst/>
          </a:prstGeom>
          <a:noFill/>
          <a:ln cap="flat" cmpd="sng" w="38100">
            <a:solidFill>
              <a:srgbClr val="F1C232"/>
            </a:solidFill>
            <a:prstDash val="solid"/>
            <a:round/>
            <a:headEnd len="med" w="med" type="none"/>
            <a:tailEnd len="med" w="med" type="none"/>
          </a:ln>
        </p:spPr>
      </p:cxnSp>
      <p:sp>
        <p:nvSpPr>
          <p:cNvPr id="799" name="Google Shape;799;p7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Cloud SQL</a:t>
            </a:r>
            <a:endParaRPr/>
          </a:p>
          <a:p>
            <a:pPr indent="0" lvl="0" marL="0" rtl="0" algn="l">
              <a:spcBef>
                <a:spcPts val="2900"/>
              </a:spcBef>
              <a:spcAft>
                <a:spcPts val="0"/>
              </a:spcAft>
              <a:buNone/>
            </a:pPr>
            <a:r>
              <a:rPr lang="en">
                <a:solidFill>
                  <a:schemeClr val="accent2"/>
                </a:solidFill>
              </a:rPr>
              <a:t>Lab: Cloud SQL for MySQL: Qwik Start</a:t>
            </a:r>
            <a:endParaRPr>
              <a:solidFill>
                <a:schemeClr val="accent2"/>
              </a:solidFill>
            </a:endParaRPr>
          </a:p>
          <a:p>
            <a:pPr indent="0" lvl="0" marL="0" rtl="0" algn="l">
              <a:spcBef>
                <a:spcPts val="2900"/>
              </a:spcBef>
              <a:spcAft>
                <a:spcPts val="0"/>
              </a:spcAft>
              <a:buNone/>
            </a:pPr>
            <a:r>
              <a:rPr lang="en"/>
              <a:t>Cloud Spanner as a Managed Service</a:t>
            </a:r>
            <a:endParaRPr/>
          </a:p>
          <a:p>
            <a:pPr indent="0" lvl="0" marL="0" rtl="0" algn="l">
              <a:spcBef>
                <a:spcPts val="2900"/>
              </a:spcBef>
              <a:spcAft>
                <a:spcPts val="0"/>
              </a:spcAft>
              <a:buNone/>
            </a:pPr>
            <a:r>
              <a:rPr lang="en"/>
              <a:t>NoSQL Managed Services Options</a:t>
            </a:r>
            <a:endParaRPr/>
          </a:p>
          <a:p>
            <a:pPr indent="0" lvl="0" marL="0" rtl="0" algn="l">
              <a:spcBef>
                <a:spcPts val="2900"/>
              </a:spcBef>
              <a:spcAft>
                <a:spcPts val="2900"/>
              </a:spcAft>
              <a:buNone/>
            </a:pPr>
            <a:r>
              <a:rPr lang="en"/>
              <a:t>Datastore, a NoSQL Document Store</a:t>
            </a:r>
            <a:endParaRPr/>
          </a:p>
        </p:txBody>
      </p:sp>
      <p:sp>
        <p:nvSpPr>
          <p:cNvPr id="805" name="Google Shape;805;p7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06" name="Google Shape;806;p7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72"/>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SQL for MySQL:</a:t>
            </a:r>
            <a:br>
              <a:rPr lang="en"/>
            </a:br>
            <a:r>
              <a:rPr lang="en"/>
              <a:t>Qwik Start</a:t>
            </a:r>
            <a:endParaRPr/>
          </a:p>
        </p:txBody>
      </p:sp>
      <p:sp>
        <p:nvSpPr>
          <p:cNvPr id="812" name="Google Shape;812;p72"/>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813" name="Google Shape;813;p72"/>
          <p:cNvSpPr txBox="1"/>
          <p:nvPr/>
        </p:nvSpPr>
        <p:spPr>
          <a:xfrm>
            <a:off x="1724150" y="6523925"/>
            <a:ext cx="6724200" cy="278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Create and connect to a Google Cloud SQL MySQL instance and perform basic SQL operations using the Cloud Console and the mysql client.</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814" name="Google Shape;814;p7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7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820" name="Google Shape;820;p73"/>
          <p:cNvSpPr txBox="1"/>
          <p:nvPr>
            <p:ph idx="1" type="body"/>
          </p:nvPr>
        </p:nvSpPr>
        <p:spPr>
          <a:xfrm>
            <a:off x="1748675" y="2424713"/>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Cloud SQL instance.</a:t>
            </a:r>
            <a:endParaRPr sz="3000"/>
          </a:p>
          <a:p>
            <a:pPr indent="0" lvl="0" marL="0" rtl="0" algn="l">
              <a:spcBef>
                <a:spcPts val="2900"/>
              </a:spcBef>
              <a:spcAft>
                <a:spcPts val="2900"/>
              </a:spcAft>
              <a:buNone/>
            </a:pPr>
            <a:r>
              <a:rPr lang="en" sz="3000"/>
              <a:t>Connect to an instance using the mysql client in the Cloud Shell.</a:t>
            </a:r>
            <a:endParaRPr/>
          </a:p>
        </p:txBody>
      </p:sp>
      <p:sp>
        <p:nvSpPr>
          <p:cNvPr id="821" name="Google Shape;821;p7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822" name="Google Shape;822;p73"/>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6" name="Shape 826"/>
        <p:cNvGrpSpPr/>
        <p:nvPr/>
      </p:nvGrpSpPr>
      <p:grpSpPr>
        <a:xfrm>
          <a:off x="0" y="0"/>
          <a:ext cx="0" cy="0"/>
          <a:chOff x="0" y="0"/>
          <a:chExt cx="0" cy="0"/>
        </a:xfrm>
      </p:grpSpPr>
      <p:sp>
        <p:nvSpPr>
          <p:cNvPr id="827" name="Google Shape;827;p74"/>
          <p:cNvSpPr txBox="1"/>
          <p:nvPr>
            <p:ph idx="1" type="subTitle"/>
          </p:nvPr>
        </p:nvSpPr>
        <p:spPr>
          <a:xfrm>
            <a:off x="1724150" y="5169125"/>
            <a:ext cx="7428900" cy="9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Loading Data into Google</a:t>
            </a:r>
            <a:br>
              <a:rPr lang="en"/>
            </a:br>
            <a:r>
              <a:rPr lang="en"/>
              <a:t>Cloud SQL (Alternative)</a:t>
            </a:r>
            <a:endParaRPr/>
          </a:p>
        </p:txBody>
      </p:sp>
      <p:sp>
        <p:nvSpPr>
          <p:cNvPr id="828" name="Google Shape;828;p74"/>
          <p:cNvSpPr txBox="1"/>
          <p:nvPr>
            <p:ph type="title"/>
          </p:nvPr>
        </p:nvSpPr>
        <p:spPr>
          <a:xfrm>
            <a:off x="1672475" y="41484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Intro</a:t>
            </a:r>
            <a:endParaRPr/>
          </a:p>
        </p:txBody>
      </p:sp>
      <p:sp>
        <p:nvSpPr>
          <p:cNvPr id="829" name="Google Shape;829;p74"/>
          <p:cNvSpPr txBox="1"/>
          <p:nvPr/>
        </p:nvSpPr>
        <p:spPr>
          <a:xfrm>
            <a:off x="1724150" y="6523925"/>
            <a:ext cx="6724200" cy="23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In this lab, you import data from CSV text files into Cloud SQL and perform basic data analysis using simple queries</a:t>
            </a:r>
            <a:r>
              <a:rPr lang="en" sz="2500">
                <a:solidFill>
                  <a:schemeClr val="lt1"/>
                </a:solidFill>
                <a:latin typeface="Roboto"/>
                <a:ea typeface="Roboto"/>
                <a:cs typeface="Roboto"/>
                <a:sym typeface="Roboto"/>
              </a:rPr>
              <a:t>.</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25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rPr lang="en" sz="2500">
                <a:solidFill>
                  <a:schemeClr val="lt1"/>
                </a:solidFill>
                <a:latin typeface="Roboto"/>
                <a:ea typeface="Roboto"/>
                <a:cs typeface="Roboto"/>
                <a:sym typeface="Roboto"/>
              </a:rPr>
              <a:t>You can find the lab</a:t>
            </a:r>
            <a:r>
              <a:rPr lang="en" sz="2500">
                <a:solidFill>
                  <a:srgbClr val="434343"/>
                </a:solidFill>
                <a:latin typeface="Roboto"/>
                <a:ea typeface="Roboto"/>
                <a:cs typeface="Roboto"/>
                <a:sym typeface="Roboto"/>
              </a:rPr>
              <a:t> </a:t>
            </a:r>
            <a:r>
              <a:rPr lang="en" sz="2500">
                <a:solidFill>
                  <a:schemeClr val="hlink"/>
                </a:solidFill>
                <a:uFill>
                  <a:noFill/>
                </a:uFill>
                <a:latin typeface="Roboto"/>
                <a:ea typeface="Roboto"/>
                <a:cs typeface="Roboto"/>
                <a:sym typeface="Roboto"/>
                <a:hlinkClick r:id="rId3"/>
              </a:rPr>
              <a:t>here</a:t>
            </a:r>
            <a:r>
              <a:rPr lang="en" sz="2500">
                <a:solidFill>
                  <a:schemeClr val="dk1"/>
                </a:solidFill>
                <a:latin typeface="Roboto"/>
                <a:ea typeface="Roboto"/>
                <a:cs typeface="Roboto"/>
                <a:sym typeface="Roboto"/>
              </a:rPr>
              <a:t>.</a:t>
            </a:r>
            <a:endParaRPr sz="2500">
              <a:solidFill>
                <a:srgbClr val="434343"/>
              </a:solidFill>
              <a:latin typeface="Roboto"/>
              <a:ea typeface="Roboto"/>
              <a:cs typeface="Roboto"/>
              <a:sym typeface="Roboto"/>
            </a:endParaRPr>
          </a:p>
        </p:txBody>
      </p:sp>
      <p:sp>
        <p:nvSpPr>
          <p:cNvPr id="830" name="Google Shape;830;p7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a:t>
            </a:r>
            <a:r>
              <a:rPr lang="en" sz="1600">
                <a:solidFill>
                  <a:srgbClr val="FFFFFF"/>
                </a:solidFill>
                <a:latin typeface="Google Sans"/>
                <a:ea typeface="Google Sans"/>
                <a:cs typeface="Google Sans"/>
                <a:sym typeface="Google Sans"/>
              </a:rPr>
              <a:t>in accordance with the terms of use set forth on the program </a:t>
            </a:r>
            <a:r>
              <a:rPr lang="en" sz="1600" u="sng">
                <a:solidFill>
                  <a:srgbClr val="FFFFFF"/>
                </a:solidFill>
                <a:latin typeface="Google Sans"/>
                <a:ea typeface="Google Sans"/>
                <a:cs typeface="Google Sans"/>
                <a:sym typeface="Google Sans"/>
                <a:hlinkClick r:id="rId4">
                  <a:extLst>
                    <a:ext uri="{A12FA001-AC4F-418D-AE19-62706E023703}">
                      <ahyp:hlinkClr val="tx"/>
                    </a:ext>
                  </a:extLst>
                </a:hlinkClick>
              </a:rPr>
              <a:t>Website</a:t>
            </a:r>
            <a:r>
              <a:rPr lang="en" sz="1600">
                <a:solidFill>
                  <a:srgbClr val="FFFFFF"/>
                </a:solidFill>
                <a:latin typeface="Google Sans"/>
                <a:ea typeface="Google Sans"/>
                <a:cs typeface="Google Sans"/>
                <a:sym typeface="Google Sans"/>
              </a:rPr>
              <a:t>.</a:t>
            </a:r>
            <a:endParaRPr sz="1600">
              <a:solidFill>
                <a:srgbClr val="FFFFFF"/>
              </a:solidFill>
              <a:latin typeface="Google Sans"/>
              <a:ea typeface="Google Sans"/>
              <a:cs typeface="Google Sans"/>
              <a:sym typeface="Google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4" name="Shape 834"/>
        <p:cNvGrpSpPr/>
        <p:nvPr/>
      </p:nvGrpSpPr>
      <p:grpSpPr>
        <a:xfrm>
          <a:off x="0" y="0"/>
          <a:ext cx="0" cy="0"/>
          <a:chOff x="0" y="0"/>
          <a:chExt cx="0" cy="0"/>
        </a:xfrm>
      </p:grpSpPr>
      <p:sp>
        <p:nvSpPr>
          <p:cNvPr id="835" name="Google Shape;835;p7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objectives</a:t>
            </a:r>
            <a:endParaRPr/>
          </a:p>
        </p:txBody>
      </p:sp>
      <p:sp>
        <p:nvSpPr>
          <p:cNvPr id="836" name="Google Shape;836;p75"/>
          <p:cNvSpPr txBox="1"/>
          <p:nvPr>
            <p:ph idx="1" type="body"/>
          </p:nvPr>
        </p:nvSpPr>
        <p:spPr>
          <a:xfrm>
            <a:off x="1742475" y="2432125"/>
            <a:ext cx="7251900" cy="676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Create a Cloud SQL instance.</a:t>
            </a:r>
            <a:endParaRPr sz="3000"/>
          </a:p>
          <a:p>
            <a:pPr indent="0" lvl="0" marL="0" rtl="0" algn="l">
              <a:spcBef>
                <a:spcPts val="2900"/>
              </a:spcBef>
              <a:spcAft>
                <a:spcPts val="0"/>
              </a:spcAft>
              <a:buNone/>
            </a:pPr>
            <a:r>
              <a:rPr lang="en" sz="3000"/>
              <a:t>Create a Cloud SQL database.</a:t>
            </a:r>
            <a:endParaRPr sz="3000"/>
          </a:p>
          <a:p>
            <a:pPr indent="0" lvl="0" marL="0" rtl="0" algn="l">
              <a:spcBef>
                <a:spcPts val="2900"/>
              </a:spcBef>
              <a:spcAft>
                <a:spcPts val="0"/>
              </a:spcAft>
              <a:buNone/>
            </a:pPr>
            <a:r>
              <a:rPr lang="en" sz="3000"/>
              <a:t>Import text data into Cloud SQL.</a:t>
            </a:r>
            <a:endParaRPr sz="3000"/>
          </a:p>
          <a:p>
            <a:pPr indent="0" lvl="0" marL="0" rtl="0" algn="l">
              <a:spcBef>
                <a:spcPts val="2900"/>
              </a:spcBef>
              <a:spcAft>
                <a:spcPts val="2900"/>
              </a:spcAft>
              <a:buNone/>
            </a:pPr>
            <a:r>
              <a:rPr lang="en" sz="3000"/>
              <a:t>Build an initial data model using queries.</a:t>
            </a:r>
            <a:endParaRPr sz="3000"/>
          </a:p>
        </p:txBody>
      </p:sp>
      <p:sp>
        <p:nvSpPr>
          <p:cNvPr id="837" name="Google Shape;837;p7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pic>
        <p:nvPicPr>
          <p:cNvPr id="838" name="Google Shape;838;p75"/>
          <p:cNvPicPr preferRelativeResize="0"/>
          <p:nvPr/>
        </p:nvPicPr>
        <p:blipFill rotWithShape="1">
          <a:blip r:embed="rId4">
            <a:alphaModFix/>
          </a:blip>
          <a:srcRect b="0" l="0" r="0" t="0"/>
          <a:stretch/>
        </p:blipFill>
        <p:spPr>
          <a:xfrm>
            <a:off x="9451750" y="1854313"/>
            <a:ext cx="6996024" cy="69960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6"/>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Cloud SQL</a:t>
            </a:r>
            <a:endParaRPr/>
          </a:p>
          <a:p>
            <a:pPr indent="0" lvl="0" marL="0" rtl="0" algn="l">
              <a:spcBef>
                <a:spcPts val="2900"/>
              </a:spcBef>
              <a:spcAft>
                <a:spcPts val="0"/>
              </a:spcAft>
              <a:buNone/>
            </a:pPr>
            <a:r>
              <a:rPr lang="en"/>
              <a:t>Lab: Cloud SQL for MySQL: Qwik Start</a:t>
            </a:r>
            <a:endParaRPr/>
          </a:p>
          <a:p>
            <a:pPr indent="0" lvl="0" marL="0" rtl="0" algn="l">
              <a:spcBef>
                <a:spcPts val="2900"/>
              </a:spcBef>
              <a:spcAft>
                <a:spcPts val="0"/>
              </a:spcAft>
              <a:buNone/>
            </a:pPr>
            <a:r>
              <a:rPr lang="en">
                <a:solidFill>
                  <a:schemeClr val="accent2"/>
                </a:solidFill>
              </a:rPr>
              <a:t>Cloud Spanner as a Managed Service</a:t>
            </a:r>
            <a:endParaRPr>
              <a:solidFill>
                <a:schemeClr val="accent2"/>
              </a:solidFill>
            </a:endParaRPr>
          </a:p>
          <a:p>
            <a:pPr indent="0" lvl="0" marL="0" rtl="0" algn="l">
              <a:spcBef>
                <a:spcPts val="2900"/>
              </a:spcBef>
              <a:spcAft>
                <a:spcPts val="0"/>
              </a:spcAft>
              <a:buNone/>
            </a:pPr>
            <a:r>
              <a:rPr lang="en"/>
              <a:t>NoSQL Managed Services Options</a:t>
            </a:r>
            <a:endParaRPr/>
          </a:p>
          <a:p>
            <a:pPr indent="0" lvl="0" marL="0" rtl="0" algn="l">
              <a:spcBef>
                <a:spcPts val="2900"/>
              </a:spcBef>
              <a:spcAft>
                <a:spcPts val="2900"/>
              </a:spcAft>
              <a:buNone/>
            </a:pPr>
            <a:r>
              <a:rPr lang="en"/>
              <a:t>Datastore, a NoSQL Document Store</a:t>
            </a:r>
            <a:endParaRPr/>
          </a:p>
        </p:txBody>
      </p:sp>
      <p:sp>
        <p:nvSpPr>
          <p:cNvPr id="844" name="Google Shape;844;p76"/>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845" name="Google Shape;845;p7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7"/>
          <p:cNvSpPr/>
          <p:nvPr/>
        </p:nvSpPr>
        <p:spPr>
          <a:xfrm>
            <a:off x="139103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851" name="Google Shape;851;p77"/>
          <p:cNvSpPr/>
          <p:nvPr/>
        </p:nvSpPr>
        <p:spPr>
          <a:xfrm>
            <a:off x="109385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852" name="Google Shape;852;p77"/>
          <p:cNvSpPr/>
          <p:nvPr/>
        </p:nvSpPr>
        <p:spPr>
          <a:xfrm>
            <a:off x="6435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853" name="Google Shape;853;p77"/>
          <p:cNvSpPr/>
          <p:nvPr/>
        </p:nvSpPr>
        <p:spPr>
          <a:xfrm>
            <a:off x="1863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854" name="Google Shape;854;p77"/>
          <p:cNvSpPr/>
          <p:nvPr/>
        </p:nvSpPr>
        <p:spPr>
          <a:xfrm>
            <a:off x="3904488" y="3374275"/>
            <a:ext cx="2095500" cy="4797000"/>
          </a:xfrm>
          <a:prstGeom prst="roundRect">
            <a:avLst>
              <a:gd fmla="val 7451"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5" name="Google Shape;855;p77"/>
          <p:cNvGrpSpPr/>
          <p:nvPr/>
        </p:nvGrpSpPr>
        <p:grpSpPr>
          <a:xfrm>
            <a:off x="11003082" y="4938940"/>
            <a:ext cx="2431200" cy="2518982"/>
            <a:chOff x="2584781" y="5677577"/>
            <a:chExt cx="2431200" cy="2518982"/>
          </a:xfrm>
        </p:grpSpPr>
        <p:pic>
          <p:nvPicPr>
            <p:cNvPr id="856" name="Google Shape;856;p77"/>
            <p:cNvPicPr preferRelativeResize="0"/>
            <p:nvPr/>
          </p:nvPicPr>
          <p:blipFill rotWithShape="1">
            <a:blip r:embed="rId3">
              <a:alphaModFix/>
            </a:blip>
            <a:srcRect b="1662" l="0" r="0" t="1672"/>
            <a:stretch/>
          </p:blipFill>
          <p:spPr>
            <a:xfrm>
              <a:off x="2824230" y="5677577"/>
              <a:ext cx="1952307" cy="1887159"/>
            </a:xfrm>
            <a:prstGeom prst="rect">
              <a:avLst/>
            </a:prstGeom>
            <a:noFill/>
            <a:ln>
              <a:noFill/>
            </a:ln>
          </p:spPr>
        </p:pic>
        <p:sp>
          <p:nvSpPr>
            <p:cNvPr id="857" name="Google Shape;857;p77"/>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grpSp>
      <p:grpSp>
        <p:nvGrpSpPr>
          <p:cNvPr id="858" name="Google Shape;858;p77"/>
          <p:cNvGrpSpPr/>
          <p:nvPr/>
        </p:nvGrpSpPr>
        <p:grpSpPr>
          <a:xfrm>
            <a:off x="1674558" y="4915594"/>
            <a:ext cx="4492777" cy="2575185"/>
            <a:chOff x="1598358" y="5677594"/>
            <a:chExt cx="4492777" cy="2575185"/>
          </a:xfrm>
        </p:grpSpPr>
        <p:grpSp>
          <p:nvGrpSpPr>
            <p:cNvPr id="859" name="Google Shape;859;p77"/>
            <p:cNvGrpSpPr/>
            <p:nvPr/>
          </p:nvGrpSpPr>
          <p:grpSpPr>
            <a:xfrm>
              <a:off x="3659935" y="5677594"/>
              <a:ext cx="2431200" cy="2565645"/>
              <a:chOff x="7258661" y="5677594"/>
              <a:chExt cx="2431200" cy="2565645"/>
            </a:xfrm>
          </p:grpSpPr>
          <p:sp>
            <p:nvSpPr>
              <p:cNvPr id="860" name="Google Shape;860;p77"/>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pic>
            <p:nvPicPr>
              <p:cNvPr id="861" name="Google Shape;861;p77"/>
              <p:cNvPicPr preferRelativeResize="0"/>
              <p:nvPr/>
            </p:nvPicPr>
            <p:blipFill rotWithShape="1">
              <a:blip r:embed="rId4">
                <a:alphaModFix/>
              </a:blip>
              <a:srcRect b="1162" l="0" r="0" t="1152"/>
              <a:stretch/>
            </p:blipFill>
            <p:spPr>
              <a:xfrm>
                <a:off x="7495703" y="5677594"/>
                <a:ext cx="1957121" cy="1911883"/>
              </a:xfrm>
              <a:prstGeom prst="rect">
                <a:avLst/>
              </a:prstGeom>
              <a:noFill/>
              <a:ln>
                <a:noFill/>
              </a:ln>
            </p:spPr>
          </p:pic>
        </p:grpSp>
        <p:pic>
          <p:nvPicPr>
            <p:cNvPr id="862" name="Google Shape;862;p77"/>
            <p:cNvPicPr preferRelativeResize="0"/>
            <p:nvPr/>
          </p:nvPicPr>
          <p:blipFill rotWithShape="1">
            <a:blip r:embed="rId5">
              <a:alphaModFix/>
            </a:blip>
            <a:srcRect b="6201" l="0" r="0" t="6201"/>
            <a:stretch/>
          </p:blipFill>
          <p:spPr>
            <a:xfrm>
              <a:off x="1837797" y="5778045"/>
              <a:ext cx="1952327" cy="1710225"/>
            </a:xfrm>
            <a:prstGeom prst="rect">
              <a:avLst/>
            </a:prstGeom>
            <a:noFill/>
            <a:ln>
              <a:noFill/>
            </a:ln>
          </p:spPr>
        </p:pic>
        <p:sp>
          <p:nvSpPr>
            <p:cNvPr id="863" name="Google Shape;863;p77"/>
            <p:cNvSpPr txBox="1"/>
            <p:nvPr/>
          </p:nvSpPr>
          <p:spPr>
            <a:xfrm>
              <a:off x="15983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SQL</a:t>
              </a:r>
              <a:endParaRPr sz="2800">
                <a:solidFill>
                  <a:schemeClr val="lt1"/>
                </a:solidFill>
                <a:latin typeface="Google Sans"/>
                <a:ea typeface="Google Sans"/>
                <a:cs typeface="Google Sans"/>
                <a:sym typeface="Google Sans"/>
              </a:endParaRPr>
            </a:p>
          </p:txBody>
        </p:sp>
      </p:grpSp>
      <p:grpSp>
        <p:nvGrpSpPr>
          <p:cNvPr id="864" name="Google Shape;864;p77"/>
          <p:cNvGrpSpPr/>
          <p:nvPr/>
        </p:nvGrpSpPr>
        <p:grpSpPr>
          <a:xfrm>
            <a:off x="8316489" y="5016045"/>
            <a:ext cx="2431200" cy="2474735"/>
            <a:chOff x="11897889" y="5778045"/>
            <a:chExt cx="2431200" cy="2474735"/>
          </a:xfrm>
        </p:grpSpPr>
        <p:pic>
          <p:nvPicPr>
            <p:cNvPr id="865" name="Google Shape;865;p77"/>
            <p:cNvPicPr preferRelativeResize="0"/>
            <p:nvPr/>
          </p:nvPicPr>
          <p:blipFill rotWithShape="1">
            <a:blip r:embed="rId6">
              <a:alphaModFix/>
            </a:blip>
            <a:srcRect b="7029" l="0" r="0" t="7029"/>
            <a:stretch/>
          </p:blipFill>
          <p:spPr>
            <a:xfrm>
              <a:off x="12134931" y="5778045"/>
              <a:ext cx="1957121" cy="1681882"/>
            </a:xfrm>
            <a:prstGeom prst="rect">
              <a:avLst/>
            </a:prstGeom>
            <a:noFill/>
            <a:ln>
              <a:noFill/>
            </a:ln>
          </p:spPr>
        </p:pic>
        <p:sp>
          <p:nvSpPr>
            <p:cNvPr id="866" name="Google Shape;866;p77"/>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Bigtable</a:t>
              </a:r>
              <a:endParaRPr sz="2800">
                <a:solidFill>
                  <a:schemeClr val="lt1"/>
                </a:solidFill>
                <a:latin typeface="Google Sans"/>
                <a:ea typeface="Google Sans"/>
                <a:cs typeface="Google Sans"/>
                <a:sym typeface="Google Sans"/>
              </a:endParaRPr>
            </a:p>
          </p:txBody>
        </p:sp>
      </p:grpSp>
      <p:sp>
        <p:nvSpPr>
          <p:cNvPr id="867" name="Google Shape;867;p77"/>
          <p:cNvSpPr txBox="1"/>
          <p:nvPr/>
        </p:nvSpPr>
        <p:spPr>
          <a:xfrm>
            <a:off x="6254912"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pic>
        <p:nvPicPr>
          <p:cNvPr id="868" name="Google Shape;868;p77"/>
          <p:cNvPicPr preferRelativeResize="0"/>
          <p:nvPr/>
        </p:nvPicPr>
        <p:blipFill rotWithShape="1">
          <a:blip r:embed="rId7">
            <a:alphaModFix/>
          </a:blip>
          <a:srcRect b="5689" l="0" r="0" t="5681"/>
          <a:stretch/>
        </p:blipFill>
        <p:spPr>
          <a:xfrm>
            <a:off x="6492010" y="5016054"/>
            <a:ext cx="1956900" cy="1734600"/>
          </a:xfrm>
          <a:prstGeom prst="rect">
            <a:avLst/>
          </a:prstGeom>
          <a:noFill/>
          <a:ln>
            <a:noFill/>
          </a:ln>
        </p:spPr>
      </p:pic>
      <p:pic>
        <p:nvPicPr>
          <p:cNvPr id="869" name="Google Shape;869;p77"/>
          <p:cNvPicPr preferRelativeResize="0"/>
          <p:nvPr/>
        </p:nvPicPr>
        <p:blipFill rotWithShape="1">
          <a:blip r:embed="rId8">
            <a:alphaModFix/>
          </a:blip>
          <a:srcRect b="1662" l="0" r="0" t="1672"/>
          <a:stretch/>
        </p:blipFill>
        <p:spPr>
          <a:xfrm>
            <a:off x="14225446" y="4938940"/>
            <a:ext cx="1952307" cy="1887159"/>
          </a:xfrm>
          <a:prstGeom prst="rect">
            <a:avLst/>
          </a:prstGeom>
          <a:noFill/>
          <a:ln>
            <a:noFill/>
          </a:ln>
        </p:spPr>
      </p:pic>
      <p:sp>
        <p:nvSpPr>
          <p:cNvPr id="870" name="Google Shape;870;p77"/>
          <p:cNvSpPr txBox="1"/>
          <p:nvPr/>
        </p:nvSpPr>
        <p:spPr>
          <a:xfrm>
            <a:off x="13986000"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BigQuery</a:t>
            </a:r>
            <a:endParaRPr sz="2800">
              <a:solidFill>
                <a:schemeClr val="lt1"/>
              </a:solidFill>
              <a:latin typeface="Google Sans"/>
              <a:ea typeface="Google Sans"/>
              <a:cs typeface="Google Sans"/>
              <a:sym typeface="Google Sans"/>
            </a:endParaRPr>
          </a:p>
        </p:txBody>
      </p:sp>
      <p:sp>
        <p:nvSpPr>
          <p:cNvPr id="871" name="Google Shape;871;p77"/>
          <p:cNvSpPr/>
          <p:nvPr/>
        </p:nvSpPr>
        <p:spPr>
          <a:xfrm>
            <a:off x="1863546" y="3998475"/>
            <a:ext cx="4114800" cy="8025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Relational</a:t>
            </a:r>
            <a:endParaRPr sz="3000">
              <a:solidFill>
                <a:srgbClr val="FFFFFF"/>
              </a:solidFill>
              <a:latin typeface="Roboto"/>
              <a:ea typeface="Roboto"/>
              <a:cs typeface="Roboto"/>
              <a:sym typeface="Roboto"/>
            </a:endParaRPr>
          </a:p>
        </p:txBody>
      </p:sp>
      <p:sp>
        <p:nvSpPr>
          <p:cNvPr id="872" name="Google Shape;872;p77"/>
          <p:cNvSpPr/>
          <p:nvPr/>
        </p:nvSpPr>
        <p:spPr>
          <a:xfrm>
            <a:off x="6401064" y="3998475"/>
            <a:ext cx="4114800" cy="802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Non-relational</a:t>
            </a:r>
            <a:endParaRPr sz="3000">
              <a:solidFill>
                <a:srgbClr val="FFFFFF"/>
              </a:solidFill>
              <a:latin typeface="Roboto"/>
              <a:ea typeface="Roboto"/>
              <a:cs typeface="Roboto"/>
              <a:sym typeface="Roboto"/>
            </a:endParaRPr>
          </a:p>
        </p:txBody>
      </p:sp>
      <p:sp>
        <p:nvSpPr>
          <p:cNvPr id="873" name="Google Shape;873;p77"/>
          <p:cNvSpPr/>
          <p:nvPr/>
        </p:nvSpPr>
        <p:spPr>
          <a:xfrm>
            <a:off x="10938582" y="3998475"/>
            <a:ext cx="2560200" cy="8025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Object</a:t>
            </a:r>
            <a:endParaRPr sz="3000">
              <a:solidFill>
                <a:srgbClr val="FFFFFF"/>
              </a:solidFill>
              <a:latin typeface="Roboto"/>
              <a:ea typeface="Roboto"/>
              <a:cs typeface="Roboto"/>
              <a:sym typeface="Roboto"/>
            </a:endParaRPr>
          </a:p>
        </p:txBody>
      </p:sp>
      <p:sp>
        <p:nvSpPr>
          <p:cNvPr id="874" name="Google Shape;874;p77"/>
          <p:cNvSpPr/>
          <p:nvPr/>
        </p:nvSpPr>
        <p:spPr>
          <a:xfrm>
            <a:off x="13921500" y="3998475"/>
            <a:ext cx="2560200" cy="802500"/>
          </a:xfrm>
          <a:prstGeom prst="rect">
            <a:avLst/>
          </a:prstGeom>
          <a:solidFill>
            <a:schemeClr val="accen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Warehouse</a:t>
            </a:r>
            <a:endParaRPr sz="3000">
              <a:solidFill>
                <a:srgbClr val="FFFFFF"/>
              </a:solidFill>
              <a:latin typeface="Roboto"/>
              <a:ea typeface="Roboto"/>
              <a:cs typeface="Roboto"/>
              <a:sym typeface="Roboto"/>
            </a:endParaRPr>
          </a:p>
        </p:txBody>
      </p:sp>
      <p:cxnSp>
        <p:nvCxnSpPr>
          <p:cNvPr id="875" name="Google Shape;875;p77"/>
          <p:cNvCxnSpPr>
            <a:stCxn id="853" idx="0"/>
            <a:endCxn id="850" idx="0"/>
          </p:cNvCxnSpPr>
          <p:nvPr/>
        </p:nvCxnSpPr>
        <p:spPr>
          <a:xfrm flipH="1" rot="-5400000">
            <a:off x="9555396" y="-1788375"/>
            <a:ext cx="600" cy="11269500"/>
          </a:xfrm>
          <a:prstGeom prst="bentConnector3">
            <a:avLst>
              <a:gd fmla="val -133350000" name="adj1"/>
            </a:avLst>
          </a:prstGeom>
          <a:noFill/>
          <a:ln cap="flat" cmpd="sng" w="38100">
            <a:solidFill>
              <a:schemeClr val="accent2"/>
            </a:solidFill>
            <a:prstDash val="solid"/>
            <a:round/>
            <a:headEnd len="med" w="med" type="oval"/>
            <a:tailEnd len="med" w="med" type="oval"/>
          </a:ln>
        </p:spPr>
      </p:cxnSp>
      <p:cxnSp>
        <p:nvCxnSpPr>
          <p:cNvPr id="876" name="Google Shape;876;p77"/>
          <p:cNvCxnSpPr>
            <a:stCxn id="852" idx="0"/>
          </p:cNvCxnSpPr>
          <p:nvPr/>
        </p:nvCxnSpPr>
        <p:spPr>
          <a:xfrm flipH="1" rot="10800000">
            <a:off x="8492946" y="3049875"/>
            <a:ext cx="6600" cy="796200"/>
          </a:xfrm>
          <a:prstGeom prst="straightConnector1">
            <a:avLst/>
          </a:prstGeom>
          <a:noFill/>
          <a:ln cap="flat" cmpd="sng" w="38100">
            <a:solidFill>
              <a:schemeClr val="accent2"/>
            </a:solidFill>
            <a:prstDash val="solid"/>
            <a:round/>
            <a:headEnd len="med" w="med" type="oval"/>
            <a:tailEnd len="med" w="med" type="none"/>
          </a:ln>
        </p:spPr>
      </p:cxnSp>
      <p:cxnSp>
        <p:nvCxnSpPr>
          <p:cNvPr id="877" name="Google Shape;877;p77"/>
          <p:cNvCxnSpPr/>
          <p:nvPr/>
        </p:nvCxnSpPr>
        <p:spPr>
          <a:xfrm flipH="1" rot="10800000">
            <a:off x="12302946" y="3049875"/>
            <a:ext cx="6600" cy="796200"/>
          </a:xfrm>
          <a:prstGeom prst="straightConnector1">
            <a:avLst/>
          </a:prstGeom>
          <a:noFill/>
          <a:ln cap="flat" cmpd="sng" w="38100">
            <a:solidFill>
              <a:schemeClr val="accent2"/>
            </a:solidFill>
            <a:prstDash val="solid"/>
            <a:round/>
            <a:headEnd len="med" w="med" type="oval"/>
            <a:tailEnd len="med" w="med" type="none"/>
          </a:ln>
        </p:spPr>
      </p:cxnSp>
      <p:sp>
        <p:nvSpPr>
          <p:cNvPr id="878" name="Google Shape;878;p77"/>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Spanner in Google Cloud</a:t>
            </a:r>
            <a:endParaRPr/>
          </a:p>
        </p:txBody>
      </p:sp>
      <p:sp>
        <p:nvSpPr>
          <p:cNvPr id="879" name="Google Shape;879;p7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7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difference between Cloud Spanner and</a:t>
            </a:r>
            <a:endParaRPr/>
          </a:p>
          <a:p>
            <a:pPr indent="0" lvl="0" marL="0" rtl="0" algn="l">
              <a:spcBef>
                <a:spcPts val="0"/>
              </a:spcBef>
              <a:spcAft>
                <a:spcPts val="0"/>
              </a:spcAft>
              <a:buNone/>
            </a:pPr>
            <a:r>
              <a:rPr lang="en"/>
              <a:t>other databases</a:t>
            </a:r>
            <a:endParaRPr/>
          </a:p>
        </p:txBody>
      </p:sp>
      <p:sp>
        <p:nvSpPr>
          <p:cNvPr id="885" name="Google Shape;885;p7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886" name="Google Shape;886;p78"/>
          <p:cNvCxnSpPr>
            <a:stCxn id="887" idx="4"/>
            <a:endCxn id="888" idx="4"/>
          </p:cNvCxnSpPr>
          <p:nvPr/>
        </p:nvCxnSpPr>
        <p:spPr>
          <a:xfrm>
            <a:off x="2144375" y="3905048"/>
            <a:ext cx="0" cy="3876300"/>
          </a:xfrm>
          <a:prstGeom prst="straightConnector1">
            <a:avLst/>
          </a:prstGeom>
          <a:noFill/>
          <a:ln cap="flat" cmpd="sng" w="38100">
            <a:solidFill>
              <a:srgbClr val="BDC1C6"/>
            </a:solidFill>
            <a:prstDash val="solid"/>
            <a:round/>
            <a:headEnd len="med" w="med" type="none"/>
            <a:tailEnd len="med" w="med" type="none"/>
          </a:ln>
        </p:spPr>
      </p:cxnSp>
      <p:sp>
        <p:nvSpPr>
          <p:cNvPr id="887" name="Google Shape;887;p78"/>
          <p:cNvSpPr/>
          <p:nvPr/>
        </p:nvSpPr>
        <p:spPr>
          <a:xfrm>
            <a:off x="1836875" y="3290048"/>
            <a:ext cx="615000" cy="615000"/>
          </a:xfrm>
          <a:prstGeom prst="ellipse">
            <a:avLst/>
          </a:prstGeom>
          <a:solidFill>
            <a:srgbClr val="4285F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1</a:t>
            </a:r>
            <a:endParaRPr b="1" sz="2800">
              <a:solidFill>
                <a:srgbClr val="FFFFFF"/>
              </a:solidFill>
              <a:latin typeface="Google Sans"/>
              <a:ea typeface="Google Sans"/>
              <a:cs typeface="Google Sans"/>
              <a:sym typeface="Google Sans"/>
            </a:endParaRPr>
          </a:p>
        </p:txBody>
      </p:sp>
      <p:sp>
        <p:nvSpPr>
          <p:cNvPr id="889" name="Google Shape;889;p78"/>
          <p:cNvSpPr txBox="1"/>
          <p:nvPr/>
        </p:nvSpPr>
        <p:spPr>
          <a:xfrm>
            <a:off x="2564201" y="3192800"/>
            <a:ext cx="68967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Familiar relational database structure </a:t>
            </a:r>
            <a:endParaRPr sz="2800">
              <a:solidFill>
                <a:srgbClr val="3C4043"/>
              </a:solidFill>
              <a:latin typeface="Roboto"/>
              <a:ea typeface="Roboto"/>
              <a:cs typeface="Roboto"/>
              <a:sym typeface="Roboto"/>
            </a:endParaRPr>
          </a:p>
        </p:txBody>
      </p:sp>
      <p:sp>
        <p:nvSpPr>
          <p:cNvPr id="890" name="Google Shape;890;p78"/>
          <p:cNvSpPr/>
          <p:nvPr/>
        </p:nvSpPr>
        <p:spPr>
          <a:xfrm>
            <a:off x="1836875" y="4577130"/>
            <a:ext cx="615000" cy="615000"/>
          </a:xfrm>
          <a:prstGeom prst="ellipse">
            <a:avLst/>
          </a:prstGeom>
          <a:solidFill>
            <a:srgbClr val="EA4335"/>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2</a:t>
            </a:r>
            <a:endParaRPr b="1" sz="2800">
              <a:solidFill>
                <a:srgbClr val="FFFFFF"/>
              </a:solidFill>
              <a:latin typeface="Google Sans"/>
              <a:ea typeface="Google Sans"/>
              <a:cs typeface="Google Sans"/>
              <a:sym typeface="Google Sans"/>
            </a:endParaRPr>
          </a:p>
        </p:txBody>
      </p:sp>
      <p:sp>
        <p:nvSpPr>
          <p:cNvPr id="891" name="Google Shape;891;p78"/>
          <p:cNvSpPr/>
          <p:nvPr/>
        </p:nvSpPr>
        <p:spPr>
          <a:xfrm>
            <a:off x="1836875" y="5881399"/>
            <a:ext cx="615000" cy="615000"/>
          </a:xfrm>
          <a:prstGeom prst="ellipse">
            <a:avLst/>
          </a:prstGeom>
          <a:solidFill>
            <a:srgbClr val="FBBC0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434343"/>
                </a:solidFill>
                <a:latin typeface="Google Sans"/>
                <a:ea typeface="Google Sans"/>
                <a:cs typeface="Google Sans"/>
                <a:sym typeface="Google Sans"/>
              </a:rPr>
              <a:t>3</a:t>
            </a:r>
            <a:endParaRPr b="1" sz="2800">
              <a:solidFill>
                <a:srgbClr val="434343"/>
              </a:solidFill>
              <a:latin typeface="Google Sans"/>
              <a:ea typeface="Google Sans"/>
              <a:cs typeface="Google Sans"/>
              <a:sym typeface="Google Sans"/>
            </a:endParaRPr>
          </a:p>
        </p:txBody>
      </p:sp>
      <p:sp>
        <p:nvSpPr>
          <p:cNvPr id="892" name="Google Shape;892;p78"/>
          <p:cNvSpPr txBox="1"/>
          <p:nvPr/>
        </p:nvSpPr>
        <p:spPr>
          <a:xfrm>
            <a:off x="2564188" y="58016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Strong external consistency</a:t>
            </a:r>
            <a:endParaRPr sz="2800">
              <a:solidFill>
                <a:srgbClr val="3C4043"/>
              </a:solidFill>
              <a:latin typeface="Roboto"/>
              <a:ea typeface="Roboto"/>
              <a:cs typeface="Roboto"/>
              <a:sym typeface="Roboto"/>
            </a:endParaRPr>
          </a:p>
        </p:txBody>
      </p:sp>
      <p:sp>
        <p:nvSpPr>
          <p:cNvPr id="888" name="Google Shape;888;p78"/>
          <p:cNvSpPr/>
          <p:nvPr/>
        </p:nvSpPr>
        <p:spPr>
          <a:xfrm>
            <a:off x="1836875" y="7166275"/>
            <a:ext cx="615000" cy="615000"/>
          </a:xfrm>
          <a:prstGeom prst="ellipse">
            <a:avLst/>
          </a:prstGeom>
          <a:solidFill>
            <a:srgbClr val="34A85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4</a:t>
            </a:r>
            <a:endParaRPr b="1" sz="2800">
              <a:solidFill>
                <a:srgbClr val="FFFFFF"/>
              </a:solidFill>
              <a:latin typeface="Google Sans"/>
              <a:ea typeface="Google Sans"/>
              <a:cs typeface="Google Sans"/>
              <a:sym typeface="Google Sans"/>
            </a:endParaRPr>
          </a:p>
        </p:txBody>
      </p:sp>
      <p:sp>
        <p:nvSpPr>
          <p:cNvPr id="893" name="Google Shape;893;p78"/>
          <p:cNvSpPr txBox="1"/>
          <p:nvPr/>
        </p:nvSpPr>
        <p:spPr>
          <a:xfrm>
            <a:off x="2564188" y="45062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Scales to very large databases </a:t>
            </a:r>
            <a:endParaRPr sz="2800">
              <a:solidFill>
                <a:srgbClr val="3C4043"/>
              </a:solidFill>
              <a:latin typeface="Roboto"/>
              <a:ea typeface="Roboto"/>
              <a:cs typeface="Roboto"/>
              <a:sym typeface="Roboto"/>
            </a:endParaRPr>
          </a:p>
        </p:txBody>
      </p:sp>
      <p:sp>
        <p:nvSpPr>
          <p:cNvPr id="894" name="Google Shape;894;p78"/>
          <p:cNvSpPr txBox="1"/>
          <p:nvPr/>
        </p:nvSpPr>
        <p:spPr>
          <a:xfrm>
            <a:off x="2564188" y="7097074"/>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Reduces operational overheads</a:t>
            </a:r>
            <a:endParaRPr sz="2800">
              <a:solidFill>
                <a:srgbClr val="3C4043"/>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79"/>
          <p:cNvSpPr/>
          <p:nvPr/>
        </p:nvSpPr>
        <p:spPr>
          <a:xfrm>
            <a:off x="1805250" y="5338675"/>
            <a:ext cx="14616300" cy="1198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9"/>
          <p:cNvSpPr txBox="1"/>
          <p:nvPr/>
        </p:nvSpPr>
        <p:spPr>
          <a:xfrm>
            <a:off x="2325675" y="53350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Scale + SQL</a:t>
            </a:r>
            <a:endParaRPr sz="3000">
              <a:solidFill>
                <a:schemeClr val="lt1"/>
              </a:solidFill>
              <a:latin typeface="Roboto"/>
              <a:ea typeface="Roboto"/>
              <a:cs typeface="Roboto"/>
              <a:sym typeface="Roboto"/>
            </a:endParaRPr>
          </a:p>
        </p:txBody>
      </p:sp>
      <p:sp>
        <p:nvSpPr>
          <p:cNvPr id="901" name="Google Shape;901;p79"/>
          <p:cNvSpPr txBox="1"/>
          <p:nvPr/>
        </p:nvSpPr>
        <p:spPr>
          <a:xfrm>
            <a:off x="1905000" y="6721975"/>
            <a:ext cx="35031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Scales horizontally</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Low latency, transactional consistency, and high availability.</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Future-proofs database backends.</a:t>
            </a:r>
            <a:endParaRPr sz="2300">
              <a:solidFill>
                <a:schemeClr val="lt1"/>
              </a:solidFill>
              <a:latin typeface="Roboto"/>
              <a:ea typeface="Roboto"/>
              <a:cs typeface="Roboto"/>
              <a:sym typeface="Roboto"/>
            </a:endParaRPr>
          </a:p>
        </p:txBody>
      </p:sp>
      <p:sp>
        <p:nvSpPr>
          <p:cNvPr id="902" name="Google Shape;902;p79"/>
          <p:cNvSpPr txBox="1"/>
          <p:nvPr/>
        </p:nvSpPr>
        <p:spPr>
          <a:xfrm>
            <a:off x="5824058" y="53350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Fully managed</a:t>
            </a:r>
            <a:endParaRPr sz="3000">
              <a:solidFill>
                <a:schemeClr val="lt1"/>
              </a:solidFill>
              <a:latin typeface="Roboto"/>
              <a:ea typeface="Roboto"/>
              <a:cs typeface="Roboto"/>
              <a:sym typeface="Roboto"/>
            </a:endParaRPr>
          </a:p>
        </p:txBody>
      </p:sp>
      <p:sp>
        <p:nvSpPr>
          <p:cNvPr id="903" name="Google Shape;903;p79"/>
          <p:cNvSpPr txBox="1"/>
          <p:nvPr/>
        </p:nvSpPr>
        <p:spPr>
          <a:xfrm>
            <a:off x="5616575" y="6721975"/>
            <a:ext cx="35022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Create or scale a globally replicated database in a few clicks</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Synchronous replication and maintenance built in.</a:t>
            </a:r>
            <a:endParaRPr sz="2300">
              <a:solidFill>
                <a:schemeClr val="lt1"/>
              </a:solidFill>
              <a:latin typeface="Roboto"/>
              <a:ea typeface="Roboto"/>
              <a:cs typeface="Roboto"/>
              <a:sym typeface="Roboto"/>
            </a:endParaRPr>
          </a:p>
        </p:txBody>
      </p:sp>
      <p:cxnSp>
        <p:nvCxnSpPr>
          <p:cNvPr id="904" name="Google Shape;904;p79"/>
          <p:cNvCxnSpPr/>
          <p:nvPr/>
        </p:nvCxnSpPr>
        <p:spPr>
          <a:xfrm flipH="1" rot="10800000">
            <a:off x="5507856" y="3356968"/>
            <a:ext cx="9000" cy="5812800"/>
          </a:xfrm>
          <a:prstGeom prst="straightConnector1">
            <a:avLst/>
          </a:prstGeom>
          <a:noFill/>
          <a:ln cap="flat" cmpd="sng" w="9525">
            <a:solidFill>
              <a:srgbClr val="666666"/>
            </a:solidFill>
            <a:prstDash val="dash"/>
            <a:round/>
            <a:headEnd len="med" w="med" type="none"/>
            <a:tailEnd len="med" w="med" type="none"/>
          </a:ln>
        </p:spPr>
      </p:cxnSp>
      <p:cxnSp>
        <p:nvCxnSpPr>
          <p:cNvPr id="905" name="Google Shape;905;p79"/>
          <p:cNvCxnSpPr/>
          <p:nvPr/>
        </p:nvCxnSpPr>
        <p:spPr>
          <a:xfrm flipH="1" rot="10800000">
            <a:off x="9139500"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906" name="Google Shape;906;p79"/>
          <p:cNvSpPr txBox="1"/>
          <p:nvPr/>
        </p:nvSpPr>
        <p:spPr>
          <a:xfrm>
            <a:off x="9483191" y="5335075"/>
            <a:ext cx="2926200" cy="11982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Launch faster</a:t>
            </a:r>
            <a:endParaRPr sz="3000">
              <a:solidFill>
                <a:schemeClr val="lt1"/>
              </a:solidFill>
              <a:latin typeface="Roboto"/>
              <a:ea typeface="Roboto"/>
              <a:cs typeface="Roboto"/>
              <a:sym typeface="Roboto"/>
            </a:endParaRPr>
          </a:p>
        </p:txBody>
      </p:sp>
      <p:cxnSp>
        <p:nvCxnSpPr>
          <p:cNvPr id="907" name="Google Shape;907;p79"/>
          <p:cNvCxnSpPr/>
          <p:nvPr/>
        </p:nvCxnSpPr>
        <p:spPr>
          <a:xfrm flipH="1" rot="10800000">
            <a:off x="12798331"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908" name="Google Shape;908;p79"/>
          <p:cNvSpPr txBox="1"/>
          <p:nvPr/>
        </p:nvSpPr>
        <p:spPr>
          <a:xfrm>
            <a:off x="13143024" y="5335075"/>
            <a:ext cx="2926200" cy="11982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Enterprise grade security</a:t>
            </a:r>
            <a:endParaRPr sz="3000">
              <a:solidFill>
                <a:schemeClr val="lt1"/>
              </a:solidFill>
              <a:latin typeface="Roboto"/>
              <a:ea typeface="Roboto"/>
              <a:cs typeface="Roboto"/>
              <a:sym typeface="Roboto"/>
            </a:endParaRPr>
          </a:p>
        </p:txBody>
      </p:sp>
      <p:sp>
        <p:nvSpPr>
          <p:cNvPr id="909" name="Google Shape;909;p79"/>
          <p:cNvSpPr txBox="1"/>
          <p:nvPr/>
        </p:nvSpPr>
        <p:spPr>
          <a:xfrm>
            <a:off x="9254592" y="6721975"/>
            <a:ext cx="35022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Relational </a:t>
            </a:r>
            <a:r>
              <a:rPr lang="en" sz="2300">
                <a:solidFill>
                  <a:schemeClr val="lt1"/>
                </a:solidFill>
                <a:latin typeface="Roboto"/>
                <a:ea typeface="Roboto"/>
                <a:cs typeface="Roboto"/>
                <a:sym typeface="Roboto"/>
              </a:rPr>
              <a:t>semantics</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ACID transactions.</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Schemas.</a:t>
            </a:r>
            <a:endParaRPr sz="2300">
              <a:solidFill>
                <a:schemeClr val="lt1"/>
              </a:solidFill>
              <a:latin typeface="Roboto"/>
              <a:ea typeface="Roboto"/>
              <a:cs typeface="Roboto"/>
              <a:sym typeface="Roboto"/>
            </a:endParaRPr>
          </a:p>
          <a:p>
            <a:pPr indent="0" lvl="0" marL="0" rtl="0" algn="l">
              <a:spcBef>
                <a:spcPts val="1500"/>
              </a:spcBef>
              <a:spcAft>
                <a:spcPts val="0"/>
              </a:spcAft>
              <a:buNone/>
            </a:pPr>
            <a:r>
              <a:t/>
            </a:r>
            <a:endParaRPr sz="2300">
              <a:solidFill>
                <a:schemeClr val="lt1"/>
              </a:solidFill>
              <a:latin typeface="Roboto"/>
              <a:ea typeface="Roboto"/>
              <a:cs typeface="Roboto"/>
              <a:sym typeface="Roboto"/>
            </a:endParaRPr>
          </a:p>
          <a:p>
            <a:pPr indent="0" lvl="0" marL="0" rtl="0" algn="l">
              <a:spcBef>
                <a:spcPts val="1500"/>
              </a:spcBef>
              <a:spcAft>
                <a:spcPts val="1500"/>
              </a:spcAft>
              <a:buNone/>
            </a:pPr>
            <a:r>
              <a:t/>
            </a:r>
            <a:endParaRPr sz="2300">
              <a:solidFill>
                <a:srgbClr val="434343"/>
              </a:solidFill>
              <a:latin typeface="Roboto"/>
              <a:ea typeface="Roboto"/>
              <a:cs typeface="Roboto"/>
              <a:sym typeface="Roboto"/>
            </a:endParaRPr>
          </a:p>
        </p:txBody>
      </p:sp>
      <p:sp>
        <p:nvSpPr>
          <p:cNvPr id="910" name="Google Shape;910;p79"/>
          <p:cNvSpPr txBox="1"/>
          <p:nvPr/>
        </p:nvSpPr>
        <p:spPr>
          <a:xfrm>
            <a:off x="12914425" y="6721975"/>
            <a:ext cx="35022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Data-layer encryption.</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IAM integration.</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Audit logging.</a:t>
            </a:r>
            <a:endParaRPr sz="2300">
              <a:solidFill>
                <a:schemeClr val="lt1"/>
              </a:solidFill>
              <a:latin typeface="Roboto"/>
              <a:ea typeface="Roboto"/>
              <a:cs typeface="Roboto"/>
              <a:sym typeface="Roboto"/>
            </a:endParaRPr>
          </a:p>
        </p:txBody>
      </p:sp>
      <p:pic>
        <p:nvPicPr>
          <p:cNvPr id="911" name="Google Shape;911;p79"/>
          <p:cNvPicPr preferRelativeResize="0"/>
          <p:nvPr/>
        </p:nvPicPr>
        <p:blipFill>
          <a:blip r:embed="rId3">
            <a:alphaModFix/>
          </a:blip>
          <a:stretch>
            <a:fillRect/>
          </a:stretch>
        </p:blipFill>
        <p:spPr>
          <a:xfrm>
            <a:off x="1828800" y="3410447"/>
            <a:ext cx="3334818" cy="1699040"/>
          </a:xfrm>
          <a:prstGeom prst="rect">
            <a:avLst/>
          </a:prstGeom>
          <a:noFill/>
          <a:ln>
            <a:noFill/>
          </a:ln>
        </p:spPr>
      </p:pic>
      <p:pic>
        <p:nvPicPr>
          <p:cNvPr id="912" name="Google Shape;912;p79"/>
          <p:cNvPicPr preferRelativeResize="0"/>
          <p:nvPr/>
        </p:nvPicPr>
        <p:blipFill>
          <a:blip r:embed="rId4">
            <a:alphaModFix/>
          </a:blip>
          <a:stretch>
            <a:fillRect/>
          </a:stretch>
        </p:blipFill>
        <p:spPr>
          <a:xfrm>
            <a:off x="5765306" y="3416355"/>
            <a:ext cx="2969438" cy="1692942"/>
          </a:xfrm>
          <a:prstGeom prst="rect">
            <a:avLst/>
          </a:prstGeom>
          <a:noFill/>
          <a:ln>
            <a:noFill/>
          </a:ln>
        </p:spPr>
      </p:pic>
      <p:pic>
        <p:nvPicPr>
          <p:cNvPr id="913" name="Google Shape;913;p79"/>
          <p:cNvPicPr preferRelativeResize="0"/>
          <p:nvPr/>
        </p:nvPicPr>
        <p:blipFill>
          <a:blip r:embed="rId5">
            <a:alphaModFix/>
          </a:blip>
          <a:stretch>
            <a:fillRect/>
          </a:stretch>
        </p:blipFill>
        <p:spPr>
          <a:xfrm>
            <a:off x="9830400" y="3346006"/>
            <a:ext cx="2171701" cy="1809750"/>
          </a:xfrm>
          <a:prstGeom prst="rect">
            <a:avLst/>
          </a:prstGeom>
          <a:noFill/>
          <a:ln>
            <a:noFill/>
          </a:ln>
        </p:spPr>
      </p:pic>
      <p:pic>
        <p:nvPicPr>
          <p:cNvPr id="914" name="Google Shape;914;p79"/>
          <p:cNvPicPr preferRelativeResize="0"/>
          <p:nvPr/>
        </p:nvPicPr>
        <p:blipFill>
          <a:blip r:embed="rId6">
            <a:alphaModFix/>
          </a:blip>
          <a:stretch>
            <a:fillRect/>
          </a:stretch>
        </p:blipFill>
        <p:spPr>
          <a:xfrm>
            <a:off x="13146656" y="3348350"/>
            <a:ext cx="2772989" cy="1821473"/>
          </a:xfrm>
          <a:prstGeom prst="rect">
            <a:avLst/>
          </a:prstGeom>
          <a:noFill/>
          <a:ln>
            <a:noFill/>
          </a:ln>
        </p:spPr>
      </p:pic>
      <p:sp>
        <p:nvSpPr>
          <p:cNvPr id="915" name="Google Shape;915;p7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Get the best of relational database structure and non-relational database scale and performance</a:t>
            </a:r>
            <a:endParaRPr/>
          </a:p>
        </p:txBody>
      </p:sp>
      <p:cxnSp>
        <p:nvCxnSpPr>
          <p:cNvPr id="916" name="Google Shape;916;p79"/>
          <p:cNvCxnSpPr/>
          <p:nvPr/>
        </p:nvCxnSpPr>
        <p:spPr>
          <a:xfrm>
            <a:off x="1805045" y="5360675"/>
            <a:ext cx="14614200" cy="0"/>
          </a:xfrm>
          <a:prstGeom prst="straightConnector1">
            <a:avLst/>
          </a:prstGeom>
          <a:noFill/>
          <a:ln cap="flat" cmpd="sng" w="38100">
            <a:solidFill>
              <a:srgbClr val="F1C232"/>
            </a:solidFill>
            <a:prstDash val="solid"/>
            <a:round/>
            <a:headEnd len="med" w="med" type="none"/>
            <a:tailEnd len="med" w="med" type="none"/>
          </a:ln>
        </p:spPr>
      </p:cxnSp>
      <p:sp>
        <p:nvSpPr>
          <p:cNvPr id="917" name="Google Shape;917;p7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80"/>
          <p:cNvSpPr/>
          <p:nvPr/>
        </p:nvSpPr>
        <p:spPr>
          <a:xfrm>
            <a:off x="2372550" y="3841175"/>
            <a:ext cx="13542900" cy="48318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80"/>
          <p:cNvSpPr/>
          <p:nvPr/>
        </p:nvSpPr>
        <p:spPr>
          <a:xfrm>
            <a:off x="3027175" y="4378025"/>
            <a:ext cx="3446400" cy="37581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Zone 1</a:t>
            </a:r>
            <a:endParaRPr sz="3000">
              <a:solidFill>
                <a:schemeClr val="lt1"/>
              </a:solidFill>
              <a:latin typeface="Roboto"/>
              <a:ea typeface="Roboto"/>
              <a:cs typeface="Roboto"/>
              <a:sym typeface="Roboto"/>
            </a:endParaRPr>
          </a:p>
        </p:txBody>
      </p:sp>
      <p:sp>
        <p:nvSpPr>
          <p:cNvPr id="924" name="Google Shape;924;p80"/>
          <p:cNvSpPr/>
          <p:nvPr/>
        </p:nvSpPr>
        <p:spPr>
          <a:xfrm>
            <a:off x="7450238" y="4378025"/>
            <a:ext cx="3446400" cy="37581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Zone 2</a:t>
            </a:r>
            <a:endParaRPr sz="3000">
              <a:solidFill>
                <a:schemeClr val="lt1"/>
              </a:solidFill>
              <a:latin typeface="Roboto"/>
              <a:ea typeface="Roboto"/>
              <a:cs typeface="Roboto"/>
              <a:sym typeface="Roboto"/>
            </a:endParaRPr>
          </a:p>
        </p:txBody>
      </p:sp>
      <p:sp>
        <p:nvSpPr>
          <p:cNvPr id="925" name="Google Shape;925;p80"/>
          <p:cNvSpPr/>
          <p:nvPr/>
        </p:nvSpPr>
        <p:spPr>
          <a:xfrm>
            <a:off x="11873300" y="4378025"/>
            <a:ext cx="3446400" cy="37581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Zone 3</a:t>
            </a:r>
            <a:endParaRPr sz="3000">
              <a:solidFill>
                <a:schemeClr val="lt1"/>
              </a:solidFill>
              <a:latin typeface="Roboto"/>
              <a:ea typeface="Roboto"/>
              <a:cs typeface="Roboto"/>
              <a:sym typeface="Roboto"/>
            </a:endParaRPr>
          </a:p>
        </p:txBody>
      </p:sp>
      <p:sp>
        <p:nvSpPr>
          <p:cNvPr id="926" name="Google Shape;926;p80"/>
          <p:cNvSpPr/>
          <p:nvPr/>
        </p:nvSpPr>
        <p:spPr>
          <a:xfrm>
            <a:off x="3468775" y="5243950"/>
            <a:ext cx="2563200" cy="2528400"/>
          </a:xfrm>
          <a:prstGeom prst="roundRect">
            <a:avLst>
              <a:gd fmla="val 9589"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80"/>
          <p:cNvSpPr/>
          <p:nvPr/>
        </p:nvSpPr>
        <p:spPr>
          <a:xfrm>
            <a:off x="3815125" y="57288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1</a:t>
            </a:r>
            <a:endParaRPr sz="2400">
              <a:solidFill>
                <a:srgbClr val="FFFFFF"/>
              </a:solidFill>
              <a:latin typeface="Roboto"/>
              <a:ea typeface="Roboto"/>
              <a:cs typeface="Roboto"/>
              <a:sym typeface="Roboto"/>
            </a:endParaRPr>
          </a:p>
        </p:txBody>
      </p:sp>
      <p:sp>
        <p:nvSpPr>
          <p:cNvPr id="928" name="Google Shape;928;p80"/>
          <p:cNvSpPr/>
          <p:nvPr/>
        </p:nvSpPr>
        <p:spPr>
          <a:xfrm>
            <a:off x="3815125" y="66432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2</a:t>
            </a:r>
            <a:endParaRPr sz="2400">
              <a:solidFill>
                <a:srgbClr val="FFFFFF"/>
              </a:solidFill>
              <a:latin typeface="Roboto"/>
              <a:ea typeface="Roboto"/>
              <a:cs typeface="Roboto"/>
              <a:sym typeface="Roboto"/>
            </a:endParaRPr>
          </a:p>
        </p:txBody>
      </p:sp>
      <p:sp>
        <p:nvSpPr>
          <p:cNvPr id="929" name="Google Shape;929;p80"/>
          <p:cNvSpPr/>
          <p:nvPr/>
        </p:nvSpPr>
        <p:spPr>
          <a:xfrm>
            <a:off x="7888375" y="5243950"/>
            <a:ext cx="2563200" cy="2528400"/>
          </a:xfrm>
          <a:prstGeom prst="roundRect">
            <a:avLst>
              <a:gd fmla="val 9589"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80"/>
          <p:cNvSpPr/>
          <p:nvPr/>
        </p:nvSpPr>
        <p:spPr>
          <a:xfrm>
            <a:off x="8234725" y="57288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1</a:t>
            </a:r>
            <a:endParaRPr sz="2400">
              <a:solidFill>
                <a:srgbClr val="FFFFFF"/>
              </a:solidFill>
              <a:latin typeface="Roboto"/>
              <a:ea typeface="Roboto"/>
              <a:cs typeface="Roboto"/>
              <a:sym typeface="Roboto"/>
            </a:endParaRPr>
          </a:p>
        </p:txBody>
      </p:sp>
      <p:sp>
        <p:nvSpPr>
          <p:cNvPr id="931" name="Google Shape;931;p80"/>
          <p:cNvSpPr/>
          <p:nvPr/>
        </p:nvSpPr>
        <p:spPr>
          <a:xfrm>
            <a:off x="8234725" y="66432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2</a:t>
            </a:r>
            <a:endParaRPr sz="2400">
              <a:solidFill>
                <a:srgbClr val="FFFFFF"/>
              </a:solidFill>
              <a:latin typeface="Roboto"/>
              <a:ea typeface="Roboto"/>
              <a:cs typeface="Roboto"/>
              <a:sym typeface="Roboto"/>
            </a:endParaRPr>
          </a:p>
        </p:txBody>
      </p:sp>
      <p:sp>
        <p:nvSpPr>
          <p:cNvPr id="932" name="Google Shape;932;p80"/>
          <p:cNvSpPr/>
          <p:nvPr/>
        </p:nvSpPr>
        <p:spPr>
          <a:xfrm>
            <a:off x="12314900" y="5243950"/>
            <a:ext cx="2563200" cy="2528400"/>
          </a:xfrm>
          <a:prstGeom prst="roundRect">
            <a:avLst>
              <a:gd fmla="val 9589"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80"/>
          <p:cNvSpPr/>
          <p:nvPr/>
        </p:nvSpPr>
        <p:spPr>
          <a:xfrm>
            <a:off x="12661250" y="57288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1</a:t>
            </a:r>
            <a:endParaRPr sz="2400">
              <a:solidFill>
                <a:srgbClr val="FFFFFF"/>
              </a:solidFill>
              <a:latin typeface="Roboto"/>
              <a:ea typeface="Roboto"/>
              <a:cs typeface="Roboto"/>
              <a:sym typeface="Roboto"/>
            </a:endParaRPr>
          </a:p>
        </p:txBody>
      </p:sp>
      <p:sp>
        <p:nvSpPr>
          <p:cNvPr id="934" name="Google Shape;934;p80"/>
          <p:cNvSpPr/>
          <p:nvPr/>
        </p:nvSpPr>
        <p:spPr>
          <a:xfrm>
            <a:off x="12661250" y="6643250"/>
            <a:ext cx="1870500" cy="60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Roboto"/>
                <a:ea typeface="Roboto"/>
                <a:cs typeface="Roboto"/>
                <a:sym typeface="Roboto"/>
              </a:rPr>
              <a:t>Table 2</a:t>
            </a:r>
            <a:endParaRPr sz="2400">
              <a:solidFill>
                <a:srgbClr val="FFFFFF"/>
              </a:solidFill>
              <a:latin typeface="Roboto"/>
              <a:ea typeface="Roboto"/>
              <a:cs typeface="Roboto"/>
              <a:sym typeface="Roboto"/>
            </a:endParaRPr>
          </a:p>
        </p:txBody>
      </p:sp>
      <p:cxnSp>
        <p:nvCxnSpPr>
          <p:cNvPr id="935" name="Google Shape;935;p80"/>
          <p:cNvCxnSpPr/>
          <p:nvPr/>
        </p:nvCxnSpPr>
        <p:spPr>
          <a:xfrm flipH="1">
            <a:off x="6147925" y="6032000"/>
            <a:ext cx="2086800" cy="300"/>
          </a:xfrm>
          <a:prstGeom prst="straightConnector1">
            <a:avLst/>
          </a:prstGeom>
          <a:noFill/>
          <a:ln cap="flat" cmpd="sng" w="28575">
            <a:solidFill>
              <a:schemeClr val="dk2"/>
            </a:solidFill>
            <a:prstDash val="solid"/>
            <a:round/>
            <a:headEnd len="med" w="med" type="none"/>
            <a:tailEnd len="med" w="med" type="triangle"/>
          </a:ln>
        </p:spPr>
      </p:cxnSp>
      <p:cxnSp>
        <p:nvCxnSpPr>
          <p:cNvPr id="936" name="Google Shape;936;p80"/>
          <p:cNvCxnSpPr/>
          <p:nvPr/>
        </p:nvCxnSpPr>
        <p:spPr>
          <a:xfrm rot="10800000">
            <a:off x="6131725" y="6945800"/>
            <a:ext cx="2103000" cy="600"/>
          </a:xfrm>
          <a:prstGeom prst="straightConnector1">
            <a:avLst/>
          </a:prstGeom>
          <a:noFill/>
          <a:ln cap="flat" cmpd="sng" w="28575">
            <a:solidFill>
              <a:schemeClr val="dk2"/>
            </a:solidFill>
            <a:prstDash val="solid"/>
            <a:round/>
            <a:headEnd len="med" w="med" type="none"/>
            <a:tailEnd len="med" w="med" type="triangle"/>
          </a:ln>
        </p:spPr>
      </p:cxnSp>
      <p:cxnSp>
        <p:nvCxnSpPr>
          <p:cNvPr id="937" name="Google Shape;937;p80"/>
          <p:cNvCxnSpPr/>
          <p:nvPr/>
        </p:nvCxnSpPr>
        <p:spPr>
          <a:xfrm>
            <a:off x="10093825" y="6032000"/>
            <a:ext cx="2104800" cy="300"/>
          </a:xfrm>
          <a:prstGeom prst="straightConnector1">
            <a:avLst/>
          </a:prstGeom>
          <a:noFill/>
          <a:ln cap="flat" cmpd="sng" w="28575">
            <a:solidFill>
              <a:schemeClr val="dk2"/>
            </a:solidFill>
            <a:prstDash val="solid"/>
            <a:round/>
            <a:headEnd len="med" w="med" type="none"/>
            <a:tailEnd len="med" w="med" type="triangle"/>
          </a:ln>
        </p:spPr>
      </p:cxnSp>
      <p:cxnSp>
        <p:nvCxnSpPr>
          <p:cNvPr id="938" name="Google Shape;938;p80"/>
          <p:cNvCxnSpPr/>
          <p:nvPr/>
        </p:nvCxnSpPr>
        <p:spPr>
          <a:xfrm>
            <a:off x="10093825" y="6946400"/>
            <a:ext cx="2103600" cy="300"/>
          </a:xfrm>
          <a:prstGeom prst="straightConnector1">
            <a:avLst/>
          </a:prstGeom>
          <a:noFill/>
          <a:ln cap="flat" cmpd="sng" w="28575">
            <a:solidFill>
              <a:schemeClr val="dk2"/>
            </a:solidFill>
            <a:prstDash val="solid"/>
            <a:round/>
            <a:headEnd len="med" w="med" type="none"/>
            <a:tailEnd len="med" w="med" type="triangle"/>
          </a:ln>
        </p:spPr>
      </p:cxnSp>
      <p:sp>
        <p:nvSpPr>
          <p:cNvPr id="939" name="Google Shape;939;p80"/>
          <p:cNvSpPr/>
          <p:nvPr/>
        </p:nvSpPr>
        <p:spPr>
          <a:xfrm>
            <a:off x="9906000" y="2751675"/>
            <a:ext cx="2755200" cy="7002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2"/>
                </a:solidFill>
                <a:latin typeface="Roboto"/>
                <a:ea typeface="Roboto"/>
                <a:cs typeface="Roboto"/>
                <a:sym typeface="Roboto"/>
              </a:rPr>
              <a:t>Update</a:t>
            </a:r>
            <a:endParaRPr sz="2400">
              <a:solidFill>
                <a:schemeClr val="accent2"/>
              </a:solidFill>
              <a:latin typeface="Roboto"/>
              <a:ea typeface="Roboto"/>
              <a:cs typeface="Roboto"/>
              <a:sym typeface="Roboto"/>
            </a:endParaRPr>
          </a:p>
        </p:txBody>
      </p:sp>
      <p:cxnSp>
        <p:nvCxnSpPr>
          <p:cNvPr id="940" name="Google Shape;940;p80"/>
          <p:cNvCxnSpPr>
            <a:stCxn id="939" idx="1"/>
            <a:endCxn id="924" idx="0"/>
          </p:cNvCxnSpPr>
          <p:nvPr/>
        </p:nvCxnSpPr>
        <p:spPr>
          <a:xfrm flipH="1">
            <a:off x="9173400" y="3101775"/>
            <a:ext cx="732600" cy="1276200"/>
          </a:xfrm>
          <a:prstGeom prst="bentConnector2">
            <a:avLst/>
          </a:prstGeom>
          <a:noFill/>
          <a:ln cap="flat" cmpd="sng" w="28575">
            <a:solidFill>
              <a:schemeClr val="accent4"/>
            </a:solidFill>
            <a:prstDash val="solid"/>
            <a:round/>
            <a:headEnd len="med" w="med" type="none"/>
            <a:tailEnd len="med" w="med" type="triangle"/>
          </a:ln>
        </p:spPr>
      </p:cxnSp>
      <p:sp>
        <p:nvSpPr>
          <p:cNvPr id="941" name="Google Shape;941;p8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Cloud Spanner works</a:t>
            </a:r>
            <a:endParaRPr/>
          </a:p>
        </p:txBody>
      </p:sp>
      <p:sp>
        <p:nvSpPr>
          <p:cNvPr id="942" name="Google Shape;942;p8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8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Cloud SQL</a:t>
            </a:r>
            <a:endParaRPr/>
          </a:p>
          <a:p>
            <a:pPr indent="0" lvl="0" marL="0" rtl="0" algn="l">
              <a:spcBef>
                <a:spcPts val="2900"/>
              </a:spcBef>
              <a:spcAft>
                <a:spcPts val="0"/>
              </a:spcAft>
              <a:buNone/>
            </a:pPr>
            <a:r>
              <a:rPr lang="en"/>
              <a:t>Lab: Cloud SQL for MySQL: Qwik Start</a:t>
            </a:r>
            <a:endParaRPr/>
          </a:p>
          <a:p>
            <a:pPr indent="0" lvl="0" marL="0" rtl="0" algn="l">
              <a:spcBef>
                <a:spcPts val="2900"/>
              </a:spcBef>
              <a:spcAft>
                <a:spcPts val="0"/>
              </a:spcAft>
              <a:buNone/>
            </a:pPr>
            <a:r>
              <a:rPr lang="en"/>
              <a:t>Cloud Spanner as a Managed Service</a:t>
            </a:r>
            <a:endParaRPr/>
          </a:p>
          <a:p>
            <a:pPr indent="0" lvl="0" marL="0" rtl="0" algn="l">
              <a:spcBef>
                <a:spcPts val="2900"/>
              </a:spcBef>
              <a:spcAft>
                <a:spcPts val="0"/>
              </a:spcAft>
              <a:buNone/>
            </a:pPr>
            <a:r>
              <a:rPr lang="en">
                <a:solidFill>
                  <a:schemeClr val="accent2"/>
                </a:solidFill>
              </a:rPr>
              <a:t>NoSQL Managed Services Options</a:t>
            </a:r>
            <a:endParaRPr>
              <a:solidFill>
                <a:schemeClr val="accent2"/>
              </a:solidFill>
            </a:endParaRPr>
          </a:p>
          <a:p>
            <a:pPr indent="0" lvl="0" marL="0" rtl="0" algn="l">
              <a:spcBef>
                <a:spcPts val="2900"/>
              </a:spcBef>
              <a:spcAft>
                <a:spcPts val="2900"/>
              </a:spcAft>
              <a:buNone/>
            </a:pPr>
            <a:r>
              <a:rPr lang="en"/>
              <a:t>Datastore, a NoSQL Document Store</a:t>
            </a:r>
            <a:endParaRPr/>
          </a:p>
        </p:txBody>
      </p:sp>
      <p:sp>
        <p:nvSpPr>
          <p:cNvPr id="948" name="Google Shape;948;p8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49" name="Google Shape;949;p8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pic>
        <p:nvPicPr>
          <p:cNvPr id="954" name="Google Shape;954;p82"/>
          <p:cNvPicPr preferRelativeResize="0"/>
          <p:nvPr/>
        </p:nvPicPr>
        <p:blipFill rotWithShape="1">
          <a:blip r:embed="rId3">
            <a:alphaModFix/>
          </a:blip>
          <a:srcRect b="0" l="0" r="0" t="0"/>
          <a:stretch/>
        </p:blipFill>
        <p:spPr>
          <a:xfrm>
            <a:off x="3342475" y="3137575"/>
            <a:ext cx="3657600" cy="3657600"/>
          </a:xfrm>
          <a:prstGeom prst="rect">
            <a:avLst/>
          </a:prstGeom>
          <a:noFill/>
          <a:ln>
            <a:noFill/>
          </a:ln>
        </p:spPr>
      </p:pic>
      <p:pic>
        <p:nvPicPr>
          <p:cNvPr id="955" name="Google Shape;955;p82"/>
          <p:cNvPicPr preferRelativeResize="0"/>
          <p:nvPr/>
        </p:nvPicPr>
        <p:blipFill rotWithShape="1">
          <a:blip r:embed="rId4">
            <a:alphaModFix/>
          </a:blip>
          <a:srcRect b="0" l="0" r="0" t="0"/>
          <a:stretch/>
        </p:blipFill>
        <p:spPr>
          <a:xfrm>
            <a:off x="11087100" y="3289975"/>
            <a:ext cx="3657600" cy="3657600"/>
          </a:xfrm>
          <a:prstGeom prst="rect">
            <a:avLst/>
          </a:prstGeom>
          <a:noFill/>
          <a:ln>
            <a:noFill/>
          </a:ln>
        </p:spPr>
      </p:pic>
      <p:graphicFrame>
        <p:nvGraphicFramePr>
          <p:cNvPr id="956" name="Google Shape;956;p82"/>
          <p:cNvGraphicFramePr/>
          <p:nvPr/>
        </p:nvGraphicFramePr>
        <p:xfrm>
          <a:off x="2019300" y="6934200"/>
          <a:ext cx="3000000" cy="3000000"/>
        </p:xfrm>
        <a:graphic>
          <a:graphicData uri="http://schemas.openxmlformats.org/drawingml/2006/table">
            <a:tbl>
              <a:tblPr>
                <a:noFill/>
                <a:tableStyleId>{C8D7D8BB-5663-4D88-B9CA-F6AA233E94A6}</a:tableStyleId>
              </a:tblPr>
              <a:tblGrid>
                <a:gridCol w="505225"/>
                <a:gridCol w="5798725"/>
              </a:tblGrid>
              <a:tr h="381000">
                <a:tc gridSpan="2">
                  <a:txBody>
                    <a:bodyPr/>
                    <a:lstStyle/>
                    <a:p>
                      <a:pPr indent="0" lvl="0" marL="0" rtl="0" algn="ctr">
                        <a:spcBef>
                          <a:spcPts val="0"/>
                        </a:spcBef>
                        <a:spcAft>
                          <a:spcPts val="1000"/>
                        </a:spcAft>
                        <a:buNone/>
                      </a:pPr>
                      <a:r>
                        <a:rPr lang="en" sz="3600">
                          <a:solidFill>
                            <a:schemeClr val="dk1"/>
                          </a:solidFill>
                          <a:latin typeface="Google Sans"/>
                          <a:ea typeface="Google Sans"/>
                          <a:cs typeface="Google Sans"/>
                          <a:sym typeface="Google Sans"/>
                        </a:rPr>
                        <a:t>Datastore</a:t>
                      </a:r>
                      <a:endParaRPr sz="3600">
                        <a:solidFill>
                          <a:schemeClr val="dk1"/>
                        </a:solidFill>
                        <a:latin typeface="Google Sans"/>
                        <a:ea typeface="Google Sans"/>
                        <a:cs typeface="Google Sans"/>
                        <a:sym typeface="Google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r>
            </a:tbl>
          </a:graphicData>
        </a:graphic>
      </p:graphicFrame>
      <p:graphicFrame>
        <p:nvGraphicFramePr>
          <p:cNvPr id="957" name="Google Shape;957;p82"/>
          <p:cNvGraphicFramePr/>
          <p:nvPr/>
        </p:nvGraphicFramePr>
        <p:xfrm>
          <a:off x="9563100" y="6934200"/>
          <a:ext cx="3000000" cy="3000000"/>
        </p:xfrm>
        <a:graphic>
          <a:graphicData uri="http://schemas.openxmlformats.org/drawingml/2006/table">
            <a:tbl>
              <a:tblPr>
                <a:noFill/>
                <a:tableStyleId>{C8D7D8BB-5663-4D88-B9CA-F6AA233E94A6}</a:tableStyleId>
              </a:tblPr>
              <a:tblGrid>
                <a:gridCol w="537375"/>
                <a:gridCol w="6168225"/>
              </a:tblGrid>
              <a:tr h="381000">
                <a:tc gridSpan="2">
                  <a:txBody>
                    <a:bodyPr/>
                    <a:lstStyle/>
                    <a:p>
                      <a:pPr indent="0" lvl="0" marL="0" rtl="0" algn="ctr">
                        <a:spcBef>
                          <a:spcPts val="0"/>
                        </a:spcBef>
                        <a:spcAft>
                          <a:spcPts val="1000"/>
                        </a:spcAft>
                        <a:buNone/>
                      </a:pPr>
                      <a:r>
                        <a:rPr lang="en" sz="3600">
                          <a:solidFill>
                            <a:schemeClr val="dk1"/>
                          </a:solidFill>
                          <a:latin typeface="Google Sans"/>
                          <a:ea typeface="Google Sans"/>
                          <a:cs typeface="Google Sans"/>
                          <a:sym typeface="Google Sans"/>
                        </a:rPr>
                        <a:t>Cloud Bigtable</a:t>
                      </a:r>
                      <a:endParaRPr sz="3600">
                        <a:solidFill>
                          <a:schemeClr val="dk1"/>
                        </a:solidFill>
                        <a:latin typeface="Google Sans"/>
                        <a:ea typeface="Google Sans"/>
                        <a:cs typeface="Google Sans"/>
                        <a:sym typeface="Google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r>
            </a:tbl>
          </a:graphicData>
        </a:graphic>
      </p:graphicFrame>
      <p:cxnSp>
        <p:nvCxnSpPr>
          <p:cNvPr id="958" name="Google Shape;958;p82"/>
          <p:cNvCxnSpPr/>
          <p:nvPr/>
        </p:nvCxnSpPr>
        <p:spPr>
          <a:xfrm flipH="1" rot="10800000">
            <a:off x="8954075" y="2365700"/>
            <a:ext cx="4500" cy="6678000"/>
          </a:xfrm>
          <a:prstGeom prst="straightConnector1">
            <a:avLst/>
          </a:prstGeom>
          <a:noFill/>
          <a:ln cap="flat" cmpd="sng" w="9525">
            <a:solidFill>
              <a:schemeClr val="accent2"/>
            </a:solidFill>
            <a:prstDash val="dot"/>
            <a:round/>
            <a:headEnd len="med" w="med" type="none"/>
            <a:tailEnd len="med" w="med" type="none"/>
          </a:ln>
        </p:spPr>
      </p:cxnSp>
      <p:sp>
        <p:nvSpPr>
          <p:cNvPr id="959" name="Google Shape;959;p8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Options for NoSQL based managed services</a:t>
            </a:r>
            <a:endParaRPr/>
          </a:p>
        </p:txBody>
      </p:sp>
      <p:sp>
        <p:nvSpPr>
          <p:cNvPr id="960" name="Google Shape;960;p8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5">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83"/>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Cloud SQL</a:t>
            </a:r>
            <a:endParaRPr/>
          </a:p>
          <a:p>
            <a:pPr indent="0" lvl="0" marL="0" rtl="0" algn="l">
              <a:spcBef>
                <a:spcPts val="2900"/>
              </a:spcBef>
              <a:spcAft>
                <a:spcPts val="0"/>
              </a:spcAft>
              <a:buNone/>
            </a:pPr>
            <a:r>
              <a:rPr lang="en"/>
              <a:t>Lab: Cloud SQL for MySQL: Qwik Start</a:t>
            </a:r>
            <a:endParaRPr/>
          </a:p>
          <a:p>
            <a:pPr indent="0" lvl="0" marL="0" rtl="0" algn="l">
              <a:spcBef>
                <a:spcPts val="2900"/>
              </a:spcBef>
              <a:spcAft>
                <a:spcPts val="0"/>
              </a:spcAft>
              <a:buNone/>
            </a:pPr>
            <a:r>
              <a:rPr lang="en"/>
              <a:t>Cloud Spanner as a Managed Service</a:t>
            </a:r>
            <a:endParaRPr/>
          </a:p>
          <a:p>
            <a:pPr indent="0" lvl="0" marL="0" rtl="0" algn="l">
              <a:spcBef>
                <a:spcPts val="2900"/>
              </a:spcBef>
              <a:spcAft>
                <a:spcPts val="0"/>
              </a:spcAft>
              <a:buNone/>
            </a:pPr>
            <a:r>
              <a:rPr lang="en"/>
              <a:t>NoSQL Managed Services Options</a:t>
            </a:r>
            <a:endParaRPr/>
          </a:p>
          <a:p>
            <a:pPr indent="0" lvl="0" marL="0" rtl="0" algn="l">
              <a:spcBef>
                <a:spcPts val="2900"/>
              </a:spcBef>
              <a:spcAft>
                <a:spcPts val="2900"/>
              </a:spcAft>
              <a:buNone/>
            </a:pPr>
            <a:r>
              <a:rPr lang="en">
                <a:solidFill>
                  <a:schemeClr val="accent2"/>
                </a:solidFill>
              </a:rPr>
              <a:t>Datastore, a NoSQL Document Store</a:t>
            </a:r>
            <a:endParaRPr>
              <a:solidFill>
                <a:schemeClr val="accent2"/>
              </a:solidFill>
            </a:endParaRPr>
          </a:p>
        </p:txBody>
      </p:sp>
      <p:sp>
        <p:nvSpPr>
          <p:cNvPr id="966" name="Google Shape;966;p83"/>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67" name="Google Shape;967;p8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84"/>
          <p:cNvSpPr/>
          <p:nvPr/>
        </p:nvSpPr>
        <p:spPr>
          <a:xfrm>
            <a:off x="139103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973" name="Google Shape;973;p84"/>
          <p:cNvSpPr/>
          <p:nvPr/>
        </p:nvSpPr>
        <p:spPr>
          <a:xfrm>
            <a:off x="109385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974" name="Google Shape;974;p84"/>
          <p:cNvSpPr/>
          <p:nvPr/>
        </p:nvSpPr>
        <p:spPr>
          <a:xfrm>
            <a:off x="6435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975" name="Google Shape;975;p84"/>
          <p:cNvSpPr/>
          <p:nvPr/>
        </p:nvSpPr>
        <p:spPr>
          <a:xfrm>
            <a:off x="1863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976" name="Google Shape;976;p84"/>
          <p:cNvSpPr/>
          <p:nvPr/>
        </p:nvSpPr>
        <p:spPr>
          <a:xfrm>
            <a:off x="6419088" y="3374275"/>
            <a:ext cx="2095500" cy="4797000"/>
          </a:xfrm>
          <a:prstGeom prst="roundRect">
            <a:avLst>
              <a:gd fmla="val 7451"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7" name="Google Shape;977;p84"/>
          <p:cNvGrpSpPr/>
          <p:nvPr/>
        </p:nvGrpSpPr>
        <p:grpSpPr>
          <a:xfrm>
            <a:off x="11003082" y="4938940"/>
            <a:ext cx="2431200" cy="2518982"/>
            <a:chOff x="2584781" y="5677577"/>
            <a:chExt cx="2431200" cy="2518982"/>
          </a:xfrm>
        </p:grpSpPr>
        <p:pic>
          <p:nvPicPr>
            <p:cNvPr id="978" name="Google Shape;978;p84"/>
            <p:cNvPicPr preferRelativeResize="0"/>
            <p:nvPr/>
          </p:nvPicPr>
          <p:blipFill rotWithShape="1">
            <a:blip r:embed="rId3">
              <a:alphaModFix/>
            </a:blip>
            <a:srcRect b="1662" l="0" r="0" t="1672"/>
            <a:stretch/>
          </p:blipFill>
          <p:spPr>
            <a:xfrm>
              <a:off x="2824230" y="5677577"/>
              <a:ext cx="1952307" cy="1887159"/>
            </a:xfrm>
            <a:prstGeom prst="rect">
              <a:avLst/>
            </a:prstGeom>
            <a:noFill/>
            <a:ln>
              <a:noFill/>
            </a:ln>
          </p:spPr>
        </p:pic>
        <p:sp>
          <p:nvSpPr>
            <p:cNvPr id="979" name="Google Shape;979;p84"/>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grpSp>
      <p:grpSp>
        <p:nvGrpSpPr>
          <p:cNvPr id="980" name="Google Shape;980;p84"/>
          <p:cNvGrpSpPr/>
          <p:nvPr/>
        </p:nvGrpSpPr>
        <p:grpSpPr>
          <a:xfrm>
            <a:off x="1674558" y="4915594"/>
            <a:ext cx="4492777" cy="2575185"/>
            <a:chOff x="1598358" y="5677594"/>
            <a:chExt cx="4492777" cy="2575185"/>
          </a:xfrm>
        </p:grpSpPr>
        <p:grpSp>
          <p:nvGrpSpPr>
            <p:cNvPr id="981" name="Google Shape;981;p84"/>
            <p:cNvGrpSpPr/>
            <p:nvPr/>
          </p:nvGrpSpPr>
          <p:grpSpPr>
            <a:xfrm>
              <a:off x="3659935" y="5677594"/>
              <a:ext cx="2431200" cy="2565645"/>
              <a:chOff x="7258661" y="5677594"/>
              <a:chExt cx="2431200" cy="2565645"/>
            </a:xfrm>
          </p:grpSpPr>
          <p:sp>
            <p:nvSpPr>
              <p:cNvPr id="982" name="Google Shape;982;p84"/>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pic>
            <p:nvPicPr>
              <p:cNvPr id="983" name="Google Shape;983;p84"/>
              <p:cNvPicPr preferRelativeResize="0"/>
              <p:nvPr/>
            </p:nvPicPr>
            <p:blipFill rotWithShape="1">
              <a:blip r:embed="rId4">
                <a:alphaModFix/>
              </a:blip>
              <a:srcRect b="1162" l="0" r="0" t="1152"/>
              <a:stretch/>
            </p:blipFill>
            <p:spPr>
              <a:xfrm>
                <a:off x="7495703" y="5677594"/>
                <a:ext cx="1957121" cy="1911883"/>
              </a:xfrm>
              <a:prstGeom prst="rect">
                <a:avLst/>
              </a:prstGeom>
              <a:noFill/>
              <a:ln>
                <a:noFill/>
              </a:ln>
            </p:spPr>
          </p:pic>
        </p:grpSp>
        <p:pic>
          <p:nvPicPr>
            <p:cNvPr id="984" name="Google Shape;984;p84"/>
            <p:cNvPicPr preferRelativeResize="0"/>
            <p:nvPr/>
          </p:nvPicPr>
          <p:blipFill rotWithShape="1">
            <a:blip r:embed="rId5">
              <a:alphaModFix/>
            </a:blip>
            <a:srcRect b="6201" l="0" r="0" t="6201"/>
            <a:stretch/>
          </p:blipFill>
          <p:spPr>
            <a:xfrm>
              <a:off x="1837797" y="5778045"/>
              <a:ext cx="1952327" cy="1710225"/>
            </a:xfrm>
            <a:prstGeom prst="rect">
              <a:avLst/>
            </a:prstGeom>
            <a:noFill/>
            <a:ln>
              <a:noFill/>
            </a:ln>
          </p:spPr>
        </p:pic>
        <p:sp>
          <p:nvSpPr>
            <p:cNvPr id="985" name="Google Shape;985;p84"/>
            <p:cNvSpPr txBox="1"/>
            <p:nvPr/>
          </p:nvSpPr>
          <p:spPr>
            <a:xfrm>
              <a:off x="15983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SQL</a:t>
              </a:r>
              <a:endParaRPr sz="2800">
                <a:solidFill>
                  <a:schemeClr val="lt1"/>
                </a:solidFill>
                <a:latin typeface="Google Sans"/>
                <a:ea typeface="Google Sans"/>
                <a:cs typeface="Google Sans"/>
                <a:sym typeface="Google Sans"/>
              </a:endParaRPr>
            </a:p>
          </p:txBody>
        </p:sp>
      </p:grpSp>
      <p:grpSp>
        <p:nvGrpSpPr>
          <p:cNvPr id="986" name="Google Shape;986;p84"/>
          <p:cNvGrpSpPr/>
          <p:nvPr/>
        </p:nvGrpSpPr>
        <p:grpSpPr>
          <a:xfrm>
            <a:off x="8316489" y="5016045"/>
            <a:ext cx="2431200" cy="2474735"/>
            <a:chOff x="11897889" y="5778045"/>
            <a:chExt cx="2431200" cy="2474735"/>
          </a:xfrm>
        </p:grpSpPr>
        <p:pic>
          <p:nvPicPr>
            <p:cNvPr id="987" name="Google Shape;987;p84"/>
            <p:cNvPicPr preferRelativeResize="0"/>
            <p:nvPr/>
          </p:nvPicPr>
          <p:blipFill rotWithShape="1">
            <a:blip r:embed="rId6">
              <a:alphaModFix/>
            </a:blip>
            <a:srcRect b="7029" l="0" r="0" t="7029"/>
            <a:stretch/>
          </p:blipFill>
          <p:spPr>
            <a:xfrm>
              <a:off x="12134931" y="5778045"/>
              <a:ext cx="1957121" cy="1681882"/>
            </a:xfrm>
            <a:prstGeom prst="rect">
              <a:avLst/>
            </a:prstGeom>
            <a:noFill/>
            <a:ln>
              <a:noFill/>
            </a:ln>
          </p:spPr>
        </p:pic>
        <p:sp>
          <p:nvSpPr>
            <p:cNvPr id="988" name="Google Shape;988;p84"/>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Bigtable</a:t>
              </a:r>
              <a:endParaRPr sz="2800">
                <a:solidFill>
                  <a:schemeClr val="lt1"/>
                </a:solidFill>
                <a:latin typeface="Google Sans"/>
                <a:ea typeface="Google Sans"/>
                <a:cs typeface="Google Sans"/>
                <a:sym typeface="Google Sans"/>
              </a:endParaRPr>
            </a:p>
          </p:txBody>
        </p:sp>
      </p:grpSp>
      <p:sp>
        <p:nvSpPr>
          <p:cNvPr id="989" name="Google Shape;989;p84"/>
          <p:cNvSpPr txBox="1"/>
          <p:nvPr/>
        </p:nvSpPr>
        <p:spPr>
          <a:xfrm>
            <a:off x="6254912"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pic>
        <p:nvPicPr>
          <p:cNvPr id="990" name="Google Shape;990;p84"/>
          <p:cNvPicPr preferRelativeResize="0"/>
          <p:nvPr/>
        </p:nvPicPr>
        <p:blipFill rotWithShape="1">
          <a:blip r:embed="rId7">
            <a:alphaModFix/>
          </a:blip>
          <a:srcRect b="5689" l="0" r="0" t="5681"/>
          <a:stretch/>
        </p:blipFill>
        <p:spPr>
          <a:xfrm>
            <a:off x="6492010" y="5016054"/>
            <a:ext cx="1956900" cy="1734600"/>
          </a:xfrm>
          <a:prstGeom prst="rect">
            <a:avLst/>
          </a:prstGeom>
          <a:noFill/>
          <a:ln>
            <a:noFill/>
          </a:ln>
        </p:spPr>
      </p:pic>
      <p:pic>
        <p:nvPicPr>
          <p:cNvPr id="991" name="Google Shape;991;p84"/>
          <p:cNvPicPr preferRelativeResize="0"/>
          <p:nvPr/>
        </p:nvPicPr>
        <p:blipFill rotWithShape="1">
          <a:blip r:embed="rId8">
            <a:alphaModFix/>
          </a:blip>
          <a:srcRect b="1662" l="0" r="0" t="1672"/>
          <a:stretch/>
        </p:blipFill>
        <p:spPr>
          <a:xfrm>
            <a:off x="14225446" y="4938940"/>
            <a:ext cx="1952307" cy="1887159"/>
          </a:xfrm>
          <a:prstGeom prst="rect">
            <a:avLst/>
          </a:prstGeom>
          <a:noFill/>
          <a:ln>
            <a:noFill/>
          </a:ln>
        </p:spPr>
      </p:pic>
      <p:sp>
        <p:nvSpPr>
          <p:cNvPr id="992" name="Google Shape;992;p84"/>
          <p:cNvSpPr txBox="1"/>
          <p:nvPr/>
        </p:nvSpPr>
        <p:spPr>
          <a:xfrm>
            <a:off x="13986000"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BigQuery</a:t>
            </a:r>
            <a:endParaRPr sz="2800">
              <a:solidFill>
                <a:schemeClr val="lt1"/>
              </a:solidFill>
              <a:latin typeface="Google Sans"/>
              <a:ea typeface="Google Sans"/>
              <a:cs typeface="Google Sans"/>
              <a:sym typeface="Google Sans"/>
            </a:endParaRPr>
          </a:p>
        </p:txBody>
      </p:sp>
      <p:sp>
        <p:nvSpPr>
          <p:cNvPr id="993" name="Google Shape;993;p84"/>
          <p:cNvSpPr/>
          <p:nvPr/>
        </p:nvSpPr>
        <p:spPr>
          <a:xfrm>
            <a:off x="1863546" y="3998475"/>
            <a:ext cx="4114800" cy="8025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Relational</a:t>
            </a:r>
            <a:endParaRPr sz="3000">
              <a:solidFill>
                <a:srgbClr val="FFFFFF"/>
              </a:solidFill>
              <a:latin typeface="Roboto"/>
              <a:ea typeface="Roboto"/>
              <a:cs typeface="Roboto"/>
              <a:sym typeface="Roboto"/>
            </a:endParaRPr>
          </a:p>
        </p:txBody>
      </p:sp>
      <p:sp>
        <p:nvSpPr>
          <p:cNvPr id="994" name="Google Shape;994;p84"/>
          <p:cNvSpPr/>
          <p:nvPr/>
        </p:nvSpPr>
        <p:spPr>
          <a:xfrm>
            <a:off x="6401064" y="3998475"/>
            <a:ext cx="4114800" cy="802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Non-relational</a:t>
            </a:r>
            <a:endParaRPr sz="3000">
              <a:solidFill>
                <a:srgbClr val="FFFFFF"/>
              </a:solidFill>
              <a:latin typeface="Roboto"/>
              <a:ea typeface="Roboto"/>
              <a:cs typeface="Roboto"/>
              <a:sym typeface="Roboto"/>
            </a:endParaRPr>
          </a:p>
        </p:txBody>
      </p:sp>
      <p:sp>
        <p:nvSpPr>
          <p:cNvPr id="995" name="Google Shape;995;p84"/>
          <p:cNvSpPr/>
          <p:nvPr/>
        </p:nvSpPr>
        <p:spPr>
          <a:xfrm>
            <a:off x="10938582" y="3998475"/>
            <a:ext cx="2560200" cy="8025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Object</a:t>
            </a:r>
            <a:endParaRPr sz="3000">
              <a:solidFill>
                <a:srgbClr val="FFFFFF"/>
              </a:solidFill>
              <a:latin typeface="Roboto"/>
              <a:ea typeface="Roboto"/>
              <a:cs typeface="Roboto"/>
              <a:sym typeface="Roboto"/>
            </a:endParaRPr>
          </a:p>
        </p:txBody>
      </p:sp>
      <p:sp>
        <p:nvSpPr>
          <p:cNvPr id="996" name="Google Shape;996;p84"/>
          <p:cNvSpPr/>
          <p:nvPr/>
        </p:nvSpPr>
        <p:spPr>
          <a:xfrm>
            <a:off x="13921500" y="3998475"/>
            <a:ext cx="2560200" cy="802500"/>
          </a:xfrm>
          <a:prstGeom prst="rect">
            <a:avLst/>
          </a:prstGeom>
          <a:solidFill>
            <a:schemeClr val="accen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Warehouse</a:t>
            </a:r>
            <a:endParaRPr sz="3000">
              <a:solidFill>
                <a:srgbClr val="FFFFFF"/>
              </a:solidFill>
              <a:latin typeface="Roboto"/>
              <a:ea typeface="Roboto"/>
              <a:cs typeface="Roboto"/>
              <a:sym typeface="Roboto"/>
            </a:endParaRPr>
          </a:p>
        </p:txBody>
      </p:sp>
      <p:cxnSp>
        <p:nvCxnSpPr>
          <p:cNvPr id="997" name="Google Shape;997;p84"/>
          <p:cNvCxnSpPr>
            <a:stCxn id="975" idx="0"/>
            <a:endCxn id="972" idx="0"/>
          </p:cNvCxnSpPr>
          <p:nvPr/>
        </p:nvCxnSpPr>
        <p:spPr>
          <a:xfrm flipH="1" rot="-5400000">
            <a:off x="9555396" y="-1788375"/>
            <a:ext cx="600" cy="11269500"/>
          </a:xfrm>
          <a:prstGeom prst="bentConnector3">
            <a:avLst>
              <a:gd fmla="val -133350000" name="adj1"/>
            </a:avLst>
          </a:prstGeom>
          <a:noFill/>
          <a:ln cap="flat" cmpd="sng" w="38100">
            <a:solidFill>
              <a:schemeClr val="accent2"/>
            </a:solidFill>
            <a:prstDash val="solid"/>
            <a:round/>
            <a:headEnd len="med" w="med" type="oval"/>
            <a:tailEnd len="med" w="med" type="oval"/>
          </a:ln>
        </p:spPr>
      </p:cxnSp>
      <p:cxnSp>
        <p:nvCxnSpPr>
          <p:cNvPr id="998" name="Google Shape;998;p84"/>
          <p:cNvCxnSpPr>
            <a:stCxn id="974" idx="0"/>
          </p:cNvCxnSpPr>
          <p:nvPr/>
        </p:nvCxnSpPr>
        <p:spPr>
          <a:xfrm flipH="1" rot="10800000">
            <a:off x="8492946" y="3049875"/>
            <a:ext cx="6600" cy="796200"/>
          </a:xfrm>
          <a:prstGeom prst="straightConnector1">
            <a:avLst/>
          </a:prstGeom>
          <a:noFill/>
          <a:ln cap="flat" cmpd="sng" w="38100">
            <a:solidFill>
              <a:schemeClr val="accent2"/>
            </a:solidFill>
            <a:prstDash val="solid"/>
            <a:round/>
            <a:headEnd len="med" w="med" type="oval"/>
            <a:tailEnd len="med" w="med" type="none"/>
          </a:ln>
        </p:spPr>
      </p:cxnSp>
      <p:cxnSp>
        <p:nvCxnSpPr>
          <p:cNvPr id="999" name="Google Shape;999;p84"/>
          <p:cNvCxnSpPr/>
          <p:nvPr/>
        </p:nvCxnSpPr>
        <p:spPr>
          <a:xfrm flipH="1" rot="10800000">
            <a:off x="12302946" y="3049875"/>
            <a:ext cx="6600" cy="796200"/>
          </a:xfrm>
          <a:prstGeom prst="straightConnector1">
            <a:avLst/>
          </a:prstGeom>
          <a:noFill/>
          <a:ln cap="flat" cmpd="sng" w="38100">
            <a:solidFill>
              <a:schemeClr val="accent2"/>
            </a:solidFill>
            <a:prstDash val="solid"/>
            <a:round/>
            <a:headEnd len="med" w="med" type="oval"/>
            <a:tailEnd len="med" w="med" type="none"/>
          </a:ln>
        </p:spPr>
      </p:cxnSp>
      <p:sp>
        <p:nvSpPr>
          <p:cNvPr id="1000" name="Google Shape;1000;p84"/>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Datastore in Google Cloud</a:t>
            </a:r>
            <a:endParaRPr/>
          </a:p>
        </p:txBody>
      </p:sp>
      <p:sp>
        <p:nvSpPr>
          <p:cNvPr id="1001" name="Google Shape;1001;p8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pic>
        <p:nvPicPr>
          <p:cNvPr id="1006" name="Google Shape;1006;p85"/>
          <p:cNvPicPr preferRelativeResize="0"/>
          <p:nvPr/>
        </p:nvPicPr>
        <p:blipFill rotWithShape="1">
          <a:blip r:embed="rId3">
            <a:alphaModFix/>
          </a:blip>
          <a:srcRect b="0" l="17522" r="16627" t="0"/>
          <a:stretch/>
        </p:blipFill>
        <p:spPr>
          <a:xfrm>
            <a:off x="2295662" y="3232767"/>
            <a:ext cx="2635968" cy="2029061"/>
          </a:xfrm>
          <a:prstGeom prst="rect">
            <a:avLst/>
          </a:prstGeom>
          <a:noFill/>
          <a:ln>
            <a:noFill/>
          </a:ln>
        </p:spPr>
      </p:pic>
      <p:sp>
        <p:nvSpPr>
          <p:cNvPr id="1007" name="Google Shape;1007;p85"/>
          <p:cNvSpPr/>
          <p:nvPr/>
        </p:nvSpPr>
        <p:spPr>
          <a:xfrm>
            <a:off x="1805250" y="5338675"/>
            <a:ext cx="14616300" cy="1455900"/>
          </a:xfrm>
          <a:prstGeom prst="rect">
            <a:avLst/>
          </a:prstGeom>
          <a:solidFill>
            <a:srgbClr val="FBBC05">
              <a:alpha val="24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85"/>
          <p:cNvSpPr txBox="1"/>
          <p:nvPr/>
        </p:nvSpPr>
        <p:spPr>
          <a:xfrm>
            <a:off x="2221664"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Schema-less</a:t>
            </a:r>
            <a:endParaRPr sz="3000">
              <a:solidFill>
                <a:schemeClr val="lt1"/>
              </a:solidFill>
              <a:latin typeface="Roboto"/>
              <a:ea typeface="Roboto"/>
              <a:cs typeface="Roboto"/>
              <a:sym typeface="Roboto"/>
            </a:endParaRPr>
          </a:p>
        </p:txBody>
      </p:sp>
      <p:sp>
        <p:nvSpPr>
          <p:cNvPr id="1009" name="Google Shape;1009;p85"/>
          <p:cNvSpPr txBox="1"/>
          <p:nvPr/>
        </p:nvSpPr>
        <p:spPr>
          <a:xfrm>
            <a:off x="1883862" y="6950575"/>
            <a:ext cx="3520500" cy="208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1500"/>
              </a:spcAft>
              <a:buNone/>
            </a:pPr>
            <a:r>
              <a:rPr lang="en" sz="2300">
                <a:solidFill>
                  <a:schemeClr val="lt1"/>
                </a:solidFill>
                <a:latin typeface="Roboto"/>
                <a:ea typeface="Roboto"/>
                <a:cs typeface="Roboto"/>
                <a:sym typeface="Roboto"/>
              </a:rPr>
              <a:t>Change your data structure as your app evolves</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p:txBody>
      </p:sp>
      <p:sp>
        <p:nvSpPr>
          <p:cNvPr id="1010" name="Google Shape;1010;p85"/>
          <p:cNvSpPr txBox="1"/>
          <p:nvPr/>
        </p:nvSpPr>
        <p:spPr>
          <a:xfrm>
            <a:off x="5824059"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Fast and highly</a:t>
            </a:r>
            <a:r>
              <a:rPr lang="en" sz="3000">
                <a:solidFill>
                  <a:schemeClr val="lt1"/>
                </a:solidFill>
                <a:latin typeface="Roboto"/>
                <a:ea typeface="Roboto"/>
                <a:cs typeface="Roboto"/>
                <a:sym typeface="Roboto"/>
              </a:rPr>
              <a:t> scalable</a:t>
            </a:r>
            <a:endParaRPr sz="3000">
              <a:solidFill>
                <a:schemeClr val="lt1"/>
              </a:solidFill>
              <a:latin typeface="Roboto"/>
              <a:ea typeface="Roboto"/>
              <a:cs typeface="Roboto"/>
              <a:sym typeface="Roboto"/>
            </a:endParaRPr>
          </a:p>
        </p:txBody>
      </p:sp>
      <p:sp>
        <p:nvSpPr>
          <p:cNvPr id="1011" name="Google Shape;1011;p85"/>
          <p:cNvSpPr txBox="1"/>
          <p:nvPr/>
        </p:nvSpPr>
        <p:spPr>
          <a:xfrm>
            <a:off x="5625750" y="6950575"/>
            <a:ext cx="3520500" cy="224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High-speed queries no matter the size of the database</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Seamless scaling.</a:t>
            </a:r>
            <a:endParaRPr sz="2300">
              <a:solidFill>
                <a:schemeClr val="lt1"/>
              </a:solidFill>
              <a:latin typeface="Roboto"/>
              <a:ea typeface="Roboto"/>
              <a:cs typeface="Roboto"/>
              <a:sym typeface="Roboto"/>
            </a:endParaRPr>
          </a:p>
        </p:txBody>
      </p:sp>
      <p:cxnSp>
        <p:nvCxnSpPr>
          <p:cNvPr id="1012" name="Google Shape;1012;p85"/>
          <p:cNvCxnSpPr/>
          <p:nvPr/>
        </p:nvCxnSpPr>
        <p:spPr>
          <a:xfrm flipH="1" rot="10800000">
            <a:off x="5507856" y="3356968"/>
            <a:ext cx="9000" cy="5812800"/>
          </a:xfrm>
          <a:prstGeom prst="straightConnector1">
            <a:avLst/>
          </a:prstGeom>
          <a:noFill/>
          <a:ln cap="flat" cmpd="sng" w="9525">
            <a:solidFill>
              <a:srgbClr val="666666"/>
            </a:solidFill>
            <a:prstDash val="dash"/>
            <a:round/>
            <a:headEnd len="med" w="med" type="none"/>
            <a:tailEnd len="med" w="med" type="none"/>
          </a:ln>
        </p:spPr>
      </p:cxnSp>
      <p:cxnSp>
        <p:nvCxnSpPr>
          <p:cNvPr id="1013" name="Google Shape;1013;p85"/>
          <p:cNvCxnSpPr/>
          <p:nvPr/>
        </p:nvCxnSpPr>
        <p:spPr>
          <a:xfrm flipH="1" rot="10800000">
            <a:off x="9139500"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1014" name="Google Shape;1014;p85"/>
          <p:cNvSpPr txBox="1"/>
          <p:nvPr/>
        </p:nvSpPr>
        <p:spPr>
          <a:xfrm>
            <a:off x="9483192" y="53350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Fully managed</a:t>
            </a:r>
            <a:endParaRPr sz="3000">
              <a:solidFill>
                <a:schemeClr val="lt1"/>
              </a:solidFill>
              <a:latin typeface="Roboto"/>
              <a:ea typeface="Roboto"/>
              <a:cs typeface="Roboto"/>
              <a:sym typeface="Roboto"/>
            </a:endParaRPr>
          </a:p>
        </p:txBody>
      </p:sp>
      <p:cxnSp>
        <p:nvCxnSpPr>
          <p:cNvPr id="1015" name="Google Shape;1015;p85"/>
          <p:cNvCxnSpPr/>
          <p:nvPr/>
        </p:nvCxnSpPr>
        <p:spPr>
          <a:xfrm flipH="1" rot="10800000">
            <a:off x="12798331" y="3352800"/>
            <a:ext cx="9000" cy="5812800"/>
          </a:xfrm>
          <a:prstGeom prst="straightConnector1">
            <a:avLst/>
          </a:prstGeom>
          <a:noFill/>
          <a:ln cap="flat" cmpd="sng" w="9525">
            <a:solidFill>
              <a:srgbClr val="666666"/>
            </a:solidFill>
            <a:prstDash val="dash"/>
            <a:round/>
            <a:headEnd len="med" w="med" type="none"/>
            <a:tailEnd len="med" w="med" type="none"/>
          </a:ln>
        </p:spPr>
      </p:cxnSp>
      <p:sp>
        <p:nvSpPr>
          <p:cNvPr id="1016" name="Google Shape;1016;p85"/>
          <p:cNvSpPr txBox="1"/>
          <p:nvPr/>
        </p:nvSpPr>
        <p:spPr>
          <a:xfrm>
            <a:off x="13143025" y="5335075"/>
            <a:ext cx="2926200" cy="14631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Integrated and secure</a:t>
            </a:r>
            <a:endParaRPr sz="3000">
              <a:solidFill>
                <a:schemeClr val="lt1"/>
              </a:solidFill>
              <a:latin typeface="Roboto"/>
              <a:ea typeface="Roboto"/>
              <a:cs typeface="Roboto"/>
              <a:sym typeface="Roboto"/>
            </a:endParaRPr>
          </a:p>
        </p:txBody>
      </p:sp>
      <p:sp>
        <p:nvSpPr>
          <p:cNvPr id="1017" name="Google Shape;1017;p85"/>
          <p:cNvSpPr txBox="1"/>
          <p:nvPr/>
        </p:nvSpPr>
        <p:spPr>
          <a:xfrm>
            <a:off x="9260100" y="6950575"/>
            <a:ext cx="3520500" cy="224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Instantly provision a scalable and available NoSQL database.</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Automatic sharding and replication.</a:t>
            </a:r>
            <a:endParaRPr sz="2300">
              <a:solidFill>
                <a:schemeClr val="lt1"/>
              </a:solidFill>
              <a:latin typeface="Roboto"/>
              <a:ea typeface="Roboto"/>
              <a:cs typeface="Roboto"/>
              <a:sym typeface="Roboto"/>
            </a:endParaRPr>
          </a:p>
          <a:p>
            <a:pPr indent="0" lvl="0" marL="0" rtl="0" algn="l">
              <a:spcBef>
                <a:spcPts val="1500"/>
              </a:spcBef>
              <a:spcAft>
                <a:spcPts val="0"/>
              </a:spcAft>
              <a:buNone/>
            </a:pPr>
            <a:r>
              <a:t/>
            </a:r>
            <a:endParaRPr sz="2400">
              <a:solidFill>
                <a:srgbClr val="434343"/>
              </a:solidFill>
              <a:latin typeface="Roboto"/>
              <a:ea typeface="Roboto"/>
              <a:cs typeface="Roboto"/>
              <a:sym typeface="Roboto"/>
            </a:endParaRPr>
          </a:p>
          <a:p>
            <a:pPr indent="0" lvl="0" marL="0" rtl="0" algn="l">
              <a:spcBef>
                <a:spcPts val="1500"/>
              </a:spcBef>
              <a:spcAft>
                <a:spcPts val="0"/>
              </a:spcAft>
              <a:buNone/>
            </a:pPr>
            <a:r>
              <a:t/>
            </a:r>
            <a:endParaRPr sz="2400">
              <a:solidFill>
                <a:srgbClr val="434343"/>
              </a:solidFill>
              <a:latin typeface="Roboto"/>
              <a:ea typeface="Roboto"/>
              <a:cs typeface="Roboto"/>
              <a:sym typeface="Roboto"/>
            </a:endParaRPr>
          </a:p>
          <a:p>
            <a:pPr indent="0" lvl="0" marL="0" rtl="0" algn="l">
              <a:spcBef>
                <a:spcPts val="1500"/>
              </a:spcBef>
              <a:spcAft>
                <a:spcPts val="1500"/>
              </a:spcAft>
              <a:buNone/>
            </a:pPr>
            <a:r>
              <a:t/>
            </a:r>
            <a:endParaRPr sz="2400">
              <a:solidFill>
                <a:srgbClr val="434343"/>
              </a:solidFill>
              <a:latin typeface="Roboto"/>
              <a:ea typeface="Roboto"/>
              <a:cs typeface="Roboto"/>
              <a:sym typeface="Roboto"/>
            </a:endParaRPr>
          </a:p>
        </p:txBody>
      </p:sp>
      <p:sp>
        <p:nvSpPr>
          <p:cNvPr id="1018" name="Google Shape;1018;p85"/>
          <p:cNvSpPr txBox="1"/>
          <p:nvPr/>
        </p:nvSpPr>
        <p:spPr>
          <a:xfrm>
            <a:off x="12919925" y="6950575"/>
            <a:ext cx="3520500" cy="224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RESTful interface makes data accessible by any deployment target</a:t>
            </a:r>
            <a:r>
              <a:rPr lang="en" sz="2300">
                <a:solidFill>
                  <a:schemeClr val="lt1"/>
                </a:solidFill>
                <a:latin typeface="Roboto"/>
                <a:ea typeface="Roboto"/>
                <a:cs typeface="Roboto"/>
                <a:sym typeface="Roboto"/>
              </a:rPr>
              <a:t>.</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Serves as an integration point.</a:t>
            </a:r>
            <a:r>
              <a:rPr lang="en" sz="2300">
                <a:solidFill>
                  <a:srgbClr val="434343"/>
                </a:solidFill>
                <a:latin typeface="Roboto"/>
                <a:ea typeface="Roboto"/>
                <a:cs typeface="Roboto"/>
                <a:sym typeface="Roboto"/>
              </a:rPr>
              <a:t> </a:t>
            </a:r>
            <a:endParaRPr sz="2300">
              <a:solidFill>
                <a:srgbClr val="434343"/>
              </a:solidFill>
              <a:latin typeface="Roboto"/>
              <a:ea typeface="Roboto"/>
              <a:cs typeface="Roboto"/>
              <a:sym typeface="Roboto"/>
            </a:endParaRPr>
          </a:p>
        </p:txBody>
      </p:sp>
      <p:pic>
        <p:nvPicPr>
          <p:cNvPr id="1019" name="Google Shape;1019;p85"/>
          <p:cNvPicPr preferRelativeResize="0"/>
          <p:nvPr/>
        </p:nvPicPr>
        <p:blipFill rotWithShape="1">
          <a:blip r:embed="rId4">
            <a:alphaModFix/>
          </a:blip>
          <a:srcRect b="9612" l="17675" r="18650" t="4328"/>
          <a:stretch/>
        </p:blipFill>
        <p:spPr>
          <a:xfrm>
            <a:off x="9533675" y="3232755"/>
            <a:ext cx="2722546" cy="1905782"/>
          </a:xfrm>
          <a:prstGeom prst="rect">
            <a:avLst/>
          </a:prstGeom>
          <a:noFill/>
          <a:ln>
            <a:noFill/>
          </a:ln>
        </p:spPr>
      </p:pic>
      <p:pic>
        <p:nvPicPr>
          <p:cNvPr id="1020" name="Google Shape;1020;p85"/>
          <p:cNvPicPr preferRelativeResize="0"/>
          <p:nvPr/>
        </p:nvPicPr>
        <p:blipFill>
          <a:blip r:embed="rId5">
            <a:alphaModFix/>
          </a:blip>
          <a:stretch>
            <a:fillRect/>
          </a:stretch>
        </p:blipFill>
        <p:spPr>
          <a:xfrm>
            <a:off x="13239756" y="3404630"/>
            <a:ext cx="2515480" cy="1706933"/>
          </a:xfrm>
          <a:prstGeom prst="rect">
            <a:avLst/>
          </a:prstGeom>
          <a:noFill/>
          <a:ln>
            <a:noFill/>
          </a:ln>
        </p:spPr>
      </p:pic>
      <p:pic>
        <p:nvPicPr>
          <p:cNvPr id="1021" name="Google Shape;1021;p85"/>
          <p:cNvPicPr preferRelativeResize="0"/>
          <p:nvPr/>
        </p:nvPicPr>
        <p:blipFill>
          <a:blip r:embed="rId6">
            <a:alphaModFix/>
          </a:blip>
          <a:stretch>
            <a:fillRect/>
          </a:stretch>
        </p:blipFill>
        <p:spPr>
          <a:xfrm>
            <a:off x="6144694" y="3178417"/>
            <a:ext cx="2284357" cy="2010234"/>
          </a:xfrm>
          <a:prstGeom prst="rect">
            <a:avLst/>
          </a:prstGeom>
          <a:noFill/>
          <a:ln>
            <a:noFill/>
          </a:ln>
        </p:spPr>
      </p:pic>
      <p:sp>
        <p:nvSpPr>
          <p:cNvPr id="1022" name="Google Shape;1022;p85"/>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Datastore is a highly available and durable NoSQL database for low-latency serving of data</a:t>
            </a:r>
            <a:endParaRPr/>
          </a:p>
        </p:txBody>
      </p:sp>
      <p:cxnSp>
        <p:nvCxnSpPr>
          <p:cNvPr id="1023" name="Google Shape;1023;p85"/>
          <p:cNvCxnSpPr/>
          <p:nvPr/>
        </p:nvCxnSpPr>
        <p:spPr>
          <a:xfrm>
            <a:off x="1805045" y="5360675"/>
            <a:ext cx="14614200" cy="0"/>
          </a:xfrm>
          <a:prstGeom prst="straightConnector1">
            <a:avLst/>
          </a:prstGeom>
          <a:noFill/>
          <a:ln cap="flat" cmpd="sng" w="38100">
            <a:solidFill>
              <a:srgbClr val="F1C232"/>
            </a:solidFill>
            <a:prstDash val="solid"/>
            <a:round/>
            <a:headEnd len="med" w="med" type="none"/>
            <a:tailEnd len="med" w="med" type="none"/>
          </a:ln>
        </p:spPr>
      </p:cxnSp>
      <p:sp>
        <p:nvSpPr>
          <p:cNvPr id="1024" name="Google Shape;1024;p8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86"/>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Examples of Datastore use cases</a:t>
            </a:r>
            <a:endParaRPr/>
          </a:p>
        </p:txBody>
      </p:sp>
      <p:sp>
        <p:nvSpPr>
          <p:cNvPr id="1030" name="Google Shape;1030;p8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cxnSp>
        <p:nvCxnSpPr>
          <p:cNvPr id="1031" name="Google Shape;1031;p86"/>
          <p:cNvCxnSpPr>
            <a:stCxn id="1032" idx="4"/>
            <a:endCxn id="1033" idx="4"/>
          </p:cNvCxnSpPr>
          <p:nvPr/>
        </p:nvCxnSpPr>
        <p:spPr>
          <a:xfrm>
            <a:off x="2144375" y="3144552"/>
            <a:ext cx="0" cy="3876300"/>
          </a:xfrm>
          <a:prstGeom prst="straightConnector1">
            <a:avLst/>
          </a:prstGeom>
          <a:noFill/>
          <a:ln cap="flat" cmpd="sng" w="38100">
            <a:solidFill>
              <a:srgbClr val="BDC1C6"/>
            </a:solidFill>
            <a:prstDash val="solid"/>
            <a:round/>
            <a:headEnd len="med" w="med" type="none"/>
            <a:tailEnd len="med" w="med" type="none"/>
          </a:ln>
        </p:spPr>
      </p:cxnSp>
      <p:sp>
        <p:nvSpPr>
          <p:cNvPr id="1032" name="Google Shape;1032;p86"/>
          <p:cNvSpPr/>
          <p:nvPr/>
        </p:nvSpPr>
        <p:spPr>
          <a:xfrm>
            <a:off x="1836875" y="2529552"/>
            <a:ext cx="615000" cy="615000"/>
          </a:xfrm>
          <a:prstGeom prst="ellipse">
            <a:avLst/>
          </a:prstGeom>
          <a:solidFill>
            <a:srgbClr val="4285F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1</a:t>
            </a:r>
            <a:endParaRPr b="1" sz="2800">
              <a:solidFill>
                <a:srgbClr val="FFFFFF"/>
              </a:solidFill>
              <a:latin typeface="Google Sans"/>
              <a:ea typeface="Google Sans"/>
              <a:cs typeface="Google Sans"/>
              <a:sym typeface="Google Sans"/>
            </a:endParaRPr>
          </a:p>
        </p:txBody>
      </p:sp>
      <p:sp>
        <p:nvSpPr>
          <p:cNvPr id="1034" name="Google Shape;1034;p86"/>
          <p:cNvSpPr txBox="1"/>
          <p:nvPr/>
        </p:nvSpPr>
        <p:spPr>
          <a:xfrm>
            <a:off x="2564201" y="2432304"/>
            <a:ext cx="68967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User profiles</a:t>
            </a:r>
            <a:endParaRPr sz="2800">
              <a:solidFill>
                <a:srgbClr val="3C4043"/>
              </a:solidFill>
              <a:latin typeface="Roboto"/>
              <a:ea typeface="Roboto"/>
              <a:cs typeface="Roboto"/>
              <a:sym typeface="Roboto"/>
            </a:endParaRPr>
          </a:p>
        </p:txBody>
      </p:sp>
      <p:sp>
        <p:nvSpPr>
          <p:cNvPr id="1035" name="Google Shape;1035;p86"/>
          <p:cNvSpPr/>
          <p:nvPr/>
        </p:nvSpPr>
        <p:spPr>
          <a:xfrm>
            <a:off x="1836875" y="3816634"/>
            <a:ext cx="615000" cy="615000"/>
          </a:xfrm>
          <a:prstGeom prst="ellipse">
            <a:avLst/>
          </a:prstGeom>
          <a:solidFill>
            <a:srgbClr val="EA4335"/>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2</a:t>
            </a:r>
            <a:endParaRPr b="1" sz="2800">
              <a:solidFill>
                <a:srgbClr val="FFFFFF"/>
              </a:solidFill>
              <a:latin typeface="Google Sans"/>
              <a:ea typeface="Google Sans"/>
              <a:cs typeface="Google Sans"/>
              <a:sym typeface="Google Sans"/>
            </a:endParaRPr>
          </a:p>
        </p:txBody>
      </p:sp>
      <p:sp>
        <p:nvSpPr>
          <p:cNvPr id="1036" name="Google Shape;1036;p86"/>
          <p:cNvSpPr/>
          <p:nvPr/>
        </p:nvSpPr>
        <p:spPr>
          <a:xfrm>
            <a:off x="1836875" y="5120903"/>
            <a:ext cx="615000" cy="615000"/>
          </a:xfrm>
          <a:prstGeom prst="ellipse">
            <a:avLst/>
          </a:prstGeom>
          <a:solidFill>
            <a:srgbClr val="FBBC04"/>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434343"/>
                </a:solidFill>
                <a:latin typeface="Google Sans"/>
                <a:ea typeface="Google Sans"/>
                <a:cs typeface="Google Sans"/>
                <a:sym typeface="Google Sans"/>
              </a:rPr>
              <a:t>3</a:t>
            </a:r>
            <a:endParaRPr b="1" sz="2800">
              <a:solidFill>
                <a:srgbClr val="434343"/>
              </a:solidFill>
              <a:latin typeface="Google Sans"/>
              <a:ea typeface="Google Sans"/>
              <a:cs typeface="Google Sans"/>
              <a:sym typeface="Google Sans"/>
            </a:endParaRPr>
          </a:p>
        </p:txBody>
      </p:sp>
      <p:sp>
        <p:nvSpPr>
          <p:cNvPr id="1037" name="Google Shape;1037;p86"/>
          <p:cNvSpPr txBox="1"/>
          <p:nvPr/>
        </p:nvSpPr>
        <p:spPr>
          <a:xfrm>
            <a:off x="2564188" y="5041178"/>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Recording transactions</a:t>
            </a:r>
            <a:endParaRPr sz="2800">
              <a:solidFill>
                <a:srgbClr val="3C4043"/>
              </a:solidFill>
              <a:latin typeface="Roboto"/>
              <a:ea typeface="Roboto"/>
              <a:cs typeface="Roboto"/>
              <a:sym typeface="Roboto"/>
            </a:endParaRPr>
          </a:p>
        </p:txBody>
      </p:sp>
      <p:sp>
        <p:nvSpPr>
          <p:cNvPr id="1033" name="Google Shape;1033;p86"/>
          <p:cNvSpPr/>
          <p:nvPr/>
        </p:nvSpPr>
        <p:spPr>
          <a:xfrm>
            <a:off x="1836875" y="6405779"/>
            <a:ext cx="615000" cy="615000"/>
          </a:xfrm>
          <a:prstGeom prst="ellipse">
            <a:avLst/>
          </a:prstGeom>
          <a:solidFill>
            <a:srgbClr val="34A853"/>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2800">
                <a:solidFill>
                  <a:srgbClr val="FFFFFF"/>
                </a:solidFill>
                <a:latin typeface="Google Sans"/>
                <a:ea typeface="Google Sans"/>
                <a:cs typeface="Google Sans"/>
                <a:sym typeface="Google Sans"/>
              </a:rPr>
              <a:t>4</a:t>
            </a:r>
            <a:endParaRPr b="1" sz="2800">
              <a:solidFill>
                <a:srgbClr val="FFFFFF"/>
              </a:solidFill>
              <a:latin typeface="Google Sans"/>
              <a:ea typeface="Google Sans"/>
              <a:cs typeface="Google Sans"/>
              <a:sym typeface="Google Sans"/>
            </a:endParaRPr>
          </a:p>
        </p:txBody>
      </p:sp>
      <p:sp>
        <p:nvSpPr>
          <p:cNvPr id="1038" name="Google Shape;1038;p86"/>
          <p:cNvSpPr txBox="1"/>
          <p:nvPr/>
        </p:nvSpPr>
        <p:spPr>
          <a:xfrm>
            <a:off x="2564188" y="3745778"/>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Product catalogues</a:t>
            </a:r>
            <a:endParaRPr sz="2800">
              <a:solidFill>
                <a:srgbClr val="3C4043"/>
              </a:solidFill>
              <a:latin typeface="Roboto"/>
              <a:ea typeface="Roboto"/>
              <a:cs typeface="Roboto"/>
              <a:sym typeface="Roboto"/>
            </a:endParaRPr>
          </a:p>
        </p:txBody>
      </p:sp>
      <p:sp>
        <p:nvSpPr>
          <p:cNvPr id="1039" name="Google Shape;1039;p86"/>
          <p:cNvSpPr txBox="1"/>
          <p:nvPr/>
        </p:nvSpPr>
        <p:spPr>
          <a:xfrm>
            <a:off x="2564188" y="6336578"/>
            <a:ext cx="6344400" cy="704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2000"/>
              </a:spcAft>
              <a:buNone/>
            </a:pPr>
            <a:r>
              <a:rPr lang="en" sz="2800">
                <a:solidFill>
                  <a:srgbClr val="3C4043"/>
                </a:solidFill>
                <a:latin typeface="Roboto"/>
                <a:ea typeface="Roboto"/>
                <a:cs typeface="Roboto"/>
                <a:sym typeface="Roboto"/>
              </a:rPr>
              <a:t>Mobile games</a:t>
            </a:r>
            <a:endParaRPr sz="2800">
              <a:solidFill>
                <a:srgbClr val="3C4043"/>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87"/>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rPr>
              <a:t>Cloud Bigtable as a NoSQL Option</a:t>
            </a:r>
            <a:endParaRPr>
              <a:solidFill>
                <a:schemeClr val="accent2"/>
              </a:solidFill>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t>Summary</a:t>
            </a:r>
            <a:endParaRPr/>
          </a:p>
        </p:txBody>
      </p:sp>
      <p:sp>
        <p:nvSpPr>
          <p:cNvPr id="1045" name="Google Shape;1045;p87"/>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046" name="Google Shape;1046;p8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8"/>
          <p:cNvSpPr/>
          <p:nvPr/>
        </p:nvSpPr>
        <p:spPr>
          <a:xfrm>
            <a:off x="139103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1052" name="Google Shape;1052;p88"/>
          <p:cNvSpPr/>
          <p:nvPr/>
        </p:nvSpPr>
        <p:spPr>
          <a:xfrm>
            <a:off x="10938582" y="3846075"/>
            <a:ext cx="25602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1053" name="Google Shape;1053;p88"/>
          <p:cNvSpPr/>
          <p:nvPr/>
        </p:nvSpPr>
        <p:spPr>
          <a:xfrm>
            <a:off x="6435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1054" name="Google Shape;1054;p88"/>
          <p:cNvSpPr/>
          <p:nvPr/>
        </p:nvSpPr>
        <p:spPr>
          <a:xfrm>
            <a:off x="1863546" y="3846075"/>
            <a:ext cx="4114800" cy="80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solidFill>
                <a:srgbClr val="FFFFFF"/>
              </a:solidFill>
              <a:latin typeface="Roboto"/>
              <a:ea typeface="Roboto"/>
              <a:cs typeface="Roboto"/>
              <a:sym typeface="Roboto"/>
            </a:endParaRPr>
          </a:p>
        </p:txBody>
      </p:sp>
      <p:sp>
        <p:nvSpPr>
          <p:cNvPr id="1055" name="Google Shape;1055;p88"/>
          <p:cNvSpPr/>
          <p:nvPr/>
        </p:nvSpPr>
        <p:spPr>
          <a:xfrm>
            <a:off x="8494776" y="3374275"/>
            <a:ext cx="2095500" cy="4797000"/>
          </a:xfrm>
          <a:prstGeom prst="roundRect">
            <a:avLst>
              <a:gd fmla="val 7451" name="adj"/>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6" name="Google Shape;1056;p88"/>
          <p:cNvGrpSpPr/>
          <p:nvPr/>
        </p:nvGrpSpPr>
        <p:grpSpPr>
          <a:xfrm>
            <a:off x="11003082" y="4938940"/>
            <a:ext cx="2431200" cy="2518982"/>
            <a:chOff x="2584781" y="5677577"/>
            <a:chExt cx="2431200" cy="2518982"/>
          </a:xfrm>
        </p:grpSpPr>
        <p:pic>
          <p:nvPicPr>
            <p:cNvPr id="1057" name="Google Shape;1057;p88"/>
            <p:cNvPicPr preferRelativeResize="0"/>
            <p:nvPr/>
          </p:nvPicPr>
          <p:blipFill rotWithShape="1">
            <a:blip r:embed="rId3">
              <a:alphaModFix/>
            </a:blip>
            <a:srcRect b="1662" l="0" r="0" t="1672"/>
            <a:stretch/>
          </p:blipFill>
          <p:spPr>
            <a:xfrm>
              <a:off x="2824230" y="5677577"/>
              <a:ext cx="1952307" cy="1887159"/>
            </a:xfrm>
            <a:prstGeom prst="rect">
              <a:avLst/>
            </a:prstGeom>
            <a:noFill/>
            <a:ln>
              <a:noFill/>
            </a:ln>
          </p:spPr>
        </p:pic>
        <p:sp>
          <p:nvSpPr>
            <p:cNvPr id="1058" name="Google Shape;1058;p88"/>
            <p:cNvSpPr txBox="1"/>
            <p:nvPr/>
          </p:nvSpPr>
          <p:spPr>
            <a:xfrm>
              <a:off x="2584781" y="747175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Storage</a:t>
              </a:r>
              <a:endParaRPr sz="2800">
                <a:solidFill>
                  <a:schemeClr val="lt1"/>
                </a:solidFill>
                <a:latin typeface="Google Sans"/>
                <a:ea typeface="Google Sans"/>
                <a:cs typeface="Google Sans"/>
                <a:sym typeface="Google Sans"/>
              </a:endParaRPr>
            </a:p>
          </p:txBody>
        </p:sp>
      </p:grpSp>
      <p:grpSp>
        <p:nvGrpSpPr>
          <p:cNvPr id="1059" name="Google Shape;1059;p88"/>
          <p:cNvGrpSpPr/>
          <p:nvPr/>
        </p:nvGrpSpPr>
        <p:grpSpPr>
          <a:xfrm>
            <a:off x="1674558" y="4915594"/>
            <a:ext cx="4492777" cy="2575185"/>
            <a:chOff x="1598358" y="5677594"/>
            <a:chExt cx="4492777" cy="2575185"/>
          </a:xfrm>
        </p:grpSpPr>
        <p:grpSp>
          <p:nvGrpSpPr>
            <p:cNvPr id="1060" name="Google Shape;1060;p88"/>
            <p:cNvGrpSpPr/>
            <p:nvPr/>
          </p:nvGrpSpPr>
          <p:grpSpPr>
            <a:xfrm>
              <a:off x="3659935" y="5677594"/>
              <a:ext cx="2431200" cy="2565645"/>
              <a:chOff x="7258661" y="5677594"/>
              <a:chExt cx="2431200" cy="2565645"/>
            </a:xfrm>
          </p:grpSpPr>
          <p:sp>
            <p:nvSpPr>
              <p:cNvPr id="1061" name="Google Shape;1061;p88"/>
              <p:cNvSpPr txBox="1"/>
              <p:nvPr/>
            </p:nvSpPr>
            <p:spPr>
              <a:xfrm>
                <a:off x="7258661" y="751843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Spanner</a:t>
                </a:r>
                <a:endParaRPr sz="2800">
                  <a:solidFill>
                    <a:schemeClr val="lt1"/>
                  </a:solidFill>
                  <a:latin typeface="Google Sans"/>
                  <a:ea typeface="Google Sans"/>
                  <a:cs typeface="Google Sans"/>
                  <a:sym typeface="Google Sans"/>
                </a:endParaRPr>
              </a:p>
            </p:txBody>
          </p:sp>
          <p:pic>
            <p:nvPicPr>
              <p:cNvPr id="1062" name="Google Shape;1062;p88"/>
              <p:cNvPicPr preferRelativeResize="0"/>
              <p:nvPr/>
            </p:nvPicPr>
            <p:blipFill rotWithShape="1">
              <a:blip r:embed="rId4">
                <a:alphaModFix/>
              </a:blip>
              <a:srcRect b="1162" l="0" r="0" t="1152"/>
              <a:stretch/>
            </p:blipFill>
            <p:spPr>
              <a:xfrm>
                <a:off x="7495703" y="5677594"/>
                <a:ext cx="1957121" cy="1911883"/>
              </a:xfrm>
              <a:prstGeom prst="rect">
                <a:avLst/>
              </a:prstGeom>
              <a:noFill/>
              <a:ln>
                <a:noFill/>
              </a:ln>
            </p:spPr>
          </p:pic>
        </p:grpSp>
        <p:pic>
          <p:nvPicPr>
            <p:cNvPr id="1063" name="Google Shape;1063;p88"/>
            <p:cNvPicPr preferRelativeResize="0"/>
            <p:nvPr/>
          </p:nvPicPr>
          <p:blipFill rotWithShape="1">
            <a:blip r:embed="rId5">
              <a:alphaModFix/>
            </a:blip>
            <a:srcRect b="6201" l="0" r="0" t="6201"/>
            <a:stretch/>
          </p:blipFill>
          <p:spPr>
            <a:xfrm>
              <a:off x="1837797" y="5778045"/>
              <a:ext cx="1952327" cy="1710225"/>
            </a:xfrm>
            <a:prstGeom prst="rect">
              <a:avLst/>
            </a:prstGeom>
            <a:noFill/>
            <a:ln>
              <a:noFill/>
            </a:ln>
          </p:spPr>
        </p:pic>
        <p:sp>
          <p:nvSpPr>
            <p:cNvPr id="1064" name="Google Shape;1064;p88"/>
            <p:cNvSpPr txBox="1"/>
            <p:nvPr/>
          </p:nvSpPr>
          <p:spPr>
            <a:xfrm>
              <a:off x="1598358"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a:t>
              </a:r>
              <a:endParaRPr sz="2800">
                <a:solidFill>
                  <a:schemeClr val="lt1"/>
                </a:solidFill>
                <a:latin typeface="Google Sans"/>
                <a:ea typeface="Google Sans"/>
                <a:cs typeface="Google Sans"/>
                <a:sym typeface="Google Sans"/>
              </a:endParaRPr>
            </a:p>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SQL</a:t>
              </a:r>
              <a:endParaRPr sz="2800">
                <a:solidFill>
                  <a:schemeClr val="lt1"/>
                </a:solidFill>
                <a:latin typeface="Google Sans"/>
                <a:ea typeface="Google Sans"/>
                <a:cs typeface="Google Sans"/>
                <a:sym typeface="Google Sans"/>
              </a:endParaRPr>
            </a:p>
          </p:txBody>
        </p:sp>
      </p:grpSp>
      <p:grpSp>
        <p:nvGrpSpPr>
          <p:cNvPr id="1065" name="Google Shape;1065;p88"/>
          <p:cNvGrpSpPr/>
          <p:nvPr/>
        </p:nvGrpSpPr>
        <p:grpSpPr>
          <a:xfrm>
            <a:off x="8316489" y="5016045"/>
            <a:ext cx="2431200" cy="2474735"/>
            <a:chOff x="11897889" y="5778045"/>
            <a:chExt cx="2431200" cy="2474735"/>
          </a:xfrm>
        </p:grpSpPr>
        <p:pic>
          <p:nvPicPr>
            <p:cNvPr id="1066" name="Google Shape;1066;p88"/>
            <p:cNvPicPr preferRelativeResize="0"/>
            <p:nvPr/>
          </p:nvPicPr>
          <p:blipFill rotWithShape="1">
            <a:blip r:embed="rId6">
              <a:alphaModFix/>
            </a:blip>
            <a:srcRect b="7029" l="0" r="0" t="7029"/>
            <a:stretch/>
          </p:blipFill>
          <p:spPr>
            <a:xfrm>
              <a:off x="12134931" y="5778045"/>
              <a:ext cx="1957121" cy="1681882"/>
            </a:xfrm>
            <a:prstGeom prst="rect">
              <a:avLst/>
            </a:prstGeom>
            <a:noFill/>
            <a:ln>
              <a:noFill/>
            </a:ln>
          </p:spPr>
        </p:pic>
        <p:sp>
          <p:nvSpPr>
            <p:cNvPr id="1067" name="Google Shape;1067;p88"/>
            <p:cNvSpPr txBox="1"/>
            <p:nvPr/>
          </p:nvSpPr>
          <p:spPr>
            <a:xfrm>
              <a:off x="11897889" y="7527979"/>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Cloud Bigtable</a:t>
              </a:r>
              <a:endParaRPr sz="2800">
                <a:solidFill>
                  <a:schemeClr val="lt1"/>
                </a:solidFill>
                <a:latin typeface="Google Sans"/>
                <a:ea typeface="Google Sans"/>
                <a:cs typeface="Google Sans"/>
                <a:sym typeface="Google Sans"/>
              </a:endParaRPr>
            </a:p>
          </p:txBody>
        </p:sp>
      </p:grpSp>
      <p:sp>
        <p:nvSpPr>
          <p:cNvPr id="1068" name="Google Shape;1068;p88"/>
          <p:cNvSpPr txBox="1"/>
          <p:nvPr/>
        </p:nvSpPr>
        <p:spPr>
          <a:xfrm>
            <a:off x="6254912"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Datastore</a:t>
            </a:r>
            <a:endParaRPr sz="2800">
              <a:solidFill>
                <a:schemeClr val="lt1"/>
              </a:solidFill>
              <a:latin typeface="Google Sans"/>
              <a:ea typeface="Google Sans"/>
              <a:cs typeface="Google Sans"/>
              <a:sym typeface="Google Sans"/>
            </a:endParaRPr>
          </a:p>
        </p:txBody>
      </p:sp>
      <p:pic>
        <p:nvPicPr>
          <p:cNvPr id="1069" name="Google Shape;1069;p88"/>
          <p:cNvPicPr preferRelativeResize="0"/>
          <p:nvPr/>
        </p:nvPicPr>
        <p:blipFill rotWithShape="1">
          <a:blip r:embed="rId7">
            <a:alphaModFix/>
          </a:blip>
          <a:srcRect b="5689" l="0" r="0" t="5681"/>
          <a:stretch/>
        </p:blipFill>
        <p:spPr>
          <a:xfrm>
            <a:off x="6492010" y="5016054"/>
            <a:ext cx="1956900" cy="1734600"/>
          </a:xfrm>
          <a:prstGeom prst="rect">
            <a:avLst/>
          </a:prstGeom>
          <a:noFill/>
          <a:ln>
            <a:noFill/>
          </a:ln>
        </p:spPr>
      </p:pic>
      <p:pic>
        <p:nvPicPr>
          <p:cNvPr id="1070" name="Google Shape;1070;p88"/>
          <p:cNvPicPr preferRelativeResize="0"/>
          <p:nvPr/>
        </p:nvPicPr>
        <p:blipFill rotWithShape="1">
          <a:blip r:embed="rId8">
            <a:alphaModFix/>
          </a:blip>
          <a:srcRect b="1662" l="0" r="0" t="1672"/>
          <a:stretch/>
        </p:blipFill>
        <p:spPr>
          <a:xfrm>
            <a:off x="14225446" y="4938940"/>
            <a:ext cx="1952307" cy="1887159"/>
          </a:xfrm>
          <a:prstGeom prst="rect">
            <a:avLst/>
          </a:prstGeom>
          <a:noFill/>
          <a:ln>
            <a:noFill/>
          </a:ln>
        </p:spPr>
      </p:pic>
      <p:sp>
        <p:nvSpPr>
          <p:cNvPr id="1071" name="Google Shape;1071;p88"/>
          <p:cNvSpPr txBox="1"/>
          <p:nvPr/>
        </p:nvSpPr>
        <p:spPr>
          <a:xfrm>
            <a:off x="13986000" y="6885521"/>
            <a:ext cx="2431200" cy="724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n" sz="2800">
                <a:solidFill>
                  <a:schemeClr val="lt1"/>
                </a:solidFill>
                <a:latin typeface="Google Sans"/>
                <a:ea typeface="Google Sans"/>
                <a:cs typeface="Google Sans"/>
                <a:sym typeface="Google Sans"/>
              </a:rPr>
              <a:t>BigQuery</a:t>
            </a:r>
            <a:endParaRPr sz="2800">
              <a:solidFill>
                <a:schemeClr val="lt1"/>
              </a:solidFill>
              <a:latin typeface="Google Sans"/>
              <a:ea typeface="Google Sans"/>
              <a:cs typeface="Google Sans"/>
              <a:sym typeface="Google Sans"/>
            </a:endParaRPr>
          </a:p>
        </p:txBody>
      </p:sp>
      <p:sp>
        <p:nvSpPr>
          <p:cNvPr id="1072" name="Google Shape;1072;p88"/>
          <p:cNvSpPr/>
          <p:nvPr/>
        </p:nvSpPr>
        <p:spPr>
          <a:xfrm>
            <a:off x="1863546" y="3998475"/>
            <a:ext cx="4114800" cy="8025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Relational</a:t>
            </a:r>
            <a:endParaRPr sz="3000">
              <a:solidFill>
                <a:srgbClr val="FFFFFF"/>
              </a:solidFill>
              <a:latin typeface="Roboto"/>
              <a:ea typeface="Roboto"/>
              <a:cs typeface="Roboto"/>
              <a:sym typeface="Roboto"/>
            </a:endParaRPr>
          </a:p>
        </p:txBody>
      </p:sp>
      <p:sp>
        <p:nvSpPr>
          <p:cNvPr id="1073" name="Google Shape;1073;p88"/>
          <p:cNvSpPr/>
          <p:nvPr/>
        </p:nvSpPr>
        <p:spPr>
          <a:xfrm>
            <a:off x="6401064" y="3998475"/>
            <a:ext cx="4114800" cy="8025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Non-relational</a:t>
            </a:r>
            <a:endParaRPr sz="3000">
              <a:solidFill>
                <a:srgbClr val="FFFFFF"/>
              </a:solidFill>
              <a:latin typeface="Roboto"/>
              <a:ea typeface="Roboto"/>
              <a:cs typeface="Roboto"/>
              <a:sym typeface="Roboto"/>
            </a:endParaRPr>
          </a:p>
        </p:txBody>
      </p:sp>
      <p:sp>
        <p:nvSpPr>
          <p:cNvPr id="1074" name="Google Shape;1074;p88"/>
          <p:cNvSpPr/>
          <p:nvPr/>
        </p:nvSpPr>
        <p:spPr>
          <a:xfrm>
            <a:off x="10938582" y="3998475"/>
            <a:ext cx="2560200" cy="802500"/>
          </a:xfrm>
          <a:prstGeom prst="rect">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Object</a:t>
            </a:r>
            <a:endParaRPr sz="3000">
              <a:solidFill>
                <a:srgbClr val="FFFFFF"/>
              </a:solidFill>
              <a:latin typeface="Roboto"/>
              <a:ea typeface="Roboto"/>
              <a:cs typeface="Roboto"/>
              <a:sym typeface="Roboto"/>
            </a:endParaRPr>
          </a:p>
        </p:txBody>
      </p:sp>
      <p:sp>
        <p:nvSpPr>
          <p:cNvPr id="1075" name="Google Shape;1075;p88"/>
          <p:cNvSpPr/>
          <p:nvPr/>
        </p:nvSpPr>
        <p:spPr>
          <a:xfrm>
            <a:off x="13921500" y="3998475"/>
            <a:ext cx="2560200" cy="802500"/>
          </a:xfrm>
          <a:prstGeom prst="rect">
            <a:avLst/>
          </a:prstGeom>
          <a:solidFill>
            <a:schemeClr val="accent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Warehouse</a:t>
            </a:r>
            <a:endParaRPr sz="3000">
              <a:solidFill>
                <a:srgbClr val="FFFFFF"/>
              </a:solidFill>
              <a:latin typeface="Roboto"/>
              <a:ea typeface="Roboto"/>
              <a:cs typeface="Roboto"/>
              <a:sym typeface="Roboto"/>
            </a:endParaRPr>
          </a:p>
        </p:txBody>
      </p:sp>
      <p:cxnSp>
        <p:nvCxnSpPr>
          <p:cNvPr id="1076" name="Google Shape;1076;p88"/>
          <p:cNvCxnSpPr>
            <a:stCxn id="1054" idx="0"/>
            <a:endCxn id="1051" idx="0"/>
          </p:cNvCxnSpPr>
          <p:nvPr/>
        </p:nvCxnSpPr>
        <p:spPr>
          <a:xfrm flipH="1" rot="-5400000">
            <a:off x="9555396" y="-1788375"/>
            <a:ext cx="600" cy="11269500"/>
          </a:xfrm>
          <a:prstGeom prst="bentConnector3">
            <a:avLst>
              <a:gd fmla="val -133350000" name="adj1"/>
            </a:avLst>
          </a:prstGeom>
          <a:noFill/>
          <a:ln cap="flat" cmpd="sng" w="38100">
            <a:solidFill>
              <a:schemeClr val="accent2"/>
            </a:solidFill>
            <a:prstDash val="solid"/>
            <a:round/>
            <a:headEnd len="med" w="med" type="oval"/>
            <a:tailEnd len="med" w="med" type="oval"/>
          </a:ln>
        </p:spPr>
      </p:cxnSp>
      <p:cxnSp>
        <p:nvCxnSpPr>
          <p:cNvPr id="1077" name="Google Shape;1077;p88"/>
          <p:cNvCxnSpPr>
            <a:stCxn id="1053" idx="0"/>
          </p:cNvCxnSpPr>
          <p:nvPr/>
        </p:nvCxnSpPr>
        <p:spPr>
          <a:xfrm flipH="1" rot="10800000">
            <a:off x="8492946" y="3049875"/>
            <a:ext cx="6600" cy="796200"/>
          </a:xfrm>
          <a:prstGeom prst="straightConnector1">
            <a:avLst/>
          </a:prstGeom>
          <a:noFill/>
          <a:ln cap="flat" cmpd="sng" w="38100">
            <a:solidFill>
              <a:schemeClr val="accent2"/>
            </a:solidFill>
            <a:prstDash val="solid"/>
            <a:round/>
            <a:headEnd len="med" w="med" type="oval"/>
            <a:tailEnd len="med" w="med" type="none"/>
          </a:ln>
        </p:spPr>
      </p:cxnSp>
      <p:cxnSp>
        <p:nvCxnSpPr>
          <p:cNvPr id="1078" name="Google Shape;1078;p88"/>
          <p:cNvCxnSpPr/>
          <p:nvPr/>
        </p:nvCxnSpPr>
        <p:spPr>
          <a:xfrm flipH="1" rot="10800000">
            <a:off x="12302946" y="3049875"/>
            <a:ext cx="6600" cy="796200"/>
          </a:xfrm>
          <a:prstGeom prst="straightConnector1">
            <a:avLst/>
          </a:prstGeom>
          <a:noFill/>
          <a:ln cap="flat" cmpd="sng" w="38100">
            <a:solidFill>
              <a:schemeClr val="accent2"/>
            </a:solidFill>
            <a:prstDash val="solid"/>
            <a:round/>
            <a:headEnd len="med" w="med" type="oval"/>
            <a:tailEnd len="med" w="med" type="none"/>
          </a:ln>
        </p:spPr>
      </p:cxnSp>
      <p:sp>
        <p:nvSpPr>
          <p:cNvPr id="1079" name="Google Shape;1079;p88"/>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in Google Cloud</a:t>
            </a:r>
            <a:endParaRPr/>
          </a:p>
        </p:txBody>
      </p:sp>
      <p:sp>
        <p:nvSpPr>
          <p:cNvPr id="1080" name="Google Shape;1080;p8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9">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pic>
        <p:nvPicPr>
          <p:cNvPr id="1085" name="Google Shape;1085;p89"/>
          <p:cNvPicPr preferRelativeResize="0"/>
          <p:nvPr/>
        </p:nvPicPr>
        <p:blipFill rotWithShape="1">
          <a:blip r:embed="rId3">
            <a:alphaModFix/>
          </a:blip>
          <a:srcRect b="0" l="0" r="0" t="0"/>
          <a:stretch/>
        </p:blipFill>
        <p:spPr>
          <a:xfrm>
            <a:off x="8468269" y="6719214"/>
            <a:ext cx="2389632" cy="2391382"/>
          </a:xfrm>
          <a:prstGeom prst="rect">
            <a:avLst/>
          </a:prstGeom>
          <a:noFill/>
          <a:ln>
            <a:noFill/>
          </a:ln>
        </p:spPr>
      </p:pic>
      <p:sp>
        <p:nvSpPr>
          <p:cNvPr id="1086" name="Google Shape;1086;p89"/>
          <p:cNvSpPr/>
          <p:nvPr/>
        </p:nvSpPr>
        <p:spPr>
          <a:xfrm>
            <a:off x="4270093" y="5567842"/>
            <a:ext cx="3864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89"/>
          <p:cNvSpPr/>
          <p:nvPr/>
        </p:nvSpPr>
        <p:spPr>
          <a:xfrm>
            <a:off x="7799857" y="7554482"/>
            <a:ext cx="3864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89"/>
          <p:cNvSpPr/>
          <p:nvPr/>
        </p:nvSpPr>
        <p:spPr>
          <a:xfrm>
            <a:off x="10114813" y="7554482"/>
            <a:ext cx="3864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9" name="Google Shape;1089;p89"/>
          <p:cNvPicPr preferRelativeResize="0"/>
          <p:nvPr/>
        </p:nvPicPr>
        <p:blipFill>
          <a:blip r:embed="rId4">
            <a:alphaModFix/>
          </a:blip>
          <a:stretch>
            <a:fillRect/>
          </a:stretch>
        </p:blipFill>
        <p:spPr>
          <a:xfrm>
            <a:off x="1870948" y="2747240"/>
            <a:ext cx="3175324" cy="2451327"/>
          </a:xfrm>
          <a:prstGeom prst="rect">
            <a:avLst/>
          </a:prstGeom>
          <a:noFill/>
          <a:ln>
            <a:noFill/>
          </a:ln>
        </p:spPr>
      </p:pic>
      <p:pic>
        <p:nvPicPr>
          <p:cNvPr id="1090" name="Google Shape;1090;p89"/>
          <p:cNvPicPr preferRelativeResize="0"/>
          <p:nvPr/>
        </p:nvPicPr>
        <p:blipFill>
          <a:blip r:embed="rId5">
            <a:alphaModFix/>
          </a:blip>
          <a:stretch>
            <a:fillRect/>
          </a:stretch>
        </p:blipFill>
        <p:spPr>
          <a:xfrm>
            <a:off x="14270162" y="3050105"/>
            <a:ext cx="2146890" cy="2148462"/>
          </a:xfrm>
          <a:prstGeom prst="rect">
            <a:avLst/>
          </a:prstGeom>
          <a:noFill/>
          <a:ln>
            <a:noFill/>
          </a:ln>
        </p:spPr>
      </p:pic>
      <p:pic>
        <p:nvPicPr>
          <p:cNvPr id="1091" name="Google Shape;1091;p89"/>
          <p:cNvPicPr preferRelativeResize="0"/>
          <p:nvPr/>
        </p:nvPicPr>
        <p:blipFill>
          <a:blip r:embed="rId6">
            <a:alphaModFix/>
          </a:blip>
          <a:stretch>
            <a:fillRect/>
          </a:stretch>
        </p:blipFill>
        <p:spPr>
          <a:xfrm>
            <a:off x="10652806" y="3075713"/>
            <a:ext cx="2095713" cy="2097246"/>
          </a:xfrm>
          <a:prstGeom prst="rect">
            <a:avLst/>
          </a:prstGeom>
          <a:noFill/>
          <a:ln>
            <a:noFill/>
          </a:ln>
        </p:spPr>
      </p:pic>
      <p:pic>
        <p:nvPicPr>
          <p:cNvPr id="1092" name="Google Shape;1092;p89"/>
          <p:cNvPicPr preferRelativeResize="0"/>
          <p:nvPr/>
        </p:nvPicPr>
        <p:blipFill rotWithShape="1">
          <a:blip r:embed="rId7">
            <a:alphaModFix/>
          </a:blip>
          <a:srcRect b="0" l="9842" r="10393" t="0"/>
          <a:stretch/>
        </p:blipFill>
        <p:spPr>
          <a:xfrm>
            <a:off x="5671800" y="3280071"/>
            <a:ext cx="3907416" cy="1688529"/>
          </a:xfrm>
          <a:prstGeom prst="rect">
            <a:avLst/>
          </a:prstGeom>
          <a:noFill/>
          <a:ln>
            <a:noFill/>
          </a:ln>
        </p:spPr>
      </p:pic>
      <p:sp>
        <p:nvSpPr>
          <p:cNvPr id="1093" name="Google Shape;1093;p89"/>
          <p:cNvSpPr/>
          <p:nvPr/>
        </p:nvSpPr>
        <p:spPr>
          <a:xfrm>
            <a:off x="7392366" y="5948385"/>
            <a:ext cx="4662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89"/>
          <p:cNvSpPr/>
          <p:nvPr/>
        </p:nvSpPr>
        <p:spPr>
          <a:xfrm>
            <a:off x="11467519" y="5948385"/>
            <a:ext cx="4662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5" name="Google Shape;1095;p89"/>
          <p:cNvCxnSpPr>
            <a:stCxn id="1089" idx="2"/>
            <a:endCxn id="1090" idx="2"/>
          </p:cNvCxnSpPr>
          <p:nvPr/>
        </p:nvCxnSpPr>
        <p:spPr>
          <a:xfrm flipH="1" rot="-5400000">
            <a:off x="9400859" y="-743683"/>
            <a:ext cx="600" cy="11885100"/>
          </a:xfrm>
          <a:prstGeom prst="bentConnector3">
            <a:avLst>
              <a:gd fmla="val 127426793" name="adj1"/>
            </a:avLst>
          </a:prstGeom>
          <a:noFill/>
          <a:ln cap="flat" cmpd="sng" w="28575">
            <a:solidFill>
              <a:schemeClr val="accent2"/>
            </a:solidFill>
            <a:prstDash val="solid"/>
            <a:round/>
            <a:headEnd len="med" w="med" type="oval"/>
            <a:tailEnd len="med" w="med" type="oval"/>
          </a:ln>
        </p:spPr>
      </p:cxnSp>
      <p:cxnSp>
        <p:nvCxnSpPr>
          <p:cNvPr id="1096" name="Google Shape;1096;p89"/>
          <p:cNvCxnSpPr>
            <a:stCxn id="1093" idx="0"/>
            <a:endCxn id="1092" idx="2"/>
          </p:cNvCxnSpPr>
          <p:nvPr/>
        </p:nvCxnSpPr>
        <p:spPr>
          <a:xfrm rot="10800000">
            <a:off x="7625466" y="4968585"/>
            <a:ext cx="0" cy="979800"/>
          </a:xfrm>
          <a:prstGeom prst="straightConnector1">
            <a:avLst/>
          </a:prstGeom>
          <a:noFill/>
          <a:ln cap="flat" cmpd="sng" w="28575">
            <a:solidFill>
              <a:schemeClr val="accent2"/>
            </a:solidFill>
            <a:prstDash val="solid"/>
            <a:round/>
            <a:headEnd len="med" w="med" type="none"/>
            <a:tailEnd len="med" w="med" type="oval"/>
          </a:ln>
        </p:spPr>
      </p:cxnSp>
      <p:cxnSp>
        <p:nvCxnSpPr>
          <p:cNvPr id="1097" name="Google Shape;1097;p89"/>
          <p:cNvCxnSpPr>
            <a:stCxn id="1094" idx="0"/>
            <a:endCxn id="1091" idx="2"/>
          </p:cNvCxnSpPr>
          <p:nvPr/>
        </p:nvCxnSpPr>
        <p:spPr>
          <a:xfrm rot="10800000">
            <a:off x="11700619" y="5172885"/>
            <a:ext cx="0" cy="775500"/>
          </a:xfrm>
          <a:prstGeom prst="straightConnector1">
            <a:avLst/>
          </a:prstGeom>
          <a:noFill/>
          <a:ln cap="flat" cmpd="sng" w="28575">
            <a:solidFill>
              <a:schemeClr val="accent2"/>
            </a:solidFill>
            <a:prstDash val="solid"/>
            <a:round/>
            <a:headEnd len="med" w="med" type="none"/>
            <a:tailEnd len="med" w="med" type="oval"/>
          </a:ln>
        </p:spPr>
      </p:cxnSp>
      <p:sp>
        <p:nvSpPr>
          <p:cNvPr id="1098" name="Google Shape;1098;p89"/>
          <p:cNvSpPr/>
          <p:nvPr/>
        </p:nvSpPr>
        <p:spPr>
          <a:xfrm>
            <a:off x="9429955" y="5514291"/>
            <a:ext cx="466200" cy="42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9" name="Google Shape;1099;p89"/>
          <p:cNvCxnSpPr>
            <a:stCxn id="1085" idx="0"/>
            <a:endCxn id="1098" idx="2"/>
          </p:cNvCxnSpPr>
          <p:nvPr/>
        </p:nvCxnSpPr>
        <p:spPr>
          <a:xfrm rot="10800000">
            <a:off x="9663085" y="5936514"/>
            <a:ext cx="0" cy="782700"/>
          </a:xfrm>
          <a:prstGeom prst="straightConnector1">
            <a:avLst/>
          </a:prstGeom>
          <a:noFill/>
          <a:ln cap="flat" cmpd="sng" w="28575">
            <a:solidFill>
              <a:schemeClr val="accent2"/>
            </a:solidFill>
            <a:prstDash val="solid"/>
            <a:round/>
            <a:headEnd len="med" w="med" type="oval"/>
            <a:tailEnd len="med" w="med" type="none"/>
          </a:ln>
        </p:spPr>
      </p:cxnSp>
      <p:sp>
        <p:nvSpPr>
          <p:cNvPr id="1100" name="Google Shape;1100;p89"/>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uses Cloud Bigtable too!</a:t>
            </a:r>
            <a:endParaRPr/>
          </a:p>
        </p:txBody>
      </p:sp>
      <p:sp>
        <p:nvSpPr>
          <p:cNvPr id="1101" name="Google Shape;1101;p8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8">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90"/>
          <p:cNvSpPr/>
          <p:nvPr/>
        </p:nvSpPr>
        <p:spPr>
          <a:xfrm>
            <a:off x="1805250" y="5033875"/>
            <a:ext cx="14616300" cy="1455900"/>
          </a:xfrm>
          <a:prstGeom prst="rect">
            <a:avLst/>
          </a:prstGeom>
          <a:solidFill>
            <a:srgbClr val="FBBC05">
              <a:alpha val="246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90"/>
          <p:cNvSpPr txBox="1"/>
          <p:nvPr/>
        </p:nvSpPr>
        <p:spPr>
          <a:xfrm>
            <a:off x="2221664" y="50302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Fast and performant</a:t>
            </a:r>
            <a:endParaRPr sz="3000">
              <a:solidFill>
                <a:schemeClr val="lt1"/>
              </a:solidFill>
              <a:latin typeface="Roboto"/>
              <a:ea typeface="Roboto"/>
              <a:cs typeface="Roboto"/>
              <a:sym typeface="Roboto"/>
            </a:endParaRPr>
          </a:p>
        </p:txBody>
      </p:sp>
      <p:sp>
        <p:nvSpPr>
          <p:cNvPr id="1108" name="Google Shape;1108;p90"/>
          <p:cNvSpPr txBox="1"/>
          <p:nvPr/>
        </p:nvSpPr>
        <p:spPr>
          <a:xfrm>
            <a:off x="1907462" y="6645775"/>
            <a:ext cx="3566100" cy="200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High performance under high loads.</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Faster, more reliable, and more efficient.</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Low latency</a:t>
            </a:r>
            <a:endParaRPr sz="2300">
              <a:solidFill>
                <a:schemeClr val="lt1"/>
              </a:solidFill>
              <a:latin typeface="Roboto"/>
              <a:ea typeface="Roboto"/>
              <a:cs typeface="Roboto"/>
              <a:sym typeface="Roboto"/>
            </a:endParaRPr>
          </a:p>
        </p:txBody>
      </p:sp>
      <p:sp>
        <p:nvSpPr>
          <p:cNvPr id="1109" name="Google Shape;1109;p90"/>
          <p:cNvSpPr txBox="1"/>
          <p:nvPr/>
        </p:nvSpPr>
        <p:spPr>
          <a:xfrm>
            <a:off x="5602525" y="5030275"/>
            <a:ext cx="35370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Seamless</a:t>
            </a:r>
            <a:r>
              <a:rPr lang="en" sz="3000">
                <a:solidFill>
                  <a:schemeClr val="lt1"/>
                </a:solidFill>
                <a:latin typeface="Roboto"/>
                <a:ea typeface="Roboto"/>
                <a:cs typeface="Roboto"/>
                <a:sym typeface="Roboto"/>
              </a:rPr>
              <a:t> scaling and replication</a:t>
            </a:r>
            <a:endParaRPr sz="3000">
              <a:solidFill>
                <a:schemeClr val="lt1"/>
              </a:solidFill>
              <a:latin typeface="Roboto"/>
              <a:ea typeface="Roboto"/>
              <a:cs typeface="Roboto"/>
              <a:sym typeface="Roboto"/>
            </a:endParaRPr>
          </a:p>
        </p:txBody>
      </p:sp>
      <p:sp>
        <p:nvSpPr>
          <p:cNvPr id="1110" name="Google Shape;1110;p90"/>
          <p:cNvSpPr txBox="1"/>
          <p:nvPr/>
        </p:nvSpPr>
        <p:spPr>
          <a:xfrm>
            <a:off x="5612599" y="6645775"/>
            <a:ext cx="35205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Billions of rows and thousands of columns.</a:t>
            </a:r>
            <a:endParaRPr sz="2300">
              <a:solidFill>
                <a:schemeClr val="lt1"/>
              </a:solidFill>
              <a:latin typeface="Roboto"/>
              <a:ea typeface="Roboto"/>
              <a:cs typeface="Roboto"/>
              <a:sym typeface="Roboto"/>
            </a:endParaRPr>
          </a:p>
          <a:p>
            <a:pPr indent="0" lvl="0" marL="0" rtl="0" algn="l">
              <a:spcBef>
                <a:spcPts val="1500"/>
              </a:spcBef>
              <a:spcAft>
                <a:spcPts val="0"/>
              </a:spcAft>
              <a:buNone/>
            </a:pPr>
            <a:r>
              <a:rPr lang="en" sz="2300">
                <a:solidFill>
                  <a:schemeClr val="lt1"/>
                </a:solidFill>
                <a:latin typeface="Roboto"/>
                <a:ea typeface="Roboto"/>
                <a:cs typeface="Roboto"/>
                <a:sym typeface="Roboto"/>
              </a:rPr>
              <a:t>No downtime during reconfiguration.</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Replication adds high availability.</a:t>
            </a:r>
            <a:endParaRPr sz="2300">
              <a:solidFill>
                <a:schemeClr val="lt1"/>
              </a:solidFill>
              <a:latin typeface="Roboto"/>
              <a:ea typeface="Roboto"/>
              <a:cs typeface="Roboto"/>
              <a:sym typeface="Roboto"/>
            </a:endParaRPr>
          </a:p>
        </p:txBody>
      </p:sp>
      <p:cxnSp>
        <p:nvCxnSpPr>
          <p:cNvPr id="1111" name="Google Shape;1111;p90"/>
          <p:cNvCxnSpPr/>
          <p:nvPr/>
        </p:nvCxnSpPr>
        <p:spPr>
          <a:xfrm flipH="1" rot="10800000">
            <a:off x="5507850" y="2671575"/>
            <a:ext cx="9000" cy="6606900"/>
          </a:xfrm>
          <a:prstGeom prst="straightConnector1">
            <a:avLst/>
          </a:prstGeom>
          <a:noFill/>
          <a:ln cap="flat" cmpd="sng" w="9525">
            <a:solidFill>
              <a:srgbClr val="666666"/>
            </a:solidFill>
            <a:prstDash val="dash"/>
            <a:round/>
            <a:headEnd len="med" w="med" type="none"/>
            <a:tailEnd len="med" w="med" type="none"/>
          </a:ln>
        </p:spPr>
      </p:cxnSp>
      <p:cxnSp>
        <p:nvCxnSpPr>
          <p:cNvPr id="1112" name="Google Shape;1112;p90"/>
          <p:cNvCxnSpPr/>
          <p:nvPr/>
        </p:nvCxnSpPr>
        <p:spPr>
          <a:xfrm flipH="1" rot="10800000">
            <a:off x="9139494" y="2666838"/>
            <a:ext cx="9000" cy="6606900"/>
          </a:xfrm>
          <a:prstGeom prst="straightConnector1">
            <a:avLst/>
          </a:prstGeom>
          <a:noFill/>
          <a:ln cap="flat" cmpd="sng" w="9525">
            <a:solidFill>
              <a:srgbClr val="666666"/>
            </a:solidFill>
            <a:prstDash val="dash"/>
            <a:round/>
            <a:headEnd len="med" w="med" type="none"/>
            <a:tailEnd len="med" w="med" type="none"/>
          </a:ln>
        </p:spPr>
      </p:cxnSp>
      <p:sp>
        <p:nvSpPr>
          <p:cNvPr id="1113" name="Google Shape;1113;p90"/>
          <p:cNvSpPr txBox="1"/>
          <p:nvPr/>
        </p:nvSpPr>
        <p:spPr>
          <a:xfrm>
            <a:off x="9483192" y="5030275"/>
            <a:ext cx="2926200" cy="1463100"/>
          </a:xfrm>
          <a:prstGeom prst="rect">
            <a:avLst/>
          </a:prstGeom>
          <a:noFill/>
          <a:ln>
            <a:noFill/>
          </a:ln>
        </p:spPr>
        <p:txBody>
          <a:bodyPr anchorCtr="0" anchor="ctr" bIns="137150" lIns="137150" spcFirstLastPara="1" rIns="13715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Fully managed</a:t>
            </a:r>
            <a:endParaRPr sz="3000">
              <a:solidFill>
                <a:schemeClr val="lt1"/>
              </a:solidFill>
              <a:latin typeface="Roboto"/>
              <a:ea typeface="Roboto"/>
              <a:cs typeface="Roboto"/>
              <a:sym typeface="Roboto"/>
            </a:endParaRPr>
          </a:p>
        </p:txBody>
      </p:sp>
      <p:cxnSp>
        <p:nvCxnSpPr>
          <p:cNvPr id="1114" name="Google Shape;1114;p90"/>
          <p:cNvCxnSpPr/>
          <p:nvPr/>
        </p:nvCxnSpPr>
        <p:spPr>
          <a:xfrm flipH="1" rot="10800000">
            <a:off x="12798325" y="2666838"/>
            <a:ext cx="9000" cy="6606900"/>
          </a:xfrm>
          <a:prstGeom prst="straightConnector1">
            <a:avLst/>
          </a:prstGeom>
          <a:noFill/>
          <a:ln cap="flat" cmpd="sng" w="9525">
            <a:solidFill>
              <a:srgbClr val="666666"/>
            </a:solidFill>
            <a:prstDash val="dash"/>
            <a:round/>
            <a:headEnd len="med" w="med" type="none"/>
            <a:tailEnd len="med" w="med" type="none"/>
          </a:ln>
        </p:spPr>
      </p:cxnSp>
      <p:sp>
        <p:nvSpPr>
          <p:cNvPr id="1115" name="Google Shape;1115;p90"/>
          <p:cNvSpPr txBox="1"/>
          <p:nvPr/>
        </p:nvSpPr>
        <p:spPr>
          <a:xfrm>
            <a:off x="13143025" y="5030275"/>
            <a:ext cx="2926200" cy="1463100"/>
          </a:xfrm>
          <a:prstGeom prst="rect">
            <a:avLst/>
          </a:prstGeom>
          <a:noFill/>
          <a:ln>
            <a:noFill/>
          </a:ln>
        </p:spPr>
        <p:txBody>
          <a:bodyPr anchorCtr="0" anchor="ctr" bIns="137150" lIns="45700" spcFirstLastPara="1" rIns="45700" wrap="square" tIns="137150">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Integrated and secure</a:t>
            </a:r>
            <a:endParaRPr sz="3000">
              <a:solidFill>
                <a:schemeClr val="lt1"/>
              </a:solidFill>
              <a:latin typeface="Roboto"/>
              <a:ea typeface="Roboto"/>
              <a:cs typeface="Roboto"/>
              <a:sym typeface="Roboto"/>
            </a:endParaRPr>
          </a:p>
        </p:txBody>
      </p:sp>
      <p:sp>
        <p:nvSpPr>
          <p:cNvPr id="1116" name="Google Shape;1116;p90"/>
          <p:cNvSpPr txBox="1"/>
          <p:nvPr/>
        </p:nvSpPr>
        <p:spPr>
          <a:xfrm>
            <a:off x="9245190" y="6645775"/>
            <a:ext cx="35205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300">
                <a:solidFill>
                  <a:schemeClr val="lt1"/>
                </a:solidFill>
                <a:latin typeface="Roboto"/>
                <a:ea typeface="Roboto"/>
                <a:cs typeface="Roboto"/>
                <a:sym typeface="Roboto"/>
              </a:rPr>
              <a:t>Database configuration and tuning handled by Google.</a:t>
            </a:r>
            <a:endParaRPr sz="2300">
              <a:solidFill>
                <a:schemeClr val="lt1"/>
              </a:solidFill>
              <a:latin typeface="Roboto"/>
              <a:ea typeface="Roboto"/>
              <a:cs typeface="Roboto"/>
              <a:sym typeface="Roboto"/>
            </a:endParaRPr>
          </a:p>
          <a:p>
            <a:pPr indent="0" lvl="0" marL="0" rtl="0" algn="l">
              <a:spcBef>
                <a:spcPts val="1500"/>
              </a:spcBef>
              <a:spcAft>
                <a:spcPts val="1500"/>
              </a:spcAft>
              <a:buNone/>
            </a:pPr>
            <a:r>
              <a:rPr lang="en" sz="2300">
                <a:solidFill>
                  <a:schemeClr val="lt1"/>
                </a:solidFill>
                <a:latin typeface="Roboto"/>
                <a:ea typeface="Roboto"/>
                <a:cs typeface="Roboto"/>
                <a:sym typeface="Roboto"/>
              </a:rPr>
              <a:t>Data backups created for disaster recovery</a:t>
            </a:r>
            <a:r>
              <a:rPr lang="en" sz="2300">
                <a:solidFill>
                  <a:srgbClr val="434343"/>
                </a:solidFill>
                <a:latin typeface="Roboto"/>
                <a:ea typeface="Roboto"/>
                <a:cs typeface="Roboto"/>
                <a:sym typeface="Roboto"/>
              </a:rPr>
              <a:t>.</a:t>
            </a:r>
            <a:endParaRPr sz="2300">
              <a:solidFill>
                <a:srgbClr val="434343"/>
              </a:solidFill>
              <a:latin typeface="Roboto"/>
              <a:ea typeface="Roboto"/>
              <a:cs typeface="Roboto"/>
              <a:sym typeface="Roboto"/>
            </a:endParaRPr>
          </a:p>
        </p:txBody>
      </p:sp>
      <p:sp>
        <p:nvSpPr>
          <p:cNvPr id="1117" name="Google Shape;1117;p90"/>
          <p:cNvSpPr txBox="1"/>
          <p:nvPr/>
        </p:nvSpPr>
        <p:spPr>
          <a:xfrm>
            <a:off x="12905024" y="6645775"/>
            <a:ext cx="3520500" cy="248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1500"/>
              </a:spcAft>
              <a:buNone/>
            </a:pPr>
            <a:r>
              <a:rPr lang="en" sz="2300">
                <a:solidFill>
                  <a:schemeClr val="lt1"/>
                </a:solidFill>
                <a:latin typeface="Roboto"/>
                <a:ea typeface="Roboto"/>
                <a:cs typeface="Roboto"/>
                <a:sym typeface="Roboto"/>
              </a:rPr>
              <a:t>Integrated with open-source big data tools for powerful data analysis.</a:t>
            </a:r>
            <a:endParaRPr sz="2300">
              <a:solidFill>
                <a:schemeClr val="lt1"/>
              </a:solidFill>
              <a:latin typeface="Roboto"/>
              <a:ea typeface="Roboto"/>
              <a:cs typeface="Roboto"/>
              <a:sym typeface="Roboto"/>
            </a:endParaRPr>
          </a:p>
        </p:txBody>
      </p:sp>
      <p:pic>
        <p:nvPicPr>
          <p:cNvPr id="1118" name="Google Shape;1118;p90"/>
          <p:cNvPicPr preferRelativeResize="0"/>
          <p:nvPr/>
        </p:nvPicPr>
        <p:blipFill>
          <a:blip r:embed="rId3">
            <a:alphaModFix/>
          </a:blip>
          <a:stretch>
            <a:fillRect/>
          </a:stretch>
        </p:blipFill>
        <p:spPr>
          <a:xfrm>
            <a:off x="5992294" y="2857575"/>
            <a:ext cx="2309738" cy="2019889"/>
          </a:xfrm>
          <a:prstGeom prst="rect">
            <a:avLst/>
          </a:prstGeom>
          <a:noFill/>
          <a:ln>
            <a:noFill/>
          </a:ln>
        </p:spPr>
      </p:pic>
      <p:pic>
        <p:nvPicPr>
          <p:cNvPr id="1119" name="Google Shape;1119;p90"/>
          <p:cNvPicPr preferRelativeResize="0"/>
          <p:nvPr/>
        </p:nvPicPr>
        <p:blipFill>
          <a:blip r:embed="rId4">
            <a:alphaModFix/>
          </a:blip>
          <a:stretch>
            <a:fillRect/>
          </a:stretch>
        </p:blipFill>
        <p:spPr>
          <a:xfrm>
            <a:off x="2694175" y="3049075"/>
            <a:ext cx="1882140" cy="1882140"/>
          </a:xfrm>
          <a:prstGeom prst="rect">
            <a:avLst/>
          </a:prstGeom>
          <a:noFill/>
          <a:ln>
            <a:noFill/>
          </a:ln>
        </p:spPr>
      </p:pic>
      <p:pic>
        <p:nvPicPr>
          <p:cNvPr id="1120" name="Google Shape;1120;p90"/>
          <p:cNvPicPr preferRelativeResize="0"/>
          <p:nvPr/>
        </p:nvPicPr>
        <p:blipFill>
          <a:blip r:embed="rId5">
            <a:alphaModFix/>
          </a:blip>
          <a:stretch>
            <a:fillRect/>
          </a:stretch>
        </p:blipFill>
        <p:spPr>
          <a:xfrm>
            <a:off x="9381850" y="3161925"/>
            <a:ext cx="3023973" cy="1774547"/>
          </a:xfrm>
          <a:prstGeom prst="rect">
            <a:avLst/>
          </a:prstGeom>
          <a:noFill/>
          <a:ln>
            <a:noFill/>
          </a:ln>
        </p:spPr>
      </p:pic>
      <p:pic>
        <p:nvPicPr>
          <p:cNvPr id="1121" name="Google Shape;1121;p90"/>
          <p:cNvPicPr preferRelativeResize="0"/>
          <p:nvPr/>
        </p:nvPicPr>
        <p:blipFill>
          <a:blip r:embed="rId6">
            <a:alphaModFix/>
          </a:blip>
          <a:stretch>
            <a:fillRect/>
          </a:stretch>
        </p:blipFill>
        <p:spPr>
          <a:xfrm>
            <a:off x="13384025" y="3084625"/>
            <a:ext cx="2195858" cy="1753072"/>
          </a:xfrm>
          <a:prstGeom prst="rect">
            <a:avLst/>
          </a:prstGeom>
          <a:noFill/>
          <a:ln>
            <a:noFill/>
          </a:ln>
        </p:spPr>
      </p:pic>
      <p:sp>
        <p:nvSpPr>
          <p:cNvPr id="1122" name="Google Shape;1122;p90"/>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is a fully managed NoSQL database for large analytical and operational workloads</a:t>
            </a:r>
            <a:endParaRPr/>
          </a:p>
        </p:txBody>
      </p:sp>
      <p:cxnSp>
        <p:nvCxnSpPr>
          <p:cNvPr id="1123" name="Google Shape;1123;p90"/>
          <p:cNvCxnSpPr/>
          <p:nvPr/>
        </p:nvCxnSpPr>
        <p:spPr>
          <a:xfrm>
            <a:off x="1805045" y="5055875"/>
            <a:ext cx="14604600" cy="0"/>
          </a:xfrm>
          <a:prstGeom prst="straightConnector1">
            <a:avLst/>
          </a:prstGeom>
          <a:noFill/>
          <a:ln cap="flat" cmpd="sng" w="38100">
            <a:solidFill>
              <a:srgbClr val="F1C232"/>
            </a:solidFill>
            <a:prstDash val="solid"/>
            <a:round/>
            <a:headEnd len="med" w="med" type="none"/>
            <a:tailEnd len="med" w="med" type="none"/>
          </a:ln>
        </p:spPr>
      </p:cxnSp>
      <p:sp>
        <p:nvSpPr>
          <p:cNvPr id="1124" name="Google Shape;1124;p9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pic>
        <p:nvPicPr>
          <p:cNvPr descr="BigTable_128px.png" id="1129" name="Google Shape;1129;p91"/>
          <p:cNvPicPr preferRelativeResize="0"/>
          <p:nvPr/>
        </p:nvPicPr>
        <p:blipFill rotWithShape="1">
          <a:blip r:embed="rId3">
            <a:alphaModFix/>
          </a:blip>
          <a:srcRect b="0" l="0" r="0" t="0"/>
          <a:stretch/>
        </p:blipFill>
        <p:spPr>
          <a:xfrm>
            <a:off x="8045710" y="3494787"/>
            <a:ext cx="2201046" cy="2207013"/>
          </a:xfrm>
          <a:prstGeom prst="rect">
            <a:avLst/>
          </a:prstGeom>
          <a:noFill/>
          <a:ln>
            <a:noFill/>
          </a:ln>
        </p:spPr>
      </p:pic>
      <p:grpSp>
        <p:nvGrpSpPr>
          <p:cNvPr id="1130" name="Google Shape;1130;p91"/>
          <p:cNvGrpSpPr/>
          <p:nvPr/>
        </p:nvGrpSpPr>
        <p:grpSpPr>
          <a:xfrm>
            <a:off x="2715442" y="6298848"/>
            <a:ext cx="3328416" cy="2482735"/>
            <a:chOff x="2112550" y="5880541"/>
            <a:chExt cx="3657600" cy="2720209"/>
          </a:xfrm>
        </p:grpSpPr>
        <p:pic>
          <p:nvPicPr>
            <p:cNvPr descr="appAPI.png" id="1131" name="Google Shape;1131;p91"/>
            <p:cNvPicPr preferRelativeResize="0"/>
            <p:nvPr/>
          </p:nvPicPr>
          <p:blipFill rotWithShape="1">
            <a:blip r:embed="rId4">
              <a:alphaModFix/>
            </a:blip>
            <a:srcRect b="0" l="0" r="0" t="0"/>
            <a:stretch/>
          </p:blipFill>
          <p:spPr>
            <a:xfrm>
              <a:off x="2884253" y="5880541"/>
              <a:ext cx="2114194" cy="1716067"/>
            </a:xfrm>
            <a:prstGeom prst="rect">
              <a:avLst/>
            </a:prstGeom>
            <a:noFill/>
            <a:ln>
              <a:noFill/>
            </a:ln>
          </p:spPr>
        </p:pic>
        <p:sp>
          <p:nvSpPr>
            <p:cNvPr id="1132" name="Google Shape;1132;p91"/>
            <p:cNvSpPr txBox="1"/>
            <p:nvPr/>
          </p:nvSpPr>
          <p:spPr>
            <a:xfrm>
              <a:off x="2112550" y="7960550"/>
              <a:ext cx="3657600" cy="64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chemeClr val="lt1"/>
                  </a:solidFill>
                  <a:latin typeface="Roboto"/>
                  <a:ea typeface="Roboto"/>
                  <a:cs typeface="Roboto"/>
                  <a:sym typeface="Roboto"/>
                </a:rPr>
                <a:t>Application API</a:t>
              </a:r>
              <a:endParaRPr sz="3200">
                <a:solidFill>
                  <a:schemeClr val="lt1"/>
                </a:solidFill>
                <a:latin typeface="Roboto"/>
                <a:ea typeface="Roboto"/>
                <a:cs typeface="Roboto"/>
                <a:sym typeface="Roboto"/>
              </a:endParaRPr>
            </a:p>
          </p:txBody>
        </p:sp>
      </p:grpSp>
      <p:grpSp>
        <p:nvGrpSpPr>
          <p:cNvPr id="1133" name="Google Shape;1133;p91"/>
          <p:cNvGrpSpPr/>
          <p:nvPr/>
        </p:nvGrpSpPr>
        <p:grpSpPr>
          <a:xfrm>
            <a:off x="7479792" y="6550709"/>
            <a:ext cx="3328416" cy="2230874"/>
            <a:chOff x="7478250" y="6156493"/>
            <a:chExt cx="3657600" cy="2444257"/>
          </a:xfrm>
        </p:grpSpPr>
        <p:pic>
          <p:nvPicPr>
            <p:cNvPr descr="streaming.png" id="1134" name="Google Shape;1134;p91"/>
            <p:cNvPicPr preferRelativeResize="0"/>
            <p:nvPr/>
          </p:nvPicPr>
          <p:blipFill rotWithShape="1">
            <a:blip r:embed="rId5">
              <a:alphaModFix/>
            </a:blip>
            <a:srcRect b="0" l="0" r="0" t="0"/>
            <a:stretch/>
          </p:blipFill>
          <p:spPr>
            <a:xfrm>
              <a:off x="7800484" y="6156493"/>
              <a:ext cx="3013132" cy="1164164"/>
            </a:xfrm>
            <a:prstGeom prst="rect">
              <a:avLst/>
            </a:prstGeom>
            <a:noFill/>
            <a:ln>
              <a:noFill/>
            </a:ln>
          </p:spPr>
        </p:pic>
        <p:sp>
          <p:nvSpPr>
            <p:cNvPr id="1135" name="Google Shape;1135;p91"/>
            <p:cNvSpPr txBox="1"/>
            <p:nvPr/>
          </p:nvSpPr>
          <p:spPr>
            <a:xfrm>
              <a:off x="7478250" y="7960550"/>
              <a:ext cx="3657600" cy="64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chemeClr val="lt1"/>
                  </a:solidFill>
                  <a:latin typeface="Roboto"/>
                  <a:ea typeface="Roboto"/>
                  <a:cs typeface="Roboto"/>
                  <a:sym typeface="Roboto"/>
                </a:rPr>
                <a:t>Streaming</a:t>
              </a:r>
              <a:endParaRPr sz="3200">
                <a:solidFill>
                  <a:schemeClr val="lt1"/>
                </a:solidFill>
                <a:latin typeface="Roboto"/>
                <a:ea typeface="Roboto"/>
                <a:cs typeface="Roboto"/>
                <a:sym typeface="Roboto"/>
              </a:endParaRPr>
            </a:p>
          </p:txBody>
        </p:sp>
      </p:grpSp>
      <p:grpSp>
        <p:nvGrpSpPr>
          <p:cNvPr id="1136" name="Google Shape;1136;p91"/>
          <p:cNvGrpSpPr/>
          <p:nvPr/>
        </p:nvGrpSpPr>
        <p:grpSpPr>
          <a:xfrm>
            <a:off x="12244143" y="6658586"/>
            <a:ext cx="3328416" cy="2122997"/>
            <a:chOff x="12583650" y="6274688"/>
            <a:chExt cx="3657600" cy="2326062"/>
          </a:xfrm>
        </p:grpSpPr>
        <p:pic>
          <p:nvPicPr>
            <p:cNvPr descr="BatchProcess.png" id="1137" name="Google Shape;1137;p91"/>
            <p:cNvPicPr preferRelativeResize="0"/>
            <p:nvPr/>
          </p:nvPicPr>
          <p:blipFill rotWithShape="1">
            <a:blip r:embed="rId6">
              <a:alphaModFix/>
            </a:blip>
            <a:srcRect b="0" l="0" r="0" t="0"/>
            <a:stretch/>
          </p:blipFill>
          <p:spPr>
            <a:xfrm>
              <a:off x="13206344" y="6274688"/>
              <a:ext cx="2412212" cy="927774"/>
            </a:xfrm>
            <a:prstGeom prst="rect">
              <a:avLst/>
            </a:prstGeom>
            <a:noFill/>
            <a:ln>
              <a:noFill/>
            </a:ln>
          </p:spPr>
        </p:pic>
        <p:sp>
          <p:nvSpPr>
            <p:cNvPr id="1138" name="Google Shape;1138;p91"/>
            <p:cNvSpPr txBox="1"/>
            <p:nvPr/>
          </p:nvSpPr>
          <p:spPr>
            <a:xfrm>
              <a:off x="12583650" y="7960550"/>
              <a:ext cx="3657600" cy="64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chemeClr val="lt1"/>
                  </a:solidFill>
                  <a:latin typeface="Roboto"/>
                  <a:ea typeface="Roboto"/>
                  <a:cs typeface="Roboto"/>
                  <a:sym typeface="Roboto"/>
                </a:rPr>
                <a:t>Batch processing</a:t>
              </a:r>
              <a:endParaRPr sz="3200">
                <a:solidFill>
                  <a:schemeClr val="lt1"/>
                </a:solidFill>
                <a:latin typeface="Roboto"/>
                <a:ea typeface="Roboto"/>
                <a:cs typeface="Roboto"/>
                <a:sym typeface="Roboto"/>
              </a:endParaRPr>
            </a:p>
          </p:txBody>
        </p:sp>
      </p:grpSp>
      <p:sp>
        <p:nvSpPr>
          <p:cNvPr id="1139" name="Google Shape;1139;p91"/>
          <p:cNvSpPr/>
          <p:nvPr/>
        </p:nvSpPr>
        <p:spPr>
          <a:xfrm>
            <a:off x="3829691" y="6230650"/>
            <a:ext cx="419100" cy="35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1"/>
          <p:cNvSpPr/>
          <p:nvPr/>
        </p:nvSpPr>
        <p:spPr>
          <a:xfrm>
            <a:off x="4453769" y="6230650"/>
            <a:ext cx="419100" cy="35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91"/>
          <p:cNvSpPr/>
          <p:nvPr/>
        </p:nvSpPr>
        <p:spPr>
          <a:xfrm>
            <a:off x="13329545" y="6369710"/>
            <a:ext cx="419100" cy="35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91"/>
          <p:cNvSpPr/>
          <p:nvPr/>
        </p:nvSpPr>
        <p:spPr>
          <a:xfrm>
            <a:off x="13953623" y="6369710"/>
            <a:ext cx="419100" cy="35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91"/>
          <p:cNvSpPr/>
          <p:nvPr/>
        </p:nvSpPr>
        <p:spPr>
          <a:xfrm rot="5400000">
            <a:off x="9965929" y="4110827"/>
            <a:ext cx="419700" cy="35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91"/>
          <p:cNvSpPr/>
          <p:nvPr/>
        </p:nvSpPr>
        <p:spPr>
          <a:xfrm rot="5400000">
            <a:off x="9965929" y="4736598"/>
            <a:ext cx="419700" cy="35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91"/>
          <p:cNvSpPr/>
          <p:nvPr/>
        </p:nvSpPr>
        <p:spPr>
          <a:xfrm rot="5400000">
            <a:off x="7885669" y="4110827"/>
            <a:ext cx="419700" cy="35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91"/>
          <p:cNvSpPr/>
          <p:nvPr/>
        </p:nvSpPr>
        <p:spPr>
          <a:xfrm rot="5400000">
            <a:off x="7885669" y="4736598"/>
            <a:ext cx="419700" cy="35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7" name="Google Shape;1147;p91"/>
          <p:cNvCxnSpPr>
            <a:stCxn id="1145" idx="2"/>
            <a:endCxn id="1139" idx="0"/>
          </p:cNvCxnSpPr>
          <p:nvPr/>
        </p:nvCxnSpPr>
        <p:spPr>
          <a:xfrm flipH="1">
            <a:off x="4039219" y="4286027"/>
            <a:ext cx="3881100" cy="1944600"/>
          </a:xfrm>
          <a:prstGeom prst="bentConnector2">
            <a:avLst/>
          </a:prstGeom>
          <a:noFill/>
          <a:ln cap="flat" cmpd="sng" w="28575">
            <a:solidFill>
              <a:schemeClr val="accent2"/>
            </a:solidFill>
            <a:prstDash val="solid"/>
            <a:round/>
            <a:headEnd len="med" w="med" type="none"/>
            <a:tailEnd len="med" w="med" type="triangle"/>
          </a:ln>
        </p:spPr>
      </p:cxnSp>
      <p:cxnSp>
        <p:nvCxnSpPr>
          <p:cNvPr id="1148" name="Google Shape;1148;p91"/>
          <p:cNvCxnSpPr>
            <a:stCxn id="1140" idx="0"/>
            <a:endCxn id="1146" idx="2"/>
          </p:cNvCxnSpPr>
          <p:nvPr/>
        </p:nvCxnSpPr>
        <p:spPr>
          <a:xfrm rot="-5400000">
            <a:off x="5632469" y="3942700"/>
            <a:ext cx="1318800" cy="3257100"/>
          </a:xfrm>
          <a:prstGeom prst="bentConnector2">
            <a:avLst/>
          </a:prstGeom>
          <a:noFill/>
          <a:ln cap="flat" cmpd="sng" w="28575">
            <a:solidFill>
              <a:schemeClr val="accent2"/>
            </a:solidFill>
            <a:prstDash val="solid"/>
            <a:round/>
            <a:headEnd len="med" w="med" type="none"/>
            <a:tailEnd len="med" w="med" type="triangle"/>
          </a:ln>
        </p:spPr>
      </p:cxnSp>
      <p:cxnSp>
        <p:nvCxnSpPr>
          <p:cNvPr id="1149" name="Google Shape;1149;p91"/>
          <p:cNvCxnSpPr>
            <a:stCxn id="1143" idx="0"/>
            <a:endCxn id="1142" idx="0"/>
          </p:cNvCxnSpPr>
          <p:nvPr/>
        </p:nvCxnSpPr>
        <p:spPr>
          <a:xfrm>
            <a:off x="10350979" y="4286027"/>
            <a:ext cx="3812100" cy="2083800"/>
          </a:xfrm>
          <a:prstGeom prst="bentConnector2">
            <a:avLst/>
          </a:prstGeom>
          <a:noFill/>
          <a:ln cap="flat" cmpd="sng" w="28575">
            <a:solidFill>
              <a:schemeClr val="accent2"/>
            </a:solidFill>
            <a:prstDash val="solid"/>
            <a:round/>
            <a:headEnd len="med" w="med" type="none"/>
            <a:tailEnd len="med" w="med" type="triangle"/>
          </a:ln>
        </p:spPr>
      </p:cxnSp>
      <p:cxnSp>
        <p:nvCxnSpPr>
          <p:cNvPr id="1150" name="Google Shape;1150;p91"/>
          <p:cNvCxnSpPr>
            <a:stCxn id="1141" idx="0"/>
            <a:endCxn id="1144" idx="0"/>
          </p:cNvCxnSpPr>
          <p:nvPr/>
        </p:nvCxnSpPr>
        <p:spPr>
          <a:xfrm flipH="1" rot="5400000">
            <a:off x="11216045" y="4046660"/>
            <a:ext cx="1458000" cy="3188100"/>
          </a:xfrm>
          <a:prstGeom prst="bentConnector2">
            <a:avLst/>
          </a:prstGeom>
          <a:noFill/>
          <a:ln cap="flat" cmpd="sng" w="28575">
            <a:solidFill>
              <a:schemeClr val="accent2"/>
            </a:solidFill>
            <a:prstDash val="solid"/>
            <a:round/>
            <a:headEnd len="med" w="med" type="none"/>
            <a:tailEnd len="med" w="med" type="triangle"/>
          </a:ln>
        </p:spPr>
      </p:cxnSp>
      <p:cxnSp>
        <p:nvCxnSpPr>
          <p:cNvPr id="1151" name="Google Shape;1151;p91"/>
          <p:cNvCxnSpPr>
            <a:stCxn id="1134" idx="0"/>
            <a:endCxn id="1129" idx="2"/>
          </p:cNvCxnSpPr>
          <p:nvPr/>
        </p:nvCxnSpPr>
        <p:spPr>
          <a:xfrm flipH="1" rot="10800000">
            <a:off x="9144000" y="5701709"/>
            <a:ext cx="2100" cy="849000"/>
          </a:xfrm>
          <a:prstGeom prst="straightConnector1">
            <a:avLst/>
          </a:prstGeom>
          <a:noFill/>
          <a:ln cap="flat" cmpd="sng" w="28575">
            <a:solidFill>
              <a:schemeClr val="accent2"/>
            </a:solidFill>
            <a:prstDash val="solid"/>
            <a:round/>
            <a:headEnd len="med" w="med" type="none"/>
            <a:tailEnd len="med" w="med" type="triangle"/>
          </a:ln>
        </p:spPr>
      </p:cxnSp>
      <p:sp>
        <p:nvSpPr>
          <p:cNvPr id="1152" name="Google Shape;1152;p91"/>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can interact with other Google Cloud services and third-party clients</a:t>
            </a:r>
            <a:endParaRPr/>
          </a:p>
        </p:txBody>
      </p:sp>
      <p:sp>
        <p:nvSpPr>
          <p:cNvPr id="1153" name="Google Shape;1153;p9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7">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92"/>
          <p:cNvSpPr/>
          <p:nvPr/>
        </p:nvSpPr>
        <p:spPr>
          <a:xfrm>
            <a:off x="5424094" y="5282618"/>
            <a:ext cx="2299500" cy="1190700"/>
          </a:xfrm>
          <a:prstGeom prst="roundRect">
            <a:avLst>
              <a:gd fmla="val 16667" name="adj"/>
            </a:avLst>
          </a:prstGeom>
          <a:solidFill>
            <a:schemeClr val="accent2"/>
          </a:solidFill>
          <a:ln cap="flat" cmpd="sng" w="9525">
            <a:solidFill>
              <a:srgbClr val="3167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lang="en" sz="2000">
                <a:solidFill>
                  <a:srgbClr val="FFFFFF"/>
                </a:solidFill>
                <a:latin typeface="Roboto"/>
                <a:ea typeface="Roboto"/>
                <a:cs typeface="Roboto"/>
                <a:sym typeface="Roboto"/>
              </a:rPr>
              <a:t>Cloud Bigtable node</a:t>
            </a:r>
            <a:endParaRPr sz="2000">
              <a:solidFill>
                <a:srgbClr val="FFFFFF"/>
              </a:solidFill>
              <a:latin typeface="Roboto"/>
              <a:ea typeface="Roboto"/>
              <a:cs typeface="Roboto"/>
              <a:sym typeface="Roboto"/>
            </a:endParaRPr>
          </a:p>
        </p:txBody>
      </p:sp>
      <p:sp>
        <p:nvSpPr>
          <p:cNvPr id="1159" name="Google Shape;1159;p92"/>
          <p:cNvSpPr/>
          <p:nvPr/>
        </p:nvSpPr>
        <p:spPr>
          <a:xfrm>
            <a:off x="9114893" y="5282618"/>
            <a:ext cx="2299500" cy="1190700"/>
          </a:xfrm>
          <a:prstGeom prst="roundRect">
            <a:avLst>
              <a:gd fmla="val 16667" name="adj"/>
            </a:avLst>
          </a:prstGeom>
          <a:solidFill>
            <a:schemeClr val="accent2"/>
          </a:solidFill>
          <a:ln cap="flat" cmpd="sng" w="9525">
            <a:solidFill>
              <a:srgbClr val="3167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lang="en" sz="2000">
                <a:solidFill>
                  <a:srgbClr val="FFFFFF"/>
                </a:solidFill>
                <a:latin typeface="Roboto"/>
                <a:ea typeface="Roboto"/>
                <a:cs typeface="Roboto"/>
                <a:sym typeface="Roboto"/>
              </a:rPr>
              <a:t>Cloud Bigtable node</a:t>
            </a:r>
            <a:endParaRPr>
              <a:solidFill>
                <a:srgbClr val="FFFFFF"/>
              </a:solidFill>
              <a:latin typeface="Roboto"/>
              <a:ea typeface="Roboto"/>
              <a:cs typeface="Roboto"/>
              <a:sym typeface="Roboto"/>
            </a:endParaRPr>
          </a:p>
        </p:txBody>
      </p:sp>
      <p:sp>
        <p:nvSpPr>
          <p:cNvPr id="1160" name="Google Shape;1160;p92"/>
          <p:cNvSpPr/>
          <p:nvPr/>
        </p:nvSpPr>
        <p:spPr>
          <a:xfrm>
            <a:off x="12805692" y="5282618"/>
            <a:ext cx="2299500" cy="1190700"/>
          </a:xfrm>
          <a:prstGeom prst="roundRect">
            <a:avLst>
              <a:gd fmla="val 16667" name="adj"/>
            </a:avLst>
          </a:prstGeom>
          <a:solidFill>
            <a:schemeClr val="accent2"/>
          </a:solidFill>
          <a:ln cap="flat" cmpd="sng" w="9525">
            <a:solidFill>
              <a:srgbClr val="3167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lang="en" sz="2000">
                <a:solidFill>
                  <a:srgbClr val="FFFFFF"/>
                </a:solidFill>
                <a:latin typeface="Roboto"/>
                <a:ea typeface="Roboto"/>
                <a:cs typeface="Roboto"/>
                <a:sym typeface="Roboto"/>
              </a:rPr>
              <a:t>Cloud Bigtable node</a:t>
            </a:r>
            <a:endParaRPr>
              <a:solidFill>
                <a:srgbClr val="FFFFFF"/>
              </a:solidFill>
              <a:latin typeface="Roboto"/>
              <a:ea typeface="Roboto"/>
              <a:cs typeface="Roboto"/>
              <a:sym typeface="Roboto"/>
            </a:endParaRPr>
          </a:p>
        </p:txBody>
      </p:sp>
      <p:sp>
        <p:nvSpPr>
          <p:cNvPr id="1161" name="Google Shape;1161;p92"/>
          <p:cNvSpPr/>
          <p:nvPr/>
        </p:nvSpPr>
        <p:spPr>
          <a:xfrm>
            <a:off x="5378309" y="7567097"/>
            <a:ext cx="9778500" cy="1513500"/>
          </a:xfrm>
          <a:prstGeom prst="rect">
            <a:avLst/>
          </a:prstGeom>
          <a:solidFill>
            <a:srgbClr val="6D9EEB"/>
          </a:solidFill>
          <a:ln cap="flat" cmpd="sng" w="9525">
            <a:solidFill>
              <a:srgbClr val="3167D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lang="en" sz="3600">
                <a:solidFill>
                  <a:srgbClr val="FFFFFF"/>
                </a:solidFill>
                <a:latin typeface="Roboto"/>
                <a:ea typeface="Roboto"/>
                <a:cs typeface="Roboto"/>
                <a:sym typeface="Roboto"/>
              </a:rPr>
              <a:t>Colossus file system</a:t>
            </a:r>
            <a:endParaRPr sz="3600">
              <a:solidFill>
                <a:srgbClr val="FFFFFF"/>
              </a:solidFill>
              <a:latin typeface="Roboto"/>
              <a:ea typeface="Roboto"/>
              <a:cs typeface="Roboto"/>
              <a:sym typeface="Roboto"/>
            </a:endParaRPr>
          </a:p>
        </p:txBody>
      </p:sp>
      <p:sp>
        <p:nvSpPr>
          <p:cNvPr id="1162" name="Google Shape;1162;p92"/>
          <p:cNvSpPr/>
          <p:nvPr/>
        </p:nvSpPr>
        <p:spPr>
          <a:xfrm>
            <a:off x="5406547"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92"/>
          <p:cNvSpPr/>
          <p:nvPr/>
        </p:nvSpPr>
        <p:spPr>
          <a:xfrm>
            <a:off x="7251967"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92"/>
          <p:cNvSpPr/>
          <p:nvPr/>
        </p:nvSpPr>
        <p:spPr>
          <a:xfrm>
            <a:off x="8899883"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92"/>
          <p:cNvSpPr/>
          <p:nvPr/>
        </p:nvSpPr>
        <p:spPr>
          <a:xfrm>
            <a:off x="10688908"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92"/>
          <p:cNvSpPr/>
          <p:nvPr/>
        </p:nvSpPr>
        <p:spPr>
          <a:xfrm>
            <a:off x="12393218"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92"/>
          <p:cNvSpPr/>
          <p:nvPr/>
        </p:nvSpPr>
        <p:spPr>
          <a:xfrm>
            <a:off x="14097529" y="2746697"/>
            <a:ext cx="1140600" cy="1141800"/>
          </a:xfrm>
          <a:prstGeom prst="ellipse">
            <a:avLst/>
          </a:prstGeom>
          <a:solidFill>
            <a:schemeClr val="accent6"/>
          </a:solidFill>
          <a:ln cap="flat" cmpd="sng" w="9525">
            <a:solidFill>
              <a:srgbClr val="0D6B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92"/>
          <p:cNvSpPr txBox="1"/>
          <p:nvPr/>
        </p:nvSpPr>
        <p:spPr>
          <a:xfrm>
            <a:off x="3049871" y="2746625"/>
            <a:ext cx="1752900" cy="1141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2400" u="none" cap="none" strike="noStrike">
                <a:solidFill>
                  <a:schemeClr val="accent6"/>
                </a:solidFill>
                <a:latin typeface="Roboto"/>
                <a:ea typeface="Roboto"/>
                <a:cs typeface="Roboto"/>
                <a:sym typeface="Roboto"/>
              </a:rPr>
              <a:t>Clients</a:t>
            </a:r>
            <a:endParaRPr i="0" sz="2400" u="none" cap="none" strike="noStrike">
              <a:solidFill>
                <a:schemeClr val="accent6"/>
              </a:solidFill>
              <a:latin typeface="Roboto"/>
              <a:ea typeface="Roboto"/>
              <a:cs typeface="Roboto"/>
              <a:sym typeface="Roboto"/>
            </a:endParaRPr>
          </a:p>
        </p:txBody>
      </p:sp>
      <p:sp>
        <p:nvSpPr>
          <p:cNvPr id="1169" name="Google Shape;1169;p92"/>
          <p:cNvSpPr txBox="1"/>
          <p:nvPr/>
        </p:nvSpPr>
        <p:spPr>
          <a:xfrm>
            <a:off x="3049871" y="5286673"/>
            <a:ext cx="1848600" cy="119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2400" u="none" cap="none" strike="noStrike">
                <a:solidFill>
                  <a:schemeClr val="accent2"/>
                </a:solidFill>
                <a:latin typeface="Roboto"/>
                <a:ea typeface="Roboto"/>
                <a:cs typeface="Roboto"/>
                <a:sym typeface="Roboto"/>
              </a:rPr>
              <a:t>Processing</a:t>
            </a:r>
            <a:endParaRPr i="0" sz="2400" u="none" cap="none" strike="noStrike">
              <a:solidFill>
                <a:schemeClr val="accent2"/>
              </a:solidFill>
              <a:latin typeface="Roboto"/>
              <a:ea typeface="Roboto"/>
              <a:cs typeface="Roboto"/>
              <a:sym typeface="Roboto"/>
            </a:endParaRPr>
          </a:p>
        </p:txBody>
      </p:sp>
      <p:sp>
        <p:nvSpPr>
          <p:cNvPr id="1170" name="Google Shape;1170;p92"/>
          <p:cNvSpPr txBox="1"/>
          <p:nvPr/>
        </p:nvSpPr>
        <p:spPr>
          <a:xfrm>
            <a:off x="3049871" y="7585062"/>
            <a:ext cx="1752900" cy="1513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i="0" lang="en" sz="2400" u="none" cap="none" strike="noStrike">
                <a:solidFill>
                  <a:schemeClr val="accent3"/>
                </a:solidFill>
                <a:latin typeface="Roboto"/>
                <a:ea typeface="Roboto"/>
                <a:cs typeface="Roboto"/>
                <a:sym typeface="Roboto"/>
              </a:rPr>
              <a:t>Storage</a:t>
            </a:r>
            <a:endParaRPr i="0" sz="2400" u="none" cap="none" strike="noStrike">
              <a:solidFill>
                <a:schemeClr val="accent3"/>
              </a:solidFill>
              <a:latin typeface="Roboto"/>
              <a:ea typeface="Roboto"/>
              <a:cs typeface="Roboto"/>
              <a:sym typeface="Roboto"/>
            </a:endParaRPr>
          </a:p>
        </p:txBody>
      </p:sp>
      <p:cxnSp>
        <p:nvCxnSpPr>
          <p:cNvPr id="1171" name="Google Shape;1171;p92"/>
          <p:cNvCxnSpPr>
            <a:stCxn id="1162" idx="4"/>
          </p:cNvCxnSpPr>
          <p:nvPr/>
        </p:nvCxnSpPr>
        <p:spPr>
          <a:xfrm flipH="1" rot="-5400000">
            <a:off x="5295247" y="4570097"/>
            <a:ext cx="1398000" cy="348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2" name="Google Shape;1172;p92"/>
          <p:cNvCxnSpPr>
            <a:stCxn id="1163" idx="4"/>
          </p:cNvCxnSpPr>
          <p:nvPr/>
        </p:nvCxnSpPr>
        <p:spPr>
          <a:xfrm rot="5400000">
            <a:off x="6723967" y="4155797"/>
            <a:ext cx="1365600" cy="8310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3" name="Google Shape;1173;p92"/>
          <p:cNvCxnSpPr>
            <a:stCxn id="1164" idx="4"/>
          </p:cNvCxnSpPr>
          <p:nvPr/>
        </p:nvCxnSpPr>
        <p:spPr>
          <a:xfrm flipH="1" rot="-5400000">
            <a:off x="8913383" y="4445297"/>
            <a:ext cx="1315200" cy="2016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4" name="Google Shape;1174;p92"/>
          <p:cNvCxnSpPr>
            <a:stCxn id="1165" idx="4"/>
          </p:cNvCxnSpPr>
          <p:nvPr/>
        </p:nvCxnSpPr>
        <p:spPr>
          <a:xfrm rot="5400000">
            <a:off x="10364908" y="4309397"/>
            <a:ext cx="1315200" cy="4734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5" name="Google Shape;1175;p92"/>
          <p:cNvCxnSpPr>
            <a:stCxn id="1166" idx="4"/>
          </p:cNvCxnSpPr>
          <p:nvPr/>
        </p:nvCxnSpPr>
        <p:spPr>
          <a:xfrm flipH="1" rot="-5400000">
            <a:off x="12461918" y="4390097"/>
            <a:ext cx="1365600" cy="3624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6" name="Google Shape;1176;p92"/>
          <p:cNvCxnSpPr>
            <a:stCxn id="1167" idx="4"/>
          </p:cNvCxnSpPr>
          <p:nvPr/>
        </p:nvCxnSpPr>
        <p:spPr>
          <a:xfrm rot="5400000">
            <a:off x="13888429" y="4441097"/>
            <a:ext cx="1332000" cy="226800"/>
          </a:xfrm>
          <a:prstGeom prst="curvedConnector3">
            <a:avLst>
              <a:gd fmla="val 50000" name="adj1"/>
            </a:avLst>
          </a:prstGeom>
          <a:noFill/>
          <a:ln cap="flat" cmpd="sng" w="9525">
            <a:solidFill>
              <a:schemeClr val="accent6"/>
            </a:solidFill>
            <a:prstDash val="dash"/>
            <a:round/>
            <a:headEnd len="sm" w="sm" type="none"/>
            <a:tailEnd len="med" w="med" type="triangle"/>
          </a:ln>
        </p:spPr>
      </p:cxnSp>
      <p:cxnSp>
        <p:nvCxnSpPr>
          <p:cNvPr id="1177" name="Google Shape;1177;p92"/>
          <p:cNvCxnSpPr>
            <a:stCxn id="1164" idx="4"/>
            <a:endCxn id="1160" idx="0"/>
          </p:cNvCxnSpPr>
          <p:nvPr/>
        </p:nvCxnSpPr>
        <p:spPr>
          <a:xfrm flipH="1" rot="-5400000">
            <a:off x="11015783" y="2342897"/>
            <a:ext cx="1394100" cy="4485300"/>
          </a:xfrm>
          <a:prstGeom prst="curvedConnector3">
            <a:avLst>
              <a:gd fmla="val 50001" name="adj1"/>
            </a:avLst>
          </a:prstGeom>
          <a:noFill/>
          <a:ln cap="flat" cmpd="sng" w="9525">
            <a:solidFill>
              <a:schemeClr val="accent6"/>
            </a:solidFill>
            <a:prstDash val="dash"/>
            <a:round/>
            <a:headEnd len="sm" w="sm" type="none"/>
            <a:tailEnd len="med" w="med" type="triangle"/>
          </a:ln>
        </p:spPr>
      </p:cxnSp>
      <p:cxnSp>
        <p:nvCxnSpPr>
          <p:cNvPr id="1178" name="Google Shape;1178;p92"/>
          <p:cNvCxnSpPr>
            <a:stCxn id="1166" idx="4"/>
            <a:endCxn id="1159" idx="0"/>
          </p:cNvCxnSpPr>
          <p:nvPr/>
        </p:nvCxnSpPr>
        <p:spPr>
          <a:xfrm rot="5400000">
            <a:off x="10917068" y="3236147"/>
            <a:ext cx="1394100" cy="2698800"/>
          </a:xfrm>
          <a:prstGeom prst="curvedConnector3">
            <a:avLst>
              <a:gd fmla="val 50001" name="adj1"/>
            </a:avLst>
          </a:prstGeom>
          <a:noFill/>
          <a:ln cap="flat" cmpd="sng" w="9525">
            <a:solidFill>
              <a:schemeClr val="accent6"/>
            </a:solidFill>
            <a:prstDash val="dash"/>
            <a:round/>
            <a:headEnd len="sm" w="sm" type="none"/>
            <a:tailEnd len="med" w="med" type="triangle"/>
          </a:ln>
        </p:spPr>
      </p:cxnSp>
      <p:cxnSp>
        <p:nvCxnSpPr>
          <p:cNvPr id="1179" name="Google Shape;1179;p92"/>
          <p:cNvCxnSpPr>
            <a:stCxn id="1165" idx="4"/>
            <a:endCxn id="1158" idx="0"/>
          </p:cNvCxnSpPr>
          <p:nvPr/>
        </p:nvCxnSpPr>
        <p:spPr>
          <a:xfrm rot="5400000">
            <a:off x="8219458" y="2242847"/>
            <a:ext cx="1394100" cy="4685400"/>
          </a:xfrm>
          <a:prstGeom prst="curvedConnector3">
            <a:avLst>
              <a:gd fmla="val 50001" name="adj1"/>
            </a:avLst>
          </a:prstGeom>
          <a:noFill/>
          <a:ln cap="flat" cmpd="sng" w="9525">
            <a:solidFill>
              <a:schemeClr val="accent6"/>
            </a:solidFill>
            <a:prstDash val="dash"/>
            <a:round/>
            <a:headEnd len="sm" w="sm" type="none"/>
            <a:tailEnd len="med" w="med" type="triangle"/>
          </a:ln>
        </p:spPr>
      </p:cxnSp>
      <p:cxnSp>
        <p:nvCxnSpPr>
          <p:cNvPr id="1180" name="Google Shape;1180;p92"/>
          <p:cNvCxnSpPr>
            <a:stCxn id="1163" idx="4"/>
            <a:endCxn id="1160" idx="0"/>
          </p:cNvCxnSpPr>
          <p:nvPr/>
        </p:nvCxnSpPr>
        <p:spPr>
          <a:xfrm flipH="1" rot="-5400000">
            <a:off x="10191817" y="1518947"/>
            <a:ext cx="1394100" cy="6133200"/>
          </a:xfrm>
          <a:prstGeom prst="curvedConnector3">
            <a:avLst>
              <a:gd fmla="val 50001" name="adj1"/>
            </a:avLst>
          </a:prstGeom>
          <a:noFill/>
          <a:ln cap="flat" cmpd="sng" w="9525">
            <a:solidFill>
              <a:schemeClr val="accent6"/>
            </a:solidFill>
            <a:prstDash val="dash"/>
            <a:round/>
            <a:headEnd len="sm" w="sm" type="none"/>
            <a:tailEnd len="med" w="med" type="triangle"/>
          </a:ln>
        </p:spPr>
      </p:cxnSp>
      <p:cxnSp>
        <p:nvCxnSpPr>
          <p:cNvPr id="1181" name="Google Shape;1181;p92"/>
          <p:cNvCxnSpPr>
            <a:stCxn id="1167" idx="4"/>
            <a:endCxn id="1159" idx="0"/>
          </p:cNvCxnSpPr>
          <p:nvPr/>
        </p:nvCxnSpPr>
        <p:spPr>
          <a:xfrm rot="5400000">
            <a:off x="11769229" y="2383997"/>
            <a:ext cx="1394100" cy="4403100"/>
          </a:xfrm>
          <a:prstGeom prst="curvedConnector3">
            <a:avLst>
              <a:gd fmla="val 50001" name="adj1"/>
            </a:avLst>
          </a:prstGeom>
          <a:noFill/>
          <a:ln cap="flat" cmpd="sng" w="9525">
            <a:solidFill>
              <a:schemeClr val="accent6"/>
            </a:solidFill>
            <a:prstDash val="dash"/>
            <a:round/>
            <a:headEnd len="sm" w="sm" type="none"/>
            <a:tailEnd len="med" w="med" type="triangle"/>
          </a:ln>
        </p:spPr>
      </p:cxnSp>
      <p:cxnSp>
        <p:nvCxnSpPr>
          <p:cNvPr id="1182" name="Google Shape;1182;p92"/>
          <p:cNvCxnSpPr/>
          <p:nvPr/>
        </p:nvCxnSpPr>
        <p:spPr>
          <a:xfrm rot="5400000">
            <a:off x="5355818" y="7535507"/>
            <a:ext cx="2127600" cy="3900"/>
          </a:xfrm>
          <a:prstGeom prst="curvedConnector3">
            <a:avLst>
              <a:gd fmla="val 50000" name="adj1"/>
            </a:avLst>
          </a:prstGeom>
          <a:noFill/>
          <a:ln cap="flat" cmpd="sng" w="28575">
            <a:solidFill>
              <a:schemeClr val="accent5"/>
            </a:solidFill>
            <a:prstDash val="solid"/>
            <a:round/>
            <a:headEnd len="sm" w="sm" type="none"/>
            <a:tailEnd len="med" w="med" type="triangle"/>
          </a:ln>
        </p:spPr>
      </p:cxnSp>
      <p:cxnSp>
        <p:nvCxnSpPr>
          <p:cNvPr id="1183" name="Google Shape;1183;p92"/>
          <p:cNvCxnSpPr>
            <a:stCxn id="1159" idx="2"/>
          </p:cNvCxnSpPr>
          <p:nvPr/>
        </p:nvCxnSpPr>
        <p:spPr>
          <a:xfrm flipH="1" rot="-5400000">
            <a:off x="9486743" y="7251218"/>
            <a:ext cx="1558500" cy="2700"/>
          </a:xfrm>
          <a:prstGeom prst="curvedConnector3">
            <a:avLst>
              <a:gd fmla="val 50000" name="adj1"/>
            </a:avLst>
          </a:prstGeom>
          <a:noFill/>
          <a:ln cap="flat" cmpd="sng" w="28575">
            <a:solidFill>
              <a:schemeClr val="accent5"/>
            </a:solidFill>
            <a:prstDash val="solid"/>
            <a:round/>
            <a:headEnd len="sm" w="sm" type="none"/>
            <a:tailEnd len="med" w="med" type="triangle"/>
          </a:ln>
        </p:spPr>
      </p:cxnSp>
      <p:cxnSp>
        <p:nvCxnSpPr>
          <p:cNvPr id="1184" name="Google Shape;1184;p92"/>
          <p:cNvCxnSpPr>
            <a:stCxn id="1160" idx="2"/>
          </p:cNvCxnSpPr>
          <p:nvPr/>
        </p:nvCxnSpPr>
        <p:spPr>
          <a:xfrm flipH="1" rot="-5400000">
            <a:off x="12984642" y="7444118"/>
            <a:ext cx="1942200" cy="600"/>
          </a:xfrm>
          <a:prstGeom prst="curvedConnector3">
            <a:avLst>
              <a:gd fmla="val 50000" name="adj1"/>
            </a:avLst>
          </a:prstGeom>
          <a:noFill/>
          <a:ln cap="flat" cmpd="sng" w="28575">
            <a:solidFill>
              <a:schemeClr val="accent5"/>
            </a:solidFill>
            <a:prstDash val="solid"/>
            <a:round/>
            <a:headEnd len="sm" w="sm" type="none"/>
            <a:tailEnd len="med" w="med" type="triangle"/>
          </a:ln>
        </p:spPr>
      </p:cxnSp>
      <p:cxnSp>
        <p:nvCxnSpPr>
          <p:cNvPr id="1185" name="Google Shape;1185;p92"/>
          <p:cNvCxnSpPr>
            <a:stCxn id="1162" idx="4"/>
            <a:endCxn id="1160" idx="0"/>
          </p:cNvCxnSpPr>
          <p:nvPr/>
        </p:nvCxnSpPr>
        <p:spPr>
          <a:xfrm flipH="1" rot="-5400000">
            <a:off x="9269047" y="596297"/>
            <a:ext cx="1394100" cy="7978500"/>
          </a:xfrm>
          <a:prstGeom prst="curvedConnector3">
            <a:avLst>
              <a:gd fmla="val 50001" name="adj1"/>
            </a:avLst>
          </a:prstGeom>
          <a:noFill/>
          <a:ln cap="flat" cmpd="sng" w="9525">
            <a:solidFill>
              <a:schemeClr val="accent6"/>
            </a:solidFill>
            <a:prstDash val="dash"/>
            <a:round/>
            <a:headEnd len="sm" w="sm" type="none"/>
            <a:tailEnd len="med" w="med" type="triangle"/>
          </a:ln>
        </p:spPr>
      </p:cxnSp>
      <p:sp>
        <p:nvSpPr>
          <p:cNvPr id="1186" name="Google Shape;1186;p9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structure</a:t>
            </a:r>
            <a:endParaRPr/>
          </a:p>
        </p:txBody>
      </p:sp>
      <p:sp>
        <p:nvSpPr>
          <p:cNvPr id="1187" name="Google Shape;1187;p9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93"/>
          <p:cNvSpPr/>
          <p:nvPr/>
        </p:nvSpPr>
        <p:spPr>
          <a:xfrm>
            <a:off x="2746138" y="3285288"/>
            <a:ext cx="3607200" cy="46095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93"/>
          <p:cNvSpPr/>
          <p:nvPr/>
        </p:nvSpPr>
        <p:spPr>
          <a:xfrm>
            <a:off x="8149389" y="3285288"/>
            <a:ext cx="3607200" cy="46095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93"/>
          <p:cNvSpPr/>
          <p:nvPr/>
        </p:nvSpPr>
        <p:spPr>
          <a:xfrm>
            <a:off x="12834216" y="3285288"/>
            <a:ext cx="3607200" cy="4609500"/>
          </a:xfrm>
          <a:prstGeom prst="rect">
            <a:avLst/>
          </a:prstGeom>
          <a:solidFill>
            <a:srgbClr val="F6F6F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93"/>
          <p:cNvSpPr txBox="1"/>
          <p:nvPr/>
        </p:nvSpPr>
        <p:spPr>
          <a:xfrm>
            <a:off x="1744017" y="6498490"/>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20,000</a:t>
            </a:r>
            <a:endParaRPr i="0" sz="1800" u="none" cap="none" strike="noStrike">
              <a:solidFill>
                <a:schemeClr val="lt1"/>
              </a:solidFill>
              <a:latin typeface="Roboto"/>
              <a:ea typeface="Roboto"/>
              <a:cs typeface="Roboto"/>
              <a:sym typeface="Roboto"/>
            </a:endParaRPr>
          </a:p>
        </p:txBody>
      </p:sp>
      <p:sp>
        <p:nvSpPr>
          <p:cNvPr id="1196" name="Google Shape;1196;p93"/>
          <p:cNvSpPr txBox="1"/>
          <p:nvPr/>
        </p:nvSpPr>
        <p:spPr>
          <a:xfrm>
            <a:off x="3303623"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rgbClr val="000000"/>
                </a:solidFill>
                <a:latin typeface="Roboto"/>
                <a:ea typeface="Roboto"/>
                <a:cs typeface="Roboto"/>
                <a:sym typeface="Roboto"/>
              </a:rPr>
              <a:t>2</a:t>
            </a:r>
            <a:endParaRPr i="0" sz="1800" u="none" cap="none" strike="noStrike">
              <a:solidFill>
                <a:srgbClr val="000000"/>
              </a:solidFill>
              <a:latin typeface="Roboto"/>
              <a:ea typeface="Roboto"/>
              <a:cs typeface="Roboto"/>
              <a:sym typeface="Roboto"/>
            </a:endParaRPr>
          </a:p>
        </p:txBody>
      </p:sp>
      <p:sp>
        <p:nvSpPr>
          <p:cNvPr id="1197" name="Google Shape;1197;p93"/>
          <p:cNvSpPr txBox="1"/>
          <p:nvPr/>
        </p:nvSpPr>
        <p:spPr>
          <a:xfrm>
            <a:off x="4192892"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rgbClr val="000000"/>
                </a:solidFill>
                <a:latin typeface="Roboto"/>
                <a:ea typeface="Roboto"/>
                <a:cs typeface="Roboto"/>
                <a:sym typeface="Roboto"/>
              </a:rPr>
              <a:t>4</a:t>
            </a:r>
            <a:endParaRPr i="0" sz="1800" u="none" cap="none" strike="noStrike">
              <a:solidFill>
                <a:srgbClr val="000000"/>
              </a:solidFill>
              <a:latin typeface="Roboto"/>
              <a:ea typeface="Roboto"/>
              <a:cs typeface="Roboto"/>
              <a:sym typeface="Roboto"/>
            </a:endParaRPr>
          </a:p>
        </p:txBody>
      </p:sp>
      <p:sp>
        <p:nvSpPr>
          <p:cNvPr id="1198" name="Google Shape;1198;p93"/>
          <p:cNvSpPr txBox="1"/>
          <p:nvPr/>
        </p:nvSpPr>
        <p:spPr>
          <a:xfrm>
            <a:off x="5082162"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rgbClr val="000000"/>
                </a:solidFill>
                <a:latin typeface="Roboto"/>
                <a:ea typeface="Roboto"/>
                <a:cs typeface="Roboto"/>
                <a:sym typeface="Roboto"/>
              </a:rPr>
              <a:t>6</a:t>
            </a:r>
            <a:endParaRPr i="0" sz="1800" u="none" cap="none" strike="noStrike">
              <a:solidFill>
                <a:srgbClr val="000000"/>
              </a:solidFill>
              <a:latin typeface="Roboto"/>
              <a:ea typeface="Roboto"/>
              <a:cs typeface="Roboto"/>
              <a:sym typeface="Roboto"/>
            </a:endParaRPr>
          </a:p>
        </p:txBody>
      </p:sp>
      <p:sp>
        <p:nvSpPr>
          <p:cNvPr id="1199" name="Google Shape;1199;p93"/>
          <p:cNvSpPr txBox="1"/>
          <p:nvPr/>
        </p:nvSpPr>
        <p:spPr>
          <a:xfrm>
            <a:off x="5971431"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rgbClr val="000000"/>
                </a:solidFill>
                <a:latin typeface="Roboto"/>
                <a:ea typeface="Roboto"/>
                <a:cs typeface="Roboto"/>
                <a:sym typeface="Roboto"/>
              </a:rPr>
              <a:t>8</a:t>
            </a:r>
            <a:endParaRPr i="0" sz="1800" u="none" cap="none" strike="noStrike">
              <a:solidFill>
                <a:srgbClr val="000000"/>
              </a:solidFill>
              <a:latin typeface="Roboto"/>
              <a:ea typeface="Roboto"/>
              <a:cs typeface="Roboto"/>
              <a:sym typeface="Roboto"/>
            </a:endParaRPr>
          </a:p>
        </p:txBody>
      </p:sp>
      <p:sp>
        <p:nvSpPr>
          <p:cNvPr id="1200" name="Google Shape;1200;p93"/>
          <p:cNvSpPr txBox="1"/>
          <p:nvPr/>
        </p:nvSpPr>
        <p:spPr>
          <a:xfrm>
            <a:off x="7766723"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0</a:t>
            </a:r>
            <a:endParaRPr i="0" sz="1800" u="none" cap="none" strike="noStrike">
              <a:solidFill>
                <a:schemeClr val="lt1"/>
              </a:solidFill>
              <a:latin typeface="Roboto"/>
              <a:ea typeface="Roboto"/>
              <a:cs typeface="Roboto"/>
              <a:sym typeface="Roboto"/>
            </a:endParaRPr>
          </a:p>
        </p:txBody>
      </p:sp>
      <p:sp>
        <p:nvSpPr>
          <p:cNvPr id="1201" name="Google Shape;1201;p93"/>
          <p:cNvSpPr txBox="1"/>
          <p:nvPr/>
        </p:nvSpPr>
        <p:spPr>
          <a:xfrm>
            <a:off x="8655992"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10</a:t>
            </a:r>
            <a:endParaRPr i="0" sz="1800" u="none" cap="none" strike="noStrike">
              <a:solidFill>
                <a:schemeClr val="lt1"/>
              </a:solidFill>
              <a:latin typeface="Roboto"/>
              <a:ea typeface="Roboto"/>
              <a:cs typeface="Roboto"/>
              <a:sym typeface="Roboto"/>
            </a:endParaRPr>
          </a:p>
        </p:txBody>
      </p:sp>
      <p:sp>
        <p:nvSpPr>
          <p:cNvPr id="1202" name="Google Shape;1202;p93"/>
          <p:cNvSpPr txBox="1"/>
          <p:nvPr/>
        </p:nvSpPr>
        <p:spPr>
          <a:xfrm>
            <a:off x="9545262"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20</a:t>
            </a:r>
            <a:endParaRPr i="0" sz="1800" u="none" cap="none" strike="noStrike">
              <a:solidFill>
                <a:schemeClr val="lt1"/>
              </a:solidFill>
              <a:latin typeface="Roboto"/>
              <a:ea typeface="Roboto"/>
              <a:cs typeface="Roboto"/>
              <a:sym typeface="Roboto"/>
            </a:endParaRPr>
          </a:p>
        </p:txBody>
      </p:sp>
      <p:sp>
        <p:nvSpPr>
          <p:cNvPr id="1203" name="Google Shape;1203;p93"/>
          <p:cNvSpPr txBox="1"/>
          <p:nvPr/>
        </p:nvSpPr>
        <p:spPr>
          <a:xfrm>
            <a:off x="10434531"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30</a:t>
            </a:r>
            <a:endParaRPr i="0" sz="1800" u="none" cap="none" strike="noStrike">
              <a:solidFill>
                <a:schemeClr val="lt1"/>
              </a:solidFill>
              <a:latin typeface="Roboto"/>
              <a:ea typeface="Roboto"/>
              <a:cs typeface="Roboto"/>
              <a:sym typeface="Roboto"/>
            </a:endParaRPr>
          </a:p>
        </p:txBody>
      </p:sp>
      <p:sp>
        <p:nvSpPr>
          <p:cNvPr id="1204" name="Google Shape;1204;p93"/>
          <p:cNvSpPr txBox="1"/>
          <p:nvPr/>
        </p:nvSpPr>
        <p:spPr>
          <a:xfrm>
            <a:off x="11781000"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40</a:t>
            </a:r>
            <a:endParaRPr i="0" sz="1800" u="none" cap="none" strike="noStrike">
              <a:solidFill>
                <a:schemeClr val="lt1"/>
              </a:solidFill>
              <a:latin typeface="Roboto"/>
              <a:ea typeface="Roboto"/>
              <a:cs typeface="Roboto"/>
              <a:sym typeface="Roboto"/>
            </a:endParaRPr>
          </a:p>
        </p:txBody>
      </p:sp>
      <p:sp>
        <p:nvSpPr>
          <p:cNvPr id="1205" name="Google Shape;1205;p93"/>
          <p:cNvSpPr txBox="1"/>
          <p:nvPr/>
        </p:nvSpPr>
        <p:spPr>
          <a:xfrm>
            <a:off x="12519237"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0</a:t>
            </a:r>
            <a:endParaRPr i="0" sz="1800" u="none" cap="none" strike="noStrike">
              <a:solidFill>
                <a:schemeClr val="lt1"/>
              </a:solidFill>
              <a:latin typeface="Roboto"/>
              <a:ea typeface="Roboto"/>
              <a:cs typeface="Roboto"/>
              <a:sym typeface="Roboto"/>
            </a:endParaRPr>
          </a:p>
        </p:txBody>
      </p:sp>
      <p:sp>
        <p:nvSpPr>
          <p:cNvPr id="1206" name="Google Shape;1206;p93"/>
          <p:cNvSpPr txBox="1"/>
          <p:nvPr/>
        </p:nvSpPr>
        <p:spPr>
          <a:xfrm>
            <a:off x="13268864" y="8013321"/>
            <a:ext cx="8787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100</a:t>
            </a:r>
            <a:endParaRPr i="0" sz="1800" u="none" cap="none" strike="noStrike">
              <a:solidFill>
                <a:schemeClr val="lt1"/>
              </a:solidFill>
              <a:latin typeface="Roboto"/>
              <a:ea typeface="Roboto"/>
              <a:cs typeface="Roboto"/>
              <a:sym typeface="Roboto"/>
            </a:endParaRPr>
          </a:p>
        </p:txBody>
      </p:sp>
      <p:sp>
        <p:nvSpPr>
          <p:cNvPr id="1207" name="Google Shape;1207;p93"/>
          <p:cNvSpPr txBox="1"/>
          <p:nvPr/>
        </p:nvSpPr>
        <p:spPr>
          <a:xfrm>
            <a:off x="14169270" y="8013321"/>
            <a:ext cx="8787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200</a:t>
            </a:r>
            <a:endParaRPr i="0" sz="1800" u="none" cap="none" strike="noStrike">
              <a:solidFill>
                <a:schemeClr val="lt1"/>
              </a:solidFill>
              <a:latin typeface="Roboto"/>
              <a:ea typeface="Roboto"/>
              <a:cs typeface="Roboto"/>
              <a:sym typeface="Roboto"/>
            </a:endParaRPr>
          </a:p>
        </p:txBody>
      </p:sp>
      <p:sp>
        <p:nvSpPr>
          <p:cNvPr id="1208" name="Google Shape;1208;p93"/>
          <p:cNvSpPr txBox="1"/>
          <p:nvPr/>
        </p:nvSpPr>
        <p:spPr>
          <a:xfrm>
            <a:off x="15069676" y="8013321"/>
            <a:ext cx="8787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300</a:t>
            </a:r>
            <a:endParaRPr i="0" sz="1800" u="none" cap="none" strike="noStrike">
              <a:solidFill>
                <a:schemeClr val="lt1"/>
              </a:solidFill>
              <a:latin typeface="Roboto"/>
              <a:ea typeface="Roboto"/>
              <a:cs typeface="Roboto"/>
              <a:sym typeface="Roboto"/>
            </a:endParaRPr>
          </a:p>
        </p:txBody>
      </p:sp>
      <p:sp>
        <p:nvSpPr>
          <p:cNvPr id="1209" name="Google Shape;1209;p93"/>
          <p:cNvSpPr txBox="1"/>
          <p:nvPr/>
        </p:nvSpPr>
        <p:spPr>
          <a:xfrm>
            <a:off x="15970083" y="8013321"/>
            <a:ext cx="8787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400</a:t>
            </a:r>
            <a:endParaRPr i="0" sz="1800" u="none" cap="none" strike="noStrike">
              <a:solidFill>
                <a:schemeClr val="lt1"/>
              </a:solidFill>
              <a:latin typeface="Roboto"/>
              <a:ea typeface="Roboto"/>
              <a:cs typeface="Roboto"/>
              <a:sym typeface="Roboto"/>
            </a:endParaRPr>
          </a:p>
        </p:txBody>
      </p:sp>
      <p:sp>
        <p:nvSpPr>
          <p:cNvPr id="1210" name="Google Shape;1210;p93"/>
          <p:cNvSpPr txBox="1"/>
          <p:nvPr/>
        </p:nvSpPr>
        <p:spPr>
          <a:xfrm>
            <a:off x="2767840" y="8593628"/>
            <a:ext cx="3607200" cy="39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2000">
                <a:solidFill>
                  <a:schemeClr val="dk1"/>
                </a:solidFill>
                <a:latin typeface="Google Sans"/>
                <a:ea typeface="Google Sans"/>
                <a:cs typeface="Google Sans"/>
                <a:sym typeface="Google Sans"/>
              </a:rPr>
              <a:t>Cloud </a:t>
            </a:r>
            <a:r>
              <a:rPr b="1" i="0" lang="en" sz="2000" u="none" cap="none" strike="noStrike">
                <a:solidFill>
                  <a:schemeClr val="dk1"/>
                </a:solidFill>
                <a:latin typeface="Google Sans"/>
                <a:ea typeface="Google Sans"/>
                <a:cs typeface="Google Sans"/>
                <a:sym typeface="Google Sans"/>
              </a:rPr>
              <a:t>Bigtable </a:t>
            </a:r>
            <a:r>
              <a:rPr b="1" lang="en" sz="2000">
                <a:solidFill>
                  <a:schemeClr val="dk1"/>
                </a:solidFill>
                <a:latin typeface="Google Sans"/>
                <a:ea typeface="Google Sans"/>
                <a:cs typeface="Google Sans"/>
                <a:sym typeface="Google Sans"/>
              </a:rPr>
              <a:t>n</a:t>
            </a:r>
            <a:r>
              <a:rPr b="1" i="0" lang="en" sz="2000" u="none" cap="none" strike="noStrike">
                <a:solidFill>
                  <a:schemeClr val="dk1"/>
                </a:solidFill>
                <a:latin typeface="Google Sans"/>
                <a:ea typeface="Google Sans"/>
                <a:cs typeface="Google Sans"/>
                <a:sym typeface="Google Sans"/>
              </a:rPr>
              <a:t>odes</a:t>
            </a:r>
            <a:endParaRPr b="1" i="0" sz="2000" u="none" cap="none" strike="noStrike">
              <a:solidFill>
                <a:schemeClr val="dk1"/>
              </a:solidFill>
              <a:latin typeface="Google Sans"/>
              <a:ea typeface="Google Sans"/>
              <a:cs typeface="Google Sans"/>
              <a:sym typeface="Google Sans"/>
            </a:endParaRPr>
          </a:p>
        </p:txBody>
      </p:sp>
      <p:sp>
        <p:nvSpPr>
          <p:cNvPr id="1211" name="Google Shape;1211;p93"/>
          <p:cNvSpPr txBox="1"/>
          <p:nvPr/>
        </p:nvSpPr>
        <p:spPr>
          <a:xfrm>
            <a:off x="1929608" y="2671900"/>
            <a:ext cx="2788200" cy="475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2000" u="none" cap="none" strike="noStrike">
                <a:solidFill>
                  <a:schemeClr val="lt1"/>
                </a:solidFill>
                <a:latin typeface="Roboto"/>
                <a:ea typeface="Roboto"/>
                <a:cs typeface="Roboto"/>
                <a:sym typeface="Roboto"/>
              </a:rPr>
              <a:t>Queries per second</a:t>
            </a:r>
            <a:endParaRPr b="1" i="0" sz="2000" u="none" cap="none" strike="noStrike">
              <a:solidFill>
                <a:schemeClr val="lt1"/>
              </a:solidFill>
              <a:latin typeface="Roboto"/>
              <a:ea typeface="Roboto"/>
              <a:cs typeface="Roboto"/>
              <a:sym typeface="Roboto"/>
            </a:endParaRPr>
          </a:p>
        </p:txBody>
      </p:sp>
      <p:sp>
        <p:nvSpPr>
          <p:cNvPr id="1212" name="Google Shape;1212;p93"/>
          <p:cNvSpPr txBox="1"/>
          <p:nvPr/>
        </p:nvSpPr>
        <p:spPr>
          <a:xfrm>
            <a:off x="1744017" y="5438108"/>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40,000</a:t>
            </a:r>
            <a:endParaRPr i="0" sz="1800" u="none" cap="none" strike="noStrike">
              <a:solidFill>
                <a:schemeClr val="lt1"/>
              </a:solidFill>
              <a:latin typeface="Roboto"/>
              <a:ea typeface="Roboto"/>
              <a:cs typeface="Roboto"/>
              <a:sym typeface="Roboto"/>
            </a:endParaRPr>
          </a:p>
        </p:txBody>
      </p:sp>
      <p:sp>
        <p:nvSpPr>
          <p:cNvPr id="1213" name="Google Shape;1213;p93"/>
          <p:cNvSpPr txBox="1"/>
          <p:nvPr/>
        </p:nvSpPr>
        <p:spPr>
          <a:xfrm>
            <a:off x="1744017" y="4377726"/>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60,000</a:t>
            </a:r>
            <a:endParaRPr i="0" sz="1800" u="none" cap="none" strike="noStrike">
              <a:solidFill>
                <a:schemeClr val="lt1"/>
              </a:solidFill>
              <a:latin typeface="Roboto"/>
              <a:ea typeface="Roboto"/>
              <a:cs typeface="Roboto"/>
              <a:sym typeface="Roboto"/>
            </a:endParaRPr>
          </a:p>
        </p:txBody>
      </p:sp>
      <p:sp>
        <p:nvSpPr>
          <p:cNvPr id="1214" name="Google Shape;1214;p93"/>
          <p:cNvSpPr txBox="1"/>
          <p:nvPr/>
        </p:nvSpPr>
        <p:spPr>
          <a:xfrm>
            <a:off x="1744017" y="3317343"/>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80,000</a:t>
            </a:r>
            <a:endParaRPr i="0" sz="1800" u="none" cap="none" strike="noStrike">
              <a:solidFill>
                <a:schemeClr val="lt1"/>
              </a:solidFill>
              <a:latin typeface="Roboto"/>
              <a:ea typeface="Roboto"/>
              <a:cs typeface="Roboto"/>
              <a:sym typeface="Roboto"/>
            </a:endParaRPr>
          </a:p>
        </p:txBody>
      </p:sp>
      <p:sp>
        <p:nvSpPr>
          <p:cNvPr id="1215" name="Google Shape;1215;p93"/>
          <p:cNvSpPr txBox="1"/>
          <p:nvPr/>
        </p:nvSpPr>
        <p:spPr>
          <a:xfrm>
            <a:off x="2473638" y="8013321"/>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0</a:t>
            </a:r>
            <a:endParaRPr i="0" sz="1800" u="none" cap="none" strike="noStrike">
              <a:solidFill>
                <a:schemeClr val="lt1"/>
              </a:solidFill>
              <a:latin typeface="Roboto"/>
              <a:ea typeface="Roboto"/>
              <a:cs typeface="Roboto"/>
              <a:sym typeface="Roboto"/>
            </a:endParaRPr>
          </a:p>
        </p:txBody>
      </p:sp>
      <p:sp>
        <p:nvSpPr>
          <p:cNvPr id="1216" name="Google Shape;1216;p93"/>
          <p:cNvSpPr txBox="1"/>
          <p:nvPr/>
        </p:nvSpPr>
        <p:spPr>
          <a:xfrm>
            <a:off x="1930974" y="7558872"/>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0</a:t>
            </a:r>
            <a:endParaRPr i="0" sz="1800" u="none" cap="none" strike="noStrike">
              <a:solidFill>
                <a:schemeClr val="lt1"/>
              </a:solidFill>
              <a:latin typeface="Roboto"/>
              <a:ea typeface="Roboto"/>
              <a:cs typeface="Roboto"/>
              <a:sym typeface="Roboto"/>
            </a:endParaRPr>
          </a:p>
        </p:txBody>
      </p:sp>
      <p:sp>
        <p:nvSpPr>
          <p:cNvPr id="1217" name="Google Shape;1217;p93"/>
          <p:cNvSpPr txBox="1"/>
          <p:nvPr/>
        </p:nvSpPr>
        <p:spPr>
          <a:xfrm>
            <a:off x="7096387" y="6498490"/>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100,000</a:t>
            </a:r>
            <a:endParaRPr i="0" sz="1800" u="none" cap="none" strike="noStrike">
              <a:solidFill>
                <a:schemeClr val="lt1"/>
              </a:solidFill>
              <a:latin typeface="Roboto"/>
              <a:ea typeface="Roboto"/>
              <a:cs typeface="Roboto"/>
              <a:sym typeface="Roboto"/>
            </a:endParaRPr>
          </a:p>
        </p:txBody>
      </p:sp>
      <p:sp>
        <p:nvSpPr>
          <p:cNvPr id="1218" name="Google Shape;1218;p93"/>
          <p:cNvSpPr txBox="1"/>
          <p:nvPr/>
        </p:nvSpPr>
        <p:spPr>
          <a:xfrm>
            <a:off x="7096387" y="5438108"/>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200,000</a:t>
            </a:r>
            <a:endParaRPr i="0" sz="1800" u="none" cap="none" strike="noStrike">
              <a:solidFill>
                <a:schemeClr val="lt1"/>
              </a:solidFill>
              <a:latin typeface="Roboto"/>
              <a:ea typeface="Roboto"/>
              <a:cs typeface="Roboto"/>
              <a:sym typeface="Roboto"/>
            </a:endParaRPr>
          </a:p>
        </p:txBody>
      </p:sp>
      <p:sp>
        <p:nvSpPr>
          <p:cNvPr id="1219" name="Google Shape;1219;p93"/>
          <p:cNvSpPr txBox="1"/>
          <p:nvPr/>
        </p:nvSpPr>
        <p:spPr>
          <a:xfrm>
            <a:off x="7096387" y="4377726"/>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300,000</a:t>
            </a:r>
            <a:endParaRPr i="0" sz="1800" u="none" cap="none" strike="noStrike">
              <a:solidFill>
                <a:schemeClr val="lt1"/>
              </a:solidFill>
              <a:latin typeface="Roboto"/>
              <a:ea typeface="Roboto"/>
              <a:cs typeface="Roboto"/>
              <a:sym typeface="Roboto"/>
            </a:endParaRPr>
          </a:p>
        </p:txBody>
      </p:sp>
      <p:sp>
        <p:nvSpPr>
          <p:cNvPr id="1220" name="Google Shape;1220;p93"/>
          <p:cNvSpPr txBox="1"/>
          <p:nvPr/>
        </p:nvSpPr>
        <p:spPr>
          <a:xfrm>
            <a:off x="7096387" y="3317343"/>
            <a:ext cx="11019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400,000</a:t>
            </a:r>
            <a:endParaRPr i="0" sz="1800" u="none" cap="none" strike="noStrike">
              <a:solidFill>
                <a:schemeClr val="lt1"/>
              </a:solidFill>
              <a:latin typeface="Roboto"/>
              <a:ea typeface="Roboto"/>
              <a:cs typeface="Roboto"/>
              <a:sym typeface="Roboto"/>
            </a:endParaRPr>
          </a:p>
        </p:txBody>
      </p:sp>
      <p:sp>
        <p:nvSpPr>
          <p:cNvPr id="1221" name="Google Shape;1221;p93"/>
          <p:cNvSpPr txBox="1"/>
          <p:nvPr/>
        </p:nvSpPr>
        <p:spPr>
          <a:xfrm>
            <a:off x="7588869" y="7558872"/>
            <a:ext cx="729000" cy="658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en" sz="1800" u="none" cap="none" strike="noStrike">
                <a:solidFill>
                  <a:srgbClr val="000000"/>
                </a:solidFill>
                <a:latin typeface="Roboto"/>
                <a:ea typeface="Roboto"/>
                <a:cs typeface="Roboto"/>
                <a:sym typeface="Roboto"/>
              </a:rPr>
              <a:t>0</a:t>
            </a:r>
            <a:endParaRPr i="0" sz="1800" u="none" cap="none" strike="noStrike">
              <a:solidFill>
                <a:srgbClr val="000000"/>
              </a:solidFill>
              <a:latin typeface="Roboto"/>
              <a:ea typeface="Roboto"/>
              <a:cs typeface="Roboto"/>
              <a:sym typeface="Roboto"/>
            </a:endParaRPr>
          </a:p>
        </p:txBody>
      </p:sp>
      <p:sp>
        <p:nvSpPr>
          <p:cNvPr id="1222" name="Google Shape;1222;p93"/>
          <p:cNvSpPr txBox="1"/>
          <p:nvPr/>
        </p:nvSpPr>
        <p:spPr>
          <a:xfrm>
            <a:off x="8149477" y="8593628"/>
            <a:ext cx="3607200" cy="3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b="1" lang="en" sz="2000">
                <a:solidFill>
                  <a:schemeClr val="dk1"/>
                </a:solidFill>
                <a:latin typeface="Google Sans"/>
                <a:ea typeface="Google Sans"/>
                <a:cs typeface="Google Sans"/>
                <a:sym typeface="Google Sans"/>
              </a:rPr>
              <a:t>Cloud Bigtable nodes</a:t>
            </a:r>
            <a:endParaRPr b="1">
              <a:solidFill>
                <a:schemeClr val="dk1"/>
              </a:solidFill>
              <a:latin typeface="Google Sans"/>
              <a:ea typeface="Google Sans"/>
              <a:cs typeface="Google Sans"/>
              <a:sym typeface="Google Sans"/>
            </a:endParaRPr>
          </a:p>
        </p:txBody>
      </p:sp>
      <p:sp>
        <p:nvSpPr>
          <p:cNvPr id="1223" name="Google Shape;1223;p93"/>
          <p:cNvSpPr txBox="1"/>
          <p:nvPr/>
        </p:nvSpPr>
        <p:spPr>
          <a:xfrm>
            <a:off x="12834314" y="8609517"/>
            <a:ext cx="3607200" cy="39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400"/>
              <a:buFont typeface="Arial"/>
              <a:buNone/>
            </a:pPr>
            <a:r>
              <a:rPr b="1" lang="en" sz="2000">
                <a:solidFill>
                  <a:schemeClr val="dk1"/>
                </a:solidFill>
                <a:latin typeface="Google Sans"/>
                <a:ea typeface="Google Sans"/>
                <a:cs typeface="Google Sans"/>
                <a:sym typeface="Google Sans"/>
              </a:rPr>
              <a:t>Cloud Bigtable nodes</a:t>
            </a:r>
            <a:endParaRPr b="1">
              <a:solidFill>
                <a:schemeClr val="dk1"/>
              </a:solidFill>
              <a:latin typeface="Google Sans"/>
              <a:ea typeface="Google Sans"/>
              <a:cs typeface="Google Sans"/>
              <a:sym typeface="Google Sans"/>
            </a:endParaRPr>
          </a:p>
        </p:txBody>
      </p:sp>
      <p:sp>
        <p:nvSpPr>
          <p:cNvPr id="1224" name="Google Shape;1224;p93"/>
          <p:cNvSpPr txBox="1"/>
          <p:nvPr/>
        </p:nvSpPr>
        <p:spPr>
          <a:xfrm>
            <a:off x="7190201" y="2671900"/>
            <a:ext cx="2788200" cy="47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b="1" lang="en" sz="2000">
                <a:solidFill>
                  <a:schemeClr val="lt1"/>
                </a:solidFill>
                <a:latin typeface="Roboto"/>
                <a:ea typeface="Roboto"/>
                <a:cs typeface="Roboto"/>
                <a:sym typeface="Roboto"/>
              </a:rPr>
              <a:t>Queries per second</a:t>
            </a:r>
            <a:endParaRPr b="1" sz="2400">
              <a:solidFill>
                <a:schemeClr val="lt1"/>
              </a:solidFill>
              <a:latin typeface="Roboto"/>
              <a:ea typeface="Roboto"/>
              <a:cs typeface="Roboto"/>
              <a:sym typeface="Roboto"/>
            </a:endParaRPr>
          </a:p>
        </p:txBody>
      </p:sp>
      <p:sp>
        <p:nvSpPr>
          <p:cNvPr id="1225" name="Google Shape;1225;p93"/>
          <p:cNvSpPr txBox="1"/>
          <p:nvPr/>
        </p:nvSpPr>
        <p:spPr>
          <a:xfrm>
            <a:off x="12314922" y="2671900"/>
            <a:ext cx="2629500" cy="47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400"/>
              <a:buFont typeface="Arial"/>
              <a:buNone/>
            </a:pPr>
            <a:r>
              <a:rPr b="1" lang="en" sz="2000">
                <a:solidFill>
                  <a:schemeClr val="lt1"/>
                </a:solidFill>
                <a:latin typeface="Roboto"/>
                <a:ea typeface="Roboto"/>
                <a:cs typeface="Roboto"/>
                <a:sym typeface="Roboto"/>
              </a:rPr>
              <a:t>Queries per second</a:t>
            </a:r>
            <a:endParaRPr b="1" sz="2400">
              <a:solidFill>
                <a:schemeClr val="lt1"/>
              </a:solidFill>
              <a:latin typeface="Roboto"/>
              <a:ea typeface="Roboto"/>
              <a:cs typeface="Roboto"/>
              <a:sym typeface="Roboto"/>
            </a:endParaRPr>
          </a:p>
        </p:txBody>
      </p:sp>
      <p:sp>
        <p:nvSpPr>
          <p:cNvPr id="1226" name="Google Shape;1226;p93"/>
          <p:cNvSpPr txBox="1"/>
          <p:nvPr/>
        </p:nvSpPr>
        <p:spPr>
          <a:xfrm>
            <a:off x="11730332" y="6498490"/>
            <a:ext cx="1101900" cy="658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1m</a:t>
            </a:r>
            <a:endParaRPr i="0" sz="1800" u="none" cap="none" strike="noStrike">
              <a:solidFill>
                <a:schemeClr val="lt1"/>
              </a:solidFill>
              <a:latin typeface="Roboto"/>
              <a:ea typeface="Roboto"/>
              <a:cs typeface="Roboto"/>
              <a:sym typeface="Roboto"/>
            </a:endParaRPr>
          </a:p>
        </p:txBody>
      </p:sp>
      <p:sp>
        <p:nvSpPr>
          <p:cNvPr id="1227" name="Google Shape;1227;p93"/>
          <p:cNvSpPr txBox="1"/>
          <p:nvPr/>
        </p:nvSpPr>
        <p:spPr>
          <a:xfrm>
            <a:off x="11730332" y="5438108"/>
            <a:ext cx="1101900" cy="658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2m</a:t>
            </a:r>
            <a:endParaRPr i="0" sz="1800" u="none" cap="none" strike="noStrike">
              <a:solidFill>
                <a:schemeClr val="lt1"/>
              </a:solidFill>
              <a:latin typeface="Roboto"/>
              <a:ea typeface="Roboto"/>
              <a:cs typeface="Roboto"/>
              <a:sym typeface="Roboto"/>
            </a:endParaRPr>
          </a:p>
        </p:txBody>
      </p:sp>
      <p:sp>
        <p:nvSpPr>
          <p:cNvPr id="1228" name="Google Shape;1228;p93"/>
          <p:cNvSpPr txBox="1"/>
          <p:nvPr/>
        </p:nvSpPr>
        <p:spPr>
          <a:xfrm>
            <a:off x="11730332" y="4377726"/>
            <a:ext cx="1101900" cy="658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3m</a:t>
            </a:r>
            <a:endParaRPr i="0" sz="1800" u="none" cap="none" strike="noStrike">
              <a:solidFill>
                <a:schemeClr val="lt1"/>
              </a:solidFill>
              <a:latin typeface="Roboto"/>
              <a:ea typeface="Roboto"/>
              <a:cs typeface="Roboto"/>
              <a:sym typeface="Roboto"/>
            </a:endParaRPr>
          </a:p>
        </p:txBody>
      </p:sp>
      <p:sp>
        <p:nvSpPr>
          <p:cNvPr id="1229" name="Google Shape;1229;p93"/>
          <p:cNvSpPr txBox="1"/>
          <p:nvPr/>
        </p:nvSpPr>
        <p:spPr>
          <a:xfrm>
            <a:off x="11730332" y="3317343"/>
            <a:ext cx="1101900" cy="658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i="0" lang="en" sz="1800" u="none" cap="none" strike="noStrike">
                <a:solidFill>
                  <a:schemeClr val="lt1"/>
                </a:solidFill>
                <a:latin typeface="Roboto"/>
                <a:ea typeface="Roboto"/>
                <a:cs typeface="Roboto"/>
                <a:sym typeface="Roboto"/>
              </a:rPr>
              <a:t>4m</a:t>
            </a:r>
            <a:endParaRPr i="0" sz="1800" u="none" cap="none" strike="noStrike">
              <a:solidFill>
                <a:schemeClr val="lt1"/>
              </a:solidFill>
              <a:latin typeface="Roboto"/>
              <a:ea typeface="Roboto"/>
              <a:cs typeface="Roboto"/>
              <a:sym typeface="Roboto"/>
            </a:endParaRPr>
          </a:p>
        </p:txBody>
      </p:sp>
      <p:sp>
        <p:nvSpPr>
          <p:cNvPr id="1230" name="Google Shape;1230;p93"/>
          <p:cNvSpPr txBox="1"/>
          <p:nvPr/>
        </p:nvSpPr>
        <p:spPr>
          <a:xfrm>
            <a:off x="12104245" y="7558872"/>
            <a:ext cx="729000" cy="6582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i="0" lang="en" sz="1800" u="none" cap="none" strike="noStrike">
                <a:solidFill>
                  <a:schemeClr val="lt1"/>
                </a:solidFill>
                <a:latin typeface="Roboto"/>
                <a:ea typeface="Roboto"/>
                <a:cs typeface="Roboto"/>
                <a:sym typeface="Roboto"/>
              </a:rPr>
              <a:t>0</a:t>
            </a:r>
            <a:endParaRPr i="0" sz="1800" u="none" cap="none" strike="noStrike">
              <a:solidFill>
                <a:schemeClr val="lt1"/>
              </a:solidFill>
              <a:latin typeface="Roboto"/>
              <a:ea typeface="Roboto"/>
              <a:cs typeface="Roboto"/>
              <a:sym typeface="Roboto"/>
            </a:endParaRPr>
          </a:p>
        </p:txBody>
      </p:sp>
      <p:cxnSp>
        <p:nvCxnSpPr>
          <p:cNvPr id="1231" name="Google Shape;1231;p93"/>
          <p:cNvCxnSpPr/>
          <p:nvPr/>
        </p:nvCxnSpPr>
        <p:spPr>
          <a:xfrm flipH="1" rot="10800000">
            <a:off x="2779281" y="3466311"/>
            <a:ext cx="3450600" cy="4408200"/>
          </a:xfrm>
          <a:prstGeom prst="straightConnector1">
            <a:avLst/>
          </a:prstGeom>
          <a:noFill/>
          <a:ln cap="flat" cmpd="sng" w="28575">
            <a:solidFill>
              <a:schemeClr val="dk1"/>
            </a:solidFill>
            <a:prstDash val="solid"/>
            <a:round/>
            <a:headEnd len="sm" w="sm" type="none"/>
            <a:tailEnd len="med" w="med" type="triangle"/>
          </a:ln>
        </p:spPr>
      </p:cxnSp>
      <p:cxnSp>
        <p:nvCxnSpPr>
          <p:cNvPr id="1232" name="Google Shape;1232;p93"/>
          <p:cNvCxnSpPr/>
          <p:nvPr/>
        </p:nvCxnSpPr>
        <p:spPr>
          <a:xfrm flipH="1" rot="10800000">
            <a:off x="8149389" y="3467580"/>
            <a:ext cx="3450600" cy="4408200"/>
          </a:xfrm>
          <a:prstGeom prst="straightConnector1">
            <a:avLst/>
          </a:prstGeom>
          <a:noFill/>
          <a:ln cap="flat" cmpd="sng" w="28575">
            <a:solidFill>
              <a:schemeClr val="dk1"/>
            </a:solidFill>
            <a:prstDash val="solid"/>
            <a:round/>
            <a:headEnd len="sm" w="sm" type="none"/>
            <a:tailEnd len="med" w="med" type="triangle"/>
          </a:ln>
        </p:spPr>
      </p:cxnSp>
      <p:cxnSp>
        <p:nvCxnSpPr>
          <p:cNvPr id="1233" name="Google Shape;1233;p93"/>
          <p:cNvCxnSpPr/>
          <p:nvPr/>
        </p:nvCxnSpPr>
        <p:spPr>
          <a:xfrm flipH="1" rot="10800000">
            <a:off x="12883464" y="3467554"/>
            <a:ext cx="3450600" cy="4408200"/>
          </a:xfrm>
          <a:prstGeom prst="straightConnector1">
            <a:avLst/>
          </a:prstGeom>
          <a:noFill/>
          <a:ln cap="flat" cmpd="sng" w="28575">
            <a:solidFill>
              <a:schemeClr val="dk1"/>
            </a:solidFill>
            <a:prstDash val="solid"/>
            <a:round/>
            <a:headEnd len="sm" w="sm" type="none"/>
            <a:tailEnd len="med" w="med" type="triangle"/>
          </a:ln>
        </p:spPr>
      </p:cxnSp>
      <p:sp>
        <p:nvSpPr>
          <p:cNvPr id="1234" name="Google Shape;1234;p93"/>
          <p:cNvSpPr/>
          <p:nvPr/>
        </p:nvSpPr>
        <p:spPr>
          <a:xfrm>
            <a:off x="3748491" y="6264257"/>
            <a:ext cx="336900" cy="335700"/>
          </a:xfrm>
          <a:prstGeom prst="ellipse">
            <a:avLst/>
          </a:prstGeom>
          <a:solidFill>
            <a:schemeClr val="accent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Arial"/>
              <a:ea typeface="Arial"/>
              <a:cs typeface="Arial"/>
              <a:sym typeface="Arial"/>
            </a:endParaRPr>
          </a:p>
        </p:txBody>
      </p:sp>
      <p:sp>
        <p:nvSpPr>
          <p:cNvPr id="1235" name="Google Shape;1235;p93"/>
          <p:cNvSpPr/>
          <p:nvPr/>
        </p:nvSpPr>
        <p:spPr>
          <a:xfrm>
            <a:off x="10642261" y="4294976"/>
            <a:ext cx="336900" cy="335700"/>
          </a:xfrm>
          <a:prstGeom prst="ellipse">
            <a:avLst/>
          </a:prstGeom>
          <a:solidFill>
            <a:schemeClr val="accent4"/>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93"/>
          <p:cNvSpPr/>
          <p:nvPr/>
        </p:nvSpPr>
        <p:spPr>
          <a:xfrm>
            <a:off x="15276205" y="4446460"/>
            <a:ext cx="336900" cy="335700"/>
          </a:xfrm>
          <a:prstGeom prst="ellipse">
            <a:avLst/>
          </a:prstGeom>
          <a:solidFill>
            <a:schemeClr val="accent2"/>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93"/>
          <p:cNvSpPr/>
          <p:nvPr/>
        </p:nvSpPr>
        <p:spPr>
          <a:xfrm>
            <a:off x="8152307" y="7476123"/>
            <a:ext cx="336900" cy="335700"/>
          </a:xfrm>
          <a:prstGeom prst="ellipse">
            <a:avLst/>
          </a:prstGeom>
          <a:solidFill>
            <a:schemeClr val="accent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93"/>
          <p:cNvSpPr/>
          <p:nvPr/>
        </p:nvSpPr>
        <p:spPr>
          <a:xfrm>
            <a:off x="12786251" y="7627606"/>
            <a:ext cx="336900" cy="335700"/>
          </a:xfrm>
          <a:prstGeom prst="ellipse">
            <a:avLst/>
          </a:prstGeom>
          <a:solidFill>
            <a:schemeClr val="accent6"/>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93"/>
          <p:cNvSpPr/>
          <p:nvPr/>
        </p:nvSpPr>
        <p:spPr>
          <a:xfrm>
            <a:off x="13141959" y="7173156"/>
            <a:ext cx="336900" cy="335700"/>
          </a:xfrm>
          <a:prstGeom prst="ellipse">
            <a:avLst/>
          </a:prstGeom>
          <a:solidFill>
            <a:schemeClr val="accent4"/>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9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Scaling Cloud Bigtable</a:t>
            </a:r>
            <a:endParaRPr/>
          </a:p>
        </p:txBody>
      </p:sp>
      <p:sp>
        <p:nvSpPr>
          <p:cNvPr id="1241" name="Google Shape;1241;p9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94"/>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as a NoSQL Option</a:t>
            </a:r>
            <a:endParaRPr/>
          </a:p>
          <a:p>
            <a:pPr indent="0" lvl="0" marL="0" rtl="0" algn="l">
              <a:spcBef>
                <a:spcPts val="2900"/>
              </a:spcBef>
              <a:spcAft>
                <a:spcPts val="0"/>
              </a:spcAft>
              <a:buNone/>
            </a:pPr>
            <a:r>
              <a:rPr lang="en">
                <a:solidFill>
                  <a:schemeClr val="accent2"/>
                </a:solidFill>
              </a:rPr>
              <a:t>Quiz</a:t>
            </a:r>
            <a:endParaRPr>
              <a:solidFill>
                <a:schemeClr val="accent2"/>
              </a:solidFill>
            </a:endParaRPr>
          </a:p>
          <a:p>
            <a:pPr indent="0" lvl="0" marL="0" rtl="0" algn="l">
              <a:spcBef>
                <a:spcPts val="2900"/>
              </a:spcBef>
              <a:spcAft>
                <a:spcPts val="2900"/>
              </a:spcAft>
              <a:buNone/>
            </a:pPr>
            <a:r>
              <a:rPr lang="en"/>
              <a:t>Summary</a:t>
            </a:r>
            <a:endParaRPr/>
          </a:p>
        </p:txBody>
      </p:sp>
      <p:sp>
        <p:nvSpPr>
          <p:cNvPr id="1247" name="Google Shape;1247;p94"/>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248" name="Google Shape;1248;p94"/>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95"/>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254" name="Google Shape;1254;p95"/>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A73E8"/>
                </a:solidFill>
                <a:latin typeface="Google Sans Medium"/>
                <a:ea typeface="Google Sans Medium"/>
                <a:cs typeface="Google Sans Medium"/>
                <a:sym typeface="Google Sans Medium"/>
              </a:rPr>
              <a:t>Question</a:t>
            </a:r>
            <a:endParaRPr sz="3200">
              <a:solidFill>
                <a:srgbClr val="1A73E8"/>
              </a:solidFill>
              <a:latin typeface="Google Sans Medium"/>
              <a:ea typeface="Google Sans Medium"/>
              <a:cs typeface="Google Sans Medium"/>
              <a:sym typeface="Google Sans Medium"/>
            </a:endParaRPr>
          </a:p>
        </p:txBody>
      </p:sp>
      <p:graphicFrame>
        <p:nvGraphicFramePr>
          <p:cNvPr id="1255" name="Google Shape;1255;p95"/>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3624925"/>
              </a:tblGrid>
              <a:tr h="94332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You are looking for an unstructured storage solution for archiving files that might never be accessed again. Which of the following is the best option?</a:t>
                      </a:r>
                      <a:r>
                        <a:rPr lang="en" sz="2800">
                          <a:solidFill>
                            <a:schemeClr val="lt1"/>
                          </a:solidFill>
                          <a:latin typeface="Roboto"/>
                          <a:ea typeface="Roboto"/>
                          <a:cs typeface="Roboto"/>
                          <a:sym typeface="Roboto"/>
                        </a:rPr>
                        <a:t> </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4875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Cloud Storage Standard class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48750">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4875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Storage Archive class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4875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Bigtable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56" name="Google Shape;1256;p95"/>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graphicFrame>
        <p:nvGraphicFramePr>
          <p:cNvPr id="1261" name="Google Shape;1261;p96"/>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458917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You are looking for an unstructured storage solution for archiving files that might never be accessed again. Which of the following is the best option? </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Cloud Storage Standard class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1E8E3E"/>
                        </a:buClr>
                        <a:buSzPts val="2800"/>
                        <a:buFont typeface="Google Sans Medium"/>
                        <a:buAutoNum type="alphaUcPeriod" startAt="3"/>
                      </a:pPr>
                      <a:r>
                        <a:rPr lang="en" sz="2800">
                          <a:solidFill>
                            <a:srgbClr val="1E8E3E"/>
                          </a:solidFill>
                          <a:latin typeface="Roboto"/>
                          <a:ea typeface="Roboto"/>
                          <a:cs typeface="Roboto"/>
                          <a:sym typeface="Roboto"/>
                        </a:rPr>
                        <a:t>Cloud Storage Archive class</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Bigtable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62" name="Google Shape;1262;p96"/>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#1</a:t>
            </a:r>
            <a:endParaRPr sz="4800">
              <a:solidFill>
                <a:srgbClr val="202124"/>
              </a:solidFill>
              <a:latin typeface="Google Sans"/>
              <a:ea typeface="Google Sans"/>
              <a:cs typeface="Google Sans"/>
              <a:sym typeface="Google Sans"/>
            </a:endParaRPr>
          </a:p>
        </p:txBody>
      </p:sp>
      <p:sp>
        <p:nvSpPr>
          <p:cNvPr id="1263" name="Google Shape;1263;p96"/>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sp>
        <p:nvSpPr>
          <p:cNvPr id="1264" name="Google Shape;1264;p96"/>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97"/>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270" name="Google Shape;1270;p97"/>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chemeClr val="accent2"/>
                </a:solidFill>
                <a:latin typeface="Google Sans Medium"/>
                <a:ea typeface="Google Sans Medium"/>
                <a:cs typeface="Google Sans Medium"/>
                <a:sym typeface="Google Sans Medium"/>
              </a:rPr>
              <a:t>Question</a:t>
            </a:r>
            <a:endParaRPr sz="3200">
              <a:solidFill>
                <a:srgbClr val="34A853"/>
              </a:solidFill>
              <a:latin typeface="Google Sans Medium"/>
              <a:ea typeface="Google Sans Medium"/>
              <a:cs typeface="Google Sans Medium"/>
              <a:sym typeface="Google Sans Medium"/>
            </a:endParaRPr>
          </a:p>
        </p:txBody>
      </p:sp>
      <p:graphicFrame>
        <p:nvGraphicFramePr>
          <p:cNvPr id="1271" name="Google Shape;1271;p97"/>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458917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 multi-regional, globally available, managed relational</a:t>
                      </a:r>
                      <a:br>
                        <a:rPr lang="en" sz="2800">
                          <a:solidFill>
                            <a:schemeClr val="lt1"/>
                          </a:solidFill>
                          <a:latin typeface="Roboto"/>
                          <a:ea typeface="Roboto"/>
                          <a:cs typeface="Roboto"/>
                          <a:sym typeface="Roboto"/>
                        </a:rPr>
                      </a:br>
                      <a:r>
                        <a:rPr lang="en" sz="2800">
                          <a:solidFill>
                            <a:schemeClr val="lt1"/>
                          </a:solidFill>
                          <a:latin typeface="Roboto"/>
                          <a:ea typeface="Roboto"/>
                          <a:cs typeface="Roboto"/>
                          <a:sym typeface="Roboto"/>
                        </a:rPr>
                        <a:t>database service?</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Cloud SQL</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Bigtable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Cloud Spanner</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72" name="Google Shape;1272;p97"/>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graphicFrame>
        <p:nvGraphicFramePr>
          <p:cNvPr id="1277" name="Google Shape;1277;p98"/>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458917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Which of the following is a multi-regional, globally available, managed relational database service?</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Datastore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Cloud SQL</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Cloud Bigtable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1E8E3E"/>
                        </a:buClr>
                        <a:buSzPts val="2800"/>
                        <a:buFont typeface="Google Sans Medium"/>
                        <a:buAutoNum type="alphaUcPeriod" startAt="4"/>
                      </a:pPr>
                      <a:r>
                        <a:rPr lang="en" sz="2800">
                          <a:solidFill>
                            <a:srgbClr val="1E8E3E"/>
                          </a:solidFill>
                          <a:latin typeface="Roboto"/>
                          <a:ea typeface="Roboto"/>
                          <a:cs typeface="Roboto"/>
                          <a:sym typeface="Roboto"/>
                        </a:rPr>
                        <a:t>Cloud Spanner</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bl>
          </a:graphicData>
        </a:graphic>
      </p:graphicFrame>
      <p:sp>
        <p:nvSpPr>
          <p:cNvPr id="1278" name="Google Shape;1278;p98"/>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#2</a:t>
            </a:r>
            <a:endParaRPr sz="4800">
              <a:solidFill>
                <a:srgbClr val="202124"/>
              </a:solidFill>
              <a:latin typeface="Google Sans"/>
              <a:ea typeface="Google Sans"/>
              <a:cs typeface="Google Sans"/>
              <a:sym typeface="Google Sans"/>
            </a:endParaRPr>
          </a:p>
        </p:txBody>
      </p:sp>
      <p:sp>
        <p:nvSpPr>
          <p:cNvPr id="1279" name="Google Shape;1279;p98"/>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sp>
        <p:nvSpPr>
          <p:cNvPr id="1280" name="Google Shape;1280;p98"/>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99"/>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sp>
        <p:nvSpPr>
          <p:cNvPr id="1286" name="Google Shape;1286;p99"/>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chemeClr val="accent2"/>
                </a:solidFill>
                <a:latin typeface="Google Sans Medium"/>
                <a:ea typeface="Google Sans Medium"/>
                <a:cs typeface="Google Sans Medium"/>
                <a:sym typeface="Google Sans Medium"/>
              </a:rPr>
              <a:t>Question</a:t>
            </a:r>
            <a:endParaRPr sz="3200">
              <a:solidFill>
                <a:srgbClr val="34A853"/>
              </a:solidFill>
              <a:latin typeface="Google Sans Medium"/>
              <a:ea typeface="Google Sans Medium"/>
              <a:cs typeface="Google Sans Medium"/>
              <a:sym typeface="Google Sans Medium"/>
            </a:endParaRPr>
          </a:p>
        </p:txBody>
      </p:sp>
      <p:graphicFrame>
        <p:nvGraphicFramePr>
          <p:cNvPr id="1287" name="Google Shape;1287;p99"/>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3624925"/>
              </a:tblGrid>
              <a:tr h="1063175">
                <a:tc>
                  <a:txBody>
                    <a:bodyPr/>
                    <a:lstStyle/>
                    <a:p>
                      <a:pPr indent="0" lvl="0" marL="0" marR="0" rtl="0" algn="l">
                        <a:lnSpc>
                          <a:spcPct val="115000"/>
                        </a:lnSpc>
                        <a:spcBef>
                          <a:spcPts val="0"/>
                        </a:spcBef>
                        <a:spcAft>
                          <a:spcPts val="1000"/>
                        </a:spcAft>
                        <a:buNone/>
                      </a:pPr>
                      <a:r>
                        <a:rPr lang="en" sz="2800">
                          <a:solidFill>
                            <a:schemeClr val="lt1"/>
                          </a:solidFill>
                          <a:latin typeface="Roboto"/>
                          <a:ea typeface="Roboto"/>
                          <a:cs typeface="Roboto"/>
                          <a:sym typeface="Roboto"/>
                        </a:rPr>
                        <a:t>How do you scale a Cloud Bigtable database if more queries per second are needed?</a:t>
                      </a:r>
                      <a:endParaRPr sz="2800">
                        <a:solidFill>
                          <a:schemeClr val="lt1"/>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a:pPr>
                      <a:r>
                        <a:rPr lang="en" sz="2800">
                          <a:solidFill>
                            <a:schemeClr val="lt1"/>
                          </a:solidFill>
                          <a:latin typeface="Roboto"/>
                          <a:ea typeface="Roboto"/>
                          <a:cs typeface="Roboto"/>
                          <a:sym typeface="Roboto"/>
                        </a:rPr>
                        <a:t>Add more nodes</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500825">
                <a:tc>
                  <a:txBody>
                    <a:bodyPr/>
                    <a:lstStyle/>
                    <a:p>
                      <a:pPr indent="-406400" lvl="0" marL="685800" rtl="0" algn="l">
                        <a:lnSpc>
                          <a:spcPct val="115000"/>
                        </a:lnSpc>
                        <a:spcBef>
                          <a:spcPts val="0"/>
                        </a:spcBef>
                        <a:spcAft>
                          <a:spcPts val="0"/>
                        </a:spcAft>
                        <a:buClr>
                          <a:schemeClr val="lt1"/>
                        </a:buClr>
                        <a:buSzPts val="2800"/>
                        <a:buFont typeface="Google Sans Medium"/>
                        <a:buAutoNum type="alphaUcPeriod" startAt="2"/>
                      </a:pPr>
                      <a:r>
                        <a:rPr lang="en" sz="2800">
                          <a:solidFill>
                            <a:schemeClr val="lt1"/>
                          </a:solidFill>
                          <a:latin typeface="Roboto"/>
                          <a:ea typeface="Roboto"/>
                          <a:cs typeface="Roboto"/>
                          <a:sym typeface="Roboto"/>
                        </a:rPr>
                        <a:t>Add more storage</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3"/>
                      </a:pPr>
                      <a:r>
                        <a:rPr lang="en" sz="2800">
                          <a:solidFill>
                            <a:schemeClr val="lt1"/>
                          </a:solidFill>
                          <a:latin typeface="Roboto"/>
                          <a:ea typeface="Roboto"/>
                          <a:cs typeface="Roboto"/>
                          <a:sym typeface="Roboto"/>
                        </a:rPr>
                        <a:t>Do nothing, it will scale itself</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chemeClr val="lt1"/>
                        </a:buClr>
                        <a:buSzPts val="2800"/>
                        <a:buFont typeface="Google Sans Medium"/>
                        <a:buAutoNum type="alphaUcPeriod" startAt="4"/>
                      </a:pPr>
                      <a:r>
                        <a:rPr lang="en" sz="2800">
                          <a:solidFill>
                            <a:schemeClr val="lt1"/>
                          </a:solidFill>
                          <a:latin typeface="Roboto"/>
                          <a:ea typeface="Roboto"/>
                          <a:cs typeface="Roboto"/>
                          <a:sym typeface="Roboto"/>
                        </a:rPr>
                        <a:t>Export the data and import it into a new Cloud Bigtable cluster</a:t>
                      </a:r>
                      <a:endParaRPr sz="2800">
                        <a:solidFill>
                          <a:schemeClr val="lt1"/>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88" name="Google Shape;1288;p99"/>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00"/>
          <p:cNvSpPr txBox="1"/>
          <p:nvPr/>
        </p:nvSpPr>
        <p:spPr>
          <a:xfrm>
            <a:off x="1672475" y="1154875"/>
            <a:ext cx="14775300" cy="11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rgbClr val="202124"/>
                </a:solidFill>
                <a:latin typeface="Google Sans"/>
                <a:ea typeface="Google Sans"/>
                <a:cs typeface="Google Sans"/>
                <a:sym typeface="Google Sans"/>
              </a:rPr>
              <a:t>Scenario #3</a:t>
            </a:r>
            <a:endParaRPr sz="4800">
              <a:solidFill>
                <a:srgbClr val="202124"/>
              </a:solidFill>
              <a:latin typeface="Google Sans"/>
              <a:ea typeface="Google Sans"/>
              <a:cs typeface="Google Sans"/>
              <a:sym typeface="Google Sans"/>
            </a:endParaRPr>
          </a:p>
        </p:txBody>
      </p:sp>
      <p:graphicFrame>
        <p:nvGraphicFramePr>
          <p:cNvPr id="1294" name="Google Shape;1294;p100"/>
          <p:cNvGraphicFramePr/>
          <p:nvPr/>
        </p:nvGraphicFramePr>
        <p:xfrm>
          <a:off x="1812527" y="3017520"/>
          <a:ext cx="3000000" cy="3000000"/>
        </p:xfrm>
        <a:graphic>
          <a:graphicData uri="http://schemas.openxmlformats.org/drawingml/2006/table">
            <a:tbl>
              <a:tblPr>
                <a:noFill/>
                <a:tableStyleId>{C8D7D8BB-5663-4D88-B9CA-F6AA233E94A6}</a:tableStyleId>
              </a:tblPr>
              <a:tblGrid>
                <a:gridCol w="14589175"/>
              </a:tblGrid>
              <a:tr h="1063175">
                <a:tc>
                  <a:txBody>
                    <a:bodyPr/>
                    <a:lstStyle/>
                    <a:p>
                      <a:pPr indent="0" lvl="0" marL="0" marR="0" rtl="0" algn="l">
                        <a:lnSpc>
                          <a:spcPct val="115000"/>
                        </a:lnSpc>
                        <a:spcBef>
                          <a:spcPts val="0"/>
                        </a:spcBef>
                        <a:spcAft>
                          <a:spcPts val="1000"/>
                        </a:spcAft>
                        <a:buNone/>
                      </a:pPr>
                      <a:r>
                        <a:rPr lang="en" sz="2800">
                          <a:solidFill>
                            <a:srgbClr val="3C4043"/>
                          </a:solidFill>
                          <a:latin typeface="Roboto"/>
                          <a:ea typeface="Roboto"/>
                          <a:cs typeface="Roboto"/>
                          <a:sym typeface="Roboto"/>
                        </a:rPr>
                        <a:t>How do you scale a Cloud Bigtable database if more queries per second are needed?</a:t>
                      </a:r>
                      <a:endParaRPr sz="2800">
                        <a:solidFill>
                          <a:srgbClr val="3C4043"/>
                        </a:solidFill>
                        <a:latin typeface="Roboto"/>
                        <a:ea typeface="Roboto"/>
                        <a:cs typeface="Roboto"/>
                        <a:sym typeface="Roboto"/>
                      </a:endParaRPr>
                    </a:p>
                  </a:txBody>
                  <a:tcPr marT="182875" marB="182875" marR="0" marL="0">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1E8E3E"/>
                        </a:buClr>
                        <a:buSzPts val="2800"/>
                        <a:buFont typeface="Google Sans Medium"/>
                        <a:buAutoNum type="alphaUcPeriod"/>
                      </a:pPr>
                      <a:r>
                        <a:rPr lang="en" sz="2800">
                          <a:solidFill>
                            <a:srgbClr val="1E8E3E"/>
                          </a:solidFill>
                          <a:latin typeface="Roboto"/>
                          <a:ea typeface="Roboto"/>
                          <a:cs typeface="Roboto"/>
                          <a:sym typeface="Roboto"/>
                        </a:rPr>
                        <a:t>Add more nodes</a:t>
                      </a:r>
                      <a:endParaRPr sz="2800">
                        <a:solidFill>
                          <a:srgbClr val="1E8E3E"/>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solidFill>
                      <a:srgbClr val="E6F4EA"/>
                    </a:solidFill>
                  </a:tcPr>
                </a:tc>
              </a:tr>
              <a:tr h="500825">
                <a:tc>
                  <a:txBody>
                    <a:bodyPr/>
                    <a:lstStyle/>
                    <a:p>
                      <a:pPr indent="-406400" lvl="0" marL="685800" rtl="0" algn="l">
                        <a:lnSpc>
                          <a:spcPct val="115000"/>
                        </a:lnSpc>
                        <a:spcBef>
                          <a:spcPts val="0"/>
                        </a:spcBef>
                        <a:spcAft>
                          <a:spcPts val="0"/>
                        </a:spcAft>
                        <a:buClr>
                          <a:srgbClr val="3C4043"/>
                        </a:buClr>
                        <a:buSzPts val="2800"/>
                        <a:buFont typeface="Google Sans Medium"/>
                        <a:buAutoNum type="alphaUcPeriod" startAt="2"/>
                      </a:pPr>
                      <a:r>
                        <a:rPr lang="en" sz="2800">
                          <a:solidFill>
                            <a:srgbClr val="3C4043"/>
                          </a:solidFill>
                          <a:latin typeface="Roboto"/>
                          <a:ea typeface="Roboto"/>
                          <a:cs typeface="Roboto"/>
                          <a:sym typeface="Roboto"/>
                        </a:rPr>
                        <a:t>Add more storage</a:t>
                      </a:r>
                      <a:endParaRPr sz="2800">
                        <a:solidFill>
                          <a:srgbClr val="3C4043"/>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3C4043"/>
                        </a:buClr>
                        <a:buSzPts val="2800"/>
                        <a:buFont typeface="Google Sans Medium"/>
                        <a:buAutoNum type="alphaUcPeriod" startAt="3"/>
                      </a:pPr>
                      <a:r>
                        <a:rPr lang="en" sz="2800">
                          <a:solidFill>
                            <a:srgbClr val="3C4043"/>
                          </a:solidFill>
                          <a:latin typeface="Roboto"/>
                          <a:ea typeface="Roboto"/>
                          <a:cs typeface="Roboto"/>
                          <a:sym typeface="Roboto"/>
                        </a:rPr>
                        <a:t>Do nothing, it will scale itself</a:t>
                      </a:r>
                      <a:endParaRPr sz="2800">
                        <a:solidFill>
                          <a:srgbClr val="3C4043"/>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r h="475700">
                <a:tc>
                  <a:txBody>
                    <a:bodyPr/>
                    <a:lstStyle/>
                    <a:p>
                      <a:pPr indent="-406400" lvl="0" marL="685800" marR="0" rtl="0" algn="l">
                        <a:lnSpc>
                          <a:spcPct val="115000"/>
                        </a:lnSpc>
                        <a:spcBef>
                          <a:spcPts val="0"/>
                        </a:spcBef>
                        <a:spcAft>
                          <a:spcPts val="0"/>
                        </a:spcAft>
                        <a:buClr>
                          <a:srgbClr val="3C4043"/>
                        </a:buClr>
                        <a:buSzPts val="2800"/>
                        <a:buFont typeface="Google Sans Medium"/>
                        <a:buAutoNum type="alphaUcPeriod" startAt="4"/>
                      </a:pPr>
                      <a:r>
                        <a:rPr lang="en" sz="2800">
                          <a:solidFill>
                            <a:srgbClr val="3C4043"/>
                          </a:solidFill>
                          <a:latin typeface="Roboto"/>
                          <a:ea typeface="Roboto"/>
                          <a:cs typeface="Roboto"/>
                          <a:sym typeface="Roboto"/>
                        </a:rPr>
                        <a:t>Export the data and import it into a new Cloud Bigtable cluster</a:t>
                      </a:r>
                      <a:endParaRPr sz="2800">
                        <a:solidFill>
                          <a:srgbClr val="3C4043"/>
                        </a:solidFill>
                        <a:latin typeface="Roboto"/>
                        <a:ea typeface="Roboto"/>
                        <a:cs typeface="Roboto"/>
                        <a:sym typeface="Roboto"/>
                      </a:endParaRPr>
                    </a:p>
                  </a:txBody>
                  <a:tcPr marT="182875" marB="182875" marR="182875" marL="0" anchor="ctr">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tcPr>
                </a:tc>
              </a:tr>
            </a:tbl>
          </a:graphicData>
        </a:graphic>
      </p:graphicFrame>
      <p:sp>
        <p:nvSpPr>
          <p:cNvPr id="1295" name="Google Shape;1295;p100"/>
          <p:cNvSpPr txBox="1"/>
          <p:nvPr/>
        </p:nvSpPr>
        <p:spPr>
          <a:xfrm>
            <a:off x="1708601" y="2027325"/>
            <a:ext cx="14693100" cy="911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rgbClr val="1E8E3E"/>
                </a:solidFill>
                <a:latin typeface="Google Sans Medium"/>
                <a:ea typeface="Google Sans Medium"/>
                <a:cs typeface="Google Sans Medium"/>
                <a:sym typeface="Google Sans Medium"/>
              </a:rPr>
              <a:t>Answer</a:t>
            </a:r>
            <a:endParaRPr sz="3200">
              <a:solidFill>
                <a:srgbClr val="1E8E3E"/>
              </a:solidFill>
              <a:latin typeface="Google Sans Medium"/>
              <a:ea typeface="Google Sans Medium"/>
              <a:cs typeface="Google Sans Medium"/>
              <a:sym typeface="Google Sans Medium"/>
            </a:endParaRPr>
          </a:p>
        </p:txBody>
      </p:sp>
      <p:sp>
        <p:nvSpPr>
          <p:cNvPr id="1296" name="Google Shape;1296;p100"/>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01"/>
          <p:cNvSpPr txBox="1"/>
          <p:nvPr>
            <p:ph idx="1" type="body"/>
          </p:nvPr>
        </p:nvSpPr>
        <p:spPr>
          <a:xfrm>
            <a:off x="1701275" y="2432125"/>
            <a:ext cx="7319700" cy="67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Cloud Bigtable as a NoSQL Option</a:t>
            </a:r>
            <a:endParaRPr/>
          </a:p>
          <a:p>
            <a:pPr indent="0" lvl="0" marL="0" rtl="0" algn="l">
              <a:spcBef>
                <a:spcPts val="2900"/>
              </a:spcBef>
              <a:spcAft>
                <a:spcPts val="0"/>
              </a:spcAft>
              <a:buNone/>
            </a:pPr>
            <a:r>
              <a:rPr lang="en"/>
              <a:t>Quiz</a:t>
            </a:r>
            <a:endParaRPr/>
          </a:p>
          <a:p>
            <a:pPr indent="0" lvl="0" marL="0" rtl="0" algn="l">
              <a:spcBef>
                <a:spcPts val="2900"/>
              </a:spcBef>
              <a:spcAft>
                <a:spcPts val="2900"/>
              </a:spcAft>
              <a:buNone/>
            </a:pPr>
            <a:r>
              <a:rPr lang="en">
                <a:solidFill>
                  <a:schemeClr val="accent2"/>
                </a:solidFill>
              </a:rPr>
              <a:t>Summary</a:t>
            </a:r>
            <a:endParaRPr>
              <a:solidFill>
                <a:schemeClr val="accent2"/>
              </a:solidFill>
            </a:endParaRPr>
          </a:p>
        </p:txBody>
      </p:sp>
      <p:sp>
        <p:nvSpPr>
          <p:cNvPr id="1302" name="Google Shape;1302;p101"/>
          <p:cNvSpPr txBox="1"/>
          <p:nvPr>
            <p:ph type="title"/>
          </p:nvPr>
        </p:nvSpPr>
        <p:spPr>
          <a:xfrm>
            <a:off x="1672475" y="1154875"/>
            <a:ext cx="74865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303" name="Google Shape;1303;p101"/>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02"/>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(1/2)</a:t>
            </a:r>
            <a:endParaRPr/>
          </a:p>
        </p:txBody>
      </p:sp>
      <p:sp>
        <p:nvSpPr>
          <p:cNvPr id="1309" name="Google Shape;1309;p102"/>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Three common use cases for cloud storage include content storage and delivery, storage for data analytics and general compute, and backup and archival storage.</a:t>
            </a:r>
            <a:endParaRPr sz="3000"/>
          </a:p>
          <a:p>
            <a:pPr indent="-419100" lvl="0" marL="457200" rtl="0" algn="l">
              <a:spcBef>
                <a:spcPts val="2900"/>
              </a:spcBef>
              <a:spcAft>
                <a:spcPts val="0"/>
              </a:spcAft>
              <a:buSzPts val="3000"/>
              <a:buChar char="●"/>
            </a:pPr>
            <a:r>
              <a:rPr lang="en" sz="3000"/>
              <a:t>Cloud Storage is suited to the storage of unstructured data. </a:t>
            </a:r>
            <a:endParaRPr sz="3000"/>
          </a:p>
          <a:p>
            <a:pPr indent="-419100" lvl="0" marL="457200" rtl="0" algn="l">
              <a:spcBef>
                <a:spcPts val="2900"/>
              </a:spcBef>
              <a:spcAft>
                <a:spcPts val="0"/>
              </a:spcAft>
              <a:buSzPts val="3000"/>
              <a:buChar char="●"/>
            </a:pPr>
            <a:r>
              <a:rPr lang="en" sz="3000"/>
              <a:t>Standard, Nearline, Coldline, and Archive are classes of Cloud Storage that differ based on how often the data is accessed.</a:t>
            </a:r>
            <a:endParaRPr sz="3000"/>
          </a:p>
          <a:p>
            <a:pPr indent="-419100" lvl="0" marL="457200" rtl="0" algn="l">
              <a:spcBef>
                <a:spcPts val="2900"/>
              </a:spcBef>
              <a:spcAft>
                <a:spcPts val="2900"/>
              </a:spcAft>
              <a:buSzPts val="3000"/>
              <a:buChar char="●"/>
            </a:pPr>
            <a:r>
              <a:rPr lang="en" sz="3000"/>
              <a:t>Cloud SQL is a fully managed, relational database service that makes it easy to set up, maintain, manage, and administer relational MySQL, PostgreSQL, and SQL Server databases in the cloud.</a:t>
            </a:r>
            <a:endParaRPr sz="3000"/>
          </a:p>
        </p:txBody>
      </p:sp>
      <p:sp>
        <p:nvSpPr>
          <p:cNvPr id="1310" name="Google Shape;1310;p102"/>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03"/>
          <p:cNvSpPr txBox="1"/>
          <p:nvPr>
            <p:ph type="title"/>
          </p:nvPr>
        </p:nvSpPr>
        <p:spPr>
          <a:xfrm>
            <a:off x="1672475" y="1154875"/>
            <a:ext cx="14775300" cy="114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(2/2)</a:t>
            </a:r>
            <a:endParaRPr/>
          </a:p>
        </p:txBody>
      </p:sp>
      <p:sp>
        <p:nvSpPr>
          <p:cNvPr id="1316" name="Google Shape;1316;p103"/>
          <p:cNvSpPr txBox="1"/>
          <p:nvPr>
            <p:ph idx="1" type="body"/>
          </p:nvPr>
        </p:nvSpPr>
        <p:spPr>
          <a:xfrm>
            <a:off x="1742475" y="2432125"/>
            <a:ext cx="14630400" cy="67686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Cloud Spanner combines the benefits of relational database structure with non-relational horizontal scale.</a:t>
            </a:r>
            <a:endParaRPr sz="3000"/>
          </a:p>
          <a:p>
            <a:pPr indent="-419100" lvl="0" marL="457200" rtl="0" algn="l">
              <a:spcBef>
                <a:spcPts val="2900"/>
              </a:spcBef>
              <a:spcAft>
                <a:spcPts val="0"/>
              </a:spcAft>
              <a:buSzPts val="3000"/>
              <a:buChar char="●"/>
            </a:pPr>
            <a:r>
              <a:rPr lang="en" sz="3000"/>
              <a:t>Datastore is a highly-scalable NoSQL database that’s ideal for rapid and flexible web and mobile development.</a:t>
            </a:r>
            <a:endParaRPr sz="3000"/>
          </a:p>
          <a:p>
            <a:pPr indent="-419100" lvl="0" marL="457200" rtl="0" algn="l">
              <a:spcBef>
                <a:spcPts val="2900"/>
              </a:spcBef>
              <a:spcAft>
                <a:spcPts val="2900"/>
              </a:spcAft>
              <a:buSzPts val="3000"/>
              <a:buChar char="●"/>
            </a:pPr>
            <a:r>
              <a:rPr lang="en" sz="3000"/>
              <a:t>Cloud Bigtable aligns with non-relational database requirements and is a high-performance NoSQL database service for large analytical and throughput-intensive operational workloads.</a:t>
            </a:r>
            <a:endParaRPr sz="3000"/>
          </a:p>
        </p:txBody>
      </p:sp>
      <p:sp>
        <p:nvSpPr>
          <p:cNvPr id="1317" name="Google Shape;1317;p103"/>
          <p:cNvSpPr txBox="1"/>
          <p:nvPr/>
        </p:nvSpPr>
        <p:spPr>
          <a:xfrm>
            <a:off x="6876900" y="9627950"/>
            <a:ext cx="11319000" cy="52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Clr>
                <a:srgbClr val="000000"/>
              </a:buClr>
              <a:buSzPts val="2200"/>
              <a:buFont typeface="Arial"/>
              <a:buNone/>
            </a:pPr>
            <a:r>
              <a:rPr lang="en" sz="1600">
                <a:solidFill>
                  <a:srgbClr val="546E7A"/>
                </a:solidFill>
                <a:latin typeface="Google Sans"/>
                <a:ea typeface="Google Sans"/>
                <a:cs typeface="Google Sans"/>
                <a:sym typeface="Google Sans"/>
              </a:rPr>
              <a:t>Copyright Google LLC. For educational purposes in accordance with the terms of use set forth on the program </a:t>
            </a:r>
            <a:r>
              <a:rPr lang="en" sz="1600" u="sng">
                <a:solidFill>
                  <a:srgbClr val="3B83F3"/>
                </a:solidFill>
                <a:latin typeface="Google Sans"/>
                <a:ea typeface="Google Sans"/>
                <a:cs typeface="Google Sans"/>
                <a:sym typeface="Google Sans"/>
                <a:hlinkClick r:id="rId3">
                  <a:extLst>
                    <a:ext uri="{A12FA001-AC4F-418D-AE19-62706E023703}">
                      <ahyp:hlinkClr val="tx"/>
                    </a:ext>
                  </a:extLst>
                </a:hlinkClick>
              </a:rPr>
              <a:t>Website</a:t>
            </a:r>
            <a:r>
              <a:rPr lang="en" sz="1600">
                <a:solidFill>
                  <a:srgbClr val="546E7A"/>
                </a:solidFill>
                <a:latin typeface="Google Sans"/>
                <a:ea typeface="Google Sans"/>
                <a:cs typeface="Google Sans"/>
                <a:sym typeface="Google Sans"/>
              </a:rPr>
              <a:t>.</a:t>
            </a:r>
            <a:endParaRPr sz="1600">
              <a:solidFill>
                <a:srgbClr val="999999"/>
              </a:solidFill>
              <a:latin typeface="Google Sans"/>
              <a:ea typeface="Google Sans"/>
              <a:cs typeface="Google Sans"/>
              <a:sym typeface="Google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v3.0">
  <a:themeElements>
    <a:clrScheme name="Simple Light">
      <a:dk1>
        <a:srgbClr val="202124"/>
      </a:dk1>
      <a:lt1>
        <a:srgbClr val="3C4043"/>
      </a:lt1>
      <a:dk2>
        <a:srgbClr val="5F6368"/>
      </a:dk2>
      <a:lt2>
        <a:srgbClr val="80868B"/>
      </a:lt2>
      <a:accent1>
        <a:srgbClr val="9AA0A6"/>
      </a:accent1>
      <a:accent2>
        <a:srgbClr val="1A73E8"/>
      </a:accent2>
      <a:accent3>
        <a:srgbClr val="4285F4"/>
      </a:accent3>
      <a:accent4>
        <a:srgbClr val="EA4335"/>
      </a:accent4>
      <a:accent5>
        <a:srgbClr val="FBBC04"/>
      </a:accent5>
      <a:accent6>
        <a:srgbClr val="34A853"/>
      </a:accent6>
      <a:hlink>
        <a:srgbClr val="185A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